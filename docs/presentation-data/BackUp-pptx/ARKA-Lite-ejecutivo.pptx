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“Buenos días a todos. Somos el equipo arka-litos: siete personas del curso Upskilling Backend Java, cuatro de desarrollo, dos de DevOps y una de base de datos. Hoy les vamos a contar cómo construimos ARKA-Lite, nuestro proyecto final.”
“El título lo resume: empezamos escribiendo un endpoint, una sola operación en Java, y terminamos con un sistema completo corriendo en un clúster de Kubernetes. En el camino fuimos aplicando, uno por uno, los temas que vimos en el curso.”
“Cada uno va a presentar la parte de su área. La idea no es que memoricen tecnologías: queremos que, al salir, puedan explicar con sus propias palabras cómo funciona el sistema y por qué tomamos cada decisión.”
QUÉ HACER (no se dice)
• Antes de empezar, abrir la UI en http://localhost:8088 y comprobar que los dos servicios aparecen en verde.
PARA PASAR
“Empecemos por lo básico: qué hace ARKA-Lite.”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“ARKA-Lite hace algo sencillo: registra solicitudes, por ejemplo una incidencia o un pedido de cambio, y avisa cuando una solicitud se envía.”
“Por dentro son dos servicios. El de solicitudes es como la ventanilla: recibe el trámite y lleva su estado. El de notificaciones es como el buzón: cuando el trámite avanza, deja el aviso. Y encima de los dos hay una interfaz web, que es lo que usa la persona.”
“Elegimos un problema pequeño a propósito. Así el foco no está en el negocio, sino en cómo se construye, se despliega y se opera un sistema con más de un servicio.”
PARA PASAR
“¿Y cómo se conecta esto con lo que vimos en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QUÉ DECIR
“No vamos a seguir el temario clase por clase. Vamos a contar la historia de cómo se construye el sistema, en el orden en que tiene sentido.”
“Primero lo vemos por fuera, como un usuario. Después entramos a un servicio y vemos cómo se arma. Luego, cómo lo diseñamos para que pueda cambiar sin romperse y cómo cuidamos los datos. Nuestros compañeros de DevOps nos muestran cómo lo empaquetamos, lo desplegamos y sabemos si está funcionando. Al final lo vemos todo junto, en vivo.”
“En cada parte van a ver el mismo orden: qué problema resuelve, cómo lo aplicamos, un diagrama paso a paso y la prueba de que funciona.”
QUÉ HACER (no se dice)
• Explicar que el número sobre cada flecha de los diagramas coincide con el paso que se lee.
PARA PASAR
“Empecemos mirando el sistema completo desde afuera.”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“Ahora vamos con el sistema por fuera. Primero, qué problema resuelve.”
QUÉ HACER (no se dice)
Leer las cinco preguntas antes de avanzar.
RESPUESTAS
Problema: Antes de ver código, hay que saber qué piezas existen y cómo se hablan.
Cómo funciona: Una UI llama a dos microservicios por HTTP; cada uno guarda sus datos en su propia base.
Cómo se ve: Persona → UI → solicitudes y notificaciones → una base PostgreSQL para cada uno.
En ARKA-Lite: compose.yaml levanta los servicios, sus bases y la observabilidad; compose.ui.yaml agrega la UI.
Cómo se comprueba: La UI en localhost:8088 con los dos servicios en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mapa. A la izquierda está la persona, usando la interfaz desde su navegador. La interfaz no guarda nada: le pide las cosas a los servicios.”
“Arriba está el servicio de solicitudes, con su base de datos. Abajo, el de notificaciones, con la suya. Fíjense en algo importante: ninguno lee la base del otro. Si notificaciones necesita saber algo, solicitudes se lo cuenta con un mensaje que llamamos evento.”
“Y todo viaja por HTTP, el mismo protocolo que usa cualquier página web. No hay magia: son peticiones y respuestas.”
SI PREGUNTAN
¿Por qué no comparten una sola base de datos?
RESPUESTA CORTA
Para que cada servicio sea dueño de sus datos y pueda cambiar sin romper al otro.
PARA PASAR
“Veamos qué le pasa a una solicitud durante su vida.”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usa la UI en el navegador.”
Paso 2: “La UI llama a solicitudes por /api: crear, listar, enviar, aprobar o rechazar.”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“Solicitudes guarda los datos en su propia base.”
Paso 4: “Al enviar, solicitudes avisa después a notificaciones con un evento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guarda en su base qué eventos ya consumió.”
Paso 6: “La UI también consulta a notificaciones: avisos y eventos consumidos.”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“Toda solicitud nace en borrador. Mientras está en borrador, nadie se entera: es como un formulario que todavía no hemos entregado.”
“Cuando la enviamos, pasa a enviada, y ese es el único momento en que se genera un aviso. Desde enviada, alguien la puede aprobar o rechazar, y ahí termina su vida.”
“¿Qué pasa si intentamos algo que no corresponde, como enviar dos veces la misma solicitud? El servicio no lo permite y responde con un código 409, que en HTTP significa conflicto, junto con un mensaje que explica el porqué.”
QUÉ HACER (no se dice)
• Mostrar: En la UI, pestaña Solicitudes: crear una solicitud nueva y enviarla. Debe verse: La fila pasa de Borrador a Enviada y, unos segundos después, muestra 1 aviso.
PARA PASAR
“Esa es la vista sencilla. Ahora veamos todo lo que hay alrededor.”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El sistema por fuera
QUÉ DECIR
“Este es el mismo sistema, pero con todo lo que lo rodea. El recuadro grande es el lugar donde corre: en nuestra computadora con Docker Compose, o en un clúster de Kubernetes.”
“Abajo a la izquierda está la entrega continua. Cada vez que alguien sube un cambio a GitHub, un proceso automático lo compila, corre las pruebas y, si todo sale bien, publica las imágenes listas para desplegar.”
“Y abajo a la derecha, la observabilidad: los logs de todos los contenedores se recogen con Promtail, se guardan en Loki y se consultan en Grafana. Así, si algo falla, no tenemos que entrar a cada servicio a buscar qué pasó.”
SI PREGUNTAN
Si mañana agregamos un tercer servicio, ¿qué partes del dibujo cambian?
RESPUESTA CORTA
Se agrega su caja y su base; la entrega y los logs lo cubren igual, sin cambios.
PARA PASAR
“Ya vimos el mapa. Ahora entremos a uno de esos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“Todo empieza en el navegador: la persona usa la UI.”
Paso 2: “La UI llama a solicitudes para crear, enviar y decidir.”
Paso 3: “Solicitudes guarda en su propia base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“Al enviar, solicitudes le pasa un evento a notificaciones.”
Paso 5: “Notificaciones guarda en su base qué eventos ya recibió.”
Paso 6: “La UI también consulta a notificaciones para mostrar los avisos.”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“Cada cambio en el código pasa por GitHub Actions, que prueba y publica las imágenes.”
Paso 8: “Los logs de los contenedores llegan a Grafana a través de Promtail y Loki.”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“Ahora vamos con construir un servicio. Primero, qué problema resuelve.”
QUÉ HACER (no se dice)
Leer las cinco preguntas antes de avanzar.
RESPUESTAS
Problema: Necesitamos exponer operaciones del negocio por HTTP de forma clara, documentada y probada.
Cómo funciona: Spring Boot arma la aplicación; los controladores reciben peticiones; el dominio decide; las pruebas lo comprueban.
Cómo se ve: Petición → controlador → servicio → repositorio → respuesta con su código HTTP.
En ARKA-Lite: SolicitudController, ServicioDeSolicitudes, ManejadorGlobalDeErrores, Swagger y las pruebas JUnit.
Cómo se comprueba: ./mvnw verify en cada servicio y Swagger en /swagger-ui/index.html.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“Nuestro primer contacto con Spring Boot fue entender qué hace por nosotros. Maven se encarga de descargar las librerías, compilar y correr las pruebas. Spring Boot levanta el servidor web y conecta las piezas de la aplicación.”
“Piénsenlo como un contratista de obra: nosotros le decimos qué piezas hay, y él las arma y las conecta. Cada pieza recibe lo que necesita por su constructor; nadie sale a buscar sus dependencias por su cuenta.”
“Una decisión que tomamos desde el principio: las reglas del negocio no conocen a Spring. Son clases normales de Java. Eso nos va a servir mucho cuando hablemos de pruebas y de diseño.”
QUÉ HACER (no se dice)
• Mostrar: Ejecutar ./mvnw clean verify dentro de servicio-solicitudes. Debe verse: BUILD SUCCESS y el resumen de pruebas.
PARA PASAR
“Con la aplicación arriba, construyamos nuestro primer endpoint.”
PARA LEER MÁS
docs/arquitectura/componentes-java.md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endpoint REST es una combinación de método y ruta. Por ejemplo, POST a /solicitudes significa: crea una solicitud nueva. GET a /solicitudes significa: dame la lista.”
“Sigamos el diagrama. La interfaz manda los datos en formato JSON. El controlador los recibe y se los pasa al servicio. El servicio revisa que todo esté bien y el adaptador lo guarda en la base de datos. Si todo sale bien, la respuesta es 201, que quiere decir creado.”
“Y si el identificador ya existía, el servicio no lo guarda y responde 409, conflicto, con un mensaje claro. Cada código cuenta qué pasó, sin tener que adivinar.”
PARA PASAR
“¿Y dónde vive la regla que decide si algo se permite?”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UI envía POST con un cuerpo JSON: id y tipo.”
Paso 2: “El controlador convierte el JSON en NuevaSolicitud y llama al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valida los datos y revisa que el id no exista.”
Paso 4: “El adaptador JPA guarda la fila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API responde 201 Created con la solicitud en BORRADOR.”
Paso 6: “Si el id ya existe, el manejador global de errores responde 409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 solicitud es un record de Java, que es una forma corta de declarar datos que no cambian. Cuando la enviamos, no modificamos la solicitud que teníamos: creamos una nueva en estado enviada.”
“Y la regla está ahí mismo, a la vista: solo se puede enviar si está en borrador. Si no, lanza una excepción que se llama TransicionNoPermitida.”
“Fíjense en lo que esta clase no sabe: no sabe de HTTP, no sabe de PostgreSQL. Solo sabe del negocio. Si mañana cambia la regla, la cambiamos en un solo lugar.”
PARA PASAR
“Esa excepción tiene que llegarle a la persona como un mensaje que entienda.”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“En el taller del endpoint seguro aprendimos a no repetir el manejo de errores en cada controlador. En su lugar, hay un solo componente, el manejador global, que atrapa las excepciones y las convierte en respuestas HTTP.”
“Si la solicitud no existe, responde 404. Si el identificador ya existe o el cambio no se permite, 409. Si faltan datos, 400. Y siempre con la misma forma: un estado y un mensaje.”
“Eso es lo que permite que la interfaz le muestre a la persona un mensaje claro, en lugar de un error genérico que nadie entiende.”
QUÉ HACER (no se dice)
• Mostrar: En la UI, crear dos veces el mismo identificador. Debe verse: Aparece el diálogo “Ese identificador ya existe” con el código 409.
PARA PASAR
“Ahora, ¿cómo sabe otra persona qué endpoints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“Un contrato de API es como el menú de un restaurante: dice qué se puede pedir, qué lleva cada pedido y qué te van a devolver.”
“Cada servicio publica su contrato con un estándar llamado OpenAPI, y Swagger lo muestra como una página donde podemos ver cada endpoint y hasta probarlo.”
“Lo mejor es que se genera desde el código. Cuando agregamos un endpoint, la documentación lo muestra sin trabajo extra, y nunca queda desactualizada. Desde la interfaz hay un menú, Contratos, que abre estas páginas directamente.”
QUÉ HACER (no se dice)
• Mostrar: En la UI, menú Contratos › Swagger · solicitudes, y ejecutar GET /solicitudes. Debe verse: La lista en JSON con código 200.
PARA PASAR
“Documentar no basta: también hay que comprobar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“Las pruebas son como un vigilante que revisa cada regla todas las noches. Si alguien cambia algo y rompe una regla sin darse cuenta, la prueba falla y nos avisa.”
“Como el negocio no depende de Spring, podemos probar las reglas sin levantar nada: son pruebas muy rápidas. En lugar de PostgreSQL usamos un repositorio en memoria que cumple el mismo contrato.”
“Los controladores los probamos con MockMvc, que simula peticiones HTTP sin un servidor real. Solo el servicio de solicitudes tiene 28 pruebas, y el pipeline las corre todas en cada cambio.”
QUÉ HACER (no se dice)
• Mostrar: ./mvnw test en servicio-solicitudes. Debe verse: Tests run: 28, Failures: 0.
PARA PASAR
“Las pruebas cuidan el código. Git cuida su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2 · Construir un servicio
QUÉ DECIR
“Trabajamos en equipo sobre el mismo código, así que necesitábamos orden. Cada tarea se hace en una rama corta, con un nombre que dice qué es: feat para algo nuevo, fix para una corrección, docs para documentación.”
“Cada commit sigue una convención: el tipo, dos puntos y una frase corta que dice qué hace el cambio. Por ejemplo: feat, crear solicitud por post. Así, leyendo el historial, cualquiera entiende qué pasó.”
“Y nadie sube cambios directo a la rama principal. Todo entra por un Pull Request, otra persona lo revisa y el pipeline lo valida antes de integrarlo.”
QUÉ HACER (no se dice)
• Mostrar el historial del repositorio en GitHub; no crear commits durante la exposición.
PARA PASAR
“Ya sabemos construir un servicio. Ahora veamos cómo lo diseñamos para que pueda cambiar.”
PARA LEER MÁS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“Ahora vamos con diseñar para cambiar. Primero, qué problema resuelve.”
QUÉ HACER (no se dice)
Leer las cinco preguntas antes de avanzar.
RESPUESTAS
Problema: Si las reglas dependen de HTTP o de la base, cambiar una tecnología obliga a tocar el negocio.
Cómo funciona: El negocio va en el centro y la tecnología en los bordes. Lo que cambia por motivos distintos va en servicios distintos.
Cómo se ve: Entrada → dominio → salida; un monolito que se separa en dos servicios.
En ARKA-Lite: Paquetes dominio/ y adaptadores/ en cada servicio; adaptadores activos marcados con @Primary.
Cómo se comprueba: Las pruebas usan un repositorio en memoria con el mismo puerto,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estructura base organizamos cada servicio en tres zonas. A la izquierda, la entrada: los controladores que reciben las peticiones HTTP. En el centro, el dominio: las reglas del negocio. A la derecha, la salida: lo que habla con el exterior, como la base de datos o el otro servicio.”
“El dominio no llama directamente a la base. Pide lo que necesita a través de puertos, que son interfaces: un contrato que dice, por ejemplo, necesito guardar y buscar solicitudes, sin decir cómo.”
“Los adaptadores de salida cumplen ese contrato. Uno guarda en PostgreSQL; otro anota el evento pendiente; otro lo entrega a notificaciones. A esto se le llama arquitectura de puertos y adaptadores, o arquitectura hexagonal.”
PARA PASAR
“¿Qué ganamos con esa separación?”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“Las peticiones entran por el controlador, que solo traduce HTTP.”
Paso 2: “El servicio de dominio decide qué hacer: crear, enviar, aprobar o rechazar.”
Paso 3: “Las reglas de estado viven en el record Solicitud.”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dominio pide lo que necesita a través de puertos: interfaces sin tecnología.”
Paso 5: “Los adaptadores de salida implementan esos puertos con PostgreSQL y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“El relevador lee los eventos pendientes y los entrega a notificaciones.”
Paso 7: “Si una regla no se cumple, el manejador de errores responde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“Piensen en un enchufe. Un aparato no sabe si la electricidad viene de una hidroeléctrica o de paneles solares. Solo sabe que el enchufe cumple la norma. Los puertos son ese enchufe.”
“Por eso podemos tener varios adaptadores para el mismo puerto. Hoy, Spring usa el que marcamos con @Primary: el que guarda en PostgreSQL y el que publica con reintentos. En las pruebas usamos uno que guarda en memoria, y el negocio ni se entera del cambio.”
“Dejamos las versiones alternativas en el código a propósito, como material de aprendizaje: muestran que cambiar la pieza no obliga a tocar las reglas.”
SI PREGUNTAN
¿La interfaz guarda algo por sí misma?
RESPUESTA CORTA
No. Solo declara el contrato; el adaptador es el que hace el trabajo.
PARA PASAR
“Esa misma idea, llevada más lejos, separa aplicaciones completas.”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servicio de dominio solo conoce el contrato que necesita, no la clase que lo cumple.”
Paso 2: “El adaptador también conoce ese contrato y lo cumple. Los dos dependen del contrato.”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“Cuando la aplicación corre, la llamada sí llega al adaptador.”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“Spring elige cuál usar: el que está marcado con @Primary, hoy el que guarda en PostgreSQL.”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“En el taller de descomposición del monolito aprendimos que la pregunta clave no es técnica. Es: ¿qué partes del negocio cambian juntas?”
“Un monolito es una sola aplicación que lo hace todo y comparte una base. En ARKA-Lite, el trámite y los avisos cambian por motivos distintos, así que los separamos en dos servicios, cada uno con su propia base.”
“¿Cómo se hablan, entonces? Con un contrato: un mensaje llamado SolicitudEnviada, que dice qué solicitud se envió. Ese contrato está copiado en los dos proyectos, y si cambia de un lado, hay que cambiarlo del otro.”
PARA PASAR
“¿Siempre conviene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“Antes: una sola aplicación hace todo y comparte una base.”
Paso 2: “Separamos por responsabilidad: el trámite y los avisos cambian por motivos distintos.”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servicio es dueño de su base. Ninguno lee la base del otro.”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“Se comunican con un contrato: el evento SolicitudEnviada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3 · Diseñar para cambiar
QUÉ DECIR
“Separar no es gratis. Ahora hay red entre los servicios, cada uno tiene su base, y puede pasar que uno esté arriba y el otro caído. A eso se le llama fallo parcial.”
“Por eso la decisión se toma con criterios como los de esta tabla: si las partes cambian juntas, si necesitan desplegarse por separado, si un equipo distinto es dueño de cada una.”
“En ARKA-Lite separamos para aprender esas fronteras. Y justamente el fallo parcial es el problema que resolvemos en la siguiente parte.”
SI PREGUNTAN
Si un solo equipo mantiene todo y lo publica junto, ¿qué ganamos separando?
RESPUESTA CORTA
Poco: agregamos red y fallos parciales sin un beneficio claro.
PARA PASAR
“Si un servicio puede fallar mientras el otro funciona, ¿cómo evitamos perder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“Ahora vamos con guardar sin perder datos. Primero, qué problema resuelve.”
QUÉ HACER (no se dice)
Leer las cinco preguntas antes de avanzar.
RESPUESTAS
Problema: Si guardamos la solicitud y justo después falla el aviso, podríamos perder la intención de avisar.
Cómo funciona: Primero se guarda, después se avisa; y el que recibe ignora lo que ya recibió.
Cómo se ve: Transacción local → evento pendiente → relevador → receptor idempotente.
En ARKA-Lite: Adaptador JPA, tabla evento, RelevadorDeEventosPendientes, PublicadorConReintento y ConsumoIdempotente.
Cómo se comprueba: En la UI, pestaña Enviadas: eventos entregados y consumidos, y 0 avisos duplicados al reentregar.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“En el taller de modelado y consultas conectamos el adaptador a una base de datos real: PostgreSQL. Para no escribir SQL a mano en cada operación, usamos JPA, que traduce entre nuestros objetos y las tablas.”
“Al arrancar, el servicio ejecuta un archivo llamado schema.sql que crea las tablas si no existen. Después, Hibernate revisa que las clases coincidan con las tablas. Si no coinciden, el servicio no arranca, y eso es bueno: preferimos un error al inicio que datos mal guardados.”
“Un detalle de diseño: la clase que JPA guarda no es la misma que usa el negocio. El adaptador traduce entre las dos, y así el negocio sigue sin saber nada de la base.”
PARA PASAR
“Ahora veamos el problema más interesante del proyecto.”
PARA LEER MÁS
docs/arquitectura/datos-y-consistencia.md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“Antes del problema, ubiquemos los datos. Solicitudes guarda el trámite y una lista de eventos pendientes. Notificaciones guarda la lista de eventos que ya recibió.”
“Las dos bases no están conectadas entre sí. Lo único que las une es el contrato del evento.”
“Y una aclaración honesta: el texto del aviso vive en memoria. Si notificaciones se reinicia, perdemos ese texto, pero conservamos el registro de qué eventos ya recibimos. Lo mencionamos al final como mejora pendiente.”
PARA PASAR
“Con esto claro, veamos el problema de la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“Solicitudes guarda el trámite en su propia base de datos.”
Paso 2: “En esa misma base anota el evento pendiente, para no perder la intención de avisar.”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“Notificaciones guarda en su base los números de evento que ya recibió.”
Paso 4: “El texto del aviso vive en memoria: si el servicio se reinicia, se pierde el texto, pero no el registro.”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“Las dos bases no están conectadas. Lo que las une es el contrato del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“Imagínense que envían una solicitud justo cuando el servicio de avisos está caído. Si en ese momento intentáramos avisar directamente, la solicitud quedaría enviada, pero nadie se enteraría. Ese es el problema de la consistencia.”
“Lo que hicimos fue separar el envío en dos momentos. En el primero, guardamos la solicitud como enviada y, en la misma operación, dejamos anotado que hay un aviso pendiente. Es todo o nada: si una de las dos cosas falla, no se guarda ninguna.”
“La respuesta le llega a la persona enseguida. El aviso se entrega en un segundo momento, que vemos en la siguiente lámina.”
SI PREGUNTAN
¿Que el envío responda bien significa que el aviso ya existe?
RESPUESTA CORTA
No. Significa que la solicitud y el evento quedaron guardados; el aviso llega después.
PARA PASAR
“¿Quién entrega ese aviso pendiente?”
PARA LEER MÁS
docs/arquitectura/flujo-y-referencias.md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Enviar y la interfaz le pide al servicio que envíe la solicitud.”
Paso 2: “El controlador recibe el pedido y se lo pasa al servicio de dominio.”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servicio revisa que la solicitud esté en BORRADOR y la cambia a ENVIADA.”
Paso 4: “En una sola operación se guardan dos cosas: la solicitud ENVIADA y un evento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“La respuesta llega enseguida. El aviso todavía no existe: se entrega después.”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“Esto se llama patrón outbox, que en español sería bandeja de salida. Es como dejar una carta en la bandeja: aunque el mensajero no pase hoy, la carta no se pierde.”
“Nuestro mensajero se llama relevador. Cada cinco segundos revisa la tabla de eventos pendientes y los entrega a notificaciones. Si no logra entregarlos, lo intenta hasta tres veces, y si aun así falla, el evento sigue pendiente para el siguiente ciclo.”
“Un detalle importante: cada reintento lleva exactamente el mismo número de evento. Eso es lo que nos permite resolver el siguiente problema.”
PARA PASAR
“Si se reintenta, ¿no puede llegar el aviso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“El evento espera en la tabla de pendientes.”
Paso 2: “Cada 5 segundos, el relevador revisa si hay pendientes.”
Paso 3: “El publicador lo entrega hasta con tres intentos, siempre con el mismo número de evento.”
Paso 4: “El evento llega a notificaciones por HTTP.”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“Notificaciones revisa si ya conoce ese número de evento.”
Paso 6: “Si es nuevo, crea el aviso y anota el número.”
Paso 7: “Si ya lo conocía, lo ignora. Así una reentrega no duplica el aviso.”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8: “Notificaciones responde que lo recibió.”
Paso 9: “Solo entonces el relevador lo marca como entregado.”
Paso 10: “Si esa respuesta se pierde, el evento se vuelve a mandar, y la idempotencia evita el aviso doble.”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4 · Guardar sin perder datos
QUÉ DECIR
“Sí, puede llegar dos veces. Por ejemplo, si notificaciones recibió el evento pero su respuesta se perdió en el camino, el relevador piensa que falló y lo vuelve a mandar.”
“Para eso está la idempotencia, una palabra difícil para una idea sencilla: repetir la misma operación no multiplica su efecto. Notificaciones funciona como un portero con lista de invitados: anota el número de cada evento que recibe, y si llega uno que ya está en la lista, lo ignora.”
“En la demostración lo vamos a comprobar: vamos a reentregar a propósito un evento que ya llegó, y vamos a ver que no aparece un aviso nuevo.”
QUÉ HACER (no se dice)
• Mostrar: En la UI, pestaña Enviadas: Reentregar un evento ya consumido. Debe verse: El diálogo “El aviso no se duplicó” y Avisos duplicados en 0.
SI PREGUNTAN
¿Qué resuelve el outbox y qué resuelve la idempotencia?
RESPUESTA CORTA
El outbox evita perder el evento; la idempotencia evita duplicar su efecto.
PARA PASAR
“Los datos están cuidados. Ahora, ¿cómo llevamos todo esto a cualquier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“Ahora vamos con empaquetar y entregar. Primero, qué problema resuelve.”
QUÉ HACER (no se dice)
Leer las cinco preguntas antes de avanzar.
RESPUESTAS
Problema: “En mi máquina funciona”: cada computadora tiene otro Java, otras variables y otra red.
Cómo funciona: Docker empaqueta cada servicio, Compose levanta el sistema y el pipeline prueba cada cambio.
Cómo se ve: Dockerfile → imagen → contenedor; push → pipeline → imagen publicada.
En ARKA-Lite: Un Dockerfile por servicio, compose.yaml y .github/workflows/ci.yml.
Cómo se comprueba: docker compose ps con todo sano y la ejecución en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“¿Cuántas veces hemos escuchado “en mi máquina funciona”? Docker existe para que eso no vuelva a pasar.”
“El Dockerfile es una receta. La imagen es el plato ya preparado y empaquetado. Y el contenedor es ese plato servido: la imagen corriendo. Con la misma receta, sale lo mismo en cualquier computadora.”
“En el taller del Dockerfile usamos dos etapas. La primera tiene todas las herramientas para compilar. La segunda solo lleva lo necesario para ejecutar, así la imagen final es más liviana, y corre con un usuario sin privilegios, que es más seguro.”
PARA PASAR
“Un contenedor solo no es el sistema. Necesitamos levantarlos todos juntos.”
PARA LEER MÁS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primera etapa tiene Maven y Java completo, y compila el programa.”
Paso 2: “La etapa final solo lleva lo necesario para ejecutarlo, con un usuario sin privilegios.”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“El resultado es una imagen: la misma receta para cualquier computadora.”
Paso 4: “Un contenedor es esa imagen corriendo, con su configuración.”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“Dentro de la red, solicitudes llama a notificaciones por su nombre, no por localhost.”
Paso 6: “Desde tu computadora entras por el puerto publicado.”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 Compose conectamos los dos microservicios. Con un solo comando levantamos todo: los dos servicios, sus dos bases, la interfaz y las herramientas de logs.”
“Dentro de la red que crea Compose, cada servicio encuentra al otro por su nombre. Solicitudes no llama a localhost: llama a servicio-notificaciones. Esto es importante, porque dentro de un contenedor, localhost es el mismo contenedor.”
“Y la configuración entra por variables de entorno: la dirección de la base, la del otro servicio. Así la misma imagen sirve en nuestra computadora y en el clúster, sin recompilar.”
QUÉ HACER (no se dice)
• Mostrar: docker compose -f compose.yaml -f compose.ui.yaml ps Debe verse: Los servicios, las bases y la UI arriba y sanos.
SI PREGUNTAN
Dentro de un contenedor, ¿a dónde lleva localhost?
RESPUESTA CORTA
Al mismo contenedor, no a otro servicio. Por eso usamos el nombre del servicio.
PARA PASAR
“Ya corre en cualquier computadora. Ahora, cómo validamos cada cambio sin hacerlo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5 · Empaquetar y entregar
QUÉ DECIR
“En el taller del pipeline configuramos GitHub Actions para que trabaje por nosotros. Cada vez que alguien sube un cambio o abre un Pull Request, se dispara solo.”
“Por cada servicio, prepara Java y una base de datos, compila, corre todas las pruebas y comprueba que el servicio realmente arranca. Si algo falla, nos avisa en minutos.”
“Si todo pasa, construye la imagen y la publica con el código del commit. Así cada imagen se puede relacionar con el cambio exacto que la produjo. Integración continua es probar seguido; entrega continua es dejar siempre una versión lista para desplegar.”
SI PREGUNTAN
¿Publicar la imagen la despliega en Kubernetes?
RESPUESTA CORTA
No. Desplegar es un paso aparte.
PARA PASAR
“Con cada cambio probado y empaquetado, falta llevarlo al clúster.”
PARA LEER MÁS
docs/automatizacion/ci-yaml-paso-a-paso.md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“Un push a main o un Pull Request dispara el pipeline.”
Paso 2: “Se crea un trabajo por servicio, cada uno con su base de datos de prueba.”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“Cada trabajo compila y corre todas las pruebas del servicio.”
Paso 4: “En solicitudes, además, comprueba que el servicio arranca de verdad.”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“Si todo pasa, construye la imagen y la publica con el código del commit.”
Paso 6: “Publicar no es desplegar: lo que corre en el clúster cambia en un paso aparte.”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“Ahora vamos con desplegar y operar. Primero, qué problema resuelve.”
QUÉ HACER (no se dice)
Leer las cinco preguntas antes de avanzar.
RESPUESTAS
Problema: Si un servicio se cae de madrugada, alguien tiene que levantarlo y después averiguar qué pasó.
Cómo funciona: Kubernetes mantiene el sistema corriendo; los logs y la salud nos dicen qué está pasando.
Cómo se ve: Deployment → Pod → Service; App → Promtail → Loki → Grafana.
En ARKA-Lite: Los manifiestos de k8s/, Promtail, Loki y Grafana, y Actuator en cada servicio.
Cómo se comprueba: kubectl get pods, una búsqueda en Grafana por número de evento y la pestaña Salud de la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“Kubernetes funciona como un termostato. No le decimos qué hacer paso a paso: le decimos el estado que queremos, por ejemplo una copia de cada servicio, y él se encarga de mantenerlo.”
“El Deployment dice cuántas copias queremos. Cada copia corre en un Pod. El Service le da a cada servicio un nombre fijo dentro del clúster, para que los demás lo encuentren. Y las bases guardan su contraseña en un Secret y sus datos en un disco que sobrevive a los reinicios.”
“En el taller desplegamos ARKA-Lite completo en un clúster con un solo comando: kubectl apply sobre la carpeta k8s.”
PARA PASAR
“¿Y cómo sabe Kubernetes si un servicio está bien?”
PARA LEER MÁS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“Declaramos un Deployment: qué imagen usar y cuántas copias queremos.”
Paso 2: “Kubernetes mantiene ese número de copias. Si una falta, crea otra.”
Paso 3: “Cada copia corre en un Pod. Antes de arrancar, espera a la base y a notificaciones.”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Service da un nombre fijo y solo manda tráfico a los Pods listos.”
Paso 5: “El Secret entrega la contraseña de la base sin escribirla en el código.”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6: “La base guarda sus datos en un disco que sobrevive a los reinicios. Aun así, no es un respaldo.”
Paso 7: “La aplicación llega a la base por su nombre de Service, no por una dirección fija.”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“En la puesta a punto aprendimos que arrancar no es lo mismo que estar listo. Por eso, antes de iniciar, cada servicio espera a que su base y sus dependencias respondan.”
“Kubernetes hace dos preguntas a cada Pod. La primera: ¿ya puedes recibir tráfico? Si no, no le manda peticiones. La segunda: ¿sigues vivo? Si no responde, lo reinicia.”
“Y si borramos un Pod a propósito, Kubernetes crea otro solo. En la tabla está la primera pregunta que nos hacemos según el estado en que veamos un Pod.”
QUÉ HACER (no se dice)
• Mostrar: kubectl delete pod de servicio-solicitudes y luego kubectl get pods. Debe verse: Aparece un Pod nuevo que vuelve a estar Ready.
PARA PASAR
“El sistema corre. ¿Cómo sabemos qué está pasando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“Los logs son como la caja negra de un avión: registran lo que pasó para poder revisarlo después. El problema es que cada servicio tiene su propia caja negra.”
“En el taller de centralización de logs armamos este recorrido. Cada servicio escribe sus logs en formato JSON. Promtail los recoge de todos los contenedores, Loki los guarda y Grafana nos deja buscarlos en un solo lugar.”
“Así podemos seguir un evento de un servicio a otro buscando su número, sin entrar a cada contenedor. Desde la interfaz, el menú Contratos tiene un acceso directo a Grafana.”
QUÉ HACER (no se dice)
• Mostrar: Grafana › Explore › Loki: {service="servicio-solicitudes"} |= "evento". Debe verse: Las líneas “Intentando publicar evento” con el número del evento.
PARA PASAR
“Además de los logs, cada servicio dice si está bien.”
PARA LEER MÁS
docs/operaciones/observabilidad.md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escribe sus logs en formato JSON.”
Paso 2: “Docker guarda lo que escribe cada contenedor.”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“Promtail recoge esos logs de todos los contenedores.”
Paso 4: “Loki los guarda y permite buscarlos.”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5: “Grafana muestra los logs y deja filtrarlos, por ejemplo, por número de evento.”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6 · 6 · Desplegar y operar
QUÉ DECIR
“Cada servicio tiene una dirección de salud que responde si está bien. Por dentro revisa, por ejemplo, que pueda hablar con su base de datos. Kubernetes la usa para decidir si un Pod está listo, y la interfaz la muestra en la pestaña Salud.”
“Pero ojo: que un servicio diga UP solo significa que responde. No garantiza que todos los avisos llegaron. Para eso miramos la pestaña Enviadas y los logs.”
“Las métricas, como cuántas peticiones recibe cada servicio, ya se exponen. Guardarlas en el tiempo con Prometheus queda como siguiente paso.”
SI PREGUNTAN
Si todo está UP y falta un aviso, ¿qué miramos?
RESPUESTA CORTA
Si el evento se entregó y se consumió, en Enviadas, y los logs del relevador y de notificaciones.
PARA PASAR
“Ya tenemos todas las piezas. Falta ensamblarlas con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“Cada servicio mide cosas como cuántas peticiones recibe.”
Paso 2: “Actuator expone esas mediciones y también la salud del servicio.”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3: “Un servidor Prometheus las guardaría en el tiempo. Hoy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“Grafana las mostraría en gráficos. También queda pendiente.”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“Ahora vamos con ensamblaje: la ui. Primero, qué problema resuelve.”
QUÉ HACER (no se dice)
Leer las cinco preguntas antes de avanzar.
RESPUESTAS
Problema: Dos servicios sueltos no son un producto: alguien tiene que poder usarlos y entenderlos.
Cómo funciona: Una interfaz web consume los dos servicios por un mismo origen y explica cómo funcionan.
Cómo se ve: Navegador → /api → nginx → solicitudes o notificaciones.
En ARKA-Lite: arka-lite-ui: React, nginx como proxy, DataTables, Tom Select y SweetAlert2.
Cómo se comprueba: La demostración en vivo: crear, enviar, ver el aviso y reentregar sin duplicar.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es una aplicación web hecha con React y servida por nginx. El navegador nunca conoce las direcciones internas de los servicios: siempre llama a /api, en la misma dirección de la página.”
“nginx funciona como una recepcionista: recibe cada petición y la pasa al servicio que corresponde. Lo que empieza con /api/solicitudes va a solicitudes; lo de notificaciones, a notificaciones.”
“Y un detalle de cuidado: si una operación que cambia datos tarda demasiado, la interfaz no la repite por su cuenta, porque el cambio pudo haberse guardado aunque la respuesta no llegara.”
PARA PASAR
“¿Y qué ve la persona cuando abre la interfaz?”
PARA LEER MÁS
arka-lite-ui/README.md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1: “La persona pulsa un botón en la pantalla.”
Paso 2: “Si la acción cambia datos, la interfaz pide confirmarla antes de enviarla.”
Paso 3: “El cliente HTTP mide el tiempo y, si tarda más de 10 segundos, no lo repite solo.”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4: “El navegador llama a /api y nginx lo pasa al servicio que corresponde.”
Paso 5: “nginx llega al servicio por su nombre interno.”
Paso 6: “Vuelve la respuesta con su código: 200, 201, 404, 409 o un error si el servicio no responde.”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Paso 7: “La petición queda registrada con su método, ruta, código y duración.”
Paso 8: “La pantalla muestra el resultado con un mensaje claro.”
QUÉ HACER (no se dice)
Señalar la flecha con el mismo número y lo que aparece resaltado en 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“La interfaz tiene solo cuatro pestañas. En Solicitudes creas una solicitud, ves las que creaste y tienes a la mano las acciones que corresponden a cada una. Antes de cada acción, la app te pide confirmar.”
“En Enviadas ves el recorrido de cada evento: registrado, entregado, consumido y aviso. En Salud validas que los dos servicios estén bien, y desde ahí también abres los contratos en Swagger y los logs en Grafana.”
“Y en Ayuda está la explicación: cada tema responde una pregunta, como qué pasa cuando envío una solicitud, con un diagrama que avanza paso a paso. Los colores de la plantilla se pueden personalizar desde la propia app.”
PARA PASAR
“Ahora sí, vamos a verlo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7 · 7 · Ensamblaje: la UI
QUÉ DECIR
“Abrimos la interfaz. Arriba a la derecha vemos que los dos servicios están en verde. Creamos una solicitud nueva, con un identificador propio. La app confirma que se creó y la marca como nuestra.”
“Ahora la enviamos. La app nos pide confirmar, confirmamos, y en la pestaña Enviadas vemos el evento registrado. En unos segundos, el relevador lo entrega, notificaciones lo recibe y aparece el aviso. Fíjense en la línea fina bajo la barra superior: se ilumina cuando un evento termina su viaje.”
“Y la prueba final: reentregamos a propósito el mismo evento. La app nos confirma que notificaciones lo reconoció y no creó otro aviso. Avisos duplicados: cero. Eso es la idempotencia, funcionando.”
QUÉ HACER (no se dice)
• Usar un identificador que no exista, por ejemplo DEMO-01. Si ya existe, la app muestra el mensaje 409: explicarlo y usar otro.
• Si el evento tarda, esperar: la pestaña Enviadas se actualiza sola cada 5 segundos.
• Mostrar: Solicitudes: crear DEMO-01 y enviarla. Enviadas: esperar el aviso y pulsar Reentregar. Debe verse: 201 al crear; evento entregado y consumido; 1 aviso; “El aviso no se duplicó”.
PARA PASAR
“Para cerrar, repasemos lo que aprendimos.”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“Esta tabla resume el curso entero. Cada tema que vimos tiene un lugar concreto en ARKA-Lite, desde el primer endpoint con Spring Boot hasta el despliegue en Kubernetes y la centralización de logs.”
“Y no lo decimos solo en una lámina: lo acaban de ver funcionando, con pruebas automáticas que lo vigilan y un pipeline que lo valida en cada cambio.”
PARA PASAR
“También queremos ser honestos con lo que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“ARKA-Lite es un laboratorio, y lo decimos con claridad. El texto de los avisos se pierde si notificaciones se reinicia. No tiene inicio de sesión y las contraseñas son de prueba. No usa un sistema de mensajería dedicado, no guarda métricas en el tiempo y el pipeline publica las imágenes, pero no las despliega solo.”
“Los siguientes pasos serían guardar el aviso en la base junto con su número de evento, agregar autenticación y sacar las contraseñas del repositorio.”
PARA PASAR
“Gracias por su atención.”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QUÉ DECIR
“Empezamos con un endpoint y terminamos con un sistema de dos microservicios, empaquetado, desplegado, observado y con una interfaz que cualquiera puede usar para comprobar cómo funciona.”
“Muchas gracias por acompañarnos, de parte de todo el equipo arka-litos. Con gusto respondemos sus preguntas.”
PARA LEER MÁS
docs/inicio/proyecto.md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7808976" y="-1527048"/>
            <a:ext cx="6099048" cy="6099048"/>
          </a:xfrm>
          <a:prstGeom prst="ellipse">
            <a:avLst/>
          </a:prstGeom>
          <a:solidFill>
            <a:srgbClr val="0B2350"/>
          </a:solidFill>
          <a:ln w="12700">
            <a:solidFill>
              <a:srgbClr val="0B2350"/>
            </a:solidFill>
            <a:prstDash val="solid"/>
          </a:ln>
        </p:spPr>
      </p:sp>
      <p:sp>
        <p:nvSpPr>
          <p:cNvPr id="3" name="Shape 1"/>
          <p:cNvSpPr/>
          <p:nvPr/>
        </p:nvSpPr>
        <p:spPr>
          <a:xfrm>
            <a:off x="0" y="0"/>
            <a:ext cx="109728" cy="6858000"/>
          </a:xfrm>
          <a:prstGeom prst="rect">
            <a:avLst/>
          </a:prstGeom>
          <a:solidFill>
            <a:srgbClr val="2BA6CB"/>
          </a:solidFill>
          <a:ln w="12700">
            <a:solidFill>
              <a:srgbClr val="2BA6CB"/>
            </a:solidFill>
            <a:prstDash val="solid"/>
          </a:ln>
        </p:spPr>
      </p:sp>
      <p:sp>
        <p:nvSpPr>
          <p:cNvPr id="4" name="Shape 2"/>
          <p:cNvSpPr/>
          <p:nvPr/>
        </p:nvSpPr>
        <p:spPr>
          <a:xfrm>
            <a:off x="758952" y="530352"/>
            <a:ext cx="329184" cy="329184"/>
          </a:xfrm>
          <a:prstGeom prst="ellipse">
            <a:avLst/>
          </a:prstGeom>
          <a:solidFill>
            <a:srgbClr val="2BA6CB"/>
          </a:solidFill>
          <a:ln w="12700">
            <a:solidFill>
              <a:srgbClr val="2BA6CB"/>
            </a:solidFill>
            <a:prstDash val="solid"/>
          </a:ln>
        </p:spPr>
      </p:sp>
      <p:sp>
        <p:nvSpPr>
          <p:cNvPr id="5" name="Text 3"/>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6" name="Text 4"/>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7" name="Text 5"/>
          <p:cNvSpPr/>
          <p:nvPr/>
        </p:nvSpPr>
        <p:spPr>
          <a:xfrm>
            <a:off x="758952" y="1828800"/>
            <a:ext cx="64008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PROYECTO FINAL · UPSKILLING BACKEND JAVA</a:t>
            </a:r>
            <a:endParaRPr lang="en-US" sz="1200" dirty="0"/>
          </a:p>
        </p:txBody>
      </p:sp>
      <p:sp>
        <p:nvSpPr>
          <p:cNvPr id="8" name="Text 6"/>
          <p:cNvSpPr/>
          <p:nvPr/>
        </p:nvSpPr>
        <p:spPr>
          <a:xfrm>
            <a:off x="758952" y="2176272"/>
            <a:ext cx="6583680" cy="1783080"/>
          </a:xfrm>
          <a:prstGeom prst="rect">
            <a:avLst/>
          </a:prstGeom>
          <a:noFill/>
          <a:ln/>
        </p:spPr>
        <p:txBody>
          <a:bodyPr wrap="square" lIns="0" tIns="0" rIns="0" bIns="0" rtlCol="0" anchor="t">
            <a:normAutofit/>
          </a:bodyPr>
          <a:lstStyle/>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Del endpoint</a:t>
            </a:r>
            <a:endParaRPr lang="en-US" sz="5400" dirty="0"/>
          </a:p>
          <a:p>
            <a:pPr indent="0" marL="0">
              <a:lnSpc>
                <a:spcPct val="95000"/>
              </a:lnSpc>
              <a:buNone/>
            </a:pPr>
            <a:r>
              <a:rPr lang="en-US" sz="5400" b="1" dirty="0">
                <a:solidFill>
                  <a:srgbClr val="FFFFFF"/>
                </a:solidFill>
                <a:latin typeface="Segoe UI Semibold" pitchFamily="34" charset="0"/>
                <a:ea typeface="Segoe UI Semibold" pitchFamily="34" charset="-122"/>
                <a:cs typeface="Segoe UI Semibold" pitchFamily="34" charset="-120"/>
              </a:rPr>
              <a:t>al clúster</a:t>
            </a:r>
            <a:endParaRPr lang="en-US" sz="5400" dirty="0"/>
          </a:p>
        </p:txBody>
      </p:sp>
      <p:sp>
        <p:nvSpPr>
          <p:cNvPr id="9" name="Text 7"/>
          <p:cNvSpPr/>
          <p:nvPr/>
        </p:nvSpPr>
        <p:spPr>
          <a:xfrm>
            <a:off x="758952" y="4114800"/>
            <a:ext cx="6217920" cy="822960"/>
          </a:xfrm>
          <a:prstGeom prst="rect">
            <a:avLst/>
          </a:prstGeom>
          <a:noFill/>
          <a:ln/>
        </p:spPr>
        <p:txBody>
          <a:bodyPr wrap="square" lIns="0" tIns="0" rIns="0" bIns="0" rtlCol="0" anchor="t"/>
          <a:lstStyle/>
          <a:p>
            <a:pPr indent="0" marL="0">
              <a:buNone/>
            </a:pPr>
            <a:r>
              <a:rPr lang="en-US" sz="1800" dirty="0">
                <a:solidFill>
                  <a:srgbClr val="9FBEE0"/>
                </a:solidFill>
                <a:latin typeface="Segoe UI" pitchFamily="34" charset="0"/>
                <a:ea typeface="Segoe UI" pitchFamily="34" charset="-122"/>
                <a:cs typeface="Segoe UI" pitchFamily="34" charset="-120"/>
              </a:rPr>
              <a:t>Cómo construimos ARKA-Lite: una interfaz web y dos microservicios en Java.</a:t>
            </a:r>
            <a:endParaRPr lang="en-US" sz="1800" dirty="0"/>
          </a:p>
        </p:txBody>
      </p:sp>
      <p:sp>
        <p:nvSpPr>
          <p:cNvPr id="10" name="Text 8"/>
          <p:cNvSpPr/>
          <p:nvPr/>
        </p:nvSpPr>
        <p:spPr>
          <a:xfrm>
            <a:off x="758952" y="5897880"/>
            <a:ext cx="9144000" cy="274320"/>
          </a:xfrm>
          <a:prstGeom prst="rect">
            <a:avLst/>
          </a:prstGeom>
          <a:noFill/>
          <a:ln/>
        </p:spPr>
        <p:txBody>
          <a:bodyPr wrap="square" lIns="0" tIns="0" rIns="0" bIns="0" rtlCol="0" anchor="ctr"/>
          <a:lstStyle/>
          <a:p>
            <a:pPr indent="0" marL="0">
              <a:buNone/>
            </a:pPr>
            <a:r>
              <a:rPr lang="en-US" sz="1150" dirty="0">
                <a:solidFill>
                  <a:srgbClr val="9FBEE0"/>
                </a:solidFill>
                <a:latin typeface="Segoe UI" pitchFamily="34" charset="0"/>
                <a:ea typeface="Segoe UI" pitchFamily="34" charset="-122"/>
                <a:cs typeface="Segoe UI" pitchFamily="34" charset="-120"/>
              </a:rPr>
              <a:t>Equipo arka-litos · Recorrido ejecutivo</a:t>
            </a:r>
            <a:endParaRPr lang="en-US" sz="1150" dirty="0"/>
          </a:p>
        </p:txBody>
      </p:sp>
      <p:sp>
        <p:nvSpPr>
          <p:cNvPr id="11" name="Shape 9"/>
          <p:cNvSpPr/>
          <p:nvPr/>
        </p:nvSpPr>
        <p:spPr>
          <a:xfrm>
            <a:off x="9710928" y="2112264"/>
            <a:ext cx="0" cy="530352"/>
          </a:xfrm>
          <a:prstGeom prst="line">
            <a:avLst/>
          </a:prstGeom>
          <a:noFill/>
          <a:ln w="19050">
            <a:solidFill>
              <a:srgbClr val="5D7598"/>
            </a:solidFill>
            <a:prstDash val="solid"/>
          </a:ln>
        </p:spPr>
      </p:sp>
      <p:sp>
        <p:nvSpPr>
          <p:cNvPr id="12" name="Shape 10"/>
          <p:cNvSpPr/>
          <p:nvPr/>
        </p:nvSpPr>
        <p:spPr>
          <a:xfrm>
            <a:off x="8851392" y="2642616"/>
            <a:ext cx="1737360" cy="0"/>
          </a:xfrm>
          <a:prstGeom prst="line">
            <a:avLst/>
          </a:prstGeom>
          <a:noFill/>
          <a:ln w="19050">
            <a:solidFill>
              <a:srgbClr val="5D7598"/>
            </a:solidFill>
            <a:prstDash val="solid"/>
          </a:ln>
        </p:spPr>
      </p:sp>
      <p:sp>
        <p:nvSpPr>
          <p:cNvPr id="13" name="Shape 11"/>
          <p:cNvSpPr/>
          <p:nvPr/>
        </p:nvSpPr>
        <p:spPr>
          <a:xfrm>
            <a:off x="8851392" y="2642616"/>
            <a:ext cx="0" cy="347472"/>
          </a:xfrm>
          <a:prstGeom prst="line">
            <a:avLst/>
          </a:prstGeom>
          <a:noFill/>
          <a:ln w="19050">
            <a:solidFill>
              <a:srgbClr val="5D7598"/>
            </a:solidFill>
            <a:prstDash val="solid"/>
          </a:ln>
        </p:spPr>
      </p:sp>
      <p:sp>
        <p:nvSpPr>
          <p:cNvPr id="14" name="Shape 12"/>
          <p:cNvSpPr/>
          <p:nvPr/>
        </p:nvSpPr>
        <p:spPr>
          <a:xfrm>
            <a:off x="10588752" y="2642616"/>
            <a:ext cx="0" cy="347472"/>
          </a:xfrm>
          <a:prstGeom prst="line">
            <a:avLst/>
          </a:prstGeom>
          <a:noFill/>
          <a:ln w="19050">
            <a:solidFill>
              <a:srgbClr val="5D7598"/>
            </a:solidFill>
            <a:prstDash val="solid"/>
          </a:ln>
        </p:spPr>
      </p:sp>
      <p:sp>
        <p:nvSpPr>
          <p:cNvPr id="15" name="Shape 13"/>
          <p:cNvSpPr/>
          <p:nvPr/>
        </p:nvSpPr>
        <p:spPr>
          <a:xfrm>
            <a:off x="8851392" y="3675888"/>
            <a:ext cx="0" cy="566928"/>
          </a:xfrm>
          <a:prstGeom prst="line">
            <a:avLst/>
          </a:prstGeom>
          <a:noFill/>
          <a:ln w="19050">
            <a:solidFill>
              <a:srgbClr val="5D7598"/>
            </a:solidFill>
            <a:prstDash val="solid"/>
          </a:ln>
        </p:spPr>
      </p:sp>
      <p:sp>
        <p:nvSpPr>
          <p:cNvPr id="16" name="Shape 14"/>
          <p:cNvSpPr/>
          <p:nvPr/>
        </p:nvSpPr>
        <p:spPr>
          <a:xfrm>
            <a:off x="10588752" y="3675888"/>
            <a:ext cx="0" cy="566928"/>
          </a:xfrm>
          <a:prstGeom prst="line">
            <a:avLst/>
          </a:prstGeom>
          <a:noFill/>
          <a:ln w="19050">
            <a:solidFill>
              <a:srgbClr val="5D7598"/>
            </a:solidFill>
            <a:prstDash val="solid"/>
          </a:ln>
        </p:spPr>
      </p:sp>
      <p:sp>
        <p:nvSpPr>
          <p:cNvPr id="17" name="Text 15"/>
          <p:cNvSpPr/>
          <p:nvPr/>
        </p:nvSpPr>
        <p:spPr>
          <a:xfrm>
            <a:off x="8951976" y="1426464"/>
            <a:ext cx="1527048" cy="685800"/>
          </a:xfrm>
          <a:prstGeom prst="roundRect">
            <a:avLst>
              <a:gd name="adj" fmla="val 18667"/>
            </a:avLst>
          </a:prstGeom>
          <a:solidFill>
            <a:srgbClr val="2BA6CB"/>
          </a:solidFill>
          <a:ln>
            <a:solidFill>
              <a:srgbClr val="2BA6CB"/>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UI</a:t>
            </a:r>
            <a:endParaRPr lang="en-US" sz="1400" dirty="0"/>
          </a:p>
        </p:txBody>
      </p:sp>
      <p:sp>
        <p:nvSpPr>
          <p:cNvPr id="18" name="Text 16"/>
          <p:cNvSpPr/>
          <p:nvPr/>
        </p:nvSpPr>
        <p:spPr>
          <a:xfrm>
            <a:off x="8092440" y="2990088"/>
            <a:ext cx="1527048" cy="685800"/>
          </a:xfrm>
          <a:prstGeom prst="roundRect">
            <a:avLst>
              <a:gd name="adj" fmla="val 18667"/>
            </a:avLst>
          </a:prstGeom>
          <a:solidFill>
            <a:srgbClr val="FFFFFF"/>
          </a:solidFill>
          <a:ln>
            <a:solidFill>
              <a:srgbClr val="FFFFFF"/>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Solicitudes</a:t>
            </a:r>
            <a:endParaRPr lang="en-US" sz="1400" dirty="0"/>
          </a:p>
        </p:txBody>
      </p:sp>
      <p:sp>
        <p:nvSpPr>
          <p:cNvPr id="19" name="Text 17"/>
          <p:cNvSpPr/>
          <p:nvPr/>
        </p:nvSpPr>
        <p:spPr>
          <a:xfrm>
            <a:off x="9829800" y="2990088"/>
            <a:ext cx="1527048" cy="685800"/>
          </a:xfrm>
          <a:prstGeom prst="roundRect">
            <a:avLst>
              <a:gd name="adj" fmla="val 18667"/>
            </a:avLst>
          </a:prstGeom>
          <a:solidFill>
            <a:srgbClr val="FFFFFF"/>
          </a:solidFill>
          <a:ln>
            <a:solidFill>
              <a:srgbClr val="FFFFFF"/>
            </a:solidFill>
          </a:ln>
        </p:spPr>
        <p:txBody>
          <a:bodyPr wrap="square" lIns="25400" tIns="25400" rIns="25400" bIns="25400" rtlCol="0" anchor="ctr"/>
          <a:lstStyle/>
          <a:p>
            <a:pPr algn="ctr" indent="0" marL="0">
              <a:buNone/>
            </a:pPr>
            <a:r>
              <a:rPr lang="en-US" sz="1400" b="1" dirty="0">
                <a:solidFill>
                  <a:srgbClr val="0B1F3A"/>
                </a:solidFill>
                <a:latin typeface="Segoe UI Semibold" pitchFamily="34" charset="0"/>
                <a:ea typeface="Segoe UI Semibold" pitchFamily="34" charset="-122"/>
                <a:cs typeface="Segoe UI Semibold" pitchFamily="34" charset="-120"/>
              </a:rPr>
              <a:t>Notificaciones</a:t>
            </a:r>
            <a:endParaRPr lang="en-US" sz="1400" dirty="0"/>
          </a:p>
        </p:txBody>
      </p:sp>
      <p:sp>
        <p:nvSpPr>
          <p:cNvPr id="20" name="Text 18"/>
          <p:cNvSpPr/>
          <p:nvPr/>
        </p:nvSpPr>
        <p:spPr>
          <a:xfrm>
            <a:off x="8284464" y="4242816"/>
            <a:ext cx="1143000" cy="566928"/>
          </a:xfrm>
          <a:prstGeom prst="roundRect">
            <a:avLst>
              <a:gd name="adj" fmla="val 48387"/>
            </a:avLst>
          </a:prstGeom>
          <a:solidFill>
            <a:srgbClr val="0B1F3A"/>
          </a:solidFill>
          <a:ln w="19050">
            <a:solidFill>
              <a:srgbClr val="9FB4D2"/>
            </a:solidFill>
          </a:ln>
        </p:spPr>
        <p:txBody>
          <a:bodyPr wrap="square" lIns="25400" tIns="25400" rIns="25400" bIns="254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PostgreSQL</a:t>
            </a:r>
            <a:endParaRPr lang="en-US" sz="1100" dirty="0"/>
          </a:p>
        </p:txBody>
      </p:sp>
      <p:sp>
        <p:nvSpPr>
          <p:cNvPr id="21" name="Text 19"/>
          <p:cNvSpPr/>
          <p:nvPr/>
        </p:nvSpPr>
        <p:spPr>
          <a:xfrm>
            <a:off x="10021824" y="4242816"/>
            <a:ext cx="1143000" cy="566928"/>
          </a:xfrm>
          <a:prstGeom prst="roundRect">
            <a:avLst>
              <a:gd name="adj" fmla="val 48387"/>
            </a:avLst>
          </a:prstGeom>
          <a:solidFill>
            <a:srgbClr val="0B1F3A"/>
          </a:solidFill>
          <a:ln w="19050">
            <a:solidFill>
              <a:srgbClr val="9FB4D2"/>
            </a:solidFill>
          </a:ln>
        </p:spPr>
        <p:txBody>
          <a:bodyPr wrap="square" lIns="25400" tIns="25400" rIns="25400" bIns="25400"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PostgreSQL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Qué es ARKA-Lite</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Registra solicitudes y avisa cuando se envían.</a:t>
            </a:r>
            <a:endParaRPr lang="en-US" sz="3200" dirty="0"/>
          </a:p>
        </p:txBody>
      </p:sp>
      <p:sp>
        <p:nvSpPr>
          <p:cNvPr id="6" name="Shape 4"/>
          <p:cNvSpPr/>
          <p:nvPr/>
        </p:nvSpPr>
        <p:spPr>
          <a:xfrm>
            <a:off x="612648" y="4507992"/>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4736592"/>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4617720"/>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una ventanilla y un buzón: la ventanilla recibe el trámite y el buzón te avisa cuando avanzó.</a:t>
            </a:r>
            <a:endParaRPr lang="en-US" sz="1450" dirty="0"/>
          </a:p>
        </p:txBody>
      </p:sp>
      <p:sp>
        <p:nvSpPr>
          <p:cNvPr id="9" name="Shape 7"/>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10" name="Text 8"/>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Text 9"/>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 solicitudes y cambia su estado</a:t>
            </a:r>
            <a:endParaRPr lang="en-US" sz="1600" dirty="0"/>
          </a:p>
        </p:txBody>
      </p:sp>
      <p:sp>
        <p:nvSpPr>
          <p:cNvPr id="12" name="Shape 10"/>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3" name="Text 11"/>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Notificaciones: crea un aviso cuando una solicitud se envía</a:t>
            </a:r>
            <a:endParaRPr lang="en-US" sz="1600" dirty="0"/>
          </a:p>
        </p:txBody>
      </p:sp>
      <p:sp>
        <p:nvSpPr>
          <p:cNvPr id="15" name="Shape 13"/>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4110228"/>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7" name="Text 15"/>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interfaz web: permite usar y entender los dos</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Dos servicios con tareas distintas: así pudimos practicar todo lo que trae trabajar con microservicios.</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APERTURA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vamos a recorrerlo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Siete partes, en el orden en que se construye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tema del curso, donde se usa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Diagramas paso a paso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Demostración en vivo al final</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795357"/>
                <a:gridCol w="8171043"/>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Parte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Temas del curso que aparecen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1 El sistema por fuera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Visión general del sistema y su arquitectura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2 Construir un 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Spring Boot, endpoints REST, manejo global de errores, Swagger, pruebas, Git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3 Diseñar para cambiar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Puertos y adaptadores, de monolito a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4 Guardar sin perder datos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Adaptador con base de datos real, el problema de la consistencia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5 Empaquetar y entregar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Docker y Dockerfile, Docker Compose, integración y entrega continua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6 Desplegar y operar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Kubernetes, del contenedor al clúster, puesta a punto, logs y monitoreo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7 Ensamblaje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Ensamblaje del sistema y puesta a punto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APERTURA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1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01</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El sistema por fuera</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Qué piezas tiene ARKA-Lite, dónde corren y cómo se hablan.</a:t>
            </a:r>
            <a:endParaRPr lang="en-US" sz="1900" dirty="0"/>
          </a:p>
        </p:txBody>
      </p:sp>
      <p:sp>
        <p:nvSpPr>
          <p:cNvPr id="6" name="Text 4"/>
          <p:cNvSpPr/>
          <p:nvPr/>
        </p:nvSpPr>
        <p:spPr>
          <a:xfrm>
            <a:off x="758952"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Visión general</a:t>
            </a:r>
            <a:endParaRPr lang="en-US" sz="1300" dirty="0"/>
          </a:p>
        </p:txBody>
      </p:sp>
      <p:sp>
        <p:nvSpPr>
          <p:cNvPr id="7" name="Text 5"/>
          <p:cNvSpPr/>
          <p:nvPr/>
        </p:nvSpPr>
        <p:spPr>
          <a:xfrm>
            <a:off x="2688336" y="4617720"/>
            <a:ext cx="160934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Arquitectura</a:t>
            </a:r>
            <a:endParaRPr lang="en-US" sz="1300" dirty="0"/>
          </a:p>
        </p:txBody>
      </p:sp>
      <p:sp>
        <p:nvSpPr>
          <p:cNvPr id="8" name="Text 6"/>
          <p:cNvSpPr/>
          <p:nvPr/>
        </p:nvSpPr>
        <p:spPr>
          <a:xfrm>
            <a:off x="4425696"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Microservicios</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P1</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1 · Desarrollo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es la puerta de entrada</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tiene su propia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avisa a notificaciones con un evento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Todo se comunica por HTTP</a:t>
            </a:r>
            <a:endParaRPr lang="en-US" sz="1100" dirty="0"/>
          </a:p>
        </p:txBody>
      </p:sp>
      <p:sp>
        <p:nvSpPr>
          <p:cNvPr id="9" name="Shape 7"/>
          <p:cNvSpPr/>
          <p:nvPr/>
        </p:nvSpPr>
        <p:spPr>
          <a:xfrm>
            <a:off x="5558180" y="2187245"/>
            <a:ext cx="5555894" cy="1344168"/>
          </a:xfrm>
          <a:prstGeom prst="roundRect">
            <a:avLst>
              <a:gd name="adj" fmla="val 8163"/>
            </a:avLst>
          </a:prstGeom>
          <a:solidFill>
            <a:srgbClr val="F4F7FB"/>
          </a:solidFill>
          <a:ln w="12700">
            <a:solidFill>
              <a:srgbClr val="DFE6F0"/>
            </a:solidFill>
            <a:prstDash val="solid"/>
          </a:ln>
        </p:spPr>
      </p:sp>
      <p:sp>
        <p:nvSpPr>
          <p:cNvPr id="10" name="Text 8"/>
          <p:cNvSpPr/>
          <p:nvPr/>
        </p:nvSpPr>
        <p:spPr>
          <a:xfrm>
            <a:off x="5665714" y="2241012"/>
            <a:ext cx="5373014"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11" name="Shape 9"/>
          <p:cNvSpPr/>
          <p:nvPr/>
        </p:nvSpPr>
        <p:spPr>
          <a:xfrm>
            <a:off x="5558180" y="4696358"/>
            <a:ext cx="5555894" cy="1344168"/>
          </a:xfrm>
          <a:prstGeom prst="roundRect">
            <a:avLst>
              <a:gd name="adj" fmla="val 8163"/>
            </a:avLst>
          </a:prstGeom>
          <a:solidFill>
            <a:srgbClr val="F4F7FB"/>
          </a:solidFill>
          <a:ln w="12700">
            <a:solidFill>
              <a:srgbClr val="DFE6F0"/>
            </a:solidFill>
            <a:prstDash val="solid"/>
          </a:ln>
        </p:spPr>
      </p:sp>
      <p:sp>
        <p:nvSpPr>
          <p:cNvPr id="12" name="Text 10"/>
          <p:cNvSpPr/>
          <p:nvPr/>
        </p:nvSpPr>
        <p:spPr>
          <a:xfrm>
            <a:off x="5665714" y="4750125"/>
            <a:ext cx="5373014"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13" name="Shape 11"/>
          <p:cNvSpPr/>
          <p:nvPr/>
        </p:nvSpPr>
        <p:spPr>
          <a:xfrm>
            <a:off x="2421788" y="4069080"/>
            <a:ext cx="537667" cy="0"/>
          </a:xfrm>
          <a:prstGeom prst="line">
            <a:avLst/>
          </a:prstGeom>
          <a:noFill/>
          <a:ln w="31750">
            <a:solidFill>
              <a:srgbClr val="2E6DB4"/>
            </a:solidFill>
            <a:prstDash val="solid"/>
            <a:tailEnd type="triangle"/>
          </a:ln>
        </p:spPr>
      </p:sp>
      <p:sp>
        <p:nvSpPr>
          <p:cNvPr id="14" name="Text 12"/>
          <p:cNvSpPr/>
          <p:nvPr/>
        </p:nvSpPr>
        <p:spPr>
          <a:xfrm>
            <a:off x="2494483" y="3832982"/>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clic</a:t>
            </a:r>
            <a:endParaRPr lang="en-US" sz="850" dirty="0"/>
          </a:p>
        </p:txBody>
      </p:sp>
      <p:sp>
        <p:nvSpPr>
          <p:cNvPr id="15" name="Text 13"/>
          <p:cNvSpPr/>
          <p:nvPr/>
        </p:nvSpPr>
        <p:spPr>
          <a:xfrm>
            <a:off x="2527127" y="395935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751680" y="3889858"/>
            <a:ext cx="1702613" cy="0"/>
          </a:xfrm>
          <a:prstGeom prst="line">
            <a:avLst/>
          </a:prstGeom>
          <a:noFill/>
          <a:ln w="31750">
            <a:solidFill>
              <a:srgbClr val="2E6DB4"/>
            </a:solidFill>
            <a:prstDash val="solid"/>
          </a:ln>
        </p:spPr>
      </p:sp>
      <p:sp>
        <p:nvSpPr>
          <p:cNvPr id="17" name="Shape 15"/>
          <p:cNvSpPr/>
          <p:nvPr/>
        </p:nvSpPr>
        <p:spPr>
          <a:xfrm flipV="1">
            <a:off x="6454292" y="3226735"/>
            <a:ext cx="0" cy="663123"/>
          </a:xfrm>
          <a:prstGeom prst="line">
            <a:avLst/>
          </a:prstGeom>
          <a:noFill/>
          <a:ln w="31750">
            <a:solidFill>
              <a:srgbClr val="2E6DB4"/>
            </a:solidFill>
            <a:prstDash val="solid"/>
            <a:tailEnd type="triangle"/>
          </a:ln>
        </p:spPr>
      </p:sp>
      <p:sp>
        <p:nvSpPr>
          <p:cNvPr id="18" name="Text 16"/>
          <p:cNvSpPr/>
          <p:nvPr/>
        </p:nvSpPr>
        <p:spPr>
          <a:xfrm>
            <a:off x="5010455" y="3653760"/>
            <a:ext cx="1185062"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/api/solicitudes</a:t>
            </a:r>
            <a:endParaRPr lang="en-US" sz="850" dirty="0"/>
          </a:p>
        </p:txBody>
      </p:sp>
      <p:sp>
        <p:nvSpPr>
          <p:cNvPr id="19" name="Text 17"/>
          <p:cNvSpPr/>
          <p:nvPr/>
        </p:nvSpPr>
        <p:spPr>
          <a:xfrm>
            <a:off x="4857018" y="378013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0" name="Shape 18"/>
          <p:cNvSpPr/>
          <p:nvPr/>
        </p:nvSpPr>
        <p:spPr>
          <a:xfrm>
            <a:off x="8067294" y="2886212"/>
            <a:ext cx="716890" cy="0"/>
          </a:xfrm>
          <a:prstGeom prst="line">
            <a:avLst/>
          </a:prstGeom>
          <a:noFill/>
          <a:ln w="31750">
            <a:solidFill>
              <a:srgbClr val="55627E"/>
            </a:solidFill>
            <a:prstDash val="sysDot"/>
            <a:tailEnd type="triangle"/>
          </a:ln>
        </p:spPr>
      </p:sp>
      <p:sp>
        <p:nvSpPr>
          <p:cNvPr id="21" name="Text 19"/>
          <p:cNvSpPr/>
          <p:nvPr/>
        </p:nvSpPr>
        <p:spPr>
          <a:xfrm>
            <a:off x="8262633" y="2650114"/>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2" name="Text 20"/>
          <p:cNvSpPr/>
          <p:nvPr/>
        </p:nvSpPr>
        <p:spPr>
          <a:xfrm>
            <a:off x="8172633" y="277648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Shape 21"/>
          <p:cNvSpPr/>
          <p:nvPr/>
        </p:nvSpPr>
        <p:spPr>
          <a:xfrm>
            <a:off x="7529627" y="3226735"/>
            <a:ext cx="0" cy="1828068"/>
          </a:xfrm>
          <a:prstGeom prst="line">
            <a:avLst/>
          </a:prstGeom>
          <a:noFill/>
          <a:ln w="25400">
            <a:solidFill>
              <a:srgbClr val="55627E"/>
            </a:solidFill>
            <a:prstDash val="dash"/>
            <a:tailEnd type="triangle"/>
          </a:ln>
        </p:spPr>
      </p:sp>
      <p:sp>
        <p:nvSpPr>
          <p:cNvPr id="24" name="Text 22"/>
          <p:cNvSpPr/>
          <p:nvPr/>
        </p:nvSpPr>
        <p:spPr>
          <a:xfrm>
            <a:off x="7619238" y="4021165"/>
            <a:ext cx="986866"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evento · HTTP</a:t>
            </a:r>
            <a:endParaRPr lang="en-US" sz="850" dirty="0"/>
          </a:p>
        </p:txBody>
      </p:sp>
      <p:sp>
        <p:nvSpPr>
          <p:cNvPr id="25" name="Text 23"/>
          <p:cNvSpPr/>
          <p:nvPr/>
        </p:nvSpPr>
        <p:spPr>
          <a:xfrm>
            <a:off x="7419899" y="333207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6" name="Shape 24"/>
          <p:cNvSpPr/>
          <p:nvPr/>
        </p:nvSpPr>
        <p:spPr>
          <a:xfrm>
            <a:off x="8067294" y="5395326"/>
            <a:ext cx="716890" cy="0"/>
          </a:xfrm>
          <a:prstGeom prst="line">
            <a:avLst/>
          </a:prstGeom>
          <a:noFill/>
          <a:ln w="31750">
            <a:solidFill>
              <a:srgbClr val="55627E"/>
            </a:solidFill>
            <a:prstDash val="sysDot"/>
            <a:tailEnd type="triangle"/>
          </a:ln>
        </p:spPr>
      </p:sp>
      <p:sp>
        <p:nvSpPr>
          <p:cNvPr id="27" name="Text 25"/>
          <p:cNvSpPr/>
          <p:nvPr/>
        </p:nvSpPr>
        <p:spPr>
          <a:xfrm>
            <a:off x="8262633" y="5159228"/>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JPA</a:t>
            </a:r>
            <a:endParaRPr lang="en-US" sz="850" dirty="0"/>
          </a:p>
        </p:txBody>
      </p:sp>
      <p:sp>
        <p:nvSpPr>
          <p:cNvPr id="28" name="Text 26"/>
          <p:cNvSpPr/>
          <p:nvPr/>
        </p:nvSpPr>
        <p:spPr>
          <a:xfrm>
            <a:off x="8172633" y="528559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4751680" y="4248302"/>
            <a:ext cx="1702613" cy="0"/>
          </a:xfrm>
          <a:prstGeom prst="line">
            <a:avLst/>
          </a:prstGeom>
          <a:noFill/>
          <a:ln w="31750">
            <a:solidFill>
              <a:srgbClr val="2E6DB4"/>
            </a:solidFill>
            <a:prstDash val="solid"/>
          </a:ln>
        </p:spPr>
      </p:sp>
      <p:sp>
        <p:nvSpPr>
          <p:cNvPr id="30" name="Shape 28"/>
          <p:cNvSpPr/>
          <p:nvPr/>
        </p:nvSpPr>
        <p:spPr>
          <a:xfrm>
            <a:off x="6454292" y="4248302"/>
            <a:ext cx="0" cy="806501"/>
          </a:xfrm>
          <a:prstGeom prst="line">
            <a:avLst/>
          </a:prstGeom>
          <a:noFill/>
          <a:ln w="31750">
            <a:solidFill>
              <a:srgbClr val="2E6DB4"/>
            </a:solidFill>
            <a:prstDash val="solid"/>
            <a:tailEnd type="triangle"/>
          </a:ln>
        </p:spPr>
      </p:sp>
      <p:sp>
        <p:nvSpPr>
          <p:cNvPr id="31" name="Text 29"/>
          <p:cNvSpPr/>
          <p:nvPr/>
        </p:nvSpPr>
        <p:spPr>
          <a:xfrm>
            <a:off x="4911357" y="4263116"/>
            <a:ext cx="138325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/api/notificaciones</a:t>
            </a:r>
            <a:endParaRPr lang="en-US" sz="850" dirty="0"/>
          </a:p>
        </p:txBody>
      </p:sp>
      <p:sp>
        <p:nvSpPr>
          <p:cNvPr id="32" name="Text 30"/>
          <p:cNvSpPr/>
          <p:nvPr/>
        </p:nvSpPr>
        <p:spPr>
          <a:xfrm>
            <a:off x="4857018" y="413857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3" name="Text 31"/>
          <p:cNvSpPr/>
          <p:nvPr/>
        </p:nvSpPr>
        <p:spPr>
          <a:xfrm>
            <a:off x="1077620" y="3728557"/>
            <a:ext cx="1344168" cy="68104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Persona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usa el navegador</a:t>
            </a:r>
            <a:endParaRPr lang="en-US" sz="1050" dirty="0"/>
          </a:p>
        </p:txBody>
      </p:sp>
      <p:sp>
        <p:nvSpPr>
          <p:cNvPr id="34" name="Text 32"/>
          <p:cNvSpPr/>
          <p:nvPr/>
        </p:nvSpPr>
        <p:spPr>
          <a:xfrm>
            <a:off x="2959456" y="3728557"/>
            <a:ext cx="1792224"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arka-lite-ui</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React + nginx · :8088</a:t>
            </a:r>
            <a:endParaRPr lang="en-US" sz="1050" dirty="0"/>
          </a:p>
        </p:txBody>
      </p:sp>
      <p:sp>
        <p:nvSpPr>
          <p:cNvPr id="35" name="Text 33"/>
          <p:cNvSpPr/>
          <p:nvPr/>
        </p:nvSpPr>
        <p:spPr>
          <a:xfrm>
            <a:off x="5916625" y="2545690"/>
            <a:ext cx="2150669"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Spring Boot · :8080</a:t>
            </a:r>
            <a:endParaRPr lang="en-US" sz="1050" dirty="0"/>
          </a:p>
        </p:txBody>
      </p:sp>
      <p:sp>
        <p:nvSpPr>
          <p:cNvPr id="36" name="Text 34"/>
          <p:cNvSpPr/>
          <p:nvPr/>
        </p:nvSpPr>
        <p:spPr>
          <a:xfrm>
            <a:off x="8784184" y="2545690"/>
            <a:ext cx="1971446" cy="681045"/>
          </a:xfrm>
          <a:prstGeom prst="roundRect">
            <a:avLst>
              <a:gd name="adj" fmla="val 1342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PostgreSQL 17</a:t>
            </a:r>
            <a:endParaRPr lang="en-US" sz="1050" dirty="0"/>
          </a:p>
        </p:txBody>
      </p:sp>
      <p:sp>
        <p:nvSpPr>
          <p:cNvPr id="37" name="Text 35"/>
          <p:cNvSpPr/>
          <p:nvPr/>
        </p:nvSpPr>
        <p:spPr>
          <a:xfrm>
            <a:off x="5916625" y="5054803"/>
            <a:ext cx="2150669" cy="681045"/>
          </a:xfrm>
          <a:prstGeom prst="roundRect">
            <a:avLst>
              <a:gd name="adj" fmla="val 1342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Spring Boot · :8081</a:t>
            </a:r>
            <a:endParaRPr lang="en-US" sz="1050" dirty="0"/>
          </a:p>
        </p:txBody>
      </p:sp>
      <p:sp>
        <p:nvSpPr>
          <p:cNvPr id="38" name="Text 36"/>
          <p:cNvSpPr/>
          <p:nvPr/>
        </p:nvSpPr>
        <p:spPr>
          <a:xfrm>
            <a:off x="8784184" y="5054803"/>
            <a:ext cx="1971446" cy="681045"/>
          </a:xfrm>
          <a:prstGeom prst="roundRect">
            <a:avLst>
              <a:gd name="adj" fmla="val 1342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PostgreSQL 17</a:t>
            </a:r>
            <a:endParaRPr lang="en-US" sz="105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E3F4FA"/>
          </a:solidFill>
          <a:ln w="12700">
            <a:solidFill>
              <a:srgbClr val="2BA6CB"/>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44450">
            <a:solidFill>
              <a:srgbClr val="2BA6CB"/>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44450">
            <a:solidFill>
              <a:srgbClr val="2BA6CB"/>
            </a:solidFill>
            <a:prstDash val="solid"/>
          </a:ln>
        </p:spPr>
      </p:sp>
      <p:sp>
        <p:nvSpPr>
          <p:cNvPr id="13" name="Shape 11"/>
          <p:cNvSpPr/>
          <p:nvPr/>
        </p:nvSpPr>
        <p:spPr>
          <a:xfrm flipV="1">
            <a:off x="6410401" y="2525207"/>
            <a:ext cx="0" cy="581924"/>
          </a:xfrm>
          <a:prstGeom prst="line">
            <a:avLst/>
          </a:prstGeom>
          <a:noFill/>
          <a:ln w="44450">
            <a:solidFill>
              <a:srgbClr val="2BA6CB"/>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C7D2E2"/>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C7D2E2"/>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C7D2E2"/>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7" name="Text 3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usa la UI en el navegador.</a:t>
            </a:r>
            <a:endParaRPr lang="en-US" sz="1300" dirty="0"/>
          </a:p>
        </p:txBody>
      </p:sp>
      <p:sp>
        <p:nvSpPr>
          <p:cNvPr id="38" name="Shape 3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9" name="Text 3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0" name="Text 3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por /api: crear, listar, enviar, aprobar o rechazar.</a:t>
            </a:r>
            <a:endParaRPr lang="en-US" sz="13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E3F4FA"/>
          </a:solidFill>
          <a:ln w="12700">
            <a:solidFill>
              <a:srgbClr val="2BA6CB"/>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44450">
            <a:solidFill>
              <a:srgbClr val="2BA6CB"/>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38100">
            <a:solidFill>
              <a:srgbClr val="2BA6CB"/>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31750">
            <a:solidFill>
              <a:srgbClr val="C7D2E2"/>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31750">
            <a:solidFill>
              <a:srgbClr val="C7D2E2"/>
            </a:solidFill>
            <a:prstDash val="solid"/>
          </a:ln>
        </p:spPr>
      </p:sp>
      <p:sp>
        <p:nvSpPr>
          <p:cNvPr id="26" name="Shape 24"/>
          <p:cNvSpPr/>
          <p:nvPr/>
        </p:nvSpPr>
        <p:spPr>
          <a:xfrm>
            <a:off x="6410401" y="3421685"/>
            <a:ext cx="0" cy="707746"/>
          </a:xfrm>
          <a:prstGeom prst="line">
            <a:avLst/>
          </a:prstGeom>
          <a:noFill/>
          <a:ln w="31750">
            <a:solidFill>
              <a:srgbClr val="C7D2E2"/>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7" name="Text 3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los datos en su propia base.</a:t>
            </a:r>
            <a:endParaRPr lang="en-US" sz="1300" dirty="0"/>
          </a:p>
        </p:txBody>
      </p:sp>
      <p:sp>
        <p:nvSpPr>
          <p:cNvPr id="38" name="Shape 3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9" name="Text 3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0" name="Text 3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avisa después a notificaciones con un evento por HTTP.</a:t>
            </a:r>
            <a:endParaRPr lang="en-US" sz="13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mapa de ARKA-Lite</a:t>
            </a:r>
            <a:endParaRPr lang="en-US" sz="2800" dirty="0"/>
          </a:p>
        </p:txBody>
      </p:sp>
      <p:sp>
        <p:nvSpPr>
          <p:cNvPr id="5" name="Shape 3"/>
          <p:cNvSpPr/>
          <p:nvPr/>
        </p:nvSpPr>
        <p:spPr>
          <a:xfrm>
            <a:off x="5624017" y="1613002"/>
            <a:ext cx="4875581" cy="1179576"/>
          </a:xfrm>
          <a:prstGeom prst="roundRect">
            <a:avLst>
              <a:gd name="adj" fmla="val 9302"/>
            </a:avLst>
          </a:prstGeom>
          <a:solidFill>
            <a:srgbClr val="F4F7FB"/>
          </a:solidFill>
          <a:ln w="12700">
            <a:solidFill>
              <a:srgbClr val="DFE6F0"/>
            </a:solidFill>
            <a:prstDash val="solid"/>
          </a:ln>
        </p:spPr>
      </p:sp>
      <p:sp>
        <p:nvSpPr>
          <p:cNvPr id="6" name="Text 4"/>
          <p:cNvSpPr/>
          <p:nvPr/>
        </p:nvSpPr>
        <p:spPr>
          <a:xfrm>
            <a:off x="5718383" y="1660185"/>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1 · SOLICITUDES</a:t>
            </a:r>
            <a:endParaRPr lang="en-US" sz="800" dirty="0"/>
          </a:p>
        </p:txBody>
      </p:sp>
      <p:sp>
        <p:nvSpPr>
          <p:cNvPr id="7" name="Shape 5"/>
          <p:cNvSpPr/>
          <p:nvPr/>
        </p:nvSpPr>
        <p:spPr>
          <a:xfrm>
            <a:off x="5624017" y="3814877"/>
            <a:ext cx="4875581" cy="1179576"/>
          </a:xfrm>
          <a:prstGeom prst="roundRect">
            <a:avLst>
              <a:gd name="adj" fmla="val 9302"/>
            </a:avLst>
          </a:prstGeom>
          <a:solidFill>
            <a:srgbClr val="F4F7FB"/>
          </a:solidFill>
          <a:ln w="12700">
            <a:solidFill>
              <a:srgbClr val="DFE6F0"/>
            </a:solidFill>
            <a:prstDash val="solid"/>
          </a:ln>
        </p:spPr>
      </p:sp>
      <p:sp>
        <p:nvSpPr>
          <p:cNvPr id="8" name="Text 6"/>
          <p:cNvSpPr/>
          <p:nvPr/>
        </p:nvSpPr>
        <p:spPr>
          <a:xfrm>
            <a:off x="5718383" y="3862060"/>
            <a:ext cx="46927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MICROSERVICIO 2 · NOTIFICACIONES</a:t>
            </a:r>
            <a:endParaRPr lang="en-US" sz="800" dirty="0"/>
          </a:p>
        </p:txBody>
      </p:sp>
      <p:sp>
        <p:nvSpPr>
          <p:cNvPr id="9" name="Shape 7"/>
          <p:cNvSpPr/>
          <p:nvPr/>
        </p:nvSpPr>
        <p:spPr>
          <a:xfrm>
            <a:off x="2871673" y="3264408"/>
            <a:ext cx="471830" cy="0"/>
          </a:xfrm>
          <a:prstGeom prst="line">
            <a:avLst/>
          </a:prstGeom>
          <a:noFill/>
          <a:ln w="31750">
            <a:solidFill>
              <a:srgbClr val="2E6DB4"/>
            </a:solidFill>
            <a:prstDash val="solid"/>
            <a:tailEnd type="triangle"/>
          </a:ln>
        </p:spPr>
      </p:sp>
      <p:sp>
        <p:nvSpPr>
          <p:cNvPr id="10" name="Text 8"/>
          <p:cNvSpPr/>
          <p:nvPr/>
        </p:nvSpPr>
        <p:spPr>
          <a:xfrm>
            <a:off x="2919222" y="3038185"/>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clic</a:t>
            </a:r>
            <a:endParaRPr lang="en-US" sz="800" dirty="0"/>
          </a:p>
        </p:txBody>
      </p:sp>
      <p:sp>
        <p:nvSpPr>
          <p:cNvPr id="11" name="Text 9"/>
          <p:cNvSpPr/>
          <p:nvPr/>
        </p:nvSpPr>
        <p:spPr>
          <a:xfrm>
            <a:off x="2950677" y="31546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916272" y="3107131"/>
            <a:ext cx="1494130" cy="0"/>
          </a:xfrm>
          <a:prstGeom prst="line">
            <a:avLst/>
          </a:prstGeom>
          <a:noFill/>
          <a:ln w="31750">
            <a:solidFill>
              <a:srgbClr val="2E6DB4"/>
            </a:solidFill>
            <a:prstDash val="solid"/>
          </a:ln>
        </p:spPr>
      </p:sp>
      <p:sp>
        <p:nvSpPr>
          <p:cNvPr id="13" name="Shape 11"/>
          <p:cNvSpPr/>
          <p:nvPr/>
        </p:nvSpPr>
        <p:spPr>
          <a:xfrm flipV="1">
            <a:off x="6410401" y="2525207"/>
            <a:ext cx="0" cy="581924"/>
          </a:xfrm>
          <a:prstGeom prst="line">
            <a:avLst/>
          </a:prstGeom>
          <a:noFill/>
          <a:ln w="31750">
            <a:solidFill>
              <a:srgbClr val="2E6DB4"/>
            </a:solidFill>
            <a:prstDash val="solid"/>
            <a:tailEnd type="triangle"/>
          </a:ln>
        </p:spPr>
      </p:sp>
      <p:sp>
        <p:nvSpPr>
          <p:cNvPr id="14" name="Text 12"/>
          <p:cNvSpPr/>
          <p:nvPr/>
        </p:nvSpPr>
        <p:spPr>
          <a:xfrm>
            <a:off x="5101895" y="2880909"/>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5" name="Text 13"/>
          <p:cNvSpPr/>
          <p:nvPr/>
        </p:nvSpPr>
        <p:spPr>
          <a:xfrm>
            <a:off x="4995276" y="299740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7825892" y="2226381"/>
            <a:ext cx="629107" cy="0"/>
          </a:xfrm>
          <a:prstGeom prst="line">
            <a:avLst/>
          </a:prstGeom>
          <a:noFill/>
          <a:ln w="31750">
            <a:solidFill>
              <a:srgbClr val="55627E"/>
            </a:solidFill>
            <a:prstDash val="sysDot"/>
            <a:tailEnd type="triangle"/>
          </a:ln>
        </p:spPr>
      </p:sp>
      <p:sp>
        <p:nvSpPr>
          <p:cNvPr id="17" name="Text 15"/>
          <p:cNvSpPr/>
          <p:nvPr/>
        </p:nvSpPr>
        <p:spPr>
          <a:xfrm>
            <a:off x="7983169" y="200015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8" name="Text 16"/>
          <p:cNvSpPr/>
          <p:nvPr/>
        </p:nvSpPr>
        <p:spPr>
          <a:xfrm>
            <a:off x="7904897" y="211665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354062" y="2525207"/>
            <a:ext cx="0" cy="1604223"/>
          </a:xfrm>
          <a:prstGeom prst="line">
            <a:avLst/>
          </a:prstGeom>
          <a:noFill/>
          <a:ln w="25400">
            <a:solidFill>
              <a:srgbClr val="55627E"/>
            </a:solidFill>
            <a:prstDash val="dash"/>
            <a:tailEnd type="triangle"/>
          </a:ln>
        </p:spPr>
      </p:sp>
      <p:sp>
        <p:nvSpPr>
          <p:cNvPr id="20" name="Text 18"/>
          <p:cNvSpPr/>
          <p:nvPr/>
        </p:nvSpPr>
        <p:spPr>
          <a:xfrm>
            <a:off x="7432700" y="3203326"/>
            <a:ext cx="936346"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 · HTTP</a:t>
            </a:r>
            <a:endParaRPr lang="en-US" sz="800" dirty="0"/>
          </a:p>
        </p:txBody>
      </p:sp>
      <p:sp>
        <p:nvSpPr>
          <p:cNvPr id="21" name="Text 19"/>
          <p:cNvSpPr/>
          <p:nvPr/>
        </p:nvSpPr>
        <p:spPr>
          <a:xfrm>
            <a:off x="7244334" y="260421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7825892" y="4428256"/>
            <a:ext cx="629107" cy="0"/>
          </a:xfrm>
          <a:prstGeom prst="line">
            <a:avLst/>
          </a:prstGeom>
          <a:noFill/>
          <a:ln w="44450">
            <a:solidFill>
              <a:srgbClr val="2BA6CB"/>
            </a:solidFill>
            <a:prstDash val="sysDot"/>
            <a:tailEnd type="triangle"/>
          </a:ln>
        </p:spPr>
      </p:sp>
      <p:sp>
        <p:nvSpPr>
          <p:cNvPr id="23" name="Text 21"/>
          <p:cNvSpPr/>
          <p:nvPr/>
        </p:nvSpPr>
        <p:spPr>
          <a:xfrm>
            <a:off x="7983169" y="4202034"/>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24" name="Text 22"/>
          <p:cNvSpPr/>
          <p:nvPr/>
        </p:nvSpPr>
        <p:spPr>
          <a:xfrm>
            <a:off x="7904897" y="431852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4916272" y="3421685"/>
            <a:ext cx="1494130" cy="0"/>
          </a:xfrm>
          <a:prstGeom prst="line">
            <a:avLst/>
          </a:prstGeom>
          <a:noFill/>
          <a:ln w="44450">
            <a:solidFill>
              <a:srgbClr val="2BA6CB"/>
            </a:solidFill>
            <a:prstDash val="solid"/>
          </a:ln>
        </p:spPr>
      </p:sp>
      <p:sp>
        <p:nvSpPr>
          <p:cNvPr id="26" name="Shape 24"/>
          <p:cNvSpPr/>
          <p:nvPr/>
        </p:nvSpPr>
        <p:spPr>
          <a:xfrm>
            <a:off x="6410401" y="3421685"/>
            <a:ext cx="0" cy="707746"/>
          </a:xfrm>
          <a:prstGeom prst="line">
            <a:avLst/>
          </a:prstGeom>
          <a:noFill/>
          <a:ln w="44450">
            <a:solidFill>
              <a:srgbClr val="2BA6CB"/>
            </a:solidFill>
            <a:prstDash val="solid"/>
            <a:tailEnd type="triangle"/>
          </a:ln>
        </p:spPr>
      </p:sp>
      <p:sp>
        <p:nvSpPr>
          <p:cNvPr id="27" name="Text 25"/>
          <p:cNvSpPr/>
          <p:nvPr/>
        </p:nvSpPr>
        <p:spPr>
          <a:xfrm>
            <a:off x="5008626" y="3415650"/>
            <a:ext cx="130942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/api/notificaciones</a:t>
            </a:r>
            <a:endParaRPr lang="en-US" sz="800" dirty="0"/>
          </a:p>
        </p:txBody>
      </p:sp>
      <p:sp>
        <p:nvSpPr>
          <p:cNvPr id="28" name="Text 26"/>
          <p:cNvSpPr/>
          <p:nvPr/>
        </p:nvSpPr>
        <p:spPr>
          <a:xfrm>
            <a:off x="4995276" y="331195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692097" y="2965582"/>
            <a:ext cx="1179576" cy="59765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usa el navegador</a:t>
            </a:r>
            <a:endParaRPr lang="en-US" sz="950" dirty="0"/>
          </a:p>
        </p:txBody>
      </p:sp>
      <p:sp>
        <p:nvSpPr>
          <p:cNvPr id="30" name="Text 28"/>
          <p:cNvSpPr/>
          <p:nvPr/>
        </p:nvSpPr>
        <p:spPr>
          <a:xfrm>
            <a:off x="3343504" y="2965582"/>
            <a:ext cx="1572768"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31" name="Text 29"/>
          <p:cNvSpPr/>
          <p:nvPr/>
        </p:nvSpPr>
        <p:spPr>
          <a:xfrm>
            <a:off x="5938571" y="1927555"/>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32" name="Text 30"/>
          <p:cNvSpPr/>
          <p:nvPr/>
        </p:nvSpPr>
        <p:spPr>
          <a:xfrm>
            <a:off x="8455000" y="1927555"/>
            <a:ext cx="1730045" cy="597652"/>
          </a:xfrm>
          <a:prstGeom prst="roundRect">
            <a:avLst>
              <a:gd name="adj" fmla="val 15300"/>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3" name="Text 31"/>
          <p:cNvSpPr/>
          <p:nvPr/>
        </p:nvSpPr>
        <p:spPr>
          <a:xfrm>
            <a:off x="5938571" y="4129430"/>
            <a:ext cx="1887322" cy="597652"/>
          </a:xfrm>
          <a:prstGeom prst="roundRect">
            <a:avLst>
              <a:gd name="adj" fmla="val 153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34" name="Text 32"/>
          <p:cNvSpPr/>
          <p:nvPr/>
        </p:nvSpPr>
        <p:spPr>
          <a:xfrm>
            <a:off x="8455000" y="4129430"/>
            <a:ext cx="1730045" cy="597652"/>
          </a:xfrm>
          <a:prstGeom prst="roundRect">
            <a:avLst>
              <a:gd name="adj" fmla="val 153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35" name="Shape 33"/>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7" name="Text 3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consumió.</a:t>
            </a:r>
            <a:endParaRPr lang="en-US" sz="1300" dirty="0"/>
          </a:p>
        </p:txBody>
      </p:sp>
      <p:sp>
        <p:nvSpPr>
          <p:cNvPr id="38" name="Shape 3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9" name="Text 3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0" name="Text 3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avisos y eventos consumidos.</a:t>
            </a:r>
            <a:endParaRPr lang="en-US" sz="1300" dirty="0"/>
          </a:p>
        </p:txBody>
      </p:sp>
      <p:sp>
        <p:nvSpPr>
          <p:cNvPr id="41" name="Text 3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vida de una solicitud</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Nace en BORRADOR</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Al enviarla pasa a ENVIADA y se genera un aviso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Desde ENVIADA se aprueba o se rechaza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Un cambio no permitido responde 409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1512607"/>
                <a:gridCol w="1512607"/>
                <a:gridCol w="1701683"/>
                <a:gridCol w="6239503"/>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Acción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Desde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Hacia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¿Genera aviso?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Crear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BORRADOR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Enviar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BORRADOR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Sí, un evento para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Aprobar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APROBADA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Rechazar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ENVIADA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RECHAZADA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piezas corren en Docker Compose o en Kubernetes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GitHub Actions prueba cada cambio y publica las imágenes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logs de todos llegan a Grafana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pieza tiene una sola responsabilidad</a:t>
            </a:r>
            <a:endParaRPr lang="en-US" sz="1100" dirty="0"/>
          </a:p>
        </p:txBody>
      </p:sp>
      <p:sp>
        <p:nvSpPr>
          <p:cNvPr id="9" name="Shape 7"/>
          <p:cNvSpPr/>
          <p:nvPr/>
        </p:nvSpPr>
        <p:spPr>
          <a:xfrm>
            <a:off x="3375508" y="1988820"/>
            <a:ext cx="7328916" cy="2816352"/>
          </a:xfrm>
          <a:prstGeom prst="roundRect">
            <a:avLst>
              <a:gd name="adj" fmla="val 3896"/>
            </a:avLst>
          </a:prstGeom>
          <a:solidFill>
            <a:srgbClr val="F4F7FB"/>
          </a:solidFill>
          <a:ln w="12700">
            <a:solidFill>
              <a:srgbClr val="DFE6F0"/>
            </a:solidFill>
            <a:prstDash val="dash"/>
          </a:ln>
        </p:spPr>
      </p:sp>
      <p:sp>
        <p:nvSpPr>
          <p:cNvPr id="10" name="Text 8"/>
          <p:cNvSpPr/>
          <p:nvPr/>
        </p:nvSpPr>
        <p:spPr>
          <a:xfrm>
            <a:off x="3471520" y="203682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11" name="Shape 9"/>
          <p:cNvSpPr/>
          <p:nvPr/>
        </p:nvSpPr>
        <p:spPr>
          <a:xfrm>
            <a:off x="3375508" y="5125212"/>
            <a:ext cx="3584448" cy="1024128"/>
          </a:xfrm>
          <a:prstGeom prst="roundRect">
            <a:avLst>
              <a:gd name="adj" fmla="val 10714"/>
            </a:avLst>
          </a:prstGeom>
          <a:solidFill>
            <a:srgbClr val="F4F7FB"/>
          </a:solidFill>
          <a:ln w="12700">
            <a:solidFill>
              <a:srgbClr val="DFE6F0"/>
            </a:solidFill>
            <a:prstDash val="solid"/>
          </a:ln>
        </p:spPr>
      </p:sp>
      <p:sp>
        <p:nvSpPr>
          <p:cNvPr id="12" name="Text 10"/>
          <p:cNvSpPr/>
          <p:nvPr/>
        </p:nvSpPr>
        <p:spPr>
          <a:xfrm>
            <a:off x="3471520" y="5173218"/>
            <a:ext cx="340156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13" name="Shape 11"/>
          <p:cNvSpPr/>
          <p:nvPr/>
        </p:nvSpPr>
        <p:spPr>
          <a:xfrm>
            <a:off x="7215988" y="5125212"/>
            <a:ext cx="3488436" cy="1024128"/>
          </a:xfrm>
          <a:prstGeom prst="roundRect">
            <a:avLst>
              <a:gd name="adj" fmla="val 10714"/>
            </a:avLst>
          </a:prstGeom>
          <a:solidFill>
            <a:srgbClr val="F4F7FB"/>
          </a:solidFill>
          <a:ln w="12700">
            <a:solidFill>
              <a:srgbClr val="DFE6F0"/>
            </a:solidFill>
            <a:prstDash val="solid"/>
          </a:ln>
        </p:spPr>
      </p:sp>
      <p:sp>
        <p:nvSpPr>
          <p:cNvPr id="14" name="Text 12"/>
          <p:cNvSpPr/>
          <p:nvPr/>
        </p:nvSpPr>
        <p:spPr>
          <a:xfrm>
            <a:off x="7312000" y="5173218"/>
            <a:ext cx="33055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5" name="Shape 13"/>
          <p:cNvSpPr/>
          <p:nvPr/>
        </p:nvSpPr>
        <p:spPr>
          <a:xfrm>
            <a:off x="2895448" y="3493008"/>
            <a:ext cx="800100" cy="0"/>
          </a:xfrm>
          <a:prstGeom prst="line">
            <a:avLst/>
          </a:prstGeom>
          <a:noFill/>
          <a:ln w="31750">
            <a:solidFill>
              <a:srgbClr val="2E6DB4"/>
            </a:solidFill>
            <a:prstDash val="solid"/>
            <a:tailEnd type="triangle"/>
          </a:ln>
        </p:spPr>
      </p:sp>
      <p:sp>
        <p:nvSpPr>
          <p:cNvPr id="16" name="Text 14"/>
          <p:cNvSpPr/>
          <p:nvPr/>
        </p:nvSpPr>
        <p:spPr>
          <a:xfrm>
            <a:off x="2977744" y="338328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7" name="Shape 15"/>
          <p:cNvSpPr/>
          <p:nvPr/>
        </p:nvSpPr>
        <p:spPr>
          <a:xfrm flipV="1">
            <a:off x="4495648" y="2532888"/>
            <a:ext cx="0" cy="672084"/>
          </a:xfrm>
          <a:prstGeom prst="line">
            <a:avLst/>
          </a:prstGeom>
          <a:noFill/>
          <a:ln w="31750">
            <a:solidFill>
              <a:srgbClr val="2E6DB4"/>
            </a:solidFill>
            <a:prstDash val="solid"/>
          </a:ln>
        </p:spPr>
      </p:sp>
      <p:sp>
        <p:nvSpPr>
          <p:cNvPr id="18" name="Shape 16"/>
          <p:cNvSpPr/>
          <p:nvPr/>
        </p:nvSpPr>
        <p:spPr>
          <a:xfrm>
            <a:off x="4495648" y="2532888"/>
            <a:ext cx="1440180" cy="0"/>
          </a:xfrm>
          <a:prstGeom prst="line">
            <a:avLst/>
          </a:prstGeom>
          <a:noFill/>
          <a:ln w="31750">
            <a:solidFill>
              <a:srgbClr val="2E6DB4"/>
            </a:solidFill>
            <a:prstDash val="solid"/>
            <a:tailEnd type="triangle"/>
          </a:ln>
        </p:spPr>
      </p:sp>
      <p:sp>
        <p:nvSpPr>
          <p:cNvPr id="19" name="Text 17"/>
          <p:cNvSpPr/>
          <p:nvPr/>
        </p:nvSpPr>
        <p:spPr>
          <a:xfrm>
            <a:off x="4654296" y="2305431"/>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20" name="Text 18"/>
          <p:cNvSpPr/>
          <p:nvPr/>
        </p:nvSpPr>
        <p:spPr>
          <a:xfrm>
            <a:off x="4385920" y="290322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21" name="Shape 19"/>
          <p:cNvSpPr/>
          <p:nvPr/>
        </p:nvSpPr>
        <p:spPr>
          <a:xfrm>
            <a:off x="7696048" y="2532888"/>
            <a:ext cx="640080" cy="0"/>
          </a:xfrm>
          <a:prstGeom prst="line">
            <a:avLst/>
          </a:prstGeom>
          <a:noFill/>
          <a:ln w="31750">
            <a:solidFill>
              <a:srgbClr val="55627E"/>
            </a:solidFill>
            <a:prstDash val="sysDot"/>
            <a:tailEnd type="triangle"/>
          </a:ln>
        </p:spPr>
      </p:sp>
      <p:sp>
        <p:nvSpPr>
          <p:cNvPr id="22" name="Text 20"/>
          <p:cNvSpPr/>
          <p:nvPr/>
        </p:nvSpPr>
        <p:spPr>
          <a:xfrm>
            <a:off x="7858811" y="230543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3" name="Text 21"/>
          <p:cNvSpPr/>
          <p:nvPr/>
        </p:nvSpPr>
        <p:spPr>
          <a:xfrm>
            <a:off x="7778344" y="24231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4" name="Shape 22"/>
          <p:cNvSpPr/>
          <p:nvPr/>
        </p:nvSpPr>
        <p:spPr>
          <a:xfrm>
            <a:off x="6815938" y="2820924"/>
            <a:ext cx="0" cy="1152144"/>
          </a:xfrm>
          <a:prstGeom prst="line">
            <a:avLst/>
          </a:prstGeom>
          <a:noFill/>
          <a:ln w="25400">
            <a:solidFill>
              <a:srgbClr val="55627E"/>
            </a:solidFill>
            <a:prstDash val="dash"/>
            <a:tailEnd type="triangle"/>
          </a:ln>
        </p:spPr>
      </p:sp>
      <p:sp>
        <p:nvSpPr>
          <p:cNvPr id="25" name="Text 23"/>
          <p:cNvSpPr/>
          <p:nvPr/>
        </p:nvSpPr>
        <p:spPr>
          <a:xfrm>
            <a:off x="6895948" y="3273552"/>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6" name="Text 24"/>
          <p:cNvSpPr/>
          <p:nvPr/>
        </p:nvSpPr>
        <p:spPr>
          <a:xfrm>
            <a:off x="6706210" y="290322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7" name="Shape 25"/>
          <p:cNvSpPr/>
          <p:nvPr/>
        </p:nvSpPr>
        <p:spPr>
          <a:xfrm>
            <a:off x="7696048" y="4261104"/>
            <a:ext cx="640080" cy="0"/>
          </a:xfrm>
          <a:prstGeom prst="line">
            <a:avLst/>
          </a:prstGeom>
          <a:noFill/>
          <a:ln w="31750">
            <a:solidFill>
              <a:srgbClr val="55627E"/>
            </a:solidFill>
            <a:prstDash val="sysDot"/>
            <a:tailEnd type="triangle"/>
          </a:ln>
        </p:spPr>
      </p:sp>
      <p:sp>
        <p:nvSpPr>
          <p:cNvPr id="28" name="Text 26"/>
          <p:cNvSpPr/>
          <p:nvPr/>
        </p:nvSpPr>
        <p:spPr>
          <a:xfrm>
            <a:off x="7858811" y="4033647"/>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9" name="Text 27"/>
          <p:cNvSpPr/>
          <p:nvPr/>
        </p:nvSpPr>
        <p:spPr>
          <a:xfrm>
            <a:off x="7778344" y="415137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30" name="Shape 28"/>
          <p:cNvSpPr/>
          <p:nvPr/>
        </p:nvSpPr>
        <p:spPr>
          <a:xfrm>
            <a:off x="4495648" y="3781044"/>
            <a:ext cx="0" cy="480060"/>
          </a:xfrm>
          <a:prstGeom prst="line">
            <a:avLst/>
          </a:prstGeom>
          <a:noFill/>
          <a:ln w="31750">
            <a:solidFill>
              <a:srgbClr val="2E6DB4"/>
            </a:solidFill>
            <a:prstDash val="solid"/>
          </a:ln>
        </p:spPr>
      </p:sp>
      <p:sp>
        <p:nvSpPr>
          <p:cNvPr id="31" name="Shape 29"/>
          <p:cNvSpPr/>
          <p:nvPr/>
        </p:nvSpPr>
        <p:spPr>
          <a:xfrm>
            <a:off x="4495648" y="4261104"/>
            <a:ext cx="1440180" cy="0"/>
          </a:xfrm>
          <a:prstGeom prst="line">
            <a:avLst/>
          </a:prstGeom>
          <a:noFill/>
          <a:ln w="31750">
            <a:solidFill>
              <a:srgbClr val="2E6DB4"/>
            </a:solidFill>
            <a:prstDash val="solid"/>
            <a:tailEnd type="triangle"/>
          </a:ln>
        </p:spPr>
      </p:sp>
      <p:sp>
        <p:nvSpPr>
          <p:cNvPr id="32" name="Text 30"/>
          <p:cNvSpPr/>
          <p:nvPr/>
        </p:nvSpPr>
        <p:spPr>
          <a:xfrm>
            <a:off x="4561027" y="4257675"/>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33" name="Text 31"/>
          <p:cNvSpPr/>
          <p:nvPr/>
        </p:nvSpPr>
        <p:spPr>
          <a:xfrm>
            <a:off x="4385920" y="386334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4" name="Shape 32"/>
          <p:cNvSpPr/>
          <p:nvPr/>
        </p:nvSpPr>
        <p:spPr>
          <a:xfrm>
            <a:off x="4975708" y="5733288"/>
            <a:ext cx="384048" cy="0"/>
          </a:xfrm>
          <a:prstGeom prst="line">
            <a:avLst/>
          </a:prstGeom>
          <a:noFill/>
          <a:ln w="31750">
            <a:solidFill>
              <a:srgbClr val="55627E"/>
            </a:solidFill>
            <a:prstDash val="sysDot"/>
            <a:tailEnd type="triangle"/>
          </a:ln>
        </p:spPr>
      </p:sp>
      <p:sp>
        <p:nvSpPr>
          <p:cNvPr id="35" name="Text 33"/>
          <p:cNvSpPr/>
          <p:nvPr/>
        </p:nvSpPr>
        <p:spPr>
          <a:xfrm>
            <a:off x="5058004"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6" name="Shape 34"/>
          <p:cNvSpPr/>
          <p:nvPr/>
        </p:nvSpPr>
        <p:spPr>
          <a:xfrm flipV="1">
            <a:off x="6063844" y="4813173"/>
            <a:ext cx="0" cy="696087"/>
          </a:xfrm>
          <a:prstGeom prst="line">
            <a:avLst/>
          </a:prstGeom>
          <a:noFill/>
          <a:ln w="22860">
            <a:solidFill>
              <a:srgbClr val="1F4E8C"/>
            </a:solidFill>
            <a:prstDash val="lgDash"/>
            <a:tailEnd type="arrow"/>
          </a:ln>
        </p:spPr>
      </p:sp>
      <p:sp>
        <p:nvSpPr>
          <p:cNvPr id="37" name="Text 35"/>
          <p:cNvSpPr/>
          <p:nvPr/>
        </p:nvSpPr>
        <p:spPr>
          <a:xfrm>
            <a:off x="6143854" y="5037773"/>
            <a:ext cx="625450"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imágenes</a:t>
            </a:r>
            <a:endParaRPr lang="en-US" sz="800" dirty="0"/>
          </a:p>
        </p:txBody>
      </p:sp>
      <p:sp>
        <p:nvSpPr>
          <p:cNvPr id="38" name="Text 36"/>
          <p:cNvSpPr/>
          <p:nvPr/>
        </p:nvSpPr>
        <p:spPr>
          <a:xfrm>
            <a:off x="5954116" y="520750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9" name="Shape 37"/>
          <p:cNvSpPr/>
          <p:nvPr/>
        </p:nvSpPr>
        <p:spPr>
          <a:xfrm>
            <a:off x="7792060" y="4805172"/>
            <a:ext cx="0" cy="704088"/>
          </a:xfrm>
          <a:prstGeom prst="line">
            <a:avLst/>
          </a:prstGeom>
          <a:noFill/>
          <a:ln w="25400">
            <a:solidFill>
              <a:srgbClr val="55627E"/>
            </a:solidFill>
            <a:prstDash val="dash"/>
            <a:tailEnd type="triangle"/>
          </a:ln>
        </p:spPr>
      </p:sp>
      <p:sp>
        <p:nvSpPr>
          <p:cNvPr id="40" name="Text 38"/>
          <p:cNvSpPr/>
          <p:nvPr/>
        </p:nvSpPr>
        <p:spPr>
          <a:xfrm>
            <a:off x="7872070" y="5033772"/>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41" name="Text 39"/>
          <p:cNvSpPr/>
          <p:nvPr/>
        </p:nvSpPr>
        <p:spPr>
          <a:xfrm>
            <a:off x="7682332" y="48874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2" name="Shape 40"/>
          <p:cNvSpPr/>
          <p:nvPr/>
        </p:nvSpPr>
        <p:spPr>
          <a:xfrm>
            <a:off x="8240116" y="5733288"/>
            <a:ext cx="384048" cy="0"/>
          </a:xfrm>
          <a:prstGeom prst="line">
            <a:avLst/>
          </a:prstGeom>
          <a:noFill/>
          <a:ln w="31750">
            <a:solidFill>
              <a:srgbClr val="55627E"/>
            </a:solidFill>
            <a:prstDash val="sysDot"/>
            <a:tailEnd type="triangle"/>
          </a:ln>
        </p:spPr>
      </p:sp>
      <p:sp>
        <p:nvSpPr>
          <p:cNvPr id="43" name="Text 41"/>
          <p:cNvSpPr/>
          <p:nvPr/>
        </p:nvSpPr>
        <p:spPr>
          <a:xfrm>
            <a:off x="8322412"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4" name="Shape 42"/>
          <p:cNvSpPr/>
          <p:nvPr/>
        </p:nvSpPr>
        <p:spPr>
          <a:xfrm>
            <a:off x="9424264" y="5733288"/>
            <a:ext cx="384048" cy="0"/>
          </a:xfrm>
          <a:prstGeom prst="line">
            <a:avLst/>
          </a:prstGeom>
          <a:noFill/>
          <a:ln w="31750">
            <a:solidFill>
              <a:srgbClr val="55627E"/>
            </a:solidFill>
            <a:prstDash val="sysDot"/>
            <a:tailEnd type="triangle"/>
          </a:ln>
        </p:spPr>
      </p:sp>
      <p:sp>
        <p:nvSpPr>
          <p:cNvPr id="45" name="Text 43"/>
          <p:cNvSpPr/>
          <p:nvPr/>
        </p:nvSpPr>
        <p:spPr>
          <a:xfrm>
            <a:off x="9506560" y="562356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6" name="Text 44"/>
          <p:cNvSpPr/>
          <p:nvPr/>
        </p:nvSpPr>
        <p:spPr>
          <a:xfrm>
            <a:off x="1487272" y="3204972"/>
            <a:ext cx="1408176" cy="576072"/>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Persona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950" dirty="0"/>
          </a:p>
        </p:txBody>
      </p:sp>
      <p:sp>
        <p:nvSpPr>
          <p:cNvPr id="47" name="Text 45"/>
          <p:cNvSpPr/>
          <p:nvPr/>
        </p:nvSpPr>
        <p:spPr>
          <a:xfrm>
            <a:off x="3695548" y="3204972"/>
            <a:ext cx="160020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arka-lite-ui</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950" dirty="0"/>
          </a:p>
        </p:txBody>
      </p:sp>
      <p:sp>
        <p:nvSpPr>
          <p:cNvPr id="48" name="Text 46"/>
          <p:cNvSpPr/>
          <p:nvPr/>
        </p:nvSpPr>
        <p:spPr>
          <a:xfrm>
            <a:off x="5935828" y="2244852"/>
            <a:ext cx="176022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950" dirty="0"/>
          </a:p>
        </p:txBody>
      </p:sp>
      <p:sp>
        <p:nvSpPr>
          <p:cNvPr id="49" name="Text 47"/>
          <p:cNvSpPr/>
          <p:nvPr/>
        </p:nvSpPr>
        <p:spPr>
          <a:xfrm>
            <a:off x="5935828" y="3973068"/>
            <a:ext cx="1760220" cy="576072"/>
          </a:xfrm>
          <a:prstGeom prst="roundRect">
            <a:avLst>
              <a:gd name="adj" fmla="val 1587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950" dirty="0"/>
          </a:p>
        </p:txBody>
      </p:sp>
      <p:sp>
        <p:nvSpPr>
          <p:cNvPr id="50" name="Text 48"/>
          <p:cNvSpPr/>
          <p:nvPr/>
        </p:nvSpPr>
        <p:spPr>
          <a:xfrm>
            <a:off x="8336128" y="2244852"/>
            <a:ext cx="1600200" cy="576072"/>
          </a:xfrm>
          <a:prstGeom prst="roundRect">
            <a:avLst>
              <a:gd name="adj" fmla="val 1587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51" name="Text 49"/>
          <p:cNvSpPr/>
          <p:nvPr/>
        </p:nvSpPr>
        <p:spPr>
          <a:xfrm>
            <a:off x="8336128" y="3973068"/>
            <a:ext cx="1600200" cy="576072"/>
          </a:xfrm>
          <a:prstGeom prst="roundRect">
            <a:avLst>
              <a:gd name="adj" fmla="val 1587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db-notificaciones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950" dirty="0"/>
          </a:p>
        </p:txBody>
      </p:sp>
      <p:sp>
        <p:nvSpPr>
          <p:cNvPr id="52" name="Text 50"/>
          <p:cNvSpPr/>
          <p:nvPr/>
        </p:nvSpPr>
        <p:spPr>
          <a:xfrm>
            <a:off x="3567532" y="5509260"/>
            <a:ext cx="1408176"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GitHub Actions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950" dirty="0"/>
          </a:p>
        </p:txBody>
      </p:sp>
      <p:sp>
        <p:nvSpPr>
          <p:cNvPr id="53" name="Text 51"/>
          <p:cNvSpPr/>
          <p:nvPr/>
        </p:nvSpPr>
        <p:spPr>
          <a:xfrm>
            <a:off x="5359756" y="5509260"/>
            <a:ext cx="1408176"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GHCR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950" dirty="0"/>
          </a:p>
        </p:txBody>
      </p:sp>
      <p:sp>
        <p:nvSpPr>
          <p:cNvPr id="54" name="Text 52"/>
          <p:cNvSpPr/>
          <p:nvPr/>
        </p:nvSpPr>
        <p:spPr>
          <a:xfrm>
            <a:off x="7344004" y="5509260"/>
            <a:ext cx="896112"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Promtail</a:t>
            </a:r>
            <a:endParaRPr lang="en-US" sz="950" dirty="0"/>
          </a:p>
        </p:txBody>
      </p:sp>
      <p:sp>
        <p:nvSpPr>
          <p:cNvPr id="55" name="Text 53"/>
          <p:cNvSpPr/>
          <p:nvPr/>
        </p:nvSpPr>
        <p:spPr>
          <a:xfrm>
            <a:off x="8624164" y="5509260"/>
            <a:ext cx="800100"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Loki</a:t>
            </a:r>
            <a:endParaRPr lang="en-US" sz="950" dirty="0"/>
          </a:p>
        </p:txBody>
      </p:sp>
      <p:sp>
        <p:nvSpPr>
          <p:cNvPr id="56" name="Text 54"/>
          <p:cNvSpPr/>
          <p:nvPr/>
        </p:nvSpPr>
        <p:spPr>
          <a:xfrm>
            <a:off x="9808312" y="5509260"/>
            <a:ext cx="832104" cy="448056"/>
          </a:xfrm>
          <a:prstGeom prst="roundRect">
            <a:avLst>
              <a:gd name="adj" fmla="val 2040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Grafana</a:t>
            </a:r>
            <a:endParaRPr lang="en-US" sz="950" dirty="0"/>
          </a:p>
        </p:txBody>
      </p:sp>
      <p:sp>
        <p:nvSpPr>
          <p:cNvPr id="57" name="Text 5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E3F4FA"/>
          </a:solidFill>
          <a:ln w="12700">
            <a:solidFill>
              <a:srgbClr val="2BA6CB"/>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44450">
            <a:solidFill>
              <a:srgbClr val="2BA6CB"/>
            </a:solidFill>
            <a:prstDash val="solid"/>
            <a:tailEnd type="triangle"/>
          </a:ln>
        </p:spPr>
      </p:sp>
      <p:sp>
        <p:nvSpPr>
          <p:cNvPr id="12" name="Text 10"/>
          <p:cNvSpPr/>
          <p:nvPr/>
        </p:nvSpPr>
        <p:spPr>
          <a:xfrm>
            <a:off x="3346116" y="26491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44450">
            <a:solidFill>
              <a:srgbClr val="2BA6CB"/>
            </a:solidFill>
            <a:prstDash val="solid"/>
          </a:ln>
        </p:spPr>
      </p:sp>
      <p:sp>
        <p:nvSpPr>
          <p:cNvPr id="14" name="Shape 12"/>
          <p:cNvSpPr/>
          <p:nvPr/>
        </p:nvSpPr>
        <p:spPr>
          <a:xfrm>
            <a:off x="4691590" y="1916321"/>
            <a:ext cx="1263831" cy="0"/>
          </a:xfrm>
          <a:prstGeom prst="line">
            <a:avLst/>
          </a:prstGeom>
          <a:noFill/>
          <a:ln w="44450">
            <a:solidFill>
              <a:srgbClr val="2BA6CB"/>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44450">
            <a:solidFill>
              <a:srgbClr val="2BA6CB"/>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C7D2E2"/>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C7D2E2"/>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C7D2E2"/>
            </a:solidFill>
            <a:prstDash val="solid"/>
          </a:ln>
        </p:spPr>
      </p:sp>
      <p:sp>
        <p:nvSpPr>
          <p:cNvPr id="27" name="Shape 25"/>
          <p:cNvSpPr/>
          <p:nvPr/>
        </p:nvSpPr>
        <p:spPr>
          <a:xfrm>
            <a:off x="4691590" y="3432919"/>
            <a:ext cx="1263831" cy="0"/>
          </a:xfrm>
          <a:prstGeom prst="line">
            <a:avLst/>
          </a:prstGeom>
          <a:noFill/>
          <a:ln w="31750">
            <a:solidFill>
              <a:srgbClr val="C7D2E2"/>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C7D2E2"/>
            </a:solidFill>
            <a:prstDash val="sysDot"/>
            <a:tailEnd type="triangle"/>
          </a:ln>
        </p:spPr>
      </p:sp>
      <p:sp>
        <p:nvSpPr>
          <p:cNvPr id="31" name="Text 29"/>
          <p:cNvSpPr/>
          <p:nvPr/>
        </p:nvSpPr>
        <p:spPr>
          <a:xfrm>
            <a:off x="5171650"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C7D2E2"/>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55" name="Text 53"/>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Todo empieza en el navegador: la persona usa la UI.</a:t>
            </a:r>
            <a:endParaRPr lang="en-US" sz="1300" dirty="0"/>
          </a:p>
        </p:txBody>
      </p:sp>
      <p:sp>
        <p:nvSpPr>
          <p:cNvPr id="56" name="Shape 54"/>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58" name="Text 56"/>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llama a solicitudes para crear, enviar y decidir.</a:t>
            </a:r>
            <a:endParaRPr lang="en-US" sz="1300" dirty="0"/>
          </a:p>
        </p:txBody>
      </p:sp>
      <p:sp>
        <p:nvSpPr>
          <p:cNvPr id="59" name="Shape 57"/>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60" name="Text 58"/>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61" name="Text 59"/>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en su propia base PostgreSQL.</a:t>
            </a:r>
            <a:endParaRPr lang="en-US" sz="1300" dirty="0"/>
          </a:p>
        </p:txBody>
      </p:sp>
      <p:sp>
        <p:nvSpPr>
          <p:cNvPr id="62" name="Text 6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F4F7FB"/>
          </a:solidFill>
          <a:ln w="12700">
            <a:solidFill>
              <a:srgbClr val="DFE6F0"/>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F4F7FB"/>
          </a:solidFill>
          <a:ln w="12700">
            <a:solidFill>
              <a:srgbClr val="DFE6F0"/>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55627E"/>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38100">
            <a:solidFill>
              <a:srgbClr val="2BA6CB"/>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44450">
            <a:solidFill>
              <a:srgbClr val="2BA6CB"/>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44450">
            <a:solidFill>
              <a:srgbClr val="2BA6CB"/>
            </a:solidFill>
            <a:prstDash val="solid"/>
          </a:ln>
        </p:spPr>
      </p:sp>
      <p:sp>
        <p:nvSpPr>
          <p:cNvPr id="27" name="Shape 25"/>
          <p:cNvSpPr/>
          <p:nvPr/>
        </p:nvSpPr>
        <p:spPr>
          <a:xfrm>
            <a:off x="4691590" y="3432919"/>
            <a:ext cx="1263831" cy="0"/>
          </a:xfrm>
          <a:prstGeom prst="line">
            <a:avLst/>
          </a:prstGeom>
          <a:noFill/>
          <a:ln w="44450">
            <a:solidFill>
              <a:srgbClr val="2BA6CB"/>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31750">
            <a:solidFill>
              <a:srgbClr val="C7D2E2"/>
            </a:solidFill>
            <a:prstDash val="sysDot"/>
            <a:tailEnd type="triangle"/>
          </a:ln>
        </p:spPr>
      </p:sp>
      <p:sp>
        <p:nvSpPr>
          <p:cNvPr id="31" name="Text 29"/>
          <p:cNvSpPr/>
          <p:nvPr/>
        </p:nvSpPr>
        <p:spPr>
          <a:xfrm>
            <a:off x="5171650"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22860">
            <a:solidFill>
              <a:srgbClr val="C7D2E2"/>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25400">
            <a:solidFill>
              <a:srgbClr val="C7D2E2"/>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31750">
            <a:solidFill>
              <a:srgbClr val="C7D2E2"/>
            </a:solidFill>
            <a:prstDash val="sysDot"/>
            <a:tailEnd type="triangle"/>
          </a:ln>
        </p:spPr>
      </p:sp>
      <p:sp>
        <p:nvSpPr>
          <p:cNvPr id="39" name="Text 37"/>
          <p:cNvSpPr/>
          <p:nvPr/>
        </p:nvSpPr>
        <p:spPr>
          <a:xfrm>
            <a:off x="803633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31750">
            <a:solidFill>
              <a:srgbClr val="C7D2E2"/>
            </a:solidFill>
            <a:prstDash val="sysDot"/>
            <a:tailEnd type="triangle"/>
          </a:ln>
        </p:spPr>
      </p:sp>
      <p:sp>
        <p:nvSpPr>
          <p:cNvPr id="41" name="Text 39"/>
          <p:cNvSpPr/>
          <p:nvPr/>
        </p:nvSpPr>
        <p:spPr>
          <a:xfrm>
            <a:off x="9075485" y="46151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5" name="Text 53"/>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Al enviar, solicitudes le pasa un evento a notificaciones.</a:t>
            </a:r>
            <a:endParaRPr lang="en-US" sz="1300" dirty="0"/>
          </a:p>
        </p:txBody>
      </p:sp>
      <p:sp>
        <p:nvSpPr>
          <p:cNvPr id="56" name="Shape 54"/>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58" name="Text 56"/>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qué eventos ya recibió.</a:t>
            </a:r>
            <a:endParaRPr lang="en-US" sz="1300" dirty="0"/>
          </a:p>
        </p:txBody>
      </p:sp>
      <p:sp>
        <p:nvSpPr>
          <p:cNvPr id="59" name="Shape 57"/>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60" name="Text 58"/>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61" name="Text 59"/>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también consulta a notificaciones para mostrar los avisos.</a:t>
            </a:r>
            <a:endParaRPr lang="en-US" sz="1300" dirty="0"/>
          </a:p>
        </p:txBody>
      </p:sp>
      <p:sp>
        <p:nvSpPr>
          <p:cNvPr id="62" name="Text 6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1 · EL SISTEMA POR FUERA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arquitectura completa</a:t>
            </a:r>
            <a:endParaRPr lang="en-US" sz="2800" dirty="0"/>
          </a:p>
        </p:txBody>
      </p:sp>
      <p:sp>
        <p:nvSpPr>
          <p:cNvPr id="5" name="Shape 3"/>
          <p:cNvSpPr/>
          <p:nvPr/>
        </p:nvSpPr>
        <p:spPr>
          <a:xfrm>
            <a:off x="3708610" y="1438874"/>
            <a:ext cx="6431498" cy="2471493"/>
          </a:xfrm>
          <a:prstGeom prst="roundRect">
            <a:avLst>
              <a:gd name="adj" fmla="val 4440"/>
            </a:avLst>
          </a:prstGeom>
          <a:solidFill>
            <a:srgbClr val="F4F7FB"/>
          </a:solidFill>
          <a:ln w="12700">
            <a:solidFill>
              <a:srgbClr val="DFE6F0"/>
            </a:solidFill>
            <a:prstDash val="dash"/>
          </a:ln>
        </p:spPr>
      </p:sp>
      <p:sp>
        <p:nvSpPr>
          <p:cNvPr id="6" name="Text 4"/>
          <p:cNvSpPr/>
          <p:nvPr/>
        </p:nvSpPr>
        <p:spPr>
          <a:xfrm>
            <a:off x="3792866"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CORRE EN DOCKER COMPOSE O EN KUBERNETES</a:t>
            </a:r>
            <a:endParaRPr lang="en-US" sz="800" dirty="0"/>
          </a:p>
        </p:txBody>
      </p:sp>
      <p:sp>
        <p:nvSpPr>
          <p:cNvPr id="7" name="Shape 5"/>
          <p:cNvSpPr/>
          <p:nvPr/>
        </p:nvSpPr>
        <p:spPr>
          <a:xfrm>
            <a:off x="3708610" y="4191218"/>
            <a:ext cx="3145536" cy="898725"/>
          </a:xfrm>
          <a:prstGeom prst="roundRect">
            <a:avLst>
              <a:gd name="adj" fmla="val 12209"/>
            </a:avLst>
          </a:prstGeom>
          <a:solidFill>
            <a:srgbClr val="E3F4FA"/>
          </a:solidFill>
          <a:ln w="12700">
            <a:solidFill>
              <a:srgbClr val="2BA6CB"/>
            </a:solidFill>
            <a:prstDash val="solid"/>
          </a:ln>
        </p:spPr>
      </p:sp>
      <p:sp>
        <p:nvSpPr>
          <p:cNvPr id="8" name="Text 6"/>
          <p:cNvSpPr/>
          <p:nvPr/>
        </p:nvSpPr>
        <p:spPr>
          <a:xfrm>
            <a:off x="3792866" y="4233345"/>
            <a:ext cx="2962656"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ENTREGA CONTINUA</a:t>
            </a:r>
            <a:endParaRPr lang="en-US" sz="800" dirty="0"/>
          </a:p>
        </p:txBody>
      </p:sp>
      <p:sp>
        <p:nvSpPr>
          <p:cNvPr id="9" name="Shape 7"/>
          <p:cNvSpPr/>
          <p:nvPr/>
        </p:nvSpPr>
        <p:spPr>
          <a:xfrm>
            <a:off x="7078828" y="4191218"/>
            <a:ext cx="3061281" cy="898725"/>
          </a:xfrm>
          <a:prstGeom prst="roundRect">
            <a:avLst>
              <a:gd name="adj" fmla="val 12209"/>
            </a:avLst>
          </a:prstGeom>
          <a:solidFill>
            <a:srgbClr val="E3F4FA"/>
          </a:solidFill>
          <a:ln w="12700">
            <a:solidFill>
              <a:srgbClr val="2BA6CB"/>
            </a:solidFill>
            <a:prstDash val="solid"/>
          </a:ln>
        </p:spPr>
      </p:sp>
      <p:sp>
        <p:nvSpPr>
          <p:cNvPr id="10" name="Text 8"/>
          <p:cNvSpPr/>
          <p:nvPr/>
        </p:nvSpPr>
        <p:spPr>
          <a:xfrm>
            <a:off x="7163083" y="4233345"/>
            <a:ext cx="2878401"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LOGS</a:t>
            </a:r>
            <a:endParaRPr lang="en-US" sz="800" dirty="0"/>
          </a:p>
        </p:txBody>
      </p:sp>
      <p:sp>
        <p:nvSpPr>
          <p:cNvPr id="11" name="Shape 9"/>
          <p:cNvSpPr/>
          <p:nvPr/>
        </p:nvSpPr>
        <p:spPr>
          <a:xfrm>
            <a:off x="3287333" y="2758875"/>
            <a:ext cx="702129" cy="0"/>
          </a:xfrm>
          <a:prstGeom prst="line">
            <a:avLst/>
          </a:prstGeom>
          <a:noFill/>
          <a:ln w="31750">
            <a:solidFill>
              <a:srgbClr val="2E6DB4"/>
            </a:solidFill>
            <a:prstDash val="solid"/>
            <a:tailEnd type="triangle"/>
          </a:ln>
        </p:spPr>
      </p:sp>
      <p:sp>
        <p:nvSpPr>
          <p:cNvPr id="12" name="Text 10"/>
          <p:cNvSpPr/>
          <p:nvPr/>
        </p:nvSpPr>
        <p:spPr>
          <a:xfrm>
            <a:off x="3346116" y="26491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3" name="Shape 11"/>
          <p:cNvSpPr/>
          <p:nvPr/>
        </p:nvSpPr>
        <p:spPr>
          <a:xfrm flipV="1">
            <a:off x="4691590" y="1916321"/>
            <a:ext cx="0" cy="589788"/>
          </a:xfrm>
          <a:prstGeom prst="line">
            <a:avLst/>
          </a:prstGeom>
          <a:noFill/>
          <a:ln w="31750">
            <a:solidFill>
              <a:srgbClr val="2E6DB4"/>
            </a:solidFill>
            <a:prstDash val="solid"/>
          </a:ln>
        </p:spPr>
      </p:sp>
      <p:sp>
        <p:nvSpPr>
          <p:cNvPr id="14" name="Shape 12"/>
          <p:cNvSpPr/>
          <p:nvPr/>
        </p:nvSpPr>
        <p:spPr>
          <a:xfrm>
            <a:off x="4691590" y="1916321"/>
            <a:ext cx="1263831" cy="0"/>
          </a:xfrm>
          <a:prstGeom prst="line">
            <a:avLst/>
          </a:prstGeom>
          <a:noFill/>
          <a:ln w="31750">
            <a:solidFill>
              <a:srgbClr val="2E6DB4"/>
            </a:solidFill>
            <a:prstDash val="solid"/>
            <a:tailEnd type="triangle"/>
          </a:ln>
        </p:spPr>
      </p:sp>
      <p:sp>
        <p:nvSpPr>
          <p:cNvPr id="15" name="Text 13"/>
          <p:cNvSpPr/>
          <p:nvPr/>
        </p:nvSpPr>
        <p:spPr>
          <a:xfrm>
            <a:off x="4762065" y="1697682"/>
            <a:ext cx="112288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/api/solicitudes</a:t>
            </a:r>
            <a:endParaRPr lang="en-US" sz="800" dirty="0"/>
          </a:p>
        </p:txBody>
      </p:sp>
      <p:sp>
        <p:nvSpPr>
          <p:cNvPr id="16" name="Text 14"/>
          <p:cNvSpPr/>
          <p:nvPr/>
        </p:nvSpPr>
        <p:spPr>
          <a:xfrm>
            <a:off x="4581862" y="222787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500105" y="1916321"/>
            <a:ext cx="561703" cy="0"/>
          </a:xfrm>
          <a:prstGeom prst="line">
            <a:avLst/>
          </a:prstGeom>
          <a:noFill/>
          <a:ln w="31750">
            <a:solidFill>
              <a:srgbClr val="55627E"/>
            </a:solidFill>
            <a:prstDash val="sysDot"/>
            <a:tailEnd type="triangle"/>
          </a:ln>
        </p:spPr>
      </p:sp>
      <p:sp>
        <p:nvSpPr>
          <p:cNvPr id="18" name="Text 16"/>
          <p:cNvSpPr/>
          <p:nvPr/>
        </p:nvSpPr>
        <p:spPr>
          <a:xfrm>
            <a:off x="7623679" y="1697682"/>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19" name="Text 17"/>
          <p:cNvSpPr/>
          <p:nvPr/>
        </p:nvSpPr>
        <p:spPr>
          <a:xfrm>
            <a:off x="7558888" y="180659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727763" y="2169087"/>
            <a:ext cx="0" cy="1011065"/>
          </a:xfrm>
          <a:prstGeom prst="line">
            <a:avLst/>
          </a:prstGeom>
          <a:noFill/>
          <a:ln w="25400">
            <a:solidFill>
              <a:srgbClr val="55627E"/>
            </a:solidFill>
            <a:prstDash val="dash"/>
            <a:tailEnd type="triangle"/>
          </a:ln>
        </p:spPr>
      </p:sp>
      <p:sp>
        <p:nvSpPr>
          <p:cNvPr id="21" name="Text 19"/>
          <p:cNvSpPr/>
          <p:nvPr/>
        </p:nvSpPr>
        <p:spPr>
          <a:xfrm>
            <a:off x="6797976" y="2547257"/>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evento</a:t>
            </a:r>
            <a:endParaRPr lang="en-US" sz="800" dirty="0"/>
          </a:p>
        </p:txBody>
      </p:sp>
      <p:sp>
        <p:nvSpPr>
          <p:cNvPr id="22" name="Text 20"/>
          <p:cNvSpPr/>
          <p:nvPr/>
        </p:nvSpPr>
        <p:spPr>
          <a:xfrm>
            <a:off x="6618035" y="22278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a:off x="7500105" y="3432919"/>
            <a:ext cx="561703" cy="0"/>
          </a:xfrm>
          <a:prstGeom prst="line">
            <a:avLst/>
          </a:prstGeom>
          <a:noFill/>
          <a:ln w="31750">
            <a:solidFill>
              <a:srgbClr val="55627E"/>
            </a:solidFill>
            <a:prstDash val="sysDot"/>
            <a:tailEnd type="triangle"/>
          </a:ln>
        </p:spPr>
      </p:sp>
      <p:sp>
        <p:nvSpPr>
          <p:cNvPr id="24" name="Text 22"/>
          <p:cNvSpPr/>
          <p:nvPr/>
        </p:nvSpPr>
        <p:spPr>
          <a:xfrm>
            <a:off x="7623679" y="321427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JPA</a:t>
            </a:r>
            <a:endParaRPr lang="en-US" sz="800" dirty="0"/>
          </a:p>
        </p:txBody>
      </p:sp>
      <p:sp>
        <p:nvSpPr>
          <p:cNvPr id="25" name="Text 23"/>
          <p:cNvSpPr/>
          <p:nvPr/>
        </p:nvSpPr>
        <p:spPr>
          <a:xfrm>
            <a:off x="7558888" y="332319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a:off x="4691590" y="3011642"/>
            <a:ext cx="0" cy="421277"/>
          </a:xfrm>
          <a:prstGeom prst="line">
            <a:avLst/>
          </a:prstGeom>
          <a:noFill/>
          <a:ln w="31750">
            <a:solidFill>
              <a:srgbClr val="2E6DB4"/>
            </a:solidFill>
            <a:prstDash val="solid"/>
          </a:ln>
        </p:spPr>
      </p:sp>
      <p:sp>
        <p:nvSpPr>
          <p:cNvPr id="27" name="Shape 25"/>
          <p:cNvSpPr/>
          <p:nvPr/>
        </p:nvSpPr>
        <p:spPr>
          <a:xfrm>
            <a:off x="4691590" y="3432919"/>
            <a:ext cx="1263831" cy="0"/>
          </a:xfrm>
          <a:prstGeom prst="line">
            <a:avLst/>
          </a:prstGeom>
          <a:noFill/>
          <a:ln w="31750">
            <a:solidFill>
              <a:srgbClr val="2E6DB4"/>
            </a:solidFill>
            <a:prstDash val="solid"/>
            <a:tailEnd type="triangle"/>
          </a:ln>
        </p:spPr>
      </p:sp>
      <p:sp>
        <p:nvSpPr>
          <p:cNvPr id="28" name="Text 26"/>
          <p:cNvSpPr/>
          <p:nvPr/>
        </p:nvSpPr>
        <p:spPr>
          <a:xfrm>
            <a:off x="4668796" y="3410875"/>
            <a:ext cx="1309421"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/api/notificaciones</a:t>
            </a:r>
            <a:endParaRPr lang="en-US" sz="800" dirty="0"/>
          </a:p>
        </p:txBody>
      </p:sp>
      <p:sp>
        <p:nvSpPr>
          <p:cNvPr id="29" name="Text 27"/>
          <p:cNvSpPr/>
          <p:nvPr/>
        </p:nvSpPr>
        <p:spPr>
          <a:xfrm>
            <a:off x="4581862" y="307042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0" name="Shape 28"/>
          <p:cNvSpPr/>
          <p:nvPr/>
        </p:nvSpPr>
        <p:spPr>
          <a:xfrm>
            <a:off x="5112868" y="4724835"/>
            <a:ext cx="337022" cy="0"/>
          </a:xfrm>
          <a:prstGeom prst="line">
            <a:avLst/>
          </a:prstGeom>
          <a:noFill/>
          <a:ln w="44450">
            <a:solidFill>
              <a:srgbClr val="2BA6CB"/>
            </a:solidFill>
            <a:prstDash val="sysDot"/>
            <a:tailEnd type="triangle"/>
          </a:ln>
        </p:spPr>
      </p:sp>
      <p:sp>
        <p:nvSpPr>
          <p:cNvPr id="31" name="Text 29"/>
          <p:cNvSpPr/>
          <p:nvPr/>
        </p:nvSpPr>
        <p:spPr>
          <a:xfrm>
            <a:off x="5171650"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V="1">
            <a:off x="6067762" y="3917388"/>
            <a:ext cx="0" cy="610852"/>
          </a:xfrm>
          <a:prstGeom prst="line">
            <a:avLst/>
          </a:prstGeom>
          <a:noFill/>
          <a:ln w="35560">
            <a:solidFill>
              <a:srgbClr val="2BA6CB"/>
            </a:solidFill>
            <a:prstDash val="lgDash"/>
            <a:tailEnd type="arrow"/>
          </a:ln>
        </p:spPr>
      </p:sp>
      <p:sp>
        <p:nvSpPr>
          <p:cNvPr id="33" name="Text 31"/>
          <p:cNvSpPr/>
          <p:nvPr/>
        </p:nvSpPr>
        <p:spPr>
          <a:xfrm>
            <a:off x="6137975" y="4095451"/>
            <a:ext cx="625450"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imágenes</a:t>
            </a:r>
            <a:endParaRPr lang="en-US" sz="800" dirty="0"/>
          </a:p>
        </p:txBody>
      </p:sp>
      <p:sp>
        <p:nvSpPr>
          <p:cNvPr id="34" name="Text 32"/>
          <p:cNvSpPr/>
          <p:nvPr/>
        </p:nvSpPr>
        <p:spPr>
          <a:xfrm>
            <a:off x="5958034" y="425000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Shape 33"/>
          <p:cNvSpPr/>
          <p:nvPr/>
        </p:nvSpPr>
        <p:spPr>
          <a:xfrm>
            <a:off x="7584360" y="3910366"/>
            <a:ext cx="0" cy="617873"/>
          </a:xfrm>
          <a:prstGeom prst="line">
            <a:avLst/>
          </a:prstGeom>
          <a:noFill/>
          <a:ln w="38100">
            <a:solidFill>
              <a:srgbClr val="2BA6CB"/>
            </a:solidFill>
            <a:prstDash val="dash"/>
            <a:tailEnd type="triangle"/>
          </a:ln>
        </p:spPr>
      </p:sp>
      <p:sp>
        <p:nvSpPr>
          <p:cNvPr id="36" name="Text 34"/>
          <p:cNvSpPr/>
          <p:nvPr/>
        </p:nvSpPr>
        <p:spPr>
          <a:xfrm>
            <a:off x="7654573" y="4091940"/>
            <a:ext cx="376733"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logs</a:t>
            </a:r>
            <a:endParaRPr lang="en-US" sz="800" dirty="0"/>
          </a:p>
        </p:txBody>
      </p:sp>
      <p:sp>
        <p:nvSpPr>
          <p:cNvPr id="37" name="Text 35"/>
          <p:cNvSpPr/>
          <p:nvPr/>
        </p:nvSpPr>
        <p:spPr>
          <a:xfrm>
            <a:off x="7474632" y="3969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38" name="Shape 36"/>
          <p:cNvSpPr/>
          <p:nvPr/>
        </p:nvSpPr>
        <p:spPr>
          <a:xfrm>
            <a:off x="7977552" y="4724835"/>
            <a:ext cx="337022" cy="0"/>
          </a:xfrm>
          <a:prstGeom prst="line">
            <a:avLst/>
          </a:prstGeom>
          <a:noFill/>
          <a:ln w="44450">
            <a:solidFill>
              <a:srgbClr val="2BA6CB"/>
            </a:solidFill>
            <a:prstDash val="sysDot"/>
            <a:tailEnd type="triangle"/>
          </a:ln>
        </p:spPr>
      </p:sp>
      <p:sp>
        <p:nvSpPr>
          <p:cNvPr id="39" name="Text 37"/>
          <p:cNvSpPr/>
          <p:nvPr/>
        </p:nvSpPr>
        <p:spPr>
          <a:xfrm>
            <a:off x="8036335"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0" name="Shape 38"/>
          <p:cNvSpPr/>
          <p:nvPr/>
        </p:nvSpPr>
        <p:spPr>
          <a:xfrm>
            <a:off x="9016702" y="4724835"/>
            <a:ext cx="337022" cy="0"/>
          </a:xfrm>
          <a:prstGeom prst="line">
            <a:avLst/>
          </a:prstGeom>
          <a:noFill/>
          <a:ln w="44450">
            <a:solidFill>
              <a:srgbClr val="2BA6CB"/>
            </a:solidFill>
            <a:prstDash val="sysDot"/>
            <a:tailEnd type="triangle"/>
          </a:ln>
        </p:spPr>
      </p:sp>
      <p:sp>
        <p:nvSpPr>
          <p:cNvPr id="41" name="Text 39"/>
          <p:cNvSpPr/>
          <p:nvPr/>
        </p:nvSpPr>
        <p:spPr>
          <a:xfrm>
            <a:off x="9075485" y="46151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42" name="Text 40"/>
          <p:cNvSpPr/>
          <p:nvPr/>
        </p:nvSpPr>
        <p:spPr>
          <a:xfrm>
            <a:off x="2051587" y="2506109"/>
            <a:ext cx="1235746" cy="505533"/>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Persona</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en el navegador</a:t>
            </a:r>
            <a:endParaRPr lang="en-US" sz="850" dirty="0"/>
          </a:p>
        </p:txBody>
      </p:sp>
      <p:sp>
        <p:nvSpPr>
          <p:cNvPr id="43" name="Text 41"/>
          <p:cNvSpPr/>
          <p:nvPr/>
        </p:nvSpPr>
        <p:spPr>
          <a:xfrm>
            <a:off x="3989462" y="2506109"/>
            <a:ext cx="1404257"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arka-lite-ui</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React + nginx · :8088</a:t>
            </a:r>
            <a:endParaRPr lang="en-US" sz="850" dirty="0"/>
          </a:p>
        </p:txBody>
      </p:sp>
      <p:sp>
        <p:nvSpPr>
          <p:cNvPr id="44" name="Text 42"/>
          <p:cNvSpPr/>
          <p:nvPr/>
        </p:nvSpPr>
        <p:spPr>
          <a:xfrm>
            <a:off x="5955422" y="1663555"/>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:8080</a:t>
            </a:r>
            <a:endParaRPr lang="en-US" sz="850" dirty="0"/>
          </a:p>
        </p:txBody>
      </p:sp>
      <p:sp>
        <p:nvSpPr>
          <p:cNvPr id="45" name="Text 43"/>
          <p:cNvSpPr/>
          <p:nvPr/>
        </p:nvSpPr>
        <p:spPr>
          <a:xfrm>
            <a:off x="5955422" y="3180153"/>
            <a:ext cx="1544683" cy="505533"/>
          </a:xfrm>
          <a:prstGeom prst="roundRect">
            <a:avLst>
              <a:gd name="adj" fmla="val 180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Spring Boot · :8081</a:t>
            </a:r>
            <a:endParaRPr lang="en-US" sz="850" dirty="0"/>
          </a:p>
        </p:txBody>
      </p:sp>
      <p:sp>
        <p:nvSpPr>
          <p:cNvPr id="46" name="Text 44"/>
          <p:cNvSpPr/>
          <p:nvPr/>
        </p:nvSpPr>
        <p:spPr>
          <a:xfrm>
            <a:off x="8061808" y="1663555"/>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db-solicitudes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7" name="Text 45"/>
          <p:cNvSpPr/>
          <p:nvPr/>
        </p:nvSpPr>
        <p:spPr>
          <a:xfrm>
            <a:off x="8061808" y="3180153"/>
            <a:ext cx="1404257" cy="505533"/>
          </a:xfrm>
          <a:prstGeom prst="roundRect">
            <a:avLst>
              <a:gd name="adj" fmla="val 1808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db-notificaciones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PostgreSQL 17</a:t>
            </a:r>
            <a:endParaRPr lang="en-US" sz="850" dirty="0"/>
          </a:p>
        </p:txBody>
      </p:sp>
      <p:sp>
        <p:nvSpPr>
          <p:cNvPr id="48" name="Text 46"/>
          <p:cNvSpPr/>
          <p:nvPr/>
        </p:nvSpPr>
        <p:spPr>
          <a:xfrm>
            <a:off x="3877121" y="4528239"/>
            <a:ext cx="1235746"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GitHub Actions</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prueba cada cambio</a:t>
            </a:r>
            <a:endParaRPr lang="en-US" sz="850" dirty="0"/>
          </a:p>
        </p:txBody>
      </p:sp>
      <p:sp>
        <p:nvSpPr>
          <p:cNvPr id="49" name="Text 47"/>
          <p:cNvSpPr/>
          <p:nvPr/>
        </p:nvSpPr>
        <p:spPr>
          <a:xfrm>
            <a:off x="5449889" y="4528239"/>
            <a:ext cx="1235746"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GHCR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las imágenes</a:t>
            </a:r>
            <a:endParaRPr lang="en-US" sz="850" dirty="0"/>
          </a:p>
        </p:txBody>
      </p:sp>
      <p:sp>
        <p:nvSpPr>
          <p:cNvPr id="50" name="Text 48"/>
          <p:cNvSpPr/>
          <p:nvPr/>
        </p:nvSpPr>
        <p:spPr>
          <a:xfrm>
            <a:off x="7191168" y="4528239"/>
            <a:ext cx="786384"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Promtail</a:t>
            </a:r>
            <a:endParaRPr lang="en-US" sz="850" dirty="0"/>
          </a:p>
        </p:txBody>
      </p:sp>
      <p:sp>
        <p:nvSpPr>
          <p:cNvPr id="51" name="Text 49"/>
          <p:cNvSpPr/>
          <p:nvPr/>
        </p:nvSpPr>
        <p:spPr>
          <a:xfrm>
            <a:off x="8314574" y="4528239"/>
            <a:ext cx="702129"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Loki</a:t>
            </a:r>
            <a:endParaRPr lang="en-US" sz="850" dirty="0"/>
          </a:p>
        </p:txBody>
      </p:sp>
      <p:sp>
        <p:nvSpPr>
          <p:cNvPr id="52" name="Text 50"/>
          <p:cNvSpPr/>
          <p:nvPr/>
        </p:nvSpPr>
        <p:spPr>
          <a:xfrm>
            <a:off x="9353724" y="4528239"/>
            <a:ext cx="730214" cy="393192"/>
          </a:xfrm>
          <a:prstGeom prst="roundRect">
            <a:avLst>
              <a:gd name="adj" fmla="val 2325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Grafana</a:t>
            </a:r>
            <a:endParaRPr lang="en-US" sz="850" dirty="0"/>
          </a:p>
        </p:txBody>
      </p:sp>
      <p:sp>
        <p:nvSpPr>
          <p:cNvPr id="53" name="Shape 5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54" name="Text 5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55" name="Text 5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cambio en el código pasa por GitHub Actions, que prueba y publica las imágenes.</a:t>
            </a:r>
            <a:endParaRPr lang="en-US" sz="1300" dirty="0"/>
          </a:p>
        </p:txBody>
      </p:sp>
      <p:sp>
        <p:nvSpPr>
          <p:cNvPr id="56" name="Shape 5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57" name="Text 5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58" name="Text 5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logs de los contenedores llegan a Grafana a través de Promtail y Loki.</a:t>
            </a:r>
            <a:endParaRPr lang="en-US" sz="1300" dirty="0"/>
          </a:p>
        </p:txBody>
      </p:sp>
      <p:sp>
        <p:nvSpPr>
          <p:cNvPr id="59" name="Text 5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1 · EL SISTEMA POR FUERA</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2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02</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Construir un servicio</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pasamos de una idea a un endpoint que responde, avisa sus errores y está probado.</a:t>
            </a:r>
            <a:endParaRPr lang="en-US" sz="1900" dirty="0"/>
          </a:p>
        </p:txBody>
      </p:sp>
      <p:sp>
        <p:nvSpPr>
          <p:cNvPr id="6" name="Text 4"/>
          <p:cNvSpPr/>
          <p:nvPr/>
        </p:nvSpPr>
        <p:spPr>
          <a:xfrm>
            <a:off x="758952" y="4617720"/>
            <a:ext cx="151333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Spring Boot</a:t>
            </a:r>
            <a:endParaRPr lang="en-US" sz="1300" dirty="0"/>
          </a:p>
        </p:txBody>
      </p:sp>
      <p:sp>
        <p:nvSpPr>
          <p:cNvPr id="7" name="Text 5"/>
          <p:cNvSpPr/>
          <p:nvPr/>
        </p:nvSpPr>
        <p:spPr>
          <a:xfrm>
            <a:off x="2400300"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Endpoints REST</a:t>
            </a:r>
            <a:endParaRPr lang="en-US" sz="1300" dirty="0"/>
          </a:p>
        </p:txBody>
      </p:sp>
      <p:sp>
        <p:nvSpPr>
          <p:cNvPr id="8" name="Text 6"/>
          <p:cNvSpPr/>
          <p:nvPr/>
        </p:nvSpPr>
        <p:spPr>
          <a:xfrm>
            <a:off x="4329684" y="4617720"/>
            <a:ext cx="276148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Manejo global de errores</a:t>
            </a:r>
            <a:endParaRPr lang="en-US" sz="1300" dirty="0"/>
          </a:p>
        </p:txBody>
      </p:sp>
      <p:sp>
        <p:nvSpPr>
          <p:cNvPr id="9" name="Text 7"/>
          <p:cNvSpPr/>
          <p:nvPr/>
        </p:nvSpPr>
        <p:spPr>
          <a:xfrm>
            <a:off x="7219188" y="4617720"/>
            <a:ext cx="11292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Swagger</a:t>
            </a:r>
            <a:endParaRPr lang="en-US" sz="1300" dirty="0"/>
          </a:p>
        </p:txBody>
      </p:sp>
      <p:sp>
        <p:nvSpPr>
          <p:cNvPr id="10" name="Text 8"/>
          <p:cNvSpPr/>
          <p:nvPr/>
        </p:nvSpPr>
        <p:spPr>
          <a:xfrm>
            <a:off x="8476488" y="4617720"/>
            <a:ext cx="208940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Pruebas unitarias</a:t>
            </a:r>
            <a:endParaRPr lang="en-US" sz="1300" dirty="0"/>
          </a:p>
        </p:txBody>
      </p:sp>
      <p:sp>
        <p:nvSpPr>
          <p:cNvPr id="11" name="Text 9"/>
          <p:cNvSpPr/>
          <p:nvPr/>
        </p:nvSpPr>
        <p:spPr>
          <a:xfrm>
            <a:off x="10693908" y="4617720"/>
            <a:ext cx="7452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Git</a:t>
            </a:r>
            <a:endParaRPr lang="en-US" sz="1300" dirty="0"/>
          </a:p>
        </p:txBody>
      </p:sp>
      <p:sp>
        <p:nvSpPr>
          <p:cNvPr id="12" name="Text 10"/>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P2</a:t>
            </a:r>
            <a:endParaRPr lang="en-US" sz="1000" dirty="0"/>
          </a:p>
        </p:txBody>
      </p:sp>
      <p:sp>
        <p:nvSpPr>
          <p:cNvPr id="13" name="Text 11"/>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2 · Desarrollo</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Primer contacto con Spring Boot</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Spring Boot arma la aplicación por nosotros.</a:t>
            </a:r>
            <a:endParaRPr lang="en-US" sz="3200" dirty="0"/>
          </a:p>
        </p:txBody>
      </p:sp>
      <p:sp>
        <p:nvSpPr>
          <p:cNvPr id="6" name="Shape 4"/>
          <p:cNvSpPr/>
          <p:nvPr/>
        </p:nvSpPr>
        <p:spPr>
          <a:xfrm>
            <a:off x="612648" y="5029200"/>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5257800"/>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5138928"/>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 contratista de obra: nosotros decimos qué piezas hay y él las arma y las conecta.</a:t>
            </a:r>
            <a:endParaRPr lang="en-US" sz="1450" dirty="0"/>
          </a:p>
        </p:txBody>
      </p:sp>
      <p:sp>
        <p:nvSpPr>
          <p:cNvPr id="9" name="Shape 7"/>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10" name="Text 8"/>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Text 9"/>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Maven descarga lo necesario, compila y prueba</a:t>
            </a:r>
            <a:endParaRPr lang="en-US" sz="1600" dirty="0"/>
          </a:p>
        </p:txBody>
      </p:sp>
      <p:sp>
        <p:nvSpPr>
          <p:cNvPr id="12" name="Shape 10"/>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3" name="Text 11"/>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Spring Boot levanta el servidor y conecta las piezas</a:t>
            </a:r>
            <a:endParaRPr lang="en-US" sz="1600" dirty="0"/>
          </a:p>
        </p:txBody>
      </p:sp>
      <p:sp>
        <p:nvSpPr>
          <p:cNvPr id="15" name="Shape 13"/>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7" name="Text 15"/>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Cada pieza recibe lo que necesita por el constructor</a:t>
            </a:r>
            <a:endParaRPr lang="en-US" sz="1600" dirty="0"/>
          </a:p>
        </p:txBody>
      </p:sp>
      <p:sp>
        <p:nvSpPr>
          <p:cNvPr id="18" name="Shape 16"/>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9" name="Text 17"/>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0" name="Text 18"/>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Las reglas del negocio no dependen de Spring</a:t>
            </a:r>
            <a:endParaRPr lang="en-US" sz="16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Construcción de endpoints REST</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Método + ruta = una operación</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cuerpo viaja en JSON</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respuesta trae un código: 201, 404, 409</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controlador traduce; quien decide es el servicio</a:t>
            </a:r>
            <a:endParaRPr lang="en-US" sz="1100" dirty="0"/>
          </a:p>
        </p:txBody>
      </p:sp>
      <p:sp>
        <p:nvSpPr>
          <p:cNvPr id="9" name="Shape 7"/>
          <p:cNvSpPr/>
          <p:nvPr/>
        </p:nvSpPr>
        <p:spPr>
          <a:xfrm>
            <a:off x="2348995" y="3758365"/>
            <a:ext cx="639707" cy="0"/>
          </a:xfrm>
          <a:prstGeom prst="line">
            <a:avLst/>
          </a:prstGeom>
          <a:noFill/>
          <a:ln w="31750">
            <a:solidFill>
              <a:srgbClr val="2E6DB4"/>
            </a:solidFill>
            <a:prstDash val="solid"/>
            <a:tailEnd type="triangle"/>
          </a:ln>
        </p:spPr>
      </p:sp>
      <p:sp>
        <p:nvSpPr>
          <p:cNvPr id="10" name="Text 8"/>
          <p:cNvSpPr/>
          <p:nvPr/>
        </p:nvSpPr>
        <p:spPr>
          <a:xfrm>
            <a:off x="2472709" y="352066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JSON</a:t>
            </a:r>
            <a:endParaRPr lang="en-US" sz="850" dirty="0"/>
          </a:p>
        </p:txBody>
      </p:sp>
      <p:sp>
        <p:nvSpPr>
          <p:cNvPr id="11" name="Text 9"/>
          <p:cNvSpPr/>
          <p:nvPr/>
        </p:nvSpPr>
        <p:spPr>
          <a:xfrm>
            <a:off x="2458595" y="364863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816434" y="3868029"/>
            <a:ext cx="639707" cy="0"/>
          </a:xfrm>
          <a:prstGeom prst="line">
            <a:avLst/>
          </a:prstGeom>
          <a:noFill/>
          <a:ln w="31750">
            <a:solidFill>
              <a:srgbClr val="55627E"/>
            </a:solidFill>
            <a:prstDash val="sysDot"/>
            <a:tailEnd type="triangle"/>
          </a:ln>
        </p:spPr>
      </p:sp>
      <p:sp>
        <p:nvSpPr>
          <p:cNvPr id="13" name="Text 11"/>
          <p:cNvSpPr/>
          <p:nvPr/>
        </p:nvSpPr>
        <p:spPr>
          <a:xfrm>
            <a:off x="4907116" y="3630333"/>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a:t>
            </a:r>
            <a:endParaRPr lang="en-US" sz="850" dirty="0"/>
          </a:p>
        </p:txBody>
      </p:sp>
      <p:sp>
        <p:nvSpPr>
          <p:cNvPr id="14" name="Text 12"/>
          <p:cNvSpPr/>
          <p:nvPr/>
        </p:nvSpPr>
        <p:spPr>
          <a:xfrm>
            <a:off x="4926034"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7466648" y="3868029"/>
            <a:ext cx="639707" cy="0"/>
          </a:xfrm>
          <a:prstGeom prst="line">
            <a:avLst/>
          </a:prstGeom>
          <a:noFill/>
          <a:ln w="31750">
            <a:solidFill>
              <a:srgbClr val="55627E"/>
            </a:solidFill>
            <a:prstDash val="sysDot"/>
            <a:tailEnd type="triangle"/>
          </a:ln>
        </p:spPr>
      </p:sp>
      <p:sp>
        <p:nvSpPr>
          <p:cNvPr id="16" name="Text 14"/>
          <p:cNvSpPr/>
          <p:nvPr/>
        </p:nvSpPr>
        <p:spPr>
          <a:xfrm>
            <a:off x="7491264" y="3630333"/>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7" name="Text 15"/>
          <p:cNvSpPr/>
          <p:nvPr/>
        </p:nvSpPr>
        <p:spPr>
          <a:xfrm>
            <a:off x="7576247"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a:off x="9659927" y="3868029"/>
            <a:ext cx="456933" cy="0"/>
          </a:xfrm>
          <a:prstGeom prst="line">
            <a:avLst/>
          </a:prstGeom>
          <a:noFill/>
          <a:ln w="31750">
            <a:solidFill>
              <a:srgbClr val="55627E"/>
            </a:solidFill>
            <a:prstDash val="sysDot"/>
            <a:tailEnd type="triangle"/>
          </a:ln>
        </p:spPr>
      </p:sp>
      <p:sp>
        <p:nvSpPr>
          <p:cNvPr id="19" name="Text 17"/>
          <p:cNvSpPr/>
          <p:nvPr/>
        </p:nvSpPr>
        <p:spPr>
          <a:xfrm>
            <a:off x="9626190" y="363033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INSERT</a:t>
            </a:r>
            <a:endParaRPr lang="en-US" sz="850" dirty="0"/>
          </a:p>
        </p:txBody>
      </p:sp>
      <p:sp>
        <p:nvSpPr>
          <p:cNvPr id="20" name="Text 18"/>
          <p:cNvSpPr/>
          <p:nvPr/>
        </p:nvSpPr>
        <p:spPr>
          <a:xfrm>
            <a:off x="9769527" y="375830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flipH="1">
            <a:off x="2348995" y="3977693"/>
            <a:ext cx="639707" cy="0"/>
          </a:xfrm>
          <a:prstGeom prst="line">
            <a:avLst/>
          </a:prstGeom>
          <a:noFill/>
          <a:ln w="22860">
            <a:solidFill>
              <a:srgbClr val="0B6E8A"/>
            </a:solidFill>
            <a:prstDash val="solid"/>
            <a:tailEnd type="arrow"/>
          </a:ln>
        </p:spPr>
      </p:sp>
      <p:sp>
        <p:nvSpPr>
          <p:cNvPr id="22" name="Text 20"/>
          <p:cNvSpPr/>
          <p:nvPr/>
        </p:nvSpPr>
        <p:spPr>
          <a:xfrm>
            <a:off x="2505742" y="3995880"/>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201</a:t>
            </a:r>
            <a:endParaRPr lang="en-US" sz="850" dirty="0"/>
          </a:p>
        </p:txBody>
      </p:sp>
      <p:sp>
        <p:nvSpPr>
          <p:cNvPr id="23" name="Text 21"/>
          <p:cNvSpPr/>
          <p:nvPr/>
        </p:nvSpPr>
        <p:spPr>
          <a:xfrm>
            <a:off x="2659645" y="386796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a:off x="6461394" y="4215299"/>
            <a:ext cx="0" cy="950421"/>
          </a:xfrm>
          <a:prstGeom prst="line">
            <a:avLst/>
          </a:prstGeom>
          <a:noFill/>
          <a:ln w="31750">
            <a:solidFill>
              <a:srgbClr val="AB243E"/>
            </a:solidFill>
            <a:prstDash val="sysDash"/>
            <a:tailEnd type="triangle"/>
          </a:ln>
        </p:spPr>
      </p:sp>
      <p:sp>
        <p:nvSpPr>
          <p:cNvPr id="25" name="Text 23"/>
          <p:cNvSpPr/>
          <p:nvPr/>
        </p:nvSpPr>
        <p:spPr>
          <a:xfrm>
            <a:off x="6552781" y="4571616"/>
            <a:ext cx="722605" cy="192024"/>
          </a:xfrm>
          <a:prstGeom prst="rect">
            <a:avLst/>
          </a:prstGeom>
          <a:noFill/>
          <a:ln/>
        </p:spPr>
        <p:txBody>
          <a:bodyPr wrap="square" lIns="0" tIns="0" rIns="0" bIns="0" rtlCol="0" anchor="ctr"/>
          <a:lstStyle/>
          <a:p>
            <a:pPr algn="l" indent="0" marL="0">
              <a:buNone/>
            </a:pPr>
            <a:r>
              <a:rPr lang="en-US" sz="850" b="1" dirty="0">
                <a:solidFill>
                  <a:srgbClr val="AB243E"/>
                </a:solidFill>
                <a:latin typeface="Segoe UI" pitchFamily="34" charset="0"/>
                <a:ea typeface="Segoe UI" pitchFamily="34" charset="-122"/>
                <a:cs typeface="Segoe UI" pitchFamily="34" charset="-120"/>
              </a:rPr>
              <a:t>ya existe</a:t>
            </a:r>
            <a:endParaRPr lang="en-US" sz="850" dirty="0"/>
          </a:p>
        </p:txBody>
      </p:sp>
      <p:sp>
        <p:nvSpPr>
          <p:cNvPr id="26" name="Text 24"/>
          <p:cNvSpPr/>
          <p:nvPr/>
        </p:nvSpPr>
        <p:spPr>
          <a:xfrm>
            <a:off x="6351666" y="4324899"/>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H="1">
            <a:off x="1617901" y="5512989"/>
            <a:ext cx="3838240" cy="0"/>
          </a:xfrm>
          <a:prstGeom prst="line">
            <a:avLst/>
          </a:prstGeom>
          <a:noFill/>
          <a:ln w="31750">
            <a:solidFill>
              <a:srgbClr val="AB243E"/>
            </a:solidFill>
            <a:prstDash val="sysDash"/>
          </a:ln>
        </p:spPr>
      </p:sp>
      <p:sp>
        <p:nvSpPr>
          <p:cNvPr id="28" name="Shape 26"/>
          <p:cNvSpPr/>
          <p:nvPr/>
        </p:nvSpPr>
        <p:spPr>
          <a:xfrm flipV="1">
            <a:off x="1617901" y="4215299"/>
            <a:ext cx="0" cy="1297691"/>
          </a:xfrm>
          <a:prstGeom prst="line">
            <a:avLst/>
          </a:prstGeom>
          <a:noFill/>
          <a:ln w="31750">
            <a:solidFill>
              <a:srgbClr val="AB243E"/>
            </a:solidFill>
            <a:prstDash val="sysDash"/>
            <a:tailEnd type="triangle"/>
          </a:ln>
        </p:spPr>
      </p:sp>
      <p:sp>
        <p:nvSpPr>
          <p:cNvPr id="29" name="Text 27"/>
          <p:cNvSpPr/>
          <p:nvPr/>
        </p:nvSpPr>
        <p:spPr>
          <a:xfrm>
            <a:off x="3043588" y="5531176"/>
            <a:ext cx="986866"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409 + mensaje</a:t>
            </a:r>
            <a:endParaRPr lang="en-US" sz="850" dirty="0"/>
          </a:p>
        </p:txBody>
      </p:sp>
      <p:sp>
        <p:nvSpPr>
          <p:cNvPr id="30" name="Text 28"/>
          <p:cNvSpPr/>
          <p:nvPr/>
        </p:nvSpPr>
        <p:spPr>
          <a:xfrm>
            <a:off x="5127085" y="5403261"/>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1" name="Text 29"/>
          <p:cNvSpPr/>
          <p:nvPr/>
        </p:nvSpPr>
        <p:spPr>
          <a:xfrm>
            <a:off x="886808" y="3520760"/>
            <a:ext cx="146218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 /api/solicitudes</a:t>
            </a:r>
            <a:endParaRPr lang="en-US" sz="1100" dirty="0"/>
          </a:p>
        </p:txBody>
      </p:sp>
      <p:sp>
        <p:nvSpPr>
          <p:cNvPr id="32" name="Text 30"/>
          <p:cNvSpPr/>
          <p:nvPr/>
        </p:nvSpPr>
        <p:spPr>
          <a:xfrm>
            <a:off x="2988701" y="3520760"/>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SolicitudController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@PostMapping · 201</a:t>
            </a:r>
            <a:endParaRPr lang="en-US" sz="1100" dirty="0"/>
          </a:p>
        </p:txBody>
      </p:sp>
      <p:sp>
        <p:nvSpPr>
          <p:cNvPr id="33" name="Text 31"/>
          <p:cNvSpPr/>
          <p:nvPr/>
        </p:nvSpPr>
        <p:spPr>
          <a:xfrm>
            <a:off x="5456141" y="3520760"/>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crear(id, tipo)</a:t>
            </a:r>
            <a:endParaRPr lang="en-US" sz="1100" dirty="0"/>
          </a:p>
        </p:txBody>
      </p:sp>
      <p:sp>
        <p:nvSpPr>
          <p:cNvPr id="34" name="Text 32"/>
          <p:cNvSpPr/>
          <p:nvPr/>
        </p:nvSpPr>
        <p:spPr>
          <a:xfrm>
            <a:off x="8106354" y="352076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100" dirty="0"/>
          </a:p>
        </p:txBody>
      </p:sp>
      <p:sp>
        <p:nvSpPr>
          <p:cNvPr id="35" name="Text 33"/>
          <p:cNvSpPr/>
          <p:nvPr/>
        </p:nvSpPr>
        <p:spPr>
          <a:xfrm>
            <a:off x="10116861" y="3520760"/>
            <a:ext cx="1279413"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PostgreSQL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tabla solicitud</a:t>
            </a:r>
            <a:endParaRPr lang="en-US" sz="1100" dirty="0"/>
          </a:p>
        </p:txBody>
      </p:sp>
      <p:sp>
        <p:nvSpPr>
          <p:cNvPr id="36" name="Text 34"/>
          <p:cNvSpPr/>
          <p:nvPr/>
        </p:nvSpPr>
        <p:spPr>
          <a:xfrm>
            <a:off x="5456141" y="5165720"/>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ManejadorGlobalDeErrores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404 · 409 · 400</a:t>
            </a:r>
            <a:endParaRPr lang="en-US" sz="11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44450">
            <a:solidFill>
              <a:srgbClr val="2BA6CB"/>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44450">
            <a:solidFill>
              <a:srgbClr val="2BA6CB"/>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C7D2E2"/>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C7D2E2"/>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C7D2E2"/>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UI envía POST con un cuerpo JSON: id y tipo.</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convierte el JSON en NuevaSolicitud y llama al servicio.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44450">
            <a:solidFill>
              <a:srgbClr val="2BA6CB"/>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44450">
            <a:solidFill>
              <a:srgbClr val="2BA6CB"/>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22860">
            <a:solidFill>
              <a:srgbClr val="C7D2E2"/>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31750">
            <a:solidFill>
              <a:srgbClr val="C7D2E2"/>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31750">
            <a:solidFill>
              <a:srgbClr val="C7D2E2"/>
            </a:solidFill>
            <a:prstDash val="sysDash"/>
          </a:ln>
        </p:spPr>
      </p:sp>
      <p:sp>
        <p:nvSpPr>
          <p:cNvPr id="24" name="Shape 22"/>
          <p:cNvSpPr/>
          <p:nvPr/>
        </p:nvSpPr>
        <p:spPr>
          <a:xfrm flipV="1">
            <a:off x="1907498" y="3401170"/>
            <a:ext cx="0" cy="1213767"/>
          </a:xfrm>
          <a:prstGeom prst="line">
            <a:avLst/>
          </a:prstGeom>
          <a:noFill/>
          <a:ln w="31750">
            <a:solidFill>
              <a:srgbClr val="C7D2E2"/>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valida los datos y revisa que el id no exista.</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JPA guarda la fila en PostgreSQL.</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Crear una solicitud por REST</a:t>
            </a:r>
            <a:endParaRPr lang="en-US" sz="2800" dirty="0"/>
          </a:p>
        </p:txBody>
      </p:sp>
      <p:sp>
        <p:nvSpPr>
          <p:cNvPr id="5" name="Shape 3"/>
          <p:cNvSpPr/>
          <p:nvPr/>
        </p:nvSpPr>
        <p:spPr>
          <a:xfrm>
            <a:off x="2591310" y="2973788"/>
            <a:ext cx="598336" cy="0"/>
          </a:xfrm>
          <a:prstGeom prst="line">
            <a:avLst/>
          </a:prstGeom>
          <a:noFill/>
          <a:ln w="31750">
            <a:solidFill>
              <a:srgbClr val="2E6DB4"/>
            </a:solidFill>
            <a:prstDash val="solid"/>
            <a:tailEnd type="triangle"/>
          </a:ln>
        </p:spPr>
      </p:sp>
      <p:sp>
        <p:nvSpPr>
          <p:cNvPr id="6" name="Text 4"/>
          <p:cNvSpPr/>
          <p:nvPr/>
        </p:nvSpPr>
        <p:spPr>
          <a:xfrm>
            <a:off x="2702112" y="2741411"/>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JSON</a:t>
            </a:r>
            <a:endParaRPr lang="en-US" sz="800" dirty="0"/>
          </a:p>
        </p:txBody>
      </p:sp>
      <p:sp>
        <p:nvSpPr>
          <p:cNvPr id="7" name="Text 5"/>
          <p:cNvSpPr/>
          <p:nvPr/>
        </p:nvSpPr>
        <p:spPr>
          <a:xfrm>
            <a:off x="2686726" y="2864060"/>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8" name="Shape 6"/>
          <p:cNvSpPr/>
          <p:nvPr/>
        </p:nvSpPr>
        <p:spPr>
          <a:xfrm>
            <a:off x="4899176" y="3076360"/>
            <a:ext cx="598336" cy="0"/>
          </a:xfrm>
          <a:prstGeom prst="line">
            <a:avLst/>
          </a:prstGeom>
          <a:noFill/>
          <a:ln w="31750">
            <a:solidFill>
              <a:srgbClr val="55627E"/>
            </a:solidFill>
            <a:prstDash val="sysDot"/>
            <a:tailEnd type="triangle"/>
          </a:ln>
        </p:spPr>
      </p:sp>
      <p:sp>
        <p:nvSpPr>
          <p:cNvPr id="9" name="Text 7"/>
          <p:cNvSpPr/>
          <p:nvPr/>
        </p:nvSpPr>
        <p:spPr>
          <a:xfrm>
            <a:off x="4978888" y="28439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crear</a:t>
            </a:r>
            <a:endParaRPr lang="en-US" sz="800" dirty="0"/>
          </a:p>
        </p:txBody>
      </p:sp>
      <p:sp>
        <p:nvSpPr>
          <p:cNvPr id="10" name="Text 8"/>
          <p:cNvSpPr/>
          <p:nvPr/>
        </p:nvSpPr>
        <p:spPr>
          <a:xfrm>
            <a:off x="4994592"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7377995" y="3076360"/>
            <a:ext cx="598336" cy="0"/>
          </a:xfrm>
          <a:prstGeom prst="line">
            <a:avLst/>
          </a:prstGeom>
          <a:noFill/>
          <a:ln w="31750">
            <a:solidFill>
              <a:srgbClr val="55627E"/>
            </a:solidFill>
            <a:prstDash val="sysDot"/>
            <a:tailEnd type="triangle"/>
          </a:ln>
        </p:spPr>
      </p:sp>
      <p:sp>
        <p:nvSpPr>
          <p:cNvPr id="12" name="Text 10"/>
          <p:cNvSpPr/>
          <p:nvPr/>
        </p:nvSpPr>
        <p:spPr>
          <a:xfrm>
            <a:off x="7395528" y="28439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3" name="Text 11"/>
          <p:cNvSpPr/>
          <p:nvPr/>
        </p:nvSpPr>
        <p:spPr>
          <a:xfrm>
            <a:off x="7473411"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a:off x="9429432" y="3076360"/>
            <a:ext cx="427383" cy="0"/>
          </a:xfrm>
          <a:prstGeom prst="line">
            <a:avLst/>
          </a:prstGeom>
          <a:noFill/>
          <a:ln w="31750">
            <a:solidFill>
              <a:srgbClr val="55627E"/>
            </a:solidFill>
            <a:prstDash val="sysDot"/>
            <a:tailEnd type="triangle"/>
          </a:ln>
        </p:spPr>
      </p:sp>
      <p:sp>
        <p:nvSpPr>
          <p:cNvPr id="15" name="Text 13"/>
          <p:cNvSpPr/>
          <p:nvPr/>
        </p:nvSpPr>
        <p:spPr>
          <a:xfrm>
            <a:off x="9392578" y="2843983"/>
            <a:ext cx="501091"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INSERT</a:t>
            </a:r>
            <a:endParaRPr lang="en-US" sz="800" dirty="0"/>
          </a:p>
        </p:txBody>
      </p:sp>
      <p:sp>
        <p:nvSpPr>
          <p:cNvPr id="16" name="Text 14"/>
          <p:cNvSpPr/>
          <p:nvPr/>
        </p:nvSpPr>
        <p:spPr>
          <a:xfrm>
            <a:off x="9524848" y="296663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7" name="Shape 15"/>
          <p:cNvSpPr/>
          <p:nvPr/>
        </p:nvSpPr>
        <p:spPr>
          <a:xfrm flipH="1">
            <a:off x="2591310" y="3178931"/>
            <a:ext cx="598336" cy="0"/>
          </a:xfrm>
          <a:prstGeom prst="line">
            <a:avLst/>
          </a:prstGeom>
          <a:noFill/>
          <a:ln w="35560">
            <a:solidFill>
              <a:srgbClr val="2BA6CB"/>
            </a:solidFill>
            <a:prstDash val="solid"/>
            <a:tailEnd type="arrow"/>
          </a:ln>
        </p:spPr>
      </p:sp>
      <p:sp>
        <p:nvSpPr>
          <p:cNvPr id="18" name="Text 16"/>
          <p:cNvSpPr/>
          <p:nvPr/>
        </p:nvSpPr>
        <p:spPr>
          <a:xfrm>
            <a:off x="2733201" y="3185889"/>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201</a:t>
            </a:r>
            <a:endParaRPr lang="en-US" sz="800" dirty="0"/>
          </a:p>
        </p:txBody>
      </p:sp>
      <p:sp>
        <p:nvSpPr>
          <p:cNvPr id="19" name="Text 17"/>
          <p:cNvSpPr/>
          <p:nvPr/>
        </p:nvSpPr>
        <p:spPr>
          <a:xfrm>
            <a:off x="2874774" y="306920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6437754" y="3401170"/>
            <a:ext cx="0" cy="888956"/>
          </a:xfrm>
          <a:prstGeom prst="line">
            <a:avLst/>
          </a:prstGeom>
          <a:noFill/>
          <a:ln w="44450">
            <a:solidFill>
              <a:srgbClr val="2BA6CB"/>
            </a:solidFill>
            <a:prstDash val="sysDash"/>
            <a:tailEnd type="triangle"/>
          </a:ln>
        </p:spPr>
      </p:sp>
      <p:sp>
        <p:nvSpPr>
          <p:cNvPr id="21" name="Text 19"/>
          <p:cNvSpPr/>
          <p:nvPr/>
        </p:nvSpPr>
        <p:spPr>
          <a:xfrm>
            <a:off x="6523230" y="3724391"/>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ya existe</a:t>
            </a:r>
            <a:endParaRPr lang="en-US" sz="800" dirty="0"/>
          </a:p>
        </p:txBody>
      </p:sp>
      <p:sp>
        <p:nvSpPr>
          <p:cNvPr id="22" name="Text 20"/>
          <p:cNvSpPr/>
          <p:nvPr/>
        </p:nvSpPr>
        <p:spPr>
          <a:xfrm>
            <a:off x="6328026" y="349658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3" name="Shape 21"/>
          <p:cNvSpPr/>
          <p:nvPr/>
        </p:nvSpPr>
        <p:spPr>
          <a:xfrm flipH="1">
            <a:off x="1907498" y="4614937"/>
            <a:ext cx="3590014" cy="0"/>
          </a:xfrm>
          <a:prstGeom prst="line">
            <a:avLst/>
          </a:prstGeom>
          <a:noFill/>
          <a:ln w="44450">
            <a:solidFill>
              <a:srgbClr val="2BA6CB"/>
            </a:solidFill>
            <a:prstDash val="sysDash"/>
          </a:ln>
        </p:spPr>
      </p:sp>
      <p:sp>
        <p:nvSpPr>
          <p:cNvPr id="24" name="Shape 22"/>
          <p:cNvSpPr/>
          <p:nvPr/>
        </p:nvSpPr>
        <p:spPr>
          <a:xfrm flipV="1">
            <a:off x="1907498" y="3401170"/>
            <a:ext cx="0" cy="1213767"/>
          </a:xfrm>
          <a:prstGeom prst="line">
            <a:avLst/>
          </a:prstGeom>
          <a:noFill/>
          <a:ln w="44450">
            <a:solidFill>
              <a:srgbClr val="2BA6CB"/>
            </a:solidFill>
            <a:prstDash val="sysDash"/>
            <a:tailEnd type="triangle"/>
          </a:ln>
        </p:spPr>
      </p:sp>
      <p:sp>
        <p:nvSpPr>
          <p:cNvPr id="25" name="Text 23"/>
          <p:cNvSpPr/>
          <p:nvPr/>
        </p:nvSpPr>
        <p:spPr>
          <a:xfrm>
            <a:off x="3234332" y="4621894"/>
            <a:ext cx="936346"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409 + mensaje</a:t>
            </a:r>
            <a:endParaRPr lang="en-US" sz="800" dirty="0"/>
          </a:p>
        </p:txBody>
      </p:sp>
      <p:sp>
        <p:nvSpPr>
          <p:cNvPr id="26" name="Text 24"/>
          <p:cNvSpPr/>
          <p:nvPr/>
        </p:nvSpPr>
        <p:spPr>
          <a:xfrm>
            <a:off x="5182640" y="450520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7" name="Text 25"/>
          <p:cNvSpPr/>
          <p:nvPr/>
        </p:nvSpPr>
        <p:spPr>
          <a:xfrm>
            <a:off x="1223686" y="2751549"/>
            <a:ext cx="1367624"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 /api/solicitudes</a:t>
            </a:r>
            <a:endParaRPr lang="en-US" sz="1000" dirty="0"/>
          </a:p>
        </p:txBody>
      </p:sp>
      <p:sp>
        <p:nvSpPr>
          <p:cNvPr id="28" name="Text 26"/>
          <p:cNvSpPr/>
          <p:nvPr/>
        </p:nvSpPr>
        <p:spPr>
          <a:xfrm>
            <a:off x="3189646" y="2751549"/>
            <a:ext cx="1709530"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 201</a:t>
            </a:r>
            <a:endParaRPr lang="en-US" sz="1000" dirty="0"/>
          </a:p>
        </p:txBody>
      </p:sp>
      <p:sp>
        <p:nvSpPr>
          <p:cNvPr id="29" name="Text 27"/>
          <p:cNvSpPr/>
          <p:nvPr/>
        </p:nvSpPr>
        <p:spPr>
          <a:xfrm>
            <a:off x="5497512" y="2751549"/>
            <a:ext cx="1880483"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crear(id, tipo)</a:t>
            </a:r>
            <a:endParaRPr lang="en-US" sz="1000" dirty="0"/>
          </a:p>
        </p:txBody>
      </p:sp>
      <p:sp>
        <p:nvSpPr>
          <p:cNvPr id="30" name="Text 28"/>
          <p:cNvSpPr/>
          <p:nvPr/>
        </p:nvSpPr>
        <p:spPr>
          <a:xfrm>
            <a:off x="7976331" y="2751549"/>
            <a:ext cx="1453101" cy="649622"/>
          </a:xfrm>
          <a:prstGeom prst="roundRect">
            <a:avLst>
              <a:gd name="adj" fmla="val 1407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RepositorioJpa</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adaptador</a:t>
            </a:r>
            <a:endParaRPr lang="en-US" sz="1000" dirty="0"/>
          </a:p>
        </p:txBody>
      </p:sp>
      <p:sp>
        <p:nvSpPr>
          <p:cNvPr id="31" name="Text 29"/>
          <p:cNvSpPr/>
          <p:nvPr/>
        </p:nvSpPr>
        <p:spPr>
          <a:xfrm>
            <a:off x="9856815" y="2751549"/>
            <a:ext cx="1196671" cy="649622"/>
          </a:xfrm>
          <a:prstGeom prst="roundRect">
            <a:avLst>
              <a:gd name="adj" fmla="val 1407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PostgreSQL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tabla solicitud</a:t>
            </a:r>
            <a:endParaRPr lang="en-US" sz="1000" dirty="0"/>
          </a:p>
        </p:txBody>
      </p:sp>
      <p:sp>
        <p:nvSpPr>
          <p:cNvPr id="32" name="Text 30"/>
          <p:cNvSpPr/>
          <p:nvPr/>
        </p:nvSpPr>
        <p:spPr>
          <a:xfrm>
            <a:off x="5497512" y="4290126"/>
            <a:ext cx="1880483" cy="649622"/>
          </a:xfrm>
          <a:prstGeom prst="roundRect">
            <a:avLst>
              <a:gd name="adj" fmla="val 1407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ManejadorGlobalDeErrores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404 · 409 · 400</a:t>
            </a:r>
            <a:endParaRPr lang="en-US" sz="10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API responde 201 Created con la solicitud en BORRADOR.</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el id ya existe, el manejador global de errores responde 409 con un mensaje claro.</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regla vive en el dominio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La regla del negocio está en un solo lugar.</a:t>
            </a:r>
            <a:endParaRPr lang="en-US" sz="3200" dirty="0"/>
          </a:p>
        </p:txBody>
      </p:sp>
      <p:sp>
        <p:nvSpPr>
          <p:cNvPr id="6" name="Shape 4"/>
          <p:cNvSpPr/>
          <p:nvPr/>
        </p:nvSpPr>
        <p:spPr>
          <a:xfrm>
            <a:off x="6281928" y="1417320"/>
            <a:ext cx="5297119" cy="994410"/>
          </a:xfrm>
          <a:prstGeom prst="roundRect">
            <a:avLst>
              <a:gd name="adj" fmla="val 11034"/>
            </a:avLst>
          </a:prstGeom>
          <a:solidFill>
            <a:srgbClr val="FFFFFF"/>
          </a:solidFill>
          <a:ln w="15875">
            <a:solidFill>
              <a:srgbClr val="DFE6F0"/>
            </a:solidFill>
            <a:prstDash val="solid"/>
          </a:ln>
        </p:spPr>
      </p:sp>
      <p:sp>
        <p:nvSpPr>
          <p:cNvPr id="7" name="Text 5"/>
          <p:cNvSpPr/>
          <p:nvPr/>
        </p:nvSpPr>
        <p:spPr>
          <a:xfrm>
            <a:off x="6464808" y="1685925"/>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solicitud es un record: datos que no cambian</a:t>
            </a:r>
            <a:endParaRPr lang="en-US" sz="1600" dirty="0"/>
          </a:p>
        </p:txBody>
      </p:sp>
      <p:sp>
        <p:nvSpPr>
          <p:cNvPr id="9" name="Shape 7"/>
          <p:cNvSpPr/>
          <p:nvPr/>
        </p:nvSpPr>
        <p:spPr>
          <a:xfrm>
            <a:off x="6281928" y="2558034"/>
            <a:ext cx="5297119" cy="994410"/>
          </a:xfrm>
          <a:prstGeom prst="roundRect">
            <a:avLst>
              <a:gd name="adj" fmla="val 11034"/>
            </a:avLst>
          </a:prstGeom>
          <a:solidFill>
            <a:srgbClr val="E3F4FA"/>
          </a:solidFill>
          <a:ln w="15875">
            <a:solidFill>
              <a:srgbClr val="2BA6CB"/>
            </a:solidFill>
            <a:prstDash val="solid"/>
          </a:ln>
        </p:spPr>
      </p:sp>
      <p:sp>
        <p:nvSpPr>
          <p:cNvPr id="10" name="Text 8"/>
          <p:cNvSpPr/>
          <p:nvPr/>
        </p:nvSpPr>
        <p:spPr>
          <a:xfrm>
            <a:off x="6464808" y="2826639"/>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558034"/>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Solo se envía si está en BORRADOR</a:t>
            </a:r>
            <a:endParaRPr lang="en-US" sz="1600" dirty="0"/>
          </a:p>
        </p:txBody>
      </p:sp>
      <p:sp>
        <p:nvSpPr>
          <p:cNvPr id="12" name="Shape 10"/>
          <p:cNvSpPr/>
          <p:nvPr/>
        </p:nvSpPr>
        <p:spPr>
          <a:xfrm>
            <a:off x="6281928" y="3698748"/>
            <a:ext cx="5297119" cy="994410"/>
          </a:xfrm>
          <a:prstGeom prst="roundRect">
            <a:avLst>
              <a:gd name="adj" fmla="val 11034"/>
            </a:avLst>
          </a:prstGeom>
          <a:solidFill>
            <a:srgbClr val="FFFFFF"/>
          </a:solidFill>
          <a:ln w="15875">
            <a:solidFill>
              <a:srgbClr val="DFE6F0"/>
            </a:solidFill>
            <a:prstDash val="solid"/>
          </a:ln>
        </p:spPr>
      </p:sp>
      <p:sp>
        <p:nvSpPr>
          <p:cNvPr id="13" name="Text 11"/>
          <p:cNvSpPr/>
          <p:nvPr/>
        </p:nvSpPr>
        <p:spPr>
          <a:xfrm>
            <a:off x="6464808" y="3967353"/>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698748"/>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 no, lanza una excepción del dominio</a:t>
            </a:r>
            <a:endParaRPr lang="en-US" sz="1600" dirty="0"/>
          </a:p>
        </p:txBody>
      </p:sp>
      <p:sp>
        <p:nvSpPr>
          <p:cNvPr id="15" name="Shape 13"/>
          <p:cNvSpPr/>
          <p:nvPr/>
        </p:nvSpPr>
        <p:spPr>
          <a:xfrm>
            <a:off x="6281928" y="4839462"/>
            <a:ext cx="5297119" cy="994410"/>
          </a:xfrm>
          <a:prstGeom prst="roundRect">
            <a:avLst>
              <a:gd name="adj" fmla="val 11034"/>
            </a:avLst>
          </a:prstGeom>
          <a:solidFill>
            <a:srgbClr val="FFFFFF"/>
          </a:solidFill>
          <a:ln w="15875">
            <a:solidFill>
              <a:srgbClr val="DFE6F0"/>
            </a:solidFill>
            <a:prstDash val="solid"/>
          </a:ln>
        </p:spPr>
      </p:sp>
      <p:sp>
        <p:nvSpPr>
          <p:cNvPr id="16" name="Text 14"/>
          <p:cNvSpPr/>
          <p:nvPr/>
        </p:nvSpPr>
        <p:spPr>
          <a:xfrm>
            <a:off x="6464808" y="5108067"/>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839462"/>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sabe nada de HTTP ni de bases de datos</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 mañana cambia la regla, se cambia en un solo archivo y las pruebas lo confirman.</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Manejo global de errores</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solo lugar convierte los errores en respuestas claras.</a:t>
            </a:r>
            <a:endParaRPr lang="en-US" sz="3200" dirty="0"/>
          </a:p>
        </p:txBody>
      </p:sp>
      <p:sp>
        <p:nvSpPr>
          <p:cNvPr id="6" name="Shape 4"/>
          <p:cNvSpPr/>
          <p:nvPr/>
        </p:nvSpPr>
        <p:spPr>
          <a:xfrm>
            <a:off x="6281928" y="1417320"/>
            <a:ext cx="5297119" cy="994410"/>
          </a:xfrm>
          <a:prstGeom prst="roundRect">
            <a:avLst>
              <a:gd name="adj" fmla="val 11034"/>
            </a:avLst>
          </a:prstGeom>
          <a:solidFill>
            <a:srgbClr val="FFFFFF"/>
          </a:solidFill>
          <a:ln w="15875">
            <a:solidFill>
              <a:srgbClr val="DFE6F0"/>
            </a:solidFill>
            <a:prstDash val="solid"/>
          </a:ln>
        </p:spPr>
      </p:sp>
      <p:sp>
        <p:nvSpPr>
          <p:cNvPr id="7" name="Text 5"/>
          <p:cNvSpPr/>
          <p:nvPr/>
        </p:nvSpPr>
        <p:spPr>
          <a:xfrm>
            <a:off x="6464808" y="1685925"/>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404: la solicitud no existe</a:t>
            </a:r>
            <a:endParaRPr lang="en-US" sz="1600" dirty="0"/>
          </a:p>
        </p:txBody>
      </p:sp>
      <p:sp>
        <p:nvSpPr>
          <p:cNvPr id="9" name="Shape 7"/>
          <p:cNvSpPr/>
          <p:nvPr/>
        </p:nvSpPr>
        <p:spPr>
          <a:xfrm>
            <a:off x="6281928" y="2558034"/>
            <a:ext cx="5297119" cy="994410"/>
          </a:xfrm>
          <a:prstGeom prst="roundRect">
            <a:avLst>
              <a:gd name="adj" fmla="val 11034"/>
            </a:avLst>
          </a:prstGeom>
          <a:solidFill>
            <a:srgbClr val="E3F4FA"/>
          </a:solidFill>
          <a:ln w="15875">
            <a:solidFill>
              <a:srgbClr val="2BA6CB"/>
            </a:solidFill>
            <a:prstDash val="solid"/>
          </a:ln>
        </p:spPr>
      </p:sp>
      <p:sp>
        <p:nvSpPr>
          <p:cNvPr id="10" name="Text 8"/>
          <p:cNvSpPr/>
          <p:nvPr/>
        </p:nvSpPr>
        <p:spPr>
          <a:xfrm>
            <a:off x="6464808" y="2826639"/>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558034"/>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409: el identificador ya existe o el cambio no se permite</a:t>
            </a:r>
            <a:endParaRPr lang="en-US" sz="1600" dirty="0"/>
          </a:p>
        </p:txBody>
      </p:sp>
      <p:sp>
        <p:nvSpPr>
          <p:cNvPr id="12" name="Shape 10"/>
          <p:cNvSpPr/>
          <p:nvPr/>
        </p:nvSpPr>
        <p:spPr>
          <a:xfrm>
            <a:off x="6281928" y="3698748"/>
            <a:ext cx="5297119" cy="994410"/>
          </a:xfrm>
          <a:prstGeom prst="roundRect">
            <a:avLst>
              <a:gd name="adj" fmla="val 11034"/>
            </a:avLst>
          </a:prstGeom>
          <a:solidFill>
            <a:srgbClr val="FFFFFF"/>
          </a:solidFill>
          <a:ln w="15875">
            <a:solidFill>
              <a:srgbClr val="DFE6F0"/>
            </a:solidFill>
            <a:prstDash val="solid"/>
          </a:ln>
        </p:spPr>
      </p:sp>
      <p:sp>
        <p:nvSpPr>
          <p:cNvPr id="13" name="Text 11"/>
          <p:cNvSpPr/>
          <p:nvPr/>
        </p:nvSpPr>
        <p:spPr>
          <a:xfrm>
            <a:off x="6464808" y="3967353"/>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698748"/>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400: faltan datos</a:t>
            </a:r>
            <a:endParaRPr lang="en-US" sz="1600" dirty="0"/>
          </a:p>
        </p:txBody>
      </p:sp>
      <p:sp>
        <p:nvSpPr>
          <p:cNvPr id="15" name="Shape 13"/>
          <p:cNvSpPr/>
          <p:nvPr/>
        </p:nvSpPr>
        <p:spPr>
          <a:xfrm>
            <a:off x="6281928" y="4839462"/>
            <a:ext cx="5297119" cy="994410"/>
          </a:xfrm>
          <a:prstGeom prst="roundRect">
            <a:avLst>
              <a:gd name="adj" fmla="val 11034"/>
            </a:avLst>
          </a:prstGeom>
          <a:solidFill>
            <a:srgbClr val="FFFFFF"/>
          </a:solidFill>
          <a:ln w="15875">
            <a:solidFill>
              <a:srgbClr val="DFE6F0"/>
            </a:solidFill>
            <a:prstDash val="solid"/>
          </a:ln>
        </p:spPr>
      </p:sp>
      <p:sp>
        <p:nvSpPr>
          <p:cNvPr id="16" name="Text 14"/>
          <p:cNvSpPr/>
          <p:nvPr/>
        </p:nvSpPr>
        <p:spPr>
          <a:xfrm>
            <a:off x="6464808" y="5108067"/>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839462"/>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Siempre la misma forma: estado y mensaje</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La interfaz puede mostrarle a la persona exactamente qué pasó.</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Documentar con Swagger</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publica su contrato con OpenAPI</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Swagger lo muestra como una página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puede probar cada endpoint desde ahí</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agregamos un endpoint, aparece solo</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693502"/>
                <a:gridCol w="8272898"/>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Swagger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http://localhost:8080/swagger-ui/index.html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http://localhost:8081/swagger-ui/index.html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Pruebas unitarias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reglas se prueban sin levantar Spring</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Los controladores se prueban con MockMvc</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Un repositorio en memoria reemplaza a PostgreSQL</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pipeline corre todas las pruebas en cada cambio</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4112400"/>
                <a:gridCol w="6854000"/>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Prueba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Qué comprueba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cambios de estado permitidos y prohibidos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ServicioSolicitudesUnitTest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Crear, enviar y registrar el evento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SolicitudControllerWebTest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El JSON y los códigos 201, 404, 409 y 400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Pruebas de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evento repetido genera un solo aviso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2 · CONSTRUIR UN SERVICIO</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Git y commits con sentido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Cada cambio cuenta qué hizo y por qué.</a:t>
            </a:r>
            <a:endParaRPr lang="en-US" sz="3200" dirty="0"/>
          </a:p>
        </p:txBody>
      </p:sp>
      <p:sp>
        <p:nvSpPr>
          <p:cNvPr id="6" name="Shape 4"/>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7" name="Text 5"/>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Una rama corta por tarea: feat/, fix/, docs/</a:t>
            </a:r>
            <a:endParaRPr lang="en-US" sz="1600" dirty="0"/>
          </a:p>
        </p:txBody>
      </p:sp>
      <p:sp>
        <p:nvSpPr>
          <p:cNvPr id="9" name="Shape 7"/>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0" name="Text 8"/>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Commits en español: “feat: crear solicitud por post”</a:t>
            </a:r>
            <a:endParaRPr lang="en-US" sz="1600" dirty="0"/>
          </a:p>
        </p:txBody>
      </p:sp>
      <p:sp>
        <p:nvSpPr>
          <p:cNvPr id="12" name="Shape 10"/>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3" name="Text 11"/>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Todo entra por Pull Request con una aprobación</a:t>
            </a:r>
            <a:endParaRPr lang="en-US" sz="1600" dirty="0"/>
          </a:p>
        </p:txBody>
      </p:sp>
      <p:sp>
        <p:nvSpPr>
          <p:cNvPr id="15" name="Shape 13"/>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Nadie sube cambios directo a main</a:t>
            </a:r>
            <a:endParaRPr lang="en-US" sz="1600" dirty="0"/>
          </a:p>
        </p:txBody>
      </p:sp>
      <p:sp>
        <p:nvSpPr>
          <p:cNvPr id="18" name="Text 1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2 · CONSTRUIR UN SERVICIO</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3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03</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Diseñar para cambiar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organizamos el código para cambiar una tecnología sin tocar el negocio.</a:t>
            </a:r>
            <a:endParaRPr lang="en-US" sz="1900" dirty="0"/>
          </a:p>
        </p:txBody>
      </p:sp>
      <p:sp>
        <p:nvSpPr>
          <p:cNvPr id="6" name="Text 4"/>
          <p:cNvSpPr/>
          <p:nvPr/>
        </p:nvSpPr>
        <p:spPr>
          <a:xfrm>
            <a:off x="758952" y="4617720"/>
            <a:ext cx="247345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Puertos y adaptadores</a:t>
            </a:r>
            <a:endParaRPr lang="en-US" sz="1300" dirty="0"/>
          </a:p>
        </p:txBody>
      </p:sp>
      <p:sp>
        <p:nvSpPr>
          <p:cNvPr id="7" name="Text 5"/>
          <p:cNvSpPr/>
          <p:nvPr/>
        </p:nvSpPr>
        <p:spPr>
          <a:xfrm>
            <a:off x="3360420" y="461772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Estructura base de ARKA-Lite</a:t>
            </a:r>
            <a:endParaRPr lang="en-US" sz="1300" dirty="0"/>
          </a:p>
        </p:txBody>
      </p:sp>
      <p:sp>
        <p:nvSpPr>
          <p:cNvPr id="8" name="Text 6"/>
          <p:cNvSpPr/>
          <p:nvPr/>
        </p:nvSpPr>
        <p:spPr>
          <a:xfrm>
            <a:off x="6633972" y="4617720"/>
            <a:ext cx="3145536"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 monolito a microservicios</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P3</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3 · Desarrollo</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Entrada: traduce HTTP</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Dominio: las reglas, sin Spring</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Puertos: lo que el negocio necesita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Salida: PostgreSQL y HTTP</a:t>
            </a:r>
            <a:endParaRPr lang="en-US" sz="1100" dirty="0"/>
          </a:p>
        </p:txBody>
      </p:sp>
      <p:sp>
        <p:nvSpPr>
          <p:cNvPr id="9" name="Shape 7"/>
          <p:cNvSpPr/>
          <p:nvPr/>
        </p:nvSpPr>
        <p:spPr>
          <a:xfrm>
            <a:off x="934242" y="2008022"/>
            <a:ext cx="2688336" cy="4122115"/>
          </a:xfrm>
          <a:prstGeom prst="roundRect">
            <a:avLst>
              <a:gd name="adj" fmla="val 4082"/>
            </a:avLst>
          </a:prstGeom>
          <a:solidFill>
            <a:srgbClr val="F4F7FB"/>
          </a:solidFill>
          <a:ln w="12700">
            <a:solidFill>
              <a:srgbClr val="DFE6F0"/>
            </a:solidFill>
            <a:prstDash val="solid"/>
          </a:ln>
        </p:spPr>
      </p:sp>
      <p:sp>
        <p:nvSpPr>
          <p:cNvPr id="10" name="Text 8"/>
          <p:cNvSpPr/>
          <p:nvPr/>
        </p:nvSpPr>
        <p:spPr>
          <a:xfrm>
            <a:off x="1041776" y="2061789"/>
            <a:ext cx="250545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11" name="Shape 9"/>
          <p:cNvSpPr/>
          <p:nvPr/>
        </p:nvSpPr>
        <p:spPr>
          <a:xfrm>
            <a:off x="3981023" y="2008022"/>
            <a:ext cx="3942893" cy="4122115"/>
          </a:xfrm>
          <a:prstGeom prst="roundRect">
            <a:avLst>
              <a:gd name="adj" fmla="val 2783"/>
            </a:avLst>
          </a:prstGeom>
          <a:solidFill>
            <a:srgbClr val="F4F7FB"/>
          </a:solidFill>
          <a:ln w="12700">
            <a:solidFill>
              <a:srgbClr val="DFE6F0"/>
            </a:solidFill>
            <a:prstDash val="solid"/>
          </a:ln>
        </p:spPr>
      </p:sp>
      <p:sp>
        <p:nvSpPr>
          <p:cNvPr id="12" name="Text 10"/>
          <p:cNvSpPr/>
          <p:nvPr/>
        </p:nvSpPr>
        <p:spPr>
          <a:xfrm>
            <a:off x="4088557" y="2061789"/>
            <a:ext cx="376001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13" name="Shape 11"/>
          <p:cNvSpPr/>
          <p:nvPr/>
        </p:nvSpPr>
        <p:spPr>
          <a:xfrm>
            <a:off x="8282361" y="2008022"/>
            <a:ext cx="2975092" cy="4122115"/>
          </a:xfrm>
          <a:prstGeom prst="roundRect">
            <a:avLst>
              <a:gd name="adj" fmla="val 3688"/>
            </a:avLst>
          </a:prstGeom>
          <a:solidFill>
            <a:srgbClr val="F4F7FB"/>
          </a:solidFill>
          <a:ln w="12700">
            <a:solidFill>
              <a:srgbClr val="DFE6F0"/>
            </a:solidFill>
            <a:prstDash val="solid"/>
          </a:ln>
        </p:spPr>
      </p:sp>
      <p:sp>
        <p:nvSpPr>
          <p:cNvPr id="14" name="Text 12"/>
          <p:cNvSpPr/>
          <p:nvPr/>
        </p:nvSpPr>
        <p:spPr>
          <a:xfrm>
            <a:off x="8389894" y="2061789"/>
            <a:ext cx="279221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5" name="Shape 13"/>
          <p:cNvSpPr/>
          <p:nvPr/>
        </p:nvSpPr>
        <p:spPr>
          <a:xfrm>
            <a:off x="3335823" y="2832445"/>
            <a:ext cx="1003645" cy="0"/>
          </a:xfrm>
          <a:prstGeom prst="line">
            <a:avLst/>
          </a:prstGeom>
          <a:noFill/>
          <a:ln w="31750">
            <a:solidFill>
              <a:srgbClr val="55627E"/>
            </a:solidFill>
            <a:prstDash val="sysDot"/>
            <a:tailEnd type="triangle"/>
          </a:ln>
        </p:spPr>
      </p:sp>
      <p:sp>
        <p:nvSpPr>
          <p:cNvPr id="16" name="Text 14"/>
          <p:cNvSpPr/>
          <p:nvPr/>
        </p:nvSpPr>
        <p:spPr>
          <a:xfrm>
            <a:off x="3608474" y="259634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3441162" y="27227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8" name="Shape 16"/>
          <p:cNvSpPr/>
          <p:nvPr/>
        </p:nvSpPr>
        <p:spPr>
          <a:xfrm>
            <a:off x="5092202" y="3119201"/>
            <a:ext cx="0" cy="501823"/>
          </a:xfrm>
          <a:prstGeom prst="line">
            <a:avLst/>
          </a:prstGeom>
          <a:noFill/>
          <a:ln w="31750">
            <a:solidFill>
              <a:srgbClr val="55627E"/>
            </a:solidFill>
            <a:prstDash val="sysDot"/>
            <a:tailEnd type="triangle"/>
          </a:ln>
        </p:spPr>
      </p:sp>
      <p:sp>
        <p:nvSpPr>
          <p:cNvPr id="19" name="Text 17"/>
          <p:cNvSpPr/>
          <p:nvPr/>
        </p:nvSpPr>
        <p:spPr>
          <a:xfrm>
            <a:off x="4982474" y="322454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a:off x="6812737" y="3119201"/>
            <a:ext cx="0" cy="501823"/>
          </a:xfrm>
          <a:prstGeom prst="line">
            <a:avLst/>
          </a:prstGeom>
          <a:noFill/>
          <a:ln w="22860">
            <a:solidFill>
              <a:srgbClr val="1F4E8C"/>
            </a:solidFill>
            <a:prstDash val="lgDash"/>
            <a:tailEnd type="arrow"/>
          </a:ln>
        </p:spPr>
      </p:sp>
      <p:sp>
        <p:nvSpPr>
          <p:cNvPr id="21" name="Text 19"/>
          <p:cNvSpPr/>
          <p:nvPr/>
        </p:nvSpPr>
        <p:spPr>
          <a:xfrm>
            <a:off x="6902348" y="3250509"/>
            <a:ext cx="326212" cy="192024"/>
          </a:xfrm>
          <a:prstGeom prst="rect">
            <a:avLst/>
          </a:prstGeom>
          <a:noFill/>
          <a:ln/>
        </p:spPr>
        <p:txBody>
          <a:bodyPr wrap="square" lIns="0" tIns="0" rIns="0" bIns="0" rtlCol="0" anchor="ctr"/>
          <a:lstStyle/>
          <a:p>
            <a:pPr algn="l"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22" name="Text 20"/>
          <p:cNvSpPr/>
          <p:nvPr/>
        </p:nvSpPr>
        <p:spPr>
          <a:xfrm>
            <a:off x="6703009" y="322454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3" name="Shape 21"/>
          <p:cNvSpPr/>
          <p:nvPr/>
        </p:nvSpPr>
        <p:spPr>
          <a:xfrm>
            <a:off x="7565471" y="2832445"/>
            <a:ext cx="1003645" cy="0"/>
          </a:xfrm>
          <a:prstGeom prst="line">
            <a:avLst/>
          </a:prstGeom>
          <a:noFill/>
          <a:ln w="31750">
            <a:solidFill>
              <a:srgbClr val="55627E"/>
            </a:solidFill>
            <a:prstDash val="sysDot"/>
            <a:tailEnd type="triangle"/>
          </a:ln>
        </p:spPr>
      </p:sp>
      <p:sp>
        <p:nvSpPr>
          <p:cNvPr id="24" name="Text 22"/>
          <p:cNvSpPr/>
          <p:nvPr/>
        </p:nvSpPr>
        <p:spPr>
          <a:xfrm>
            <a:off x="7772057" y="2596347"/>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25" name="Text 23"/>
          <p:cNvSpPr/>
          <p:nvPr/>
        </p:nvSpPr>
        <p:spPr>
          <a:xfrm>
            <a:off x="7670810" y="27227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6" name="Shape 24"/>
          <p:cNvSpPr/>
          <p:nvPr/>
        </p:nvSpPr>
        <p:spPr>
          <a:xfrm flipH="1">
            <a:off x="7565471" y="3907780"/>
            <a:ext cx="1003645" cy="0"/>
          </a:xfrm>
          <a:prstGeom prst="line">
            <a:avLst/>
          </a:prstGeom>
          <a:noFill/>
          <a:ln w="22860">
            <a:solidFill>
              <a:srgbClr val="1F4E8C"/>
            </a:solidFill>
            <a:prstDash val="lgDash"/>
            <a:tailEnd type="arrow"/>
          </a:ln>
        </p:spPr>
      </p:sp>
      <p:sp>
        <p:nvSpPr>
          <p:cNvPr id="27" name="Text 25"/>
          <p:cNvSpPr/>
          <p:nvPr/>
        </p:nvSpPr>
        <p:spPr>
          <a:xfrm>
            <a:off x="7672959" y="3671682"/>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8" name="Text 26"/>
          <p:cNvSpPr/>
          <p:nvPr/>
        </p:nvSpPr>
        <p:spPr>
          <a:xfrm>
            <a:off x="8244322" y="379805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9" name="Shape 27"/>
          <p:cNvSpPr/>
          <p:nvPr/>
        </p:nvSpPr>
        <p:spPr>
          <a:xfrm>
            <a:off x="9769907" y="4194536"/>
            <a:ext cx="0" cy="501823"/>
          </a:xfrm>
          <a:prstGeom prst="line">
            <a:avLst/>
          </a:prstGeom>
          <a:noFill/>
          <a:ln w="25400">
            <a:solidFill>
              <a:srgbClr val="55627E"/>
            </a:solidFill>
            <a:prstDash val="dash"/>
            <a:tailEnd type="triangle"/>
          </a:ln>
        </p:spPr>
      </p:sp>
      <p:sp>
        <p:nvSpPr>
          <p:cNvPr id="30" name="Text 28"/>
          <p:cNvSpPr/>
          <p:nvPr/>
        </p:nvSpPr>
        <p:spPr>
          <a:xfrm>
            <a:off x="9859518" y="4325844"/>
            <a:ext cx="1052932"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lee pendientes</a:t>
            </a:r>
            <a:endParaRPr lang="en-US" sz="850" dirty="0"/>
          </a:p>
        </p:txBody>
      </p:sp>
      <p:sp>
        <p:nvSpPr>
          <p:cNvPr id="31" name="Text 29"/>
          <p:cNvSpPr/>
          <p:nvPr/>
        </p:nvSpPr>
        <p:spPr>
          <a:xfrm>
            <a:off x="9660179" y="42998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2" name="Shape 30"/>
          <p:cNvSpPr/>
          <p:nvPr/>
        </p:nvSpPr>
        <p:spPr>
          <a:xfrm flipH="1">
            <a:off x="3335823" y="3907780"/>
            <a:ext cx="1003645" cy="0"/>
          </a:xfrm>
          <a:prstGeom prst="line">
            <a:avLst/>
          </a:prstGeom>
          <a:noFill/>
          <a:ln w="31750">
            <a:solidFill>
              <a:srgbClr val="AB243E"/>
            </a:solidFill>
            <a:prstDash val="sysDash"/>
            <a:tailEnd type="triangle"/>
          </a:ln>
        </p:spPr>
      </p:sp>
      <p:sp>
        <p:nvSpPr>
          <p:cNvPr id="33" name="Text 31"/>
          <p:cNvSpPr/>
          <p:nvPr/>
        </p:nvSpPr>
        <p:spPr>
          <a:xfrm>
            <a:off x="3476343" y="3671682"/>
            <a:ext cx="722605" cy="192024"/>
          </a:xfrm>
          <a:prstGeom prst="rect">
            <a:avLst/>
          </a:prstGeom>
          <a:noFill/>
          <a:ln/>
        </p:spPr>
        <p:txBody>
          <a:bodyPr wrap="square" lIns="0" tIns="0" rIns="0" bIns="0" rtlCol="0" anchor="ctr"/>
          <a:lstStyle/>
          <a:p>
            <a:pPr algn="ctr" indent="0" marL="0">
              <a:buNone/>
            </a:pPr>
            <a:r>
              <a:rPr lang="en-US" sz="850" b="1" dirty="0">
                <a:solidFill>
                  <a:srgbClr val="AB243E"/>
                </a:solidFill>
                <a:latin typeface="Segoe UI" pitchFamily="34" charset="0"/>
                <a:ea typeface="Segoe UI" pitchFamily="34" charset="-122"/>
                <a:cs typeface="Segoe UI" pitchFamily="34" charset="-120"/>
              </a:rPr>
              <a:t>excepción</a:t>
            </a:r>
            <a:endParaRPr lang="en-US" sz="850" dirty="0"/>
          </a:p>
        </p:txBody>
      </p:sp>
      <p:sp>
        <p:nvSpPr>
          <p:cNvPr id="34" name="Text 32"/>
          <p:cNvSpPr/>
          <p:nvPr/>
        </p:nvSpPr>
        <p:spPr>
          <a:xfrm>
            <a:off x="4014673" y="3798052"/>
            <a:ext cx="219456" cy="219456"/>
          </a:xfrm>
          <a:prstGeom prst="ellipse">
            <a:avLst/>
          </a:prstGeom>
          <a:solidFill>
            <a:srgbClr val="AB243E"/>
          </a:solidFill>
          <a:ln w="12700">
            <a:solidFill>
              <a:srgbClr val="AB243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5" name="Text 33"/>
          <p:cNvSpPr/>
          <p:nvPr/>
        </p:nvSpPr>
        <p:spPr>
          <a:xfrm>
            <a:off x="1220998" y="2545690"/>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SolicitudController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recibe las peticiones HTTP</a:t>
            </a:r>
            <a:endParaRPr lang="en-US" sz="1050" dirty="0"/>
          </a:p>
        </p:txBody>
      </p:sp>
      <p:sp>
        <p:nvSpPr>
          <p:cNvPr id="36" name="Text 34"/>
          <p:cNvSpPr/>
          <p:nvPr/>
        </p:nvSpPr>
        <p:spPr>
          <a:xfrm>
            <a:off x="1220998" y="3621024"/>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ManejadorGlobalDeErrores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responde 404 · 409 · 400</a:t>
            </a:r>
            <a:endParaRPr lang="en-US" sz="1050" dirty="0"/>
          </a:p>
        </p:txBody>
      </p:sp>
      <p:sp>
        <p:nvSpPr>
          <p:cNvPr id="37" name="Text 35"/>
          <p:cNvSpPr/>
          <p:nvPr/>
        </p:nvSpPr>
        <p:spPr>
          <a:xfrm>
            <a:off x="1220998" y="4696358"/>
            <a:ext cx="2114824"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EventoSalienteController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muestra los eventos</a:t>
            </a:r>
            <a:endParaRPr lang="en-US" sz="1050" dirty="0"/>
          </a:p>
        </p:txBody>
      </p:sp>
      <p:sp>
        <p:nvSpPr>
          <p:cNvPr id="38" name="Text 36"/>
          <p:cNvSpPr/>
          <p:nvPr/>
        </p:nvSpPr>
        <p:spPr>
          <a:xfrm>
            <a:off x="4339468" y="2545690"/>
            <a:ext cx="3226003"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crear · enviar · aprobar · rechazar</a:t>
            </a:r>
            <a:endParaRPr lang="en-US" sz="1050" dirty="0"/>
          </a:p>
        </p:txBody>
      </p:sp>
      <p:sp>
        <p:nvSpPr>
          <p:cNvPr id="39" name="Text 37"/>
          <p:cNvSpPr/>
          <p:nvPr/>
        </p:nvSpPr>
        <p:spPr>
          <a:xfrm>
            <a:off x="4339468" y="3621024"/>
            <a:ext cx="1505468"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reglas de estado</a:t>
            </a:r>
            <a:endParaRPr lang="en-US" sz="1050" dirty="0"/>
          </a:p>
        </p:txBody>
      </p:sp>
      <p:sp>
        <p:nvSpPr>
          <p:cNvPr id="40" name="Text 38"/>
          <p:cNvSpPr/>
          <p:nvPr/>
        </p:nvSpPr>
        <p:spPr>
          <a:xfrm>
            <a:off x="6060003" y="3621024"/>
            <a:ext cx="1505468" cy="573512"/>
          </a:xfrm>
          <a:prstGeom prst="roundRect">
            <a:avLst>
              <a:gd name="adj" fmla="val 1594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41" name="Text 39"/>
          <p:cNvSpPr/>
          <p:nvPr/>
        </p:nvSpPr>
        <p:spPr>
          <a:xfrm>
            <a:off x="8569117" y="2545690"/>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guarda en PostgreSQL</a:t>
            </a:r>
            <a:endParaRPr lang="en-US" sz="1050" dirty="0"/>
          </a:p>
        </p:txBody>
      </p:sp>
      <p:sp>
        <p:nvSpPr>
          <p:cNvPr id="42" name="Text 40"/>
          <p:cNvSpPr/>
          <p:nvPr/>
        </p:nvSpPr>
        <p:spPr>
          <a:xfrm>
            <a:off x="8569117" y="3621024"/>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RegistradorDeEventosJpa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anota el evento pendiente</a:t>
            </a:r>
            <a:endParaRPr lang="en-US" sz="1050" dirty="0"/>
          </a:p>
        </p:txBody>
      </p:sp>
      <p:sp>
        <p:nvSpPr>
          <p:cNvPr id="43" name="Text 41"/>
          <p:cNvSpPr/>
          <p:nvPr/>
        </p:nvSpPr>
        <p:spPr>
          <a:xfrm>
            <a:off x="8569117" y="4696358"/>
            <a:ext cx="2401580" cy="573512"/>
          </a:xfrm>
          <a:prstGeom prst="roundRect">
            <a:avLst>
              <a:gd name="adj" fmla="val 1594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Relevador y Publicador</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entregan a notificaciones</a:t>
            </a:r>
            <a:endParaRPr lang="en-US" sz="10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E3F4FA"/>
          </a:solidFill>
          <a:ln w="12700">
            <a:solidFill>
              <a:srgbClr val="2BA6CB"/>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E3F4FA"/>
          </a:solidFill>
          <a:ln w="12700">
            <a:solidFill>
              <a:srgbClr val="2BA6CB"/>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44450">
            <a:solidFill>
              <a:srgbClr val="2BA6CB"/>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44450">
            <a:solidFill>
              <a:srgbClr val="2BA6CB"/>
            </a:solidFill>
            <a:prstDash val="sysDot"/>
            <a:tailEnd type="triangle"/>
          </a:ln>
        </p:spPr>
      </p:sp>
      <p:sp>
        <p:nvSpPr>
          <p:cNvPr id="15" name="Text 13"/>
          <p:cNvSpPr/>
          <p:nvPr/>
        </p:nvSpPr>
        <p:spPr>
          <a:xfrm>
            <a:off x="5105370" y="2509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C7D2E2"/>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C7D2E2"/>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C7D2E2"/>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C7D2E2"/>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C7D2E2"/>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55627E"/>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2" name="Text 40"/>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peticiones entran por el controlador, que solo traduce HTTP.</a:t>
            </a:r>
            <a:endParaRPr lang="en-US" sz="1300" dirty="0"/>
          </a:p>
        </p:txBody>
      </p:sp>
      <p:sp>
        <p:nvSpPr>
          <p:cNvPr id="43" name="Shape 41"/>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5" name="Text 43"/>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decide qué hacer: crear, enviar, aprobar o rechazar.</a:t>
            </a:r>
            <a:endParaRPr lang="en-US" sz="1300" dirty="0"/>
          </a:p>
        </p:txBody>
      </p:sp>
      <p:sp>
        <p:nvSpPr>
          <p:cNvPr id="46" name="Shape 44"/>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8" name="Text 46"/>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reglas de estado viven en el record Solicitud.</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E3F4FA"/>
          </a:solidFill>
          <a:ln w="12700">
            <a:solidFill>
              <a:srgbClr val="2BA6CB"/>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55627E"/>
            </a:solidFill>
            <a:prstDash val="sysDot"/>
            <a:tailEnd type="triangle"/>
          </a:ln>
        </p:spPr>
      </p:sp>
      <p:sp>
        <p:nvSpPr>
          <p:cNvPr id="15" name="Text 13"/>
          <p:cNvSpPr/>
          <p:nvPr/>
        </p:nvSpPr>
        <p:spPr>
          <a:xfrm>
            <a:off x="5105370" y="2509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35560">
            <a:solidFill>
              <a:srgbClr val="2BA6CB"/>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44450">
            <a:solidFill>
              <a:srgbClr val="2BA6CB"/>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35560">
            <a:solidFill>
              <a:srgbClr val="2BA6CB"/>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25400">
            <a:solidFill>
              <a:srgbClr val="C7D2E2"/>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31750">
            <a:solidFill>
              <a:srgbClr val="C7D2E2"/>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dominio pide lo que necesita a través de puertos: interfaces sin tecnología.</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Los adaptadores de salida implementan esos puertos con PostgreSQL y HTTP.</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Por dentro de servicio-solicitudes</a:t>
            </a:r>
            <a:endParaRPr lang="en-US" sz="2800" dirty="0"/>
          </a:p>
        </p:txBody>
      </p:sp>
      <p:sp>
        <p:nvSpPr>
          <p:cNvPr id="5" name="Shape 3"/>
          <p:cNvSpPr/>
          <p:nvPr/>
        </p:nvSpPr>
        <p:spPr>
          <a:xfrm>
            <a:off x="1566276" y="1455725"/>
            <a:ext cx="2359152" cy="3617366"/>
          </a:xfrm>
          <a:prstGeom prst="roundRect">
            <a:avLst>
              <a:gd name="adj" fmla="val 4651"/>
            </a:avLst>
          </a:prstGeom>
          <a:solidFill>
            <a:srgbClr val="F4F7FB"/>
          </a:solidFill>
          <a:ln w="12700">
            <a:solidFill>
              <a:srgbClr val="DFE6F0"/>
            </a:solidFill>
            <a:prstDash val="solid"/>
          </a:ln>
        </p:spPr>
      </p:sp>
      <p:sp>
        <p:nvSpPr>
          <p:cNvPr id="6" name="Text 4"/>
          <p:cNvSpPr/>
          <p:nvPr/>
        </p:nvSpPr>
        <p:spPr>
          <a:xfrm>
            <a:off x="1660642" y="1502908"/>
            <a:ext cx="217627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ENTRADA · TRADUCE HTTP</a:t>
            </a:r>
            <a:endParaRPr lang="en-US" sz="800" dirty="0"/>
          </a:p>
        </p:txBody>
      </p:sp>
      <p:sp>
        <p:nvSpPr>
          <p:cNvPr id="7" name="Shape 5"/>
          <p:cNvSpPr/>
          <p:nvPr/>
        </p:nvSpPr>
        <p:spPr>
          <a:xfrm>
            <a:off x="4239981" y="1455725"/>
            <a:ext cx="3460090" cy="3617366"/>
          </a:xfrm>
          <a:prstGeom prst="roundRect">
            <a:avLst>
              <a:gd name="adj" fmla="val 3171"/>
            </a:avLst>
          </a:prstGeom>
          <a:solidFill>
            <a:srgbClr val="F4F7FB"/>
          </a:solidFill>
          <a:ln w="12700">
            <a:solidFill>
              <a:srgbClr val="DFE6F0"/>
            </a:solidFill>
            <a:prstDash val="solid"/>
          </a:ln>
        </p:spPr>
      </p:sp>
      <p:sp>
        <p:nvSpPr>
          <p:cNvPr id="8" name="Text 6"/>
          <p:cNvSpPr/>
          <p:nvPr/>
        </p:nvSpPr>
        <p:spPr>
          <a:xfrm>
            <a:off x="4334347" y="1502908"/>
            <a:ext cx="327721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DOMINIO · LAS REGLAS, SIN SPRING</a:t>
            </a:r>
            <a:endParaRPr lang="en-US" sz="800" dirty="0"/>
          </a:p>
        </p:txBody>
      </p:sp>
      <p:sp>
        <p:nvSpPr>
          <p:cNvPr id="9" name="Shape 7"/>
          <p:cNvSpPr/>
          <p:nvPr/>
        </p:nvSpPr>
        <p:spPr>
          <a:xfrm>
            <a:off x="8014625" y="1455725"/>
            <a:ext cx="2610795" cy="3617366"/>
          </a:xfrm>
          <a:prstGeom prst="roundRect">
            <a:avLst>
              <a:gd name="adj" fmla="val 4203"/>
            </a:avLst>
          </a:prstGeom>
          <a:solidFill>
            <a:srgbClr val="F4F7FB"/>
          </a:solidFill>
          <a:ln w="12700">
            <a:solidFill>
              <a:srgbClr val="DFE6F0"/>
            </a:solidFill>
            <a:prstDash val="solid"/>
          </a:ln>
        </p:spPr>
      </p:sp>
      <p:sp>
        <p:nvSpPr>
          <p:cNvPr id="10" name="Text 8"/>
          <p:cNvSpPr/>
          <p:nvPr/>
        </p:nvSpPr>
        <p:spPr>
          <a:xfrm>
            <a:off x="8108991" y="1502908"/>
            <a:ext cx="2427915"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SALIDA · HABLA CON EL EXTERIOR</a:t>
            </a:r>
            <a:endParaRPr lang="en-US" sz="800" dirty="0"/>
          </a:p>
        </p:txBody>
      </p:sp>
      <p:sp>
        <p:nvSpPr>
          <p:cNvPr id="11" name="Shape 9"/>
          <p:cNvSpPr/>
          <p:nvPr/>
        </p:nvSpPr>
        <p:spPr>
          <a:xfrm>
            <a:off x="3673785" y="2179198"/>
            <a:ext cx="880750" cy="0"/>
          </a:xfrm>
          <a:prstGeom prst="line">
            <a:avLst/>
          </a:prstGeom>
          <a:noFill/>
          <a:ln w="31750">
            <a:solidFill>
              <a:srgbClr val="55627E"/>
            </a:solidFill>
            <a:prstDash val="sysDot"/>
            <a:tailEnd type="triangle"/>
          </a:ln>
        </p:spPr>
      </p:sp>
      <p:sp>
        <p:nvSpPr>
          <p:cNvPr id="12" name="Text 10"/>
          <p:cNvSpPr/>
          <p:nvPr/>
        </p:nvSpPr>
        <p:spPr>
          <a:xfrm>
            <a:off x="3894704" y="1952976"/>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llama</a:t>
            </a:r>
            <a:endParaRPr lang="en-US" sz="800" dirty="0"/>
          </a:p>
        </p:txBody>
      </p:sp>
      <p:sp>
        <p:nvSpPr>
          <p:cNvPr id="13" name="Text 11"/>
          <p:cNvSpPr/>
          <p:nvPr/>
        </p:nvSpPr>
        <p:spPr>
          <a:xfrm>
            <a:off x="3752789"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215098" y="2430841"/>
            <a:ext cx="0" cy="440375"/>
          </a:xfrm>
          <a:prstGeom prst="line">
            <a:avLst/>
          </a:prstGeom>
          <a:noFill/>
          <a:ln w="31750">
            <a:solidFill>
              <a:srgbClr val="55627E"/>
            </a:solidFill>
            <a:prstDash val="sysDot"/>
            <a:tailEnd type="triangle"/>
          </a:ln>
        </p:spPr>
      </p:sp>
      <p:sp>
        <p:nvSpPr>
          <p:cNvPr id="15" name="Text 13"/>
          <p:cNvSpPr/>
          <p:nvPr/>
        </p:nvSpPr>
        <p:spPr>
          <a:xfrm>
            <a:off x="5105370" y="25098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724955" y="2430841"/>
            <a:ext cx="0" cy="440375"/>
          </a:xfrm>
          <a:prstGeom prst="line">
            <a:avLst/>
          </a:prstGeom>
          <a:noFill/>
          <a:ln w="22860">
            <a:solidFill>
              <a:srgbClr val="1F4E8C"/>
            </a:solidFill>
            <a:prstDash val="lgDash"/>
            <a:tailEnd type="arrow"/>
          </a:ln>
        </p:spPr>
      </p:sp>
      <p:sp>
        <p:nvSpPr>
          <p:cNvPr id="17" name="Text 15"/>
          <p:cNvSpPr/>
          <p:nvPr/>
        </p:nvSpPr>
        <p:spPr>
          <a:xfrm>
            <a:off x="6803593" y="2527036"/>
            <a:ext cx="314554" cy="192024"/>
          </a:xfrm>
          <a:prstGeom prst="rect">
            <a:avLst/>
          </a:prstGeom>
          <a:noFill/>
          <a:ln/>
        </p:spPr>
        <p:txBody>
          <a:bodyPr wrap="square" lIns="0" tIns="0" rIns="0" bIns="0" rtlCol="0" anchor="ctr"/>
          <a:lstStyle/>
          <a:p>
            <a:pPr algn="l" indent="0" marL="0">
              <a:buNone/>
            </a:pPr>
            <a:r>
              <a:rPr lang="en-US" sz="800" b="1" dirty="0">
                <a:solidFill>
                  <a:srgbClr val="1F4E8C"/>
                </a:solidFill>
                <a:latin typeface="Segoe UI" pitchFamily="34" charset="0"/>
                <a:ea typeface="Segoe UI" pitchFamily="34" charset="-122"/>
                <a:cs typeface="Segoe UI" pitchFamily="34" charset="-120"/>
              </a:rPr>
              <a:t>usa</a:t>
            </a:r>
            <a:endParaRPr lang="en-US" sz="800" dirty="0"/>
          </a:p>
        </p:txBody>
      </p:sp>
      <p:sp>
        <p:nvSpPr>
          <p:cNvPr id="18" name="Text 16"/>
          <p:cNvSpPr/>
          <p:nvPr/>
        </p:nvSpPr>
        <p:spPr>
          <a:xfrm>
            <a:off x="6615227" y="250984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a:off x="7385517" y="2179198"/>
            <a:ext cx="880750" cy="0"/>
          </a:xfrm>
          <a:prstGeom prst="line">
            <a:avLst/>
          </a:prstGeom>
          <a:noFill/>
          <a:ln w="31750">
            <a:solidFill>
              <a:srgbClr val="55627E"/>
            </a:solidFill>
            <a:prstDash val="sysDot"/>
            <a:tailEnd type="triangle"/>
          </a:ln>
        </p:spPr>
      </p:sp>
      <p:sp>
        <p:nvSpPr>
          <p:cNvPr id="20" name="Text 18"/>
          <p:cNvSpPr/>
          <p:nvPr/>
        </p:nvSpPr>
        <p:spPr>
          <a:xfrm>
            <a:off x="7544257" y="1952976"/>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21" name="Text 19"/>
          <p:cNvSpPr/>
          <p:nvPr/>
        </p:nvSpPr>
        <p:spPr>
          <a:xfrm>
            <a:off x="7464522" y="206947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H="1">
            <a:off x="7385517" y="3122859"/>
            <a:ext cx="880750" cy="0"/>
          </a:xfrm>
          <a:prstGeom prst="line">
            <a:avLst/>
          </a:prstGeom>
          <a:noFill/>
          <a:ln w="22860">
            <a:solidFill>
              <a:srgbClr val="1F4E8C"/>
            </a:solidFill>
            <a:prstDash val="lgDash"/>
            <a:tailEnd type="arrow"/>
          </a:ln>
        </p:spPr>
      </p:sp>
      <p:sp>
        <p:nvSpPr>
          <p:cNvPr id="23" name="Text 21"/>
          <p:cNvSpPr/>
          <p:nvPr/>
        </p:nvSpPr>
        <p:spPr>
          <a:xfrm>
            <a:off x="7450988" y="2896636"/>
            <a:ext cx="749808"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implementa</a:t>
            </a:r>
            <a:endParaRPr lang="en-US" sz="800" dirty="0"/>
          </a:p>
        </p:txBody>
      </p:sp>
      <p:sp>
        <p:nvSpPr>
          <p:cNvPr id="24" name="Text 22"/>
          <p:cNvSpPr/>
          <p:nvPr/>
        </p:nvSpPr>
        <p:spPr>
          <a:xfrm>
            <a:off x="7967807" y="3013131"/>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5" name="Shape 23"/>
          <p:cNvSpPr/>
          <p:nvPr/>
        </p:nvSpPr>
        <p:spPr>
          <a:xfrm>
            <a:off x="9320022" y="3374502"/>
            <a:ext cx="0" cy="440375"/>
          </a:xfrm>
          <a:prstGeom prst="line">
            <a:avLst/>
          </a:prstGeom>
          <a:noFill/>
          <a:ln w="38100">
            <a:solidFill>
              <a:srgbClr val="2BA6CB"/>
            </a:solidFill>
            <a:prstDash val="dash"/>
            <a:tailEnd type="triangle"/>
          </a:ln>
        </p:spPr>
      </p:sp>
      <p:sp>
        <p:nvSpPr>
          <p:cNvPr id="26" name="Text 24"/>
          <p:cNvSpPr/>
          <p:nvPr/>
        </p:nvSpPr>
        <p:spPr>
          <a:xfrm>
            <a:off x="9398660" y="3470697"/>
            <a:ext cx="998525"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lee pendientes</a:t>
            </a:r>
            <a:endParaRPr lang="en-US" sz="800" dirty="0"/>
          </a:p>
        </p:txBody>
      </p:sp>
      <p:sp>
        <p:nvSpPr>
          <p:cNvPr id="27" name="Text 25"/>
          <p:cNvSpPr/>
          <p:nvPr/>
        </p:nvSpPr>
        <p:spPr>
          <a:xfrm>
            <a:off x="9210294" y="345350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8" name="Shape 26"/>
          <p:cNvSpPr/>
          <p:nvPr/>
        </p:nvSpPr>
        <p:spPr>
          <a:xfrm flipH="1">
            <a:off x="3673785" y="3122859"/>
            <a:ext cx="880750" cy="0"/>
          </a:xfrm>
          <a:prstGeom prst="line">
            <a:avLst/>
          </a:prstGeom>
          <a:noFill/>
          <a:ln w="44450">
            <a:solidFill>
              <a:srgbClr val="2BA6CB"/>
            </a:solidFill>
            <a:prstDash val="sysDash"/>
            <a:tailEnd type="triangle"/>
          </a:ln>
        </p:spPr>
      </p:sp>
      <p:sp>
        <p:nvSpPr>
          <p:cNvPr id="29" name="Text 27"/>
          <p:cNvSpPr/>
          <p:nvPr/>
        </p:nvSpPr>
        <p:spPr>
          <a:xfrm>
            <a:off x="3770346" y="2896636"/>
            <a:ext cx="687629"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excepción</a:t>
            </a:r>
            <a:endParaRPr lang="en-US" sz="800" dirty="0"/>
          </a:p>
        </p:txBody>
      </p:sp>
      <p:sp>
        <p:nvSpPr>
          <p:cNvPr id="30" name="Text 28"/>
          <p:cNvSpPr/>
          <p:nvPr/>
        </p:nvSpPr>
        <p:spPr>
          <a:xfrm>
            <a:off x="4256075" y="301313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1" name="Text 29"/>
          <p:cNvSpPr/>
          <p:nvPr/>
        </p:nvSpPr>
        <p:spPr>
          <a:xfrm>
            <a:off x="1817919" y="1927555"/>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recibe las peticiones HTTP</a:t>
            </a:r>
            <a:endParaRPr lang="en-US" sz="950" dirty="0"/>
          </a:p>
        </p:txBody>
      </p:sp>
      <p:sp>
        <p:nvSpPr>
          <p:cNvPr id="32" name="Text 30"/>
          <p:cNvSpPr/>
          <p:nvPr/>
        </p:nvSpPr>
        <p:spPr>
          <a:xfrm>
            <a:off x="1817919" y="2871216"/>
            <a:ext cx="1855866"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ManejadorGlobalDeErrores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responde 404 · 409 · 400</a:t>
            </a:r>
            <a:endParaRPr lang="en-US" sz="950" dirty="0"/>
          </a:p>
        </p:txBody>
      </p:sp>
      <p:sp>
        <p:nvSpPr>
          <p:cNvPr id="33" name="Text 31"/>
          <p:cNvSpPr/>
          <p:nvPr/>
        </p:nvSpPr>
        <p:spPr>
          <a:xfrm>
            <a:off x="1817919" y="3814877"/>
            <a:ext cx="1855866"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EventoSalienteController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muestra los eventos</a:t>
            </a:r>
            <a:endParaRPr lang="en-US" sz="950" dirty="0"/>
          </a:p>
        </p:txBody>
      </p:sp>
      <p:sp>
        <p:nvSpPr>
          <p:cNvPr id="34" name="Text 32"/>
          <p:cNvSpPr/>
          <p:nvPr/>
        </p:nvSpPr>
        <p:spPr>
          <a:xfrm>
            <a:off x="4554535" y="1927555"/>
            <a:ext cx="2830982"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crear · enviar · aprobar · rechazar</a:t>
            </a:r>
            <a:endParaRPr lang="en-US" sz="950" dirty="0"/>
          </a:p>
        </p:txBody>
      </p:sp>
      <p:sp>
        <p:nvSpPr>
          <p:cNvPr id="35" name="Text 33"/>
          <p:cNvSpPr/>
          <p:nvPr/>
        </p:nvSpPr>
        <p:spPr>
          <a:xfrm>
            <a:off x="4554535" y="2871216"/>
            <a:ext cx="1321125"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reglas de estado</a:t>
            </a:r>
            <a:endParaRPr lang="en-US" sz="950" dirty="0"/>
          </a:p>
        </p:txBody>
      </p:sp>
      <p:sp>
        <p:nvSpPr>
          <p:cNvPr id="36" name="Text 34"/>
          <p:cNvSpPr/>
          <p:nvPr/>
        </p:nvSpPr>
        <p:spPr>
          <a:xfrm>
            <a:off x="6064392" y="2871216"/>
            <a:ext cx="1321125" cy="503286"/>
          </a:xfrm>
          <a:prstGeom prst="roundRect">
            <a:avLst>
              <a:gd name="adj" fmla="val 18169"/>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950" b="1" dirty="0">
                <a:solidFill>
                  <a:srgbClr val="0B1A3C"/>
                </a:solidFill>
                <a:latin typeface="Segoe UI" pitchFamily="34" charset="0"/>
                <a:ea typeface="Segoe UI" pitchFamily="34" charset="-122"/>
                <a:cs typeface="Segoe UI" pitchFamily="34" charset="-120"/>
              </a:rPr>
              <a:t>Puertos</a:t>
            </a:r>
            <a:endParaRPr lang="en-US" sz="800" dirty="0"/>
          </a:p>
          <a:p>
            <a:pPr algn="ctr" indent="0" marL="0">
              <a:buNone/>
            </a:pPr>
            <a:r>
              <a:rPr lang="en-US" sz="800" dirty="0">
                <a:solidFill>
                  <a:srgbClr val="55627E"/>
                </a:solidFill>
                <a:latin typeface="Segoe UI" pitchFamily="34" charset="0"/>
                <a:ea typeface="Segoe UI" pitchFamily="34" charset="-122"/>
                <a:cs typeface="Segoe UI" pitchFamily="34" charset="-120"/>
              </a:rPr>
              <a:t>lo que pide el negocio</a:t>
            </a:r>
            <a:endParaRPr lang="en-US" sz="800" dirty="0"/>
          </a:p>
        </p:txBody>
      </p:sp>
      <p:sp>
        <p:nvSpPr>
          <p:cNvPr id="37" name="Text 35"/>
          <p:cNvSpPr/>
          <p:nvPr/>
        </p:nvSpPr>
        <p:spPr>
          <a:xfrm>
            <a:off x="8266267" y="1927555"/>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guarda en PostgreSQL</a:t>
            </a:r>
            <a:endParaRPr lang="en-US" sz="950" dirty="0"/>
          </a:p>
        </p:txBody>
      </p:sp>
      <p:sp>
        <p:nvSpPr>
          <p:cNvPr id="38" name="Text 36"/>
          <p:cNvSpPr/>
          <p:nvPr/>
        </p:nvSpPr>
        <p:spPr>
          <a:xfrm>
            <a:off x="8266267" y="2871216"/>
            <a:ext cx="2107509" cy="503286"/>
          </a:xfrm>
          <a:prstGeom prst="roundRect">
            <a:avLst>
              <a:gd name="adj" fmla="val 18169"/>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RegistradorDeEventosJpa</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anota el evento pendiente</a:t>
            </a:r>
            <a:endParaRPr lang="en-US" sz="950" dirty="0"/>
          </a:p>
        </p:txBody>
      </p:sp>
      <p:sp>
        <p:nvSpPr>
          <p:cNvPr id="39" name="Text 37"/>
          <p:cNvSpPr/>
          <p:nvPr/>
        </p:nvSpPr>
        <p:spPr>
          <a:xfrm>
            <a:off x="8266267" y="3814877"/>
            <a:ext cx="2107509" cy="503286"/>
          </a:xfrm>
          <a:prstGeom prst="roundRect">
            <a:avLst>
              <a:gd name="adj" fmla="val 18169"/>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Relevador y Publicador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entregan a notificaciones</a:t>
            </a:r>
            <a:endParaRPr lang="en-US" sz="950" dirty="0"/>
          </a:p>
        </p:txBody>
      </p:sp>
      <p:sp>
        <p:nvSpPr>
          <p:cNvPr id="40" name="Shape 3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2" name="Text 4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relevador lee los eventos pendientes y los entrega a notificaciones.</a:t>
            </a:r>
            <a:endParaRPr lang="en-US" sz="1300" dirty="0"/>
          </a:p>
        </p:txBody>
      </p:sp>
      <p:sp>
        <p:nvSpPr>
          <p:cNvPr id="43" name="Shape 4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5" name="Text 4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una regla no se cumple, el manejador de errores responde con un mensaje claro.</a:t>
            </a:r>
            <a:endParaRPr lang="en-US" sz="1300" dirty="0"/>
          </a:p>
        </p:txBody>
      </p:sp>
      <p:sp>
        <p:nvSpPr>
          <p:cNvPr id="46" name="Text 4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Cambiar la pieza sin tocar el negocio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Hay varios adaptadores para el mismo puerto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Spring usa el que tiene @Primary</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Hoy: PostgreSQL y publicador con reintentos</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las pruebas: un repositorio en memoria</a:t>
            </a:r>
            <a:endParaRPr lang="en-US" sz="1100" dirty="0"/>
          </a:p>
        </p:txBody>
      </p:sp>
      <p:sp>
        <p:nvSpPr>
          <p:cNvPr id="9" name="Shape 7"/>
          <p:cNvSpPr/>
          <p:nvPr/>
        </p:nvSpPr>
        <p:spPr>
          <a:xfrm>
            <a:off x="795421" y="2241347"/>
            <a:ext cx="5117653"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905085" y="2296179"/>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11" name="Shape 9"/>
          <p:cNvSpPr/>
          <p:nvPr/>
        </p:nvSpPr>
        <p:spPr>
          <a:xfrm>
            <a:off x="6278621" y="2241347"/>
            <a:ext cx="5117653"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388285" y="2296179"/>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13" name="Shape 11"/>
          <p:cNvSpPr/>
          <p:nvPr/>
        </p:nvSpPr>
        <p:spPr>
          <a:xfrm>
            <a:off x="2714541" y="3411096"/>
            <a:ext cx="1919120" cy="0"/>
          </a:xfrm>
          <a:prstGeom prst="line">
            <a:avLst/>
          </a:prstGeom>
          <a:noFill/>
          <a:ln w="22860">
            <a:solidFill>
              <a:srgbClr val="1F4E8C"/>
            </a:solidFill>
            <a:prstDash val="lgDash"/>
          </a:ln>
        </p:spPr>
      </p:sp>
      <p:sp>
        <p:nvSpPr>
          <p:cNvPr id="14" name="Shape 12"/>
          <p:cNvSpPr/>
          <p:nvPr/>
        </p:nvSpPr>
        <p:spPr>
          <a:xfrm>
            <a:off x="4633661" y="3411096"/>
            <a:ext cx="0" cy="475211"/>
          </a:xfrm>
          <a:prstGeom prst="line">
            <a:avLst/>
          </a:prstGeom>
          <a:noFill/>
          <a:ln w="22860">
            <a:solidFill>
              <a:srgbClr val="1F4E8C"/>
            </a:solidFill>
            <a:prstDash val="lgDash"/>
            <a:tailEnd type="arrow"/>
          </a:ln>
        </p:spPr>
      </p:sp>
      <p:sp>
        <p:nvSpPr>
          <p:cNvPr id="15" name="Text 13"/>
          <p:cNvSpPr/>
          <p:nvPr/>
        </p:nvSpPr>
        <p:spPr>
          <a:xfrm>
            <a:off x="3510995" y="3173400"/>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6" name="Text 14"/>
          <p:cNvSpPr/>
          <p:nvPr/>
        </p:nvSpPr>
        <p:spPr>
          <a:xfrm>
            <a:off x="2824141" y="330136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7" name="Shape 15"/>
          <p:cNvSpPr/>
          <p:nvPr/>
        </p:nvSpPr>
        <p:spPr>
          <a:xfrm>
            <a:off x="2714541" y="5056056"/>
            <a:ext cx="1919120" cy="0"/>
          </a:xfrm>
          <a:prstGeom prst="line">
            <a:avLst/>
          </a:prstGeom>
          <a:noFill/>
          <a:ln w="22860">
            <a:solidFill>
              <a:srgbClr val="1F4E8C"/>
            </a:solidFill>
            <a:prstDash val="lgDash"/>
          </a:ln>
        </p:spPr>
      </p:sp>
      <p:sp>
        <p:nvSpPr>
          <p:cNvPr id="18" name="Shape 16"/>
          <p:cNvSpPr/>
          <p:nvPr/>
        </p:nvSpPr>
        <p:spPr>
          <a:xfrm flipV="1">
            <a:off x="4633661" y="4580845"/>
            <a:ext cx="0" cy="475211"/>
          </a:xfrm>
          <a:prstGeom prst="line">
            <a:avLst/>
          </a:prstGeom>
          <a:noFill/>
          <a:ln w="22860">
            <a:solidFill>
              <a:srgbClr val="1F4E8C"/>
            </a:solidFill>
            <a:prstDash val="lgDash"/>
            <a:tailEnd type="arrow"/>
          </a:ln>
        </p:spPr>
      </p:sp>
      <p:sp>
        <p:nvSpPr>
          <p:cNvPr id="19" name="Text 17"/>
          <p:cNvSpPr/>
          <p:nvPr/>
        </p:nvSpPr>
        <p:spPr>
          <a:xfrm>
            <a:off x="3279766" y="5074243"/>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20" name="Text 18"/>
          <p:cNvSpPr/>
          <p:nvPr/>
        </p:nvSpPr>
        <p:spPr>
          <a:xfrm>
            <a:off x="2824141" y="494632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21" name="Shape 19"/>
          <p:cNvSpPr/>
          <p:nvPr/>
        </p:nvSpPr>
        <p:spPr>
          <a:xfrm>
            <a:off x="8289127" y="3411096"/>
            <a:ext cx="1096640" cy="0"/>
          </a:xfrm>
          <a:prstGeom prst="line">
            <a:avLst/>
          </a:prstGeom>
          <a:noFill/>
          <a:ln w="31750">
            <a:solidFill>
              <a:srgbClr val="55627E"/>
            </a:solidFill>
            <a:prstDash val="sysDot"/>
            <a:tailEnd type="triangle"/>
          </a:ln>
        </p:spPr>
      </p:sp>
      <p:sp>
        <p:nvSpPr>
          <p:cNvPr id="22" name="Text 20"/>
          <p:cNvSpPr/>
          <p:nvPr/>
        </p:nvSpPr>
        <p:spPr>
          <a:xfrm>
            <a:off x="8443112" y="3173400"/>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23" name="Text 21"/>
          <p:cNvSpPr/>
          <p:nvPr/>
        </p:nvSpPr>
        <p:spPr>
          <a:xfrm>
            <a:off x="8398727" y="330136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4" name="Shape 22"/>
          <p:cNvSpPr/>
          <p:nvPr/>
        </p:nvSpPr>
        <p:spPr>
          <a:xfrm flipH="1">
            <a:off x="7466648" y="5056056"/>
            <a:ext cx="365547" cy="0"/>
          </a:xfrm>
          <a:prstGeom prst="line">
            <a:avLst/>
          </a:prstGeom>
          <a:noFill/>
          <a:ln w="22860">
            <a:solidFill>
              <a:srgbClr val="1F4E8C"/>
            </a:solidFill>
            <a:prstDash val="lgDash"/>
          </a:ln>
        </p:spPr>
      </p:sp>
      <p:sp>
        <p:nvSpPr>
          <p:cNvPr id="25" name="Shape 23"/>
          <p:cNvSpPr/>
          <p:nvPr/>
        </p:nvSpPr>
        <p:spPr>
          <a:xfrm flipV="1">
            <a:off x="7466648" y="3758365"/>
            <a:ext cx="0" cy="1297691"/>
          </a:xfrm>
          <a:prstGeom prst="line">
            <a:avLst/>
          </a:prstGeom>
          <a:noFill/>
          <a:ln w="22860">
            <a:solidFill>
              <a:srgbClr val="1F4E8C"/>
            </a:solidFill>
            <a:prstDash val="lgDash"/>
            <a:tailEnd type="arrow"/>
          </a:ln>
        </p:spPr>
      </p:sp>
      <p:sp>
        <p:nvSpPr>
          <p:cNvPr id="26" name="Text 24"/>
          <p:cNvSpPr/>
          <p:nvPr/>
        </p:nvSpPr>
        <p:spPr>
          <a:xfrm>
            <a:off x="7171411" y="4425397"/>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inyecta</a:t>
            </a:r>
            <a:endParaRPr lang="en-US" sz="850" dirty="0"/>
          </a:p>
        </p:txBody>
      </p:sp>
      <p:sp>
        <p:nvSpPr>
          <p:cNvPr id="27" name="Text 25"/>
          <p:cNvSpPr/>
          <p:nvPr/>
        </p:nvSpPr>
        <p:spPr>
          <a:xfrm>
            <a:off x="7539693" y="494632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8" name="Text 26"/>
          <p:cNvSpPr/>
          <p:nvPr/>
        </p:nvSpPr>
        <p:spPr>
          <a:xfrm>
            <a:off x="1069581" y="306382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100" dirty="0"/>
          </a:p>
        </p:txBody>
      </p:sp>
      <p:sp>
        <p:nvSpPr>
          <p:cNvPr id="29" name="Text 27"/>
          <p:cNvSpPr/>
          <p:nvPr/>
        </p:nvSpPr>
        <p:spPr>
          <a:xfrm>
            <a:off x="1069581" y="470878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100" dirty="0"/>
          </a:p>
        </p:txBody>
      </p:sp>
      <p:sp>
        <p:nvSpPr>
          <p:cNvPr id="30" name="Text 28"/>
          <p:cNvSpPr/>
          <p:nvPr/>
        </p:nvSpPr>
        <p:spPr>
          <a:xfrm>
            <a:off x="3719794" y="3886307"/>
            <a:ext cx="1827733" cy="694539"/>
          </a:xfrm>
          <a:prstGeom prst="roundRect">
            <a:avLst>
              <a:gd name="adj" fmla="val 13166"/>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10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31" name="Text 29"/>
          <p:cNvSpPr/>
          <p:nvPr/>
        </p:nvSpPr>
        <p:spPr>
          <a:xfrm>
            <a:off x="6644168" y="3063827"/>
            <a:ext cx="164496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100" dirty="0"/>
          </a:p>
        </p:txBody>
      </p:sp>
      <p:sp>
        <p:nvSpPr>
          <p:cNvPr id="32" name="Text 30"/>
          <p:cNvSpPr/>
          <p:nvPr/>
        </p:nvSpPr>
        <p:spPr>
          <a:xfrm>
            <a:off x="9385767" y="3063827"/>
            <a:ext cx="173634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RepositorioJpa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100" dirty="0"/>
          </a:p>
        </p:txBody>
      </p:sp>
      <p:sp>
        <p:nvSpPr>
          <p:cNvPr id="33" name="Text 31"/>
          <p:cNvSpPr/>
          <p:nvPr/>
        </p:nvSpPr>
        <p:spPr>
          <a:xfrm>
            <a:off x="7832194" y="4708787"/>
            <a:ext cx="2193280"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1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E3F4FA"/>
          </a:solidFill>
          <a:ln w="12700">
            <a:solidFill>
              <a:srgbClr val="2BA6CB"/>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35560">
            <a:solidFill>
              <a:srgbClr val="2BA6CB"/>
            </a:solidFill>
            <a:prstDash val="lgDash"/>
          </a:ln>
        </p:spPr>
      </p:sp>
      <p:sp>
        <p:nvSpPr>
          <p:cNvPr id="10" name="Shape 8"/>
          <p:cNvSpPr/>
          <p:nvPr/>
        </p:nvSpPr>
        <p:spPr>
          <a:xfrm>
            <a:off x="4666059" y="2621003"/>
            <a:ext cx="0" cy="464681"/>
          </a:xfrm>
          <a:prstGeom prst="line">
            <a:avLst/>
          </a:prstGeom>
          <a:noFill/>
          <a:ln w="35560">
            <a:solidFill>
              <a:srgbClr val="2BA6CB"/>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35560">
            <a:solidFill>
              <a:srgbClr val="2BA6CB"/>
            </a:solidFill>
            <a:prstDash val="lgDash"/>
          </a:ln>
        </p:spPr>
      </p:sp>
      <p:sp>
        <p:nvSpPr>
          <p:cNvPr id="14" name="Shape 12"/>
          <p:cNvSpPr/>
          <p:nvPr/>
        </p:nvSpPr>
        <p:spPr>
          <a:xfrm flipV="1">
            <a:off x="4666059" y="3764834"/>
            <a:ext cx="0" cy="464681"/>
          </a:xfrm>
          <a:prstGeom prst="line">
            <a:avLst/>
          </a:prstGeom>
          <a:noFill/>
          <a:ln w="35560">
            <a:solidFill>
              <a:srgbClr val="2BA6CB"/>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31750">
            <a:solidFill>
              <a:srgbClr val="C7D2E2"/>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22860">
            <a:solidFill>
              <a:srgbClr val="C7D2E2"/>
            </a:solidFill>
            <a:prstDash val="lgDash"/>
          </a:ln>
        </p:spPr>
      </p:sp>
      <p:sp>
        <p:nvSpPr>
          <p:cNvPr id="21" name="Shape 19"/>
          <p:cNvSpPr/>
          <p:nvPr/>
        </p:nvSpPr>
        <p:spPr>
          <a:xfrm flipV="1">
            <a:off x="7436275" y="2960578"/>
            <a:ext cx="0" cy="1268938"/>
          </a:xfrm>
          <a:prstGeom prst="line">
            <a:avLst/>
          </a:prstGeom>
          <a:noFill/>
          <a:ln w="22860">
            <a:solidFill>
              <a:srgbClr val="C7D2E2"/>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2" name="Text 30"/>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de dominio solo conoce el contrato que necesita, no la clase que lo cumple.</a:t>
            </a:r>
            <a:endParaRPr lang="en-US" sz="1300" dirty="0"/>
          </a:p>
        </p:txBody>
      </p:sp>
      <p:sp>
        <p:nvSpPr>
          <p:cNvPr id="33" name="Shape 31"/>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5" name="Text 33"/>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adaptador también conoce ese contrato y lo cumple. Los dos dependen del contrato.</a:t>
            </a:r>
            <a:endParaRPr lang="en-US" sz="13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22860">
            <a:solidFill>
              <a:srgbClr val="1F4E8C"/>
            </a:solidFill>
            <a:prstDash val="lgDash"/>
          </a:ln>
        </p:spPr>
      </p:sp>
      <p:sp>
        <p:nvSpPr>
          <p:cNvPr id="10" name="Shape 8"/>
          <p:cNvSpPr/>
          <p:nvPr/>
        </p:nvSpPr>
        <p:spPr>
          <a:xfrm>
            <a:off x="4666059" y="2621003"/>
            <a:ext cx="0" cy="464681"/>
          </a:xfrm>
          <a:prstGeom prst="line">
            <a:avLst/>
          </a:prstGeom>
          <a:noFill/>
          <a:ln w="22860">
            <a:solidFill>
              <a:srgbClr val="1F4E8C"/>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22860">
            <a:solidFill>
              <a:srgbClr val="1F4E8C"/>
            </a:solidFill>
            <a:prstDash val="lgDash"/>
          </a:ln>
        </p:spPr>
      </p:sp>
      <p:sp>
        <p:nvSpPr>
          <p:cNvPr id="14" name="Shape 12"/>
          <p:cNvSpPr/>
          <p:nvPr/>
        </p:nvSpPr>
        <p:spPr>
          <a:xfrm flipV="1">
            <a:off x="4666059" y="3764834"/>
            <a:ext cx="0" cy="464681"/>
          </a:xfrm>
          <a:prstGeom prst="line">
            <a:avLst/>
          </a:prstGeom>
          <a:noFill/>
          <a:ln w="22860">
            <a:solidFill>
              <a:srgbClr val="1F4E8C"/>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44450">
            <a:solidFill>
              <a:srgbClr val="2BA6CB"/>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22860">
            <a:solidFill>
              <a:srgbClr val="C7D2E2"/>
            </a:solidFill>
            <a:prstDash val="lgDash"/>
          </a:ln>
        </p:spPr>
      </p:sp>
      <p:sp>
        <p:nvSpPr>
          <p:cNvPr id="21" name="Shape 19"/>
          <p:cNvSpPr/>
          <p:nvPr/>
        </p:nvSpPr>
        <p:spPr>
          <a:xfrm flipV="1">
            <a:off x="7436275" y="2960578"/>
            <a:ext cx="0" cy="1268938"/>
          </a:xfrm>
          <a:prstGeom prst="line">
            <a:avLst/>
          </a:prstGeom>
          <a:noFill/>
          <a:ln w="22860">
            <a:solidFill>
              <a:srgbClr val="C7D2E2"/>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Cuando la aplicación corre, la llamada sí llega al adaptador.</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Dependencias de código frente a llamadas</a:t>
            </a:r>
            <a:endParaRPr lang="en-US" sz="2800" dirty="0"/>
          </a:p>
        </p:txBody>
      </p:sp>
      <p:sp>
        <p:nvSpPr>
          <p:cNvPr id="5" name="Shape 3"/>
          <p:cNvSpPr/>
          <p:nvPr/>
        </p:nvSpPr>
        <p:spPr>
          <a:xfrm>
            <a:off x="912862" y="1477172"/>
            <a:ext cx="5004262"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821382"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DEPENDENCIAS DE CÓDIGO</a:t>
            </a:r>
            <a:endParaRPr lang="en-US" sz="800" dirty="0"/>
          </a:p>
        </p:txBody>
      </p:sp>
      <p:sp>
        <p:nvSpPr>
          <p:cNvPr id="7" name="Shape 5"/>
          <p:cNvSpPr/>
          <p:nvPr/>
        </p:nvSpPr>
        <p:spPr>
          <a:xfrm>
            <a:off x="6274571" y="1477172"/>
            <a:ext cx="5004262"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381805" y="1530789"/>
            <a:ext cx="4821382"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LLAMADAS EN EJECUCIÓN</a:t>
            </a:r>
            <a:endParaRPr lang="en-US" sz="800" dirty="0"/>
          </a:p>
        </p:txBody>
      </p:sp>
      <p:sp>
        <p:nvSpPr>
          <p:cNvPr id="9" name="Shape 7"/>
          <p:cNvSpPr/>
          <p:nvPr/>
        </p:nvSpPr>
        <p:spPr>
          <a:xfrm>
            <a:off x="2789460" y="2621003"/>
            <a:ext cx="1876598" cy="0"/>
          </a:xfrm>
          <a:prstGeom prst="line">
            <a:avLst/>
          </a:prstGeom>
          <a:noFill/>
          <a:ln w="22860">
            <a:solidFill>
              <a:srgbClr val="1F4E8C"/>
            </a:solidFill>
            <a:prstDash val="lgDash"/>
          </a:ln>
        </p:spPr>
      </p:sp>
      <p:sp>
        <p:nvSpPr>
          <p:cNvPr id="10" name="Shape 8"/>
          <p:cNvSpPr/>
          <p:nvPr/>
        </p:nvSpPr>
        <p:spPr>
          <a:xfrm>
            <a:off x="4666059" y="2621003"/>
            <a:ext cx="0" cy="464681"/>
          </a:xfrm>
          <a:prstGeom prst="line">
            <a:avLst/>
          </a:prstGeom>
          <a:noFill/>
          <a:ln w="22860">
            <a:solidFill>
              <a:srgbClr val="1F4E8C"/>
            </a:solidFill>
            <a:prstDash val="lgDash"/>
            <a:tailEnd type="arrow"/>
          </a:ln>
        </p:spPr>
      </p:sp>
      <p:sp>
        <p:nvSpPr>
          <p:cNvPr id="11" name="Text 9"/>
          <p:cNvSpPr/>
          <p:nvPr/>
        </p:nvSpPr>
        <p:spPr>
          <a:xfrm>
            <a:off x="3564653" y="2385129"/>
            <a:ext cx="326212"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usa</a:t>
            </a:r>
            <a:endParaRPr lang="en-US" sz="850" dirty="0"/>
          </a:p>
        </p:txBody>
      </p:sp>
      <p:sp>
        <p:nvSpPr>
          <p:cNvPr id="12" name="Text 10"/>
          <p:cNvSpPr/>
          <p:nvPr/>
        </p:nvSpPr>
        <p:spPr>
          <a:xfrm>
            <a:off x="2894201" y="251127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3" name="Shape 11"/>
          <p:cNvSpPr/>
          <p:nvPr/>
        </p:nvSpPr>
        <p:spPr>
          <a:xfrm>
            <a:off x="2789460" y="4229516"/>
            <a:ext cx="1876598" cy="0"/>
          </a:xfrm>
          <a:prstGeom prst="line">
            <a:avLst/>
          </a:prstGeom>
          <a:noFill/>
          <a:ln w="22860">
            <a:solidFill>
              <a:srgbClr val="1F4E8C"/>
            </a:solidFill>
            <a:prstDash val="lgDash"/>
          </a:ln>
        </p:spPr>
      </p:sp>
      <p:sp>
        <p:nvSpPr>
          <p:cNvPr id="14" name="Shape 12"/>
          <p:cNvSpPr/>
          <p:nvPr/>
        </p:nvSpPr>
        <p:spPr>
          <a:xfrm flipV="1">
            <a:off x="4666059" y="3764834"/>
            <a:ext cx="0" cy="464681"/>
          </a:xfrm>
          <a:prstGeom prst="line">
            <a:avLst/>
          </a:prstGeom>
          <a:noFill/>
          <a:ln w="22860">
            <a:solidFill>
              <a:srgbClr val="1F4E8C"/>
            </a:solidFill>
            <a:prstDash val="lgDash"/>
            <a:tailEnd type="arrow"/>
          </a:ln>
        </p:spPr>
      </p:sp>
      <p:sp>
        <p:nvSpPr>
          <p:cNvPr id="15" name="Text 13"/>
          <p:cNvSpPr/>
          <p:nvPr/>
        </p:nvSpPr>
        <p:spPr>
          <a:xfrm>
            <a:off x="3333424" y="4243855"/>
            <a:ext cx="788670"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implementa</a:t>
            </a:r>
            <a:endParaRPr lang="en-US" sz="850" dirty="0"/>
          </a:p>
        </p:txBody>
      </p:sp>
      <p:sp>
        <p:nvSpPr>
          <p:cNvPr id="16" name="Text 14"/>
          <p:cNvSpPr/>
          <p:nvPr/>
        </p:nvSpPr>
        <p:spPr>
          <a:xfrm>
            <a:off x="2894201" y="4119788"/>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8240531" y="2621003"/>
            <a:ext cx="1072342" cy="0"/>
          </a:xfrm>
          <a:prstGeom prst="line">
            <a:avLst/>
          </a:prstGeom>
          <a:noFill/>
          <a:ln w="31750">
            <a:solidFill>
              <a:srgbClr val="55627E"/>
            </a:solidFill>
            <a:prstDash val="sysDot"/>
            <a:tailEnd type="triangle"/>
          </a:ln>
        </p:spPr>
      </p:sp>
      <p:sp>
        <p:nvSpPr>
          <p:cNvPr id="18" name="Text 16"/>
          <p:cNvSpPr/>
          <p:nvPr/>
        </p:nvSpPr>
        <p:spPr>
          <a:xfrm>
            <a:off x="8382367" y="2385129"/>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buscar(id)</a:t>
            </a:r>
            <a:endParaRPr lang="en-US" sz="850" dirty="0"/>
          </a:p>
        </p:txBody>
      </p:sp>
      <p:sp>
        <p:nvSpPr>
          <p:cNvPr id="19" name="Text 17"/>
          <p:cNvSpPr/>
          <p:nvPr/>
        </p:nvSpPr>
        <p:spPr>
          <a:xfrm>
            <a:off x="8345272" y="2511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0" name="Shape 18"/>
          <p:cNvSpPr/>
          <p:nvPr/>
        </p:nvSpPr>
        <p:spPr>
          <a:xfrm flipH="1">
            <a:off x="7436275" y="4229516"/>
            <a:ext cx="357447" cy="0"/>
          </a:xfrm>
          <a:prstGeom prst="line">
            <a:avLst/>
          </a:prstGeom>
          <a:noFill/>
          <a:ln w="35560">
            <a:solidFill>
              <a:srgbClr val="2BA6CB"/>
            </a:solidFill>
            <a:prstDash val="lgDash"/>
          </a:ln>
        </p:spPr>
      </p:sp>
      <p:sp>
        <p:nvSpPr>
          <p:cNvPr id="21" name="Shape 19"/>
          <p:cNvSpPr/>
          <p:nvPr/>
        </p:nvSpPr>
        <p:spPr>
          <a:xfrm flipV="1">
            <a:off x="7436275" y="2960578"/>
            <a:ext cx="0" cy="1268938"/>
          </a:xfrm>
          <a:prstGeom prst="line">
            <a:avLst/>
          </a:prstGeom>
          <a:noFill/>
          <a:ln w="35560">
            <a:solidFill>
              <a:srgbClr val="2BA6CB"/>
            </a:solidFill>
            <a:prstDash val="lgDash"/>
            <a:tailEnd type="arrow"/>
          </a:ln>
        </p:spPr>
      </p:sp>
      <p:sp>
        <p:nvSpPr>
          <p:cNvPr id="22" name="Text 20"/>
          <p:cNvSpPr/>
          <p:nvPr/>
        </p:nvSpPr>
        <p:spPr>
          <a:xfrm>
            <a:off x="7141038" y="3609386"/>
            <a:ext cx="590474"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inyecta</a:t>
            </a:r>
            <a:endParaRPr lang="en-US" sz="850" dirty="0"/>
          </a:p>
        </p:txBody>
      </p:sp>
      <p:sp>
        <p:nvSpPr>
          <p:cNvPr id="23" name="Text 21"/>
          <p:cNvSpPr/>
          <p:nvPr/>
        </p:nvSpPr>
        <p:spPr>
          <a:xfrm>
            <a:off x="7505271" y="411978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Text 22"/>
          <p:cNvSpPr/>
          <p:nvPr/>
        </p:nvSpPr>
        <p:spPr>
          <a:xfrm>
            <a:off x="1180948"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caso de uso</a:t>
            </a:r>
            <a:endParaRPr lang="en-US" sz="1050" dirty="0"/>
          </a:p>
        </p:txBody>
      </p:sp>
      <p:sp>
        <p:nvSpPr>
          <p:cNvPr id="25" name="Text 23"/>
          <p:cNvSpPr/>
          <p:nvPr/>
        </p:nvSpPr>
        <p:spPr>
          <a:xfrm>
            <a:off x="1180948" y="3889941"/>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adaptador</a:t>
            </a:r>
            <a:endParaRPr lang="en-US" sz="1050" dirty="0"/>
          </a:p>
        </p:txBody>
      </p:sp>
      <p:sp>
        <p:nvSpPr>
          <p:cNvPr id="26" name="Text 24"/>
          <p:cNvSpPr/>
          <p:nvPr/>
        </p:nvSpPr>
        <p:spPr>
          <a:xfrm>
            <a:off x="3772440" y="3085684"/>
            <a:ext cx="1787236" cy="679150"/>
          </a:xfrm>
          <a:prstGeom prst="roundRect">
            <a:avLst>
              <a:gd name="adj" fmla="val 13464"/>
            </a:avLst>
          </a:prstGeom>
          <a:solidFill>
            <a:srgbClr val="FFFFFF"/>
          </a:solidFill>
          <a:ln w="15875">
            <a:solidFill>
              <a:srgbClr val="0B2350"/>
            </a:solidFill>
            <a:prstDash val="dash"/>
          </a:ln>
        </p:spPr>
        <p:txBody>
          <a:bodyPr wrap="square" lIns="38100" tIns="38100" rIns="38100" bIns="38100" rtlCol="0" anchor="ctr">
            <a:normAutofit/>
          </a:bodyPr>
          <a:lstStyle/>
          <a:p>
            <a:pPr algn="ctr" indent="0" marL="0">
              <a:buNone/>
            </a:pPr>
            <a:r>
              <a:rPr lang="en-US" sz="800" i="1" dirty="0">
                <a:solidFill>
                  <a:srgbClr val="55627E"/>
                </a:solidFill>
                <a:latin typeface="Segoe UI" pitchFamily="34" charset="0"/>
                <a:ea typeface="Segoe UI" pitchFamily="34" charset="-122"/>
                <a:cs typeface="Segoe UI" pitchFamily="34" charset="-120"/>
              </a:rPr>
              <a:t>«interfaz»</a:t>
            </a:r>
            <a:endParaRPr lang="en-US" sz="800" dirty="0"/>
          </a:p>
          <a:p>
            <a:pPr algn="ctr" indent="0" marL="0">
              <a:buNone/>
            </a:pPr>
            <a:r>
              <a:rPr lang="en-US" sz="1050" b="1" dirty="0">
                <a:solidFill>
                  <a:srgbClr val="0B1A3C"/>
                </a:solidFill>
                <a:latin typeface="Segoe UI" pitchFamily="34" charset="0"/>
                <a:ea typeface="Segoe UI" pitchFamily="34" charset="-122"/>
                <a:cs typeface="Segoe UI" pitchFamily="34" charset="-120"/>
              </a:rPr>
              <a:t>RepositorioDeSolicitudes</a:t>
            </a:r>
            <a:endParaRPr lang="en-US" sz="800" dirty="0"/>
          </a:p>
          <a:p>
            <a:pPr algn="ctr" indent="0" marL="0">
              <a:buNone/>
            </a:pPr>
            <a:r>
              <a:rPr lang="en-US" sz="850" dirty="0">
                <a:solidFill>
                  <a:srgbClr val="55627E"/>
                </a:solidFill>
                <a:latin typeface="Segoe UI" pitchFamily="34" charset="0"/>
                <a:ea typeface="Segoe UI" pitchFamily="34" charset="-122"/>
                <a:cs typeface="Segoe UI" pitchFamily="34" charset="-120"/>
              </a:rPr>
              <a:t>interfaz</a:t>
            </a:r>
            <a:endParaRPr lang="en-US" sz="800" dirty="0"/>
          </a:p>
        </p:txBody>
      </p:sp>
      <p:sp>
        <p:nvSpPr>
          <p:cNvPr id="27" name="Text 25"/>
          <p:cNvSpPr/>
          <p:nvPr/>
        </p:nvSpPr>
        <p:spPr>
          <a:xfrm>
            <a:off x="6632019" y="2281428"/>
            <a:ext cx="1608513"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ServicioDeSolicitudes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en ejecución</a:t>
            </a:r>
            <a:endParaRPr lang="en-US" sz="1050" dirty="0"/>
          </a:p>
        </p:txBody>
      </p:sp>
      <p:sp>
        <p:nvSpPr>
          <p:cNvPr id="28" name="Text 26"/>
          <p:cNvSpPr/>
          <p:nvPr/>
        </p:nvSpPr>
        <p:spPr>
          <a:xfrm>
            <a:off x="9312873" y="2281428"/>
            <a:ext cx="1697875"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RepositorioJpa</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@Repository @Primary</a:t>
            </a:r>
            <a:endParaRPr lang="en-US" sz="1050" dirty="0"/>
          </a:p>
        </p:txBody>
      </p:sp>
      <p:sp>
        <p:nvSpPr>
          <p:cNvPr id="29" name="Text 27"/>
          <p:cNvSpPr/>
          <p:nvPr/>
        </p:nvSpPr>
        <p:spPr>
          <a:xfrm>
            <a:off x="7793722" y="3889941"/>
            <a:ext cx="2144684"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Spring</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elige la implementación @Primary</a:t>
            </a:r>
            <a:endParaRPr lang="en-US" sz="1050" dirty="0"/>
          </a:p>
        </p:txBody>
      </p:sp>
      <p:sp>
        <p:nvSpPr>
          <p:cNvPr id="30" name="Shape 28"/>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31" name="Text 2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2" name="Text 30"/>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Spring elige cuál usar: el que está marcado con @Primary, hoy el que guarda en PostgreSQL.</a:t>
            </a:r>
            <a:endParaRPr lang="en-US" sz="1300" dirty="0"/>
          </a:p>
        </p:txBody>
      </p:sp>
      <p:sp>
        <p:nvSpPr>
          <p:cNvPr id="33" name="Text 3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Separamos por responsabilidad</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trámite y los avisos cambian por motivos distintos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 dueño de su base</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hablan con un contrato: el evento</a:t>
            </a:r>
            <a:endParaRPr lang="en-US" sz="1100" dirty="0"/>
          </a:p>
        </p:txBody>
      </p:sp>
      <p:sp>
        <p:nvSpPr>
          <p:cNvPr id="9" name="Shape 7"/>
          <p:cNvSpPr/>
          <p:nvPr/>
        </p:nvSpPr>
        <p:spPr>
          <a:xfrm>
            <a:off x="795421" y="2241347"/>
            <a:ext cx="4934880" cy="3655466"/>
          </a:xfrm>
          <a:prstGeom prst="roundRect">
            <a:avLst>
              <a:gd name="adj" fmla="val 3002"/>
            </a:avLst>
          </a:prstGeom>
          <a:solidFill>
            <a:srgbClr val="F4F7FB"/>
          </a:solidFill>
          <a:ln w="12700">
            <a:solidFill>
              <a:srgbClr val="DFE6F0"/>
            </a:solidFill>
            <a:prstDash val="solid"/>
          </a:ln>
        </p:spPr>
      </p:sp>
      <p:sp>
        <p:nvSpPr>
          <p:cNvPr id="10" name="Text 8"/>
          <p:cNvSpPr/>
          <p:nvPr/>
        </p:nvSpPr>
        <p:spPr>
          <a:xfrm>
            <a:off x="905085" y="2296179"/>
            <a:ext cx="47520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11" name="Shape 9"/>
          <p:cNvSpPr/>
          <p:nvPr/>
        </p:nvSpPr>
        <p:spPr>
          <a:xfrm>
            <a:off x="6461394" y="2241347"/>
            <a:ext cx="4934880" cy="3655466"/>
          </a:xfrm>
          <a:prstGeom prst="roundRect">
            <a:avLst>
              <a:gd name="adj" fmla="val 3002"/>
            </a:avLst>
          </a:prstGeom>
          <a:solidFill>
            <a:srgbClr val="F4F7FB"/>
          </a:solidFill>
          <a:ln w="12700">
            <a:solidFill>
              <a:srgbClr val="DFE6F0"/>
            </a:solidFill>
            <a:prstDash val="solid"/>
          </a:ln>
        </p:spPr>
      </p:sp>
      <p:sp>
        <p:nvSpPr>
          <p:cNvPr id="12" name="Text 10"/>
          <p:cNvSpPr/>
          <p:nvPr/>
        </p:nvSpPr>
        <p:spPr>
          <a:xfrm>
            <a:off x="6571058" y="2296179"/>
            <a:ext cx="47520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13" name="Shape 11"/>
          <p:cNvSpPr/>
          <p:nvPr/>
        </p:nvSpPr>
        <p:spPr>
          <a:xfrm>
            <a:off x="3262861" y="3575592"/>
            <a:ext cx="0" cy="1224581"/>
          </a:xfrm>
          <a:prstGeom prst="line">
            <a:avLst/>
          </a:prstGeom>
          <a:noFill/>
          <a:ln w="31750">
            <a:solidFill>
              <a:srgbClr val="55627E"/>
            </a:solidFill>
            <a:prstDash val="sysDot"/>
            <a:tailEnd type="triangle"/>
          </a:ln>
        </p:spPr>
      </p:sp>
      <p:sp>
        <p:nvSpPr>
          <p:cNvPr id="14" name="Text 12"/>
          <p:cNvSpPr/>
          <p:nvPr/>
        </p:nvSpPr>
        <p:spPr>
          <a:xfrm>
            <a:off x="3354248" y="4068989"/>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5" name="Text 13"/>
          <p:cNvSpPr/>
          <p:nvPr/>
        </p:nvSpPr>
        <p:spPr>
          <a:xfrm>
            <a:off x="3153133"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8746061" y="3228323"/>
            <a:ext cx="456933" cy="0"/>
          </a:xfrm>
          <a:prstGeom prst="line">
            <a:avLst/>
          </a:prstGeom>
          <a:noFill/>
          <a:ln w="25400">
            <a:solidFill>
              <a:srgbClr val="55627E"/>
            </a:solidFill>
            <a:prstDash val="dash"/>
            <a:tailEnd type="triangle"/>
          </a:ln>
        </p:spPr>
      </p:sp>
      <p:sp>
        <p:nvSpPr>
          <p:cNvPr id="17" name="Text 15"/>
          <p:cNvSpPr/>
          <p:nvPr/>
        </p:nvSpPr>
        <p:spPr>
          <a:xfrm>
            <a:off x="8712323" y="2990627"/>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8" name="Text 16"/>
          <p:cNvSpPr/>
          <p:nvPr/>
        </p:nvSpPr>
        <p:spPr>
          <a:xfrm>
            <a:off x="8855661" y="3118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9" name="Shape 17"/>
          <p:cNvSpPr/>
          <p:nvPr/>
        </p:nvSpPr>
        <p:spPr>
          <a:xfrm>
            <a:off x="7786501" y="3575592"/>
            <a:ext cx="0" cy="1224581"/>
          </a:xfrm>
          <a:prstGeom prst="line">
            <a:avLst/>
          </a:prstGeom>
          <a:noFill/>
          <a:ln w="31750">
            <a:solidFill>
              <a:srgbClr val="55627E"/>
            </a:solidFill>
            <a:prstDash val="sysDot"/>
            <a:tailEnd type="triangle"/>
          </a:ln>
        </p:spPr>
      </p:sp>
      <p:sp>
        <p:nvSpPr>
          <p:cNvPr id="20" name="Text 18"/>
          <p:cNvSpPr/>
          <p:nvPr/>
        </p:nvSpPr>
        <p:spPr>
          <a:xfrm>
            <a:off x="7676773"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1" name="Shape 19"/>
          <p:cNvSpPr/>
          <p:nvPr/>
        </p:nvSpPr>
        <p:spPr>
          <a:xfrm>
            <a:off x="10162554" y="3575592"/>
            <a:ext cx="0" cy="1224581"/>
          </a:xfrm>
          <a:prstGeom prst="line">
            <a:avLst/>
          </a:prstGeom>
          <a:noFill/>
          <a:ln w="31750">
            <a:solidFill>
              <a:srgbClr val="55627E"/>
            </a:solidFill>
            <a:prstDash val="sysDot"/>
            <a:tailEnd type="triangle"/>
          </a:ln>
        </p:spPr>
      </p:sp>
      <p:sp>
        <p:nvSpPr>
          <p:cNvPr id="22" name="Text 20"/>
          <p:cNvSpPr/>
          <p:nvPr/>
        </p:nvSpPr>
        <p:spPr>
          <a:xfrm>
            <a:off x="10052826" y="368519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3" name="Text 21"/>
          <p:cNvSpPr/>
          <p:nvPr/>
        </p:nvSpPr>
        <p:spPr>
          <a:xfrm>
            <a:off x="1160968" y="2881053"/>
            <a:ext cx="4203786"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Una aplicación</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100" dirty="0"/>
          </a:p>
        </p:txBody>
      </p:sp>
      <p:sp>
        <p:nvSpPr>
          <p:cNvPr id="24" name="Text 22"/>
          <p:cNvSpPr/>
          <p:nvPr/>
        </p:nvSpPr>
        <p:spPr>
          <a:xfrm>
            <a:off x="2257608" y="4800173"/>
            <a:ext cx="2010507"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Una base</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100" dirty="0"/>
          </a:p>
        </p:txBody>
      </p:sp>
      <p:sp>
        <p:nvSpPr>
          <p:cNvPr id="25" name="Text 23"/>
          <p:cNvSpPr/>
          <p:nvPr/>
        </p:nvSpPr>
        <p:spPr>
          <a:xfrm>
            <a:off x="6826941" y="2881053"/>
            <a:ext cx="191912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100" dirty="0"/>
          </a:p>
        </p:txBody>
      </p:sp>
      <p:sp>
        <p:nvSpPr>
          <p:cNvPr id="26" name="Text 24"/>
          <p:cNvSpPr/>
          <p:nvPr/>
        </p:nvSpPr>
        <p:spPr>
          <a:xfrm>
            <a:off x="9202994" y="2881053"/>
            <a:ext cx="191912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notificaciones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100" dirty="0"/>
          </a:p>
        </p:txBody>
      </p:sp>
      <p:sp>
        <p:nvSpPr>
          <p:cNvPr id="27" name="Text 25"/>
          <p:cNvSpPr/>
          <p:nvPr/>
        </p:nvSpPr>
        <p:spPr>
          <a:xfrm>
            <a:off x="6826941" y="4800173"/>
            <a:ext cx="191912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db-solicitudes</a:t>
            </a:r>
            <a:endParaRPr lang="en-US" sz="1100" dirty="0"/>
          </a:p>
        </p:txBody>
      </p:sp>
      <p:sp>
        <p:nvSpPr>
          <p:cNvPr id="28" name="Text 26"/>
          <p:cNvSpPr/>
          <p:nvPr/>
        </p:nvSpPr>
        <p:spPr>
          <a:xfrm>
            <a:off x="9202994" y="4800173"/>
            <a:ext cx="191912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db-notificaciones</a:t>
            </a:r>
            <a:endParaRPr lang="en-US" sz="1100" dirty="0"/>
          </a:p>
        </p:txBody>
      </p:sp>
      <p:sp>
        <p:nvSpPr>
          <p:cNvPr id="29" name="Text 2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E3F4FA"/>
          </a:solidFill>
          <a:ln w="12700">
            <a:solidFill>
              <a:srgbClr val="2BA6CB"/>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E3F4FA"/>
          </a:solidFill>
          <a:ln w="12700">
            <a:solidFill>
              <a:srgbClr val="2BA6CB"/>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44450">
            <a:solidFill>
              <a:srgbClr val="2BA6CB"/>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25400">
            <a:solidFill>
              <a:srgbClr val="C7D2E2"/>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31750">
            <a:solidFill>
              <a:srgbClr val="C7D2E2"/>
            </a:solidFill>
            <a:prstDash val="sysDot"/>
            <a:tailEnd type="triangle"/>
          </a:ln>
        </p:spPr>
      </p:sp>
      <p:sp>
        <p:nvSpPr>
          <p:cNvPr id="16" name="Text 14"/>
          <p:cNvSpPr/>
          <p:nvPr/>
        </p:nvSpPr>
        <p:spPr>
          <a:xfrm>
            <a:off x="7639313"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31750">
            <a:solidFill>
              <a:srgbClr val="C7D2E2"/>
            </a:solidFill>
            <a:prstDash val="sysDot"/>
            <a:tailEnd type="triangle"/>
          </a:ln>
        </p:spPr>
      </p:sp>
      <p:sp>
        <p:nvSpPr>
          <p:cNvPr id="18" name="Text 16"/>
          <p:cNvSpPr/>
          <p:nvPr/>
        </p:nvSpPr>
        <p:spPr>
          <a:xfrm>
            <a:off x="9962721" y="288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50" b="1" dirty="0">
                <a:solidFill>
                  <a:srgbClr val="55627E"/>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7" name="Text 25"/>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Antes: una sola aplicación hace todo y comparte una base.</a:t>
            </a:r>
            <a:endParaRPr lang="en-US" sz="1300" dirty="0"/>
          </a:p>
        </p:txBody>
      </p:sp>
      <p:sp>
        <p:nvSpPr>
          <p:cNvPr id="28" name="Shape 26"/>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0" name="Text 28"/>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Separamos por responsabilidad: el trámite y los avisos cambian por motivos distintos.</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31750">
            <a:solidFill>
              <a:srgbClr val="55627E"/>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25400">
            <a:solidFill>
              <a:srgbClr val="C7D2E2"/>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44450">
            <a:solidFill>
              <a:srgbClr val="2BA6CB"/>
            </a:solidFill>
            <a:prstDash val="sysDot"/>
            <a:tailEnd type="triangle"/>
          </a:ln>
        </p:spPr>
      </p:sp>
      <p:sp>
        <p:nvSpPr>
          <p:cNvPr id="16" name="Text 14"/>
          <p:cNvSpPr/>
          <p:nvPr/>
        </p:nvSpPr>
        <p:spPr>
          <a:xfrm>
            <a:off x="7639313"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44450">
            <a:solidFill>
              <a:srgbClr val="2BA6CB"/>
            </a:solidFill>
            <a:prstDash val="sysDot"/>
            <a:tailEnd type="triangle"/>
          </a:ln>
        </p:spPr>
      </p:sp>
      <p:sp>
        <p:nvSpPr>
          <p:cNvPr id="18" name="Text 16"/>
          <p:cNvSpPr/>
          <p:nvPr/>
        </p:nvSpPr>
        <p:spPr>
          <a:xfrm>
            <a:off x="9962721" y="288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 dueño de su base. Ninguno lee la base del otro.</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monolito a microservicios</a:t>
            </a:r>
            <a:endParaRPr lang="en-US" sz="2800" dirty="0"/>
          </a:p>
        </p:txBody>
      </p:sp>
      <p:sp>
        <p:nvSpPr>
          <p:cNvPr id="5" name="Shape 3"/>
          <p:cNvSpPr/>
          <p:nvPr/>
        </p:nvSpPr>
        <p:spPr>
          <a:xfrm>
            <a:off x="912862" y="1477172"/>
            <a:ext cx="4825538" cy="3574473"/>
          </a:xfrm>
          <a:prstGeom prst="roundRect">
            <a:avLst>
              <a:gd name="adj" fmla="val 3070"/>
            </a:avLst>
          </a:prstGeom>
          <a:solidFill>
            <a:srgbClr val="F4F7FB"/>
          </a:solidFill>
          <a:ln w="12700">
            <a:solidFill>
              <a:srgbClr val="DFE6F0"/>
            </a:solidFill>
            <a:prstDash val="solid"/>
          </a:ln>
        </p:spPr>
      </p:sp>
      <p:sp>
        <p:nvSpPr>
          <p:cNvPr id="6" name="Text 4"/>
          <p:cNvSpPr/>
          <p:nvPr/>
        </p:nvSpPr>
        <p:spPr>
          <a:xfrm>
            <a:off x="1020096"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ANTES · UNA SOLA APLICACIÓN</a:t>
            </a:r>
            <a:endParaRPr lang="en-US" sz="800" dirty="0"/>
          </a:p>
        </p:txBody>
      </p:sp>
      <p:sp>
        <p:nvSpPr>
          <p:cNvPr id="7" name="Shape 5"/>
          <p:cNvSpPr/>
          <p:nvPr/>
        </p:nvSpPr>
        <p:spPr>
          <a:xfrm>
            <a:off x="6453295" y="1477172"/>
            <a:ext cx="4825538" cy="3574473"/>
          </a:xfrm>
          <a:prstGeom prst="roundRect">
            <a:avLst>
              <a:gd name="adj" fmla="val 3070"/>
            </a:avLst>
          </a:prstGeom>
          <a:solidFill>
            <a:srgbClr val="F4F7FB"/>
          </a:solidFill>
          <a:ln w="12700">
            <a:solidFill>
              <a:srgbClr val="DFE6F0"/>
            </a:solidFill>
            <a:prstDash val="solid"/>
          </a:ln>
        </p:spPr>
      </p:sp>
      <p:sp>
        <p:nvSpPr>
          <p:cNvPr id="8" name="Text 6"/>
          <p:cNvSpPr/>
          <p:nvPr/>
        </p:nvSpPr>
        <p:spPr>
          <a:xfrm>
            <a:off x="6560529" y="1530789"/>
            <a:ext cx="4642658"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DESPUÉS · DOS MICROSERVICIOS</a:t>
            </a:r>
            <a:endParaRPr lang="en-US" sz="800" dirty="0"/>
          </a:p>
        </p:txBody>
      </p:sp>
      <p:sp>
        <p:nvSpPr>
          <p:cNvPr id="9" name="Shape 7"/>
          <p:cNvSpPr/>
          <p:nvPr/>
        </p:nvSpPr>
        <p:spPr>
          <a:xfrm>
            <a:off x="3325631" y="2781854"/>
            <a:ext cx="0" cy="1197448"/>
          </a:xfrm>
          <a:prstGeom prst="line">
            <a:avLst/>
          </a:prstGeom>
          <a:noFill/>
          <a:ln w="31750">
            <a:solidFill>
              <a:srgbClr val="55627E"/>
            </a:solidFill>
            <a:prstDash val="sysDot"/>
            <a:tailEnd type="triangle"/>
          </a:ln>
        </p:spPr>
      </p:sp>
      <p:sp>
        <p:nvSpPr>
          <p:cNvPr id="10" name="Text 8"/>
          <p:cNvSpPr/>
          <p:nvPr/>
        </p:nvSpPr>
        <p:spPr>
          <a:xfrm>
            <a:off x="3414993" y="3260875"/>
            <a:ext cx="788670"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todo junto</a:t>
            </a:r>
            <a:endParaRPr lang="en-US" sz="850" dirty="0"/>
          </a:p>
        </p:txBody>
      </p:sp>
      <p:sp>
        <p:nvSpPr>
          <p:cNvPr id="11" name="Text 9"/>
          <p:cNvSpPr/>
          <p:nvPr/>
        </p:nvSpPr>
        <p:spPr>
          <a:xfrm>
            <a:off x="321590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8687340" y="2442279"/>
            <a:ext cx="446809" cy="0"/>
          </a:xfrm>
          <a:prstGeom prst="line">
            <a:avLst/>
          </a:prstGeom>
          <a:noFill/>
          <a:ln w="38100">
            <a:solidFill>
              <a:srgbClr val="2BA6CB"/>
            </a:solidFill>
            <a:prstDash val="dash"/>
            <a:tailEnd type="triangle"/>
          </a:ln>
        </p:spPr>
      </p:sp>
      <p:sp>
        <p:nvSpPr>
          <p:cNvPr id="13" name="Text 11"/>
          <p:cNvSpPr/>
          <p:nvPr/>
        </p:nvSpPr>
        <p:spPr>
          <a:xfrm>
            <a:off x="8648541" y="2206406"/>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evento</a:t>
            </a:r>
            <a:endParaRPr lang="en-US" sz="850" dirty="0"/>
          </a:p>
        </p:txBody>
      </p:sp>
      <p:sp>
        <p:nvSpPr>
          <p:cNvPr id="14" name="Text 12"/>
          <p:cNvSpPr/>
          <p:nvPr/>
        </p:nvSpPr>
        <p:spPr>
          <a:xfrm>
            <a:off x="8792081" y="233255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5" name="Shape 13"/>
          <p:cNvSpPr/>
          <p:nvPr/>
        </p:nvSpPr>
        <p:spPr>
          <a:xfrm>
            <a:off x="7749041" y="2781854"/>
            <a:ext cx="0" cy="1197448"/>
          </a:xfrm>
          <a:prstGeom prst="line">
            <a:avLst/>
          </a:prstGeom>
          <a:noFill/>
          <a:ln w="31750">
            <a:solidFill>
              <a:srgbClr val="55627E"/>
            </a:solidFill>
            <a:prstDash val="sysDot"/>
            <a:tailEnd type="triangle"/>
          </a:ln>
        </p:spPr>
      </p:sp>
      <p:sp>
        <p:nvSpPr>
          <p:cNvPr id="16" name="Text 14"/>
          <p:cNvSpPr/>
          <p:nvPr/>
        </p:nvSpPr>
        <p:spPr>
          <a:xfrm>
            <a:off x="7639313"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7" name="Shape 15"/>
          <p:cNvSpPr/>
          <p:nvPr/>
        </p:nvSpPr>
        <p:spPr>
          <a:xfrm>
            <a:off x="10072449" y="2781854"/>
            <a:ext cx="0" cy="1197448"/>
          </a:xfrm>
          <a:prstGeom prst="line">
            <a:avLst/>
          </a:prstGeom>
          <a:noFill/>
          <a:ln w="31750">
            <a:solidFill>
              <a:srgbClr val="55627E"/>
            </a:solidFill>
            <a:prstDash val="sysDot"/>
            <a:tailEnd type="triangle"/>
          </a:ln>
        </p:spPr>
      </p:sp>
      <p:sp>
        <p:nvSpPr>
          <p:cNvPr id="18" name="Text 16"/>
          <p:cNvSpPr/>
          <p:nvPr/>
        </p:nvSpPr>
        <p:spPr>
          <a:xfrm>
            <a:off x="9962721" y="28865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9" name="Text 17"/>
          <p:cNvSpPr/>
          <p:nvPr/>
        </p:nvSpPr>
        <p:spPr>
          <a:xfrm>
            <a:off x="1270309" y="2102704"/>
            <a:ext cx="4110644" cy="679150"/>
          </a:xfrm>
          <a:prstGeom prst="roundRect">
            <a:avLst>
              <a:gd name="adj" fmla="val 1346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aplicación</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trámites y avisos en el mismo proceso</a:t>
            </a:r>
            <a:endParaRPr lang="en-US" sz="1050" dirty="0"/>
          </a:p>
        </p:txBody>
      </p:sp>
      <p:sp>
        <p:nvSpPr>
          <p:cNvPr id="20" name="Text 18"/>
          <p:cNvSpPr/>
          <p:nvPr/>
        </p:nvSpPr>
        <p:spPr>
          <a:xfrm>
            <a:off x="2342651" y="3979303"/>
            <a:ext cx="1965960"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Una base</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tablas de todos</a:t>
            </a:r>
            <a:endParaRPr lang="en-US" sz="1050" dirty="0"/>
          </a:p>
        </p:txBody>
      </p:sp>
      <p:sp>
        <p:nvSpPr>
          <p:cNvPr id="21" name="Text 19"/>
          <p:cNvSpPr/>
          <p:nvPr/>
        </p:nvSpPr>
        <p:spPr>
          <a:xfrm>
            <a:off x="6810742"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solicitudes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el trámite</a:t>
            </a:r>
            <a:endParaRPr lang="en-US" sz="1050" dirty="0"/>
          </a:p>
        </p:txBody>
      </p:sp>
      <p:sp>
        <p:nvSpPr>
          <p:cNvPr id="22" name="Text 20"/>
          <p:cNvSpPr/>
          <p:nvPr/>
        </p:nvSpPr>
        <p:spPr>
          <a:xfrm>
            <a:off x="9134149" y="2102704"/>
            <a:ext cx="1876598" cy="679150"/>
          </a:xfrm>
          <a:prstGeom prst="roundRect">
            <a:avLst>
              <a:gd name="adj" fmla="val 13464"/>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notificaciones</a:t>
            </a:r>
            <a:endParaRPr lang="en-US" sz="1050" dirty="0"/>
          </a:p>
          <a:p>
            <a:pPr algn="ctr" indent="0" marL="0">
              <a:buNone/>
            </a:pPr>
            <a:r>
              <a:rPr lang="en-US" sz="850" dirty="0">
                <a:solidFill>
                  <a:srgbClr val="55627E"/>
                </a:solidFill>
                <a:latin typeface="Segoe UI" pitchFamily="34" charset="0"/>
                <a:ea typeface="Segoe UI" pitchFamily="34" charset="-122"/>
                <a:cs typeface="Segoe UI" pitchFamily="34" charset="-120"/>
              </a:rPr>
              <a:t>los avisos</a:t>
            </a:r>
            <a:endParaRPr lang="en-US" sz="1050" dirty="0"/>
          </a:p>
        </p:txBody>
      </p:sp>
      <p:sp>
        <p:nvSpPr>
          <p:cNvPr id="23" name="Text 21"/>
          <p:cNvSpPr/>
          <p:nvPr/>
        </p:nvSpPr>
        <p:spPr>
          <a:xfrm>
            <a:off x="6810742" y="3979303"/>
            <a:ext cx="1876598"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db-solicitudes</a:t>
            </a:r>
            <a:endParaRPr lang="en-US" sz="1050" dirty="0"/>
          </a:p>
        </p:txBody>
      </p:sp>
      <p:sp>
        <p:nvSpPr>
          <p:cNvPr id="24" name="Text 22"/>
          <p:cNvSpPr/>
          <p:nvPr/>
        </p:nvSpPr>
        <p:spPr>
          <a:xfrm>
            <a:off x="9134149" y="3979303"/>
            <a:ext cx="1876598" cy="679150"/>
          </a:xfrm>
          <a:prstGeom prst="roundRect">
            <a:avLst>
              <a:gd name="adj" fmla="val 13464"/>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50" b="1" dirty="0">
                <a:solidFill>
                  <a:srgbClr val="0B1A3C"/>
                </a:solidFill>
                <a:latin typeface="Segoe UI" pitchFamily="34" charset="0"/>
                <a:ea typeface="Segoe UI" pitchFamily="34" charset="-122"/>
                <a:cs typeface="Segoe UI" pitchFamily="34" charset="-120"/>
              </a:rPr>
              <a:t>db-notificaciones</a:t>
            </a:r>
            <a:endParaRPr lang="en-US" sz="1050" dirty="0"/>
          </a:p>
        </p:txBody>
      </p:sp>
      <p:sp>
        <p:nvSpPr>
          <p:cNvPr id="25" name="Shape 23"/>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7" name="Text 25"/>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comunican con un contrato: el evento SolicitudEnviada por HTTP.</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3 · DISEÑAR PARA CAMBIAR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Cuándo conviene separar</a:t>
            </a:r>
            <a:endParaRPr lang="en-US" sz="2800" dirty="0"/>
          </a:p>
        </p:txBody>
      </p:sp>
      <p:sp>
        <p:nvSpPr>
          <p:cNvPr id="5" name="Text 3"/>
          <p:cNvSpPr/>
          <p:nvPr/>
        </p:nvSpPr>
        <p:spPr>
          <a:xfrm>
            <a:off x="612648"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Separar agrega red, bases propias y fallos parciales</a:t>
            </a:r>
            <a:endParaRPr lang="en-US" sz="1100" dirty="0"/>
          </a:p>
        </p:txBody>
      </p:sp>
      <p:sp>
        <p:nvSpPr>
          <p:cNvPr id="6" name="Text 4"/>
          <p:cNvSpPr/>
          <p:nvPr/>
        </p:nvSpPr>
        <p:spPr>
          <a:xfrm>
            <a:off x="4310786"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decide por negocio, equipos y operación</a:t>
            </a:r>
            <a:endParaRPr lang="en-US" sz="1100" dirty="0"/>
          </a:p>
        </p:txBody>
      </p:sp>
      <p:sp>
        <p:nvSpPr>
          <p:cNvPr id="7" name="Text 5"/>
          <p:cNvSpPr/>
          <p:nvPr/>
        </p:nvSpPr>
        <p:spPr>
          <a:xfrm>
            <a:off x="8008925"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En ARKA-Lite separamos para aprender esas fronteras</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1502246"/>
                <a:gridCol w="3755616"/>
                <a:gridCol w="5708537"/>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Criterio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Favorece un monolito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Favorece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Negocio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Las partes cambian juntas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Responsabilidades claramente distintas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Despliegue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Se publica todo junto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Una parte necesita salir sola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Carga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Pareja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Una parte necesita más recursos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Equipos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equipo pequeño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Un equipo dueño de cada parte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9"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3 · DISEÑAR PARA CAMBIAR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4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04</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Guardar sin perder datos</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Qué hicimos para que un aviso nunca se pierda ni se duplique.</a:t>
            </a:r>
            <a:endParaRPr lang="en-US" sz="1900" dirty="0"/>
          </a:p>
        </p:txBody>
      </p:sp>
      <p:sp>
        <p:nvSpPr>
          <p:cNvPr id="6" name="Text 4"/>
          <p:cNvSpPr/>
          <p:nvPr/>
        </p:nvSpPr>
        <p:spPr>
          <a:xfrm>
            <a:off x="758952" y="4617720"/>
            <a:ext cx="237744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Modelado y consultas</a:t>
            </a:r>
            <a:endParaRPr lang="en-US" sz="1300" dirty="0"/>
          </a:p>
        </p:txBody>
      </p:sp>
      <p:sp>
        <p:nvSpPr>
          <p:cNvPr id="7" name="Text 5"/>
          <p:cNvSpPr/>
          <p:nvPr/>
        </p:nvSpPr>
        <p:spPr>
          <a:xfrm>
            <a:off x="3264408" y="4617720"/>
            <a:ext cx="352958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Adaptador con base de datos real</a:t>
            </a:r>
            <a:endParaRPr lang="en-US" sz="1300" dirty="0"/>
          </a:p>
        </p:txBody>
      </p:sp>
      <p:sp>
        <p:nvSpPr>
          <p:cNvPr id="8" name="Text 6"/>
          <p:cNvSpPr/>
          <p:nvPr/>
        </p:nvSpPr>
        <p:spPr>
          <a:xfrm>
            <a:off x="6922008" y="461772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El problema de la consistencia</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P4</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4 · Base de datos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 adaptador conectado a una base real</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JPA traduce entre objetos y tablas.</a:t>
            </a:r>
            <a:endParaRPr lang="en-US" sz="3200" dirty="0"/>
          </a:p>
        </p:txBody>
      </p:sp>
      <p:sp>
        <p:nvSpPr>
          <p:cNvPr id="6" name="Shape 4"/>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7" name="Text 5"/>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Cada servicio tiene su base PostgreSQL</a:t>
            </a:r>
            <a:endParaRPr lang="en-US" sz="1600" dirty="0"/>
          </a:p>
        </p:txBody>
      </p:sp>
      <p:sp>
        <p:nvSpPr>
          <p:cNvPr id="9" name="Shape 7"/>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0" name="Text 8"/>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schema.sql crea las tablas al arrancar</a:t>
            </a:r>
            <a:endParaRPr lang="en-US" sz="1600" dirty="0"/>
          </a:p>
        </p:txBody>
      </p:sp>
      <p:sp>
        <p:nvSpPr>
          <p:cNvPr id="12" name="Shape 10"/>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3" name="Text 11"/>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Hibernate revisa que las entidades coincidan</a:t>
            </a:r>
            <a:endParaRPr lang="en-US" sz="1600" dirty="0"/>
          </a:p>
        </p:txBody>
      </p:sp>
      <p:sp>
        <p:nvSpPr>
          <p:cNvPr id="15" name="Shape 13"/>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La entidad JPA no es el objeto del dominio</a:t>
            </a:r>
            <a:endParaRPr lang="en-US" sz="1600" dirty="0"/>
          </a:p>
        </p:txBody>
      </p:sp>
      <p:sp>
        <p:nvSpPr>
          <p:cNvPr id="18" name="Text 1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Solicitudes guarda el trámite y sus eventos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Notificaciones guarda qué eventos ya recibió</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texto del aviso vive en memoria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No hay relación directa entre las dos bases</a:t>
            </a:r>
            <a:endParaRPr lang="en-US" sz="1100" dirty="0"/>
          </a:p>
        </p:txBody>
      </p:sp>
      <p:sp>
        <p:nvSpPr>
          <p:cNvPr id="9" name="Shape 7"/>
          <p:cNvSpPr/>
          <p:nvPr/>
        </p:nvSpPr>
        <p:spPr>
          <a:xfrm>
            <a:off x="795421" y="2058573"/>
            <a:ext cx="5117653" cy="3107146"/>
          </a:xfrm>
          <a:prstGeom prst="roundRect">
            <a:avLst>
              <a:gd name="adj" fmla="val 3531"/>
            </a:avLst>
          </a:prstGeom>
          <a:solidFill>
            <a:srgbClr val="F4F7FB"/>
          </a:solidFill>
          <a:ln w="12700">
            <a:solidFill>
              <a:srgbClr val="DFE6F0"/>
            </a:solidFill>
            <a:prstDash val="solid"/>
          </a:ln>
        </p:spPr>
      </p:sp>
      <p:sp>
        <p:nvSpPr>
          <p:cNvPr id="10" name="Text 8"/>
          <p:cNvSpPr/>
          <p:nvPr/>
        </p:nvSpPr>
        <p:spPr>
          <a:xfrm>
            <a:off x="905085" y="2113405"/>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11" name="Shape 9"/>
          <p:cNvSpPr/>
          <p:nvPr/>
        </p:nvSpPr>
        <p:spPr>
          <a:xfrm>
            <a:off x="6278621" y="2058573"/>
            <a:ext cx="5117653" cy="3107146"/>
          </a:xfrm>
          <a:prstGeom prst="roundRect">
            <a:avLst>
              <a:gd name="adj" fmla="val 3531"/>
            </a:avLst>
          </a:prstGeom>
          <a:solidFill>
            <a:srgbClr val="F4F7FB"/>
          </a:solidFill>
          <a:ln w="12700">
            <a:solidFill>
              <a:srgbClr val="DFE6F0"/>
            </a:solidFill>
            <a:prstDash val="solid"/>
          </a:ln>
        </p:spPr>
      </p:sp>
      <p:sp>
        <p:nvSpPr>
          <p:cNvPr id="12" name="Text 10"/>
          <p:cNvSpPr/>
          <p:nvPr/>
        </p:nvSpPr>
        <p:spPr>
          <a:xfrm>
            <a:off x="6388285" y="2113405"/>
            <a:ext cx="4934773"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2166221" y="3155213"/>
            <a:ext cx="0" cy="822480"/>
          </a:xfrm>
          <a:prstGeom prst="line">
            <a:avLst/>
          </a:prstGeom>
          <a:noFill/>
          <a:ln w="31750">
            <a:solidFill>
              <a:srgbClr val="55627E"/>
            </a:solidFill>
            <a:prstDash val="sysDot"/>
            <a:tailEnd type="triangle"/>
          </a:ln>
        </p:spPr>
      </p:sp>
      <p:sp>
        <p:nvSpPr>
          <p:cNvPr id="14" name="Text 12"/>
          <p:cNvSpPr/>
          <p:nvPr/>
        </p:nvSpPr>
        <p:spPr>
          <a:xfrm>
            <a:off x="2257608" y="3447560"/>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a:t>
            </a:r>
            <a:endParaRPr lang="en-US" sz="850" dirty="0"/>
          </a:p>
        </p:txBody>
      </p:sp>
      <p:sp>
        <p:nvSpPr>
          <p:cNvPr id="15" name="Text 13"/>
          <p:cNvSpPr/>
          <p:nvPr/>
        </p:nvSpPr>
        <p:spPr>
          <a:xfrm>
            <a:off x="2056493"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6" name="Shape 14"/>
          <p:cNvSpPr/>
          <p:nvPr/>
        </p:nvSpPr>
        <p:spPr>
          <a:xfrm>
            <a:off x="4542274" y="3155213"/>
            <a:ext cx="0" cy="822480"/>
          </a:xfrm>
          <a:prstGeom prst="line">
            <a:avLst/>
          </a:prstGeom>
          <a:noFill/>
          <a:ln w="31750">
            <a:solidFill>
              <a:srgbClr val="55627E"/>
            </a:solidFill>
            <a:prstDash val="sysDot"/>
            <a:tailEnd type="triangle"/>
          </a:ln>
        </p:spPr>
      </p:sp>
      <p:sp>
        <p:nvSpPr>
          <p:cNvPr id="17" name="Text 15"/>
          <p:cNvSpPr/>
          <p:nvPr/>
        </p:nvSpPr>
        <p:spPr>
          <a:xfrm>
            <a:off x="4633661" y="3447560"/>
            <a:ext cx="656539"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18" name="Text 16"/>
          <p:cNvSpPr/>
          <p:nvPr/>
        </p:nvSpPr>
        <p:spPr>
          <a:xfrm>
            <a:off x="4432546"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9" name="Shape 17"/>
          <p:cNvSpPr/>
          <p:nvPr/>
        </p:nvSpPr>
        <p:spPr>
          <a:xfrm>
            <a:off x="7649421" y="3155213"/>
            <a:ext cx="0" cy="822480"/>
          </a:xfrm>
          <a:prstGeom prst="line">
            <a:avLst/>
          </a:prstGeom>
          <a:noFill/>
          <a:ln w="31750">
            <a:solidFill>
              <a:srgbClr val="55627E"/>
            </a:solidFill>
            <a:prstDash val="sysDot"/>
            <a:tailEnd type="triangle"/>
          </a:ln>
        </p:spPr>
      </p:sp>
      <p:sp>
        <p:nvSpPr>
          <p:cNvPr id="20" name="Text 18"/>
          <p:cNvSpPr/>
          <p:nvPr/>
        </p:nvSpPr>
        <p:spPr>
          <a:xfrm>
            <a:off x="7740807" y="3447560"/>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agrega</a:t>
            </a:r>
            <a:endParaRPr lang="en-US" sz="850" dirty="0"/>
          </a:p>
        </p:txBody>
      </p:sp>
      <p:sp>
        <p:nvSpPr>
          <p:cNvPr id="21" name="Text 19"/>
          <p:cNvSpPr/>
          <p:nvPr/>
        </p:nvSpPr>
        <p:spPr>
          <a:xfrm>
            <a:off x="7539693"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2" name="Shape 20"/>
          <p:cNvSpPr/>
          <p:nvPr/>
        </p:nvSpPr>
        <p:spPr>
          <a:xfrm>
            <a:off x="10025474" y="3155213"/>
            <a:ext cx="0" cy="822480"/>
          </a:xfrm>
          <a:prstGeom prst="line">
            <a:avLst/>
          </a:prstGeom>
          <a:noFill/>
          <a:ln w="31750">
            <a:solidFill>
              <a:srgbClr val="55627E"/>
            </a:solidFill>
            <a:prstDash val="sysDot"/>
            <a:tailEnd type="triangle"/>
          </a:ln>
        </p:spPr>
      </p:sp>
      <p:sp>
        <p:nvSpPr>
          <p:cNvPr id="23" name="Text 21"/>
          <p:cNvSpPr/>
          <p:nvPr/>
        </p:nvSpPr>
        <p:spPr>
          <a:xfrm>
            <a:off x="10116861" y="3447560"/>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guarda id</a:t>
            </a:r>
            <a:endParaRPr lang="en-US" sz="850" dirty="0"/>
          </a:p>
        </p:txBody>
      </p:sp>
      <p:sp>
        <p:nvSpPr>
          <p:cNvPr id="24" name="Text 22"/>
          <p:cNvSpPr/>
          <p:nvPr/>
        </p:nvSpPr>
        <p:spPr>
          <a:xfrm>
            <a:off x="9915746" y="326481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25" name="Text 23"/>
          <p:cNvSpPr/>
          <p:nvPr/>
        </p:nvSpPr>
        <p:spPr>
          <a:xfrm>
            <a:off x="1160968" y="2515507"/>
            <a:ext cx="4386560" cy="639707"/>
          </a:xfrm>
          <a:prstGeom prst="roundRect">
            <a:avLst>
              <a:gd name="adj" fmla="val 1429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Proceso Java de 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ServicioDeSolicitudes</a:t>
            </a:r>
            <a:endParaRPr lang="en-US" sz="1100" dirty="0"/>
          </a:p>
        </p:txBody>
      </p:sp>
      <p:sp>
        <p:nvSpPr>
          <p:cNvPr id="26" name="Text 24"/>
          <p:cNvSpPr/>
          <p:nvPr/>
        </p:nvSpPr>
        <p:spPr>
          <a:xfrm>
            <a:off x="1160968"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id · tipo · estado</a:t>
            </a:r>
            <a:endParaRPr lang="en-US" sz="1100" dirty="0"/>
          </a:p>
        </p:txBody>
      </p:sp>
      <p:sp>
        <p:nvSpPr>
          <p:cNvPr id="27" name="Text 25"/>
          <p:cNvSpPr/>
          <p:nvPr/>
        </p:nvSpPr>
        <p:spPr>
          <a:xfrm>
            <a:off x="3537021"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evento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evento_id · procesado</a:t>
            </a:r>
            <a:endParaRPr lang="en-US" sz="1100" dirty="0"/>
          </a:p>
        </p:txBody>
      </p:sp>
      <p:sp>
        <p:nvSpPr>
          <p:cNvPr id="28" name="Text 26"/>
          <p:cNvSpPr/>
          <p:nvPr/>
        </p:nvSpPr>
        <p:spPr>
          <a:xfrm>
            <a:off x="6644168" y="2515507"/>
            <a:ext cx="4386560" cy="639707"/>
          </a:xfrm>
          <a:prstGeom prst="roundRect">
            <a:avLst>
              <a:gd name="adj" fmla="val 1429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Proceso Java de notificaciones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ConsumoIdempotente</a:t>
            </a:r>
            <a:endParaRPr lang="en-US" sz="1100" dirty="0"/>
          </a:p>
        </p:txBody>
      </p:sp>
      <p:sp>
        <p:nvSpPr>
          <p:cNvPr id="29" name="Text 27"/>
          <p:cNvSpPr/>
          <p:nvPr/>
        </p:nvSpPr>
        <p:spPr>
          <a:xfrm>
            <a:off x="6644168" y="3977693"/>
            <a:ext cx="2010507" cy="913867"/>
          </a:xfrm>
          <a:prstGeom prst="roundRect">
            <a:avLst>
              <a:gd name="adj" fmla="val 10006"/>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1100" b="1" dirty="0">
                <a:solidFill>
                  <a:srgbClr val="5C3404"/>
                </a:solidFill>
                <a:latin typeface="Segoe UI" pitchFamily="34" charset="0"/>
                <a:ea typeface="Segoe UI" pitchFamily="34" charset="-122"/>
                <a:cs typeface="Segoe UI" pitchFamily="34" charset="-120"/>
              </a:rPr>
              <a:t>Avisos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lista en memoria</a:t>
            </a:r>
            <a:endParaRPr lang="en-US" sz="1100" dirty="0"/>
          </a:p>
        </p:txBody>
      </p:sp>
      <p:sp>
        <p:nvSpPr>
          <p:cNvPr id="30" name="Text 28"/>
          <p:cNvSpPr/>
          <p:nvPr/>
        </p:nvSpPr>
        <p:spPr>
          <a:xfrm>
            <a:off x="9020221" y="3977693"/>
            <a:ext cx="2010507" cy="913867"/>
          </a:xfrm>
          <a:prstGeom prst="roundRect">
            <a:avLst>
              <a:gd name="adj" fmla="val 1000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evento_procesado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evento_id</a:t>
            </a:r>
            <a:endParaRPr lang="en-US" sz="1100" dirty="0"/>
          </a:p>
        </p:txBody>
      </p:sp>
      <p:sp>
        <p:nvSpPr>
          <p:cNvPr id="31" name="Text 29"/>
          <p:cNvSpPr/>
          <p:nvPr/>
        </p:nvSpPr>
        <p:spPr>
          <a:xfrm>
            <a:off x="3902568" y="5439880"/>
            <a:ext cx="4386560" cy="584875"/>
          </a:xfrm>
          <a:prstGeom prst="roundRect">
            <a:avLst>
              <a:gd name="adj" fmla="val 15634"/>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Sin FK entre bases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el vínculo es el contrato del evento por HTTP</a:t>
            </a:r>
            <a:endParaRPr lang="en-US" sz="1100" dirty="0"/>
          </a:p>
        </p:txBody>
      </p:sp>
      <p:sp>
        <p:nvSpPr>
          <p:cNvPr id="32"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E3F4FA"/>
          </a:solidFill>
          <a:ln w="12700">
            <a:solidFill>
              <a:srgbClr val="2BA6CB"/>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44450">
            <a:solidFill>
              <a:srgbClr val="2BA6CB"/>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44450">
            <a:solidFill>
              <a:srgbClr val="2BA6CB"/>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C7D2E2"/>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C7D2E2"/>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Solicitudes guarda el trámite en su propia base de datos.</a:t>
            </a:r>
            <a:endParaRPr lang="en-US" sz="1300" dirty="0"/>
          </a:p>
        </p:txBody>
      </p:sp>
      <p:sp>
        <p:nvSpPr>
          <p:cNvPr id="31" name="Shape 2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2" name="Text 3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3" name="Text 3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esa misma base anota el evento pendiente, para no perder la intención de avisar.</a:t>
            </a:r>
            <a:endParaRPr lang="en-US" sz="13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E3F4FA"/>
          </a:solidFill>
          <a:ln w="12700">
            <a:solidFill>
              <a:srgbClr val="2BA6CB"/>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55627E"/>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44450">
            <a:solidFill>
              <a:srgbClr val="2BA6CB"/>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44450">
            <a:solidFill>
              <a:srgbClr val="2BA6CB"/>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31750">
            <a:solidFill>
              <a:srgbClr val="2BA6CB"/>
            </a:solidFill>
            <a:prstDash val="dash"/>
          </a:ln>
        </p:spPr>
        <p:txBody>
          <a:bodyPr wrap="square" lIns="38100" tIns="38100" rIns="38100" bIns="38100" rtlCol="0" anchor="ctr">
            <a:normAutofit/>
          </a:bodyPr>
          <a:lstStyle/>
          <a:p>
            <a:pPr algn="ctr" indent="0" marL="0">
              <a:buNone/>
            </a:pPr>
            <a:r>
              <a:rPr lang="en-US" sz="950" b="1" dirty="0">
                <a:solidFill>
                  <a:srgbClr val="5C3404"/>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guarda en su base los números de evento que ya recibió.</a:t>
            </a:r>
            <a:endParaRPr lang="en-US" sz="1300" dirty="0"/>
          </a:p>
        </p:txBody>
      </p:sp>
      <p:sp>
        <p:nvSpPr>
          <p:cNvPr id="31" name="Shape 2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2" name="Text 3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3" name="Text 3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texto del aviso vive en memoria: si el servicio se reinicia, se pierde el texto, pero no el registro.</a:t>
            </a:r>
            <a:endParaRPr lang="en-US" sz="13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Dónde vive cada dato</a:t>
            </a:r>
            <a:endParaRPr lang="en-US" sz="2800" dirty="0"/>
          </a:p>
        </p:txBody>
      </p:sp>
      <p:sp>
        <p:nvSpPr>
          <p:cNvPr id="5" name="Shape 3"/>
          <p:cNvSpPr/>
          <p:nvPr/>
        </p:nvSpPr>
        <p:spPr>
          <a:xfrm>
            <a:off x="1344778" y="1462278"/>
            <a:ext cx="4587240" cy="2785110"/>
          </a:xfrm>
          <a:prstGeom prst="roundRect">
            <a:avLst>
              <a:gd name="adj" fmla="val 3940"/>
            </a:avLst>
          </a:prstGeom>
          <a:solidFill>
            <a:srgbClr val="F4F7FB"/>
          </a:solidFill>
          <a:ln w="12700">
            <a:solidFill>
              <a:srgbClr val="DFE6F0"/>
            </a:solidFill>
            <a:prstDash val="solid"/>
          </a:ln>
        </p:spPr>
      </p:sp>
      <p:sp>
        <p:nvSpPr>
          <p:cNvPr id="6" name="Text 4"/>
          <p:cNvSpPr/>
          <p:nvPr/>
        </p:nvSpPr>
        <p:spPr>
          <a:xfrm>
            <a:off x="14430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a:t>
            </a:r>
            <a:endParaRPr lang="en-US" sz="800" dirty="0"/>
          </a:p>
        </p:txBody>
      </p:sp>
      <p:sp>
        <p:nvSpPr>
          <p:cNvPr id="7" name="Shape 5"/>
          <p:cNvSpPr/>
          <p:nvPr/>
        </p:nvSpPr>
        <p:spPr>
          <a:xfrm>
            <a:off x="6259678" y="1462278"/>
            <a:ext cx="4587240" cy="2785110"/>
          </a:xfrm>
          <a:prstGeom prst="roundRect">
            <a:avLst>
              <a:gd name="adj" fmla="val 3940"/>
            </a:avLst>
          </a:prstGeom>
          <a:solidFill>
            <a:srgbClr val="F4F7FB"/>
          </a:solidFill>
          <a:ln w="12700">
            <a:solidFill>
              <a:srgbClr val="DFE6F0"/>
            </a:solidFill>
            <a:prstDash val="solid"/>
          </a:ln>
        </p:spPr>
      </p:sp>
      <p:sp>
        <p:nvSpPr>
          <p:cNvPr id="8" name="Text 6"/>
          <p:cNvSpPr/>
          <p:nvPr/>
        </p:nvSpPr>
        <p:spPr>
          <a:xfrm>
            <a:off x="6357976" y="1511427"/>
            <a:ext cx="440436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2573503" y="2445258"/>
            <a:ext cx="0" cy="737235"/>
          </a:xfrm>
          <a:prstGeom prst="line">
            <a:avLst/>
          </a:prstGeom>
          <a:noFill/>
          <a:ln w="31750">
            <a:solidFill>
              <a:srgbClr val="55627E"/>
            </a:solidFill>
            <a:prstDash val="sysDot"/>
            <a:tailEnd type="triangle"/>
          </a:ln>
        </p:spPr>
      </p:sp>
      <p:sp>
        <p:nvSpPr>
          <p:cNvPr id="10" name="Text 8"/>
          <p:cNvSpPr/>
          <p:nvPr/>
        </p:nvSpPr>
        <p:spPr>
          <a:xfrm>
            <a:off x="26554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a:t>
            </a:r>
            <a:endParaRPr lang="en-US" sz="800" dirty="0"/>
          </a:p>
        </p:txBody>
      </p:sp>
      <p:sp>
        <p:nvSpPr>
          <p:cNvPr id="11" name="Text 9"/>
          <p:cNvSpPr/>
          <p:nvPr/>
        </p:nvSpPr>
        <p:spPr>
          <a:xfrm>
            <a:off x="24637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2" name="Shape 10"/>
          <p:cNvSpPr/>
          <p:nvPr/>
        </p:nvSpPr>
        <p:spPr>
          <a:xfrm>
            <a:off x="4703293" y="2445258"/>
            <a:ext cx="0" cy="737235"/>
          </a:xfrm>
          <a:prstGeom prst="line">
            <a:avLst/>
          </a:prstGeom>
          <a:noFill/>
          <a:ln w="31750">
            <a:solidFill>
              <a:srgbClr val="55627E"/>
            </a:solidFill>
            <a:prstDash val="sysDot"/>
            <a:tailEnd type="triangle"/>
          </a:ln>
        </p:spPr>
      </p:sp>
      <p:sp>
        <p:nvSpPr>
          <p:cNvPr id="13" name="Text 11"/>
          <p:cNvSpPr/>
          <p:nvPr/>
        </p:nvSpPr>
        <p:spPr>
          <a:xfrm>
            <a:off x="4785208" y="2691194"/>
            <a:ext cx="625450"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a:t>
            </a:r>
            <a:endParaRPr lang="en-US" sz="800" dirty="0"/>
          </a:p>
        </p:txBody>
      </p:sp>
      <p:sp>
        <p:nvSpPr>
          <p:cNvPr id="14" name="Text 12"/>
          <p:cNvSpPr/>
          <p:nvPr/>
        </p:nvSpPr>
        <p:spPr>
          <a:xfrm>
            <a:off x="45935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7488403" y="2445258"/>
            <a:ext cx="0" cy="737235"/>
          </a:xfrm>
          <a:prstGeom prst="line">
            <a:avLst/>
          </a:prstGeom>
          <a:noFill/>
          <a:ln w="31750">
            <a:solidFill>
              <a:srgbClr val="55627E"/>
            </a:solidFill>
            <a:prstDash val="sysDot"/>
            <a:tailEnd type="triangle"/>
          </a:ln>
        </p:spPr>
      </p:sp>
      <p:sp>
        <p:nvSpPr>
          <p:cNvPr id="16" name="Text 14"/>
          <p:cNvSpPr/>
          <p:nvPr/>
        </p:nvSpPr>
        <p:spPr>
          <a:xfrm>
            <a:off x="7570318" y="2691194"/>
            <a:ext cx="501091"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agrega</a:t>
            </a:r>
            <a:endParaRPr lang="en-US" sz="800" dirty="0"/>
          </a:p>
        </p:txBody>
      </p:sp>
      <p:sp>
        <p:nvSpPr>
          <p:cNvPr id="17" name="Text 15"/>
          <p:cNvSpPr/>
          <p:nvPr/>
        </p:nvSpPr>
        <p:spPr>
          <a:xfrm>
            <a:off x="737867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9618193" y="2445258"/>
            <a:ext cx="0" cy="737235"/>
          </a:xfrm>
          <a:prstGeom prst="line">
            <a:avLst/>
          </a:prstGeom>
          <a:noFill/>
          <a:ln w="31750">
            <a:solidFill>
              <a:srgbClr val="55627E"/>
            </a:solidFill>
            <a:prstDash val="sysDot"/>
            <a:tailEnd type="triangle"/>
          </a:ln>
        </p:spPr>
      </p:sp>
      <p:sp>
        <p:nvSpPr>
          <p:cNvPr id="19" name="Text 17"/>
          <p:cNvSpPr/>
          <p:nvPr/>
        </p:nvSpPr>
        <p:spPr>
          <a:xfrm>
            <a:off x="9700108" y="269119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guarda id</a:t>
            </a:r>
            <a:endParaRPr lang="en-US" sz="800" dirty="0"/>
          </a:p>
        </p:txBody>
      </p:sp>
      <p:sp>
        <p:nvSpPr>
          <p:cNvPr id="20" name="Text 18"/>
          <p:cNvSpPr/>
          <p:nvPr/>
        </p:nvSpPr>
        <p:spPr>
          <a:xfrm>
            <a:off x="9508465" y="2532126"/>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1" name="Text 19"/>
          <p:cNvSpPr/>
          <p:nvPr/>
        </p:nvSpPr>
        <p:spPr>
          <a:xfrm>
            <a:off x="16724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ServicioDeSolicitudes</a:t>
            </a:r>
            <a:endParaRPr lang="en-US" sz="950" dirty="0"/>
          </a:p>
        </p:txBody>
      </p:sp>
      <p:sp>
        <p:nvSpPr>
          <p:cNvPr id="22" name="Text 20"/>
          <p:cNvSpPr/>
          <p:nvPr/>
        </p:nvSpPr>
        <p:spPr>
          <a:xfrm>
            <a:off x="167243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id · tipo · estado</a:t>
            </a:r>
            <a:endParaRPr lang="en-US" sz="950" dirty="0"/>
          </a:p>
        </p:txBody>
      </p:sp>
      <p:sp>
        <p:nvSpPr>
          <p:cNvPr id="23" name="Text 21"/>
          <p:cNvSpPr/>
          <p:nvPr/>
        </p:nvSpPr>
        <p:spPr>
          <a:xfrm>
            <a:off x="38022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 · procesado</a:t>
            </a:r>
            <a:endParaRPr lang="en-US" sz="950" dirty="0"/>
          </a:p>
        </p:txBody>
      </p:sp>
      <p:sp>
        <p:nvSpPr>
          <p:cNvPr id="24" name="Text 22"/>
          <p:cNvSpPr/>
          <p:nvPr/>
        </p:nvSpPr>
        <p:spPr>
          <a:xfrm>
            <a:off x="6587338" y="1871853"/>
            <a:ext cx="3931920" cy="573405"/>
          </a:xfrm>
          <a:prstGeom prst="roundRect">
            <a:avLst>
              <a:gd name="adj" fmla="val 15947"/>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Proceso Java de notificaciones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ConsumoIdempotente</a:t>
            </a:r>
            <a:endParaRPr lang="en-US" sz="950" dirty="0"/>
          </a:p>
        </p:txBody>
      </p:sp>
      <p:sp>
        <p:nvSpPr>
          <p:cNvPr id="25" name="Text 23"/>
          <p:cNvSpPr/>
          <p:nvPr/>
        </p:nvSpPr>
        <p:spPr>
          <a:xfrm>
            <a:off x="6587338" y="3182493"/>
            <a:ext cx="1802130" cy="819150"/>
          </a:xfrm>
          <a:prstGeom prst="roundRect">
            <a:avLst>
              <a:gd name="adj" fmla="val 11163"/>
            </a:avLst>
          </a:prstGeom>
          <a:solidFill>
            <a:srgbClr val="FBE7BD"/>
          </a:solidFill>
          <a:ln w="15875">
            <a:solidFill>
              <a:srgbClr val="A85D08"/>
            </a:solidFill>
            <a:prstDash val="dash"/>
          </a:ln>
        </p:spPr>
        <p:txBody>
          <a:bodyPr wrap="square" lIns="38100" tIns="38100" rIns="38100" bIns="38100" rtlCol="0" anchor="ctr">
            <a:normAutofit/>
          </a:bodyPr>
          <a:lstStyle/>
          <a:p>
            <a:pPr algn="ctr" indent="0" marL="0">
              <a:buNone/>
            </a:pPr>
            <a:r>
              <a:rPr lang="en-US" sz="950" b="1" dirty="0">
                <a:solidFill>
                  <a:srgbClr val="5C3404"/>
                </a:solidFill>
                <a:latin typeface="Segoe UI" pitchFamily="34" charset="0"/>
                <a:ea typeface="Segoe UI" pitchFamily="34" charset="-122"/>
                <a:cs typeface="Segoe UI" pitchFamily="34" charset="-120"/>
              </a:rPr>
              <a:t>Avisos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lista en memoria</a:t>
            </a:r>
            <a:endParaRPr lang="en-US" sz="950" dirty="0"/>
          </a:p>
        </p:txBody>
      </p:sp>
      <p:sp>
        <p:nvSpPr>
          <p:cNvPr id="26" name="Text 24"/>
          <p:cNvSpPr/>
          <p:nvPr/>
        </p:nvSpPr>
        <p:spPr>
          <a:xfrm>
            <a:off x="8717128" y="3182493"/>
            <a:ext cx="1802130" cy="819150"/>
          </a:xfrm>
          <a:prstGeom prst="roundRect">
            <a:avLst>
              <a:gd name="adj" fmla="val 11163"/>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evento_procesado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evento_id</a:t>
            </a:r>
            <a:endParaRPr lang="en-US" sz="950" dirty="0"/>
          </a:p>
        </p:txBody>
      </p:sp>
      <p:sp>
        <p:nvSpPr>
          <p:cNvPr id="27" name="Text 25"/>
          <p:cNvSpPr/>
          <p:nvPr/>
        </p:nvSpPr>
        <p:spPr>
          <a:xfrm>
            <a:off x="4129888" y="4493133"/>
            <a:ext cx="3931920" cy="524256"/>
          </a:xfrm>
          <a:prstGeom prst="roundRect">
            <a:avLst>
              <a:gd name="adj" fmla="val 1744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Sin FK entre bases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el vínculo es el contrato del evento por HTTP</a:t>
            </a:r>
            <a:endParaRPr lang="en-US" sz="95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Las dos bases no están conectadas. Lo que las une es el contrato del evento.</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problema de la consistencia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 guardan juntos la solicitud ENVIADA y un evento pendiente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una de las dos falla, no se guarda ninguna</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respuesta llega enseguida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aviso se entrega después</a:t>
            </a:r>
            <a:endParaRPr lang="en-US" sz="1100" dirty="0"/>
          </a:p>
        </p:txBody>
      </p:sp>
      <p:sp>
        <p:nvSpPr>
          <p:cNvPr id="9" name="Shape 7"/>
          <p:cNvSpPr/>
          <p:nvPr/>
        </p:nvSpPr>
        <p:spPr>
          <a:xfrm>
            <a:off x="5364754" y="3932000"/>
            <a:ext cx="4752106" cy="2010507"/>
          </a:xfrm>
          <a:prstGeom prst="roundRect">
            <a:avLst>
              <a:gd name="adj" fmla="val 5458"/>
            </a:avLst>
          </a:prstGeom>
          <a:solidFill>
            <a:srgbClr val="F4F7FB"/>
          </a:solidFill>
          <a:ln w="12700">
            <a:solidFill>
              <a:srgbClr val="DFE6F0"/>
            </a:solidFill>
            <a:prstDash val="dash"/>
          </a:ln>
        </p:spPr>
      </p:sp>
      <p:sp>
        <p:nvSpPr>
          <p:cNvPr id="10" name="Text 8"/>
          <p:cNvSpPr/>
          <p:nvPr/>
        </p:nvSpPr>
        <p:spPr>
          <a:xfrm>
            <a:off x="5474418" y="3986832"/>
            <a:ext cx="4569226"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11" name="Shape 9"/>
          <p:cNvSpPr/>
          <p:nvPr/>
        </p:nvSpPr>
        <p:spPr>
          <a:xfrm>
            <a:off x="2348995" y="2798805"/>
            <a:ext cx="822480" cy="0"/>
          </a:xfrm>
          <a:prstGeom prst="line">
            <a:avLst/>
          </a:prstGeom>
          <a:noFill/>
          <a:ln w="31750">
            <a:solidFill>
              <a:srgbClr val="2E6DB4"/>
            </a:solidFill>
            <a:prstDash val="solid"/>
            <a:tailEnd type="triangle"/>
          </a:ln>
        </p:spPr>
      </p:sp>
      <p:sp>
        <p:nvSpPr>
          <p:cNvPr id="12" name="Text 10"/>
          <p:cNvSpPr/>
          <p:nvPr/>
        </p:nvSpPr>
        <p:spPr>
          <a:xfrm>
            <a:off x="2564096" y="2561109"/>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POST</a:t>
            </a:r>
            <a:endParaRPr lang="en-US" sz="850" dirty="0"/>
          </a:p>
        </p:txBody>
      </p:sp>
      <p:sp>
        <p:nvSpPr>
          <p:cNvPr id="13" name="Text 11"/>
          <p:cNvSpPr/>
          <p:nvPr/>
        </p:nvSpPr>
        <p:spPr>
          <a:xfrm>
            <a:off x="2458595" y="268907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4" name="Shape 12"/>
          <p:cNvSpPr/>
          <p:nvPr/>
        </p:nvSpPr>
        <p:spPr>
          <a:xfrm>
            <a:off x="4999208" y="2908469"/>
            <a:ext cx="822480" cy="0"/>
          </a:xfrm>
          <a:prstGeom prst="line">
            <a:avLst/>
          </a:prstGeom>
          <a:noFill/>
          <a:ln w="31750">
            <a:solidFill>
              <a:srgbClr val="55627E"/>
            </a:solidFill>
            <a:prstDash val="sysDot"/>
            <a:tailEnd type="triangle"/>
          </a:ln>
        </p:spPr>
      </p:sp>
      <p:sp>
        <p:nvSpPr>
          <p:cNvPr id="15" name="Text 13"/>
          <p:cNvSpPr/>
          <p:nvPr/>
        </p:nvSpPr>
        <p:spPr>
          <a:xfrm>
            <a:off x="5016113" y="2670773"/>
            <a:ext cx="788670"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enviar(id)</a:t>
            </a:r>
            <a:endParaRPr lang="en-US" sz="850" dirty="0"/>
          </a:p>
        </p:txBody>
      </p:sp>
      <p:sp>
        <p:nvSpPr>
          <p:cNvPr id="16" name="Text 14"/>
          <p:cNvSpPr/>
          <p:nvPr/>
        </p:nvSpPr>
        <p:spPr>
          <a:xfrm>
            <a:off x="5108808" y="27987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7" name="Shape 15"/>
          <p:cNvSpPr/>
          <p:nvPr/>
        </p:nvSpPr>
        <p:spPr>
          <a:xfrm>
            <a:off x="6758401" y="3255739"/>
            <a:ext cx="0" cy="1407355"/>
          </a:xfrm>
          <a:prstGeom prst="line">
            <a:avLst/>
          </a:prstGeom>
          <a:noFill/>
          <a:ln w="31750">
            <a:solidFill>
              <a:srgbClr val="55627E"/>
            </a:solidFill>
            <a:prstDash val="sysDot"/>
            <a:tailEnd type="triangle"/>
          </a:ln>
        </p:spPr>
      </p:sp>
      <p:sp>
        <p:nvSpPr>
          <p:cNvPr id="18" name="Text 16"/>
          <p:cNvSpPr/>
          <p:nvPr/>
        </p:nvSpPr>
        <p:spPr>
          <a:xfrm>
            <a:off x="6076540" y="3840523"/>
            <a:ext cx="590474" cy="192024"/>
          </a:xfrm>
          <a:prstGeom prst="rect">
            <a:avLst/>
          </a:prstGeom>
          <a:noFill/>
          <a:ln/>
        </p:spPr>
        <p:txBody>
          <a:bodyPr wrap="square" lIns="0" tIns="0" rIns="0" bIns="0" rtlCol="0" anchor="ctr"/>
          <a:lstStyle/>
          <a:p>
            <a:pPr algn="r" indent="0" marL="0">
              <a:buNone/>
            </a:pPr>
            <a:r>
              <a:rPr lang="en-US" sz="850" b="1" dirty="0">
                <a:solidFill>
                  <a:srgbClr val="55627E"/>
                </a:solidFill>
                <a:latin typeface="Segoe UI" pitchFamily="34" charset="0"/>
                <a:ea typeface="Segoe UI" pitchFamily="34" charset="-122"/>
                <a:cs typeface="Segoe UI" pitchFamily="34" charset="-120"/>
              </a:rPr>
              <a:t>guardar</a:t>
            </a:r>
            <a:endParaRPr lang="en-US" sz="850" dirty="0"/>
          </a:p>
        </p:txBody>
      </p:sp>
      <p:sp>
        <p:nvSpPr>
          <p:cNvPr id="19" name="Text 17"/>
          <p:cNvSpPr/>
          <p:nvPr/>
        </p:nvSpPr>
        <p:spPr>
          <a:xfrm>
            <a:off x="6648673" y="336533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0" name="Shape 18"/>
          <p:cNvSpPr/>
          <p:nvPr/>
        </p:nvSpPr>
        <p:spPr>
          <a:xfrm>
            <a:off x="7923581" y="2908469"/>
            <a:ext cx="959560" cy="0"/>
          </a:xfrm>
          <a:prstGeom prst="line">
            <a:avLst/>
          </a:prstGeom>
          <a:noFill/>
          <a:ln w="31750">
            <a:solidFill>
              <a:srgbClr val="55627E"/>
            </a:solidFill>
            <a:prstDash val="sysDot"/>
          </a:ln>
        </p:spPr>
      </p:sp>
      <p:sp>
        <p:nvSpPr>
          <p:cNvPr id="21" name="Shape 19"/>
          <p:cNvSpPr/>
          <p:nvPr/>
        </p:nvSpPr>
        <p:spPr>
          <a:xfrm>
            <a:off x="8883141" y="2908469"/>
            <a:ext cx="0" cy="1754624"/>
          </a:xfrm>
          <a:prstGeom prst="line">
            <a:avLst/>
          </a:prstGeom>
          <a:noFill/>
          <a:ln w="31750">
            <a:solidFill>
              <a:srgbClr val="55627E"/>
            </a:solidFill>
            <a:prstDash val="sysDot"/>
            <a:tailEnd type="triangle"/>
          </a:ln>
        </p:spPr>
      </p:sp>
      <p:sp>
        <p:nvSpPr>
          <p:cNvPr id="22" name="Text 20"/>
          <p:cNvSpPr/>
          <p:nvPr/>
        </p:nvSpPr>
        <p:spPr>
          <a:xfrm>
            <a:off x="8974527" y="3666888"/>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registrar</a:t>
            </a:r>
            <a:endParaRPr lang="en-US" sz="850" dirty="0"/>
          </a:p>
        </p:txBody>
      </p:sp>
      <p:sp>
        <p:nvSpPr>
          <p:cNvPr id="23" name="Text 21"/>
          <p:cNvSpPr/>
          <p:nvPr/>
        </p:nvSpPr>
        <p:spPr>
          <a:xfrm>
            <a:off x="8033181" y="279874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4" name="Shape 22"/>
          <p:cNvSpPr/>
          <p:nvPr/>
        </p:nvSpPr>
        <p:spPr>
          <a:xfrm flipH="1">
            <a:off x="2348995" y="3018133"/>
            <a:ext cx="822480" cy="0"/>
          </a:xfrm>
          <a:prstGeom prst="line">
            <a:avLst/>
          </a:prstGeom>
          <a:noFill/>
          <a:ln w="22860">
            <a:solidFill>
              <a:srgbClr val="0B6E8A"/>
            </a:solidFill>
            <a:prstDash val="solid"/>
            <a:tailEnd type="arrow"/>
          </a:ln>
        </p:spPr>
      </p:sp>
      <p:sp>
        <p:nvSpPr>
          <p:cNvPr id="25" name="Text 23"/>
          <p:cNvSpPr/>
          <p:nvPr/>
        </p:nvSpPr>
        <p:spPr>
          <a:xfrm>
            <a:off x="2597128" y="3036320"/>
            <a:ext cx="326212"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200</a:t>
            </a:r>
            <a:endParaRPr lang="en-US" sz="850" dirty="0"/>
          </a:p>
        </p:txBody>
      </p:sp>
      <p:sp>
        <p:nvSpPr>
          <p:cNvPr id="26" name="Text 24"/>
          <p:cNvSpPr/>
          <p:nvPr/>
        </p:nvSpPr>
        <p:spPr>
          <a:xfrm>
            <a:off x="2842418" y="290840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7" name="Text 25"/>
          <p:cNvSpPr/>
          <p:nvPr/>
        </p:nvSpPr>
        <p:spPr>
          <a:xfrm>
            <a:off x="886808" y="2561200"/>
            <a:ext cx="146218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UI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Enviar</a:t>
            </a:r>
            <a:endParaRPr lang="en-US" sz="1100" dirty="0"/>
          </a:p>
        </p:txBody>
      </p:sp>
      <p:sp>
        <p:nvSpPr>
          <p:cNvPr id="28" name="Text 26"/>
          <p:cNvSpPr/>
          <p:nvPr/>
        </p:nvSpPr>
        <p:spPr>
          <a:xfrm>
            <a:off x="3171474" y="2561200"/>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SolicitudController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@PostMapping /{id}/enviar</a:t>
            </a:r>
            <a:endParaRPr lang="en-US" sz="1100" dirty="0"/>
          </a:p>
        </p:txBody>
      </p:sp>
      <p:sp>
        <p:nvSpPr>
          <p:cNvPr id="29" name="Text 27"/>
          <p:cNvSpPr/>
          <p:nvPr/>
        </p:nvSpPr>
        <p:spPr>
          <a:xfrm>
            <a:off x="5821688" y="2561200"/>
            <a:ext cx="210189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ServicioDeSolicitudes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enviar(id) · BORRADOR → ENVIADA</a:t>
            </a:r>
            <a:endParaRPr lang="en-US" sz="1100" dirty="0"/>
          </a:p>
        </p:txBody>
      </p:sp>
      <p:sp>
        <p:nvSpPr>
          <p:cNvPr id="30" name="Text 28"/>
          <p:cNvSpPr/>
          <p:nvPr/>
        </p:nvSpPr>
        <p:spPr>
          <a:xfrm>
            <a:off x="5730301" y="4663093"/>
            <a:ext cx="1827733" cy="767648"/>
          </a:xfrm>
          <a:prstGeom prst="roundRect">
            <a:avLst>
              <a:gd name="adj" fmla="val 119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tabla solicitud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SOL-100 → ENVIADA</a:t>
            </a:r>
            <a:endParaRPr lang="en-US" sz="1100" dirty="0"/>
          </a:p>
        </p:txBody>
      </p:sp>
      <p:sp>
        <p:nvSpPr>
          <p:cNvPr id="31" name="Text 29"/>
          <p:cNvSpPr/>
          <p:nvPr/>
        </p:nvSpPr>
        <p:spPr>
          <a:xfrm>
            <a:off x="7923581" y="4663093"/>
            <a:ext cx="1919120" cy="767648"/>
          </a:xfrm>
          <a:prstGeom prst="roundRect">
            <a:avLst>
              <a:gd name="adj" fmla="val 119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tabla evento</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pendiente · procesado = false</a:t>
            </a:r>
            <a:endParaRPr lang="en-US" sz="1100" dirty="0"/>
          </a:p>
        </p:txBody>
      </p:sp>
      <p:sp>
        <p:nvSpPr>
          <p:cNvPr id="32" name="Text 3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44450">
            <a:solidFill>
              <a:srgbClr val="2BA6CB"/>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44450">
            <a:solidFill>
              <a:srgbClr val="2BA6CB"/>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C7D2E2"/>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C7D2E2"/>
            </a:solidFill>
            <a:prstDash val="sysDot"/>
          </a:ln>
        </p:spPr>
      </p:sp>
      <p:sp>
        <p:nvSpPr>
          <p:cNvPr id="17" name="Shape 15"/>
          <p:cNvSpPr/>
          <p:nvPr/>
        </p:nvSpPr>
        <p:spPr>
          <a:xfrm>
            <a:off x="8647413" y="2201953"/>
            <a:ext cx="0" cy="1606231"/>
          </a:xfrm>
          <a:prstGeom prst="line">
            <a:avLst/>
          </a:prstGeom>
          <a:noFill/>
          <a:ln w="31750">
            <a:solidFill>
              <a:srgbClr val="C7D2E2"/>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0" name="Text 2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Enviar y la interfaz le pide al servicio que envíe la solicitud.</a:t>
            </a:r>
            <a:endParaRPr lang="en-US" sz="1300" dirty="0"/>
          </a:p>
        </p:txBody>
      </p:sp>
      <p:sp>
        <p:nvSpPr>
          <p:cNvPr id="31" name="Shape 2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2" name="Text 3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3" name="Text 3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controlador recibe el pedido y se lo pasa al servicio de dominio.</a:t>
            </a:r>
            <a:endParaRPr lang="en-US" sz="13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E3F4FA"/>
          </a:solidFill>
          <a:ln w="12700">
            <a:solidFill>
              <a:srgbClr val="2BA6CB"/>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55627E"/>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44450">
            <a:solidFill>
              <a:srgbClr val="2BA6CB"/>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44450">
            <a:solidFill>
              <a:srgbClr val="2BA6CB"/>
            </a:solidFill>
            <a:prstDash val="sysDot"/>
          </a:ln>
        </p:spPr>
      </p:sp>
      <p:sp>
        <p:nvSpPr>
          <p:cNvPr id="17" name="Shape 15"/>
          <p:cNvSpPr/>
          <p:nvPr/>
        </p:nvSpPr>
        <p:spPr>
          <a:xfrm>
            <a:off x="8647413" y="2201953"/>
            <a:ext cx="0" cy="1606231"/>
          </a:xfrm>
          <a:prstGeom prst="line">
            <a:avLst/>
          </a:prstGeom>
          <a:noFill/>
          <a:ln w="44450">
            <a:solidFill>
              <a:srgbClr val="2BA6CB"/>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22860">
            <a:solidFill>
              <a:srgbClr val="C7D2E2"/>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0" name="Text 2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servicio revisa que la solicitud esté en BORRADOR y la cambia a ENVIADA.</a:t>
            </a:r>
            <a:endParaRPr lang="en-US" sz="1300" dirty="0"/>
          </a:p>
        </p:txBody>
      </p:sp>
      <p:sp>
        <p:nvSpPr>
          <p:cNvPr id="31" name="Shape 2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2" name="Text 3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3" name="Text 3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una sola operación se guardan dos cosas: la solicitud ENVIADA y un evento pendiente.</a:t>
            </a:r>
            <a:endParaRPr lang="en-US" sz="1300" dirty="0"/>
          </a:p>
        </p:txBody>
      </p:sp>
      <p:sp>
        <p:nvSpPr>
          <p:cNvPr id="34" name="Text 3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Envío: estado y evento en una transacción</a:t>
            </a:r>
            <a:endParaRPr lang="en-US" sz="2800" dirty="0"/>
          </a:p>
        </p:txBody>
      </p:sp>
      <p:sp>
        <p:nvSpPr>
          <p:cNvPr id="5" name="Shape 3"/>
          <p:cNvSpPr/>
          <p:nvPr/>
        </p:nvSpPr>
        <p:spPr>
          <a:xfrm>
            <a:off x="5426585" y="3138921"/>
            <a:ext cx="4350209" cy="1840473"/>
          </a:xfrm>
          <a:prstGeom prst="roundRect">
            <a:avLst>
              <a:gd name="adj" fmla="val 5962"/>
            </a:avLst>
          </a:prstGeom>
          <a:solidFill>
            <a:srgbClr val="F4F7FB"/>
          </a:solidFill>
          <a:ln w="12700">
            <a:solidFill>
              <a:srgbClr val="DFE6F0"/>
            </a:solidFill>
            <a:prstDash val="dash"/>
          </a:ln>
        </p:spPr>
      </p:sp>
      <p:sp>
        <p:nvSpPr>
          <p:cNvPr id="6" name="Text 4"/>
          <p:cNvSpPr/>
          <p:nvPr/>
        </p:nvSpPr>
        <p:spPr>
          <a:xfrm>
            <a:off x="5526974" y="3189116"/>
            <a:ext cx="4167329"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TRANSACCIÓN LOCAL · TODO O NADA</a:t>
            </a:r>
            <a:endParaRPr lang="en-US" sz="800" dirty="0"/>
          </a:p>
        </p:txBody>
      </p:sp>
      <p:sp>
        <p:nvSpPr>
          <p:cNvPr id="7" name="Shape 5"/>
          <p:cNvSpPr/>
          <p:nvPr/>
        </p:nvSpPr>
        <p:spPr>
          <a:xfrm>
            <a:off x="2665875" y="2101564"/>
            <a:ext cx="752921" cy="0"/>
          </a:xfrm>
          <a:prstGeom prst="line">
            <a:avLst/>
          </a:prstGeom>
          <a:noFill/>
          <a:ln w="31750">
            <a:solidFill>
              <a:srgbClr val="2E6DB4"/>
            </a:solidFill>
            <a:prstDash val="solid"/>
            <a:tailEnd type="triangle"/>
          </a:ln>
        </p:spPr>
      </p:sp>
      <p:sp>
        <p:nvSpPr>
          <p:cNvPr id="8" name="Text 6"/>
          <p:cNvSpPr/>
          <p:nvPr/>
        </p:nvSpPr>
        <p:spPr>
          <a:xfrm>
            <a:off x="2853969" y="1870823"/>
            <a:ext cx="376733"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9" name="Text 7"/>
          <p:cNvSpPr/>
          <p:nvPr/>
        </p:nvSpPr>
        <p:spPr>
          <a:xfrm>
            <a:off x="2756926" y="1991836"/>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091953" y="2201953"/>
            <a:ext cx="752921" cy="0"/>
          </a:xfrm>
          <a:prstGeom prst="line">
            <a:avLst/>
          </a:prstGeom>
          <a:noFill/>
          <a:ln w="31750">
            <a:solidFill>
              <a:srgbClr val="55627E"/>
            </a:solidFill>
            <a:prstDash val="sysDot"/>
            <a:tailEnd type="triangle"/>
          </a:ln>
        </p:spPr>
      </p:sp>
      <p:sp>
        <p:nvSpPr>
          <p:cNvPr id="11" name="Text 9"/>
          <p:cNvSpPr/>
          <p:nvPr/>
        </p:nvSpPr>
        <p:spPr>
          <a:xfrm>
            <a:off x="5093510" y="1971213"/>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enviar(id)</a:t>
            </a:r>
            <a:endParaRPr lang="en-US" sz="800" dirty="0"/>
          </a:p>
        </p:txBody>
      </p:sp>
      <p:sp>
        <p:nvSpPr>
          <p:cNvPr id="12" name="Text 10"/>
          <p:cNvSpPr/>
          <p:nvPr/>
        </p:nvSpPr>
        <p:spPr>
          <a:xfrm>
            <a:off x="5183004"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6702367" y="2519853"/>
            <a:ext cx="0" cy="1288331"/>
          </a:xfrm>
          <a:prstGeom prst="line">
            <a:avLst/>
          </a:prstGeom>
          <a:noFill/>
          <a:ln w="31750">
            <a:solidFill>
              <a:srgbClr val="55627E"/>
            </a:solidFill>
            <a:prstDash val="sysDot"/>
            <a:tailEnd type="triangle"/>
          </a:ln>
        </p:spPr>
      </p:sp>
      <p:sp>
        <p:nvSpPr>
          <p:cNvPr id="14" name="Text 12"/>
          <p:cNvSpPr/>
          <p:nvPr/>
        </p:nvSpPr>
        <p:spPr>
          <a:xfrm>
            <a:off x="6055439" y="3042034"/>
            <a:ext cx="563270" cy="192024"/>
          </a:xfrm>
          <a:prstGeom prst="rect">
            <a:avLst/>
          </a:prstGeom>
          <a:noFill/>
          <a:ln/>
        </p:spPr>
        <p:txBody>
          <a:bodyPr wrap="square" lIns="0" tIns="0" rIns="0" bIns="0" rtlCol="0" anchor="ctr"/>
          <a:lstStyle/>
          <a:p>
            <a:pPr algn="r" indent="0" marL="0">
              <a:buNone/>
            </a:pPr>
            <a:r>
              <a:rPr lang="en-US" sz="800" b="1" dirty="0">
                <a:solidFill>
                  <a:srgbClr val="55627E"/>
                </a:solidFill>
                <a:latin typeface="Segoe UI" pitchFamily="34" charset="0"/>
                <a:ea typeface="Segoe UI" pitchFamily="34" charset="-122"/>
                <a:cs typeface="Segoe UI" pitchFamily="34" charset="-120"/>
              </a:rPr>
              <a:t>guardar</a:t>
            </a:r>
            <a:endParaRPr lang="en-US" sz="800" dirty="0"/>
          </a:p>
        </p:txBody>
      </p:sp>
      <p:sp>
        <p:nvSpPr>
          <p:cNvPr id="15" name="Text 13"/>
          <p:cNvSpPr/>
          <p:nvPr/>
        </p:nvSpPr>
        <p:spPr>
          <a:xfrm>
            <a:off x="6592639" y="261090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6" name="Shape 14"/>
          <p:cNvSpPr/>
          <p:nvPr/>
        </p:nvSpPr>
        <p:spPr>
          <a:xfrm>
            <a:off x="7769005" y="2201953"/>
            <a:ext cx="878408" cy="0"/>
          </a:xfrm>
          <a:prstGeom prst="line">
            <a:avLst/>
          </a:prstGeom>
          <a:noFill/>
          <a:ln w="31750">
            <a:solidFill>
              <a:srgbClr val="55627E"/>
            </a:solidFill>
            <a:prstDash val="sysDot"/>
          </a:ln>
        </p:spPr>
      </p:sp>
      <p:sp>
        <p:nvSpPr>
          <p:cNvPr id="17" name="Shape 15"/>
          <p:cNvSpPr/>
          <p:nvPr/>
        </p:nvSpPr>
        <p:spPr>
          <a:xfrm>
            <a:off x="8647413" y="2201953"/>
            <a:ext cx="0" cy="1606231"/>
          </a:xfrm>
          <a:prstGeom prst="line">
            <a:avLst/>
          </a:prstGeom>
          <a:noFill/>
          <a:ln w="31750">
            <a:solidFill>
              <a:srgbClr val="55627E"/>
            </a:solidFill>
            <a:prstDash val="sysDot"/>
            <a:tailEnd type="triangle"/>
          </a:ln>
        </p:spPr>
      </p:sp>
      <p:sp>
        <p:nvSpPr>
          <p:cNvPr id="18" name="Text 16"/>
          <p:cNvSpPr/>
          <p:nvPr/>
        </p:nvSpPr>
        <p:spPr>
          <a:xfrm>
            <a:off x="8731071" y="2883084"/>
            <a:ext cx="687629"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registrar</a:t>
            </a:r>
            <a:endParaRPr lang="en-US" sz="800" dirty="0"/>
          </a:p>
        </p:txBody>
      </p:sp>
      <p:sp>
        <p:nvSpPr>
          <p:cNvPr id="19" name="Text 17"/>
          <p:cNvSpPr/>
          <p:nvPr/>
        </p:nvSpPr>
        <p:spPr>
          <a:xfrm>
            <a:off x="7860056" y="209222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0" name="Shape 18"/>
          <p:cNvSpPr/>
          <p:nvPr/>
        </p:nvSpPr>
        <p:spPr>
          <a:xfrm flipH="1">
            <a:off x="2665875" y="2302342"/>
            <a:ext cx="752921" cy="0"/>
          </a:xfrm>
          <a:prstGeom prst="line">
            <a:avLst/>
          </a:prstGeom>
          <a:noFill/>
          <a:ln w="35560">
            <a:solidFill>
              <a:srgbClr val="2BA6CB"/>
            </a:solidFill>
            <a:prstDash val="solid"/>
            <a:tailEnd type="arrow"/>
          </a:ln>
        </p:spPr>
      </p:sp>
      <p:sp>
        <p:nvSpPr>
          <p:cNvPr id="21" name="Text 19"/>
          <p:cNvSpPr/>
          <p:nvPr/>
        </p:nvSpPr>
        <p:spPr>
          <a:xfrm>
            <a:off x="2885058" y="2305844"/>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200</a:t>
            </a:r>
            <a:endParaRPr lang="en-US" sz="800" dirty="0"/>
          </a:p>
        </p:txBody>
      </p:sp>
      <p:sp>
        <p:nvSpPr>
          <p:cNvPr id="22" name="Text 20"/>
          <p:cNvSpPr/>
          <p:nvPr/>
        </p:nvSpPr>
        <p:spPr>
          <a:xfrm>
            <a:off x="3108289" y="219261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Text 21"/>
          <p:cNvSpPr/>
          <p:nvPr/>
        </p:nvSpPr>
        <p:spPr>
          <a:xfrm>
            <a:off x="1327349" y="1884053"/>
            <a:ext cx="1338526" cy="635800"/>
          </a:xfrm>
          <a:prstGeom prst="roundRect">
            <a:avLst>
              <a:gd name="adj" fmla="val 1438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UI</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botón Enviar</a:t>
            </a:r>
            <a:endParaRPr lang="en-US" sz="1000" dirty="0"/>
          </a:p>
        </p:txBody>
      </p:sp>
      <p:sp>
        <p:nvSpPr>
          <p:cNvPr id="24" name="Text 22"/>
          <p:cNvSpPr/>
          <p:nvPr/>
        </p:nvSpPr>
        <p:spPr>
          <a:xfrm>
            <a:off x="3418796" y="1884053"/>
            <a:ext cx="1673157"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SolicitudController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@PostMapping /{id}/enviar</a:t>
            </a:r>
            <a:endParaRPr lang="en-US" sz="1000" dirty="0"/>
          </a:p>
        </p:txBody>
      </p:sp>
      <p:sp>
        <p:nvSpPr>
          <p:cNvPr id="25" name="Text 23"/>
          <p:cNvSpPr/>
          <p:nvPr/>
        </p:nvSpPr>
        <p:spPr>
          <a:xfrm>
            <a:off x="5844874" y="1884053"/>
            <a:ext cx="1924131" cy="635800"/>
          </a:xfrm>
          <a:prstGeom prst="roundRect">
            <a:avLst>
              <a:gd name="adj" fmla="val 1438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ServicioDeSolicitudes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enviar(id) · BORRADOR → ENVIADA</a:t>
            </a:r>
            <a:endParaRPr lang="en-US" sz="1000" dirty="0"/>
          </a:p>
        </p:txBody>
      </p:sp>
      <p:sp>
        <p:nvSpPr>
          <p:cNvPr id="26" name="Text 24"/>
          <p:cNvSpPr/>
          <p:nvPr/>
        </p:nvSpPr>
        <p:spPr>
          <a:xfrm>
            <a:off x="5761216" y="3808184"/>
            <a:ext cx="1673157" cy="702726"/>
          </a:xfrm>
          <a:prstGeom prst="roundRect">
            <a:avLst>
              <a:gd name="adj" fmla="val 130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solicitud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SOL-100 → ENVIADA</a:t>
            </a:r>
            <a:endParaRPr lang="en-US" sz="1000" dirty="0"/>
          </a:p>
        </p:txBody>
      </p:sp>
      <p:sp>
        <p:nvSpPr>
          <p:cNvPr id="27" name="Text 25"/>
          <p:cNvSpPr/>
          <p:nvPr/>
        </p:nvSpPr>
        <p:spPr>
          <a:xfrm>
            <a:off x="7769005" y="3808184"/>
            <a:ext cx="1756815" cy="702726"/>
          </a:xfrm>
          <a:prstGeom prst="roundRect">
            <a:avLst>
              <a:gd name="adj" fmla="val 13012"/>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tabla evento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pendiente · procesado = false</a:t>
            </a:r>
            <a:endParaRPr lang="en-US" sz="1000" dirty="0"/>
          </a:p>
        </p:txBody>
      </p:sp>
      <p:sp>
        <p:nvSpPr>
          <p:cNvPr id="28" name="Shape 2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9" name="Text 2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0" name="Text 2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respuesta llega enseguida. El aviso todavía no existe: se entrega después.</a:t>
            </a:r>
            <a:endParaRPr lang="en-US" sz="1300" dirty="0"/>
          </a:p>
        </p:txBody>
      </p:sp>
      <p:sp>
        <p:nvSpPr>
          <p:cNvPr id="31" name="Text 2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La bandeja de salida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evento espera en la tabla de pendientes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relevador revisa cada 5 segundos</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 entrega con hasta 3 intentos</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falla, vuelve a intentar en el siguiente ciclo</a:t>
            </a:r>
            <a:endParaRPr lang="en-US" sz="1100" dirty="0"/>
          </a:p>
        </p:txBody>
      </p:sp>
      <p:sp>
        <p:nvSpPr>
          <p:cNvPr id="9" name="Shape 7"/>
          <p:cNvSpPr/>
          <p:nvPr/>
        </p:nvSpPr>
        <p:spPr>
          <a:xfrm>
            <a:off x="1455268" y="1988820"/>
            <a:ext cx="9281160" cy="1520190"/>
          </a:xfrm>
          <a:prstGeom prst="roundRect">
            <a:avLst>
              <a:gd name="adj" fmla="val 7218"/>
            </a:avLst>
          </a:prstGeom>
          <a:solidFill>
            <a:srgbClr val="F4F7FB"/>
          </a:solidFill>
          <a:ln w="12700">
            <a:solidFill>
              <a:srgbClr val="DFE6F0"/>
            </a:solidFill>
            <a:prstDash val="solid"/>
          </a:ln>
        </p:spPr>
      </p:sp>
      <p:sp>
        <p:nvSpPr>
          <p:cNvPr id="10" name="Text 8"/>
          <p:cNvSpPr/>
          <p:nvPr/>
        </p:nvSpPr>
        <p:spPr>
          <a:xfrm>
            <a:off x="1551280" y="203682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11" name="Shape 9"/>
          <p:cNvSpPr/>
          <p:nvPr/>
        </p:nvSpPr>
        <p:spPr>
          <a:xfrm>
            <a:off x="1455268" y="3749040"/>
            <a:ext cx="9281160" cy="2400300"/>
          </a:xfrm>
          <a:prstGeom prst="roundRect">
            <a:avLst>
              <a:gd name="adj" fmla="val 4571"/>
            </a:avLst>
          </a:prstGeom>
          <a:solidFill>
            <a:srgbClr val="F4F7FB"/>
          </a:solidFill>
          <a:ln w="12700">
            <a:solidFill>
              <a:srgbClr val="DFE6F0"/>
            </a:solidFill>
            <a:prstDash val="solid"/>
          </a:ln>
        </p:spPr>
      </p:sp>
      <p:sp>
        <p:nvSpPr>
          <p:cNvPr id="12" name="Text 10"/>
          <p:cNvSpPr/>
          <p:nvPr/>
        </p:nvSpPr>
        <p:spPr>
          <a:xfrm>
            <a:off x="1551280" y="3797046"/>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13" name="Shape 11"/>
          <p:cNvSpPr/>
          <p:nvPr/>
        </p:nvSpPr>
        <p:spPr>
          <a:xfrm>
            <a:off x="3295498" y="2852928"/>
            <a:ext cx="720090" cy="0"/>
          </a:xfrm>
          <a:prstGeom prst="line">
            <a:avLst/>
          </a:prstGeom>
          <a:noFill/>
          <a:ln w="25400">
            <a:solidFill>
              <a:srgbClr val="55627E"/>
            </a:solidFill>
            <a:prstDash val="dash"/>
            <a:tailEnd type="triangle"/>
          </a:ln>
        </p:spPr>
      </p:sp>
      <p:sp>
        <p:nvSpPr>
          <p:cNvPr id="14" name="Text 12"/>
          <p:cNvSpPr/>
          <p:nvPr/>
        </p:nvSpPr>
        <p:spPr>
          <a:xfrm>
            <a:off x="3498266" y="262547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5" name="Text 13"/>
          <p:cNvSpPr/>
          <p:nvPr/>
        </p:nvSpPr>
        <p:spPr>
          <a:xfrm>
            <a:off x="337779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6" name="Shape 14"/>
          <p:cNvSpPr/>
          <p:nvPr/>
        </p:nvSpPr>
        <p:spPr>
          <a:xfrm>
            <a:off x="5775808" y="2852928"/>
            <a:ext cx="800100" cy="0"/>
          </a:xfrm>
          <a:prstGeom prst="line">
            <a:avLst/>
          </a:prstGeom>
          <a:noFill/>
          <a:ln w="25400">
            <a:solidFill>
              <a:srgbClr val="55627E"/>
            </a:solidFill>
            <a:prstDash val="dash"/>
            <a:tailEnd type="triangle"/>
          </a:ln>
        </p:spPr>
      </p:sp>
      <p:sp>
        <p:nvSpPr>
          <p:cNvPr id="17" name="Text 15"/>
          <p:cNvSpPr/>
          <p:nvPr/>
        </p:nvSpPr>
        <p:spPr>
          <a:xfrm>
            <a:off x="5894222" y="2625471"/>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8" name="Text 16"/>
          <p:cNvSpPr/>
          <p:nvPr/>
        </p:nvSpPr>
        <p:spPr>
          <a:xfrm>
            <a:off x="585810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9" name="Shape 17"/>
          <p:cNvSpPr/>
          <p:nvPr/>
        </p:nvSpPr>
        <p:spPr>
          <a:xfrm>
            <a:off x="7175983" y="3156966"/>
            <a:ext cx="0" cy="1072134"/>
          </a:xfrm>
          <a:prstGeom prst="line">
            <a:avLst/>
          </a:prstGeom>
          <a:noFill/>
          <a:ln w="31750">
            <a:solidFill>
              <a:srgbClr val="2E6DB4"/>
            </a:solidFill>
            <a:prstDash val="solid"/>
            <a:tailEnd type="triangle"/>
          </a:ln>
        </p:spPr>
      </p:sp>
      <p:sp>
        <p:nvSpPr>
          <p:cNvPr id="20" name="Text 18"/>
          <p:cNvSpPr/>
          <p:nvPr/>
        </p:nvSpPr>
        <p:spPr>
          <a:xfrm>
            <a:off x="6719240" y="3569589"/>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21" name="Text 19"/>
          <p:cNvSpPr/>
          <p:nvPr/>
        </p:nvSpPr>
        <p:spPr>
          <a:xfrm>
            <a:off x="7066255" y="323926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flipV="1">
            <a:off x="7816063" y="3156966"/>
            <a:ext cx="0" cy="1072134"/>
          </a:xfrm>
          <a:prstGeom prst="line">
            <a:avLst/>
          </a:prstGeom>
          <a:noFill/>
          <a:ln w="22860">
            <a:solidFill>
              <a:srgbClr val="0B6E8A"/>
            </a:solidFill>
            <a:prstDash val="solid"/>
            <a:tailEnd type="arrow"/>
          </a:ln>
        </p:spPr>
      </p:sp>
      <p:sp>
        <p:nvSpPr>
          <p:cNvPr id="23" name="Text 21"/>
          <p:cNvSpPr/>
          <p:nvPr/>
        </p:nvSpPr>
        <p:spPr>
          <a:xfrm>
            <a:off x="7896073" y="3569589"/>
            <a:ext cx="314554" cy="192024"/>
          </a:xfrm>
          <a:prstGeom prst="rect">
            <a:avLst/>
          </a:prstGeom>
          <a:noFill/>
          <a:ln/>
        </p:spPr>
        <p:txBody>
          <a:bodyPr wrap="square" lIns="0" tIns="0" rIns="0" bIns="0" rtlCol="0" anchor="ctr"/>
          <a:lstStyle/>
          <a:p>
            <a:pPr algn="l" indent="0" marL="0">
              <a:buNone/>
            </a:pPr>
            <a:r>
              <a:rPr lang="en-US" sz="800" b="1" dirty="0">
                <a:solidFill>
                  <a:srgbClr val="0B6E8A"/>
                </a:solidFill>
                <a:latin typeface="Segoe UI" pitchFamily="34" charset="0"/>
                <a:ea typeface="Segoe UI" pitchFamily="34" charset="-122"/>
                <a:cs typeface="Segoe UI" pitchFamily="34" charset="-120"/>
              </a:rPr>
              <a:t>200</a:t>
            </a:r>
            <a:endParaRPr lang="en-US" sz="800" dirty="0"/>
          </a:p>
        </p:txBody>
      </p:sp>
      <p:sp>
        <p:nvSpPr>
          <p:cNvPr id="24" name="Text 22"/>
          <p:cNvSpPr/>
          <p:nvPr/>
        </p:nvSpPr>
        <p:spPr>
          <a:xfrm>
            <a:off x="7706335" y="3927348"/>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5" name="Shape 23"/>
          <p:cNvSpPr/>
          <p:nvPr/>
        </p:nvSpPr>
        <p:spPr>
          <a:xfrm flipH="1">
            <a:off x="5855818" y="4533138"/>
            <a:ext cx="720090" cy="0"/>
          </a:xfrm>
          <a:prstGeom prst="line">
            <a:avLst/>
          </a:prstGeom>
          <a:noFill/>
          <a:ln w="31750">
            <a:solidFill>
              <a:srgbClr val="55627E"/>
            </a:solidFill>
            <a:prstDash val="sysDot"/>
            <a:tailEnd type="triangle"/>
          </a:ln>
        </p:spPr>
      </p:sp>
      <p:sp>
        <p:nvSpPr>
          <p:cNvPr id="26" name="Text 24"/>
          <p:cNvSpPr/>
          <p:nvPr/>
        </p:nvSpPr>
        <p:spPr>
          <a:xfrm>
            <a:off x="6274156" y="442341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flipH="1">
            <a:off x="3455518" y="4533138"/>
            <a:ext cx="800100" cy="0"/>
          </a:xfrm>
          <a:prstGeom prst="line">
            <a:avLst/>
          </a:prstGeom>
          <a:noFill/>
          <a:ln w="31750">
            <a:solidFill>
              <a:srgbClr val="55627E"/>
            </a:solidFill>
            <a:prstDash val="sysDot"/>
            <a:tailEnd type="triangle"/>
          </a:ln>
        </p:spPr>
      </p:sp>
      <p:sp>
        <p:nvSpPr>
          <p:cNvPr id="28" name="Text 26"/>
          <p:cNvSpPr/>
          <p:nvPr/>
        </p:nvSpPr>
        <p:spPr>
          <a:xfrm>
            <a:off x="3729380" y="4305681"/>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9" name="Text 27"/>
          <p:cNvSpPr/>
          <p:nvPr/>
        </p:nvSpPr>
        <p:spPr>
          <a:xfrm>
            <a:off x="3953866" y="442341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0" name="Shape 28"/>
          <p:cNvSpPr/>
          <p:nvPr/>
        </p:nvSpPr>
        <p:spPr>
          <a:xfrm>
            <a:off x="5055718" y="4997196"/>
            <a:ext cx="0" cy="352044"/>
          </a:xfrm>
          <a:prstGeom prst="line">
            <a:avLst/>
          </a:prstGeom>
          <a:noFill/>
          <a:ln w="31750">
            <a:solidFill>
              <a:srgbClr val="55627E"/>
            </a:solidFill>
            <a:prstDash val="sysDot"/>
            <a:tailEnd type="triangle"/>
          </a:ln>
        </p:spPr>
      </p:sp>
      <p:sp>
        <p:nvSpPr>
          <p:cNvPr id="31" name="Text 29"/>
          <p:cNvSpPr/>
          <p:nvPr/>
        </p:nvSpPr>
        <p:spPr>
          <a:xfrm>
            <a:off x="5135728" y="5049774"/>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32" name="Text 30"/>
          <p:cNvSpPr/>
          <p:nvPr/>
        </p:nvSpPr>
        <p:spPr>
          <a:xfrm>
            <a:off x="4945990" y="506349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33" name="Shape 31"/>
          <p:cNvSpPr/>
          <p:nvPr/>
        </p:nvSpPr>
        <p:spPr>
          <a:xfrm>
            <a:off x="8416138" y="2852928"/>
            <a:ext cx="720090" cy="0"/>
          </a:xfrm>
          <a:prstGeom prst="line">
            <a:avLst/>
          </a:prstGeom>
          <a:noFill/>
          <a:ln w="25400">
            <a:solidFill>
              <a:srgbClr val="55627E"/>
            </a:solidFill>
            <a:prstDash val="dash"/>
            <a:tailEnd type="triangle"/>
          </a:ln>
        </p:spPr>
      </p:sp>
      <p:sp>
        <p:nvSpPr>
          <p:cNvPr id="34" name="Text 32"/>
          <p:cNvSpPr/>
          <p:nvPr/>
        </p:nvSpPr>
        <p:spPr>
          <a:xfrm>
            <a:off x="8618906" y="2625471"/>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5" name="Text 33"/>
          <p:cNvSpPr/>
          <p:nvPr/>
        </p:nvSpPr>
        <p:spPr>
          <a:xfrm>
            <a:off x="8498434" y="2743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6" name="Text 34"/>
          <p:cNvSpPr/>
          <p:nvPr/>
        </p:nvSpPr>
        <p:spPr>
          <a:xfrm>
            <a:off x="1695298" y="2548890"/>
            <a:ext cx="1600200" cy="608076"/>
          </a:xfrm>
          <a:prstGeom prst="roundRect">
            <a:avLst>
              <a:gd name="adj" fmla="val 1503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tabla evento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950" dirty="0"/>
          </a:p>
        </p:txBody>
      </p:sp>
      <p:sp>
        <p:nvSpPr>
          <p:cNvPr id="37" name="Text 35"/>
          <p:cNvSpPr/>
          <p:nvPr/>
        </p:nvSpPr>
        <p:spPr>
          <a:xfrm>
            <a:off x="4015588" y="2548890"/>
            <a:ext cx="176022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Relevador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950" dirty="0"/>
          </a:p>
        </p:txBody>
      </p:sp>
      <p:sp>
        <p:nvSpPr>
          <p:cNvPr id="38" name="Text 36"/>
          <p:cNvSpPr/>
          <p:nvPr/>
        </p:nvSpPr>
        <p:spPr>
          <a:xfrm>
            <a:off x="6575908" y="2548890"/>
            <a:ext cx="184023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PublicadorConReintento</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950" dirty="0"/>
          </a:p>
        </p:txBody>
      </p:sp>
      <p:sp>
        <p:nvSpPr>
          <p:cNvPr id="39" name="Text 37"/>
          <p:cNvSpPr/>
          <p:nvPr/>
        </p:nvSpPr>
        <p:spPr>
          <a:xfrm>
            <a:off x="9136228" y="2548890"/>
            <a:ext cx="1440180" cy="608076"/>
          </a:xfrm>
          <a:prstGeom prst="roundRect">
            <a:avLst>
              <a:gd name="adj" fmla="val 15038"/>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procesado = true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950" dirty="0"/>
          </a:p>
        </p:txBody>
      </p:sp>
      <p:sp>
        <p:nvSpPr>
          <p:cNvPr id="40" name="Text 38"/>
          <p:cNvSpPr/>
          <p:nvPr/>
        </p:nvSpPr>
        <p:spPr>
          <a:xfrm>
            <a:off x="6575908" y="4229100"/>
            <a:ext cx="184023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EventoController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950" dirty="0"/>
          </a:p>
        </p:txBody>
      </p:sp>
      <p:sp>
        <p:nvSpPr>
          <p:cNvPr id="41" name="Text 39"/>
          <p:cNvSpPr/>
          <p:nvPr/>
        </p:nvSpPr>
        <p:spPr>
          <a:xfrm>
            <a:off x="4255618" y="4069080"/>
            <a:ext cx="1600200" cy="928116"/>
          </a:xfrm>
          <a:prstGeom prst="diamond">
            <a:avLst/>
          </a:prstGeom>
          <a:solidFill>
            <a:srgbClr val="E3F4FA"/>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¿eventoId ya consumido?</a:t>
            </a:r>
            <a:endParaRPr lang="en-US" sz="950" dirty="0"/>
          </a:p>
        </p:txBody>
      </p:sp>
      <p:sp>
        <p:nvSpPr>
          <p:cNvPr id="42" name="Text 40"/>
          <p:cNvSpPr/>
          <p:nvPr/>
        </p:nvSpPr>
        <p:spPr>
          <a:xfrm>
            <a:off x="1695298" y="4229100"/>
            <a:ext cx="176022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Ignorar</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950" dirty="0"/>
          </a:p>
        </p:txBody>
      </p:sp>
      <p:sp>
        <p:nvSpPr>
          <p:cNvPr id="43" name="Text 41"/>
          <p:cNvSpPr/>
          <p:nvPr/>
        </p:nvSpPr>
        <p:spPr>
          <a:xfrm>
            <a:off x="4015588" y="5349240"/>
            <a:ext cx="2080260" cy="608076"/>
          </a:xfrm>
          <a:prstGeom prst="roundRect">
            <a:avLst>
              <a:gd name="adj" fmla="val 1503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Crear aviso y guardar id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950" dirty="0"/>
          </a:p>
        </p:txBody>
      </p:sp>
      <p:sp>
        <p:nvSpPr>
          <p:cNvPr id="44" name="Text 4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E3F4FA"/>
          </a:solidFill>
          <a:ln w="12700">
            <a:solidFill>
              <a:srgbClr val="2BA6CB"/>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E3F4FA"/>
          </a:solidFill>
          <a:ln w="12700">
            <a:solidFill>
              <a:srgbClr val="2BA6CB"/>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38100">
            <a:solidFill>
              <a:srgbClr val="2BA6CB"/>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38100">
            <a:solidFill>
              <a:srgbClr val="2BA6CB"/>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44450">
            <a:solidFill>
              <a:srgbClr val="2BA6CB"/>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C7D2E2"/>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C7D2E2"/>
            </a:solidFill>
            <a:prstDash val="sysDot"/>
            <a:tailEnd type="triangle"/>
          </a:ln>
        </p:spPr>
      </p:sp>
      <p:sp>
        <p:nvSpPr>
          <p:cNvPr id="22" name="Text 20"/>
          <p:cNvSpPr/>
          <p:nvPr/>
        </p:nvSpPr>
        <p:spPr>
          <a:xfrm>
            <a:off x="6238886"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31750">
            <a:solidFill>
              <a:srgbClr val="C7D2E2"/>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C7D2E2"/>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E3F4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2645588"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2" name="Text 40"/>
          <p:cNvSpPr/>
          <p:nvPr/>
        </p:nvSpPr>
        <p:spPr>
          <a:xfrm>
            <a:off x="1271016"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espera en la tabla de pendientes.</a:t>
            </a:r>
            <a:endParaRPr lang="en-US" sz="1300" dirty="0"/>
          </a:p>
        </p:txBody>
      </p:sp>
      <p:sp>
        <p:nvSpPr>
          <p:cNvPr id="43" name="Shape 41"/>
          <p:cNvSpPr/>
          <p:nvPr/>
        </p:nvSpPr>
        <p:spPr>
          <a:xfrm>
            <a:off x="3386252" y="5376672"/>
            <a:ext cx="2645588"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3523412"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5" name="Text 43"/>
          <p:cNvSpPr/>
          <p:nvPr/>
        </p:nvSpPr>
        <p:spPr>
          <a:xfrm>
            <a:off x="4044620"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5 segundos, el relevador revisa si hay pendientes.</a:t>
            </a:r>
            <a:endParaRPr lang="en-US" sz="1300" dirty="0"/>
          </a:p>
        </p:txBody>
      </p:sp>
      <p:sp>
        <p:nvSpPr>
          <p:cNvPr id="46" name="Shape 44"/>
          <p:cNvSpPr/>
          <p:nvPr/>
        </p:nvSpPr>
        <p:spPr>
          <a:xfrm>
            <a:off x="6159856" y="5376672"/>
            <a:ext cx="2645588"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48" name="Text 46"/>
          <p:cNvSpPr/>
          <p:nvPr/>
        </p:nvSpPr>
        <p:spPr>
          <a:xfrm>
            <a:off x="6818224"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publicador lo entrega hasta con tres intentos, siempre con el mismo número de evento.</a:t>
            </a:r>
            <a:endParaRPr lang="en-US" sz="1300" dirty="0"/>
          </a:p>
        </p:txBody>
      </p:sp>
      <p:sp>
        <p:nvSpPr>
          <p:cNvPr id="49" name="Shape 47"/>
          <p:cNvSpPr/>
          <p:nvPr/>
        </p:nvSpPr>
        <p:spPr>
          <a:xfrm>
            <a:off x="8933459" y="5376672"/>
            <a:ext cx="2645588" cy="914400"/>
          </a:xfrm>
          <a:prstGeom prst="roundRect">
            <a:avLst>
              <a:gd name="adj" fmla="val 10000"/>
            </a:avLst>
          </a:prstGeom>
          <a:solidFill>
            <a:srgbClr val="E3F4FA"/>
          </a:solidFill>
          <a:ln w="12700">
            <a:solidFill>
              <a:srgbClr val="2BA6CB"/>
            </a:solidFill>
            <a:prstDash val="solid"/>
          </a:ln>
        </p:spPr>
      </p:sp>
      <p:sp>
        <p:nvSpPr>
          <p:cNvPr id="50" name="Text 48"/>
          <p:cNvSpPr/>
          <p:nvPr/>
        </p:nvSpPr>
        <p:spPr>
          <a:xfrm>
            <a:off x="9070619"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51" name="Text 49"/>
          <p:cNvSpPr/>
          <p:nvPr/>
        </p:nvSpPr>
        <p:spPr>
          <a:xfrm>
            <a:off x="9591827" y="5413248"/>
            <a:ext cx="1868348"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evento llega a notificaciones por HTTP.</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55627E"/>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31750">
            <a:solidFill>
              <a:srgbClr val="2E6DB4"/>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E6DB4"/>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22860">
            <a:solidFill>
              <a:srgbClr val="C7D2E2"/>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44450">
            <a:solidFill>
              <a:srgbClr val="2BA6CB"/>
            </a:solidFill>
            <a:prstDash val="sysDot"/>
            <a:tailEnd type="triangle"/>
          </a:ln>
        </p:spPr>
      </p:sp>
      <p:sp>
        <p:nvSpPr>
          <p:cNvPr id="22" name="Text 20"/>
          <p:cNvSpPr/>
          <p:nvPr/>
        </p:nvSpPr>
        <p:spPr>
          <a:xfrm>
            <a:off x="6238886"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44450">
            <a:solidFill>
              <a:srgbClr val="2BA6CB"/>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44450">
            <a:solidFill>
              <a:srgbClr val="2BA6CB"/>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25400">
            <a:solidFill>
              <a:srgbClr val="C7D2E2"/>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850" b="1" dirty="0">
                <a:solidFill>
                  <a:srgbClr val="55627E"/>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2BA6CB"/>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2" name="Text 40"/>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revisa si ya conoce ese número de evento.</a:t>
            </a:r>
            <a:endParaRPr lang="en-US" sz="1300" dirty="0"/>
          </a:p>
        </p:txBody>
      </p:sp>
      <p:sp>
        <p:nvSpPr>
          <p:cNvPr id="43" name="Shape 41"/>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5" name="Text 43"/>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 nuevo, crea el aviso y anota el número.</a:t>
            </a:r>
            <a:endParaRPr lang="en-US" sz="1300" dirty="0"/>
          </a:p>
        </p:txBody>
      </p:sp>
      <p:sp>
        <p:nvSpPr>
          <p:cNvPr id="46" name="Shape 44"/>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8" name="Text 46"/>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ya lo conocía, lo ignora. Así una reentrega no duplica el aviso.</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Entrega posterior del evento</a:t>
            </a:r>
            <a:endParaRPr lang="en-US" sz="2800" dirty="0"/>
          </a:p>
        </p:txBody>
      </p:sp>
      <p:sp>
        <p:nvSpPr>
          <p:cNvPr id="5" name="Shape 3"/>
          <p:cNvSpPr/>
          <p:nvPr/>
        </p:nvSpPr>
        <p:spPr>
          <a:xfrm>
            <a:off x="2023502" y="1438874"/>
            <a:ext cx="8144691" cy="1334044"/>
          </a:xfrm>
          <a:prstGeom prst="roundRect">
            <a:avLst>
              <a:gd name="adj" fmla="val 8225"/>
            </a:avLst>
          </a:prstGeom>
          <a:solidFill>
            <a:srgbClr val="F4F7FB"/>
          </a:solidFill>
          <a:ln w="12700">
            <a:solidFill>
              <a:srgbClr val="DFE6F0"/>
            </a:solidFill>
            <a:prstDash val="solid"/>
          </a:ln>
        </p:spPr>
      </p:sp>
      <p:sp>
        <p:nvSpPr>
          <p:cNvPr id="6" name="Text 4"/>
          <p:cNvSpPr/>
          <p:nvPr/>
        </p:nvSpPr>
        <p:spPr>
          <a:xfrm>
            <a:off x="2107757" y="1481001"/>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SERVICIO-SOLICITUDES · TRABAJO POSTERIOR</a:t>
            </a:r>
            <a:endParaRPr lang="en-US" sz="800" dirty="0"/>
          </a:p>
        </p:txBody>
      </p:sp>
      <p:sp>
        <p:nvSpPr>
          <p:cNvPr id="7" name="Shape 5"/>
          <p:cNvSpPr/>
          <p:nvPr/>
        </p:nvSpPr>
        <p:spPr>
          <a:xfrm>
            <a:off x="2023502" y="2983557"/>
            <a:ext cx="8144691" cy="2106386"/>
          </a:xfrm>
          <a:prstGeom prst="roundRect">
            <a:avLst>
              <a:gd name="adj" fmla="val 5209"/>
            </a:avLst>
          </a:prstGeom>
          <a:solidFill>
            <a:srgbClr val="F4F7FB"/>
          </a:solidFill>
          <a:ln w="12700">
            <a:solidFill>
              <a:srgbClr val="DFE6F0"/>
            </a:solidFill>
            <a:prstDash val="solid"/>
          </a:ln>
        </p:spPr>
      </p:sp>
      <p:sp>
        <p:nvSpPr>
          <p:cNvPr id="8" name="Text 6"/>
          <p:cNvSpPr/>
          <p:nvPr/>
        </p:nvSpPr>
        <p:spPr>
          <a:xfrm>
            <a:off x="2107757" y="302568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SERVICIO-NOTIFICACIONES</a:t>
            </a:r>
            <a:endParaRPr lang="en-US" sz="800" dirty="0"/>
          </a:p>
        </p:txBody>
      </p:sp>
      <p:sp>
        <p:nvSpPr>
          <p:cNvPr id="9" name="Shape 7"/>
          <p:cNvSpPr/>
          <p:nvPr/>
        </p:nvSpPr>
        <p:spPr>
          <a:xfrm>
            <a:off x="3638398" y="2197173"/>
            <a:ext cx="631916" cy="0"/>
          </a:xfrm>
          <a:prstGeom prst="line">
            <a:avLst/>
          </a:prstGeom>
          <a:noFill/>
          <a:ln w="25400">
            <a:solidFill>
              <a:srgbClr val="55627E"/>
            </a:solidFill>
            <a:prstDash val="dash"/>
            <a:tailEnd type="triangle"/>
          </a:ln>
        </p:spPr>
      </p:sp>
      <p:sp>
        <p:nvSpPr>
          <p:cNvPr id="10" name="Text 8"/>
          <p:cNvSpPr/>
          <p:nvPr/>
        </p:nvSpPr>
        <p:spPr>
          <a:xfrm>
            <a:off x="3797079" y="1978533"/>
            <a:ext cx="314554"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lee</a:t>
            </a:r>
            <a:endParaRPr lang="en-US" sz="800" dirty="0"/>
          </a:p>
        </p:txBody>
      </p:sp>
      <p:sp>
        <p:nvSpPr>
          <p:cNvPr id="11" name="Text 9"/>
          <p:cNvSpPr/>
          <p:nvPr/>
        </p:nvSpPr>
        <p:spPr>
          <a:xfrm>
            <a:off x="3697180"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2" name="Shape 10"/>
          <p:cNvSpPr/>
          <p:nvPr/>
        </p:nvSpPr>
        <p:spPr>
          <a:xfrm>
            <a:off x="5814996" y="2197173"/>
            <a:ext cx="702129" cy="0"/>
          </a:xfrm>
          <a:prstGeom prst="line">
            <a:avLst/>
          </a:prstGeom>
          <a:noFill/>
          <a:ln w="25400">
            <a:solidFill>
              <a:srgbClr val="55627E"/>
            </a:solidFill>
            <a:prstDash val="dash"/>
            <a:tailEnd type="triangle"/>
          </a:ln>
        </p:spPr>
      </p:sp>
      <p:sp>
        <p:nvSpPr>
          <p:cNvPr id="13" name="Text 11"/>
          <p:cNvSpPr/>
          <p:nvPr/>
        </p:nvSpPr>
        <p:spPr>
          <a:xfrm>
            <a:off x="5884425" y="197853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publica</a:t>
            </a:r>
            <a:endParaRPr lang="en-US" sz="800" dirty="0"/>
          </a:p>
        </p:txBody>
      </p:sp>
      <p:sp>
        <p:nvSpPr>
          <p:cNvPr id="14" name="Text 12"/>
          <p:cNvSpPr/>
          <p:nvPr/>
        </p:nvSpPr>
        <p:spPr>
          <a:xfrm>
            <a:off x="5873779" y="208744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5" name="Shape 13"/>
          <p:cNvSpPr/>
          <p:nvPr/>
        </p:nvSpPr>
        <p:spPr>
          <a:xfrm>
            <a:off x="7043721" y="2463981"/>
            <a:ext cx="0" cy="940852"/>
          </a:xfrm>
          <a:prstGeom prst="line">
            <a:avLst/>
          </a:prstGeom>
          <a:noFill/>
          <a:ln w="44450">
            <a:solidFill>
              <a:srgbClr val="2BA6CB"/>
            </a:solidFill>
            <a:prstDash val="solid"/>
            <a:tailEnd type="triangle"/>
          </a:ln>
        </p:spPr>
      </p:sp>
      <p:sp>
        <p:nvSpPr>
          <p:cNvPr id="16" name="Text 14"/>
          <p:cNvSpPr/>
          <p:nvPr/>
        </p:nvSpPr>
        <p:spPr>
          <a:xfrm>
            <a:off x="6596776" y="2807045"/>
            <a:ext cx="376733" cy="192024"/>
          </a:xfrm>
          <a:prstGeom prst="rect">
            <a:avLst/>
          </a:prstGeom>
          <a:noFill/>
          <a:ln/>
        </p:spPr>
        <p:txBody>
          <a:bodyPr wrap="square" lIns="0" tIns="0" rIns="0" bIns="0" rtlCol="0" anchor="ctr"/>
          <a:lstStyle/>
          <a:p>
            <a:pPr algn="r" indent="0" marL="0">
              <a:buNone/>
            </a:pPr>
            <a:r>
              <a:rPr lang="en-US" sz="800" b="1" dirty="0">
                <a:solidFill>
                  <a:srgbClr val="2BA6CB"/>
                </a:solidFill>
                <a:latin typeface="Segoe UI" pitchFamily="34" charset="0"/>
                <a:ea typeface="Segoe UI" pitchFamily="34" charset="-122"/>
                <a:cs typeface="Segoe UI" pitchFamily="34" charset="-120"/>
              </a:rPr>
              <a:t>POST</a:t>
            </a:r>
            <a:endParaRPr lang="en-US" sz="800" dirty="0"/>
          </a:p>
        </p:txBody>
      </p:sp>
      <p:sp>
        <p:nvSpPr>
          <p:cNvPr id="17" name="Text 15"/>
          <p:cNvSpPr/>
          <p:nvPr/>
        </p:nvSpPr>
        <p:spPr>
          <a:xfrm>
            <a:off x="6933993" y="252276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flipV="1">
            <a:off x="7605424" y="2463981"/>
            <a:ext cx="0" cy="940852"/>
          </a:xfrm>
          <a:prstGeom prst="line">
            <a:avLst/>
          </a:prstGeom>
          <a:noFill/>
          <a:ln w="35560">
            <a:solidFill>
              <a:srgbClr val="2BA6CB"/>
            </a:solidFill>
            <a:prstDash val="solid"/>
            <a:tailEnd type="arrow"/>
          </a:ln>
        </p:spPr>
      </p:sp>
      <p:sp>
        <p:nvSpPr>
          <p:cNvPr id="19" name="Text 17"/>
          <p:cNvSpPr/>
          <p:nvPr/>
        </p:nvSpPr>
        <p:spPr>
          <a:xfrm>
            <a:off x="7675637" y="2807045"/>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200</a:t>
            </a:r>
            <a:endParaRPr lang="en-US" sz="800" dirty="0"/>
          </a:p>
        </p:txBody>
      </p:sp>
      <p:sp>
        <p:nvSpPr>
          <p:cNvPr id="20" name="Text 18"/>
          <p:cNvSpPr/>
          <p:nvPr/>
        </p:nvSpPr>
        <p:spPr>
          <a:xfrm>
            <a:off x="7495696" y="312659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8</a:t>
            </a:r>
            <a:endParaRPr lang="en-US" sz="800" dirty="0"/>
          </a:p>
        </p:txBody>
      </p:sp>
      <p:sp>
        <p:nvSpPr>
          <p:cNvPr id="21" name="Shape 19"/>
          <p:cNvSpPr/>
          <p:nvPr/>
        </p:nvSpPr>
        <p:spPr>
          <a:xfrm flipH="1">
            <a:off x="5885209" y="3671643"/>
            <a:ext cx="631916" cy="0"/>
          </a:xfrm>
          <a:prstGeom prst="line">
            <a:avLst/>
          </a:prstGeom>
          <a:noFill/>
          <a:ln w="31750">
            <a:solidFill>
              <a:srgbClr val="55627E"/>
            </a:solidFill>
            <a:prstDash val="sysDot"/>
            <a:tailEnd type="triangle"/>
          </a:ln>
        </p:spPr>
      </p:sp>
      <p:sp>
        <p:nvSpPr>
          <p:cNvPr id="22" name="Text 20"/>
          <p:cNvSpPr/>
          <p:nvPr/>
        </p:nvSpPr>
        <p:spPr>
          <a:xfrm>
            <a:off x="6238886" y="356191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3" name="Shape 21"/>
          <p:cNvSpPr/>
          <p:nvPr/>
        </p:nvSpPr>
        <p:spPr>
          <a:xfrm flipH="1">
            <a:off x="3778823" y="3671643"/>
            <a:ext cx="702129" cy="0"/>
          </a:xfrm>
          <a:prstGeom prst="line">
            <a:avLst/>
          </a:prstGeom>
          <a:noFill/>
          <a:ln w="44450">
            <a:solidFill>
              <a:srgbClr val="2BA6CB"/>
            </a:solidFill>
            <a:prstDash val="sysDot"/>
            <a:tailEnd type="triangle"/>
          </a:ln>
        </p:spPr>
      </p:sp>
      <p:sp>
        <p:nvSpPr>
          <p:cNvPr id="24" name="Text 22"/>
          <p:cNvSpPr/>
          <p:nvPr/>
        </p:nvSpPr>
        <p:spPr>
          <a:xfrm>
            <a:off x="4003700" y="3453003"/>
            <a:ext cx="25237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sí</a:t>
            </a:r>
            <a:endParaRPr lang="en-US" sz="800" dirty="0"/>
          </a:p>
        </p:txBody>
      </p:sp>
      <p:sp>
        <p:nvSpPr>
          <p:cNvPr id="25" name="Text 23"/>
          <p:cNvSpPr/>
          <p:nvPr/>
        </p:nvSpPr>
        <p:spPr>
          <a:xfrm>
            <a:off x="4202713" y="356191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26" name="Shape 24"/>
          <p:cNvSpPr/>
          <p:nvPr/>
        </p:nvSpPr>
        <p:spPr>
          <a:xfrm>
            <a:off x="5183080" y="4078877"/>
            <a:ext cx="0" cy="308937"/>
          </a:xfrm>
          <a:prstGeom prst="line">
            <a:avLst/>
          </a:prstGeom>
          <a:noFill/>
          <a:ln w="31750">
            <a:solidFill>
              <a:srgbClr val="55627E"/>
            </a:solidFill>
            <a:prstDash val="sysDot"/>
            <a:tailEnd type="triangle"/>
          </a:ln>
        </p:spPr>
      </p:sp>
      <p:sp>
        <p:nvSpPr>
          <p:cNvPr id="27" name="Text 25"/>
          <p:cNvSpPr/>
          <p:nvPr/>
        </p:nvSpPr>
        <p:spPr>
          <a:xfrm>
            <a:off x="5253293" y="4105983"/>
            <a:ext cx="25237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no</a:t>
            </a:r>
            <a:endParaRPr lang="en-US" sz="800" dirty="0"/>
          </a:p>
        </p:txBody>
      </p:sp>
      <p:sp>
        <p:nvSpPr>
          <p:cNvPr id="28" name="Text 26"/>
          <p:cNvSpPr/>
          <p:nvPr/>
        </p:nvSpPr>
        <p:spPr>
          <a:xfrm>
            <a:off x="5073352" y="412361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Shape 27"/>
          <p:cNvSpPr/>
          <p:nvPr/>
        </p:nvSpPr>
        <p:spPr>
          <a:xfrm>
            <a:off x="8132020" y="2197173"/>
            <a:ext cx="631916" cy="0"/>
          </a:xfrm>
          <a:prstGeom prst="line">
            <a:avLst/>
          </a:prstGeom>
          <a:noFill/>
          <a:ln w="38100">
            <a:solidFill>
              <a:srgbClr val="2BA6CB"/>
            </a:solidFill>
            <a:prstDash val="dash"/>
            <a:tailEnd type="triangle"/>
          </a:ln>
        </p:spPr>
      </p:sp>
      <p:sp>
        <p:nvSpPr>
          <p:cNvPr id="30" name="Text 28"/>
          <p:cNvSpPr/>
          <p:nvPr/>
        </p:nvSpPr>
        <p:spPr>
          <a:xfrm>
            <a:off x="8290702" y="1978533"/>
            <a:ext cx="314554"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2xx</a:t>
            </a:r>
            <a:endParaRPr lang="en-US" sz="800" dirty="0"/>
          </a:p>
        </p:txBody>
      </p:sp>
      <p:sp>
        <p:nvSpPr>
          <p:cNvPr id="31" name="Text 29"/>
          <p:cNvSpPr/>
          <p:nvPr/>
        </p:nvSpPr>
        <p:spPr>
          <a:xfrm>
            <a:off x="8190803" y="208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9</a:t>
            </a:r>
            <a:endParaRPr lang="en-US" sz="800" dirty="0"/>
          </a:p>
        </p:txBody>
      </p:sp>
      <p:sp>
        <p:nvSpPr>
          <p:cNvPr id="32" name="Text 30"/>
          <p:cNvSpPr/>
          <p:nvPr/>
        </p:nvSpPr>
        <p:spPr>
          <a:xfrm>
            <a:off x="2234140" y="1930364"/>
            <a:ext cx="1404257" cy="533618"/>
          </a:xfrm>
          <a:prstGeom prst="roundRect">
            <a:avLst>
              <a:gd name="adj" fmla="val 1713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tabla evento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procesado = false</a:t>
            </a:r>
            <a:endParaRPr lang="en-US" sz="850" dirty="0"/>
          </a:p>
        </p:txBody>
      </p:sp>
      <p:sp>
        <p:nvSpPr>
          <p:cNvPr id="33" name="Text 31"/>
          <p:cNvSpPr/>
          <p:nvPr/>
        </p:nvSpPr>
        <p:spPr>
          <a:xfrm>
            <a:off x="4270313" y="193036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Relevador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@Scheduled cada 5 s</a:t>
            </a:r>
            <a:endParaRPr lang="en-US" sz="850" dirty="0"/>
          </a:p>
        </p:txBody>
      </p:sp>
      <p:sp>
        <p:nvSpPr>
          <p:cNvPr id="34" name="Text 32"/>
          <p:cNvSpPr/>
          <p:nvPr/>
        </p:nvSpPr>
        <p:spPr>
          <a:xfrm>
            <a:off x="6517125" y="1930364"/>
            <a:ext cx="1614896"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PublicadorConReintento</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hasta 3 intentos</a:t>
            </a:r>
            <a:endParaRPr lang="en-US" sz="850" dirty="0"/>
          </a:p>
        </p:txBody>
      </p:sp>
      <p:sp>
        <p:nvSpPr>
          <p:cNvPr id="35" name="Text 33"/>
          <p:cNvSpPr/>
          <p:nvPr/>
        </p:nvSpPr>
        <p:spPr>
          <a:xfrm>
            <a:off x="8763936" y="1930364"/>
            <a:ext cx="1263831"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procesado = true</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solo tras un 2xx</a:t>
            </a:r>
            <a:endParaRPr lang="en-US" sz="850" dirty="0"/>
          </a:p>
        </p:txBody>
      </p:sp>
      <p:sp>
        <p:nvSpPr>
          <p:cNvPr id="36" name="Text 34"/>
          <p:cNvSpPr/>
          <p:nvPr/>
        </p:nvSpPr>
        <p:spPr>
          <a:xfrm>
            <a:off x="6517125" y="3404834"/>
            <a:ext cx="1614896"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EventoController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POST /eventos/solicitud-enviada</a:t>
            </a:r>
            <a:endParaRPr lang="en-US" sz="850" dirty="0"/>
          </a:p>
        </p:txBody>
      </p:sp>
      <p:sp>
        <p:nvSpPr>
          <p:cNvPr id="37" name="Text 35"/>
          <p:cNvSpPr/>
          <p:nvPr/>
        </p:nvSpPr>
        <p:spPr>
          <a:xfrm>
            <a:off x="4480952" y="3264408"/>
            <a:ext cx="1404257" cy="814469"/>
          </a:xfrm>
          <a:prstGeom prst="diamond">
            <a:avLst/>
          </a:prstGeom>
          <a:solidFill>
            <a:srgbClr val="2BA6CB"/>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¿eventoId ya consumido?</a:t>
            </a:r>
            <a:endParaRPr lang="en-US" sz="850" dirty="0"/>
          </a:p>
        </p:txBody>
      </p:sp>
      <p:sp>
        <p:nvSpPr>
          <p:cNvPr id="38" name="Text 36"/>
          <p:cNvSpPr/>
          <p:nvPr/>
        </p:nvSpPr>
        <p:spPr>
          <a:xfrm>
            <a:off x="2234140" y="3404834"/>
            <a:ext cx="1544683" cy="533618"/>
          </a:xfrm>
          <a:prstGeom prst="roundRect">
            <a:avLst>
              <a:gd name="adj" fmla="val 1713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Ignorar</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ya se procesó</a:t>
            </a:r>
            <a:endParaRPr lang="en-US" sz="850" dirty="0"/>
          </a:p>
        </p:txBody>
      </p:sp>
      <p:sp>
        <p:nvSpPr>
          <p:cNvPr id="39" name="Text 37"/>
          <p:cNvSpPr/>
          <p:nvPr/>
        </p:nvSpPr>
        <p:spPr>
          <a:xfrm>
            <a:off x="4270313" y="4387814"/>
            <a:ext cx="1825534" cy="533618"/>
          </a:xfrm>
          <a:prstGeom prst="roundRect">
            <a:avLst>
              <a:gd name="adj" fmla="val 1713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Crear aviso y guardar id</a:t>
            </a:r>
            <a:endParaRPr lang="en-US" sz="850" dirty="0"/>
          </a:p>
          <a:p>
            <a:pPr algn="ctr" indent="0" marL="0">
              <a:buNone/>
            </a:pPr>
            <a:r>
              <a:rPr lang="en-US" sz="800" dirty="0">
                <a:solidFill>
                  <a:srgbClr val="55627E"/>
                </a:solidFill>
                <a:latin typeface="Segoe UI" pitchFamily="34" charset="0"/>
                <a:ea typeface="Segoe UI" pitchFamily="34" charset="-122"/>
                <a:cs typeface="Segoe UI" pitchFamily="34" charset="-120"/>
              </a:rPr>
              <a:t>aviso en memoria · id en PostgreSQL</a:t>
            </a:r>
            <a:endParaRPr lang="en-US" sz="850" dirty="0"/>
          </a:p>
        </p:txBody>
      </p:sp>
      <p:sp>
        <p:nvSpPr>
          <p:cNvPr id="40" name="Shape 38"/>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1" name="Text 39"/>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2" name="Text 40"/>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Notificaciones responde que lo recibió.</a:t>
            </a:r>
            <a:endParaRPr lang="en-US" sz="1300" dirty="0"/>
          </a:p>
        </p:txBody>
      </p:sp>
      <p:sp>
        <p:nvSpPr>
          <p:cNvPr id="43" name="Shape 41"/>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9</a:t>
            </a:r>
            <a:endParaRPr lang="en-US" sz="1400" dirty="0"/>
          </a:p>
        </p:txBody>
      </p:sp>
      <p:sp>
        <p:nvSpPr>
          <p:cNvPr id="45" name="Text 43"/>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Solo entonces el relevador lo marca como entregado.</a:t>
            </a:r>
            <a:endParaRPr lang="en-US" sz="1300" dirty="0"/>
          </a:p>
        </p:txBody>
      </p:sp>
      <p:sp>
        <p:nvSpPr>
          <p:cNvPr id="46" name="Shape 44"/>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10</a:t>
            </a:r>
            <a:endParaRPr lang="en-US" sz="1400" dirty="0"/>
          </a:p>
        </p:txBody>
      </p:sp>
      <p:sp>
        <p:nvSpPr>
          <p:cNvPr id="48" name="Text 46"/>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esa respuesta se pierde, el evento se vuelve a mandar, y la idempotencia evita el aviso doble.</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4 · GUARDAR SIN PERDER DATOS</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El mismo evento, un solo aviso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Repetir no multiplica el efecto.</a:t>
            </a:r>
            <a:endParaRPr lang="en-US" sz="3200" dirty="0"/>
          </a:p>
        </p:txBody>
      </p:sp>
      <p:sp>
        <p:nvSpPr>
          <p:cNvPr id="6" name="Shape 4"/>
          <p:cNvSpPr/>
          <p:nvPr/>
        </p:nvSpPr>
        <p:spPr>
          <a:xfrm>
            <a:off x="612648" y="4507992"/>
            <a:ext cx="5257800" cy="1188720"/>
          </a:xfrm>
          <a:prstGeom prst="roundRect">
            <a:avLst>
              <a:gd name="adj" fmla="val 9231"/>
            </a:avLst>
          </a:prstGeom>
          <a:solidFill>
            <a:srgbClr val="F4F7FB"/>
          </a:solidFill>
          <a:ln w="12700">
            <a:solidFill>
              <a:srgbClr val="F4F7FB"/>
            </a:solidFill>
            <a:prstDash val="solid"/>
          </a:ln>
        </p:spPr>
      </p:sp>
      <p:sp>
        <p:nvSpPr>
          <p:cNvPr id="7" name="Text 5"/>
          <p:cNvSpPr/>
          <p:nvPr/>
        </p:nvSpPr>
        <p:spPr>
          <a:xfrm>
            <a:off x="813816" y="4736592"/>
            <a:ext cx="457200" cy="457200"/>
          </a:xfrm>
          <a:prstGeom prst="roundRect">
            <a:avLst>
              <a:gd name="adj" fmla="val 20000"/>
            </a:avLst>
          </a:prstGeom>
          <a:solidFill>
            <a:srgbClr val="E3F4FA"/>
          </a:solidFill>
          <a:ln>
            <a:solidFill>
              <a:srgbClr val="E3F4FA"/>
            </a:solidFill>
          </a:ln>
        </p:spPr>
        <p:txBody>
          <a:bodyPr wrap="square" lIns="0" tIns="0" rIns="0" bIns="0" rtlCol="0" anchor="ctr"/>
          <a:lstStyle/>
          <a:p>
            <a:pPr algn="ctr" indent="0" marL="0">
              <a:buNone/>
            </a:pPr>
            <a:r>
              <a:rPr lang="en-US" sz="2000" b="1" dirty="0">
                <a:solidFill>
                  <a:srgbClr val="0B6E8A"/>
                </a:solidFill>
                <a:latin typeface="Segoe UI Semibold" pitchFamily="34" charset="0"/>
                <a:ea typeface="Segoe UI Semibold" pitchFamily="34" charset="-122"/>
                <a:cs typeface="Segoe UI Semibold" pitchFamily="34" charset="-120"/>
              </a:rPr>
              <a:t>≈</a:t>
            </a:r>
            <a:endParaRPr lang="en-US" sz="2000" dirty="0"/>
          </a:p>
        </p:txBody>
      </p:sp>
      <p:sp>
        <p:nvSpPr>
          <p:cNvPr id="8" name="Text 6"/>
          <p:cNvSpPr/>
          <p:nvPr/>
        </p:nvSpPr>
        <p:spPr>
          <a:xfrm>
            <a:off x="1417320" y="4617720"/>
            <a:ext cx="4297680" cy="969264"/>
          </a:xfrm>
          <a:prstGeom prst="rect">
            <a:avLst/>
          </a:prstGeom>
          <a:noFill/>
          <a:ln/>
        </p:spPr>
        <p:txBody>
          <a:bodyPr wrap="square" lIns="0" tIns="0" rIns="0" bIns="0" rtlCol="0" anchor="ctr">
            <a:normAutofit/>
          </a:bodyPr>
          <a:lstStyle/>
          <a:p>
            <a:pPr indent="0" marL="0">
              <a:buNone/>
            </a:pPr>
            <a:r>
              <a:rPr lang="en-US" sz="1450" dirty="0">
                <a:solidFill>
                  <a:srgbClr val="0B1A3C"/>
                </a:solidFill>
                <a:latin typeface="Segoe UI" pitchFamily="34" charset="0"/>
                <a:ea typeface="Segoe UI" pitchFamily="34" charset="-122"/>
                <a:cs typeface="Segoe UI" pitchFamily="34" charset="-120"/>
              </a:rPr>
              <a:t>Como un portero con lista de invitados: si alguien ya entró, no lo vuelve a anotar.</a:t>
            </a:r>
            <a:endParaRPr lang="en-US" sz="1450" dirty="0"/>
          </a:p>
        </p:txBody>
      </p:sp>
      <p:sp>
        <p:nvSpPr>
          <p:cNvPr id="9" name="Shape 7"/>
          <p:cNvSpPr/>
          <p:nvPr/>
        </p:nvSpPr>
        <p:spPr>
          <a:xfrm>
            <a:off x="6281928" y="1417320"/>
            <a:ext cx="5297119" cy="994410"/>
          </a:xfrm>
          <a:prstGeom prst="roundRect">
            <a:avLst>
              <a:gd name="adj" fmla="val 11034"/>
            </a:avLst>
          </a:prstGeom>
          <a:solidFill>
            <a:srgbClr val="FFFFFF"/>
          </a:solidFill>
          <a:ln w="15875">
            <a:solidFill>
              <a:srgbClr val="DFE6F0"/>
            </a:solidFill>
            <a:prstDash val="solid"/>
          </a:ln>
        </p:spPr>
      </p:sp>
      <p:sp>
        <p:nvSpPr>
          <p:cNvPr id="10" name="Text 8"/>
          <p:cNvSpPr/>
          <p:nvPr/>
        </p:nvSpPr>
        <p:spPr>
          <a:xfrm>
            <a:off x="6464808" y="1685925"/>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Text 9"/>
          <p:cNvSpPr/>
          <p:nvPr/>
        </p:nvSpPr>
        <p:spPr>
          <a:xfrm>
            <a:off x="7086600" y="1417320"/>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Cada evento tiene un número que no cambia</a:t>
            </a:r>
            <a:endParaRPr lang="en-US" sz="1600" dirty="0"/>
          </a:p>
        </p:txBody>
      </p:sp>
      <p:sp>
        <p:nvSpPr>
          <p:cNvPr id="12" name="Shape 10"/>
          <p:cNvSpPr/>
          <p:nvPr/>
        </p:nvSpPr>
        <p:spPr>
          <a:xfrm>
            <a:off x="6281928" y="2558034"/>
            <a:ext cx="5297119" cy="994410"/>
          </a:xfrm>
          <a:prstGeom prst="roundRect">
            <a:avLst>
              <a:gd name="adj" fmla="val 11034"/>
            </a:avLst>
          </a:prstGeom>
          <a:solidFill>
            <a:srgbClr val="E3F4FA"/>
          </a:solidFill>
          <a:ln w="15875">
            <a:solidFill>
              <a:srgbClr val="2BA6CB"/>
            </a:solidFill>
            <a:prstDash val="solid"/>
          </a:ln>
        </p:spPr>
      </p:sp>
      <p:sp>
        <p:nvSpPr>
          <p:cNvPr id="13" name="Text 11"/>
          <p:cNvSpPr/>
          <p:nvPr/>
        </p:nvSpPr>
        <p:spPr>
          <a:xfrm>
            <a:off x="6464808" y="2826639"/>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4" name="Text 12"/>
          <p:cNvSpPr/>
          <p:nvPr/>
        </p:nvSpPr>
        <p:spPr>
          <a:xfrm>
            <a:off x="7086600" y="2558034"/>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Notificaciones anota los números que ya recibió</a:t>
            </a:r>
            <a:endParaRPr lang="en-US" sz="1600" dirty="0"/>
          </a:p>
        </p:txBody>
      </p:sp>
      <p:sp>
        <p:nvSpPr>
          <p:cNvPr id="15" name="Shape 13"/>
          <p:cNvSpPr/>
          <p:nvPr/>
        </p:nvSpPr>
        <p:spPr>
          <a:xfrm>
            <a:off x="6281928" y="3698748"/>
            <a:ext cx="5297119" cy="994410"/>
          </a:xfrm>
          <a:prstGeom prst="roundRect">
            <a:avLst>
              <a:gd name="adj" fmla="val 11034"/>
            </a:avLst>
          </a:prstGeom>
          <a:solidFill>
            <a:srgbClr val="FFFFFF"/>
          </a:solidFill>
          <a:ln w="15875">
            <a:solidFill>
              <a:srgbClr val="DFE6F0"/>
            </a:solidFill>
            <a:prstDash val="solid"/>
          </a:ln>
        </p:spPr>
      </p:sp>
      <p:sp>
        <p:nvSpPr>
          <p:cNvPr id="16" name="Text 14"/>
          <p:cNvSpPr/>
          <p:nvPr/>
        </p:nvSpPr>
        <p:spPr>
          <a:xfrm>
            <a:off x="6464808" y="3967353"/>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7" name="Text 15"/>
          <p:cNvSpPr/>
          <p:nvPr/>
        </p:nvSpPr>
        <p:spPr>
          <a:xfrm>
            <a:off x="7086600" y="3698748"/>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 llega uno repetido, lo ignora</a:t>
            </a:r>
            <a:endParaRPr lang="en-US" sz="1600" dirty="0"/>
          </a:p>
        </p:txBody>
      </p:sp>
      <p:sp>
        <p:nvSpPr>
          <p:cNvPr id="18" name="Shape 16"/>
          <p:cNvSpPr/>
          <p:nvPr/>
        </p:nvSpPr>
        <p:spPr>
          <a:xfrm>
            <a:off x="6281928" y="4839462"/>
            <a:ext cx="5297119" cy="994410"/>
          </a:xfrm>
          <a:prstGeom prst="roundRect">
            <a:avLst>
              <a:gd name="adj" fmla="val 11034"/>
            </a:avLst>
          </a:prstGeom>
          <a:solidFill>
            <a:srgbClr val="FFFFFF"/>
          </a:solidFill>
          <a:ln w="15875">
            <a:solidFill>
              <a:srgbClr val="DFE6F0"/>
            </a:solidFill>
            <a:prstDash val="solid"/>
          </a:ln>
        </p:spPr>
      </p:sp>
      <p:sp>
        <p:nvSpPr>
          <p:cNvPr id="19" name="Text 17"/>
          <p:cNvSpPr/>
          <p:nvPr/>
        </p:nvSpPr>
        <p:spPr>
          <a:xfrm>
            <a:off x="6464808" y="5108067"/>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0" name="Text 18"/>
          <p:cNvSpPr/>
          <p:nvPr/>
        </p:nvSpPr>
        <p:spPr>
          <a:xfrm>
            <a:off x="7086600" y="4839462"/>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Lo comprobamos con el botón Reentregar</a:t>
            </a:r>
            <a:endParaRPr lang="en-US" sz="1600" dirty="0"/>
          </a:p>
        </p:txBody>
      </p:sp>
      <p:sp>
        <p:nvSpPr>
          <p:cNvPr id="21" name="Shape 19"/>
          <p:cNvSpPr/>
          <p:nvPr/>
        </p:nvSpPr>
        <p:spPr>
          <a:xfrm>
            <a:off x="0" y="5961888"/>
            <a:ext cx="12191695" cy="475488"/>
          </a:xfrm>
          <a:prstGeom prst="rect">
            <a:avLst/>
          </a:prstGeom>
          <a:solidFill>
            <a:srgbClr val="0B2350"/>
          </a:solidFill>
          <a:ln w="12700">
            <a:solidFill>
              <a:srgbClr val="0B2350"/>
            </a:solidFill>
            <a:prstDash val="solid"/>
          </a:ln>
        </p:spPr>
      </p:sp>
      <p:sp>
        <p:nvSpPr>
          <p:cNvPr id="22" name="Text 20"/>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Los reintentos nos protegen de perder avisos; la idempotencia, de duplicarlos.</a:t>
            </a:r>
            <a:endParaRPr lang="en-US" sz="1400" dirty="0"/>
          </a:p>
        </p:txBody>
      </p:sp>
      <p:sp>
        <p:nvSpPr>
          <p:cNvPr id="23" name="Text 21"/>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4 · GUARDAR SIN PERDER DATOS</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5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05</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Empaquetar y entregar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hicimos que el sistema corra igual en cualquier computadora y que cada cambio se pruebe solo.</a:t>
            </a:r>
            <a:endParaRPr lang="en-US" sz="1900" dirty="0"/>
          </a:p>
        </p:txBody>
      </p:sp>
      <p:sp>
        <p:nvSpPr>
          <p:cNvPr id="6" name="Text 4"/>
          <p:cNvSpPr/>
          <p:nvPr/>
        </p:nvSpPr>
        <p:spPr>
          <a:xfrm>
            <a:off x="758952" y="4617720"/>
            <a:ext cx="228142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y Dockerfile</a:t>
            </a:r>
            <a:endParaRPr lang="en-US" sz="1300" dirty="0"/>
          </a:p>
        </p:txBody>
      </p:sp>
      <p:sp>
        <p:nvSpPr>
          <p:cNvPr id="7" name="Text 5"/>
          <p:cNvSpPr/>
          <p:nvPr/>
        </p:nvSpPr>
        <p:spPr>
          <a:xfrm>
            <a:off x="3168396"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Docker Compose</a:t>
            </a:r>
            <a:endParaRPr lang="en-US" sz="1300" dirty="0"/>
          </a:p>
        </p:txBody>
      </p:sp>
      <p:sp>
        <p:nvSpPr>
          <p:cNvPr id="8" name="Text 6"/>
          <p:cNvSpPr/>
          <p:nvPr/>
        </p:nvSpPr>
        <p:spPr>
          <a:xfrm>
            <a:off x="5097780" y="4617720"/>
            <a:ext cx="333756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Integración y entrega continua</a:t>
            </a:r>
            <a:endParaRPr lang="en-US" sz="1300" dirty="0"/>
          </a:p>
        </p:txBody>
      </p:sp>
      <p:sp>
        <p:nvSpPr>
          <p:cNvPr id="9" name="Text 7"/>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P5</a:t>
            </a:r>
            <a:endParaRPr lang="en-US" sz="1000" dirty="0"/>
          </a:p>
        </p:txBody>
      </p:sp>
      <p:sp>
        <p:nvSpPr>
          <p:cNvPr id="10" name="Text 8"/>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5 · DevOps</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y Dockerfile</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Dockerfile: la receta</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Imagen: el resultado empaquetado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Contenedor: la imagen corriendo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Dos etapas: compilar y ejecutar</a:t>
            </a:r>
            <a:endParaRPr lang="en-US" sz="1100" dirty="0"/>
          </a:p>
        </p:txBody>
      </p:sp>
      <p:sp>
        <p:nvSpPr>
          <p:cNvPr id="9" name="Shape 7"/>
          <p:cNvSpPr/>
          <p:nvPr/>
        </p:nvSpPr>
        <p:spPr>
          <a:xfrm>
            <a:off x="4803378" y="3896751"/>
            <a:ext cx="6203852" cy="1206305"/>
          </a:xfrm>
          <a:prstGeom prst="roundRect">
            <a:avLst>
              <a:gd name="adj" fmla="val 9096"/>
            </a:avLst>
          </a:prstGeom>
          <a:solidFill>
            <a:srgbClr val="F4F7FB"/>
          </a:solidFill>
          <a:ln w="12700">
            <a:solidFill>
              <a:srgbClr val="DFE6F0"/>
            </a:solidFill>
            <a:prstDash val="solid"/>
          </a:ln>
        </p:spPr>
      </p:sp>
      <p:sp>
        <p:nvSpPr>
          <p:cNvPr id="10" name="Text 8"/>
          <p:cNvSpPr/>
          <p:nvPr/>
        </p:nvSpPr>
        <p:spPr>
          <a:xfrm>
            <a:off x="4906776" y="394845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11" name="Shape 9"/>
          <p:cNvSpPr/>
          <p:nvPr/>
        </p:nvSpPr>
        <p:spPr>
          <a:xfrm>
            <a:off x="3252415" y="2707679"/>
            <a:ext cx="603152" cy="0"/>
          </a:xfrm>
          <a:prstGeom prst="line">
            <a:avLst/>
          </a:prstGeom>
          <a:noFill/>
          <a:ln w="31750">
            <a:solidFill>
              <a:srgbClr val="55627E"/>
            </a:solidFill>
            <a:prstDash val="sysDot"/>
            <a:tailEnd type="triangle"/>
          </a:ln>
        </p:spPr>
      </p:sp>
      <p:sp>
        <p:nvSpPr>
          <p:cNvPr id="12" name="Text 10"/>
          <p:cNvSpPr/>
          <p:nvPr/>
        </p:nvSpPr>
        <p:spPr>
          <a:xfrm>
            <a:off x="3272356" y="2474683"/>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13" name="Text 11"/>
          <p:cNvSpPr/>
          <p:nvPr/>
        </p:nvSpPr>
        <p:spPr>
          <a:xfrm>
            <a:off x="3349482"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4" name="Shape 12"/>
          <p:cNvSpPr/>
          <p:nvPr/>
        </p:nvSpPr>
        <p:spPr>
          <a:xfrm>
            <a:off x="5148037" y="2707679"/>
            <a:ext cx="603152" cy="0"/>
          </a:xfrm>
          <a:prstGeom prst="line">
            <a:avLst/>
          </a:prstGeom>
          <a:noFill/>
          <a:ln w="31750">
            <a:solidFill>
              <a:srgbClr val="55627E"/>
            </a:solidFill>
            <a:prstDash val="sysDot"/>
            <a:tailEnd type="triangle"/>
          </a:ln>
        </p:spPr>
      </p:sp>
      <p:sp>
        <p:nvSpPr>
          <p:cNvPr id="15" name="Text 13"/>
          <p:cNvSpPr/>
          <p:nvPr/>
        </p:nvSpPr>
        <p:spPr>
          <a:xfrm>
            <a:off x="5261247" y="2474683"/>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6" name="Text 14"/>
          <p:cNvSpPr/>
          <p:nvPr/>
        </p:nvSpPr>
        <p:spPr>
          <a:xfrm>
            <a:off x="5245104"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7" name="Shape 15"/>
          <p:cNvSpPr/>
          <p:nvPr/>
        </p:nvSpPr>
        <p:spPr>
          <a:xfrm>
            <a:off x="7991469" y="2707679"/>
            <a:ext cx="689317" cy="0"/>
          </a:xfrm>
          <a:prstGeom prst="line">
            <a:avLst/>
          </a:prstGeom>
          <a:noFill/>
          <a:ln w="31750">
            <a:solidFill>
              <a:srgbClr val="55627E"/>
            </a:solidFill>
            <a:prstDash val="sysDot"/>
            <a:tailEnd type="triangle"/>
          </a:ln>
        </p:spPr>
      </p:sp>
      <p:sp>
        <p:nvSpPr>
          <p:cNvPr id="18" name="Text 16"/>
          <p:cNvSpPr/>
          <p:nvPr/>
        </p:nvSpPr>
        <p:spPr>
          <a:xfrm>
            <a:off x="8116672" y="2474683"/>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9" name="Text 17"/>
          <p:cNvSpPr/>
          <p:nvPr/>
        </p:nvSpPr>
        <p:spPr>
          <a:xfrm>
            <a:off x="8088536" y="259795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9628597" y="3069570"/>
            <a:ext cx="0" cy="1085674"/>
          </a:xfrm>
          <a:prstGeom prst="line">
            <a:avLst/>
          </a:prstGeom>
          <a:noFill/>
          <a:ln w="31750">
            <a:solidFill>
              <a:srgbClr val="55627E"/>
            </a:solidFill>
            <a:prstDash val="sysDot"/>
            <a:tailEnd type="triangle"/>
          </a:ln>
        </p:spPr>
      </p:sp>
      <p:sp>
        <p:nvSpPr>
          <p:cNvPr id="21" name="Text 19"/>
          <p:cNvSpPr/>
          <p:nvPr/>
        </p:nvSpPr>
        <p:spPr>
          <a:xfrm>
            <a:off x="9714761" y="3491425"/>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22" name="Text 20"/>
          <p:cNvSpPr/>
          <p:nvPr/>
        </p:nvSpPr>
        <p:spPr>
          <a:xfrm>
            <a:off x="9518869" y="3166638"/>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3" name="Shape 21"/>
          <p:cNvSpPr/>
          <p:nvPr/>
        </p:nvSpPr>
        <p:spPr>
          <a:xfrm flipH="1">
            <a:off x="7302152" y="4517136"/>
            <a:ext cx="1378634" cy="0"/>
          </a:xfrm>
          <a:prstGeom prst="line">
            <a:avLst/>
          </a:prstGeom>
          <a:noFill/>
          <a:ln w="31750">
            <a:solidFill>
              <a:srgbClr val="2E6DB4"/>
            </a:solidFill>
            <a:prstDash val="solid"/>
            <a:tailEnd type="triangle"/>
          </a:ln>
        </p:spPr>
      </p:sp>
      <p:sp>
        <p:nvSpPr>
          <p:cNvPr id="24" name="Text 22"/>
          <p:cNvSpPr/>
          <p:nvPr/>
        </p:nvSpPr>
        <p:spPr>
          <a:xfrm>
            <a:off x="7616565" y="4284140"/>
            <a:ext cx="749808"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por nombre</a:t>
            </a:r>
            <a:endParaRPr lang="en-US" sz="800" dirty="0"/>
          </a:p>
        </p:txBody>
      </p:sp>
      <p:sp>
        <p:nvSpPr>
          <p:cNvPr id="25" name="Text 23"/>
          <p:cNvSpPr/>
          <p:nvPr/>
        </p:nvSpPr>
        <p:spPr>
          <a:xfrm>
            <a:off x="8364263" y="4407408"/>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6" name="Shape 24"/>
          <p:cNvSpPr/>
          <p:nvPr/>
        </p:nvSpPr>
        <p:spPr>
          <a:xfrm flipV="1">
            <a:off x="9628597" y="4879027"/>
            <a:ext cx="0" cy="568686"/>
          </a:xfrm>
          <a:prstGeom prst="line">
            <a:avLst/>
          </a:prstGeom>
          <a:noFill/>
          <a:ln w="31750">
            <a:solidFill>
              <a:srgbClr val="2E6DB4"/>
            </a:solidFill>
            <a:prstDash val="solid"/>
            <a:tailEnd type="triangle"/>
          </a:ln>
        </p:spPr>
      </p:sp>
      <p:sp>
        <p:nvSpPr>
          <p:cNvPr id="27" name="Text 25"/>
          <p:cNvSpPr/>
          <p:nvPr/>
        </p:nvSpPr>
        <p:spPr>
          <a:xfrm>
            <a:off x="9714761" y="5042388"/>
            <a:ext cx="1122883" cy="192024"/>
          </a:xfrm>
          <a:prstGeom prst="rect">
            <a:avLst/>
          </a:prstGeom>
          <a:noFill/>
          <a:ln/>
        </p:spPr>
        <p:txBody>
          <a:bodyPr wrap="square" lIns="0" tIns="0" rIns="0" bIns="0" rtlCol="0" anchor="ctr"/>
          <a:lstStyle/>
          <a:p>
            <a:pPr algn="l" indent="0" marL="0">
              <a:buNone/>
            </a:pPr>
            <a:r>
              <a:rPr lang="en-US" sz="800" b="1" dirty="0">
                <a:solidFill>
                  <a:srgbClr val="2E6DB4"/>
                </a:solidFill>
                <a:latin typeface="Segoe UI" pitchFamily="34" charset="0"/>
                <a:ea typeface="Segoe UI" pitchFamily="34" charset="-122"/>
                <a:cs typeface="Segoe UI" pitchFamily="34" charset="-120"/>
              </a:rPr>
              <a:t>puerto publicado</a:t>
            </a:r>
            <a:endParaRPr lang="en-US" sz="800" dirty="0"/>
          </a:p>
        </p:txBody>
      </p:sp>
      <p:sp>
        <p:nvSpPr>
          <p:cNvPr id="28" name="Text 26"/>
          <p:cNvSpPr/>
          <p:nvPr/>
        </p:nvSpPr>
        <p:spPr>
          <a:xfrm>
            <a:off x="9518869" y="513119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9" name="Text 27"/>
          <p:cNvSpPr/>
          <p:nvPr/>
        </p:nvSpPr>
        <p:spPr>
          <a:xfrm>
            <a:off x="1270629" y="2345788"/>
            <a:ext cx="1981786"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Etapa build</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1000" dirty="0"/>
          </a:p>
        </p:txBody>
      </p:sp>
      <p:sp>
        <p:nvSpPr>
          <p:cNvPr id="30" name="Text 28"/>
          <p:cNvSpPr/>
          <p:nvPr/>
        </p:nvSpPr>
        <p:spPr>
          <a:xfrm>
            <a:off x="3855568" y="2345788"/>
            <a:ext cx="1292469"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app.jar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1000" dirty="0"/>
          </a:p>
        </p:txBody>
      </p:sp>
      <p:sp>
        <p:nvSpPr>
          <p:cNvPr id="31" name="Text 29"/>
          <p:cNvSpPr/>
          <p:nvPr/>
        </p:nvSpPr>
        <p:spPr>
          <a:xfrm>
            <a:off x="5751189" y="2345788"/>
            <a:ext cx="2240280"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Etapa final</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1000" dirty="0"/>
          </a:p>
        </p:txBody>
      </p:sp>
      <p:sp>
        <p:nvSpPr>
          <p:cNvPr id="32" name="Text 30"/>
          <p:cNvSpPr/>
          <p:nvPr/>
        </p:nvSpPr>
        <p:spPr>
          <a:xfrm>
            <a:off x="8680786" y="2345788"/>
            <a:ext cx="1895622"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Imagen</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1000" dirty="0"/>
          </a:p>
        </p:txBody>
      </p:sp>
      <p:sp>
        <p:nvSpPr>
          <p:cNvPr id="33" name="Text 31"/>
          <p:cNvSpPr/>
          <p:nvPr/>
        </p:nvSpPr>
        <p:spPr>
          <a:xfrm>
            <a:off x="8680786" y="4155245"/>
            <a:ext cx="1895622"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Contenedor solicitudes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1000" dirty="0"/>
          </a:p>
        </p:txBody>
      </p:sp>
      <p:sp>
        <p:nvSpPr>
          <p:cNvPr id="34" name="Text 32"/>
          <p:cNvSpPr/>
          <p:nvPr/>
        </p:nvSpPr>
        <p:spPr>
          <a:xfrm>
            <a:off x="5061872" y="4155245"/>
            <a:ext cx="2240280" cy="723783"/>
          </a:xfrm>
          <a:prstGeom prst="roundRect">
            <a:avLst>
              <a:gd name="adj" fmla="val 12634"/>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Contenedor notificaciones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1000" dirty="0"/>
          </a:p>
        </p:txBody>
      </p:sp>
      <p:sp>
        <p:nvSpPr>
          <p:cNvPr id="35" name="Text 33"/>
          <p:cNvSpPr/>
          <p:nvPr/>
        </p:nvSpPr>
        <p:spPr>
          <a:xfrm>
            <a:off x="8680786" y="5447714"/>
            <a:ext cx="1895622" cy="689317"/>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Tu equipo</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1000" dirty="0"/>
          </a:p>
        </p:txBody>
      </p:sp>
      <p:sp>
        <p:nvSpPr>
          <p:cNvPr id="36" name="Text 3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44450">
            <a:solidFill>
              <a:srgbClr val="2BA6CB"/>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44450">
            <a:solidFill>
              <a:srgbClr val="2BA6CB"/>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C7D2E2"/>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C7D2E2"/>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C7D2E2"/>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4" name="Text 3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primera etapa tiene Maven y Java completo, y compila el programa.</a:t>
            </a:r>
            <a:endParaRPr lang="en-US" sz="1300" dirty="0"/>
          </a:p>
        </p:txBody>
      </p:sp>
      <p:sp>
        <p:nvSpPr>
          <p:cNvPr id="35" name="Shape 3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7" name="Text 3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etapa final solo lleva lo necesario para ejecutarlo, con un usuario sin privilegios.</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F4F7FB"/>
          </a:solidFill>
          <a:ln w="12700">
            <a:solidFill>
              <a:srgbClr val="DFE6F0"/>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44450">
            <a:solidFill>
              <a:srgbClr val="2BA6CB"/>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44450">
            <a:solidFill>
              <a:srgbClr val="2BA6CB"/>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31750">
            <a:solidFill>
              <a:srgbClr val="C7D2E2"/>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31750">
            <a:solidFill>
              <a:srgbClr val="C7D2E2"/>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4" name="Text 3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resultado es una imagen: la misma receta para cualquier computadora.</a:t>
            </a:r>
            <a:endParaRPr lang="en-US" sz="1300" dirty="0"/>
          </a:p>
        </p:txBody>
      </p:sp>
      <p:sp>
        <p:nvSpPr>
          <p:cNvPr id="35" name="Shape 3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7" name="Text 3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contenedor es esa imagen corriendo, con su configuración.</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 Dockerfile a contenedor</a:t>
            </a:r>
            <a:endParaRPr lang="en-US" sz="2800" dirty="0"/>
          </a:p>
        </p:txBody>
      </p:sp>
      <p:sp>
        <p:nvSpPr>
          <p:cNvPr id="5" name="Shape 3"/>
          <p:cNvSpPr/>
          <p:nvPr/>
        </p:nvSpPr>
        <p:spPr>
          <a:xfrm>
            <a:off x="4961640" y="3113180"/>
            <a:ext cx="5444197" cy="1058594"/>
          </a:xfrm>
          <a:prstGeom prst="roundRect">
            <a:avLst>
              <a:gd name="adj" fmla="val 10365"/>
            </a:avLst>
          </a:prstGeom>
          <a:solidFill>
            <a:srgbClr val="E3F4FA"/>
          </a:solidFill>
          <a:ln w="12700">
            <a:solidFill>
              <a:srgbClr val="2BA6CB"/>
            </a:solidFill>
            <a:prstDash val="solid"/>
          </a:ln>
        </p:spPr>
      </p:sp>
      <p:sp>
        <p:nvSpPr>
          <p:cNvPr id="6" name="Text 4"/>
          <p:cNvSpPr/>
          <p:nvPr/>
        </p:nvSpPr>
        <p:spPr>
          <a:xfrm>
            <a:off x="5052377" y="3158549"/>
            <a:ext cx="5261317"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RED PRIVADA DE COMPOSE</a:t>
            </a:r>
            <a:endParaRPr lang="en-US" sz="800" dirty="0"/>
          </a:p>
        </p:txBody>
      </p:sp>
      <p:sp>
        <p:nvSpPr>
          <p:cNvPr id="7" name="Shape 5"/>
          <p:cNvSpPr/>
          <p:nvPr/>
        </p:nvSpPr>
        <p:spPr>
          <a:xfrm>
            <a:off x="3600591" y="2069709"/>
            <a:ext cx="529297" cy="0"/>
          </a:xfrm>
          <a:prstGeom prst="line">
            <a:avLst/>
          </a:prstGeom>
          <a:noFill/>
          <a:ln w="31750">
            <a:solidFill>
              <a:srgbClr val="55627E"/>
            </a:solidFill>
            <a:prstDash val="sysDot"/>
            <a:tailEnd type="triangle"/>
          </a:ln>
        </p:spPr>
      </p:sp>
      <p:sp>
        <p:nvSpPr>
          <p:cNvPr id="8" name="Text 6"/>
          <p:cNvSpPr/>
          <p:nvPr/>
        </p:nvSpPr>
        <p:spPr>
          <a:xfrm>
            <a:off x="3583604" y="1846209"/>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package</a:t>
            </a:r>
            <a:endParaRPr lang="en-US" sz="800" dirty="0"/>
          </a:p>
        </p:txBody>
      </p:sp>
      <p:sp>
        <p:nvSpPr>
          <p:cNvPr id="9" name="Text 7"/>
          <p:cNvSpPr/>
          <p:nvPr/>
        </p:nvSpPr>
        <p:spPr>
          <a:xfrm>
            <a:off x="3672336"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1</a:t>
            </a:r>
            <a:endParaRPr lang="en-US" sz="800" dirty="0"/>
          </a:p>
        </p:txBody>
      </p:sp>
      <p:sp>
        <p:nvSpPr>
          <p:cNvPr id="10" name="Shape 8"/>
          <p:cNvSpPr/>
          <p:nvPr/>
        </p:nvSpPr>
        <p:spPr>
          <a:xfrm>
            <a:off x="5264095" y="2069709"/>
            <a:ext cx="529297" cy="0"/>
          </a:xfrm>
          <a:prstGeom prst="line">
            <a:avLst/>
          </a:prstGeom>
          <a:noFill/>
          <a:ln w="31750">
            <a:solidFill>
              <a:srgbClr val="55627E"/>
            </a:solidFill>
            <a:prstDash val="sysDot"/>
            <a:tailEnd type="triangle"/>
          </a:ln>
        </p:spPr>
      </p:sp>
      <p:sp>
        <p:nvSpPr>
          <p:cNvPr id="11" name="Text 9"/>
          <p:cNvSpPr/>
          <p:nvPr/>
        </p:nvSpPr>
        <p:spPr>
          <a:xfrm>
            <a:off x="5340377" y="184620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COPY</a:t>
            </a:r>
            <a:endParaRPr lang="en-US" sz="800" dirty="0"/>
          </a:p>
        </p:txBody>
      </p:sp>
      <p:sp>
        <p:nvSpPr>
          <p:cNvPr id="12" name="Text 10"/>
          <p:cNvSpPr/>
          <p:nvPr/>
        </p:nvSpPr>
        <p:spPr>
          <a:xfrm>
            <a:off x="5335841"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3" name="Shape 11"/>
          <p:cNvSpPr/>
          <p:nvPr/>
        </p:nvSpPr>
        <p:spPr>
          <a:xfrm>
            <a:off x="7759352" y="2069709"/>
            <a:ext cx="604911" cy="0"/>
          </a:xfrm>
          <a:prstGeom prst="line">
            <a:avLst/>
          </a:prstGeom>
          <a:noFill/>
          <a:ln w="31750">
            <a:solidFill>
              <a:srgbClr val="55627E"/>
            </a:solidFill>
            <a:prstDash val="sysDot"/>
            <a:tailEnd type="triangle"/>
          </a:ln>
        </p:spPr>
      </p:sp>
      <p:sp>
        <p:nvSpPr>
          <p:cNvPr id="14" name="Text 12"/>
          <p:cNvSpPr/>
          <p:nvPr/>
        </p:nvSpPr>
        <p:spPr>
          <a:xfrm>
            <a:off x="7842352" y="1846209"/>
            <a:ext cx="43891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build</a:t>
            </a:r>
            <a:endParaRPr lang="en-US" sz="800" dirty="0"/>
          </a:p>
        </p:txBody>
      </p:sp>
      <p:sp>
        <p:nvSpPr>
          <p:cNvPr id="15" name="Text 13"/>
          <p:cNvSpPr/>
          <p:nvPr/>
        </p:nvSpPr>
        <p:spPr>
          <a:xfrm>
            <a:off x="7831097" y="195998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9196015" y="2387287"/>
            <a:ext cx="0" cy="952734"/>
          </a:xfrm>
          <a:prstGeom prst="line">
            <a:avLst/>
          </a:prstGeom>
          <a:noFill/>
          <a:ln w="31750">
            <a:solidFill>
              <a:srgbClr val="55627E"/>
            </a:solidFill>
            <a:prstDash val="sysDot"/>
            <a:tailEnd type="triangle"/>
          </a:ln>
        </p:spPr>
      </p:sp>
      <p:sp>
        <p:nvSpPr>
          <p:cNvPr id="17" name="Text 15"/>
          <p:cNvSpPr/>
          <p:nvPr/>
        </p:nvSpPr>
        <p:spPr>
          <a:xfrm>
            <a:off x="9271629" y="2738452"/>
            <a:ext cx="314554" cy="192024"/>
          </a:xfrm>
          <a:prstGeom prst="rect">
            <a:avLst/>
          </a:prstGeom>
          <a:noFill/>
          <a:ln/>
        </p:spPr>
        <p:txBody>
          <a:bodyPr wrap="square" lIns="0" tIns="0" rIns="0" bIns="0" rtlCol="0" anchor="ctr"/>
          <a:lstStyle/>
          <a:p>
            <a:pPr algn="l" indent="0" marL="0">
              <a:buNone/>
            </a:pPr>
            <a:r>
              <a:rPr lang="en-US" sz="800" b="1" dirty="0">
                <a:solidFill>
                  <a:srgbClr val="55627E"/>
                </a:solidFill>
                <a:latin typeface="Segoe UI" pitchFamily="34" charset="0"/>
                <a:ea typeface="Segoe UI" pitchFamily="34" charset="-122"/>
                <a:cs typeface="Segoe UI" pitchFamily="34" charset="-120"/>
              </a:rPr>
              <a:t>run</a:t>
            </a:r>
            <a:endParaRPr lang="en-US" sz="800" dirty="0"/>
          </a:p>
        </p:txBody>
      </p:sp>
      <p:sp>
        <p:nvSpPr>
          <p:cNvPr id="18" name="Text 16"/>
          <p:cNvSpPr/>
          <p:nvPr/>
        </p:nvSpPr>
        <p:spPr>
          <a:xfrm>
            <a:off x="9086287" y="245903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9" name="Shape 17"/>
          <p:cNvSpPr/>
          <p:nvPr/>
        </p:nvSpPr>
        <p:spPr>
          <a:xfrm flipH="1">
            <a:off x="7154441" y="3657600"/>
            <a:ext cx="1209822" cy="0"/>
          </a:xfrm>
          <a:prstGeom prst="line">
            <a:avLst/>
          </a:prstGeom>
          <a:noFill/>
          <a:ln w="44450">
            <a:solidFill>
              <a:srgbClr val="2BA6CB"/>
            </a:solidFill>
            <a:prstDash val="solid"/>
            <a:tailEnd type="triangle"/>
          </a:ln>
        </p:spPr>
      </p:sp>
      <p:sp>
        <p:nvSpPr>
          <p:cNvPr id="20" name="Text 18"/>
          <p:cNvSpPr/>
          <p:nvPr/>
        </p:nvSpPr>
        <p:spPr>
          <a:xfrm>
            <a:off x="7384448" y="3434100"/>
            <a:ext cx="749808"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por nombre</a:t>
            </a:r>
            <a:endParaRPr lang="en-US" sz="800" dirty="0"/>
          </a:p>
        </p:txBody>
      </p:sp>
      <p:sp>
        <p:nvSpPr>
          <p:cNvPr id="21" name="Text 19"/>
          <p:cNvSpPr/>
          <p:nvPr/>
        </p:nvSpPr>
        <p:spPr>
          <a:xfrm>
            <a:off x="8073062" y="35478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2" name="Shape 20"/>
          <p:cNvSpPr/>
          <p:nvPr/>
        </p:nvSpPr>
        <p:spPr>
          <a:xfrm flipV="1">
            <a:off x="9196015" y="3975178"/>
            <a:ext cx="0" cy="499051"/>
          </a:xfrm>
          <a:prstGeom prst="line">
            <a:avLst/>
          </a:prstGeom>
          <a:noFill/>
          <a:ln w="44450">
            <a:solidFill>
              <a:srgbClr val="2BA6CB"/>
            </a:solidFill>
            <a:prstDash val="solid"/>
            <a:tailEnd type="triangle"/>
          </a:ln>
        </p:spPr>
      </p:sp>
      <p:sp>
        <p:nvSpPr>
          <p:cNvPr id="23" name="Text 21"/>
          <p:cNvSpPr/>
          <p:nvPr/>
        </p:nvSpPr>
        <p:spPr>
          <a:xfrm>
            <a:off x="9271629" y="4099501"/>
            <a:ext cx="1122883" cy="192024"/>
          </a:xfrm>
          <a:prstGeom prst="rect">
            <a:avLst/>
          </a:prstGeom>
          <a:noFill/>
          <a:ln/>
        </p:spPr>
        <p:txBody>
          <a:bodyPr wrap="square" lIns="0" tIns="0" rIns="0" bIns="0" rtlCol="0" anchor="ctr"/>
          <a:lstStyle/>
          <a:p>
            <a:pPr algn="l" indent="0" marL="0">
              <a:buNone/>
            </a:pPr>
            <a:r>
              <a:rPr lang="en-US" sz="800" b="1" dirty="0">
                <a:solidFill>
                  <a:srgbClr val="2BA6CB"/>
                </a:solidFill>
                <a:latin typeface="Segoe UI" pitchFamily="34" charset="0"/>
                <a:ea typeface="Segoe UI" pitchFamily="34" charset="-122"/>
                <a:cs typeface="Segoe UI" pitchFamily="34" charset="-120"/>
              </a:rPr>
              <a:t>puerto publicado</a:t>
            </a:r>
            <a:endParaRPr lang="en-US" sz="800" dirty="0"/>
          </a:p>
        </p:txBody>
      </p:sp>
      <p:sp>
        <p:nvSpPr>
          <p:cNvPr id="24" name="Text 22"/>
          <p:cNvSpPr/>
          <p:nvPr/>
        </p:nvSpPr>
        <p:spPr>
          <a:xfrm>
            <a:off x="9086287" y="4183028"/>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5" name="Text 23"/>
          <p:cNvSpPr/>
          <p:nvPr/>
        </p:nvSpPr>
        <p:spPr>
          <a:xfrm>
            <a:off x="1861472" y="1752131"/>
            <a:ext cx="173911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build</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maven:3.9-eclipse-temurin-26</a:t>
            </a:r>
            <a:endParaRPr lang="en-US" sz="900" dirty="0"/>
          </a:p>
        </p:txBody>
      </p:sp>
      <p:sp>
        <p:nvSpPr>
          <p:cNvPr id="26" name="Text 24"/>
          <p:cNvSpPr/>
          <p:nvPr/>
        </p:nvSpPr>
        <p:spPr>
          <a:xfrm>
            <a:off x="4129888" y="1752131"/>
            <a:ext cx="1134208"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app.jar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-DskipTests</a:t>
            </a:r>
            <a:endParaRPr lang="en-US" sz="900" dirty="0"/>
          </a:p>
        </p:txBody>
      </p:sp>
      <p:sp>
        <p:nvSpPr>
          <p:cNvPr id="27" name="Text 25"/>
          <p:cNvSpPr/>
          <p:nvPr/>
        </p:nvSpPr>
        <p:spPr>
          <a:xfrm>
            <a:off x="5793392" y="1752131"/>
            <a:ext cx="1965960"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Etapa final</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eclipse-temurin:26-jre · usuario appuser1</a:t>
            </a:r>
            <a:endParaRPr lang="en-US" sz="900" dirty="0"/>
          </a:p>
        </p:txBody>
      </p:sp>
      <p:sp>
        <p:nvSpPr>
          <p:cNvPr id="28" name="Text 26"/>
          <p:cNvSpPr/>
          <p:nvPr/>
        </p:nvSpPr>
        <p:spPr>
          <a:xfrm>
            <a:off x="8364263" y="1752131"/>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Imagen</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receta ya construida</a:t>
            </a:r>
            <a:endParaRPr lang="en-US" sz="900" dirty="0"/>
          </a:p>
        </p:txBody>
      </p:sp>
      <p:sp>
        <p:nvSpPr>
          <p:cNvPr id="29" name="Text 27"/>
          <p:cNvSpPr/>
          <p:nvPr/>
        </p:nvSpPr>
        <p:spPr>
          <a:xfrm>
            <a:off x="8364263" y="3340022"/>
            <a:ext cx="1663505" cy="635156"/>
          </a:xfrm>
          <a:prstGeom prst="roundRect">
            <a:avLst>
              <a:gd name="adj" fmla="val 1439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solicitudes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escucha en 8080</a:t>
            </a:r>
            <a:endParaRPr lang="en-US" sz="900" dirty="0"/>
          </a:p>
        </p:txBody>
      </p:sp>
      <p:sp>
        <p:nvSpPr>
          <p:cNvPr id="30" name="Text 28"/>
          <p:cNvSpPr/>
          <p:nvPr/>
        </p:nvSpPr>
        <p:spPr>
          <a:xfrm>
            <a:off x="5188481" y="3340022"/>
            <a:ext cx="1965960" cy="635156"/>
          </a:xfrm>
          <a:prstGeom prst="roundRect">
            <a:avLst>
              <a:gd name="adj" fmla="val 1439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Contenedor notificaciones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servicio-notificaciones:8080</a:t>
            </a:r>
            <a:endParaRPr lang="en-US" sz="900" dirty="0"/>
          </a:p>
        </p:txBody>
      </p:sp>
      <p:sp>
        <p:nvSpPr>
          <p:cNvPr id="31" name="Text 29"/>
          <p:cNvSpPr/>
          <p:nvPr/>
        </p:nvSpPr>
        <p:spPr>
          <a:xfrm>
            <a:off x="8364263" y="4474230"/>
            <a:ext cx="1663505" cy="604911"/>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Tu equipo</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localhost:8080 → contenedor 8080</a:t>
            </a:r>
            <a:endParaRPr lang="en-US" sz="900" dirty="0"/>
          </a:p>
        </p:txBody>
      </p:sp>
      <p:sp>
        <p:nvSpPr>
          <p:cNvPr id="32" name="Shape 3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3" name="Text 3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4" name="Text 3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Dentro de la red, solicitudes llama a notificaciones por su nombre, no por localhost.</a:t>
            </a:r>
            <a:endParaRPr lang="en-US" sz="1300" dirty="0"/>
          </a:p>
        </p:txBody>
      </p:sp>
      <p:sp>
        <p:nvSpPr>
          <p:cNvPr id="35" name="Shape 3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6" name="Text 3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7" name="Text 3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Desde tu computadora entras por el puerto publicado.</a:t>
            </a:r>
            <a:endParaRPr lang="en-US" sz="1300" dirty="0"/>
          </a:p>
        </p:txBody>
      </p:sp>
      <p:sp>
        <p:nvSpPr>
          <p:cNvPr id="38" name="Text 3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Docker Compose: el sistema completo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Servicios, bases, UI y logs en un archivo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Dentro de la red, cada servicio se llama por su nombre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Las variables de entorno cambian la configuración</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puerto publicado no tiene que ser el interno</a:t>
            </a:r>
            <a:endParaRPr lang="en-US" sz="11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2291486"/>
                <a:gridCol w="2291486"/>
                <a:gridCol w="6383426"/>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Quién llama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A quién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Dirección</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Navegador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UI</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http://localhost:8088</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Proxy de la UI</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http://servicio-solicitudes:8080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http://servicio-notificaciones:8080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solicitudes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su base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jdbc:postgresql://db-solicitudes:5432/…</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Integración y entrega continua</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push o Pull Request dispara el pipeline</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Compila y prueba cada servicio con su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Comprueba que el servicio arranca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Publica la imagen con el código del commit</a:t>
            </a:r>
            <a:endParaRPr lang="en-US" sz="1100" dirty="0"/>
          </a:p>
        </p:txBody>
      </p:sp>
      <p:sp>
        <p:nvSpPr>
          <p:cNvPr id="9" name="Shape 7"/>
          <p:cNvSpPr/>
          <p:nvPr/>
        </p:nvSpPr>
        <p:spPr>
          <a:xfrm>
            <a:off x="3510909" y="2001129"/>
            <a:ext cx="7582486" cy="1809457"/>
          </a:xfrm>
          <a:prstGeom prst="roundRect">
            <a:avLst>
              <a:gd name="adj" fmla="val 6064"/>
            </a:avLst>
          </a:prstGeom>
          <a:solidFill>
            <a:srgbClr val="F4F7FB"/>
          </a:solidFill>
          <a:ln w="12700">
            <a:solidFill>
              <a:srgbClr val="DFE6F0"/>
            </a:solidFill>
            <a:prstDash val="solid"/>
          </a:ln>
        </p:spPr>
      </p:sp>
      <p:sp>
        <p:nvSpPr>
          <p:cNvPr id="10" name="Text 8"/>
          <p:cNvSpPr/>
          <p:nvPr/>
        </p:nvSpPr>
        <p:spPr>
          <a:xfrm>
            <a:off x="3614307" y="2052828"/>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11" name="Shape 9"/>
          <p:cNvSpPr/>
          <p:nvPr/>
        </p:nvSpPr>
        <p:spPr>
          <a:xfrm>
            <a:off x="3510909" y="4155245"/>
            <a:ext cx="7582486" cy="1809457"/>
          </a:xfrm>
          <a:prstGeom prst="roundRect">
            <a:avLst>
              <a:gd name="adj" fmla="val 6064"/>
            </a:avLst>
          </a:prstGeom>
          <a:solidFill>
            <a:srgbClr val="F4F7FB"/>
          </a:solidFill>
          <a:ln w="12700">
            <a:solidFill>
              <a:srgbClr val="DFE6F0"/>
            </a:solidFill>
            <a:prstDash val="solid"/>
          </a:ln>
        </p:spPr>
      </p:sp>
      <p:sp>
        <p:nvSpPr>
          <p:cNvPr id="12" name="Text 10"/>
          <p:cNvSpPr/>
          <p:nvPr/>
        </p:nvSpPr>
        <p:spPr>
          <a:xfrm>
            <a:off x="3614307" y="4206943"/>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13" name="Shape 11"/>
          <p:cNvSpPr/>
          <p:nvPr/>
        </p:nvSpPr>
        <p:spPr>
          <a:xfrm>
            <a:off x="3166251" y="2931707"/>
            <a:ext cx="516988" cy="0"/>
          </a:xfrm>
          <a:prstGeom prst="line">
            <a:avLst/>
          </a:prstGeom>
          <a:noFill/>
          <a:ln w="25400">
            <a:solidFill>
              <a:srgbClr val="55627E"/>
            </a:solidFill>
            <a:prstDash val="dash"/>
            <a:tailEnd type="triangle"/>
          </a:ln>
        </p:spPr>
      </p:sp>
      <p:sp>
        <p:nvSpPr>
          <p:cNvPr id="14" name="Text 12"/>
          <p:cNvSpPr/>
          <p:nvPr/>
        </p:nvSpPr>
        <p:spPr>
          <a:xfrm>
            <a:off x="3263318"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5" name="Shape 13"/>
          <p:cNvSpPr/>
          <p:nvPr/>
        </p:nvSpPr>
        <p:spPr>
          <a:xfrm>
            <a:off x="2218440" y="3259133"/>
            <a:ext cx="0" cy="1826690"/>
          </a:xfrm>
          <a:prstGeom prst="line">
            <a:avLst/>
          </a:prstGeom>
          <a:noFill/>
          <a:ln w="25400">
            <a:solidFill>
              <a:srgbClr val="55627E"/>
            </a:solidFill>
            <a:prstDash val="dash"/>
          </a:ln>
        </p:spPr>
      </p:sp>
      <p:sp>
        <p:nvSpPr>
          <p:cNvPr id="16" name="Shape 14"/>
          <p:cNvSpPr/>
          <p:nvPr/>
        </p:nvSpPr>
        <p:spPr>
          <a:xfrm>
            <a:off x="2218440" y="5085822"/>
            <a:ext cx="1464798" cy="0"/>
          </a:xfrm>
          <a:prstGeom prst="line">
            <a:avLst/>
          </a:prstGeom>
          <a:noFill/>
          <a:ln w="25400">
            <a:solidFill>
              <a:srgbClr val="55627E"/>
            </a:solidFill>
            <a:prstDash val="dash"/>
            <a:tailEnd type="triangle"/>
          </a:ln>
        </p:spPr>
      </p:sp>
      <p:sp>
        <p:nvSpPr>
          <p:cNvPr id="17" name="Text 15"/>
          <p:cNvSpPr/>
          <p:nvPr/>
        </p:nvSpPr>
        <p:spPr>
          <a:xfrm>
            <a:off x="2108712" y="3356200"/>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8" name="Shape 16"/>
          <p:cNvSpPr/>
          <p:nvPr/>
        </p:nvSpPr>
        <p:spPr>
          <a:xfrm>
            <a:off x="5148037" y="2931707"/>
            <a:ext cx="344658" cy="0"/>
          </a:xfrm>
          <a:prstGeom prst="line">
            <a:avLst/>
          </a:prstGeom>
          <a:noFill/>
          <a:ln w="31750">
            <a:solidFill>
              <a:srgbClr val="55627E"/>
            </a:solidFill>
            <a:prstDash val="sysDot"/>
            <a:tailEnd type="triangle"/>
          </a:ln>
        </p:spPr>
      </p:sp>
      <p:sp>
        <p:nvSpPr>
          <p:cNvPr id="19" name="Text 17"/>
          <p:cNvSpPr/>
          <p:nvPr/>
        </p:nvSpPr>
        <p:spPr>
          <a:xfrm>
            <a:off x="5210638"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0" name="Shape 18"/>
          <p:cNvSpPr/>
          <p:nvPr/>
        </p:nvSpPr>
        <p:spPr>
          <a:xfrm>
            <a:off x="6957494" y="2931707"/>
            <a:ext cx="344658" cy="0"/>
          </a:xfrm>
          <a:prstGeom prst="line">
            <a:avLst/>
          </a:prstGeom>
          <a:noFill/>
          <a:ln w="31750">
            <a:solidFill>
              <a:srgbClr val="55627E"/>
            </a:solidFill>
            <a:prstDash val="sysDot"/>
            <a:tailEnd type="triangle"/>
          </a:ln>
        </p:spPr>
      </p:sp>
      <p:sp>
        <p:nvSpPr>
          <p:cNvPr id="21" name="Text 19"/>
          <p:cNvSpPr/>
          <p:nvPr/>
        </p:nvSpPr>
        <p:spPr>
          <a:xfrm>
            <a:off x="7020095"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22" name="Shape 20"/>
          <p:cNvSpPr/>
          <p:nvPr/>
        </p:nvSpPr>
        <p:spPr>
          <a:xfrm>
            <a:off x="8853115" y="2931707"/>
            <a:ext cx="344658" cy="0"/>
          </a:xfrm>
          <a:prstGeom prst="line">
            <a:avLst/>
          </a:prstGeom>
          <a:noFill/>
          <a:ln w="31750">
            <a:solidFill>
              <a:srgbClr val="55627E"/>
            </a:solidFill>
            <a:prstDash val="sysDot"/>
            <a:tailEnd type="triangle"/>
          </a:ln>
        </p:spPr>
      </p:sp>
      <p:sp>
        <p:nvSpPr>
          <p:cNvPr id="23" name="Text 21"/>
          <p:cNvSpPr/>
          <p:nvPr/>
        </p:nvSpPr>
        <p:spPr>
          <a:xfrm>
            <a:off x="8915717" y="282197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Shape 22"/>
          <p:cNvSpPr/>
          <p:nvPr/>
        </p:nvSpPr>
        <p:spPr>
          <a:xfrm>
            <a:off x="5148037" y="5085822"/>
            <a:ext cx="344658" cy="0"/>
          </a:xfrm>
          <a:prstGeom prst="line">
            <a:avLst/>
          </a:prstGeom>
          <a:noFill/>
          <a:ln w="31750">
            <a:solidFill>
              <a:srgbClr val="55627E"/>
            </a:solidFill>
            <a:prstDash val="sysDot"/>
            <a:tailEnd type="triangle"/>
          </a:ln>
        </p:spPr>
      </p:sp>
      <p:sp>
        <p:nvSpPr>
          <p:cNvPr id="25" name="Text 23"/>
          <p:cNvSpPr/>
          <p:nvPr/>
        </p:nvSpPr>
        <p:spPr>
          <a:xfrm>
            <a:off x="5210638" y="497609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6" name="Shape 24"/>
          <p:cNvSpPr/>
          <p:nvPr/>
        </p:nvSpPr>
        <p:spPr>
          <a:xfrm>
            <a:off x="6957494" y="5085822"/>
            <a:ext cx="2240280" cy="0"/>
          </a:xfrm>
          <a:prstGeom prst="line">
            <a:avLst/>
          </a:prstGeom>
          <a:noFill/>
          <a:ln w="31750">
            <a:solidFill>
              <a:srgbClr val="55627E"/>
            </a:solidFill>
            <a:prstDash val="sysDot"/>
            <a:tailEnd type="triangle"/>
          </a:ln>
        </p:spPr>
      </p:sp>
      <p:sp>
        <p:nvSpPr>
          <p:cNvPr id="27" name="Text 25"/>
          <p:cNvSpPr/>
          <p:nvPr/>
        </p:nvSpPr>
        <p:spPr>
          <a:xfrm>
            <a:off x="7054561" y="4976094"/>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8" name="Text 26"/>
          <p:cNvSpPr/>
          <p:nvPr/>
        </p:nvSpPr>
        <p:spPr>
          <a:xfrm>
            <a:off x="1270629" y="2604282"/>
            <a:ext cx="1895622" cy="654851"/>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Evento de GitHub</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1000" dirty="0"/>
          </a:p>
        </p:txBody>
      </p:sp>
      <p:sp>
        <p:nvSpPr>
          <p:cNvPr id="29" name="Text 27"/>
          <p:cNvSpPr/>
          <p:nvPr/>
        </p:nvSpPr>
        <p:spPr>
          <a:xfrm>
            <a:off x="3683238" y="2604282"/>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Preparar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1000" dirty="0"/>
          </a:p>
        </p:txBody>
      </p:sp>
      <p:sp>
        <p:nvSpPr>
          <p:cNvPr id="30" name="Text 28"/>
          <p:cNvSpPr/>
          <p:nvPr/>
        </p:nvSpPr>
        <p:spPr>
          <a:xfrm>
            <a:off x="5492695" y="2604282"/>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Pruebas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1000" dirty="0"/>
          </a:p>
        </p:txBody>
      </p:sp>
      <p:sp>
        <p:nvSpPr>
          <p:cNvPr id="31" name="Text 29"/>
          <p:cNvSpPr/>
          <p:nvPr/>
        </p:nvSpPr>
        <p:spPr>
          <a:xfrm>
            <a:off x="7302152" y="2604282"/>
            <a:ext cx="1550963"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Arranque</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1000" dirty="0"/>
          </a:p>
        </p:txBody>
      </p:sp>
      <p:sp>
        <p:nvSpPr>
          <p:cNvPr id="32" name="Text 30"/>
          <p:cNvSpPr/>
          <p:nvPr/>
        </p:nvSpPr>
        <p:spPr>
          <a:xfrm>
            <a:off x="9197774" y="2604282"/>
            <a:ext cx="163712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Publicar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1000" dirty="0"/>
          </a:p>
        </p:txBody>
      </p:sp>
      <p:sp>
        <p:nvSpPr>
          <p:cNvPr id="33" name="Text 31"/>
          <p:cNvSpPr/>
          <p:nvPr/>
        </p:nvSpPr>
        <p:spPr>
          <a:xfrm>
            <a:off x="3683238" y="4758397"/>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Preparar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1000" dirty="0"/>
          </a:p>
        </p:txBody>
      </p:sp>
      <p:sp>
        <p:nvSpPr>
          <p:cNvPr id="34" name="Text 32"/>
          <p:cNvSpPr/>
          <p:nvPr/>
        </p:nvSpPr>
        <p:spPr>
          <a:xfrm>
            <a:off x="5492695" y="4758397"/>
            <a:ext cx="146479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Pruebas</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1000" dirty="0"/>
          </a:p>
        </p:txBody>
      </p:sp>
      <p:sp>
        <p:nvSpPr>
          <p:cNvPr id="35" name="Text 33"/>
          <p:cNvSpPr/>
          <p:nvPr/>
        </p:nvSpPr>
        <p:spPr>
          <a:xfrm>
            <a:off x="9197774" y="4758397"/>
            <a:ext cx="1637128" cy="654851"/>
          </a:xfrm>
          <a:prstGeom prst="roundRect">
            <a:avLst>
              <a:gd name="adj" fmla="val 13963"/>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Publicar</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1000" dirty="0"/>
          </a:p>
        </p:txBody>
      </p:sp>
      <p:sp>
        <p:nvSpPr>
          <p:cNvPr id="36" name="Text 34"/>
          <p:cNvSpPr/>
          <p:nvPr/>
        </p:nvSpPr>
        <p:spPr>
          <a:xfrm>
            <a:off x="1270629" y="5447714"/>
            <a:ext cx="1895622" cy="654851"/>
          </a:xfrm>
          <a:prstGeom prst="roundRect">
            <a:avLst>
              <a:gd name="adj" fmla="val 13963"/>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000" b="1" dirty="0">
                <a:solidFill>
                  <a:srgbClr val="55627E"/>
                </a:solidFill>
                <a:latin typeface="Segoe UI" pitchFamily="34" charset="0"/>
                <a:ea typeface="Segoe UI" pitchFamily="34" charset="-122"/>
                <a:cs typeface="Segoe UI" pitchFamily="34" charset="-120"/>
              </a:rPr>
              <a:t>Despliegue</a:t>
            </a:r>
            <a:endParaRPr lang="en-US" sz="10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1000" dirty="0"/>
          </a:p>
        </p:txBody>
      </p:sp>
      <p:sp>
        <p:nvSpPr>
          <p:cNvPr id="37" name="Text 3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E3F4FA"/>
          </a:solidFill>
          <a:ln w="12700">
            <a:solidFill>
              <a:srgbClr val="2BA6CB"/>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E3F4FA"/>
          </a:solidFill>
          <a:ln w="12700">
            <a:solidFill>
              <a:srgbClr val="2BA6CB"/>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0B6E8A"/>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38100">
            <a:solidFill>
              <a:srgbClr val="2BA6CB"/>
            </a:solidFill>
            <a:prstDash val="dash"/>
            <a:tailEnd type="triangle"/>
          </a:ln>
        </p:spPr>
      </p:sp>
      <p:sp>
        <p:nvSpPr>
          <p:cNvPr id="10" name="Text 8"/>
          <p:cNvSpPr/>
          <p:nvPr/>
        </p:nvSpPr>
        <p:spPr>
          <a:xfrm>
            <a:off x="3596722"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38100">
            <a:solidFill>
              <a:srgbClr val="2BA6CB"/>
            </a:solidFill>
            <a:prstDash val="dash"/>
          </a:ln>
        </p:spPr>
      </p:sp>
      <p:sp>
        <p:nvSpPr>
          <p:cNvPr id="12" name="Shape 10"/>
          <p:cNvSpPr/>
          <p:nvPr/>
        </p:nvSpPr>
        <p:spPr>
          <a:xfrm>
            <a:off x="2693225" y="4156651"/>
            <a:ext cx="1285435" cy="0"/>
          </a:xfrm>
          <a:prstGeom prst="line">
            <a:avLst/>
          </a:prstGeom>
          <a:noFill/>
          <a:ln w="38100">
            <a:solidFill>
              <a:srgbClr val="2BA6CB"/>
            </a:solidFill>
            <a:prstDash val="dash"/>
            <a:tailEnd type="triangle"/>
          </a:ln>
        </p:spPr>
      </p:sp>
      <p:sp>
        <p:nvSpPr>
          <p:cNvPr id="13" name="Text 11"/>
          <p:cNvSpPr/>
          <p:nvPr/>
        </p:nvSpPr>
        <p:spPr>
          <a:xfrm>
            <a:off x="2583497" y="262538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C7D2E2"/>
            </a:solidFill>
            <a:prstDash val="sysDot"/>
            <a:tailEnd type="triangle"/>
          </a:ln>
        </p:spPr>
      </p:sp>
      <p:sp>
        <p:nvSpPr>
          <p:cNvPr id="15" name="Text 13"/>
          <p:cNvSpPr/>
          <p:nvPr/>
        </p:nvSpPr>
        <p:spPr>
          <a:xfrm>
            <a:off x="5305595"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C7D2E2"/>
            </a:solidFill>
            <a:prstDash val="sysDot"/>
            <a:tailEnd type="triangle"/>
          </a:ln>
        </p:spPr>
      </p:sp>
      <p:sp>
        <p:nvSpPr>
          <p:cNvPr id="17" name="Text 15"/>
          <p:cNvSpPr/>
          <p:nvPr/>
        </p:nvSpPr>
        <p:spPr>
          <a:xfrm>
            <a:off x="6893486"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C7D2E2"/>
            </a:solidFill>
            <a:prstDash val="sysDot"/>
            <a:tailEnd type="triangle"/>
          </a:ln>
        </p:spPr>
      </p:sp>
      <p:sp>
        <p:nvSpPr>
          <p:cNvPr id="19" name="Text 17"/>
          <p:cNvSpPr/>
          <p:nvPr/>
        </p:nvSpPr>
        <p:spPr>
          <a:xfrm>
            <a:off x="8556990"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C7D2E2"/>
            </a:solidFill>
            <a:prstDash val="sysDot"/>
            <a:tailEnd type="triangle"/>
          </a:ln>
        </p:spPr>
      </p:sp>
      <p:sp>
        <p:nvSpPr>
          <p:cNvPr id="21" name="Text 19"/>
          <p:cNvSpPr/>
          <p:nvPr/>
        </p:nvSpPr>
        <p:spPr>
          <a:xfrm>
            <a:off x="5305595"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C7D2E2"/>
            </a:solidFill>
            <a:prstDash val="sysDot"/>
            <a:tailEnd type="triangle"/>
          </a:ln>
        </p:spPr>
      </p:sp>
      <p:sp>
        <p:nvSpPr>
          <p:cNvPr id="23" name="Text 21"/>
          <p:cNvSpPr/>
          <p:nvPr/>
        </p:nvSpPr>
        <p:spPr>
          <a:xfrm>
            <a:off x="6923731"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push a main o un Pull Request dispara el pipeline.</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Se crea un trabajo por servicio, cada uno con su base de datos de prueba.</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44450">
            <a:solidFill>
              <a:srgbClr val="2BA6CB"/>
            </a:solidFill>
            <a:prstDash val="sysDot"/>
            <a:tailEnd type="triangle"/>
          </a:ln>
        </p:spPr>
      </p:sp>
      <p:sp>
        <p:nvSpPr>
          <p:cNvPr id="15" name="Text 13"/>
          <p:cNvSpPr/>
          <p:nvPr/>
        </p:nvSpPr>
        <p:spPr>
          <a:xfrm>
            <a:off x="5305595"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44450">
            <a:solidFill>
              <a:srgbClr val="2BA6CB"/>
            </a:solidFill>
            <a:prstDash val="sysDot"/>
            <a:tailEnd type="triangle"/>
          </a:ln>
        </p:spPr>
      </p:sp>
      <p:sp>
        <p:nvSpPr>
          <p:cNvPr id="17" name="Text 15"/>
          <p:cNvSpPr/>
          <p:nvPr/>
        </p:nvSpPr>
        <p:spPr>
          <a:xfrm>
            <a:off x="6893486"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31750">
            <a:solidFill>
              <a:srgbClr val="C7D2E2"/>
            </a:solidFill>
            <a:prstDash val="sysDot"/>
            <a:tailEnd type="triangle"/>
          </a:ln>
        </p:spPr>
      </p:sp>
      <p:sp>
        <p:nvSpPr>
          <p:cNvPr id="19" name="Text 17"/>
          <p:cNvSpPr/>
          <p:nvPr/>
        </p:nvSpPr>
        <p:spPr>
          <a:xfrm>
            <a:off x="8556990" y="215657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44450">
            <a:solidFill>
              <a:srgbClr val="2BA6CB"/>
            </a:solidFill>
            <a:prstDash val="sysDot"/>
            <a:tailEnd type="triangle"/>
          </a:ln>
        </p:spPr>
      </p:sp>
      <p:sp>
        <p:nvSpPr>
          <p:cNvPr id="21" name="Text 19"/>
          <p:cNvSpPr/>
          <p:nvPr/>
        </p:nvSpPr>
        <p:spPr>
          <a:xfrm>
            <a:off x="5305595" y="40469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31750">
            <a:solidFill>
              <a:srgbClr val="C7D2E2"/>
            </a:solidFill>
            <a:prstDash val="sysDot"/>
            <a:tailEnd type="triangle"/>
          </a:ln>
        </p:spPr>
      </p:sp>
      <p:sp>
        <p:nvSpPr>
          <p:cNvPr id="23" name="Text 21"/>
          <p:cNvSpPr/>
          <p:nvPr/>
        </p:nvSpPr>
        <p:spPr>
          <a:xfrm>
            <a:off x="6923731" y="404692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trabajo compila y corre todas las pruebas del servicio.</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En solicitudes, además, comprueba que el servicio arranca de verdad.</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5 · EMPAQUETAR Y ENTREGAR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CI/CD con GitHub Actions</a:t>
            </a:r>
            <a:endParaRPr lang="en-US" sz="2800" dirty="0"/>
          </a:p>
        </p:txBody>
      </p:sp>
      <p:sp>
        <p:nvSpPr>
          <p:cNvPr id="5" name="Shape 3"/>
          <p:cNvSpPr/>
          <p:nvPr/>
        </p:nvSpPr>
        <p:spPr>
          <a:xfrm>
            <a:off x="3827432" y="1449676"/>
            <a:ext cx="6654018" cy="1587891"/>
          </a:xfrm>
          <a:prstGeom prst="roundRect">
            <a:avLst>
              <a:gd name="adj" fmla="val 6910"/>
            </a:avLst>
          </a:prstGeom>
          <a:solidFill>
            <a:srgbClr val="F4F7FB"/>
          </a:solidFill>
          <a:ln w="12700">
            <a:solidFill>
              <a:srgbClr val="DFE6F0"/>
            </a:solidFill>
            <a:prstDash val="solid"/>
          </a:ln>
        </p:spPr>
      </p:sp>
      <p:sp>
        <p:nvSpPr>
          <p:cNvPr id="6" name="Text 4"/>
          <p:cNvSpPr/>
          <p:nvPr/>
        </p:nvSpPr>
        <p:spPr>
          <a:xfrm>
            <a:off x="3918169" y="1495044"/>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SERVICIO-SOLICITUDES</a:t>
            </a:r>
            <a:endParaRPr lang="en-US" sz="800" dirty="0"/>
          </a:p>
        </p:txBody>
      </p:sp>
      <p:sp>
        <p:nvSpPr>
          <p:cNvPr id="7" name="Shape 5"/>
          <p:cNvSpPr/>
          <p:nvPr/>
        </p:nvSpPr>
        <p:spPr>
          <a:xfrm>
            <a:off x="3827432" y="3340022"/>
            <a:ext cx="6654018" cy="1587891"/>
          </a:xfrm>
          <a:prstGeom prst="roundRect">
            <a:avLst>
              <a:gd name="adj" fmla="val 6910"/>
            </a:avLst>
          </a:prstGeom>
          <a:solidFill>
            <a:srgbClr val="F4F7FB"/>
          </a:solidFill>
          <a:ln w="12700">
            <a:solidFill>
              <a:srgbClr val="DFE6F0"/>
            </a:solidFill>
            <a:prstDash val="solid"/>
          </a:ln>
        </p:spPr>
      </p:sp>
      <p:sp>
        <p:nvSpPr>
          <p:cNvPr id="8" name="Text 6"/>
          <p:cNvSpPr/>
          <p:nvPr/>
        </p:nvSpPr>
        <p:spPr>
          <a:xfrm>
            <a:off x="3918169" y="3385390"/>
            <a:ext cx="5486400" cy="201168"/>
          </a:xfrm>
          <a:prstGeom prst="rect">
            <a:avLst/>
          </a:prstGeom>
          <a:noFill/>
          <a:ln/>
        </p:spPr>
        <p:txBody>
          <a:bodyPr wrap="square" lIns="0" tIns="0" rIns="0" bIns="0" rtlCol="0" anchor="ctr"/>
          <a:lstStyle/>
          <a:p>
            <a:pPr indent="0" marL="0">
              <a:buNone/>
            </a:pPr>
            <a:r>
              <a:rPr lang="en-US" sz="800" b="1" spc="100" kern="0" dirty="0">
                <a:solidFill>
                  <a:srgbClr val="55627E"/>
                </a:solidFill>
                <a:latin typeface="Segoe UI" pitchFamily="34" charset="0"/>
                <a:ea typeface="Segoe UI" pitchFamily="34" charset="-122"/>
                <a:cs typeface="Segoe UI" pitchFamily="34" charset="-120"/>
              </a:rPr>
              <a:t>JOB · SERVICIO-NOTIFICACIONES</a:t>
            </a:r>
            <a:endParaRPr lang="en-US" sz="800" dirty="0"/>
          </a:p>
        </p:txBody>
      </p:sp>
      <p:sp>
        <p:nvSpPr>
          <p:cNvPr id="9" name="Shape 7"/>
          <p:cNvSpPr/>
          <p:nvPr/>
        </p:nvSpPr>
        <p:spPr>
          <a:xfrm>
            <a:off x="3524977" y="2266305"/>
            <a:ext cx="453683" cy="0"/>
          </a:xfrm>
          <a:prstGeom prst="line">
            <a:avLst/>
          </a:prstGeom>
          <a:noFill/>
          <a:ln w="25400">
            <a:solidFill>
              <a:srgbClr val="55627E"/>
            </a:solidFill>
            <a:prstDash val="dash"/>
            <a:tailEnd type="triangle"/>
          </a:ln>
        </p:spPr>
      </p:sp>
      <p:sp>
        <p:nvSpPr>
          <p:cNvPr id="10" name="Text 8"/>
          <p:cNvSpPr/>
          <p:nvPr/>
        </p:nvSpPr>
        <p:spPr>
          <a:xfrm>
            <a:off x="3596722"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1" name="Shape 9"/>
          <p:cNvSpPr/>
          <p:nvPr/>
        </p:nvSpPr>
        <p:spPr>
          <a:xfrm>
            <a:off x="2693225" y="2553638"/>
            <a:ext cx="0" cy="1603014"/>
          </a:xfrm>
          <a:prstGeom prst="line">
            <a:avLst/>
          </a:prstGeom>
          <a:noFill/>
          <a:ln w="25400">
            <a:solidFill>
              <a:srgbClr val="55627E"/>
            </a:solidFill>
            <a:prstDash val="dash"/>
          </a:ln>
        </p:spPr>
      </p:sp>
      <p:sp>
        <p:nvSpPr>
          <p:cNvPr id="12" name="Shape 10"/>
          <p:cNvSpPr/>
          <p:nvPr/>
        </p:nvSpPr>
        <p:spPr>
          <a:xfrm>
            <a:off x="2693225" y="4156651"/>
            <a:ext cx="1285435" cy="0"/>
          </a:xfrm>
          <a:prstGeom prst="line">
            <a:avLst/>
          </a:prstGeom>
          <a:noFill/>
          <a:ln w="25400">
            <a:solidFill>
              <a:srgbClr val="55627E"/>
            </a:solidFill>
            <a:prstDash val="dash"/>
            <a:tailEnd type="triangle"/>
          </a:ln>
        </p:spPr>
      </p:sp>
      <p:sp>
        <p:nvSpPr>
          <p:cNvPr id="13" name="Text 11"/>
          <p:cNvSpPr/>
          <p:nvPr/>
        </p:nvSpPr>
        <p:spPr>
          <a:xfrm>
            <a:off x="2583497" y="262538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14" name="Shape 12"/>
          <p:cNvSpPr/>
          <p:nvPr/>
        </p:nvSpPr>
        <p:spPr>
          <a:xfrm>
            <a:off x="5264095" y="2266305"/>
            <a:ext cx="302455" cy="0"/>
          </a:xfrm>
          <a:prstGeom prst="line">
            <a:avLst/>
          </a:prstGeom>
          <a:noFill/>
          <a:ln w="31750">
            <a:solidFill>
              <a:srgbClr val="55627E"/>
            </a:solidFill>
            <a:prstDash val="sysDot"/>
            <a:tailEnd type="triangle"/>
          </a:ln>
        </p:spPr>
      </p:sp>
      <p:sp>
        <p:nvSpPr>
          <p:cNvPr id="15" name="Text 13"/>
          <p:cNvSpPr/>
          <p:nvPr/>
        </p:nvSpPr>
        <p:spPr>
          <a:xfrm>
            <a:off x="5305595"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6" name="Shape 14"/>
          <p:cNvSpPr/>
          <p:nvPr/>
        </p:nvSpPr>
        <p:spPr>
          <a:xfrm>
            <a:off x="6851986" y="2266305"/>
            <a:ext cx="302455" cy="0"/>
          </a:xfrm>
          <a:prstGeom prst="line">
            <a:avLst/>
          </a:prstGeom>
          <a:noFill/>
          <a:ln w="31750">
            <a:solidFill>
              <a:srgbClr val="55627E"/>
            </a:solidFill>
            <a:prstDash val="sysDot"/>
            <a:tailEnd type="triangle"/>
          </a:ln>
        </p:spPr>
      </p:sp>
      <p:sp>
        <p:nvSpPr>
          <p:cNvPr id="17" name="Text 15"/>
          <p:cNvSpPr/>
          <p:nvPr/>
        </p:nvSpPr>
        <p:spPr>
          <a:xfrm>
            <a:off x="6893486" y="215657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8" name="Shape 16"/>
          <p:cNvSpPr/>
          <p:nvPr/>
        </p:nvSpPr>
        <p:spPr>
          <a:xfrm>
            <a:off x="8515491" y="2266305"/>
            <a:ext cx="302455" cy="0"/>
          </a:xfrm>
          <a:prstGeom prst="line">
            <a:avLst/>
          </a:prstGeom>
          <a:noFill/>
          <a:ln w="44450">
            <a:solidFill>
              <a:srgbClr val="2BA6CB"/>
            </a:solidFill>
            <a:prstDash val="sysDot"/>
            <a:tailEnd type="triangle"/>
          </a:ln>
        </p:spPr>
      </p:sp>
      <p:sp>
        <p:nvSpPr>
          <p:cNvPr id="19" name="Text 17"/>
          <p:cNvSpPr/>
          <p:nvPr/>
        </p:nvSpPr>
        <p:spPr>
          <a:xfrm>
            <a:off x="8556990" y="215657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0" name="Shape 18"/>
          <p:cNvSpPr/>
          <p:nvPr/>
        </p:nvSpPr>
        <p:spPr>
          <a:xfrm>
            <a:off x="5264095" y="4156651"/>
            <a:ext cx="302455" cy="0"/>
          </a:xfrm>
          <a:prstGeom prst="line">
            <a:avLst/>
          </a:prstGeom>
          <a:noFill/>
          <a:ln w="31750">
            <a:solidFill>
              <a:srgbClr val="55627E"/>
            </a:solidFill>
            <a:prstDash val="sysDot"/>
            <a:tailEnd type="triangle"/>
          </a:ln>
        </p:spPr>
      </p:sp>
      <p:sp>
        <p:nvSpPr>
          <p:cNvPr id="21" name="Text 19"/>
          <p:cNvSpPr/>
          <p:nvPr/>
        </p:nvSpPr>
        <p:spPr>
          <a:xfrm>
            <a:off x="5305595" y="404692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22" name="Shape 20"/>
          <p:cNvSpPr/>
          <p:nvPr/>
        </p:nvSpPr>
        <p:spPr>
          <a:xfrm>
            <a:off x="6851986" y="4156651"/>
            <a:ext cx="1965960" cy="0"/>
          </a:xfrm>
          <a:prstGeom prst="line">
            <a:avLst/>
          </a:prstGeom>
          <a:noFill/>
          <a:ln w="44450">
            <a:solidFill>
              <a:srgbClr val="2BA6CB"/>
            </a:solidFill>
            <a:prstDash val="sysDot"/>
            <a:tailEnd type="triangle"/>
          </a:ln>
        </p:spPr>
      </p:sp>
      <p:sp>
        <p:nvSpPr>
          <p:cNvPr id="23" name="Text 21"/>
          <p:cNvSpPr/>
          <p:nvPr/>
        </p:nvSpPr>
        <p:spPr>
          <a:xfrm>
            <a:off x="6923731" y="404692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4" name="Text 22"/>
          <p:cNvSpPr/>
          <p:nvPr/>
        </p:nvSpPr>
        <p:spPr>
          <a:xfrm>
            <a:off x="1861472" y="1978973"/>
            <a:ext cx="1663505" cy="574665"/>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 de GitHub</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push a main o Pull Request</a:t>
            </a:r>
            <a:endParaRPr lang="en-US" sz="900" dirty="0"/>
          </a:p>
        </p:txBody>
      </p:sp>
      <p:sp>
        <p:nvSpPr>
          <p:cNvPr id="25" name="Text 23"/>
          <p:cNvSpPr/>
          <p:nvPr/>
        </p:nvSpPr>
        <p:spPr>
          <a:xfrm>
            <a:off x="3978660"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26" name="Text 24"/>
          <p:cNvSpPr/>
          <p:nvPr/>
        </p:nvSpPr>
        <p:spPr>
          <a:xfrm>
            <a:off x="5566551" y="1978973"/>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27" name="Text 25"/>
          <p:cNvSpPr/>
          <p:nvPr/>
        </p:nvSpPr>
        <p:spPr>
          <a:xfrm>
            <a:off x="7154441" y="1978973"/>
            <a:ext cx="1361049"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Arranque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espera CAM-002 en /solicitudes</a:t>
            </a:r>
            <a:endParaRPr lang="en-US" sz="900" dirty="0"/>
          </a:p>
        </p:txBody>
      </p:sp>
      <p:sp>
        <p:nvSpPr>
          <p:cNvPr id="28" name="Text 26"/>
          <p:cNvSpPr/>
          <p:nvPr/>
        </p:nvSpPr>
        <p:spPr>
          <a:xfrm>
            <a:off x="8817946" y="1978973"/>
            <a:ext cx="1436663"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29" name="Text 27"/>
          <p:cNvSpPr/>
          <p:nvPr/>
        </p:nvSpPr>
        <p:spPr>
          <a:xfrm>
            <a:off x="3978660"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Preparar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checkout · Java 26 · PostgreSQL</a:t>
            </a:r>
            <a:endParaRPr lang="en-US" sz="900" dirty="0"/>
          </a:p>
        </p:txBody>
      </p:sp>
      <p:sp>
        <p:nvSpPr>
          <p:cNvPr id="30" name="Text 28"/>
          <p:cNvSpPr/>
          <p:nvPr/>
        </p:nvSpPr>
        <p:spPr>
          <a:xfrm>
            <a:off x="5566551" y="3869319"/>
            <a:ext cx="1285435" cy="574665"/>
          </a:xfrm>
          <a:prstGeom prst="roundRect">
            <a:avLst>
              <a:gd name="adj" fmla="val 15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Pruebas</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mvn -B verify</a:t>
            </a:r>
            <a:endParaRPr lang="en-US" sz="900" dirty="0"/>
          </a:p>
        </p:txBody>
      </p:sp>
      <p:sp>
        <p:nvSpPr>
          <p:cNvPr id="31" name="Text 29"/>
          <p:cNvSpPr/>
          <p:nvPr/>
        </p:nvSpPr>
        <p:spPr>
          <a:xfrm>
            <a:off x="8817946" y="3869319"/>
            <a:ext cx="1436663" cy="574665"/>
          </a:xfrm>
          <a:prstGeom prst="roundRect">
            <a:avLst>
              <a:gd name="adj" fmla="val 15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Publicar</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ghcr.io/…:sha</a:t>
            </a:r>
            <a:endParaRPr lang="en-US" sz="900" dirty="0"/>
          </a:p>
        </p:txBody>
      </p:sp>
      <p:sp>
        <p:nvSpPr>
          <p:cNvPr id="32" name="Text 30"/>
          <p:cNvSpPr/>
          <p:nvPr/>
        </p:nvSpPr>
        <p:spPr>
          <a:xfrm>
            <a:off x="1861472" y="4474230"/>
            <a:ext cx="1663505" cy="574665"/>
          </a:xfrm>
          <a:prstGeom prst="roundRect">
            <a:avLst>
              <a:gd name="adj" fmla="val 15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900" b="1" dirty="0">
                <a:solidFill>
                  <a:srgbClr val="55627E"/>
                </a:solidFill>
                <a:latin typeface="Segoe UI" pitchFamily="34" charset="0"/>
                <a:ea typeface="Segoe UI" pitchFamily="34" charset="-122"/>
                <a:cs typeface="Segoe UI" pitchFamily="34" charset="-120"/>
              </a:rPr>
              <a:t>Despliegue</a:t>
            </a:r>
            <a:endParaRPr lang="en-US" sz="900" dirty="0"/>
          </a:p>
          <a:p>
            <a:pPr algn="ctr" indent="0" marL="0">
              <a:buNone/>
            </a:pPr>
            <a:r>
              <a:rPr lang="en-US" sz="800" dirty="0">
                <a:solidFill>
                  <a:srgbClr val="55627E"/>
                </a:solidFill>
                <a:latin typeface="Segoe UI" pitchFamily="34" charset="0"/>
                <a:ea typeface="Segoe UI" pitchFamily="34" charset="-122"/>
                <a:cs typeface="Segoe UI" pitchFamily="34" charset="-120"/>
              </a:rPr>
              <a:t>no existe en ci.yml</a:t>
            </a:r>
            <a:endParaRPr lang="en-US" sz="900" dirty="0"/>
          </a:p>
        </p:txBody>
      </p:sp>
      <p:sp>
        <p:nvSpPr>
          <p:cNvPr id="33" name="Shape 3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34" name="Text 3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35" name="Text 3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todo pasa, construye la imagen y la publica con el código del commit.</a:t>
            </a:r>
            <a:endParaRPr lang="en-US" sz="1300" dirty="0"/>
          </a:p>
        </p:txBody>
      </p:sp>
      <p:sp>
        <p:nvSpPr>
          <p:cNvPr id="36" name="Shape 3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37" name="Text 3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38" name="Text 3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Publicar no es desplegar: lo que corre en el clúster cambia en un paso aparte.</a:t>
            </a:r>
            <a:endParaRPr lang="en-US" sz="1300" dirty="0"/>
          </a:p>
        </p:txBody>
      </p:sp>
      <p:sp>
        <p:nvSpPr>
          <p:cNvPr id="39" name="Text 3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5 · EMPAQUETAR Y ENTREGAR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6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06</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Desplegar y operar</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Cómo lo llevamos a un clúster, lo mantenemos corriendo y sabemos qué pasa adentro.</a:t>
            </a:r>
            <a:endParaRPr lang="en-US" sz="1900" dirty="0"/>
          </a:p>
        </p:txBody>
      </p:sp>
      <p:sp>
        <p:nvSpPr>
          <p:cNvPr id="6" name="Text 4"/>
          <p:cNvSpPr/>
          <p:nvPr/>
        </p:nvSpPr>
        <p:spPr>
          <a:xfrm>
            <a:off x="758952" y="461772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Fundamentos de Kubernetes</a:t>
            </a:r>
            <a:endParaRPr lang="en-US" sz="1300" dirty="0"/>
          </a:p>
        </p:txBody>
      </p:sp>
      <p:sp>
        <p:nvSpPr>
          <p:cNvPr id="7" name="Text 5"/>
          <p:cNvSpPr/>
          <p:nvPr/>
        </p:nvSpPr>
        <p:spPr>
          <a:xfrm>
            <a:off x="3744468" y="4617720"/>
            <a:ext cx="2857500"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Del contenedor al clúster</a:t>
            </a:r>
            <a:endParaRPr lang="en-US" sz="1300" dirty="0"/>
          </a:p>
        </p:txBody>
      </p:sp>
      <p:sp>
        <p:nvSpPr>
          <p:cNvPr id="8" name="Text 6"/>
          <p:cNvSpPr/>
          <p:nvPr/>
        </p:nvSpPr>
        <p:spPr>
          <a:xfrm>
            <a:off x="6729984"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9" name="Text 7"/>
          <p:cNvSpPr/>
          <p:nvPr/>
        </p:nvSpPr>
        <p:spPr>
          <a:xfrm>
            <a:off x="8659368" y="4617720"/>
            <a:ext cx="1993392"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Logs y monitoreo</a:t>
            </a:r>
            <a:endParaRPr lang="en-US" sz="1300" dirty="0"/>
          </a:p>
        </p:txBody>
      </p:sp>
      <p:sp>
        <p:nvSpPr>
          <p:cNvPr id="10" name="Text 8"/>
          <p:cNvSpPr/>
          <p:nvPr/>
        </p:nvSpPr>
        <p:spPr>
          <a:xfrm>
            <a:off x="758952" y="512064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Centralización de logs</a:t>
            </a:r>
            <a:endParaRPr lang="en-US" sz="1300" dirty="0"/>
          </a:p>
        </p:txBody>
      </p:sp>
      <p:sp>
        <p:nvSpPr>
          <p:cNvPr id="11" name="Text 9"/>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P6</a:t>
            </a:r>
            <a:endParaRPr lang="en-US" sz="1000" dirty="0"/>
          </a:p>
        </p:txBody>
      </p:sp>
      <p:sp>
        <p:nvSpPr>
          <p:cNvPr id="12" name="Text 10"/>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6 · DevOps</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Del contenedor al clúster</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Deployment: cuántas copias de cada servicio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Pod: donde corre el contenedor</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Service: un nombre fijo para encontrarlo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Secret y disco persistente para las bases</a:t>
            </a:r>
            <a:endParaRPr lang="en-US" sz="1100" dirty="0"/>
          </a:p>
        </p:txBody>
      </p:sp>
      <p:sp>
        <p:nvSpPr>
          <p:cNvPr id="9" name="Shape 7"/>
          <p:cNvSpPr/>
          <p:nvPr/>
        </p:nvSpPr>
        <p:spPr>
          <a:xfrm>
            <a:off x="2988701" y="2680003"/>
            <a:ext cx="731093" cy="0"/>
          </a:xfrm>
          <a:prstGeom prst="line">
            <a:avLst/>
          </a:prstGeom>
          <a:noFill/>
          <a:ln w="31750">
            <a:solidFill>
              <a:srgbClr val="55627E"/>
            </a:solidFill>
            <a:prstDash val="sysDot"/>
            <a:tailEnd type="triangle"/>
          </a:ln>
        </p:spPr>
      </p:sp>
      <p:sp>
        <p:nvSpPr>
          <p:cNvPr id="10" name="Text 8"/>
          <p:cNvSpPr/>
          <p:nvPr/>
        </p:nvSpPr>
        <p:spPr>
          <a:xfrm>
            <a:off x="3158109" y="2442307"/>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crea</a:t>
            </a:r>
            <a:endParaRPr lang="en-US" sz="850" dirty="0"/>
          </a:p>
        </p:txBody>
      </p:sp>
      <p:sp>
        <p:nvSpPr>
          <p:cNvPr id="11" name="Text 9"/>
          <p:cNvSpPr/>
          <p:nvPr/>
        </p:nvSpPr>
        <p:spPr>
          <a:xfrm>
            <a:off x="3098301" y="2570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547528" y="2680003"/>
            <a:ext cx="731093" cy="0"/>
          </a:xfrm>
          <a:prstGeom prst="line">
            <a:avLst/>
          </a:prstGeom>
          <a:noFill/>
          <a:ln w="31750">
            <a:solidFill>
              <a:srgbClr val="55627E"/>
            </a:solidFill>
            <a:prstDash val="sysDot"/>
            <a:tailEnd type="triangle"/>
          </a:ln>
        </p:spPr>
      </p:sp>
      <p:sp>
        <p:nvSpPr>
          <p:cNvPr id="13" name="Text 11"/>
          <p:cNvSpPr/>
          <p:nvPr/>
        </p:nvSpPr>
        <p:spPr>
          <a:xfrm>
            <a:off x="5584805" y="2442307"/>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mantiene</a:t>
            </a:r>
            <a:endParaRPr lang="en-US" sz="850" dirty="0"/>
          </a:p>
        </p:txBody>
      </p:sp>
      <p:sp>
        <p:nvSpPr>
          <p:cNvPr id="14" name="Text 12"/>
          <p:cNvSpPr/>
          <p:nvPr/>
        </p:nvSpPr>
        <p:spPr>
          <a:xfrm>
            <a:off x="5657128" y="257027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471901" y="2680003"/>
            <a:ext cx="731093" cy="0"/>
          </a:xfrm>
          <a:prstGeom prst="line">
            <a:avLst/>
          </a:prstGeom>
          <a:noFill/>
          <a:ln w="31750">
            <a:solidFill>
              <a:srgbClr val="2E6DB4"/>
            </a:solidFill>
            <a:prstDash val="solid"/>
            <a:tailEnd type="triangle"/>
          </a:ln>
        </p:spPr>
      </p:sp>
      <p:sp>
        <p:nvSpPr>
          <p:cNvPr id="16" name="Text 14"/>
          <p:cNvSpPr/>
          <p:nvPr/>
        </p:nvSpPr>
        <p:spPr>
          <a:xfrm>
            <a:off x="8344014" y="2442307"/>
            <a:ext cx="986866"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si está listo</a:t>
            </a:r>
            <a:endParaRPr lang="en-US" sz="850" dirty="0"/>
          </a:p>
        </p:txBody>
      </p:sp>
      <p:sp>
        <p:nvSpPr>
          <p:cNvPr id="17" name="Text 15"/>
          <p:cNvSpPr/>
          <p:nvPr/>
        </p:nvSpPr>
        <p:spPr>
          <a:xfrm>
            <a:off x="8873938" y="2570275"/>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V="1">
            <a:off x="1983448" y="3703533"/>
            <a:ext cx="0" cy="548320"/>
          </a:xfrm>
          <a:prstGeom prst="line">
            <a:avLst/>
          </a:prstGeom>
          <a:noFill/>
          <a:ln w="22860">
            <a:solidFill>
              <a:srgbClr val="1F4E8C"/>
            </a:solidFill>
            <a:prstDash val="lgDash"/>
          </a:ln>
        </p:spPr>
      </p:sp>
      <p:sp>
        <p:nvSpPr>
          <p:cNvPr id="19" name="Shape 17"/>
          <p:cNvSpPr/>
          <p:nvPr/>
        </p:nvSpPr>
        <p:spPr>
          <a:xfrm>
            <a:off x="1983448" y="3703533"/>
            <a:ext cx="5026266" cy="0"/>
          </a:xfrm>
          <a:prstGeom prst="line">
            <a:avLst/>
          </a:prstGeom>
          <a:noFill/>
          <a:ln w="22860">
            <a:solidFill>
              <a:srgbClr val="1F4E8C"/>
            </a:solidFill>
            <a:prstDash val="lgDash"/>
          </a:ln>
        </p:spPr>
      </p:sp>
      <p:sp>
        <p:nvSpPr>
          <p:cNvPr id="20" name="Shape 18"/>
          <p:cNvSpPr/>
          <p:nvPr/>
        </p:nvSpPr>
        <p:spPr>
          <a:xfrm flipV="1">
            <a:off x="7009714" y="3027272"/>
            <a:ext cx="0" cy="676261"/>
          </a:xfrm>
          <a:prstGeom prst="line">
            <a:avLst/>
          </a:prstGeom>
          <a:noFill/>
          <a:ln w="22860">
            <a:solidFill>
              <a:srgbClr val="1F4E8C"/>
            </a:solidFill>
            <a:prstDash val="lgDash"/>
            <a:tailEnd type="arrow"/>
          </a:ln>
        </p:spPr>
      </p:sp>
      <p:sp>
        <p:nvSpPr>
          <p:cNvPr id="21" name="Text 19"/>
          <p:cNvSpPr/>
          <p:nvPr/>
        </p:nvSpPr>
        <p:spPr>
          <a:xfrm>
            <a:off x="4069213" y="3465837"/>
            <a:ext cx="854735"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DB_PASSWORD</a:t>
            </a:r>
            <a:endParaRPr lang="en-US" sz="850" dirty="0"/>
          </a:p>
        </p:txBody>
      </p:sp>
      <p:sp>
        <p:nvSpPr>
          <p:cNvPr id="22" name="Text 20"/>
          <p:cNvSpPr/>
          <p:nvPr/>
        </p:nvSpPr>
        <p:spPr>
          <a:xfrm>
            <a:off x="1873720" y="3922797"/>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3" name="Shape 21"/>
          <p:cNvSpPr/>
          <p:nvPr/>
        </p:nvSpPr>
        <p:spPr>
          <a:xfrm>
            <a:off x="5730301" y="4599123"/>
            <a:ext cx="548320" cy="0"/>
          </a:xfrm>
          <a:prstGeom prst="line">
            <a:avLst/>
          </a:prstGeom>
          <a:noFill/>
          <a:ln w="22860">
            <a:solidFill>
              <a:srgbClr val="1F4E8C"/>
            </a:solidFill>
            <a:prstDash val="lgDash"/>
            <a:tailEnd type="arrow"/>
          </a:ln>
        </p:spPr>
      </p:sp>
      <p:sp>
        <p:nvSpPr>
          <p:cNvPr id="24" name="Text 22"/>
          <p:cNvSpPr/>
          <p:nvPr/>
        </p:nvSpPr>
        <p:spPr>
          <a:xfrm>
            <a:off x="5709224" y="4361427"/>
            <a:ext cx="590474"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volumen</a:t>
            </a:r>
            <a:endParaRPr lang="en-US" sz="850" dirty="0"/>
          </a:p>
        </p:txBody>
      </p:sp>
      <p:sp>
        <p:nvSpPr>
          <p:cNvPr id="25" name="Text 23"/>
          <p:cNvSpPr/>
          <p:nvPr/>
        </p:nvSpPr>
        <p:spPr>
          <a:xfrm>
            <a:off x="5839901" y="4489395"/>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1983448" y="4946392"/>
            <a:ext cx="0" cy="767648"/>
          </a:xfrm>
          <a:prstGeom prst="line">
            <a:avLst/>
          </a:prstGeom>
          <a:noFill/>
          <a:ln w="22860">
            <a:solidFill>
              <a:srgbClr val="1F4E8C"/>
            </a:solidFill>
            <a:prstDash val="lgDash"/>
          </a:ln>
        </p:spPr>
      </p:sp>
      <p:sp>
        <p:nvSpPr>
          <p:cNvPr id="27" name="Shape 25"/>
          <p:cNvSpPr/>
          <p:nvPr/>
        </p:nvSpPr>
        <p:spPr>
          <a:xfrm>
            <a:off x="1983448" y="5714040"/>
            <a:ext cx="5391813" cy="0"/>
          </a:xfrm>
          <a:prstGeom prst="line">
            <a:avLst/>
          </a:prstGeom>
          <a:noFill/>
          <a:ln w="22860">
            <a:solidFill>
              <a:srgbClr val="1F4E8C"/>
            </a:solidFill>
            <a:prstDash val="lgDash"/>
          </a:ln>
        </p:spPr>
      </p:sp>
      <p:sp>
        <p:nvSpPr>
          <p:cNvPr id="28" name="Shape 26"/>
          <p:cNvSpPr/>
          <p:nvPr/>
        </p:nvSpPr>
        <p:spPr>
          <a:xfrm flipV="1">
            <a:off x="7375261" y="4946392"/>
            <a:ext cx="0" cy="767648"/>
          </a:xfrm>
          <a:prstGeom prst="line">
            <a:avLst/>
          </a:prstGeom>
          <a:noFill/>
          <a:ln w="22860">
            <a:solidFill>
              <a:srgbClr val="1F4E8C"/>
            </a:solidFill>
            <a:prstDash val="lgDash"/>
            <a:tailEnd type="arrow"/>
          </a:ln>
        </p:spPr>
      </p:sp>
      <p:sp>
        <p:nvSpPr>
          <p:cNvPr id="29" name="Text 27"/>
          <p:cNvSpPr/>
          <p:nvPr/>
        </p:nvSpPr>
        <p:spPr>
          <a:xfrm>
            <a:off x="4053790" y="5732227"/>
            <a:ext cx="1251128" cy="192024"/>
          </a:xfrm>
          <a:prstGeom prst="rect">
            <a:avLst/>
          </a:prstGeom>
          <a:noFill/>
          <a:ln/>
        </p:spPr>
        <p:txBody>
          <a:bodyPr wrap="square" lIns="0" tIns="0" rIns="0" bIns="0" rtlCol="0" anchor="ctr"/>
          <a:lstStyle/>
          <a:p>
            <a:pPr algn="ctr" indent="0" marL="0">
              <a:buNone/>
            </a:pPr>
            <a:r>
              <a:rPr lang="en-US" sz="850" b="1" dirty="0">
                <a:solidFill>
                  <a:srgbClr val="1F4E8C"/>
                </a:solidFill>
                <a:latin typeface="Segoe UI" pitchFamily="34" charset="0"/>
                <a:ea typeface="Segoe UI" pitchFamily="34" charset="-122"/>
                <a:cs typeface="Segoe UI" pitchFamily="34" charset="-120"/>
              </a:rPr>
              <a:t>POSTGRES_PASSWORD</a:t>
            </a:r>
            <a:endParaRPr lang="en-US" sz="850" dirty="0"/>
          </a:p>
        </p:txBody>
      </p:sp>
      <p:sp>
        <p:nvSpPr>
          <p:cNvPr id="30" name="Text 28"/>
          <p:cNvSpPr/>
          <p:nvPr/>
        </p:nvSpPr>
        <p:spPr>
          <a:xfrm>
            <a:off x="1873720" y="5055992"/>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31" name="Shape 29"/>
          <p:cNvSpPr/>
          <p:nvPr/>
        </p:nvSpPr>
        <p:spPr>
          <a:xfrm>
            <a:off x="7923581" y="3027272"/>
            <a:ext cx="0" cy="676261"/>
          </a:xfrm>
          <a:prstGeom prst="line">
            <a:avLst/>
          </a:prstGeom>
          <a:noFill/>
          <a:ln w="31750">
            <a:solidFill>
              <a:srgbClr val="2E6DB4"/>
            </a:solidFill>
            <a:prstDash val="solid"/>
          </a:ln>
        </p:spPr>
      </p:sp>
      <p:sp>
        <p:nvSpPr>
          <p:cNvPr id="32" name="Shape 30"/>
          <p:cNvSpPr/>
          <p:nvPr/>
        </p:nvSpPr>
        <p:spPr>
          <a:xfrm>
            <a:off x="7923581" y="3703533"/>
            <a:ext cx="2284667" cy="0"/>
          </a:xfrm>
          <a:prstGeom prst="line">
            <a:avLst/>
          </a:prstGeom>
          <a:noFill/>
          <a:ln w="31750">
            <a:solidFill>
              <a:srgbClr val="2E6DB4"/>
            </a:solidFill>
            <a:prstDash val="solid"/>
          </a:ln>
        </p:spPr>
      </p:sp>
      <p:sp>
        <p:nvSpPr>
          <p:cNvPr id="33" name="Shape 31"/>
          <p:cNvSpPr/>
          <p:nvPr/>
        </p:nvSpPr>
        <p:spPr>
          <a:xfrm>
            <a:off x="10208247" y="3703533"/>
            <a:ext cx="0" cy="548320"/>
          </a:xfrm>
          <a:prstGeom prst="line">
            <a:avLst/>
          </a:prstGeom>
          <a:noFill/>
          <a:ln w="31750">
            <a:solidFill>
              <a:srgbClr val="2E6DB4"/>
            </a:solidFill>
            <a:prstDash val="solid"/>
            <a:tailEnd type="triangle"/>
          </a:ln>
        </p:spPr>
      </p:sp>
      <p:sp>
        <p:nvSpPr>
          <p:cNvPr id="34" name="Text 32"/>
          <p:cNvSpPr/>
          <p:nvPr/>
        </p:nvSpPr>
        <p:spPr>
          <a:xfrm>
            <a:off x="8869775" y="3465837"/>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JDBC</a:t>
            </a:r>
            <a:endParaRPr lang="en-US" sz="850" dirty="0"/>
          </a:p>
        </p:txBody>
      </p:sp>
      <p:sp>
        <p:nvSpPr>
          <p:cNvPr id="35" name="Text 33"/>
          <p:cNvSpPr/>
          <p:nvPr/>
        </p:nvSpPr>
        <p:spPr>
          <a:xfrm>
            <a:off x="7813853" y="31368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6" name="Shape 34"/>
          <p:cNvSpPr/>
          <p:nvPr/>
        </p:nvSpPr>
        <p:spPr>
          <a:xfrm flipH="1">
            <a:off x="8471901" y="4599123"/>
            <a:ext cx="731093" cy="0"/>
          </a:xfrm>
          <a:prstGeom prst="line">
            <a:avLst/>
          </a:prstGeom>
          <a:noFill/>
          <a:ln w="31750">
            <a:solidFill>
              <a:srgbClr val="55627E"/>
            </a:solidFill>
            <a:prstDash val="sysDot"/>
            <a:tailEnd type="triangle"/>
          </a:ln>
        </p:spPr>
      </p:sp>
      <p:sp>
        <p:nvSpPr>
          <p:cNvPr id="37" name="Text 35"/>
          <p:cNvSpPr/>
          <p:nvPr/>
        </p:nvSpPr>
        <p:spPr>
          <a:xfrm>
            <a:off x="8641309" y="4361427"/>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5432</a:t>
            </a:r>
            <a:endParaRPr lang="en-US" sz="850" dirty="0"/>
          </a:p>
        </p:txBody>
      </p:sp>
      <p:sp>
        <p:nvSpPr>
          <p:cNvPr id="38" name="Text 36"/>
          <p:cNvSpPr/>
          <p:nvPr/>
        </p:nvSpPr>
        <p:spPr>
          <a:xfrm>
            <a:off x="8873938" y="448939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9" name="Text 37"/>
          <p:cNvSpPr/>
          <p:nvPr/>
        </p:nvSpPr>
        <p:spPr>
          <a:xfrm>
            <a:off x="978195" y="233273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Deployment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servicio-solicitudes · 1 réplica</a:t>
            </a:r>
            <a:endParaRPr lang="en-US" sz="1100" dirty="0"/>
          </a:p>
        </p:txBody>
      </p:sp>
      <p:sp>
        <p:nvSpPr>
          <p:cNvPr id="40" name="Text 38"/>
          <p:cNvSpPr/>
          <p:nvPr/>
        </p:nvSpPr>
        <p:spPr>
          <a:xfrm>
            <a:off x="3719794" y="2332733"/>
            <a:ext cx="182773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ReplicaSet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mantiene la cantidad</a:t>
            </a:r>
            <a:endParaRPr lang="en-US" sz="1100" dirty="0"/>
          </a:p>
        </p:txBody>
      </p:sp>
      <p:sp>
        <p:nvSpPr>
          <p:cNvPr id="41" name="Text 39"/>
          <p:cNvSpPr/>
          <p:nvPr/>
        </p:nvSpPr>
        <p:spPr>
          <a:xfrm>
            <a:off x="6278621" y="2332733"/>
            <a:ext cx="2193280"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Pod</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ejecuta el contenedor</a:t>
            </a:r>
            <a:endParaRPr lang="en-US" sz="1100" dirty="0"/>
          </a:p>
        </p:txBody>
      </p:sp>
      <p:sp>
        <p:nvSpPr>
          <p:cNvPr id="42" name="Text 40"/>
          <p:cNvSpPr/>
          <p:nvPr/>
        </p:nvSpPr>
        <p:spPr>
          <a:xfrm>
            <a:off x="9202994" y="233273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Service</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NodePort · nombre estable</a:t>
            </a:r>
            <a:endParaRPr lang="en-US" sz="1100" dirty="0"/>
          </a:p>
        </p:txBody>
      </p:sp>
      <p:sp>
        <p:nvSpPr>
          <p:cNvPr id="43" name="Text 41"/>
          <p:cNvSpPr/>
          <p:nvPr/>
        </p:nvSpPr>
        <p:spPr>
          <a:xfrm>
            <a:off x="978195" y="4251853"/>
            <a:ext cx="2010507"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Secret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arka-postgres</a:t>
            </a:r>
            <a:endParaRPr lang="en-US" sz="1100" dirty="0"/>
          </a:p>
        </p:txBody>
      </p:sp>
      <p:sp>
        <p:nvSpPr>
          <p:cNvPr id="44" name="Text 42"/>
          <p:cNvSpPr/>
          <p:nvPr/>
        </p:nvSpPr>
        <p:spPr>
          <a:xfrm>
            <a:off x="3719794" y="4251853"/>
            <a:ext cx="2010507"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PVC</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arka-postgres-data · 1Gi</a:t>
            </a:r>
            <a:endParaRPr lang="en-US" sz="1100" dirty="0"/>
          </a:p>
        </p:txBody>
      </p:sp>
      <p:sp>
        <p:nvSpPr>
          <p:cNvPr id="45" name="Text 43"/>
          <p:cNvSpPr/>
          <p:nvPr/>
        </p:nvSpPr>
        <p:spPr>
          <a:xfrm>
            <a:off x="6278621" y="4251853"/>
            <a:ext cx="2193280" cy="694539"/>
          </a:xfrm>
          <a:prstGeom prst="roundRect">
            <a:avLst>
              <a:gd name="adj" fmla="val 13166"/>
            </a:avLst>
          </a:prstGeom>
          <a:solidFill>
            <a:srgbClr val="EEF3FA"/>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Pod db-solicitudes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postgres:17</a:t>
            </a:r>
            <a:endParaRPr lang="en-US" sz="1100" dirty="0"/>
          </a:p>
        </p:txBody>
      </p:sp>
      <p:sp>
        <p:nvSpPr>
          <p:cNvPr id="46" name="Text 44"/>
          <p:cNvSpPr/>
          <p:nvPr/>
        </p:nvSpPr>
        <p:spPr>
          <a:xfrm>
            <a:off x="9202994" y="4251853"/>
            <a:ext cx="2010507"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Service db-solicitudes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5432</a:t>
            </a:r>
            <a:endParaRPr lang="en-US" sz="11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44450">
            <a:solidFill>
              <a:srgbClr val="2BA6CB"/>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44450">
            <a:solidFill>
              <a:srgbClr val="2BA6CB"/>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C7D2E2"/>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C7D2E2"/>
            </a:solidFill>
            <a:prstDash val="lgDash"/>
          </a:ln>
        </p:spPr>
      </p:sp>
      <p:sp>
        <p:nvSpPr>
          <p:cNvPr id="15" name="Shape 13"/>
          <p:cNvSpPr/>
          <p:nvPr/>
        </p:nvSpPr>
        <p:spPr>
          <a:xfrm>
            <a:off x="2409673" y="2936748"/>
            <a:ext cx="4505325" cy="0"/>
          </a:xfrm>
          <a:prstGeom prst="line">
            <a:avLst/>
          </a:prstGeom>
          <a:noFill/>
          <a:ln w="22860">
            <a:solidFill>
              <a:srgbClr val="C7D2E2"/>
            </a:solidFill>
            <a:prstDash val="lgDash"/>
          </a:ln>
        </p:spPr>
      </p:sp>
      <p:sp>
        <p:nvSpPr>
          <p:cNvPr id="16" name="Shape 14"/>
          <p:cNvSpPr/>
          <p:nvPr/>
        </p:nvSpPr>
        <p:spPr>
          <a:xfrm flipV="1">
            <a:off x="6914998" y="2330577"/>
            <a:ext cx="0" cy="606171"/>
          </a:xfrm>
          <a:prstGeom prst="line">
            <a:avLst/>
          </a:prstGeom>
          <a:noFill/>
          <a:ln w="22860">
            <a:solidFill>
              <a:srgbClr val="C7D2E2"/>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C7D2E2"/>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C7D2E2"/>
            </a:solidFill>
            <a:prstDash val="lgDash"/>
          </a:ln>
        </p:spPr>
      </p:sp>
      <p:sp>
        <p:nvSpPr>
          <p:cNvPr id="23" name="Shape 21"/>
          <p:cNvSpPr/>
          <p:nvPr/>
        </p:nvSpPr>
        <p:spPr>
          <a:xfrm>
            <a:off x="2409673" y="4738878"/>
            <a:ext cx="4832985" cy="0"/>
          </a:xfrm>
          <a:prstGeom prst="line">
            <a:avLst/>
          </a:prstGeom>
          <a:noFill/>
          <a:ln w="22860">
            <a:solidFill>
              <a:srgbClr val="C7D2E2"/>
            </a:solidFill>
            <a:prstDash val="lgDash"/>
          </a:ln>
        </p:spPr>
      </p:sp>
      <p:sp>
        <p:nvSpPr>
          <p:cNvPr id="24" name="Shape 22"/>
          <p:cNvSpPr/>
          <p:nvPr/>
        </p:nvSpPr>
        <p:spPr>
          <a:xfrm flipV="1">
            <a:off x="7242658" y="4050792"/>
            <a:ext cx="0" cy="688086"/>
          </a:xfrm>
          <a:prstGeom prst="line">
            <a:avLst/>
          </a:prstGeom>
          <a:noFill/>
          <a:ln w="22860">
            <a:solidFill>
              <a:srgbClr val="C7D2E2"/>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Declaramos un Deployment: qué imagen usar y cuántas copias queremos.</a:t>
            </a:r>
            <a:endParaRPr lang="en-US" sz="1300" dirty="0"/>
          </a:p>
        </p:txBody>
      </p:sp>
      <p:sp>
        <p:nvSpPr>
          <p:cNvPr id="46" name="Shape 44"/>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8" name="Text 46"/>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Kubernetes mantiene ese número de copias. Si una falta, crea otra.</a:t>
            </a:r>
            <a:endParaRPr lang="en-US" sz="1300" dirty="0"/>
          </a:p>
        </p:txBody>
      </p:sp>
      <p:sp>
        <p:nvSpPr>
          <p:cNvPr id="49" name="Shape 47"/>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50" name="Text 48"/>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1" name="Text 49"/>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copia corre en un Pod. Antes de arrancar, espera a la base y a notificaciones.</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55627E"/>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44450">
            <a:solidFill>
              <a:srgbClr val="2BA6CB"/>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35560">
            <a:solidFill>
              <a:srgbClr val="2BA6CB"/>
            </a:solidFill>
            <a:prstDash val="lgDash"/>
          </a:ln>
        </p:spPr>
      </p:sp>
      <p:sp>
        <p:nvSpPr>
          <p:cNvPr id="15" name="Shape 13"/>
          <p:cNvSpPr/>
          <p:nvPr/>
        </p:nvSpPr>
        <p:spPr>
          <a:xfrm>
            <a:off x="2409673" y="2936748"/>
            <a:ext cx="4505325" cy="0"/>
          </a:xfrm>
          <a:prstGeom prst="line">
            <a:avLst/>
          </a:prstGeom>
          <a:noFill/>
          <a:ln w="35560">
            <a:solidFill>
              <a:srgbClr val="2BA6CB"/>
            </a:solidFill>
            <a:prstDash val="lgDash"/>
          </a:ln>
        </p:spPr>
      </p:sp>
      <p:sp>
        <p:nvSpPr>
          <p:cNvPr id="16" name="Shape 14"/>
          <p:cNvSpPr/>
          <p:nvPr/>
        </p:nvSpPr>
        <p:spPr>
          <a:xfrm flipV="1">
            <a:off x="6914998" y="2330577"/>
            <a:ext cx="0" cy="606171"/>
          </a:xfrm>
          <a:prstGeom prst="line">
            <a:avLst/>
          </a:prstGeom>
          <a:noFill/>
          <a:ln w="35560">
            <a:solidFill>
              <a:srgbClr val="2BA6CB"/>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22860">
            <a:solidFill>
              <a:srgbClr val="C7D2E2"/>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35560">
            <a:solidFill>
              <a:srgbClr val="2BA6CB"/>
            </a:solidFill>
            <a:prstDash val="lgDash"/>
          </a:ln>
        </p:spPr>
      </p:sp>
      <p:sp>
        <p:nvSpPr>
          <p:cNvPr id="23" name="Shape 21"/>
          <p:cNvSpPr/>
          <p:nvPr/>
        </p:nvSpPr>
        <p:spPr>
          <a:xfrm>
            <a:off x="2409673" y="4738878"/>
            <a:ext cx="4832985" cy="0"/>
          </a:xfrm>
          <a:prstGeom prst="line">
            <a:avLst/>
          </a:prstGeom>
          <a:noFill/>
          <a:ln w="35560">
            <a:solidFill>
              <a:srgbClr val="2BA6CB"/>
            </a:solidFill>
            <a:prstDash val="lgDash"/>
          </a:ln>
        </p:spPr>
      </p:sp>
      <p:sp>
        <p:nvSpPr>
          <p:cNvPr id="24" name="Shape 22"/>
          <p:cNvSpPr/>
          <p:nvPr/>
        </p:nvSpPr>
        <p:spPr>
          <a:xfrm flipV="1">
            <a:off x="7242658" y="4050792"/>
            <a:ext cx="0" cy="688086"/>
          </a:xfrm>
          <a:prstGeom prst="line">
            <a:avLst/>
          </a:prstGeom>
          <a:noFill/>
          <a:ln w="35560">
            <a:solidFill>
              <a:srgbClr val="2BA6CB"/>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31750">
            <a:solidFill>
              <a:srgbClr val="C7D2E2"/>
            </a:solidFill>
            <a:prstDash val="solid"/>
          </a:ln>
        </p:spPr>
      </p:sp>
      <p:sp>
        <p:nvSpPr>
          <p:cNvPr id="28" name="Shape 26"/>
          <p:cNvSpPr/>
          <p:nvPr/>
        </p:nvSpPr>
        <p:spPr>
          <a:xfrm>
            <a:off x="7734148" y="2936748"/>
            <a:ext cx="2047875" cy="0"/>
          </a:xfrm>
          <a:prstGeom prst="line">
            <a:avLst/>
          </a:prstGeom>
          <a:noFill/>
          <a:ln w="31750">
            <a:solidFill>
              <a:srgbClr val="C7D2E2"/>
            </a:solidFill>
            <a:prstDash val="solid"/>
          </a:ln>
        </p:spPr>
      </p:sp>
      <p:sp>
        <p:nvSpPr>
          <p:cNvPr id="29" name="Shape 27"/>
          <p:cNvSpPr/>
          <p:nvPr/>
        </p:nvSpPr>
        <p:spPr>
          <a:xfrm>
            <a:off x="9782023" y="2936748"/>
            <a:ext cx="0" cy="491490"/>
          </a:xfrm>
          <a:prstGeom prst="line">
            <a:avLst/>
          </a:prstGeom>
          <a:noFill/>
          <a:ln w="31750">
            <a:solidFill>
              <a:srgbClr val="C7D2E2"/>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31750">
            <a:solidFill>
              <a:srgbClr val="C7D2E2"/>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00" b="1" dirty="0">
                <a:solidFill>
                  <a:srgbClr val="C7D2E2"/>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EF3FA"/>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5627E"/>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Service da un nombre fijo y solo manda tráfico a los Pods listos.</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Secret entrega la contraseña de la base sin escribirla en el código.</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Kubernetes: estado deseado</a:t>
            </a:r>
            <a:endParaRPr lang="en-US" sz="2800" dirty="0"/>
          </a:p>
        </p:txBody>
      </p:sp>
      <p:sp>
        <p:nvSpPr>
          <p:cNvPr id="5" name="Shape 3"/>
          <p:cNvSpPr/>
          <p:nvPr/>
        </p:nvSpPr>
        <p:spPr>
          <a:xfrm>
            <a:off x="3310738" y="2019300"/>
            <a:ext cx="655320" cy="0"/>
          </a:xfrm>
          <a:prstGeom prst="line">
            <a:avLst/>
          </a:prstGeom>
          <a:noFill/>
          <a:ln w="31750">
            <a:solidFill>
              <a:srgbClr val="55627E"/>
            </a:solidFill>
            <a:prstDash val="sysDot"/>
            <a:tailEnd type="triangle"/>
          </a:ln>
        </p:spPr>
      </p:sp>
      <p:sp>
        <p:nvSpPr>
          <p:cNvPr id="6" name="Text 4"/>
          <p:cNvSpPr/>
          <p:nvPr/>
        </p:nvSpPr>
        <p:spPr>
          <a:xfrm>
            <a:off x="3450031" y="1790129"/>
            <a:ext cx="376733"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crea</a:t>
            </a:r>
            <a:endParaRPr lang="en-US" sz="800" dirty="0"/>
          </a:p>
        </p:txBody>
      </p:sp>
      <p:sp>
        <p:nvSpPr>
          <p:cNvPr id="7" name="Text 5"/>
          <p:cNvSpPr/>
          <p:nvPr/>
        </p:nvSpPr>
        <p:spPr>
          <a:xfrm>
            <a:off x="339760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2</a:t>
            </a:r>
            <a:endParaRPr lang="en-US" sz="800" dirty="0"/>
          </a:p>
        </p:txBody>
      </p:sp>
      <p:sp>
        <p:nvSpPr>
          <p:cNvPr id="8" name="Shape 6"/>
          <p:cNvSpPr/>
          <p:nvPr/>
        </p:nvSpPr>
        <p:spPr>
          <a:xfrm>
            <a:off x="5604358" y="2019300"/>
            <a:ext cx="655320" cy="0"/>
          </a:xfrm>
          <a:prstGeom prst="line">
            <a:avLst/>
          </a:prstGeom>
          <a:noFill/>
          <a:ln w="31750">
            <a:solidFill>
              <a:srgbClr val="55627E"/>
            </a:solidFill>
            <a:prstDash val="sysDot"/>
            <a:tailEnd type="triangle"/>
          </a:ln>
        </p:spPr>
      </p:sp>
      <p:sp>
        <p:nvSpPr>
          <p:cNvPr id="9" name="Text 7"/>
          <p:cNvSpPr/>
          <p:nvPr/>
        </p:nvSpPr>
        <p:spPr>
          <a:xfrm>
            <a:off x="5619293" y="1790129"/>
            <a:ext cx="625450" cy="192024"/>
          </a:xfrm>
          <a:prstGeom prst="rect">
            <a:avLst/>
          </a:prstGeom>
          <a:noFill/>
          <a:ln/>
        </p:spPr>
        <p:txBody>
          <a:bodyPr wrap="square" lIns="0" tIns="0" rIns="0" bIns="0" rtlCol="0" anchor="ctr"/>
          <a:lstStyle/>
          <a:p>
            <a:pPr algn="ctr" indent="0" marL="0">
              <a:buNone/>
            </a:pPr>
            <a:r>
              <a:rPr lang="en-US" sz="800" b="1" dirty="0">
                <a:solidFill>
                  <a:srgbClr val="55627E"/>
                </a:solidFill>
                <a:latin typeface="Segoe UI" pitchFamily="34" charset="0"/>
                <a:ea typeface="Segoe UI" pitchFamily="34" charset="-122"/>
                <a:cs typeface="Segoe UI" pitchFamily="34" charset="-120"/>
              </a:rPr>
              <a:t>mantiene</a:t>
            </a:r>
            <a:endParaRPr lang="en-US" sz="800" dirty="0"/>
          </a:p>
        </p:txBody>
      </p:sp>
      <p:sp>
        <p:nvSpPr>
          <p:cNvPr id="10" name="Text 8"/>
          <p:cNvSpPr/>
          <p:nvPr/>
        </p:nvSpPr>
        <p:spPr>
          <a:xfrm>
            <a:off x="5691226" y="1909572"/>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3</a:t>
            </a:r>
            <a:endParaRPr lang="en-US" sz="800" dirty="0"/>
          </a:p>
        </p:txBody>
      </p:sp>
      <p:sp>
        <p:nvSpPr>
          <p:cNvPr id="11" name="Shape 9"/>
          <p:cNvSpPr/>
          <p:nvPr/>
        </p:nvSpPr>
        <p:spPr>
          <a:xfrm flipH="1">
            <a:off x="8225638" y="2019300"/>
            <a:ext cx="655320" cy="0"/>
          </a:xfrm>
          <a:prstGeom prst="line">
            <a:avLst/>
          </a:prstGeom>
          <a:noFill/>
          <a:ln w="31750">
            <a:solidFill>
              <a:srgbClr val="2E6DB4"/>
            </a:solidFill>
            <a:prstDash val="solid"/>
            <a:tailEnd type="triangle"/>
          </a:ln>
        </p:spPr>
      </p:sp>
      <p:sp>
        <p:nvSpPr>
          <p:cNvPr id="12" name="Text 10"/>
          <p:cNvSpPr/>
          <p:nvPr/>
        </p:nvSpPr>
        <p:spPr>
          <a:xfrm>
            <a:off x="8085125" y="1790129"/>
            <a:ext cx="936346" cy="192024"/>
          </a:xfrm>
          <a:prstGeom prst="rect">
            <a:avLst/>
          </a:prstGeom>
          <a:noFill/>
          <a:ln/>
        </p:spPr>
        <p:txBody>
          <a:bodyPr wrap="square" lIns="0" tIns="0" rIns="0" bIns="0" rtlCol="0" anchor="ctr"/>
          <a:lstStyle/>
          <a:p>
            <a:pPr algn="ctr" indent="0" marL="0">
              <a:buNone/>
            </a:pPr>
            <a:r>
              <a:rPr lang="en-US" sz="800" b="1" dirty="0">
                <a:solidFill>
                  <a:srgbClr val="2E6DB4"/>
                </a:solidFill>
                <a:latin typeface="Segoe UI" pitchFamily="34" charset="0"/>
                <a:ea typeface="Segoe UI" pitchFamily="34" charset="-122"/>
                <a:cs typeface="Segoe UI" pitchFamily="34" charset="-120"/>
              </a:rPr>
              <a:t>si está listo</a:t>
            </a:r>
            <a:endParaRPr lang="en-US" sz="800" dirty="0"/>
          </a:p>
        </p:txBody>
      </p:sp>
      <p:sp>
        <p:nvSpPr>
          <p:cNvPr id="13" name="Text 11"/>
          <p:cNvSpPr/>
          <p:nvPr/>
        </p:nvSpPr>
        <p:spPr>
          <a:xfrm>
            <a:off x="8574634" y="1909572"/>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4</a:t>
            </a:r>
            <a:endParaRPr lang="en-US" sz="800" dirty="0"/>
          </a:p>
        </p:txBody>
      </p:sp>
      <p:sp>
        <p:nvSpPr>
          <p:cNvPr id="14" name="Shape 12"/>
          <p:cNvSpPr/>
          <p:nvPr/>
        </p:nvSpPr>
        <p:spPr>
          <a:xfrm flipV="1">
            <a:off x="2409673" y="2936748"/>
            <a:ext cx="0" cy="491490"/>
          </a:xfrm>
          <a:prstGeom prst="line">
            <a:avLst/>
          </a:prstGeom>
          <a:noFill/>
          <a:ln w="22860">
            <a:solidFill>
              <a:srgbClr val="1F4E8C"/>
            </a:solidFill>
            <a:prstDash val="lgDash"/>
          </a:ln>
        </p:spPr>
      </p:sp>
      <p:sp>
        <p:nvSpPr>
          <p:cNvPr id="15" name="Shape 13"/>
          <p:cNvSpPr/>
          <p:nvPr/>
        </p:nvSpPr>
        <p:spPr>
          <a:xfrm>
            <a:off x="2409673" y="2936748"/>
            <a:ext cx="4505325" cy="0"/>
          </a:xfrm>
          <a:prstGeom prst="line">
            <a:avLst/>
          </a:prstGeom>
          <a:noFill/>
          <a:ln w="22860">
            <a:solidFill>
              <a:srgbClr val="1F4E8C"/>
            </a:solidFill>
            <a:prstDash val="lgDash"/>
          </a:ln>
        </p:spPr>
      </p:sp>
      <p:sp>
        <p:nvSpPr>
          <p:cNvPr id="16" name="Shape 14"/>
          <p:cNvSpPr/>
          <p:nvPr/>
        </p:nvSpPr>
        <p:spPr>
          <a:xfrm flipV="1">
            <a:off x="6914998" y="2330577"/>
            <a:ext cx="0" cy="606171"/>
          </a:xfrm>
          <a:prstGeom prst="line">
            <a:avLst/>
          </a:prstGeom>
          <a:noFill/>
          <a:ln w="22860">
            <a:solidFill>
              <a:srgbClr val="1F4E8C"/>
            </a:solidFill>
            <a:prstDash val="lgDash"/>
            <a:tailEnd type="arrow"/>
          </a:ln>
        </p:spPr>
      </p:sp>
      <p:sp>
        <p:nvSpPr>
          <p:cNvPr id="17" name="Text 15"/>
          <p:cNvSpPr/>
          <p:nvPr/>
        </p:nvSpPr>
        <p:spPr>
          <a:xfrm>
            <a:off x="4256342" y="2707577"/>
            <a:ext cx="811987"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DB_PASSWORD</a:t>
            </a:r>
            <a:endParaRPr lang="en-US" sz="800" dirty="0"/>
          </a:p>
        </p:txBody>
      </p:sp>
      <p:sp>
        <p:nvSpPr>
          <p:cNvPr id="18" name="Text 16"/>
          <p:cNvSpPr/>
          <p:nvPr/>
        </p:nvSpPr>
        <p:spPr>
          <a:xfrm>
            <a:off x="2299945" y="3121914"/>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19" name="Shape 17"/>
          <p:cNvSpPr/>
          <p:nvPr/>
        </p:nvSpPr>
        <p:spPr>
          <a:xfrm>
            <a:off x="5768188" y="3739515"/>
            <a:ext cx="491490" cy="0"/>
          </a:xfrm>
          <a:prstGeom prst="line">
            <a:avLst/>
          </a:prstGeom>
          <a:noFill/>
          <a:ln w="35560">
            <a:solidFill>
              <a:srgbClr val="2BA6CB"/>
            </a:solidFill>
            <a:prstDash val="lgDash"/>
            <a:tailEnd type="arrow"/>
          </a:ln>
        </p:spPr>
      </p:sp>
      <p:sp>
        <p:nvSpPr>
          <p:cNvPr id="20" name="Text 18"/>
          <p:cNvSpPr/>
          <p:nvPr/>
        </p:nvSpPr>
        <p:spPr>
          <a:xfrm>
            <a:off x="5732297" y="3510344"/>
            <a:ext cx="563270"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volumen</a:t>
            </a:r>
            <a:endParaRPr lang="en-US" sz="800" dirty="0"/>
          </a:p>
        </p:txBody>
      </p:sp>
      <p:sp>
        <p:nvSpPr>
          <p:cNvPr id="21" name="Text 19"/>
          <p:cNvSpPr/>
          <p:nvPr/>
        </p:nvSpPr>
        <p:spPr>
          <a:xfrm>
            <a:off x="5855056" y="362978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6</a:t>
            </a:r>
            <a:endParaRPr lang="en-US" sz="800" dirty="0"/>
          </a:p>
        </p:txBody>
      </p:sp>
      <p:sp>
        <p:nvSpPr>
          <p:cNvPr id="22" name="Shape 20"/>
          <p:cNvSpPr/>
          <p:nvPr/>
        </p:nvSpPr>
        <p:spPr>
          <a:xfrm>
            <a:off x="2409673" y="4050792"/>
            <a:ext cx="0" cy="688086"/>
          </a:xfrm>
          <a:prstGeom prst="line">
            <a:avLst/>
          </a:prstGeom>
          <a:noFill/>
          <a:ln w="22860">
            <a:solidFill>
              <a:srgbClr val="1F4E8C"/>
            </a:solidFill>
            <a:prstDash val="lgDash"/>
          </a:ln>
        </p:spPr>
      </p:sp>
      <p:sp>
        <p:nvSpPr>
          <p:cNvPr id="23" name="Shape 21"/>
          <p:cNvSpPr/>
          <p:nvPr/>
        </p:nvSpPr>
        <p:spPr>
          <a:xfrm>
            <a:off x="2409673" y="4738878"/>
            <a:ext cx="4832985" cy="0"/>
          </a:xfrm>
          <a:prstGeom prst="line">
            <a:avLst/>
          </a:prstGeom>
          <a:noFill/>
          <a:ln w="22860">
            <a:solidFill>
              <a:srgbClr val="1F4E8C"/>
            </a:solidFill>
            <a:prstDash val="lgDash"/>
          </a:ln>
        </p:spPr>
      </p:sp>
      <p:sp>
        <p:nvSpPr>
          <p:cNvPr id="24" name="Shape 22"/>
          <p:cNvSpPr/>
          <p:nvPr/>
        </p:nvSpPr>
        <p:spPr>
          <a:xfrm flipV="1">
            <a:off x="7242658" y="4050792"/>
            <a:ext cx="0" cy="688086"/>
          </a:xfrm>
          <a:prstGeom prst="line">
            <a:avLst/>
          </a:prstGeom>
          <a:noFill/>
          <a:ln w="22860">
            <a:solidFill>
              <a:srgbClr val="1F4E8C"/>
            </a:solidFill>
            <a:prstDash val="lgDash"/>
            <a:tailEnd type="arrow"/>
          </a:ln>
        </p:spPr>
      </p:sp>
      <p:sp>
        <p:nvSpPr>
          <p:cNvPr id="25" name="Text 23"/>
          <p:cNvSpPr/>
          <p:nvPr/>
        </p:nvSpPr>
        <p:spPr>
          <a:xfrm>
            <a:off x="4233634" y="4739069"/>
            <a:ext cx="1185062" cy="192024"/>
          </a:xfrm>
          <a:prstGeom prst="rect">
            <a:avLst/>
          </a:prstGeom>
          <a:noFill/>
          <a:ln/>
        </p:spPr>
        <p:txBody>
          <a:bodyPr wrap="square" lIns="0" tIns="0" rIns="0" bIns="0" rtlCol="0" anchor="ctr"/>
          <a:lstStyle/>
          <a:p>
            <a:pPr algn="ctr" indent="0" marL="0">
              <a:buNone/>
            </a:pPr>
            <a:r>
              <a:rPr lang="en-US" sz="800" b="1" dirty="0">
                <a:solidFill>
                  <a:srgbClr val="1F4E8C"/>
                </a:solidFill>
                <a:latin typeface="Segoe UI" pitchFamily="34" charset="0"/>
                <a:ea typeface="Segoe UI" pitchFamily="34" charset="-122"/>
                <a:cs typeface="Segoe UI" pitchFamily="34" charset="-120"/>
              </a:rPr>
              <a:t>POSTGRES_PASSWORD</a:t>
            </a:r>
            <a:endParaRPr lang="en-US" sz="800" dirty="0"/>
          </a:p>
        </p:txBody>
      </p:sp>
      <p:sp>
        <p:nvSpPr>
          <p:cNvPr id="26" name="Text 24"/>
          <p:cNvSpPr/>
          <p:nvPr/>
        </p:nvSpPr>
        <p:spPr>
          <a:xfrm>
            <a:off x="2299945" y="4137660"/>
            <a:ext cx="219456" cy="219456"/>
          </a:xfrm>
          <a:prstGeom prst="ellipse">
            <a:avLst/>
          </a:prstGeom>
          <a:solidFill>
            <a:srgbClr val="1F4E8C"/>
          </a:solidFill>
          <a:ln w="12700">
            <a:solidFill>
              <a:srgbClr val="1F4E8C"/>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5</a:t>
            </a:r>
            <a:endParaRPr lang="en-US" sz="800" dirty="0"/>
          </a:p>
        </p:txBody>
      </p:sp>
      <p:sp>
        <p:nvSpPr>
          <p:cNvPr id="27" name="Shape 25"/>
          <p:cNvSpPr/>
          <p:nvPr/>
        </p:nvSpPr>
        <p:spPr>
          <a:xfrm>
            <a:off x="7734148" y="2330577"/>
            <a:ext cx="0" cy="606171"/>
          </a:xfrm>
          <a:prstGeom prst="line">
            <a:avLst/>
          </a:prstGeom>
          <a:noFill/>
          <a:ln w="44450">
            <a:solidFill>
              <a:srgbClr val="2BA6CB"/>
            </a:solidFill>
            <a:prstDash val="solid"/>
          </a:ln>
        </p:spPr>
      </p:sp>
      <p:sp>
        <p:nvSpPr>
          <p:cNvPr id="28" name="Shape 26"/>
          <p:cNvSpPr/>
          <p:nvPr/>
        </p:nvSpPr>
        <p:spPr>
          <a:xfrm>
            <a:off x="7734148" y="2936748"/>
            <a:ext cx="2047875" cy="0"/>
          </a:xfrm>
          <a:prstGeom prst="line">
            <a:avLst/>
          </a:prstGeom>
          <a:noFill/>
          <a:ln w="44450">
            <a:solidFill>
              <a:srgbClr val="2BA6CB"/>
            </a:solidFill>
            <a:prstDash val="solid"/>
          </a:ln>
        </p:spPr>
      </p:sp>
      <p:sp>
        <p:nvSpPr>
          <p:cNvPr id="29" name="Shape 27"/>
          <p:cNvSpPr/>
          <p:nvPr/>
        </p:nvSpPr>
        <p:spPr>
          <a:xfrm>
            <a:off x="9782023" y="2936748"/>
            <a:ext cx="0" cy="491490"/>
          </a:xfrm>
          <a:prstGeom prst="line">
            <a:avLst/>
          </a:prstGeom>
          <a:noFill/>
          <a:ln w="44450">
            <a:solidFill>
              <a:srgbClr val="2BA6CB"/>
            </a:solidFill>
            <a:prstDash val="solid"/>
            <a:tailEnd type="triangle"/>
          </a:ln>
        </p:spPr>
      </p:sp>
      <p:sp>
        <p:nvSpPr>
          <p:cNvPr id="30" name="Text 28"/>
          <p:cNvSpPr/>
          <p:nvPr/>
        </p:nvSpPr>
        <p:spPr>
          <a:xfrm>
            <a:off x="8569719" y="2707577"/>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JDBC</a:t>
            </a:r>
            <a:endParaRPr lang="en-US" sz="800" dirty="0"/>
          </a:p>
        </p:txBody>
      </p:sp>
      <p:sp>
        <p:nvSpPr>
          <p:cNvPr id="31" name="Text 29"/>
          <p:cNvSpPr/>
          <p:nvPr/>
        </p:nvSpPr>
        <p:spPr>
          <a:xfrm>
            <a:off x="7624420" y="2417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2" name="Shape 30"/>
          <p:cNvSpPr/>
          <p:nvPr/>
        </p:nvSpPr>
        <p:spPr>
          <a:xfrm flipH="1">
            <a:off x="8225638" y="3739515"/>
            <a:ext cx="655320" cy="0"/>
          </a:xfrm>
          <a:prstGeom prst="line">
            <a:avLst/>
          </a:prstGeom>
          <a:noFill/>
          <a:ln w="44450">
            <a:solidFill>
              <a:srgbClr val="2BA6CB"/>
            </a:solidFill>
            <a:prstDash val="sysDot"/>
            <a:tailEnd type="triangle"/>
          </a:ln>
        </p:spPr>
      </p:sp>
      <p:sp>
        <p:nvSpPr>
          <p:cNvPr id="33" name="Text 31"/>
          <p:cNvSpPr/>
          <p:nvPr/>
        </p:nvSpPr>
        <p:spPr>
          <a:xfrm>
            <a:off x="8364931" y="3510344"/>
            <a:ext cx="376733" cy="192024"/>
          </a:xfrm>
          <a:prstGeom prst="rect">
            <a:avLst/>
          </a:prstGeom>
          <a:noFill/>
          <a:ln/>
        </p:spPr>
        <p:txBody>
          <a:bodyPr wrap="square" lIns="0" tIns="0" rIns="0" bIns="0" rtlCol="0" anchor="ctr"/>
          <a:lstStyle/>
          <a:p>
            <a:pPr algn="ctr" indent="0" marL="0">
              <a:buNone/>
            </a:pPr>
            <a:r>
              <a:rPr lang="en-US" sz="800" b="1" dirty="0">
                <a:solidFill>
                  <a:srgbClr val="2BA6CB"/>
                </a:solidFill>
                <a:latin typeface="Segoe UI" pitchFamily="34" charset="0"/>
                <a:ea typeface="Segoe UI" pitchFamily="34" charset="-122"/>
                <a:cs typeface="Segoe UI" pitchFamily="34" charset="-120"/>
              </a:rPr>
              <a:t>5432</a:t>
            </a:r>
            <a:endParaRPr lang="en-US" sz="800" dirty="0"/>
          </a:p>
        </p:txBody>
      </p:sp>
      <p:sp>
        <p:nvSpPr>
          <p:cNvPr id="34" name="Text 32"/>
          <p:cNvSpPr/>
          <p:nvPr/>
        </p:nvSpPr>
        <p:spPr>
          <a:xfrm>
            <a:off x="8574634" y="362978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7</a:t>
            </a:r>
            <a:endParaRPr lang="en-US" sz="800" dirty="0"/>
          </a:p>
        </p:txBody>
      </p:sp>
      <p:sp>
        <p:nvSpPr>
          <p:cNvPr id="35" name="Text 33"/>
          <p:cNvSpPr/>
          <p:nvPr/>
        </p:nvSpPr>
        <p:spPr>
          <a:xfrm>
            <a:off x="150860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Deployment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servicio-solicitudes · 1 réplica</a:t>
            </a:r>
            <a:endParaRPr lang="en-US" sz="950" dirty="0"/>
          </a:p>
        </p:txBody>
      </p:sp>
      <p:sp>
        <p:nvSpPr>
          <p:cNvPr id="36" name="Text 34"/>
          <p:cNvSpPr/>
          <p:nvPr/>
        </p:nvSpPr>
        <p:spPr>
          <a:xfrm>
            <a:off x="3966058" y="1708023"/>
            <a:ext cx="163830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ReplicaSet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mantiene la cantidad</a:t>
            </a:r>
            <a:endParaRPr lang="en-US" sz="950" dirty="0"/>
          </a:p>
        </p:txBody>
      </p:sp>
      <p:sp>
        <p:nvSpPr>
          <p:cNvPr id="37" name="Text 35"/>
          <p:cNvSpPr/>
          <p:nvPr/>
        </p:nvSpPr>
        <p:spPr>
          <a:xfrm>
            <a:off x="6259678" y="1708023"/>
            <a:ext cx="196596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ejecuta el contenedor</a:t>
            </a:r>
            <a:endParaRPr lang="en-US" sz="950" dirty="0"/>
          </a:p>
        </p:txBody>
      </p:sp>
      <p:sp>
        <p:nvSpPr>
          <p:cNvPr id="38" name="Text 36"/>
          <p:cNvSpPr/>
          <p:nvPr/>
        </p:nvSpPr>
        <p:spPr>
          <a:xfrm>
            <a:off x="8880958" y="1708023"/>
            <a:ext cx="1802130" cy="622554"/>
          </a:xfrm>
          <a:prstGeom prst="roundRect">
            <a:avLst>
              <a:gd name="adj" fmla="val 14688"/>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NodePort · nombre estable</a:t>
            </a:r>
            <a:endParaRPr lang="en-US" sz="950" dirty="0"/>
          </a:p>
        </p:txBody>
      </p:sp>
      <p:sp>
        <p:nvSpPr>
          <p:cNvPr id="39" name="Text 37"/>
          <p:cNvSpPr/>
          <p:nvPr/>
        </p:nvSpPr>
        <p:spPr>
          <a:xfrm>
            <a:off x="1508608" y="3428238"/>
            <a:ext cx="1802130" cy="622554"/>
          </a:xfrm>
          <a:prstGeom prst="roundRect">
            <a:avLst>
              <a:gd name="adj" fmla="val 14688"/>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Secret</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a:t>
            </a:r>
            <a:endParaRPr lang="en-US" sz="950" dirty="0"/>
          </a:p>
        </p:txBody>
      </p:sp>
      <p:sp>
        <p:nvSpPr>
          <p:cNvPr id="40" name="Text 38"/>
          <p:cNvSpPr/>
          <p:nvPr/>
        </p:nvSpPr>
        <p:spPr>
          <a:xfrm>
            <a:off x="396605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PVC</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arka-postgres-data · 1Gi</a:t>
            </a:r>
            <a:endParaRPr lang="en-US" sz="950" dirty="0"/>
          </a:p>
        </p:txBody>
      </p:sp>
      <p:sp>
        <p:nvSpPr>
          <p:cNvPr id="41" name="Text 39"/>
          <p:cNvSpPr/>
          <p:nvPr/>
        </p:nvSpPr>
        <p:spPr>
          <a:xfrm>
            <a:off x="6259678" y="3428238"/>
            <a:ext cx="196596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Pod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postgres:17</a:t>
            </a:r>
            <a:endParaRPr lang="en-US" sz="950" dirty="0"/>
          </a:p>
        </p:txBody>
      </p:sp>
      <p:sp>
        <p:nvSpPr>
          <p:cNvPr id="42" name="Text 40"/>
          <p:cNvSpPr/>
          <p:nvPr/>
        </p:nvSpPr>
        <p:spPr>
          <a:xfrm>
            <a:off x="8880958" y="3428238"/>
            <a:ext cx="1802130" cy="622554"/>
          </a:xfrm>
          <a:prstGeom prst="roundRect">
            <a:avLst>
              <a:gd name="adj" fmla="val 14688"/>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Service db-solicitudes</a:t>
            </a:r>
            <a:endParaRPr lang="en-US" sz="950" dirty="0"/>
          </a:p>
          <a:p>
            <a:pPr algn="ctr" indent="0" marL="0">
              <a:buNone/>
            </a:pPr>
            <a:r>
              <a:rPr lang="en-US" sz="800" dirty="0">
                <a:solidFill>
                  <a:srgbClr val="55627E"/>
                </a:solidFill>
                <a:latin typeface="Segoe UI" pitchFamily="34" charset="0"/>
                <a:ea typeface="Segoe UI" pitchFamily="34" charset="-122"/>
                <a:cs typeface="Segoe UI" pitchFamily="34" charset="-120"/>
              </a:rPr>
              <a:t>5432</a:t>
            </a:r>
            <a:endParaRPr lang="en-US" sz="95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base guarda sus datos en un disco que sobrevive a los reinicios. Aun así, no es un respaldo.</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aplicación llega a la base por su nombre de Service, no por una dirección fija.</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Puesta a punto: arranque y salud</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Antes de arrancar, espera a sus dependencias</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Readiness: ¿ya puede recibir tráfico?</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Liveness: ¿hay que reiniciarlo?</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Pod muere, Kubernetes crea otro</a:t>
            </a:r>
            <a:endParaRPr lang="en-US" sz="11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3724437"/>
                <a:gridCol w="7241962"/>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Si el Pod está…</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Primera pregunta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Pending</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¿Hay recursos o falta el disco?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ImagePullBackOff</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¿Existe la imagen en el clúster?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CrashLoopBackOff</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¿Qué dicen los logs del contenedor?</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Running, sin Ready</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¿Responde la ruta de salud?</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bl>
          </a:graphicData>
        </a:graphic>
      </p:graphicFrame>
      <p:sp>
        <p:nvSpPr>
          <p:cNvPr id="10" name="Text 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Centralizar los logs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servicio escribe sus logs en JSON</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Promtail los recoge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Loki los guarda</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Grafana permite buscarlos</a:t>
            </a:r>
            <a:endParaRPr lang="en-US" sz="1100" dirty="0"/>
          </a:p>
        </p:txBody>
      </p:sp>
      <p:sp>
        <p:nvSpPr>
          <p:cNvPr id="9" name="Shape 7"/>
          <p:cNvSpPr/>
          <p:nvPr/>
        </p:nvSpPr>
        <p:spPr>
          <a:xfrm>
            <a:off x="2714541" y="3995971"/>
            <a:ext cx="548320" cy="0"/>
          </a:xfrm>
          <a:prstGeom prst="line">
            <a:avLst/>
          </a:prstGeom>
          <a:noFill/>
          <a:ln w="31750">
            <a:solidFill>
              <a:srgbClr val="55627E"/>
            </a:solidFill>
            <a:prstDash val="sysDot"/>
            <a:tailEnd type="triangle"/>
          </a:ln>
        </p:spPr>
      </p:sp>
      <p:sp>
        <p:nvSpPr>
          <p:cNvPr id="10" name="Text 8"/>
          <p:cNvSpPr/>
          <p:nvPr/>
        </p:nvSpPr>
        <p:spPr>
          <a:xfrm>
            <a:off x="2726497" y="375827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11" name="Text 9"/>
          <p:cNvSpPr/>
          <p:nvPr/>
        </p:nvSpPr>
        <p:spPr>
          <a:xfrm>
            <a:off x="2824141"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a:off x="5090594" y="3995971"/>
            <a:ext cx="548320" cy="0"/>
          </a:xfrm>
          <a:prstGeom prst="line">
            <a:avLst/>
          </a:prstGeom>
          <a:noFill/>
          <a:ln w="25400">
            <a:solidFill>
              <a:srgbClr val="55627E"/>
            </a:solidFill>
            <a:prstDash val="dash"/>
            <a:tailEnd type="triangle"/>
          </a:ln>
        </p:spPr>
      </p:sp>
      <p:sp>
        <p:nvSpPr>
          <p:cNvPr id="13" name="Text 11"/>
          <p:cNvSpPr/>
          <p:nvPr/>
        </p:nvSpPr>
        <p:spPr>
          <a:xfrm>
            <a:off x="5201648" y="3758275"/>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4" name="Text 12"/>
          <p:cNvSpPr/>
          <p:nvPr/>
        </p:nvSpPr>
        <p:spPr>
          <a:xfrm>
            <a:off x="5200194"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a:off x="7466648" y="3995971"/>
            <a:ext cx="548320" cy="0"/>
          </a:xfrm>
          <a:prstGeom prst="line">
            <a:avLst/>
          </a:prstGeom>
          <a:noFill/>
          <a:ln w="31750">
            <a:solidFill>
              <a:srgbClr val="2E6DB4"/>
            </a:solidFill>
            <a:prstDash val="solid"/>
            <a:tailEnd type="triangle"/>
          </a:ln>
        </p:spPr>
      </p:sp>
      <p:sp>
        <p:nvSpPr>
          <p:cNvPr id="16" name="Text 14"/>
          <p:cNvSpPr/>
          <p:nvPr/>
        </p:nvSpPr>
        <p:spPr>
          <a:xfrm>
            <a:off x="7544669" y="3758275"/>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7" name="Text 15"/>
          <p:cNvSpPr/>
          <p:nvPr/>
        </p:nvSpPr>
        <p:spPr>
          <a:xfrm>
            <a:off x="7576247"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Shape 16"/>
          <p:cNvSpPr/>
          <p:nvPr/>
        </p:nvSpPr>
        <p:spPr>
          <a:xfrm flipH="1">
            <a:off x="9477154" y="3995971"/>
            <a:ext cx="456933" cy="0"/>
          </a:xfrm>
          <a:prstGeom prst="line">
            <a:avLst/>
          </a:prstGeom>
          <a:noFill/>
          <a:ln w="31750">
            <a:solidFill>
              <a:srgbClr val="2E6DB4"/>
            </a:solidFill>
            <a:prstDash val="solid"/>
            <a:tailEnd type="triangle"/>
          </a:ln>
        </p:spPr>
      </p:sp>
      <p:sp>
        <p:nvSpPr>
          <p:cNvPr id="19" name="Text 17"/>
          <p:cNvSpPr/>
          <p:nvPr/>
        </p:nvSpPr>
        <p:spPr>
          <a:xfrm>
            <a:off x="9377351" y="3758275"/>
            <a:ext cx="65653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consulta</a:t>
            </a:r>
            <a:endParaRPr lang="en-US" sz="850" dirty="0"/>
          </a:p>
        </p:txBody>
      </p:sp>
      <p:sp>
        <p:nvSpPr>
          <p:cNvPr id="20" name="Text 18"/>
          <p:cNvSpPr/>
          <p:nvPr/>
        </p:nvSpPr>
        <p:spPr>
          <a:xfrm>
            <a:off x="9605031"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1" name="Text 19"/>
          <p:cNvSpPr/>
          <p:nvPr/>
        </p:nvSpPr>
        <p:spPr>
          <a:xfrm>
            <a:off x="886808" y="3612147"/>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22" name="Text 20"/>
          <p:cNvSpPr/>
          <p:nvPr/>
        </p:nvSpPr>
        <p:spPr>
          <a:xfrm>
            <a:off x="3262861" y="3612147"/>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23" name="Text 21"/>
          <p:cNvSpPr/>
          <p:nvPr/>
        </p:nvSpPr>
        <p:spPr>
          <a:xfrm>
            <a:off x="5638914" y="3612147"/>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4" name="Text 22"/>
          <p:cNvSpPr/>
          <p:nvPr/>
        </p:nvSpPr>
        <p:spPr>
          <a:xfrm>
            <a:off x="8014967" y="3612147"/>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5" name="Text 23"/>
          <p:cNvSpPr/>
          <p:nvPr/>
        </p:nvSpPr>
        <p:spPr>
          <a:xfrm>
            <a:off x="9934087" y="3612147"/>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6" name="Text 24"/>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44450">
            <a:solidFill>
              <a:srgbClr val="2BA6CB"/>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C7D2E2"/>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C7D2E2"/>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4" name="Text 2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escribe sus logs en formato JSON.</a:t>
            </a:r>
            <a:endParaRPr lang="en-US" sz="1300" dirty="0"/>
          </a:p>
        </p:txBody>
      </p:sp>
      <p:sp>
        <p:nvSpPr>
          <p:cNvPr id="25" name="Shape 2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7" name="Text 2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Docker guarda lo que escribe cada contenedor.</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55627E"/>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38100">
            <a:solidFill>
              <a:srgbClr val="2BA6CB"/>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44450">
            <a:solidFill>
              <a:srgbClr val="2BA6CB"/>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31750">
            <a:solidFill>
              <a:srgbClr val="C7D2E2"/>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4" name="Text 22"/>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Promtail recoge esos logs de todos los contenedores.</a:t>
            </a:r>
            <a:endParaRPr lang="en-US" sz="1300" dirty="0"/>
          </a:p>
        </p:txBody>
      </p:sp>
      <p:sp>
        <p:nvSpPr>
          <p:cNvPr id="25" name="Shape 23"/>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26" name="Text 24"/>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7" name="Text 25"/>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Loki los guarda y permite buscarlos.</a:t>
            </a:r>
            <a:endParaRPr lang="en-US" sz="1300" dirty="0"/>
          </a:p>
        </p:txBody>
      </p:sp>
      <p:sp>
        <p:nvSpPr>
          <p:cNvPr id="28" name="Text 2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los logs</a:t>
            </a:r>
            <a:endParaRPr lang="en-US" sz="2800" dirty="0"/>
          </a:p>
        </p:txBody>
      </p:sp>
      <p:sp>
        <p:nvSpPr>
          <p:cNvPr id="5" name="Shape 3"/>
          <p:cNvSpPr/>
          <p:nvPr/>
        </p:nvSpPr>
        <p:spPr>
          <a:xfrm>
            <a:off x="2714541" y="3191299"/>
            <a:ext cx="548320" cy="0"/>
          </a:xfrm>
          <a:prstGeom prst="line">
            <a:avLst/>
          </a:prstGeom>
          <a:noFill/>
          <a:ln w="31750">
            <a:solidFill>
              <a:srgbClr val="55627E"/>
            </a:solidFill>
            <a:prstDash val="sysDot"/>
            <a:tailEnd type="triangle"/>
          </a:ln>
        </p:spPr>
      </p:sp>
      <p:sp>
        <p:nvSpPr>
          <p:cNvPr id="6" name="Text 4"/>
          <p:cNvSpPr/>
          <p:nvPr/>
        </p:nvSpPr>
        <p:spPr>
          <a:xfrm>
            <a:off x="2726497"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stdout</a:t>
            </a:r>
            <a:endParaRPr lang="en-US" sz="850" dirty="0"/>
          </a:p>
        </p:txBody>
      </p:sp>
      <p:sp>
        <p:nvSpPr>
          <p:cNvPr id="7" name="Text 5"/>
          <p:cNvSpPr/>
          <p:nvPr/>
        </p:nvSpPr>
        <p:spPr>
          <a:xfrm>
            <a:off x="282414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a:off x="5090594" y="3191299"/>
            <a:ext cx="548320" cy="0"/>
          </a:xfrm>
          <a:prstGeom prst="line">
            <a:avLst/>
          </a:prstGeom>
          <a:noFill/>
          <a:ln w="25400">
            <a:solidFill>
              <a:srgbClr val="55627E"/>
            </a:solidFill>
            <a:prstDash val="dash"/>
            <a:tailEnd type="triangle"/>
          </a:ln>
        </p:spPr>
      </p:sp>
      <p:sp>
        <p:nvSpPr>
          <p:cNvPr id="9" name="Text 7"/>
          <p:cNvSpPr/>
          <p:nvPr/>
        </p:nvSpPr>
        <p:spPr>
          <a:xfrm>
            <a:off x="5201648" y="2953603"/>
            <a:ext cx="326212"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lee</a:t>
            </a:r>
            <a:endParaRPr lang="en-US" sz="850" dirty="0"/>
          </a:p>
        </p:txBody>
      </p:sp>
      <p:sp>
        <p:nvSpPr>
          <p:cNvPr id="10" name="Text 8"/>
          <p:cNvSpPr/>
          <p:nvPr/>
        </p:nvSpPr>
        <p:spPr>
          <a:xfrm>
            <a:off x="5200194"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a:off x="7466648" y="3191299"/>
            <a:ext cx="548320" cy="0"/>
          </a:xfrm>
          <a:prstGeom prst="line">
            <a:avLst/>
          </a:prstGeom>
          <a:noFill/>
          <a:ln w="31750">
            <a:solidFill>
              <a:srgbClr val="2E6DB4"/>
            </a:solidFill>
            <a:prstDash val="solid"/>
            <a:tailEnd type="triangle"/>
          </a:ln>
        </p:spPr>
      </p:sp>
      <p:sp>
        <p:nvSpPr>
          <p:cNvPr id="12" name="Text 10"/>
          <p:cNvSpPr/>
          <p:nvPr/>
        </p:nvSpPr>
        <p:spPr>
          <a:xfrm>
            <a:off x="7544669" y="2953603"/>
            <a:ext cx="39227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push</a:t>
            </a:r>
            <a:endParaRPr lang="en-US" sz="850" dirty="0"/>
          </a:p>
        </p:txBody>
      </p:sp>
      <p:sp>
        <p:nvSpPr>
          <p:cNvPr id="13" name="Text 11"/>
          <p:cNvSpPr/>
          <p:nvPr/>
        </p:nvSpPr>
        <p:spPr>
          <a:xfrm>
            <a:off x="7576247" y="3081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Shape 12"/>
          <p:cNvSpPr/>
          <p:nvPr/>
        </p:nvSpPr>
        <p:spPr>
          <a:xfrm flipH="1">
            <a:off x="9477154" y="3191299"/>
            <a:ext cx="456933" cy="0"/>
          </a:xfrm>
          <a:prstGeom prst="line">
            <a:avLst/>
          </a:prstGeom>
          <a:noFill/>
          <a:ln w="44450">
            <a:solidFill>
              <a:srgbClr val="2BA6CB"/>
            </a:solidFill>
            <a:prstDash val="solid"/>
            <a:tailEnd type="triangle"/>
          </a:ln>
        </p:spPr>
      </p:sp>
      <p:sp>
        <p:nvSpPr>
          <p:cNvPr id="15" name="Text 13"/>
          <p:cNvSpPr/>
          <p:nvPr/>
        </p:nvSpPr>
        <p:spPr>
          <a:xfrm>
            <a:off x="9377351" y="2953603"/>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consulta</a:t>
            </a:r>
            <a:endParaRPr lang="en-US" sz="850" dirty="0"/>
          </a:p>
        </p:txBody>
      </p:sp>
      <p:sp>
        <p:nvSpPr>
          <p:cNvPr id="16" name="Text 14"/>
          <p:cNvSpPr/>
          <p:nvPr/>
        </p:nvSpPr>
        <p:spPr>
          <a:xfrm>
            <a:off x="960503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17" name="Text 15"/>
          <p:cNvSpPr/>
          <p:nvPr/>
        </p:nvSpPr>
        <p:spPr>
          <a:xfrm>
            <a:off x="886808"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Aplicación Spring</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logs ECS en la consola</a:t>
            </a:r>
            <a:endParaRPr lang="en-US" sz="1100" dirty="0"/>
          </a:p>
        </p:txBody>
      </p:sp>
      <p:sp>
        <p:nvSpPr>
          <p:cNvPr id="18" name="Text 16"/>
          <p:cNvSpPr/>
          <p:nvPr/>
        </p:nvSpPr>
        <p:spPr>
          <a:xfrm>
            <a:off x="3262861" y="2807475"/>
            <a:ext cx="1827733" cy="767648"/>
          </a:xfrm>
          <a:prstGeom prst="roundRect">
            <a:avLst>
              <a:gd name="adj" fmla="val 11912"/>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Salida del contenedor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 la conserva</a:t>
            </a:r>
            <a:endParaRPr lang="en-US" sz="1100" dirty="0"/>
          </a:p>
        </p:txBody>
      </p:sp>
      <p:sp>
        <p:nvSpPr>
          <p:cNvPr id="19" name="Text 17"/>
          <p:cNvSpPr/>
          <p:nvPr/>
        </p:nvSpPr>
        <p:spPr>
          <a:xfrm>
            <a:off x="5638914" y="2807475"/>
            <a:ext cx="1827733"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Promtail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docker_sd_configs</a:t>
            </a:r>
            <a:endParaRPr lang="en-US" sz="1100" dirty="0"/>
          </a:p>
        </p:txBody>
      </p:sp>
      <p:sp>
        <p:nvSpPr>
          <p:cNvPr id="20" name="Text 18"/>
          <p:cNvSpPr/>
          <p:nvPr/>
        </p:nvSpPr>
        <p:spPr>
          <a:xfrm>
            <a:off x="8014967" y="2807475"/>
            <a:ext cx="146218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Loki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:3100</a:t>
            </a:r>
            <a:endParaRPr lang="en-US" sz="1100" dirty="0"/>
          </a:p>
        </p:txBody>
      </p:sp>
      <p:sp>
        <p:nvSpPr>
          <p:cNvPr id="21" name="Text 19"/>
          <p:cNvSpPr/>
          <p:nvPr/>
        </p:nvSpPr>
        <p:spPr>
          <a:xfrm>
            <a:off x="9934087" y="2807475"/>
            <a:ext cx="146218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Loki: a mano</a:t>
            </a:r>
            <a:endParaRPr lang="en-US" sz="1100" dirty="0"/>
          </a:p>
        </p:txBody>
      </p:sp>
      <p:sp>
        <p:nvSpPr>
          <p:cNvPr id="22" name="Shape 20"/>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23" name="Text 21"/>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 22"/>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muestra los logs y deja filtrarlos, por ejemplo, por número de evento.</a:t>
            </a:r>
            <a:endParaRPr lang="en-US" sz="1300" dirty="0"/>
          </a:p>
        </p:txBody>
      </p:sp>
      <p:sp>
        <p:nvSpPr>
          <p:cNvPr id="25" name="Text 23"/>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Salud y monitoreo</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Actuator expone la salud de cada servicio</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Revisa, por ejemplo, la conexión con la base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Kubernetes y la UI la consultan</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UP no garantiza que todos los avisos llegaron</a:t>
            </a:r>
            <a:endParaRPr lang="en-US" sz="1100" dirty="0"/>
          </a:p>
        </p:txBody>
      </p:sp>
      <p:sp>
        <p:nvSpPr>
          <p:cNvPr id="9" name="Shape 7"/>
          <p:cNvSpPr/>
          <p:nvPr/>
        </p:nvSpPr>
        <p:spPr>
          <a:xfrm>
            <a:off x="2988701" y="3995971"/>
            <a:ext cx="639707" cy="0"/>
          </a:xfrm>
          <a:prstGeom prst="line">
            <a:avLst/>
          </a:prstGeom>
          <a:noFill/>
          <a:ln w="31750">
            <a:solidFill>
              <a:srgbClr val="55627E"/>
            </a:solidFill>
            <a:prstDash val="sysDot"/>
            <a:tailEnd type="triangle"/>
          </a:ln>
        </p:spPr>
      </p:sp>
      <p:sp>
        <p:nvSpPr>
          <p:cNvPr id="10" name="Text 8"/>
          <p:cNvSpPr/>
          <p:nvPr/>
        </p:nvSpPr>
        <p:spPr>
          <a:xfrm>
            <a:off x="3046350" y="3758275"/>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11" name="Text 9"/>
          <p:cNvSpPr/>
          <p:nvPr/>
        </p:nvSpPr>
        <p:spPr>
          <a:xfrm>
            <a:off x="3098301" y="3886243"/>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2" name="Shape 10"/>
          <p:cNvSpPr/>
          <p:nvPr/>
        </p:nvSpPr>
        <p:spPr>
          <a:xfrm flipH="1">
            <a:off x="5821688" y="3995971"/>
            <a:ext cx="822480" cy="0"/>
          </a:xfrm>
          <a:prstGeom prst="line">
            <a:avLst/>
          </a:prstGeom>
          <a:noFill/>
          <a:ln w="31750">
            <a:solidFill>
              <a:srgbClr val="2E6DB4"/>
            </a:solidFill>
            <a:prstDash val="solid"/>
            <a:tailEnd type="triangle"/>
          </a:ln>
        </p:spPr>
      </p:sp>
      <p:sp>
        <p:nvSpPr>
          <p:cNvPr id="13" name="Text 11"/>
          <p:cNvSpPr/>
          <p:nvPr/>
        </p:nvSpPr>
        <p:spPr>
          <a:xfrm>
            <a:off x="5970723" y="3758275"/>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4" name="Text 12"/>
          <p:cNvSpPr/>
          <p:nvPr/>
        </p:nvSpPr>
        <p:spPr>
          <a:xfrm>
            <a:off x="6315112"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5" name="Shape 13"/>
          <p:cNvSpPr/>
          <p:nvPr/>
        </p:nvSpPr>
        <p:spPr>
          <a:xfrm flipH="1">
            <a:off x="8654674" y="3995971"/>
            <a:ext cx="639707" cy="0"/>
          </a:xfrm>
          <a:prstGeom prst="line">
            <a:avLst/>
          </a:prstGeom>
          <a:noFill/>
          <a:ln w="31750">
            <a:solidFill>
              <a:srgbClr val="2E6DB4"/>
            </a:solidFill>
            <a:prstDash val="solid"/>
            <a:tailEnd type="triangle"/>
          </a:ln>
        </p:spPr>
      </p:sp>
      <p:sp>
        <p:nvSpPr>
          <p:cNvPr id="16" name="Text 14"/>
          <p:cNvSpPr/>
          <p:nvPr/>
        </p:nvSpPr>
        <p:spPr>
          <a:xfrm>
            <a:off x="8646258" y="3758275"/>
            <a:ext cx="656539"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consulta</a:t>
            </a:r>
            <a:endParaRPr lang="en-US" sz="850" dirty="0"/>
          </a:p>
        </p:txBody>
      </p:sp>
      <p:sp>
        <p:nvSpPr>
          <p:cNvPr id="17" name="Text 15"/>
          <p:cNvSpPr/>
          <p:nvPr/>
        </p:nvSpPr>
        <p:spPr>
          <a:xfrm>
            <a:off x="8965325" y="3886243"/>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8" name="Text 16"/>
          <p:cNvSpPr/>
          <p:nvPr/>
        </p:nvSpPr>
        <p:spPr>
          <a:xfrm>
            <a:off x="978195" y="3612147"/>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9" name="Text 17"/>
          <p:cNvSpPr/>
          <p:nvPr/>
        </p:nvSpPr>
        <p:spPr>
          <a:xfrm>
            <a:off x="3628408" y="3612147"/>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20" name="Text 18"/>
          <p:cNvSpPr/>
          <p:nvPr/>
        </p:nvSpPr>
        <p:spPr>
          <a:xfrm>
            <a:off x="6644168" y="3612147"/>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21" name="Text 19"/>
          <p:cNvSpPr/>
          <p:nvPr/>
        </p:nvSpPr>
        <p:spPr>
          <a:xfrm>
            <a:off x="9294381" y="3612147"/>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22" name="Text 2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44450">
            <a:solidFill>
              <a:srgbClr val="2BA6CB"/>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31750">
            <a:solidFill>
              <a:srgbClr val="C7D2E2"/>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31750">
            <a:solidFill>
              <a:srgbClr val="C7D2E2"/>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20" name="Text 18"/>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Cada servicio mide cosas como cuántas peticiones recibe.</a:t>
            </a:r>
            <a:endParaRPr lang="en-US" sz="1300" dirty="0"/>
          </a:p>
        </p:txBody>
      </p:sp>
      <p:sp>
        <p:nvSpPr>
          <p:cNvPr id="21" name="Shape 19"/>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22" name="Text 20"/>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23" name="Text 21"/>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Actuator expone esas mediciones y también la salud del servicio.</a:t>
            </a:r>
            <a:endParaRPr lang="en-US" sz="1300" dirty="0"/>
          </a:p>
        </p:txBody>
      </p:sp>
      <p:sp>
        <p:nvSpPr>
          <p:cNvPr id="24" name="Text 22"/>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31750">
            <a:solidFill>
              <a:srgbClr val="55627E"/>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44450">
            <a:solidFill>
              <a:srgbClr val="2BA6CB"/>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31750">
            <a:solidFill>
              <a:srgbClr val="C7D2E2"/>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Un servidor Prometheus las guardaría en el tiempo. Hoy queda pendiente.</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6 · DESPLEGAR Y OPERAR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Recorrido de las métricas</a:t>
            </a:r>
            <a:endParaRPr lang="en-US" sz="2800" dirty="0"/>
          </a:p>
        </p:txBody>
      </p:sp>
      <p:sp>
        <p:nvSpPr>
          <p:cNvPr id="5" name="Shape 3"/>
          <p:cNvSpPr/>
          <p:nvPr/>
        </p:nvSpPr>
        <p:spPr>
          <a:xfrm>
            <a:off x="2988701" y="3191299"/>
            <a:ext cx="639707" cy="0"/>
          </a:xfrm>
          <a:prstGeom prst="line">
            <a:avLst/>
          </a:prstGeom>
          <a:noFill/>
          <a:ln w="31750">
            <a:solidFill>
              <a:srgbClr val="55627E"/>
            </a:solidFill>
            <a:prstDash val="sysDot"/>
            <a:tailEnd type="triangle"/>
          </a:ln>
        </p:spPr>
      </p:sp>
      <p:sp>
        <p:nvSpPr>
          <p:cNvPr id="6" name="Text 4"/>
          <p:cNvSpPr/>
          <p:nvPr/>
        </p:nvSpPr>
        <p:spPr>
          <a:xfrm>
            <a:off x="3046350" y="295360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expone</a:t>
            </a:r>
            <a:endParaRPr lang="en-US" sz="850" dirty="0"/>
          </a:p>
        </p:txBody>
      </p:sp>
      <p:sp>
        <p:nvSpPr>
          <p:cNvPr id="7" name="Text 5"/>
          <p:cNvSpPr/>
          <p:nvPr/>
        </p:nvSpPr>
        <p:spPr>
          <a:xfrm>
            <a:off x="3098301" y="308157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8" name="Shape 6"/>
          <p:cNvSpPr/>
          <p:nvPr/>
        </p:nvSpPr>
        <p:spPr>
          <a:xfrm flipH="1">
            <a:off x="5821688" y="3191299"/>
            <a:ext cx="822480" cy="0"/>
          </a:xfrm>
          <a:prstGeom prst="line">
            <a:avLst/>
          </a:prstGeom>
          <a:noFill/>
          <a:ln w="31750">
            <a:solidFill>
              <a:srgbClr val="2E6DB4"/>
            </a:solidFill>
            <a:prstDash val="solid"/>
            <a:tailEnd type="triangle"/>
          </a:ln>
        </p:spPr>
      </p:sp>
      <p:sp>
        <p:nvSpPr>
          <p:cNvPr id="9" name="Text 7"/>
          <p:cNvSpPr/>
          <p:nvPr/>
        </p:nvSpPr>
        <p:spPr>
          <a:xfrm>
            <a:off x="5970723" y="2953603"/>
            <a:ext cx="524408"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recoge</a:t>
            </a:r>
            <a:endParaRPr lang="en-US" sz="850" dirty="0"/>
          </a:p>
        </p:txBody>
      </p:sp>
      <p:sp>
        <p:nvSpPr>
          <p:cNvPr id="10" name="Text 8"/>
          <p:cNvSpPr/>
          <p:nvPr/>
        </p:nvSpPr>
        <p:spPr>
          <a:xfrm>
            <a:off x="6315112" y="308157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1" name="Shape 9"/>
          <p:cNvSpPr/>
          <p:nvPr/>
        </p:nvSpPr>
        <p:spPr>
          <a:xfrm flipH="1">
            <a:off x="8654674" y="3191299"/>
            <a:ext cx="639707" cy="0"/>
          </a:xfrm>
          <a:prstGeom prst="line">
            <a:avLst/>
          </a:prstGeom>
          <a:noFill/>
          <a:ln w="44450">
            <a:solidFill>
              <a:srgbClr val="2BA6CB"/>
            </a:solidFill>
            <a:prstDash val="solid"/>
            <a:tailEnd type="triangle"/>
          </a:ln>
        </p:spPr>
      </p:sp>
      <p:sp>
        <p:nvSpPr>
          <p:cNvPr id="12" name="Text 10"/>
          <p:cNvSpPr/>
          <p:nvPr/>
        </p:nvSpPr>
        <p:spPr>
          <a:xfrm>
            <a:off x="8646258" y="2953603"/>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consulta</a:t>
            </a:r>
            <a:endParaRPr lang="en-US" sz="850" dirty="0"/>
          </a:p>
        </p:txBody>
      </p:sp>
      <p:sp>
        <p:nvSpPr>
          <p:cNvPr id="13" name="Text 11"/>
          <p:cNvSpPr/>
          <p:nvPr/>
        </p:nvSpPr>
        <p:spPr>
          <a:xfrm>
            <a:off x="8965325" y="3081571"/>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4" name="Text 12"/>
          <p:cNvSpPr/>
          <p:nvPr/>
        </p:nvSpPr>
        <p:spPr>
          <a:xfrm>
            <a:off x="978195" y="2807475"/>
            <a:ext cx="2010507"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Micrometer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mediciones dentro de la app</a:t>
            </a:r>
            <a:endParaRPr lang="en-US" sz="1100" dirty="0"/>
          </a:p>
        </p:txBody>
      </p:sp>
      <p:sp>
        <p:nvSpPr>
          <p:cNvPr id="15" name="Text 13"/>
          <p:cNvSpPr/>
          <p:nvPr/>
        </p:nvSpPr>
        <p:spPr>
          <a:xfrm>
            <a:off x="3628408" y="2807475"/>
            <a:ext cx="2193280" cy="767648"/>
          </a:xfrm>
          <a:prstGeom prst="roundRect">
            <a:avLst>
              <a:gd name="adj" fmla="val 11912"/>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Actuator</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/actuator/prometheus · /health</a:t>
            </a:r>
            <a:endParaRPr lang="en-US" sz="1100" dirty="0"/>
          </a:p>
        </p:txBody>
      </p:sp>
      <p:sp>
        <p:nvSpPr>
          <p:cNvPr id="16" name="Text 14"/>
          <p:cNvSpPr/>
          <p:nvPr/>
        </p:nvSpPr>
        <p:spPr>
          <a:xfrm>
            <a:off x="6644168" y="2807475"/>
            <a:ext cx="2010507" cy="767648"/>
          </a:xfrm>
          <a:prstGeom prst="roundRect">
            <a:avLst>
              <a:gd name="adj" fmla="val 11912"/>
            </a:avLst>
          </a:prstGeom>
          <a:solidFill>
            <a:srgbClr val="FFFFFF"/>
          </a:solidFill>
          <a:ln w="15875">
            <a:solidFill>
              <a:srgbClr val="55627E"/>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Prometheus</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no está en Compose</a:t>
            </a:r>
            <a:endParaRPr lang="en-US" sz="1100" dirty="0"/>
          </a:p>
        </p:txBody>
      </p:sp>
      <p:sp>
        <p:nvSpPr>
          <p:cNvPr id="17" name="Text 15"/>
          <p:cNvSpPr/>
          <p:nvPr/>
        </p:nvSpPr>
        <p:spPr>
          <a:xfrm>
            <a:off x="9294381" y="2807475"/>
            <a:ext cx="2010507" cy="767648"/>
          </a:xfrm>
          <a:prstGeom prst="roundRect">
            <a:avLst>
              <a:gd name="adj" fmla="val 11912"/>
            </a:avLst>
          </a:prstGeom>
          <a:solidFill>
            <a:srgbClr val="E3F4FA"/>
          </a:solidFill>
          <a:ln w="31750">
            <a:solidFill>
              <a:srgbClr val="2BA6CB"/>
            </a:solidFill>
            <a:prstDash val="dash"/>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Grafana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fuente Prometheus pendiente</a:t>
            </a:r>
            <a:endParaRPr lang="en-US" sz="1100" dirty="0"/>
          </a:p>
        </p:txBody>
      </p:sp>
      <p:sp>
        <p:nvSpPr>
          <p:cNvPr id="18" name="Shape 16"/>
          <p:cNvSpPr/>
          <p:nvPr/>
        </p:nvSpPr>
        <p:spPr>
          <a:xfrm>
            <a:off x="612648" y="5376672"/>
            <a:ext cx="10966399" cy="914400"/>
          </a:xfrm>
          <a:prstGeom prst="roundRect">
            <a:avLst>
              <a:gd name="adj" fmla="val 10000"/>
            </a:avLst>
          </a:prstGeom>
          <a:solidFill>
            <a:srgbClr val="E3F4FA"/>
          </a:solidFill>
          <a:ln w="12700">
            <a:solidFill>
              <a:srgbClr val="2BA6CB"/>
            </a:solidFill>
            <a:prstDash val="solid"/>
          </a:ln>
        </p:spPr>
      </p:sp>
      <p:sp>
        <p:nvSpPr>
          <p:cNvPr id="19" name="Text 17"/>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0" name="Text 18"/>
          <p:cNvSpPr/>
          <p:nvPr/>
        </p:nvSpPr>
        <p:spPr>
          <a:xfrm>
            <a:off x="1271016" y="5413248"/>
            <a:ext cx="10189159"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Grafana las mostraría en gráficos. También queda pendiente.</a:t>
            </a:r>
            <a:endParaRPr lang="en-US" sz="1300" dirty="0"/>
          </a:p>
        </p:txBody>
      </p:sp>
      <p:sp>
        <p:nvSpPr>
          <p:cNvPr id="21" name="Text 19"/>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6 · DESPLEGAR Y OPERAR</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2350"/>
        </a:solidFill>
      </p:bgPr>
    </p:bg>
    <p:spTree>
      <p:nvGrpSpPr>
        <p:cNvPr id="1" name=""/>
        <p:cNvGrpSpPr/>
        <p:nvPr/>
      </p:nvGrpSpPr>
      <p:grpSpPr>
        <a:xfrm>
          <a:off x="0" y="0"/>
          <a:ext cx="0" cy="0"/>
          <a:chOff x="0" y="0"/>
          <a:chExt cx="0" cy="0"/>
        </a:xfrm>
      </p:grpSpPr>
      <p:sp>
        <p:nvSpPr>
          <p:cNvPr id="2" name="Text 0"/>
          <p:cNvSpPr/>
          <p:nvPr/>
        </p:nvSpPr>
        <p:spPr>
          <a:xfrm>
            <a:off x="758952" y="566928"/>
            <a:ext cx="4572000" cy="274320"/>
          </a:xfrm>
          <a:prstGeom prst="rect">
            <a:avLst/>
          </a:prstGeom>
          <a:noFill/>
          <a:ln/>
        </p:spPr>
        <p:txBody>
          <a:bodyPr wrap="square" lIns="0" tIns="0" rIns="0" bIns="0" rtlCol="0" anchor="ctr"/>
          <a:lstStyle/>
          <a:p>
            <a:pPr indent="0" marL="0">
              <a:buNone/>
            </a:pPr>
            <a:r>
              <a:rPr lang="en-US" sz="1200" b="1" spc="300" kern="0" dirty="0">
                <a:solidFill>
                  <a:srgbClr val="2BA6CB"/>
                </a:solidFill>
                <a:latin typeface="Segoe UI" pitchFamily="34" charset="0"/>
                <a:ea typeface="Segoe UI" pitchFamily="34" charset="-122"/>
                <a:cs typeface="Segoe UI" pitchFamily="34" charset="-120"/>
              </a:rPr>
              <a:t>PARTE 7 DE 7</a:t>
            </a:r>
            <a:endParaRPr lang="en-US" sz="1200" dirty="0"/>
          </a:p>
        </p:txBody>
      </p:sp>
      <p:sp>
        <p:nvSpPr>
          <p:cNvPr id="3" name="Text 1"/>
          <p:cNvSpPr/>
          <p:nvPr/>
        </p:nvSpPr>
        <p:spPr>
          <a:xfrm>
            <a:off x="566928" y="786384"/>
            <a:ext cx="4572000" cy="2103120"/>
          </a:xfrm>
          <a:prstGeom prst="rect">
            <a:avLst/>
          </a:prstGeom>
          <a:noFill/>
          <a:ln/>
        </p:spPr>
        <p:txBody>
          <a:bodyPr wrap="square" lIns="0" tIns="0" rIns="0" bIns="0" rtlCol="0" anchor="ctr"/>
          <a:lstStyle/>
          <a:p>
            <a:pPr indent="0" marL="0">
              <a:buNone/>
            </a:pPr>
            <a:r>
              <a:rPr lang="en-US" sz="15000" b="1" dirty="0">
                <a:solidFill>
                  <a:srgbClr val="2B4067"/>
                </a:solidFill>
                <a:latin typeface="Segoe UI Semibold" pitchFamily="34" charset="0"/>
                <a:ea typeface="Segoe UI Semibold" pitchFamily="34" charset="-122"/>
                <a:cs typeface="Segoe UI Semibold" pitchFamily="34" charset="-120"/>
              </a:rPr>
              <a:t>07</a:t>
            </a:r>
            <a:endParaRPr lang="en-US" sz="15000" dirty="0"/>
          </a:p>
        </p:txBody>
      </p:sp>
      <p:sp>
        <p:nvSpPr>
          <p:cNvPr id="4" name="Text 2"/>
          <p:cNvSpPr/>
          <p:nvPr/>
        </p:nvSpPr>
        <p:spPr>
          <a:xfrm>
            <a:off x="758952" y="2788920"/>
            <a:ext cx="10058400" cy="82296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Segoe UI Semibold" pitchFamily="34" charset="0"/>
                <a:ea typeface="Segoe UI Semibold" pitchFamily="34" charset="-122"/>
                <a:cs typeface="Segoe UI Semibold" pitchFamily="34" charset="-120"/>
              </a:rPr>
              <a:t>Ensamblaje: la UI</a:t>
            </a:r>
            <a:endParaRPr lang="en-US" sz="4400" dirty="0"/>
          </a:p>
        </p:txBody>
      </p:sp>
      <p:sp>
        <p:nvSpPr>
          <p:cNvPr id="5" name="Text 3"/>
          <p:cNvSpPr/>
          <p:nvPr/>
        </p:nvSpPr>
        <p:spPr>
          <a:xfrm>
            <a:off x="758952" y="3611880"/>
            <a:ext cx="9692640" cy="685800"/>
          </a:xfrm>
          <a:prstGeom prst="rect">
            <a:avLst/>
          </a:prstGeom>
          <a:noFill/>
          <a:ln/>
        </p:spPr>
        <p:txBody>
          <a:bodyPr wrap="square" lIns="0" tIns="0" rIns="0" bIns="0" rtlCol="0" anchor="t"/>
          <a:lstStyle/>
          <a:p>
            <a:pPr indent="0" marL="0">
              <a:buNone/>
            </a:pPr>
            <a:r>
              <a:rPr lang="en-US" sz="1900" dirty="0">
                <a:solidFill>
                  <a:srgbClr val="9FBEE0"/>
                </a:solidFill>
                <a:latin typeface="Segoe UI" pitchFamily="34" charset="0"/>
                <a:ea typeface="Segoe UI" pitchFamily="34" charset="-122"/>
                <a:cs typeface="Segoe UI" pitchFamily="34" charset="-120"/>
              </a:rPr>
              <a:t>La interfaz que junta los dos servicios y permite comprobar, en vivo, todo lo anterior.</a:t>
            </a:r>
            <a:endParaRPr lang="en-US" sz="1900" dirty="0"/>
          </a:p>
        </p:txBody>
      </p:sp>
      <p:sp>
        <p:nvSpPr>
          <p:cNvPr id="6" name="Text 4"/>
          <p:cNvSpPr/>
          <p:nvPr/>
        </p:nvSpPr>
        <p:spPr>
          <a:xfrm>
            <a:off x="758952" y="4617720"/>
            <a:ext cx="2569464"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Ensamblaje del sistema</a:t>
            </a:r>
            <a:endParaRPr lang="en-US" sz="1300" dirty="0"/>
          </a:p>
        </p:txBody>
      </p:sp>
      <p:sp>
        <p:nvSpPr>
          <p:cNvPr id="7" name="Text 5"/>
          <p:cNvSpPr/>
          <p:nvPr/>
        </p:nvSpPr>
        <p:spPr>
          <a:xfrm>
            <a:off x="3456432" y="4617720"/>
            <a:ext cx="1801368" cy="384048"/>
          </a:xfrm>
          <a:prstGeom prst="roundRect">
            <a:avLst>
              <a:gd name="adj" fmla="val 50000"/>
            </a:avLst>
          </a:prstGeom>
          <a:solidFill>
            <a:srgbClr val="2B4067"/>
          </a:solidFill>
          <a:ln>
            <a:solidFill>
              <a:srgbClr val="2B4067"/>
            </a:solidFill>
          </a:ln>
        </p:spPr>
        <p:txBody>
          <a:bodyPr wrap="square" lIns="25400" tIns="25400" rIns="25400" bIns="2540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Puesta a punto</a:t>
            </a:r>
            <a:endParaRPr lang="en-US" sz="1300" dirty="0"/>
          </a:p>
        </p:txBody>
      </p:sp>
      <p:sp>
        <p:nvSpPr>
          <p:cNvPr id="8" name="Text 6"/>
          <p:cNvSpPr/>
          <p:nvPr/>
        </p:nvSpPr>
        <p:spPr>
          <a:xfrm>
            <a:off x="758952" y="5943600"/>
            <a:ext cx="365760" cy="365760"/>
          </a:xfrm>
          <a:prstGeom prst="ellipse">
            <a:avLst/>
          </a:prstGeom>
          <a:solidFill>
            <a:srgbClr val="2BA6CB"/>
          </a:solidFill>
          <a:ln>
            <a:solidFill>
              <a:srgbClr val="2BA6CB"/>
            </a:solidFill>
          </a:ln>
        </p:spPr>
        <p:txBody>
          <a:bodyPr wrap="square" lIns="0" tIns="0" rIns="0" bIns="0" rtlCol="0" anchor="ctr"/>
          <a:lstStyle/>
          <a:p>
            <a:pPr algn="ctr" indent="0" marL="0">
              <a:buNone/>
            </a:pPr>
            <a:r>
              <a:rPr lang="en-US" sz="1000" b="1" dirty="0">
                <a:solidFill>
                  <a:srgbClr val="0B1F3A"/>
                </a:solidFill>
                <a:latin typeface="Segoe UI" pitchFamily="34" charset="0"/>
                <a:ea typeface="Segoe UI" pitchFamily="34" charset="-122"/>
                <a:cs typeface="Segoe UI" pitchFamily="34" charset="-120"/>
              </a:rPr>
              <a:t>P7</a:t>
            </a:r>
            <a:endParaRPr lang="en-US" sz="1000" dirty="0"/>
          </a:p>
        </p:txBody>
      </p:sp>
      <p:sp>
        <p:nvSpPr>
          <p:cNvPr id="9" name="Text 7"/>
          <p:cNvSpPr/>
          <p:nvPr/>
        </p:nvSpPr>
        <p:spPr>
          <a:xfrm>
            <a:off x="1234440" y="5943600"/>
            <a:ext cx="5486400" cy="365760"/>
          </a:xfrm>
          <a:prstGeom prst="rect">
            <a:avLst/>
          </a:prstGeom>
          <a:noFill/>
          <a:ln/>
        </p:spPr>
        <p:txBody>
          <a:bodyPr wrap="square" lIns="0" tIns="0" rIns="0" bIns="0" rtlCol="0" anchor="ctr"/>
          <a:lstStyle/>
          <a:p>
            <a:pPr indent="0" marL="0">
              <a:buNone/>
            </a:pPr>
            <a:r>
              <a:rPr lang="en-US" sz="1300" dirty="0">
                <a:solidFill>
                  <a:srgbClr val="9FBEE0"/>
                </a:solidFill>
                <a:latin typeface="Segoe UI" pitchFamily="34" charset="0"/>
                <a:ea typeface="Segoe UI" pitchFamily="34" charset="-122"/>
                <a:cs typeface="Segoe UI" pitchFamily="34" charset="-120"/>
              </a:rPr>
              <a:t>Presenta Participante 7 · Desarrollo</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la UI consume los dos servicios</a:t>
            </a:r>
            <a:endParaRPr lang="en-US" sz="2800" dirty="0"/>
          </a:p>
        </p:txBody>
      </p:sp>
      <p:sp>
        <p:nvSpPr>
          <p:cNvPr id="5" name="Text 3"/>
          <p:cNvSpPr/>
          <p:nvPr/>
        </p:nvSpPr>
        <p:spPr>
          <a:xfrm>
            <a:off x="612648"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El navegador solo conoce /api</a:t>
            </a:r>
            <a:endParaRPr lang="en-US" sz="1100" dirty="0"/>
          </a:p>
        </p:txBody>
      </p:sp>
      <p:sp>
        <p:nvSpPr>
          <p:cNvPr id="6" name="Text 4"/>
          <p:cNvSpPr/>
          <p:nvPr/>
        </p:nvSpPr>
        <p:spPr>
          <a:xfrm>
            <a:off x="3386252"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nginx reenvía cada ruta al servicio que corresponde</a:t>
            </a:r>
            <a:endParaRPr lang="en-US" sz="1100" dirty="0"/>
          </a:p>
        </p:txBody>
      </p:sp>
      <p:sp>
        <p:nvSpPr>
          <p:cNvPr id="7" name="Text 5"/>
          <p:cNvSpPr/>
          <p:nvPr/>
        </p:nvSpPr>
        <p:spPr>
          <a:xfrm>
            <a:off x="6159856"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La UI registra cada petición que hace</a:t>
            </a:r>
            <a:endParaRPr lang="en-US" sz="1100" dirty="0"/>
          </a:p>
        </p:txBody>
      </p:sp>
      <p:sp>
        <p:nvSpPr>
          <p:cNvPr id="8" name="Text 6"/>
          <p:cNvSpPr/>
          <p:nvPr/>
        </p:nvSpPr>
        <p:spPr>
          <a:xfrm>
            <a:off x="8933459" y="1298448"/>
            <a:ext cx="2645588"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Si un POST tarda, no lo repite sola</a:t>
            </a:r>
            <a:endParaRPr lang="en-US" sz="1100" dirty="0"/>
          </a:p>
        </p:txBody>
      </p:sp>
      <p:sp>
        <p:nvSpPr>
          <p:cNvPr id="9" name="Shape 7"/>
          <p:cNvSpPr/>
          <p:nvPr/>
        </p:nvSpPr>
        <p:spPr>
          <a:xfrm>
            <a:off x="2531768" y="3045549"/>
            <a:ext cx="639707" cy="0"/>
          </a:xfrm>
          <a:prstGeom prst="line">
            <a:avLst/>
          </a:prstGeom>
          <a:noFill/>
          <a:ln w="31750">
            <a:solidFill>
              <a:srgbClr val="55627E"/>
            </a:solidFill>
            <a:prstDash val="sysDot"/>
            <a:tailEnd type="triangle"/>
          </a:ln>
        </p:spPr>
      </p:sp>
      <p:sp>
        <p:nvSpPr>
          <p:cNvPr id="10" name="Text 8"/>
          <p:cNvSpPr/>
          <p:nvPr/>
        </p:nvSpPr>
        <p:spPr>
          <a:xfrm>
            <a:off x="2655482" y="2807853"/>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11" name="Text 9"/>
          <p:cNvSpPr/>
          <p:nvPr/>
        </p:nvSpPr>
        <p:spPr>
          <a:xfrm>
            <a:off x="2641368"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12" name="Shape 10"/>
          <p:cNvSpPr/>
          <p:nvPr/>
        </p:nvSpPr>
        <p:spPr>
          <a:xfrm>
            <a:off x="4725048" y="3045549"/>
            <a:ext cx="639707" cy="0"/>
          </a:xfrm>
          <a:prstGeom prst="line">
            <a:avLst/>
          </a:prstGeom>
          <a:noFill/>
          <a:ln w="31750">
            <a:solidFill>
              <a:srgbClr val="55627E"/>
            </a:solidFill>
            <a:prstDash val="sysDot"/>
            <a:tailEnd type="triangle"/>
          </a:ln>
        </p:spPr>
      </p:sp>
      <p:sp>
        <p:nvSpPr>
          <p:cNvPr id="13" name="Text 11"/>
          <p:cNvSpPr/>
          <p:nvPr/>
        </p:nvSpPr>
        <p:spPr>
          <a:xfrm>
            <a:off x="4782697" y="2807853"/>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4" name="Text 12"/>
          <p:cNvSpPr/>
          <p:nvPr/>
        </p:nvSpPr>
        <p:spPr>
          <a:xfrm>
            <a:off x="4834648"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5" name="Shape 13"/>
          <p:cNvSpPr/>
          <p:nvPr/>
        </p:nvSpPr>
        <p:spPr>
          <a:xfrm>
            <a:off x="6918328" y="2935885"/>
            <a:ext cx="639707" cy="0"/>
          </a:xfrm>
          <a:prstGeom prst="line">
            <a:avLst/>
          </a:prstGeom>
          <a:noFill/>
          <a:ln w="31750">
            <a:solidFill>
              <a:srgbClr val="55627E"/>
            </a:solidFill>
            <a:prstDash val="sysDot"/>
            <a:tailEnd type="triangle"/>
          </a:ln>
        </p:spPr>
      </p:sp>
      <p:sp>
        <p:nvSpPr>
          <p:cNvPr id="16" name="Text 14"/>
          <p:cNvSpPr/>
          <p:nvPr/>
        </p:nvSpPr>
        <p:spPr>
          <a:xfrm>
            <a:off x="7009009" y="2698189"/>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7" name="Text 15"/>
          <p:cNvSpPr/>
          <p:nvPr/>
        </p:nvSpPr>
        <p:spPr>
          <a:xfrm>
            <a:off x="7027928" y="2826157"/>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8" name="Shape 16"/>
          <p:cNvSpPr/>
          <p:nvPr/>
        </p:nvSpPr>
        <p:spPr>
          <a:xfrm>
            <a:off x="8115493" y="3392819"/>
            <a:ext cx="0" cy="1407355"/>
          </a:xfrm>
          <a:prstGeom prst="line">
            <a:avLst/>
          </a:prstGeom>
          <a:noFill/>
          <a:ln w="31750">
            <a:solidFill>
              <a:srgbClr val="2E6DB4"/>
            </a:solidFill>
            <a:prstDash val="solid"/>
            <a:tailEnd type="triangle"/>
          </a:ln>
        </p:spPr>
      </p:sp>
      <p:sp>
        <p:nvSpPr>
          <p:cNvPr id="19" name="Text 17"/>
          <p:cNvSpPr/>
          <p:nvPr/>
        </p:nvSpPr>
        <p:spPr>
          <a:xfrm>
            <a:off x="8206879" y="3977603"/>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20" name="Text 18"/>
          <p:cNvSpPr/>
          <p:nvPr/>
        </p:nvSpPr>
        <p:spPr>
          <a:xfrm>
            <a:off x="8005765" y="350241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21" name="Shape 19"/>
          <p:cNvSpPr/>
          <p:nvPr/>
        </p:nvSpPr>
        <p:spPr>
          <a:xfrm>
            <a:off x="9111607" y="5037779"/>
            <a:ext cx="639707" cy="0"/>
          </a:xfrm>
          <a:prstGeom prst="line">
            <a:avLst/>
          </a:prstGeom>
          <a:noFill/>
          <a:ln w="31750">
            <a:solidFill>
              <a:srgbClr val="2E6DB4"/>
            </a:solidFill>
            <a:prstDash val="solid"/>
            <a:tailEnd type="triangle"/>
          </a:ln>
        </p:spPr>
      </p:sp>
      <p:sp>
        <p:nvSpPr>
          <p:cNvPr id="22" name="Text 20"/>
          <p:cNvSpPr/>
          <p:nvPr/>
        </p:nvSpPr>
        <p:spPr>
          <a:xfrm>
            <a:off x="9202289" y="4800083"/>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23" name="Text 21"/>
          <p:cNvSpPr/>
          <p:nvPr/>
        </p:nvSpPr>
        <p:spPr>
          <a:xfrm>
            <a:off x="9221207" y="4928051"/>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4" name="Shape 22"/>
          <p:cNvSpPr/>
          <p:nvPr/>
        </p:nvSpPr>
        <p:spPr>
          <a:xfrm flipH="1">
            <a:off x="9111607" y="5257107"/>
            <a:ext cx="639707" cy="0"/>
          </a:xfrm>
          <a:prstGeom prst="line">
            <a:avLst/>
          </a:prstGeom>
          <a:noFill/>
          <a:ln w="22860">
            <a:solidFill>
              <a:srgbClr val="0B6E8A"/>
            </a:solidFill>
            <a:prstDash val="solid"/>
            <a:tailEnd type="arrow"/>
          </a:ln>
        </p:spPr>
      </p:sp>
      <p:sp>
        <p:nvSpPr>
          <p:cNvPr id="25" name="Text 23"/>
          <p:cNvSpPr/>
          <p:nvPr/>
        </p:nvSpPr>
        <p:spPr>
          <a:xfrm>
            <a:off x="9169256" y="5275293"/>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6" name="Text 24"/>
          <p:cNvSpPr/>
          <p:nvPr/>
        </p:nvSpPr>
        <p:spPr>
          <a:xfrm>
            <a:off x="9422258" y="5147379"/>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7" name="Shape 25"/>
          <p:cNvSpPr/>
          <p:nvPr/>
        </p:nvSpPr>
        <p:spPr>
          <a:xfrm flipV="1">
            <a:off x="8554149" y="3392819"/>
            <a:ext cx="0" cy="1407355"/>
          </a:xfrm>
          <a:prstGeom prst="line">
            <a:avLst/>
          </a:prstGeom>
          <a:noFill/>
          <a:ln w="22860">
            <a:solidFill>
              <a:srgbClr val="0B6E8A"/>
            </a:solidFill>
            <a:prstDash val="solid"/>
            <a:tailEnd type="arrow"/>
          </a:ln>
        </p:spPr>
      </p:sp>
      <p:sp>
        <p:nvSpPr>
          <p:cNvPr id="28" name="Text 26"/>
          <p:cNvSpPr/>
          <p:nvPr/>
        </p:nvSpPr>
        <p:spPr>
          <a:xfrm>
            <a:off x="8645535" y="3977603"/>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9" name="Text 27"/>
          <p:cNvSpPr/>
          <p:nvPr/>
        </p:nvSpPr>
        <p:spPr>
          <a:xfrm>
            <a:off x="8444421" y="447111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30" name="Shape 28"/>
          <p:cNvSpPr/>
          <p:nvPr/>
        </p:nvSpPr>
        <p:spPr>
          <a:xfrm>
            <a:off x="9111607" y="3045549"/>
            <a:ext cx="639707" cy="0"/>
          </a:xfrm>
          <a:prstGeom prst="line">
            <a:avLst/>
          </a:prstGeom>
          <a:noFill/>
          <a:ln w="31750">
            <a:solidFill>
              <a:srgbClr val="55627E"/>
            </a:solidFill>
            <a:prstDash val="sysDot"/>
            <a:tailEnd type="triangle"/>
          </a:ln>
        </p:spPr>
      </p:sp>
      <p:sp>
        <p:nvSpPr>
          <p:cNvPr id="31" name="Text 29"/>
          <p:cNvSpPr/>
          <p:nvPr/>
        </p:nvSpPr>
        <p:spPr>
          <a:xfrm>
            <a:off x="9103191" y="2807853"/>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32" name="Text 30"/>
          <p:cNvSpPr/>
          <p:nvPr/>
        </p:nvSpPr>
        <p:spPr>
          <a:xfrm>
            <a:off x="9221207" y="2935821"/>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33" name="Shape 31"/>
          <p:cNvSpPr/>
          <p:nvPr/>
        </p:nvSpPr>
        <p:spPr>
          <a:xfrm flipH="1">
            <a:off x="6918328" y="3155213"/>
            <a:ext cx="639707" cy="0"/>
          </a:xfrm>
          <a:prstGeom prst="line">
            <a:avLst/>
          </a:prstGeom>
          <a:noFill/>
          <a:ln w="31750">
            <a:solidFill>
              <a:srgbClr val="55627E"/>
            </a:solidFill>
            <a:prstDash val="sysDot"/>
            <a:tailEnd type="triangle"/>
          </a:ln>
        </p:spPr>
      </p:sp>
      <p:sp>
        <p:nvSpPr>
          <p:cNvPr id="34" name="Text 32"/>
          <p:cNvSpPr/>
          <p:nvPr/>
        </p:nvSpPr>
        <p:spPr>
          <a:xfrm>
            <a:off x="6876879" y="3173400"/>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5" name="Text 33"/>
          <p:cNvSpPr/>
          <p:nvPr/>
        </p:nvSpPr>
        <p:spPr>
          <a:xfrm>
            <a:off x="7228978" y="3045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6" name="Shape 34"/>
          <p:cNvSpPr/>
          <p:nvPr/>
        </p:nvSpPr>
        <p:spPr>
          <a:xfrm>
            <a:off x="6141541" y="3392819"/>
            <a:ext cx="0" cy="1407355"/>
          </a:xfrm>
          <a:prstGeom prst="line">
            <a:avLst/>
          </a:prstGeom>
          <a:noFill/>
          <a:ln w="31750">
            <a:solidFill>
              <a:srgbClr val="55627E"/>
            </a:solidFill>
            <a:prstDash val="sysDot"/>
            <a:tailEnd type="triangle"/>
          </a:ln>
        </p:spPr>
      </p:sp>
      <p:sp>
        <p:nvSpPr>
          <p:cNvPr id="37" name="Text 35"/>
          <p:cNvSpPr/>
          <p:nvPr/>
        </p:nvSpPr>
        <p:spPr>
          <a:xfrm>
            <a:off x="6232928" y="3977603"/>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8" name="Text 36"/>
          <p:cNvSpPr/>
          <p:nvPr/>
        </p:nvSpPr>
        <p:spPr>
          <a:xfrm>
            <a:off x="6031813" y="350241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9" name="Text 37"/>
          <p:cNvSpPr/>
          <p:nvPr/>
        </p:nvSpPr>
        <p:spPr>
          <a:xfrm>
            <a:off x="978195" y="2698280"/>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40" name="Text 38"/>
          <p:cNvSpPr/>
          <p:nvPr/>
        </p:nvSpPr>
        <p:spPr>
          <a:xfrm>
            <a:off x="317147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41" name="Text 39"/>
          <p:cNvSpPr/>
          <p:nvPr/>
        </p:nvSpPr>
        <p:spPr>
          <a:xfrm>
            <a:off x="536475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42" name="Text 40"/>
          <p:cNvSpPr/>
          <p:nvPr/>
        </p:nvSpPr>
        <p:spPr>
          <a:xfrm>
            <a:off x="755803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43" name="Text 41"/>
          <p:cNvSpPr/>
          <p:nvPr/>
        </p:nvSpPr>
        <p:spPr>
          <a:xfrm>
            <a:off x="9751314" y="2698280"/>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4" name="Text 42"/>
          <p:cNvSpPr/>
          <p:nvPr/>
        </p:nvSpPr>
        <p:spPr>
          <a:xfrm>
            <a:off x="5364754" y="4800173"/>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5" name="Text 43"/>
          <p:cNvSpPr/>
          <p:nvPr/>
        </p:nvSpPr>
        <p:spPr>
          <a:xfrm>
            <a:off x="7558034" y="4800173"/>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6" name="Text 44"/>
          <p:cNvSpPr/>
          <p:nvPr/>
        </p:nvSpPr>
        <p:spPr>
          <a:xfrm>
            <a:off x="9751314" y="4800173"/>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7" name="Text 45"/>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1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44450">
            <a:solidFill>
              <a:srgbClr val="2BA6CB"/>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44450">
            <a:solidFill>
              <a:srgbClr val="2BA6CB"/>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44450">
            <a:solidFill>
              <a:srgbClr val="2BA6CB"/>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C7D2E2"/>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C7D2E2"/>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C7D2E2"/>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C7D2E2"/>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C7D2E2"/>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F4F7FB"/>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45" name="Text 43"/>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persona pulsa un botón en la pantalla.</a:t>
            </a:r>
            <a:endParaRPr lang="en-US" sz="1300" dirty="0"/>
          </a:p>
        </p:txBody>
      </p:sp>
      <p:sp>
        <p:nvSpPr>
          <p:cNvPr id="46" name="Shape 44"/>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48" name="Text 46"/>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Si la acción cambia datos, la interfaz pide confirmarla antes de enviarla.</a:t>
            </a:r>
            <a:endParaRPr lang="en-US" sz="1300" dirty="0"/>
          </a:p>
        </p:txBody>
      </p:sp>
      <p:sp>
        <p:nvSpPr>
          <p:cNvPr id="49" name="Shape 47"/>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50" name="Text 48"/>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51" name="Text 49"/>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cliente HTTP mide el tiempo y, si tarda más de 10 segundos, no lo repite solo.</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2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55627E"/>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44450">
            <a:solidFill>
              <a:srgbClr val="2BA6CB"/>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44450">
            <a:solidFill>
              <a:srgbClr val="2BA6CB"/>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35560">
            <a:solidFill>
              <a:srgbClr val="2BA6CB"/>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35560">
            <a:solidFill>
              <a:srgbClr val="2BA6CB"/>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31750">
            <a:solidFill>
              <a:srgbClr val="C7D2E2"/>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31750">
            <a:solidFill>
              <a:srgbClr val="C7D2E2"/>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31750">
            <a:solidFill>
              <a:srgbClr val="C7D2E2"/>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55627E"/>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FFFFFF"/>
          </a:solidFill>
          <a:ln w="12700">
            <a:solidFill>
              <a:srgbClr val="C7D2E2"/>
            </a:solidFill>
          </a:ln>
        </p:spPr>
        <p:txBody>
          <a:bodyPr wrap="square" lIns="0" tIns="0" rIns="0" bIns="0" rtlCol="0" anchor="ctr"/>
          <a:lstStyle/>
          <a:p>
            <a:pPr algn="ctr" indent="0" marL="0">
              <a:buNone/>
            </a:pPr>
            <a:r>
              <a:rPr lang="en-US" sz="850" b="1" dirty="0">
                <a:solidFill>
                  <a:srgbClr val="C7D2E2"/>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FFFFFF"/>
          </a:solidFill>
          <a:ln w="15875">
            <a:solidFill>
              <a:srgbClr val="C7D2E2"/>
            </a:solidFill>
            <a:prstDash val="solid"/>
          </a:ln>
        </p:spPr>
        <p:txBody>
          <a:bodyPr wrap="square" lIns="38100" tIns="38100" rIns="38100" bIns="38100" rtlCol="0" anchor="ctr">
            <a:normAutofit/>
          </a:bodyPr>
          <a:lstStyle/>
          <a:p>
            <a:pPr algn="ctr" indent="0" marL="0">
              <a:buNone/>
            </a:pPr>
            <a:r>
              <a:rPr lang="en-US" sz="1100" b="1" dirty="0">
                <a:solidFill>
                  <a:srgbClr val="55627E"/>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357012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45" name="Text 43"/>
          <p:cNvSpPr/>
          <p:nvPr/>
        </p:nvSpPr>
        <p:spPr>
          <a:xfrm>
            <a:off x="1271016"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El navegador llama a /api y nginx lo pasa al servicio que corresponde.</a:t>
            </a:r>
            <a:endParaRPr lang="en-US" sz="1300" dirty="0"/>
          </a:p>
        </p:txBody>
      </p:sp>
      <p:sp>
        <p:nvSpPr>
          <p:cNvPr id="46" name="Shape 44"/>
          <p:cNvSpPr/>
          <p:nvPr/>
        </p:nvSpPr>
        <p:spPr>
          <a:xfrm>
            <a:off x="4310786" y="5376672"/>
            <a:ext cx="357012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444794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48" name="Text 46"/>
          <p:cNvSpPr/>
          <p:nvPr/>
        </p:nvSpPr>
        <p:spPr>
          <a:xfrm>
            <a:off x="4969154"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nginx llega al servicio por su nombre interno.</a:t>
            </a:r>
            <a:endParaRPr lang="en-US" sz="1300" dirty="0"/>
          </a:p>
        </p:txBody>
      </p:sp>
      <p:sp>
        <p:nvSpPr>
          <p:cNvPr id="49" name="Shape 47"/>
          <p:cNvSpPr/>
          <p:nvPr/>
        </p:nvSpPr>
        <p:spPr>
          <a:xfrm>
            <a:off x="8008925" y="5376672"/>
            <a:ext cx="3570122" cy="914400"/>
          </a:xfrm>
          <a:prstGeom prst="roundRect">
            <a:avLst>
              <a:gd name="adj" fmla="val 10000"/>
            </a:avLst>
          </a:prstGeom>
          <a:solidFill>
            <a:srgbClr val="E3F4FA"/>
          </a:solidFill>
          <a:ln w="12700">
            <a:solidFill>
              <a:srgbClr val="2BA6CB"/>
            </a:solidFill>
            <a:prstDash val="solid"/>
          </a:ln>
        </p:spPr>
      </p:sp>
      <p:sp>
        <p:nvSpPr>
          <p:cNvPr id="50" name="Text 48"/>
          <p:cNvSpPr/>
          <p:nvPr/>
        </p:nvSpPr>
        <p:spPr>
          <a:xfrm>
            <a:off x="8146085"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6</a:t>
            </a:r>
            <a:endParaRPr lang="en-US" sz="1400" dirty="0"/>
          </a:p>
        </p:txBody>
      </p:sp>
      <p:sp>
        <p:nvSpPr>
          <p:cNvPr id="51" name="Text 49"/>
          <p:cNvSpPr/>
          <p:nvPr/>
        </p:nvSpPr>
        <p:spPr>
          <a:xfrm>
            <a:off x="8667293" y="5413248"/>
            <a:ext cx="279288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Vuelve la respuesta con su código: 200, 201, 404, 409 o un error si el servicio no responde.</a:t>
            </a:r>
            <a:endParaRPr lang="en-US" sz="1300" dirty="0"/>
          </a:p>
        </p:txBody>
      </p:sp>
      <p:sp>
        <p:nvSpPr>
          <p:cNvPr id="52" name="Text 5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 · PASO A PASO 3 DE 3</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Cómo funciona la UI</a:t>
            </a:r>
            <a:endParaRPr lang="en-US" sz="2800" dirty="0"/>
          </a:p>
        </p:txBody>
      </p:sp>
      <p:sp>
        <p:nvSpPr>
          <p:cNvPr id="5" name="Shape 3"/>
          <p:cNvSpPr/>
          <p:nvPr/>
        </p:nvSpPr>
        <p:spPr>
          <a:xfrm>
            <a:off x="2531768" y="2240877"/>
            <a:ext cx="639707" cy="0"/>
          </a:xfrm>
          <a:prstGeom prst="line">
            <a:avLst/>
          </a:prstGeom>
          <a:noFill/>
          <a:ln w="31750">
            <a:solidFill>
              <a:srgbClr val="55627E"/>
            </a:solidFill>
            <a:prstDash val="sysDot"/>
            <a:tailEnd type="triangle"/>
          </a:ln>
        </p:spPr>
      </p:sp>
      <p:sp>
        <p:nvSpPr>
          <p:cNvPr id="6" name="Text 4"/>
          <p:cNvSpPr/>
          <p:nvPr/>
        </p:nvSpPr>
        <p:spPr>
          <a:xfrm>
            <a:off x="2655482" y="2003181"/>
            <a:ext cx="39227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clic</a:t>
            </a:r>
            <a:endParaRPr lang="en-US" sz="850" dirty="0"/>
          </a:p>
        </p:txBody>
      </p:sp>
      <p:sp>
        <p:nvSpPr>
          <p:cNvPr id="7" name="Text 5"/>
          <p:cNvSpPr/>
          <p:nvPr/>
        </p:nvSpPr>
        <p:spPr>
          <a:xfrm>
            <a:off x="264136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1</a:t>
            </a:r>
            <a:endParaRPr lang="en-US" sz="850" dirty="0"/>
          </a:p>
        </p:txBody>
      </p:sp>
      <p:sp>
        <p:nvSpPr>
          <p:cNvPr id="8" name="Shape 6"/>
          <p:cNvSpPr/>
          <p:nvPr/>
        </p:nvSpPr>
        <p:spPr>
          <a:xfrm>
            <a:off x="4725048" y="2240877"/>
            <a:ext cx="639707" cy="0"/>
          </a:xfrm>
          <a:prstGeom prst="line">
            <a:avLst/>
          </a:prstGeom>
          <a:noFill/>
          <a:ln w="31750">
            <a:solidFill>
              <a:srgbClr val="55627E"/>
            </a:solidFill>
            <a:prstDash val="sysDot"/>
            <a:tailEnd type="triangle"/>
          </a:ln>
        </p:spPr>
      </p:sp>
      <p:sp>
        <p:nvSpPr>
          <p:cNvPr id="9" name="Text 7"/>
          <p:cNvSpPr/>
          <p:nvPr/>
        </p:nvSpPr>
        <p:spPr>
          <a:xfrm>
            <a:off x="4782697" y="2003181"/>
            <a:ext cx="524408"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acción</a:t>
            </a:r>
            <a:endParaRPr lang="en-US" sz="850" dirty="0"/>
          </a:p>
        </p:txBody>
      </p:sp>
      <p:sp>
        <p:nvSpPr>
          <p:cNvPr id="10" name="Text 8"/>
          <p:cNvSpPr/>
          <p:nvPr/>
        </p:nvSpPr>
        <p:spPr>
          <a:xfrm>
            <a:off x="4834648" y="2131149"/>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2</a:t>
            </a:r>
            <a:endParaRPr lang="en-US" sz="850" dirty="0"/>
          </a:p>
        </p:txBody>
      </p:sp>
      <p:sp>
        <p:nvSpPr>
          <p:cNvPr id="11" name="Shape 9"/>
          <p:cNvSpPr/>
          <p:nvPr/>
        </p:nvSpPr>
        <p:spPr>
          <a:xfrm>
            <a:off x="6918328" y="2131213"/>
            <a:ext cx="639707" cy="0"/>
          </a:xfrm>
          <a:prstGeom prst="line">
            <a:avLst/>
          </a:prstGeom>
          <a:noFill/>
          <a:ln w="31750">
            <a:solidFill>
              <a:srgbClr val="55627E"/>
            </a:solidFill>
            <a:prstDash val="sysDot"/>
            <a:tailEnd type="triangle"/>
          </a:ln>
        </p:spPr>
      </p:sp>
      <p:sp>
        <p:nvSpPr>
          <p:cNvPr id="12" name="Text 10"/>
          <p:cNvSpPr/>
          <p:nvPr/>
        </p:nvSpPr>
        <p:spPr>
          <a:xfrm>
            <a:off x="7009009" y="1893517"/>
            <a:ext cx="458343" cy="192024"/>
          </a:xfrm>
          <a:prstGeom prst="rect">
            <a:avLst/>
          </a:prstGeom>
          <a:noFill/>
          <a:ln/>
        </p:spPr>
        <p:txBody>
          <a:bodyPr wrap="square" lIns="0" tIns="0" rIns="0" bIns="0" rtlCol="0" anchor="ctr"/>
          <a:lstStyle/>
          <a:p>
            <a:pPr algn="ctr" indent="0" marL="0">
              <a:buNone/>
            </a:pPr>
            <a:r>
              <a:rPr lang="en-US" sz="850" b="1" dirty="0">
                <a:solidFill>
                  <a:srgbClr val="55627E"/>
                </a:solidFill>
                <a:latin typeface="Segoe UI" pitchFamily="34" charset="0"/>
                <a:ea typeface="Segoe UI" pitchFamily="34" charset="-122"/>
                <a:cs typeface="Segoe UI" pitchFamily="34" charset="-120"/>
              </a:rPr>
              <a:t>llama</a:t>
            </a:r>
            <a:endParaRPr lang="en-US" sz="850" dirty="0"/>
          </a:p>
        </p:txBody>
      </p:sp>
      <p:sp>
        <p:nvSpPr>
          <p:cNvPr id="13" name="Text 11"/>
          <p:cNvSpPr/>
          <p:nvPr/>
        </p:nvSpPr>
        <p:spPr>
          <a:xfrm>
            <a:off x="7027928" y="2021485"/>
            <a:ext cx="219456" cy="219456"/>
          </a:xfrm>
          <a:prstGeom prst="ellipse">
            <a:avLst/>
          </a:prstGeom>
          <a:solidFill>
            <a:srgbClr val="55627E"/>
          </a:solidFill>
          <a:ln w="12700">
            <a:solidFill>
              <a:srgbClr val="55627E"/>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3</a:t>
            </a:r>
            <a:endParaRPr lang="en-US" sz="850" dirty="0"/>
          </a:p>
        </p:txBody>
      </p:sp>
      <p:sp>
        <p:nvSpPr>
          <p:cNvPr id="14" name="Shape 12"/>
          <p:cNvSpPr/>
          <p:nvPr/>
        </p:nvSpPr>
        <p:spPr>
          <a:xfrm>
            <a:off x="8115493" y="2588147"/>
            <a:ext cx="0" cy="1407355"/>
          </a:xfrm>
          <a:prstGeom prst="line">
            <a:avLst/>
          </a:prstGeom>
          <a:noFill/>
          <a:ln w="31750">
            <a:solidFill>
              <a:srgbClr val="2E6DB4"/>
            </a:solidFill>
            <a:prstDash val="solid"/>
            <a:tailEnd type="triangle"/>
          </a:ln>
        </p:spPr>
      </p:sp>
      <p:sp>
        <p:nvSpPr>
          <p:cNvPr id="15" name="Text 13"/>
          <p:cNvSpPr/>
          <p:nvPr/>
        </p:nvSpPr>
        <p:spPr>
          <a:xfrm>
            <a:off x="8206879" y="3172931"/>
            <a:ext cx="920801" cy="192024"/>
          </a:xfrm>
          <a:prstGeom prst="rect">
            <a:avLst/>
          </a:prstGeom>
          <a:noFill/>
          <a:ln/>
        </p:spPr>
        <p:txBody>
          <a:bodyPr wrap="square" lIns="0" tIns="0" rIns="0" bIns="0" rtlCol="0" anchor="ctr"/>
          <a:lstStyle/>
          <a:p>
            <a:pPr algn="l" indent="0" marL="0">
              <a:buNone/>
            </a:pPr>
            <a:r>
              <a:rPr lang="en-US" sz="850" b="1" dirty="0">
                <a:solidFill>
                  <a:srgbClr val="2E6DB4"/>
                </a:solidFill>
                <a:latin typeface="Segoe UI" pitchFamily="34" charset="0"/>
                <a:ea typeface="Segoe UI" pitchFamily="34" charset="-122"/>
                <a:cs typeface="Segoe UI" pitchFamily="34" charset="-120"/>
              </a:rPr>
              <a:t>fetch /api/…</a:t>
            </a:r>
            <a:endParaRPr lang="en-US" sz="850" dirty="0"/>
          </a:p>
        </p:txBody>
      </p:sp>
      <p:sp>
        <p:nvSpPr>
          <p:cNvPr id="16" name="Text 14"/>
          <p:cNvSpPr/>
          <p:nvPr/>
        </p:nvSpPr>
        <p:spPr>
          <a:xfrm>
            <a:off x="8005765" y="2697747"/>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4</a:t>
            </a:r>
            <a:endParaRPr lang="en-US" sz="850" dirty="0"/>
          </a:p>
        </p:txBody>
      </p:sp>
      <p:sp>
        <p:nvSpPr>
          <p:cNvPr id="17" name="Shape 15"/>
          <p:cNvSpPr/>
          <p:nvPr/>
        </p:nvSpPr>
        <p:spPr>
          <a:xfrm>
            <a:off x="9111607" y="4233107"/>
            <a:ext cx="639707" cy="0"/>
          </a:xfrm>
          <a:prstGeom prst="line">
            <a:avLst/>
          </a:prstGeom>
          <a:noFill/>
          <a:ln w="31750">
            <a:solidFill>
              <a:srgbClr val="2E6DB4"/>
            </a:solidFill>
            <a:prstDash val="solid"/>
            <a:tailEnd type="triangle"/>
          </a:ln>
        </p:spPr>
      </p:sp>
      <p:sp>
        <p:nvSpPr>
          <p:cNvPr id="18" name="Text 16"/>
          <p:cNvSpPr/>
          <p:nvPr/>
        </p:nvSpPr>
        <p:spPr>
          <a:xfrm>
            <a:off x="9202289" y="3995411"/>
            <a:ext cx="458343" cy="192024"/>
          </a:xfrm>
          <a:prstGeom prst="rect">
            <a:avLst/>
          </a:prstGeom>
          <a:noFill/>
          <a:ln/>
        </p:spPr>
        <p:txBody>
          <a:bodyPr wrap="square" lIns="0" tIns="0" rIns="0" bIns="0" rtlCol="0" anchor="ctr"/>
          <a:lstStyle/>
          <a:p>
            <a:pPr algn="ctr" indent="0" marL="0">
              <a:buNone/>
            </a:pPr>
            <a:r>
              <a:rPr lang="en-US" sz="850" b="1" dirty="0">
                <a:solidFill>
                  <a:srgbClr val="2E6DB4"/>
                </a:solidFill>
                <a:latin typeface="Segoe UI" pitchFamily="34" charset="0"/>
                <a:ea typeface="Segoe UI" pitchFamily="34" charset="-122"/>
                <a:cs typeface="Segoe UI" pitchFamily="34" charset="-120"/>
              </a:rPr>
              <a:t>:8080</a:t>
            </a:r>
            <a:endParaRPr lang="en-US" sz="850" dirty="0"/>
          </a:p>
        </p:txBody>
      </p:sp>
      <p:sp>
        <p:nvSpPr>
          <p:cNvPr id="19" name="Text 17"/>
          <p:cNvSpPr/>
          <p:nvPr/>
        </p:nvSpPr>
        <p:spPr>
          <a:xfrm>
            <a:off x="9221207" y="4123379"/>
            <a:ext cx="219456" cy="219456"/>
          </a:xfrm>
          <a:prstGeom prst="ellipse">
            <a:avLst/>
          </a:prstGeom>
          <a:solidFill>
            <a:srgbClr val="2E6DB4"/>
          </a:solidFill>
          <a:ln w="12700">
            <a:solidFill>
              <a:srgbClr val="2E6DB4"/>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5</a:t>
            </a:r>
            <a:endParaRPr lang="en-US" sz="850" dirty="0"/>
          </a:p>
        </p:txBody>
      </p:sp>
      <p:sp>
        <p:nvSpPr>
          <p:cNvPr id="20" name="Shape 18"/>
          <p:cNvSpPr/>
          <p:nvPr/>
        </p:nvSpPr>
        <p:spPr>
          <a:xfrm flipH="1">
            <a:off x="9111607" y="4452435"/>
            <a:ext cx="639707" cy="0"/>
          </a:xfrm>
          <a:prstGeom prst="line">
            <a:avLst/>
          </a:prstGeom>
          <a:noFill/>
          <a:ln w="22860">
            <a:solidFill>
              <a:srgbClr val="0B6E8A"/>
            </a:solidFill>
            <a:prstDash val="solid"/>
            <a:tailEnd type="arrow"/>
          </a:ln>
        </p:spPr>
      </p:sp>
      <p:sp>
        <p:nvSpPr>
          <p:cNvPr id="21" name="Text 19"/>
          <p:cNvSpPr/>
          <p:nvPr/>
        </p:nvSpPr>
        <p:spPr>
          <a:xfrm>
            <a:off x="9169256" y="4470621"/>
            <a:ext cx="524408" cy="192024"/>
          </a:xfrm>
          <a:prstGeom prst="rect">
            <a:avLst/>
          </a:prstGeom>
          <a:noFill/>
          <a:ln/>
        </p:spPr>
        <p:txBody>
          <a:bodyPr wrap="square" lIns="0" tIns="0" rIns="0" bIns="0" rtlCol="0" anchor="ctr"/>
          <a:lstStyle/>
          <a:p>
            <a:pPr algn="ctr" indent="0" marL="0">
              <a:buNone/>
            </a:pPr>
            <a:r>
              <a:rPr lang="en-US" sz="850" b="1" dirty="0">
                <a:solidFill>
                  <a:srgbClr val="0B6E8A"/>
                </a:solidFill>
                <a:latin typeface="Segoe UI" pitchFamily="34" charset="0"/>
                <a:ea typeface="Segoe UI" pitchFamily="34" charset="-122"/>
                <a:cs typeface="Segoe UI" pitchFamily="34" charset="-120"/>
              </a:rPr>
              <a:t>status</a:t>
            </a:r>
            <a:endParaRPr lang="en-US" sz="850" dirty="0"/>
          </a:p>
        </p:txBody>
      </p:sp>
      <p:sp>
        <p:nvSpPr>
          <p:cNvPr id="22" name="Text 20"/>
          <p:cNvSpPr/>
          <p:nvPr/>
        </p:nvSpPr>
        <p:spPr>
          <a:xfrm>
            <a:off x="9422258" y="4342707"/>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3" name="Shape 21"/>
          <p:cNvSpPr/>
          <p:nvPr/>
        </p:nvSpPr>
        <p:spPr>
          <a:xfrm flipV="1">
            <a:off x="8554149" y="2588147"/>
            <a:ext cx="0" cy="1407355"/>
          </a:xfrm>
          <a:prstGeom prst="line">
            <a:avLst/>
          </a:prstGeom>
          <a:noFill/>
          <a:ln w="22860">
            <a:solidFill>
              <a:srgbClr val="0B6E8A"/>
            </a:solidFill>
            <a:prstDash val="solid"/>
            <a:tailEnd type="arrow"/>
          </a:ln>
        </p:spPr>
      </p:sp>
      <p:sp>
        <p:nvSpPr>
          <p:cNvPr id="24" name="Text 22"/>
          <p:cNvSpPr/>
          <p:nvPr/>
        </p:nvSpPr>
        <p:spPr>
          <a:xfrm>
            <a:off x="8645535" y="3172931"/>
            <a:ext cx="524408" cy="192024"/>
          </a:xfrm>
          <a:prstGeom prst="rect">
            <a:avLst/>
          </a:prstGeom>
          <a:noFill/>
          <a:ln/>
        </p:spPr>
        <p:txBody>
          <a:bodyPr wrap="square" lIns="0" tIns="0" rIns="0" bIns="0" rtlCol="0" anchor="ctr"/>
          <a:lstStyle/>
          <a:p>
            <a:pPr algn="l" indent="0" marL="0">
              <a:buNone/>
            </a:pPr>
            <a:r>
              <a:rPr lang="en-US" sz="850" b="1" dirty="0">
                <a:solidFill>
                  <a:srgbClr val="0B6E8A"/>
                </a:solidFill>
                <a:latin typeface="Segoe UI" pitchFamily="34" charset="0"/>
                <a:ea typeface="Segoe UI" pitchFamily="34" charset="-122"/>
                <a:cs typeface="Segoe UI" pitchFamily="34" charset="-120"/>
              </a:rPr>
              <a:t>cuerpo</a:t>
            </a:r>
            <a:endParaRPr lang="en-US" sz="850" dirty="0"/>
          </a:p>
        </p:txBody>
      </p:sp>
      <p:sp>
        <p:nvSpPr>
          <p:cNvPr id="25" name="Text 23"/>
          <p:cNvSpPr/>
          <p:nvPr/>
        </p:nvSpPr>
        <p:spPr>
          <a:xfrm>
            <a:off x="8444421" y="3666445"/>
            <a:ext cx="219456" cy="219456"/>
          </a:xfrm>
          <a:prstGeom prst="ellipse">
            <a:avLst/>
          </a:prstGeom>
          <a:solidFill>
            <a:srgbClr val="0B6E8A"/>
          </a:solidFill>
          <a:ln w="12700">
            <a:solidFill>
              <a:srgbClr val="0B6E8A"/>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6</a:t>
            </a:r>
            <a:endParaRPr lang="en-US" sz="850" dirty="0"/>
          </a:p>
        </p:txBody>
      </p:sp>
      <p:sp>
        <p:nvSpPr>
          <p:cNvPr id="26" name="Shape 24"/>
          <p:cNvSpPr/>
          <p:nvPr/>
        </p:nvSpPr>
        <p:spPr>
          <a:xfrm>
            <a:off x="9111607" y="2240877"/>
            <a:ext cx="639707" cy="0"/>
          </a:xfrm>
          <a:prstGeom prst="line">
            <a:avLst/>
          </a:prstGeom>
          <a:noFill/>
          <a:ln w="44450">
            <a:solidFill>
              <a:srgbClr val="2BA6CB"/>
            </a:solidFill>
            <a:prstDash val="sysDot"/>
            <a:tailEnd type="triangle"/>
          </a:ln>
        </p:spPr>
      </p:sp>
      <p:sp>
        <p:nvSpPr>
          <p:cNvPr id="27" name="Text 25"/>
          <p:cNvSpPr/>
          <p:nvPr/>
        </p:nvSpPr>
        <p:spPr>
          <a:xfrm>
            <a:off x="9103191" y="2003181"/>
            <a:ext cx="656539"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registra</a:t>
            </a:r>
            <a:endParaRPr lang="en-US" sz="850" dirty="0"/>
          </a:p>
        </p:txBody>
      </p:sp>
      <p:sp>
        <p:nvSpPr>
          <p:cNvPr id="28" name="Text 26"/>
          <p:cNvSpPr/>
          <p:nvPr/>
        </p:nvSpPr>
        <p:spPr>
          <a:xfrm>
            <a:off x="9221207" y="2131149"/>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7</a:t>
            </a:r>
            <a:endParaRPr lang="en-US" sz="850" dirty="0"/>
          </a:p>
        </p:txBody>
      </p:sp>
      <p:sp>
        <p:nvSpPr>
          <p:cNvPr id="29" name="Shape 27"/>
          <p:cNvSpPr/>
          <p:nvPr/>
        </p:nvSpPr>
        <p:spPr>
          <a:xfrm flipH="1">
            <a:off x="6918328" y="2350541"/>
            <a:ext cx="639707" cy="0"/>
          </a:xfrm>
          <a:prstGeom prst="line">
            <a:avLst/>
          </a:prstGeom>
          <a:noFill/>
          <a:ln w="44450">
            <a:solidFill>
              <a:srgbClr val="2BA6CB"/>
            </a:solidFill>
            <a:prstDash val="sysDot"/>
            <a:tailEnd type="triangle"/>
          </a:ln>
        </p:spPr>
      </p:sp>
      <p:sp>
        <p:nvSpPr>
          <p:cNvPr id="30" name="Text 28"/>
          <p:cNvSpPr/>
          <p:nvPr/>
        </p:nvSpPr>
        <p:spPr>
          <a:xfrm>
            <a:off x="6876879" y="2368728"/>
            <a:ext cx="722605" cy="192024"/>
          </a:xfrm>
          <a:prstGeom prst="rect">
            <a:avLst/>
          </a:prstGeom>
          <a:noFill/>
          <a:ln/>
        </p:spPr>
        <p:txBody>
          <a:bodyPr wrap="square" lIns="0" tIns="0" rIns="0" bIns="0" rtlCol="0" anchor="ctr"/>
          <a:lstStyle/>
          <a:p>
            <a:pPr algn="ctr" indent="0" marL="0">
              <a:buNone/>
            </a:pPr>
            <a:r>
              <a:rPr lang="en-US" sz="850" b="1" dirty="0">
                <a:solidFill>
                  <a:srgbClr val="2BA6CB"/>
                </a:solidFill>
                <a:latin typeface="Segoe UI" pitchFamily="34" charset="0"/>
                <a:ea typeface="Segoe UI" pitchFamily="34" charset="-122"/>
                <a:cs typeface="Segoe UI" pitchFamily="34" charset="-120"/>
              </a:rPr>
              <a:t>resultado</a:t>
            </a:r>
            <a:endParaRPr lang="en-US" sz="850" dirty="0"/>
          </a:p>
        </p:txBody>
      </p:sp>
      <p:sp>
        <p:nvSpPr>
          <p:cNvPr id="31" name="Text 29"/>
          <p:cNvSpPr/>
          <p:nvPr/>
        </p:nvSpPr>
        <p:spPr>
          <a:xfrm>
            <a:off x="7228978" y="2240813"/>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2" name="Shape 30"/>
          <p:cNvSpPr/>
          <p:nvPr/>
        </p:nvSpPr>
        <p:spPr>
          <a:xfrm>
            <a:off x="6141541" y="2588147"/>
            <a:ext cx="0" cy="1407355"/>
          </a:xfrm>
          <a:prstGeom prst="line">
            <a:avLst/>
          </a:prstGeom>
          <a:noFill/>
          <a:ln w="44450">
            <a:solidFill>
              <a:srgbClr val="2BA6CB"/>
            </a:solidFill>
            <a:prstDash val="sysDot"/>
            <a:tailEnd type="triangle"/>
          </a:ln>
        </p:spPr>
      </p:sp>
      <p:sp>
        <p:nvSpPr>
          <p:cNvPr id="33" name="Text 31"/>
          <p:cNvSpPr/>
          <p:nvPr/>
        </p:nvSpPr>
        <p:spPr>
          <a:xfrm>
            <a:off x="6232928" y="3172931"/>
            <a:ext cx="722605" cy="192024"/>
          </a:xfrm>
          <a:prstGeom prst="rect">
            <a:avLst/>
          </a:prstGeom>
          <a:noFill/>
          <a:ln/>
        </p:spPr>
        <p:txBody>
          <a:bodyPr wrap="square" lIns="0" tIns="0" rIns="0" bIns="0" rtlCol="0" anchor="ctr"/>
          <a:lstStyle/>
          <a:p>
            <a:pPr algn="l" indent="0" marL="0">
              <a:buNone/>
            </a:pPr>
            <a:r>
              <a:rPr lang="en-US" sz="850" b="1" dirty="0">
                <a:solidFill>
                  <a:srgbClr val="2BA6CB"/>
                </a:solidFill>
                <a:latin typeface="Segoe UI" pitchFamily="34" charset="0"/>
                <a:ea typeface="Segoe UI" pitchFamily="34" charset="-122"/>
                <a:cs typeface="Segoe UI" pitchFamily="34" charset="-120"/>
              </a:rPr>
              <a:t>actualiza</a:t>
            </a:r>
            <a:endParaRPr lang="en-US" sz="850" dirty="0"/>
          </a:p>
        </p:txBody>
      </p:sp>
      <p:sp>
        <p:nvSpPr>
          <p:cNvPr id="34" name="Text 32"/>
          <p:cNvSpPr/>
          <p:nvPr/>
        </p:nvSpPr>
        <p:spPr>
          <a:xfrm>
            <a:off x="6031813" y="2697747"/>
            <a:ext cx="219456" cy="219456"/>
          </a:xfrm>
          <a:prstGeom prst="ellipse">
            <a:avLst/>
          </a:prstGeom>
          <a:solidFill>
            <a:srgbClr val="2BA6CB"/>
          </a:solidFill>
          <a:ln w="12700">
            <a:solidFill>
              <a:srgbClr val="2BA6CB"/>
            </a:solidFill>
          </a:ln>
        </p:spPr>
        <p:txBody>
          <a:bodyPr wrap="square" lIns="0" tIns="0" rIns="0" bIns="0" rtlCol="0" anchor="ctr"/>
          <a:lstStyle/>
          <a:p>
            <a:pPr algn="ctr" indent="0" marL="0">
              <a:buNone/>
            </a:pPr>
            <a:r>
              <a:rPr lang="en-US" sz="850" b="1" dirty="0">
                <a:solidFill>
                  <a:srgbClr val="FFFFFF"/>
                </a:solidFill>
                <a:latin typeface="Segoe UI" pitchFamily="34" charset="0"/>
                <a:ea typeface="Segoe UI" pitchFamily="34" charset="-122"/>
                <a:cs typeface="Segoe UI" pitchFamily="34" charset="-120"/>
              </a:rPr>
              <a:t>8</a:t>
            </a:r>
            <a:endParaRPr lang="en-US" sz="850" dirty="0"/>
          </a:p>
        </p:txBody>
      </p:sp>
      <p:sp>
        <p:nvSpPr>
          <p:cNvPr id="35" name="Text 33"/>
          <p:cNvSpPr/>
          <p:nvPr/>
        </p:nvSpPr>
        <p:spPr>
          <a:xfrm>
            <a:off x="978195" y="1893608"/>
            <a:ext cx="1553573" cy="694539"/>
          </a:xfrm>
          <a:prstGeom prst="roundRect">
            <a:avLst>
              <a:gd name="adj" fmla="val 50000"/>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Persona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pulsa un control</a:t>
            </a:r>
            <a:endParaRPr lang="en-US" sz="1100" dirty="0"/>
          </a:p>
        </p:txBody>
      </p:sp>
      <p:sp>
        <p:nvSpPr>
          <p:cNvPr id="36" name="Text 34"/>
          <p:cNvSpPr/>
          <p:nvPr/>
        </p:nvSpPr>
        <p:spPr>
          <a:xfrm>
            <a:off x="317147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Control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botón de la pantalla</a:t>
            </a:r>
            <a:endParaRPr lang="en-US" sz="1100" dirty="0"/>
          </a:p>
        </p:txBody>
      </p:sp>
      <p:sp>
        <p:nvSpPr>
          <p:cNvPr id="37" name="Text 35"/>
          <p:cNvSpPr/>
          <p:nvPr/>
        </p:nvSpPr>
        <p:spPr>
          <a:xfrm>
            <a:off x="536475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Acción React</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estado de la vista</a:t>
            </a:r>
            <a:endParaRPr lang="en-US" sz="1100" dirty="0"/>
          </a:p>
        </p:txBody>
      </p:sp>
      <p:sp>
        <p:nvSpPr>
          <p:cNvPr id="38" name="Text 36"/>
          <p:cNvSpPr/>
          <p:nvPr/>
        </p:nvSpPr>
        <p:spPr>
          <a:xfrm>
            <a:off x="7558034" y="1893608"/>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Cliente HTTP</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fetch con límite de 10 s</a:t>
            </a:r>
            <a:endParaRPr lang="en-US" sz="1100" dirty="0"/>
          </a:p>
        </p:txBody>
      </p:sp>
      <p:sp>
        <p:nvSpPr>
          <p:cNvPr id="39" name="Text 37"/>
          <p:cNvSpPr/>
          <p:nvPr/>
        </p:nvSpPr>
        <p:spPr>
          <a:xfrm>
            <a:off x="9751314" y="1893608"/>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Historial</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solo peticiones de la UI</a:t>
            </a:r>
            <a:endParaRPr lang="en-US" sz="1100" dirty="0"/>
          </a:p>
        </p:txBody>
      </p:sp>
      <p:sp>
        <p:nvSpPr>
          <p:cNvPr id="40" name="Text 38"/>
          <p:cNvSpPr/>
          <p:nvPr/>
        </p:nvSpPr>
        <p:spPr>
          <a:xfrm>
            <a:off x="5364754" y="3995501"/>
            <a:ext cx="1553573" cy="694539"/>
          </a:xfrm>
          <a:prstGeom prst="roundRect">
            <a:avLst>
              <a:gd name="adj" fmla="val 13166"/>
            </a:avLst>
          </a:prstGeom>
          <a:solidFill>
            <a:srgbClr val="E3F4FA"/>
          </a:solidFill>
          <a:ln w="31750">
            <a:solidFill>
              <a:srgbClr val="2BA6CB"/>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Pantalla</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se actualiza</a:t>
            </a:r>
            <a:endParaRPr lang="en-US" sz="1100" dirty="0"/>
          </a:p>
        </p:txBody>
      </p:sp>
      <p:sp>
        <p:nvSpPr>
          <p:cNvPr id="41" name="Text 39"/>
          <p:cNvSpPr/>
          <p:nvPr/>
        </p:nvSpPr>
        <p:spPr>
          <a:xfrm>
            <a:off x="7558034" y="3995501"/>
            <a:ext cx="1553573" cy="694539"/>
          </a:xfrm>
          <a:prstGeom prst="roundRect">
            <a:avLst>
              <a:gd name="adj" fmla="val 13166"/>
            </a:avLst>
          </a:prstGeom>
          <a:solidFill>
            <a:srgbClr val="F4F7FB"/>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Proxy /api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nginx o Vite</a:t>
            </a:r>
            <a:endParaRPr lang="en-US" sz="1100" dirty="0"/>
          </a:p>
        </p:txBody>
      </p:sp>
      <p:sp>
        <p:nvSpPr>
          <p:cNvPr id="42" name="Text 40"/>
          <p:cNvSpPr/>
          <p:nvPr/>
        </p:nvSpPr>
        <p:spPr>
          <a:xfrm>
            <a:off x="9751314" y="3995501"/>
            <a:ext cx="1553573" cy="694539"/>
          </a:xfrm>
          <a:prstGeom prst="roundRect">
            <a:avLst>
              <a:gd name="adj" fmla="val 13166"/>
            </a:avLst>
          </a:prstGeom>
          <a:solidFill>
            <a:srgbClr val="FFFFFF"/>
          </a:solidFill>
          <a:ln w="15875">
            <a:solidFill>
              <a:srgbClr val="0B2350"/>
            </a:solidFill>
            <a:prstDash val="solid"/>
          </a:ln>
        </p:spPr>
        <p:txBody>
          <a:bodyPr wrap="square" lIns="38100" tIns="38100" rIns="38100" bIns="38100" rtlCol="0" anchor="ctr">
            <a:normAutofit/>
          </a:bodyPr>
          <a:lstStyle/>
          <a:p>
            <a:pPr algn="ctr" indent="0" marL="0">
              <a:buNone/>
            </a:pPr>
            <a:r>
              <a:rPr lang="en-US" sz="1100" b="1" dirty="0">
                <a:solidFill>
                  <a:srgbClr val="0B1A3C"/>
                </a:solidFill>
                <a:latin typeface="Segoe UI" pitchFamily="34" charset="0"/>
                <a:ea typeface="Segoe UI" pitchFamily="34" charset="-122"/>
                <a:cs typeface="Segoe UI" pitchFamily="34" charset="-120"/>
              </a:rPr>
              <a:t>API</a:t>
            </a:r>
            <a:endParaRPr lang="en-US" sz="1100" dirty="0"/>
          </a:p>
          <a:p>
            <a:pPr algn="ctr" indent="0" marL="0">
              <a:buNone/>
            </a:pPr>
            <a:r>
              <a:rPr lang="en-US" sz="850" dirty="0">
                <a:solidFill>
                  <a:srgbClr val="55627E"/>
                </a:solidFill>
                <a:latin typeface="Segoe UI" pitchFamily="34" charset="0"/>
                <a:ea typeface="Segoe UI" pitchFamily="34" charset="-122"/>
                <a:cs typeface="Segoe UI" pitchFamily="34" charset="-120"/>
              </a:rPr>
              <a:t>solicitudes o notificaciones</a:t>
            </a:r>
            <a:endParaRPr lang="en-US" sz="1100" dirty="0"/>
          </a:p>
        </p:txBody>
      </p:sp>
      <p:sp>
        <p:nvSpPr>
          <p:cNvPr id="43" name="Shape 41"/>
          <p:cNvSpPr/>
          <p:nvPr/>
        </p:nvSpPr>
        <p:spPr>
          <a:xfrm>
            <a:off x="612648" y="5376672"/>
            <a:ext cx="5419192" cy="914400"/>
          </a:xfrm>
          <a:prstGeom prst="roundRect">
            <a:avLst>
              <a:gd name="adj" fmla="val 10000"/>
            </a:avLst>
          </a:prstGeom>
          <a:solidFill>
            <a:srgbClr val="E3F4FA"/>
          </a:solidFill>
          <a:ln w="12700">
            <a:solidFill>
              <a:srgbClr val="2BA6CB"/>
            </a:solidFill>
            <a:prstDash val="solid"/>
          </a:ln>
        </p:spPr>
      </p:sp>
      <p:sp>
        <p:nvSpPr>
          <p:cNvPr id="44" name="Text 42"/>
          <p:cNvSpPr/>
          <p:nvPr/>
        </p:nvSpPr>
        <p:spPr>
          <a:xfrm>
            <a:off x="749808"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7</a:t>
            </a:r>
            <a:endParaRPr lang="en-US" sz="1400" dirty="0"/>
          </a:p>
        </p:txBody>
      </p:sp>
      <p:sp>
        <p:nvSpPr>
          <p:cNvPr id="45" name="Text 43"/>
          <p:cNvSpPr/>
          <p:nvPr/>
        </p:nvSpPr>
        <p:spPr>
          <a:xfrm>
            <a:off x="1271016"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petición queda registrada con su método, ruta, código y duración.</a:t>
            </a:r>
            <a:endParaRPr lang="en-US" sz="1300" dirty="0"/>
          </a:p>
        </p:txBody>
      </p:sp>
      <p:sp>
        <p:nvSpPr>
          <p:cNvPr id="46" name="Shape 44"/>
          <p:cNvSpPr/>
          <p:nvPr/>
        </p:nvSpPr>
        <p:spPr>
          <a:xfrm>
            <a:off x="6159856" y="5376672"/>
            <a:ext cx="5419192" cy="914400"/>
          </a:xfrm>
          <a:prstGeom prst="roundRect">
            <a:avLst>
              <a:gd name="adj" fmla="val 10000"/>
            </a:avLst>
          </a:prstGeom>
          <a:solidFill>
            <a:srgbClr val="E3F4FA"/>
          </a:solidFill>
          <a:ln w="12700">
            <a:solidFill>
              <a:srgbClr val="2BA6CB"/>
            </a:solidFill>
            <a:prstDash val="solid"/>
          </a:ln>
        </p:spPr>
      </p:sp>
      <p:sp>
        <p:nvSpPr>
          <p:cNvPr id="47" name="Text 45"/>
          <p:cNvSpPr/>
          <p:nvPr/>
        </p:nvSpPr>
        <p:spPr>
          <a:xfrm>
            <a:off x="6297016" y="5605272"/>
            <a:ext cx="420624" cy="420624"/>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400" b="1" dirty="0">
                <a:solidFill>
                  <a:srgbClr val="FFFFFF"/>
                </a:solidFill>
                <a:latin typeface="Segoe UI Semibold" pitchFamily="34" charset="0"/>
                <a:ea typeface="Segoe UI Semibold" pitchFamily="34" charset="-122"/>
                <a:cs typeface="Segoe UI Semibold" pitchFamily="34" charset="-120"/>
              </a:rPr>
              <a:t>8</a:t>
            </a:r>
            <a:endParaRPr lang="en-US" sz="1400" dirty="0"/>
          </a:p>
        </p:txBody>
      </p:sp>
      <p:sp>
        <p:nvSpPr>
          <p:cNvPr id="48" name="Text 46"/>
          <p:cNvSpPr/>
          <p:nvPr/>
        </p:nvSpPr>
        <p:spPr>
          <a:xfrm>
            <a:off x="6818224" y="5413248"/>
            <a:ext cx="4641952" cy="841248"/>
          </a:xfrm>
          <a:prstGeom prst="rect">
            <a:avLst/>
          </a:prstGeom>
          <a:noFill/>
          <a:ln/>
        </p:spPr>
        <p:txBody>
          <a:bodyPr wrap="square" lIns="0" tIns="0" rIns="0" bIns="0" rtlCol="0" anchor="ctr">
            <a:normAutofit/>
          </a:bodyPr>
          <a:lstStyle/>
          <a:p>
            <a:pPr indent="0" marL="0">
              <a:buNone/>
            </a:pPr>
            <a:r>
              <a:rPr lang="en-US" sz="1300" dirty="0">
                <a:solidFill>
                  <a:srgbClr val="0B1A3C"/>
                </a:solidFill>
                <a:latin typeface="Segoe UI" pitchFamily="34" charset="0"/>
                <a:ea typeface="Segoe UI" pitchFamily="34" charset="-122"/>
                <a:cs typeface="Segoe UI" pitchFamily="34" charset="-120"/>
              </a:rPr>
              <a:t>La pantalla muestra el resultado con un mensaje claro.</a:t>
            </a:r>
            <a:endParaRPr lang="en-US" sz="1300" dirty="0"/>
          </a:p>
        </p:txBody>
      </p:sp>
      <p:sp>
        <p:nvSpPr>
          <p:cNvPr id="49" name="Text 47"/>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Una interfaz simple, con ayuda</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Cuatro pestañas: usar, seguir, validar y entender.</a:t>
            </a:r>
            <a:endParaRPr lang="en-US" sz="3200" dirty="0"/>
          </a:p>
        </p:txBody>
      </p:sp>
      <p:sp>
        <p:nvSpPr>
          <p:cNvPr id="6" name="Shape 4"/>
          <p:cNvSpPr/>
          <p:nvPr/>
        </p:nvSpPr>
        <p:spPr>
          <a:xfrm>
            <a:off x="6281928" y="1417320"/>
            <a:ext cx="5297119" cy="994410"/>
          </a:xfrm>
          <a:prstGeom prst="roundRect">
            <a:avLst>
              <a:gd name="adj" fmla="val 11034"/>
            </a:avLst>
          </a:prstGeom>
          <a:solidFill>
            <a:srgbClr val="FFFFFF"/>
          </a:solidFill>
          <a:ln w="15875">
            <a:solidFill>
              <a:srgbClr val="DFE6F0"/>
            </a:solidFill>
            <a:prstDash val="solid"/>
          </a:ln>
        </p:spPr>
      </p:sp>
      <p:sp>
        <p:nvSpPr>
          <p:cNvPr id="7" name="Text 5"/>
          <p:cNvSpPr/>
          <p:nvPr/>
        </p:nvSpPr>
        <p:spPr>
          <a:xfrm>
            <a:off x="6464808" y="1685925"/>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Solicitudes: crear, ver las tuyas, enviar, aprobar o rechazar</a:t>
            </a:r>
            <a:endParaRPr lang="en-US" sz="1600" dirty="0"/>
          </a:p>
        </p:txBody>
      </p:sp>
      <p:sp>
        <p:nvSpPr>
          <p:cNvPr id="9" name="Shape 7"/>
          <p:cNvSpPr/>
          <p:nvPr/>
        </p:nvSpPr>
        <p:spPr>
          <a:xfrm>
            <a:off x="6281928" y="2558034"/>
            <a:ext cx="5297119" cy="994410"/>
          </a:xfrm>
          <a:prstGeom prst="roundRect">
            <a:avLst>
              <a:gd name="adj" fmla="val 11034"/>
            </a:avLst>
          </a:prstGeom>
          <a:solidFill>
            <a:srgbClr val="E3F4FA"/>
          </a:solidFill>
          <a:ln w="15875">
            <a:solidFill>
              <a:srgbClr val="2BA6CB"/>
            </a:solidFill>
            <a:prstDash val="solid"/>
          </a:ln>
        </p:spPr>
      </p:sp>
      <p:sp>
        <p:nvSpPr>
          <p:cNvPr id="10" name="Text 8"/>
          <p:cNvSpPr/>
          <p:nvPr/>
        </p:nvSpPr>
        <p:spPr>
          <a:xfrm>
            <a:off x="6464808" y="2826639"/>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558034"/>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Enviadas: el recorrido de cada evento y Reentregar</a:t>
            </a:r>
            <a:endParaRPr lang="en-US" sz="1600" dirty="0"/>
          </a:p>
        </p:txBody>
      </p:sp>
      <p:sp>
        <p:nvSpPr>
          <p:cNvPr id="12" name="Shape 10"/>
          <p:cNvSpPr/>
          <p:nvPr/>
        </p:nvSpPr>
        <p:spPr>
          <a:xfrm>
            <a:off x="6281928" y="3698748"/>
            <a:ext cx="5297119" cy="994410"/>
          </a:xfrm>
          <a:prstGeom prst="roundRect">
            <a:avLst>
              <a:gd name="adj" fmla="val 11034"/>
            </a:avLst>
          </a:prstGeom>
          <a:solidFill>
            <a:srgbClr val="FFFFFF"/>
          </a:solidFill>
          <a:ln w="15875">
            <a:solidFill>
              <a:srgbClr val="DFE6F0"/>
            </a:solidFill>
            <a:prstDash val="solid"/>
          </a:ln>
        </p:spPr>
      </p:sp>
      <p:sp>
        <p:nvSpPr>
          <p:cNvPr id="13" name="Text 11"/>
          <p:cNvSpPr/>
          <p:nvPr/>
        </p:nvSpPr>
        <p:spPr>
          <a:xfrm>
            <a:off x="6464808" y="3967353"/>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698748"/>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Salud: validar los dos servicios</a:t>
            </a:r>
            <a:endParaRPr lang="en-US" sz="1600" dirty="0"/>
          </a:p>
        </p:txBody>
      </p:sp>
      <p:sp>
        <p:nvSpPr>
          <p:cNvPr id="15" name="Shape 13"/>
          <p:cNvSpPr/>
          <p:nvPr/>
        </p:nvSpPr>
        <p:spPr>
          <a:xfrm>
            <a:off x="6281928" y="4839462"/>
            <a:ext cx="5297119" cy="994410"/>
          </a:xfrm>
          <a:prstGeom prst="roundRect">
            <a:avLst>
              <a:gd name="adj" fmla="val 11034"/>
            </a:avLst>
          </a:prstGeom>
          <a:solidFill>
            <a:srgbClr val="FFFFFF"/>
          </a:solidFill>
          <a:ln w="15875">
            <a:solidFill>
              <a:srgbClr val="DFE6F0"/>
            </a:solidFill>
            <a:prstDash val="solid"/>
          </a:ln>
        </p:spPr>
      </p:sp>
      <p:sp>
        <p:nvSpPr>
          <p:cNvPr id="16" name="Text 14"/>
          <p:cNvSpPr/>
          <p:nvPr/>
        </p:nvSpPr>
        <p:spPr>
          <a:xfrm>
            <a:off x="6464808" y="5108067"/>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839462"/>
            <a:ext cx="4336999" cy="99441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Ayuda: diagramas paso a paso de cómo funciona</a:t>
            </a:r>
            <a:endParaRPr lang="en-US" sz="1600" dirty="0"/>
          </a:p>
        </p:txBody>
      </p:sp>
      <p:sp>
        <p:nvSpPr>
          <p:cNvPr id="18" name="Shape 16"/>
          <p:cNvSpPr/>
          <p:nvPr/>
        </p:nvSpPr>
        <p:spPr>
          <a:xfrm>
            <a:off x="0" y="5961888"/>
            <a:ext cx="12191695" cy="475488"/>
          </a:xfrm>
          <a:prstGeom prst="rect">
            <a:avLst/>
          </a:prstGeom>
          <a:solidFill>
            <a:srgbClr val="0B2350"/>
          </a:solidFill>
          <a:ln w="12700">
            <a:solidFill>
              <a:srgbClr val="0B2350"/>
            </a:solidFill>
            <a:prstDash val="solid"/>
          </a:ln>
        </p:spPr>
      </p:sp>
      <p:sp>
        <p:nvSpPr>
          <p:cNvPr id="19" name="Text 17"/>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Cualquier persona puede usarla, y quien quiera entenderla tiene la explicación a un clic.</a:t>
            </a:r>
            <a:endParaRPr lang="en-US" sz="1400" dirty="0"/>
          </a:p>
        </p:txBody>
      </p:sp>
      <p:sp>
        <p:nvSpPr>
          <p:cNvPr id="20" name="Text 18"/>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7 · ENSAMBLAJE: LA UI</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Demostración en vivo</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Todo lo que contamos, funcionando.</a:t>
            </a:r>
            <a:endParaRPr lang="en-US" sz="3200" dirty="0"/>
          </a:p>
        </p:txBody>
      </p:sp>
      <p:sp>
        <p:nvSpPr>
          <p:cNvPr id="6" name="Shape 4"/>
          <p:cNvSpPr/>
          <p:nvPr/>
        </p:nvSpPr>
        <p:spPr>
          <a:xfrm>
            <a:off x="6281928" y="1417320"/>
            <a:ext cx="5297119" cy="1051560"/>
          </a:xfrm>
          <a:prstGeom prst="roundRect">
            <a:avLst>
              <a:gd name="adj" fmla="val 10435"/>
            </a:avLst>
          </a:prstGeom>
          <a:solidFill>
            <a:srgbClr val="FFFFFF"/>
          </a:solidFill>
          <a:ln w="15875">
            <a:solidFill>
              <a:srgbClr val="DFE6F0"/>
            </a:solidFill>
            <a:prstDash val="solid"/>
          </a:ln>
        </p:spPr>
      </p:sp>
      <p:sp>
        <p:nvSpPr>
          <p:cNvPr id="7" name="Text 5"/>
          <p:cNvSpPr/>
          <p:nvPr/>
        </p:nvSpPr>
        <p:spPr>
          <a:xfrm>
            <a:off x="6464808" y="171450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Ver los dos servicios en verde</a:t>
            </a:r>
            <a:endParaRPr lang="en-US" sz="1600" dirty="0"/>
          </a:p>
        </p:txBody>
      </p:sp>
      <p:sp>
        <p:nvSpPr>
          <p:cNvPr id="9" name="Shape 7"/>
          <p:cNvSpPr/>
          <p:nvPr/>
        </p:nvSpPr>
        <p:spPr>
          <a:xfrm>
            <a:off x="6281928" y="2615184"/>
            <a:ext cx="5297119" cy="1051560"/>
          </a:xfrm>
          <a:prstGeom prst="roundRect">
            <a:avLst>
              <a:gd name="adj" fmla="val 10435"/>
            </a:avLst>
          </a:prstGeom>
          <a:solidFill>
            <a:srgbClr val="E3F4FA"/>
          </a:solidFill>
          <a:ln w="15875">
            <a:solidFill>
              <a:srgbClr val="2BA6CB"/>
            </a:solidFill>
            <a:prstDash val="solid"/>
          </a:ln>
        </p:spPr>
      </p:sp>
      <p:sp>
        <p:nvSpPr>
          <p:cNvPr id="10" name="Text 8"/>
          <p:cNvSpPr/>
          <p:nvPr/>
        </p:nvSpPr>
        <p:spPr>
          <a:xfrm>
            <a:off x="6464808" y="291236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615184"/>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Crear una solicitud nueva</a:t>
            </a:r>
            <a:endParaRPr lang="en-US" sz="1600" dirty="0"/>
          </a:p>
        </p:txBody>
      </p:sp>
      <p:sp>
        <p:nvSpPr>
          <p:cNvPr id="12" name="Shape 10"/>
          <p:cNvSpPr/>
          <p:nvPr/>
        </p:nvSpPr>
        <p:spPr>
          <a:xfrm>
            <a:off x="6281928" y="3813048"/>
            <a:ext cx="5297119" cy="1051560"/>
          </a:xfrm>
          <a:prstGeom prst="roundRect">
            <a:avLst>
              <a:gd name="adj" fmla="val 10435"/>
            </a:avLst>
          </a:prstGeom>
          <a:solidFill>
            <a:srgbClr val="FFFFFF"/>
          </a:solidFill>
          <a:ln w="15875">
            <a:solidFill>
              <a:srgbClr val="DFE6F0"/>
            </a:solidFill>
            <a:prstDash val="solid"/>
          </a:ln>
        </p:spPr>
      </p:sp>
      <p:sp>
        <p:nvSpPr>
          <p:cNvPr id="13" name="Text 11"/>
          <p:cNvSpPr/>
          <p:nvPr/>
        </p:nvSpPr>
        <p:spPr>
          <a:xfrm>
            <a:off x="6464808" y="411022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813048"/>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Enviarla y ver llegar el evento</a:t>
            </a:r>
            <a:endParaRPr lang="en-US" sz="1600" dirty="0"/>
          </a:p>
        </p:txBody>
      </p:sp>
      <p:sp>
        <p:nvSpPr>
          <p:cNvPr id="15" name="Shape 13"/>
          <p:cNvSpPr/>
          <p:nvPr/>
        </p:nvSpPr>
        <p:spPr>
          <a:xfrm>
            <a:off x="6281928" y="5010912"/>
            <a:ext cx="5297119" cy="1051560"/>
          </a:xfrm>
          <a:prstGeom prst="roundRect">
            <a:avLst>
              <a:gd name="adj" fmla="val 10435"/>
            </a:avLst>
          </a:prstGeom>
          <a:solidFill>
            <a:srgbClr val="FFFFFF"/>
          </a:solidFill>
          <a:ln w="15875">
            <a:solidFill>
              <a:srgbClr val="DFE6F0"/>
            </a:solidFill>
            <a:prstDash val="solid"/>
          </a:ln>
        </p:spPr>
      </p:sp>
      <p:sp>
        <p:nvSpPr>
          <p:cNvPr id="16" name="Text 14"/>
          <p:cNvSpPr/>
          <p:nvPr/>
        </p:nvSpPr>
        <p:spPr>
          <a:xfrm>
            <a:off x="6464808" y="530809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5010912"/>
            <a:ext cx="4336999" cy="105156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Reentregarlo: el aviso no se duplica</a:t>
            </a:r>
            <a:endParaRPr lang="en-US" sz="1600" dirty="0"/>
          </a:p>
        </p:txBody>
      </p:sp>
      <p:sp>
        <p:nvSpPr>
          <p:cNvPr id="18" name="Text 1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7 · ENSAMBLAJE: LA UI</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aprendimos, en ARKA-Lite</a:t>
            </a:r>
            <a:endParaRPr lang="en-US" sz="2800" dirty="0"/>
          </a:p>
        </p:txBody>
      </p:sp>
      <p:sp>
        <p:nvSpPr>
          <p:cNvPr id="5" name="Text 3"/>
          <p:cNvSpPr/>
          <p:nvPr/>
        </p:nvSpPr>
        <p:spPr>
          <a:xfrm>
            <a:off x="612648"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Cada tema del curso tiene un lugar en el proyecto</a:t>
            </a:r>
            <a:endParaRPr lang="en-US" sz="1100" dirty="0"/>
          </a:p>
        </p:txBody>
      </p:sp>
      <p:sp>
        <p:nvSpPr>
          <p:cNvPr id="6" name="Text 4"/>
          <p:cNvSpPr/>
          <p:nvPr/>
        </p:nvSpPr>
        <p:spPr>
          <a:xfrm>
            <a:off x="4310786"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Del primer endpoint al clúster</a:t>
            </a:r>
            <a:endParaRPr lang="en-US" sz="1100" dirty="0"/>
          </a:p>
        </p:txBody>
      </p:sp>
      <p:sp>
        <p:nvSpPr>
          <p:cNvPr id="7" name="Text 5"/>
          <p:cNvSpPr/>
          <p:nvPr/>
        </p:nvSpPr>
        <p:spPr>
          <a:xfrm>
            <a:off x="8008925" y="1298448"/>
            <a:ext cx="3570122" cy="420624"/>
          </a:xfrm>
          <a:prstGeom prst="roundRect">
            <a:avLst>
              <a:gd name="adj" fmla="val 17391"/>
            </a:avLst>
          </a:prstGeom>
          <a:solidFill>
            <a:srgbClr val="F4F7FB"/>
          </a:solidFill>
          <a:ln w="9525">
            <a:solidFill>
              <a:srgbClr val="DFE6F0"/>
            </a:solidFill>
          </a:ln>
        </p:spPr>
        <p:txBody>
          <a:bodyPr wrap="square" lIns="25400" tIns="101600" rIns="101600" bIns="25400" rtlCol="0" anchor="ctr">
            <a:normAutofit/>
          </a:bodyPr>
          <a:lstStyle/>
          <a:p>
            <a:pPr indent="0" marL="0">
              <a:buNone/>
            </a:pPr>
            <a:r>
              <a:rPr lang="en-US" sz="1100" dirty="0">
                <a:solidFill>
                  <a:srgbClr val="0B1A3C"/>
                </a:solidFill>
                <a:latin typeface="Segoe UI" pitchFamily="34" charset="0"/>
                <a:ea typeface="Segoe UI" pitchFamily="34" charset="-122"/>
                <a:cs typeface="Segoe UI" pitchFamily="34" charset="-120"/>
              </a:rPr>
              <a:t>Con pruebas y una demostración que lo respaldan</a:t>
            </a:r>
            <a:endParaRPr lang="en-US" sz="1100" dirty="0"/>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612648" y="1847088"/>
          <a:ext cx="10966399" cy="914400"/>
        </p:xfrm>
        <a:graphic>
          <a:graphicData uri="http://schemas.openxmlformats.org/drawingml/2006/table">
            <a:tbl>
              <a:tblPr/>
              <a:tblGrid>
                <a:gridCol w="4061629"/>
                <a:gridCol w="6904770"/>
              </a:tblGrid>
              <a:tr h="0">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Tema del curso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c>
                  <a:txBody>
                    <a:bodyPr/>
                    <a:lstStyle/>
                    <a:p>
                      <a:pPr indent="0" marL="0">
                        <a:buNone/>
                      </a:pPr>
                      <a:r>
                        <a:rPr lang="en-US" sz="1400" b="1" dirty="0">
                          <a:solidFill>
                            <a:srgbClr val="FFFFFF"/>
                          </a:solidFill>
                          <a:latin typeface="Segoe UI" pitchFamily="34" charset="0"/>
                          <a:ea typeface="Segoe UI" pitchFamily="34" charset="-122"/>
                          <a:cs typeface="Segoe UI" pitchFamily="34" charset="-120"/>
                        </a:rPr>
                        <a:t>Dónde está en ARKA-Lite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0B2350"/>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Spring Boot y endpoints REST</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controladores de solicitudes y notificaciones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Manejo global de errores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ManejadorGlobalDeErrores: 404, 409 y 400</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Git, Swagger y pruebas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Ramas y Pull Requests, Swagger, JUnit y MockMvc</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Puertos y adaptadores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Los paquetes dominio y adaptadores, con @Primary</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De monolito a microservicios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Dos servicios, cada uno con su base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Docker y Compose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Dockerfile en dos etapas y compose.yaml</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Integración y entrega continua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El pipeline de GitHub Actions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Kubernetes</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Deployments, Services, Secret y disco persistente</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Base de datos y consistencia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JPA, bandeja de salida, relevador e idempotencia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Logs y monitoreo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Promtail, Loki, Grafana y la salud de cada servicio</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4F7FB"/>
                    </a:solidFill>
                  </a:tcPr>
                </a:tc>
              </a:tr>
              <a:tr h="0">
                <a:tc>
                  <a:txBody>
                    <a:bodyPr/>
                    <a:lstStyle/>
                    <a:p>
                      <a:pPr indent="0" marL="0">
                        <a:buNone/>
                      </a:pPr>
                      <a:r>
                        <a:rPr lang="en-US" sz="1400" b="1" dirty="0">
                          <a:solidFill>
                            <a:srgbClr val="0B1A3C"/>
                          </a:solidFill>
                          <a:latin typeface="Segoe UI" pitchFamily="34" charset="0"/>
                          <a:ea typeface="Segoe UI" pitchFamily="34" charset="-122"/>
                          <a:cs typeface="Segoe UI" pitchFamily="34" charset="-120"/>
                        </a:rPr>
                        <a:t>Ensamblaje del sistema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c>
                  <a:txBody>
                    <a:bodyPr/>
                    <a:lstStyle/>
                    <a:p>
                      <a:pPr indent="0" marL="0">
                        <a:buNone/>
                      </a:pPr>
                      <a:r>
                        <a:rPr lang="en-US" sz="1400" dirty="0">
                          <a:solidFill>
                            <a:srgbClr val="0B1A3C"/>
                          </a:solidFill>
                          <a:latin typeface="Segoe UI" pitchFamily="34" charset="0"/>
                          <a:ea typeface="Segoe UI" pitchFamily="34" charset="-122"/>
                          <a:cs typeface="Segoe UI" pitchFamily="34" charset="-120"/>
                        </a:rPr>
                        <a:t>La interfaz: Solicitudes, Enviadas, Salud y Ayuda</a:t>
                      </a:r>
                      <a:endParaRPr lang="en-US" sz="1400" dirty="0">
                        <a:latin typeface="Segoe UI" charset="0"/>
                        <a:ea typeface="Segoe UI" charset="0"/>
                        <a:cs typeface="Segoe UI" charset="0"/>
                      </a:endParaRPr>
                    </a:p>
                  </a:txBody>
                  <a:tcPr marL="101600" marR="101600" marT="63500" marB="63500" anchor="ctr">
                    <a:lnL w="9525" cap="flat" cmpd="sng" algn="ctr">
                      <a:solidFill>
                        <a:srgbClr val="DFE6F0"/>
                      </a:solidFill>
                      <a:prstDash val="solid"/>
                      <a:round/>
                      <a:headEnd type="none" w="med" len="med"/>
                      <a:tailEnd type="none" w="med" len="med"/>
                    </a:lnL>
                    <a:lnR w="9525" cap="flat" cmpd="sng" algn="ctr">
                      <a:solidFill>
                        <a:srgbClr val="DFE6F0"/>
                      </a:solidFill>
                      <a:prstDash val="solid"/>
                      <a:round/>
                      <a:headEnd type="none" w="med" len="med"/>
                      <a:tailEnd type="none" w="med" len="med"/>
                    </a:lnR>
                    <a:lnT w="9525" cap="flat" cmpd="sng" algn="ctr">
                      <a:solidFill>
                        <a:srgbClr val="DFE6F0"/>
                      </a:solidFill>
                      <a:prstDash val="solid"/>
                      <a:round/>
                      <a:headEnd type="none" w="med" len="med"/>
                      <a:tailEnd type="none" w="med" len="med"/>
                    </a:lnT>
                    <a:lnB w="9525" cap="flat" cmpd="sng" algn="ctr">
                      <a:solidFill>
                        <a:srgbClr val="DFE6F0"/>
                      </a:solidFill>
                      <a:prstDash val="solid"/>
                      <a:round/>
                      <a:headEnd type="none" w="med" len="med"/>
                      <a:tailEnd type="none" w="med" len="med"/>
                    </a:lnB>
                    <a:solidFill>
                      <a:srgbClr val="FFFFFF"/>
                    </a:solidFill>
                  </a:tcPr>
                </a:tc>
              </a:tr>
            </a:tbl>
          </a:graphicData>
        </a:graphic>
      </p:graphicFrame>
      <p:sp>
        <p:nvSpPr>
          <p:cNvPr id="9" name="Text 6"/>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BA6CB"/>
          </a:solidFill>
          <a:ln w="12700">
            <a:solidFill>
              <a:srgbClr val="2BA6CB"/>
            </a:solidFill>
            <a:prstDash val="solid"/>
          </a:ln>
        </p:spPr>
      </p:sp>
      <p:sp>
        <p:nvSpPr>
          <p:cNvPr id="3" name="Text 1"/>
          <p:cNvSpPr/>
          <p:nvPr/>
        </p:nvSpPr>
        <p:spPr>
          <a:xfrm>
            <a:off x="612648" y="365760"/>
            <a:ext cx="10966399" cy="237744"/>
          </a:xfrm>
          <a:prstGeom prst="rect">
            <a:avLst/>
          </a:prstGeom>
          <a:noFill/>
          <a:ln/>
        </p:spPr>
        <p:txBody>
          <a:bodyPr wrap="square" lIns="0" tIns="0" rIns="0" bIns="0" rtlCol="0" anchor="ctr"/>
          <a:lstStyle/>
          <a:p>
            <a:pPr indent="0" marL="0">
              <a:buNone/>
            </a:pPr>
            <a:r>
              <a:rPr lang="en-US" sz="1050" b="1" spc="250" kern="0" dirty="0">
                <a:solidFill>
                  <a:srgbClr val="0B6E8A"/>
                </a:solidFill>
                <a:latin typeface="Segoe UI" pitchFamily="34" charset="0"/>
                <a:ea typeface="Segoe UI" pitchFamily="34" charset="-122"/>
                <a:cs typeface="Segoe UI" pitchFamily="34" charset="-120"/>
              </a:rPr>
              <a:t>CIERRE</a:t>
            </a:r>
            <a:endParaRPr lang="en-US" sz="1050" dirty="0"/>
          </a:p>
        </p:txBody>
      </p:sp>
      <p:sp>
        <p:nvSpPr>
          <p:cNvPr id="4" name="Text 2"/>
          <p:cNvSpPr/>
          <p:nvPr/>
        </p:nvSpPr>
        <p:spPr>
          <a:xfrm>
            <a:off x="612648" y="603504"/>
            <a:ext cx="10966399" cy="566928"/>
          </a:xfrm>
          <a:prstGeom prst="rect">
            <a:avLst/>
          </a:prstGeom>
          <a:noFill/>
          <a:ln/>
        </p:spPr>
        <p:txBody>
          <a:bodyPr wrap="square" lIns="0" tIns="0" rIns="0" bIns="0" rtlCol="0" anchor="ctr">
            <a:normAutofit/>
          </a:bodyPr>
          <a:lstStyle/>
          <a:p>
            <a:pPr indent="0" marL="0">
              <a:buNone/>
            </a:pPr>
            <a:r>
              <a:rPr lang="en-US" sz="2800" b="1" dirty="0">
                <a:solidFill>
                  <a:srgbClr val="0B1A3C"/>
                </a:solidFill>
                <a:latin typeface="Segoe UI Semibold" pitchFamily="34" charset="0"/>
                <a:ea typeface="Segoe UI Semibold" pitchFamily="34" charset="-122"/>
                <a:cs typeface="Segoe UI Semibold" pitchFamily="34" charset="-120"/>
              </a:rPr>
              <a:t>Lo que le falta</a:t>
            </a:r>
            <a:endParaRPr lang="en-US" sz="2800" dirty="0"/>
          </a:p>
        </p:txBody>
      </p:sp>
      <p:sp>
        <p:nvSpPr>
          <p:cNvPr id="5" name="Text 3"/>
          <p:cNvSpPr/>
          <p:nvPr/>
        </p:nvSpPr>
        <p:spPr>
          <a:xfrm>
            <a:off x="612648" y="1417320"/>
            <a:ext cx="5257800" cy="1737360"/>
          </a:xfrm>
          <a:prstGeom prst="rect">
            <a:avLst/>
          </a:prstGeom>
          <a:noFill/>
          <a:ln/>
        </p:spPr>
        <p:txBody>
          <a:bodyPr wrap="square" lIns="0" tIns="0" rIns="0" bIns="0" rtlCol="0" anchor="t">
            <a:normAutofit/>
          </a:bodyPr>
          <a:lstStyle/>
          <a:p>
            <a:pPr indent="0" marL="0">
              <a:buNone/>
            </a:pPr>
            <a:r>
              <a:rPr lang="en-US" sz="3200" b="1" dirty="0">
                <a:solidFill>
                  <a:srgbClr val="0B2350"/>
                </a:solidFill>
                <a:latin typeface="Segoe UI Semibold" pitchFamily="34" charset="0"/>
                <a:ea typeface="Segoe UI Semibold" pitchFamily="34" charset="-122"/>
                <a:cs typeface="Segoe UI Semibold" pitchFamily="34" charset="-120"/>
              </a:rPr>
              <a:t>Un laboratorio sólido, todavía no un producto.</a:t>
            </a:r>
            <a:endParaRPr lang="en-US" sz="3200" dirty="0"/>
          </a:p>
        </p:txBody>
      </p:sp>
      <p:sp>
        <p:nvSpPr>
          <p:cNvPr id="6" name="Shape 4"/>
          <p:cNvSpPr/>
          <p:nvPr/>
        </p:nvSpPr>
        <p:spPr>
          <a:xfrm>
            <a:off x="6281928" y="1417320"/>
            <a:ext cx="5297119" cy="891540"/>
          </a:xfrm>
          <a:prstGeom prst="roundRect">
            <a:avLst>
              <a:gd name="adj" fmla="val 12308"/>
            </a:avLst>
          </a:prstGeom>
          <a:solidFill>
            <a:srgbClr val="FFFFFF"/>
          </a:solidFill>
          <a:ln w="15875">
            <a:solidFill>
              <a:srgbClr val="DFE6F0"/>
            </a:solidFill>
            <a:prstDash val="solid"/>
          </a:ln>
        </p:spPr>
      </p:sp>
      <p:sp>
        <p:nvSpPr>
          <p:cNvPr id="7" name="Text 5"/>
          <p:cNvSpPr/>
          <p:nvPr/>
        </p:nvSpPr>
        <p:spPr>
          <a:xfrm>
            <a:off x="6464808" y="1634490"/>
            <a:ext cx="457200" cy="457200"/>
          </a:xfrm>
          <a:prstGeom prst="ellipse">
            <a:avLst/>
          </a:prstGeom>
          <a:solidFill>
            <a:srgbClr val="0B2350"/>
          </a:solidFill>
          <a:ln>
            <a:solidFill>
              <a:srgbClr val="0B2350"/>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8" name="Text 6"/>
          <p:cNvSpPr/>
          <p:nvPr/>
        </p:nvSpPr>
        <p:spPr>
          <a:xfrm>
            <a:off x="7086600" y="1417320"/>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texto de los avisos vive en memoria</a:t>
            </a:r>
            <a:endParaRPr lang="en-US" sz="1600" dirty="0"/>
          </a:p>
        </p:txBody>
      </p:sp>
      <p:sp>
        <p:nvSpPr>
          <p:cNvPr id="9" name="Shape 7"/>
          <p:cNvSpPr/>
          <p:nvPr/>
        </p:nvSpPr>
        <p:spPr>
          <a:xfrm>
            <a:off x="6281928" y="2455164"/>
            <a:ext cx="5297119" cy="891540"/>
          </a:xfrm>
          <a:prstGeom prst="roundRect">
            <a:avLst>
              <a:gd name="adj" fmla="val 12308"/>
            </a:avLst>
          </a:prstGeom>
          <a:solidFill>
            <a:srgbClr val="E3F4FA"/>
          </a:solidFill>
          <a:ln w="15875">
            <a:solidFill>
              <a:srgbClr val="2BA6CB"/>
            </a:solidFill>
            <a:prstDash val="solid"/>
          </a:ln>
        </p:spPr>
      </p:sp>
      <p:sp>
        <p:nvSpPr>
          <p:cNvPr id="10" name="Text 8"/>
          <p:cNvSpPr/>
          <p:nvPr/>
        </p:nvSpPr>
        <p:spPr>
          <a:xfrm>
            <a:off x="6464808" y="2672334"/>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1" name="Text 9"/>
          <p:cNvSpPr/>
          <p:nvPr/>
        </p:nvSpPr>
        <p:spPr>
          <a:xfrm>
            <a:off x="7086600" y="2455164"/>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No hay inicio de sesión: es un laboratorio</a:t>
            </a:r>
            <a:endParaRPr lang="en-US" sz="1600" dirty="0"/>
          </a:p>
        </p:txBody>
      </p:sp>
      <p:sp>
        <p:nvSpPr>
          <p:cNvPr id="12" name="Shape 10"/>
          <p:cNvSpPr/>
          <p:nvPr/>
        </p:nvSpPr>
        <p:spPr>
          <a:xfrm>
            <a:off x="6281928" y="3493008"/>
            <a:ext cx="5297119" cy="891540"/>
          </a:xfrm>
          <a:prstGeom prst="roundRect">
            <a:avLst>
              <a:gd name="adj" fmla="val 12308"/>
            </a:avLst>
          </a:prstGeom>
          <a:solidFill>
            <a:srgbClr val="FFFFFF"/>
          </a:solidFill>
          <a:ln w="15875">
            <a:solidFill>
              <a:srgbClr val="DFE6F0"/>
            </a:solidFill>
            <a:prstDash val="solid"/>
          </a:ln>
        </p:spPr>
      </p:sp>
      <p:sp>
        <p:nvSpPr>
          <p:cNvPr id="13" name="Text 11"/>
          <p:cNvSpPr/>
          <p:nvPr/>
        </p:nvSpPr>
        <p:spPr>
          <a:xfrm>
            <a:off x="6464808" y="3710178"/>
            <a:ext cx="457200" cy="457200"/>
          </a:xfrm>
          <a:prstGeom prst="ellipse">
            <a:avLst/>
          </a:prstGeom>
          <a:solidFill>
            <a:srgbClr val="0B6E8A"/>
          </a:solidFill>
          <a:ln>
            <a:solidFill>
              <a:srgbClr val="0B6E8A"/>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14" name="Text 12"/>
          <p:cNvSpPr/>
          <p:nvPr/>
        </p:nvSpPr>
        <p:spPr>
          <a:xfrm>
            <a:off x="7086600" y="3493008"/>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Sin mensajería dedicada ni métricas históricas</a:t>
            </a:r>
            <a:endParaRPr lang="en-US" sz="1600" dirty="0"/>
          </a:p>
        </p:txBody>
      </p:sp>
      <p:sp>
        <p:nvSpPr>
          <p:cNvPr id="15" name="Shape 13"/>
          <p:cNvSpPr/>
          <p:nvPr/>
        </p:nvSpPr>
        <p:spPr>
          <a:xfrm>
            <a:off x="6281928" y="4530852"/>
            <a:ext cx="5297119" cy="891540"/>
          </a:xfrm>
          <a:prstGeom prst="roundRect">
            <a:avLst>
              <a:gd name="adj" fmla="val 12308"/>
            </a:avLst>
          </a:prstGeom>
          <a:solidFill>
            <a:srgbClr val="FFFFFF"/>
          </a:solidFill>
          <a:ln w="15875">
            <a:solidFill>
              <a:srgbClr val="DFE6F0"/>
            </a:solidFill>
            <a:prstDash val="solid"/>
          </a:ln>
        </p:spPr>
      </p:sp>
      <p:sp>
        <p:nvSpPr>
          <p:cNvPr id="16" name="Text 14"/>
          <p:cNvSpPr/>
          <p:nvPr/>
        </p:nvSpPr>
        <p:spPr>
          <a:xfrm>
            <a:off x="6464808" y="4748022"/>
            <a:ext cx="457200" cy="457200"/>
          </a:xfrm>
          <a:prstGeom prst="ellipse">
            <a:avLst/>
          </a:prstGeom>
          <a:solidFill>
            <a:srgbClr val="0A6648"/>
          </a:solidFill>
          <a:ln>
            <a:solidFill>
              <a:srgbClr val="0A6648"/>
            </a:solidFill>
          </a:ln>
        </p:spPr>
        <p:txBody>
          <a:bodyPr wrap="square" lIns="0" tIns="0" rIns="0" bIns="0" rtlCol="0" anchor="ctr"/>
          <a:lstStyle/>
          <a:p>
            <a:pPr algn="ctr" indent="0" marL="0">
              <a:buNone/>
            </a:pPr>
            <a:r>
              <a:rPr lang="en-US" sz="1600" b="1"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17" name="Text 15"/>
          <p:cNvSpPr/>
          <p:nvPr/>
        </p:nvSpPr>
        <p:spPr>
          <a:xfrm>
            <a:off x="7086600" y="4530852"/>
            <a:ext cx="4336999" cy="891540"/>
          </a:xfrm>
          <a:prstGeom prst="rect">
            <a:avLst/>
          </a:prstGeom>
          <a:noFill/>
          <a:ln/>
        </p:spPr>
        <p:txBody>
          <a:bodyPr wrap="square" lIns="0" tIns="0" rIns="0" bIns="0" rtlCol="0" anchor="ctr">
            <a:normAutofit/>
          </a:bodyPr>
          <a:lstStyle/>
          <a:p>
            <a:pPr indent="0" marL="0">
              <a:buNone/>
            </a:pPr>
            <a:r>
              <a:rPr lang="en-US" sz="1600" dirty="0">
                <a:solidFill>
                  <a:srgbClr val="0B1A3C"/>
                </a:solidFill>
                <a:latin typeface="Segoe UI" pitchFamily="34" charset="0"/>
                <a:ea typeface="Segoe UI" pitchFamily="34" charset="-122"/>
                <a:cs typeface="Segoe UI" pitchFamily="34" charset="-120"/>
              </a:rPr>
              <a:t>El pipeline publica, pero no despliega solo</a:t>
            </a:r>
            <a:endParaRPr lang="en-US" sz="1600" dirty="0"/>
          </a:p>
        </p:txBody>
      </p:sp>
      <p:sp>
        <p:nvSpPr>
          <p:cNvPr id="18" name="Text 16"/>
          <p:cNvSpPr/>
          <p:nvPr/>
        </p:nvSpPr>
        <p:spPr>
          <a:xfrm>
            <a:off x="612648" y="5495544"/>
            <a:ext cx="4498848"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Guardar el aviso en la base, junto con su número de evento</a:t>
            </a:r>
            <a:endParaRPr lang="en-US" sz="950" dirty="0"/>
          </a:p>
        </p:txBody>
      </p:sp>
      <p:sp>
        <p:nvSpPr>
          <p:cNvPr id="19" name="Text 17"/>
          <p:cNvSpPr/>
          <p:nvPr/>
        </p:nvSpPr>
        <p:spPr>
          <a:xfrm>
            <a:off x="5221224" y="5495544"/>
            <a:ext cx="3955694" cy="274320"/>
          </a:xfrm>
          <a:prstGeom prst="roundRect">
            <a:avLst>
              <a:gd name="adj" fmla="val 50000"/>
            </a:avLst>
          </a:prstGeom>
          <a:solidFill>
            <a:srgbClr val="FBE7BD"/>
          </a:solidFill>
          <a:ln>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contraseñas fuera del repositorio</a:t>
            </a:r>
            <a:endParaRPr lang="en-US" sz="950" dirty="0"/>
          </a:p>
        </p:txBody>
      </p:sp>
      <p:sp>
        <p:nvSpPr>
          <p:cNvPr id="20" name="Shape 18"/>
          <p:cNvSpPr/>
          <p:nvPr/>
        </p:nvSpPr>
        <p:spPr>
          <a:xfrm>
            <a:off x="0" y="5961888"/>
            <a:ext cx="12191695" cy="475488"/>
          </a:xfrm>
          <a:prstGeom prst="rect">
            <a:avLst/>
          </a:prstGeom>
          <a:solidFill>
            <a:srgbClr val="0B2350"/>
          </a:solidFill>
          <a:ln w="12700">
            <a:solidFill>
              <a:srgbClr val="0B2350"/>
            </a:solidFill>
            <a:prstDash val="solid"/>
          </a:ln>
        </p:spPr>
      </p:sp>
      <p:sp>
        <p:nvSpPr>
          <p:cNvPr id="21" name="Text 19"/>
          <p:cNvSpPr/>
          <p:nvPr/>
        </p:nvSpPr>
        <p:spPr>
          <a:xfrm>
            <a:off x="612648" y="5961888"/>
            <a:ext cx="10966399" cy="475488"/>
          </a:xfrm>
          <a:prstGeom prst="rect">
            <a:avLst/>
          </a:prstGeom>
          <a:noFill/>
          <a:ln/>
        </p:spPr>
        <p:txBody>
          <a:bodyPr wrap="square" lIns="0" tIns="0" rIns="0" bIns="0" rtlCol="0" anchor="ctr">
            <a:normAutofit/>
          </a:bodyPr>
          <a:lstStyle/>
          <a:p>
            <a:pPr indent="0" marL="0">
              <a:buNone/>
            </a:pPr>
            <a:r>
              <a:rPr lang="en-US" sz="1400" b="1" dirty="0">
                <a:solidFill>
                  <a:srgbClr val="2BA6CB"/>
                </a:solidFill>
                <a:latin typeface="Segoe UI" pitchFamily="34" charset="0"/>
                <a:ea typeface="Segoe UI" pitchFamily="34" charset="-122"/>
                <a:cs typeface="Segoe UI" pitchFamily="34" charset="-120"/>
              </a:rPr>
              <a:t>¿Por qué importa?  </a:t>
            </a:r>
            <a:pPr indent="0" marL="0">
              <a:buNone/>
            </a:pPr>
            <a:r>
              <a:rPr lang="en-US" sz="1400" dirty="0">
                <a:solidFill>
                  <a:srgbClr val="FFFFFF"/>
                </a:solidFill>
                <a:latin typeface="Segoe UI" pitchFamily="34" charset="0"/>
                <a:ea typeface="Segoe UI" pitchFamily="34" charset="-122"/>
                <a:cs typeface="Segoe UI" pitchFamily="34" charset="-120"/>
              </a:rPr>
              <a:t>Siguientes pasos: guardar el aviso en la base, agregar autenticación y sacar las contraseñas del repositorio.</a:t>
            </a:r>
            <a:endParaRPr lang="en-US" sz="1400" dirty="0"/>
          </a:p>
        </p:txBody>
      </p:sp>
      <p:sp>
        <p:nvSpPr>
          <p:cNvPr id="22" name="Text 20"/>
          <p:cNvSpPr/>
          <p:nvPr/>
        </p:nvSpPr>
        <p:spPr>
          <a:xfrm>
            <a:off x="612648" y="6510528"/>
            <a:ext cx="7315200" cy="201168"/>
          </a:xfrm>
          <a:prstGeom prst="rect">
            <a:avLst/>
          </a:prstGeom>
          <a:noFill/>
          <a:ln/>
        </p:spPr>
        <p:txBody>
          <a:bodyPr wrap="square" lIns="0" tIns="0" rIns="0" bIns="0" rtlCol="0" anchor="ctr"/>
          <a:lstStyle/>
          <a:p>
            <a:pPr indent="0" marL="0">
              <a:buNone/>
            </a:pPr>
            <a:r>
              <a:rPr lang="en-US" sz="800" b="1" spc="120" kern="0" dirty="0">
                <a:solidFill>
                  <a:srgbClr val="9AA5B8"/>
                </a:solidFill>
                <a:latin typeface="Segoe UI" pitchFamily="34" charset="0"/>
                <a:ea typeface="Segoe UI" pitchFamily="34" charset="-122"/>
                <a:cs typeface="Segoe UI" pitchFamily="34" charset="-120"/>
              </a:rPr>
              <a:t>ARKA-LITE · CIERRE</a:t>
            </a:r>
            <a:endParaRPr lang="en-US" sz="800" dirty="0"/>
          </a:p>
        </p:txBody>
      </p:sp>
      <p:sp>
        <p:nvSpPr>
          <p:cNvPr id="25" name="Slide Number Placeholder 0"/>
          <p:cNvSpPr>
            <a:spLocks noGrp="1"/>
          </p:cNvSpPr>
          <p:nvPr>
            <p:ph type="sldNum" sz="quarter" idx="4294967295"/>
          </p:nvPr>
        </p:nvSpPr>
        <p:spPr>
          <a:xfrm>
            <a:off x="10847527" y="6510528"/>
            <a:ext cx="73152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9AA5B8"/>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BA6CB"/>
          </a:solidFill>
          <a:ln w="12700">
            <a:solidFill>
              <a:srgbClr val="2BA6CB"/>
            </a:solidFill>
            <a:prstDash val="solid"/>
          </a:ln>
        </p:spPr>
      </p:sp>
      <p:sp>
        <p:nvSpPr>
          <p:cNvPr id="3" name="Shape 1"/>
          <p:cNvSpPr/>
          <p:nvPr/>
        </p:nvSpPr>
        <p:spPr>
          <a:xfrm>
            <a:off x="758952" y="530352"/>
            <a:ext cx="329184" cy="329184"/>
          </a:xfrm>
          <a:prstGeom prst="ellipse">
            <a:avLst/>
          </a:prstGeom>
          <a:solidFill>
            <a:srgbClr val="2BA6CB"/>
          </a:solidFill>
          <a:ln w="12700">
            <a:solidFill>
              <a:srgbClr val="2BA6CB"/>
            </a:solidFill>
            <a:prstDash val="solid"/>
          </a:ln>
        </p:spPr>
      </p:sp>
      <p:sp>
        <p:nvSpPr>
          <p:cNvPr id="4" name="Text 2"/>
          <p:cNvSpPr/>
          <p:nvPr/>
        </p:nvSpPr>
        <p:spPr>
          <a:xfrm>
            <a:off x="758952" y="530352"/>
            <a:ext cx="329184" cy="329184"/>
          </a:xfrm>
          <a:prstGeom prst="rect">
            <a:avLst/>
          </a:prstGeom>
          <a:noFill/>
          <a:ln/>
        </p:spPr>
        <p:txBody>
          <a:bodyPr wrap="square" lIns="0" tIns="0" rIns="0" bIns="0" rtlCol="0" anchor="ctr"/>
          <a:lstStyle/>
          <a:p>
            <a:pPr algn="ctr" indent="0" marL="0">
              <a:buNone/>
            </a:pPr>
            <a:r>
              <a:rPr lang="en-US" sz="1300" b="1" dirty="0">
                <a:solidFill>
                  <a:srgbClr val="0B1F3A"/>
                </a:solidFill>
                <a:latin typeface="Segoe UI Semibold" pitchFamily="34" charset="0"/>
                <a:ea typeface="Segoe UI Semibold" pitchFamily="34" charset="-122"/>
                <a:cs typeface="Segoe UI Semibold" pitchFamily="34" charset="-120"/>
              </a:rPr>
              <a:t>A</a:t>
            </a:r>
            <a:endParaRPr lang="en-US" sz="1300" dirty="0"/>
          </a:p>
        </p:txBody>
      </p:sp>
      <p:sp>
        <p:nvSpPr>
          <p:cNvPr id="5" name="Text 3"/>
          <p:cNvSpPr/>
          <p:nvPr/>
        </p:nvSpPr>
        <p:spPr>
          <a:xfrm>
            <a:off x="1179576" y="530352"/>
            <a:ext cx="2011680" cy="329184"/>
          </a:xfrm>
          <a:prstGeom prst="rect">
            <a:avLst/>
          </a:prstGeom>
          <a:noFill/>
          <a:ln/>
        </p:spPr>
        <p:txBody>
          <a:bodyPr wrap="square" lIns="0" tIns="0" rIns="0" bIns="0" rtlCol="0" anchor="ctr"/>
          <a:lstStyle/>
          <a:p>
            <a:pPr indent="0" marL="0">
              <a:buNone/>
            </a:pPr>
            <a:r>
              <a:rPr lang="en-US" sz="1500" b="1" dirty="0">
                <a:solidFill>
                  <a:srgbClr val="FFFFFF"/>
                </a:solidFill>
                <a:latin typeface="Segoe UI Semibold" pitchFamily="34" charset="0"/>
                <a:ea typeface="Segoe UI Semibold" pitchFamily="34" charset="-122"/>
                <a:cs typeface="Segoe UI Semibold" pitchFamily="34" charset="-120"/>
              </a:rPr>
              <a:t>ARKA-Lite</a:t>
            </a:r>
            <a:endParaRPr lang="en-US" sz="1500" dirty="0"/>
          </a:p>
        </p:txBody>
      </p:sp>
      <p:sp>
        <p:nvSpPr>
          <p:cNvPr id="6" name="Text 4"/>
          <p:cNvSpPr/>
          <p:nvPr/>
        </p:nvSpPr>
        <p:spPr>
          <a:xfrm>
            <a:off x="758952" y="2286000"/>
            <a:ext cx="10058400" cy="1280160"/>
          </a:xfrm>
          <a:prstGeom prst="rect">
            <a:avLst/>
          </a:prstGeom>
          <a:noFill/>
          <a:ln/>
        </p:spPr>
        <p:txBody>
          <a:bodyPr wrap="square" lIns="0" tIns="0" rIns="0" bIns="0" rtlCol="0" anchor="ctr"/>
          <a:lstStyle/>
          <a:p>
            <a:pPr indent="0" marL="0">
              <a:buNone/>
            </a:pPr>
            <a:r>
              <a:rPr lang="en-US" sz="7200" b="1" dirty="0">
                <a:solidFill>
                  <a:srgbClr val="FFFFFF"/>
                </a:solidFill>
                <a:latin typeface="Segoe UI Semibold" pitchFamily="34" charset="0"/>
                <a:ea typeface="Segoe UI Semibold" pitchFamily="34" charset="-122"/>
                <a:cs typeface="Segoe UI Semibold" pitchFamily="34" charset="-120"/>
              </a:rPr>
              <a:t>Gracias</a:t>
            </a:r>
            <a:endParaRPr lang="en-US" sz="7200" dirty="0"/>
          </a:p>
        </p:txBody>
      </p:sp>
      <p:sp>
        <p:nvSpPr>
          <p:cNvPr id="7" name="Text 5"/>
          <p:cNvSpPr/>
          <p:nvPr/>
        </p:nvSpPr>
        <p:spPr>
          <a:xfrm>
            <a:off x="758952" y="3657600"/>
            <a:ext cx="10058400" cy="1097280"/>
          </a:xfrm>
          <a:prstGeom prst="rect">
            <a:avLst/>
          </a:prstGeom>
          <a:noFill/>
          <a:ln/>
        </p:spPr>
        <p:txBody>
          <a:bodyPr wrap="square" lIns="0" tIns="0" rIns="0" bIns="0" rtlCol="0" anchor="t"/>
          <a:lstStyle/>
          <a:p>
            <a:pPr indent="0" marL="0">
              <a:buNone/>
            </a:pPr>
            <a:r>
              <a:rPr lang="en-US" sz="2200" dirty="0">
                <a:solidFill>
                  <a:srgbClr val="9FBEE0"/>
                </a:solidFill>
                <a:latin typeface="Segoe UI" pitchFamily="34" charset="0"/>
                <a:ea typeface="Segoe UI" pitchFamily="34" charset="-122"/>
                <a:cs typeface="Segoe UI" pitchFamily="34" charset="-120"/>
              </a:rPr>
              <a:t>Equipo arka-litos · Upskilling Backend Java</a:t>
            </a:r>
            <a:endParaRPr lang="en-US" sz="2200" dirty="0"/>
          </a:p>
          <a:p>
            <a:pPr indent="0" marL="0">
              <a:buNone/>
            </a:pPr>
            <a:r>
              <a:rPr lang="en-US" sz="2200" dirty="0">
                <a:solidFill>
                  <a:srgbClr val="9FBEE0"/>
                </a:solidFill>
                <a:latin typeface="Segoe UI" pitchFamily="34" charset="0"/>
                <a:ea typeface="Segoe UI" pitchFamily="34" charset="-122"/>
                <a:cs typeface="Segoe UI" pitchFamily="34" charset="-120"/>
              </a:rPr>
              <a:t>¿Preguntas?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ejecutivo</dc:title>
  <dc:subject>Proyecto final de Upskilling Backend Java</dc:subject>
  <dc:creator>Equipo arka-litos</dc:creator>
  <cp:lastModifiedBy>Equipo arka-litos</cp:lastModifiedBy>
  <cp:revision>1</cp:revision>
  <dcterms:created xsi:type="dcterms:W3CDTF">2026-10-27T10:31:54Z</dcterms:created>
  <dcterms:modified xsi:type="dcterms:W3CDTF">2026-10-27T10:31:54Z</dcterms:modified>
</cp:coreProperties>
</file>