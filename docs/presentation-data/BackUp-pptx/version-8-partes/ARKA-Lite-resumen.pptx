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Apertura
QUÉ DECIR
“Buenos días. Hoy les presentamos ARKA-Lite, el proyecto final del curso Upskilling Backend Java.”
“Empezamos escribiendo un endpoint y terminamos con un sistema de dos microservicios corriendo en Kubernetes, con su pipeline, su base de datos y su observabilidad. No les vamos a contar el temario: les vamos a contar qué construimos, qué medimos y qué aprendimos.”
QUÉ HACER (no se dice)
• Antes de empezar, abrir la UI en http://localhost:8088 y comprobar que los dos servicios aparecen en verde.
PARA PASAR
“Primero, el proyecto en números.”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Apertura
QUÉ DECIR
“ARKA-Lite hace algo sencillo a propósito: registra solicitudes, como una incidencia o un pedido de cambio, y avisa cuando una solicitud se envía. El problema es pequeño para que el foco esté en cómo se construye, se despliega y se opera.”
“Son dos microservicios con Spring Boot, once endpoints documentados, sesenta y siete pruebas automáticas y ocho contenedores que se levantan con un solo comando.”
“Y los dos números que más nos importan: un aviso se entrega en cinco segundos o menos, y no se pierde ni se duplica ninguno, aunque el otro servicio esté caído. Más adelante les mostramos cómo lo logramos.”
PARA PASAR
“Antes de entrar, ocho palabras que vamos a usar mucho.”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Apertura
QUÉ DECIR
“Sabemos que muchos de ustedes trabajan sobre todo con la base de datos y procedimientos almacenados, así que antes de entrar les dejamos ocho conceptos en una frase.”
“Un microservicio es una aplicación pequeña con una sola tarea y su propia base. Una API REST es la puerta para pedirle cosas por HTTP. La arquitectura hexagonal pone el negocio al centro y conecta la base y la web como si fueran enchufes. Y un ORM traduce entre clases Java y tablas, para no escribir a mano el SQL de todos los días.”
“Docker empaqueta la aplicación con todo lo que necesita; Kubernetes administra esos paquetes. CI/CD es un robot que prueba cada cambio. Y observabilidad es poder ver qué pasa adentro. Cada uno lo vamos a ver con un ejemplo.”
SI PREGUNTAN
¿Esto reemplaza a los procedimientos almacenados?
RESPUESTA CORTA
No necesariamente. Mueve las reglas del negocio al código; el SQL pesado o los reportes pueden seguir en la base.
PARA PASAR
“Este es el recorrido.”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1 · Fundamentos
QUÉ DECIR
“Antes de Spring Boot, levantar una aplicación Java web significaba instalar un servidor, configurar la conexión a la base y conectar cada clase a mano. Spring Boot hace ese trabajo.”
“Todo empieza en un main. Spring Boot mira qué librerías tenemos, por ejemplo web, JPA y el driver de PostgreSQL, y las configura solo. Luego crea cada pieza de la aplicación, lo que en Spring se llama un bean, y le pasa por el constructor lo que necesita: eso es la inyección de dependencias.”
“Al final arranca su propio servidor web, Tomcat, en el puerto 8080. Cuando llega una petición, el controlador la recibe, llama al negocio y responde. Nosotros solo escribimos el negocio y decimos qué piezas hay.”
QUÉ HACER (no se dice)
• Mostrar: Ejecutar ./mvnw clean verify dentro de servicio-solicitudes. Debe verse: BUILD SUCCESS y el resumen de pruebas.
SI PREGUNTAN
¿Qué es un bean?
RESPUESTA CORTA
Un objeto que Spring crea y administra, y que puede pasarle a otros por el constructor.
PARA PASAR
“Con la aplicación arriba, veamos cómo responde la API.”
PARA LEER MÁS
docs/arquitectura/componentes-java.md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1 · Fundamentos
QUÉ DECIR
“Un código mantenible es el que se puede cambiar sin miedo. Aplicamos seis prácticas sencillas.”
“Cada clase tiene una sola responsabilidad: el controlador solo traduce HTTP, el servicio decide y el adaptador guarda. Las dependencias llegan por el constructor, así cualquier pieza se puede reemplazar o probar sola. Los datos son inmutables: cambiar de estado crea una solicitud nueva, en lugar de modificar la que había.”
“Los errores se manejan en un solo lugar, los nombres son los del negocio, en español, y cada regla tiene su prueba. El resultado es que un cambio de regla toca un archivo, y una prueba nos dice si rompimos algo.”
SI PREGUNTAN
¿Esto no hace el código más largo?
RESPUESTA CORTA
Un poco, pero cada pieza es corta y se entiende sola; el costo se paga solo en el primer cambio.
PARA PASAR
“Esto es lo que aprendimos de los fundamentos.”
PARA LEER MÁS
docs/desarrollo/flujo-de-trabajo.md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QUÉ DECIR
“Este es el sistema por capas. Arriba, la experiencia: la persona usa la interfaz, y la interfaz no guarda nada, solo llama a los servicios por un proxy.”
“En el medio, los dos microservicios. Solicitudes lleva el trámite; notificaciones crea los avisos. No comparten base: cada uno es dueño de sus datos, y se comunican con un evento por HTTP.”
“Y abajo, la plataforma que lo sostiene: dónde corre, cómo se prueba y publica cada cambio, y dónde vemos los logs. Cada capa tiene una sola responsabilidad, y por eso cada una se puede cambiar sin romper las otras.”
SI PREGUNTAN
¿Por qué no comparten una sola base de datos?
RESPUESTA CORTA
Para que cada servicio sea dueño de sus datos y pueda cambiar sin romper al otro.
PARA PASAR
“¿Y cómo se conectan esas piezas entre sí?”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QUÉ DECIR
“Esta tabla resume todas las conexiones. El navegador solo conoce la interfaz. La interfaz no llama directo a los servicios: nginx recibe todo lo que empieza con /api y lo reenvía al servicio que corresponde.”
“Entre servicios, solicitudes manda el evento a notificaciones con un POST en JSON, pero no en el momento de la petición: lo hace el relevador, después. Por eso, si notificaciones se cae, solicitudes sigue funcionando.”
“Cada servicio habla solo con su propia base. Y nadie usa direcciones IP: se encuentran por nombre, gracias a la red de Docker Compose o a los Services de Kubernetes. En cada llamada viaja además un traceId, que nos permite seguir el recorrido completo en los logs.”
SI PREGUNTAN
¿Por qué no se llaman directamente por localhost?
RESPUESTA CORTA
Porque dentro de un contenedor localhost es el mismo contenedor; por eso cada servicio se busca por su nombre.
PARA PASAR
“Hay dos formas de hablarse, y usamos las 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QUÉ DECIR
“Muchos de ustedes trabajan con procedimientos almacenados: la regla del negocio vive en la base, y la aplicación solo hace EXEC con parámetros. Funciona, pero cambiar una regla es cambiar la base, y probarla exige una base con datos.”
“En ARKA-Lite usamos un ORM, que significa mapeo objeto-relacional. En Java el estándar se llama JPA y la herramienta que lo hace es Hibernate. Una clase Java se marca como entidad y queda asociada a una tabla: cada campo es una columna. Cuando guardamos o buscamos, Hibernate escribe el INSERT, el UPDATE o el SELECT por nosotros.”
“Ojo: no es todo o nada. Las reglas del negocio pasan al código, donde se prueban en milisegundos, y lo que de verdad es trabajo de base de datos, como reportes pesados, puede seguir en SQL.”
SI PREGUNTAN
¿Y el rendimiento? ¿El SQL que genera Hibernate es bueno?
RESPUESTA CORTA
Para guardar y buscar por llave, sí. Para consultas complejas se puede escribir SQL propio; además, los índices y constraints siguen siendo trabajo de la base.
PARA PASAR
“¿Y cómo llega, paso a paso, una línea de Java hasta PostgreSQL?”
PARA LEER MÁS
docs/arquitectura/datos-y-consistencia.md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QUÉ DECIR
“Sigamos una línea de código. El dominio dice: guardar esta solicitud. No sabe nada de SQL. Spring Data nos da métodos listos, como save o findById, sin escribir una sola consulta.”
“Por debajo, Hibernate convierte el objeto en un INSERT o un UPDATE. Y el driver JDBC, con un pool de conexiones que las reutiliza, como el que ya conocen de cualquier aplicación, se lo manda a PostgreSQL, que ejecuta y confirma la transacción.”
“La dirección de la base, el usuario y la clave no están en el código: llegan por variables de entorno.”
PARA PASAR
“¿Y dónde se configura todo 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QUÉ DECIR
“Este es el problema de la consistencia. Si al enviar una solicitud llamáramos directamente a notificaciones y justo estuviera caído, la solicitud quedaría enviada y nadie se enteraría.”
“La solución se llama patrón outbox, o bandeja de salida. Al enviar, guardamos la solicitud y un evento pendiente en la misma transacción: o se guardan las dos cosas, o ninguna. La respuesta le llega a la persona enseguida.”
“Después, un relevador revisa la bandeja cada cinco segundos y entrega los pendientes, con hasta tres intentos. Si aun así falla, el evento sigue pendiente, con el mismo número, para el siguiente ciclo.”
SI PREGUNTAN
¿Que el envío responda bien significa que el aviso ya existe?
RESPUESTA CORTA
No. Significa que la solicitud y el evento quedaron guardados; el aviso llega después.
PARA PASAR
“Si se reintenta, ¿no puede llegar el aviso dos veces?”
PARA LEER MÁS
docs/arquitectura/flujo-y-referencias.md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Contenedores y Kubernetes
QUÉ DECIR
“Dos palabras que se escuchan mucho. Docker resuelve el clásico “en mi máquina funciona”: empaqueta la aplicación con Java y todo lo que necesita en una imagen, un paquete que no cambia. Cuando esa imagen corre, se llama contenedor, y corre igual en una laptop o en un servidor.”
“Kubernetes es el siguiente nivel: no empaqueta, administra. Decide dónde corre cada contenedor, lo vigila, y si uno se cae, levanta otro. Piénsenlo como un puerto de carga: Docker es el contenedor estándar y Kubernetes es el puerto que los acomoda y reemplaza el que se daña.”
“En una sola computadora usamos Docker Compose; en un clúster, Kubernetes. La misma imagen sirve en los dos.”
SI PREGUNTAN
¿Docker es una máquina virtual?
RESPUESTA CORTA
No. Es más liviano: comparte el sistema operativo y solo aísla la aplicación y lo que necesita.
PARA PASAR
“Veamos el sistema completo levantado con 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CI/CD
QUÉ DECIR
“Con GitHub Actions, cada vez que alguien sube un cambio o abre un Pull Request, se dispara el pipeline. Por cada servicio prepara Java y una base PostgreSQL, compila y corre todas las pruebas.”
“Luego hace algo que muchos pipelines no hacen: arranca el servicio de verdad y espera a ver los datos iniciales. Así detectamos errores de configuración que las pruebas unitarias no ven.”
“Si todo pasa, construye la imagen y la publica etiquetada con el código del commit. Cada imagen se puede rastrear hasta el cambio exacto que la produjo.”
SI PREGUNTAN
¿Publicar la imagen la despliega en Kubernetes?
RESPUESTA CORTA
No. Publicar deja la imagen lista; desplegar es otro paso, con kubectl apply.
PARA PASAR
“El pipeline funciona porque todo entra por el mismo camino.”
PARA LEER MÁS
docs/automatizacion/ci-yaml-paso-a-paso.md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6 · Observabilidad
QUÉ DECIR
“Con dos servicios, cada uno tiene sus propios logs. Si algo falla, no queremos entrar contenedor por contenedor a buscar.”
“Cada servicio escribe sus logs en JSON, con un formato estándar. Promtail los recoge de todos los contenedores, Loki los guarda etiquetados por servicio y Grafana nos deja buscarlos en un solo lugar.”
“Las llamadas entre servicios llevan el traceId, así que con una sola búsqueda vemos el viaje de un evento: cuándo lo publicó el relevador y cuándo lo consumió notificaciones.”
QUÉ HACER (no se dice)
• Mostrar: Grafana › Explore › Loki: {service="servicio-notificaciones"} |= "evento". Debe verse: Las líneas “Consume evento” y “aviso creado” con el número del evento.
PARA PASAR
“Los logs cuentan qué pasó. La salud dice cómo estamos ahora.”
PARA LEER MÁS
docs/operaciones/observabilidad.md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7 · Documentación
QUÉ DECIR
“Un contrato de API es como el menú de un restaurante: dice qué se puede pedir, qué lleva cada pedido y qué te van a devolver.”
“Cada servicio publica su contrato con el estándar OpenAPI, usando springdoc, y Swagger lo muestra como una página donde se puede ver cada endpoint, sus códigos de respuesta y probarlo en vivo.”
“Lo importante para el staff: se genera desde el código. Cuando agregamos un endpoint, aparece solo, y nunca queda desactualizado. Un equipo que consume la API no tiene que pedirnos un documento.”
QUÉ HACER (no se dice)
• Mostrar: En la UI, pestaña Salud › Swagger · solicitudes, y ejecutar GET /solicitudes. Debe verse: La lista en JSON con código 200.
PARA PASAR
“Y lo que no sale del código, lo documentamos junto al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8 · La UI como laboratorio
QUÉ DECIR
“Detenemos notificaciones a propósito. En la pestaña Salud aparece en DOWN.”
“Ahora enviamos una solicitud. La respuesta es buena: la solicitud queda enviada y su evento queda guardado. La persona no ve ningún error, porque no depende de que el otro servicio esté arriba.”
“En Enviadas aparece un aviso: notificaciones no responde y el evento espera en la bandeja de salida. El relevador lo intenta cada cinco segundos y falla, pero no lo pierde. Cuando levantamos notificaciones, en el siguiente ciclo lo entrega con el mismo número, y aparece exactamente un aviso.”
QUÉ HACER (no se dice)
• Antes: docker compose stop servicio-notificaciones. Mostrar Salud en DOWN.
• Crear y enviar DEMO-01; mostrar en Enviadas el aviso amarillo “Notificaciones no responde” y “1 en camino”. No hace falta recargar: la pantalla se actualiza sola y el indicador de servicios vuelve a 2 de 2.
• docker compose start servicio-notificaciones y esperar unos segundos: el evento pasa a entregado y aparece 1 aviso.
• Mostrar: Detener notificaciones, enviar DEMO-01, mirar Enviadas y volver a iniciar notificaciones. Debe verse: Evento en camino mientras está caído; al volver, entregado y 1 aviso.
SI PREGUNTAN
¿Cuánto tiempo puede esperar un evento pendiente?
RESPUESTA CORTA
Indefinidamente: está en la base. Se entrega en el primer ciclo después de que notificaciones vuelve.
PARA PASAR
“Ese es el caso más importante, pero no el único.”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QUÉ DECIR
“Si tuviéramos que resumir el valor en una lámina, sería esta. Construimos resiliencia: ante una caída parcial no se pierde ni se duplica un aviso. Reproducibilidad: un comando y la misma imagen en cualquier ambiente.”
“Calidad: sesenta y siete pruebas en cada Pull Request. Trazabilidad: logs centralizados con traceId e imágenes rastreables a su commit. Y contratos claros con un diseño que permite cambiar tecnología sin tocar el negocio.”
“Nada de esto es exclusivo de ARKA-Lite: son prácticas que cualquier equipo puede adoptar desde mañana.”
PARA PASAR
“Si nos llevamos solo tres ideas, que sean estas.”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QUÉ DECIR
“Tres ideas. Diseñar para la falla: en un sistema distribuido, algo siempre va a fallar, y la diferencia está en cómo reacciona.”
“Automatizar la confianza: pruebas, pipeline e infraestructura declarada nos permiten cambiar rápido sin miedo.”
“Y hacer visible el sistema: lo que no se ve no se puede diagnosticar ni explicar.”
PARA PASAR
“Gracias por su atención.”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QUÉ DECIR
“ARKA-Lite fue un laboratorio, y cumplió su objetivo: aprender. Empezamos con un endpoint y terminamos con dos microservicios con su base de datos, empaquetados, desplegados, observados y documentados, que saben comportarse cuando algo falla.”
“Muchas gracias por acompañarnos. Con gusto respondemos sus preguntas.”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BA6CB"/>
          </a:solidFill>
          <a:ln w="12700">
            <a:solidFill>
              <a:srgbClr val="2BA6CB"/>
            </a:solidFill>
            <a:prstDash val="solid"/>
          </a:ln>
        </p:spPr>
      </p:sp>
      <p:sp>
        <p:nvSpPr>
          <p:cNvPr id="3" name="Shape 1"/>
          <p:cNvSpPr/>
          <p:nvPr/>
        </p:nvSpPr>
        <p:spPr>
          <a:xfrm>
            <a:off x="6080760" y="749808"/>
            <a:ext cx="5303520" cy="5303520"/>
          </a:xfrm>
          <a:prstGeom prst="ellipse">
            <a:avLst/>
          </a:prstGeom>
          <a:solidFill>
            <a:srgbClr val="0B1F3A">
              <a:alpha val="0"/>
            </a:srgbClr>
          </a:solidFill>
          <a:ln w="9525">
            <a:solidFill>
              <a:srgbClr val="2BA6CB">
                <a:alpha val="18000"/>
              </a:srgbClr>
            </a:solidFill>
            <a:prstDash val="solid"/>
          </a:ln>
        </p:spPr>
      </p:sp>
      <p:sp>
        <p:nvSpPr>
          <p:cNvPr id="4" name="Shape 2"/>
          <p:cNvSpPr/>
          <p:nvPr/>
        </p:nvSpPr>
        <p:spPr>
          <a:xfrm>
            <a:off x="6766560" y="1435608"/>
            <a:ext cx="3931920" cy="3931920"/>
          </a:xfrm>
          <a:prstGeom prst="ellipse">
            <a:avLst/>
          </a:prstGeom>
          <a:solidFill>
            <a:srgbClr val="0B1F3A">
              <a:alpha val="0"/>
            </a:srgbClr>
          </a:solidFill>
          <a:ln w="15875">
            <a:solidFill>
              <a:srgbClr val="2BA6CB">
                <a:alpha val="50000"/>
              </a:srgbClr>
            </a:solidFill>
            <a:prstDash val="dash"/>
          </a:ln>
        </p:spPr>
      </p:sp>
      <p:sp>
        <p:nvSpPr>
          <p:cNvPr id="5" name="Shape 3"/>
          <p:cNvSpPr/>
          <p:nvPr/>
        </p:nvSpPr>
        <p:spPr>
          <a:xfrm>
            <a:off x="7543800" y="2212848"/>
            <a:ext cx="2377440" cy="2377440"/>
          </a:xfrm>
          <a:prstGeom prst="ellipse">
            <a:avLst/>
          </a:prstGeom>
          <a:solidFill>
            <a:srgbClr val="0B1F3A">
              <a:alpha val="0"/>
            </a:srgbClr>
          </a:solidFill>
          <a:ln w="9525">
            <a:solidFill>
              <a:srgbClr val="2BA6CB">
                <a:alpha val="25000"/>
              </a:srgbClr>
            </a:solidFill>
            <a:prstDash val="solid"/>
          </a:ln>
        </p:spPr>
      </p:sp>
      <p:sp>
        <p:nvSpPr>
          <p:cNvPr id="6" name="Shape 4"/>
          <p:cNvSpPr/>
          <p:nvPr/>
        </p:nvSpPr>
        <p:spPr>
          <a:xfrm flipV="1">
            <a:off x="9075447" y="1889384"/>
            <a:ext cx="283440" cy="684284"/>
          </a:xfrm>
          <a:prstGeom prst="line">
            <a:avLst/>
          </a:prstGeom>
          <a:noFill/>
          <a:ln w="12700">
            <a:solidFill>
              <a:srgbClr val="2BA6CB">
                <a:alpha val="40000"/>
              </a:srgbClr>
            </a:solidFill>
            <a:prstDash val="solid"/>
          </a:ln>
        </p:spPr>
      </p:sp>
      <p:sp>
        <p:nvSpPr>
          <p:cNvPr id="7" name="Shape 5"/>
          <p:cNvSpPr/>
          <p:nvPr/>
        </p:nvSpPr>
        <p:spPr>
          <a:xfrm flipV="1">
            <a:off x="9560420" y="2775201"/>
            <a:ext cx="684284" cy="283440"/>
          </a:xfrm>
          <a:prstGeom prst="line">
            <a:avLst/>
          </a:prstGeom>
          <a:noFill/>
          <a:ln w="12700">
            <a:solidFill>
              <a:srgbClr val="2BA6CB">
                <a:alpha val="40000"/>
              </a:srgbClr>
            </a:solidFill>
            <a:prstDash val="solid"/>
          </a:ln>
        </p:spPr>
      </p:sp>
      <p:sp>
        <p:nvSpPr>
          <p:cNvPr id="8" name="Shape 6"/>
          <p:cNvSpPr/>
          <p:nvPr/>
        </p:nvSpPr>
        <p:spPr>
          <a:xfrm>
            <a:off x="9560420" y="3744495"/>
            <a:ext cx="684284" cy="283440"/>
          </a:xfrm>
          <a:prstGeom prst="line">
            <a:avLst/>
          </a:prstGeom>
          <a:noFill/>
          <a:ln w="12700">
            <a:solidFill>
              <a:srgbClr val="2BA6CB">
                <a:alpha val="40000"/>
              </a:srgbClr>
            </a:solidFill>
            <a:prstDash val="solid"/>
          </a:ln>
        </p:spPr>
      </p:sp>
      <p:sp>
        <p:nvSpPr>
          <p:cNvPr id="9" name="Shape 7"/>
          <p:cNvSpPr/>
          <p:nvPr/>
        </p:nvSpPr>
        <p:spPr>
          <a:xfrm>
            <a:off x="9075447" y="4229468"/>
            <a:ext cx="283440" cy="684284"/>
          </a:xfrm>
          <a:prstGeom prst="line">
            <a:avLst/>
          </a:prstGeom>
          <a:noFill/>
          <a:ln w="12700">
            <a:solidFill>
              <a:srgbClr val="2BA6CB">
                <a:alpha val="40000"/>
              </a:srgbClr>
            </a:solidFill>
            <a:prstDash val="solid"/>
          </a:ln>
        </p:spPr>
      </p:sp>
      <p:sp>
        <p:nvSpPr>
          <p:cNvPr id="10" name="Shape 8"/>
          <p:cNvSpPr/>
          <p:nvPr/>
        </p:nvSpPr>
        <p:spPr>
          <a:xfrm flipH="1">
            <a:off x="8106153" y="4229468"/>
            <a:ext cx="283440" cy="684284"/>
          </a:xfrm>
          <a:prstGeom prst="line">
            <a:avLst/>
          </a:prstGeom>
          <a:noFill/>
          <a:ln w="12700">
            <a:solidFill>
              <a:srgbClr val="2BA6CB">
                <a:alpha val="40000"/>
              </a:srgbClr>
            </a:solidFill>
            <a:prstDash val="solid"/>
          </a:ln>
        </p:spPr>
      </p:sp>
      <p:sp>
        <p:nvSpPr>
          <p:cNvPr id="11" name="Shape 9"/>
          <p:cNvSpPr/>
          <p:nvPr/>
        </p:nvSpPr>
        <p:spPr>
          <a:xfrm flipH="1">
            <a:off x="7220336" y="3744495"/>
            <a:ext cx="684284" cy="283440"/>
          </a:xfrm>
          <a:prstGeom prst="line">
            <a:avLst/>
          </a:prstGeom>
          <a:noFill/>
          <a:ln w="12700">
            <a:solidFill>
              <a:srgbClr val="2BA6CB">
                <a:alpha val="40000"/>
              </a:srgbClr>
            </a:solidFill>
            <a:prstDash val="solid"/>
          </a:ln>
        </p:spPr>
      </p:sp>
      <p:sp>
        <p:nvSpPr>
          <p:cNvPr id="12" name="Shape 10"/>
          <p:cNvSpPr/>
          <p:nvPr/>
        </p:nvSpPr>
        <p:spPr>
          <a:xfrm flipH="1" flipV="1">
            <a:off x="7220336" y="2775201"/>
            <a:ext cx="684284" cy="283440"/>
          </a:xfrm>
          <a:prstGeom prst="line">
            <a:avLst/>
          </a:prstGeom>
          <a:noFill/>
          <a:ln w="12700">
            <a:solidFill>
              <a:srgbClr val="2BA6CB">
                <a:alpha val="40000"/>
              </a:srgbClr>
            </a:solidFill>
            <a:prstDash val="solid"/>
          </a:ln>
        </p:spPr>
      </p:sp>
      <p:sp>
        <p:nvSpPr>
          <p:cNvPr id="13" name="Shape 11"/>
          <p:cNvSpPr/>
          <p:nvPr/>
        </p:nvSpPr>
        <p:spPr>
          <a:xfrm flipH="1" flipV="1">
            <a:off x="8106153" y="1889384"/>
            <a:ext cx="283440" cy="684284"/>
          </a:xfrm>
          <a:prstGeom prst="line">
            <a:avLst/>
          </a:prstGeom>
          <a:noFill/>
          <a:ln w="12700">
            <a:solidFill>
              <a:srgbClr val="2BA6CB">
                <a:alpha val="40000"/>
              </a:srgbClr>
            </a:solidFill>
            <a:prstDash val="solid"/>
          </a:ln>
        </p:spPr>
      </p:sp>
      <p:sp>
        <p:nvSpPr>
          <p:cNvPr id="14" name="Shape 12"/>
          <p:cNvSpPr/>
          <p:nvPr/>
        </p:nvSpPr>
        <p:spPr>
          <a:xfrm>
            <a:off x="7744968" y="2414016"/>
            <a:ext cx="1975104" cy="1975104"/>
          </a:xfrm>
          <a:prstGeom prst="ellipse">
            <a:avLst/>
          </a:prstGeom>
          <a:solidFill>
            <a:srgbClr val="2BA6CB">
              <a:alpha val="15000"/>
            </a:srgbClr>
          </a:solidFill>
          <a:ln w="9525">
            <a:solidFill>
              <a:srgbClr val="2BA6CB">
                <a:alpha val="40000"/>
              </a:srgbClr>
            </a:solidFill>
            <a:prstDash val="solid"/>
          </a:ln>
        </p:spPr>
      </p:sp>
      <p:sp>
        <p:nvSpPr>
          <p:cNvPr id="15" name="Shape 13"/>
          <p:cNvSpPr/>
          <p:nvPr/>
        </p:nvSpPr>
        <p:spPr>
          <a:xfrm>
            <a:off x="7909560" y="2578608"/>
            <a:ext cx="1645920" cy="1645920"/>
          </a:xfrm>
          <a:prstGeom prst="ellipse">
            <a:avLst/>
          </a:prstGeom>
          <a:solidFill>
            <a:srgbClr val="0B2350"/>
          </a:solidFill>
          <a:ln w="25400">
            <a:solidFill>
              <a:srgbClr val="2BA6CB"/>
            </a:solidFill>
            <a:prstDash val="solid"/>
          </a:ln>
          <a:effectLst>
            <a:outerShdw sx="100000" sy="100000" kx="0" ky="0" algn="bl" rotWithShape="0" blurRad="114300" dist="50800" dir="16200000">
              <a:srgbClr val="2BA6CB">
                <a:alpha val="60000"/>
              </a:srgbClr>
            </a:outerShdw>
          </a:effectLst>
        </p:spPr>
      </p:sp>
      <p:sp>
        <p:nvSpPr>
          <p:cNvPr id="16" name="Icono ship-wheel"/>
          <p:cNvSpPr/>
          <p:nvPr/>
        </p:nvSpPr>
        <p:spPr>
          <a:xfrm>
            <a:off x="8430768" y="2871216"/>
            <a:ext cx="603504" cy="603504"/>
          </a:xfrm>
          <a:custGeom>
            <a:avLst/>
            <a:gdLst/>
            <a:ahLst/>
            <a:cxnLst/>
            <a:rect l="l" t="t" r="r" b="b"/>
            <a:pathLst>
              <a:path w="603504" h="603504">
                <a:moveTo>
                  <a:pt x="502920" y="301752"/>
                </a:moveTo>
                <a:cubicBezTo>
                  <a:pt x="502920" y="412854"/>
                  <a:pt x="412854" y="502920"/>
                  <a:pt x="301752" y="502920"/>
                </a:cubicBezTo>
                <a:cubicBezTo>
                  <a:pt x="190650" y="502920"/>
                  <a:pt x="100584" y="412854"/>
                  <a:pt x="100584" y="301752"/>
                </a:cubicBezTo>
                <a:cubicBezTo>
                  <a:pt x="100584" y="190650"/>
                  <a:pt x="190650" y="100584"/>
                  <a:pt x="301752" y="100584"/>
                </a:cubicBezTo>
                <a:cubicBezTo>
                  <a:pt x="412854" y="100584"/>
                  <a:pt x="502920" y="190650"/>
                  <a:pt x="502920" y="301752"/>
                </a:cubicBezTo>
                <a:close/>
                <a:moveTo>
                  <a:pt x="301752" y="50292"/>
                </a:moveTo>
                <a:lnTo>
                  <a:pt x="301752" y="238887"/>
                </a:lnTo>
                <a:moveTo>
                  <a:pt x="477774" y="125730"/>
                </a:moveTo>
                <a:lnTo>
                  <a:pt x="346260" y="257244"/>
                </a:lnTo>
                <a:moveTo>
                  <a:pt x="553212" y="301752"/>
                </a:moveTo>
                <a:lnTo>
                  <a:pt x="364617" y="301752"/>
                </a:lnTo>
                <a:moveTo>
                  <a:pt x="477774" y="477774"/>
                </a:moveTo>
                <a:lnTo>
                  <a:pt x="346260" y="346260"/>
                </a:lnTo>
                <a:moveTo>
                  <a:pt x="301752" y="364617"/>
                </a:moveTo>
                <a:lnTo>
                  <a:pt x="301752" y="553212"/>
                </a:lnTo>
                <a:moveTo>
                  <a:pt x="257244" y="346260"/>
                </a:moveTo>
                <a:lnTo>
                  <a:pt x="125730" y="477774"/>
                </a:lnTo>
                <a:moveTo>
                  <a:pt x="238887" y="301752"/>
                </a:moveTo>
                <a:lnTo>
                  <a:pt x="50292" y="301752"/>
                </a:lnTo>
                <a:moveTo>
                  <a:pt x="257244" y="257244"/>
                </a:moveTo>
                <a:lnTo>
                  <a:pt x="125730" y="125730"/>
                </a:lnTo>
                <a:moveTo>
                  <a:pt x="364617" y="301752"/>
                </a:moveTo>
                <a:cubicBezTo>
                  <a:pt x="364617" y="336471"/>
                  <a:pt x="336471" y="364617"/>
                  <a:pt x="301752" y="364617"/>
                </a:cubicBezTo>
                <a:cubicBezTo>
                  <a:pt x="267033" y="364617"/>
                  <a:pt x="238887" y="336471"/>
                  <a:pt x="238887" y="301752"/>
                </a:cubicBezTo>
                <a:cubicBezTo>
                  <a:pt x="238887" y="267033"/>
                  <a:pt x="267033" y="238887"/>
                  <a:pt x="301752" y="238887"/>
                </a:cubicBezTo>
                <a:cubicBezTo>
                  <a:pt x="336471" y="238887"/>
                  <a:pt x="364617" y="267033"/>
                  <a:pt x="364617" y="301752"/>
                </a:cubicBezTo>
                <a:close/>
              </a:path>
            </a:pathLst>
          </a:custGeom>
          <a:noFill/>
          <a:ln w="37719" cap="rnd">
            <a:solidFill>
              <a:srgbClr val="2BA6CB"/>
            </a:solidFill>
            <a:prstDash val="solid"/>
            <a:round/>
          </a:ln>
        </p:spPr>
      </p:sp>
      <p:sp>
        <p:nvSpPr>
          <p:cNvPr id="17" name="Text 15"/>
          <p:cNvSpPr/>
          <p:nvPr/>
        </p:nvSpPr>
        <p:spPr>
          <a:xfrm>
            <a:off x="8001000" y="3547872"/>
            <a:ext cx="1463040"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Semibold" pitchFamily="34" charset="0"/>
                <a:ea typeface="Segoe UI Semibold" pitchFamily="34" charset="-122"/>
                <a:cs typeface="Segoe UI Semibold" pitchFamily="34" charset="-120"/>
              </a:rPr>
              <a:t>ARKA-Lite</a:t>
            </a:r>
            <a:endParaRPr lang="en-US" sz="1500" dirty="0"/>
          </a:p>
        </p:txBody>
      </p:sp>
      <p:sp>
        <p:nvSpPr>
          <p:cNvPr id="18" name="Shape 16"/>
          <p:cNvSpPr/>
          <p:nvPr/>
        </p:nvSpPr>
        <p:spPr>
          <a:xfrm>
            <a:off x="9183108" y="128350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19" name="Icono code"/>
          <p:cNvSpPr/>
          <p:nvPr/>
        </p:nvSpPr>
        <p:spPr>
          <a:xfrm>
            <a:off x="9329412" y="1429810"/>
            <a:ext cx="310896" cy="310896"/>
          </a:xfrm>
          <a:custGeom>
            <a:avLst/>
            <a:gdLst/>
            <a:ahLst/>
            <a:cxnLst/>
            <a:rect l="l" t="t" r="r" b="b"/>
            <a:pathLst>
              <a:path w="310896" h="310896">
                <a:moveTo>
                  <a:pt x="207264" y="233172"/>
                </a:moveTo>
                <a:lnTo>
                  <a:pt x="284988" y="155448"/>
                </a:lnTo>
                <a:lnTo>
                  <a:pt x="207264" y="77724"/>
                </a:lnTo>
                <a:moveTo>
                  <a:pt x="103632" y="77724"/>
                </a:moveTo>
                <a:lnTo>
                  <a:pt x="25908" y="155448"/>
                </a:lnTo>
                <a:lnTo>
                  <a:pt x="103632" y="233172"/>
                </a:lnTo>
              </a:path>
            </a:pathLst>
          </a:custGeom>
          <a:noFill/>
          <a:ln w="25908" cap="rnd">
            <a:solidFill>
              <a:srgbClr val="2BA6CB"/>
            </a:solidFill>
            <a:prstDash val="solid"/>
            <a:round/>
          </a:ln>
        </p:spPr>
      </p:sp>
      <p:sp>
        <p:nvSpPr>
          <p:cNvPr id="20" name="Text 18"/>
          <p:cNvSpPr/>
          <p:nvPr/>
        </p:nvSpPr>
        <p:spPr>
          <a:xfrm>
            <a:off x="9603732" y="121035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1</a:t>
            </a:r>
            <a:endParaRPr lang="en-US" sz="900" dirty="0"/>
          </a:p>
        </p:txBody>
      </p:sp>
      <p:sp>
        <p:nvSpPr>
          <p:cNvPr id="21" name="Text 19"/>
          <p:cNvSpPr/>
          <p:nvPr/>
        </p:nvSpPr>
        <p:spPr>
          <a:xfrm>
            <a:off x="9878052" y="1438954"/>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Fundamentos</a:t>
            </a:r>
            <a:endParaRPr lang="en-US" sz="1050" dirty="0"/>
          </a:p>
        </p:txBody>
      </p:sp>
      <p:sp>
        <p:nvSpPr>
          <p:cNvPr id="22" name="Shape 20"/>
          <p:cNvSpPr/>
          <p:nvPr/>
        </p:nvSpPr>
        <p:spPr>
          <a:xfrm>
            <a:off x="10247078" y="234747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23" name="Icono network"/>
          <p:cNvSpPr/>
          <p:nvPr/>
        </p:nvSpPr>
        <p:spPr>
          <a:xfrm>
            <a:off x="10393382" y="2493780"/>
            <a:ext cx="310896" cy="310896"/>
          </a:xfrm>
          <a:custGeom>
            <a:avLst/>
            <a:gdLst/>
            <a:ahLst/>
            <a:cxnLst/>
            <a:rect l="l" t="t" r="r" b="b"/>
            <a:pathLst>
              <a:path w="310896" h="310896">
                <a:moveTo>
                  <a:pt x="220218" y="207264"/>
                </a:moveTo>
                <a:lnTo>
                  <a:pt x="272034" y="207264"/>
                </a:lnTo>
                <a:cubicBezTo>
                  <a:pt x="279188" y="207264"/>
                  <a:pt x="284988" y="213064"/>
                  <a:pt x="284988" y="220218"/>
                </a:cubicBezTo>
                <a:lnTo>
                  <a:pt x="284988" y="272034"/>
                </a:lnTo>
                <a:cubicBezTo>
                  <a:pt x="284988" y="279188"/>
                  <a:pt x="279188" y="284988"/>
                  <a:pt x="272034" y="284988"/>
                </a:cubicBezTo>
                <a:lnTo>
                  <a:pt x="220218" y="284988"/>
                </a:lnTo>
                <a:cubicBezTo>
                  <a:pt x="213064" y="284988"/>
                  <a:pt x="207264" y="279188"/>
                  <a:pt x="207264" y="272034"/>
                </a:cubicBezTo>
                <a:lnTo>
                  <a:pt x="207264" y="220218"/>
                </a:lnTo>
                <a:cubicBezTo>
                  <a:pt x="207264" y="213064"/>
                  <a:pt x="213064" y="207264"/>
                  <a:pt x="220218" y="207264"/>
                </a:cubicBezTo>
                <a:close/>
                <a:moveTo>
                  <a:pt x="38862" y="207264"/>
                </a:moveTo>
                <a:lnTo>
                  <a:pt x="90678" y="207264"/>
                </a:lnTo>
                <a:cubicBezTo>
                  <a:pt x="97832" y="207264"/>
                  <a:pt x="103632" y="213064"/>
                  <a:pt x="103632" y="220218"/>
                </a:cubicBezTo>
                <a:lnTo>
                  <a:pt x="103632" y="272034"/>
                </a:lnTo>
                <a:cubicBezTo>
                  <a:pt x="103632" y="279188"/>
                  <a:pt x="97832" y="284988"/>
                  <a:pt x="90678" y="284988"/>
                </a:cubicBezTo>
                <a:lnTo>
                  <a:pt x="38862" y="284988"/>
                </a:lnTo>
                <a:cubicBezTo>
                  <a:pt x="31708" y="284988"/>
                  <a:pt x="25908" y="279188"/>
                  <a:pt x="25908" y="272034"/>
                </a:cubicBezTo>
                <a:lnTo>
                  <a:pt x="25908" y="220218"/>
                </a:lnTo>
                <a:cubicBezTo>
                  <a:pt x="25908" y="213064"/>
                  <a:pt x="31708" y="207264"/>
                  <a:pt x="38862" y="207264"/>
                </a:cubicBezTo>
                <a:close/>
                <a:moveTo>
                  <a:pt x="129540" y="25908"/>
                </a:moveTo>
                <a:lnTo>
                  <a:pt x="181356" y="25908"/>
                </a:lnTo>
                <a:cubicBezTo>
                  <a:pt x="188510" y="25908"/>
                  <a:pt x="194310" y="31708"/>
                  <a:pt x="194310" y="38862"/>
                </a:cubicBezTo>
                <a:lnTo>
                  <a:pt x="194310" y="90678"/>
                </a:lnTo>
                <a:cubicBezTo>
                  <a:pt x="194310" y="97832"/>
                  <a:pt x="188510" y="103632"/>
                  <a:pt x="181356" y="103632"/>
                </a:cubicBezTo>
                <a:lnTo>
                  <a:pt x="129540" y="103632"/>
                </a:lnTo>
                <a:cubicBezTo>
                  <a:pt x="122386" y="103632"/>
                  <a:pt x="116586" y="97832"/>
                  <a:pt x="116586" y="90678"/>
                </a:cubicBezTo>
                <a:lnTo>
                  <a:pt x="116586" y="38862"/>
                </a:lnTo>
                <a:cubicBezTo>
                  <a:pt x="116586" y="31708"/>
                  <a:pt x="122386" y="25908"/>
                  <a:pt x="129540" y="25908"/>
                </a:cubicBezTo>
                <a:close/>
                <a:moveTo>
                  <a:pt x="64770" y="207264"/>
                </a:moveTo>
                <a:lnTo>
                  <a:pt x="64770" y="168402"/>
                </a:lnTo>
                <a:cubicBezTo>
                  <a:pt x="64770" y="161248"/>
                  <a:pt x="70570" y="155448"/>
                  <a:pt x="77724" y="155448"/>
                </a:cubicBezTo>
                <a:lnTo>
                  <a:pt x="233172" y="155448"/>
                </a:lnTo>
                <a:cubicBezTo>
                  <a:pt x="240326" y="155448"/>
                  <a:pt x="246126" y="161248"/>
                  <a:pt x="246126" y="168402"/>
                </a:cubicBezTo>
                <a:lnTo>
                  <a:pt x="246126" y="207264"/>
                </a:lnTo>
                <a:moveTo>
                  <a:pt x="155448" y="155448"/>
                </a:moveTo>
                <a:lnTo>
                  <a:pt x="155448" y="103632"/>
                </a:lnTo>
              </a:path>
            </a:pathLst>
          </a:custGeom>
          <a:noFill/>
          <a:ln w="25908" cap="rnd">
            <a:solidFill>
              <a:srgbClr val="2BA6CB"/>
            </a:solidFill>
            <a:prstDash val="solid"/>
            <a:round/>
          </a:ln>
        </p:spPr>
      </p:sp>
      <p:sp>
        <p:nvSpPr>
          <p:cNvPr id="24" name="Text 22"/>
          <p:cNvSpPr/>
          <p:nvPr/>
        </p:nvSpPr>
        <p:spPr>
          <a:xfrm>
            <a:off x="10667702" y="227432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2</a:t>
            </a:r>
            <a:endParaRPr lang="en-US" sz="900" dirty="0"/>
          </a:p>
        </p:txBody>
      </p:sp>
      <p:sp>
        <p:nvSpPr>
          <p:cNvPr id="25" name="Text 23"/>
          <p:cNvSpPr/>
          <p:nvPr/>
        </p:nvSpPr>
        <p:spPr>
          <a:xfrm>
            <a:off x="10942022" y="2502924"/>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Arquitectura</a:t>
            </a:r>
            <a:endParaRPr lang="en-US" sz="1050" dirty="0"/>
          </a:p>
        </p:txBody>
      </p:sp>
      <p:sp>
        <p:nvSpPr>
          <p:cNvPr id="26" name="Shape 24"/>
          <p:cNvSpPr/>
          <p:nvPr/>
        </p:nvSpPr>
        <p:spPr>
          <a:xfrm>
            <a:off x="10247078" y="385215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27" name="Icono database"/>
          <p:cNvSpPr/>
          <p:nvPr/>
        </p:nvSpPr>
        <p:spPr>
          <a:xfrm>
            <a:off x="10393382" y="3998460"/>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2BA6CB"/>
            </a:solidFill>
            <a:prstDash val="solid"/>
            <a:round/>
          </a:ln>
        </p:spPr>
      </p:sp>
      <p:sp>
        <p:nvSpPr>
          <p:cNvPr id="28" name="Text 26"/>
          <p:cNvSpPr/>
          <p:nvPr/>
        </p:nvSpPr>
        <p:spPr>
          <a:xfrm>
            <a:off x="10667702" y="377900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3</a:t>
            </a:r>
            <a:endParaRPr lang="en-US" sz="900" dirty="0"/>
          </a:p>
        </p:txBody>
      </p:sp>
      <p:sp>
        <p:nvSpPr>
          <p:cNvPr id="29" name="Text 27"/>
          <p:cNvSpPr/>
          <p:nvPr/>
        </p:nvSpPr>
        <p:spPr>
          <a:xfrm>
            <a:off x="10942022" y="4007604"/>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Base de datos</a:t>
            </a:r>
            <a:endParaRPr lang="en-US" sz="1050" dirty="0"/>
          </a:p>
        </p:txBody>
      </p:sp>
      <p:sp>
        <p:nvSpPr>
          <p:cNvPr id="30" name="Shape 28"/>
          <p:cNvSpPr/>
          <p:nvPr/>
        </p:nvSpPr>
        <p:spPr>
          <a:xfrm>
            <a:off x="9183108" y="491612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1" name="Icono container"/>
          <p:cNvSpPr/>
          <p:nvPr/>
        </p:nvSpPr>
        <p:spPr>
          <a:xfrm>
            <a:off x="9329412" y="5062430"/>
            <a:ext cx="310896" cy="310896"/>
          </a:xfrm>
          <a:custGeom>
            <a:avLst/>
            <a:gdLst/>
            <a:ahLst/>
            <a:cxnLst/>
            <a:rect l="l" t="t" r="r" b="b"/>
            <a:pathLst>
              <a:path w="310896" h="310896">
                <a:moveTo>
                  <a:pt x="284988" y="99746"/>
                </a:moveTo>
                <a:cubicBezTo>
                  <a:pt x="284988" y="91973"/>
                  <a:pt x="279806" y="84201"/>
                  <a:pt x="274625" y="80315"/>
                </a:cubicBezTo>
                <a:lnTo>
                  <a:pt x="193015" y="29794"/>
                </a:lnTo>
                <a:cubicBezTo>
                  <a:pt x="186187" y="25913"/>
                  <a:pt x="177820" y="25913"/>
                  <a:pt x="170993" y="29794"/>
                </a:cubicBezTo>
                <a:lnTo>
                  <a:pt x="37567" y="107518"/>
                </a:lnTo>
                <a:cubicBezTo>
                  <a:pt x="31090" y="110109"/>
                  <a:pt x="25908" y="117881"/>
                  <a:pt x="25908" y="125654"/>
                </a:cubicBezTo>
                <a:lnTo>
                  <a:pt x="25908" y="211150"/>
                </a:lnTo>
                <a:cubicBezTo>
                  <a:pt x="25908" y="217627"/>
                  <a:pt x="31090" y="226695"/>
                  <a:pt x="36271" y="230581"/>
                </a:cubicBezTo>
                <a:lnTo>
                  <a:pt x="117881" y="281102"/>
                </a:lnTo>
                <a:cubicBezTo>
                  <a:pt x="124709" y="284983"/>
                  <a:pt x="133076" y="284983"/>
                  <a:pt x="139903" y="281102"/>
                </a:cubicBezTo>
                <a:lnTo>
                  <a:pt x="273329" y="203378"/>
                </a:lnTo>
                <a:cubicBezTo>
                  <a:pt x="279806" y="199492"/>
                  <a:pt x="284988" y="190424"/>
                  <a:pt x="284988" y="183947"/>
                </a:cubicBezTo>
                <a:close/>
                <a:moveTo>
                  <a:pt x="129540" y="283693"/>
                </a:moveTo>
                <a:lnTo>
                  <a:pt x="129540" y="181356"/>
                </a:lnTo>
                <a:lnTo>
                  <a:pt x="27203" y="117881"/>
                </a:lnTo>
                <a:moveTo>
                  <a:pt x="129540" y="181356"/>
                </a:moveTo>
                <a:lnTo>
                  <a:pt x="283693" y="91973"/>
                </a:lnTo>
                <a:moveTo>
                  <a:pt x="181356" y="256489"/>
                </a:moveTo>
                <a:lnTo>
                  <a:pt x="181356" y="151562"/>
                </a:lnTo>
                <a:moveTo>
                  <a:pt x="233172" y="226695"/>
                </a:moveTo>
                <a:lnTo>
                  <a:pt x="233172" y="121768"/>
                </a:lnTo>
              </a:path>
            </a:pathLst>
          </a:custGeom>
          <a:noFill/>
          <a:ln w="25908" cap="rnd">
            <a:solidFill>
              <a:srgbClr val="2BA6CB"/>
            </a:solidFill>
            <a:prstDash val="solid"/>
            <a:round/>
          </a:ln>
        </p:spPr>
      </p:sp>
      <p:sp>
        <p:nvSpPr>
          <p:cNvPr id="32" name="Text 30"/>
          <p:cNvSpPr/>
          <p:nvPr/>
        </p:nvSpPr>
        <p:spPr>
          <a:xfrm>
            <a:off x="9603732" y="484297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4</a:t>
            </a:r>
            <a:endParaRPr lang="en-US" sz="900" dirty="0"/>
          </a:p>
        </p:txBody>
      </p:sp>
      <p:sp>
        <p:nvSpPr>
          <p:cNvPr id="33" name="Text 31"/>
          <p:cNvSpPr/>
          <p:nvPr/>
        </p:nvSpPr>
        <p:spPr>
          <a:xfrm>
            <a:off x="9878052" y="5071574"/>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Contenedores</a:t>
            </a:r>
            <a:endParaRPr lang="en-US" sz="1050" dirty="0"/>
          </a:p>
        </p:txBody>
      </p:sp>
      <p:sp>
        <p:nvSpPr>
          <p:cNvPr id="34" name="Shape 32"/>
          <p:cNvSpPr/>
          <p:nvPr/>
        </p:nvSpPr>
        <p:spPr>
          <a:xfrm>
            <a:off x="7678428" y="491612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5" name="Icono workflow"/>
          <p:cNvSpPr/>
          <p:nvPr/>
        </p:nvSpPr>
        <p:spPr>
          <a:xfrm>
            <a:off x="7824732" y="5062430"/>
            <a:ext cx="310896" cy="310896"/>
          </a:xfrm>
          <a:custGeom>
            <a:avLst/>
            <a:gdLst/>
            <a:ahLst/>
            <a:cxnLst/>
            <a:rect l="l" t="t" r="r" b="b"/>
            <a:pathLst>
              <a:path w="310896" h="310896">
                <a:moveTo>
                  <a:pt x="64770" y="38862"/>
                </a:moveTo>
                <a:lnTo>
                  <a:pt x="116586" y="38862"/>
                </a:lnTo>
                <a:cubicBezTo>
                  <a:pt x="130895" y="38862"/>
                  <a:pt x="142494" y="50461"/>
                  <a:pt x="142494" y="64770"/>
                </a:cubicBezTo>
                <a:lnTo>
                  <a:pt x="142494" y="116586"/>
                </a:lnTo>
                <a:cubicBezTo>
                  <a:pt x="142494" y="130895"/>
                  <a:pt x="130895" y="142494"/>
                  <a:pt x="116586" y="142494"/>
                </a:cubicBezTo>
                <a:lnTo>
                  <a:pt x="64770" y="142494"/>
                </a:lnTo>
                <a:cubicBezTo>
                  <a:pt x="50461" y="142494"/>
                  <a:pt x="38862" y="130895"/>
                  <a:pt x="38862" y="116586"/>
                </a:cubicBezTo>
                <a:lnTo>
                  <a:pt x="38862" y="64770"/>
                </a:lnTo>
                <a:cubicBezTo>
                  <a:pt x="38862" y="50461"/>
                  <a:pt x="50461" y="38862"/>
                  <a:pt x="64770" y="38862"/>
                </a:cubicBezTo>
                <a:close/>
                <a:moveTo>
                  <a:pt x="90678" y="142494"/>
                </a:moveTo>
                <a:lnTo>
                  <a:pt x="90678" y="194310"/>
                </a:lnTo>
                <a:cubicBezTo>
                  <a:pt x="90678" y="208619"/>
                  <a:pt x="102277" y="220218"/>
                  <a:pt x="116586" y="220218"/>
                </a:cubicBezTo>
                <a:lnTo>
                  <a:pt x="168402" y="220218"/>
                </a:lnTo>
                <a:moveTo>
                  <a:pt x="194310" y="168402"/>
                </a:moveTo>
                <a:lnTo>
                  <a:pt x="246126" y="168402"/>
                </a:lnTo>
                <a:cubicBezTo>
                  <a:pt x="260435" y="168402"/>
                  <a:pt x="272034" y="180001"/>
                  <a:pt x="272034" y="194310"/>
                </a:cubicBezTo>
                <a:lnTo>
                  <a:pt x="272034" y="246126"/>
                </a:lnTo>
                <a:cubicBezTo>
                  <a:pt x="272034" y="260435"/>
                  <a:pt x="260435" y="272034"/>
                  <a:pt x="246126" y="272034"/>
                </a:cubicBezTo>
                <a:lnTo>
                  <a:pt x="194310" y="272034"/>
                </a:lnTo>
                <a:cubicBezTo>
                  <a:pt x="180001" y="272034"/>
                  <a:pt x="168402" y="260435"/>
                  <a:pt x="168402" y="246126"/>
                </a:cubicBezTo>
                <a:lnTo>
                  <a:pt x="168402" y="194310"/>
                </a:lnTo>
                <a:cubicBezTo>
                  <a:pt x="168402" y="180001"/>
                  <a:pt x="180001" y="168402"/>
                  <a:pt x="194310" y="168402"/>
                </a:cubicBezTo>
                <a:close/>
              </a:path>
            </a:pathLst>
          </a:custGeom>
          <a:noFill/>
          <a:ln w="25908" cap="rnd">
            <a:solidFill>
              <a:srgbClr val="2BA6CB"/>
            </a:solidFill>
            <a:prstDash val="solid"/>
            <a:round/>
          </a:ln>
        </p:spPr>
      </p:sp>
      <p:sp>
        <p:nvSpPr>
          <p:cNvPr id="36" name="Text 34"/>
          <p:cNvSpPr/>
          <p:nvPr/>
        </p:nvSpPr>
        <p:spPr>
          <a:xfrm>
            <a:off x="8099052" y="484297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5</a:t>
            </a:r>
            <a:endParaRPr lang="en-US" sz="900" dirty="0"/>
          </a:p>
        </p:txBody>
      </p:sp>
      <p:sp>
        <p:nvSpPr>
          <p:cNvPr id="37" name="Text 35"/>
          <p:cNvSpPr/>
          <p:nvPr/>
        </p:nvSpPr>
        <p:spPr>
          <a:xfrm>
            <a:off x="6443988" y="5071574"/>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CI/CD</a:t>
            </a:r>
            <a:endParaRPr lang="en-US" sz="1050" dirty="0"/>
          </a:p>
        </p:txBody>
      </p:sp>
      <p:sp>
        <p:nvSpPr>
          <p:cNvPr id="38" name="Shape 36"/>
          <p:cNvSpPr/>
          <p:nvPr/>
        </p:nvSpPr>
        <p:spPr>
          <a:xfrm>
            <a:off x="6614458" y="385215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9" name="Icono chart-line"/>
          <p:cNvSpPr/>
          <p:nvPr/>
        </p:nvSpPr>
        <p:spPr>
          <a:xfrm>
            <a:off x="6760762" y="3998460"/>
            <a:ext cx="310896" cy="310896"/>
          </a:xfrm>
          <a:custGeom>
            <a:avLst/>
            <a:gdLst/>
            <a:ahLst/>
            <a:cxnLst/>
            <a:rect l="l" t="t" r="r" b="b"/>
            <a:pathLst>
              <a:path w="310896" h="310896">
                <a:moveTo>
                  <a:pt x="38862" y="38862"/>
                </a:moveTo>
                <a:lnTo>
                  <a:pt x="38862" y="246126"/>
                </a:lnTo>
                <a:cubicBezTo>
                  <a:pt x="38862" y="260435"/>
                  <a:pt x="50461" y="272034"/>
                  <a:pt x="64770" y="272034"/>
                </a:cubicBezTo>
                <a:lnTo>
                  <a:pt x="272034" y="272034"/>
                </a:lnTo>
                <a:moveTo>
                  <a:pt x="246126" y="116586"/>
                </a:moveTo>
                <a:lnTo>
                  <a:pt x="181356" y="181356"/>
                </a:lnTo>
                <a:lnTo>
                  <a:pt x="129540" y="129540"/>
                </a:lnTo>
                <a:lnTo>
                  <a:pt x="90678" y="168402"/>
                </a:lnTo>
              </a:path>
            </a:pathLst>
          </a:custGeom>
          <a:noFill/>
          <a:ln w="25908" cap="rnd">
            <a:solidFill>
              <a:srgbClr val="2BA6CB"/>
            </a:solidFill>
            <a:prstDash val="solid"/>
            <a:round/>
          </a:ln>
        </p:spPr>
      </p:sp>
      <p:sp>
        <p:nvSpPr>
          <p:cNvPr id="40" name="Text 38"/>
          <p:cNvSpPr/>
          <p:nvPr/>
        </p:nvSpPr>
        <p:spPr>
          <a:xfrm>
            <a:off x="7035082" y="377900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6</a:t>
            </a:r>
            <a:endParaRPr lang="en-US" sz="900" dirty="0"/>
          </a:p>
        </p:txBody>
      </p:sp>
      <p:sp>
        <p:nvSpPr>
          <p:cNvPr id="41" name="Text 39"/>
          <p:cNvSpPr/>
          <p:nvPr/>
        </p:nvSpPr>
        <p:spPr>
          <a:xfrm>
            <a:off x="5380018" y="4007604"/>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Observabilidad</a:t>
            </a:r>
            <a:endParaRPr lang="en-US" sz="1050" dirty="0"/>
          </a:p>
        </p:txBody>
      </p:sp>
      <p:sp>
        <p:nvSpPr>
          <p:cNvPr id="42" name="Shape 40"/>
          <p:cNvSpPr/>
          <p:nvPr/>
        </p:nvSpPr>
        <p:spPr>
          <a:xfrm>
            <a:off x="6614458" y="234747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43" name="Icono book-open"/>
          <p:cNvSpPr/>
          <p:nvPr/>
        </p:nvSpPr>
        <p:spPr>
          <a:xfrm>
            <a:off x="6760762" y="2493780"/>
            <a:ext cx="310896" cy="310896"/>
          </a:xfrm>
          <a:custGeom>
            <a:avLst/>
            <a:gdLst/>
            <a:ahLst/>
            <a:cxnLst/>
            <a:rect l="l" t="t" r="r" b="b"/>
            <a:pathLst>
              <a:path w="310896" h="310896">
                <a:moveTo>
                  <a:pt x="155448" y="90678"/>
                </a:moveTo>
                <a:lnTo>
                  <a:pt x="155448" y="272034"/>
                </a:lnTo>
                <a:moveTo>
                  <a:pt x="38862" y="233172"/>
                </a:moveTo>
                <a:cubicBezTo>
                  <a:pt x="31708" y="233172"/>
                  <a:pt x="25908" y="227372"/>
                  <a:pt x="25908" y="220218"/>
                </a:cubicBezTo>
                <a:lnTo>
                  <a:pt x="25908" y="51816"/>
                </a:lnTo>
                <a:cubicBezTo>
                  <a:pt x="25908" y="44662"/>
                  <a:pt x="31708" y="38862"/>
                  <a:pt x="38862" y="38862"/>
                </a:cubicBezTo>
                <a:lnTo>
                  <a:pt x="103632" y="38862"/>
                </a:lnTo>
                <a:cubicBezTo>
                  <a:pt x="132249" y="38862"/>
                  <a:pt x="155448" y="62061"/>
                  <a:pt x="155448" y="90678"/>
                </a:cubicBezTo>
                <a:cubicBezTo>
                  <a:pt x="155448" y="62061"/>
                  <a:pt x="178647" y="38862"/>
                  <a:pt x="207264" y="38862"/>
                </a:cubicBezTo>
                <a:lnTo>
                  <a:pt x="272034" y="38862"/>
                </a:lnTo>
                <a:cubicBezTo>
                  <a:pt x="279188" y="38862"/>
                  <a:pt x="284988" y="44662"/>
                  <a:pt x="284988" y="51816"/>
                </a:cubicBezTo>
                <a:lnTo>
                  <a:pt x="284988" y="220218"/>
                </a:lnTo>
                <a:cubicBezTo>
                  <a:pt x="284988" y="227372"/>
                  <a:pt x="279188" y="233172"/>
                  <a:pt x="272034" y="233172"/>
                </a:cubicBezTo>
                <a:lnTo>
                  <a:pt x="194310" y="233172"/>
                </a:lnTo>
                <a:cubicBezTo>
                  <a:pt x="172847" y="233172"/>
                  <a:pt x="155448" y="250571"/>
                  <a:pt x="155448" y="272034"/>
                </a:cubicBezTo>
                <a:cubicBezTo>
                  <a:pt x="155448" y="250571"/>
                  <a:pt x="138049" y="233172"/>
                  <a:pt x="116586" y="233172"/>
                </a:cubicBezTo>
                <a:close/>
              </a:path>
            </a:pathLst>
          </a:custGeom>
          <a:noFill/>
          <a:ln w="25908" cap="rnd">
            <a:solidFill>
              <a:srgbClr val="2BA6CB"/>
            </a:solidFill>
            <a:prstDash val="solid"/>
            <a:round/>
          </a:ln>
        </p:spPr>
      </p:sp>
      <p:sp>
        <p:nvSpPr>
          <p:cNvPr id="44" name="Text 42"/>
          <p:cNvSpPr/>
          <p:nvPr/>
        </p:nvSpPr>
        <p:spPr>
          <a:xfrm>
            <a:off x="7035082" y="227432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7</a:t>
            </a:r>
            <a:endParaRPr lang="en-US" sz="900" dirty="0"/>
          </a:p>
        </p:txBody>
      </p:sp>
      <p:sp>
        <p:nvSpPr>
          <p:cNvPr id="45" name="Text 43"/>
          <p:cNvSpPr/>
          <p:nvPr/>
        </p:nvSpPr>
        <p:spPr>
          <a:xfrm>
            <a:off x="5380018" y="2502924"/>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Documentación</a:t>
            </a:r>
            <a:endParaRPr lang="en-US" sz="1050" dirty="0"/>
          </a:p>
        </p:txBody>
      </p:sp>
      <p:sp>
        <p:nvSpPr>
          <p:cNvPr id="46" name="Shape 44"/>
          <p:cNvSpPr/>
          <p:nvPr/>
        </p:nvSpPr>
        <p:spPr>
          <a:xfrm>
            <a:off x="7678428" y="128350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47" name="Icono flask-conical"/>
          <p:cNvSpPr/>
          <p:nvPr/>
        </p:nvSpPr>
        <p:spPr>
          <a:xfrm>
            <a:off x="7824732" y="1429810"/>
            <a:ext cx="310896" cy="310896"/>
          </a:xfrm>
          <a:custGeom>
            <a:avLst/>
            <a:gdLst/>
            <a:ahLst/>
            <a:cxnLst/>
            <a:rect l="l" t="t" r="r" b="b"/>
            <a:pathLst>
              <a:path w="310896" h="310896">
                <a:moveTo>
                  <a:pt x="181356" y="25908"/>
                </a:moveTo>
                <a:lnTo>
                  <a:pt x="181356" y="103632"/>
                </a:lnTo>
                <a:cubicBezTo>
                  <a:pt x="181354" y="107978"/>
                  <a:pt x="182446" y="112254"/>
                  <a:pt x="184530" y="116068"/>
                </a:cubicBezTo>
                <a:lnTo>
                  <a:pt x="255906" y="246644"/>
                </a:lnTo>
                <a:cubicBezTo>
                  <a:pt x="260299" y="254672"/>
                  <a:pt x="260130" y="264422"/>
                  <a:pt x="255463" y="272293"/>
                </a:cubicBezTo>
                <a:cubicBezTo>
                  <a:pt x="250796" y="280165"/>
                  <a:pt x="242323" y="284990"/>
                  <a:pt x="233172" y="284988"/>
                </a:cubicBezTo>
                <a:lnTo>
                  <a:pt x="77724" y="284988"/>
                </a:lnTo>
                <a:cubicBezTo>
                  <a:pt x="68573" y="284990"/>
                  <a:pt x="60100" y="280165"/>
                  <a:pt x="55433" y="272293"/>
                </a:cubicBezTo>
                <a:cubicBezTo>
                  <a:pt x="50766" y="264422"/>
                  <a:pt x="50597" y="254672"/>
                  <a:pt x="54990" y="246644"/>
                </a:cubicBezTo>
                <a:lnTo>
                  <a:pt x="126366" y="116068"/>
                </a:lnTo>
                <a:cubicBezTo>
                  <a:pt x="128450" y="112254"/>
                  <a:pt x="129542" y="107978"/>
                  <a:pt x="129540" y="103632"/>
                </a:cubicBezTo>
                <a:lnTo>
                  <a:pt x="129540" y="25908"/>
                </a:lnTo>
                <a:moveTo>
                  <a:pt x="83592" y="194310"/>
                </a:moveTo>
                <a:lnTo>
                  <a:pt x="227304" y="194310"/>
                </a:lnTo>
                <a:moveTo>
                  <a:pt x="110109" y="25908"/>
                </a:moveTo>
                <a:lnTo>
                  <a:pt x="200787" y="25908"/>
                </a:lnTo>
              </a:path>
            </a:pathLst>
          </a:custGeom>
          <a:noFill/>
          <a:ln w="25908" cap="rnd">
            <a:solidFill>
              <a:srgbClr val="2BA6CB"/>
            </a:solidFill>
            <a:prstDash val="solid"/>
            <a:round/>
          </a:ln>
        </p:spPr>
      </p:sp>
      <p:sp>
        <p:nvSpPr>
          <p:cNvPr id="48" name="Text 46"/>
          <p:cNvSpPr/>
          <p:nvPr/>
        </p:nvSpPr>
        <p:spPr>
          <a:xfrm>
            <a:off x="8099052" y="121035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8</a:t>
            </a:r>
            <a:endParaRPr lang="en-US" sz="900" dirty="0"/>
          </a:p>
        </p:txBody>
      </p:sp>
      <p:sp>
        <p:nvSpPr>
          <p:cNvPr id="49" name="Text 47"/>
          <p:cNvSpPr/>
          <p:nvPr/>
        </p:nvSpPr>
        <p:spPr>
          <a:xfrm>
            <a:off x="6443988" y="1438954"/>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UI laboratorio</a:t>
            </a:r>
            <a:endParaRPr lang="en-US" sz="1050" dirty="0"/>
          </a:p>
        </p:txBody>
      </p:sp>
      <p:sp>
        <p:nvSpPr>
          <p:cNvPr id="50" name="Shape 48"/>
          <p:cNvSpPr/>
          <p:nvPr/>
        </p:nvSpPr>
        <p:spPr>
          <a:xfrm>
            <a:off x="758952" y="530352"/>
            <a:ext cx="329184" cy="329184"/>
          </a:xfrm>
          <a:prstGeom prst="ellipse">
            <a:avLst/>
          </a:prstGeom>
          <a:solidFill>
            <a:srgbClr val="2BA6CB"/>
          </a:solidFill>
          <a:ln w="12700">
            <a:solidFill>
              <a:srgbClr val="2BA6CB"/>
            </a:solidFill>
            <a:prstDash val="solid"/>
          </a:ln>
        </p:spPr>
      </p:sp>
      <p:sp>
        <p:nvSpPr>
          <p:cNvPr id="51" name="Text 49"/>
          <p:cNvSpPr/>
          <p:nvPr/>
        </p:nvSpPr>
        <p:spPr>
          <a:xfrm>
            <a:off x="758952" y="530352"/>
            <a:ext cx="329184" cy="329184"/>
          </a:xfrm>
          <a:prstGeom prst="rect">
            <a:avLst/>
          </a:prstGeom>
          <a:noFill/>
          <a:ln/>
        </p:spPr>
        <p:txBody>
          <a:bodyPr wrap="square" lIns="0" tIns="0" rIns="0" bIns="0" rtlCol="0" anchor="ctr"/>
          <a:lstStyle/>
          <a:p>
            <a:pPr algn="ctr" indent="0" marL="0">
              <a:buNone/>
            </a:pPr>
            <a:r>
              <a:rPr lang="en-US" sz="1300" b="1" dirty="0">
                <a:solidFill>
                  <a:srgbClr val="0B1F3A"/>
                </a:solidFill>
                <a:latin typeface="Segoe UI Semibold" pitchFamily="34" charset="0"/>
                <a:ea typeface="Segoe UI Semibold" pitchFamily="34" charset="-122"/>
                <a:cs typeface="Segoe UI Semibold" pitchFamily="34" charset="-120"/>
              </a:rPr>
              <a:t>A</a:t>
            </a:r>
            <a:endParaRPr lang="en-US" sz="1300" dirty="0"/>
          </a:p>
        </p:txBody>
      </p:sp>
      <p:sp>
        <p:nvSpPr>
          <p:cNvPr id="52" name="Text 50"/>
          <p:cNvSpPr/>
          <p:nvPr/>
        </p:nvSpPr>
        <p:spPr>
          <a:xfrm>
            <a:off x="1179576" y="530352"/>
            <a:ext cx="2011680" cy="329184"/>
          </a:xfrm>
          <a:prstGeom prst="rect">
            <a:avLst/>
          </a:prstGeom>
          <a:noFill/>
          <a:ln/>
        </p:spPr>
        <p:txBody>
          <a:bodyPr wrap="square" lIns="0" tIns="0" rIns="0" bIns="0" rtlCol="0" anchor="ctr"/>
          <a:lstStyle/>
          <a:p>
            <a:pPr indent="0" marL="0">
              <a:buNone/>
            </a:pPr>
            <a:r>
              <a:rPr lang="en-US" sz="1500" b="1" dirty="0">
                <a:solidFill>
                  <a:srgbClr val="FFFFFF"/>
                </a:solidFill>
                <a:latin typeface="Segoe UI Semibold" pitchFamily="34" charset="0"/>
                <a:ea typeface="Segoe UI Semibold" pitchFamily="34" charset="-122"/>
                <a:cs typeface="Segoe UI Semibold" pitchFamily="34" charset="-120"/>
              </a:rPr>
              <a:t>ARKA-Lite</a:t>
            </a:r>
            <a:endParaRPr lang="en-US" sz="1500" dirty="0"/>
          </a:p>
        </p:txBody>
      </p:sp>
      <p:sp>
        <p:nvSpPr>
          <p:cNvPr id="53" name="Text 51"/>
          <p:cNvSpPr/>
          <p:nvPr/>
        </p:nvSpPr>
        <p:spPr>
          <a:xfrm>
            <a:off x="758952" y="1371600"/>
            <a:ext cx="54864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PROYECTO FINAL · UPSKILLING BACKEND JAVA</a:t>
            </a:r>
            <a:endParaRPr lang="en-US" sz="1200" dirty="0"/>
          </a:p>
        </p:txBody>
      </p:sp>
      <p:sp>
        <p:nvSpPr>
          <p:cNvPr id="54" name="Text 52"/>
          <p:cNvSpPr/>
          <p:nvPr/>
        </p:nvSpPr>
        <p:spPr>
          <a:xfrm>
            <a:off x="758952" y="1719072"/>
            <a:ext cx="5486400" cy="1783080"/>
          </a:xfrm>
          <a:prstGeom prst="rect">
            <a:avLst/>
          </a:prstGeom>
          <a:noFill/>
          <a:ln/>
        </p:spPr>
        <p:txBody>
          <a:bodyPr wrap="square" lIns="0" tIns="0" rIns="0" bIns="0" rtlCol="0" anchor="t">
            <a:normAutofit/>
          </a:bodyPr>
          <a:lstStyle/>
          <a:p>
            <a:pPr indent="0" marL="0">
              <a:lnSpc>
                <a:spcPct val="95000"/>
              </a:lnSpc>
              <a:buNone/>
            </a:pPr>
            <a:r>
              <a:rPr lang="en-US" sz="5400" b="1" dirty="0">
                <a:solidFill>
                  <a:srgbClr val="FFFFFF"/>
                </a:solidFill>
                <a:latin typeface="Segoe UI Semibold" pitchFamily="34" charset="0"/>
                <a:ea typeface="Segoe UI Semibold" pitchFamily="34" charset="-122"/>
                <a:cs typeface="Segoe UI Semibold" pitchFamily="34" charset="-120"/>
              </a:rPr>
              <a:t>Del endpoint</a:t>
            </a:r>
            <a:endParaRPr lang="en-US" sz="5400" dirty="0"/>
          </a:p>
          <a:p>
            <a:pPr indent="0" marL="0">
              <a:lnSpc>
                <a:spcPct val="95000"/>
              </a:lnSpc>
              <a:buNone/>
            </a:pPr>
            <a:r>
              <a:rPr lang="en-US" sz="5400" b="1" dirty="0">
                <a:solidFill>
                  <a:srgbClr val="FFFFFF"/>
                </a:solidFill>
                <a:latin typeface="Segoe UI Semibold" pitchFamily="34" charset="0"/>
                <a:ea typeface="Segoe UI Semibold" pitchFamily="34" charset="-122"/>
                <a:cs typeface="Segoe UI Semibold" pitchFamily="34" charset="-120"/>
              </a:rPr>
              <a:t>al clúster</a:t>
            </a:r>
            <a:endParaRPr lang="en-US" sz="5400" dirty="0"/>
          </a:p>
        </p:txBody>
      </p:sp>
      <p:sp>
        <p:nvSpPr>
          <p:cNvPr id="55" name="Text 53"/>
          <p:cNvSpPr/>
          <p:nvPr/>
        </p:nvSpPr>
        <p:spPr>
          <a:xfrm>
            <a:off x="758952" y="3584448"/>
            <a:ext cx="4480560" cy="731520"/>
          </a:xfrm>
          <a:prstGeom prst="rect">
            <a:avLst/>
          </a:prstGeom>
          <a:noFill/>
          <a:ln/>
        </p:spPr>
        <p:txBody>
          <a:bodyPr wrap="square" lIns="0" tIns="0" rIns="0" bIns="0" rtlCol="0" anchor="t"/>
          <a:lstStyle/>
          <a:p>
            <a:pPr indent="0" marL="0">
              <a:buNone/>
            </a:pPr>
            <a:r>
              <a:rPr lang="en-US" sz="1700" dirty="0">
                <a:solidFill>
                  <a:srgbClr val="9FBEE0"/>
                </a:solidFill>
                <a:latin typeface="Segoe UI" pitchFamily="34" charset="0"/>
                <a:ea typeface="Segoe UI" pitchFamily="34" charset="-122"/>
                <a:cs typeface="Segoe UI" pitchFamily="34" charset="-120"/>
              </a:rPr>
              <a:t>Lo que aprendimos construyendo dos microservicios Java, de punta a punta.</a:t>
            </a:r>
            <a:endParaRPr lang="en-US" sz="1700" dirty="0"/>
          </a:p>
        </p:txBody>
      </p:sp>
      <p:sp>
        <p:nvSpPr>
          <p:cNvPr id="56" name="Shape 54"/>
          <p:cNvSpPr/>
          <p:nvPr/>
        </p:nvSpPr>
        <p:spPr>
          <a:xfrm>
            <a:off x="758952" y="4498848"/>
            <a:ext cx="1225296" cy="914400"/>
          </a:xfrm>
          <a:prstGeom prst="roundRect">
            <a:avLst>
              <a:gd name="adj" fmla="val 10000"/>
            </a:avLst>
          </a:prstGeom>
          <a:solidFill>
            <a:srgbClr val="1C2F48"/>
          </a:solidFill>
          <a:ln w="9525">
            <a:solidFill>
              <a:srgbClr val="164E6D"/>
            </a:solidFill>
            <a:prstDash val="solid"/>
          </a:ln>
        </p:spPr>
      </p:sp>
      <p:sp>
        <p:nvSpPr>
          <p:cNvPr id="57" name="Shape 55"/>
          <p:cNvSpPr/>
          <p:nvPr/>
        </p:nvSpPr>
        <p:spPr>
          <a:xfrm>
            <a:off x="758952" y="4590288"/>
            <a:ext cx="45720" cy="731520"/>
          </a:xfrm>
          <a:prstGeom prst="rect">
            <a:avLst/>
          </a:prstGeom>
          <a:solidFill>
            <a:srgbClr val="2BA6CB"/>
          </a:solidFill>
          <a:ln w="12700">
            <a:solidFill>
              <a:srgbClr val="2BA6CB"/>
            </a:solidFill>
            <a:prstDash val="solid"/>
          </a:ln>
        </p:spPr>
      </p:sp>
      <p:sp>
        <p:nvSpPr>
          <p:cNvPr id="58" name="Text 56"/>
          <p:cNvSpPr/>
          <p:nvPr/>
        </p:nvSpPr>
        <p:spPr>
          <a:xfrm>
            <a:off x="905256" y="4553712"/>
            <a:ext cx="1005840" cy="420624"/>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2</a:t>
            </a:r>
            <a:endParaRPr lang="en-US" sz="2600" dirty="0"/>
          </a:p>
        </p:txBody>
      </p:sp>
      <p:sp>
        <p:nvSpPr>
          <p:cNvPr id="59" name="Text 57"/>
          <p:cNvSpPr/>
          <p:nvPr/>
        </p:nvSpPr>
        <p:spPr>
          <a:xfrm>
            <a:off x="905256" y="4974336"/>
            <a:ext cx="1024128" cy="384048"/>
          </a:xfrm>
          <a:prstGeom prst="rect">
            <a:avLst/>
          </a:prstGeom>
          <a:noFill/>
          <a:ln/>
        </p:spPr>
        <p:txBody>
          <a:bodyPr wrap="square" lIns="0" tIns="0" rIns="0" bIns="0" rtlCol="0" anchor="t"/>
          <a:lstStyle/>
          <a:p>
            <a:pPr indent="0" marL="0">
              <a:buNone/>
            </a:pPr>
            <a:r>
              <a:rPr lang="en-US" sz="1000" dirty="0">
                <a:solidFill>
                  <a:srgbClr val="9FBEE0"/>
                </a:solidFill>
                <a:latin typeface="Segoe UI" pitchFamily="34" charset="0"/>
                <a:ea typeface="Segoe UI" pitchFamily="34" charset="-122"/>
                <a:cs typeface="Segoe UI" pitchFamily="34" charset="-120"/>
              </a:rPr>
              <a:t>microservicios</a:t>
            </a:r>
            <a:endParaRPr lang="en-US" sz="1000" dirty="0"/>
          </a:p>
        </p:txBody>
      </p:sp>
      <p:sp>
        <p:nvSpPr>
          <p:cNvPr id="60" name="Shape 58"/>
          <p:cNvSpPr/>
          <p:nvPr/>
        </p:nvSpPr>
        <p:spPr>
          <a:xfrm>
            <a:off x="2075688" y="4498848"/>
            <a:ext cx="1225296" cy="914400"/>
          </a:xfrm>
          <a:prstGeom prst="roundRect">
            <a:avLst>
              <a:gd name="adj" fmla="val 10000"/>
            </a:avLst>
          </a:prstGeom>
          <a:solidFill>
            <a:srgbClr val="1C2F48"/>
          </a:solidFill>
          <a:ln w="9525">
            <a:solidFill>
              <a:srgbClr val="164E6D"/>
            </a:solidFill>
            <a:prstDash val="solid"/>
          </a:ln>
        </p:spPr>
      </p:sp>
      <p:sp>
        <p:nvSpPr>
          <p:cNvPr id="61" name="Shape 59"/>
          <p:cNvSpPr/>
          <p:nvPr/>
        </p:nvSpPr>
        <p:spPr>
          <a:xfrm>
            <a:off x="2075688" y="4590288"/>
            <a:ext cx="45720" cy="731520"/>
          </a:xfrm>
          <a:prstGeom prst="rect">
            <a:avLst/>
          </a:prstGeom>
          <a:solidFill>
            <a:srgbClr val="2BA6CB"/>
          </a:solidFill>
          <a:ln w="12700">
            <a:solidFill>
              <a:srgbClr val="2BA6CB"/>
            </a:solidFill>
            <a:prstDash val="solid"/>
          </a:ln>
        </p:spPr>
      </p:sp>
      <p:sp>
        <p:nvSpPr>
          <p:cNvPr id="62" name="Text 60"/>
          <p:cNvSpPr/>
          <p:nvPr/>
        </p:nvSpPr>
        <p:spPr>
          <a:xfrm>
            <a:off x="2221992" y="4553712"/>
            <a:ext cx="1005840" cy="420624"/>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11</a:t>
            </a:r>
            <a:endParaRPr lang="en-US" sz="2600" dirty="0"/>
          </a:p>
        </p:txBody>
      </p:sp>
      <p:sp>
        <p:nvSpPr>
          <p:cNvPr id="63" name="Text 61"/>
          <p:cNvSpPr/>
          <p:nvPr/>
        </p:nvSpPr>
        <p:spPr>
          <a:xfrm>
            <a:off x="2221992" y="4974336"/>
            <a:ext cx="1024128" cy="384048"/>
          </a:xfrm>
          <a:prstGeom prst="rect">
            <a:avLst/>
          </a:prstGeom>
          <a:noFill/>
          <a:ln/>
        </p:spPr>
        <p:txBody>
          <a:bodyPr wrap="square" lIns="0" tIns="0" rIns="0" bIns="0" rtlCol="0" anchor="t"/>
          <a:lstStyle/>
          <a:p>
            <a:pPr indent="0" marL="0">
              <a:buNone/>
            </a:pPr>
            <a:r>
              <a:rPr lang="en-US" sz="1000" dirty="0">
                <a:solidFill>
                  <a:srgbClr val="9FBEE0"/>
                </a:solidFill>
                <a:latin typeface="Segoe UI" pitchFamily="34" charset="0"/>
                <a:ea typeface="Segoe UI" pitchFamily="34" charset="-122"/>
                <a:cs typeface="Segoe UI" pitchFamily="34" charset="-120"/>
              </a:rPr>
              <a:t>endpoints REST</a:t>
            </a:r>
            <a:endParaRPr lang="en-US" sz="1000" dirty="0"/>
          </a:p>
        </p:txBody>
      </p:sp>
      <p:sp>
        <p:nvSpPr>
          <p:cNvPr id="64" name="Shape 62"/>
          <p:cNvSpPr/>
          <p:nvPr/>
        </p:nvSpPr>
        <p:spPr>
          <a:xfrm>
            <a:off x="3392424" y="4498848"/>
            <a:ext cx="1225296" cy="914400"/>
          </a:xfrm>
          <a:prstGeom prst="roundRect">
            <a:avLst>
              <a:gd name="adj" fmla="val 10000"/>
            </a:avLst>
          </a:prstGeom>
          <a:solidFill>
            <a:srgbClr val="1C2F48"/>
          </a:solidFill>
          <a:ln w="9525">
            <a:solidFill>
              <a:srgbClr val="164E6D"/>
            </a:solidFill>
            <a:prstDash val="solid"/>
          </a:ln>
        </p:spPr>
      </p:sp>
      <p:sp>
        <p:nvSpPr>
          <p:cNvPr id="65" name="Shape 63"/>
          <p:cNvSpPr/>
          <p:nvPr/>
        </p:nvSpPr>
        <p:spPr>
          <a:xfrm>
            <a:off x="3392424" y="4590288"/>
            <a:ext cx="45720" cy="731520"/>
          </a:xfrm>
          <a:prstGeom prst="rect">
            <a:avLst/>
          </a:prstGeom>
          <a:solidFill>
            <a:srgbClr val="2BA6CB"/>
          </a:solidFill>
          <a:ln w="12700">
            <a:solidFill>
              <a:srgbClr val="2BA6CB"/>
            </a:solidFill>
            <a:prstDash val="solid"/>
          </a:ln>
        </p:spPr>
      </p:sp>
      <p:sp>
        <p:nvSpPr>
          <p:cNvPr id="66" name="Text 64"/>
          <p:cNvSpPr/>
          <p:nvPr/>
        </p:nvSpPr>
        <p:spPr>
          <a:xfrm>
            <a:off x="3538728" y="4553712"/>
            <a:ext cx="1005840" cy="420624"/>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67</a:t>
            </a:r>
            <a:endParaRPr lang="en-US" sz="2600" dirty="0"/>
          </a:p>
        </p:txBody>
      </p:sp>
      <p:sp>
        <p:nvSpPr>
          <p:cNvPr id="67" name="Text 65"/>
          <p:cNvSpPr/>
          <p:nvPr/>
        </p:nvSpPr>
        <p:spPr>
          <a:xfrm>
            <a:off x="3538728" y="4974336"/>
            <a:ext cx="1024128" cy="384048"/>
          </a:xfrm>
          <a:prstGeom prst="rect">
            <a:avLst/>
          </a:prstGeom>
          <a:noFill/>
          <a:ln/>
        </p:spPr>
        <p:txBody>
          <a:bodyPr wrap="square" lIns="0" tIns="0" rIns="0" bIns="0" rtlCol="0" anchor="t"/>
          <a:lstStyle/>
          <a:p>
            <a:pPr indent="0" marL="0">
              <a:buNone/>
            </a:pPr>
            <a:r>
              <a:rPr lang="en-US" sz="1000" dirty="0">
                <a:solidFill>
                  <a:srgbClr val="9FBEE0"/>
                </a:solidFill>
                <a:latin typeface="Segoe UI" pitchFamily="34" charset="0"/>
                <a:ea typeface="Segoe UI" pitchFamily="34" charset="-122"/>
                <a:cs typeface="Segoe UI" pitchFamily="34" charset="-120"/>
              </a:rPr>
              <a:t>pruebas automáticas</a:t>
            </a:r>
            <a:endParaRPr lang="en-US" sz="1000" dirty="0"/>
          </a:p>
        </p:txBody>
      </p:sp>
      <p:sp>
        <p:nvSpPr>
          <p:cNvPr id="68" name="Shape 66"/>
          <p:cNvSpPr/>
          <p:nvPr/>
        </p:nvSpPr>
        <p:spPr>
          <a:xfrm>
            <a:off x="4709160" y="4498848"/>
            <a:ext cx="1225296" cy="914400"/>
          </a:xfrm>
          <a:prstGeom prst="roundRect">
            <a:avLst>
              <a:gd name="adj" fmla="val 10000"/>
            </a:avLst>
          </a:prstGeom>
          <a:solidFill>
            <a:srgbClr val="1C2F48"/>
          </a:solidFill>
          <a:ln w="9525">
            <a:solidFill>
              <a:srgbClr val="164E6D"/>
            </a:solidFill>
            <a:prstDash val="solid"/>
          </a:ln>
        </p:spPr>
      </p:sp>
      <p:sp>
        <p:nvSpPr>
          <p:cNvPr id="69" name="Shape 67"/>
          <p:cNvSpPr/>
          <p:nvPr/>
        </p:nvSpPr>
        <p:spPr>
          <a:xfrm>
            <a:off x="4709160" y="4590288"/>
            <a:ext cx="45720" cy="731520"/>
          </a:xfrm>
          <a:prstGeom prst="rect">
            <a:avLst/>
          </a:prstGeom>
          <a:solidFill>
            <a:srgbClr val="2BA6CB"/>
          </a:solidFill>
          <a:ln w="12700">
            <a:solidFill>
              <a:srgbClr val="2BA6CB"/>
            </a:solidFill>
            <a:prstDash val="solid"/>
          </a:ln>
        </p:spPr>
      </p:sp>
      <p:sp>
        <p:nvSpPr>
          <p:cNvPr id="70" name="Text 68"/>
          <p:cNvSpPr/>
          <p:nvPr/>
        </p:nvSpPr>
        <p:spPr>
          <a:xfrm>
            <a:off x="4855464" y="4553712"/>
            <a:ext cx="1005840" cy="420624"/>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0</a:t>
            </a:r>
            <a:endParaRPr lang="en-US" sz="2600" dirty="0"/>
          </a:p>
        </p:txBody>
      </p:sp>
      <p:sp>
        <p:nvSpPr>
          <p:cNvPr id="71" name="Text 69"/>
          <p:cNvSpPr/>
          <p:nvPr/>
        </p:nvSpPr>
        <p:spPr>
          <a:xfrm>
            <a:off x="4855464" y="4974336"/>
            <a:ext cx="1024128" cy="384048"/>
          </a:xfrm>
          <a:prstGeom prst="rect">
            <a:avLst/>
          </a:prstGeom>
          <a:noFill/>
          <a:ln/>
        </p:spPr>
        <p:txBody>
          <a:bodyPr wrap="square" lIns="0" tIns="0" rIns="0" bIns="0" rtlCol="0" anchor="t"/>
          <a:lstStyle/>
          <a:p>
            <a:pPr indent="0" marL="0">
              <a:buNone/>
            </a:pPr>
            <a:r>
              <a:rPr lang="en-US" sz="950" dirty="0">
                <a:solidFill>
                  <a:srgbClr val="9FBEE0"/>
                </a:solidFill>
                <a:latin typeface="Segoe UI" pitchFamily="34" charset="0"/>
                <a:ea typeface="Segoe UI" pitchFamily="34" charset="-122"/>
                <a:cs typeface="Segoe UI" pitchFamily="34" charset="-120"/>
              </a:rPr>
              <a:t>avisos perdidos o duplicados</a:t>
            </a:r>
            <a:endParaRPr lang="en-US" sz="950" dirty="0"/>
          </a:p>
        </p:txBody>
      </p:sp>
      <p:sp>
        <p:nvSpPr>
          <p:cNvPr id="72" name="Text 70"/>
          <p:cNvSpPr/>
          <p:nvPr/>
        </p:nvSpPr>
        <p:spPr>
          <a:xfrm>
            <a:off x="758952" y="5742432"/>
            <a:ext cx="3840480" cy="329184"/>
          </a:xfrm>
          <a:prstGeom prst="roundRect">
            <a:avLst>
              <a:gd name="adj" fmla="val 50000"/>
            </a:avLst>
          </a:prstGeom>
          <a:solidFill>
            <a:srgbClr val="113A57"/>
          </a:solidFill>
          <a:ln w="12700">
            <a:solidFill>
              <a:srgbClr val="2BA6CB"/>
            </a:solidFill>
          </a:ln>
        </p:spPr>
        <p:txBody>
          <a:bodyPr wrap="square" lIns="0" tIns="0" rIns="0" bIns="0" rtlCol="0" anchor="ctr"/>
          <a:lstStyle/>
          <a:p>
            <a:pPr algn="ctr" indent="0" marL="0">
              <a:buNone/>
            </a:pPr>
            <a:r>
              <a:rPr lang="en-US" sz="1000" b="1" spc="100" kern="0" dirty="0">
                <a:solidFill>
                  <a:srgbClr val="2BA6CB"/>
                </a:solidFill>
                <a:latin typeface="Segoe UI" pitchFamily="34" charset="0"/>
                <a:ea typeface="Segoe UI" pitchFamily="34" charset="-122"/>
                <a:cs typeface="Segoe UI" pitchFamily="34" charset="-120"/>
              </a:rPr>
              <a:t>VERSIÓN RESUMEN · STAFF DE TECNOLOGÍA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APERTURA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ARKA-Lite en números</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Registra solicitudes y avisa cuando se envían: un sistema pequeño, completo de punta a punta.</a:t>
            </a:r>
            <a:endParaRPr lang="en-US" sz="1700" dirty="0"/>
          </a:p>
        </p:txBody>
      </p:sp>
      <p:sp>
        <p:nvSpPr>
          <p:cNvPr id="6" name="Shape 4"/>
          <p:cNvSpPr/>
          <p:nvPr/>
        </p:nvSpPr>
        <p:spPr>
          <a:xfrm>
            <a:off x="612648" y="1719072"/>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7" name="Shape 5"/>
          <p:cNvSpPr/>
          <p:nvPr/>
        </p:nvSpPr>
        <p:spPr>
          <a:xfrm>
            <a:off x="740664" y="1719072"/>
            <a:ext cx="3253130" cy="64008"/>
          </a:xfrm>
          <a:prstGeom prst="rect">
            <a:avLst/>
          </a:prstGeom>
          <a:solidFill>
            <a:srgbClr val="0B2350"/>
          </a:solidFill>
          <a:ln w="12700">
            <a:solidFill>
              <a:srgbClr val="0B2350"/>
            </a:solidFill>
            <a:prstDash val="solid"/>
          </a:ln>
        </p:spPr>
      </p:sp>
      <p:sp>
        <p:nvSpPr>
          <p:cNvPr id="8" name="Shape 6"/>
          <p:cNvSpPr/>
          <p:nvPr/>
        </p:nvSpPr>
        <p:spPr>
          <a:xfrm>
            <a:off x="3335426" y="1956816"/>
            <a:ext cx="566928" cy="566928"/>
          </a:xfrm>
          <a:prstGeom prst="ellipse">
            <a:avLst/>
          </a:prstGeom>
          <a:solidFill>
            <a:srgbClr val="E8EEF8"/>
          </a:solidFill>
          <a:ln w="12700">
            <a:solidFill>
              <a:srgbClr val="E8EEF8"/>
            </a:solidFill>
            <a:prstDash val="solid"/>
          </a:ln>
        </p:spPr>
      </p:sp>
      <p:sp>
        <p:nvSpPr>
          <p:cNvPr id="9" name="Icono server"/>
          <p:cNvSpPr/>
          <p:nvPr/>
        </p:nvSpPr>
        <p:spPr>
          <a:xfrm>
            <a:off x="3471489" y="2092879"/>
            <a:ext cx="294803" cy="294803"/>
          </a:xfrm>
          <a:custGeom>
            <a:avLst/>
            <a:gdLst/>
            <a:ahLst/>
            <a:cxnLst/>
            <a:rect l="l" t="t" r="r" b="b"/>
            <a:pathLst>
              <a:path w="294803" h="294803">
                <a:moveTo>
                  <a:pt x="49134" y="24567"/>
                </a:moveTo>
                <a:lnTo>
                  <a:pt x="245669" y="24567"/>
                </a:lnTo>
                <a:cubicBezTo>
                  <a:pt x="259237" y="24567"/>
                  <a:pt x="270236" y="35566"/>
                  <a:pt x="270236" y="49134"/>
                </a:cubicBezTo>
                <a:lnTo>
                  <a:pt x="270236" y="98268"/>
                </a:lnTo>
                <a:cubicBezTo>
                  <a:pt x="270236" y="111835"/>
                  <a:pt x="259237" y="122834"/>
                  <a:pt x="245669" y="122834"/>
                </a:cubicBezTo>
                <a:lnTo>
                  <a:pt x="49134" y="122834"/>
                </a:lnTo>
                <a:cubicBezTo>
                  <a:pt x="35566" y="122834"/>
                  <a:pt x="24567" y="111835"/>
                  <a:pt x="24567" y="98268"/>
                </a:cubicBezTo>
                <a:lnTo>
                  <a:pt x="24567" y="49134"/>
                </a:lnTo>
                <a:cubicBezTo>
                  <a:pt x="24567" y="35566"/>
                  <a:pt x="35566" y="24567"/>
                  <a:pt x="49134" y="24567"/>
                </a:cubicBezTo>
                <a:close/>
                <a:moveTo>
                  <a:pt x="49134" y="171968"/>
                </a:moveTo>
                <a:lnTo>
                  <a:pt x="245669" y="171968"/>
                </a:lnTo>
                <a:cubicBezTo>
                  <a:pt x="259237" y="171968"/>
                  <a:pt x="270236" y="182967"/>
                  <a:pt x="270236" y="196535"/>
                </a:cubicBezTo>
                <a:lnTo>
                  <a:pt x="270236" y="245669"/>
                </a:lnTo>
                <a:cubicBezTo>
                  <a:pt x="270236" y="259237"/>
                  <a:pt x="259237" y="270236"/>
                  <a:pt x="245669" y="270236"/>
                </a:cubicBezTo>
                <a:lnTo>
                  <a:pt x="49134" y="270236"/>
                </a:lnTo>
                <a:cubicBezTo>
                  <a:pt x="35566" y="270236"/>
                  <a:pt x="24567" y="259237"/>
                  <a:pt x="24567" y="245669"/>
                </a:cubicBezTo>
                <a:lnTo>
                  <a:pt x="24567" y="196535"/>
                </a:lnTo>
                <a:cubicBezTo>
                  <a:pt x="24567" y="182967"/>
                  <a:pt x="35566" y="171968"/>
                  <a:pt x="49134" y="171968"/>
                </a:cubicBezTo>
                <a:close/>
                <a:moveTo>
                  <a:pt x="73701" y="73701"/>
                </a:moveTo>
                <a:lnTo>
                  <a:pt x="73823" y="73701"/>
                </a:lnTo>
                <a:moveTo>
                  <a:pt x="73701" y="221102"/>
                </a:moveTo>
                <a:lnTo>
                  <a:pt x="73823" y="221102"/>
                </a:lnTo>
              </a:path>
            </a:pathLst>
          </a:custGeom>
          <a:noFill/>
          <a:ln w="24567" cap="rnd">
            <a:solidFill>
              <a:srgbClr val="0B2350"/>
            </a:solidFill>
            <a:prstDash val="solid"/>
            <a:round/>
          </a:ln>
        </p:spPr>
      </p:sp>
      <p:sp>
        <p:nvSpPr>
          <p:cNvPr id="10" name="Text 8"/>
          <p:cNvSpPr/>
          <p:nvPr/>
        </p:nvSpPr>
        <p:spPr>
          <a:xfrm>
            <a:off x="868680" y="1901952"/>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0B2350"/>
                </a:solidFill>
                <a:latin typeface="Segoe UI Semibold" pitchFamily="34" charset="0"/>
                <a:ea typeface="Segoe UI Semibold" pitchFamily="34" charset="-122"/>
                <a:cs typeface="Segoe UI Semibold" pitchFamily="34" charset="-120"/>
              </a:rPr>
              <a:t>2</a:t>
            </a:r>
            <a:endParaRPr lang="en-US" sz="4600" dirty="0"/>
          </a:p>
        </p:txBody>
      </p:sp>
      <p:sp>
        <p:nvSpPr>
          <p:cNvPr id="11" name="Text 9"/>
          <p:cNvSpPr/>
          <p:nvPr/>
        </p:nvSpPr>
        <p:spPr>
          <a:xfrm>
            <a:off x="868680" y="2602992"/>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microservicios</a:t>
            </a:r>
            <a:endParaRPr lang="en-US" sz="1500" dirty="0"/>
          </a:p>
        </p:txBody>
      </p:sp>
      <p:sp>
        <p:nvSpPr>
          <p:cNvPr id="12" name="Text 10"/>
          <p:cNvSpPr/>
          <p:nvPr/>
        </p:nvSpPr>
        <p:spPr>
          <a:xfrm>
            <a:off x="868680" y="2987040"/>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Spring Boot 4 y Java 26, cada uno con su PostgreSQL.</a:t>
            </a:r>
            <a:endParaRPr lang="en-US" sz="1200" dirty="0"/>
          </a:p>
        </p:txBody>
      </p:sp>
      <p:sp>
        <p:nvSpPr>
          <p:cNvPr id="13" name="Shape 11"/>
          <p:cNvSpPr/>
          <p:nvPr/>
        </p:nvSpPr>
        <p:spPr>
          <a:xfrm>
            <a:off x="4341266" y="1719072"/>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4469282" y="1719072"/>
            <a:ext cx="3253130" cy="64008"/>
          </a:xfrm>
          <a:prstGeom prst="rect">
            <a:avLst/>
          </a:prstGeom>
          <a:solidFill>
            <a:srgbClr val="5B3FC4"/>
          </a:solidFill>
          <a:ln w="12700">
            <a:solidFill>
              <a:srgbClr val="5B3FC4"/>
            </a:solidFill>
            <a:prstDash val="solid"/>
          </a:ln>
        </p:spPr>
      </p:sp>
      <p:sp>
        <p:nvSpPr>
          <p:cNvPr id="15" name="Shape 13"/>
          <p:cNvSpPr/>
          <p:nvPr/>
        </p:nvSpPr>
        <p:spPr>
          <a:xfrm>
            <a:off x="7064045" y="1956816"/>
            <a:ext cx="566928" cy="566928"/>
          </a:xfrm>
          <a:prstGeom prst="ellipse">
            <a:avLst/>
          </a:prstGeom>
          <a:solidFill>
            <a:srgbClr val="F1EEFD"/>
          </a:solidFill>
          <a:ln w="12700">
            <a:solidFill>
              <a:srgbClr val="F1EEFD"/>
            </a:solidFill>
            <a:prstDash val="solid"/>
          </a:ln>
        </p:spPr>
      </p:sp>
      <p:sp>
        <p:nvSpPr>
          <p:cNvPr id="16" name="Icono code"/>
          <p:cNvSpPr/>
          <p:nvPr/>
        </p:nvSpPr>
        <p:spPr>
          <a:xfrm>
            <a:off x="7200108" y="2092879"/>
            <a:ext cx="294803" cy="294803"/>
          </a:xfrm>
          <a:custGeom>
            <a:avLst/>
            <a:gdLst/>
            <a:ahLst/>
            <a:cxnLst/>
            <a:rect l="l" t="t" r="r" b="b"/>
            <a:pathLst>
              <a:path w="294803" h="294803">
                <a:moveTo>
                  <a:pt x="196535" y="221102"/>
                </a:moveTo>
                <a:lnTo>
                  <a:pt x="270236" y="147401"/>
                </a:lnTo>
                <a:lnTo>
                  <a:pt x="196535" y="73701"/>
                </a:lnTo>
                <a:moveTo>
                  <a:pt x="98268" y="73701"/>
                </a:moveTo>
                <a:lnTo>
                  <a:pt x="24567" y="147401"/>
                </a:lnTo>
                <a:lnTo>
                  <a:pt x="98268" y="221102"/>
                </a:lnTo>
              </a:path>
            </a:pathLst>
          </a:custGeom>
          <a:noFill/>
          <a:ln w="24567" cap="rnd">
            <a:solidFill>
              <a:srgbClr val="5B3FC4"/>
            </a:solidFill>
            <a:prstDash val="solid"/>
            <a:round/>
          </a:ln>
        </p:spPr>
      </p:sp>
      <p:sp>
        <p:nvSpPr>
          <p:cNvPr id="17" name="Text 15"/>
          <p:cNvSpPr/>
          <p:nvPr/>
        </p:nvSpPr>
        <p:spPr>
          <a:xfrm>
            <a:off x="4597298" y="1901952"/>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5B3FC4"/>
                </a:solidFill>
                <a:latin typeface="Segoe UI Semibold" pitchFamily="34" charset="0"/>
                <a:ea typeface="Segoe UI Semibold" pitchFamily="34" charset="-122"/>
                <a:cs typeface="Segoe UI Semibold" pitchFamily="34" charset="-120"/>
              </a:rPr>
              <a:t>11</a:t>
            </a:r>
            <a:endParaRPr lang="en-US" sz="4600" dirty="0"/>
          </a:p>
        </p:txBody>
      </p:sp>
      <p:sp>
        <p:nvSpPr>
          <p:cNvPr id="18" name="Text 16"/>
          <p:cNvSpPr/>
          <p:nvPr/>
        </p:nvSpPr>
        <p:spPr>
          <a:xfrm>
            <a:off x="4597298" y="2602992"/>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endpoints REST</a:t>
            </a:r>
            <a:endParaRPr lang="en-US" sz="1500" dirty="0"/>
          </a:p>
        </p:txBody>
      </p:sp>
      <p:sp>
        <p:nvSpPr>
          <p:cNvPr id="19" name="Text 17"/>
          <p:cNvSpPr/>
          <p:nvPr/>
        </p:nvSpPr>
        <p:spPr>
          <a:xfrm>
            <a:off x="4597298" y="2987040"/>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Documentados con OpenAPI y Swagger.</a:t>
            </a:r>
            <a:endParaRPr lang="en-US" sz="1200" dirty="0"/>
          </a:p>
        </p:txBody>
      </p:sp>
      <p:sp>
        <p:nvSpPr>
          <p:cNvPr id="20" name="Shape 18"/>
          <p:cNvSpPr/>
          <p:nvPr/>
        </p:nvSpPr>
        <p:spPr>
          <a:xfrm>
            <a:off x="8069885" y="1719072"/>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8197901" y="1719072"/>
            <a:ext cx="3253130" cy="64008"/>
          </a:xfrm>
          <a:prstGeom prst="rect">
            <a:avLst/>
          </a:prstGeom>
          <a:solidFill>
            <a:srgbClr val="0A6648"/>
          </a:solidFill>
          <a:ln w="12700">
            <a:solidFill>
              <a:srgbClr val="0A6648"/>
            </a:solidFill>
            <a:prstDash val="solid"/>
          </a:ln>
        </p:spPr>
      </p:sp>
      <p:sp>
        <p:nvSpPr>
          <p:cNvPr id="22" name="Shape 20"/>
          <p:cNvSpPr/>
          <p:nvPr/>
        </p:nvSpPr>
        <p:spPr>
          <a:xfrm>
            <a:off x="10792663" y="1956816"/>
            <a:ext cx="566928" cy="566928"/>
          </a:xfrm>
          <a:prstGeom prst="ellipse">
            <a:avLst/>
          </a:prstGeom>
          <a:solidFill>
            <a:srgbClr val="E1F1EA"/>
          </a:solidFill>
          <a:ln w="12700">
            <a:solidFill>
              <a:srgbClr val="E1F1EA"/>
            </a:solidFill>
            <a:prstDash val="solid"/>
          </a:ln>
        </p:spPr>
      </p:sp>
      <p:sp>
        <p:nvSpPr>
          <p:cNvPr id="23" name="Icono flask-conical"/>
          <p:cNvSpPr/>
          <p:nvPr/>
        </p:nvSpPr>
        <p:spPr>
          <a:xfrm>
            <a:off x="10928726" y="2092879"/>
            <a:ext cx="294803" cy="294803"/>
          </a:xfrm>
          <a:custGeom>
            <a:avLst/>
            <a:gdLst/>
            <a:ahLst/>
            <a:cxnLst/>
            <a:rect l="l" t="t" r="r" b="b"/>
            <a:pathLst>
              <a:path w="294803" h="294803">
                <a:moveTo>
                  <a:pt x="171968" y="24567"/>
                </a:moveTo>
                <a:lnTo>
                  <a:pt x="171968" y="98268"/>
                </a:lnTo>
                <a:cubicBezTo>
                  <a:pt x="171966" y="102388"/>
                  <a:pt x="173001" y="106444"/>
                  <a:pt x="174978" y="110060"/>
                </a:cubicBezTo>
                <a:lnTo>
                  <a:pt x="242659" y="233877"/>
                </a:lnTo>
                <a:cubicBezTo>
                  <a:pt x="246824" y="241489"/>
                  <a:pt x="246665" y="250734"/>
                  <a:pt x="242239" y="258198"/>
                </a:cubicBezTo>
                <a:cubicBezTo>
                  <a:pt x="237814" y="265662"/>
                  <a:pt x="229779" y="270238"/>
                  <a:pt x="221102" y="270236"/>
                </a:cubicBezTo>
                <a:lnTo>
                  <a:pt x="73701" y="270236"/>
                </a:lnTo>
                <a:cubicBezTo>
                  <a:pt x="65023" y="270238"/>
                  <a:pt x="56989" y="265662"/>
                  <a:pt x="52563" y="258198"/>
                </a:cubicBezTo>
                <a:cubicBezTo>
                  <a:pt x="48138" y="250734"/>
                  <a:pt x="47978" y="241489"/>
                  <a:pt x="52143" y="233877"/>
                </a:cubicBezTo>
                <a:lnTo>
                  <a:pt x="119825" y="110060"/>
                </a:lnTo>
                <a:cubicBezTo>
                  <a:pt x="121801" y="106444"/>
                  <a:pt x="122836" y="102388"/>
                  <a:pt x="122834" y="98268"/>
                </a:cubicBezTo>
                <a:lnTo>
                  <a:pt x="122834" y="24567"/>
                </a:lnTo>
                <a:moveTo>
                  <a:pt x="79265" y="184252"/>
                </a:moveTo>
                <a:lnTo>
                  <a:pt x="215538" y="184252"/>
                </a:lnTo>
                <a:moveTo>
                  <a:pt x="104409" y="24567"/>
                </a:moveTo>
                <a:lnTo>
                  <a:pt x="190393" y="24567"/>
                </a:lnTo>
              </a:path>
            </a:pathLst>
          </a:custGeom>
          <a:noFill/>
          <a:ln w="24567" cap="rnd">
            <a:solidFill>
              <a:srgbClr val="0A6648"/>
            </a:solidFill>
            <a:prstDash val="solid"/>
            <a:round/>
          </a:ln>
        </p:spPr>
      </p:sp>
      <p:sp>
        <p:nvSpPr>
          <p:cNvPr id="24" name="Text 22"/>
          <p:cNvSpPr/>
          <p:nvPr/>
        </p:nvSpPr>
        <p:spPr>
          <a:xfrm>
            <a:off x="8325917" y="1901952"/>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0A6648"/>
                </a:solidFill>
                <a:latin typeface="Segoe UI Semibold" pitchFamily="34" charset="0"/>
                <a:ea typeface="Segoe UI Semibold" pitchFamily="34" charset="-122"/>
                <a:cs typeface="Segoe UI Semibold" pitchFamily="34" charset="-120"/>
              </a:rPr>
              <a:t>67</a:t>
            </a:r>
            <a:endParaRPr lang="en-US" sz="4600" dirty="0"/>
          </a:p>
        </p:txBody>
      </p:sp>
      <p:sp>
        <p:nvSpPr>
          <p:cNvPr id="25" name="Text 23"/>
          <p:cNvSpPr/>
          <p:nvPr/>
        </p:nvSpPr>
        <p:spPr>
          <a:xfrm>
            <a:off x="8325917" y="2602992"/>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pruebas automáticas</a:t>
            </a:r>
            <a:endParaRPr lang="en-US" sz="1500" dirty="0"/>
          </a:p>
        </p:txBody>
      </p:sp>
      <p:sp>
        <p:nvSpPr>
          <p:cNvPr id="26" name="Text 24"/>
          <p:cNvSpPr/>
          <p:nvPr/>
        </p:nvSpPr>
        <p:spPr>
          <a:xfrm>
            <a:off x="8325917" y="2987040"/>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28 en solicitudes, 10 en notificaciones, 29 en la UI.</a:t>
            </a:r>
            <a:endParaRPr lang="en-US" sz="1200" dirty="0"/>
          </a:p>
        </p:txBody>
      </p:sp>
      <p:sp>
        <p:nvSpPr>
          <p:cNvPr id="27" name="Shape 25"/>
          <p:cNvSpPr/>
          <p:nvPr/>
        </p:nvSpPr>
        <p:spPr>
          <a:xfrm>
            <a:off x="612648" y="4146804"/>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740664" y="4146804"/>
            <a:ext cx="3253130" cy="64008"/>
          </a:xfrm>
          <a:prstGeom prst="rect">
            <a:avLst/>
          </a:prstGeom>
          <a:solidFill>
            <a:srgbClr val="0B6E8A"/>
          </a:solidFill>
          <a:ln w="12700">
            <a:solidFill>
              <a:srgbClr val="0B6E8A"/>
            </a:solidFill>
            <a:prstDash val="solid"/>
          </a:ln>
        </p:spPr>
      </p:sp>
      <p:sp>
        <p:nvSpPr>
          <p:cNvPr id="29" name="Shape 27"/>
          <p:cNvSpPr/>
          <p:nvPr/>
        </p:nvSpPr>
        <p:spPr>
          <a:xfrm>
            <a:off x="3335426" y="4384548"/>
            <a:ext cx="566928" cy="566928"/>
          </a:xfrm>
          <a:prstGeom prst="ellipse">
            <a:avLst/>
          </a:prstGeom>
          <a:solidFill>
            <a:srgbClr val="E3F4FA"/>
          </a:solidFill>
          <a:ln w="12700">
            <a:solidFill>
              <a:srgbClr val="E3F4FA"/>
            </a:solidFill>
            <a:prstDash val="solid"/>
          </a:ln>
        </p:spPr>
      </p:sp>
      <p:sp>
        <p:nvSpPr>
          <p:cNvPr id="30" name="Icono container"/>
          <p:cNvSpPr/>
          <p:nvPr/>
        </p:nvSpPr>
        <p:spPr>
          <a:xfrm>
            <a:off x="3471489" y="4520611"/>
            <a:ext cx="294803" cy="294803"/>
          </a:xfrm>
          <a:custGeom>
            <a:avLst/>
            <a:gdLst/>
            <a:ahLst/>
            <a:cxnLst/>
            <a:rect l="l" t="t" r="r" b="b"/>
            <a:pathLst>
              <a:path w="294803" h="294803">
                <a:moveTo>
                  <a:pt x="270236" y="94582"/>
                </a:moveTo>
                <a:cubicBezTo>
                  <a:pt x="270236" y="87212"/>
                  <a:pt x="265322" y="79842"/>
                  <a:pt x="260409" y="76157"/>
                </a:cubicBezTo>
                <a:lnTo>
                  <a:pt x="183023" y="28252"/>
                </a:lnTo>
                <a:cubicBezTo>
                  <a:pt x="176549" y="24572"/>
                  <a:pt x="168616" y="24572"/>
                  <a:pt x="162141" y="28252"/>
                </a:cubicBezTo>
                <a:lnTo>
                  <a:pt x="35622" y="101953"/>
                </a:lnTo>
                <a:cubicBezTo>
                  <a:pt x="29480" y="104409"/>
                  <a:pt x="24567" y="111779"/>
                  <a:pt x="24567" y="119149"/>
                </a:cubicBezTo>
                <a:lnTo>
                  <a:pt x="24567" y="200220"/>
                </a:lnTo>
                <a:cubicBezTo>
                  <a:pt x="24567" y="206362"/>
                  <a:pt x="29480" y="214960"/>
                  <a:pt x="34394" y="218645"/>
                </a:cubicBezTo>
                <a:lnTo>
                  <a:pt x="111779" y="266551"/>
                </a:lnTo>
                <a:cubicBezTo>
                  <a:pt x="118253" y="270231"/>
                  <a:pt x="126187" y="270231"/>
                  <a:pt x="132661" y="266551"/>
                </a:cubicBezTo>
                <a:lnTo>
                  <a:pt x="259181" y="192850"/>
                </a:lnTo>
                <a:cubicBezTo>
                  <a:pt x="265322" y="189165"/>
                  <a:pt x="270236" y="180567"/>
                  <a:pt x="270236" y="174425"/>
                </a:cubicBezTo>
                <a:close/>
                <a:moveTo>
                  <a:pt x="122834" y="269007"/>
                </a:moveTo>
                <a:lnTo>
                  <a:pt x="122834" y="171968"/>
                </a:lnTo>
                <a:lnTo>
                  <a:pt x="25795" y="111779"/>
                </a:lnTo>
                <a:moveTo>
                  <a:pt x="122834" y="171968"/>
                </a:moveTo>
                <a:lnTo>
                  <a:pt x="269007" y="87212"/>
                </a:lnTo>
                <a:moveTo>
                  <a:pt x="171968" y="243212"/>
                </a:moveTo>
                <a:lnTo>
                  <a:pt x="171968" y="143716"/>
                </a:lnTo>
                <a:moveTo>
                  <a:pt x="221102" y="214960"/>
                </a:moveTo>
                <a:lnTo>
                  <a:pt x="221102" y="115464"/>
                </a:lnTo>
              </a:path>
            </a:pathLst>
          </a:custGeom>
          <a:noFill/>
          <a:ln w="24567" cap="rnd">
            <a:solidFill>
              <a:srgbClr val="0B6E8A"/>
            </a:solidFill>
            <a:prstDash val="solid"/>
            <a:round/>
          </a:ln>
        </p:spPr>
      </p:sp>
      <p:sp>
        <p:nvSpPr>
          <p:cNvPr id="31" name="Text 29"/>
          <p:cNvSpPr/>
          <p:nvPr/>
        </p:nvSpPr>
        <p:spPr>
          <a:xfrm>
            <a:off x="868680" y="4329684"/>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0B6E8A"/>
                </a:solidFill>
                <a:latin typeface="Segoe UI Semibold" pitchFamily="34" charset="0"/>
                <a:ea typeface="Segoe UI Semibold" pitchFamily="34" charset="-122"/>
                <a:cs typeface="Segoe UI Semibold" pitchFamily="34" charset="-120"/>
              </a:rPr>
              <a:t>8</a:t>
            </a:r>
            <a:endParaRPr lang="en-US" sz="4600" dirty="0"/>
          </a:p>
        </p:txBody>
      </p:sp>
      <p:sp>
        <p:nvSpPr>
          <p:cNvPr id="32" name="Text 30"/>
          <p:cNvSpPr/>
          <p:nvPr/>
        </p:nvSpPr>
        <p:spPr>
          <a:xfrm>
            <a:off x="868680" y="5030724"/>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contenedores</a:t>
            </a:r>
            <a:endParaRPr lang="en-US" sz="1500" dirty="0"/>
          </a:p>
        </p:txBody>
      </p:sp>
      <p:sp>
        <p:nvSpPr>
          <p:cNvPr id="33" name="Text 31"/>
          <p:cNvSpPr/>
          <p:nvPr/>
        </p:nvSpPr>
        <p:spPr>
          <a:xfrm>
            <a:off x="868680" y="5414772"/>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Servicios, bases, UI y logs con un solo comando.</a:t>
            </a:r>
            <a:endParaRPr lang="en-US" sz="1200" dirty="0"/>
          </a:p>
        </p:txBody>
      </p:sp>
      <p:sp>
        <p:nvSpPr>
          <p:cNvPr id="34" name="Shape 32"/>
          <p:cNvSpPr/>
          <p:nvPr/>
        </p:nvSpPr>
        <p:spPr>
          <a:xfrm>
            <a:off x="4341266" y="4146804"/>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5" name="Shape 33"/>
          <p:cNvSpPr/>
          <p:nvPr/>
        </p:nvSpPr>
        <p:spPr>
          <a:xfrm>
            <a:off x="4469282" y="4146804"/>
            <a:ext cx="3253130" cy="64008"/>
          </a:xfrm>
          <a:prstGeom prst="rect">
            <a:avLst/>
          </a:prstGeom>
          <a:solidFill>
            <a:srgbClr val="8A4B06"/>
          </a:solidFill>
          <a:ln w="12700">
            <a:solidFill>
              <a:srgbClr val="8A4B06"/>
            </a:solidFill>
            <a:prstDash val="solid"/>
          </a:ln>
        </p:spPr>
      </p:sp>
      <p:sp>
        <p:nvSpPr>
          <p:cNvPr id="36" name="Shape 34"/>
          <p:cNvSpPr/>
          <p:nvPr/>
        </p:nvSpPr>
        <p:spPr>
          <a:xfrm>
            <a:off x="7064045" y="4384548"/>
            <a:ext cx="566928" cy="566928"/>
          </a:xfrm>
          <a:prstGeom prst="ellipse">
            <a:avLst/>
          </a:prstGeom>
          <a:solidFill>
            <a:srgbClr val="FCEFD6"/>
          </a:solidFill>
          <a:ln w="12700">
            <a:solidFill>
              <a:srgbClr val="FCEFD6"/>
            </a:solidFill>
            <a:prstDash val="solid"/>
          </a:ln>
        </p:spPr>
      </p:sp>
      <p:sp>
        <p:nvSpPr>
          <p:cNvPr id="37" name="Icono timer"/>
          <p:cNvSpPr/>
          <p:nvPr/>
        </p:nvSpPr>
        <p:spPr>
          <a:xfrm>
            <a:off x="7200108" y="4520611"/>
            <a:ext cx="294803" cy="294803"/>
          </a:xfrm>
          <a:custGeom>
            <a:avLst/>
            <a:gdLst/>
            <a:ahLst/>
            <a:cxnLst/>
            <a:rect l="l" t="t" r="r" b="b"/>
            <a:pathLst>
              <a:path w="294803" h="294803">
                <a:moveTo>
                  <a:pt x="122834" y="24567"/>
                </a:moveTo>
                <a:lnTo>
                  <a:pt x="171968" y="24567"/>
                </a:lnTo>
                <a:moveTo>
                  <a:pt x="147401" y="171968"/>
                </a:moveTo>
                <a:lnTo>
                  <a:pt x="184252" y="135118"/>
                </a:lnTo>
                <a:moveTo>
                  <a:pt x="245669" y="171968"/>
                </a:moveTo>
                <a:cubicBezTo>
                  <a:pt x="245669" y="226240"/>
                  <a:pt x="201673" y="270236"/>
                  <a:pt x="147401" y="270236"/>
                </a:cubicBezTo>
                <a:cubicBezTo>
                  <a:pt x="93130" y="270236"/>
                  <a:pt x="49134" y="226240"/>
                  <a:pt x="49134" y="171968"/>
                </a:cubicBezTo>
                <a:cubicBezTo>
                  <a:pt x="49134" y="117697"/>
                  <a:pt x="93130" y="73701"/>
                  <a:pt x="147401" y="73701"/>
                </a:cubicBezTo>
                <a:cubicBezTo>
                  <a:pt x="201673" y="73701"/>
                  <a:pt x="245669" y="117697"/>
                  <a:pt x="245669" y="171968"/>
                </a:cubicBezTo>
                <a:close/>
              </a:path>
            </a:pathLst>
          </a:custGeom>
          <a:noFill/>
          <a:ln w="24567" cap="rnd">
            <a:solidFill>
              <a:srgbClr val="8A4B06"/>
            </a:solidFill>
            <a:prstDash val="solid"/>
            <a:round/>
          </a:ln>
        </p:spPr>
      </p:sp>
      <p:sp>
        <p:nvSpPr>
          <p:cNvPr id="38" name="Text 36"/>
          <p:cNvSpPr/>
          <p:nvPr/>
        </p:nvSpPr>
        <p:spPr>
          <a:xfrm>
            <a:off x="4597298" y="4329684"/>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8A4B06"/>
                </a:solidFill>
                <a:latin typeface="Segoe UI Semibold" pitchFamily="34" charset="0"/>
                <a:ea typeface="Segoe UI Semibold" pitchFamily="34" charset="-122"/>
                <a:cs typeface="Segoe UI Semibold" pitchFamily="34" charset="-120"/>
              </a:rPr>
              <a:t>≤ 5 s</a:t>
            </a:r>
            <a:endParaRPr lang="en-US" sz="4600" dirty="0"/>
          </a:p>
        </p:txBody>
      </p:sp>
      <p:sp>
        <p:nvSpPr>
          <p:cNvPr id="39" name="Text 37"/>
          <p:cNvSpPr/>
          <p:nvPr/>
        </p:nvSpPr>
        <p:spPr>
          <a:xfrm>
            <a:off x="4597298" y="5030724"/>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para entregar un aviso</a:t>
            </a:r>
            <a:endParaRPr lang="en-US" sz="1500" dirty="0"/>
          </a:p>
        </p:txBody>
      </p:sp>
      <p:sp>
        <p:nvSpPr>
          <p:cNvPr id="40" name="Text 38"/>
          <p:cNvSpPr/>
          <p:nvPr/>
        </p:nvSpPr>
        <p:spPr>
          <a:xfrm>
            <a:off x="4597298" y="5414772"/>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El relevador revisa los pendientes cada 5 segundos.</a:t>
            </a:r>
            <a:endParaRPr lang="en-US" sz="1200" dirty="0"/>
          </a:p>
        </p:txBody>
      </p:sp>
      <p:sp>
        <p:nvSpPr>
          <p:cNvPr id="41" name="Shape 39"/>
          <p:cNvSpPr/>
          <p:nvPr/>
        </p:nvSpPr>
        <p:spPr>
          <a:xfrm>
            <a:off x="8069885" y="4146804"/>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2" name="Shape 40"/>
          <p:cNvSpPr/>
          <p:nvPr/>
        </p:nvSpPr>
        <p:spPr>
          <a:xfrm>
            <a:off x="8197901" y="4146804"/>
            <a:ext cx="3253130" cy="64008"/>
          </a:xfrm>
          <a:prstGeom prst="rect">
            <a:avLst/>
          </a:prstGeom>
          <a:solidFill>
            <a:srgbClr val="0B2350"/>
          </a:solidFill>
          <a:ln w="12700">
            <a:solidFill>
              <a:srgbClr val="0B2350"/>
            </a:solidFill>
            <a:prstDash val="solid"/>
          </a:ln>
        </p:spPr>
      </p:sp>
      <p:sp>
        <p:nvSpPr>
          <p:cNvPr id="43" name="Shape 41"/>
          <p:cNvSpPr/>
          <p:nvPr/>
        </p:nvSpPr>
        <p:spPr>
          <a:xfrm>
            <a:off x="10792663" y="4384548"/>
            <a:ext cx="566928" cy="566928"/>
          </a:xfrm>
          <a:prstGeom prst="ellipse">
            <a:avLst/>
          </a:prstGeom>
          <a:solidFill>
            <a:srgbClr val="E8EEF8"/>
          </a:solidFill>
          <a:ln w="12700">
            <a:solidFill>
              <a:srgbClr val="E8EEF8"/>
            </a:solidFill>
            <a:prstDash val="solid"/>
          </a:ln>
        </p:spPr>
      </p:sp>
      <p:sp>
        <p:nvSpPr>
          <p:cNvPr id="44" name="Icono fingerprint"/>
          <p:cNvSpPr/>
          <p:nvPr/>
        </p:nvSpPr>
        <p:spPr>
          <a:xfrm>
            <a:off x="10928726" y="4520611"/>
            <a:ext cx="294803" cy="294803"/>
          </a:xfrm>
          <a:custGeom>
            <a:avLst/>
            <a:gdLst/>
            <a:ahLst/>
            <a:cxnLst/>
            <a:rect l="l" t="t" r="r" b="b"/>
            <a:pathLst>
              <a:path w="294803" h="294803">
                <a:moveTo>
                  <a:pt x="147401" y="122834"/>
                </a:moveTo>
                <a:cubicBezTo>
                  <a:pt x="133833" y="122834"/>
                  <a:pt x="122834" y="133833"/>
                  <a:pt x="122834" y="147401"/>
                </a:cubicBezTo>
                <a:cubicBezTo>
                  <a:pt x="122834" y="159930"/>
                  <a:pt x="121606" y="178233"/>
                  <a:pt x="119641" y="196535"/>
                </a:cubicBezTo>
                <a:moveTo>
                  <a:pt x="171968" y="161159"/>
                </a:moveTo>
                <a:cubicBezTo>
                  <a:pt x="171968" y="190393"/>
                  <a:pt x="171968" y="239527"/>
                  <a:pt x="159685" y="270236"/>
                </a:cubicBezTo>
                <a:moveTo>
                  <a:pt x="212381" y="258198"/>
                </a:moveTo>
                <a:cubicBezTo>
                  <a:pt x="213855" y="250828"/>
                  <a:pt x="217663" y="229946"/>
                  <a:pt x="218522" y="221102"/>
                </a:cubicBezTo>
                <a:moveTo>
                  <a:pt x="24567" y="147401"/>
                </a:moveTo>
                <a:cubicBezTo>
                  <a:pt x="24567" y="94530"/>
                  <a:pt x="58399" y="47590"/>
                  <a:pt x="108558" y="30870"/>
                </a:cubicBezTo>
                <a:cubicBezTo>
                  <a:pt x="158716" y="14151"/>
                  <a:pt x="213946" y="31403"/>
                  <a:pt x="245669" y="73701"/>
                </a:cubicBezTo>
                <a:moveTo>
                  <a:pt x="24567" y="196535"/>
                </a:moveTo>
                <a:lnTo>
                  <a:pt x="24690" y="196535"/>
                </a:lnTo>
                <a:moveTo>
                  <a:pt x="267779" y="196535"/>
                </a:moveTo>
                <a:cubicBezTo>
                  <a:pt x="270236" y="171968"/>
                  <a:pt x="269388" y="130770"/>
                  <a:pt x="267779" y="122834"/>
                </a:cubicBezTo>
                <a:moveTo>
                  <a:pt x="61417" y="239527"/>
                </a:moveTo>
                <a:cubicBezTo>
                  <a:pt x="67559" y="221102"/>
                  <a:pt x="73701" y="184252"/>
                  <a:pt x="73701" y="147401"/>
                </a:cubicBezTo>
                <a:cubicBezTo>
                  <a:pt x="73688" y="139035"/>
                  <a:pt x="75101" y="130727"/>
                  <a:pt x="77877" y="122834"/>
                </a:cubicBezTo>
                <a:moveTo>
                  <a:pt x="106252" y="270236"/>
                </a:moveTo>
                <a:cubicBezTo>
                  <a:pt x="108831" y="262129"/>
                  <a:pt x="111779" y="254022"/>
                  <a:pt x="113253" y="245669"/>
                </a:cubicBezTo>
                <a:moveTo>
                  <a:pt x="110551" y="83527"/>
                </a:moveTo>
                <a:cubicBezTo>
                  <a:pt x="133361" y="70358"/>
                  <a:pt x="161466" y="70362"/>
                  <a:pt x="184272" y="83539"/>
                </a:cubicBezTo>
                <a:cubicBezTo>
                  <a:pt x="207078" y="96716"/>
                  <a:pt x="221119" y="121062"/>
                  <a:pt x="221102" y="147401"/>
                </a:cubicBezTo>
                <a:lnTo>
                  <a:pt x="221102" y="171968"/>
                </a:lnTo>
              </a:path>
            </a:pathLst>
          </a:custGeom>
          <a:noFill/>
          <a:ln w="24567" cap="rnd">
            <a:solidFill>
              <a:srgbClr val="0B2350"/>
            </a:solidFill>
            <a:prstDash val="solid"/>
            <a:round/>
          </a:ln>
        </p:spPr>
      </p:sp>
      <p:sp>
        <p:nvSpPr>
          <p:cNvPr id="45" name="Text 43"/>
          <p:cNvSpPr/>
          <p:nvPr/>
        </p:nvSpPr>
        <p:spPr>
          <a:xfrm>
            <a:off x="8325917" y="4329684"/>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0B2350"/>
                </a:solidFill>
                <a:latin typeface="Segoe UI Semibold" pitchFamily="34" charset="0"/>
                <a:ea typeface="Segoe UI Semibold" pitchFamily="34" charset="-122"/>
                <a:cs typeface="Segoe UI Semibold" pitchFamily="34" charset="-120"/>
              </a:rPr>
              <a:t>0</a:t>
            </a:r>
            <a:endParaRPr lang="en-US" sz="4600" dirty="0"/>
          </a:p>
        </p:txBody>
      </p:sp>
      <p:sp>
        <p:nvSpPr>
          <p:cNvPr id="46" name="Text 44"/>
          <p:cNvSpPr/>
          <p:nvPr/>
        </p:nvSpPr>
        <p:spPr>
          <a:xfrm>
            <a:off x="8325917" y="5030724"/>
            <a:ext cx="3051962" cy="384048"/>
          </a:xfrm>
          <a:prstGeom prst="rect">
            <a:avLst/>
          </a:prstGeom>
          <a:noFill/>
          <a:ln/>
        </p:spPr>
        <p:txBody>
          <a:bodyPr wrap="square" lIns="0" tIns="0" rIns="0" bIns="0" rtlCol="0" anchor="t">
            <a:normAutofit/>
          </a:bodyPr>
          <a:lstStyle/>
          <a:p>
            <a:pPr algn="l" indent="0" marL="0">
              <a:buNone/>
            </a:pPr>
            <a:r>
              <a:rPr lang="en-US" sz="1450" b="1" dirty="0">
                <a:solidFill>
                  <a:srgbClr val="0B1A3C"/>
                </a:solidFill>
                <a:latin typeface="Segoe UI Semibold" pitchFamily="34" charset="0"/>
                <a:ea typeface="Segoe UI Semibold" pitchFamily="34" charset="-122"/>
                <a:cs typeface="Segoe UI Semibold" pitchFamily="34" charset="-120"/>
              </a:rPr>
              <a:t>avisos perdidos o duplicados</a:t>
            </a:r>
            <a:endParaRPr lang="en-US" sz="1450" dirty="0"/>
          </a:p>
        </p:txBody>
      </p:sp>
      <p:sp>
        <p:nvSpPr>
          <p:cNvPr id="47" name="Text 45"/>
          <p:cNvSpPr/>
          <p:nvPr/>
        </p:nvSpPr>
        <p:spPr>
          <a:xfrm>
            <a:off x="8325917" y="5414772"/>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Aunque el otro servicio esté caído o el evento llegue dos veces.</a:t>
            </a:r>
            <a:endParaRPr lang="en-US" sz="1200" dirty="0"/>
          </a:p>
        </p:txBody>
      </p:sp>
      <p:sp>
        <p:nvSpPr>
          <p:cNvPr id="48" name="Text 4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APERTURA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APERTURA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Ocho conceptos, en una frase</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Lo mínimo para seguir la presentación, sin jerga.</a:t>
            </a:r>
            <a:endParaRPr lang="en-US" sz="1700" dirty="0"/>
          </a:p>
        </p:txBody>
      </p:sp>
      <p:sp>
        <p:nvSpPr>
          <p:cNvPr id="6" name="Shape 4"/>
          <p:cNvSpPr/>
          <p:nvPr/>
        </p:nvSpPr>
        <p:spPr>
          <a:xfrm>
            <a:off x="612648" y="1719072"/>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7" name="Shape 5"/>
          <p:cNvSpPr/>
          <p:nvPr/>
        </p:nvSpPr>
        <p:spPr>
          <a:xfrm>
            <a:off x="612648" y="1847088"/>
            <a:ext cx="64008" cy="1970532"/>
          </a:xfrm>
          <a:prstGeom prst="rect">
            <a:avLst/>
          </a:prstGeom>
          <a:solidFill>
            <a:srgbClr val="0B2350"/>
          </a:solidFill>
          <a:ln w="12700">
            <a:solidFill>
              <a:srgbClr val="0B2350"/>
            </a:solidFill>
            <a:prstDash val="solid"/>
          </a:ln>
        </p:spPr>
      </p:sp>
      <p:sp>
        <p:nvSpPr>
          <p:cNvPr id="8" name="Shape 6"/>
          <p:cNvSpPr/>
          <p:nvPr/>
        </p:nvSpPr>
        <p:spPr>
          <a:xfrm>
            <a:off x="813816" y="1901952"/>
            <a:ext cx="566928" cy="566928"/>
          </a:xfrm>
          <a:prstGeom prst="ellipse">
            <a:avLst/>
          </a:prstGeom>
          <a:solidFill>
            <a:srgbClr val="E8EEF8"/>
          </a:solidFill>
          <a:ln w="12700">
            <a:solidFill>
              <a:srgbClr val="E8EEF8"/>
            </a:solidFill>
            <a:prstDash val="solid"/>
          </a:ln>
        </p:spPr>
      </p:sp>
      <p:sp>
        <p:nvSpPr>
          <p:cNvPr id="9" name="Icono server"/>
          <p:cNvSpPr/>
          <p:nvPr/>
        </p:nvSpPr>
        <p:spPr>
          <a:xfrm>
            <a:off x="949879" y="2038015"/>
            <a:ext cx="294803" cy="294803"/>
          </a:xfrm>
          <a:custGeom>
            <a:avLst/>
            <a:gdLst/>
            <a:ahLst/>
            <a:cxnLst/>
            <a:rect l="l" t="t" r="r" b="b"/>
            <a:pathLst>
              <a:path w="294803" h="294803">
                <a:moveTo>
                  <a:pt x="49134" y="24567"/>
                </a:moveTo>
                <a:lnTo>
                  <a:pt x="245669" y="24567"/>
                </a:lnTo>
                <a:cubicBezTo>
                  <a:pt x="259237" y="24567"/>
                  <a:pt x="270236" y="35566"/>
                  <a:pt x="270236" y="49134"/>
                </a:cubicBezTo>
                <a:lnTo>
                  <a:pt x="270236" y="98268"/>
                </a:lnTo>
                <a:cubicBezTo>
                  <a:pt x="270236" y="111835"/>
                  <a:pt x="259237" y="122834"/>
                  <a:pt x="245669" y="122834"/>
                </a:cubicBezTo>
                <a:lnTo>
                  <a:pt x="49134" y="122834"/>
                </a:lnTo>
                <a:cubicBezTo>
                  <a:pt x="35566" y="122834"/>
                  <a:pt x="24567" y="111835"/>
                  <a:pt x="24567" y="98268"/>
                </a:cubicBezTo>
                <a:lnTo>
                  <a:pt x="24567" y="49134"/>
                </a:lnTo>
                <a:cubicBezTo>
                  <a:pt x="24567" y="35566"/>
                  <a:pt x="35566" y="24567"/>
                  <a:pt x="49134" y="24567"/>
                </a:cubicBezTo>
                <a:close/>
                <a:moveTo>
                  <a:pt x="49134" y="171968"/>
                </a:moveTo>
                <a:lnTo>
                  <a:pt x="245669" y="171968"/>
                </a:lnTo>
                <a:cubicBezTo>
                  <a:pt x="259237" y="171968"/>
                  <a:pt x="270236" y="182967"/>
                  <a:pt x="270236" y="196535"/>
                </a:cubicBezTo>
                <a:lnTo>
                  <a:pt x="270236" y="245669"/>
                </a:lnTo>
                <a:cubicBezTo>
                  <a:pt x="270236" y="259237"/>
                  <a:pt x="259237" y="270236"/>
                  <a:pt x="245669" y="270236"/>
                </a:cubicBezTo>
                <a:lnTo>
                  <a:pt x="49134" y="270236"/>
                </a:lnTo>
                <a:cubicBezTo>
                  <a:pt x="35566" y="270236"/>
                  <a:pt x="24567" y="259237"/>
                  <a:pt x="24567" y="245669"/>
                </a:cubicBezTo>
                <a:lnTo>
                  <a:pt x="24567" y="196535"/>
                </a:lnTo>
                <a:cubicBezTo>
                  <a:pt x="24567" y="182967"/>
                  <a:pt x="35566" y="171968"/>
                  <a:pt x="49134" y="171968"/>
                </a:cubicBezTo>
                <a:close/>
                <a:moveTo>
                  <a:pt x="73701" y="73701"/>
                </a:moveTo>
                <a:lnTo>
                  <a:pt x="73823" y="73701"/>
                </a:lnTo>
                <a:moveTo>
                  <a:pt x="73701" y="221102"/>
                </a:moveTo>
                <a:lnTo>
                  <a:pt x="73823" y="221102"/>
                </a:lnTo>
              </a:path>
            </a:pathLst>
          </a:custGeom>
          <a:noFill/>
          <a:ln w="24567" cap="rnd">
            <a:solidFill>
              <a:srgbClr val="0B2350"/>
            </a:solidFill>
            <a:prstDash val="solid"/>
            <a:round/>
          </a:ln>
        </p:spPr>
      </p:sp>
      <p:sp>
        <p:nvSpPr>
          <p:cNvPr id="10" name="Text 8"/>
          <p:cNvSpPr/>
          <p:nvPr/>
        </p:nvSpPr>
        <p:spPr>
          <a:xfrm>
            <a:off x="1527048" y="1901952"/>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Microservicio</a:t>
            </a:r>
            <a:endParaRPr lang="en-US" sz="1500" dirty="0"/>
          </a:p>
        </p:txBody>
      </p:sp>
      <p:sp>
        <p:nvSpPr>
          <p:cNvPr id="11" name="Text 9"/>
          <p:cNvSpPr/>
          <p:nvPr/>
        </p:nvSpPr>
        <p:spPr>
          <a:xfrm>
            <a:off x="868680" y="2578608"/>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Una aplicación pequeña, con una sola tarea y su propia base de datos.</a:t>
            </a:r>
            <a:endParaRPr lang="en-US" sz="1300" dirty="0"/>
          </a:p>
        </p:txBody>
      </p:sp>
      <p:sp>
        <p:nvSpPr>
          <p:cNvPr id="12" name="Shape 10"/>
          <p:cNvSpPr/>
          <p:nvPr/>
        </p:nvSpPr>
        <p:spPr>
          <a:xfrm>
            <a:off x="3399968" y="1719072"/>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3" name="Shape 11"/>
          <p:cNvSpPr/>
          <p:nvPr/>
        </p:nvSpPr>
        <p:spPr>
          <a:xfrm>
            <a:off x="3399968" y="1847088"/>
            <a:ext cx="64008" cy="1970532"/>
          </a:xfrm>
          <a:prstGeom prst="rect">
            <a:avLst/>
          </a:prstGeom>
          <a:solidFill>
            <a:srgbClr val="5B3FC4"/>
          </a:solidFill>
          <a:ln w="12700">
            <a:solidFill>
              <a:srgbClr val="5B3FC4"/>
            </a:solidFill>
            <a:prstDash val="solid"/>
          </a:ln>
        </p:spPr>
      </p:sp>
      <p:sp>
        <p:nvSpPr>
          <p:cNvPr id="14" name="Shape 12"/>
          <p:cNvSpPr/>
          <p:nvPr/>
        </p:nvSpPr>
        <p:spPr>
          <a:xfrm>
            <a:off x="3601136" y="1901952"/>
            <a:ext cx="566928" cy="566928"/>
          </a:xfrm>
          <a:prstGeom prst="ellipse">
            <a:avLst/>
          </a:prstGeom>
          <a:solidFill>
            <a:srgbClr val="F1EEFD"/>
          </a:solidFill>
          <a:ln w="12700">
            <a:solidFill>
              <a:srgbClr val="F1EEFD"/>
            </a:solidFill>
            <a:prstDash val="solid"/>
          </a:ln>
        </p:spPr>
      </p:sp>
      <p:sp>
        <p:nvSpPr>
          <p:cNvPr id="15" name="Icono globe"/>
          <p:cNvSpPr/>
          <p:nvPr/>
        </p:nvSpPr>
        <p:spPr>
          <a:xfrm>
            <a:off x="3737199" y="2038015"/>
            <a:ext cx="294803" cy="294803"/>
          </a:xfrm>
          <a:custGeom>
            <a:avLst/>
            <a:gdLst/>
            <a:ahLst/>
            <a:cxnLst/>
            <a:rect l="l" t="t" r="r" b="b"/>
            <a:pathLst>
              <a:path w="294803" h="294803">
                <a:moveTo>
                  <a:pt x="270236" y="147401"/>
                </a:moveTo>
                <a:cubicBezTo>
                  <a:pt x="270236" y="215241"/>
                  <a:pt x="215241" y="270236"/>
                  <a:pt x="147401" y="270236"/>
                </a:cubicBezTo>
                <a:cubicBezTo>
                  <a:pt x="79562" y="270236"/>
                  <a:pt x="24567" y="215241"/>
                  <a:pt x="24567" y="147401"/>
                </a:cubicBezTo>
                <a:cubicBezTo>
                  <a:pt x="24567" y="79562"/>
                  <a:pt x="79562" y="24567"/>
                  <a:pt x="147401" y="24567"/>
                </a:cubicBezTo>
                <a:cubicBezTo>
                  <a:pt x="215241" y="24567"/>
                  <a:pt x="270236" y="79562"/>
                  <a:pt x="270236" y="147401"/>
                </a:cubicBezTo>
                <a:close/>
                <a:moveTo>
                  <a:pt x="147401" y="24567"/>
                </a:moveTo>
                <a:cubicBezTo>
                  <a:pt x="81890" y="93354"/>
                  <a:pt x="81890" y="201448"/>
                  <a:pt x="147401" y="270236"/>
                </a:cubicBezTo>
                <a:cubicBezTo>
                  <a:pt x="212913" y="201448"/>
                  <a:pt x="212913" y="93354"/>
                  <a:pt x="147401" y="24567"/>
                </a:cubicBezTo>
                <a:moveTo>
                  <a:pt x="24567" y="147401"/>
                </a:moveTo>
                <a:lnTo>
                  <a:pt x="270236" y="147401"/>
                </a:lnTo>
              </a:path>
            </a:pathLst>
          </a:custGeom>
          <a:noFill/>
          <a:ln w="24567" cap="rnd">
            <a:solidFill>
              <a:srgbClr val="5B3FC4"/>
            </a:solidFill>
            <a:prstDash val="solid"/>
            <a:round/>
          </a:ln>
        </p:spPr>
      </p:sp>
      <p:sp>
        <p:nvSpPr>
          <p:cNvPr id="16" name="Text 14"/>
          <p:cNvSpPr/>
          <p:nvPr/>
        </p:nvSpPr>
        <p:spPr>
          <a:xfrm>
            <a:off x="4314368" y="1901952"/>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API REST</a:t>
            </a:r>
            <a:endParaRPr lang="en-US" sz="1500" dirty="0"/>
          </a:p>
        </p:txBody>
      </p:sp>
      <p:sp>
        <p:nvSpPr>
          <p:cNvPr id="17" name="Text 15"/>
          <p:cNvSpPr/>
          <p:nvPr/>
        </p:nvSpPr>
        <p:spPr>
          <a:xfrm>
            <a:off x="3656000" y="2578608"/>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La puerta para pedirle algo a una aplicación por HTTP, como abrir una URL.</a:t>
            </a:r>
            <a:endParaRPr lang="en-US" sz="1300" dirty="0"/>
          </a:p>
        </p:txBody>
      </p:sp>
      <p:sp>
        <p:nvSpPr>
          <p:cNvPr id="18" name="Shape 16"/>
          <p:cNvSpPr/>
          <p:nvPr/>
        </p:nvSpPr>
        <p:spPr>
          <a:xfrm>
            <a:off x="6187288" y="1719072"/>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9" name="Shape 17"/>
          <p:cNvSpPr/>
          <p:nvPr/>
        </p:nvSpPr>
        <p:spPr>
          <a:xfrm>
            <a:off x="6187288" y="1847088"/>
            <a:ext cx="64008" cy="1970532"/>
          </a:xfrm>
          <a:prstGeom prst="rect">
            <a:avLst/>
          </a:prstGeom>
          <a:solidFill>
            <a:srgbClr val="0B2350"/>
          </a:solidFill>
          <a:ln w="12700">
            <a:solidFill>
              <a:srgbClr val="0B2350"/>
            </a:solidFill>
            <a:prstDash val="solid"/>
          </a:ln>
        </p:spPr>
      </p:sp>
      <p:sp>
        <p:nvSpPr>
          <p:cNvPr id="20" name="Shape 18"/>
          <p:cNvSpPr/>
          <p:nvPr/>
        </p:nvSpPr>
        <p:spPr>
          <a:xfrm>
            <a:off x="6388456" y="1901952"/>
            <a:ext cx="566928" cy="566928"/>
          </a:xfrm>
          <a:prstGeom prst="ellipse">
            <a:avLst/>
          </a:prstGeom>
          <a:solidFill>
            <a:srgbClr val="E8EEF8"/>
          </a:solidFill>
          <a:ln w="12700">
            <a:solidFill>
              <a:srgbClr val="E8EEF8"/>
            </a:solidFill>
            <a:prstDash val="solid"/>
          </a:ln>
        </p:spPr>
      </p:sp>
      <p:sp>
        <p:nvSpPr>
          <p:cNvPr id="21" name="Icono hexagon"/>
          <p:cNvSpPr/>
          <p:nvPr/>
        </p:nvSpPr>
        <p:spPr>
          <a:xfrm>
            <a:off x="6524518" y="2038015"/>
            <a:ext cx="294803" cy="294803"/>
          </a:xfrm>
          <a:custGeom>
            <a:avLst/>
            <a:gdLst/>
            <a:ahLst/>
            <a:cxnLst/>
            <a:rect l="l" t="t" r="r" b="b"/>
            <a:pathLst>
              <a:path w="294803" h="294803">
                <a:moveTo>
                  <a:pt x="257952" y="196535"/>
                </a:moveTo>
                <a:lnTo>
                  <a:pt x="257952" y="98268"/>
                </a:lnTo>
                <a:cubicBezTo>
                  <a:pt x="257943" y="89500"/>
                  <a:pt x="253262" y="81401"/>
                  <a:pt x="245669" y="77017"/>
                </a:cubicBezTo>
                <a:lnTo>
                  <a:pt x="159685" y="27883"/>
                </a:lnTo>
                <a:cubicBezTo>
                  <a:pt x="152084" y="23495"/>
                  <a:pt x="142719" y="23495"/>
                  <a:pt x="135118" y="27883"/>
                </a:cubicBezTo>
                <a:lnTo>
                  <a:pt x="49134" y="77017"/>
                </a:lnTo>
                <a:cubicBezTo>
                  <a:pt x="41541" y="81401"/>
                  <a:pt x="36859" y="89500"/>
                  <a:pt x="36850" y="98268"/>
                </a:cubicBezTo>
                <a:lnTo>
                  <a:pt x="36850" y="196535"/>
                </a:lnTo>
                <a:cubicBezTo>
                  <a:pt x="36859" y="205303"/>
                  <a:pt x="41541" y="213401"/>
                  <a:pt x="49134" y="217785"/>
                </a:cubicBezTo>
                <a:lnTo>
                  <a:pt x="135118" y="266919"/>
                </a:lnTo>
                <a:cubicBezTo>
                  <a:pt x="142719" y="271308"/>
                  <a:pt x="152084" y="271308"/>
                  <a:pt x="159685" y="266919"/>
                </a:cubicBezTo>
                <a:lnTo>
                  <a:pt x="245669" y="217785"/>
                </a:lnTo>
                <a:cubicBezTo>
                  <a:pt x="253262" y="213401"/>
                  <a:pt x="257943" y="205303"/>
                  <a:pt x="257952" y="196535"/>
                </a:cubicBezTo>
                <a:close/>
              </a:path>
            </a:pathLst>
          </a:custGeom>
          <a:noFill/>
          <a:ln w="24567" cap="rnd">
            <a:solidFill>
              <a:srgbClr val="0B2350"/>
            </a:solidFill>
            <a:prstDash val="solid"/>
            <a:round/>
          </a:ln>
        </p:spPr>
      </p:sp>
      <p:sp>
        <p:nvSpPr>
          <p:cNvPr id="22" name="Text 20"/>
          <p:cNvSpPr/>
          <p:nvPr/>
        </p:nvSpPr>
        <p:spPr>
          <a:xfrm>
            <a:off x="7101688" y="1901952"/>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Arquitectura hexagonal</a:t>
            </a:r>
            <a:endParaRPr lang="en-US" sz="1500" dirty="0"/>
          </a:p>
        </p:txBody>
      </p:sp>
      <p:sp>
        <p:nvSpPr>
          <p:cNvPr id="23" name="Text 21"/>
          <p:cNvSpPr/>
          <p:nvPr/>
        </p:nvSpPr>
        <p:spPr>
          <a:xfrm>
            <a:off x="6443320" y="2578608"/>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El negocio al centro; la base y la web se conectan por “enchufes”.</a:t>
            </a:r>
            <a:endParaRPr lang="en-US" sz="1300" dirty="0"/>
          </a:p>
        </p:txBody>
      </p:sp>
      <p:sp>
        <p:nvSpPr>
          <p:cNvPr id="24" name="Shape 22"/>
          <p:cNvSpPr/>
          <p:nvPr/>
        </p:nvSpPr>
        <p:spPr>
          <a:xfrm>
            <a:off x="8974607" y="1719072"/>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5" name="Shape 23"/>
          <p:cNvSpPr/>
          <p:nvPr/>
        </p:nvSpPr>
        <p:spPr>
          <a:xfrm>
            <a:off x="8974607" y="1847088"/>
            <a:ext cx="64008" cy="1970532"/>
          </a:xfrm>
          <a:prstGeom prst="rect">
            <a:avLst/>
          </a:prstGeom>
          <a:solidFill>
            <a:srgbClr val="0B6E8A"/>
          </a:solidFill>
          <a:ln w="12700">
            <a:solidFill>
              <a:srgbClr val="0B6E8A"/>
            </a:solidFill>
            <a:prstDash val="solid"/>
          </a:ln>
        </p:spPr>
      </p:sp>
      <p:sp>
        <p:nvSpPr>
          <p:cNvPr id="26" name="Shape 24"/>
          <p:cNvSpPr/>
          <p:nvPr/>
        </p:nvSpPr>
        <p:spPr>
          <a:xfrm>
            <a:off x="9175775" y="1901952"/>
            <a:ext cx="566928" cy="566928"/>
          </a:xfrm>
          <a:prstGeom prst="ellipse">
            <a:avLst/>
          </a:prstGeom>
          <a:solidFill>
            <a:srgbClr val="E3F4FA"/>
          </a:solidFill>
          <a:ln w="12700">
            <a:solidFill>
              <a:srgbClr val="E3F4FA"/>
            </a:solidFill>
            <a:prstDash val="solid"/>
          </a:ln>
        </p:spPr>
      </p:sp>
      <p:sp>
        <p:nvSpPr>
          <p:cNvPr id="27" name="Icono table"/>
          <p:cNvSpPr/>
          <p:nvPr/>
        </p:nvSpPr>
        <p:spPr>
          <a:xfrm>
            <a:off x="9311838" y="2038015"/>
            <a:ext cx="294803" cy="294803"/>
          </a:xfrm>
          <a:custGeom>
            <a:avLst/>
            <a:gdLst/>
            <a:ahLst/>
            <a:cxnLst/>
            <a:rect l="l" t="t" r="r" b="b"/>
            <a:pathLst>
              <a:path w="294803" h="294803">
                <a:moveTo>
                  <a:pt x="147401" y="36850"/>
                </a:moveTo>
                <a:lnTo>
                  <a:pt x="147401" y="257952"/>
                </a:lnTo>
                <a:moveTo>
                  <a:pt x="61417" y="36850"/>
                </a:moveTo>
                <a:lnTo>
                  <a:pt x="233385" y="36850"/>
                </a:lnTo>
                <a:cubicBezTo>
                  <a:pt x="246953" y="36850"/>
                  <a:pt x="257952" y="47849"/>
                  <a:pt x="257952" y="61417"/>
                </a:cubicBezTo>
                <a:lnTo>
                  <a:pt x="257952" y="233385"/>
                </a:lnTo>
                <a:cubicBezTo>
                  <a:pt x="257952" y="246953"/>
                  <a:pt x="246953" y="257952"/>
                  <a:pt x="233385" y="257952"/>
                </a:cubicBezTo>
                <a:lnTo>
                  <a:pt x="61417" y="257952"/>
                </a:lnTo>
                <a:cubicBezTo>
                  <a:pt x="47849" y="257952"/>
                  <a:pt x="36850" y="246953"/>
                  <a:pt x="36850" y="233385"/>
                </a:cubicBezTo>
                <a:lnTo>
                  <a:pt x="36850" y="61417"/>
                </a:lnTo>
                <a:cubicBezTo>
                  <a:pt x="36850" y="47849"/>
                  <a:pt x="47849" y="36850"/>
                  <a:pt x="61417" y="36850"/>
                </a:cubicBezTo>
                <a:close/>
                <a:moveTo>
                  <a:pt x="36850" y="110551"/>
                </a:moveTo>
                <a:lnTo>
                  <a:pt x="257952" y="110551"/>
                </a:lnTo>
                <a:moveTo>
                  <a:pt x="36850" y="184252"/>
                </a:moveTo>
                <a:lnTo>
                  <a:pt x="257952" y="184252"/>
                </a:lnTo>
              </a:path>
            </a:pathLst>
          </a:custGeom>
          <a:noFill/>
          <a:ln w="24567" cap="rnd">
            <a:solidFill>
              <a:srgbClr val="0B6E8A"/>
            </a:solidFill>
            <a:prstDash val="solid"/>
            <a:round/>
          </a:ln>
        </p:spPr>
      </p:sp>
      <p:sp>
        <p:nvSpPr>
          <p:cNvPr id="28" name="Text 26"/>
          <p:cNvSpPr/>
          <p:nvPr/>
        </p:nvSpPr>
        <p:spPr>
          <a:xfrm>
            <a:off x="9889007" y="1901952"/>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ORM (JPA)</a:t>
            </a:r>
            <a:endParaRPr lang="en-US" sz="1500" dirty="0"/>
          </a:p>
        </p:txBody>
      </p:sp>
      <p:sp>
        <p:nvSpPr>
          <p:cNvPr id="29" name="Text 27"/>
          <p:cNvSpPr/>
          <p:nvPr/>
        </p:nvSpPr>
        <p:spPr>
          <a:xfrm>
            <a:off x="9230639" y="2578608"/>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Traduce entre clases Java y tablas: escribe el SQL rutinario por nosotros.</a:t>
            </a:r>
            <a:endParaRPr lang="en-US" sz="1300" dirty="0"/>
          </a:p>
        </p:txBody>
      </p:sp>
      <p:sp>
        <p:nvSpPr>
          <p:cNvPr id="30" name="Shape 28"/>
          <p:cNvSpPr/>
          <p:nvPr/>
        </p:nvSpPr>
        <p:spPr>
          <a:xfrm>
            <a:off x="612648" y="4128516"/>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1" name="Shape 29"/>
          <p:cNvSpPr/>
          <p:nvPr/>
        </p:nvSpPr>
        <p:spPr>
          <a:xfrm>
            <a:off x="612648" y="4256532"/>
            <a:ext cx="64008" cy="1970532"/>
          </a:xfrm>
          <a:prstGeom prst="rect">
            <a:avLst/>
          </a:prstGeom>
          <a:solidFill>
            <a:srgbClr val="0B6E8A"/>
          </a:solidFill>
          <a:ln w="12700">
            <a:solidFill>
              <a:srgbClr val="0B6E8A"/>
            </a:solidFill>
            <a:prstDash val="solid"/>
          </a:ln>
        </p:spPr>
      </p:sp>
      <p:sp>
        <p:nvSpPr>
          <p:cNvPr id="32" name="Shape 30"/>
          <p:cNvSpPr/>
          <p:nvPr/>
        </p:nvSpPr>
        <p:spPr>
          <a:xfrm>
            <a:off x="813816" y="4311396"/>
            <a:ext cx="566928" cy="566928"/>
          </a:xfrm>
          <a:prstGeom prst="ellipse">
            <a:avLst/>
          </a:prstGeom>
          <a:solidFill>
            <a:srgbClr val="E3F4FA"/>
          </a:solidFill>
          <a:ln w="12700">
            <a:solidFill>
              <a:srgbClr val="E3F4FA"/>
            </a:solidFill>
            <a:prstDash val="solid"/>
          </a:ln>
        </p:spPr>
      </p:sp>
      <p:sp>
        <p:nvSpPr>
          <p:cNvPr id="33" name="Icono container"/>
          <p:cNvSpPr/>
          <p:nvPr/>
        </p:nvSpPr>
        <p:spPr>
          <a:xfrm>
            <a:off x="949879" y="4447459"/>
            <a:ext cx="294803" cy="294803"/>
          </a:xfrm>
          <a:custGeom>
            <a:avLst/>
            <a:gdLst/>
            <a:ahLst/>
            <a:cxnLst/>
            <a:rect l="l" t="t" r="r" b="b"/>
            <a:pathLst>
              <a:path w="294803" h="294803">
                <a:moveTo>
                  <a:pt x="270236" y="94582"/>
                </a:moveTo>
                <a:cubicBezTo>
                  <a:pt x="270236" y="87212"/>
                  <a:pt x="265322" y="79842"/>
                  <a:pt x="260409" y="76157"/>
                </a:cubicBezTo>
                <a:lnTo>
                  <a:pt x="183023" y="28252"/>
                </a:lnTo>
                <a:cubicBezTo>
                  <a:pt x="176549" y="24572"/>
                  <a:pt x="168616" y="24572"/>
                  <a:pt x="162141" y="28252"/>
                </a:cubicBezTo>
                <a:lnTo>
                  <a:pt x="35622" y="101953"/>
                </a:lnTo>
                <a:cubicBezTo>
                  <a:pt x="29480" y="104409"/>
                  <a:pt x="24567" y="111779"/>
                  <a:pt x="24567" y="119149"/>
                </a:cubicBezTo>
                <a:lnTo>
                  <a:pt x="24567" y="200220"/>
                </a:lnTo>
                <a:cubicBezTo>
                  <a:pt x="24567" y="206362"/>
                  <a:pt x="29480" y="214960"/>
                  <a:pt x="34394" y="218645"/>
                </a:cubicBezTo>
                <a:lnTo>
                  <a:pt x="111779" y="266551"/>
                </a:lnTo>
                <a:cubicBezTo>
                  <a:pt x="118253" y="270231"/>
                  <a:pt x="126187" y="270231"/>
                  <a:pt x="132661" y="266551"/>
                </a:cubicBezTo>
                <a:lnTo>
                  <a:pt x="259181" y="192850"/>
                </a:lnTo>
                <a:cubicBezTo>
                  <a:pt x="265322" y="189165"/>
                  <a:pt x="270236" y="180567"/>
                  <a:pt x="270236" y="174425"/>
                </a:cubicBezTo>
                <a:close/>
                <a:moveTo>
                  <a:pt x="122834" y="269007"/>
                </a:moveTo>
                <a:lnTo>
                  <a:pt x="122834" y="171968"/>
                </a:lnTo>
                <a:lnTo>
                  <a:pt x="25795" y="111779"/>
                </a:lnTo>
                <a:moveTo>
                  <a:pt x="122834" y="171968"/>
                </a:moveTo>
                <a:lnTo>
                  <a:pt x="269007" y="87212"/>
                </a:lnTo>
                <a:moveTo>
                  <a:pt x="171968" y="243212"/>
                </a:moveTo>
                <a:lnTo>
                  <a:pt x="171968" y="143716"/>
                </a:lnTo>
                <a:moveTo>
                  <a:pt x="221102" y="214960"/>
                </a:moveTo>
                <a:lnTo>
                  <a:pt x="221102" y="115464"/>
                </a:lnTo>
              </a:path>
            </a:pathLst>
          </a:custGeom>
          <a:noFill/>
          <a:ln w="24567" cap="rnd">
            <a:solidFill>
              <a:srgbClr val="0B6E8A"/>
            </a:solidFill>
            <a:prstDash val="solid"/>
            <a:round/>
          </a:ln>
        </p:spPr>
      </p:sp>
      <p:sp>
        <p:nvSpPr>
          <p:cNvPr id="34" name="Text 32"/>
          <p:cNvSpPr/>
          <p:nvPr/>
        </p:nvSpPr>
        <p:spPr>
          <a:xfrm>
            <a:off x="1527048" y="431139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Docker</a:t>
            </a:r>
            <a:endParaRPr lang="en-US" sz="1500" dirty="0"/>
          </a:p>
        </p:txBody>
      </p:sp>
      <p:sp>
        <p:nvSpPr>
          <p:cNvPr id="35" name="Text 33"/>
          <p:cNvSpPr/>
          <p:nvPr/>
        </p:nvSpPr>
        <p:spPr>
          <a:xfrm>
            <a:off x="868680" y="4988052"/>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Empaqueta la aplicación con todo lo que necesita: corre igual en cualquier lado.</a:t>
            </a:r>
            <a:endParaRPr lang="en-US" sz="1300" dirty="0"/>
          </a:p>
        </p:txBody>
      </p:sp>
      <p:sp>
        <p:nvSpPr>
          <p:cNvPr id="36" name="Shape 34"/>
          <p:cNvSpPr/>
          <p:nvPr/>
        </p:nvSpPr>
        <p:spPr>
          <a:xfrm>
            <a:off x="3399968" y="4128516"/>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7" name="Shape 35"/>
          <p:cNvSpPr/>
          <p:nvPr/>
        </p:nvSpPr>
        <p:spPr>
          <a:xfrm>
            <a:off x="3399968" y="4256532"/>
            <a:ext cx="64008" cy="1970532"/>
          </a:xfrm>
          <a:prstGeom prst="rect">
            <a:avLst/>
          </a:prstGeom>
          <a:solidFill>
            <a:srgbClr val="0A6648"/>
          </a:solidFill>
          <a:ln w="12700">
            <a:solidFill>
              <a:srgbClr val="0A6648"/>
            </a:solidFill>
            <a:prstDash val="solid"/>
          </a:ln>
        </p:spPr>
      </p:sp>
      <p:sp>
        <p:nvSpPr>
          <p:cNvPr id="38" name="Shape 36"/>
          <p:cNvSpPr/>
          <p:nvPr/>
        </p:nvSpPr>
        <p:spPr>
          <a:xfrm>
            <a:off x="3601136" y="4311396"/>
            <a:ext cx="566928" cy="566928"/>
          </a:xfrm>
          <a:prstGeom prst="ellipse">
            <a:avLst/>
          </a:prstGeom>
          <a:solidFill>
            <a:srgbClr val="E1F1EA"/>
          </a:solidFill>
          <a:ln w="12700">
            <a:solidFill>
              <a:srgbClr val="E1F1EA"/>
            </a:solidFill>
            <a:prstDash val="solid"/>
          </a:ln>
        </p:spPr>
      </p:sp>
      <p:sp>
        <p:nvSpPr>
          <p:cNvPr id="39" name="Icono ship-wheel"/>
          <p:cNvSpPr/>
          <p:nvPr/>
        </p:nvSpPr>
        <p:spPr>
          <a:xfrm>
            <a:off x="3737199" y="4447459"/>
            <a:ext cx="294803" cy="294803"/>
          </a:xfrm>
          <a:custGeom>
            <a:avLst/>
            <a:gdLst/>
            <a:ahLst/>
            <a:cxnLst/>
            <a:rect l="l" t="t" r="r" b="b"/>
            <a:pathLst>
              <a:path w="294803" h="294803">
                <a:moveTo>
                  <a:pt x="245669" y="147401"/>
                </a:moveTo>
                <a:cubicBezTo>
                  <a:pt x="245669" y="201673"/>
                  <a:pt x="201673" y="245669"/>
                  <a:pt x="147401" y="245669"/>
                </a:cubicBezTo>
                <a:cubicBezTo>
                  <a:pt x="93130" y="245669"/>
                  <a:pt x="49134" y="201673"/>
                  <a:pt x="49134" y="147401"/>
                </a:cubicBezTo>
                <a:cubicBezTo>
                  <a:pt x="49134" y="93130"/>
                  <a:pt x="93130" y="49134"/>
                  <a:pt x="147401" y="49134"/>
                </a:cubicBezTo>
                <a:cubicBezTo>
                  <a:pt x="201673" y="49134"/>
                  <a:pt x="245669" y="93130"/>
                  <a:pt x="245669" y="147401"/>
                </a:cubicBezTo>
                <a:close/>
                <a:moveTo>
                  <a:pt x="147401" y="24567"/>
                </a:moveTo>
                <a:lnTo>
                  <a:pt x="147401" y="116693"/>
                </a:lnTo>
                <a:moveTo>
                  <a:pt x="233385" y="61417"/>
                </a:moveTo>
                <a:lnTo>
                  <a:pt x="169143" y="125660"/>
                </a:lnTo>
                <a:moveTo>
                  <a:pt x="270236" y="147401"/>
                </a:moveTo>
                <a:lnTo>
                  <a:pt x="178110" y="147401"/>
                </a:lnTo>
                <a:moveTo>
                  <a:pt x="233385" y="233385"/>
                </a:moveTo>
                <a:lnTo>
                  <a:pt x="169143" y="169143"/>
                </a:lnTo>
                <a:moveTo>
                  <a:pt x="147401" y="178110"/>
                </a:moveTo>
                <a:lnTo>
                  <a:pt x="147401" y="270236"/>
                </a:lnTo>
                <a:moveTo>
                  <a:pt x="125660" y="169143"/>
                </a:moveTo>
                <a:lnTo>
                  <a:pt x="61417" y="233385"/>
                </a:lnTo>
                <a:moveTo>
                  <a:pt x="116693" y="147401"/>
                </a:moveTo>
                <a:lnTo>
                  <a:pt x="24567" y="147401"/>
                </a:lnTo>
                <a:moveTo>
                  <a:pt x="125660" y="125660"/>
                </a:moveTo>
                <a:lnTo>
                  <a:pt x="61417" y="61417"/>
                </a:lnTo>
                <a:moveTo>
                  <a:pt x="178110" y="147401"/>
                </a:moveTo>
                <a:cubicBezTo>
                  <a:pt x="178110" y="164361"/>
                  <a:pt x="164361" y="178110"/>
                  <a:pt x="147401" y="178110"/>
                </a:cubicBezTo>
                <a:cubicBezTo>
                  <a:pt x="130441" y="178110"/>
                  <a:pt x="116693" y="164361"/>
                  <a:pt x="116693" y="147401"/>
                </a:cubicBezTo>
                <a:cubicBezTo>
                  <a:pt x="116693" y="130441"/>
                  <a:pt x="130441" y="116693"/>
                  <a:pt x="147401" y="116693"/>
                </a:cubicBezTo>
                <a:cubicBezTo>
                  <a:pt x="164361" y="116693"/>
                  <a:pt x="178110" y="130441"/>
                  <a:pt x="178110" y="147401"/>
                </a:cubicBezTo>
                <a:close/>
              </a:path>
            </a:pathLst>
          </a:custGeom>
          <a:noFill/>
          <a:ln w="24567" cap="rnd">
            <a:solidFill>
              <a:srgbClr val="0A6648"/>
            </a:solidFill>
            <a:prstDash val="solid"/>
            <a:round/>
          </a:ln>
        </p:spPr>
      </p:sp>
      <p:sp>
        <p:nvSpPr>
          <p:cNvPr id="40" name="Text 38"/>
          <p:cNvSpPr/>
          <p:nvPr/>
        </p:nvSpPr>
        <p:spPr>
          <a:xfrm>
            <a:off x="4314368" y="431139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Kubernetes</a:t>
            </a:r>
            <a:endParaRPr lang="en-US" sz="1500" dirty="0"/>
          </a:p>
        </p:txBody>
      </p:sp>
      <p:sp>
        <p:nvSpPr>
          <p:cNvPr id="41" name="Text 39"/>
          <p:cNvSpPr/>
          <p:nvPr/>
        </p:nvSpPr>
        <p:spPr>
          <a:xfrm>
            <a:off x="3656000" y="4988052"/>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Administra esos paquetes: los arranca, los vigila y los reinicia si fallan.</a:t>
            </a:r>
            <a:endParaRPr lang="en-US" sz="1300" dirty="0"/>
          </a:p>
        </p:txBody>
      </p:sp>
      <p:sp>
        <p:nvSpPr>
          <p:cNvPr id="42" name="Shape 40"/>
          <p:cNvSpPr/>
          <p:nvPr/>
        </p:nvSpPr>
        <p:spPr>
          <a:xfrm>
            <a:off x="6187288" y="4128516"/>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3" name="Shape 41"/>
          <p:cNvSpPr/>
          <p:nvPr/>
        </p:nvSpPr>
        <p:spPr>
          <a:xfrm>
            <a:off x="6187288" y="4256532"/>
            <a:ext cx="64008" cy="1970532"/>
          </a:xfrm>
          <a:prstGeom prst="rect">
            <a:avLst/>
          </a:prstGeom>
          <a:solidFill>
            <a:srgbClr val="0A6648"/>
          </a:solidFill>
          <a:ln w="12700">
            <a:solidFill>
              <a:srgbClr val="0A6648"/>
            </a:solidFill>
            <a:prstDash val="solid"/>
          </a:ln>
        </p:spPr>
      </p:sp>
      <p:sp>
        <p:nvSpPr>
          <p:cNvPr id="44" name="Shape 42"/>
          <p:cNvSpPr/>
          <p:nvPr/>
        </p:nvSpPr>
        <p:spPr>
          <a:xfrm>
            <a:off x="6388456" y="4311396"/>
            <a:ext cx="566928" cy="566928"/>
          </a:xfrm>
          <a:prstGeom prst="ellipse">
            <a:avLst/>
          </a:prstGeom>
          <a:solidFill>
            <a:srgbClr val="E1F1EA"/>
          </a:solidFill>
          <a:ln w="12700">
            <a:solidFill>
              <a:srgbClr val="E1F1EA"/>
            </a:solidFill>
            <a:prstDash val="solid"/>
          </a:ln>
        </p:spPr>
      </p:sp>
      <p:sp>
        <p:nvSpPr>
          <p:cNvPr id="45" name="Icono workflow"/>
          <p:cNvSpPr/>
          <p:nvPr/>
        </p:nvSpPr>
        <p:spPr>
          <a:xfrm>
            <a:off x="6524518" y="4447459"/>
            <a:ext cx="294803" cy="294803"/>
          </a:xfrm>
          <a:custGeom>
            <a:avLst/>
            <a:gdLst/>
            <a:ahLst/>
            <a:cxnLst/>
            <a:rect l="l" t="t" r="r" b="b"/>
            <a:pathLst>
              <a:path w="294803" h="294803">
                <a:moveTo>
                  <a:pt x="61417" y="36850"/>
                </a:moveTo>
                <a:lnTo>
                  <a:pt x="110551" y="36850"/>
                </a:lnTo>
                <a:cubicBezTo>
                  <a:pt x="124119" y="36850"/>
                  <a:pt x="135118" y="47849"/>
                  <a:pt x="135118" y="61417"/>
                </a:cubicBezTo>
                <a:lnTo>
                  <a:pt x="135118" y="110551"/>
                </a:lnTo>
                <a:cubicBezTo>
                  <a:pt x="135118" y="124119"/>
                  <a:pt x="124119" y="135118"/>
                  <a:pt x="110551" y="135118"/>
                </a:cubicBezTo>
                <a:lnTo>
                  <a:pt x="61417" y="135118"/>
                </a:lnTo>
                <a:cubicBezTo>
                  <a:pt x="47849" y="135118"/>
                  <a:pt x="36850" y="124119"/>
                  <a:pt x="36850" y="110551"/>
                </a:cubicBezTo>
                <a:lnTo>
                  <a:pt x="36850" y="61417"/>
                </a:lnTo>
                <a:cubicBezTo>
                  <a:pt x="36850" y="47849"/>
                  <a:pt x="47849" y="36850"/>
                  <a:pt x="61417" y="36850"/>
                </a:cubicBezTo>
                <a:close/>
                <a:moveTo>
                  <a:pt x="85984" y="135118"/>
                </a:moveTo>
                <a:lnTo>
                  <a:pt x="85984" y="184252"/>
                </a:lnTo>
                <a:cubicBezTo>
                  <a:pt x="85984" y="197820"/>
                  <a:pt x="96983" y="208818"/>
                  <a:pt x="110551" y="208818"/>
                </a:cubicBezTo>
                <a:lnTo>
                  <a:pt x="159685" y="208818"/>
                </a:lnTo>
                <a:moveTo>
                  <a:pt x="184252" y="159685"/>
                </a:moveTo>
                <a:lnTo>
                  <a:pt x="233385" y="159685"/>
                </a:lnTo>
                <a:cubicBezTo>
                  <a:pt x="246953" y="159685"/>
                  <a:pt x="257952" y="170684"/>
                  <a:pt x="257952" y="184252"/>
                </a:cubicBezTo>
                <a:lnTo>
                  <a:pt x="257952" y="233385"/>
                </a:lnTo>
                <a:cubicBezTo>
                  <a:pt x="257952" y="246953"/>
                  <a:pt x="246953" y="257952"/>
                  <a:pt x="233385" y="257952"/>
                </a:cubicBezTo>
                <a:lnTo>
                  <a:pt x="184252" y="257952"/>
                </a:lnTo>
                <a:cubicBezTo>
                  <a:pt x="170684" y="257952"/>
                  <a:pt x="159685" y="246953"/>
                  <a:pt x="159685" y="233385"/>
                </a:cubicBezTo>
                <a:lnTo>
                  <a:pt x="159685" y="184252"/>
                </a:lnTo>
                <a:cubicBezTo>
                  <a:pt x="159685" y="170684"/>
                  <a:pt x="170684" y="159685"/>
                  <a:pt x="184252" y="159685"/>
                </a:cubicBezTo>
                <a:close/>
              </a:path>
            </a:pathLst>
          </a:custGeom>
          <a:noFill/>
          <a:ln w="24567" cap="rnd">
            <a:solidFill>
              <a:srgbClr val="0A6648"/>
            </a:solidFill>
            <a:prstDash val="solid"/>
            <a:round/>
          </a:ln>
        </p:spPr>
      </p:sp>
      <p:sp>
        <p:nvSpPr>
          <p:cNvPr id="46" name="Text 44"/>
          <p:cNvSpPr/>
          <p:nvPr/>
        </p:nvSpPr>
        <p:spPr>
          <a:xfrm>
            <a:off x="7101688" y="431139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CI/CD</a:t>
            </a:r>
            <a:endParaRPr lang="en-US" sz="1500" dirty="0"/>
          </a:p>
        </p:txBody>
      </p:sp>
      <p:sp>
        <p:nvSpPr>
          <p:cNvPr id="47" name="Text 45"/>
          <p:cNvSpPr/>
          <p:nvPr/>
        </p:nvSpPr>
        <p:spPr>
          <a:xfrm>
            <a:off x="6443320" y="4988052"/>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Un robot que compila, prueba y empaqueta cada cambio, sin pasos manuales.</a:t>
            </a:r>
            <a:endParaRPr lang="en-US" sz="1300" dirty="0"/>
          </a:p>
        </p:txBody>
      </p:sp>
      <p:sp>
        <p:nvSpPr>
          <p:cNvPr id="48" name="Shape 46"/>
          <p:cNvSpPr/>
          <p:nvPr/>
        </p:nvSpPr>
        <p:spPr>
          <a:xfrm>
            <a:off x="8974607" y="4128516"/>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9" name="Shape 47"/>
          <p:cNvSpPr/>
          <p:nvPr/>
        </p:nvSpPr>
        <p:spPr>
          <a:xfrm>
            <a:off x="8974607" y="4256532"/>
            <a:ext cx="64008" cy="1970532"/>
          </a:xfrm>
          <a:prstGeom prst="rect">
            <a:avLst/>
          </a:prstGeom>
          <a:solidFill>
            <a:srgbClr val="8A4B06"/>
          </a:solidFill>
          <a:ln w="12700">
            <a:solidFill>
              <a:srgbClr val="8A4B06"/>
            </a:solidFill>
            <a:prstDash val="solid"/>
          </a:ln>
        </p:spPr>
      </p:sp>
      <p:sp>
        <p:nvSpPr>
          <p:cNvPr id="50" name="Shape 48"/>
          <p:cNvSpPr/>
          <p:nvPr/>
        </p:nvSpPr>
        <p:spPr>
          <a:xfrm>
            <a:off x="9175775" y="4311396"/>
            <a:ext cx="566928" cy="566928"/>
          </a:xfrm>
          <a:prstGeom prst="ellipse">
            <a:avLst/>
          </a:prstGeom>
          <a:solidFill>
            <a:srgbClr val="FCEFD6"/>
          </a:solidFill>
          <a:ln w="12700">
            <a:solidFill>
              <a:srgbClr val="FCEFD6"/>
            </a:solidFill>
            <a:prstDash val="solid"/>
          </a:ln>
        </p:spPr>
      </p:sp>
      <p:sp>
        <p:nvSpPr>
          <p:cNvPr id="51" name="Icono chart-line"/>
          <p:cNvSpPr/>
          <p:nvPr/>
        </p:nvSpPr>
        <p:spPr>
          <a:xfrm>
            <a:off x="9311838" y="4447459"/>
            <a:ext cx="294803" cy="294803"/>
          </a:xfrm>
          <a:custGeom>
            <a:avLst/>
            <a:gdLst/>
            <a:ahLst/>
            <a:cxnLst/>
            <a:rect l="l" t="t" r="r" b="b"/>
            <a:pathLst>
              <a:path w="294803" h="294803">
                <a:moveTo>
                  <a:pt x="36850" y="36850"/>
                </a:moveTo>
                <a:lnTo>
                  <a:pt x="36850" y="233385"/>
                </a:lnTo>
                <a:cubicBezTo>
                  <a:pt x="36850" y="246953"/>
                  <a:pt x="47849" y="257952"/>
                  <a:pt x="61417" y="257952"/>
                </a:cubicBezTo>
                <a:lnTo>
                  <a:pt x="257952" y="257952"/>
                </a:lnTo>
                <a:moveTo>
                  <a:pt x="233385" y="110551"/>
                </a:moveTo>
                <a:lnTo>
                  <a:pt x="171968" y="171968"/>
                </a:lnTo>
                <a:lnTo>
                  <a:pt x="122834" y="122834"/>
                </a:lnTo>
                <a:lnTo>
                  <a:pt x="85984" y="159685"/>
                </a:lnTo>
              </a:path>
            </a:pathLst>
          </a:custGeom>
          <a:noFill/>
          <a:ln w="24567" cap="rnd">
            <a:solidFill>
              <a:srgbClr val="8A4B06"/>
            </a:solidFill>
            <a:prstDash val="solid"/>
            <a:round/>
          </a:ln>
        </p:spPr>
      </p:sp>
      <p:sp>
        <p:nvSpPr>
          <p:cNvPr id="52" name="Text 50"/>
          <p:cNvSpPr/>
          <p:nvPr/>
        </p:nvSpPr>
        <p:spPr>
          <a:xfrm>
            <a:off x="9889007" y="431139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Observabilidad</a:t>
            </a:r>
            <a:endParaRPr lang="en-US" sz="1500" dirty="0"/>
          </a:p>
        </p:txBody>
      </p:sp>
      <p:sp>
        <p:nvSpPr>
          <p:cNvPr id="53" name="Text 51"/>
          <p:cNvSpPr/>
          <p:nvPr/>
        </p:nvSpPr>
        <p:spPr>
          <a:xfrm>
            <a:off x="9230639" y="4988052"/>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Logs y salud de todo el sistema en un solo lugar.</a:t>
            </a:r>
            <a:endParaRPr lang="en-US" sz="1300" dirty="0"/>
          </a:p>
        </p:txBody>
      </p:sp>
      <p:sp>
        <p:nvSpPr>
          <p:cNvPr id="54" name="Text 5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APERTURA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FUNDAMENTOS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funciona Spring Boot</a:t>
            </a:r>
            <a:endParaRPr lang="en-US" sz="2800" dirty="0"/>
          </a:p>
        </p:txBody>
      </p:sp>
      <p:sp>
        <p:nvSpPr>
          <p:cNvPr id="5" name="Shape 3"/>
          <p:cNvSpPr/>
          <p:nvPr/>
        </p:nvSpPr>
        <p:spPr>
          <a:xfrm>
            <a:off x="8872423" y="429768"/>
            <a:ext cx="274320" cy="73152"/>
          </a:xfrm>
          <a:prstGeom prst="roundRect">
            <a:avLst>
              <a:gd name="adj" fmla="val 50000"/>
            </a:avLst>
          </a:prstGeom>
          <a:solidFill>
            <a:srgbClr val="2BA6CB"/>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DFE6F0"/>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Spring Boot arma y conecta la aplicación; nosotros escribimos el negocio.</a:t>
            </a:r>
            <a:endParaRPr lang="en-US" sz="1700" dirty="0"/>
          </a:p>
        </p:txBody>
      </p:sp>
      <p:sp>
        <p:nvSpPr>
          <p:cNvPr id="14" name="Shape 12"/>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5" name="Shape 13"/>
          <p:cNvSpPr/>
          <p:nvPr/>
        </p:nvSpPr>
        <p:spPr>
          <a:xfrm>
            <a:off x="795528" y="5806440"/>
            <a:ext cx="438912" cy="438912"/>
          </a:xfrm>
          <a:prstGeom prst="ellipse">
            <a:avLst/>
          </a:prstGeom>
          <a:solidFill>
            <a:srgbClr val="FFFFFF"/>
          </a:solidFill>
          <a:ln w="12700">
            <a:solidFill>
              <a:srgbClr val="FFFFFF"/>
            </a:solidFill>
            <a:prstDash val="solid"/>
          </a:ln>
        </p:spPr>
      </p:sp>
      <p:sp>
        <p:nvSpPr>
          <p:cNvPr id="16" name="Icono hard-hat"/>
          <p:cNvSpPr/>
          <p:nvPr/>
        </p:nvSpPr>
        <p:spPr>
          <a:xfrm>
            <a:off x="900867" y="5911779"/>
            <a:ext cx="228234" cy="228234"/>
          </a:xfrm>
          <a:custGeom>
            <a:avLst/>
            <a:gdLst/>
            <a:ahLst/>
            <a:cxnLst/>
            <a:rect l="l" t="t" r="r" b="b"/>
            <a:pathLst>
              <a:path w="228234" h="228234">
                <a:moveTo>
                  <a:pt x="95098" y="95098"/>
                </a:moveTo>
                <a:lnTo>
                  <a:pt x="95098" y="47549"/>
                </a:lnTo>
                <a:cubicBezTo>
                  <a:pt x="95098" y="42297"/>
                  <a:pt x="99355" y="38039"/>
                  <a:pt x="104607" y="38039"/>
                </a:cubicBezTo>
                <a:lnTo>
                  <a:pt x="123627" y="38039"/>
                </a:lnTo>
                <a:cubicBezTo>
                  <a:pt x="128879" y="38039"/>
                  <a:pt x="133137" y="42297"/>
                  <a:pt x="133137" y="47549"/>
                </a:cubicBezTo>
                <a:lnTo>
                  <a:pt x="133137" y="95098"/>
                </a:lnTo>
                <a:moveTo>
                  <a:pt x="133137" y="57059"/>
                </a:moveTo>
                <a:cubicBezTo>
                  <a:pt x="164649" y="57059"/>
                  <a:pt x="190195" y="82605"/>
                  <a:pt x="190195" y="114117"/>
                </a:cubicBezTo>
                <a:lnTo>
                  <a:pt x="190195" y="142646"/>
                </a:lnTo>
                <a:moveTo>
                  <a:pt x="38039" y="142646"/>
                </a:moveTo>
                <a:lnTo>
                  <a:pt x="38039" y="114117"/>
                </a:lnTo>
                <a:cubicBezTo>
                  <a:pt x="38039" y="82605"/>
                  <a:pt x="63585" y="57059"/>
                  <a:pt x="95098" y="57059"/>
                </a:cubicBezTo>
                <a:moveTo>
                  <a:pt x="28529" y="142646"/>
                </a:moveTo>
                <a:lnTo>
                  <a:pt x="199705" y="142646"/>
                </a:lnTo>
                <a:cubicBezTo>
                  <a:pt x="204957" y="142646"/>
                  <a:pt x="209215" y="146904"/>
                  <a:pt x="209215" y="152156"/>
                </a:cubicBezTo>
                <a:lnTo>
                  <a:pt x="209215" y="171176"/>
                </a:lnTo>
                <a:cubicBezTo>
                  <a:pt x="209215" y="176428"/>
                  <a:pt x="204957" y="180685"/>
                  <a:pt x="199705" y="180685"/>
                </a:cubicBezTo>
                <a:lnTo>
                  <a:pt x="28529" y="180685"/>
                </a:lnTo>
                <a:cubicBezTo>
                  <a:pt x="23277" y="180685"/>
                  <a:pt x="19020" y="176428"/>
                  <a:pt x="19020" y="171176"/>
                </a:cubicBezTo>
                <a:lnTo>
                  <a:pt x="19020" y="152156"/>
                </a:lnTo>
                <a:cubicBezTo>
                  <a:pt x="19020" y="146904"/>
                  <a:pt x="23277" y="142646"/>
                  <a:pt x="28529" y="142646"/>
                </a:cubicBezTo>
                <a:close/>
              </a:path>
            </a:pathLst>
          </a:custGeom>
          <a:noFill/>
          <a:ln w="19020" cap="rnd">
            <a:solidFill>
              <a:srgbClr val="0B6E8A"/>
            </a:solidFill>
            <a:prstDash val="solid"/>
            <a:round/>
          </a:ln>
        </p:spPr>
      </p:sp>
      <p:sp>
        <p:nvSpPr>
          <p:cNvPr id="17" name="Text 15"/>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un contratista de obra: le decimos qué piezas hay y él las arma, las conecta y abre la puerta.</a:t>
            </a:r>
            <a:endParaRPr lang="en-US" sz="1450" dirty="0"/>
          </a:p>
        </p:txBody>
      </p:sp>
      <p:sp>
        <p:nvSpPr>
          <p:cNvPr id="18" name="Shape 16"/>
          <p:cNvSpPr/>
          <p:nvPr/>
        </p:nvSpPr>
        <p:spPr>
          <a:xfrm>
            <a:off x="1024128" y="2190628"/>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9" name="Icono play"/>
          <p:cNvSpPr/>
          <p:nvPr/>
        </p:nvSpPr>
        <p:spPr>
          <a:xfrm>
            <a:off x="1339302" y="2505802"/>
            <a:ext cx="739973" cy="739973"/>
          </a:xfrm>
          <a:custGeom>
            <a:avLst/>
            <a:gdLst/>
            <a:ahLst/>
            <a:cxnLst/>
            <a:rect l="l" t="t" r="r" b="b"/>
            <a:pathLst>
              <a:path w="739973" h="739973">
                <a:moveTo>
                  <a:pt x="184993" y="92497"/>
                </a:moveTo>
                <a:lnTo>
                  <a:pt x="616644" y="369986"/>
                </a:lnTo>
                <a:lnTo>
                  <a:pt x="184993" y="647476"/>
                </a:lnTo>
                <a:lnTo>
                  <a:pt x="184993" y="92497"/>
                </a:lnTo>
                <a:close/>
              </a:path>
            </a:pathLst>
          </a:custGeom>
          <a:noFill/>
          <a:ln w="53956" cap="rnd">
            <a:solidFill>
              <a:srgbClr val="0B2350"/>
            </a:solidFill>
            <a:prstDash val="solid"/>
            <a:round/>
          </a:ln>
        </p:spPr>
      </p:sp>
      <p:sp>
        <p:nvSpPr>
          <p:cNvPr id="20" name="Text 18"/>
          <p:cNvSpPr/>
          <p:nvPr/>
        </p:nvSpPr>
        <p:spPr>
          <a:xfrm>
            <a:off x="987552" y="215405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1" name="Text 19"/>
          <p:cNvSpPr/>
          <p:nvPr/>
        </p:nvSpPr>
        <p:spPr>
          <a:xfrm>
            <a:off x="65836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main()</a:t>
            </a:r>
            <a:endParaRPr lang="en-US" sz="1800" dirty="0"/>
          </a:p>
        </p:txBody>
      </p:sp>
      <p:sp>
        <p:nvSpPr>
          <p:cNvPr id="22" name="Text 20"/>
          <p:cNvSpPr/>
          <p:nvPr/>
        </p:nvSpPr>
        <p:spPr>
          <a:xfrm>
            <a:off x="72237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SpringApplication.run arranca la aplicación.</a:t>
            </a:r>
            <a:endParaRPr lang="en-US" sz="1400" dirty="0"/>
          </a:p>
        </p:txBody>
      </p:sp>
      <p:sp>
        <p:nvSpPr>
          <p:cNvPr id="23" name="Shape 21"/>
          <p:cNvSpPr/>
          <p:nvPr/>
        </p:nvSpPr>
        <p:spPr>
          <a:xfrm>
            <a:off x="2485888" y="2875788"/>
            <a:ext cx="640080" cy="0"/>
          </a:xfrm>
          <a:prstGeom prst="line">
            <a:avLst/>
          </a:prstGeom>
          <a:noFill/>
          <a:ln w="38100">
            <a:solidFill>
              <a:srgbClr val="2BA6CB"/>
            </a:solidFill>
            <a:prstDash val="solid"/>
            <a:tailEnd type="triangle"/>
          </a:ln>
        </p:spPr>
      </p:sp>
      <p:sp>
        <p:nvSpPr>
          <p:cNvPr id="24" name="Shape 22"/>
          <p:cNvSpPr/>
          <p:nvPr/>
        </p:nvSpPr>
        <p:spPr>
          <a:xfrm>
            <a:off x="3217408" y="2190628"/>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5" name="Icono sparkles"/>
          <p:cNvSpPr/>
          <p:nvPr/>
        </p:nvSpPr>
        <p:spPr>
          <a:xfrm>
            <a:off x="3532581" y="2505802"/>
            <a:ext cx="739973" cy="739973"/>
          </a:xfrm>
          <a:custGeom>
            <a:avLst/>
            <a:gdLst/>
            <a:ahLst/>
            <a:cxnLst/>
            <a:rect l="l" t="t" r="r" b="b"/>
            <a:pathLst>
              <a:path w="739973" h="739973">
                <a:moveTo>
                  <a:pt x="306380" y="477899"/>
                </a:moveTo>
                <a:cubicBezTo>
                  <a:pt x="300774" y="456168"/>
                  <a:pt x="283804" y="439199"/>
                  <a:pt x="262074" y="433593"/>
                </a:cubicBezTo>
                <a:lnTo>
                  <a:pt x="72918" y="384817"/>
                </a:lnTo>
                <a:cubicBezTo>
                  <a:pt x="66287" y="382935"/>
                  <a:pt x="61711" y="376879"/>
                  <a:pt x="61711" y="369986"/>
                </a:cubicBezTo>
                <a:cubicBezTo>
                  <a:pt x="61711" y="363093"/>
                  <a:pt x="66287" y="357038"/>
                  <a:pt x="72918" y="355156"/>
                </a:cubicBezTo>
                <a:lnTo>
                  <a:pt x="262074" y="306349"/>
                </a:lnTo>
                <a:cubicBezTo>
                  <a:pt x="283796" y="300748"/>
                  <a:pt x="300764" y="283792"/>
                  <a:pt x="306380" y="262074"/>
                </a:cubicBezTo>
                <a:lnTo>
                  <a:pt x="355156" y="72918"/>
                </a:lnTo>
                <a:cubicBezTo>
                  <a:pt x="357019" y="66260"/>
                  <a:pt x="363088" y="61657"/>
                  <a:pt x="370002" y="61657"/>
                </a:cubicBezTo>
                <a:cubicBezTo>
                  <a:pt x="376916" y="61657"/>
                  <a:pt x="382984" y="66260"/>
                  <a:pt x="384847" y="72918"/>
                </a:cubicBezTo>
                <a:lnTo>
                  <a:pt x="433593" y="262074"/>
                </a:lnTo>
                <a:cubicBezTo>
                  <a:pt x="439199" y="283804"/>
                  <a:pt x="456168" y="300774"/>
                  <a:pt x="477899" y="306380"/>
                </a:cubicBezTo>
                <a:lnTo>
                  <a:pt x="667055" y="355125"/>
                </a:lnTo>
                <a:cubicBezTo>
                  <a:pt x="673740" y="356969"/>
                  <a:pt x="678371" y="363051"/>
                  <a:pt x="678371" y="369986"/>
                </a:cubicBezTo>
                <a:cubicBezTo>
                  <a:pt x="678371" y="376922"/>
                  <a:pt x="673740" y="383003"/>
                  <a:pt x="667055" y="384847"/>
                </a:cubicBezTo>
                <a:lnTo>
                  <a:pt x="477899" y="433593"/>
                </a:lnTo>
                <a:cubicBezTo>
                  <a:pt x="456168" y="439199"/>
                  <a:pt x="439199" y="456168"/>
                  <a:pt x="433593" y="477899"/>
                </a:cubicBezTo>
                <a:lnTo>
                  <a:pt x="384817" y="667055"/>
                </a:lnTo>
                <a:cubicBezTo>
                  <a:pt x="382953" y="673713"/>
                  <a:pt x="376885" y="678316"/>
                  <a:pt x="369971" y="678316"/>
                </a:cubicBezTo>
                <a:cubicBezTo>
                  <a:pt x="363057" y="678316"/>
                  <a:pt x="356989" y="673713"/>
                  <a:pt x="355125" y="667055"/>
                </a:cubicBezTo>
                <a:close/>
                <a:moveTo>
                  <a:pt x="616644" y="92497"/>
                </a:moveTo>
                <a:lnTo>
                  <a:pt x="616644" y="215825"/>
                </a:lnTo>
                <a:moveTo>
                  <a:pt x="678308" y="154161"/>
                </a:moveTo>
                <a:lnTo>
                  <a:pt x="554980" y="154161"/>
                </a:lnTo>
                <a:moveTo>
                  <a:pt x="123329" y="524147"/>
                </a:moveTo>
                <a:lnTo>
                  <a:pt x="123329" y="585812"/>
                </a:lnTo>
                <a:moveTo>
                  <a:pt x="154161" y="554980"/>
                </a:moveTo>
                <a:lnTo>
                  <a:pt x="92497" y="554980"/>
                </a:lnTo>
              </a:path>
            </a:pathLst>
          </a:custGeom>
          <a:noFill/>
          <a:ln w="53956" cap="rnd">
            <a:solidFill>
              <a:srgbClr val="0B2350"/>
            </a:solidFill>
            <a:prstDash val="solid"/>
            <a:round/>
          </a:ln>
        </p:spPr>
      </p:sp>
      <p:sp>
        <p:nvSpPr>
          <p:cNvPr id="26" name="Text 24"/>
          <p:cNvSpPr/>
          <p:nvPr/>
        </p:nvSpPr>
        <p:spPr>
          <a:xfrm>
            <a:off x="3180832" y="215405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7" name="Text 25"/>
          <p:cNvSpPr/>
          <p:nvPr/>
        </p:nvSpPr>
        <p:spPr>
          <a:xfrm>
            <a:off x="2851648" y="3688964"/>
            <a:ext cx="2101840" cy="420624"/>
          </a:xfrm>
          <a:prstGeom prst="rect">
            <a:avLst/>
          </a:prstGeom>
          <a:noFill/>
          <a:ln/>
        </p:spPr>
        <p:txBody>
          <a:bodyPr wrap="square" lIns="0" tIns="0" rIns="0" bIns="0" rtlCol="0" anchor="t">
            <a:normAutofit/>
          </a:bodyPr>
          <a:lstStyle/>
          <a:p>
            <a:pPr algn="ctr" indent="0" marL="0">
              <a:buNone/>
            </a:pPr>
            <a:r>
              <a:rPr lang="en-US" sz="1650" b="1" dirty="0">
                <a:solidFill>
                  <a:srgbClr val="0B1A3C"/>
                </a:solidFill>
                <a:latin typeface="Segoe UI Semibold" pitchFamily="34" charset="0"/>
                <a:ea typeface="Segoe UI Semibold" pitchFamily="34" charset="-122"/>
                <a:cs typeface="Segoe UI Semibold" pitchFamily="34" charset="-120"/>
              </a:rPr>
              <a:t>Autoconfiguración</a:t>
            </a:r>
            <a:endParaRPr lang="en-US" sz="1650" dirty="0"/>
          </a:p>
        </p:txBody>
      </p:sp>
      <p:sp>
        <p:nvSpPr>
          <p:cNvPr id="28" name="Text 26"/>
          <p:cNvSpPr/>
          <p:nvPr/>
        </p:nvSpPr>
        <p:spPr>
          <a:xfrm>
            <a:off x="291565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Ve web, JPA y PostgreSQL y los configura solos.</a:t>
            </a:r>
            <a:endParaRPr lang="en-US" sz="1400" dirty="0"/>
          </a:p>
        </p:txBody>
      </p:sp>
      <p:sp>
        <p:nvSpPr>
          <p:cNvPr id="29" name="Shape 27"/>
          <p:cNvSpPr/>
          <p:nvPr/>
        </p:nvSpPr>
        <p:spPr>
          <a:xfrm>
            <a:off x="4679168" y="2875788"/>
            <a:ext cx="640080" cy="0"/>
          </a:xfrm>
          <a:prstGeom prst="line">
            <a:avLst/>
          </a:prstGeom>
          <a:noFill/>
          <a:ln w="38100">
            <a:solidFill>
              <a:srgbClr val="2BA6CB"/>
            </a:solidFill>
            <a:prstDash val="solid"/>
            <a:tailEnd type="triangle"/>
          </a:ln>
        </p:spPr>
      </p:sp>
      <p:sp>
        <p:nvSpPr>
          <p:cNvPr id="30" name="Shape 28"/>
          <p:cNvSpPr/>
          <p:nvPr/>
        </p:nvSpPr>
        <p:spPr>
          <a:xfrm>
            <a:off x="5410688" y="2190628"/>
            <a:ext cx="1370320" cy="137032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1" name="Icono plug"/>
          <p:cNvSpPr/>
          <p:nvPr/>
        </p:nvSpPr>
        <p:spPr>
          <a:xfrm>
            <a:off x="5725861" y="2505802"/>
            <a:ext cx="739973" cy="739973"/>
          </a:xfrm>
          <a:custGeom>
            <a:avLst/>
            <a:gdLst/>
            <a:ahLst/>
            <a:cxnLst/>
            <a:rect l="l" t="t" r="r" b="b"/>
            <a:pathLst>
              <a:path w="739973" h="739973">
                <a:moveTo>
                  <a:pt x="369986" y="678308"/>
                </a:moveTo>
                <a:lnTo>
                  <a:pt x="369986" y="524147"/>
                </a:lnTo>
                <a:moveTo>
                  <a:pt x="277490" y="246658"/>
                </a:moveTo>
                <a:lnTo>
                  <a:pt x="277490" y="61664"/>
                </a:lnTo>
                <a:moveTo>
                  <a:pt x="462483" y="246658"/>
                </a:moveTo>
                <a:lnTo>
                  <a:pt x="462483" y="61664"/>
                </a:lnTo>
                <a:moveTo>
                  <a:pt x="554980" y="246658"/>
                </a:moveTo>
                <a:lnTo>
                  <a:pt x="554980" y="400819"/>
                </a:lnTo>
                <a:cubicBezTo>
                  <a:pt x="554980" y="468931"/>
                  <a:pt x="499763" y="524147"/>
                  <a:pt x="431651" y="524147"/>
                </a:cubicBezTo>
                <a:lnTo>
                  <a:pt x="308322" y="524147"/>
                </a:lnTo>
                <a:cubicBezTo>
                  <a:pt x="240209" y="524147"/>
                  <a:pt x="184993" y="468931"/>
                  <a:pt x="184993" y="400819"/>
                </a:cubicBezTo>
                <a:lnTo>
                  <a:pt x="184993" y="246658"/>
                </a:lnTo>
                <a:close/>
              </a:path>
            </a:pathLst>
          </a:custGeom>
          <a:noFill/>
          <a:ln w="53956" cap="rnd">
            <a:solidFill>
              <a:srgbClr val="0B6E8A"/>
            </a:solidFill>
            <a:prstDash val="solid"/>
            <a:round/>
          </a:ln>
        </p:spPr>
      </p:sp>
      <p:sp>
        <p:nvSpPr>
          <p:cNvPr id="32" name="Text 30"/>
          <p:cNvSpPr/>
          <p:nvPr/>
        </p:nvSpPr>
        <p:spPr>
          <a:xfrm>
            <a:off x="5374112" y="2154052"/>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3" name="Text 31"/>
          <p:cNvSpPr/>
          <p:nvPr/>
        </p:nvSpPr>
        <p:spPr>
          <a:xfrm>
            <a:off x="5044928" y="3688964"/>
            <a:ext cx="2101840" cy="420624"/>
          </a:xfrm>
          <a:prstGeom prst="rect">
            <a:avLst/>
          </a:prstGeom>
          <a:noFill/>
          <a:ln/>
        </p:spPr>
        <p:txBody>
          <a:bodyPr wrap="square" lIns="0" tIns="0" rIns="0" bIns="0" rtlCol="0" anchor="t">
            <a:normAutofit/>
          </a:bodyPr>
          <a:lstStyle/>
          <a:p>
            <a:pPr algn="ctr" indent="0" marL="0">
              <a:buNone/>
            </a:pPr>
            <a:r>
              <a:rPr lang="en-US" sz="1650" b="1" dirty="0">
                <a:solidFill>
                  <a:srgbClr val="0B1A3C"/>
                </a:solidFill>
                <a:latin typeface="Segoe UI Semibold" pitchFamily="34" charset="0"/>
                <a:ea typeface="Segoe UI Semibold" pitchFamily="34" charset="-122"/>
                <a:cs typeface="Segoe UI Semibold" pitchFamily="34" charset="-120"/>
              </a:rPr>
              <a:t>Beans e inyección</a:t>
            </a:r>
            <a:endParaRPr lang="en-US" sz="1650" dirty="0"/>
          </a:p>
        </p:txBody>
      </p:sp>
      <p:sp>
        <p:nvSpPr>
          <p:cNvPr id="34" name="Text 32"/>
          <p:cNvSpPr/>
          <p:nvPr/>
        </p:nvSpPr>
        <p:spPr>
          <a:xfrm>
            <a:off x="510893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Crea cada pieza y le pasa lo que necesita.</a:t>
            </a:r>
            <a:endParaRPr lang="en-US" sz="1400" dirty="0"/>
          </a:p>
        </p:txBody>
      </p:sp>
      <p:sp>
        <p:nvSpPr>
          <p:cNvPr id="35" name="Shape 33"/>
          <p:cNvSpPr/>
          <p:nvPr/>
        </p:nvSpPr>
        <p:spPr>
          <a:xfrm>
            <a:off x="6872448" y="2875788"/>
            <a:ext cx="640080" cy="0"/>
          </a:xfrm>
          <a:prstGeom prst="line">
            <a:avLst/>
          </a:prstGeom>
          <a:noFill/>
          <a:ln w="38100">
            <a:solidFill>
              <a:srgbClr val="2BA6CB"/>
            </a:solidFill>
            <a:prstDash val="solid"/>
            <a:tailEnd type="triangle"/>
          </a:ln>
        </p:spPr>
      </p:sp>
      <p:sp>
        <p:nvSpPr>
          <p:cNvPr id="36" name="Shape 34"/>
          <p:cNvSpPr/>
          <p:nvPr/>
        </p:nvSpPr>
        <p:spPr>
          <a:xfrm>
            <a:off x="7603968" y="2190628"/>
            <a:ext cx="1370320" cy="137032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7" name="Icono server"/>
          <p:cNvSpPr/>
          <p:nvPr/>
        </p:nvSpPr>
        <p:spPr>
          <a:xfrm>
            <a:off x="7919141" y="2505802"/>
            <a:ext cx="739973" cy="739973"/>
          </a:xfrm>
          <a:custGeom>
            <a:avLst/>
            <a:gdLst/>
            <a:ahLst/>
            <a:cxnLst/>
            <a:rect l="l" t="t" r="r" b="b"/>
            <a:pathLst>
              <a:path w="739973" h="739973">
                <a:moveTo>
                  <a:pt x="123329" y="61664"/>
                </a:moveTo>
                <a:lnTo>
                  <a:pt x="616644" y="61664"/>
                </a:lnTo>
                <a:cubicBezTo>
                  <a:pt x="650700" y="61664"/>
                  <a:pt x="678308" y="89272"/>
                  <a:pt x="678308" y="123329"/>
                </a:cubicBezTo>
                <a:lnTo>
                  <a:pt x="678308" y="246658"/>
                </a:lnTo>
                <a:cubicBezTo>
                  <a:pt x="678308" y="280714"/>
                  <a:pt x="650700" y="308322"/>
                  <a:pt x="616644" y="308322"/>
                </a:cubicBezTo>
                <a:lnTo>
                  <a:pt x="123329" y="308322"/>
                </a:lnTo>
                <a:cubicBezTo>
                  <a:pt x="89272" y="308322"/>
                  <a:pt x="61664" y="280714"/>
                  <a:pt x="61664" y="246658"/>
                </a:cubicBezTo>
                <a:lnTo>
                  <a:pt x="61664" y="123329"/>
                </a:lnTo>
                <a:cubicBezTo>
                  <a:pt x="61664" y="89272"/>
                  <a:pt x="89272" y="61664"/>
                  <a:pt x="123329" y="61664"/>
                </a:cubicBezTo>
                <a:close/>
                <a:moveTo>
                  <a:pt x="123329" y="431651"/>
                </a:moveTo>
                <a:lnTo>
                  <a:pt x="616644" y="431651"/>
                </a:lnTo>
                <a:cubicBezTo>
                  <a:pt x="650700" y="431651"/>
                  <a:pt x="678308" y="459259"/>
                  <a:pt x="678308" y="493315"/>
                </a:cubicBezTo>
                <a:lnTo>
                  <a:pt x="678308" y="616644"/>
                </a:lnTo>
                <a:cubicBezTo>
                  <a:pt x="678308" y="650700"/>
                  <a:pt x="650700" y="678308"/>
                  <a:pt x="616644" y="678308"/>
                </a:cubicBezTo>
                <a:lnTo>
                  <a:pt x="123329" y="678308"/>
                </a:lnTo>
                <a:cubicBezTo>
                  <a:pt x="89272" y="678308"/>
                  <a:pt x="61664" y="650700"/>
                  <a:pt x="61664" y="616644"/>
                </a:cubicBezTo>
                <a:lnTo>
                  <a:pt x="61664" y="493315"/>
                </a:lnTo>
                <a:cubicBezTo>
                  <a:pt x="61664" y="459259"/>
                  <a:pt x="89272" y="431651"/>
                  <a:pt x="123329" y="431651"/>
                </a:cubicBezTo>
                <a:close/>
                <a:moveTo>
                  <a:pt x="184993" y="184993"/>
                </a:moveTo>
                <a:lnTo>
                  <a:pt x="185302" y="184993"/>
                </a:lnTo>
                <a:moveTo>
                  <a:pt x="184993" y="554980"/>
                </a:moveTo>
                <a:lnTo>
                  <a:pt x="185302" y="554980"/>
                </a:lnTo>
              </a:path>
            </a:pathLst>
          </a:custGeom>
          <a:noFill/>
          <a:ln w="53956" cap="rnd">
            <a:solidFill>
              <a:srgbClr val="0B6E8A"/>
            </a:solidFill>
            <a:prstDash val="solid"/>
            <a:round/>
          </a:ln>
        </p:spPr>
      </p:sp>
      <p:sp>
        <p:nvSpPr>
          <p:cNvPr id="38" name="Text 36"/>
          <p:cNvSpPr/>
          <p:nvPr/>
        </p:nvSpPr>
        <p:spPr>
          <a:xfrm>
            <a:off x="7567392" y="2154052"/>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9" name="Text 37"/>
          <p:cNvSpPr/>
          <p:nvPr/>
        </p:nvSpPr>
        <p:spPr>
          <a:xfrm>
            <a:off x="7238208" y="3688964"/>
            <a:ext cx="2101840" cy="420624"/>
          </a:xfrm>
          <a:prstGeom prst="rect">
            <a:avLst/>
          </a:prstGeom>
          <a:noFill/>
          <a:ln/>
        </p:spPr>
        <p:txBody>
          <a:bodyPr wrap="square" lIns="0" tIns="0" rIns="0" bIns="0" rtlCol="0" anchor="t">
            <a:normAutofit/>
          </a:bodyPr>
          <a:lstStyle/>
          <a:p>
            <a:pPr algn="ctr" indent="0" marL="0">
              <a:buNone/>
            </a:pPr>
            <a:r>
              <a:rPr lang="en-US" sz="1650" b="1" dirty="0">
                <a:solidFill>
                  <a:srgbClr val="0B1A3C"/>
                </a:solidFill>
                <a:latin typeface="Segoe UI Semibold" pitchFamily="34" charset="0"/>
                <a:ea typeface="Segoe UI Semibold" pitchFamily="34" charset="-122"/>
                <a:cs typeface="Segoe UI Semibold" pitchFamily="34" charset="-120"/>
              </a:rPr>
              <a:t>Servidor embebido</a:t>
            </a:r>
            <a:endParaRPr lang="en-US" sz="1650" dirty="0"/>
          </a:p>
        </p:txBody>
      </p:sp>
      <p:sp>
        <p:nvSpPr>
          <p:cNvPr id="40" name="Text 38"/>
          <p:cNvSpPr/>
          <p:nvPr/>
        </p:nvSpPr>
        <p:spPr>
          <a:xfrm>
            <a:off x="730221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Tomcat queda escuchando en el puerto 8080.</a:t>
            </a:r>
            <a:endParaRPr lang="en-US" sz="1400" dirty="0"/>
          </a:p>
        </p:txBody>
      </p:sp>
      <p:sp>
        <p:nvSpPr>
          <p:cNvPr id="41" name="Shape 39"/>
          <p:cNvSpPr/>
          <p:nvPr/>
        </p:nvSpPr>
        <p:spPr>
          <a:xfrm>
            <a:off x="9065727" y="2875788"/>
            <a:ext cx="640080" cy="0"/>
          </a:xfrm>
          <a:prstGeom prst="line">
            <a:avLst/>
          </a:prstGeom>
          <a:noFill/>
          <a:ln w="38100">
            <a:solidFill>
              <a:srgbClr val="2BA6CB"/>
            </a:solidFill>
            <a:prstDash val="solid"/>
            <a:tailEnd type="triangle"/>
          </a:ln>
        </p:spPr>
      </p:sp>
      <p:sp>
        <p:nvSpPr>
          <p:cNvPr id="42" name="Shape 40"/>
          <p:cNvSpPr/>
          <p:nvPr/>
        </p:nvSpPr>
        <p:spPr>
          <a:xfrm>
            <a:off x="9797247" y="2190628"/>
            <a:ext cx="1370320" cy="137032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43" name="Icono code"/>
          <p:cNvSpPr/>
          <p:nvPr/>
        </p:nvSpPr>
        <p:spPr>
          <a:xfrm>
            <a:off x="10112421" y="2505802"/>
            <a:ext cx="739973" cy="739973"/>
          </a:xfrm>
          <a:custGeom>
            <a:avLst/>
            <a:gdLst/>
            <a:ahLst/>
            <a:cxnLst/>
            <a:rect l="l" t="t" r="r" b="b"/>
            <a:pathLst>
              <a:path w="739973" h="739973">
                <a:moveTo>
                  <a:pt x="493315" y="554980"/>
                </a:moveTo>
                <a:lnTo>
                  <a:pt x="678308" y="369986"/>
                </a:lnTo>
                <a:lnTo>
                  <a:pt x="493315" y="184993"/>
                </a:lnTo>
                <a:moveTo>
                  <a:pt x="246658" y="184993"/>
                </a:moveTo>
                <a:lnTo>
                  <a:pt x="61664" y="369986"/>
                </a:lnTo>
                <a:lnTo>
                  <a:pt x="246658" y="554980"/>
                </a:lnTo>
              </a:path>
            </a:pathLst>
          </a:custGeom>
          <a:noFill/>
          <a:ln w="53956" cap="rnd">
            <a:solidFill>
              <a:srgbClr val="0A6648"/>
            </a:solidFill>
            <a:prstDash val="solid"/>
            <a:round/>
          </a:ln>
        </p:spPr>
      </p:sp>
      <p:sp>
        <p:nvSpPr>
          <p:cNvPr id="44" name="Text 42"/>
          <p:cNvSpPr/>
          <p:nvPr/>
        </p:nvSpPr>
        <p:spPr>
          <a:xfrm>
            <a:off x="9760671" y="2154052"/>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5</a:t>
            </a:r>
            <a:endParaRPr lang="en-US" sz="1200" dirty="0"/>
          </a:p>
        </p:txBody>
      </p:sp>
      <p:sp>
        <p:nvSpPr>
          <p:cNvPr id="45" name="Text 43"/>
          <p:cNvSpPr/>
          <p:nvPr/>
        </p:nvSpPr>
        <p:spPr>
          <a:xfrm>
            <a:off x="9431487"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Controlador</a:t>
            </a:r>
            <a:endParaRPr lang="en-US" sz="1800" dirty="0"/>
          </a:p>
        </p:txBody>
      </p:sp>
      <p:sp>
        <p:nvSpPr>
          <p:cNvPr id="46" name="Text 44"/>
          <p:cNvSpPr/>
          <p:nvPr/>
        </p:nvSpPr>
        <p:spPr>
          <a:xfrm>
            <a:off x="9495495"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Recibe el JSON, llama al negocio y responde.</a:t>
            </a:r>
            <a:endParaRPr lang="en-US" sz="1400" dirty="0"/>
          </a:p>
        </p:txBody>
      </p:sp>
      <p:sp>
        <p:nvSpPr>
          <p:cNvPr id="47" name="Text 4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FUNDAMENTOS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FUNDAMENTOS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Código mantenible: buenas prácticas</a:t>
            </a:r>
            <a:endParaRPr lang="en-US" sz="2800" dirty="0"/>
          </a:p>
        </p:txBody>
      </p:sp>
      <p:sp>
        <p:nvSpPr>
          <p:cNvPr id="5" name="Shape 3"/>
          <p:cNvSpPr/>
          <p:nvPr/>
        </p:nvSpPr>
        <p:spPr>
          <a:xfrm>
            <a:off x="8872423" y="429768"/>
            <a:ext cx="274320" cy="73152"/>
          </a:xfrm>
          <a:prstGeom prst="roundRect">
            <a:avLst>
              <a:gd name="adj" fmla="val 50000"/>
            </a:avLst>
          </a:prstGeom>
          <a:solidFill>
            <a:srgbClr val="2BA6CB"/>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DFE6F0"/>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Seis prácticas que hacen que un cambio toque un solo lugar.</a:t>
            </a:r>
            <a:endParaRPr lang="en-US" sz="1700" dirty="0"/>
          </a:p>
        </p:txBody>
      </p:sp>
      <p:sp>
        <p:nvSpPr>
          <p:cNvPr id="14" name="Shape 12"/>
          <p:cNvSpPr/>
          <p:nvPr/>
        </p:nvSpPr>
        <p:spPr>
          <a:xfrm>
            <a:off x="612648" y="1719072"/>
            <a:ext cx="10966399" cy="420624"/>
          </a:xfrm>
          <a:prstGeom prst="roundRect">
            <a:avLst>
              <a:gd name="adj" fmla="val 21739"/>
            </a:avLst>
          </a:prstGeom>
          <a:solidFill>
            <a:srgbClr val="0B2350"/>
          </a:solidFill>
          <a:ln w="12700">
            <a:solidFill>
              <a:srgbClr val="0B2350"/>
            </a:solidFill>
            <a:prstDash val="solid"/>
          </a:ln>
        </p:spPr>
      </p:sp>
      <p:sp>
        <p:nvSpPr>
          <p:cNvPr id="15" name="Text 13"/>
          <p:cNvSpPr/>
          <p:nvPr/>
        </p:nvSpPr>
        <p:spPr>
          <a:xfrm>
            <a:off x="1499616" y="1719072"/>
            <a:ext cx="2531617"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PRÁCTICA</a:t>
            </a:r>
            <a:endParaRPr lang="en-US" sz="1150" dirty="0"/>
          </a:p>
        </p:txBody>
      </p:sp>
      <p:sp>
        <p:nvSpPr>
          <p:cNvPr id="16" name="Text 14"/>
          <p:cNvSpPr/>
          <p:nvPr/>
        </p:nvSpPr>
        <p:spPr>
          <a:xfrm>
            <a:off x="4250689" y="1719072"/>
            <a:ext cx="3754316"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CÓMO LA APLICAMOS</a:t>
            </a:r>
            <a:endParaRPr lang="en-US" sz="1150" dirty="0"/>
          </a:p>
        </p:txBody>
      </p:sp>
      <p:sp>
        <p:nvSpPr>
          <p:cNvPr id="17" name="Text 15"/>
          <p:cNvSpPr/>
          <p:nvPr/>
        </p:nvSpPr>
        <p:spPr>
          <a:xfrm>
            <a:off x="8224461" y="1719072"/>
            <a:ext cx="3244858"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POR QUÉ AYUDA A MANTENER</a:t>
            </a:r>
            <a:endParaRPr lang="en-US" sz="1150" dirty="0"/>
          </a:p>
        </p:txBody>
      </p:sp>
      <p:sp>
        <p:nvSpPr>
          <p:cNvPr id="18" name="Shape 16"/>
          <p:cNvSpPr/>
          <p:nvPr/>
        </p:nvSpPr>
        <p:spPr>
          <a:xfrm>
            <a:off x="612648" y="2267712"/>
            <a:ext cx="10966399" cy="589788"/>
          </a:xfrm>
          <a:prstGeom prst="roundRect">
            <a:avLst>
              <a:gd name="adj" fmla="val 2170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9" name="Shape 17"/>
          <p:cNvSpPr/>
          <p:nvPr/>
        </p:nvSpPr>
        <p:spPr>
          <a:xfrm>
            <a:off x="612648" y="2359152"/>
            <a:ext cx="64008" cy="406908"/>
          </a:xfrm>
          <a:prstGeom prst="rect">
            <a:avLst/>
          </a:prstGeom>
          <a:solidFill>
            <a:srgbClr val="0B2350"/>
          </a:solidFill>
          <a:ln w="12700">
            <a:solidFill>
              <a:srgbClr val="0B2350"/>
            </a:solidFill>
            <a:prstDash val="solid"/>
          </a:ln>
        </p:spPr>
      </p:sp>
      <p:sp>
        <p:nvSpPr>
          <p:cNvPr id="20" name="Shape 18"/>
          <p:cNvSpPr/>
          <p:nvPr/>
        </p:nvSpPr>
        <p:spPr>
          <a:xfrm>
            <a:off x="806958" y="2340864"/>
            <a:ext cx="443484" cy="443484"/>
          </a:xfrm>
          <a:prstGeom prst="ellipse">
            <a:avLst/>
          </a:prstGeom>
          <a:solidFill>
            <a:srgbClr val="E8EEF8"/>
          </a:solidFill>
          <a:ln w="12700">
            <a:solidFill>
              <a:srgbClr val="E8EEF8"/>
            </a:solidFill>
            <a:prstDash val="solid"/>
          </a:ln>
        </p:spPr>
      </p:sp>
      <p:sp>
        <p:nvSpPr>
          <p:cNvPr id="21" name="Icono layers"/>
          <p:cNvSpPr/>
          <p:nvPr/>
        </p:nvSpPr>
        <p:spPr>
          <a:xfrm>
            <a:off x="913394" y="2447300"/>
            <a:ext cx="230612" cy="230612"/>
          </a:xfrm>
          <a:custGeom>
            <a:avLst/>
            <a:gdLst/>
            <a:ahLst/>
            <a:cxnLst/>
            <a:rect l="l" t="t" r="r" b="b"/>
            <a:pathLst>
              <a:path w="230612" h="230612">
                <a:moveTo>
                  <a:pt x="123281" y="20947"/>
                </a:moveTo>
                <a:cubicBezTo>
                  <a:pt x="118215" y="18637"/>
                  <a:pt x="112396" y="18637"/>
                  <a:pt x="107331" y="20947"/>
                </a:cubicBezTo>
                <a:lnTo>
                  <a:pt x="24983" y="58422"/>
                </a:lnTo>
                <a:cubicBezTo>
                  <a:pt x="21499" y="59958"/>
                  <a:pt x="19251" y="63406"/>
                  <a:pt x="19251" y="67214"/>
                </a:cubicBezTo>
                <a:cubicBezTo>
                  <a:pt x="19251" y="71021"/>
                  <a:pt x="21499" y="74470"/>
                  <a:pt x="24983" y="76006"/>
                </a:cubicBezTo>
                <a:lnTo>
                  <a:pt x="107427" y="113576"/>
                </a:lnTo>
                <a:cubicBezTo>
                  <a:pt x="112492" y="115887"/>
                  <a:pt x="118311" y="115887"/>
                  <a:pt x="123377" y="113576"/>
                </a:cubicBezTo>
                <a:lnTo>
                  <a:pt x="205821" y="76102"/>
                </a:lnTo>
                <a:cubicBezTo>
                  <a:pt x="209305" y="74566"/>
                  <a:pt x="211553" y="71117"/>
                  <a:pt x="211553" y="67310"/>
                </a:cubicBezTo>
                <a:cubicBezTo>
                  <a:pt x="211553" y="63502"/>
                  <a:pt x="209305" y="60054"/>
                  <a:pt x="205821" y="58518"/>
                </a:cubicBezTo>
                <a:close/>
                <a:moveTo>
                  <a:pt x="19218" y="115306"/>
                </a:moveTo>
                <a:cubicBezTo>
                  <a:pt x="19208" y="119059"/>
                  <a:pt x="21385" y="122474"/>
                  <a:pt x="24791" y="124050"/>
                </a:cubicBezTo>
                <a:lnTo>
                  <a:pt x="107427" y="161620"/>
                </a:lnTo>
                <a:cubicBezTo>
                  <a:pt x="112465" y="163902"/>
                  <a:pt x="118243" y="163902"/>
                  <a:pt x="123281" y="161620"/>
                </a:cubicBezTo>
                <a:lnTo>
                  <a:pt x="205725" y="124146"/>
                </a:lnTo>
                <a:cubicBezTo>
                  <a:pt x="209200" y="122584"/>
                  <a:pt x="211424" y="119116"/>
                  <a:pt x="211394" y="115306"/>
                </a:cubicBezTo>
                <a:moveTo>
                  <a:pt x="19218" y="163350"/>
                </a:moveTo>
                <a:cubicBezTo>
                  <a:pt x="19208" y="167103"/>
                  <a:pt x="21385" y="170518"/>
                  <a:pt x="24791" y="172094"/>
                </a:cubicBezTo>
                <a:lnTo>
                  <a:pt x="107427" y="209664"/>
                </a:lnTo>
                <a:cubicBezTo>
                  <a:pt x="112465" y="211946"/>
                  <a:pt x="118243" y="211946"/>
                  <a:pt x="123281" y="209664"/>
                </a:cubicBezTo>
                <a:lnTo>
                  <a:pt x="205725" y="172190"/>
                </a:lnTo>
                <a:cubicBezTo>
                  <a:pt x="209200" y="170628"/>
                  <a:pt x="211424" y="167160"/>
                  <a:pt x="211394" y="163350"/>
                </a:cubicBezTo>
              </a:path>
            </a:pathLst>
          </a:custGeom>
          <a:noFill/>
          <a:ln w="19218" cap="rnd">
            <a:solidFill>
              <a:srgbClr val="0B2350"/>
            </a:solidFill>
            <a:prstDash val="solid"/>
            <a:round/>
          </a:ln>
        </p:spPr>
      </p:sp>
      <p:sp>
        <p:nvSpPr>
          <p:cNvPr id="22" name="Text 20"/>
          <p:cNvSpPr/>
          <p:nvPr/>
        </p:nvSpPr>
        <p:spPr>
          <a:xfrm>
            <a:off x="1517904" y="2322576"/>
            <a:ext cx="2495041" cy="480060"/>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Una responsabilidad por clase</a:t>
            </a:r>
            <a:endParaRPr lang="en-US" sz="1500" dirty="0"/>
          </a:p>
        </p:txBody>
      </p:sp>
      <p:sp>
        <p:nvSpPr>
          <p:cNvPr id="23" name="Shape 21"/>
          <p:cNvSpPr/>
          <p:nvPr/>
        </p:nvSpPr>
        <p:spPr>
          <a:xfrm>
            <a:off x="4140961" y="2395728"/>
            <a:ext cx="0" cy="333756"/>
          </a:xfrm>
          <a:prstGeom prst="line">
            <a:avLst/>
          </a:prstGeom>
          <a:noFill/>
          <a:ln w="9525">
            <a:solidFill>
              <a:srgbClr val="DFE6F0"/>
            </a:solidFill>
            <a:prstDash val="solid"/>
          </a:ln>
        </p:spPr>
      </p:sp>
      <p:sp>
        <p:nvSpPr>
          <p:cNvPr id="24" name="Text 22"/>
          <p:cNvSpPr/>
          <p:nvPr/>
        </p:nvSpPr>
        <p:spPr>
          <a:xfrm>
            <a:off x="4268977" y="2322576"/>
            <a:ext cx="3717740"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El controlador traduce, el servicio decide, el adaptador guarda</a:t>
            </a:r>
            <a:endParaRPr lang="en-US" sz="1400" dirty="0"/>
          </a:p>
        </p:txBody>
      </p:sp>
      <p:sp>
        <p:nvSpPr>
          <p:cNvPr id="25" name="Shape 23"/>
          <p:cNvSpPr/>
          <p:nvPr/>
        </p:nvSpPr>
        <p:spPr>
          <a:xfrm>
            <a:off x="8114733" y="2395728"/>
            <a:ext cx="0" cy="333756"/>
          </a:xfrm>
          <a:prstGeom prst="line">
            <a:avLst/>
          </a:prstGeom>
          <a:noFill/>
          <a:ln w="9525">
            <a:solidFill>
              <a:srgbClr val="DFE6F0"/>
            </a:solidFill>
            <a:prstDash val="solid"/>
          </a:ln>
        </p:spPr>
      </p:sp>
      <p:sp>
        <p:nvSpPr>
          <p:cNvPr id="26" name="Text 24"/>
          <p:cNvSpPr/>
          <p:nvPr/>
        </p:nvSpPr>
        <p:spPr>
          <a:xfrm>
            <a:off x="8242749" y="2322576"/>
            <a:ext cx="3208282"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Un cambio toca un solo lugar</a:t>
            </a:r>
            <a:endParaRPr lang="en-US" sz="1400" dirty="0"/>
          </a:p>
        </p:txBody>
      </p:sp>
      <p:sp>
        <p:nvSpPr>
          <p:cNvPr id="27" name="Shape 25"/>
          <p:cNvSpPr/>
          <p:nvPr/>
        </p:nvSpPr>
        <p:spPr>
          <a:xfrm>
            <a:off x="612648" y="2967228"/>
            <a:ext cx="10966399" cy="589788"/>
          </a:xfrm>
          <a:prstGeom prst="roundRect">
            <a:avLst>
              <a:gd name="adj" fmla="val 2170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612648" y="3058668"/>
            <a:ext cx="64008" cy="406908"/>
          </a:xfrm>
          <a:prstGeom prst="rect">
            <a:avLst/>
          </a:prstGeom>
          <a:solidFill>
            <a:srgbClr val="0B6E8A"/>
          </a:solidFill>
          <a:ln w="12700">
            <a:solidFill>
              <a:srgbClr val="0B6E8A"/>
            </a:solidFill>
            <a:prstDash val="solid"/>
          </a:ln>
        </p:spPr>
      </p:sp>
      <p:sp>
        <p:nvSpPr>
          <p:cNvPr id="29" name="Shape 27"/>
          <p:cNvSpPr/>
          <p:nvPr/>
        </p:nvSpPr>
        <p:spPr>
          <a:xfrm>
            <a:off x="806958" y="3040380"/>
            <a:ext cx="443484" cy="443484"/>
          </a:xfrm>
          <a:prstGeom prst="ellipse">
            <a:avLst/>
          </a:prstGeom>
          <a:solidFill>
            <a:srgbClr val="E3F4FA"/>
          </a:solidFill>
          <a:ln w="12700">
            <a:solidFill>
              <a:srgbClr val="E3F4FA"/>
            </a:solidFill>
            <a:prstDash val="solid"/>
          </a:ln>
        </p:spPr>
      </p:sp>
      <p:sp>
        <p:nvSpPr>
          <p:cNvPr id="30" name="Icono plug"/>
          <p:cNvSpPr/>
          <p:nvPr/>
        </p:nvSpPr>
        <p:spPr>
          <a:xfrm>
            <a:off x="913394" y="3146816"/>
            <a:ext cx="230612" cy="230612"/>
          </a:xfrm>
          <a:custGeom>
            <a:avLst/>
            <a:gdLst/>
            <a:ahLst/>
            <a:cxnLst/>
            <a:rect l="l" t="t" r="r" b="b"/>
            <a:pathLst>
              <a:path w="230612" h="230612">
                <a:moveTo>
                  <a:pt x="115306" y="211394"/>
                </a:moveTo>
                <a:lnTo>
                  <a:pt x="115306" y="163350"/>
                </a:lnTo>
                <a:moveTo>
                  <a:pt x="86479" y="76871"/>
                </a:moveTo>
                <a:lnTo>
                  <a:pt x="86479" y="19218"/>
                </a:lnTo>
                <a:moveTo>
                  <a:pt x="144132" y="76871"/>
                </a:moveTo>
                <a:lnTo>
                  <a:pt x="144132" y="19218"/>
                </a:lnTo>
                <a:moveTo>
                  <a:pt x="172959" y="76871"/>
                </a:moveTo>
                <a:lnTo>
                  <a:pt x="172959" y="124915"/>
                </a:lnTo>
                <a:cubicBezTo>
                  <a:pt x="172959" y="146142"/>
                  <a:pt x="155751" y="163350"/>
                  <a:pt x="134523" y="163350"/>
                </a:cubicBezTo>
                <a:lnTo>
                  <a:pt x="96088" y="163350"/>
                </a:lnTo>
                <a:cubicBezTo>
                  <a:pt x="74861" y="163350"/>
                  <a:pt x="57653" y="146142"/>
                  <a:pt x="57653" y="124915"/>
                </a:cubicBezTo>
                <a:lnTo>
                  <a:pt x="57653" y="76871"/>
                </a:lnTo>
                <a:close/>
              </a:path>
            </a:pathLst>
          </a:custGeom>
          <a:noFill/>
          <a:ln w="19218" cap="rnd">
            <a:solidFill>
              <a:srgbClr val="0B6E8A"/>
            </a:solidFill>
            <a:prstDash val="solid"/>
            <a:round/>
          </a:ln>
        </p:spPr>
      </p:sp>
      <p:sp>
        <p:nvSpPr>
          <p:cNvPr id="31" name="Text 29"/>
          <p:cNvSpPr/>
          <p:nvPr/>
        </p:nvSpPr>
        <p:spPr>
          <a:xfrm>
            <a:off x="1517904" y="3022092"/>
            <a:ext cx="2495041" cy="480060"/>
          </a:xfrm>
          <a:prstGeom prst="rect">
            <a:avLst/>
          </a:prstGeom>
          <a:noFill/>
          <a:ln/>
        </p:spPr>
        <p:txBody>
          <a:bodyPr wrap="square" lIns="0" tIns="0" rIns="0" bIns="0" rtlCol="0" anchor="ctr">
            <a:normAutofit/>
          </a:bodyPr>
          <a:lstStyle/>
          <a:p>
            <a:pPr algn="l" indent="0" marL="0">
              <a:buNone/>
            </a:pPr>
            <a:r>
              <a:rPr lang="en-US" sz="1500" b="1" dirty="0">
                <a:solidFill>
                  <a:srgbClr val="0B6E8A"/>
                </a:solidFill>
                <a:latin typeface="Segoe UI Semibold" pitchFamily="34" charset="0"/>
                <a:ea typeface="Segoe UI Semibold" pitchFamily="34" charset="-122"/>
                <a:cs typeface="Segoe UI Semibold" pitchFamily="34" charset="-120"/>
              </a:rPr>
              <a:t>Inyección por constructor</a:t>
            </a:r>
            <a:endParaRPr lang="en-US" sz="1500" dirty="0"/>
          </a:p>
        </p:txBody>
      </p:sp>
      <p:sp>
        <p:nvSpPr>
          <p:cNvPr id="32" name="Shape 30"/>
          <p:cNvSpPr/>
          <p:nvPr/>
        </p:nvSpPr>
        <p:spPr>
          <a:xfrm>
            <a:off x="4140961" y="3095244"/>
            <a:ext cx="0" cy="333756"/>
          </a:xfrm>
          <a:prstGeom prst="line">
            <a:avLst/>
          </a:prstGeom>
          <a:noFill/>
          <a:ln w="9525">
            <a:solidFill>
              <a:srgbClr val="DFE6F0"/>
            </a:solidFill>
            <a:prstDash val="solid"/>
          </a:ln>
        </p:spPr>
      </p:sp>
      <p:sp>
        <p:nvSpPr>
          <p:cNvPr id="33" name="Text 31"/>
          <p:cNvSpPr/>
          <p:nvPr/>
        </p:nvSpPr>
        <p:spPr>
          <a:xfrm>
            <a:off x="4268977" y="3022092"/>
            <a:ext cx="3717740"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Cada pieza recibe sus dependencias; nadie hace new de lo que necesita</a:t>
            </a:r>
            <a:endParaRPr lang="en-US" sz="1400" dirty="0"/>
          </a:p>
        </p:txBody>
      </p:sp>
      <p:sp>
        <p:nvSpPr>
          <p:cNvPr id="34" name="Shape 32"/>
          <p:cNvSpPr/>
          <p:nvPr/>
        </p:nvSpPr>
        <p:spPr>
          <a:xfrm>
            <a:off x="8114733" y="3095244"/>
            <a:ext cx="0" cy="333756"/>
          </a:xfrm>
          <a:prstGeom prst="line">
            <a:avLst/>
          </a:prstGeom>
          <a:noFill/>
          <a:ln w="9525">
            <a:solidFill>
              <a:srgbClr val="DFE6F0"/>
            </a:solidFill>
            <a:prstDash val="solid"/>
          </a:ln>
        </p:spPr>
      </p:sp>
      <p:sp>
        <p:nvSpPr>
          <p:cNvPr id="35" name="Text 33"/>
          <p:cNvSpPr/>
          <p:nvPr/>
        </p:nvSpPr>
        <p:spPr>
          <a:xfrm>
            <a:off x="8242749" y="3022092"/>
            <a:ext cx="3208282"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Cualquier pieza se reemplaza o se prueba sola</a:t>
            </a:r>
            <a:endParaRPr lang="en-US" sz="1400" dirty="0"/>
          </a:p>
        </p:txBody>
      </p:sp>
      <p:sp>
        <p:nvSpPr>
          <p:cNvPr id="36" name="Shape 34"/>
          <p:cNvSpPr/>
          <p:nvPr/>
        </p:nvSpPr>
        <p:spPr>
          <a:xfrm>
            <a:off x="612648" y="3666744"/>
            <a:ext cx="10966399" cy="589788"/>
          </a:xfrm>
          <a:prstGeom prst="roundRect">
            <a:avLst>
              <a:gd name="adj" fmla="val 2170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7" name="Shape 35"/>
          <p:cNvSpPr/>
          <p:nvPr/>
        </p:nvSpPr>
        <p:spPr>
          <a:xfrm>
            <a:off x="612648" y="3758184"/>
            <a:ext cx="64008" cy="406908"/>
          </a:xfrm>
          <a:prstGeom prst="rect">
            <a:avLst/>
          </a:prstGeom>
          <a:solidFill>
            <a:srgbClr val="5B3FC4"/>
          </a:solidFill>
          <a:ln w="12700">
            <a:solidFill>
              <a:srgbClr val="5B3FC4"/>
            </a:solidFill>
            <a:prstDash val="solid"/>
          </a:ln>
        </p:spPr>
      </p:sp>
      <p:sp>
        <p:nvSpPr>
          <p:cNvPr id="38" name="Shape 36"/>
          <p:cNvSpPr/>
          <p:nvPr/>
        </p:nvSpPr>
        <p:spPr>
          <a:xfrm>
            <a:off x="806958" y="3739896"/>
            <a:ext cx="443484" cy="443484"/>
          </a:xfrm>
          <a:prstGeom prst="ellipse">
            <a:avLst/>
          </a:prstGeom>
          <a:solidFill>
            <a:srgbClr val="F1EEFD"/>
          </a:solidFill>
          <a:ln w="12700">
            <a:solidFill>
              <a:srgbClr val="F1EEFD"/>
            </a:solidFill>
            <a:prstDash val="solid"/>
          </a:ln>
        </p:spPr>
      </p:sp>
      <p:sp>
        <p:nvSpPr>
          <p:cNvPr id="39" name="Icono lock"/>
          <p:cNvSpPr/>
          <p:nvPr/>
        </p:nvSpPr>
        <p:spPr>
          <a:xfrm>
            <a:off x="913394" y="3846332"/>
            <a:ext cx="230612" cy="230612"/>
          </a:xfrm>
          <a:custGeom>
            <a:avLst/>
            <a:gdLst/>
            <a:ahLst/>
            <a:cxnLst/>
            <a:rect l="l" t="t" r="r" b="b"/>
            <a:pathLst>
              <a:path w="230612" h="230612">
                <a:moveTo>
                  <a:pt x="48044" y="105697"/>
                </a:moveTo>
                <a:lnTo>
                  <a:pt x="182568" y="105697"/>
                </a:lnTo>
                <a:cubicBezTo>
                  <a:pt x="193181" y="105697"/>
                  <a:pt x="201785" y="114301"/>
                  <a:pt x="201785" y="124915"/>
                </a:cubicBezTo>
                <a:lnTo>
                  <a:pt x="201785" y="192176"/>
                </a:lnTo>
                <a:cubicBezTo>
                  <a:pt x="201785" y="202790"/>
                  <a:pt x="193181" y="211394"/>
                  <a:pt x="182568" y="211394"/>
                </a:cubicBezTo>
                <a:lnTo>
                  <a:pt x="48044" y="211394"/>
                </a:lnTo>
                <a:cubicBezTo>
                  <a:pt x="37430" y="211394"/>
                  <a:pt x="28826" y="202790"/>
                  <a:pt x="28826" y="192176"/>
                </a:cubicBezTo>
                <a:lnTo>
                  <a:pt x="28826" y="124915"/>
                </a:lnTo>
                <a:cubicBezTo>
                  <a:pt x="28826" y="114301"/>
                  <a:pt x="37430" y="105697"/>
                  <a:pt x="48044" y="105697"/>
                </a:cubicBezTo>
                <a:close/>
                <a:moveTo>
                  <a:pt x="67262" y="105697"/>
                </a:moveTo>
                <a:lnTo>
                  <a:pt x="67262" y="67262"/>
                </a:lnTo>
                <a:cubicBezTo>
                  <a:pt x="67262" y="40728"/>
                  <a:pt x="88772" y="19218"/>
                  <a:pt x="115306" y="19218"/>
                </a:cubicBezTo>
                <a:cubicBezTo>
                  <a:pt x="141840" y="19218"/>
                  <a:pt x="163350" y="40728"/>
                  <a:pt x="163350" y="67262"/>
                </a:cubicBezTo>
                <a:lnTo>
                  <a:pt x="163350" y="105697"/>
                </a:lnTo>
              </a:path>
            </a:pathLst>
          </a:custGeom>
          <a:noFill/>
          <a:ln w="19218" cap="rnd">
            <a:solidFill>
              <a:srgbClr val="5B3FC4"/>
            </a:solidFill>
            <a:prstDash val="solid"/>
            <a:round/>
          </a:ln>
        </p:spPr>
      </p:sp>
      <p:sp>
        <p:nvSpPr>
          <p:cNvPr id="40" name="Text 38"/>
          <p:cNvSpPr/>
          <p:nvPr/>
        </p:nvSpPr>
        <p:spPr>
          <a:xfrm>
            <a:off x="1517904" y="3721608"/>
            <a:ext cx="2495041" cy="480060"/>
          </a:xfrm>
          <a:prstGeom prst="rect">
            <a:avLst/>
          </a:prstGeom>
          <a:noFill/>
          <a:ln/>
        </p:spPr>
        <p:txBody>
          <a:bodyPr wrap="square" lIns="0" tIns="0" rIns="0" bIns="0" rtlCol="0" anchor="ctr">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Datos inmutables</a:t>
            </a:r>
            <a:endParaRPr lang="en-US" sz="1500" dirty="0"/>
          </a:p>
        </p:txBody>
      </p:sp>
      <p:sp>
        <p:nvSpPr>
          <p:cNvPr id="41" name="Shape 39"/>
          <p:cNvSpPr/>
          <p:nvPr/>
        </p:nvSpPr>
        <p:spPr>
          <a:xfrm>
            <a:off x="4140961" y="3794760"/>
            <a:ext cx="0" cy="333756"/>
          </a:xfrm>
          <a:prstGeom prst="line">
            <a:avLst/>
          </a:prstGeom>
          <a:noFill/>
          <a:ln w="9525">
            <a:solidFill>
              <a:srgbClr val="DFE6F0"/>
            </a:solidFill>
            <a:prstDash val="solid"/>
          </a:ln>
        </p:spPr>
      </p:sp>
      <p:sp>
        <p:nvSpPr>
          <p:cNvPr id="42" name="Text 40"/>
          <p:cNvSpPr/>
          <p:nvPr/>
        </p:nvSpPr>
        <p:spPr>
          <a:xfrm>
            <a:off x="4268977" y="3721608"/>
            <a:ext cx="3717740"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La Solicitud es un record: cambiar de estado crea una nueva</a:t>
            </a:r>
            <a:endParaRPr lang="en-US" sz="1400" dirty="0"/>
          </a:p>
        </p:txBody>
      </p:sp>
      <p:sp>
        <p:nvSpPr>
          <p:cNvPr id="43" name="Shape 41"/>
          <p:cNvSpPr/>
          <p:nvPr/>
        </p:nvSpPr>
        <p:spPr>
          <a:xfrm>
            <a:off x="8114733" y="3794760"/>
            <a:ext cx="0" cy="333756"/>
          </a:xfrm>
          <a:prstGeom prst="line">
            <a:avLst/>
          </a:prstGeom>
          <a:noFill/>
          <a:ln w="9525">
            <a:solidFill>
              <a:srgbClr val="DFE6F0"/>
            </a:solidFill>
            <a:prstDash val="solid"/>
          </a:ln>
        </p:spPr>
      </p:sp>
      <p:sp>
        <p:nvSpPr>
          <p:cNvPr id="44" name="Text 42"/>
          <p:cNvSpPr/>
          <p:nvPr/>
        </p:nvSpPr>
        <p:spPr>
          <a:xfrm>
            <a:off x="8242749" y="3721608"/>
            <a:ext cx="3208282"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Sin estados a medias ni efectos ocultos</a:t>
            </a:r>
            <a:endParaRPr lang="en-US" sz="1400" dirty="0"/>
          </a:p>
        </p:txBody>
      </p:sp>
      <p:sp>
        <p:nvSpPr>
          <p:cNvPr id="45" name="Shape 43"/>
          <p:cNvSpPr/>
          <p:nvPr/>
        </p:nvSpPr>
        <p:spPr>
          <a:xfrm>
            <a:off x="612648" y="4366260"/>
            <a:ext cx="10966399" cy="589788"/>
          </a:xfrm>
          <a:prstGeom prst="roundRect">
            <a:avLst>
              <a:gd name="adj" fmla="val 2170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6" name="Shape 44"/>
          <p:cNvSpPr/>
          <p:nvPr/>
        </p:nvSpPr>
        <p:spPr>
          <a:xfrm>
            <a:off x="612648" y="4457700"/>
            <a:ext cx="64008" cy="406908"/>
          </a:xfrm>
          <a:prstGeom prst="rect">
            <a:avLst/>
          </a:prstGeom>
          <a:solidFill>
            <a:srgbClr val="AB243E"/>
          </a:solidFill>
          <a:ln w="12700">
            <a:solidFill>
              <a:srgbClr val="AB243E"/>
            </a:solidFill>
            <a:prstDash val="solid"/>
          </a:ln>
        </p:spPr>
      </p:sp>
      <p:sp>
        <p:nvSpPr>
          <p:cNvPr id="47" name="Shape 45"/>
          <p:cNvSpPr/>
          <p:nvPr/>
        </p:nvSpPr>
        <p:spPr>
          <a:xfrm>
            <a:off x="806958" y="4439412"/>
            <a:ext cx="443484" cy="443484"/>
          </a:xfrm>
          <a:prstGeom prst="ellipse">
            <a:avLst/>
          </a:prstGeom>
          <a:solidFill>
            <a:srgbClr val="F7E3E7"/>
          </a:solidFill>
          <a:ln w="12700">
            <a:solidFill>
              <a:srgbClr val="F7E3E7"/>
            </a:solidFill>
            <a:prstDash val="solid"/>
          </a:ln>
        </p:spPr>
      </p:sp>
      <p:sp>
        <p:nvSpPr>
          <p:cNvPr id="48" name="Icono shield-alert"/>
          <p:cNvSpPr/>
          <p:nvPr/>
        </p:nvSpPr>
        <p:spPr>
          <a:xfrm>
            <a:off x="913394" y="4545848"/>
            <a:ext cx="230612" cy="230612"/>
          </a:xfrm>
          <a:custGeom>
            <a:avLst/>
            <a:gdLst/>
            <a:ahLst/>
            <a:cxnLst/>
            <a:rect l="l" t="t" r="r" b="b"/>
            <a:pathLst>
              <a:path w="230612" h="230612">
                <a:moveTo>
                  <a:pt x="192176" y="124915"/>
                </a:moveTo>
                <a:cubicBezTo>
                  <a:pt x="192176" y="172959"/>
                  <a:pt x="158546" y="196981"/>
                  <a:pt x="118573" y="210914"/>
                </a:cubicBezTo>
                <a:cubicBezTo>
                  <a:pt x="116480" y="211623"/>
                  <a:pt x="114206" y="211589"/>
                  <a:pt x="112135" y="210818"/>
                </a:cubicBezTo>
                <a:cubicBezTo>
                  <a:pt x="72066" y="196981"/>
                  <a:pt x="38435" y="172959"/>
                  <a:pt x="38435" y="124915"/>
                </a:cubicBezTo>
                <a:lnTo>
                  <a:pt x="38435" y="57653"/>
                </a:lnTo>
                <a:cubicBezTo>
                  <a:pt x="38435" y="52346"/>
                  <a:pt x="42737" y="48044"/>
                  <a:pt x="48044" y="48044"/>
                </a:cubicBezTo>
                <a:cubicBezTo>
                  <a:pt x="67262" y="48044"/>
                  <a:pt x="91284" y="36514"/>
                  <a:pt x="108003" y="21908"/>
                </a:cubicBezTo>
                <a:cubicBezTo>
                  <a:pt x="112209" y="18315"/>
                  <a:pt x="118403" y="18315"/>
                  <a:pt x="122609" y="21908"/>
                </a:cubicBezTo>
                <a:cubicBezTo>
                  <a:pt x="139424" y="36610"/>
                  <a:pt x="163350" y="48044"/>
                  <a:pt x="182568" y="48044"/>
                </a:cubicBezTo>
                <a:cubicBezTo>
                  <a:pt x="187874" y="48044"/>
                  <a:pt x="192176" y="52346"/>
                  <a:pt x="192176" y="57653"/>
                </a:cubicBezTo>
                <a:close/>
                <a:moveTo>
                  <a:pt x="115306" y="76871"/>
                </a:moveTo>
                <a:lnTo>
                  <a:pt x="115306" y="115306"/>
                </a:lnTo>
                <a:moveTo>
                  <a:pt x="115306" y="153741"/>
                </a:moveTo>
                <a:lnTo>
                  <a:pt x="115402" y="153741"/>
                </a:lnTo>
              </a:path>
            </a:pathLst>
          </a:custGeom>
          <a:noFill/>
          <a:ln w="19218" cap="rnd">
            <a:solidFill>
              <a:srgbClr val="AB243E"/>
            </a:solidFill>
            <a:prstDash val="solid"/>
            <a:round/>
          </a:ln>
        </p:spPr>
      </p:sp>
      <p:sp>
        <p:nvSpPr>
          <p:cNvPr id="49" name="Text 47"/>
          <p:cNvSpPr/>
          <p:nvPr/>
        </p:nvSpPr>
        <p:spPr>
          <a:xfrm>
            <a:off x="1517904" y="4421124"/>
            <a:ext cx="2495041" cy="480060"/>
          </a:xfrm>
          <a:prstGeom prst="rect">
            <a:avLst/>
          </a:prstGeom>
          <a:noFill/>
          <a:ln/>
        </p:spPr>
        <p:txBody>
          <a:bodyPr wrap="square" lIns="0" tIns="0" rIns="0" bIns="0" rtlCol="0" anchor="ctr">
            <a:normAutofit/>
          </a:bodyPr>
          <a:lstStyle/>
          <a:p>
            <a:pPr algn="l" indent="0" marL="0">
              <a:buNone/>
            </a:pPr>
            <a:r>
              <a:rPr lang="en-US" sz="1500" b="1" dirty="0">
                <a:solidFill>
                  <a:srgbClr val="AB243E"/>
                </a:solidFill>
                <a:latin typeface="Segoe UI Semibold" pitchFamily="34" charset="0"/>
                <a:ea typeface="Segoe UI Semibold" pitchFamily="34" charset="-122"/>
                <a:cs typeface="Segoe UI Semibold" pitchFamily="34" charset="-120"/>
              </a:rPr>
              <a:t>Errores en un solo lugar</a:t>
            </a:r>
            <a:endParaRPr lang="en-US" sz="1500" dirty="0"/>
          </a:p>
        </p:txBody>
      </p:sp>
      <p:sp>
        <p:nvSpPr>
          <p:cNvPr id="50" name="Shape 48"/>
          <p:cNvSpPr/>
          <p:nvPr/>
        </p:nvSpPr>
        <p:spPr>
          <a:xfrm>
            <a:off x="4140961" y="4494276"/>
            <a:ext cx="0" cy="333756"/>
          </a:xfrm>
          <a:prstGeom prst="line">
            <a:avLst/>
          </a:prstGeom>
          <a:noFill/>
          <a:ln w="9525">
            <a:solidFill>
              <a:srgbClr val="DFE6F0"/>
            </a:solidFill>
            <a:prstDash val="solid"/>
          </a:ln>
        </p:spPr>
      </p:sp>
      <p:sp>
        <p:nvSpPr>
          <p:cNvPr id="51" name="Text 49"/>
          <p:cNvSpPr/>
          <p:nvPr/>
        </p:nvSpPr>
        <p:spPr>
          <a:xfrm>
            <a:off x="4268977" y="4421124"/>
            <a:ext cx="3717740"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Excepciones del dominio y un manejador global</a:t>
            </a:r>
            <a:endParaRPr lang="en-US" sz="1400" dirty="0"/>
          </a:p>
        </p:txBody>
      </p:sp>
      <p:sp>
        <p:nvSpPr>
          <p:cNvPr id="52" name="Shape 50"/>
          <p:cNvSpPr/>
          <p:nvPr/>
        </p:nvSpPr>
        <p:spPr>
          <a:xfrm>
            <a:off x="8114733" y="4494276"/>
            <a:ext cx="0" cy="333756"/>
          </a:xfrm>
          <a:prstGeom prst="line">
            <a:avLst/>
          </a:prstGeom>
          <a:noFill/>
          <a:ln w="9525">
            <a:solidFill>
              <a:srgbClr val="DFE6F0"/>
            </a:solidFill>
            <a:prstDash val="solid"/>
          </a:ln>
        </p:spPr>
      </p:sp>
      <p:sp>
        <p:nvSpPr>
          <p:cNvPr id="53" name="Text 51"/>
          <p:cNvSpPr/>
          <p:nvPr/>
        </p:nvSpPr>
        <p:spPr>
          <a:xfrm>
            <a:off x="8242749" y="4421124"/>
            <a:ext cx="3208282"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Respuestas iguales, sin try/catch repetidos</a:t>
            </a:r>
            <a:endParaRPr lang="en-US" sz="1400" dirty="0"/>
          </a:p>
        </p:txBody>
      </p:sp>
      <p:sp>
        <p:nvSpPr>
          <p:cNvPr id="54" name="Shape 52"/>
          <p:cNvSpPr/>
          <p:nvPr/>
        </p:nvSpPr>
        <p:spPr>
          <a:xfrm>
            <a:off x="612648" y="5065776"/>
            <a:ext cx="10966399" cy="589788"/>
          </a:xfrm>
          <a:prstGeom prst="roundRect">
            <a:avLst>
              <a:gd name="adj" fmla="val 2170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5" name="Shape 53"/>
          <p:cNvSpPr/>
          <p:nvPr/>
        </p:nvSpPr>
        <p:spPr>
          <a:xfrm>
            <a:off x="612648" y="5157216"/>
            <a:ext cx="64008" cy="406908"/>
          </a:xfrm>
          <a:prstGeom prst="rect">
            <a:avLst/>
          </a:prstGeom>
          <a:solidFill>
            <a:srgbClr val="8A4B06"/>
          </a:solidFill>
          <a:ln w="12700">
            <a:solidFill>
              <a:srgbClr val="8A4B06"/>
            </a:solidFill>
            <a:prstDash val="solid"/>
          </a:ln>
        </p:spPr>
      </p:sp>
      <p:sp>
        <p:nvSpPr>
          <p:cNvPr id="56" name="Shape 54"/>
          <p:cNvSpPr/>
          <p:nvPr/>
        </p:nvSpPr>
        <p:spPr>
          <a:xfrm>
            <a:off x="806958" y="5138928"/>
            <a:ext cx="443484" cy="443484"/>
          </a:xfrm>
          <a:prstGeom prst="ellipse">
            <a:avLst/>
          </a:prstGeom>
          <a:solidFill>
            <a:srgbClr val="FCEFD6"/>
          </a:solidFill>
          <a:ln w="12700">
            <a:solidFill>
              <a:srgbClr val="FCEFD6"/>
            </a:solidFill>
            <a:prstDash val="solid"/>
          </a:ln>
        </p:spPr>
      </p:sp>
      <p:sp>
        <p:nvSpPr>
          <p:cNvPr id="57" name="Icono book-open"/>
          <p:cNvSpPr/>
          <p:nvPr/>
        </p:nvSpPr>
        <p:spPr>
          <a:xfrm>
            <a:off x="913394" y="5245364"/>
            <a:ext cx="230612" cy="230612"/>
          </a:xfrm>
          <a:custGeom>
            <a:avLst/>
            <a:gdLst/>
            <a:ahLst/>
            <a:cxnLst/>
            <a:rect l="l" t="t" r="r" b="b"/>
            <a:pathLst>
              <a:path w="230612" h="230612">
                <a:moveTo>
                  <a:pt x="115306" y="67262"/>
                </a:moveTo>
                <a:lnTo>
                  <a:pt x="115306" y="201785"/>
                </a:lnTo>
                <a:moveTo>
                  <a:pt x="28826" y="172959"/>
                </a:moveTo>
                <a:cubicBezTo>
                  <a:pt x="23520" y="172959"/>
                  <a:pt x="19218" y="168657"/>
                  <a:pt x="19218" y="163350"/>
                </a:cubicBezTo>
                <a:lnTo>
                  <a:pt x="19218" y="38435"/>
                </a:lnTo>
                <a:cubicBezTo>
                  <a:pt x="19218" y="33128"/>
                  <a:pt x="23520" y="28826"/>
                  <a:pt x="28826" y="28826"/>
                </a:cubicBezTo>
                <a:lnTo>
                  <a:pt x="76871" y="28826"/>
                </a:lnTo>
                <a:cubicBezTo>
                  <a:pt x="98098" y="28826"/>
                  <a:pt x="115306" y="46035"/>
                  <a:pt x="115306" y="67262"/>
                </a:cubicBezTo>
                <a:cubicBezTo>
                  <a:pt x="115306" y="46035"/>
                  <a:pt x="132514" y="28826"/>
                  <a:pt x="153741" y="28826"/>
                </a:cubicBezTo>
                <a:lnTo>
                  <a:pt x="201785" y="28826"/>
                </a:lnTo>
                <a:cubicBezTo>
                  <a:pt x="207092" y="28826"/>
                  <a:pt x="211394" y="33128"/>
                  <a:pt x="211394" y="38435"/>
                </a:cubicBezTo>
                <a:lnTo>
                  <a:pt x="211394" y="163350"/>
                </a:lnTo>
                <a:cubicBezTo>
                  <a:pt x="211394" y="168657"/>
                  <a:pt x="207092" y="172959"/>
                  <a:pt x="201785" y="172959"/>
                </a:cubicBezTo>
                <a:lnTo>
                  <a:pt x="144132" y="172959"/>
                </a:lnTo>
                <a:cubicBezTo>
                  <a:pt x="128212" y="172959"/>
                  <a:pt x="115306" y="185865"/>
                  <a:pt x="115306" y="201785"/>
                </a:cubicBezTo>
                <a:cubicBezTo>
                  <a:pt x="115306" y="185865"/>
                  <a:pt x="102400" y="172959"/>
                  <a:pt x="86479" y="172959"/>
                </a:cubicBezTo>
                <a:close/>
              </a:path>
            </a:pathLst>
          </a:custGeom>
          <a:noFill/>
          <a:ln w="19218" cap="rnd">
            <a:solidFill>
              <a:srgbClr val="8A4B06"/>
            </a:solidFill>
            <a:prstDash val="solid"/>
            <a:round/>
          </a:ln>
        </p:spPr>
      </p:sp>
      <p:sp>
        <p:nvSpPr>
          <p:cNvPr id="58" name="Text 56"/>
          <p:cNvSpPr/>
          <p:nvPr/>
        </p:nvSpPr>
        <p:spPr>
          <a:xfrm>
            <a:off x="1517904" y="5120640"/>
            <a:ext cx="2495041" cy="480060"/>
          </a:xfrm>
          <a:prstGeom prst="rect">
            <a:avLst/>
          </a:prstGeom>
          <a:noFill/>
          <a:ln/>
        </p:spPr>
        <p:txBody>
          <a:bodyPr wrap="square" lIns="0" tIns="0" rIns="0" bIns="0" rtlCol="0" anchor="ctr">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Nombres del negocio</a:t>
            </a:r>
            <a:endParaRPr lang="en-US" sz="1500" dirty="0"/>
          </a:p>
        </p:txBody>
      </p:sp>
      <p:sp>
        <p:nvSpPr>
          <p:cNvPr id="59" name="Shape 57"/>
          <p:cNvSpPr/>
          <p:nvPr/>
        </p:nvSpPr>
        <p:spPr>
          <a:xfrm>
            <a:off x="4140961" y="5193792"/>
            <a:ext cx="0" cy="333756"/>
          </a:xfrm>
          <a:prstGeom prst="line">
            <a:avLst/>
          </a:prstGeom>
          <a:noFill/>
          <a:ln w="9525">
            <a:solidFill>
              <a:srgbClr val="DFE6F0"/>
            </a:solidFill>
            <a:prstDash val="solid"/>
          </a:ln>
        </p:spPr>
      </p:sp>
      <p:sp>
        <p:nvSpPr>
          <p:cNvPr id="60" name="Text 58"/>
          <p:cNvSpPr/>
          <p:nvPr/>
        </p:nvSpPr>
        <p:spPr>
          <a:xfrm>
            <a:off x="4268977" y="5120640"/>
            <a:ext cx="3717740"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Solicitud, enviar, TransicionNoPermitida</a:t>
            </a:r>
            <a:endParaRPr lang="en-US" sz="1400" dirty="0"/>
          </a:p>
        </p:txBody>
      </p:sp>
      <p:sp>
        <p:nvSpPr>
          <p:cNvPr id="61" name="Shape 59"/>
          <p:cNvSpPr/>
          <p:nvPr/>
        </p:nvSpPr>
        <p:spPr>
          <a:xfrm>
            <a:off x="8114733" y="5193792"/>
            <a:ext cx="0" cy="333756"/>
          </a:xfrm>
          <a:prstGeom prst="line">
            <a:avLst/>
          </a:prstGeom>
          <a:noFill/>
          <a:ln w="9525">
            <a:solidFill>
              <a:srgbClr val="DFE6F0"/>
            </a:solidFill>
            <a:prstDash val="solid"/>
          </a:ln>
        </p:spPr>
      </p:sp>
      <p:sp>
        <p:nvSpPr>
          <p:cNvPr id="62" name="Text 60"/>
          <p:cNvSpPr/>
          <p:nvPr/>
        </p:nvSpPr>
        <p:spPr>
          <a:xfrm>
            <a:off x="8242749" y="5120640"/>
            <a:ext cx="3208282"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El código se lee como el proceso real</a:t>
            </a:r>
            <a:endParaRPr lang="en-US" sz="1400" dirty="0"/>
          </a:p>
        </p:txBody>
      </p:sp>
      <p:sp>
        <p:nvSpPr>
          <p:cNvPr id="63" name="Shape 61"/>
          <p:cNvSpPr/>
          <p:nvPr/>
        </p:nvSpPr>
        <p:spPr>
          <a:xfrm>
            <a:off x="612648" y="5765292"/>
            <a:ext cx="10966399" cy="589788"/>
          </a:xfrm>
          <a:prstGeom prst="roundRect">
            <a:avLst>
              <a:gd name="adj" fmla="val 2170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64" name="Shape 62"/>
          <p:cNvSpPr/>
          <p:nvPr/>
        </p:nvSpPr>
        <p:spPr>
          <a:xfrm>
            <a:off x="612648" y="5856732"/>
            <a:ext cx="64008" cy="406908"/>
          </a:xfrm>
          <a:prstGeom prst="rect">
            <a:avLst/>
          </a:prstGeom>
          <a:solidFill>
            <a:srgbClr val="0A6648"/>
          </a:solidFill>
          <a:ln w="12700">
            <a:solidFill>
              <a:srgbClr val="0A6648"/>
            </a:solidFill>
            <a:prstDash val="solid"/>
          </a:ln>
        </p:spPr>
      </p:sp>
      <p:sp>
        <p:nvSpPr>
          <p:cNvPr id="65" name="Shape 63"/>
          <p:cNvSpPr/>
          <p:nvPr/>
        </p:nvSpPr>
        <p:spPr>
          <a:xfrm>
            <a:off x="806958" y="5838444"/>
            <a:ext cx="443484" cy="443484"/>
          </a:xfrm>
          <a:prstGeom prst="ellipse">
            <a:avLst/>
          </a:prstGeom>
          <a:solidFill>
            <a:srgbClr val="E1F1EA"/>
          </a:solidFill>
          <a:ln w="12700">
            <a:solidFill>
              <a:srgbClr val="E1F1EA"/>
            </a:solidFill>
            <a:prstDash val="solid"/>
          </a:ln>
        </p:spPr>
      </p:sp>
      <p:sp>
        <p:nvSpPr>
          <p:cNvPr id="66" name="Icono flask-conical"/>
          <p:cNvSpPr/>
          <p:nvPr/>
        </p:nvSpPr>
        <p:spPr>
          <a:xfrm>
            <a:off x="913394" y="5944880"/>
            <a:ext cx="230612" cy="230612"/>
          </a:xfrm>
          <a:custGeom>
            <a:avLst/>
            <a:gdLst/>
            <a:ahLst/>
            <a:cxnLst/>
            <a:rect l="l" t="t" r="r" b="b"/>
            <a:pathLst>
              <a:path w="230612" h="230612">
                <a:moveTo>
                  <a:pt x="134523" y="19218"/>
                </a:moveTo>
                <a:lnTo>
                  <a:pt x="134523" y="76871"/>
                </a:lnTo>
                <a:cubicBezTo>
                  <a:pt x="134522" y="80094"/>
                  <a:pt x="135332" y="83266"/>
                  <a:pt x="136878" y="86095"/>
                </a:cubicBezTo>
                <a:lnTo>
                  <a:pt x="189822" y="182952"/>
                </a:lnTo>
                <a:cubicBezTo>
                  <a:pt x="193080" y="188907"/>
                  <a:pt x="192956" y="196139"/>
                  <a:pt x="189494" y="201977"/>
                </a:cubicBezTo>
                <a:cubicBezTo>
                  <a:pt x="186032" y="207816"/>
                  <a:pt x="179747" y="211396"/>
                  <a:pt x="172959" y="211394"/>
                </a:cubicBezTo>
                <a:lnTo>
                  <a:pt x="57653" y="211394"/>
                </a:lnTo>
                <a:cubicBezTo>
                  <a:pt x="50865" y="211396"/>
                  <a:pt x="44580" y="207816"/>
                  <a:pt x="41118" y="201977"/>
                </a:cubicBezTo>
                <a:cubicBezTo>
                  <a:pt x="37656" y="196139"/>
                  <a:pt x="37531" y="188907"/>
                  <a:pt x="40789" y="182952"/>
                </a:cubicBezTo>
                <a:lnTo>
                  <a:pt x="93734" y="86095"/>
                </a:lnTo>
                <a:cubicBezTo>
                  <a:pt x="95280" y="83266"/>
                  <a:pt x="96090" y="80094"/>
                  <a:pt x="96088" y="76871"/>
                </a:cubicBezTo>
                <a:lnTo>
                  <a:pt x="96088" y="19218"/>
                </a:lnTo>
                <a:moveTo>
                  <a:pt x="62006" y="144132"/>
                </a:moveTo>
                <a:lnTo>
                  <a:pt x="168606" y="144132"/>
                </a:lnTo>
                <a:moveTo>
                  <a:pt x="81675" y="19218"/>
                </a:moveTo>
                <a:lnTo>
                  <a:pt x="148937" y="19218"/>
                </a:lnTo>
              </a:path>
            </a:pathLst>
          </a:custGeom>
          <a:noFill/>
          <a:ln w="19218" cap="rnd">
            <a:solidFill>
              <a:srgbClr val="0A6648"/>
            </a:solidFill>
            <a:prstDash val="solid"/>
            <a:round/>
          </a:ln>
        </p:spPr>
      </p:sp>
      <p:sp>
        <p:nvSpPr>
          <p:cNvPr id="67" name="Text 65"/>
          <p:cNvSpPr/>
          <p:nvPr/>
        </p:nvSpPr>
        <p:spPr>
          <a:xfrm>
            <a:off x="1517904" y="5820156"/>
            <a:ext cx="2495041" cy="480060"/>
          </a:xfrm>
          <a:prstGeom prst="rect">
            <a:avLst/>
          </a:prstGeom>
          <a:noFill/>
          <a:ln/>
        </p:spPr>
        <p:txBody>
          <a:bodyPr wrap="square" lIns="0" tIns="0" rIns="0" bIns="0" rtlCol="0" anchor="ctr">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Pruebas y convenciones</a:t>
            </a:r>
            <a:endParaRPr lang="en-US" sz="1500" dirty="0"/>
          </a:p>
        </p:txBody>
      </p:sp>
      <p:sp>
        <p:nvSpPr>
          <p:cNvPr id="68" name="Shape 66"/>
          <p:cNvSpPr/>
          <p:nvPr/>
        </p:nvSpPr>
        <p:spPr>
          <a:xfrm>
            <a:off x="4140961" y="5893308"/>
            <a:ext cx="0" cy="333756"/>
          </a:xfrm>
          <a:prstGeom prst="line">
            <a:avLst/>
          </a:prstGeom>
          <a:noFill/>
          <a:ln w="9525">
            <a:solidFill>
              <a:srgbClr val="DFE6F0"/>
            </a:solidFill>
            <a:prstDash val="solid"/>
          </a:ln>
        </p:spPr>
      </p:sp>
      <p:sp>
        <p:nvSpPr>
          <p:cNvPr id="69" name="Text 67"/>
          <p:cNvSpPr/>
          <p:nvPr/>
        </p:nvSpPr>
        <p:spPr>
          <a:xfrm>
            <a:off x="4268977" y="5820156"/>
            <a:ext cx="3717740"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Una prueba por regla, ramas cortas y commits con formato</a:t>
            </a:r>
            <a:endParaRPr lang="en-US" sz="1400" dirty="0"/>
          </a:p>
        </p:txBody>
      </p:sp>
      <p:sp>
        <p:nvSpPr>
          <p:cNvPr id="70" name="Shape 68"/>
          <p:cNvSpPr/>
          <p:nvPr/>
        </p:nvSpPr>
        <p:spPr>
          <a:xfrm>
            <a:off x="8114733" y="5893308"/>
            <a:ext cx="0" cy="333756"/>
          </a:xfrm>
          <a:prstGeom prst="line">
            <a:avLst/>
          </a:prstGeom>
          <a:noFill/>
          <a:ln w="9525">
            <a:solidFill>
              <a:srgbClr val="DFE6F0"/>
            </a:solidFill>
            <a:prstDash val="solid"/>
          </a:ln>
        </p:spPr>
      </p:sp>
      <p:sp>
        <p:nvSpPr>
          <p:cNvPr id="71" name="Text 69"/>
          <p:cNvSpPr/>
          <p:nvPr/>
        </p:nvSpPr>
        <p:spPr>
          <a:xfrm>
            <a:off x="8242749" y="5820156"/>
            <a:ext cx="3208282"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Cambiar sin miedo, con un historial legible</a:t>
            </a:r>
            <a:endParaRPr lang="en-US" sz="1400" dirty="0"/>
          </a:p>
        </p:txBody>
      </p:sp>
      <p:sp>
        <p:nvSpPr>
          <p:cNvPr id="72" name="Text 7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FUNDAMENTOS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sistema de un vistazo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Cada capa tiene una sola responsabilidad.</a:t>
            </a:r>
            <a:endParaRPr lang="en-US" sz="1700" dirty="0"/>
          </a:p>
        </p:txBody>
      </p:sp>
      <p:sp>
        <p:nvSpPr>
          <p:cNvPr id="14" name="Shape 12"/>
          <p:cNvSpPr/>
          <p:nvPr/>
        </p:nvSpPr>
        <p:spPr>
          <a:xfrm>
            <a:off x="612648" y="1719072"/>
            <a:ext cx="10966399" cy="1008126"/>
          </a:xfrm>
          <a:prstGeom prst="roundRect">
            <a:avLst>
              <a:gd name="adj" fmla="val 10884"/>
            </a:avLst>
          </a:prstGeom>
          <a:solidFill>
            <a:srgbClr val="F5F2FE"/>
          </a:solidFill>
          <a:ln w="12700">
            <a:solidFill>
              <a:srgbClr val="CEC5ED"/>
            </a:solidFill>
            <a:prstDash val="solid"/>
          </a:ln>
        </p:spPr>
      </p:sp>
      <p:sp>
        <p:nvSpPr>
          <p:cNvPr id="15" name="Text 13"/>
          <p:cNvSpPr/>
          <p:nvPr/>
        </p:nvSpPr>
        <p:spPr>
          <a:xfrm>
            <a:off x="612648" y="1719072"/>
            <a:ext cx="1600200" cy="1008126"/>
          </a:xfrm>
          <a:prstGeom prst="roundRect">
            <a:avLst>
              <a:gd name="adj" fmla="val 10884"/>
            </a:avLst>
          </a:prstGeom>
          <a:solidFill>
            <a:srgbClr val="5B3FC4"/>
          </a:solidFill>
          <a:ln>
            <a:solidFill>
              <a:srgbClr val="5B3FC4"/>
            </a:solidFill>
          </a:ln>
        </p:spPr>
        <p:txBody>
          <a:bodyPr wrap="square" lIns="0" tIns="76200" rIns="76200" bIns="0" rtlCol="0" anchor="ctr"/>
          <a:lstStyle/>
          <a:p>
            <a:pPr algn="ctr" indent="0" marL="0">
              <a:buNone/>
            </a:pPr>
            <a:r>
              <a:rPr lang="en-US" sz="1186" b="1" spc="100" kern="0" dirty="0">
                <a:solidFill>
                  <a:srgbClr val="FFFFFF"/>
                </a:solidFill>
                <a:latin typeface="Segoe UI" pitchFamily="34" charset="0"/>
                <a:ea typeface="Segoe UI" pitchFamily="34" charset="-122"/>
                <a:cs typeface="Segoe UI" pitchFamily="34" charset="-120"/>
              </a:rPr>
              <a:t>EXPERIENCIA</a:t>
            </a:r>
            <a:endParaRPr lang="en-US" sz="1186" dirty="0"/>
          </a:p>
        </p:txBody>
      </p:sp>
      <p:sp>
        <p:nvSpPr>
          <p:cNvPr id="16" name="Shape 14"/>
          <p:cNvSpPr/>
          <p:nvPr/>
        </p:nvSpPr>
        <p:spPr>
          <a:xfrm>
            <a:off x="2395728" y="1810512"/>
            <a:ext cx="4440784" cy="825246"/>
          </a:xfrm>
          <a:prstGeom prst="roundRect">
            <a:avLst>
              <a:gd name="adj" fmla="val 1551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17" name="Shape 15"/>
          <p:cNvSpPr/>
          <p:nvPr/>
        </p:nvSpPr>
        <p:spPr>
          <a:xfrm>
            <a:off x="2542032" y="1939671"/>
            <a:ext cx="566928" cy="566928"/>
          </a:xfrm>
          <a:prstGeom prst="ellipse">
            <a:avLst/>
          </a:prstGeom>
          <a:solidFill>
            <a:srgbClr val="F1EEFD"/>
          </a:solidFill>
          <a:ln w="12700">
            <a:solidFill>
              <a:srgbClr val="F1EEFD"/>
            </a:solidFill>
            <a:prstDash val="solid"/>
          </a:ln>
        </p:spPr>
      </p:sp>
      <p:sp>
        <p:nvSpPr>
          <p:cNvPr id="18" name="Icono user"/>
          <p:cNvSpPr/>
          <p:nvPr/>
        </p:nvSpPr>
        <p:spPr>
          <a:xfrm>
            <a:off x="2678095" y="2075734"/>
            <a:ext cx="294803" cy="294803"/>
          </a:xfrm>
          <a:custGeom>
            <a:avLst/>
            <a:gdLst/>
            <a:ahLst/>
            <a:cxnLst/>
            <a:rect l="l" t="t" r="r" b="b"/>
            <a:pathLst>
              <a:path w="294803" h="294803">
                <a:moveTo>
                  <a:pt x="233385" y="257952"/>
                </a:moveTo>
                <a:lnTo>
                  <a:pt x="233385" y="233385"/>
                </a:lnTo>
                <a:cubicBezTo>
                  <a:pt x="233385" y="206250"/>
                  <a:pt x="211387" y="184252"/>
                  <a:pt x="184252" y="184252"/>
                </a:cubicBezTo>
                <a:lnTo>
                  <a:pt x="110551" y="184252"/>
                </a:lnTo>
                <a:cubicBezTo>
                  <a:pt x="83415" y="184252"/>
                  <a:pt x="61417" y="206250"/>
                  <a:pt x="61417" y="233385"/>
                </a:cubicBezTo>
                <a:lnTo>
                  <a:pt x="61417" y="257952"/>
                </a:lnTo>
                <a:moveTo>
                  <a:pt x="196535" y="85984"/>
                </a:moveTo>
                <a:cubicBezTo>
                  <a:pt x="196535" y="113120"/>
                  <a:pt x="174537" y="135118"/>
                  <a:pt x="147401" y="135118"/>
                </a:cubicBezTo>
                <a:cubicBezTo>
                  <a:pt x="120265" y="135118"/>
                  <a:pt x="98268" y="113120"/>
                  <a:pt x="98268" y="85984"/>
                </a:cubicBezTo>
                <a:cubicBezTo>
                  <a:pt x="98268" y="58848"/>
                  <a:pt x="120265" y="36850"/>
                  <a:pt x="147401" y="36850"/>
                </a:cubicBezTo>
                <a:cubicBezTo>
                  <a:pt x="174537" y="36850"/>
                  <a:pt x="196535" y="58848"/>
                  <a:pt x="196535" y="85984"/>
                </a:cubicBezTo>
                <a:close/>
              </a:path>
            </a:pathLst>
          </a:custGeom>
          <a:noFill/>
          <a:ln w="24567" cap="rnd">
            <a:solidFill>
              <a:srgbClr val="5B3FC4"/>
            </a:solidFill>
            <a:prstDash val="solid"/>
            <a:round/>
          </a:ln>
        </p:spPr>
      </p:sp>
      <p:sp>
        <p:nvSpPr>
          <p:cNvPr id="19" name="Text 17"/>
          <p:cNvSpPr/>
          <p:nvPr/>
        </p:nvSpPr>
        <p:spPr>
          <a:xfrm>
            <a:off x="3255264" y="1847088"/>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Persona</a:t>
            </a:r>
            <a:endParaRPr lang="en-US" sz="1500" dirty="0"/>
          </a:p>
        </p:txBody>
      </p:sp>
      <p:sp>
        <p:nvSpPr>
          <p:cNvPr id="20" name="Text 18"/>
          <p:cNvSpPr/>
          <p:nvPr/>
        </p:nvSpPr>
        <p:spPr>
          <a:xfrm>
            <a:off x="3255264" y="2259711"/>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Usa el navegador</a:t>
            </a:r>
            <a:endParaRPr lang="en-US" sz="1200" dirty="0"/>
          </a:p>
        </p:txBody>
      </p:sp>
      <p:sp>
        <p:nvSpPr>
          <p:cNvPr id="21" name="Shape 19"/>
          <p:cNvSpPr/>
          <p:nvPr/>
        </p:nvSpPr>
        <p:spPr>
          <a:xfrm>
            <a:off x="7001104" y="1810512"/>
            <a:ext cx="4440784" cy="825246"/>
          </a:xfrm>
          <a:prstGeom prst="roundRect">
            <a:avLst>
              <a:gd name="adj" fmla="val 1551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22" name="Shape 20"/>
          <p:cNvSpPr/>
          <p:nvPr/>
        </p:nvSpPr>
        <p:spPr>
          <a:xfrm>
            <a:off x="7147408" y="1939671"/>
            <a:ext cx="566928" cy="566928"/>
          </a:xfrm>
          <a:prstGeom prst="ellipse">
            <a:avLst/>
          </a:prstGeom>
          <a:solidFill>
            <a:srgbClr val="F1EEFD"/>
          </a:solidFill>
          <a:ln w="12700">
            <a:solidFill>
              <a:srgbClr val="F1EEFD"/>
            </a:solidFill>
            <a:prstDash val="solid"/>
          </a:ln>
        </p:spPr>
      </p:sp>
      <p:sp>
        <p:nvSpPr>
          <p:cNvPr id="23" name="Icono monitor"/>
          <p:cNvSpPr/>
          <p:nvPr/>
        </p:nvSpPr>
        <p:spPr>
          <a:xfrm>
            <a:off x="7283470" y="2075734"/>
            <a:ext cx="294803" cy="294803"/>
          </a:xfrm>
          <a:custGeom>
            <a:avLst/>
            <a:gdLst/>
            <a:ahLst/>
            <a:cxnLst/>
            <a:rect l="l" t="t" r="r" b="b"/>
            <a:pathLst>
              <a:path w="294803" h="294803">
                <a:moveTo>
                  <a:pt x="49134" y="36850"/>
                </a:moveTo>
                <a:lnTo>
                  <a:pt x="245669" y="36850"/>
                </a:lnTo>
                <a:cubicBezTo>
                  <a:pt x="259237" y="36850"/>
                  <a:pt x="270236" y="47849"/>
                  <a:pt x="270236" y="61417"/>
                </a:cubicBezTo>
                <a:lnTo>
                  <a:pt x="270236" y="184252"/>
                </a:lnTo>
                <a:cubicBezTo>
                  <a:pt x="270236" y="197820"/>
                  <a:pt x="259237" y="208818"/>
                  <a:pt x="245669" y="208818"/>
                </a:cubicBezTo>
                <a:lnTo>
                  <a:pt x="49134" y="208818"/>
                </a:lnTo>
                <a:cubicBezTo>
                  <a:pt x="35566" y="208818"/>
                  <a:pt x="24567" y="197820"/>
                  <a:pt x="24567" y="184252"/>
                </a:cubicBezTo>
                <a:lnTo>
                  <a:pt x="24567" y="61417"/>
                </a:lnTo>
                <a:cubicBezTo>
                  <a:pt x="24567" y="47849"/>
                  <a:pt x="35566" y="36850"/>
                  <a:pt x="49134" y="36850"/>
                </a:cubicBezTo>
                <a:close/>
                <a:moveTo>
                  <a:pt x="98268" y="257952"/>
                </a:moveTo>
                <a:lnTo>
                  <a:pt x="196535" y="257952"/>
                </a:lnTo>
                <a:moveTo>
                  <a:pt x="147401" y="208818"/>
                </a:moveTo>
                <a:lnTo>
                  <a:pt x="147401" y="257952"/>
                </a:lnTo>
              </a:path>
            </a:pathLst>
          </a:custGeom>
          <a:noFill/>
          <a:ln w="24567" cap="rnd">
            <a:solidFill>
              <a:srgbClr val="5B3FC4"/>
            </a:solidFill>
            <a:prstDash val="solid"/>
            <a:round/>
          </a:ln>
        </p:spPr>
      </p:sp>
      <p:sp>
        <p:nvSpPr>
          <p:cNvPr id="24" name="Text 22"/>
          <p:cNvSpPr/>
          <p:nvPr/>
        </p:nvSpPr>
        <p:spPr>
          <a:xfrm>
            <a:off x="7860640" y="1847088"/>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arka-lite-ui</a:t>
            </a:r>
            <a:endParaRPr lang="en-US" sz="1500" dirty="0"/>
          </a:p>
        </p:txBody>
      </p:sp>
      <p:sp>
        <p:nvSpPr>
          <p:cNvPr id="25" name="Text 23"/>
          <p:cNvSpPr/>
          <p:nvPr/>
        </p:nvSpPr>
        <p:spPr>
          <a:xfrm>
            <a:off x="7860640" y="2259711"/>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React + nginx · proxy /api</a:t>
            </a:r>
            <a:endParaRPr lang="en-US" sz="1200" dirty="0"/>
          </a:p>
        </p:txBody>
      </p:sp>
      <p:sp>
        <p:nvSpPr>
          <p:cNvPr id="26" name="Shape 24"/>
          <p:cNvSpPr/>
          <p:nvPr/>
        </p:nvSpPr>
        <p:spPr>
          <a:xfrm>
            <a:off x="1412748" y="2708910"/>
            <a:ext cx="0" cy="237744"/>
          </a:xfrm>
          <a:prstGeom prst="line">
            <a:avLst/>
          </a:prstGeom>
          <a:noFill/>
          <a:ln w="31750">
            <a:solidFill>
              <a:srgbClr val="0B2350"/>
            </a:solidFill>
            <a:prstDash val="solid"/>
            <a:tailEnd type="triangle"/>
          </a:ln>
        </p:spPr>
      </p:sp>
      <p:sp>
        <p:nvSpPr>
          <p:cNvPr id="27" name="Shape 25"/>
          <p:cNvSpPr/>
          <p:nvPr/>
        </p:nvSpPr>
        <p:spPr>
          <a:xfrm>
            <a:off x="612648" y="2928366"/>
            <a:ext cx="10966399" cy="1008126"/>
          </a:xfrm>
          <a:prstGeom prst="roundRect">
            <a:avLst>
              <a:gd name="adj" fmla="val 10884"/>
            </a:avLst>
          </a:prstGeom>
          <a:solidFill>
            <a:srgbClr val="EEF2FA"/>
          </a:solidFill>
          <a:ln w="12700">
            <a:solidFill>
              <a:srgbClr val="B6BDCB"/>
            </a:solidFill>
            <a:prstDash val="solid"/>
          </a:ln>
        </p:spPr>
      </p:sp>
      <p:sp>
        <p:nvSpPr>
          <p:cNvPr id="28" name="Text 26"/>
          <p:cNvSpPr/>
          <p:nvPr/>
        </p:nvSpPr>
        <p:spPr>
          <a:xfrm>
            <a:off x="612648" y="2928366"/>
            <a:ext cx="1600200" cy="1008126"/>
          </a:xfrm>
          <a:prstGeom prst="roundRect">
            <a:avLst>
              <a:gd name="adj" fmla="val 10884"/>
            </a:avLst>
          </a:prstGeom>
          <a:solidFill>
            <a:srgbClr val="0B2350"/>
          </a:solidFill>
          <a:ln>
            <a:solidFill>
              <a:srgbClr val="0B2350"/>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SERVICIOS</a:t>
            </a:r>
            <a:endParaRPr lang="en-US" sz="1300" dirty="0"/>
          </a:p>
        </p:txBody>
      </p:sp>
      <p:sp>
        <p:nvSpPr>
          <p:cNvPr id="29" name="Shape 27"/>
          <p:cNvSpPr/>
          <p:nvPr/>
        </p:nvSpPr>
        <p:spPr>
          <a:xfrm>
            <a:off x="2395728" y="3019806"/>
            <a:ext cx="2905658" cy="825246"/>
          </a:xfrm>
          <a:prstGeom prst="roundRect">
            <a:avLst>
              <a:gd name="adj" fmla="val 15512"/>
            </a:avLst>
          </a:prstGeom>
          <a:solidFill>
            <a:srgbClr val="FFFFFF"/>
          </a:solidFill>
          <a:ln w="12700">
            <a:solidFill>
              <a:srgbClr val="9DA7B9"/>
            </a:solidFill>
            <a:prstDash val="solid"/>
          </a:ln>
          <a:effectLst>
            <a:outerShdw sx="100000" sy="100000" kx="0" ky="0" algn="bl" rotWithShape="0" blurRad="76200" dist="19050" dir="5400000">
              <a:srgbClr val="0B1F3A">
                <a:alpha val="14000"/>
              </a:srgbClr>
            </a:outerShdw>
          </a:effectLst>
        </p:spPr>
      </p:sp>
      <p:sp>
        <p:nvSpPr>
          <p:cNvPr id="30" name="Shape 28"/>
          <p:cNvSpPr/>
          <p:nvPr/>
        </p:nvSpPr>
        <p:spPr>
          <a:xfrm>
            <a:off x="2542032" y="3148965"/>
            <a:ext cx="566928" cy="566928"/>
          </a:xfrm>
          <a:prstGeom prst="ellipse">
            <a:avLst/>
          </a:prstGeom>
          <a:solidFill>
            <a:srgbClr val="E8EEF8"/>
          </a:solidFill>
          <a:ln w="12700">
            <a:solidFill>
              <a:srgbClr val="E8EEF8"/>
            </a:solidFill>
            <a:prstDash val="solid"/>
          </a:ln>
        </p:spPr>
      </p:sp>
      <p:sp>
        <p:nvSpPr>
          <p:cNvPr id="31" name="Icono clipboard-list"/>
          <p:cNvSpPr/>
          <p:nvPr/>
        </p:nvSpPr>
        <p:spPr>
          <a:xfrm>
            <a:off x="2678095" y="3285028"/>
            <a:ext cx="294803" cy="294803"/>
          </a:xfrm>
          <a:custGeom>
            <a:avLst/>
            <a:gdLst/>
            <a:ahLst/>
            <a:cxnLst/>
            <a:rect l="l" t="t" r="r" b="b"/>
            <a:pathLst>
              <a:path w="294803" h="294803">
                <a:moveTo>
                  <a:pt x="110551" y="24567"/>
                </a:moveTo>
                <a:lnTo>
                  <a:pt x="184252" y="24567"/>
                </a:lnTo>
                <a:cubicBezTo>
                  <a:pt x="191036" y="24567"/>
                  <a:pt x="196535" y="30066"/>
                  <a:pt x="196535" y="36850"/>
                </a:cubicBezTo>
                <a:lnTo>
                  <a:pt x="196535" y="61417"/>
                </a:lnTo>
                <a:cubicBezTo>
                  <a:pt x="196535" y="68201"/>
                  <a:pt x="191036" y="73701"/>
                  <a:pt x="184252" y="73701"/>
                </a:cubicBezTo>
                <a:lnTo>
                  <a:pt x="110551" y="73701"/>
                </a:lnTo>
                <a:cubicBezTo>
                  <a:pt x="103767" y="73701"/>
                  <a:pt x="98268" y="68201"/>
                  <a:pt x="98268" y="61417"/>
                </a:cubicBezTo>
                <a:lnTo>
                  <a:pt x="98268" y="36850"/>
                </a:lnTo>
                <a:cubicBezTo>
                  <a:pt x="98268" y="30066"/>
                  <a:pt x="103767" y="24567"/>
                  <a:pt x="110551" y="24567"/>
                </a:cubicBezTo>
                <a:close/>
                <a:moveTo>
                  <a:pt x="196535" y="49134"/>
                </a:moveTo>
                <a:lnTo>
                  <a:pt x="221102" y="49134"/>
                </a:lnTo>
                <a:cubicBezTo>
                  <a:pt x="234670" y="49134"/>
                  <a:pt x="245669" y="60133"/>
                  <a:pt x="245669" y="73701"/>
                </a:cubicBezTo>
                <a:lnTo>
                  <a:pt x="245669" y="245669"/>
                </a:lnTo>
                <a:cubicBezTo>
                  <a:pt x="245669" y="259237"/>
                  <a:pt x="234670" y="270236"/>
                  <a:pt x="221102" y="270236"/>
                </a:cubicBezTo>
                <a:lnTo>
                  <a:pt x="73701" y="270236"/>
                </a:lnTo>
                <a:cubicBezTo>
                  <a:pt x="60133" y="270236"/>
                  <a:pt x="49134" y="259237"/>
                  <a:pt x="49134" y="245669"/>
                </a:cubicBezTo>
                <a:lnTo>
                  <a:pt x="49134" y="73701"/>
                </a:lnTo>
                <a:cubicBezTo>
                  <a:pt x="49134" y="60133"/>
                  <a:pt x="60133" y="49134"/>
                  <a:pt x="73701" y="49134"/>
                </a:cubicBezTo>
                <a:lnTo>
                  <a:pt x="98268" y="49134"/>
                </a:lnTo>
                <a:moveTo>
                  <a:pt x="147401" y="135118"/>
                </a:moveTo>
                <a:lnTo>
                  <a:pt x="196535" y="135118"/>
                </a:lnTo>
                <a:moveTo>
                  <a:pt x="147401" y="196535"/>
                </a:moveTo>
                <a:lnTo>
                  <a:pt x="196535" y="196535"/>
                </a:lnTo>
                <a:moveTo>
                  <a:pt x="98268" y="135118"/>
                </a:moveTo>
                <a:lnTo>
                  <a:pt x="98390" y="135118"/>
                </a:lnTo>
                <a:moveTo>
                  <a:pt x="98268" y="196535"/>
                </a:moveTo>
                <a:lnTo>
                  <a:pt x="98390" y="196535"/>
                </a:lnTo>
              </a:path>
            </a:pathLst>
          </a:custGeom>
          <a:noFill/>
          <a:ln w="24567" cap="rnd">
            <a:solidFill>
              <a:srgbClr val="0B2350"/>
            </a:solidFill>
            <a:prstDash val="solid"/>
            <a:round/>
          </a:ln>
        </p:spPr>
      </p:sp>
      <p:sp>
        <p:nvSpPr>
          <p:cNvPr id="32" name="Text 30"/>
          <p:cNvSpPr/>
          <p:nvPr/>
        </p:nvSpPr>
        <p:spPr>
          <a:xfrm>
            <a:off x="3255264" y="3056382"/>
            <a:ext cx="1954682" cy="394335"/>
          </a:xfrm>
          <a:prstGeom prst="rect">
            <a:avLst/>
          </a:prstGeom>
          <a:noFill/>
          <a:ln/>
        </p:spPr>
        <p:txBody>
          <a:bodyPr wrap="square" lIns="0" tIns="0" rIns="0" bIns="0" rtlCol="0" anchor="b">
            <a:normAutofit/>
          </a:bodyPr>
          <a:lstStyle/>
          <a:p>
            <a:pPr algn="l" indent="0" marL="0">
              <a:buNone/>
            </a:pPr>
            <a:r>
              <a:rPr lang="en-US" sz="1300" b="1" dirty="0">
                <a:solidFill>
                  <a:srgbClr val="0B2350"/>
                </a:solidFill>
                <a:latin typeface="Segoe UI Semibold" pitchFamily="34" charset="0"/>
                <a:ea typeface="Segoe UI Semibold" pitchFamily="34" charset="-122"/>
                <a:cs typeface="Segoe UI Semibold" pitchFamily="34" charset="-120"/>
              </a:rPr>
              <a:t>servicio-solicitudes</a:t>
            </a:r>
            <a:endParaRPr lang="en-US" sz="1300" dirty="0"/>
          </a:p>
        </p:txBody>
      </p:sp>
      <p:sp>
        <p:nvSpPr>
          <p:cNvPr id="33" name="Text 31"/>
          <p:cNvSpPr/>
          <p:nvPr/>
        </p:nvSpPr>
        <p:spPr>
          <a:xfrm>
            <a:off x="3255264" y="3469005"/>
            <a:ext cx="1954682"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El trámite y sus estados</a:t>
            </a:r>
            <a:endParaRPr lang="en-US" sz="1200" dirty="0"/>
          </a:p>
        </p:txBody>
      </p:sp>
      <p:sp>
        <p:nvSpPr>
          <p:cNvPr id="34" name="Shape 32"/>
          <p:cNvSpPr/>
          <p:nvPr/>
        </p:nvSpPr>
        <p:spPr>
          <a:xfrm>
            <a:off x="5465978" y="3019806"/>
            <a:ext cx="2905658" cy="825246"/>
          </a:xfrm>
          <a:prstGeom prst="roundRect">
            <a:avLst>
              <a:gd name="adj" fmla="val 15512"/>
            </a:avLst>
          </a:prstGeom>
          <a:solidFill>
            <a:srgbClr val="FFFFFF"/>
          </a:solidFill>
          <a:ln w="12700">
            <a:solidFill>
              <a:srgbClr val="9DC5D0"/>
            </a:solidFill>
            <a:prstDash val="solid"/>
          </a:ln>
          <a:effectLst>
            <a:outerShdw sx="100000" sy="100000" kx="0" ky="0" algn="bl" rotWithShape="0" blurRad="76200" dist="19050" dir="5400000">
              <a:srgbClr val="0B1F3A">
                <a:alpha val="14000"/>
              </a:srgbClr>
            </a:outerShdw>
          </a:effectLst>
        </p:spPr>
      </p:sp>
      <p:sp>
        <p:nvSpPr>
          <p:cNvPr id="35" name="Shape 33"/>
          <p:cNvSpPr/>
          <p:nvPr/>
        </p:nvSpPr>
        <p:spPr>
          <a:xfrm>
            <a:off x="5612282" y="3148965"/>
            <a:ext cx="566928" cy="566928"/>
          </a:xfrm>
          <a:prstGeom prst="ellipse">
            <a:avLst/>
          </a:prstGeom>
          <a:solidFill>
            <a:srgbClr val="E3F4FA"/>
          </a:solidFill>
          <a:ln w="12700">
            <a:solidFill>
              <a:srgbClr val="E3F4FA"/>
            </a:solidFill>
            <a:prstDash val="solid"/>
          </a:ln>
        </p:spPr>
      </p:sp>
      <p:sp>
        <p:nvSpPr>
          <p:cNvPr id="36" name="Icono send"/>
          <p:cNvSpPr/>
          <p:nvPr/>
        </p:nvSpPr>
        <p:spPr>
          <a:xfrm>
            <a:off x="5748345" y="3285028"/>
            <a:ext cx="294803" cy="294803"/>
          </a:xfrm>
          <a:custGeom>
            <a:avLst/>
            <a:gdLst/>
            <a:ahLst/>
            <a:cxnLst/>
            <a:rect l="l" t="t" r="r" b="b"/>
            <a:pathLst>
              <a:path w="294803" h="294803">
                <a:moveTo>
                  <a:pt x="178552" y="266379"/>
                </a:moveTo>
                <a:cubicBezTo>
                  <a:pt x="179508" y="268761"/>
                  <a:pt x="181844" y="270297"/>
                  <a:pt x="184409" y="270231"/>
                </a:cubicBezTo>
                <a:cubicBezTo>
                  <a:pt x="186975" y="270166"/>
                  <a:pt x="189229" y="268512"/>
                  <a:pt x="190062" y="266084"/>
                </a:cubicBezTo>
                <a:lnTo>
                  <a:pt x="269904" y="32699"/>
                </a:lnTo>
                <a:cubicBezTo>
                  <a:pt x="270707" y="30477"/>
                  <a:pt x="270152" y="27991"/>
                  <a:pt x="268482" y="26321"/>
                </a:cubicBezTo>
                <a:cubicBezTo>
                  <a:pt x="266811" y="24650"/>
                  <a:pt x="264326" y="24096"/>
                  <a:pt x="262104" y="24899"/>
                </a:cubicBezTo>
                <a:lnTo>
                  <a:pt x="28719" y="104741"/>
                </a:lnTo>
                <a:cubicBezTo>
                  <a:pt x="26291" y="105573"/>
                  <a:pt x="24637" y="107828"/>
                  <a:pt x="24571" y="110393"/>
                </a:cubicBezTo>
                <a:cubicBezTo>
                  <a:pt x="24506" y="112959"/>
                  <a:pt x="26042" y="115295"/>
                  <a:pt x="28424" y="116250"/>
                </a:cubicBezTo>
                <a:lnTo>
                  <a:pt x="125832" y="155312"/>
                </a:lnTo>
                <a:cubicBezTo>
                  <a:pt x="132054" y="157803"/>
                  <a:pt x="136988" y="162729"/>
                  <a:pt x="139491" y="168946"/>
                </a:cubicBezTo>
                <a:close/>
                <a:moveTo>
                  <a:pt x="268442" y="26373"/>
                </a:moveTo>
                <a:lnTo>
                  <a:pt x="134061" y="160741"/>
                </a:lnTo>
              </a:path>
            </a:pathLst>
          </a:custGeom>
          <a:noFill/>
          <a:ln w="24567" cap="rnd">
            <a:solidFill>
              <a:srgbClr val="0B6E8A"/>
            </a:solidFill>
            <a:prstDash val="solid"/>
            <a:round/>
          </a:ln>
        </p:spPr>
      </p:sp>
      <p:sp>
        <p:nvSpPr>
          <p:cNvPr id="37" name="Text 35"/>
          <p:cNvSpPr/>
          <p:nvPr/>
        </p:nvSpPr>
        <p:spPr>
          <a:xfrm>
            <a:off x="6325514" y="3056382"/>
            <a:ext cx="1954682" cy="394335"/>
          </a:xfrm>
          <a:prstGeom prst="rect">
            <a:avLst/>
          </a:prstGeom>
          <a:noFill/>
          <a:ln/>
        </p:spPr>
        <p:txBody>
          <a:bodyPr wrap="square" lIns="0" tIns="0" rIns="0" bIns="0" rtlCol="0" anchor="b">
            <a:normAutofit/>
          </a:bodyPr>
          <a:lstStyle/>
          <a:p>
            <a:pPr algn="l" indent="0" marL="0">
              <a:buNone/>
            </a:pPr>
            <a:r>
              <a:rPr lang="en-US" sz="1250" b="1" dirty="0">
                <a:solidFill>
                  <a:srgbClr val="0B6E8A"/>
                </a:solidFill>
                <a:latin typeface="Segoe UI Semibold" pitchFamily="34" charset="0"/>
                <a:ea typeface="Segoe UI Semibold" pitchFamily="34" charset="-122"/>
                <a:cs typeface="Segoe UI Semibold" pitchFamily="34" charset="-120"/>
              </a:rPr>
              <a:t>Evento SolicitudEnviada</a:t>
            </a:r>
            <a:endParaRPr lang="en-US" sz="1250" dirty="0"/>
          </a:p>
        </p:txBody>
      </p:sp>
      <p:sp>
        <p:nvSpPr>
          <p:cNvPr id="38" name="Text 36"/>
          <p:cNvSpPr/>
          <p:nvPr/>
        </p:nvSpPr>
        <p:spPr>
          <a:xfrm>
            <a:off x="6325514" y="3469005"/>
            <a:ext cx="1954682" cy="321183"/>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Por HTTP, con su eventoId</a:t>
            </a:r>
            <a:endParaRPr lang="en-US" sz="1150" dirty="0"/>
          </a:p>
        </p:txBody>
      </p:sp>
      <p:sp>
        <p:nvSpPr>
          <p:cNvPr id="39" name="Shape 37"/>
          <p:cNvSpPr/>
          <p:nvPr/>
        </p:nvSpPr>
        <p:spPr>
          <a:xfrm>
            <a:off x="8536229" y="3019806"/>
            <a:ext cx="2905658" cy="825246"/>
          </a:xfrm>
          <a:prstGeom prst="roundRect">
            <a:avLst>
              <a:gd name="adj" fmla="val 15512"/>
            </a:avLst>
          </a:prstGeom>
          <a:solidFill>
            <a:srgbClr val="FFFFFF"/>
          </a:solidFill>
          <a:ln w="12700">
            <a:solidFill>
              <a:srgbClr val="9DC5D0"/>
            </a:solidFill>
            <a:prstDash val="solid"/>
          </a:ln>
          <a:effectLst>
            <a:outerShdw sx="100000" sy="100000" kx="0" ky="0" algn="bl" rotWithShape="0" blurRad="76200" dist="19050" dir="5400000">
              <a:srgbClr val="0B1F3A">
                <a:alpha val="14000"/>
              </a:srgbClr>
            </a:outerShdw>
          </a:effectLst>
        </p:spPr>
      </p:sp>
      <p:sp>
        <p:nvSpPr>
          <p:cNvPr id="40" name="Shape 38"/>
          <p:cNvSpPr/>
          <p:nvPr/>
        </p:nvSpPr>
        <p:spPr>
          <a:xfrm>
            <a:off x="8682533" y="3148965"/>
            <a:ext cx="566928" cy="566928"/>
          </a:xfrm>
          <a:prstGeom prst="ellipse">
            <a:avLst/>
          </a:prstGeom>
          <a:solidFill>
            <a:srgbClr val="E3F4FA"/>
          </a:solidFill>
          <a:ln w="12700">
            <a:solidFill>
              <a:srgbClr val="E3F4FA"/>
            </a:solidFill>
            <a:prstDash val="solid"/>
          </a:ln>
        </p:spPr>
      </p:sp>
      <p:sp>
        <p:nvSpPr>
          <p:cNvPr id="41" name="Icono bell"/>
          <p:cNvSpPr/>
          <p:nvPr/>
        </p:nvSpPr>
        <p:spPr>
          <a:xfrm>
            <a:off x="8818596" y="3285028"/>
            <a:ext cx="294803" cy="294803"/>
          </a:xfrm>
          <a:custGeom>
            <a:avLst/>
            <a:gdLst/>
            <a:ahLst/>
            <a:cxnLst/>
            <a:rect l="l" t="t" r="r" b="b"/>
            <a:pathLst>
              <a:path w="294803" h="294803">
                <a:moveTo>
                  <a:pt x="126126" y="257952"/>
                </a:moveTo>
                <a:cubicBezTo>
                  <a:pt x="130515" y="265553"/>
                  <a:pt x="138625" y="270235"/>
                  <a:pt x="147401" y="270235"/>
                </a:cubicBezTo>
                <a:cubicBezTo>
                  <a:pt x="156178" y="270235"/>
                  <a:pt x="164288" y="265553"/>
                  <a:pt x="168676" y="257952"/>
                </a:cubicBezTo>
                <a:moveTo>
                  <a:pt x="40069" y="188256"/>
                </a:moveTo>
                <a:cubicBezTo>
                  <a:pt x="36790" y="191849"/>
                  <a:pt x="35941" y="197039"/>
                  <a:pt x="37903" y="201490"/>
                </a:cubicBezTo>
                <a:cubicBezTo>
                  <a:pt x="39865" y="205941"/>
                  <a:pt x="44269" y="208815"/>
                  <a:pt x="49134" y="208818"/>
                </a:cubicBezTo>
                <a:lnTo>
                  <a:pt x="245669" y="208818"/>
                </a:lnTo>
                <a:cubicBezTo>
                  <a:pt x="250533" y="208820"/>
                  <a:pt x="254939" y="205952"/>
                  <a:pt x="256907" y="201504"/>
                </a:cubicBezTo>
                <a:cubicBezTo>
                  <a:pt x="258874" y="197056"/>
                  <a:pt x="258032" y="191866"/>
                  <a:pt x="254759" y="188268"/>
                </a:cubicBezTo>
                <a:cubicBezTo>
                  <a:pt x="238422" y="171428"/>
                  <a:pt x="221102" y="153531"/>
                  <a:pt x="221102" y="98268"/>
                </a:cubicBezTo>
                <a:cubicBezTo>
                  <a:pt x="221102" y="57564"/>
                  <a:pt x="188105" y="24567"/>
                  <a:pt x="147401" y="24567"/>
                </a:cubicBezTo>
                <a:cubicBezTo>
                  <a:pt x="106698" y="24567"/>
                  <a:pt x="73701" y="57564"/>
                  <a:pt x="73701" y="98268"/>
                </a:cubicBezTo>
                <a:cubicBezTo>
                  <a:pt x="73701" y="153531"/>
                  <a:pt x="56369" y="171428"/>
                  <a:pt x="40069" y="188256"/>
                </a:cubicBezTo>
              </a:path>
            </a:pathLst>
          </a:custGeom>
          <a:noFill/>
          <a:ln w="24567" cap="rnd">
            <a:solidFill>
              <a:srgbClr val="0B6E8A"/>
            </a:solidFill>
            <a:prstDash val="solid"/>
            <a:round/>
          </a:ln>
        </p:spPr>
      </p:sp>
      <p:sp>
        <p:nvSpPr>
          <p:cNvPr id="42" name="Text 40"/>
          <p:cNvSpPr/>
          <p:nvPr/>
        </p:nvSpPr>
        <p:spPr>
          <a:xfrm>
            <a:off x="9395765" y="3056382"/>
            <a:ext cx="1954682" cy="394335"/>
          </a:xfrm>
          <a:prstGeom prst="rect">
            <a:avLst/>
          </a:prstGeom>
          <a:noFill/>
          <a:ln/>
        </p:spPr>
        <p:txBody>
          <a:bodyPr wrap="square" lIns="0" tIns="0" rIns="0" bIns="0" rtlCol="0" anchor="b">
            <a:normAutofit/>
          </a:bodyPr>
          <a:lstStyle/>
          <a:p>
            <a:pPr algn="l" indent="0" marL="0">
              <a:buNone/>
            </a:pPr>
            <a:r>
              <a:rPr lang="en-US" sz="1150" b="1" dirty="0">
                <a:solidFill>
                  <a:srgbClr val="0B6E8A"/>
                </a:solidFill>
                <a:latin typeface="Segoe UI Semibold" pitchFamily="34" charset="0"/>
                <a:ea typeface="Segoe UI Semibold" pitchFamily="34" charset="-122"/>
                <a:cs typeface="Segoe UI Semibold" pitchFamily="34" charset="-120"/>
              </a:rPr>
              <a:t>servicio-notificaciones</a:t>
            </a:r>
            <a:endParaRPr lang="en-US" sz="1150" dirty="0"/>
          </a:p>
        </p:txBody>
      </p:sp>
      <p:sp>
        <p:nvSpPr>
          <p:cNvPr id="43" name="Text 41"/>
          <p:cNvSpPr/>
          <p:nvPr/>
        </p:nvSpPr>
        <p:spPr>
          <a:xfrm>
            <a:off x="9395765" y="3469005"/>
            <a:ext cx="1954682" cy="321183"/>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Los avisos, sin duplicados</a:t>
            </a:r>
            <a:endParaRPr lang="en-US" sz="1100" dirty="0"/>
          </a:p>
        </p:txBody>
      </p:sp>
      <p:sp>
        <p:nvSpPr>
          <p:cNvPr id="44" name="Shape 42"/>
          <p:cNvSpPr/>
          <p:nvPr/>
        </p:nvSpPr>
        <p:spPr>
          <a:xfrm>
            <a:off x="1412748" y="3918204"/>
            <a:ext cx="0" cy="237744"/>
          </a:xfrm>
          <a:prstGeom prst="line">
            <a:avLst/>
          </a:prstGeom>
          <a:noFill/>
          <a:ln w="31750">
            <a:solidFill>
              <a:srgbClr val="0B2350"/>
            </a:solidFill>
            <a:prstDash val="solid"/>
            <a:tailEnd type="triangle"/>
          </a:ln>
        </p:spPr>
      </p:sp>
      <p:sp>
        <p:nvSpPr>
          <p:cNvPr id="45" name="Shape 43"/>
          <p:cNvSpPr/>
          <p:nvPr/>
        </p:nvSpPr>
        <p:spPr>
          <a:xfrm>
            <a:off x="612648" y="4137660"/>
            <a:ext cx="10966399" cy="1008126"/>
          </a:xfrm>
          <a:prstGeom prst="roundRect">
            <a:avLst>
              <a:gd name="adj" fmla="val 10884"/>
            </a:avLst>
          </a:prstGeom>
          <a:solidFill>
            <a:srgbClr val="F7F9FC"/>
          </a:solidFill>
          <a:ln w="12700">
            <a:solidFill>
              <a:srgbClr val="CCD0D8"/>
            </a:solidFill>
            <a:prstDash val="solid"/>
          </a:ln>
        </p:spPr>
      </p:sp>
      <p:sp>
        <p:nvSpPr>
          <p:cNvPr id="46" name="Text 44"/>
          <p:cNvSpPr/>
          <p:nvPr/>
        </p:nvSpPr>
        <p:spPr>
          <a:xfrm>
            <a:off x="612648" y="4137660"/>
            <a:ext cx="1600200" cy="1008126"/>
          </a:xfrm>
          <a:prstGeom prst="roundRect">
            <a:avLst>
              <a:gd name="adj" fmla="val 10884"/>
            </a:avLst>
          </a:prstGeom>
          <a:solidFill>
            <a:srgbClr val="55627E"/>
          </a:solidFill>
          <a:ln>
            <a:solidFill>
              <a:srgbClr val="55627E"/>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DATOS</a:t>
            </a:r>
            <a:endParaRPr lang="en-US" sz="1300" dirty="0"/>
          </a:p>
        </p:txBody>
      </p:sp>
      <p:sp>
        <p:nvSpPr>
          <p:cNvPr id="47" name="Shape 45"/>
          <p:cNvSpPr/>
          <p:nvPr/>
        </p:nvSpPr>
        <p:spPr>
          <a:xfrm>
            <a:off x="2395728" y="4229100"/>
            <a:ext cx="4440784" cy="825246"/>
          </a:xfrm>
          <a:prstGeom prst="roundRect">
            <a:avLst>
              <a:gd name="adj" fmla="val 15512"/>
            </a:avLst>
          </a:prstGeom>
          <a:solidFill>
            <a:srgbClr val="FFFFFF"/>
          </a:solidFill>
          <a:ln w="12700">
            <a:solidFill>
              <a:srgbClr val="BBC0CB"/>
            </a:solidFill>
            <a:prstDash val="solid"/>
          </a:ln>
          <a:effectLst>
            <a:outerShdw sx="100000" sy="100000" kx="0" ky="0" algn="bl" rotWithShape="0" blurRad="76200" dist="19050" dir="5400000">
              <a:srgbClr val="0B1F3A">
                <a:alpha val="14000"/>
              </a:srgbClr>
            </a:outerShdw>
          </a:effectLst>
        </p:spPr>
      </p:sp>
      <p:sp>
        <p:nvSpPr>
          <p:cNvPr id="48" name="Shape 46"/>
          <p:cNvSpPr/>
          <p:nvPr/>
        </p:nvSpPr>
        <p:spPr>
          <a:xfrm>
            <a:off x="2542032" y="4358259"/>
            <a:ext cx="566928" cy="566928"/>
          </a:xfrm>
          <a:prstGeom prst="ellipse">
            <a:avLst/>
          </a:prstGeom>
          <a:solidFill>
            <a:srgbClr val="F4F7FB"/>
          </a:solidFill>
          <a:ln w="12700">
            <a:solidFill>
              <a:srgbClr val="F4F7FB"/>
            </a:solidFill>
            <a:prstDash val="solid"/>
          </a:ln>
        </p:spPr>
      </p:sp>
      <p:sp>
        <p:nvSpPr>
          <p:cNvPr id="49" name="Icono database"/>
          <p:cNvSpPr/>
          <p:nvPr/>
        </p:nvSpPr>
        <p:spPr>
          <a:xfrm>
            <a:off x="2678095" y="4494322"/>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55627E"/>
            </a:solidFill>
            <a:prstDash val="solid"/>
            <a:round/>
          </a:ln>
        </p:spPr>
      </p:sp>
      <p:sp>
        <p:nvSpPr>
          <p:cNvPr id="50" name="Text 48"/>
          <p:cNvSpPr/>
          <p:nvPr/>
        </p:nvSpPr>
        <p:spPr>
          <a:xfrm>
            <a:off x="3255264" y="4265676"/>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5627E"/>
                </a:solidFill>
                <a:latin typeface="Segoe UI Semibold" pitchFamily="34" charset="0"/>
                <a:ea typeface="Segoe UI Semibold" pitchFamily="34" charset="-122"/>
                <a:cs typeface="Segoe UI Semibold" pitchFamily="34" charset="-120"/>
              </a:rPr>
              <a:t>db-solicitudes</a:t>
            </a:r>
            <a:endParaRPr lang="en-US" sz="1500" dirty="0"/>
          </a:p>
        </p:txBody>
      </p:sp>
      <p:sp>
        <p:nvSpPr>
          <p:cNvPr id="51" name="Text 49"/>
          <p:cNvSpPr/>
          <p:nvPr/>
        </p:nvSpPr>
        <p:spPr>
          <a:xfrm>
            <a:off x="3255264" y="4678299"/>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PostgreSQL 17 · solicitud y evento</a:t>
            </a:r>
            <a:endParaRPr lang="en-US" sz="1200" dirty="0"/>
          </a:p>
        </p:txBody>
      </p:sp>
      <p:sp>
        <p:nvSpPr>
          <p:cNvPr id="52" name="Shape 50"/>
          <p:cNvSpPr/>
          <p:nvPr/>
        </p:nvSpPr>
        <p:spPr>
          <a:xfrm>
            <a:off x="7001104" y="4229100"/>
            <a:ext cx="4440784" cy="825246"/>
          </a:xfrm>
          <a:prstGeom prst="roundRect">
            <a:avLst>
              <a:gd name="adj" fmla="val 15512"/>
            </a:avLst>
          </a:prstGeom>
          <a:solidFill>
            <a:srgbClr val="FFFFFF"/>
          </a:solidFill>
          <a:ln w="12700">
            <a:solidFill>
              <a:srgbClr val="BBC0CB"/>
            </a:solidFill>
            <a:prstDash val="solid"/>
          </a:ln>
          <a:effectLst>
            <a:outerShdw sx="100000" sy="100000" kx="0" ky="0" algn="bl" rotWithShape="0" blurRad="76200" dist="19050" dir="5400000">
              <a:srgbClr val="0B1F3A">
                <a:alpha val="14000"/>
              </a:srgbClr>
            </a:outerShdw>
          </a:effectLst>
        </p:spPr>
      </p:sp>
      <p:sp>
        <p:nvSpPr>
          <p:cNvPr id="53" name="Shape 51"/>
          <p:cNvSpPr/>
          <p:nvPr/>
        </p:nvSpPr>
        <p:spPr>
          <a:xfrm>
            <a:off x="7147408" y="4358259"/>
            <a:ext cx="566928" cy="566928"/>
          </a:xfrm>
          <a:prstGeom prst="ellipse">
            <a:avLst/>
          </a:prstGeom>
          <a:solidFill>
            <a:srgbClr val="F4F7FB"/>
          </a:solidFill>
          <a:ln w="12700">
            <a:solidFill>
              <a:srgbClr val="F4F7FB"/>
            </a:solidFill>
            <a:prstDash val="solid"/>
          </a:ln>
        </p:spPr>
      </p:sp>
      <p:sp>
        <p:nvSpPr>
          <p:cNvPr id="54" name="Icono database"/>
          <p:cNvSpPr/>
          <p:nvPr/>
        </p:nvSpPr>
        <p:spPr>
          <a:xfrm>
            <a:off x="7283470" y="4494322"/>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55627E"/>
            </a:solidFill>
            <a:prstDash val="solid"/>
            <a:round/>
          </a:ln>
        </p:spPr>
      </p:sp>
      <p:sp>
        <p:nvSpPr>
          <p:cNvPr id="55" name="Text 53"/>
          <p:cNvSpPr/>
          <p:nvPr/>
        </p:nvSpPr>
        <p:spPr>
          <a:xfrm>
            <a:off x="7860640" y="4265676"/>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5627E"/>
                </a:solidFill>
                <a:latin typeface="Segoe UI Semibold" pitchFamily="34" charset="0"/>
                <a:ea typeface="Segoe UI Semibold" pitchFamily="34" charset="-122"/>
                <a:cs typeface="Segoe UI Semibold" pitchFamily="34" charset="-120"/>
              </a:rPr>
              <a:t>db-notificaciones</a:t>
            </a:r>
            <a:endParaRPr lang="en-US" sz="1500" dirty="0"/>
          </a:p>
        </p:txBody>
      </p:sp>
      <p:sp>
        <p:nvSpPr>
          <p:cNvPr id="56" name="Text 54"/>
          <p:cNvSpPr/>
          <p:nvPr/>
        </p:nvSpPr>
        <p:spPr>
          <a:xfrm>
            <a:off x="7860640" y="4678299"/>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PostgreSQL 17 · evento_procesado</a:t>
            </a:r>
            <a:endParaRPr lang="en-US" sz="1200" dirty="0"/>
          </a:p>
        </p:txBody>
      </p:sp>
      <p:sp>
        <p:nvSpPr>
          <p:cNvPr id="57" name="Shape 55"/>
          <p:cNvSpPr/>
          <p:nvPr/>
        </p:nvSpPr>
        <p:spPr>
          <a:xfrm>
            <a:off x="1412748" y="5127498"/>
            <a:ext cx="0" cy="237744"/>
          </a:xfrm>
          <a:prstGeom prst="line">
            <a:avLst/>
          </a:prstGeom>
          <a:noFill/>
          <a:ln w="31750">
            <a:solidFill>
              <a:srgbClr val="0B2350"/>
            </a:solidFill>
            <a:prstDash val="solid"/>
            <a:tailEnd type="triangle"/>
          </a:ln>
        </p:spPr>
      </p:sp>
      <p:sp>
        <p:nvSpPr>
          <p:cNvPr id="58" name="Shape 56"/>
          <p:cNvSpPr/>
          <p:nvPr/>
        </p:nvSpPr>
        <p:spPr>
          <a:xfrm>
            <a:off x="612648" y="5346954"/>
            <a:ext cx="10966399" cy="1008126"/>
          </a:xfrm>
          <a:prstGeom prst="roundRect">
            <a:avLst>
              <a:gd name="adj" fmla="val 10884"/>
            </a:avLst>
          </a:prstGeom>
          <a:solidFill>
            <a:srgbClr val="E9F5EF"/>
          </a:solidFill>
          <a:ln w="12700">
            <a:solidFill>
              <a:srgbClr val="B6D1C8"/>
            </a:solidFill>
            <a:prstDash val="solid"/>
          </a:ln>
        </p:spPr>
      </p:sp>
      <p:sp>
        <p:nvSpPr>
          <p:cNvPr id="59" name="Text 57"/>
          <p:cNvSpPr/>
          <p:nvPr/>
        </p:nvSpPr>
        <p:spPr>
          <a:xfrm>
            <a:off x="612648" y="5346954"/>
            <a:ext cx="1600200" cy="1008126"/>
          </a:xfrm>
          <a:prstGeom prst="roundRect">
            <a:avLst>
              <a:gd name="adj" fmla="val 10884"/>
            </a:avLst>
          </a:prstGeom>
          <a:solidFill>
            <a:srgbClr val="0A6648"/>
          </a:solidFill>
          <a:ln>
            <a:solidFill>
              <a:srgbClr val="0A6648"/>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PLATAFORMA</a:t>
            </a:r>
            <a:endParaRPr lang="en-US" sz="1300" dirty="0"/>
          </a:p>
        </p:txBody>
      </p:sp>
      <p:sp>
        <p:nvSpPr>
          <p:cNvPr id="60" name="Shape 58"/>
          <p:cNvSpPr/>
          <p:nvPr/>
        </p:nvSpPr>
        <p:spPr>
          <a:xfrm>
            <a:off x="2395728" y="5438394"/>
            <a:ext cx="2905658" cy="825246"/>
          </a:xfrm>
          <a:prstGeom prst="roundRect">
            <a:avLst>
              <a:gd name="adj" fmla="val 15512"/>
            </a:avLst>
          </a:prstGeom>
          <a:solidFill>
            <a:srgbClr val="FFFFFF"/>
          </a:solidFill>
          <a:ln w="12700">
            <a:solidFill>
              <a:srgbClr val="9DC2B6"/>
            </a:solidFill>
            <a:prstDash val="solid"/>
          </a:ln>
          <a:effectLst>
            <a:outerShdw sx="100000" sy="100000" kx="0" ky="0" algn="bl" rotWithShape="0" blurRad="76200" dist="19050" dir="5400000">
              <a:srgbClr val="0B1F3A">
                <a:alpha val="14000"/>
              </a:srgbClr>
            </a:outerShdw>
          </a:effectLst>
        </p:spPr>
      </p:sp>
      <p:sp>
        <p:nvSpPr>
          <p:cNvPr id="61" name="Shape 59"/>
          <p:cNvSpPr/>
          <p:nvPr/>
        </p:nvSpPr>
        <p:spPr>
          <a:xfrm>
            <a:off x="2542032" y="5567553"/>
            <a:ext cx="566928" cy="566928"/>
          </a:xfrm>
          <a:prstGeom prst="ellipse">
            <a:avLst/>
          </a:prstGeom>
          <a:solidFill>
            <a:srgbClr val="E1F1EA"/>
          </a:solidFill>
          <a:ln w="12700">
            <a:solidFill>
              <a:srgbClr val="E1F1EA"/>
            </a:solidFill>
            <a:prstDash val="solid"/>
          </a:ln>
        </p:spPr>
      </p:sp>
      <p:sp>
        <p:nvSpPr>
          <p:cNvPr id="62" name="Icono ship-wheel"/>
          <p:cNvSpPr/>
          <p:nvPr/>
        </p:nvSpPr>
        <p:spPr>
          <a:xfrm>
            <a:off x="2678095" y="5703616"/>
            <a:ext cx="294803" cy="294803"/>
          </a:xfrm>
          <a:custGeom>
            <a:avLst/>
            <a:gdLst/>
            <a:ahLst/>
            <a:cxnLst/>
            <a:rect l="l" t="t" r="r" b="b"/>
            <a:pathLst>
              <a:path w="294803" h="294803">
                <a:moveTo>
                  <a:pt x="245669" y="147401"/>
                </a:moveTo>
                <a:cubicBezTo>
                  <a:pt x="245669" y="201673"/>
                  <a:pt x="201673" y="245669"/>
                  <a:pt x="147401" y="245669"/>
                </a:cubicBezTo>
                <a:cubicBezTo>
                  <a:pt x="93130" y="245669"/>
                  <a:pt x="49134" y="201673"/>
                  <a:pt x="49134" y="147401"/>
                </a:cubicBezTo>
                <a:cubicBezTo>
                  <a:pt x="49134" y="93130"/>
                  <a:pt x="93130" y="49134"/>
                  <a:pt x="147401" y="49134"/>
                </a:cubicBezTo>
                <a:cubicBezTo>
                  <a:pt x="201673" y="49134"/>
                  <a:pt x="245669" y="93130"/>
                  <a:pt x="245669" y="147401"/>
                </a:cubicBezTo>
                <a:close/>
                <a:moveTo>
                  <a:pt x="147401" y="24567"/>
                </a:moveTo>
                <a:lnTo>
                  <a:pt x="147401" y="116693"/>
                </a:lnTo>
                <a:moveTo>
                  <a:pt x="233385" y="61417"/>
                </a:moveTo>
                <a:lnTo>
                  <a:pt x="169143" y="125660"/>
                </a:lnTo>
                <a:moveTo>
                  <a:pt x="270236" y="147401"/>
                </a:moveTo>
                <a:lnTo>
                  <a:pt x="178110" y="147401"/>
                </a:lnTo>
                <a:moveTo>
                  <a:pt x="233385" y="233385"/>
                </a:moveTo>
                <a:lnTo>
                  <a:pt x="169143" y="169143"/>
                </a:lnTo>
                <a:moveTo>
                  <a:pt x="147401" y="178110"/>
                </a:moveTo>
                <a:lnTo>
                  <a:pt x="147401" y="270236"/>
                </a:lnTo>
                <a:moveTo>
                  <a:pt x="125660" y="169143"/>
                </a:moveTo>
                <a:lnTo>
                  <a:pt x="61417" y="233385"/>
                </a:lnTo>
                <a:moveTo>
                  <a:pt x="116693" y="147401"/>
                </a:moveTo>
                <a:lnTo>
                  <a:pt x="24567" y="147401"/>
                </a:lnTo>
                <a:moveTo>
                  <a:pt x="125660" y="125660"/>
                </a:moveTo>
                <a:lnTo>
                  <a:pt x="61417" y="61417"/>
                </a:lnTo>
                <a:moveTo>
                  <a:pt x="178110" y="147401"/>
                </a:moveTo>
                <a:cubicBezTo>
                  <a:pt x="178110" y="164361"/>
                  <a:pt x="164361" y="178110"/>
                  <a:pt x="147401" y="178110"/>
                </a:cubicBezTo>
                <a:cubicBezTo>
                  <a:pt x="130441" y="178110"/>
                  <a:pt x="116693" y="164361"/>
                  <a:pt x="116693" y="147401"/>
                </a:cubicBezTo>
                <a:cubicBezTo>
                  <a:pt x="116693" y="130441"/>
                  <a:pt x="130441" y="116693"/>
                  <a:pt x="147401" y="116693"/>
                </a:cubicBezTo>
                <a:cubicBezTo>
                  <a:pt x="164361" y="116693"/>
                  <a:pt x="178110" y="130441"/>
                  <a:pt x="178110" y="147401"/>
                </a:cubicBezTo>
                <a:close/>
              </a:path>
            </a:pathLst>
          </a:custGeom>
          <a:noFill/>
          <a:ln w="24567" cap="rnd">
            <a:solidFill>
              <a:srgbClr val="0A6648"/>
            </a:solidFill>
            <a:prstDash val="solid"/>
            <a:round/>
          </a:ln>
        </p:spPr>
      </p:sp>
      <p:sp>
        <p:nvSpPr>
          <p:cNvPr id="63" name="Text 61"/>
          <p:cNvSpPr/>
          <p:nvPr/>
        </p:nvSpPr>
        <p:spPr>
          <a:xfrm>
            <a:off x="3255264" y="5474970"/>
            <a:ext cx="1954682" cy="394335"/>
          </a:xfrm>
          <a:prstGeom prst="rect">
            <a:avLst/>
          </a:prstGeom>
          <a:noFill/>
          <a:ln/>
        </p:spPr>
        <p:txBody>
          <a:bodyPr wrap="square" lIns="0" tIns="0" rIns="0" bIns="0" rtlCol="0" anchor="b">
            <a:normAutofit/>
          </a:bodyPr>
          <a:lstStyle/>
          <a:p>
            <a:pPr algn="l" indent="0" marL="0">
              <a:buNone/>
            </a:pPr>
            <a:r>
              <a:rPr lang="en-US" sz="1300" b="1" dirty="0">
                <a:solidFill>
                  <a:srgbClr val="0A6648"/>
                </a:solidFill>
                <a:latin typeface="Segoe UI Semibold" pitchFamily="34" charset="0"/>
                <a:ea typeface="Segoe UI Semibold" pitchFamily="34" charset="-122"/>
                <a:cs typeface="Segoe UI Semibold" pitchFamily="34" charset="-120"/>
              </a:rPr>
              <a:t>Compose o Kubernetes</a:t>
            </a:r>
            <a:endParaRPr lang="en-US" sz="1300" dirty="0"/>
          </a:p>
        </p:txBody>
      </p:sp>
      <p:sp>
        <p:nvSpPr>
          <p:cNvPr id="64" name="Text 62"/>
          <p:cNvSpPr/>
          <p:nvPr/>
        </p:nvSpPr>
        <p:spPr>
          <a:xfrm>
            <a:off x="3255264" y="5887593"/>
            <a:ext cx="1954682"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Dónde corre</a:t>
            </a:r>
            <a:endParaRPr lang="en-US" sz="1200" dirty="0"/>
          </a:p>
        </p:txBody>
      </p:sp>
      <p:sp>
        <p:nvSpPr>
          <p:cNvPr id="65" name="Shape 63"/>
          <p:cNvSpPr/>
          <p:nvPr/>
        </p:nvSpPr>
        <p:spPr>
          <a:xfrm>
            <a:off x="5465978" y="5438394"/>
            <a:ext cx="2905658" cy="825246"/>
          </a:xfrm>
          <a:prstGeom prst="roundRect">
            <a:avLst>
              <a:gd name="adj" fmla="val 15512"/>
            </a:avLst>
          </a:prstGeom>
          <a:solidFill>
            <a:srgbClr val="FFFFFF"/>
          </a:solidFill>
          <a:ln w="12700">
            <a:solidFill>
              <a:srgbClr val="9DC2B6"/>
            </a:solidFill>
            <a:prstDash val="solid"/>
          </a:ln>
          <a:effectLst>
            <a:outerShdw sx="100000" sy="100000" kx="0" ky="0" algn="bl" rotWithShape="0" blurRad="76200" dist="19050" dir="5400000">
              <a:srgbClr val="0B1F3A">
                <a:alpha val="14000"/>
              </a:srgbClr>
            </a:outerShdw>
          </a:effectLst>
        </p:spPr>
      </p:sp>
      <p:sp>
        <p:nvSpPr>
          <p:cNvPr id="66" name="Shape 64"/>
          <p:cNvSpPr/>
          <p:nvPr/>
        </p:nvSpPr>
        <p:spPr>
          <a:xfrm>
            <a:off x="5612282" y="5567553"/>
            <a:ext cx="566928" cy="566928"/>
          </a:xfrm>
          <a:prstGeom prst="ellipse">
            <a:avLst/>
          </a:prstGeom>
          <a:solidFill>
            <a:srgbClr val="E1F1EA"/>
          </a:solidFill>
          <a:ln w="12700">
            <a:solidFill>
              <a:srgbClr val="E1F1EA"/>
            </a:solidFill>
            <a:prstDash val="solid"/>
          </a:ln>
        </p:spPr>
      </p:sp>
      <p:sp>
        <p:nvSpPr>
          <p:cNvPr id="67" name="Icono workflow"/>
          <p:cNvSpPr/>
          <p:nvPr/>
        </p:nvSpPr>
        <p:spPr>
          <a:xfrm>
            <a:off x="5748345" y="5703616"/>
            <a:ext cx="294803" cy="294803"/>
          </a:xfrm>
          <a:custGeom>
            <a:avLst/>
            <a:gdLst/>
            <a:ahLst/>
            <a:cxnLst/>
            <a:rect l="l" t="t" r="r" b="b"/>
            <a:pathLst>
              <a:path w="294803" h="294803">
                <a:moveTo>
                  <a:pt x="61417" y="36850"/>
                </a:moveTo>
                <a:lnTo>
                  <a:pt x="110551" y="36850"/>
                </a:lnTo>
                <a:cubicBezTo>
                  <a:pt x="124119" y="36850"/>
                  <a:pt x="135118" y="47849"/>
                  <a:pt x="135118" y="61417"/>
                </a:cubicBezTo>
                <a:lnTo>
                  <a:pt x="135118" y="110551"/>
                </a:lnTo>
                <a:cubicBezTo>
                  <a:pt x="135118" y="124119"/>
                  <a:pt x="124119" y="135118"/>
                  <a:pt x="110551" y="135118"/>
                </a:cubicBezTo>
                <a:lnTo>
                  <a:pt x="61417" y="135118"/>
                </a:lnTo>
                <a:cubicBezTo>
                  <a:pt x="47849" y="135118"/>
                  <a:pt x="36850" y="124119"/>
                  <a:pt x="36850" y="110551"/>
                </a:cubicBezTo>
                <a:lnTo>
                  <a:pt x="36850" y="61417"/>
                </a:lnTo>
                <a:cubicBezTo>
                  <a:pt x="36850" y="47849"/>
                  <a:pt x="47849" y="36850"/>
                  <a:pt x="61417" y="36850"/>
                </a:cubicBezTo>
                <a:close/>
                <a:moveTo>
                  <a:pt x="85984" y="135118"/>
                </a:moveTo>
                <a:lnTo>
                  <a:pt x="85984" y="184252"/>
                </a:lnTo>
                <a:cubicBezTo>
                  <a:pt x="85984" y="197820"/>
                  <a:pt x="96983" y="208818"/>
                  <a:pt x="110551" y="208818"/>
                </a:cubicBezTo>
                <a:lnTo>
                  <a:pt x="159685" y="208818"/>
                </a:lnTo>
                <a:moveTo>
                  <a:pt x="184252" y="159685"/>
                </a:moveTo>
                <a:lnTo>
                  <a:pt x="233385" y="159685"/>
                </a:lnTo>
                <a:cubicBezTo>
                  <a:pt x="246953" y="159685"/>
                  <a:pt x="257952" y="170684"/>
                  <a:pt x="257952" y="184252"/>
                </a:cubicBezTo>
                <a:lnTo>
                  <a:pt x="257952" y="233385"/>
                </a:lnTo>
                <a:cubicBezTo>
                  <a:pt x="257952" y="246953"/>
                  <a:pt x="246953" y="257952"/>
                  <a:pt x="233385" y="257952"/>
                </a:cubicBezTo>
                <a:lnTo>
                  <a:pt x="184252" y="257952"/>
                </a:lnTo>
                <a:cubicBezTo>
                  <a:pt x="170684" y="257952"/>
                  <a:pt x="159685" y="246953"/>
                  <a:pt x="159685" y="233385"/>
                </a:cubicBezTo>
                <a:lnTo>
                  <a:pt x="159685" y="184252"/>
                </a:lnTo>
                <a:cubicBezTo>
                  <a:pt x="159685" y="170684"/>
                  <a:pt x="170684" y="159685"/>
                  <a:pt x="184252" y="159685"/>
                </a:cubicBezTo>
                <a:close/>
              </a:path>
            </a:pathLst>
          </a:custGeom>
          <a:noFill/>
          <a:ln w="24567" cap="rnd">
            <a:solidFill>
              <a:srgbClr val="0A6648"/>
            </a:solidFill>
            <a:prstDash val="solid"/>
            <a:round/>
          </a:ln>
        </p:spPr>
      </p:sp>
      <p:sp>
        <p:nvSpPr>
          <p:cNvPr id="68" name="Text 66"/>
          <p:cNvSpPr/>
          <p:nvPr/>
        </p:nvSpPr>
        <p:spPr>
          <a:xfrm>
            <a:off x="6325514" y="5474970"/>
            <a:ext cx="1954682" cy="394335"/>
          </a:xfrm>
          <a:prstGeom prst="rect">
            <a:avLst/>
          </a:prstGeom>
          <a:noFill/>
          <a:ln/>
        </p:spPr>
        <p:txBody>
          <a:bodyPr wrap="square" lIns="0" tIns="0" rIns="0" bIns="0" rtlCol="0" anchor="b">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GitHub Actions</a:t>
            </a:r>
            <a:endParaRPr lang="en-US" sz="1500" dirty="0"/>
          </a:p>
        </p:txBody>
      </p:sp>
      <p:sp>
        <p:nvSpPr>
          <p:cNvPr id="69" name="Text 67"/>
          <p:cNvSpPr/>
          <p:nvPr/>
        </p:nvSpPr>
        <p:spPr>
          <a:xfrm>
            <a:off x="6325514" y="5887593"/>
            <a:ext cx="1954682"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Prueba y publica</a:t>
            </a:r>
            <a:endParaRPr lang="en-US" sz="1200" dirty="0"/>
          </a:p>
        </p:txBody>
      </p:sp>
      <p:sp>
        <p:nvSpPr>
          <p:cNvPr id="70" name="Shape 68"/>
          <p:cNvSpPr/>
          <p:nvPr/>
        </p:nvSpPr>
        <p:spPr>
          <a:xfrm>
            <a:off x="8536229" y="5438394"/>
            <a:ext cx="2905658" cy="825246"/>
          </a:xfrm>
          <a:prstGeom prst="roundRect">
            <a:avLst>
              <a:gd name="adj" fmla="val 15512"/>
            </a:avLst>
          </a:prstGeom>
          <a:solidFill>
            <a:srgbClr val="FFFFFF"/>
          </a:solidFill>
          <a:ln w="12700">
            <a:solidFill>
              <a:srgbClr val="D0B79B"/>
            </a:solidFill>
            <a:prstDash val="solid"/>
          </a:ln>
          <a:effectLst>
            <a:outerShdw sx="100000" sy="100000" kx="0" ky="0" algn="bl" rotWithShape="0" blurRad="76200" dist="19050" dir="5400000">
              <a:srgbClr val="0B1F3A">
                <a:alpha val="14000"/>
              </a:srgbClr>
            </a:outerShdw>
          </a:effectLst>
        </p:spPr>
      </p:sp>
      <p:sp>
        <p:nvSpPr>
          <p:cNvPr id="71" name="Shape 69"/>
          <p:cNvSpPr/>
          <p:nvPr/>
        </p:nvSpPr>
        <p:spPr>
          <a:xfrm>
            <a:off x="8682533" y="5567553"/>
            <a:ext cx="566928" cy="566928"/>
          </a:xfrm>
          <a:prstGeom prst="ellipse">
            <a:avLst/>
          </a:prstGeom>
          <a:solidFill>
            <a:srgbClr val="FCEFD6"/>
          </a:solidFill>
          <a:ln w="12700">
            <a:solidFill>
              <a:srgbClr val="FCEFD6"/>
            </a:solidFill>
            <a:prstDash val="solid"/>
          </a:ln>
        </p:spPr>
      </p:sp>
      <p:sp>
        <p:nvSpPr>
          <p:cNvPr id="72" name="Icono chart-line"/>
          <p:cNvSpPr/>
          <p:nvPr/>
        </p:nvSpPr>
        <p:spPr>
          <a:xfrm>
            <a:off x="8818596" y="5703616"/>
            <a:ext cx="294803" cy="294803"/>
          </a:xfrm>
          <a:custGeom>
            <a:avLst/>
            <a:gdLst/>
            <a:ahLst/>
            <a:cxnLst/>
            <a:rect l="l" t="t" r="r" b="b"/>
            <a:pathLst>
              <a:path w="294803" h="294803">
                <a:moveTo>
                  <a:pt x="36850" y="36850"/>
                </a:moveTo>
                <a:lnTo>
                  <a:pt x="36850" y="233385"/>
                </a:lnTo>
                <a:cubicBezTo>
                  <a:pt x="36850" y="246953"/>
                  <a:pt x="47849" y="257952"/>
                  <a:pt x="61417" y="257952"/>
                </a:cubicBezTo>
                <a:lnTo>
                  <a:pt x="257952" y="257952"/>
                </a:lnTo>
                <a:moveTo>
                  <a:pt x="233385" y="110551"/>
                </a:moveTo>
                <a:lnTo>
                  <a:pt x="171968" y="171968"/>
                </a:lnTo>
                <a:lnTo>
                  <a:pt x="122834" y="122834"/>
                </a:lnTo>
                <a:lnTo>
                  <a:pt x="85984" y="159685"/>
                </a:lnTo>
              </a:path>
            </a:pathLst>
          </a:custGeom>
          <a:noFill/>
          <a:ln w="24567" cap="rnd">
            <a:solidFill>
              <a:srgbClr val="8A4B06"/>
            </a:solidFill>
            <a:prstDash val="solid"/>
            <a:round/>
          </a:ln>
        </p:spPr>
      </p:sp>
      <p:sp>
        <p:nvSpPr>
          <p:cNvPr id="73" name="Text 71"/>
          <p:cNvSpPr/>
          <p:nvPr/>
        </p:nvSpPr>
        <p:spPr>
          <a:xfrm>
            <a:off x="9395765" y="5474970"/>
            <a:ext cx="1954682" cy="394335"/>
          </a:xfrm>
          <a:prstGeom prst="rect">
            <a:avLst/>
          </a:prstGeom>
          <a:noFill/>
          <a:ln/>
        </p:spPr>
        <p:txBody>
          <a:bodyPr wrap="square" lIns="0" tIns="0" rIns="0" bIns="0" rtlCol="0" anchor="b">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Loki y Grafana</a:t>
            </a:r>
            <a:endParaRPr lang="en-US" sz="1500" dirty="0"/>
          </a:p>
        </p:txBody>
      </p:sp>
      <p:sp>
        <p:nvSpPr>
          <p:cNvPr id="74" name="Text 72"/>
          <p:cNvSpPr/>
          <p:nvPr/>
        </p:nvSpPr>
        <p:spPr>
          <a:xfrm>
            <a:off x="9395765" y="5887593"/>
            <a:ext cx="1954682"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Logs en un solo lugar</a:t>
            </a:r>
            <a:endParaRPr lang="en-US" sz="1200" dirty="0"/>
          </a:p>
        </p:txBody>
      </p:sp>
      <p:sp>
        <p:nvSpPr>
          <p:cNvPr id="75" name="Text 7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Quién habla con quién, y cómo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Todo viaja por HTTP con JSON; cada pieza encuentra a la otra por su nombre.</a:t>
            </a:r>
            <a:endParaRPr lang="en-US" sz="1700" dirty="0"/>
          </a:p>
        </p:txBody>
      </p:sp>
      <p:sp>
        <p:nvSpPr>
          <p:cNvPr id="14" name="Shape 12"/>
          <p:cNvSpPr/>
          <p:nvPr/>
        </p:nvSpPr>
        <p:spPr>
          <a:xfrm>
            <a:off x="612648" y="1719072"/>
            <a:ext cx="10966399" cy="420624"/>
          </a:xfrm>
          <a:prstGeom prst="roundRect">
            <a:avLst>
              <a:gd name="adj" fmla="val 21739"/>
            </a:avLst>
          </a:prstGeom>
          <a:solidFill>
            <a:srgbClr val="0B2350"/>
          </a:solidFill>
          <a:ln w="12700">
            <a:solidFill>
              <a:srgbClr val="0B2350"/>
            </a:solidFill>
            <a:prstDash val="solid"/>
          </a:ln>
        </p:spPr>
      </p:sp>
      <p:sp>
        <p:nvSpPr>
          <p:cNvPr id="15" name="Text 13"/>
          <p:cNvSpPr/>
          <p:nvPr/>
        </p:nvSpPr>
        <p:spPr>
          <a:xfrm>
            <a:off x="1499616" y="1719072"/>
            <a:ext cx="2531617"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CONEXIÓN</a:t>
            </a:r>
            <a:endParaRPr lang="en-US" sz="1150" dirty="0"/>
          </a:p>
        </p:txBody>
      </p:sp>
      <p:sp>
        <p:nvSpPr>
          <p:cNvPr id="16" name="Text 14"/>
          <p:cNvSpPr/>
          <p:nvPr/>
        </p:nvSpPr>
        <p:spPr>
          <a:xfrm>
            <a:off x="4250689" y="1719072"/>
            <a:ext cx="3754316"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CÓMO SE HABLA</a:t>
            </a:r>
            <a:endParaRPr lang="en-US" sz="1150" dirty="0"/>
          </a:p>
        </p:txBody>
      </p:sp>
      <p:sp>
        <p:nvSpPr>
          <p:cNvPr id="17" name="Text 15"/>
          <p:cNvSpPr/>
          <p:nvPr/>
        </p:nvSpPr>
        <p:spPr>
          <a:xfrm>
            <a:off x="8224461" y="1719072"/>
            <a:ext cx="3244858"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POR QUÉ ASÍ</a:t>
            </a:r>
            <a:endParaRPr lang="en-US" sz="1150" dirty="0"/>
          </a:p>
        </p:txBody>
      </p:sp>
      <p:sp>
        <p:nvSpPr>
          <p:cNvPr id="18" name="Shape 16"/>
          <p:cNvSpPr/>
          <p:nvPr/>
        </p:nvSpPr>
        <p:spPr>
          <a:xfrm>
            <a:off x="612648" y="2267712"/>
            <a:ext cx="10966399" cy="589788"/>
          </a:xfrm>
          <a:prstGeom prst="roundRect">
            <a:avLst>
              <a:gd name="adj" fmla="val 2170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9" name="Shape 17"/>
          <p:cNvSpPr/>
          <p:nvPr/>
        </p:nvSpPr>
        <p:spPr>
          <a:xfrm>
            <a:off x="612648" y="2359152"/>
            <a:ext cx="64008" cy="406908"/>
          </a:xfrm>
          <a:prstGeom prst="rect">
            <a:avLst/>
          </a:prstGeom>
          <a:solidFill>
            <a:srgbClr val="5B3FC4"/>
          </a:solidFill>
          <a:ln w="12700">
            <a:solidFill>
              <a:srgbClr val="5B3FC4"/>
            </a:solidFill>
            <a:prstDash val="solid"/>
          </a:ln>
        </p:spPr>
      </p:sp>
      <p:sp>
        <p:nvSpPr>
          <p:cNvPr id="20" name="Shape 18"/>
          <p:cNvSpPr/>
          <p:nvPr/>
        </p:nvSpPr>
        <p:spPr>
          <a:xfrm>
            <a:off x="806958" y="2340864"/>
            <a:ext cx="443484" cy="443484"/>
          </a:xfrm>
          <a:prstGeom prst="ellipse">
            <a:avLst/>
          </a:prstGeom>
          <a:solidFill>
            <a:srgbClr val="F1EEFD"/>
          </a:solidFill>
          <a:ln w="12700">
            <a:solidFill>
              <a:srgbClr val="F1EEFD"/>
            </a:solidFill>
            <a:prstDash val="solid"/>
          </a:ln>
        </p:spPr>
      </p:sp>
      <p:sp>
        <p:nvSpPr>
          <p:cNvPr id="21" name="Icono monitor"/>
          <p:cNvSpPr/>
          <p:nvPr/>
        </p:nvSpPr>
        <p:spPr>
          <a:xfrm>
            <a:off x="913394" y="2447300"/>
            <a:ext cx="230612" cy="230612"/>
          </a:xfrm>
          <a:custGeom>
            <a:avLst/>
            <a:gdLst/>
            <a:ahLst/>
            <a:cxnLst/>
            <a:rect l="l" t="t" r="r" b="b"/>
            <a:pathLst>
              <a:path w="230612" h="230612">
                <a:moveTo>
                  <a:pt x="38435" y="28826"/>
                </a:moveTo>
                <a:lnTo>
                  <a:pt x="192176" y="28826"/>
                </a:lnTo>
                <a:cubicBezTo>
                  <a:pt x="202790" y="28826"/>
                  <a:pt x="211394" y="37430"/>
                  <a:pt x="211394" y="48044"/>
                </a:cubicBezTo>
                <a:lnTo>
                  <a:pt x="211394" y="144132"/>
                </a:lnTo>
                <a:cubicBezTo>
                  <a:pt x="211394" y="154746"/>
                  <a:pt x="202790" y="163350"/>
                  <a:pt x="192176" y="163350"/>
                </a:cubicBezTo>
                <a:lnTo>
                  <a:pt x="38435" y="163350"/>
                </a:lnTo>
                <a:cubicBezTo>
                  <a:pt x="27822" y="163350"/>
                  <a:pt x="19218" y="154746"/>
                  <a:pt x="19218" y="144132"/>
                </a:cubicBezTo>
                <a:lnTo>
                  <a:pt x="19218" y="48044"/>
                </a:lnTo>
                <a:cubicBezTo>
                  <a:pt x="19218" y="37430"/>
                  <a:pt x="27822" y="28826"/>
                  <a:pt x="38435" y="28826"/>
                </a:cubicBezTo>
                <a:close/>
                <a:moveTo>
                  <a:pt x="76871" y="201785"/>
                </a:moveTo>
                <a:lnTo>
                  <a:pt x="153741" y="201785"/>
                </a:lnTo>
                <a:moveTo>
                  <a:pt x="115306" y="163350"/>
                </a:moveTo>
                <a:lnTo>
                  <a:pt x="115306" y="201785"/>
                </a:lnTo>
              </a:path>
            </a:pathLst>
          </a:custGeom>
          <a:noFill/>
          <a:ln w="19218" cap="rnd">
            <a:solidFill>
              <a:srgbClr val="5B3FC4"/>
            </a:solidFill>
            <a:prstDash val="solid"/>
            <a:round/>
          </a:ln>
        </p:spPr>
      </p:sp>
      <p:sp>
        <p:nvSpPr>
          <p:cNvPr id="22" name="Text 20"/>
          <p:cNvSpPr/>
          <p:nvPr/>
        </p:nvSpPr>
        <p:spPr>
          <a:xfrm>
            <a:off x="1517904" y="2322576"/>
            <a:ext cx="2495041" cy="480060"/>
          </a:xfrm>
          <a:prstGeom prst="rect">
            <a:avLst/>
          </a:prstGeom>
          <a:noFill/>
          <a:ln/>
        </p:spPr>
        <p:txBody>
          <a:bodyPr wrap="square" lIns="0" tIns="0" rIns="0" bIns="0" rtlCol="0" anchor="ctr">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Navegador → UI</a:t>
            </a:r>
            <a:endParaRPr lang="en-US" sz="1500" dirty="0"/>
          </a:p>
        </p:txBody>
      </p:sp>
      <p:sp>
        <p:nvSpPr>
          <p:cNvPr id="23" name="Shape 21"/>
          <p:cNvSpPr/>
          <p:nvPr/>
        </p:nvSpPr>
        <p:spPr>
          <a:xfrm>
            <a:off x="4140961" y="2395728"/>
            <a:ext cx="0" cy="333756"/>
          </a:xfrm>
          <a:prstGeom prst="line">
            <a:avLst/>
          </a:prstGeom>
          <a:noFill/>
          <a:ln w="9525">
            <a:solidFill>
              <a:srgbClr val="DFE6F0"/>
            </a:solidFill>
            <a:prstDash val="solid"/>
          </a:ln>
        </p:spPr>
      </p:sp>
      <p:sp>
        <p:nvSpPr>
          <p:cNvPr id="24" name="Text 22"/>
          <p:cNvSpPr/>
          <p:nvPr/>
        </p:nvSpPr>
        <p:spPr>
          <a:xfrm>
            <a:off x="4268977" y="2322576"/>
            <a:ext cx="3717740"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HTTP a localhost:8088; nginx sirve la página</a:t>
            </a:r>
            <a:endParaRPr lang="en-US" sz="1400" dirty="0"/>
          </a:p>
        </p:txBody>
      </p:sp>
      <p:sp>
        <p:nvSpPr>
          <p:cNvPr id="25" name="Shape 23"/>
          <p:cNvSpPr/>
          <p:nvPr/>
        </p:nvSpPr>
        <p:spPr>
          <a:xfrm>
            <a:off x="8114733" y="2395728"/>
            <a:ext cx="0" cy="333756"/>
          </a:xfrm>
          <a:prstGeom prst="line">
            <a:avLst/>
          </a:prstGeom>
          <a:noFill/>
          <a:ln w="9525">
            <a:solidFill>
              <a:srgbClr val="DFE6F0"/>
            </a:solidFill>
            <a:prstDash val="solid"/>
          </a:ln>
        </p:spPr>
      </p:sp>
      <p:sp>
        <p:nvSpPr>
          <p:cNvPr id="26" name="Text 24"/>
          <p:cNvSpPr/>
          <p:nvPr/>
        </p:nvSpPr>
        <p:spPr>
          <a:xfrm>
            <a:off x="8242749" y="2322576"/>
            <a:ext cx="3208282"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El navegador nunca conoce las direcciones internas</a:t>
            </a:r>
            <a:endParaRPr lang="en-US" sz="1400" dirty="0"/>
          </a:p>
        </p:txBody>
      </p:sp>
      <p:sp>
        <p:nvSpPr>
          <p:cNvPr id="27" name="Shape 25"/>
          <p:cNvSpPr/>
          <p:nvPr/>
        </p:nvSpPr>
        <p:spPr>
          <a:xfrm>
            <a:off x="612648" y="2967228"/>
            <a:ext cx="10966399" cy="589788"/>
          </a:xfrm>
          <a:prstGeom prst="roundRect">
            <a:avLst>
              <a:gd name="adj" fmla="val 2170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612648" y="3058668"/>
            <a:ext cx="64008" cy="406908"/>
          </a:xfrm>
          <a:prstGeom prst="rect">
            <a:avLst/>
          </a:prstGeom>
          <a:solidFill>
            <a:srgbClr val="5B3FC4"/>
          </a:solidFill>
          <a:ln w="12700">
            <a:solidFill>
              <a:srgbClr val="5B3FC4"/>
            </a:solidFill>
            <a:prstDash val="solid"/>
          </a:ln>
        </p:spPr>
      </p:sp>
      <p:sp>
        <p:nvSpPr>
          <p:cNvPr id="29" name="Shape 27"/>
          <p:cNvSpPr/>
          <p:nvPr/>
        </p:nvSpPr>
        <p:spPr>
          <a:xfrm>
            <a:off x="806958" y="3040380"/>
            <a:ext cx="443484" cy="443484"/>
          </a:xfrm>
          <a:prstGeom prst="ellipse">
            <a:avLst/>
          </a:prstGeom>
          <a:solidFill>
            <a:srgbClr val="F1EEFD"/>
          </a:solidFill>
          <a:ln w="12700">
            <a:solidFill>
              <a:srgbClr val="F1EEFD"/>
            </a:solidFill>
            <a:prstDash val="solid"/>
          </a:ln>
        </p:spPr>
      </p:sp>
      <p:sp>
        <p:nvSpPr>
          <p:cNvPr id="30" name="Icono route"/>
          <p:cNvSpPr/>
          <p:nvPr/>
        </p:nvSpPr>
        <p:spPr>
          <a:xfrm>
            <a:off x="913394" y="3146816"/>
            <a:ext cx="230612" cy="230612"/>
          </a:xfrm>
          <a:custGeom>
            <a:avLst/>
            <a:gdLst/>
            <a:ahLst/>
            <a:cxnLst/>
            <a:rect l="l" t="t" r="r" b="b"/>
            <a:pathLst>
              <a:path w="230612" h="230612">
                <a:moveTo>
                  <a:pt x="86479" y="182568"/>
                </a:moveTo>
                <a:cubicBezTo>
                  <a:pt x="86479" y="198488"/>
                  <a:pt x="73573" y="211394"/>
                  <a:pt x="57653" y="211394"/>
                </a:cubicBezTo>
                <a:cubicBezTo>
                  <a:pt x="41733" y="211394"/>
                  <a:pt x="28826" y="198488"/>
                  <a:pt x="28826" y="182568"/>
                </a:cubicBezTo>
                <a:cubicBezTo>
                  <a:pt x="28826" y="166647"/>
                  <a:pt x="41733" y="153741"/>
                  <a:pt x="57653" y="153741"/>
                </a:cubicBezTo>
                <a:cubicBezTo>
                  <a:pt x="73573" y="153741"/>
                  <a:pt x="86479" y="166647"/>
                  <a:pt x="86479" y="182568"/>
                </a:cubicBezTo>
                <a:close/>
                <a:moveTo>
                  <a:pt x="86479" y="182568"/>
                </a:moveTo>
                <a:lnTo>
                  <a:pt x="168154" y="182568"/>
                </a:lnTo>
                <a:cubicBezTo>
                  <a:pt x="186728" y="182568"/>
                  <a:pt x="201785" y="167511"/>
                  <a:pt x="201785" y="148937"/>
                </a:cubicBezTo>
                <a:cubicBezTo>
                  <a:pt x="201785" y="130363"/>
                  <a:pt x="186728" y="115306"/>
                  <a:pt x="168154" y="115306"/>
                </a:cubicBezTo>
                <a:lnTo>
                  <a:pt x="62457" y="115306"/>
                </a:lnTo>
                <a:cubicBezTo>
                  <a:pt x="43884" y="115306"/>
                  <a:pt x="28826" y="100249"/>
                  <a:pt x="28826" y="81675"/>
                </a:cubicBezTo>
                <a:cubicBezTo>
                  <a:pt x="28826" y="63101"/>
                  <a:pt x="43884" y="48044"/>
                  <a:pt x="62457" y="48044"/>
                </a:cubicBezTo>
                <a:lnTo>
                  <a:pt x="144132" y="48044"/>
                </a:lnTo>
                <a:moveTo>
                  <a:pt x="201785" y="48044"/>
                </a:moveTo>
                <a:cubicBezTo>
                  <a:pt x="201785" y="63965"/>
                  <a:pt x="188879" y="76871"/>
                  <a:pt x="172959" y="76871"/>
                </a:cubicBezTo>
                <a:cubicBezTo>
                  <a:pt x="157038" y="76871"/>
                  <a:pt x="144132" y="63965"/>
                  <a:pt x="144132" y="48044"/>
                </a:cubicBezTo>
                <a:cubicBezTo>
                  <a:pt x="144132" y="32124"/>
                  <a:pt x="157038" y="19218"/>
                  <a:pt x="172959" y="19218"/>
                </a:cubicBezTo>
                <a:cubicBezTo>
                  <a:pt x="188879" y="19218"/>
                  <a:pt x="201785" y="32124"/>
                  <a:pt x="201785" y="48044"/>
                </a:cubicBezTo>
                <a:close/>
              </a:path>
            </a:pathLst>
          </a:custGeom>
          <a:noFill/>
          <a:ln w="19218" cap="rnd">
            <a:solidFill>
              <a:srgbClr val="5B3FC4"/>
            </a:solidFill>
            <a:prstDash val="solid"/>
            <a:round/>
          </a:ln>
        </p:spPr>
      </p:sp>
      <p:sp>
        <p:nvSpPr>
          <p:cNvPr id="31" name="Text 29"/>
          <p:cNvSpPr/>
          <p:nvPr/>
        </p:nvSpPr>
        <p:spPr>
          <a:xfrm>
            <a:off x="1517904" y="3022092"/>
            <a:ext cx="2495041" cy="480060"/>
          </a:xfrm>
          <a:prstGeom prst="rect">
            <a:avLst/>
          </a:prstGeom>
          <a:noFill/>
          <a:ln/>
        </p:spPr>
        <p:txBody>
          <a:bodyPr wrap="square" lIns="0" tIns="0" rIns="0" bIns="0" rtlCol="0" anchor="ctr">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UI → servicios</a:t>
            </a:r>
            <a:endParaRPr lang="en-US" sz="1500" dirty="0"/>
          </a:p>
        </p:txBody>
      </p:sp>
      <p:sp>
        <p:nvSpPr>
          <p:cNvPr id="32" name="Shape 30"/>
          <p:cNvSpPr/>
          <p:nvPr/>
        </p:nvSpPr>
        <p:spPr>
          <a:xfrm>
            <a:off x="4140961" y="3095244"/>
            <a:ext cx="0" cy="333756"/>
          </a:xfrm>
          <a:prstGeom prst="line">
            <a:avLst/>
          </a:prstGeom>
          <a:noFill/>
          <a:ln w="9525">
            <a:solidFill>
              <a:srgbClr val="DFE6F0"/>
            </a:solidFill>
            <a:prstDash val="solid"/>
          </a:ln>
        </p:spPr>
      </p:sp>
      <p:sp>
        <p:nvSpPr>
          <p:cNvPr id="33" name="Text 31"/>
          <p:cNvSpPr/>
          <p:nvPr/>
        </p:nvSpPr>
        <p:spPr>
          <a:xfrm>
            <a:off x="4268977" y="3022092"/>
            <a:ext cx="3717740"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nginx reenvía /api/solicitudes y /api/notificaciones</a:t>
            </a:r>
            <a:endParaRPr lang="en-US" sz="1400" dirty="0"/>
          </a:p>
        </p:txBody>
      </p:sp>
      <p:sp>
        <p:nvSpPr>
          <p:cNvPr id="34" name="Shape 32"/>
          <p:cNvSpPr/>
          <p:nvPr/>
        </p:nvSpPr>
        <p:spPr>
          <a:xfrm>
            <a:off x="8114733" y="3095244"/>
            <a:ext cx="0" cy="333756"/>
          </a:xfrm>
          <a:prstGeom prst="line">
            <a:avLst/>
          </a:prstGeom>
          <a:noFill/>
          <a:ln w="9525">
            <a:solidFill>
              <a:srgbClr val="DFE6F0"/>
            </a:solidFill>
            <a:prstDash val="solid"/>
          </a:ln>
        </p:spPr>
      </p:sp>
      <p:sp>
        <p:nvSpPr>
          <p:cNvPr id="35" name="Text 33"/>
          <p:cNvSpPr/>
          <p:nvPr/>
        </p:nvSpPr>
        <p:spPr>
          <a:xfrm>
            <a:off x="8242749" y="3022092"/>
            <a:ext cx="3208282"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Cambiar una dirección no obliga a tocar la UI</a:t>
            </a:r>
            <a:endParaRPr lang="en-US" sz="1400" dirty="0"/>
          </a:p>
        </p:txBody>
      </p:sp>
      <p:sp>
        <p:nvSpPr>
          <p:cNvPr id="36" name="Shape 34"/>
          <p:cNvSpPr/>
          <p:nvPr/>
        </p:nvSpPr>
        <p:spPr>
          <a:xfrm>
            <a:off x="612648" y="3666744"/>
            <a:ext cx="10966399" cy="589788"/>
          </a:xfrm>
          <a:prstGeom prst="roundRect">
            <a:avLst>
              <a:gd name="adj" fmla="val 2170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7" name="Shape 35"/>
          <p:cNvSpPr/>
          <p:nvPr/>
        </p:nvSpPr>
        <p:spPr>
          <a:xfrm>
            <a:off x="612648" y="3758184"/>
            <a:ext cx="64008" cy="406908"/>
          </a:xfrm>
          <a:prstGeom prst="rect">
            <a:avLst/>
          </a:prstGeom>
          <a:solidFill>
            <a:srgbClr val="0B6E8A"/>
          </a:solidFill>
          <a:ln w="12700">
            <a:solidFill>
              <a:srgbClr val="0B6E8A"/>
            </a:solidFill>
            <a:prstDash val="solid"/>
          </a:ln>
        </p:spPr>
      </p:sp>
      <p:sp>
        <p:nvSpPr>
          <p:cNvPr id="38" name="Shape 36"/>
          <p:cNvSpPr/>
          <p:nvPr/>
        </p:nvSpPr>
        <p:spPr>
          <a:xfrm>
            <a:off x="806958" y="3739896"/>
            <a:ext cx="443484" cy="443484"/>
          </a:xfrm>
          <a:prstGeom prst="ellipse">
            <a:avLst/>
          </a:prstGeom>
          <a:solidFill>
            <a:srgbClr val="E3F4FA"/>
          </a:solidFill>
          <a:ln w="12700">
            <a:solidFill>
              <a:srgbClr val="E3F4FA"/>
            </a:solidFill>
            <a:prstDash val="solid"/>
          </a:ln>
        </p:spPr>
      </p:sp>
      <p:sp>
        <p:nvSpPr>
          <p:cNvPr id="39" name="Icono send"/>
          <p:cNvSpPr/>
          <p:nvPr/>
        </p:nvSpPr>
        <p:spPr>
          <a:xfrm>
            <a:off x="913394" y="3846332"/>
            <a:ext cx="230612" cy="230612"/>
          </a:xfrm>
          <a:custGeom>
            <a:avLst/>
            <a:gdLst/>
            <a:ahLst/>
            <a:cxnLst/>
            <a:rect l="l" t="t" r="r" b="b"/>
            <a:pathLst>
              <a:path w="230612" h="230612">
                <a:moveTo>
                  <a:pt x="139674" y="208377"/>
                </a:moveTo>
                <a:cubicBezTo>
                  <a:pt x="140421" y="210240"/>
                  <a:pt x="142249" y="211442"/>
                  <a:pt x="144256" y="211391"/>
                </a:cubicBezTo>
                <a:cubicBezTo>
                  <a:pt x="146263" y="211339"/>
                  <a:pt x="148026" y="210045"/>
                  <a:pt x="148677" y="208146"/>
                </a:cubicBezTo>
                <a:lnTo>
                  <a:pt x="211135" y="25579"/>
                </a:lnTo>
                <a:cubicBezTo>
                  <a:pt x="211762" y="23841"/>
                  <a:pt x="211329" y="21896"/>
                  <a:pt x="210022" y="20590"/>
                </a:cubicBezTo>
                <a:cubicBezTo>
                  <a:pt x="208715" y="19283"/>
                  <a:pt x="206771" y="18849"/>
                  <a:pt x="205033" y="19477"/>
                </a:cubicBezTo>
                <a:lnTo>
                  <a:pt x="22465" y="81934"/>
                </a:lnTo>
                <a:cubicBezTo>
                  <a:pt x="20566" y="82586"/>
                  <a:pt x="19272" y="84349"/>
                  <a:pt x="19221" y="86356"/>
                </a:cubicBezTo>
                <a:cubicBezTo>
                  <a:pt x="19170" y="88363"/>
                  <a:pt x="20372" y="90190"/>
                  <a:pt x="22235" y="90938"/>
                </a:cubicBezTo>
                <a:lnTo>
                  <a:pt x="98433" y="121494"/>
                </a:lnTo>
                <a:cubicBezTo>
                  <a:pt x="103300" y="123443"/>
                  <a:pt x="107160" y="127296"/>
                  <a:pt x="109118" y="132160"/>
                </a:cubicBezTo>
                <a:close/>
                <a:moveTo>
                  <a:pt x="209991" y="20630"/>
                </a:moveTo>
                <a:lnTo>
                  <a:pt x="104871" y="125741"/>
                </a:lnTo>
              </a:path>
            </a:pathLst>
          </a:custGeom>
          <a:noFill/>
          <a:ln w="19218" cap="rnd">
            <a:solidFill>
              <a:srgbClr val="0B6E8A"/>
            </a:solidFill>
            <a:prstDash val="solid"/>
            <a:round/>
          </a:ln>
        </p:spPr>
      </p:sp>
      <p:sp>
        <p:nvSpPr>
          <p:cNvPr id="40" name="Text 38"/>
          <p:cNvSpPr/>
          <p:nvPr/>
        </p:nvSpPr>
        <p:spPr>
          <a:xfrm>
            <a:off x="1517904" y="3721608"/>
            <a:ext cx="2495041" cy="480060"/>
          </a:xfrm>
          <a:prstGeom prst="rect">
            <a:avLst/>
          </a:prstGeom>
          <a:noFill/>
          <a:ln/>
        </p:spPr>
        <p:txBody>
          <a:bodyPr wrap="square" lIns="0" tIns="0" rIns="0" bIns="0" rtlCol="0" anchor="ctr">
            <a:normAutofit/>
          </a:bodyPr>
          <a:lstStyle/>
          <a:p>
            <a:pPr algn="l" indent="0" marL="0">
              <a:buNone/>
            </a:pPr>
            <a:r>
              <a:rPr lang="en-US" sz="1500" b="1" dirty="0">
                <a:solidFill>
                  <a:srgbClr val="0B6E8A"/>
                </a:solidFill>
                <a:latin typeface="Segoe UI Semibold" pitchFamily="34" charset="0"/>
                <a:ea typeface="Segoe UI Semibold" pitchFamily="34" charset="-122"/>
                <a:cs typeface="Segoe UI Semibold" pitchFamily="34" charset="-120"/>
              </a:rPr>
              <a:t>solicitudes → notificaciones</a:t>
            </a:r>
            <a:endParaRPr lang="en-US" sz="1500" dirty="0"/>
          </a:p>
        </p:txBody>
      </p:sp>
      <p:sp>
        <p:nvSpPr>
          <p:cNvPr id="41" name="Shape 39"/>
          <p:cNvSpPr/>
          <p:nvPr/>
        </p:nvSpPr>
        <p:spPr>
          <a:xfrm>
            <a:off x="4140961" y="3794760"/>
            <a:ext cx="0" cy="333756"/>
          </a:xfrm>
          <a:prstGeom prst="line">
            <a:avLst/>
          </a:prstGeom>
          <a:noFill/>
          <a:ln w="9525">
            <a:solidFill>
              <a:srgbClr val="DFE6F0"/>
            </a:solidFill>
            <a:prstDash val="solid"/>
          </a:ln>
        </p:spPr>
      </p:sp>
      <p:sp>
        <p:nvSpPr>
          <p:cNvPr id="42" name="Text 40"/>
          <p:cNvSpPr/>
          <p:nvPr/>
        </p:nvSpPr>
        <p:spPr>
          <a:xfrm>
            <a:off x="4268977" y="3721608"/>
            <a:ext cx="3717740"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POST del evento SolicitudEnviada en JSON, desde el relevador</a:t>
            </a:r>
            <a:endParaRPr lang="en-US" sz="1400" dirty="0"/>
          </a:p>
        </p:txBody>
      </p:sp>
      <p:sp>
        <p:nvSpPr>
          <p:cNvPr id="43" name="Shape 41"/>
          <p:cNvSpPr/>
          <p:nvPr/>
        </p:nvSpPr>
        <p:spPr>
          <a:xfrm>
            <a:off x="8114733" y="3794760"/>
            <a:ext cx="0" cy="333756"/>
          </a:xfrm>
          <a:prstGeom prst="line">
            <a:avLst/>
          </a:prstGeom>
          <a:noFill/>
          <a:ln w="9525">
            <a:solidFill>
              <a:srgbClr val="DFE6F0"/>
            </a:solidFill>
            <a:prstDash val="solid"/>
          </a:ln>
        </p:spPr>
      </p:sp>
      <p:sp>
        <p:nvSpPr>
          <p:cNvPr id="44" name="Text 42"/>
          <p:cNvSpPr/>
          <p:nvPr/>
        </p:nvSpPr>
        <p:spPr>
          <a:xfrm>
            <a:off x="8242749" y="3721608"/>
            <a:ext cx="3208282"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Si notificaciones cae, solicitudes sigue funcionando</a:t>
            </a:r>
            <a:endParaRPr lang="en-US" sz="1400" dirty="0"/>
          </a:p>
        </p:txBody>
      </p:sp>
      <p:sp>
        <p:nvSpPr>
          <p:cNvPr id="45" name="Shape 43"/>
          <p:cNvSpPr/>
          <p:nvPr/>
        </p:nvSpPr>
        <p:spPr>
          <a:xfrm>
            <a:off x="612648" y="4366260"/>
            <a:ext cx="10966399" cy="589788"/>
          </a:xfrm>
          <a:prstGeom prst="roundRect">
            <a:avLst>
              <a:gd name="adj" fmla="val 2170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6" name="Shape 44"/>
          <p:cNvSpPr/>
          <p:nvPr/>
        </p:nvSpPr>
        <p:spPr>
          <a:xfrm>
            <a:off x="612648" y="4457700"/>
            <a:ext cx="64008" cy="406908"/>
          </a:xfrm>
          <a:prstGeom prst="rect">
            <a:avLst/>
          </a:prstGeom>
          <a:solidFill>
            <a:srgbClr val="55627E"/>
          </a:solidFill>
          <a:ln w="12700">
            <a:solidFill>
              <a:srgbClr val="55627E"/>
            </a:solidFill>
            <a:prstDash val="solid"/>
          </a:ln>
        </p:spPr>
      </p:sp>
      <p:sp>
        <p:nvSpPr>
          <p:cNvPr id="47" name="Shape 45"/>
          <p:cNvSpPr/>
          <p:nvPr/>
        </p:nvSpPr>
        <p:spPr>
          <a:xfrm>
            <a:off x="806958" y="4439412"/>
            <a:ext cx="443484" cy="443484"/>
          </a:xfrm>
          <a:prstGeom prst="ellipse">
            <a:avLst/>
          </a:prstGeom>
          <a:solidFill>
            <a:srgbClr val="F4F7FB"/>
          </a:solidFill>
          <a:ln w="12700">
            <a:solidFill>
              <a:srgbClr val="F4F7FB"/>
            </a:solidFill>
            <a:prstDash val="solid"/>
          </a:ln>
        </p:spPr>
      </p:sp>
      <p:sp>
        <p:nvSpPr>
          <p:cNvPr id="48" name="Icono database"/>
          <p:cNvSpPr/>
          <p:nvPr/>
        </p:nvSpPr>
        <p:spPr>
          <a:xfrm>
            <a:off x="913394" y="4545848"/>
            <a:ext cx="230612" cy="230612"/>
          </a:xfrm>
          <a:custGeom>
            <a:avLst/>
            <a:gdLst/>
            <a:ahLst/>
            <a:cxnLst/>
            <a:rect l="l" t="t" r="r" b="b"/>
            <a:pathLst>
              <a:path w="230612" h="230612">
                <a:moveTo>
                  <a:pt x="201785" y="48044"/>
                </a:moveTo>
                <a:cubicBezTo>
                  <a:pt x="201785" y="63965"/>
                  <a:pt x="163067" y="76871"/>
                  <a:pt x="115306" y="76871"/>
                </a:cubicBezTo>
                <a:cubicBezTo>
                  <a:pt x="67545" y="76871"/>
                  <a:pt x="28826" y="63965"/>
                  <a:pt x="28826" y="48044"/>
                </a:cubicBezTo>
                <a:cubicBezTo>
                  <a:pt x="28826" y="32124"/>
                  <a:pt x="67545" y="19218"/>
                  <a:pt x="115306" y="19218"/>
                </a:cubicBezTo>
                <a:cubicBezTo>
                  <a:pt x="163067" y="19218"/>
                  <a:pt x="201785" y="32124"/>
                  <a:pt x="201785" y="48044"/>
                </a:cubicBezTo>
                <a:close/>
                <a:moveTo>
                  <a:pt x="28826" y="48044"/>
                </a:moveTo>
                <a:lnTo>
                  <a:pt x="28826" y="182568"/>
                </a:lnTo>
                <a:cubicBezTo>
                  <a:pt x="28826" y="198488"/>
                  <a:pt x="67545" y="211394"/>
                  <a:pt x="115306" y="211394"/>
                </a:cubicBezTo>
                <a:cubicBezTo>
                  <a:pt x="163067" y="211394"/>
                  <a:pt x="201785" y="198488"/>
                  <a:pt x="201785" y="182568"/>
                </a:cubicBezTo>
                <a:lnTo>
                  <a:pt x="201785" y="48044"/>
                </a:lnTo>
                <a:moveTo>
                  <a:pt x="28826" y="115306"/>
                </a:moveTo>
                <a:cubicBezTo>
                  <a:pt x="28826" y="131226"/>
                  <a:pt x="67545" y="144132"/>
                  <a:pt x="115306" y="144132"/>
                </a:cubicBezTo>
                <a:cubicBezTo>
                  <a:pt x="163067" y="144132"/>
                  <a:pt x="201785" y="131226"/>
                  <a:pt x="201785" y="115306"/>
                </a:cubicBezTo>
              </a:path>
            </a:pathLst>
          </a:custGeom>
          <a:noFill/>
          <a:ln w="19218" cap="rnd">
            <a:solidFill>
              <a:srgbClr val="55627E"/>
            </a:solidFill>
            <a:prstDash val="solid"/>
            <a:round/>
          </a:ln>
        </p:spPr>
      </p:sp>
      <p:sp>
        <p:nvSpPr>
          <p:cNvPr id="49" name="Text 47"/>
          <p:cNvSpPr/>
          <p:nvPr/>
        </p:nvSpPr>
        <p:spPr>
          <a:xfrm>
            <a:off x="1517904" y="4421124"/>
            <a:ext cx="2495041" cy="480060"/>
          </a:xfrm>
          <a:prstGeom prst="rect">
            <a:avLst/>
          </a:prstGeom>
          <a:noFill/>
          <a:ln/>
        </p:spPr>
        <p:txBody>
          <a:bodyPr wrap="square" lIns="0" tIns="0" rIns="0" bIns="0" rtlCol="0" anchor="ctr">
            <a:normAutofit/>
          </a:bodyPr>
          <a:lstStyle/>
          <a:p>
            <a:pPr algn="l" indent="0" marL="0">
              <a:buNone/>
            </a:pPr>
            <a:r>
              <a:rPr lang="en-US" sz="1500" b="1" dirty="0">
                <a:solidFill>
                  <a:srgbClr val="55627E"/>
                </a:solidFill>
                <a:latin typeface="Segoe UI Semibold" pitchFamily="34" charset="0"/>
                <a:ea typeface="Segoe UI Semibold" pitchFamily="34" charset="-122"/>
                <a:cs typeface="Segoe UI Semibold" pitchFamily="34" charset="-120"/>
              </a:rPr>
              <a:t>Servicio → su base</a:t>
            </a:r>
            <a:endParaRPr lang="en-US" sz="1500" dirty="0"/>
          </a:p>
        </p:txBody>
      </p:sp>
      <p:sp>
        <p:nvSpPr>
          <p:cNvPr id="50" name="Shape 48"/>
          <p:cNvSpPr/>
          <p:nvPr/>
        </p:nvSpPr>
        <p:spPr>
          <a:xfrm>
            <a:off x="4140961" y="4494276"/>
            <a:ext cx="0" cy="333756"/>
          </a:xfrm>
          <a:prstGeom prst="line">
            <a:avLst/>
          </a:prstGeom>
          <a:noFill/>
          <a:ln w="9525">
            <a:solidFill>
              <a:srgbClr val="DFE6F0"/>
            </a:solidFill>
            <a:prstDash val="solid"/>
          </a:ln>
        </p:spPr>
      </p:sp>
      <p:sp>
        <p:nvSpPr>
          <p:cNvPr id="51" name="Text 49"/>
          <p:cNvSpPr/>
          <p:nvPr/>
        </p:nvSpPr>
        <p:spPr>
          <a:xfrm>
            <a:off x="4268977" y="4421124"/>
            <a:ext cx="3717740"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JDBC a db-solicitudes:5432 o db-notificaciones</a:t>
            </a:r>
            <a:endParaRPr lang="en-US" sz="1400" dirty="0"/>
          </a:p>
        </p:txBody>
      </p:sp>
      <p:sp>
        <p:nvSpPr>
          <p:cNvPr id="52" name="Shape 50"/>
          <p:cNvSpPr/>
          <p:nvPr/>
        </p:nvSpPr>
        <p:spPr>
          <a:xfrm>
            <a:off x="8114733" y="4494276"/>
            <a:ext cx="0" cy="333756"/>
          </a:xfrm>
          <a:prstGeom prst="line">
            <a:avLst/>
          </a:prstGeom>
          <a:noFill/>
          <a:ln w="9525">
            <a:solidFill>
              <a:srgbClr val="DFE6F0"/>
            </a:solidFill>
            <a:prstDash val="solid"/>
          </a:ln>
        </p:spPr>
      </p:sp>
      <p:sp>
        <p:nvSpPr>
          <p:cNvPr id="53" name="Text 51"/>
          <p:cNvSpPr/>
          <p:nvPr/>
        </p:nvSpPr>
        <p:spPr>
          <a:xfrm>
            <a:off x="8242749" y="4421124"/>
            <a:ext cx="3208282"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Cada servicio es dueño de sus datos</a:t>
            </a:r>
            <a:endParaRPr lang="en-US" sz="1400" dirty="0"/>
          </a:p>
        </p:txBody>
      </p:sp>
      <p:sp>
        <p:nvSpPr>
          <p:cNvPr id="54" name="Shape 52"/>
          <p:cNvSpPr/>
          <p:nvPr/>
        </p:nvSpPr>
        <p:spPr>
          <a:xfrm>
            <a:off x="612648" y="5065776"/>
            <a:ext cx="10966399" cy="589788"/>
          </a:xfrm>
          <a:prstGeom prst="roundRect">
            <a:avLst>
              <a:gd name="adj" fmla="val 2170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5" name="Shape 53"/>
          <p:cNvSpPr/>
          <p:nvPr/>
        </p:nvSpPr>
        <p:spPr>
          <a:xfrm>
            <a:off x="612648" y="5157216"/>
            <a:ext cx="64008" cy="406908"/>
          </a:xfrm>
          <a:prstGeom prst="rect">
            <a:avLst/>
          </a:prstGeom>
          <a:solidFill>
            <a:srgbClr val="0A6648"/>
          </a:solidFill>
          <a:ln w="12700">
            <a:solidFill>
              <a:srgbClr val="0A6648"/>
            </a:solidFill>
            <a:prstDash val="solid"/>
          </a:ln>
        </p:spPr>
      </p:sp>
      <p:sp>
        <p:nvSpPr>
          <p:cNvPr id="56" name="Shape 54"/>
          <p:cNvSpPr/>
          <p:nvPr/>
        </p:nvSpPr>
        <p:spPr>
          <a:xfrm>
            <a:off x="806958" y="5138928"/>
            <a:ext cx="443484" cy="443484"/>
          </a:xfrm>
          <a:prstGeom prst="ellipse">
            <a:avLst/>
          </a:prstGeom>
          <a:solidFill>
            <a:srgbClr val="E1F1EA"/>
          </a:solidFill>
          <a:ln w="12700">
            <a:solidFill>
              <a:srgbClr val="E1F1EA"/>
            </a:solidFill>
            <a:prstDash val="solid"/>
          </a:ln>
        </p:spPr>
      </p:sp>
      <p:sp>
        <p:nvSpPr>
          <p:cNvPr id="57" name="Icono network"/>
          <p:cNvSpPr/>
          <p:nvPr/>
        </p:nvSpPr>
        <p:spPr>
          <a:xfrm>
            <a:off x="913394" y="5245364"/>
            <a:ext cx="230612" cy="230612"/>
          </a:xfrm>
          <a:custGeom>
            <a:avLst/>
            <a:gdLst/>
            <a:ahLst/>
            <a:cxnLst/>
            <a:rect l="l" t="t" r="r" b="b"/>
            <a:pathLst>
              <a:path w="230612" h="230612">
                <a:moveTo>
                  <a:pt x="163350" y="153741"/>
                </a:moveTo>
                <a:lnTo>
                  <a:pt x="201785" y="153741"/>
                </a:lnTo>
                <a:cubicBezTo>
                  <a:pt x="207092" y="153741"/>
                  <a:pt x="211394" y="158043"/>
                  <a:pt x="211394" y="163350"/>
                </a:cubicBezTo>
                <a:lnTo>
                  <a:pt x="211394" y="201785"/>
                </a:lnTo>
                <a:cubicBezTo>
                  <a:pt x="211394" y="207092"/>
                  <a:pt x="207092" y="211394"/>
                  <a:pt x="201785" y="211394"/>
                </a:cubicBezTo>
                <a:lnTo>
                  <a:pt x="163350" y="211394"/>
                </a:lnTo>
                <a:cubicBezTo>
                  <a:pt x="158043" y="211394"/>
                  <a:pt x="153741" y="207092"/>
                  <a:pt x="153741" y="201785"/>
                </a:cubicBezTo>
                <a:lnTo>
                  <a:pt x="153741" y="163350"/>
                </a:lnTo>
                <a:cubicBezTo>
                  <a:pt x="153741" y="158043"/>
                  <a:pt x="158043" y="153741"/>
                  <a:pt x="163350" y="153741"/>
                </a:cubicBezTo>
                <a:close/>
                <a:moveTo>
                  <a:pt x="28826" y="153741"/>
                </a:moveTo>
                <a:lnTo>
                  <a:pt x="67262" y="153741"/>
                </a:lnTo>
                <a:cubicBezTo>
                  <a:pt x="72569" y="153741"/>
                  <a:pt x="76871" y="158043"/>
                  <a:pt x="76871" y="163350"/>
                </a:cubicBezTo>
                <a:lnTo>
                  <a:pt x="76871" y="201785"/>
                </a:lnTo>
                <a:cubicBezTo>
                  <a:pt x="76871" y="207092"/>
                  <a:pt x="72569" y="211394"/>
                  <a:pt x="67262" y="211394"/>
                </a:cubicBezTo>
                <a:lnTo>
                  <a:pt x="28826" y="211394"/>
                </a:lnTo>
                <a:cubicBezTo>
                  <a:pt x="23520" y="211394"/>
                  <a:pt x="19218" y="207092"/>
                  <a:pt x="19218" y="201785"/>
                </a:cubicBezTo>
                <a:lnTo>
                  <a:pt x="19218" y="163350"/>
                </a:lnTo>
                <a:cubicBezTo>
                  <a:pt x="19218" y="158043"/>
                  <a:pt x="23520" y="153741"/>
                  <a:pt x="28826" y="153741"/>
                </a:cubicBezTo>
                <a:close/>
                <a:moveTo>
                  <a:pt x="96088" y="19218"/>
                </a:moveTo>
                <a:lnTo>
                  <a:pt x="134523" y="19218"/>
                </a:lnTo>
                <a:cubicBezTo>
                  <a:pt x="139830" y="19218"/>
                  <a:pt x="144132" y="23520"/>
                  <a:pt x="144132" y="28826"/>
                </a:cubicBezTo>
                <a:lnTo>
                  <a:pt x="144132" y="67262"/>
                </a:lnTo>
                <a:cubicBezTo>
                  <a:pt x="144132" y="72569"/>
                  <a:pt x="139830" y="76871"/>
                  <a:pt x="134523" y="76871"/>
                </a:cubicBezTo>
                <a:lnTo>
                  <a:pt x="96088" y="76871"/>
                </a:lnTo>
                <a:cubicBezTo>
                  <a:pt x="90781" y="76871"/>
                  <a:pt x="86479" y="72569"/>
                  <a:pt x="86479" y="67262"/>
                </a:cubicBezTo>
                <a:lnTo>
                  <a:pt x="86479" y="28826"/>
                </a:lnTo>
                <a:cubicBezTo>
                  <a:pt x="86479" y="23520"/>
                  <a:pt x="90781" y="19218"/>
                  <a:pt x="96088" y="19218"/>
                </a:cubicBezTo>
                <a:close/>
                <a:moveTo>
                  <a:pt x="48044" y="153741"/>
                </a:moveTo>
                <a:lnTo>
                  <a:pt x="48044" y="124915"/>
                </a:lnTo>
                <a:cubicBezTo>
                  <a:pt x="48044" y="119608"/>
                  <a:pt x="52346" y="115306"/>
                  <a:pt x="57653" y="115306"/>
                </a:cubicBezTo>
                <a:lnTo>
                  <a:pt x="172959" y="115306"/>
                </a:lnTo>
                <a:cubicBezTo>
                  <a:pt x="178266" y="115306"/>
                  <a:pt x="182568" y="119608"/>
                  <a:pt x="182568" y="124915"/>
                </a:cubicBezTo>
                <a:lnTo>
                  <a:pt x="182568" y="153741"/>
                </a:lnTo>
                <a:moveTo>
                  <a:pt x="115306" y="115306"/>
                </a:moveTo>
                <a:lnTo>
                  <a:pt x="115306" y="76871"/>
                </a:lnTo>
              </a:path>
            </a:pathLst>
          </a:custGeom>
          <a:noFill/>
          <a:ln w="19218" cap="rnd">
            <a:solidFill>
              <a:srgbClr val="0A6648"/>
            </a:solidFill>
            <a:prstDash val="solid"/>
            <a:round/>
          </a:ln>
        </p:spPr>
      </p:sp>
      <p:sp>
        <p:nvSpPr>
          <p:cNvPr id="58" name="Text 56"/>
          <p:cNvSpPr/>
          <p:nvPr/>
        </p:nvSpPr>
        <p:spPr>
          <a:xfrm>
            <a:off x="1517904" y="5120640"/>
            <a:ext cx="2495041" cy="480060"/>
          </a:xfrm>
          <a:prstGeom prst="rect">
            <a:avLst/>
          </a:prstGeom>
          <a:noFill/>
          <a:ln/>
        </p:spPr>
        <p:txBody>
          <a:bodyPr wrap="square" lIns="0" tIns="0" rIns="0" bIns="0" rtlCol="0" anchor="ctr">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Cómo se encuentran</a:t>
            </a:r>
            <a:endParaRPr lang="en-US" sz="1500" dirty="0"/>
          </a:p>
        </p:txBody>
      </p:sp>
      <p:sp>
        <p:nvSpPr>
          <p:cNvPr id="59" name="Shape 57"/>
          <p:cNvSpPr/>
          <p:nvPr/>
        </p:nvSpPr>
        <p:spPr>
          <a:xfrm>
            <a:off x="4140961" y="5193792"/>
            <a:ext cx="0" cy="333756"/>
          </a:xfrm>
          <a:prstGeom prst="line">
            <a:avLst/>
          </a:prstGeom>
          <a:noFill/>
          <a:ln w="9525">
            <a:solidFill>
              <a:srgbClr val="DFE6F0"/>
            </a:solidFill>
            <a:prstDash val="solid"/>
          </a:ln>
        </p:spPr>
      </p:sp>
      <p:sp>
        <p:nvSpPr>
          <p:cNvPr id="60" name="Text 58"/>
          <p:cNvSpPr/>
          <p:nvPr/>
        </p:nvSpPr>
        <p:spPr>
          <a:xfrm>
            <a:off x="4268977" y="5120640"/>
            <a:ext cx="3717740"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Por nombre: la red de Compose o un Service de Kubernetes</a:t>
            </a:r>
            <a:endParaRPr lang="en-US" sz="1400" dirty="0"/>
          </a:p>
        </p:txBody>
      </p:sp>
      <p:sp>
        <p:nvSpPr>
          <p:cNvPr id="61" name="Shape 59"/>
          <p:cNvSpPr/>
          <p:nvPr/>
        </p:nvSpPr>
        <p:spPr>
          <a:xfrm>
            <a:off x="8114733" y="5193792"/>
            <a:ext cx="0" cy="333756"/>
          </a:xfrm>
          <a:prstGeom prst="line">
            <a:avLst/>
          </a:prstGeom>
          <a:noFill/>
          <a:ln w="9525">
            <a:solidFill>
              <a:srgbClr val="DFE6F0"/>
            </a:solidFill>
            <a:prstDash val="solid"/>
          </a:ln>
        </p:spPr>
      </p:sp>
      <p:sp>
        <p:nvSpPr>
          <p:cNvPr id="62" name="Text 60"/>
          <p:cNvSpPr/>
          <p:nvPr/>
        </p:nvSpPr>
        <p:spPr>
          <a:xfrm>
            <a:off x="8242749" y="5120640"/>
            <a:ext cx="3208282"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Sin IPs fijas: funciona igual en cualquier ambiente</a:t>
            </a:r>
            <a:endParaRPr lang="en-US" sz="1400" dirty="0"/>
          </a:p>
        </p:txBody>
      </p:sp>
      <p:sp>
        <p:nvSpPr>
          <p:cNvPr id="63" name="Shape 61"/>
          <p:cNvSpPr/>
          <p:nvPr/>
        </p:nvSpPr>
        <p:spPr>
          <a:xfrm>
            <a:off x="612648" y="5765292"/>
            <a:ext cx="10966399" cy="589788"/>
          </a:xfrm>
          <a:prstGeom prst="roundRect">
            <a:avLst>
              <a:gd name="adj" fmla="val 2170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64" name="Shape 62"/>
          <p:cNvSpPr/>
          <p:nvPr/>
        </p:nvSpPr>
        <p:spPr>
          <a:xfrm>
            <a:off x="612648" y="5856732"/>
            <a:ext cx="64008" cy="406908"/>
          </a:xfrm>
          <a:prstGeom prst="rect">
            <a:avLst/>
          </a:prstGeom>
          <a:solidFill>
            <a:srgbClr val="8A4B06"/>
          </a:solidFill>
          <a:ln w="12700">
            <a:solidFill>
              <a:srgbClr val="8A4B06"/>
            </a:solidFill>
            <a:prstDash val="solid"/>
          </a:ln>
        </p:spPr>
      </p:sp>
      <p:sp>
        <p:nvSpPr>
          <p:cNvPr id="65" name="Shape 63"/>
          <p:cNvSpPr/>
          <p:nvPr/>
        </p:nvSpPr>
        <p:spPr>
          <a:xfrm>
            <a:off x="806958" y="5838444"/>
            <a:ext cx="443484" cy="443484"/>
          </a:xfrm>
          <a:prstGeom prst="ellipse">
            <a:avLst/>
          </a:prstGeom>
          <a:solidFill>
            <a:srgbClr val="FCEFD6"/>
          </a:solidFill>
          <a:ln w="12700">
            <a:solidFill>
              <a:srgbClr val="FCEFD6"/>
            </a:solidFill>
            <a:prstDash val="solid"/>
          </a:ln>
        </p:spPr>
      </p:sp>
      <p:sp>
        <p:nvSpPr>
          <p:cNvPr id="66" name="Icono waypoints"/>
          <p:cNvSpPr/>
          <p:nvPr/>
        </p:nvSpPr>
        <p:spPr>
          <a:xfrm>
            <a:off x="913394" y="5944880"/>
            <a:ext cx="230612" cy="230612"/>
          </a:xfrm>
          <a:custGeom>
            <a:avLst/>
            <a:gdLst/>
            <a:ahLst/>
            <a:cxnLst/>
            <a:rect l="l" t="t" r="r" b="b"/>
            <a:pathLst>
              <a:path w="230612" h="230612">
                <a:moveTo>
                  <a:pt x="139328" y="43240"/>
                </a:moveTo>
                <a:cubicBezTo>
                  <a:pt x="139328" y="56507"/>
                  <a:pt x="128573" y="67262"/>
                  <a:pt x="115306" y="67262"/>
                </a:cubicBezTo>
                <a:cubicBezTo>
                  <a:pt x="102039" y="67262"/>
                  <a:pt x="91284" y="56507"/>
                  <a:pt x="91284" y="43240"/>
                </a:cubicBezTo>
                <a:cubicBezTo>
                  <a:pt x="91284" y="29973"/>
                  <a:pt x="102039" y="19218"/>
                  <a:pt x="115306" y="19218"/>
                </a:cubicBezTo>
                <a:cubicBezTo>
                  <a:pt x="128573" y="19218"/>
                  <a:pt x="139328" y="29973"/>
                  <a:pt x="139328" y="43240"/>
                </a:cubicBezTo>
                <a:close/>
                <a:moveTo>
                  <a:pt x="98010" y="60536"/>
                </a:moveTo>
                <a:lnTo>
                  <a:pt x="60536" y="98010"/>
                </a:lnTo>
                <a:moveTo>
                  <a:pt x="67262" y="115306"/>
                </a:moveTo>
                <a:cubicBezTo>
                  <a:pt x="67262" y="128573"/>
                  <a:pt x="56507" y="139328"/>
                  <a:pt x="43240" y="139328"/>
                </a:cubicBezTo>
                <a:cubicBezTo>
                  <a:pt x="29973" y="139328"/>
                  <a:pt x="19218" y="128573"/>
                  <a:pt x="19218" y="115306"/>
                </a:cubicBezTo>
                <a:cubicBezTo>
                  <a:pt x="19218" y="102039"/>
                  <a:pt x="29973" y="91284"/>
                  <a:pt x="43240" y="91284"/>
                </a:cubicBezTo>
                <a:cubicBezTo>
                  <a:pt x="56507" y="91284"/>
                  <a:pt x="67262" y="102039"/>
                  <a:pt x="67262" y="115306"/>
                </a:cubicBezTo>
                <a:close/>
                <a:moveTo>
                  <a:pt x="67262" y="115306"/>
                </a:moveTo>
                <a:lnTo>
                  <a:pt x="163350" y="115306"/>
                </a:lnTo>
                <a:moveTo>
                  <a:pt x="211394" y="115306"/>
                </a:moveTo>
                <a:cubicBezTo>
                  <a:pt x="211394" y="128573"/>
                  <a:pt x="200639" y="139328"/>
                  <a:pt x="187372" y="139328"/>
                </a:cubicBezTo>
                <a:cubicBezTo>
                  <a:pt x="174105" y="139328"/>
                  <a:pt x="163350" y="128573"/>
                  <a:pt x="163350" y="115306"/>
                </a:cubicBezTo>
                <a:cubicBezTo>
                  <a:pt x="163350" y="102039"/>
                  <a:pt x="174105" y="91284"/>
                  <a:pt x="187372" y="91284"/>
                </a:cubicBezTo>
                <a:cubicBezTo>
                  <a:pt x="200639" y="91284"/>
                  <a:pt x="211394" y="102039"/>
                  <a:pt x="211394" y="115306"/>
                </a:cubicBezTo>
                <a:close/>
                <a:moveTo>
                  <a:pt x="132602" y="170076"/>
                </a:moveTo>
                <a:lnTo>
                  <a:pt x="170076" y="132602"/>
                </a:lnTo>
                <a:moveTo>
                  <a:pt x="139328" y="187372"/>
                </a:moveTo>
                <a:cubicBezTo>
                  <a:pt x="139328" y="200639"/>
                  <a:pt x="128573" y="211394"/>
                  <a:pt x="115306" y="211394"/>
                </a:cubicBezTo>
                <a:cubicBezTo>
                  <a:pt x="102039" y="211394"/>
                  <a:pt x="91284" y="200639"/>
                  <a:pt x="91284" y="187372"/>
                </a:cubicBezTo>
                <a:cubicBezTo>
                  <a:pt x="91284" y="174105"/>
                  <a:pt x="102039" y="163350"/>
                  <a:pt x="115306" y="163350"/>
                </a:cubicBezTo>
                <a:cubicBezTo>
                  <a:pt x="128573" y="163350"/>
                  <a:pt x="139328" y="174105"/>
                  <a:pt x="139328" y="187372"/>
                </a:cubicBezTo>
                <a:close/>
              </a:path>
            </a:pathLst>
          </a:custGeom>
          <a:noFill/>
          <a:ln w="19218" cap="rnd">
            <a:solidFill>
              <a:srgbClr val="8A4B06"/>
            </a:solidFill>
            <a:prstDash val="solid"/>
            <a:round/>
          </a:ln>
        </p:spPr>
      </p:sp>
      <p:sp>
        <p:nvSpPr>
          <p:cNvPr id="67" name="Text 65"/>
          <p:cNvSpPr/>
          <p:nvPr/>
        </p:nvSpPr>
        <p:spPr>
          <a:xfrm>
            <a:off x="1517904" y="5820156"/>
            <a:ext cx="2495041" cy="480060"/>
          </a:xfrm>
          <a:prstGeom prst="rect">
            <a:avLst/>
          </a:prstGeom>
          <a:noFill/>
          <a:ln/>
        </p:spPr>
        <p:txBody>
          <a:bodyPr wrap="square" lIns="0" tIns="0" rIns="0" bIns="0" rtlCol="0" anchor="ctr">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Seguimiento</a:t>
            </a:r>
            <a:endParaRPr lang="en-US" sz="1500" dirty="0"/>
          </a:p>
        </p:txBody>
      </p:sp>
      <p:sp>
        <p:nvSpPr>
          <p:cNvPr id="68" name="Shape 66"/>
          <p:cNvSpPr/>
          <p:nvPr/>
        </p:nvSpPr>
        <p:spPr>
          <a:xfrm>
            <a:off x="4140961" y="5893308"/>
            <a:ext cx="0" cy="333756"/>
          </a:xfrm>
          <a:prstGeom prst="line">
            <a:avLst/>
          </a:prstGeom>
          <a:noFill/>
          <a:ln w="9525">
            <a:solidFill>
              <a:srgbClr val="DFE6F0"/>
            </a:solidFill>
            <a:prstDash val="solid"/>
          </a:ln>
        </p:spPr>
      </p:sp>
      <p:sp>
        <p:nvSpPr>
          <p:cNvPr id="69" name="Text 67"/>
          <p:cNvSpPr/>
          <p:nvPr/>
        </p:nvSpPr>
        <p:spPr>
          <a:xfrm>
            <a:off x="4268977" y="5820156"/>
            <a:ext cx="3717740"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El traceId viaja en la cabecera de cada llamada HTTP</a:t>
            </a:r>
            <a:endParaRPr lang="en-US" sz="1400" dirty="0"/>
          </a:p>
        </p:txBody>
      </p:sp>
      <p:sp>
        <p:nvSpPr>
          <p:cNvPr id="70" name="Shape 68"/>
          <p:cNvSpPr/>
          <p:nvPr/>
        </p:nvSpPr>
        <p:spPr>
          <a:xfrm>
            <a:off x="8114733" y="5893308"/>
            <a:ext cx="0" cy="333756"/>
          </a:xfrm>
          <a:prstGeom prst="line">
            <a:avLst/>
          </a:prstGeom>
          <a:noFill/>
          <a:ln w="9525">
            <a:solidFill>
              <a:srgbClr val="DFE6F0"/>
            </a:solidFill>
            <a:prstDash val="solid"/>
          </a:ln>
        </p:spPr>
      </p:sp>
      <p:sp>
        <p:nvSpPr>
          <p:cNvPr id="71" name="Text 69"/>
          <p:cNvSpPr/>
          <p:nvPr/>
        </p:nvSpPr>
        <p:spPr>
          <a:xfrm>
            <a:off x="8242749" y="5820156"/>
            <a:ext cx="3208282"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Una sola búsqueda en Grafana sigue todo el recorrido</a:t>
            </a:r>
            <a:endParaRPr lang="en-US" sz="1400" dirty="0"/>
          </a:p>
        </p:txBody>
      </p:sp>
      <p:sp>
        <p:nvSpPr>
          <p:cNvPr id="72" name="Text 7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Del procedimiento almacenado al ORM</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ORM: cada clase Java se mapea a una tabla y el SQL de todos los días se genera solo.</a:t>
            </a:r>
            <a:endParaRPr lang="en-US" sz="1700" dirty="0"/>
          </a:p>
        </p:txBody>
      </p:sp>
      <p:sp>
        <p:nvSpPr>
          <p:cNvPr id="14" name="Shape 12"/>
          <p:cNvSpPr/>
          <p:nvPr/>
        </p:nvSpPr>
        <p:spPr>
          <a:xfrm>
            <a:off x="612648" y="1719072"/>
            <a:ext cx="5163160" cy="4114800"/>
          </a:xfrm>
          <a:prstGeom prst="roundRect">
            <a:avLst>
              <a:gd name="adj" fmla="val 3111"/>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612648" y="1719072"/>
            <a:ext cx="5163160" cy="914400"/>
          </a:xfrm>
          <a:prstGeom prst="roundRect">
            <a:avLst>
              <a:gd name="adj" fmla="val 14000"/>
            </a:avLst>
          </a:prstGeom>
          <a:solidFill>
            <a:srgbClr val="55627E"/>
          </a:solidFill>
          <a:ln w="12700">
            <a:solidFill>
              <a:srgbClr val="55627E"/>
            </a:solidFill>
            <a:prstDash val="solid"/>
          </a:ln>
        </p:spPr>
      </p:sp>
      <p:sp>
        <p:nvSpPr>
          <p:cNvPr id="16" name="Shape 14"/>
          <p:cNvSpPr/>
          <p:nvPr/>
        </p:nvSpPr>
        <p:spPr>
          <a:xfrm>
            <a:off x="612648" y="2267712"/>
            <a:ext cx="5163160" cy="365760"/>
          </a:xfrm>
          <a:prstGeom prst="rect">
            <a:avLst/>
          </a:prstGeom>
          <a:solidFill>
            <a:srgbClr val="55627E"/>
          </a:solidFill>
          <a:ln w="12700">
            <a:solidFill>
              <a:srgbClr val="55627E"/>
            </a:solidFill>
            <a:prstDash val="solid"/>
          </a:ln>
        </p:spPr>
      </p:sp>
      <p:sp>
        <p:nvSpPr>
          <p:cNvPr id="17" name="Shape 15"/>
          <p:cNvSpPr/>
          <p:nvPr/>
        </p:nvSpPr>
        <p:spPr>
          <a:xfrm>
            <a:off x="841248" y="1874520"/>
            <a:ext cx="603504" cy="603504"/>
          </a:xfrm>
          <a:prstGeom prst="ellipse">
            <a:avLst/>
          </a:prstGeom>
          <a:solidFill>
            <a:srgbClr val="FFFFFF"/>
          </a:solidFill>
          <a:ln w="12700">
            <a:solidFill>
              <a:srgbClr val="FFFFFF"/>
            </a:solidFill>
            <a:prstDash val="solid"/>
          </a:ln>
        </p:spPr>
      </p:sp>
      <p:sp>
        <p:nvSpPr>
          <p:cNvPr id="18" name="Icono database"/>
          <p:cNvSpPr/>
          <p:nvPr/>
        </p:nvSpPr>
        <p:spPr>
          <a:xfrm>
            <a:off x="986089" y="2019361"/>
            <a:ext cx="313822" cy="313822"/>
          </a:xfrm>
          <a:custGeom>
            <a:avLst/>
            <a:gdLst/>
            <a:ahLst/>
            <a:cxnLst/>
            <a:rect l="l" t="t" r="r" b="b"/>
            <a:pathLst>
              <a:path w="313822" h="313822">
                <a:moveTo>
                  <a:pt x="274594" y="65380"/>
                </a:moveTo>
                <a:cubicBezTo>
                  <a:pt x="274594" y="87044"/>
                  <a:pt x="221906" y="104607"/>
                  <a:pt x="156911" y="104607"/>
                </a:cubicBezTo>
                <a:cubicBezTo>
                  <a:pt x="91916" y="104607"/>
                  <a:pt x="39228" y="87044"/>
                  <a:pt x="39228" y="65380"/>
                </a:cubicBezTo>
                <a:cubicBezTo>
                  <a:pt x="39228" y="43715"/>
                  <a:pt x="91916" y="26152"/>
                  <a:pt x="156911" y="26152"/>
                </a:cubicBezTo>
                <a:cubicBezTo>
                  <a:pt x="221906" y="26152"/>
                  <a:pt x="274594" y="43715"/>
                  <a:pt x="274594" y="65380"/>
                </a:cubicBezTo>
                <a:close/>
                <a:moveTo>
                  <a:pt x="39228" y="65380"/>
                </a:moveTo>
                <a:lnTo>
                  <a:pt x="39228" y="248442"/>
                </a:lnTo>
                <a:cubicBezTo>
                  <a:pt x="39228" y="270107"/>
                  <a:pt x="91916" y="287670"/>
                  <a:pt x="156911" y="287670"/>
                </a:cubicBezTo>
                <a:cubicBezTo>
                  <a:pt x="221906" y="287670"/>
                  <a:pt x="274594" y="270107"/>
                  <a:pt x="274594" y="248442"/>
                </a:cubicBezTo>
                <a:lnTo>
                  <a:pt x="274594" y="65380"/>
                </a:lnTo>
                <a:moveTo>
                  <a:pt x="39228" y="156911"/>
                </a:moveTo>
                <a:cubicBezTo>
                  <a:pt x="39228" y="178576"/>
                  <a:pt x="91916" y="196139"/>
                  <a:pt x="156911" y="196139"/>
                </a:cubicBezTo>
                <a:cubicBezTo>
                  <a:pt x="221906" y="196139"/>
                  <a:pt x="274594" y="178576"/>
                  <a:pt x="274594" y="156911"/>
                </a:cubicBezTo>
              </a:path>
            </a:pathLst>
          </a:custGeom>
          <a:noFill/>
          <a:ln w="26152" cap="rnd">
            <a:solidFill>
              <a:srgbClr val="55627E"/>
            </a:solidFill>
            <a:prstDash val="solid"/>
            <a:round/>
          </a:ln>
        </p:spPr>
      </p:sp>
      <p:sp>
        <p:nvSpPr>
          <p:cNvPr id="19" name="Text 17"/>
          <p:cNvSpPr/>
          <p:nvPr/>
        </p:nvSpPr>
        <p:spPr>
          <a:xfrm>
            <a:off x="161848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Con procedimientos almacenados</a:t>
            </a:r>
            <a:endParaRPr lang="en-US" sz="1900" dirty="0"/>
          </a:p>
        </p:txBody>
      </p:sp>
      <p:sp>
        <p:nvSpPr>
          <p:cNvPr id="20" name="Icono arrow-right"/>
          <p:cNvSpPr/>
          <p:nvPr/>
        </p:nvSpPr>
        <p:spPr>
          <a:xfrm>
            <a:off x="905256" y="3023235"/>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21" name="Text 19"/>
          <p:cNvSpPr/>
          <p:nvPr/>
        </p:nvSpPr>
        <p:spPr>
          <a:xfrm>
            <a:off x="1399032" y="281635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La regla vive en la base: EXEC sp_enviar</a:t>
            </a:r>
            <a:endParaRPr lang="en-US" sz="1500" dirty="0"/>
          </a:p>
        </p:txBody>
      </p:sp>
      <p:sp>
        <p:nvSpPr>
          <p:cNvPr id="22" name="Shape 20"/>
          <p:cNvSpPr/>
          <p:nvPr/>
        </p:nvSpPr>
        <p:spPr>
          <a:xfrm>
            <a:off x="886968" y="3559302"/>
            <a:ext cx="4614520" cy="0"/>
          </a:xfrm>
          <a:prstGeom prst="line">
            <a:avLst/>
          </a:prstGeom>
          <a:noFill/>
          <a:ln w="9525">
            <a:solidFill>
              <a:srgbClr val="DFE6F0"/>
            </a:solidFill>
            <a:prstDash val="solid"/>
          </a:ln>
        </p:spPr>
      </p:sp>
      <p:sp>
        <p:nvSpPr>
          <p:cNvPr id="23" name="Icono arrow-right"/>
          <p:cNvSpPr/>
          <p:nvPr/>
        </p:nvSpPr>
        <p:spPr>
          <a:xfrm>
            <a:off x="905256" y="3766185"/>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24" name="Text 22"/>
          <p:cNvSpPr/>
          <p:nvPr/>
        </p:nvSpPr>
        <p:spPr>
          <a:xfrm>
            <a:off x="1399032" y="355930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Cambiar una regla es cambiar la base</a:t>
            </a:r>
            <a:endParaRPr lang="en-US" sz="1500" dirty="0"/>
          </a:p>
        </p:txBody>
      </p:sp>
      <p:sp>
        <p:nvSpPr>
          <p:cNvPr id="25" name="Shape 23"/>
          <p:cNvSpPr/>
          <p:nvPr/>
        </p:nvSpPr>
        <p:spPr>
          <a:xfrm>
            <a:off x="886968" y="4302252"/>
            <a:ext cx="4614520" cy="0"/>
          </a:xfrm>
          <a:prstGeom prst="line">
            <a:avLst/>
          </a:prstGeom>
          <a:noFill/>
          <a:ln w="9525">
            <a:solidFill>
              <a:srgbClr val="DFE6F0"/>
            </a:solidFill>
            <a:prstDash val="solid"/>
          </a:ln>
        </p:spPr>
      </p:sp>
      <p:sp>
        <p:nvSpPr>
          <p:cNvPr id="26" name="Icono arrow-right"/>
          <p:cNvSpPr/>
          <p:nvPr/>
        </p:nvSpPr>
        <p:spPr>
          <a:xfrm>
            <a:off x="905256" y="4509135"/>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27" name="Text 25"/>
          <p:cNvSpPr/>
          <p:nvPr/>
        </p:nvSpPr>
        <p:spPr>
          <a:xfrm>
            <a:off x="1399032" y="430225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Para probar hace falta la base con datos</a:t>
            </a:r>
            <a:endParaRPr lang="en-US" sz="1500" dirty="0"/>
          </a:p>
        </p:txBody>
      </p:sp>
      <p:sp>
        <p:nvSpPr>
          <p:cNvPr id="28" name="Shape 26"/>
          <p:cNvSpPr/>
          <p:nvPr/>
        </p:nvSpPr>
        <p:spPr>
          <a:xfrm>
            <a:off x="886968" y="5045202"/>
            <a:ext cx="4614520" cy="0"/>
          </a:xfrm>
          <a:prstGeom prst="line">
            <a:avLst/>
          </a:prstGeom>
          <a:noFill/>
          <a:ln w="9525">
            <a:solidFill>
              <a:srgbClr val="DFE6F0"/>
            </a:solidFill>
            <a:prstDash val="solid"/>
          </a:ln>
        </p:spPr>
      </p:sp>
      <p:sp>
        <p:nvSpPr>
          <p:cNvPr id="29" name="Icono arrow-right"/>
          <p:cNvSpPr/>
          <p:nvPr/>
        </p:nvSpPr>
        <p:spPr>
          <a:xfrm>
            <a:off x="905256" y="5252085"/>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30" name="Text 28"/>
          <p:cNvSpPr/>
          <p:nvPr/>
        </p:nvSpPr>
        <p:spPr>
          <a:xfrm>
            <a:off x="1399032" y="504520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Atado a un motor: T-SQL o PL/SQL</a:t>
            </a:r>
            <a:endParaRPr lang="en-US" sz="1500" dirty="0"/>
          </a:p>
        </p:txBody>
      </p:sp>
      <p:sp>
        <p:nvSpPr>
          <p:cNvPr id="31" name="Shape 29"/>
          <p:cNvSpPr/>
          <p:nvPr/>
        </p:nvSpPr>
        <p:spPr>
          <a:xfrm>
            <a:off x="6415888" y="1719072"/>
            <a:ext cx="5163160" cy="4114800"/>
          </a:xfrm>
          <a:prstGeom prst="roundRect">
            <a:avLst>
              <a:gd name="adj" fmla="val 3111"/>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6415888" y="1719072"/>
            <a:ext cx="5163160" cy="914400"/>
          </a:xfrm>
          <a:prstGeom prst="roundRect">
            <a:avLst>
              <a:gd name="adj" fmla="val 14000"/>
            </a:avLst>
          </a:prstGeom>
          <a:solidFill>
            <a:srgbClr val="0B6E8A"/>
          </a:solidFill>
          <a:ln w="12700">
            <a:solidFill>
              <a:srgbClr val="0B6E8A"/>
            </a:solidFill>
            <a:prstDash val="solid"/>
          </a:ln>
        </p:spPr>
      </p:sp>
      <p:sp>
        <p:nvSpPr>
          <p:cNvPr id="33" name="Shape 31"/>
          <p:cNvSpPr/>
          <p:nvPr/>
        </p:nvSpPr>
        <p:spPr>
          <a:xfrm>
            <a:off x="6415888" y="2267712"/>
            <a:ext cx="5163160" cy="365760"/>
          </a:xfrm>
          <a:prstGeom prst="rect">
            <a:avLst/>
          </a:prstGeom>
          <a:solidFill>
            <a:srgbClr val="0B6E8A"/>
          </a:solidFill>
          <a:ln w="12700">
            <a:solidFill>
              <a:srgbClr val="0B6E8A"/>
            </a:solidFill>
            <a:prstDash val="solid"/>
          </a:ln>
        </p:spPr>
      </p:sp>
      <p:sp>
        <p:nvSpPr>
          <p:cNvPr id="34" name="Shape 32"/>
          <p:cNvSpPr/>
          <p:nvPr/>
        </p:nvSpPr>
        <p:spPr>
          <a:xfrm>
            <a:off x="6644488" y="1874520"/>
            <a:ext cx="603504" cy="603504"/>
          </a:xfrm>
          <a:prstGeom prst="ellipse">
            <a:avLst/>
          </a:prstGeom>
          <a:solidFill>
            <a:srgbClr val="FFFFFF"/>
          </a:solidFill>
          <a:ln w="12700">
            <a:solidFill>
              <a:srgbClr val="FFFFFF"/>
            </a:solidFill>
            <a:prstDash val="solid"/>
          </a:ln>
        </p:spPr>
      </p:sp>
      <p:sp>
        <p:nvSpPr>
          <p:cNvPr id="35" name="Icono code"/>
          <p:cNvSpPr/>
          <p:nvPr/>
        </p:nvSpPr>
        <p:spPr>
          <a:xfrm>
            <a:off x="6789329" y="2019361"/>
            <a:ext cx="313822" cy="313822"/>
          </a:xfrm>
          <a:custGeom>
            <a:avLst/>
            <a:gdLst/>
            <a:ahLst/>
            <a:cxnLst/>
            <a:rect l="l" t="t" r="r" b="b"/>
            <a:pathLst>
              <a:path w="313822" h="313822">
                <a:moveTo>
                  <a:pt x="209215" y="235367"/>
                </a:moveTo>
                <a:lnTo>
                  <a:pt x="287670" y="156911"/>
                </a:lnTo>
                <a:lnTo>
                  <a:pt x="209215" y="78456"/>
                </a:lnTo>
                <a:moveTo>
                  <a:pt x="104607" y="78456"/>
                </a:moveTo>
                <a:lnTo>
                  <a:pt x="26152" y="156911"/>
                </a:lnTo>
                <a:lnTo>
                  <a:pt x="104607" y="235367"/>
                </a:lnTo>
              </a:path>
            </a:pathLst>
          </a:custGeom>
          <a:noFill/>
          <a:ln w="26152" cap="rnd">
            <a:solidFill>
              <a:srgbClr val="0B6E8A"/>
            </a:solidFill>
            <a:prstDash val="solid"/>
            <a:round/>
          </a:ln>
        </p:spPr>
      </p:sp>
      <p:sp>
        <p:nvSpPr>
          <p:cNvPr id="36" name="Text 34"/>
          <p:cNvSpPr/>
          <p:nvPr/>
        </p:nvSpPr>
        <p:spPr>
          <a:xfrm>
            <a:off x="742172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Con un ORM: JPA + Hibernate</a:t>
            </a:r>
            <a:endParaRPr lang="en-US" sz="1900" dirty="0"/>
          </a:p>
        </p:txBody>
      </p:sp>
      <p:sp>
        <p:nvSpPr>
          <p:cNvPr id="37" name="Icono circle-check"/>
          <p:cNvSpPr/>
          <p:nvPr/>
        </p:nvSpPr>
        <p:spPr>
          <a:xfrm>
            <a:off x="6708496" y="3023235"/>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8" name="Text 36"/>
          <p:cNvSpPr/>
          <p:nvPr/>
        </p:nvSpPr>
        <p:spPr>
          <a:xfrm>
            <a:off x="7202272" y="281635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La regla vive en Java, en el dominio</a:t>
            </a:r>
            <a:endParaRPr lang="en-US" sz="1500" dirty="0"/>
          </a:p>
        </p:txBody>
      </p:sp>
      <p:sp>
        <p:nvSpPr>
          <p:cNvPr id="39" name="Shape 37"/>
          <p:cNvSpPr/>
          <p:nvPr/>
        </p:nvSpPr>
        <p:spPr>
          <a:xfrm>
            <a:off x="6690208" y="3559302"/>
            <a:ext cx="4614520" cy="0"/>
          </a:xfrm>
          <a:prstGeom prst="line">
            <a:avLst/>
          </a:prstGeom>
          <a:noFill/>
          <a:ln w="9525">
            <a:solidFill>
              <a:srgbClr val="DFE6F0"/>
            </a:solidFill>
            <a:prstDash val="solid"/>
          </a:ln>
        </p:spPr>
      </p:sp>
      <p:sp>
        <p:nvSpPr>
          <p:cNvPr id="40" name="Icono circle-check"/>
          <p:cNvSpPr/>
          <p:nvPr/>
        </p:nvSpPr>
        <p:spPr>
          <a:xfrm>
            <a:off x="6708496" y="3766185"/>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1" name="Text 39"/>
          <p:cNvSpPr/>
          <p:nvPr/>
        </p:nvSpPr>
        <p:spPr>
          <a:xfrm>
            <a:off x="7202272" y="355930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Hibernate genera el SQL de guardar y buscar</a:t>
            </a:r>
            <a:endParaRPr lang="en-US" sz="1500" dirty="0"/>
          </a:p>
        </p:txBody>
      </p:sp>
      <p:sp>
        <p:nvSpPr>
          <p:cNvPr id="42" name="Shape 40"/>
          <p:cNvSpPr/>
          <p:nvPr/>
        </p:nvSpPr>
        <p:spPr>
          <a:xfrm>
            <a:off x="6690208" y="4302252"/>
            <a:ext cx="4614520" cy="0"/>
          </a:xfrm>
          <a:prstGeom prst="line">
            <a:avLst/>
          </a:prstGeom>
          <a:noFill/>
          <a:ln w="9525">
            <a:solidFill>
              <a:srgbClr val="DFE6F0"/>
            </a:solidFill>
            <a:prstDash val="solid"/>
          </a:ln>
        </p:spPr>
      </p:sp>
      <p:sp>
        <p:nvSpPr>
          <p:cNvPr id="43" name="Icono circle-check"/>
          <p:cNvSpPr/>
          <p:nvPr/>
        </p:nvSpPr>
        <p:spPr>
          <a:xfrm>
            <a:off x="6708496" y="4509135"/>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4" name="Text 42"/>
          <p:cNvSpPr/>
          <p:nvPr/>
        </p:nvSpPr>
        <p:spPr>
          <a:xfrm>
            <a:off x="7202272" y="430225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Las reglas se prueban sin base, en milisegundos</a:t>
            </a:r>
            <a:endParaRPr lang="en-US" sz="1500" dirty="0"/>
          </a:p>
        </p:txBody>
      </p:sp>
      <p:sp>
        <p:nvSpPr>
          <p:cNvPr id="45" name="Shape 43"/>
          <p:cNvSpPr/>
          <p:nvPr/>
        </p:nvSpPr>
        <p:spPr>
          <a:xfrm>
            <a:off x="6690208" y="5045202"/>
            <a:ext cx="4614520" cy="0"/>
          </a:xfrm>
          <a:prstGeom prst="line">
            <a:avLst/>
          </a:prstGeom>
          <a:noFill/>
          <a:ln w="9525">
            <a:solidFill>
              <a:srgbClr val="DFE6F0"/>
            </a:solidFill>
            <a:prstDash val="solid"/>
          </a:ln>
        </p:spPr>
      </p:sp>
      <p:sp>
        <p:nvSpPr>
          <p:cNvPr id="46" name="Icono circle-check"/>
          <p:cNvSpPr/>
          <p:nvPr/>
        </p:nvSpPr>
        <p:spPr>
          <a:xfrm>
            <a:off x="6708496" y="5252085"/>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7" name="Text 45"/>
          <p:cNvSpPr/>
          <p:nvPr/>
        </p:nvSpPr>
        <p:spPr>
          <a:xfrm>
            <a:off x="7202272" y="504520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Cambiar de motor no toca las reglas</a:t>
            </a:r>
            <a:endParaRPr lang="en-US" sz="1500" dirty="0"/>
          </a:p>
        </p:txBody>
      </p:sp>
      <p:sp>
        <p:nvSpPr>
          <p:cNvPr id="48" name="Text 46"/>
          <p:cNvSpPr/>
          <p:nvPr/>
        </p:nvSpPr>
        <p:spPr>
          <a:xfrm>
            <a:off x="5766664" y="3447288"/>
            <a:ext cx="658368" cy="658368"/>
          </a:xfrm>
          <a:prstGeom prst="ellipse">
            <a:avLst/>
          </a:prstGeom>
          <a:solidFill>
            <a:srgbClr val="0B1F3A"/>
          </a:solidFill>
          <a:ln w="38100">
            <a:solidFill>
              <a:srgbClr val="FFFFFF"/>
            </a:solidFill>
          </a:ln>
          <a:effectLst>
            <a:outerShdw sx="100000" sy="100000" kx="0" ky="0" algn="bl" rotWithShape="0" blurRad="76200" dist="19050" dir="5400000">
              <a:srgbClr val="0B1F3A">
                <a:alpha val="14000"/>
              </a:srgbClr>
            </a:outerShdw>
          </a:effectLst>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vs</a:t>
            </a:r>
            <a:endParaRPr lang="en-US" sz="1600" dirty="0"/>
          </a:p>
        </p:txBody>
      </p:sp>
      <p:sp>
        <p:nvSpPr>
          <p:cNvPr id="49" name="Shape 47"/>
          <p:cNvSpPr/>
          <p:nvPr/>
        </p:nvSpPr>
        <p:spPr>
          <a:xfrm>
            <a:off x="0" y="5961888"/>
            <a:ext cx="12191695" cy="475488"/>
          </a:xfrm>
          <a:prstGeom prst="rect">
            <a:avLst/>
          </a:prstGeom>
          <a:solidFill>
            <a:srgbClr val="0B2350"/>
          </a:solidFill>
          <a:ln w="12700">
            <a:solidFill>
              <a:srgbClr val="0B2350"/>
            </a:solidFill>
            <a:prstDash val="solid"/>
          </a:ln>
        </p:spPr>
      </p:sp>
      <p:sp>
        <p:nvSpPr>
          <p:cNvPr id="50"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51" name="Text 49"/>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No es todo o nada: las reglas van al código y los reportes o consultas pesadas pueden seguir en SQL.</a:t>
            </a:r>
            <a:endParaRPr lang="en-US" sz="14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el código llega a la base</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Cinco piezas entre una línea de Java y una fila en PostgreSQL.</a:t>
            </a:r>
            <a:endParaRPr lang="en-US" sz="1700" dirty="0"/>
          </a:p>
        </p:txBody>
      </p:sp>
      <p:sp>
        <p:nvSpPr>
          <p:cNvPr id="14" name="Shape 12"/>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5" name="Shape 13"/>
          <p:cNvSpPr/>
          <p:nvPr/>
        </p:nvSpPr>
        <p:spPr>
          <a:xfrm>
            <a:off x="795528" y="5806440"/>
            <a:ext cx="438912" cy="438912"/>
          </a:xfrm>
          <a:prstGeom prst="ellipse">
            <a:avLst/>
          </a:prstGeom>
          <a:solidFill>
            <a:srgbClr val="FFFFFF"/>
          </a:solidFill>
          <a:ln w="12700">
            <a:solidFill>
              <a:srgbClr val="FFFFFF"/>
            </a:solidFill>
            <a:prstDash val="solid"/>
          </a:ln>
        </p:spPr>
      </p:sp>
      <p:sp>
        <p:nvSpPr>
          <p:cNvPr id="16" name="Icono message-square"/>
          <p:cNvSpPr/>
          <p:nvPr/>
        </p:nvSpPr>
        <p:spPr>
          <a:xfrm>
            <a:off x="900867" y="5911779"/>
            <a:ext cx="228234" cy="228234"/>
          </a:xfrm>
          <a:custGeom>
            <a:avLst/>
            <a:gdLst/>
            <a:ahLst/>
            <a:cxnLst/>
            <a:rect l="l" t="t" r="r" b="b"/>
            <a:pathLst>
              <a:path w="228234" h="228234">
                <a:moveTo>
                  <a:pt x="199705" y="142646"/>
                </a:moveTo>
                <a:cubicBezTo>
                  <a:pt x="199705" y="153151"/>
                  <a:pt x="191190" y="161666"/>
                  <a:pt x="180685" y="161666"/>
                </a:cubicBezTo>
                <a:lnTo>
                  <a:pt x="66568" y="161666"/>
                </a:lnTo>
                <a:lnTo>
                  <a:pt x="28529" y="199705"/>
                </a:lnTo>
                <a:lnTo>
                  <a:pt x="28529" y="47549"/>
                </a:lnTo>
                <a:cubicBezTo>
                  <a:pt x="28529" y="37045"/>
                  <a:pt x="37045" y="28529"/>
                  <a:pt x="47549" y="28529"/>
                </a:cubicBezTo>
                <a:lnTo>
                  <a:pt x="180685" y="28529"/>
                </a:lnTo>
                <a:cubicBezTo>
                  <a:pt x="191190" y="28529"/>
                  <a:pt x="199705" y="37045"/>
                  <a:pt x="199705" y="47549"/>
                </a:cubicBezTo>
                <a:close/>
              </a:path>
            </a:pathLst>
          </a:custGeom>
          <a:noFill/>
          <a:ln w="19020" cap="rnd">
            <a:solidFill>
              <a:srgbClr val="0B6E8A"/>
            </a:solidFill>
            <a:prstDash val="solid"/>
            <a:round/>
          </a:ln>
        </p:spPr>
      </p:sp>
      <p:sp>
        <p:nvSpPr>
          <p:cNvPr id="17" name="Text 15"/>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un traductor: el código habla Java, la base habla SQL, y el ORM traduce en los dos sentidos.</a:t>
            </a:r>
            <a:endParaRPr lang="en-US" sz="1450" dirty="0"/>
          </a:p>
        </p:txBody>
      </p:sp>
      <p:sp>
        <p:nvSpPr>
          <p:cNvPr id="18" name="Shape 16"/>
          <p:cNvSpPr/>
          <p:nvPr/>
        </p:nvSpPr>
        <p:spPr>
          <a:xfrm>
            <a:off x="1024128" y="2190628"/>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9" name="Icono puzzle"/>
          <p:cNvSpPr/>
          <p:nvPr/>
        </p:nvSpPr>
        <p:spPr>
          <a:xfrm>
            <a:off x="1339302" y="2505802"/>
            <a:ext cx="739973" cy="739973"/>
          </a:xfrm>
          <a:custGeom>
            <a:avLst/>
            <a:gdLst/>
            <a:ahLst/>
            <a:cxnLst/>
            <a:rect l="l" t="t" r="r" b="b"/>
            <a:pathLst>
              <a:path w="739973" h="739973">
                <a:moveTo>
                  <a:pt x="474508" y="135353"/>
                </a:moveTo>
                <a:cubicBezTo>
                  <a:pt x="482399" y="143253"/>
                  <a:pt x="493946" y="146269"/>
                  <a:pt x="504692" y="143236"/>
                </a:cubicBezTo>
                <a:cubicBezTo>
                  <a:pt x="515439" y="140204"/>
                  <a:pt x="523707" y="131599"/>
                  <a:pt x="526306" y="120739"/>
                </a:cubicBezTo>
                <a:cubicBezTo>
                  <a:pt x="535162" y="83872"/>
                  <a:pt x="569515" y="58921"/>
                  <a:pt x="607314" y="61902"/>
                </a:cubicBezTo>
                <a:cubicBezTo>
                  <a:pt x="645112" y="64883"/>
                  <a:pt x="675129" y="94910"/>
                  <a:pt x="678098" y="132709"/>
                </a:cubicBezTo>
                <a:cubicBezTo>
                  <a:pt x="681066" y="170509"/>
                  <a:pt x="656104" y="204854"/>
                  <a:pt x="619234" y="213698"/>
                </a:cubicBezTo>
                <a:cubicBezTo>
                  <a:pt x="608374" y="216297"/>
                  <a:pt x="599768" y="224564"/>
                  <a:pt x="596736" y="235311"/>
                </a:cubicBezTo>
                <a:cubicBezTo>
                  <a:pt x="593704" y="246058"/>
                  <a:pt x="596720" y="257604"/>
                  <a:pt x="604619" y="265496"/>
                </a:cubicBezTo>
                <a:lnTo>
                  <a:pt x="656510" y="317356"/>
                </a:lnTo>
                <a:cubicBezTo>
                  <a:pt x="670469" y="331314"/>
                  <a:pt x="678311" y="350246"/>
                  <a:pt x="678311" y="369986"/>
                </a:cubicBezTo>
                <a:cubicBezTo>
                  <a:pt x="678311" y="389727"/>
                  <a:pt x="670469" y="408659"/>
                  <a:pt x="656510" y="422617"/>
                </a:cubicBezTo>
                <a:lnTo>
                  <a:pt x="604619" y="474508"/>
                </a:lnTo>
                <a:cubicBezTo>
                  <a:pt x="596728" y="482407"/>
                  <a:pt x="585181" y="485423"/>
                  <a:pt x="574434" y="482391"/>
                </a:cubicBezTo>
                <a:cubicBezTo>
                  <a:pt x="563688" y="479358"/>
                  <a:pt x="555420" y="470753"/>
                  <a:pt x="552821" y="459893"/>
                </a:cubicBezTo>
                <a:cubicBezTo>
                  <a:pt x="543965" y="423026"/>
                  <a:pt x="509612" y="398075"/>
                  <a:pt x="471813" y="401056"/>
                </a:cubicBezTo>
                <a:cubicBezTo>
                  <a:pt x="434015" y="404037"/>
                  <a:pt x="403998" y="434064"/>
                  <a:pt x="401029" y="471864"/>
                </a:cubicBezTo>
                <a:cubicBezTo>
                  <a:pt x="398061" y="509663"/>
                  <a:pt x="423023" y="544008"/>
                  <a:pt x="459893" y="552852"/>
                </a:cubicBezTo>
                <a:cubicBezTo>
                  <a:pt x="470753" y="555451"/>
                  <a:pt x="479358" y="563719"/>
                  <a:pt x="482391" y="574465"/>
                </a:cubicBezTo>
                <a:cubicBezTo>
                  <a:pt x="485423" y="585212"/>
                  <a:pt x="482407" y="596758"/>
                  <a:pt x="474508" y="604650"/>
                </a:cubicBezTo>
                <a:lnTo>
                  <a:pt x="422617" y="656510"/>
                </a:lnTo>
                <a:cubicBezTo>
                  <a:pt x="408659" y="670469"/>
                  <a:pt x="389727" y="678311"/>
                  <a:pt x="369986" y="678311"/>
                </a:cubicBezTo>
                <a:cubicBezTo>
                  <a:pt x="350246" y="678311"/>
                  <a:pt x="331314" y="670469"/>
                  <a:pt x="317356" y="656510"/>
                </a:cubicBezTo>
                <a:lnTo>
                  <a:pt x="265465" y="604619"/>
                </a:lnTo>
                <a:cubicBezTo>
                  <a:pt x="257573" y="596720"/>
                  <a:pt x="246027" y="593704"/>
                  <a:pt x="235280" y="596736"/>
                </a:cubicBezTo>
                <a:cubicBezTo>
                  <a:pt x="224534" y="599768"/>
                  <a:pt x="216266" y="608374"/>
                  <a:pt x="213667" y="619234"/>
                </a:cubicBezTo>
                <a:cubicBezTo>
                  <a:pt x="204811" y="656101"/>
                  <a:pt x="170457" y="681052"/>
                  <a:pt x="132659" y="678071"/>
                </a:cubicBezTo>
                <a:cubicBezTo>
                  <a:pt x="94861" y="675090"/>
                  <a:pt x="64843" y="645063"/>
                  <a:pt x="61875" y="607263"/>
                </a:cubicBezTo>
                <a:cubicBezTo>
                  <a:pt x="58907" y="569464"/>
                  <a:pt x="83869" y="535119"/>
                  <a:pt x="120739" y="526275"/>
                </a:cubicBezTo>
                <a:cubicBezTo>
                  <a:pt x="131599" y="523676"/>
                  <a:pt x="140204" y="515408"/>
                  <a:pt x="143236" y="504662"/>
                </a:cubicBezTo>
                <a:cubicBezTo>
                  <a:pt x="146269" y="493915"/>
                  <a:pt x="143253" y="482368"/>
                  <a:pt x="135353" y="474477"/>
                </a:cubicBezTo>
                <a:lnTo>
                  <a:pt x="83463" y="422617"/>
                </a:lnTo>
                <a:cubicBezTo>
                  <a:pt x="69504" y="408659"/>
                  <a:pt x="61662" y="389727"/>
                  <a:pt x="61662" y="369986"/>
                </a:cubicBezTo>
                <a:cubicBezTo>
                  <a:pt x="61662" y="350246"/>
                  <a:pt x="69504" y="331314"/>
                  <a:pt x="83463" y="317356"/>
                </a:cubicBezTo>
                <a:lnTo>
                  <a:pt x="135353" y="265465"/>
                </a:lnTo>
                <a:cubicBezTo>
                  <a:pt x="143245" y="257565"/>
                  <a:pt x="154791" y="254550"/>
                  <a:pt x="165538" y="257582"/>
                </a:cubicBezTo>
                <a:cubicBezTo>
                  <a:pt x="176285" y="260614"/>
                  <a:pt x="184552" y="269220"/>
                  <a:pt x="187151" y="280080"/>
                </a:cubicBezTo>
                <a:cubicBezTo>
                  <a:pt x="196008" y="316946"/>
                  <a:pt x="230361" y="341897"/>
                  <a:pt x="268159" y="338917"/>
                </a:cubicBezTo>
                <a:cubicBezTo>
                  <a:pt x="305958" y="335936"/>
                  <a:pt x="335975" y="305908"/>
                  <a:pt x="338943" y="268109"/>
                </a:cubicBezTo>
                <a:cubicBezTo>
                  <a:pt x="341912" y="230310"/>
                  <a:pt x="316949" y="195965"/>
                  <a:pt x="280080" y="187121"/>
                </a:cubicBezTo>
                <a:cubicBezTo>
                  <a:pt x="269220" y="184522"/>
                  <a:pt x="260614" y="176254"/>
                  <a:pt x="257582" y="165507"/>
                </a:cubicBezTo>
                <a:cubicBezTo>
                  <a:pt x="254550" y="154761"/>
                  <a:pt x="257565" y="143214"/>
                  <a:pt x="265465" y="135323"/>
                </a:cubicBezTo>
                <a:lnTo>
                  <a:pt x="317356" y="83463"/>
                </a:lnTo>
                <a:cubicBezTo>
                  <a:pt x="331314" y="69504"/>
                  <a:pt x="350246" y="61662"/>
                  <a:pt x="369986" y="61662"/>
                </a:cubicBezTo>
                <a:cubicBezTo>
                  <a:pt x="389727" y="61662"/>
                  <a:pt x="408659" y="69504"/>
                  <a:pt x="422617" y="83463"/>
                </a:cubicBezTo>
                <a:close/>
              </a:path>
            </a:pathLst>
          </a:custGeom>
          <a:noFill/>
          <a:ln w="53956" cap="rnd">
            <a:solidFill>
              <a:srgbClr val="0B2350"/>
            </a:solidFill>
            <a:prstDash val="solid"/>
            <a:round/>
          </a:ln>
        </p:spPr>
      </p:sp>
      <p:sp>
        <p:nvSpPr>
          <p:cNvPr id="20" name="Text 18"/>
          <p:cNvSpPr/>
          <p:nvPr/>
        </p:nvSpPr>
        <p:spPr>
          <a:xfrm>
            <a:off x="987552" y="215405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1" name="Text 19"/>
          <p:cNvSpPr/>
          <p:nvPr/>
        </p:nvSpPr>
        <p:spPr>
          <a:xfrm>
            <a:off x="65836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Dominio</a:t>
            </a:r>
            <a:endParaRPr lang="en-US" sz="1800" dirty="0"/>
          </a:p>
        </p:txBody>
      </p:sp>
      <p:sp>
        <p:nvSpPr>
          <p:cNvPr id="22" name="Text 20"/>
          <p:cNvSpPr/>
          <p:nvPr/>
        </p:nvSpPr>
        <p:spPr>
          <a:xfrm>
            <a:off x="72237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Pide guardar la solicitud, sin SQL.</a:t>
            </a:r>
            <a:endParaRPr lang="en-US" sz="1400" dirty="0"/>
          </a:p>
        </p:txBody>
      </p:sp>
      <p:sp>
        <p:nvSpPr>
          <p:cNvPr id="23" name="Shape 21"/>
          <p:cNvSpPr/>
          <p:nvPr/>
        </p:nvSpPr>
        <p:spPr>
          <a:xfrm>
            <a:off x="2485888" y="2875788"/>
            <a:ext cx="640080" cy="0"/>
          </a:xfrm>
          <a:prstGeom prst="line">
            <a:avLst/>
          </a:prstGeom>
          <a:noFill/>
          <a:ln w="38100">
            <a:solidFill>
              <a:srgbClr val="2BA6CB"/>
            </a:solidFill>
            <a:prstDash val="solid"/>
            <a:tailEnd type="triangle"/>
          </a:ln>
        </p:spPr>
      </p:sp>
      <p:sp>
        <p:nvSpPr>
          <p:cNvPr id="24" name="Shape 22"/>
          <p:cNvSpPr/>
          <p:nvPr/>
        </p:nvSpPr>
        <p:spPr>
          <a:xfrm>
            <a:off x="3217408" y="2190628"/>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5" name="Icono plug"/>
          <p:cNvSpPr/>
          <p:nvPr/>
        </p:nvSpPr>
        <p:spPr>
          <a:xfrm>
            <a:off x="3532581" y="2505802"/>
            <a:ext cx="739973" cy="739973"/>
          </a:xfrm>
          <a:custGeom>
            <a:avLst/>
            <a:gdLst/>
            <a:ahLst/>
            <a:cxnLst/>
            <a:rect l="l" t="t" r="r" b="b"/>
            <a:pathLst>
              <a:path w="739973" h="739973">
                <a:moveTo>
                  <a:pt x="369986" y="678308"/>
                </a:moveTo>
                <a:lnTo>
                  <a:pt x="369986" y="524147"/>
                </a:lnTo>
                <a:moveTo>
                  <a:pt x="277490" y="246658"/>
                </a:moveTo>
                <a:lnTo>
                  <a:pt x="277490" y="61664"/>
                </a:lnTo>
                <a:moveTo>
                  <a:pt x="462483" y="246658"/>
                </a:moveTo>
                <a:lnTo>
                  <a:pt x="462483" y="61664"/>
                </a:lnTo>
                <a:moveTo>
                  <a:pt x="554980" y="246658"/>
                </a:moveTo>
                <a:lnTo>
                  <a:pt x="554980" y="400819"/>
                </a:lnTo>
                <a:cubicBezTo>
                  <a:pt x="554980" y="468931"/>
                  <a:pt x="499763" y="524147"/>
                  <a:pt x="431651" y="524147"/>
                </a:cubicBezTo>
                <a:lnTo>
                  <a:pt x="308322" y="524147"/>
                </a:lnTo>
                <a:cubicBezTo>
                  <a:pt x="240209" y="524147"/>
                  <a:pt x="184993" y="468931"/>
                  <a:pt x="184993" y="400819"/>
                </a:cubicBezTo>
                <a:lnTo>
                  <a:pt x="184993" y="246658"/>
                </a:lnTo>
                <a:close/>
              </a:path>
            </a:pathLst>
          </a:custGeom>
          <a:noFill/>
          <a:ln w="53956" cap="rnd">
            <a:solidFill>
              <a:srgbClr val="0B2350"/>
            </a:solidFill>
            <a:prstDash val="solid"/>
            <a:round/>
          </a:ln>
        </p:spPr>
      </p:sp>
      <p:sp>
        <p:nvSpPr>
          <p:cNvPr id="26" name="Text 24"/>
          <p:cNvSpPr/>
          <p:nvPr/>
        </p:nvSpPr>
        <p:spPr>
          <a:xfrm>
            <a:off x="3180832" y="215405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7" name="Text 25"/>
          <p:cNvSpPr/>
          <p:nvPr/>
        </p:nvSpPr>
        <p:spPr>
          <a:xfrm>
            <a:off x="285164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Spring Data</a:t>
            </a:r>
            <a:endParaRPr lang="en-US" sz="1800" dirty="0"/>
          </a:p>
        </p:txBody>
      </p:sp>
      <p:sp>
        <p:nvSpPr>
          <p:cNvPr id="28" name="Text 26"/>
          <p:cNvSpPr/>
          <p:nvPr/>
        </p:nvSpPr>
        <p:spPr>
          <a:xfrm>
            <a:off x="291565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save() y findById(), sin escribir SQL.</a:t>
            </a:r>
            <a:endParaRPr lang="en-US" sz="1400" dirty="0"/>
          </a:p>
        </p:txBody>
      </p:sp>
      <p:sp>
        <p:nvSpPr>
          <p:cNvPr id="29" name="Shape 27"/>
          <p:cNvSpPr/>
          <p:nvPr/>
        </p:nvSpPr>
        <p:spPr>
          <a:xfrm>
            <a:off x="4679168" y="2875788"/>
            <a:ext cx="640080" cy="0"/>
          </a:xfrm>
          <a:prstGeom prst="line">
            <a:avLst/>
          </a:prstGeom>
          <a:noFill/>
          <a:ln w="38100">
            <a:solidFill>
              <a:srgbClr val="2BA6CB"/>
            </a:solidFill>
            <a:prstDash val="solid"/>
            <a:tailEnd type="triangle"/>
          </a:ln>
        </p:spPr>
      </p:sp>
      <p:sp>
        <p:nvSpPr>
          <p:cNvPr id="30" name="Shape 28"/>
          <p:cNvSpPr/>
          <p:nvPr/>
        </p:nvSpPr>
        <p:spPr>
          <a:xfrm>
            <a:off x="5410688" y="2190628"/>
            <a:ext cx="1370320" cy="137032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1" name="Icono table"/>
          <p:cNvSpPr/>
          <p:nvPr/>
        </p:nvSpPr>
        <p:spPr>
          <a:xfrm>
            <a:off x="5725861" y="2505802"/>
            <a:ext cx="739973" cy="739973"/>
          </a:xfrm>
          <a:custGeom>
            <a:avLst/>
            <a:gdLst/>
            <a:ahLst/>
            <a:cxnLst/>
            <a:rect l="l" t="t" r="r" b="b"/>
            <a:pathLst>
              <a:path w="739973" h="739973">
                <a:moveTo>
                  <a:pt x="369986" y="92497"/>
                </a:moveTo>
                <a:lnTo>
                  <a:pt x="369986" y="647476"/>
                </a:lnTo>
                <a:moveTo>
                  <a:pt x="154161" y="92497"/>
                </a:moveTo>
                <a:lnTo>
                  <a:pt x="585812" y="92497"/>
                </a:lnTo>
                <a:cubicBezTo>
                  <a:pt x="619868" y="92497"/>
                  <a:pt x="647476" y="120105"/>
                  <a:pt x="647476" y="154161"/>
                </a:cubicBezTo>
                <a:lnTo>
                  <a:pt x="647476" y="585812"/>
                </a:lnTo>
                <a:cubicBezTo>
                  <a:pt x="647476" y="619868"/>
                  <a:pt x="619868" y="647476"/>
                  <a:pt x="585812" y="647476"/>
                </a:cubicBezTo>
                <a:lnTo>
                  <a:pt x="154161" y="647476"/>
                </a:lnTo>
                <a:cubicBezTo>
                  <a:pt x="120105" y="647476"/>
                  <a:pt x="92497" y="619868"/>
                  <a:pt x="92497" y="585812"/>
                </a:cubicBezTo>
                <a:lnTo>
                  <a:pt x="92497" y="154161"/>
                </a:lnTo>
                <a:cubicBezTo>
                  <a:pt x="92497" y="120105"/>
                  <a:pt x="120105" y="92497"/>
                  <a:pt x="154161" y="92497"/>
                </a:cubicBezTo>
                <a:close/>
                <a:moveTo>
                  <a:pt x="92497" y="277490"/>
                </a:moveTo>
                <a:lnTo>
                  <a:pt x="647476" y="277490"/>
                </a:lnTo>
                <a:moveTo>
                  <a:pt x="92497" y="462483"/>
                </a:moveTo>
                <a:lnTo>
                  <a:pt x="647476" y="462483"/>
                </a:lnTo>
              </a:path>
            </a:pathLst>
          </a:custGeom>
          <a:noFill/>
          <a:ln w="53956" cap="rnd">
            <a:solidFill>
              <a:srgbClr val="0B6E8A"/>
            </a:solidFill>
            <a:prstDash val="solid"/>
            <a:round/>
          </a:ln>
        </p:spPr>
      </p:sp>
      <p:sp>
        <p:nvSpPr>
          <p:cNvPr id="32" name="Text 30"/>
          <p:cNvSpPr/>
          <p:nvPr/>
        </p:nvSpPr>
        <p:spPr>
          <a:xfrm>
            <a:off x="5374112" y="2154052"/>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3" name="Text 31"/>
          <p:cNvSpPr/>
          <p:nvPr/>
        </p:nvSpPr>
        <p:spPr>
          <a:xfrm>
            <a:off x="504492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Hibernate</a:t>
            </a:r>
            <a:endParaRPr lang="en-US" sz="1800" dirty="0"/>
          </a:p>
        </p:txBody>
      </p:sp>
      <p:sp>
        <p:nvSpPr>
          <p:cNvPr id="34" name="Text 32"/>
          <p:cNvSpPr/>
          <p:nvPr/>
        </p:nvSpPr>
        <p:spPr>
          <a:xfrm>
            <a:off x="510893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Objeto → INSERT o UPDATE.</a:t>
            </a:r>
            <a:endParaRPr lang="en-US" sz="1400" dirty="0"/>
          </a:p>
        </p:txBody>
      </p:sp>
      <p:sp>
        <p:nvSpPr>
          <p:cNvPr id="35" name="Shape 33"/>
          <p:cNvSpPr/>
          <p:nvPr/>
        </p:nvSpPr>
        <p:spPr>
          <a:xfrm>
            <a:off x="6872448" y="2875788"/>
            <a:ext cx="640080" cy="0"/>
          </a:xfrm>
          <a:prstGeom prst="line">
            <a:avLst/>
          </a:prstGeom>
          <a:noFill/>
          <a:ln w="38100">
            <a:solidFill>
              <a:srgbClr val="2BA6CB"/>
            </a:solidFill>
            <a:prstDash val="solid"/>
            <a:tailEnd type="triangle"/>
          </a:ln>
        </p:spPr>
      </p:sp>
      <p:sp>
        <p:nvSpPr>
          <p:cNvPr id="36" name="Shape 34"/>
          <p:cNvSpPr/>
          <p:nvPr/>
        </p:nvSpPr>
        <p:spPr>
          <a:xfrm>
            <a:off x="7603968" y="2190628"/>
            <a:ext cx="1370320" cy="137032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7" name="Icono cable"/>
          <p:cNvSpPr/>
          <p:nvPr/>
        </p:nvSpPr>
        <p:spPr>
          <a:xfrm>
            <a:off x="7919141" y="2505802"/>
            <a:ext cx="739973" cy="739973"/>
          </a:xfrm>
          <a:custGeom>
            <a:avLst/>
            <a:gdLst/>
            <a:ahLst/>
            <a:cxnLst/>
            <a:rect l="l" t="t" r="r" b="b"/>
            <a:pathLst>
              <a:path w="739973" h="739973">
                <a:moveTo>
                  <a:pt x="524147" y="647476"/>
                </a:moveTo>
                <a:lnTo>
                  <a:pt x="524147" y="585812"/>
                </a:lnTo>
                <a:cubicBezTo>
                  <a:pt x="507119" y="585812"/>
                  <a:pt x="493315" y="572008"/>
                  <a:pt x="493315" y="554980"/>
                </a:cubicBezTo>
                <a:lnTo>
                  <a:pt x="493315" y="524147"/>
                </a:lnTo>
                <a:cubicBezTo>
                  <a:pt x="493315" y="490091"/>
                  <a:pt x="520923" y="462483"/>
                  <a:pt x="554980" y="462483"/>
                </a:cubicBezTo>
                <a:lnTo>
                  <a:pt x="616644" y="462483"/>
                </a:lnTo>
                <a:cubicBezTo>
                  <a:pt x="650700" y="462483"/>
                  <a:pt x="678308" y="490091"/>
                  <a:pt x="678308" y="524147"/>
                </a:cubicBezTo>
                <a:lnTo>
                  <a:pt x="678308" y="554980"/>
                </a:lnTo>
                <a:cubicBezTo>
                  <a:pt x="678308" y="572008"/>
                  <a:pt x="664504" y="585812"/>
                  <a:pt x="647476" y="585812"/>
                </a:cubicBezTo>
                <a:moveTo>
                  <a:pt x="585812" y="462483"/>
                </a:moveTo>
                <a:lnTo>
                  <a:pt x="585812" y="200409"/>
                </a:lnTo>
                <a:cubicBezTo>
                  <a:pt x="585812" y="140811"/>
                  <a:pt x="537498" y="92497"/>
                  <a:pt x="477899" y="92497"/>
                </a:cubicBezTo>
                <a:cubicBezTo>
                  <a:pt x="418301" y="92497"/>
                  <a:pt x="369986" y="140811"/>
                  <a:pt x="369986" y="200409"/>
                </a:cubicBezTo>
                <a:lnTo>
                  <a:pt x="369986" y="539563"/>
                </a:lnTo>
                <a:cubicBezTo>
                  <a:pt x="369986" y="599162"/>
                  <a:pt x="321672" y="647476"/>
                  <a:pt x="262074" y="647476"/>
                </a:cubicBezTo>
                <a:cubicBezTo>
                  <a:pt x="202475" y="647476"/>
                  <a:pt x="154161" y="599162"/>
                  <a:pt x="154161" y="539563"/>
                </a:cubicBezTo>
                <a:lnTo>
                  <a:pt x="154161" y="277490"/>
                </a:lnTo>
                <a:moveTo>
                  <a:pt x="647476" y="647476"/>
                </a:moveTo>
                <a:lnTo>
                  <a:pt x="647476" y="585812"/>
                </a:lnTo>
                <a:lnTo>
                  <a:pt x="524147" y="585812"/>
                </a:lnTo>
                <a:moveTo>
                  <a:pt x="92497" y="154161"/>
                </a:moveTo>
                <a:lnTo>
                  <a:pt x="215825" y="154161"/>
                </a:lnTo>
                <a:lnTo>
                  <a:pt x="215825" y="92497"/>
                </a:lnTo>
                <a:moveTo>
                  <a:pt x="215825" y="154161"/>
                </a:moveTo>
                <a:cubicBezTo>
                  <a:pt x="232854" y="154161"/>
                  <a:pt x="246658" y="167965"/>
                  <a:pt x="246658" y="184993"/>
                </a:cubicBezTo>
                <a:lnTo>
                  <a:pt x="246658" y="215825"/>
                </a:lnTo>
                <a:cubicBezTo>
                  <a:pt x="246658" y="249882"/>
                  <a:pt x="219049" y="277490"/>
                  <a:pt x="184993" y="277490"/>
                </a:cubicBezTo>
                <a:lnTo>
                  <a:pt x="123329" y="277490"/>
                </a:lnTo>
                <a:cubicBezTo>
                  <a:pt x="89272" y="277490"/>
                  <a:pt x="61664" y="249882"/>
                  <a:pt x="61664" y="215825"/>
                </a:cubicBezTo>
                <a:lnTo>
                  <a:pt x="61664" y="184993"/>
                </a:lnTo>
                <a:cubicBezTo>
                  <a:pt x="61664" y="167965"/>
                  <a:pt x="75468" y="154161"/>
                  <a:pt x="92497" y="154161"/>
                </a:cubicBezTo>
                <a:lnTo>
                  <a:pt x="92497" y="92497"/>
                </a:lnTo>
              </a:path>
            </a:pathLst>
          </a:custGeom>
          <a:noFill/>
          <a:ln w="53956" cap="rnd">
            <a:solidFill>
              <a:srgbClr val="0B6E8A"/>
            </a:solidFill>
            <a:prstDash val="solid"/>
            <a:round/>
          </a:ln>
        </p:spPr>
      </p:sp>
      <p:sp>
        <p:nvSpPr>
          <p:cNvPr id="38" name="Text 36"/>
          <p:cNvSpPr/>
          <p:nvPr/>
        </p:nvSpPr>
        <p:spPr>
          <a:xfrm>
            <a:off x="7567392" y="2154052"/>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9" name="Text 37"/>
          <p:cNvSpPr/>
          <p:nvPr/>
        </p:nvSpPr>
        <p:spPr>
          <a:xfrm>
            <a:off x="723820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JDBC + pool</a:t>
            </a:r>
            <a:endParaRPr lang="en-US" sz="1800" dirty="0"/>
          </a:p>
        </p:txBody>
      </p:sp>
      <p:sp>
        <p:nvSpPr>
          <p:cNvPr id="40" name="Text 38"/>
          <p:cNvSpPr/>
          <p:nvPr/>
        </p:nvSpPr>
        <p:spPr>
          <a:xfrm>
            <a:off x="730221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Reutiliza conexiones con usuario y clave.</a:t>
            </a:r>
            <a:endParaRPr lang="en-US" sz="1400" dirty="0"/>
          </a:p>
        </p:txBody>
      </p:sp>
      <p:sp>
        <p:nvSpPr>
          <p:cNvPr id="41" name="Shape 39"/>
          <p:cNvSpPr/>
          <p:nvPr/>
        </p:nvSpPr>
        <p:spPr>
          <a:xfrm>
            <a:off x="9065727" y="2875788"/>
            <a:ext cx="640080" cy="0"/>
          </a:xfrm>
          <a:prstGeom prst="line">
            <a:avLst/>
          </a:prstGeom>
          <a:noFill/>
          <a:ln w="38100">
            <a:solidFill>
              <a:srgbClr val="2BA6CB"/>
            </a:solidFill>
            <a:prstDash val="solid"/>
            <a:tailEnd type="triangle"/>
          </a:ln>
        </p:spPr>
      </p:sp>
      <p:sp>
        <p:nvSpPr>
          <p:cNvPr id="42" name="Shape 40"/>
          <p:cNvSpPr/>
          <p:nvPr/>
        </p:nvSpPr>
        <p:spPr>
          <a:xfrm>
            <a:off x="9797247" y="2190628"/>
            <a:ext cx="1370320" cy="137032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43" name="Icono database"/>
          <p:cNvSpPr/>
          <p:nvPr/>
        </p:nvSpPr>
        <p:spPr>
          <a:xfrm>
            <a:off x="10112421" y="2505802"/>
            <a:ext cx="739973" cy="739973"/>
          </a:xfrm>
          <a:custGeom>
            <a:avLst/>
            <a:gdLst/>
            <a:ahLst/>
            <a:cxnLst/>
            <a:rect l="l" t="t" r="r" b="b"/>
            <a:pathLst>
              <a:path w="739973" h="739973">
                <a:moveTo>
                  <a:pt x="647476" y="154161"/>
                </a:moveTo>
                <a:cubicBezTo>
                  <a:pt x="647476" y="205245"/>
                  <a:pt x="523240" y="246658"/>
                  <a:pt x="369986" y="246658"/>
                </a:cubicBezTo>
                <a:cubicBezTo>
                  <a:pt x="216733" y="246658"/>
                  <a:pt x="92497" y="205245"/>
                  <a:pt x="92497" y="154161"/>
                </a:cubicBezTo>
                <a:cubicBezTo>
                  <a:pt x="92497" y="103077"/>
                  <a:pt x="216733" y="61664"/>
                  <a:pt x="369986" y="61664"/>
                </a:cubicBezTo>
                <a:cubicBezTo>
                  <a:pt x="523240" y="61664"/>
                  <a:pt x="647476" y="103077"/>
                  <a:pt x="647476" y="154161"/>
                </a:cubicBezTo>
                <a:close/>
                <a:moveTo>
                  <a:pt x="92497" y="154161"/>
                </a:moveTo>
                <a:lnTo>
                  <a:pt x="92497" y="585812"/>
                </a:lnTo>
                <a:cubicBezTo>
                  <a:pt x="92497" y="636896"/>
                  <a:pt x="216733" y="678308"/>
                  <a:pt x="369986" y="678308"/>
                </a:cubicBezTo>
                <a:cubicBezTo>
                  <a:pt x="523240" y="678308"/>
                  <a:pt x="647476" y="636896"/>
                  <a:pt x="647476" y="585812"/>
                </a:cubicBezTo>
                <a:lnTo>
                  <a:pt x="647476" y="154161"/>
                </a:lnTo>
                <a:moveTo>
                  <a:pt x="92497" y="369986"/>
                </a:moveTo>
                <a:cubicBezTo>
                  <a:pt x="92497" y="421071"/>
                  <a:pt x="216733" y="462483"/>
                  <a:pt x="369986" y="462483"/>
                </a:cubicBezTo>
                <a:cubicBezTo>
                  <a:pt x="523240" y="462483"/>
                  <a:pt x="647476" y="421071"/>
                  <a:pt x="647476" y="369986"/>
                </a:cubicBezTo>
              </a:path>
            </a:pathLst>
          </a:custGeom>
          <a:noFill/>
          <a:ln w="53956" cap="rnd">
            <a:solidFill>
              <a:srgbClr val="0A6648"/>
            </a:solidFill>
            <a:prstDash val="solid"/>
            <a:round/>
          </a:ln>
        </p:spPr>
      </p:sp>
      <p:sp>
        <p:nvSpPr>
          <p:cNvPr id="44" name="Text 42"/>
          <p:cNvSpPr/>
          <p:nvPr/>
        </p:nvSpPr>
        <p:spPr>
          <a:xfrm>
            <a:off x="9760671" y="2154052"/>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5</a:t>
            </a:r>
            <a:endParaRPr lang="en-US" sz="1200" dirty="0"/>
          </a:p>
        </p:txBody>
      </p:sp>
      <p:sp>
        <p:nvSpPr>
          <p:cNvPr id="45" name="Text 43"/>
          <p:cNvSpPr/>
          <p:nvPr/>
        </p:nvSpPr>
        <p:spPr>
          <a:xfrm>
            <a:off x="9431487"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PostgreSQL</a:t>
            </a:r>
            <a:endParaRPr lang="en-US" sz="1800" dirty="0"/>
          </a:p>
        </p:txBody>
      </p:sp>
      <p:sp>
        <p:nvSpPr>
          <p:cNvPr id="46" name="Text 44"/>
          <p:cNvSpPr/>
          <p:nvPr/>
        </p:nvSpPr>
        <p:spPr>
          <a:xfrm>
            <a:off x="9495495"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Ejecuta y confirma la transacción.</a:t>
            </a:r>
            <a:endParaRPr lang="en-US" sz="1400" dirty="0"/>
          </a:p>
        </p:txBody>
      </p:sp>
      <p:sp>
        <p:nvSpPr>
          <p:cNvPr id="47" name="Text 4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Guardar primero, avisar después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La solicitud y su evento se guardan en la misma transacción.</a:t>
            </a:r>
            <a:endParaRPr lang="en-US" sz="1700" dirty="0"/>
          </a:p>
        </p:txBody>
      </p:sp>
      <p:sp>
        <p:nvSpPr>
          <p:cNvPr id="14" name="Shape 12"/>
          <p:cNvSpPr/>
          <p:nvPr/>
        </p:nvSpPr>
        <p:spPr>
          <a:xfrm>
            <a:off x="612648" y="5175504"/>
            <a:ext cx="10966399" cy="658368"/>
          </a:xfrm>
          <a:prstGeom prst="roundRect">
            <a:avLst>
              <a:gd name="adj" fmla="val 16667"/>
            </a:avLst>
          </a:prstGeom>
          <a:solidFill>
            <a:srgbClr val="E3F4FA"/>
          </a:solidFill>
          <a:ln w="12700">
            <a:solidFill>
              <a:srgbClr val="8ACEE2"/>
            </a:solidFill>
            <a:prstDash val="solid"/>
          </a:ln>
        </p:spPr>
      </p:sp>
      <p:sp>
        <p:nvSpPr>
          <p:cNvPr id="15" name="Shape 13"/>
          <p:cNvSpPr/>
          <p:nvPr/>
        </p:nvSpPr>
        <p:spPr>
          <a:xfrm>
            <a:off x="795528" y="5285232"/>
            <a:ext cx="438912" cy="438912"/>
          </a:xfrm>
          <a:prstGeom prst="ellipse">
            <a:avLst/>
          </a:prstGeom>
          <a:solidFill>
            <a:srgbClr val="FFFFFF"/>
          </a:solidFill>
          <a:ln w="12700">
            <a:solidFill>
              <a:srgbClr val="FFFFFF"/>
            </a:solidFill>
            <a:prstDash val="solid"/>
          </a:ln>
        </p:spPr>
      </p:sp>
      <p:sp>
        <p:nvSpPr>
          <p:cNvPr id="16" name="Icono mail"/>
          <p:cNvSpPr/>
          <p:nvPr/>
        </p:nvSpPr>
        <p:spPr>
          <a:xfrm>
            <a:off x="900867" y="5390571"/>
            <a:ext cx="228234" cy="228234"/>
          </a:xfrm>
          <a:custGeom>
            <a:avLst/>
            <a:gdLst/>
            <a:ahLst/>
            <a:cxnLst/>
            <a:rect l="l" t="t" r="r" b="b"/>
            <a:pathLst>
              <a:path w="228234" h="228234">
                <a:moveTo>
                  <a:pt x="38039" y="38039"/>
                </a:moveTo>
                <a:lnTo>
                  <a:pt x="190195" y="38039"/>
                </a:lnTo>
                <a:cubicBezTo>
                  <a:pt x="200699" y="38039"/>
                  <a:pt x="209215" y="46554"/>
                  <a:pt x="209215" y="57059"/>
                </a:cubicBezTo>
                <a:lnTo>
                  <a:pt x="209215" y="171176"/>
                </a:lnTo>
                <a:cubicBezTo>
                  <a:pt x="209215" y="181680"/>
                  <a:pt x="200699" y="190195"/>
                  <a:pt x="190195" y="190195"/>
                </a:cubicBezTo>
                <a:lnTo>
                  <a:pt x="38039" y="190195"/>
                </a:lnTo>
                <a:cubicBezTo>
                  <a:pt x="27535" y="190195"/>
                  <a:pt x="19020" y="181680"/>
                  <a:pt x="19020" y="171176"/>
                </a:cubicBezTo>
                <a:lnTo>
                  <a:pt x="19020" y="57059"/>
                </a:lnTo>
                <a:cubicBezTo>
                  <a:pt x="19020" y="46554"/>
                  <a:pt x="27535" y="38039"/>
                  <a:pt x="38039" y="38039"/>
                </a:cubicBezTo>
                <a:close/>
                <a:moveTo>
                  <a:pt x="209215" y="66568"/>
                </a:moveTo>
                <a:lnTo>
                  <a:pt x="123912" y="120774"/>
                </a:lnTo>
                <a:cubicBezTo>
                  <a:pt x="117921" y="124527"/>
                  <a:pt x="110313" y="124527"/>
                  <a:pt x="104322" y="120774"/>
                </a:cubicBezTo>
                <a:lnTo>
                  <a:pt x="19020" y="66568"/>
                </a:lnTo>
              </a:path>
            </a:pathLst>
          </a:custGeom>
          <a:noFill/>
          <a:ln w="19020" cap="rnd">
            <a:solidFill>
              <a:srgbClr val="0B6E8A"/>
            </a:solidFill>
            <a:prstDash val="solid"/>
            <a:round/>
          </a:ln>
        </p:spPr>
      </p:sp>
      <p:sp>
        <p:nvSpPr>
          <p:cNvPr id="17" name="Text 15"/>
          <p:cNvSpPr/>
          <p:nvPr/>
        </p:nvSpPr>
        <p:spPr>
          <a:xfrm>
            <a:off x="1399032" y="5248656"/>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dejar una carta en la bandeja de salida: aunque el mensajero no pase hoy, la carta no se pierde.</a:t>
            </a:r>
            <a:endParaRPr lang="en-US" sz="1450" dirty="0"/>
          </a:p>
        </p:txBody>
      </p:sp>
      <p:sp>
        <p:nvSpPr>
          <p:cNvPr id="18" name="Shape 16"/>
          <p:cNvSpPr/>
          <p:nvPr/>
        </p:nvSpPr>
        <p:spPr>
          <a:xfrm>
            <a:off x="1626832" y="1828800"/>
            <a:ext cx="713232" cy="713232"/>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9" name="Icono send"/>
          <p:cNvSpPr/>
          <p:nvPr/>
        </p:nvSpPr>
        <p:spPr>
          <a:xfrm>
            <a:off x="1790875" y="1992843"/>
            <a:ext cx="385145" cy="385145"/>
          </a:xfrm>
          <a:custGeom>
            <a:avLst/>
            <a:gdLst/>
            <a:ahLst/>
            <a:cxnLst/>
            <a:rect l="l" t="t" r="r" b="b"/>
            <a:pathLst>
              <a:path w="385145" h="385145">
                <a:moveTo>
                  <a:pt x="233270" y="348011"/>
                </a:moveTo>
                <a:cubicBezTo>
                  <a:pt x="234518" y="351123"/>
                  <a:pt x="237570" y="353130"/>
                  <a:pt x="240922" y="353044"/>
                </a:cubicBezTo>
                <a:cubicBezTo>
                  <a:pt x="244274" y="352958"/>
                  <a:pt x="247219" y="350797"/>
                  <a:pt x="248306" y="347626"/>
                </a:cubicBezTo>
                <a:lnTo>
                  <a:pt x="352617" y="42719"/>
                </a:lnTo>
                <a:cubicBezTo>
                  <a:pt x="353665" y="39816"/>
                  <a:pt x="352941" y="36569"/>
                  <a:pt x="350759" y="34387"/>
                </a:cubicBezTo>
                <a:cubicBezTo>
                  <a:pt x="348576" y="32204"/>
                  <a:pt x="345329" y="31480"/>
                  <a:pt x="342426" y="32529"/>
                </a:cubicBezTo>
                <a:lnTo>
                  <a:pt x="37520" y="136839"/>
                </a:lnTo>
                <a:cubicBezTo>
                  <a:pt x="34348" y="137927"/>
                  <a:pt x="32187" y="140872"/>
                  <a:pt x="32101" y="144223"/>
                </a:cubicBezTo>
                <a:cubicBezTo>
                  <a:pt x="32015" y="147575"/>
                  <a:pt x="34023" y="150627"/>
                  <a:pt x="37134" y="151876"/>
                </a:cubicBezTo>
                <a:lnTo>
                  <a:pt x="164393" y="202907"/>
                </a:lnTo>
                <a:cubicBezTo>
                  <a:pt x="172522" y="206162"/>
                  <a:pt x="178969" y="212597"/>
                  <a:pt x="182238" y="220720"/>
                </a:cubicBezTo>
                <a:close/>
                <a:moveTo>
                  <a:pt x="350707" y="34454"/>
                </a:moveTo>
                <a:lnTo>
                  <a:pt x="175145" y="210000"/>
                </a:lnTo>
              </a:path>
            </a:pathLst>
          </a:custGeom>
          <a:noFill/>
          <a:ln w="28084" cap="rnd">
            <a:solidFill>
              <a:srgbClr val="0B2350"/>
            </a:solidFill>
            <a:prstDash val="solid"/>
            <a:round/>
          </a:ln>
        </p:spPr>
      </p:sp>
      <p:sp>
        <p:nvSpPr>
          <p:cNvPr id="20" name="Text 18"/>
          <p:cNvSpPr/>
          <p:nvPr/>
        </p:nvSpPr>
        <p:spPr>
          <a:xfrm>
            <a:off x="1590256"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1" name="Text 19"/>
          <p:cNvSpPr/>
          <p:nvPr/>
        </p:nvSpPr>
        <p:spPr>
          <a:xfrm>
            <a:off x="658368"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Enviar</a:t>
            </a:r>
            <a:endParaRPr lang="en-US" sz="1800" dirty="0"/>
          </a:p>
        </p:txBody>
      </p:sp>
      <p:sp>
        <p:nvSpPr>
          <p:cNvPr id="22" name="Text 20"/>
          <p:cNvSpPr/>
          <p:nvPr/>
        </p:nvSpPr>
        <p:spPr>
          <a:xfrm>
            <a:off x="722376"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Solicitud ENVIADA + evento pendiente, en una transacción.</a:t>
            </a:r>
            <a:endParaRPr lang="en-US" sz="1400" dirty="0"/>
          </a:p>
        </p:txBody>
      </p:sp>
      <p:sp>
        <p:nvSpPr>
          <p:cNvPr id="23" name="Shape 21"/>
          <p:cNvSpPr/>
          <p:nvPr/>
        </p:nvSpPr>
        <p:spPr>
          <a:xfrm>
            <a:off x="2431504" y="2185416"/>
            <a:ext cx="1845488" cy="0"/>
          </a:xfrm>
          <a:prstGeom prst="line">
            <a:avLst/>
          </a:prstGeom>
          <a:noFill/>
          <a:ln w="38100">
            <a:solidFill>
              <a:srgbClr val="2BA6CB"/>
            </a:solidFill>
            <a:prstDash val="solid"/>
            <a:tailEnd type="triangle"/>
          </a:ln>
        </p:spPr>
      </p:sp>
      <p:sp>
        <p:nvSpPr>
          <p:cNvPr id="24" name="Shape 22"/>
          <p:cNvSpPr/>
          <p:nvPr/>
        </p:nvSpPr>
        <p:spPr>
          <a:xfrm>
            <a:off x="4368432" y="1828800"/>
            <a:ext cx="713232" cy="713232"/>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5" name="Icono inbox"/>
          <p:cNvSpPr/>
          <p:nvPr/>
        </p:nvSpPr>
        <p:spPr>
          <a:xfrm>
            <a:off x="4532475" y="1992843"/>
            <a:ext cx="385145" cy="385145"/>
          </a:xfrm>
          <a:custGeom>
            <a:avLst/>
            <a:gdLst/>
            <a:ahLst/>
            <a:cxnLst/>
            <a:rect l="l" t="t" r="r" b="b"/>
            <a:pathLst>
              <a:path w="385145" h="385145">
                <a:moveTo>
                  <a:pt x="353050" y="192573"/>
                </a:moveTo>
                <a:lnTo>
                  <a:pt x="256764" y="192573"/>
                </a:lnTo>
                <a:lnTo>
                  <a:pt x="224668" y="240716"/>
                </a:lnTo>
                <a:lnTo>
                  <a:pt x="160477" y="240716"/>
                </a:lnTo>
                <a:lnTo>
                  <a:pt x="128382" y="192573"/>
                </a:lnTo>
                <a:lnTo>
                  <a:pt x="32095" y="192573"/>
                </a:lnTo>
                <a:moveTo>
                  <a:pt x="87460" y="82004"/>
                </a:moveTo>
                <a:lnTo>
                  <a:pt x="32095" y="192573"/>
                </a:lnTo>
                <a:lnTo>
                  <a:pt x="32095" y="288859"/>
                </a:lnTo>
                <a:cubicBezTo>
                  <a:pt x="32095" y="306585"/>
                  <a:pt x="46465" y="320954"/>
                  <a:pt x="64191" y="320954"/>
                </a:cubicBezTo>
                <a:lnTo>
                  <a:pt x="320954" y="320954"/>
                </a:lnTo>
                <a:cubicBezTo>
                  <a:pt x="338680" y="320954"/>
                  <a:pt x="353050" y="306585"/>
                  <a:pt x="353050" y="288859"/>
                </a:cubicBezTo>
                <a:lnTo>
                  <a:pt x="353050" y="192573"/>
                </a:lnTo>
                <a:lnTo>
                  <a:pt x="297685" y="82004"/>
                </a:lnTo>
                <a:cubicBezTo>
                  <a:pt x="292265" y="71097"/>
                  <a:pt x="281139" y="64197"/>
                  <a:pt x="268960" y="64191"/>
                </a:cubicBezTo>
                <a:lnTo>
                  <a:pt x="116185" y="64191"/>
                </a:lnTo>
                <a:cubicBezTo>
                  <a:pt x="104006" y="64197"/>
                  <a:pt x="92880" y="71097"/>
                  <a:pt x="87460" y="82004"/>
                </a:cubicBezTo>
                <a:close/>
              </a:path>
            </a:pathLst>
          </a:custGeom>
          <a:noFill/>
          <a:ln w="28084" cap="rnd">
            <a:solidFill>
              <a:srgbClr val="0B2350"/>
            </a:solidFill>
            <a:prstDash val="solid"/>
            <a:round/>
          </a:ln>
        </p:spPr>
      </p:sp>
      <p:sp>
        <p:nvSpPr>
          <p:cNvPr id="26" name="Text 24"/>
          <p:cNvSpPr/>
          <p:nvPr/>
        </p:nvSpPr>
        <p:spPr>
          <a:xfrm>
            <a:off x="4331856"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7" name="Text 25"/>
          <p:cNvSpPr/>
          <p:nvPr/>
        </p:nvSpPr>
        <p:spPr>
          <a:xfrm>
            <a:off x="3399968"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Bandeja de salida</a:t>
            </a:r>
            <a:endParaRPr lang="en-US" sz="1800" dirty="0"/>
          </a:p>
        </p:txBody>
      </p:sp>
      <p:sp>
        <p:nvSpPr>
          <p:cNvPr id="28" name="Text 26"/>
          <p:cNvSpPr/>
          <p:nvPr/>
        </p:nvSpPr>
        <p:spPr>
          <a:xfrm>
            <a:off x="3463976"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El evento espera en la tabla evento.</a:t>
            </a:r>
            <a:endParaRPr lang="en-US" sz="1400" dirty="0"/>
          </a:p>
        </p:txBody>
      </p:sp>
      <p:sp>
        <p:nvSpPr>
          <p:cNvPr id="29" name="Shape 27"/>
          <p:cNvSpPr/>
          <p:nvPr/>
        </p:nvSpPr>
        <p:spPr>
          <a:xfrm>
            <a:off x="5173104" y="2185416"/>
            <a:ext cx="1845488" cy="0"/>
          </a:xfrm>
          <a:prstGeom prst="line">
            <a:avLst/>
          </a:prstGeom>
          <a:noFill/>
          <a:ln w="38100">
            <a:solidFill>
              <a:srgbClr val="2BA6CB"/>
            </a:solidFill>
            <a:prstDash val="solid"/>
            <a:tailEnd type="triangle"/>
          </a:ln>
        </p:spPr>
      </p:sp>
      <p:sp>
        <p:nvSpPr>
          <p:cNvPr id="30" name="Shape 28"/>
          <p:cNvSpPr/>
          <p:nvPr/>
        </p:nvSpPr>
        <p:spPr>
          <a:xfrm>
            <a:off x="7110032" y="1828800"/>
            <a:ext cx="713232" cy="713232"/>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1" name="Icono timer"/>
          <p:cNvSpPr/>
          <p:nvPr/>
        </p:nvSpPr>
        <p:spPr>
          <a:xfrm>
            <a:off x="7274075" y="1992843"/>
            <a:ext cx="385145" cy="385145"/>
          </a:xfrm>
          <a:custGeom>
            <a:avLst/>
            <a:gdLst/>
            <a:ahLst/>
            <a:cxnLst/>
            <a:rect l="l" t="t" r="r" b="b"/>
            <a:pathLst>
              <a:path w="385145" h="385145">
                <a:moveTo>
                  <a:pt x="160477" y="32095"/>
                </a:moveTo>
                <a:lnTo>
                  <a:pt x="224668" y="32095"/>
                </a:lnTo>
                <a:moveTo>
                  <a:pt x="192573" y="224668"/>
                </a:moveTo>
                <a:lnTo>
                  <a:pt x="240716" y="176525"/>
                </a:lnTo>
                <a:moveTo>
                  <a:pt x="320954" y="224668"/>
                </a:moveTo>
                <a:cubicBezTo>
                  <a:pt x="320954" y="295571"/>
                  <a:pt x="263476" y="353050"/>
                  <a:pt x="192573" y="353050"/>
                </a:cubicBezTo>
                <a:cubicBezTo>
                  <a:pt x="121669" y="353050"/>
                  <a:pt x="64191" y="295571"/>
                  <a:pt x="64191" y="224668"/>
                </a:cubicBezTo>
                <a:cubicBezTo>
                  <a:pt x="64191" y="153765"/>
                  <a:pt x="121669" y="96286"/>
                  <a:pt x="192573" y="96286"/>
                </a:cubicBezTo>
                <a:cubicBezTo>
                  <a:pt x="263476" y="96286"/>
                  <a:pt x="320954" y="153765"/>
                  <a:pt x="320954" y="224668"/>
                </a:cubicBezTo>
                <a:close/>
              </a:path>
            </a:pathLst>
          </a:custGeom>
          <a:noFill/>
          <a:ln w="28084" cap="rnd">
            <a:solidFill>
              <a:srgbClr val="0B6E8A"/>
            </a:solidFill>
            <a:prstDash val="solid"/>
            <a:round/>
          </a:ln>
        </p:spPr>
      </p:sp>
      <p:sp>
        <p:nvSpPr>
          <p:cNvPr id="32" name="Text 30"/>
          <p:cNvSpPr/>
          <p:nvPr/>
        </p:nvSpPr>
        <p:spPr>
          <a:xfrm>
            <a:off x="7073456" y="1792224"/>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3" name="Text 31"/>
          <p:cNvSpPr/>
          <p:nvPr/>
        </p:nvSpPr>
        <p:spPr>
          <a:xfrm>
            <a:off x="6141568"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Relevador</a:t>
            </a:r>
            <a:endParaRPr lang="en-US" sz="1800" dirty="0"/>
          </a:p>
        </p:txBody>
      </p:sp>
      <p:sp>
        <p:nvSpPr>
          <p:cNvPr id="34" name="Text 32"/>
          <p:cNvSpPr/>
          <p:nvPr/>
        </p:nvSpPr>
        <p:spPr>
          <a:xfrm>
            <a:off x="6205576"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Cada 5 s entrega los pendientes, hasta 3 intentos.</a:t>
            </a:r>
            <a:endParaRPr lang="en-US" sz="1400" dirty="0"/>
          </a:p>
        </p:txBody>
      </p:sp>
      <p:sp>
        <p:nvSpPr>
          <p:cNvPr id="35" name="Shape 33"/>
          <p:cNvSpPr/>
          <p:nvPr/>
        </p:nvSpPr>
        <p:spPr>
          <a:xfrm>
            <a:off x="7914704" y="2185416"/>
            <a:ext cx="1845488" cy="0"/>
          </a:xfrm>
          <a:prstGeom prst="line">
            <a:avLst/>
          </a:prstGeom>
          <a:noFill/>
          <a:ln w="38100">
            <a:solidFill>
              <a:srgbClr val="2BA6CB"/>
            </a:solidFill>
            <a:prstDash val="solid"/>
            <a:tailEnd type="triangle"/>
          </a:ln>
        </p:spPr>
      </p:sp>
      <p:sp>
        <p:nvSpPr>
          <p:cNvPr id="36" name="Shape 34"/>
          <p:cNvSpPr/>
          <p:nvPr/>
        </p:nvSpPr>
        <p:spPr>
          <a:xfrm>
            <a:off x="9851631" y="1828800"/>
            <a:ext cx="713232" cy="713232"/>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7" name="Icono bell"/>
          <p:cNvSpPr/>
          <p:nvPr/>
        </p:nvSpPr>
        <p:spPr>
          <a:xfrm>
            <a:off x="10015675" y="1992843"/>
            <a:ext cx="385145" cy="385145"/>
          </a:xfrm>
          <a:custGeom>
            <a:avLst/>
            <a:gdLst/>
            <a:ahLst/>
            <a:cxnLst/>
            <a:rect l="l" t="t" r="r" b="b"/>
            <a:pathLst>
              <a:path w="385145" h="385145">
                <a:moveTo>
                  <a:pt x="164778" y="337002"/>
                </a:moveTo>
                <a:cubicBezTo>
                  <a:pt x="170512" y="346932"/>
                  <a:pt x="181107" y="353048"/>
                  <a:pt x="192573" y="353048"/>
                </a:cubicBezTo>
                <a:cubicBezTo>
                  <a:pt x="204039" y="353048"/>
                  <a:pt x="214634" y="346932"/>
                  <a:pt x="220367" y="337002"/>
                </a:cubicBezTo>
                <a:moveTo>
                  <a:pt x="52348" y="245947"/>
                </a:moveTo>
                <a:cubicBezTo>
                  <a:pt x="48064" y="250642"/>
                  <a:pt x="46955" y="257422"/>
                  <a:pt x="49519" y="263237"/>
                </a:cubicBezTo>
                <a:cubicBezTo>
                  <a:pt x="52082" y="269052"/>
                  <a:pt x="57836" y="272807"/>
                  <a:pt x="64191" y="272811"/>
                </a:cubicBezTo>
                <a:lnTo>
                  <a:pt x="320954" y="272811"/>
                </a:lnTo>
                <a:cubicBezTo>
                  <a:pt x="327309" y="272814"/>
                  <a:pt x="333066" y="269066"/>
                  <a:pt x="335636" y="263255"/>
                </a:cubicBezTo>
                <a:cubicBezTo>
                  <a:pt x="338207" y="257444"/>
                  <a:pt x="337106" y="250663"/>
                  <a:pt x="332830" y="245963"/>
                </a:cubicBezTo>
                <a:cubicBezTo>
                  <a:pt x="311486" y="223962"/>
                  <a:pt x="288859" y="200580"/>
                  <a:pt x="288859" y="128382"/>
                </a:cubicBezTo>
                <a:cubicBezTo>
                  <a:pt x="288859" y="75204"/>
                  <a:pt x="245750" y="32095"/>
                  <a:pt x="192573" y="32095"/>
                </a:cubicBezTo>
                <a:cubicBezTo>
                  <a:pt x="139395" y="32095"/>
                  <a:pt x="96286" y="75204"/>
                  <a:pt x="96286" y="128382"/>
                </a:cubicBezTo>
                <a:cubicBezTo>
                  <a:pt x="96286" y="200580"/>
                  <a:pt x="73643" y="223962"/>
                  <a:pt x="52348" y="245947"/>
                </a:cubicBezTo>
              </a:path>
            </a:pathLst>
          </a:custGeom>
          <a:noFill/>
          <a:ln w="28084" cap="rnd">
            <a:solidFill>
              <a:srgbClr val="0A6648"/>
            </a:solidFill>
            <a:prstDash val="solid"/>
            <a:round/>
          </a:ln>
        </p:spPr>
      </p:sp>
      <p:sp>
        <p:nvSpPr>
          <p:cNvPr id="38" name="Text 36"/>
          <p:cNvSpPr/>
          <p:nvPr/>
        </p:nvSpPr>
        <p:spPr>
          <a:xfrm>
            <a:off x="9815055"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9" name="Text 37"/>
          <p:cNvSpPr/>
          <p:nvPr/>
        </p:nvSpPr>
        <p:spPr>
          <a:xfrm>
            <a:off x="8883167"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Notificaciones</a:t>
            </a:r>
            <a:endParaRPr lang="en-US" sz="1800" dirty="0"/>
          </a:p>
        </p:txBody>
      </p:sp>
      <p:sp>
        <p:nvSpPr>
          <p:cNvPr id="40" name="Text 38"/>
          <p:cNvSpPr/>
          <p:nvPr/>
        </p:nvSpPr>
        <p:spPr>
          <a:xfrm>
            <a:off x="8947175"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 recibe y el evento queda procesado.</a:t>
            </a:r>
            <a:endParaRPr lang="en-US" sz="1400" dirty="0"/>
          </a:p>
        </p:txBody>
      </p:sp>
      <p:sp>
        <p:nvSpPr>
          <p:cNvPr id="41" name="Shape 39"/>
          <p:cNvSpPr/>
          <p:nvPr/>
        </p:nvSpPr>
        <p:spPr>
          <a:xfrm>
            <a:off x="7466648" y="3602736"/>
            <a:ext cx="0" cy="955548"/>
          </a:xfrm>
          <a:prstGeom prst="line">
            <a:avLst/>
          </a:prstGeom>
          <a:noFill/>
          <a:ln w="25400">
            <a:solidFill>
              <a:srgbClr val="8A4B06"/>
            </a:solidFill>
            <a:prstDash val="dash"/>
          </a:ln>
        </p:spPr>
      </p:sp>
      <p:sp>
        <p:nvSpPr>
          <p:cNvPr id="42" name="Shape 40"/>
          <p:cNvSpPr/>
          <p:nvPr/>
        </p:nvSpPr>
        <p:spPr>
          <a:xfrm flipH="1">
            <a:off x="7372807" y="4558284"/>
            <a:ext cx="93840" cy="0"/>
          </a:xfrm>
          <a:prstGeom prst="line">
            <a:avLst/>
          </a:prstGeom>
          <a:noFill/>
          <a:ln w="25400">
            <a:solidFill>
              <a:srgbClr val="8A4B06"/>
            </a:solidFill>
            <a:prstDash val="dash"/>
            <a:tailEnd type="triangle"/>
          </a:ln>
        </p:spPr>
      </p:sp>
      <p:sp>
        <p:nvSpPr>
          <p:cNvPr id="43" name="Text 41"/>
          <p:cNvSpPr/>
          <p:nvPr/>
        </p:nvSpPr>
        <p:spPr>
          <a:xfrm>
            <a:off x="6003608" y="4229100"/>
            <a:ext cx="1371600" cy="274320"/>
          </a:xfrm>
          <a:prstGeom prst="rect">
            <a:avLst/>
          </a:prstGeom>
          <a:noFill/>
          <a:ln/>
        </p:spPr>
        <p:txBody>
          <a:bodyPr wrap="square" lIns="0" tIns="0" rIns="0" bIns="0" rtlCol="0" anchor="t">
            <a:normAutofit/>
          </a:bodyPr>
          <a:lstStyle/>
          <a:p>
            <a:pPr algn="r" indent="0" marL="0">
              <a:buNone/>
            </a:pPr>
            <a:r>
              <a:rPr lang="en-US" sz="1100" b="1" dirty="0">
                <a:solidFill>
                  <a:srgbClr val="8A4B06"/>
                </a:solidFill>
                <a:latin typeface="Segoe UI" pitchFamily="34" charset="0"/>
                <a:ea typeface="Segoe UI" pitchFamily="34" charset="-122"/>
                <a:cs typeface="Segoe UI" pitchFamily="34" charset="-120"/>
              </a:rPr>
              <a:t>si falla</a:t>
            </a:r>
            <a:endParaRPr lang="en-US" sz="1100" dirty="0"/>
          </a:p>
        </p:txBody>
      </p:sp>
      <p:sp>
        <p:nvSpPr>
          <p:cNvPr id="44" name="Shape 42"/>
          <p:cNvSpPr/>
          <p:nvPr/>
        </p:nvSpPr>
        <p:spPr>
          <a:xfrm>
            <a:off x="7372807" y="4123944"/>
            <a:ext cx="4206240" cy="868680"/>
          </a:xfrm>
          <a:prstGeom prst="roundRect">
            <a:avLst>
              <a:gd name="adj" fmla="val 14737"/>
            </a:avLst>
          </a:prstGeom>
          <a:solidFill>
            <a:srgbClr val="FCEFD6"/>
          </a:solidFill>
          <a:ln w="12700">
            <a:solidFill>
              <a:srgbClr val="C5A583"/>
            </a:solidFill>
            <a:prstDash val="solid"/>
          </a:ln>
          <a:effectLst>
            <a:outerShdw sx="100000" sy="100000" kx="0" ky="0" algn="bl" rotWithShape="0" blurRad="76200" dist="19050" dir="5400000">
              <a:srgbClr val="0B1F3A">
                <a:alpha val="14000"/>
              </a:srgbClr>
            </a:outerShdw>
          </a:effectLst>
        </p:spPr>
      </p:sp>
      <p:sp>
        <p:nvSpPr>
          <p:cNvPr id="45" name="Shape 43"/>
          <p:cNvSpPr/>
          <p:nvPr/>
        </p:nvSpPr>
        <p:spPr>
          <a:xfrm>
            <a:off x="7537399" y="4279392"/>
            <a:ext cx="548640" cy="548640"/>
          </a:xfrm>
          <a:prstGeom prst="ellipse">
            <a:avLst/>
          </a:prstGeom>
          <a:solidFill>
            <a:srgbClr val="FFFFFF"/>
          </a:solidFill>
          <a:ln w="12700">
            <a:solidFill>
              <a:srgbClr val="FFFFFF"/>
            </a:solidFill>
            <a:prstDash val="solid"/>
          </a:ln>
        </p:spPr>
      </p:sp>
      <p:sp>
        <p:nvSpPr>
          <p:cNvPr id="46" name="Icono refresh-cw"/>
          <p:cNvSpPr/>
          <p:nvPr/>
        </p:nvSpPr>
        <p:spPr>
          <a:xfrm>
            <a:off x="7669073" y="4411066"/>
            <a:ext cx="285293" cy="285293"/>
          </a:xfrm>
          <a:custGeom>
            <a:avLst/>
            <a:gdLst/>
            <a:ahLst/>
            <a:cxnLst/>
            <a:rect l="l" t="t" r="r" b="b"/>
            <a:pathLst>
              <a:path w="285293" h="285293">
                <a:moveTo>
                  <a:pt x="35662" y="142646"/>
                </a:moveTo>
                <a:cubicBezTo>
                  <a:pt x="35662" y="83560"/>
                  <a:pt x="83560" y="35662"/>
                  <a:pt x="142646" y="35662"/>
                </a:cubicBezTo>
                <a:cubicBezTo>
                  <a:pt x="172555" y="35774"/>
                  <a:pt x="201263" y="47444"/>
                  <a:pt x="222766" y="68233"/>
                </a:cubicBezTo>
                <a:lnTo>
                  <a:pt x="249631" y="95098"/>
                </a:lnTo>
                <a:moveTo>
                  <a:pt x="249631" y="35662"/>
                </a:moveTo>
                <a:lnTo>
                  <a:pt x="249631" y="95098"/>
                </a:lnTo>
                <a:lnTo>
                  <a:pt x="190195" y="95098"/>
                </a:lnTo>
                <a:moveTo>
                  <a:pt x="249631" y="142646"/>
                </a:moveTo>
                <a:cubicBezTo>
                  <a:pt x="249631" y="201732"/>
                  <a:pt x="201732" y="249631"/>
                  <a:pt x="142646" y="249631"/>
                </a:cubicBezTo>
                <a:cubicBezTo>
                  <a:pt x="112738" y="249519"/>
                  <a:pt x="84030" y="237848"/>
                  <a:pt x="62527" y="217060"/>
                </a:cubicBezTo>
                <a:lnTo>
                  <a:pt x="35662" y="190195"/>
                </a:lnTo>
                <a:moveTo>
                  <a:pt x="95098" y="190195"/>
                </a:moveTo>
                <a:lnTo>
                  <a:pt x="35662" y="190195"/>
                </a:lnTo>
                <a:lnTo>
                  <a:pt x="35662" y="249631"/>
                </a:lnTo>
              </a:path>
            </a:pathLst>
          </a:custGeom>
          <a:noFill/>
          <a:ln w="23774" cap="rnd">
            <a:solidFill>
              <a:srgbClr val="8A4B06"/>
            </a:solidFill>
            <a:prstDash val="solid"/>
            <a:round/>
          </a:ln>
        </p:spPr>
      </p:sp>
      <p:sp>
        <p:nvSpPr>
          <p:cNvPr id="47" name="Text 45"/>
          <p:cNvSpPr/>
          <p:nvPr/>
        </p:nvSpPr>
        <p:spPr>
          <a:xfrm>
            <a:off x="8214055" y="4233672"/>
            <a:ext cx="3246120" cy="329184"/>
          </a:xfrm>
          <a:prstGeom prst="rect">
            <a:avLst/>
          </a:prstGeom>
          <a:noFill/>
          <a:ln/>
        </p:spPr>
        <p:txBody>
          <a:bodyPr wrap="square" lIns="0" tIns="0" rIns="0" bIns="0" rtlCol="0" anchor="t">
            <a:normAutofit/>
          </a:bodyPr>
          <a:lstStyle/>
          <a:p>
            <a:pPr algn="l" indent="0" marL="0">
              <a:buNone/>
            </a:pPr>
            <a:r>
              <a:rPr lang="en-US" sz="1450" b="1" dirty="0">
                <a:solidFill>
                  <a:srgbClr val="8A4B06"/>
                </a:solidFill>
                <a:latin typeface="Segoe UI Semibold" pitchFamily="34" charset="0"/>
                <a:ea typeface="Segoe UI Semibold" pitchFamily="34" charset="-122"/>
                <a:cs typeface="Segoe UI Semibold" pitchFamily="34" charset="-120"/>
              </a:rPr>
              <a:t>Sigue pendiente</a:t>
            </a:r>
            <a:endParaRPr lang="en-US" sz="1450" dirty="0"/>
          </a:p>
        </p:txBody>
      </p:sp>
      <p:sp>
        <p:nvSpPr>
          <p:cNvPr id="48" name="Text 46"/>
          <p:cNvSpPr/>
          <p:nvPr/>
        </p:nvSpPr>
        <p:spPr>
          <a:xfrm>
            <a:off x="8214055" y="4562856"/>
            <a:ext cx="3246120" cy="365760"/>
          </a:xfrm>
          <a:prstGeom prst="rect">
            <a:avLst/>
          </a:prstGeom>
          <a:noFill/>
          <a:ln/>
        </p:spPr>
        <p:txBody>
          <a:bodyPr wrap="square" lIns="0" tIns="0" rIns="0" bIns="0" rtlCol="0" anchor="t">
            <a:normAutofit/>
          </a:bodyPr>
          <a:lstStyle/>
          <a:p>
            <a:pPr algn="l" indent="0" marL="0">
              <a:buNone/>
            </a:pPr>
            <a:r>
              <a:rPr lang="en-US" sz="1150" dirty="0">
                <a:solidFill>
                  <a:srgbClr val="0B1A3C"/>
                </a:solidFill>
                <a:latin typeface="Segoe UI" pitchFamily="34" charset="0"/>
                <a:ea typeface="Segoe UI" pitchFamily="34" charset="-122"/>
                <a:cs typeface="Segoe UI" pitchFamily="34" charset="-120"/>
              </a:rPr>
              <a:t>Mismo eventoId; se reintenta en el siguiente ciclo.</a:t>
            </a:r>
            <a:endParaRPr lang="en-US" sz="1150" dirty="0"/>
          </a:p>
        </p:txBody>
      </p:sp>
      <p:sp>
        <p:nvSpPr>
          <p:cNvPr id="49" name="Shape 47"/>
          <p:cNvSpPr/>
          <p:nvPr/>
        </p:nvSpPr>
        <p:spPr>
          <a:xfrm>
            <a:off x="0" y="5961888"/>
            <a:ext cx="12191695" cy="475488"/>
          </a:xfrm>
          <a:prstGeom prst="rect">
            <a:avLst/>
          </a:prstGeom>
          <a:solidFill>
            <a:srgbClr val="0B2350"/>
          </a:solidFill>
          <a:ln w="12700">
            <a:solidFill>
              <a:srgbClr val="0B2350"/>
            </a:solidFill>
            <a:prstDash val="solid"/>
          </a:ln>
        </p:spPr>
      </p:sp>
      <p:sp>
        <p:nvSpPr>
          <p:cNvPr id="50"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51" name="Text 49"/>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Si notificaciones está caído, ningún aviso se pierde: queda pendiente hasta que vuelve.</a:t>
            </a:r>
            <a:endParaRPr lang="en-US" sz="14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CONTENEDORES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¿Qué es Docker y qué es Kubernetes?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Docker empaqueta la aplicación; Kubernetes administra lo empaquetado.</a:t>
            </a:r>
            <a:endParaRPr lang="en-US" sz="1700" dirty="0"/>
          </a:p>
        </p:txBody>
      </p:sp>
      <p:sp>
        <p:nvSpPr>
          <p:cNvPr id="14" name="Shape 12"/>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5" name="Shape 13"/>
          <p:cNvSpPr/>
          <p:nvPr/>
        </p:nvSpPr>
        <p:spPr>
          <a:xfrm>
            <a:off x="795528" y="5806440"/>
            <a:ext cx="438912" cy="438912"/>
          </a:xfrm>
          <a:prstGeom prst="ellipse">
            <a:avLst/>
          </a:prstGeom>
          <a:solidFill>
            <a:srgbClr val="FFFFFF"/>
          </a:solidFill>
          <a:ln w="12700">
            <a:solidFill>
              <a:srgbClr val="FFFFFF"/>
            </a:solidFill>
            <a:prstDash val="solid"/>
          </a:ln>
        </p:spPr>
      </p:sp>
      <p:sp>
        <p:nvSpPr>
          <p:cNvPr id="16" name="Icono ship-wheel"/>
          <p:cNvSpPr/>
          <p:nvPr/>
        </p:nvSpPr>
        <p:spPr>
          <a:xfrm>
            <a:off x="900867" y="5911779"/>
            <a:ext cx="228234" cy="228234"/>
          </a:xfrm>
          <a:custGeom>
            <a:avLst/>
            <a:gdLst/>
            <a:ahLst/>
            <a:cxnLst/>
            <a:rect l="l" t="t" r="r" b="b"/>
            <a:pathLst>
              <a:path w="228234" h="228234">
                <a:moveTo>
                  <a:pt x="190195" y="114117"/>
                </a:moveTo>
                <a:cubicBezTo>
                  <a:pt x="190195" y="156134"/>
                  <a:pt x="156134" y="190195"/>
                  <a:pt x="114117" y="190195"/>
                </a:cubicBezTo>
                <a:cubicBezTo>
                  <a:pt x="72100" y="190195"/>
                  <a:pt x="38039" y="156134"/>
                  <a:pt x="38039" y="114117"/>
                </a:cubicBezTo>
                <a:cubicBezTo>
                  <a:pt x="38039" y="72100"/>
                  <a:pt x="72100" y="38039"/>
                  <a:pt x="114117" y="38039"/>
                </a:cubicBezTo>
                <a:cubicBezTo>
                  <a:pt x="156134" y="38039"/>
                  <a:pt x="190195" y="72100"/>
                  <a:pt x="190195" y="114117"/>
                </a:cubicBezTo>
                <a:close/>
                <a:moveTo>
                  <a:pt x="114117" y="19020"/>
                </a:moveTo>
                <a:lnTo>
                  <a:pt x="114117" y="90343"/>
                </a:lnTo>
                <a:moveTo>
                  <a:pt x="180685" y="47549"/>
                </a:moveTo>
                <a:lnTo>
                  <a:pt x="130949" y="97285"/>
                </a:lnTo>
                <a:moveTo>
                  <a:pt x="209215" y="114117"/>
                </a:moveTo>
                <a:lnTo>
                  <a:pt x="137892" y="114117"/>
                </a:lnTo>
                <a:moveTo>
                  <a:pt x="180685" y="180685"/>
                </a:moveTo>
                <a:lnTo>
                  <a:pt x="130949" y="130949"/>
                </a:lnTo>
                <a:moveTo>
                  <a:pt x="114117" y="137892"/>
                </a:moveTo>
                <a:lnTo>
                  <a:pt x="114117" y="209215"/>
                </a:lnTo>
                <a:moveTo>
                  <a:pt x="97285" y="130949"/>
                </a:moveTo>
                <a:lnTo>
                  <a:pt x="47549" y="180685"/>
                </a:lnTo>
                <a:moveTo>
                  <a:pt x="90343" y="114117"/>
                </a:moveTo>
                <a:lnTo>
                  <a:pt x="19020" y="114117"/>
                </a:lnTo>
                <a:moveTo>
                  <a:pt x="97285" y="97285"/>
                </a:moveTo>
                <a:lnTo>
                  <a:pt x="47549" y="47549"/>
                </a:lnTo>
                <a:moveTo>
                  <a:pt x="137892" y="114117"/>
                </a:moveTo>
                <a:cubicBezTo>
                  <a:pt x="137892" y="127247"/>
                  <a:pt x="127247" y="137892"/>
                  <a:pt x="114117" y="137892"/>
                </a:cubicBezTo>
                <a:cubicBezTo>
                  <a:pt x="100987" y="137892"/>
                  <a:pt x="90343" y="127247"/>
                  <a:pt x="90343" y="114117"/>
                </a:cubicBezTo>
                <a:cubicBezTo>
                  <a:pt x="90343" y="100987"/>
                  <a:pt x="100987" y="90343"/>
                  <a:pt x="114117" y="90343"/>
                </a:cubicBezTo>
                <a:cubicBezTo>
                  <a:pt x="127247" y="90343"/>
                  <a:pt x="137892" y="100987"/>
                  <a:pt x="137892" y="114117"/>
                </a:cubicBezTo>
                <a:close/>
              </a:path>
            </a:pathLst>
          </a:custGeom>
          <a:noFill/>
          <a:ln w="19020" cap="rnd">
            <a:solidFill>
              <a:srgbClr val="0B6E8A"/>
            </a:solidFill>
            <a:prstDash val="solid"/>
            <a:round/>
          </a:ln>
        </p:spPr>
      </p:sp>
      <p:sp>
        <p:nvSpPr>
          <p:cNvPr id="17" name="Text 15"/>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el transporte de carga: Docker es el contenedor estándar y Kubernetes, el puerto que los acomoda, los vigila y reemplaza el que se daña.</a:t>
            </a:r>
            <a:endParaRPr lang="en-US" sz="1450" dirty="0"/>
          </a:p>
        </p:txBody>
      </p:sp>
      <p:sp>
        <p:nvSpPr>
          <p:cNvPr id="18" name="Shape 16"/>
          <p:cNvSpPr/>
          <p:nvPr/>
        </p:nvSpPr>
        <p:spPr>
          <a:xfrm>
            <a:off x="612648" y="1719072"/>
            <a:ext cx="5163160" cy="3794760"/>
          </a:xfrm>
          <a:prstGeom prst="roundRect">
            <a:avLst>
              <a:gd name="adj" fmla="val 337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9" name="Shape 17"/>
          <p:cNvSpPr/>
          <p:nvPr/>
        </p:nvSpPr>
        <p:spPr>
          <a:xfrm>
            <a:off x="612648" y="1719072"/>
            <a:ext cx="5163160" cy="914400"/>
          </a:xfrm>
          <a:prstGeom prst="roundRect">
            <a:avLst>
              <a:gd name="adj" fmla="val 14000"/>
            </a:avLst>
          </a:prstGeom>
          <a:solidFill>
            <a:srgbClr val="0B6E8A"/>
          </a:solidFill>
          <a:ln w="12700">
            <a:solidFill>
              <a:srgbClr val="0B6E8A"/>
            </a:solidFill>
            <a:prstDash val="solid"/>
          </a:ln>
        </p:spPr>
      </p:sp>
      <p:sp>
        <p:nvSpPr>
          <p:cNvPr id="20" name="Shape 18"/>
          <p:cNvSpPr/>
          <p:nvPr/>
        </p:nvSpPr>
        <p:spPr>
          <a:xfrm>
            <a:off x="612648" y="2267712"/>
            <a:ext cx="5163160" cy="365760"/>
          </a:xfrm>
          <a:prstGeom prst="rect">
            <a:avLst/>
          </a:prstGeom>
          <a:solidFill>
            <a:srgbClr val="0B6E8A"/>
          </a:solidFill>
          <a:ln w="12700">
            <a:solidFill>
              <a:srgbClr val="0B6E8A"/>
            </a:solidFill>
            <a:prstDash val="solid"/>
          </a:ln>
        </p:spPr>
      </p:sp>
      <p:sp>
        <p:nvSpPr>
          <p:cNvPr id="21" name="Shape 19"/>
          <p:cNvSpPr/>
          <p:nvPr/>
        </p:nvSpPr>
        <p:spPr>
          <a:xfrm>
            <a:off x="841248" y="1874520"/>
            <a:ext cx="603504" cy="603504"/>
          </a:xfrm>
          <a:prstGeom prst="ellipse">
            <a:avLst/>
          </a:prstGeom>
          <a:solidFill>
            <a:srgbClr val="FFFFFF"/>
          </a:solidFill>
          <a:ln w="12700">
            <a:solidFill>
              <a:srgbClr val="FFFFFF"/>
            </a:solidFill>
            <a:prstDash val="solid"/>
          </a:ln>
        </p:spPr>
      </p:sp>
      <p:sp>
        <p:nvSpPr>
          <p:cNvPr id="22" name="Icono container"/>
          <p:cNvSpPr/>
          <p:nvPr/>
        </p:nvSpPr>
        <p:spPr>
          <a:xfrm>
            <a:off x="986089" y="2019361"/>
            <a:ext cx="313822" cy="313822"/>
          </a:xfrm>
          <a:custGeom>
            <a:avLst/>
            <a:gdLst/>
            <a:ahLst/>
            <a:cxnLst/>
            <a:rect l="l" t="t" r="r" b="b"/>
            <a:pathLst>
              <a:path w="313822" h="313822">
                <a:moveTo>
                  <a:pt x="287670" y="100685"/>
                </a:moveTo>
                <a:cubicBezTo>
                  <a:pt x="287670" y="92839"/>
                  <a:pt x="282440" y="84993"/>
                  <a:pt x="277210" y="81071"/>
                </a:cubicBezTo>
                <a:lnTo>
                  <a:pt x="194831" y="30075"/>
                </a:lnTo>
                <a:cubicBezTo>
                  <a:pt x="187939" y="26157"/>
                  <a:pt x="179494" y="26157"/>
                  <a:pt x="172602" y="30075"/>
                </a:cubicBezTo>
                <a:lnTo>
                  <a:pt x="37920" y="108530"/>
                </a:lnTo>
                <a:cubicBezTo>
                  <a:pt x="31382" y="111145"/>
                  <a:pt x="26152" y="118991"/>
                  <a:pt x="26152" y="126836"/>
                </a:cubicBezTo>
                <a:lnTo>
                  <a:pt x="26152" y="213137"/>
                </a:lnTo>
                <a:cubicBezTo>
                  <a:pt x="26152" y="219675"/>
                  <a:pt x="31382" y="228829"/>
                  <a:pt x="36613" y="232751"/>
                </a:cubicBezTo>
                <a:lnTo>
                  <a:pt x="118991" y="283747"/>
                </a:lnTo>
                <a:cubicBezTo>
                  <a:pt x="125883" y="287665"/>
                  <a:pt x="134328" y="287665"/>
                  <a:pt x="141220" y="283747"/>
                </a:cubicBezTo>
                <a:lnTo>
                  <a:pt x="275902" y="205292"/>
                </a:lnTo>
                <a:cubicBezTo>
                  <a:pt x="282440" y="201369"/>
                  <a:pt x="287670" y="192216"/>
                  <a:pt x="287670" y="185678"/>
                </a:cubicBezTo>
                <a:close/>
                <a:moveTo>
                  <a:pt x="130759" y="286363"/>
                </a:moveTo>
                <a:lnTo>
                  <a:pt x="130759" y="183063"/>
                </a:lnTo>
                <a:lnTo>
                  <a:pt x="27459" y="118991"/>
                </a:lnTo>
                <a:moveTo>
                  <a:pt x="130759" y="183063"/>
                </a:moveTo>
                <a:lnTo>
                  <a:pt x="286363" y="92839"/>
                </a:lnTo>
                <a:moveTo>
                  <a:pt x="183063" y="258903"/>
                </a:moveTo>
                <a:lnTo>
                  <a:pt x="183063" y="152988"/>
                </a:lnTo>
                <a:moveTo>
                  <a:pt x="235367" y="228829"/>
                </a:moveTo>
                <a:lnTo>
                  <a:pt x="235367" y="122914"/>
                </a:lnTo>
              </a:path>
            </a:pathLst>
          </a:custGeom>
          <a:noFill/>
          <a:ln w="26152" cap="rnd">
            <a:solidFill>
              <a:srgbClr val="0B6E8A"/>
            </a:solidFill>
            <a:prstDash val="solid"/>
            <a:round/>
          </a:ln>
        </p:spPr>
      </p:sp>
      <p:sp>
        <p:nvSpPr>
          <p:cNvPr id="23" name="Text 21"/>
          <p:cNvSpPr/>
          <p:nvPr/>
        </p:nvSpPr>
        <p:spPr>
          <a:xfrm>
            <a:off x="161848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Docker: la caja</a:t>
            </a:r>
            <a:endParaRPr lang="en-US" sz="1900" dirty="0"/>
          </a:p>
        </p:txBody>
      </p:sp>
      <p:sp>
        <p:nvSpPr>
          <p:cNvPr id="24" name="Icono circle-check"/>
          <p:cNvSpPr/>
          <p:nvPr/>
        </p:nvSpPr>
        <p:spPr>
          <a:xfrm>
            <a:off x="905256" y="298323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25" name="Text 23"/>
          <p:cNvSpPr/>
          <p:nvPr/>
        </p:nvSpPr>
        <p:spPr>
          <a:xfrm>
            <a:off x="1399032" y="281635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Empaqueta la app con Java y todo lo que usa</a:t>
            </a:r>
            <a:endParaRPr lang="en-US" sz="1500" dirty="0"/>
          </a:p>
        </p:txBody>
      </p:sp>
      <p:sp>
        <p:nvSpPr>
          <p:cNvPr id="26" name="Shape 24"/>
          <p:cNvSpPr/>
          <p:nvPr/>
        </p:nvSpPr>
        <p:spPr>
          <a:xfrm>
            <a:off x="886968" y="3479292"/>
            <a:ext cx="4614520" cy="0"/>
          </a:xfrm>
          <a:prstGeom prst="line">
            <a:avLst/>
          </a:prstGeom>
          <a:noFill/>
          <a:ln w="9525">
            <a:solidFill>
              <a:srgbClr val="DFE6F0"/>
            </a:solidFill>
            <a:prstDash val="solid"/>
          </a:ln>
        </p:spPr>
      </p:sp>
      <p:sp>
        <p:nvSpPr>
          <p:cNvPr id="27" name="Icono circle-check"/>
          <p:cNvSpPr/>
          <p:nvPr/>
        </p:nvSpPr>
        <p:spPr>
          <a:xfrm>
            <a:off x="905256" y="364617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28" name="Text 26"/>
          <p:cNvSpPr/>
          <p:nvPr/>
        </p:nvSpPr>
        <p:spPr>
          <a:xfrm>
            <a:off x="1399032" y="347929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Imagen: un paquete que no cambia</a:t>
            </a:r>
            <a:endParaRPr lang="en-US" sz="1500" dirty="0"/>
          </a:p>
        </p:txBody>
      </p:sp>
      <p:sp>
        <p:nvSpPr>
          <p:cNvPr id="29" name="Shape 27"/>
          <p:cNvSpPr/>
          <p:nvPr/>
        </p:nvSpPr>
        <p:spPr>
          <a:xfrm>
            <a:off x="886968" y="4142232"/>
            <a:ext cx="4614520" cy="0"/>
          </a:xfrm>
          <a:prstGeom prst="line">
            <a:avLst/>
          </a:prstGeom>
          <a:noFill/>
          <a:ln w="9525">
            <a:solidFill>
              <a:srgbClr val="DFE6F0"/>
            </a:solidFill>
            <a:prstDash val="solid"/>
          </a:ln>
        </p:spPr>
      </p:sp>
      <p:sp>
        <p:nvSpPr>
          <p:cNvPr id="30" name="Icono circle-check"/>
          <p:cNvSpPr/>
          <p:nvPr/>
        </p:nvSpPr>
        <p:spPr>
          <a:xfrm>
            <a:off x="905256" y="430911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1" name="Text 29"/>
          <p:cNvSpPr/>
          <p:nvPr/>
        </p:nvSpPr>
        <p:spPr>
          <a:xfrm>
            <a:off x="1399032" y="414223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Corre igual en una laptop y en un servidor</a:t>
            </a:r>
            <a:endParaRPr lang="en-US" sz="1500" dirty="0"/>
          </a:p>
        </p:txBody>
      </p:sp>
      <p:sp>
        <p:nvSpPr>
          <p:cNvPr id="32" name="Shape 30"/>
          <p:cNvSpPr/>
          <p:nvPr/>
        </p:nvSpPr>
        <p:spPr>
          <a:xfrm>
            <a:off x="886968" y="4805172"/>
            <a:ext cx="4614520" cy="0"/>
          </a:xfrm>
          <a:prstGeom prst="line">
            <a:avLst/>
          </a:prstGeom>
          <a:noFill/>
          <a:ln w="9525">
            <a:solidFill>
              <a:srgbClr val="DFE6F0"/>
            </a:solidFill>
            <a:prstDash val="solid"/>
          </a:ln>
        </p:spPr>
      </p:sp>
      <p:sp>
        <p:nvSpPr>
          <p:cNvPr id="33" name="Icono circle-check"/>
          <p:cNvSpPr/>
          <p:nvPr/>
        </p:nvSpPr>
        <p:spPr>
          <a:xfrm>
            <a:off x="905256" y="497205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4" name="Text 32"/>
          <p:cNvSpPr/>
          <p:nvPr/>
        </p:nvSpPr>
        <p:spPr>
          <a:xfrm>
            <a:off x="1399032" y="480517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Compose levanta varias cajas juntas</a:t>
            </a:r>
            <a:endParaRPr lang="en-US" sz="1500" dirty="0"/>
          </a:p>
        </p:txBody>
      </p:sp>
      <p:sp>
        <p:nvSpPr>
          <p:cNvPr id="35" name="Shape 33"/>
          <p:cNvSpPr/>
          <p:nvPr/>
        </p:nvSpPr>
        <p:spPr>
          <a:xfrm>
            <a:off x="6415888" y="1719072"/>
            <a:ext cx="5163160" cy="3794760"/>
          </a:xfrm>
          <a:prstGeom prst="roundRect">
            <a:avLst>
              <a:gd name="adj" fmla="val 337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6415888" y="1719072"/>
            <a:ext cx="5163160" cy="914400"/>
          </a:xfrm>
          <a:prstGeom prst="roundRect">
            <a:avLst>
              <a:gd name="adj" fmla="val 14000"/>
            </a:avLst>
          </a:prstGeom>
          <a:solidFill>
            <a:srgbClr val="0A6648"/>
          </a:solidFill>
          <a:ln w="12700">
            <a:solidFill>
              <a:srgbClr val="0A6648"/>
            </a:solidFill>
            <a:prstDash val="solid"/>
          </a:ln>
        </p:spPr>
      </p:sp>
      <p:sp>
        <p:nvSpPr>
          <p:cNvPr id="37" name="Shape 35"/>
          <p:cNvSpPr/>
          <p:nvPr/>
        </p:nvSpPr>
        <p:spPr>
          <a:xfrm>
            <a:off x="6415888" y="2267712"/>
            <a:ext cx="5163160" cy="365760"/>
          </a:xfrm>
          <a:prstGeom prst="rect">
            <a:avLst/>
          </a:prstGeom>
          <a:solidFill>
            <a:srgbClr val="0A6648"/>
          </a:solidFill>
          <a:ln w="12700">
            <a:solidFill>
              <a:srgbClr val="0A6648"/>
            </a:solidFill>
            <a:prstDash val="solid"/>
          </a:ln>
        </p:spPr>
      </p:sp>
      <p:sp>
        <p:nvSpPr>
          <p:cNvPr id="38" name="Shape 36"/>
          <p:cNvSpPr/>
          <p:nvPr/>
        </p:nvSpPr>
        <p:spPr>
          <a:xfrm>
            <a:off x="6644488" y="1874520"/>
            <a:ext cx="603504" cy="603504"/>
          </a:xfrm>
          <a:prstGeom prst="ellipse">
            <a:avLst/>
          </a:prstGeom>
          <a:solidFill>
            <a:srgbClr val="FFFFFF"/>
          </a:solidFill>
          <a:ln w="12700">
            <a:solidFill>
              <a:srgbClr val="FFFFFF"/>
            </a:solidFill>
            <a:prstDash val="solid"/>
          </a:ln>
        </p:spPr>
      </p:sp>
      <p:sp>
        <p:nvSpPr>
          <p:cNvPr id="39" name="Icono ship-wheel"/>
          <p:cNvSpPr/>
          <p:nvPr/>
        </p:nvSpPr>
        <p:spPr>
          <a:xfrm>
            <a:off x="6789329" y="2019361"/>
            <a:ext cx="313822" cy="313822"/>
          </a:xfrm>
          <a:custGeom>
            <a:avLst/>
            <a:gdLst/>
            <a:ahLst/>
            <a:cxnLst/>
            <a:rect l="l" t="t" r="r" b="b"/>
            <a:pathLst>
              <a:path w="313822" h="313822">
                <a:moveTo>
                  <a:pt x="261518" y="156911"/>
                </a:moveTo>
                <a:cubicBezTo>
                  <a:pt x="261518" y="214684"/>
                  <a:pt x="214684" y="261518"/>
                  <a:pt x="156911" y="261518"/>
                </a:cubicBezTo>
                <a:cubicBezTo>
                  <a:pt x="99138" y="261518"/>
                  <a:pt x="52304" y="214684"/>
                  <a:pt x="52304" y="156911"/>
                </a:cubicBezTo>
                <a:cubicBezTo>
                  <a:pt x="52304" y="99138"/>
                  <a:pt x="99138" y="52304"/>
                  <a:pt x="156911" y="52304"/>
                </a:cubicBezTo>
                <a:cubicBezTo>
                  <a:pt x="214684" y="52304"/>
                  <a:pt x="261518" y="99138"/>
                  <a:pt x="261518" y="156911"/>
                </a:cubicBezTo>
                <a:close/>
                <a:moveTo>
                  <a:pt x="156911" y="26152"/>
                </a:moveTo>
                <a:lnTo>
                  <a:pt x="156911" y="124221"/>
                </a:lnTo>
                <a:moveTo>
                  <a:pt x="248442" y="65380"/>
                </a:moveTo>
                <a:lnTo>
                  <a:pt x="180055" y="133767"/>
                </a:lnTo>
                <a:moveTo>
                  <a:pt x="287670" y="156911"/>
                </a:moveTo>
                <a:lnTo>
                  <a:pt x="189601" y="156911"/>
                </a:lnTo>
                <a:moveTo>
                  <a:pt x="248442" y="248442"/>
                </a:moveTo>
                <a:lnTo>
                  <a:pt x="180055" y="180055"/>
                </a:lnTo>
                <a:moveTo>
                  <a:pt x="156911" y="189601"/>
                </a:moveTo>
                <a:lnTo>
                  <a:pt x="156911" y="287670"/>
                </a:lnTo>
                <a:moveTo>
                  <a:pt x="133767" y="180055"/>
                </a:moveTo>
                <a:lnTo>
                  <a:pt x="65380" y="248442"/>
                </a:lnTo>
                <a:moveTo>
                  <a:pt x="124221" y="156911"/>
                </a:moveTo>
                <a:lnTo>
                  <a:pt x="26152" y="156911"/>
                </a:lnTo>
                <a:moveTo>
                  <a:pt x="133767" y="133767"/>
                </a:moveTo>
                <a:lnTo>
                  <a:pt x="65380" y="65380"/>
                </a:lnTo>
                <a:moveTo>
                  <a:pt x="189601" y="156911"/>
                </a:moveTo>
                <a:cubicBezTo>
                  <a:pt x="189601" y="174965"/>
                  <a:pt x="174965" y="189601"/>
                  <a:pt x="156911" y="189601"/>
                </a:cubicBezTo>
                <a:cubicBezTo>
                  <a:pt x="138857" y="189601"/>
                  <a:pt x="124221" y="174965"/>
                  <a:pt x="124221" y="156911"/>
                </a:cubicBezTo>
                <a:cubicBezTo>
                  <a:pt x="124221" y="138857"/>
                  <a:pt x="138857" y="124221"/>
                  <a:pt x="156911" y="124221"/>
                </a:cubicBezTo>
                <a:cubicBezTo>
                  <a:pt x="174965" y="124221"/>
                  <a:pt x="189601" y="138857"/>
                  <a:pt x="189601" y="156911"/>
                </a:cubicBezTo>
                <a:close/>
              </a:path>
            </a:pathLst>
          </a:custGeom>
          <a:noFill/>
          <a:ln w="26152" cap="rnd">
            <a:solidFill>
              <a:srgbClr val="0A6648"/>
            </a:solidFill>
            <a:prstDash val="solid"/>
            <a:round/>
          </a:ln>
        </p:spPr>
      </p:sp>
      <p:sp>
        <p:nvSpPr>
          <p:cNvPr id="40" name="Text 38"/>
          <p:cNvSpPr/>
          <p:nvPr/>
        </p:nvSpPr>
        <p:spPr>
          <a:xfrm>
            <a:off x="742172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Kubernetes: el administrador</a:t>
            </a:r>
            <a:endParaRPr lang="en-US" sz="1900" dirty="0"/>
          </a:p>
        </p:txBody>
      </p:sp>
      <p:sp>
        <p:nvSpPr>
          <p:cNvPr id="41" name="Icono circle-check"/>
          <p:cNvSpPr/>
          <p:nvPr/>
        </p:nvSpPr>
        <p:spPr>
          <a:xfrm>
            <a:off x="6708496" y="298323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42" name="Text 40"/>
          <p:cNvSpPr/>
          <p:nvPr/>
        </p:nvSpPr>
        <p:spPr>
          <a:xfrm>
            <a:off x="7202272" y="281635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Decide dónde corre cada caja</a:t>
            </a:r>
            <a:endParaRPr lang="en-US" sz="1500" dirty="0"/>
          </a:p>
        </p:txBody>
      </p:sp>
      <p:sp>
        <p:nvSpPr>
          <p:cNvPr id="43" name="Shape 41"/>
          <p:cNvSpPr/>
          <p:nvPr/>
        </p:nvSpPr>
        <p:spPr>
          <a:xfrm>
            <a:off x="6690208" y="3479292"/>
            <a:ext cx="4614520" cy="0"/>
          </a:xfrm>
          <a:prstGeom prst="line">
            <a:avLst/>
          </a:prstGeom>
          <a:noFill/>
          <a:ln w="9525">
            <a:solidFill>
              <a:srgbClr val="DFE6F0"/>
            </a:solidFill>
            <a:prstDash val="solid"/>
          </a:ln>
        </p:spPr>
      </p:sp>
      <p:sp>
        <p:nvSpPr>
          <p:cNvPr id="44" name="Icono circle-check"/>
          <p:cNvSpPr/>
          <p:nvPr/>
        </p:nvSpPr>
        <p:spPr>
          <a:xfrm>
            <a:off x="6708496" y="364617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45" name="Text 43"/>
          <p:cNvSpPr/>
          <p:nvPr/>
        </p:nvSpPr>
        <p:spPr>
          <a:xfrm>
            <a:off x="7202272" y="347929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Si una se cae, levanta otra</a:t>
            </a:r>
            <a:endParaRPr lang="en-US" sz="1500" dirty="0"/>
          </a:p>
        </p:txBody>
      </p:sp>
      <p:sp>
        <p:nvSpPr>
          <p:cNvPr id="46" name="Shape 44"/>
          <p:cNvSpPr/>
          <p:nvPr/>
        </p:nvSpPr>
        <p:spPr>
          <a:xfrm>
            <a:off x="6690208" y="4142232"/>
            <a:ext cx="4614520" cy="0"/>
          </a:xfrm>
          <a:prstGeom prst="line">
            <a:avLst/>
          </a:prstGeom>
          <a:noFill/>
          <a:ln w="9525">
            <a:solidFill>
              <a:srgbClr val="DFE6F0"/>
            </a:solidFill>
            <a:prstDash val="solid"/>
          </a:ln>
        </p:spPr>
      </p:sp>
      <p:sp>
        <p:nvSpPr>
          <p:cNvPr id="47" name="Icono circle-check"/>
          <p:cNvSpPr/>
          <p:nvPr/>
        </p:nvSpPr>
        <p:spPr>
          <a:xfrm>
            <a:off x="6708496" y="430911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48" name="Text 46"/>
          <p:cNvSpPr/>
          <p:nvPr/>
        </p:nvSpPr>
        <p:spPr>
          <a:xfrm>
            <a:off x="7202272" y="414223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Le da a cada servicio un nombre fijo</a:t>
            </a:r>
            <a:endParaRPr lang="en-US" sz="1500" dirty="0"/>
          </a:p>
        </p:txBody>
      </p:sp>
      <p:sp>
        <p:nvSpPr>
          <p:cNvPr id="49" name="Shape 47"/>
          <p:cNvSpPr/>
          <p:nvPr/>
        </p:nvSpPr>
        <p:spPr>
          <a:xfrm>
            <a:off x="6690208" y="4805172"/>
            <a:ext cx="4614520" cy="0"/>
          </a:xfrm>
          <a:prstGeom prst="line">
            <a:avLst/>
          </a:prstGeom>
          <a:noFill/>
          <a:ln w="9525">
            <a:solidFill>
              <a:srgbClr val="DFE6F0"/>
            </a:solidFill>
            <a:prstDash val="solid"/>
          </a:ln>
        </p:spPr>
      </p:sp>
      <p:sp>
        <p:nvSpPr>
          <p:cNvPr id="50" name="Icono circle-check"/>
          <p:cNvSpPr/>
          <p:nvPr/>
        </p:nvSpPr>
        <p:spPr>
          <a:xfrm>
            <a:off x="6708496" y="497205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51" name="Text 49"/>
          <p:cNvSpPr/>
          <p:nvPr/>
        </p:nvSpPr>
        <p:spPr>
          <a:xfrm>
            <a:off x="7202272" y="480517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Puede correr más copias si hay carga</a:t>
            </a:r>
            <a:endParaRPr lang="en-US" sz="1500" dirty="0"/>
          </a:p>
        </p:txBody>
      </p:sp>
      <p:sp>
        <p:nvSpPr>
          <p:cNvPr id="52" name="Text 50"/>
          <p:cNvSpPr/>
          <p:nvPr/>
        </p:nvSpPr>
        <p:spPr>
          <a:xfrm>
            <a:off x="5766664" y="3287268"/>
            <a:ext cx="658368" cy="658368"/>
          </a:xfrm>
          <a:prstGeom prst="ellipse">
            <a:avLst/>
          </a:prstGeom>
          <a:solidFill>
            <a:srgbClr val="0B1F3A"/>
          </a:solidFill>
          <a:ln w="38100">
            <a:solidFill>
              <a:srgbClr val="FFFFFF"/>
            </a:solidFill>
          </a:ln>
          <a:effectLst>
            <a:outerShdw sx="100000" sy="100000" kx="0" ky="0" algn="bl" rotWithShape="0" blurRad="76200" dist="19050" dir="5400000">
              <a:srgbClr val="0B1F3A">
                <a:alpha val="14000"/>
              </a:srgbClr>
            </a:outerShdw>
          </a:effectLst>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vs</a:t>
            </a:r>
            <a:endParaRPr lang="en-US" sz="1600" dirty="0"/>
          </a:p>
        </p:txBody>
      </p:sp>
      <p:sp>
        <p:nvSpPr>
          <p:cNvPr id="53" name="Text 5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CONTENEDORES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CI/CD</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Cada cambio se prueba solo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Del push a una imagen publicada, sin pasos manuales.</a:t>
            </a:r>
            <a:endParaRPr lang="en-US" sz="1700" dirty="0"/>
          </a:p>
        </p:txBody>
      </p:sp>
      <p:sp>
        <p:nvSpPr>
          <p:cNvPr id="14" name="Shape 12"/>
          <p:cNvSpPr/>
          <p:nvPr/>
        </p:nvSpPr>
        <p:spPr>
          <a:xfrm>
            <a:off x="612648" y="2359152"/>
            <a:ext cx="1964893" cy="1737360"/>
          </a:xfrm>
          <a:prstGeom prst="homePlate">
            <a:avLst/>
          </a:prstGeom>
          <a:solidFill>
            <a:srgbClr val="0B2350"/>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15" name="Icono git-pull-request"/>
          <p:cNvSpPr/>
          <p:nvPr/>
        </p:nvSpPr>
        <p:spPr>
          <a:xfrm>
            <a:off x="1220191" y="2671877"/>
            <a:ext cx="566928" cy="566928"/>
          </a:xfrm>
          <a:custGeom>
            <a:avLst/>
            <a:gdLst/>
            <a:ahLst/>
            <a:cxnLst/>
            <a:rect l="l" t="t" r="r" b="b"/>
            <a:pathLst>
              <a:path w="566928" h="566928">
                <a:moveTo>
                  <a:pt x="496062" y="425196"/>
                </a:moveTo>
                <a:cubicBezTo>
                  <a:pt x="496062" y="464334"/>
                  <a:pt x="464334" y="496062"/>
                  <a:pt x="425196" y="496062"/>
                </a:cubicBezTo>
                <a:cubicBezTo>
                  <a:pt x="386058" y="496062"/>
                  <a:pt x="354330" y="464334"/>
                  <a:pt x="354330" y="425196"/>
                </a:cubicBezTo>
                <a:cubicBezTo>
                  <a:pt x="354330" y="386058"/>
                  <a:pt x="386058" y="354330"/>
                  <a:pt x="425196" y="354330"/>
                </a:cubicBezTo>
                <a:cubicBezTo>
                  <a:pt x="464334" y="354330"/>
                  <a:pt x="496062" y="386058"/>
                  <a:pt x="496062" y="425196"/>
                </a:cubicBezTo>
                <a:close/>
                <a:moveTo>
                  <a:pt x="212598" y="141732"/>
                </a:moveTo>
                <a:cubicBezTo>
                  <a:pt x="212598" y="180870"/>
                  <a:pt x="180870" y="212598"/>
                  <a:pt x="141732" y="212598"/>
                </a:cubicBezTo>
                <a:cubicBezTo>
                  <a:pt x="102594" y="212598"/>
                  <a:pt x="70866" y="180870"/>
                  <a:pt x="70866" y="141732"/>
                </a:cubicBezTo>
                <a:cubicBezTo>
                  <a:pt x="70866" y="102594"/>
                  <a:pt x="102594" y="70866"/>
                  <a:pt x="141732" y="70866"/>
                </a:cubicBezTo>
                <a:cubicBezTo>
                  <a:pt x="180870" y="70866"/>
                  <a:pt x="212598" y="102594"/>
                  <a:pt x="212598" y="141732"/>
                </a:cubicBezTo>
                <a:close/>
                <a:moveTo>
                  <a:pt x="307086" y="141732"/>
                </a:moveTo>
                <a:lnTo>
                  <a:pt x="377952" y="141732"/>
                </a:lnTo>
                <a:cubicBezTo>
                  <a:pt x="404044" y="141732"/>
                  <a:pt x="425196" y="162884"/>
                  <a:pt x="425196" y="188976"/>
                </a:cubicBezTo>
                <a:lnTo>
                  <a:pt x="425196" y="354330"/>
                </a:lnTo>
                <a:moveTo>
                  <a:pt x="141732" y="212598"/>
                </a:moveTo>
                <a:lnTo>
                  <a:pt x="141732" y="496062"/>
                </a:lnTo>
              </a:path>
            </a:pathLst>
          </a:custGeom>
          <a:noFill/>
          <a:ln w="47244" cap="rnd">
            <a:solidFill>
              <a:srgbClr val="FFFFFF"/>
            </a:solidFill>
            <a:prstDash val="solid"/>
            <a:round/>
          </a:ln>
        </p:spPr>
      </p:sp>
      <p:sp>
        <p:nvSpPr>
          <p:cNvPr id="16" name="Text 14"/>
          <p:cNvSpPr/>
          <p:nvPr/>
        </p:nvSpPr>
        <p:spPr>
          <a:xfrm>
            <a:off x="886968"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Push o PR</a:t>
            </a:r>
            <a:endParaRPr lang="en-US" sz="1600" dirty="0"/>
          </a:p>
        </p:txBody>
      </p:sp>
      <p:sp>
        <p:nvSpPr>
          <p:cNvPr id="17" name="Text 15"/>
          <p:cNvSpPr/>
          <p:nvPr/>
        </p:nvSpPr>
        <p:spPr>
          <a:xfrm>
            <a:off x="722376"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Alguien sube un cambio.</a:t>
            </a:r>
            <a:endParaRPr lang="en-US" sz="1400" dirty="0"/>
          </a:p>
        </p:txBody>
      </p:sp>
      <p:sp>
        <p:nvSpPr>
          <p:cNvPr id="18" name="Shape 16"/>
          <p:cNvSpPr/>
          <p:nvPr/>
        </p:nvSpPr>
        <p:spPr>
          <a:xfrm>
            <a:off x="1549375" y="4151376"/>
            <a:ext cx="0" cy="109728"/>
          </a:xfrm>
          <a:prstGeom prst="line">
            <a:avLst/>
          </a:prstGeom>
          <a:noFill/>
          <a:ln w="25400">
            <a:solidFill>
              <a:srgbClr val="0B2350"/>
            </a:solidFill>
            <a:prstDash val="solid"/>
          </a:ln>
        </p:spPr>
      </p:sp>
      <p:sp>
        <p:nvSpPr>
          <p:cNvPr id="19" name="Shape 17"/>
          <p:cNvSpPr/>
          <p:nvPr/>
        </p:nvSpPr>
        <p:spPr>
          <a:xfrm>
            <a:off x="2412949" y="2359152"/>
            <a:ext cx="1964893" cy="1737360"/>
          </a:xfrm>
          <a:prstGeom prst="chevron">
            <a:avLst/>
          </a:prstGeom>
          <a:solidFill>
            <a:srgbClr val="0B325C"/>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20" name="Icono settings"/>
          <p:cNvSpPr/>
          <p:nvPr/>
        </p:nvSpPr>
        <p:spPr>
          <a:xfrm>
            <a:off x="3157652" y="2671877"/>
            <a:ext cx="566928" cy="566928"/>
          </a:xfrm>
          <a:custGeom>
            <a:avLst/>
            <a:gdLst/>
            <a:ahLst/>
            <a:cxnLst/>
            <a:rect l="l" t="t" r="r" b="b"/>
            <a:pathLst>
              <a:path w="566928" h="566928">
                <a:moveTo>
                  <a:pt x="288661" y="47244"/>
                </a:moveTo>
                <a:lnTo>
                  <a:pt x="278267" y="47244"/>
                </a:lnTo>
                <a:cubicBezTo>
                  <a:pt x="252175" y="47244"/>
                  <a:pt x="231023" y="68396"/>
                  <a:pt x="231023" y="94488"/>
                </a:cubicBezTo>
                <a:lnTo>
                  <a:pt x="231023" y="98740"/>
                </a:lnTo>
                <a:cubicBezTo>
                  <a:pt x="231006" y="115601"/>
                  <a:pt x="222004" y="131175"/>
                  <a:pt x="207401" y="139606"/>
                </a:cubicBezTo>
                <a:lnTo>
                  <a:pt x="197244" y="145512"/>
                </a:lnTo>
                <a:cubicBezTo>
                  <a:pt x="182626" y="153951"/>
                  <a:pt x="164617" y="153951"/>
                  <a:pt x="150000" y="145512"/>
                </a:cubicBezTo>
                <a:lnTo>
                  <a:pt x="146456" y="143622"/>
                </a:lnTo>
                <a:cubicBezTo>
                  <a:pt x="123883" y="130601"/>
                  <a:pt x="95030" y="138316"/>
                  <a:pt x="81968" y="160866"/>
                </a:cubicBezTo>
                <a:lnTo>
                  <a:pt x="76772" y="169842"/>
                </a:lnTo>
                <a:cubicBezTo>
                  <a:pt x="63750" y="192415"/>
                  <a:pt x="71466" y="221269"/>
                  <a:pt x="94016" y="234330"/>
                </a:cubicBezTo>
                <a:lnTo>
                  <a:pt x="97559" y="236692"/>
                </a:lnTo>
                <a:cubicBezTo>
                  <a:pt x="112088" y="245081"/>
                  <a:pt x="121080" y="260545"/>
                  <a:pt x="121181" y="277322"/>
                </a:cubicBezTo>
                <a:lnTo>
                  <a:pt x="121181" y="289370"/>
                </a:lnTo>
                <a:cubicBezTo>
                  <a:pt x="121248" y="306315"/>
                  <a:pt x="112234" y="321999"/>
                  <a:pt x="97559" y="330472"/>
                </a:cubicBezTo>
                <a:lnTo>
                  <a:pt x="94016" y="332598"/>
                </a:lnTo>
                <a:cubicBezTo>
                  <a:pt x="71466" y="345659"/>
                  <a:pt x="63750" y="374513"/>
                  <a:pt x="76772" y="397086"/>
                </a:cubicBezTo>
                <a:lnTo>
                  <a:pt x="81968" y="406062"/>
                </a:lnTo>
                <a:cubicBezTo>
                  <a:pt x="95030" y="428612"/>
                  <a:pt x="123883" y="436327"/>
                  <a:pt x="146456" y="423306"/>
                </a:cubicBezTo>
                <a:lnTo>
                  <a:pt x="150000" y="421416"/>
                </a:lnTo>
                <a:cubicBezTo>
                  <a:pt x="164617" y="412977"/>
                  <a:pt x="182626" y="412977"/>
                  <a:pt x="197244" y="421416"/>
                </a:cubicBezTo>
                <a:lnTo>
                  <a:pt x="207401" y="427322"/>
                </a:lnTo>
                <a:cubicBezTo>
                  <a:pt x="222004" y="435753"/>
                  <a:pt x="231006" y="451327"/>
                  <a:pt x="231023" y="468188"/>
                </a:cubicBezTo>
                <a:lnTo>
                  <a:pt x="231023" y="472440"/>
                </a:lnTo>
                <a:cubicBezTo>
                  <a:pt x="231023" y="498532"/>
                  <a:pt x="252175" y="519684"/>
                  <a:pt x="278267" y="519684"/>
                </a:cubicBezTo>
                <a:lnTo>
                  <a:pt x="288661" y="519684"/>
                </a:lnTo>
                <a:cubicBezTo>
                  <a:pt x="314753" y="519684"/>
                  <a:pt x="335905" y="498532"/>
                  <a:pt x="335905" y="472440"/>
                </a:cubicBezTo>
                <a:lnTo>
                  <a:pt x="335905" y="468188"/>
                </a:lnTo>
                <a:cubicBezTo>
                  <a:pt x="335922" y="451327"/>
                  <a:pt x="344924" y="435753"/>
                  <a:pt x="359527" y="427322"/>
                </a:cubicBezTo>
                <a:lnTo>
                  <a:pt x="369684" y="421416"/>
                </a:lnTo>
                <a:cubicBezTo>
                  <a:pt x="384302" y="412977"/>
                  <a:pt x="402311" y="412977"/>
                  <a:pt x="416928" y="421416"/>
                </a:cubicBezTo>
                <a:lnTo>
                  <a:pt x="420472" y="423306"/>
                </a:lnTo>
                <a:cubicBezTo>
                  <a:pt x="443045" y="436327"/>
                  <a:pt x="471898" y="428612"/>
                  <a:pt x="484960" y="406062"/>
                </a:cubicBezTo>
                <a:lnTo>
                  <a:pt x="490156" y="396850"/>
                </a:lnTo>
                <a:cubicBezTo>
                  <a:pt x="503178" y="374277"/>
                  <a:pt x="495462" y="345423"/>
                  <a:pt x="472912" y="332362"/>
                </a:cubicBezTo>
                <a:lnTo>
                  <a:pt x="469369" y="330472"/>
                </a:lnTo>
                <a:cubicBezTo>
                  <a:pt x="454694" y="321999"/>
                  <a:pt x="445680" y="306315"/>
                  <a:pt x="445747" y="289369"/>
                </a:cubicBezTo>
                <a:lnTo>
                  <a:pt x="445747" y="277558"/>
                </a:lnTo>
                <a:cubicBezTo>
                  <a:pt x="445680" y="260613"/>
                  <a:pt x="454694" y="244929"/>
                  <a:pt x="469369" y="236456"/>
                </a:cubicBezTo>
                <a:lnTo>
                  <a:pt x="472912" y="234330"/>
                </a:lnTo>
                <a:cubicBezTo>
                  <a:pt x="495462" y="221269"/>
                  <a:pt x="503178" y="192415"/>
                  <a:pt x="490156" y="169842"/>
                </a:cubicBezTo>
                <a:lnTo>
                  <a:pt x="484960" y="160866"/>
                </a:lnTo>
                <a:cubicBezTo>
                  <a:pt x="471898" y="138316"/>
                  <a:pt x="443045" y="130601"/>
                  <a:pt x="420472" y="143622"/>
                </a:cubicBezTo>
                <a:lnTo>
                  <a:pt x="416928" y="145512"/>
                </a:lnTo>
                <a:cubicBezTo>
                  <a:pt x="402311" y="153951"/>
                  <a:pt x="384302" y="153951"/>
                  <a:pt x="369684" y="145512"/>
                </a:cubicBezTo>
                <a:lnTo>
                  <a:pt x="359527" y="139606"/>
                </a:lnTo>
                <a:cubicBezTo>
                  <a:pt x="344924" y="131175"/>
                  <a:pt x="335922" y="115601"/>
                  <a:pt x="335905" y="98740"/>
                </a:cubicBezTo>
                <a:lnTo>
                  <a:pt x="335905" y="94488"/>
                </a:lnTo>
                <a:cubicBezTo>
                  <a:pt x="335905" y="68396"/>
                  <a:pt x="314753" y="47244"/>
                  <a:pt x="288661" y="47244"/>
                </a:cubicBezTo>
                <a:close/>
                <a:moveTo>
                  <a:pt x="354330" y="283464"/>
                </a:moveTo>
                <a:cubicBezTo>
                  <a:pt x="354330" y="322602"/>
                  <a:pt x="322602" y="354330"/>
                  <a:pt x="283464" y="354330"/>
                </a:cubicBezTo>
                <a:cubicBezTo>
                  <a:pt x="244326" y="354330"/>
                  <a:pt x="212598" y="322602"/>
                  <a:pt x="212598" y="283464"/>
                </a:cubicBezTo>
                <a:cubicBezTo>
                  <a:pt x="212598" y="244326"/>
                  <a:pt x="244326" y="212598"/>
                  <a:pt x="283464" y="212598"/>
                </a:cubicBezTo>
                <a:cubicBezTo>
                  <a:pt x="322602" y="212598"/>
                  <a:pt x="354330" y="244326"/>
                  <a:pt x="354330" y="283464"/>
                </a:cubicBezTo>
                <a:close/>
              </a:path>
            </a:pathLst>
          </a:custGeom>
          <a:noFill/>
          <a:ln w="47244" cap="rnd">
            <a:solidFill>
              <a:srgbClr val="FFFFFF"/>
            </a:solidFill>
            <a:prstDash val="solid"/>
            <a:round/>
          </a:ln>
        </p:spPr>
      </p:sp>
      <p:sp>
        <p:nvSpPr>
          <p:cNvPr id="21" name="Text 19"/>
          <p:cNvSpPr/>
          <p:nvPr/>
        </p:nvSpPr>
        <p:spPr>
          <a:xfrm>
            <a:off x="2687269"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Compilar</a:t>
            </a:r>
            <a:endParaRPr lang="en-US" sz="1600" dirty="0"/>
          </a:p>
        </p:txBody>
      </p:sp>
      <p:sp>
        <p:nvSpPr>
          <p:cNvPr id="22" name="Text 20"/>
          <p:cNvSpPr/>
          <p:nvPr/>
        </p:nvSpPr>
        <p:spPr>
          <a:xfrm>
            <a:off x="2522677"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Java 26 y Maven, un job por servicio.</a:t>
            </a:r>
            <a:endParaRPr lang="en-US" sz="1400" dirty="0"/>
          </a:p>
        </p:txBody>
      </p:sp>
      <p:sp>
        <p:nvSpPr>
          <p:cNvPr id="23" name="Shape 21"/>
          <p:cNvSpPr/>
          <p:nvPr/>
        </p:nvSpPr>
        <p:spPr>
          <a:xfrm>
            <a:off x="3349676" y="4151376"/>
            <a:ext cx="0" cy="109728"/>
          </a:xfrm>
          <a:prstGeom prst="line">
            <a:avLst/>
          </a:prstGeom>
          <a:noFill/>
          <a:ln w="25400">
            <a:solidFill>
              <a:srgbClr val="0B325C"/>
            </a:solidFill>
            <a:prstDash val="solid"/>
          </a:ln>
        </p:spPr>
      </p:sp>
      <p:sp>
        <p:nvSpPr>
          <p:cNvPr id="24" name="Shape 22"/>
          <p:cNvSpPr/>
          <p:nvPr/>
        </p:nvSpPr>
        <p:spPr>
          <a:xfrm>
            <a:off x="4213250" y="2359152"/>
            <a:ext cx="1964893" cy="1737360"/>
          </a:xfrm>
          <a:prstGeom prst="chevron">
            <a:avLst/>
          </a:prstGeom>
          <a:solidFill>
            <a:srgbClr val="0B4167"/>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25" name="Icono flask-conical"/>
          <p:cNvSpPr/>
          <p:nvPr/>
        </p:nvSpPr>
        <p:spPr>
          <a:xfrm>
            <a:off x="4957953" y="2671877"/>
            <a:ext cx="566928" cy="566928"/>
          </a:xfrm>
          <a:custGeom>
            <a:avLst/>
            <a:gdLst/>
            <a:ahLst/>
            <a:cxnLst/>
            <a:rect l="l" t="t" r="r" b="b"/>
            <a:pathLst>
              <a:path w="566928" h="566928">
                <a:moveTo>
                  <a:pt x="330708" y="47244"/>
                </a:moveTo>
                <a:lnTo>
                  <a:pt x="330708" y="188976"/>
                </a:lnTo>
                <a:cubicBezTo>
                  <a:pt x="330705" y="196901"/>
                  <a:pt x="332695" y="204699"/>
                  <a:pt x="336495" y="211653"/>
                </a:cubicBezTo>
                <a:lnTo>
                  <a:pt x="466653" y="449763"/>
                </a:lnTo>
                <a:cubicBezTo>
                  <a:pt x="474662" y="464402"/>
                  <a:pt x="474355" y="482181"/>
                  <a:pt x="465845" y="496535"/>
                </a:cubicBezTo>
                <a:cubicBezTo>
                  <a:pt x="457335" y="510888"/>
                  <a:pt x="441883" y="519688"/>
                  <a:pt x="425196" y="519684"/>
                </a:cubicBezTo>
                <a:lnTo>
                  <a:pt x="141732" y="519684"/>
                </a:lnTo>
                <a:cubicBezTo>
                  <a:pt x="125045" y="519688"/>
                  <a:pt x="109593" y="510888"/>
                  <a:pt x="101083" y="496535"/>
                </a:cubicBezTo>
                <a:cubicBezTo>
                  <a:pt x="92573" y="482181"/>
                  <a:pt x="92266" y="464402"/>
                  <a:pt x="100275" y="449763"/>
                </a:cubicBezTo>
                <a:lnTo>
                  <a:pt x="230433" y="211653"/>
                </a:lnTo>
                <a:cubicBezTo>
                  <a:pt x="234233" y="204699"/>
                  <a:pt x="236223" y="196901"/>
                  <a:pt x="236220" y="188976"/>
                </a:cubicBezTo>
                <a:lnTo>
                  <a:pt x="236220" y="47244"/>
                </a:lnTo>
                <a:moveTo>
                  <a:pt x="152433" y="354330"/>
                </a:moveTo>
                <a:lnTo>
                  <a:pt x="414495" y="354330"/>
                </a:lnTo>
                <a:moveTo>
                  <a:pt x="200787" y="47244"/>
                </a:moveTo>
                <a:lnTo>
                  <a:pt x="366141" y="47244"/>
                </a:lnTo>
              </a:path>
            </a:pathLst>
          </a:custGeom>
          <a:noFill/>
          <a:ln w="47244" cap="rnd">
            <a:solidFill>
              <a:srgbClr val="FFFFFF"/>
            </a:solidFill>
            <a:prstDash val="solid"/>
            <a:round/>
          </a:ln>
        </p:spPr>
      </p:sp>
      <p:sp>
        <p:nvSpPr>
          <p:cNvPr id="26" name="Text 24"/>
          <p:cNvSpPr/>
          <p:nvPr/>
        </p:nvSpPr>
        <p:spPr>
          <a:xfrm>
            <a:off x="4487570"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Probar</a:t>
            </a:r>
            <a:endParaRPr lang="en-US" sz="1600" dirty="0"/>
          </a:p>
        </p:txBody>
      </p:sp>
      <p:sp>
        <p:nvSpPr>
          <p:cNvPr id="27" name="Text 25"/>
          <p:cNvSpPr/>
          <p:nvPr/>
        </p:nvSpPr>
        <p:spPr>
          <a:xfrm>
            <a:off x="4322978"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mvn verify con PostgreSQL de servicio.</a:t>
            </a:r>
            <a:endParaRPr lang="en-US" sz="1400" dirty="0"/>
          </a:p>
        </p:txBody>
      </p:sp>
      <p:sp>
        <p:nvSpPr>
          <p:cNvPr id="28" name="Shape 26"/>
          <p:cNvSpPr/>
          <p:nvPr/>
        </p:nvSpPr>
        <p:spPr>
          <a:xfrm>
            <a:off x="5149977" y="4151376"/>
            <a:ext cx="0" cy="109728"/>
          </a:xfrm>
          <a:prstGeom prst="line">
            <a:avLst/>
          </a:prstGeom>
          <a:noFill/>
          <a:ln w="25400">
            <a:solidFill>
              <a:srgbClr val="0B4167"/>
            </a:solidFill>
            <a:prstDash val="solid"/>
          </a:ln>
        </p:spPr>
      </p:sp>
      <p:sp>
        <p:nvSpPr>
          <p:cNvPr id="29" name="Shape 27"/>
          <p:cNvSpPr/>
          <p:nvPr/>
        </p:nvSpPr>
        <p:spPr>
          <a:xfrm>
            <a:off x="6013552" y="2359152"/>
            <a:ext cx="1964893" cy="1737360"/>
          </a:xfrm>
          <a:prstGeom prst="chevron">
            <a:avLst/>
          </a:prstGeom>
          <a:solidFill>
            <a:srgbClr val="0B5073"/>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30" name="Icono power"/>
          <p:cNvSpPr/>
          <p:nvPr/>
        </p:nvSpPr>
        <p:spPr>
          <a:xfrm>
            <a:off x="6758254" y="2671877"/>
            <a:ext cx="566928" cy="566928"/>
          </a:xfrm>
          <a:custGeom>
            <a:avLst/>
            <a:gdLst/>
            <a:ahLst/>
            <a:cxnLst/>
            <a:rect l="l" t="t" r="r" b="b"/>
            <a:pathLst>
              <a:path w="566928" h="566928">
                <a:moveTo>
                  <a:pt x="283464" y="47244"/>
                </a:moveTo>
                <a:lnTo>
                  <a:pt x="283464" y="283464"/>
                </a:lnTo>
                <a:moveTo>
                  <a:pt x="434645" y="155905"/>
                </a:moveTo>
                <a:cubicBezTo>
                  <a:pt x="517524" y="238815"/>
                  <a:pt x="517648" y="373169"/>
                  <a:pt x="434922" y="456231"/>
                </a:cubicBezTo>
                <a:cubicBezTo>
                  <a:pt x="352195" y="539294"/>
                  <a:pt x="217842" y="539715"/>
                  <a:pt x="134597" y="457172"/>
                </a:cubicBezTo>
                <a:cubicBezTo>
                  <a:pt x="51351" y="374629"/>
                  <a:pt x="50633" y="240278"/>
                  <a:pt x="132992" y="156850"/>
                </a:cubicBezTo>
              </a:path>
            </a:pathLst>
          </a:custGeom>
          <a:noFill/>
          <a:ln w="47244" cap="rnd">
            <a:solidFill>
              <a:srgbClr val="FFFFFF"/>
            </a:solidFill>
            <a:prstDash val="solid"/>
            <a:round/>
          </a:ln>
        </p:spPr>
      </p:sp>
      <p:sp>
        <p:nvSpPr>
          <p:cNvPr id="31" name="Text 29"/>
          <p:cNvSpPr/>
          <p:nvPr/>
        </p:nvSpPr>
        <p:spPr>
          <a:xfrm>
            <a:off x="6287872"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Arrancar</a:t>
            </a:r>
            <a:endParaRPr lang="en-US" sz="1600" dirty="0"/>
          </a:p>
        </p:txBody>
      </p:sp>
      <p:sp>
        <p:nvSpPr>
          <p:cNvPr id="32" name="Text 30"/>
          <p:cNvSpPr/>
          <p:nvPr/>
        </p:nvSpPr>
        <p:spPr>
          <a:xfrm>
            <a:off x="6123280"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Levanta el JAR y espera ver CAM-002.</a:t>
            </a:r>
            <a:endParaRPr lang="en-US" sz="1400" dirty="0"/>
          </a:p>
        </p:txBody>
      </p:sp>
      <p:sp>
        <p:nvSpPr>
          <p:cNvPr id="33" name="Shape 31"/>
          <p:cNvSpPr/>
          <p:nvPr/>
        </p:nvSpPr>
        <p:spPr>
          <a:xfrm>
            <a:off x="6950278" y="4151376"/>
            <a:ext cx="0" cy="109728"/>
          </a:xfrm>
          <a:prstGeom prst="line">
            <a:avLst/>
          </a:prstGeom>
          <a:noFill/>
          <a:ln w="25400">
            <a:solidFill>
              <a:srgbClr val="0B5073"/>
            </a:solidFill>
            <a:prstDash val="solid"/>
          </a:ln>
        </p:spPr>
      </p:sp>
      <p:sp>
        <p:nvSpPr>
          <p:cNvPr id="34" name="Shape 32"/>
          <p:cNvSpPr/>
          <p:nvPr/>
        </p:nvSpPr>
        <p:spPr>
          <a:xfrm>
            <a:off x="7813853" y="2359152"/>
            <a:ext cx="1964893" cy="1737360"/>
          </a:xfrm>
          <a:prstGeom prst="chevron">
            <a:avLst/>
          </a:prstGeom>
          <a:solidFill>
            <a:srgbClr val="0B5F7E"/>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35" name="Icono package"/>
          <p:cNvSpPr/>
          <p:nvPr/>
        </p:nvSpPr>
        <p:spPr>
          <a:xfrm>
            <a:off x="8558555" y="2671877"/>
            <a:ext cx="566928" cy="566928"/>
          </a:xfrm>
          <a:custGeom>
            <a:avLst/>
            <a:gdLst/>
            <a:ahLst/>
            <a:cxnLst/>
            <a:rect l="l" t="t" r="r" b="b"/>
            <a:pathLst>
              <a:path w="566928" h="566928">
                <a:moveTo>
                  <a:pt x="259842" y="513306"/>
                </a:moveTo>
                <a:cubicBezTo>
                  <a:pt x="274459" y="521745"/>
                  <a:pt x="292469" y="521745"/>
                  <a:pt x="307086" y="513306"/>
                </a:cubicBezTo>
                <a:lnTo>
                  <a:pt x="472440" y="418818"/>
                </a:lnTo>
                <a:cubicBezTo>
                  <a:pt x="487042" y="410387"/>
                  <a:pt x="496045" y="394813"/>
                  <a:pt x="496062" y="377952"/>
                </a:cubicBezTo>
                <a:lnTo>
                  <a:pt x="496062" y="188976"/>
                </a:lnTo>
                <a:cubicBezTo>
                  <a:pt x="496045" y="172115"/>
                  <a:pt x="487042" y="156541"/>
                  <a:pt x="472440" y="148110"/>
                </a:cubicBezTo>
                <a:lnTo>
                  <a:pt x="307086" y="53622"/>
                </a:lnTo>
                <a:cubicBezTo>
                  <a:pt x="292469" y="45183"/>
                  <a:pt x="274459" y="45183"/>
                  <a:pt x="259842" y="53622"/>
                </a:cubicBezTo>
                <a:lnTo>
                  <a:pt x="94488" y="148110"/>
                </a:lnTo>
                <a:cubicBezTo>
                  <a:pt x="79886" y="156541"/>
                  <a:pt x="70883" y="172115"/>
                  <a:pt x="70866" y="188976"/>
                </a:cubicBezTo>
                <a:lnTo>
                  <a:pt x="70866" y="377952"/>
                </a:lnTo>
                <a:cubicBezTo>
                  <a:pt x="70883" y="394813"/>
                  <a:pt x="79886" y="410387"/>
                  <a:pt x="94488" y="418818"/>
                </a:cubicBezTo>
                <a:close/>
                <a:moveTo>
                  <a:pt x="283464" y="519684"/>
                </a:moveTo>
                <a:lnTo>
                  <a:pt x="283464" y="283464"/>
                </a:lnTo>
                <a:moveTo>
                  <a:pt x="77953" y="165354"/>
                </a:moveTo>
                <a:lnTo>
                  <a:pt x="259913" y="277181"/>
                </a:lnTo>
                <a:cubicBezTo>
                  <a:pt x="274494" y="285565"/>
                  <a:pt x="292434" y="285565"/>
                  <a:pt x="307015" y="277181"/>
                </a:cubicBezTo>
                <a:lnTo>
                  <a:pt x="488975" y="165354"/>
                </a:lnTo>
                <a:moveTo>
                  <a:pt x="177165" y="100866"/>
                </a:moveTo>
                <a:lnTo>
                  <a:pt x="389763" y="222519"/>
                </a:lnTo>
              </a:path>
            </a:pathLst>
          </a:custGeom>
          <a:noFill/>
          <a:ln w="47244" cap="rnd">
            <a:solidFill>
              <a:srgbClr val="FFFFFF"/>
            </a:solidFill>
            <a:prstDash val="solid"/>
            <a:round/>
          </a:ln>
        </p:spPr>
      </p:sp>
      <p:sp>
        <p:nvSpPr>
          <p:cNvPr id="36" name="Text 34"/>
          <p:cNvSpPr/>
          <p:nvPr/>
        </p:nvSpPr>
        <p:spPr>
          <a:xfrm>
            <a:off x="8088173"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Imagen</a:t>
            </a:r>
            <a:endParaRPr lang="en-US" sz="1600" dirty="0"/>
          </a:p>
        </p:txBody>
      </p:sp>
      <p:sp>
        <p:nvSpPr>
          <p:cNvPr id="37" name="Text 35"/>
          <p:cNvSpPr/>
          <p:nvPr/>
        </p:nvSpPr>
        <p:spPr>
          <a:xfrm>
            <a:off x="7923581"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Se construye con Docker.</a:t>
            </a:r>
            <a:endParaRPr lang="en-US" sz="1400" dirty="0"/>
          </a:p>
        </p:txBody>
      </p:sp>
      <p:sp>
        <p:nvSpPr>
          <p:cNvPr id="38" name="Shape 36"/>
          <p:cNvSpPr/>
          <p:nvPr/>
        </p:nvSpPr>
        <p:spPr>
          <a:xfrm>
            <a:off x="8750579" y="4151376"/>
            <a:ext cx="0" cy="109728"/>
          </a:xfrm>
          <a:prstGeom prst="line">
            <a:avLst/>
          </a:prstGeom>
          <a:noFill/>
          <a:ln w="25400">
            <a:solidFill>
              <a:srgbClr val="0B5F7E"/>
            </a:solidFill>
            <a:prstDash val="solid"/>
          </a:ln>
        </p:spPr>
      </p:sp>
      <p:sp>
        <p:nvSpPr>
          <p:cNvPr id="39" name="Shape 37"/>
          <p:cNvSpPr/>
          <p:nvPr/>
        </p:nvSpPr>
        <p:spPr>
          <a:xfrm>
            <a:off x="9614154" y="2359152"/>
            <a:ext cx="1964893" cy="1737360"/>
          </a:xfrm>
          <a:prstGeom prst="chevron">
            <a:avLst/>
          </a:prstGeom>
          <a:solidFill>
            <a:srgbClr val="0B6E8A"/>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40" name="Icono cloud-upload"/>
          <p:cNvSpPr/>
          <p:nvPr/>
        </p:nvSpPr>
        <p:spPr>
          <a:xfrm>
            <a:off x="10358857" y="2671877"/>
            <a:ext cx="566928" cy="566928"/>
          </a:xfrm>
          <a:custGeom>
            <a:avLst/>
            <a:gdLst/>
            <a:ahLst/>
            <a:cxnLst/>
            <a:rect l="l" t="t" r="r" b="b"/>
            <a:pathLst>
              <a:path w="566928" h="566928">
                <a:moveTo>
                  <a:pt x="283464" y="307086"/>
                </a:moveTo>
                <a:lnTo>
                  <a:pt x="283464" y="496062"/>
                </a:lnTo>
                <a:moveTo>
                  <a:pt x="94488" y="351944"/>
                </a:moveTo>
                <a:cubicBezTo>
                  <a:pt x="46416" y="302829"/>
                  <a:pt x="33736" y="229099"/>
                  <a:pt x="62638" y="166745"/>
                </a:cubicBezTo>
                <a:cubicBezTo>
                  <a:pt x="91540" y="104392"/>
                  <a:pt x="155997" y="66417"/>
                  <a:pt x="224545" y="71357"/>
                </a:cubicBezTo>
                <a:cubicBezTo>
                  <a:pt x="293093" y="76297"/>
                  <a:pt x="351439" y="123123"/>
                  <a:pt x="371102" y="188976"/>
                </a:cubicBezTo>
                <a:lnTo>
                  <a:pt x="413385" y="188976"/>
                </a:lnTo>
                <a:cubicBezTo>
                  <a:pt x="460212" y="188971"/>
                  <a:pt x="501527" y="219609"/>
                  <a:pt x="515120" y="264420"/>
                </a:cubicBezTo>
                <a:cubicBezTo>
                  <a:pt x="528712" y="309231"/>
                  <a:pt x="511379" y="357659"/>
                  <a:pt x="472440" y="383669"/>
                </a:cubicBezTo>
                <a:moveTo>
                  <a:pt x="188976" y="401574"/>
                </a:moveTo>
                <a:lnTo>
                  <a:pt x="283464" y="307086"/>
                </a:lnTo>
                <a:lnTo>
                  <a:pt x="377952" y="401574"/>
                </a:lnTo>
              </a:path>
            </a:pathLst>
          </a:custGeom>
          <a:noFill/>
          <a:ln w="47244" cap="rnd">
            <a:solidFill>
              <a:srgbClr val="FFFFFF"/>
            </a:solidFill>
            <a:prstDash val="solid"/>
            <a:round/>
          </a:ln>
        </p:spPr>
      </p:sp>
      <p:sp>
        <p:nvSpPr>
          <p:cNvPr id="41" name="Text 39"/>
          <p:cNvSpPr/>
          <p:nvPr/>
        </p:nvSpPr>
        <p:spPr>
          <a:xfrm>
            <a:off x="9888474"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Publicar</a:t>
            </a:r>
            <a:endParaRPr lang="en-US" sz="1600" dirty="0"/>
          </a:p>
        </p:txBody>
      </p:sp>
      <p:sp>
        <p:nvSpPr>
          <p:cNvPr id="42" name="Text 40"/>
          <p:cNvSpPr/>
          <p:nvPr/>
        </p:nvSpPr>
        <p:spPr>
          <a:xfrm>
            <a:off x="9723882"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En GHCR, con el SHA del commit.</a:t>
            </a:r>
            <a:endParaRPr lang="en-US" sz="1400" dirty="0"/>
          </a:p>
        </p:txBody>
      </p:sp>
      <p:sp>
        <p:nvSpPr>
          <p:cNvPr id="43" name="Shape 41"/>
          <p:cNvSpPr/>
          <p:nvPr/>
        </p:nvSpPr>
        <p:spPr>
          <a:xfrm>
            <a:off x="10550881" y="4151376"/>
            <a:ext cx="0" cy="109728"/>
          </a:xfrm>
          <a:prstGeom prst="line">
            <a:avLst/>
          </a:prstGeom>
          <a:noFill/>
          <a:ln w="25400">
            <a:solidFill>
              <a:srgbClr val="0B6E8A"/>
            </a:solidFill>
            <a:prstDash val="solid"/>
          </a:ln>
        </p:spPr>
      </p:sp>
      <p:sp>
        <p:nvSpPr>
          <p:cNvPr id="44" name="Shape 42"/>
          <p:cNvSpPr/>
          <p:nvPr/>
        </p:nvSpPr>
        <p:spPr>
          <a:xfrm>
            <a:off x="0" y="5961888"/>
            <a:ext cx="12191695" cy="475488"/>
          </a:xfrm>
          <a:prstGeom prst="rect">
            <a:avLst/>
          </a:prstGeom>
          <a:solidFill>
            <a:srgbClr val="0B2350"/>
          </a:solidFill>
          <a:ln w="12700">
            <a:solidFill>
              <a:srgbClr val="0B2350"/>
            </a:solidFill>
            <a:prstDash val="solid"/>
          </a:ln>
        </p:spPr>
      </p:sp>
      <p:sp>
        <p:nvSpPr>
          <p:cNvPr id="45"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46" name="Text 44"/>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Un cambio roto se detecta en minutos, antes de llegar a los demás.</a:t>
            </a:r>
            <a:endParaRPr lang="en-US" sz="1400" dirty="0"/>
          </a:p>
        </p:txBody>
      </p:sp>
      <p:sp>
        <p:nvSpPr>
          <p:cNvPr id="47" name="Text 4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CI/CD</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OBSERVABILIDAD</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Todos los logs, en un solo lugar</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Seguir un evento de un servicio a otro sin entrar a ningún contenedor.</a:t>
            </a:r>
            <a:endParaRPr lang="en-US" sz="1700" dirty="0"/>
          </a:p>
        </p:txBody>
      </p:sp>
      <p:sp>
        <p:nvSpPr>
          <p:cNvPr id="14" name="Shape 12"/>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5" name="Shape 13"/>
          <p:cNvSpPr/>
          <p:nvPr/>
        </p:nvSpPr>
        <p:spPr>
          <a:xfrm>
            <a:off x="795528" y="5806440"/>
            <a:ext cx="438912" cy="438912"/>
          </a:xfrm>
          <a:prstGeom prst="ellipse">
            <a:avLst/>
          </a:prstGeom>
          <a:solidFill>
            <a:srgbClr val="FFFFFF"/>
          </a:solidFill>
          <a:ln w="12700">
            <a:solidFill>
              <a:srgbClr val="FFFFFF"/>
            </a:solidFill>
            <a:prstDash val="solid"/>
          </a:ln>
        </p:spPr>
      </p:sp>
      <p:sp>
        <p:nvSpPr>
          <p:cNvPr id="16" name="Icono plane"/>
          <p:cNvSpPr/>
          <p:nvPr/>
        </p:nvSpPr>
        <p:spPr>
          <a:xfrm>
            <a:off x="900867" y="5911779"/>
            <a:ext cx="228234" cy="228234"/>
          </a:xfrm>
          <a:custGeom>
            <a:avLst/>
            <a:gdLst/>
            <a:ahLst/>
            <a:cxnLst/>
            <a:rect l="l" t="t" r="r" b="b"/>
            <a:pathLst>
              <a:path w="228234" h="228234">
                <a:moveTo>
                  <a:pt x="169274" y="182587"/>
                </a:moveTo>
                <a:lnTo>
                  <a:pt x="152156" y="104607"/>
                </a:lnTo>
                <a:lnTo>
                  <a:pt x="185440" y="71323"/>
                </a:lnTo>
                <a:cubicBezTo>
                  <a:pt x="199705" y="57059"/>
                  <a:pt x="204460" y="38039"/>
                  <a:pt x="199705" y="28529"/>
                </a:cubicBezTo>
                <a:cubicBezTo>
                  <a:pt x="190195" y="23774"/>
                  <a:pt x="171176" y="28529"/>
                  <a:pt x="156911" y="42794"/>
                </a:cubicBezTo>
                <a:lnTo>
                  <a:pt x="123627" y="76078"/>
                </a:lnTo>
                <a:lnTo>
                  <a:pt x="45647" y="58961"/>
                </a:lnTo>
                <a:cubicBezTo>
                  <a:pt x="40892" y="58010"/>
                  <a:pt x="37088" y="59911"/>
                  <a:pt x="35186" y="63715"/>
                </a:cubicBezTo>
                <a:lnTo>
                  <a:pt x="32333" y="68470"/>
                </a:lnTo>
                <a:cubicBezTo>
                  <a:pt x="30431" y="73225"/>
                  <a:pt x="31382" y="77980"/>
                  <a:pt x="35186" y="80833"/>
                </a:cubicBezTo>
                <a:lnTo>
                  <a:pt x="85588" y="114117"/>
                </a:lnTo>
                <a:lnTo>
                  <a:pt x="66568" y="142646"/>
                </a:lnTo>
                <a:lnTo>
                  <a:pt x="38039" y="142646"/>
                </a:lnTo>
                <a:lnTo>
                  <a:pt x="28529" y="152156"/>
                </a:lnTo>
                <a:lnTo>
                  <a:pt x="57059" y="171176"/>
                </a:lnTo>
                <a:lnTo>
                  <a:pt x="76078" y="199705"/>
                </a:lnTo>
                <a:lnTo>
                  <a:pt x="85588" y="190195"/>
                </a:lnTo>
                <a:lnTo>
                  <a:pt x="85588" y="161666"/>
                </a:lnTo>
                <a:lnTo>
                  <a:pt x="114117" y="142646"/>
                </a:lnTo>
                <a:lnTo>
                  <a:pt x="147401" y="193048"/>
                </a:lnTo>
                <a:cubicBezTo>
                  <a:pt x="150254" y="196852"/>
                  <a:pt x="155009" y="197803"/>
                  <a:pt x="159764" y="195901"/>
                </a:cubicBezTo>
                <a:lnTo>
                  <a:pt x="164519" y="193999"/>
                </a:lnTo>
                <a:cubicBezTo>
                  <a:pt x="168323" y="191146"/>
                  <a:pt x="170225" y="187342"/>
                  <a:pt x="169274" y="182587"/>
                </a:cubicBezTo>
                <a:close/>
              </a:path>
            </a:pathLst>
          </a:custGeom>
          <a:noFill/>
          <a:ln w="19020" cap="rnd">
            <a:solidFill>
              <a:srgbClr val="0B6E8A"/>
            </a:solidFill>
            <a:prstDash val="solid"/>
            <a:round/>
          </a:ln>
        </p:spPr>
      </p:sp>
      <p:sp>
        <p:nvSpPr>
          <p:cNvPr id="17" name="Text 15"/>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la caja negra de un avión: registra lo que pasó, para revisarlo después.</a:t>
            </a:r>
            <a:endParaRPr lang="en-US" sz="1450" dirty="0"/>
          </a:p>
        </p:txBody>
      </p:sp>
      <p:sp>
        <p:nvSpPr>
          <p:cNvPr id="18" name="Shape 16"/>
          <p:cNvSpPr/>
          <p:nvPr/>
        </p:nvSpPr>
        <p:spPr>
          <a:xfrm>
            <a:off x="1251928" y="2144268"/>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9" name="Icono server"/>
          <p:cNvSpPr/>
          <p:nvPr/>
        </p:nvSpPr>
        <p:spPr>
          <a:xfrm>
            <a:off x="1588427" y="2480767"/>
            <a:ext cx="790042" cy="790042"/>
          </a:xfrm>
          <a:custGeom>
            <a:avLst/>
            <a:gdLst/>
            <a:ahLst/>
            <a:cxnLst/>
            <a:rect l="l" t="t" r="r" b="b"/>
            <a:pathLst>
              <a:path w="790042" h="790042">
                <a:moveTo>
                  <a:pt x="131674" y="65837"/>
                </a:moveTo>
                <a:lnTo>
                  <a:pt x="658368" y="65837"/>
                </a:lnTo>
                <a:cubicBezTo>
                  <a:pt x="694729" y="65837"/>
                  <a:pt x="724205" y="95313"/>
                  <a:pt x="724205" y="131674"/>
                </a:cubicBezTo>
                <a:lnTo>
                  <a:pt x="724205" y="263347"/>
                </a:lnTo>
                <a:cubicBezTo>
                  <a:pt x="724205" y="299708"/>
                  <a:pt x="694729" y="329184"/>
                  <a:pt x="658368" y="329184"/>
                </a:cubicBezTo>
                <a:lnTo>
                  <a:pt x="131674" y="329184"/>
                </a:lnTo>
                <a:cubicBezTo>
                  <a:pt x="95313" y="329184"/>
                  <a:pt x="65837" y="299708"/>
                  <a:pt x="65837" y="263347"/>
                </a:cubicBezTo>
                <a:lnTo>
                  <a:pt x="65837" y="131674"/>
                </a:lnTo>
                <a:cubicBezTo>
                  <a:pt x="65837" y="95313"/>
                  <a:pt x="95313" y="65837"/>
                  <a:pt x="131674" y="65837"/>
                </a:cubicBezTo>
                <a:close/>
                <a:moveTo>
                  <a:pt x="131674" y="460858"/>
                </a:moveTo>
                <a:lnTo>
                  <a:pt x="658368" y="460858"/>
                </a:lnTo>
                <a:cubicBezTo>
                  <a:pt x="694729" y="460858"/>
                  <a:pt x="724205" y="490334"/>
                  <a:pt x="724205" y="526694"/>
                </a:cubicBezTo>
                <a:lnTo>
                  <a:pt x="724205" y="658368"/>
                </a:lnTo>
                <a:cubicBezTo>
                  <a:pt x="724205" y="694729"/>
                  <a:pt x="694729" y="724205"/>
                  <a:pt x="658368" y="724205"/>
                </a:cubicBezTo>
                <a:lnTo>
                  <a:pt x="131674" y="724205"/>
                </a:lnTo>
                <a:cubicBezTo>
                  <a:pt x="95313" y="724205"/>
                  <a:pt x="65837" y="694729"/>
                  <a:pt x="65837" y="658368"/>
                </a:cubicBezTo>
                <a:lnTo>
                  <a:pt x="65837" y="526694"/>
                </a:lnTo>
                <a:cubicBezTo>
                  <a:pt x="65837" y="490334"/>
                  <a:pt x="95313" y="460858"/>
                  <a:pt x="131674" y="460858"/>
                </a:cubicBezTo>
                <a:close/>
                <a:moveTo>
                  <a:pt x="197510" y="197510"/>
                </a:moveTo>
                <a:lnTo>
                  <a:pt x="197840" y="197510"/>
                </a:lnTo>
                <a:moveTo>
                  <a:pt x="197510" y="592531"/>
                </a:moveTo>
                <a:lnTo>
                  <a:pt x="197840" y="592531"/>
                </a:lnTo>
              </a:path>
            </a:pathLst>
          </a:custGeom>
          <a:noFill/>
          <a:ln w="57607" cap="rnd">
            <a:solidFill>
              <a:srgbClr val="0B2350"/>
            </a:solidFill>
            <a:prstDash val="solid"/>
            <a:round/>
          </a:ln>
        </p:spPr>
      </p:sp>
      <p:sp>
        <p:nvSpPr>
          <p:cNvPr id="20" name="Text 18"/>
          <p:cNvSpPr/>
          <p:nvPr/>
        </p:nvSpPr>
        <p:spPr>
          <a:xfrm>
            <a:off x="1215352" y="210769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1" name="Text 19"/>
          <p:cNvSpPr/>
          <p:nvPr/>
        </p:nvSpPr>
        <p:spPr>
          <a:xfrm>
            <a:off x="6583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Servicios</a:t>
            </a:r>
            <a:endParaRPr lang="en-US" sz="1800" dirty="0"/>
          </a:p>
        </p:txBody>
      </p:sp>
      <p:sp>
        <p:nvSpPr>
          <p:cNvPr id="22" name="Text 20"/>
          <p:cNvSpPr/>
          <p:nvPr/>
        </p:nvSpPr>
        <p:spPr>
          <a:xfrm>
            <a:off x="7223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Logs JSON con traceId y eventoId.</a:t>
            </a:r>
            <a:endParaRPr lang="en-US" sz="1400" dirty="0"/>
          </a:p>
        </p:txBody>
      </p:sp>
      <p:sp>
        <p:nvSpPr>
          <p:cNvPr id="23" name="Shape 21"/>
          <p:cNvSpPr/>
          <p:nvPr/>
        </p:nvSpPr>
        <p:spPr>
          <a:xfrm>
            <a:off x="2806408" y="2875788"/>
            <a:ext cx="1095680" cy="0"/>
          </a:xfrm>
          <a:prstGeom prst="line">
            <a:avLst/>
          </a:prstGeom>
          <a:noFill/>
          <a:ln w="38100">
            <a:solidFill>
              <a:srgbClr val="2BA6CB"/>
            </a:solidFill>
            <a:prstDash val="solid"/>
            <a:tailEnd type="triangle"/>
          </a:ln>
        </p:spPr>
      </p:sp>
      <p:sp>
        <p:nvSpPr>
          <p:cNvPr id="24" name="Shape 22"/>
          <p:cNvSpPr/>
          <p:nvPr/>
        </p:nvSpPr>
        <p:spPr>
          <a:xfrm>
            <a:off x="3993528" y="2144268"/>
            <a:ext cx="1463040" cy="1463040"/>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25" name="Icono scan-eye"/>
          <p:cNvSpPr/>
          <p:nvPr/>
        </p:nvSpPr>
        <p:spPr>
          <a:xfrm>
            <a:off x="4330027" y="2480767"/>
            <a:ext cx="790042" cy="790042"/>
          </a:xfrm>
          <a:custGeom>
            <a:avLst/>
            <a:gdLst/>
            <a:ahLst/>
            <a:cxnLst/>
            <a:rect l="l" t="t" r="r" b="b"/>
            <a:pathLst>
              <a:path w="790042" h="790042">
                <a:moveTo>
                  <a:pt x="98755" y="230429"/>
                </a:moveTo>
                <a:lnTo>
                  <a:pt x="98755" y="164592"/>
                </a:lnTo>
                <a:cubicBezTo>
                  <a:pt x="98755" y="128231"/>
                  <a:pt x="128231" y="98755"/>
                  <a:pt x="164592" y="98755"/>
                </a:cubicBezTo>
                <a:lnTo>
                  <a:pt x="230429" y="98755"/>
                </a:lnTo>
                <a:moveTo>
                  <a:pt x="559613" y="98755"/>
                </a:moveTo>
                <a:lnTo>
                  <a:pt x="625450" y="98755"/>
                </a:lnTo>
                <a:cubicBezTo>
                  <a:pt x="661810" y="98755"/>
                  <a:pt x="691286" y="128231"/>
                  <a:pt x="691286" y="164592"/>
                </a:cubicBezTo>
                <a:lnTo>
                  <a:pt x="691286" y="230429"/>
                </a:lnTo>
                <a:moveTo>
                  <a:pt x="691286" y="559613"/>
                </a:moveTo>
                <a:lnTo>
                  <a:pt x="691286" y="625450"/>
                </a:lnTo>
                <a:cubicBezTo>
                  <a:pt x="691286" y="661810"/>
                  <a:pt x="661810" y="691286"/>
                  <a:pt x="625450" y="691286"/>
                </a:cubicBezTo>
                <a:lnTo>
                  <a:pt x="559613" y="691286"/>
                </a:lnTo>
                <a:moveTo>
                  <a:pt x="230429" y="691286"/>
                </a:moveTo>
                <a:lnTo>
                  <a:pt x="164592" y="691286"/>
                </a:lnTo>
                <a:cubicBezTo>
                  <a:pt x="128231" y="691286"/>
                  <a:pt x="98755" y="661810"/>
                  <a:pt x="98755" y="625450"/>
                </a:cubicBezTo>
                <a:lnTo>
                  <a:pt x="98755" y="559613"/>
                </a:lnTo>
                <a:moveTo>
                  <a:pt x="427939" y="395021"/>
                </a:moveTo>
                <a:cubicBezTo>
                  <a:pt x="427939" y="413201"/>
                  <a:pt x="413201" y="427939"/>
                  <a:pt x="395021" y="427939"/>
                </a:cubicBezTo>
                <a:cubicBezTo>
                  <a:pt x="376840" y="427939"/>
                  <a:pt x="362102" y="413201"/>
                  <a:pt x="362102" y="395021"/>
                </a:cubicBezTo>
                <a:cubicBezTo>
                  <a:pt x="362102" y="376840"/>
                  <a:pt x="376840" y="362102"/>
                  <a:pt x="395021" y="362102"/>
                </a:cubicBezTo>
                <a:cubicBezTo>
                  <a:pt x="413201" y="362102"/>
                  <a:pt x="427939" y="376840"/>
                  <a:pt x="427939" y="395021"/>
                </a:cubicBezTo>
                <a:close/>
                <a:moveTo>
                  <a:pt x="623606" y="405884"/>
                </a:moveTo>
                <a:cubicBezTo>
                  <a:pt x="626065" y="398851"/>
                  <a:pt x="626065" y="391191"/>
                  <a:pt x="623606" y="384158"/>
                </a:cubicBezTo>
                <a:cubicBezTo>
                  <a:pt x="585698" y="291269"/>
                  <a:pt x="495347" y="230556"/>
                  <a:pt x="395021" y="230556"/>
                </a:cubicBezTo>
                <a:cubicBezTo>
                  <a:pt x="294694" y="230556"/>
                  <a:pt x="204344" y="291269"/>
                  <a:pt x="166435" y="384158"/>
                </a:cubicBezTo>
                <a:cubicBezTo>
                  <a:pt x="163977" y="391191"/>
                  <a:pt x="163977" y="398851"/>
                  <a:pt x="166435" y="405884"/>
                </a:cubicBezTo>
                <a:cubicBezTo>
                  <a:pt x="204344" y="498773"/>
                  <a:pt x="294694" y="559485"/>
                  <a:pt x="395021" y="559485"/>
                </a:cubicBezTo>
                <a:cubicBezTo>
                  <a:pt x="495347" y="559485"/>
                  <a:pt x="585698" y="498773"/>
                  <a:pt x="623606" y="405884"/>
                </a:cubicBezTo>
              </a:path>
            </a:pathLst>
          </a:custGeom>
          <a:noFill/>
          <a:ln w="57607" cap="rnd">
            <a:solidFill>
              <a:srgbClr val="8A4B06"/>
            </a:solidFill>
            <a:prstDash val="solid"/>
            <a:round/>
          </a:ln>
        </p:spPr>
      </p:sp>
      <p:sp>
        <p:nvSpPr>
          <p:cNvPr id="26" name="Text 24"/>
          <p:cNvSpPr/>
          <p:nvPr/>
        </p:nvSpPr>
        <p:spPr>
          <a:xfrm>
            <a:off x="3956952" y="2107692"/>
            <a:ext cx="347472" cy="347472"/>
          </a:xfrm>
          <a:prstGeom prst="ellipse">
            <a:avLst/>
          </a:prstGeom>
          <a:solidFill>
            <a:srgbClr val="8A4B06"/>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7" name="Text 25"/>
          <p:cNvSpPr/>
          <p:nvPr/>
        </p:nvSpPr>
        <p:spPr>
          <a:xfrm>
            <a:off x="33999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Promtail</a:t>
            </a:r>
            <a:endParaRPr lang="en-US" sz="1800" dirty="0"/>
          </a:p>
        </p:txBody>
      </p:sp>
      <p:sp>
        <p:nvSpPr>
          <p:cNvPr id="28" name="Text 26"/>
          <p:cNvSpPr/>
          <p:nvPr/>
        </p:nvSpPr>
        <p:spPr>
          <a:xfrm>
            <a:off x="34639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Los recoge de cada contenedor.</a:t>
            </a:r>
            <a:endParaRPr lang="en-US" sz="1400" dirty="0"/>
          </a:p>
        </p:txBody>
      </p:sp>
      <p:sp>
        <p:nvSpPr>
          <p:cNvPr id="29" name="Shape 27"/>
          <p:cNvSpPr/>
          <p:nvPr/>
        </p:nvSpPr>
        <p:spPr>
          <a:xfrm>
            <a:off x="5548008" y="2875788"/>
            <a:ext cx="1095680" cy="0"/>
          </a:xfrm>
          <a:prstGeom prst="line">
            <a:avLst/>
          </a:prstGeom>
          <a:noFill/>
          <a:ln w="38100">
            <a:solidFill>
              <a:srgbClr val="2BA6CB"/>
            </a:solidFill>
            <a:prstDash val="solid"/>
            <a:tailEnd type="triangle"/>
          </a:ln>
        </p:spPr>
      </p:sp>
      <p:sp>
        <p:nvSpPr>
          <p:cNvPr id="30" name="Shape 28"/>
          <p:cNvSpPr/>
          <p:nvPr/>
        </p:nvSpPr>
        <p:spPr>
          <a:xfrm>
            <a:off x="6735128" y="2144268"/>
            <a:ext cx="1463040" cy="1463040"/>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31" name="Icono archive"/>
          <p:cNvSpPr/>
          <p:nvPr/>
        </p:nvSpPr>
        <p:spPr>
          <a:xfrm>
            <a:off x="7071627" y="2480767"/>
            <a:ext cx="790042" cy="790042"/>
          </a:xfrm>
          <a:custGeom>
            <a:avLst/>
            <a:gdLst/>
            <a:ahLst/>
            <a:cxnLst/>
            <a:rect l="l" t="t" r="r" b="b"/>
            <a:pathLst>
              <a:path w="790042" h="790042">
                <a:moveTo>
                  <a:pt x="98755" y="98755"/>
                </a:moveTo>
                <a:lnTo>
                  <a:pt x="691286" y="98755"/>
                </a:lnTo>
                <a:cubicBezTo>
                  <a:pt x="709467" y="98755"/>
                  <a:pt x="724205" y="113493"/>
                  <a:pt x="724205" y="131674"/>
                </a:cubicBezTo>
                <a:lnTo>
                  <a:pt x="724205" y="230429"/>
                </a:lnTo>
                <a:cubicBezTo>
                  <a:pt x="724205" y="248609"/>
                  <a:pt x="709467" y="263347"/>
                  <a:pt x="691286" y="263347"/>
                </a:cubicBezTo>
                <a:lnTo>
                  <a:pt x="98755" y="263347"/>
                </a:lnTo>
                <a:cubicBezTo>
                  <a:pt x="80575" y="263347"/>
                  <a:pt x="65837" y="248609"/>
                  <a:pt x="65837" y="230429"/>
                </a:cubicBezTo>
                <a:lnTo>
                  <a:pt x="65837" y="131674"/>
                </a:lnTo>
                <a:cubicBezTo>
                  <a:pt x="65837" y="113493"/>
                  <a:pt x="80575" y="98755"/>
                  <a:pt x="98755" y="98755"/>
                </a:cubicBezTo>
                <a:close/>
                <a:moveTo>
                  <a:pt x="131674" y="263347"/>
                </a:moveTo>
                <a:lnTo>
                  <a:pt x="131674" y="625450"/>
                </a:lnTo>
                <a:cubicBezTo>
                  <a:pt x="131674" y="661810"/>
                  <a:pt x="161150" y="691286"/>
                  <a:pt x="197510" y="691286"/>
                </a:cubicBezTo>
                <a:lnTo>
                  <a:pt x="592531" y="691286"/>
                </a:lnTo>
                <a:cubicBezTo>
                  <a:pt x="628892" y="691286"/>
                  <a:pt x="658368" y="661810"/>
                  <a:pt x="658368" y="625450"/>
                </a:cubicBezTo>
                <a:lnTo>
                  <a:pt x="658368" y="263347"/>
                </a:lnTo>
                <a:moveTo>
                  <a:pt x="329184" y="395021"/>
                </a:moveTo>
                <a:lnTo>
                  <a:pt x="460858" y="395021"/>
                </a:lnTo>
              </a:path>
            </a:pathLst>
          </a:custGeom>
          <a:noFill/>
          <a:ln w="57607" cap="rnd">
            <a:solidFill>
              <a:srgbClr val="8A4B06"/>
            </a:solidFill>
            <a:prstDash val="solid"/>
            <a:round/>
          </a:ln>
        </p:spPr>
      </p:sp>
      <p:sp>
        <p:nvSpPr>
          <p:cNvPr id="32" name="Text 30"/>
          <p:cNvSpPr/>
          <p:nvPr/>
        </p:nvSpPr>
        <p:spPr>
          <a:xfrm>
            <a:off x="6698552" y="2107692"/>
            <a:ext cx="347472" cy="347472"/>
          </a:xfrm>
          <a:prstGeom prst="ellipse">
            <a:avLst/>
          </a:prstGeom>
          <a:solidFill>
            <a:srgbClr val="8A4B06"/>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3" name="Text 31"/>
          <p:cNvSpPr/>
          <p:nvPr/>
        </p:nvSpPr>
        <p:spPr>
          <a:xfrm>
            <a:off x="61415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Loki</a:t>
            </a:r>
            <a:endParaRPr lang="en-US" sz="1800" dirty="0"/>
          </a:p>
        </p:txBody>
      </p:sp>
      <p:sp>
        <p:nvSpPr>
          <p:cNvPr id="34" name="Text 32"/>
          <p:cNvSpPr/>
          <p:nvPr/>
        </p:nvSpPr>
        <p:spPr>
          <a:xfrm>
            <a:off x="62055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Los guarda, etiquetados por servicio.</a:t>
            </a:r>
            <a:endParaRPr lang="en-US" sz="1400" dirty="0"/>
          </a:p>
        </p:txBody>
      </p:sp>
      <p:sp>
        <p:nvSpPr>
          <p:cNvPr id="35" name="Shape 33"/>
          <p:cNvSpPr/>
          <p:nvPr/>
        </p:nvSpPr>
        <p:spPr>
          <a:xfrm>
            <a:off x="8289608" y="2875788"/>
            <a:ext cx="1095680" cy="0"/>
          </a:xfrm>
          <a:prstGeom prst="line">
            <a:avLst/>
          </a:prstGeom>
          <a:noFill/>
          <a:ln w="38100">
            <a:solidFill>
              <a:srgbClr val="2BA6CB"/>
            </a:solidFill>
            <a:prstDash val="solid"/>
            <a:tailEnd type="triangle"/>
          </a:ln>
        </p:spPr>
      </p:sp>
      <p:sp>
        <p:nvSpPr>
          <p:cNvPr id="36" name="Shape 34"/>
          <p:cNvSpPr/>
          <p:nvPr/>
        </p:nvSpPr>
        <p:spPr>
          <a:xfrm>
            <a:off x="9476727" y="2144268"/>
            <a:ext cx="1463040" cy="14630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7" name="Icono chart-line"/>
          <p:cNvSpPr/>
          <p:nvPr/>
        </p:nvSpPr>
        <p:spPr>
          <a:xfrm>
            <a:off x="9813226" y="2480767"/>
            <a:ext cx="790042" cy="790042"/>
          </a:xfrm>
          <a:custGeom>
            <a:avLst/>
            <a:gdLst/>
            <a:ahLst/>
            <a:cxnLst/>
            <a:rect l="l" t="t" r="r" b="b"/>
            <a:pathLst>
              <a:path w="790042" h="790042">
                <a:moveTo>
                  <a:pt x="98755" y="98755"/>
                </a:moveTo>
                <a:lnTo>
                  <a:pt x="98755" y="625450"/>
                </a:lnTo>
                <a:cubicBezTo>
                  <a:pt x="98755" y="661810"/>
                  <a:pt x="128231" y="691286"/>
                  <a:pt x="164592" y="691286"/>
                </a:cubicBezTo>
                <a:lnTo>
                  <a:pt x="691286" y="691286"/>
                </a:lnTo>
                <a:moveTo>
                  <a:pt x="625450" y="296266"/>
                </a:moveTo>
                <a:lnTo>
                  <a:pt x="460858" y="460858"/>
                </a:lnTo>
                <a:lnTo>
                  <a:pt x="329184" y="329184"/>
                </a:lnTo>
                <a:lnTo>
                  <a:pt x="230429" y="427939"/>
                </a:lnTo>
              </a:path>
            </a:pathLst>
          </a:custGeom>
          <a:noFill/>
          <a:ln w="57607" cap="rnd">
            <a:solidFill>
              <a:srgbClr val="0A6648"/>
            </a:solidFill>
            <a:prstDash val="solid"/>
            <a:round/>
          </a:ln>
        </p:spPr>
      </p:sp>
      <p:sp>
        <p:nvSpPr>
          <p:cNvPr id="38" name="Text 36"/>
          <p:cNvSpPr/>
          <p:nvPr/>
        </p:nvSpPr>
        <p:spPr>
          <a:xfrm>
            <a:off x="9440151" y="2107692"/>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9" name="Text 37"/>
          <p:cNvSpPr/>
          <p:nvPr/>
        </p:nvSpPr>
        <p:spPr>
          <a:xfrm>
            <a:off x="8883167"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Grafana</a:t>
            </a:r>
            <a:endParaRPr lang="en-US" sz="1800" dirty="0"/>
          </a:p>
        </p:txBody>
      </p:sp>
      <p:sp>
        <p:nvSpPr>
          <p:cNvPr id="40" name="Text 38"/>
          <p:cNvSpPr/>
          <p:nvPr/>
        </p:nvSpPr>
        <p:spPr>
          <a:xfrm>
            <a:off x="8947175"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Una búsqueda para todo el sistema.</a:t>
            </a:r>
            <a:endParaRPr lang="en-US" sz="1400" dirty="0"/>
          </a:p>
        </p:txBody>
      </p:sp>
      <p:sp>
        <p:nvSpPr>
          <p:cNvPr id="41" name="Text 3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OBSERVABILIDAD</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DOCUMENTACIÓN</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Contratos vivos con Swagger</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2BA6CB"/>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4910328" y="1371600"/>
            <a:ext cx="6668719" cy="4401355"/>
          </a:xfrm>
          <a:prstGeom prst="roundRect">
            <a:avLst>
              <a:gd name="adj" fmla="val 2078"/>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14" name="Shape 12"/>
          <p:cNvSpPr/>
          <p:nvPr/>
        </p:nvSpPr>
        <p:spPr>
          <a:xfrm>
            <a:off x="5020056" y="1446290"/>
            <a:ext cx="79358" cy="79358"/>
          </a:xfrm>
          <a:prstGeom prst="ellipse">
            <a:avLst/>
          </a:prstGeom>
          <a:solidFill>
            <a:srgbClr val="E5484D"/>
          </a:solidFill>
          <a:ln w="12700">
            <a:solidFill>
              <a:srgbClr val="E5484D"/>
            </a:solidFill>
            <a:prstDash val="solid"/>
          </a:ln>
        </p:spPr>
      </p:sp>
      <p:sp>
        <p:nvSpPr>
          <p:cNvPr id="15" name="Shape 13"/>
          <p:cNvSpPr/>
          <p:nvPr/>
        </p:nvSpPr>
        <p:spPr>
          <a:xfrm>
            <a:off x="5125088" y="1446290"/>
            <a:ext cx="79358" cy="79358"/>
          </a:xfrm>
          <a:prstGeom prst="ellipse">
            <a:avLst/>
          </a:prstGeom>
          <a:solidFill>
            <a:srgbClr val="F5A524"/>
          </a:solidFill>
          <a:ln w="12700">
            <a:solidFill>
              <a:srgbClr val="F5A524"/>
            </a:solidFill>
            <a:prstDash val="solid"/>
          </a:ln>
        </p:spPr>
      </p:sp>
      <p:sp>
        <p:nvSpPr>
          <p:cNvPr id="16" name="Shape 14"/>
          <p:cNvSpPr/>
          <p:nvPr/>
        </p:nvSpPr>
        <p:spPr>
          <a:xfrm>
            <a:off x="5230121" y="1446290"/>
            <a:ext cx="79358" cy="79358"/>
          </a:xfrm>
          <a:prstGeom prst="ellipse">
            <a:avLst/>
          </a:prstGeom>
          <a:solidFill>
            <a:srgbClr val="30A46C"/>
          </a:solidFill>
          <a:ln w="12700">
            <a:solidFill>
              <a:srgbClr val="30A46C"/>
            </a:solidFill>
            <a:prstDash val="solid"/>
          </a:ln>
        </p:spPr>
      </p:sp>
      <p:sp>
        <p:nvSpPr>
          <p:cNvPr id="17" name="Text 15"/>
          <p:cNvSpPr/>
          <p:nvPr/>
        </p:nvSpPr>
        <p:spPr>
          <a:xfrm>
            <a:off x="5443316" y="1408945"/>
            <a:ext cx="3667796" cy="158716"/>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localhost:8080/swagger-ui/index.html</a:t>
            </a:r>
            <a:endParaRPr lang="en-US" sz="700" dirty="0"/>
          </a:p>
        </p:txBody>
      </p:sp>
      <p:pic>
        <p:nvPicPr>
          <p:cNvPr id="18" name="Image 0" descr="Swagger de solicitudes">    </p:cNvPr>
          <p:cNvPicPr>
            <a:picLocks noChangeAspect="1"/>
          </p:cNvPicPr>
          <p:nvPr/>
        </p:nvPicPr>
        <p:blipFill>
          <a:blip r:embed="rId1"/>
          <a:stretch>
            <a:fillRect/>
          </a:stretch>
        </p:blipFill>
        <p:spPr>
          <a:xfrm>
            <a:off x="4910328" y="1605005"/>
            <a:ext cx="6668719" cy="4167950"/>
          </a:xfrm>
          <a:prstGeom prst="rect">
            <a:avLst/>
          </a:prstGeom>
        </p:spPr>
      </p:pic>
      <p:sp>
        <p:nvSpPr>
          <p:cNvPr id="19" name="Shape 16"/>
          <p:cNvSpPr/>
          <p:nvPr/>
        </p:nvSpPr>
        <p:spPr>
          <a:xfrm>
            <a:off x="612648" y="1426464"/>
            <a:ext cx="73152" cy="822960"/>
          </a:xfrm>
          <a:prstGeom prst="rect">
            <a:avLst/>
          </a:prstGeom>
          <a:solidFill>
            <a:srgbClr val="2BA6CB"/>
          </a:solidFill>
          <a:ln w="12700">
            <a:solidFill>
              <a:srgbClr val="2BA6CB"/>
            </a:solidFill>
            <a:prstDash val="solid"/>
          </a:ln>
        </p:spPr>
      </p:sp>
      <p:sp>
        <p:nvSpPr>
          <p:cNvPr id="20" name="Text 17"/>
          <p:cNvSpPr/>
          <p:nvPr/>
        </p:nvSpPr>
        <p:spPr>
          <a:xfrm>
            <a:off x="850392" y="1371600"/>
            <a:ext cx="3694176" cy="1143000"/>
          </a:xfrm>
          <a:prstGeom prst="rect">
            <a:avLst/>
          </a:prstGeom>
          <a:noFill/>
          <a:ln/>
        </p:spPr>
        <p:txBody>
          <a:bodyPr wrap="square" lIns="0" tIns="0" rIns="0" bIns="0" rtlCol="0" anchor="t">
            <a:normAutofit/>
          </a:bodyPr>
          <a:lstStyle/>
          <a:p>
            <a:pPr indent="0" marL="0">
              <a:buNone/>
            </a:pPr>
            <a:r>
              <a:rPr lang="en-US" sz="2400" b="1" dirty="0">
                <a:solidFill>
                  <a:srgbClr val="0B2350"/>
                </a:solidFill>
                <a:latin typeface="Segoe UI Semibold" pitchFamily="34" charset="0"/>
                <a:ea typeface="Segoe UI Semibold" pitchFamily="34" charset="-122"/>
                <a:cs typeface="Segoe UI Semibold" pitchFamily="34" charset="-120"/>
              </a:rPr>
              <a:t>La documentación de la API sale del mismo código.</a:t>
            </a:r>
            <a:endParaRPr lang="en-US" sz="2400" dirty="0"/>
          </a:p>
        </p:txBody>
      </p:sp>
      <p:sp>
        <p:nvSpPr>
          <p:cNvPr id="21" name="Shape 18"/>
          <p:cNvSpPr/>
          <p:nvPr/>
        </p:nvSpPr>
        <p:spPr>
          <a:xfrm>
            <a:off x="612648" y="2778633"/>
            <a:ext cx="420624" cy="420624"/>
          </a:xfrm>
          <a:prstGeom prst="ellipse">
            <a:avLst/>
          </a:prstGeom>
          <a:solidFill>
            <a:srgbClr val="E3F4FA"/>
          </a:solidFill>
          <a:ln w="12700">
            <a:solidFill>
              <a:srgbClr val="E3F4FA"/>
            </a:solidFill>
            <a:prstDash val="solid"/>
          </a:ln>
        </p:spPr>
      </p:sp>
      <p:sp>
        <p:nvSpPr>
          <p:cNvPr id="22" name="Icono file-json"/>
          <p:cNvSpPr/>
          <p:nvPr/>
        </p:nvSpPr>
        <p:spPr>
          <a:xfrm>
            <a:off x="713598" y="2879583"/>
            <a:ext cx="218724" cy="218724"/>
          </a:xfrm>
          <a:custGeom>
            <a:avLst/>
            <a:gdLst/>
            <a:ahLst/>
            <a:cxnLst/>
            <a:rect l="l" t="t" r="r" b="b"/>
            <a:pathLst>
              <a:path w="218724" h="218724">
                <a:moveTo>
                  <a:pt x="136703" y="18227"/>
                </a:moveTo>
                <a:lnTo>
                  <a:pt x="54681" y="18227"/>
                </a:lnTo>
                <a:cubicBezTo>
                  <a:pt x="44615" y="18227"/>
                  <a:pt x="36454" y="26388"/>
                  <a:pt x="36454" y="36454"/>
                </a:cubicBezTo>
                <a:lnTo>
                  <a:pt x="36454" y="182270"/>
                </a:lnTo>
                <a:cubicBezTo>
                  <a:pt x="36454" y="192337"/>
                  <a:pt x="44615" y="200497"/>
                  <a:pt x="54681" y="200497"/>
                </a:cubicBezTo>
                <a:lnTo>
                  <a:pt x="164043" y="200497"/>
                </a:lnTo>
                <a:cubicBezTo>
                  <a:pt x="174110" y="200497"/>
                  <a:pt x="182270" y="192337"/>
                  <a:pt x="182270" y="182270"/>
                </a:cubicBezTo>
                <a:lnTo>
                  <a:pt x="182270" y="63795"/>
                </a:lnTo>
                <a:close/>
                <a:moveTo>
                  <a:pt x="127589" y="18227"/>
                </a:moveTo>
                <a:lnTo>
                  <a:pt x="127589" y="54681"/>
                </a:lnTo>
                <a:cubicBezTo>
                  <a:pt x="127589" y="64748"/>
                  <a:pt x="135750" y="72908"/>
                  <a:pt x="145816" y="72908"/>
                </a:cubicBezTo>
                <a:lnTo>
                  <a:pt x="182270" y="72908"/>
                </a:lnTo>
                <a:moveTo>
                  <a:pt x="91135" y="109362"/>
                </a:moveTo>
                <a:cubicBezTo>
                  <a:pt x="86102" y="109362"/>
                  <a:pt x="82022" y="113443"/>
                  <a:pt x="82022" y="118476"/>
                </a:cubicBezTo>
                <a:lnTo>
                  <a:pt x="82022" y="127589"/>
                </a:lnTo>
                <a:cubicBezTo>
                  <a:pt x="82022" y="132623"/>
                  <a:pt x="77941" y="136703"/>
                  <a:pt x="72908" y="136703"/>
                </a:cubicBezTo>
                <a:cubicBezTo>
                  <a:pt x="77941" y="136703"/>
                  <a:pt x="82022" y="140783"/>
                  <a:pt x="82022" y="145816"/>
                </a:cubicBezTo>
                <a:lnTo>
                  <a:pt x="82022" y="154930"/>
                </a:lnTo>
                <a:cubicBezTo>
                  <a:pt x="82022" y="159963"/>
                  <a:pt x="86102" y="164043"/>
                  <a:pt x="91135" y="164043"/>
                </a:cubicBezTo>
                <a:moveTo>
                  <a:pt x="127589" y="164043"/>
                </a:moveTo>
                <a:cubicBezTo>
                  <a:pt x="132623" y="164043"/>
                  <a:pt x="136703" y="159963"/>
                  <a:pt x="136703" y="154930"/>
                </a:cubicBezTo>
                <a:lnTo>
                  <a:pt x="136703" y="145816"/>
                </a:lnTo>
                <a:cubicBezTo>
                  <a:pt x="136703" y="140783"/>
                  <a:pt x="140783" y="136703"/>
                  <a:pt x="145816" y="136703"/>
                </a:cubicBezTo>
                <a:cubicBezTo>
                  <a:pt x="140783" y="136703"/>
                  <a:pt x="136703" y="132623"/>
                  <a:pt x="136703" y="127589"/>
                </a:cubicBezTo>
                <a:lnTo>
                  <a:pt x="136703" y="118476"/>
                </a:lnTo>
                <a:cubicBezTo>
                  <a:pt x="136703" y="113443"/>
                  <a:pt x="132623" y="109362"/>
                  <a:pt x="127589" y="109362"/>
                </a:cubicBezTo>
              </a:path>
            </a:pathLst>
          </a:custGeom>
          <a:noFill/>
          <a:ln w="18227" cap="rnd">
            <a:solidFill>
              <a:srgbClr val="0B6E8A"/>
            </a:solidFill>
            <a:prstDash val="solid"/>
            <a:round/>
          </a:ln>
        </p:spPr>
      </p:sp>
      <p:sp>
        <p:nvSpPr>
          <p:cNvPr id="23" name="Text 20"/>
          <p:cNvSpPr/>
          <p:nvPr/>
        </p:nvSpPr>
        <p:spPr>
          <a:xfrm>
            <a:off x="1161288" y="2697480"/>
            <a:ext cx="3383280" cy="582930"/>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Cada servicio publica su contrato OpenAPI</a:t>
            </a:r>
            <a:endParaRPr lang="en-US" sz="1350" dirty="0"/>
          </a:p>
        </p:txBody>
      </p:sp>
      <p:sp>
        <p:nvSpPr>
          <p:cNvPr id="24" name="Shape 21"/>
          <p:cNvSpPr/>
          <p:nvPr/>
        </p:nvSpPr>
        <p:spPr>
          <a:xfrm>
            <a:off x="612648" y="3361563"/>
            <a:ext cx="420624" cy="420624"/>
          </a:xfrm>
          <a:prstGeom prst="ellipse">
            <a:avLst/>
          </a:prstGeom>
          <a:solidFill>
            <a:srgbClr val="E3F4FA"/>
          </a:solidFill>
          <a:ln w="12700">
            <a:solidFill>
              <a:srgbClr val="E3F4FA"/>
            </a:solidFill>
            <a:prstDash val="solid"/>
          </a:ln>
        </p:spPr>
      </p:sp>
      <p:sp>
        <p:nvSpPr>
          <p:cNvPr id="25" name="Icono play"/>
          <p:cNvSpPr/>
          <p:nvPr/>
        </p:nvSpPr>
        <p:spPr>
          <a:xfrm>
            <a:off x="713598" y="3462513"/>
            <a:ext cx="218724" cy="218724"/>
          </a:xfrm>
          <a:custGeom>
            <a:avLst/>
            <a:gdLst/>
            <a:ahLst/>
            <a:cxnLst/>
            <a:rect l="l" t="t" r="r" b="b"/>
            <a:pathLst>
              <a:path w="218724" h="218724">
                <a:moveTo>
                  <a:pt x="54681" y="27341"/>
                </a:moveTo>
                <a:lnTo>
                  <a:pt x="182270" y="109362"/>
                </a:lnTo>
                <a:lnTo>
                  <a:pt x="54681" y="191384"/>
                </a:lnTo>
                <a:lnTo>
                  <a:pt x="54681" y="27341"/>
                </a:lnTo>
                <a:close/>
              </a:path>
            </a:pathLst>
          </a:custGeom>
          <a:noFill/>
          <a:ln w="18227" cap="rnd">
            <a:solidFill>
              <a:srgbClr val="0B6E8A"/>
            </a:solidFill>
            <a:prstDash val="solid"/>
            <a:round/>
          </a:ln>
        </p:spPr>
      </p:sp>
      <p:sp>
        <p:nvSpPr>
          <p:cNvPr id="26" name="Text 23"/>
          <p:cNvSpPr/>
          <p:nvPr/>
        </p:nvSpPr>
        <p:spPr>
          <a:xfrm>
            <a:off x="1161288" y="3280410"/>
            <a:ext cx="3383280" cy="582930"/>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Swagger UI lo muestra y permite probarlo</a:t>
            </a:r>
            <a:endParaRPr lang="en-US" sz="1350" dirty="0"/>
          </a:p>
        </p:txBody>
      </p:sp>
      <p:sp>
        <p:nvSpPr>
          <p:cNvPr id="27" name="Shape 24"/>
          <p:cNvSpPr/>
          <p:nvPr/>
        </p:nvSpPr>
        <p:spPr>
          <a:xfrm>
            <a:off x="612648" y="3944493"/>
            <a:ext cx="420624" cy="420624"/>
          </a:xfrm>
          <a:prstGeom prst="ellipse">
            <a:avLst/>
          </a:prstGeom>
          <a:solidFill>
            <a:srgbClr val="E3F4FA"/>
          </a:solidFill>
          <a:ln w="12700">
            <a:solidFill>
              <a:srgbClr val="E3F4FA"/>
            </a:solidFill>
            <a:prstDash val="solid"/>
          </a:ln>
        </p:spPr>
      </p:sp>
      <p:sp>
        <p:nvSpPr>
          <p:cNvPr id="28" name="Icono sparkles"/>
          <p:cNvSpPr/>
          <p:nvPr/>
        </p:nvSpPr>
        <p:spPr>
          <a:xfrm>
            <a:off x="713598" y="4045443"/>
            <a:ext cx="218724" cy="218724"/>
          </a:xfrm>
          <a:custGeom>
            <a:avLst/>
            <a:gdLst/>
            <a:ahLst/>
            <a:cxnLst/>
            <a:rect l="l" t="t" r="r" b="b"/>
            <a:pathLst>
              <a:path w="218724" h="218724">
                <a:moveTo>
                  <a:pt x="90561" y="141260"/>
                </a:moveTo>
                <a:cubicBezTo>
                  <a:pt x="88904" y="134836"/>
                  <a:pt x="83888" y="129820"/>
                  <a:pt x="77465" y="128163"/>
                </a:cubicBezTo>
                <a:lnTo>
                  <a:pt x="21553" y="113746"/>
                </a:lnTo>
                <a:cubicBezTo>
                  <a:pt x="19593" y="113190"/>
                  <a:pt x="18241" y="111400"/>
                  <a:pt x="18241" y="109362"/>
                </a:cubicBezTo>
                <a:cubicBezTo>
                  <a:pt x="18241" y="107325"/>
                  <a:pt x="19593" y="105535"/>
                  <a:pt x="21553" y="104979"/>
                </a:cubicBezTo>
                <a:lnTo>
                  <a:pt x="77465" y="90552"/>
                </a:lnTo>
                <a:cubicBezTo>
                  <a:pt x="83886" y="88896"/>
                  <a:pt x="88901" y="83885"/>
                  <a:pt x="90561" y="77465"/>
                </a:cubicBezTo>
                <a:lnTo>
                  <a:pt x="104979" y="21553"/>
                </a:lnTo>
                <a:cubicBezTo>
                  <a:pt x="105529" y="19585"/>
                  <a:pt x="107323" y="18225"/>
                  <a:pt x="109367" y="18225"/>
                </a:cubicBezTo>
                <a:cubicBezTo>
                  <a:pt x="111410" y="18225"/>
                  <a:pt x="113204" y="19585"/>
                  <a:pt x="113755" y="21553"/>
                </a:cubicBezTo>
                <a:lnTo>
                  <a:pt x="128163" y="77465"/>
                </a:lnTo>
                <a:cubicBezTo>
                  <a:pt x="129820" y="83888"/>
                  <a:pt x="134836" y="88904"/>
                  <a:pt x="141260" y="90561"/>
                </a:cubicBezTo>
                <a:lnTo>
                  <a:pt x="197171" y="104970"/>
                </a:lnTo>
                <a:cubicBezTo>
                  <a:pt x="199147" y="105515"/>
                  <a:pt x="200516" y="107312"/>
                  <a:pt x="200516" y="109362"/>
                </a:cubicBezTo>
                <a:cubicBezTo>
                  <a:pt x="200516" y="111412"/>
                  <a:pt x="199147" y="113210"/>
                  <a:pt x="197171" y="113755"/>
                </a:cubicBezTo>
                <a:lnTo>
                  <a:pt x="141260" y="128163"/>
                </a:lnTo>
                <a:cubicBezTo>
                  <a:pt x="134836" y="129820"/>
                  <a:pt x="129820" y="134836"/>
                  <a:pt x="128163" y="141260"/>
                </a:cubicBezTo>
                <a:lnTo>
                  <a:pt x="113746" y="197171"/>
                </a:lnTo>
                <a:cubicBezTo>
                  <a:pt x="113195" y="199139"/>
                  <a:pt x="111401" y="200500"/>
                  <a:pt x="109358" y="200500"/>
                </a:cubicBezTo>
                <a:cubicBezTo>
                  <a:pt x="107314" y="200500"/>
                  <a:pt x="105520" y="199139"/>
                  <a:pt x="104970" y="197171"/>
                </a:cubicBezTo>
                <a:close/>
                <a:moveTo>
                  <a:pt x="182270" y="27341"/>
                </a:moveTo>
                <a:lnTo>
                  <a:pt x="182270" y="63795"/>
                </a:lnTo>
                <a:moveTo>
                  <a:pt x="200497" y="45568"/>
                </a:moveTo>
                <a:lnTo>
                  <a:pt x="164043" y="45568"/>
                </a:lnTo>
                <a:moveTo>
                  <a:pt x="36454" y="154930"/>
                </a:moveTo>
                <a:lnTo>
                  <a:pt x="36454" y="173157"/>
                </a:lnTo>
                <a:moveTo>
                  <a:pt x="45568" y="164043"/>
                </a:moveTo>
                <a:lnTo>
                  <a:pt x="27341" y="164043"/>
                </a:lnTo>
              </a:path>
            </a:pathLst>
          </a:custGeom>
          <a:noFill/>
          <a:ln w="18227" cap="rnd">
            <a:solidFill>
              <a:srgbClr val="0B6E8A"/>
            </a:solidFill>
            <a:prstDash val="solid"/>
            <a:round/>
          </a:ln>
        </p:spPr>
      </p:sp>
      <p:sp>
        <p:nvSpPr>
          <p:cNvPr id="29" name="Text 26"/>
          <p:cNvSpPr/>
          <p:nvPr/>
        </p:nvSpPr>
        <p:spPr>
          <a:xfrm>
            <a:off x="1161288" y="3863340"/>
            <a:ext cx="3383280" cy="582930"/>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Un endpoint nuevo aparece solo</a:t>
            </a:r>
            <a:endParaRPr lang="en-US" sz="1350" dirty="0"/>
          </a:p>
        </p:txBody>
      </p:sp>
      <p:sp>
        <p:nvSpPr>
          <p:cNvPr id="30" name="Shape 27"/>
          <p:cNvSpPr/>
          <p:nvPr/>
        </p:nvSpPr>
        <p:spPr>
          <a:xfrm>
            <a:off x="612648" y="4527423"/>
            <a:ext cx="420624" cy="420624"/>
          </a:xfrm>
          <a:prstGeom prst="ellipse">
            <a:avLst/>
          </a:prstGeom>
          <a:solidFill>
            <a:srgbClr val="E3F4FA"/>
          </a:solidFill>
          <a:ln w="12700">
            <a:solidFill>
              <a:srgbClr val="E3F4FA"/>
            </a:solidFill>
            <a:prstDash val="solid"/>
          </a:ln>
        </p:spPr>
      </p:sp>
      <p:sp>
        <p:nvSpPr>
          <p:cNvPr id="31" name="Icono link"/>
          <p:cNvSpPr/>
          <p:nvPr/>
        </p:nvSpPr>
        <p:spPr>
          <a:xfrm>
            <a:off x="713598" y="4628373"/>
            <a:ext cx="218724" cy="218724"/>
          </a:xfrm>
          <a:custGeom>
            <a:avLst/>
            <a:gdLst/>
            <a:ahLst/>
            <a:cxnLst/>
            <a:rect l="l" t="t" r="r" b="b"/>
            <a:pathLst>
              <a:path w="218724" h="218724">
                <a:moveTo>
                  <a:pt x="91135" y="118476"/>
                </a:moveTo>
                <a:cubicBezTo>
                  <a:pt x="99054" y="129063"/>
                  <a:pt x="111182" y="135688"/>
                  <a:pt x="124369" y="136633"/>
                </a:cubicBezTo>
                <a:cubicBezTo>
                  <a:pt x="137556" y="137577"/>
                  <a:pt x="150504" y="132748"/>
                  <a:pt x="159851" y="123397"/>
                </a:cubicBezTo>
                <a:lnTo>
                  <a:pt x="187192" y="96057"/>
                </a:lnTo>
                <a:cubicBezTo>
                  <a:pt x="204461" y="78177"/>
                  <a:pt x="204214" y="49756"/>
                  <a:pt x="186637" y="32179"/>
                </a:cubicBezTo>
                <a:cubicBezTo>
                  <a:pt x="169060" y="14602"/>
                  <a:pt x="140639" y="14355"/>
                  <a:pt x="122759" y="31624"/>
                </a:cubicBezTo>
                <a:lnTo>
                  <a:pt x="107084" y="47208"/>
                </a:lnTo>
                <a:moveTo>
                  <a:pt x="127589" y="100249"/>
                </a:moveTo>
                <a:cubicBezTo>
                  <a:pt x="119670" y="89662"/>
                  <a:pt x="107543" y="83036"/>
                  <a:pt x="94355" y="82092"/>
                </a:cubicBezTo>
                <a:cubicBezTo>
                  <a:pt x="81168" y="81147"/>
                  <a:pt x="68220" y="85977"/>
                  <a:pt x="58873" y="95327"/>
                </a:cubicBezTo>
                <a:lnTo>
                  <a:pt x="31533" y="122668"/>
                </a:lnTo>
                <a:cubicBezTo>
                  <a:pt x="14264" y="140548"/>
                  <a:pt x="14511" y="168969"/>
                  <a:pt x="32088" y="186545"/>
                </a:cubicBezTo>
                <a:cubicBezTo>
                  <a:pt x="49665" y="204122"/>
                  <a:pt x="78086" y="204369"/>
                  <a:pt x="95965" y="187101"/>
                </a:cubicBezTo>
                <a:lnTo>
                  <a:pt x="111549" y="171516"/>
                </a:lnTo>
              </a:path>
            </a:pathLst>
          </a:custGeom>
          <a:noFill/>
          <a:ln w="18227" cap="rnd">
            <a:solidFill>
              <a:srgbClr val="0B6E8A"/>
            </a:solidFill>
            <a:prstDash val="solid"/>
            <a:round/>
          </a:ln>
        </p:spPr>
      </p:sp>
      <p:sp>
        <p:nvSpPr>
          <p:cNvPr id="32" name="Text 29"/>
          <p:cNvSpPr/>
          <p:nvPr/>
        </p:nvSpPr>
        <p:spPr>
          <a:xfrm>
            <a:off x="1161288" y="4446270"/>
            <a:ext cx="3383280" cy="582930"/>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La UI enlaza los dos Swagger</a:t>
            </a:r>
            <a:endParaRPr lang="en-US" sz="1350" dirty="0"/>
          </a:p>
        </p:txBody>
      </p:sp>
      <p:sp>
        <p:nvSpPr>
          <p:cNvPr id="33" name="Shape 30"/>
          <p:cNvSpPr/>
          <p:nvPr/>
        </p:nvSpPr>
        <p:spPr>
          <a:xfrm>
            <a:off x="612648" y="5166360"/>
            <a:ext cx="3931920" cy="1188720"/>
          </a:xfrm>
          <a:prstGeom prst="roundRect">
            <a:avLst>
              <a:gd name="adj" fmla="val 9231"/>
            </a:avLst>
          </a:prstGeom>
          <a:solidFill>
            <a:srgbClr val="E3F4FA"/>
          </a:solidFill>
          <a:ln w="12700">
            <a:solidFill>
              <a:srgbClr val="8ACEE2"/>
            </a:solidFill>
            <a:prstDash val="solid"/>
          </a:ln>
        </p:spPr>
      </p:sp>
      <p:sp>
        <p:nvSpPr>
          <p:cNvPr id="34" name="Shape 31"/>
          <p:cNvSpPr/>
          <p:nvPr/>
        </p:nvSpPr>
        <p:spPr>
          <a:xfrm>
            <a:off x="795528" y="5458968"/>
            <a:ext cx="603504" cy="603504"/>
          </a:xfrm>
          <a:prstGeom prst="ellipse">
            <a:avLst/>
          </a:prstGeom>
          <a:solidFill>
            <a:srgbClr val="FFFFFF"/>
          </a:solidFill>
          <a:ln w="12700">
            <a:solidFill>
              <a:srgbClr val="FFFFFF"/>
            </a:solidFill>
            <a:prstDash val="solid"/>
          </a:ln>
        </p:spPr>
      </p:sp>
      <p:sp>
        <p:nvSpPr>
          <p:cNvPr id="35" name="Icono utensils"/>
          <p:cNvSpPr/>
          <p:nvPr/>
        </p:nvSpPr>
        <p:spPr>
          <a:xfrm>
            <a:off x="940369" y="5603809"/>
            <a:ext cx="313822" cy="313822"/>
          </a:xfrm>
          <a:custGeom>
            <a:avLst/>
            <a:gdLst/>
            <a:ahLst/>
            <a:cxnLst/>
            <a:rect l="l" t="t" r="r" b="b"/>
            <a:pathLst>
              <a:path w="313822" h="313822">
                <a:moveTo>
                  <a:pt x="39228" y="26152"/>
                </a:moveTo>
                <a:lnTo>
                  <a:pt x="39228" y="117683"/>
                </a:lnTo>
                <a:cubicBezTo>
                  <a:pt x="39228" y="132067"/>
                  <a:pt x="50996" y="143835"/>
                  <a:pt x="65380" y="143835"/>
                </a:cubicBezTo>
                <a:lnTo>
                  <a:pt x="117683" y="143835"/>
                </a:lnTo>
                <a:cubicBezTo>
                  <a:pt x="132127" y="143835"/>
                  <a:pt x="143835" y="132127"/>
                  <a:pt x="143835" y="117683"/>
                </a:cubicBezTo>
                <a:lnTo>
                  <a:pt x="143835" y="26152"/>
                </a:lnTo>
                <a:moveTo>
                  <a:pt x="91531" y="26152"/>
                </a:moveTo>
                <a:lnTo>
                  <a:pt x="91531" y="287670"/>
                </a:lnTo>
                <a:moveTo>
                  <a:pt x="274594" y="196139"/>
                </a:moveTo>
                <a:lnTo>
                  <a:pt x="274594" y="26152"/>
                </a:lnTo>
                <a:cubicBezTo>
                  <a:pt x="238486" y="26152"/>
                  <a:pt x="209215" y="55423"/>
                  <a:pt x="209215" y="91531"/>
                </a:cubicBezTo>
                <a:lnTo>
                  <a:pt x="209215" y="169987"/>
                </a:lnTo>
                <a:cubicBezTo>
                  <a:pt x="209215" y="184370"/>
                  <a:pt x="220983" y="196139"/>
                  <a:pt x="235367" y="196139"/>
                </a:cubicBezTo>
                <a:lnTo>
                  <a:pt x="274594" y="196139"/>
                </a:lnTo>
                <a:close/>
                <a:moveTo>
                  <a:pt x="274594" y="196139"/>
                </a:moveTo>
                <a:lnTo>
                  <a:pt x="274594" y="287670"/>
                </a:lnTo>
              </a:path>
            </a:pathLst>
          </a:custGeom>
          <a:noFill/>
          <a:ln w="26152" cap="rnd">
            <a:solidFill>
              <a:srgbClr val="0B6E8A"/>
            </a:solidFill>
            <a:prstDash val="solid"/>
            <a:round/>
          </a:ln>
        </p:spPr>
      </p:sp>
      <p:sp>
        <p:nvSpPr>
          <p:cNvPr id="36" name="Text 33"/>
          <p:cNvSpPr/>
          <p:nvPr/>
        </p:nvSpPr>
        <p:spPr>
          <a:xfrm>
            <a:off x="1563624" y="5239512"/>
            <a:ext cx="2825496" cy="1042416"/>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el menú de un restaurante: dice qué hay, qué lleva cada plato y qué te van a traer.</a:t>
            </a:r>
            <a:endParaRPr lang="en-US" sz="1450" dirty="0"/>
          </a:p>
        </p:txBody>
      </p:sp>
      <p:sp>
        <p:nvSpPr>
          <p:cNvPr id="37" name="Text 3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DOCUMENTACIÓN</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8 · LA UI COMO LABORATORIO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Si notificaciones se cae</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A0D7E8"/>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2BA6CB"/>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El usuario no se entera; el aviso llega cuando el servicio vuelve.</a:t>
            </a:r>
            <a:endParaRPr lang="en-US" sz="1700" dirty="0"/>
          </a:p>
        </p:txBody>
      </p:sp>
      <p:sp>
        <p:nvSpPr>
          <p:cNvPr id="14" name="Shape 12"/>
          <p:cNvSpPr/>
          <p:nvPr/>
        </p:nvSpPr>
        <p:spPr>
          <a:xfrm>
            <a:off x="612648" y="1719072"/>
            <a:ext cx="10966399" cy="749808"/>
          </a:xfrm>
          <a:prstGeom prst="roundRect">
            <a:avLst>
              <a:gd name="adj" fmla="val 14634"/>
            </a:avLst>
          </a:prstGeom>
          <a:solidFill>
            <a:srgbClr val="F7E3E7"/>
          </a:solidFill>
          <a:ln w="15875">
            <a:solidFill>
              <a:srgbClr val="D18795"/>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612648" y="1828800"/>
            <a:ext cx="82296" cy="530352"/>
          </a:xfrm>
          <a:prstGeom prst="rect">
            <a:avLst/>
          </a:prstGeom>
          <a:solidFill>
            <a:srgbClr val="AB243E"/>
          </a:solidFill>
          <a:ln w="12700">
            <a:solidFill>
              <a:srgbClr val="AB243E"/>
            </a:solidFill>
            <a:prstDash val="solid"/>
          </a:ln>
        </p:spPr>
      </p:sp>
      <p:sp>
        <p:nvSpPr>
          <p:cNvPr id="16" name="Shape 14"/>
          <p:cNvSpPr/>
          <p:nvPr/>
        </p:nvSpPr>
        <p:spPr>
          <a:xfrm>
            <a:off x="886968" y="1819656"/>
            <a:ext cx="548640" cy="548640"/>
          </a:xfrm>
          <a:prstGeom prst="ellipse">
            <a:avLst/>
          </a:prstGeom>
          <a:solidFill>
            <a:srgbClr val="AB243E"/>
          </a:solidFill>
          <a:ln w="12700">
            <a:solidFill>
              <a:srgbClr val="AB243E"/>
            </a:solidFill>
            <a:prstDash val="solid"/>
          </a:ln>
        </p:spPr>
      </p:sp>
      <p:sp>
        <p:nvSpPr>
          <p:cNvPr id="17" name="Icono siren"/>
          <p:cNvSpPr/>
          <p:nvPr/>
        </p:nvSpPr>
        <p:spPr>
          <a:xfrm>
            <a:off x="1018642" y="1951330"/>
            <a:ext cx="285293" cy="285293"/>
          </a:xfrm>
          <a:custGeom>
            <a:avLst/>
            <a:gdLst/>
            <a:ahLst/>
            <a:cxnLst/>
            <a:rect l="l" t="t" r="r" b="b"/>
            <a:pathLst>
              <a:path w="285293" h="285293">
                <a:moveTo>
                  <a:pt x="83210" y="213970"/>
                </a:moveTo>
                <a:lnTo>
                  <a:pt x="83210" y="142646"/>
                </a:lnTo>
                <a:cubicBezTo>
                  <a:pt x="83210" y="109821"/>
                  <a:pt x="109821" y="83210"/>
                  <a:pt x="142646" y="83210"/>
                </a:cubicBezTo>
                <a:cubicBezTo>
                  <a:pt x="175472" y="83210"/>
                  <a:pt x="202082" y="109821"/>
                  <a:pt x="202082" y="142646"/>
                </a:cubicBezTo>
                <a:lnTo>
                  <a:pt x="202082" y="213970"/>
                </a:lnTo>
                <a:moveTo>
                  <a:pt x="59436" y="249631"/>
                </a:moveTo>
                <a:cubicBezTo>
                  <a:pt x="59436" y="256196"/>
                  <a:pt x="64758" y="261518"/>
                  <a:pt x="71323" y="261518"/>
                </a:cubicBezTo>
                <a:lnTo>
                  <a:pt x="213970" y="261518"/>
                </a:lnTo>
                <a:cubicBezTo>
                  <a:pt x="220535" y="261518"/>
                  <a:pt x="225857" y="256196"/>
                  <a:pt x="225857" y="249631"/>
                </a:cubicBezTo>
                <a:lnTo>
                  <a:pt x="225857" y="237744"/>
                </a:lnTo>
                <a:cubicBezTo>
                  <a:pt x="225857" y="224614"/>
                  <a:pt x="215213" y="213970"/>
                  <a:pt x="202082" y="213970"/>
                </a:cubicBezTo>
                <a:lnTo>
                  <a:pt x="83210" y="213970"/>
                </a:lnTo>
                <a:cubicBezTo>
                  <a:pt x="70080" y="213970"/>
                  <a:pt x="59436" y="224614"/>
                  <a:pt x="59436" y="237744"/>
                </a:cubicBezTo>
                <a:close/>
                <a:moveTo>
                  <a:pt x="249631" y="142646"/>
                </a:moveTo>
                <a:lnTo>
                  <a:pt x="261518" y="142646"/>
                </a:lnTo>
                <a:moveTo>
                  <a:pt x="219913" y="53492"/>
                </a:moveTo>
                <a:lnTo>
                  <a:pt x="213970" y="59436"/>
                </a:lnTo>
                <a:moveTo>
                  <a:pt x="23774" y="142646"/>
                </a:moveTo>
                <a:lnTo>
                  <a:pt x="35662" y="142646"/>
                </a:lnTo>
                <a:moveTo>
                  <a:pt x="142646" y="23774"/>
                </a:moveTo>
                <a:lnTo>
                  <a:pt x="142646" y="35662"/>
                </a:lnTo>
                <a:moveTo>
                  <a:pt x="58592" y="58592"/>
                </a:moveTo>
                <a:lnTo>
                  <a:pt x="66996" y="66996"/>
                </a:lnTo>
                <a:moveTo>
                  <a:pt x="142646" y="142646"/>
                </a:moveTo>
                <a:lnTo>
                  <a:pt x="142646" y="213970"/>
                </a:lnTo>
              </a:path>
            </a:pathLst>
          </a:custGeom>
          <a:noFill/>
          <a:ln w="23774" cap="rnd">
            <a:solidFill>
              <a:srgbClr val="FFFFFF"/>
            </a:solidFill>
            <a:prstDash val="solid"/>
            <a:round/>
          </a:ln>
        </p:spPr>
      </p:sp>
      <p:sp>
        <p:nvSpPr>
          <p:cNvPr id="18" name="Text 16"/>
          <p:cNvSpPr/>
          <p:nvPr/>
        </p:nvSpPr>
        <p:spPr>
          <a:xfrm>
            <a:off x="1618488" y="18105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AB243E"/>
                </a:solidFill>
                <a:latin typeface="Segoe UI" pitchFamily="34" charset="0"/>
                <a:ea typeface="Segoe UI" pitchFamily="34" charset="-122"/>
                <a:cs typeface="Segoe UI" pitchFamily="34" charset="-120"/>
              </a:rPr>
              <a:t>QUÉ FALLA</a:t>
            </a:r>
            <a:endParaRPr lang="en-US" sz="1000" dirty="0"/>
          </a:p>
        </p:txBody>
      </p:sp>
      <p:sp>
        <p:nvSpPr>
          <p:cNvPr id="19" name="Text 17"/>
          <p:cNvSpPr/>
          <p:nvPr/>
        </p:nvSpPr>
        <p:spPr>
          <a:xfrm>
            <a:off x="1618488" y="2011680"/>
            <a:ext cx="9777679" cy="384048"/>
          </a:xfrm>
          <a:prstGeom prst="rect">
            <a:avLst/>
          </a:prstGeom>
          <a:noFill/>
          <a:ln/>
        </p:spPr>
        <p:txBody>
          <a:bodyPr wrap="square" lIns="0" tIns="0" rIns="0" bIns="0" rtlCol="0" anchor="ctr">
            <a:normAutofit/>
          </a:bodyPr>
          <a:lstStyle/>
          <a:p>
            <a:pPr indent="0" marL="0">
              <a:buNone/>
            </a:pPr>
            <a:r>
              <a:rPr lang="en-US" sz="1700" b="1" dirty="0">
                <a:solidFill>
                  <a:srgbClr val="AB243E"/>
                </a:solidFill>
                <a:latin typeface="Segoe UI" pitchFamily="34" charset="0"/>
                <a:ea typeface="Segoe UI" pitchFamily="34" charset="-122"/>
                <a:cs typeface="Segoe UI" pitchFamily="34" charset="-120"/>
              </a:rPr>
              <a:t>notificaciones está caído</a:t>
            </a:r>
            <a:pPr indent="0" marL="0">
              <a:buNone/>
            </a:pPr>
            <a:r>
              <a:rPr lang="en-US" sz="1700" dirty="0">
                <a:solidFill>
                  <a:srgbClr val="0B1A3C"/>
                </a:solidFill>
                <a:latin typeface="Segoe UI" pitchFamily="34" charset="0"/>
                <a:ea typeface="Segoe UI" pitchFamily="34" charset="-122"/>
                <a:cs typeface="Segoe UI" pitchFamily="34" charset="-120"/>
              </a:rPr>
              <a:t>   docker compose stop servicio-notificaciones</a:t>
            </a:r>
            <a:endParaRPr lang="en-US" sz="1700" dirty="0"/>
          </a:p>
        </p:txBody>
      </p:sp>
      <p:sp>
        <p:nvSpPr>
          <p:cNvPr id="20" name="Shape 18"/>
          <p:cNvSpPr/>
          <p:nvPr/>
        </p:nvSpPr>
        <p:spPr>
          <a:xfrm>
            <a:off x="612648" y="5605272"/>
            <a:ext cx="10966399" cy="749808"/>
          </a:xfrm>
          <a:prstGeom prst="roundRect">
            <a:avLst>
              <a:gd name="adj" fmla="val 14634"/>
            </a:avLst>
          </a:prstGeom>
          <a:solidFill>
            <a:srgbClr val="E1F1EA"/>
          </a:solidFill>
          <a:ln w="15875">
            <a:solidFill>
              <a:srgbClr val="78AB9A"/>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612648" y="5715000"/>
            <a:ext cx="82296" cy="530352"/>
          </a:xfrm>
          <a:prstGeom prst="rect">
            <a:avLst/>
          </a:prstGeom>
          <a:solidFill>
            <a:srgbClr val="0A6648"/>
          </a:solidFill>
          <a:ln w="12700">
            <a:solidFill>
              <a:srgbClr val="0A6648"/>
            </a:solidFill>
            <a:prstDash val="solid"/>
          </a:ln>
        </p:spPr>
      </p:sp>
      <p:sp>
        <p:nvSpPr>
          <p:cNvPr id="22" name="Shape 20"/>
          <p:cNvSpPr/>
          <p:nvPr/>
        </p:nvSpPr>
        <p:spPr>
          <a:xfrm>
            <a:off x="886968" y="5705856"/>
            <a:ext cx="548640" cy="548640"/>
          </a:xfrm>
          <a:prstGeom prst="ellipse">
            <a:avLst/>
          </a:prstGeom>
          <a:solidFill>
            <a:srgbClr val="0A6648"/>
          </a:solidFill>
          <a:ln w="12700">
            <a:solidFill>
              <a:srgbClr val="0A6648"/>
            </a:solidFill>
            <a:prstDash val="solid"/>
          </a:ln>
        </p:spPr>
      </p:sp>
      <p:sp>
        <p:nvSpPr>
          <p:cNvPr id="23" name="Icono circle-check"/>
          <p:cNvSpPr/>
          <p:nvPr/>
        </p:nvSpPr>
        <p:spPr>
          <a:xfrm>
            <a:off x="1018642" y="5837530"/>
            <a:ext cx="285293" cy="285293"/>
          </a:xfrm>
          <a:custGeom>
            <a:avLst/>
            <a:gdLst/>
            <a:ahLst/>
            <a:cxnLst/>
            <a:rect l="l" t="t" r="r" b="b"/>
            <a:pathLst>
              <a:path w="285293" h="285293">
                <a:moveTo>
                  <a:pt x="261518" y="142646"/>
                </a:moveTo>
                <a:cubicBezTo>
                  <a:pt x="261518" y="208298"/>
                  <a:pt x="208298" y="261518"/>
                  <a:pt x="142646" y="261518"/>
                </a:cubicBezTo>
                <a:cubicBezTo>
                  <a:pt x="76995" y="261518"/>
                  <a:pt x="23774" y="208298"/>
                  <a:pt x="23774" y="142646"/>
                </a:cubicBezTo>
                <a:cubicBezTo>
                  <a:pt x="23774" y="76995"/>
                  <a:pt x="76995" y="23774"/>
                  <a:pt x="142646" y="23774"/>
                </a:cubicBezTo>
                <a:cubicBezTo>
                  <a:pt x="208298" y="23774"/>
                  <a:pt x="261518" y="76995"/>
                  <a:pt x="261518" y="142646"/>
                </a:cubicBezTo>
                <a:close/>
                <a:moveTo>
                  <a:pt x="106985" y="142646"/>
                </a:moveTo>
                <a:lnTo>
                  <a:pt x="130759" y="166421"/>
                </a:lnTo>
                <a:lnTo>
                  <a:pt x="178308" y="118872"/>
                </a:lnTo>
              </a:path>
            </a:pathLst>
          </a:custGeom>
          <a:noFill/>
          <a:ln w="23774" cap="rnd">
            <a:solidFill>
              <a:srgbClr val="FFFFFF"/>
            </a:solidFill>
            <a:prstDash val="solid"/>
            <a:round/>
          </a:ln>
        </p:spPr>
      </p:sp>
      <p:sp>
        <p:nvSpPr>
          <p:cNvPr id="24" name="Text 22"/>
          <p:cNvSpPr/>
          <p:nvPr/>
        </p:nvSpPr>
        <p:spPr>
          <a:xfrm>
            <a:off x="1618488" y="56967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RESULTADO</a:t>
            </a:r>
            <a:endParaRPr lang="en-US" sz="1000" dirty="0"/>
          </a:p>
        </p:txBody>
      </p:sp>
      <p:sp>
        <p:nvSpPr>
          <p:cNvPr id="25" name="Text 23"/>
          <p:cNvSpPr/>
          <p:nvPr/>
        </p:nvSpPr>
        <p:spPr>
          <a:xfrm>
            <a:off x="1618488" y="5897880"/>
            <a:ext cx="9777679" cy="384048"/>
          </a:xfrm>
          <a:prstGeom prst="rect">
            <a:avLst/>
          </a:prstGeom>
          <a:noFill/>
          <a:ln/>
        </p:spPr>
        <p:txBody>
          <a:bodyPr wrap="square" lIns="0" tIns="0" rIns="0" bIns="0" rtlCol="0" anchor="ctr">
            <a:normAutofit/>
          </a:bodyPr>
          <a:lstStyle/>
          <a:p>
            <a:pPr indent="0" marL="0">
              <a:buNone/>
            </a:pPr>
            <a:r>
              <a:rPr lang="en-US" sz="1700" b="1" dirty="0">
                <a:solidFill>
                  <a:srgbClr val="0A6648"/>
                </a:solidFill>
                <a:latin typeface="Segoe UI" pitchFamily="34" charset="0"/>
                <a:ea typeface="Segoe UI" pitchFamily="34" charset="-122"/>
                <a:cs typeface="Segoe UI" pitchFamily="34" charset="-120"/>
              </a:rPr>
              <a:t>1 aviso, 0 perdidos</a:t>
            </a:r>
            <a:pPr indent="0" marL="0">
              <a:buNone/>
            </a:pPr>
            <a:r>
              <a:rPr lang="en-US" sz="1700" dirty="0">
                <a:solidFill>
                  <a:srgbClr val="0B1A3C"/>
                </a:solidFill>
                <a:latin typeface="Segoe UI" pitchFamily="34" charset="0"/>
                <a:ea typeface="Segoe UI" pitchFamily="34" charset="-122"/>
                <a:cs typeface="Segoe UI" pitchFamily="34" charset="-120"/>
              </a:rPr>
              <a:t>   Sin intervención y sin duplicados.</a:t>
            </a:r>
            <a:endParaRPr lang="en-US" sz="1700" dirty="0"/>
          </a:p>
        </p:txBody>
      </p:sp>
      <p:sp>
        <p:nvSpPr>
          <p:cNvPr id="26" name="Shape 24"/>
          <p:cNvSpPr/>
          <p:nvPr/>
        </p:nvSpPr>
        <p:spPr>
          <a:xfrm>
            <a:off x="2631940" y="2487168"/>
            <a:ext cx="0" cy="1005108"/>
          </a:xfrm>
          <a:prstGeom prst="line">
            <a:avLst/>
          </a:prstGeom>
          <a:noFill/>
          <a:ln w="25400">
            <a:solidFill>
              <a:srgbClr val="AB243E"/>
            </a:solidFill>
            <a:prstDash val="dash"/>
            <a:tailEnd type="triangle"/>
          </a:ln>
        </p:spPr>
      </p:sp>
      <p:sp>
        <p:nvSpPr>
          <p:cNvPr id="27" name="Shape 25"/>
          <p:cNvSpPr/>
          <p:nvPr/>
        </p:nvSpPr>
        <p:spPr>
          <a:xfrm>
            <a:off x="10856740" y="3711732"/>
            <a:ext cx="0" cy="1875252"/>
          </a:xfrm>
          <a:prstGeom prst="line">
            <a:avLst/>
          </a:prstGeom>
          <a:noFill/>
          <a:ln w="25400">
            <a:solidFill>
              <a:srgbClr val="0A6648"/>
            </a:solidFill>
            <a:prstDash val="dash"/>
            <a:tailEnd type="triangle"/>
          </a:ln>
        </p:spPr>
      </p:sp>
      <p:sp>
        <p:nvSpPr>
          <p:cNvPr id="28" name="Shape 26"/>
          <p:cNvSpPr/>
          <p:nvPr/>
        </p:nvSpPr>
        <p:spPr>
          <a:xfrm>
            <a:off x="1983448" y="3602004"/>
            <a:ext cx="8224799" cy="0"/>
          </a:xfrm>
          <a:prstGeom prst="line">
            <a:avLst/>
          </a:prstGeom>
          <a:noFill/>
          <a:ln w="50800">
            <a:solidFill>
              <a:srgbClr val="6BC1DB"/>
            </a:solidFill>
            <a:prstDash val="solid"/>
          </a:ln>
        </p:spPr>
      </p:sp>
      <p:sp>
        <p:nvSpPr>
          <p:cNvPr id="29" name="Text 27"/>
          <p:cNvSpPr/>
          <p:nvPr/>
        </p:nvSpPr>
        <p:spPr>
          <a:xfrm>
            <a:off x="1617688" y="2724912"/>
            <a:ext cx="73152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0 s</a:t>
            </a:r>
            <a:endParaRPr lang="en-US" sz="1100" dirty="0"/>
          </a:p>
        </p:txBody>
      </p:sp>
      <p:sp>
        <p:nvSpPr>
          <p:cNvPr id="30" name="Shape 28"/>
          <p:cNvSpPr/>
          <p:nvPr/>
        </p:nvSpPr>
        <p:spPr>
          <a:xfrm>
            <a:off x="1563555" y="3182112"/>
            <a:ext cx="839785" cy="839785"/>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31" name="Icono send"/>
          <p:cNvSpPr/>
          <p:nvPr/>
        </p:nvSpPr>
        <p:spPr>
          <a:xfrm>
            <a:off x="1756706" y="3375263"/>
            <a:ext cx="453484" cy="453484"/>
          </a:xfrm>
          <a:custGeom>
            <a:avLst/>
            <a:gdLst/>
            <a:ahLst/>
            <a:cxnLst/>
            <a:rect l="l" t="t" r="r" b="b"/>
            <a:pathLst>
              <a:path w="453484" h="453484">
                <a:moveTo>
                  <a:pt x="274660" y="409760"/>
                </a:moveTo>
                <a:cubicBezTo>
                  <a:pt x="276130" y="413424"/>
                  <a:pt x="279724" y="415788"/>
                  <a:pt x="283670" y="415687"/>
                </a:cubicBezTo>
                <a:cubicBezTo>
                  <a:pt x="287617" y="415586"/>
                  <a:pt x="291084" y="413041"/>
                  <a:pt x="292365" y="409307"/>
                </a:cubicBezTo>
                <a:lnTo>
                  <a:pt x="415183" y="50299"/>
                </a:lnTo>
                <a:cubicBezTo>
                  <a:pt x="416418" y="46881"/>
                  <a:pt x="415565" y="43058"/>
                  <a:pt x="412996" y="40488"/>
                </a:cubicBezTo>
                <a:cubicBezTo>
                  <a:pt x="410426" y="37919"/>
                  <a:pt x="406603" y="37066"/>
                  <a:pt x="403185" y="38300"/>
                </a:cubicBezTo>
                <a:lnTo>
                  <a:pt x="44177" y="161119"/>
                </a:lnTo>
                <a:cubicBezTo>
                  <a:pt x="40443" y="162400"/>
                  <a:pt x="37898" y="165867"/>
                  <a:pt x="37797" y="169814"/>
                </a:cubicBezTo>
                <a:cubicBezTo>
                  <a:pt x="37696" y="173760"/>
                  <a:pt x="40060" y="177354"/>
                  <a:pt x="43723" y="178824"/>
                </a:cubicBezTo>
                <a:lnTo>
                  <a:pt x="193562" y="238910"/>
                </a:lnTo>
                <a:cubicBezTo>
                  <a:pt x="203134" y="242743"/>
                  <a:pt x="210724" y="250319"/>
                  <a:pt x="214573" y="259884"/>
                </a:cubicBezTo>
                <a:close/>
                <a:moveTo>
                  <a:pt x="412935" y="40568"/>
                </a:moveTo>
                <a:lnTo>
                  <a:pt x="206222" y="247262"/>
                </a:lnTo>
              </a:path>
            </a:pathLst>
          </a:custGeom>
          <a:noFill/>
          <a:ln w="33067" cap="rnd">
            <a:solidFill>
              <a:srgbClr val="0B2350"/>
            </a:solidFill>
            <a:prstDash val="solid"/>
            <a:round/>
          </a:ln>
        </p:spPr>
      </p:sp>
      <p:sp>
        <p:nvSpPr>
          <p:cNvPr id="32" name="Shape 30"/>
          <p:cNvSpPr/>
          <p:nvPr/>
        </p:nvSpPr>
        <p:spPr>
          <a:xfrm>
            <a:off x="2476492" y="3602004"/>
            <a:ext cx="1755511" cy="0"/>
          </a:xfrm>
          <a:prstGeom prst="line">
            <a:avLst/>
          </a:prstGeom>
          <a:noFill/>
          <a:ln w="38100">
            <a:solidFill>
              <a:srgbClr val="2BA6CB"/>
            </a:solidFill>
            <a:prstDash val="solid"/>
            <a:tailEnd type="triangle"/>
          </a:ln>
        </p:spPr>
      </p:sp>
      <p:sp>
        <p:nvSpPr>
          <p:cNvPr id="33" name="Text 31"/>
          <p:cNvSpPr/>
          <p:nvPr/>
        </p:nvSpPr>
        <p:spPr>
          <a:xfrm>
            <a:off x="6858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B2350"/>
                </a:solidFill>
                <a:latin typeface="Segoe UI Semibold" pitchFamily="34" charset="0"/>
                <a:ea typeface="Segoe UI Semibold" pitchFamily="34" charset="-122"/>
                <a:cs typeface="Segoe UI Semibold" pitchFamily="34" charset="-120"/>
              </a:rPr>
              <a:t>Enviar</a:t>
            </a:r>
            <a:endParaRPr lang="en-US" sz="1700" dirty="0"/>
          </a:p>
        </p:txBody>
      </p:sp>
      <p:sp>
        <p:nvSpPr>
          <p:cNvPr id="34" name="Text 32"/>
          <p:cNvSpPr/>
          <p:nvPr/>
        </p:nvSpPr>
        <p:spPr>
          <a:xfrm>
            <a:off x="7406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Responde 200: solicitud ENVIADA y evento guardado.</a:t>
            </a:r>
            <a:endParaRPr lang="en-US" sz="1300" dirty="0"/>
          </a:p>
        </p:txBody>
      </p:sp>
      <p:sp>
        <p:nvSpPr>
          <p:cNvPr id="35" name="Text 33"/>
          <p:cNvSpPr/>
          <p:nvPr/>
        </p:nvSpPr>
        <p:spPr>
          <a:xfrm>
            <a:off x="4130688" y="2724912"/>
            <a:ext cx="118872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cada 5 s</a:t>
            </a:r>
            <a:endParaRPr lang="en-US" sz="1100" dirty="0"/>
          </a:p>
        </p:txBody>
      </p:sp>
      <p:sp>
        <p:nvSpPr>
          <p:cNvPr id="36" name="Shape 34"/>
          <p:cNvSpPr/>
          <p:nvPr/>
        </p:nvSpPr>
        <p:spPr>
          <a:xfrm>
            <a:off x="4305155" y="3182112"/>
            <a:ext cx="839785" cy="839785"/>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37" name="Icono refresh-cw"/>
          <p:cNvSpPr/>
          <p:nvPr/>
        </p:nvSpPr>
        <p:spPr>
          <a:xfrm>
            <a:off x="4498306" y="3375263"/>
            <a:ext cx="453484" cy="453484"/>
          </a:xfrm>
          <a:custGeom>
            <a:avLst/>
            <a:gdLst/>
            <a:ahLst/>
            <a:cxnLst/>
            <a:rect l="l" t="t" r="r" b="b"/>
            <a:pathLst>
              <a:path w="453484" h="453484">
                <a:moveTo>
                  <a:pt x="56685" y="226742"/>
                </a:moveTo>
                <a:cubicBezTo>
                  <a:pt x="56685" y="132822"/>
                  <a:pt x="132822" y="56685"/>
                  <a:pt x="226742" y="56685"/>
                </a:cubicBezTo>
                <a:cubicBezTo>
                  <a:pt x="274283" y="56864"/>
                  <a:pt x="319915" y="75415"/>
                  <a:pt x="354095" y="108458"/>
                </a:cubicBezTo>
                <a:lnTo>
                  <a:pt x="396798" y="151161"/>
                </a:lnTo>
                <a:moveTo>
                  <a:pt x="396798" y="56685"/>
                </a:moveTo>
                <a:lnTo>
                  <a:pt x="396798" y="151161"/>
                </a:lnTo>
                <a:lnTo>
                  <a:pt x="302323" y="151161"/>
                </a:lnTo>
                <a:moveTo>
                  <a:pt x="396798" y="226742"/>
                </a:moveTo>
                <a:cubicBezTo>
                  <a:pt x="396798" y="320662"/>
                  <a:pt x="320662" y="396798"/>
                  <a:pt x="226742" y="396798"/>
                </a:cubicBezTo>
                <a:cubicBezTo>
                  <a:pt x="179201" y="396620"/>
                  <a:pt x="133569" y="378069"/>
                  <a:pt x="99389" y="345026"/>
                </a:cubicBezTo>
                <a:lnTo>
                  <a:pt x="56685" y="302323"/>
                </a:lnTo>
                <a:moveTo>
                  <a:pt x="151161" y="302323"/>
                </a:moveTo>
                <a:lnTo>
                  <a:pt x="56685" y="302323"/>
                </a:lnTo>
                <a:lnTo>
                  <a:pt x="56685" y="396798"/>
                </a:lnTo>
              </a:path>
            </a:pathLst>
          </a:custGeom>
          <a:noFill/>
          <a:ln w="33067" cap="rnd">
            <a:solidFill>
              <a:srgbClr val="8A4B06"/>
            </a:solidFill>
            <a:prstDash val="solid"/>
            <a:round/>
          </a:ln>
        </p:spPr>
      </p:sp>
      <p:sp>
        <p:nvSpPr>
          <p:cNvPr id="38" name="Shape 36"/>
          <p:cNvSpPr/>
          <p:nvPr/>
        </p:nvSpPr>
        <p:spPr>
          <a:xfrm>
            <a:off x="5218092" y="3602004"/>
            <a:ext cx="1755511" cy="0"/>
          </a:xfrm>
          <a:prstGeom prst="line">
            <a:avLst/>
          </a:prstGeom>
          <a:noFill/>
          <a:ln w="38100">
            <a:solidFill>
              <a:srgbClr val="2BA6CB"/>
            </a:solidFill>
            <a:prstDash val="solid"/>
            <a:tailEnd type="triangle"/>
          </a:ln>
        </p:spPr>
      </p:sp>
      <p:sp>
        <p:nvSpPr>
          <p:cNvPr id="39" name="Text 37"/>
          <p:cNvSpPr/>
          <p:nvPr/>
        </p:nvSpPr>
        <p:spPr>
          <a:xfrm>
            <a:off x="34274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8A4B06"/>
                </a:solidFill>
                <a:latin typeface="Segoe UI Semibold" pitchFamily="34" charset="0"/>
                <a:ea typeface="Segoe UI Semibold" pitchFamily="34" charset="-122"/>
                <a:cs typeface="Segoe UI Semibold" pitchFamily="34" charset="-120"/>
              </a:rPr>
              <a:t>Reintenta</a:t>
            </a:r>
            <a:endParaRPr lang="en-US" sz="1700" dirty="0"/>
          </a:p>
        </p:txBody>
      </p:sp>
      <p:sp>
        <p:nvSpPr>
          <p:cNvPr id="40" name="Text 38"/>
          <p:cNvSpPr/>
          <p:nvPr/>
        </p:nvSpPr>
        <p:spPr>
          <a:xfrm>
            <a:off x="34822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3 intentos por ciclo; el evento sigue pendiente.</a:t>
            </a:r>
            <a:endParaRPr lang="en-US" sz="1300" dirty="0"/>
          </a:p>
        </p:txBody>
      </p:sp>
      <p:sp>
        <p:nvSpPr>
          <p:cNvPr id="41" name="Text 39"/>
          <p:cNvSpPr/>
          <p:nvPr/>
        </p:nvSpPr>
        <p:spPr>
          <a:xfrm>
            <a:off x="6872288" y="2724912"/>
            <a:ext cx="118872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en la UI</a:t>
            </a:r>
            <a:endParaRPr lang="en-US" sz="1100" dirty="0"/>
          </a:p>
        </p:txBody>
      </p:sp>
      <p:sp>
        <p:nvSpPr>
          <p:cNvPr id="42" name="Shape 40"/>
          <p:cNvSpPr/>
          <p:nvPr/>
        </p:nvSpPr>
        <p:spPr>
          <a:xfrm>
            <a:off x="7046755" y="3182112"/>
            <a:ext cx="839785" cy="839785"/>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43" name="Icono eye"/>
          <p:cNvSpPr/>
          <p:nvPr/>
        </p:nvSpPr>
        <p:spPr>
          <a:xfrm>
            <a:off x="7239906" y="3375263"/>
            <a:ext cx="453484" cy="453484"/>
          </a:xfrm>
          <a:custGeom>
            <a:avLst/>
            <a:gdLst/>
            <a:ahLst/>
            <a:cxnLst/>
            <a:rect l="l" t="t" r="r" b="b"/>
            <a:pathLst>
              <a:path w="453484" h="453484">
                <a:moveTo>
                  <a:pt x="38962" y="233317"/>
                </a:moveTo>
                <a:cubicBezTo>
                  <a:pt x="37387" y="229075"/>
                  <a:pt x="37387" y="224409"/>
                  <a:pt x="38962" y="220166"/>
                </a:cubicBezTo>
                <a:cubicBezTo>
                  <a:pt x="70328" y="144112"/>
                  <a:pt x="144473" y="94487"/>
                  <a:pt x="226742" y="94487"/>
                </a:cubicBezTo>
                <a:cubicBezTo>
                  <a:pt x="309011" y="94487"/>
                  <a:pt x="383156" y="144112"/>
                  <a:pt x="414522" y="220166"/>
                </a:cubicBezTo>
                <a:cubicBezTo>
                  <a:pt x="416097" y="224409"/>
                  <a:pt x="416097" y="229075"/>
                  <a:pt x="414522" y="233317"/>
                </a:cubicBezTo>
                <a:cubicBezTo>
                  <a:pt x="383156" y="309372"/>
                  <a:pt x="309011" y="358996"/>
                  <a:pt x="226742" y="358996"/>
                </a:cubicBezTo>
                <a:cubicBezTo>
                  <a:pt x="144473" y="358996"/>
                  <a:pt x="70328" y="309372"/>
                  <a:pt x="38962" y="233317"/>
                </a:cubicBezTo>
                <a:moveTo>
                  <a:pt x="283427" y="226742"/>
                </a:moveTo>
                <a:cubicBezTo>
                  <a:pt x="283427" y="258048"/>
                  <a:pt x="258048" y="283427"/>
                  <a:pt x="226742" y="283427"/>
                </a:cubicBezTo>
                <a:cubicBezTo>
                  <a:pt x="195435" y="283427"/>
                  <a:pt x="170056" y="258048"/>
                  <a:pt x="170056" y="226742"/>
                </a:cubicBezTo>
                <a:cubicBezTo>
                  <a:pt x="170056" y="195435"/>
                  <a:pt x="195435" y="170056"/>
                  <a:pt x="226742" y="170056"/>
                </a:cubicBezTo>
                <a:cubicBezTo>
                  <a:pt x="258048" y="170056"/>
                  <a:pt x="283427" y="195435"/>
                  <a:pt x="283427" y="226742"/>
                </a:cubicBezTo>
                <a:close/>
              </a:path>
            </a:pathLst>
          </a:custGeom>
          <a:noFill/>
          <a:ln w="33067" cap="rnd">
            <a:solidFill>
              <a:srgbClr val="8A4B06"/>
            </a:solidFill>
            <a:prstDash val="solid"/>
            <a:round/>
          </a:ln>
        </p:spPr>
      </p:sp>
      <p:sp>
        <p:nvSpPr>
          <p:cNvPr id="44" name="Shape 42"/>
          <p:cNvSpPr/>
          <p:nvPr/>
        </p:nvSpPr>
        <p:spPr>
          <a:xfrm>
            <a:off x="7959692" y="3602004"/>
            <a:ext cx="1755511" cy="0"/>
          </a:xfrm>
          <a:prstGeom prst="line">
            <a:avLst/>
          </a:prstGeom>
          <a:noFill/>
          <a:ln w="38100">
            <a:solidFill>
              <a:srgbClr val="2BA6CB"/>
            </a:solidFill>
            <a:prstDash val="solid"/>
            <a:tailEnd type="triangle"/>
          </a:ln>
        </p:spPr>
      </p:sp>
      <p:sp>
        <p:nvSpPr>
          <p:cNvPr id="45" name="Text 43"/>
          <p:cNvSpPr/>
          <p:nvPr/>
        </p:nvSpPr>
        <p:spPr>
          <a:xfrm>
            <a:off x="61690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8A4B06"/>
                </a:solidFill>
                <a:latin typeface="Segoe UI Semibold" pitchFamily="34" charset="0"/>
                <a:ea typeface="Segoe UI Semibold" pitchFamily="34" charset="-122"/>
                <a:cs typeface="Segoe UI Semibold" pitchFamily="34" charset="-120"/>
              </a:rPr>
              <a:t>Se ve</a:t>
            </a:r>
            <a:endParaRPr lang="en-US" sz="1700" dirty="0"/>
          </a:p>
        </p:txBody>
      </p:sp>
      <p:sp>
        <p:nvSpPr>
          <p:cNvPr id="46" name="Text 44"/>
          <p:cNvSpPr/>
          <p:nvPr/>
        </p:nvSpPr>
        <p:spPr>
          <a:xfrm>
            <a:off x="62238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“Notificaciones no responde” y 1 en camino.</a:t>
            </a:r>
            <a:endParaRPr lang="en-US" sz="1300" dirty="0"/>
          </a:p>
        </p:txBody>
      </p:sp>
      <p:sp>
        <p:nvSpPr>
          <p:cNvPr id="47" name="Text 45"/>
          <p:cNvSpPr/>
          <p:nvPr/>
        </p:nvSpPr>
        <p:spPr>
          <a:xfrm>
            <a:off x="9568167" y="2724912"/>
            <a:ext cx="128016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al volver</a:t>
            </a:r>
            <a:endParaRPr lang="en-US" sz="1100" dirty="0"/>
          </a:p>
        </p:txBody>
      </p:sp>
      <p:sp>
        <p:nvSpPr>
          <p:cNvPr id="48" name="Shape 46"/>
          <p:cNvSpPr/>
          <p:nvPr/>
        </p:nvSpPr>
        <p:spPr>
          <a:xfrm>
            <a:off x="9788355" y="3182112"/>
            <a:ext cx="839785" cy="839785"/>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49" name="Icono bell"/>
          <p:cNvSpPr/>
          <p:nvPr/>
        </p:nvSpPr>
        <p:spPr>
          <a:xfrm>
            <a:off x="9981505" y="3375263"/>
            <a:ext cx="453484" cy="453484"/>
          </a:xfrm>
          <a:custGeom>
            <a:avLst/>
            <a:gdLst/>
            <a:ahLst/>
            <a:cxnLst/>
            <a:rect l="l" t="t" r="r" b="b"/>
            <a:pathLst>
              <a:path w="453484" h="453484">
                <a:moveTo>
                  <a:pt x="194016" y="396798"/>
                </a:moveTo>
                <a:cubicBezTo>
                  <a:pt x="200766" y="408490"/>
                  <a:pt x="213241" y="415692"/>
                  <a:pt x="226742" y="415692"/>
                </a:cubicBezTo>
                <a:cubicBezTo>
                  <a:pt x="240242" y="415692"/>
                  <a:pt x="252718" y="408490"/>
                  <a:pt x="259468" y="396798"/>
                </a:cubicBezTo>
                <a:moveTo>
                  <a:pt x="61636" y="289587"/>
                </a:moveTo>
                <a:cubicBezTo>
                  <a:pt x="56593" y="295115"/>
                  <a:pt x="55286" y="303098"/>
                  <a:pt x="58305" y="309945"/>
                </a:cubicBezTo>
                <a:cubicBezTo>
                  <a:pt x="61323" y="316792"/>
                  <a:pt x="68098" y="321212"/>
                  <a:pt x="75581" y="321218"/>
                </a:cubicBezTo>
                <a:lnTo>
                  <a:pt x="377903" y="321218"/>
                </a:lnTo>
                <a:cubicBezTo>
                  <a:pt x="385385" y="321220"/>
                  <a:pt x="392164" y="316808"/>
                  <a:pt x="395190" y="309966"/>
                </a:cubicBezTo>
                <a:cubicBezTo>
                  <a:pt x="398217" y="303124"/>
                  <a:pt x="396921" y="295140"/>
                  <a:pt x="391886" y="289606"/>
                </a:cubicBezTo>
                <a:cubicBezTo>
                  <a:pt x="366755" y="263701"/>
                  <a:pt x="340113" y="236171"/>
                  <a:pt x="340113" y="151161"/>
                </a:cubicBezTo>
                <a:cubicBezTo>
                  <a:pt x="340113" y="88548"/>
                  <a:pt x="289355" y="37790"/>
                  <a:pt x="226742" y="37790"/>
                </a:cubicBezTo>
                <a:cubicBezTo>
                  <a:pt x="164129" y="37790"/>
                  <a:pt x="113371" y="88548"/>
                  <a:pt x="113371" y="151161"/>
                </a:cubicBezTo>
                <a:cubicBezTo>
                  <a:pt x="113371" y="236171"/>
                  <a:pt x="86710" y="263701"/>
                  <a:pt x="61636" y="289587"/>
                </a:cubicBezTo>
              </a:path>
            </a:pathLst>
          </a:custGeom>
          <a:noFill/>
          <a:ln w="33067" cap="rnd">
            <a:solidFill>
              <a:srgbClr val="0A6648"/>
            </a:solidFill>
            <a:prstDash val="solid"/>
            <a:round/>
          </a:ln>
        </p:spPr>
      </p:sp>
      <p:sp>
        <p:nvSpPr>
          <p:cNvPr id="50" name="Text 48"/>
          <p:cNvSpPr/>
          <p:nvPr/>
        </p:nvSpPr>
        <p:spPr>
          <a:xfrm>
            <a:off x="8910599"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A6648"/>
                </a:solidFill>
                <a:latin typeface="Segoe UI Semibold" pitchFamily="34" charset="0"/>
                <a:ea typeface="Segoe UI Semibold" pitchFamily="34" charset="-122"/>
                <a:cs typeface="Segoe UI Semibold" pitchFamily="34" charset="-120"/>
              </a:rPr>
              <a:t>Entrega</a:t>
            </a:r>
            <a:endParaRPr lang="en-US" sz="1700" dirty="0"/>
          </a:p>
        </p:txBody>
      </p:sp>
      <p:sp>
        <p:nvSpPr>
          <p:cNvPr id="51" name="Text 49"/>
          <p:cNvSpPr/>
          <p:nvPr/>
        </p:nvSpPr>
        <p:spPr>
          <a:xfrm>
            <a:off x="8965463"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Mismo eventoId: se crea el aviso.</a:t>
            </a:r>
            <a:endParaRPr lang="en-US" sz="13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8 · LA UI COMO LABORATORIO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VALOR Y CIERRE</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valor agregado</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Prácticas que un equipo de tecnología puede reutilizar desde mañana.</a:t>
            </a:r>
            <a:endParaRPr lang="en-US" sz="1700" dirty="0"/>
          </a:p>
        </p:txBody>
      </p:sp>
      <p:sp>
        <p:nvSpPr>
          <p:cNvPr id="6" name="Shape 4"/>
          <p:cNvSpPr/>
          <p:nvPr/>
        </p:nvSpPr>
        <p:spPr>
          <a:xfrm>
            <a:off x="612648" y="1719072"/>
            <a:ext cx="10966399" cy="420624"/>
          </a:xfrm>
          <a:prstGeom prst="roundRect">
            <a:avLst>
              <a:gd name="adj" fmla="val 21739"/>
            </a:avLst>
          </a:prstGeom>
          <a:solidFill>
            <a:srgbClr val="0B2350"/>
          </a:solidFill>
          <a:ln w="12700">
            <a:solidFill>
              <a:srgbClr val="0B2350"/>
            </a:solidFill>
            <a:prstDash val="solid"/>
          </a:ln>
        </p:spPr>
      </p:sp>
      <p:sp>
        <p:nvSpPr>
          <p:cNvPr id="7" name="Text 5"/>
          <p:cNvSpPr/>
          <p:nvPr/>
        </p:nvSpPr>
        <p:spPr>
          <a:xfrm>
            <a:off x="1499616" y="1719072"/>
            <a:ext cx="2531617"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PILAR</a:t>
            </a:r>
            <a:endParaRPr lang="en-US" sz="1150" dirty="0"/>
          </a:p>
        </p:txBody>
      </p:sp>
      <p:sp>
        <p:nvSpPr>
          <p:cNvPr id="8" name="Text 6"/>
          <p:cNvSpPr/>
          <p:nvPr/>
        </p:nvSpPr>
        <p:spPr>
          <a:xfrm>
            <a:off x="4250689" y="1719072"/>
            <a:ext cx="3754316"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QUÉ CONSTRUIMOS</a:t>
            </a:r>
            <a:endParaRPr lang="en-US" sz="1150" dirty="0"/>
          </a:p>
        </p:txBody>
      </p:sp>
      <p:sp>
        <p:nvSpPr>
          <p:cNvPr id="9" name="Text 7"/>
          <p:cNvSpPr/>
          <p:nvPr/>
        </p:nvSpPr>
        <p:spPr>
          <a:xfrm>
            <a:off x="8224461" y="1719072"/>
            <a:ext cx="3244858"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VALOR PARA EL EQUIPO</a:t>
            </a:r>
            <a:endParaRPr lang="en-US" sz="1150" dirty="0"/>
          </a:p>
        </p:txBody>
      </p:sp>
      <p:sp>
        <p:nvSpPr>
          <p:cNvPr id="10" name="Shape 8"/>
          <p:cNvSpPr/>
          <p:nvPr/>
        </p:nvSpPr>
        <p:spPr>
          <a:xfrm>
            <a:off x="612648" y="2267712"/>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1" name="Shape 9"/>
          <p:cNvSpPr/>
          <p:nvPr/>
        </p:nvSpPr>
        <p:spPr>
          <a:xfrm>
            <a:off x="612648" y="2359152"/>
            <a:ext cx="64008" cy="546811"/>
          </a:xfrm>
          <a:prstGeom prst="rect">
            <a:avLst/>
          </a:prstGeom>
          <a:solidFill>
            <a:srgbClr val="0A6648"/>
          </a:solidFill>
          <a:ln w="12700">
            <a:solidFill>
              <a:srgbClr val="0A6648"/>
            </a:solidFill>
            <a:prstDash val="solid"/>
          </a:ln>
        </p:spPr>
      </p:sp>
      <p:sp>
        <p:nvSpPr>
          <p:cNvPr id="12" name="Shape 10"/>
          <p:cNvSpPr/>
          <p:nvPr/>
        </p:nvSpPr>
        <p:spPr>
          <a:xfrm>
            <a:off x="772668" y="2376526"/>
            <a:ext cx="512064" cy="512064"/>
          </a:xfrm>
          <a:prstGeom prst="ellipse">
            <a:avLst/>
          </a:prstGeom>
          <a:solidFill>
            <a:srgbClr val="E1F1EA"/>
          </a:solidFill>
          <a:ln w="12700">
            <a:solidFill>
              <a:srgbClr val="E1F1EA"/>
            </a:solidFill>
            <a:prstDash val="solid"/>
          </a:ln>
        </p:spPr>
      </p:sp>
      <p:sp>
        <p:nvSpPr>
          <p:cNvPr id="13" name="Icono shield-check"/>
          <p:cNvSpPr/>
          <p:nvPr/>
        </p:nvSpPr>
        <p:spPr>
          <a:xfrm>
            <a:off x="895563" y="2499421"/>
            <a:ext cx="266273" cy="266273"/>
          </a:xfrm>
          <a:custGeom>
            <a:avLst/>
            <a:gdLst/>
            <a:ahLst/>
            <a:cxnLst/>
            <a:rect l="l" t="t" r="r" b="b"/>
            <a:pathLst>
              <a:path w="266273" h="266273">
                <a:moveTo>
                  <a:pt x="221894" y="144231"/>
                </a:moveTo>
                <a:cubicBezTo>
                  <a:pt x="221894" y="199705"/>
                  <a:pt x="183063" y="227442"/>
                  <a:pt x="136909" y="243529"/>
                </a:cubicBezTo>
                <a:cubicBezTo>
                  <a:pt x="134492" y="244348"/>
                  <a:pt x="131867" y="244309"/>
                  <a:pt x="129475" y="243418"/>
                </a:cubicBezTo>
                <a:cubicBezTo>
                  <a:pt x="83210" y="227442"/>
                  <a:pt x="44379" y="199705"/>
                  <a:pt x="44379" y="144231"/>
                </a:cubicBezTo>
                <a:lnTo>
                  <a:pt x="44379" y="66568"/>
                </a:lnTo>
                <a:cubicBezTo>
                  <a:pt x="44379" y="60441"/>
                  <a:pt x="49346" y="55474"/>
                  <a:pt x="55474" y="55474"/>
                </a:cubicBezTo>
                <a:cubicBezTo>
                  <a:pt x="77663" y="55474"/>
                  <a:pt x="105400" y="42160"/>
                  <a:pt x="124705" y="25296"/>
                </a:cubicBezTo>
                <a:cubicBezTo>
                  <a:pt x="129561" y="21147"/>
                  <a:pt x="136713" y="21147"/>
                  <a:pt x="141569" y="25296"/>
                </a:cubicBezTo>
                <a:cubicBezTo>
                  <a:pt x="160984" y="42271"/>
                  <a:pt x="188610" y="55474"/>
                  <a:pt x="210800" y="55474"/>
                </a:cubicBezTo>
                <a:cubicBezTo>
                  <a:pt x="216927" y="55474"/>
                  <a:pt x="221894" y="60441"/>
                  <a:pt x="221894" y="66568"/>
                </a:cubicBezTo>
                <a:close/>
                <a:moveTo>
                  <a:pt x="99852" y="133137"/>
                </a:moveTo>
                <a:lnTo>
                  <a:pt x="122042" y="155326"/>
                </a:lnTo>
                <a:lnTo>
                  <a:pt x="166421" y="110947"/>
                </a:lnTo>
              </a:path>
            </a:pathLst>
          </a:custGeom>
          <a:noFill/>
          <a:ln w="22189" cap="rnd">
            <a:solidFill>
              <a:srgbClr val="0A6648"/>
            </a:solidFill>
            <a:prstDash val="solid"/>
            <a:round/>
          </a:ln>
        </p:spPr>
      </p:sp>
      <p:sp>
        <p:nvSpPr>
          <p:cNvPr id="14" name="Text 12"/>
          <p:cNvSpPr/>
          <p:nvPr/>
        </p:nvSpPr>
        <p:spPr>
          <a:xfrm>
            <a:off x="1517904" y="2322576"/>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Resiliencia</a:t>
            </a:r>
            <a:endParaRPr lang="en-US" sz="1500" dirty="0"/>
          </a:p>
        </p:txBody>
      </p:sp>
      <p:sp>
        <p:nvSpPr>
          <p:cNvPr id="15" name="Shape 13"/>
          <p:cNvSpPr/>
          <p:nvPr/>
        </p:nvSpPr>
        <p:spPr>
          <a:xfrm>
            <a:off x="4140961" y="2395728"/>
            <a:ext cx="0" cy="473659"/>
          </a:xfrm>
          <a:prstGeom prst="line">
            <a:avLst/>
          </a:prstGeom>
          <a:noFill/>
          <a:ln w="9525">
            <a:solidFill>
              <a:srgbClr val="DFE6F0"/>
            </a:solidFill>
            <a:prstDash val="solid"/>
          </a:ln>
        </p:spPr>
      </p:sp>
      <p:sp>
        <p:nvSpPr>
          <p:cNvPr id="16" name="Text 14"/>
          <p:cNvSpPr/>
          <p:nvPr/>
        </p:nvSpPr>
        <p:spPr>
          <a:xfrm>
            <a:off x="4268977" y="2322576"/>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Outbox, reintentos e idempotencia</a:t>
            </a:r>
            <a:endParaRPr lang="en-US" sz="1400" dirty="0"/>
          </a:p>
        </p:txBody>
      </p:sp>
      <p:sp>
        <p:nvSpPr>
          <p:cNvPr id="17" name="Shape 15"/>
          <p:cNvSpPr/>
          <p:nvPr/>
        </p:nvSpPr>
        <p:spPr>
          <a:xfrm>
            <a:off x="8114733" y="2395728"/>
            <a:ext cx="0" cy="473659"/>
          </a:xfrm>
          <a:prstGeom prst="line">
            <a:avLst/>
          </a:prstGeom>
          <a:noFill/>
          <a:ln w="9525">
            <a:solidFill>
              <a:srgbClr val="DFE6F0"/>
            </a:solidFill>
            <a:prstDash val="solid"/>
          </a:ln>
        </p:spPr>
      </p:sp>
      <p:sp>
        <p:nvSpPr>
          <p:cNvPr id="18" name="Text 16"/>
          <p:cNvSpPr/>
          <p:nvPr/>
        </p:nvSpPr>
        <p:spPr>
          <a:xfrm>
            <a:off x="8242749" y="2322576"/>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0 avisos perdidos o duplicados ante caídas</a:t>
            </a:r>
            <a:endParaRPr lang="en-US" sz="1400" dirty="0"/>
          </a:p>
        </p:txBody>
      </p:sp>
      <p:sp>
        <p:nvSpPr>
          <p:cNvPr id="19" name="Shape 17"/>
          <p:cNvSpPr/>
          <p:nvPr/>
        </p:nvSpPr>
        <p:spPr>
          <a:xfrm>
            <a:off x="612648" y="3107131"/>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0" name="Shape 18"/>
          <p:cNvSpPr/>
          <p:nvPr/>
        </p:nvSpPr>
        <p:spPr>
          <a:xfrm>
            <a:off x="612648" y="3198571"/>
            <a:ext cx="64008" cy="546811"/>
          </a:xfrm>
          <a:prstGeom prst="rect">
            <a:avLst/>
          </a:prstGeom>
          <a:solidFill>
            <a:srgbClr val="0B6E8A"/>
          </a:solidFill>
          <a:ln w="12700">
            <a:solidFill>
              <a:srgbClr val="0B6E8A"/>
            </a:solidFill>
            <a:prstDash val="solid"/>
          </a:ln>
        </p:spPr>
      </p:sp>
      <p:sp>
        <p:nvSpPr>
          <p:cNvPr id="21" name="Shape 19"/>
          <p:cNvSpPr/>
          <p:nvPr/>
        </p:nvSpPr>
        <p:spPr>
          <a:xfrm>
            <a:off x="772668" y="3215945"/>
            <a:ext cx="512064" cy="512064"/>
          </a:xfrm>
          <a:prstGeom prst="ellipse">
            <a:avLst/>
          </a:prstGeom>
          <a:solidFill>
            <a:srgbClr val="E3F4FA"/>
          </a:solidFill>
          <a:ln w="12700">
            <a:solidFill>
              <a:srgbClr val="E3F4FA"/>
            </a:solidFill>
            <a:prstDash val="solid"/>
          </a:ln>
        </p:spPr>
      </p:sp>
      <p:sp>
        <p:nvSpPr>
          <p:cNvPr id="22" name="Icono container"/>
          <p:cNvSpPr/>
          <p:nvPr/>
        </p:nvSpPr>
        <p:spPr>
          <a:xfrm>
            <a:off x="895563" y="3338840"/>
            <a:ext cx="266273" cy="266273"/>
          </a:xfrm>
          <a:custGeom>
            <a:avLst/>
            <a:gdLst/>
            <a:ahLst/>
            <a:cxnLst/>
            <a:rect l="l" t="t" r="r" b="b"/>
            <a:pathLst>
              <a:path w="266273" h="266273">
                <a:moveTo>
                  <a:pt x="244084" y="85429"/>
                </a:moveTo>
                <a:cubicBezTo>
                  <a:pt x="244084" y="78773"/>
                  <a:pt x="239646" y="72116"/>
                  <a:pt x="235208" y="68787"/>
                </a:cubicBezTo>
                <a:lnTo>
                  <a:pt x="165311" y="25518"/>
                </a:lnTo>
                <a:cubicBezTo>
                  <a:pt x="159464" y="22194"/>
                  <a:pt x="152298" y="22194"/>
                  <a:pt x="146450" y="25518"/>
                </a:cubicBezTo>
                <a:lnTo>
                  <a:pt x="32175" y="92086"/>
                </a:lnTo>
                <a:cubicBezTo>
                  <a:pt x="26627" y="94305"/>
                  <a:pt x="22189" y="100962"/>
                  <a:pt x="22189" y="107619"/>
                </a:cubicBezTo>
                <a:lnTo>
                  <a:pt x="22189" y="180844"/>
                </a:lnTo>
                <a:cubicBezTo>
                  <a:pt x="22189" y="186391"/>
                  <a:pt x="26627" y="194158"/>
                  <a:pt x="31065" y="197486"/>
                </a:cubicBezTo>
                <a:lnTo>
                  <a:pt x="100962" y="240755"/>
                </a:lnTo>
                <a:cubicBezTo>
                  <a:pt x="106810" y="244080"/>
                  <a:pt x="113975" y="244080"/>
                  <a:pt x="119823" y="240755"/>
                </a:cubicBezTo>
                <a:lnTo>
                  <a:pt x="234099" y="174187"/>
                </a:lnTo>
                <a:cubicBezTo>
                  <a:pt x="239646" y="170859"/>
                  <a:pt x="244084" y="163092"/>
                  <a:pt x="244084" y="157545"/>
                </a:cubicBezTo>
                <a:close/>
                <a:moveTo>
                  <a:pt x="110947" y="242974"/>
                </a:moveTo>
                <a:lnTo>
                  <a:pt x="110947" y="155326"/>
                </a:lnTo>
                <a:lnTo>
                  <a:pt x="23299" y="100962"/>
                </a:lnTo>
                <a:moveTo>
                  <a:pt x="110947" y="155326"/>
                </a:moveTo>
                <a:lnTo>
                  <a:pt x="242974" y="78773"/>
                </a:lnTo>
                <a:moveTo>
                  <a:pt x="155326" y="219675"/>
                </a:moveTo>
                <a:lnTo>
                  <a:pt x="155326" y="129808"/>
                </a:lnTo>
                <a:moveTo>
                  <a:pt x="199705" y="194158"/>
                </a:moveTo>
                <a:lnTo>
                  <a:pt x="199705" y="104290"/>
                </a:lnTo>
              </a:path>
            </a:pathLst>
          </a:custGeom>
          <a:noFill/>
          <a:ln w="22189" cap="rnd">
            <a:solidFill>
              <a:srgbClr val="0B6E8A"/>
            </a:solidFill>
            <a:prstDash val="solid"/>
            <a:round/>
          </a:ln>
        </p:spPr>
      </p:sp>
      <p:sp>
        <p:nvSpPr>
          <p:cNvPr id="23" name="Text 21"/>
          <p:cNvSpPr/>
          <p:nvPr/>
        </p:nvSpPr>
        <p:spPr>
          <a:xfrm>
            <a:off x="1517904" y="3161995"/>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B6E8A"/>
                </a:solidFill>
                <a:latin typeface="Segoe UI Semibold" pitchFamily="34" charset="0"/>
                <a:ea typeface="Segoe UI Semibold" pitchFamily="34" charset="-122"/>
                <a:cs typeface="Segoe UI Semibold" pitchFamily="34" charset="-120"/>
              </a:rPr>
              <a:t>Reproducibilidad</a:t>
            </a:r>
            <a:endParaRPr lang="en-US" sz="1500" dirty="0"/>
          </a:p>
        </p:txBody>
      </p:sp>
      <p:sp>
        <p:nvSpPr>
          <p:cNvPr id="24" name="Shape 22"/>
          <p:cNvSpPr/>
          <p:nvPr/>
        </p:nvSpPr>
        <p:spPr>
          <a:xfrm>
            <a:off x="4140961" y="3235147"/>
            <a:ext cx="0" cy="473659"/>
          </a:xfrm>
          <a:prstGeom prst="line">
            <a:avLst/>
          </a:prstGeom>
          <a:noFill/>
          <a:ln w="9525">
            <a:solidFill>
              <a:srgbClr val="DFE6F0"/>
            </a:solidFill>
            <a:prstDash val="solid"/>
          </a:ln>
        </p:spPr>
      </p:sp>
      <p:sp>
        <p:nvSpPr>
          <p:cNvPr id="25" name="Text 23"/>
          <p:cNvSpPr/>
          <p:nvPr/>
        </p:nvSpPr>
        <p:spPr>
          <a:xfrm>
            <a:off x="4268977" y="3161995"/>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Docker, Compose y Kubernetes</a:t>
            </a:r>
            <a:endParaRPr lang="en-US" sz="1400" dirty="0"/>
          </a:p>
        </p:txBody>
      </p:sp>
      <p:sp>
        <p:nvSpPr>
          <p:cNvPr id="26" name="Shape 24"/>
          <p:cNvSpPr/>
          <p:nvPr/>
        </p:nvSpPr>
        <p:spPr>
          <a:xfrm>
            <a:off x="8114733" y="3235147"/>
            <a:ext cx="0" cy="473659"/>
          </a:xfrm>
          <a:prstGeom prst="line">
            <a:avLst/>
          </a:prstGeom>
          <a:noFill/>
          <a:ln w="9525">
            <a:solidFill>
              <a:srgbClr val="DFE6F0"/>
            </a:solidFill>
            <a:prstDash val="solid"/>
          </a:ln>
        </p:spPr>
      </p:sp>
      <p:sp>
        <p:nvSpPr>
          <p:cNvPr id="27" name="Text 25"/>
          <p:cNvSpPr/>
          <p:nvPr/>
        </p:nvSpPr>
        <p:spPr>
          <a:xfrm>
            <a:off x="8242749" y="3161995"/>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1 comando y la misma imagen en todo ambiente</a:t>
            </a:r>
            <a:endParaRPr lang="en-US" sz="1400" dirty="0"/>
          </a:p>
        </p:txBody>
      </p:sp>
      <p:sp>
        <p:nvSpPr>
          <p:cNvPr id="28" name="Shape 26"/>
          <p:cNvSpPr/>
          <p:nvPr/>
        </p:nvSpPr>
        <p:spPr>
          <a:xfrm>
            <a:off x="612648" y="394655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9" name="Shape 27"/>
          <p:cNvSpPr/>
          <p:nvPr/>
        </p:nvSpPr>
        <p:spPr>
          <a:xfrm>
            <a:off x="612648" y="4037990"/>
            <a:ext cx="64008" cy="546811"/>
          </a:xfrm>
          <a:prstGeom prst="rect">
            <a:avLst/>
          </a:prstGeom>
          <a:solidFill>
            <a:srgbClr val="0B2350"/>
          </a:solidFill>
          <a:ln w="12700">
            <a:solidFill>
              <a:srgbClr val="0B2350"/>
            </a:solidFill>
            <a:prstDash val="solid"/>
          </a:ln>
        </p:spPr>
      </p:sp>
      <p:sp>
        <p:nvSpPr>
          <p:cNvPr id="30" name="Shape 28"/>
          <p:cNvSpPr/>
          <p:nvPr/>
        </p:nvSpPr>
        <p:spPr>
          <a:xfrm>
            <a:off x="772668" y="4055364"/>
            <a:ext cx="512064" cy="512064"/>
          </a:xfrm>
          <a:prstGeom prst="ellipse">
            <a:avLst/>
          </a:prstGeom>
          <a:solidFill>
            <a:srgbClr val="E8EEF8"/>
          </a:solidFill>
          <a:ln w="12700">
            <a:solidFill>
              <a:srgbClr val="E8EEF8"/>
            </a:solidFill>
            <a:prstDash val="solid"/>
          </a:ln>
        </p:spPr>
      </p:sp>
      <p:sp>
        <p:nvSpPr>
          <p:cNvPr id="31" name="Icono flask-conical"/>
          <p:cNvSpPr/>
          <p:nvPr/>
        </p:nvSpPr>
        <p:spPr>
          <a:xfrm>
            <a:off x="895563" y="4178259"/>
            <a:ext cx="266273" cy="266273"/>
          </a:xfrm>
          <a:custGeom>
            <a:avLst/>
            <a:gdLst/>
            <a:ahLst/>
            <a:cxnLst/>
            <a:rect l="l" t="t" r="r" b="b"/>
            <a:pathLst>
              <a:path w="266273" h="266273">
                <a:moveTo>
                  <a:pt x="155326" y="22189"/>
                </a:moveTo>
                <a:lnTo>
                  <a:pt x="155326" y="88758"/>
                </a:lnTo>
                <a:cubicBezTo>
                  <a:pt x="155325" y="92480"/>
                  <a:pt x="156259" y="96143"/>
                  <a:pt x="158044" y="99409"/>
                </a:cubicBezTo>
                <a:lnTo>
                  <a:pt x="219176" y="211243"/>
                </a:lnTo>
                <a:cubicBezTo>
                  <a:pt x="222938" y="218119"/>
                  <a:pt x="222794" y="226469"/>
                  <a:pt x="218797" y="233211"/>
                </a:cubicBezTo>
                <a:cubicBezTo>
                  <a:pt x="214800" y="239953"/>
                  <a:pt x="207543" y="244086"/>
                  <a:pt x="199705" y="244084"/>
                </a:cubicBezTo>
                <a:lnTo>
                  <a:pt x="66568" y="244084"/>
                </a:lnTo>
                <a:cubicBezTo>
                  <a:pt x="58731" y="244086"/>
                  <a:pt x="51474" y="239953"/>
                  <a:pt x="47476" y="233211"/>
                </a:cubicBezTo>
                <a:cubicBezTo>
                  <a:pt x="43479" y="226469"/>
                  <a:pt x="43335" y="218119"/>
                  <a:pt x="47097" y="211243"/>
                </a:cubicBezTo>
                <a:lnTo>
                  <a:pt x="108229" y="99409"/>
                </a:lnTo>
                <a:cubicBezTo>
                  <a:pt x="110014" y="96143"/>
                  <a:pt x="110949" y="92480"/>
                  <a:pt x="110947" y="88758"/>
                </a:cubicBezTo>
                <a:lnTo>
                  <a:pt x="110947" y="22189"/>
                </a:lnTo>
                <a:moveTo>
                  <a:pt x="71594" y="166421"/>
                </a:moveTo>
                <a:lnTo>
                  <a:pt x="194679" y="166421"/>
                </a:lnTo>
                <a:moveTo>
                  <a:pt x="94305" y="22189"/>
                </a:moveTo>
                <a:lnTo>
                  <a:pt x="171968" y="22189"/>
                </a:lnTo>
              </a:path>
            </a:pathLst>
          </a:custGeom>
          <a:noFill/>
          <a:ln w="22189" cap="rnd">
            <a:solidFill>
              <a:srgbClr val="0B2350"/>
            </a:solidFill>
            <a:prstDash val="solid"/>
            <a:round/>
          </a:ln>
        </p:spPr>
      </p:sp>
      <p:sp>
        <p:nvSpPr>
          <p:cNvPr id="32" name="Text 30"/>
          <p:cNvSpPr/>
          <p:nvPr/>
        </p:nvSpPr>
        <p:spPr>
          <a:xfrm>
            <a:off x="1517904" y="400141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Calidad</a:t>
            </a:r>
            <a:endParaRPr lang="en-US" sz="1500" dirty="0"/>
          </a:p>
        </p:txBody>
      </p:sp>
      <p:sp>
        <p:nvSpPr>
          <p:cNvPr id="33" name="Shape 31"/>
          <p:cNvSpPr/>
          <p:nvPr/>
        </p:nvSpPr>
        <p:spPr>
          <a:xfrm>
            <a:off x="4140961" y="4074566"/>
            <a:ext cx="0" cy="473659"/>
          </a:xfrm>
          <a:prstGeom prst="line">
            <a:avLst/>
          </a:prstGeom>
          <a:noFill/>
          <a:ln w="9525">
            <a:solidFill>
              <a:srgbClr val="DFE6F0"/>
            </a:solidFill>
            <a:prstDash val="solid"/>
          </a:ln>
        </p:spPr>
      </p:sp>
      <p:sp>
        <p:nvSpPr>
          <p:cNvPr id="34" name="Text 32"/>
          <p:cNvSpPr/>
          <p:nvPr/>
        </p:nvSpPr>
        <p:spPr>
          <a:xfrm>
            <a:off x="4268977" y="400141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67 pruebas y pipeline por PR</a:t>
            </a:r>
            <a:endParaRPr lang="en-US" sz="1400" dirty="0"/>
          </a:p>
        </p:txBody>
      </p:sp>
      <p:sp>
        <p:nvSpPr>
          <p:cNvPr id="35" name="Shape 33"/>
          <p:cNvSpPr/>
          <p:nvPr/>
        </p:nvSpPr>
        <p:spPr>
          <a:xfrm>
            <a:off x="8114733" y="4074566"/>
            <a:ext cx="0" cy="473659"/>
          </a:xfrm>
          <a:prstGeom prst="line">
            <a:avLst/>
          </a:prstGeom>
          <a:noFill/>
          <a:ln w="9525">
            <a:solidFill>
              <a:srgbClr val="DFE6F0"/>
            </a:solidFill>
            <a:prstDash val="solid"/>
          </a:ln>
        </p:spPr>
      </p:sp>
      <p:sp>
        <p:nvSpPr>
          <p:cNvPr id="36" name="Text 34"/>
          <p:cNvSpPr/>
          <p:nvPr/>
        </p:nvSpPr>
        <p:spPr>
          <a:xfrm>
            <a:off x="8242749" y="400141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Errores detectados en minutos, antes de integrar</a:t>
            </a:r>
            <a:endParaRPr lang="en-US" sz="1400" dirty="0"/>
          </a:p>
        </p:txBody>
      </p:sp>
      <p:sp>
        <p:nvSpPr>
          <p:cNvPr id="37" name="Shape 35"/>
          <p:cNvSpPr/>
          <p:nvPr/>
        </p:nvSpPr>
        <p:spPr>
          <a:xfrm>
            <a:off x="612648" y="478597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8" name="Shape 36"/>
          <p:cNvSpPr/>
          <p:nvPr/>
        </p:nvSpPr>
        <p:spPr>
          <a:xfrm>
            <a:off x="612648" y="4877410"/>
            <a:ext cx="64008" cy="546811"/>
          </a:xfrm>
          <a:prstGeom prst="rect">
            <a:avLst/>
          </a:prstGeom>
          <a:solidFill>
            <a:srgbClr val="8A4B06"/>
          </a:solidFill>
          <a:ln w="12700">
            <a:solidFill>
              <a:srgbClr val="8A4B06"/>
            </a:solidFill>
            <a:prstDash val="solid"/>
          </a:ln>
        </p:spPr>
      </p:sp>
      <p:sp>
        <p:nvSpPr>
          <p:cNvPr id="39" name="Shape 37"/>
          <p:cNvSpPr/>
          <p:nvPr/>
        </p:nvSpPr>
        <p:spPr>
          <a:xfrm>
            <a:off x="772668" y="4894783"/>
            <a:ext cx="512064" cy="512064"/>
          </a:xfrm>
          <a:prstGeom prst="ellipse">
            <a:avLst/>
          </a:prstGeom>
          <a:solidFill>
            <a:srgbClr val="FCEFD6"/>
          </a:solidFill>
          <a:ln w="12700">
            <a:solidFill>
              <a:srgbClr val="FCEFD6"/>
            </a:solidFill>
            <a:prstDash val="solid"/>
          </a:ln>
        </p:spPr>
      </p:sp>
      <p:sp>
        <p:nvSpPr>
          <p:cNvPr id="40" name="Icono waypoints"/>
          <p:cNvSpPr/>
          <p:nvPr/>
        </p:nvSpPr>
        <p:spPr>
          <a:xfrm>
            <a:off x="895563" y="5017679"/>
            <a:ext cx="266273" cy="266273"/>
          </a:xfrm>
          <a:custGeom>
            <a:avLst/>
            <a:gdLst/>
            <a:ahLst/>
            <a:cxnLst/>
            <a:rect l="l" t="t" r="r" b="b"/>
            <a:pathLst>
              <a:path w="266273" h="266273">
                <a:moveTo>
                  <a:pt x="160873" y="49926"/>
                </a:moveTo>
                <a:cubicBezTo>
                  <a:pt x="160873" y="65245"/>
                  <a:pt x="148455" y="77663"/>
                  <a:pt x="133137" y="77663"/>
                </a:cubicBezTo>
                <a:cubicBezTo>
                  <a:pt x="117818" y="77663"/>
                  <a:pt x="105400" y="65245"/>
                  <a:pt x="105400" y="49926"/>
                </a:cubicBezTo>
                <a:cubicBezTo>
                  <a:pt x="105400" y="34608"/>
                  <a:pt x="117818" y="22189"/>
                  <a:pt x="133137" y="22189"/>
                </a:cubicBezTo>
                <a:cubicBezTo>
                  <a:pt x="148455" y="22189"/>
                  <a:pt x="160873" y="34608"/>
                  <a:pt x="160873" y="49926"/>
                </a:cubicBezTo>
                <a:close/>
                <a:moveTo>
                  <a:pt x="113166" y="69897"/>
                </a:moveTo>
                <a:lnTo>
                  <a:pt x="69897" y="113166"/>
                </a:lnTo>
                <a:moveTo>
                  <a:pt x="77663" y="133137"/>
                </a:moveTo>
                <a:cubicBezTo>
                  <a:pt x="77663" y="148455"/>
                  <a:pt x="65245" y="160873"/>
                  <a:pt x="49926" y="160873"/>
                </a:cubicBezTo>
                <a:cubicBezTo>
                  <a:pt x="34608" y="160873"/>
                  <a:pt x="22189" y="148455"/>
                  <a:pt x="22189" y="133137"/>
                </a:cubicBezTo>
                <a:cubicBezTo>
                  <a:pt x="22189" y="117818"/>
                  <a:pt x="34608" y="105400"/>
                  <a:pt x="49926" y="105400"/>
                </a:cubicBezTo>
                <a:cubicBezTo>
                  <a:pt x="65245" y="105400"/>
                  <a:pt x="77663" y="117818"/>
                  <a:pt x="77663" y="133137"/>
                </a:cubicBezTo>
                <a:close/>
                <a:moveTo>
                  <a:pt x="77663" y="133137"/>
                </a:moveTo>
                <a:lnTo>
                  <a:pt x="188610" y="133137"/>
                </a:lnTo>
                <a:moveTo>
                  <a:pt x="244084" y="133137"/>
                </a:moveTo>
                <a:cubicBezTo>
                  <a:pt x="244084" y="148455"/>
                  <a:pt x="231666" y="160873"/>
                  <a:pt x="216347" y="160873"/>
                </a:cubicBezTo>
                <a:cubicBezTo>
                  <a:pt x="201028" y="160873"/>
                  <a:pt x="188610" y="148455"/>
                  <a:pt x="188610" y="133137"/>
                </a:cubicBezTo>
                <a:cubicBezTo>
                  <a:pt x="188610" y="117818"/>
                  <a:pt x="201028" y="105400"/>
                  <a:pt x="216347" y="105400"/>
                </a:cubicBezTo>
                <a:cubicBezTo>
                  <a:pt x="231666" y="105400"/>
                  <a:pt x="244084" y="117818"/>
                  <a:pt x="244084" y="133137"/>
                </a:cubicBezTo>
                <a:close/>
                <a:moveTo>
                  <a:pt x="153107" y="196377"/>
                </a:moveTo>
                <a:lnTo>
                  <a:pt x="196377" y="153107"/>
                </a:lnTo>
                <a:moveTo>
                  <a:pt x="160873" y="216347"/>
                </a:moveTo>
                <a:cubicBezTo>
                  <a:pt x="160873" y="231666"/>
                  <a:pt x="148455" y="244084"/>
                  <a:pt x="133137" y="244084"/>
                </a:cubicBezTo>
                <a:cubicBezTo>
                  <a:pt x="117818" y="244084"/>
                  <a:pt x="105400" y="231666"/>
                  <a:pt x="105400" y="216347"/>
                </a:cubicBezTo>
                <a:cubicBezTo>
                  <a:pt x="105400" y="201028"/>
                  <a:pt x="117818" y="188610"/>
                  <a:pt x="133137" y="188610"/>
                </a:cubicBezTo>
                <a:cubicBezTo>
                  <a:pt x="148455" y="188610"/>
                  <a:pt x="160873" y="201028"/>
                  <a:pt x="160873" y="216347"/>
                </a:cubicBezTo>
                <a:close/>
              </a:path>
            </a:pathLst>
          </a:custGeom>
          <a:noFill/>
          <a:ln w="22189" cap="rnd">
            <a:solidFill>
              <a:srgbClr val="8A4B06"/>
            </a:solidFill>
            <a:prstDash val="solid"/>
            <a:round/>
          </a:ln>
        </p:spPr>
      </p:sp>
      <p:sp>
        <p:nvSpPr>
          <p:cNvPr id="41" name="Text 39"/>
          <p:cNvSpPr/>
          <p:nvPr/>
        </p:nvSpPr>
        <p:spPr>
          <a:xfrm>
            <a:off x="1517904" y="484083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Trazabilidad</a:t>
            </a:r>
            <a:endParaRPr lang="en-US" sz="1500" dirty="0"/>
          </a:p>
        </p:txBody>
      </p:sp>
      <p:sp>
        <p:nvSpPr>
          <p:cNvPr id="42" name="Shape 40"/>
          <p:cNvSpPr/>
          <p:nvPr/>
        </p:nvSpPr>
        <p:spPr>
          <a:xfrm>
            <a:off x="4140961" y="4913986"/>
            <a:ext cx="0" cy="473659"/>
          </a:xfrm>
          <a:prstGeom prst="line">
            <a:avLst/>
          </a:prstGeom>
          <a:noFill/>
          <a:ln w="9525">
            <a:solidFill>
              <a:srgbClr val="DFE6F0"/>
            </a:solidFill>
            <a:prstDash val="solid"/>
          </a:ln>
        </p:spPr>
      </p:sp>
      <p:sp>
        <p:nvSpPr>
          <p:cNvPr id="43" name="Text 41"/>
          <p:cNvSpPr/>
          <p:nvPr/>
        </p:nvSpPr>
        <p:spPr>
          <a:xfrm>
            <a:off x="4268977" y="484083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Logs centralizados, traceId e imagen por SHA</a:t>
            </a:r>
            <a:endParaRPr lang="en-US" sz="1400" dirty="0"/>
          </a:p>
        </p:txBody>
      </p:sp>
      <p:sp>
        <p:nvSpPr>
          <p:cNvPr id="44" name="Shape 42"/>
          <p:cNvSpPr/>
          <p:nvPr/>
        </p:nvSpPr>
        <p:spPr>
          <a:xfrm>
            <a:off x="8114733" y="4913986"/>
            <a:ext cx="0" cy="473659"/>
          </a:xfrm>
          <a:prstGeom prst="line">
            <a:avLst/>
          </a:prstGeom>
          <a:noFill/>
          <a:ln w="9525">
            <a:solidFill>
              <a:srgbClr val="DFE6F0"/>
            </a:solidFill>
            <a:prstDash val="solid"/>
          </a:ln>
        </p:spPr>
      </p:sp>
      <p:sp>
        <p:nvSpPr>
          <p:cNvPr id="45" name="Text 43"/>
          <p:cNvSpPr/>
          <p:nvPr/>
        </p:nvSpPr>
        <p:spPr>
          <a:xfrm>
            <a:off x="8242749" y="484083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Diagnóstico en minutos y versiones rastreables</a:t>
            </a:r>
            <a:endParaRPr lang="en-US" sz="1400" dirty="0"/>
          </a:p>
        </p:txBody>
      </p:sp>
      <p:sp>
        <p:nvSpPr>
          <p:cNvPr id="46" name="Shape 44"/>
          <p:cNvSpPr/>
          <p:nvPr/>
        </p:nvSpPr>
        <p:spPr>
          <a:xfrm>
            <a:off x="612648" y="5625389"/>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7" name="Shape 45"/>
          <p:cNvSpPr/>
          <p:nvPr/>
        </p:nvSpPr>
        <p:spPr>
          <a:xfrm>
            <a:off x="612648" y="5716829"/>
            <a:ext cx="64008" cy="546811"/>
          </a:xfrm>
          <a:prstGeom prst="rect">
            <a:avLst/>
          </a:prstGeom>
          <a:solidFill>
            <a:srgbClr val="5B3FC4"/>
          </a:solidFill>
          <a:ln w="12700">
            <a:solidFill>
              <a:srgbClr val="5B3FC4"/>
            </a:solidFill>
            <a:prstDash val="solid"/>
          </a:ln>
        </p:spPr>
      </p:sp>
      <p:sp>
        <p:nvSpPr>
          <p:cNvPr id="48" name="Shape 46"/>
          <p:cNvSpPr/>
          <p:nvPr/>
        </p:nvSpPr>
        <p:spPr>
          <a:xfrm>
            <a:off x="772668" y="5734202"/>
            <a:ext cx="512064" cy="512064"/>
          </a:xfrm>
          <a:prstGeom prst="ellipse">
            <a:avLst/>
          </a:prstGeom>
          <a:solidFill>
            <a:srgbClr val="F1EEFD"/>
          </a:solidFill>
          <a:ln w="12700">
            <a:solidFill>
              <a:srgbClr val="F1EEFD"/>
            </a:solidFill>
            <a:prstDash val="solid"/>
          </a:ln>
        </p:spPr>
      </p:sp>
      <p:sp>
        <p:nvSpPr>
          <p:cNvPr id="49" name="Icono file-json"/>
          <p:cNvSpPr/>
          <p:nvPr/>
        </p:nvSpPr>
        <p:spPr>
          <a:xfrm>
            <a:off x="895563" y="5857098"/>
            <a:ext cx="266273" cy="266273"/>
          </a:xfrm>
          <a:custGeom>
            <a:avLst/>
            <a:gdLst/>
            <a:ahLst/>
            <a:cxnLst/>
            <a:rect l="l" t="t" r="r" b="b"/>
            <a:pathLst>
              <a:path w="266273" h="266273">
                <a:moveTo>
                  <a:pt x="166421" y="22189"/>
                </a:moveTo>
                <a:lnTo>
                  <a:pt x="66568" y="22189"/>
                </a:lnTo>
                <a:cubicBezTo>
                  <a:pt x="54313" y="22189"/>
                  <a:pt x="44379" y="32124"/>
                  <a:pt x="44379" y="44379"/>
                </a:cubicBezTo>
                <a:lnTo>
                  <a:pt x="44379" y="221894"/>
                </a:lnTo>
                <a:cubicBezTo>
                  <a:pt x="44379" y="234149"/>
                  <a:pt x="54313" y="244084"/>
                  <a:pt x="66568" y="244084"/>
                </a:cubicBezTo>
                <a:lnTo>
                  <a:pt x="199705" y="244084"/>
                </a:lnTo>
                <a:cubicBezTo>
                  <a:pt x="211960" y="244084"/>
                  <a:pt x="221894" y="234149"/>
                  <a:pt x="221894" y="221894"/>
                </a:cubicBezTo>
                <a:lnTo>
                  <a:pt x="221894" y="77663"/>
                </a:lnTo>
                <a:close/>
                <a:moveTo>
                  <a:pt x="155326" y="22189"/>
                </a:moveTo>
                <a:lnTo>
                  <a:pt x="155326" y="66568"/>
                </a:lnTo>
                <a:cubicBezTo>
                  <a:pt x="155326" y="78823"/>
                  <a:pt x="165261" y="88758"/>
                  <a:pt x="177516" y="88758"/>
                </a:cubicBezTo>
                <a:lnTo>
                  <a:pt x="221894" y="88758"/>
                </a:lnTo>
                <a:moveTo>
                  <a:pt x="110947" y="133137"/>
                </a:moveTo>
                <a:cubicBezTo>
                  <a:pt x="104820" y="133137"/>
                  <a:pt x="99852" y="138104"/>
                  <a:pt x="99852" y="144231"/>
                </a:cubicBezTo>
                <a:lnTo>
                  <a:pt x="99852" y="155326"/>
                </a:lnTo>
                <a:cubicBezTo>
                  <a:pt x="99852" y="161454"/>
                  <a:pt x="94885" y="166421"/>
                  <a:pt x="88758" y="166421"/>
                </a:cubicBezTo>
                <a:cubicBezTo>
                  <a:pt x="94885" y="166421"/>
                  <a:pt x="99852" y="171388"/>
                  <a:pt x="99852" y="177516"/>
                </a:cubicBezTo>
                <a:lnTo>
                  <a:pt x="99852" y="188610"/>
                </a:lnTo>
                <a:cubicBezTo>
                  <a:pt x="99852" y="194738"/>
                  <a:pt x="104820" y="199705"/>
                  <a:pt x="110947" y="199705"/>
                </a:cubicBezTo>
                <a:moveTo>
                  <a:pt x="155326" y="199705"/>
                </a:moveTo>
                <a:cubicBezTo>
                  <a:pt x="161454" y="199705"/>
                  <a:pt x="166421" y="194738"/>
                  <a:pt x="166421" y="188610"/>
                </a:cubicBezTo>
                <a:lnTo>
                  <a:pt x="166421" y="177516"/>
                </a:lnTo>
                <a:cubicBezTo>
                  <a:pt x="166421" y="171388"/>
                  <a:pt x="171388" y="166421"/>
                  <a:pt x="177516" y="166421"/>
                </a:cubicBezTo>
                <a:cubicBezTo>
                  <a:pt x="171388" y="166421"/>
                  <a:pt x="166421" y="161454"/>
                  <a:pt x="166421" y="155326"/>
                </a:cubicBezTo>
                <a:lnTo>
                  <a:pt x="166421" y="144231"/>
                </a:lnTo>
                <a:cubicBezTo>
                  <a:pt x="166421" y="138104"/>
                  <a:pt x="161454" y="133137"/>
                  <a:pt x="155326" y="133137"/>
                </a:cubicBezTo>
              </a:path>
            </a:pathLst>
          </a:custGeom>
          <a:noFill/>
          <a:ln w="22189" cap="rnd">
            <a:solidFill>
              <a:srgbClr val="5B3FC4"/>
            </a:solidFill>
            <a:prstDash val="solid"/>
            <a:round/>
          </a:ln>
        </p:spPr>
      </p:sp>
      <p:sp>
        <p:nvSpPr>
          <p:cNvPr id="50" name="Text 48"/>
          <p:cNvSpPr/>
          <p:nvPr/>
        </p:nvSpPr>
        <p:spPr>
          <a:xfrm>
            <a:off x="1517904" y="5680253"/>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Contratos y diseño</a:t>
            </a:r>
            <a:endParaRPr lang="en-US" sz="1500" dirty="0"/>
          </a:p>
        </p:txBody>
      </p:sp>
      <p:sp>
        <p:nvSpPr>
          <p:cNvPr id="51" name="Shape 49"/>
          <p:cNvSpPr/>
          <p:nvPr/>
        </p:nvSpPr>
        <p:spPr>
          <a:xfrm>
            <a:off x="4140961" y="5753405"/>
            <a:ext cx="0" cy="473659"/>
          </a:xfrm>
          <a:prstGeom prst="line">
            <a:avLst/>
          </a:prstGeom>
          <a:noFill/>
          <a:ln w="9525">
            <a:solidFill>
              <a:srgbClr val="DFE6F0"/>
            </a:solidFill>
            <a:prstDash val="solid"/>
          </a:ln>
        </p:spPr>
      </p:sp>
      <p:sp>
        <p:nvSpPr>
          <p:cNvPr id="52" name="Text 50"/>
          <p:cNvSpPr/>
          <p:nvPr/>
        </p:nvSpPr>
        <p:spPr>
          <a:xfrm>
            <a:off x="4268977" y="5680253"/>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OpenAPI generado y puertos y adaptadores</a:t>
            </a:r>
            <a:endParaRPr lang="en-US" sz="1400" dirty="0"/>
          </a:p>
        </p:txBody>
      </p:sp>
      <p:sp>
        <p:nvSpPr>
          <p:cNvPr id="53" name="Shape 51"/>
          <p:cNvSpPr/>
          <p:nvPr/>
        </p:nvSpPr>
        <p:spPr>
          <a:xfrm>
            <a:off x="8114733" y="5753405"/>
            <a:ext cx="0" cy="473659"/>
          </a:xfrm>
          <a:prstGeom prst="line">
            <a:avLst/>
          </a:prstGeom>
          <a:noFill/>
          <a:ln w="9525">
            <a:solidFill>
              <a:srgbClr val="DFE6F0"/>
            </a:solidFill>
            <a:prstDash val="solid"/>
          </a:ln>
        </p:spPr>
      </p:sp>
      <p:sp>
        <p:nvSpPr>
          <p:cNvPr id="54" name="Text 52"/>
          <p:cNvSpPr/>
          <p:nvPr/>
        </p:nvSpPr>
        <p:spPr>
          <a:xfrm>
            <a:off x="8242749" y="5680253"/>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Integraciones claras y tecnología intercambiable</a:t>
            </a:r>
            <a:endParaRPr lang="en-US" sz="1400" dirty="0"/>
          </a:p>
        </p:txBody>
      </p:sp>
      <p:sp>
        <p:nvSpPr>
          <p:cNvPr id="55" name="Text 5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VALOR Y CIERRE</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VALOR Y CIERRE</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Lo que nos llevamos</a:t>
            </a:r>
            <a:endParaRPr lang="en-US" sz="2800" dirty="0"/>
          </a:p>
        </p:txBody>
      </p:sp>
      <p:sp>
        <p:nvSpPr>
          <p:cNvPr id="5" name="Shape 3"/>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6" name="Shape 4"/>
          <p:cNvSpPr/>
          <p:nvPr/>
        </p:nvSpPr>
        <p:spPr>
          <a:xfrm>
            <a:off x="886968" y="1645920"/>
            <a:ext cx="713232" cy="713232"/>
          </a:xfrm>
          <a:prstGeom prst="ellipse">
            <a:avLst/>
          </a:prstGeom>
          <a:solidFill>
            <a:srgbClr val="2BA6CB"/>
          </a:solidFill>
          <a:ln w="12700">
            <a:solidFill>
              <a:srgbClr val="2BA6CB"/>
            </a:solidFill>
            <a:prstDash val="solid"/>
          </a:ln>
        </p:spPr>
      </p:sp>
      <p:sp>
        <p:nvSpPr>
          <p:cNvPr id="7" name="Icono graduation-cap"/>
          <p:cNvSpPr/>
          <p:nvPr/>
        </p:nvSpPr>
        <p:spPr>
          <a:xfrm>
            <a:off x="1058144" y="1817096"/>
            <a:ext cx="370881" cy="370881"/>
          </a:xfrm>
          <a:custGeom>
            <a:avLst/>
            <a:gdLst/>
            <a:ahLst/>
            <a:cxnLst/>
            <a:rect l="l" t="t" r="r" b="b"/>
            <a:pathLst>
              <a:path w="370881" h="370881">
                <a:moveTo>
                  <a:pt x="331011" y="168782"/>
                </a:moveTo>
                <a:cubicBezTo>
                  <a:pt x="336666" y="166287"/>
                  <a:pt x="340290" y="160663"/>
                  <a:pt x="340226" y="154483"/>
                </a:cubicBezTo>
                <a:cubicBezTo>
                  <a:pt x="340162" y="148303"/>
                  <a:pt x="336422" y="142755"/>
                  <a:pt x="330717" y="140378"/>
                </a:cubicBezTo>
                <a:lnTo>
                  <a:pt x="198267" y="80048"/>
                </a:lnTo>
                <a:cubicBezTo>
                  <a:pt x="190120" y="76332"/>
                  <a:pt x="180761" y="76332"/>
                  <a:pt x="172614" y="80048"/>
                </a:cubicBezTo>
                <a:lnTo>
                  <a:pt x="40179" y="140317"/>
                </a:lnTo>
                <a:cubicBezTo>
                  <a:pt x="34557" y="142779"/>
                  <a:pt x="30925" y="148334"/>
                  <a:pt x="30925" y="154472"/>
                </a:cubicBezTo>
                <a:cubicBezTo>
                  <a:pt x="30925" y="160609"/>
                  <a:pt x="34557" y="166165"/>
                  <a:pt x="40179" y="168627"/>
                </a:cubicBezTo>
                <a:lnTo>
                  <a:pt x="172614" y="229019"/>
                </a:lnTo>
                <a:cubicBezTo>
                  <a:pt x="180761" y="232735"/>
                  <a:pt x="190120" y="232735"/>
                  <a:pt x="198267" y="229019"/>
                </a:cubicBezTo>
                <a:close/>
                <a:moveTo>
                  <a:pt x="339974" y="154534"/>
                </a:moveTo>
                <a:lnTo>
                  <a:pt x="339974" y="247254"/>
                </a:lnTo>
                <a:moveTo>
                  <a:pt x="92720" y="193167"/>
                </a:moveTo>
                <a:lnTo>
                  <a:pt x="92720" y="247254"/>
                </a:lnTo>
                <a:cubicBezTo>
                  <a:pt x="92720" y="272858"/>
                  <a:pt x="134232" y="293614"/>
                  <a:pt x="185440" y="293614"/>
                </a:cubicBezTo>
                <a:cubicBezTo>
                  <a:pt x="236648" y="293614"/>
                  <a:pt x="278160" y="272858"/>
                  <a:pt x="278160" y="247254"/>
                </a:cubicBezTo>
                <a:lnTo>
                  <a:pt x="278160" y="193167"/>
                </a:lnTo>
              </a:path>
            </a:pathLst>
          </a:custGeom>
          <a:noFill/>
          <a:ln w="30907" cap="rnd">
            <a:solidFill>
              <a:srgbClr val="0B1F3A"/>
            </a:solidFill>
            <a:prstDash val="solid"/>
            <a:round/>
          </a:ln>
        </p:spPr>
      </p:sp>
      <p:sp>
        <p:nvSpPr>
          <p:cNvPr id="8" name="Text 6"/>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9" name="Text 7"/>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0</a:t>
            </a:r>
            <a:endParaRPr lang="en-US" sz="4700" dirty="0"/>
          </a:p>
        </p:txBody>
      </p:sp>
      <p:sp>
        <p:nvSpPr>
          <p:cNvPr id="10" name="Text 8"/>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avisos perdidos o duplicados</a:t>
            </a:r>
            <a:endParaRPr lang="en-US" sz="1300" dirty="0"/>
          </a:p>
        </p:txBody>
      </p:sp>
      <p:sp>
        <p:nvSpPr>
          <p:cNvPr id="11" name="Shape 9"/>
          <p:cNvSpPr/>
          <p:nvPr/>
        </p:nvSpPr>
        <p:spPr>
          <a:xfrm>
            <a:off x="886968" y="4489704"/>
            <a:ext cx="2423160" cy="0"/>
          </a:xfrm>
          <a:prstGeom prst="line">
            <a:avLst/>
          </a:prstGeom>
          <a:noFill/>
          <a:ln w="9525">
            <a:solidFill>
              <a:srgbClr val="3C4C61"/>
            </a:solidFill>
            <a:prstDash val="solid"/>
          </a:ln>
        </p:spPr>
      </p:sp>
      <p:sp>
        <p:nvSpPr>
          <p:cNvPr id="12" name="Text 10"/>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67</a:t>
            </a:r>
            <a:endParaRPr lang="en-US" sz="4700" dirty="0"/>
          </a:p>
        </p:txBody>
      </p:sp>
      <p:sp>
        <p:nvSpPr>
          <p:cNvPr id="13" name="Text 11"/>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pruebas en cada cambio</a:t>
            </a:r>
            <a:endParaRPr lang="en-US" sz="1300" dirty="0"/>
          </a:p>
        </p:txBody>
      </p:sp>
      <p:sp>
        <p:nvSpPr>
          <p:cNvPr id="14" name="Shape 12"/>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4087368" y="1784604"/>
            <a:ext cx="713232" cy="713232"/>
          </a:xfrm>
          <a:prstGeom prst="ellipse">
            <a:avLst/>
          </a:prstGeom>
          <a:solidFill>
            <a:srgbClr val="E8EEF8"/>
          </a:solidFill>
          <a:ln w="12700">
            <a:solidFill>
              <a:srgbClr val="E8EEF8"/>
            </a:solidFill>
            <a:prstDash val="solid"/>
          </a:ln>
        </p:spPr>
      </p:sp>
      <p:sp>
        <p:nvSpPr>
          <p:cNvPr id="16" name="Icono siren"/>
          <p:cNvSpPr/>
          <p:nvPr/>
        </p:nvSpPr>
        <p:spPr>
          <a:xfrm>
            <a:off x="4258544" y="1955780"/>
            <a:ext cx="370881" cy="370881"/>
          </a:xfrm>
          <a:custGeom>
            <a:avLst/>
            <a:gdLst/>
            <a:ahLst/>
            <a:cxnLst/>
            <a:rect l="l" t="t" r="r" b="b"/>
            <a:pathLst>
              <a:path w="370881" h="370881">
                <a:moveTo>
                  <a:pt x="108174" y="278160"/>
                </a:moveTo>
                <a:lnTo>
                  <a:pt x="108174" y="185440"/>
                </a:lnTo>
                <a:cubicBezTo>
                  <a:pt x="108174" y="142767"/>
                  <a:pt x="142767" y="108174"/>
                  <a:pt x="185440" y="108174"/>
                </a:cubicBezTo>
                <a:cubicBezTo>
                  <a:pt x="228114" y="108174"/>
                  <a:pt x="262707" y="142767"/>
                  <a:pt x="262707" y="185440"/>
                </a:cubicBezTo>
                <a:lnTo>
                  <a:pt x="262707" y="278160"/>
                </a:lnTo>
                <a:moveTo>
                  <a:pt x="77267" y="324521"/>
                </a:moveTo>
                <a:cubicBezTo>
                  <a:pt x="77267" y="333055"/>
                  <a:pt x="84186" y="339974"/>
                  <a:pt x="92720" y="339974"/>
                </a:cubicBezTo>
                <a:lnTo>
                  <a:pt x="278160" y="339974"/>
                </a:lnTo>
                <a:cubicBezTo>
                  <a:pt x="286695" y="339974"/>
                  <a:pt x="293614" y="333055"/>
                  <a:pt x="293614" y="324521"/>
                </a:cubicBezTo>
                <a:lnTo>
                  <a:pt x="293614" y="309067"/>
                </a:lnTo>
                <a:cubicBezTo>
                  <a:pt x="293614" y="291998"/>
                  <a:pt x="279776" y="278160"/>
                  <a:pt x="262707" y="278160"/>
                </a:cubicBezTo>
                <a:lnTo>
                  <a:pt x="108174" y="278160"/>
                </a:lnTo>
                <a:cubicBezTo>
                  <a:pt x="91104" y="278160"/>
                  <a:pt x="77267" y="291998"/>
                  <a:pt x="77267" y="309067"/>
                </a:cubicBezTo>
                <a:close/>
                <a:moveTo>
                  <a:pt x="324521" y="185440"/>
                </a:moveTo>
                <a:lnTo>
                  <a:pt x="339974" y="185440"/>
                </a:lnTo>
                <a:moveTo>
                  <a:pt x="285887" y="69540"/>
                </a:moveTo>
                <a:lnTo>
                  <a:pt x="278160" y="77267"/>
                </a:lnTo>
                <a:moveTo>
                  <a:pt x="30907" y="185440"/>
                </a:moveTo>
                <a:lnTo>
                  <a:pt x="46360" y="185440"/>
                </a:lnTo>
                <a:moveTo>
                  <a:pt x="185440" y="30907"/>
                </a:moveTo>
                <a:lnTo>
                  <a:pt x="185440" y="46360"/>
                </a:lnTo>
                <a:moveTo>
                  <a:pt x="76170" y="76170"/>
                </a:moveTo>
                <a:lnTo>
                  <a:pt x="87095" y="87095"/>
                </a:lnTo>
                <a:moveTo>
                  <a:pt x="185440" y="185440"/>
                </a:moveTo>
                <a:lnTo>
                  <a:pt x="185440" y="278160"/>
                </a:lnTo>
              </a:path>
            </a:pathLst>
          </a:custGeom>
          <a:noFill/>
          <a:ln w="30907" cap="rnd">
            <a:solidFill>
              <a:srgbClr val="0B2350"/>
            </a:solidFill>
            <a:prstDash val="solid"/>
            <a:round/>
          </a:ln>
        </p:spPr>
      </p:sp>
      <p:sp>
        <p:nvSpPr>
          <p:cNvPr id="17" name="Text 15"/>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Diseñar para la falla</a:t>
            </a:r>
            <a:endParaRPr lang="en-US" sz="1700" dirty="0"/>
          </a:p>
        </p:txBody>
      </p:sp>
      <p:sp>
        <p:nvSpPr>
          <p:cNvPr id="18" name="Text 16"/>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Guardar primero, reintentar e ignorar duplicados.</a:t>
            </a:r>
            <a:endParaRPr lang="en-US" sz="1300" dirty="0"/>
          </a:p>
        </p:txBody>
      </p:sp>
      <p:sp>
        <p:nvSpPr>
          <p:cNvPr id="19" name="Shape 17"/>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0"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1" name="Text 19"/>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22" name="Text 20"/>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Sistemas que se recuperan solos.</a:t>
            </a:r>
            <a:endParaRPr lang="en-US" sz="1350" dirty="0"/>
          </a:p>
        </p:txBody>
      </p:sp>
      <p:sp>
        <p:nvSpPr>
          <p:cNvPr id="23" name="Shape 21"/>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4" name="Shape 22"/>
          <p:cNvSpPr/>
          <p:nvPr/>
        </p:nvSpPr>
        <p:spPr>
          <a:xfrm>
            <a:off x="4087368" y="3506724"/>
            <a:ext cx="713232" cy="713232"/>
          </a:xfrm>
          <a:prstGeom prst="ellipse">
            <a:avLst/>
          </a:prstGeom>
          <a:solidFill>
            <a:srgbClr val="E8EEF8"/>
          </a:solidFill>
          <a:ln w="12700">
            <a:solidFill>
              <a:srgbClr val="E8EEF8"/>
            </a:solidFill>
            <a:prstDash val="solid"/>
          </a:ln>
        </p:spPr>
      </p:sp>
      <p:sp>
        <p:nvSpPr>
          <p:cNvPr id="25" name="Icono workflow"/>
          <p:cNvSpPr/>
          <p:nvPr/>
        </p:nvSpPr>
        <p:spPr>
          <a:xfrm>
            <a:off x="4258544" y="3677900"/>
            <a:ext cx="370881" cy="370881"/>
          </a:xfrm>
          <a:custGeom>
            <a:avLst/>
            <a:gdLst/>
            <a:ahLst/>
            <a:cxnLst/>
            <a:rect l="l" t="t" r="r" b="b"/>
            <a:pathLst>
              <a:path w="370881" h="370881">
                <a:moveTo>
                  <a:pt x="77267" y="46360"/>
                </a:moveTo>
                <a:lnTo>
                  <a:pt x="139080" y="46360"/>
                </a:lnTo>
                <a:cubicBezTo>
                  <a:pt x="156150" y="46360"/>
                  <a:pt x="169987" y="60197"/>
                  <a:pt x="169987" y="77267"/>
                </a:cubicBezTo>
                <a:lnTo>
                  <a:pt x="169987" y="139080"/>
                </a:lnTo>
                <a:cubicBezTo>
                  <a:pt x="169987" y="156150"/>
                  <a:pt x="156150" y="169987"/>
                  <a:pt x="139080" y="169987"/>
                </a:cubicBezTo>
                <a:lnTo>
                  <a:pt x="77267" y="169987"/>
                </a:lnTo>
                <a:cubicBezTo>
                  <a:pt x="60197" y="169987"/>
                  <a:pt x="46360" y="156150"/>
                  <a:pt x="46360" y="139080"/>
                </a:cubicBezTo>
                <a:lnTo>
                  <a:pt x="46360" y="77267"/>
                </a:lnTo>
                <a:cubicBezTo>
                  <a:pt x="46360" y="60197"/>
                  <a:pt x="60197" y="46360"/>
                  <a:pt x="77267" y="46360"/>
                </a:cubicBezTo>
                <a:close/>
                <a:moveTo>
                  <a:pt x="108174" y="169987"/>
                </a:moveTo>
                <a:lnTo>
                  <a:pt x="108174" y="231800"/>
                </a:lnTo>
                <a:cubicBezTo>
                  <a:pt x="108174" y="248870"/>
                  <a:pt x="122011" y="262707"/>
                  <a:pt x="139080" y="262707"/>
                </a:cubicBezTo>
                <a:lnTo>
                  <a:pt x="200894" y="262707"/>
                </a:lnTo>
                <a:moveTo>
                  <a:pt x="231800" y="200894"/>
                </a:moveTo>
                <a:lnTo>
                  <a:pt x="293614" y="200894"/>
                </a:lnTo>
                <a:cubicBezTo>
                  <a:pt x="310683" y="200894"/>
                  <a:pt x="324521" y="214731"/>
                  <a:pt x="324521" y="231800"/>
                </a:cubicBezTo>
                <a:lnTo>
                  <a:pt x="324521" y="293614"/>
                </a:lnTo>
                <a:cubicBezTo>
                  <a:pt x="324521" y="310683"/>
                  <a:pt x="310683" y="324521"/>
                  <a:pt x="293614" y="324521"/>
                </a:cubicBezTo>
                <a:lnTo>
                  <a:pt x="231800" y="324521"/>
                </a:lnTo>
                <a:cubicBezTo>
                  <a:pt x="214731" y="324521"/>
                  <a:pt x="200894" y="310683"/>
                  <a:pt x="200894" y="293614"/>
                </a:cubicBezTo>
                <a:lnTo>
                  <a:pt x="200894" y="231800"/>
                </a:lnTo>
                <a:cubicBezTo>
                  <a:pt x="200894" y="214731"/>
                  <a:pt x="214731" y="200894"/>
                  <a:pt x="231800" y="200894"/>
                </a:cubicBezTo>
                <a:close/>
              </a:path>
            </a:pathLst>
          </a:custGeom>
          <a:noFill/>
          <a:ln w="30907" cap="rnd">
            <a:solidFill>
              <a:srgbClr val="0B2350"/>
            </a:solidFill>
            <a:prstDash val="solid"/>
            <a:round/>
          </a:ln>
        </p:spPr>
      </p:sp>
      <p:sp>
        <p:nvSpPr>
          <p:cNvPr id="26" name="Text 24"/>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Automatizar la confianza</a:t>
            </a:r>
            <a:endParaRPr lang="en-US" sz="1700" dirty="0"/>
          </a:p>
        </p:txBody>
      </p:sp>
      <p:sp>
        <p:nvSpPr>
          <p:cNvPr id="27" name="Text 25"/>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Pruebas, pipeline, imágenes y estado declarado.</a:t>
            </a:r>
            <a:endParaRPr lang="en-US" sz="1300" dirty="0"/>
          </a:p>
        </p:txBody>
      </p:sp>
      <p:sp>
        <p:nvSpPr>
          <p:cNvPr id="28" name="Shape 26"/>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29" name="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0" name="Text 28"/>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1" name="Text 29"/>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Cambiar rápido sin miedo a romper.</a:t>
            </a:r>
            <a:endParaRPr lang="en-US" sz="1350" dirty="0"/>
          </a:p>
        </p:txBody>
      </p:sp>
      <p:sp>
        <p:nvSpPr>
          <p:cNvPr id="32" name="Shape 30"/>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3" name="Shape 31"/>
          <p:cNvSpPr/>
          <p:nvPr/>
        </p:nvSpPr>
        <p:spPr>
          <a:xfrm>
            <a:off x="4087368" y="5228844"/>
            <a:ext cx="713232" cy="713232"/>
          </a:xfrm>
          <a:prstGeom prst="ellipse">
            <a:avLst/>
          </a:prstGeom>
          <a:solidFill>
            <a:srgbClr val="E8EEF8"/>
          </a:solidFill>
          <a:ln w="12700">
            <a:solidFill>
              <a:srgbClr val="E8EEF8"/>
            </a:solidFill>
            <a:prstDash val="solid"/>
          </a:ln>
        </p:spPr>
      </p:sp>
      <p:sp>
        <p:nvSpPr>
          <p:cNvPr id="34" name="Icono eye"/>
          <p:cNvSpPr/>
          <p:nvPr/>
        </p:nvSpPr>
        <p:spPr>
          <a:xfrm>
            <a:off x="4258544" y="5400020"/>
            <a:ext cx="370881" cy="370881"/>
          </a:xfrm>
          <a:custGeom>
            <a:avLst/>
            <a:gdLst/>
            <a:ahLst/>
            <a:cxnLst/>
            <a:rect l="l" t="t" r="r" b="b"/>
            <a:pathLst>
              <a:path w="370881" h="370881">
                <a:moveTo>
                  <a:pt x="31865" y="190818"/>
                </a:moveTo>
                <a:cubicBezTo>
                  <a:pt x="30577" y="187349"/>
                  <a:pt x="30577" y="183532"/>
                  <a:pt x="31865" y="180063"/>
                </a:cubicBezTo>
                <a:cubicBezTo>
                  <a:pt x="57518" y="117861"/>
                  <a:pt x="118157" y="77276"/>
                  <a:pt x="185440" y="77276"/>
                </a:cubicBezTo>
                <a:cubicBezTo>
                  <a:pt x="252724" y="77276"/>
                  <a:pt x="313363" y="117861"/>
                  <a:pt x="339016" y="180063"/>
                </a:cubicBezTo>
                <a:cubicBezTo>
                  <a:pt x="340304" y="183532"/>
                  <a:pt x="340304" y="187349"/>
                  <a:pt x="339016" y="190818"/>
                </a:cubicBezTo>
                <a:cubicBezTo>
                  <a:pt x="313363" y="253019"/>
                  <a:pt x="252724" y="293604"/>
                  <a:pt x="185440" y="293604"/>
                </a:cubicBezTo>
                <a:cubicBezTo>
                  <a:pt x="118157" y="293604"/>
                  <a:pt x="57518" y="253019"/>
                  <a:pt x="31865" y="190818"/>
                </a:cubicBezTo>
                <a:moveTo>
                  <a:pt x="231800" y="185440"/>
                </a:moveTo>
                <a:cubicBezTo>
                  <a:pt x="231800" y="211044"/>
                  <a:pt x="211044" y="231800"/>
                  <a:pt x="185440" y="231800"/>
                </a:cubicBezTo>
                <a:cubicBezTo>
                  <a:pt x="159836" y="231800"/>
                  <a:pt x="139080" y="211044"/>
                  <a:pt x="139080" y="185440"/>
                </a:cubicBezTo>
                <a:cubicBezTo>
                  <a:pt x="139080" y="159836"/>
                  <a:pt x="159836" y="139080"/>
                  <a:pt x="185440" y="139080"/>
                </a:cubicBezTo>
                <a:cubicBezTo>
                  <a:pt x="211044" y="139080"/>
                  <a:pt x="231800" y="159836"/>
                  <a:pt x="231800" y="185440"/>
                </a:cubicBezTo>
                <a:close/>
              </a:path>
            </a:pathLst>
          </a:custGeom>
          <a:noFill/>
          <a:ln w="30907" cap="rnd">
            <a:solidFill>
              <a:srgbClr val="0B2350"/>
            </a:solidFill>
            <a:prstDash val="solid"/>
            <a:round/>
          </a:ln>
        </p:spPr>
      </p:sp>
      <p:sp>
        <p:nvSpPr>
          <p:cNvPr id="35" name="Text 33"/>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Hacer visible el sistema</a:t>
            </a:r>
            <a:endParaRPr lang="en-US" sz="1700" dirty="0"/>
          </a:p>
        </p:txBody>
      </p:sp>
      <p:sp>
        <p:nvSpPr>
          <p:cNvPr id="36" name="Text 34"/>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Logs, trazas, salud, Swagger y la UI laboratorio.</a:t>
            </a:r>
            <a:endParaRPr lang="en-US" sz="1300" dirty="0"/>
          </a:p>
        </p:txBody>
      </p:sp>
      <p:sp>
        <p:nvSpPr>
          <p:cNvPr id="37" name="Shape 35"/>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38" name="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9" name="Text 37"/>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0" name="Text 38"/>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Diagnosticar y explicar en minutos.</a:t>
            </a:r>
            <a:endParaRPr lang="en-US" sz="1350" dirty="0"/>
          </a:p>
        </p:txBody>
      </p:sp>
      <p:sp>
        <p:nvSpPr>
          <p:cNvPr id="41" name="Text 3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VALOR Y CIERRE</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BA6CB"/>
          </a:solidFill>
          <a:ln w="12700">
            <a:solidFill>
              <a:srgbClr val="2BA6CB"/>
            </a:solidFill>
            <a:prstDash val="solid"/>
          </a:ln>
        </p:spPr>
      </p:sp>
      <p:sp>
        <p:nvSpPr>
          <p:cNvPr id="3" name="Shape 1"/>
          <p:cNvSpPr/>
          <p:nvPr/>
        </p:nvSpPr>
        <p:spPr>
          <a:xfrm>
            <a:off x="6080760" y="749808"/>
            <a:ext cx="5303520" cy="5303520"/>
          </a:xfrm>
          <a:prstGeom prst="ellipse">
            <a:avLst/>
          </a:prstGeom>
          <a:solidFill>
            <a:srgbClr val="0B1F3A">
              <a:alpha val="0"/>
            </a:srgbClr>
          </a:solidFill>
          <a:ln w="9525">
            <a:solidFill>
              <a:srgbClr val="2BA6CB">
                <a:alpha val="18000"/>
              </a:srgbClr>
            </a:solidFill>
            <a:prstDash val="solid"/>
          </a:ln>
        </p:spPr>
      </p:sp>
      <p:sp>
        <p:nvSpPr>
          <p:cNvPr id="4" name="Shape 2"/>
          <p:cNvSpPr/>
          <p:nvPr/>
        </p:nvSpPr>
        <p:spPr>
          <a:xfrm>
            <a:off x="6766560" y="1435608"/>
            <a:ext cx="3931920" cy="3931920"/>
          </a:xfrm>
          <a:prstGeom prst="ellipse">
            <a:avLst/>
          </a:prstGeom>
          <a:solidFill>
            <a:srgbClr val="0B1F3A">
              <a:alpha val="0"/>
            </a:srgbClr>
          </a:solidFill>
          <a:ln w="15875">
            <a:solidFill>
              <a:srgbClr val="2BA6CB">
                <a:alpha val="50000"/>
              </a:srgbClr>
            </a:solidFill>
            <a:prstDash val="dash"/>
          </a:ln>
        </p:spPr>
      </p:sp>
      <p:sp>
        <p:nvSpPr>
          <p:cNvPr id="5" name="Shape 3"/>
          <p:cNvSpPr/>
          <p:nvPr/>
        </p:nvSpPr>
        <p:spPr>
          <a:xfrm>
            <a:off x="7543800" y="2212848"/>
            <a:ext cx="2377440" cy="2377440"/>
          </a:xfrm>
          <a:prstGeom prst="ellipse">
            <a:avLst/>
          </a:prstGeom>
          <a:solidFill>
            <a:srgbClr val="0B1F3A">
              <a:alpha val="0"/>
            </a:srgbClr>
          </a:solidFill>
          <a:ln w="9525">
            <a:solidFill>
              <a:srgbClr val="2BA6CB">
                <a:alpha val="25000"/>
              </a:srgbClr>
            </a:solidFill>
            <a:prstDash val="solid"/>
          </a:ln>
        </p:spPr>
      </p:sp>
      <p:sp>
        <p:nvSpPr>
          <p:cNvPr id="6" name="Shape 4"/>
          <p:cNvSpPr/>
          <p:nvPr/>
        </p:nvSpPr>
        <p:spPr>
          <a:xfrm flipV="1">
            <a:off x="9075447" y="1889384"/>
            <a:ext cx="283440" cy="684284"/>
          </a:xfrm>
          <a:prstGeom prst="line">
            <a:avLst/>
          </a:prstGeom>
          <a:noFill/>
          <a:ln w="12700">
            <a:solidFill>
              <a:srgbClr val="2BA6CB">
                <a:alpha val="40000"/>
              </a:srgbClr>
            </a:solidFill>
            <a:prstDash val="solid"/>
          </a:ln>
        </p:spPr>
      </p:sp>
      <p:sp>
        <p:nvSpPr>
          <p:cNvPr id="7" name="Shape 5"/>
          <p:cNvSpPr/>
          <p:nvPr/>
        </p:nvSpPr>
        <p:spPr>
          <a:xfrm flipV="1">
            <a:off x="9560420" y="2775201"/>
            <a:ext cx="684284" cy="283440"/>
          </a:xfrm>
          <a:prstGeom prst="line">
            <a:avLst/>
          </a:prstGeom>
          <a:noFill/>
          <a:ln w="12700">
            <a:solidFill>
              <a:srgbClr val="2BA6CB">
                <a:alpha val="40000"/>
              </a:srgbClr>
            </a:solidFill>
            <a:prstDash val="solid"/>
          </a:ln>
        </p:spPr>
      </p:sp>
      <p:sp>
        <p:nvSpPr>
          <p:cNvPr id="8" name="Shape 6"/>
          <p:cNvSpPr/>
          <p:nvPr/>
        </p:nvSpPr>
        <p:spPr>
          <a:xfrm>
            <a:off x="9560420" y="3744495"/>
            <a:ext cx="684284" cy="283440"/>
          </a:xfrm>
          <a:prstGeom prst="line">
            <a:avLst/>
          </a:prstGeom>
          <a:noFill/>
          <a:ln w="12700">
            <a:solidFill>
              <a:srgbClr val="2BA6CB">
                <a:alpha val="40000"/>
              </a:srgbClr>
            </a:solidFill>
            <a:prstDash val="solid"/>
          </a:ln>
        </p:spPr>
      </p:sp>
      <p:sp>
        <p:nvSpPr>
          <p:cNvPr id="9" name="Shape 7"/>
          <p:cNvSpPr/>
          <p:nvPr/>
        </p:nvSpPr>
        <p:spPr>
          <a:xfrm>
            <a:off x="9075447" y="4229468"/>
            <a:ext cx="283440" cy="684284"/>
          </a:xfrm>
          <a:prstGeom prst="line">
            <a:avLst/>
          </a:prstGeom>
          <a:noFill/>
          <a:ln w="12700">
            <a:solidFill>
              <a:srgbClr val="2BA6CB">
                <a:alpha val="40000"/>
              </a:srgbClr>
            </a:solidFill>
            <a:prstDash val="solid"/>
          </a:ln>
        </p:spPr>
      </p:sp>
      <p:sp>
        <p:nvSpPr>
          <p:cNvPr id="10" name="Shape 8"/>
          <p:cNvSpPr/>
          <p:nvPr/>
        </p:nvSpPr>
        <p:spPr>
          <a:xfrm flipH="1">
            <a:off x="8106153" y="4229468"/>
            <a:ext cx="283440" cy="684284"/>
          </a:xfrm>
          <a:prstGeom prst="line">
            <a:avLst/>
          </a:prstGeom>
          <a:noFill/>
          <a:ln w="12700">
            <a:solidFill>
              <a:srgbClr val="2BA6CB">
                <a:alpha val="40000"/>
              </a:srgbClr>
            </a:solidFill>
            <a:prstDash val="solid"/>
          </a:ln>
        </p:spPr>
      </p:sp>
      <p:sp>
        <p:nvSpPr>
          <p:cNvPr id="11" name="Shape 9"/>
          <p:cNvSpPr/>
          <p:nvPr/>
        </p:nvSpPr>
        <p:spPr>
          <a:xfrm flipH="1">
            <a:off x="7220336" y="3744495"/>
            <a:ext cx="684284" cy="283440"/>
          </a:xfrm>
          <a:prstGeom prst="line">
            <a:avLst/>
          </a:prstGeom>
          <a:noFill/>
          <a:ln w="12700">
            <a:solidFill>
              <a:srgbClr val="2BA6CB">
                <a:alpha val="40000"/>
              </a:srgbClr>
            </a:solidFill>
            <a:prstDash val="solid"/>
          </a:ln>
        </p:spPr>
      </p:sp>
      <p:sp>
        <p:nvSpPr>
          <p:cNvPr id="12" name="Shape 10"/>
          <p:cNvSpPr/>
          <p:nvPr/>
        </p:nvSpPr>
        <p:spPr>
          <a:xfrm flipH="1" flipV="1">
            <a:off x="7220336" y="2775201"/>
            <a:ext cx="684284" cy="283440"/>
          </a:xfrm>
          <a:prstGeom prst="line">
            <a:avLst/>
          </a:prstGeom>
          <a:noFill/>
          <a:ln w="12700">
            <a:solidFill>
              <a:srgbClr val="2BA6CB">
                <a:alpha val="40000"/>
              </a:srgbClr>
            </a:solidFill>
            <a:prstDash val="solid"/>
          </a:ln>
        </p:spPr>
      </p:sp>
      <p:sp>
        <p:nvSpPr>
          <p:cNvPr id="13" name="Shape 11"/>
          <p:cNvSpPr/>
          <p:nvPr/>
        </p:nvSpPr>
        <p:spPr>
          <a:xfrm flipH="1" flipV="1">
            <a:off x="8106153" y="1889384"/>
            <a:ext cx="283440" cy="684284"/>
          </a:xfrm>
          <a:prstGeom prst="line">
            <a:avLst/>
          </a:prstGeom>
          <a:noFill/>
          <a:ln w="12700">
            <a:solidFill>
              <a:srgbClr val="2BA6CB">
                <a:alpha val="40000"/>
              </a:srgbClr>
            </a:solidFill>
            <a:prstDash val="solid"/>
          </a:ln>
        </p:spPr>
      </p:sp>
      <p:sp>
        <p:nvSpPr>
          <p:cNvPr id="14" name="Shape 12"/>
          <p:cNvSpPr/>
          <p:nvPr/>
        </p:nvSpPr>
        <p:spPr>
          <a:xfrm>
            <a:off x="7744968" y="2414016"/>
            <a:ext cx="1975104" cy="1975104"/>
          </a:xfrm>
          <a:prstGeom prst="ellipse">
            <a:avLst/>
          </a:prstGeom>
          <a:solidFill>
            <a:srgbClr val="2BA6CB">
              <a:alpha val="15000"/>
            </a:srgbClr>
          </a:solidFill>
          <a:ln w="9525">
            <a:solidFill>
              <a:srgbClr val="2BA6CB">
                <a:alpha val="40000"/>
              </a:srgbClr>
            </a:solidFill>
            <a:prstDash val="solid"/>
          </a:ln>
        </p:spPr>
      </p:sp>
      <p:sp>
        <p:nvSpPr>
          <p:cNvPr id="15" name="Shape 13"/>
          <p:cNvSpPr/>
          <p:nvPr/>
        </p:nvSpPr>
        <p:spPr>
          <a:xfrm>
            <a:off x="7909560" y="2578608"/>
            <a:ext cx="1645920" cy="1645920"/>
          </a:xfrm>
          <a:prstGeom prst="ellipse">
            <a:avLst/>
          </a:prstGeom>
          <a:solidFill>
            <a:srgbClr val="0B2350"/>
          </a:solidFill>
          <a:ln w="25400">
            <a:solidFill>
              <a:srgbClr val="2BA6CB"/>
            </a:solidFill>
            <a:prstDash val="solid"/>
          </a:ln>
          <a:effectLst>
            <a:outerShdw sx="100000" sy="100000" kx="0" ky="0" algn="bl" rotWithShape="0" blurRad="114300" dist="50800" dir="16200000">
              <a:srgbClr val="2BA6CB">
                <a:alpha val="60000"/>
              </a:srgbClr>
            </a:outerShdw>
          </a:effectLst>
        </p:spPr>
      </p:sp>
      <p:sp>
        <p:nvSpPr>
          <p:cNvPr id="16" name="Icono sparkles"/>
          <p:cNvSpPr/>
          <p:nvPr/>
        </p:nvSpPr>
        <p:spPr>
          <a:xfrm>
            <a:off x="8430768" y="2871216"/>
            <a:ext cx="603504" cy="603504"/>
          </a:xfrm>
          <a:custGeom>
            <a:avLst/>
            <a:gdLst/>
            <a:ahLst/>
            <a:cxnLst/>
            <a:rect l="l" t="t" r="r" b="b"/>
            <a:pathLst>
              <a:path w="603504" h="603504">
                <a:moveTo>
                  <a:pt x="249876" y="389763"/>
                </a:moveTo>
                <a:cubicBezTo>
                  <a:pt x="245304" y="372040"/>
                  <a:pt x="231464" y="358200"/>
                  <a:pt x="213741" y="353628"/>
                </a:cubicBezTo>
                <a:lnTo>
                  <a:pt x="59470" y="313847"/>
                </a:lnTo>
                <a:cubicBezTo>
                  <a:pt x="54062" y="312312"/>
                  <a:pt x="50330" y="307374"/>
                  <a:pt x="50330" y="301752"/>
                </a:cubicBezTo>
                <a:cubicBezTo>
                  <a:pt x="50330" y="296130"/>
                  <a:pt x="54062" y="291192"/>
                  <a:pt x="59470" y="289657"/>
                </a:cubicBezTo>
                <a:lnTo>
                  <a:pt x="213741" y="249851"/>
                </a:lnTo>
                <a:cubicBezTo>
                  <a:pt x="231457" y="245283"/>
                  <a:pt x="245296" y="231454"/>
                  <a:pt x="249876" y="213741"/>
                </a:cubicBezTo>
                <a:lnTo>
                  <a:pt x="289657" y="59470"/>
                </a:lnTo>
                <a:cubicBezTo>
                  <a:pt x="291176" y="54040"/>
                  <a:pt x="296126" y="50286"/>
                  <a:pt x="301765" y="50286"/>
                </a:cubicBezTo>
                <a:cubicBezTo>
                  <a:pt x="307403" y="50286"/>
                  <a:pt x="312353" y="54040"/>
                  <a:pt x="313872" y="59470"/>
                </a:cubicBezTo>
                <a:lnTo>
                  <a:pt x="353628" y="213741"/>
                </a:lnTo>
                <a:cubicBezTo>
                  <a:pt x="358200" y="231464"/>
                  <a:pt x="372040" y="245304"/>
                  <a:pt x="389763" y="249876"/>
                </a:cubicBezTo>
                <a:lnTo>
                  <a:pt x="544034" y="289632"/>
                </a:lnTo>
                <a:cubicBezTo>
                  <a:pt x="549486" y="291136"/>
                  <a:pt x="553264" y="296096"/>
                  <a:pt x="553264" y="301752"/>
                </a:cubicBezTo>
                <a:cubicBezTo>
                  <a:pt x="553264" y="307408"/>
                  <a:pt x="549486" y="312368"/>
                  <a:pt x="544034" y="313872"/>
                </a:cubicBezTo>
                <a:lnTo>
                  <a:pt x="389763" y="353628"/>
                </a:lnTo>
                <a:cubicBezTo>
                  <a:pt x="372040" y="358200"/>
                  <a:pt x="358200" y="372040"/>
                  <a:pt x="353628" y="389763"/>
                </a:cubicBezTo>
                <a:lnTo>
                  <a:pt x="313847" y="544034"/>
                </a:lnTo>
                <a:cubicBezTo>
                  <a:pt x="312328" y="549464"/>
                  <a:pt x="307378" y="553218"/>
                  <a:pt x="301739" y="553218"/>
                </a:cubicBezTo>
                <a:cubicBezTo>
                  <a:pt x="296101" y="553218"/>
                  <a:pt x="291151" y="549464"/>
                  <a:pt x="289632" y="544034"/>
                </a:cubicBezTo>
                <a:close/>
                <a:moveTo>
                  <a:pt x="502920" y="75438"/>
                </a:moveTo>
                <a:lnTo>
                  <a:pt x="502920" y="176022"/>
                </a:lnTo>
                <a:moveTo>
                  <a:pt x="553212" y="125730"/>
                </a:moveTo>
                <a:lnTo>
                  <a:pt x="452628" y="125730"/>
                </a:lnTo>
                <a:moveTo>
                  <a:pt x="100584" y="427482"/>
                </a:moveTo>
                <a:lnTo>
                  <a:pt x="100584" y="477774"/>
                </a:lnTo>
                <a:moveTo>
                  <a:pt x="125730" y="452628"/>
                </a:moveTo>
                <a:lnTo>
                  <a:pt x="75438" y="452628"/>
                </a:lnTo>
              </a:path>
            </a:pathLst>
          </a:custGeom>
          <a:noFill/>
          <a:ln w="37719" cap="rnd">
            <a:solidFill>
              <a:srgbClr val="2BA6CB"/>
            </a:solidFill>
            <a:prstDash val="solid"/>
            <a:round/>
          </a:ln>
        </p:spPr>
      </p:sp>
      <p:sp>
        <p:nvSpPr>
          <p:cNvPr id="17" name="Text 15"/>
          <p:cNvSpPr/>
          <p:nvPr/>
        </p:nvSpPr>
        <p:spPr>
          <a:xfrm>
            <a:off x="8001000" y="3547872"/>
            <a:ext cx="1463040"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Semibold" pitchFamily="34" charset="0"/>
                <a:ea typeface="Segoe UI Semibold" pitchFamily="34" charset="-122"/>
                <a:cs typeface="Segoe UI Semibold" pitchFamily="34" charset="-120"/>
              </a:rPr>
              <a:t>¿Preguntas?</a:t>
            </a:r>
            <a:endParaRPr lang="en-US" sz="1500" dirty="0"/>
          </a:p>
        </p:txBody>
      </p:sp>
      <p:sp>
        <p:nvSpPr>
          <p:cNvPr id="18" name="Shape 16"/>
          <p:cNvSpPr/>
          <p:nvPr/>
        </p:nvSpPr>
        <p:spPr>
          <a:xfrm>
            <a:off x="9183108" y="128350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19" name="Icono code"/>
          <p:cNvSpPr/>
          <p:nvPr/>
        </p:nvSpPr>
        <p:spPr>
          <a:xfrm>
            <a:off x="9329412" y="1429810"/>
            <a:ext cx="310896" cy="310896"/>
          </a:xfrm>
          <a:custGeom>
            <a:avLst/>
            <a:gdLst/>
            <a:ahLst/>
            <a:cxnLst/>
            <a:rect l="l" t="t" r="r" b="b"/>
            <a:pathLst>
              <a:path w="310896" h="310896">
                <a:moveTo>
                  <a:pt x="207264" y="233172"/>
                </a:moveTo>
                <a:lnTo>
                  <a:pt x="284988" y="155448"/>
                </a:lnTo>
                <a:lnTo>
                  <a:pt x="207264" y="77724"/>
                </a:lnTo>
                <a:moveTo>
                  <a:pt x="103632" y="77724"/>
                </a:moveTo>
                <a:lnTo>
                  <a:pt x="25908" y="155448"/>
                </a:lnTo>
                <a:lnTo>
                  <a:pt x="103632" y="233172"/>
                </a:lnTo>
              </a:path>
            </a:pathLst>
          </a:custGeom>
          <a:noFill/>
          <a:ln w="25908" cap="rnd">
            <a:solidFill>
              <a:srgbClr val="2BA6CB"/>
            </a:solidFill>
            <a:prstDash val="solid"/>
            <a:round/>
          </a:ln>
        </p:spPr>
      </p:sp>
      <p:sp>
        <p:nvSpPr>
          <p:cNvPr id="20" name="Text 18"/>
          <p:cNvSpPr/>
          <p:nvPr/>
        </p:nvSpPr>
        <p:spPr>
          <a:xfrm>
            <a:off x="9603732" y="121035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1</a:t>
            </a:r>
            <a:endParaRPr lang="en-US" sz="900" dirty="0"/>
          </a:p>
        </p:txBody>
      </p:sp>
      <p:sp>
        <p:nvSpPr>
          <p:cNvPr id="21" name="Text 19"/>
          <p:cNvSpPr/>
          <p:nvPr/>
        </p:nvSpPr>
        <p:spPr>
          <a:xfrm>
            <a:off x="9878052" y="1438954"/>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Fundamentos</a:t>
            </a:r>
            <a:endParaRPr lang="en-US" sz="1050" dirty="0"/>
          </a:p>
        </p:txBody>
      </p:sp>
      <p:sp>
        <p:nvSpPr>
          <p:cNvPr id="22" name="Shape 20"/>
          <p:cNvSpPr/>
          <p:nvPr/>
        </p:nvSpPr>
        <p:spPr>
          <a:xfrm>
            <a:off x="10247078" y="234747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23" name="Icono network"/>
          <p:cNvSpPr/>
          <p:nvPr/>
        </p:nvSpPr>
        <p:spPr>
          <a:xfrm>
            <a:off x="10393382" y="2493780"/>
            <a:ext cx="310896" cy="310896"/>
          </a:xfrm>
          <a:custGeom>
            <a:avLst/>
            <a:gdLst/>
            <a:ahLst/>
            <a:cxnLst/>
            <a:rect l="l" t="t" r="r" b="b"/>
            <a:pathLst>
              <a:path w="310896" h="310896">
                <a:moveTo>
                  <a:pt x="220218" y="207264"/>
                </a:moveTo>
                <a:lnTo>
                  <a:pt x="272034" y="207264"/>
                </a:lnTo>
                <a:cubicBezTo>
                  <a:pt x="279188" y="207264"/>
                  <a:pt x="284988" y="213064"/>
                  <a:pt x="284988" y="220218"/>
                </a:cubicBezTo>
                <a:lnTo>
                  <a:pt x="284988" y="272034"/>
                </a:lnTo>
                <a:cubicBezTo>
                  <a:pt x="284988" y="279188"/>
                  <a:pt x="279188" y="284988"/>
                  <a:pt x="272034" y="284988"/>
                </a:cubicBezTo>
                <a:lnTo>
                  <a:pt x="220218" y="284988"/>
                </a:lnTo>
                <a:cubicBezTo>
                  <a:pt x="213064" y="284988"/>
                  <a:pt x="207264" y="279188"/>
                  <a:pt x="207264" y="272034"/>
                </a:cubicBezTo>
                <a:lnTo>
                  <a:pt x="207264" y="220218"/>
                </a:lnTo>
                <a:cubicBezTo>
                  <a:pt x="207264" y="213064"/>
                  <a:pt x="213064" y="207264"/>
                  <a:pt x="220218" y="207264"/>
                </a:cubicBezTo>
                <a:close/>
                <a:moveTo>
                  <a:pt x="38862" y="207264"/>
                </a:moveTo>
                <a:lnTo>
                  <a:pt x="90678" y="207264"/>
                </a:lnTo>
                <a:cubicBezTo>
                  <a:pt x="97832" y="207264"/>
                  <a:pt x="103632" y="213064"/>
                  <a:pt x="103632" y="220218"/>
                </a:cubicBezTo>
                <a:lnTo>
                  <a:pt x="103632" y="272034"/>
                </a:lnTo>
                <a:cubicBezTo>
                  <a:pt x="103632" y="279188"/>
                  <a:pt x="97832" y="284988"/>
                  <a:pt x="90678" y="284988"/>
                </a:cubicBezTo>
                <a:lnTo>
                  <a:pt x="38862" y="284988"/>
                </a:lnTo>
                <a:cubicBezTo>
                  <a:pt x="31708" y="284988"/>
                  <a:pt x="25908" y="279188"/>
                  <a:pt x="25908" y="272034"/>
                </a:cubicBezTo>
                <a:lnTo>
                  <a:pt x="25908" y="220218"/>
                </a:lnTo>
                <a:cubicBezTo>
                  <a:pt x="25908" y="213064"/>
                  <a:pt x="31708" y="207264"/>
                  <a:pt x="38862" y="207264"/>
                </a:cubicBezTo>
                <a:close/>
                <a:moveTo>
                  <a:pt x="129540" y="25908"/>
                </a:moveTo>
                <a:lnTo>
                  <a:pt x="181356" y="25908"/>
                </a:lnTo>
                <a:cubicBezTo>
                  <a:pt x="188510" y="25908"/>
                  <a:pt x="194310" y="31708"/>
                  <a:pt x="194310" y="38862"/>
                </a:cubicBezTo>
                <a:lnTo>
                  <a:pt x="194310" y="90678"/>
                </a:lnTo>
                <a:cubicBezTo>
                  <a:pt x="194310" y="97832"/>
                  <a:pt x="188510" y="103632"/>
                  <a:pt x="181356" y="103632"/>
                </a:cubicBezTo>
                <a:lnTo>
                  <a:pt x="129540" y="103632"/>
                </a:lnTo>
                <a:cubicBezTo>
                  <a:pt x="122386" y="103632"/>
                  <a:pt x="116586" y="97832"/>
                  <a:pt x="116586" y="90678"/>
                </a:cubicBezTo>
                <a:lnTo>
                  <a:pt x="116586" y="38862"/>
                </a:lnTo>
                <a:cubicBezTo>
                  <a:pt x="116586" y="31708"/>
                  <a:pt x="122386" y="25908"/>
                  <a:pt x="129540" y="25908"/>
                </a:cubicBezTo>
                <a:close/>
                <a:moveTo>
                  <a:pt x="64770" y="207264"/>
                </a:moveTo>
                <a:lnTo>
                  <a:pt x="64770" y="168402"/>
                </a:lnTo>
                <a:cubicBezTo>
                  <a:pt x="64770" y="161248"/>
                  <a:pt x="70570" y="155448"/>
                  <a:pt x="77724" y="155448"/>
                </a:cubicBezTo>
                <a:lnTo>
                  <a:pt x="233172" y="155448"/>
                </a:lnTo>
                <a:cubicBezTo>
                  <a:pt x="240326" y="155448"/>
                  <a:pt x="246126" y="161248"/>
                  <a:pt x="246126" y="168402"/>
                </a:cubicBezTo>
                <a:lnTo>
                  <a:pt x="246126" y="207264"/>
                </a:lnTo>
                <a:moveTo>
                  <a:pt x="155448" y="155448"/>
                </a:moveTo>
                <a:lnTo>
                  <a:pt x="155448" y="103632"/>
                </a:lnTo>
              </a:path>
            </a:pathLst>
          </a:custGeom>
          <a:noFill/>
          <a:ln w="25908" cap="rnd">
            <a:solidFill>
              <a:srgbClr val="2BA6CB"/>
            </a:solidFill>
            <a:prstDash val="solid"/>
            <a:round/>
          </a:ln>
        </p:spPr>
      </p:sp>
      <p:sp>
        <p:nvSpPr>
          <p:cNvPr id="24" name="Text 22"/>
          <p:cNvSpPr/>
          <p:nvPr/>
        </p:nvSpPr>
        <p:spPr>
          <a:xfrm>
            <a:off x="10667702" y="227432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2</a:t>
            </a:r>
            <a:endParaRPr lang="en-US" sz="900" dirty="0"/>
          </a:p>
        </p:txBody>
      </p:sp>
      <p:sp>
        <p:nvSpPr>
          <p:cNvPr id="25" name="Text 23"/>
          <p:cNvSpPr/>
          <p:nvPr/>
        </p:nvSpPr>
        <p:spPr>
          <a:xfrm>
            <a:off x="10942022" y="2502924"/>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Arquitectura</a:t>
            </a:r>
            <a:endParaRPr lang="en-US" sz="1050" dirty="0"/>
          </a:p>
        </p:txBody>
      </p:sp>
      <p:sp>
        <p:nvSpPr>
          <p:cNvPr id="26" name="Shape 24"/>
          <p:cNvSpPr/>
          <p:nvPr/>
        </p:nvSpPr>
        <p:spPr>
          <a:xfrm>
            <a:off x="10247078" y="385215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27" name="Icono database"/>
          <p:cNvSpPr/>
          <p:nvPr/>
        </p:nvSpPr>
        <p:spPr>
          <a:xfrm>
            <a:off x="10393382" y="3998460"/>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2BA6CB"/>
            </a:solidFill>
            <a:prstDash val="solid"/>
            <a:round/>
          </a:ln>
        </p:spPr>
      </p:sp>
      <p:sp>
        <p:nvSpPr>
          <p:cNvPr id="28" name="Text 26"/>
          <p:cNvSpPr/>
          <p:nvPr/>
        </p:nvSpPr>
        <p:spPr>
          <a:xfrm>
            <a:off x="10667702" y="377900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3</a:t>
            </a:r>
            <a:endParaRPr lang="en-US" sz="900" dirty="0"/>
          </a:p>
        </p:txBody>
      </p:sp>
      <p:sp>
        <p:nvSpPr>
          <p:cNvPr id="29" name="Text 27"/>
          <p:cNvSpPr/>
          <p:nvPr/>
        </p:nvSpPr>
        <p:spPr>
          <a:xfrm>
            <a:off x="10942022" y="4007604"/>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Base de datos</a:t>
            </a:r>
            <a:endParaRPr lang="en-US" sz="1050" dirty="0"/>
          </a:p>
        </p:txBody>
      </p:sp>
      <p:sp>
        <p:nvSpPr>
          <p:cNvPr id="30" name="Shape 28"/>
          <p:cNvSpPr/>
          <p:nvPr/>
        </p:nvSpPr>
        <p:spPr>
          <a:xfrm>
            <a:off x="9183108" y="491612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1" name="Icono container"/>
          <p:cNvSpPr/>
          <p:nvPr/>
        </p:nvSpPr>
        <p:spPr>
          <a:xfrm>
            <a:off x="9329412" y="5062430"/>
            <a:ext cx="310896" cy="310896"/>
          </a:xfrm>
          <a:custGeom>
            <a:avLst/>
            <a:gdLst/>
            <a:ahLst/>
            <a:cxnLst/>
            <a:rect l="l" t="t" r="r" b="b"/>
            <a:pathLst>
              <a:path w="310896" h="310896">
                <a:moveTo>
                  <a:pt x="284988" y="99746"/>
                </a:moveTo>
                <a:cubicBezTo>
                  <a:pt x="284988" y="91973"/>
                  <a:pt x="279806" y="84201"/>
                  <a:pt x="274625" y="80315"/>
                </a:cubicBezTo>
                <a:lnTo>
                  <a:pt x="193015" y="29794"/>
                </a:lnTo>
                <a:cubicBezTo>
                  <a:pt x="186187" y="25913"/>
                  <a:pt x="177820" y="25913"/>
                  <a:pt x="170993" y="29794"/>
                </a:cubicBezTo>
                <a:lnTo>
                  <a:pt x="37567" y="107518"/>
                </a:lnTo>
                <a:cubicBezTo>
                  <a:pt x="31090" y="110109"/>
                  <a:pt x="25908" y="117881"/>
                  <a:pt x="25908" y="125654"/>
                </a:cubicBezTo>
                <a:lnTo>
                  <a:pt x="25908" y="211150"/>
                </a:lnTo>
                <a:cubicBezTo>
                  <a:pt x="25908" y="217627"/>
                  <a:pt x="31090" y="226695"/>
                  <a:pt x="36271" y="230581"/>
                </a:cubicBezTo>
                <a:lnTo>
                  <a:pt x="117881" y="281102"/>
                </a:lnTo>
                <a:cubicBezTo>
                  <a:pt x="124709" y="284983"/>
                  <a:pt x="133076" y="284983"/>
                  <a:pt x="139903" y="281102"/>
                </a:cubicBezTo>
                <a:lnTo>
                  <a:pt x="273329" y="203378"/>
                </a:lnTo>
                <a:cubicBezTo>
                  <a:pt x="279806" y="199492"/>
                  <a:pt x="284988" y="190424"/>
                  <a:pt x="284988" y="183947"/>
                </a:cubicBezTo>
                <a:close/>
                <a:moveTo>
                  <a:pt x="129540" y="283693"/>
                </a:moveTo>
                <a:lnTo>
                  <a:pt x="129540" y="181356"/>
                </a:lnTo>
                <a:lnTo>
                  <a:pt x="27203" y="117881"/>
                </a:lnTo>
                <a:moveTo>
                  <a:pt x="129540" y="181356"/>
                </a:moveTo>
                <a:lnTo>
                  <a:pt x="283693" y="91973"/>
                </a:lnTo>
                <a:moveTo>
                  <a:pt x="181356" y="256489"/>
                </a:moveTo>
                <a:lnTo>
                  <a:pt x="181356" y="151562"/>
                </a:lnTo>
                <a:moveTo>
                  <a:pt x="233172" y="226695"/>
                </a:moveTo>
                <a:lnTo>
                  <a:pt x="233172" y="121768"/>
                </a:lnTo>
              </a:path>
            </a:pathLst>
          </a:custGeom>
          <a:noFill/>
          <a:ln w="25908" cap="rnd">
            <a:solidFill>
              <a:srgbClr val="2BA6CB"/>
            </a:solidFill>
            <a:prstDash val="solid"/>
            <a:round/>
          </a:ln>
        </p:spPr>
      </p:sp>
      <p:sp>
        <p:nvSpPr>
          <p:cNvPr id="32" name="Text 30"/>
          <p:cNvSpPr/>
          <p:nvPr/>
        </p:nvSpPr>
        <p:spPr>
          <a:xfrm>
            <a:off x="9603732" y="484297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4</a:t>
            </a:r>
            <a:endParaRPr lang="en-US" sz="900" dirty="0"/>
          </a:p>
        </p:txBody>
      </p:sp>
      <p:sp>
        <p:nvSpPr>
          <p:cNvPr id="33" name="Text 31"/>
          <p:cNvSpPr/>
          <p:nvPr/>
        </p:nvSpPr>
        <p:spPr>
          <a:xfrm>
            <a:off x="9878052" y="5071574"/>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Contenedores</a:t>
            </a:r>
            <a:endParaRPr lang="en-US" sz="1050" dirty="0"/>
          </a:p>
        </p:txBody>
      </p:sp>
      <p:sp>
        <p:nvSpPr>
          <p:cNvPr id="34" name="Shape 32"/>
          <p:cNvSpPr/>
          <p:nvPr/>
        </p:nvSpPr>
        <p:spPr>
          <a:xfrm>
            <a:off x="7678428" y="491612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5" name="Icono workflow"/>
          <p:cNvSpPr/>
          <p:nvPr/>
        </p:nvSpPr>
        <p:spPr>
          <a:xfrm>
            <a:off x="7824732" y="5062430"/>
            <a:ext cx="310896" cy="310896"/>
          </a:xfrm>
          <a:custGeom>
            <a:avLst/>
            <a:gdLst/>
            <a:ahLst/>
            <a:cxnLst/>
            <a:rect l="l" t="t" r="r" b="b"/>
            <a:pathLst>
              <a:path w="310896" h="310896">
                <a:moveTo>
                  <a:pt x="64770" y="38862"/>
                </a:moveTo>
                <a:lnTo>
                  <a:pt x="116586" y="38862"/>
                </a:lnTo>
                <a:cubicBezTo>
                  <a:pt x="130895" y="38862"/>
                  <a:pt x="142494" y="50461"/>
                  <a:pt x="142494" y="64770"/>
                </a:cubicBezTo>
                <a:lnTo>
                  <a:pt x="142494" y="116586"/>
                </a:lnTo>
                <a:cubicBezTo>
                  <a:pt x="142494" y="130895"/>
                  <a:pt x="130895" y="142494"/>
                  <a:pt x="116586" y="142494"/>
                </a:cubicBezTo>
                <a:lnTo>
                  <a:pt x="64770" y="142494"/>
                </a:lnTo>
                <a:cubicBezTo>
                  <a:pt x="50461" y="142494"/>
                  <a:pt x="38862" y="130895"/>
                  <a:pt x="38862" y="116586"/>
                </a:cubicBezTo>
                <a:lnTo>
                  <a:pt x="38862" y="64770"/>
                </a:lnTo>
                <a:cubicBezTo>
                  <a:pt x="38862" y="50461"/>
                  <a:pt x="50461" y="38862"/>
                  <a:pt x="64770" y="38862"/>
                </a:cubicBezTo>
                <a:close/>
                <a:moveTo>
                  <a:pt x="90678" y="142494"/>
                </a:moveTo>
                <a:lnTo>
                  <a:pt x="90678" y="194310"/>
                </a:lnTo>
                <a:cubicBezTo>
                  <a:pt x="90678" y="208619"/>
                  <a:pt x="102277" y="220218"/>
                  <a:pt x="116586" y="220218"/>
                </a:cubicBezTo>
                <a:lnTo>
                  <a:pt x="168402" y="220218"/>
                </a:lnTo>
                <a:moveTo>
                  <a:pt x="194310" y="168402"/>
                </a:moveTo>
                <a:lnTo>
                  <a:pt x="246126" y="168402"/>
                </a:lnTo>
                <a:cubicBezTo>
                  <a:pt x="260435" y="168402"/>
                  <a:pt x="272034" y="180001"/>
                  <a:pt x="272034" y="194310"/>
                </a:cubicBezTo>
                <a:lnTo>
                  <a:pt x="272034" y="246126"/>
                </a:lnTo>
                <a:cubicBezTo>
                  <a:pt x="272034" y="260435"/>
                  <a:pt x="260435" y="272034"/>
                  <a:pt x="246126" y="272034"/>
                </a:cubicBezTo>
                <a:lnTo>
                  <a:pt x="194310" y="272034"/>
                </a:lnTo>
                <a:cubicBezTo>
                  <a:pt x="180001" y="272034"/>
                  <a:pt x="168402" y="260435"/>
                  <a:pt x="168402" y="246126"/>
                </a:cubicBezTo>
                <a:lnTo>
                  <a:pt x="168402" y="194310"/>
                </a:lnTo>
                <a:cubicBezTo>
                  <a:pt x="168402" y="180001"/>
                  <a:pt x="180001" y="168402"/>
                  <a:pt x="194310" y="168402"/>
                </a:cubicBezTo>
                <a:close/>
              </a:path>
            </a:pathLst>
          </a:custGeom>
          <a:noFill/>
          <a:ln w="25908" cap="rnd">
            <a:solidFill>
              <a:srgbClr val="2BA6CB"/>
            </a:solidFill>
            <a:prstDash val="solid"/>
            <a:round/>
          </a:ln>
        </p:spPr>
      </p:sp>
      <p:sp>
        <p:nvSpPr>
          <p:cNvPr id="36" name="Text 34"/>
          <p:cNvSpPr/>
          <p:nvPr/>
        </p:nvSpPr>
        <p:spPr>
          <a:xfrm>
            <a:off x="8099052" y="484297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5</a:t>
            </a:r>
            <a:endParaRPr lang="en-US" sz="900" dirty="0"/>
          </a:p>
        </p:txBody>
      </p:sp>
      <p:sp>
        <p:nvSpPr>
          <p:cNvPr id="37" name="Text 35"/>
          <p:cNvSpPr/>
          <p:nvPr/>
        </p:nvSpPr>
        <p:spPr>
          <a:xfrm>
            <a:off x="6443988" y="5071574"/>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CI/CD</a:t>
            </a:r>
            <a:endParaRPr lang="en-US" sz="1050" dirty="0"/>
          </a:p>
        </p:txBody>
      </p:sp>
      <p:sp>
        <p:nvSpPr>
          <p:cNvPr id="38" name="Shape 36"/>
          <p:cNvSpPr/>
          <p:nvPr/>
        </p:nvSpPr>
        <p:spPr>
          <a:xfrm>
            <a:off x="6614458" y="385215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9" name="Icono chart-line"/>
          <p:cNvSpPr/>
          <p:nvPr/>
        </p:nvSpPr>
        <p:spPr>
          <a:xfrm>
            <a:off x="6760762" y="3998460"/>
            <a:ext cx="310896" cy="310896"/>
          </a:xfrm>
          <a:custGeom>
            <a:avLst/>
            <a:gdLst/>
            <a:ahLst/>
            <a:cxnLst/>
            <a:rect l="l" t="t" r="r" b="b"/>
            <a:pathLst>
              <a:path w="310896" h="310896">
                <a:moveTo>
                  <a:pt x="38862" y="38862"/>
                </a:moveTo>
                <a:lnTo>
                  <a:pt x="38862" y="246126"/>
                </a:lnTo>
                <a:cubicBezTo>
                  <a:pt x="38862" y="260435"/>
                  <a:pt x="50461" y="272034"/>
                  <a:pt x="64770" y="272034"/>
                </a:cubicBezTo>
                <a:lnTo>
                  <a:pt x="272034" y="272034"/>
                </a:lnTo>
                <a:moveTo>
                  <a:pt x="246126" y="116586"/>
                </a:moveTo>
                <a:lnTo>
                  <a:pt x="181356" y="181356"/>
                </a:lnTo>
                <a:lnTo>
                  <a:pt x="129540" y="129540"/>
                </a:lnTo>
                <a:lnTo>
                  <a:pt x="90678" y="168402"/>
                </a:lnTo>
              </a:path>
            </a:pathLst>
          </a:custGeom>
          <a:noFill/>
          <a:ln w="25908" cap="rnd">
            <a:solidFill>
              <a:srgbClr val="2BA6CB"/>
            </a:solidFill>
            <a:prstDash val="solid"/>
            <a:round/>
          </a:ln>
        </p:spPr>
      </p:sp>
      <p:sp>
        <p:nvSpPr>
          <p:cNvPr id="40" name="Text 38"/>
          <p:cNvSpPr/>
          <p:nvPr/>
        </p:nvSpPr>
        <p:spPr>
          <a:xfrm>
            <a:off x="7035082" y="377900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6</a:t>
            </a:r>
            <a:endParaRPr lang="en-US" sz="900" dirty="0"/>
          </a:p>
        </p:txBody>
      </p:sp>
      <p:sp>
        <p:nvSpPr>
          <p:cNvPr id="41" name="Text 39"/>
          <p:cNvSpPr/>
          <p:nvPr/>
        </p:nvSpPr>
        <p:spPr>
          <a:xfrm>
            <a:off x="5380018" y="4007604"/>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Observabilidad</a:t>
            </a:r>
            <a:endParaRPr lang="en-US" sz="1050" dirty="0"/>
          </a:p>
        </p:txBody>
      </p:sp>
      <p:sp>
        <p:nvSpPr>
          <p:cNvPr id="42" name="Shape 40"/>
          <p:cNvSpPr/>
          <p:nvPr/>
        </p:nvSpPr>
        <p:spPr>
          <a:xfrm>
            <a:off x="6614458" y="234747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43" name="Icono book-open"/>
          <p:cNvSpPr/>
          <p:nvPr/>
        </p:nvSpPr>
        <p:spPr>
          <a:xfrm>
            <a:off x="6760762" y="2493780"/>
            <a:ext cx="310896" cy="310896"/>
          </a:xfrm>
          <a:custGeom>
            <a:avLst/>
            <a:gdLst/>
            <a:ahLst/>
            <a:cxnLst/>
            <a:rect l="l" t="t" r="r" b="b"/>
            <a:pathLst>
              <a:path w="310896" h="310896">
                <a:moveTo>
                  <a:pt x="155448" y="90678"/>
                </a:moveTo>
                <a:lnTo>
                  <a:pt x="155448" y="272034"/>
                </a:lnTo>
                <a:moveTo>
                  <a:pt x="38862" y="233172"/>
                </a:moveTo>
                <a:cubicBezTo>
                  <a:pt x="31708" y="233172"/>
                  <a:pt x="25908" y="227372"/>
                  <a:pt x="25908" y="220218"/>
                </a:cubicBezTo>
                <a:lnTo>
                  <a:pt x="25908" y="51816"/>
                </a:lnTo>
                <a:cubicBezTo>
                  <a:pt x="25908" y="44662"/>
                  <a:pt x="31708" y="38862"/>
                  <a:pt x="38862" y="38862"/>
                </a:cubicBezTo>
                <a:lnTo>
                  <a:pt x="103632" y="38862"/>
                </a:lnTo>
                <a:cubicBezTo>
                  <a:pt x="132249" y="38862"/>
                  <a:pt x="155448" y="62061"/>
                  <a:pt x="155448" y="90678"/>
                </a:cubicBezTo>
                <a:cubicBezTo>
                  <a:pt x="155448" y="62061"/>
                  <a:pt x="178647" y="38862"/>
                  <a:pt x="207264" y="38862"/>
                </a:cubicBezTo>
                <a:lnTo>
                  <a:pt x="272034" y="38862"/>
                </a:lnTo>
                <a:cubicBezTo>
                  <a:pt x="279188" y="38862"/>
                  <a:pt x="284988" y="44662"/>
                  <a:pt x="284988" y="51816"/>
                </a:cubicBezTo>
                <a:lnTo>
                  <a:pt x="284988" y="220218"/>
                </a:lnTo>
                <a:cubicBezTo>
                  <a:pt x="284988" y="227372"/>
                  <a:pt x="279188" y="233172"/>
                  <a:pt x="272034" y="233172"/>
                </a:cubicBezTo>
                <a:lnTo>
                  <a:pt x="194310" y="233172"/>
                </a:lnTo>
                <a:cubicBezTo>
                  <a:pt x="172847" y="233172"/>
                  <a:pt x="155448" y="250571"/>
                  <a:pt x="155448" y="272034"/>
                </a:cubicBezTo>
                <a:cubicBezTo>
                  <a:pt x="155448" y="250571"/>
                  <a:pt x="138049" y="233172"/>
                  <a:pt x="116586" y="233172"/>
                </a:cubicBezTo>
                <a:close/>
              </a:path>
            </a:pathLst>
          </a:custGeom>
          <a:noFill/>
          <a:ln w="25908" cap="rnd">
            <a:solidFill>
              <a:srgbClr val="2BA6CB"/>
            </a:solidFill>
            <a:prstDash val="solid"/>
            <a:round/>
          </a:ln>
        </p:spPr>
      </p:sp>
      <p:sp>
        <p:nvSpPr>
          <p:cNvPr id="44" name="Text 42"/>
          <p:cNvSpPr/>
          <p:nvPr/>
        </p:nvSpPr>
        <p:spPr>
          <a:xfrm>
            <a:off x="7035082" y="227432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7</a:t>
            </a:r>
            <a:endParaRPr lang="en-US" sz="900" dirty="0"/>
          </a:p>
        </p:txBody>
      </p:sp>
      <p:sp>
        <p:nvSpPr>
          <p:cNvPr id="45" name="Text 43"/>
          <p:cNvSpPr/>
          <p:nvPr/>
        </p:nvSpPr>
        <p:spPr>
          <a:xfrm>
            <a:off x="5380018" y="2502924"/>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Documentación</a:t>
            </a:r>
            <a:endParaRPr lang="en-US" sz="1050" dirty="0"/>
          </a:p>
        </p:txBody>
      </p:sp>
      <p:sp>
        <p:nvSpPr>
          <p:cNvPr id="46" name="Shape 44"/>
          <p:cNvSpPr/>
          <p:nvPr/>
        </p:nvSpPr>
        <p:spPr>
          <a:xfrm>
            <a:off x="7678428" y="128350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47" name="Icono flask-conical"/>
          <p:cNvSpPr/>
          <p:nvPr/>
        </p:nvSpPr>
        <p:spPr>
          <a:xfrm>
            <a:off x="7824732" y="1429810"/>
            <a:ext cx="310896" cy="310896"/>
          </a:xfrm>
          <a:custGeom>
            <a:avLst/>
            <a:gdLst/>
            <a:ahLst/>
            <a:cxnLst/>
            <a:rect l="l" t="t" r="r" b="b"/>
            <a:pathLst>
              <a:path w="310896" h="310896">
                <a:moveTo>
                  <a:pt x="181356" y="25908"/>
                </a:moveTo>
                <a:lnTo>
                  <a:pt x="181356" y="103632"/>
                </a:lnTo>
                <a:cubicBezTo>
                  <a:pt x="181354" y="107978"/>
                  <a:pt x="182446" y="112254"/>
                  <a:pt x="184530" y="116068"/>
                </a:cubicBezTo>
                <a:lnTo>
                  <a:pt x="255906" y="246644"/>
                </a:lnTo>
                <a:cubicBezTo>
                  <a:pt x="260299" y="254672"/>
                  <a:pt x="260130" y="264422"/>
                  <a:pt x="255463" y="272293"/>
                </a:cubicBezTo>
                <a:cubicBezTo>
                  <a:pt x="250796" y="280165"/>
                  <a:pt x="242323" y="284990"/>
                  <a:pt x="233172" y="284988"/>
                </a:cubicBezTo>
                <a:lnTo>
                  <a:pt x="77724" y="284988"/>
                </a:lnTo>
                <a:cubicBezTo>
                  <a:pt x="68573" y="284990"/>
                  <a:pt x="60100" y="280165"/>
                  <a:pt x="55433" y="272293"/>
                </a:cubicBezTo>
                <a:cubicBezTo>
                  <a:pt x="50766" y="264422"/>
                  <a:pt x="50597" y="254672"/>
                  <a:pt x="54990" y="246644"/>
                </a:cubicBezTo>
                <a:lnTo>
                  <a:pt x="126366" y="116068"/>
                </a:lnTo>
                <a:cubicBezTo>
                  <a:pt x="128450" y="112254"/>
                  <a:pt x="129542" y="107978"/>
                  <a:pt x="129540" y="103632"/>
                </a:cubicBezTo>
                <a:lnTo>
                  <a:pt x="129540" y="25908"/>
                </a:lnTo>
                <a:moveTo>
                  <a:pt x="83592" y="194310"/>
                </a:moveTo>
                <a:lnTo>
                  <a:pt x="227304" y="194310"/>
                </a:lnTo>
                <a:moveTo>
                  <a:pt x="110109" y="25908"/>
                </a:moveTo>
                <a:lnTo>
                  <a:pt x="200787" y="25908"/>
                </a:lnTo>
              </a:path>
            </a:pathLst>
          </a:custGeom>
          <a:noFill/>
          <a:ln w="25908" cap="rnd">
            <a:solidFill>
              <a:srgbClr val="2BA6CB"/>
            </a:solidFill>
            <a:prstDash val="solid"/>
            <a:round/>
          </a:ln>
        </p:spPr>
      </p:sp>
      <p:sp>
        <p:nvSpPr>
          <p:cNvPr id="48" name="Text 46"/>
          <p:cNvSpPr/>
          <p:nvPr/>
        </p:nvSpPr>
        <p:spPr>
          <a:xfrm>
            <a:off x="8099052" y="121035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8</a:t>
            </a:r>
            <a:endParaRPr lang="en-US" sz="900" dirty="0"/>
          </a:p>
        </p:txBody>
      </p:sp>
      <p:sp>
        <p:nvSpPr>
          <p:cNvPr id="49" name="Text 47"/>
          <p:cNvSpPr/>
          <p:nvPr/>
        </p:nvSpPr>
        <p:spPr>
          <a:xfrm>
            <a:off x="6443988" y="1438954"/>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UI laboratorio</a:t>
            </a:r>
            <a:endParaRPr lang="en-US" sz="1050" dirty="0"/>
          </a:p>
        </p:txBody>
      </p:sp>
      <p:sp>
        <p:nvSpPr>
          <p:cNvPr id="50" name="Shape 48"/>
          <p:cNvSpPr/>
          <p:nvPr/>
        </p:nvSpPr>
        <p:spPr>
          <a:xfrm>
            <a:off x="758952" y="530352"/>
            <a:ext cx="329184" cy="329184"/>
          </a:xfrm>
          <a:prstGeom prst="ellipse">
            <a:avLst/>
          </a:prstGeom>
          <a:solidFill>
            <a:srgbClr val="2BA6CB"/>
          </a:solidFill>
          <a:ln w="12700">
            <a:solidFill>
              <a:srgbClr val="2BA6CB"/>
            </a:solidFill>
            <a:prstDash val="solid"/>
          </a:ln>
        </p:spPr>
      </p:sp>
      <p:sp>
        <p:nvSpPr>
          <p:cNvPr id="51" name="Text 49"/>
          <p:cNvSpPr/>
          <p:nvPr/>
        </p:nvSpPr>
        <p:spPr>
          <a:xfrm>
            <a:off x="758952" y="530352"/>
            <a:ext cx="329184" cy="329184"/>
          </a:xfrm>
          <a:prstGeom prst="rect">
            <a:avLst/>
          </a:prstGeom>
          <a:noFill/>
          <a:ln/>
        </p:spPr>
        <p:txBody>
          <a:bodyPr wrap="square" lIns="0" tIns="0" rIns="0" bIns="0" rtlCol="0" anchor="ctr"/>
          <a:lstStyle/>
          <a:p>
            <a:pPr algn="ctr" indent="0" marL="0">
              <a:buNone/>
            </a:pPr>
            <a:r>
              <a:rPr lang="en-US" sz="1300" b="1" dirty="0">
                <a:solidFill>
                  <a:srgbClr val="0B1F3A"/>
                </a:solidFill>
                <a:latin typeface="Segoe UI Semibold" pitchFamily="34" charset="0"/>
                <a:ea typeface="Segoe UI Semibold" pitchFamily="34" charset="-122"/>
                <a:cs typeface="Segoe UI Semibold" pitchFamily="34" charset="-120"/>
              </a:rPr>
              <a:t>A</a:t>
            </a:r>
            <a:endParaRPr lang="en-US" sz="1300" dirty="0"/>
          </a:p>
        </p:txBody>
      </p:sp>
      <p:sp>
        <p:nvSpPr>
          <p:cNvPr id="52" name="Text 50"/>
          <p:cNvSpPr/>
          <p:nvPr/>
        </p:nvSpPr>
        <p:spPr>
          <a:xfrm>
            <a:off x="1179576" y="530352"/>
            <a:ext cx="2011680" cy="329184"/>
          </a:xfrm>
          <a:prstGeom prst="rect">
            <a:avLst/>
          </a:prstGeom>
          <a:noFill/>
          <a:ln/>
        </p:spPr>
        <p:txBody>
          <a:bodyPr wrap="square" lIns="0" tIns="0" rIns="0" bIns="0" rtlCol="0" anchor="ctr"/>
          <a:lstStyle/>
          <a:p>
            <a:pPr indent="0" marL="0">
              <a:buNone/>
            </a:pPr>
            <a:r>
              <a:rPr lang="en-US" sz="1500" b="1" dirty="0">
                <a:solidFill>
                  <a:srgbClr val="FFFFFF"/>
                </a:solidFill>
                <a:latin typeface="Segoe UI Semibold" pitchFamily="34" charset="0"/>
                <a:ea typeface="Segoe UI Semibold" pitchFamily="34" charset="-122"/>
                <a:cs typeface="Segoe UI Semibold" pitchFamily="34" charset="-120"/>
              </a:rPr>
              <a:t>ARKA-Lite</a:t>
            </a:r>
            <a:endParaRPr lang="en-US" sz="1500" dirty="0"/>
          </a:p>
        </p:txBody>
      </p:sp>
      <p:sp>
        <p:nvSpPr>
          <p:cNvPr id="53" name="Text 51"/>
          <p:cNvSpPr/>
          <p:nvPr/>
        </p:nvSpPr>
        <p:spPr>
          <a:xfrm>
            <a:off x="758952" y="2011680"/>
            <a:ext cx="5486400" cy="1280160"/>
          </a:xfrm>
          <a:prstGeom prst="rect">
            <a:avLst/>
          </a:prstGeom>
          <a:noFill/>
          <a:ln/>
        </p:spPr>
        <p:txBody>
          <a:bodyPr wrap="square" lIns="0" tIns="0" rIns="0" bIns="0" rtlCol="0" anchor="ctr"/>
          <a:lstStyle/>
          <a:p>
            <a:pPr indent="0" marL="0">
              <a:buNone/>
            </a:pPr>
            <a:r>
              <a:rPr lang="en-US" sz="7200" b="1" dirty="0">
                <a:solidFill>
                  <a:srgbClr val="FFFFFF"/>
                </a:solidFill>
                <a:latin typeface="Segoe UI Semibold" pitchFamily="34" charset="0"/>
                <a:ea typeface="Segoe UI Semibold" pitchFamily="34" charset="-122"/>
                <a:cs typeface="Segoe UI Semibold" pitchFamily="34" charset="-120"/>
              </a:rPr>
              <a:t>Gracias</a:t>
            </a:r>
            <a:endParaRPr lang="en-US" sz="7200" dirty="0"/>
          </a:p>
        </p:txBody>
      </p:sp>
      <p:sp>
        <p:nvSpPr>
          <p:cNvPr id="54" name="Shape 52"/>
          <p:cNvSpPr/>
          <p:nvPr/>
        </p:nvSpPr>
        <p:spPr>
          <a:xfrm>
            <a:off x="758952" y="3429000"/>
            <a:ext cx="822960" cy="54864"/>
          </a:xfrm>
          <a:prstGeom prst="rect">
            <a:avLst/>
          </a:prstGeom>
          <a:solidFill>
            <a:srgbClr val="2BA6CB"/>
          </a:solidFill>
          <a:ln w="12700">
            <a:solidFill>
              <a:srgbClr val="2BA6CB"/>
            </a:solidFill>
            <a:prstDash val="solid"/>
          </a:ln>
        </p:spPr>
      </p:sp>
      <p:sp>
        <p:nvSpPr>
          <p:cNvPr id="55" name="Text 53"/>
          <p:cNvSpPr/>
          <p:nvPr/>
        </p:nvSpPr>
        <p:spPr>
          <a:xfrm>
            <a:off x="758952" y="3657600"/>
            <a:ext cx="5120640" cy="1280160"/>
          </a:xfrm>
          <a:prstGeom prst="rect">
            <a:avLst/>
          </a:prstGeom>
          <a:noFill/>
          <a:ln/>
        </p:spPr>
        <p:txBody>
          <a:bodyPr wrap="square" lIns="0" tIns="0" rIns="0" bIns="0" rtlCol="0" anchor="t"/>
          <a:lstStyle/>
          <a:p>
            <a:pPr indent="0" marL="0">
              <a:spcAft>
                <a:spcPts val="600"/>
              </a:spcAft>
              <a:buNone/>
            </a:pPr>
            <a:r>
              <a:rPr lang="en-US" sz="2000" dirty="0">
                <a:solidFill>
                  <a:srgbClr val="9FBEE0"/>
                </a:solidFill>
                <a:latin typeface="Segoe UI" pitchFamily="34" charset="0"/>
                <a:ea typeface="Segoe UI" pitchFamily="34" charset="-122"/>
                <a:cs typeface="Segoe UI" pitchFamily="34" charset="-120"/>
              </a:rPr>
              <a:t>Un laboratorio que cumplió su objetivo: aprender.</a:t>
            </a:r>
            <a:endParaRPr lang="en-US" sz="2000" dirty="0"/>
          </a:p>
          <a:p>
            <a:pPr indent="0" marL="0">
              <a:spcAft>
                <a:spcPts val="600"/>
              </a:spcAft>
              <a:buNone/>
            </a:pPr>
            <a:r>
              <a:rPr lang="en-US" sz="2000" dirty="0">
                <a:solidFill>
                  <a:srgbClr val="9FBEE0"/>
                </a:solidFill>
                <a:latin typeface="Segoe UI" pitchFamily="34" charset="0"/>
                <a:ea typeface="Segoe UI" pitchFamily="34" charset="-122"/>
                <a:cs typeface="Segoe UI" pitchFamily="34" charset="-120"/>
              </a:rPr>
              <a:t>Proyecto final · Upskilling Backend Java</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ARKA-Lite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ARKA-Lite · Recorrido resumen</dc:title>
  <dc:subject>Proyecto final de Upskilling Backend Java</dc:subject>
  <dc:creator>Upskilling Backend Java</dc:creator>
  <cp:lastModifiedBy>Upskilling Backend Java</cp:lastModifiedBy>
  <cp:revision>1</cp:revision>
  <dcterms:created xsi:type="dcterms:W3CDTF">2026-10-28T10:48:34Z</dcterms:created>
  <dcterms:modified xsi:type="dcterms:W3CDTF">2026-10-28T10:48:34Z</dcterms:modified>
</cp:coreProperties>
</file>