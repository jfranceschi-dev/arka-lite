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“Buenos días. Somos el equipo arka-litos, del curso Upskilling Backend Java, y hoy les presentamos ARKA-Lite, nuestro proyecto final.”
“Empezamos escribiendo un endpoint y terminamos con un sistema de dos microservicios corriendo en Kubernetes, con su pipeline, su base de datos y su observabilidad. No les vamos a contar el temario: les vamos a contar qué construimos, qué medimos y qué aprendimos.”
QUÉ HACER (no se dice)
• Antes de empezar, abrir la UI en http://localhost:8088 y comprobar que los dos servicios aparecen en verde.
PARA PASAR
“Primero, el proyecto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“ARKA-Lite hace algo sencillo a propósito: registra solicitudes, como una incidencia o un pedido de cambio, y avisa cuando una solicitud se envía. El problema es pequeño para que el foco esté en cómo se construye, se despliega y se opera.”
“Son dos microservicios con Spring Boot, once endpoints documentados, sesenta y siete pruebas automáticas y ocho contenedores que se levantan con un solo comando.”
“Y los dos números que más nos importan: un aviso se entrega en cinco segundos o menos, y no se pierde ni se duplica ninguno, aunque el otro servicio esté caído. Más adelante les mostramos cómo lo logramos.”
PARA PASAR
“Antes de entrar, ocho palabras que vamos a usar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“Sabemos que muchos de ustedes trabajan sobre todo con la base de datos y procedimientos almacenados, así que antes de entrar les dejamos ocho conceptos en una frase.”
“Un microservicio es una aplicación pequeña con una sola tarea y su propia base. Una API REST es la puerta para pedirle cosas por HTTP. La arquitectura hexagonal pone el negocio al centro y conecta la base y la web como si fueran enchufes. Y un ORM traduce entre clases Java y tablas, para no escribir a mano el SQL de todos los días.”
“Docker empaqueta la aplicación con todo lo que necesita; Kubernetes administra esos paquetes. CI/CD es un robot que prueba cada cambio. Y observabilidad es poder ver qué pasa adentro. Cada uno lo vamos a ver con un ejemplo.”
SI PREGUNTAN
¿Esto reemplaza a los procedimientos almacenados?
RESPUESTA CORTA
No necesariamente. Mueve las reglas del negocio al código; el SQL pesado o los reportes pueden seguir en la base.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“Vamos en ocho partes, en el orden en que se construye un sistema: fundamentos, arquitectura, base de datos, contenedores y Kubernetes, integración y entrega continua, observabilidad y documentación.”
“Después les mostramos la interfaz que usamos como laboratorio, sobre todo para ver qué pasa cuando algo falla. Y cerramos con el valor que esto deja.”
“Cada parte termina con una lámina de aprendizajes: qué aprendimos, cómo lo aplicamos y qué valor tiene para un equipo de tecnología.”
PARA PASAR
“Empecemos por los fundamentos.”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“Un endpoint REST es método más ruta: POST a /solicitudes crea, GET lista. El controlador solo traduce; quien decide es el dominio, que son clases Java normales, sin Spring. Por ejemplo, una solicitud solo se puede enviar si está en borrador.”
“Si la regla no se cumple, el dominio lanza una excepción, y un único manejador global la convierte en una respuesta HTTP. Así cada error tiene su código: 400 si faltan datos, 404 si no existe, 409 si hay un conflicto. Siempre con la misma forma: estado y mensaje.”
“Para el staff esto significa una API predecible: quien la consume sabe qué pasó sin leer el código.”
QUÉ HACER (no se dice)
• Mostrar: En la UI, crear dos veces el mismo identificador. Debe verse: El diálogo “Ese identificador ya existe” con el código 409.
PARA PASAR
“¿Y cómo sabemos que las reglas siguen funcionando después de cada cambio?”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servicio-solicitudes/…/dominio/Solicitud.java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“Como el dominio no depende de Spring, sus reglas se prueban en milisegundos. En lugar de PostgreSQL usamos un repositorio en memoria que cumple el mismo contrato, y los controladores los probamos con MockMvc, que simula peticiones HTTP sin levantar un servidor.”
“Ninguna prueba necesita una base de datos, así que corren igual en cualquier computadora y en el pipeline.”
QUÉ HACER (no se dice)
• Mostrar: ./mvnw test en servicio-solicitudes. Debe verse: Tests run: 28, Failures: 0.
PARA PASAR
“Esto es lo que nos llevamos de los fundamentos.”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servicio-solicitudes/…/adaptadores/entrada/ManejadorGlobalDeErrores.java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“Tres aprendizajes de esta parte. Primero: el negocio no debe depender del framework. Mantener las reglas en clases Java simples nos permitió probarlas rápido y pensar en el negocio, no en las anotaciones.”
“Segundo: los errores son parte del contrato. Un buen 409 con un mensaje claro ahorra muchas horas de soporte.”
“Y tercero: trabajar con ramas cortas y Pull Requests con aprobación nos dio un historial que cualquiera puede leer.”
PARA PASAR
“Con esas bases, veamos cómo está armado el sistema completo.”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“Este es el sistema por capas. Arriba, la experiencia: la persona usa la interfaz, y la interfaz no guarda nada, solo llama a los servicios por un proxy.”
“En el medio, los dos microservicios. Solicitudes lleva el trámite; notificaciones crea los avisos. No comparten base: cada uno es dueño de sus datos, y se comunican con un evento por HTTP.”
“Y abajo, la plataforma que lo sostiene: dónde corre, cómo se prueba y publica cada cambio, y dónde vemos los logs. Cada capa tiene una sola responsabilidad, y por eso cada una se puede cambiar sin romper las otras.”
SI PREGUNTAN
¿Por qué no comparten una sola base de datos?
RESPUESTA CORTA
Para que cada servicio sea dueño de sus datos y pueda cambiar sin romper al otro.
PARA PASAR
“Ahora entremos a uno de los servicios.”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“Para el equipo técnico, el mismo sistema con todo el detalle. Los números de las flechas siguen el orden de los pasos de abajo: la petición entra por nginx, el dominio guarda la solicitud y el evento en una transacción, el relevador lo entrega y notificaciones lo consume de forma idempotente.”
“Abajo, la entrega continua y la observabilidad: los logs de todos los contenedores llegan a Grafana con su traceId.”
PARA PASAR
“Veamos cómo se organiza el código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“¿Qué quiere decir hexagonal? El nombre viene del dibujo: un hexágono con el negocio al centro y cada lado como un enchufe hacia afuera. También se le llama puertos y adaptadores. El dominio no llama a la base: pide lo que necesita a través de puertos, que son interfaces.”
“Para quien trabaja con procedimientos almacenados es una idea conocida: la aplicación llama a un procedimiento por su nombre y sus parámetros, sin saber cómo está escrito por dentro. Aquí es al revés: el negocio declara qué necesita, y la tecnología se enchufa a ese contrato.”
“A la izquierda están los adaptadores de entrada, como el controlador REST. A la derecha, los de salida: el que guarda en PostgreSQL, el que anota el evento pendiente y el que lo publica con reintentos.”
“Fíjense en el de abajo: un repositorio en memoria que cumple el mismo puerto. Lo usan las pruebas, y Spring elige el de producción con @Primary. Por eso cambiar la base o el mecanismo de entrega no obliga a tocar las reglas del negocio.”
SI PREGUNTAN
¿Esto no es más código que una aplicación en capas tradicional?
RESPUESTA CORTA
Un poco más de interfaces, a cambio de probar sin base y cambiar adaptadores sin tocar reglas.
PARA PASAR
“¿Y por qué dos servicios y no uno solo?”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servicio-solicitudes/…/config/ConfiguracionDominio.java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“Separar no es gratis: agrega red entre servicios, una base por servicio y fallos parciales, cuando uno está arriba y el otro caído. La decisión se toma por negocio, despliegue, carga y equipos, no por moda.”
“En ARKA-Lite el trámite y los avisos cambian por motivos distintos, así que los separamos y los unimos con un contrato: el evento SolicitudEnviada, copiado en los dos proyectos.”
PARA PASAR
“Esto es lo que aprendimos de la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servicio-*/…/eventos/SolicitudEnviada.java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“Primero: los puertos separan el negocio de la tecnología. Hoy usamos PostgreSQL y HTTP, pero cambiar a otra base o a un sistema de mensajería no obligaría a reescribir las reglas.”
“Segundo: separar servicios tiene un costo real. Lo vale cuando el negocio o los equipos lo piden, no antes.”
“Y tercero: entre dos servicios, lo único compartido debe ser el contrato. Si cambia, cambia en los dos lados, de forma coordinada.”
PARA PASAR
“El costo más interesante de separar está en los datos. Vamos a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“Muchos de ustedes trabajan con procedimientos almacenados: la regla del negocio vive en la base, y la aplicación solo hace EXEC con parámetros. Funciona, pero cambiar una regla es cambiar la base, y probarla exige una base con datos.”
“En ARKA-Lite usamos un ORM, que significa mapeo objeto-relacional. En Java el estándar se llama JPA y la herramienta que lo hace es Hibernate. Una clase Java se marca como entidad y queda asociada a una tabla: cada campo es una columna. Cuando guardamos o buscamos, Hibernate escribe el INSERT, el UPDATE o el SELECT por nosotros.”
“Ojo: no es todo o nada. Las reglas del negocio pasan al código, donde se prueban en milisegundos, y lo que de verdad es trabajo de base de datos, como reportes pesados, puede seguir en SQL.”
SI PREGUNTAN
¿Y el rendimiento? ¿El SQL que genera Hibernate es bueno?
RESPUESTA CORTA
Para guardar y buscar por llave, sí. Para consultas complejas se puede escribir SQL propio; además, los índices y constraints siguen siendo trabajo de la base.
PARA PASAR
“¿Y cómo llega, paso a paso, una línea de Java hasta PostgreSQL?”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servicio-solicitudes/…/adaptadores/persistencia/SolicitudEntity.java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“Sigamos una línea de código. El dominio dice: guardar esta solicitud. No sabe nada de SQL. Spring Data nos da métodos listos, como save o findById, sin escribir una sola consulta.”
“Por debajo, Hibernate convierte el objeto en un INSERT o un UPDATE. Y el driver JDBC, con un pool de conexiones que las reutiliza, como el que ya conocen de cualquier aplicación, se lo manda a PostgreSQL, que ejecuta y confirma la transacción.”
“La dirección de la base, el usuario y la clave no están en el código: llegan por variables de entorno. Eso lo vamos a ver con Docker.”
PARA PASAR
“Ahora veamos qué tablas tiene cada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“Cada servicio tiene su propia base PostgreSQL. En la de solicitudes hay dos tablas: la solicitud, con un CHECK que solo admite los cuatro estados válidos, y la tabla evento, que funciona como bandeja de salida: cada fila es un aviso pendiente de entregar.”
“En la de notificaciones hay una sola tabla importante: evento_procesado, la lista de eventos que ya recibió.”
“Fíjense en la flecha: no hay llaves foráneas entre bases. Lo único que viaja de un lado al otro es el evento_id. Esa es la frontera entre los dos servicios.”
SI PREGUNTAN
¿Por qué no un JOIN entre las dos bases?
RESPUESTA CORTA
Porque cada servicio es dueño de sus datos; un JOIN entre bases los volvería a acoplar.
PARA PASAR
“Ahora, el problema más interesante: ¿qué pasa si guardo y el otro servicio está caído?”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“No usamos Flyway ni Liquibase, así que nos pusimos una regla: el archivo schema.sql corre en cada arranque y todo lo que tiene es idempotente. Crea lo que falta y actualiza bases viejas sin romperlas.”
“Además, Hibernate valida que las entidades coincidan con las tablas. Si no coinciden, el servicio no arranca, y eso es bueno: preferimos un error al inicio que datos mal guardados.”
“Y dos detalles de base de datos: un CHECK que impide estados inválidos aunque alguien escriba directo en la tabla, y un índice parcial que solo indexa los eventos pendientes, que son los que el relevador busca cada cinco segundos.”
SI PREGUNTAN
¿Cuándo conviene pasar a Flyway o Liquibase?
RESPUESTA CORTA
Cuando haya varias versiones en producción o cambios que no se puedan escribir de forma idempotente.
PARA PASAR
“Con el esquema claro, vamos al problema de la consistencia.”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servicio-solicitudes/src/main/resources/schema.sql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“Este es el problema de la consistencia. Si al enviar una solicitud llamáramos directamente a notificaciones y justo estuviera caído, la solicitud quedaría enviada y nadie se enteraría.”
“La solución se llama patrón outbox, o bandeja de salida. Al enviar, guardamos la solicitud y un evento pendiente en la misma transacción: o se guardan las dos cosas, o ninguna. La respuesta le llega a la persona enseguida.”
“Después, un relevador revisa la bandeja cada cinco segundos y entrega los pendientes, con hasta tres intentos. Si aun así falla, el evento sigue pendiente, con el mismo número, para el siguiente ciclo.”
SI PREGUNTAN
¿Que el envío responda bien significa que el aviso ya existe?
RESPUESTA CORTA
No. Significa que la solicitud y el evento quedaron guardados; el aviso llega después.
PARA PASAR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servicio-solicitudes/…/dominio/ServicioDeSolicitudes.java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“Sí, puede llegar dos veces. Si notificaciones recibió el evento pero su respuesta se perdió, el relevador cree que falló y lo vuelve a mandar.”
“Para eso está la idempotencia: repetir la misma operación no multiplica su efecto. Notificaciones funciona como un portero con lista: anota el número de cada evento, y si llega uno que ya está en la lista, lo ignora.”
“El outbox evita perder avisos; la idempotencia evita duplicarlos. Juntos dan lo que en la industria se llama entrega al menos una vez con efecto exactamente una vez.”
QUÉ HACER (no se dice)
• Mostrar: En la UI, pestaña Enviadas: Reentregar un evento ya consumido. Debe verse: El diálogo “El aviso no se duplicó” y Avisos duplicados en 0.
SI PREGUNTAN
¿Qué resuelve el outbox y qué resuelve la idempotencia?
RESPUESTA CORTA
El outbox evita perder el evento; la idempotencia evita duplicar su efecto.
PARA PASAR
“Esto es lo que aprendimos de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servicio-notificaciones/…/adaptadores/entrada/ConsumoIdempotente.java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“Cuatro aprendizajes de datos. El primero, para quienes vienen de los procedimientos almacenados: el ORM no elimina el trabajo de base de datos. Escribe el SQL rutinario, pero los índices, los CHECK y las transacciones siguen siendo diseño de base.”
“Segundo: la transacción local es la herramienta más confiable que tenemos. En lugar de coordinar dos servicios al mismo tiempo, guardamos todo en nuestra base y avisamos después.”
“Tercero: cualquier reintento necesita idempotencia del otro lado. Si no, los reintentos que nos protegen de perder datos nos terminan duplicando datos.”
“Y cuarto: el esquema también es código. Versionado, idempotente y validado al arrancar.”
PARA PASAR
“Los datos están cuidados. Ahora, ¿cómo llevamos todo esto a cualquier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“Dos palabras que se escuchan mucho. Docker resuelve el clásico “en mi máquina funciona”: empaqueta la aplicación con Java y todo lo que necesita en una imagen, un paquete que no cambia. Cuando esa imagen corre, se llama contenedor, y corre igual en una laptop o en un servidor.”
“Kubernetes es el siguiente nivel: no empaqueta, administra. Decide dónde corre cada contenedor, lo vigila, y si uno se cae, levanta otro. Piénsenlo como un puerto de carga: Docker es el contenedor estándar y Kubernetes es el puerto que los acomoda y reemplaza el que se daña.”
“En una sola computadora usamos Docker Compose; en un clúster, Kubernetes. La misma imagen sirve en los dos.”
SI PREGUNTAN
¿Docker es una máquina virtual?
RESPUESTA CORTA
No. Es más liviano: comparte el sistema operativo y solo aísla la aplicación y lo que necesita.
PARA PASAR
“Veamos el sistema completo levantado con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“El Dockerfile tiene dos etapas. La primera trae Maven y compila. La segunda solo lleva Java y el JAR, así la imagen final es más liviana y no carga herramientas de compilación.”
“Además corre con un usuario sin privilegios: si alguien llegara a comprometer el proceso, no sería administrador del contenedor.”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servicio-solicitudes/Dockerfile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“¿Cuántas veces hemos escuchado “en mi máquina funciona”? Con Docker, cada servicio viaja con su receta, y con Compose levantamos el sistema completo con un solo comando: los dos servicios, sus bases, la interfaz y las herramientas de logs.”
“Dentro de la red de Compose, cada servicio encuentra al otro por su nombre, no por localhost. Y la configuración entra por variables de entorno, así que la misma imagen sirve en nuestra computadora y en el clúster, sin recompilar.”
“Para un equipo nuevo, esto es la diferencia entre un día configurando y cinco minutos.”
QUÉ HACER (no se dice)
• Mostrar: docker compose ps Debe verse: La UI, los servicios y las bases arriba y sanos.
SI PREGUNTAN
Dentro de un contenedor, ¿a dónde lleva localhost?
RESPUESTA CORTA
Al mismo contenedor, no a otro servicio. Por eso usamos el nombre del servicio.
PARA PASAR
“En nuestra computadora usamos Compose. En un clúster,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“Para el equipo técnico, estos son los recursos. Un Deployment por componente, que crea su Pod; un Service que le da un nombre fijo; la contraseña en un Secret; y un disco persistente por base, que sobrevive si el Pod se recrea.”
“Antes de arrancar, cada servicio espera con initContainers a que su base y sus dependencias respondan, y una readinessProbe evita mandarle tráfico antes de tiempo. Todo se aplica con un solo kubectl apply.”
PARA PASAR
“¿Y qué pasa cuando algo se cae?”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despliegue local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“Kubernetes funciona como un termostato: no le decimos qué hacer paso a paso, le decimos el estado que queremos, por ejemplo una copia de cada servicio, y él lo mantiene.”
“Si el Pod de solicitudes se cae, el Deployment detecta que falta una copia y crea otro con la misma imagen. El Pod nuevo espera a que su base y notificaciones respondan, y solo cuando su prueba de salud contesta, el Service le vuelve a mandar tráfico.”
“Y como los eventos pendientes están en la base, no en memoria, nada se pierde mientras tanto. Nadie tuvo que despertarse a las tres de la mañana.”
QUÉ HACER (no se dice)
• Mostrar: kubectl delete pod -l app=servicio-solicitudes y luego kubectl get pods -w. Debe verse: Aparece un Pod nuevo que vuelve a estar Ready.
SI PREGUNTAN
¿Y si se cae la base?
RESPUESTA CORTA
Su Pod también se recrea y los datos siguen en el disco persistente; los servicios esperan a que vuelva.
PARA PASAR
“Esto es lo que aprendimos de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“Primero: la imagen es el entregable. Lo que se prueba es exactamente lo que se despliega.”
“Segundo: configurar por variables de entorno y no por código. Así hay un solo artefacto para todos los ambientes.”
“Y tercero: con Kubernetes declaramos el estado que queremos y el clúster lo mantiene. Arrancar no es lo mismo que estar listo, y eso hay que decírselo explícitamente.”
PARA PASAR
“¿Y quién construye y prueba esas imágenes? Nadie a mano: el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“Con GitHub Actions, cada vez que alguien sube un cambio o abre un Pull Request, se dispara el pipeline. Por cada servicio prepara Java y una base PostgreSQL, compila y corre todas las pruebas.”
“Luego hace algo que muchos pipelines no hacen: arranca el servicio de verdad y espera a ver los datos iniciales. Así detectamos errores de configuración que las pruebas unitarias no ven.”
“Si todo pasa, construye la imagen y la publica etiquetada con el código del commit. Cada imagen se puede rastrear hasta el cambio exacto que la produjo.”
SI PREGUNTAN
¿Publicar la imagen la despliega en Kubernetes?
RESPUESTA CORTA
No. Hoy desplegar es un paso aparte; es el siguiente paso natural.
PARA PASAR
“El pipeline funciona porque todo entra por el mismo camino.”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.github/workflows/ci.yml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“Cada tarea va en una rama corta con un nombre que dice qué es, y cada commit sigue una convención: tipo, dos puntos y qué hace el cambio.”
“Nadie sube directo a main: todo entra por un Pull Request, con una aprobación y el pipeline en verde.”
QUÉ HACER (no se dice)
• Mostrar el historial del repositorio en GitHub; no crear commits durante la exposición.
PARA PASAR
“Esto es lo que aprendimos de la integración continua.”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“Primero: hay que probar que el servicio arranca, no solo que compila. Muchos errores de configuración solo aparecen al arrancar.”
“Segundo: cada imagen se etiqueta con su commit. Eso nos dice exactamente qué código está corriendo y nos permite volver atrás con certeza.”
“Y tercero: el pipeline es la puerta de entrada. La calidad no depende de que alguien se acuerde de correr las pruebas.”
PARA PASAR
“Ya está desplegado. ¿Cómo sabemos qué pasa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“Con dos servicios, cada uno tiene sus propios logs. Si algo falla, no queremos entrar contenedor por contenedor a buscar.”
“Cada servicio escribe sus logs en JSON, con un formato estándar. Promtail los recoge de todos los contenedores, Loki los guarda etiquetados por servicio y Grafana nos deja buscarlos en un solo lugar.”
“Las llamadas entre servicios llevan el traceId, así que con una sola búsqueda vemos el viaje de un evento: cuándo lo publicó el relevador y cuándo lo consumió notificaciones.”
QUÉ HACER (no se dice)
• Mostrar: Grafana › Explore › Loki: {service="servicio-notificaciones"} |= "evento". Debe verse: Las líneas “Consume evento” y “aviso creado” con el número del evento.
PARA PASAR
“Los logs cuentan qué pasó. La salud dice cómo estamos ahora.”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“Cada servicio expone su salud con Spring Boot Actuator: por dentro revisa, por ejemplo, que pueda hablar con su base. La interfaz la muestra en la pestaña Salud.”
“Pero ojo: que un servicio diga UP solo significa que responde. No garantiza que todos los avisos llegaron. Para eso miramos los eventos pendientes y los logs.”
“Las métricas ya se exponen en formato Prometheus; guardarlas en el tiempo y ponerles alertas es el siguiente paso.”
SI PREGUNTAN
Si todo está UP y falta un aviso, ¿qué miramos?
RESPUESTA CORTA
Si el evento sigue pendiente en Enviadas, y los logs del relevador y de notificaciones.
PARA PASAR
“Esto es lo que aprendimos de la observabilidad.”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“Primero: los logs estructurados se configuran desde el día uno. Después es mucho más caro.”
“Segundo: en un sistema distribuido hace falta un identificador que cruce los servicios. Sin el traceId o el eventoId, diagnosticar es adivinar.”
“Y tercero: salud no es lo mismo que correcto. Un servicio puede estar UP y tener avisos pendientes; hay que medir el resultado, no solo el proceso.”
PARA PASAR
“Todo esto también tiene que estar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“Un contrato de API es como el menú de un restaurante: dice qué se puede pedir, qué lleva cada pedido y qué te van a devolver.”
“Cada servicio publica su contrato con el estándar OpenAPI, usando springdoc, y Swagger lo muestra como una página donde se puede ver cada endpoint, sus códigos de respuesta y probarlo en vivo.”
“Lo importante para el staff: se genera desde el código. Cuando agregamos un endpoint, aparece solo, y nunca queda desactualizado. Un equipo que consume la API no tiene que pedirnos un documento.”
QUÉ HACER (no se dice)
• Mostrar: En la UI, pestaña Salud › Swagger · solicitudes, y ejecutar GET /solicitudes. Debe verse: La lista en JSON con código 200.
PARA PASAR
“Y lo que no sale del código, lo documentamos junto al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“Lo que no sale del código, vive junto al código. La carpeta docs del repositorio tiene cómo empezar, la arquitectura, la operación, el pipeline y nuestras convenciones de trabajo.”
“Y tenemos una regla: si un Pull Request cambia un endpoint, una variable de entorno, un comando o un contrato, actualiza la documentación en el mismo Pull Request. Así la documentación no se queda atrás.”
PARA PASAR
“Esto es lo que aprendimos de documentar.”
PARA LEER MÁS
docs/README.md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“Primero: lo que se genera desde el código no se desactualiza. Es la mejor documentación de API que existe.”
“Segundo: la documentación se revisa en el mismo Pull Request que el cambio.”
“Y tercero: documentamos para la persona que llega mañana al equipo. Ese es el verdadero usuario de la documentación.”
PARA PASAR
“Para ver todo esto funcionando, construimos una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“Una aclaración importante: esta interfaz no es parte del entregable. Los entregables son los dos microservicios y su plataforma. La interfaz la agregamos como laboratorio, para que cualquiera pueda ver lo que normalmente es invisible.”
“En Solicitudes se crean y se envían. En Enviadas se ve la bandeja de salida: qué eventos están pendientes, cuáles se entregaron, y un botón para reentregar a propósito. En Salud, si cada servicio está UP o DOWN. Y en Ayuda, diagramas de cómo funciona.”
“Donde más vale es cuando algo falla. Veamos eso.”
PARA PASAR
“Primer caso: el servicio de notificaciones se cae.”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“Detenemos notificaciones a propósito. En la pestaña Salud aparece en DOWN.”
“Ahora enviamos una solicitud. La respuesta es buena: la solicitud queda enviada y su evento queda guardado. La persona no ve ningún error, porque no depende de que el otro servicio esté arriba.”
“En Enviadas vemos el evento en camino. El relevador lo intenta cada cinco segundos y falla, pero no lo pierde. Cuando levantamos notificaciones, en el siguiente ciclo lo entrega con el mismo número, y aparece exactamente un aviso.”
QUÉ HACER (no se dice)
• Antes: docker compose stop servicio-notificaciones. Mostrar Salud en DOWN.
• Crear y enviar DEMO-01; mostrar en Enviadas “1 evento en camino”.
• docker compose start servicio-notificaciones y esperar unos segundos: el evento pasa a entregado y aparece 1 aviso.
• Mostrar: Detener notificaciones, enviar DEMO-01, mirar Enviadas y volver a iniciar notificaciones. Debe verse: Evento en camino mientras está caído; al volver, entregado y 1 aviso.
SI PREGUNTAN
¿Cuánto tiempo puede esperar un evento pendiente?
RESPUESTA CORTA
Indefinidamente: está en la base. Se entrega en el primer ciclo después de que notificaciones vuelve.
PARA PASAR
“Ese es el caso más importante, pero no el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“Esta tabla resume cómo se comporta el sistema ante cada falla que probamos, y qué ve la persona en la interfaz.”
“Si un evento llega dos veces, se ignora. Si alguien intenta una acción que no corresponde, como enviar dos veces, recibe un 409 con el motivo. Si faltan datos, un 400 sin guardar nada.”
“Y un detalle de diseño en la propia interfaz: si una operación que cambia datos tarda o se corta, no la repite sola, porque el cambio pudo haberse guardado aunque la respuesta no llegara. Ninguna falla queda sin una reacción prevista.”
QUÉ HACER (no se dice)
• Mostrar: En Enviadas, Reentregar un evento ya consumido; en Solicitudes, enviar dos veces la misma solicitud. Debe verse: “El aviso no se duplicó” y el diálogo 409.
PARA PASAR
“Esto es lo que aprendimos con la UI como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“Primero: hay que diseñar para la falla, no solo para el camino feliz. La pregunta no es si algo va a fallar, sino cómo se comporta cuando falle.”
“Segundo: lo asíncrono hay que hacerlo visible. Sin la pestaña Enviadas, un evento pendiente sería invisible.”
“Y tercero: una herramienta de demostración también sirve para capacitar. Esta interfaz se puede usar para explicarle el sistema a cualquiera.”
PARA PASAR
“Para cerrar, el valor que deja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“Si tuviéramos que resumir el valor en una lámina, sería esta. Construimos resiliencia: ante una caída parcial no se pierde ni se duplica un aviso. Reproducibilidad: un comando y la misma imagen en cualquier ambiente.”
“Calidad: sesenta y siete pruebas en cada Pull Request. Trazabilidad: logs centralizados con traceId e imágenes rastreables a su commit. Y contratos claros con un diseño que permite cambiar tecnología sin tocar el negocio.”
“Nada de esto es exclusivo de ARKA-Lite: son prácticas que cualquier equipo puede adoptar desde mañana.”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“Tres ideas. Diseñar para la falla: en un sistema distribuido, algo siempre va a fallar, y la diferencia está en cómo reacciona.”
“Automatizar la confianza: pruebas, pipeline e infraestructura declarada nos permiten cambiar rápido sin miedo.”
“Y hacer visible el sistema: lo que no se ve no se puede diagnosticar ni explicar.”
PARA PASAR
“También queremos ser honestos con lo que le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“ARKA-Lite es un laboratorio y lo decimos con claridad. El texto de los avisos vive en memoria, no hay inicio de sesión, las métricas no se guardan en el tiempo y el pipeline publica las imágenes, pero no las despliega solo.”
“Esos son los siguientes pasos naturales, y la arquitectura ya está preparada para ellos: por ejemplo, guardar los avisos es cambiar un adaptador, sin tocar el negocio.”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“Empezamos con un endpoint y terminamos con un sistema de dos microservicios, con su base de datos, empaquetado, desplegado, observado y documentado, que sabe comportarse cuando algo falla.”
“Muchas gracias por acompañarnos.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589520" y="-1737360"/>
            <a:ext cx="6583680" cy="6583680"/>
          </a:xfrm>
          <a:prstGeom prst="ellipse">
            <a:avLst/>
          </a:prstGeom>
          <a:solidFill>
            <a:srgbClr val="0B2350"/>
          </a:solidFill>
          <a:ln w="12700">
            <a:solidFill>
              <a:srgbClr val="0B2350"/>
            </a:solidFill>
            <a:prstDash val="solid"/>
          </a:ln>
        </p:spPr>
      </p:sp>
      <p:sp>
        <p:nvSpPr>
          <p:cNvPr id="3" name="Shape 1"/>
          <p:cNvSpPr/>
          <p:nvPr/>
        </p:nvSpPr>
        <p:spPr>
          <a:xfrm>
            <a:off x="9966960" y="4206240"/>
            <a:ext cx="3108960" cy="3108960"/>
          </a:xfrm>
          <a:prstGeom prst="ellipse">
            <a:avLst/>
          </a:prstGeom>
          <a:solidFill>
            <a:srgbClr val="113B66"/>
          </a:solidFill>
          <a:ln w="12700">
            <a:solidFill>
              <a:srgbClr val="0B2350"/>
            </a:solidFill>
            <a:prstDash val="solid"/>
          </a:ln>
        </p:spPr>
      </p:sp>
      <p:sp>
        <p:nvSpPr>
          <p:cNvPr id="4" name="Shape 2"/>
          <p:cNvSpPr/>
          <p:nvPr/>
        </p:nvSpPr>
        <p:spPr>
          <a:xfrm>
            <a:off x="0" y="0"/>
            <a:ext cx="109728" cy="6858000"/>
          </a:xfrm>
          <a:prstGeom prst="rect">
            <a:avLst/>
          </a:prstGeom>
          <a:solidFill>
            <a:srgbClr val="2BA6CB"/>
          </a:solidFill>
          <a:ln w="12700">
            <a:solidFill>
              <a:srgbClr val="2BA6CB"/>
            </a:solidFill>
            <a:prstDash val="soli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1828800"/>
            <a:ext cx="64008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9" name="Text 7"/>
          <p:cNvSpPr/>
          <p:nvPr/>
        </p:nvSpPr>
        <p:spPr>
          <a:xfrm>
            <a:off x="758952" y="2176272"/>
            <a:ext cx="658368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10" name="Text 8"/>
          <p:cNvSpPr/>
          <p:nvPr/>
        </p:nvSpPr>
        <p:spPr>
          <a:xfrm>
            <a:off x="758952" y="4114800"/>
            <a:ext cx="6217920" cy="822960"/>
          </a:xfrm>
          <a:prstGeom prst="rect">
            <a:avLst/>
          </a:prstGeom>
          <a:noFill/>
          <a:ln/>
        </p:spPr>
        <p:txBody>
          <a:bodyPr wrap="square" lIns="0" tIns="0" rIns="0" bIns="0" rtlCol="0" anchor="t"/>
          <a:lstStyle/>
          <a:p>
            <a:pPr indent="0" marL="0">
              <a:buNone/>
            </a:pPr>
            <a:r>
              <a:rPr lang="en-US" sz="1800" dirty="0">
                <a:solidFill>
                  <a:srgbClr val="9FBEE0"/>
                </a:solidFill>
                <a:latin typeface="Segoe UI" pitchFamily="34" charset="0"/>
                <a:ea typeface="Segoe UI" pitchFamily="34" charset="-122"/>
                <a:cs typeface="Segoe UI" pitchFamily="34" charset="-120"/>
              </a:rPr>
              <a:t>Lo que aprendimos construyendo dos microservicios Java, de punta a punta.</a:t>
            </a:r>
            <a:endParaRPr lang="en-US" sz="1800" dirty="0"/>
          </a:p>
        </p:txBody>
      </p:sp>
      <p:sp>
        <p:nvSpPr>
          <p:cNvPr id="11" name="Text 9"/>
          <p:cNvSpPr/>
          <p:nvPr/>
        </p:nvSpPr>
        <p:spPr>
          <a:xfrm>
            <a:off x="758952" y="5212080"/>
            <a:ext cx="4791456" cy="384048"/>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100" b="1" spc="150" kern="0" dirty="0">
                <a:solidFill>
                  <a:srgbClr val="2BA6CB"/>
                </a:solidFill>
                <a:latin typeface="Segoe UI" pitchFamily="34" charset="0"/>
                <a:ea typeface="Segoe UI" pitchFamily="34" charset="-122"/>
                <a:cs typeface="Segoe UI" pitchFamily="34" charset="-120"/>
              </a:rPr>
              <a:t>VERSIÓN TÉCNICO · STAFF DE TECNOLOGÍA</a:t>
            </a:r>
            <a:endParaRPr lang="en-US" sz="1100" dirty="0"/>
          </a:p>
        </p:txBody>
      </p:sp>
      <p:sp>
        <p:nvSpPr>
          <p:cNvPr id="12" name="Text 10"/>
          <p:cNvSpPr/>
          <p:nvPr/>
        </p:nvSpPr>
        <p:spPr>
          <a:xfrm>
            <a:off x="758952" y="5897880"/>
            <a:ext cx="9144000" cy="274320"/>
          </a:xfrm>
          <a:prstGeom prst="rect">
            <a:avLst/>
          </a:prstGeom>
          <a:noFill/>
          <a:ln/>
        </p:spPr>
        <p:txBody>
          <a:bodyPr wrap="square" lIns="0" tIns="0" rIns="0" bIns="0" rtlCol="0" anchor="ctr"/>
          <a:lstStyle/>
          <a:p>
            <a:pPr indent="0" marL="0">
              <a:buNone/>
            </a:pPr>
            <a:r>
              <a:rPr lang="en-US" sz="1150" dirty="0">
                <a:solidFill>
                  <a:srgbClr val="9FBEE0"/>
                </a:solidFill>
                <a:latin typeface="Segoe UI" pitchFamily="34" charset="0"/>
                <a:ea typeface="Segoe UI" pitchFamily="34" charset="-122"/>
                <a:cs typeface="Segoe UI" pitchFamily="34" charset="-120"/>
              </a:rPr>
              <a:t>Equipo arka-litos · Recorrido técnico</a:t>
            </a:r>
            <a:endParaRPr lang="en-US" sz="1150" dirty="0"/>
          </a:p>
        </p:txBody>
      </p:sp>
      <p:sp>
        <p:nvSpPr>
          <p:cNvPr id="13" name="Shape 11"/>
          <p:cNvSpPr/>
          <p:nvPr/>
        </p:nvSpPr>
        <p:spPr>
          <a:xfrm>
            <a:off x="9710928" y="2112264"/>
            <a:ext cx="0" cy="530352"/>
          </a:xfrm>
          <a:prstGeom prst="line">
            <a:avLst/>
          </a:prstGeom>
          <a:noFill/>
          <a:ln w="22225">
            <a:solidFill>
              <a:srgbClr val="5D7598"/>
            </a:solidFill>
            <a:prstDash val="solid"/>
          </a:ln>
        </p:spPr>
      </p:sp>
      <p:sp>
        <p:nvSpPr>
          <p:cNvPr id="14" name="Shape 12"/>
          <p:cNvSpPr/>
          <p:nvPr/>
        </p:nvSpPr>
        <p:spPr>
          <a:xfrm>
            <a:off x="8851392" y="2642616"/>
            <a:ext cx="1737360" cy="0"/>
          </a:xfrm>
          <a:prstGeom prst="line">
            <a:avLst/>
          </a:prstGeom>
          <a:noFill/>
          <a:ln w="22225">
            <a:solidFill>
              <a:srgbClr val="5D7598"/>
            </a:solidFill>
            <a:prstDash val="solid"/>
          </a:ln>
        </p:spPr>
      </p:sp>
      <p:sp>
        <p:nvSpPr>
          <p:cNvPr id="15" name="Shape 13"/>
          <p:cNvSpPr/>
          <p:nvPr/>
        </p:nvSpPr>
        <p:spPr>
          <a:xfrm>
            <a:off x="8851392" y="2642616"/>
            <a:ext cx="0" cy="347472"/>
          </a:xfrm>
          <a:prstGeom prst="line">
            <a:avLst/>
          </a:prstGeom>
          <a:noFill/>
          <a:ln w="22225">
            <a:solidFill>
              <a:srgbClr val="5D7598"/>
            </a:solidFill>
            <a:prstDash val="solid"/>
          </a:ln>
        </p:spPr>
      </p:sp>
      <p:sp>
        <p:nvSpPr>
          <p:cNvPr id="16" name="Shape 14"/>
          <p:cNvSpPr/>
          <p:nvPr/>
        </p:nvSpPr>
        <p:spPr>
          <a:xfrm>
            <a:off x="10588752" y="2642616"/>
            <a:ext cx="0" cy="347472"/>
          </a:xfrm>
          <a:prstGeom prst="line">
            <a:avLst/>
          </a:prstGeom>
          <a:noFill/>
          <a:ln w="22225">
            <a:solidFill>
              <a:srgbClr val="5D7598"/>
            </a:solidFill>
            <a:prstDash val="solid"/>
          </a:ln>
        </p:spPr>
      </p:sp>
      <p:sp>
        <p:nvSpPr>
          <p:cNvPr id="17" name="Shape 15"/>
          <p:cNvSpPr/>
          <p:nvPr/>
        </p:nvSpPr>
        <p:spPr>
          <a:xfrm>
            <a:off x="8851392" y="3675888"/>
            <a:ext cx="0" cy="566928"/>
          </a:xfrm>
          <a:prstGeom prst="line">
            <a:avLst/>
          </a:prstGeom>
          <a:noFill/>
          <a:ln w="22225">
            <a:solidFill>
              <a:srgbClr val="5D7598"/>
            </a:solidFill>
            <a:prstDash val="solid"/>
          </a:ln>
        </p:spPr>
      </p:sp>
      <p:sp>
        <p:nvSpPr>
          <p:cNvPr id="18" name="Shape 16"/>
          <p:cNvSpPr/>
          <p:nvPr/>
        </p:nvSpPr>
        <p:spPr>
          <a:xfrm>
            <a:off x="10588752" y="3675888"/>
            <a:ext cx="0" cy="566928"/>
          </a:xfrm>
          <a:prstGeom prst="line">
            <a:avLst/>
          </a:prstGeom>
          <a:noFill/>
          <a:ln w="22225">
            <a:solidFill>
              <a:srgbClr val="5D7598"/>
            </a:solidFill>
            <a:prstDash val="solid"/>
          </a:ln>
        </p:spPr>
      </p:sp>
      <p:sp>
        <p:nvSpPr>
          <p:cNvPr id="19" name="Shape 17"/>
          <p:cNvSpPr/>
          <p:nvPr/>
        </p:nvSpPr>
        <p:spPr>
          <a:xfrm>
            <a:off x="8951976" y="1426464"/>
            <a:ext cx="1527048" cy="685800"/>
          </a:xfrm>
          <a:prstGeom prst="roundRect">
            <a:avLst>
              <a:gd name="adj" fmla="val 18667"/>
            </a:avLst>
          </a:prstGeom>
          <a:solidFill>
            <a:srgbClr val="2BA6CB"/>
          </a:solidFill>
          <a:ln w="12700">
            <a:solidFill>
              <a:srgbClr val="2BA6CB"/>
            </a:solidFill>
            <a:prstDash val="solid"/>
          </a:ln>
          <a:effectLst>
            <a:outerShdw sx="100000" sy="100000" kx="0" ky="0" algn="bl" rotWithShape="0" blurRad="127000" dist="38100" dir="5400000">
              <a:srgbClr val="000000">
                <a:alpha val="30000"/>
              </a:srgbClr>
            </a:outerShdw>
          </a:effectLst>
        </p:spPr>
      </p:sp>
      <p:sp>
        <p:nvSpPr>
          <p:cNvPr id="20" name="Icono monitor"/>
          <p:cNvSpPr/>
          <p:nvPr/>
        </p:nvSpPr>
        <p:spPr>
          <a:xfrm>
            <a:off x="9079992" y="1645920"/>
            <a:ext cx="246888" cy="246888"/>
          </a:xfrm>
          <a:custGeom>
            <a:avLst/>
            <a:gdLst/>
            <a:ahLst/>
            <a:cxnLst/>
            <a:rect l="l" t="t" r="r" b="b"/>
            <a:pathLst>
              <a:path w="246888" h="246888">
                <a:moveTo>
                  <a:pt x="41148" y="30861"/>
                </a:moveTo>
                <a:lnTo>
                  <a:pt x="205740" y="30861"/>
                </a:lnTo>
                <a:cubicBezTo>
                  <a:pt x="217103" y="30861"/>
                  <a:pt x="226314" y="40072"/>
                  <a:pt x="226314" y="51435"/>
                </a:cubicBezTo>
                <a:lnTo>
                  <a:pt x="226314" y="154305"/>
                </a:lnTo>
                <a:cubicBezTo>
                  <a:pt x="226314" y="165668"/>
                  <a:pt x="217103" y="174879"/>
                  <a:pt x="205740" y="174879"/>
                </a:cubicBezTo>
                <a:lnTo>
                  <a:pt x="41148" y="174879"/>
                </a:lnTo>
                <a:cubicBezTo>
                  <a:pt x="29785" y="174879"/>
                  <a:pt x="20574" y="165668"/>
                  <a:pt x="20574" y="154305"/>
                </a:cubicBezTo>
                <a:lnTo>
                  <a:pt x="20574" y="51435"/>
                </a:lnTo>
                <a:cubicBezTo>
                  <a:pt x="20574" y="40072"/>
                  <a:pt x="29785" y="30861"/>
                  <a:pt x="41148" y="30861"/>
                </a:cubicBezTo>
                <a:close/>
                <a:moveTo>
                  <a:pt x="82296" y="216027"/>
                </a:moveTo>
                <a:lnTo>
                  <a:pt x="164592" y="216027"/>
                </a:lnTo>
                <a:moveTo>
                  <a:pt x="123444" y="174879"/>
                </a:moveTo>
                <a:lnTo>
                  <a:pt x="123444" y="216027"/>
                </a:lnTo>
              </a:path>
            </a:pathLst>
          </a:custGeom>
          <a:noFill/>
          <a:ln w="20574" cap="rnd">
            <a:solidFill>
              <a:srgbClr val="0B1F3A"/>
            </a:solidFill>
            <a:prstDash val="solid"/>
            <a:round/>
          </a:ln>
        </p:spPr>
      </p:sp>
      <p:sp>
        <p:nvSpPr>
          <p:cNvPr id="21" name="Text 19"/>
          <p:cNvSpPr/>
          <p:nvPr/>
        </p:nvSpPr>
        <p:spPr>
          <a:xfrm>
            <a:off x="9372600" y="1426464"/>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UI</a:t>
            </a:r>
            <a:endParaRPr lang="en-US" sz="1200" dirty="0"/>
          </a:p>
        </p:txBody>
      </p:sp>
      <p:sp>
        <p:nvSpPr>
          <p:cNvPr id="22" name="Shape 20"/>
          <p:cNvSpPr/>
          <p:nvPr/>
        </p:nvSpPr>
        <p:spPr>
          <a:xfrm>
            <a:off x="809244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23" name="Icono clipboard-list"/>
          <p:cNvSpPr/>
          <p:nvPr/>
        </p:nvSpPr>
        <p:spPr>
          <a:xfrm>
            <a:off x="8220456" y="3209544"/>
            <a:ext cx="246888" cy="246888"/>
          </a:xfrm>
          <a:custGeom>
            <a:avLst/>
            <a:gdLst/>
            <a:ahLst/>
            <a:cxnLst/>
            <a:rect l="l" t="t" r="r" b="b"/>
            <a:pathLst>
              <a:path w="246888" h="246888">
                <a:moveTo>
                  <a:pt x="92583" y="20574"/>
                </a:moveTo>
                <a:lnTo>
                  <a:pt x="154305" y="20574"/>
                </a:lnTo>
                <a:cubicBezTo>
                  <a:pt x="159986" y="20574"/>
                  <a:pt x="164592" y="25180"/>
                  <a:pt x="164592" y="30861"/>
                </a:cubicBezTo>
                <a:lnTo>
                  <a:pt x="164592" y="51435"/>
                </a:lnTo>
                <a:cubicBezTo>
                  <a:pt x="164592" y="57116"/>
                  <a:pt x="159986" y="61722"/>
                  <a:pt x="154305" y="61722"/>
                </a:cubicBezTo>
                <a:lnTo>
                  <a:pt x="92583" y="61722"/>
                </a:lnTo>
                <a:cubicBezTo>
                  <a:pt x="86902" y="61722"/>
                  <a:pt x="82296" y="57116"/>
                  <a:pt x="82296" y="51435"/>
                </a:cubicBezTo>
                <a:lnTo>
                  <a:pt x="82296" y="30861"/>
                </a:lnTo>
                <a:cubicBezTo>
                  <a:pt x="82296" y="25180"/>
                  <a:pt x="86902" y="20574"/>
                  <a:pt x="92583" y="20574"/>
                </a:cubicBezTo>
                <a:close/>
                <a:moveTo>
                  <a:pt x="164592" y="41148"/>
                </a:moveTo>
                <a:lnTo>
                  <a:pt x="185166" y="41148"/>
                </a:lnTo>
                <a:cubicBezTo>
                  <a:pt x="196529" y="41148"/>
                  <a:pt x="205740" y="50359"/>
                  <a:pt x="205740" y="61722"/>
                </a:cubicBezTo>
                <a:lnTo>
                  <a:pt x="205740" y="205740"/>
                </a:lnTo>
                <a:cubicBezTo>
                  <a:pt x="205740" y="217103"/>
                  <a:pt x="196529" y="226314"/>
                  <a:pt x="185166" y="226314"/>
                </a:cubicBezTo>
                <a:lnTo>
                  <a:pt x="61722" y="226314"/>
                </a:lnTo>
                <a:cubicBezTo>
                  <a:pt x="50359" y="226314"/>
                  <a:pt x="41148" y="217103"/>
                  <a:pt x="41148" y="205740"/>
                </a:cubicBezTo>
                <a:lnTo>
                  <a:pt x="41148" y="61722"/>
                </a:lnTo>
                <a:cubicBezTo>
                  <a:pt x="41148" y="50359"/>
                  <a:pt x="50359" y="41148"/>
                  <a:pt x="61722" y="41148"/>
                </a:cubicBezTo>
                <a:lnTo>
                  <a:pt x="82296" y="41148"/>
                </a:lnTo>
                <a:moveTo>
                  <a:pt x="123444" y="113157"/>
                </a:moveTo>
                <a:lnTo>
                  <a:pt x="164592" y="113157"/>
                </a:lnTo>
                <a:moveTo>
                  <a:pt x="123444" y="164592"/>
                </a:moveTo>
                <a:lnTo>
                  <a:pt x="164592" y="164592"/>
                </a:lnTo>
                <a:moveTo>
                  <a:pt x="82296" y="113157"/>
                </a:moveTo>
                <a:lnTo>
                  <a:pt x="82399" y="113157"/>
                </a:lnTo>
                <a:moveTo>
                  <a:pt x="82296" y="164592"/>
                </a:moveTo>
                <a:lnTo>
                  <a:pt x="82399" y="164592"/>
                </a:lnTo>
              </a:path>
            </a:pathLst>
          </a:custGeom>
          <a:noFill/>
          <a:ln w="20574" cap="rnd">
            <a:solidFill>
              <a:srgbClr val="0B1F3A"/>
            </a:solidFill>
            <a:prstDash val="solid"/>
            <a:round/>
          </a:ln>
        </p:spPr>
      </p:sp>
      <p:sp>
        <p:nvSpPr>
          <p:cNvPr id="24" name="Text 22"/>
          <p:cNvSpPr/>
          <p:nvPr/>
        </p:nvSpPr>
        <p:spPr>
          <a:xfrm>
            <a:off x="851306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Solicitudes</a:t>
            </a:r>
            <a:endParaRPr lang="en-US" sz="1200" dirty="0"/>
          </a:p>
        </p:txBody>
      </p:sp>
      <p:sp>
        <p:nvSpPr>
          <p:cNvPr id="25" name="Shape 23"/>
          <p:cNvSpPr/>
          <p:nvPr/>
        </p:nvSpPr>
        <p:spPr>
          <a:xfrm>
            <a:off x="982980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26" name="Icono bell"/>
          <p:cNvSpPr/>
          <p:nvPr/>
        </p:nvSpPr>
        <p:spPr>
          <a:xfrm>
            <a:off x="9957816" y="3209544"/>
            <a:ext cx="246888" cy="246888"/>
          </a:xfrm>
          <a:custGeom>
            <a:avLst/>
            <a:gdLst/>
            <a:ahLst/>
            <a:cxnLst/>
            <a:rect l="l" t="t" r="r" b="b"/>
            <a:pathLst>
              <a:path w="246888" h="246888">
                <a:moveTo>
                  <a:pt x="105627" y="216027"/>
                </a:moveTo>
                <a:cubicBezTo>
                  <a:pt x="109302" y="222392"/>
                  <a:pt x="116094" y="226313"/>
                  <a:pt x="123444" y="226313"/>
                </a:cubicBezTo>
                <a:cubicBezTo>
                  <a:pt x="130794" y="226313"/>
                  <a:pt x="137586" y="222392"/>
                  <a:pt x="141261" y="216027"/>
                </a:cubicBezTo>
                <a:moveTo>
                  <a:pt x="33556" y="157659"/>
                </a:moveTo>
                <a:cubicBezTo>
                  <a:pt x="30810" y="160668"/>
                  <a:pt x="30099" y="165014"/>
                  <a:pt x="31743" y="168742"/>
                </a:cubicBezTo>
                <a:cubicBezTo>
                  <a:pt x="33386" y="172469"/>
                  <a:pt x="37074" y="174876"/>
                  <a:pt x="41148" y="174879"/>
                </a:cubicBezTo>
                <a:lnTo>
                  <a:pt x="205740" y="174879"/>
                </a:lnTo>
                <a:cubicBezTo>
                  <a:pt x="209813" y="174880"/>
                  <a:pt x="213504" y="172478"/>
                  <a:pt x="215151" y="168753"/>
                </a:cubicBezTo>
                <a:cubicBezTo>
                  <a:pt x="216799" y="165028"/>
                  <a:pt x="216094" y="160682"/>
                  <a:pt x="213352" y="157669"/>
                </a:cubicBezTo>
                <a:cubicBezTo>
                  <a:pt x="199671" y="143565"/>
                  <a:pt x="185166" y="128577"/>
                  <a:pt x="185166" y="82296"/>
                </a:cubicBezTo>
                <a:cubicBezTo>
                  <a:pt x="185166" y="48208"/>
                  <a:pt x="157532" y="20574"/>
                  <a:pt x="123444" y="20574"/>
                </a:cubicBezTo>
                <a:cubicBezTo>
                  <a:pt x="89356" y="20574"/>
                  <a:pt x="61722" y="48208"/>
                  <a:pt x="61722" y="82296"/>
                </a:cubicBezTo>
                <a:cubicBezTo>
                  <a:pt x="61722" y="128577"/>
                  <a:pt x="47207" y="143565"/>
                  <a:pt x="33556" y="157659"/>
                </a:cubicBezTo>
              </a:path>
            </a:pathLst>
          </a:custGeom>
          <a:noFill/>
          <a:ln w="20574" cap="rnd">
            <a:solidFill>
              <a:srgbClr val="0B1F3A"/>
            </a:solidFill>
            <a:prstDash val="solid"/>
            <a:round/>
          </a:ln>
        </p:spPr>
      </p:sp>
      <p:sp>
        <p:nvSpPr>
          <p:cNvPr id="27" name="Text 25"/>
          <p:cNvSpPr/>
          <p:nvPr/>
        </p:nvSpPr>
        <p:spPr>
          <a:xfrm>
            <a:off x="1025042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Notificaciones</a:t>
            </a:r>
            <a:endParaRPr lang="en-US" sz="1200" dirty="0"/>
          </a:p>
        </p:txBody>
      </p:sp>
      <p:sp>
        <p:nvSpPr>
          <p:cNvPr id="28" name="Shape 26"/>
          <p:cNvSpPr/>
          <p:nvPr/>
        </p:nvSpPr>
        <p:spPr>
          <a:xfrm>
            <a:off x="8284464" y="4242816"/>
            <a:ext cx="1143000" cy="566928"/>
          </a:xfrm>
          <a:prstGeom prst="roundRect">
            <a:avLst>
              <a:gd name="adj" fmla="val 48387"/>
            </a:avLst>
          </a:prstGeom>
          <a:solidFill>
            <a:srgbClr val="0B1F3A"/>
          </a:solidFill>
          <a:ln w="19050">
            <a:solidFill>
              <a:srgbClr val="9FB4D2"/>
            </a:solidFill>
            <a:prstDash val="solid"/>
          </a:ln>
        </p:spPr>
      </p:sp>
      <p:sp>
        <p:nvSpPr>
          <p:cNvPr id="29" name="Icono database"/>
          <p:cNvSpPr/>
          <p:nvPr/>
        </p:nvSpPr>
        <p:spPr>
          <a:xfrm>
            <a:off x="841248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0" name="Text 28"/>
          <p:cNvSpPr/>
          <p:nvPr/>
        </p:nvSpPr>
        <p:spPr>
          <a:xfrm>
            <a:off x="868680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
        <p:nvSpPr>
          <p:cNvPr id="31" name="Shape 29"/>
          <p:cNvSpPr/>
          <p:nvPr/>
        </p:nvSpPr>
        <p:spPr>
          <a:xfrm>
            <a:off x="10021824" y="4242816"/>
            <a:ext cx="1143000" cy="566928"/>
          </a:xfrm>
          <a:prstGeom prst="roundRect">
            <a:avLst>
              <a:gd name="adj" fmla="val 48387"/>
            </a:avLst>
          </a:prstGeom>
          <a:solidFill>
            <a:srgbClr val="0B1F3A"/>
          </a:solidFill>
          <a:ln w="19050">
            <a:solidFill>
              <a:srgbClr val="9FB4D2"/>
            </a:solidFill>
            <a:prstDash val="solid"/>
          </a:ln>
        </p:spPr>
      </p:sp>
      <p:sp>
        <p:nvSpPr>
          <p:cNvPr id="32" name="Icono database"/>
          <p:cNvSpPr/>
          <p:nvPr/>
        </p:nvSpPr>
        <p:spPr>
          <a:xfrm>
            <a:off x="1014984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3" name="Text 31"/>
          <p:cNvSpPr/>
          <p:nvPr/>
        </p:nvSpPr>
        <p:spPr>
          <a:xfrm>
            <a:off x="1042416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ARKA-Lite en números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Registra solicitudes y avisa cuando se envían: un sistema pequeño, completo de punta a punta.</a:t>
            </a:r>
            <a:endParaRPr lang="en-US" sz="1700" dirty="0"/>
          </a:p>
        </p:txBody>
      </p:sp>
      <p:sp>
        <p:nvSpPr>
          <p:cNvPr id="6" name="Shape 4"/>
          <p:cNvSpPr/>
          <p:nvPr/>
        </p:nvSpPr>
        <p:spPr>
          <a:xfrm>
            <a:off x="612648"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3253130" cy="64008"/>
          </a:xfrm>
          <a:prstGeom prst="rect">
            <a:avLst/>
          </a:prstGeom>
          <a:solidFill>
            <a:srgbClr val="0B2350"/>
          </a:solidFill>
          <a:ln w="12700">
            <a:solidFill>
              <a:srgbClr val="0B2350"/>
            </a:solidFill>
            <a:prstDash val="solid"/>
          </a:ln>
        </p:spPr>
      </p:sp>
      <p:sp>
        <p:nvSpPr>
          <p:cNvPr id="8" name="Shape 6"/>
          <p:cNvSpPr/>
          <p:nvPr/>
        </p:nvSpPr>
        <p:spPr>
          <a:xfrm>
            <a:off x="3335426" y="1956816"/>
            <a:ext cx="566928" cy="566928"/>
          </a:xfrm>
          <a:prstGeom prst="ellipse">
            <a:avLst/>
          </a:prstGeom>
          <a:solidFill>
            <a:srgbClr val="E8EEF8"/>
          </a:solidFill>
          <a:ln w="12700">
            <a:solidFill>
              <a:srgbClr val="E8EEF8"/>
            </a:solidFill>
            <a:prstDash val="solid"/>
          </a:ln>
        </p:spPr>
      </p:sp>
      <p:sp>
        <p:nvSpPr>
          <p:cNvPr id="9" name="Icono server"/>
          <p:cNvSpPr/>
          <p:nvPr/>
        </p:nvSpPr>
        <p:spPr>
          <a:xfrm>
            <a:off x="3471489" y="2092879"/>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868680"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2</a:t>
            </a:r>
            <a:endParaRPr lang="en-US" sz="4600" dirty="0"/>
          </a:p>
        </p:txBody>
      </p:sp>
      <p:sp>
        <p:nvSpPr>
          <p:cNvPr id="11" name="Text 9"/>
          <p:cNvSpPr/>
          <p:nvPr/>
        </p:nvSpPr>
        <p:spPr>
          <a:xfrm>
            <a:off x="868680"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microservicios</a:t>
            </a:r>
            <a:endParaRPr lang="en-US" sz="1500" dirty="0"/>
          </a:p>
        </p:txBody>
      </p:sp>
      <p:sp>
        <p:nvSpPr>
          <p:cNvPr id="12" name="Text 10"/>
          <p:cNvSpPr/>
          <p:nvPr/>
        </p:nvSpPr>
        <p:spPr>
          <a:xfrm>
            <a:off x="868680"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Spring Boot 4 y Java 26, cada uno con su PostgreSQL.</a:t>
            </a:r>
            <a:endParaRPr lang="en-US" sz="1200" dirty="0"/>
          </a:p>
        </p:txBody>
      </p:sp>
      <p:sp>
        <p:nvSpPr>
          <p:cNvPr id="13" name="Shape 11"/>
          <p:cNvSpPr/>
          <p:nvPr/>
        </p:nvSpPr>
        <p:spPr>
          <a:xfrm>
            <a:off x="4341266"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469282" y="1719072"/>
            <a:ext cx="3253130" cy="64008"/>
          </a:xfrm>
          <a:prstGeom prst="rect">
            <a:avLst/>
          </a:prstGeom>
          <a:solidFill>
            <a:srgbClr val="5B3FC4"/>
          </a:solidFill>
          <a:ln w="12700">
            <a:solidFill>
              <a:srgbClr val="5B3FC4"/>
            </a:solidFill>
            <a:prstDash val="solid"/>
          </a:ln>
        </p:spPr>
      </p:sp>
      <p:sp>
        <p:nvSpPr>
          <p:cNvPr id="15" name="Shape 13"/>
          <p:cNvSpPr/>
          <p:nvPr/>
        </p:nvSpPr>
        <p:spPr>
          <a:xfrm>
            <a:off x="7064045" y="1956816"/>
            <a:ext cx="566928" cy="566928"/>
          </a:xfrm>
          <a:prstGeom prst="ellipse">
            <a:avLst/>
          </a:prstGeom>
          <a:solidFill>
            <a:srgbClr val="F1EEFD"/>
          </a:solidFill>
          <a:ln w="12700">
            <a:solidFill>
              <a:srgbClr val="F1EEFD"/>
            </a:solidFill>
            <a:prstDash val="solid"/>
          </a:ln>
        </p:spPr>
      </p:sp>
      <p:sp>
        <p:nvSpPr>
          <p:cNvPr id="16" name="Icono code"/>
          <p:cNvSpPr/>
          <p:nvPr/>
        </p:nvSpPr>
        <p:spPr>
          <a:xfrm>
            <a:off x="7200108" y="2092879"/>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5B3FC4"/>
            </a:solidFill>
            <a:prstDash val="solid"/>
            <a:round/>
          </a:ln>
        </p:spPr>
      </p:sp>
      <p:sp>
        <p:nvSpPr>
          <p:cNvPr id="17" name="Text 15"/>
          <p:cNvSpPr/>
          <p:nvPr/>
        </p:nvSpPr>
        <p:spPr>
          <a:xfrm>
            <a:off x="4597298"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5B3FC4"/>
                </a:solidFill>
                <a:latin typeface="Segoe UI Semibold" pitchFamily="34" charset="0"/>
                <a:ea typeface="Segoe UI Semibold" pitchFamily="34" charset="-122"/>
                <a:cs typeface="Segoe UI Semibold" pitchFamily="34" charset="-120"/>
              </a:rPr>
              <a:t>11</a:t>
            </a:r>
            <a:endParaRPr lang="en-US" sz="4600" dirty="0"/>
          </a:p>
        </p:txBody>
      </p:sp>
      <p:sp>
        <p:nvSpPr>
          <p:cNvPr id="18" name="Text 16"/>
          <p:cNvSpPr/>
          <p:nvPr/>
        </p:nvSpPr>
        <p:spPr>
          <a:xfrm>
            <a:off x="4597298"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endpoints REST</a:t>
            </a:r>
            <a:endParaRPr lang="en-US" sz="1500" dirty="0"/>
          </a:p>
        </p:txBody>
      </p:sp>
      <p:sp>
        <p:nvSpPr>
          <p:cNvPr id="19" name="Text 17"/>
          <p:cNvSpPr/>
          <p:nvPr/>
        </p:nvSpPr>
        <p:spPr>
          <a:xfrm>
            <a:off x="4597298"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Documentados con OpenAPI y Swagger.</a:t>
            </a:r>
            <a:endParaRPr lang="en-US" sz="1200" dirty="0"/>
          </a:p>
        </p:txBody>
      </p:sp>
      <p:sp>
        <p:nvSpPr>
          <p:cNvPr id="20" name="Shape 18"/>
          <p:cNvSpPr/>
          <p:nvPr/>
        </p:nvSpPr>
        <p:spPr>
          <a:xfrm>
            <a:off x="8069885"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197901" y="1719072"/>
            <a:ext cx="3253130" cy="64008"/>
          </a:xfrm>
          <a:prstGeom prst="rect">
            <a:avLst/>
          </a:prstGeom>
          <a:solidFill>
            <a:srgbClr val="0A6648"/>
          </a:solidFill>
          <a:ln w="12700">
            <a:solidFill>
              <a:srgbClr val="0A6648"/>
            </a:solidFill>
            <a:prstDash val="solid"/>
          </a:ln>
        </p:spPr>
      </p:sp>
      <p:sp>
        <p:nvSpPr>
          <p:cNvPr id="22" name="Shape 20"/>
          <p:cNvSpPr/>
          <p:nvPr/>
        </p:nvSpPr>
        <p:spPr>
          <a:xfrm>
            <a:off x="10792663" y="1956816"/>
            <a:ext cx="566928" cy="566928"/>
          </a:xfrm>
          <a:prstGeom prst="ellipse">
            <a:avLst/>
          </a:prstGeom>
          <a:solidFill>
            <a:srgbClr val="E1F1EA"/>
          </a:solidFill>
          <a:ln w="12700">
            <a:solidFill>
              <a:srgbClr val="E1F1EA"/>
            </a:solidFill>
            <a:prstDash val="solid"/>
          </a:ln>
        </p:spPr>
      </p:sp>
      <p:sp>
        <p:nvSpPr>
          <p:cNvPr id="23" name="Icono flask-conical"/>
          <p:cNvSpPr/>
          <p:nvPr/>
        </p:nvSpPr>
        <p:spPr>
          <a:xfrm>
            <a:off x="10928726" y="2092879"/>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A6648"/>
            </a:solidFill>
            <a:prstDash val="solid"/>
            <a:round/>
          </a:ln>
        </p:spPr>
      </p:sp>
      <p:sp>
        <p:nvSpPr>
          <p:cNvPr id="24" name="Text 22"/>
          <p:cNvSpPr/>
          <p:nvPr/>
        </p:nvSpPr>
        <p:spPr>
          <a:xfrm>
            <a:off x="8325917"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A6648"/>
                </a:solidFill>
                <a:latin typeface="Segoe UI Semibold" pitchFamily="34" charset="0"/>
                <a:ea typeface="Segoe UI Semibold" pitchFamily="34" charset="-122"/>
                <a:cs typeface="Segoe UI Semibold" pitchFamily="34" charset="-120"/>
              </a:rPr>
              <a:t>67</a:t>
            </a:r>
            <a:endParaRPr lang="en-US" sz="4600" dirty="0"/>
          </a:p>
        </p:txBody>
      </p:sp>
      <p:sp>
        <p:nvSpPr>
          <p:cNvPr id="25" name="Text 23"/>
          <p:cNvSpPr/>
          <p:nvPr/>
        </p:nvSpPr>
        <p:spPr>
          <a:xfrm>
            <a:off x="8325917"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pruebas automáticas</a:t>
            </a:r>
            <a:endParaRPr lang="en-US" sz="1500" dirty="0"/>
          </a:p>
        </p:txBody>
      </p:sp>
      <p:sp>
        <p:nvSpPr>
          <p:cNvPr id="26" name="Text 24"/>
          <p:cNvSpPr/>
          <p:nvPr/>
        </p:nvSpPr>
        <p:spPr>
          <a:xfrm>
            <a:off x="8325917"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28 en solicitudes, 10 en notificaciones, 29 en la UI.</a:t>
            </a:r>
            <a:endParaRPr lang="en-US" sz="1200" dirty="0"/>
          </a:p>
        </p:txBody>
      </p:sp>
      <p:sp>
        <p:nvSpPr>
          <p:cNvPr id="27" name="Shape 25"/>
          <p:cNvSpPr/>
          <p:nvPr/>
        </p:nvSpPr>
        <p:spPr>
          <a:xfrm>
            <a:off x="612648"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4146804"/>
            <a:ext cx="3253130" cy="64008"/>
          </a:xfrm>
          <a:prstGeom prst="rect">
            <a:avLst/>
          </a:prstGeom>
          <a:solidFill>
            <a:srgbClr val="0B6E8A"/>
          </a:solidFill>
          <a:ln w="12700">
            <a:solidFill>
              <a:srgbClr val="0B6E8A"/>
            </a:solidFill>
            <a:prstDash val="solid"/>
          </a:ln>
        </p:spPr>
      </p:sp>
      <p:sp>
        <p:nvSpPr>
          <p:cNvPr id="29" name="Shape 27"/>
          <p:cNvSpPr/>
          <p:nvPr/>
        </p:nvSpPr>
        <p:spPr>
          <a:xfrm>
            <a:off x="3335426" y="4384548"/>
            <a:ext cx="566928" cy="566928"/>
          </a:xfrm>
          <a:prstGeom prst="ellipse">
            <a:avLst/>
          </a:prstGeom>
          <a:solidFill>
            <a:srgbClr val="E3F4FA"/>
          </a:solidFill>
          <a:ln w="12700">
            <a:solidFill>
              <a:srgbClr val="E3F4FA"/>
            </a:solidFill>
            <a:prstDash val="solid"/>
          </a:ln>
        </p:spPr>
      </p:sp>
      <p:sp>
        <p:nvSpPr>
          <p:cNvPr id="30" name="Icono container"/>
          <p:cNvSpPr/>
          <p:nvPr/>
        </p:nvSpPr>
        <p:spPr>
          <a:xfrm>
            <a:off x="3471489" y="4520611"/>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1" name="Text 29"/>
          <p:cNvSpPr/>
          <p:nvPr/>
        </p:nvSpPr>
        <p:spPr>
          <a:xfrm>
            <a:off x="868680"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6E8A"/>
                </a:solidFill>
                <a:latin typeface="Segoe UI Semibold" pitchFamily="34" charset="0"/>
                <a:ea typeface="Segoe UI Semibold" pitchFamily="34" charset="-122"/>
                <a:cs typeface="Segoe UI Semibold" pitchFamily="34" charset="-120"/>
              </a:rPr>
              <a:t>8</a:t>
            </a:r>
            <a:endParaRPr lang="en-US" sz="4600" dirty="0"/>
          </a:p>
        </p:txBody>
      </p:sp>
      <p:sp>
        <p:nvSpPr>
          <p:cNvPr id="32" name="Text 30"/>
          <p:cNvSpPr/>
          <p:nvPr/>
        </p:nvSpPr>
        <p:spPr>
          <a:xfrm>
            <a:off x="868680"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contenedores</a:t>
            </a:r>
            <a:endParaRPr lang="en-US" sz="1500" dirty="0"/>
          </a:p>
        </p:txBody>
      </p:sp>
      <p:sp>
        <p:nvSpPr>
          <p:cNvPr id="33" name="Text 31"/>
          <p:cNvSpPr/>
          <p:nvPr/>
        </p:nvSpPr>
        <p:spPr>
          <a:xfrm>
            <a:off x="868680"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Servicios, bases, UI y logs con un solo comando.</a:t>
            </a:r>
            <a:endParaRPr lang="en-US" sz="1200" dirty="0"/>
          </a:p>
        </p:txBody>
      </p:sp>
      <p:sp>
        <p:nvSpPr>
          <p:cNvPr id="34" name="Shape 32"/>
          <p:cNvSpPr/>
          <p:nvPr/>
        </p:nvSpPr>
        <p:spPr>
          <a:xfrm>
            <a:off x="4341266"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4469282" y="4146804"/>
            <a:ext cx="3253130" cy="64008"/>
          </a:xfrm>
          <a:prstGeom prst="rect">
            <a:avLst/>
          </a:prstGeom>
          <a:solidFill>
            <a:srgbClr val="8A4B06"/>
          </a:solidFill>
          <a:ln w="12700">
            <a:solidFill>
              <a:srgbClr val="8A4B06"/>
            </a:solidFill>
            <a:prstDash val="solid"/>
          </a:ln>
        </p:spPr>
      </p:sp>
      <p:sp>
        <p:nvSpPr>
          <p:cNvPr id="36" name="Shape 34"/>
          <p:cNvSpPr/>
          <p:nvPr/>
        </p:nvSpPr>
        <p:spPr>
          <a:xfrm>
            <a:off x="7064045" y="4384548"/>
            <a:ext cx="566928" cy="566928"/>
          </a:xfrm>
          <a:prstGeom prst="ellipse">
            <a:avLst/>
          </a:prstGeom>
          <a:solidFill>
            <a:srgbClr val="FCEFD6"/>
          </a:solidFill>
          <a:ln w="12700">
            <a:solidFill>
              <a:srgbClr val="FCEFD6"/>
            </a:solidFill>
            <a:prstDash val="solid"/>
          </a:ln>
        </p:spPr>
      </p:sp>
      <p:sp>
        <p:nvSpPr>
          <p:cNvPr id="37" name="Icono timer"/>
          <p:cNvSpPr/>
          <p:nvPr/>
        </p:nvSpPr>
        <p:spPr>
          <a:xfrm>
            <a:off x="7200108" y="4520611"/>
            <a:ext cx="294803" cy="294803"/>
          </a:xfrm>
          <a:custGeom>
            <a:avLst/>
            <a:gdLst/>
            <a:ahLst/>
            <a:cxnLst/>
            <a:rect l="l" t="t" r="r" b="b"/>
            <a:pathLst>
              <a:path w="294803" h="294803">
                <a:moveTo>
                  <a:pt x="122834" y="24567"/>
                </a:moveTo>
                <a:lnTo>
                  <a:pt x="171968" y="24567"/>
                </a:lnTo>
                <a:moveTo>
                  <a:pt x="147401" y="171968"/>
                </a:moveTo>
                <a:lnTo>
                  <a:pt x="184252" y="135118"/>
                </a:lnTo>
                <a:moveTo>
                  <a:pt x="245669" y="171968"/>
                </a:moveTo>
                <a:cubicBezTo>
                  <a:pt x="245669" y="226240"/>
                  <a:pt x="201673" y="270236"/>
                  <a:pt x="147401" y="270236"/>
                </a:cubicBezTo>
                <a:cubicBezTo>
                  <a:pt x="93130" y="270236"/>
                  <a:pt x="49134" y="226240"/>
                  <a:pt x="49134" y="171968"/>
                </a:cubicBezTo>
                <a:cubicBezTo>
                  <a:pt x="49134" y="117697"/>
                  <a:pt x="93130" y="73701"/>
                  <a:pt x="147401" y="73701"/>
                </a:cubicBezTo>
                <a:cubicBezTo>
                  <a:pt x="201673" y="73701"/>
                  <a:pt x="245669" y="117697"/>
                  <a:pt x="245669" y="171968"/>
                </a:cubicBezTo>
                <a:close/>
              </a:path>
            </a:pathLst>
          </a:custGeom>
          <a:noFill/>
          <a:ln w="24567" cap="rnd">
            <a:solidFill>
              <a:srgbClr val="8A4B06"/>
            </a:solidFill>
            <a:prstDash val="solid"/>
            <a:round/>
          </a:ln>
        </p:spPr>
      </p:sp>
      <p:sp>
        <p:nvSpPr>
          <p:cNvPr id="38" name="Text 36"/>
          <p:cNvSpPr/>
          <p:nvPr/>
        </p:nvSpPr>
        <p:spPr>
          <a:xfrm>
            <a:off x="4597298"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8A4B06"/>
                </a:solidFill>
                <a:latin typeface="Segoe UI Semibold" pitchFamily="34" charset="0"/>
                <a:ea typeface="Segoe UI Semibold" pitchFamily="34" charset="-122"/>
                <a:cs typeface="Segoe UI Semibold" pitchFamily="34" charset="-120"/>
              </a:rPr>
              <a:t>≤ 5 s</a:t>
            </a:r>
            <a:endParaRPr lang="en-US" sz="4600" dirty="0"/>
          </a:p>
        </p:txBody>
      </p:sp>
      <p:sp>
        <p:nvSpPr>
          <p:cNvPr id="39" name="Text 37"/>
          <p:cNvSpPr/>
          <p:nvPr/>
        </p:nvSpPr>
        <p:spPr>
          <a:xfrm>
            <a:off x="4597298"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para entregar un aviso</a:t>
            </a:r>
            <a:endParaRPr lang="en-US" sz="1500" dirty="0"/>
          </a:p>
        </p:txBody>
      </p:sp>
      <p:sp>
        <p:nvSpPr>
          <p:cNvPr id="40" name="Text 38"/>
          <p:cNvSpPr/>
          <p:nvPr/>
        </p:nvSpPr>
        <p:spPr>
          <a:xfrm>
            <a:off x="4597298"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relevador revisa los pendientes cada 5 segundos.</a:t>
            </a:r>
            <a:endParaRPr lang="en-US" sz="1200" dirty="0"/>
          </a:p>
        </p:txBody>
      </p:sp>
      <p:sp>
        <p:nvSpPr>
          <p:cNvPr id="41" name="Shape 39"/>
          <p:cNvSpPr/>
          <p:nvPr/>
        </p:nvSpPr>
        <p:spPr>
          <a:xfrm>
            <a:off x="8069885"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197901" y="4146804"/>
            <a:ext cx="3253130" cy="64008"/>
          </a:xfrm>
          <a:prstGeom prst="rect">
            <a:avLst/>
          </a:prstGeom>
          <a:solidFill>
            <a:srgbClr val="0B2350"/>
          </a:solidFill>
          <a:ln w="12700">
            <a:solidFill>
              <a:srgbClr val="0B2350"/>
            </a:solidFill>
            <a:prstDash val="solid"/>
          </a:ln>
        </p:spPr>
      </p:sp>
      <p:sp>
        <p:nvSpPr>
          <p:cNvPr id="43" name="Shape 41"/>
          <p:cNvSpPr/>
          <p:nvPr/>
        </p:nvSpPr>
        <p:spPr>
          <a:xfrm>
            <a:off x="10792663" y="4384548"/>
            <a:ext cx="566928" cy="566928"/>
          </a:xfrm>
          <a:prstGeom prst="ellipse">
            <a:avLst/>
          </a:prstGeom>
          <a:solidFill>
            <a:srgbClr val="E8EEF8"/>
          </a:solidFill>
          <a:ln w="12700">
            <a:solidFill>
              <a:srgbClr val="E8EEF8"/>
            </a:solidFill>
            <a:prstDash val="solid"/>
          </a:ln>
        </p:spPr>
      </p:sp>
      <p:sp>
        <p:nvSpPr>
          <p:cNvPr id="44" name="Icono fingerprint"/>
          <p:cNvSpPr/>
          <p:nvPr/>
        </p:nvSpPr>
        <p:spPr>
          <a:xfrm>
            <a:off x="10928726" y="4520611"/>
            <a:ext cx="294803" cy="294803"/>
          </a:xfrm>
          <a:custGeom>
            <a:avLst/>
            <a:gdLst/>
            <a:ahLst/>
            <a:cxnLst/>
            <a:rect l="l" t="t" r="r" b="b"/>
            <a:pathLst>
              <a:path w="294803" h="294803">
                <a:moveTo>
                  <a:pt x="147401" y="122834"/>
                </a:moveTo>
                <a:cubicBezTo>
                  <a:pt x="133833" y="122834"/>
                  <a:pt x="122834" y="133833"/>
                  <a:pt x="122834" y="147401"/>
                </a:cubicBezTo>
                <a:cubicBezTo>
                  <a:pt x="122834" y="159930"/>
                  <a:pt x="121606" y="178233"/>
                  <a:pt x="119641" y="196535"/>
                </a:cubicBezTo>
                <a:moveTo>
                  <a:pt x="171968" y="161159"/>
                </a:moveTo>
                <a:cubicBezTo>
                  <a:pt x="171968" y="190393"/>
                  <a:pt x="171968" y="239527"/>
                  <a:pt x="159685" y="270236"/>
                </a:cubicBezTo>
                <a:moveTo>
                  <a:pt x="212381" y="258198"/>
                </a:moveTo>
                <a:cubicBezTo>
                  <a:pt x="213855" y="250828"/>
                  <a:pt x="217663" y="229946"/>
                  <a:pt x="218522" y="221102"/>
                </a:cubicBezTo>
                <a:moveTo>
                  <a:pt x="24567" y="147401"/>
                </a:moveTo>
                <a:cubicBezTo>
                  <a:pt x="24567" y="94530"/>
                  <a:pt x="58399" y="47590"/>
                  <a:pt x="108558" y="30870"/>
                </a:cubicBezTo>
                <a:cubicBezTo>
                  <a:pt x="158716" y="14151"/>
                  <a:pt x="213946" y="31403"/>
                  <a:pt x="245669" y="73701"/>
                </a:cubicBezTo>
                <a:moveTo>
                  <a:pt x="24567" y="196535"/>
                </a:moveTo>
                <a:lnTo>
                  <a:pt x="24690" y="196535"/>
                </a:lnTo>
                <a:moveTo>
                  <a:pt x="267779" y="196535"/>
                </a:moveTo>
                <a:cubicBezTo>
                  <a:pt x="270236" y="171968"/>
                  <a:pt x="269388" y="130770"/>
                  <a:pt x="267779" y="122834"/>
                </a:cubicBezTo>
                <a:moveTo>
                  <a:pt x="61417" y="239527"/>
                </a:moveTo>
                <a:cubicBezTo>
                  <a:pt x="67559" y="221102"/>
                  <a:pt x="73701" y="184252"/>
                  <a:pt x="73701" y="147401"/>
                </a:cubicBezTo>
                <a:cubicBezTo>
                  <a:pt x="73688" y="139035"/>
                  <a:pt x="75101" y="130727"/>
                  <a:pt x="77877" y="122834"/>
                </a:cubicBezTo>
                <a:moveTo>
                  <a:pt x="106252" y="270236"/>
                </a:moveTo>
                <a:cubicBezTo>
                  <a:pt x="108831" y="262129"/>
                  <a:pt x="111779" y="254022"/>
                  <a:pt x="113253" y="245669"/>
                </a:cubicBezTo>
                <a:moveTo>
                  <a:pt x="110551" y="83527"/>
                </a:moveTo>
                <a:cubicBezTo>
                  <a:pt x="133361" y="70358"/>
                  <a:pt x="161466" y="70362"/>
                  <a:pt x="184272" y="83539"/>
                </a:cubicBezTo>
                <a:cubicBezTo>
                  <a:pt x="207078" y="96716"/>
                  <a:pt x="221119" y="121062"/>
                  <a:pt x="221102" y="147401"/>
                </a:cubicBezTo>
                <a:lnTo>
                  <a:pt x="221102" y="171968"/>
                </a:lnTo>
              </a:path>
            </a:pathLst>
          </a:custGeom>
          <a:noFill/>
          <a:ln w="24567" cap="rnd">
            <a:solidFill>
              <a:srgbClr val="0B2350"/>
            </a:solidFill>
            <a:prstDash val="solid"/>
            <a:round/>
          </a:ln>
        </p:spPr>
      </p:sp>
      <p:sp>
        <p:nvSpPr>
          <p:cNvPr id="45" name="Text 43"/>
          <p:cNvSpPr/>
          <p:nvPr/>
        </p:nvSpPr>
        <p:spPr>
          <a:xfrm>
            <a:off x="8325917"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0</a:t>
            </a:r>
            <a:endParaRPr lang="en-US" sz="4600" dirty="0"/>
          </a:p>
        </p:txBody>
      </p:sp>
      <p:sp>
        <p:nvSpPr>
          <p:cNvPr id="46" name="Text 44"/>
          <p:cNvSpPr/>
          <p:nvPr/>
        </p:nvSpPr>
        <p:spPr>
          <a:xfrm>
            <a:off x="8325917" y="5030724"/>
            <a:ext cx="3051962" cy="384048"/>
          </a:xfrm>
          <a:prstGeom prst="rect">
            <a:avLst/>
          </a:prstGeom>
          <a:noFill/>
          <a:ln/>
        </p:spPr>
        <p:txBody>
          <a:bodyPr wrap="square" lIns="0" tIns="0" rIns="0" bIns="0" rtlCol="0" anchor="t">
            <a:normAutofit/>
          </a:bodyPr>
          <a:lstStyle/>
          <a:p>
            <a:pPr algn="l" indent="0" marL="0">
              <a:buNone/>
            </a:pPr>
            <a:r>
              <a:rPr lang="en-US" sz="1450" b="1" dirty="0">
                <a:solidFill>
                  <a:srgbClr val="0B1A3C"/>
                </a:solidFill>
                <a:latin typeface="Segoe UI Semibold" pitchFamily="34" charset="0"/>
                <a:ea typeface="Segoe UI Semibold" pitchFamily="34" charset="-122"/>
                <a:cs typeface="Segoe UI Semibold" pitchFamily="34" charset="-120"/>
              </a:rPr>
              <a:t>avisos perdidos o duplicados</a:t>
            </a:r>
            <a:endParaRPr lang="en-US" sz="1450" dirty="0"/>
          </a:p>
        </p:txBody>
      </p:sp>
      <p:sp>
        <p:nvSpPr>
          <p:cNvPr id="47" name="Text 45"/>
          <p:cNvSpPr/>
          <p:nvPr/>
        </p:nvSpPr>
        <p:spPr>
          <a:xfrm>
            <a:off x="8325917"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Aunque el otro servicio esté caído o el evento llegue dos veces.</a:t>
            </a:r>
            <a:endParaRPr lang="en-US" sz="12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Ocho conceptos, en una frase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mínimo para seguir la presentación, sin jerga.</a:t>
            </a:r>
            <a:endParaRPr lang="en-US" sz="1700" dirty="0"/>
          </a:p>
        </p:txBody>
      </p:sp>
      <p:sp>
        <p:nvSpPr>
          <p:cNvPr id="6" name="Shape 4"/>
          <p:cNvSpPr/>
          <p:nvPr/>
        </p:nvSpPr>
        <p:spPr>
          <a:xfrm>
            <a:off x="61264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970532"/>
          </a:xfrm>
          <a:prstGeom prst="rect">
            <a:avLst/>
          </a:prstGeom>
          <a:solidFill>
            <a:srgbClr val="0B2350"/>
          </a:solidFill>
          <a:ln w="12700">
            <a:solidFill>
              <a:srgbClr val="0B2350"/>
            </a:solidFill>
            <a:prstDash val="solid"/>
          </a:ln>
        </p:spPr>
      </p:sp>
      <p:sp>
        <p:nvSpPr>
          <p:cNvPr id="8" name="Shape 6"/>
          <p:cNvSpPr/>
          <p:nvPr/>
        </p:nvSpPr>
        <p:spPr>
          <a:xfrm>
            <a:off x="813816" y="1901952"/>
            <a:ext cx="566928" cy="566928"/>
          </a:xfrm>
          <a:prstGeom prst="ellipse">
            <a:avLst/>
          </a:prstGeom>
          <a:solidFill>
            <a:srgbClr val="E8EEF8"/>
          </a:solidFill>
          <a:ln w="12700">
            <a:solidFill>
              <a:srgbClr val="E8EEF8"/>
            </a:solidFill>
            <a:prstDash val="solid"/>
          </a:ln>
        </p:spPr>
      </p:sp>
      <p:sp>
        <p:nvSpPr>
          <p:cNvPr id="9" name="Icono server"/>
          <p:cNvSpPr/>
          <p:nvPr/>
        </p:nvSpPr>
        <p:spPr>
          <a:xfrm>
            <a:off x="949879" y="2038015"/>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152704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a:t>
            </a:r>
            <a:endParaRPr lang="en-US" sz="1500" dirty="0"/>
          </a:p>
        </p:txBody>
      </p:sp>
      <p:sp>
        <p:nvSpPr>
          <p:cNvPr id="11" name="Text 9"/>
          <p:cNvSpPr/>
          <p:nvPr/>
        </p:nvSpPr>
        <p:spPr>
          <a:xfrm>
            <a:off x="86868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Una aplicación pequeña, con una sola tarea y su propia base de datos.</a:t>
            </a:r>
            <a:endParaRPr lang="en-US" sz="1300" dirty="0"/>
          </a:p>
        </p:txBody>
      </p:sp>
      <p:sp>
        <p:nvSpPr>
          <p:cNvPr id="12" name="Shape 10"/>
          <p:cNvSpPr/>
          <p:nvPr/>
        </p:nvSpPr>
        <p:spPr>
          <a:xfrm>
            <a:off x="339996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3399968" y="1847088"/>
            <a:ext cx="64008" cy="1970532"/>
          </a:xfrm>
          <a:prstGeom prst="rect">
            <a:avLst/>
          </a:prstGeom>
          <a:solidFill>
            <a:srgbClr val="5B3FC4"/>
          </a:solidFill>
          <a:ln w="12700">
            <a:solidFill>
              <a:srgbClr val="5B3FC4"/>
            </a:solidFill>
            <a:prstDash val="solid"/>
          </a:ln>
        </p:spPr>
      </p:sp>
      <p:sp>
        <p:nvSpPr>
          <p:cNvPr id="14" name="Shape 12"/>
          <p:cNvSpPr/>
          <p:nvPr/>
        </p:nvSpPr>
        <p:spPr>
          <a:xfrm>
            <a:off x="3601136" y="1901952"/>
            <a:ext cx="566928" cy="566928"/>
          </a:xfrm>
          <a:prstGeom prst="ellipse">
            <a:avLst/>
          </a:prstGeom>
          <a:solidFill>
            <a:srgbClr val="F1EEFD"/>
          </a:solidFill>
          <a:ln w="12700">
            <a:solidFill>
              <a:srgbClr val="F1EEFD"/>
            </a:solidFill>
            <a:prstDash val="solid"/>
          </a:ln>
        </p:spPr>
      </p:sp>
      <p:sp>
        <p:nvSpPr>
          <p:cNvPr id="15" name="Icono globe"/>
          <p:cNvSpPr/>
          <p:nvPr/>
        </p:nvSpPr>
        <p:spPr>
          <a:xfrm>
            <a:off x="3737199" y="2038015"/>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47401" y="24567"/>
                </a:moveTo>
                <a:cubicBezTo>
                  <a:pt x="81890" y="93354"/>
                  <a:pt x="81890" y="201448"/>
                  <a:pt x="147401" y="270236"/>
                </a:cubicBezTo>
                <a:cubicBezTo>
                  <a:pt x="212913" y="201448"/>
                  <a:pt x="212913" y="93354"/>
                  <a:pt x="147401" y="24567"/>
                </a:cubicBezTo>
                <a:moveTo>
                  <a:pt x="24567" y="147401"/>
                </a:moveTo>
                <a:lnTo>
                  <a:pt x="270236" y="147401"/>
                </a:lnTo>
              </a:path>
            </a:pathLst>
          </a:custGeom>
          <a:noFill/>
          <a:ln w="24567" cap="rnd">
            <a:solidFill>
              <a:srgbClr val="5B3FC4"/>
            </a:solidFill>
            <a:prstDash val="solid"/>
            <a:round/>
          </a:ln>
        </p:spPr>
      </p:sp>
      <p:sp>
        <p:nvSpPr>
          <p:cNvPr id="16" name="Text 14"/>
          <p:cNvSpPr/>
          <p:nvPr/>
        </p:nvSpPr>
        <p:spPr>
          <a:xfrm>
            <a:off x="431436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API REST</a:t>
            </a:r>
            <a:endParaRPr lang="en-US" sz="1500" dirty="0"/>
          </a:p>
        </p:txBody>
      </p:sp>
      <p:sp>
        <p:nvSpPr>
          <p:cNvPr id="17" name="Text 15"/>
          <p:cNvSpPr/>
          <p:nvPr/>
        </p:nvSpPr>
        <p:spPr>
          <a:xfrm>
            <a:off x="365600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puerta para pedirle algo a una aplicación por HTTP, como abrir una URL.</a:t>
            </a:r>
            <a:endParaRPr lang="en-US" sz="1300" dirty="0"/>
          </a:p>
        </p:txBody>
      </p:sp>
      <p:sp>
        <p:nvSpPr>
          <p:cNvPr id="18" name="Shape 16"/>
          <p:cNvSpPr/>
          <p:nvPr/>
        </p:nvSpPr>
        <p:spPr>
          <a:xfrm>
            <a:off x="618728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87288" y="1847088"/>
            <a:ext cx="64008" cy="1970532"/>
          </a:xfrm>
          <a:prstGeom prst="rect">
            <a:avLst/>
          </a:prstGeom>
          <a:solidFill>
            <a:srgbClr val="0B2350"/>
          </a:solidFill>
          <a:ln w="12700">
            <a:solidFill>
              <a:srgbClr val="0B2350"/>
            </a:solidFill>
            <a:prstDash val="solid"/>
          </a:ln>
        </p:spPr>
      </p:sp>
      <p:sp>
        <p:nvSpPr>
          <p:cNvPr id="20" name="Shape 18"/>
          <p:cNvSpPr/>
          <p:nvPr/>
        </p:nvSpPr>
        <p:spPr>
          <a:xfrm>
            <a:off x="6388456" y="1901952"/>
            <a:ext cx="566928" cy="566928"/>
          </a:xfrm>
          <a:prstGeom prst="ellipse">
            <a:avLst/>
          </a:prstGeom>
          <a:solidFill>
            <a:srgbClr val="E8EEF8"/>
          </a:solidFill>
          <a:ln w="12700">
            <a:solidFill>
              <a:srgbClr val="E8EEF8"/>
            </a:solidFill>
            <a:prstDash val="solid"/>
          </a:ln>
        </p:spPr>
      </p:sp>
      <p:sp>
        <p:nvSpPr>
          <p:cNvPr id="21" name="Icono hexagon"/>
          <p:cNvSpPr/>
          <p:nvPr/>
        </p:nvSpPr>
        <p:spPr>
          <a:xfrm>
            <a:off x="6524518" y="2038015"/>
            <a:ext cx="294803" cy="294803"/>
          </a:xfrm>
          <a:custGeom>
            <a:avLst/>
            <a:gdLst/>
            <a:ahLst/>
            <a:cxnLst/>
            <a:rect l="l" t="t" r="r" b="b"/>
            <a:pathLst>
              <a:path w="294803" h="294803">
                <a:moveTo>
                  <a:pt x="257952" y="196535"/>
                </a:move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lnTo>
                  <a:pt x="135118" y="266919"/>
                </a:lnTo>
                <a:cubicBezTo>
                  <a:pt x="142719" y="271308"/>
                  <a:pt x="152084" y="271308"/>
                  <a:pt x="159685" y="266919"/>
                </a:cubicBezTo>
                <a:lnTo>
                  <a:pt x="245669" y="217785"/>
                </a:lnTo>
                <a:cubicBezTo>
                  <a:pt x="253262" y="213401"/>
                  <a:pt x="257943" y="205303"/>
                  <a:pt x="257952" y="196535"/>
                </a:cubicBezTo>
                <a:close/>
              </a:path>
            </a:pathLst>
          </a:custGeom>
          <a:noFill/>
          <a:ln w="24567" cap="rnd">
            <a:solidFill>
              <a:srgbClr val="0B2350"/>
            </a:solidFill>
            <a:prstDash val="solid"/>
            <a:round/>
          </a:ln>
        </p:spPr>
      </p:sp>
      <p:sp>
        <p:nvSpPr>
          <p:cNvPr id="22" name="Text 20"/>
          <p:cNvSpPr/>
          <p:nvPr/>
        </p:nvSpPr>
        <p:spPr>
          <a:xfrm>
            <a:off x="710168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 hexagonal</a:t>
            </a:r>
            <a:endParaRPr lang="en-US" sz="1500" dirty="0"/>
          </a:p>
        </p:txBody>
      </p:sp>
      <p:sp>
        <p:nvSpPr>
          <p:cNvPr id="23" name="Text 21"/>
          <p:cNvSpPr/>
          <p:nvPr/>
        </p:nvSpPr>
        <p:spPr>
          <a:xfrm>
            <a:off x="644332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negocio al centro; la base y la web se conectan por “enchufes”.</a:t>
            </a:r>
            <a:endParaRPr lang="en-US" sz="1300" dirty="0"/>
          </a:p>
        </p:txBody>
      </p:sp>
      <p:sp>
        <p:nvSpPr>
          <p:cNvPr id="24" name="Shape 22"/>
          <p:cNvSpPr/>
          <p:nvPr/>
        </p:nvSpPr>
        <p:spPr>
          <a:xfrm>
            <a:off x="8974607"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8974607" y="1847088"/>
            <a:ext cx="64008" cy="1970532"/>
          </a:xfrm>
          <a:prstGeom prst="rect">
            <a:avLst/>
          </a:prstGeom>
          <a:solidFill>
            <a:srgbClr val="0B6E8A"/>
          </a:solidFill>
          <a:ln w="12700">
            <a:solidFill>
              <a:srgbClr val="0B6E8A"/>
            </a:solidFill>
            <a:prstDash val="solid"/>
          </a:ln>
        </p:spPr>
      </p:sp>
      <p:sp>
        <p:nvSpPr>
          <p:cNvPr id="26" name="Shape 24"/>
          <p:cNvSpPr/>
          <p:nvPr/>
        </p:nvSpPr>
        <p:spPr>
          <a:xfrm>
            <a:off x="9175775" y="1901952"/>
            <a:ext cx="566928" cy="566928"/>
          </a:xfrm>
          <a:prstGeom prst="ellipse">
            <a:avLst/>
          </a:prstGeom>
          <a:solidFill>
            <a:srgbClr val="E3F4FA"/>
          </a:solidFill>
          <a:ln w="12700">
            <a:solidFill>
              <a:srgbClr val="E3F4FA"/>
            </a:solidFill>
            <a:prstDash val="solid"/>
          </a:ln>
        </p:spPr>
      </p:sp>
      <p:sp>
        <p:nvSpPr>
          <p:cNvPr id="27" name="Icono table"/>
          <p:cNvSpPr/>
          <p:nvPr/>
        </p:nvSpPr>
        <p:spPr>
          <a:xfrm>
            <a:off x="9311838" y="2038015"/>
            <a:ext cx="294803" cy="294803"/>
          </a:xfrm>
          <a:custGeom>
            <a:avLst/>
            <a:gdLst/>
            <a:ahLst/>
            <a:cxnLst/>
            <a:rect l="l" t="t" r="r" b="b"/>
            <a:pathLst>
              <a:path w="294803" h="294803">
                <a:moveTo>
                  <a:pt x="147401" y="36850"/>
                </a:moveTo>
                <a:lnTo>
                  <a:pt x="147401" y="257952"/>
                </a:lnTo>
                <a:moveTo>
                  <a:pt x="61417" y="36850"/>
                </a:moveTo>
                <a:lnTo>
                  <a:pt x="233385" y="36850"/>
                </a:lnTo>
                <a:cubicBezTo>
                  <a:pt x="246953" y="36850"/>
                  <a:pt x="257952" y="47849"/>
                  <a:pt x="257952" y="61417"/>
                </a:cubicBezTo>
                <a:lnTo>
                  <a:pt x="257952" y="233385"/>
                </a:lnTo>
                <a:cubicBezTo>
                  <a:pt x="257952" y="246953"/>
                  <a:pt x="246953" y="257952"/>
                  <a:pt x="233385" y="257952"/>
                </a:cubicBezTo>
                <a:lnTo>
                  <a:pt x="61417" y="257952"/>
                </a:lnTo>
                <a:cubicBezTo>
                  <a:pt x="47849" y="257952"/>
                  <a:pt x="36850" y="246953"/>
                  <a:pt x="36850" y="233385"/>
                </a:cubicBezTo>
                <a:lnTo>
                  <a:pt x="36850" y="61417"/>
                </a:lnTo>
                <a:cubicBezTo>
                  <a:pt x="36850" y="47849"/>
                  <a:pt x="47849" y="36850"/>
                  <a:pt x="61417" y="36850"/>
                </a:cubicBezTo>
                <a:close/>
                <a:moveTo>
                  <a:pt x="36850" y="110551"/>
                </a:moveTo>
                <a:lnTo>
                  <a:pt x="257952" y="110551"/>
                </a:lnTo>
                <a:moveTo>
                  <a:pt x="36850" y="184252"/>
                </a:moveTo>
                <a:lnTo>
                  <a:pt x="257952" y="184252"/>
                </a:lnTo>
              </a:path>
            </a:pathLst>
          </a:custGeom>
          <a:noFill/>
          <a:ln w="24567" cap="rnd">
            <a:solidFill>
              <a:srgbClr val="0B6E8A"/>
            </a:solidFill>
            <a:prstDash val="solid"/>
            <a:round/>
          </a:ln>
        </p:spPr>
      </p:sp>
      <p:sp>
        <p:nvSpPr>
          <p:cNvPr id="28" name="Text 26"/>
          <p:cNvSpPr/>
          <p:nvPr/>
        </p:nvSpPr>
        <p:spPr>
          <a:xfrm>
            <a:off x="9889007"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ORM (JPA)</a:t>
            </a:r>
            <a:endParaRPr lang="en-US" sz="1500" dirty="0"/>
          </a:p>
        </p:txBody>
      </p:sp>
      <p:sp>
        <p:nvSpPr>
          <p:cNvPr id="29" name="Text 27"/>
          <p:cNvSpPr/>
          <p:nvPr/>
        </p:nvSpPr>
        <p:spPr>
          <a:xfrm>
            <a:off x="9230639"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Traduce entre clases Java y tablas: escribe el SQL rutinario por nosotros.</a:t>
            </a:r>
            <a:endParaRPr lang="en-US" sz="1300" dirty="0"/>
          </a:p>
        </p:txBody>
      </p:sp>
      <p:sp>
        <p:nvSpPr>
          <p:cNvPr id="30" name="Shape 28"/>
          <p:cNvSpPr/>
          <p:nvPr/>
        </p:nvSpPr>
        <p:spPr>
          <a:xfrm>
            <a:off x="61264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612648" y="4256532"/>
            <a:ext cx="64008" cy="1970532"/>
          </a:xfrm>
          <a:prstGeom prst="rect">
            <a:avLst/>
          </a:prstGeom>
          <a:solidFill>
            <a:srgbClr val="0B6E8A"/>
          </a:solidFill>
          <a:ln w="12700">
            <a:solidFill>
              <a:srgbClr val="0B6E8A"/>
            </a:solidFill>
            <a:prstDash val="solid"/>
          </a:ln>
        </p:spPr>
      </p:sp>
      <p:sp>
        <p:nvSpPr>
          <p:cNvPr id="32" name="Shape 30"/>
          <p:cNvSpPr/>
          <p:nvPr/>
        </p:nvSpPr>
        <p:spPr>
          <a:xfrm>
            <a:off x="813816" y="4311396"/>
            <a:ext cx="566928" cy="566928"/>
          </a:xfrm>
          <a:prstGeom prst="ellipse">
            <a:avLst/>
          </a:prstGeom>
          <a:solidFill>
            <a:srgbClr val="E3F4FA"/>
          </a:solidFill>
          <a:ln w="12700">
            <a:solidFill>
              <a:srgbClr val="E3F4FA"/>
            </a:solidFill>
            <a:prstDash val="solid"/>
          </a:ln>
        </p:spPr>
      </p:sp>
      <p:sp>
        <p:nvSpPr>
          <p:cNvPr id="33" name="Icono container"/>
          <p:cNvSpPr/>
          <p:nvPr/>
        </p:nvSpPr>
        <p:spPr>
          <a:xfrm>
            <a:off x="949879" y="4447459"/>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4" name="Text 32"/>
          <p:cNvSpPr/>
          <p:nvPr/>
        </p:nvSpPr>
        <p:spPr>
          <a:xfrm>
            <a:off x="152704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Docker</a:t>
            </a:r>
            <a:endParaRPr lang="en-US" sz="1500" dirty="0"/>
          </a:p>
        </p:txBody>
      </p:sp>
      <p:sp>
        <p:nvSpPr>
          <p:cNvPr id="35" name="Text 33"/>
          <p:cNvSpPr/>
          <p:nvPr/>
        </p:nvSpPr>
        <p:spPr>
          <a:xfrm>
            <a:off x="86868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Empaqueta la aplicación con todo lo que necesita: corre igual en cualquier lado.</a:t>
            </a:r>
            <a:endParaRPr lang="en-US" sz="1300" dirty="0"/>
          </a:p>
        </p:txBody>
      </p:sp>
      <p:sp>
        <p:nvSpPr>
          <p:cNvPr id="36" name="Shape 34"/>
          <p:cNvSpPr/>
          <p:nvPr/>
        </p:nvSpPr>
        <p:spPr>
          <a:xfrm>
            <a:off x="339996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3399968" y="4256532"/>
            <a:ext cx="64008" cy="1970532"/>
          </a:xfrm>
          <a:prstGeom prst="rect">
            <a:avLst/>
          </a:prstGeom>
          <a:solidFill>
            <a:srgbClr val="0A6648"/>
          </a:solidFill>
          <a:ln w="12700">
            <a:solidFill>
              <a:srgbClr val="0A6648"/>
            </a:solidFill>
            <a:prstDash val="solid"/>
          </a:ln>
        </p:spPr>
      </p:sp>
      <p:sp>
        <p:nvSpPr>
          <p:cNvPr id="38" name="Shape 36"/>
          <p:cNvSpPr/>
          <p:nvPr/>
        </p:nvSpPr>
        <p:spPr>
          <a:xfrm>
            <a:off x="3601136" y="4311396"/>
            <a:ext cx="566928" cy="566928"/>
          </a:xfrm>
          <a:prstGeom prst="ellipse">
            <a:avLst/>
          </a:prstGeom>
          <a:solidFill>
            <a:srgbClr val="E1F1EA"/>
          </a:solidFill>
          <a:ln w="12700">
            <a:solidFill>
              <a:srgbClr val="E1F1EA"/>
            </a:solidFill>
            <a:prstDash val="solid"/>
          </a:ln>
        </p:spPr>
      </p:sp>
      <p:sp>
        <p:nvSpPr>
          <p:cNvPr id="39" name="Icono ship-wheel"/>
          <p:cNvSpPr/>
          <p:nvPr/>
        </p:nvSpPr>
        <p:spPr>
          <a:xfrm>
            <a:off x="3737199" y="4447459"/>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40" name="Text 38"/>
          <p:cNvSpPr/>
          <p:nvPr/>
        </p:nvSpPr>
        <p:spPr>
          <a:xfrm>
            <a:off x="431436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Kubernetes</a:t>
            </a:r>
            <a:endParaRPr lang="en-US" sz="1500" dirty="0"/>
          </a:p>
        </p:txBody>
      </p:sp>
      <p:sp>
        <p:nvSpPr>
          <p:cNvPr id="41" name="Text 39"/>
          <p:cNvSpPr/>
          <p:nvPr/>
        </p:nvSpPr>
        <p:spPr>
          <a:xfrm>
            <a:off x="365600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Administra esos paquetes: los arranca, los vigila y los reinicia si fallan.</a:t>
            </a:r>
            <a:endParaRPr lang="en-US" sz="1300" dirty="0"/>
          </a:p>
        </p:txBody>
      </p:sp>
      <p:sp>
        <p:nvSpPr>
          <p:cNvPr id="42" name="Shape 40"/>
          <p:cNvSpPr/>
          <p:nvPr/>
        </p:nvSpPr>
        <p:spPr>
          <a:xfrm>
            <a:off x="618728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3" name="Shape 41"/>
          <p:cNvSpPr/>
          <p:nvPr/>
        </p:nvSpPr>
        <p:spPr>
          <a:xfrm>
            <a:off x="6187288" y="4256532"/>
            <a:ext cx="64008" cy="1970532"/>
          </a:xfrm>
          <a:prstGeom prst="rect">
            <a:avLst/>
          </a:prstGeom>
          <a:solidFill>
            <a:srgbClr val="0A6648"/>
          </a:solidFill>
          <a:ln w="12700">
            <a:solidFill>
              <a:srgbClr val="0A6648"/>
            </a:solidFill>
            <a:prstDash val="solid"/>
          </a:ln>
        </p:spPr>
      </p:sp>
      <p:sp>
        <p:nvSpPr>
          <p:cNvPr id="44" name="Shape 42"/>
          <p:cNvSpPr/>
          <p:nvPr/>
        </p:nvSpPr>
        <p:spPr>
          <a:xfrm>
            <a:off x="6388456" y="4311396"/>
            <a:ext cx="566928" cy="566928"/>
          </a:xfrm>
          <a:prstGeom prst="ellipse">
            <a:avLst/>
          </a:prstGeom>
          <a:solidFill>
            <a:srgbClr val="E1F1EA"/>
          </a:solidFill>
          <a:ln w="12700">
            <a:solidFill>
              <a:srgbClr val="E1F1EA"/>
            </a:solidFill>
            <a:prstDash val="solid"/>
          </a:ln>
        </p:spPr>
      </p:sp>
      <p:sp>
        <p:nvSpPr>
          <p:cNvPr id="45" name="Icono workflow"/>
          <p:cNvSpPr/>
          <p:nvPr/>
        </p:nvSpPr>
        <p:spPr>
          <a:xfrm>
            <a:off x="6524518" y="4447459"/>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46" name="Text 44"/>
          <p:cNvSpPr/>
          <p:nvPr/>
        </p:nvSpPr>
        <p:spPr>
          <a:xfrm>
            <a:off x="710168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CI/CD</a:t>
            </a:r>
            <a:endParaRPr lang="en-US" sz="1500" dirty="0"/>
          </a:p>
        </p:txBody>
      </p:sp>
      <p:sp>
        <p:nvSpPr>
          <p:cNvPr id="47" name="Text 45"/>
          <p:cNvSpPr/>
          <p:nvPr/>
        </p:nvSpPr>
        <p:spPr>
          <a:xfrm>
            <a:off x="644332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 robot que compila, prueba y empaqueta cada cambio, sin pasos manuales.</a:t>
            </a:r>
            <a:endParaRPr lang="en-US" sz="1300" dirty="0"/>
          </a:p>
        </p:txBody>
      </p:sp>
      <p:sp>
        <p:nvSpPr>
          <p:cNvPr id="48" name="Shape 46"/>
          <p:cNvSpPr/>
          <p:nvPr/>
        </p:nvSpPr>
        <p:spPr>
          <a:xfrm>
            <a:off x="8974607"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8974607" y="4256532"/>
            <a:ext cx="64008" cy="1970532"/>
          </a:xfrm>
          <a:prstGeom prst="rect">
            <a:avLst/>
          </a:prstGeom>
          <a:solidFill>
            <a:srgbClr val="8A4B06"/>
          </a:solidFill>
          <a:ln w="12700">
            <a:solidFill>
              <a:srgbClr val="8A4B06"/>
            </a:solidFill>
            <a:prstDash val="solid"/>
          </a:ln>
        </p:spPr>
      </p:sp>
      <p:sp>
        <p:nvSpPr>
          <p:cNvPr id="50" name="Shape 48"/>
          <p:cNvSpPr/>
          <p:nvPr/>
        </p:nvSpPr>
        <p:spPr>
          <a:xfrm>
            <a:off x="9175775" y="4311396"/>
            <a:ext cx="566928" cy="566928"/>
          </a:xfrm>
          <a:prstGeom prst="ellipse">
            <a:avLst/>
          </a:prstGeom>
          <a:solidFill>
            <a:srgbClr val="FCEFD6"/>
          </a:solidFill>
          <a:ln w="12700">
            <a:solidFill>
              <a:srgbClr val="FCEFD6"/>
            </a:solidFill>
            <a:prstDash val="solid"/>
          </a:ln>
        </p:spPr>
      </p:sp>
      <p:sp>
        <p:nvSpPr>
          <p:cNvPr id="51" name="Icono chart-line"/>
          <p:cNvSpPr/>
          <p:nvPr/>
        </p:nvSpPr>
        <p:spPr>
          <a:xfrm>
            <a:off x="9311838" y="444745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52" name="Text 50"/>
          <p:cNvSpPr/>
          <p:nvPr/>
        </p:nvSpPr>
        <p:spPr>
          <a:xfrm>
            <a:off x="9889007"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Observabilidad</a:t>
            </a:r>
            <a:endParaRPr lang="en-US" sz="1500" dirty="0"/>
          </a:p>
        </p:txBody>
      </p:sp>
      <p:sp>
        <p:nvSpPr>
          <p:cNvPr id="53" name="Text 51"/>
          <p:cNvSpPr/>
          <p:nvPr/>
        </p:nvSpPr>
        <p:spPr>
          <a:xfrm>
            <a:off x="9230639"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y salud de todo el sistema en un solo lugar.</a:t>
            </a:r>
            <a:endParaRPr lang="en-US" sz="1300" dirty="0"/>
          </a:p>
        </p:txBody>
      </p:sp>
      <p:sp>
        <p:nvSpPr>
          <p:cNvPr id="54" name="Text 5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vamos a ver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partes, del código a la operación, y en cada una lo que aprendimos.</a:t>
            </a:r>
            <a:endParaRPr lang="en-US" sz="1700" dirty="0"/>
          </a:p>
        </p:txBody>
      </p:sp>
      <p:sp>
        <p:nvSpPr>
          <p:cNvPr id="6" name="Shape 4"/>
          <p:cNvSpPr/>
          <p:nvPr/>
        </p:nvSpPr>
        <p:spPr>
          <a:xfrm>
            <a:off x="1298048" y="2450592"/>
            <a:ext cx="9595599" cy="0"/>
          </a:xfrm>
          <a:prstGeom prst="line">
            <a:avLst/>
          </a:prstGeom>
          <a:noFill/>
          <a:ln w="50800">
            <a:solidFill>
              <a:srgbClr val="75C5DD"/>
            </a:solidFill>
            <a:prstDash val="solid"/>
          </a:ln>
        </p:spPr>
      </p:sp>
      <p:sp>
        <p:nvSpPr>
          <p:cNvPr id="7" name="Shape 5"/>
          <p:cNvSpPr/>
          <p:nvPr/>
        </p:nvSpPr>
        <p:spPr>
          <a:xfrm>
            <a:off x="8408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code"/>
          <p:cNvSpPr/>
          <p:nvPr/>
        </p:nvSpPr>
        <p:spPr>
          <a:xfrm>
            <a:off x="1069448" y="2221992"/>
            <a:ext cx="457200" cy="457200"/>
          </a:xfrm>
          <a:custGeom>
            <a:avLst/>
            <a:gdLst/>
            <a:ahLst/>
            <a:cxnLst/>
            <a:rect l="l" t="t" r="r" b="b"/>
            <a:pathLst>
              <a:path w="457200" h="457200">
                <a:moveTo>
                  <a:pt x="304800" y="342900"/>
                </a:moveTo>
                <a:lnTo>
                  <a:pt x="419100" y="228600"/>
                </a:lnTo>
                <a:lnTo>
                  <a:pt x="304800" y="114300"/>
                </a:lnTo>
                <a:moveTo>
                  <a:pt x="152400" y="114300"/>
                </a:moveTo>
                <a:lnTo>
                  <a:pt x="38100" y="228600"/>
                </a:lnTo>
                <a:lnTo>
                  <a:pt x="152400" y="342900"/>
                </a:lnTo>
              </a:path>
            </a:pathLst>
          </a:custGeom>
          <a:noFill/>
          <a:ln w="38100" cap="rnd">
            <a:solidFill>
              <a:srgbClr val="FFFFFF"/>
            </a:solidFill>
            <a:prstDash val="solid"/>
            <a:round/>
          </a:ln>
        </p:spPr>
      </p:sp>
      <p:sp>
        <p:nvSpPr>
          <p:cNvPr id="9" name="Text 7"/>
          <p:cNvSpPr/>
          <p:nvPr/>
        </p:nvSpPr>
        <p:spPr>
          <a:xfrm>
            <a:off x="14443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1</a:t>
            </a:r>
            <a:endParaRPr lang="en-US" sz="1150" dirty="0"/>
          </a:p>
        </p:txBody>
      </p:sp>
      <p:sp>
        <p:nvSpPr>
          <p:cNvPr id="10" name="Text 8"/>
          <p:cNvSpPr/>
          <p:nvPr/>
        </p:nvSpPr>
        <p:spPr>
          <a:xfrm>
            <a:off x="6492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Fundamentos</a:t>
            </a:r>
            <a:endParaRPr lang="en-US" sz="1400" dirty="0"/>
          </a:p>
        </p:txBody>
      </p:sp>
      <p:sp>
        <p:nvSpPr>
          <p:cNvPr id="11" name="Text 9"/>
          <p:cNvSpPr/>
          <p:nvPr/>
        </p:nvSpPr>
        <p:spPr>
          <a:xfrm>
            <a:off x="6675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Spring Boot · Endpoints REST · Manejo global de errores</a:t>
            </a:r>
            <a:endParaRPr lang="en-US" sz="1050" dirty="0"/>
          </a:p>
        </p:txBody>
      </p:sp>
      <p:sp>
        <p:nvSpPr>
          <p:cNvPr id="12" name="Shape 10"/>
          <p:cNvSpPr/>
          <p:nvPr/>
        </p:nvSpPr>
        <p:spPr>
          <a:xfrm>
            <a:off x="22116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3" name="Icono network"/>
          <p:cNvSpPr/>
          <p:nvPr/>
        </p:nvSpPr>
        <p:spPr>
          <a:xfrm>
            <a:off x="2440248" y="2221992"/>
            <a:ext cx="457200" cy="457200"/>
          </a:xfrm>
          <a:custGeom>
            <a:avLst/>
            <a:gdLst/>
            <a:ahLst/>
            <a:cxnLst/>
            <a:rect l="l" t="t" r="r" b="b"/>
            <a:pathLst>
              <a:path w="457200" h="457200">
                <a:moveTo>
                  <a:pt x="323850" y="304800"/>
                </a:moveTo>
                <a:lnTo>
                  <a:pt x="400050" y="304800"/>
                </a:lnTo>
                <a:cubicBezTo>
                  <a:pt x="410571" y="304800"/>
                  <a:pt x="419100" y="313329"/>
                  <a:pt x="419100" y="323850"/>
                </a:cubicBezTo>
                <a:lnTo>
                  <a:pt x="419100" y="400050"/>
                </a:lnTo>
                <a:cubicBezTo>
                  <a:pt x="419100" y="410571"/>
                  <a:pt x="410571" y="419100"/>
                  <a:pt x="400050" y="419100"/>
                </a:cubicBezTo>
                <a:lnTo>
                  <a:pt x="323850" y="419100"/>
                </a:lnTo>
                <a:cubicBezTo>
                  <a:pt x="313329" y="419100"/>
                  <a:pt x="304800" y="410571"/>
                  <a:pt x="304800" y="400050"/>
                </a:cubicBezTo>
                <a:lnTo>
                  <a:pt x="304800" y="323850"/>
                </a:lnTo>
                <a:cubicBezTo>
                  <a:pt x="304800" y="313329"/>
                  <a:pt x="313329" y="304800"/>
                  <a:pt x="323850" y="304800"/>
                </a:cubicBezTo>
                <a:close/>
                <a:moveTo>
                  <a:pt x="57150" y="304800"/>
                </a:moveTo>
                <a:lnTo>
                  <a:pt x="133350" y="304800"/>
                </a:lnTo>
                <a:cubicBezTo>
                  <a:pt x="143871" y="304800"/>
                  <a:pt x="152400" y="313329"/>
                  <a:pt x="152400" y="323850"/>
                </a:cubicBezTo>
                <a:lnTo>
                  <a:pt x="152400" y="400050"/>
                </a:lnTo>
                <a:cubicBezTo>
                  <a:pt x="152400" y="410571"/>
                  <a:pt x="143871" y="419100"/>
                  <a:pt x="133350" y="419100"/>
                </a:cubicBezTo>
                <a:lnTo>
                  <a:pt x="57150" y="419100"/>
                </a:lnTo>
                <a:cubicBezTo>
                  <a:pt x="46629" y="419100"/>
                  <a:pt x="38100" y="410571"/>
                  <a:pt x="38100" y="400050"/>
                </a:cubicBezTo>
                <a:lnTo>
                  <a:pt x="38100" y="323850"/>
                </a:lnTo>
                <a:cubicBezTo>
                  <a:pt x="38100" y="313329"/>
                  <a:pt x="46629" y="304800"/>
                  <a:pt x="57150" y="304800"/>
                </a:cubicBezTo>
                <a:close/>
                <a:moveTo>
                  <a:pt x="190500" y="38100"/>
                </a:moveTo>
                <a:lnTo>
                  <a:pt x="266700" y="38100"/>
                </a:lnTo>
                <a:cubicBezTo>
                  <a:pt x="277221" y="38100"/>
                  <a:pt x="285750" y="46629"/>
                  <a:pt x="285750" y="57150"/>
                </a:cubicBezTo>
                <a:lnTo>
                  <a:pt x="285750" y="133350"/>
                </a:lnTo>
                <a:cubicBezTo>
                  <a:pt x="285750" y="143871"/>
                  <a:pt x="277221" y="152400"/>
                  <a:pt x="266700" y="152400"/>
                </a:cubicBezTo>
                <a:lnTo>
                  <a:pt x="190500" y="152400"/>
                </a:lnTo>
                <a:cubicBezTo>
                  <a:pt x="179979" y="152400"/>
                  <a:pt x="171450" y="143871"/>
                  <a:pt x="171450" y="133350"/>
                </a:cubicBezTo>
                <a:lnTo>
                  <a:pt x="171450" y="57150"/>
                </a:lnTo>
                <a:cubicBezTo>
                  <a:pt x="171450" y="46629"/>
                  <a:pt x="179979" y="38100"/>
                  <a:pt x="190500" y="38100"/>
                </a:cubicBezTo>
                <a:close/>
                <a:moveTo>
                  <a:pt x="95250" y="304800"/>
                </a:moveTo>
                <a:lnTo>
                  <a:pt x="95250" y="247650"/>
                </a:lnTo>
                <a:cubicBezTo>
                  <a:pt x="95250" y="237129"/>
                  <a:pt x="103779" y="228600"/>
                  <a:pt x="114300" y="228600"/>
                </a:cubicBezTo>
                <a:lnTo>
                  <a:pt x="342900" y="228600"/>
                </a:lnTo>
                <a:cubicBezTo>
                  <a:pt x="353421" y="228600"/>
                  <a:pt x="361950" y="237129"/>
                  <a:pt x="361950" y="247650"/>
                </a:cubicBezTo>
                <a:lnTo>
                  <a:pt x="361950" y="304800"/>
                </a:lnTo>
                <a:moveTo>
                  <a:pt x="228600" y="228600"/>
                </a:moveTo>
                <a:lnTo>
                  <a:pt x="228600" y="152400"/>
                </a:lnTo>
              </a:path>
            </a:pathLst>
          </a:custGeom>
          <a:noFill/>
          <a:ln w="38100" cap="rnd">
            <a:solidFill>
              <a:srgbClr val="FFFFFF"/>
            </a:solidFill>
            <a:prstDash val="solid"/>
            <a:round/>
          </a:ln>
        </p:spPr>
      </p:sp>
      <p:sp>
        <p:nvSpPr>
          <p:cNvPr id="14" name="Text 12"/>
          <p:cNvSpPr/>
          <p:nvPr/>
        </p:nvSpPr>
        <p:spPr>
          <a:xfrm>
            <a:off x="28151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2</a:t>
            </a:r>
            <a:endParaRPr lang="en-US" sz="1150" dirty="0"/>
          </a:p>
        </p:txBody>
      </p:sp>
      <p:sp>
        <p:nvSpPr>
          <p:cNvPr id="15" name="Text 13"/>
          <p:cNvSpPr/>
          <p:nvPr/>
        </p:nvSpPr>
        <p:spPr>
          <a:xfrm>
            <a:off x="20200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Arquitectura</a:t>
            </a:r>
            <a:endParaRPr lang="en-US" sz="1400" dirty="0"/>
          </a:p>
        </p:txBody>
      </p:sp>
      <p:sp>
        <p:nvSpPr>
          <p:cNvPr id="16" name="Text 14"/>
          <p:cNvSpPr/>
          <p:nvPr/>
        </p:nvSpPr>
        <p:spPr>
          <a:xfrm>
            <a:off x="20383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Microservicios · Puertos y adaptadores · De monolito a microservicios</a:t>
            </a:r>
            <a:endParaRPr lang="en-US" sz="1050" dirty="0"/>
          </a:p>
        </p:txBody>
      </p:sp>
      <p:sp>
        <p:nvSpPr>
          <p:cNvPr id="17" name="Shape 15"/>
          <p:cNvSpPr/>
          <p:nvPr/>
        </p:nvSpPr>
        <p:spPr>
          <a:xfrm>
            <a:off x="35824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8" name="Icono database"/>
          <p:cNvSpPr/>
          <p:nvPr/>
        </p:nvSpPr>
        <p:spPr>
          <a:xfrm>
            <a:off x="3811048" y="2221992"/>
            <a:ext cx="457200" cy="457200"/>
          </a:xfrm>
          <a:custGeom>
            <a:avLst/>
            <a:gdLst/>
            <a:ahLst/>
            <a:cxnLst/>
            <a:rect l="l" t="t" r="r" b="b"/>
            <a:pathLst>
              <a:path w="457200" h="457200">
                <a:moveTo>
                  <a:pt x="400050" y="95250"/>
                </a:moveTo>
                <a:cubicBezTo>
                  <a:pt x="400050" y="126813"/>
                  <a:pt x="323289" y="152400"/>
                  <a:pt x="228600" y="152400"/>
                </a:cubicBezTo>
                <a:cubicBezTo>
                  <a:pt x="133911" y="152400"/>
                  <a:pt x="57150" y="126813"/>
                  <a:pt x="57150" y="95250"/>
                </a:cubicBezTo>
                <a:cubicBezTo>
                  <a:pt x="57150" y="63687"/>
                  <a:pt x="133911" y="38100"/>
                  <a:pt x="228600" y="38100"/>
                </a:cubicBezTo>
                <a:cubicBezTo>
                  <a:pt x="323289" y="38100"/>
                  <a:pt x="400050" y="63687"/>
                  <a:pt x="400050" y="95250"/>
                </a:cubicBezTo>
                <a:close/>
                <a:moveTo>
                  <a:pt x="57150" y="95250"/>
                </a:moveTo>
                <a:lnTo>
                  <a:pt x="57150" y="361950"/>
                </a:lnTo>
                <a:cubicBezTo>
                  <a:pt x="57150" y="393513"/>
                  <a:pt x="133911" y="419100"/>
                  <a:pt x="228600" y="419100"/>
                </a:cubicBezTo>
                <a:cubicBezTo>
                  <a:pt x="323289" y="419100"/>
                  <a:pt x="400050" y="393513"/>
                  <a:pt x="400050" y="361950"/>
                </a:cubicBezTo>
                <a:lnTo>
                  <a:pt x="400050" y="95250"/>
                </a:lnTo>
                <a:moveTo>
                  <a:pt x="57150" y="228600"/>
                </a:moveTo>
                <a:cubicBezTo>
                  <a:pt x="57150" y="260163"/>
                  <a:pt x="133911" y="285750"/>
                  <a:pt x="228600" y="285750"/>
                </a:cubicBezTo>
                <a:cubicBezTo>
                  <a:pt x="323289" y="285750"/>
                  <a:pt x="400050" y="260163"/>
                  <a:pt x="400050" y="228600"/>
                </a:cubicBezTo>
              </a:path>
            </a:pathLst>
          </a:custGeom>
          <a:noFill/>
          <a:ln w="38100" cap="rnd">
            <a:solidFill>
              <a:srgbClr val="FFFFFF"/>
            </a:solidFill>
            <a:prstDash val="solid"/>
            <a:round/>
          </a:ln>
        </p:spPr>
      </p:sp>
      <p:sp>
        <p:nvSpPr>
          <p:cNvPr id="19" name="Text 17"/>
          <p:cNvSpPr/>
          <p:nvPr/>
        </p:nvSpPr>
        <p:spPr>
          <a:xfrm>
            <a:off x="41859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3</a:t>
            </a:r>
            <a:endParaRPr lang="en-US" sz="1150" dirty="0"/>
          </a:p>
        </p:txBody>
      </p:sp>
      <p:sp>
        <p:nvSpPr>
          <p:cNvPr id="20" name="Text 18"/>
          <p:cNvSpPr/>
          <p:nvPr/>
        </p:nvSpPr>
        <p:spPr>
          <a:xfrm>
            <a:off x="33908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Base de datos</a:t>
            </a:r>
            <a:endParaRPr lang="en-US" sz="1400" dirty="0"/>
          </a:p>
        </p:txBody>
      </p:sp>
      <p:sp>
        <p:nvSpPr>
          <p:cNvPr id="21" name="Text 19"/>
          <p:cNvSpPr/>
          <p:nvPr/>
        </p:nvSpPr>
        <p:spPr>
          <a:xfrm>
            <a:off x="34091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Modelado y consultas · Adaptador con base real · El problema de la consistencia</a:t>
            </a:r>
            <a:endParaRPr lang="en-US" sz="1050" dirty="0"/>
          </a:p>
        </p:txBody>
      </p:sp>
      <p:sp>
        <p:nvSpPr>
          <p:cNvPr id="22" name="Shape 20"/>
          <p:cNvSpPr/>
          <p:nvPr/>
        </p:nvSpPr>
        <p:spPr>
          <a:xfrm>
            <a:off x="49532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3" name="Icono container"/>
          <p:cNvSpPr/>
          <p:nvPr/>
        </p:nvSpPr>
        <p:spPr>
          <a:xfrm>
            <a:off x="5181848" y="2221992"/>
            <a:ext cx="457200" cy="457200"/>
          </a:xfrm>
          <a:custGeom>
            <a:avLst/>
            <a:gdLst/>
            <a:ahLst/>
            <a:cxnLst/>
            <a:rect l="l" t="t" r="r" b="b"/>
            <a:pathLst>
              <a:path w="457200" h="457200">
                <a:moveTo>
                  <a:pt x="419100" y="146685"/>
                </a:moveTo>
                <a:cubicBezTo>
                  <a:pt x="419100" y="135255"/>
                  <a:pt x="411480" y="123825"/>
                  <a:pt x="403860" y="118110"/>
                </a:cubicBezTo>
                <a:lnTo>
                  <a:pt x="283845" y="43815"/>
                </a:lnTo>
                <a:cubicBezTo>
                  <a:pt x="273804" y="38107"/>
                  <a:pt x="261501" y="38107"/>
                  <a:pt x="251460" y="43815"/>
                </a:cubicBezTo>
                <a:lnTo>
                  <a:pt x="55245" y="158115"/>
                </a:lnTo>
                <a:cubicBezTo>
                  <a:pt x="45720" y="161925"/>
                  <a:pt x="38100" y="173355"/>
                  <a:pt x="38100" y="184785"/>
                </a:cubicBezTo>
                <a:lnTo>
                  <a:pt x="38100" y="310515"/>
                </a:lnTo>
                <a:cubicBezTo>
                  <a:pt x="38100" y="320040"/>
                  <a:pt x="45720" y="333375"/>
                  <a:pt x="53340" y="339090"/>
                </a:cubicBezTo>
                <a:lnTo>
                  <a:pt x="173355" y="413385"/>
                </a:lnTo>
                <a:cubicBezTo>
                  <a:pt x="183396" y="419093"/>
                  <a:pt x="195699" y="419093"/>
                  <a:pt x="205740" y="413385"/>
                </a:cubicBezTo>
                <a:lnTo>
                  <a:pt x="401955" y="299085"/>
                </a:lnTo>
                <a:cubicBezTo>
                  <a:pt x="411480" y="293370"/>
                  <a:pt x="419100" y="280035"/>
                  <a:pt x="419100" y="270510"/>
                </a:cubicBezTo>
                <a:close/>
                <a:moveTo>
                  <a:pt x="190500" y="417195"/>
                </a:moveTo>
                <a:lnTo>
                  <a:pt x="190500" y="266700"/>
                </a:lnTo>
                <a:lnTo>
                  <a:pt x="40005" y="173355"/>
                </a:lnTo>
                <a:moveTo>
                  <a:pt x="190500" y="266700"/>
                </a:moveTo>
                <a:lnTo>
                  <a:pt x="417195" y="135255"/>
                </a:lnTo>
                <a:moveTo>
                  <a:pt x="266700" y="377190"/>
                </a:moveTo>
                <a:lnTo>
                  <a:pt x="266700" y="222885"/>
                </a:lnTo>
                <a:moveTo>
                  <a:pt x="342900" y="333375"/>
                </a:moveTo>
                <a:lnTo>
                  <a:pt x="342900" y="179070"/>
                </a:lnTo>
              </a:path>
            </a:pathLst>
          </a:custGeom>
          <a:noFill/>
          <a:ln w="38100" cap="rnd">
            <a:solidFill>
              <a:srgbClr val="FFFFFF"/>
            </a:solidFill>
            <a:prstDash val="solid"/>
            <a:round/>
          </a:ln>
        </p:spPr>
      </p:sp>
      <p:sp>
        <p:nvSpPr>
          <p:cNvPr id="24" name="Text 22"/>
          <p:cNvSpPr/>
          <p:nvPr/>
        </p:nvSpPr>
        <p:spPr>
          <a:xfrm>
            <a:off x="55567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4</a:t>
            </a:r>
            <a:endParaRPr lang="en-US" sz="1150" dirty="0"/>
          </a:p>
        </p:txBody>
      </p:sp>
      <p:sp>
        <p:nvSpPr>
          <p:cNvPr id="25" name="Text 23"/>
          <p:cNvSpPr/>
          <p:nvPr/>
        </p:nvSpPr>
        <p:spPr>
          <a:xfrm>
            <a:off x="47616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Contenedores y Kubernetes</a:t>
            </a:r>
            <a:endParaRPr lang="en-US" sz="1400" dirty="0"/>
          </a:p>
        </p:txBody>
      </p:sp>
      <p:sp>
        <p:nvSpPr>
          <p:cNvPr id="26" name="Text 24"/>
          <p:cNvSpPr/>
          <p:nvPr/>
        </p:nvSpPr>
        <p:spPr>
          <a:xfrm>
            <a:off x="47799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Docker y Dockerfile · Docker Compose · Kubernetes</a:t>
            </a:r>
            <a:endParaRPr lang="en-US" sz="1050" dirty="0"/>
          </a:p>
        </p:txBody>
      </p:sp>
      <p:sp>
        <p:nvSpPr>
          <p:cNvPr id="27" name="Shape 25"/>
          <p:cNvSpPr/>
          <p:nvPr/>
        </p:nvSpPr>
        <p:spPr>
          <a:xfrm>
            <a:off x="63240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8" name="Icono workflow"/>
          <p:cNvSpPr/>
          <p:nvPr/>
        </p:nvSpPr>
        <p:spPr>
          <a:xfrm>
            <a:off x="6552648" y="2221992"/>
            <a:ext cx="457200" cy="457200"/>
          </a:xfrm>
          <a:custGeom>
            <a:avLst/>
            <a:gdLst/>
            <a:ahLst/>
            <a:cxnLst/>
            <a:rect l="l" t="t" r="r" b="b"/>
            <a:pathLst>
              <a:path w="457200" h="457200">
                <a:moveTo>
                  <a:pt x="95250" y="57150"/>
                </a:moveTo>
                <a:lnTo>
                  <a:pt x="171450" y="57150"/>
                </a:lnTo>
                <a:cubicBezTo>
                  <a:pt x="192492" y="57150"/>
                  <a:pt x="209550" y="74208"/>
                  <a:pt x="209550" y="95250"/>
                </a:cubicBezTo>
                <a:lnTo>
                  <a:pt x="209550" y="171450"/>
                </a:lnTo>
                <a:cubicBezTo>
                  <a:pt x="209550" y="192492"/>
                  <a:pt x="192492" y="209550"/>
                  <a:pt x="171450" y="209550"/>
                </a:cubicBezTo>
                <a:lnTo>
                  <a:pt x="95250" y="209550"/>
                </a:lnTo>
                <a:cubicBezTo>
                  <a:pt x="74208" y="209550"/>
                  <a:pt x="57150" y="192492"/>
                  <a:pt x="57150" y="171450"/>
                </a:cubicBezTo>
                <a:lnTo>
                  <a:pt x="57150" y="95250"/>
                </a:lnTo>
                <a:cubicBezTo>
                  <a:pt x="57150" y="74208"/>
                  <a:pt x="74208" y="57150"/>
                  <a:pt x="95250" y="57150"/>
                </a:cubicBezTo>
                <a:close/>
                <a:moveTo>
                  <a:pt x="133350" y="209550"/>
                </a:moveTo>
                <a:lnTo>
                  <a:pt x="133350" y="285750"/>
                </a:lnTo>
                <a:cubicBezTo>
                  <a:pt x="133350" y="306792"/>
                  <a:pt x="150408" y="323850"/>
                  <a:pt x="171450" y="323850"/>
                </a:cubicBezTo>
                <a:lnTo>
                  <a:pt x="247650" y="323850"/>
                </a:lnTo>
                <a:moveTo>
                  <a:pt x="285750" y="247650"/>
                </a:moveTo>
                <a:lnTo>
                  <a:pt x="361950" y="247650"/>
                </a:lnTo>
                <a:cubicBezTo>
                  <a:pt x="382992" y="247650"/>
                  <a:pt x="400050" y="264708"/>
                  <a:pt x="400050" y="285750"/>
                </a:cubicBezTo>
                <a:lnTo>
                  <a:pt x="400050" y="361950"/>
                </a:lnTo>
                <a:cubicBezTo>
                  <a:pt x="400050" y="382992"/>
                  <a:pt x="382992" y="400050"/>
                  <a:pt x="361950" y="400050"/>
                </a:cubicBezTo>
                <a:lnTo>
                  <a:pt x="285750" y="400050"/>
                </a:lnTo>
                <a:cubicBezTo>
                  <a:pt x="264708" y="400050"/>
                  <a:pt x="247650" y="382992"/>
                  <a:pt x="247650" y="361950"/>
                </a:cubicBezTo>
                <a:lnTo>
                  <a:pt x="247650" y="285750"/>
                </a:lnTo>
                <a:cubicBezTo>
                  <a:pt x="247650" y="264708"/>
                  <a:pt x="264708" y="247650"/>
                  <a:pt x="285750" y="247650"/>
                </a:cubicBezTo>
                <a:close/>
              </a:path>
            </a:pathLst>
          </a:custGeom>
          <a:noFill/>
          <a:ln w="38100" cap="rnd">
            <a:solidFill>
              <a:srgbClr val="FFFFFF"/>
            </a:solidFill>
            <a:prstDash val="solid"/>
            <a:round/>
          </a:ln>
        </p:spPr>
      </p:sp>
      <p:sp>
        <p:nvSpPr>
          <p:cNvPr id="29" name="Text 27"/>
          <p:cNvSpPr/>
          <p:nvPr/>
        </p:nvSpPr>
        <p:spPr>
          <a:xfrm>
            <a:off x="69275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5</a:t>
            </a:r>
            <a:endParaRPr lang="en-US" sz="1150" dirty="0"/>
          </a:p>
        </p:txBody>
      </p:sp>
      <p:sp>
        <p:nvSpPr>
          <p:cNvPr id="30" name="Text 28"/>
          <p:cNvSpPr/>
          <p:nvPr/>
        </p:nvSpPr>
        <p:spPr>
          <a:xfrm>
            <a:off x="61324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CI/CD</a:t>
            </a:r>
            <a:endParaRPr lang="en-US" sz="1400" dirty="0"/>
          </a:p>
        </p:txBody>
      </p:sp>
      <p:sp>
        <p:nvSpPr>
          <p:cNvPr id="31" name="Text 29"/>
          <p:cNvSpPr/>
          <p:nvPr/>
        </p:nvSpPr>
        <p:spPr>
          <a:xfrm>
            <a:off x="61507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Integración continua · Entrega continua · GitHub Actions</a:t>
            </a:r>
            <a:endParaRPr lang="en-US" sz="1050" dirty="0"/>
          </a:p>
        </p:txBody>
      </p:sp>
      <p:sp>
        <p:nvSpPr>
          <p:cNvPr id="32" name="Shape 30"/>
          <p:cNvSpPr/>
          <p:nvPr/>
        </p:nvSpPr>
        <p:spPr>
          <a:xfrm>
            <a:off x="76948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3" name="Icono chart-line"/>
          <p:cNvSpPr/>
          <p:nvPr/>
        </p:nvSpPr>
        <p:spPr>
          <a:xfrm>
            <a:off x="7923447" y="2221992"/>
            <a:ext cx="457200" cy="457200"/>
          </a:xfrm>
          <a:custGeom>
            <a:avLst/>
            <a:gdLst/>
            <a:ahLst/>
            <a:cxnLst/>
            <a:rect l="l" t="t" r="r" b="b"/>
            <a:pathLst>
              <a:path w="457200" h="457200">
                <a:moveTo>
                  <a:pt x="57150" y="57150"/>
                </a:moveTo>
                <a:lnTo>
                  <a:pt x="57150" y="361950"/>
                </a:lnTo>
                <a:cubicBezTo>
                  <a:pt x="57150" y="382992"/>
                  <a:pt x="74208" y="400050"/>
                  <a:pt x="95250" y="400050"/>
                </a:cubicBezTo>
                <a:lnTo>
                  <a:pt x="400050" y="400050"/>
                </a:lnTo>
                <a:moveTo>
                  <a:pt x="361950" y="171450"/>
                </a:moveTo>
                <a:lnTo>
                  <a:pt x="266700" y="266700"/>
                </a:lnTo>
                <a:lnTo>
                  <a:pt x="190500" y="190500"/>
                </a:lnTo>
                <a:lnTo>
                  <a:pt x="133350" y="247650"/>
                </a:lnTo>
              </a:path>
            </a:pathLst>
          </a:custGeom>
          <a:noFill/>
          <a:ln w="38100" cap="rnd">
            <a:solidFill>
              <a:srgbClr val="FFFFFF"/>
            </a:solidFill>
            <a:prstDash val="solid"/>
            <a:round/>
          </a:ln>
        </p:spPr>
      </p:sp>
      <p:sp>
        <p:nvSpPr>
          <p:cNvPr id="34" name="Text 32"/>
          <p:cNvSpPr/>
          <p:nvPr/>
        </p:nvSpPr>
        <p:spPr>
          <a:xfrm>
            <a:off x="82983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6</a:t>
            </a:r>
            <a:endParaRPr lang="en-US" sz="1150" dirty="0"/>
          </a:p>
        </p:txBody>
      </p:sp>
      <p:sp>
        <p:nvSpPr>
          <p:cNvPr id="35" name="Text 33"/>
          <p:cNvSpPr/>
          <p:nvPr/>
        </p:nvSpPr>
        <p:spPr>
          <a:xfrm>
            <a:off x="7503224" y="3054096"/>
            <a:ext cx="1297648" cy="566928"/>
          </a:xfrm>
          <a:prstGeom prst="rect">
            <a:avLst/>
          </a:prstGeom>
          <a:noFill/>
          <a:ln/>
        </p:spPr>
        <p:txBody>
          <a:bodyPr wrap="square" lIns="0" tIns="0" rIns="0" bIns="0" rtlCol="0" anchor="t">
            <a:normAutofit/>
          </a:bodyPr>
          <a:lstStyle/>
          <a:p>
            <a:pPr algn="ctr" indent="0" marL="0">
              <a:buNone/>
            </a:pPr>
            <a:r>
              <a:rPr lang="en-US" sz="1250" b="1" dirty="0">
                <a:solidFill>
                  <a:srgbClr val="0B1A3C"/>
                </a:solidFill>
                <a:latin typeface="Segoe UI Semibold" pitchFamily="34" charset="0"/>
                <a:ea typeface="Segoe UI Semibold" pitchFamily="34" charset="-122"/>
                <a:cs typeface="Segoe UI Semibold" pitchFamily="34" charset="-120"/>
              </a:rPr>
              <a:t>Observabilidad</a:t>
            </a:r>
            <a:endParaRPr lang="en-US" sz="1250" dirty="0"/>
          </a:p>
        </p:txBody>
      </p:sp>
      <p:sp>
        <p:nvSpPr>
          <p:cNvPr id="36" name="Text 34"/>
          <p:cNvSpPr/>
          <p:nvPr/>
        </p:nvSpPr>
        <p:spPr>
          <a:xfrm>
            <a:off x="75215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Logs y monitoreo · Centralización de logs · Trazas</a:t>
            </a:r>
            <a:endParaRPr lang="en-US" sz="1050" dirty="0"/>
          </a:p>
        </p:txBody>
      </p:sp>
      <p:sp>
        <p:nvSpPr>
          <p:cNvPr id="37" name="Shape 35"/>
          <p:cNvSpPr/>
          <p:nvPr/>
        </p:nvSpPr>
        <p:spPr>
          <a:xfrm>
            <a:off x="90656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Icono book-open"/>
          <p:cNvSpPr/>
          <p:nvPr/>
        </p:nvSpPr>
        <p:spPr>
          <a:xfrm>
            <a:off x="9294247" y="2221992"/>
            <a:ext cx="457200" cy="457200"/>
          </a:xfrm>
          <a:custGeom>
            <a:avLst/>
            <a:gdLst/>
            <a:ahLst/>
            <a:cxnLst/>
            <a:rect l="l" t="t" r="r" b="b"/>
            <a:pathLst>
              <a:path w="457200" h="457200">
                <a:moveTo>
                  <a:pt x="228600" y="133350"/>
                </a:moveTo>
                <a:lnTo>
                  <a:pt x="228600" y="400050"/>
                </a:lnTo>
                <a:moveTo>
                  <a:pt x="57150" y="342900"/>
                </a:moveTo>
                <a:cubicBezTo>
                  <a:pt x="46629" y="342900"/>
                  <a:pt x="38100" y="334371"/>
                  <a:pt x="38100" y="323850"/>
                </a:cubicBezTo>
                <a:lnTo>
                  <a:pt x="38100" y="76200"/>
                </a:lnTo>
                <a:cubicBezTo>
                  <a:pt x="38100" y="65679"/>
                  <a:pt x="46629" y="57150"/>
                  <a:pt x="57150" y="57150"/>
                </a:cubicBezTo>
                <a:lnTo>
                  <a:pt x="152400" y="57150"/>
                </a:lnTo>
                <a:cubicBezTo>
                  <a:pt x="194484" y="57150"/>
                  <a:pt x="228600" y="91266"/>
                  <a:pt x="228600" y="133350"/>
                </a:cubicBezTo>
                <a:cubicBezTo>
                  <a:pt x="228600" y="91266"/>
                  <a:pt x="262716" y="57150"/>
                  <a:pt x="304800" y="57150"/>
                </a:cubicBezTo>
                <a:lnTo>
                  <a:pt x="400050" y="57150"/>
                </a:lnTo>
                <a:cubicBezTo>
                  <a:pt x="410571" y="57150"/>
                  <a:pt x="419100" y="65679"/>
                  <a:pt x="419100" y="76200"/>
                </a:cubicBezTo>
                <a:lnTo>
                  <a:pt x="419100" y="323850"/>
                </a:lnTo>
                <a:cubicBezTo>
                  <a:pt x="419100" y="334371"/>
                  <a:pt x="410571" y="342900"/>
                  <a:pt x="400050" y="342900"/>
                </a:cubicBezTo>
                <a:lnTo>
                  <a:pt x="285750" y="342900"/>
                </a:lnTo>
                <a:cubicBezTo>
                  <a:pt x="254187" y="342900"/>
                  <a:pt x="228600" y="368487"/>
                  <a:pt x="228600" y="400050"/>
                </a:cubicBezTo>
                <a:cubicBezTo>
                  <a:pt x="228600" y="368487"/>
                  <a:pt x="203013" y="342900"/>
                  <a:pt x="171450" y="342900"/>
                </a:cubicBezTo>
                <a:close/>
              </a:path>
            </a:pathLst>
          </a:custGeom>
          <a:noFill/>
          <a:ln w="38100" cap="rnd">
            <a:solidFill>
              <a:srgbClr val="FFFFFF"/>
            </a:solidFill>
            <a:prstDash val="solid"/>
            <a:round/>
          </a:ln>
        </p:spPr>
      </p:sp>
      <p:sp>
        <p:nvSpPr>
          <p:cNvPr id="39" name="Text 37"/>
          <p:cNvSpPr/>
          <p:nvPr/>
        </p:nvSpPr>
        <p:spPr>
          <a:xfrm>
            <a:off x="96691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7</a:t>
            </a:r>
            <a:endParaRPr lang="en-US" sz="1150" dirty="0"/>
          </a:p>
        </p:txBody>
      </p:sp>
      <p:sp>
        <p:nvSpPr>
          <p:cNvPr id="40" name="Text 38"/>
          <p:cNvSpPr/>
          <p:nvPr/>
        </p:nvSpPr>
        <p:spPr>
          <a:xfrm>
            <a:off x="8874023" y="3054096"/>
            <a:ext cx="1297648" cy="566928"/>
          </a:xfrm>
          <a:prstGeom prst="rect">
            <a:avLst/>
          </a:prstGeom>
          <a:noFill/>
          <a:ln/>
        </p:spPr>
        <p:txBody>
          <a:bodyPr wrap="square" lIns="0" tIns="0" rIns="0" bIns="0" rtlCol="0" anchor="t">
            <a:normAutofit/>
          </a:bodyPr>
          <a:lstStyle/>
          <a:p>
            <a:pPr algn="ctr" indent="0" marL="0">
              <a:buNone/>
            </a:pPr>
            <a:r>
              <a:rPr lang="en-US" sz="1300" b="1" dirty="0">
                <a:solidFill>
                  <a:srgbClr val="0B1A3C"/>
                </a:solidFill>
                <a:latin typeface="Segoe UI Semibold" pitchFamily="34" charset="0"/>
                <a:ea typeface="Segoe UI Semibold" pitchFamily="34" charset="-122"/>
                <a:cs typeface="Segoe UI Semibold" pitchFamily="34" charset="-120"/>
              </a:rPr>
              <a:t>Documentación</a:t>
            </a:r>
            <a:endParaRPr lang="en-US" sz="1300" dirty="0"/>
          </a:p>
        </p:txBody>
      </p:sp>
      <p:sp>
        <p:nvSpPr>
          <p:cNvPr id="41" name="Text 39"/>
          <p:cNvSpPr/>
          <p:nvPr/>
        </p:nvSpPr>
        <p:spPr>
          <a:xfrm>
            <a:off x="8892311"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OpenAPI · Swagger · Git y documentación</a:t>
            </a:r>
            <a:endParaRPr lang="en-US" sz="1050" dirty="0"/>
          </a:p>
        </p:txBody>
      </p:sp>
      <p:sp>
        <p:nvSpPr>
          <p:cNvPr id="42" name="Shape 40"/>
          <p:cNvSpPr/>
          <p:nvPr/>
        </p:nvSpPr>
        <p:spPr>
          <a:xfrm>
            <a:off x="104364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3" name="Icono flask-conical"/>
          <p:cNvSpPr/>
          <p:nvPr/>
        </p:nvSpPr>
        <p:spPr>
          <a:xfrm>
            <a:off x="10665047" y="2221992"/>
            <a:ext cx="457200" cy="457200"/>
          </a:xfrm>
          <a:custGeom>
            <a:avLst/>
            <a:gdLst/>
            <a:ahLst/>
            <a:cxnLst/>
            <a:rect l="l" t="t" r="r" b="b"/>
            <a:pathLst>
              <a:path w="457200" h="457200">
                <a:moveTo>
                  <a:pt x="266700" y="38100"/>
                </a:moveTo>
                <a:lnTo>
                  <a:pt x="266700" y="152400"/>
                </a:lnTo>
                <a:cubicBezTo>
                  <a:pt x="266697" y="158791"/>
                  <a:pt x="268302" y="165080"/>
                  <a:pt x="271367" y="170688"/>
                </a:cubicBezTo>
                <a:lnTo>
                  <a:pt x="376333" y="362712"/>
                </a:lnTo>
                <a:cubicBezTo>
                  <a:pt x="382792" y="374518"/>
                  <a:pt x="382545" y="388855"/>
                  <a:pt x="375681" y="400431"/>
                </a:cubicBezTo>
                <a:cubicBezTo>
                  <a:pt x="368818" y="412007"/>
                  <a:pt x="356357" y="419103"/>
                  <a:pt x="342900" y="419100"/>
                </a:cubicBezTo>
                <a:lnTo>
                  <a:pt x="114300" y="419100"/>
                </a:lnTo>
                <a:cubicBezTo>
                  <a:pt x="100843" y="419103"/>
                  <a:pt x="88382" y="412007"/>
                  <a:pt x="81519" y="400431"/>
                </a:cubicBezTo>
                <a:cubicBezTo>
                  <a:pt x="74655" y="388855"/>
                  <a:pt x="74408" y="374518"/>
                  <a:pt x="80867" y="362712"/>
                </a:cubicBezTo>
                <a:lnTo>
                  <a:pt x="185833" y="170688"/>
                </a:lnTo>
                <a:cubicBezTo>
                  <a:pt x="188898" y="165080"/>
                  <a:pt x="190503" y="158791"/>
                  <a:pt x="190500" y="152400"/>
                </a:cubicBezTo>
                <a:lnTo>
                  <a:pt x="190500" y="38100"/>
                </a:lnTo>
                <a:moveTo>
                  <a:pt x="122930" y="285750"/>
                </a:moveTo>
                <a:lnTo>
                  <a:pt x="334270" y="285750"/>
                </a:lnTo>
                <a:moveTo>
                  <a:pt x="161925" y="38100"/>
                </a:moveTo>
                <a:lnTo>
                  <a:pt x="295275" y="38100"/>
                </a:lnTo>
              </a:path>
            </a:pathLst>
          </a:custGeom>
          <a:noFill/>
          <a:ln w="38100" cap="rnd">
            <a:solidFill>
              <a:srgbClr val="FFFFFF"/>
            </a:solidFill>
            <a:prstDash val="solid"/>
            <a:round/>
          </a:ln>
        </p:spPr>
      </p:sp>
      <p:sp>
        <p:nvSpPr>
          <p:cNvPr id="44" name="Text 42"/>
          <p:cNvSpPr/>
          <p:nvPr/>
        </p:nvSpPr>
        <p:spPr>
          <a:xfrm>
            <a:off x="110399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8</a:t>
            </a:r>
            <a:endParaRPr lang="en-US" sz="1150" dirty="0"/>
          </a:p>
        </p:txBody>
      </p:sp>
      <p:sp>
        <p:nvSpPr>
          <p:cNvPr id="45" name="Text 43"/>
          <p:cNvSpPr/>
          <p:nvPr/>
        </p:nvSpPr>
        <p:spPr>
          <a:xfrm>
            <a:off x="10244823"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La UI como laboratorio</a:t>
            </a:r>
            <a:endParaRPr lang="en-US" sz="1400" dirty="0"/>
          </a:p>
        </p:txBody>
      </p:sp>
      <p:sp>
        <p:nvSpPr>
          <p:cNvPr id="46" name="Text 44"/>
          <p:cNvSpPr/>
          <p:nvPr/>
        </p:nvSpPr>
        <p:spPr>
          <a:xfrm>
            <a:off x="10263111"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Ensamblaje del sistema · Fallas parciales · Demostración</a:t>
            </a:r>
            <a:endParaRPr lang="en-US" sz="105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API que responde siempre igual</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regla vive en el dominio; un solo componente la traduce a HTTP.</a:t>
            </a:r>
            <a:endParaRPr lang="en-US" sz="1700" dirty="0"/>
          </a:p>
        </p:txBody>
      </p:sp>
      <p:sp>
        <p:nvSpPr>
          <p:cNvPr id="14" name="Shape 12"/>
          <p:cNvSpPr/>
          <p:nvPr/>
        </p:nvSpPr>
        <p:spPr>
          <a:xfrm>
            <a:off x="612648"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740664" y="1719072"/>
            <a:ext cx="2320976" cy="64008"/>
          </a:xfrm>
          <a:prstGeom prst="rect">
            <a:avLst/>
          </a:prstGeom>
          <a:solidFill>
            <a:srgbClr val="0A6648"/>
          </a:solidFill>
          <a:ln w="12700">
            <a:solidFill>
              <a:srgbClr val="0A6648"/>
            </a:solidFill>
            <a:prstDash val="solid"/>
          </a:ln>
        </p:spPr>
      </p:sp>
      <p:sp>
        <p:nvSpPr>
          <p:cNvPr id="16" name="Shape 14"/>
          <p:cNvSpPr/>
          <p:nvPr/>
        </p:nvSpPr>
        <p:spPr>
          <a:xfrm>
            <a:off x="2403272" y="1956816"/>
            <a:ext cx="566928" cy="566928"/>
          </a:xfrm>
          <a:prstGeom prst="ellipse">
            <a:avLst/>
          </a:prstGeom>
          <a:solidFill>
            <a:srgbClr val="E1F1EA"/>
          </a:solidFill>
          <a:ln w="12700">
            <a:solidFill>
              <a:srgbClr val="E1F1EA"/>
            </a:solidFill>
            <a:prstDash val="solid"/>
          </a:ln>
        </p:spPr>
      </p:sp>
      <p:sp>
        <p:nvSpPr>
          <p:cNvPr id="17" name="Icono circle-check"/>
          <p:cNvSpPr/>
          <p:nvPr/>
        </p:nvSpPr>
        <p:spPr>
          <a:xfrm>
            <a:off x="2539335"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10551" y="147401"/>
                </a:moveTo>
                <a:lnTo>
                  <a:pt x="135118" y="171968"/>
                </a:lnTo>
                <a:lnTo>
                  <a:pt x="184252" y="122834"/>
                </a:lnTo>
              </a:path>
            </a:pathLst>
          </a:custGeom>
          <a:noFill/>
          <a:ln w="24567" cap="rnd">
            <a:solidFill>
              <a:srgbClr val="0A6648"/>
            </a:solidFill>
            <a:prstDash val="solid"/>
            <a:round/>
          </a:ln>
        </p:spPr>
      </p:sp>
      <p:sp>
        <p:nvSpPr>
          <p:cNvPr id="18" name="Text 16"/>
          <p:cNvSpPr/>
          <p:nvPr/>
        </p:nvSpPr>
        <p:spPr>
          <a:xfrm>
            <a:off x="868680"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201</a:t>
            </a:r>
            <a:endParaRPr lang="en-US" sz="5600" dirty="0"/>
          </a:p>
        </p:txBody>
      </p:sp>
      <p:sp>
        <p:nvSpPr>
          <p:cNvPr id="19" name="Text 17"/>
          <p:cNvSpPr/>
          <p:nvPr/>
        </p:nvSpPr>
        <p:spPr>
          <a:xfrm>
            <a:off x="868680"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Creada</a:t>
            </a:r>
            <a:endParaRPr lang="en-US" sz="1500" dirty="0"/>
          </a:p>
        </p:txBody>
      </p:sp>
      <p:sp>
        <p:nvSpPr>
          <p:cNvPr id="20" name="Text 18"/>
          <p:cNvSpPr/>
          <p:nvPr/>
        </p:nvSpPr>
        <p:spPr>
          <a:xfrm>
            <a:off x="868680"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solicitud quedó en BORRADOR.</a:t>
            </a:r>
            <a:endParaRPr lang="en-US" sz="1200" dirty="0"/>
          </a:p>
        </p:txBody>
      </p:sp>
      <p:sp>
        <p:nvSpPr>
          <p:cNvPr id="21" name="Shape 19"/>
          <p:cNvSpPr/>
          <p:nvPr/>
        </p:nvSpPr>
        <p:spPr>
          <a:xfrm>
            <a:off x="3409112"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537128" y="1719072"/>
            <a:ext cx="2320976" cy="64008"/>
          </a:xfrm>
          <a:prstGeom prst="rect">
            <a:avLst/>
          </a:prstGeom>
          <a:solidFill>
            <a:srgbClr val="8A4B06"/>
          </a:solidFill>
          <a:ln w="12700">
            <a:solidFill>
              <a:srgbClr val="8A4B06"/>
            </a:solidFill>
            <a:prstDash val="solid"/>
          </a:ln>
        </p:spPr>
      </p:sp>
      <p:sp>
        <p:nvSpPr>
          <p:cNvPr id="23" name="Shape 21"/>
          <p:cNvSpPr/>
          <p:nvPr/>
        </p:nvSpPr>
        <p:spPr>
          <a:xfrm>
            <a:off x="5199736" y="1956816"/>
            <a:ext cx="566928" cy="566928"/>
          </a:xfrm>
          <a:prstGeom prst="ellipse">
            <a:avLst/>
          </a:prstGeom>
          <a:solidFill>
            <a:srgbClr val="FCEFD6"/>
          </a:solidFill>
          <a:ln w="12700">
            <a:solidFill>
              <a:srgbClr val="FCEFD6"/>
            </a:solidFill>
            <a:prstDash val="solid"/>
          </a:ln>
        </p:spPr>
      </p:sp>
      <p:sp>
        <p:nvSpPr>
          <p:cNvPr id="24" name="Icono triangle-alert"/>
          <p:cNvSpPr/>
          <p:nvPr/>
        </p:nvSpPr>
        <p:spPr>
          <a:xfrm>
            <a:off x="5335798" y="2092879"/>
            <a:ext cx="294803" cy="294803"/>
          </a:xfrm>
          <a:custGeom>
            <a:avLst/>
            <a:gdLst/>
            <a:ahLst/>
            <a:cxnLst/>
            <a:rect l="l" t="t" r="r" b="b"/>
            <a:pathLst>
              <a:path w="294803" h="294803">
                <a:moveTo>
                  <a:pt x="266919" y="221102"/>
                </a:moveTo>
                <a:lnTo>
                  <a:pt x="168652" y="49134"/>
                </a:lnTo>
                <a:cubicBezTo>
                  <a:pt x="164290" y="41437"/>
                  <a:pt x="156126" y="36680"/>
                  <a:pt x="147278" y="36680"/>
                </a:cubicBezTo>
                <a:cubicBezTo>
                  <a:pt x="138431" y="36680"/>
                  <a:pt x="130267" y="41437"/>
                  <a:pt x="125905" y="49134"/>
                </a:cubicBezTo>
                <a:lnTo>
                  <a:pt x="27638" y="221102"/>
                </a:lnTo>
                <a:cubicBezTo>
                  <a:pt x="23229" y="228737"/>
                  <a:pt x="23250" y="238149"/>
                  <a:pt x="27692" y="245765"/>
                </a:cubicBezTo>
                <a:cubicBezTo>
                  <a:pt x="32135" y="253380"/>
                  <a:pt x="40318" y="258032"/>
                  <a:pt x="49134" y="257952"/>
                </a:cubicBezTo>
                <a:lnTo>
                  <a:pt x="245669" y="257952"/>
                </a:lnTo>
                <a:cubicBezTo>
                  <a:pt x="254441" y="257943"/>
                  <a:pt x="262543" y="253257"/>
                  <a:pt x="266925" y="245658"/>
                </a:cubicBezTo>
                <a:cubicBezTo>
                  <a:pt x="271308" y="238059"/>
                  <a:pt x="271305" y="228699"/>
                  <a:pt x="266919" y="221102"/>
                </a:cubicBezTo>
                <a:moveTo>
                  <a:pt x="147401" y="110551"/>
                </a:moveTo>
                <a:lnTo>
                  <a:pt x="147401" y="159685"/>
                </a:lnTo>
                <a:moveTo>
                  <a:pt x="147401" y="208818"/>
                </a:moveTo>
                <a:lnTo>
                  <a:pt x="147524" y="208818"/>
                </a:lnTo>
              </a:path>
            </a:pathLst>
          </a:custGeom>
          <a:noFill/>
          <a:ln w="24567" cap="rnd">
            <a:solidFill>
              <a:srgbClr val="8A4B06"/>
            </a:solidFill>
            <a:prstDash val="solid"/>
            <a:round/>
          </a:ln>
        </p:spPr>
      </p:sp>
      <p:sp>
        <p:nvSpPr>
          <p:cNvPr id="25" name="Text 23"/>
          <p:cNvSpPr/>
          <p:nvPr/>
        </p:nvSpPr>
        <p:spPr>
          <a:xfrm>
            <a:off x="3665144"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8A4B06"/>
                </a:solidFill>
                <a:latin typeface="Segoe UI Semibold" pitchFamily="34" charset="0"/>
                <a:ea typeface="Segoe UI Semibold" pitchFamily="34" charset="-122"/>
                <a:cs typeface="Segoe UI Semibold" pitchFamily="34" charset="-120"/>
              </a:rPr>
              <a:t>400</a:t>
            </a:r>
            <a:endParaRPr lang="en-US" sz="5600" dirty="0"/>
          </a:p>
        </p:txBody>
      </p:sp>
      <p:sp>
        <p:nvSpPr>
          <p:cNvPr id="26" name="Text 24"/>
          <p:cNvSpPr/>
          <p:nvPr/>
        </p:nvSpPr>
        <p:spPr>
          <a:xfrm>
            <a:off x="3665144"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Faltan datos</a:t>
            </a:r>
            <a:endParaRPr lang="en-US" sz="1500" dirty="0"/>
          </a:p>
        </p:txBody>
      </p:sp>
      <p:sp>
        <p:nvSpPr>
          <p:cNvPr id="27" name="Text 25"/>
          <p:cNvSpPr/>
          <p:nvPr/>
        </p:nvSpPr>
        <p:spPr>
          <a:xfrm>
            <a:off x="3665144"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identificador o el tipo vienen vacíos.</a:t>
            </a:r>
            <a:endParaRPr lang="en-US" sz="1200" dirty="0"/>
          </a:p>
        </p:txBody>
      </p:sp>
      <p:sp>
        <p:nvSpPr>
          <p:cNvPr id="28" name="Shape 26"/>
          <p:cNvSpPr/>
          <p:nvPr/>
        </p:nvSpPr>
        <p:spPr>
          <a:xfrm>
            <a:off x="6205576"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333592" y="1719072"/>
            <a:ext cx="2320976" cy="64008"/>
          </a:xfrm>
          <a:prstGeom prst="rect">
            <a:avLst/>
          </a:prstGeom>
          <a:solidFill>
            <a:srgbClr val="55627E"/>
          </a:solidFill>
          <a:ln w="12700">
            <a:solidFill>
              <a:srgbClr val="55627E"/>
            </a:solidFill>
            <a:prstDash val="solid"/>
          </a:ln>
        </p:spPr>
      </p:sp>
      <p:sp>
        <p:nvSpPr>
          <p:cNvPr id="30" name="Shape 28"/>
          <p:cNvSpPr/>
          <p:nvPr/>
        </p:nvSpPr>
        <p:spPr>
          <a:xfrm>
            <a:off x="7996199" y="1956816"/>
            <a:ext cx="566928" cy="566928"/>
          </a:xfrm>
          <a:prstGeom prst="ellipse">
            <a:avLst/>
          </a:prstGeom>
          <a:solidFill>
            <a:srgbClr val="F4F7FB"/>
          </a:solidFill>
          <a:ln w="12700">
            <a:solidFill>
              <a:srgbClr val="F4F7FB"/>
            </a:solidFill>
            <a:prstDash val="solid"/>
          </a:ln>
        </p:spPr>
      </p:sp>
      <p:sp>
        <p:nvSpPr>
          <p:cNvPr id="31" name="Icono search"/>
          <p:cNvSpPr/>
          <p:nvPr/>
        </p:nvSpPr>
        <p:spPr>
          <a:xfrm>
            <a:off x="8132262" y="2092879"/>
            <a:ext cx="294803" cy="294803"/>
          </a:xfrm>
          <a:custGeom>
            <a:avLst/>
            <a:gdLst/>
            <a:ahLst/>
            <a:cxnLst/>
            <a:rect l="l" t="t" r="r" b="b"/>
            <a:pathLst>
              <a:path w="294803" h="294803">
                <a:moveTo>
                  <a:pt x="233385" y="135118"/>
                </a:moveTo>
                <a:cubicBezTo>
                  <a:pt x="233385" y="189389"/>
                  <a:pt x="189389" y="233385"/>
                  <a:pt x="135118" y="233385"/>
                </a:cubicBezTo>
                <a:cubicBezTo>
                  <a:pt x="80846" y="233385"/>
                  <a:pt x="36850" y="189389"/>
                  <a:pt x="36850" y="135118"/>
                </a:cubicBezTo>
                <a:cubicBezTo>
                  <a:pt x="36850" y="80846"/>
                  <a:pt x="80846" y="36850"/>
                  <a:pt x="135118" y="36850"/>
                </a:cubicBezTo>
                <a:cubicBezTo>
                  <a:pt x="189389" y="36850"/>
                  <a:pt x="233385" y="80846"/>
                  <a:pt x="233385" y="135118"/>
                </a:cubicBezTo>
                <a:close/>
                <a:moveTo>
                  <a:pt x="257952" y="257952"/>
                </a:moveTo>
                <a:lnTo>
                  <a:pt x="205133" y="205133"/>
                </a:lnTo>
              </a:path>
            </a:pathLst>
          </a:custGeom>
          <a:noFill/>
          <a:ln w="24567" cap="rnd">
            <a:solidFill>
              <a:srgbClr val="55627E"/>
            </a:solidFill>
            <a:prstDash val="solid"/>
            <a:round/>
          </a:ln>
        </p:spPr>
      </p:sp>
      <p:sp>
        <p:nvSpPr>
          <p:cNvPr id="32" name="Text 30"/>
          <p:cNvSpPr/>
          <p:nvPr/>
        </p:nvSpPr>
        <p:spPr>
          <a:xfrm>
            <a:off x="6461608"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55627E"/>
                </a:solidFill>
                <a:latin typeface="Segoe UI Semibold" pitchFamily="34" charset="0"/>
                <a:ea typeface="Segoe UI Semibold" pitchFamily="34" charset="-122"/>
                <a:cs typeface="Segoe UI Semibold" pitchFamily="34" charset="-120"/>
              </a:rPr>
              <a:t>404</a:t>
            </a:r>
            <a:endParaRPr lang="en-US" sz="5600" dirty="0"/>
          </a:p>
        </p:txBody>
      </p:sp>
      <p:sp>
        <p:nvSpPr>
          <p:cNvPr id="33" name="Text 31"/>
          <p:cNvSpPr/>
          <p:nvPr/>
        </p:nvSpPr>
        <p:spPr>
          <a:xfrm>
            <a:off x="6461608"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No existe</a:t>
            </a:r>
            <a:endParaRPr lang="en-US" sz="1500" dirty="0"/>
          </a:p>
        </p:txBody>
      </p:sp>
      <p:sp>
        <p:nvSpPr>
          <p:cNvPr id="34" name="Text 32"/>
          <p:cNvSpPr/>
          <p:nvPr/>
        </p:nvSpPr>
        <p:spPr>
          <a:xfrm>
            <a:off x="6461608"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No hay una solicitud con ese identificador.</a:t>
            </a:r>
            <a:endParaRPr lang="en-US" sz="1200" dirty="0"/>
          </a:p>
        </p:txBody>
      </p:sp>
      <p:sp>
        <p:nvSpPr>
          <p:cNvPr id="35" name="Shape 33"/>
          <p:cNvSpPr/>
          <p:nvPr/>
        </p:nvSpPr>
        <p:spPr>
          <a:xfrm>
            <a:off x="9002039"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9130055" y="1719072"/>
            <a:ext cx="2320976" cy="64008"/>
          </a:xfrm>
          <a:prstGeom prst="rect">
            <a:avLst/>
          </a:prstGeom>
          <a:solidFill>
            <a:srgbClr val="AB243E"/>
          </a:solidFill>
          <a:ln w="12700">
            <a:solidFill>
              <a:srgbClr val="AB243E"/>
            </a:solidFill>
            <a:prstDash val="solid"/>
          </a:ln>
        </p:spPr>
      </p:sp>
      <p:sp>
        <p:nvSpPr>
          <p:cNvPr id="37" name="Shape 35"/>
          <p:cNvSpPr/>
          <p:nvPr/>
        </p:nvSpPr>
        <p:spPr>
          <a:xfrm>
            <a:off x="10792663" y="1956816"/>
            <a:ext cx="566928" cy="566928"/>
          </a:xfrm>
          <a:prstGeom prst="ellipse">
            <a:avLst/>
          </a:prstGeom>
          <a:solidFill>
            <a:srgbClr val="F7E3E7"/>
          </a:solidFill>
          <a:ln w="12700">
            <a:solidFill>
              <a:srgbClr val="F7E3E7"/>
            </a:solidFill>
            <a:prstDash val="solid"/>
          </a:ln>
        </p:spPr>
      </p:sp>
      <p:sp>
        <p:nvSpPr>
          <p:cNvPr id="38" name="Icono ban"/>
          <p:cNvSpPr/>
          <p:nvPr/>
        </p:nvSpPr>
        <p:spPr>
          <a:xfrm>
            <a:off x="10928726"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9" name="Text 37"/>
          <p:cNvSpPr/>
          <p:nvPr/>
        </p:nvSpPr>
        <p:spPr>
          <a:xfrm>
            <a:off x="9258071"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409</a:t>
            </a:r>
            <a:endParaRPr lang="en-US" sz="5600" dirty="0"/>
          </a:p>
        </p:txBody>
      </p:sp>
      <p:sp>
        <p:nvSpPr>
          <p:cNvPr id="40" name="Text 38"/>
          <p:cNvSpPr/>
          <p:nvPr/>
        </p:nvSpPr>
        <p:spPr>
          <a:xfrm>
            <a:off x="9258071"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Conflicto</a:t>
            </a:r>
            <a:endParaRPr lang="en-US" sz="1500" dirty="0"/>
          </a:p>
        </p:txBody>
      </p:sp>
      <p:sp>
        <p:nvSpPr>
          <p:cNvPr id="41" name="Text 39"/>
          <p:cNvSpPr/>
          <p:nvPr/>
        </p:nvSpPr>
        <p:spPr>
          <a:xfrm>
            <a:off x="9258071"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 ya existe o el cambio de estado no se permite.</a:t>
            </a:r>
            <a:endParaRPr lang="en-US" sz="1200" dirty="0"/>
          </a:p>
        </p:txBody>
      </p:sp>
      <p:sp>
        <p:nvSpPr>
          <p:cNvPr id="42" name="Shape 40"/>
          <p:cNvSpPr/>
          <p:nvPr/>
        </p:nvSpPr>
        <p:spPr>
          <a:xfrm>
            <a:off x="0" y="5961888"/>
            <a:ext cx="12191695" cy="475488"/>
          </a:xfrm>
          <a:prstGeom prst="rect">
            <a:avLst/>
          </a:prstGeom>
          <a:solidFill>
            <a:srgbClr val="0B2350"/>
          </a:solidFill>
          <a:ln w="12700">
            <a:solidFill>
              <a:srgbClr val="0B2350"/>
            </a:solidFill>
            <a:prstDash val="solid"/>
          </a:ln>
        </p:spPr>
      </p:sp>
      <p:sp>
        <p:nvSpPr>
          <p:cNvPr id="4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4" name="Text 42"/>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Quien consume la API sabe qué pasó sin adivinar, y la UI le muestra a la persona un mensaje claro.</a:t>
            </a:r>
            <a:endParaRPr lang="en-US" sz="14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API que responde siempre igual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servicio-solicitudes/…/dominio/Solicitud.java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tipo,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estado)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enviar()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BORRADOR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"solo se puede enviar una solicitud en BORRADOR"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(id, tipo,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Calidad que se comprueba sola</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regla tiene una prueba, y ninguna necesita una base de datos.</a:t>
            </a:r>
            <a:endParaRPr lang="en-US" sz="1700" dirty="0"/>
          </a:p>
        </p:txBody>
      </p:sp>
      <p:sp>
        <p:nvSpPr>
          <p:cNvPr id="14" name="Shape 12"/>
          <p:cNvSpPr/>
          <p:nvPr/>
        </p:nvSpPr>
        <p:spPr>
          <a:xfrm>
            <a:off x="61264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47088"/>
            <a:ext cx="64008" cy="1970532"/>
          </a:xfrm>
          <a:prstGeom prst="rect">
            <a:avLst/>
          </a:prstGeom>
          <a:solidFill>
            <a:srgbClr val="0B2350"/>
          </a:solidFill>
          <a:ln w="12700">
            <a:solidFill>
              <a:srgbClr val="0B2350"/>
            </a:solidFill>
            <a:prstDash val="solid"/>
          </a:ln>
        </p:spPr>
      </p:sp>
      <p:sp>
        <p:nvSpPr>
          <p:cNvPr id="16" name="Shape 14"/>
          <p:cNvSpPr/>
          <p:nvPr/>
        </p:nvSpPr>
        <p:spPr>
          <a:xfrm>
            <a:off x="886968" y="2439162"/>
            <a:ext cx="786384" cy="786384"/>
          </a:xfrm>
          <a:prstGeom prst="ellipse">
            <a:avLst/>
          </a:prstGeom>
          <a:solidFill>
            <a:srgbClr val="E8EEF8"/>
          </a:solidFill>
          <a:ln w="12700">
            <a:solidFill>
              <a:srgbClr val="E8EEF8"/>
            </a:solidFill>
            <a:prstDash val="solid"/>
          </a:ln>
        </p:spPr>
      </p:sp>
      <p:sp>
        <p:nvSpPr>
          <p:cNvPr id="17" name="Icono list-checks"/>
          <p:cNvSpPr/>
          <p:nvPr/>
        </p:nvSpPr>
        <p:spPr>
          <a:xfrm>
            <a:off x="1075700" y="2627894"/>
            <a:ext cx="408920" cy="408920"/>
          </a:xfrm>
          <a:custGeom>
            <a:avLst/>
            <a:gdLst/>
            <a:ahLst/>
            <a:cxnLst/>
            <a:rect l="l" t="t" r="r" b="b"/>
            <a:pathLst>
              <a:path w="408920" h="408920">
                <a:moveTo>
                  <a:pt x="51115" y="289651"/>
                </a:moveTo>
                <a:lnTo>
                  <a:pt x="85192" y="323728"/>
                </a:lnTo>
                <a:lnTo>
                  <a:pt x="153345" y="255575"/>
                </a:lnTo>
                <a:moveTo>
                  <a:pt x="51115" y="119268"/>
                </a:moveTo>
                <a:lnTo>
                  <a:pt x="85192" y="153345"/>
                </a:lnTo>
                <a:lnTo>
                  <a:pt x="153345" y="85192"/>
                </a:lnTo>
                <a:moveTo>
                  <a:pt x="221498" y="102230"/>
                </a:moveTo>
                <a:lnTo>
                  <a:pt x="357805" y="102230"/>
                </a:lnTo>
                <a:moveTo>
                  <a:pt x="221498" y="204460"/>
                </a:moveTo>
                <a:lnTo>
                  <a:pt x="357805" y="204460"/>
                </a:lnTo>
                <a:moveTo>
                  <a:pt x="221498" y="306690"/>
                </a:moveTo>
                <a:lnTo>
                  <a:pt x="357805" y="306690"/>
                </a:lnTo>
              </a:path>
            </a:pathLst>
          </a:custGeom>
          <a:noFill/>
          <a:ln w="34077" cap="rnd">
            <a:solidFill>
              <a:srgbClr val="0B2350"/>
            </a:solidFill>
            <a:prstDash val="solid"/>
            <a:round/>
          </a:ln>
        </p:spPr>
      </p:sp>
      <p:sp>
        <p:nvSpPr>
          <p:cNvPr id="18" name="Text 16"/>
          <p:cNvSpPr/>
          <p:nvPr/>
        </p:nvSpPr>
        <p:spPr>
          <a:xfrm>
            <a:off x="192938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SolicitudTest</a:t>
            </a:r>
            <a:endParaRPr lang="en-US" sz="2000" dirty="0"/>
          </a:p>
        </p:txBody>
      </p:sp>
      <p:sp>
        <p:nvSpPr>
          <p:cNvPr id="19" name="Text 17"/>
          <p:cNvSpPr/>
          <p:nvPr/>
        </p:nvSpPr>
        <p:spPr>
          <a:xfrm>
            <a:off x="192938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Los cambios de estado permitidos y los prohibidos.</a:t>
            </a:r>
            <a:endParaRPr lang="en-US" sz="1600" dirty="0"/>
          </a:p>
        </p:txBody>
      </p:sp>
      <p:sp>
        <p:nvSpPr>
          <p:cNvPr id="20" name="Shape 18"/>
          <p:cNvSpPr/>
          <p:nvPr/>
        </p:nvSpPr>
        <p:spPr>
          <a:xfrm>
            <a:off x="618728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87288" y="1847088"/>
            <a:ext cx="64008" cy="1970532"/>
          </a:xfrm>
          <a:prstGeom prst="rect">
            <a:avLst/>
          </a:prstGeom>
          <a:solidFill>
            <a:srgbClr val="0B6E8A"/>
          </a:solidFill>
          <a:ln w="12700">
            <a:solidFill>
              <a:srgbClr val="0B6E8A"/>
            </a:solidFill>
            <a:prstDash val="solid"/>
          </a:ln>
        </p:spPr>
      </p:sp>
      <p:sp>
        <p:nvSpPr>
          <p:cNvPr id="22" name="Shape 20"/>
          <p:cNvSpPr/>
          <p:nvPr/>
        </p:nvSpPr>
        <p:spPr>
          <a:xfrm>
            <a:off x="6461608" y="2439162"/>
            <a:ext cx="786384" cy="786384"/>
          </a:xfrm>
          <a:prstGeom prst="ellipse">
            <a:avLst/>
          </a:prstGeom>
          <a:solidFill>
            <a:srgbClr val="E3F4FA"/>
          </a:solidFill>
          <a:ln w="12700">
            <a:solidFill>
              <a:srgbClr val="E3F4FA"/>
            </a:solidFill>
            <a:prstDash val="solid"/>
          </a:ln>
        </p:spPr>
      </p:sp>
      <p:sp>
        <p:nvSpPr>
          <p:cNvPr id="23" name="Icono flask-conical"/>
          <p:cNvSpPr/>
          <p:nvPr/>
        </p:nvSpPr>
        <p:spPr>
          <a:xfrm>
            <a:off x="6650340" y="2627894"/>
            <a:ext cx="408920" cy="408920"/>
          </a:xfrm>
          <a:custGeom>
            <a:avLst/>
            <a:gdLst/>
            <a:ahLst/>
            <a:cxnLst/>
            <a:rect l="l" t="t" r="r" b="b"/>
            <a:pathLst>
              <a:path w="408920" h="408920">
                <a:moveTo>
                  <a:pt x="238536" y="34077"/>
                </a:moveTo>
                <a:lnTo>
                  <a:pt x="238536" y="136307"/>
                </a:lnTo>
                <a:cubicBezTo>
                  <a:pt x="238534" y="142023"/>
                  <a:pt x="239970" y="147647"/>
                  <a:pt x="242711" y="152663"/>
                </a:cubicBezTo>
                <a:lnTo>
                  <a:pt x="336592" y="324410"/>
                </a:lnTo>
                <a:cubicBezTo>
                  <a:pt x="342369" y="334969"/>
                  <a:pt x="342148" y="347792"/>
                  <a:pt x="336009" y="358146"/>
                </a:cubicBezTo>
                <a:cubicBezTo>
                  <a:pt x="329871" y="368499"/>
                  <a:pt x="318726" y="374846"/>
                  <a:pt x="306690" y="374843"/>
                </a:cubicBezTo>
                <a:lnTo>
                  <a:pt x="102230" y="374843"/>
                </a:lnTo>
                <a:cubicBezTo>
                  <a:pt x="90194" y="374846"/>
                  <a:pt x="79049" y="368499"/>
                  <a:pt x="72910" y="358146"/>
                </a:cubicBezTo>
                <a:cubicBezTo>
                  <a:pt x="66772" y="347792"/>
                  <a:pt x="66550" y="334969"/>
                  <a:pt x="72328" y="324410"/>
                </a:cubicBezTo>
                <a:lnTo>
                  <a:pt x="166209" y="152663"/>
                </a:lnTo>
                <a:cubicBezTo>
                  <a:pt x="168950" y="147647"/>
                  <a:pt x="170386" y="142023"/>
                  <a:pt x="170383" y="136307"/>
                </a:cubicBezTo>
                <a:lnTo>
                  <a:pt x="170383" y="34077"/>
                </a:lnTo>
                <a:moveTo>
                  <a:pt x="109948" y="255575"/>
                </a:moveTo>
                <a:lnTo>
                  <a:pt x="298971" y="255575"/>
                </a:lnTo>
                <a:moveTo>
                  <a:pt x="144826" y="34077"/>
                </a:moveTo>
                <a:lnTo>
                  <a:pt x="264094" y="34077"/>
                </a:lnTo>
              </a:path>
            </a:pathLst>
          </a:custGeom>
          <a:noFill/>
          <a:ln w="34077" cap="rnd">
            <a:solidFill>
              <a:srgbClr val="0B6E8A"/>
            </a:solidFill>
            <a:prstDash val="solid"/>
            <a:round/>
          </a:ln>
        </p:spPr>
      </p:sp>
      <p:sp>
        <p:nvSpPr>
          <p:cNvPr id="24" name="Text 22"/>
          <p:cNvSpPr/>
          <p:nvPr/>
        </p:nvSpPr>
        <p:spPr>
          <a:xfrm>
            <a:off x="7504024" y="2375154"/>
            <a:ext cx="3892144" cy="420624"/>
          </a:xfrm>
          <a:prstGeom prst="rect">
            <a:avLst/>
          </a:prstGeom>
          <a:noFill/>
          <a:ln/>
        </p:spPr>
        <p:txBody>
          <a:bodyPr wrap="square" lIns="0" tIns="0" rIns="0" bIns="0" rtlCol="0" anchor="b">
            <a:normAutofit/>
          </a:bodyPr>
          <a:lstStyle/>
          <a:p>
            <a:pPr algn="l" indent="0" marL="0">
              <a:buNone/>
            </a:pPr>
            <a:r>
              <a:rPr lang="en-US" sz="1950" b="1" dirty="0">
                <a:solidFill>
                  <a:srgbClr val="0B6E8A"/>
                </a:solidFill>
                <a:latin typeface="Segoe UI Semibold" pitchFamily="34" charset="0"/>
                <a:ea typeface="Segoe UI Semibold" pitchFamily="34" charset="-122"/>
                <a:cs typeface="Segoe UI Semibold" pitchFamily="34" charset="-120"/>
              </a:rPr>
              <a:t>ServicioSolicitudesUnitTest</a:t>
            </a:r>
            <a:endParaRPr lang="en-US" sz="1950" dirty="0"/>
          </a:p>
        </p:txBody>
      </p:sp>
      <p:sp>
        <p:nvSpPr>
          <p:cNvPr id="25" name="Text 23"/>
          <p:cNvSpPr/>
          <p:nvPr/>
        </p:nvSpPr>
        <p:spPr>
          <a:xfrm>
            <a:off x="750402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Crear, enviar y registrar el evento, en memoria.</a:t>
            </a:r>
            <a:endParaRPr lang="en-US" sz="1600" dirty="0"/>
          </a:p>
        </p:txBody>
      </p:sp>
      <p:sp>
        <p:nvSpPr>
          <p:cNvPr id="26" name="Shape 24"/>
          <p:cNvSpPr/>
          <p:nvPr/>
        </p:nvSpPr>
        <p:spPr>
          <a:xfrm>
            <a:off x="61264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Shape 25"/>
          <p:cNvSpPr/>
          <p:nvPr/>
        </p:nvSpPr>
        <p:spPr>
          <a:xfrm>
            <a:off x="612648" y="4256532"/>
            <a:ext cx="64008" cy="1970532"/>
          </a:xfrm>
          <a:prstGeom prst="rect">
            <a:avLst/>
          </a:prstGeom>
          <a:solidFill>
            <a:srgbClr val="5B3FC4"/>
          </a:solidFill>
          <a:ln w="12700">
            <a:solidFill>
              <a:srgbClr val="5B3FC4"/>
            </a:solidFill>
            <a:prstDash val="solid"/>
          </a:ln>
        </p:spPr>
      </p:sp>
      <p:sp>
        <p:nvSpPr>
          <p:cNvPr id="28" name="Shape 26"/>
          <p:cNvSpPr/>
          <p:nvPr/>
        </p:nvSpPr>
        <p:spPr>
          <a:xfrm>
            <a:off x="886968" y="4848606"/>
            <a:ext cx="786384" cy="786384"/>
          </a:xfrm>
          <a:prstGeom prst="ellipse">
            <a:avLst/>
          </a:prstGeom>
          <a:solidFill>
            <a:srgbClr val="F1EEFD"/>
          </a:solidFill>
          <a:ln w="12700">
            <a:solidFill>
              <a:srgbClr val="F1EEFD"/>
            </a:solidFill>
            <a:prstDash val="solid"/>
          </a:ln>
        </p:spPr>
      </p:sp>
      <p:sp>
        <p:nvSpPr>
          <p:cNvPr id="29" name="Icono code"/>
          <p:cNvSpPr/>
          <p:nvPr/>
        </p:nvSpPr>
        <p:spPr>
          <a:xfrm>
            <a:off x="1075700" y="5037338"/>
            <a:ext cx="408920" cy="408920"/>
          </a:xfrm>
          <a:custGeom>
            <a:avLst/>
            <a:gdLst/>
            <a:ahLst/>
            <a:cxnLst/>
            <a:rect l="l" t="t" r="r" b="b"/>
            <a:pathLst>
              <a:path w="408920" h="408920">
                <a:moveTo>
                  <a:pt x="272613" y="306690"/>
                </a:moveTo>
                <a:lnTo>
                  <a:pt x="374843" y="204460"/>
                </a:lnTo>
                <a:lnTo>
                  <a:pt x="272613" y="102230"/>
                </a:lnTo>
                <a:moveTo>
                  <a:pt x="136307" y="102230"/>
                </a:moveTo>
                <a:lnTo>
                  <a:pt x="34077" y="204460"/>
                </a:lnTo>
                <a:lnTo>
                  <a:pt x="136307" y="306690"/>
                </a:lnTo>
              </a:path>
            </a:pathLst>
          </a:custGeom>
          <a:noFill/>
          <a:ln w="34077" cap="rnd">
            <a:solidFill>
              <a:srgbClr val="5B3FC4"/>
            </a:solidFill>
            <a:prstDash val="solid"/>
            <a:round/>
          </a:ln>
        </p:spPr>
      </p:sp>
      <p:sp>
        <p:nvSpPr>
          <p:cNvPr id="30" name="Text 28"/>
          <p:cNvSpPr/>
          <p:nvPr/>
        </p:nvSpPr>
        <p:spPr>
          <a:xfrm>
            <a:off x="192938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5B3FC4"/>
                </a:solidFill>
                <a:latin typeface="Segoe UI Semibold" pitchFamily="34" charset="0"/>
                <a:ea typeface="Segoe UI Semibold" pitchFamily="34" charset="-122"/>
                <a:cs typeface="Segoe UI Semibold" pitchFamily="34" charset="-120"/>
              </a:rPr>
              <a:t>SolicitudControllerWebTest</a:t>
            </a:r>
            <a:endParaRPr lang="en-US" sz="2000" dirty="0"/>
          </a:p>
        </p:txBody>
      </p:sp>
      <p:sp>
        <p:nvSpPr>
          <p:cNvPr id="31" name="Text 29"/>
          <p:cNvSpPr/>
          <p:nvPr/>
        </p:nvSpPr>
        <p:spPr>
          <a:xfrm>
            <a:off x="192938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JSON y los códigos 201, 400, 404 y 409.</a:t>
            </a:r>
            <a:endParaRPr lang="en-US" sz="1600" dirty="0"/>
          </a:p>
        </p:txBody>
      </p:sp>
      <p:sp>
        <p:nvSpPr>
          <p:cNvPr id="32" name="Shape 30"/>
          <p:cNvSpPr/>
          <p:nvPr/>
        </p:nvSpPr>
        <p:spPr>
          <a:xfrm>
            <a:off x="618728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6187288" y="4256532"/>
            <a:ext cx="64008" cy="1970532"/>
          </a:xfrm>
          <a:prstGeom prst="rect">
            <a:avLst/>
          </a:prstGeom>
          <a:solidFill>
            <a:srgbClr val="0A6648"/>
          </a:solidFill>
          <a:ln w="12700">
            <a:solidFill>
              <a:srgbClr val="0A6648"/>
            </a:solidFill>
            <a:prstDash val="solid"/>
          </a:ln>
        </p:spPr>
      </p:sp>
      <p:sp>
        <p:nvSpPr>
          <p:cNvPr id="34" name="Shape 32"/>
          <p:cNvSpPr/>
          <p:nvPr/>
        </p:nvSpPr>
        <p:spPr>
          <a:xfrm>
            <a:off x="6461608" y="4848606"/>
            <a:ext cx="786384" cy="786384"/>
          </a:xfrm>
          <a:prstGeom prst="ellipse">
            <a:avLst/>
          </a:prstGeom>
          <a:solidFill>
            <a:srgbClr val="E1F1EA"/>
          </a:solidFill>
          <a:ln w="12700">
            <a:solidFill>
              <a:srgbClr val="E1F1EA"/>
            </a:solidFill>
            <a:prstDash val="solid"/>
          </a:ln>
        </p:spPr>
      </p:sp>
      <p:sp>
        <p:nvSpPr>
          <p:cNvPr id="35" name="Icono fingerprint"/>
          <p:cNvSpPr/>
          <p:nvPr/>
        </p:nvSpPr>
        <p:spPr>
          <a:xfrm>
            <a:off x="6650340" y="5037338"/>
            <a:ext cx="408920" cy="408920"/>
          </a:xfrm>
          <a:custGeom>
            <a:avLst/>
            <a:gdLst/>
            <a:ahLst/>
            <a:cxnLst/>
            <a:rect l="l" t="t" r="r" b="b"/>
            <a:pathLst>
              <a:path w="408920" h="408920">
                <a:moveTo>
                  <a:pt x="204460" y="170383"/>
                </a:moveTo>
                <a:cubicBezTo>
                  <a:pt x="185640" y="170383"/>
                  <a:pt x="170383" y="185640"/>
                  <a:pt x="170383" y="204460"/>
                </a:cubicBezTo>
                <a:cubicBezTo>
                  <a:pt x="170383" y="221839"/>
                  <a:pt x="168679" y="247226"/>
                  <a:pt x="165953" y="272613"/>
                </a:cubicBezTo>
                <a:moveTo>
                  <a:pt x="238536" y="223543"/>
                </a:moveTo>
                <a:cubicBezTo>
                  <a:pt x="238536" y="264094"/>
                  <a:pt x="238536" y="332247"/>
                  <a:pt x="221498" y="374843"/>
                </a:cubicBezTo>
                <a:moveTo>
                  <a:pt x="294593" y="358145"/>
                </a:moveTo>
                <a:cubicBezTo>
                  <a:pt x="296637" y="347922"/>
                  <a:pt x="301919" y="318957"/>
                  <a:pt x="303112" y="306690"/>
                </a:cubicBezTo>
                <a:moveTo>
                  <a:pt x="34077" y="204460"/>
                </a:moveTo>
                <a:cubicBezTo>
                  <a:pt x="34077" y="131122"/>
                  <a:pt x="81005" y="66012"/>
                  <a:pt x="150580" y="42820"/>
                </a:cubicBezTo>
                <a:cubicBezTo>
                  <a:pt x="220155" y="19629"/>
                  <a:pt x="296764" y="43559"/>
                  <a:pt x="340766" y="102230"/>
                </a:cubicBezTo>
                <a:moveTo>
                  <a:pt x="34077" y="272613"/>
                </a:moveTo>
                <a:lnTo>
                  <a:pt x="34247" y="272613"/>
                </a:lnTo>
                <a:moveTo>
                  <a:pt x="371435" y="272613"/>
                </a:moveTo>
                <a:cubicBezTo>
                  <a:pt x="374843" y="238536"/>
                  <a:pt x="373667" y="181390"/>
                  <a:pt x="371435" y="170383"/>
                </a:cubicBezTo>
                <a:moveTo>
                  <a:pt x="85192" y="332247"/>
                </a:moveTo>
                <a:cubicBezTo>
                  <a:pt x="93711" y="306690"/>
                  <a:pt x="102230" y="255575"/>
                  <a:pt x="102230" y="204460"/>
                </a:cubicBezTo>
                <a:cubicBezTo>
                  <a:pt x="102213" y="192854"/>
                  <a:pt x="104172" y="181331"/>
                  <a:pt x="108023" y="170383"/>
                </a:cubicBezTo>
                <a:moveTo>
                  <a:pt x="147381" y="374843"/>
                </a:moveTo>
                <a:cubicBezTo>
                  <a:pt x="150960" y="363598"/>
                  <a:pt x="155049" y="352352"/>
                  <a:pt x="157093" y="340766"/>
                </a:cubicBezTo>
                <a:moveTo>
                  <a:pt x="153345" y="115861"/>
                </a:moveTo>
                <a:cubicBezTo>
                  <a:pt x="184985" y="97593"/>
                  <a:pt x="223969" y="97599"/>
                  <a:pt x="255603" y="115877"/>
                </a:cubicBezTo>
                <a:cubicBezTo>
                  <a:pt x="287238" y="134155"/>
                  <a:pt x="306713" y="167925"/>
                  <a:pt x="306690" y="204460"/>
                </a:cubicBezTo>
                <a:lnTo>
                  <a:pt x="306690" y="238536"/>
                </a:lnTo>
              </a:path>
            </a:pathLst>
          </a:custGeom>
          <a:noFill/>
          <a:ln w="34077" cap="rnd">
            <a:solidFill>
              <a:srgbClr val="0A6648"/>
            </a:solidFill>
            <a:prstDash val="solid"/>
            <a:round/>
          </a:ln>
        </p:spPr>
      </p:sp>
      <p:sp>
        <p:nvSpPr>
          <p:cNvPr id="36" name="Text 34"/>
          <p:cNvSpPr/>
          <p:nvPr/>
        </p:nvSpPr>
        <p:spPr>
          <a:xfrm>
            <a:off x="750402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Pruebas de notificaciones</a:t>
            </a:r>
            <a:endParaRPr lang="en-US" sz="2000" dirty="0"/>
          </a:p>
        </p:txBody>
      </p:sp>
      <p:sp>
        <p:nvSpPr>
          <p:cNvPr id="37" name="Text 35"/>
          <p:cNvSpPr/>
          <p:nvPr/>
        </p:nvSpPr>
        <p:spPr>
          <a:xfrm>
            <a:off x="750402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 evento repetido genera un solo aviso.</a:t>
            </a:r>
            <a:endParaRPr lang="en-US" sz="16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Calidad que se comprueba sola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servicio-solicitudes/…/adaptadores/entrada/ManejadorGlobalDeErrores.java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@RestControllerAdvice</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ManejadorGlobalDeErrores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@ExceptionHandler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ResponseEntity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&lt;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ErrorRespuesta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&gt; transicionNoPermitida(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ex)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ResponseEntity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.status(</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HttpStatus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CONFLICT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.body(</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ErrorRespuesta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409</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ex.getMessage()));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Fundamentos: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ode"/>
          <p:cNvSpPr/>
          <p:nvPr/>
        </p:nvSpPr>
        <p:spPr>
          <a:xfrm>
            <a:off x="1058144" y="1817096"/>
            <a:ext cx="370881" cy="370881"/>
          </a:xfrm>
          <a:custGeom>
            <a:avLst/>
            <a:gdLst/>
            <a:ahLst/>
            <a:cxnLst/>
            <a:rect l="l" t="t" r="r" b="b"/>
            <a:pathLst>
              <a:path w="370881" h="370881">
                <a:moveTo>
                  <a:pt x="247254" y="278160"/>
                </a:moveTo>
                <a:lnTo>
                  <a:pt x="339974" y="185440"/>
                </a:lnTo>
                <a:lnTo>
                  <a:pt x="247254" y="92720"/>
                </a:lnTo>
                <a:moveTo>
                  <a:pt x="123627" y="92720"/>
                </a:moveTo>
                <a:lnTo>
                  <a:pt x="30907" y="185440"/>
                </a:lnTo>
                <a:lnTo>
                  <a:pt x="123627" y="278160"/>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bases de datos para probar</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hield-check"/>
          <p:cNvSpPr/>
          <p:nvPr/>
        </p:nvSpPr>
        <p:spPr>
          <a:xfrm>
            <a:off x="4258544" y="1955780"/>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39080" y="185440"/>
                </a:moveTo>
                <a:lnTo>
                  <a:pt x="169987" y="216347"/>
                </a:lnTo>
                <a:lnTo>
                  <a:pt x="231800" y="154534"/>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El negocio no depende del framework</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Las reglas son clases Java sin Spring, inyectadas por constructor.</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 prueban en milisegundos y sobreviven a un cambio de framework.</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shield-alert"/>
          <p:cNvSpPr/>
          <p:nvPr/>
        </p:nvSpPr>
        <p:spPr>
          <a:xfrm>
            <a:off x="4258544" y="3677900"/>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85440" y="123627"/>
                </a:moveTo>
                <a:lnTo>
                  <a:pt x="185440" y="185440"/>
                </a:lnTo>
                <a:moveTo>
                  <a:pt x="185440" y="247254"/>
                </a:moveTo>
                <a:lnTo>
                  <a:pt x="185595" y="247254"/>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Los errores son parte del contrato</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 manejador global responde 400, 404 y 409 con la misma forma.</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soporte: quien consume la API entiende qué pasó.</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it-pull-request"/>
          <p:cNvSpPr/>
          <p:nvPr/>
        </p:nvSpPr>
        <p:spPr>
          <a:xfrm>
            <a:off x="4258544" y="540002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Todo entra por Pull Request</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Ramas cortas, commits con sentido y una aprobación.</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Historial legible y ningún cambio sin revisar.</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4" name="Shape 12"/>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5" name="Text 13"/>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6" name="Shape 14"/>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542032" y="1939671"/>
            <a:ext cx="566928" cy="566928"/>
          </a:xfrm>
          <a:prstGeom prst="ellipse">
            <a:avLst/>
          </a:prstGeom>
          <a:solidFill>
            <a:srgbClr val="F1EEFD"/>
          </a:solidFill>
          <a:ln w="12700">
            <a:solidFill>
              <a:srgbClr val="F1EEFD"/>
            </a:solidFill>
            <a:prstDash val="solid"/>
          </a:ln>
        </p:spPr>
      </p:sp>
      <p:sp>
        <p:nvSpPr>
          <p:cNvPr id="18"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9" name="Text 17"/>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20" name="Text 18"/>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1" name="Shape 19"/>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7147408" y="1939671"/>
            <a:ext cx="566928" cy="566928"/>
          </a:xfrm>
          <a:prstGeom prst="ellipse">
            <a:avLst/>
          </a:prstGeom>
          <a:solidFill>
            <a:srgbClr val="F1EEFD"/>
          </a:solidFill>
          <a:ln w="12700">
            <a:solidFill>
              <a:srgbClr val="F1EEFD"/>
            </a:solidFill>
            <a:prstDash val="solid"/>
          </a:ln>
        </p:spPr>
      </p:sp>
      <p:sp>
        <p:nvSpPr>
          <p:cNvPr id="23"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4" name="Text 22"/>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5" name="Text 23"/>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React + nginx · proxy /api</a:t>
            </a:r>
            <a:endParaRPr lang="en-US" sz="1200" dirty="0"/>
          </a:p>
        </p:txBody>
      </p:sp>
      <p:sp>
        <p:nvSpPr>
          <p:cNvPr id="26" name="Shape 24"/>
          <p:cNvSpPr/>
          <p:nvPr/>
        </p:nvSpPr>
        <p:spPr>
          <a:xfrm>
            <a:off x="1412748" y="2708910"/>
            <a:ext cx="0" cy="237744"/>
          </a:xfrm>
          <a:prstGeom prst="line">
            <a:avLst/>
          </a:prstGeom>
          <a:noFill/>
          <a:ln w="31750">
            <a:solidFill>
              <a:srgbClr val="0B2350"/>
            </a:solidFill>
            <a:prstDash val="solid"/>
            <a:tailEnd type="triangle"/>
          </a:ln>
        </p:spPr>
      </p:sp>
      <p:sp>
        <p:nvSpPr>
          <p:cNvPr id="27" name="Shape 25"/>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8" name="Text 26"/>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9" name="Shape 27"/>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2542032" y="3148965"/>
            <a:ext cx="566928" cy="566928"/>
          </a:xfrm>
          <a:prstGeom prst="ellipse">
            <a:avLst/>
          </a:prstGeom>
          <a:solidFill>
            <a:srgbClr val="E8EEF8"/>
          </a:solidFill>
          <a:ln w="12700">
            <a:solidFill>
              <a:srgbClr val="E8EEF8"/>
            </a:solidFill>
            <a:prstDash val="solid"/>
          </a:ln>
        </p:spPr>
      </p:sp>
      <p:sp>
        <p:nvSpPr>
          <p:cNvPr id="31" name="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2" name="Text 30"/>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servicio-solicitudes</a:t>
            </a:r>
            <a:endParaRPr lang="en-US" sz="1300" dirty="0"/>
          </a:p>
        </p:txBody>
      </p:sp>
      <p:sp>
        <p:nvSpPr>
          <p:cNvPr id="33" name="Text 31"/>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4" name="Shape 32"/>
          <p:cNvSpPr/>
          <p:nvPr/>
        </p:nvSpPr>
        <p:spPr>
          <a:xfrm>
            <a:off x="5465978"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5612282" y="3148965"/>
            <a:ext cx="566928" cy="566928"/>
          </a:xfrm>
          <a:prstGeom prst="ellipse">
            <a:avLst/>
          </a:prstGeom>
          <a:solidFill>
            <a:srgbClr val="E3F4FA"/>
          </a:solidFill>
          <a:ln w="12700">
            <a:solidFill>
              <a:srgbClr val="E3F4FA"/>
            </a:solidFill>
            <a:prstDash val="solid"/>
          </a:ln>
        </p:spPr>
      </p:sp>
      <p:sp>
        <p:nvSpPr>
          <p:cNvPr id="36" name="Icono send"/>
          <p:cNvSpPr/>
          <p:nvPr/>
        </p:nvSpPr>
        <p:spPr>
          <a:xfrm>
            <a:off x="5748345" y="3285028"/>
            <a:ext cx="294803" cy="294803"/>
          </a:xfrm>
          <a:custGeom>
            <a:avLst/>
            <a:gdLst/>
            <a:ahLst/>
            <a:cxnLst/>
            <a:rect l="l" t="t" r="r" b="b"/>
            <a:pathLst>
              <a:path w="294803" h="294803">
                <a:moveTo>
                  <a:pt x="178552" y="266379"/>
                </a:moveTo>
                <a:cubicBezTo>
                  <a:pt x="179508" y="268761"/>
                  <a:pt x="181844" y="270297"/>
                  <a:pt x="184409" y="270231"/>
                </a:cubicBezTo>
                <a:cubicBezTo>
                  <a:pt x="186975" y="270166"/>
                  <a:pt x="189229" y="268512"/>
                  <a:pt x="190062" y="266084"/>
                </a:cubicBezTo>
                <a:lnTo>
                  <a:pt x="269904" y="32699"/>
                </a:lnTo>
                <a:cubicBezTo>
                  <a:pt x="270707" y="30477"/>
                  <a:pt x="270152" y="27991"/>
                  <a:pt x="268482" y="26321"/>
                </a:cubicBezTo>
                <a:cubicBezTo>
                  <a:pt x="266811" y="24650"/>
                  <a:pt x="264326" y="24096"/>
                  <a:pt x="262104" y="24899"/>
                </a:cubicBezTo>
                <a:lnTo>
                  <a:pt x="28719" y="104741"/>
                </a:lnTo>
                <a:cubicBezTo>
                  <a:pt x="26291" y="105573"/>
                  <a:pt x="24637" y="107828"/>
                  <a:pt x="24571" y="110393"/>
                </a:cubicBezTo>
                <a:cubicBezTo>
                  <a:pt x="24506" y="112959"/>
                  <a:pt x="26042" y="115295"/>
                  <a:pt x="28424" y="116250"/>
                </a:cubicBezTo>
                <a:lnTo>
                  <a:pt x="125832" y="155312"/>
                </a:lnTo>
                <a:cubicBezTo>
                  <a:pt x="132054" y="157803"/>
                  <a:pt x="136988" y="162729"/>
                  <a:pt x="139491" y="168946"/>
                </a:cubicBezTo>
                <a:close/>
                <a:moveTo>
                  <a:pt x="268442" y="26373"/>
                </a:moveTo>
                <a:lnTo>
                  <a:pt x="134061" y="160741"/>
                </a:lnTo>
              </a:path>
            </a:pathLst>
          </a:custGeom>
          <a:noFill/>
          <a:ln w="24567" cap="rnd">
            <a:solidFill>
              <a:srgbClr val="0B6E8A"/>
            </a:solidFill>
            <a:prstDash val="solid"/>
            <a:round/>
          </a:ln>
        </p:spPr>
      </p:sp>
      <p:sp>
        <p:nvSpPr>
          <p:cNvPr id="37" name="Text 35"/>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250" b="1" dirty="0">
                <a:solidFill>
                  <a:srgbClr val="0B6E8A"/>
                </a:solidFill>
                <a:latin typeface="Segoe UI Semibold" pitchFamily="34" charset="0"/>
                <a:ea typeface="Segoe UI Semibold" pitchFamily="34" charset="-122"/>
                <a:cs typeface="Segoe UI Semibold" pitchFamily="34" charset="-120"/>
              </a:rPr>
              <a:t>Evento SolicitudEnviada</a:t>
            </a:r>
            <a:endParaRPr lang="en-US" sz="1250" dirty="0"/>
          </a:p>
        </p:txBody>
      </p:sp>
      <p:sp>
        <p:nvSpPr>
          <p:cNvPr id="38" name="Text 36"/>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Por HTTP, con su eventoId</a:t>
            </a:r>
            <a:endParaRPr lang="en-US" sz="1150" dirty="0"/>
          </a:p>
        </p:txBody>
      </p:sp>
      <p:sp>
        <p:nvSpPr>
          <p:cNvPr id="39" name="Shape 37"/>
          <p:cNvSpPr/>
          <p:nvPr/>
        </p:nvSpPr>
        <p:spPr>
          <a:xfrm>
            <a:off x="8536229"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682533" y="3148965"/>
            <a:ext cx="566928" cy="566928"/>
          </a:xfrm>
          <a:prstGeom prst="ellipse">
            <a:avLst/>
          </a:prstGeom>
          <a:solidFill>
            <a:srgbClr val="E3F4FA"/>
          </a:solidFill>
          <a:ln w="12700">
            <a:solidFill>
              <a:srgbClr val="E3F4FA"/>
            </a:solidFill>
            <a:prstDash val="solid"/>
          </a:ln>
        </p:spPr>
      </p:sp>
      <p:sp>
        <p:nvSpPr>
          <p:cNvPr id="41" name="Icono bell"/>
          <p:cNvSpPr/>
          <p:nvPr/>
        </p:nvSpPr>
        <p:spPr>
          <a:xfrm>
            <a:off x="8818596"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42" name="Text 40"/>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150" b="1" dirty="0">
                <a:solidFill>
                  <a:srgbClr val="0B6E8A"/>
                </a:solidFill>
                <a:latin typeface="Segoe UI Semibold" pitchFamily="34" charset="0"/>
                <a:ea typeface="Segoe UI Semibold" pitchFamily="34" charset="-122"/>
                <a:cs typeface="Segoe UI Semibold" pitchFamily="34" charset="-120"/>
              </a:rPr>
              <a:t>servicio-notificaciones</a:t>
            </a:r>
            <a:endParaRPr lang="en-US" sz="1150" dirty="0"/>
          </a:p>
        </p:txBody>
      </p:sp>
      <p:sp>
        <p:nvSpPr>
          <p:cNvPr id="43" name="Text 41"/>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Los avisos, sin duplicados</a:t>
            </a:r>
            <a:endParaRPr lang="en-US" sz="1100" dirty="0"/>
          </a:p>
        </p:txBody>
      </p:sp>
      <p:sp>
        <p:nvSpPr>
          <p:cNvPr id="44" name="Shape 42"/>
          <p:cNvSpPr/>
          <p:nvPr/>
        </p:nvSpPr>
        <p:spPr>
          <a:xfrm>
            <a:off x="1412748" y="3918204"/>
            <a:ext cx="0" cy="237744"/>
          </a:xfrm>
          <a:prstGeom prst="line">
            <a:avLst/>
          </a:prstGeom>
          <a:noFill/>
          <a:ln w="31750">
            <a:solidFill>
              <a:srgbClr val="0B2350"/>
            </a:solidFill>
            <a:prstDash val="solid"/>
            <a:tailEnd type="triangle"/>
          </a:ln>
        </p:spPr>
      </p:sp>
      <p:sp>
        <p:nvSpPr>
          <p:cNvPr id="45" name="Shape 43"/>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6" name="Text 44"/>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7" name="Shape 45"/>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2542032" y="4358259"/>
            <a:ext cx="566928" cy="566928"/>
          </a:xfrm>
          <a:prstGeom prst="ellipse">
            <a:avLst/>
          </a:prstGeom>
          <a:solidFill>
            <a:srgbClr val="F4F7FB"/>
          </a:solidFill>
          <a:ln w="12700">
            <a:solidFill>
              <a:srgbClr val="F4F7FB"/>
            </a:solidFill>
            <a:prstDash val="solid"/>
          </a:ln>
        </p:spPr>
      </p:sp>
      <p:sp>
        <p:nvSpPr>
          <p:cNvPr id="49" name="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0" name="Text 48"/>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51" name="Text 49"/>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52" name="Shape 50"/>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7147408" y="4358259"/>
            <a:ext cx="566928" cy="566928"/>
          </a:xfrm>
          <a:prstGeom prst="ellipse">
            <a:avLst/>
          </a:prstGeom>
          <a:solidFill>
            <a:srgbClr val="F4F7FB"/>
          </a:solidFill>
          <a:ln w="12700">
            <a:solidFill>
              <a:srgbClr val="F4F7FB"/>
            </a:solidFill>
            <a:prstDash val="solid"/>
          </a:ln>
        </p:spPr>
      </p:sp>
      <p:sp>
        <p:nvSpPr>
          <p:cNvPr id="54" name="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5" name="Text 53"/>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6" name="Text 54"/>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7" name="Shape 55"/>
          <p:cNvSpPr/>
          <p:nvPr/>
        </p:nvSpPr>
        <p:spPr>
          <a:xfrm>
            <a:off x="1412748" y="5127498"/>
            <a:ext cx="0" cy="237744"/>
          </a:xfrm>
          <a:prstGeom prst="line">
            <a:avLst/>
          </a:prstGeom>
          <a:noFill/>
          <a:ln w="31750">
            <a:solidFill>
              <a:srgbClr val="0B2350"/>
            </a:solidFill>
            <a:prstDash val="solid"/>
            <a:tailEnd type="triangle"/>
          </a:ln>
        </p:spPr>
      </p:sp>
      <p:sp>
        <p:nvSpPr>
          <p:cNvPr id="58" name="Shape 56"/>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9" name="Text 57"/>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60" name="Shape 58"/>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542032" y="5567553"/>
            <a:ext cx="566928" cy="566928"/>
          </a:xfrm>
          <a:prstGeom prst="ellipse">
            <a:avLst/>
          </a:prstGeom>
          <a:solidFill>
            <a:srgbClr val="E1F1EA"/>
          </a:solidFill>
          <a:ln w="12700">
            <a:solidFill>
              <a:srgbClr val="E1F1EA"/>
            </a:solidFill>
            <a:prstDash val="solid"/>
          </a:ln>
        </p:spPr>
      </p:sp>
      <p:sp>
        <p:nvSpPr>
          <p:cNvPr id="62" name="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63" name="Text 61"/>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64" name="Text 62"/>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65" name="Shape 63"/>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5612282" y="5567553"/>
            <a:ext cx="566928" cy="566928"/>
          </a:xfrm>
          <a:prstGeom prst="ellipse">
            <a:avLst/>
          </a:prstGeom>
          <a:solidFill>
            <a:srgbClr val="E1F1EA"/>
          </a:solidFill>
          <a:ln w="12700">
            <a:solidFill>
              <a:srgbClr val="E1F1EA"/>
            </a:solidFill>
            <a:prstDash val="solid"/>
          </a:ln>
        </p:spPr>
      </p:sp>
      <p:sp>
        <p:nvSpPr>
          <p:cNvPr id="67" name="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8" name="Text 66"/>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9" name="Text 67"/>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70" name="Shape 68"/>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71" name="Shape 69"/>
          <p:cNvSpPr/>
          <p:nvPr/>
        </p:nvSpPr>
        <p:spPr>
          <a:xfrm>
            <a:off x="8682533" y="5567553"/>
            <a:ext cx="566928" cy="566928"/>
          </a:xfrm>
          <a:prstGeom prst="ellipse">
            <a:avLst/>
          </a:prstGeom>
          <a:solidFill>
            <a:srgbClr val="FCEFD6"/>
          </a:solidFill>
          <a:ln w="12700">
            <a:solidFill>
              <a:srgbClr val="FCEFD6"/>
            </a:solidFill>
            <a:prstDash val="solid"/>
          </a:ln>
        </p:spPr>
      </p:sp>
      <p:sp>
        <p:nvSpPr>
          <p:cNvPr id="72" name="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73" name="Text 71"/>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74" name="Text 72"/>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75" name="Text 7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2980030" y="1293419"/>
            <a:ext cx="7504481" cy="2585466"/>
          </a:xfrm>
          <a:prstGeom prst="roundRect">
            <a:avLst>
              <a:gd name="adj" fmla="val 4244"/>
            </a:avLst>
          </a:prstGeom>
          <a:solidFill>
            <a:srgbClr val="F7F9FC"/>
          </a:solidFill>
          <a:ln w="12700">
            <a:solidFill>
              <a:srgbClr val="C7D2E2"/>
            </a:solidFill>
            <a:prstDash val="dash"/>
          </a:ln>
        </p:spPr>
      </p:sp>
      <p:sp>
        <p:nvSpPr>
          <p:cNvPr id="14" name="Text 12"/>
          <p:cNvSpPr/>
          <p:nvPr/>
        </p:nvSpPr>
        <p:spPr>
          <a:xfrm>
            <a:off x="3053182" y="1348283"/>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15" name="Shape 13"/>
          <p:cNvSpPr/>
          <p:nvPr/>
        </p:nvSpPr>
        <p:spPr>
          <a:xfrm>
            <a:off x="3086100" y="1598371"/>
            <a:ext cx="1325880" cy="2200961"/>
          </a:xfrm>
          <a:prstGeom prst="roundRect">
            <a:avLst>
              <a:gd name="adj" fmla="val 8276"/>
            </a:avLst>
          </a:prstGeom>
          <a:solidFill>
            <a:srgbClr val="F1EEFD"/>
          </a:solidFill>
          <a:ln w="12700">
            <a:solidFill>
              <a:srgbClr val="C9BEF4"/>
            </a:solidFill>
            <a:prstDash val="solid"/>
          </a:ln>
        </p:spPr>
      </p:sp>
      <p:sp>
        <p:nvSpPr>
          <p:cNvPr id="16" name="Text 14"/>
          <p:cNvSpPr/>
          <p:nvPr/>
        </p:nvSpPr>
        <p:spPr>
          <a:xfrm>
            <a:off x="3159252" y="1653235"/>
            <a:ext cx="1143000"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17" name="Shape 15"/>
          <p:cNvSpPr/>
          <p:nvPr/>
        </p:nvSpPr>
        <p:spPr>
          <a:xfrm>
            <a:off x="4610862" y="1598371"/>
            <a:ext cx="3977640" cy="981151"/>
          </a:xfrm>
          <a:prstGeom prst="roundRect">
            <a:avLst>
              <a:gd name="adj" fmla="val 11184"/>
            </a:avLst>
          </a:prstGeom>
          <a:solidFill>
            <a:srgbClr val="EAF0FA"/>
          </a:solidFill>
          <a:ln w="12700">
            <a:solidFill>
              <a:srgbClr val="AFC4E6"/>
            </a:solidFill>
            <a:prstDash val="solid"/>
          </a:ln>
        </p:spPr>
      </p:sp>
      <p:sp>
        <p:nvSpPr>
          <p:cNvPr id="18" name="Text 16"/>
          <p:cNvSpPr/>
          <p:nvPr/>
        </p:nvSpPr>
        <p:spPr>
          <a:xfrm>
            <a:off x="4684014" y="1653235"/>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9" name="Shape 17"/>
          <p:cNvSpPr/>
          <p:nvPr/>
        </p:nvSpPr>
        <p:spPr>
          <a:xfrm>
            <a:off x="4610862" y="2778404"/>
            <a:ext cx="3977640" cy="1020928"/>
          </a:xfrm>
          <a:prstGeom prst="roundRect">
            <a:avLst>
              <a:gd name="adj" fmla="val 10748"/>
            </a:avLst>
          </a:prstGeom>
          <a:solidFill>
            <a:srgbClr val="E5F5FA"/>
          </a:solidFill>
          <a:ln w="12700">
            <a:solidFill>
              <a:srgbClr val="9DD7E8"/>
            </a:solidFill>
            <a:prstDash val="solid"/>
          </a:ln>
        </p:spPr>
      </p:sp>
      <p:sp>
        <p:nvSpPr>
          <p:cNvPr id="20" name="Text 18"/>
          <p:cNvSpPr/>
          <p:nvPr/>
        </p:nvSpPr>
        <p:spPr>
          <a:xfrm>
            <a:off x="4684014" y="2833268"/>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21" name="Shape 19"/>
          <p:cNvSpPr/>
          <p:nvPr/>
        </p:nvSpPr>
        <p:spPr>
          <a:xfrm>
            <a:off x="2980030" y="4024732"/>
            <a:ext cx="3977640" cy="914857"/>
          </a:xfrm>
          <a:prstGeom prst="roundRect">
            <a:avLst>
              <a:gd name="adj" fmla="val 11994"/>
            </a:avLst>
          </a:prstGeom>
          <a:solidFill>
            <a:srgbClr val="E6F4EE"/>
          </a:solidFill>
          <a:ln w="12700">
            <a:solidFill>
              <a:srgbClr val="A9D8C3"/>
            </a:solidFill>
            <a:prstDash val="solid"/>
          </a:ln>
        </p:spPr>
      </p:sp>
      <p:sp>
        <p:nvSpPr>
          <p:cNvPr id="22" name="Text 20"/>
          <p:cNvSpPr/>
          <p:nvPr/>
        </p:nvSpPr>
        <p:spPr>
          <a:xfrm>
            <a:off x="3053182" y="4079596"/>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23" name="Shape 21"/>
          <p:cNvSpPr/>
          <p:nvPr/>
        </p:nvSpPr>
        <p:spPr>
          <a:xfrm>
            <a:off x="7090258" y="4024732"/>
            <a:ext cx="3394253" cy="914857"/>
          </a:xfrm>
          <a:prstGeom prst="roundRect">
            <a:avLst>
              <a:gd name="adj" fmla="val 11994"/>
            </a:avLst>
          </a:prstGeom>
          <a:solidFill>
            <a:srgbClr val="FCF2E2"/>
          </a:solidFill>
          <a:ln w="12700">
            <a:solidFill>
              <a:srgbClr val="EDCC93"/>
            </a:solidFill>
            <a:prstDash val="solid"/>
          </a:ln>
        </p:spPr>
      </p:sp>
      <p:sp>
        <p:nvSpPr>
          <p:cNvPr id="24" name="Text 22"/>
          <p:cNvSpPr/>
          <p:nvPr/>
        </p:nvSpPr>
        <p:spPr>
          <a:xfrm>
            <a:off x="7163410" y="4079596"/>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25" name="Shape 23"/>
          <p:cNvSpPr/>
          <p:nvPr/>
        </p:nvSpPr>
        <p:spPr>
          <a:xfrm>
            <a:off x="2847442" y="2115464"/>
            <a:ext cx="344729" cy="0"/>
          </a:xfrm>
          <a:prstGeom prst="line">
            <a:avLst/>
          </a:prstGeom>
          <a:noFill/>
          <a:ln w="31750">
            <a:solidFill>
              <a:srgbClr val="2E6DB4"/>
            </a:solidFill>
            <a:prstDash val="solid"/>
            <a:tailEnd type="triangle"/>
          </a:ln>
        </p:spPr>
      </p:sp>
      <p:sp>
        <p:nvSpPr>
          <p:cNvPr id="26" name="Text 24"/>
          <p:cNvSpPr/>
          <p:nvPr/>
        </p:nvSpPr>
        <p:spPr>
          <a:xfrm>
            <a:off x="2896819" y="200573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7" name="Shape 25"/>
          <p:cNvSpPr/>
          <p:nvPr/>
        </p:nvSpPr>
        <p:spPr>
          <a:xfrm>
            <a:off x="3377794" y="2314346"/>
            <a:ext cx="0" cy="702716"/>
          </a:xfrm>
          <a:prstGeom prst="line">
            <a:avLst/>
          </a:prstGeom>
          <a:noFill/>
          <a:ln w="31750">
            <a:solidFill>
              <a:srgbClr val="2E6DB4"/>
            </a:solidFill>
            <a:prstDash val="solid"/>
            <a:tailEnd type="triangle"/>
          </a:ln>
        </p:spPr>
      </p:sp>
      <p:sp>
        <p:nvSpPr>
          <p:cNvPr id="28" name="Text 26"/>
          <p:cNvSpPr/>
          <p:nvPr/>
        </p:nvSpPr>
        <p:spPr>
          <a:xfrm>
            <a:off x="3268066" y="23637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9" name="Shape 27"/>
          <p:cNvSpPr/>
          <p:nvPr/>
        </p:nvSpPr>
        <p:spPr>
          <a:xfrm>
            <a:off x="4305910" y="3149651"/>
            <a:ext cx="212141" cy="0"/>
          </a:xfrm>
          <a:prstGeom prst="line">
            <a:avLst/>
          </a:prstGeom>
          <a:noFill/>
          <a:ln w="31750">
            <a:solidFill>
              <a:srgbClr val="2E6DB4"/>
            </a:solidFill>
            <a:prstDash val="solid"/>
          </a:ln>
        </p:spPr>
      </p:sp>
      <p:sp>
        <p:nvSpPr>
          <p:cNvPr id="30" name="Shape 28"/>
          <p:cNvSpPr/>
          <p:nvPr/>
        </p:nvSpPr>
        <p:spPr>
          <a:xfrm flipV="1">
            <a:off x="4518050" y="2115464"/>
            <a:ext cx="0" cy="1034186"/>
          </a:xfrm>
          <a:prstGeom prst="line">
            <a:avLst/>
          </a:prstGeom>
          <a:noFill/>
          <a:ln w="31750">
            <a:solidFill>
              <a:srgbClr val="2E6DB4"/>
            </a:solidFill>
            <a:prstDash val="solid"/>
          </a:ln>
        </p:spPr>
      </p:sp>
      <p:sp>
        <p:nvSpPr>
          <p:cNvPr id="31" name="Shape 29"/>
          <p:cNvSpPr/>
          <p:nvPr/>
        </p:nvSpPr>
        <p:spPr>
          <a:xfrm>
            <a:off x="4518050" y="2115464"/>
            <a:ext cx="212141" cy="0"/>
          </a:xfrm>
          <a:prstGeom prst="line">
            <a:avLst/>
          </a:prstGeom>
          <a:noFill/>
          <a:ln w="31750">
            <a:solidFill>
              <a:srgbClr val="2E6DB4"/>
            </a:solidFill>
            <a:prstDash val="solid"/>
            <a:tailEnd type="triangle"/>
          </a:ln>
        </p:spPr>
      </p:sp>
      <p:sp>
        <p:nvSpPr>
          <p:cNvPr id="32" name="Text 30"/>
          <p:cNvSpPr/>
          <p:nvPr/>
        </p:nvSpPr>
        <p:spPr>
          <a:xfrm>
            <a:off x="3328873" y="2503627"/>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33" name="Text 31"/>
          <p:cNvSpPr/>
          <p:nvPr/>
        </p:nvSpPr>
        <p:spPr>
          <a:xfrm>
            <a:off x="4302252" y="303992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34" name="Shape 32"/>
          <p:cNvSpPr/>
          <p:nvPr/>
        </p:nvSpPr>
        <p:spPr>
          <a:xfrm>
            <a:off x="4305910" y="3249092"/>
            <a:ext cx="424282" cy="0"/>
          </a:xfrm>
          <a:prstGeom prst="line">
            <a:avLst/>
          </a:prstGeom>
          <a:noFill/>
          <a:ln w="31750">
            <a:solidFill>
              <a:srgbClr val="2E6DB4"/>
            </a:solidFill>
            <a:prstDash val="solid"/>
            <a:tailEnd type="triangle"/>
          </a:ln>
        </p:spPr>
      </p:sp>
      <p:sp>
        <p:nvSpPr>
          <p:cNvPr id="35" name="Text 33"/>
          <p:cNvSpPr/>
          <p:nvPr/>
        </p:nvSpPr>
        <p:spPr>
          <a:xfrm>
            <a:off x="4355287" y="313936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36" name="Shape 34"/>
          <p:cNvSpPr/>
          <p:nvPr/>
        </p:nvSpPr>
        <p:spPr>
          <a:xfrm>
            <a:off x="5857189" y="2115464"/>
            <a:ext cx="198882" cy="0"/>
          </a:xfrm>
          <a:prstGeom prst="line">
            <a:avLst/>
          </a:prstGeom>
          <a:noFill/>
          <a:ln w="31750">
            <a:solidFill>
              <a:srgbClr val="55627E"/>
            </a:solidFill>
            <a:prstDash val="sysDot"/>
            <a:tailEnd type="triangle"/>
          </a:ln>
        </p:spPr>
      </p:sp>
      <p:sp>
        <p:nvSpPr>
          <p:cNvPr id="37" name="Text 35"/>
          <p:cNvSpPr/>
          <p:nvPr/>
        </p:nvSpPr>
        <p:spPr>
          <a:xfrm>
            <a:off x="5846902" y="200573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8" name="Shape 36"/>
          <p:cNvSpPr/>
          <p:nvPr/>
        </p:nvSpPr>
        <p:spPr>
          <a:xfrm flipV="1">
            <a:off x="6586423" y="1744218"/>
            <a:ext cx="0" cy="172364"/>
          </a:xfrm>
          <a:prstGeom prst="line">
            <a:avLst/>
          </a:prstGeom>
          <a:noFill/>
          <a:ln w="31750">
            <a:solidFill>
              <a:srgbClr val="55627E"/>
            </a:solidFill>
            <a:prstDash val="sysDot"/>
          </a:ln>
        </p:spPr>
      </p:sp>
      <p:sp>
        <p:nvSpPr>
          <p:cNvPr id="39" name="Shape 37"/>
          <p:cNvSpPr/>
          <p:nvPr/>
        </p:nvSpPr>
        <p:spPr>
          <a:xfrm>
            <a:off x="6586423" y="1744218"/>
            <a:ext cx="3023006" cy="0"/>
          </a:xfrm>
          <a:prstGeom prst="line">
            <a:avLst/>
          </a:prstGeom>
          <a:noFill/>
          <a:ln w="31750">
            <a:solidFill>
              <a:srgbClr val="55627E"/>
            </a:solidFill>
            <a:prstDash val="sysDot"/>
          </a:ln>
        </p:spPr>
      </p:sp>
      <p:sp>
        <p:nvSpPr>
          <p:cNvPr id="40" name="Shape 38"/>
          <p:cNvSpPr/>
          <p:nvPr/>
        </p:nvSpPr>
        <p:spPr>
          <a:xfrm>
            <a:off x="9609430" y="1744218"/>
            <a:ext cx="0" cy="172364"/>
          </a:xfrm>
          <a:prstGeom prst="line">
            <a:avLst/>
          </a:prstGeom>
          <a:noFill/>
          <a:ln w="31750">
            <a:solidFill>
              <a:srgbClr val="55627E"/>
            </a:solidFill>
            <a:prstDash val="sysDot"/>
            <a:tailEnd type="triangle"/>
          </a:ln>
        </p:spPr>
      </p:sp>
      <p:sp>
        <p:nvSpPr>
          <p:cNvPr id="41" name="Text 39"/>
          <p:cNvSpPr/>
          <p:nvPr/>
        </p:nvSpPr>
        <p:spPr>
          <a:xfrm>
            <a:off x="6883603" y="1529105"/>
            <a:ext cx="24286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 + evento en una transacción</a:t>
            </a:r>
            <a:endParaRPr lang="en-US" sz="800" dirty="0"/>
          </a:p>
        </p:txBody>
      </p:sp>
      <p:sp>
        <p:nvSpPr>
          <p:cNvPr id="42" name="Text 40"/>
          <p:cNvSpPr/>
          <p:nvPr/>
        </p:nvSpPr>
        <p:spPr>
          <a:xfrm>
            <a:off x="6476695" y="17206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43" name="Shape 41"/>
          <p:cNvSpPr/>
          <p:nvPr/>
        </p:nvSpPr>
        <p:spPr>
          <a:xfrm>
            <a:off x="8469173" y="2115464"/>
            <a:ext cx="371246" cy="0"/>
          </a:xfrm>
          <a:prstGeom prst="line">
            <a:avLst/>
          </a:prstGeom>
          <a:noFill/>
          <a:ln w="31750">
            <a:solidFill>
              <a:srgbClr val="55627E"/>
            </a:solidFill>
            <a:prstDash val="sysDot"/>
            <a:tailEnd type="triangle"/>
          </a:ln>
        </p:spPr>
      </p:sp>
      <p:sp>
        <p:nvSpPr>
          <p:cNvPr id="44" name="Text 42"/>
          <p:cNvSpPr/>
          <p:nvPr/>
        </p:nvSpPr>
        <p:spPr>
          <a:xfrm>
            <a:off x="8518550" y="200573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5" name="Shape 43"/>
          <p:cNvSpPr/>
          <p:nvPr/>
        </p:nvSpPr>
        <p:spPr>
          <a:xfrm>
            <a:off x="7899044" y="2314346"/>
            <a:ext cx="0" cy="364617"/>
          </a:xfrm>
          <a:prstGeom prst="line">
            <a:avLst/>
          </a:prstGeom>
          <a:noFill/>
          <a:ln w="25400">
            <a:solidFill>
              <a:srgbClr val="55627E"/>
            </a:solidFill>
            <a:prstDash val="dash"/>
          </a:ln>
        </p:spPr>
      </p:sp>
      <p:sp>
        <p:nvSpPr>
          <p:cNvPr id="46" name="Shape 44"/>
          <p:cNvSpPr/>
          <p:nvPr/>
        </p:nvSpPr>
        <p:spPr>
          <a:xfrm flipH="1">
            <a:off x="5293690" y="2678963"/>
            <a:ext cx="2605354" cy="0"/>
          </a:xfrm>
          <a:prstGeom prst="line">
            <a:avLst/>
          </a:prstGeom>
          <a:noFill/>
          <a:ln w="25400">
            <a:solidFill>
              <a:srgbClr val="55627E"/>
            </a:solidFill>
            <a:prstDash val="dash"/>
          </a:ln>
        </p:spPr>
      </p:sp>
      <p:sp>
        <p:nvSpPr>
          <p:cNvPr id="47" name="Shape 45"/>
          <p:cNvSpPr/>
          <p:nvPr/>
        </p:nvSpPr>
        <p:spPr>
          <a:xfrm>
            <a:off x="5293690" y="2678963"/>
            <a:ext cx="0" cy="404393"/>
          </a:xfrm>
          <a:prstGeom prst="line">
            <a:avLst/>
          </a:prstGeom>
          <a:noFill/>
          <a:ln w="25400">
            <a:solidFill>
              <a:srgbClr val="55627E"/>
            </a:solidFill>
            <a:prstDash val="dash"/>
            <a:tailEnd type="triangle"/>
          </a:ln>
        </p:spPr>
      </p:sp>
      <p:sp>
        <p:nvSpPr>
          <p:cNvPr id="48" name="Text 46"/>
          <p:cNvSpPr/>
          <p:nvPr/>
        </p:nvSpPr>
        <p:spPr>
          <a:xfrm>
            <a:off x="5755119" y="2463851"/>
            <a:ext cx="168249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 por HTTP + traceId</a:t>
            </a:r>
            <a:endParaRPr lang="en-US" sz="800" dirty="0"/>
          </a:p>
        </p:txBody>
      </p:sp>
      <p:sp>
        <p:nvSpPr>
          <p:cNvPr id="49" name="Text 47"/>
          <p:cNvSpPr/>
          <p:nvPr/>
        </p:nvSpPr>
        <p:spPr>
          <a:xfrm>
            <a:off x="7789316" y="236372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50" name="Shape 48"/>
          <p:cNvSpPr/>
          <p:nvPr/>
        </p:nvSpPr>
        <p:spPr>
          <a:xfrm>
            <a:off x="5857189" y="3282239"/>
            <a:ext cx="198882" cy="0"/>
          </a:xfrm>
          <a:prstGeom prst="line">
            <a:avLst/>
          </a:prstGeom>
          <a:noFill/>
          <a:ln w="31750">
            <a:solidFill>
              <a:srgbClr val="55627E"/>
            </a:solidFill>
            <a:prstDash val="sysDot"/>
            <a:tailEnd type="triangle"/>
          </a:ln>
        </p:spPr>
      </p:sp>
      <p:sp>
        <p:nvSpPr>
          <p:cNvPr id="51" name="Text 49"/>
          <p:cNvSpPr/>
          <p:nvPr/>
        </p:nvSpPr>
        <p:spPr>
          <a:xfrm>
            <a:off x="5846902" y="31725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7116775" y="3282239"/>
            <a:ext cx="212141" cy="0"/>
          </a:xfrm>
          <a:prstGeom prst="line">
            <a:avLst/>
          </a:prstGeom>
          <a:noFill/>
          <a:ln w="31750">
            <a:solidFill>
              <a:srgbClr val="55627E"/>
            </a:solidFill>
            <a:prstDash val="sysDot"/>
            <a:tailEnd type="triangle"/>
          </a:ln>
        </p:spPr>
      </p:sp>
      <p:sp>
        <p:nvSpPr>
          <p:cNvPr id="53" name="Text 51"/>
          <p:cNvSpPr/>
          <p:nvPr/>
        </p:nvSpPr>
        <p:spPr>
          <a:xfrm>
            <a:off x="7113118" y="31725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4" name="Shape 52"/>
          <p:cNvSpPr/>
          <p:nvPr/>
        </p:nvSpPr>
        <p:spPr>
          <a:xfrm>
            <a:off x="6586423" y="3481121"/>
            <a:ext cx="0" cy="172364"/>
          </a:xfrm>
          <a:prstGeom prst="line">
            <a:avLst/>
          </a:prstGeom>
          <a:noFill/>
          <a:ln w="31750">
            <a:solidFill>
              <a:srgbClr val="55627E"/>
            </a:solidFill>
            <a:prstDash val="sysDot"/>
          </a:ln>
        </p:spPr>
      </p:sp>
      <p:sp>
        <p:nvSpPr>
          <p:cNvPr id="55" name="Shape 53"/>
          <p:cNvSpPr/>
          <p:nvPr/>
        </p:nvSpPr>
        <p:spPr>
          <a:xfrm>
            <a:off x="6586423" y="3653485"/>
            <a:ext cx="2108149" cy="0"/>
          </a:xfrm>
          <a:prstGeom prst="line">
            <a:avLst/>
          </a:prstGeom>
          <a:noFill/>
          <a:ln w="31750">
            <a:solidFill>
              <a:srgbClr val="55627E"/>
            </a:solidFill>
            <a:prstDash val="sysDot"/>
          </a:ln>
        </p:spPr>
      </p:sp>
      <p:sp>
        <p:nvSpPr>
          <p:cNvPr id="56" name="Shape 54"/>
          <p:cNvSpPr/>
          <p:nvPr/>
        </p:nvSpPr>
        <p:spPr>
          <a:xfrm flipV="1">
            <a:off x="8694572" y="3149651"/>
            <a:ext cx="0" cy="503834"/>
          </a:xfrm>
          <a:prstGeom prst="line">
            <a:avLst/>
          </a:prstGeom>
          <a:noFill/>
          <a:ln w="31750">
            <a:solidFill>
              <a:srgbClr val="55627E"/>
            </a:solidFill>
            <a:prstDash val="sysDot"/>
          </a:ln>
        </p:spPr>
      </p:sp>
      <p:sp>
        <p:nvSpPr>
          <p:cNvPr id="57" name="Shape 55"/>
          <p:cNvSpPr/>
          <p:nvPr/>
        </p:nvSpPr>
        <p:spPr>
          <a:xfrm>
            <a:off x="8694572" y="3149651"/>
            <a:ext cx="145847" cy="0"/>
          </a:xfrm>
          <a:prstGeom prst="line">
            <a:avLst/>
          </a:prstGeom>
          <a:noFill/>
          <a:ln w="31750">
            <a:solidFill>
              <a:srgbClr val="55627E"/>
            </a:solidFill>
            <a:prstDash val="sysDot"/>
            <a:tailEnd type="triangle"/>
          </a:ln>
        </p:spPr>
      </p:sp>
      <p:sp>
        <p:nvSpPr>
          <p:cNvPr id="58" name="Text 56"/>
          <p:cNvSpPr/>
          <p:nvPr/>
        </p:nvSpPr>
        <p:spPr>
          <a:xfrm>
            <a:off x="7047967" y="3438373"/>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anota el eventoId</a:t>
            </a:r>
            <a:endParaRPr lang="en-US" sz="800" dirty="0"/>
          </a:p>
        </p:txBody>
      </p:sp>
      <p:sp>
        <p:nvSpPr>
          <p:cNvPr id="59" name="Text 57"/>
          <p:cNvSpPr/>
          <p:nvPr/>
        </p:nvSpPr>
        <p:spPr>
          <a:xfrm>
            <a:off x="6476695" y="34575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60" name="Shape 58"/>
          <p:cNvSpPr/>
          <p:nvPr/>
        </p:nvSpPr>
        <p:spPr>
          <a:xfrm>
            <a:off x="2847442" y="4528566"/>
            <a:ext cx="265176" cy="0"/>
          </a:xfrm>
          <a:prstGeom prst="line">
            <a:avLst/>
          </a:prstGeom>
          <a:noFill/>
          <a:ln w="31750">
            <a:solidFill>
              <a:srgbClr val="2E6DB4"/>
            </a:solidFill>
            <a:prstDash val="solid"/>
            <a:tailEnd type="triangle"/>
          </a:ln>
        </p:spPr>
      </p:sp>
      <p:sp>
        <p:nvSpPr>
          <p:cNvPr id="61" name="Text 59"/>
          <p:cNvSpPr/>
          <p:nvPr/>
        </p:nvSpPr>
        <p:spPr>
          <a:xfrm>
            <a:off x="2870302" y="4418838"/>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2" name="Shape 60"/>
          <p:cNvSpPr/>
          <p:nvPr/>
        </p:nvSpPr>
        <p:spPr>
          <a:xfrm>
            <a:off x="4226357" y="4528566"/>
            <a:ext cx="198882" cy="0"/>
          </a:xfrm>
          <a:prstGeom prst="line">
            <a:avLst/>
          </a:prstGeom>
          <a:noFill/>
          <a:ln w="31750">
            <a:solidFill>
              <a:srgbClr val="55627E"/>
            </a:solidFill>
            <a:prstDash val="sysDot"/>
            <a:tailEnd type="triangle"/>
          </a:ln>
        </p:spPr>
      </p:sp>
      <p:sp>
        <p:nvSpPr>
          <p:cNvPr id="63" name="Text 61"/>
          <p:cNvSpPr/>
          <p:nvPr/>
        </p:nvSpPr>
        <p:spPr>
          <a:xfrm>
            <a:off x="4216070" y="44188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4" name="Shape 62"/>
          <p:cNvSpPr/>
          <p:nvPr/>
        </p:nvSpPr>
        <p:spPr>
          <a:xfrm>
            <a:off x="5552237" y="4528566"/>
            <a:ext cx="198882" cy="0"/>
          </a:xfrm>
          <a:prstGeom prst="line">
            <a:avLst/>
          </a:prstGeom>
          <a:noFill/>
          <a:ln w="31750">
            <a:solidFill>
              <a:srgbClr val="55627E"/>
            </a:solidFill>
            <a:prstDash val="sysDot"/>
            <a:tailEnd type="triangle"/>
          </a:ln>
        </p:spPr>
      </p:sp>
      <p:sp>
        <p:nvSpPr>
          <p:cNvPr id="65" name="Text 63"/>
          <p:cNvSpPr/>
          <p:nvPr/>
        </p:nvSpPr>
        <p:spPr>
          <a:xfrm>
            <a:off x="5541950" y="44188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6" name="Shape 64"/>
          <p:cNvSpPr/>
          <p:nvPr/>
        </p:nvSpPr>
        <p:spPr>
          <a:xfrm>
            <a:off x="9277960" y="3799332"/>
            <a:ext cx="0" cy="152476"/>
          </a:xfrm>
          <a:prstGeom prst="line">
            <a:avLst/>
          </a:prstGeom>
          <a:noFill/>
          <a:ln w="25400">
            <a:solidFill>
              <a:srgbClr val="55627E"/>
            </a:solidFill>
            <a:prstDash val="dash"/>
          </a:ln>
        </p:spPr>
      </p:sp>
      <p:sp>
        <p:nvSpPr>
          <p:cNvPr id="67" name="Shape 65"/>
          <p:cNvSpPr/>
          <p:nvPr/>
        </p:nvSpPr>
        <p:spPr>
          <a:xfrm flipH="1">
            <a:off x="8190738" y="3951808"/>
            <a:ext cx="1087222" cy="0"/>
          </a:xfrm>
          <a:prstGeom prst="line">
            <a:avLst/>
          </a:prstGeom>
          <a:noFill/>
          <a:ln w="25400">
            <a:solidFill>
              <a:srgbClr val="55627E"/>
            </a:solidFill>
            <a:prstDash val="dash"/>
          </a:ln>
        </p:spPr>
      </p:sp>
      <p:sp>
        <p:nvSpPr>
          <p:cNvPr id="68" name="Shape 66"/>
          <p:cNvSpPr/>
          <p:nvPr/>
        </p:nvSpPr>
        <p:spPr>
          <a:xfrm>
            <a:off x="8190738" y="3951808"/>
            <a:ext cx="0" cy="364617"/>
          </a:xfrm>
          <a:prstGeom prst="line">
            <a:avLst/>
          </a:prstGeom>
          <a:noFill/>
          <a:ln w="25400">
            <a:solidFill>
              <a:srgbClr val="55627E"/>
            </a:solidFill>
            <a:prstDash val="dash"/>
            <a:tailEnd type="triangle"/>
          </a:ln>
        </p:spPr>
      </p:sp>
      <p:sp>
        <p:nvSpPr>
          <p:cNvPr id="69" name="Text 67"/>
          <p:cNvSpPr/>
          <p:nvPr/>
        </p:nvSpPr>
        <p:spPr>
          <a:xfrm>
            <a:off x="8545982" y="392231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70" name="Text 68"/>
          <p:cNvSpPr/>
          <p:nvPr/>
        </p:nvSpPr>
        <p:spPr>
          <a:xfrm>
            <a:off x="9168232" y="376584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71" name="Shape 69"/>
          <p:cNvSpPr/>
          <p:nvPr/>
        </p:nvSpPr>
        <p:spPr>
          <a:xfrm>
            <a:off x="8217256" y="4528566"/>
            <a:ext cx="212141" cy="0"/>
          </a:xfrm>
          <a:prstGeom prst="line">
            <a:avLst/>
          </a:prstGeom>
          <a:noFill/>
          <a:ln w="31750">
            <a:solidFill>
              <a:srgbClr val="55627E"/>
            </a:solidFill>
            <a:prstDash val="sysDot"/>
            <a:tailEnd type="triangle"/>
          </a:ln>
        </p:spPr>
      </p:sp>
      <p:sp>
        <p:nvSpPr>
          <p:cNvPr id="72" name="Text 70"/>
          <p:cNvSpPr/>
          <p:nvPr/>
        </p:nvSpPr>
        <p:spPr>
          <a:xfrm>
            <a:off x="8213598" y="44188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73" name="Shape 71"/>
          <p:cNvSpPr/>
          <p:nvPr/>
        </p:nvSpPr>
        <p:spPr>
          <a:xfrm>
            <a:off x="9277960" y="4528566"/>
            <a:ext cx="212141" cy="0"/>
          </a:xfrm>
          <a:prstGeom prst="line">
            <a:avLst/>
          </a:prstGeom>
          <a:noFill/>
          <a:ln w="31750">
            <a:solidFill>
              <a:srgbClr val="55627E"/>
            </a:solidFill>
            <a:prstDash val="sysDot"/>
            <a:tailEnd type="triangle"/>
          </a:ln>
        </p:spPr>
      </p:sp>
      <p:sp>
        <p:nvSpPr>
          <p:cNvPr id="74" name="Text 72"/>
          <p:cNvSpPr/>
          <p:nvPr/>
        </p:nvSpPr>
        <p:spPr>
          <a:xfrm>
            <a:off x="9274302" y="44188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75" name="Text 73"/>
          <p:cNvSpPr/>
          <p:nvPr/>
        </p:nvSpPr>
        <p:spPr>
          <a:xfrm>
            <a:off x="1720444" y="1916582"/>
            <a:ext cx="1126998" cy="397764"/>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76" name="Shape 74"/>
          <p:cNvSpPr/>
          <p:nvPr/>
        </p:nvSpPr>
        <p:spPr>
          <a:xfrm>
            <a:off x="3192170" y="1916582"/>
            <a:ext cx="1113739" cy="397764"/>
          </a:xfrm>
          <a:prstGeom prst="roundRect">
            <a:avLst>
              <a:gd name="adj" fmla="val 2069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3283610" y="1957182"/>
            <a:ext cx="316565" cy="316565"/>
          </a:xfrm>
          <a:prstGeom prst="ellipse">
            <a:avLst/>
          </a:prstGeom>
          <a:solidFill>
            <a:srgbClr val="EBE8F8"/>
          </a:solidFill>
          <a:ln w="12700">
            <a:solidFill>
              <a:srgbClr val="EBE8F8"/>
            </a:solidFill>
            <a:prstDash val="solid"/>
          </a:ln>
        </p:spPr>
      </p:sp>
      <p:sp>
        <p:nvSpPr>
          <p:cNvPr id="78" name="Icono app-window"/>
          <p:cNvSpPr/>
          <p:nvPr/>
        </p:nvSpPr>
        <p:spPr>
          <a:xfrm>
            <a:off x="3338474" y="2012046"/>
            <a:ext cx="206837" cy="206837"/>
          </a:xfrm>
          <a:custGeom>
            <a:avLst/>
            <a:gdLst/>
            <a:ahLst/>
            <a:cxnLst/>
            <a:rect l="l" t="t" r="r" b="b"/>
            <a:pathLst>
              <a:path w="206837" h="206837">
                <a:moveTo>
                  <a:pt x="34473" y="34473"/>
                </a:moveTo>
                <a:lnTo>
                  <a:pt x="172364" y="34473"/>
                </a:lnTo>
                <a:cubicBezTo>
                  <a:pt x="181884" y="34473"/>
                  <a:pt x="189601" y="42190"/>
                  <a:pt x="189601" y="51709"/>
                </a:cubicBezTo>
                <a:lnTo>
                  <a:pt x="189601" y="155128"/>
                </a:lnTo>
                <a:cubicBezTo>
                  <a:pt x="189601" y="164647"/>
                  <a:pt x="181884" y="172364"/>
                  <a:pt x="172364" y="172364"/>
                </a:cubicBezTo>
                <a:lnTo>
                  <a:pt x="34473" y="172364"/>
                </a:lnTo>
                <a:cubicBezTo>
                  <a:pt x="24953" y="172364"/>
                  <a:pt x="17236" y="164647"/>
                  <a:pt x="17236" y="155128"/>
                </a:cubicBezTo>
                <a:lnTo>
                  <a:pt x="17236" y="51709"/>
                </a:lnTo>
                <a:cubicBezTo>
                  <a:pt x="17236" y="42190"/>
                  <a:pt x="24953" y="34473"/>
                  <a:pt x="34473" y="34473"/>
                </a:cubicBezTo>
                <a:close/>
                <a:moveTo>
                  <a:pt x="86182" y="34473"/>
                </a:moveTo>
                <a:lnTo>
                  <a:pt x="86182" y="68946"/>
                </a:lnTo>
                <a:moveTo>
                  <a:pt x="17236" y="68946"/>
                </a:moveTo>
                <a:lnTo>
                  <a:pt x="189601" y="68946"/>
                </a:lnTo>
                <a:moveTo>
                  <a:pt x="51709" y="34473"/>
                </a:moveTo>
                <a:lnTo>
                  <a:pt x="51709" y="68946"/>
                </a:lnTo>
              </a:path>
            </a:pathLst>
          </a:custGeom>
          <a:noFill/>
          <a:ln w="17236" cap="rnd">
            <a:solidFill>
              <a:srgbClr val="5B3FC4"/>
            </a:solidFill>
            <a:prstDash val="solid"/>
            <a:round/>
          </a:ln>
        </p:spPr>
      </p:sp>
      <p:sp>
        <p:nvSpPr>
          <p:cNvPr id="79" name="Text 77"/>
          <p:cNvSpPr/>
          <p:nvPr/>
        </p:nvSpPr>
        <p:spPr>
          <a:xfrm>
            <a:off x="3655040" y="1916582"/>
            <a:ext cx="596006" cy="39776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React</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4 pestañas</a:t>
            </a:r>
            <a:endParaRPr lang="en-US" sz="864" dirty="0"/>
          </a:p>
        </p:txBody>
      </p:sp>
      <p:sp>
        <p:nvSpPr>
          <p:cNvPr id="80" name="Text 78"/>
          <p:cNvSpPr/>
          <p:nvPr/>
        </p:nvSpPr>
        <p:spPr>
          <a:xfrm>
            <a:off x="3192170" y="3017063"/>
            <a:ext cx="1113739" cy="397764"/>
          </a:xfrm>
          <a:prstGeom prst="roundRect">
            <a:avLst>
              <a:gd name="adj" fmla="val 2069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81" name="Text 79"/>
          <p:cNvSpPr/>
          <p:nvPr/>
        </p:nvSpPr>
        <p:spPr>
          <a:xfrm>
            <a:off x="4730191" y="1916582"/>
            <a:ext cx="1126998" cy="397764"/>
          </a:xfrm>
          <a:prstGeom prst="roundRect">
            <a:avLst>
              <a:gd name="adj" fmla="val 2069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2" name="Text 80"/>
          <p:cNvSpPr/>
          <p:nvPr/>
        </p:nvSpPr>
        <p:spPr>
          <a:xfrm>
            <a:off x="6056071" y="1916582"/>
            <a:ext cx="1060704" cy="397764"/>
          </a:xfrm>
          <a:prstGeom prst="roundRect">
            <a:avLst>
              <a:gd name="adj" fmla="val 2069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83" name="Text 81"/>
          <p:cNvSpPr/>
          <p:nvPr/>
        </p:nvSpPr>
        <p:spPr>
          <a:xfrm>
            <a:off x="7328916" y="1916582"/>
            <a:ext cx="1140257" cy="397764"/>
          </a:xfrm>
          <a:prstGeom prst="roundRect">
            <a:avLst>
              <a:gd name="adj" fmla="val 2069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92" b="1" dirty="0">
                <a:solidFill>
                  <a:srgbClr val="0B1A3C"/>
                </a:solidFill>
                <a:latin typeface="Segoe UI" pitchFamily="34" charset="0"/>
                <a:ea typeface="Segoe UI" pitchFamily="34" charset="-122"/>
                <a:cs typeface="Segoe UI" pitchFamily="34" charset="-120"/>
              </a:rPr>
              <a:t>Relevador</a:t>
            </a:r>
            <a:endParaRPr lang="en-US" sz="792" dirty="0"/>
          </a:p>
          <a:p>
            <a:pPr algn="ctr" indent="0" marL="0">
              <a:buNone/>
            </a:pPr>
            <a:r>
              <a:rPr lang="en-US" sz="704" dirty="0">
                <a:solidFill>
                  <a:srgbClr val="55627E"/>
                </a:solidFill>
                <a:latin typeface="Segoe UI" pitchFamily="34" charset="0"/>
                <a:ea typeface="Segoe UI" pitchFamily="34" charset="-122"/>
                <a:cs typeface="Segoe UI" pitchFamily="34" charset="-120"/>
              </a:rPr>
              <a:t>cada 5 s · 3 intentos</a:t>
            </a:r>
            <a:endParaRPr lang="en-US" sz="792" dirty="0"/>
          </a:p>
        </p:txBody>
      </p:sp>
      <p:sp>
        <p:nvSpPr>
          <p:cNvPr id="84" name="Shape 82"/>
          <p:cNvSpPr/>
          <p:nvPr/>
        </p:nvSpPr>
        <p:spPr>
          <a:xfrm>
            <a:off x="8840419" y="1916582"/>
            <a:ext cx="1538021" cy="397764"/>
          </a:xfrm>
          <a:prstGeom prst="roundRect">
            <a:avLst>
              <a:gd name="adj" fmla="val 20690"/>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85" name="Shape 83"/>
          <p:cNvSpPr/>
          <p:nvPr/>
        </p:nvSpPr>
        <p:spPr>
          <a:xfrm>
            <a:off x="8931859" y="1957182"/>
            <a:ext cx="316565" cy="316565"/>
          </a:xfrm>
          <a:prstGeom prst="ellipse">
            <a:avLst/>
          </a:prstGeom>
          <a:solidFill>
            <a:srgbClr val="EBECF0"/>
          </a:solidFill>
          <a:ln w="12700">
            <a:solidFill>
              <a:srgbClr val="EBECF0"/>
            </a:solidFill>
            <a:prstDash val="solid"/>
          </a:ln>
        </p:spPr>
      </p:sp>
      <p:sp>
        <p:nvSpPr>
          <p:cNvPr id="86" name="Icono database"/>
          <p:cNvSpPr/>
          <p:nvPr/>
        </p:nvSpPr>
        <p:spPr>
          <a:xfrm>
            <a:off x="8986723" y="2012046"/>
            <a:ext cx="206837" cy="206837"/>
          </a:xfrm>
          <a:custGeom>
            <a:avLst/>
            <a:gdLst/>
            <a:ahLst/>
            <a:cxnLst/>
            <a:rect l="l" t="t" r="r" b="b"/>
            <a:pathLst>
              <a:path w="206837" h="206837">
                <a:moveTo>
                  <a:pt x="180983" y="43091"/>
                </a:moveTo>
                <a:cubicBezTo>
                  <a:pt x="180983" y="57370"/>
                  <a:pt x="146256" y="68946"/>
                  <a:pt x="103419" y="68946"/>
                </a:cubicBezTo>
                <a:cubicBezTo>
                  <a:pt x="60581" y="68946"/>
                  <a:pt x="25855" y="57370"/>
                  <a:pt x="25855" y="43091"/>
                </a:cubicBezTo>
                <a:cubicBezTo>
                  <a:pt x="25855" y="28812"/>
                  <a:pt x="60581" y="17236"/>
                  <a:pt x="103419" y="17236"/>
                </a:cubicBezTo>
                <a:cubicBezTo>
                  <a:pt x="146256" y="17236"/>
                  <a:pt x="180983" y="28812"/>
                  <a:pt x="180983" y="43091"/>
                </a:cubicBezTo>
                <a:close/>
                <a:moveTo>
                  <a:pt x="25855" y="43091"/>
                </a:moveTo>
                <a:lnTo>
                  <a:pt x="25855" y="163746"/>
                </a:lnTo>
                <a:cubicBezTo>
                  <a:pt x="25855" y="178025"/>
                  <a:pt x="60581" y="189601"/>
                  <a:pt x="103419" y="189601"/>
                </a:cubicBezTo>
                <a:cubicBezTo>
                  <a:pt x="146256" y="189601"/>
                  <a:pt x="180983" y="178025"/>
                  <a:pt x="180983" y="163746"/>
                </a:cubicBezTo>
                <a:lnTo>
                  <a:pt x="180983" y="43091"/>
                </a:lnTo>
                <a:moveTo>
                  <a:pt x="25855" y="103419"/>
                </a:moveTo>
                <a:cubicBezTo>
                  <a:pt x="25855" y="117698"/>
                  <a:pt x="60581" y="129273"/>
                  <a:pt x="103419" y="129273"/>
                </a:cubicBezTo>
                <a:cubicBezTo>
                  <a:pt x="146256" y="129273"/>
                  <a:pt x="180983" y="117698"/>
                  <a:pt x="180983" y="103419"/>
                </a:cubicBezTo>
              </a:path>
            </a:pathLst>
          </a:custGeom>
          <a:noFill/>
          <a:ln w="17236" cap="rnd">
            <a:solidFill>
              <a:srgbClr val="55627E"/>
            </a:solidFill>
            <a:prstDash val="solid"/>
            <a:round/>
          </a:ln>
        </p:spPr>
      </p:sp>
      <p:sp>
        <p:nvSpPr>
          <p:cNvPr id="87" name="Text 85"/>
          <p:cNvSpPr/>
          <p:nvPr/>
        </p:nvSpPr>
        <p:spPr>
          <a:xfrm>
            <a:off x="9303288" y="1916582"/>
            <a:ext cx="1020288" cy="39776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db-solicitudes</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solicitud · evento</a:t>
            </a:r>
            <a:endParaRPr lang="en-US" sz="864" dirty="0"/>
          </a:p>
        </p:txBody>
      </p:sp>
      <p:sp>
        <p:nvSpPr>
          <p:cNvPr id="88" name="Text 86"/>
          <p:cNvSpPr/>
          <p:nvPr/>
        </p:nvSpPr>
        <p:spPr>
          <a:xfrm>
            <a:off x="4730191" y="3083357"/>
            <a:ext cx="1126998" cy="397764"/>
          </a:xfrm>
          <a:prstGeom prst="roundRect">
            <a:avLst>
              <a:gd name="adj" fmla="val 20690"/>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9" name="Text 87"/>
          <p:cNvSpPr/>
          <p:nvPr/>
        </p:nvSpPr>
        <p:spPr>
          <a:xfrm>
            <a:off x="6056071" y="3083357"/>
            <a:ext cx="1060704" cy="397764"/>
          </a:xfrm>
          <a:prstGeom prst="roundRect">
            <a:avLst>
              <a:gd name="adj" fmla="val 20690"/>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20" b="1" dirty="0">
                <a:solidFill>
                  <a:srgbClr val="0B1A3C"/>
                </a:solidFill>
                <a:latin typeface="Segoe UI" pitchFamily="34" charset="0"/>
                <a:ea typeface="Segoe UI" pitchFamily="34" charset="-122"/>
                <a:cs typeface="Segoe UI" pitchFamily="34" charset="-120"/>
              </a:rPr>
              <a:t>Consumo idempotente</a:t>
            </a:r>
            <a:endParaRPr lang="en-US" sz="720" dirty="0"/>
          </a:p>
          <a:p>
            <a:pPr algn="ctr" indent="0" marL="0">
              <a:buNone/>
            </a:pPr>
            <a:r>
              <a:rPr lang="en-US" sz="650" dirty="0">
                <a:solidFill>
                  <a:srgbClr val="55627E"/>
                </a:solidFill>
                <a:latin typeface="Segoe UI" pitchFamily="34" charset="0"/>
                <a:ea typeface="Segoe UI" pitchFamily="34" charset="-122"/>
                <a:cs typeface="Segoe UI" pitchFamily="34" charset="-120"/>
              </a:rPr>
              <a:t>¿ya llegó?</a:t>
            </a:r>
            <a:endParaRPr lang="en-US" sz="720" dirty="0"/>
          </a:p>
        </p:txBody>
      </p:sp>
      <p:sp>
        <p:nvSpPr>
          <p:cNvPr id="90" name="Shape 88"/>
          <p:cNvSpPr/>
          <p:nvPr/>
        </p:nvSpPr>
        <p:spPr>
          <a:xfrm>
            <a:off x="7328916" y="3083357"/>
            <a:ext cx="1140257" cy="397764"/>
          </a:xfrm>
          <a:prstGeom prst="roundRect">
            <a:avLst>
              <a:gd name="adj" fmla="val 20690"/>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91" name="Shape 89"/>
          <p:cNvSpPr/>
          <p:nvPr/>
        </p:nvSpPr>
        <p:spPr>
          <a:xfrm>
            <a:off x="7420356" y="3123956"/>
            <a:ext cx="316565" cy="316565"/>
          </a:xfrm>
          <a:prstGeom prst="ellipse">
            <a:avLst/>
          </a:prstGeom>
          <a:solidFill>
            <a:srgbClr val="E2EEF1"/>
          </a:solidFill>
          <a:ln w="12700">
            <a:solidFill>
              <a:srgbClr val="E2EEF1"/>
            </a:solidFill>
            <a:prstDash val="solid"/>
          </a:ln>
        </p:spPr>
      </p:sp>
      <p:sp>
        <p:nvSpPr>
          <p:cNvPr id="92" name="Icono bell"/>
          <p:cNvSpPr/>
          <p:nvPr/>
        </p:nvSpPr>
        <p:spPr>
          <a:xfrm>
            <a:off x="7475220" y="3178820"/>
            <a:ext cx="206837" cy="206837"/>
          </a:xfrm>
          <a:custGeom>
            <a:avLst/>
            <a:gdLst/>
            <a:ahLst/>
            <a:cxnLst/>
            <a:rect l="l" t="t" r="r" b="b"/>
            <a:pathLst>
              <a:path w="206837" h="206837">
                <a:moveTo>
                  <a:pt x="88492" y="180983"/>
                </a:moveTo>
                <a:cubicBezTo>
                  <a:pt x="91571" y="186315"/>
                  <a:pt x="97261" y="189600"/>
                  <a:pt x="103419" y="189600"/>
                </a:cubicBezTo>
                <a:cubicBezTo>
                  <a:pt x="109576" y="189600"/>
                  <a:pt x="115266" y="186315"/>
                  <a:pt x="118345" y="180983"/>
                </a:cubicBezTo>
                <a:moveTo>
                  <a:pt x="28113" y="132083"/>
                </a:moveTo>
                <a:cubicBezTo>
                  <a:pt x="25812" y="134604"/>
                  <a:pt x="25217" y="138245"/>
                  <a:pt x="26593" y="141368"/>
                </a:cubicBezTo>
                <a:cubicBezTo>
                  <a:pt x="27970" y="144491"/>
                  <a:pt x="31060" y="146507"/>
                  <a:pt x="34473" y="146510"/>
                </a:cubicBezTo>
                <a:lnTo>
                  <a:pt x="172364" y="146510"/>
                </a:lnTo>
                <a:cubicBezTo>
                  <a:pt x="175777" y="146511"/>
                  <a:pt x="178869" y="144499"/>
                  <a:pt x="180249" y="141378"/>
                </a:cubicBezTo>
                <a:cubicBezTo>
                  <a:pt x="181630" y="138257"/>
                  <a:pt x="181038" y="134615"/>
                  <a:pt x="178742" y="132091"/>
                </a:cubicBezTo>
                <a:cubicBezTo>
                  <a:pt x="167280" y="120276"/>
                  <a:pt x="155128" y="107719"/>
                  <a:pt x="155128" y="68946"/>
                </a:cubicBezTo>
                <a:cubicBezTo>
                  <a:pt x="155128" y="40387"/>
                  <a:pt x="131977" y="17236"/>
                  <a:pt x="103419" y="17236"/>
                </a:cubicBezTo>
                <a:cubicBezTo>
                  <a:pt x="74860" y="17236"/>
                  <a:pt x="51709" y="40387"/>
                  <a:pt x="51709" y="68946"/>
                </a:cubicBezTo>
                <a:cubicBezTo>
                  <a:pt x="51709" y="107719"/>
                  <a:pt x="39549" y="120276"/>
                  <a:pt x="28113" y="132083"/>
                </a:cubicBezTo>
              </a:path>
            </a:pathLst>
          </a:custGeom>
          <a:noFill/>
          <a:ln w="17236" cap="rnd">
            <a:solidFill>
              <a:srgbClr val="0B6E8A"/>
            </a:solidFill>
            <a:prstDash val="solid"/>
            <a:round/>
          </a:ln>
        </p:spPr>
      </p:sp>
      <p:sp>
        <p:nvSpPr>
          <p:cNvPr id="93" name="Text 91"/>
          <p:cNvSpPr/>
          <p:nvPr/>
        </p:nvSpPr>
        <p:spPr>
          <a:xfrm>
            <a:off x="7791785" y="3083357"/>
            <a:ext cx="622524" cy="39776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00" dirty="0"/>
          </a:p>
        </p:txBody>
      </p:sp>
      <p:sp>
        <p:nvSpPr>
          <p:cNvPr id="94" name="Text 92"/>
          <p:cNvSpPr/>
          <p:nvPr/>
        </p:nvSpPr>
        <p:spPr>
          <a:xfrm>
            <a:off x="8840419" y="2950769"/>
            <a:ext cx="1538021" cy="397764"/>
          </a:xfrm>
          <a:prstGeom prst="roundRect">
            <a:avLst>
              <a:gd name="adj" fmla="val 20690"/>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evento_procesado</a:t>
            </a:r>
            <a:endParaRPr lang="en-US" sz="900" dirty="0"/>
          </a:p>
        </p:txBody>
      </p:sp>
      <p:sp>
        <p:nvSpPr>
          <p:cNvPr id="95" name="Text 93"/>
          <p:cNvSpPr/>
          <p:nvPr/>
        </p:nvSpPr>
        <p:spPr>
          <a:xfrm>
            <a:off x="8840419" y="3441344"/>
            <a:ext cx="1538021" cy="357988"/>
          </a:xfrm>
          <a:prstGeom prst="roundRect">
            <a:avLst>
              <a:gd name="adj" fmla="val 22988"/>
            </a:avLst>
          </a:prstGeom>
          <a:solidFill>
            <a:srgbClr val="FBFCFE"/>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20" b="1" dirty="0">
                <a:solidFill>
                  <a:srgbClr val="0B1A3C"/>
                </a:solidFill>
                <a:latin typeface="Segoe UI" pitchFamily="34" charset="0"/>
                <a:ea typeface="Segoe UI" pitchFamily="34" charset="-122"/>
                <a:cs typeface="Segoe UI" pitchFamily="34" charset="-120"/>
              </a:rPr>
              <a:t>Salida de los contenedores</a:t>
            </a:r>
            <a:endParaRPr lang="en-US" sz="720" dirty="0"/>
          </a:p>
          <a:p>
            <a:pPr algn="ctr" indent="0" marL="0">
              <a:buNone/>
            </a:pPr>
            <a:r>
              <a:rPr lang="en-US" sz="650" dirty="0">
                <a:solidFill>
                  <a:srgbClr val="55627E"/>
                </a:solidFill>
                <a:latin typeface="Segoe UI" pitchFamily="34" charset="0"/>
                <a:ea typeface="Segoe UI" pitchFamily="34" charset="-122"/>
                <a:cs typeface="Segoe UI" pitchFamily="34" charset="-120"/>
              </a:rPr>
              <a:t>logs JSON con traceId</a:t>
            </a:r>
            <a:endParaRPr lang="en-US" sz="720" dirty="0"/>
          </a:p>
        </p:txBody>
      </p:sp>
      <p:sp>
        <p:nvSpPr>
          <p:cNvPr id="96" name="Text 94"/>
          <p:cNvSpPr/>
          <p:nvPr/>
        </p:nvSpPr>
        <p:spPr>
          <a:xfrm>
            <a:off x="1720444" y="4316425"/>
            <a:ext cx="1126998" cy="42428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desarrolla y opera</a:t>
            </a:r>
            <a:endParaRPr lang="en-US" sz="900" dirty="0"/>
          </a:p>
        </p:txBody>
      </p:sp>
      <p:sp>
        <p:nvSpPr>
          <p:cNvPr id="97" name="Text 95"/>
          <p:cNvSpPr/>
          <p:nvPr/>
        </p:nvSpPr>
        <p:spPr>
          <a:xfrm>
            <a:off x="3112618" y="4316425"/>
            <a:ext cx="1113739" cy="424282"/>
          </a:xfrm>
          <a:prstGeom prst="roundRect">
            <a:avLst>
              <a:gd name="adj" fmla="val 19397"/>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GitHub</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ramas y Pull Requests</a:t>
            </a:r>
            <a:endParaRPr lang="en-US" sz="828" dirty="0"/>
          </a:p>
        </p:txBody>
      </p:sp>
      <p:sp>
        <p:nvSpPr>
          <p:cNvPr id="98" name="Text 96"/>
          <p:cNvSpPr/>
          <p:nvPr/>
        </p:nvSpPr>
        <p:spPr>
          <a:xfrm>
            <a:off x="4425239" y="4316425"/>
            <a:ext cx="1126998" cy="424282"/>
          </a:xfrm>
          <a:prstGeom prst="roundRect">
            <a:avLst>
              <a:gd name="adj" fmla="val 19397"/>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GitHub Actions</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compila, prueba y construye</a:t>
            </a:r>
            <a:endParaRPr lang="en-US" sz="828" dirty="0"/>
          </a:p>
        </p:txBody>
      </p:sp>
      <p:sp>
        <p:nvSpPr>
          <p:cNvPr id="99" name="Text 97"/>
          <p:cNvSpPr/>
          <p:nvPr/>
        </p:nvSpPr>
        <p:spPr>
          <a:xfrm>
            <a:off x="5751119" y="4316425"/>
            <a:ext cx="1126998" cy="424282"/>
          </a:xfrm>
          <a:prstGeom prst="roundRect">
            <a:avLst>
              <a:gd name="adj" fmla="val 19397"/>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64" b="1" dirty="0">
                <a:solidFill>
                  <a:srgbClr val="0B1A3C"/>
                </a:solidFill>
                <a:latin typeface="Segoe UI" pitchFamily="34" charset="0"/>
                <a:ea typeface="Segoe UI" pitchFamily="34" charset="-122"/>
                <a:cs typeface="Segoe UI" pitchFamily="34" charset="-120"/>
              </a:rPr>
              <a:t>GHCR</a:t>
            </a:r>
            <a:endParaRPr lang="en-US" sz="864" dirty="0"/>
          </a:p>
          <a:p>
            <a:pPr algn="ctr" indent="0" marL="0">
              <a:buNone/>
            </a:pPr>
            <a:r>
              <a:rPr lang="en-US" sz="768" dirty="0">
                <a:solidFill>
                  <a:srgbClr val="55627E"/>
                </a:solidFill>
                <a:latin typeface="Segoe UI" pitchFamily="34" charset="0"/>
                <a:ea typeface="Segoe UI" pitchFamily="34" charset="-122"/>
                <a:cs typeface="Segoe UI" pitchFamily="34" charset="-120"/>
              </a:rPr>
              <a:t>imágenes por commit</a:t>
            </a:r>
            <a:endParaRPr lang="en-US" sz="864" dirty="0"/>
          </a:p>
        </p:txBody>
      </p:sp>
      <p:sp>
        <p:nvSpPr>
          <p:cNvPr id="100" name="Text 98"/>
          <p:cNvSpPr/>
          <p:nvPr/>
        </p:nvSpPr>
        <p:spPr>
          <a:xfrm>
            <a:off x="7262622" y="4316425"/>
            <a:ext cx="954634" cy="424282"/>
          </a:xfrm>
          <a:prstGeom prst="roundRect">
            <a:avLst>
              <a:gd name="adj" fmla="val 19397"/>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recoge los logs</a:t>
            </a:r>
            <a:endParaRPr lang="en-US" sz="900" dirty="0"/>
          </a:p>
        </p:txBody>
      </p:sp>
      <p:sp>
        <p:nvSpPr>
          <p:cNvPr id="101" name="Text 99"/>
          <p:cNvSpPr/>
          <p:nvPr/>
        </p:nvSpPr>
        <p:spPr>
          <a:xfrm>
            <a:off x="8429396" y="4316425"/>
            <a:ext cx="848563" cy="424282"/>
          </a:xfrm>
          <a:prstGeom prst="roundRect">
            <a:avLst>
              <a:gd name="adj" fmla="val 19397"/>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los guarda</a:t>
            </a:r>
            <a:endParaRPr lang="en-US" sz="900" dirty="0"/>
          </a:p>
        </p:txBody>
      </p:sp>
      <p:sp>
        <p:nvSpPr>
          <p:cNvPr id="102" name="Text 100"/>
          <p:cNvSpPr/>
          <p:nvPr/>
        </p:nvSpPr>
        <p:spPr>
          <a:xfrm>
            <a:off x="9490100" y="4316425"/>
            <a:ext cx="928116" cy="424282"/>
          </a:xfrm>
          <a:prstGeom prst="roundRect">
            <a:avLst>
              <a:gd name="adj" fmla="val 19397"/>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Grafana</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busca por traceId</a:t>
            </a:r>
            <a:endParaRPr lang="en-US" sz="828" dirty="0"/>
          </a:p>
        </p:txBody>
      </p:sp>
      <p:sp>
        <p:nvSpPr>
          <p:cNvPr id="103" name="Shape 101"/>
          <p:cNvSpPr/>
          <p:nvPr/>
        </p:nvSpPr>
        <p:spPr>
          <a:xfrm>
            <a:off x="612648" y="5129784"/>
            <a:ext cx="2645588" cy="566928"/>
          </a:xfrm>
          <a:prstGeom prst="roundRect">
            <a:avLst>
              <a:gd name="adj" fmla="val 12903"/>
            </a:avLst>
          </a:prstGeom>
          <a:solidFill>
            <a:srgbClr val="E3F4FA"/>
          </a:solidFill>
          <a:ln w="9525">
            <a:solidFill>
              <a:srgbClr val="80CAE0"/>
            </a:solidFill>
            <a:prstDash val="solid"/>
          </a:ln>
        </p:spPr>
      </p:sp>
      <p:sp>
        <p:nvSpPr>
          <p:cNvPr id="104" name="Text 102"/>
          <p:cNvSpPr/>
          <p:nvPr/>
        </p:nvSpPr>
        <p:spPr>
          <a:xfrm>
            <a:off x="704088"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105" name="Text 103"/>
          <p:cNvSpPr/>
          <p:nvPr/>
        </p:nvSpPr>
        <p:spPr>
          <a:xfrm>
            <a:off x="1088136"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La persona usa la interfaz en su navegador: React muestra las cuatro pestañas.</a:t>
            </a:r>
            <a:endParaRPr lang="en-US" sz="1050" dirty="0"/>
          </a:p>
        </p:txBody>
      </p:sp>
      <p:sp>
        <p:nvSpPr>
          <p:cNvPr id="106" name="Shape 104"/>
          <p:cNvSpPr/>
          <p:nvPr/>
        </p:nvSpPr>
        <p:spPr>
          <a:xfrm>
            <a:off x="3386252" y="5129784"/>
            <a:ext cx="2645588" cy="566928"/>
          </a:xfrm>
          <a:prstGeom prst="roundRect">
            <a:avLst>
              <a:gd name="adj" fmla="val 12903"/>
            </a:avLst>
          </a:prstGeom>
          <a:solidFill>
            <a:srgbClr val="E3F4FA"/>
          </a:solidFill>
          <a:ln w="9525">
            <a:solidFill>
              <a:srgbClr val="80CAE0"/>
            </a:solidFill>
            <a:prstDash val="solid"/>
          </a:ln>
        </p:spPr>
      </p:sp>
      <p:sp>
        <p:nvSpPr>
          <p:cNvPr id="107" name="Text 105"/>
          <p:cNvSpPr/>
          <p:nvPr/>
        </p:nvSpPr>
        <p:spPr>
          <a:xfrm>
            <a:off x="3477692"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108" name="Text 106"/>
          <p:cNvSpPr/>
          <p:nvPr/>
        </p:nvSpPr>
        <p:spPr>
          <a:xfrm>
            <a:off x="3861740"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nginx recibe /api y reenvía cada ruta al servicio que corresponde.</a:t>
            </a:r>
            <a:endParaRPr lang="en-US" sz="1050" dirty="0"/>
          </a:p>
        </p:txBody>
      </p:sp>
      <p:sp>
        <p:nvSpPr>
          <p:cNvPr id="109" name="Shape 107"/>
          <p:cNvSpPr/>
          <p:nvPr/>
        </p:nvSpPr>
        <p:spPr>
          <a:xfrm>
            <a:off x="6159856" y="5129784"/>
            <a:ext cx="2645588" cy="566928"/>
          </a:xfrm>
          <a:prstGeom prst="roundRect">
            <a:avLst>
              <a:gd name="adj" fmla="val 12903"/>
            </a:avLst>
          </a:prstGeom>
          <a:solidFill>
            <a:srgbClr val="E3F4FA"/>
          </a:solidFill>
          <a:ln w="9525">
            <a:solidFill>
              <a:srgbClr val="80CAE0"/>
            </a:solidFill>
            <a:prstDash val="solid"/>
          </a:ln>
        </p:spPr>
      </p:sp>
      <p:sp>
        <p:nvSpPr>
          <p:cNvPr id="110" name="Text 108"/>
          <p:cNvSpPr/>
          <p:nvPr/>
        </p:nvSpPr>
        <p:spPr>
          <a:xfrm>
            <a:off x="6251296"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111" name="Text 109"/>
          <p:cNvSpPr/>
          <p:nvPr/>
        </p:nvSpPr>
        <p:spPr>
          <a:xfrm>
            <a:off x="6635344"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La API de solicitudes recibe la petición y el dominio aplica las reglas.</a:t>
            </a:r>
            <a:endParaRPr lang="en-US" sz="1050" dirty="0"/>
          </a:p>
        </p:txBody>
      </p:sp>
      <p:sp>
        <p:nvSpPr>
          <p:cNvPr id="112" name="Shape 110"/>
          <p:cNvSpPr/>
          <p:nvPr/>
        </p:nvSpPr>
        <p:spPr>
          <a:xfrm>
            <a:off x="8933459" y="5129784"/>
            <a:ext cx="2645588" cy="566928"/>
          </a:xfrm>
          <a:prstGeom prst="roundRect">
            <a:avLst>
              <a:gd name="adj" fmla="val 12903"/>
            </a:avLst>
          </a:prstGeom>
          <a:solidFill>
            <a:srgbClr val="E3F4FA"/>
          </a:solidFill>
          <a:ln w="9525">
            <a:solidFill>
              <a:srgbClr val="80CAE0"/>
            </a:solidFill>
            <a:prstDash val="solid"/>
          </a:ln>
        </p:spPr>
      </p:sp>
      <p:sp>
        <p:nvSpPr>
          <p:cNvPr id="113" name="Text 111"/>
          <p:cNvSpPr/>
          <p:nvPr/>
        </p:nvSpPr>
        <p:spPr>
          <a:xfrm>
            <a:off x="9024899"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4</a:t>
            </a:r>
            <a:endParaRPr lang="en-US" sz="1100" dirty="0"/>
          </a:p>
        </p:txBody>
      </p:sp>
      <p:sp>
        <p:nvSpPr>
          <p:cNvPr id="114" name="Text 112"/>
          <p:cNvSpPr/>
          <p:nvPr/>
        </p:nvSpPr>
        <p:spPr>
          <a:xfrm>
            <a:off x="9408947"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En una sola transacción se guardan la solicitud y su evento pendiente.</a:t>
            </a:r>
            <a:endParaRPr lang="en-US" sz="1050" dirty="0"/>
          </a:p>
        </p:txBody>
      </p:sp>
      <p:sp>
        <p:nvSpPr>
          <p:cNvPr id="115" name="Shape 113"/>
          <p:cNvSpPr/>
          <p:nvPr/>
        </p:nvSpPr>
        <p:spPr>
          <a:xfrm>
            <a:off x="612648" y="5788152"/>
            <a:ext cx="2645588" cy="566928"/>
          </a:xfrm>
          <a:prstGeom prst="roundRect">
            <a:avLst>
              <a:gd name="adj" fmla="val 12903"/>
            </a:avLst>
          </a:prstGeom>
          <a:solidFill>
            <a:srgbClr val="E3F4FA"/>
          </a:solidFill>
          <a:ln w="9525">
            <a:solidFill>
              <a:srgbClr val="80CAE0"/>
            </a:solidFill>
            <a:prstDash val="solid"/>
          </a:ln>
        </p:spPr>
      </p:sp>
      <p:sp>
        <p:nvSpPr>
          <p:cNvPr id="116" name="Text 114"/>
          <p:cNvSpPr/>
          <p:nvPr/>
        </p:nvSpPr>
        <p:spPr>
          <a:xfrm>
            <a:off x="704088"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5</a:t>
            </a:r>
            <a:endParaRPr lang="en-US" sz="1100" dirty="0"/>
          </a:p>
        </p:txBody>
      </p:sp>
      <p:sp>
        <p:nvSpPr>
          <p:cNvPr id="117" name="Text 115"/>
          <p:cNvSpPr/>
          <p:nvPr/>
        </p:nvSpPr>
        <p:spPr>
          <a:xfrm>
            <a:off x="1088136" y="5815584"/>
            <a:ext cx="2096948" cy="512064"/>
          </a:xfrm>
          <a:prstGeom prst="rect">
            <a:avLst/>
          </a:prstGeom>
          <a:noFill/>
          <a:ln/>
        </p:spPr>
        <p:txBody>
          <a:bodyPr wrap="square" lIns="0" tIns="0" rIns="0" bIns="0" rtlCol="0" anchor="ctr">
            <a:normAutofit/>
          </a:bodyPr>
          <a:lstStyle/>
          <a:p>
            <a:pPr indent="0" marL="0">
              <a:buNone/>
            </a:pPr>
            <a:r>
              <a:rPr lang="en-US" sz="950" dirty="0">
                <a:solidFill>
                  <a:srgbClr val="0B1A3C"/>
                </a:solidFill>
                <a:latin typeface="Segoe UI" pitchFamily="34" charset="0"/>
                <a:ea typeface="Segoe UI" pitchFamily="34" charset="-122"/>
                <a:cs typeface="Segoe UI" pitchFamily="34" charset="-120"/>
              </a:rPr>
              <a:t>Cada 5 segundos, el relevador lee los pendientes y los entrega por HTTP, con el traceId.</a:t>
            </a:r>
            <a:endParaRPr lang="en-US" sz="950" dirty="0"/>
          </a:p>
        </p:txBody>
      </p:sp>
      <p:sp>
        <p:nvSpPr>
          <p:cNvPr id="118" name="Shape 116"/>
          <p:cNvSpPr/>
          <p:nvPr/>
        </p:nvSpPr>
        <p:spPr>
          <a:xfrm>
            <a:off x="3386252" y="5788152"/>
            <a:ext cx="2645588" cy="566928"/>
          </a:xfrm>
          <a:prstGeom prst="roundRect">
            <a:avLst>
              <a:gd name="adj" fmla="val 12903"/>
            </a:avLst>
          </a:prstGeom>
          <a:solidFill>
            <a:srgbClr val="E3F4FA"/>
          </a:solidFill>
          <a:ln w="9525">
            <a:solidFill>
              <a:srgbClr val="80CAE0"/>
            </a:solidFill>
            <a:prstDash val="solid"/>
          </a:ln>
        </p:spPr>
      </p:sp>
      <p:sp>
        <p:nvSpPr>
          <p:cNvPr id="119" name="Text 117"/>
          <p:cNvSpPr/>
          <p:nvPr/>
        </p:nvSpPr>
        <p:spPr>
          <a:xfrm>
            <a:off x="3477692"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6</a:t>
            </a:r>
            <a:endParaRPr lang="en-US" sz="1100" dirty="0"/>
          </a:p>
        </p:txBody>
      </p:sp>
      <p:sp>
        <p:nvSpPr>
          <p:cNvPr id="120" name="Text 118"/>
          <p:cNvSpPr/>
          <p:nvPr/>
        </p:nvSpPr>
        <p:spPr>
          <a:xfrm>
            <a:off x="3861740" y="5815584"/>
            <a:ext cx="2096948" cy="512064"/>
          </a:xfrm>
          <a:prstGeom prst="rect">
            <a:avLst/>
          </a:prstGeom>
          <a:noFill/>
          <a:ln/>
        </p:spPr>
        <p:txBody>
          <a:bodyPr wrap="square" lIns="0" tIns="0" rIns="0" bIns="0" rtlCol="0" anchor="ctr">
            <a:normAutofit/>
          </a:bodyPr>
          <a:lstStyle/>
          <a:p>
            <a:pPr indent="0" marL="0">
              <a:buNone/>
            </a:pPr>
            <a:r>
              <a:rPr lang="en-US" sz="950" dirty="0">
                <a:solidFill>
                  <a:srgbClr val="0B1A3C"/>
                </a:solidFill>
                <a:latin typeface="Segoe UI" pitchFamily="34" charset="0"/>
                <a:ea typeface="Segoe UI" pitchFamily="34" charset="-122"/>
                <a:cs typeface="Segoe UI" pitchFamily="34" charset="-120"/>
              </a:rPr>
              <a:t>Notificaciones revisa si el evento ya llegó; si es nuevo, crea el aviso y anota su número.</a:t>
            </a:r>
            <a:endParaRPr lang="en-US" sz="950" dirty="0"/>
          </a:p>
        </p:txBody>
      </p:sp>
      <p:sp>
        <p:nvSpPr>
          <p:cNvPr id="121" name="Shape 119"/>
          <p:cNvSpPr/>
          <p:nvPr/>
        </p:nvSpPr>
        <p:spPr>
          <a:xfrm>
            <a:off x="6159856" y="5788152"/>
            <a:ext cx="2645588" cy="566928"/>
          </a:xfrm>
          <a:prstGeom prst="roundRect">
            <a:avLst>
              <a:gd name="adj" fmla="val 12903"/>
            </a:avLst>
          </a:prstGeom>
          <a:solidFill>
            <a:srgbClr val="E3F4FA"/>
          </a:solidFill>
          <a:ln w="9525">
            <a:solidFill>
              <a:srgbClr val="80CAE0"/>
            </a:solidFill>
            <a:prstDash val="solid"/>
          </a:ln>
        </p:spPr>
      </p:sp>
      <p:sp>
        <p:nvSpPr>
          <p:cNvPr id="122" name="Text 120"/>
          <p:cNvSpPr/>
          <p:nvPr/>
        </p:nvSpPr>
        <p:spPr>
          <a:xfrm>
            <a:off x="6251296"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7</a:t>
            </a:r>
            <a:endParaRPr lang="en-US" sz="1100" dirty="0"/>
          </a:p>
        </p:txBody>
      </p:sp>
      <p:sp>
        <p:nvSpPr>
          <p:cNvPr id="123" name="Text 121"/>
          <p:cNvSpPr/>
          <p:nvPr/>
        </p:nvSpPr>
        <p:spPr>
          <a:xfrm>
            <a:off x="6635344" y="5815584"/>
            <a:ext cx="2096948" cy="512064"/>
          </a:xfrm>
          <a:prstGeom prst="rect">
            <a:avLst/>
          </a:prstGeom>
          <a:noFill/>
          <a:ln/>
        </p:spPr>
        <p:txBody>
          <a:bodyPr wrap="square" lIns="0" tIns="0" rIns="0" bIns="0" rtlCol="0" anchor="ctr">
            <a:normAutofit/>
          </a:bodyPr>
          <a:lstStyle/>
          <a:p>
            <a:pPr indent="0" marL="0">
              <a:buNone/>
            </a:pPr>
            <a:r>
              <a:rPr lang="en-US" sz="1000" dirty="0">
                <a:solidFill>
                  <a:srgbClr val="0B1A3C"/>
                </a:solidFill>
                <a:latin typeface="Segoe UI" pitchFamily="34" charset="0"/>
                <a:ea typeface="Segoe UI" pitchFamily="34" charset="-122"/>
                <a:cs typeface="Segoe UI" pitchFamily="34" charset="-120"/>
              </a:rPr>
              <a:t>Cada cambio en GitHub pasa por GitHub Actions, que prueba y publica las imágenes en GHCR.</a:t>
            </a:r>
            <a:endParaRPr lang="en-US" sz="1000" dirty="0"/>
          </a:p>
        </p:txBody>
      </p:sp>
      <p:sp>
        <p:nvSpPr>
          <p:cNvPr id="124" name="Shape 122"/>
          <p:cNvSpPr/>
          <p:nvPr/>
        </p:nvSpPr>
        <p:spPr>
          <a:xfrm>
            <a:off x="8933459" y="5788152"/>
            <a:ext cx="2645588" cy="566928"/>
          </a:xfrm>
          <a:prstGeom prst="roundRect">
            <a:avLst>
              <a:gd name="adj" fmla="val 12903"/>
            </a:avLst>
          </a:prstGeom>
          <a:solidFill>
            <a:srgbClr val="E3F4FA"/>
          </a:solidFill>
          <a:ln w="9525">
            <a:solidFill>
              <a:srgbClr val="80CAE0"/>
            </a:solidFill>
            <a:prstDash val="solid"/>
          </a:ln>
        </p:spPr>
      </p:sp>
      <p:sp>
        <p:nvSpPr>
          <p:cNvPr id="125" name="Text 123"/>
          <p:cNvSpPr/>
          <p:nvPr/>
        </p:nvSpPr>
        <p:spPr>
          <a:xfrm>
            <a:off x="9024899"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8</a:t>
            </a:r>
            <a:endParaRPr lang="en-US" sz="1100" dirty="0"/>
          </a:p>
        </p:txBody>
      </p:sp>
      <p:sp>
        <p:nvSpPr>
          <p:cNvPr id="126" name="Text 124"/>
          <p:cNvSpPr/>
          <p:nvPr/>
        </p:nvSpPr>
        <p:spPr>
          <a:xfrm>
            <a:off x="9408947" y="5815584"/>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Los logs de todos los contenedores llegan a Grafana a través de Promtail y Loki.</a:t>
            </a:r>
            <a:endParaRPr lang="en-US" sz="1050" dirty="0"/>
          </a:p>
        </p:txBody>
      </p:sp>
      <p:sp>
        <p:nvSpPr>
          <p:cNvPr id="127" name="Text 12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puertos y adaptadores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Hexagonal: el negocio al centro y cada tecnología conectada por un enchufe (puerto).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ug"/>
          <p:cNvSpPr/>
          <p:nvPr/>
        </p:nvSpPr>
        <p:spPr>
          <a:xfrm>
            <a:off x="900867" y="5911779"/>
            <a:ext cx="228234" cy="228234"/>
          </a:xfrm>
          <a:custGeom>
            <a:avLst/>
            <a:gdLst/>
            <a:ahLst/>
            <a:cxnLst/>
            <a:rect l="l" t="t" r="r" b="b"/>
            <a:pathLst>
              <a:path w="228234" h="228234">
                <a:moveTo>
                  <a:pt x="114117" y="209215"/>
                </a:moveTo>
                <a:lnTo>
                  <a:pt x="114117" y="161666"/>
                </a:lnTo>
                <a:moveTo>
                  <a:pt x="85588" y="76078"/>
                </a:moveTo>
                <a:lnTo>
                  <a:pt x="85588" y="19020"/>
                </a:lnTo>
                <a:moveTo>
                  <a:pt x="142646" y="76078"/>
                </a:moveTo>
                <a:lnTo>
                  <a:pt x="142646" y="19020"/>
                </a:lnTo>
                <a:moveTo>
                  <a:pt x="171176" y="76078"/>
                </a:moveTo>
                <a:lnTo>
                  <a:pt x="171176" y="123627"/>
                </a:lnTo>
                <a:cubicBezTo>
                  <a:pt x="171176" y="144635"/>
                  <a:pt x="154145" y="161666"/>
                  <a:pt x="133137" y="161666"/>
                </a:cubicBezTo>
                <a:lnTo>
                  <a:pt x="95098" y="161666"/>
                </a:lnTo>
                <a:cubicBezTo>
                  <a:pt x="74089" y="161666"/>
                  <a:pt x="57059" y="144635"/>
                  <a:pt x="57059" y="123627"/>
                </a:cubicBezTo>
                <a:lnTo>
                  <a:pt x="57059" y="76078"/>
                </a:ln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enchufe: el aparato no sabe de qué planta viene la electricidad, solo que el enchufe cumple la norma.</a:t>
            </a:r>
            <a:endParaRPr lang="en-US" sz="1450" dirty="0"/>
          </a:p>
        </p:txBody>
      </p:sp>
      <p:sp>
        <p:nvSpPr>
          <p:cNvPr id="18" name="Text 16"/>
          <p:cNvSpPr/>
          <p:nvPr/>
        </p:nvSpPr>
        <p:spPr>
          <a:xfrm>
            <a:off x="612648" y="1719072"/>
            <a:ext cx="228600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ENTRADA</a:t>
            </a:r>
            <a:endParaRPr lang="en-US" sz="1100" dirty="0"/>
          </a:p>
        </p:txBody>
      </p:sp>
      <p:sp>
        <p:nvSpPr>
          <p:cNvPr id="19" name="Text 17"/>
          <p:cNvSpPr/>
          <p:nvPr/>
        </p:nvSpPr>
        <p:spPr>
          <a:xfrm>
            <a:off x="3310128" y="1719072"/>
            <a:ext cx="2599639"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DOMINIO</a:t>
            </a:r>
            <a:endParaRPr lang="en-US" sz="1100" dirty="0"/>
          </a:p>
        </p:txBody>
      </p:sp>
      <p:sp>
        <p:nvSpPr>
          <p:cNvPr id="20" name="Text 18"/>
          <p:cNvSpPr/>
          <p:nvPr/>
        </p:nvSpPr>
        <p:spPr>
          <a:xfrm>
            <a:off x="6092647" y="1719072"/>
            <a:ext cx="260604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PUERTOS</a:t>
            </a:r>
            <a:endParaRPr lang="en-US" sz="1100" dirty="0"/>
          </a:p>
        </p:txBody>
      </p:sp>
      <p:sp>
        <p:nvSpPr>
          <p:cNvPr id="21" name="Text 19"/>
          <p:cNvSpPr/>
          <p:nvPr/>
        </p:nvSpPr>
        <p:spPr>
          <a:xfrm>
            <a:off x="9110167" y="1719072"/>
            <a:ext cx="246888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SALIDA</a:t>
            </a:r>
            <a:endParaRPr lang="en-US" sz="1100" dirty="0"/>
          </a:p>
        </p:txBody>
      </p:sp>
      <p:sp>
        <p:nvSpPr>
          <p:cNvPr id="22" name="Shape 20"/>
          <p:cNvSpPr/>
          <p:nvPr/>
        </p:nvSpPr>
        <p:spPr>
          <a:xfrm>
            <a:off x="3200400" y="2568623"/>
            <a:ext cx="2819095" cy="2507138"/>
          </a:xfrm>
          <a:prstGeom prst="hexagon">
            <a:avLst/>
          </a:prstGeom>
          <a:solidFill>
            <a:srgbClr val="E3F4FA"/>
          </a:solidFill>
          <a:ln w="19050">
            <a:solidFill>
              <a:srgbClr val="2BA6CB"/>
            </a:solidFill>
            <a:prstDash val="dash"/>
          </a:ln>
        </p:spPr>
      </p:sp>
      <p:sp>
        <p:nvSpPr>
          <p:cNvPr id="23" name="Shape 21"/>
          <p:cNvSpPr/>
          <p:nvPr/>
        </p:nvSpPr>
        <p:spPr>
          <a:xfrm>
            <a:off x="3310128" y="2678351"/>
            <a:ext cx="2599639" cy="2287682"/>
          </a:xfrm>
          <a:prstGeom prst="hexagon">
            <a:avLst/>
          </a:prstGeom>
          <a:solidFill>
            <a:srgbClr val="0B2350"/>
          </a:solidFill>
          <a:ln w="12700">
            <a:solidFill>
              <a:srgbClr val="0B2350"/>
            </a:solidFill>
            <a:prstDash val="solid"/>
          </a:ln>
          <a:effectLst>
            <a:outerShdw sx="100000" sy="100000" kx="0" ky="0" algn="bl" rotWithShape="0" blurRad="76200" dist="19050" dir="5400000">
              <a:srgbClr val="0B1F3A">
                <a:alpha val="14000"/>
              </a:srgbClr>
            </a:outerShdw>
          </a:effectLst>
        </p:spPr>
      </p:sp>
      <p:sp>
        <p:nvSpPr>
          <p:cNvPr id="24" name="Icono puzzle"/>
          <p:cNvSpPr/>
          <p:nvPr/>
        </p:nvSpPr>
        <p:spPr>
          <a:xfrm>
            <a:off x="4266795" y="3090134"/>
            <a:ext cx="686305" cy="686305"/>
          </a:xfrm>
          <a:custGeom>
            <a:avLst/>
            <a:gdLst/>
            <a:ahLst/>
            <a:cxnLst/>
            <a:rect l="l" t="t" r="r" b="b"/>
            <a:pathLst>
              <a:path w="686305" h="686305">
                <a:moveTo>
                  <a:pt x="440093" y="125537"/>
                </a:moveTo>
                <a:cubicBezTo>
                  <a:pt x="447412" y="132863"/>
                  <a:pt x="458121" y="135660"/>
                  <a:pt x="468089" y="132848"/>
                </a:cubicBezTo>
                <a:cubicBezTo>
                  <a:pt x="478056" y="130036"/>
                  <a:pt x="485724" y="122054"/>
                  <a:pt x="488134" y="111982"/>
                </a:cubicBezTo>
                <a:cubicBezTo>
                  <a:pt x="496349" y="77789"/>
                  <a:pt x="528210" y="54648"/>
                  <a:pt x="563267" y="57412"/>
                </a:cubicBezTo>
                <a:cubicBezTo>
                  <a:pt x="598324" y="60177"/>
                  <a:pt x="626164" y="88027"/>
                  <a:pt x="628917" y="123084"/>
                </a:cubicBezTo>
                <a:cubicBezTo>
                  <a:pt x="631670" y="158142"/>
                  <a:pt x="608518" y="189996"/>
                  <a:pt x="574323" y="198199"/>
                </a:cubicBezTo>
                <a:cubicBezTo>
                  <a:pt x="564251" y="200610"/>
                  <a:pt x="556269" y="208277"/>
                  <a:pt x="553457" y="218245"/>
                </a:cubicBezTo>
                <a:cubicBezTo>
                  <a:pt x="550645" y="228212"/>
                  <a:pt x="553441" y="238921"/>
                  <a:pt x="560768" y="246240"/>
                </a:cubicBezTo>
                <a:lnTo>
                  <a:pt x="608895" y="294339"/>
                </a:lnTo>
                <a:cubicBezTo>
                  <a:pt x="621842" y="307285"/>
                  <a:pt x="629115" y="324844"/>
                  <a:pt x="629115" y="343152"/>
                </a:cubicBezTo>
                <a:cubicBezTo>
                  <a:pt x="629115" y="361461"/>
                  <a:pt x="621842" y="379020"/>
                  <a:pt x="608895" y="391966"/>
                </a:cubicBezTo>
                <a:lnTo>
                  <a:pt x="560768" y="440093"/>
                </a:lnTo>
                <a:cubicBezTo>
                  <a:pt x="553449" y="447420"/>
                  <a:pt x="542740" y="450216"/>
                  <a:pt x="532773" y="447404"/>
                </a:cubicBezTo>
                <a:cubicBezTo>
                  <a:pt x="522805" y="444592"/>
                  <a:pt x="515137" y="436610"/>
                  <a:pt x="512727" y="426538"/>
                </a:cubicBezTo>
                <a:cubicBezTo>
                  <a:pt x="504513" y="392345"/>
                  <a:pt x="472651" y="369204"/>
                  <a:pt x="437594" y="371969"/>
                </a:cubicBezTo>
                <a:cubicBezTo>
                  <a:pt x="402537" y="374733"/>
                  <a:pt x="374697" y="402583"/>
                  <a:pt x="371944" y="437641"/>
                </a:cubicBezTo>
                <a:cubicBezTo>
                  <a:pt x="369191" y="472699"/>
                  <a:pt x="392343" y="504553"/>
                  <a:pt x="426538" y="512755"/>
                </a:cubicBezTo>
                <a:cubicBezTo>
                  <a:pt x="436610" y="515166"/>
                  <a:pt x="444592" y="522834"/>
                  <a:pt x="447404" y="532801"/>
                </a:cubicBezTo>
                <a:cubicBezTo>
                  <a:pt x="450216" y="542768"/>
                  <a:pt x="447420" y="553477"/>
                  <a:pt x="440093" y="560797"/>
                </a:cubicBezTo>
                <a:lnTo>
                  <a:pt x="391966" y="608895"/>
                </a:lnTo>
                <a:cubicBezTo>
                  <a:pt x="379020" y="621842"/>
                  <a:pt x="361461" y="629115"/>
                  <a:pt x="343152" y="629115"/>
                </a:cubicBezTo>
                <a:cubicBezTo>
                  <a:pt x="324844" y="629115"/>
                  <a:pt x="307285" y="621842"/>
                  <a:pt x="294339" y="608895"/>
                </a:cubicBezTo>
                <a:lnTo>
                  <a:pt x="246212" y="560768"/>
                </a:lnTo>
                <a:cubicBezTo>
                  <a:pt x="238892" y="553441"/>
                  <a:pt x="228184" y="550645"/>
                  <a:pt x="218216" y="553457"/>
                </a:cubicBezTo>
                <a:cubicBezTo>
                  <a:pt x="208249" y="556269"/>
                  <a:pt x="200581" y="564251"/>
                  <a:pt x="198170" y="574323"/>
                </a:cubicBezTo>
                <a:cubicBezTo>
                  <a:pt x="189956" y="608516"/>
                  <a:pt x="158095" y="631657"/>
                  <a:pt x="123038" y="628892"/>
                </a:cubicBezTo>
                <a:cubicBezTo>
                  <a:pt x="87981" y="626128"/>
                  <a:pt x="60140" y="598278"/>
                  <a:pt x="57387" y="563220"/>
                </a:cubicBezTo>
                <a:cubicBezTo>
                  <a:pt x="54634" y="528162"/>
                  <a:pt x="77786" y="496309"/>
                  <a:pt x="111982" y="488106"/>
                </a:cubicBezTo>
                <a:cubicBezTo>
                  <a:pt x="122054" y="485695"/>
                  <a:pt x="130036" y="478027"/>
                  <a:pt x="132848" y="468060"/>
                </a:cubicBezTo>
                <a:cubicBezTo>
                  <a:pt x="135660" y="458093"/>
                  <a:pt x="132863" y="447384"/>
                  <a:pt x="125537" y="440064"/>
                </a:cubicBezTo>
                <a:lnTo>
                  <a:pt x="77409" y="391966"/>
                </a:lnTo>
                <a:cubicBezTo>
                  <a:pt x="64463" y="379020"/>
                  <a:pt x="57190" y="361461"/>
                  <a:pt x="57190" y="343152"/>
                </a:cubicBezTo>
                <a:cubicBezTo>
                  <a:pt x="57190" y="324844"/>
                  <a:pt x="64463" y="307285"/>
                  <a:pt x="77409" y="294339"/>
                </a:cubicBezTo>
                <a:lnTo>
                  <a:pt x="125537" y="246212"/>
                </a:lnTo>
                <a:cubicBezTo>
                  <a:pt x="132856" y="238885"/>
                  <a:pt x="143565" y="236088"/>
                  <a:pt x="153532" y="238900"/>
                </a:cubicBezTo>
                <a:cubicBezTo>
                  <a:pt x="163500" y="241713"/>
                  <a:pt x="171167" y="249694"/>
                  <a:pt x="173578" y="259766"/>
                </a:cubicBezTo>
                <a:cubicBezTo>
                  <a:pt x="181792" y="293959"/>
                  <a:pt x="213654" y="317101"/>
                  <a:pt x="248711" y="314336"/>
                </a:cubicBezTo>
                <a:cubicBezTo>
                  <a:pt x="283768" y="311571"/>
                  <a:pt x="311608" y="283722"/>
                  <a:pt x="314361" y="248664"/>
                </a:cubicBezTo>
                <a:cubicBezTo>
                  <a:pt x="317114" y="213606"/>
                  <a:pt x="293962" y="181752"/>
                  <a:pt x="259766" y="173549"/>
                </a:cubicBezTo>
                <a:cubicBezTo>
                  <a:pt x="249694" y="171139"/>
                  <a:pt x="241713" y="163471"/>
                  <a:pt x="238900" y="153504"/>
                </a:cubicBezTo>
                <a:cubicBezTo>
                  <a:pt x="236088" y="143536"/>
                  <a:pt x="238885" y="132827"/>
                  <a:pt x="246212" y="125508"/>
                </a:cubicBezTo>
                <a:lnTo>
                  <a:pt x="294339" y="77409"/>
                </a:lnTo>
                <a:cubicBezTo>
                  <a:pt x="307285" y="64463"/>
                  <a:pt x="324844" y="57190"/>
                  <a:pt x="343152" y="57190"/>
                </a:cubicBezTo>
                <a:cubicBezTo>
                  <a:pt x="361461" y="57190"/>
                  <a:pt x="379020" y="64463"/>
                  <a:pt x="391966" y="77409"/>
                </a:cubicBezTo>
                <a:close/>
              </a:path>
            </a:pathLst>
          </a:custGeom>
          <a:noFill/>
          <a:ln w="50043" cap="rnd">
            <a:solidFill>
              <a:srgbClr val="2BA6CB"/>
            </a:solidFill>
            <a:prstDash val="solid"/>
            <a:round/>
          </a:ln>
        </p:spPr>
      </p:sp>
      <p:sp>
        <p:nvSpPr>
          <p:cNvPr id="25" name="Text 23"/>
          <p:cNvSpPr/>
          <p:nvPr/>
        </p:nvSpPr>
        <p:spPr>
          <a:xfrm>
            <a:off x="3584448" y="3849590"/>
            <a:ext cx="2050999" cy="457200"/>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Segoe UI Semibold" pitchFamily="34" charset="0"/>
                <a:ea typeface="Segoe UI Semibold" pitchFamily="34" charset="-122"/>
                <a:cs typeface="Segoe UI Semibold" pitchFamily="34" charset="-120"/>
              </a:rPr>
              <a:t>Dominio</a:t>
            </a:r>
            <a:endParaRPr lang="en-US" sz="2400" dirty="0"/>
          </a:p>
        </p:txBody>
      </p:sp>
      <p:sp>
        <p:nvSpPr>
          <p:cNvPr id="26" name="Text 24"/>
          <p:cNvSpPr/>
          <p:nvPr/>
        </p:nvSpPr>
        <p:spPr>
          <a:xfrm>
            <a:off x="3830056" y="4325078"/>
            <a:ext cx="1559784" cy="503795"/>
          </a:xfrm>
          <a:prstGeom prst="rect">
            <a:avLst/>
          </a:prstGeom>
          <a:noFill/>
          <a:ln/>
        </p:spPr>
        <p:txBody>
          <a:bodyPr wrap="square" lIns="0" tIns="0" rIns="0" bIns="0" rtlCol="0" anchor="t">
            <a:normAutofit/>
          </a:bodyPr>
          <a:lstStyle/>
          <a:p>
            <a:pPr algn="ctr" indent="0" marL="0">
              <a:buNone/>
            </a:pPr>
            <a:r>
              <a:rPr lang="en-US" sz="1100" dirty="0">
                <a:solidFill>
                  <a:srgbClr val="9FBEE0"/>
                </a:solidFill>
                <a:latin typeface="Segoe UI" pitchFamily="34" charset="0"/>
                <a:ea typeface="Segoe UI" pitchFamily="34" charset="-122"/>
                <a:cs typeface="Segoe UI" pitchFamily="34" charset="-120"/>
              </a:rPr>
              <a:t>Solicitud · ServicioDeSolicitudes</a:t>
            </a:r>
            <a:endParaRPr lang="en-US" sz="1100" dirty="0"/>
          </a:p>
        </p:txBody>
      </p:sp>
      <p:sp>
        <p:nvSpPr>
          <p:cNvPr id="27" name="Shape 25"/>
          <p:cNvSpPr/>
          <p:nvPr/>
        </p:nvSpPr>
        <p:spPr>
          <a:xfrm>
            <a:off x="612648" y="2834640"/>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3054096"/>
            <a:ext cx="475488" cy="475488"/>
          </a:xfrm>
          <a:prstGeom prst="ellipse">
            <a:avLst/>
          </a:prstGeom>
          <a:solidFill>
            <a:srgbClr val="F1EEFD"/>
          </a:solidFill>
          <a:ln w="12700">
            <a:solidFill>
              <a:srgbClr val="F1EEFD"/>
            </a:solidFill>
            <a:prstDash val="solid"/>
          </a:ln>
        </p:spPr>
      </p:sp>
      <p:sp>
        <p:nvSpPr>
          <p:cNvPr id="29" name="Icono code"/>
          <p:cNvSpPr/>
          <p:nvPr/>
        </p:nvSpPr>
        <p:spPr>
          <a:xfrm>
            <a:off x="854781" y="3168213"/>
            <a:ext cx="247254" cy="247254"/>
          </a:xfrm>
          <a:custGeom>
            <a:avLst/>
            <a:gdLst/>
            <a:ahLst/>
            <a:cxnLst/>
            <a:rect l="l" t="t" r="r" b="b"/>
            <a:pathLst>
              <a:path w="247254" h="247254">
                <a:moveTo>
                  <a:pt x="164836" y="185440"/>
                </a:moveTo>
                <a:lnTo>
                  <a:pt x="226649" y="123627"/>
                </a:lnTo>
                <a:lnTo>
                  <a:pt x="164836" y="61813"/>
                </a:lnTo>
                <a:moveTo>
                  <a:pt x="82418" y="61813"/>
                </a:moveTo>
                <a:lnTo>
                  <a:pt x="20604" y="123627"/>
                </a:lnTo>
                <a:lnTo>
                  <a:pt x="82418" y="185440"/>
                </a:lnTo>
              </a:path>
            </a:pathLst>
          </a:custGeom>
          <a:noFill/>
          <a:ln w="20604" cap="rnd">
            <a:solidFill>
              <a:srgbClr val="5B3FC4"/>
            </a:solidFill>
            <a:prstDash val="solid"/>
            <a:round/>
          </a:ln>
        </p:spPr>
      </p:sp>
      <p:sp>
        <p:nvSpPr>
          <p:cNvPr id="30" name="Text 28"/>
          <p:cNvSpPr/>
          <p:nvPr/>
        </p:nvSpPr>
        <p:spPr>
          <a:xfrm>
            <a:off x="1325880" y="2907792"/>
            <a:ext cx="1499616" cy="420624"/>
          </a:xfrm>
          <a:prstGeom prst="rect">
            <a:avLst/>
          </a:prstGeom>
          <a:noFill/>
          <a:ln/>
        </p:spPr>
        <p:txBody>
          <a:bodyPr wrap="square" lIns="0" tIns="0" rIns="0" bIns="0" rtlCol="0" anchor="b">
            <a:normAutofit/>
          </a:bodyPr>
          <a:lstStyle/>
          <a:p>
            <a:pPr algn="l" indent="0" marL="0">
              <a:buNone/>
            </a:pPr>
            <a:r>
              <a:rPr lang="en-US" sz="1050" b="1" dirty="0">
                <a:solidFill>
                  <a:srgbClr val="5B3FC4"/>
                </a:solidFill>
                <a:latin typeface="Segoe UI Semibold" pitchFamily="34" charset="0"/>
                <a:ea typeface="Segoe UI Semibold" pitchFamily="34" charset="-122"/>
                <a:cs typeface="Segoe UI Semibold" pitchFamily="34" charset="-120"/>
              </a:rPr>
              <a:t>SolicitudController</a:t>
            </a:r>
            <a:endParaRPr lang="en-US" sz="1050" dirty="0"/>
          </a:p>
        </p:txBody>
      </p:sp>
      <p:sp>
        <p:nvSpPr>
          <p:cNvPr id="31" name="Text 29"/>
          <p:cNvSpPr/>
          <p:nvPr/>
        </p:nvSpPr>
        <p:spPr>
          <a:xfrm>
            <a:off x="1325880" y="3310128"/>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REST · Swagger</a:t>
            </a:r>
            <a:endParaRPr lang="en-US" sz="1100" dirty="0"/>
          </a:p>
        </p:txBody>
      </p:sp>
      <p:sp>
        <p:nvSpPr>
          <p:cNvPr id="32" name="Shape 30"/>
          <p:cNvSpPr/>
          <p:nvPr/>
        </p:nvSpPr>
        <p:spPr>
          <a:xfrm>
            <a:off x="612648" y="3895344"/>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740664" y="4114800"/>
            <a:ext cx="475488" cy="475488"/>
          </a:xfrm>
          <a:prstGeom prst="ellipse">
            <a:avLst/>
          </a:prstGeom>
          <a:solidFill>
            <a:srgbClr val="F1EEFD"/>
          </a:solidFill>
          <a:ln w="12700">
            <a:solidFill>
              <a:srgbClr val="F1EEFD"/>
            </a:solidFill>
            <a:prstDash val="solid"/>
          </a:ln>
        </p:spPr>
      </p:sp>
      <p:sp>
        <p:nvSpPr>
          <p:cNvPr id="34" name="Icono shield-alert"/>
          <p:cNvSpPr/>
          <p:nvPr/>
        </p:nvSpPr>
        <p:spPr>
          <a:xfrm>
            <a:off x="854781" y="4228917"/>
            <a:ext cx="247254" cy="247254"/>
          </a:xfrm>
          <a:custGeom>
            <a:avLst/>
            <a:gdLst/>
            <a:ahLst/>
            <a:cxnLst/>
            <a:rect l="l" t="t" r="r" b="b"/>
            <a:pathLst>
              <a:path w="247254" h="247254">
                <a:moveTo>
                  <a:pt x="206045" y="133929"/>
                </a:moveTo>
                <a:cubicBezTo>
                  <a:pt x="206045" y="185440"/>
                  <a:pt x="169987" y="211196"/>
                  <a:pt x="127130" y="226134"/>
                </a:cubicBezTo>
                <a:cubicBezTo>
                  <a:pt x="124885" y="226895"/>
                  <a:pt x="122448" y="226858"/>
                  <a:pt x="120227" y="226031"/>
                </a:cubicBezTo>
                <a:cubicBezTo>
                  <a:pt x="77267" y="211196"/>
                  <a:pt x="41209" y="185440"/>
                  <a:pt x="41209" y="133929"/>
                </a:cubicBezTo>
                <a:lnTo>
                  <a:pt x="41209" y="61813"/>
                </a:lnTo>
                <a:cubicBezTo>
                  <a:pt x="41209" y="56124"/>
                  <a:pt x="45821" y="51511"/>
                  <a:pt x="51511" y="51511"/>
                </a:cubicBezTo>
                <a:cubicBezTo>
                  <a:pt x="72116" y="51511"/>
                  <a:pt x="97871" y="39149"/>
                  <a:pt x="115797" y="23489"/>
                </a:cubicBezTo>
                <a:cubicBezTo>
                  <a:pt x="120306" y="19637"/>
                  <a:pt x="126948" y="19637"/>
                  <a:pt x="131457" y="23489"/>
                </a:cubicBezTo>
                <a:cubicBezTo>
                  <a:pt x="149486" y="39252"/>
                  <a:pt x="175138" y="51511"/>
                  <a:pt x="195743" y="51511"/>
                </a:cubicBezTo>
                <a:cubicBezTo>
                  <a:pt x="201432" y="51511"/>
                  <a:pt x="206045" y="56124"/>
                  <a:pt x="206045" y="61813"/>
                </a:cubicBezTo>
                <a:close/>
                <a:moveTo>
                  <a:pt x="123627" y="82418"/>
                </a:moveTo>
                <a:lnTo>
                  <a:pt x="123627" y="123627"/>
                </a:lnTo>
                <a:moveTo>
                  <a:pt x="123627" y="164836"/>
                </a:moveTo>
                <a:lnTo>
                  <a:pt x="123730" y="164836"/>
                </a:lnTo>
              </a:path>
            </a:pathLst>
          </a:custGeom>
          <a:noFill/>
          <a:ln w="20604" cap="rnd">
            <a:solidFill>
              <a:srgbClr val="5B3FC4"/>
            </a:solidFill>
            <a:prstDash val="solid"/>
            <a:round/>
          </a:ln>
        </p:spPr>
      </p:sp>
      <p:sp>
        <p:nvSpPr>
          <p:cNvPr id="35" name="Text 33"/>
          <p:cNvSpPr/>
          <p:nvPr/>
        </p:nvSpPr>
        <p:spPr>
          <a:xfrm>
            <a:off x="1325880" y="3968496"/>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Manejador global</a:t>
            </a:r>
            <a:endParaRPr lang="en-US" sz="1350" dirty="0"/>
          </a:p>
        </p:txBody>
      </p:sp>
      <p:sp>
        <p:nvSpPr>
          <p:cNvPr id="36" name="Text 34"/>
          <p:cNvSpPr/>
          <p:nvPr/>
        </p:nvSpPr>
        <p:spPr>
          <a:xfrm>
            <a:off x="1325880" y="4370832"/>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Errores → HTTP</a:t>
            </a:r>
            <a:endParaRPr lang="en-US" sz="1100" dirty="0"/>
          </a:p>
        </p:txBody>
      </p:sp>
      <p:sp>
        <p:nvSpPr>
          <p:cNvPr id="37" name="Shape 35"/>
          <p:cNvSpPr/>
          <p:nvPr/>
        </p:nvSpPr>
        <p:spPr>
          <a:xfrm>
            <a:off x="2953512" y="3291840"/>
            <a:ext cx="210312" cy="72816"/>
          </a:xfrm>
          <a:prstGeom prst="line">
            <a:avLst/>
          </a:prstGeom>
          <a:noFill/>
          <a:ln w="28575">
            <a:solidFill>
              <a:srgbClr val="2E6DB4"/>
            </a:solidFill>
            <a:prstDash val="solid"/>
            <a:tailEnd type="triangle"/>
          </a:ln>
        </p:spPr>
      </p:sp>
      <p:sp>
        <p:nvSpPr>
          <p:cNvPr id="38" name="Shape 36"/>
          <p:cNvSpPr/>
          <p:nvPr/>
        </p:nvSpPr>
        <p:spPr>
          <a:xfrm flipV="1">
            <a:off x="2953512" y="4279728"/>
            <a:ext cx="210312" cy="72816"/>
          </a:xfrm>
          <a:prstGeom prst="line">
            <a:avLst/>
          </a:prstGeom>
          <a:noFill/>
          <a:ln w="28575">
            <a:solidFill>
              <a:srgbClr val="2E6DB4"/>
            </a:solidFill>
            <a:prstDash val="solid"/>
            <a:tailEnd type="triangle"/>
          </a:ln>
        </p:spPr>
      </p:sp>
      <p:sp>
        <p:nvSpPr>
          <p:cNvPr id="39" name="Shape 37"/>
          <p:cNvSpPr/>
          <p:nvPr/>
        </p:nvSpPr>
        <p:spPr>
          <a:xfrm>
            <a:off x="6092647" y="2825496"/>
            <a:ext cx="2606040" cy="566928"/>
          </a:xfrm>
          <a:prstGeom prst="roundRect">
            <a:avLst>
              <a:gd name="adj" fmla="val 12903"/>
            </a:avLst>
          </a:prstGeom>
          <a:solidFill>
            <a:srgbClr val="FFFFFF"/>
          </a:solidFill>
          <a:ln w="19050">
            <a:solidFill>
              <a:srgbClr val="2BA6CB"/>
            </a:solidFill>
            <a:prstDash val="dash"/>
          </a:ln>
        </p:spPr>
      </p:sp>
      <p:sp>
        <p:nvSpPr>
          <p:cNvPr id="40" name="Text 38"/>
          <p:cNvSpPr/>
          <p:nvPr/>
        </p:nvSpPr>
        <p:spPr>
          <a:xfrm>
            <a:off x="6165799" y="2825496"/>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RepositorioDeSolicitudes</a:t>
            </a:r>
            <a:endParaRPr lang="en-US" sz="850" dirty="0"/>
          </a:p>
        </p:txBody>
      </p:sp>
      <p:sp>
        <p:nvSpPr>
          <p:cNvPr id="41" name="Shape 39"/>
          <p:cNvSpPr/>
          <p:nvPr/>
        </p:nvSpPr>
        <p:spPr>
          <a:xfrm>
            <a:off x="5772607" y="3108960"/>
            <a:ext cx="301752" cy="0"/>
          </a:xfrm>
          <a:prstGeom prst="line">
            <a:avLst/>
          </a:prstGeom>
          <a:noFill/>
          <a:ln w="19050">
            <a:solidFill>
              <a:srgbClr val="2BA6CB"/>
            </a:solidFill>
            <a:prstDash val="solid"/>
            <a:tailEnd type="triangle"/>
          </a:ln>
        </p:spPr>
      </p:sp>
      <p:sp>
        <p:nvSpPr>
          <p:cNvPr id="42" name="Shape 40"/>
          <p:cNvSpPr/>
          <p:nvPr/>
        </p:nvSpPr>
        <p:spPr>
          <a:xfrm>
            <a:off x="6092647" y="3538728"/>
            <a:ext cx="2606040" cy="566928"/>
          </a:xfrm>
          <a:prstGeom prst="roundRect">
            <a:avLst>
              <a:gd name="adj" fmla="val 12903"/>
            </a:avLst>
          </a:prstGeom>
          <a:solidFill>
            <a:srgbClr val="FFFFFF"/>
          </a:solidFill>
          <a:ln w="19050">
            <a:solidFill>
              <a:srgbClr val="2BA6CB"/>
            </a:solidFill>
            <a:prstDash val="dash"/>
          </a:ln>
        </p:spPr>
      </p:sp>
      <p:sp>
        <p:nvSpPr>
          <p:cNvPr id="43" name="Text 41"/>
          <p:cNvSpPr/>
          <p:nvPr/>
        </p:nvSpPr>
        <p:spPr>
          <a:xfrm>
            <a:off x="6165799" y="3538728"/>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050" b="1" dirty="0">
                <a:solidFill>
                  <a:srgbClr val="0B6E8A"/>
                </a:solidFill>
                <a:latin typeface="Consolas" pitchFamily="34" charset="0"/>
                <a:ea typeface="Consolas" pitchFamily="34" charset="-122"/>
                <a:cs typeface="Consolas" pitchFamily="34" charset="-120"/>
              </a:rPr>
              <a:t>RegistradorDeEventosSalientes</a:t>
            </a:r>
            <a:endParaRPr lang="en-US" sz="850" dirty="0"/>
          </a:p>
        </p:txBody>
      </p:sp>
      <p:sp>
        <p:nvSpPr>
          <p:cNvPr id="44" name="Shape 42"/>
          <p:cNvSpPr/>
          <p:nvPr/>
        </p:nvSpPr>
        <p:spPr>
          <a:xfrm>
            <a:off x="5772607" y="3822192"/>
            <a:ext cx="301752" cy="0"/>
          </a:xfrm>
          <a:prstGeom prst="line">
            <a:avLst/>
          </a:prstGeom>
          <a:noFill/>
          <a:ln w="19050">
            <a:solidFill>
              <a:srgbClr val="2BA6CB"/>
            </a:solidFill>
            <a:prstDash val="solid"/>
            <a:tailEnd type="triangle"/>
          </a:ln>
        </p:spPr>
      </p:sp>
      <p:sp>
        <p:nvSpPr>
          <p:cNvPr id="45" name="Shape 43"/>
          <p:cNvSpPr/>
          <p:nvPr/>
        </p:nvSpPr>
        <p:spPr>
          <a:xfrm>
            <a:off x="6092647" y="4251960"/>
            <a:ext cx="2606040" cy="566928"/>
          </a:xfrm>
          <a:prstGeom prst="roundRect">
            <a:avLst>
              <a:gd name="adj" fmla="val 12903"/>
            </a:avLst>
          </a:prstGeom>
          <a:solidFill>
            <a:srgbClr val="FFFFFF"/>
          </a:solidFill>
          <a:ln w="19050">
            <a:solidFill>
              <a:srgbClr val="2BA6CB"/>
            </a:solidFill>
            <a:prstDash val="dash"/>
          </a:ln>
        </p:spPr>
      </p:sp>
      <p:sp>
        <p:nvSpPr>
          <p:cNvPr id="46" name="Text 44"/>
          <p:cNvSpPr/>
          <p:nvPr/>
        </p:nvSpPr>
        <p:spPr>
          <a:xfrm>
            <a:off x="6165799" y="4251960"/>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PublicadorDeEventos</a:t>
            </a:r>
            <a:endParaRPr lang="en-US" sz="850" dirty="0"/>
          </a:p>
        </p:txBody>
      </p:sp>
      <p:sp>
        <p:nvSpPr>
          <p:cNvPr id="47" name="Shape 45"/>
          <p:cNvSpPr/>
          <p:nvPr/>
        </p:nvSpPr>
        <p:spPr>
          <a:xfrm>
            <a:off x="5772607" y="4535424"/>
            <a:ext cx="301752" cy="0"/>
          </a:xfrm>
          <a:prstGeom prst="line">
            <a:avLst/>
          </a:prstGeom>
          <a:noFill/>
          <a:ln w="19050">
            <a:solidFill>
              <a:srgbClr val="2BA6CB"/>
            </a:solidFill>
            <a:prstDash val="solid"/>
            <a:tailEnd type="triangle"/>
          </a:ln>
        </p:spPr>
      </p:sp>
      <p:sp>
        <p:nvSpPr>
          <p:cNvPr id="48" name="Shape 46"/>
          <p:cNvSpPr/>
          <p:nvPr/>
        </p:nvSpPr>
        <p:spPr>
          <a:xfrm>
            <a:off x="9110167" y="2130552"/>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9238183" y="2260854"/>
            <a:ext cx="475488" cy="475488"/>
          </a:xfrm>
          <a:prstGeom prst="ellipse">
            <a:avLst/>
          </a:prstGeom>
          <a:solidFill>
            <a:srgbClr val="E8EEF8"/>
          </a:solidFill>
          <a:ln w="12700">
            <a:solidFill>
              <a:srgbClr val="E8EEF8"/>
            </a:solidFill>
            <a:prstDash val="solid"/>
          </a:ln>
        </p:spPr>
      </p:sp>
      <p:sp>
        <p:nvSpPr>
          <p:cNvPr id="50" name="Icono database"/>
          <p:cNvSpPr/>
          <p:nvPr/>
        </p:nvSpPr>
        <p:spPr>
          <a:xfrm>
            <a:off x="9352300" y="2374971"/>
            <a:ext cx="247254" cy="247254"/>
          </a:xfrm>
          <a:custGeom>
            <a:avLst/>
            <a:gdLst/>
            <a:ahLst/>
            <a:cxnLst/>
            <a:rect l="l" t="t" r="r" b="b"/>
            <a:pathLst>
              <a:path w="247254" h="247254">
                <a:moveTo>
                  <a:pt x="216347" y="51511"/>
                </a:moveTo>
                <a:cubicBezTo>
                  <a:pt x="216347" y="68581"/>
                  <a:pt x="174835" y="82418"/>
                  <a:pt x="123627" y="82418"/>
                </a:cubicBezTo>
                <a:cubicBezTo>
                  <a:pt x="72419" y="82418"/>
                  <a:pt x="30907" y="68581"/>
                  <a:pt x="30907" y="51511"/>
                </a:cubicBezTo>
                <a:cubicBezTo>
                  <a:pt x="30907" y="34442"/>
                  <a:pt x="72419" y="20604"/>
                  <a:pt x="123627" y="20604"/>
                </a:cubicBezTo>
                <a:cubicBezTo>
                  <a:pt x="174835" y="20604"/>
                  <a:pt x="216347" y="34442"/>
                  <a:pt x="216347" y="51511"/>
                </a:cubicBezTo>
                <a:close/>
                <a:moveTo>
                  <a:pt x="30907" y="51511"/>
                </a:moveTo>
                <a:lnTo>
                  <a:pt x="30907" y="195743"/>
                </a:lnTo>
                <a:cubicBezTo>
                  <a:pt x="30907" y="212812"/>
                  <a:pt x="72419" y="226649"/>
                  <a:pt x="123627" y="226649"/>
                </a:cubicBezTo>
                <a:cubicBezTo>
                  <a:pt x="174835" y="226649"/>
                  <a:pt x="216347" y="212812"/>
                  <a:pt x="216347" y="195743"/>
                </a:cubicBezTo>
                <a:lnTo>
                  <a:pt x="216347" y="51511"/>
                </a:lnTo>
                <a:moveTo>
                  <a:pt x="30907" y="123627"/>
                </a:moveTo>
                <a:cubicBezTo>
                  <a:pt x="30907" y="140696"/>
                  <a:pt x="72419" y="154534"/>
                  <a:pt x="123627" y="154534"/>
                </a:cubicBezTo>
                <a:cubicBezTo>
                  <a:pt x="174835" y="154534"/>
                  <a:pt x="216347" y="140696"/>
                  <a:pt x="216347" y="123627"/>
                </a:cubicBezTo>
              </a:path>
            </a:pathLst>
          </a:custGeom>
          <a:noFill/>
          <a:ln w="20604" cap="rnd">
            <a:solidFill>
              <a:srgbClr val="0B2350"/>
            </a:solidFill>
            <a:prstDash val="solid"/>
            <a:round/>
          </a:ln>
        </p:spPr>
      </p:sp>
      <p:sp>
        <p:nvSpPr>
          <p:cNvPr id="51" name="Text 49"/>
          <p:cNvSpPr/>
          <p:nvPr/>
        </p:nvSpPr>
        <p:spPr>
          <a:xfrm>
            <a:off x="9823399" y="2203704"/>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2350"/>
                </a:solidFill>
                <a:latin typeface="Segoe UI Semibold" pitchFamily="34" charset="0"/>
                <a:ea typeface="Segoe UI Semibold" pitchFamily="34" charset="-122"/>
                <a:cs typeface="Segoe UI Semibold" pitchFamily="34" charset="-120"/>
              </a:rPr>
              <a:t>RepositorioJpa</a:t>
            </a:r>
            <a:endParaRPr lang="en-US" sz="1350" dirty="0"/>
          </a:p>
        </p:txBody>
      </p:sp>
      <p:sp>
        <p:nvSpPr>
          <p:cNvPr id="52" name="Text 50"/>
          <p:cNvSpPr/>
          <p:nvPr/>
        </p:nvSpPr>
        <p:spPr>
          <a:xfrm>
            <a:off x="9823399" y="2516886"/>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@Primary · PostgreSQL</a:t>
            </a:r>
            <a:endParaRPr lang="en-US" sz="1100" dirty="0"/>
          </a:p>
        </p:txBody>
      </p:sp>
      <p:sp>
        <p:nvSpPr>
          <p:cNvPr id="53" name="Shape 51"/>
          <p:cNvSpPr/>
          <p:nvPr/>
        </p:nvSpPr>
        <p:spPr>
          <a:xfrm>
            <a:off x="9110167" y="3012948"/>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9238183" y="3143250"/>
            <a:ext cx="475488" cy="475488"/>
          </a:xfrm>
          <a:prstGeom prst="ellipse">
            <a:avLst/>
          </a:prstGeom>
          <a:solidFill>
            <a:srgbClr val="E8EEF8"/>
          </a:solidFill>
          <a:ln w="12700">
            <a:solidFill>
              <a:srgbClr val="E8EEF8"/>
            </a:solidFill>
            <a:prstDash val="solid"/>
          </a:ln>
        </p:spPr>
      </p:sp>
      <p:sp>
        <p:nvSpPr>
          <p:cNvPr id="55" name="Icono inbox"/>
          <p:cNvSpPr/>
          <p:nvPr/>
        </p:nvSpPr>
        <p:spPr>
          <a:xfrm>
            <a:off x="9352300" y="3257367"/>
            <a:ext cx="247254" cy="247254"/>
          </a:xfrm>
          <a:custGeom>
            <a:avLst/>
            <a:gdLst/>
            <a:ahLst/>
            <a:cxnLst/>
            <a:rect l="l" t="t" r="r" b="b"/>
            <a:pathLst>
              <a:path w="247254" h="247254">
                <a:moveTo>
                  <a:pt x="226649" y="123627"/>
                </a:moveTo>
                <a:lnTo>
                  <a:pt x="164836" y="123627"/>
                </a:lnTo>
                <a:lnTo>
                  <a:pt x="144231" y="154534"/>
                </a:lnTo>
                <a:lnTo>
                  <a:pt x="103022" y="154534"/>
                </a:lnTo>
                <a:lnTo>
                  <a:pt x="82418" y="123627"/>
                </a:lnTo>
                <a:lnTo>
                  <a:pt x="20604" y="123627"/>
                </a:lnTo>
                <a:moveTo>
                  <a:pt x="56147" y="52644"/>
                </a:moveTo>
                <a:lnTo>
                  <a:pt x="20604" y="123627"/>
                </a:lnTo>
                <a:lnTo>
                  <a:pt x="20604" y="185440"/>
                </a:lnTo>
                <a:cubicBezTo>
                  <a:pt x="20604" y="196820"/>
                  <a:pt x="29829" y="206045"/>
                  <a:pt x="41209" y="206045"/>
                </a:cubicBezTo>
                <a:lnTo>
                  <a:pt x="206045" y="206045"/>
                </a:lnTo>
                <a:cubicBezTo>
                  <a:pt x="217424" y="206045"/>
                  <a:pt x="226649" y="196820"/>
                  <a:pt x="226649" y="185440"/>
                </a:cubicBezTo>
                <a:lnTo>
                  <a:pt x="226649" y="123627"/>
                </a:lnTo>
                <a:lnTo>
                  <a:pt x="191107" y="52644"/>
                </a:lnTo>
                <a:cubicBezTo>
                  <a:pt x="187627" y="45642"/>
                  <a:pt x="180484" y="41213"/>
                  <a:pt x="172666" y="41209"/>
                </a:cubicBezTo>
                <a:lnTo>
                  <a:pt x="74588" y="41209"/>
                </a:lnTo>
                <a:cubicBezTo>
                  <a:pt x="66769" y="41213"/>
                  <a:pt x="59627" y="45642"/>
                  <a:pt x="56147" y="52644"/>
                </a:cubicBezTo>
                <a:close/>
              </a:path>
            </a:pathLst>
          </a:custGeom>
          <a:noFill/>
          <a:ln w="20604" cap="rnd">
            <a:solidFill>
              <a:srgbClr val="0B2350"/>
            </a:solidFill>
            <a:prstDash val="solid"/>
            <a:round/>
          </a:ln>
        </p:spPr>
      </p:sp>
      <p:sp>
        <p:nvSpPr>
          <p:cNvPr id="56" name="Text 54"/>
          <p:cNvSpPr/>
          <p:nvPr/>
        </p:nvSpPr>
        <p:spPr>
          <a:xfrm>
            <a:off x="9823399" y="3086100"/>
            <a:ext cx="1682496" cy="331470"/>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Bandeja de salida</a:t>
            </a:r>
            <a:endParaRPr lang="en-US" sz="1300" dirty="0"/>
          </a:p>
        </p:txBody>
      </p:sp>
      <p:sp>
        <p:nvSpPr>
          <p:cNvPr id="57" name="Text 55"/>
          <p:cNvSpPr/>
          <p:nvPr/>
        </p:nvSpPr>
        <p:spPr>
          <a:xfrm>
            <a:off x="9823399" y="3399282"/>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Tabla evento</a:t>
            </a:r>
            <a:endParaRPr lang="en-US" sz="1100" dirty="0"/>
          </a:p>
        </p:txBody>
      </p:sp>
      <p:sp>
        <p:nvSpPr>
          <p:cNvPr id="58" name="Shape 56"/>
          <p:cNvSpPr/>
          <p:nvPr/>
        </p:nvSpPr>
        <p:spPr>
          <a:xfrm>
            <a:off x="9110167" y="3895344"/>
            <a:ext cx="2468880" cy="736092"/>
          </a:xfrm>
          <a:prstGeom prst="roundRect">
            <a:avLst>
              <a:gd name="adj" fmla="val 17391"/>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9" name="Shape 57"/>
          <p:cNvSpPr/>
          <p:nvPr/>
        </p:nvSpPr>
        <p:spPr>
          <a:xfrm>
            <a:off x="9238183" y="4025646"/>
            <a:ext cx="475488" cy="475488"/>
          </a:xfrm>
          <a:prstGeom prst="ellipse">
            <a:avLst/>
          </a:prstGeom>
          <a:solidFill>
            <a:srgbClr val="E3F4FA"/>
          </a:solidFill>
          <a:ln w="12700">
            <a:solidFill>
              <a:srgbClr val="E3F4FA"/>
            </a:solidFill>
            <a:prstDash val="solid"/>
          </a:ln>
        </p:spPr>
      </p:sp>
      <p:sp>
        <p:nvSpPr>
          <p:cNvPr id="60" name="Icono send"/>
          <p:cNvSpPr/>
          <p:nvPr/>
        </p:nvSpPr>
        <p:spPr>
          <a:xfrm>
            <a:off x="9352300" y="4139763"/>
            <a:ext cx="247254" cy="247254"/>
          </a:xfrm>
          <a:custGeom>
            <a:avLst/>
            <a:gdLst/>
            <a:ahLst/>
            <a:cxnLst/>
            <a:rect l="l" t="t" r="r" b="b"/>
            <a:pathLst>
              <a:path w="247254" h="247254">
                <a:moveTo>
                  <a:pt x="149753" y="223414"/>
                </a:moveTo>
                <a:cubicBezTo>
                  <a:pt x="150555" y="225412"/>
                  <a:pt x="152514" y="226701"/>
                  <a:pt x="154666" y="226646"/>
                </a:cubicBezTo>
                <a:cubicBezTo>
                  <a:pt x="156818" y="226590"/>
                  <a:pt x="158708" y="225203"/>
                  <a:pt x="159407" y="223167"/>
                </a:cubicBezTo>
                <a:lnTo>
                  <a:pt x="226371" y="27425"/>
                </a:lnTo>
                <a:cubicBezTo>
                  <a:pt x="227044" y="25561"/>
                  <a:pt x="226579" y="23476"/>
                  <a:pt x="225178" y="22075"/>
                </a:cubicBezTo>
                <a:cubicBezTo>
                  <a:pt x="223777" y="20674"/>
                  <a:pt x="221693" y="20210"/>
                  <a:pt x="219829" y="20883"/>
                </a:cubicBezTo>
                <a:lnTo>
                  <a:pt x="24087" y="87847"/>
                </a:lnTo>
                <a:cubicBezTo>
                  <a:pt x="22051" y="88545"/>
                  <a:pt x="20663" y="90436"/>
                  <a:pt x="20608" y="92588"/>
                </a:cubicBezTo>
                <a:cubicBezTo>
                  <a:pt x="20553" y="94740"/>
                  <a:pt x="21842" y="96699"/>
                  <a:pt x="23839" y="97500"/>
                </a:cubicBezTo>
                <a:lnTo>
                  <a:pt x="105536" y="130262"/>
                </a:lnTo>
                <a:cubicBezTo>
                  <a:pt x="110755" y="132351"/>
                  <a:pt x="114893" y="136482"/>
                  <a:pt x="116992" y="141697"/>
                </a:cubicBezTo>
                <a:close/>
                <a:moveTo>
                  <a:pt x="225145" y="22119"/>
                </a:moveTo>
                <a:lnTo>
                  <a:pt x="112439" y="134815"/>
                </a:lnTo>
              </a:path>
            </a:pathLst>
          </a:custGeom>
          <a:noFill/>
          <a:ln w="20604" cap="rnd">
            <a:solidFill>
              <a:srgbClr val="0B6E8A"/>
            </a:solidFill>
            <a:prstDash val="solid"/>
            <a:round/>
          </a:ln>
        </p:spPr>
      </p:sp>
      <p:sp>
        <p:nvSpPr>
          <p:cNvPr id="61" name="Text 59"/>
          <p:cNvSpPr/>
          <p:nvPr/>
        </p:nvSpPr>
        <p:spPr>
          <a:xfrm>
            <a:off x="9823399" y="3968496"/>
            <a:ext cx="1682496" cy="331470"/>
          </a:xfrm>
          <a:prstGeom prst="rect">
            <a:avLst/>
          </a:prstGeom>
          <a:noFill/>
          <a:ln/>
        </p:spPr>
        <p:txBody>
          <a:bodyPr wrap="square" lIns="0" tIns="0" rIns="0" bIns="0" rtlCol="0" anchor="b">
            <a:normAutofit/>
          </a:bodyPr>
          <a:lstStyle/>
          <a:p>
            <a:pPr algn="l" indent="0" marL="0">
              <a:buNone/>
            </a:pPr>
            <a:r>
              <a:rPr lang="en-US" sz="1000" b="1" dirty="0">
                <a:solidFill>
                  <a:srgbClr val="0B6E8A"/>
                </a:solidFill>
                <a:latin typeface="Segoe UI Semibold" pitchFamily="34" charset="0"/>
                <a:ea typeface="Segoe UI Semibold" pitchFamily="34" charset="-122"/>
                <a:cs typeface="Segoe UI Semibold" pitchFamily="34" charset="-120"/>
              </a:rPr>
              <a:t>PublicadorConReintento</a:t>
            </a:r>
            <a:endParaRPr lang="en-US" sz="1000" dirty="0"/>
          </a:p>
        </p:txBody>
      </p:sp>
      <p:sp>
        <p:nvSpPr>
          <p:cNvPr id="62" name="Text 60"/>
          <p:cNvSpPr/>
          <p:nvPr/>
        </p:nvSpPr>
        <p:spPr>
          <a:xfrm>
            <a:off x="9823399" y="4281678"/>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@Primary · HTTP</a:t>
            </a:r>
            <a:endParaRPr lang="en-US" sz="1100" dirty="0"/>
          </a:p>
        </p:txBody>
      </p:sp>
      <p:sp>
        <p:nvSpPr>
          <p:cNvPr id="63" name="Shape 61"/>
          <p:cNvSpPr/>
          <p:nvPr/>
        </p:nvSpPr>
        <p:spPr>
          <a:xfrm>
            <a:off x="9110167" y="4777740"/>
            <a:ext cx="2468880" cy="736092"/>
          </a:xfrm>
          <a:prstGeom prst="roundRect">
            <a:avLst>
              <a:gd name="adj" fmla="val 17391"/>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9238183" y="4908042"/>
            <a:ext cx="475488" cy="475488"/>
          </a:xfrm>
          <a:prstGeom prst="ellipse">
            <a:avLst/>
          </a:prstGeom>
          <a:solidFill>
            <a:srgbClr val="F4F7FB"/>
          </a:solidFill>
          <a:ln w="12700">
            <a:solidFill>
              <a:srgbClr val="F4F7FB"/>
            </a:solidFill>
            <a:prstDash val="solid"/>
          </a:ln>
        </p:spPr>
      </p:sp>
      <p:sp>
        <p:nvSpPr>
          <p:cNvPr id="65" name="Icono flask-conical"/>
          <p:cNvSpPr/>
          <p:nvPr/>
        </p:nvSpPr>
        <p:spPr>
          <a:xfrm>
            <a:off x="9352300" y="5022159"/>
            <a:ext cx="247254" cy="247254"/>
          </a:xfrm>
          <a:custGeom>
            <a:avLst/>
            <a:gdLst/>
            <a:ahLst/>
            <a:cxnLst/>
            <a:rect l="l" t="t" r="r" b="b"/>
            <a:pathLst>
              <a:path w="247254" h="247254">
                <a:moveTo>
                  <a:pt x="144231" y="20604"/>
                </a:moveTo>
                <a:lnTo>
                  <a:pt x="144231" y="82418"/>
                </a:lnTo>
                <a:cubicBezTo>
                  <a:pt x="144230" y="85874"/>
                  <a:pt x="145098" y="89275"/>
                  <a:pt x="146755" y="92308"/>
                </a:cubicBezTo>
                <a:lnTo>
                  <a:pt x="203521" y="196155"/>
                </a:lnTo>
                <a:cubicBezTo>
                  <a:pt x="207014" y="202539"/>
                  <a:pt x="206880" y="210293"/>
                  <a:pt x="203169" y="216553"/>
                </a:cubicBezTo>
                <a:cubicBezTo>
                  <a:pt x="199457" y="222813"/>
                  <a:pt x="192718" y="226651"/>
                  <a:pt x="185440" y="226649"/>
                </a:cubicBezTo>
                <a:lnTo>
                  <a:pt x="61813" y="226649"/>
                </a:lnTo>
                <a:cubicBezTo>
                  <a:pt x="54536" y="226651"/>
                  <a:pt x="47797" y="222813"/>
                  <a:pt x="44085" y="216553"/>
                </a:cubicBezTo>
                <a:cubicBezTo>
                  <a:pt x="40374" y="210293"/>
                  <a:pt x="40240" y="202539"/>
                  <a:pt x="43733" y="196155"/>
                </a:cubicBezTo>
                <a:lnTo>
                  <a:pt x="100498" y="92308"/>
                </a:lnTo>
                <a:cubicBezTo>
                  <a:pt x="102156" y="89275"/>
                  <a:pt x="103024" y="85874"/>
                  <a:pt x="103022" y="82418"/>
                </a:cubicBezTo>
                <a:lnTo>
                  <a:pt x="103022" y="20604"/>
                </a:lnTo>
                <a:moveTo>
                  <a:pt x="66480" y="154534"/>
                </a:moveTo>
                <a:lnTo>
                  <a:pt x="180773" y="154534"/>
                </a:lnTo>
                <a:moveTo>
                  <a:pt x="87569" y="20604"/>
                </a:moveTo>
                <a:lnTo>
                  <a:pt x="159685" y="20604"/>
                </a:lnTo>
              </a:path>
            </a:pathLst>
          </a:custGeom>
          <a:noFill/>
          <a:ln w="20604" cap="rnd">
            <a:solidFill>
              <a:srgbClr val="55627E"/>
            </a:solidFill>
            <a:prstDash val="solid"/>
            <a:round/>
          </a:ln>
        </p:spPr>
      </p:sp>
      <p:sp>
        <p:nvSpPr>
          <p:cNvPr id="66" name="Text 64"/>
          <p:cNvSpPr/>
          <p:nvPr/>
        </p:nvSpPr>
        <p:spPr>
          <a:xfrm>
            <a:off x="9823399" y="4850892"/>
            <a:ext cx="1682496" cy="331470"/>
          </a:xfrm>
          <a:prstGeom prst="rect">
            <a:avLst/>
          </a:prstGeom>
          <a:noFill/>
          <a:ln/>
        </p:spPr>
        <p:txBody>
          <a:bodyPr wrap="square" lIns="0" tIns="0" rIns="0" bIns="0" rtlCol="0" anchor="b">
            <a:normAutofit/>
          </a:bodyPr>
          <a:lstStyle/>
          <a:p>
            <a:pPr algn="l" indent="0" marL="0">
              <a:buNone/>
            </a:pPr>
            <a:r>
              <a:rPr lang="en-US" sz="1100" b="1" dirty="0">
                <a:solidFill>
                  <a:srgbClr val="55627E"/>
                </a:solidFill>
                <a:latin typeface="Segoe UI Semibold" pitchFamily="34" charset="0"/>
                <a:ea typeface="Segoe UI Semibold" pitchFamily="34" charset="-122"/>
                <a:cs typeface="Segoe UI Semibold" pitchFamily="34" charset="-120"/>
              </a:rPr>
              <a:t>RepositorioEnMemoria</a:t>
            </a:r>
            <a:endParaRPr lang="en-US" sz="1100" dirty="0"/>
          </a:p>
        </p:txBody>
      </p:sp>
      <p:sp>
        <p:nvSpPr>
          <p:cNvPr id="67" name="Text 65"/>
          <p:cNvSpPr/>
          <p:nvPr/>
        </p:nvSpPr>
        <p:spPr>
          <a:xfrm>
            <a:off x="9823399" y="5164074"/>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Para las pruebas</a:t>
            </a:r>
            <a:endParaRPr lang="en-US" sz="1100" dirty="0"/>
          </a:p>
        </p:txBody>
      </p:sp>
      <p:sp>
        <p:nvSpPr>
          <p:cNvPr id="68" name="Shape 66"/>
          <p:cNvSpPr/>
          <p:nvPr/>
        </p:nvSpPr>
        <p:spPr>
          <a:xfrm flipH="1">
            <a:off x="8753551" y="2498598"/>
            <a:ext cx="301752" cy="418338"/>
          </a:xfrm>
          <a:prstGeom prst="line">
            <a:avLst/>
          </a:prstGeom>
          <a:noFill/>
          <a:ln w="19050">
            <a:solidFill>
              <a:srgbClr val="55627E"/>
            </a:solidFill>
            <a:prstDash val="dash"/>
            <a:tailEnd type="triangle"/>
          </a:ln>
        </p:spPr>
      </p:sp>
      <p:sp>
        <p:nvSpPr>
          <p:cNvPr id="69" name="Shape 67"/>
          <p:cNvSpPr/>
          <p:nvPr/>
        </p:nvSpPr>
        <p:spPr>
          <a:xfrm flipH="1">
            <a:off x="8753551" y="3380994"/>
            <a:ext cx="301752" cy="0"/>
          </a:xfrm>
          <a:prstGeom prst="line">
            <a:avLst/>
          </a:prstGeom>
          <a:noFill/>
          <a:ln w="19050">
            <a:solidFill>
              <a:srgbClr val="55627E"/>
            </a:solidFill>
            <a:prstDash val="dash"/>
            <a:tailEnd type="triangle"/>
          </a:ln>
        </p:spPr>
      </p:sp>
      <p:sp>
        <p:nvSpPr>
          <p:cNvPr id="70" name="Shape 68"/>
          <p:cNvSpPr/>
          <p:nvPr/>
        </p:nvSpPr>
        <p:spPr>
          <a:xfrm flipH="1">
            <a:off x="8753551" y="4263390"/>
            <a:ext cx="301752" cy="0"/>
          </a:xfrm>
          <a:prstGeom prst="line">
            <a:avLst/>
          </a:prstGeom>
          <a:noFill/>
          <a:ln w="19050">
            <a:solidFill>
              <a:srgbClr val="55627E"/>
            </a:solidFill>
            <a:prstDash val="dash"/>
            <a:tailEnd type="triangle"/>
          </a:ln>
        </p:spPr>
      </p:sp>
      <p:sp>
        <p:nvSpPr>
          <p:cNvPr id="71" name="Shape 69"/>
          <p:cNvSpPr/>
          <p:nvPr/>
        </p:nvSpPr>
        <p:spPr>
          <a:xfrm flipH="1" flipV="1">
            <a:off x="8753551" y="4727448"/>
            <a:ext cx="301752" cy="418338"/>
          </a:xfrm>
          <a:prstGeom prst="line">
            <a:avLst/>
          </a:prstGeom>
          <a:noFill/>
          <a:ln w="19050">
            <a:solidFill>
              <a:srgbClr val="55627E"/>
            </a:solidFill>
            <a:prstDash val="dash"/>
            <a:tailEnd type="triangle"/>
          </a:ln>
        </p:spPr>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puertos y adaptadores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servicio-solicitudes/…/config/ConfiguracionDominio.java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600" dirty="0">
                <a:solidFill>
                  <a:srgbClr val="FFB38A"/>
                </a:solidFill>
                <a:latin typeface="Consolas" pitchFamily="34" charset="0"/>
                <a:ea typeface="Consolas" pitchFamily="34" charset="-122"/>
                <a:cs typeface="Consolas" pitchFamily="34" charset="-120"/>
              </a:rPr>
              <a:t>@Bean</a:t>
            </a:r>
            <a:endParaRPr lang="en-US" sz="1600" dirty="0"/>
          </a:p>
          <a:p>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servicioDeSolicitudes(</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RepositorioDeSolicitudes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repositorio,      </a:t>
            </a:r>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RepositorioJpa (@Primary)</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PublicadorDeEventos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publicador,            </a:t>
            </a:r>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PublicadorConReintento (@Primary)</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RegistradorDeEventosSalientes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registrador) {</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(repositorio, publicador, registrador);</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a:t>
            </a:r>
            <a:endParaRPr lang="en-US" sz="16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¿Monolito o microservicios?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Separar se decide por el negocio, no por moda.</a:t>
            </a:r>
            <a:endParaRPr lang="en-US" sz="1700" dirty="0"/>
          </a:p>
        </p:txBody>
      </p:sp>
      <p:sp>
        <p:nvSpPr>
          <p:cNvPr id="14" name="Shape 12"/>
          <p:cNvSpPr/>
          <p:nvPr/>
        </p:nvSpPr>
        <p:spPr>
          <a:xfrm>
            <a:off x="61264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16" name="Shape 14"/>
          <p:cNvSpPr/>
          <p:nvPr/>
        </p:nvSpPr>
        <p:spPr>
          <a:xfrm>
            <a:off x="612648" y="2267712"/>
            <a:ext cx="5163160" cy="365760"/>
          </a:xfrm>
          <a:prstGeom prst="rect">
            <a:avLst/>
          </a:prstGeom>
          <a:solidFill>
            <a:srgbClr val="55627E"/>
          </a:solidFill>
          <a:ln w="12700">
            <a:solidFill>
              <a:srgbClr val="55627E"/>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box"/>
          <p:cNvSpPr/>
          <p:nvPr/>
        </p:nvSpPr>
        <p:spPr>
          <a:xfrm>
            <a:off x="986089" y="2019361"/>
            <a:ext cx="313822" cy="313822"/>
          </a:xfrm>
          <a:custGeom>
            <a:avLst/>
            <a:gdLst/>
            <a:ahLst/>
            <a:cxnLst/>
            <a:rect l="l" t="t" r="r" b="b"/>
            <a:pathLst>
              <a:path w="313822" h="313822">
                <a:moveTo>
                  <a:pt x="274594" y="104607"/>
                </a:moveTo>
                <a:cubicBezTo>
                  <a:pt x="274585" y="95274"/>
                  <a:pt x="269602" y="86653"/>
                  <a:pt x="261518" y="81986"/>
                </a:cubicBezTo>
                <a:lnTo>
                  <a:pt x="169987" y="29682"/>
                </a:lnTo>
                <a:cubicBezTo>
                  <a:pt x="161896" y="25011"/>
                  <a:pt x="151927" y="25011"/>
                  <a:pt x="143835" y="29682"/>
                </a:cubicBezTo>
                <a:lnTo>
                  <a:pt x="52304" y="81986"/>
                </a:lnTo>
                <a:cubicBezTo>
                  <a:pt x="44221" y="86653"/>
                  <a:pt x="39237" y="95274"/>
                  <a:pt x="39228" y="104607"/>
                </a:cubicBezTo>
                <a:lnTo>
                  <a:pt x="39228" y="209215"/>
                </a:lnTo>
                <a:cubicBezTo>
                  <a:pt x="39237" y="218548"/>
                  <a:pt x="44221" y="227169"/>
                  <a:pt x="52304" y="231836"/>
                </a:cubicBezTo>
                <a:lnTo>
                  <a:pt x="143835" y="284140"/>
                </a:lnTo>
                <a:cubicBezTo>
                  <a:pt x="151927" y="288811"/>
                  <a:pt x="161896" y="288811"/>
                  <a:pt x="169987" y="284140"/>
                </a:cubicBezTo>
                <a:lnTo>
                  <a:pt x="261518" y="231836"/>
                </a:lnTo>
                <a:cubicBezTo>
                  <a:pt x="269602" y="227169"/>
                  <a:pt x="274585" y="218548"/>
                  <a:pt x="274594" y="209215"/>
                </a:cubicBezTo>
                <a:close/>
                <a:moveTo>
                  <a:pt x="43151" y="91531"/>
                </a:moveTo>
                <a:lnTo>
                  <a:pt x="156911" y="156911"/>
                </a:lnTo>
                <a:lnTo>
                  <a:pt x="270672" y="91531"/>
                </a:lnTo>
                <a:moveTo>
                  <a:pt x="156911" y="287670"/>
                </a:moveTo>
                <a:lnTo>
                  <a:pt x="156911" y="156911"/>
                </a:lnTo>
              </a:path>
            </a:pathLst>
          </a:custGeom>
          <a:noFill/>
          <a:ln w="26152" cap="rnd">
            <a:solidFill>
              <a:srgbClr val="55627E"/>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Conviene un monolito</a:t>
            </a:r>
            <a:endParaRPr lang="en-US" sz="1900" dirty="0"/>
          </a:p>
        </p:txBody>
      </p:sp>
      <p:sp>
        <p:nvSpPr>
          <p:cNvPr id="20"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1" name="Text 19"/>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partes cambian juntas</a:t>
            </a:r>
            <a:endParaRPr lang="en-US" sz="1500" dirty="0"/>
          </a:p>
        </p:txBody>
      </p:sp>
      <p:sp>
        <p:nvSpPr>
          <p:cNvPr id="22" name="Shape 20"/>
          <p:cNvSpPr/>
          <p:nvPr/>
        </p:nvSpPr>
        <p:spPr>
          <a:xfrm>
            <a:off x="886968" y="3593592"/>
            <a:ext cx="4614520" cy="0"/>
          </a:xfrm>
          <a:prstGeom prst="line">
            <a:avLst/>
          </a:prstGeom>
          <a:noFill/>
          <a:ln w="9525">
            <a:solidFill>
              <a:srgbClr val="DFE6F0"/>
            </a:solidFill>
            <a:prstDash val="solid"/>
          </a:ln>
        </p:spPr>
      </p:sp>
      <p:sp>
        <p:nvSpPr>
          <p:cNvPr id="23"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4" name="Text 22"/>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 publica todo junto</a:t>
            </a:r>
            <a:endParaRPr lang="en-US" sz="1500" dirty="0"/>
          </a:p>
        </p:txBody>
      </p:sp>
      <p:sp>
        <p:nvSpPr>
          <p:cNvPr id="25" name="Shape 23"/>
          <p:cNvSpPr/>
          <p:nvPr/>
        </p:nvSpPr>
        <p:spPr>
          <a:xfrm>
            <a:off x="886968" y="4370832"/>
            <a:ext cx="4614520" cy="0"/>
          </a:xfrm>
          <a:prstGeom prst="line">
            <a:avLst/>
          </a:prstGeom>
          <a:noFill/>
          <a:ln w="9525">
            <a:solidFill>
              <a:srgbClr val="DFE6F0"/>
            </a:solidFill>
            <a:prstDash val="solid"/>
          </a:ln>
        </p:spPr>
      </p:sp>
      <p:sp>
        <p:nvSpPr>
          <p:cNvPr id="26"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7" name="Text 25"/>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carga es pareja</a:t>
            </a:r>
            <a:endParaRPr lang="en-US" sz="1500" dirty="0"/>
          </a:p>
        </p:txBody>
      </p:sp>
      <p:sp>
        <p:nvSpPr>
          <p:cNvPr id="28" name="Shape 26"/>
          <p:cNvSpPr/>
          <p:nvPr/>
        </p:nvSpPr>
        <p:spPr>
          <a:xfrm>
            <a:off x="886968" y="5148072"/>
            <a:ext cx="4614520" cy="0"/>
          </a:xfrm>
          <a:prstGeom prst="line">
            <a:avLst/>
          </a:prstGeom>
          <a:noFill/>
          <a:ln w="9525">
            <a:solidFill>
              <a:srgbClr val="DFE6F0"/>
            </a:solidFill>
            <a:prstDash val="solid"/>
          </a:ln>
        </p:spPr>
      </p:sp>
      <p:sp>
        <p:nvSpPr>
          <p:cNvPr id="29" name="Icono arrow-right"/>
          <p:cNvSpPr/>
          <p:nvPr/>
        </p:nvSpPr>
        <p:spPr>
          <a:xfrm>
            <a:off x="905256" y="537210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30" name="Text 28"/>
          <p:cNvSpPr/>
          <p:nvPr/>
        </p:nvSpPr>
        <p:spPr>
          <a:xfrm>
            <a:off x="139903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 equipo pequeño lo mantiene</a:t>
            </a:r>
            <a:endParaRPr lang="en-US" sz="1500" dirty="0"/>
          </a:p>
        </p:txBody>
      </p:sp>
      <p:sp>
        <p:nvSpPr>
          <p:cNvPr id="31" name="Shape 29"/>
          <p:cNvSpPr/>
          <p:nvPr/>
        </p:nvSpPr>
        <p:spPr>
          <a:xfrm>
            <a:off x="641588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boxes"/>
          <p:cNvSpPr/>
          <p:nvPr/>
        </p:nvSpPr>
        <p:spPr>
          <a:xfrm>
            <a:off x="6789329" y="2019361"/>
            <a:ext cx="313822" cy="313822"/>
          </a:xfrm>
          <a:custGeom>
            <a:avLst/>
            <a:gdLst/>
            <a:ahLst/>
            <a:cxnLst/>
            <a:rect l="l" t="t" r="r" b="b"/>
            <a:pathLst>
              <a:path w="313822" h="313822">
                <a:moveTo>
                  <a:pt x="38835" y="168941"/>
                </a:moveTo>
                <a:cubicBezTo>
                  <a:pt x="30983" y="173658"/>
                  <a:pt x="26172" y="182140"/>
                  <a:pt x="26152" y="191301"/>
                </a:cubicBezTo>
                <a:lnTo>
                  <a:pt x="26152" y="233667"/>
                </a:lnTo>
                <a:cubicBezTo>
                  <a:pt x="26172" y="242827"/>
                  <a:pt x="30983" y="251309"/>
                  <a:pt x="38835" y="256027"/>
                </a:cubicBezTo>
                <a:lnTo>
                  <a:pt x="78063" y="279563"/>
                </a:lnTo>
                <a:cubicBezTo>
                  <a:pt x="86352" y="284543"/>
                  <a:pt x="96711" y="284543"/>
                  <a:pt x="105000" y="279563"/>
                </a:cubicBezTo>
                <a:lnTo>
                  <a:pt x="156911" y="248442"/>
                </a:lnTo>
                <a:lnTo>
                  <a:pt x="156911" y="176525"/>
                </a:lnTo>
                <a:lnTo>
                  <a:pt x="91531" y="137297"/>
                </a:lnTo>
                <a:lnTo>
                  <a:pt x="38835" y="168941"/>
                </a:lnTo>
                <a:close/>
                <a:moveTo>
                  <a:pt x="91531" y="215753"/>
                </a:moveTo>
                <a:lnTo>
                  <a:pt x="29552" y="178486"/>
                </a:lnTo>
                <a:moveTo>
                  <a:pt x="91531" y="215753"/>
                </a:moveTo>
                <a:lnTo>
                  <a:pt x="156911" y="176525"/>
                </a:lnTo>
                <a:moveTo>
                  <a:pt x="91531" y="215753"/>
                </a:moveTo>
                <a:lnTo>
                  <a:pt x="91531" y="283355"/>
                </a:lnTo>
                <a:moveTo>
                  <a:pt x="156911" y="176525"/>
                </a:moveTo>
                <a:lnTo>
                  <a:pt x="156911" y="248442"/>
                </a:lnTo>
                <a:lnTo>
                  <a:pt x="208822" y="279563"/>
                </a:lnTo>
                <a:cubicBezTo>
                  <a:pt x="217111" y="284543"/>
                  <a:pt x="227470" y="284543"/>
                  <a:pt x="235759" y="279563"/>
                </a:cubicBezTo>
                <a:lnTo>
                  <a:pt x="274987" y="256027"/>
                </a:lnTo>
                <a:cubicBezTo>
                  <a:pt x="282839" y="251309"/>
                  <a:pt x="287650" y="242827"/>
                  <a:pt x="287670" y="233667"/>
                </a:cubicBezTo>
                <a:lnTo>
                  <a:pt x="287670" y="191301"/>
                </a:lnTo>
                <a:cubicBezTo>
                  <a:pt x="287650" y="182140"/>
                  <a:pt x="282839" y="173658"/>
                  <a:pt x="274987" y="168941"/>
                </a:cubicBezTo>
                <a:lnTo>
                  <a:pt x="222291" y="137297"/>
                </a:lnTo>
                <a:lnTo>
                  <a:pt x="156911" y="176525"/>
                </a:lnTo>
                <a:close/>
                <a:moveTo>
                  <a:pt x="222291" y="215753"/>
                </a:moveTo>
                <a:lnTo>
                  <a:pt x="156911" y="176525"/>
                </a:lnTo>
                <a:moveTo>
                  <a:pt x="222291" y="215753"/>
                </a:moveTo>
                <a:lnTo>
                  <a:pt x="284271" y="178486"/>
                </a:lnTo>
                <a:moveTo>
                  <a:pt x="222291" y="215753"/>
                </a:moveTo>
                <a:lnTo>
                  <a:pt x="222291" y="283355"/>
                </a:lnTo>
                <a:moveTo>
                  <a:pt x="104215" y="57796"/>
                </a:moveTo>
                <a:cubicBezTo>
                  <a:pt x="96363" y="62513"/>
                  <a:pt x="91552" y="70995"/>
                  <a:pt x="91531" y="80155"/>
                </a:cubicBezTo>
                <a:lnTo>
                  <a:pt x="91531" y="137297"/>
                </a:lnTo>
                <a:lnTo>
                  <a:pt x="156911" y="176525"/>
                </a:lnTo>
                <a:lnTo>
                  <a:pt x="222291" y="137297"/>
                </a:lnTo>
                <a:lnTo>
                  <a:pt x="222291" y="80155"/>
                </a:lnTo>
                <a:cubicBezTo>
                  <a:pt x="222271" y="70995"/>
                  <a:pt x="217459" y="62513"/>
                  <a:pt x="209607" y="57796"/>
                </a:cubicBezTo>
                <a:lnTo>
                  <a:pt x="170379" y="34259"/>
                </a:lnTo>
                <a:cubicBezTo>
                  <a:pt x="162091" y="29279"/>
                  <a:pt x="151731" y="29279"/>
                  <a:pt x="143443" y="34259"/>
                </a:cubicBezTo>
                <a:lnTo>
                  <a:pt x="104215" y="57796"/>
                </a:lnTo>
                <a:close/>
                <a:moveTo>
                  <a:pt x="156911" y="104607"/>
                </a:moveTo>
                <a:lnTo>
                  <a:pt x="94931" y="67341"/>
                </a:lnTo>
                <a:moveTo>
                  <a:pt x="156911" y="104607"/>
                </a:moveTo>
                <a:lnTo>
                  <a:pt x="218891" y="67341"/>
                </a:lnTo>
                <a:moveTo>
                  <a:pt x="156911" y="176525"/>
                </a:moveTo>
                <a:lnTo>
                  <a:pt x="156911" y="104607"/>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Conviene separar</a:t>
            </a:r>
            <a:endParaRPr lang="en-US" sz="1900" dirty="0"/>
          </a:p>
        </p:txBody>
      </p:sp>
      <p:sp>
        <p:nvSpPr>
          <p:cNvPr id="37" name="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Responsabilidades claramente distintas</a:t>
            </a:r>
            <a:endParaRPr lang="en-US" sz="1500" dirty="0"/>
          </a:p>
        </p:txBody>
      </p:sp>
      <p:sp>
        <p:nvSpPr>
          <p:cNvPr id="39" name="Shape 37"/>
          <p:cNvSpPr/>
          <p:nvPr/>
        </p:nvSpPr>
        <p:spPr>
          <a:xfrm>
            <a:off x="6690208" y="3593592"/>
            <a:ext cx="4614520" cy="0"/>
          </a:xfrm>
          <a:prstGeom prst="line">
            <a:avLst/>
          </a:prstGeom>
          <a:noFill/>
          <a:ln w="9525">
            <a:solidFill>
              <a:srgbClr val="DFE6F0"/>
            </a:solidFill>
            <a:prstDash val="solid"/>
          </a:ln>
        </p:spPr>
      </p:sp>
      <p:sp>
        <p:nvSpPr>
          <p:cNvPr id="40" name="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Una parte necesita salir sola</a:t>
            </a:r>
            <a:endParaRPr lang="en-US" sz="1500" dirty="0"/>
          </a:p>
        </p:txBody>
      </p:sp>
      <p:sp>
        <p:nvSpPr>
          <p:cNvPr id="42" name="Shape 40"/>
          <p:cNvSpPr/>
          <p:nvPr/>
        </p:nvSpPr>
        <p:spPr>
          <a:xfrm>
            <a:off x="6690208" y="4370832"/>
            <a:ext cx="4614520" cy="0"/>
          </a:xfrm>
          <a:prstGeom prst="line">
            <a:avLst/>
          </a:prstGeom>
          <a:noFill/>
          <a:ln w="9525">
            <a:solidFill>
              <a:srgbClr val="DFE6F0"/>
            </a:solidFill>
            <a:prstDash val="solid"/>
          </a:ln>
        </p:spPr>
      </p:sp>
      <p:sp>
        <p:nvSpPr>
          <p:cNvPr id="43" name="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Una parte necesita más recursos</a:t>
            </a:r>
            <a:endParaRPr lang="en-US" sz="1500" dirty="0"/>
          </a:p>
        </p:txBody>
      </p:sp>
      <p:sp>
        <p:nvSpPr>
          <p:cNvPr id="45" name="Shape 43"/>
          <p:cNvSpPr/>
          <p:nvPr/>
        </p:nvSpPr>
        <p:spPr>
          <a:xfrm>
            <a:off x="6690208" y="5148072"/>
            <a:ext cx="4614520" cy="0"/>
          </a:xfrm>
          <a:prstGeom prst="line">
            <a:avLst/>
          </a:prstGeom>
          <a:noFill/>
          <a:ln w="9525">
            <a:solidFill>
              <a:srgbClr val="DFE6F0"/>
            </a:solidFill>
            <a:prstDash val="solid"/>
          </a:ln>
        </p:spPr>
      </p:sp>
      <p:sp>
        <p:nvSpPr>
          <p:cNvPr id="46" name="Icono circle-check"/>
          <p:cNvSpPr/>
          <p:nvPr/>
        </p:nvSpPr>
        <p:spPr>
          <a:xfrm>
            <a:off x="6708496" y="537210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 equipo dueño de cada parte</a:t>
            </a:r>
            <a:endParaRPr lang="en-US" sz="1500" dirty="0"/>
          </a:p>
        </p:txBody>
      </p:sp>
      <p:sp>
        <p:nvSpPr>
          <p:cNvPr id="48" name="Text 46"/>
          <p:cNvSpPr/>
          <p:nvPr/>
        </p:nvSpPr>
        <p:spPr>
          <a:xfrm>
            <a:off x="5766664" y="3707892"/>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¿Monolito o microservicios?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servicio-*/…/eventos/SolicitudEnviada.java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850" i="1" dirty="0">
                <a:solidFill>
                  <a:srgbClr val="8FA2BF"/>
                </a:solidFill>
                <a:latin typeface="Consolas" pitchFamily="34" charset="0"/>
                <a:ea typeface="Consolas" pitchFamily="34" charset="-122"/>
                <a:cs typeface="Consolas" pitchFamily="34" charset="-120"/>
              </a:rPr>
              <a:t>// Copiado en ambos servicios: es el contrato HTTP</a:t>
            </a:r>
            <a:endParaRPr lang="en-US" sz="1850" dirty="0"/>
          </a:p>
          <a:p>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eventoId,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tipo) {}</a:t>
            </a:r>
            <a:endParaRPr lang="en-US" sz="185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Arquitectura: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network"/>
          <p:cNvSpPr/>
          <p:nvPr/>
        </p:nvSpPr>
        <p:spPr>
          <a:xfrm>
            <a:off x="1058144" y="1817096"/>
            <a:ext cx="370881" cy="370881"/>
          </a:xfrm>
          <a:custGeom>
            <a:avLst/>
            <a:gdLst/>
            <a:ahLst/>
            <a:cxnLst/>
            <a:rect l="l" t="t" r="r" b="b"/>
            <a:pathLst>
              <a:path w="370881" h="370881">
                <a:moveTo>
                  <a:pt x="262707" y="247254"/>
                </a:moveTo>
                <a:lnTo>
                  <a:pt x="324521" y="247254"/>
                </a:lnTo>
                <a:cubicBezTo>
                  <a:pt x="333055" y="247254"/>
                  <a:pt x="339974" y="254172"/>
                  <a:pt x="339974" y="262707"/>
                </a:cubicBezTo>
                <a:lnTo>
                  <a:pt x="339974" y="324521"/>
                </a:lnTo>
                <a:cubicBezTo>
                  <a:pt x="339974" y="333055"/>
                  <a:pt x="333055" y="339974"/>
                  <a:pt x="324521" y="339974"/>
                </a:cubicBezTo>
                <a:lnTo>
                  <a:pt x="262707" y="339974"/>
                </a:lnTo>
                <a:cubicBezTo>
                  <a:pt x="254172" y="339974"/>
                  <a:pt x="247254" y="333055"/>
                  <a:pt x="247254" y="324521"/>
                </a:cubicBezTo>
                <a:lnTo>
                  <a:pt x="247254" y="262707"/>
                </a:lnTo>
                <a:cubicBezTo>
                  <a:pt x="247254" y="254172"/>
                  <a:pt x="254172" y="247254"/>
                  <a:pt x="262707" y="247254"/>
                </a:cubicBezTo>
                <a:close/>
                <a:moveTo>
                  <a:pt x="46360" y="247254"/>
                </a:moveTo>
                <a:lnTo>
                  <a:pt x="108174" y="247254"/>
                </a:lnTo>
                <a:cubicBezTo>
                  <a:pt x="116708" y="247254"/>
                  <a:pt x="123627" y="254172"/>
                  <a:pt x="123627" y="262707"/>
                </a:cubicBezTo>
                <a:lnTo>
                  <a:pt x="123627" y="324521"/>
                </a:lnTo>
                <a:cubicBezTo>
                  <a:pt x="123627" y="333055"/>
                  <a:pt x="116708" y="339974"/>
                  <a:pt x="108174" y="339974"/>
                </a:cubicBezTo>
                <a:lnTo>
                  <a:pt x="46360" y="339974"/>
                </a:lnTo>
                <a:cubicBezTo>
                  <a:pt x="37825" y="339974"/>
                  <a:pt x="30907" y="333055"/>
                  <a:pt x="30907" y="324521"/>
                </a:cubicBezTo>
                <a:lnTo>
                  <a:pt x="30907" y="262707"/>
                </a:lnTo>
                <a:cubicBezTo>
                  <a:pt x="30907" y="254172"/>
                  <a:pt x="37825" y="247254"/>
                  <a:pt x="46360" y="247254"/>
                </a:cubicBezTo>
                <a:close/>
                <a:moveTo>
                  <a:pt x="154534" y="30907"/>
                </a:moveTo>
                <a:lnTo>
                  <a:pt x="216347" y="30907"/>
                </a:lnTo>
                <a:cubicBezTo>
                  <a:pt x="224882" y="30907"/>
                  <a:pt x="231800" y="37825"/>
                  <a:pt x="231800" y="46360"/>
                </a:cubicBezTo>
                <a:lnTo>
                  <a:pt x="231800" y="108174"/>
                </a:lnTo>
                <a:cubicBezTo>
                  <a:pt x="231800" y="116708"/>
                  <a:pt x="224882" y="123627"/>
                  <a:pt x="216347" y="123627"/>
                </a:cubicBezTo>
                <a:lnTo>
                  <a:pt x="154534" y="123627"/>
                </a:lnTo>
                <a:cubicBezTo>
                  <a:pt x="145999" y="123627"/>
                  <a:pt x="139080" y="116708"/>
                  <a:pt x="139080" y="108174"/>
                </a:cubicBezTo>
                <a:lnTo>
                  <a:pt x="139080" y="46360"/>
                </a:lnTo>
                <a:cubicBezTo>
                  <a:pt x="139080" y="37825"/>
                  <a:pt x="145999" y="30907"/>
                  <a:pt x="154534" y="30907"/>
                </a:cubicBezTo>
                <a:close/>
                <a:moveTo>
                  <a:pt x="77267" y="247254"/>
                </a:moveTo>
                <a:lnTo>
                  <a:pt x="77267" y="200894"/>
                </a:lnTo>
                <a:cubicBezTo>
                  <a:pt x="77267" y="192359"/>
                  <a:pt x="84186" y="185440"/>
                  <a:pt x="92720" y="185440"/>
                </a:cubicBezTo>
                <a:lnTo>
                  <a:pt x="278160" y="185440"/>
                </a:lnTo>
                <a:cubicBezTo>
                  <a:pt x="286695" y="185440"/>
                  <a:pt x="293614" y="192359"/>
                  <a:pt x="293614" y="200894"/>
                </a:cubicBezTo>
                <a:lnTo>
                  <a:pt x="293614" y="247254"/>
                </a:lnTo>
                <a:moveTo>
                  <a:pt x="185440" y="185440"/>
                </a:moveTo>
                <a:lnTo>
                  <a:pt x="185440" y="123627"/>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3</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puertos en solicitudes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adaptadores por puerto</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lug"/>
          <p:cNvSpPr/>
          <p:nvPr/>
        </p:nvSpPr>
        <p:spPr>
          <a:xfrm>
            <a:off x="4258544" y="1955780"/>
            <a:ext cx="370881" cy="370881"/>
          </a:xfrm>
          <a:custGeom>
            <a:avLst/>
            <a:gdLst/>
            <a:ahLst/>
            <a:cxnLst/>
            <a:rect l="l" t="t" r="r" b="b"/>
            <a:pathLst>
              <a:path w="370881" h="370881">
                <a:moveTo>
                  <a:pt x="185440" y="339974"/>
                </a:moveTo>
                <a:lnTo>
                  <a:pt x="185440" y="262707"/>
                </a:lnTo>
                <a:moveTo>
                  <a:pt x="139080" y="123627"/>
                </a:moveTo>
                <a:lnTo>
                  <a:pt x="139080" y="30907"/>
                </a:lnTo>
                <a:moveTo>
                  <a:pt x="231800" y="123627"/>
                </a:moveTo>
                <a:lnTo>
                  <a:pt x="231800" y="30907"/>
                </a:lnTo>
                <a:moveTo>
                  <a:pt x="278160" y="123627"/>
                </a:moveTo>
                <a:lnTo>
                  <a:pt x="278160" y="200894"/>
                </a:lnTo>
                <a:cubicBezTo>
                  <a:pt x="278160" y="235032"/>
                  <a:pt x="250486" y="262707"/>
                  <a:pt x="216347" y="262707"/>
                </a:cubicBezTo>
                <a:lnTo>
                  <a:pt x="154534" y="262707"/>
                </a:lnTo>
                <a:cubicBezTo>
                  <a:pt x="120395" y="262707"/>
                  <a:pt x="92720" y="235032"/>
                  <a:pt x="92720" y="200894"/>
                </a:cubicBezTo>
                <a:lnTo>
                  <a:pt x="92720" y="123627"/>
                </a:lnTo>
                <a:close/>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Los puertos separan negocio y tecnología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Varios adaptadores por puerto; Spring usa el @Primary.</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la base o la mensajería sin reescribir reglas.</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scale"/>
          <p:cNvSpPr/>
          <p:nvPr/>
        </p:nvSpPr>
        <p:spPr>
          <a:xfrm>
            <a:off x="4258544" y="3677900"/>
            <a:ext cx="370881" cy="370881"/>
          </a:xfrm>
          <a:custGeom>
            <a:avLst/>
            <a:gdLst/>
            <a:ahLst/>
            <a:cxnLst/>
            <a:rect l="l" t="t" r="r" b="b"/>
            <a:pathLst>
              <a:path w="370881" h="370881">
                <a:moveTo>
                  <a:pt x="247254" y="247254"/>
                </a:moveTo>
                <a:lnTo>
                  <a:pt x="293614" y="123627"/>
                </a:lnTo>
                <a:lnTo>
                  <a:pt x="339974" y="247254"/>
                </a:lnTo>
                <a:cubicBezTo>
                  <a:pt x="326529" y="257298"/>
                  <a:pt x="310303" y="262707"/>
                  <a:pt x="293614" y="262707"/>
                </a:cubicBezTo>
                <a:cubicBezTo>
                  <a:pt x="276924" y="262707"/>
                  <a:pt x="260698" y="257298"/>
                  <a:pt x="247254" y="247254"/>
                </a:cubicBezTo>
                <a:close/>
                <a:moveTo>
                  <a:pt x="30907" y="247254"/>
                </a:moveTo>
                <a:lnTo>
                  <a:pt x="77267" y="123627"/>
                </a:lnTo>
                <a:lnTo>
                  <a:pt x="123627" y="247254"/>
                </a:lnTo>
                <a:cubicBezTo>
                  <a:pt x="110182" y="257298"/>
                  <a:pt x="93956" y="262707"/>
                  <a:pt x="77267" y="262707"/>
                </a:cubicBezTo>
                <a:cubicBezTo>
                  <a:pt x="60577" y="262707"/>
                  <a:pt x="44351" y="257298"/>
                  <a:pt x="30907" y="247254"/>
                </a:cubicBezTo>
                <a:close/>
                <a:moveTo>
                  <a:pt x="108174" y="324521"/>
                </a:moveTo>
                <a:lnTo>
                  <a:pt x="262707" y="324521"/>
                </a:lnTo>
                <a:moveTo>
                  <a:pt x="185440" y="46360"/>
                </a:moveTo>
                <a:lnTo>
                  <a:pt x="185440" y="324521"/>
                </a:lnTo>
                <a:moveTo>
                  <a:pt x="46360" y="108174"/>
                </a:moveTo>
                <a:lnTo>
                  <a:pt x="77267" y="108174"/>
                </a:lnTo>
                <a:cubicBezTo>
                  <a:pt x="108174" y="108174"/>
                  <a:pt x="154534" y="92720"/>
                  <a:pt x="185440" y="77267"/>
                </a:cubicBezTo>
                <a:cubicBezTo>
                  <a:pt x="216347" y="92720"/>
                  <a:pt x="262707" y="108174"/>
                  <a:pt x="293614" y="108174"/>
                </a:cubicBezTo>
                <a:lnTo>
                  <a:pt x="324521" y="108174"/>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Separar servicios tiene un costo</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Red, bases propias y fallos parciales.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Separar solo cuando el negocio o los equipos lo justifican.</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file-json"/>
          <p:cNvSpPr/>
          <p:nvPr/>
        </p:nvSpPr>
        <p:spPr>
          <a:xfrm>
            <a:off x="4258544" y="5400020"/>
            <a:ext cx="370881" cy="370881"/>
          </a:xfrm>
          <a:custGeom>
            <a:avLst/>
            <a:gdLst/>
            <a:ahLst/>
            <a:cxnLst/>
            <a:rect l="l" t="t" r="r" b="b"/>
            <a:pathLst>
              <a:path w="370881" h="370881">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moveTo>
                  <a:pt x="216347" y="30907"/>
                </a:moveTo>
                <a:lnTo>
                  <a:pt x="216347" y="92720"/>
                </a:lnTo>
                <a:cubicBezTo>
                  <a:pt x="216347" y="109789"/>
                  <a:pt x="230184" y="123627"/>
                  <a:pt x="247254" y="123627"/>
                </a:cubicBezTo>
                <a:lnTo>
                  <a:pt x="309067" y="123627"/>
                </a:lnTo>
                <a:moveTo>
                  <a:pt x="154534" y="185440"/>
                </a:moveTo>
                <a:cubicBezTo>
                  <a:pt x="145999" y="185440"/>
                  <a:pt x="139080" y="192359"/>
                  <a:pt x="139080" y="200894"/>
                </a:cubicBezTo>
                <a:lnTo>
                  <a:pt x="139080" y="216347"/>
                </a:lnTo>
                <a:cubicBezTo>
                  <a:pt x="139080" y="224882"/>
                  <a:pt x="132162" y="231800"/>
                  <a:pt x="123627" y="231800"/>
                </a:cubicBezTo>
                <a:cubicBezTo>
                  <a:pt x="132162" y="231800"/>
                  <a:pt x="139080" y="238719"/>
                  <a:pt x="139080" y="247254"/>
                </a:cubicBezTo>
                <a:lnTo>
                  <a:pt x="139080" y="262707"/>
                </a:lnTo>
                <a:cubicBezTo>
                  <a:pt x="139080" y="271242"/>
                  <a:pt x="145999" y="278160"/>
                  <a:pt x="154534" y="278160"/>
                </a:cubicBezTo>
                <a:moveTo>
                  <a:pt x="216347" y="278160"/>
                </a:moveTo>
                <a:cubicBezTo>
                  <a:pt x="224882" y="278160"/>
                  <a:pt x="231800" y="271242"/>
                  <a:pt x="231800" y="262707"/>
                </a:cubicBezTo>
                <a:lnTo>
                  <a:pt x="231800" y="247254"/>
                </a:lnTo>
                <a:cubicBezTo>
                  <a:pt x="231800" y="238719"/>
                  <a:pt x="238719" y="231800"/>
                  <a:pt x="247254" y="231800"/>
                </a:cubicBezTo>
                <a:cubicBezTo>
                  <a:pt x="238719" y="231800"/>
                  <a:pt x="231800" y="224882"/>
                  <a:pt x="231800" y="216347"/>
                </a:cubicBezTo>
                <a:lnTo>
                  <a:pt x="231800" y="200894"/>
                </a:lnTo>
                <a:cubicBezTo>
                  <a:pt x="231800" y="192359"/>
                  <a:pt x="224882" y="185440"/>
                  <a:pt x="216347" y="185440"/>
                </a:cubicBez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El contrato es lo único compartido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SolicitudEnviada vive en los dos servicios y cambia junto.</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Equipos independientes con un acuerdo explícito.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ORM: cada clase Java se mapea a una tabla y el SQL de todos los días se genera solo.</a:t>
            </a:r>
            <a:endParaRPr lang="en-US" sz="1700" dirty="0"/>
          </a:p>
        </p:txBody>
      </p:sp>
      <p:sp>
        <p:nvSpPr>
          <p:cNvPr id="14" name="Shape 12"/>
          <p:cNvSpPr/>
          <p:nvPr/>
        </p:nvSpPr>
        <p:spPr>
          <a:xfrm>
            <a:off x="61264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16" name="Shape 14"/>
          <p:cNvSpPr/>
          <p:nvPr/>
        </p:nvSpPr>
        <p:spPr>
          <a:xfrm>
            <a:off x="612648" y="2267712"/>
            <a:ext cx="5163160" cy="365760"/>
          </a:xfrm>
          <a:prstGeom prst="rect">
            <a:avLst/>
          </a:prstGeom>
          <a:solidFill>
            <a:srgbClr val="55627E"/>
          </a:solidFill>
          <a:ln w="12700">
            <a:solidFill>
              <a:srgbClr val="55627E"/>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database"/>
          <p:cNvSpPr/>
          <p:nvPr/>
        </p:nvSpPr>
        <p:spPr>
          <a:xfrm>
            <a:off x="986089" y="2019361"/>
            <a:ext cx="313822" cy="313822"/>
          </a:xfrm>
          <a:custGeom>
            <a:avLst/>
            <a:gdLst/>
            <a:ahLst/>
            <a:cxnLst/>
            <a:rect l="l" t="t" r="r" b="b"/>
            <a:pathLst>
              <a:path w="313822" h="313822">
                <a:moveTo>
                  <a:pt x="274594" y="65380"/>
                </a:moveTo>
                <a:cubicBezTo>
                  <a:pt x="274594" y="87044"/>
                  <a:pt x="221906" y="104607"/>
                  <a:pt x="156911" y="104607"/>
                </a:cubicBezTo>
                <a:cubicBezTo>
                  <a:pt x="91916" y="104607"/>
                  <a:pt x="39228" y="87044"/>
                  <a:pt x="39228" y="65380"/>
                </a:cubicBezTo>
                <a:cubicBezTo>
                  <a:pt x="39228" y="43715"/>
                  <a:pt x="91916" y="26152"/>
                  <a:pt x="156911" y="26152"/>
                </a:cubicBezTo>
                <a:cubicBezTo>
                  <a:pt x="221906" y="26152"/>
                  <a:pt x="274594" y="43715"/>
                  <a:pt x="274594" y="65380"/>
                </a:cubicBezTo>
                <a:close/>
                <a:moveTo>
                  <a:pt x="39228" y="65380"/>
                </a:moveTo>
                <a:lnTo>
                  <a:pt x="39228" y="248442"/>
                </a:lnTo>
                <a:cubicBezTo>
                  <a:pt x="39228" y="270107"/>
                  <a:pt x="91916" y="287670"/>
                  <a:pt x="156911" y="287670"/>
                </a:cubicBezTo>
                <a:cubicBezTo>
                  <a:pt x="221906" y="287670"/>
                  <a:pt x="274594" y="270107"/>
                  <a:pt x="274594" y="248442"/>
                </a:cubicBezTo>
                <a:lnTo>
                  <a:pt x="274594" y="65380"/>
                </a:lnTo>
                <a:moveTo>
                  <a:pt x="39228" y="156911"/>
                </a:moveTo>
                <a:cubicBezTo>
                  <a:pt x="39228" y="178576"/>
                  <a:pt x="91916" y="196139"/>
                  <a:pt x="156911" y="196139"/>
                </a:cubicBezTo>
                <a:cubicBezTo>
                  <a:pt x="221906" y="196139"/>
                  <a:pt x="274594" y="178576"/>
                  <a:pt x="274594" y="156911"/>
                </a:cubicBezTo>
              </a:path>
            </a:pathLst>
          </a:custGeom>
          <a:noFill/>
          <a:ln w="26152" cap="rnd">
            <a:solidFill>
              <a:srgbClr val="55627E"/>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procedimientos almacenados</a:t>
            </a:r>
            <a:endParaRPr lang="en-US" sz="1900" dirty="0"/>
          </a:p>
        </p:txBody>
      </p:sp>
      <p:sp>
        <p:nvSpPr>
          <p:cNvPr id="20" name="Icono arrow-right"/>
          <p:cNvSpPr/>
          <p:nvPr/>
        </p:nvSpPr>
        <p:spPr>
          <a:xfrm>
            <a:off x="905256" y="30232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1" name="Text 19"/>
          <p:cNvSpPr/>
          <p:nvPr/>
        </p:nvSpPr>
        <p:spPr>
          <a:xfrm>
            <a:off x="139903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la base: EXEC sp_enviar</a:t>
            </a:r>
            <a:endParaRPr lang="en-US" sz="1500" dirty="0"/>
          </a:p>
        </p:txBody>
      </p:sp>
      <p:sp>
        <p:nvSpPr>
          <p:cNvPr id="22" name="Shape 20"/>
          <p:cNvSpPr/>
          <p:nvPr/>
        </p:nvSpPr>
        <p:spPr>
          <a:xfrm>
            <a:off x="886968" y="3559302"/>
            <a:ext cx="4614520" cy="0"/>
          </a:xfrm>
          <a:prstGeom prst="line">
            <a:avLst/>
          </a:prstGeom>
          <a:noFill/>
          <a:ln w="9525">
            <a:solidFill>
              <a:srgbClr val="DFE6F0"/>
            </a:solidFill>
            <a:prstDash val="solid"/>
          </a:ln>
        </p:spPr>
      </p:sp>
      <p:sp>
        <p:nvSpPr>
          <p:cNvPr id="23" name="Icono arrow-right"/>
          <p:cNvSpPr/>
          <p:nvPr/>
        </p:nvSpPr>
        <p:spPr>
          <a:xfrm>
            <a:off x="905256" y="37661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4" name="Text 22"/>
          <p:cNvSpPr/>
          <p:nvPr/>
        </p:nvSpPr>
        <p:spPr>
          <a:xfrm>
            <a:off x="139903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una regla es cambiar la base</a:t>
            </a:r>
            <a:endParaRPr lang="en-US" sz="1500" dirty="0"/>
          </a:p>
        </p:txBody>
      </p:sp>
      <p:sp>
        <p:nvSpPr>
          <p:cNvPr id="25" name="Shape 23"/>
          <p:cNvSpPr/>
          <p:nvPr/>
        </p:nvSpPr>
        <p:spPr>
          <a:xfrm>
            <a:off x="886968" y="4302252"/>
            <a:ext cx="4614520" cy="0"/>
          </a:xfrm>
          <a:prstGeom prst="line">
            <a:avLst/>
          </a:prstGeom>
          <a:noFill/>
          <a:ln w="9525">
            <a:solidFill>
              <a:srgbClr val="DFE6F0"/>
            </a:solidFill>
            <a:prstDash val="solid"/>
          </a:ln>
        </p:spPr>
      </p:sp>
      <p:sp>
        <p:nvSpPr>
          <p:cNvPr id="26" name="Icono arrow-right"/>
          <p:cNvSpPr/>
          <p:nvPr/>
        </p:nvSpPr>
        <p:spPr>
          <a:xfrm>
            <a:off x="905256" y="45091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7" name="Text 25"/>
          <p:cNvSpPr/>
          <p:nvPr/>
        </p:nvSpPr>
        <p:spPr>
          <a:xfrm>
            <a:off x="139903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Para probar hace falta la base con datos</a:t>
            </a:r>
            <a:endParaRPr lang="en-US" sz="1500" dirty="0"/>
          </a:p>
        </p:txBody>
      </p:sp>
      <p:sp>
        <p:nvSpPr>
          <p:cNvPr id="28" name="Shape 26"/>
          <p:cNvSpPr/>
          <p:nvPr/>
        </p:nvSpPr>
        <p:spPr>
          <a:xfrm>
            <a:off x="886968" y="5045202"/>
            <a:ext cx="4614520" cy="0"/>
          </a:xfrm>
          <a:prstGeom prst="line">
            <a:avLst/>
          </a:prstGeom>
          <a:noFill/>
          <a:ln w="9525">
            <a:solidFill>
              <a:srgbClr val="DFE6F0"/>
            </a:solidFill>
            <a:prstDash val="solid"/>
          </a:ln>
        </p:spPr>
      </p:sp>
      <p:sp>
        <p:nvSpPr>
          <p:cNvPr id="29" name="Icono arrow-right"/>
          <p:cNvSpPr/>
          <p:nvPr/>
        </p:nvSpPr>
        <p:spPr>
          <a:xfrm>
            <a:off x="905256" y="52520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30" name="Text 28"/>
          <p:cNvSpPr/>
          <p:nvPr/>
        </p:nvSpPr>
        <p:spPr>
          <a:xfrm>
            <a:off x="139903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Atado a un motor: T-SQL o PL/SQL</a:t>
            </a:r>
            <a:endParaRPr lang="en-US" sz="1500" dirty="0"/>
          </a:p>
        </p:txBody>
      </p:sp>
      <p:sp>
        <p:nvSpPr>
          <p:cNvPr id="31" name="Shape 29"/>
          <p:cNvSpPr/>
          <p:nvPr/>
        </p:nvSpPr>
        <p:spPr>
          <a:xfrm>
            <a:off x="641588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code"/>
          <p:cNvSpPr/>
          <p:nvPr/>
        </p:nvSpPr>
        <p:spPr>
          <a:xfrm>
            <a:off x="6789329" y="2019361"/>
            <a:ext cx="313822" cy="313822"/>
          </a:xfrm>
          <a:custGeom>
            <a:avLst/>
            <a:gdLst/>
            <a:ahLst/>
            <a:cxnLst/>
            <a:rect l="l" t="t" r="r" b="b"/>
            <a:pathLst>
              <a:path w="313822" h="313822">
                <a:moveTo>
                  <a:pt x="209215" y="235367"/>
                </a:moveTo>
                <a:lnTo>
                  <a:pt x="287670" y="156911"/>
                </a:lnTo>
                <a:lnTo>
                  <a:pt x="209215" y="78456"/>
                </a:lnTo>
                <a:moveTo>
                  <a:pt x="104607" y="78456"/>
                </a:moveTo>
                <a:lnTo>
                  <a:pt x="26152" y="156911"/>
                </a:lnTo>
                <a:lnTo>
                  <a:pt x="104607" y="235367"/>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un ORM: JPA + Hibernate</a:t>
            </a:r>
            <a:endParaRPr lang="en-US" sz="1900" dirty="0"/>
          </a:p>
        </p:txBody>
      </p:sp>
      <p:sp>
        <p:nvSpPr>
          <p:cNvPr id="37" name="Icono circle-check"/>
          <p:cNvSpPr/>
          <p:nvPr/>
        </p:nvSpPr>
        <p:spPr>
          <a:xfrm>
            <a:off x="6708496" y="30232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Java, en el dominio</a:t>
            </a:r>
            <a:endParaRPr lang="en-US" sz="1500" dirty="0"/>
          </a:p>
        </p:txBody>
      </p:sp>
      <p:sp>
        <p:nvSpPr>
          <p:cNvPr id="39" name="Shape 37"/>
          <p:cNvSpPr/>
          <p:nvPr/>
        </p:nvSpPr>
        <p:spPr>
          <a:xfrm>
            <a:off x="6690208" y="3559302"/>
            <a:ext cx="4614520" cy="0"/>
          </a:xfrm>
          <a:prstGeom prst="line">
            <a:avLst/>
          </a:prstGeom>
          <a:noFill/>
          <a:ln w="9525">
            <a:solidFill>
              <a:srgbClr val="DFE6F0"/>
            </a:solidFill>
            <a:prstDash val="solid"/>
          </a:ln>
        </p:spPr>
      </p:sp>
      <p:sp>
        <p:nvSpPr>
          <p:cNvPr id="40" name="Icono circle-check"/>
          <p:cNvSpPr/>
          <p:nvPr/>
        </p:nvSpPr>
        <p:spPr>
          <a:xfrm>
            <a:off x="6708496" y="37661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Hibernate genera el SQL de guardar y buscar</a:t>
            </a:r>
            <a:endParaRPr lang="en-US" sz="1500" dirty="0"/>
          </a:p>
        </p:txBody>
      </p:sp>
      <p:sp>
        <p:nvSpPr>
          <p:cNvPr id="42" name="Shape 40"/>
          <p:cNvSpPr/>
          <p:nvPr/>
        </p:nvSpPr>
        <p:spPr>
          <a:xfrm>
            <a:off x="6690208" y="4302252"/>
            <a:ext cx="4614520" cy="0"/>
          </a:xfrm>
          <a:prstGeom prst="line">
            <a:avLst/>
          </a:prstGeom>
          <a:noFill/>
          <a:ln w="9525">
            <a:solidFill>
              <a:srgbClr val="DFE6F0"/>
            </a:solidFill>
            <a:prstDash val="solid"/>
          </a:ln>
        </p:spPr>
      </p:sp>
      <p:sp>
        <p:nvSpPr>
          <p:cNvPr id="43" name="Icono circle-check"/>
          <p:cNvSpPr/>
          <p:nvPr/>
        </p:nvSpPr>
        <p:spPr>
          <a:xfrm>
            <a:off x="6708496" y="45091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reglas se prueban sin base, en milisegundos</a:t>
            </a:r>
            <a:endParaRPr lang="en-US" sz="1500" dirty="0"/>
          </a:p>
        </p:txBody>
      </p:sp>
      <p:sp>
        <p:nvSpPr>
          <p:cNvPr id="45" name="Shape 43"/>
          <p:cNvSpPr/>
          <p:nvPr/>
        </p:nvSpPr>
        <p:spPr>
          <a:xfrm>
            <a:off x="6690208" y="5045202"/>
            <a:ext cx="4614520" cy="0"/>
          </a:xfrm>
          <a:prstGeom prst="line">
            <a:avLst/>
          </a:prstGeom>
          <a:noFill/>
          <a:ln w="9525">
            <a:solidFill>
              <a:srgbClr val="DFE6F0"/>
            </a:solidFill>
            <a:prstDash val="solid"/>
          </a:ln>
        </p:spPr>
      </p:sp>
      <p:sp>
        <p:nvSpPr>
          <p:cNvPr id="46" name="Icono circle-check"/>
          <p:cNvSpPr/>
          <p:nvPr/>
        </p:nvSpPr>
        <p:spPr>
          <a:xfrm>
            <a:off x="6708496" y="52520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de motor no toca las reglas</a:t>
            </a:r>
            <a:endParaRPr lang="en-US" sz="1500" dirty="0"/>
          </a:p>
        </p:txBody>
      </p:sp>
      <p:sp>
        <p:nvSpPr>
          <p:cNvPr id="48" name="Text 46"/>
          <p:cNvSpPr/>
          <p:nvPr/>
        </p:nvSpPr>
        <p:spPr>
          <a:xfrm>
            <a:off x="5766664" y="344728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servicio-solicitudes/…/adaptadores/persistencia/SolicitudEntity.java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@Entity</a:t>
            </a:r>
            <a:endParaRPr lang="en-US" sz="2000" dirty="0"/>
          </a:p>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@Table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(name =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esta clase = la tabla solicitud</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@Id</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columna id (PK)</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tipo;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columna tipo</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estado;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columna estado</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Sin SQL escrito: Spring Data genera SELECT, INSERT y UPDATE</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interface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SolicitudJpaRepository</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extends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JpaRepository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&lt;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&gt; {}</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el código llega a la base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Cinco piezas entre una línea de Java y una fila en PostgreSQL.</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traductor: el código habla Java, la base habla SQL, y el ORM traduce en los dos sentidos.</a:t>
            </a:r>
            <a:endParaRPr lang="en-US" sz="1450" dirty="0"/>
          </a:p>
        </p:txBody>
      </p:sp>
      <p:sp>
        <p:nvSpPr>
          <p:cNvPr id="18" name="Shape 16"/>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puzzle"/>
          <p:cNvSpPr/>
          <p:nvPr/>
        </p:nvSpPr>
        <p:spPr>
          <a:xfrm>
            <a:off x="1339302" y="2505802"/>
            <a:ext cx="739973" cy="739973"/>
          </a:xfrm>
          <a:custGeom>
            <a:avLst/>
            <a:gdLst/>
            <a:ahLst/>
            <a:cxnLst/>
            <a:rect l="l" t="t" r="r" b="b"/>
            <a:pathLst>
              <a:path w="739973" h="739973">
                <a:moveTo>
                  <a:pt x="474508" y="135353"/>
                </a:moveTo>
                <a:cubicBezTo>
                  <a:pt x="482399" y="143253"/>
                  <a:pt x="493946" y="146269"/>
                  <a:pt x="504692" y="143236"/>
                </a:cubicBezTo>
                <a:cubicBezTo>
                  <a:pt x="515439" y="140204"/>
                  <a:pt x="523707" y="131599"/>
                  <a:pt x="526306" y="120739"/>
                </a:cubicBezTo>
                <a:cubicBezTo>
                  <a:pt x="535162" y="83872"/>
                  <a:pt x="569515" y="58921"/>
                  <a:pt x="607314" y="61902"/>
                </a:cubicBezTo>
                <a:cubicBezTo>
                  <a:pt x="645112" y="64883"/>
                  <a:pt x="675129" y="94910"/>
                  <a:pt x="678098" y="132709"/>
                </a:cubicBezTo>
                <a:cubicBezTo>
                  <a:pt x="681066" y="170509"/>
                  <a:pt x="656104" y="204854"/>
                  <a:pt x="619234" y="213698"/>
                </a:cubicBezTo>
                <a:cubicBezTo>
                  <a:pt x="608374" y="216297"/>
                  <a:pt x="599768" y="224564"/>
                  <a:pt x="596736" y="235311"/>
                </a:cubicBezTo>
                <a:cubicBezTo>
                  <a:pt x="593704" y="246058"/>
                  <a:pt x="596720" y="257604"/>
                  <a:pt x="604619" y="265496"/>
                </a:cubicBezTo>
                <a:lnTo>
                  <a:pt x="656510" y="317356"/>
                </a:lnTo>
                <a:cubicBezTo>
                  <a:pt x="670469" y="331314"/>
                  <a:pt x="678311" y="350246"/>
                  <a:pt x="678311" y="369986"/>
                </a:cubicBezTo>
                <a:cubicBezTo>
                  <a:pt x="678311" y="389727"/>
                  <a:pt x="670469" y="408659"/>
                  <a:pt x="656510" y="422617"/>
                </a:cubicBezTo>
                <a:lnTo>
                  <a:pt x="604619" y="474508"/>
                </a:lnTo>
                <a:cubicBezTo>
                  <a:pt x="596728" y="482407"/>
                  <a:pt x="585181" y="485423"/>
                  <a:pt x="574434" y="482391"/>
                </a:cubicBezTo>
                <a:cubicBezTo>
                  <a:pt x="563688" y="479358"/>
                  <a:pt x="555420" y="470753"/>
                  <a:pt x="552821" y="459893"/>
                </a:cubicBezTo>
                <a:cubicBezTo>
                  <a:pt x="543965" y="423026"/>
                  <a:pt x="509612" y="398075"/>
                  <a:pt x="471813" y="401056"/>
                </a:cubicBezTo>
                <a:cubicBezTo>
                  <a:pt x="434015" y="404037"/>
                  <a:pt x="403998" y="434064"/>
                  <a:pt x="401029" y="471864"/>
                </a:cubicBezTo>
                <a:cubicBezTo>
                  <a:pt x="398061" y="509663"/>
                  <a:pt x="423023" y="544008"/>
                  <a:pt x="459893" y="552852"/>
                </a:cubicBezTo>
                <a:cubicBezTo>
                  <a:pt x="470753" y="555451"/>
                  <a:pt x="479358" y="563719"/>
                  <a:pt x="482391" y="574465"/>
                </a:cubicBezTo>
                <a:cubicBezTo>
                  <a:pt x="485423" y="585212"/>
                  <a:pt x="482407" y="596758"/>
                  <a:pt x="474508" y="604650"/>
                </a:cubicBezTo>
                <a:lnTo>
                  <a:pt x="422617" y="656510"/>
                </a:lnTo>
                <a:cubicBezTo>
                  <a:pt x="408659" y="670469"/>
                  <a:pt x="389727" y="678311"/>
                  <a:pt x="369986" y="678311"/>
                </a:cubicBezTo>
                <a:cubicBezTo>
                  <a:pt x="350246" y="678311"/>
                  <a:pt x="331314" y="670469"/>
                  <a:pt x="317356" y="656510"/>
                </a:cubicBezTo>
                <a:lnTo>
                  <a:pt x="265465" y="604619"/>
                </a:lnTo>
                <a:cubicBezTo>
                  <a:pt x="257573" y="596720"/>
                  <a:pt x="246027" y="593704"/>
                  <a:pt x="235280" y="596736"/>
                </a:cubicBezTo>
                <a:cubicBezTo>
                  <a:pt x="224534" y="599768"/>
                  <a:pt x="216266" y="608374"/>
                  <a:pt x="213667" y="619234"/>
                </a:cubicBezTo>
                <a:cubicBezTo>
                  <a:pt x="204811" y="656101"/>
                  <a:pt x="170457" y="681052"/>
                  <a:pt x="132659" y="678071"/>
                </a:cubicBezTo>
                <a:cubicBezTo>
                  <a:pt x="94861" y="675090"/>
                  <a:pt x="64843" y="645063"/>
                  <a:pt x="61875" y="607263"/>
                </a:cubicBezTo>
                <a:cubicBezTo>
                  <a:pt x="58907" y="569464"/>
                  <a:pt x="83869" y="535119"/>
                  <a:pt x="120739" y="526275"/>
                </a:cubicBezTo>
                <a:cubicBezTo>
                  <a:pt x="131599" y="523676"/>
                  <a:pt x="140204" y="515408"/>
                  <a:pt x="143236" y="504662"/>
                </a:cubicBezTo>
                <a:cubicBezTo>
                  <a:pt x="146269" y="493915"/>
                  <a:pt x="143253" y="482368"/>
                  <a:pt x="135353" y="474477"/>
                </a:cubicBezTo>
                <a:lnTo>
                  <a:pt x="83463" y="422617"/>
                </a:lnTo>
                <a:cubicBezTo>
                  <a:pt x="69504" y="408659"/>
                  <a:pt x="61662" y="389727"/>
                  <a:pt x="61662" y="369986"/>
                </a:cubicBezTo>
                <a:cubicBezTo>
                  <a:pt x="61662" y="350246"/>
                  <a:pt x="69504" y="331314"/>
                  <a:pt x="83463" y="317356"/>
                </a:cubicBezTo>
                <a:lnTo>
                  <a:pt x="135353" y="265465"/>
                </a:lnTo>
                <a:cubicBezTo>
                  <a:pt x="143245" y="257565"/>
                  <a:pt x="154791" y="254550"/>
                  <a:pt x="165538" y="257582"/>
                </a:cubicBezTo>
                <a:cubicBezTo>
                  <a:pt x="176285" y="260614"/>
                  <a:pt x="184552" y="269220"/>
                  <a:pt x="187151" y="280080"/>
                </a:cubicBezTo>
                <a:cubicBezTo>
                  <a:pt x="196008" y="316946"/>
                  <a:pt x="230361" y="341897"/>
                  <a:pt x="268159" y="338917"/>
                </a:cubicBezTo>
                <a:cubicBezTo>
                  <a:pt x="305958" y="335936"/>
                  <a:pt x="335975" y="305908"/>
                  <a:pt x="338943" y="268109"/>
                </a:cubicBezTo>
                <a:cubicBezTo>
                  <a:pt x="341912" y="230310"/>
                  <a:pt x="316949" y="195965"/>
                  <a:pt x="280080" y="187121"/>
                </a:cubicBezTo>
                <a:cubicBezTo>
                  <a:pt x="269220" y="184522"/>
                  <a:pt x="260614" y="176254"/>
                  <a:pt x="257582" y="165507"/>
                </a:cubicBezTo>
                <a:cubicBezTo>
                  <a:pt x="254550" y="154761"/>
                  <a:pt x="257565" y="143214"/>
                  <a:pt x="265465" y="135323"/>
                </a:cubicBezTo>
                <a:lnTo>
                  <a:pt x="317356" y="83463"/>
                </a:lnTo>
                <a:cubicBezTo>
                  <a:pt x="331314" y="69504"/>
                  <a:pt x="350246" y="61662"/>
                  <a:pt x="369986" y="61662"/>
                </a:cubicBezTo>
                <a:cubicBezTo>
                  <a:pt x="389727" y="61662"/>
                  <a:pt x="408659" y="69504"/>
                  <a:pt x="422617" y="83463"/>
                </a:cubicBezTo>
                <a:close/>
              </a:path>
            </a:pathLst>
          </a:custGeom>
          <a:noFill/>
          <a:ln w="53956" cap="rnd">
            <a:solidFill>
              <a:srgbClr val="0B2350"/>
            </a:solidFill>
            <a:prstDash val="solid"/>
            <a:round/>
          </a:ln>
        </p:spPr>
      </p:sp>
      <p:sp>
        <p:nvSpPr>
          <p:cNvPr id="20" name="Text 18"/>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Dominio</a:t>
            </a:r>
            <a:endParaRPr lang="en-US" sz="1800" dirty="0"/>
          </a:p>
        </p:txBody>
      </p:sp>
      <p:sp>
        <p:nvSpPr>
          <p:cNvPr id="22" name="Text 20"/>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Pide guardar la solicitud, sin SQL.</a:t>
            </a:r>
            <a:endParaRPr lang="en-US" sz="1400" dirty="0"/>
          </a:p>
        </p:txBody>
      </p:sp>
      <p:sp>
        <p:nvSpPr>
          <p:cNvPr id="23" name="Shape 21"/>
          <p:cNvSpPr/>
          <p:nvPr/>
        </p:nvSpPr>
        <p:spPr>
          <a:xfrm>
            <a:off x="2485888" y="2875788"/>
            <a:ext cx="640080" cy="0"/>
          </a:xfrm>
          <a:prstGeom prst="line">
            <a:avLst/>
          </a:prstGeom>
          <a:noFill/>
          <a:ln w="38100">
            <a:solidFill>
              <a:srgbClr val="2BA6CB"/>
            </a:solidFill>
            <a:prstDash val="solid"/>
            <a:tailEnd type="triangle"/>
          </a:ln>
        </p:spPr>
      </p:sp>
      <p:sp>
        <p:nvSpPr>
          <p:cNvPr id="24" name="Shape 22"/>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plug"/>
          <p:cNvSpPr/>
          <p:nvPr/>
        </p:nvSpPr>
        <p:spPr>
          <a:xfrm>
            <a:off x="3532581" y="2505802"/>
            <a:ext cx="739973" cy="739973"/>
          </a:xfrm>
          <a:custGeom>
            <a:avLst/>
            <a:gdLst/>
            <a:ahLst/>
            <a:cxnLst/>
            <a:rect l="l" t="t" r="r" b="b"/>
            <a:pathLst>
              <a:path w="739973" h="739973">
                <a:moveTo>
                  <a:pt x="369986" y="678308"/>
                </a:moveTo>
                <a:lnTo>
                  <a:pt x="369986" y="524147"/>
                </a:lnTo>
                <a:moveTo>
                  <a:pt x="277490" y="246658"/>
                </a:moveTo>
                <a:lnTo>
                  <a:pt x="277490" y="61664"/>
                </a:lnTo>
                <a:moveTo>
                  <a:pt x="462483" y="246658"/>
                </a:moveTo>
                <a:lnTo>
                  <a:pt x="462483" y="61664"/>
                </a:lnTo>
                <a:moveTo>
                  <a:pt x="554980" y="246658"/>
                </a:moveTo>
                <a:lnTo>
                  <a:pt x="554980" y="400819"/>
                </a:lnTo>
                <a:cubicBezTo>
                  <a:pt x="554980" y="468931"/>
                  <a:pt x="499763" y="524147"/>
                  <a:pt x="431651" y="524147"/>
                </a:cubicBezTo>
                <a:lnTo>
                  <a:pt x="308322" y="524147"/>
                </a:lnTo>
                <a:cubicBezTo>
                  <a:pt x="240209" y="524147"/>
                  <a:pt x="184993" y="468931"/>
                  <a:pt x="184993" y="400819"/>
                </a:cubicBezTo>
                <a:lnTo>
                  <a:pt x="184993" y="246658"/>
                </a:lnTo>
                <a:close/>
              </a:path>
            </a:pathLst>
          </a:custGeom>
          <a:noFill/>
          <a:ln w="53956" cap="rnd">
            <a:solidFill>
              <a:srgbClr val="0B2350"/>
            </a:solidFill>
            <a:prstDash val="solid"/>
            <a:round/>
          </a:ln>
        </p:spPr>
      </p:sp>
      <p:sp>
        <p:nvSpPr>
          <p:cNvPr id="26" name="Text 24"/>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Spring Data</a:t>
            </a:r>
            <a:endParaRPr lang="en-US" sz="1800" dirty="0"/>
          </a:p>
        </p:txBody>
      </p:sp>
      <p:sp>
        <p:nvSpPr>
          <p:cNvPr id="28" name="Text 26"/>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save() y findById(), sin escribir SQL.</a:t>
            </a:r>
            <a:endParaRPr lang="en-US" sz="1400" dirty="0"/>
          </a:p>
        </p:txBody>
      </p:sp>
      <p:sp>
        <p:nvSpPr>
          <p:cNvPr id="29" name="Shape 27"/>
          <p:cNvSpPr/>
          <p:nvPr/>
        </p:nvSpPr>
        <p:spPr>
          <a:xfrm>
            <a:off x="4679168" y="2875788"/>
            <a:ext cx="640080" cy="0"/>
          </a:xfrm>
          <a:prstGeom prst="line">
            <a:avLst/>
          </a:prstGeom>
          <a:noFill/>
          <a:ln w="38100">
            <a:solidFill>
              <a:srgbClr val="2BA6CB"/>
            </a:solidFill>
            <a:prstDash val="solid"/>
            <a:tailEnd type="triangle"/>
          </a:ln>
        </p:spPr>
      </p:sp>
      <p:sp>
        <p:nvSpPr>
          <p:cNvPr id="30" name="Shape 28"/>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able"/>
          <p:cNvSpPr/>
          <p:nvPr/>
        </p:nvSpPr>
        <p:spPr>
          <a:xfrm>
            <a:off x="5725861" y="2505802"/>
            <a:ext cx="739973" cy="739973"/>
          </a:xfrm>
          <a:custGeom>
            <a:avLst/>
            <a:gdLst/>
            <a:ahLst/>
            <a:cxnLst/>
            <a:rect l="l" t="t" r="r" b="b"/>
            <a:pathLst>
              <a:path w="739973" h="739973">
                <a:moveTo>
                  <a:pt x="369986" y="92497"/>
                </a:moveTo>
                <a:lnTo>
                  <a:pt x="369986" y="647476"/>
                </a:lnTo>
                <a:moveTo>
                  <a:pt x="154161" y="92497"/>
                </a:moveTo>
                <a:lnTo>
                  <a:pt x="585812" y="92497"/>
                </a:lnTo>
                <a:cubicBezTo>
                  <a:pt x="619868" y="92497"/>
                  <a:pt x="647476" y="120105"/>
                  <a:pt x="647476" y="154161"/>
                </a:cubicBezTo>
                <a:lnTo>
                  <a:pt x="647476" y="585812"/>
                </a:lnTo>
                <a:cubicBezTo>
                  <a:pt x="647476" y="619868"/>
                  <a:pt x="619868" y="647476"/>
                  <a:pt x="585812" y="647476"/>
                </a:cubicBezTo>
                <a:lnTo>
                  <a:pt x="154161" y="647476"/>
                </a:lnTo>
                <a:cubicBezTo>
                  <a:pt x="120105" y="647476"/>
                  <a:pt x="92497" y="619868"/>
                  <a:pt x="92497" y="585812"/>
                </a:cubicBezTo>
                <a:lnTo>
                  <a:pt x="92497" y="154161"/>
                </a:lnTo>
                <a:cubicBezTo>
                  <a:pt x="92497" y="120105"/>
                  <a:pt x="120105" y="92497"/>
                  <a:pt x="154161" y="92497"/>
                </a:cubicBezTo>
                <a:close/>
                <a:moveTo>
                  <a:pt x="92497" y="277490"/>
                </a:moveTo>
                <a:lnTo>
                  <a:pt x="647476" y="277490"/>
                </a:lnTo>
                <a:moveTo>
                  <a:pt x="92497" y="462483"/>
                </a:moveTo>
                <a:lnTo>
                  <a:pt x="647476" y="462483"/>
                </a:lnTo>
              </a:path>
            </a:pathLst>
          </a:custGeom>
          <a:noFill/>
          <a:ln w="53956" cap="rnd">
            <a:solidFill>
              <a:srgbClr val="0B6E8A"/>
            </a:solidFill>
            <a:prstDash val="solid"/>
            <a:round/>
          </a:ln>
        </p:spPr>
      </p:sp>
      <p:sp>
        <p:nvSpPr>
          <p:cNvPr id="32" name="Text 30"/>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Hibernate</a:t>
            </a:r>
            <a:endParaRPr lang="en-US" sz="1800" dirty="0"/>
          </a:p>
        </p:txBody>
      </p:sp>
      <p:sp>
        <p:nvSpPr>
          <p:cNvPr id="34" name="Text 32"/>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Objeto → INSERT o UPDATE.</a:t>
            </a:r>
            <a:endParaRPr lang="en-US" sz="1400" dirty="0"/>
          </a:p>
        </p:txBody>
      </p:sp>
      <p:sp>
        <p:nvSpPr>
          <p:cNvPr id="35" name="Shape 33"/>
          <p:cNvSpPr/>
          <p:nvPr/>
        </p:nvSpPr>
        <p:spPr>
          <a:xfrm>
            <a:off x="6872448" y="2875788"/>
            <a:ext cx="640080" cy="0"/>
          </a:xfrm>
          <a:prstGeom prst="line">
            <a:avLst/>
          </a:prstGeom>
          <a:noFill/>
          <a:ln w="38100">
            <a:solidFill>
              <a:srgbClr val="2BA6CB"/>
            </a:solidFill>
            <a:prstDash val="solid"/>
            <a:tailEnd type="triangle"/>
          </a:ln>
        </p:spPr>
      </p:sp>
      <p:sp>
        <p:nvSpPr>
          <p:cNvPr id="36" name="Shape 34"/>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cable"/>
          <p:cNvSpPr/>
          <p:nvPr/>
        </p:nvSpPr>
        <p:spPr>
          <a:xfrm>
            <a:off x="7919141" y="2505802"/>
            <a:ext cx="739973" cy="739973"/>
          </a:xfrm>
          <a:custGeom>
            <a:avLst/>
            <a:gdLst/>
            <a:ahLst/>
            <a:cxnLst/>
            <a:rect l="l" t="t" r="r" b="b"/>
            <a:pathLst>
              <a:path w="739973" h="739973">
                <a:moveTo>
                  <a:pt x="524147" y="647476"/>
                </a:moveTo>
                <a:lnTo>
                  <a:pt x="524147" y="585812"/>
                </a:lnTo>
                <a:cubicBezTo>
                  <a:pt x="507119" y="585812"/>
                  <a:pt x="493315" y="572008"/>
                  <a:pt x="493315" y="554980"/>
                </a:cubicBezTo>
                <a:lnTo>
                  <a:pt x="493315" y="524147"/>
                </a:lnTo>
                <a:cubicBezTo>
                  <a:pt x="493315" y="490091"/>
                  <a:pt x="520923" y="462483"/>
                  <a:pt x="554980" y="462483"/>
                </a:cubicBezTo>
                <a:lnTo>
                  <a:pt x="616644" y="462483"/>
                </a:lnTo>
                <a:cubicBezTo>
                  <a:pt x="650700" y="462483"/>
                  <a:pt x="678308" y="490091"/>
                  <a:pt x="678308" y="524147"/>
                </a:cubicBezTo>
                <a:lnTo>
                  <a:pt x="678308" y="554980"/>
                </a:lnTo>
                <a:cubicBezTo>
                  <a:pt x="678308" y="572008"/>
                  <a:pt x="664504" y="585812"/>
                  <a:pt x="647476" y="585812"/>
                </a:cubicBezTo>
                <a:moveTo>
                  <a:pt x="585812" y="462483"/>
                </a:moveTo>
                <a:lnTo>
                  <a:pt x="585812" y="200409"/>
                </a:lnTo>
                <a:cubicBezTo>
                  <a:pt x="585812" y="140811"/>
                  <a:pt x="537498" y="92497"/>
                  <a:pt x="477899" y="92497"/>
                </a:cubicBezTo>
                <a:cubicBezTo>
                  <a:pt x="418301" y="92497"/>
                  <a:pt x="369986" y="140811"/>
                  <a:pt x="369986" y="200409"/>
                </a:cubicBezTo>
                <a:lnTo>
                  <a:pt x="369986" y="539563"/>
                </a:lnTo>
                <a:cubicBezTo>
                  <a:pt x="369986" y="599162"/>
                  <a:pt x="321672" y="647476"/>
                  <a:pt x="262074" y="647476"/>
                </a:cubicBezTo>
                <a:cubicBezTo>
                  <a:pt x="202475" y="647476"/>
                  <a:pt x="154161" y="599162"/>
                  <a:pt x="154161" y="539563"/>
                </a:cubicBezTo>
                <a:lnTo>
                  <a:pt x="154161" y="277490"/>
                </a:lnTo>
                <a:moveTo>
                  <a:pt x="647476" y="647476"/>
                </a:moveTo>
                <a:lnTo>
                  <a:pt x="647476" y="585812"/>
                </a:lnTo>
                <a:lnTo>
                  <a:pt x="524147" y="585812"/>
                </a:lnTo>
                <a:moveTo>
                  <a:pt x="92497" y="154161"/>
                </a:moveTo>
                <a:lnTo>
                  <a:pt x="215825" y="154161"/>
                </a:lnTo>
                <a:lnTo>
                  <a:pt x="215825" y="92497"/>
                </a:lnTo>
                <a:moveTo>
                  <a:pt x="215825" y="154161"/>
                </a:moveTo>
                <a:cubicBezTo>
                  <a:pt x="232854" y="154161"/>
                  <a:pt x="246658" y="167965"/>
                  <a:pt x="246658" y="184993"/>
                </a:cubicBezTo>
                <a:lnTo>
                  <a:pt x="246658" y="215825"/>
                </a:lnTo>
                <a:cubicBezTo>
                  <a:pt x="246658" y="249882"/>
                  <a:pt x="219049" y="277490"/>
                  <a:pt x="184993" y="277490"/>
                </a:cubicBezTo>
                <a:lnTo>
                  <a:pt x="123329" y="277490"/>
                </a:lnTo>
                <a:cubicBezTo>
                  <a:pt x="89272" y="277490"/>
                  <a:pt x="61664" y="249882"/>
                  <a:pt x="61664" y="215825"/>
                </a:cubicBezTo>
                <a:lnTo>
                  <a:pt x="61664" y="184993"/>
                </a:lnTo>
                <a:cubicBezTo>
                  <a:pt x="61664" y="167965"/>
                  <a:pt x="75468" y="154161"/>
                  <a:pt x="92497" y="154161"/>
                </a:cubicBezTo>
                <a:lnTo>
                  <a:pt x="92497" y="92497"/>
                </a:lnTo>
              </a:path>
            </a:pathLst>
          </a:custGeom>
          <a:noFill/>
          <a:ln w="53956" cap="rnd">
            <a:solidFill>
              <a:srgbClr val="0B6E8A"/>
            </a:solidFill>
            <a:prstDash val="solid"/>
            <a:round/>
          </a:ln>
        </p:spPr>
      </p:sp>
      <p:sp>
        <p:nvSpPr>
          <p:cNvPr id="38" name="Text 36"/>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JDBC + pool</a:t>
            </a:r>
            <a:endParaRPr lang="en-US" sz="1800" dirty="0"/>
          </a:p>
        </p:txBody>
      </p:sp>
      <p:sp>
        <p:nvSpPr>
          <p:cNvPr id="40" name="Text 38"/>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Reutiliza conexiones con usuario y clave.</a:t>
            </a:r>
            <a:endParaRPr lang="en-US" sz="1400" dirty="0"/>
          </a:p>
        </p:txBody>
      </p:sp>
      <p:sp>
        <p:nvSpPr>
          <p:cNvPr id="41" name="Shape 39"/>
          <p:cNvSpPr/>
          <p:nvPr/>
        </p:nvSpPr>
        <p:spPr>
          <a:xfrm>
            <a:off x="9065727" y="2875788"/>
            <a:ext cx="640080" cy="0"/>
          </a:xfrm>
          <a:prstGeom prst="line">
            <a:avLst/>
          </a:prstGeom>
          <a:noFill/>
          <a:ln w="38100">
            <a:solidFill>
              <a:srgbClr val="2BA6CB"/>
            </a:solidFill>
            <a:prstDash val="solid"/>
            <a:tailEnd type="triangle"/>
          </a:ln>
        </p:spPr>
      </p:sp>
      <p:sp>
        <p:nvSpPr>
          <p:cNvPr id="42" name="Shape 40"/>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3" name="Icono database"/>
          <p:cNvSpPr/>
          <p:nvPr/>
        </p:nvSpPr>
        <p:spPr>
          <a:xfrm>
            <a:off x="10112421" y="2505802"/>
            <a:ext cx="739973" cy="739973"/>
          </a:xfrm>
          <a:custGeom>
            <a:avLst/>
            <a:gdLst/>
            <a:ahLst/>
            <a:cxnLst/>
            <a:rect l="l" t="t" r="r" b="b"/>
            <a:pathLst>
              <a:path w="739973" h="739973">
                <a:moveTo>
                  <a:pt x="647476" y="154161"/>
                </a:moveTo>
                <a:cubicBezTo>
                  <a:pt x="647476" y="205245"/>
                  <a:pt x="523240" y="246658"/>
                  <a:pt x="369986" y="246658"/>
                </a:cubicBezTo>
                <a:cubicBezTo>
                  <a:pt x="216733" y="246658"/>
                  <a:pt x="92497" y="205245"/>
                  <a:pt x="92497" y="154161"/>
                </a:cubicBezTo>
                <a:cubicBezTo>
                  <a:pt x="92497" y="103077"/>
                  <a:pt x="216733" y="61664"/>
                  <a:pt x="369986" y="61664"/>
                </a:cubicBezTo>
                <a:cubicBezTo>
                  <a:pt x="523240" y="61664"/>
                  <a:pt x="647476" y="103077"/>
                  <a:pt x="647476" y="154161"/>
                </a:cubicBezTo>
                <a:close/>
                <a:moveTo>
                  <a:pt x="92497" y="154161"/>
                </a:moveTo>
                <a:lnTo>
                  <a:pt x="92497" y="585812"/>
                </a:lnTo>
                <a:cubicBezTo>
                  <a:pt x="92497" y="636896"/>
                  <a:pt x="216733" y="678308"/>
                  <a:pt x="369986" y="678308"/>
                </a:cubicBezTo>
                <a:cubicBezTo>
                  <a:pt x="523240" y="678308"/>
                  <a:pt x="647476" y="636896"/>
                  <a:pt x="647476" y="585812"/>
                </a:cubicBezTo>
                <a:lnTo>
                  <a:pt x="647476" y="154161"/>
                </a:lnTo>
                <a:moveTo>
                  <a:pt x="92497" y="369986"/>
                </a:moveTo>
                <a:cubicBezTo>
                  <a:pt x="92497" y="421071"/>
                  <a:pt x="216733" y="462483"/>
                  <a:pt x="369986" y="462483"/>
                </a:cubicBezTo>
                <a:cubicBezTo>
                  <a:pt x="523240" y="462483"/>
                  <a:pt x="647476" y="421071"/>
                  <a:pt x="647476" y="369986"/>
                </a:cubicBezTo>
              </a:path>
            </a:pathLst>
          </a:custGeom>
          <a:noFill/>
          <a:ln w="53956" cap="rnd">
            <a:solidFill>
              <a:srgbClr val="0A6648"/>
            </a:solidFill>
            <a:prstDash val="solid"/>
            <a:round/>
          </a:ln>
        </p:spPr>
      </p:sp>
      <p:sp>
        <p:nvSpPr>
          <p:cNvPr id="44" name="Text 42"/>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46" name="Text 44"/>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Ejecuta y confirma la transacción.</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base por servicio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servicio es dueño de sus tablas; solo el evento cruza la frontera.</a:t>
            </a:r>
            <a:endParaRPr lang="en-US" sz="1700" dirty="0"/>
          </a:p>
        </p:txBody>
      </p:sp>
      <p:sp>
        <p:nvSpPr>
          <p:cNvPr id="14" name="Shape 12"/>
          <p:cNvSpPr/>
          <p:nvPr/>
        </p:nvSpPr>
        <p:spPr>
          <a:xfrm>
            <a:off x="612648" y="2020824"/>
            <a:ext cx="6152693" cy="3511296"/>
          </a:xfrm>
          <a:prstGeom prst="roundRect">
            <a:avLst>
              <a:gd name="adj" fmla="val 3646"/>
            </a:avLst>
          </a:prstGeom>
          <a:solidFill>
            <a:srgbClr val="F0F4FA"/>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2020824"/>
            <a:ext cx="6152693" cy="749808"/>
          </a:xfrm>
          <a:prstGeom prst="roundRect">
            <a:avLst>
              <a:gd name="adj" fmla="val 17073"/>
            </a:avLst>
          </a:prstGeom>
          <a:solidFill>
            <a:srgbClr val="0B2350"/>
          </a:solidFill>
          <a:ln w="12700">
            <a:solidFill>
              <a:srgbClr val="0B2350"/>
            </a:solidFill>
            <a:prstDash val="solid"/>
          </a:ln>
        </p:spPr>
      </p:sp>
      <p:sp>
        <p:nvSpPr>
          <p:cNvPr id="16" name="Shape 14"/>
          <p:cNvSpPr/>
          <p:nvPr/>
        </p:nvSpPr>
        <p:spPr>
          <a:xfrm>
            <a:off x="612648" y="2478024"/>
            <a:ext cx="6152693" cy="292608"/>
          </a:xfrm>
          <a:prstGeom prst="rect">
            <a:avLst/>
          </a:prstGeom>
          <a:solidFill>
            <a:srgbClr val="0B2350"/>
          </a:solidFill>
          <a:ln w="12700">
            <a:solidFill>
              <a:srgbClr val="0B2350"/>
            </a:solidFill>
            <a:prstDash val="solid"/>
          </a:ln>
        </p:spPr>
      </p:sp>
      <p:sp>
        <p:nvSpPr>
          <p:cNvPr id="17" name="Icono database"/>
          <p:cNvSpPr/>
          <p:nvPr/>
        </p:nvSpPr>
        <p:spPr>
          <a:xfrm>
            <a:off x="832104" y="2203704"/>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18" name="Text 16"/>
          <p:cNvSpPr/>
          <p:nvPr/>
        </p:nvSpPr>
        <p:spPr>
          <a:xfrm>
            <a:off x="1362456" y="2093976"/>
            <a:ext cx="5238293"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Segoe UI Semibold" pitchFamily="34" charset="0"/>
                <a:ea typeface="Segoe UI Semibold" pitchFamily="34" charset="-122"/>
                <a:cs typeface="Segoe UI Semibold" pitchFamily="34" charset="-120"/>
              </a:rPr>
              <a:t>db-solicitudes</a:t>
            </a:r>
            <a:endParaRPr lang="en-US" sz="1800" dirty="0"/>
          </a:p>
        </p:txBody>
      </p:sp>
      <p:sp>
        <p:nvSpPr>
          <p:cNvPr id="19" name="Text 17"/>
          <p:cNvSpPr/>
          <p:nvPr/>
        </p:nvSpPr>
        <p:spPr>
          <a:xfrm>
            <a:off x="1362456" y="2441448"/>
            <a:ext cx="5238293"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schema.sql</a:t>
            </a:r>
            <a:endParaRPr lang="en-US" sz="1150" dirty="0"/>
          </a:p>
        </p:txBody>
      </p:sp>
      <p:sp>
        <p:nvSpPr>
          <p:cNvPr id="20" name="Shape 18"/>
          <p:cNvSpPr/>
          <p:nvPr/>
        </p:nvSpPr>
        <p:spPr>
          <a:xfrm>
            <a:off x="841248" y="2980944"/>
            <a:ext cx="27334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41248" y="2980944"/>
            <a:ext cx="2733446" cy="512064"/>
          </a:xfrm>
          <a:prstGeom prst="roundRect">
            <a:avLst>
              <a:gd name="adj" fmla="val 25000"/>
            </a:avLst>
          </a:prstGeom>
          <a:solidFill>
            <a:srgbClr val="E8EEF8"/>
          </a:solidFill>
          <a:ln w="12700">
            <a:solidFill>
              <a:srgbClr val="E8EEF8"/>
            </a:solidFill>
            <a:prstDash val="solid"/>
          </a:ln>
        </p:spPr>
      </p:sp>
      <p:sp>
        <p:nvSpPr>
          <p:cNvPr id="22" name="Shape 20"/>
          <p:cNvSpPr/>
          <p:nvPr/>
        </p:nvSpPr>
        <p:spPr>
          <a:xfrm>
            <a:off x="841248" y="3310128"/>
            <a:ext cx="2733446" cy="182880"/>
          </a:xfrm>
          <a:prstGeom prst="rect">
            <a:avLst/>
          </a:prstGeom>
          <a:solidFill>
            <a:srgbClr val="E8EEF8"/>
          </a:solidFill>
          <a:ln w="12700">
            <a:solidFill>
              <a:srgbClr val="E8EEF8"/>
            </a:solidFill>
            <a:prstDash val="solid"/>
          </a:ln>
        </p:spPr>
      </p:sp>
      <p:sp>
        <p:nvSpPr>
          <p:cNvPr id="23" name="Icono table"/>
          <p:cNvSpPr/>
          <p:nvPr/>
        </p:nvSpPr>
        <p:spPr>
          <a:xfrm>
            <a:off x="987552"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24" name="Text 22"/>
          <p:cNvSpPr/>
          <p:nvPr/>
        </p:nvSpPr>
        <p:spPr>
          <a:xfrm>
            <a:off x="1353312" y="3035808"/>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solicitud</a:t>
            </a:r>
            <a:endParaRPr lang="en-US" sz="1500" dirty="0"/>
          </a:p>
        </p:txBody>
      </p:sp>
      <p:sp>
        <p:nvSpPr>
          <p:cNvPr id="25" name="Icono key-round"/>
          <p:cNvSpPr/>
          <p:nvPr/>
        </p:nvSpPr>
        <p:spPr>
          <a:xfrm>
            <a:off x="996696"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26" name="Text 24"/>
          <p:cNvSpPr/>
          <p:nvPr/>
        </p:nvSpPr>
        <p:spPr>
          <a:xfrm>
            <a:off x="1280160" y="3529584"/>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27" name="Shape 25"/>
          <p:cNvSpPr/>
          <p:nvPr/>
        </p:nvSpPr>
        <p:spPr>
          <a:xfrm>
            <a:off x="978408" y="4096512"/>
            <a:ext cx="2459126" cy="0"/>
          </a:xfrm>
          <a:prstGeom prst="line">
            <a:avLst/>
          </a:prstGeom>
          <a:noFill/>
          <a:ln w="9525">
            <a:solidFill>
              <a:srgbClr val="DFE6F0"/>
            </a:solidFill>
            <a:prstDash val="solid"/>
          </a:ln>
        </p:spPr>
      </p:sp>
      <p:sp>
        <p:nvSpPr>
          <p:cNvPr id="28" name="Icono hash"/>
          <p:cNvSpPr/>
          <p:nvPr/>
        </p:nvSpPr>
        <p:spPr>
          <a:xfrm>
            <a:off x="996696"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29" name="Text 27"/>
          <p:cNvSpPr/>
          <p:nvPr/>
        </p:nvSpPr>
        <p:spPr>
          <a:xfrm>
            <a:off x="1280160" y="4096512"/>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endParaRPr lang="en-US" sz="1400" dirty="0"/>
          </a:p>
        </p:txBody>
      </p:sp>
      <p:sp>
        <p:nvSpPr>
          <p:cNvPr id="30" name="Shape 28"/>
          <p:cNvSpPr/>
          <p:nvPr/>
        </p:nvSpPr>
        <p:spPr>
          <a:xfrm>
            <a:off x="978408" y="4663440"/>
            <a:ext cx="2459126" cy="0"/>
          </a:xfrm>
          <a:prstGeom prst="line">
            <a:avLst/>
          </a:prstGeom>
          <a:noFill/>
          <a:ln w="9525">
            <a:solidFill>
              <a:srgbClr val="DFE6F0"/>
            </a:solidFill>
            <a:prstDash val="solid"/>
          </a:ln>
        </p:spPr>
      </p:sp>
      <p:sp>
        <p:nvSpPr>
          <p:cNvPr id="31" name="Icono hash"/>
          <p:cNvSpPr/>
          <p:nvPr/>
        </p:nvSpPr>
        <p:spPr>
          <a:xfrm>
            <a:off x="996696" y="477316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32" name="Text 30"/>
          <p:cNvSpPr/>
          <p:nvPr/>
        </p:nvSpPr>
        <p:spPr>
          <a:xfrm>
            <a:off x="1280160" y="4663440"/>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estado</a:t>
            </a:r>
            <a:pPr indent="0" marL="0">
              <a:buNone/>
            </a:pPr>
            <a:r>
              <a:rPr lang="en-US" sz="1400" dirty="0">
                <a:solidFill>
                  <a:srgbClr val="55627E"/>
                </a:solidFill>
                <a:latin typeface="Segoe UI" pitchFamily="34" charset="0"/>
                <a:ea typeface="Segoe UI" pitchFamily="34" charset="-122"/>
                <a:cs typeface="Segoe UI" pitchFamily="34" charset="-120"/>
              </a:rPr>
              <a:t>  CHECK (4 estados)</a:t>
            </a:r>
            <a:endParaRPr lang="en-US" sz="1400" dirty="0"/>
          </a:p>
        </p:txBody>
      </p:sp>
      <p:sp>
        <p:nvSpPr>
          <p:cNvPr id="33" name="Shape 31"/>
          <p:cNvSpPr/>
          <p:nvPr/>
        </p:nvSpPr>
        <p:spPr>
          <a:xfrm>
            <a:off x="3803294" y="2980944"/>
            <a:ext cx="27334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3803294" y="2980944"/>
            <a:ext cx="2733446" cy="512064"/>
          </a:xfrm>
          <a:prstGeom prst="roundRect">
            <a:avLst>
              <a:gd name="adj" fmla="val 25000"/>
            </a:avLst>
          </a:prstGeom>
          <a:solidFill>
            <a:srgbClr val="E8EEF8"/>
          </a:solidFill>
          <a:ln w="12700">
            <a:solidFill>
              <a:srgbClr val="E8EEF8"/>
            </a:solidFill>
            <a:prstDash val="solid"/>
          </a:ln>
        </p:spPr>
      </p:sp>
      <p:sp>
        <p:nvSpPr>
          <p:cNvPr id="35" name="Shape 33"/>
          <p:cNvSpPr/>
          <p:nvPr/>
        </p:nvSpPr>
        <p:spPr>
          <a:xfrm>
            <a:off x="3803294" y="3310128"/>
            <a:ext cx="2733446" cy="182880"/>
          </a:xfrm>
          <a:prstGeom prst="rect">
            <a:avLst/>
          </a:prstGeom>
          <a:solidFill>
            <a:srgbClr val="E8EEF8"/>
          </a:solidFill>
          <a:ln w="12700">
            <a:solidFill>
              <a:srgbClr val="E8EEF8"/>
            </a:solidFill>
            <a:prstDash val="solid"/>
          </a:ln>
        </p:spPr>
      </p:sp>
      <p:sp>
        <p:nvSpPr>
          <p:cNvPr id="36" name="Icono table"/>
          <p:cNvSpPr/>
          <p:nvPr/>
        </p:nvSpPr>
        <p:spPr>
          <a:xfrm>
            <a:off x="3949598"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37" name="Text 35"/>
          <p:cNvSpPr/>
          <p:nvPr/>
        </p:nvSpPr>
        <p:spPr>
          <a:xfrm>
            <a:off x="4315358" y="3035808"/>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evento</a:t>
            </a:r>
            <a:endParaRPr lang="en-US" sz="1500" dirty="0"/>
          </a:p>
        </p:txBody>
      </p:sp>
      <p:sp>
        <p:nvSpPr>
          <p:cNvPr id="38" name="Icono key-round"/>
          <p:cNvSpPr/>
          <p:nvPr/>
        </p:nvSpPr>
        <p:spPr>
          <a:xfrm>
            <a:off x="3958742"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39" name="Text 37"/>
          <p:cNvSpPr/>
          <p:nvPr/>
        </p:nvSpPr>
        <p:spPr>
          <a:xfrm>
            <a:off x="4242206" y="3529584"/>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solicitud_id</a:t>
            </a:r>
            <a:pPr indent="0" marL="0">
              <a:buNone/>
            </a:pPr>
            <a:r>
              <a:rPr lang="en-US" sz="1400" dirty="0">
                <a:solidFill>
                  <a:srgbClr val="55627E"/>
                </a:solidFill>
                <a:latin typeface="Segoe UI" pitchFamily="34" charset="0"/>
                <a:ea typeface="Segoe UI" pitchFamily="34" charset="-122"/>
                <a:cs typeface="Segoe UI" pitchFamily="34" charset="-120"/>
              </a:rPr>
              <a:t>  FK</a:t>
            </a:r>
            <a:endParaRPr lang="en-US" sz="1400" dirty="0"/>
          </a:p>
        </p:txBody>
      </p:sp>
      <p:sp>
        <p:nvSpPr>
          <p:cNvPr id="40" name="Shape 38"/>
          <p:cNvSpPr/>
          <p:nvPr/>
        </p:nvSpPr>
        <p:spPr>
          <a:xfrm>
            <a:off x="3940454" y="4096512"/>
            <a:ext cx="2459126" cy="0"/>
          </a:xfrm>
          <a:prstGeom prst="line">
            <a:avLst/>
          </a:prstGeom>
          <a:noFill/>
          <a:ln w="9525">
            <a:solidFill>
              <a:srgbClr val="DFE6F0"/>
            </a:solidFill>
            <a:prstDash val="solid"/>
          </a:ln>
        </p:spPr>
      </p:sp>
      <p:sp>
        <p:nvSpPr>
          <p:cNvPr id="41" name="Icono hash"/>
          <p:cNvSpPr/>
          <p:nvPr/>
        </p:nvSpPr>
        <p:spPr>
          <a:xfrm>
            <a:off x="3958742"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2" name="Text 40"/>
          <p:cNvSpPr/>
          <p:nvPr/>
        </p:nvSpPr>
        <p:spPr>
          <a:xfrm>
            <a:off x="4242206" y="4096512"/>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UUID</a:t>
            </a:r>
            <a:endParaRPr lang="en-US" sz="1400" dirty="0"/>
          </a:p>
        </p:txBody>
      </p:sp>
      <p:sp>
        <p:nvSpPr>
          <p:cNvPr id="43" name="Shape 41"/>
          <p:cNvSpPr/>
          <p:nvPr/>
        </p:nvSpPr>
        <p:spPr>
          <a:xfrm>
            <a:off x="3940454" y="4663440"/>
            <a:ext cx="2459126" cy="0"/>
          </a:xfrm>
          <a:prstGeom prst="line">
            <a:avLst/>
          </a:prstGeom>
          <a:noFill/>
          <a:ln w="9525">
            <a:solidFill>
              <a:srgbClr val="DFE6F0"/>
            </a:solidFill>
            <a:prstDash val="solid"/>
          </a:ln>
        </p:spPr>
      </p:sp>
      <p:sp>
        <p:nvSpPr>
          <p:cNvPr id="44" name="Icono hash"/>
          <p:cNvSpPr/>
          <p:nvPr/>
        </p:nvSpPr>
        <p:spPr>
          <a:xfrm>
            <a:off x="3958742" y="477316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5" name="Text 43"/>
          <p:cNvSpPr/>
          <p:nvPr/>
        </p:nvSpPr>
        <p:spPr>
          <a:xfrm>
            <a:off x="4242206" y="4663440"/>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procesado</a:t>
            </a:r>
            <a:pPr indent="0" marL="0">
              <a:buNone/>
            </a:pPr>
            <a:r>
              <a:rPr lang="en-US" sz="1400" dirty="0">
                <a:solidFill>
                  <a:srgbClr val="55627E"/>
                </a:solidFill>
                <a:latin typeface="Segoe UI" pitchFamily="34" charset="0"/>
                <a:ea typeface="Segoe UI" pitchFamily="34" charset="-122"/>
                <a:cs typeface="Segoe UI" pitchFamily="34" charset="-120"/>
              </a:rPr>
              <a:t>  false = pendiente</a:t>
            </a:r>
            <a:endParaRPr lang="en-US" sz="1400" dirty="0"/>
          </a:p>
        </p:txBody>
      </p:sp>
      <p:sp>
        <p:nvSpPr>
          <p:cNvPr id="46" name="Shape 44"/>
          <p:cNvSpPr/>
          <p:nvPr/>
        </p:nvSpPr>
        <p:spPr>
          <a:xfrm>
            <a:off x="8502701" y="2020824"/>
            <a:ext cx="3076346" cy="3511296"/>
          </a:xfrm>
          <a:prstGeom prst="roundRect">
            <a:avLst>
              <a:gd name="adj" fmla="val 4161"/>
            </a:avLst>
          </a:prstGeom>
          <a:solidFill>
            <a:srgbClr val="EDF8FC"/>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8502701" y="2020824"/>
            <a:ext cx="3076346" cy="749808"/>
          </a:xfrm>
          <a:prstGeom prst="roundRect">
            <a:avLst>
              <a:gd name="adj" fmla="val 17073"/>
            </a:avLst>
          </a:prstGeom>
          <a:solidFill>
            <a:srgbClr val="0B6E8A"/>
          </a:solidFill>
          <a:ln w="12700">
            <a:solidFill>
              <a:srgbClr val="0B6E8A"/>
            </a:solidFill>
            <a:prstDash val="solid"/>
          </a:ln>
        </p:spPr>
      </p:sp>
      <p:sp>
        <p:nvSpPr>
          <p:cNvPr id="48" name="Shape 46"/>
          <p:cNvSpPr/>
          <p:nvPr/>
        </p:nvSpPr>
        <p:spPr>
          <a:xfrm>
            <a:off x="8502701" y="2478024"/>
            <a:ext cx="3076346" cy="292608"/>
          </a:xfrm>
          <a:prstGeom prst="rect">
            <a:avLst/>
          </a:prstGeom>
          <a:solidFill>
            <a:srgbClr val="0B6E8A"/>
          </a:solidFill>
          <a:ln w="12700">
            <a:solidFill>
              <a:srgbClr val="0B6E8A"/>
            </a:solidFill>
            <a:prstDash val="solid"/>
          </a:ln>
        </p:spPr>
      </p:sp>
      <p:sp>
        <p:nvSpPr>
          <p:cNvPr id="49" name="Icono database"/>
          <p:cNvSpPr/>
          <p:nvPr/>
        </p:nvSpPr>
        <p:spPr>
          <a:xfrm>
            <a:off x="8722157" y="2203704"/>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50" name="Text 48"/>
          <p:cNvSpPr/>
          <p:nvPr/>
        </p:nvSpPr>
        <p:spPr>
          <a:xfrm>
            <a:off x="9252509" y="2093976"/>
            <a:ext cx="2161946" cy="36576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Segoe UI Semibold" pitchFamily="34" charset="0"/>
                <a:ea typeface="Segoe UI Semibold" pitchFamily="34" charset="-122"/>
                <a:cs typeface="Segoe UI Semibold" pitchFamily="34" charset="-120"/>
              </a:rPr>
              <a:t>db-notificaciones</a:t>
            </a:r>
            <a:endParaRPr lang="en-US" sz="1700" dirty="0"/>
          </a:p>
        </p:txBody>
      </p:sp>
      <p:sp>
        <p:nvSpPr>
          <p:cNvPr id="51" name="Text 49"/>
          <p:cNvSpPr/>
          <p:nvPr/>
        </p:nvSpPr>
        <p:spPr>
          <a:xfrm>
            <a:off x="9252509" y="2441448"/>
            <a:ext cx="2161946"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Hibernate</a:t>
            </a:r>
            <a:endParaRPr lang="en-US" sz="1150" dirty="0"/>
          </a:p>
        </p:txBody>
      </p:sp>
      <p:sp>
        <p:nvSpPr>
          <p:cNvPr id="52" name="Shape 50"/>
          <p:cNvSpPr/>
          <p:nvPr/>
        </p:nvSpPr>
        <p:spPr>
          <a:xfrm>
            <a:off x="8731301" y="2980944"/>
            <a:ext cx="26191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8731301" y="2980944"/>
            <a:ext cx="2619146" cy="512064"/>
          </a:xfrm>
          <a:prstGeom prst="roundRect">
            <a:avLst>
              <a:gd name="adj" fmla="val 25000"/>
            </a:avLst>
          </a:prstGeom>
          <a:solidFill>
            <a:srgbClr val="E3F4FA"/>
          </a:solidFill>
          <a:ln w="12700">
            <a:solidFill>
              <a:srgbClr val="E3F4FA"/>
            </a:solidFill>
            <a:prstDash val="solid"/>
          </a:ln>
        </p:spPr>
      </p:sp>
      <p:sp>
        <p:nvSpPr>
          <p:cNvPr id="54" name="Shape 52"/>
          <p:cNvSpPr/>
          <p:nvPr/>
        </p:nvSpPr>
        <p:spPr>
          <a:xfrm>
            <a:off x="8731301" y="3310128"/>
            <a:ext cx="2619146" cy="182880"/>
          </a:xfrm>
          <a:prstGeom prst="rect">
            <a:avLst/>
          </a:prstGeom>
          <a:solidFill>
            <a:srgbClr val="E3F4FA"/>
          </a:solidFill>
          <a:ln w="12700">
            <a:solidFill>
              <a:srgbClr val="E3F4FA"/>
            </a:solidFill>
            <a:prstDash val="solid"/>
          </a:ln>
        </p:spPr>
      </p:sp>
      <p:sp>
        <p:nvSpPr>
          <p:cNvPr id="55" name="Icono table"/>
          <p:cNvSpPr/>
          <p:nvPr/>
        </p:nvSpPr>
        <p:spPr>
          <a:xfrm>
            <a:off x="8877605"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6E8A"/>
            </a:solidFill>
            <a:prstDash val="solid"/>
            <a:round/>
          </a:ln>
        </p:spPr>
      </p:sp>
      <p:sp>
        <p:nvSpPr>
          <p:cNvPr id="56" name="Text 54"/>
          <p:cNvSpPr/>
          <p:nvPr/>
        </p:nvSpPr>
        <p:spPr>
          <a:xfrm>
            <a:off x="9243365" y="3035808"/>
            <a:ext cx="1979066" cy="402336"/>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Consolas" pitchFamily="34" charset="0"/>
                <a:ea typeface="Consolas" pitchFamily="34" charset="-122"/>
                <a:cs typeface="Consolas" pitchFamily="34" charset="-120"/>
              </a:rPr>
              <a:t>evento_procesado</a:t>
            </a:r>
            <a:endParaRPr lang="en-US" sz="1500" dirty="0"/>
          </a:p>
        </p:txBody>
      </p:sp>
      <p:sp>
        <p:nvSpPr>
          <p:cNvPr id="57" name="Icono key-round"/>
          <p:cNvSpPr/>
          <p:nvPr/>
        </p:nvSpPr>
        <p:spPr>
          <a:xfrm>
            <a:off x="8886749"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58" name="Text 56"/>
          <p:cNvSpPr/>
          <p:nvPr/>
        </p:nvSpPr>
        <p:spPr>
          <a:xfrm>
            <a:off x="9170213" y="3529584"/>
            <a:ext cx="20887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59" name="Shape 57"/>
          <p:cNvSpPr/>
          <p:nvPr/>
        </p:nvSpPr>
        <p:spPr>
          <a:xfrm>
            <a:off x="8868461" y="4096512"/>
            <a:ext cx="2344826" cy="0"/>
          </a:xfrm>
          <a:prstGeom prst="line">
            <a:avLst/>
          </a:prstGeom>
          <a:noFill/>
          <a:ln w="9525">
            <a:solidFill>
              <a:srgbClr val="DFE6F0"/>
            </a:solidFill>
            <a:prstDash val="solid"/>
          </a:ln>
        </p:spPr>
      </p:sp>
      <p:sp>
        <p:nvSpPr>
          <p:cNvPr id="60" name="Icono hash"/>
          <p:cNvSpPr/>
          <p:nvPr/>
        </p:nvSpPr>
        <p:spPr>
          <a:xfrm>
            <a:off x="8886749"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61" name="Text 59"/>
          <p:cNvSpPr/>
          <p:nvPr/>
        </p:nvSpPr>
        <p:spPr>
          <a:xfrm>
            <a:off x="9170213" y="4096512"/>
            <a:ext cx="20887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un registro por evento recibido</a:t>
            </a:r>
            <a:endParaRPr lang="en-US" sz="1400" dirty="0"/>
          </a:p>
        </p:txBody>
      </p:sp>
      <p:sp>
        <p:nvSpPr>
          <p:cNvPr id="62" name="Shape 60"/>
          <p:cNvSpPr/>
          <p:nvPr/>
        </p:nvSpPr>
        <p:spPr>
          <a:xfrm>
            <a:off x="6838493" y="4142232"/>
            <a:ext cx="1591056" cy="0"/>
          </a:xfrm>
          <a:prstGeom prst="line">
            <a:avLst/>
          </a:prstGeom>
          <a:noFill/>
          <a:ln w="31750">
            <a:solidFill>
              <a:srgbClr val="0B6E8A"/>
            </a:solidFill>
            <a:prstDash val="dash"/>
            <a:tailEnd type="triangle"/>
          </a:ln>
        </p:spPr>
      </p:sp>
      <p:sp>
        <p:nvSpPr>
          <p:cNvPr id="63" name="Text 61"/>
          <p:cNvSpPr/>
          <p:nvPr/>
        </p:nvSpPr>
        <p:spPr>
          <a:xfrm>
            <a:off x="6838493" y="3575304"/>
            <a:ext cx="1591056" cy="512064"/>
          </a:xfrm>
          <a:prstGeom prst="rect">
            <a:avLst/>
          </a:prstGeom>
          <a:noFill/>
          <a:ln/>
        </p:spPr>
        <p:txBody>
          <a:bodyPr wrap="square" lIns="0" tIns="0" rIns="0" bIns="0" rtlCol="0" anchor="b">
            <a:normAutofit/>
          </a:bodyPr>
          <a:lstStyle/>
          <a:p>
            <a:pPr algn="ctr" indent="0" marL="0">
              <a:buNone/>
            </a:pPr>
            <a:r>
              <a:rPr lang="en-US" sz="1200" b="1" dirty="0">
                <a:solidFill>
                  <a:srgbClr val="0B6E8A"/>
                </a:solidFill>
                <a:latin typeface="Segoe UI" pitchFamily="34" charset="0"/>
                <a:ea typeface="Segoe UI" pitchFamily="34" charset="-122"/>
                <a:cs typeface="Segoe UI" pitchFamily="34" charset="-120"/>
              </a:rPr>
              <a:t>evento_id por HTTP</a:t>
            </a:r>
            <a:endParaRPr lang="en-US" sz="1200" dirty="0"/>
          </a:p>
        </p:txBody>
      </p:sp>
      <p:sp>
        <p:nvSpPr>
          <p:cNvPr id="64" name="Text 62"/>
          <p:cNvSpPr/>
          <p:nvPr/>
        </p:nvSpPr>
        <p:spPr>
          <a:xfrm>
            <a:off x="6838493" y="4215384"/>
            <a:ext cx="1591056" cy="45720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sin llaves foráneas entre bases</a:t>
            </a:r>
            <a:endParaRPr lang="en-US" sz="1050" dirty="0"/>
          </a:p>
        </p:txBody>
      </p:sp>
      <p:sp>
        <p:nvSpPr>
          <p:cNvPr id="65" name="Shape 63"/>
          <p:cNvSpPr/>
          <p:nvPr/>
        </p:nvSpPr>
        <p:spPr>
          <a:xfrm>
            <a:off x="0" y="5961888"/>
            <a:ext cx="12191695" cy="475488"/>
          </a:xfrm>
          <a:prstGeom prst="rect">
            <a:avLst/>
          </a:prstGeom>
          <a:solidFill>
            <a:srgbClr val="0B2350"/>
          </a:solidFill>
          <a:ln w="12700">
            <a:solidFill>
              <a:srgbClr val="0B2350"/>
            </a:solidFill>
            <a:prstDash val="solid"/>
          </a:ln>
        </p:spPr>
      </p:sp>
      <p:sp>
        <p:nvSpPr>
          <p:cNvPr id="6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67" name="Text 6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Cada servicio cambia su esquema sin coordinarse con el otro; solo el contrato del evento es compartido.</a:t>
            </a:r>
            <a:endParaRPr lang="en-US" sz="1400" dirty="0"/>
          </a:p>
        </p:txBody>
      </p:sp>
      <p:sp>
        <p:nvSpPr>
          <p:cNvPr id="68" name="Text 6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 esquema que se cuida solo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Sin herramientas de migración, pero sin sorpresas al arrancar.</a:t>
            </a:r>
            <a:endParaRPr lang="en-US" sz="1700" dirty="0"/>
          </a:p>
        </p:txBody>
      </p:sp>
      <p:sp>
        <p:nvSpPr>
          <p:cNvPr id="14" name="Shape 12"/>
          <p:cNvSpPr/>
          <p:nvPr/>
        </p:nvSpPr>
        <p:spPr>
          <a:xfrm>
            <a:off x="61264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47088"/>
            <a:ext cx="64008" cy="1970532"/>
          </a:xfrm>
          <a:prstGeom prst="rect">
            <a:avLst/>
          </a:prstGeom>
          <a:solidFill>
            <a:srgbClr val="0B2350"/>
          </a:solidFill>
          <a:ln w="12700">
            <a:solidFill>
              <a:srgbClr val="0B2350"/>
            </a:solidFill>
            <a:prstDash val="solid"/>
          </a:ln>
        </p:spPr>
      </p:sp>
      <p:sp>
        <p:nvSpPr>
          <p:cNvPr id="16" name="Shape 14"/>
          <p:cNvSpPr/>
          <p:nvPr/>
        </p:nvSpPr>
        <p:spPr>
          <a:xfrm>
            <a:off x="886968" y="2439162"/>
            <a:ext cx="786384" cy="786384"/>
          </a:xfrm>
          <a:prstGeom prst="ellipse">
            <a:avLst/>
          </a:prstGeom>
          <a:solidFill>
            <a:srgbClr val="E8EEF8"/>
          </a:solidFill>
          <a:ln w="12700">
            <a:solidFill>
              <a:srgbClr val="E8EEF8"/>
            </a:solidFill>
            <a:prstDash val="solid"/>
          </a:ln>
        </p:spPr>
      </p:sp>
      <p:sp>
        <p:nvSpPr>
          <p:cNvPr id="17" name="Icono repeat"/>
          <p:cNvSpPr/>
          <p:nvPr/>
        </p:nvSpPr>
        <p:spPr>
          <a:xfrm>
            <a:off x="1075700" y="2627894"/>
            <a:ext cx="408920" cy="408920"/>
          </a:xfrm>
          <a:custGeom>
            <a:avLst/>
            <a:gdLst/>
            <a:ahLst/>
            <a:cxnLst/>
            <a:rect l="l" t="t" r="r" b="b"/>
            <a:pathLst>
              <a:path w="408920" h="408920">
                <a:moveTo>
                  <a:pt x="289651" y="34077"/>
                </a:moveTo>
                <a:lnTo>
                  <a:pt x="357805" y="102230"/>
                </a:lnTo>
                <a:lnTo>
                  <a:pt x="289651" y="170383"/>
                </a:lnTo>
                <a:moveTo>
                  <a:pt x="51115" y="187422"/>
                </a:moveTo>
                <a:lnTo>
                  <a:pt x="51115" y="170383"/>
                </a:lnTo>
                <a:cubicBezTo>
                  <a:pt x="51115" y="132743"/>
                  <a:pt x="81628" y="102230"/>
                  <a:pt x="119268" y="102230"/>
                </a:cubicBezTo>
                <a:lnTo>
                  <a:pt x="357805" y="102230"/>
                </a:lnTo>
                <a:moveTo>
                  <a:pt x="119268" y="374843"/>
                </a:moveTo>
                <a:lnTo>
                  <a:pt x="51115" y="306690"/>
                </a:lnTo>
                <a:lnTo>
                  <a:pt x="119268" y="238536"/>
                </a:lnTo>
                <a:moveTo>
                  <a:pt x="357805" y="221498"/>
                </a:moveTo>
                <a:lnTo>
                  <a:pt x="357805" y="238536"/>
                </a:lnTo>
                <a:cubicBezTo>
                  <a:pt x="357805" y="276176"/>
                  <a:pt x="327291" y="306690"/>
                  <a:pt x="289651" y="306690"/>
                </a:cubicBezTo>
                <a:lnTo>
                  <a:pt x="51115" y="306690"/>
                </a:lnTo>
              </a:path>
            </a:pathLst>
          </a:custGeom>
          <a:noFill/>
          <a:ln w="34077" cap="rnd">
            <a:solidFill>
              <a:srgbClr val="0B2350"/>
            </a:solidFill>
            <a:prstDash val="solid"/>
            <a:round/>
          </a:ln>
        </p:spPr>
      </p:sp>
      <p:sp>
        <p:nvSpPr>
          <p:cNvPr id="18" name="Text 16"/>
          <p:cNvSpPr/>
          <p:nvPr/>
        </p:nvSpPr>
        <p:spPr>
          <a:xfrm>
            <a:off x="192938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schema.sql idempotente</a:t>
            </a:r>
            <a:endParaRPr lang="en-US" sz="2000" dirty="0"/>
          </a:p>
        </p:txBody>
      </p:sp>
      <p:sp>
        <p:nvSpPr>
          <p:cNvPr id="19" name="Text 17"/>
          <p:cNvSpPr/>
          <p:nvPr/>
        </p:nvSpPr>
        <p:spPr>
          <a:xfrm>
            <a:off x="192938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CREATE y ALTER … IF NOT EXISTS: se puede correr mil veces y también actualiza bases viejas.</a:t>
            </a:r>
            <a:endParaRPr lang="en-US" sz="1600" dirty="0"/>
          </a:p>
        </p:txBody>
      </p:sp>
      <p:sp>
        <p:nvSpPr>
          <p:cNvPr id="20" name="Shape 18"/>
          <p:cNvSpPr/>
          <p:nvPr/>
        </p:nvSpPr>
        <p:spPr>
          <a:xfrm>
            <a:off x="618728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87288" y="1847088"/>
            <a:ext cx="64008" cy="1970532"/>
          </a:xfrm>
          <a:prstGeom prst="rect">
            <a:avLst/>
          </a:prstGeom>
          <a:solidFill>
            <a:srgbClr val="0B6E8A"/>
          </a:solidFill>
          <a:ln w="12700">
            <a:solidFill>
              <a:srgbClr val="0B6E8A"/>
            </a:solidFill>
            <a:prstDash val="solid"/>
          </a:ln>
        </p:spPr>
      </p:sp>
      <p:sp>
        <p:nvSpPr>
          <p:cNvPr id="22" name="Shape 20"/>
          <p:cNvSpPr/>
          <p:nvPr/>
        </p:nvSpPr>
        <p:spPr>
          <a:xfrm>
            <a:off x="6461608" y="2439162"/>
            <a:ext cx="786384" cy="786384"/>
          </a:xfrm>
          <a:prstGeom prst="ellipse">
            <a:avLst/>
          </a:prstGeom>
          <a:solidFill>
            <a:srgbClr val="E3F4FA"/>
          </a:solidFill>
          <a:ln w="12700">
            <a:solidFill>
              <a:srgbClr val="E3F4FA"/>
            </a:solidFill>
            <a:prstDash val="solid"/>
          </a:ln>
        </p:spPr>
      </p:sp>
      <p:sp>
        <p:nvSpPr>
          <p:cNvPr id="23" name="Icono list-checks"/>
          <p:cNvSpPr/>
          <p:nvPr/>
        </p:nvSpPr>
        <p:spPr>
          <a:xfrm>
            <a:off x="6650340" y="2627894"/>
            <a:ext cx="408920" cy="408920"/>
          </a:xfrm>
          <a:custGeom>
            <a:avLst/>
            <a:gdLst/>
            <a:ahLst/>
            <a:cxnLst/>
            <a:rect l="l" t="t" r="r" b="b"/>
            <a:pathLst>
              <a:path w="408920" h="408920">
                <a:moveTo>
                  <a:pt x="51115" y="289651"/>
                </a:moveTo>
                <a:lnTo>
                  <a:pt x="85192" y="323728"/>
                </a:lnTo>
                <a:lnTo>
                  <a:pt x="153345" y="255575"/>
                </a:lnTo>
                <a:moveTo>
                  <a:pt x="51115" y="119268"/>
                </a:moveTo>
                <a:lnTo>
                  <a:pt x="85192" y="153345"/>
                </a:lnTo>
                <a:lnTo>
                  <a:pt x="153345" y="85192"/>
                </a:lnTo>
                <a:moveTo>
                  <a:pt x="221498" y="102230"/>
                </a:moveTo>
                <a:lnTo>
                  <a:pt x="357805" y="102230"/>
                </a:lnTo>
                <a:moveTo>
                  <a:pt x="221498" y="204460"/>
                </a:moveTo>
                <a:lnTo>
                  <a:pt x="357805" y="204460"/>
                </a:lnTo>
                <a:moveTo>
                  <a:pt x="221498" y="306690"/>
                </a:moveTo>
                <a:lnTo>
                  <a:pt x="357805" y="306690"/>
                </a:lnTo>
              </a:path>
            </a:pathLst>
          </a:custGeom>
          <a:noFill/>
          <a:ln w="34077" cap="rnd">
            <a:solidFill>
              <a:srgbClr val="0B6E8A"/>
            </a:solidFill>
            <a:prstDash val="solid"/>
            <a:round/>
          </a:ln>
        </p:spPr>
      </p:sp>
      <p:sp>
        <p:nvSpPr>
          <p:cNvPr id="24" name="Text 22"/>
          <p:cNvSpPr/>
          <p:nvPr/>
        </p:nvSpPr>
        <p:spPr>
          <a:xfrm>
            <a:off x="750402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6E8A"/>
                </a:solidFill>
                <a:latin typeface="Segoe UI Semibold" pitchFamily="34" charset="0"/>
                <a:ea typeface="Segoe UI Semibold" pitchFamily="34" charset="-122"/>
                <a:cs typeface="Segoe UI Semibold" pitchFamily="34" charset="-120"/>
              </a:rPr>
              <a:t>Hibernate valida</a:t>
            </a:r>
            <a:endParaRPr lang="en-US" sz="2000" dirty="0"/>
          </a:p>
        </p:txBody>
      </p:sp>
      <p:sp>
        <p:nvSpPr>
          <p:cNvPr id="25" name="Text 23"/>
          <p:cNvSpPr/>
          <p:nvPr/>
        </p:nvSpPr>
        <p:spPr>
          <a:xfrm>
            <a:off x="750402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ddl-auto=validate: si una entidad no coincide con la tabla, el servicio no arranca.</a:t>
            </a:r>
            <a:endParaRPr lang="en-US" sz="1600" dirty="0"/>
          </a:p>
        </p:txBody>
      </p:sp>
      <p:sp>
        <p:nvSpPr>
          <p:cNvPr id="26" name="Shape 24"/>
          <p:cNvSpPr/>
          <p:nvPr/>
        </p:nvSpPr>
        <p:spPr>
          <a:xfrm>
            <a:off x="61264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Shape 25"/>
          <p:cNvSpPr/>
          <p:nvPr/>
        </p:nvSpPr>
        <p:spPr>
          <a:xfrm>
            <a:off x="612648" y="4256532"/>
            <a:ext cx="64008" cy="1970532"/>
          </a:xfrm>
          <a:prstGeom prst="rect">
            <a:avLst/>
          </a:prstGeom>
          <a:solidFill>
            <a:srgbClr val="0A6648"/>
          </a:solidFill>
          <a:ln w="12700">
            <a:solidFill>
              <a:srgbClr val="0A6648"/>
            </a:solidFill>
            <a:prstDash val="solid"/>
          </a:ln>
        </p:spPr>
      </p:sp>
      <p:sp>
        <p:nvSpPr>
          <p:cNvPr id="28" name="Shape 26"/>
          <p:cNvSpPr/>
          <p:nvPr/>
        </p:nvSpPr>
        <p:spPr>
          <a:xfrm>
            <a:off x="886968" y="4848606"/>
            <a:ext cx="786384" cy="786384"/>
          </a:xfrm>
          <a:prstGeom prst="ellipse">
            <a:avLst/>
          </a:prstGeom>
          <a:solidFill>
            <a:srgbClr val="E1F1EA"/>
          </a:solidFill>
          <a:ln w="12700">
            <a:solidFill>
              <a:srgbClr val="E1F1EA"/>
            </a:solidFill>
            <a:prstDash val="solid"/>
          </a:ln>
        </p:spPr>
      </p:sp>
      <p:sp>
        <p:nvSpPr>
          <p:cNvPr id="29" name="Icono shield-check"/>
          <p:cNvSpPr/>
          <p:nvPr/>
        </p:nvSpPr>
        <p:spPr>
          <a:xfrm>
            <a:off x="1075700" y="5037338"/>
            <a:ext cx="408920" cy="408920"/>
          </a:xfrm>
          <a:custGeom>
            <a:avLst/>
            <a:gdLst/>
            <a:ahLst/>
            <a:cxnLst/>
            <a:rect l="l" t="t" r="r" b="b"/>
            <a:pathLst>
              <a:path w="408920" h="408920">
                <a:moveTo>
                  <a:pt x="340766" y="221498"/>
                </a:moveTo>
                <a:cubicBezTo>
                  <a:pt x="340766" y="306690"/>
                  <a:pt x="281132" y="349286"/>
                  <a:pt x="210253" y="373991"/>
                </a:cubicBezTo>
                <a:cubicBezTo>
                  <a:pt x="206541" y="375249"/>
                  <a:pt x="202510" y="375189"/>
                  <a:pt x="198837" y="373821"/>
                </a:cubicBezTo>
                <a:cubicBezTo>
                  <a:pt x="127787" y="349286"/>
                  <a:pt x="68153" y="306690"/>
                  <a:pt x="68153" y="221498"/>
                </a:cubicBezTo>
                <a:lnTo>
                  <a:pt x="68153" y="102230"/>
                </a:lnTo>
                <a:cubicBezTo>
                  <a:pt x="68153" y="92820"/>
                  <a:pt x="75782" y="85192"/>
                  <a:pt x="85192" y="85192"/>
                </a:cubicBezTo>
                <a:cubicBezTo>
                  <a:pt x="119268" y="85192"/>
                  <a:pt x="161864" y="64746"/>
                  <a:pt x="191511" y="38847"/>
                </a:cubicBezTo>
                <a:cubicBezTo>
                  <a:pt x="198968" y="32476"/>
                  <a:pt x="209952" y="32476"/>
                  <a:pt x="217409" y="38847"/>
                </a:cubicBezTo>
                <a:cubicBezTo>
                  <a:pt x="247226" y="64916"/>
                  <a:pt x="289651" y="85192"/>
                  <a:pt x="323728" y="85192"/>
                </a:cubicBezTo>
                <a:cubicBezTo>
                  <a:pt x="333138" y="85192"/>
                  <a:pt x="340766" y="92820"/>
                  <a:pt x="340766" y="102230"/>
                </a:cubicBezTo>
                <a:close/>
                <a:moveTo>
                  <a:pt x="153345" y="204460"/>
                </a:moveTo>
                <a:lnTo>
                  <a:pt x="187422" y="238536"/>
                </a:lnTo>
                <a:lnTo>
                  <a:pt x="255575" y="170383"/>
                </a:lnTo>
              </a:path>
            </a:pathLst>
          </a:custGeom>
          <a:noFill/>
          <a:ln w="34077" cap="rnd">
            <a:solidFill>
              <a:srgbClr val="0A6648"/>
            </a:solidFill>
            <a:prstDash val="solid"/>
            <a:round/>
          </a:ln>
        </p:spPr>
      </p:sp>
      <p:sp>
        <p:nvSpPr>
          <p:cNvPr id="30" name="Text 28"/>
          <p:cNvSpPr/>
          <p:nvPr/>
        </p:nvSpPr>
        <p:spPr>
          <a:xfrm>
            <a:off x="1929384" y="4784598"/>
            <a:ext cx="3892144" cy="420624"/>
          </a:xfrm>
          <a:prstGeom prst="rect">
            <a:avLst/>
          </a:prstGeom>
          <a:noFill/>
          <a:ln/>
        </p:spPr>
        <p:txBody>
          <a:bodyPr wrap="square" lIns="0" tIns="0" rIns="0" bIns="0" rtlCol="0" anchor="b">
            <a:normAutofit/>
          </a:bodyPr>
          <a:lstStyle/>
          <a:p>
            <a:pPr algn="l" indent="0" marL="0">
              <a:buNone/>
            </a:pPr>
            <a:r>
              <a:rPr lang="en-US" sz="1900" b="1" dirty="0">
                <a:solidFill>
                  <a:srgbClr val="0A6648"/>
                </a:solidFill>
                <a:latin typeface="Segoe UI Semibold" pitchFamily="34" charset="0"/>
                <a:ea typeface="Segoe UI Semibold" pitchFamily="34" charset="-122"/>
                <a:cs typeface="Segoe UI Semibold" pitchFamily="34" charset="-120"/>
              </a:rPr>
              <a:t>La base también cuida reglas</a:t>
            </a:r>
            <a:endParaRPr lang="en-US" sz="1900" dirty="0"/>
          </a:p>
        </p:txBody>
      </p:sp>
      <p:sp>
        <p:nvSpPr>
          <p:cNvPr id="31" name="Text 29"/>
          <p:cNvSpPr/>
          <p:nvPr/>
        </p:nvSpPr>
        <p:spPr>
          <a:xfrm>
            <a:off x="192938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 CHECK solo admite BORRADOR, ENVIADA, APROBADA o RECHAZADA.</a:t>
            </a:r>
            <a:endParaRPr lang="en-US" sz="1600" dirty="0"/>
          </a:p>
        </p:txBody>
      </p:sp>
      <p:sp>
        <p:nvSpPr>
          <p:cNvPr id="32" name="Shape 30"/>
          <p:cNvSpPr/>
          <p:nvPr/>
        </p:nvSpPr>
        <p:spPr>
          <a:xfrm>
            <a:off x="618728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6187288" y="4256532"/>
            <a:ext cx="64008" cy="1970532"/>
          </a:xfrm>
          <a:prstGeom prst="rect">
            <a:avLst/>
          </a:prstGeom>
          <a:solidFill>
            <a:srgbClr val="8A4B06"/>
          </a:solidFill>
          <a:ln w="12700">
            <a:solidFill>
              <a:srgbClr val="8A4B06"/>
            </a:solidFill>
            <a:prstDash val="solid"/>
          </a:ln>
        </p:spPr>
      </p:sp>
      <p:sp>
        <p:nvSpPr>
          <p:cNvPr id="34" name="Shape 32"/>
          <p:cNvSpPr/>
          <p:nvPr/>
        </p:nvSpPr>
        <p:spPr>
          <a:xfrm>
            <a:off x="6461608" y="4848606"/>
            <a:ext cx="786384" cy="786384"/>
          </a:xfrm>
          <a:prstGeom prst="ellipse">
            <a:avLst/>
          </a:prstGeom>
          <a:solidFill>
            <a:srgbClr val="FCEFD6"/>
          </a:solidFill>
          <a:ln w="12700">
            <a:solidFill>
              <a:srgbClr val="FCEFD6"/>
            </a:solidFill>
            <a:prstDash val="solid"/>
          </a:ln>
        </p:spPr>
      </p:sp>
      <p:sp>
        <p:nvSpPr>
          <p:cNvPr id="35" name="Icono gauge"/>
          <p:cNvSpPr/>
          <p:nvPr/>
        </p:nvSpPr>
        <p:spPr>
          <a:xfrm>
            <a:off x="6650340" y="5037338"/>
            <a:ext cx="408920" cy="408920"/>
          </a:xfrm>
          <a:custGeom>
            <a:avLst/>
            <a:gdLst/>
            <a:ahLst/>
            <a:cxnLst/>
            <a:rect l="l" t="t" r="r" b="b"/>
            <a:pathLst>
              <a:path w="408920" h="408920">
                <a:moveTo>
                  <a:pt x="204460" y="238536"/>
                </a:moveTo>
                <a:lnTo>
                  <a:pt x="272613" y="170383"/>
                </a:lnTo>
                <a:moveTo>
                  <a:pt x="56908" y="323728"/>
                </a:moveTo>
                <a:cubicBezTo>
                  <a:pt x="15560" y="252120"/>
                  <a:pt x="31596" y="161162"/>
                  <a:pt x="94937" y="108010"/>
                </a:cubicBezTo>
                <a:cubicBezTo>
                  <a:pt x="158279" y="54858"/>
                  <a:pt x="250640" y="54858"/>
                  <a:pt x="313982" y="108010"/>
                </a:cubicBezTo>
                <a:cubicBezTo>
                  <a:pt x="377324" y="161162"/>
                  <a:pt x="393359" y="252120"/>
                  <a:pt x="352012" y="323728"/>
                </a:cubicBezTo>
              </a:path>
            </a:pathLst>
          </a:custGeom>
          <a:noFill/>
          <a:ln w="34077" cap="rnd">
            <a:solidFill>
              <a:srgbClr val="8A4B06"/>
            </a:solidFill>
            <a:prstDash val="solid"/>
            <a:round/>
          </a:ln>
        </p:spPr>
      </p:sp>
      <p:sp>
        <p:nvSpPr>
          <p:cNvPr id="36" name="Text 34"/>
          <p:cNvSpPr/>
          <p:nvPr/>
        </p:nvSpPr>
        <p:spPr>
          <a:xfrm>
            <a:off x="750402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Índice parcial</a:t>
            </a:r>
            <a:endParaRPr lang="en-US" sz="2000" dirty="0"/>
          </a:p>
        </p:txBody>
      </p:sp>
      <p:sp>
        <p:nvSpPr>
          <p:cNvPr id="37" name="Text 35"/>
          <p:cNvSpPr/>
          <p:nvPr/>
        </p:nvSpPr>
        <p:spPr>
          <a:xfrm>
            <a:off x="750402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idx_evento_pendiente solo indexa las filas con procesado = false.</a:t>
            </a:r>
            <a:endParaRPr lang="en-US" sz="16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 esquema que se cuida solo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servicio-solicitudes/src/main/resources/schema.sql</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ALTER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TABLE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ADD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COLUMN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EXISTS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evento_id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UUID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NULL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DEFAULT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gen_random_uuid();</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ALTER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TABLE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ADD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COLUMN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EXISTS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BOOLEAN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NULL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DEFAULT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TRUE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ALTER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TABLE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ALTER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COLUMN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 </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SET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DEFAULT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FALSE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CREATE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INDEX</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EXISTS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idx_evento_pendiente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ON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(procesado)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WHERE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 =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FALSE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Guardar primero, avisar después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a:t>
            </a:r>
            <a:endParaRPr lang="en-US" sz="1700" dirty="0"/>
          </a:p>
        </p:txBody>
      </p:sp>
      <p:sp>
        <p:nvSpPr>
          <p:cNvPr id="14" name="Shape 12"/>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285232"/>
            <a:ext cx="438912" cy="438912"/>
          </a:xfrm>
          <a:prstGeom prst="ellipse">
            <a:avLst/>
          </a:prstGeom>
          <a:solidFill>
            <a:srgbClr val="FFFFFF"/>
          </a:solidFill>
          <a:ln w="12700">
            <a:solidFill>
              <a:srgbClr val="FFFFFF"/>
            </a:solidFill>
            <a:prstDash val="solid"/>
          </a:ln>
        </p:spPr>
      </p:sp>
      <p:sp>
        <p:nvSpPr>
          <p:cNvPr id="16"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7" name="Text 15"/>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8" name="Shape 16"/>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20" name="Text 18"/>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2" name="Text 20"/>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3" name="Shape 21"/>
          <p:cNvSpPr/>
          <p:nvPr/>
        </p:nvSpPr>
        <p:spPr>
          <a:xfrm>
            <a:off x="2431504" y="2185416"/>
            <a:ext cx="1845488" cy="0"/>
          </a:xfrm>
          <a:prstGeom prst="line">
            <a:avLst/>
          </a:prstGeom>
          <a:noFill/>
          <a:ln w="38100">
            <a:solidFill>
              <a:srgbClr val="2BA6CB"/>
            </a:solidFill>
            <a:prstDash val="solid"/>
            <a:tailEnd type="triangle"/>
          </a:ln>
        </p:spPr>
      </p:sp>
      <p:sp>
        <p:nvSpPr>
          <p:cNvPr id="24" name="Shape 22"/>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6" name="Text 24"/>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8" name="Text 26"/>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9" name="Shape 27"/>
          <p:cNvSpPr/>
          <p:nvPr/>
        </p:nvSpPr>
        <p:spPr>
          <a:xfrm>
            <a:off x="5173104" y="2185416"/>
            <a:ext cx="1845488" cy="0"/>
          </a:xfrm>
          <a:prstGeom prst="line">
            <a:avLst/>
          </a:prstGeom>
          <a:noFill/>
          <a:ln w="38100">
            <a:solidFill>
              <a:srgbClr val="2BA6CB"/>
            </a:solidFill>
            <a:prstDash val="solid"/>
            <a:tailEnd type="triangle"/>
          </a:ln>
        </p:spPr>
      </p:sp>
      <p:sp>
        <p:nvSpPr>
          <p:cNvPr id="30" name="Shape 28"/>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2" name="Text 30"/>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4" name="Text 32"/>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5" name="Shape 33"/>
          <p:cNvSpPr/>
          <p:nvPr/>
        </p:nvSpPr>
        <p:spPr>
          <a:xfrm>
            <a:off x="7914704" y="2185416"/>
            <a:ext cx="1845488" cy="0"/>
          </a:xfrm>
          <a:prstGeom prst="line">
            <a:avLst/>
          </a:prstGeom>
          <a:noFill/>
          <a:ln w="38100">
            <a:solidFill>
              <a:srgbClr val="2BA6CB"/>
            </a:solidFill>
            <a:prstDash val="solid"/>
            <a:tailEnd type="triangle"/>
          </a:ln>
        </p:spPr>
      </p:sp>
      <p:sp>
        <p:nvSpPr>
          <p:cNvPr id="36" name="Shape 34"/>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8" name="Text 36"/>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40" name="Text 38"/>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1" name="Shape 39"/>
          <p:cNvSpPr/>
          <p:nvPr/>
        </p:nvSpPr>
        <p:spPr>
          <a:xfrm>
            <a:off x="7466648" y="3602736"/>
            <a:ext cx="0" cy="955548"/>
          </a:xfrm>
          <a:prstGeom prst="line">
            <a:avLst/>
          </a:prstGeom>
          <a:noFill/>
          <a:ln w="25400">
            <a:solidFill>
              <a:srgbClr val="8A4B06"/>
            </a:solidFill>
            <a:prstDash val="dash"/>
          </a:ln>
        </p:spPr>
      </p:sp>
      <p:sp>
        <p:nvSpPr>
          <p:cNvPr id="42" name="Shape 40"/>
          <p:cNvSpPr/>
          <p:nvPr/>
        </p:nvSpPr>
        <p:spPr>
          <a:xfrm flipH="1">
            <a:off x="7372807" y="4558284"/>
            <a:ext cx="93840" cy="0"/>
          </a:xfrm>
          <a:prstGeom prst="line">
            <a:avLst/>
          </a:prstGeom>
          <a:noFill/>
          <a:ln w="25400">
            <a:solidFill>
              <a:srgbClr val="8A4B06"/>
            </a:solidFill>
            <a:prstDash val="dash"/>
            <a:tailEnd type="triangle"/>
          </a:ln>
        </p:spPr>
      </p:sp>
      <p:sp>
        <p:nvSpPr>
          <p:cNvPr id="43" name="Text 41"/>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4" name="Shape 42"/>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7537399" y="4279392"/>
            <a:ext cx="548640" cy="548640"/>
          </a:xfrm>
          <a:prstGeom prst="ellipse">
            <a:avLst/>
          </a:prstGeom>
          <a:solidFill>
            <a:srgbClr val="FFFFFF"/>
          </a:solidFill>
          <a:ln w="12700">
            <a:solidFill>
              <a:srgbClr val="FFFFFF"/>
            </a:solidFill>
            <a:prstDash val="solid"/>
          </a:ln>
        </p:spPr>
      </p:sp>
      <p:sp>
        <p:nvSpPr>
          <p:cNvPr id="46" name="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7" name="Text 45"/>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8" name="Text 46"/>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Guardar primero, avisar después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servicio-solicitudes/…/dominio/ServicioDeSolicitudes.java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@Transactional</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 = buscar(id).enviar();</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repositorio.guardar(enviada);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registrador.registrar(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UUID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.randomUUID().toString(),</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enviada.id(),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"SolicitudEnviada"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la entrega no multiplica el efecto.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user-check"/>
          <p:cNvSpPr/>
          <p:nvPr/>
        </p:nvSpPr>
        <p:spPr>
          <a:xfrm>
            <a:off x="900867" y="5911779"/>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8" name="Shape 16"/>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mail"/>
          <p:cNvSpPr/>
          <p:nvPr/>
        </p:nvSpPr>
        <p:spPr>
          <a:xfrm>
            <a:off x="1650149" y="2112721"/>
            <a:ext cx="666598" cy="666598"/>
          </a:xfrm>
          <a:custGeom>
            <a:avLst/>
            <a:gdLst/>
            <a:ahLst/>
            <a:cxnLst/>
            <a:rect l="l" t="t" r="r" b="b"/>
            <a:pathLst>
              <a:path w="666598" h="666598">
                <a:moveTo>
                  <a:pt x="111100" y="111100"/>
                </a:moveTo>
                <a:lnTo>
                  <a:pt x="555498" y="111100"/>
                </a:lnTo>
                <a:cubicBezTo>
                  <a:pt x="586177" y="111100"/>
                  <a:pt x="611048" y="135970"/>
                  <a:pt x="611048" y="166649"/>
                </a:cubicBezTo>
                <a:lnTo>
                  <a:pt x="611048" y="499948"/>
                </a:lnTo>
                <a:cubicBezTo>
                  <a:pt x="611048" y="530628"/>
                  <a:pt x="586177" y="555498"/>
                  <a:pt x="555498" y="555498"/>
                </a:cubicBezTo>
                <a:lnTo>
                  <a:pt x="111100" y="555498"/>
                </a:lnTo>
                <a:cubicBezTo>
                  <a:pt x="80420" y="555498"/>
                  <a:pt x="55550" y="530628"/>
                  <a:pt x="55550" y="499948"/>
                </a:cubicBezTo>
                <a:lnTo>
                  <a:pt x="55550" y="166649"/>
                </a:lnTo>
                <a:cubicBezTo>
                  <a:pt x="55550" y="135970"/>
                  <a:pt x="80420" y="111100"/>
                  <a:pt x="111100" y="111100"/>
                </a:cubicBezTo>
                <a:close/>
                <a:moveTo>
                  <a:pt x="611048" y="194424"/>
                </a:moveTo>
                <a:lnTo>
                  <a:pt x="361907" y="352741"/>
                </a:lnTo>
                <a:cubicBezTo>
                  <a:pt x="344410" y="363703"/>
                  <a:pt x="322188" y="363703"/>
                  <a:pt x="304691" y="352741"/>
                </a:cubicBezTo>
                <a:lnTo>
                  <a:pt x="55550" y="194424"/>
                </a:lnTo>
              </a:path>
            </a:pathLst>
          </a:custGeom>
          <a:noFill/>
          <a:ln w="48606" cap="rnd">
            <a:solidFill>
              <a:srgbClr val="0B2350"/>
            </a:solidFill>
            <a:prstDash val="solid"/>
            <a:round/>
          </a:ln>
        </p:spPr>
      </p:sp>
      <p:sp>
        <p:nvSpPr>
          <p:cNvPr id="20" name="Text 18"/>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22" name="Text 20"/>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eventoId.</a:t>
            </a:r>
            <a:endParaRPr lang="en-US" sz="1400" dirty="0"/>
          </a:p>
        </p:txBody>
      </p:sp>
      <p:sp>
        <p:nvSpPr>
          <p:cNvPr id="23" name="Shape 21"/>
          <p:cNvSpPr/>
          <p:nvPr/>
        </p:nvSpPr>
        <p:spPr>
          <a:xfrm>
            <a:off x="2692108" y="2446020"/>
            <a:ext cx="1324280" cy="0"/>
          </a:xfrm>
          <a:prstGeom prst="line">
            <a:avLst/>
          </a:prstGeom>
          <a:noFill/>
          <a:ln w="38100">
            <a:solidFill>
              <a:srgbClr val="2BA6CB"/>
            </a:solidFill>
            <a:prstDash val="solid"/>
            <a:tailEnd type="triangle"/>
          </a:ln>
        </p:spPr>
      </p:sp>
      <p:sp>
        <p:nvSpPr>
          <p:cNvPr id="24" name="Shape 22"/>
          <p:cNvSpPr/>
          <p:nvPr/>
        </p:nvSpPr>
        <p:spPr>
          <a:xfrm>
            <a:off x="41078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5" name="Icono fingerprint"/>
          <p:cNvSpPr/>
          <p:nvPr/>
        </p:nvSpPr>
        <p:spPr>
          <a:xfrm>
            <a:off x="4391749" y="2112721"/>
            <a:ext cx="666598" cy="666598"/>
          </a:xfrm>
          <a:custGeom>
            <a:avLst/>
            <a:gdLst/>
            <a:ahLst/>
            <a:cxnLst/>
            <a:rect l="l" t="t" r="r" b="b"/>
            <a:pathLst>
              <a:path w="666598" h="666598">
                <a:moveTo>
                  <a:pt x="333299" y="277749"/>
                </a:moveTo>
                <a:cubicBezTo>
                  <a:pt x="302619" y="277749"/>
                  <a:pt x="277749" y="302619"/>
                  <a:pt x="277749" y="333299"/>
                </a:cubicBezTo>
                <a:cubicBezTo>
                  <a:pt x="277749" y="361629"/>
                  <a:pt x="274972" y="403014"/>
                  <a:pt x="270528" y="444398"/>
                </a:cubicBezTo>
                <a:moveTo>
                  <a:pt x="388849" y="364407"/>
                </a:moveTo>
                <a:cubicBezTo>
                  <a:pt x="388849" y="430511"/>
                  <a:pt x="388849" y="541611"/>
                  <a:pt x="361074" y="611048"/>
                </a:cubicBezTo>
                <a:moveTo>
                  <a:pt x="480228" y="583828"/>
                </a:moveTo>
                <a:cubicBezTo>
                  <a:pt x="483561" y="567163"/>
                  <a:pt x="492171" y="519946"/>
                  <a:pt x="494115" y="499948"/>
                </a:cubicBezTo>
                <a:moveTo>
                  <a:pt x="55550" y="333299"/>
                </a:moveTo>
                <a:cubicBezTo>
                  <a:pt x="55550" y="213747"/>
                  <a:pt x="132050" y="107609"/>
                  <a:pt x="245467" y="69803"/>
                </a:cubicBezTo>
                <a:cubicBezTo>
                  <a:pt x="358883" y="31997"/>
                  <a:pt x="483767" y="71008"/>
                  <a:pt x="555498" y="166649"/>
                </a:cubicBezTo>
                <a:moveTo>
                  <a:pt x="55550" y="444398"/>
                </a:moveTo>
                <a:lnTo>
                  <a:pt x="55828" y="444398"/>
                </a:lnTo>
                <a:moveTo>
                  <a:pt x="605493" y="444398"/>
                </a:moveTo>
                <a:cubicBezTo>
                  <a:pt x="611048" y="388849"/>
                  <a:pt x="609131" y="295692"/>
                  <a:pt x="605493" y="277749"/>
                </a:cubicBezTo>
                <a:moveTo>
                  <a:pt x="138875" y="541611"/>
                </a:moveTo>
                <a:cubicBezTo>
                  <a:pt x="152762" y="499948"/>
                  <a:pt x="166649" y="416624"/>
                  <a:pt x="166649" y="333299"/>
                </a:cubicBezTo>
                <a:cubicBezTo>
                  <a:pt x="166621" y="314380"/>
                  <a:pt x="169815" y="295595"/>
                  <a:pt x="176093" y="277749"/>
                </a:cubicBezTo>
                <a:moveTo>
                  <a:pt x="240253" y="611048"/>
                </a:moveTo>
                <a:cubicBezTo>
                  <a:pt x="246086" y="592716"/>
                  <a:pt x="252752" y="574385"/>
                  <a:pt x="256085" y="555498"/>
                </a:cubicBezTo>
                <a:moveTo>
                  <a:pt x="249974" y="188869"/>
                </a:moveTo>
                <a:cubicBezTo>
                  <a:pt x="301552" y="159091"/>
                  <a:pt x="365101" y="159101"/>
                  <a:pt x="416670" y="188896"/>
                </a:cubicBezTo>
                <a:cubicBezTo>
                  <a:pt x="468238" y="218691"/>
                  <a:pt x="499986" y="273742"/>
                  <a:pt x="499948" y="333299"/>
                </a:cubicBezTo>
                <a:lnTo>
                  <a:pt x="499948" y="388849"/>
                </a:lnTo>
              </a:path>
            </a:pathLst>
          </a:custGeom>
          <a:noFill/>
          <a:ln w="48606" cap="rnd">
            <a:solidFill>
              <a:srgbClr val="0B6E8A"/>
            </a:solidFill>
            <a:prstDash val="solid"/>
            <a:round/>
          </a:ln>
        </p:spPr>
      </p:sp>
      <p:sp>
        <p:nvSpPr>
          <p:cNvPr id="26" name="Text 24"/>
          <p:cNvSpPr/>
          <p:nvPr/>
        </p:nvSpPr>
        <p:spPr>
          <a:xfrm>
            <a:off x="40712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8" name="Text 26"/>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en evento_procesado.</a:t>
            </a:r>
            <a:endParaRPr lang="en-US" sz="1400" dirty="0"/>
          </a:p>
        </p:txBody>
      </p:sp>
      <p:sp>
        <p:nvSpPr>
          <p:cNvPr id="29" name="Shape 27"/>
          <p:cNvSpPr/>
          <p:nvPr/>
        </p:nvSpPr>
        <p:spPr>
          <a:xfrm>
            <a:off x="5433708" y="2446020"/>
            <a:ext cx="1324280" cy="0"/>
          </a:xfrm>
          <a:prstGeom prst="line">
            <a:avLst/>
          </a:prstGeom>
          <a:noFill/>
          <a:ln w="38100">
            <a:solidFill>
              <a:srgbClr val="2BA6CB"/>
            </a:solidFill>
            <a:prstDash val="solid"/>
            <a:tailEnd type="triangle"/>
          </a:ln>
        </p:spPr>
      </p:sp>
      <p:sp>
        <p:nvSpPr>
          <p:cNvPr id="30" name="Shape 28"/>
          <p:cNvSpPr/>
          <p:nvPr/>
        </p:nvSpPr>
        <p:spPr>
          <a:xfrm>
            <a:off x="6849428"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1" name="Icono bell"/>
          <p:cNvSpPr/>
          <p:nvPr/>
        </p:nvSpPr>
        <p:spPr>
          <a:xfrm>
            <a:off x="71333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2" name="Text 30"/>
          <p:cNvSpPr/>
          <p:nvPr/>
        </p:nvSpPr>
        <p:spPr>
          <a:xfrm>
            <a:off x="6812852"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34" name="Text 32"/>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35" name="Shape 33"/>
          <p:cNvSpPr/>
          <p:nvPr/>
        </p:nvSpPr>
        <p:spPr>
          <a:xfrm>
            <a:off x="8175308" y="2446020"/>
            <a:ext cx="1324280" cy="0"/>
          </a:xfrm>
          <a:prstGeom prst="line">
            <a:avLst/>
          </a:prstGeom>
          <a:noFill/>
          <a:ln w="38100">
            <a:solidFill>
              <a:srgbClr val="2BA6CB"/>
            </a:solidFill>
            <a:prstDash val="solid"/>
            <a:tailEnd type="triangle"/>
          </a:ln>
        </p:spPr>
      </p:sp>
      <p:sp>
        <p:nvSpPr>
          <p:cNvPr id="36" name="Shape 34"/>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lipboard-check"/>
          <p:cNvSpPr/>
          <p:nvPr/>
        </p:nvSpPr>
        <p:spPr>
          <a:xfrm>
            <a:off x="9874949" y="2112721"/>
            <a:ext cx="666598" cy="666598"/>
          </a:xfrm>
          <a:custGeom>
            <a:avLst/>
            <a:gdLst/>
            <a:ahLst/>
            <a:cxnLst/>
            <a:rect l="l" t="t" r="r" b="b"/>
            <a:pathLst>
              <a:path w="666598" h="666598">
                <a:moveTo>
                  <a:pt x="249974" y="55550"/>
                </a:moveTo>
                <a:lnTo>
                  <a:pt x="416624" y="55550"/>
                </a:lnTo>
                <a:cubicBezTo>
                  <a:pt x="431963" y="55550"/>
                  <a:pt x="444398" y="67985"/>
                  <a:pt x="444398" y="83325"/>
                </a:cubicBezTo>
                <a:lnTo>
                  <a:pt x="444398" y="138875"/>
                </a:lnTo>
                <a:cubicBezTo>
                  <a:pt x="444398" y="154214"/>
                  <a:pt x="431963" y="166649"/>
                  <a:pt x="416624" y="166649"/>
                </a:cubicBezTo>
                <a:lnTo>
                  <a:pt x="249974" y="166649"/>
                </a:lnTo>
                <a:cubicBezTo>
                  <a:pt x="234634" y="166649"/>
                  <a:pt x="222199" y="154214"/>
                  <a:pt x="222199" y="138875"/>
                </a:cubicBezTo>
                <a:lnTo>
                  <a:pt x="222199" y="83325"/>
                </a:lnTo>
                <a:cubicBezTo>
                  <a:pt x="222199" y="67985"/>
                  <a:pt x="234634" y="55550"/>
                  <a:pt x="249974" y="55550"/>
                </a:cubicBezTo>
                <a:close/>
                <a:moveTo>
                  <a:pt x="444398" y="111100"/>
                </a:moveTo>
                <a:lnTo>
                  <a:pt x="499948" y="111100"/>
                </a:lnTo>
                <a:cubicBezTo>
                  <a:pt x="530628" y="111100"/>
                  <a:pt x="555498" y="135970"/>
                  <a:pt x="555498" y="166649"/>
                </a:cubicBezTo>
                <a:lnTo>
                  <a:pt x="555498" y="555498"/>
                </a:lnTo>
                <a:cubicBezTo>
                  <a:pt x="555498" y="586177"/>
                  <a:pt x="530628" y="611048"/>
                  <a:pt x="499948" y="611048"/>
                </a:cubicBezTo>
                <a:lnTo>
                  <a:pt x="166649" y="611048"/>
                </a:lnTo>
                <a:cubicBezTo>
                  <a:pt x="135970" y="611048"/>
                  <a:pt x="111100" y="586177"/>
                  <a:pt x="111100" y="555498"/>
                </a:cubicBezTo>
                <a:lnTo>
                  <a:pt x="111100" y="166649"/>
                </a:lnTo>
                <a:cubicBezTo>
                  <a:pt x="111100" y="135970"/>
                  <a:pt x="135970" y="111100"/>
                  <a:pt x="166649" y="111100"/>
                </a:cubicBezTo>
                <a:lnTo>
                  <a:pt x="222199" y="111100"/>
                </a:lnTo>
                <a:moveTo>
                  <a:pt x="249974" y="388849"/>
                </a:moveTo>
                <a:lnTo>
                  <a:pt x="305524" y="444398"/>
                </a:lnTo>
                <a:lnTo>
                  <a:pt x="416624" y="333299"/>
                </a:lnTo>
              </a:path>
            </a:pathLst>
          </a:custGeom>
          <a:noFill/>
          <a:ln w="48606" cap="rnd">
            <a:solidFill>
              <a:srgbClr val="0A6648"/>
            </a:solidFill>
            <a:prstDash val="solid"/>
            <a:round/>
          </a:ln>
        </p:spPr>
      </p:sp>
      <p:sp>
        <p:nvSpPr>
          <p:cNvPr id="38" name="Text 36"/>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40" name="Text 38"/>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la misma transacción.</a:t>
            </a:r>
            <a:endParaRPr lang="en-US" sz="1400" dirty="0"/>
          </a:p>
        </p:txBody>
      </p:sp>
      <p:sp>
        <p:nvSpPr>
          <p:cNvPr id="41" name="Shape 39"/>
          <p:cNvSpPr/>
          <p:nvPr/>
        </p:nvSpPr>
        <p:spPr>
          <a:xfrm>
            <a:off x="4725048" y="4123944"/>
            <a:ext cx="0" cy="955548"/>
          </a:xfrm>
          <a:prstGeom prst="line">
            <a:avLst/>
          </a:prstGeom>
          <a:noFill/>
          <a:ln w="25400">
            <a:solidFill>
              <a:srgbClr val="55627E"/>
            </a:solidFill>
            <a:prstDash val="dash"/>
          </a:ln>
        </p:spPr>
      </p:sp>
      <p:sp>
        <p:nvSpPr>
          <p:cNvPr id="42" name="Shape 40"/>
          <p:cNvSpPr/>
          <p:nvPr/>
        </p:nvSpPr>
        <p:spPr>
          <a:xfrm>
            <a:off x="4725048" y="5079492"/>
            <a:ext cx="457200" cy="0"/>
          </a:xfrm>
          <a:prstGeom prst="line">
            <a:avLst/>
          </a:prstGeom>
          <a:noFill/>
          <a:ln w="25400">
            <a:solidFill>
              <a:srgbClr val="55627E"/>
            </a:solidFill>
            <a:prstDash val="dash"/>
            <a:tailEnd type="triangle"/>
          </a:ln>
        </p:spPr>
      </p:sp>
      <p:sp>
        <p:nvSpPr>
          <p:cNvPr id="43" name="Text 41"/>
          <p:cNvSpPr/>
          <p:nvPr/>
        </p:nvSpPr>
        <p:spPr>
          <a:xfrm>
            <a:off x="32620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44" name="Shape 42"/>
          <p:cNvSpPr/>
          <p:nvPr/>
        </p:nvSpPr>
        <p:spPr>
          <a:xfrm>
            <a:off x="5182248" y="4645152"/>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5346840" y="4800600"/>
            <a:ext cx="548640" cy="548640"/>
          </a:xfrm>
          <a:prstGeom prst="ellipse">
            <a:avLst/>
          </a:prstGeom>
          <a:solidFill>
            <a:srgbClr val="FFFFFF"/>
          </a:solidFill>
          <a:ln w="12700">
            <a:solidFill>
              <a:srgbClr val="FFFFFF"/>
            </a:solidFill>
            <a:prstDash val="solid"/>
          </a:ln>
        </p:spPr>
      </p:sp>
      <p:sp>
        <p:nvSpPr>
          <p:cNvPr id="46" name="Icono ban"/>
          <p:cNvSpPr/>
          <p:nvPr/>
        </p:nvSpPr>
        <p:spPr>
          <a:xfrm>
            <a:off x="5478513" y="4932274"/>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47" name="Text 45"/>
          <p:cNvSpPr/>
          <p:nvPr/>
        </p:nvSpPr>
        <p:spPr>
          <a:xfrm>
            <a:off x="6023496"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8" name="Text 46"/>
          <p:cNvSpPr/>
          <p:nvPr/>
        </p:nvSpPr>
        <p:spPr>
          <a:xfrm>
            <a:off x="6023496"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Duplicados: cero.</a:t>
            </a:r>
            <a:endParaRPr lang="en-US" sz="11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servicio-notificaciones/…/adaptadores/entrada/ConsumoIdempotente.java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@Transactional</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alRecibir(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(procesados.existsById(e.eventoId()))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ya procesado: idempotente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servicio.alRecibirSolicitudEnviada(e);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procesados.save(</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EventoProcesadoEntity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(e.eventoId()));</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Base de datos: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database"/>
          <p:cNvSpPr/>
          <p:nvPr/>
        </p:nvSpPr>
        <p:spPr>
          <a:xfrm>
            <a:off x="1058144" y="1817096"/>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duplicados</a:t>
            </a:r>
            <a:endParaRPr lang="en-US" sz="1300" dirty="0"/>
          </a:p>
        </p:txBody>
      </p:sp>
      <p:sp>
        <p:nvSpPr>
          <p:cNvPr id="22" name="Shape 20"/>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569339"/>
            <a:ext cx="713232" cy="713232"/>
          </a:xfrm>
          <a:prstGeom prst="ellipse">
            <a:avLst/>
          </a:prstGeom>
          <a:solidFill>
            <a:srgbClr val="E8EEF8"/>
          </a:solidFill>
          <a:ln w="12700">
            <a:solidFill>
              <a:srgbClr val="E8EEF8"/>
            </a:solidFill>
            <a:prstDash val="solid"/>
          </a:ln>
        </p:spPr>
      </p:sp>
      <p:sp>
        <p:nvSpPr>
          <p:cNvPr id="24" name="Icono table"/>
          <p:cNvSpPr/>
          <p:nvPr/>
        </p:nvSpPr>
        <p:spPr>
          <a:xfrm>
            <a:off x="4258544" y="1740515"/>
            <a:ext cx="370881" cy="370881"/>
          </a:xfrm>
          <a:custGeom>
            <a:avLst/>
            <a:gdLst/>
            <a:ahLst/>
            <a:cxnLst/>
            <a:rect l="l" t="t" r="r" b="b"/>
            <a:pathLst>
              <a:path w="370881" h="370881">
                <a:moveTo>
                  <a:pt x="185440" y="46360"/>
                </a:moveTo>
                <a:lnTo>
                  <a:pt x="185440" y="324521"/>
                </a:lnTo>
                <a:moveTo>
                  <a:pt x="77267" y="46360"/>
                </a:moveTo>
                <a:lnTo>
                  <a:pt x="293614" y="46360"/>
                </a:lnTo>
                <a:cubicBezTo>
                  <a:pt x="310683" y="46360"/>
                  <a:pt x="324521" y="60197"/>
                  <a:pt x="324521" y="77267"/>
                </a:cubicBezTo>
                <a:lnTo>
                  <a:pt x="324521" y="293614"/>
                </a:lnTo>
                <a:cubicBezTo>
                  <a:pt x="324521" y="310683"/>
                  <a:pt x="310683" y="324521"/>
                  <a:pt x="293614" y="324521"/>
                </a:cubicBezTo>
                <a:lnTo>
                  <a:pt x="77267" y="324521"/>
                </a:lnTo>
                <a:cubicBezTo>
                  <a:pt x="60197" y="324521"/>
                  <a:pt x="46360" y="310683"/>
                  <a:pt x="46360" y="293614"/>
                </a:cubicBezTo>
                <a:lnTo>
                  <a:pt x="46360" y="77267"/>
                </a:lnTo>
                <a:cubicBezTo>
                  <a:pt x="46360" y="60197"/>
                  <a:pt x="60197" y="46360"/>
                  <a:pt x="77267" y="46360"/>
                </a:cubicBezTo>
                <a:close/>
                <a:moveTo>
                  <a:pt x="46360" y="139080"/>
                </a:moveTo>
                <a:lnTo>
                  <a:pt x="324521" y="139080"/>
                </a:lnTo>
                <a:moveTo>
                  <a:pt x="46360" y="231800"/>
                </a:moveTo>
                <a:lnTo>
                  <a:pt x="324521" y="231800"/>
                </a:lnTo>
              </a:path>
            </a:pathLst>
          </a:custGeom>
          <a:noFill/>
          <a:ln w="30907" cap="rnd">
            <a:solidFill>
              <a:srgbClr val="0B2350"/>
            </a:solidFill>
            <a:prstDash val="solid"/>
            <a:round/>
          </a:ln>
        </p:spPr>
      </p:sp>
      <p:sp>
        <p:nvSpPr>
          <p:cNvPr id="25" name="Text 23"/>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ORM no elimina el trabajo de base de datos</a:t>
            </a:r>
            <a:endParaRPr lang="en-US" sz="1500" dirty="0"/>
          </a:p>
        </p:txBody>
      </p:sp>
      <p:sp>
        <p:nvSpPr>
          <p:cNvPr id="26" name="Text 24"/>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950" dirty="0">
                <a:solidFill>
                  <a:srgbClr val="55627E"/>
                </a:solidFill>
                <a:latin typeface="Segoe UI" pitchFamily="34" charset="0"/>
                <a:ea typeface="Segoe UI" pitchFamily="34" charset="-122"/>
                <a:cs typeface="Segoe UI" pitchFamily="34" charset="-120"/>
              </a:rPr>
              <a:t>Hibernate escribe el SQL rutinario; índices, CHECK y transacciones siguen siendo diseño de BD.</a:t>
            </a:r>
            <a:endParaRPr lang="en-US" sz="950" dirty="0"/>
          </a:p>
        </p:txBody>
      </p:sp>
      <p:sp>
        <p:nvSpPr>
          <p:cNvPr id="27" name="Shape 25"/>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150" b="1" dirty="0">
                <a:solidFill>
                  <a:srgbClr val="0B1A3C"/>
                </a:solidFill>
                <a:latin typeface="Segoe UI" pitchFamily="34" charset="0"/>
                <a:ea typeface="Segoe UI" pitchFamily="34" charset="-122"/>
                <a:cs typeface="Segoe UI" pitchFamily="34" charset="-120"/>
              </a:rPr>
              <a:t>Reglas que se prueban en código y una base que se cuida sola.</a:t>
            </a:r>
            <a:endParaRPr lang="en-US" sz="1150" dirty="0"/>
          </a:p>
        </p:txBody>
      </p:sp>
      <p:sp>
        <p:nvSpPr>
          <p:cNvPr id="31" name="Shape 29"/>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2860929"/>
            <a:ext cx="713232" cy="713232"/>
          </a:xfrm>
          <a:prstGeom prst="ellipse">
            <a:avLst/>
          </a:prstGeom>
          <a:solidFill>
            <a:srgbClr val="E8EEF8"/>
          </a:solidFill>
          <a:ln w="12700">
            <a:solidFill>
              <a:srgbClr val="E8EEF8"/>
            </a:solidFill>
            <a:prstDash val="solid"/>
          </a:ln>
        </p:spPr>
      </p:sp>
      <p:sp>
        <p:nvSpPr>
          <p:cNvPr id="33" name="Icono inbox"/>
          <p:cNvSpPr/>
          <p:nvPr/>
        </p:nvSpPr>
        <p:spPr>
          <a:xfrm>
            <a:off x="4258544" y="3032105"/>
            <a:ext cx="370881" cy="370881"/>
          </a:xfrm>
          <a:custGeom>
            <a:avLst/>
            <a:gdLst/>
            <a:ahLst/>
            <a:cxnLst/>
            <a:rect l="l" t="t" r="r" b="b"/>
            <a:pathLst>
              <a:path w="370881" h="370881">
                <a:moveTo>
                  <a:pt x="339974" y="185440"/>
                </a:moveTo>
                <a:lnTo>
                  <a:pt x="247254" y="185440"/>
                </a:lnTo>
                <a:lnTo>
                  <a:pt x="216347" y="231800"/>
                </a:lnTo>
                <a:lnTo>
                  <a:pt x="154534" y="231800"/>
                </a:lnTo>
                <a:lnTo>
                  <a:pt x="123627" y="185440"/>
                </a:lnTo>
                <a:lnTo>
                  <a:pt x="30907" y="185440"/>
                </a:lnTo>
                <a:moveTo>
                  <a:pt x="84221" y="78967"/>
                </a:moveTo>
                <a:lnTo>
                  <a:pt x="30907" y="185440"/>
                </a:lnTo>
                <a:lnTo>
                  <a:pt x="30907" y="278160"/>
                </a:lnTo>
                <a:cubicBezTo>
                  <a:pt x="30907" y="295230"/>
                  <a:pt x="44744" y="309067"/>
                  <a:pt x="61813" y="309067"/>
                </a:cubicBezTo>
                <a:lnTo>
                  <a:pt x="309067" y="309067"/>
                </a:lnTo>
                <a:cubicBezTo>
                  <a:pt x="326137" y="309067"/>
                  <a:pt x="339974" y="295230"/>
                  <a:pt x="339974" y="278160"/>
                </a:cubicBezTo>
                <a:lnTo>
                  <a:pt x="339974" y="185440"/>
                </a:lnTo>
                <a:lnTo>
                  <a:pt x="286660" y="78967"/>
                </a:lnTo>
                <a:cubicBezTo>
                  <a:pt x="281441" y="68464"/>
                  <a:pt x="270727" y="61820"/>
                  <a:pt x="258998" y="61813"/>
                </a:cubicBezTo>
                <a:lnTo>
                  <a:pt x="111882" y="61813"/>
                </a:lnTo>
                <a:cubicBezTo>
                  <a:pt x="100154" y="61820"/>
                  <a:pt x="89440" y="68464"/>
                  <a:pt x="84221" y="78967"/>
                </a:cubicBezTo>
                <a:close/>
              </a:path>
            </a:pathLst>
          </a:custGeom>
          <a:noFill/>
          <a:ln w="30907" cap="rnd">
            <a:solidFill>
              <a:srgbClr val="0B2350"/>
            </a:solidFill>
            <a:prstDash val="solid"/>
            <a:round/>
          </a:ln>
        </p:spPr>
      </p:sp>
      <p:sp>
        <p:nvSpPr>
          <p:cNvPr id="34" name="Text 32"/>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primero, avisar después</a:t>
            </a:r>
            <a:endParaRPr lang="en-US" sz="1500" dirty="0"/>
          </a:p>
        </p:txBody>
      </p:sp>
      <p:sp>
        <p:nvSpPr>
          <p:cNvPr id="35" name="Text 33"/>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 y evento en una transacción local; el relevador entrega después.</a:t>
            </a:r>
            <a:endParaRPr lang="en-US" sz="1150" dirty="0"/>
          </a:p>
        </p:txBody>
      </p:sp>
      <p:sp>
        <p:nvSpPr>
          <p:cNvPr id="36" name="Shape 34"/>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7" name="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servicio caído no hace perder información.</a:t>
            </a:r>
            <a:endParaRPr lang="en-US" sz="1350" dirty="0"/>
          </a:p>
        </p:txBody>
      </p:sp>
      <p:sp>
        <p:nvSpPr>
          <p:cNvPr id="40" name="Shape 38"/>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4152519"/>
            <a:ext cx="713232" cy="713232"/>
          </a:xfrm>
          <a:prstGeom prst="ellipse">
            <a:avLst/>
          </a:prstGeom>
          <a:solidFill>
            <a:srgbClr val="E8EEF8"/>
          </a:solidFill>
          <a:ln w="12700">
            <a:solidFill>
              <a:srgbClr val="E8EEF8"/>
            </a:solidFill>
            <a:prstDash val="solid"/>
          </a:ln>
        </p:spPr>
      </p:sp>
      <p:sp>
        <p:nvSpPr>
          <p:cNvPr id="42" name="Icono fingerprint"/>
          <p:cNvSpPr/>
          <p:nvPr/>
        </p:nvSpPr>
        <p:spPr>
          <a:xfrm>
            <a:off x="4258544" y="4323695"/>
            <a:ext cx="370881" cy="370881"/>
          </a:xfrm>
          <a:custGeom>
            <a:avLst/>
            <a:gdLst/>
            <a:ahLst/>
            <a:cxnLst/>
            <a:rect l="l" t="t" r="r" b="b"/>
            <a:pathLst>
              <a:path w="370881" h="370881">
                <a:moveTo>
                  <a:pt x="185440" y="154534"/>
                </a:moveTo>
                <a:cubicBezTo>
                  <a:pt x="168371" y="154534"/>
                  <a:pt x="154534" y="168371"/>
                  <a:pt x="154534" y="185440"/>
                </a:cubicBezTo>
                <a:cubicBezTo>
                  <a:pt x="154534" y="201203"/>
                  <a:pt x="152988" y="224228"/>
                  <a:pt x="150516" y="247254"/>
                </a:cubicBezTo>
                <a:moveTo>
                  <a:pt x="216347" y="202748"/>
                </a:moveTo>
                <a:cubicBezTo>
                  <a:pt x="216347" y="239527"/>
                  <a:pt x="216347" y="301341"/>
                  <a:pt x="200894" y="339974"/>
                </a:cubicBezTo>
                <a:moveTo>
                  <a:pt x="267189" y="324830"/>
                </a:moveTo>
                <a:cubicBezTo>
                  <a:pt x="269043" y="315558"/>
                  <a:pt x="273834" y="289287"/>
                  <a:pt x="274915" y="278160"/>
                </a:cubicBezTo>
                <a:moveTo>
                  <a:pt x="30907" y="185440"/>
                </a:moveTo>
                <a:cubicBezTo>
                  <a:pt x="30907" y="118924"/>
                  <a:pt x="73470" y="59871"/>
                  <a:pt x="136573" y="38837"/>
                </a:cubicBezTo>
                <a:cubicBezTo>
                  <a:pt x="199675" y="17803"/>
                  <a:pt x="269158" y="39507"/>
                  <a:pt x="309067" y="92720"/>
                </a:cubicBezTo>
                <a:moveTo>
                  <a:pt x="30907" y="247254"/>
                </a:moveTo>
                <a:lnTo>
                  <a:pt x="31061" y="247254"/>
                </a:lnTo>
                <a:moveTo>
                  <a:pt x="336883" y="247254"/>
                </a:moveTo>
                <a:cubicBezTo>
                  <a:pt x="339974" y="216347"/>
                  <a:pt x="338908" y="164516"/>
                  <a:pt x="336883" y="154534"/>
                </a:cubicBezTo>
                <a:moveTo>
                  <a:pt x="77267" y="301341"/>
                </a:moveTo>
                <a:cubicBezTo>
                  <a:pt x="84993" y="278160"/>
                  <a:pt x="92720" y="231800"/>
                  <a:pt x="92720" y="185440"/>
                </a:cubicBezTo>
                <a:cubicBezTo>
                  <a:pt x="92705" y="174915"/>
                  <a:pt x="94481" y="164463"/>
                  <a:pt x="97974" y="154534"/>
                </a:cubicBezTo>
                <a:moveTo>
                  <a:pt x="133672" y="339974"/>
                </a:moveTo>
                <a:cubicBezTo>
                  <a:pt x="136917" y="329775"/>
                  <a:pt x="140626" y="319575"/>
                  <a:pt x="142480" y="309067"/>
                </a:cubicBezTo>
                <a:moveTo>
                  <a:pt x="139080" y="105083"/>
                </a:moveTo>
                <a:cubicBezTo>
                  <a:pt x="167777" y="88515"/>
                  <a:pt x="203135" y="88520"/>
                  <a:pt x="231826" y="105098"/>
                </a:cubicBezTo>
                <a:cubicBezTo>
                  <a:pt x="260518" y="121675"/>
                  <a:pt x="278182" y="152304"/>
                  <a:pt x="278160" y="185440"/>
                </a:cubicBezTo>
                <a:lnTo>
                  <a:pt x="278160" y="216347"/>
                </a:lnTo>
              </a:path>
            </a:pathLst>
          </a:custGeom>
          <a:noFill/>
          <a:ln w="30907" cap="rnd">
            <a:solidFill>
              <a:srgbClr val="0B2350"/>
            </a:solidFill>
            <a:prstDash val="solid"/>
            <a:round/>
          </a:ln>
        </p:spPr>
      </p:sp>
      <p:sp>
        <p:nvSpPr>
          <p:cNvPr id="43" name="Text 41"/>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Todo reintento necesita idempotencia</a:t>
            </a:r>
            <a:endParaRPr lang="en-US" sz="1500" dirty="0"/>
          </a:p>
        </p:txBody>
      </p:sp>
      <p:sp>
        <p:nvSpPr>
          <p:cNvPr id="44" name="Text 42"/>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eventoId fijo y una tabla de eventos ya procesados.</a:t>
            </a:r>
            <a:endParaRPr lang="en-US" sz="1150" dirty="0"/>
          </a:p>
        </p:txBody>
      </p:sp>
      <p:sp>
        <p:nvSpPr>
          <p:cNvPr id="45" name="Shape 43"/>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6" name="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 puede reintentar sin miedo a duplicar efectos.</a:t>
            </a:r>
            <a:endParaRPr lang="en-US" sz="1350" dirty="0"/>
          </a:p>
        </p:txBody>
      </p:sp>
      <p:sp>
        <p:nvSpPr>
          <p:cNvPr id="49" name="Shape 47"/>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4087368" y="5444109"/>
            <a:ext cx="713232" cy="713232"/>
          </a:xfrm>
          <a:prstGeom prst="ellipse">
            <a:avLst/>
          </a:prstGeom>
          <a:solidFill>
            <a:srgbClr val="E8EEF8"/>
          </a:solidFill>
          <a:ln w="12700">
            <a:solidFill>
              <a:srgbClr val="E8EEF8"/>
            </a:solidFill>
            <a:prstDash val="solid"/>
          </a:ln>
        </p:spPr>
      </p:sp>
      <p:sp>
        <p:nvSpPr>
          <p:cNvPr id="51" name="Icono file-code"/>
          <p:cNvSpPr/>
          <p:nvPr/>
        </p:nvSpPr>
        <p:spPr>
          <a:xfrm>
            <a:off x="4258544" y="5615285"/>
            <a:ext cx="370881" cy="370881"/>
          </a:xfrm>
          <a:custGeom>
            <a:avLst/>
            <a:gdLst/>
            <a:ahLst/>
            <a:cxnLst/>
            <a:rect l="l" t="t" r="r" b="b"/>
            <a:pathLst>
              <a:path w="370881" h="370881">
                <a:moveTo>
                  <a:pt x="154534" y="193167"/>
                </a:moveTo>
                <a:lnTo>
                  <a:pt x="123627" y="231800"/>
                </a:lnTo>
                <a:lnTo>
                  <a:pt x="154534" y="270434"/>
                </a:lnTo>
                <a:moveTo>
                  <a:pt x="216347" y="193167"/>
                </a:moveTo>
                <a:lnTo>
                  <a:pt x="247254" y="231800"/>
                </a:lnTo>
                <a:lnTo>
                  <a:pt x="216347" y="270434"/>
                </a:lnTo>
                <a:moveTo>
                  <a:pt x="216347" y="30907"/>
                </a:moveTo>
                <a:lnTo>
                  <a:pt x="216347" y="92720"/>
                </a:lnTo>
                <a:cubicBezTo>
                  <a:pt x="216347" y="109789"/>
                  <a:pt x="230184" y="123627"/>
                  <a:pt x="247254" y="123627"/>
                </a:cubicBezTo>
                <a:lnTo>
                  <a:pt x="309067" y="123627"/>
                </a:lnTo>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path>
            </a:pathLst>
          </a:custGeom>
          <a:noFill/>
          <a:ln w="30907" cap="rnd">
            <a:solidFill>
              <a:srgbClr val="0B2350"/>
            </a:solidFill>
            <a:prstDash val="solid"/>
            <a:round/>
          </a:ln>
        </p:spPr>
      </p:sp>
      <p:sp>
        <p:nvSpPr>
          <p:cNvPr id="52" name="Text 50"/>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El esquema también es código</a:t>
            </a:r>
            <a:endParaRPr lang="en-US" sz="1550" dirty="0"/>
          </a:p>
        </p:txBody>
      </p:sp>
      <p:sp>
        <p:nvSpPr>
          <p:cNvPr id="53" name="Text 51"/>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schema.sql idempotente, CHECK, índice parcial y validación al arrancar.</a:t>
            </a:r>
            <a:endParaRPr lang="en-US" sz="1150" dirty="0"/>
          </a:p>
        </p:txBody>
      </p:sp>
      <p:sp>
        <p:nvSpPr>
          <p:cNvPr id="54" name="Shape 52"/>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5" name="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6" name="Text 54"/>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7" name="Text 55"/>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Despliegues repetibles y errores visibles al inicio.</a:t>
            </a:r>
            <a:endParaRPr lang="en-US" sz="13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Docker y qué es Kubernetes?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empaqueta la aplicación; Kubernetes administra lo empaquetado.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8" name="Shape 16"/>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20" name="Shape 18"/>
          <p:cNvSpPr/>
          <p:nvPr/>
        </p:nvSpPr>
        <p:spPr>
          <a:xfrm>
            <a:off x="612648" y="2267712"/>
            <a:ext cx="5163160" cy="365760"/>
          </a:xfrm>
          <a:prstGeom prst="rect">
            <a:avLst/>
          </a:prstGeom>
          <a:solidFill>
            <a:srgbClr val="0B6E8A"/>
          </a:solidFill>
          <a:ln w="12700">
            <a:solidFill>
              <a:srgbClr val="0B6E8A"/>
            </a:solidFill>
            <a:prstDash val="solid"/>
          </a:ln>
        </p:spPr>
      </p:sp>
      <p:sp>
        <p:nvSpPr>
          <p:cNvPr id="21" name="Shape 19"/>
          <p:cNvSpPr/>
          <p:nvPr/>
        </p:nvSpPr>
        <p:spPr>
          <a:xfrm>
            <a:off x="841248" y="1874520"/>
            <a:ext cx="603504" cy="603504"/>
          </a:xfrm>
          <a:prstGeom prst="ellipse">
            <a:avLst/>
          </a:prstGeom>
          <a:solidFill>
            <a:srgbClr val="FFFFFF"/>
          </a:solidFill>
          <a:ln w="12700">
            <a:solidFill>
              <a:srgbClr val="FFFFFF"/>
            </a:solidFill>
            <a:prstDash val="solid"/>
          </a:ln>
        </p:spPr>
      </p:sp>
      <p:sp>
        <p:nvSpPr>
          <p:cNvPr id="22"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3" name="Text 21"/>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la caja</a:t>
            </a:r>
            <a:endParaRPr lang="en-US" sz="1900" dirty="0"/>
          </a:p>
        </p:txBody>
      </p:sp>
      <p:sp>
        <p:nvSpPr>
          <p:cNvPr id="24"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5" name="Text 23"/>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Empaqueta la app con Java y todo lo que usa</a:t>
            </a:r>
            <a:endParaRPr lang="en-US" sz="1500" dirty="0"/>
          </a:p>
        </p:txBody>
      </p:sp>
      <p:sp>
        <p:nvSpPr>
          <p:cNvPr id="26" name="Shape 24"/>
          <p:cNvSpPr/>
          <p:nvPr/>
        </p:nvSpPr>
        <p:spPr>
          <a:xfrm>
            <a:off x="886968" y="3479292"/>
            <a:ext cx="4614520" cy="0"/>
          </a:xfrm>
          <a:prstGeom prst="line">
            <a:avLst/>
          </a:prstGeom>
          <a:noFill/>
          <a:ln w="9525">
            <a:solidFill>
              <a:srgbClr val="DFE6F0"/>
            </a:solidFill>
            <a:prstDash val="solid"/>
          </a:ln>
        </p:spPr>
      </p:sp>
      <p:sp>
        <p:nvSpPr>
          <p:cNvPr id="27"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8" name="Text 26"/>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Imagen: un paquete que no cambia</a:t>
            </a:r>
            <a:endParaRPr lang="en-US" sz="1500" dirty="0"/>
          </a:p>
        </p:txBody>
      </p:sp>
      <p:sp>
        <p:nvSpPr>
          <p:cNvPr id="29" name="Shape 27"/>
          <p:cNvSpPr/>
          <p:nvPr/>
        </p:nvSpPr>
        <p:spPr>
          <a:xfrm>
            <a:off x="886968" y="4142232"/>
            <a:ext cx="4614520" cy="0"/>
          </a:xfrm>
          <a:prstGeom prst="line">
            <a:avLst/>
          </a:prstGeom>
          <a:noFill/>
          <a:ln w="9525">
            <a:solidFill>
              <a:srgbClr val="DFE6F0"/>
            </a:solidFill>
            <a:prstDash val="solid"/>
          </a:ln>
        </p:spPr>
      </p:sp>
      <p:sp>
        <p:nvSpPr>
          <p:cNvPr id="30"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1" name="Text 29"/>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y en un servidor</a:t>
            </a:r>
            <a:endParaRPr lang="en-US" sz="1500" dirty="0"/>
          </a:p>
        </p:txBody>
      </p:sp>
      <p:sp>
        <p:nvSpPr>
          <p:cNvPr id="32" name="Shape 30"/>
          <p:cNvSpPr/>
          <p:nvPr/>
        </p:nvSpPr>
        <p:spPr>
          <a:xfrm>
            <a:off x="886968" y="4805172"/>
            <a:ext cx="4614520" cy="0"/>
          </a:xfrm>
          <a:prstGeom prst="line">
            <a:avLst/>
          </a:prstGeom>
          <a:noFill/>
          <a:ln w="9525">
            <a:solidFill>
              <a:srgbClr val="DFE6F0"/>
            </a:solidFill>
            <a:prstDash val="solid"/>
          </a:ln>
        </p:spPr>
      </p:sp>
      <p:sp>
        <p:nvSpPr>
          <p:cNvPr id="33"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4" name="Text 32"/>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5" name="Shape 33"/>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7" name="Shape 35"/>
          <p:cNvSpPr/>
          <p:nvPr/>
        </p:nvSpPr>
        <p:spPr>
          <a:xfrm>
            <a:off x="6415888" y="2267712"/>
            <a:ext cx="5163160" cy="365760"/>
          </a:xfrm>
          <a:prstGeom prst="rect">
            <a:avLst/>
          </a:prstGeom>
          <a:solidFill>
            <a:srgbClr val="0A6648"/>
          </a:solidFill>
          <a:ln w="12700">
            <a:solidFill>
              <a:srgbClr val="0A6648"/>
            </a:solidFill>
            <a:prstDash val="solid"/>
          </a:ln>
        </p:spPr>
      </p:sp>
      <p:sp>
        <p:nvSpPr>
          <p:cNvPr id="38" name="Shape 36"/>
          <p:cNvSpPr/>
          <p:nvPr/>
        </p:nvSpPr>
        <p:spPr>
          <a:xfrm>
            <a:off x="6644488" y="1874520"/>
            <a:ext cx="603504" cy="603504"/>
          </a:xfrm>
          <a:prstGeom prst="ellipse">
            <a:avLst/>
          </a:prstGeom>
          <a:solidFill>
            <a:srgbClr val="FFFFFF"/>
          </a:solidFill>
          <a:ln w="12700">
            <a:solidFill>
              <a:srgbClr val="FFFFFF"/>
            </a:solidFill>
            <a:prstDash val="solid"/>
          </a:ln>
        </p:spPr>
      </p:sp>
      <p:sp>
        <p:nvSpPr>
          <p:cNvPr id="39" name="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40" name="Text 38"/>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el administrador</a:t>
            </a:r>
            <a:endParaRPr lang="en-US" sz="1900" dirty="0"/>
          </a:p>
        </p:txBody>
      </p:sp>
      <p:sp>
        <p:nvSpPr>
          <p:cNvPr id="41" name="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2" name="Text 40"/>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3" name="Shape 41"/>
          <p:cNvSpPr/>
          <p:nvPr/>
        </p:nvSpPr>
        <p:spPr>
          <a:xfrm>
            <a:off x="6690208" y="3479292"/>
            <a:ext cx="4614520" cy="0"/>
          </a:xfrm>
          <a:prstGeom prst="line">
            <a:avLst/>
          </a:prstGeom>
          <a:noFill/>
          <a:ln w="9525">
            <a:solidFill>
              <a:srgbClr val="DFE6F0"/>
            </a:solidFill>
            <a:prstDash val="solid"/>
          </a:ln>
        </p:spPr>
      </p:sp>
      <p:sp>
        <p:nvSpPr>
          <p:cNvPr id="44" name="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5" name="Text 43"/>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6" name="Shape 44"/>
          <p:cNvSpPr/>
          <p:nvPr/>
        </p:nvSpPr>
        <p:spPr>
          <a:xfrm>
            <a:off x="6690208" y="4142232"/>
            <a:ext cx="4614520" cy="0"/>
          </a:xfrm>
          <a:prstGeom prst="line">
            <a:avLst/>
          </a:prstGeom>
          <a:noFill/>
          <a:ln w="9525">
            <a:solidFill>
              <a:srgbClr val="DFE6F0"/>
            </a:solidFill>
            <a:prstDash val="solid"/>
          </a:ln>
        </p:spPr>
      </p:sp>
      <p:sp>
        <p:nvSpPr>
          <p:cNvPr id="47" name="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8" name="Text 46"/>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9" name="Shape 47"/>
          <p:cNvSpPr/>
          <p:nvPr/>
        </p:nvSpPr>
        <p:spPr>
          <a:xfrm>
            <a:off x="6690208" y="4805172"/>
            <a:ext cx="4614520" cy="0"/>
          </a:xfrm>
          <a:prstGeom prst="line">
            <a:avLst/>
          </a:prstGeom>
          <a:noFill/>
          <a:ln w="9525">
            <a:solidFill>
              <a:srgbClr val="DFE6F0"/>
            </a:solidFill>
            <a:prstDash val="solid"/>
          </a:ln>
        </p:spPr>
      </p:sp>
      <p:sp>
        <p:nvSpPr>
          <p:cNvPr id="50" name="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1" name="Text 49"/>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2" name="Text 50"/>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53" name="Text 5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código a contenedor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receta que da el mismo resultado en cualquier computadora.</a:t>
            </a:r>
            <a:endParaRPr lang="en-US" sz="1700" dirty="0"/>
          </a:p>
        </p:txBody>
      </p:sp>
      <p:sp>
        <p:nvSpPr>
          <p:cNvPr id="14" name="Shape 12"/>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5" name="Icono file-code"/>
          <p:cNvSpPr/>
          <p:nvPr/>
        </p:nvSpPr>
        <p:spPr>
          <a:xfrm>
            <a:off x="1588427" y="2901391"/>
            <a:ext cx="790042" cy="790042"/>
          </a:xfrm>
          <a:custGeom>
            <a:avLst/>
            <a:gdLst/>
            <a:ahLst/>
            <a:cxnLst/>
            <a:rect l="l" t="t" r="r" b="b"/>
            <a:pathLst>
              <a:path w="790042" h="790042">
                <a:moveTo>
                  <a:pt x="329184" y="411480"/>
                </a:moveTo>
                <a:lnTo>
                  <a:pt x="263347" y="493776"/>
                </a:lnTo>
                <a:lnTo>
                  <a:pt x="329184" y="576072"/>
                </a:lnTo>
                <a:moveTo>
                  <a:pt x="460858" y="411480"/>
                </a:moveTo>
                <a:lnTo>
                  <a:pt x="526694" y="493776"/>
                </a:lnTo>
                <a:lnTo>
                  <a:pt x="460858" y="576072"/>
                </a:lnTo>
                <a:moveTo>
                  <a:pt x="460858" y="65837"/>
                </a:moveTo>
                <a:lnTo>
                  <a:pt x="460858" y="197510"/>
                </a:lnTo>
                <a:cubicBezTo>
                  <a:pt x="460858" y="233871"/>
                  <a:pt x="490334" y="263347"/>
                  <a:pt x="526694" y="263347"/>
                </a:cubicBezTo>
                <a:lnTo>
                  <a:pt x="658368" y="263347"/>
                </a:lnTo>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path>
            </a:pathLst>
          </a:custGeom>
          <a:noFill/>
          <a:ln w="57607" cap="rnd">
            <a:solidFill>
              <a:srgbClr val="0B2350"/>
            </a:solidFill>
            <a:prstDash val="solid"/>
            <a:round/>
          </a:ln>
        </p:spPr>
      </p:sp>
      <p:sp>
        <p:nvSpPr>
          <p:cNvPr id="16" name="Text 14"/>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7" name="Text 15"/>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Dockerfile</a:t>
            </a:r>
            <a:endParaRPr lang="en-US" sz="1800" dirty="0"/>
          </a:p>
        </p:txBody>
      </p:sp>
      <p:sp>
        <p:nvSpPr>
          <p:cNvPr id="18" name="Text 16"/>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receta: qué instalar y qué copiar.</a:t>
            </a:r>
            <a:endParaRPr lang="en-US" sz="1400" dirty="0"/>
          </a:p>
        </p:txBody>
      </p:sp>
      <p:sp>
        <p:nvSpPr>
          <p:cNvPr id="19" name="Shape 17"/>
          <p:cNvSpPr/>
          <p:nvPr/>
        </p:nvSpPr>
        <p:spPr>
          <a:xfrm>
            <a:off x="2806408" y="3296412"/>
            <a:ext cx="1095680" cy="0"/>
          </a:xfrm>
          <a:prstGeom prst="line">
            <a:avLst/>
          </a:prstGeom>
          <a:noFill/>
          <a:ln w="38100">
            <a:solidFill>
              <a:srgbClr val="2BA6CB"/>
            </a:solidFill>
            <a:prstDash val="solid"/>
            <a:tailEnd type="triangle"/>
          </a:ln>
        </p:spPr>
      </p:sp>
      <p:sp>
        <p:nvSpPr>
          <p:cNvPr id="20" name="Shape 18"/>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1" name="Icono settings"/>
          <p:cNvSpPr/>
          <p:nvPr/>
        </p:nvSpPr>
        <p:spPr>
          <a:xfrm>
            <a:off x="4330027" y="2901391"/>
            <a:ext cx="790042" cy="790042"/>
          </a:xfrm>
          <a:custGeom>
            <a:avLst/>
            <a:gdLst/>
            <a:ahLst/>
            <a:cxnLst/>
            <a:rect l="l" t="t" r="r" b="b"/>
            <a:pathLst>
              <a:path w="790042" h="790042">
                <a:moveTo>
                  <a:pt x="402263" y="65837"/>
                </a:moveTo>
                <a:lnTo>
                  <a:pt x="387779" y="65837"/>
                </a:lnTo>
                <a:cubicBezTo>
                  <a:pt x="351418" y="65837"/>
                  <a:pt x="321942" y="95313"/>
                  <a:pt x="321942" y="131674"/>
                </a:cubicBezTo>
                <a:lnTo>
                  <a:pt x="321942" y="137599"/>
                </a:lnTo>
                <a:cubicBezTo>
                  <a:pt x="321918" y="161096"/>
                  <a:pt x="309373" y="182799"/>
                  <a:pt x="289024" y="194548"/>
                </a:cubicBezTo>
                <a:lnTo>
                  <a:pt x="274869" y="202777"/>
                </a:lnTo>
                <a:cubicBezTo>
                  <a:pt x="254499" y="214538"/>
                  <a:pt x="229402" y="214538"/>
                  <a:pt x="209032" y="202777"/>
                </a:cubicBezTo>
                <a:lnTo>
                  <a:pt x="204094" y="200144"/>
                </a:lnTo>
                <a:cubicBezTo>
                  <a:pt x="172638" y="181998"/>
                  <a:pt x="132428" y="192750"/>
                  <a:pt x="114227" y="224174"/>
                </a:cubicBezTo>
                <a:lnTo>
                  <a:pt x="106985" y="236683"/>
                </a:lnTo>
                <a:cubicBezTo>
                  <a:pt x="88839" y="268140"/>
                  <a:pt x="99591" y="308349"/>
                  <a:pt x="131015" y="326551"/>
                </a:cubicBezTo>
                <a:lnTo>
                  <a:pt x="135953" y="329842"/>
                </a:lnTo>
                <a:cubicBezTo>
                  <a:pt x="156201" y="341532"/>
                  <a:pt x="168730" y="363083"/>
                  <a:pt x="168871" y="386462"/>
                </a:cubicBezTo>
                <a:lnTo>
                  <a:pt x="168871" y="403250"/>
                </a:lnTo>
                <a:cubicBezTo>
                  <a:pt x="168965" y="426865"/>
                  <a:pt x="156404" y="448721"/>
                  <a:pt x="135953" y="460528"/>
                </a:cubicBezTo>
                <a:lnTo>
                  <a:pt x="131015" y="463491"/>
                </a:lnTo>
                <a:cubicBezTo>
                  <a:pt x="99591" y="481693"/>
                  <a:pt x="88839" y="521902"/>
                  <a:pt x="106985" y="553358"/>
                </a:cubicBezTo>
                <a:lnTo>
                  <a:pt x="114227" y="565867"/>
                </a:lnTo>
                <a:cubicBezTo>
                  <a:pt x="132428" y="597292"/>
                  <a:pt x="172638" y="608043"/>
                  <a:pt x="204094" y="589898"/>
                </a:cubicBezTo>
                <a:lnTo>
                  <a:pt x="209032" y="587264"/>
                </a:lnTo>
                <a:cubicBezTo>
                  <a:pt x="229402" y="575504"/>
                  <a:pt x="254499" y="575504"/>
                  <a:pt x="274869" y="587264"/>
                </a:cubicBezTo>
                <a:lnTo>
                  <a:pt x="289024" y="595494"/>
                </a:lnTo>
                <a:cubicBezTo>
                  <a:pt x="309373" y="607242"/>
                  <a:pt x="321918" y="628946"/>
                  <a:pt x="321942" y="652443"/>
                </a:cubicBezTo>
                <a:lnTo>
                  <a:pt x="321942" y="658368"/>
                </a:lnTo>
                <a:cubicBezTo>
                  <a:pt x="321942" y="694729"/>
                  <a:pt x="351418" y="724205"/>
                  <a:pt x="387779" y="724205"/>
                </a:cubicBezTo>
                <a:lnTo>
                  <a:pt x="402263" y="724205"/>
                </a:lnTo>
                <a:cubicBezTo>
                  <a:pt x="438624" y="724205"/>
                  <a:pt x="468100" y="694729"/>
                  <a:pt x="468100" y="658368"/>
                </a:cubicBezTo>
                <a:lnTo>
                  <a:pt x="468100" y="652443"/>
                </a:lnTo>
                <a:cubicBezTo>
                  <a:pt x="468124" y="628946"/>
                  <a:pt x="480669" y="607242"/>
                  <a:pt x="501018" y="595494"/>
                </a:cubicBezTo>
                <a:lnTo>
                  <a:pt x="515173" y="587264"/>
                </a:lnTo>
                <a:cubicBezTo>
                  <a:pt x="535543" y="575504"/>
                  <a:pt x="560640" y="575504"/>
                  <a:pt x="581010" y="587264"/>
                </a:cubicBezTo>
                <a:lnTo>
                  <a:pt x="585948" y="589898"/>
                </a:lnTo>
                <a:cubicBezTo>
                  <a:pt x="617404" y="608043"/>
                  <a:pt x="657613" y="597292"/>
                  <a:pt x="675815" y="565867"/>
                </a:cubicBezTo>
                <a:lnTo>
                  <a:pt x="683057" y="553029"/>
                </a:lnTo>
                <a:cubicBezTo>
                  <a:pt x="701203" y="521573"/>
                  <a:pt x="690451" y="481363"/>
                  <a:pt x="659026" y="463162"/>
                </a:cubicBezTo>
                <a:lnTo>
                  <a:pt x="654089" y="460528"/>
                </a:lnTo>
                <a:cubicBezTo>
                  <a:pt x="633637" y="448721"/>
                  <a:pt x="621076" y="426865"/>
                  <a:pt x="621170" y="403250"/>
                </a:cubicBezTo>
                <a:lnTo>
                  <a:pt x="621170" y="386791"/>
                </a:lnTo>
                <a:cubicBezTo>
                  <a:pt x="621076" y="363177"/>
                  <a:pt x="633637" y="341320"/>
                  <a:pt x="654089" y="329513"/>
                </a:cubicBezTo>
                <a:lnTo>
                  <a:pt x="659026" y="326551"/>
                </a:lnTo>
                <a:cubicBezTo>
                  <a:pt x="690451" y="308349"/>
                  <a:pt x="701203" y="268140"/>
                  <a:pt x="683057" y="236683"/>
                </a:cubicBezTo>
                <a:lnTo>
                  <a:pt x="675815" y="224174"/>
                </a:lnTo>
                <a:cubicBezTo>
                  <a:pt x="657613" y="192750"/>
                  <a:pt x="617404" y="181998"/>
                  <a:pt x="585948" y="200144"/>
                </a:cubicBezTo>
                <a:lnTo>
                  <a:pt x="581010" y="202777"/>
                </a:lnTo>
                <a:cubicBezTo>
                  <a:pt x="560640" y="214538"/>
                  <a:pt x="535543" y="214538"/>
                  <a:pt x="515173" y="202777"/>
                </a:cubicBezTo>
                <a:lnTo>
                  <a:pt x="501018" y="194548"/>
                </a:lnTo>
                <a:cubicBezTo>
                  <a:pt x="480669" y="182799"/>
                  <a:pt x="468124" y="161096"/>
                  <a:pt x="468100" y="137599"/>
                </a:cubicBezTo>
                <a:lnTo>
                  <a:pt x="468100" y="131674"/>
                </a:lnTo>
                <a:cubicBezTo>
                  <a:pt x="468100" y="95313"/>
                  <a:pt x="438624" y="65837"/>
                  <a:pt x="402263" y="65837"/>
                </a:cubicBezTo>
                <a:close/>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path>
            </a:pathLst>
          </a:custGeom>
          <a:noFill/>
          <a:ln w="57607" cap="rnd">
            <a:solidFill>
              <a:srgbClr val="0B2350"/>
            </a:solidFill>
            <a:prstDash val="solid"/>
            <a:round/>
          </a:ln>
        </p:spPr>
      </p:sp>
      <p:sp>
        <p:nvSpPr>
          <p:cNvPr id="22" name="Text 20"/>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3" name="Text 21"/>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Etapa build</a:t>
            </a:r>
            <a:endParaRPr lang="en-US" sz="1800" dirty="0"/>
          </a:p>
        </p:txBody>
      </p:sp>
      <p:sp>
        <p:nvSpPr>
          <p:cNvPr id="24" name="Text 22"/>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Compila el JAR con Maven.</a:t>
            </a:r>
            <a:endParaRPr lang="en-US" sz="1400" dirty="0"/>
          </a:p>
        </p:txBody>
      </p:sp>
      <p:sp>
        <p:nvSpPr>
          <p:cNvPr id="25" name="Shape 23"/>
          <p:cNvSpPr/>
          <p:nvPr/>
        </p:nvSpPr>
        <p:spPr>
          <a:xfrm>
            <a:off x="5548008" y="3296412"/>
            <a:ext cx="1095680" cy="0"/>
          </a:xfrm>
          <a:prstGeom prst="line">
            <a:avLst/>
          </a:prstGeom>
          <a:noFill/>
          <a:ln w="38100">
            <a:solidFill>
              <a:srgbClr val="2BA6CB"/>
            </a:solidFill>
            <a:prstDash val="solid"/>
            <a:tailEnd type="triangle"/>
          </a:ln>
        </p:spPr>
      </p:sp>
      <p:sp>
        <p:nvSpPr>
          <p:cNvPr id="26" name="Shape 24"/>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7" name="Icono package"/>
          <p:cNvSpPr/>
          <p:nvPr/>
        </p:nvSpPr>
        <p:spPr>
          <a:xfrm>
            <a:off x="7071627" y="2901391"/>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6E8A"/>
            </a:solidFill>
            <a:prstDash val="solid"/>
            <a:round/>
          </a:ln>
        </p:spPr>
      </p:sp>
      <p:sp>
        <p:nvSpPr>
          <p:cNvPr id="28" name="Text 26"/>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9" name="Text 27"/>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Imagen</a:t>
            </a:r>
            <a:endParaRPr lang="en-US" sz="1800" dirty="0"/>
          </a:p>
        </p:txBody>
      </p:sp>
      <p:sp>
        <p:nvSpPr>
          <p:cNvPr id="30" name="Text 28"/>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Java y el JAR: más liviana.</a:t>
            </a:r>
            <a:endParaRPr lang="en-US" sz="1400" dirty="0"/>
          </a:p>
        </p:txBody>
      </p:sp>
      <p:sp>
        <p:nvSpPr>
          <p:cNvPr id="31" name="Shape 29"/>
          <p:cNvSpPr/>
          <p:nvPr/>
        </p:nvSpPr>
        <p:spPr>
          <a:xfrm>
            <a:off x="8289608" y="3296412"/>
            <a:ext cx="1095680" cy="0"/>
          </a:xfrm>
          <a:prstGeom prst="line">
            <a:avLst/>
          </a:prstGeom>
          <a:noFill/>
          <a:ln w="38100">
            <a:solidFill>
              <a:srgbClr val="2BA6CB"/>
            </a:solidFill>
            <a:prstDash val="solid"/>
            <a:tailEnd type="triangle"/>
          </a:ln>
        </p:spPr>
      </p:sp>
      <p:sp>
        <p:nvSpPr>
          <p:cNvPr id="32" name="Shape 30"/>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3" name="Icono container"/>
          <p:cNvSpPr/>
          <p:nvPr/>
        </p:nvSpPr>
        <p:spPr>
          <a:xfrm>
            <a:off x="9813226" y="2901391"/>
            <a:ext cx="790042" cy="790042"/>
          </a:xfrm>
          <a:custGeom>
            <a:avLst/>
            <a:gdLst/>
            <a:ahLst/>
            <a:cxnLst/>
            <a:rect l="l" t="t" r="r" b="b"/>
            <a:pathLst>
              <a:path w="790042" h="790042">
                <a:moveTo>
                  <a:pt x="724205" y="253472"/>
                </a:moveTo>
                <a:cubicBezTo>
                  <a:pt x="724205" y="233721"/>
                  <a:pt x="711037" y="213970"/>
                  <a:pt x="697870" y="204094"/>
                </a:cubicBezTo>
                <a:lnTo>
                  <a:pt x="490484" y="75712"/>
                </a:lnTo>
                <a:cubicBezTo>
                  <a:pt x="473134" y="65850"/>
                  <a:pt x="451873" y="65850"/>
                  <a:pt x="434523" y="75712"/>
                </a:cubicBezTo>
                <a:lnTo>
                  <a:pt x="95463" y="273223"/>
                </a:lnTo>
                <a:cubicBezTo>
                  <a:pt x="79004" y="279806"/>
                  <a:pt x="65837" y="299557"/>
                  <a:pt x="65837" y="319308"/>
                </a:cubicBezTo>
                <a:lnTo>
                  <a:pt x="65837" y="536570"/>
                </a:lnTo>
                <a:cubicBezTo>
                  <a:pt x="65837" y="553029"/>
                  <a:pt x="79004" y="576072"/>
                  <a:pt x="92172" y="585948"/>
                </a:cubicBezTo>
                <a:lnTo>
                  <a:pt x="299557" y="714329"/>
                </a:lnTo>
                <a:cubicBezTo>
                  <a:pt x="316908" y="724192"/>
                  <a:pt x="338169" y="724192"/>
                  <a:pt x="355519" y="714329"/>
                </a:cubicBezTo>
                <a:lnTo>
                  <a:pt x="694578" y="516819"/>
                </a:lnTo>
                <a:cubicBezTo>
                  <a:pt x="711037" y="506943"/>
                  <a:pt x="724205" y="483900"/>
                  <a:pt x="724205" y="467441"/>
                </a:cubicBezTo>
                <a:close/>
                <a:moveTo>
                  <a:pt x="329184" y="720913"/>
                </a:moveTo>
                <a:lnTo>
                  <a:pt x="329184" y="460858"/>
                </a:lnTo>
                <a:lnTo>
                  <a:pt x="69129" y="299557"/>
                </a:lnTo>
                <a:moveTo>
                  <a:pt x="329184" y="460858"/>
                </a:moveTo>
                <a:lnTo>
                  <a:pt x="720913" y="233721"/>
                </a:lnTo>
                <a:moveTo>
                  <a:pt x="460858" y="651784"/>
                </a:moveTo>
                <a:lnTo>
                  <a:pt x="460858" y="385145"/>
                </a:lnTo>
                <a:moveTo>
                  <a:pt x="592531" y="576072"/>
                </a:moveTo>
                <a:lnTo>
                  <a:pt x="592531" y="309433"/>
                </a:lnTo>
              </a:path>
            </a:pathLst>
          </a:custGeom>
          <a:noFill/>
          <a:ln w="57607" cap="rnd">
            <a:solidFill>
              <a:srgbClr val="0A6648"/>
            </a:solidFill>
            <a:prstDash val="solid"/>
            <a:round/>
          </a:ln>
        </p:spPr>
      </p:sp>
      <p:sp>
        <p:nvSpPr>
          <p:cNvPr id="34" name="Text 32"/>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5" name="Text 33"/>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Contenedor</a:t>
            </a:r>
            <a:endParaRPr lang="en-US" sz="1800" dirty="0"/>
          </a:p>
        </p:txBody>
      </p:sp>
      <p:sp>
        <p:nvSpPr>
          <p:cNvPr id="36" name="Text 34"/>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Corre con un usuario sin privilegios.</a:t>
            </a:r>
            <a:endParaRPr lang="en-US" sz="1400" dirty="0"/>
          </a:p>
        </p:txBody>
      </p:sp>
      <p:sp>
        <p:nvSpPr>
          <p:cNvPr id="37" name="Text 3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código a contenedor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servicio-solicitudes/Dockerfile</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maven: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3.9</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-eclipse-temurin-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AS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build</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mvn -q clean package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DskipTests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eclipse-temurin: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-jre</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COPY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--from=build /build/target/*.jar app.jar</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useradd -r -u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1001</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appuser1</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USER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appuser1</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ENTRYPOINT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"java"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"-jar"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"app.jar"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el sistema con un comando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contenedores, una red y la configuración por variables de entorno.</a:t>
            </a:r>
            <a:endParaRPr lang="en-US" sz="1700" dirty="0"/>
          </a:p>
        </p:txBody>
      </p:sp>
      <p:sp>
        <p:nvSpPr>
          <p:cNvPr id="14" name="Shape 12"/>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5"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16" name="Text 14"/>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17" name="Shape 15"/>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2624328"/>
            <a:ext cx="64008" cy="1581912"/>
          </a:xfrm>
          <a:prstGeom prst="rect">
            <a:avLst/>
          </a:prstGeom>
          <a:solidFill>
            <a:srgbClr val="5B3FC4"/>
          </a:solidFill>
          <a:ln w="12700">
            <a:solidFill>
              <a:srgbClr val="5B3FC4"/>
            </a:solidFill>
            <a:prstDash val="solid"/>
          </a:ln>
        </p:spPr>
      </p:sp>
      <p:sp>
        <p:nvSpPr>
          <p:cNvPr id="19" name="Shape 17"/>
          <p:cNvSpPr/>
          <p:nvPr/>
        </p:nvSpPr>
        <p:spPr>
          <a:xfrm>
            <a:off x="813816" y="2679192"/>
            <a:ext cx="566928" cy="566928"/>
          </a:xfrm>
          <a:prstGeom prst="ellipse">
            <a:avLst/>
          </a:prstGeom>
          <a:solidFill>
            <a:srgbClr val="F1EEFD"/>
          </a:solidFill>
          <a:ln w="12700">
            <a:solidFill>
              <a:srgbClr val="F1EEFD"/>
            </a:solidFill>
            <a:prstDash val="solid"/>
          </a:ln>
        </p:spPr>
      </p:sp>
      <p:sp>
        <p:nvSpPr>
          <p:cNvPr id="20" name="Icono monitor"/>
          <p:cNvSpPr/>
          <p:nvPr/>
        </p:nvSpPr>
        <p:spPr>
          <a:xfrm>
            <a:off x="949879" y="2815255"/>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1" name="Text 19"/>
          <p:cNvSpPr/>
          <p:nvPr/>
        </p:nvSpPr>
        <p:spPr>
          <a:xfrm>
            <a:off x="1527048"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arka-lite-ui</a:t>
            </a:r>
            <a:endParaRPr lang="en-US" sz="1500" dirty="0"/>
          </a:p>
        </p:txBody>
      </p:sp>
      <p:sp>
        <p:nvSpPr>
          <p:cNvPr id="22" name="Text 20"/>
          <p:cNvSpPr/>
          <p:nvPr/>
        </p:nvSpPr>
        <p:spPr>
          <a:xfrm>
            <a:off x="86868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:8088 · la interfaz y su proxy</a:t>
            </a:r>
            <a:endParaRPr lang="en-US" sz="1300" dirty="0"/>
          </a:p>
        </p:txBody>
      </p:sp>
      <p:sp>
        <p:nvSpPr>
          <p:cNvPr id="23" name="Shape 21"/>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3399968" y="2624328"/>
            <a:ext cx="64008" cy="1581912"/>
          </a:xfrm>
          <a:prstGeom prst="rect">
            <a:avLst/>
          </a:prstGeom>
          <a:solidFill>
            <a:srgbClr val="0B2350"/>
          </a:solidFill>
          <a:ln w="12700">
            <a:solidFill>
              <a:srgbClr val="0B2350"/>
            </a:solidFill>
            <a:prstDash val="solid"/>
          </a:ln>
        </p:spPr>
      </p:sp>
      <p:sp>
        <p:nvSpPr>
          <p:cNvPr id="25" name="Shape 23"/>
          <p:cNvSpPr/>
          <p:nvPr/>
        </p:nvSpPr>
        <p:spPr>
          <a:xfrm>
            <a:off x="3601136" y="2679192"/>
            <a:ext cx="566928" cy="566928"/>
          </a:xfrm>
          <a:prstGeom prst="ellipse">
            <a:avLst/>
          </a:prstGeom>
          <a:solidFill>
            <a:srgbClr val="E8EEF8"/>
          </a:solidFill>
          <a:ln w="12700">
            <a:solidFill>
              <a:srgbClr val="E8EEF8"/>
            </a:solidFill>
            <a:prstDash val="solid"/>
          </a:ln>
        </p:spPr>
      </p:sp>
      <p:sp>
        <p:nvSpPr>
          <p:cNvPr id="26" name="Icono clipboard-list"/>
          <p:cNvSpPr/>
          <p:nvPr/>
        </p:nvSpPr>
        <p:spPr>
          <a:xfrm>
            <a:off x="3737199" y="2815255"/>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27" name="Text 25"/>
          <p:cNvSpPr/>
          <p:nvPr/>
        </p:nvSpPr>
        <p:spPr>
          <a:xfrm>
            <a:off x="4314368" y="2679192"/>
            <a:ext cx="1552880" cy="566928"/>
          </a:xfrm>
          <a:prstGeom prst="rect">
            <a:avLst/>
          </a:prstGeom>
          <a:noFill/>
          <a:ln/>
        </p:spPr>
        <p:txBody>
          <a:bodyPr wrap="square" lIns="0" tIns="0" rIns="0" bIns="0" rtlCol="0" anchor="ctr">
            <a:normAutofit/>
          </a:bodyPr>
          <a:lstStyle/>
          <a:p>
            <a:pPr algn="l" indent="0" marL="0">
              <a:buNone/>
            </a:pPr>
            <a:r>
              <a:rPr lang="en-US" sz="1050" b="1" dirty="0">
                <a:solidFill>
                  <a:srgbClr val="0B1A3C"/>
                </a:solidFill>
                <a:latin typeface="Segoe UI Semibold" pitchFamily="34" charset="0"/>
                <a:ea typeface="Segoe UI Semibold" pitchFamily="34" charset="-122"/>
                <a:cs typeface="Segoe UI Semibold" pitchFamily="34" charset="-120"/>
              </a:rPr>
              <a:t>servicio-solicitudes</a:t>
            </a:r>
            <a:endParaRPr lang="en-US" sz="1050" dirty="0"/>
          </a:p>
        </p:txBody>
      </p:sp>
      <p:sp>
        <p:nvSpPr>
          <p:cNvPr id="28" name="Text 26"/>
          <p:cNvSpPr/>
          <p:nvPr/>
        </p:nvSpPr>
        <p:spPr>
          <a:xfrm>
            <a:off x="365600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:8080 · el trámite</a:t>
            </a:r>
            <a:endParaRPr lang="en-US" sz="1300" dirty="0"/>
          </a:p>
        </p:txBody>
      </p:sp>
      <p:sp>
        <p:nvSpPr>
          <p:cNvPr id="29" name="Shape 27"/>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6187288" y="2624328"/>
            <a:ext cx="64008" cy="1581912"/>
          </a:xfrm>
          <a:prstGeom prst="rect">
            <a:avLst/>
          </a:prstGeom>
          <a:solidFill>
            <a:srgbClr val="0B6E8A"/>
          </a:solidFill>
          <a:ln w="12700">
            <a:solidFill>
              <a:srgbClr val="0B6E8A"/>
            </a:solidFill>
            <a:prstDash val="solid"/>
          </a:ln>
        </p:spPr>
      </p:sp>
      <p:sp>
        <p:nvSpPr>
          <p:cNvPr id="31" name="Shape 29"/>
          <p:cNvSpPr/>
          <p:nvPr/>
        </p:nvSpPr>
        <p:spPr>
          <a:xfrm>
            <a:off x="6388456" y="2679192"/>
            <a:ext cx="566928" cy="566928"/>
          </a:xfrm>
          <a:prstGeom prst="ellipse">
            <a:avLst/>
          </a:prstGeom>
          <a:solidFill>
            <a:srgbClr val="E3F4FA"/>
          </a:solidFill>
          <a:ln w="12700">
            <a:solidFill>
              <a:srgbClr val="E3F4FA"/>
            </a:solidFill>
            <a:prstDash val="solid"/>
          </a:ln>
        </p:spPr>
      </p:sp>
      <p:sp>
        <p:nvSpPr>
          <p:cNvPr id="32" name="Icono bell"/>
          <p:cNvSpPr/>
          <p:nvPr/>
        </p:nvSpPr>
        <p:spPr>
          <a:xfrm>
            <a:off x="6524518" y="2815255"/>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33" name="Text 31"/>
          <p:cNvSpPr/>
          <p:nvPr/>
        </p:nvSpPr>
        <p:spPr>
          <a:xfrm>
            <a:off x="7101688" y="2679192"/>
            <a:ext cx="1552880" cy="566928"/>
          </a:xfrm>
          <a:prstGeom prst="rect">
            <a:avLst/>
          </a:prstGeom>
          <a:noFill/>
          <a:ln/>
        </p:spPr>
        <p:txBody>
          <a:bodyPr wrap="square" lIns="0" tIns="0" rIns="0" bIns="0" rtlCol="0" anchor="ctr">
            <a:normAutofit/>
          </a:bodyPr>
          <a:lstStyle/>
          <a:p>
            <a:pPr algn="l" indent="0" marL="0">
              <a:buNone/>
            </a:pPr>
            <a:r>
              <a:rPr lang="en-US" sz="900" b="1" dirty="0">
                <a:solidFill>
                  <a:srgbClr val="0B1A3C"/>
                </a:solidFill>
                <a:latin typeface="Segoe UI Semibold" pitchFamily="34" charset="0"/>
                <a:ea typeface="Segoe UI Semibold" pitchFamily="34" charset="-122"/>
                <a:cs typeface="Segoe UI Semibold" pitchFamily="34" charset="-120"/>
              </a:rPr>
              <a:t>servicio-notificaciones</a:t>
            </a:r>
            <a:endParaRPr lang="en-US" sz="900" dirty="0"/>
          </a:p>
        </p:txBody>
      </p:sp>
      <p:sp>
        <p:nvSpPr>
          <p:cNvPr id="34" name="Text 32"/>
          <p:cNvSpPr/>
          <p:nvPr/>
        </p:nvSpPr>
        <p:spPr>
          <a:xfrm>
            <a:off x="644332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:8081 · los avisos</a:t>
            </a:r>
            <a:endParaRPr lang="en-US" sz="1300" dirty="0"/>
          </a:p>
        </p:txBody>
      </p:sp>
      <p:sp>
        <p:nvSpPr>
          <p:cNvPr id="35" name="Shape 33"/>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974607" y="2624328"/>
            <a:ext cx="64008" cy="1581912"/>
          </a:xfrm>
          <a:prstGeom prst="rect">
            <a:avLst/>
          </a:prstGeom>
          <a:solidFill>
            <a:srgbClr val="55627E"/>
          </a:solidFill>
          <a:ln w="12700">
            <a:solidFill>
              <a:srgbClr val="55627E"/>
            </a:solidFill>
            <a:prstDash val="solid"/>
          </a:ln>
        </p:spPr>
      </p:sp>
      <p:sp>
        <p:nvSpPr>
          <p:cNvPr id="37" name="Shape 35"/>
          <p:cNvSpPr/>
          <p:nvPr/>
        </p:nvSpPr>
        <p:spPr>
          <a:xfrm>
            <a:off x="9175775" y="2679192"/>
            <a:ext cx="566928" cy="566928"/>
          </a:xfrm>
          <a:prstGeom prst="ellipse">
            <a:avLst/>
          </a:prstGeom>
          <a:solidFill>
            <a:srgbClr val="F4F7FB"/>
          </a:solidFill>
          <a:ln w="12700">
            <a:solidFill>
              <a:srgbClr val="F4F7FB"/>
            </a:solidFill>
            <a:prstDash val="solid"/>
          </a:ln>
        </p:spPr>
      </p:sp>
      <p:sp>
        <p:nvSpPr>
          <p:cNvPr id="38" name="Icono database"/>
          <p:cNvSpPr/>
          <p:nvPr/>
        </p:nvSpPr>
        <p:spPr>
          <a:xfrm>
            <a:off x="9311838" y="2815255"/>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39" name="Text 37"/>
          <p:cNvSpPr/>
          <p:nvPr/>
        </p:nvSpPr>
        <p:spPr>
          <a:xfrm>
            <a:off x="9889007"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db-solicitudes</a:t>
            </a:r>
            <a:endParaRPr lang="en-US" sz="1500" dirty="0"/>
          </a:p>
        </p:txBody>
      </p:sp>
      <p:sp>
        <p:nvSpPr>
          <p:cNvPr id="40" name="Text 38"/>
          <p:cNvSpPr/>
          <p:nvPr/>
        </p:nvSpPr>
        <p:spPr>
          <a:xfrm>
            <a:off x="9230639"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solo red interna</a:t>
            </a:r>
            <a:endParaRPr lang="en-US" sz="1300" dirty="0"/>
          </a:p>
        </p:txBody>
      </p:sp>
      <p:sp>
        <p:nvSpPr>
          <p:cNvPr id="41" name="Shape 39"/>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612648" y="4645152"/>
            <a:ext cx="64008" cy="1581912"/>
          </a:xfrm>
          <a:prstGeom prst="rect">
            <a:avLst/>
          </a:prstGeom>
          <a:solidFill>
            <a:srgbClr val="55627E"/>
          </a:solidFill>
          <a:ln w="12700">
            <a:solidFill>
              <a:srgbClr val="55627E"/>
            </a:solidFill>
            <a:prstDash val="solid"/>
          </a:ln>
        </p:spPr>
      </p:sp>
      <p:sp>
        <p:nvSpPr>
          <p:cNvPr id="43" name="Shape 41"/>
          <p:cNvSpPr/>
          <p:nvPr/>
        </p:nvSpPr>
        <p:spPr>
          <a:xfrm>
            <a:off x="813816" y="4700016"/>
            <a:ext cx="566928" cy="566928"/>
          </a:xfrm>
          <a:prstGeom prst="ellipse">
            <a:avLst/>
          </a:prstGeom>
          <a:solidFill>
            <a:srgbClr val="F4F7FB"/>
          </a:solidFill>
          <a:ln w="12700">
            <a:solidFill>
              <a:srgbClr val="F4F7FB"/>
            </a:solidFill>
            <a:prstDash val="solid"/>
          </a:ln>
        </p:spPr>
      </p:sp>
      <p:sp>
        <p:nvSpPr>
          <p:cNvPr id="44" name="Icono database"/>
          <p:cNvSpPr/>
          <p:nvPr/>
        </p:nvSpPr>
        <p:spPr>
          <a:xfrm>
            <a:off x="949879" y="4836079"/>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5" name="Text 43"/>
          <p:cNvSpPr/>
          <p:nvPr/>
        </p:nvSpPr>
        <p:spPr>
          <a:xfrm>
            <a:off x="1527048" y="4700016"/>
            <a:ext cx="1552880" cy="566928"/>
          </a:xfrm>
          <a:prstGeom prst="rect">
            <a:avLst/>
          </a:prstGeom>
          <a:noFill/>
          <a:ln/>
        </p:spPr>
        <p:txBody>
          <a:bodyPr wrap="square" lIns="0" tIns="0" rIns="0" bIns="0" rtlCol="0" anchor="ctr">
            <a:normAutofit/>
          </a:bodyPr>
          <a:lstStyle/>
          <a:p>
            <a:pPr algn="l" indent="0" marL="0">
              <a:buNone/>
            </a:pPr>
            <a:r>
              <a:rPr lang="en-US" sz="1200" b="1" dirty="0">
                <a:solidFill>
                  <a:srgbClr val="0B1A3C"/>
                </a:solidFill>
                <a:latin typeface="Segoe UI Semibold" pitchFamily="34" charset="0"/>
                <a:ea typeface="Segoe UI Semibold" pitchFamily="34" charset="-122"/>
                <a:cs typeface="Segoe UI Semibold" pitchFamily="34" charset="-120"/>
              </a:rPr>
              <a:t>db-notificaciones</a:t>
            </a:r>
            <a:endParaRPr lang="en-US" sz="1200" dirty="0"/>
          </a:p>
        </p:txBody>
      </p:sp>
      <p:sp>
        <p:nvSpPr>
          <p:cNvPr id="46" name="Text 44"/>
          <p:cNvSpPr/>
          <p:nvPr/>
        </p:nvSpPr>
        <p:spPr>
          <a:xfrm>
            <a:off x="86868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:5433</a:t>
            </a:r>
            <a:endParaRPr lang="en-US" sz="1300" dirty="0"/>
          </a:p>
        </p:txBody>
      </p:sp>
      <p:sp>
        <p:nvSpPr>
          <p:cNvPr id="47" name="Shape 45"/>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3399968" y="4645152"/>
            <a:ext cx="64008" cy="1581912"/>
          </a:xfrm>
          <a:prstGeom prst="rect">
            <a:avLst/>
          </a:prstGeom>
          <a:solidFill>
            <a:srgbClr val="8A4B06"/>
          </a:solidFill>
          <a:ln w="12700">
            <a:solidFill>
              <a:srgbClr val="8A4B06"/>
            </a:solidFill>
            <a:prstDash val="solid"/>
          </a:ln>
        </p:spPr>
      </p:sp>
      <p:sp>
        <p:nvSpPr>
          <p:cNvPr id="49" name="Shape 47"/>
          <p:cNvSpPr/>
          <p:nvPr/>
        </p:nvSpPr>
        <p:spPr>
          <a:xfrm>
            <a:off x="3601136" y="4700016"/>
            <a:ext cx="566928" cy="566928"/>
          </a:xfrm>
          <a:prstGeom prst="ellipse">
            <a:avLst/>
          </a:prstGeom>
          <a:solidFill>
            <a:srgbClr val="FCEFD6"/>
          </a:solidFill>
          <a:ln w="12700">
            <a:solidFill>
              <a:srgbClr val="FCEFD6"/>
            </a:solidFill>
            <a:prstDash val="solid"/>
          </a:ln>
        </p:spPr>
      </p:sp>
      <p:sp>
        <p:nvSpPr>
          <p:cNvPr id="50" name="Icono scan-eye"/>
          <p:cNvSpPr/>
          <p:nvPr/>
        </p:nvSpPr>
        <p:spPr>
          <a:xfrm>
            <a:off x="3737199" y="4836079"/>
            <a:ext cx="294803" cy="294803"/>
          </a:xfrm>
          <a:custGeom>
            <a:avLst/>
            <a:gdLst/>
            <a:ahLst/>
            <a:cxnLst/>
            <a:rect l="l" t="t" r="r" b="b"/>
            <a:pathLst>
              <a:path w="294803" h="294803">
                <a:moveTo>
                  <a:pt x="36850" y="85984"/>
                </a:moveTo>
                <a:lnTo>
                  <a:pt x="36850" y="61417"/>
                </a:lnTo>
                <a:cubicBezTo>
                  <a:pt x="36850" y="47849"/>
                  <a:pt x="47849" y="36850"/>
                  <a:pt x="61417" y="36850"/>
                </a:cubicBezTo>
                <a:lnTo>
                  <a:pt x="85984" y="36850"/>
                </a:lnTo>
                <a:moveTo>
                  <a:pt x="208818" y="36850"/>
                </a:moveTo>
                <a:lnTo>
                  <a:pt x="233385" y="36850"/>
                </a:lnTo>
                <a:cubicBezTo>
                  <a:pt x="246953" y="36850"/>
                  <a:pt x="257952" y="47849"/>
                  <a:pt x="257952" y="61417"/>
                </a:cubicBezTo>
                <a:lnTo>
                  <a:pt x="257952" y="85984"/>
                </a:lnTo>
                <a:moveTo>
                  <a:pt x="257952" y="208818"/>
                </a:moveTo>
                <a:lnTo>
                  <a:pt x="257952" y="233385"/>
                </a:lnTo>
                <a:cubicBezTo>
                  <a:pt x="257952" y="246953"/>
                  <a:pt x="246953" y="257952"/>
                  <a:pt x="233385" y="257952"/>
                </a:cubicBezTo>
                <a:lnTo>
                  <a:pt x="208818" y="257952"/>
                </a:lnTo>
                <a:moveTo>
                  <a:pt x="85984" y="257952"/>
                </a:moveTo>
                <a:lnTo>
                  <a:pt x="61417" y="257952"/>
                </a:lnTo>
                <a:cubicBezTo>
                  <a:pt x="47849" y="257952"/>
                  <a:pt x="36850" y="246953"/>
                  <a:pt x="36850" y="233385"/>
                </a:cubicBezTo>
                <a:lnTo>
                  <a:pt x="36850" y="208818"/>
                </a:lnTo>
                <a:moveTo>
                  <a:pt x="159685" y="147401"/>
                </a:moveTo>
                <a:cubicBezTo>
                  <a:pt x="159685" y="154185"/>
                  <a:pt x="154185" y="159685"/>
                  <a:pt x="147401" y="159685"/>
                </a:cubicBezTo>
                <a:cubicBezTo>
                  <a:pt x="140617" y="159685"/>
                  <a:pt x="135118" y="154185"/>
                  <a:pt x="135118" y="147401"/>
                </a:cubicBezTo>
                <a:cubicBezTo>
                  <a:pt x="135118" y="140617"/>
                  <a:pt x="140617" y="135118"/>
                  <a:pt x="147401" y="135118"/>
                </a:cubicBezTo>
                <a:cubicBezTo>
                  <a:pt x="154185" y="135118"/>
                  <a:pt x="159685" y="140617"/>
                  <a:pt x="159685" y="147401"/>
                </a:cubicBezTo>
                <a:close/>
                <a:moveTo>
                  <a:pt x="232697" y="151455"/>
                </a:moveTo>
                <a:cubicBezTo>
                  <a:pt x="233615" y="148830"/>
                  <a:pt x="233615" y="145972"/>
                  <a:pt x="232697" y="143348"/>
                </a:cubicBezTo>
                <a:cubicBezTo>
                  <a:pt x="218552" y="108686"/>
                  <a:pt x="184838" y="86032"/>
                  <a:pt x="147401" y="86032"/>
                </a:cubicBezTo>
                <a:cubicBezTo>
                  <a:pt x="109965" y="86032"/>
                  <a:pt x="76251" y="108686"/>
                  <a:pt x="62105" y="143348"/>
                </a:cubicBezTo>
                <a:cubicBezTo>
                  <a:pt x="61188" y="145972"/>
                  <a:pt x="61188" y="148830"/>
                  <a:pt x="62105" y="151455"/>
                </a:cubicBezTo>
                <a:cubicBezTo>
                  <a:pt x="76251" y="186116"/>
                  <a:pt x="109965" y="208771"/>
                  <a:pt x="147401" y="208771"/>
                </a:cubicBezTo>
                <a:cubicBezTo>
                  <a:pt x="184838" y="208771"/>
                  <a:pt x="218552" y="186116"/>
                  <a:pt x="232697" y="151455"/>
                </a:cubicBezTo>
              </a:path>
            </a:pathLst>
          </a:custGeom>
          <a:noFill/>
          <a:ln w="24567" cap="rnd">
            <a:solidFill>
              <a:srgbClr val="8A4B06"/>
            </a:solidFill>
            <a:prstDash val="solid"/>
            <a:round/>
          </a:ln>
        </p:spPr>
      </p:sp>
      <p:sp>
        <p:nvSpPr>
          <p:cNvPr id="51" name="Text 49"/>
          <p:cNvSpPr/>
          <p:nvPr/>
        </p:nvSpPr>
        <p:spPr>
          <a:xfrm>
            <a:off x="431436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promtail</a:t>
            </a:r>
            <a:endParaRPr lang="en-US" sz="1500" dirty="0"/>
          </a:p>
        </p:txBody>
      </p:sp>
      <p:sp>
        <p:nvSpPr>
          <p:cNvPr id="52" name="Text 50"/>
          <p:cNvSpPr/>
          <p:nvPr/>
        </p:nvSpPr>
        <p:spPr>
          <a:xfrm>
            <a:off x="365600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recoge los logs</a:t>
            </a:r>
            <a:endParaRPr lang="en-US" sz="1300" dirty="0"/>
          </a:p>
        </p:txBody>
      </p:sp>
      <p:sp>
        <p:nvSpPr>
          <p:cNvPr id="53" name="Shape 51"/>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6187288" y="4645152"/>
            <a:ext cx="64008" cy="1581912"/>
          </a:xfrm>
          <a:prstGeom prst="rect">
            <a:avLst/>
          </a:prstGeom>
          <a:solidFill>
            <a:srgbClr val="8A4B06"/>
          </a:solidFill>
          <a:ln w="12700">
            <a:solidFill>
              <a:srgbClr val="8A4B06"/>
            </a:solidFill>
            <a:prstDash val="solid"/>
          </a:ln>
        </p:spPr>
      </p:sp>
      <p:sp>
        <p:nvSpPr>
          <p:cNvPr id="55" name="Shape 53"/>
          <p:cNvSpPr/>
          <p:nvPr/>
        </p:nvSpPr>
        <p:spPr>
          <a:xfrm>
            <a:off x="6388456" y="4700016"/>
            <a:ext cx="566928" cy="566928"/>
          </a:xfrm>
          <a:prstGeom prst="ellipse">
            <a:avLst/>
          </a:prstGeom>
          <a:solidFill>
            <a:srgbClr val="FCEFD6"/>
          </a:solidFill>
          <a:ln w="12700">
            <a:solidFill>
              <a:srgbClr val="FCEFD6"/>
            </a:solidFill>
            <a:prstDash val="solid"/>
          </a:ln>
        </p:spPr>
      </p:sp>
      <p:sp>
        <p:nvSpPr>
          <p:cNvPr id="56" name="Icono archive"/>
          <p:cNvSpPr/>
          <p:nvPr/>
        </p:nvSpPr>
        <p:spPr>
          <a:xfrm>
            <a:off x="6524518" y="4836079"/>
            <a:ext cx="294803" cy="294803"/>
          </a:xfrm>
          <a:custGeom>
            <a:avLst/>
            <a:gdLst/>
            <a:ahLst/>
            <a:cxnLst/>
            <a:rect l="l" t="t" r="r" b="b"/>
            <a:pathLst>
              <a:path w="294803" h="294803">
                <a:moveTo>
                  <a:pt x="36850" y="36850"/>
                </a:moveTo>
                <a:lnTo>
                  <a:pt x="257952" y="36850"/>
                </a:lnTo>
                <a:cubicBezTo>
                  <a:pt x="264736" y="36850"/>
                  <a:pt x="270236" y="42350"/>
                  <a:pt x="270236" y="49134"/>
                </a:cubicBezTo>
                <a:lnTo>
                  <a:pt x="270236" y="85984"/>
                </a:lnTo>
                <a:cubicBezTo>
                  <a:pt x="270236" y="92768"/>
                  <a:pt x="264736" y="98268"/>
                  <a:pt x="257952" y="98268"/>
                </a:cubicBezTo>
                <a:lnTo>
                  <a:pt x="36850" y="98268"/>
                </a:lnTo>
                <a:cubicBezTo>
                  <a:pt x="30066" y="98268"/>
                  <a:pt x="24567" y="92768"/>
                  <a:pt x="24567" y="85984"/>
                </a:cubicBezTo>
                <a:lnTo>
                  <a:pt x="24567" y="49134"/>
                </a:lnTo>
                <a:cubicBezTo>
                  <a:pt x="24567" y="42350"/>
                  <a:pt x="30066" y="36850"/>
                  <a:pt x="36850" y="36850"/>
                </a:cubicBezTo>
                <a:close/>
                <a:moveTo>
                  <a:pt x="49134" y="98268"/>
                </a:moveTo>
                <a:lnTo>
                  <a:pt x="49134" y="233385"/>
                </a:lnTo>
                <a:cubicBezTo>
                  <a:pt x="49134" y="246953"/>
                  <a:pt x="60133" y="257952"/>
                  <a:pt x="73701" y="257952"/>
                </a:cubicBezTo>
                <a:lnTo>
                  <a:pt x="221102" y="257952"/>
                </a:lnTo>
                <a:cubicBezTo>
                  <a:pt x="234670" y="257952"/>
                  <a:pt x="245669" y="246953"/>
                  <a:pt x="245669" y="233385"/>
                </a:cubicBezTo>
                <a:lnTo>
                  <a:pt x="245669" y="98268"/>
                </a:lnTo>
                <a:moveTo>
                  <a:pt x="122834" y="147401"/>
                </a:moveTo>
                <a:lnTo>
                  <a:pt x="171968" y="147401"/>
                </a:lnTo>
              </a:path>
            </a:pathLst>
          </a:custGeom>
          <a:noFill/>
          <a:ln w="24567" cap="rnd">
            <a:solidFill>
              <a:srgbClr val="8A4B06"/>
            </a:solidFill>
            <a:prstDash val="solid"/>
            <a:round/>
          </a:ln>
        </p:spPr>
      </p:sp>
      <p:sp>
        <p:nvSpPr>
          <p:cNvPr id="57" name="Text 55"/>
          <p:cNvSpPr/>
          <p:nvPr/>
        </p:nvSpPr>
        <p:spPr>
          <a:xfrm>
            <a:off x="710168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loki</a:t>
            </a:r>
            <a:endParaRPr lang="en-US" sz="1500" dirty="0"/>
          </a:p>
        </p:txBody>
      </p:sp>
      <p:sp>
        <p:nvSpPr>
          <p:cNvPr id="58" name="Text 56"/>
          <p:cNvSpPr/>
          <p:nvPr/>
        </p:nvSpPr>
        <p:spPr>
          <a:xfrm>
            <a:off x="644332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:3100 · guarda los logs</a:t>
            </a:r>
            <a:endParaRPr lang="en-US" sz="1300" dirty="0"/>
          </a:p>
        </p:txBody>
      </p:sp>
      <p:sp>
        <p:nvSpPr>
          <p:cNvPr id="59" name="Shape 57"/>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8974607" y="4645152"/>
            <a:ext cx="64008" cy="1581912"/>
          </a:xfrm>
          <a:prstGeom prst="rect">
            <a:avLst/>
          </a:prstGeom>
          <a:solidFill>
            <a:srgbClr val="8A4B06"/>
          </a:solidFill>
          <a:ln w="12700">
            <a:solidFill>
              <a:srgbClr val="8A4B06"/>
            </a:solidFill>
            <a:prstDash val="solid"/>
          </a:ln>
        </p:spPr>
      </p:sp>
      <p:sp>
        <p:nvSpPr>
          <p:cNvPr id="61" name="Shape 59"/>
          <p:cNvSpPr/>
          <p:nvPr/>
        </p:nvSpPr>
        <p:spPr>
          <a:xfrm>
            <a:off x="9175775" y="4700016"/>
            <a:ext cx="566928" cy="566928"/>
          </a:xfrm>
          <a:prstGeom prst="ellipse">
            <a:avLst/>
          </a:prstGeom>
          <a:solidFill>
            <a:srgbClr val="FCEFD6"/>
          </a:solidFill>
          <a:ln w="12700">
            <a:solidFill>
              <a:srgbClr val="FCEFD6"/>
            </a:solidFill>
            <a:prstDash val="solid"/>
          </a:ln>
        </p:spPr>
      </p:sp>
      <p:sp>
        <p:nvSpPr>
          <p:cNvPr id="62" name="Icono chart-line"/>
          <p:cNvSpPr/>
          <p:nvPr/>
        </p:nvSpPr>
        <p:spPr>
          <a:xfrm>
            <a:off x="9311838" y="483607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63" name="Text 61"/>
          <p:cNvSpPr/>
          <p:nvPr/>
        </p:nvSpPr>
        <p:spPr>
          <a:xfrm>
            <a:off x="9889007"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grafana</a:t>
            </a:r>
            <a:endParaRPr lang="en-US" sz="1500" dirty="0"/>
          </a:p>
        </p:txBody>
      </p:sp>
      <p:sp>
        <p:nvSpPr>
          <p:cNvPr id="64" name="Text 62"/>
          <p:cNvSpPr/>
          <p:nvPr/>
        </p:nvSpPr>
        <p:spPr>
          <a:xfrm>
            <a:off x="9230639"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:3000 · busca en los logs</a:t>
            </a:r>
            <a:endParaRPr lang="en-US" sz="1300" dirty="0"/>
          </a:p>
        </p:txBody>
      </p:sp>
      <p:sp>
        <p:nvSpPr>
          <p:cNvPr id="65" name="Text 6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Los recursos de Kubernetes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Decimos el estado que queremos; Kubernetes lo mantiene.</a:t>
            </a:r>
            <a:endParaRPr lang="en-US" sz="1700" dirty="0"/>
          </a:p>
        </p:txBody>
      </p:sp>
      <p:sp>
        <p:nvSpPr>
          <p:cNvPr id="14" name="Shape 12"/>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5" name="Text 13"/>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ACCESO</a:t>
            </a:r>
            <a:endParaRPr lang="en-US" sz="1300" dirty="0"/>
          </a:p>
        </p:txBody>
      </p:sp>
      <p:sp>
        <p:nvSpPr>
          <p:cNvPr id="16" name="Shape 14"/>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542032" y="1939671"/>
            <a:ext cx="566928" cy="566928"/>
          </a:xfrm>
          <a:prstGeom prst="ellipse">
            <a:avLst/>
          </a:prstGeom>
          <a:solidFill>
            <a:srgbClr val="F1EEFD"/>
          </a:solidFill>
          <a:ln w="12700">
            <a:solidFill>
              <a:srgbClr val="F1EEFD"/>
            </a:solidFill>
            <a:prstDash val="solid"/>
          </a:ln>
        </p:spPr>
      </p:sp>
      <p:sp>
        <p:nvSpPr>
          <p:cNvPr id="18" name="Icono network"/>
          <p:cNvSpPr/>
          <p:nvPr/>
        </p:nvSpPr>
        <p:spPr>
          <a:xfrm>
            <a:off x="2678095" y="2075734"/>
            <a:ext cx="294803" cy="294803"/>
          </a:xfrm>
          <a:custGeom>
            <a:avLst/>
            <a:gdLst/>
            <a:ahLst/>
            <a:cxnLst/>
            <a:rect l="l" t="t" r="r" b="b"/>
            <a:pathLst>
              <a:path w="294803" h="294803">
                <a:moveTo>
                  <a:pt x="208818" y="196535"/>
                </a:moveTo>
                <a:lnTo>
                  <a:pt x="257952" y="196535"/>
                </a:lnTo>
                <a:cubicBezTo>
                  <a:pt x="264736" y="196535"/>
                  <a:pt x="270236" y="202035"/>
                  <a:pt x="270236" y="208818"/>
                </a:cubicBezTo>
                <a:lnTo>
                  <a:pt x="270236" y="257952"/>
                </a:lnTo>
                <a:cubicBezTo>
                  <a:pt x="270236" y="264736"/>
                  <a:pt x="264736" y="270236"/>
                  <a:pt x="257952" y="270236"/>
                </a:cubicBezTo>
                <a:lnTo>
                  <a:pt x="208818" y="270236"/>
                </a:lnTo>
                <a:cubicBezTo>
                  <a:pt x="202035" y="270236"/>
                  <a:pt x="196535" y="264736"/>
                  <a:pt x="196535" y="257952"/>
                </a:cubicBezTo>
                <a:lnTo>
                  <a:pt x="196535" y="208818"/>
                </a:lnTo>
                <a:cubicBezTo>
                  <a:pt x="196535" y="202035"/>
                  <a:pt x="202035" y="196535"/>
                  <a:pt x="208818" y="196535"/>
                </a:cubicBezTo>
                <a:close/>
                <a:moveTo>
                  <a:pt x="36850" y="196535"/>
                </a:moveTo>
                <a:lnTo>
                  <a:pt x="85984" y="196535"/>
                </a:lnTo>
                <a:cubicBezTo>
                  <a:pt x="92768" y="196535"/>
                  <a:pt x="98268" y="202035"/>
                  <a:pt x="98268" y="208818"/>
                </a:cubicBezTo>
                <a:lnTo>
                  <a:pt x="98268" y="257952"/>
                </a:lnTo>
                <a:cubicBezTo>
                  <a:pt x="98268" y="264736"/>
                  <a:pt x="92768" y="270236"/>
                  <a:pt x="85984" y="270236"/>
                </a:cubicBezTo>
                <a:lnTo>
                  <a:pt x="36850" y="270236"/>
                </a:lnTo>
                <a:cubicBezTo>
                  <a:pt x="30066" y="270236"/>
                  <a:pt x="24567" y="264736"/>
                  <a:pt x="24567" y="257952"/>
                </a:cubicBezTo>
                <a:lnTo>
                  <a:pt x="24567" y="208818"/>
                </a:lnTo>
                <a:cubicBezTo>
                  <a:pt x="24567" y="202035"/>
                  <a:pt x="30066" y="196535"/>
                  <a:pt x="36850" y="196535"/>
                </a:cubicBezTo>
                <a:close/>
                <a:moveTo>
                  <a:pt x="122834" y="24567"/>
                </a:moveTo>
                <a:lnTo>
                  <a:pt x="171968" y="24567"/>
                </a:lnTo>
                <a:cubicBezTo>
                  <a:pt x="178752" y="24567"/>
                  <a:pt x="184252" y="30066"/>
                  <a:pt x="184252" y="36850"/>
                </a:cubicBezTo>
                <a:lnTo>
                  <a:pt x="184252" y="85984"/>
                </a:lnTo>
                <a:cubicBezTo>
                  <a:pt x="184252" y="92768"/>
                  <a:pt x="178752" y="98268"/>
                  <a:pt x="171968" y="98268"/>
                </a:cubicBezTo>
                <a:lnTo>
                  <a:pt x="122834" y="98268"/>
                </a:lnTo>
                <a:cubicBezTo>
                  <a:pt x="116050" y="98268"/>
                  <a:pt x="110551" y="92768"/>
                  <a:pt x="110551" y="85984"/>
                </a:cubicBezTo>
                <a:lnTo>
                  <a:pt x="110551" y="36850"/>
                </a:lnTo>
                <a:cubicBezTo>
                  <a:pt x="110551" y="30066"/>
                  <a:pt x="116050" y="24567"/>
                  <a:pt x="122834" y="24567"/>
                </a:cubicBezTo>
                <a:close/>
                <a:moveTo>
                  <a:pt x="61417" y="196535"/>
                </a:moveTo>
                <a:lnTo>
                  <a:pt x="61417" y="159685"/>
                </a:lnTo>
                <a:cubicBezTo>
                  <a:pt x="61417" y="152901"/>
                  <a:pt x="66917" y="147401"/>
                  <a:pt x="73701" y="147401"/>
                </a:cubicBezTo>
                <a:lnTo>
                  <a:pt x="221102" y="147401"/>
                </a:lnTo>
                <a:cubicBezTo>
                  <a:pt x="227886" y="147401"/>
                  <a:pt x="233385" y="152901"/>
                  <a:pt x="233385" y="159685"/>
                </a:cubicBezTo>
                <a:lnTo>
                  <a:pt x="233385" y="196535"/>
                </a:lnTo>
                <a:moveTo>
                  <a:pt x="147401" y="147401"/>
                </a:moveTo>
                <a:lnTo>
                  <a:pt x="147401" y="98268"/>
                </a:lnTo>
              </a:path>
            </a:pathLst>
          </a:custGeom>
          <a:noFill/>
          <a:ln w="24567" cap="rnd">
            <a:solidFill>
              <a:srgbClr val="5B3FC4"/>
            </a:solidFill>
            <a:prstDash val="solid"/>
            <a:round/>
          </a:ln>
        </p:spPr>
      </p:sp>
      <p:sp>
        <p:nvSpPr>
          <p:cNvPr id="19" name="Text 17"/>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Service</a:t>
            </a:r>
            <a:endParaRPr lang="en-US" sz="1500" dirty="0"/>
          </a:p>
        </p:txBody>
      </p:sp>
      <p:sp>
        <p:nvSpPr>
          <p:cNvPr id="20" name="Text 18"/>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nombre fijo por componente</a:t>
            </a:r>
            <a:endParaRPr lang="en-US" sz="1200" dirty="0"/>
          </a:p>
        </p:txBody>
      </p:sp>
      <p:sp>
        <p:nvSpPr>
          <p:cNvPr id="21" name="Shape 19"/>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7147408" y="1939671"/>
            <a:ext cx="566928" cy="566928"/>
          </a:xfrm>
          <a:prstGeom prst="ellipse">
            <a:avLst/>
          </a:prstGeom>
          <a:solidFill>
            <a:srgbClr val="F1EEFD"/>
          </a:solidFill>
          <a:ln w="12700">
            <a:solidFill>
              <a:srgbClr val="F1EEFD"/>
            </a:solidFill>
            <a:prstDash val="solid"/>
          </a:ln>
        </p:spPr>
      </p:sp>
      <p:sp>
        <p:nvSpPr>
          <p:cNvPr id="23" name="Icono route"/>
          <p:cNvSpPr/>
          <p:nvPr/>
        </p:nvSpPr>
        <p:spPr>
          <a:xfrm>
            <a:off x="7283470" y="2075734"/>
            <a:ext cx="294803" cy="294803"/>
          </a:xfrm>
          <a:custGeom>
            <a:avLst/>
            <a:gdLst/>
            <a:ahLst/>
            <a:cxnLst/>
            <a:rect l="l" t="t" r="r" b="b"/>
            <a:pathLst>
              <a:path w="294803" h="294803">
                <a:moveTo>
                  <a:pt x="110551" y="233385"/>
                </a:moveTo>
                <a:cubicBezTo>
                  <a:pt x="110551" y="253737"/>
                  <a:pt x="94053" y="270236"/>
                  <a:pt x="73701" y="270236"/>
                </a:cubicBezTo>
                <a:cubicBezTo>
                  <a:pt x="53349" y="270236"/>
                  <a:pt x="36850" y="253737"/>
                  <a:pt x="36850" y="233385"/>
                </a:cubicBezTo>
                <a:cubicBezTo>
                  <a:pt x="36850" y="213033"/>
                  <a:pt x="53349" y="196535"/>
                  <a:pt x="73701" y="196535"/>
                </a:cubicBezTo>
                <a:cubicBezTo>
                  <a:pt x="94053" y="196535"/>
                  <a:pt x="110551" y="213033"/>
                  <a:pt x="110551" y="233385"/>
                </a:cubicBezTo>
                <a:close/>
                <a:moveTo>
                  <a:pt x="110551" y="233385"/>
                </a:moveTo>
                <a:lnTo>
                  <a:pt x="214960" y="233385"/>
                </a:lnTo>
                <a:cubicBezTo>
                  <a:pt x="238704" y="233385"/>
                  <a:pt x="257952" y="214137"/>
                  <a:pt x="257952" y="190393"/>
                </a:cubicBezTo>
                <a:cubicBezTo>
                  <a:pt x="257952" y="166649"/>
                  <a:pt x="238704" y="147401"/>
                  <a:pt x="214960" y="147401"/>
                </a:cubicBezTo>
                <a:lnTo>
                  <a:pt x="79842" y="147401"/>
                </a:lnTo>
                <a:cubicBezTo>
                  <a:pt x="56099" y="147401"/>
                  <a:pt x="36850" y="128153"/>
                  <a:pt x="36850" y="104409"/>
                </a:cubicBezTo>
                <a:cubicBezTo>
                  <a:pt x="36850" y="80665"/>
                  <a:pt x="56099" y="61417"/>
                  <a:pt x="79842" y="61417"/>
                </a:cubicBezTo>
                <a:lnTo>
                  <a:pt x="184252" y="61417"/>
                </a:lnTo>
                <a:moveTo>
                  <a:pt x="257952" y="61417"/>
                </a:moveTo>
                <a:cubicBezTo>
                  <a:pt x="257952" y="81769"/>
                  <a:pt x="241454" y="98268"/>
                  <a:pt x="221102" y="98268"/>
                </a:cubicBezTo>
                <a:cubicBezTo>
                  <a:pt x="200750" y="98268"/>
                  <a:pt x="184252" y="81769"/>
                  <a:pt x="184252" y="61417"/>
                </a:cubicBezTo>
                <a:cubicBezTo>
                  <a:pt x="184252" y="41065"/>
                  <a:pt x="200750" y="24567"/>
                  <a:pt x="221102" y="24567"/>
                </a:cubicBezTo>
                <a:cubicBezTo>
                  <a:pt x="241454" y="24567"/>
                  <a:pt x="257952" y="41065"/>
                  <a:pt x="257952" y="61417"/>
                </a:cubicBezTo>
                <a:close/>
              </a:path>
            </a:pathLst>
          </a:custGeom>
          <a:noFill/>
          <a:ln w="24567" cap="rnd">
            <a:solidFill>
              <a:srgbClr val="5B3FC4"/>
            </a:solidFill>
            <a:prstDash val="solid"/>
            <a:round/>
          </a:ln>
        </p:spPr>
      </p:sp>
      <p:sp>
        <p:nvSpPr>
          <p:cNvPr id="24" name="Text 22"/>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port-forward</a:t>
            </a:r>
            <a:endParaRPr lang="en-US" sz="1500" dirty="0"/>
          </a:p>
        </p:txBody>
      </p:sp>
      <p:sp>
        <p:nvSpPr>
          <p:cNvPr id="25" name="Text 23"/>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UI en localhost:8088</a:t>
            </a:r>
            <a:endParaRPr lang="en-US" sz="1200" dirty="0"/>
          </a:p>
        </p:txBody>
      </p:sp>
      <p:sp>
        <p:nvSpPr>
          <p:cNvPr id="26" name="Shape 24"/>
          <p:cNvSpPr/>
          <p:nvPr/>
        </p:nvSpPr>
        <p:spPr>
          <a:xfrm>
            <a:off x="1412748" y="2708910"/>
            <a:ext cx="0" cy="237744"/>
          </a:xfrm>
          <a:prstGeom prst="line">
            <a:avLst/>
          </a:prstGeom>
          <a:noFill/>
          <a:ln w="31750">
            <a:solidFill>
              <a:srgbClr val="0B2350"/>
            </a:solidFill>
            <a:prstDash val="solid"/>
            <a:tailEnd type="triangle"/>
          </a:ln>
        </p:spPr>
      </p:sp>
      <p:sp>
        <p:nvSpPr>
          <p:cNvPr id="27" name="Shape 25"/>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8" name="Text 26"/>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CÓMPUTO</a:t>
            </a:r>
            <a:endParaRPr lang="en-US" sz="1300" dirty="0"/>
          </a:p>
        </p:txBody>
      </p:sp>
      <p:sp>
        <p:nvSpPr>
          <p:cNvPr id="29" name="Shape 27"/>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2542032" y="3148965"/>
            <a:ext cx="566928" cy="566928"/>
          </a:xfrm>
          <a:prstGeom prst="ellipse">
            <a:avLst/>
          </a:prstGeom>
          <a:solidFill>
            <a:srgbClr val="E8EEF8"/>
          </a:solidFill>
          <a:ln w="12700">
            <a:solidFill>
              <a:srgbClr val="E8EEF8"/>
            </a:solidFill>
            <a:prstDash val="solid"/>
          </a:ln>
        </p:spPr>
      </p:sp>
      <p:sp>
        <p:nvSpPr>
          <p:cNvPr id="31" name="Icono layers"/>
          <p:cNvSpPr/>
          <p:nvPr/>
        </p:nvSpPr>
        <p:spPr>
          <a:xfrm>
            <a:off x="2678095" y="3285028"/>
            <a:ext cx="294803" cy="294803"/>
          </a:xfrm>
          <a:custGeom>
            <a:avLst/>
            <a:gdLst/>
            <a:ahLst/>
            <a:cxnLst/>
            <a:rect l="l" t="t" r="r" b="b"/>
            <a:pathLst>
              <a:path w="294803" h="294803">
                <a:moveTo>
                  <a:pt x="157597" y="26778"/>
                </a:moveTo>
                <a:cubicBezTo>
                  <a:pt x="151121" y="23824"/>
                  <a:pt x="143682" y="23824"/>
                  <a:pt x="137206" y="26778"/>
                </a:cubicBezTo>
                <a:lnTo>
                  <a:pt x="31937" y="74683"/>
                </a:lnTo>
                <a:cubicBezTo>
                  <a:pt x="27483" y="76647"/>
                  <a:pt x="24609" y="81055"/>
                  <a:pt x="24609" y="85923"/>
                </a:cubicBezTo>
                <a:cubicBezTo>
                  <a:pt x="24609" y="90790"/>
                  <a:pt x="27483" y="95198"/>
                  <a:pt x="31937" y="97162"/>
                </a:cubicBezTo>
                <a:lnTo>
                  <a:pt x="137329" y="145190"/>
                </a:lnTo>
                <a:cubicBezTo>
                  <a:pt x="143805" y="148144"/>
                  <a:pt x="151243" y="148144"/>
                  <a:pt x="157719" y="145190"/>
                </a:cubicBezTo>
                <a:lnTo>
                  <a:pt x="263111" y="97285"/>
                </a:lnTo>
                <a:cubicBezTo>
                  <a:pt x="267565" y="95321"/>
                  <a:pt x="270439" y="90913"/>
                  <a:pt x="270439" y="86045"/>
                </a:cubicBezTo>
                <a:cubicBezTo>
                  <a:pt x="270439" y="81178"/>
                  <a:pt x="267565" y="76770"/>
                  <a:pt x="263111" y="74806"/>
                </a:cubicBezTo>
                <a:close/>
                <a:moveTo>
                  <a:pt x="24567" y="147401"/>
                </a:moveTo>
                <a:cubicBezTo>
                  <a:pt x="24555" y="152199"/>
                  <a:pt x="27337" y="156564"/>
                  <a:pt x="31691" y="158579"/>
                </a:cubicBezTo>
                <a:lnTo>
                  <a:pt x="137329" y="206607"/>
                </a:lnTo>
                <a:cubicBezTo>
                  <a:pt x="143770" y="209524"/>
                  <a:pt x="151155" y="209524"/>
                  <a:pt x="157597" y="206607"/>
                </a:cubicBezTo>
                <a:lnTo>
                  <a:pt x="262988" y="158702"/>
                </a:lnTo>
                <a:cubicBezTo>
                  <a:pt x="267431" y="156705"/>
                  <a:pt x="270274" y="152272"/>
                  <a:pt x="270236" y="147401"/>
                </a:cubicBezTo>
                <a:moveTo>
                  <a:pt x="24567" y="208818"/>
                </a:moveTo>
                <a:cubicBezTo>
                  <a:pt x="24555" y="213616"/>
                  <a:pt x="27337" y="217981"/>
                  <a:pt x="31691" y="219996"/>
                </a:cubicBezTo>
                <a:lnTo>
                  <a:pt x="137329" y="268025"/>
                </a:lnTo>
                <a:cubicBezTo>
                  <a:pt x="143770" y="270941"/>
                  <a:pt x="151155" y="270941"/>
                  <a:pt x="157597" y="268025"/>
                </a:cubicBezTo>
                <a:lnTo>
                  <a:pt x="262988" y="220119"/>
                </a:lnTo>
                <a:cubicBezTo>
                  <a:pt x="267431" y="218122"/>
                  <a:pt x="270274" y="213689"/>
                  <a:pt x="270236" y="208818"/>
                </a:cubicBezTo>
              </a:path>
            </a:pathLst>
          </a:custGeom>
          <a:noFill/>
          <a:ln w="24567" cap="rnd">
            <a:solidFill>
              <a:srgbClr val="0B2350"/>
            </a:solidFill>
            <a:prstDash val="solid"/>
            <a:round/>
          </a:ln>
        </p:spPr>
      </p:sp>
      <p:sp>
        <p:nvSpPr>
          <p:cNvPr id="32" name="Text 30"/>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5 Deployments</a:t>
            </a:r>
            <a:endParaRPr lang="en-US" sz="1500" dirty="0"/>
          </a:p>
        </p:txBody>
      </p:sp>
      <p:sp>
        <p:nvSpPr>
          <p:cNvPr id="33" name="Text 31"/>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UI, 2 servicios y 2 bases</a:t>
            </a:r>
            <a:endParaRPr lang="en-US" sz="1150" dirty="0"/>
          </a:p>
        </p:txBody>
      </p:sp>
      <p:sp>
        <p:nvSpPr>
          <p:cNvPr id="34" name="Shape 32"/>
          <p:cNvSpPr/>
          <p:nvPr/>
        </p:nvSpPr>
        <p:spPr>
          <a:xfrm>
            <a:off x="546597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5612282" y="3148965"/>
            <a:ext cx="566928" cy="566928"/>
          </a:xfrm>
          <a:prstGeom prst="ellipse">
            <a:avLst/>
          </a:prstGeom>
          <a:solidFill>
            <a:srgbClr val="E8EEF8"/>
          </a:solidFill>
          <a:ln w="12700">
            <a:solidFill>
              <a:srgbClr val="E8EEF8"/>
            </a:solidFill>
            <a:prstDash val="solid"/>
          </a:ln>
        </p:spPr>
      </p:sp>
      <p:sp>
        <p:nvSpPr>
          <p:cNvPr id="36" name="Icono hourglass"/>
          <p:cNvSpPr/>
          <p:nvPr/>
        </p:nvSpPr>
        <p:spPr>
          <a:xfrm>
            <a:off x="5748345" y="3285028"/>
            <a:ext cx="294803" cy="294803"/>
          </a:xfrm>
          <a:custGeom>
            <a:avLst/>
            <a:gdLst/>
            <a:ahLst/>
            <a:cxnLst/>
            <a:rect l="l" t="t" r="r" b="b"/>
            <a:pathLst>
              <a:path w="294803" h="294803">
                <a:moveTo>
                  <a:pt x="61417" y="270236"/>
                </a:moveTo>
                <a:lnTo>
                  <a:pt x="233385" y="270236"/>
                </a:lnTo>
                <a:moveTo>
                  <a:pt x="61417" y="24567"/>
                </a:moveTo>
                <a:lnTo>
                  <a:pt x="233385" y="24567"/>
                </a:lnTo>
                <a:moveTo>
                  <a:pt x="208818" y="270236"/>
                </a:moveTo>
                <a:lnTo>
                  <a:pt x="208818" y="218989"/>
                </a:lnTo>
                <a:cubicBezTo>
                  <a:pt x="208817" y="212474"/>
                  <a:pt x="206228" y="206226"/>
                  <a:pt x="201620" y="201620"/>
                </a:cubicBezTo>
                <a:lnTo>
                  <a:pt x="147401" y="147401"/>
                </a:lnTo>
                <a:lnTo>
                  <a:pt x="93182" y="201620"/>
                </a:lnTo>
                <a:cubicBezTo>
                  <a:pt x="88575" y="206226"/>
                  <a:pt x="85985" y="212474"/>
                  <a:pt x="85984" y="218989"/>
                </a:cubicBezTo>
                <a:lnTo>
                  <a:pt x="85984" y="270236"/>
                </a:lnTo>
                <a:moveTo>
                  <a:pt x="85984" y="24567"/>
                </a:moveTo>
                <a:lnTo>
                  <a:pt x="85984" y="75813"/>
                </a:lnTo>
                <a:cubicBezTo>
                  <a:pt x="85985" y="82328"/>
                  <a:pt x="88575" y="88576"/>
                  <a:pt x="93182" y="93182"/>
                </a:cubicBezTo>
                <a:lnTo>
                  <a:pt x="147401" y="147401"/>
                </a:lnTo>
                <a:lnTo>
                  <a:pt x="201620" y="93182"/>
                </a:lnTo>
                <a:cubicBezTo>
                  <a:pt x="206228" y="88576"/>
                  <a:pt x="208817" y="82328"/>
                  <a:pt x="208818" y="75813"/>
                </a:cubicBezTo>
                <a:lnTo>
                  <a:pt x="208818" y="24567"/>
                </a:lnTo>
              </a:path>
            </a:pathLst>
          </a:custGeom>
          <a:noFill/>
          <a:ln w="24567" cap="rnd">
            <a:solidFill>
              <a:srgbClr val="0B2350"/>
            </a:solidFill>
            <a:prstDash val="solid"/>
            <a:round/>
          </a:ln>
        </p:spPr>
      </p:sp>
      <p:sp>
        <p:nvSpPr>
          <p:cNvPr id="37" name="Text 35"/>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initContainers</a:t>
            </a:r>
            <a:endParaRPr lang="en-US" sz="1500" dirty="0"/>
          </a:p>
        </p:txBody>
      </p:sp>
      <p:sp>
        <p:nvSpPr>
          <p:cNvPr id="38" name="Text 36"/>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Esperan a la base y al otro servicio</a:t>
            </a:r>
            <a:endParaRPr lang="en-US" sz="1000" dirty="0"/>
          </a:p>
        </p:txBody>
      </p:sp>
      <p:sp>
        <p:nvSpPr>
          <p:cNvPr id="39" name="Shape 37"/>
          <p:cNvSpPr/>
          <p:nvPr/>
        </p:nvSpPr>
        <p:spPr>
          <a:xfrm>
            <a:off x="8536229" y="3019806"/>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682533" y="3148965"/>
            <a:ext cx="566928" cy="566928"/>
          </a:xfrm>
          <a:prstGeom prst="ellipse">
            <a:avLst/>
          </a:prstGeom>
          <a:solidFill>
            <a:srgbClr val="E1F1EA"/>
          </a:solidFill>
          <a:ln w="12700">
            <a:solidFill>
              <a:srgbClr val="E1F1EA"/>
            </a:solidFill>
            <a:prstDash val="solid"/>
          </a:ln>
        </p:spPr>
      </p:sp>
      <p:sp>
        <p:nvSpPr>
          <p:cNvPr id="41" name="Icono heart-pulse"/>
          <p:cNvSpPr/>
          <p:nvPr/>
        </p:nvSpPr>
        <p:spPr>
          <a:xfrm>
            <a:off x="8818596" y="3285028"/>
            <a:ext cx="294803" cy="294803"/>
          </a:xfrm>
          <a:custGeom>
            <a:avLst/>
            <a:gdLst/>
            <a:ahLst/>
            <a:cxnLst/>
            <a:rect l="l" t="t" r="r" b="b"/>
            <a:pathLst>
              <a:path w="294803" h="294803">
                <a:moveTo>
                  <a:pt x="233385" y="171968"/>
                </a:moveTo>
                <a:cubicBezTo>
                  <a:pt x="251688" y="154034"/>
                  <a:pt x="270236" y="132538"/>
                  <a:pt x="270236" y="104409"/>
                </a:cubicBezTo>
                <a:cubicBezTo>
                  <a:pt x="270236" y="67097"/>
                  <a:pt x="239989" y="36850"/>
                  <a:pt x="202677" y="36850"/>
                </a:cubicBezTo>
                <a:cubicBezTo>
                  <a:pt x="181058" y="36850"/>
                  <a:pt x="165826" y="42992"/>
                  <a:pt x="147401" y="61417"/>
                </a:cubicBezTo>
                <a:cubicBezTo>
                  <a:pt x="128976" y="42992"/>
                  <a:pt x="113745" y="36850"/>
                  <a:pt x="92126" y="36850"/>
                </a:cubicBezTo>
                <a:cubicBezTo>
                  <a:pt x="54814" y="36850"/>
                  <a:pt x="24567" y="67097"/>
                  <a:pt x="24567" y="104409"/>
                </a:cubicBezTo>
                <a:cubicBezTo>
                  <a:pt x="24567" y="132661"/>
                  <a:pt x="42992" y="154157"/>
                  <a:pt x="61417" y="171968"/>
                </a:cubicBezTo>
                <a:lnTo>
                  <a:pt x="147401" y="257952"/>
                </a:lnTo>
                <a:close/>
                <a:moveTo>
                  <a:pt x="39553" y="147401"/>
                </a:moveTo>
                <a:lnTo>
                  <a:pt x="116693" y="147401"/>
                </a:lnTo>
                <a:lnTo>
                  <a:pt x="122834" y="135118"/>
                </a:lnTo>
                <a:lnTo>
                  <a:pt x="147401" y="190393"/>
                </a:lnTo>
                <a:lnTo>
                  <a:pt x="171968" y="104409"/>
                </a:lnTo>
                <a:lnTo>
                  <a:pt x="190393" y="147401"/>
                </a:lnTo>
                <a:lnTo>
                  <a:pt x="255127" y="147401"/>
                </a:lnTo>
              </a:path>
            </a:pathLst>
          </a:custGeom>
          <a:noFill/>
          <a:ln w="24567" cap="rnd">
            <a:solidFill>
              <a:srgbClr val="0A6648"/>
            </a:solidFill>
            <a:prstDash val="solid"/>
            <a:round/>
          </a:ln>
        </p:spPr>
      </p:sp>
      <p:sp>
        <p:nvSpPr>
          <p:cNvPr id="42" name="Text 40"/>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readinessProbe</a:t>
            </a:r>
            <a:endParaRPr lang="en-US" sz="1500" dirty="0"/>
          </a:p>
        </p:txBody>
      </p:sp>
      <p:sp>
        <p:nvSpPr>
          <p:cNvPr id="43" name="Text 41"/>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Sin tráfico hasta estar listo</a:t>
            </a:r>
            <a:endParaRPr lang="en-US" sz="1000" dirty="0"/>
          </a:p>
        </p:txBody>
      </p:sp>
      <p:sp>
        <p:nvSpPr>
          <p:cNvPr id="44" name="Shape 42"/>
          <p:cNvSpPr/>
          <p:nvPr/>
        </p:nvSpPr>
        <p:spPr>
          <a:xfrm>
            <a:off x="1412748" y="3918204"/>
            <a:ext cx="0" cy="237744"/>
          </a:xfrm>
          <a:prstGeom prst="line">
            <a:avLst/>
          </a:prstGeom>
          <a:noFill/>
          <a:ln w="31750">
            <a:solidFill>
              <a:srgbClr val="0B2350"/>
            </a:solidFill>
            <a:prstDash val="solid"/>
            <a:tailEnd type="triangle"/>
          </a:ln>
        </p:spPr>
      </p:sp>
      <p:sp>
        <p:nvSpPr>
          <p:cNvPr id="45" name="Shape 43"/>
          <p:cNvSpPr/>
          <p:nvPr/>
        </p:nvSpPr>
        <p:spPr>
          <a:xfrm>
            <a:off x="612648" y="4137660"/>
            <a:ext cx="10966399" cy="1008126"/>
          </a:xfrm>
          <a:prstGeom prst="roundRect">
            <a:avLst>
              <a:gd name="adj" fmla="val 10884"/>
            </a:avLst>
          </a:prstGeom>
          <a:solidFill>
            <a:srgbClr val="FDF3E0"/>
          </a:solidFill>
          <a:ln w="12700">
            <a:solidFill>
              <a:srgbClr val="DCC9B4"/>
            </a:solidFill>
            <a:prstDash val="solid"/>
          </a:ln>
        </p:spPr>
      </p:sp>
      <p:sp>
        <p:nvSpPr>
          <p:cNvPr id="46" name="Text 44"/>
          <p:cNvSpPr/>
          <p:nvPr/>
        </p:nvSpPr>
        <p:spPr>
          <a:xfrm>
            <a:off x="612648" y="4137660"/>
            <a:ext cx="1600200" cy="1008126"/>
          </a:xfrm>
          <a:prstGeom prst="roundRect">
            <a:avLst>
              <a:gd name="adj" fmla="val 10884"/>
            </a:avLst>
          </a:prstGeom>
          <a:solidFill>
            <a:srgbClr val="8A4B06"/>
          </a:solidFill>
          <a:ln>
            <a:solidFill>
              <a:srgbClr val="8A4B06"/>
            </a:solidFill>
          </a:ln>
        </p:spPr>
        <p:txBody>
          <a:bodyPr wrap="square" lIns="0" tIns="76200" rIns="76200" bIns="0" rtlCol="0" anchor="ctr"/>
          <a:lstStyle/>
          <a:p>
            <a:pPr algn="ctr" indent="0" marL="0">
              <a:buNone/>
            </a:pPr>
            <a:r>
              <a:rPr lang="en-US" sz="1004" b="1" spc="100" kern="0" dirty="0">
                <a:solidFill>
                  <a:srgbClr val="FFFFFF"/>
                </a:solidFill>
                <a:latin typeface="Segoe UI" pitchFamily="34" charset="0"/>
                <a:ea typeface="Segoe UI" pitchFamily="34" charset="-122"/>
                <a:cs typeface="Segoe UI" pitchFamily="34" charset="-120"/>
              </a:rPr>
              <a:t>CONFIGURACIÓN</a:t>
            </a:r>
            <a:endParaRPr lang="en-US" sz="1004" dirty="0"/>
          </a:p>
        </p:txBody>
      </p:sp>
      <p:sp>
        <p:nvSpPr>
          <p:cNvPr id="47" name="Shape 45"/>
          <p:cNvSpPr/>
          <p:nvPr/>
        </p:nvSpPr>
        <p:spPr>
          <a:xfrm>
            <a:off x="2395728"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2542032" y="4358259"/>
            <a:ext cx="566928" cy="566928"/>
          </a:xfrm>
          <a:prstGeom prst="ellipse">
            <a:avLst/>
          </a:prstGeom>
          <a:solidFill>
            <a:srgbClr val="FCEFD6"/>
          </a:solidFill>
          <a:ln w="12700">
            <a:solidFill>
              <a:srgbClr val="FCEFD6"/>
            </a:solidFill>
            <a:prstDash val="solid"/>
          </a:ln>
        </p:spPr>
      </p:sp>
      <p:sp>
        <p:nvSpPr>
          <p:cNvPr id="49" name="Icono key-round"/>
          <p:cNvSpPr/>
          <p:nvPr/>
        </p:nvSpPr>
        <p:spPr>
          <a:xfrm>
            <a:off x="2678095" y="4494322"/>
            <a:ext cx="294803" cy="294803"/>
          </a:xfrm>
          <a:custGeom>
            <a:avLst/>
            <a:gdLst/>
            <a:ahLst/>
            <a:cxnLst/>
            <a:rect l="l" t="t" r="r" b="b"/>
            <a:pathLst>
              <a:path w="294803" h="294803">
                <a:moveTo>
                  <a:pt x="31765" y="213904"/>
                </a:moveTo>
                <a:cubicBezTo>
                  <a:pt x="27157" y="218510"/>
                  <a:pt x="24568" y="224758"/>
                  <a:pt x="24567" y="231273"/>
                </a:cubicBezTo>
                <a:lnTo>
                  <a:pt x="24567" y="257952"/>
                </a:lnTo>
                <a:cubicBezTo>
                  <a:pt x="24567" y="264736"/>
                  <a:pt x="30066" y="270236"/>
                  <a:pt x="36850" y="270236"/>
                </a:cubicBezTo>
                <a:lnTo>
                  <a:pt x="73701" y="270236"/>
                </a:lnTo>
                <a:cubicBezTo>
                  <a:pt x="80485" y="270236"/>
                  <a:pt x="85984" y="264736"/>
                  <a:pt x="85984" y="257952"/>
                </a:cubicBezTo>
                <a:lnTo>
                  <a:pt x="85984" y="245669"/>
                </a:lnTo>
                <a:cubicBezTo>
                  <a:pt x="85984" y="238885"/>
                  <a:pt x="91484" y="233385"/>
                  <a:pt x="98268" y="233385"/>
                </a:cubicBezTo>
                <a:lnTo>
                  <a:pt x="110551" y="233385"/>
                </a:lnTo>
                <a:cubicBezTo>
                  <a:pt x="117335" y="233385"/>
                  <a:pt x="122834" y="227886"/>
                  <a:pt x="122834" y="221102"/>
                </a:cubicBezTo>
                <a:lnTo>
                  <a:pt x="122834" y="208818"/>
                </a:lnTo>
                <a:cubicBezTo>
                  <a:pt x="122834" y="202035"/>
                  <a:pt x="128334" y="196535"/>
                  <a:pt x="135118" y="196535"/>
                </a:cubicBezTo>
                <a:lnTo>
                  <a:pt x="137231" y="196535"/>
                </a:lnTo>
                <a:cubicBezTo>
                  <a:pt x="143746" y="196534"/>
                  <a:pt x="149993" y="193944"/>
                  <a:pt x="154599" y="189337"/>
                </a:cubicBezTo>
                <a:lnTo>
                  <a:pt x="164598" y="179338"/>
                </a:lnTo>
                <a:cubicBezTo>
                  <a:pt x="199756" y="191585"/>
                  <a:pt x="238712" y="177908"/>
                  <a:pt x="258497" y="146371"/>
                </a:cubicBezTo>
                <a:cubicBezTo>
                  <a:pt x="278283" y="114834"/>
                  <a:pt x="273646" y="73808"/>
                  <a:pt x="247320" y="47482"/>
                </a:cubicBezTo>
                <a:cubicBezTo>
                  <a:pt x="220995" y="21157"/>
                  <a:pt x="179969" y="16520"/>
                  <a:pt x="148432" y="36305"/>
                </a:cubicBezTo>
                <a:cubicBezTo>
                  <a:pt x="116894" y="56091"/>
                  <a:pt x="103217" y="95047"/>
                  <a:pt x="115464" y="130204"/>
                </a:cubicBezTo>
                <a:close/>
                <a:moveTo>
                  <a:pt x="208818" y="92126"/>
                </a:moveTo>
                <a:cubicBezTo>
                  <a:pt x="208818" y="95518"/>
                  <a:pt x="206069" y="98268"/>
                  <a:pt x="202677" y="98268"/>
                </a:cubicBezTo>
                <a:cubicBezTo>
                  <a:pt x="199285" y="98268"/>
                  <a:pt x="196535" y="95518"/>
                  <a:pt x="196535" y="92126"/>
                </a:cubicBezTo>
                <a:cubicBezTo>
                  <a:pt x="196535" y="88734"/>
                  <a:pt x="199285" y="85984"/>
                  <a:pt x="202677" y="85984"/>
                </a:cubicBezTo>
                <a:cubicBezTo>
                  <a:pt x="206069" y="85984"/>
                  <a:pt x="208818" y="88734"/>
                  <a:pt x="208818" y="92126"/>
                </a:cubicBezTo>
                <a:close/>
              </a:path>
            </a:pathLst>
          </a:custGeom>
          <a:noFill/>
          <a:ln w="24567" cap="rnd">
            <a:solidFill>
              <a:srgbClr val="8A4B06"/>
            </a:solidFill>
            <a:prstDash val="solid"/>
            <a:round/>
          </a:ln>
        </p:spPr>
      </p:sp>
      <p:sp>
        <p:nvSpPr>
          <p:cNvPr id="50" name="Text 48"/>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Secret arka-postgres</a:t>
            </a:r>
            <a:endParaRPr lang="en-US" sz="1500" dirty="0"/>
          </a:p>
        </p:txBody>
      </p:sp>
      <p:sp>
        <p:nvSpPr>
          <p:cNvPr id="51" name="Text 49"/>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contraseña de las bases</a:t>
            </a:r>
            <a:endParaRPr lang="en-US" sz="1200" dirty="0"/>
          </a:p>
        </p:txBody>
      </p:sp>
      <p:sp>
        <p:nvSpPr>
          <p:cNvPr id="52" name="Shape 50"/>
          <p:cNvSpPr/>
          <p:nvPr/>
        </p:nvSpPr>
        <p:spPr>
          <a:xfrm>
            <a:off x="7001104"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7147408" y="4358259"/>
            <a:ext cx="566928" cy="566928"/>
          </a:xfrm>
          <a:prstGeom prst="ellipse">
            <a:avLst/>
          </a:prstGeom>
          <a:solidFill>
            <a:srgbClr val="FCEFD6"/>
          </a:solidFill>
          <a:ln w="12700">
            <a:solidFill>
              <a:srgbClr val="FCEFD6"/>
            </a:solidFill>
            <a:prstDash val="solid"/>
          </a:ln>
        </p:spPr>
      </p:sp>
      <p:sp>
        <p:nvSpPr>
          <p:cNvPr id="54" name="Icono settings"/>
          <p:cNvSpPr/>
          <p:nvPr/>
        </p:nvSpPr>
        <p:spPr>
          <a:xfrm>
            <a:off x="7283470" y="4494322"/>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8A4B06"/>
            </a:solidFill>
            <a:prstDash val="solid"/>
            <a:round/>
          </a:ln>
        </p:spPr>
      </p:sp>
      <p:sp>
        <p:nvSpPr>
          <p:cNvPr id="55" name="Text 53"/>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Variables de entorno</a:t>
            </a:r>
            <a:endParaRPr lang="en-US" sz="1500" dirty="0"/>
          </a:p>
        </p:txBody>
      </p:sp>
      <p:sp>
        <p:nvSpPr>
          <p:cNvPr id="56" name="Text 54"/>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DB_URL, NOTIFICACIONES_URL</a:t>
            </a:r>
            <a:endParaRPr lang="en-US" sz="1200" dirty="0"/>
          </a:p>
        </p:txBody>
      </p:sp>
      <p:sp>
        <p:nvSpPr>
          <p:cNvPr id="57" name="Shape 55"/>
          <p:cNvSpPr/>
          <p:nvPr/>
        </p:nvSpPr>
        <p:spPr>
          <a:xfrm>
            <a:off x="1412748" y="5127498"/>
            <a:ext cx="0" cy="237744"/>
          </a:xfrm>
          <a:prstGeom prst="line">
            <a:avLst/>
          </a:prstGeom>
          <a:noFill/>
          <a:ln w="31750">
            <a:solidFill>
              <a:srgbClr val="0B2350"/>
            </a:solidFill>
            <a:prstDash val="solid"/>
            <a:tailEnd type="triangle"/>
          </a:ln>
        </p:spPr>
      </p:sp>
      <p:sp>
        <p:nvSpPr>
          <p:cNvPr id="58" name="Shape 56"/>
          <p:cNvSpPr/>
          <p:nvPr/>
        </p:nvSpPr>
        <p:spPr>
          <a:xfrm>
            <a:off x="612648" y="5346954"/>
            <a:ext cx="10966399" cy="1008126"/>
          </a:xfrm>
          <a:prstGeom prst="roundRect">
            <a:avLst>
              <a:gd name="adj" fmla="val 10884"/>
            </a:avLst>
          </a:prstGeom>
          <a:solidFill>
            <a:srgbClr val="F7F9FC"/>
          </a:solidFill>
          <a:ln w="12700">
            <a:solidFill>
              <a:srgbClr val="CCD0D8"/>
            </a:solidFill>
            <a:prstDash val="solid"/>
          </a:ln>
        </p:spPr>
      </p:sp>
      <p:sp>
        <p:nvSpPr>
          <p:cNvPr id="59" name="Text 57"/>
          <p:cNvSpPr/>
          <p:nvPr/>
        </p:nvSpPr>
        <p:spPr>
          <a:xfrm>
            <a:off x="612648" y="5346954"/>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60" name="Shape 58"/>
          <p:cNvSpPr/>
          <p:nvPr/>
        </p:nvSpPr>
        <p:spPr>
          <a:xfrm>
            <a:off x="2395728" y="5438394"/>
            <a:ext cx="9046159"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542032" y="5567553"/>
            <a:ext cx="566928" cy="566928"/>
          </a:xfrm>
          <a:prstGeom prst="ellipse">
            <a:avLst/>
          </a:prstGeom>
          <a:solidFill>
            <a:srgbClr val="F4F7FB"/>
          </a:solidFill>
          <a:ln w="12700">
            <a:solidFill>
              <a:srgbClr val="F4F7FB"/>
            </a:solidFill>
            <a:prstDash val="solid"/>
          </a:ln>
        </p:spPr>
      </p:sp>
      <p:sp>
        <p:nvSpPr>
          <p:cNvPr id="62" name="Icono hard-drive"/>
          <p:cNvSpPr/>
          <p:nvPr/>
        </p:nvSpPr>
        <p:spPr>
          <a:xfrm>
            <a:off x="2678095" y="5703616"/>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55627E"/>
            </a:solidFill>
            <a:prstDash val="solid"/>
            <a:round/>
          </a:ln>
        </p:spPr>
      </p:sp>
      <p:sp>
        <p:nvSpPr>
          <p:cNvPr id="63" name="Text 61"/>
          <p:cNvSpPr/>
          <p:nvPr/>
        </p:nvSpPr>
        <p:spPr>
          <a:xfrm>
            <a:off x="3255264" y="5474970"/>
            <a:ext cx="8095183"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PersistentVolumeClaim</a:t>
            </a:r>
            <a:endParaRPr lang="en-US" sz="1500" dirty="0"/>
          </a:p>
        </p:txBody>
      </p:sp>
      <p:sp>
        <p:nvSpPr>
          <p:cNvPr id="64" name="Text 62"/>
          <p:cNvSpPr/>
          <p:nvPr/>
        </p:nvSpPr>
        <p:spPr>
          <a:xfrm>
            <a:off x="3255264" y="5887593"/>
            <a:ext cx="8095183"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disco por base: sobrevive al Pod</a:t>
            </a:r>
            <a:endParaRPr lang="en-US" sz="1200" dirty="0"/>
          </a:p>
        </p:txBody>
      </p:sp>
      <p:sp>
        <p:nvSpPr>
          <p:cNvPr id="65" name="Text 6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Los recursos de Kubernetes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despliegue local</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bash construir.sh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imágenes de los 3 componentes</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apply -f k8s/</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get pods,svc,pvc</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port-forward svc/arka-lite-ui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8088</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8080</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5" name="Text 33"/>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6" name="Shape 34"/>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41" name="Text 39"/>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2" name="Shape 40"/>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3" name="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7" name="Text 45"/>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Contenedores y Kubernetes: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ontainer"/>
          <p:cNvSpPr/>
          <p:nvPr/>
        </p:nvSpPr>
        <p:spPr>
          <a:xfrm>
            <a:off x="1058144" y="1817096"/>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manifiestos en k8s/</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ackage"/>
          <p:cNvSpPr/>
          <p:nvPr/>
        </p:nvSpPr>
        <p:spPr>
          <a:xfrm>
            <a:off x="4258544" y="1955780"/>
            <a:ext cx="370881" cy="370881"/>
          </a:xfrm>
          <a:custGeom>
            <a:avLst/>
            <a:gdLst/>
            <a:ahLst/>
            <a:cxnLst/>
            <a:rect l="l" t="t" r="r" b="b"/>
            <a:pathLst>
              <a:path w="370881" h="370881">
                <a:moveTo>
                  <a:pt x="169987" y="335802"/>
                </a:moveTo>
                <a:cubicBezTo>
                  <a:pt x="179550" y="341322"/>
                  <a:pt x="191331" y="341322"/>
                  <a:pt x="200894" y="335802"/>
                </a:cubicBezTo>
                <a:lnTo>
                  <a:pt x="309067" y="273988"/>
                </a:lnTo>
                <a:cubicBezTo>
                  <a:pt x="318620" y="268473"/>
                  <a:pt x="324509" y="258284"/>
                  <a:pt x="324521" y="247254"/>
                </a:cubicBez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close/>
                <a:moveTo>
                  <a:pt x="185440" y="339974"/>
                </a:moveTo>
                <a:lnTo>
                  <a:pt x="185440" y="185440"/>
                </a:lnTo>
                <a:moveTo>
                  <a:pt x="50996" y="108174"/>
                </a:moveTo>
                <a:lnTo>
                  <a:pt x="170033" y="181330"/>
                </a:lnTo>
                <a:cubicBezTo>
                  <a:pt x="179572" y="186815"/>
                  <a:pt x="191308" y="186815"/>
                  <a:pt x="200847" y="181330"/>
                </a:cubicBezTo>
                <a:lnTo>
                  <a:pt x="319885" y="108174"/>
                </a:lnTo>
                <a:moveTo>
                  <a:pt x="115900" y="65986"/>
                </a:moveTo>
                <a:lnTo>
                  <a:pt x="254980" y="145571"/>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imagen es el entregable</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Dos etapas, solo Java y el JAR, usuario sin privilegios.</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Lo que se prueba es exactamente lo que se despliega.</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settings"/>
          <p:cNvSpPr/>
          <p:nvPr/>
        </p:nvSpPr>
        <p:spPr>
          <a:xfrm>
            <a:off x="4258544" y="3677900"/>
            <a:ext cx="370881" cy="370881"/>
          </a:xfrm>
          <a:custGeom>
            <a:avLst/>
            <a:gdLst/>
            <a:ahLst/>
            <a:cxnLst/>
            <a:rect l="l" t="t" r="r" b="b"/>
            <a:pathLst>
              <a:path w="370881" h="370881">
                <a:moveTo>
                  <a:pt x="188840" y="30907"/>
                </a:moveTo>
                <a:lnTo>
                  <a:pt x="182041" y="30907"/>
                </a:lnTo>
                <a:cubicBezTo>
                  <a:pt x="164971" y="30907"/>
                  <a:pt x="151134" y="44744"/>
                  <a:pt x="151134" y="61813"/>
                </a:cubicBezTo>
                <a:lnTo>
                  <a:pt x="151134" y="64595"/>
                </a:lnTo>
                <a:cubicBezTo>
                  <a:pt x="151123" y="75626"/>
                  <a:pt x="145233" y="85814"/>
                  <a:pt x="135681" y="91329"/>
                </a:cubicBezTo>
                <a:lnTo>
                  <a:pt x="129036" y="95193"/>
                </a:lnTo>
                <a:cubicBezTo>
                  <a:pt x="119473" y="100714"/>
                  <a:pt x="107691" y="100714"/>
                  <a:pt x="98129" y="95193"/>
                </a:cubicBezTo>
                <a:lnTo>
                  <a:pt x="95811" y="93956"/>
                </a:lnTo>
                <a:cubicBezTo>
                  <a:pt x="81044" y="85438"/>
                  <a:pt x="62168" y="90485"/>
                  <a:pt x="53623" y="105237"/>
                </a:cubicBezTo>
                <a:lnTo>
                  <a:pt x="50223" y="111110"/>
                </a:lnTo>
                <a:cubicBezTo>
                  <a:pt x="41705" y="125877"/>
                  <a:pt x="46752" y="144753"/>
                  <a:pt x="61504" y="153297"/>
                </a:cubicBezTo>
                <a:lnTo>
                  <a:pt x="63822" y="154843"/>
                </a:lnTo>
                <a:cubicBezTo>
                  <a:pt x="73328" y="160330"/>
                  <a:pt x="79209" y="170447"/>
                  <a:pt x="79276" y="181422"/>
                </a:cubicBezTo>
                <a:lnTo>
                  <a:pt x="79276" y="189304"/>
                </a:lnTo>
                <a:cubicBezTo>
                  <a:pt x="79320" y="200389"/>
                  <a:pt x="73423" y="210650"/>
                  <a:pt x="63822" y="216193"/>
                </a:cubicBezTo>
                <a:lnTo>
                  <a:pt x="61504" y="217583"/>
                </a:lnTo>
                <a:cubicBezTo>
                  <a:pt x="46752" y="226128"/>
                  <a:pt x="41705" y="245004"/>
                  <a:pt x="50223" y="259771"/>
                </a:cubicBezTo>
                <a:lnTo>
                  <a:pt x="53623" y="265643"/>
                </a:lnTo>
                <a:cubicBezTo>
                  <a:pt x="62168" y="280395"/>
                  <a:pt x="81044" y="285443"/>
                  <a:pt x="95811" y="276924"/>
                </a:cubicBezTo>
                <a:lnTo>
                  <a:pt x="98129" y="275688"/>
                </a:lnTo>
                <a:cubicBezTo>
                  <a:pt x="107691" y="270167"/>
                  <a:pt x="119473" y="270167"/>
                  <a:pt x="129036" y="275688"/>
                </a:cubicBezTo>
                <a:lnTo>
                  <a:pt x="135681" y="279551"/>
                </a:lnTo>
                <a:cubicBezTo>
                  <a:pt x="145233" y="285067"/>
                  <a:pt x="151123" y="295255"/>
                  <a:pt x="151134" y="306286"/>
                </a:cubicBezTo>
                <a:lnTo>
                  <a:pt x="151134" y="309067"/>
                </a:lnTo>
                <a:cubicBezTo>
                  <a:pt x="151134" y="326137"/>
                  <a:pt x="164971" y="339974"/>
                  <a:pt x="182041" y="339974"/>
                </a:cubicBezTo>
                <a:lnTo>
                  <a:pt x="188840" y="339974"/>
                </a:lnTo>
                <a:cubicBezTo>
                  <a:pt x="205909" y="339974"/>
                  <a:pt x="219747" y="326137"/>
                  <a:pt x="219747" y="309067"/>
                </a:cubicBezTo>
                <a:lnTo>
                  <a:pt x="219747" y="306286"/>
                </a:lnTo>
                <a:cubicBezTo>
                  <a:pt x="219758" y="295255"/>
                  <a:pt x="225647" y="285067"/>
                  <a:pt x="235200" y="279551"/>
                </a:cubicBezTo>
                <a:lnTo>
                  <a:pt x="241845" y="275688"/>
                </a:lnTo>
                <a:cubicBezTo>
                  <a:pt x="251408" y="270167"/>
                  <a:pt x="263189" y="270167"/>
                  <a:pt x="272752" y="275688"/>
                </a:cubicBezTo>
                <a:lnTo>
                  <a:pt x="275070" y="276924"/>
                </a:lnTo>
                <a:cubicBezTo>
                  <a:pt x="289837" y="285443"/>
                  <a:pt x="308713" y="280395"/>
                  <a:pt x="317257" y="265643"/>
                </a:cubicBezTo>
                <a:lnTo>
                  <a:pt x="320657" y="259616"/>
                </a:lnTo>
                <a:cubicBezTo>
                  <a:pt x="329176" y="244849"/>
                  <a:pt x="324128" y="225973"/>
                  <a:pt x="309376" y="217429"/>
                </a:cubicBezTo>
                <a:lnTo>
                  <a:pt x="307058" y="216193"/>
                </a:lnTo>
                <a:cubicBezTo>
                  <a:pt x="297458" y="210650"/>
                  <a:pt x="291561" y="200389"/>
                  <a:pt x="291605" y="189304"/>
                </a:cubicBezTo>
                <a:lnTo>
                  <a:pt x="291605" y="181577"/>
                </a:lnTo>
                <a:cubicBezTo>
                  <a:pt x="291561" y="170491"/>
                  <a:pt x="297458" y="160231"/>
                  <a:pt x="307058" y="154688"/>
                </a:cubicBezTo>
                <a:lnTo>
                  <a:pt x="309376" y="153297"/>
                </a:lnTo>
                <a:cubicBezTo>
                  <a:pt x="324128" y="144753"/>
                  <a:pt x="329176" y="125877"/>
                  <a:pt x="320657" y="111110"/>
                </a:cubicBezTo>
                <a:lnTo>
                  <a:pt x="317257" y="105237"/>
                </a:lnTo>
                <a:cubicBezTo>
                  <a:pt x="308713" y="90485"/>
                  <a:pt x="289837" y="85438"/>
                  <a:pt x="275070" y="93956"/>
                </a:cubicBezTo>
                <a:lnTo>
                  <a:pt x="272752" y="95193"/>
                </a:lnTo>
                <a:cubicBezTo>
                  <a:pt x="263189" y="100714"/>
                  <a:pt x="251408" y="100714"/>
                  <a:pt x="241845" y="95193"/>
                </a:cubicBezTo>
                <a:lnTo>
                  <a:pt x="235200" y="91329"/>
                </a:lnTo>
                <a:cubicBezTo>
                  <a:pt x="225647" y="85814"/>
                  <a:pt x="219758" y="75626"/>
                  <a:pt x="219747" y="64595"/>
                </a:cubicBezTo>
                <a:lnTo>
                  <a:pt x="219747" y="61813"/>
                </a:lnTo>
                <a:cubicBezTo>
                  <a:pt x="219747" y="44744"/>
                  <a:pt x="205909" y="30907"/>
                  <a:pt x="188840" y="30907"/>
                </a:cubicBezTo>
                <a:close/>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Configurar por variables</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misma imagen en Compose y en Kubernetes.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solo artefacto para todos los ambientes.</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ship-wheel"/>
          <p:cNvSpPr/>
          <p:nvPr/>
        </p:nvSpPr>
        <p:spPr>
          <a:xfrm>
            <a:off x="4258544" y="5400020"/>
            <a:ext cx="370881" cy="370881"/>
          </a:xfrm>
          <a:custGeom>
            <a:avLst/>
            <a:gdLst/>
            <a:ahLst/>
            <a:cxnLst/>
            <a:rect l="l" t="t" r="r" b="b"/>
            <a:pathLst>
              <a:path w="370881" h="370881">
                <a:moveTo>
                  <a:pt x="309067" y="185440"/>
                </a:moveTo>
                <a:cubicBezTo>
                  <a:pt x="309067" y="253718"/>
                  <a:pt x="253718" y="309067"/>
                  <a:pt x="185440" y="309067"/>
                </a:cubicBezTo>
                <a:cubicBezTo>
                  <a:pt x="117163" y="309067"/>
                  <a:pt x="61813" y="253718"/>
                  <a:pt x="61813" y="185440"/>
                </a:cubicBezTo>
                <a:cubicBezTo>
                  <a:pt x="61813" y="117163"/>
                  <a:pt x="117163" y="61813"/>
                  <a:pt x="185440" y="61813"/>
                </a:cubicBezTo>
                <a:cubicBezTo>
                  <a:pt x="253718" y="61813"/>
                  <a:pt x="309067" y="117163"/>
                  <a:pt x="309067" y="185440"/>
                </a:cubicBezTo>
                <a:close/>
                <a:moveTo>
                  <a:pt x="185440" y="30907"/>
                </a:moveTo>
                <a:lnTo>
                  <a:pt x="185440" y="146807"/>
                </a:lnTo>
                <a:moveTo>
                  <a:pt x="293614" y="77267"/>
                </a:moveTo>
                <a:lnTo>
                  <a:pt x="212793" y="158088"/>
                </a:lnTo>
                <a:moveTo>
                  <a:pt x="339974" y="185440"/>
                </a:moveTo>
                <a:lnTo>
                  <a:pt x="224074" y="185440"/>
                </a:lnTo>
                <a:moveTo>
                  <a:pt x="293614" y="293614"/>
                </a:moveTo>
                <a:lnTo>
                  <a:pt x="212793" y="212793"/>
                </a:lnTo>
                <a:moveTo>
                  <a:pt x="185440" y="224074"/>
                </a:moveTo>
                <a:lnTo>
                  <a:pt x="185440" y="339974"/>
                </a:lnTo>
                <a:moveTo>
                  <a:pt x="158088" y="212793"/>
                </a:moveTo>
                <a:lnTo>
                  <a:pt x="77267" y="293614"/>
                </a:lnTo>
                <a:moveTo>
                  <a:pt x="146807" y="185440"/>
                </a:moveTo>
                <a:lnTo>
                  <a:pt x="30907" y="185440"/>
                </a:lnTo>
                <a:moveTo>
                  <a:pt x="158088" y="158088"/>
                </a:moveTo>
                <a:lnTo>
                  <a:pt x="77267" y="77267"/>
                </a:lnTo>
                <a:moveTo>
                  <a:pt x="224074" y="185440"/>
                </a:moveTo>
                <a:cubicBezTo>
                  <a:pt x="224074" y="206777"/>
                  <a:pt x="206777" y="224074"/>
                  <a:pt x="185440" y="224074"/>
                </a:cubicBezTo>
                <a:cubicBezTo>
                  <a:pt x="164104" y="224074"/>
                  <a:pt x="146807" y="206777"/>
                  <a:pt x="146807" y="185440"/>
                </a:cubicBezTo>
                <a:cubicBezTo>
                  <a:pt x="146807" y="164104"/>
                  <a:pt x="164104" y="146807"/>
                  <a:pt x="185440" y="146807"/>
                </a:cubicBezTo>
                <a:cubicBezTo>
                  <a:pt x="206777" y="146807"/>
                  <a:pt x="224074" y="164104"/>
                  <a:pt x="224074" y="185440"/>
                </a:cubicBezTo>
                <a:close/>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Declarar el estado deseado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Deployments, initContainers y readinessProbe.</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El clúster se repara solo y no recibe tráfico antes de tiempo.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Cada cambio se prueba solo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Del push a una imagen publicada, sin pasos manuales.</a:t>
            </a:r>
            <a:endParaRPr lang="en-US" sz="1700" dirty="0"/>
          </a:p>
        </p:txBody>
      </p:sp>
      <p:sp>
        <p:nvSpPr>
          <p:cNvPr id="14" name="Shape 12"/>
          <p:cNvSpPr/>
          <p:nvPr/>
        </p:nvSpPr>
        <p:spPr>
          <a:xfrm>
            <a:off x="612648" y="2359152"/>
            <a:ext cx="1964893" cy="1737360"/>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5" name="Icono git-pull-request"/>
          <p:cNvSpPr/>
          <p:nvPr/>
        </p:nvSpPr>
        <p:spPr>
          <a:xfrm>
            <a:off x="1220191" y="2671877"/>
            <a:ext cx="566928" cy="566928"/>
          </a:xfrm>
          <a:custGeom>
            <a:avLst/>
            <a:gdLst/>
            <a:ahLst/>
            <a:cxnLst/>
            <a:rect l="l" t="t" r="r" b="b"/>
            <a:pathLst>
              <a:path w="566928" h="566928">
                <a:moveTo>
                  <a:pt x="496062" y="425196"/>
                </a:moveTo>
                <a:cubicBezTo>
                  <a:pt x="496062" y="464334"/>
                  <a:pt x="464334" y="496062"/>
                  <a:pt x="425196" y="496062"/>
                </a:cubicBezTo>
                <a:cubicBezTo>
                  <a:pt x="386058" y="496062"/>
                  <a:pt x="354330" y="464334"/>
                  <a:pt x="354330" y="425196"/>
                </a:cubicBezTo>
                <a:cubicBezTo>
                  <a:pt x="354330" y="386058"/>
                  <a:pt x="386058" y="354330"/>
                  <a:pt x="425196" y="354330"/>
                </a:cubicBezTo>
                <a:cubicBezTo>
                  <a:pt x="464334" y="354330"/>
                  <a:pt x="496062" y="386058"/>
                  <a:pt x="496062" y="425196"/>
                </a:cubicBezTo>
                <a:close/>
                <a:moveTo>
                  <a:pt x="212598" y="141732"/>
                </a:moveTo>
                <a:cubicBezTo>
                  <a:pt x="212598" y="180870"/>
                  <a:pt x="180870" y="212598"/>
                  <a:pt x="141732" y="212598"/>
                </a:cubicBezTo>
                <a:cubicBezTo>
                  <a:pt x="102594" y="212598"/>
                  <a:pt x="70866" y="180870"/>
                  <a:pt x="70866" y="141732"/>
                </a:cubicBezTo>
                <a:cubicBezTo>
                  <a:pt x="70866" y="102594"/>
                  <a:pt x="102594" y="70866"/>
                  <a:pt x="141732" y="70866"/>
                </a:cubicBezTo>
                <a:cubicBezTo>
                  <a:pt x="180870" y="70866"/>
                  <a:pt x="212598" y="102594"/>
                  <a:pt x="212598" y="141732"/>
                </a:cubicBezTo>
                <a:close/>
                <a:moveTo>
                  <a:pt x="307086" y="141732"/>
                </a:moveTo>
                <a:lnTo>
                  <a:pt x="377952" y="141732"/>
                </a:lnTo>
                <a:cubicBezTo>
                  <a:pt x="404044" y="141732"/>
                  <a:pt x="425196" y="162884"/>
                  <a:pt x="425196" y="188976"/>
                </a:cubicBezTo>
                <a:lnTo>
                  <a:pt x="425196" y="354330"/>
                </a:lnTo>
                <a:moveTo>
                  <a:pt x="141732" y="212598"/>
                </a:moveTo>
                <a:lnTo>
                  <a:pt x="141732" y="496062"/>
                </a:lnTo>
              </a:path>
            </a:pathLst>
          </a:custGeom>
          <a:noFill/>
          <a:ln w="47244" cap="rnd">
            <a:solidFill>
              <a:srgbClr val="FFFFFF"/>
            </a:solidFill>
            <a:prstDash val="solid"/>
            <a:round/>
          </a:ln>
        </p:spPr>
      </p:sp>
      <p:sp>
        <p:nvSpPr>
          <p:cNvPr id="16" name="Text 14"/>
          <p:cNvSpPr/>
          <p:nvPr/>
        </p:nvSpPr>
        <p:spPr>
          <a:xfrm>
            <a:off x="886968"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Push o PR</a:t>
            </a:r>
            <a:endParaRPr lang="en-US" sz="1600" dirty="0"/>
          </a:p>
        </p:txBody>
      </p:sp>
      <p:sp>
        <p:nvSpPr>
          <p:cNvPr id="17" name="Text 15"/>
          <p:cNvSpPr/>
          <p:nvPr/>
        </p:nvSpPr>
        <p:spPr>
          <a:xfrm>
            <a:off x="722376"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Alguien sube un cambio.</a:t>
            </a:r>
            <a:endParaRPr lang="en-US" sz="1400" dirty="0"/>
          </a:p>
        </p:txBody>
      </p:sp>
      <p:sp>
        <p:nvSpPr>
          <p:cNvPr id="18" name="Shape 16"/>
          <p:cNvSpPr/>
          <p:nvPr/>
        </p:nvSpPr>
        <p:spPr>
          <a:xfrm>
            <a:off x="1549375" y="4151376"/>
            <a:ext cx="0" cy="109728"/>
          </a:xfrm>
          <a:prstGeom prst="line">
            <a:avLst/>
          </a:prstGeom>
          <a:noFill/>
          <a:ln w="25400">
            <a:solidFill>
              <a:srgbClr val="0B2350"/>
            </a:solidFill>
            <a:prstDash val="solid"/>
          </a:ln>
        </p:spPr>
      </p:sp>
      <p:sp>
        <p:nvSpPr>
          <p:cNvPr id="19" name="Shape 17"/>
          <p:cNvSpPr/>
          <p:nvPr/>
        </p:nvSpPr>
        <p:spPr>
          <a:xfrm>
            <a:off x="2412949" y="2359152"/>
            <a:ext cx="1964893" cy="1737360"/>
          </a:xfrm>
          <a:prstGeom prst="chevron">
            <a:avLst/>
          </a:prstGeom>
          <a:solidFill>
            <a:srgbClr val="0B325C"/>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0" name="Icono settings"/>
          <p:cNvSpPr/>
          <p:nvPr/>
        </p:nvSpPr>
        <p:spPr>
          <a:xfrm>
            <a:off x="3157652" y="2671877"/>
            <a:ext cx="566928" cy="566928"/>
          </a:xfrm>
          <a:custGeom>
            <a:avLst/>
            <a:gdLst/>
            <a:ahLst/>
            <a:cxnLst/>
            <a:rect l="l" t="t" r="r" b="b"/>
            <a:pathLst>
              <a:path w="566928" h="566928">
                <a:moveTo>
                  <a:pt x="288661" y="47244"/>
                </a:moveTo>
                <a:lnTo>
                  <a:pt x="278267" y="47244"/>
                </a:lnTo>
                <a:cubicBezTo>
                  <a:pt x="252175" y="47244"/>
                  <a:pt x="231023" y="68396"/>
                  <a:pt x="231023" y="94488"/>
                </a:cubicBezTo>
                <a:lnTo>
                  <a:pt x="231023" y="98740"/>
                </a:lnTo>
                <a:cubicBezTo>
                  <a:pt x="231006" y="115601"/>
                  <a:pt x="222004" y="131175"/>
                  <a:pt x="207401" y="139606"/>
                </a:cubicBezTo>
                <a:lnTo>
                  <a:pt x="197244" y="145512"/>
                </a:lnTo>
                <a:cubicBezTo>
                  <a:pt x="182626" y="153951"/>
                  <a:pt x="164617" y="153951"/>
                  <a:pt x="150000" y="145512"/>
                </a:cubicBezTo>
                <a:lnTo>
                  <a:pt x="146456" y="143622"/>
                </a:lnTo>
                <a:cubicBezTo>
                  <a:pt x="123883" y="130601"/>
                  <a:pt x="95030" y="138316"/>
                  <a:pt x="81968" y="160866"/>
                </a:cubicBezTo>
                <a:lnTo>
                  <a:pt x="76772" y="169842"/>
                </a:lnTo>
                <a:cubicBezTo>
                  <a:pt x="63750" y="192415"/>
                  <a:pt x="71466" y="221269"/>
                  <a:pt x="94016" y="234330"/>
                </a:cubicBezTo>
                <a:lnTo>
                  <a:pt x="97559" y="236692"/>
                </a:lnTo>
                <a:cubicBezTo>
                  <a:pt x="112088" y="245081"/>
                  <a:pt x="121080" y="260545"/>
                  <a:pt x="121181" y="277322"/>
                </a:cubicBezTo>
                <a:lnTo>
                  <a:pt x="121181" y="289370"/>
                </a:lnTo>
                <a:cubicBezTo>
                  <a:pt x="121248" y="306315"/>
                  <a:pt x="112234" y="321999"/>
                  <a:pt x="97559" y="330472"/>
                </a:cubicBezTo>
                <a:lnTo>
                  <a:pt x="94016" y="332598"/>
                </a:lnTo>
                <a:cubicBezTo>
                  <a:pt x="71466" y="345659"/>
                  <a:pt x="63750" y="374513"/>
                  <a:pt x="76772" y="397086"/>
                </a:cubicBezTo>
                <a:lnTo>
                  <a:pt x="81968" y="406062"/>
                </a:lnTo>
                <a:cubicBezTo>
                  <a:pt x="95030" y="428612"/>
                  <a:pt x="123883" y="436327"/>
                  <a:pt x="146456" y="423306"/>
                </a:cubicBezTo>
                <a:lnTo>
                  <a:pt x="150000" y="421416"/>
                </a:lnTo>
                <a:cubicBezTo>
                  <a:pt x="164617" y="412977"/>
                  <a:pt x="182626" y="412977"/>
                  <a:pt x="197244" y="421416"/>
                </a:cubicBezTo>
                <a:lnTo>
                  <a:pt x="207401" y="427322"/>
                </a:lnTo>
                <a:cubicBezTo>
                  <a:pt x="222004" y="435753"/>
                  <a:pt x="231006" y="451327"/>
                  <a:pt x="231023" y="468188"/>
                </a:cubicBezTo>
                <a:lnTo>
                  <a:pt x="231023" y="472440"/>
                </a:lnTo>
                <a:cubicBezTo>
                  <a:pt x="231023" y="498532"/>
                  <a:pt x="252175" y="519684"/>
                  <a:pt x="278267" y="519684"/>
                </a:cubicBezTo>
                <a:lnTo>
                  <a:pt x="288661" y="519684"/>
                </a:lnTo>
                <a:cubicBezTo>
                  <a:pt x="314753" y="519684"/>
                  <a:pt x="335905" y="498532"/>
                  <a:pt x="335905" y="472440"/>
                </a:cubicBezTo>
                <a:lnTo>
                  <a:pt x="335905" y="468188"/>
                </a:lnTo>
                <a:cubicBezTo>
                  <a:pt x="335922" y="451327"/>
                  <a:pt x="344924" y="435753"/>
                  <a:pt x="359527" y="427322"/>
                </a:cubicBezTo>
                <a:lnTo>
                  <a:pt x="369684" y="421416"/>
                </a:lnTo>
                <a:cubicBezTo>
                  <a:pt x="384302" y="412977"/>
                  <a:pt x="402311" y="412977"/>
                  <a:pt x="416928" y="421416"/>
                </a:cubicBezTo>
                <a:lnTo>
                  <a:pt x="420472" y="423306"/>
                </a:lnTo>
                <a:cubicBezTo>
                  <a:pt x="443045" y="436327"/>
                  <a:pt x="471898" y="428612"/>
                  <a:pt x="484960" y="406062"/>
                </a:cubicBezTo>
                <a:lnTo>
                  <a:pt x="490156" y="396850"/>
                </a:lnTo>
                <a:cubicBezTo>
                  <a:pt x="503178" y="374277"/>
                  <a:pt x="495462" y="345423"/>
                  <a:pt x="472912" y="332362"/>
                </a:cubicBezTo>
                <a:lnTo>
                  <a:pt x="469369" y="330472"/>
                </a:lnTo>
                <a:cubicBezTo>
                  <a:pt x="454694" y="321999"/>
                  <a:pt x="445680" y="306315"/>
                  <a:pt x="445747" y="289369"/>
                </a:cubicBezTo>
                <a:lnTo>
                  <a:pt x="445747" y="277558"/>
                </a:lnTo>
                <a:cubicBezTo>
                  <a:pt x="445680" y="260613"/>
                  <a:pt x="454694" y="244929"/>
                  <a:pt x="469369" y="236456"/>
                </a:cubicBezTo>
                <a:lnTo>
                  <a:pt x="472912" y="234330"/>
                </a:lnTo>
                <a:cubicBezTo>
                  <a:pt x="495462" y="221269"/>
                  <a:pt x="503178" y="192415"/>
                  <a:pt x="490156" y="169842"/>
                </a:cubicBezTo>
                <a:lnTo>
                  <a:pt x="484960" y="160866"/>
                </a:lnTo>
                <a:cubicBezTo>
                  <a:pt x="471898" y="138316"/>
                  <a:pt x="443045" y="130601"/>
                  <a:pt x="420472" y="143622"/>
                </a:cubicBezTo>
                <a:lnTo>
                  <a:pt x="416928" y="145512"/>
                </a:lnTo>
                <a:cubicBezTo>
                  <a:pt x="402311" y="153951"/>
                  <a:pt x="384302" y="153951"/>
                  <a:pt x="369684" y="145512"/>
                </a:cubicBezTo>
                <a:lnTo>
                  <a:pt x="359527" y="139606"/>
                </a:lnTo>
                <a:cubicBezTo>
                  <a:pt x="344924" y="131175"/>
                  <a:pt x="335922" y="115601"/>
                  <a:pt x="335905" y="98740"/>
                </a:cubicBezTo>
                <a:lnTo>
                  <a:pt x="335905" y="94488"/>
                </a:lnTo>
                <a:cubicBezTo>
                  <a:pt x="335905" y="68396"/>
                  <a:pt x="314753" y="47244"/>
                  <a:pt x="288661" y="47244"/>
                </a:cubicBezTo>
                <a:close/>
                <a:moveTo>
                  <a:pt x="354330" y="283464"/>
                </a:moveTo>
                <a:cubicBezTo>
                  <a:pt x="354330" y="322602"/>
                  <a:pt x="322602" y="354330"/>
                  <a:pt x="283464" y="354330"/>
                </a:cubicBezTo>
                <a:cubicBezTo>
                  <a:pt x="244326" y="354330"/>
                  <a:pt x="212598" y="322602"/>
                  <a:pt x="212598" y="283464"/>
                </a:cubicBezTo>
                <a:cubicBezTo>
                  <a:pt x="212598" y="244326"/>
                  <a:pt x="244326" y="212598"/>
                  <a:pt x="283464" y="212598"/>
                </a:cubicBezTo>
                <a:cubicBezTo>
                  <a:pt x="322602" y="212598"/>
                  <a:pt x="354330" y="244326"/>
                  <a:pt x="354330" y="283464"/>
                </a:cubicBezTo>
                <a:close/>
              </a:path>
            </a:pathLst>
          </a:custGeom>
          <a:noFill/>
          <a:ln w="47244" cap="rnd">
            <a:solidFill>
              <a:srgbClr val="FFFFFF"/>
            </a:solidFill>
            <a:prstDash val="solid"/>
            <a:round/>
          </a:ln>
        </p:spPr>
      </p:sp>
      <p:sp>
        <p:nvSpPr>
          <p:cNvPr id="21" name="Text 19"/>
          <p:cNvSpPr/>
          <p:nvPr/>
        </p:nvSpPr>
        <p:spPr>
          <a:xfrm>
            <a:off x="2687269"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Compilar</a:t>
            </a:r>
            <a:endParaRPr lang="en-US" sz="1600" dirty="0"/>
          </a:p>
        </p:txBody>
      </p:sp>
      <p:sp>
        <p:nvSpPr>
          <p:cNvPr id="22" name="Text 20"/>
          <p:cNvSpPr/>
          <p:nvPr/>
        </p:nvSpPr>
        <p:spPr>
          <a:xfrm>
            <a:off x="2522677"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Java 26 y Maven, un job por servicio.</a:t>
            </a:r>
            <a:endParaRPr lang="en-US" sz="1400" dirty="0"/>
          </a:p>
        </p:txBody>
      </p:sp>
      <p:sp>
        <p:nvSpPr>
          <p:cNvPr id="23" name="Shape 21"/>
          <p:cNvSpPr/>
          <p:nvPr/>
        </p:nvSpPr>
        <p:spPr>
          <a:xfrm>
            <a:off x="3349676" y="4151376"/>
            <a:ext cx="0" cy="109728"/>
          </a:xfrm>
          <a:prstGeom prst="line">
            <a:avLst/>
          </a:prstGeom>
          <a:noFill/>
          <a:ln w="25400">
            <a:solidFill>
              <a:srgbClr val="0B325C"/>
            </a:solidFill>
            <a:prstDash val="solid"/>
          </a:ln>
        </p:spPr>
      </p:sp>
      <p:sp>
        <p:nvSpPr>
          <p:cNvPr id="24" name="Shape 22"/>
          <p:cNvSpPr/>
          <p:nvPr/>
        </p:nvSpPr>
        <p:spPr>
          <a:xfrm>
            <a:off x="4213250" y="2359152"/>
            <a:ext cx="1964893" cy="1737360"/>
          </a:xfrm>
          <a:prstGeom prst="chevron">
            <a:avLst/>
          </a:prstGeom>
          <a:solidFill>
            <a:srgbClr val="0B416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5" name="Icono flask-conical"/>
          <p:cNvSpPr/>
          <p:nvPr/>
        </p:nvSpPr>
        <p:spPr>
          <a:xfrm>
            <a:off x="4957953" y="2671877"/>
            <a:ext cx="566928" cy="566928"/>
          </a:xfrm>
          <a:custGeom>
            <a:avLst/>
            <a:gdLst/>
            <a:ahLst/>
            <a:cxnLst/>
            <a:rect l="l" t="t" r="r" b="b"/>
            <a:pathLst>
              <a:path w="566928" h="566928">
                <a:moveTo>
                  <a:pt x="330708" y="47244"/>
                </a:moveTo>
                <a:lnTo>
                  <a:pt x="330708" y="188976"/>
                </a:lnTo>
                <a:cubicBezTo>
                  <a:pt x="330705" y="196901"/>
                  <a:pt x="332695" y="204699"/>
                  <a:pt x="336495" y="211653"/>
                </a:cubicBezTo>
                <a:lnTo>
                  <a:pt x="466653" y="449763"/>
                </a:lnTo>
                <a:cubicBezTo>
                  <a:pt x="474662" y="464402"/>
                  <a:pt x="474355" y="482181"/>
                  <a:pt x="465845" y="496535"/>
                </a:cubicBezTo>
                <a:cubicBezTo>
                  <a:pt x="457335" y="510888"/>
                  <a:pt x="441883" y="519688"/>
                  <a:pt x="425196" y="519684"/>
                </a:cubicBezTo>
                <a:lnTo>
                  <a:pt x="141732" y="519684"/>
                </a:lnTo>
                <a:cubicBezTo>
                  <a:pt x="125045" y="519688"/>
                  <a:pt x="109593" y="510888"/>
                  <a:pt x="101083" y="496535"/>
                </a:cubicBezTo>
                <a:cubicBezTo>
                  <a:pt x="92573" y="482181"/>
                  <a:pt x="92266" y="464402"/>
                  <a:pt x="100275" y="449763"/>
                </a:cubicBezTo>
                <a:lnTo>
                  <a:pt x="230433" y="211653"/>
                </a:lnTo>
                <a:cubicBezTo>
                  <a:pt x="234233" y="204699"/>
                  <a:pt x="236223" y="196901"/>
                  <a:pt x="236220" y="188976"/>
                </a:cubicBezTo>
                <a:lnTo>
                  <a:pt x="236220" y="47244"/>
                </a:lnTo>
                <a:moveTo>
                  <a:pt x="152433" y="354330"/>
                </a:moveTo>
                <a:lnTo>
                  <a:pt x="414495" y="354330"/>
                </a:lnTo>
                <a:moveTo>
                  <a:pt x="200787" y="47244"/>
                </a:moveTo>
                <a:lnTo>
                  <a:pt x="366141" y="47244"/>
                </a:lnTo>
              </a:path>
            </a:pathLst>
          </a:custGeom>
          <a:noFill/>
          <a:ln w="47244" cap="rnd">
            <a:solidFill>
              <a:srgbClr val="FFFFFF"/>
            </a:solidFill>
            <a:prstDash val="solid"/>
            <a:round/>
          </a:ln>
        </p:spPr>
      </p:sp>
      <p:sp>
        <p:nvSpPr>
          <p:cNvPr id="26" name="Text 24"/>
          <p:cNvSpPr/>
          <p:nvPr/>
        </p:nvSpPr>
        <p:spPr>
          <a:xfrm>
            <a:off x="4487570"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Probar</a:t>
            </a:r>
            <a:endParaRPr lang="en-US" sz="1600" dirty="0"/>
          </a:p>
        </p:txBody>
      </p:sp>
      <p:sp>
        <p:nvSpPr>
          <p:cNvPr id="27" name="Text 25"/>
          <p:cNvSpPr/>
          <p:nvPr/>
        </p:nvSpPr>
        <p:spPr>
          <a:xfrm>
            <a:off x="4322978"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mvn verify con PostgreSQL de servicio.</a:t>
            </a:r>
            <a:endParaRPr lang="en-US" sz="1400" dirty="0"/>
          </a:p>
        </p:txBody>
      </p:sp>
      <p:sp>
        <p:nvSpPr>
          <p:cNvPr id="28" name="Shape 26"/>
          <p:cNvSpPr/>
          <p:nvPr/>
        </p:nvSpPr>
        <p:spPr>
          <a:xfrm>
            <a:off x="5149977" y="4151376"/>
            <a:ext cx="0" cy="109728"/>
          </a:xfrm>
          <a:prstGeom prst="line">
            <a:avLst/>
          </a:prstGeom>
          <a:noFill/>
          <a:ln w="25400">
            <a:solidFill>
              <a:srgbClr val="0B4167"/>
            </a:solidFill>
            <a:prstDash val="solid"/>
          </a:ln>
        </p:spPr>
      </p:sp>
      <p:sp>
        <p:nvSpPr>
          <p:cNvPr id="29" name="Shape 27"/>
          <p:cNvSpPr/>
          <p:nvPr/>
        </p:nvSpPr>
        <p:spPr>
          <a:xfrm>
            <a:off x="6013552" y="2359152"/>
            <a:ext cx="1964893" cy="1737360"/>
          </a:xfrm>
          <a:prstGeom prst="chevron">
            <a:avLst/>
          </a:prstGeom>
          <a:solidFill>
            <a:srgbClr val="0B507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0" name="Icono power"/>
          <p:cNvSpPr/>
          <p:nvPr/>
        </p:nvSpPr>
        <p:spPr>
          <a:xfrm>
            <a:off x="6758254" y="2671877"/>
            <a:ext cx="566928" cy="566928"/>
          </a:xfrm>
          <a:custGeom>
            <a:avLst/>
            <a:gdLst/>
            <a:ahLst/>
            <a:cxnLst/>
            <a:rect l="l" t="t" r="r" b="b"/>
            <a:pathLst>
              <a:path w="566928" h="566928">
                <a:moveTo>
                  <a:pt x="283464" y="47244"/>
                </a:moveTo>
                <a:lnTo>
                  <a:pt x="283464" y="283464"/>
                </a:lnTo>
                <a:moveTo>
                  <a:pt x="434645" y="155905"/>
                </a:moveTo>
                <a:cubicBezTo>
                  <a:pt x="517524" y="238815"/>
                  <a:pt x="517648" y="373169"/>
                  <a:pt x="434922" y="456231"/>
                </a:cubicBezTo>
                <a:cubicBezTo>
                  <a:pt x="352195" y="539294"/>
                  <a:pt x="217842" y="539715"/>
                  <a:pt x="134597" y="457172"/>
                </a:cubicBezTo>
                <a:cubicBezTo>
                  <a:pt x="51351" y="374629"/>
                  <a:pt x="50633" y="240278"/>
                  <a:pt x="132992" y="156850"/>
                </a:cubicBezTo>
              </a:path>
            </a:pathLst>
          </a:custGeom>
          <a:noFill/>
          <a:ln w="47244" cap="rnd">
            <a:solidFill>
              <a:srgbClr val="FFFFFF"/>
            </a:solidFill>
            <a:prstDash val="solid"/>
            <a:round/>
          </a:ln>
        </p:spPr>
      </p:sp>
      <p:sp>
        <p:nvSpPr>
          <p:cNvPr id="31" name="Text 29"/>
          <p:cNvSpPr/>
          <p:nvPr/>
        </p:nvSpPr>
        <p:spPr>
          <a:xfrm>
            <a:off x="6287872"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Arrancar</a:t>
            </a:r>
            <a:endParaRPr lang="en-US" sz="1600" dirty="0"/>
          </a:p>
        </p:txBody>
      </p:sp>
      <p:sp>
        <p:nvSpPr>
          <p:cNvPr id="32" name="Text 30"/>
          <p:cNvSpPr/>
          <p:nvPr/>
        </p:nvSpPr>
        <p:spPr>
          <a:xfrm>
            <a:off x="6123280"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Levanta el JAR y espera ver CAM-002.</a:t>
            </a:r>
            <a:endParaRPr lang="en-US" sz="1400" dirty="0"/>
          </a:p>
        </p:txBody>
      </p:sp>
      <p:sp>
        <p:nvSpPr>
          <p:cNvPr id="33" name="Shape 31"/>
          <p:cNvSpPr/>
          <p:nvPr/>
        </p:nvSpPr>
        <p:spPr>
          <a:xfrm>
            <a:off x="6950278" y="4151376"/>
            <a:ext cx="0" cy="109728"/>
          </a:xfrm>
          <a:prstGeom prst="line">
            <a:avLst/>
          </a:prstGeom>
          <a:noFill/>
          <a:ln w="25400">
            <a:solidFill>
              <a:srgbClr val="0B5073"/>
            </a:solidFill>
            <a:prstDash val="solid"/>
          </a:ln>
        </p:spPr>
      </p:sp>
      <p:sp>
        <p:nvSpPr>
          <p:cNvPr id="34" name="Shape 32"/>
          <p:cNvSpPr/>
          <p:nvPr/>
        </p:nvSpPr>
        <p:spPr>
          <a:xfrm>
            <a:off x="7813853" y="2359152"/>
            <a:ext cx="1964893" cy="1737360"/>
          </a:xfrm>
          <a:prstGeom prst="chevron">
            <a:avLst/>
          </a:prstGeom>
          <a:solidFill>
            <a:srgbClr val="0B5F7E"/>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5" name="Icono package"/>
          <p:cNvSpPr/>
          <p:nvPr/>
        </p:nvSpPr>
        <p:spPr>
          <a:xfrm>
            <a:off x="8558555" y="2671877"/>
            <a:ext cx="566928" cy="566928"/>
          </a:xfrm>
          <a:custGeom>
            <a:avLst/>
            <a:gdLst/>
            <a:ahLst/>
            <a:cxnLst/>
            <a:rect l="l" t="t" r="r" b="b"/>
            <a:pathLst>
              <a:path w="566928" h="566928">
                <a:moveTo>
                  <a:pt x="259842" y="513306"/>
                </a:moveTo>
                <a:cubicBezTo>
                  <a:pt x="274459" y="521745"/>
                  <a:pt x="292469" y="521745"/>
                  <a:pt x="307086" y="513306"/>
                </a:cubicBezTo>
                <a:lnTo>
                  <a:pt x="472440" y="418818"/>
                </a:lnTo>
                <a:cubicBezTo>
                  <a:pt x="487042" y="410387"/>
                  <a:pt x="496045" y="394813"/>
                  <a:pt x="496062" y="377952"/>
                </a:cubicBezTo>
                <a:lnTo>
                  <a:pt x="496062" y="188976"/>
                </a:lnTo>
                <a:cubicBezTo>
                  <a:pt x="496045" y="172115"/>
                  <a:pt x="487042" y="156541"/>
                  <a:pt x="472440" y="148110"/>
                </a:cubicBezTo>
                <a:lnTo>
                  <a:pt x="307086" y="53622"/>
                </a:lnTo>
                <a:cubicBezTo>
                  <a:pt x="292469" y="45183"/>
                  <a:pt x="274459" y="45183"/>
                  <a:pt x="259842" y="53622"/>
                </a:cubicBezTo>
                <a:lnTo>
                  <a:pt x="94488" y="148110"/>
                </a:lnTo>
                <a:cubicBezTo>
                  <a:pt x="79886" y="156541"/>
                  <a:pt x="70883" y="172115"/>
                  <a:pt x="70866" y="188976"/>
                </a:cubicBezTo>
                <a:lnTo>
                  <a:pt x="70866" y="377952"/>
                </a:lnTo>
                <a:cubicBezTo>
                  <a:pt x="70883" y="394813"/>
                  <a:pt x="79886" y="410387"/>
                  <a:pt x="94488" y="418818"/>
                </a:cubicBezTo>
                <a:close/>
                <a:moveTo>
                  <a:pt x="283464" y="519684"/>
                </a:moveTo>
                <a:lnTo>
                  <a:pt x="283464" y="283464"/>
                </a:lnTo>
                <a:moveTo>
                  <a:pt x="77953" y="165354"/>
                </a:moveTo>
                <a:lnTo>
                  <a:pt x="259913" y="277181"/>
                </a:lnTo>
                <a:cubicBezTo>
                  <a:pt x="274494" y="285565"/>
                  <a:pt x="292434" y="285565"/>
                  <a:pt x="307015" y="277181"/>
                </a:cubicBezTo>
                <a:lnTo>
                  <a:pt x="488975" y="165354"/>
                </a:lnTo>
                <a:moveTo>
                  <a:pt x="177165" y="100866"/>
                </a:moveTo>
                <a:lnTo>
                  <a:pt x="389763" y="222519"/>
                </a:lnTo>
              </a:path>
            </a:pathLst>
          </a:custGeom>
          <a:noFill/>
          <a:ln w="47244" cap="rnd">
            <a:solidFill>
              <a:srgbClr val="FFFFFF"/>
            </a:solidFill>
            <a:prstDash val="solid"/>
            <a:round/>
          </a:ln>
        </p:spPr>
      </p:sp>
      <p:sp>
        <p:nvSpPr>
          <p:cNvPr id="36" name="Text 34"/>
          <p:cNvSpPr/>
          <p:nvPr/>
        </p:nvSpPr>
        <p:spPr>
          <a:xfrm>
            <a:off x="8088173"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Imagen</a:t>
            </a:r>
            <a:endParaRPr lang="en-US" sz="1600" dirty="0"/>
          </a:p>
        </p:txBody>
      </p:sp>
      <p:sp>
        <p:nvSpPr>
          <p:cNvPr id="37" name="Text 35"/>
          <p:cNvSpPr/>
          <p:nvPr/>
        </p:nvSpPr>
        <p:spPr>
          <a:xfrm>
            <a:off x="7923581"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construye con Docker.</a:t>
            </a:r>
            <a:endParaRPr lang="en-US" sz="1400" dirty="0"/>
          </a:p>
        </p:txBody>
      </p:sp>
      <p:sp>
        <p:nvSpPr>
          <p:cNvPr id="38" name="Shape 36"/>
          <p:cNvSpPr/>
          <p:nvPr/>
        </p:nvSpPr>
        <p:spPr>
          <a:xfrm>
            <a:off x="8750579" y="4151376"/>
            <a:ext cx="0" cy="109728"/>
          </a:xfrm>
          <a:prstGeom prst="line">
            <a:avLst/>
          </a:prstGeom>
          <a:noFill/>
          <a:ln w="25400">
            <a:solidFill>
              <a:srgbClr val="0B5F7E"/>
            </a:solidFill>
            <a:prstDash val="solid"/>
          </a:ln>
        </p:spPr>
      </p:sp>
      <p:sp>
        <p:nvSpPr>
          <p:cNvPr id="39" name="Shape 37"/>
          <p:cNvSpPr/>
          <p:nvPr/>
        </p:nvSpPr>
        <p:spPr>
          <a:xfrm>
            <a:off x="9614154" y="2359152"/>
            <a:ext cx="1964893" cy="1737360"/>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0" name="Icono cloud-upload"/>
          <p:cNvSpPr/>
          <p:nvPr/>
        </p:nvSpPr>
        <p:spPr>
          <a:xfrm>
            <a:off x="10358857" y="2671877"/>
            <a:ext cx="566928" cy="566928"/>
          </a:xfrm>
          <a:custGeom>
            <a:avLst/>
            <a:gdLst/>
            <a:ahLst/>
            <a:cxnLst/>
            <a:rect l="l" t="t" r="r" b="b"/>
            <a:pathLst>
              <a:path w="566928" h="566928">
                <a:moveTo>
                  <a:pt x="283464" y="307086"/>
                </a:moveTo>
                <a:lnTo>
                  <a:pt x="283464" y="496062"/>
                </a:lnTo>
                <a:moveTo>
                  <a:pt x="94488" y="351944"/>
                </a:moveTo>
                <a:cubicBezTo>
                  <a:pt x="46416" y="302829"/>
                  <a:pt x="33736" y="229099"/>
                  <a:pt x="62638" y="166745"/>
                </a:cubicBezTo>
                <a:cubicBezTo>
                  <a:pt x="91540" y="104392"/>
                  <a:pt x="155997" y="66417"/>
                  <a:pt x="224545" y="71357"/>
                </a:cubicBezTo>
                <a:cubicBezTo>
                  <a:pt x="293093" y="76297"/>
                  <a:pt x="351439" y="123123"/>
                  <a:pt x="371102" y="188976"/>
                </a:cubicBezTo>
                <a:lnTo>
                  <a:pt x="413385" y="188976"/>
                </a:lnTo>
                <a:cubicBezTo>
                  <a:pt x="460212" y="188971"/>
                  <a:pt x="501527" y="219609"/>
                  <a:pt x="515120" y="264420"/>
                </a:cubicBezTo>
                <a:cubicBezTo>
                  <a:pt x="528712" y="309231"/>
                  <a:pt x="511379" y="357659"/>
                  <a:pt x="472440" y="383669"/>
                </a:cubicBezTo>
                <a:moveTo>
                  <a:pt x="188976" y="401574"/>
                </a:moveTo>
                <a:lnTo>
                  <a:pt x="283464" y="307086"/>
                </a:lnTo>
                <a:lnTo>
                  <a:pt x="377952" y="401574"/>
                </a:lnTo>
              </a:path>
            </a:pathLst>
          </a:custGeom>
          <a:noFill/>
          <a:ln w="47244" cap="rnd">
            <a:solidFill>
              <a:srgbClr val="FFFFFF"/>
            </a:solidFill>
            <a:prstDash val="solid"/>
            <a:round/>
          </a:ln>
        </p:spPr>
      </p:sp>
      <p:sp>
        <p:nvSpPr>
          <p:cNvPr id="41" name="Text 39"/>
          <p:cNvSpPr/>
          <p:nvPr/>
        </p:nvSpPr>
        <p:spPr>
          <a:xfrm>
            <a:off x="9888474"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Publicar</a:t>
            </a:r>
            <a:endParaRPr lang="en-US" sz="1600" dirty="0"/>
          </a:p>
        </p:txBody>
      </p:sp>
      <p:sp>
        <p:nvSpPr>
          <p:cNvPr id="42" name="Text 40"/>
          <p:cNvSpPr/>
          <p:nvPr/>
        </p:nvSpPr>
        <p:spPr>
          <a:xfrm>
            <a:off x="9723882"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 con el SHA del commit.</a:t>
            </a:r>
            <a:endParaRPr lang="en-US" sz="1400" dirty="0"/>
          </a:p>
        </p:txBody>
      </p:sp>
      <p:sp>
        <p:nvSpPr>
          <p:cNvPr id="43" name="Shape 41"/>
          <p:cNvSpPr/>
          <p:nvPr/>
        </p:nvSpPr>
        <p:spPr>
          <a:xfrm>
            <a:off x="10550881" y="4151376"/>
            <a:ext cx="0" cy="109728"/>
          </a:xfrm>
          <a:prstGeom prst="line">
            <a:avLst/>
          </a:prstGeom>
          <a:noFill/>
          <a:ln w="25400">
            <a:solidFill>
              <a:srgbClr val="0B6E8A"/>
            </a:solidFill>
            <a:prstDash val="solid"/>
          </a:ln>
        </p:spPr>
      </p:sp>
      <p:sp>
        <p:nvSpPr>
          <p:cNvPr id="44" name="Shape 42"/>
          <p:cNvSpPr/>
          <p:nvPr/>
        </p:nvSpPr>
        <p:spPr>
          <a:xfrm>
            <a:off x="0" y="5961888"/>
            <a:ext cx="12191695" cy="475488"/>
          </a:xfrm>
          <a:prstGeom prst="rect">
            <a:avLst/>
          </a:prstGeom>
          <a:solidFill>
            <a:srgbClr val="0B2350"/>
          </a:solidFill>
          <a:ln w="12700">
            <a:solidFill>
              <a:srgbClr val="0B2350"/>
            </a:solidFill>
            <a:prstDash val="solid"/>
          </a:ln>
        </p:spPr>
      </p:sp>
      <p:sp>
        <p:nvSpPr>
          <p:cNvPr id="4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6" name="Text 4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minutos, antes de llegar a los demás.</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Cada cambio se prueba solo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.github/workflows/ci.yml</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on</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push</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branches</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 main ]</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pull_request</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jobs</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construir-probar-publicar</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strategy</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matrix</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include</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 servicio</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servicio-solicitudes</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base_datos</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db-solicitudes</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steps</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 run</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mvn -B verify</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working-directory</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00" dirty="0">
                <a:solidFill>
                  <a:srgbClr val="FFB38A"/>
                </a:solidFill>
                <a:latin typeface="Consolas" pitchFamily="34" charset="0"/>
                <a:ea typeface="Consolas" pitchFamily="34" charset="-122"/>
                <a:cs typeface="Consolas" pitchFamily="34" charset="-120"/>
              </a:rPr>
              <a:t>${{ matrix.servicio }</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entra por Pull Request</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Ramas cortas, commits con sentido y el pipeline en verde.</a:t>
            </a:r>
            <a:endParaRPr lang="en-US" sz="1700" dirty="0"/>
          </a:p>
        </p:txBody>
      </p:sp>
      <p:sp>
        <p:nvSpPr>
          <p:cNvPr id="14" name="Shape 12"/>
          <p:cNvSpPr/>
          <p:nvPr/>
        </p:nvSpPr>
        <p:spPr>
          <a:xfrm>
            <a:off x="978408" y="5349240"/>
            <a:ext cx="10234879" cy="0"/>
          </a:xfrm>
          <a:prstGeom prst="line">
            <a:avLst/>
          </a:prstGeom>
          <a:noFill/>
          <a:ln w="76200">
            <a:solidFill>
              <a:srgbClr val="0B2350"/>
            </a:solidFill>
            <a:prstDash val="solid"/>
          </a:ln>
        </p:spPr>
      </p:sp>
      <p:sp>
        <p:nvSpPr>
          <p:cNvPr id="15" name="Text 13"/>
          <p:cNvSpPr/>
          <p:nvPr/>
        </p:nvSpPr>
        <p:spPr>
          <a:xfrm>
            <a:off x="886968" y="5550408"/>
            <a:ext cx="1463040" cy="365760"/>
          </a:xfrm>
          <a:prstGeom prst="roundRect">
            <a:avLst>
              <a:gd name="adj" fmla="val 50000"/>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main</a:t>
            </a:r>
            <a:endParaRPr lang="en-US" sz="1400" dirty="0"/>
          </a:p>
        </p:txBody>
      </p:sp>
      <p:sp>
        <p:nvSpPr>
          <p:cNvPr id="16" name="Shape 14"/>
          <p:cNvSpPr/>
          <p:nvPr/>
        </p:nvSpPr>
        <p:spPr>
          <a:xfrm flipV="1">
            <a:off x="2075688" y="2816352"/>
            <a:ext cx="640080" cy="2532888"/>
          </a:xfrm>
          <a:prstGeom prst="line">
            <a:avLst/>
          </a:prstGeom>
          <a:noFill/>
          <a:ln w="63500">
            <a:solidFill>
              <a:srgbClr val="2BA6CB"/>
            </a:solidFill>
            <a:prstDash val="solid"/>
          </a:ln>
        </p:spPr>
      </p:sp>
      <p:sp>
        <p:nvSpPr>
          <p:cNvPr id="17" name="Shape 15"/>
          <p:cNvSpPr/>
          <p:nvPr/>
        </p:nvSpPr>
        <p:spPr>
          <a:xfrm>
            <a:off x="2715768" y="2816352"/>
            <a:ext cx="6394399" cy="0"/>
          </a:xfrm>
          <a:prstGeom prst="line">
            <a:avLst/>
          </a:prstGeom>
          <a:noFill/>
          <a:ln w="63500">
            <a:solidFill>
              <a:srgbClr val="2BA6CB"/>
            </a:solidFill>
            <a:prstDash val="solid"/>
          </a:ln>
        </p:spPr>
      </p:sp>
      <p:sp>
        <p:nvSpPr>
          <p:cNvPr id="18" name="Shape 16"/>
          <p:cNvSpPr/>
          <p:nvPr/>
        </p:nvSpPr>
        <p:spPr>
          <a:xfrm>
            <a:off x="9110167" y="2816352"/>
            <a:ext cx="640080" cy="2532888"/>
          </a:xfrm>
          <a:prstGeom prst="line">
            <a:avLst/>
          </a:prstGeom>
          <a:noFill/>
          <a:ln w="63500">
            <a:solidFill>
              <a:srgbClr val="0A6648"/>
            </a:solidFill>
            <a:prstDash val="solid"/>
            <a:tailEnd type="triangle"/>
          </a:ln>
        </p:spPr>
      </p:sp>
      <p:sp>
        <p:nvSpPr>
          <p:cNvPr id="19" name="Text 17"/>
          <p:cNvSpPr/>
          <p:nvPr/>
        </p:nvSpPr>
        <p:spPr>
          <a:xfrm>
            <a:off x="2761488" y="2103120"/>
            <a:ext cx="4206240" cy="365760"/>
          </a:xfrm>
          <a:prstGeom prst="roundRect">
            <a:avLst>
              <a:gd name="adj" fmla="val 50000"/>
            </a:avLst>
          </a:prstGeom>
          <a:solidFill>
            <a:srgbClr val="E3F4FA"/>
          </a:solidFill>
          <a:ln w="12700">
            <a:solidFill>
              <a:srgbClr val="2BA6CB"/>
            </a:solidFill>
          </a:ln>
        </p:spPr>
        <p:txBody>
          <a:bodyPr wrap="square" lIns="0" tIns="127000" rIns="127000" bIns="0" rtlCol="0" anchor="ctr">
            <a:normAutofit/>
          </a:bodyPr>
          <a:lstStyle/>
          <a:p>
            <a:pPr indent="0" marL="0">
              <a:buNone/>
            </a:pPr>
            <a:r>
              <a:rPr lang="en-US" sz="1300" b="1" dirty="0">
                <a:solidFill>
                  <a:srgbClr val="0B6E8A"/>
                </a:solidFill>
                <a:latin typeface="Consolas" pitchFamily="34" charset="0"/>
                <a:ea typeface="Consolas" pitchFamily="34" charset="-122"/>
                <a:cs typeface="Consolas" pitchFamily="34" charset="-120"/>
              </a:rPr>
              <a:t>feat/crear-solicitud-por-post</a:t>
            </a:r>
            <a:endParaRPr lang="en-US" sz="1300" dirty="0"/>
          </a:p>
        </p:txBody>
      </p:sp>
      <p:sp>
        <p:nvSpPr>
          <p:cNvPr id="20" name="Icono git-branch"/>
          <p:cNvSpPr/>
          <p:nvPr/>
        </p:nvSpPr>
        <p:spPr>
          <a:xfrm>
            <a:off x="2029968" y="2084832"/>
            <a:ext cx="365760" cy="365760"/>
          </a:xfrm>
          <a:custGeom>
            <a:avLst/>
            <a:gdLst/>
            <a:ahLst/>
            <a:cxnLst/>
            <a:rect l="l" t="t" r="r" b="b"/>
            <a:pathLst>
              <a:path w="365760" h="365760">
                <a:moveTo>
                  <a:pt x="91440" y="45720"/>
                </a:moveTo>
                <a:lnTo>
                  <a:pt x="91440" y="228600"/>
                </a:lnTo>
                <a:moveTo>
                  <a:pt x="320040" y="91440"/>
                </a:moveTo>
                <a:cubicBezTo>
                  <a:pt x="320040" y="116690"/>
                  <a:pt x="299570" y="137160"/>
                  <a:pt x="274320" y="137160"/>
                </a:cubicBezTo>
                <a:cubicBezTo>
                  <a:pt x="249070" y="137160"/>
                  <a:pt x="228600" y="116690"/>
                  <a:pt x="228600" y="91440"/>
                </a:cubicBezTo>
                <a:cubicBezTo>
                  <a:pt x="228600" y="66190"/>
                  <a:pt x="249070" y="45720"/>
                  <a:pt x="274320" y="45720"/>
                </a:cubicBezTo>
                <a:cubicBezTo>
                  <a:pt x="299570" y="45720"/>
                  <a:pt x="320040" y="66190"/>
                  <a:pt x="320040" y="91440"/>
                </a:cubicBezTo>
                <a:close/>
                <a:moveTo>
                  <a:pt x="137160" y="274320"/>
                </a:moveTo>
                <a:cubicBezTo>
                  <a:pt x="137160" y="299570"/>
                  <a:pt x="116690" y="320040"/>
                  <a:pt x="91440" y="320040"/>
                </a:cubicBezTo>
                <a:cubicBezTo>
                  <a:pt x="66190" y="320040"/>
                  <a:pt x="45720" y="299570"/>
                  <a:pt x="45720" y="274320"/>
                </a:cubicBezTo>
                <a:cubicBezTo>
                  <a:pt x="45720" y="249070"/>
                  <a:pt x="66190" y="228600"/>
                  <a:pt x="91440" y="228600"/>
                </a:cubicBezTo>
                <a:cubicBezTo>
                  <a:pt x="116690" y="228600"/>
                  <a:pt x="137160" y="249070"/>
                  <a:pt x="137160" y="274320"/>
                </a:cubicBezTo>
                <a:close/>
                <a:moveTo>
                  <a:pt x="274320" y="137160"/>
                </a:moveTo>
                <a:cubicBezTo>
                  <a:pt x="274320" y="212911"/>
                  <a:pt x="212911" y="274320"/>
                  <a:pt x="137160" y="274320"/>
                </a:cubicBezTo>
              </a:path>
            </a:pathLst>
          </a:custGeom>
          <a:noFill/>
          <a:ln w="30480" cap="rnd">
            <a:solidFill>
              <a:srgbClr val="0B6E8A"/>
            </a:solidFill>
            <a:prstDash val="solid"/>
            <a:round/>
          </a:ln>
        </p:spPr>
      </p:sp>
      <p:sp>
        <p:nvSpPr>
          <p:cNvPr id="21" name="Shape 19"/>
          <p:cNvSpPr/>
          <p:nvPr/>
        </p:nvSpPr>
        <p:spPr>
          <a:xfrm>
            <a:off x="3598621"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2" name="Text 20"/>
          <p:cNvSpPr/>
          <p:nvPr/>
        </p:nvSpPr>
        <p:spPr>
          <a:xfrm>
            <a:off x="2761488"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feat: crear solicitud por post</a:t>
            </a:r>
            <a:endParaRPr lang="en-US" sz="1150" dirty="0"/>
          </a:p>
        </p:txBody>
      </p:sp>
      <p:sp>
        <p:nvSpPr>
          <p:cNvPr id="23" name="Shape 21"/>
          <p:cNvSpPr/>
          <p:nvPr/>
        </p:nvSpPr>
        <p:spPr>
          <a:xfrm>
            <a:off x="5730088"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4" name="Text 22"/>
          <p:cNvSpPr/>
          <p:nvPr/>
        </p:nvSpPr>
        <p:spPr>
          <a:xfrm>
            <a:off x="4892954"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fix: responder 409 si el id ya existe</a:t>
            </a:r>
            <a:endParaRPr lang="en-US" sz="1150" dirty="0"/>
          </a:p>
        </p:txBody>
      </p:sp>
      <p:sp>
        <p:nvSpPr>
          <p:cNvPr id="25" name="Shape 23"/>
          <p:cNvSpPr/>
          <p:nvPr/>
        </p:nvSpPr>
        <p:spPr>
          <a:xfrm>
            <a:off x="7861554"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6" name="Text 24"/>
          <p:cNvSpPr/>
          <p:nvPr/>
        </p:nvSpPr>
        <p:spPr>
          <a:xfrm>
            <a:off x="7024421"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docs: documentar POST /solicitudes</a:t>
            </a:r>
            <a:endParaRPr lang="en-US" sz="1150" dirty="0"/>
          </a:p>
        </p:txBody>
      </p:sp>
      <p:sp>
        <p:nvSpPr>
          <p:cNvPr id="27" name="Shape 25"/>
          <p:cNvSpPr/>
          <p:nvPr/>
        </p:nvSpPr>
        <p:spPr>
          <a:xfrm>
            <a:off x="1280160" y="5193792"/>
            <a:ext cx="310896" cy="310896"/>
          </a:xfrm>
          <a:prstGeom prst="ellipse">
            <a:avLst/>
          </a:prstGeom>
          <a:solidFill>
            <a:srgbClr val="0B2350"/>
          </a:solidFill>
          <a:ln w="25400">
            <a:solidFill>
              <a:srgbClr val="FFFFFF"/>
            </a:solidFill>
            <a:prstDash val="solid"/>
          </a:ln>
        </p:spPr>
      </p:sp>
      <p:sp>
        <p:nvSpPr>
          <p:cNvPr id="28" name="Shape 26"/>
          <p:cNvSpPr/>
          <p:nvPr/>
        </p:nvSpPr>
        <p:spPr>
          <a:xfrm>
            <a:off x="1920240" y="5193792"/>
            <a:ext cx="310896" cy="310896"/>
          </a:xfrm>
          <a:prstGeom prst="ellipse">
            <a:avLst/>
          </a:prstGeom>
          <a:solidFill>
            <a:srgbClr val="0B2350"/>
          </a:solidFill>
          <a:ln w="25400">
            <a:solidFill>
              <a:srgbClr val="FFFFFF"/>
            </a:solidFill>
            <a:prstDash val="solid"/>
          </a:ln>
        </p:spPr>
      </p:sp>
      <p:sp>
        <p:nvSpPr>
          <p:cNvPr id="29" name="Shape 27"/>
          <p:cNvSpPr/>
          <p:nvPr/>
        </p:nvSpPr>
        <p:spPr>
          <a:xfrm>
            <a:off x="9594799" y="5193792"/>
            <a:ext cx="310896" cy="310896"/>
          </a:xfrm>
          <a:prstGeom prst="ellipse">
            <a:avLst/>
          </a:prstGeom>
          <a:solidFill>
            <a:srgbClr val="0B2350"/>
          </a:solidFill>
          <a:ln w="25400">
            <a:solidFill>
              <a:srgbClr val="FFFFFF"/>
            </a:solidFill>
            <a:prstDash val="solid"/>
          </a:ln>
        </p:spPr>
      </p:sp>
      <p:sp>
        <p:nvSpPr>
          <p:cNvPr id="30" name="Shape 28"/>
          <p:cNvSpPr/>
          <p:nvPr/>
        </p:nvSpPr>
        <p:spPr>
          <a:xfrm>
            <a:off x="10600639" y="5193792"/>
            <a:ext cx="310896" cy="310896"/>
          </a:xfrm>
          <a:prstGeom prst="ellipse">
            <a:avLst/>
          </a:prstGeom>
          <a:solidFill>
            <a:srgbClr val="0B2350"/>
          </a:solidFill>
          <a:ln w="25400">
            <a:solidFill>
              <a:srgbClr val="FFFFFF"/>
            </a:solidFill>
            <a:prstDash val="solid"/>
          </a:ln>
        </p:spPr>
      </p:sp>
      <p:sp>
        <p:nvSpPr>
          <p:cNvPr id="31" name="Shape 29"/>
          <p:cNvSpPr/>
          <p:nvPr/>
        </p:nvSpPr>
        <p:spPr>
          <a:xfrm>
            <a:off x="6275527" y="4142232"/>
            <a:ext cx="3154680" cy="749808"/>
          </a:xfrm>
          <a:prstGeom prst="roundRect">
            <a:avLst>
              <a:gd name="adj" fmla="val 17073"/>
            </a:avLst>
          </a:prstGeom>
          <a:solidFill>
            <a:srgbClr val="E1F1EA"/>
          </a:solidFill>
          <a:ln w="12700">
            <a:solidFill>
              <a:srgbClr val="85B3A4"/>
            </a:solidFill>
            <a:prstDash val="solid"/>
          </a:ln>
          <a:effectLst>
            <a:outerShdw sx="100000" sy="100000" kx="0" ky="0" algn="bl" rotWithShape="0" blurRad="76200" dist="19050" dir="5400000">
              <a:srgbClr val="0B1F3A">
                <a:alpha val="14000"/>
              </a:srgbClr>
            </a:outerShdw>
          </a:effectLst>
        </p:spPr>
      </p:sp>
      <p:sp>
        <p:nvSpPr>
          <p:cNvPr id="32" name="Icono git-pull-request"/>
          <p:cNvSpPr/>
          <p:nvPr/>
        </p:nvSpPr>
        <p:spPr>
          <a:xfrm>
            <a:off x="6421831" y="4325112"/>
            <a:ext cx="384048" cy="384048"/>
          </a:xfrm>
          <a:custGeom>
            <a:avLst/>
            <a:gdLst/>
            <a:ahLst/>
            <a:cxnLst/>
            <a:rect l="l" t="t" r="r" b="b"/>
            <a:pathLst>
              <a:path w="384048" h="384048">
                <a:moveTo>
                  <a:pt x="336042" y="288036"/>
                </a:moveTo>
                <a:cubicBezTo>
                  <a:pt x="336042" y="314549"/>
                  <a:pt x="314549" y="336042"/>
                  <a:pt x="288036" y="336042"/>
                </a:cubicBezTo>
                <a:cubicBezTo>
                  <a:pt x="261523" y="336042"/>
                  <a:pt x="240030" y="314549"/>
                  <a:pt x="240030" y="288036"/>
                </a:cubicBezTo>
                <a:cubicBezTo>
                  <a:pt x="240030" y="261523"/>
                  <a:pt x="261523" y="240030"/>
                  <a:pt x="288036" y="240030"/>
                </a:cubicBezTo>
                <a:cubicBezTo>
                  <a:pt x="314549" y="240030"/>
                  <a:pt x="336042" y="261523"/>
                  <a:pt x="336042" y="288036"/>
                </a:cubicBezTo>
                <a:close/>
                <a:moveTo>
                  <a:pt x="144018" y="96012"/>
                </a:moveTo>
                <a:cubicBezTo>
                  <a:pt x="144018" y="122525"/>
                  <a:pt x="122525" y="144018"/>
                  <a:pt x="96012" y="144018"/>
                </a:cubicBezTo>
                <a:cubicBezTo>
                  <a:pt x="69499" y="144018"/>
                  <a:pt x="48006" y="122525"/>
                  <a:pt x="48006" y="96012"/>
                </a:cubicBezTo>
                <a:cubicBezTo>
                  <a:pt x="48006" y="69499"/>
                  <a:pt x="69499" y="48006"/>
                  <a:pt x="96012" y="48006"/>
                </a:cubicBezTo>
                <a:cubicBezTo>
                  <a:pt x="122525" y="48006"/>
                  <a:pt x="144018" y="69499"/>
                  <a:pt x="144018" y="96012"/>
                </a:cubicBezTo>
                <a:close/>
                <a:moveTo>
                  <a:pt x="208026" y="96012"/>
                </a:moveTo>
                <a:lnTo>
                  <a:pt x="256032" y="96012"/>
                </a:lnTo>
                <a:cubicBezTo>
                  <a:pt x="273707" y="96012"/>
                  <a:pt x="288036" y="110341"/>
                  <a:pt x="288036" y="128016"/>
                </a:cubicBezTo>
                <a:lnTo>
                  <a:pt x="288036" y="240030"/>
                </a:lnTo>
                <a:moveTo>
                  <a:pt x="96012" y="144018"/>
                </a:moveTo>
                <a:lnTo>
                  <a:pt x="96012" y="336042"/>
                </a:lnTo>
              </a:path>
            </a:pathLst>
          </a:custGeom>
          <a:noFill/>
          <a:ln w="32004" cap="rnd">
            <a:solidFill>
              <a:srgbClr val="0A6648"/>
            </a:solidFill>
            <a:prstDash val="solid"/>
            <a:round/>
          </a:ln>
        </p:spPr>
      </p:sp>
      <p:sp>
        <p:nvSpPr>
          <p:cNvPr id="33" name="Text 31"/>
          <p:cNvSpPr/>
          <p:nvPr/>
        </p:nvSpPr>
        <p:spPr>
          <a:xfrm>
            <a:off x="6915607" y="4197096"/>
            <a:ext cx="2423160" cy="640080"/>
          </a:xfrm>
          <a:prstGeom prst="rect">
            <a:avLst/>
          </a:prstGeom>
          <a:noFill/>
          <a:ln/>
        </p:spPr>
        <p:txBody>
          <a:bodyPr wrap="square" lIns="0" tIns="0" rIns="0" bIns="0" rtlCol="0" anchor="ctr">
            <a:normAutofit/>
          </a:bodyPr>
          <a:lstStyle/>
          <a:p>
            <a:pPr algn="l" indent="0" marL="0">
              <a:buNone/>
            </a:pPr>
            <a:r>
              <a:rPr lang="en-US" sz="1250" b="1" dirty="0">
                <a:solidFill>
                  <a:srgbClr val="0A6648"/>
                </a:solidFill>
                <a:latin typeface="Segoe UI" pitchFamily="34" charset="0"/>
                <a:ea typeface="Segoe UI" pitchFamily="34" charset="-122"/>
                <a:cs typeface="Segoe UI" pitchFamily="34" charset="-120"/>
              </a:rPr>
              <a:t>Pull Request: una aprobación y el pipeline en verde</a:t>
            </a:r>
            <a:endParaRPr lang="en-US" sz="1250" dirty="0"/>
          </a:p>
        </p:txBody>
      </p:sp>
      <p:sp>
        <p:nvSpPr>
          <p:cNvPr id="34" name="Text 3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workflow"/>
          <p:cNvSpPr/>
          <p:nvPr/>
        </p:nvSpPr>
        <p:spPr>
          <a:xfrm>
            <a:off x="1058144" y="1817096"/>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jobs en paralelo, uno por servicio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imagen por commit</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ower"/>
          <p:cNvSpPr/>
          <p:nvPr/>
        </p:nvSpPr>
        <p:spPr>
          <a:xfrm>
            <a:off x="4258544" y="1955780"/>
            <a:ext cx="370881" cy="370881"/>
          </a:xfrm>
          <a:custGeom>
            <a:avLst/>
            <a:gdLst/>
            <a:ahLst/>
            <a:cxnLst/>
            <a:rect l="l" t="t" r="r" b="b"/>
            <a:pathLst>
              <a:path w="370881" h="370881">
                <a:moveTo>
                  <a:pt x="185440" y="30907"/>
                </a:moveTo>
                <a:lnTo>
                  <a:pt x="185440" y="185440"/>
                </a:lnTo>
                <a:moveTo>
                  <a:pt x="284342" y="101992"/>
                </a:moveTo>
                <a:cubicBezTo>
                  <a:pt x="338561" y="156231"/>
                  <a:pt x="338642" y="244125"/>
                  <a:pt x="284523" y="298464"/>
                </a:cubicBezTo>
                <a:cubicBezTo>
                  <a:pt x="230404" y="352803"/>
                  <a:pt x="142511" y="353078"/>
                  <a:pt x="88052" y="299079"/>
                </a:cubicBezTo>
                <a:cubicBezTo>
                  <a:pt x="33594" y="245080"/>
                  <a:pt x="33124" y="157188"/>
                  <a:pt x="87002" y="102610"/>
                </a:cubicBez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Probar que arranca, no solo que compila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pipeline levanta el JAR y consulta GET /solicitudes.</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Los errores de configuración aparecen antes de desplegar.</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hash"/>
          <p:cNvSpPr/>
          <p:nvPr/>
        </p:nvSpPr>
        <p:spPr>
          <a:xfrm>
            <a:off x="4258544" y="3677900"/>
            <a:ext cx="370881" cy="370881"/>
          </a:xfrm>
          <a:custGeom>
            <a:avLst/>
            <a:gdLst/>
            <a:ahLst/>
            <a:cxnLst/>
            <a:rect l="l" t="t" r="r" b="b"/>
            <a:pathLst>
              <a:path w="370881" h="370881">
                <a:moveTo>
                  <a:pt x="61813" y="139080"/>
                </a:moveTo>
                <a:lnTo>
                  <a:pt x="309067" y="139080"/>
                </a:lnTo>
                <a:moveTo>
                  <a:pt x="61813" y="231800"/>
                </a:moveTo>
                <a:lnTo>
                  <a:pt x="309067" y="231800"/>
                </a:lnTo>
                <a:moveTo>
                  <a:pt x="154534" y="46360"/>
                </a:moveTo>
                <a:lnTo>
                  <a:pt x="123627" y="324521"/>
                </a:lnTo>
                <a:moveTo>
                  <a:pt x="247254" y="46360"/>
                </a:moveTo>
                <a:lnTo>
                  <a:pt x="216347" y="324521"/>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Cada imagen se rastrea a su commit</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Etiqueta con el SHA en GHCR.</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Saber qué código corre y volver atrás con certeza.</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it-merge"/>
          <p:cNvSpPr/>
          <p:nvPr/>
        </p:nvSpPr>
        <p:spPr>
          <a:xfrm>
            <a:off x="4258544" y="540002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92720" y="324521"/>
                </a:moveTo>
                <a:lnTo>
                  <a:pt x="92720" y="139080"/>
                </a:lnTo>
                <a:cubicBezTo>
                  <a:pt x="92720" y="215892"/>
                  <a:pt x="154989" y="278160"/>
                  <a:pt x="231800" y="278160"/>
                </a:cubicBez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El pipeline es la puerta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Pull Request, una aprobación y todo en verde.</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La calidad no depende de la memoria de nadie.</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8" name="Shape 16"/>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20" name="Text 18"/>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2" name="Text 20"/>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3" name="Shape 21"/>
          <p:cNvSpPr/>
          <p:nvPr/>
        </p:nvSpPr>
        <p:spPr>
          <a:xfrm>
            <a:off x="2806408" y="2875788"/>
            <a:ext cx="1095680" cy="0"/>
          </a:xfrm>
          <a:prstGeom prst="line">
            <a:avLst/>
          </a:prstGeom>
          <a:noFill/>
          <a:ln w="38100">
            <a:solidFill>
              <a:srgbClr val="2BA6CB"/>
            </a:solidFill>
            <a:prstDash val="solid"/>
            <a:tailEnd type="triangle"/>
          </a:ln>
        </p:spPr>
      </p:sp>
      <p:sp>
        <p:nvSpPr>
          <p:cNvPr id="24" name="Shape 22"/>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5" name="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6" name="Text 24"/>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8" name="Text 26"/>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9" name="Shape 27"/>
          <p:cNvSpPr/>
          <p:nvPr/>
        </p:nvSpPr>
        <p:spPr>
          <a:xfrm>
            <a:off x="5548008" y="2875788"/>
            <a:ext cx="1095680" cy="0"/>
          </a:xfrm>
          <a:prstGeom prst="line">
            <a:avLst/>
          </a:prstGeom>
          <a:noFill/>
          <a:ln w="38100">
            <a:solidFill>
              <a:srgbClr val="2BA6CB"/>
            </a:solidFill>
            <a:prstDash val="solid"/>
            <a:tailEnd type="triangle"/>
          </a:ln>
        </p:spPr>
      </p:sp>
      <p:sp>
        <p:nvSpPr>
          <p:cNvPr id="30" name="Shape 28"/>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2" name="Text 30"/>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4" name="Text 32"/>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5" name="Shape 33"/>
          <p:cNvSpPr/>
          <p:nvPr/>
        </p:nvSpPr>
        <p:spPr>
          <a:xfrm>
            <a:off x="8289608" y="2875788"/>
            <a:ext cx="1095680" cy="0"/>
          </a:xfrm>
          <a:prstGeom prst="line">
            <a:avLst/>
          </a:prstGeom>
          <a:noFill/>
          <a:ln w="38100">
            <a:solidFill>
              <a:srgbClr val="2BA6CB"/>
            </a:solidFill>
            <a:prstDash val="solid"/>
            <a:tailEnd type="triangle"/>
          </a:ln>
        </p:spPr>
      </p:sp>
      <p:sp>
        <p:nvSpPr>
          <p:cNvPr id="36" name="Shape 34"/>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8" name="Text 36"/>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40" name="Text 38"/>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Salud de cada servicio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18" name="Image 0" descr="La pestaña Salud de la UI">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Cada servicio responde: ¿estás bien?</a:t>
            </a:r>
            <a:endParaRPr lang="en-US" sz="2400" dirty="0"/>
          </a:p>
        </p:txBody>
      </p:sp>
      <p:sp>
        <p:nvSpPr>
          <p:cNvPr id="21" name="Shape 18"/>
          <p:cNvSpPr/>
          <p:nvPr/>
        </p:nvSpPr>
        <p:spPr>
          <a:xfrm>
            <a:off x="612648" y="2816352"/>
            <a:ext cx="420624" cy="420624"/>
          </a:xfrm>
          <a:prstGeom prst="ellipse">
            <a:avLst/>
          </a:prstGeom>
          <a:solidFill>
            <a:srgbClr val="E3F4FA"/>
          </a:solidFill>
          <a:ln w="12700">
            <a:solidFill>
              <a:srgbClr val="E3F4FA"/>
            </a:solidFill>
            <a:prstDash val="solid"/>
          </a:ln>
        </p:spPr>
      </p:sp>
      <p:sp>
        <p:nvSpPr>
          <p:cNvPr id="22" name="Icono heart-pulse"/>
          <p:cNvSpPr/>
          <p:nvPr/>
        </p:nvSpPr>
        <p:spPr>
          <a:xfrm>
            <a:off x="713598" y="2917302"/>
            <a:ext cx="218724" cy="218724"/>
          </a:xfrm>
          <a:custGeom>
            <a:avLst/>
            <a:gdLst/>
            <a:ahLst/>
            <a:cxnLst/>
            <a:rect l="l" t="t" r="r" b="b"/>
            <a:pathLst>
              <a:path w="218724" h="218724">
                <a:moveTo>
                  <a:pt x="173157" y="127589"/>
                </a:moveTo>
                <a:cubicBezTo>
                  <a:pt x="186736" y="114284"/>
                  <a:pt x="200497" y="98335"/>
                  <a:pt x="200497" y="77465"/>
                </a:cubicBezTo>
                <a:cubicBezTo>
                  <a:pt x="200497" y="49782"/>
                  <a:pt x="178056" y="27341"/>
                  <a:pt x="150373" y="27341"/>
                </a:cubicBezTo>
                <a:cubicBezTo>
                  <a:pt x="134333" y="27341"/>
                  <a:pt x="123033" y="31897"/>
                  <a:pt x="109362" y="45568"/>
                </a:cubicBezTo>
                <a:cubicBezTo>
                  <a:pt x="95692" y="31897"/>
                  <a:pt x="84391" y="27341"/>
                  <a:pt x="68351" y="27341"/>
                </a:cubicBezTo>
                <a:cubicBezTo>
                  <a:pt x="40668" y="27341"/>
                  <a:pt x="18227" y="49782"/>
                  <a:pt x="18227" y="77465"/>
                </a:cubicBezTo>
                <a:cubicBezTo>
                  <a:pt x="18227" y="98426"/>
                  <a:pt x="31897" y="114375"/>
                  <a:pt x="45568" y="127589"/>
                </a:cubicBezTo>
                <a:lnTo>
                  <a:pt x="109362" y="191384"/>
                </a:lnTo>
                <a:close/>
                <a:moveTo>
                  <a:pt x="29346" y="109362"/>
                </a:moveTo>
                <a:lnTo>
                  <a:pt x="86578" y="109362"/>
                </a:lnTo>
                <a:lnTo>
                  <a:pt x="91135" y="100249"/>
                </a:lnTo>
                <a:lnTo>
                  <a:pt x="109362" y="141260"/>
                </a:lnTo>
                <a:lnTo>
                  <a:pt x="127589" y="77465"/>
                </a:lnTo>
                <a:lnTo>
                  <a:pt x="141260" y="109362"/>
                </a:lnTo>
                <a:lnTo>
                  <a:pt x="189288" y="109362"/>
                </a:lnTo>
              </a:path>
            </a:pathLst>
          </a:custGeom>
          <a:noFill/>
          <a:ln w="18227" cap="rnd">
            <a:solidFill>
              <a:srgbClr val="0B6E8A"/>
            </a:solidFill>
            <a:prstDash val="solid"/>
            <a:round/>
          </a:ln>
        </p:spPr>
      </p:sp>
      <p:sp>
        <p:nvSpPr>
          <p:cNvPr id="23" name="Text 20"/>
          <p:cNvSpPr/>
          <p:nvPr/>
        </p:nvSpPr>
        <p:spPr>
          <a:xfrm>
            <a:off x="1161288" y="2697480"/>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Actuator expone health, info y métricas</a:t>
            </a:r>
            <a:endParaRPr lang="en-US" sz="1350" dirty="0"/>
          </a:p>
        </p:txBody>
      </p:sp>
      <p:sp>
        <p:nvSpPr>
          <p:cNvPr id="24" name="Shape 21"/>
          <p:cNvSpPr/>
          <p:nvPr/>
        </p:nvSpPr>
        <p:spPr>
          <a:xfrm>
            <a:off x="612648" y="3474720"/>
            <a:ext cx="420624" cy="420624"/>
          </a:xfrm>
          <a:prstGeom prst="ellipse">
            <a:avLst/>
          </a:prstGeom>
          <a:solidFill>
            <a:srgbClr val="E3F4FA"/>
          </a:solidFill>
          <a:ln w="12700">
            <a:solidFill>
              <a:srgbClr val="E3F4FA"/>
            </a:solidFill>
            <a:prstDash val="solid"/>
          </a:ln>
        </p:spPr>
      </p:sp>
      <p:sp>
        <p:nvSpPr>
          <p:cNvPr id="25" name="Icono database"/>
          <p:cNvSpPr/>
          <p:nvPr/>
        </p:nvSpPr>
        <p:spPr>
          <a:xfrm>
            <a:off x="713598" y="3575670"/>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0B6E8A"/>
            </a:solidFill>
            <a:prstDash val="solid"/>
            <a:round/>
          </a:ln>
        </p:spPr>
      </p:sp>
      <p:sp>
        <p:nvSpPr>
          <p:cNvPr id="26" name="Text 23"/>
          <p:cNvSpPr/>
          <p:nvPr/>
        </p:nvSpPr>
        <p:spPr>
          <a:xfrm>
            <a:off x="1161288" y="3355848"/>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salud revisa la conexión con la base</a:t>
            </a:r>
            <a:endParaRPr lang="en-US" sz="1350" dirty="0"/>
          </a:p>
        </p:txBody>
      </p:sp>
      <p:sp>
        <p:nvSpPr>
          <p:cNvPr id="27" name="Shape 24"/>
          <p:cNvSpPr/>
          <p:nvPr/>
        </p:nvSpPr>
        <p:spPr>
          <a:xfrm>
            <a:off x="612648" y="4133088"/>
            <a:ext cx="420624" cy="420624"/>
          </a:xfrm>
          <a:prstGeom prst="ellipse">
            <a:avLst/>
          </a:prstGeom>
          <a:solidFill>
            <a:srgbClr val="E3F4FA"/>
          </a:solidFill>
          <a:ln w="12700">
            <a:solidFill>
              <a:srgbClr val="E3F4FA"/>
            </a:solidFill>
            <a:prstDash val="solid"/>
          </a:ln>
        </p:spPr>
      </p:sp>
      <p:sp>
        <p:nvSpPr>
          <p:cNvPr id="28" name="Icono ship-wheel"/>
          <p:cNvSpPr/>
          <p:nvPr/>
        </p:nvSpPr>
        <p:spPr>
          <a:xfrm>
            <a:off x="713598" y="4234038"/>
            <a:ext cx="218724" cy="218724"/>
          </a:xfrm>
          <a:custGeom>
            <a:avLst/>
            <a:gdLst/>
            <a:ahLst/>
            <a:cxnLst/>
            <a:rect l="l" t="t" r="r" b="b"/>
            <a:pathLst>
              <a:path w="218724" h="218724">
                <a:moveTo>
                  <a:pt x="182270" y="109362"/>
                </a:moveTo>
                <a:cubicBezTo>
                  <a:pt x="182270" y="149628"/>
                  <a:pt x="149628" y="182270"/>
                  <a:pt x="109362" y="182270"/>
                </a:cubicBezTo>
                <a:cubicBezTo>
                  <a:pt x="69096" y="182270"/>
                  <a:pt x="36454" y="149628"/>
                  <a:pt x="36454" y="109362"/>
                </a:cubicBezTo>
                <a:cubicBezTo>
                  <a:pt x="36454" y="69096"/>
                  <a:pt x="69096" y="36454"/>
                  <a:pt x="109362" y="36454"/>
                </a:cubicBezTo>
                <a:cubicBezTo>
                  <a:pt x="149628" y="36454"/>
                  <a:pt x="182270" y="69096"/>
                  <a:pt x="182270" y="109362"/>
                </a:cubicBezTo>
                <a:close/>
                <a:moveTo>
                  <a:pt x="109362" y="18227"/>
                </a:moveTo>
                <a:lnTo>
                  <a:pt x="109362" y="86578"/>
                </a:lnTo>
                <a:moveTo>
                  <a:pt x="173157" y="45568"/>
                </a:moveTo>
                <a:lnTo>
                  <a:pt x="125493" y="93231"/>
                </a:lnTo>
                <a:moveTo>
                  <a:pt x="200497" y="109362"/>
                </a:moveTo>
                <a:lnTo>
                  <a:pt x="132146" y="109362"/>
                </a:lnTo>
                <a:moveTo>
                  <a:pt x="173157" y="173157"/>
                </a:moveTo>
                <a:lnTo>
                  <a:pt x="125493" y="125493"/>
                </a:lnTo>
                <a:moveTo>
                  <a:pt x="109362" y="132146"/>
                </a:moveTo>
                <a:lnTo>
                  <a:pt x="109362" y="200497"/>
                </a:lnTo>
                <a:moveTo>
                  <a:pt x="93231" y="125493"/>
                </a:moveTo>
                <a:lnTo>
                  <a:pt x="45568" y="173157"/>
                </a:lnTo>
                <a:moveTo>
                  <a:pt x="86578" y="109362"/>
                </a:moveTo>
                <a:lnTo>
                  <a:pt x="18227" y="109362"/>
                </a:lnTo>
                <a:moveTo>
                  <a:pt x="93231" y="93231"/>
                </a:moveTo>
                <a:lnTo>
                  <a:pt x="45568" y="45568"/>
                </a:lnTo>
                <a:moveTo>
                  <a:pt x="132146" y="109362"/>
                </a:moveTo>
                <a:cubicBezTo>
                  <a:pt x="132146" y="121945"/>
                  <a:pt x="121945" y="132146"/>
                  <a:pt x="109362" y="132146"/>
                </a:cubicBezTo>
                <a:cubicBezTo>
                  <a:pt x="96779" y="132146"/>
                  <a:pt x="86578" y="121945"/>
                  <a:pt x="86578" y="109362"/>
                </a:cubicBezTo>
                <a:cubicBezTo>
                  <a:pt x="86578" y="96779"/>
                  <a:pt x="96779" y="86578"/>
                  <a:pt x="109362" y="86578"/>
                </a:cubicBezTo>
                <a:cubicBezTo>
                  <a:pt x="121945" y="86578"/>
                  <a:pt x="132146" y="96779"/>
                  <a:pt x="132146" y="109362"/>
                </a:cubicBezTo>
                <a:close/>
              </a:path>
            </a:pathLst>
          </a:custGeom>
          <a:noFill/>
          <a:ln w="18227" cap="rnd">
            <a:solidFill>
              <a:srgbClr val="0B6E8A"/>
            </a:solidFill>
            <a:prstDash val="solid"/>
            <a:round/>
          </a:ln>
        </p:spPr>
      </p:sp>
      <p:sp>
        <p:nvSpPr>
          <p:cNvPr id="29" name="Text 26"/>
          <p:cNvSpPr/>
          <p:nvPr/>
        </p:nvSpPr>
        <p:spPr>
          <a:xfrm>
            <a:off x="1161288" y="4014216"/>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Kubernetes y la UI la consultan</a:t>
            </a:r>
            <a:endParaRPr lang="en-US" sz="1350" dirty="0"/>
          </a:p>
        </p:txBody>
      </p:sp>
      <p:sp>
        <p:nvSpPr>
          <p:cNvPr id="30" name="Shape 27"/>
          <p:cNvSpPr/>
          <p:nvPr/>
        </p:nvSpPr>
        <p:spPr>
          <a:xfrm>
            <a:off x="612648" y="4791456"/>
            <a:ext cx="420624" cy="420624"/>
          </a:xfrm>
          <a:prstGeom prst="ellipse">
            <a:avLst/>
          </a:prstGeom>
          <a:solidFill>
            <a:srgbClr val="E3F4FA"/>
          </a:solidFill>
          <a:ln w="12700">
            <a:solidFill>
              <a:srgbClr val="E3F4FA"/>
            </a:solidFill>
            <a:prstDash val="solid"/>
          </a:ln>
        </p:spPr>
      </p:sp>
      <p:sp>
        <p:nvSpPr>
          <p:cNvPr id="31" name="Icono triangle-alert"/>
          <p:cNvSpPr/>
          <p:nvPr/>
        </p:nvSpPr>
        <p:spPr>
          <a:xfrm>
            <a:off x="713598" y="4892406"/>
            <a:ext cx="218724" cy="218724"/>
          </a:xfrm>
          <a:custGeom>
            <a:avLst/>
            <a:gdLst/>
            <a:ahLst/>
            <a:cxnLst/>
            <a:rect l="l" t="t" r="r" b="b"/>
            <a:pathLst>
              <a:path w="218724" h="218724">
                <a:moveTo>
                  <a:pt x="198037" y="164043"/>
                </a:moveTo>
                <a:lnTo>
                  <a:pt x="125129" y="36454"/>
                </a:lnTo>
                <a:cubicBezTo>
                  <a:pt x="121892" y="30743"/>
                  <a:pt x="115835" y="27214"/>
                  <a:pt x="109271" y="27214"/>
                </a:cubicBezTo>
                <a:cubicBezTo>
                  <a:pt x="102707" y="27214"/>
                  <a:pt x="96650" y="30743"/>
                  <a:pt x="93414" y="36454"/>
                </a:cubicBezTo>
                <a:lnTo>
                  <a:pt x="20505" y="164043"/>
                </a:lnTo>
                <a:cubicBezTo>
                  <a:pt x="17234" y="169708"/>
                  <a:pt x="17250" y="176691"/>
                  <a:pt x="20546" y="182342"/>
                </a:cubicBezTo>
                <a:cubicBezTo>
                  <a:pt x="23842" y="187992"/>
                  <a:pt x="29913" y="191443"/>
                  <a:pt x="36454" y="191384"/>
                </a:cubicBezTo>
                <a:lnTo>
                  <a:pt x="182270" y="191384"/>
                </a:lnTo>
                <a:cubicBezTo>
                  <a:pt x="188779" y="191377"/>
                  <a:pt x="194790" y="187901"/>
                  <a:pt x="198041" y="182262"/>
                </a:cubicBezTo>
                <a:cubicBezTo>
                  <a:pt x="201293" y="176624"/>
                  <a:pt x="201291" y="169680"/>
                  <a:pt x="198037" y="164043"/>
                </a:cubicBezTo>
                <a:moveTo>
                  <a:pt x="109362" y="82022"/>
                </a:moveTo>
                <a:lnTo>
                  <a:pt x="109362" y="118476"/>
                </a:lnTo>
                <a:moveTo>
                  <a:pt x="109362" y="154930"/>
                </a:moveTo>
                <a:lnTo>
                  <a:pt x="109453" y="154930"/>
                </a:lnTo>
              </a:path>
            </a:pathLst>
          </a:custGeom>
          <a:noFill/>
          <a:ln w="18227" cap="rnd">
            <a:solidFill>
              <a:srgbClr val="0B6E8A"/>
            </a:solidFill>
            <a:prstDash val="solid"/>
            <a:round/>
          </a:ln>
        </p:spPr>
      </p:sp>
      <p:sp>
        <p:nvSpPr>
          <p:cNvPr id="32" name="Text 29"/>
          <p:cNvSpPr/>
          <p:nvPr/>
        </p:nvSpPr>
        <p:spPr>
          <a:xfrm>
            <a:off x="1161288" y="4672584"/>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UP no garantiza que todos los avisos llegaron</a:t>
            </a:r>
            <a:endParaRPr lang="en-US" sz="1350" dirty="0"/>
          </a:p>
        </p:txBody>
      </p:sp>
      <p:sp>
        <p:nvSpPr>
          <p:cNvPr id="33"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Observabilidad: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hart-line"/>
          <p:cNvSpPr/>
          <p:nvPr/>
        </p:nvSpPr>
        <p:spPr>
          <a:xfrm>
            <a:off x="1058144" y="1817096"/>
            <a:ext cx="370881" cy="370881"/>
          </a:xfrm>
          <a:custGeom>
            <a:avLst/>
            <a:gdLst/>
            <a:ahLst/>
            <a:cxnLst/>
            <a:rect l="l" t="t" r="r" b="b"/>
            <a:pathLst>
              <a:path w="370881" h="370881">
                <a:moveTo>
                  <a:pt x="46360" y="46360"/>
                </a:moveTo>
                <a:lnTo>
                  <a:pt x="46360" y="293614"/>
                </a:lnTo>
                <a:cubicBezTo>
                  <a:pt x="46360" y="310683"/>
                  <a:pt x="60197" y="324521"/>
                  <a:pt x="77267" y="324521"/>
                </a:cubicBezTo>
                <a:lnTo>
                  <a:pt x="324521" y="324521"/>
                </a:lnTo>
                <a:moveTo>
                  <a:pt x="293614" y="139080"/>
                </a:moveTo>
                <a:lnTo>
                  <a:pt x="216347" y="216347"/>
                </a:lnTo>
                <a:lnTo>
                  <a:pt x="154534" y="154534"/>
                </a:lnTo>
                <a:lnTo>
                  <a:pt x="108174" y="200894"/>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lugar para buscar todos los logs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8</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contenedores observados</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braces"/>
          <p:cNvSpPr/>
          <p:nvPr/>
        </p:nvSpPr>
        <p:spPr>
          <a:xfrm>
            <a:off x="4258544" y="1955780"/>
            <a:ext cx="370881" cy="370881"/>
          </a:xfrm>
          <a:custGeom>
            <a:avLst/>
            <a:gdLst/>
            <a:ahLst/>
            <a:cxnLst/>
            <a:rect l="l" t="t" r="r" b="b"/>
            <a:pathLst>
              <a:path w="370881" h="370881">
                <a:moveTo>
                  <a:pt x="123627" y="46360"/>
                </a:moveTo>
                <a:lnTo>
                  <a:pt x="108174" y="46360"/>
                </a:lnTo>
                <a:cubicBezTo>
                  <a:pt x="91104" y="46360"/>
                  <a:pt x="77267" y="60197"/>
                  <a:pt x="77267" y="77267"/>
                </a:cubicBezTo>
                <a:lnTo>
                  <a:pt x="77267" y="154534"/>
                </a:lnTo>
                <a:cubicBezTo>
                  <a:pt x="77267" y="171603"/>
                  <a:pt x="63429" y="185440"/>
                  <a:pt x="46360" y="185440"/>
                </a:cubicBezTo>
                <a:cubicBezTo>
                  <a:pt x="63429" y="185440"/>
                  <a:pt x="77267" y="199278"/>
                  <a:pt x="77267" y="216347"/>
                </a:cubicBezTo>
                <a:lnTo>
                  <a:pt x="77267" y="293614"/>
                </a:lnTo>
                <a:cubicBezTo>
                  <a:pt x="77267" y="310613"/>
                  <a:pt x="91175" y="324521"/>
                  <a:pt x="108174" y="324521"/>
                </a:cubicBezTo>
                <a:lnTo>
                  <a:pt x="123627" y="324521"/>
                </a:lnTo>
                <a:moveTo>
                  <a:pt x="247254" y="324521"/>
                </a:moveTo>
                <a:lnTo>
                  <a:pt x="262707" y="324521"/>
                </a:lnTo>
                <a:cubicBezTo>
                  <a:pt x="279776" y="324521"/>
                  <a:pt x="293614" y="310683"/>
                  <a:pt x="293614" y="293614"/>
                </a:cubicBezTo>
                <a:lnTo>
                  <a:pt x="293614" y="216347"/>
                </a:lnTo>
                <a:cubicBezTo>
                  <a:pt x="293614" y="199348"/>
                  <a:pt x="307522" y="185440"/>
                  <a:pt x="324521" y="185440"/>
                </a:cubicBezTo>
                <a:cubicBezTo>
                  <a:pt x="307451" y="185440"/>
                  <a:pt x="293614" y="171603"/>
                  <a:pt x="293614" y="154534"/>
                </a:cubicBezTo>
                <a:lnTo>
                  <a:pt x="293614" y="77267"/>
                </a:lnTo>
                <a:cubicBezTo>
                  <a:pt x="293614" y="60197"/>
                  <a:pt x="279776" y="46360"/>
                  <a:pt x="262707" y="46360"/>
                </a:cubicBezTo>
                <a:lnTo>
                  <a:pt x="247254" y="463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Logs estructurados desde el día uno</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JSON con formato ECS, sin cambiar el código de negocio.</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Buscar por campo en lugar de leer texto.</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waypoints"/>
          <p:cNvSpPr/>
          <p:nvPr/>
        </p:nvSpPr>
        <p:spPr>
          <a:xfrm>
            <a:off x="4258544" y="3677900"/>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Un identificador que cruce servicios</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traceId propagado por el RestClient y eventoId en cada log.</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un fallo entre servicios en minutos.</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activity"/>
          <p:cNvSpPr/>
          <p:nvPr/>
        </p:nvSpPr>
        <p:spPr>
          <a:xfrm>
            <a:off x="4258544" y="5400020"/>
            <a:ext cx="370881" cy="370881"/>
          </a:xfrm>
          <a:custGeom>
            <a:avLst/>
            <a:gdLst/>
            <a:ahLst/>
            <a:cxnLst/>
            <a:rect l="l" t="t" r="r" b="b"/>
            <a:pathLst>
              <a:path w="370881" h="370881">
                <a:moveTo>
                  <a:pt x="339974" y="185440"/>
                </a:moveTo>
                <a:lnTo>
                  <a:pt x="301650" y="185440"/>
                </a:lnTo>
                <a:cubicBezTo>
                  <a:pt x="287770" y="185411"/>
                  <a:pt x="275572" y="194638"/>
                  <a:pt x="271825" y="208002"/>
                </a:cubicBezTo>
                <a:lnTo>
                  <a:pt x="235509" y="337192"/>
                </a:lnTo>
                <a:cubicBezTo>
                  <a:pt x="235028" y="338841"/>
                  <a:pt x="233517" y="339974"/>
                  <a:pt x="231800" y="339974"/>
                </a:cubicBezTo>
                <a:cubicBezTo>
                  <a:pt x="230083" y="339974"/>
                  <a:pt x="228572" y="338841"/>
                  <a:pt x="228092" y="337192"/>
                </a:cubicBezTo>
                <a:lnTo>
                  <a:pt x="142789" y="33688"/>
                </a:lnTo>
                <a:cubicBezTo>
                  <a:pt x="142308" y="32040"/>
                  <a:pt x="140797" y="30907"/>
                  <a:pt x="139080" y="30907"/>
                </a:cubicBezTo>
                <a:cubicBezTo>
                  <a:pt x="137363" y="30907"/>
                  <a:pt x="135852" y="32040"/>
                  <a:pt x="135371" y="33688"/>
                </a:cubicBezTo>
                <a:lnTo>
                  <a:pt x="99056" y="162878"/>
                </a:lnTo>
                <a:cubicBezTo>
                  <a:pt x="95324" y="176188"/>
                  <a:pt x="83208" y="185401"/>
                  <a:pt x="69386" y="185440"/>
                </a:cubicBezTo>
                <a:lnTo>
                  <a:pt x="30907" y="185440"/>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Salud no es lo mismo que correcto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UP dice que responde; los pendientes dicen si entrega.</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Medir el resultado del negocio, no solo el proceso.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Contratos vivos con Swagger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localhost:8080/swagger-ui/index.html</a:t>
            </a:r>
            <a:endParaRPr lang="en-US" sz="700" dirty="0"/>
          </a:p>
        </p:txBody>
      </p:sp>
      <p:pic>
        <p:nvPicPr>
          <p:cNvPr id="18" name="Image 0" descr="Swagger de solicitudes">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La documentación de la API sale del mismo código.</a:t>
            </a:r>
            <a:endParaRPr lang="en-US" sz="2400" dirty="0"/>
          </a:p>
        </p:txBody>
      </p:sp>
      <p:sp>
        <p:nvSpPr>
          <p:cNvPr id="21" name="Shape 18"/>
          <p:cNvSpPr/>
          <p:nvPr/>
        </p:nvSpPr>
        <p:spPr>
          <a:xfrm>
            <a:off x="612648" y="2778633"/>
            <a:ext cx="420624" cy="420624"/>
          </a:xfrm>
          <a:prstGeom prst="ellipse">
            <a:avLst/>
          </a:prstGeom>
          <a:solidFill>
            <a:srgbClr val="E3F4FA"/>
          </a:solidFill>
          <a:ln w="12700">
            <a:solidFill>
              <a:srgbClr val="E3F4FA"/>
            </a:solidFill>
            <a:prstDash val="solid"/>
          </a:ln>
        </p:spPr>
      </p:sp>
      <p:sp>
        <p:nvSpPr>
          <p:cNvPr id="22" name="Icono file-json"/>
          <p:cNvSpPr/>
          <p:nvPr/>
        </p:nvSpPr>
        <p:spPr>
          <a:xfrm>
            <a:off x="713598" y="2879583"/>
            <a:ext cx="218724" cy="218724"/>
          </a:xfrm>
          <a:custGeom>
            <a:avLst/>
            <a:gdLst/>
            <a:ahLst/>
            <a:cxnLst/>
            <a:rect l="l" t="t" r="r" b="b"/>
            <a:pathLst>
              <a:path w="218724" h="218724">
                <a:moveTo>
                  <a:pt x="136703" y="18227"/>
                </a:moveTo>
                <a:lnTo>
                  <a:pt x="54681" y="18227"/>
                </a:lnTo>
                <a:cubicBezTo>
                  <a:pt x="44615" y="18227"/>
                  <a:pt x="36454" y="26388"/>
                  <a:pt x="36454" y="36454"/>
                </a:cubicBezTo>
                <a:lnTo>
                  <a:pt x="36454" y="182270"/>
                </a:lnTo>
                <a:cubicBezTo>
                  <a:pt x="36454" y="192337"/>
                  <a:pt x="44615" y="200497"/>
                  <a:pt x="54681" y="200497"/>
                </a:cubicBezTo>
                <a:lnTo>
                  <a:pt x="164043" y="200497"/>
                </a:lnTo>
                <a:cubicBezTo>
                  <a:pt x="174110" y="200497"/>
                  <a:pt x="182270" y="192337"/>
                  <a:pt x="182270" y="182270"/>
                </a:cubicBezTo>
                <a:lnTo>
                  <a:pt x="182270" y="63795"/>
                </a:lnTo>
                <a:close/>
                <a:moveTo>
                  <a:pt x="127589" y="18227"/>
                </a:moveTo>
                <a:lnTo>
                  <a:pt x="127589" y="54681"/>
                </a:lnTo>
                <a:cubicBezTo>
                  <a:pt x="127589" y="64748"/>
                  <a:pt x="135750" y="72908"/>
                  <a:pt x="145816" y="72908"/>
                </a:cubicBezTo>
                <a:lnTo>
                  <a:pt x="182270" y="72908"/>
                </a:lnTo>
                <a:moveTo>
                  <a:pt x="91135" y="109362"/>
                </a:moveTo>
                <a:cubicBezTo>
                  <a:pt x="86102" y="109362"/>
                  <a:pt x="82022" y="113443"/>
                  <a:pt x="82022" y="118476"/>
                </a:cubicBezTo>
                <a:lnTo>
                  <a:pt x="82022" y="127589"/>
                </a:lnTo>
                <a:cubicBezTo>
                  <a:pt x="82022" y="132623"/>
                  <a:pt x="77941" y="136703"/>
                  <a:pt x="72908" y="136703"/>
                </a:cubicBezTo>
                <a:cubicBezTo>
                  <a:pt x="77941" y="136703"/>
                  <a:pt x="82022" y="140783"/>
                  <a:pt x="82022" y="145816"/>
                </a:cubicBezTo>
                <a:lnTo>
                  <a:pt x="82022" y="154930"/>
                </a:lnTo>
                <a:cubicBezTo>
                  <a:pt x="82022" y="159963"/>
                  <a:pt x="86102" y="164043"/>
                  <a:pt x="91135" y="164043"/>
                </a:cubicBezTo>
                <a:moveTo>
                  <a:pt x="127589" y="164043"/>
                </a:moveTo>
                <a:cubicBezTo>
                  <a:pt x="132623" y="164043"/>
                  <a:pt x="136703" y="159963"/>
                  <a:pt x="136703" y="154930"/>
                </a:cubicBezTo>
                <a:lnTo>
                  <a:pt x="136703" y="145816"/>
                </a:lnTo>
                <a:cubicBezTo>
                  <a:pt x="136703" y="140783"/>
                  <a:pt x="140783" y="136703"/>
                  <a:pt x="145816" y="136703"/>
                </a:cubicBezTo>
                <a:cubicBezTo>
                  <a:pt x="140783" y="136703"/>
                  <a:pt x="136703" y="132623"/>
                  <a:pt x="136703" y="127589"/>
                </a:cubicBezTo>
                <a:lnTo>
                  <a:pt x="136703" y="118476"/>
                </a:lnTo>
                <a:cubicBezTo>
                  <a:pt x="136703" y="113443"/>
                  <a:pt x="132623" y="109362"/>
                  <a:pt x="127589" y="109362"/>
                </a:cubicBezTo>
              </a:path>
            </a:pathLst>
          </a:custGeom>
          <a:noFill/>
          <a:ln w="18227" cap="rnd">
            <a:solidFill>
              <a:srgbClr val="0B6E8A"/>
            </a:solidFill>
            <a:prstDash val="solid"/>
            <a:round/>
          </a:ln>
        </p:spPr>
      </p:sp>
      <p:sp>
        <p:nvSpPr>
          <p:cNvPr id="23" name="Text 20"/>
          <p:cNvSpPr/>
          <p:nvPr/>
        </p:nvSpPr>
        <p:spPr>
          <a:xfrm>
            <a:off x="1161288" y="269748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Cada servicio publica su contrato OpenAPI</a:t>
            </a:r>
            <a:endParaRPr lang="en-US" sz="1350" dirty="0"/>
          </a:p>
        </p:txBody>
      </p:sp>
      <p:sp>
        <p:nvSpPr>
          <p:cNvPr id="24" name="Shape 21"/>
          <p:cNvSpPr/>
          <p:nvPr/>
        </p:nvSpPr>
        <p:spPr>
          <a:xfrm>
            <a:off x="612648" y="3361563"/>
            <a:ext cx="420624" cy="420624"/>
          </a:xfrm>
          <a:prstGeom prst="ellipse">
            <a:avLst/>
          </a:prstGeom>
          <a:solidFill>
            <a:srgbClr val="E3F4FA"/>
          </a:solidFill>
          <a:ln w="12700">
            <a:solidFill>
              <a:srgbClr val="E3F4FA"/>
            </a:solidFill>
            <a:prstDash val="solid"/>
          </a:ln>
        </p:spPr>
      </p:sp>
      <p:sp>
        <p:nvSpPr>
          <p:cNvPr id="25" name="Icono play"/>
          <p:cNvSpPr/>
          <p:nvPr/>
        </p:nvSpPr>
        <p:spPr>
          <a:xfrm>
            <a:off x="713598" y="3462513"/>
            <a:ext cx="218724" cy="218724"/>
          </a:xfrm>
          <a:custGeom>
            <a:avLst/>
            <a:gdLst/>
            <a:ahLst/>
            <a:cxnLst/>
            <a:rect l="l" t="t" r="r" b="b"/>
            <a:pathLst>
              <a:path w="218724" h="218724">
                <a:moveTo>
                  <a:pt x="54681" y="27341"/>
                </a:moveTo>
                <a:lnTo>
                  <a:pt x="182270" y="109362"/>
                </a:lnTo>
                <a:lnTo>
                  <a:pt x="54681" y="191384"/>
                </a:lnTo>
                <a:lnTo>
                  <a:pt x="54681" y="27341"/>
                </a:lnTo>
                <a:close/>
              </a:path>
            </a:pathLst>
          </a:custGeom>
          <a:noFill/>
          <a:ln w="18227" cap="rnd">
            <a:solidFill>
              <a:srgbClr val="0B6E8A"/>
            </a:solidFill>
            <a:prstDash val="solid"/>
            <a:round/>
          </a:ln>
        </p:spPr>
      </p:sp>
      <p:sp>
        <p:nvSpPr>
          <p:cNvPr id="26" name="Text 23"/>
          <p:cNvSpPr/>
          <p:nvPr/>
        </p:nvSpPr>
        <p:spPr>
          <a:xfrm>
            <a:off x="1161288" y="328041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Swagger UI lo muestra y permite probarlo</a:t>
            </a:r>
            <a:endParaRPr lang="en-US" sz="1350" dirty="0"/>
          </a:p>
        </p:txBody>
      </p:sp>
      <p:sp>
        <p:nvSpPr>
          <p:cNvPr id="27" name="Shape 24"/>
          <p:cNvSpPr/>
          <p:nvPr/>
        </p:nvSpPr>
        <p:spPr>
          <a:xfrm>
            <a:off x="612648" y="3944493"/>
            <a:ext cx="420624" cy="420624"/>
          </a:xfrm>
          <a:prstGeom prst="ellipse">
            <a:avLst/>
          </a:prstGeom>
          <a:solidFill>
            <a:srgbClr val="E3F4FA"/>
          </a:solidFill>
          <a:ln w="12700">
            <a:solidFill>
              <a:srgbClr val="E3F4FA"/>
            </a:solidFill>
            <a:prstDash val="solid"/>
          </a:ln>
        </p:spPr>
      </p:sp>
      <p:sp>
        <p:nvSpPr>
          <p:cNvPr id="28" name="Icono sparkles"/>
          <p:cNvSpPr/>
          <p:nvPr/>
        </p:nvSpPr>
        <p:spPr>
          <a:xfrm>
            <a:off x="713598" y="4045443"/>
            <a:ext cx="218724" cy="218724"/>
          </a:xfrm>
          <a:custGeom>
            <a:avLst/>
            <a:gdLst/>
            <a:ahLst/>
            <a:cxnLst/>
            <a:rect l="l" t="t" r="r" b="b"/>
            <a:pathLst>
              <a:path w="218724" h="218724">
                <a:moveTo>
                  <a:pt x="90561" y="141260"/>
                </a:moveTo>
                <a:cubicBezTo>
                  <a:pt x="88904" y="134836"/>
                  <a:pt x="83888" y="129820"/>
                  <a:pt x="77465" y="128163"/>
                </a:cubicBezTo>
                <a:lnTo>
                  <a:pt x="21553" y="113746"/>
                </a:lnTo>
                <a:cubicBezTo>
                  <a:pt x="19593" y="113190"/>
                  <a:pt x="18241" y="111400"/>
                  <a:pt x="18241" y="109362"/>
                </a:cubicBezTo>
                <a:cubicBezTo>
                  <a:pt x="18241" y="107325"/>
                  <a:pt x="19593" y="105535"/>
                  <a:pt x="21553" y="104979"/>
                </a:cubicBezTo>
                <a:lnTo>
                  <a:pt x="77465" y="90552"/>
                </a:lnTo>
                <a:cubicBezTo>
                  <a:pt x="83886" y="88896"/>
                  <a:pt x="88901" y="83885"/>
                  <a:pt x="90561" y="77465"/>
                </a:cubicBezTo>
                <a:lnTo>
                  <a:pt x="104979" y="21553"/>
                </a:lnTo>
                <a:cubicBezTo>
                  <a:pt x="105529" y="19585"/>
                  <a:pt x="107323" y="18225"/>
                  <a:pt x="109367" y="18225"/>
                </a:cubicBezTo>
                <a:cubicBezTo>
                  <a:pt x="111410" y="18225"/>
                  <a:pt x="113204" y="19585"/>
                  <a:pt x="113755" y="21553"/>
                </a:cubicBezTo>
                <a:lnTo>
                  <a:pt x="128163" y="77465"/>
                </a:lnTo>
                <a:cubicBezTo>
                  <a:pt x="129820" y="83888"/>
                  <a:pt x="134836" y="88904"/>
                  <a:pt x="141260" y="90561"/>
                </a:cubicBezTo>
                <a:lnTo>
                  <a:pt x="197171" y="104970"/>
                </a:lnTo>
                <a:cubicBezTo>
                  <a:pt x="199147" y="105515"/>
                  <a:pt x="200516" y="107312"/>
                  <a:pt x="200516" y="109362"/>
                </a:cubicBezTo>
                <a:cubicBezTo>
                  <a:pt x="200516" y="111412"/>
                  <a:pt x="199147" y="113210"/>
                  <a:pt x="197171" y="113755"/>
                </a:cubicBezTo>
                <a:lnTo>
                  <a:pt x="141260" y="128163"/>
                </a:lnTo>
                <a:cubicBezTo>
                  <a:pt x="134836" y="129820"/>
                  <a:pt x="129820" y="134836"/>
                  <a:pt x="128163" y="141260"/>
                </a:cubicBezTo>
                <a:lnTo>
                  <a:pt x="113746" y="197171"/>
                </a:lnTo>
                <a:cubicBezTo>
                  <a:pt x="113195" y="199139"/>
                  <a:pt x="111401" y="200500"/>
                  <a:pt x="109358" y="200500"/>
                </a:cubicBezTo>
                <a:cubicBezTo>
                  <a:pt x="107314" y="200500"/>
                  <a:pt x="105520" y="199139"/>
                  <a:pt x="104970" y="197171"/>
                </a:cubicBezTo>
                <a:close/>
                <a:moveTo>
                  <a:pt x="182270" y="27341"/>
                </a:moveTo>
                <a:lnTo>
                  <a:pt x="182270" y="63795"/>
                </a:lnTo>
                <a:moveTo>
                  <a:pt x="200497" y="45568"/>
                </a:moveTo>
                <a:lnTo>
                  <a:pt x="164043" y="45568"/>
                </a:lnTo>
                <a:moveTo>
                  <a:pt x="36454" y="154930"/>
                </a:moveTo>
                <a:lnTo>
                  <a:pt x="36454" y="173157"/>
                </a:lnTo>
                <a:moveTo>
                  <a:pt x="45568" y="164043"/>
                </a:moveTo>
                <a:lnTo>
                  <a:pt x="27341" y="164043"/>
                </a:lnTo>
              </a:path>
            </a:pathLst>
          </a:custGeom>
          <a:noFill/>
          <a:ln w="18227" cap="rnd">
            <a:solidFill>
              <a:srgbClr val="0B6E8A"/>
            </a:solidFill>
            <a:prstDash val="solid"/>
            <a:round/>
          </a:ln>
        </p:spPr>
      </p:sp>
      <p:sp>
        <p:nvSpPr>
          <p:cNvPr id="29" name="Text 26"/>
          <p:cNvSpPr/>
          <p:nvPr/>
        </p:nvSpPr>
        <p:spPr>
          <a:xfrm>
            <a:off x="1161288" y="386334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Un endpoint nuevo aparece solo</a:t>
            </a:r>
            <a:endParaRPr lang="en-US" sz="1350" dirty="0"/>
          </a:p>
        </p:txBody>
      </p:sp>
      <p:sp>
        <p:nvSpPr>
          <p:cNvPr id="30" name="Shape 27"/>
          <p:cNvSpPr/>
          <p:nvPr/>
        </p:nvSpPr>
        <p:spPr>
          <a:xfrm>
            <a:off x="612648" y="4527423"/>
            <a:ext cx="420624" cy="420624"/>
          </a:xfrm>
          <a:prstGeom prst="ellipse">
            <a:avLst/>
          </a:prstGeom>
          <a:solidFill>
            <a:srgbClr val="E3F4FA"/>
          </a:solidFill>
          <a:ln w="12700">
            <a:solidFill>
              <a:srgbClr val="E3F4FA"/>
            </a:solidFill>
            <a:prstDash val="solid"/>
          </a:ln>
        </p:spPr>
      </p:sp>
      <p:sp>
        <p:nvSpPr>
          <p:cNvPr id="31" name="Icono link"/>
          <p:cNvSpPr/>
          <p:nvPr/>
        </p:nvSpPr>
        <p:spPr>
          <a:xfrm>
            <a:off x="713598" y="4628373"/>
            <a:ext cx="218724" cy="218724"/>
          </a:xfrm>
          <a:custGeom>
            <a:avLst/>
            <a:gdLst/>
            <a:ahLst/>
            <a:cxnLst/>
            <a:rect l="l" t="t" r="r" b="b"/>
            <a:pathLst>
              <a:path w="218724" h="218724">
                <a:moveTo>
                  <a:pt x="91135" y="118476"/>
                </a:moveTo>
                <a:cubicBezTo>
                  <a:pt x="99054" y="129063"/>
                  <a:pt x="111182" y="135688"/>
                  <a:pt x="124369" y="136633"/>
                </a:cubicBezTo>
                <a:cubicBezTo>
                  <a:pt x="137556" y="137577"/>
                  <a:pt x="150504" y="132748"/>
                  <a:pt x="159851" y="123397"/>
                </a:cubicBezTo>
                <a:lnTo>
                  <a:pt x="187192" y="96057"/>
                </a:lnTo>
                <a:cubicBezTo>
                  <a:pt x="204461" y="78177"/>
                  <a:pt x="204214" y="49756"/>
                  <a:pt x="186637" y="32179"/>
                </a:cubicBezTo>
                <a:cubicBezTo>
                  <a:pt x="169060" y="14602"/>
                  <a:pt x="140639" y="14355"/>
                  <a:pt x="122759" y="31624"/>
                </a:cubicBezTo>
                <a:lnTo>
                  <a:pt x="107084" y="47208"/>
                </a:lnTo>
                <a:moveTo>
                  <a:pt x="127589" y="100249"/>
                </a:moveTo>
                <a:cubicBezTo>
                  <a:pt x="119670" y="89662"/>
                  <a:pt x="107543" y="83036"/>
                  <a:pt x="94355" y="82092"/>
                </a:cubicBezTo>
                <a:cubicBezTo>
                  <a:pt x="81168" y="81147"/>
                  <a:pt x="68220" y="85977"/>
                  <a:pt x="58873" y="95327"/>
                </a:cubicBezTo>
                <a:lnTo>
                  <a:pt x="31533" y="122668"/>
                </a:lnTo>
                <a:cubicBezTo>
                  <a:pt x="14264" y="140548"/>
                  <a:pt x="14511" y="168969"/>
                  <a:pt x="32088" y="186545"/>
                </a:cubicBezTo>
                <a:cubicBezTo>
                  <a:pt x="49665" y="204122"/>
                  <a:pt x="78086" y="204369"/>
                  <a:pt x="95965" y="187101"/>
                </a:cubicBezTo>
                <a:lnTo>
                  <a:pt x="111549" y="171516"/>
                </a:lnTo>
              </a:path>
            </a:pathLst>
          </a:custGeom>
          <a:noFill/>
          <a:ln w="18227" cap="rnd">
            <a:solidFill>
              <a:srgbClr val="0B6E8A"/>
            </a:solidFill>
            <a:prstDash val="solid"/>
            <a:round/>
          </a:ln>
        </p:spPr>
      </p:sp>
      <p:sp>
        <p:nvSpPr>
          <p:cNvPr id="32" name="Text 29"/>
          <p:cNvSpPr/>
          <p:nvPr/>
        </p:nvSpPr>
        <p:spPr>
          <a:xfrm>
            <a:off x="1161288" y="444627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UI enlaza los dos Swagger</a:t>
            </a:r>
            <a:endParaRPr lang="en-US" sz="1350" dirty="0"/>
          </a:p>
        </p:txBody>
      </p:sp>
      <p:sp>
        <p:nvSpPr>
          <p:cNvPr id="33" name="Shape 30"/>
          <p:cNvSpPr/>
          <p:nvPr/>
        </p:nvSpPr>
        <p:spPr>
          <a:xfrm>
            <a:off x="612648" y="5166360"/>
            <a:ext cx="3931920" cy="1188720"/>
          </a:xfrm>
          <a:prstGeom prst="roundRect">
            <a:avLst>
              <a:gd name="adj" fmla="val 9231"/>
            </a:avLst>
          </a:prstGeom>
          <a:solidFill>
            <a:srgbClr val="E3F4FA"/>
          </a:solidFill>
          <a:ln w="12700">
            <a:solidFill>
              <a:srgbClr val="8ACEE2"/>
            </a:solidFill>
            <a:prstDash val="solid"/>
          </a:ln>
        </p:spPr>
      </p:sp>
      <p:sp>
        <p:nvSpPr>
          <p:cNvPr id="34" name="Shape 31"/>
          <p:cNvSpPr/>
          <p:nvPr/>
        </p:nvSpPr>
        <p:spPr>
          <a:xfrm>
            <a:off x="795528" y="5458968"/>
            <a:ext cx="603504" cy="603504"/>
          </a:xfrm>
          <a:prstGeom prst="ellipse">
            <a:avLst/>
          </a:prstGeom>
          <a:solidFill>
            <a:srgbClr val="FFFFFF"/>
          </a:solidFill>
          <a:ln w="12700">
            <a:solidFill>
              <a:srgbClr val="FFFFFF"/>
            </a:solidFill>
            <a:prstDash val="solid"/>
          </a:ln>
        </p:spPr>
      </p:sp>
      <p:sp>
        <p:nvSpPr>
          <p:cNvPr id="35" name="Icono utensils"/>
          <p:cNvSpPr/>
          <p:nvPr/>
        </p:nvSpPr>
        <p:spPr>
          <a:xfrm>
            <a:off x="940369" y="5603809"/>
            <a:ext cx="313822" cy="313822"/>
          </a:xfrm>
          <a:custGeom>
            <a:avLst/>
            <a:gdLst/>
            <a:ahLst/>
            <a:cxnLst/>
            <a:rect l="l" t="t" r="r" b="b"/>
            <a:pathLst>
              <a:path w="313822" h="313822">
                <a:moveTo>
                  <a:pt x="39228" y="26152"/>
                </a:moveTo>
                <a:lnTo>
                  <a:pt x="39228" y="117683"/>
                </a:lnTo>
                <a:cubicBezTo>
                  <a:pt x="39228" y="132067"/>
                  <a:pt x="50996" y="143835"/>
                  <a:pt x="65380" y="143835"/>
                </a:cubicBezTo>
                <a:lnTo>
                  <a:pt x="117683" y="143835"/>
                </a:lnTo>
                <a:cubicBezTo>
                  <a:pt x="132127" y="143835"/>
                  <a:pt x="143835" y="132127"/>
                  <a:pt x="143835" y="117683"/>
                </a:cubicBezTo>
                <a:lnTo>
                  <a:pt x="143835" y="26152"/>
                </a:lnTo>
                <a:moveTo>
                  <a:pt x="91531" y="26152"/>
                </a:moveTo>
                <a:lnTo>
                  <a:pt x="91531" y="287670"/>
                </a:lnTo>
                <a:moveTo>
                  <a:pt x="274594" y="196139"/>
                </a:moveTo>
                <a:lnTo>
                  <a:pt x="274594" y="26152"/>
                </a:lnTo>
                <a:cubicBezTo>
                  <a:pt x="238486" y="26152"/>
                  <a:pt x="209215" y="55423"/>
                  <a:pt x="209215" y="91531"/>
                </a:cubicBezTo>
                <a:lnTo>
                  <a:pt x="209215" y="169987"/>
                </a:lnTo>
                <a:cubicBezTo>
                  <a:pt x="209215" y="184370"/>
                  <a:pt x="220983" y="196139"/>
                  <a:pt x="235367" y="196139"/>
                </a:cubicBezTo>
                <a:lnTo>
                  <a:pt x="274594" y="196139"/>
                </a:lnTo>
                <a:close/>
                <a:moveTo>
                  <a:pt x="274594" y="196139"/>
                </a:moveTo>
                <a:lnTo>
                  <a:pt x="274594" y="287670"/>
                </a:lnTo>
              </a:path>
            </a:pathLst>
          </a:custGeom>
          <a:noFill/>
          <a:ln w="26152" cap="rnd">
            <a:solidFill>
              <a:srgbClr val="0B6E8A"/>
            </a:solidFill>
            <a:prstDash val="solid"/>
            <a:round/>
          </a:ln>
        </p:spPr>
      </p:sp>
      <p:sp>
        <p:nvSpPr>
          <p:cNvPr id="36" name="Text 33"/>
          <p:cNvSpPr/>
          <p:nvPr/>
        </p:nvSpPr>
        <p:spPr>
          <a:xfrm>
            <a:off x="1563624" y="5239512"/>
            <a:ext cx="282549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menú de un restaurante: dice qué hay, qué lleva cada plato y qué te van a traer.</a:t>
            </a:r>
            <a:endParaRPr lang="en-US" sz="1450" dirty="0"/>
          </a:p>
        </p:txBody>
      </p:sp>
      <p:sp>
        <p:nvSpPr>
          <p:cNvPr id="37"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documentación viaja con el cambio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Si un Pull Request cambia el comportamiento, cambia la documentación.</a:t>
            </a:r>
            <a:endParaRPr lang="en-US" sz="1700" dirty="0"/>
          </a:p>
        </p:txBody>
      </p:sp>
      <p:sp>
        <p:nvSpPr>
          <p:cNvPr id="14" name="Shape 12"/>
          <p:cNvSpPr/>
          <p:nvPr/>
        </p:nvSpPr>
        <p:spPr>
          <a:xfrm>
            <a:off x="61264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47088"/>
            <a:ext cx="64008" cy="1970532"/>
          </a:xfrm>
          <a:prstGeom prst="rect">
            <a:avLst/>
          </a:prstGeom>
          <a:solidFill>
            <a:srgbClr val="5B3FC4"/>
          </a:solidFill>
          <a:ln w="12700">
            <a:solidFill>
              <a:srgbClr val="5B3FC4"/>
            </a:solidFill>
            <a:prstDash val="solid"/>
          </a:ln>
        </p:spPr>
      </p:sp>
      <p:sp>
        <p:nvSpPr>
          <p:cNvPr id="16" name="Shape 14"/>
          <p:cNvSpPr/>
          <p:nvPr/>
        </p:nvSpPr>
        <p:spPr>
          <a:xfrm>
            <a:off x="886968" y="2439162"/>
            <a:ext cx="786384" cy="786384"/>
          </a:xfrm>
          <a:prstGeom prst="ellipse">
            <a:avLst/>
          </a:prstGeom>
          <a:solidFill>
            <a:srgbClr val="F1EEFD"/>
          </a:solidFill>
          <a:ln w="12700">
            <a:solidFill>
              <a:srgbClr val="F1EEFD"/>
            </a:solidFill>
            <a:prstDash val="solid"/>
          </a:ln>
        </p:spPr>
      </p:sp>
      <p:sp>
        <p:nvSpPr>
          <p:cNvPr id="17" name="Icono file-json"/>
          <p:cNvSpPr/>
          <p:nvPr/>
        </p:nvSpPr>
        <p:spPr>
          <a:xfrm>
            <a:off x="1075700" y="2627894"/>
            <a:ext cx="408920" cy="408920"/>
          </a:xfrm>
          <a:custGeom>
            <a:avLst/>
            <a:gdLst/>
            <a:ahLst/>
            <a:cxnLst/>
            <a:rect l="l" t="t" r="r" b="b"/>
            <a:pathLst>
              <a:path w="408920" h="408920">
                <a:moveTo>
                  <a:pt x="255575" y="34077"/>
                </a:moveTo>
                <a:lnTo>
                  <a:pt x="102230" y="34077"/>
                </a:lnTo>
                <a:cubicBezTo>
                  <a:pt x="83410" y="34077"/>
                  <a:pt x="68153" y="49333"/>
                  <a:pt x="68153" y="68153"/>
                </a:cubicBezTo>
                <a:lnTo>
                  <a:pt x="68153" y="340766"/>
                </a:lnTo>
                <a:cubicBezTo>
                  <a:pt x="68153" y="359586"/>
                  <a:pt x="83410" y="374843"/>
                  <a:pt x="102230" y="374843"/>
                </a:cubicBezTo>
                <a:lnTo>
                  <a:pt x="306690" y="374843"/>
                </a:lnTo>
                <a:cubicBezTo>
                  <a:pt x="325510" y="374843"/>
                  <a:pt x="340766" y="359586"/>
                  <a:pt x="340766" y="340766"/>
                </a:cubicBezTo>
                <a:lnTo>
                  <a:pt x="340766" y="119268"/>
                </a:lnTo>
                <a:close/>
                <a:moveTo>
                  <a:pt x="238536" y="34077"/>
                </a:moveTo>
                <a:lnTo>
                  <a:pt x="238536" y="102230"/>
                </a:lnTo>
                <a:cubicBezTo>
                  <a:pt x="238536" y="121050"/>
                  <a:pt x="253793" y="136307"/>
                  <a:pt x="272613" y="136307"/>
                </a:cubicBezTo>
                <a:lnTo>
                  <a:pt x="340766" y="136307"/>
                </a:lnTo>
                <a:moveTo>
                  <a:pt x="170383" y="204460"/>
                </a:moveTo>
                <a:cubicBezTo>
                  <a:pt x="160973" y="204460"/>
                  <a:pt x="153345" y="212088"/>
                  <a:pt x="153345" y="221498"/>
                </a:cubicBezTo>
                <a:lnTo>
                  <a:pt x="153345" y="238536"/>
                </a:lnTo>
                <a:cubicBezTo>
                  <a:pt x="153345" y="247946"/>
                  <a:pt x="145717" y="255575"/>
                  <a:pt x="136307" y="255575"/>
                </a:cubicBezTo>
                <a:cubicBezTo>
                  <a:pt x="145717" y="255575"/>
                  <a:pt x="153345" y="263203"/>
                  <a:pt x="153345" y="272613"/>
                </a:cubicBezTo>
                <a:lnTo>
                  <a:pt x="153345" y="289651"/>
                </a:lnTo>
                <a:cubicBezTo>
                  <a:pt x="153345" y="299061"/>
                  <a:pt x="160973" y="306690"/>
                  <a:pt x="170383" y="306690"/>
                </a:cubicBezTo>
                <a:moveTo>
                  <a:pt x="238536" y="306690"/>
                </a:moveTo>
                <a:cubicBezTo>
                  <a:pt x="247946" y="306690"/>
                  <a:pt x="255575" y="299061"/>
                  <a:pt x="255575" y="289651"/>
                </a:cubicBezTo>
                <a:lnTo>
                  <a:pt x="255575" y="272613"/>
                </a:lnTo>
                <a:cubicBezTo>
                  <a:pt x="255575" y="263203"/>
                  <a:pt x="263203" y="255575"/>
                  <a:pt x="272613" y="255575"/>
                </a:cubicBezTo>
                <a:cubicBezTo>
                  <a:pt x="263203" y="255575"/>
                  <a:pt x="255575" y="247946"/>
                  <a:pt x="255575" y="238536"/>
                </a:cubicBezTo>
                <a:lnTo>
                  <a:pt x="255575" y="221498"/>
                </a:lnTo>
                <a:cubicBezTo>
                  <a:pt x="255575" y="212088"/>
                  <a:pt x="247946" y="204460"/>
                  <a:pt x="238536" y="204460"/>
                </a:cubicBezTo>
              </a:path>
            </a:pathLst>
          </a:custGeom>
          <a:noFill/>
          <a:ln w="34077" cap="rnd">
            <a:solidFill>
              <a:srgbClr val="5B3FC4"/>
            </a:solidFill>
            <a:prstDash val="solid"/>
            <a:round/>
          </a:ln>
        </p:spPr>
      </p:sp>
      <p:sp>
        <p:nvSpPr>
          <p:cNvPr id="18" name="Text 16"/>
          <p:cNvSpPr/>
          <p:nvPr/>
        </p:nvSpPr>
        <p:spPr>
          <a:xfrm>
            <a:off x="192938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5B3FC4"/>
                </a:solidFill>
                <a:latin typeface="Segoe UI Semibold" pitchFamily="34" charset="0"/>
                <a:ea typeface="Segoe UI Semibold" pitchFamily="34" charset="-122"/>
                <a:cs typeface="Segoe UI Semibold" pitchFamily="34" charset="-120"/>
              </a:rPr>
              <a:t>Contratos</a:t>
            </a:r>
            <a:endParaRPr lang="en-US" sz="2000" dirty="0"/>
          </a:p>
        </p:txBody>
      </p:sp>
      <p:sp>
        <p:nvSpPr>
          <p:cNvPr id="19" name="Text 17"/>
          <p:cNvSpPr/>
          <p:nvPr/>
        </p:nvSpPr>
        <p:spPr>
          <a:xfrm>
            <a:off x="192938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OpenAPI y Swagger en cada servicio, generados del código.</a:t>
            </a:r>
            <a:endParaRPr lang="en-US" sz="1600" dirty="0"/>
          </a:p>
        </p:txBody>
      </p:sp>
      <p:sp>
        <p:nvSpPr>
          <p:cNvPr id="20" name="Shape 18"/>
          <p:cNvSpPr/>
          <p:nvPr/>
        </p:nvSpPr>
        <p:spPr>
          <a:xfrm>
            <a:off x="618728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87288" y="1847088"/>
            <a:ext cx="64008" cy="1970532"/>
          </a:xfrm>
          <a:prstGeom prst="rect">
            <a:avLst/>
          </a:prstGeom>
          <a:solidFill>
            <a:srgbClr val="0B2350"/>
          </a:solidFill>
          <a:ln w="12700">
            <a:solidFill>
              <a:srgbClr val="0B2350"/>
            </a:solidFill>
            <a:prstDash val="solid"/>
          </a:ln>
        </p:spPr>
      </p:sp>
      <p:sp>
        <p:nvSpPr>
          <p:cNvPr id="22" name="Shape 20"/>
          <p:cNvSpPr/>
          <p:nvPr/>
        </p:nvSpPr>
        <p:spPr>
          <a:xfrm>
            <a:off x="6461608" y="2439162"/>
            <a:ext cx="786384" cy="786384"/>
          </a:xfrm>
          <a:prstGeom prst="ellipse">
            <a:avLst/>
          </a:prstGeom>
          <a:solidFill>
            <a:srgbClr val="E8EEF8"/>
          </a:solidFill>
          <a:ln w="12700">
            <a:solidFill>
              <a:srgbClr val="E8EEF8"/>
            </a:solidFill>
            <a:prstDash val="solid"/>
          </a:ln>
        </p:spPr>
      </p:sp>
      <p:sp>
        <p:nvSpPr>
          <p:cNvPr id="23" name="Icono book-open"/>
          <p:cNvSpPr/>
          <p:nvPr/>
        </p:nvSpPr>
        <p:spPr>
          <a:xfrm>
            <a:off x="6650340" y="2627894"/>
            <a:ext cx="408920" cy="408920"/>
          </a:xfrm>
          <a:custGeom>
            <a:avLst/>
            <a:gdLst/>
            <a:ahLst/>
            <a:cxnLst/>
            <a:rect l="l" t="t" r="r" b="b"/>
            <a:pathLst>
              <a:path w="408920" h="408920">
                <a:moveTo>
                  <a:pt x="204460" y="119268"/>
                </a:moveTo>
                <a:lnTo>
                  <a:pt x="204460" y="357805"/>
                </a:lnTo>
                <a:moveTo>
                  <a:pt x="51115" y="306690"/>
                </a:moveTo>
                <a:cubicBezTo>
                  <a:pt x="41705" y="306690"/>
                  <a:pt x="34077" y="299061"/>
                  <a:pt x="34077" y="289651"/>
                </a:cubicBezTo>
                <a:lnTo>
                  <a:pt x="34077" y="68153"/>
                </a:lnTo>
                <a:cubicBezTo>
                  <a:pt x="34077" y="58743"/>
                  <a:pt x="41705" y="51115"/>
                  <a:pt x="51115" y="51115"/>
                </a:cubicBezTo>
                <a:lnTo>
                  <a:pt x="136307" y="51115"/>
                </a:lnTo>
                <a:cubicBezTo>
                  <a:pt x="173947" y="51115"/>
                  <a:pt x="204460" y="81628"/>
                  <a:pt x="204460" y="119268"/>
                </a:cubicBezTo>
                <a:cubicBezTo>
                  <a:pt x="204460" y="81628"/>
                  <a:pt x="234973" y="51115"/>
                  <a:pt x="272613" y="51115"/>
                </a:cubicBezTo>
                <a:lnTo>
                  <a:pt x="357805" y="51115"/>
                </a:lnTo>
                <a:cubicBezTo>
                  <a:pt x="367215" y="51115"/>
                  <a:pt x="374843" y="58743"/>
                  <a:pt x="374843" y="68153"/>
                </a:cubicBezTo>
                <a:lnTo>
                  <a:pt x="374843" y="289651"/>
                </a:lnTo>
                <a:cubicBezTo>
                  <a:pt x="374843" y="299061"/>
                  <a:pt x="367215" y="306690"/>
                  <a:pt x="357805" y="306690"/>
                </a:cubicBezTo>
                <a:lnTo>
                  <a:pt x="255575" y="306690"/>
                </a:lnTo>
                <a:cubicBezTo>
                  <a:pt x="227345" y="306690"/>
                  <a:pt x="204460" y="329575"/>
                  <a:pt x="204460" y="357805"/>
                </a:cubicBezTo>
                <a:cubicBezTo>
                  <a:pt x="204460" y="329575"/>
                  <a:pt x="181575" y="306690"/>
                  <a:pt x="153345" y="306690"/>
                </a:cubicBezTo>
                <a:close/>
              </a:path>
            </a:pathLst>
          </a:custGeom>
          <a:noFill/>
          <a:ln w="34077" cap="rnd">
            <a:solidFill>
              <a:srgbClr val="0B2350"/>
            </a:solidFill>
            <a:prstDash val="solid"/>
            <a:round/>
          </a:ln>
        </p:spPr>
      </p:sp>
      <p:sp>
        <p:nvSpPr>
          <p:cNvPr id="24" name="Text 22"/>
          <p:cNvSpPr/>
          <p:nvPr/>
        </p:nvSpPr>
        <p:spPr>
          <a:xfrm>
            <a:off x="750402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docs/ en el repositorio</a:t>
            </a:r>
            <a:endParaRPr lang="en-US" sz="2000" dirty="0"/>
          </a:p>
        </p:txBody>
      </p:sp>
      <p:sp>
        <p:nvSpPr>
          <p:cNvPr id="25" name="Text 23"/>
          <p:cNvSpPr/>
          <p:nvPr/>
        </p:nvSpPr>
        <p:spPr>
          <a:xfrm>
            <a:off x="750402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Inicio, arquitectura, operaciones, automatización y desarrollo.</a:t>
            </a:r>
            <a:endParaRPr lang="en-US" sz="1600" dirty="0"/>
          </a:p>
        </p:txBody>
      </p:sp>
      <p:sp>
        <p:nvSpPr>
          <p:cNvPr id="26" name="Shape 24"/>
          <p:cNvSpPr/>
          <p:nvPr/>
        </p:nvSpPr>
        <p:spPr>
          <a:xfrm>
            <a:off x="61264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Shape 25"/>
          <p:cNvSpPr/>
          <p:nvPr/>
        </p:nvSpPr>
        <p:spPr>
          <a:xfrm>
            <a:off x="612648" y="4256532"/>
            <a:ext cx="64008" cy="1970532"/>
          </a:xfrm>
          <a:prstGeom prst="rect">
            <a:avLst/>
          </a:prstGeom>
          <a:solidFill>
            <a:srgbClr val="0B6E8A"/>
          </a:solidFill>
          <a:ln w="12700">
            <a:solidFill>
              <a:srgbClr val="0B6E8A"/>
            </a:solidFill>
            <a:prstDash val="solid"/>
          </a:ln>
        </p:spPr>
      </p:sp>
      <p:sp>
        <p:nvSpPr>
          <p:cNvPr id="28" name="Shape 26"/>
          <p:cNvSpPr/>
          <p:nvPr/>
        </p:nvSpPr>
        <p:spPr>
          <a:xfrm>
            <a:off x="886968" y="4848606"/>
            <a:ext cx="786384" cy="786384"/>
          </a:xfrm>
          <a:prstGeom prst="ellipse">
            <a:avLst/>
          </a:prstGeom>
          <a:solidFill>
            <a:srgbClr val="E3F4FA"/>
          </a:solidFill>
          <a:ln w="12700">
            <a:solidFill>
              <a:srgbClr val="E3F4FA"/>
            </a:solidFill>
            <a:prstDash val="solid"/>
          </a:ln>
        </p:spPr>
      </p:sp>
      <p:sp>
        <p:nvSpPr>
          <p:cNvPr id="29" name="Icono circle-help"/>
          <p:cNvSpPr/>
          <p:nvPr/>
        </p:nvSpPr>
        <p:spPr>
          <a:xfrm>
            <a:off x="1075700" y="5037338"/>
            <a:ext cx="408920" cy="408920"/>
          </a:xfrm>
          <a:custGeom>
            <a:avLst/>
            <a:gdLst/>
            <a:ahLst/>
            <a:cxnLst/>
            <a:rect l="l" t="t" r="r" b="b"/>
            <a:pathLst>
              <a:path w="408920" h="408920">
                <a:moveTo>
                  <a:pt x="374843" y="204460"/>
                </a:moveTo>
                <a:cubicBezTo>
                  <a:pt x="374843" y="298560"/>
                  <a:pt x="298560" y="374843"/>
                  <a:pt x="204460" y="374843"/>
                </a:cubicBezTo>
                <a:cubicBezTo>
                  <a:pt x="110360" y="374843"/>
                  <a:pt x="34077" y="298560"/>
                  <a:pt x="34077" y="204460"/>
                </a:cubicBezTo>
                <a:cubicBezTo>
                  <a:pt x="34077" y="110360"/>
                  <a:pt x="110360" y="34077"/>
                  <a:pt x="204460" y="34077"/>
                </a:cubicBezTo>
                <a:cubicBezTo>
                  <a:pt x="298560" y="34077"/>
                  <a:pt x="374843" y="110360"/>
                  <a:pt x="374843" y="204460"/>
                </a:cubicBezTo>
                <a:close/>
                <a:moveTo>
                  <a:pt x="154878" y="153345"/>
                </a:moveTo>
                <a:cubicBezTo>
                  <a:pt x="163149" y="129833"/>
                  <a:pt x="187172" y="115714"/>
                  <a:pt x="211738" y="119928"/>
                </a:cubicBezTo>
                <a:cubicBezTo>
                  <a:pt x="236304" y="124142"/>
                  <a:pt x="254249" y="145459"/>
                  <a:pt x="254212" y="170383"/>
                </a:cubicBezTo>
                <a:cubicBezTo>
                  <a:pt x="254212" y="204460"/>
                  <a:pt x="203097" y="221498"/>
                  <a:pt x="203097" y="221498"/>
                </a:cubicBezTo>
                <a:moveTo>
                  <a:pt x="204460" y="289651"/>
                </a:moveTo>
                <a:lnTo>
                  <a:pt x="204630" y="289651"/>
                </a:lnTo>
              </a:path>
            </a:pathLst>
          </a:custGeom>
          <a:noFill/>
          <a:ln w="34077" cap="rnd">
            <a:solidFill>
              <a:srgbClr val="0B6E8A"/>
            </a:solidFill>
            <a:prstDash val="solid"/>
            <a:round/>
          </a:ln>
        </p:spPr>
      </p:sp>
      <p:sp>
        <p:nvSpPr>
          <p:cNvPr id="30" name="Text 28"/>
          <p:cNvSpPr/>
          <p:nvPr/>
        </p:nvSpPr>
        <p:spPr>
          <a:xfrm>
            <a:off x="192938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6E8A"/>
                </a:solidFill>
                <a:latin typeface="Segoe UI Semibold" pitchFamily="34" charset="0"/>
                <a:ea typeface="Segoe UI Semibold" pitchFamily="34" charset="-122"/>
                <a:cs typeface="Segoe UI Semibold" pitchFamily="34" charset="-120"/>
              </a:rPr>
              <a:t>Ayuda en la UI</a:t>
            </a:r>
            <a:endParaRPr lang="en-US" sz="2000" dirty="0"/>
          </a:p>
        </p:txBody>
      </p:sp>
      <p:sp>
        <p:nvSpPr>
          <p:cNvPr id="31" name="Text 29"/>
          <p:cNvSpPr/>
          <p:nvPr/>
        </p:nvSpPr>
        <p:spPr>
          <a:xfrm>
            <a:off x="192938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Preguntas frecuentes con diagramas paso a paso.</a:t>
            </a:r>
            <a:endParaRPr lang="en-US" sz="1600" dirty="0"/>
          </a:p>
        </p:txBody>
      </p:sp>
      <p:sp>
        <p:nvSpPr>
          <p:cNvPr id="32" name="Shape 30"/>
          <p:cNvSpPr/>
          <p:nvPr/>
        </p:nvSpPr>
        <p:spPr>
          <a:xfrm>
            <a:off x="618728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6187288" y="4256532"/>
            <a:ext cx="64008" cy="1970532"/>
          </a:xfrm>
          <a:prstGeom prst="rect">
            <a:avLst/>
          </a:prstGeom>
          <a:solidFill>
            <a:srgbClr val="0A6648"/>
          </a:solidFill>
          <a:ln w="12700">
            <a:solidFill>
              <a:srgbClr val="0A6648"/>
            </a:solidFill>
            <a:prstDash val="solid"/>
          </a:ln>
        </p:spPr>
      </p:sp>
      <p:sp>
        <p:nvSpPr>
          <p:cNvPr id="34" name="Shape 32"/>
          <p:cNvSpPr/>
          <p:nvPr/>
        </p:nvSpPr>
        <p:spPr>
          <a:xfrm>
            <a:off x="6461608" y="4848606"/>
            <a:ext cx="786384" cy="786384"/>
          </a:xfrm>
          <a:prstGeom prst="ellipse">
            <a:avLst/>
          </a:prstGeom>
          <a:solidFill>
            <a:srgbClr val="E1F1EA"/>
          </a:solidFill>
          <a:ln w="12700">
            <a:solidFill>
              <a:srgbClr val="E1F1EA"/>
            </a:solidFill>
            <a:prstDash val="solid"/>
          </a:ln>
        </p:spPr>
      </p:sp>
      <p:sp>
        <p:nvSpPr>
          <p:cNvPr id="35" name="Icono git-pull-request"/>
          <p:cNvSpPr/>
          <p:nvPr/>
        </p:nvSpPr>
        <p:spPr>
          <a:xfrm>
            <a:off x="6650340" y="5037338"/>
            <a:ext cx="408920" cy="408920"/>
          </a:xfrm>
          <a:custGeom>
            <a:avLst/>
            <a:gdLst/>
            <a:ahLst/>
            <a:cxnLst/>
            <a:rect l="l" t="t" r="r" b="b"/>
            <a:pathLst>
              <a:path w="408920" h="408920">
                <a:moveTo>
                  <a:pt x="357805" y="306690"/>
                </a:moveTo>
                <a:cubicBezTo>
                  <a:pt x="357805" y="334920"/>
                  <a:pt x="334920" y="357805"/>
                  <a:pt x="306690" y="357805"/>
                </a:cubicBezTo>
                <a:cubicBezTo>
                  <a:pt x="278460" y="357805"/>
                  <a:pt x="255575" y="334920"/>
                  <a:pt x="255575" y="306690"/>
                </a:cubicBezTo>
                <a:cubicBezTo>
                  <a:pt x="255575" y="278460"/>
                  <a:pt x="278460" y="255575"/>
                  <a:pt x="306690" y="255575"/>
                </a:cubicBezTo>
                <a:cubicBezTo>
                  <a:pt x="334920" y="255575"/>
                  <a:pt x="357805" y="278460"/>
                  <a:pt x="357805" y="306690"/>
                </a:cubicBezTo>
                <a:close/>
                <a:moveTo>
                  <a:pt x="153345" y="102230"/>
                </a:moveTo>
                <a:cubicBezTo>
                  <a:pt x="153345" y="130460"/>
                  <a:pt x="130460" y="153345"/>
                  <a:pt x="102230" y="153345"/>
                </a:cubicBezTo>
                <a:cubicBezTo>
                  <a:pt x="74000" y="153345"/>
                  <a:pt x="51115" y="130460"/>
                  <a:pt x="51115" y="102230"/>
                </a:cubicBezTo>
                <a:cubicBezTo>
                  <a:pt x="51115" y="74000"/>
                  <a:pt x="74000" y="51115"/>
                  <a:pt x="102230" y="51115"/>
                </a:cubicBezTo>
                <a:cubicBezTo>
                  <a:pt x="130460" y="51115"/>
                  <a:pt x="153345" y="74000"/>
                  <a:pt x="153345" y="102230"/>
                </a:cubicBezTo>
                <a:close/>
                <a:moveTo>
                  <a:pt x="221498" y="102230"/>
                </a:moveTo>
                <a:lnTo>
                  <a:pt x="272613" y="102230"/>
                </a:lnTo>
                <a:cubicBezTo>
                  <a:pt x="291433" y="102230"/>
                  <a:pt x="306690" y="117487"/>
                  <a:pt x="306690" y="136307"/>
                </a:cubicBezTo>
                <a:lnTo>
                  <a:pt x="306690" y="255575"/>
                </a:lnTo>
                <a:moveTo>
                  <a:pt x="102230" y="153345"/>
                </a:moveTo>
                <a:lnTo>
                  <a:pt x="102230" y="357805"/>
                </a:lnTo>
              </a:path>
            </a:pathLst>
          </a:custGeom>
          <a:noFill/>
          <a:ln w="34077" cap="rnd">
            <a:solidFill>
              <a:srgbClr val="0A6648"/>
            </a:solidFill>
            <a:prstDash val="solid"/>
            <a:round/>
          </a:ln>
        </p:spPr>
      </p:sp>
      <p:sp>
        <p:nvSpPr>
          <p:cNvPr id="36" name="Text 34"/>
          <p:cNvSpPr/>
          <p:nvPr/>
        </p:nvSpPr>
        <p:spPr>
          <a:xfrm>
            <a:off x="750402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Regla del equipo</a:t>
            </a:r>
            <a:endParaRPr lang="en-US" sz="2000" dirty="0"/>
          </a:p>
        </p:txBody>
      </p:sp>
      <p:sp>
        <p:nvSpPr>
          <p:cNvPr id="37" name="Text 35"/>
          <p:cNvSpPr/>
          <p:nvPr/>
        </p:nvSpPr>
        <p:spPr>
          <a:xfrm>
            <a:off x="750402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Cambia un endpoint, una variable o un comando: cambia la doc en el mismo PR.</a:t>
            </a:r>
            <a:endParaRPr lang="en-US" sz="16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Documentación: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book-open"/>
          <p:cNvSpPr/>
          <p:nvPr/>
        </p:nvSpPr>
        <p:spPr>
          <a:xfrm>
            <a:off x="1058144" y="1817096"/>
            <a:ext cx="370881" cy="370881"/>
          </a:xfrm>
          <a:custGeom>
            <a:avLst/>
            <a:gdLst/>
            <a:ahLst/>
            <a:cxnLst/>
            <a:rect l="l" t="t" r="r" b="b"/>
            <a:pathLst>
              <a:path w="370881" h="370881">
                <a:moveTo>
                  <a:pt x="185440" y="108174"/>
                </a:moveTo>
                <a:lnTo>
                  <a:pt x="185440" y="324521"/>
                </a:lnTo>
                <a:moveTo>
                  <a:pt x="46360" y="278160"/>
                </a:moveTo>
                <a:cubicBezTo>
                  <a:pt x="37825" y="278160"/>
                  <a:pt x="30907" y="271242"/>
                  <a:pt x="30907" y="262707"/>
                </a:cubicBezTo>
                <a:lnTo>
                  <a:pt x="30907" y="61813"/>
                </a:lnTo>
                <a:cubicBezTo>
                  <a:pt x="30907" y="53279"/>
                  <a:pt x="37825" y="46360"/>
                  <a:pt x="46360" y="46360"/>
                </a:cubicBezTo>
                <a:lnTo>
                  <a:pt x="123627" y="46360"/>
                </a:lnTo>
                <a:cubicBezTo>
                  <a:pt x="157766" y="46360"/>
                  <a:pt x="185440" y="74035"/>
                  <a:pt x="185440" y="108174"/>
                </a:cubicBezTo>
                <a:cubicBezTo>
                  <a:pt x="185440" y="74035"/>
                  <a:pt x="213115" y="46360"/>
                  <a:pt x="247254" y="46360"/>
                </a:cubicBezTo>
                <a:lnTo>
                  <a:pt x="324521" y="46360"/>
                </a:lnTo>
                <a:cubicBezTo>
                  <a:pt x="333055" y="46360"/>
                  <a:pt x="339974" y="53279"/>
                  <a:pt x="339974" y="61813"/>
                </a:cubicBezTo>
                <a:lnTo>
                  <a:pt x="339974" y="262707"/>
                </a:lnTo>
                <a:cubicBezTo>
                  <a:pt x="339974" y="271242"/>
                  <a:pt x="333055" y="278160"/>
                  <a:pt x="324521" y="278160"/>
                </a:cubicBezTo>
                <a:lnTo>
                  <a:pt x="231800" y="278160"/>
                </a:lnTo>
                <a:cubicBezTo>
                  <a:pt x="206196" y="278160"/>
                  <a:pt x="185440" y="298917"/>
                  <a:pt x="185440" y="324521"/>
                </a:cubicBezTo>
                <a:cubicBezTo>
                  <a:pt x="185440" y="298917"/>
                  <a:pt x="164684" y="278160"/>
                  <a:pt x="139080" y="278160"/>
                </a:cubicBezTo>
                <a:close/>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endpoints documentados solos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Swagger, uno por servicio</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parkles"/>
          <p:cNvSpPr/>
          <p:nvPr/>
        </p:nvSpPr>
        <p:spPr>
          <a:xfrm>
            <a:off x="4258544" y="1955780"/>
            <a:ext cx="370881" cy="370881"/>
          </a:xfrm>
          <a:custGeom>
            <a:avLst/>
            <a:gdLst/>
            <a:ahLst/>
            <a:cxnLst/>
            <a:rect l="l" t="t" r="r" b="b"/>
            <a:pathLst>
              <a:path w="370881" h="370881">
                <a:moveTo>
                  <a:pt x="153560" y="239527"/>
                </a:moveTo>
                <a:cubicBezTo>
                  <a:pt x="150750" y="228636"/>
                  <a:pt x="142245" y="220130"/>
                  <a:pt x="131354" y="217321"/>
                </a:cubicBezTo>
                <a:lnTo>
                  <a:pt x="36547" y="192873"/>
                </a:lnTo>
                <a:cubicBezTo>
                  <a:pt x="33224" y="191930"/>
                  <a:pt x="30930" y="188895"/>
                  <a:pt x="30930" y="185440"/>
                </a:cubicBezTo>
                <a:cubicBezTo>
                  <a:pt x="30930" y="181986"/>
                  <a:pt x="33224" y="178951"/>
                  <a:pt x="36547" y="178007"/>
                </a:cubicBezTo>
                <a:lnTo>
                  <a:pt x="131354" y="153545"/>
                </a:lnTo>
                <a:cubicBezTo>
                  <a:pt x="142241" y="150738"/>
                  <a:pt x="150745" y="142239"/>
                  <a:pt x="153560" y="131354"/>
                </a:cubicBezTo>
                <a:lnTo>
                  <a:pt x="178007" y="36547"/>
                </a:lnTo>
                <a:cubicBezTo>
                  <a:pt x="178941" y="33210"/>
                  <a:pt x="181983" y="30903"/>
                  <a:pt x="185448" y="30903"/>
                </a:cubicBezTo>
                <a:cubicBezTo>
                  <a:pt x="188913" y="30903"/>
                  <a:pt x="191955" y="33210"/>
                  <a:pt x="192889" y="36547"/>
                </a:cubicBezTo>
                <a:lnTo>
                  <a:pt x="217321" y="131354"/>
                </a:lnTo>
                <a:cubicBezTo>
                  <a:pt x="220130" y="142245"/>
                  <a:pt x="228636" y="150750"/>
                  <a:pt x="239527" y="153560"/>
                </a:cubicBezTo>
                <a:lnTo>
                  <a:pt x="334333" y="177992"/>
                </a:lnTo>
                <a:cubicBezTo>
                  <a:pt x="337684" y="178916"/>
                  <a:pt x="340006" y="181964"/>
                  <a:pt x="340006" y="185440"/>
                </a:cubicBezTo>
                <a:cubicBezTo>
                  <a:pt x="340006" y="188916"/>
                  <a:pt x="337684" y="191965"/>
                  <a:pt x="334333" y="192889"/>
                </a:cubicBezTo>
                <a:lnTo>
                  <a:pt x="239527" y="217321"/>
                </a:lnTo>
                <a:cubicBezTo>
                  <a:pt x="228636" y="220130"/>
                  <a:pt x="220130" y="228636"/>
                  <a:pt x="217321" y="239527"/>
                </a:cubicBezTo>
                <a:lnTo>
                  <a:pt x="192873" y="334333"/>
                </a:lnTo>
                <a:cubicBezTo>
                  <a:pt x="191939" y="337671"/>
                  <a:pt x="188898" y="339978"/>
                  <a:pt x="185433" y="339978"/>
                </a:cubicBezTo>
                <a:cubicBezTo>
                  <a:pt x="181967" y="339978"/>
                  <a:pt x="178926" y="337671"/>
                  <a:pt x="177992" y="334333"/>
                </a:cubicBezTo>
                <a:close/>
                <a:moveTo>
                  <a:pt x="309067" y="46360"/>
                </a:moveTo>
                <a:lnTo>
                  <a:pt x="309067" y="108174"/>
                </a:lnTo>
                <a:moveTo>
                  <a:pt x="339974" y="77267"/>
                </a:moveTo>
                <a:lnTo>
                  <a:pt x="278160" y="77267"/>
                </a:lnTo>
                <a:moveTo>
                  <a:pt x="61813" y="262707"/>
                </a:moveTo>
                <a:lnTo>
                  <a:pt x="61813" y="293614"/>
                </a:lnTo>
                <a:moveTo>
                  <a:pt x="77267" y="278160"/>
                </a:moveTo>
                <a:lnTo>
                  <a:pt x="46360" y="2781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 que se genera no se desactualiza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OpenAPI sale de los controladores con springdoc.</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Cero horas manteniendo un documento de API aparte.</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git-pull-request"/>
          <p:cNvSpPr/>
          <p:nvPr/>
        </p:nvSpPr>
        <p:spPr>
          <a:xfrm>
            <a:off x="4258544" y="367790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doc se revisa en el mismo PR</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cambio y su explicación llegan juntos.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Quien revisa entiende el porqué, no solo el qué.</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raduation-cap"/>
          <p:cNvSpPr/>
          <p:nvPr/>
        </p:nvSpPr>
        <p:spPr>
          <a:xfrm>
            <a:off x="4258544" y="5400020"/>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Documentar para quien llega mañana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Guías en PowerShell, diagramas y la Ayuda de la UI.</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tiempo para que alguien nuevo aporte.</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UI para ver el sistema por dentro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No es parte del entregable: la hicimos para ejemplificar lo que aprendimos.</a:t>
            </a:r>
            <a:endParaRPr lang="en-US" sz="1700" dirty="0"/>
          </a:p>
        </p:txBody>
      </p:sp>
      <p:sp>
        <p:nvSpPr>
          <p:cNvPr id="14" name="Shape 12"/>
          <p:cNvSpPr/>
          <p:nvPr/>
        </p:nvSpPr>
        <p:spPr>
          <a:xfrm>
            <a:off x="61264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5" name="Shape 13"/>
          <p:cNvSpPr/>
          <p:nvPr/>
        </p:nvSpPr>
        <p:spPr>
          <a:xfrm>
            <a:off x="722376" y="1816730"/>
            <a:ext cx="74615" cy="74615"/>
          </a:xfrm>
          <a:prstGeom prst="ellipse">
            <a:avLst/>
          </a:prstGeom>
          <a:solidFill>
            <a:srgbClr val="E5484D"/>
          </a:solidFill>
          <a:ln w="12700">
            <a:solidFill>
              <a:srgbClr val="E5484D"/>
            </a:solidFill>
            <a:prstDash val="solid"/>
          </a:ln>
        </p:spPr>
      </p:sp>
      <p:sp>
        <p:nvSpPr>
          <p:cNvPr id="16" name="Shape 14"/>
          <p:cNvSpPr/>
          <p:nvPr/>
        </p:nvSpPr>
        <p:spPr>
          <a:xfrm>
            <a:off x="821131" y="1816730"/>
            <a:ext cx="74615" cy="74615"/>
          </a:xfrm>
          <a:prstGeom prst="ellipse">
            <a:avLst/>
          </a:prstGeom>
          <a:solidFill>
            <a:srgbClr val="F5A524"/>
          </a:solidFill>
          <a:ln w="12700">
            <a:solidFill>
              <a:srgbClr val="F5A524"/>
            </a:solidFill>
            <a:prstDash val="solid"/>
          </a:ln>
        </p:spPr>
      </p:sp>
      <p:sp>
        <p:nvSpPr>
          <p:cNvPr id="17" name="Shape 15"/>
          <p:cNvSpPr/>
          <p:nvPr/>
        </p:nvSpPr>
        <p:spPr>
          <a:xfrm>
            <a:off x="919886" y="1816730"/>
            <a:ext cx="74615" cy="74615"/>
          </a:xfrm>
          <a:prstGeom prst="ellipse">
            <a:avLst/>
          </a:prstGeom>
          <a:solidFill>
            <a:srgbClr val="30A46C"/>
          </a:solidFill>
          <a:ln w="12700">
            <a:solidFill>
              <a:srgbClr val="30A46C"/>
            </a:solidFill>
            <a:prstDash val="solid"/>
          </a:ln>
        </p:spPr>
      </p:sp>
      <p:sp>
        <p:nvSpPr>
          <p:cNvPr id="18" name="Text 16"/>
          <p:cNvSpPr/>
          <p:nvPr/>
        </p:nvSpPr>
        <p:spPr>
          <a:xfrm>
            <a:off x="112471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localhost:8088/#/solicitudes</a:t>
            </a:r>
            <a:endParaRPr lang="en-US" sz="700" dirty="0"/>
          </a:p>
        </p:txBody>
      </p:sp>
      <p:pic>
        <p:nvPicPr>
          <p:cNvPr id="19" name="Image 0" descr="Solicitudes">    </p:cNvPr>
          <p:cNvPicPr>
            <a:picLocks noChangeAspect="1"/>
          </p:cNvPicPr>
          <p:nvPr/>
        </p:nvPicPr>
        <p:blipFill>
          <a:blip r:embed="rId1"/>
          <a:stretch>
            <a:fillRect/>
          </a:stretch>
        </p:blipFill>
        <p:spPr>
          <a:xfrm>
            <a:off x="612648" y="1965960"/>
            <a:ext cx="2877386" cy="1798366"/>
          </a:xfrm>
          <a:prstGeom prst="rect">
            <a:avLst/>
          </a:prstGeom>
        </p:spPr>
      </p:pic>
      <p:sp>
        <p:nvSpPr>
          <p:cNvPr id="20" name="Text 17"/>
          <p:cNvSpPr/>
          <p:nvPr/>
        </p:nvSpPr>
        <p:spPr>
          <a:xfrm>
            <a:off x="3727778"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21" name="Text 18"/>
          <p:cNvSpPr/>
          <p:nvPr/>
        </p:nvSpPr>
        <p:spPr>
          <a:xfrm>
            <a:off x="4184978"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Solicitudes</a:t>
            </a:r>
            <a:endParaRPr lang="en-US" sz="2000" dirty="0"/>
          </a:p>
        </p:txBody>
      </p:sp>
      <p:sp>
        <p:nvSpPr>
          <p:cNvPr id="22" name="Text 19"/>
          <p:cNvSpPr/>
          <p:nvPr/>
        </p:nvSpPr>
        <p:spPr>
          <a:xfrm>
            <a:off x="3727778"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Crear, enviar y decidir.</a:t>
            </a:r>
            <a:endParaRPr lang="en-US" sz="1400" dirty="0"/>
          </a:p>
        </p:txBody>
      </p:sp>
      <p:sp>
        <p:nvSpPr>
          <p:cNvPr id="23" name="Shape 20"/>
          <p:cNvSpPr/>
          <p:nvPr/>
        </p:nvSpPr>
        <p:spPr>
          <a:xfrm>
            <a:off x="627872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24" name="Shape 21"/>
          <p:cNvSpPr/>
          <p:nvPr/>
        </p:nvSpPr>
        <p:spPr>
          <a:xfrm>
            <a:off x="6388456" y="1816730"/>
            <a:ext cx="74615" cy="74615"/>
          </a:xfrm>
          <a:prstGeom prst="ellipse">
            <a:avLst/>
          </a:prstGeom>
          <a:solidFill>
            <a:srgbClr val="E5484D"/>
          </a:solidFill>
          <a:ln w="12700">
            <a:solidFill>
              <a:srgbClr val="E5484D"/>
            </a:solidFill>
            <a:prstDash val="solid"/>
          </a:ln>
        </p:spPr>
      </p:sp>
      <p:sp>
        <p:nvSpPr>
          <p:cNvPr id="25" name="Shape 22"/>
          <p:cNvSpPr/>
          <p:nvPr/>
        </p:nvSpPr>
        <p:spPr>
          <a:xfrm>
            <a:off x="6487211" y="1816730"/>
            <a:ext cx="74615" cy="74615"/>
          </a:xfrm>
          <a:prstGeom prst="ellipse">
            <a:avLst/>
          </a:prstGeom>
          <a:solidFill>
            <a:srgbClr val="F5A524"/>
          </a:solidFill>
          <a:ln w="12700">
            <a:solidFill>
              <a:srgbClr val="F5A524"/>
            </a:solidFill>
            <a:prstDash val="solid"/>
          </a:ln>
        </p:spPr>
      </p:sp>
      <p:sp>
        <p:nvSpPr>
          <p:cNvPr id="26" name="Shape 23"/>
          <p:cNvSpPr/>
          <p:nvPr/>
        </p:nvSpPr>
        <p:spPr>
          <a:xfrm>
            <a:off x="6585966" y="1816730"/>
            <a:ext cx="74615" cy="74615"/>
          </a:xfrm>
          <a:prstGeom prst="ellipse">
            <a:avLst/>
          </a:prstGeom>
          <a:solidFill>
            <a:srgbClr val="30A46C"/>
          </a:solidFill>
          <a:ln w="12700">
            <a:solidFill>
              <a:srgbClr val="30A46C"/>
            </a:solidFill>
            <a:prstDash val="solid"/>
          </a:ln>
        </p:spPr>
      </p:sp>
      <p:sp>
        <p:nvSpPr>
          <p:cNvPr id="27" name="Text 24"/>
          <p:cNvSpPr/>
          <p:nvPr/>
        </p:nvSpPr>
        <p:spPr>
          <a:xfrm>
            <a:off x="679079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localhost:8088/#/enviadas</a:t>
            </a:r>
            <a:endParaRPr lang="en-US" sz="700" dirty="0"/>
          </a:p>
        </p:txBody>
      </p:sp>
      <p:pic>
        <p:nvPicPr>
          <p:cNvPr id="28" name="Image 1" descr="Enviadas">    </p:cNvPr>
          <p:cNvPicPr>
            <a:picLocks noChangeAspect="1"/>
          </p:cNvPicPr>
          <p:nvPr/>
        </p:nvPicPr>
        <p:blipFill>
          <a:blip r:embed="rId2"/>
          <a:stretch>
            <a:fillRect/>
          </a:stretch>
        </p:blipFill>
        <p:spPr>
          <a:xfrm>
            <a:off x="6278728" y="1965960"/>
            <a:ext cx="2877386" cy="1798366"/>
          </a:xfrm>
          <a:prstGeom prst="rect">
            <a:avLst/>
          </a:prstGeom>
        </p:spPr>
      </p:pic>
      <p:sp>
        <p:nvSpPr>
          <p:cNvPr id="29" name="Text 25"/>
          <p:cNvSpPr/>
          <p:nvPr/>
        </p:nvSpPr>
        <p:spPr>
          <a:xfrm>
            <a:off x="9393857"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30" name="Text 26"/>
          <p:cNvSpPr/>
          <p:nvPr/>
        </p:nvSpPr>
        <p:spPr>
          <a:xfrm>
            <a:off x="9851057"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Enviadas</a:t>
            </a:r>
            <a:endParaRPr lang="en-US" sz="2000" dirty="0"/>
          </a:p>
        </p:txBody>
      </p:sp>
      <p:sp>
        <p:nvSpPr>
          <p:cNvPr id="31" name="Text 27"/>
          <p:cNvSpPr/>
          <p:nvPr/>
        </p:nvSpPr>
        <p:spPr>
          <a:xfrm>
            <a:off x="9393857"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Pendientes, entregados y Reentregar.</a:t>
            </a:r>
            <a:endParaRPr lang="en-US" sz="1400" dirty="0"/>
          </a:p>
        </p:txBody>
      </p:sp>
      <p:sp>
        <p:nvSpPr>
          <p:cNvPr id="32" name="Shape 28"/>
          <p:cNvSpPr/>
          <p:nvPr/>
        </p:nvSpPr>
        <p:spPr>
          <a:xfrm>
            <a:off x="61264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33" name="Shape 29"/>
          <p:cNvSpPr/>
          <p:nvPr/>
        </p:nvSpPr>
        <p:spPr>
          <a:xfrm>
            <a:off x="722376" y="3974714"/>
            <a:ext cx="74615" cy="74615"/>
          </a:xfrm>
          <a:prstGeom prst="ellipse">
            <a:avLst/>
          </a:prstGeom>
          <a:solidFill>
            <a:srgbClr val="E5484D"/>
          </a:solidFill>
          <a:ln w="12700">
            <a:solidFill>
              <a:srgbClr val="E5484D"/>
            </a:solidFill>
            <a:prstDash val="solid"/>
          </a:ln>
        </p:spPr>
      </p:sp>
      <p:sp>
        <p:nvSpPr>
          <p:cNvPr id="34" name="Shape 30"/>
          <p:cNvSpPr/>
          <p:nvPr/>
        </p:nvSpPr>
        <p:spPr>
          <a:xfrm>
            <a:off x="821131" y="3974714"/>
            <a:ext cx="74615" cy="74615"/>
          </a:xfrm>
          <a:prstGeom prst="ellipse">
            <a:avLst/>
          </a:prstGeom>
          <a:solidFill>
            <a:srgbClr val="F5A524"/>
          </a:solidFill>
          <a:ln w="12700">
            <a:solidFill>
              <a:srgbClr val="F5A524"/>
            </a:solidFill>
            <a:prstDash val="solid"/>
          </a:ln>
        </p:spPr>
      </p:sp>
      <p:sp>
        <p:nvSpPr>
          <p:cNvPr id="35" name="Shape 31"/>
          <p:cNvSpPr/>
          <p:nvPr/>
        </p:nvSpPr>
        <p:spPr>
          <a:xfrm>
            <a:off x="919886" y="3974714"/>
            <a:ext cx="74615" cy="74615"/>
          </a:xfrm>
          <a:prstGeom prst="ellipse">
            <a:avLst/>
          </a:prstGeom>
          <a:solidFill>
            <a:srgbClr val="30A46C"/>
          </a:solidFill>
          <a:ln w="12700">
            <a:solidFill>
              <a:srgbClr val="30A46C"/>
            </a:solidFill>
            <a:prstDash val="solid"/>
          </a:ln>
        </p:spPr>
      </p:sp>
      <p:sp>
        <p:nvSpPr>
          <p:cNvPr id="36" name="Text 32"/>
          <p:cNvSpPr/>
          <p:nvPr/>
        </p:nvSpPr>
        <p:spPr>
          <a:xfrm>
            <a:off x="112471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37" name="Image 2" descr="Salud">    </p:cNvPr>
          <p:cNvPicPr>
            <a:picLocks noChangeAspect="1"/>
          </p:cNvPicPr>
          <p:nvPr/>
        </p:nvPicPr>
        <p:blipFill>
          <a:blip r:embed="rId3"/>
          <a:stretch>
            <a:fillRect/>
          </a:stretch>
        </p:blipFill>
        <p:spPr>
          <a:xfrm>
            <a:off x="612648" y="4123944"/>
            <a:ext cx="2877386" cy="1798366"/>
          </a:xfrm>
          <a:prstGeom prst="rect">
            <a:avLst/>
          </a:prstGeom>
        </p:spPr>
      </p:pic>
      <p:sp>
        <p:nvSpPr>
          <p:cNvPr id="38" name="Text 33"/>
          <p:cNvSpPr/>
          <p:nvPr/>
        </p:nvSpPr>
        <p:spPr>
          <a:xfrm>
            <a:off x="3727778"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39" name="Text 34"/>
          <p:cNvSpPr/>
          <p:nvPr/>
        </p:nvSpPr>
        <p:spPr>
          <a:xfrm>
            <a:off x="4184978"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Salud</a:t>
            </a:r>
            <a:endParaRPr lang="en-US" sz="2000" dirty="0"/>
          </a:p>
        </p:txBody>
      </p:sp>
      <p:sp>
        <p:nvSpPr>
          <p:cNvPr id="40" name="Text 35"/>
          <p:cNvSpPr/>
          <p:nvPr/>
        </p:nvSpPr>
        <p:spPr>
          <a:xfrm>
            <a:off x="3727778"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UP o DOWN, Swagger y Grafana.</a:t>
            </a:r>
            <a:endParaRPr lang="en-US" sz="1400" dirty="0"/>
          </a:p>
        </p:txBody>
      </p:sp>
      <p:sp>
        <p:nvSpPr>
          <p:cNvPr id="41" name="Shape 36"/>
          <p:cNvSpPr/>
          <p:nvPr/>
        </p:nvSpPr>
        <p:spPr>
          <a:xfrm>
            <a:off x="627872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42" name="Shape 37"/>
          <p:cNvSpPr/>
          <p:nvPr/>
        </p:nvSpPr>
        <p:spPr>
          <a:xfrm>
            <a:off x="6388456" y="3974714"/>
            <a:ext cx="74615" cy="74615"/>
          </a:xfrm>
          <a:prstGeom prst="ellipse">
            <a:avLst/>
          </a:prstGeom>
          <a:solidFill>
            <a:srgbClr val="E5484D"/>
          </a:solidFill>
          <a:ln w="12700">
            <a:solidFill>
              <a:srgbClr val="E5484D"/>
            </a:solidFill>
            <a:prstDash val="solid"/>
          </a:ln>
        </p:spPr>
      </p:sp>
      <p:sp>
        <p:nvSpPr>
          <p:cNvPr id="43" name="Shape 38"/>
          <p:cNvSpPr/>
          <p:nvPr/>
        </p:nvSpPr>
        <p:spPr>
          <a:xfrm>
            <a:off x="6487211" y="3974714"/>
            <a:ext cx="74615" cy="74615"/>
          </a:xfrm>
          <a:prstGeom prst="ellipse">
            <a:avLst/>
          </a:prstGeom>
          <a:solidFill>
            <a:srgbClr val="F5A524"/>
          </a:solidFill>
          <a:ln w="12700">
            <a:solidFill>
              <a:srgbClr val="F5A524"/>
            </a:solidFill>
            <a:prstDash val="solid"/>
          </a:ln>
        </p:spPr>
      </p:sp>
      <p:sp>
        <p:nvSpPr>
          <p:cNvPr id="44" name="Shape 39"/>
          <p:cNvSpPr/>
          <p:nvPr/>
        </p:nvSpPr>
        <p:spPr>
          <a:xfrm>
            <a:off x="6585966" y="3974714"/>
            <a:ext cx="74615" cy="74615"/>
          </a:xfrm>
          <a:prstGeom prst="ellipse">
            <a:avLst/>
          </a:prstGeom>
          <a:solidFill>
            <a:srgbClr val="30A46C"/>
          </a:solidFill>
          <a:ln w="12700">
            <a:solidFill>
              <a:srgbClr val="30A46C"/>
            </a:solidFill>
            <a:prstDash val="solid"/>
          </a:ln>
        </p:spPr>
      </p:sp>
      <p:sp>
        <p:nvSpPr>
          <p:cNvPr id="45" name="Text 40"/>
          <p:cNvSpPr/>
          <p:nvPr/>
        </p:nvSpPr>
        <p:spPr>
          <a:xfrm>
            <a:off x="679079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localhost:8088/#/ayuda</a:t>
            </a:r>
            <a:endParaRPr lang="en-US" sz="700" dirty="0"/>
          </a:p>
        </p:txBody>
      </p:sp>
      <p:pic>
        <p:nvPicPr>
          <p:cNvPr id="46" name="Image 3" descr="Ayuda">    </p:cNvPr>
          <p:cNvPicPr>
            <a:picLocks noChangeAspect="1"/>
          </p:cNvPicPr>
          <p:nvPr/>
        </p:nvPicPr>
        <p:blipFill>
          <a:blip r:embed="rId4"/>
          <a:stretch>
            <a:fillRect/>
          </a:stretch>
        </p:blipFill>
        <p:spPr>
          <a:xfrm>
            <a:off x="6278728" y="4123944"/>
            <a:ext cx="2877386" cy="1798366"/>
          </a:xfrm>
          <a:prstGeom prst="rect">
            <a:avLst/>
          </a:prstGeom>
        </p:spPr>
      </p:pic>
      <p:sp>
        <p:nvSpPr>
          <p:cNvPr id="47" name="Text 41"/>
          <p:cNvSpPr/>
          <p:nvPr/>
        </p:nvSpPr>
        <p:spPr>
          <a:xfrm>
            <a:off x="9393857"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48" name="Text 42"/>
          <p:cNvSpPr/>
          <p:nvPr/>
        </p:nvSpPr>
        <p:spPr>
          <a:xfrm>
            <a:off x="9851057"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Ayuda</a:t>
            </a:r>
            <a:endParaRPr lang="en-US" sz="2000" dirty="0"/>
          </a:p>
        </p:txBody>
      </p:sp>
      <p:sp>
        <p:nvSpPr>
          <p:cNvPr id="49" name="Text 43"/>
          <p:cNvSpPr/>
          <p:nvPr/>
        </p:nvSpPr>
        <p:spPr>
          <a:xfrm>
            <a:off x="9393857"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Diagramas paso a paso.</a:t>
            </a:r>
            <a:endParaRPr lang="en-US" sz="1400" dirty="0"/>
          </a:p>
        </p:txBody>
      </p:sp>
      <p:sp>
        <p:nvSpPr>
          <p:cNvPr id="50" name="Shape 44"/>
          <p:cNvSpPr/>
          <p:nvPr/>
        </p:nvSpPr>
        <p:spPr>
          <a:xfrm>
            <a:off x="0" y="5961888"/>
            <a:ext cx="12191695" cy="475488"/>
          </a:xfrm>
          <a:prstGeom prst="rect">
            <a:avLst/>
          </a:prstGeom>
          <a:solidFill>
            <a:srgbClr val="0B2350"/>
          </a:solidFill>
          <a:ln w="12700">
            <a:solidFill>
              <a:srgbClr val="0B2350"/>
            </a:solidFill>
            <a:prstDash val="solid"/>
          </a:ln>
        </p:spPr>
      </p:sp>
      <p:sp>
        <p:nvSpPr>
          <p:cNvPr id="5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2" name="Text 4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Hace visible lo invisible: la bandeja de salida, los reintentos y la idempotencia.</a:t>
            </a:r>
            <a:endParaRPr lang="en-US" sz="1400" dirty="0"/>
          </a:p>
        </p:txBody>
      </p:sp>
      <p:sp>
        <p:nvSpPr>
          <p:cNvPr id="53"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 notificaciones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usuario no se entera; el aviso llega cuando el servicio vuelve.</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700" b="1" dirty="0">
                <a:solidFill>
                  <a:srgbClr val="AB243E"/>
                </a:solidFill>
                <a:latin typeface="Segoe UI" pitchFamily="34" charset="0"/>
                <a:ea typeface="Segoe UI" pitchFamily="34" charset="-122"/>
                <a:cs typeface="Segoe UI" pitchFamily="34" charset="-120"/>
              </a:rPr>
              <a:t>notificaciones está caído</a:t>
            </a:r>
            <a:pPr indent="0" marL="0">
              <a:buNone/>
            </a:pPr>
            <a:r>
              <a:rPr lang="en-US" sz="1700" dirty="0">
                <a:solidFill>
                  <a:srgbClr val="0B1A3C"/>
                </a:solidFill>
                <a:latin typeface="Segoe UI" pitchFamily="34" charset="0"/>
                <a:ea typeface="Segoe UI" pitchFamily="34" charset="-122"/>
                <a:cs typeface="Segoe UI" pitchFamily="34" charset="-120"/>
              </a:rPr>
              <a:t>   docker compose stop servicio-notificaciones</a:t>
            </a:r>
            <a:endParaRPr lang="en-US" sz="170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700" b="1" dirty="0">
                <a:solidFill>
                  <a:srgbClr val="0A6648"/>
                </a:solidFill>
                <a:latin typeface="Segoe UI" pitchFamily="34" charset="0"/>
                <a:ea typeface="Segoe UI" pitchFamily="34" charset="-122"/>
                <a:cs typeface="Segoe UI" pitchFamily="34" charset="-120"/>
              </a:rPr>
              <a:t>1 aviso, 0 perdidos</a:t>
            </a:r>
            <a:pPr indent="0" marL="0">
              <a:buNone/>
            </a:pPr>
            <a:r>
              <a:rPr lang="en-US" sz="1700" dirty="0">
                <a:solidFill>
                  <a:srgbClr val="0B1A3C"/>
                </a:solidFill>
                <a:latin typeface="Segoe UI" pitchFamily="34" charset="0"/>
                <a:ea typeface="Segoe UI" pitchFamily="34" charset="-122"/>
                <a:cs typeface="Segoe UI" pitchFamily="34" charset="-120"/>
              </a:rPr>
              <a:t>   Sin intervención y sin duplicados.</a:t>
            </a:r>
            <a:endParaRPr lang="en-US" sz="170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1" name="Icono send"/>
          <p:cNvSpPr/>
          <p:nvPr/>
        </p:nvSpPr>
        <p:spPr>
          <a:xfrm>
            <a:off x="1756706" y="3375263"/>
            <a:ext cx="453484" cy="453484"/>
          </a:xfrm>
          <a:custGeom>
            <a:avLst/>
            <a:gdLst/>
            <a:ahLst/>
            <a:cxnLst/>
            <a:rect l="l" t="t" r="r" b="b"/>
            <a:pathLst>
              <a:path w="453484" h="453484">
                <a:moveTo>
                  <a:pt x="274660" y="409760"/>
                </a:moveTo>
                <a:cubicBezTo>
                  <a:pt x="276130" y="413424"/>
                  <a:pt x="279724" y="415788"/>
                  <a:pt x="283670" y="415687"/>
                </a:cubicBezTo>
                <a:cubicBezTo>
                  <a:pt x="287617" y="415586"/>
                  <a:pt x="291084" y="413041"/>
                  <a:pt x="292365" y="409307"/>
                </a:cubicBezTo>
                <a:lnTo>
                  <a:pt x="415183" y="50299"/>
                </a:lnTo>
                <a:cubicBezTo>
                  <a:pt x="416418" y="46881"/>
                  <a:pt x="415565" y="43058"/>
                  <a:pt x="412996" y="40488"/>
                </a:cubicBezTo>
                <a:cubicBezTo>
                  <a:pt x="410426" y="37919"/>
                  <a:pt x="406603" y="37066"/>
                  <a:pt x="403185" y="38300"/>
                </a:cubicBezTo>
                <a:lnTo>
                  <a:pt x="44177" y="161119"/>
                </a:lnTo>
                <a:cubicBezTo>
                  <a:pt x="40443" y="162400"/>
                  <a:pt x="37898" y="165867"/>
                  <a:pt x="37797" y="169814"/>
                </a:cubicBezTo>
                <a:cubicBezTo>
                  <a:pt x="37696" y="173760"/>
                  <a:pt x="40060" y="177354"/>
                  <a:pt x="43723" y="178824"/>
                </a:cubicBezTo>
                <a:lnTo>
                  <a:pt x="193562" y="238910"/>
                </a:lnTo>
                <a:cubicBezTo>
                  <a:pt x="203134" y="242743"/>
                  <a:pt x="210724" y="250319"/>
                  <a:pt x="214573" y="259884"/>
                </a:cubicBezTo>
                <a:close/>
                <a:moveTo>
                  <a:pt x="412935" y="40568"/>
                </a:moveTo>
                <a:lnTo>
                  <a:pt x="206222" y="247262"/>
                </a:lnTo>
              </a:path>
            </a:pathLst>
          </a:custGeom>
          <a:noFill/>
          <a:ln w="33067" cap="rnd">
            <a:solidFill>
              <a:srgbClr val="0B2350"/>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Enviar</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Responde 200: solicitud ENVIADA y evento guardado.</a:t>
            </a:r>
            <a:endParaRPr lang="en-US" sz="1300" dirty="0"/>
          </a:p>
        </p:txBody>
      </p:sp>
      <p:sp>
        <p:nvSpPr>
          <p:cNvPr id="35" name="Text 33"/>
          <p:cNvSpPr/>
          <p:nvPr/>
        </p:nvSpPr>
        <p:spPr>
          <a:xfrm>
            <a:off x="41306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cada 5 s</a:t>
            </a:r>
            <a:endParaRPr lang="en-US" sz="1100" dirty="0"/>
          </a:p>
        </p:txBody>
      </p:sp>
      <p:sp>
        <p:nvSpPr>
          <p:cNvPr id="36" name="Shape 34"/>
          <p:cNvSpPr/>
          <p:nvPr/>
        </p:nvSpPr>
        <p:spPr>
          <a:xfrm>
            <a:off x="43051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7" name="Icono refresh-cw"/>
          <p:cNvSpPr/>
          <p:nvPr/>
        </p:nvSpPr>
        <p:spPr>
          <a:xfrm>
            <a:off x="4498306"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8A4B06"/>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Reintenta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3 intentos por ciclo; el evento sigue pendiente.</a:t>
            </a:r>
            <a:endParaRPr lang="en-US" sz="1300" dirty="0"/>
          </a:p>
        </p:txBody>
      </p:sp>
      <p:sp>
        <p:nvSpPr>
          <p:cNvPr id="41" name="Text 39"/>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la UI</a:t>
            </a:r>
            <a:endParaRPr lang="en-US" sz="1100" dirty="0"/>
          </a:p>
        </p:txBody>
      </p:sp>
      <p:sp>
        <p:nvSpPr>
          <p:cNvPr id="42" name="Shape 40"/>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3" name="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Salud en DOWN y “1 evento en camino”.</a:t>
            </a:r>
            <a:endParaRPr lang="en-US" sz="1300" dirty="0"/>
          </a:p>
        </p:txBody>
      </p:sp>
      <p:sp>
        <p:nvSpPr>
          <p:cNvPr id="47" name="Text 45"/>
          <p:cNvSpPr/>
          <p:nvPr/>
        </p:nvSpPr>
        <p:spPr>
          <a:xfrm>
            <a:off x="9568167"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al volver</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bell"/>
          <p:cNvSpPr/>
          <p:nvPr/>
        </p:nvSpPr>
        <p:spPr>
          <a:xfrm>
            <a:off x="9981505" y="3375263"/>
            <a:ext cx="453484" cy="453484"/>
          </a:xfrm>
          <a:custGeom>
            <a:avLst/>
            <a:gdLst/>
            <a:ahLst/>
            <a:cxnLst/>
            <a:rect l="l" t="t" r="r" b="b"/>
            <a:pathLst>
              <a:path w="453484" h="453484">
                <a:moveTo>
                  <a:pt x="194016" y="396798"/>
                </a:moveTo>
                <a:cubicBezTo>
                  <a:pt x="200766" y="408490"/>
                  <a:pt x="213241" y="415692"/>
                  <a:pt x="226742" y="415692"/>
                </a:cubicBezTo>
                <a:cubicBezTo>
                  <a:pt x="240242" y="415692"/>
                  <a:pt x="252718" y="408490"/>
                  <a:pt x="259468" y="396798"/>
                </a:cubicBezTo>
                <a:moveTo>
                  <a:pt x="61636" y="289587"/>
                </a:moveTo>
                <a:cubicBezTo>
                  <a:pt x="56593" y="295115"/>
                  <a:pt x="55286" y="303098"/>
                  <a:pt x="58305" y="309945"/>
                </a:cubicBezTo>
                <a:cubicBezTo>
                  <a:pt x="61323" y="316792"/>
                  <a:pt x="68098" y="321212"/>
                  <a:pt x="75581" y="321218"/>
                </a:cubicBezTo>
                <a:lnTo>
                  <a:pt x="377903" y="321218"/>
                </a:lnTo>
                <a:cubicBezTo>
                  <a:pt x="385385" y="321220"/>
                  <a:pt x="392164" y="316808"/>
                  <a:pt x="395190" y="309966"/>
                </a:cubicBezTo>
                <a:cubicBezTo>
                  <a:pt x="398217" y="303124"/>
                  <a:pt x="396921" y="295140"/>
                  <a:pt x="391886" y="289606"/>
                </a:cubicBezTo>
                <a:cubicBezTo>
                  <a:pt x="366755" y="263701"/>
                  <a:pt x="340113" y="236171"/>
                  <a:pt x="340113" y="151161"/>
                </a:cubicBezTo>
                <a:cubicBezTo>
                  <a:pt x="340113" y="88548"/>
                  <a:pt x="289355" y="37790"/>
                  <a:pt x="226742" y="37790"/>
                </a:cubicBezTo>
                <a:cubicBezTo>
                  <a:pt x="164129" y="37790"/>
                  <a:pt x="113371" y="88548"/>
                  <a:pt x="113371" y="151161"/>
                </a:cubicBezTo>
                <a:cubicBezTo>
                  <a:pt x="113371" y="236171"/>
                  <a:pt x="86710" y="263701"/>
                  <a:pt x="61636" y="289587"/>
                </a:cubicBez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Entrega</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Mismo eventoId: se crea el aviso.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se comporta cuando algo falla</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falla tiene una reacción prevista y algo visible en la UI.</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FALLA</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REACCIONA EL SISTEMA</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SE VE EN LA UI</a:t>
            </a:r>
            <a:endParaRPr lang="en-US" sz="1150" dirty="0"/>
          </a:p>
        </p:txBody>
      </p:sp>
      <p:sp>
        <p:nvSpPr>
          <p:cNvPr id="18" name="Shape 16"/>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546811"/>
          </a:xfrm>
          <a:prstGeom prst="rect">
            <a:avLst/>
          </a:prstGeom>
          <a:solidFill>
            <a:srgbClr val="AB243E"/>
          </a:solidFill>
          <a:ln w="12700">
            <a:solidFill>
              <a:srgbClr val="AB243E"/>
            </a:solidFill>
            <a:prstDash val="solid"/>
          </a:ln>
        </p:spPr>
      </p:sp>
      <p:sp>
        <p:nvSpPr>
          <p:cNvPr id="20" name="Shape 18"/>
          <p:cNvSpPr/>
          <p:nvPr/>
        </p:nvSpPr>
        <p:spPr>
          <a:xfrm>
            <a:off x="772668" y="2376526"/>
            <a:ext cx="512064" cy="512064"/>
          </a:xfrm>
          <a:prstGeom prst="ellipse">
            <a:avLst/>
          </a:prstGeom>
          <a:solidFill>
            <a:srgbClr val="F7E3E7"/>
          </a:solidFill>
          <a:ln w="12700">
            <a:solidFill>
              <a:srgbClr val="F7E3E7"/>
            </a:solidFill>
            <a:prstDash val="solid"/>
          </a:ln>
        </p:spPr>
      </p:sp>
      <p:sp>
        <p:nvSpPr>
          <p:cNvPr id="21" name="Icono siren"/>
          <p:cNvSpPr/>
          <p:nvPr/>
        </p:nvSpPr>
        <p:spPr>
          <a:xfrm>
            <a:off x="895563" y="2499421"/>
            <a:ext cx="266273" cy="266273"/>
          </a:xfrm>
          <a:custGeom>
            <a:avLst/>
            <a:gdLst/>
            <a:ahLst/>
            <a:cxnLst/>
            <a:rect l="l" t="t" r="r" b="b"/>
            <a:pathLst>
              <a:path w="266273" h="266273">
                <a:moveTo>
                  <a:pt x="77663" y="199705"/>
                </a:moveTo>
                <a:lnTo>
                  <a:pt x="77663" y="133137"/>
                </a:lnTo>
                <a:cubicBezTo>
                  <a:pt x="77663" y="102499"/>
                  <a:pt x="102499" y="77663"/>
                  <a:pt x="133137" y="77663"/>
                </a:cubicBezTo>
                <a:cubicBezTo>
                  <a:pt x="163774" y="77663"/>
                  <a:pt x="188610" y="102499"/>
                  <a:pt x="188610" y="133137"/>
                </a:cubicBezTo>
                <a:lnTo>
                  <a:pt x="188610" y="199705"/>
                </a:lnTo>
                <a:moveTo>
                  <a:pt x="55474" y="232989"/>
                </a:moveTo>
                <a:cubicBezTo>
                  <a:pt x="55474" y="239117"/>
                  <a:pt x="60441" y="244084"/>
                  <a:pt x="66568" y="244084"/>
                </a:cubicBezTo>
                <a:lnTo>
                  <a:pt x="199705" y="244084"/>
                </a:lnTo>
                <a:cubicBezTo>
                  <a:pt x="205832" y="244084"/>
                  <a:pt x="210800" y="239117"/>
                  <a:pt x="210800" y="232989"/>
                </a:cubicBezTo>
                <a:lnTo>
                  <a:pt x="210800" y="221894"/>
                </a:lnTo>
                <a:cubicBezTo>
                  <a:pt x="210800" y="209640"/>
                  <a:pt x="200865" y="199705"/>
                  <a:pt x="188610" y="199705"/>
                </a:cubicBezTo>
                <a:lnTo>
                  <a:pt x="77663" y="199705"/>
                </a:lnTo>
                <a:cubicBezTo>
                  <a:pt x="65408" y="199705"/>
                  <a:pt x="55474" y="209640"/>
                  <a:pt x="55474" y="221894"/>
                </a:cubicBezTo>
                <a:close/>
                <a:moveTo>
                  <a:pt x="232989" y="133137"/>
                </a:moveTo>
                <a:lnTo>
                  <a:pt x="244084" y="133137"/>
                </a:lnTo>
                <a:moveTo>
                  <a:pt x="205252" y="49926"/>
                </a:moveTo>
                <a:lnTo>
                  <a:pt x="199705" y="55474"/>
                </a:lnTo>
                <a:moveTo>
                  <a:pt x="22189" y="133137"/>
                </a:moveTo>
                <a:lnTo>
                  <a:pt x="33284" y="133137"/>
                </a:lnTo>
                <a:moveTo>
                  <a:pt x="133137" y="22189"/>
                </a:moveTo>
                <a:lnTo>
                  <a:pt x="133137" y="33284"/>
                </a:lnTo>
                <a:moveTo>
                  <a:pt x="54686" y="54686"/>
                </a:moveTo>
                <a:lnTo>
                  <a:pt x="62530" y="62530"/>
                </a:lnTo>
                <a:moveTo>
                  <a:pt x="133137" y="133137"/>
                </a:moveTo>
                <a:lnTo>
                  <a:pt x="133137" y="199705"/>
                </a:lnTo>
              </a:path>
            </a:pathLst>
          </a:custGeom>
          <a:noFill/>
          <a:ln w="22189" cap="rnd">
            <a:solidFill>
              <a:srgbClr val="AB243E"/>
            </a:solidFill>
            <a:prstDash val="solid"/>
            <a:round/>
          </a:ln>
        </p:spPr>
      </p:sp>
      <p:sp>
        <p:nvSpPr>
          <p:cNvPr id="22" name="Text 20"/>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notificaciones está caído</a:t>
            </a:r>
            <a:endParaRPr lang="en-US" sz="1500" dirty="0"/>
          </a:p>
        </p:txBody>
      </p:sp>
      <p:sp>
        <p:nvSpPr>
          <p:cNvPr id="23" name="Shape 21"/>
          <p:cNvSpPr/>
          <p:nvPr/>
        </p:nvSpPr>
        <p:spPr>
          <a:xfrm>
            <a:off x="4140961" y="2395728"/>
            <a:ext cx="0" cy="473659"/>
          </a:xfrm>
          <a:prstGeom prst="line">
            <a:avLst/>
          </a:prstGeom>
          <a:noFill/>
          <a:ln w="9525">
            <a:solidFill>
              <a:srgbClr val="DFE6F0"/>
            </a:solidFill>
            <a:prstDash val="solid"/>
          </a:ln>
        </p:spPr>
      </p:sp>
      <p:sp>
        <p:nvSpPr>
          <p:cNvPr id="24" name="Text 22"/>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evento queda pendiente y se reintenta cada 5 s</a:t>
            </a:r>
            <a:endParaRPr lang="en-US" sz="1400" dirty="0"/>
          </a:p>
        </p:txBody>
      </p:sp>
      <p:sp>
        <p:nvSpPr>
          <p:cNvPr id="25" name="Shape 23"/>
          <p:cNvSpPr/>
          <p:nvPr/>
        </p:nvSpPr>
        <p:spPr>
          <a:xfrm>
            <a:off x="8114733" y="2395728"/>
            <a:ext cx="0" cy="473659"/>
          </a:xfrm>
          <a:prstGeom prst="line">
            <a:avLst/>
          </a:prstGeom>
          <a:noFill/>
          <a:ln w="9525">
            <a:solidFill>
              <a:srgbClr val="DFE6F0"/>
            </a:solidFill>
            <a:prstDash val="solid"/>
          </a:ln>
        </p:spPr>
      </p:sp>
      <p:sp>
        <p:nvSpPr>
          <p:cNvPr id="26" name="Text 24"/>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Salud en DOWN · “evento en camino”</a:t>
            </a:r>
            <a:endParaRPr lang="en-US" sz="1400" dirty="0"/>
          </a:p>
        </p:txBody>
      </p:sp>
      <p:sp>
        <p:nvSpPr>
          <p:cNvPr id="27" name="Shape 25"/>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198571"/>
            <a:ext cx="64008" cy="546811"/>
          </a:xfrm>
          <a:prstGeom prst="rect">
            <a:avLst/>
          </a:prstGeom>
          <a:solidFill>
            <a:srgbClr val="8A4B06"/>
          </a:solidFill>
          <a:ln w="12700">
            <a:solidFill>
              <a:srgbClr val="8A4B06"/>
            </a:solidFill>
            <a:prstDash val="solid"/>
          </a:ln>
        </p:spPr>
      </p:sp>
      <p:sp>
        <p:nvSpPr>
          <p:cNvPr id="29" name="Shape 27"/>
          <p:cNvSpPr/>
          <p:nvPr/>
        </p:nvSpPr>
        <p:spPr>
          <a:xfrm>
            <a:off x="772668" y="3215945"/>
            <a:ext cx="512064" cy="512064"/>
          </a:xfrm>
          <a:prstGeom prst="ellipse">
            <a:avLst/>
          </a:prstGeom>
          <a:solidFill>
            <a:srgbClr val="FCEFD6"/>
          </a:solidFill>
          <a:ln w="12700">
            <a:solidFill>
              <a:srgbClr val="FCEFD6"/>
            </a:solidFill>
            <a:prstDash val="solid"/>
          </a:ln>
        </p:spPr>
      </p:sp>
      <p:sp>
        <p:nvSpPr>
          <p:cNvPr id="30" name="Icono copy"/>
          <p:cNvSpPr/>
          <p:nvPr/>
        </p:nvSpPr>
        <p:spPr>
          <a:xfrm>
            <a:off x="895563" y="3338840"/>
            <a:ext cx="266273" cy="266273"/>
          </a:xfrm>
          <a:custGeom>
            <a:avLst/>
            <a:gdLst/>
            <a:ahLst/>
            <a:cxnLst/>
            <a:rect l="l" t="t" r="r" b="b"/>
            <a:pathLst>
              <a:path w="266273" h="266273">
                <a:moveTo>
                  <a:pt x="110947" y="88758"/>
                </a:moveTo>
                <a:lnTo>
                  <a:pt x="221894" y="88758"/>
                </a:lnTo>
                <a:cubicBezTo>
                  <a:pt x="234149" y="88758"/>
                  <a:pt x="244084" y="98692"/>
                  <a:pt x="244084" y="110947"/>
                </a:cubicBezTo>
                <a:lnTo>
                  <a:pt x="244084" y="221894"/>
                </a:lnTo>
                <a:cubicBezTo>
                  <a:pt x="244084" y="234149"/>
                  <a:pt x="234149" y="244084"/>
                  <a:pt x="221894" y="244084"/>
                </a:cubicBezTo>
                <a:lnTo>
                  <a:pt x="110947" y="244084"/>
                </a:lnTo>
                <a:cubicBezTo>
                  <a:pt x="98692" y="244084"/>
                  <a:pt x="88758" y="234149"/>
                  <a:pt x="88758" y="221894"/>
                </a:cubicBezTo>
                <a:lnTo>
                  <a:pt x="88758" y="110947"/>
                </a:lnTo>
                <a:cubicBezTo>
                  <a:pt x="88758" y="98692"/>
                  <a:pt x="98692" y="88758"/>
                  <a:pt x="110947" y="88758"/>
                </a:cubicBezTo>
                <a:close/>
                <a:moveTo>
                  <a:pt x="44379" y="177516"/>
                </a:moveTo>
                <a:cubicBezTo>
                  <a:pt x="32175" y="177516"/>
                  <a:pt x="22189" y="167530"/>
                  <a:pt x="22189" y="155326"/>
                </a:cubicBezTo>
                <a:lnTo>
                  <a:pt x="22189" y="44379"/>
                </a:lnTo>
                <a:cubicBezTo>
                  <a:pt x="22189" y="32175"/>
                  <a:pt x="32175" y="22189"/>
                  <a:pt x="44379" y="22189"/>
                </a:cubicBezTo>
                <a:lnTo>
                  <a:pt x="155326" y="22189"/>
                </a:lnTo>
                <a:cubicBezTo>
                  <a:pt x="167530" y="22189"/>
                  <a:pt x="177516" y="32175"/>
                  <a:pt x="177516" y="44379"/>
                </a:cubicBezTo>
              </a:path>
            </a:pathLst>
          </a:custGeom>
          <a:noFill/>
          <a:ln w="22189" cap="rnd">
            <a:solidFill>
              <a:srgbClr val="8A4B06"/>
            </a:solidFill>
            <a:prstDash val="solid"/>
            <a:round/>
          </a:ln>
        </p:spPr>
      </p:sp>
      <p:sp>
        <p:nvSpPr>
          <p:cNvPr id="31" name="Text 29"/>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El evento llega dos veces</a:t>
            </a:r>
            <a:endParaRPr lang="en-US" sz="1500" dirty="0"/>
          </a:p>
        </p:txBody>
      </p:sp>
      <p:sp>
        <p:nvSpPr>
          <p:cNvPr id="32" name="Shape 30"/>
          <p:cNvSpPr/>
          <p:nvPr/>
        </p:nvSpPr>
        <p:spPr>
          <a:xfrm>
            <a:off x="4140961" y="3235147"/>
            <a:ext cx="0" cy="473659"/>
          </a:xfrm>
          <a:prstGeom prst="line">
            <a:avLst/>
          </a:prstGeom>
          <a:noFill/>
          <a:ln w="9525">
            <a:solidFill>
              <a:srgbClr val="DFE6F0"/>
            </a:solidFill>
            <a:prstDash val="solid"/>
          </a:ln>
        </p:spPr>
      </p:sp>
      <p:sp>
        <p:nvSpPr>
          <p:cNvPr id="33" name="Text 31"/>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ConsumoIdempotente lo reconoce y lo ignora</a:t>
            </a:r>
            <a:endParaRPr lang="en-US" sz="1400" dirty="0"/>
          </a:p>
        </p:txBody>
      </p:sp>
      <p:sp>
        <p:nvSpPr>
          <p:cNvPr id="34" name="Shape 32"/>
          <p:cNvSpPr/>
          <p:nvPr/>
        </p:nvSpPr>
        <p:spPr>
          <a:xfrm>
            <a:off x="8114733" y="3235147"/>
            <a:ext cx="0" cy="473659"/>
          </a:xfrm>
          <a:prstGeom prst="line">
            <a:avLst/>
          </a:prstGeom>
          <a:noFill/>
          <a:ln w="9525">
            <a:solidFill>
              <a:srgbClr val="DFE6F0"/>
            </a:solidFill>
            <a:prstDash val="solid"/>
          </a:ln>
        </p:spPr>
      </p:sp>
      <p:sp>
        <p:nvSpPr>
          <p:cNvPr id="35" name="Text 33"/>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aviso no se duplicó” · 0 duplicados</a:t>
            </a:r>
            <a:endParaRPr lang="en-US" sz="1400" dirty="0"/>
          </a:p>
        </p:txBody>
      </p:sp>
      <p:sp>
        <p:nvSpPr>
          <p:cNvPr id="36" name="Shape 34"/>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4037990"/>
            <a:ext cx="64008" cy="546811"/>
          </a:xfrm>
          <a:prstGeom prst="rect">
            <a:avLst/>
          </a:prstGeom>
          <a:solidFill>
            <a:srgbClr val="AB243E"/>
          </a:solidFill>
          <a:ln w="12700">
            <a:solidFill>
              <a:srgbClr val="AB243E"/>
            </a:solidFill>
            <a:prstDash val="solid"/>
          </a:ln>
        </p:spPr>
      </p:sp>
      <p:sp>
        <p:nvSpPr>
          <p:cNvPr id="38" name="Shape 36"/>
          <p:cNvSpPr/>
          <p:nvPr/>
        </p:nvSpPr>
        <p:spPr>
          <a:xfrm>
            <a:off x="772668" y="4055364"/>
            <a:ext cx="512064" cy="512064"/>
          </a:xfrm>
          <a:prstGeom prst="ellipse">
            <a:avLst/>
          </a:prstGeom>
          <a:solidFill>
            <a:srgbClr val="F7E3E7"/>
          </a:solidFill>
          <a:ln w="12700">
            <a:solidFill>
              <a:srgbClr val="F7E3E7"/>
            </a:solidFill>
            <a:prstDash val="solid"/>
          </a:ln>
        </p:spPr>
      </p:sp>
      <p:sp>
        <p:nvSpPr>
          <p:cNvPr id="39" name="Icono ban"/>
          <p:cNvSpPr/>
          <p:nvPr/>
        </p:nvSpPr>
        <p:spPr>
          <a:xfrm>
            <a:off x="895563" y="4178259"/>
            <a:ext cx="266273" cy="266273"/>
          </a:xfrm>
          <a:custGeom>
            <a:avLst/>
            <a:gdLst/>
            <a:ahLst/>
            <a:cxnLst/>
            <a:rect l="l" t="t" r="r" b="b"/>
            <a:pathLst>
              <a:path w="266273" h="266273">
                <a:moveTo>
                  <a:pt x="244084" y="133137"/>
                </a:moveTo>
                <a:cubicBezTo>
                  <a:pt x="244084" y="194411"/>
                  <a:pt x="194411" y="244084"/>
                  <a:pt x="133137" y="244084"/>
                </a:cubicBezTo>
                <a:cubicBezTo>
                  <a:pt x="71862" y="244084"/>
                  <a:pt x="22189" y="194411"/>
                  <a:pt x="22189" y="133137"/>
                </a:cubicBezTo>
                <a:cubicBezTo>
                  <a:pt x="22189" y="71862"/>
                  <a:pt x="71862" y="22189"/>
                  <a:pt x="133137" y="22189"/>
                </a:cubicBezTo>
                <a:cubicBezTo>
                  <a:pt x="194411" y="22189"/>
                  <a:pt x="244084" y="71862"/>
                  <a:pt x="244084" y="133137"/>
                </a:cubicBezTo>
                <a:close/>
                <a:moveTo>
                  <a:pt x="54364" y="54364"/>
                </a:moveTo>
                <a:lnTo>
                  <a:pt x="211909" y="211909"/>
                </a:lnTo>
              </a:path>
            </a:pathLst>
          </a:custGeom>
          <a:noFill/>
          <a:ln w="22189" cap="rnd">
            <a:solidFill>
              <a:srgbClr val="AB243E"/>
            </a:solidFill>
            <a:prstDash val="solid"/>
            <a:round/>
          </a:ln>
        </p:spPr>
      </p:sp>
      <p:sp>
        <p:nvSpPr>
          <p:cNvPr id="40" name="Text 38"/>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Enviar dos veces o aprobar un borrador</a:t>
            </a:r>
            <a:endParaRPr lang="en-US" sz="1500" dirty="0"/>
          </a:p>
        </p:txBody>
      </p:sp>
      <p:sp>
        <p:nvSpPr>
          <p:cNvPr id="41" name="Shape 39"/>
          <p:cNvSpPr/>
          <p:nvPr/>
        </p:nvSpPr>
        <p:spPr>
          <a:xfrm>
            <a:off x="4140961" y="4074566"/>
            <a:ext cx="0" cy="473659"/>
          </a:xfrm>
          <a:prstGeom prst="line">
            <a:avLst/>
          </a:prstGeom>
          <a:noFill/>
          <a:ln w="9525">
            <a:solidFill>
              <a:srgbClr val="DFE6F0"/>
            </a:solidFill>
            <a:prstDash val="solid"/>
          </a:ln>
        </p:spPr>
      </p:sp>
      <p:sp>
        <p:nvSpPr>
          <p:cNvPr id="42" name="Text 40"/>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dominio rechaza la transición: 409</a:t>
            </a:r>
            <a:endParaRPr lang="en-US" sz="1400" dirty="0"/>
          </a:p>
        </p:txBody>
      </p:sp>
      <p:sp>
        <p:nvSpPr>
          <p:cNvPr id="43" name="Shape 41"/>
          <p:cNvSpPr/>
          <p:nvPr/>
        </p:nvSpPr>
        <p:spPr>
          <a:xfrm>
            <a:off x="8114733" y="4074566"/>
            <a:ext cx="0" cy="473659"/>
          </a:xfrm>
          <a:prstGeom prst="line">
            <a:avLst/>
          </a:prstGeom>
          <a:noFill/>
          <a:ln w="9525">
            <a:solidFill>
              <a:srgbClr val="DFE6F0"/>
            </a:solidFill>
            <a:prstDash val="solid"/>
          </a:ln>
        </p:spPr>
      </p:sp>
      <p:sp>
        <p:nvSpPr>
          <p:cNvPr id="44" name="Text 42"/>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Diálogo con el motivo del 409</a:t>
            </a:r>
            <a:endParaRPr lang="en-US" sz="1400" dirty="0"/>
          </a:p>
        </p:txBody>
      </p:sp>
      <p:sp>
        <p:nvSpPr>
          <p:cNvPr id="45" name="Shape 43"/>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877410"/>
            <a:ext cx="64008" cy="546811"/>
          </a:xfrm>
          <a:prstGeom prst="rect">
            <a:avLst/>
          </a:prstGeom>
          <a:solidFill>
            <a:srgbClr val="8A4B06"/>
          </a:solidFill>
          <a:ln w="12700">
            <a:solidFill>
              <a:srgbClr val="8A4B06"/>
            </a:solidFill>
            <a:prstDash val="solid"/>
          </a:ln>
        </p:spPr>
      </p:sp>
      <p:sp>
        <p:nvSpPr>
          <p:cNvPr id="47" name="Shape 45"/>
          <p:cNvSpPr/>
          <p:nvPr/>
        </p:nvSpPr>
        <p:spPr>
          <a:xfrm>
            <a:off x="772668" y="4894783"/>
            <a:ext cx="512064" cy="512064"/>
          </a:xfrm>
          <a:prstGeom prst="ellipse">
            <a:avLst/>
          </a:prstGeom>
          <a:solidFill>
            <a:srgbClr val="FCEFD6"/>
          </a:solidFill>
          <a:ln w="12700">
            <a:solidFill>
              <a:srgbClr val="FCEFD6"/>
            </a:solidFill>
            <a:prstDash val="solid"/>
          </a:ln>
        </p:spPr>
      </p:sp>
      <p:sp>
        <p:nvSpPr>
          <p:cNvPr id="48" name="Icono triangle-alert"/>
          <p:cNvSpPr/>
          <p:nvPr/>
        </p:nvSpPr>
        <p:spPr>
          <a:xfrm>
            <a:off x="895563" y="5017679"/>
            <a:ext cx="266273" cy="266273"/>
          </a:xfrm>
          <a:custGeom>
            <a:avLst/>
            <a:gdLst/>
            <a:ahLst/>
            <a:cxnLst/>
            <a:rect l="l" t="t" r="r" b="b"/>
            <a:pathLst>
              <a:path w="266273" h="266273">
                <a:moveTo>
                  <a:pt x="241088" y="199705"/>
                </a:moveTo>
                <a:lnTo>
                  <a:pt x="152331" y="44379"/>
                </a:lnTo>
                <a:cubicBezTo>
                  <a:pt x="148391" y="37427"/>
                  <a:pt x="141017" y="33130"/>
                  <a:pt x="133026" y="33130"/>
                </a:cubicBezTo>
                <a:cubicBezTo>
                  <a:pt x="125035" y="33130"/>
                  <a:pt x="117661" y="37427"/>
                  <a:pt x="113721" y="44379"/>
                </a:cubicBezTo>
                <a:lnTo>
                  <a:pt x="24963" y="199705"/>
                </a:lnTo>
                <a:cubicBezTo>
                  <a:pt x="20981" y="206601"/>
                  <a:pt x="21000" y="215103"/>
                  <a:pt x="25012" y="221981"/>
                </a:cubicBezTo>
                <a:cubicBezTo>
                  <a:pt x="29025" y="228860"/>
                  <a:pt x="36416" y="233061"/>
                  <a:pt x="44379" y="232989"/>
                </a:cubicBezTo>
                <a:lnTo>
                  <a:pt x="221894" y="232989"/>
                </a:lnTo>
                <a:cubicBezTo>
                  <a:pt x="229818" y="232981"/>
                  <a:pt x="237136" y="228749"/>
                  <a:pt x="241094" y="221885"/>
                </a:cubicBezTo>
                <a:cubicBezTo>
                  <a:pt x="245052" y="215021"/>
                  <a:pt x="245050" y="206567"/>
                  <a:pt x="241088" y="199705"/>
                </a:cubicBezTo>
                <a:moveTo>
                  <a:pt x="133137" y="99852"/>
                </a:moveTo>
                <a:lnTo>
                  <a:pt x="133137" y="144231"/>
                </a:lnTo>
                <a:moveTo>
                  <a:pt x="133137" y="188610"/>
                </a:moveTo>
                <a:lnTo>
                  <a:pt x="133248" y="188610"/>
                </a:lnTo>
              </a:path>
            </a:pathLst>
          </a:custGeom>
          <a:noFill/>
          <a:ln w="22189" cap="rnd">
            <a:solidFill>
              <a:srgbClr val="8A4B06"/>
            </a:solidFill>
            <a:prstDash val="solid"/>
            <a:round/>
          </a:ln>
        </p:spPr>
      </p:sp>
      <p:sp>
        <p:nvSpPr>
          <p:cNvPr id="49" name="Text 47"/>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Faltan datos o el id ya existe</a:t>
            </a:r>
            <a:endParaRPr lang="en-US" sz="1500" dirty="0"/>
          </a:p>
        </p:txBody>
      </p:sp>
      <p:sp>
        <p:nvSpPr>
          <p:cNvPr id="50" name="Shape 48"/>
          <p:cNvSpPr/>
          <p:nvPr/>
        </p:nvSpPr>
        <p:spPr>
          <a:xfrm>
            <a:off x="4140961" y="4913986"/>
            <a:ext cx="0" cy="473659"/>
          </a:xfrm>
          <a:prstGeom prst="line">
            <a:avLst/>
          </a:prstGeom>
          <a:noFill/>
          <a:ln w="9525">
            <a:solidFill>
              <a:srgbClr val="DFE6F0"/>
            </a:solidFill>
            <a:prstDash val="solid"/>
          </a:ln>
        </p:spPr>
      </p:sp>
      <p:sp>
        <p:nvSpPr>
          <p:cNvPr id="51" name="Text 49"/>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 valida antes de guardar: 400 o 409</a:t>
            </a:r>
            <a:endParaRPr lang="en-US" sz="1400" dirty="0"/>
          </a:p>
        </p:txBody>
      </p:sp>
      <p:sp>
        <p:nvSpPr>
          <p:cNvPr id="52" name="Shape 50"/>
          <p:cNvSpPr/>
          <p:nvPr/>
        </p:nvSpPr>
        <p:spPr>
          <a:xfrm>
            <a:off x="8114733" y="4913986"/>
            <a:ext cx="0" cy="473659"/>
          </a:xfrm>
          <a:prstGeom prst="line">
            <a:avLst/>
          </a:prstGeom>
          <a:noFill/>
          <a:ln w="9525">
            <a:solidFill>
              <a:srgbClr val="DFE6F0"/>
            </a:solidFill>
            <a:prstDash val="solid"/>
          </a:ln>
        </p:spPr>
      </p:sp>
      <p:sp>
        <p:nvSpPr>
          <p:cNvPr id="53" name="Text 51"/>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Diálogo “Faltan datos” o “Ese identificador ya existe”</a:t>
            </a:r>
            <a:endParaRPr lang="en-US" sz="1400" dirty="0"/>
          </a:p>
        </p:txBody>
      </p:sp>
      <p:sp>
        <p:nvSpPr>
          <p:cNvPr id="54" name="Shape 52"/>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716829"/>
            <a:ext cx="64008" cy="546811"/>
          </a:xfrm>
          <a:prstGeom prst="rect">
            <a:avLst/>
          </a:prstGeom>
          <a:solidFill>
            <a:srgbClr val="55627E"/>
          </a:solidFill>
          <a:ln w="12700">
            <a:solidFill>
              <a:srgbClr val="55627E"/>
            </a:solidFill>
            <a:prstDash val="solid"/>
          </a:ln>
        </p:spPr>
      </p:sp>
      <p:sp>
        <p:nvSpPr>
          <p:cNvPr id="56" name="Shape 54"/>
          <p:cNvSpPr/>
          <p:nvPr/>
        </p:nvSpPr>
        <p:spPr>
          <a:xfrm>
            <a:off x="772668" y="5734202"/>
            <a:ext cx="512064" cy="512064"/>
          </a:xfrm>
          <a:prstGeom prst="ellipse">
            <a:avLst/>
          </a:prstGeom>
          <a:solidFill>
            <a:srgbClr val="F4F7FB"/>
          </a:solidFill>
          <a:ln w="12700">
            <a:solidFill>
              <a:srgbClr val="F4F7FB"/>
            </a:solidFill>
            <a:prstDash val="solid"/>
          </a:ln>
        </p:spPr>
      </p:sp>
      <p:sp>
        <p:nvSpPr>
          <p:cNvPr id="57" name="Icono timer"/>
          <p:cNvSpPr/>
          <p:nvPr/>
        </p:nvSpPr>
        <p:spPr>
          <a:xfrm>
            <a:off x="895563" y="5857098"/>
            <a:ext cx="266273" cy="266273"/>
          </a:xfrm>
          <a:custGeom>
            <a:avLst/>
            <a:gdLst/>
            <a:ahLst/>
            <a:cxnLst/>
            <a:rect l="l" t="t" r="r" b="b"/>
            <a:pathLst>
              <a:path w="266273" h="266273">
                <a:moveTo>
                  <a:pt x="110947" y="22189"/>
                </a:moveTo>
                <a:lnTo>
                  <a:pt x="155326" y="22189"/>
                </a:lnTo>
                <a:moveTo>
                  <a:pt x="133137" y="155326"/>
                </a:moveTo>
                <a:lnTo>
                  <a:pt x="166421" y="122042"/>
                </a:lnTo>
                <a:moveTo>
                  <a:pt x="221894" y="155326"/>
                </a:moveTo>
                <a:cubicBezTo>
                  <a:pt x="221894" y="204346"/>
                  <a:pt x="182156" y="244084"/>
                  <a:pt x="133137" y="244084"/>
                </a:cubicBezTo>
                <a:cubicBezTo>
                  <a:pt x="84117" y="244084"/>
                  <a:pt x="44379" y="204346"/>
                  <a:pt x="44379" y="155326"/>
                </a:cubicBezTo>
                <a:cubicBezTo>
                  <a:pt x="44379" y="106307"/>
                  <a:pt x="84117" y="66568"/>
                  <a:pt x="133137" y="66568"/>
                </a:cubicBezTo>
                <a:cubicBezTo>
                  <a:pt x="182156" y="66568"/>
                  <a:pt x="221894" y="106307"/>
                  <a:pt x="221894" y="155326"/>
                </a:cubicBezTo>
                <a:close/>
              </a:path>
            </a:pathLst>
          </a:custGeom>
          <a:noFill/>
          <a:ln w="22189" cap="rnd">
            <a:solidFill>
              <a:srgbClr val="55627E"/>
            </a:solidFill>
            <a:prstDash val="solid"/>
            <a:round/>
          </a:ln>
        </p:spPr>
      </p:sp>
      <p:sp>
        <p:nvSpPr>
          <p:cNvPr id="58" name="Text 56"/>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Un POST tarda o se corta</a:t>
            </a:r>
            <a:endParaRPr lang="en-US" sz="1500" dirty="0"/>
          </a:p>
        </p:txBody>
      </p:sp>
      <p:sp>
        <p:nvSpPr>
          <p:cNvPr id="59" name="Shape 57"/>
          <p:cNvSpPr/>
          <p:nvPr/>
        </p:nvSpPr>
        <p:spPr>
          <a:xfrm>
            <a:off x="4140961" y="5753405"/>
            <a:ext cx="0" cy="473659"/>
          </a:xfrm>
          <a:prstGeom prst="line">
            <a:avLst/>
          </a:prstGeom>
          <a:noFill/>
          <a:ln w="9525">
            <a:solidFill>
              <a:srgbClr val="DFE6F0"/>
            </a:solidFill>
            <a:prstDash val="solid"/>
          </a:ln>
        </p:spPr>
      </p:sp>
      <p:sp>
        <p:nvSpPr>
          <p:cNvPr id="60" name="Text 58"/>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UI no lo repite sola: pudo haberse guardado</a:t>
            </a:r>
            <a:endParaRPr lang="en-US" sz="1400" dirty="0"/>
          </a:p>
        </p:txBody>
      </p:sp>
      <p:sp>
        <p:nvSpPr>
          <p:cNvPr id="61" name="Shape 59"/>
          <p:cNvSpPr/>
          <p:nvPr/>
        </p:nvSpPr>
        <p:spPr>
          <a:xfrm>
            <a:off x="8114733" y="5753405"/>
            <a:ext cx="0" cy="473659"/>
          </a:xfrm>
          <a:prstGeom prst="line">
            <a:avLst/>
          </a:prstGeom>
          <a:noFill/>
          <a:ln w="9525">
            <a:solidFill>
              <a:srgbClr val="DFE6F0"/>
            </a:solidFill>
            <a:prstDash val="solid"/>
          </a:ln>
        </p:spPr>
      </p:sp>
      <p:sp>
        <p:nvSpPr>
          <p:cNvPr id="62" name="Text 60"/>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 de tiempo agotado, sin reintento automático</a:t>
            </a:r>
            <a:endParaRPr lang="en-US" sz="1400" dirty="0"/>
          </a:p>
        </p:txBody>
      </p:sp>
      <p:sp>
        <p:nvSpPr>
          <p:cNvPr id="63" name="Text 6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UI como laboratorio: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flask-conical"/>
          <p:cNvSpPr/>
          <p:nvPr/>
        </p:nvSpPr>
        <p:spPr>
          <a:xfrm>
            <a:off x="1058144" y="1817096"/>
            <a:ext cx="370881" cy="370881"/>
          </a:xfrm>
          <a:custGeom>
            <a:avLst/>
            <a:gdLst/>
            <a:ahLst/>
            <a:cxnLst/>
            <a:rect l="l" t="t" r="r" b="b"/>
            <a:pathLst>
              <a:path w="370881" h="370881">
                <a:moveTo>
                  <a:pt x="216347" y="30907"/>
                </a:moveTo>
                <a:lnTo>
                  <a:pt x="216347" y="123627"/>
                </a:lnTo>
                <a:cubicBezTo>
                  <a:pt x="216345" y="128811"/>
                  <a:pt x="217647" y="133913"/>
                  <a:pt x="220133" y="138462"/>
                </a:cubicBezTo>
                <a:lnTo>
                  <a:pt x="305281" y="294232"/>
                </a:lnTo>
                <a:cubicBezTo>
                  <a:pt x="310521" y="303809"/>
                  <a:pt x="310320" y="315439"/>
                  <a:pt x="304753" y="324830"/>
                </a:cubicBezTo>
                <a:cubicBezTo>
                  <a:pt x="299185" y="334220"/>
                  <a:pt x="289077" y="339976"/>
                  <a:pt x="278160" y="339974"/>
                </a:cubicBezTo>
                <a:lnTo>
                  <a:pt x="92720" y="339974"/>
                </a:lnTo>
                <a:cubicBezTo>
                  <a:pt x="81804" y="339976"/>
                  <a:pt x="71695" y="334220"/>
                  <a:pt x="66128" y="324830"/>
                </a:cubicBezTo>
                <a:cubicBezTo>
                  <a:pt x="60560" y="315439"/>
                  <a:pt x="60360" y="303809"/>
                  <a:pt x="65600" y="294232"/>
                </a:cubicBezTo>
                <a:lnTo>
                  <a:pt x="150748" y="138462"/>
                </a:lnTo>
                <a:cubicBezTo>
                  <a:pt x="153234" y="133913"/>
                  <a:pt x="154536" y="128811"/>
                  <a:pt x="154534" y="123627"/>
                </a:cubicBezTo>
                <a:lnTo>
                  <a:pt x="154534" y="30907"/>
                </a:lnTo>
                <a:moveTo>
                  <a:pt x="99721" y="231800"/>
                </a:moveTo>
                <a:lnTo>
                  <a:pt x="271160" y="231800"/>
                </a:lnTo>
                <a:moveTo>
                  <a:pt x="131354" y="30907"/>
                </a:moveTo>
                <a:lnTo>
                  <a:pt x="239527" y="30907"/>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fallas con reacción prevista</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29</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de la UI</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Cada falla probada tiene una reacción y un mensaje.</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incidentes y menos llamadas a soporte.</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eye"/>
          <p:cNvSpPr/>
          <p:nvPr/>
        </p:nvSpPr>
        <p:spPr>
          <a:xfrm>
            <a:off x="4258544" y="367790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lo asíncrono</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Pendientes, entregados y consumidos en una pantalla.</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Explicar el sistema a negocio sin abrir el código.</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lightbulb"/>
          <p:cNvSpPr/>
          <p:nvPr/>
        </p:nvSpPr>
        <p:spPr>
          <a:xfrm>
            <a:off x="4258544" y="5400020"/>
            <a:ext cx="370881" cy="370881"/>
          </a:xfrm>
          <a:custGeom>
            <a:avLst/>
            <a:gdLst/>
            <a:ahLst/>
            <a:cxnLst/>
            <a:rect l="l" t="t" r="r" b="b"/>
            <a:pathLst>
              <a:path w="370881" h="370881">
                <a:moveTo>
                  <a:pt x="231800" y="216347"/>
                </a:moveTo>
                <a:cubicBezTo>
                  <a:pt x="234891" y="200894"/>
                  <a:pt x="242618" y="190076"/>
                  <a:pt x="254980" y="177714"/>
                </a:cubicBezTo>
                <a:cubicBezTo>
                  <a:pt x="270434" y="163806"/>
                  <a:pt x="278160" y="143716"/>
                  <a:pt x="278160" y="123627"/>
                </a:cubicBezTo>
                <a:cubicBezTo>
                  <a:pt x="278160" y="72419"/>
                  <a:pt x="236648" y="30907"/>
                  <a:pt x="185440" y="30907"/>
                </a:cubicBezTo>
                <a:cubicBezTo>
                  <a:pt x="134232" y="30907"/>
                  <a:pt x="92720" y="72419"/>
                  <a:pt x="92720" y="123627"/>
                </a:cubicBezTo>
                <a:cubicBezTo>
                  <a:pt x="92720" y="139080"/>
                  <a:pt x="95811" y="157624"/>
                  <a:pt x="115900" y="177714"/>
                </a:cubicBezTo>
                <a:cubicBezTo>
                  <a:pt x="126718" y="188531"/>
                  <a:pt x="135990" y="200894"/>
                  <a:pt x="139080" y="216347"/>
                </a:cubicBezTo>
                <a:moveTo>
                  <a:pt x="139080" y="278160"/>
                </a:moveTo>
                <a:lnTo>
                  <a:pt x="231800" y="278160"/>
                </a:lnTo>
                <a:moveTo>
                  <a:pt x="154534" y="339974"/>
                </a:moveTo>
                <a:lnTo>
                  <a:pt x="216347" y="339974"/>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demo también enseña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Ayuda con diagramas y botones para provocar fallas.</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Material de capacitación para quien llegue al equipo.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desde mañana.</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Resiliencia</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Outbox, reintentos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Shape 17"/>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12648" y="3198571"/>
            <a:ext cx="64008" cy="546811"/>
          </a:xfrm>
          <a:prstGeom prst="rect">
            <a:avLst/>
          </a:prstGeom>
          <a:solidFill>
            <a:srgbClr val="0B6E8A"/>
          </a:solidFill>
          <a:ln w="12700">
            <a:solidFill>
              <a:srgbClr val="0B6E8A"/>
            </a:solidFill>
            <a:prstDash val="solid"/>
          </a:ln>
        </p:spPr>
      </p:sp>
      <p:sp>
        <p:nvSpPr>
          <p:cNvPr id="21" name="Shape 19"/>
          <p:cNvSpPr/>
          <p:nvPr/>
        </p:nvSpPr>
        <p:spPr>
          <a:xfrm>
            <a:off x="772668" y="3215945"/>
            <a:ext cx="512064" cy="512064"/>
          </a:xfrm>
          <a:prstGeom prst="ellipse">
            <a:avLst/>
          </a:prstGeom>
          <a:solidFill>
            <a:srgbClr val="E3F4FA"/>
          </a:solidFill>
          <a:ln w="12700">
            <a:solidFill>
              <a:srgbClr val="E3F4FA"/>
            </a:solidFill>
            <a:prstDash val="solid"/>
          </a:ln>
        </p:spPr>
      </p:sp>
      <p:sp>
        <p:nvSpPr>
          <p:cNvPr id="22" name="Icono container"/>
          <p:cNvSpPr/>
          <p:nvPr/>
        </p:nvSpPr>
        <p:spPr>
          <a:xfrm>
            <a:off x="895563" y="3338840"/>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23" name="Text 21"/>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24" name="Shape 22"/>
          <p:cNvSpPr/>
          <p:nvPr/>
        </p:nvSpPr>
        <p:spPr>
          <a:xfrm>
            <a:off x="4140961" y="3235147"/>
            <a:ext cx="0" cy="473659"/>
          </a:xfrm>
          <a:prstGeom prst="line">
            <a:avLst/>
          </a:prstGeom>
          <a:noFill/>
          <a:ln w="9525">
            <a:solidFill>
              <a:srgbClr val="DFE6F0"/>
            </a:solidFill>
            <a:prstDash val="solid"/>
          </a:ln>
        </p:spPr>
      </p:sp>
      <p:sp>
        <p:nvSpPr>
          <p:cNvPr id="25" name="Text 23"/>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26" name="Shape 24"/>
          <p:cNvSpPr/>
          <p:nvPr/>
        </p:nvSpPr>
        <p:spPr>
          <a:xfrm>
            <a:off x="8114733" y="3235147"/>
            <a:ext cx="0" cy="473659"/>
          </a:xfrm>
          <a:prstGeom prst="line">
            <a:avLst/>
          </a:prstGeom>
          <a:noFill/>
          <a:ln w="9525">
            <a:solidFill>
              <a:srgbClr val="DFE6F0"/>
            </a:solidFill>
            <a:prstDash val="solid"/>
          </a:ln>
        </p:spPr>
      </p:sp>
      <p:sp>
        <p:nvSpPr>
          <p:cNvPr id="27" name="Text 25"/>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28" name="Shape 26"/>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12648" y="4037990"/>
            <a:ext cx="64008" cy="546811"/>
          </a:xfrm>
          <a:prstGeom prst="rect">
            <a:avLst/>
          </a:prstGeom>
          <a:solidFill>
            <a:srgbClr val="0B2350"/>
          </a:solidFill>
          <a:ln w="12700">
            <a:solidFill>
              <a:srgbClr val="0B2350"/>
            </a:solidFill>
            <a:prstDash val="solid"/>
          </a:ln>
        </p:spPr>
      </p:sp>
      <p:sp>
        <p:nvSpPr>
          <p:cNvPr id="30" name="Shape 28"/>
          <p:cNvSpPr/>
          <p:nvPr/>
        </p:nvSpPr>
        <p:spPr>
          <a:xfrm>
            <a:off x="772668" y="4055364"/>
            <a:ext cx="512064" cy="512064"/>
          </a:xfrm>
          <a:prstGeom prst="ellipse">
            <a:avLst/>
          </a:prstGeom>
          <a:solidFill>
            <a:srgbClr val="E8EEF8"/>
          </a:solidFill>
          <a:ln w="12700">
            <a:solidFill>
              <a:srgbClr val="E8EEF8"/>
            </a:solidFill>
            <a:prstDash val="solid"/>
          </a:ln>
        </p:spPr>
      </p:sp>
      <p:sp>
        <p:nvSpPr>
          <p:cNvPr id="31" name="Icono flask-conical"/>
          <p:cNvSpPr/>
          <p:nvPr/>
        </p:nvSpPr>
        <p:spPr>
          <a:xfrm>
            <a:off x="895563" y="417825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32" name="Text 30"/>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33" name="Shape 31"/>
          <p:cNvSpPr/>
          <p:nvPr/>
        </p:nvSpPr>
        <p:spPr>
          <a:xfrm>
            <a:off x="4140961" y="4074566"/>
            <a:ext cx="0" cy="473659"/>
          </a:xfrm>
          <a:prstGeom prst="line">
            <a:avLst/>
          </a:prstGeom>
          <a:noFill/>
          <a:ln w="9525">
            <a:solidFill>
              <a:srgbClr val="DFE6F0"/>
            </a:solidFill>
            <a:prstDash val="solid"/>
          </a:ln>
        </p:spPr>
      </p:sp>
      <p:sp>
        <p:nvSpPr>
          <p:cNvPr id="34" name="Text 32"/>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67 pruebas y pipeline por PR</a:t>
            </a:r>
            <a:endParaRPr lang="en-US" sz="1400" dirty="0"/>
          </a:p>
        </p:txBody>
      </p:sp>
      <p:sp>
        <p:nvSpPr>
          <p:cNvPr id="35" name="Shape 33"/>
          <p:cNvSpPr/>
          <p:nvPr/>
        </p:nvSpPr>
        <p:spPr>
          <a:xfrm>
            <a:off x="8114733" y="4074566"/>
            <a:ext cx="0" cy="473659"/>
          </a:xfrm>
          <a:prstGeom prst="line">
            <a:avLst/>
          </a:prstGeom>
          <a:noFill/>
          <a:ln w="9525">
            <a:solidFill>
              <a:srgbClr val="DFE6F0"/>
            </a:solidFill>
            <a:prstDash val="solid"/>
          </a:ln>
        </p:spPr>
      </p:sp>
      <p:sp>
        <p:nvSpPr>
          <p:cNvPr id="36" name="Text 34"/>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no en producción</a:t>
            </a:r>
            <a:endParaRPr lang="en-US" sz="1400" dirty="0"/>
          </a:p>
        </p:txBody>
      </p:sp>
      <p:sp>
        <p:nvSpPr>
          <p:cNvPr id="37" name="Shape 35"/>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612648" y="4877410"/>
            <a:ext cx="64008" cy="546811"/>
          </a:xfrm>
          <a:prstGeom prst="rect">
            <a:avLst/>
          </a:prstGeom>
          <a:solidFill>
            <a:srgbClr val="8A4B06"/>
          </a:solidFill>
          <a:ln w="12700">
            <a:solidFill>
              <a:srgbClr val="8A4B06"/>
            </a:solidFill>
            <a:prstDash val="solid"/>
          </a:ln>
        </p:spPr>
      </p:sp>
      <p:sp>
        <p:nvSpPr>
          <p:cNvPr id="39" name="Shape 37"/>
          <p:cNvSpPr/>
          <p:nvPr/>
        </p:nvSpPr>
        <p:spPr>
          <a:xfrm>
            <a:off x="772668" y="4894783"/>
            <a:ext cx="512064" cy="512064"/>
          </a:xfrm>
          <a:prstGeom prst="ellipse">
            <a:avLst/>
          </a:prstGeom>
          <a:solidFill>
            <a:srgbClr val="FCEFD6"/>
          </a:solidFill>
          <a:ln w="12700">
            <a:solidFill>
              <a:srgbClr val="FCEFD6"/>
            </a:solidFill>
            <a:prstDash val="solid"/>
          </a:ln>
        </p:spPr>
      </p:sp>
      <p:sp>
        <p:nvSpPr>
          <p:cNvPr id="40" name="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41" name="Text 39"/>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Trazabilidad</a:t>
            </a:r>
            <a:endParaRPr lang="en-US" sz="1500" dirty="0"/>
          </a:p>
        </p:txBody>
      </p:sp>
      <p:sp>
        <p:nvSpPr>
          <p:cNvPr id="42" name="Shape 40"/>
          <p:cNvSpPr/>
          <p:nvPr/>
        </p:nvSpPr>
        <p:spPr>
          <a:xfrm>
            <a:off x="4140961" y="4913986"/>
            <a:ext cx="0" cy="473659"/>
          </a:xfrm>
          <a:prstGeom prst="line">
            <a:avLst/>
          </a:prstGeom>
          <a:noFill/>
          <a:ln w="9525">
            <a:solidFill>
              <a:srgbClr val="DFE6F0"/>
            </a:solidFill>
            <a:prstDash val="solid"/>
          </a:ln>
        </p:spPr>
      </p:sp>
      <p:sp>
        <p:nvSpPr>
          <p:cNvPr id="43" name="Text 41"/>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SHA</a:t>
            </a:r>
            <a:endParaRPr lang="en-US" sz="1400" dirty="0"/>
          </a:p>
        </p:txBody>
      </p:sp>
      <p:sp>
        <p:nvSpPr>
          <p:cNvPr id="44" name="Shape 42"/>
          <p:cNvSpPr/>
          <p:nvPr/>
        </p:nvSpPr>
        <p:spPr>
          <a:xfrm>
            <a:off x="8114733" y="4913986"/>
            <a:ext cx="0" cy="473659"/>
          </a:xfrm>
          <a:prstGeom prst="line">
            <a:avLst/>
          </a:prstGeom>
          <a:noFill/>
          <a:ln w="9525">
            <a:solidFill>
              <a:srgbClr val="DFE6F0"/>
            </a:solidFill>
            <a:prstDash val="solid"/>
          </a:ln>
        </p:spPr>
      </p:sp>
      <p:sp>
        <p:nvSpPr>
          <p:cNvPr id="45" name="Text 43"/>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46" name="Shape 44"/>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612648" y="5716829"/>
            <a:ext cx="64008" cy="546811"/>
          </a:xfrm>
          <a:prstGeom prst="rect">
            <a:avLst/>
          </a:prstGeom>
          <a:solidFill>
            <a:srgbClr val="5B3FC4"/>
          </a:solidFill>
          <a:ln w="12700">
            <a:solidFill>
              <a:srgbClr val="5B3FC4"/>
            </a:solidFill>
            <a:prstDash val="solid"/>
          </a:ln>
        </p:spPr>
      </p:sp>
      <p:sp>
        <p:nvSpPr>
          <p:cNvPr id="48" name="Shape 46"/>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Icono file-json"/>
          <p:cNvSpPr/>
          <p:nvPr/>
        </p:nvSpPr>
        <p:spPr>
          <a:xfrm>
            <a:off x="895563" y="5857098"/>
            <a:ext cx="266273" cy="266273"/>
          </a:xfrm>
          <a:custGeom>
            <a:avLst/>
            <a:gdLst/>
            <a:ahLst/>
            <a:cxnLst/>
            <a:rect l="l" t="t" r="r" b="b"/>
            <a:pathLst>
              <a:path w="266273" h="266273">
                <a:moveTo>
                  <a:pt x="166421" y="22189"/>
                </a:moveTo>
                <a:lnTo>
                  <a:pt x="66568" y="22189"/>
                </a:lnTo>
                <a:cubicBezTo>
                  <a:pt x="54313" y="22189"/>
                  <a:pt x="44379" y="32124"/>
                  <a:pt x="44379" y="44379"/>
                </a:cubicBezTo>
                <a:lnTo>
                  <a:pt x="44379" y="221894"/>
                </a:lnTo>
                <a:cubicBezTo>
                  <a:pt x="44379" y="234149"/>
                  <a:pt x="54313" y="244084"/>
                  <a:pt x="66568" y="244084"/>
                </a:cubicBezTo>
                <a:lnTo>
                  <a:pt x="199705" y="244084"/>
                </a:lnTo>
                <a:cubicBezTo>
                  <a:pt x="211960" y="244084"/>
                  <a:pt x="221894" y="234149"/>
                  <a:pt x="221894" y="221894"/>
                </a:cubicBezTo>
                <a:lnTo>
                  <a:pt x="221894" y="77663"/>
                </a:lnTo>
                <a:close/>
                <a:moveTo>
                  <a:pt x="155326" y="22189"/>
                </a:moveTo>
                <a:lnTo>
                  <a:pt x="155326" y="66568"/>
                </a:lnTo>
                <a:cubicBezTo>
                  <a:pt x="155326" y="78823"/>
                  <a:pt x="165261" y="88758"/>
                  <a:pt x="177516" y="88758"/>
                </a:cubicBezTo>
                <a:lnTo>
                  <a:pt x="221894" y="88758"/>
                </a:lnTo>
                <a:moveTo>
                  <a:pt x="110947" y="133137"/>
                </a:moveTo>
                <a:cubicBezTo>
                  <a:pt x="104820" y="133137"/>
                  <a:pt x="99852" y="138104"/>
                  <a:pt x="99852" y="144231"/>
                </a:cubicBezTo>
                <a:lnTo>
                  <a:pt x="99852" y="155326"/>
                </a:lnTo>
                <a:cubicBezTo>
                  <a:pt x="99852" y="161454"/>
                  <a:pt x="94885" y="166421"/>
                  <a:pt x="88758" y="166421"/>
                </a:cubicBezTo>
                <a:cubicBezTo>
                  <a:pt x="94885" y="166421"/>
                  <a:pt x="99852" y="171388"/>
                  <a:pt x="99852" y="177516"/>
                </a:cubicBezTo>
                <a:lnTo>
                  <a:pt x="99852" y="188610"/>
                </a:lnTo>
                <a:cubicBezTo>
                  <a:pt x="99852" y="194738"/>
                  <a:pt x="104820" y="199705"/>
                  <a:pt x="110947" y="199705"/>
                </a:cubicBezTo>
                <a:moveTo>
                  <a:pt x="155326" y="199705"/>
                </a:moveTo>
                <a:cubicBezTo>
                  <a:pt x="161454" y="199705"/>
                  <a:pt x="166421" y="194738"/>
                  <a:pt x="166421" y="188610"/>
                </a:cubicBezTo>
                <a:lnTo>
                  <a:pt x="166421" y="177516"/>
                </a:lnTo>
                <a:cubicBezTo>
                  <a:pt x="166421" y="171388"/>
                  <a:pt x="171388" y="166421"/>
                  <a:pt x="177516" y="166421"/>
                </a:cubicBezTo>
                <a:cubicBezTo>
                  <a:pt x="171388" y="166421"/>
                  <a:pt x="166421" y="161454"/>
                  <a:pt x="166421" y="155326"/>
                </a:cubicBezTo>
                <a:lnTo>
                  <a:pt x="166421" y="144231"/>
                </a:lnTo>
                <a:cubicBezTo>
                  <a:pt x="166421" y="138104"/>
                  <a:pt x="161454" y="133137"/>
                  <a:pt x="155326" y="133137"/>
                </a:cubicBezTo>
              </a:path>
            </a:pathLst>
          </a:custGeom>
          <a:noFill/>
          <a:ln w="22189" cap="rnd">
            <a:solidFill>
              <a:srgbClr val="5B3FC4"/>
            </a:solidFill>
            <a:prstDash val="solid"/>
            <a:round/>
          </a:ln>
        </p:spPr>
      </p:sp>
      <p:sp>
        <p:nvSpPr>
          <p:cNvPr id="50" name="Text 48"/>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Contratos y diseño</a:t>
            </a:r>
            <a:endParaRPr lang="en-US" sz="1500" dirty="0"/>
          </a:p>
        </p:txBody>
      </p:sp>
      <p:sp>
        <p:nvSpPr>
          <p:cNvPr id="51" name="Shape 49"/>
          <p:cNvSpPr/>
          <p:nvPr/>
        </p:nvSpPr>
        <p:spPr>
          <a:xfrm>
            <a:off x="4140961" y="5753405"/>
            <a:ext cx="0" cy="473659"/>
          </a:xfrm>
          <a:prstGeom prst="line">
            <a:avLst/>
          </a:prstGeom>
          <a:noFill/>
          <a:ln w="9525">
            <a:solidFill>
              <a:srgbClr val="DFE6F0"/>
            </a:solidFill>
            <a:prstDash val="solid"/>
          </a:ln>
        </p:spPr>
      </p:sp>
      <p:sp>
        <p:nvSpPr>
          <p:cNvPr id="52" name="Text 50"/>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OpenAPI generado y puertos y adaptadores</a:t>
            </a:r>
            <a:endParaRPr lang="en-US" sz="1400" dirty="0"/>
          </a:p>
        </p:txBody>
      </p:sp>
      <p:sp>
        <p:nvSpPr>
          <p:cNvPr id="53" name="Shape 51"/>
          <p:cNvSpPr/>
          <p:nvPr/>
        </p:nvSpPr>
        <p:spPr>
          <a:xfrm>
            <a:off x="8114733" y="5753405"/>
            <a:ext cx="0" cy="473659"/>
          </a:xfrm>
          <a:prstGeom prst="line">
            <a:avLst/>
          </a:prstGeom>
          <a:noFill/>
          <a:ln w="9525">
            <a:solidFill>
              <a:srgbClr val="DFE6F0"/>
            </a:solidFill>
            <a:prstDash val="solid"/>
          </a:ln>
        </p:spPr>
      </p:sp>
      <p:sp>
        <p:nvSpPr>
          <p:cNvPr id="54" name="Text 52"/>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Integraciones claras y tecnología intercambiable</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4" name="Shape 12"/>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Text 15"/>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Text 16"/>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Shape 17"/>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Text 19"/>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Text 20"/>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Shape 21"/>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Text 24"/>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Text 25"/>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Shape 26"/>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Text 28"/>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Text 29"/>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Shape 30"/>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Text 33"/>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Text 34"/>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 laboratorio.</a:t>
            </a:r>
            <a:endParaRPr lang="en-US" sz="1300" dirty="0"/>
          </a:p>
        </p:txBody>
      </p:sp>
      <p:sp>
        <p:nvSpPr>
          <p:cNvPr id="37" name="Shape 35"/>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Text 37"/>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Text 38"/>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sigue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laboratorio sólido, todavía no un producto.</a:t>
            </a:r>
            <a:endParaRPr lang="en-US" sz="1700" dirty="0"/>
          </a:p>
        </p:txBody>
      </p:sp>
      <p:sp>
        <p:nvSpPr>
          <p:cNvPr id="6" name="Shape 4"/>
          <p:cNvSpPr/>
          <p:nvPr/>
        </p:nvSpPr>
        <p:spPr>
          <a:xfrm>
            <a:off x="612648" y="1719072"/>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764792"/>
          </a:xfrm>
          <a:prstGeom prst="rect">
            <a:avLst/>
          </a:prstGeom>
          <a:solidFill>
            <a:srgbClr val="8A4B06"/>
          </a:solidFill>
          <a:ln w="12700">
            <a:solidFill>
              <a:srgbClr val="8A4B06"/>
            </a:solidFill>
            <a:prstDash val="solid"/>
          </a:ln>
        </p:spPr>
      </p:sp>
      <p:sp>
        <p:nvSpPr>
          <p:cNvPr id="8" name="Shape 6"/>
          <p:cNvSpPr/>
          <p:nvPr/>
        </p:nvSpPr>
        <p:spPr>
          <a:xfrm>
            <a:off x="886968" y="2336292"/>
            <a:ext cx="786384" cy="786384"/>
          </a:xfrm>
          <a:prstGeom prst="ellipse">
            <a:avLst/>
          </a:prstGeom>
          <a:solidFill>
            <a:srgbClr val="FCEFD6"/>
          </a:solidFill>
          <a:ln w="12700">
            <a:solidFill>
              <a:srgbClr val="FCEFD6"/>
            </a:solidFill>
            <a:prstDash val="solid"/>
          </a:ln>
        </p:spPr>
      </p:sp>
      <p:sp>
        <p:nvSpPr>
          <p:cNvPr id="9" name="Icono database"/>
          <p:cNvSpPr/>
          <p:nvPr/>
        </p:nvSpPr>
        <p:spPr>
          <a:xfrm>
            <a:off x="1075700" y="2525024"/>
            <a:ext cx="408920" cy="408920"/>
          </a:xfrm>
          <a:custGeom>
            <a:avLst/>
            <a:gdLst/>
            <a:ahLst/>
            <a:cxnLst/>
            <a:rect l="l" t="t" r="r" b="b"/>
            <a:pathLst>
              <a:path w="408920" h="408920">
                <a:moveTo>
                  <a:pt x="357805" y="85192"/>
                </a:moveTo>
                <a:cubicBezTo>
                  <a:pt x="357805" y="113422"/>
                  <a:pt x="289150" y="136307"/>
                  <a:pt x="204460" y="136307"/>
                </a:cubicBezTo>
                <a:cubicBezTo>
                  <a:pt x="119770" y="136307"/>
                  <a:pt x="51115" y="113422"/>
                  <a:pt x="51115" y="85192"/>
                </a:cubicBezTo>
                <a:cubicBezTo>
                  <a:pt x="51115" y="56962"/>
                  <a:pt x="119770" y="34077"/>
                  <a:pt x="204460" y="34077"/>
                </a:cubicBezTo>
                <a:cubicBezTo>
                  <a:pt x="289150" y="34077"/>
                  <a:pt x="357805" y="56962"/>
                  <a:pt x="357805" y="85192"/>
                </a:cubicBezTo>
                <a:close/>
                <a:moveTo>
                  <a:pt x="51115" y="85192"/>
                </a:moveTo>
                <a:lnTo>
                  <a:pt x="51115" y="323728"/>
                </a:lnTo>
                <a:cubicBezTo>
                  <a:pt x="51115" y="351958"/>
                  <a:pt x="119770" y="374843"/>
                  <a:pt x="204460" y="374843"/>
                </a:cubicBezTo>
                <a:cubicBezTo>
                  <a:pt x="289150" y="374843"/>
                  <a:pt x="357805" y="351958"/>
                  <a:pt x="357805" y="323728"/>
                </a:cubicBezTo>
                <a:lnTo>
                  <a:pt x="357805" y="85192"/>
                </a:lnTo>
                <a:moveTo>
                  <a:pt x="51115" y="204460"/>
                </a:moveTo>
                <a:cubicBezTo>
                  <a:pt x="51115" y="232690"/>
                  <a:pt x="119770" y="255575"/>
                  <a:pt x="204460" y="255575"/>
                </a:cubicBezTo>
                <a:cubicBezTo>
                  <a:pt x="289150" y="255575"/>
                  <a:pt x="357805" y="232690"/>
                  <a:pt x="357805" y="204460"/>
                </a:cubicBezTo>
              </a:path>
            </a:pathLst>
          </a:custGeom>
          <a:noFill/>
          <a:ln w="34077" cap="rnd">
            <a:solidFill>
              <a:srgbClr val="8A4B06"/>
            </a:solidFill>
            <a:prstDash val="solid"/>
            <a:round/>
          </a:ln>
        </p:spPr>
      </p:sp>
      <p:sp>
        <p:nvSpPr>
          <p:cNvPr id="10" name="Text 8"/>
          <p:cNvSpPr/>
          <p:nvPr/>
        </p:nvSpPr>
        <p:spPr>
          <a:xfrm>
            <a:off x="1929384" y="227228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Persistir los avisos</a:t>
            </a:r>
            <a:endParaRPr lang="en-US" sz="2000" dirty="0"/>
          </a:p>
        </p:txBody>
      </p:sp>
      <p:sp>
        <p:nvSpPr>
          <p:cNvPr id="11" name="Text 9"/>
          <p:cNvSpPr/>
          <p:nvPr/>
        </p:nvSpPr>
        <p:spPr>
          <a:xfrm>
            <a:off x="1929384" y="2747772"/>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Hoy el texto vive en memoria; los eventos procesados sí están en la base.</a:t>
            </a:r>
            <a:endParaRPr lang="en-US" sz="1600" dirty="0"/>
          </a:p>
        </p:txBody>
      </p:sp>
      <p:sp>
        <p:nvSpPr>
          <p:cNvPr id="12" name="Shape 10"/>
          <p:cNvSpPr/>
          <p:nvPr/>
        </p:nvSpPr>
        <p:spPr>
          <a:xfrm>
            <a:off x="6187288" y="1719072"/>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87288" y="1847088"/>
            <a:ext cx="64008" cy="1764792"/>
          </a:xfrm>
          <a:prstGeom prst="rect">
            <a:avLst/>
          </a:prstGeom>
          <a:solidFill>
            <a:srgbClr val="AB243E"/>
          </a:solidFill>
          <a:ln w="12700">
            <a:solidFill>
              <a:srgbClr val="AB243E"/>
            </a:solidFill>
            <a:prstDash val="solid"/>
          </a:ln>
        </p:spPr>
      </p:sp>
      <p:sp>
        <p:nvSpPr>
          <p:cNvPr id="14" name="Shape 12"/>
          <p:cNvSpPr/>
          <p:nvPr/>
        </p:nvSpPr>
        <p:spPr>
          <a:xfrm>
            <a:off x="6461608" y="2336292"/>
            <a:ext cx="786384" cy="786384"/>
          </a:xfrm>
          <a:prstGeom prst="ellipse">
            <a:avLst/>
          </a:prstGeom>
          <a:solidFill>
            <a:srgbClr val="F7E3E7"/>
          </a:solidFill>
          <a:ln w="12700">
            <a:solidFill>
              <a:srgbClr val="F7E3E7"/>
            </a:solidFill>
            <a:prstDash val="solid"/>
          </a:ln>
        </p:spPr>
      </p:sp>
      <p:sp>
        <p:nvSpPr>
          <p:cNvPr id="15" name="Icono lock"/>
          <p:cNvSpPr/>
          <p:nvPr/>
        </p:nvSpPr>
        <p:spPr>
          <a:xfrm>
            <a:off x="6650340" y="2525024"/>
            <a:ext cx="408920" cy="408920"/>
          </a:xfrm>
          <a:custGeom>
            <a:avLst/>
            <a:gdLst/>
            <a:ahLst/>
            <a:cxnLst/>
            <a:rect l="l" t="t" r="r" b="b"/>
            <a:pathLst>
              <a:path w="408920" h="408920">
                <a:moveTo>
                  <a:pt x="85192" y="187422"/>
                </a:moveTo>
                <a:lnTo>
                  <a:pt x="323728" y="187422"/>
                </a:lnTo>
                <a:cubicBezTo>
                  <a:pt x="342548" y="187422"/>
                  <a:pt x="357805" y="202678"/>
                  <a:pt x="357805" y="221498"/>
                </a:cubicBezTo>
                <a:lnTo>
                  <a:pt x="357805" y="340766"/>
                </a:lnTo>
                <a:cubicBezTo>
                  <a:pt x="357805" y="359586"/>
                  <a:pt x="342548" y="374843"/>
                  <a:pt x="323728" y="374843"/>
                </a:cubicBezTo>
                <a:lnTo>
                  <a:pt x="85192" y="374843"/>
                </a:lnTo>
                <a:cubicBezTo>
                  <a:pt x="66372" y="374843"/>
                  <a:pt x="51115" y="359586"/>
                  <a:pt x="51115" y="340766"/>
                </a:cubicBezTo>
                <a:lnTo>
                  <a:pt x="51115" y="221498"/>
                </a:lnTo>
                <a:cubicBezTo>
                  <a:pt x="51115" y="202678"/>
                  <a:pt x="66372" y="187422"/>
                  <a:pt x="85192" y="187422"/>
                </a:cubicBezTo>
                <a:close/>
                <a:moveTo>
                  <a:pt x="119268" y="187422"/>
                </a:moveTo>
                <a:lnTo>
                  <a:pt x="119268" y="119268"/>
                </a:lnTo>
                <a:cubicBezTo>
                  <a:pt x="119268" y="72218"/>
                  <a:pt x="157410" y="34077"/>
                  <a:pt x="204460" y="34077"/>
                </a:cubicBezTo>
                <a:cubicBezTo>
                  <a:pt x="251510" y="34077"/>
                  <a:pt x="289651" y="72218"/>
                  <a:pt x="289651" y="119268"/>
                </a:cubicBezTo>
                <a:lnTo>
                  <a:pt x="289651" y="187422"/>
                </a:lnTo>
              </a:path>
            </a:pathLst>
          </a:custGeom>
          <a:noFill/>
          <a:ln w="34077" cap="rnd">
            <a:solidFill>
              <a:srgbClr val="AB243E"/>
            </a:solidFill>
            <a:prstDash val="solid"/>
            <a:round/>
          </a:ln>
        </p:spPr>
      </p:sp>
      <p:sp>
        <p:nvSpPr>
          <p:cNvPr id="16" name="Text 14"/>
          <p:cNvSpPr/>
          <p:nvPr/>
        </p:nvSpPr>
        <p:spPr>
          <a:xfrm>
            <a:off x="7504024" y="227228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AB243E"/>
                </a:solidFill>
                <a:latin typeface="Segoe UI Semibold" pitchFamily="34" charset="0"/>
                <a:ea typeface="Segoe UI Semibold" pitchFamily="34" charset="-122"/>
                <a:cs typeface="Segoe UI Semibold" pitchFamily="34" charset="-120"/>
              </a:rPr>
              <a:t>Seguridad</a:t>
            </a:r>
            <a:endParaRPr lang="en-US" sz="2000" dirty="0"/>
          </a:p>
        </p:txBody>
      </p:sp>
      <p:sp>
        <p:nvSpPr>
          <p:cNvPr id="17" name="Text 15"/>
          <p:cNvSpPr/>
          <p:nvPr/>
        </p:nvSpPr>
        <p:spPr>
          <a:xfrm>
            <a:off x="7504024" y="2747772"/>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Autenticación y contraseñas en un gestor de secretos.</a:t>
            </a:r>
            <a:endParaRPr lang="en-US" sz="1600" dirty="0"/>
          </a:p>
        </p:txBody>
      </p:sp>
      <p:sp>
        <p:nvSpPr>
          <p:cNvPr id="18" name="Shape 16"/>
          <p:cNvSpPr/>
          <p:nvPr/>
        </p:nvSpPr>
        <p:spPr>
          <a:xfrm>
            <a:off x="612648" y="3922776"/>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4050792"/>
            <a:ext cx="64008" cy="1764792"/>
          </a:xfrm>
          <a:prstGeom prst="rect">
            <a:avLst/>
          </a:prstGeom>
          <a:solidFill>
            <a:srgbClr val="0B6E8A"/>
          </a:solidFill>
          <a:ln w="12700">
            <a:solidFill>
              <a:srgbClr val="0B6E8A"/>
            </a:solidFill>
            <a:prstDash val="solid"/>
          </a:ln>
        </p:spPr>
      </p:sp>
      <p:sp>
        <p:nvSpPr>
          <p:cNvPr id="20" name="Shape 18"/>
          <p:cNvSpPr/>
          <p:nvPr/>
        </p:nvSpPr>
        <p:spPr>
          <a:xfrm>
            <a:off x="886968" y="4539996"/>
            <a:ext cx="786384" cy="786384"/>
          </a:xfrm>
          <a:prstGeom prst="ellipse">
            <a:avLst/>
          </a:prstGeom>
          <a:solidFill>
            <a:srgbClr val="E3F4FA"/>
          </a:solidFill>
          <a:ln w="12700">
            <a:solidFill>
              <a:srgbClr val="E3F4FA"/>
            </a:solidFill>
            <a:prstDash val="solid"/>
          </a:ln>
        </p:spPr>
      </p:sp>
      <p:sp>
        <p:nvSpPr>
          <p:cNvPr id="21" name="Icono gauge"/>
          <p:cNvSpPr/>
          <p:nvPr/>
        </p:nvSpPr>
        <p:spPr>
          <a:xfrm>
            <a:off x="1075700" y="4728728"/>
            <a:ext cx="408920" cy="408920"/>
          </a:xfrm>
          <a:custGeom>
            <a:avLst/>
            <a:gdLst/>
            <a:ahLst/>
            <a:cxnLst/>
            <a:rect l="l" t="t" r="r" b="b"/>
            <a:pathLst>
              <a:path w="408920" h="408920">
                <a:moveTo>
                  <a:pt x="204460" y="238536"/>
                </a:moveTo>
                <a:lnTo>
                  <a:pt x="272613" y="170383"/>
                </a:lnTo>
                <a:moveTo>
                  <a:pt x="56908" y="323728"/>
                </a:moveTo>
                <a:cubicBezTo>
                  <a:pt x="15560" y="252120"/>
                  <a:pt x="31596" y="161162"/>
                  <a:pt x="94937" y="108010"/>
                </a:cubicBezTo>
                <a:cubicBezTo>
                  <a:pt x="158279" y="54858"/>
                  <a:pt x="250640" y="54858"/>
                  <a:pt x="313982" y="108010"/>
                </a:cubicBezTo>
                <a:cubicBezTo>
                  <a:pt x="377324" y="161162"/>
                  <a:pt x="393359" y="252120"/>
                  <a:pt x="352012" y="323728"/>
                </a:cubicBezTo>
              </a:path>
            </a:pathLst>
          </a:custGeom>
          <a:noFill/>
          <a:ln w="34077" cap="rnd">
            <a:solidFill>
              <a:srgbClr val="0B6E8A"/>
            </a:solidFill>
            <a:prstDash val="solid"/>
            <a:round/>
          </a:ln>
        </p:spPr>
      </p:sp>
      <p:sp>
        <p:nvSpPr>
          <p:cNvPr id="22" name="Text 20"/>
          <p:cNvSpPr/>
          <p:nvPr/>
        </p:nvSpPr>
        <p:spPr>
          <a:xfrm>
            <a:off x="1929384" y="447598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6E8A"/>
                </a:solidFill>
                <a:latin typeface="Segoe UI Semibold" pitchFamily="34" charset="0"/>
                <a:ea typeface="Segoe UI Semibold" pitchFamily="34" charset="-122"/>
                <a:cs typeface="Segoe UI Semibold" pitchFamily="34" charset="-120"/>
              </a:rPr>
              <a:t>Métricas y alertas</a:t>
            </a:r>
            <a:endParaRPr lang="en-US" sz="2000" dirty="0"/>
          </a:p>
        </p:txBody>
      </p:sp>
      <p:sp>
        <p:nvSpPr>
          <p:cNvPr id="23" name="Text 21"/>
          <p:cNvSpPr/>
          <p:nvPr/>
        </p:nvSpPr>
        <p:spPr>
          <a:xfrm>
            <a:off x="1929384" y="4951476"/>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Prometheus ya está expuesto: falta guardarlas y alertar.</a:t>
            </a:r>
            <a:endParaRPr lang="en-US" sz="1600" dirty="0"/>
          </a:p>
        </p:txBody>
      </p:sp>
      <p:sp>
        <p:nvSpPr>
          <p:cNvPr id="24" name="Shape 22"/>
          <p:cNvSpPr/>
          <p:nvPr/>
        </p:nvSpPr>
        <p:spPr>
          <a:xfrm>
            <a:off x="6187288" y="3922776"/>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6187288" y="4050792"/>
            <a:ext cx="64008" cy="1764792"/>
          </a:xfrm>
          <a:prstGeom prst="rect">
            <a:avLst/>
          </a:prstGeom>
          <a:solidFill>
            <a:srgbClr val="0A6648"/>
          </a:solidFill>
          <a:ln w="12700">
            <a:solidFill>
              <a:srgbClr val="0A6648"/>
            </a:solidFill>
            <a:prstDash val="solid"/>
          </a:ln>
        </p:spPr>
      </p:sp>
      <p:sp>
        <p:nvSpPr>
          <p:cNvPr id="26" name="Shape 24"/>
          <p:cNvSpPr/>
          <p:nvPr/>
        </p:nvSpPr>
        <p:spPr>
          <a:xfrm>
            <a:off x="6461608" y="4539996"/>
            <a:ext cx="786384" cy="786384"/>
          </a:xfrm>
          <a:prstGeom prst="ellipse">
            <a:avLst/>
          </a:prstGeom>
          <a:solidFill>
            <a:srgbClr val="E1F1EA"/>
          </a:solidFill>
          <a:ln w="12700">
            <a:solidFill>
              <a:srgbClr val="E1F1EA"/>
            </a:solidFill>
            <a:prstDash val="solid"/>
          </a:ln>
        </p:spPr>
      </p:sp>
      <p:sp>
        <p:nvSpPr>
          <p:cNvPr id="27" name="Icono rocket"/>
          <p:cNvSpPr/>
          <p:nvPr/>
        </p:nvSpPr>
        <p:spPr>
          <a:xfrm>
            <a:off x="6650340" y="4728728"/>
            <a:ext cx="408920" cy="408920"/>
          </a:xfrm>
          <a:custGeom>
            <a:avLst/>
            <a:gdLst/>
            <a:ahLst/>
            <a:cxnLst/>
            <a:rect l="l" t="t" r="r" b="b"/>
            <a:pathLst>
              <a:path w="408920" h="408920">
                <a:moveTo>
                  <a:pt x="76672" y="281132"/>
                </a:moveTo>
                <a:cubicBezTo>
                  <a:pt x="51115" y="302601"/>
                  <a:pt x="42596" y="366324"/>
                  <a:pt x="42596" y="366324"/>
                </a:cubicBezTo>
                <a:cubicBezTo>
                  <a:pt x="42596" y="366324"/>
                  <a:pt x="106319" y="357805"/>
                  <a:pt x="127787" y="332247"/>
                </a:cubicBezTo>
                <a:cubicBezTo>
                  <a:pt x="139885" y="317935"/>
                  <a:pt x="139714" y="295956"/>
                  <a:pt x="126254" y="282666"/>
                </a:cubicBezTo>
                <a:cubicBezTo>
                  <a:pt x="112540" y="269576"/>
                  <a:pt x="91169" y="268915"/>
                  <a:pt x="76672" y="281132"/>
                </a:cubicBezTo>
                <a:close/>
                <a:moveTo>
                  <a:pt x="204460" y="255575"/>
                </a:moveTo>
                <a:lnTo>
                  <a:pt x="153345" y="204460"/>
                </a:lnTo>
                <a:cubicBezTo>
                  <a:pt x="162412" y="180937"/>
                  <a:pt x="173828" y="158389"/>
                  <a:pt x="187422" y="137158"/>
                </a:cubicBezTo>
                <a:cubicBezTo>
                  <a:pt x="227788" y="72617"/>
                  <a:pt x="298719" y="33604"/>
                  <a:pt x="374843" y="34077"/>
                </a:cubicBezTo>
                <a:cubicBezTo>
                  <a:pt x="374843" y="80421"/>
                  <a:pt x="361553" y="161864"/>
                  <a:pt x="272613" y="221498"/>
                </a:cubicBezTo>
                <a:cubicBezTo>
                  <a:pt x="251092" y="235107"/>
                  <a:pt x="228260" y="246523"/>
                  <a:pt x="204460" y="255575"/>
                </a:cubicBezTo>
                <a:close/>
                <a:moveTo>
                  <a:pt x="153345" y="204460"/>
                </a:moveTo>
                <a:lnTo>
                  <a:pt x="68153" y="204460"/>
                </a:lnTo>
                <a:cubicBezTo>
                  <a:pt x="68153" y="204460"/>
                  <a:pt x="77524" y="152834"/>
                  <a:pt x="102230" y="136307"/>
                </a:cubicBezTo>
                <a:cubicBezTo>
                  <a:pt x="129832" y="117905"/>
                  <a:pt x="187422" y="136307"/>
                  <a:pt x="187422" y="136307"/>
                </a:cubicBezTo>
                <a:moveTo>
                  <a:pt x="204460" y="255575"/>
                </a:moveTo>
                <a:lnTo>
                  <a:pt x="204460" y="340766"/>
                </a:lnTo>
                <a:cubicBezTo>
                  <a:pt x="204460" y="340766"/>
                  <a:pt x="256086" y="331395"/>
                  <a:pt x="272613" y="306690"/>
                </a:cubicBezTo>
                <a:cubicBezTo>
                  <a:pt x="291015" y="279088"/>
                  <a:pt x="272613" y="221498"/>
                  <a:pt x="272613" y="221498"/>
                </a:cubicBezTo>
              </a:path>
            </a:pathLst>
          </a:custGeom>
          <a:noFill/>
          <a:ln w="34077" cap="rnd">
            <a:solidFill>
              <a:srgbClr val="0A6648"/>
            </a:solidFill>
            <a:prstDash val="solid"/>
            <a:round/>
          </a:ln>
        </p:spPr>
      </p:sp>
      <p:sp>
        <p:nvSpPr>
          <p:cNvPr id="28" name="Text 26"/>
          <p:cNvSpPr/>
          <p:nvPr/>
        </p:nvSpPr>
        <p:spPr>
          <a:xfrm>
            <a:off x="7504024" y="447598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Entrega a Kubernetes</a:t>
            </a:r>
            <a:endParaRPr lang="en-US" sz="2000" dirty="0"/>
          </a:p>
        </p:txBody>
      </p:sp>
      <p:sp>
        <p:nvSpPr>
          <p:cNvPr id="29" name="Text 27"/>
          <p:cNvSpPr/>
          <p:nvPr/>
        </p:nvSpPr>
        <p:spPr>
          <a:xfrm>
            <a:off x="7504024" y="4951476"/>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pipeline publica; falta que despliegue solo.</a:t>
            </a:r>
            <a:endParaRPr lang="en-US" sz="1600" dirty="0"/>
          </a:p>
        </p:txBody>
      </p:sp>
      <p:sp>
        <p:nvSpPr>
          <p:cNvPr id="30" name="Text 28"/>
          <p:cNvSpPr/>
          <p:nvPr/>
        </p:nvSpPr>
        <p:spPr>
          <a:xfrm>
            <a:off x="612648" y="6016752"/>
            <a:ext cx="4498848"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Las cuatro son propuestas: no existen todavía en el código</a:t>
            </a:r>
            <a:endParaRPr lang="en-US" sz="95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138160" y="-1280160"/>
            <a:ext cx="5669280" cy="5669280"/>
          </a:xfrm>
          <a:prstGeom prst="ellipse">
            <a:avLst/>
          </a:prstGeom>
          <a:solidFill>
            <a:srgbClr val="0B2350"/>
          </a:solidFill>
          <a:ln w="12700">
            <a:solidFill>
              <a:srgbClr val="0B2350"/>
            </a:solidFill>
            <a:prstDash val="solid"/>
          </a:ln>
        </p:spPr>
      </p:sp>
      <p:sp>
        <p:nvSpPr>
          <p:cNvPr id="3" name="Shape 1"/>
          <p:cNvSpPr/>
          <p:nvPr/>
        </p:nvSpPr>
        <p:spPr>
          <a:xfrm>
            <a:off x="0" y="0"/>
            <a:ext cx="109728" cy="6858000"/>
          </a:xfrm>
          <a:prstGeom prst="rect">
            <a:avLst/>
          </a:prstGeom>
          <a:solidFill>
            <a:srgbClr val="2BA6CB"/>
          </a:solidFill>
          <a:ln w="12700">
            <a:solidFill>
              <a:srgbClr val="2BA6CB"/>
            </a:solidFill>
            <a:prstDash val="solid"/>
          </a:ln>
        </p:spPr>
      </p:sp>
      <p:sp>
        <p:nvSpPr>
          <p:cNvPr id="4" name="Icono sparkles"/>
          <p:cNvSpPr/>
          <p:nvPr/>
        </p:nvSpPr>
        <p:spPr>
          <a:xfrm>
            <a:off x="9692640" y="822960"/>
            <a:ext cx="1737360" cy="1737360"/>
          </a:xfrm>
          <a:custGeom>
            <a:avLst/>
            <a:gdLst/>
            <a:ahLst/>
            <a:cxnLst/>
            <a:rect l="l" t="t" r="r" b="b"/>
            <a:pathLst>
              <a:path w="1737360" h="1737360">
                <a:moveTo>
                  <a:pt x="719339" y="1122045"/>
                </a:moveTo>
                <a:cubicBezTo>
                  <a:pt x="706177" y="1071024"/>
                  <a:pt x="666336" y="1031183"/>
                  <a:pt x="615315" y="1018021"/>
                </a:cubicBezTo>
                <a:lnTo>
                  <a:pt x="171202" y="903500"/>
                </a:lnTo>
                <a:cubicBezTo>
                  <a:pt x="155634" y="899081"/>
                  <a:pt x="144890" y="884864"/>
                  <a:pt x="144890" y="868680"/>
                </a:cubicBezTo>
                <a:cubicBezTo>
                  <a:pt x="144890" y="852496"/>
                  <a:pt x="155634" y="838279"/>
                  <a:pt x="171202" y="833860"/>
                </a:cubicBezTo>
                <a:lnTo>
                  <a:pt x="615315" y="719267"/>
                </a:lnTo>
                <a:cubicBezTo>
                  <a:pt x="666317" y="706118"/>
                  <a:pt x="706154" y="666308"/>
                  <a:pt x="719339" y="615315"/>
                </a:cubicBezTo>
                <a:lnTo>
                  <a:pt x="833860" y="171202"/>
                </a:lnTo>
                <a:cubicBezTo>
                  <a:pt x="838235" y="155570"/>
                  <a:pt x="852483" y="144762"/>
                  <a:pt x="868716" y="144762"/>
                </a:cubicBezTo>
                <a:cubicBezTo>
                  <a:pt x="884949" y="144762"/>
                  <a:pt x="899197" y="155570"/>
                  <a:pt x="903572" y="171202"/>
                </a:cubicBezTo>
                <a:lnTo>
                  <a:pt x="1018021" y="615315"/>
                </a:lnTo>
                <a:cubicBezTo>
                  <a:pt x="1031183" y="666336"/>
                  <a:pt x="1071024" y="706177"/>
                  <a:pt x="1122045" y="719339"/>
                </a:cubicBezTo>
                <a:lnTo>
                  <a:pt x="1566158" y="833788"/>
                </a:lnTo>
                <a:cubicBezTo>
                  <a:pt x="1581855" y="838118"/>
                  <a:pt x="1592728" y="852397"/>
                  <a:pt x="1592728" y="868680"/>
                </a:cubicBezTo>
                <a:cubicBezTo>
                  <a:pt x="1592728" y="884963"/>
                  <a:pt x="1581855" y="899242"/>
                  <a:pt x="1566158" y="903572"/>
                </a:cubicBezTo>
                <a:lnTo>
                  <a:pt x="1122045" y="1018021"/>
                </a:lnTo>
                <a:cubicBezTo>
                  <a:pt x="1071024" y="1031183"/>
                  <a:pt x="1031183" y="1071024"/>
                  <a:pt x="1018021" y="1122045"/>
                </a:cubicBezTo>
                <a:lnTo>
                  <a:pt x="903500" y="1566158"/>
                </a:lnTo>
                <a:cubicBezTo>
                  <a:pt x="899125" y="1581790"/>
                  <a:pt x="884877" y="1592598"/>
                  <a:pt x="868644" y="1592598"/>
                </a:cubicBezTo>
                <a:cubicBezTo>
                  <a:pt x="852411" y="1592598"/>
                  <a:pt x="838163" y="1581790"/>
                  <a:pt x="833788" y="1566158"/>
                </a:cubicBezTo>
                <a:close/>
                <a:moveTo>
                  <a:pt x="1447800" y="217170"/>
                </a:moveTo>
                <a:lnTo>
                  <a:pt x="1447800" y="506730"/>
                </a:lnTo>
                <a:moveTo>
                  <a:pt x="1592580" y="361950"/>
                </a:moveTo>
                <a:lnTo>
                  <a:pt x="1303020" y="361950"/>
                </a:lnTo>
                <a:moveTo>
                  <a:pt x="289560" y="1230630"/>
                </a:moveTo>
                <a:lnTo>
                  <a:pt x="289560" y="1375410"/>
                </a:lnTo>
                <a:moveTo>
                  <a:pt x="361950" y="1303020"/>
                </a:moveTo>
                <a:lnTo>
                  <a:pt x="217170" y="1303020"/>
                </a:lnTo>
              </a:path>
            </a:pathLst>
          </a:custGeom>
          <a:noFill/>
          <a:ln w="90487" cap="rnd">
            <a:solidFill>
              <a:srgbClr val="2BA6CB"/>
            </a:solidFill>
            <a:prstDash val="solid"/>
            <a:roun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2103120"/>
            <a:ext cx="82296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9" name="Text 7"/>
          <p:cNvSpPr/>
          <p:nvPr/>
        </p:nvSpPr>
        <p:spPr>
          <a:xfrm>
            <a:off x="758952" y="3474720"/>
            <a:ext cx="8229600" cy="1097280"/>
          </a:xfrm>
          <a:prstGeom prst="rect">
            <a:avLst/>
          </a:prstGeom>
          <a:noFill/>
          <a:ln/>
        </p:spPr>
        <p:txBody>
          <a:bodyPr wrap="square" lIns="0" tIns="0" rIns="0" bIns="0" rtlCol="0" anchor="t"/>
          <a:lstStyle/>
          <a:p>
            <a:pPr indent="0" marL="0">
              <a:buNone/>
            </a:pPr>
            <a:r>
              <a:rPr lang="en-US" sz="2200" dirty="0">
                <a:solidFill>
                  <a:srgbClr val="9FBEE0"/>
                </a:solidFill>
                <a:latin typeface="Segoe UI" pitchFamily="34" charset="0"/>
                <a:ea typeface="Segoe UI" pitchFamily="34" charset="-122"/>
                <a:cs typeface="Segoe UI" pitchFamily="34" charset="-120"/>
              </a:rPr>
              <a:t>Equipo arka-litos · Upskilling Backend Java</a:t>
            </a:r>
            <a:endParaRPr lang="en-US" sz="2200" dirty="0"/>
          </a:p>
          <a:p>
            <a:pPr indent="0" marL="0">
              <a:buNone/>
            </a:pPr>
            <a:r>
              <a:rPr lang="en-US" sz="2200" dirty="0">
                <a:solidFill>
                  <a:srgbClr val="9FBEE0"/>
                </a:solidFill>
                <a:latin typeface="Segoe UI" pitchFamily="34" charset="0"/>
                <a:ea typeface="Segoe UI" pitchFamily="34" charset="-122"/>
                <a:cs typeface="Segoe UI" pitchFamily="34" charset="-120"/>
              </a:rPr>
              <a:t>¿Preguntas?</a:t>
            </a:r>
            <a:endParaRPr lang="en-US" sz="2200" dirty="0"/>
          </a:p>
        </p:txBody>
      </p:sp>
      <p:sp>
        <p:nvSpPr>
          <p:cNvPr id="10" name="Shape 8"/>
          <p:cNvSpPr/>
          <p:nvPr/>
        </p:nvSpPr>
        <p:spPr>
          <a:xfrm>
            <a:off x="758952" y="5120640"/>
            <a:ext cx="548640" cy="548640"/>
          </a:xfrm>
          <a:prstGeom prst="ellipse">
            <a:avLst/>
          </a:prstGeom>
          <a:solidFill>
            <a:srgbClr val="0B2350"/>
          </a:solidFill>
          <a:ln w="15875">
            <a:solidFill>
              <a:srgbClr val="2BA6CB"/>
            </a:solidFill>
            <a:prstDash val="solid"/>
          </a:ln>
        </p:spPr>
      </p:sp>
      <p:sp>
        <p:nvSpPr>
          <p:cNvPr id="11" name="Icono code"/>
          <p:cNvSpPr/>
          <p:nvPr/>
        </p:nvSpPr>
        <p:spPr>
          <a:xfrm>
            <a:off x="896112" y="5257800"/>
            <a:ext cx="274320" cy="274320"/>
          </a:xfrm>
          <a:custGeom>
            <a:avLst/>
            <a:gdLst/>
            <a:ahLst/>
            <a:cxnLst/>
            <a:rect l="l" t="t" r="r" b="b"/>
            <a:pathLst>
              <a:path w="274320" h="274320">
                <a:moveTo>
                  <a:pt x="182880" y="205740"/>
                </a:moveTo>
                <a:lnTo>
                  <a:pt x="251460" y="137160"/>
                </a:lnTo>
                <a:lnTo>
                  <a:pt x="182880" y="68580"/>
                </a:lnTo>
                <a:moveTo>
                  <a:pt x="91440" y="68580"/>
                </a:moveTo>
                <a:lnTo>
                  <a:pt x="22860" y="137160"/>
                </a:lnTo>
                <a:lnTo>
                  <a:pt x="91440" y="205740"/>
                </a:lnTo>
              </a:path>
            </a:pathLst>
          </a:custGeom>
          <a:noFill/>
          <a:ln w="22860" cap="rnd">
            <a:solidFill>
              <a:srgbClr val="2BA6CB"/>
            </a:solidFill>
            <a:prstDash val="solid"/>
            <a:round/>
          </a:ln>
        </p:spPr>
      </p:sp>
      <p:sp>
        <p:nvSpPr>
          <p:cNvPr id="12" name="Shape 10"/>
          <p:cNvSpPr/>
          <p:nvPr/>
        </p:nvSpPr>
        <p:spPr>
          <a:xfrm>
            <a:off x="1472184" y="5120640"/>
            <a:ext cx="548640" cy="548640"/>
          </a:xfrm>
          <a:prstGeom prst="ellipse">
            <a:avLst/>
          </a:prstGeom>
          <a:solidFill>
            <a:srgbClr val="0B2350"/>
          </a:solidFill>
          <a:ln w="15875">
            <a:solidFill>
              <a:srgbClr val="2BA6CB"/>
            </a:solidFill>
            <a:prstDash val="solid"/>
          </a:ln>
        </p:spPr>
      </p:sp>
      <p:sp>
        <p:nvSpPr>
          <p:cNvPr id="13" name="Icono network"/>
          <p:cNvSpPr/>
          <p:nvPr/>
        </p:nvSpPr>
        <p:spPr>
          <a:xfrm>
            <a:off x="1609344" y="5257800"/>
            <a:ext cx="274320" cy="274320"/>
          </a:xfrm>
          <a:custGeom>
            <a:avLst/>
            <a:gdLst/>
            <a:ahLst/>
            <a:cxnLst/>
            <a:rect l="l" t="t" r="r" b="b"/>
            <a:pathLst>
              <a:path w="274320" h="274320">
                <a:moveTo>
                  <a:pt x="194310" y="182880"/>
                </a:moveTo>
                <a:lnTo>
                  <a:pt x="240030" y="182880"/>
                </a:lnTo>
                <a:cubicBezTo>
                  <a:pt x="246343" y="182880"/>
                  <a:pt x="251460" y="187997"/>
                  <a:pt x="251460" y="194310"/>
                </a:cubicBezTo>
                <a:lnTo>
                  <a:pt x="251460" y="240030"/>
                </a:lnTo>
                <a:cubicBezTo>
                  <a:pt x="251460" y="246343"/>
                  <a:pt x="246343" y="251460"/>
                  <a:pt x="240030" y="251460"/>
                </a:cubicBezTo>
                <a:lnTo>
                  <a:pt x="194310" y="251460"/>
                </a:lnTo>
                <a:cubicBezTo>
                  <a:pt x="187997" y="251460"/>
                  <a:pt x="182880" y="246343"/>
                  <a:pt x="182880" y="240030"/>
                </a:cubicBezTo>
                <a:lnTo>
                  <a:pt x="182880" y="194310"/>
                </a:lnTo>
                <a:cubicBezTo>
                  <a:pt x="182880" y="187997"/>
                  <a:pt x="187997" y="182880"/>
                  <a:pt x="194310" y="182880"/>
                </a:cubicBezTo>
                <a:close/>
                <a:moveTo>
                  <a:pt x="34290" y="182880"/>
                </a:moveTo>
                <a:lnTo>
                  <a:pt x="80010" y="182880"/>
                </a:lnTo>
                <a:cubicBezTo>
                  <a:pt x="86323" y="182880"/>
                  <a:pt x="91440" y="187997"/>
                  <a:pt x="91440" y="194310"/>
                </a:cubicBezTo>
                <a:lnTo>
                  <a:pt x="91440" y="240030"/>
                </a:lnTo>
                <a:cubicBezTo>
                  <a:pt x="91440" y="246343"/>
                  <a:pt x="86323" y="251460"/>
                  <a:pt x="80010" y="251460"/>
                </a:cubicBezTo>
                <a:lnTo>
                  <a:pt x="34290" y="251460"/>
                </a:lnTo>
                <a:cubicBezTo>
                  <a:pt x="27977" y="251460"/>
                  <a:pt x="22860" y="246343"/>
                  <a:pt x="22860" y="240030"/>
                </a:cubicBezTo>
                <a:lnTo>
                  <a:pt x="22860" y="194310"/>
                </a:lnTo>
                <a:cubicBezTo>
                  <a:pt x="22860" y="187997"/>
                  <a:pt x="27977" y="182880"/>
                  <a:pt x="34290" y="182880"/>
                </a:cubicBezTo>
                <a:close/>
                <a:moveTo>
                  <a:pt x="114300" y="22860"/>
                </a:moveTo>
                <a:lnTo>
                  <a:pt x="160020" y="22860"/>
                </a:lnTo>
                <a:cubicBezTo>
                  <a:pt x="166333" y="22860"/>
                  <a:pt x="171450" y="27977"/>
                  <a:pt x="171450" y="34290"/>
                </a:cubicBezTo>
                <a:lnTo>
                  <a:pt x="171450" y="80010"/>
                </a:lnTo>
                <a:cubicBezTo>
                  <a:pt x="171450" y="86323"/>
                  <a:pt x="166333" y="91440"/>
                  <a:pt x="160020" y="91440"/>
                </a:cubicBezTo>
                <a:lnTo>
                  <a:pt x="114300" y="91440"/>
                </a:lnTo>
                <a:cubicBezTo>
                  <a:pt x="107987" y="91440"/>
                  <a:pt x="102870" y="86323"/>
                  <a:pt x="102870" y="80010"/>
                </a:cubicBezTo>
                <a:lnTo>
                  <a:pt x="102870" y="34290"/>
                </a:lnTo>
                <a:cubicBezTo>
                  <a:pt x="102870" y="27977"/>
                  <a:pt x="107987" y="22860"/>
                  <a:pt x="114300" y="22860"/>
                </a:cubicBezTo>
                <a:close/>
                <a:moveTo>
                  <a:pt x="57150" y="182880"/>
                </a:moveTo>
                <a:lnTo>
                  <a:pt x="57150" y="148590"/>
                </a:lnTo>
                <a:cubicBezTo>
                  <a:pt x="57150" y="142277"/>
                  <a:pt x="62267" y="137160"/>
                  <a:pt x="68580" y="137160"/>
                </a:cubicBezTo>
                <a:lnTo>
                  <a:pt x="205740" y="137160"/>
                </a:lnTo>
                <a:cubicBezTo>
                  <a:pt x="212053" y="137160"/>
                  <a:pt x="217170" y="142277"/>
                  <a:pt x="217170" y="148590"/>
                </a:cubicBezTo>
                <a:lnTo>
                  <a:pt x="217170" y="182880"/>
                </a:lnTo>
                <a:moveTo>
                  <a:pt x="137160" y="137160"/>
                </a:moveTo>
                <a:lnTo>
                  <a:pt x="137160" y="91440"/>
                </a:lnTo>
              </a:path>
            </a:pathLst>
          </a:custGeom>
          <a:noFill/>
          <a:ln w="22860" cap="rnd">
            <a:solidFill>
              <a:srgbClr val="2BA6CB"/>
            </a:solidFill>
            <a:prstDash val="solid"/>
            <a:round/>
          </a:ln>
        </p:spPr>
      </p:sp>
      <p:sp>
        <p:nvSpPr>
          <p:cNvPr id="14" name="Shape 12"/>
          <p:cNvSpPr/>
          <p:nvPr/>
        </p:nvSpPr>
        <p:spPr>
          <a:xfrm>
            <a:off x="2185416" y="5120640"/>
            <a:ext cx="548640" cy="548640"/>
          </a:xfrm>
          <a:prstGeom prst="ellipse">
            <a:avLst/>
          </a:prstGeom>
          <a:solidFill>
            <a:srgbClr val="0B2350"/>
          </a:solidFill>
          <a:ln w="15875">
            <a:solidFill>
              <a:srgbClr val="2BA6CB"/>
            </a:solidFill>
            <a:prstDash val="solid"/>
          </a:ln>
        </p:spPr>
      </p:sp>
      <p:sp>
        <p:nvSpPr>
          <p:cNvPr id="15" name="Icono database"/>
          <p:cNvSpPr/>
          <p:nvPr/>
        </p:nvSpPr>
        <p:spPr>
          <a:xfrm>
            <a:off x="2322576" y="525780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2BA6CB"/>
            </a:solidFill>
            <a:prstDash val="solid"/>
            <a:round/>
          </a:ln>
        </p:spPr>
      </p:sp>
      <p:sp>
        <p:nvSpPr>
          <p:cNvPr id="16" name="Shape 14"/>
          <p:cNvSpPr/>
          <p:nvPr/>
        </p:nvSpPr>
        <p:spPr>
          <a:xfrm>
            <a:off x="2898648" y="5120640"/>
            <a:ext cx="548640" cy="548640"/>
          </a:xfrm>
          <a:prstGeom prst="ellipse">
            <a:avLst/>
          </a:prstGeom>
          <a:solidFill>
            <a:srgbClr val="0B2350"/>
          </a:solidFill>
          <a:ln w="15875">
            <a:solidFill>
              <a:srgbClr val="2BA6CB"/>
            </a:solidFill>
            <a:prstDash val="solid"/>
          </a:ln>
        </p:spPr>
      </p:sp>
      <p:sp>
        <p:nvSpPr>
          <p:cNvPr id="17" name="Icono container"/>
          <p:cNvSpPr/>
          <p:nvPr/>
        </p:nvSpPr>
        <p:spPr>
          <a:xfrm>
            <a:off x="3035808" y="5257800"/>
            <a:ext cx="274320" cy="274320"/>
          </a:xfrm>
          <a:custGeom>
            <a:avLst/>
            <a:gdLst/>
            <a:ahLst/>
            <a:cxnLst/>
            <a:rect l="l" t="t" r="r" b="b"/>
            <a:pathLst>
              <a:path w="274320" h="274320">
                <a:moveTo>
                  <a:pt x="251460" y="88011"/>
                </a:moveTo>
                <a:cubicBezTo>
                  <a:pt x="251460" y="81153"/>
                  <a:pt x="246888" y="74295"/>
                  <a:pt x="242316" y="70866"/>
                </a:cubicBezTo>
                <a:lnTo>
                  <a:pt x="170307" y="26289"/>
                </a:lnTo>
                <a:cubicBezTo>
                  <a:pt x="164283" y="22864"/>
                  <a:pt x="156900" y="22864"/>
                  <a:pt x="150876" y="26289"/>
                </a:cubicBezTo>
                <a:lnTo>
                  <a:pt x="33147" y="94869"/>
                </a:lnTo>
                <a:cubicBezTo>
                  <a:pt x="27432" y="97155"/>
                  <a:pt x="22860" y="104013"/>
                  <a:pt x="22860" y="110871"/>
                </a:cubicBezTo>
                <a:lnTo>
                  <a:pt x="22860" y="186309"/>
                </a:lnTo>
                <a:cubicBezTo>
                  <a:pt x="22860" y="192024"/>
                  <a:pt x="27432" y="200025"/>
                  <a:pt x="32004" y="203454"/>
                </a:cubicBezTo>
                <a:lnTo>
                  <a:pt x="104013" y="248031"/>
                </a:lnTo>
                <a:cubicBezTo>
                  <a:pt x="110037" y="251456"/>
                  <a:pt x="117420" y="251456"/>
                  <a:pt x="123444" y="248031"/>
                </a:cubicBezTo>
                <a:lnTo>
                  <a:pt x="241173" y="179451"/>
                </a:lnTo>
                <a:cubicBezTo>
                  <a:pt x="246888" y="176022"/>
                  <a:pt x="251460" y="168021"/>
                  <a:pt x="251460" y="162306"/>
                </a:cubicBezTo>
                <a:close/>
                <a:moveTo>
                  <a:pt x="114300" y="250317"/>
                </a:moveTo>
                <a:lnTo>
                  <a:pt x="114300" y="160020"/>
                </a:lnTo>
                <a:lnTo>
                  <a:pt x="24003" y="104013"/>
                </a:lnTo>
                <a:moveTo>
                  <a:pt x="114300" y="160020"/>
                </a:moveTo>
                <a:lnTo>
                  <a:pt x="250317" y="81153"/>
                </a:lnTo>
                <a:moveTo>
                  <a:pt x="160020" y="226314"/>
                </a:moveTo>
                <a:lnTo>
                  <a:pt x="160020" y="133731"/>
                </a:lnTo>
                <a:moveTo>
                  <a:pt x="205740" y="200025"/>
                </a:moveTo>
                <a:lnTo>
                  <a:pt x="205740" y="107442"/>
                </a:lnTo>
              </a:path>
            </a:pathLst>
          </a:custGeom>
          <a:noFill/>
          <a:ln w="22860" cap="rnd">
            <a:solidFill>
              <a:srgbClr val="2BA6CB"/>
            </a:solidFill>
            <a:prstDash val="solid"/>
            <a:round/>
          </a:ln>
        </p:spPr>
      </p:sp>
      <p:sp>
        <p:nvSpPr>
          <p:cNvPr id="18" name="Shape 16"/>
          <p:cNvSpPr/>
          <p:nvPr/>
        </p:nvSpPr>
        <p:spPr>
          <a:xfrm>
            <a:off x="3611880" y="5120640"/>
            <a:ext cx="548640" cy="548640"/>
          </a:xfrm>
          <a:prstGeom prst="ellipse">
            <a:avLst/>
          </a:prstGeom>
          <a:solidFill>
            <a:srgbClr val="0B2350"/>
          </a:solidFill>
          <a:ln w="15875">
            <a:solidFill>
              <a:srgbClr val="2BA6CB"/>
            </a:solidFill>
            <a:prstDash val="solid"/>
          </a:ln>
        </p:spPr>
      </p:sp>
      <p:sp>
        <p:nvSpPr>
          <p:cNvPr id="19" name="Icono workflow"/>
          <p:cNvSpPr/>
          <p:nvPr/>
        </p:nvSpPr>
        <p:spPr>
          <a:xfrm>
            <a:off x="3749040" y="5257800"/>
            <a:ext cx="274320" cy="274320"/>
          </a:xfrm>
          <a:custGeom>
            <a:avLst/>
            <a:gdLst/>
            <a:ahLst/>
            <a:cxnLst/>
            <a:rect l="l" t="t" r="r" b="b"/>
            <a:pathLst>
              <a:path w="274320" h="274320">
                <a:moveTo>
                  <a:pt x="57150" y="34290"/>
                </a:moveTo>
                <a:lnTo>
                  <a:pt x="102870" y="34290"/>
                </a:lnTo>
                <a:cubicBezTo>
                  <a:pt x="115495" y="34290"/>
                  <a:pt x="125730" y="44525"/>
                  <a:pt x="125730" y="57150"/>
                </a:cubicBezTo>
                <a:lnTo>
                  <a:pt x="125730" y="102870"/>
                </a:lnTo>
                <a:cubicBezTo>
                  <a:pt x="125730" y="115495"/>
                  <a:pt x="115495" y="125730"/>
                  <a:pt x="102870" y="125730"/>
                </a:cubicBezTo>
                <a:lnTo>
                  <a:pt x="57150" y="125730"/>
                </a:lnTo>
                <a:cubicBezTo>
                  <a:pt x="44525" y="125730"/>
                  <a:pt x="34290" y="115495"/>
                  <a:pt x="34290" y="102870"/>
                </a:cubicBezTo>
                <a:lnTo>
                  <a:pt x="34290" y="57150"/>
                </a:lnTo>
                <a:cubicBezTo>
                  <a:pt x="34290" y="44525"/>
                  <a:pt x="44525" y="34290"/>
                  <a:pt x="57150" y="34290"/>
                </a:cubicBezTo>
                <a:close/>
                <a:moveTo>
                  <a:pt x="80010" y="125730"/>
                </a:moveTo>
                <a:lnTo>
                  <a:pt x="80010" y="171450"/>
                </a:lnTo>
                <a:cubicBezTo>
                  <a:pt x="80010" y="184075"/>
                  <a:pt x="90245" y="194310"/>
                  <a:pt x="102870" y="194310"/>
                </a:cubicBezTo>
                <a:lnTo>
                  <a:pt x="148590" y="194310"/>
                </a:lnTo>
                <a:moveTo>
                  <a:pt x="171450" y="148590"/>
                </a:moveTo>
                <a:lnTo>
                  <a:pt x="217170" y="148590"/>
                </a:lnTo>
                <a:cubicBezTo>
                  <a:pt x="229795" y="148590"/>
                  <a:pt x="240030" y="158825"/>
                  <a:pt x="240030" y="171450"/>
                </a:cubicBezTo>
                <a:lnTo>
                  <a:pt x="240030" y="217170"/>
                </a:lnTo>
                <a:cubicBezTo>
                  <a:pt x="240030" y="229795"/>
                  <a:pt x="229795" y="240030"/>
                  <a:pt x="217170" y="240030"/>
                </a:cubicBezTo>
                <a:lnTo>
                  <a:pt x="171450" y="240030"/>
                </a:lnTo>
                <a:cubicBezTo>
                  <a:pt x="158825" y="240030"/>
                  <a:pt x="148590" y="229795"/>
                  <a:pt x="148590" y="217170"/>
                </a:cubicBezTo>
                <a:lnTo>
                  <a:pt x="148590" y="171450"/>
                </a:lnTo>
                <a:cubicBezTo>
                  <a:pt x="148590" y="158825"/>
                  <a:pt x="158825" y="148590"/>
                  <a:pt x="171450" y="148590"/>
                </a:cubicBezTo>
                <a:close/>
              </a:path>
            </a:pathLst>
          </a:custGeom>
          <a:noFill/>
          <a:ln w="22860" cap="rnd">
            <a:solidFill>
              <a:srgbClr val="2BA6CB"/>
            </a:solidFill>
            <a:prstDash val="solid"/>
            <a:round/>
          </a:ln>
        </p:spPr>
      </p:sp>
      <p:sp>
        <p:nvSpPr>
          <p:cNvPr id="20" name="Shape 18"/>
          <p:cNvSpPr/>
          <p:nvPr/>
        </p:nvSpPr>
        <p:spPr>
          <a:xfrm>
            <a:off x="4325112" y="5120640"/>
            <a:ext cx="548640" cy="548640"/>
          </a:xfrm>
          <a:prstGeom prst="ellipse">
            <a:avLst/>
          </a:prstGeom>
          <a:solidFill>
            <a:srgbClr val="0B2350"/>
          </a:solidFill>
          <a:ln w="15875">
            <a:solidFill>
              <a:srgbClr val="2BA6CB"/>
            </a:solidFill>
            <a:prstDash val="solid"/>
          </a:ln>
        </p:spPr>
      </p:sp>
      <p:sp>
        <p:nvSpPr>
          <p:cNvPr id="21" name="Icono chart-line"/>
          <p:cNvSpPr/>
          <p:nvPr/>
        </p:nvSpPr>
        <p:spPr>
          <a:xfrm>
            <a:off x="4462272" y="5257800"/>
            <a:ext cx="274320" cy="274320"/>
          </a:xfrm>
          <a:custGeom>
            <a:avLst/>
            <a:gdLst/>
            <a:ahLst/>
            <a:cxnLst/>
            <a:rect l="l" t="t" r="r" b="b"/>
            <a:pathLst>
              <a:path w="274320" h="274320">
                <a:moveTo>
                  <a:pt x="34290" y="34290"/>
                </a:moveTo>
                <a:lnTo>
                  <a:pt x="34290" y="217170"/>
                </a:lnTo>
                <a:cubicBezTo>
                  <a:pt x="34290" y="229795"/>
                  <a:pt x="44525" y="240030"/>
                  <a:pt x="57150" y="240030"/>
                </a:cubicBezTo>
                <a:lnTo>
                  <a:pt x="240030" y="240030"/>
                </a:lnTo>
                <a:moveTo>
                  <a:pt x="217170" y="102870"/>
                </a:moveTo>
                <a:lnTo>
                  <a:pt x="160020" y="160020"/>
                </a:lnTo>
                <a:lnTo>
                  <a:pt x="114300" y="114300"/>
                </a:lnTo>
                <a:lnTo>
                  <a:pt x="80010" y="148590"/>
                </a:lnTo>
              </a:path>
            </a:pathLst>
          </a:custGeom>
          <a:noFill/>
          <a:ln w="22860" cap="rnd">
            <a:solidFill>
              <a:srgbClr val="2BA6CB"/>
            </a:solidFill>
            <a:prstDash val="solid"/>
            <a:round/>
          </a:ln>
        </p:spPr>
      </p:sp>
      <p:sp>
        <p:nvSpPr>
          <p:cNvPr id="22" name="Shape 20"/>
          <p:cNvSpPr/>
          <p:nvPr/>
        </p:nvSpPr>
        <p:spPr>
          <a:xfrm>
            <a:off x="5038344" y="5120640"/>
            <a:ext cx="548640" cy="548640"/>
          </a:xfrm>
          <a:prstGeom prst="ellipse">
            <a:avLst/>
          </a:prstGeom>
          <a:solidFill>
            <a:srgbClr val="0B2350"/>
          </a:solidFill>
          <a:ln w="15875">
            <a:solidFill>
              <a:srgbClr val="2BA6CB"/>
            </a:solidFill>
            <a:prstDash val="solid"/>
          </a:ln>
        </p:spPr>
      </p:sp>
      <p:sp>
        <p:nvSpPr>
          <p:cNvPr id="23" name="Icono book-open"/>
          <p:cNvSpPr/>
          <p:nvPr/>
        </p:nvSpPr>
        <p:spPr>
          <a:xfrm>
            <a:off x="5175504" y="5257800"/>
            <a:ext cx="274320" cy="274320"/>
          </a:xfrm>
          <a:custGeom>
            <a:avLst/>
            <a:gdLst/>
            <a:ahLst/>
            <a:cxnLst/>
            <a:rect l="l" t="t" r="r" b="b"/>
            <a:pathLst>
              <a:path w="274320" h="274320">
                <a:moveTo>
                  <a:pt x="137160" y="80010"/>
                </a:moveTo>
                <a:lnTo>
                  <a:pt x="137160" y="240030"/>
                </a:lnTo>
                <a:moveTo>
                  <a:pt x="34290" y="205740"/>
                </a:moveTo>
                <a:cubicBezTo>
                  <a:pt x="27977" y="205740"/>
                  <a:pt x="22860" y="200623"/>
                  <a:pt x="22860" y="194310"/>
                </a:cubicBezTo>
                <a:lnTo>
                  <a:pt x="22860" y="45720"/>
                </a:lnTo>
                <a:cubicBezTo>
                  <a:pt x="22860" y="39407"/>
                  <a:pt x="27977" y="34290"/>
                  <a:pt x="34290" y="34290"/>
                </a:cubicBezTo>
                <a:lnTo>
                  <a:pt x="91440" y="34290"/>
                </a:lnTo>
                <a:cubicBezTo>
                  <a:pt x="116690" y="34290"/>
                  <a:pt x="137160" y="54760"/>
                  <a:pt x="137160" y="80010"/>
                </a:cubicBezTo>
                <a:cubicBezTo>
                  <a:pt x="137160" y="54760"/>
                  <a:pt x="157630" y="34290"/>
                  <a:pt x="182880" y="34290"/>
                </a:cubicBezTo>
                <a:lnTo>
                  <a:pt x="240030" y="34290"/>
                </a:lnTo>
                <a:cubicBezTo>
                  <a:pt x="246343" y="34290"/>
                  <a:pt x="251460" y="39407"/>
                  <a:pt x="251460" y="45720"/>
                </a:cubicBezTo>
                <a:lnTo>
                  <a:pt x="251460" y="194310"/>
                </a:lnTo>
                <a:cubicBezTo>
                  <a:pt x="251460" y="200623"/>
                  <a:pt x="246343" y="205740"/>
                  <a:pt x="240030" y="205740"/>
                </a:cubicBezTo>
                <a:lnTo>
                  <a:pt x="171450" y="205740"/>
                </a:lnTo>
                <a:cubicBezTo>
                  <a:pt x="152512" y="205740"/>
                  <a:pt x="137160" y="221092"/>
                  <a:pt x="137160" y="240030"/>
                </a:cubicBezTo>
                <a:cubicBezTo>
                  <a:pt x="137160" y="221092"/>
                  <a:pt x="121808" y="205740"/>
                  <a:pt x="102870" y="205740"/>
                </a:cubicBezTo>
                <a:close/>
              </a:path>
            </a:pathLst>
          </a:custGeom>
          <a:noFill/>
          <a:ln w="22860" cap="rnd">
            <a:solidFill>
              <a:srgbClr val="2BA6CB"/>
            </a:solidFill>
            <a:prstDash val="solid"/>
            <a:round/>
          </a:ln>
        </p:spPr>
      </p:sp>
      <p:sp>
        <p:nvSpPr>
          <p:cNvPr id="24" name="Shape 22"/>
          <p:cNvSpPr/>
          <p:nvPr/>
        </p:nvSpPr>
        <p:spPr>
          <a:xfrm>
            <a:off x="5751576" y="5120640"/>
            <a:ext cx="548640" cy="548640"/>
          </a:xfrm>
          <a:prstGeom prst="ellipse">
            <a:avLst/>
          </a:prstGeom>
          <a:solidFill>
            <a:srgbClr val="0B2350"/>
          </a:solidFill>
          <a:ln w="15875">
            <a:solidFill>
              <a:srgbClr val="2BA6CB"/>
            </a:solidFill>
            <a:prstDash val="solid"/>
          </a:ln>
        </p:spPr>
      </p:sp>
      <p:sp>
        <p:nvSpPr>
          <p:cNvPr id="25" name="Icono flask-conical"/>
          <p:cNvSpPr/>
          <p:nvPr/>
        </p:nvSpPr>
        <p:spPr>
          <a:xfrm>
            <a:off x="5888736" y="5257800"/>
            <a:ext cx="274320" cy="274320"/>
          </a:xfrm>
          <a:custGeom>
            <a:avLst/>
            <a:gdLst/>
            <a:ahLst/>
            <a:cxnLst/>
            <a:rect l="l" t="t" r="r" b="b"/>
            <a:pathLst>
              <a:path w="274320" h="274320">
                <a:moveTo>
                  <a:pt x="160020" y="22860"/>
                </a:moveTo>
                <a:lnTo>
                  <a:pt x="160020" y="91440"/>
                </a:lnTo>
                <a:cubicBezTo>
                  <a:pt x="160018" y="95275"/>
                  <a:pt x="160981" y="99048"/>
                  <a:pt x="162820" y="102413"/>
                </a:cubicBezTo>
                <a:lnTo>
                  <a:pt x="225800" y="217627"/>
                </a:lnTo>
                <a:cubicBezTo>
                  <a:pt x="229675" y="224711"/>
                  <a:pt x="229527" y="233313"/>
                  <a:pt x="225409" y="240259"/>
                </a:cubicBezTo>
                <a:cubicBezTo>
                  <a:pt x="221291" y="247204"/>
                  <a:pt x="213814" y="251462"/>
                  <a:pt x="205740" y="251460"/>
                </a:cubicBezTo>
                <a:lnTo>
                  <a:pt x="68580" y="251460"/>
                </a:lnTo>
                <a:cubicBezTo>
                  <a:pt x="60506" y="251462"/>
                  <a:pt x="53029" y="247204"/>
                  <a:pt x="48911" y="240259"/>
                </a:cubicBezTo>
                <a:cubicBezTo>
                  <a:pt x="44793" y="233313"/>
                  <a:pt x="44645" y="224711"/>
                  <a:pt x="48520" y="217627"/>
                </a:cubicBezTo>
                <a:lnTo>
                  <a:pt x="111500" y="102413"/>
                </a:lnTo>
                <a:cubicBezTo>
                  <a:pt x="113339" y="99048"/>
                  <a:pt x="114302" y="95275"/>
                  <a:pt x="114300" y="91440"/>
                </a:cubicBezTo>
                <a:lnTo>
                  <a:pt x="114300" y="22860"/>
                </a:lnTo>
                <a:moveTo>
                  <a:pt x="73758" y="171450"/>
                </a:moveTo>
                <a:lnTo>
                  <a:pt x="200562" y="171450"/>
                </a:lnTo>
                <a:moveTo>
                  <a:pt x="97155" y="22860"/>
                </a:moveTo>
                <a:lnTo>
                  <a:pt x="177165" y="22860"/>
                </a:lnTo>
              </a:path>
            </a:pathLst>
          </a:custGeom>
          <a:noFill/>
          <a:ln w="22860" cap="rnd">
            <a:solidFill>
              <a:srgbClr val="2BA6CB"/>
            </a:solidFill>
            <a:prstDash val="solid"/>
            <a:roun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técnico</dc:title>
  <dc:subject>Proyecto final de Upskilling Backend Java</dc:subject>
  <dc:creator>Equipo arka-litos</dc:creator>
  <cp:lastModifiedBy>Equipo arka-litos</cp:lastModifiedBy>
  <cp:revision>1</cp:revision>
  <dcterms:created xsi:type="dcterms:W3CDTF">2026-10-28T05:12:05Z</dcterms:created>
  <dcterms:modified xsi:type="dcterms:W3CDTF">2026-10-28T05:12:05Z</dcterms:modified>
</cp:coreProperties>
</file>