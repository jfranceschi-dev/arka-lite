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“Buenos días. Somos el equipo arka-litos, del curso Upskilling Backend Java, y hoy les presentamos ARKA-Lite, nuestro proyecto final.”
“Empezamos escribiendo un endpoint y terminamos con un sistema de dos microservicios corriendo en Kubernetes, con su pipeline, su base de datos y su observabilidad. No les vamos a contar el temario: les vamos a contar qué construimos, qué medimos y qué aprendimos.”
QUÉ HACER (no se dice)
• Antes de empezar, abrir la UI en http://localhost:8088 y comprobar que los dos servicios aparecen en verde.
PARA PASAR
“Primero, el proyecto en números.”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“ARKA-Lite hace algo sencillo a propósito: registra solicitudes, como una incidencia o un pedido de cambio, y avisa cuando una solicitud se envía. El problema es pequeño para que el foco esté en cómo se construye, se despliega y se opera.”
“Son dos microservicios con Spring Boot, once endpoints documentados, sesenta y siete pruebas automáticas y ocho contenedores que se levantan con un solo comando.”
“Y los dos números que más nos importan: un aviso se entrega en cinco segundos o menos, y no se pierde ni se duplica ninguno, aunque el otro servicio esté caído. Más adelante les mostramos cómo lo logramos.”
PARA PASAR
“Antes de entrar, ocho palabras que vamos a usar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QUÉ DECIR
“Sabemos que muchos de ustedes trabajan sobre todo con la base de datos y procedimientos almacenados, así que antes de entrar les dejamos ocho conceptos en una frase.”
“Un microservicio es una aplicación pequeña con una sola tarea y su propia base. Una API REST es la puerta para pedirle cosas por HTTP. La arquitectura hexagonal pone el negocio al centro y conecta la base y la web como si fueran enchufes. Y un ORM traduce entre clases Java y tablas, para no escribir a mano el SQL de todos los días.”
“Docker empaqueta la aplicación con todo lo que necesita; Kubernetes administra esos paquetes. CI/CD es un robot que prueba cada cambio. Y observabilidad es poder ver qué pasa adentro. Cada uno lo vamos a ver con un ejemplo.”
SI PREGUNTAN
¿Esto reemplaza a los procedimientos almacenados?
RESPUESTA CORTA
No necesariamente. Mueve las reglas del negocio al código; el SQL pesado o los reportes pueden seguir en la base.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QUÉ DECIR
“Este es el sistema por capas. Arriba, la experiencia: la persona usa la interfaz, y la interfaz no guarda nada, solo llama a los servicios por un proxy.”
“En el medio, los dos microservicios. Solicitudes lleva el trámite; notificaciones crea los avisos. No comparten base: cada uno es dueño de sus datos, y se comunican con un evento por HTTP.”
“Y abajo, la plataforma que lo sostiene: dónde corre, cómo se prueba y publica cada cambio, y dónde vemos los logs. Cada capa tiene una sola responsabilidad, y por eso cada una se puede cambiar sin romper las otras.”
SI PREGUNTAN
¿Por qué no comparten una sola base de datos?
RESPUESTA CORTA
Para que cada servicio sea dueño de sus datos y pueda cambiar sin romper al otro.
PARA PASAR
“Ahora entremos a uno de los servicios.”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“Muchos de ustedes trabajan con procedimientos almacenados: la regla del negocio vive en la base, y la aplicación solo hace EXEC con parámetros. Funciona, pero cambiar una regla es cambiar la base, y probarla exige una base con datos.”
“En ARKA-Lite usamos un ORM, que significa mapeo objeto-relacional. En Java el estándar se llama JPA y la herramienta que lo hace es Hibernate. Una clase Java se marca como entidad y queda asociada a una tabla: cada campo es una columna. Cuando guardamos o buscamos, Hibernate escribe el INSERT, el UPDATE o el SELECT por nosotros.”
“Ojo: no es todo o nada. Las reglas del negocio pasan al código, donde se prueban en milisegundos, y lo que de verdad es trabajo de base de datos, como reportes pesados, puede seguir en SQL.”
SI PREGUNTAN
¿Y el rendimiento? ¿El SQL que genera Hibernate es bueno?
RESPUESTA CORTA
Para guardar y buscar por llave, sí. Para consultas complejas se puede escribir SQL propio; además, los índices y constraints siguen siendo trabajo de la base.
PARA PASAR
“¿Y cómo llega, paso a paso, una línea de Java hasta PostgreSQL?”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QUÉ DECIR
“Este es el problema de la consistencia. Si al enviar una solicitud llamáramos directamente a notificaciones y justo estuviera caído, la solicitud quedaría enviada y nadie se enteraría.”
“La solución se llama patrón outbox, o bandeja de salida. Al enviar, guardamos la solicitud y un evento pendiente en la misma transacción: o se guardan las dos cosas, o ninguna. La respuesta le llega a la persona enseguida.”
“Después, un relevador revisa la bandeja cada cinco segundos y entrega los pendientes, con hasta tres intentos. Si aun así falla, el evento sigue pendiente, con el mismo número, para el siguiente ciclo.”
SI PREGUNTAN
¿Que el envío responda bien significa que el aviso ya existe?
RESPUESTA CORTA
No. Significa que la solicitud y el evento quedaron guardados; el aviso llega después.
PARA PASAR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“Dos palabras que se escuchan mucho. Docker resuelve el clásico “en mi máquina funciona”: empaqueta la aplicación con Java y todo lo que necesita en una imagen, un paquete que no cambia. Cuando esa imagen corre, se llama contenedor, y corre igual en una laptop o en un servidor.”
“Kubernetes es el siguiente nivel: no empaqueta, administra. Decide dónde corre cada contenedor, lo vigila, y si uno se cae, levanta otro. Piénsenlo como un puerto de carga: Docker es el contenedor estándar y Kubernetes es el puerto que los acomoda y reemplaza el que se daña.”
“En una sola computadora usamos Docker Compose; en un clúster, Kubernetes. La misma imagen sirve en los dos.”
SI PREGUNTAN
¿Docker es una máquina virtual?
RESPUESTA CORTA
No. Es más liviano: comparte el sistema operativo y solo aísla la aplicación y lo que necesita.
PARA PASAR
“Veamos el sistema completo levantado con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Contenedores y Kubernetes
QUÉ DECIR
“Kubernetes funciona como un termostato: no le decimos qué hacer paso a paso, le decimos el estado que queremos, por ejemplo una copia de cada servicio, y él lo mantiene.”
“Si el Pod de solicitudes se cae, el Deployment detecta que falta una copia y crea otro con la misma imagen. El Pod nuevo espera a que su base y notificaciones respondan, y solo cuando su prueba de salud contesta, el Service le vuelve a mandar tráfico.”
“Y como los eventos pendientes están en la base, no en memoria, nada se pierde mientras tanto. Nadie tuvo que despertarse a las tres de la mañana.”
QUÉ HACER (no se dice)
• Mostrar: kubectl delete pod -l app=servicio-solicitudes y luego kubectl get pods -w. Debe verse: Aparece un Pod nuevo que vuelve a estar Ready.
SI PREGUNTAN
¿Y si se cae la base?
RESPUESTA CORTA
Su Pod también se recrea y los datos siguen en el disco persistente; los servicios esperan a que vuelva.
PARA PASAR
“Esto es lo que aprendimos de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CI/CD
QUÉ DECIR
“Con GitHub Actions, cada vez que alguien sube un cambio o abre un Pull Request, se dispara el pipeline. Por cada servicio prepara Java y una base PostgreSQL, compila y corre todas las pruebas.”
“Luego hace algo que muchos pipelines no hacen: arranca el servicio de verdad y espera a ver los datos iniciales. Así detectamos errores de configuración que las pruebas unitarias no ven.”
“Si todo pasa, construye la imagen y la publica etiquetada con el código del commit. Cada imagen se puede rastrear hasta el cambio exacto que la produjo.”
SI PREGUNTAN
¿Publicar la imagen la despliega en Kubernetes?
RESPUESTA CORTA
No. Hoy desplegar es un paso aparte; es el siguiente paso natural.
PARA PASAR
“El pipeline funciona porque todo entra por el mismo camino.”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QUÉ DECIR
“Con dos servicios, cada uno tiene sus propios logs. Si algo falla, no queremos entrar contenedor por contenedor a buscar.”
“Cada servicio escribe sus logs en JSON, con un formato estándar. Promtail los recoge de todos los contenedores, Loki los guarda etiquetados por servicio y Grafana nos deja buscarlos en un solo lugar.”
“Las llamadas entre servicios llevan el traceId, así que con una sola búsqueda vemos el viaje de un evento: cuándo lo publicó el relevador y cuándo lo consumió notificaciones.”
QUÉ HACER (no se dice)
• Mostrar: Grafana › Explore › Loki: {service="servicio-notificaciones"} |= "evento". Debe verse: Las líneas “Consume evento” y “aviso creado” con el número del evento.
PARA PASAR
“Los logs cuentan qué pasó. La salud dice cómo estamos ahora.”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Documentación
QUÉ DECIR
“Un contrato de API es como el menú de un restaurante: dice qué se puede pedir, qué lleva cada pedido y qué te van a devolver.”
“Cada servicio publica su contrato con el estándar OpenAPI, usando springdoc, y Swagger lo muestra como una página donde se puede ver cada endpoint, sus códigos de respuesta y probarlo en vivo.”
“Lo importante para el staff: se genera desde el código. Cuando agregamos un endpoint, aparece solo, y nunca queda desactualizado. Un equipo que consume la API no tiene que pedirnos un documento.”
QUÉ HACER (no se dice)
• Mostrar: En la UI, pestaña Salud › Swagger · solicitudes, y ejecutar GET /solicitudes. Debe verse: La lista en JSON con código 200.
PARA PASAR
“Y lo que no sale del código, lo documentamos junto al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 La UI como laboratorio
QUÉ DECIR
“Detenemos notificaciones a propósito. En la pestaña Salud aparece en DOWN.”
“Ahora enviamos una solicitud. La respuesta es buena: la solicitud queda enviada y su evento queda guardado. La persona no ve ningún error, porque no depende de que el otro servicio esté arriba.”
“En Enviadas vemos el evento en camino. El relevador lo intenta cada cinco segundos y falla, pero no lo pierde. Cuando levantamos notificaciones, en el siguiente ciclo lo entrega con el mismo número, y aparece exactamente un aviso.”
QUÉ HACER (no se dice)
• Antes: docker compose stop servicio-notificaciones. Mostrar Salud en DOWN.
• Crear y enviar DEMO-01; mostrar en Enviadas “1 evento en camino”.
• docker compose start servicio-notificaciones y esperar unos segundos: el evento pasa a entregado y aparece 1 aviso.
• Mostrar: Detener notificaciones, enviar DEMO-01, mirar Enviadas y volver a iniciar notificaciones. Debe verse: Evento en camino mientras está caído; al volver, entregado y 1 aviso.
SI PREGUNTAN
¿Cuánto tiempo puede esperar un evento pendiente?
RESPUESTA CORTA
Indefinidamente: está en la base. Se entrega en el primer ciclo después de que notificaciones vuelve.
PARA PASAR
“Ese es el caso más importante, pero no el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“Si tuviéramos que resumir el valor en una lámina, sería esta. Construimos resiliencia: ante una caída parcial no se pierde ni se duplica un aviso. Reproducibilidad: un comando y la misma imagen en cualquier ambiente.”
“Calidad: sesenta y siete pruebas en cada Pull Request. Trazabilidad: logs centralizados con traceId e imágenes rastreables a su commit. Y contratos claros con un diseño que permite cambiar tecnología sin tocar el negocio.”
“Nada de esto es exclusivo de ARKA-Lite: son prácticas que cualquier equipo puede adoptar desde mañana.”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“Tres ideas. Diseñar para la falla: en un sistema distribuido, algo siempre va a fallar, y la diferencia está en cómo reacciona.”
“Automatizar la confianza: pruebas, pipeline e infraestructura declarada nos permiten cambiar rápido sin miedo.”
“Y hacer visible el sistema: lo que no se ve no se puede diagnosticar ni explicar.”
PARA PASAR
“También queremos ser honestos con lo que le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“ARKA-Lite es un laboratorio y lo decimos con claridad. El texto de los avisos vive en memoria, no hay inicio de sesión, las métricas no se guardan en el tiempo y el pipeline publica las imágenes, pero no las despliega solo.”
“Esos son los siguientes pasos naturales, y la arquitectura ya está preparada para ellos: por ejemplo, guardar los avisos es cambiar un adaptador, sin tocar el negocio.”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QUÉ DECIR
“Empezamos con un endpoint y terminamos con un sistema de dos microservicios, con su base de datos, empaquetado, desplegado, observado y documentado, que sabe comportarse cuando algo falla.”
“Muchas gracias por acompañarnos.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589520" y="-1737360"/>
            <a:ext cx="6583680" cy="6583680"/>
          </a:xfrm>
          <a:prstGeom prst="ellipse">
            <a:avLst/>
          </a:prstGeom>
          <a:solidFill>
            <a:srgbClr val="0B2350"/>
          </a:solidFill>
          <a:ln w="12700">
            <a:solidFill>
              <a:srgbClr val="0B2350"/>
            </a:solidFill>
            <a:prstDash val="solid"/>
          </a:ln>
        </p:spPr>
      </p:sp>
      <p:sp>
        <p:nvSpPr>
          <p:cNvPr id="3" name="Shape 1"/>
          <p:cNvSpPr/>
          <p:nvPr/>
        </p:nvSpPr>
        <p:spPr>
          <a:xfrm>
            <a:off x="9966960" y="4206240"/>
            <a:ext cx="3108960" cy="3108960"/>
          </a:xfrm>
          <a:prstGeom prst="ellipse">
            <a:avLst/>
          </a:prstGeom>
          <a:solidFill>
            <a:srgbClr val="113B66"/>
          </a:solidFill>
          <a:ln w="12700">
            <a:solidFill>
              <a:srgbClr val="0B2350"/>
            </a:solidFill>
            <a:prstDash val="solid"/>
          </a:ln>
        </p:spPr>
      </p:sp>
      <p:sp>
        <p:nvSpPr>
          <p:cNvPr id="4" name="Shape 2"/>
          <p:cNvSpPr/>
          <p:nvPr/>
        </p:nvSpPr>
        <p:spPr>
          <a:xfrm>
            <a:off x="0" y="0"/>
            <a:ext cx="109728" cy="6858000"/>
          </a:xfrm>
          <a:prstGeom prst="rect">
            <a:avLst/>
          </a:prstGeom>
          <a:solidFill>
            <a:srgbClr val="2BA6CB"/>
          </a:solidFill>
          <a:ln w="12700">
            <a:solidFill>
              <a:srgbClr val="2BA6CB"/>
            </a:solidFill>
            <a:prstDash val="soli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1828800"/>
            <a:ext cx="64008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9" name="Text 7"/>
          <p:cNvSpPr/>
          <p:nvPr/>
        </p:nvSpPr>
        <p:spPr>
          <a:xfrm>
            <a:off x="758952" y="2176272"/>
            <a:ext cx="658368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10" name="Text 8"/>
          <p:cNvSpPr/>
          <p:nvPr/>
        </p:nvSpPr>
        <p:spPr>
          <a:xfrm>
            <a:off x="758952" y="4114800"/>
            <a:ext cx="6217920" cy="822960"/>
          </a:xfrm>
          <a:prstGeom prst="rect">
            <a:avLst/>
          </a:prstGeom>
          <a:noFill/>
          <a:ln/>
        </p:spPr>
        <p:txBody>
          <a:bodyPr wrap="square" lIns="0" tIns="0" rIns="0" bIns="0" rtlCol="0" anchor="t"/>
          <a:lstStyle/>
          <a:p>
            <a:pPr indent="0" marL="0">
              <a:buNone/>
            </a:pPr>
            <a:r>
              <a:rPr lang="en-US" sz="1800" dirty="0">
                <a:solidFill>
                  <a:srgbClr val="9FBEE0"/>
                </a:solidFill>
                <a:latin typeface="Segoe UI" pitchFamily="34" charset="0"/>
                <a:ea typeface="Segoe UI" pitchFamily="34" charset="-122"/>
                <a:cs typeface="Segoe UI" pitchFamily="34" charset="-120"/>
              </a:rPr>
              <a:t>Lo que aprendimos construyendo dos microservicios Java, de punta a punta.</a:t>
            </a:r>
            <a:endParaRPr lang="en-US" sz="1800" dirty="0"/>
          </a:p>
        </p:txBody>
      </p:sp>
      <p:sp>
        <p:nvSpPr>
          <p:cNvPr id="11" name="Text 9"/>
          <p:cNvSpPr/>
          <p:nvPr/>
        </p:nvSpPr>
        <p:spPr>
          <a:xfrm>
            <a:off x="758952" y="5212080"/>
            <a:ext cx="4791456" cy="384048"/>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100" b="1" spc="150" kern="0" dirty="0">
                <a:solidFill>
                  <a:srgbClr val="2BA6CB"/>
                </a:solidFill>
                <a:latin typeface="Segoe UI" pitchFamily="34" charset="0"/>
                <a:ea typeface="Segoe UI" pitchFamily="34" charset="-122"/>
                <a:cs typeface="Segoe UI" pitchFamily="34" charset="-120"/>
              </a:rPr>
              <a:t>VERSIÓN RESUMEN · STAFF DE TECNOLOGÍA</a:t>
            </a:r>
            <a:endParaRPr lang="en-US" sz="1100" dirty="0"/>
          </a:p>
        </p:txBody>
      </p:sp>
      <p:sp>
        <p:nvSpPr>
          <p:cNvPr id="12" name="Text 10"/>
          <p:cNvSpPr/>
          <p:nvPr/>
        </p:nvSpPr>
        <p:spPr>
          <a:xfrm>
            <a:off x="758952" y="5897880"/>
            <a:ext cx="9144000" cy="274320"/>
          </a:xfrm>
          <a:prstGeom prst="rect">
            <a:avLst/>
          </a:prstGeom>
          <a:noFill/>
          <a:ln/>
        </p:spPr>
        <p:txBody>
          <a:bodyPr wrap="square" lIns="0" tIns="0" rIns="0" bIns="0" rtlCol="0" anchor="ctr"/>
          <a:lstStyle/>
          <a:p>
            <a:pPr indent="0" marL="0">
              <a:buNone/>
            </a:pPr>
            <a:r>
              <a:rPr lang="en-US" sz="1150" dirty="0">
                <a:solidFill>
                  <a:srgbClr val="9FBEE0"/>
                </a:solidFill>
                <a:latin typeface="Segoe UI" pitchFamily="34" charset="0"/>
                <a:ea typeface="Segoe UI" pitchFamily="34" charset="-122"/>
                <a:cs typeface="Segoe UI" pitchFamily="34" charset="-120"/>
              </a:rPr>
              <a:t>Equipo arka-litos · Recorrido resumen</a:t>
            </a:r>
            <a:endParaRPr lang="en-US" sz="1150" dirty="0"/>
          </a:p>
        </p:txBody>
      </p:sp>
      <p:sp>
        <p:nvSpPr>
          <p:cNvPr id="13" name="Shape 11"/>
          <p:cNvSpPr/>
          <p:nvPr/>
        </p:nvSpPr>
        <p:spPr>
          <a:xfrm>
            <a:off x="9710928" y="2112264"/>
            <a:ext cx="0" cy="530352"/>
          </a:xfrm>
          <a:prstGeom prst="line">
            <a:avLst/>
          </a:prstGeom>
          <a:noFill/>
          <a:ln w="22225">
            <a:solidFill>
              <a:srgbClr val="5D7598"/>
            </a:solidFill>
            <a:prstDash val="solid"/>
          </a:ln>
        </p:spPr>
      </p:sp>
      <p:sp>
        <p:nvSpPr>
          <p:cNvPr id="14" name="Shape 12"/>
          <p:cNvSpPr/>
          <p:nvPr/>
        </p:nvSpPr>
        <p:spPr>
          <a:xfrm>
            <a:off x="8851392" y="2642616"/>
            <a:ext cx="1737360" cy="0"/>
          </a:xfrm>
          <a:prstGeom prst="line">
            <a:avLst/>
          </a:prstGeom>
          <a:noFill/>
          <a:ln w="22225">
            <a:solidFill>
              <a:srgbClr val="5D7598"/>
            </a:solidFill>
            <a:prstDash val="solid"/>
          </a:ln>
        </p:spPr>
      </p:sp>
      <p:sp>
        <p:nvSpPr>
          <p:cNvPr id="15" name="Shape 13"/>
          <p:cNvSpPr/>
          <p:nvPr/>
        </p:nvSpPr>
        <p:spPr>
          <a:xfrm>
            <a:off x="8851392" y="2642616"/>
            <a:ext cx="0" cy="347472"/>
          </a:xfrm>
          <a:prstGeom prst="line">
            <a:avLst/>
          </a:prstGeom>
          <a:noFill/>
          <a:ln w="22225">
            <a:solidFill>
              <a:srgbClr val="5D7598"/>
            </a:solidFill>
            <a:prstDash val="solid"/>
          </a:ln>
        </p:spPr>
      </p:sp>
      <p:sp>
        <p:nvSpPr>
          <p:cNvPr id="16" name="Shape 14"/>
          <p:cNvSpPr/>
          <p:nvPr/>
        </p:nvSpPr>
        <p:spPr>
          <a:xfrm>
            <a:off x="10588752" y="2642616"/>
            <a:ext cx="0" cy="347472"/>
          </a:xfrm>
          <a:prstGeom prst="line">
            <a:avLst/>
          </a:prstGeom>
          <a:noFill/>
          <a:ln w="22225">
            <a:solidFill>
              <a:srgbClr val="5D7598"/>
            </a:solidFill>
            <a:prstDash val="solid"/>
          </a:ln>
        </p:spPr>
      </p:sp>
      <p:sp>
        <p:nvSpPr>
          <p:cNvPr id="17" name="Shape 15"/>
          <p:cNvSpPr/>
          <p:nvPr/>
        </p:nvSpPr>
        <p:spPr>
          <a:xfrm>
            <a:off x="8851392" y="3675888"/>
            <a:ext cx="0" cy="566928"/>
          </a:xfrm>
          <a:prstGeom prst="line">
            <a:avLst/>
          </a:prstGeom>
          <a:noFill/>
          <a:ln w="22225">
            <a:solidFill>
              <a:srgbClr val="5D7598"/>
            </a:solidFill>
            <a:prstDash val="solid"/>
          </a:ln>
        </p:spPr>
      </p:sp>
      <p:sp>
        <p:nvSpPr>
          <p:cNvPr id="18" name="Shape 16"/>
          <p:cNvSpPr/>
          <p:nvPr/>
        </p:nvSpPr>
        <p:spPr>
          <a:xfrm>
            <a:off x="10588752" y="3675888"/>
            <a:ext cx="0" cy="566928"/>
          </a:xfrm>
          <a:prstGeom prst="line">
            <a:avLst/>
          </a:prstGeom>
          <a:noFill/>
          <a:ln w="22225">
            <a:solidFill>
              <a:srgbClr val="5D7598"/>
            </a:solidFill>
            <a:prstDash val="solid"/>
          </a:ln>
        </p:spPr>
      </p:sp>
      <p:sp>
        <p:nvSpPr>
          <p:cNvPr id="19" name="Shape 17"/>
          <p:cNvSpPr/>
          <p:nvPr/>
        </p:nvSpPr>
        <p:spPr>
          <a:xfrm>
            <a:off x="8951976" y="1426464"/>
            <a:ext cx="1527048" cy="685800"/>
          </a:xfrm>
          <a:prstGeom prst="roundRect">
            <a:avLst>
              <a:gd name="adj" fmla="val 18667"/>
            </a:avLst>
          </a:prstGeom>
          <a:solidFill>
            <a:srgbClr val="2BA6CB"/>
          </a:solidFill>
          <a:ln w="12700">
            <a:solidFill>
              <a:srgbClr val="2BA6CB"/>
            </a:solidFill>
            <a:prstDash val="solid"/>
          </a:ln>
          <a:effectLst>
            <a:outerShdw sx="100000" sy="100000" kx="0" ky="0" algn="bl" rotWithShape="0" blurRad="127000" dist="38100" dir="5400000">
              <a:srgbClr val="000000">
                <a:alpha val="30000"/>
              </a:srgbClr>
            </a:outerShdw>
          </a:effectLst>
        </p:spPr>
      </p:sp>
      <p:sp>
        <p:nvSpPr>
          <p:cNvPr id="20" name="Icono monitor"/>
          <p:cNvSpPr/>
          <p:nvPr/>
        </p:nvSpPr>
        <p:spPr>
          <a:xfrm>
            <a:off x="9079992" y="1645920"/>
            <a:ext cx="246888" cy="246888"/>
          </a:xfrm>
          <a:custGeom>
            <a:avLst/>
            <a:gdLst/>
            <a:ahLst/>
            <a:cxnLst/>
            <a:rect l="l" t="t" r="r" b="b"/>
            <a:pathLst>
              <a:path w="246888" h="246888">
                <a:moveTo>
                  <a:pt x="41148" y="30861"/>
                </a:moveTo>
                <a:lnTo>
                  <a:pt x="205740" y="30861"/>
                </a:lnTo>
                <a:cubicBezTo>
                  <a:pt x="217103" y="30861"/>
                  <a:pt x="226314" y="40072"/>
                  <a:pt x="226314" y="51435"/>
                </a:cubicBezTo>
                <a:lnTo>
                  <a:pt x="226314" y="154305"/>
                </a:lnTo>
                <a:cubicBezTo>
                  <a:pt x="226314" y="165668"/>
                  <a:pt x="217103" y="174879"/>
                  <a:pt x="205740" y="174879"/>
                </a:cubicBezTo>
                <a:lnTo>
                  <a:pt x="41148" y="174879"/>
                </a:lnTo>
                <a:cubicBezTo>
                  <a:pt x="29785" y="174879"/>
                  <a:pt x="20574" y="165668"/>
                  <a:pt x="20574" y="154305"/>
                </a:cubicBezTo>
                <a:lnTo>
                  <a:pt x="20574" y="51435"/>
                </a:lnTo>
                <a:cubicBezTo>
                  <a:pt x="20574" y="40072"/>
                  <a:pt x="29785" y="30861"/>
                  <a:pt x="41148" y="30861"/>
                </a:cubicBezTo>
                <a:close/>
                <a:moveTo>
                  <a:pt x="82296" y="216027"/>
                </a:moveTo>
                <a:lnTo>
                  <a:pt x="164592" y="216027"/>
                </a:lnTo>
                <a:moveTo>
                  <a:pt x="123444" y="174879"/>
                </a:moveTo>
                <a:lnTo>
                  <a:pt x="123444" y="216027"/>
                </a:lnTo>
              </a:path>
            </a:pathLst>
          </a:custGeom>
          <a:noFill/>
          <a:ln w="20574" cap="rnd">
            <a:solidFill>
              <a:srgbClr val="0B1F3A"/>
            </a:solidFill>
            <a:prstDash val="solid"/>
            <a:round/>
          </a:ln>
        </p:spPr>
      </p:sp>
      <p:sp>
        <p:nvSpPr>
          <p:cNvPr id="21" name="Text 19"/>
          <p:cNvSpPr/>
          <p:nvPr/>
        </p:nvSpPr>
        <p:spPr>
          <a:xfrm>
            <a:off x="9372600" y="1426464"/>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UI</a:t>
            </a:r>
            <a:endParaRPr lang="en-US" sz="1200" dirty="0"/>
          </a:p>
        </p:txBody>
      </p:sp>
      <p:sp>
        <p:nvSpPr>
          <p:cNvPr id="22" name="Shape 20"/>
          <p:cNvSpPr/>
          <p:nvPr/>
        </p:nvSpPr>
        <p:spPr>
          <a:xfrm>
            <a:off x="809244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23" name="Icono clipboard-list"/>
          <p:cNvSpPr/>
          <p:nvPr/>
        </p:nvSpPr>
        <p:spPr>
          <a:xfrm>
            <a:off x="8220456" y="3209544"/>
            <a:ext cx="246888" cy="246888"/>
          </a:xfrm>
          <a:custGeom>
            <a:avLst/>
            <a:gdLst/>
            <a:ahLst/>
            <a:cxnLst/>
            <a:rect l="l" t="t" r="r" b="b"/>
            <a:pathLst>
              <a:path w="246888" h="246888">
                <a:moveTo>
                  <a:pt x="92583" y="20574"/>
                </a:moveTo>
                <a:lnTo>
                  <a:pt x="154305" y="20574"/>
                </a:lnTo>
                <a:cubicBezTo>
                  <a:pt x="159986" y="20574"/>
                  <a:pt x="164592" y="25180"/>
                  <a:pt x="164592" y="30861"/>
                </a:cubicBezTo>
                <a:lnTo>
                  <a:pt x="164592" y="51435"/>
                </a:lnTo>
                <a:cubicBezTo>
                  <a:pt x="164592" y="57116"/>
                  <a:pt x="159986" y="61722"/>
                  <a:pt x="154305" y="61722"/>
                </a:cubicBezTo>
                <a:lnTo>
                  <a:pt x="92583" y="61722"/>
                </a:lnTo>
                <a:cubicBezTo>
                  <a:pt x="86902" y="61722"/>
                  <a:pt x="82296" y="57116"/>
                  <a:pt x="82296" y="51435"/>
                </a:cubicBezTo>
                <a:lnTo>
                  <a:pt x="82296" y="30861"/>
                </a:lnTo>
                <a:cubicBezTo>
                  <a:pt x="82296" y="25180"/>
                  <a:pt x="86902" y="20574"/>
                  <a:pt x="92583" y="20574"/>
                </a:cubicBezTo>
                <a:close/>
                <a:moveTo>
                  <a:pt x="164592" y="41148"/>
                </a:moveTo>
                <a:lnTo>
                  <a:pt x="185166" y="41148"/>
                </a:lnTo>
                <a:cubicBezTo>
                  <a:pt x="196529" y="41148"/>
                  <a:pt x="205740" y="50359"/>
                  <a:pt x="205740" y="61722"/>
                </a:cubicBezTo>
                <a:lnTo>
                  <a:pt x="205740" y="205740"/>
                </a:lnTo>
                <a:cubicBezTo>
                  <a:pt x="205740" y="217103"/>
                  <a:pt x="196529" y="226314"/>
                  <a:pt x="185166" y="226314"/>
                </a:cubicBezTo>
                <a:lnTo>
                  <a:pt x="61722" y="226314"/>
                </a:lnTo>
                <a:cubicBezTo>
                  <a:pt x="50359" y="226314"/>
                  <a:pt x="41148" y="217103"/>
                  <a:pt x="41148" y="205740"/>
                </a:cubicBezTo>
                <a:lnTo>
                  <a:pt x="41148" y="61722"/>
                </a:lnTo>
                <a:cubicBezTo>
                  <a:pt x="41148" y="50359"/>
                  <a:pt x="50359" y="41148"/>
                  <a:pt x="61722" y="41148"/>
                </a:cubicBezTo>
                <a:lnTo>
                  <a:pt x="82296" y="41148"/>
                </a:lnTo>
                <a:moveTo>
                  <a:pt x="123444" y="113157"/>
                </a:moveTo>
                <a:lnTo>
                  <a:pt x="164592" y="113157"/>
                </a:lnTo>
                <a:moveTo>
                  <a:pt x="123444" y="164592"/>
                </a:moveTo>
                <a:lnTo>
                  <a:pt x="164592" y="164592"/>
                </a:lnTo>
                <a:moveTo>
                  <a:pt x="82296" y="113157"/>
                </a:moveTo>
                <a:lnTo>
                  <a:pt x="82399" y="113157"/>
                </a:lnTo>
                <a:moveTo>
                  <a:pt x="82296" y="164592"/>
                </a:moveTo>
                <a:lnTo>
                  <a:pt x="82399" y="164592"/>
                </a:lnTo>
              </a:path>
            </a:pathLst>
          </a:custGeom>
          <a:noFill/>
          <a:ln w="20574" cap="rnd">
            <a:solidFill>
              <a:srgbClr val="0B1F3A"/>
            </a:solidFill>
            <a:prstDash val="solid"/>
            <a:round/>
          </a:ln>
        </p:spPr>
      </p:sp>
      <p:sp>
        <p:nvSpPr>
          <p:cNvPr id="24" name="Text 22"/>
          <p:cNvSpPr/>
          <p:nvPr/>
        </p:nvSpPr>
        <p:spPr>
          <a:xfrm>
            <a:off x="851306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Solicitudes</a:t>
            </a:r>
            <a:endParaRPr lang="en-US" sz="1200" dirty="0"/>
          </a:p>
        </p:txBody>
      </p:sp>
      <p:sp>
        <p:nvSpPr>
          <p:cNvPr id="25" name="Shape 23"/>
          <p:cNvSpPr/>
          <p:nvPr/>
        </p:nvSpPr>
        <p:spPr>
          <a:xfrm>
            <a:off x="9829800" y="2990088"/>
            <a:ext cx="1527048" cy="685800"/>
          </a:xfrm>
          <a:prstGeom prst="roundRect">
            <a:avLst>
              <a:gd name="adj" fmla="val 18667"/>
            </a:avLst>
          </a:prstGeom>
          <a:solidFill>
            <a:srgbClr val="FFFFFF"/>
          </a:solidFill>
          <a:ln w="12700">
            <a:solidFill>
              <a:srgbClr val="FFFFFF"/>
            </a:solidFill>
            <a:prstDash val="solid"/>
          </a:ln>
          <a:effectLst>
            <a:outerShdw sx="100000" sy="100000" kx="0" ky="0" algn="bl" rotWithShape="0" blurRad="127000" dist="38100" dir="5400000">
              <a:srgbClr val="000000">
                <a:alpha val="30000"/>
              </a:srgbClr>
            </a:outerShdw>
          </a:effectLst>
        </p:spPr>
      </p:sp>
      <p:sp>
        <p:nvSpPr>
          <p:cNvPr id="26" name="Icono bell"/>
          <p:cNvSpPr/>
          <p:nvPr/>
        </p:nvSpPr>
        <p:spPr>
          <a:xfrm>
            <a:off x="9957816" y="3209544"/>
            <a:ext cx="246888" cy="246888"/>
          </a:xfrm>
          <a:custGeom>
            <a:avLst/>
            <a:gdLst/>
            <a:ahLst/>
            <a:cxnLst/>
            <a:rect l="l" t="t" r="r" b="b"/>
            <a:pathLst>
              <a:path w="246888" h="246888">
                <a:moveTo>
                  <a:pt x="105627" y="216027"/>
                </a:moveTo>
                <a:cubicBezTo>
                  <a:pt x="109302" y="222392"/>
                  <a:pt x="116094" y="226313"/>
                  <a:pt x="123444" y="226313"/>
                </a:cubicBezTo>
                <a:cubicBezTo>
                  <a:pt x="130794" y="226313"/>
                  <a:pt x="137586" y="222392"/>
                  <a:pt x="141261" y="216027"/>
                </a:cubicBezTo>
                <a:moveTo>
                  <a:pt x="33556" y="157659"/>
                </a:moveTo>
                <a:cubicBezTo>
                  <a:pt x="30810" y="160668"/>
                  <a:pt x="30099" y="165014"/>
                  <a:pt x="31743" y="168742"/>
                </a:cubicBezTo>
                <a:cubicBezTo>
                  <a:pt x="33386" y="172469"/>
                  <a:pt x="37074" y="174876"/>
                  <a:pt x="41148" y="174879"/>
                </a:cubicBezTo>
                <a:lnTo>
                  <a:pt x="205740" y="174879"/>
                </a:lnTo>
                <a:cubicBezTo>
                  <a:pt x="209813" y="174880"/>
                  <a:pt x="213504" y="172478"/>
                  <a:pt x="215151" y="168753"/>
                </a:cubicBezTo>
                <a:cubicBezTo>
                  <a:pt x="216799" y="165028"/>
                  <a:pt x="216094" y="160682"/>
                  <a:pt x="213352" y="157669"/>
                </a:cubicBezTo>
                <a:cubicBezTo>
                  <a:pt x="199671" y="143565"/>
                  <a:pt x="185166" y="128577"/>
                  <a:pt x="185166" y="82296"/>
                </a:cubicBezTo>
                <a:cubicBezTo>
                  <a:pt x="185166" y="48208"/>
                  <a:pt x="157532" y="20574"/>
                  <a:pt x="123444" y="20574"/>
                </a:cubicBezTo>
                <a:cubicBezTo>
                  <a:pt x="89356" y="20574"/>
                  <a:pt x="61722" y="48208"/>
                  <a:pt x="61722" y="82296"/>
                </a:cubicBezTo>
                <a:cubicBezTo>
                  <a:pt x="61722" y="128577"/>
                  <a:pt x="47207" y="143565"/>
                  <a:pt x="33556" y="157659"/>
                </a:cubicBezTo>
              </a:path>
            </a:pathLst>
          </a:custGeom>
          <a:noFill/>
          <a:ln w="20574" cap="rnd">
            <a:solidFill>
              <a:srgbClr val="0B1F3A"/>
            </a:solidFill>
            <a:prstDash val="solid"/>
            <a:round/>
          </a:ln>
        </p:spPr>
      </p:sp>
      <p:sp>
        <p:nvSpPr>
          <p:cNvPr id="27" name="Text 25"/>
          <p:cNvSpPr/>
          <p:nvPr/>
        </p:nvSpPr>
        <p:spPr>
          <a:xfrm>
            <a:off x="10250424" y="2990088"/>
            <a:ext cx="1078992" cy="685800"/>
          </a:xfrm>
          <a:prstGeom prst="rect">
            <a:avLst/>
          </a:prstGeom>
          <a:noFill/>
          <a:ln/>
        </p:spPr>
        <p:txBody>
          <a:bodyPr wrap="square" lIns="0" tIns="0" rIns="0" bIns="0" rtlCol="0" anchor="ctr">
            <a:normAutofit/>
          </a:bodyPr>
          <a:lstStyle/>
          <a:p>
            <a:pPr indent="0" marL="0">
              <a:buNone/>
            </a:pPr>
            <a:r>
              <a:rPr lang="en-US" sz="1200" b="1" dirty="0">
                <a:solidFill>
                  <a:srgbClr val="0B1F3A"/>
                </a:solidFill>
                <a:latin typeface="Segoe UI Semibold" pitchFamily="34" charset="0"/>
                <a:ea typeface="Segoe UI Semibold" pitchFamily="34" charset="-122"/>
                <a:cs typeface="Segoe UI Semibold" pitchFamily="34" charset="-120"/>
              </a:rPr>
              <a:t>Notificaciones</a:t>
            </a:r>
            <a:endParaRPr lang="en-US" sz="1200" dirty="0"/>
          </a:p>
        </p:txBody>
      </p:sp>
      <p:sp>
        <p:nvSpPr>
          <p:cNvPr id="28" name="Shape 26"/>
          <p:cNvSpPr/>
          <p:nvPr/>
        </p:nvSpPr>
        <p:spPr>
          <a:xfrm>
            <a:off x="8284464" y="4242816"/>
            <a:ext cx="1143000" cy="566928"/>
          </a:xfrm>
          <a:prstGeom prst="roundRect">
            <a:avLst>
              <a:gd name="adj" fmla="val 48387"/>
            </a:avLst>
          </a:prstGeom>
          <a:solidFill>
            <a:srgbClr val="0B1F3A"/>
          </a:solidFill>
          <a:ln w="19050">
            <a:solidFill>
              <a:srgbClr val="9FB4D2"/>
            </a:solidFill>
            <a:prstDash val="solid"/>
          </a:ln>
        </p:spPr>
      </p:sp>
      <p:sp>
        <p:nvSpPr>
          <p:cNvPr id="29" name="Icono database"/>
          <p:cNvSpPr/>
          <p:nvPr/>
        </p:nvSpPr>
        <p:spPr>
          <a:xfrm>
            <a:off x="841248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0" name="Text 28"/>
          <p:cNvSpPr/>
          <p:nvPr/>
        </p:nvSpPr>
        <p:spPr>
          <a:xfrm>
            <a:off x="868680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
        <p:nvSpPr>
          <p:cNvPr id="31" name="Shape 29"/>
          <p:cNvSpPr/>
          <p:nvPr/>
        </p:nvSpPr>
        <p:spPr>
          <a:xfrm>
            <a:off x="10021824" y="4242816"/>
            <a:ext cx="1143000" cy="566928"/>
          </a:xfrm>
          <a:prstGeom prst="roundRect">
            <a:avLst>
              <a:gd name="adj" fmla="val 48387"/>
            </a:avLst>
          </a:prstGeom>
          <a:solidFill>
            <a:srgbClr val="0B1F3A"/>
          </a:solidFill>
          <a:ln w="19050">
            <a:solidFill>
              <a:srgbClr val="9FB4D2"/>
            </a:solidFill>
            <a:prstDash val="solid"/>
          </a:ln>
        </p:spPr>
      </p:sp>
      <p:sp>
        <p:nvSpPr>
          <p:cNvPr id="32" name="Icono database"/>
          <p:cNvSpPr/>
          <p:nvPr/>
        </p:nvSpPr>
        <p:spPr>
          <a:xfrm>
            <a:off x="10149840" y="438912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9FB4D2"/>
            </a:solidFill>
            <a:prstDash val="solid"/>
            <a:round/>
          </a:ln>
        </p:spPr>
      </p:sp>
      <p:sp>
        <p:nvSpPr>
          <p:cNvPr id="33" name="Text 31"/>
          <p:cNvSpPr/>
          <p:nvPr/>
        </p:nvSpPr>
        <p:spPr>
          <a:xfrm>
            <a:off x="10424160" y="4242816"/>
            <a:ext cx="713232" cy="566928"/>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Segoe UI" pitchFamily="34" charset="0"/>
                <a:ea typeface="Segoe UI" pitchFamily="34" charset="-122"/>
                <a:cs typeface="Segoe UI" pitchFamily="34" charset="-120"/>
              </a:rPr>
              <a:t>PostgreSQL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ARKA-Lite en números</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Registra solicitudes y avisa cuando se envían: un sistema pequeño, completo de punta a punta.</a:t>
            </a:r>
            <a:endParaRPr lang="en-US" sz="1700" dirty="0"/>
          </a:p>
        </p:txBody>
      </p:sp>
      <p:sp>
        <p:nvSpPr>
          <p:cNvPr id="6" name="Shape 4"/>
          <p:cNvSpPr/>
          <p:nvPr/>
        </p:nvSpPr>
        <p:spPr>
          <a:xfrm>
            <a:off x="612648"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740664" y="1719072"/>
            <a:ext cx="3253130" cy="64008"/>
          </a:xfrm>
          <a:prstGeom prst="rect">
            <a:avLst/>
          </a:prstGeom>
          <a:solidFill>
            <a:srgbClr val="0B2350"/>
          </a:solidFill>
          <a:ln w="12700">
            <a:solidFill>
              <a:srgbClr val="0B2350"/>
            </a:solidFill>
            <a:prstDash val="solid"/>
          </a:ln>
        </p:spPr>
      </p:sp>
      <p:sp>
        <p:nvSpPr>
          <p:cNvPr id="8" name="Shape 6"/>
          <p:cNvSpPr/>
          <p:nvPr/>
        </p:nvSpPr>
        <p:spPr>
          <a:xfrm>
            <a:off x="3335426" y="1956816"/>
            <a:ext cx="566928" cy="566928"/>
          </a:xfrm>
          <a:prstGeom prst="ellipse">
            <a:avLst/>
          </a:prstGeom>
          <a:solidFill>
            <a:srgbClr val="E8EEF8"/>
          </a:solidFill>
          <a:ln w="12700">
            <a:solidFill>
              <a:srgbClr val="E8EEF8"/>
            </a:solidFill>
            <a:prstDash val="solid"/>
          </a:ln>
        </p:spPr>
      </p:sp>
      <p:sp>
        <p:nvSpPr>
          <p:cNvPr id="9" name="Icono server"/>
          <p:cNvSpPr/>
          <p:nvPr/>
        </p:nvSpPr>
        <p:spPr>
          <a:xfrm>
            <a:off x="3471489" y="2092879"/>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868680"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2</a:t>
            </a:r>
            <a:endParaRPr lang="en-US" sz="4600" dirty="0"/>
          </a:p>
        </p:txBody>
      </p:sp>
      <p:sp>
        <p:nvSpPr>
          <p:cNvPr id="11" name="Text 9"/>
          <p:cNvSpPr/>
          <p:nvPr/>
        </p:nvSpPr>
        <p:spPr>
          <a:xfrm>
            <a:off x="868680"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microservicios</a:t>
            </a:r>
            <a:endParaRPr lang="en-US" sz="1500" dirty="0"/>
          </a:p>
        </p:txBody>
      </p:sp>
      <p:sp>
        <p:nvSpPr>
          <p:cNvPr id="12" name="Text 10"/>
          <p:cNvSpPr/>
          <p:nvPr/>
        </p:nvSpPr>
        <p:spPr>
          <a:xfrm>
            <a:off x="868680"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Spring Boot 4 y Java 26, cada uno con su PostgreSQL.</a:t>
            </a:r>
            <a:endParaRPr lang="en-US" sz="1200" dirty="0"/>
          </a:p>
        </p:txBody>
      </p:sp>
      <p:sp>
        <p:nvSpPr>
          <p:cNvPr id="13" name="Shape 11"/>
          <p:cNvSpPr/>
          <p:nvPr/>
        </p:nvSpPr>
        <p:spPr>
          <a:xfrm>
            <a:off x="4341266"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469282" y="1719072"/>
            <a:ext cx="3253130" cy="64008"/>
          </a:xfrm>
          <a:prstGeom prst="rect">
            <a:avLst/>
          </a:prstGeom>
          <a:solidFill>
            <a:srgbClr val="5B3FC4"/>
          </a:solidFill>
          <a:ln w="12700">
            <a:solidFill>
              <a:srgbClr val="5B3FC4"/>
            </a:solidFill>
            <a:prstDash val="solid"/>
          </a:ln>
        </p:spPr>
      </p:sp>
      <p:sp>
        <p:nvSpPr>
          <p:cNvPr id="15" name="Shape 13"/>
          <p:cNvSpPr/>
          <p:nvPr/>
        </p:nvSpPr>
        <p:spPr>
          <a:xfrm>
            <a:off x="7064045" y="1956816"/>
            <a:ext cx="566928" cy="566928"/>
          </a:xfrm>
          <a:prstGeom prst="ellipse">
            <a:avLst/>
          </a:prstGeom>
          <a:solidFill>
            <a:srgbClr val="F1EEFD"/>
          </a:solidFill>
          <a:ln w="12700">
            <a:solidFill>
              <a:srgbClr val="F1EEFD"/>
            </a:solidFill>
            <a:prstDash val="solid"/>
          </a:ln>
        </p:spPr>
      </p:sp>
      <p:sp>
        <p:nvSpPr>
          <p:cNvPr id="16" name="Icono code"/>
          <p:cNvSpPr/>
          <p:nvPr/>
        </p:nvSpPr>
        <p:spPr>
          <a:xfrm>
            <a:off x="7200108" y="2092879"/>
            <a:ext cx="294803" cy="294803"/>
          </a:xfrm>
          <a:custGeom>
            <a:avLst/>
            <a:gdLst/>
            <a:ahLst/>
            <a:cxnLst/>
            <a:rect l="l" t="t" r="r" b="b"/>
            <a:pathLst>
              <a:path w="294803" h="294803">
                <a:moveTo>
                  <a:pt x="196535" y="221102"/>
                </a:moveTo>
                <a:lnTo>
                  <a:pt x="270236" y="147401"/>
                </a:lnTo>
                <a:lnTo>
                  <a:pt x="196535" y="73701"/>
                </a:lnTo>
                <a:moveTo>
                  <a:pt x="98268" y="73701"/>
                </a:moveTo>
                <a:lnTo>
                  <a:pt x="24567" y="147401"/>
                </a:lnTo>
                <a:lnTo>
                  <a:pt x="98268" y="221102"/>
                </a:lnTo>
              </a:path>
            </a:pathLst>
          </a:custGeom>
          <a:noFill/>
          <a:ln w="24567" cap="rnd">
            <a:solidFill>
              <a:srgbClr val="5B3FC4"/>
            </a:solidFill>
            <a:prstDash val="solid"/>
            <a:round/>
          </a:ln>
        </p:spPr>
      </p:sp>
      <p:sp>
        <p:nvSpPr>
          <p:cNvPr id="17" name="Text 15"/>
          <p:cNvSpPr/>
          <p:nvPr/>
        </p:nvSpPr>
        <p:spPr>
          <a:xfrm>
            <a:off x="4597298"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5B3FC4"/>
                </a:solidFill>
                <a:latin typeface="Segoe UI Semibold" pitchFamily="34" charset="0"/>
                <a:ea typeface="Segoe UI Semibold" pitchFamily="34" charset="-122"/>
                <a:cs typeface="Segoe UI Semibold" pitchFamily="34" charset="-120"/>
              </a:rPr>
              <a:t>11</a:t>
            </a:r>
            <a:endParaRPr lang="en-US" sz="4600" dirty="0"/>
          </a:p>
        </p:txBody>
      </p:sp>
      <p:sp>
        <p:nvSpPr>
          <p:cNvPr id="18" name="Text 16"/>
          <p:cNvSpPr/>
          <p:nvPr/>
        </p:nvSpPr>
        <p:spPr>
          <a:xfrm>
            <a:off x="4597298"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endpoints REST</a:t>
            </a:r>
            <a:endParaRPr lang="en-US" sz="1500" dirty="0"/>
          </a:p>
        </p:txBody>
      </p:sp>
      <p:sp>
        <p:nvSpPr>
          <p:cNvPr id="19" name="Text 17"/>
          <p:cNvSpPr/>
          <p:nvPr/>
        </p:nvSpPr>
        <p:spPr>
          <a:xfrm>
            <a:off x="4597298"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Documentados con OpenAPI y Swagger.</a:t>
            </a:r>
            <a:endParaRPr lang="en-US" sz="1200" dirty="0"/>
          </a:p>
        </p:txBody>
      </p:sp>
      <p:sp>
        <p:nvSpPr>
          <p:cNvPr id="20" name="Shape 18"/>
          <p:cNvSpPr/>
          <p:nvPr/>
        </p:nvSpPr>
        <p:spPr>
          <a:xfrm>
            <a:off x="8069885" y="1719072"/>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8197901" y="1719072"/>
            <a:ext cx="3253130" cy="64008"/>
          </a:xfrm>
          <a:prstGeom prst="rect">
            <a:avLst/>
          </a:prstGeom>
          <a:solidFill>
            <a:srgbClr val="0A6648"/>
          </a:solidFill>
          <a:ln w="12700">
            <a:solidFill>
              <a:srgbClr val="0A6648"/>
            </a:solidFill>
            <a:prstDash val="solid"/>
          </a:ln>
        </p:spPr>
      </p:sp>
      <p:sp>
        <p:nvSpPr>
          <p:cNvPr id="22" name="Shape 20"/>
          <p:cNvSpPr/>
          <p:nvPr/>
        </p:nvSpPr>
        <p:spPr>
          <a:xfrm>
            <a:off x="10792663" y="1956816"/>
            <a:ext cx="566928" cy="566928"/>
          </a:xfrm>
          <a:prstGeom prst="ellipse">
            <a:avLst/>
          </a:prstGeom>
          <a:solidFill>
            <a:srgbClr val="E1F1EA"/>
          </a:solidFill>
          <a:ln w="12700">
            <a:solidFill>
              <a:srgbClr val="E1F1EA"/>
            </a:solidFill>
            <a:prstDash val="solid"/>
          </a:ln>
        </p:spPr>
      </p:sp>
      <p:sp>
        <p:nvSpPr>
          <p:cNvPr id="23" name="Icono flask-conical"/>
          <p:cNvSpPr/>
          <p:nvPr/>
        </p:nvSpPr>
        <p:spPr>
          <a:xfrm>
            <a:off x="10928726" y="2092879"/>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A6648"/>
            </a:solidFill>
            <a:prstDash val="solid"/>
            <a:round/>
          </a:ln>
        </p:spPr>
      </p:sp>
      <p:sp>
        <p:nvSpPr>
          <p:cNvPr id="24" name="Text 22"/>
          <p:cNvSpPr/>
          <p:nvPr/>
        </p:nvSpPr>
        <p:spPr>
          <a:xfrm>
            <a:off x="8325917" y="1901952"/>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A6648"/>
                </a:solidFill>
                <a:latin typeface="Segoe UI Semibold" pitchFamily="34" charset="0"/>
                <a:ea typeface="Segoe UI Semibold" pitchFamily="34" charset="-122"/>
                <a:cs typeface="Segoe UI Semibold" pitchFamily="34" charset="-120"/>
              </a:rPr>
              <a:t>67</a:t>
            </a:r>
            <a:endParaRPr lang="en-US" sz="4600" dirty="0"/>
          </a:p>
        </p:txBody>
      </p:sp>
      <p:sp>
        <p:nvSpPr>
          <p:cNvPr id="25" name="Text 23"/>
          <p:cNvSpPr/>
          <p:nvPr/>
        </p:nvSpPr>
        <p:spPr>
          <a:xfrm>
            <a:off x="8325917" y="2602992"/>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pruebas automáticas</a:t>
            </a:r>
            <a:endParaRPr lang="en-US" sz="1500" dirty="0"/>
          </a:p>
        </p:txBody>
      </p:sp>
      <p:sp>
        <p:nvSpPr>
          <p:cNvPr id="26" name="Text 24"/>
          <p:cNvSpPr/>
          <p:nvPr/>
        </p:nvSpPr>
        <p:spPr>
          <a:xfrm>
            <a:off x="8325917" y="2987040"/>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28 en solicitudes, 10 en notificaciones, 29 en la UI.</a:t>
            </a:r>
            <a:endParaRPr lang="en-US" sz="1200" dirty="0"/>
          </a:p>
        </p:txBody>
      </p:sp>
      <p:sp>
        <p:nvSpPr>
          <p:cNvPr id="27" name="Shape 25"/>
          <p:cNvSpPr/>
          <p:nvPr/>
        </p:nvSpPr>
        <p:spPr>
          <a:xfrm>
            <a:off x="612648"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740664" y="4146804"/>
            <a:ext cx="3253130" cy="64008"/>
          </a:xfrm>
          <a:prstGeom prst="rect">
            <a:avLst/>
          </a:prstGeom>
          <a:solidFill>
            <a:srgbClr val="0B6E8A"/>
          </a:solidFill>
          <a:ln w="12700">
            <a:solidFill>
              <a:srgbClr val="0B6E8A"/>
            </a:solidFill>
            <a:prstDash val="solid"/>
          </a:ln>
        </p:spPr>
      </p:sp>
      <p:sp>
        <p:nvSpPr>
          <p:cNvPr id="29" name="Shape 27"/>
          <p:cNvSpPr/>
          <p:nvPr/>
        </p:nvSpPr>
        <p:spPr>
          <a:xfrm>
            <a:off x="3335426" y="4384548"/>
            <a:ext cx="566928" cy="566928"/>
          </a:xfrm>
          <a:prstGeom prst="ellipse">
            <a:avLst/>
          </a:prstGeom>
          <a:solidFill>
            <a:srgbClr val="E3F4FA"/>
          </a:solidFill>
          <a:ln w="12700">
            <a:solidFill>
              <a:srgbClr val="E3F4FA"/>
            </a:solidFill>
            <a:prstDash val="solid"/>
          </a:ln>
        </p:spPr>
      </p:sp>
      <p:sp>
        <p:nvSpPr>
          <p:cNvPr id="30" name="Icono container"/>
          <p:cNvSpPr/>
          <p:nvPr/>
        </p:nvSpPr>
        <p:spPr>
          <a:xfrm>
            <a:off x="3471489" y="4520611"/>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1" name="Text 29"/>
          <p:cNvSpPr/>
          <p:nvPr/>
        </p:nvSpPr>
        <p:spPr>
          <a:xfrm>
            <a:off x="868680"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6E8A"/>
                </a:solidFill>
                <a:latin typeface="Segoe UI Semibold" pitchFamily="34" charset="0"/>
                <a:ea typeface="Segoe UI Semibold" pitchFamily="34" charset="-122"/>
                <a:cs typeface="Segoe UI Semibold" pitchFamily="34" charset="-120"/>
              </a:rPr>
              <a:t>8</a:t>
            </a:r>
            <a:endParaRPr lang="en-US" sz="4600" dirty="0"/>
          </a:p>
        </p:txBody>
      </p:sp>
      <p:sp>
        <p:nvSpPr>
          <p:cNvPr id="32" name="Text 30"/>
          <p:cNvSpPr/>
          <p:nvPr/>
        </p:nvSpPr>
        <p:spPr>
          <a:xfrm>
            <a:off x="868680"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contenedores</a:t>
            </a:r>
            <a:endParaRPr lang="en-US" sz="1500" dirty="0"/>
          </a:p>
        </p:txBody>
      </p:sp>
      <p:sp>
        <p:nvSpPr>
          <p:cNvPr id="33" name="Text 31"/>
          <p:cNvSpPr/>
          <p:nvPr/>
        </p:nvSpPr>
        <p:spPr>
          <a:xfrm>
            <a:off x="868680"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Servicios, bases, UI y logs con un solo comando.</a:t>
            </a:r>
            <a:endParaRPr lang="en-US" sz="1200" dirty="0"/>
          </a:p>
        </p:txBody>
      </p:sp>
      <p:sp>
        <p:nvSpPr>
          <p:cNvPr id="34" name="Shape 32"/>
          <p:cNvSpPr/>
          <p:nvPr/>
        </p:nvSpPr>
        <p:spPr>
          <a:xfrm>
            <a:off x="4341266"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4469282" y="4146804"/>
            <a:ext cx="3253130" cy="64008"/>
          </a:xfrm>
          <a:prstGeom prst="rect">
            <a:avLst/>
          </a:prstGeom>
          <a:solidFill>
            <a:srgbClr val="8A4B06"/>
          </a:solidFill>
          <a:ln w="12700">
            <a:solidFill>
              <a:srgbClr val="8A4B06"/>
            </a:solidFill>
            <a:prstDash val="solid"/>
          </a:ln>
        </p:spPr>
      </p:sp>
      <p:sp>
        <p:nvSpPr>
          <p:cNvPr id="36" name="Shape 34"/>
          <p:cNvSpPr/>
          <p:nvPr/>
        </p:nvSpPr>
        <p:spPr>
          <a:xfrm>
            <a:off x="7064045" y="4384548"/>
            <a:ext cx="566928" cy="566928"/>
          </a:xfrm>
          <a:prstGeom prst="ellipse">
            <a:avLst/>
          </a:prstGeom>
          <a:solidFill>
            <a:srgbClr val="FCEFD6"/>
          </a:solidFill>
          <a:ln w="12700">
            <a:solidFill>
              <a:srgbClr val="FCEFD6"/>
            </a:solidFill>
            <a:prstDash val="solid"/>
          </a:ln>
        </p:spPr>
      </p:sp>
      <p:sp>
        <p:nvSpPr>
          <p:cNvPr id="37" name="Icono timer"/>
          <p:cNvSpPr/>
          <p:nvPr/>
        </p:nvSpPr>
        <p:spPr>
          <a:xfrm>
            <a:off x="7200108" y="4520611"/>
            <a:ext cx="294803" cy="294803"/>
          </a:xfrm>
          <a:custGeom>
            <a:avLst/>
            <a:gdLst/>
            <a:ahLst/>
            <a:cxnLst/>
            <a:rect l="l" t="t" r="r" b="b"/>
            <a:pathLst>
              <a:path w="294803" h="294803">
                <a:moveTo>
                  <a:pt x="122834" y="24567"/>
                </a:moveTo>
                <a:lnTo>
                  <a:pt x="171968" y="24567"/>
                </a:lnTo>
                <a:moveTo>
                  <a:pt x="147401" y="171968"/>
                </a:moveTo>
                <a:lnTo>
                  <a:pt x="184252" y="135118"/>
                </a:lnTo>
                <a:moveTo>
                  <a:pt x="245669" y="171968"/>
                </a:moveTo>
                <a:cubicBezTo>
                  <a:pt x="245669" y="226240"/>
                  <a:pt x="201673" y="270236"/>
                  <a:pt x="147401" y="270236"/>
                </a:cubicBezTo>
                <a:cubicBezTo>
                  <a:pt x="93130" y="270236"/>
                  <a:pt x="49134" y="226240"/>
                  <a:pt x="49134" y="171968"/>
                </a:cubicBezTo>
                <a:cubicBezTo>
                  <a:pt x="49134" y="117697"/>
                  <a:pt x="93130" y="73701"/>
                  <a:pt x="147401" y="73701"/>
                </a:cubicBezTo>
                <a:cubicBezTo>
                  <a:pt x="201673" y="73701"/>
                  <a:pt x="245669" y="117697"/>
                  <a:pt x="245669" y="171968"/>
                </a:cubicBezTo>
                <a:close/>
              </a:path>
            </a:pathLst>
          </a:custGeom>
          <a:noFill/>
          <a:ln w="24567" cap="rnd">
            <a:solidFill>
              <a:srgbClr val="8A4B06"/>
            </a:solidFill>
            <a:prstDash val="solid"/>
            <a:round/>
          </a:ln>
        </p:spPr>
      </p:sp>
      <p:sp>
        <p:nvSpPr>
          <p:cNvPr id="38" name="Text 36"/>
          <p:cNvSpPr/>
          <p:nvPr/>
        </p:nvSpPr>
        <p:spPr>
          <a:xfrm>
            <a:off x="4597298"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8A4B06"/>
                </a:solidFill>
                <a:latin typeface="Segoe UI Semibold" pitchFamily="34" charset="0"/>
                <a:ea typeface="Segoe UI Semibold" pitchFamily="34" charset="-122"/>
                <a:cs typeface="Segoe UI Semibold" pitchFamily="34" charset="-120"/>
              </a:rPr>
              <a:t>≤ 5 s</a:t>
            </a:r>
            <a:endParaRPr lang="en-US" sz="4600" dirty="0"/>
          </a:p>
        </p:txBody>
      </p:sp>
      <p:sp>
        <p:nvSpPr>
          <p:cNvPr id="39" name="Text 37"/>
          <p:cNvSpPr/>
          <p:nvPr/>
        </p:nvSpPr>
        <p:spPr>
          <a:xfrm>
            <a:off x="4597298" y="5030724"/>
            <a:ext cx="3051962" cy="384048"/>
          </a:xfrm>
          <a:prstGeom prst="rect">
            <a:avLst/>
          </a:prstGeom>
          <a:noFill/>
          <a:ln/>
        </p:spPr>
        <p:txBody>
          <a:bodyPr wrap="square" lIns="0" tIns="0" rIns="0" bIns="0" rtlCol="0" anchor="t">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para entregar un aviso</a:t>
            </a:r>
            <a:endParaRPr lang="en-US" sz="1500" dirty="0"/>
          </a:p>
        </p:txBody>
      </p:sp>
      <p:sp>
        <p:nvSpPr>
          <p:cNvPr id="40" name="Text 38"/>
          <p:cNvSpPr/>
          <p:nvPr/>
        </p:nvSpPr>
        <p:spPr>
          <a:xfrm>
            <a:off x="4597298"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relevador revisa los pendientes cada 5 segundos.</a:t>
            </a:r>
            <a:endParaRPr lang="en-US" sz="1200" dirty="0"/>
          </a:p>
        </p:txBody>
      </p:sp>
      <p:sp>
        <p:nvSpPr>
          <p:cNvPr id="41" name="Shape 39"/>
          <p:cNvSpPr/>
          <p:nvPr/>
        </p:nvSpPr>
        <p:spPr>
          <a:xfrm>
            <a:off x="8069885" y="4146804"/>
            <a:ext cx="3509162" cy="2208276"/>
          </a:xfrm>
          <a:prstGeom prst="roundRect">
            <a:avLst>
              <a:gd name="adj" fmla="val 579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2" name="Shape 40"/>
          <p:cNvSpPr/>
          <p:nvPr/>
        </p:nvSpPr>
        <p:spPr>
          <a:xfrm>
            <a:off x="8197901" y="4146804"/>
            <a:ext cx="3253130" cy="64008"/>
          </a:xfrm>
          <a:prstGeom prst="rect">
            <a:avLst/>
          </a:prstGeom>
          <a:solidFill>
            <a:srgbClr val="0B2350"/>
          </a:solidFill>
          <a:ln w="12700">
            <a:solidFill>
              <a:srgbClr val="0B2350"/>
            </a:solidFill>
            <a:prstDash val="solid"/>
          </a:ln>
        </p:spPr>
      </p:sp>
      <p:sp>
        <p:nvSpPr>
          <p:cNvPr id="43" name="Shape 41"/>
          <p:cNvSpPr/>
          <p:nvPr/>
        </p:nvSpPr>
        <p:spPr>
          <a:xfrm>
            <a:off x="10792663" y="4384548"/>
            <a:ext cx="566928" cy="566928"/>
          </a:xfrm>
          <a:prstGeom prst="ellipse">
            <a:avLst/>
          </a:prstGeom>
          <a:solidFill>
            <a:srgbClr val="E8EEF8"/>
          </a:solidFill>
          <a:ln w="12700">
            <a:solidFill>
              <a:srgbClr val="E8EEF8"/>
            </a:solidFill>
            <a:prstDash val="solid"/>
          </a:ln>
        </p:spPr>
      </p:sp>
      <p:sp>
        <p:nvSpPr>
          <p:cNvPr id="44" name="Icono fingerprint"/>
          <p:cNvSpPr/>
          <p:nvPr/>
        </p:nvSpPr>
        <p:spPr>
          <a:xfrm>
            <a:off x="10928726" y="4520611"/>
            <a:ext cx="294803" cy="294803"/>
          </a:xfrm>
          <a:custGeom>
            <a:avLst/>
            <a:gdLst/>
            <a:ahLst/>
            <a:cxnLst/>
            <a:rect l="l" t="t" r="r" b="b"/>
            <a:pathLst>
              <a:path w="294803" h="294803">
                <a:moveTo>
                  <a:pt x="147401" y="122834"/>
                </a:moveTo>
                <a:cubicBezTo>
                  <a:pt x="133833" y="122834"/>
                  <a:pt x="122834" y="133833"/>
                  <a:pt x="122834" y="147401"/>
                </a:cubicBezTo>
                <a:cubicBezTo>
                  <a:pt x="122834" y="159930"/>
                  <a:pt x="121606" y="178233"/>
                  <a:pt x="119641" y="196535"/>
                </a:cubicBezTo>
                <a:moveTo>
                  <a:pt x="171968" y="161159"/>
                </a:moveTo>
                <a:cubicBezTo>
                  <a:pt x="171968" y="190393"/>
                  <a:pt x="171968" y="239527"/>
                  <a:pt x="159685" y="270236"/>
                </a:cubicBezTo>
                <a:moveTo>
                  <a:pt x="212381" y="258198"/>
                </a:moveTo>
                <a:cubicBezTo>
                  <a:pt x="213855" y="250828"/>
                  <a:pt x="217663" y="229946"/>
                  <a:pt x="218522" y="221102"/>
                </a:cubicBezTo>
                <a:moveTo>
                  <a:pt x="24567" y="147401"/>
                </a:moveTo>
                <a:cubicBezTo>
                  <a:pt x="24567" y="94530"/>
                  <a:pt x="58399" y="47590"/>
                  <a:pt x="108558" y="30870"/>
                </a:cubicBezTo>
                <a:cubicBezTo>
                  <a:pt x="158716" y="14151"/>
                  <a:pt x="213946" y="31403"/>
                  <a:pt x="245669" y="73701"/>
                </a:cubicBezTo>
                <a:moveTo>
                  <a:pt x="24567" y="196535"/>
                </a:moveTo>
                <a:lnTo>
                  <a:pt x="24690" y="196535"/>
                </a:lnTo>
                <a:moveTo>
                  <a:pt x="267779" y="196535"/>
                </a:moveTo>
                <a:cubicBezTo>
                  <a:pt x="270236" y="171968"/>
                  <a:pt x="269388" y="130770"/>
                  <a:pt x="267779" y="122834"/>
                </a:cubicBezTo>
                <a:moveTo>
                  <a:pt x="61417" y="239527"/>
                </a:moveTo>
                <a:cubicBezTo>
                  <a:pt x="67559" y="221102"/>
                  <a:pt x="73701" y="184252"/>
                  <a:pt x="73701" y="147401"/>
                </a:cubicBezTo>
                <a:cubicBezTo>
                  <a:pt x="73688" y="139035"/>
                  <a:pt x="75101" y="130727"/>
                  <a:pt x="77877" y="122834"/>
                </a:cubicBezTo>
                <a:moveTo>
                  <a:pt x="106252" y="270236"/>
                </a:moveTo>
                <a:cubicBezTo>
                  <a:pt x="108831" y="262129"/>
                  <a:pt x="111779" y="254022"/>
                  <a:pt x="113253" y="245669"/>
                </a:cubicBezTo>
                <a:moveTo>
                  <a:pt x="110551" y="83527"/>
                </a:moveTo>
                <a:cubicBezTo>
                  <a:pt x="133361" y="70358"/>
                  <a:pt x="161466" y="70362"/>
                  <a:pt x="184272" y="83539"/>
                </a:cubicBezTo>
                <a:cubicBezTo>
                  <a:pt x="207078" y="96716"/>
                  <a:pt x="221119" y="121062"/>
                  <a:pt x="221102" y="147401"/>
                </a:cubicBezTo>
                <a:lnTo>
                  <a:pt x="221102" y="171968"/>
                </a:lnTo>
              </a:path>
            </a:pathLst>
          </a:custGeom>
          <a:noFill/>
          <a:ln w="24567" cap="rnd">
            <a:solidFill>
              <a:srgbClr val="0B2350"/>
            </a:solidFill>
            <a:prstDash val="solid"/>
            <a:round/>
          </a:ln>
        </p:spPr>
      </p:sp>
      <p:sp>
        <p:nvSpPr>
          <p:cNvPr id="45" name="Text 43"/>
          <p:cNvSpPr/>
          <p:nvPr/>
        </p:nvSpPr>
        <p:spPr>
          <a:xfrm>
            <a:off x="8325917" y="4329684"/>
            <a:ext cx="2411882" cy="719328"/>
          </a:xfrm>
          <a:prstGeom prst="rect">
            <a:avLst/>
          </a:prstGeom>
          <a:noFill/>
          <a:ln/>
        </p:spPr>
        <p:txBody>
          <a:bodyPr wrap="square" lIns="0" tIns="0" rIns="0" bIns="0" rtlCol="0" anchor="ctr">
            <a:normAutofit/>
          </a:bodyPr>
          <a:lstStyle/>
          <a:p>
            <a:pPr algn="l" indent="0" marL="0">
              <a:buNone/>
            </a:pPr>
            <a:r>
              <a:rPr lang="en-US" sz="4600" b="1" dirty="0">
                <a:solidFill>
                  <a:srgbClr val="0B2350"/>
                </a:solidFill>
                <a:latin typeface="Segoe UI Semibold" pitchFamily="34" charset="0"/>
                <a:ea typeface="Segoe UI Semibold" pitchFamily="34" charset="-122"/>
                <a:cs typeface="Segoe UI Semibold" pitchFamily="34" charset="-120"/>
              </a:rPr>
              <a:t>0</a:t>
            </a:r>
            <a:endParaRPr lang="en-US" sz="4600" dirty="0"/>
          </a:p>
        </p:txBody>
      </p:sp>
      <p:sp>
        <p:nvSpPr>
          <p:cNvPr id="46" name="Text 44"/>
          <p:cNvSpPr/>
          <p:nvPr/>
        </p:nvSpPr>
        <p:spPr>
          <a:xfrm>
            <a:off x="8325917" y="5030724"/>
            <a:ext cx="3051962" cy="384048"/>
          </a:xfrm>
          <a:prstGeom prst="rect">
            <a:avLst/>
          </a:prstGeom>
          <a:noFill/>
          <a:ln/>
        </p:spPr>
        <p:txBody>
          <a:bodyPr wrap="square" lIns="0" tIns="0" rIns="0" bIns="0" rtlCol="0" anchor="t">
            <a:normAutofit/>
          </a:bodyPr>
          <a:lstStyle/>
          <a:p>
            <a:pPr algn="l" indent="0" marL="0">
              <a:buNone/>
            </a:pPr>
            <a:r>
              <a:rPr lang="en-US" sz="1450" b="1" dirty="0">
                <a:solidFill>
                  <a:srgbClr val="0B1A3C"/>
                </a:solidFill>
                <a:latin typeface="Segoe UI Semibold" pitchFamily="34" charset="0"/>
                <a:ea typeface="Segoe UI Semibold" pitchFamily="34" charset="-122"/>
                <a:cs typeface="Segoe UI Semibold" pitchFamily="34" charset="-120"/>
              </a:rPr>
              <a:t>avisos perdidos o duplicados</a:t>
            </a:r>
            <a:endParaRPr lang="en-US" sz="1450" dirty="0"/>
          </a:p>
        </p:txBody>
      </p:sp>
      <p:sp>
        <p:nvSpPr>
          <p:cNvPr id="47" name="Text 45"/>
          <p:cNvSpPr/>
          <p:nvPr/>
        </p:nvSpPr>
        <p:spPr>
          <a:xfrm>
            <a:off x="8325917" y="5414772"/>
            <a:ext cx="3051962" cy="867156"/>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Aunque el otro servicio esté caído o el evento llegue dos veces.</a:t>
            </a:r>
            <a:endParaRPr lang="en-US" sz="12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Ocho conceptos, en una frase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mínimo para seguir la presentación, sin jerga.</a:t>
            </a:r>
            <a:endParaRPr lang="en-US" sz="1700" dirty="0"/>
          </a:p>
        </p:txBody>
      </p:sp>
      <p:sp>
        <p:nvSpPr>
          <p:cNvPr id="6" name="Shape 4"/>
          <p:cNvSpPr/>
          <p:nvPr/>
        </p:nvSpPr>
        <p:spPr>
          <a:xfrm>
            <a:off x="61264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970532"/>
          </a:xfrm>
          <a:prstGeom prst="rect">
            <a:avLst/>
          </a:prstGeom>
          <a:solidFill>
            <a:srgbClr val="0B2350"/>
          </a:solidFill>
          <a:ln w="12700">
            <a:solidFill>
              <a:srgbClr val="0B2350"/>
            </a:solidFill>
            <a:prstDash val="solid"/>
          </a:ln>
        </p:spPr>
      </p:sp>
      <p:sp>
        <p:nvSpPr>
          <p:cNvPr id="8" name="Shape 6"/>
          <p:cNvSpPr/>
          <p:nvPr/>
        </p:nvSpPr>
        <p:spPr>
          <a:xfrm>
            <a:off x="813816" y="1901952"/>
            <a:ext cx="566928" cy="566928"/>
          </a:xfrm>
          <a:prstGeom prst="ellipse">
            <a:avLst/>
          </a:prstGeom>
          <a:solidFill>
            <a:srgbClr val="E8EEF8"/>
          </a:solidFill>
          <a:ln w="12700">
            <a:solidFill>
              <a:srgbClr val="E8EEF8"/>
            </a:solidFill>
            <a:prstDash val="solid"/>
          </a:ln>
        </p:spPr>
      </p:sp>
      <p:sp>
        <p:nvSpPr>
          <p:cNvPr id="9" name="Icono server"/>
          <p:cNvSpPr/>
          <p:nvPr/>
        </p:nvSpPr>
        <p:spPr>
          <a:xfrm>
            <a:off x="949879" y="2038015"/>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2350"/>
            </a:solidFill>
            <a:prstDash val="solid"/>
            <a:round/>
          </a:ln>
        </p:spPr>
      </p:sp>
      <p:sp>
        <p:nvSpPr>
          <p:cNvPr id="10" name="Text 8"/>
          <p:cNvSpPr/>
          <p:nvPr/>
        </p:nvSpPr>
        <p:spPr>
          <a:xfrm>
            <a:off x="152704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Microservicio</a:t>
            </a:r>
            <a:endParaRPr lang="en-US" sz="1500" dirty="0"/>
          </a:p>
        </p:txBody>
      </p:sp>
      <p:sp>
        <p:nvSpPr>
          <p:cNvPr id="11" name="Text 9"/>
          <p:cNvSpPr/>
          <p:nvPr/>
        </p:nvSpPr>
        <p:spPr>
          <a:xfrm>
            <a:off x="86868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Una aplicación pequeña, con una sola tarea y su propia base de datos.</a:t>
            </a:r>
            <a:endParaRPr lang="en-US" sz="1300" dirty="0"/>
          </a:p>
        </p:txBody>
      </p:sp>
      <p:sp>
        <p:nvSpPr>
          <p:cNvPr id="12" name="Shape 10"/>
          <p:cNvSpPr/>
          <p:nvPr/>
        </p:nvSpPr>
        <p:spPr>
          <a:xfrm>
            <a:off x="339996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3399968" y="1847088"/>
            <a:ext cx="64008" cy="1970532"/>
          </a:xfrm>
          <a:prstGeom prst="rect">
            <a:avLst/>
          </a:prstGeom>
          <a:solidFill>
            <a:srgbClr val="5B3FC4"/>
          </a:solidFill>
          <a:ln w="12700">
            <a:solidFill>
              <a:srgbClr val="5B3FC4"/>
            </a:solidFill>
            <a:prstDash val="solid"/>
          </a:ln>
        </p:spPr>
      </p:sp>
      <p:sp>
        <p:nvSpPr>
          <p:cNvPr id="14" name="Shape 12"/>
          <p:cNvSpPr/>
          <p:nvPr/>
        </p:nvSpPr>
        <p:spPr>
          <a:xfrm>
            <a:off x="3601136" y="1901952"/>
            <a:ext cx="566928" cy="566928"/>
          </a:xfrm>
          <a:prstGeom prst="ellipse">
            <a:avLst/>
          </a:prstGeom>
          <a:solidFill>
            <a:srgbClr val="F1EEFD"/>
          </a:solidFill>
          <a:ln w="12700">
            <a:solidFill>
              <a:srgbClr val="F1EEFD"/>
            </a:solidFill>
            <a:prstDash val="solid"/>
          </a:ln>
        </p:spPr>
      </p:sp>
      <p:sp>
        <p:nvSpPr>
          <p:cNvPr id="15" name="Icono globe"/>
          <p:cNvSpPr/>
          <p:nvPr/>
        </p:nvSpPr>
        <p:spPr>
          <a:xfrm>
            <a:off x="3737199" y="2038015"/>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147401" y="24567"/>
                </a:moveTo>
                <a:cubicBezTo>
                  <a:pt x="81890" y="93354"/>
                  <a:pt x="81890" y="201448"/>
                  <a:pt x="147401" y="270236"/>
                </a:cubicBezTo>
                <a:cubicBezTo>
                  <a:pt x="212913" y="201448"/>
                  <a:pt x="212913" y="93354"/>
                  <a:pt x="147401" y="24567"/>
                </a:cubicBezTo>
                <a:moveTo>
                  <a:pt x="24567" y="147401"/>
                </a:moveTo>
                <a:lnTo>
                  <a:pt x="270236" y="147401"/>
                </a:lnTo>
              </a:path>
            </a:pathLst>
          </a:custGeom>
          <a:noFill/>
          <a:ln w="24567" cap="rnd">
            <a:solidFill>
              <a:srgbClr val="5B3FC4"/>
            </a:solidFill>
            <a:prstDash val="solid"/>
            <a:round/>
          </a:ln>
        </p:spPr>
      </p:sp>
      <p:sp>
        <p:nvSpPr>
          <p:cNvPr id="16" name="Text 14"/>
          <p:cNvSpPr/>
          <p:nvPr/>
        </p:nvSpPr>
        <p:spPr>
          <a:xfrm>
            <a:off x="431436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API REST</a:t>
            </a:r>
            <a:endParaRPr lang="en-US" sz="1500" dirty="0"/>
          </a:p>
        </p:txBody>
      </p:sp>
      <p:sp>
        <p:nvSpPr>
          <p:cNvPr id="17" name="Text 15"/>
          <p:cNvSpPr/>
          <p:nvPr/>
        </p:nvSpPr>
        <p:spPr>
          <a:xfrm>
            <a:off x="365600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La puerta para pedirle algo a una aplicación por HTTP, como abrir una URL.</a:t>
            </a:r>
            <a:endParaRPr lang="en-US" sz="1300" dirty="0"/>
          </a:p>
        </p:txBody>
      </p:sp>
      <p:sp>
        <p:nvSpPr>
          <p:cNvPr id="18" name="Shape 16"/>
          <p:cNvSpPr/>
          <p:nvPr/>
        </p:nvSpPr>
        <p:spPr>
          <a:xfrm>
            <a:off x="6187288"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87288" y="1847088"/>
            <a:ext cx="64008" cy="1970532"/>
          </a:xfrm>
          <a:prstGeom prst="rect">
            <a:avLst/>
          </a:prstGeom>
          <a:solidFill>
            <a:srgbClr val="0B2350"/>
          </a:solidFill>
          <a:ln w="12700">
            <a:solidFill>
              <a:srgbClr val="0B2350"/>
            </a:solidFill>
            <a:prstDash val="solid"/>
          </a:ln>
        </p:spPr>
      </p:sp>
      <p:sp>
        <p:nvSpPr>
          <p:cNvPr id="20" name="Shape 18"/>
          <p:cNvSpPr/>
          <p:nvPr/>
        </p:nvSpPr>
        <p:spPr>
          <a:xfrm>
            <a:off x="6388456" y="1901952"/>
            <a:ext cx="566928" cy="566928"/>
          </a:xfrm>
          <a:prstGeom prst="ellipse">
            <a:avLst/>
          </a:prstGeom>
          <a:solidFill>
            <a:srgbClr val="E8EEF8"/>
          </a:solidFill>
          <a:ln w="12700">
            <a:solidFill>
              <a:srgbClr val="E8EEF8"/>
            </a:solidFill>
            <a:prstDash val="solid"/>
          </a:ln>
        </p:spPr>
      </p:sp>
      <p:sp>
        <p:nvSpPr>
          <p:cNvPr id="21" name="Icono hexagon"/>
          <p:cNvSpPr/>
          <p:nvPr/>
        </p:nvSpPr>
        <p:spPr>
          <a:xfrm>
            <a:off x="6524518" y="2038015"/>
            <a:ext cx="294803" cy="294803"/>
          </a:xfrm>
          <a:custGeom>
            <a:avLst/>
            <a:gdLst/>
            <a:ahLst/>
            <a:cxnLst/>
            <a:rect l="l" t="t" r="r" b="b"/>
            <a:pathLst>
              <a:path w="294803" h="294803">
                <a:moveTo>
                  <a:pt x="257952" y="196535"/>
                </a:move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lnTo>
                  <a:pt x="135118" y="266919"/>
                </a:lnTo>
                <a:cubicBezTo>
                  <a:pt x="142719" y="271308"/>
                  <a:pt x="152084" y="271308"/>
                  <a:pt x="159685" y="266919"/>
                </a:cubicBezTo>
                <a:lnTo>
                  <a:pt x="245669" y="217785"/>
                </a:lnTo>
                <a:cubicBezTo>
                  <a:pt x="253262" y="213401"/>
                  <a:pt x="257943" y="205303"/>
                  <a:pt x="257952" y="196535"/>
                </a:cubicBezTo>
                <a:close/>
              </a:path>
            </a:pathLst>
          </a:custGeom>
          <a:noFill/>
          <a:ln w="24567" cap="rnd">
            <a:solidFill>
              <a:srgbClr val="0B2350"/>
            </a:solidFill>
            <a:prstDash val="solid"/>
            <a:round/>
          </a:ln>
        </p:spPr>
      </p:sp>
      <p:sp>
        <p:nvSpPr>
          <p:cNvPr id="22" name="Text 20"/>
          <p:cNvSpPr/>
          <p:nvPr/>
        </p:nvSpPr>
        <p:spPr>
          <a:xfrm>
            <a:off x="7101688"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 hexagonal</a:t>
            </a:r>
            <a:endParaRPr lang="en-US" sz="1500" dirty="0"/>
          </a:p>
        </p:txBody>
      </p:sp>
      <p:sp>
        <p:nvSpPr>
          <p:cNvPr id="23" name="Text 21"/>
          <p:cNvSpPr/>
          <p:nvPr/>
        </p:nvSpPr>
        <p:spPr>
          <a:xfrm>
            <a:off x="6443320"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negocio al centro; la base y la web se conectan por “enchufes”.</a:t>
            </a:r>
            <a:endParaRPr lang="en-US" sz="1300" dirty="0"/>
          </a:p>
        </p:txBody>
      </p:sp>
      <p:sp>
        <p:nvSpPr>
          <p:cNvPr id="24" name="Shape 22"/>
          <p:cNvSpPr/>
          <p:nvPr/>
        </p:nvSpPr>
        <p:spPr>
          <a:xfrm>
            <a:off x="8974607" y="1719072"/>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8974607" y="1847088"/>
            <a:ext cx="64008" cy="1970532"/>
          </a:xfrm>
          <a:prstGeom prst="rect">
            <a:avLst/>
          </a:prstGeom>
          <a:solidFill>
            <a:srgbClr val="0B6E8A"/>
          </a:solidFill>
          <a:ln w="12700">
            <a:solidFill>
              <a:srgbClr val="0B6E8A"/>
            </a:solidFill>
            <a:prstDash val="solid"/>
          </a:ln>
        </p:spPr>
      </p:sp>
      <p:sp>
        <p:nvSpPr>
          <p:cNvPr id="26" name="Shape 24"/>
          <p:cNvSpPr/>
          <p:nvPr/>
        </p:nvSpPr>
        <p:spPr>
          <a:xfrm>
            <a:off x="9175775" y="1901952"/>
            <a:ext cx="566928" cy="566928"/>
          </a:xfrm>
          <a:prstGeom prst="ellipse">
            <a:avLst/>
          </a:prstGeom>
          <a:solidFill>
            <a:srgbClr val="E3F4FA"/>
          </a:solidFill>
          <a:ln w="12700">
            <a:solidFill>
              <a:srgbClr val="E3F4FA"/>
            </a:solidFill>
            <a:prstDash val="solid"/>
          </a:ln>
        </p:spPr>
      </p:sp>
      <p:sp>
        <p:nvSpPr>
          <p:cNvPr id="27" name="Icono table"/>
          <p:cNvSpPr/>
          <p:nvPr/>
        </p:nvSpPr>
        <p:spPr>
          <a:xfrm>
            <a:off x="9311838" y="2038015"/>
            <a:ext cx="294803" cy="294803"/>
          </a:xfrm>
          <a:custGeom>
            <a:avLst/>
            <a:gdLst/>
            <a:ahLst/>
            <a:cxnLst/>
            <a:rect l="l" t="t" r="r" b="b"/>
            <a:pathLst>
              <a:path w="294803" h="294803">
                <a:moveTo>
                  <a:pt x="147401" y="36850"/>
                </a:moveTo>
                <a:lnTo>
                  <a:pt x="147401" y="257952"/>
                </a:lnTo>
                <a:moveTo>
                  <a:pt x="61417" y="36850"/>
                </a:moveTo>
                <a:lnTo>
                  <a:pt x="233385" y="36850"/>
                </a:lnTo>
                <a:cubicBezTo>
                  <a:pt x="246953" y="36850"/>
                  <a:pt x="257952" y="47849"/>
                  <a:pt x="257952" y="61417"/>
                </a:cubicBezTo>
                <a:lnTo>
                  <a:pt x="257952" y="233385"/>
                </a:lnTo>
                <a:cubicBezTo>
                  <a:pt x="257952" y="246953"/>
                  <a:pt x="246953" y="257952"/>
                  <a:pt x="233385" y="257952"/>
                </a:cubicBezTo>
                <a:lnTo>
                  <a:pt x="61417" y="257952"/>
                </a:lnTo>
                <a:cubicBezTo>
                  <a:pt x="47849" y="257952"/>
                  <a:pt x="36850" y="246953"/>
                  <a:pt x="36850" y="233385"/>
                </a:cubicBezTo>
                <a:lnTo>
                  <a:pt x="36850" y="61417"/>
                </a:lnTo>
                <a:cubicBezTo>
                  <a:pt x="36850" y="47849"/>
                  <a:pt x="47849" y="36850"/>
                  <a:pt x="61417" y="36850"/>
                </a:cubicBezTo>
                <a:close/>
                <a:moveTo>
                  <a:pt x="36850" y="110551"/>
                </a:moveTo>
                <a:lnTo>
                  <a:pt x="257952" y="110551"/>
                </a:lnTo>
                <a:moveTo>
                  <a:pt x="36850" y="184252"/>
                </a:moveTo>
                <a:lnTo>
                  <a:pt x="257952" y="184252"/>
                </a:lnTo>
              </a:path>
            </a:pathLst>
          </a:custGeom>
          <a:noFill/>
          <a:ln w="24567" cap="rnd">
            <a:solidFill>
              <a:srgbClr val="0B6E8A"/>
            </a:solidFill>
            <a:prstDash val="solid"/>
            <a:round/>
          </a:ln>
        </p:spPr>
      </p:sp>
      <p:sp>
        <p:nvSpPr>
          <p:cNvPr id="28" name="Text 26"/>
          <p:cNvSpPr/>
          <p:nvPr/>
        </p:nvSpPr>
        <p:spPr>
          <a:xfrm>
            <a:off x="9889007" y="1901952"/>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ORM (JPA)</a:t>
            </a:r>
            <a:endParaRPr lang="en-US" sz="1500" dirty="0"/>
          </a:p>
        </p:txBody>
      </p:sp>
      <p:sp>
        <p:nvSpPr>
          <p:cNvPr id="29" name="Text 27"/>
          <p:cNvSpPr/>
          <p:nvPr/>
        </p:nvSpPr>
        <p:spPr>
          <a:xfrm>
            <a:off x="9230639" y="2578608"/>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Traduce entre clases Java y tablas: escribe el SQL rutinario por nosotros.</a:t>
            </a:r>
            <a:endParaRPr lang="en-US" sz="1300" dirty="0"/>
          </a:p>
        </p:txBody>
      </p:sp>
      <p:sp>
        <p:nvSpPr>
          <p:cNvPr id="30" name="Shape 28"/>
          <p:cNvSpPr/>
          <p:nvPr/>
        </p:nvSpPr>
        <p:spPr>
          <a:xfrm>
            <a:off x="61264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612648" y="4256532"/>
            <a:ext cx="64008" cy="1970532"/>
          </a:xfrm>
          <a:prstGeom prst="rect">
            <a:avLst/>
          </a:prstGeom>
          <a:solidFill>
            <a:srgbClr val="0B6E8A"/>
          </a:solidFill>
          <a:ln w="12700">
            <a:solidFill>
              <a:srgbClr val="0B6E8A"/>
            </a:solidFill>
            <a:prstDash val="solid"/>
          </a:ln>
        </p:spPr>
      </p:sp>
      <p:sp>
        <p:nvSpPr>
          <p:cNvPr id="32" name="Shape 30"/>
          <p:cNvSpPr/>
          <p:nvPr/>
        </p:nvSpPr>
        <p:spPr>
          <a:xfrm>
            <a:off x="813816" y="4311396"/>
            <a:ext cx="566928" cy="566928"/>
          </a:xfrm>
          <a:prstGeom prst="ellipse">
            <a:avLst/>
          </a:prstGeom>
          <a:solidFill>
            <a:srgbClr val="E3F4FA"/>
          </a:solidFill>
          <a:ln w="12700">
            <a:solidFill>
              <a:srgbClr val="E3F4FA"/>
            </a:solidFill>
            <a:prstDash val="solid"/>
          </a:ln>
        </p:spPr>
      </p:sp>
      <p:sp>
        <p:nvSpPr>
          <p:cNvPr id="33" name="Icono container"/>
          <p:cNvSpPr/>
          <p:nvPr/>
        </p:nvSpPr>
        <p:spPr>
          <a:xfrm>
            <a:off x="949879" y="4447459"/>
            <a:ext cx="294803" cy="294803"/>
          </a:xfrm>
          <a:custGeom>
            <a:avLst/>
            <a:gdLst/>
            <a:ahLst/>
            <a:cxnLst/>
            <a:rect l="l" t="t" r="r" b="b"/>
            <a:pathLst>
              <a:path w="294803" h="294803">
                <a:moveTo>
                  <a:pt x="270236" y="94582"/>
                </a:moveTo>
                <a:cubicBezTo>
                  <a:pt x="270236" y="87212"/>
                  <a:pt x="265322" y="79842"/>
                  <a:pt x="260409" y="76157"/>
                </a:cubicBezTo>
                <a:lnTo>
                  <a:pt x="183023" y="28252"/>
                </a:lnTo>
                <a:cubicBezTo>
                  <a:pt x="176549" y="24572"/>
                  <a:pt x="168616" y="24572"/>
                  <a:pt x="162141" y="28252"/>
                </a:cubicBezTo>
                <a:lnTo>
                  <a:pt x="35622" y="101953"/>
                </a:lnTo>
                <a:cubicBezTo>
                  <a:pt x="29480" y="104409"/>
                  <a:pt x="24567" y="111779"/>
                  <a:pt x="24567" y="119149"/>
                </a:cubicBezTo>
                <a:lnTo>
                  <a:pt x="24567" y="200220"/>
                </a:lnTo>
                <a:cubicBezTo>
                  <a:pt x="24567" y="206362"/>
                  <a:pt x="29480" y="214960"/>
                  <a:pt x="34394" y="218645"/>
                </a:cubicBezTo>
                <a:lnTo>
                  <a:pt x="111779" y="266551"/>
                </a:lnTo>
                <a:cubicBezTo>
                  <a:pt x="118253" y="270231"/>
                  <a:pt x="126187" y="270231"/>
                  <a:pt x="132661" y="266551"/>
                </a:cubicBezTo>
                <a:lnTo>
                  <a:pt x="259181" y="192850"/>
                </a:lnTo>
                <a:cubicBezTo>
                  <a:pt x="265322" y="189165"/>
                  <a:pt x="270236" y="180567"/>
                  <a:pt x="270236" y="174425"/>
                </a:cubicBezTo>
                <a:close/>
                <a:moveTo>
                  <a:pt x="122834" y="269007"/>
                </a:moveTo>
                <a:lnTo>
                  <a:pt x="122834" y="171968"/>
                </a:lnTo>
                <a:lnTo>
                  <a:pt x="25795" y="111779"/>
                </a:lnTo>
                <a:moveTo>
                  <a:pt x="122834" y="171968"/>
                </a:moveTo>
                <a:lnTo>
                  <a:pt x="269007" y="87212"/>
                </a:lnTo>
                <a:moveTo>
                  <a:pt x="171968" y="243212"/>
                </a:moveTo>
                <a:lnTo>
                  <a:pt x="171968" y="143716"/>
                </a:lnTo>
                <a:moveTo>
                  <a:pt x="221102" y="214960"/>
                </a:moveTo>
                <a:lnTo>
                  <a:pt x="221102" y="115464"/>
                </a:lnTo>
              </a:path>
            </a:pathLst>
          </a:custGeom>
          <a:noFill/>
          <a:ln w="24567" cap="rnd">
            <a:solidFill>
              <a:srgbClr val="0B6E8A"/>
            </a:solidFill>
            <a:prstDash val="solid"/>
            <a:round/>
          </a:ln>
        </p:spPr>
      </p:sp>
      <p:sp>
        <p:nvSpPr>
          <p:cNvPr id="34" name="Text 32"/>
          <p:cNvSpPr/>
          <p:nvPr/>
        </p:nvSpPr>
        <p:spPr>
          <a:xfrm>
            <a:off x="152704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Docker</a:t>
            </a:r>
            <a:endParaRPr lang="en-US" sz="1500" dirty="0"/>
          </a:p>
        </p:txBody>
      </p:sp>
      <p:sp>
        <p:nvSpPr>
          <p:cNvPr id="35" name="Text 33"/>
          <p:cNvSpPr/>
          <p:nvPr/>
        </p:nvSpPr>
        <p:spPr>
          <a:xfrm>
            <a:off x="86868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Empaqueta la aplicación con todo lo que necesita: corre igual en cualquier lado.</a:t>
            </a:r>
            <a:endParaRPr lang="en-US" sz="1300" dirty="0"/>
          </a:p>
        </p:txBody>
      </p:sp>
      <p:sp>
        <p:nvSpPr>
          <p:cNvPr id="36" name="Shape 34"/>
          <p:cNvSpPr/>
          <p:nvPr/>
        </p:nvSpPr>
        <p:spPr>
          <a:xfrm>
            <a:off x="339996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3399968" y="4256532"/>
            <a:ext cx="64008" cy="1970532"/>
          </a:xfrm>
          <a:prstGeom prst="rect">
            <a:avLst/>
          </a:prstGeom>
          <a:solidFill>
            <a:srgbClr val="0A6648"/>
          </a:solidFill>
          <a:ln w="12700">
            <a:solidFill>
              <a:srgbClr val="0A6648"/>
            </a:solidFill>
            <a:prstDash val="solid"/>
          </a:ln>
        </p:spPr>
      </p:sp>
      <p:sp>
        <p:nvSpPr>
          <p:cNvPr id="38" name="Shape 36"/>
          <p:cNvSpPr/>
          <p:nvPr/>
        </p:nvSpPr>
        <p:spPr>
          <a:xfrm>
            <a:off x="3601136" y="4311396"/>
            <a:ext cx="566928" cy="566928"/>
          </a:xfrm>
          <a:prstGeom prst="ellipse">
            <a:avLst/>
          </a:prstGeom>
          <a:solidFill>
            <a:srgbClr val="E1F1EA"/>
          </a:solidFill>
          <a:ln w="12700">
            <a:solidFill>
              <a:srgbClr val="E1F1EA"/>
            </a:solidFill>
            <a:prstDash val="solid"/>
          </a:ln>
        </p:spPr>
      </p:sp>
      <p:sp>
        <p:nvSpPr>
          <p:cNvPr id="39" name="Icono ship-wheel"/>
          <p:cNvSpPr/>
          <p:nvPr/>
        </p:nvSpPr>
        <p:spPr>
          <a:xfrm>
            <a:off x="3737199" y="4447459"/>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40" name="Text 38"/>
          <p:cNvSpPr/>
          <p:nvPr/>
        </p:nvSpPr>
        <p:spPr>
          <a:xfrm>
            <a:off x="431436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Kubernetes</a:t>
            </a:r>
            <a:endParaRPr lang="en-US" sz="1500" dirty="0"/>
          </a:p>
        </p:txBody>
      </p:sp>
      <p:sp>
        <p:nvSpPr>
          <p:cNvPr id="41" name="Text 39"/>
          <p:cNvSpPr/>
          <p:nvPr/>
        </p:nvSpPr>
        <p:spPr>
          <a:xfrm>
            <a:off x="365600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Administra esos paquetes: los arranca, los vigila y los reinicia si fallan.</a:t>
            </a:r>
            <a:endParaRPr lang="en-US" sz="1300" dirty="0"/>
          </a:p>
        </p:txBody>
      </p:sp>
      <p:sp>
        <p:nvSpPr>
          <p:cNvPr id="42" name="Shape 40"/>
          <p:cNvSpPr/>
          <p:nvPr/>
        </p:nvSpPr>
        <p:spPr>
          <a:xfrm>
            <a:off x="6187288"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3" name="Shape 41"/>
          <p:cNvSpPr/>
          <p:nvPr/>
        </p:nvSpPr>
        <p:spPr>
          <a:xfrm>
            <a:off x="6187288" y="4256532"/>
            <a:ext cx="64008" cy="1970532"/>
          </a:xfrm>
          <a:prstGeom prst="rect">
            <a:avLst/>
          </a:prstGeom>
          <a:solidFill>
            <a:srgbClr val="0A6648"/>
          </a:solidFill>
          <a:ln w="12700">
            <a:solidFill>
              <a:srgbClr val="0A6648"/>
            </a:solidFill>
            <a:prstDash val="solid"/>
          </a:ln>
        </p:spPr>
      </p:sp>
      <p:sp>
        <p:nvSpPr>
          <p:cNvPr id="44" name="Shape 42"/>
          <p:cNvSpPr/>
          <p:nvPr/>
        </p:nvSpPr>
        <p:spPr>
          <a:xfrm>
            <a:off x="6388456" y="4311396"/>
            <a:ext cx="566928" cy="566928"/>
          </a:xfrm>
          <a:prstGeom prst="ellipse">
            <a:avLst/>
          </a:prstGeom>
          <a:solidFill>
            <a:srgbClr val="E1F1EA"/>
          </a:solidFill>
          <a:ln w="12700">
            <a:solidFill>
              <a:srgbClr val="E1F1EA"/>
            </a:solidFill>
            <a:prstDash val="solid"/>
          </a:ln>
        </p:spPr>
      </p:sp>
      <p:sp>
        <p:nvSpPr>
          <p:cNvPr id="45" name="Icono workflow"/>
          <p:cNvSpPr/>
          <p:nvPr/>
        </p:nvSpPr>
        <p:spPr>
          <a:xfrm>
            <a:off x="6524518" y="4447459"/>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46" name="Text 44"/>
          <p:cNvSpPr/>
          <p:nvPr/>
        </p:nvSpPr>
        <p:spPr>
          <a:xfrm>
            <a:off x="7101688"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CI/CD</a:t>
            </a:r>
            <a:endParaRPr lang="en-US" sz="1500" dirty="0"/>
          </a:p>
        </p:txBody>
      </p:sp>
      <p:sp>
        <p:nvSpPr>
          <p:cNvPr id="47" name="Text 45"/>
          <p:cNvSpPr/>
          <p:nvPr/>
        </p:nvSpPr>
        <p:spPr>
          <a:xfrm>
            <a:off x="6443320"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Un robot que compila, prueba y empaqueta cada cambio, sin pasos manuales.</a:t>
            </a:r>
            <a:endParaRPr lang="en-US" sz="1300" dirty="0"/>
          </a:p>
        </p:txBody>
      </p:sp>
      <p:sp>
        <p:nvSpPr>
          <p:cNvPr id="48" name="Shape 46"/>
          <p:cNvSpPr/>
          <p:nvPr/>
        </p:nvSpPr>
        <p:spPr>
          <a:xfrm>
            <a:off x="8974607" y="4128516"/>
            <a:ext cx="2604440"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Shape 47"/>
          <p:cNvSpPr/>
          <p:nvPr/>
        </p:nvSpPr>
        <p:spPr>
          <a:xfrm>
            <a:off x="8974607" y="4256532"/>
            <a:ext cx="64008" cy="1970532"/>
          </a:xfrm>
          <a:prstGeom prst="rect">
            <a:avLst/>
          </a:prstGeom>
          <a:solidFill>
            <a:srgbClr val="8A4B06"/>
          </a:solidFill>
          <a:ln w="12700">
            <a:solidFill>
              <a:srgbClr val="8A4B06"/>
            </a:solidFill>
            <a:prstDash val="solid"/>
          </a:ln>
        </p:spPr>
      </p:sp>
      <p:sp>
        <p:nvSpPr>
          <p:cNvPr id="50" name="Shape 48"/>
          <p:cNvSpPr/>
          <p:nvPr/>
        </p:nvSpPr>
        <p:spPr>
          <a:xfrm>
            <a:off x="9175775" y="4311396"/>
            <a:ext cx="566928" cy="566928"/>
          </a:xfrm>
          <a:prstGeom prst="ellipse">
            <a:avLst/>
          </a:prstGeom>
          <a:solidFill>
            <a:srgbClr val="FCEFD6"/>
          </a:solidFill>
          <a:ln w="12700">
            <a:solidFill>
              <a:srgbClr val="FCEFD6"/>
            </a:solidFill>
            <a:prstDash val="solid"/>
          </a:ln>
        </p:spPr>
      </p:sp>
      <p:sp>
        <p:nvSpPr>
          <p:cNvPr id="51" name="Icono chart-line"/>
          <p:cNvSpPr/>
          <p:nvPr/>
        </p:nvSpPr>
        <p:spPr>
          <a:xfrm>
            <a:off x="9311838" y="4447459"/>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52" name="Text 50"/>
          <p:cNvSpPr/>
          <p:nvPr/>
        </p:nvSpPr>
        <p:spPr>
          <a:xfrm>
            <a:off x="9889007" y="4311396"/>
            <a:ext cx="1552880" cy="566928"/>
          </a:xfrm>
          <a:prstGeom prst="rect">
            <a:avLst/>
          </a:prstGeom>
          <a:noFill/>
          <a:ln/>
        </p:spPr>
        <p:txBody>
          <a:bodyPr wrap="square" lIns="0" tIns="0" rIns="0" bIns="0" rtlCol="0" anchor="ctr">
            <a:normAutofit/>
          </a:bodyPr>
          <a:lstStyle/>
          <a:p>
            <a:pPr algn="l" indent="0" marL="0">
              <a:buNone/>
            </a:pPr>
            <a:r>
              <a:rPr lang="en-US" sz="1500" b="1" dirty="0">
                <a:solidFill>
                  <a:srgbClr val="0B1A3C"/>
                </a:solidFill>
                <a:latin typeface="Segoe UI Semibold" pitchFamily="34" charset="0"/>
                <a:ea typeface="Segoe UI Semibold" pitchFamily="34" charset="-122"/>
                <a:cs typeface="Segoe UI Semibold" pitchFamily="34" charset="-120"/>
              </a:rPr>
              <a:t>Observabilidad</a:t>
            </a:r>
            <a:endParaRPr lang="en-US" sz="1500" dirty="0"/>
          </a:p>
        </p:txBody>
      </p:sp>
      <p:sp>
        <p:nvSpPr>
          <p:cNvPr id="53" name="Text 51"/>
          <p:cNvSpPr/>
          <p:nvPr/>
        </p:nvSpPr>
        <p:spPr>
          <a:xfrm>
            <a:off x="9230639" y="4988052"/>
            <a:ext cx="2192960" cy="1248156"/>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y salud de todo el sistema en un solo lugar.</a:t>
            </a:r>
            <a:endParaRPr lang="en-US" sz="1300" dirty="0"/>
          </a:p>
        </p:txBody>
      </p:sp>
      <p:sp>
        <p:nvSpPr>
          <p:cNvPr id="54" name="Text 5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4" name="Shape 12"/>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5" name="Text 13"/>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6" name="Shape 14"/>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542032" y="1939671"/>
            <a:ext cx="566928" cy="566928"/>
          </a:xfrm>
          <a:prstGeom prst="ellipse">
            <a:avLst/>
          </a:prstGeom>
          <a:solidFill>
            <a:srgbClr val="F1EEFD"/>
          </a:solidFill>
          <a:ln w="12700">
            <a:solidFill>
              <a:srgbClr val="F1EEFD"/>
            </a:solidFill>
            <a:prstDash val="solid"/>
          </a:ln>
        </p:spPr>
      </p:sp>
      <p:sp>
        <p:nvSpPr>
          <p:cNvPr id="18"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9" name="Text 17"/>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20" name="Text 18"/>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1" name="Shape 19"/>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7147408" y="1939671"/>
            <a:ext cx="566928" cy="566928"/>
          </a:xfrm>
          <a:prstGeom prst="ellipse">
            <a:avLst/>
          </a:prstGeom>
          <a:solidFill>
            <a:srgbClr val="F1EEFD"/>
          </a:solidFill>
          <a:ln w="12700">
            <a:solidFill>
              <a:srgbClr val="F1EEFD"/>
            </a:solidFill>
            <a:prstDash val="solid"/>
          </a:ln>
        </p:spPr>
      </p:sp>
      <p:sp>
        <p:nvSpPr>
          <p:cNvPr id="23"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4" name="Text 22"/>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5" name="Text 23"/>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React + nginx · proxy /api</a:t>
            </a:r>
            <a:endParaRPr lang="en-US" sz="1200" dirty="0"/>
          </a:p>
        </p:txBody>
      </p:sp>
      <p:sp>
        <p:nvSpPr>
          <p:cNvPr id="26" name="Shape 24"/>
          <p:cNvSpPr/>
          <p:nvPr/>
        </p:nvSpPr>
        <p:spPr>
          <a:xfrm>
            <a:off x="1412748" y="2708910"/>
            <a:ext cx="0" cy="237744"/>
          </a:xfrm>
          <a:prstGeom prst="line">
            <a:avLst/>
          </a:prstGeom>
          <a:noFill/>
          <a:ln w="31750">
            <a:solidFill>
              <a:srgbClr val="0B2350"/>
            </a:solidFill>
            <a:prstDash val="solid"/>
            <a:tailEnd type="triangle"/>
          </a:ln>
        </p:spPr>
      </p:sp>
      <p:sp>
        <p:nvSpPr>
          <p:cNvPr id="27" name="Shape 25"/>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8" name="Text 26"/>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9" name="Shape 27"/>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2542032" y="3148965"/>
            <a:ext cx="566928" cy="566928"/>
          </a:xfrm>
          <a:prstGeom prst="ellipse">
            <a:avLst/>
          </a:prstGeom>
          <a:solidFill>
            <a:srgbClr val="E8EEF8"/>
          </a:solidFill>
          <a:ln w="12700">
            <a:solidFill>
              <a:srgbClr val="E8EEF8"/>
            </a:solidFill>
            <a:prstDash val="solid"/>
          </a:ln>
        </p:spPr>
      </p:sp>
      <p:sp>
        <p:nvSpPr>
          <p:cNvPr id="31" name="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2" name="Text 30"/>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servicio-solicitudes</a:t>
            </a:r>
            <a:endParaRPr lang="en-US" sz="1300" dirty="0"/>
          </a:p>
        </p:txBody>
      </p:sp>
      <p:sp>
        <p:nvSpPr>
          <p:cNvPr id="33" name="Text 31"/>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4" name="Shape 32"/>
          <p:cNvSpPr/>
          <p:nvPr/>
        </p:nvSpPr>
        <p:spPr>
          <a:xfrm>
            <a:off x="5465978"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5612282" y="3148965"/>
            <a:ext cx="566928" cy="566928"/>
          </a:xfrm>
          <a:prstGeom prst="ellipse">
            <a:avLst/>
          </a:prstGeom>
          <a:solidFill>
            <a:srgbClr val="E3F4FA"/>
          </a:solidFill>
          <a:ln w="12700">
            <a:solidFill>
              <a:srgbClr val="E3F4FA"/>
            </a:solidFill>
            <a:prstDash val="solid"/>
          </a:ln>
        </p:spPr>
      </p:sp>
      <p:sp>
        <p:nvSpPr>
          <p:cNvPr id="36" name="Icono send"/>
          <p:cNvSpPr/>
          <p:nvPr/>
        </p:nvSpPr>
        <p:spPr>
          <a:xfrm>
            <a:off x="5748345" y="3285028"/>
            <a:ext cx="294803" cy="294803"/>
          </a:xfrm>
          <a:custGeom>
            <a:avLst/>
            <a:gdLst/>
            <a:ahLst/>
            <a:cxnLst/>
            <a:rect l="l" t="t" r="r" b="b"/>
            <a:pathLst>
              <a:path w="294803" h="294803">
                <a:moveTo>
                  <a:pt x="178552" y="266379"/>
                </a:moveTo>
                <a:cubicBezTo>
                  <a:pt x="179508" y="268761"/>
                  <a:pt x="181844" y="270297"/>
                  <a:pt x="184409" y="270231"/>
                </a:cubicBezTo>
                <a:cubicBezTo>
                  <a:pt x="186975" y="270166"/>
                  <a:pt x="189229" y="268512"/>
                  <a:pt x="190062" y="266084"/>
                </a:cubicBezTo>
                <a:lnTo>
                  <a:pt x="269904" y="32699"/>
                </a:lnTo>
                <a:cubicBezTo>
                  <a:pt x="270707" y="30477"/>
                  <a:pt x="270152" y="27991"/>
                  <a:pt x="268482" y="26321"/>
                </a:cubicBezTo>
                <a:cubicBezTo>
                  <a:pt x="266811" y="24650"/>
                  <a:pt x="264326" y="24096"/>
                  <a:pt x="262104" y="24899"/>
                </a:cubicBezTo>
                <a:lnTo>
                  <a:pt x="28719" y="104741"/>
                </a:lnTo>
                <a:cubicBezTo>
                  <a:pt x="26291" y="105573"/>
                  <a:pt x="24637" y="107828"/>
                  <a:pt x="24571" y="110393"/>
                </a:cubicBezTo>
                <a:cubicBezTo>
                  <a:pt x="24506" y="112959"/>
                  <a:pt x="26042" y="115295"/>
                  <a:pt x="28424" y="116250"/>
                </a:cubicBezTo>
                <a:lnTo>
                  <a:pt x="125832" y="155312"/>
                </a:lnTo>
                <a:cubicBezTo>
                  <a:pt x="132054" y="157803"/>
                  <a:pt x="136988" y="162729"/>
                  <a:pt x="139491" y="168946"/>
                </a:cubicBezTo>
                <a:close/>
                <a:moveTo>
                  <a:pt x="268442" y="26373"/>
                </a:moveTo>
                <a:lnTo>
                  <a:pt x="134061" y="160741"/>
                </a:lnTo>
              </a:path>
            </a:pathLst>
          </a:custGeom>
          <a:noFill/>
          <a:ln w="24567" cap="rnd">
            <a:solidFill>
              <a:srgbClr val="0B6E8A"/>
            </a:solidFill>
            <a:prstDash val="solid"/>
            <a:round/>
          </a:ln>
        </p:spPr>
      </p:sp>
      <p:sp>
        <p:nvSpPr>
          <p:cNvPr id="37" name="Text 35"/>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250" b="1" dirty="0">
                <a:solidFill>
                  <a:srgbClr val="0B6E8A"/>
                </a:solidFill>
                <a:latin typeface="Segoe UI Semibold" pitchFamily="34" charset="0"/>
                <a:ea typeface="Segoe UI Semibold" pitchFamily="34" charset="-122"/>
                <a:cs typeface="Segoe UI Semibold" pitchFamily="34" charset="-120"/>
              </a:rPr>
              <a:t>Evento SolicitudEnviada</a:t>
            </a:r>
            <a:endParaRPr lang="en-US" sz="1250" dirty="0"/>
          </a:p>
        </p:txBody>
      </p:sp>
      <p:sp>
        <p:nvSpPr>
          <p:cNvPr id="38" name="Text 36"/>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Por HTTP, con su eventoId</a:t>
            </a:r>
            <a:endParaRPr lang="en-US" sz="1150" dirty="0"/>
          </a:p>
        </p:txBody>
      </p:sp>
      <p:sp>
        <p:nvSpPr>
          <p:cNvPr id="39" name="Shape 37"/>
          <p:cNvSpPr/>
          <p:nvPr/>
        </p:nvSpPr>
        <p:spPr>
          <a:xfrm>
            <a:off x="8536229" y="3019806"/>
            <a:ext cx="2905658"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8682533" y="3148965"/>
            <a:ext cx="566928" cy="566928"/>
          </a:xfrm>
          <a:prstGeom prst="ellipse">
            <a:avLst/>
          </a:prstGeom>
          <a:solidFill>
            <a:srgbClr val="E3F4FA"/>
          </a:solidFill>
          <a:ln w="12700">
            <a:solidFill>
              <a:srgbClr val="E3F4FA"/>
            </a:solidFill>
            <a:prstDash val="solid"/>
          </a:ln>
        </p:spPr>
      </p:sp>
      <p:sp>
        <p:nvSpPr>
          <p:cNvPr id="41" name="Icono bell"/>
          <p:cNvSpPr/>
          <p:nvPr/>
        </p:nvSpPr>
        <p:spPr>
          <a:xfrm>
            <a:off x="8818596"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42" name="Text 40"/>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150" b="1" dirty="0">
                <a:solidFill>
                  <a:srgbClr val="0B6E8A"/>
                </a:solidFill>
                <a:latin typeface="Segoe UI Semibold" pitchFamily="34" charset="0"/>
                <a:ea typeface="Segoe UI Semibold" pitchFamily="34" charset="-122"/>
                <a:cs typeface="Segoe UI Semibold" pitchFamily="34" charset="-120"/>
              </a:rPr>
              <a:t>servicio-notificaciones</a:t>
            </a:r>
            <a:endParaRPr lang="en-US" sz="1150" dirty="0"/>
          </a:p>
        </p:txBody>
      </p:sp>
      <p:sp>
        <p:nvSpPr>
          <p:cNvPr id="43" name="Text 41"/>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Los avisos, sin duplicados</a:t>
            </a:r>
            <a:endParaRPr lang="en-US" sz="1100" dirty="0"/>
          </a:p>
        </p:txBody>
      </p:sp>
      <p:sp>
        <p:nvSpPr>
          <p:cNvPr id="44" name="Shape 42"/>
          <p:cNvSpPr/>
          <p:nvPr/>
        </p:nvSpPr>
        <p:spPr>
          <a:xfrm>
            <a:off x="1412748" y="3918204"/>
            <a:ext cx="0" cy="237744"/>
          </a:xfrm>
          <a:prstGeom prst="line">
            <a:avLst/>
          </a:prstGeom>
          <a:noFill/>
          <a:ln w="31750">
            <a:solidFill>
              <a:srgbClr val="0B2350"/>
            </a:solidFill>
            <a:prstDash val="solid"/>
            <a:tailEnd type="triangle"/>
          </a:ln>
        </p:spPr>
      </p:sp>
      <p:sp>
        <p:nvSpPr>
          <p:cNvPr id="45" name="Shape 43"/>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6" name="Text 44"/>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7" name="Shape 45"/>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8" name="Shape 46"/>
          <p:cNvSpPr/>
          <p:nvPr/>
        </p:nvSpPr>
        <p:spPr>
          <a:xfrm>
            <a:off x="2542032" y="4358259"/>
            <a:ext cx="566928" cy="566928"/>
          </a:xfrm>
          <a:prstGeom prst="ellipse">
            <a:avLst/>
          </a:prstGeom>
          <a:solidFill>
            <a:srgbClr val="F4F7FB"/>
          </a:solidFill>
          <a:ln w="12700">
            <a:solidFill>
              <a:srgbClr val="F4F7FB"/>
            </a:solidFill>
            <a:prstDash val="solid"/>
          </a:ln>
        </p:spPr>
      </p:sp>
      <p:sp>
        <p:nvSpPr>
          <p:cNvPr id="49" name="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0" name="Text 48"/>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51" name="Text 49"/>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52" name="Shape 50"/>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7147408" y="4358259"/>
            <a:ext cx="566928" cy="566928"/>
          </a:xfrm>
          <a:prstGeom prst="ellipse">
            <a:avLst/>
          </a:prstGeom>
          <a:solidFill>
            <a:srgbClr val="F4F7FB"/>
          </a:solidFill>
          <a:ln w="12700">
            <a:solidFill>
              <a:srgbClr val="F4F7FB"/>
            </a:solidFill>
            <a:prstDash val="solid"/>
          </a:ln>
        </p:spPr>
      </p:sp>
      <p:sp>
        <p:nvSpPr>
          <p:cNvPr id="54" name="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55" name="Text 53"/>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6" name="Text 54"/>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7" name="Shape 55"/>
          <p:cNvSpPr/>
          <p:nvPr/>
        </p:nvSpPr>
        <p:spPr>
          <a:xfrm>
            <a:off x="1412748" y="5127498"/>
            <a:ext cx="0" cy="237744"/>
          </a:xfrm>
          <a:prstGeom prst="line">
            <a:avLst/>
          </a:prstGeom>
          <a:noFill/>
          <a:ln w="31750">
            <a:solidFill>
              <a:srgbClr val="0B2350"/>
            </a:solidFill>
            <a:prstDash val="solid"/>
            <a:tailEnd type="triangle"/>
          </a:ln>
        </p:spPr>
      </p:sp>
      <p:sp>
        <p:nvSpPr>
          <p:cNvPr id="58" name="Shape 56"/>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9" name="Text 57"/>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60" name="Shape 58"/>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1" name="Shape 59"/>
          <p:cNvSpPr/>
          <p:nvPr/>
        </p:nvSpPr>
        <p:spPr>
          <a:xfrm>
            <a:off x="2542032" y="5567553"/>
            <a:ext cx="566928" cy="566928"/>
          </a:xfrm>
          <a:prstGeom prst="ellipse">
            <a:avLst/>
          </a:prstGeom>
          <a:solidFill>
            <a:srgbClr val="E1F1EA"/>
          </a:solidFill>
          <a:ln w="12700">
            <a:solidFill>
              <a:srgbClr val="E1F1EA"/>
            </a:solidFill>
            <a:prstDash val="solid"/>
          </a:ln>
        </p:spPr>
      </p:sp>
      <p:sp>
        <p:nvSpPr>
          <p:cNvPr id="62" name="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63" name="Text 61"/>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64" name="Text 62"/>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65" name="Shape 63"/>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6" name="Shape 64"/>
          <p:cNvSpPr/>
          <p:nvPr/>
        </p:nvSpPr>
        <p:spPr>
          <a:xfrm>
            <a:off x="5612282" y="5567553"/>
            <a:ext cx="566928" cy="566928"/>
          </a:xfrm>
          <a:prstGeom prst="ellipse">
            <a:avLst/>
          </a:prstGeom>
          <a:solidFill>
            <a:srgbClr val="E1F1EA"/>
          </a:solidFill>
          <a:ln w="12700">
            <a:solidFill>
              <a:srgbClr val="E1F1EA"/>
            </a:solidFill>
            <a:prstDash val="solid"/>
          </a:ln>
        </p:spPr>
      </p:sp>
      <p:sp>
        <p:nvSpPr>
          <p:cNvPr id="67" name="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8" name="Text 66"/>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9" name="Text 67"/>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70" name="Shape 68"/>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71" name="Shape 69"/>
          <p:cNvSpPr/>
          <p:nvPr/>
        </p:nvSpPr>
        <p:spPr>
          <a:xfrm>
            <a:off x="8682533" y="5567553"/>
            <a:ext cx="566928" cy="566928"/>
          </a:xfrm>
          <a:prstGeom prst="ellipse">
            <a:avLst/>
          </a:prstGeom>
          <a:solidFill>
            <a:srgbClr val="FCEFD6"/>
          </a:solidFill>
          <a:ln w="12700">
            <a:solidFill>
              <a:srgbClr val="FCEFD6"/>
            </a:solidFill>
            <a:prstDash val="solid"/>
          </a:ln>
        </p:spPr>
      </p:sp>
      <p:sp>
        <p:nvSpPr>
          <p:cNvPr id="72" name="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73" name="Text 71"/>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74" name="Text 72"/>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75" name="Text 7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ORM: cada clase Java se mapea a una tabla y el SQL de todos los días se genera solo.</a:t>
            </a:r>
            <a:endParaRPr lang="en-US" sz="1700" dirty="0"/>
          </a:p>
        </p:txBody>
      </p:sp>
      <p:sp>
        <p:nvSpPr>
          <p:cNvPr id="14" name="Shape 12"/>
          <p:cNvSpPr/>
          <p:nvPr/>
        </p:nvSpPr>
        <p:spPr>
          <a:xfrm>
            <a:off x="61264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719072"/>
            <a:ext cx="5163160" cy="914400"/>
          </a:xfrm>
          <a:prstGeom prst="roundRect">
            <a:avLst>
              <a:gd name="adj" fmla="val 14000"/>
            </a:avLst>
          </a:prstGeom>
          <a:solidFill>
            <a:srgbClr val="55627E"/>
          </a:solidFill>
          <a:ln w="12700">
            <a:solidFill>
              <a:srgbClr val="55627E"/>
            </a:solidFill>
            <a:prstDash val="solid"/>
          </a:ln>
        </p:spPr>
      </p:sp>
      <p:sp>
        <p:nvSpPr>
          <p:cNvPr id="16" name="Shape 14"/>
          <p:cNvSpPr/>
          <p:nvPr/>
        </p:nvSpPr>
        <p:spPr>
          <a:xfrm>
            <a:off x="612648" y="2267712"/>
            <a:ext cx="5163160" cy="365760"/>
          </a:xfrm>
          <a:prstGeom prst="rect">
            <a:avLst/>
          </a:prstGeom>
          <a:solidFill>
            <a:srgbClr val="55627E"/>
          </a:solidFill>
          <a:ln w="12700">
            <a:solidFill>
              <a:srgbClr val="55627E"/>
            </a:solidFill>
            <a:prstDash val="solid"/>
          </a:ln>
        </p:spPr>
      </p:sp>
      <p:sp>
        <p:nvSpPr>
          <p:cNvPr id="17" name="Shape 15"/>
          <p:cNvSpPr/>
          <p:nvPr/>
        </p:nvSpPr>
        <p:spPr>
          <a:xfrm>
            <a:off x="841248" y="1874520"/>
            <a:ext cx="603504" cy="603504"/>
          </a:xfrm>
          <a:prstGeom prst="ellipse">
            <a:avLst/>
          </a:prstGeom>
          <a:solidFill>
            <a:srgbClr val="FFFFFF"/>
          </a:solidFill>
          <a:ln w="12700">
            <a:solidFill>
              <a:srgbClr val="FFFFFF"/>
            </a:solidFill>
            <a:prstDash val="solid"/>
          </a:ln>
        </p:spPr>
      </p:sp>
      <p:sp>
        <p:nvSpPr>
          <p:cNvPr id="18" name="Icono database"/>
          <p:cNvSpPr/>
          <p:nvPr/>
        </p:nvSpPr>
        <p:spPr>
          <a:xfrm>
            <a:off x="986089" y="2019361"/>
            <a:ext cx="313822" cy="313822"/>
          </a:xfrm>
          <a:custGeom>
            <a:avLst/>
            <a:gdLst/>
            <a:ahLst/>
            <a:cxnLst/>
            <a:rect l="l" t="t" r="r" b="b"/>
            <a:pathLst>
              <a:path w="313822" h="313822">
                <a:moveTo>
                  <a:pt x="274594" y="65380"/>
                </a:moveTo>
                <a:cubicBezTo>
                  <a:pt x="274594" y="87044"/>
                  <a:pt x="221906" y="104607"/>
                  <a:pt x="156911" y="104607"/>
                </a:cubicBezTo>
                <a:cubicBezTo>
                  <a:pt x="91916" y="104607"/>
                  <a:pt x="39228" y="87044"/>
                  <a:pt x="39228" y="65380"/>
                </a:cubicBezTo>
                <a:cubicBezTo>
                  <a:pt x="39228" y="43715"/>
                  <a:pt x="91916" y="26152"/>
                  <a:pt x="156911" y="26152"/>
                </a:cubicBezTo>
                <a:cubicBezTo>
                  <a:pt x="221906" y="26152"/>
                  <a:pt x="274594" y="43715"/>
                  <a:pt x="274594" y="65380"/>
                </a:cubicBezTo>
                <a:close/>
                <a:moveTo>
                  <a:pt x="39228" y="65380"/>
                </a:moveTo>
                <a:lnTo>
                  <a:pt x="39228" y="248442"/>
                </a:lnTo>
                <a:cubicBezTo>
                  <a:pt x="39228" y="270107"/>
                  <a:pt x="91916" y="287670"/>
                  <a:pt x="156911" y="287670"/>
                </a:cubicBezTo>
                <a:cubicBezTo>
                  <a:pt x="221906" y="287670"/>
                  <a:pt x="274594" y="270107"/>
                  <a:pt x="274594" y="248442"/>
                </a:cubicBezTo>
                <a:lnTo>
                  <a:pt x="274594" y="65380"/>
                </a:lnTo>
                <a:moveTo>
                  <a:pt x="39228" y="156911"/>
                </a:moveTo>
                <a:cubicBezTo>
                  <a:pt x="39228" y="178576"/>
                  <a:pt x="91916" y="196139"/>
                  <a:pt x="156911" y="196139"/>
                </a:cubicBezTo>
                <a:cubicBezTo>
                  <a:pt x="221906" y="196139"/>
                  <a:pt x="274594" y="178576"/>
                  <a:pt x="274594" y="156911"/>
                </a:cubicBezTo>
              </a:path>
            </a:pathLst>
          </a:custGeom>
          <a:noFill/>
          <a:ln w="26152" cap="rnd">
            <a:solidFill>
              <a:srgbClr val="55627E"/>
            </a:solidFill>
            <a:prstDash val="solid"/>
            <a:round/>
          </a:ln>
        </p:spPr>
      </p:sp>
      <p:sp>
        <p:nvSpPr>
          <p:cNvPr id="19" name="Text 17"/>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procedimientos almacenados</a:t>
            </a:r>
            <a:endParaRPr lang="en-US" sz="1900" dirty="0"/>
          </a:p>
        </p:txBody>
      </p:sp>
      <p:sp>
        <p:nvSpPr>
          <p:cNvPr id="20" name="Icono arrow-right"/>
          <p:cNvSpPr/>
          <p:nvPr/>
        </p:nvSpPr>
        <p:spPr>
          <a:xfrm>
            <a:off x="905256" y="30232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1" name="Text 19"/>
          <p:cNvSpPr/>
          <p:nvPr/>
        </p:nvSpPr>
        <p:spPr>
          <a:xfrm>
            <a:off x="139903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la base: EXEC sp_enviar</a:t>
            </a:r>
            <a:endParaRPr lang="en-US" sz="1500" dirty="0"/>
          </a:p>
        </p:txBody>
      </p:sp>
      <p:sp>
        <p:nvSpPr>
          <p:cNvPr id="22" name="Shape 20"/>
          <p:cNvSpPr/>
          <p:nvPr/>
        </p:nvSpPr>
        <p:spPr>
          <a:xfrm>
            <a:off x="886968" y="3559302"/>
            <a:ext cx="4614520" cy="0"/>
          </a:xfrm>
          <a:prstGeom prst="line">
            <a:avLst/>
          </a:prstGeom>
          <a:noFill/>
          <a:ln w="9525">
            <a:solidFill>
              <a:srgbClr val="DFE6F0"/>
            </a:solidFill>
            <a:prstDash val="solid"/>
          </a:ln>
        </p:spPr>
      </p:sp>
      <p:sp>
        <p:nvSpPr>
          <p:cNvPr id="23" name="Icono arrow-right"/>
          <p:cNvSpPr/>
          <p:nvPr/>
        </p:nvSpPr>
        <p:spPr>
          <a:xfrm>
            <a:off x="905256" y="37661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4" name="Text 22"/>
          <p:cNvSpPr/>
          <p:nvPr/>
        </p:nvSpPr>
        <p:spPr>
          <a:xfrm>
            <a:off x="139903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una regla es cambiar la base</a:t>
            </a:r>
            <a:endParaRPr lang="en-US" sz="1500" dirty="0"/>
          </a:p>
        </p:txBody>
      </p:sp>
      <p:sp>
        <p:nvSpPr>
          <p:cNvPr id="25" name="Shape 23"/>
          <p:cNvSpPr/>
          <p:nvPr/>
        </p:nvSpPr>
        <p:spPr>
          <a:xfrm>
            <a:off x="886968" y="4302252"/>
            <a:ext cx="4614520" cy="0"/>
          </a:xfrm>
          <a:prstGeom prst="line">
            <a:avLst/>
          </a:prstGeom>
          <a:noFill/>
          <a:ln w="9525">
            <a:solidFill>
              <a:srgbClr val="DFE6F0"/>
            </a:solidFill>
            <a:prstDash val="solid"/>
          </a:ln>
        </p:spPr>
      </p:sp>
      <p:sp>
        <p:nvSpPr>
          <p:cNvPr id="26" name="Icono arrow-right"/>
          <p:cNvSpPr/>
          <p:nvPr/>
        </p:nvSpPr>
        <p:spPr>
          <a:xfrm>
            <a:off x="905256" y="450913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27" name="Text 25"/>
          <p:cNvSpPr/>
          <p:nvPr/>
        </p:nvSpPr>
        <p:spPr>
          <a:xfrm>
            <a:off x="139903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Para probar hace falta la base con datos</a:t>
            </a:r>
            <a:endParaRPr lang="en-US" sz="1500" dirty="0"/>
          </a:p>
        </p:txBody>
      </p:sp>
      <p:sp>
        <p:nvSpPr>
          <p:cNvPr id="28" name="Shape 26"/>
          <p:cNvSpPr/>
          <p:nvPr/>
        </p:nvSpPr>
        <p:spPr>
          <a:xfrm>
            <a:off x="886968" y="5045202"/>
            <a:ext cx="4614520" cy="0"/>
          </a:xfrm>
          <a:prstGeom prst="line">
            <a:avLst/>
          </a:prstGeom>
          <a:noFill/>
          <a:ln w="9525">
            <a:solidFill>
              <a:srgbClr val="DFE6F0"/>
            </a:solidFill>
            <a:prstDash val="solid"/>
          </a:ln>
        </p:spPr>
      </p:sp>
      <p:sp>
        <p:nvSpPr>
          <p:cNvPr id="29" name="Icono arrow-right"/>
          <p:cNvSpPr/>
          <p:nvPr/>
        </p:nvSpPr>
        <p:spPr>
          <a:xfrm>
            <a:off x="905256" y="5252085"/>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55627E"/>
            </a:solidFill>
            <a:prstDash val="solid"/>
            <a:round/>
          </a:ln>
        </p:spPr>
      </p:sp>
      <p:sp>
        <p:nvSpPr>
          <p:cNvPr id="30" name="Text 28"/>
          <p:cNvSpPr/>
          <p:nvPr/>
        </p:nvSpPr>
        <p:spPr>
          <a:xfrm>
            <a:off x="139903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Atado a un motor: T-SQL o PL/SQL</a:t>
            </a:r>
            <a:endParaRPr lang="en-US" sz="1500" dirty="0"/>
          </a:p>
        </p:txBody>
      </p:sp>
      <p:sp>
        <p:nvSpPr>
          <p:cNvPr id="31" name="Shape 29"/>
          <p:cNvSpPr/>
          <p:nvPr/>
        </p:nvSpPr>
        <p:spPr>
          <a:xfrm>
            <a:off x="6415888" y="1719072"/>
            <a:ext cx="5163160" cy="4114800"/>
          </a:xfrm>
          <a:prstGeom prst="roundRect">
            <a:avLst>
              <a:gd name="adj" fmla="val 311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Shape 31"/>
          <p:cNvSpPr/>
          <p:nvPr/>
        </p:nvSpPr>
        <p:spPr>
          <a:xfrm>
            <a:off x="6415888" y="2267712"/>
            <a:ext cx="5163160" cy="365760"/>
          </a:xfrm>
          <a:prstGeom prst="rect">
            <a:avLst/>
          </a:prstGeom>
          <a:solidFill>
            <a:srgbClr val="0B6E8A"/>
          </a:solidFill>
          <a:ln w="12700">
            <a:solidFill>
              <a:srgbClr val="0B6E8A"/>
            </a:solidFill>
            <a:prstDash val="solid"/>
          </a:ln>
        </p:spPr>
      </p:sp>
      <p:sp>
        <p:nvSpPr>
          <p:cNvPr id="34" name="Shape 32"/>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Icono code"/>
          <p:cNvSpPr/>
          <p:nvPr/>
        </p:nvSpPr>
        <p:spPr>
          <a:xfrm>
            <a:off x="6789329" y="2019361"/>
            <a:ext cx="313822" cy="313822"/>
          </a:xfrm>
          <a:custGeom>
            <a:avLst/>
            <a:gdLst/>
            <a:ahLst/>
            <a:cxnLst/>
            <a:rect l="l" t="t" r="r" b="b"/>
            <a:pathLst>
              <a:path w="313822" h="313822">
                <a:moveTo>
                  <a:pt x="209215" y="235367"/>
                </a:moveTo>
                <a:lnTo>
                  <a:pt x="287670" y="156911"/>
                </a:lnTo>
                <a:lnTo>
                  <a:pt x="209215" y="78456"/>
                </a:lnTo>
                <a:moveTo>
                  <a:pt x="104607" y="78456"/>
                </a:moveTo>
                <a:lnTo>
                  <a:pt x="26152" y="156911"/>
                </a:lnTo>
                <a:lnTo>
                  <a:pt x="104607" y="235367"/>
                </a:lnTo>
              </a:path>
            </a:pathLst>
          </a:custGeom>
          <a:noFill/>
          <a:ln w="26152" cap="rnd">
            <a:solidFill>
              <a:srgbClr val="0B6E8A"/>
            </a:solidFill>
            <a:prstDash val="solid"/>
            <a:round/>
          </a:ln>
        </p:spPr>
      </p:sp>
      <p:sp>
        <p:nvSpPr>
          <p:cNvPr id="36" name="Text 34"/>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Con un ORM: JPA + Hibernate</a:t>
            </a:r>
            <a:endParaRPr lang="en-US" sz="1900" dirty="0"/>
          </a:p>
        </p:txBody>
      </p:sp>
      <p:sp>
        <p:nvSpPr>
          <p:cNvPr id="37" name="Icono circle-check"/>
          <p:cNvSpPr/>
          <p:nvPr/>
        </p:nvSpPr>
        <p:spPr>
          <a:xfrm>
            <a:off x="6708496" y="30232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Text 36"/>
          <p:cNvSpPr/>
          <p:nvPr/>
        </p:nvSpPr>
        <p:spPr>
          <a:xfrm>
            <a:off x="7202272" y="28163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regla vive en Java, en el dominio</a:t>
            </a:r>
            <a:endParaRPr lang="en-US" sz="1500" dirty="0"/>
          </a:p>
        </p:txBody>
      </p:sp>
      <p:sp>
        <p:nvSpPr>
          <p:cNvPr id="39" name="Shape 37"/>
          <p:cNvSpPr/>
          <p:nvPr/>
        </p:nvSpPr>
        <p:spPr>
          <a:xfrm>
            <a:off x="6690208" y="3559302"/>
            <a:ext cx="4614520" cy="0"/>
          </a:xfrm>
          <a:prstGeom prst="line">
            <a:avLst/>
          </a:prstGeom>
          <a:noFill/>
          <a:ln w="9525">
            <a:solidFill>
              <a:srgbClr val="DFE6F0"/>
            </a:solidFill>
            <a:prstDash val="solid"/>
          </a:ln>
        </p:spPr>
      </p:sp>
      <p:sp>
        <p:nvSpPr>
          <p:cNvPr id="40" name="Icono circle-check"/>
          <p:cNvSpPr/>
          <p:nvPr/>
        </p:nvSpPr>
        <p:spPr>
          <a:xfrm>
            <a:off x="6708496" y="37661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Text 39"/>
          <p:cNvSpPr/>
          <p:nvPr/>
        </p:nvSpPr>
        <p:spPr>
          <a:xfrm>
            <a:off x="7202272" y="35593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Hibernate genera el SQL de guardar y buscar</a:t>
            </a:r>
            <a:endParaRPr lang="en-US" sz="1500" dirty="0"/>
          </a:p>
        </p:txBody>
      </p:sp>
      <p:sp>
        <p:nvSpPr>
          <p:cNvPr id="42" name="Shape 40"/>
          <p:cNvSpPr/>
          <p:nvPr/>
        </p:nvSpPr>
        <p:spPr>
          <a:xfrm>
            <a:off x="6690208" y="4302252"/>
            <a:ext cx="4614520" cy="0"/>
          </a:xfrm>
          <a:prstGeom prst="line">
            <a:avLst/>
          </a:prstGeom>
          <a:noFill/>
          <a:ln w="9525">
            <a:solidFill>
              <a:srgbClr val="DFE6F0"/>
            </a:solidFill>
            <a:prstDash val="solid"/>
          </a:ln>
        </p:spPr>
      </p:sp>
      <p:sp>
        <p:nvSpPr>
          <p:cNvPr id="43" name="Icono circle-check"/>
          <p:cNvSpPr/>
          <p:nvPr/>
        </p:nvSpPr>
        <p:spPr>
          <a:xfrm>
            <a:off x="6708496" y="450913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Text 42"/>
          <p:cNvSpPr/>
          <p:nvPr/>
        </p:nvSpPr>
        <p:spPr>
          <a:xfrm>
            <a:off x="7202272" y="430225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Las reglas se prueban sin base, en milisegundos</a:t>
            </a:r>
            <a:endParaRPr lang="en-US" sz="1500" dirty="0"/>
          </a:p>
        </p:txBody>
      </p:sp>
      <p:sp>
        <p:nvSpPr>
          <p:cNvPr id="45" name="Shape 43"/>
          <p:cNvSpPr/>
          <p:nvPr/>
        </p:nvSpPr>
        <p:spPr>
          <a:xfrm>
            <a:off x="6690208" y="5045202"/>
            <a:ext cx="4614520" cy="0"/>
          </a:xfrm>
          <a:prstGeom prst="line">
            <a:avLst/>
          </a:prstGeom>
          <a:noFill/>
          <a:ln w="9525">
            <a:solidFill>
              <a:srgbClr val="DFE6F0"/>
            </a:solidFill>
            <a:prstDash val="solid"/>
          </a:ln>
        </p:spPr>
      </p:sp>
      <p:sp>
        <p:nvSpPr>
          <p:cNvPr id="46" name="Icono circle-check"/>
          <p:cNvSpPr/>
          <p:nvPr/>
        </p:nvSpPr>
        <p:spPr>
          <a:xfrm>
            <a:off x="6708496" y="5252085"/>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7" name="Text 45"/>
          <p:cNvSpPr/>
          <p:nvPr/>
        </p:nvSpPr>
        <p:spPr>
          <a:xfrm>
            <a:off x="7202272" y="5045202"/>
            <a:ext cx="4157320" cy="74295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Cambiar de motor no toca las reglas</a:t>
            </a:r>
            <a:endParaRPr lang="en-US" sz="1500" dirty="0"/>
          </a:p>
        </p:txBody>
      </p:sp>
      <p:sp>
        <p:nvSpPr>
          <p:cNvPr id="48" name="Text 46"/>
          <p:cNvSpPr/>
          <p:nvPr/>
        </p:nvSpPr>
        <p:spPr>
          <a:xfrm>
            <a:off x="5766664" y="344728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Guardar primero, avisar después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a:t>
            </a:r>
            <a:endParaRPr lang="en-US" sz="1700" dirty="0"/>
          </a:p>
        </p:txBody>
      </p:sp>
      <p:sp>
        <p:nvSpPr>
          <p:cNvPr id="14" name="Shape 12"/>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285232"/>
            <a:ext cx="438912" cy="438912"/>
          </a:xfrm>
          <a:prstGeom prst="ellipse">
            <a:avLst/>
          </a:prstGeom>
          <a:solidFill>
            <a:srgbClr val="FFFFFF"/>
          </a:solidFill>
          <a:ln w="12700">
            <a:solidFill>
              <a:srgbClr val="FFFFFF"/>
            </a:solidFill>
            <a:prstDash val="solid"/>
          </a:ln>
        </p:spPr>
      </p:sp>
      <p:sp>
        <p:nvSpPr>
          <p:cNvPr id="16"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7" name="Text 15"/>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8" name="Shape 16"/>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20" name="Text 18"/>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2" name="Text 20"/>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3" name="Shape 21"/>
          <p:cNvSpPr/>
          <p:nvPr/>
        </p:nvSpPr>
        <p:spPr>
          <a:xfrm>
            <a:off x="2431504" y="2185416"/>
            <a:ext cx="1845488" cy="0"/>
          </a:xfrm>
          <a:prstGeom prst="line">
            <a:avLst/>
          </a:prstGeom>
          <a:noFill/>
          <a:ln w="38100">
            <a:solidFill>
              <a:srgbClr val="2BA6CB"/>
            </a:solidFill>
            <a:prstDash val="solid"/>
            <a:tailEnd type="triangle"/>
          </a:ln>
        </p:spPr>
      </p:sp>
      <p:sp>
        <p:nvSpPr>
          <p:cNvPr id="24" name="Shape 22"/>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6" name="Text 24"/>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8" name="Text 26"/>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9" name="Shape 27"/>
          <p:cNvSpPr/>
          <p:nvPr/>
        </p:nvSpPr>
        <p:spPr>
          <a:xfrm>
            <a:off x="5173104" y="2185416"/>
            <a:ext cx="1845488" cy="0"/>
          </a:xfrm>
          <a:prstGeom prst="line">
            <a:avLst/>
          </a:prstGeom>
          <a:noFill/>
          <a:ln w="38100">
            <a:solidFill>
              <a:srgbClr val="2BA6CB"/>
            </a:solidFill>
            <a:prstDash val="solid"/>
            <a:tailEnd type="triangle"/>
          </a:ln>
        </p:spPr>
      </p:sp>
      <p:sp>
        <p:nvSpPr>
          <p:cNvPr id="30" name="Shape 28"/>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2" name="Text 30"/>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4" name="Text 32"/>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5" name="Shape 33"/>
          <p:cNvSpPr/>
          <p:nvPr/>
        </p:nvSpPr>
        <p:spPr>
          <a:xfrm>
            <a:off x="7914704" y="2185416"/>
            <a:ext cx="1845488" cy="0"/>
          </a:xfrm>
          <a:prstGeom prst="line">
            <a:avLst/>
          </a:prstGeom>
          <a:noFill/>
          <a:ln w="38100">
            <a:solidFill>
              <a:srgbClr val="2BA6CB"/>
            </a:solidFill>
            <a:prstDash val="solid"/>
            <a:tailEnd type="triangle"/>
          </a:ln>
        </p:spPr>
      </p:sp>
      <p:sp>
        <p:nvSpPr>
          <p:cNvPr id="36" name="Shape 34"/>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8" name="Text 36"/>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40" name="Text 38"/>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1" name="Shape 39"/>
          <p:cNvSpPr/>
          <p:nvPr/>
        </p:nvSpPr>
        <p:spPr>
          <a:xfrm>
            <a:off x="7466648" y="3602736"/>
            <a:ext cx="0" cy="955548"/>
          </a:xfrm>
          <a:prstGeom prst="line">
            <a:avLst/>
          </a:prstGeom>
          <a:noFill/>
          <a:ln w="25400">
            <a:solidFill>
              <a:srgbClr val="8A4B06"/>
            </a:solidFill>
            <a:prstDash val="dash"/>
          </a:ln>
        </p:spPr>
      </p:sp>
      <p:sp>
        <p:nvSpPr>
          <p:cNvPr id="42" name="Shape 40"/>
          <p:cNvSpPr/>
          <p:nvPr/>
        </p:nvSpPr>
        <p:spPr>
          <a:xfrm flipH="1">
            <a:off x="7372807" y="4558284"/>
            <a:ext cx="93840" cy="0"/>
          </a:xfrm>
          <a:prstGeom prst="line">
            <a:avLst/>
          </a:prstGeom>
          <a:noFill/>
          <a:ln w="25400">
            <a:solidFill>
              <a:srgbClr val="8A4B06"/>
            </a:solidFill>
            <a:prstDash val="dash"/>
            <a:tailEnd type="triangle"/>
          </a:ln>
        </p:spPr>
      </p:sp>
      <p:sp>
        <p:nvSpPr>
          <p:cNvPr id="43" name="Text 41"/>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4" name="Shape 42"/>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5" name="Shape 43"/>
          <p:cNvSpPr/>
          <p:nvPr/>
        </p:nvSpPr>
        <p:spPr>
          <a:xfrm>
            <a:off x="7537399" y="4279392"/>
            <a:ext cx="548640" cy="548640"/>
          </a:xfrm>
          <a:prstGeom prst="ellipse">
            <a:avLst/>
          </a:prstGeom>
          <a:solidFill>
            <a:srgbClr val="FFFFFF"/>
          </a:solidFill>
          <a:ln w="12700">
            <a:solidFill>
              <a:srgbClr val="FFFFFF"/>
            </a:solidFill>
            <a:prstDash val="solid"/>
          </a:ln>
        </p:spPr>
      </p:sp>
      <p:sp>
        <p:nvSpPr>
          <p:cNvPr id="46" name="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7" name="Text 45"/>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8" name="Text 46"/>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9" name="Shape 47"/>
          <p:cNvSpPr/>
          <p:nvPr/>
        </p:nvSpPr>
        <p:spPr>
          <a:xfrm>
            <a:off x="0" y="5961888"/>
            <a:ext cx="12191695" cy="475488"/>
          </a:xfrm>
          <a:prstGeom prst="rect">
            <a:avLst/>
          </a:prstGeom>
          <a:solidFill>
            <a:srgbClr val="0B2350"/>
          </a:solidFill>
          <a:ln w="12700">
            <a:solidFill>
              <a:srgbClr val="0B2350"/>
            </a:solidFill>
            <a:prstDash val="solid"/>
          </a:ln>
        </p:spPr>
      </p:sp>
      <p:sp>
        <p:nvSpPr>
          <p:cNvPr id="5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1" name="Text 4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Docker y qué es Kubernetes?</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empaqueta la aplicación; Kubernetes administra lo empaquetado.</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8" name="Shape 16"/>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20" name="Shape 18"/>
          <p:cNvSpPr/>
          <p:nvPr/>
        </p:nvSpPr>
        <p:spPr>
          <a:xfrm>
            <a:off x="612648" y="2267712"/>
            <a:ext cx="5163160" cy="365760"/>
          </a:xfrm>
          <a:prstGeom prst="rect">
            <a:avLst/>
          </a:prstGeom>
          <a:solidFill>
            <a:srgbClr val="0B6E8A"/>
          </a:solidFill>
          <a:ln w="12700">
            <a:solidFill>
              <a:srgbClr val="0B6E8A"/>
            </a:solidFill>
            <a:prstDash val="solid"/>
          </a:ln>
        </p:spPr>
      </p:sp>
      <p:sp>
        <p:nvSpPr>
          <p:cNvPr id="21" name="Shape 19"/>
          <p:cNvSpPr/>
          <p:nvPr/>
        </p:nvSpPr>
        <p:spPr>
          <a:xfrm>
            <a:off x="841248" y="1874520"/>
            <a:ext cx="603504" cy="603504"/>
          </a:xfrm>
          <a:prstGeom prst="ellipse">
            <a:avLst/>
          </a:prstGeom>
          <a:solidFill>
            <a:srgbClr val="FFFFFF"/>
          </a:solidFill>
          <a:ln w="12700">
            <a:solidFill>
              <a:srgbClr val="FFFFFF"/>
            </a:solidFill>
            <a:prstDash val="solid"/>
          </a:ln>
        </p:spPr>
      </p:sp>
      <p:sp>
        <p:nvSpPr>
          <p:cNvPr id="22"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3" name="Text 21"/>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la caja</a:t>
            </a:r>
            <a:endParaRPr lang="en-US" sz="1900" dirty="0"/>
          </a:p>
        </p:txBody>
      </p:sp>
      <p:sp>
        <p:nvSpPr>
          <p:cNvPr id="24"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5" name="Text 23"/>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Empaqueta la app con Java y todo lo que usa</a:t>
            </a:r>
            <a:endParaRPr lang="en-US" sz="1500" dirty="0"/>
          </a:p>
        </p:txBody>
      </p:sp>
      <p:sp>
        <p:nvSpPr>
          <p:cNvPr id="26" name="Shape 24"/>
          <p:cNvSpPr/>
          <p:nvPr/>
        </p:nvSpPr>
        <p:spPr>
          <a:xfrm>
            <a:off x="886968" y="3479292"/>
            <a:ext cx="4614520" cy="0"/>
          </a:xfrm>
          <a:prstGeom prst="line">
            <a:avLst/>
          </a:prstGeom>
          <a:noFill/>
          <a:ln w="9525">
            <a:solidFill>
              <a:srgbClr val="DFE6F0"/>
            </a:solidFill>
            <a:prstDash val="solid"/>
          </a:ln>
        </p:spPr>
      </p:sp>
      <p:sp>
        <p:nvSpPr>
          <p:cNvPr id="27"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8" name="Text 26"/>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Imagen: un paquete que no cambia</a:t>
            </a:r>
            <a:endParaRPr lang="en-US" sz="1500" dirty="0"/>
          </a:p>
        </p:txBody>
      </p:sp>
      <p:sp>
        <p:nvSpPr>
          <p:cNvPr id="29" name="Shape 27"/>
          <p:cNvSpPr/>
          <p:nvPr/>
        </p:nvSpPr>
        <p:spPr>
          <a:xfrm>
            <a:off x="886968" y="4142232"/>
            <a:ext cx="4614520" cy="0"/>
          </a:xfrm>
          <a:prstGeom prst="line">
            <a:avLst/>
          </a:prstGeom>
          <a:noFill/>
          <a:ln w="9525">
            <a:solidFill>
              <a:srgbClr val="DFE6F0"/>
            </a:solidFill>
            <a:prstDash val="solid"/>
          </a:ln>
        </p:spPr>
      </p:sp>
      <p:sp>
        <p:nvSpPr>
          <p:cNvPr id="30"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1" name="Text 29"/>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y en un servidor</a:t>
            </a:r>
            <a:endParaRPr lang="en-US" sz="1500" dirty="0"/>
          </a:p>
        </p:txBody>
      </p:sp>
      <p:sp>
        <p:nvSpPr>
          <p:cNvPr id="32" name="Shape 30"/>
          <p:cNvSpPr/>
          <p:nvPr/>
        </p:nvSpPr>
        <p:spPr>
          <a:xfrm>
            <a:off x="886968" y="4805172"/>
            <a:ext cx="4614520" cy="0"/>
          </a:xfrm>
          <a:prstGeom prst="line">
            <a:avLst/>
          </a:prstGeom>
          <a:noFill/>
          <a:ln w="9525">
            <a:solidFill>
              <a:srgbClr val="DFE6F0"/>
            </a:solidFill>
            <a:prstDash val="solid"/>
          </a:ln>
        </p:spPr>
      </p:sp>
      <p:sp>
        <p:nvSpPr>
          <p:cNvPr id="33"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4" name="Text 32"/>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5" name="Shape 33"/>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Shape 34"/>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7" name="Shape 35"/>
          <p:cNvSpPr/>
          <p:nvPr/>
        </p:nvSpPr>
        <p:spPr>
          <a:xfrm>
            <a:off x="6415888" y="2267712"/>
            <a:ext cx="5163160" cy="365760"/>
          </a:xfrm>
          <a:prstGeom prst="rect">
            <a:avLst/>
          </a:prstGeom>
          <a:solidFill>
            <a:srgbClr val="0A6648"/>
          </a:solidFill>
          <a:ln w="12700">
            <a:solidFill>
              <a:srgbClr val="0A6648"/>
            </a:solidFill>
            <a:prstDash val="solid"/>
          </a:ln>
        </p:spPr>
      </p:sp>
      <p:sp>
        <p:nvSpPr>
          <p:cNvPr id="38" name="Shape 36"/>
          <p:cNvSpPr/>
          <p:nvPr/>
        </p:nvSpPr>
        <p:spPr>
          <a:xfrm>
            <a:off x="6644488" y="1874520"/>
            <a:ext cx="603504" cy="603504"/>
          </a:xfrm>
          <a:prstGeom prst="ellipse">
            <a:avLst/>
          </a:prstGeom>
          <a:solidFill>
            <a:srgbClr val="FFFFFF"/>
          </a:solidFill>
          <a:ln w="12700">
            <a:solidFill>
              <a:srgbClr val="FFFFFF"/>
            </a:solidFill>
            <a:prstDash val="solid"/>
          </a:ln>
        </p:spPr>
      </p:sp>
      <p:sp>
        <p:nvSpPr>
          <p:cNvPr id="39" name="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40" name="Text 38"/>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el administrador</a:t>
            </a:r>
            <a:endParaRPr lang="en-US" sz="1900" dirty="0"/>
          </a:p>
        </p:txBody>
      </p:sp>
      <p:sp>
        <p:nvSpPr>
          <p:cNvPr id="41" name="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2" name="Text 40"/>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3" name="Shape 41"/>
          <p:cNvSpPr/>
          <p:nvPr/>
        </p:nvSpPr>
        <p:spPr>
          <a:xfrm>
            <a:off x="6690208" y="3479292"/>
            <a:ext cx="4614520" cy="0"/>
          </a:xfrm>
          <a:prstGeom prst="line">
            <a:avLst/>
          </a:prstGeom>
          <a:noFill/>
          <a:ln w="9525">
            <a:solidFill>
              <a:srgbClr val="DFE6F0"/>
            </a:solidFill>
            <a:prstDash val="solid"/>
          </a:ln>
        </p:spPr>
      </p:sp>
      <p:sp>
        <p:nvSpPr>
          <p:cNvPr id="44" name="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5" name="Text 43"/>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6" name="Shape 44"/>
          <p:cNvSpPr/>
          <p:nvPr/>
        </p:nvSpPr>
        <p:spPr>
          <a:xfrm>
            <a:off x="6690208" y="4142232"/>
            <a:ext cx="4614520" cy="0"/>
          </a:xfrm>
          <a:prstGeom prst="line">
            <a:avLst/>
          </a:prstGeom>
          <a:noFill/>
          <a:ln w="9525">
            <a:solidFill>
              <a:srgbClr val="DFE6F0"/>
            </a:solidFill>
            <a:prstDash val="solid"/>
          </a:ln>
        </p:spPr>
      </p:sp>
      <p:sp>
        <p:nvSpPr>
          <p:cNvPr id="47" name="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8" name="Text 46"/>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9" name="Shape 47"/>
          <p:cNvSpPr/>
          <p:nvPr/>
        </p:nvSpPr>
        <p:spPr>
          <a:xfrm>
            <a:off x="6690208" y="4805172"/>
            <a:ext cx="4614520" cy="0"/>
          </a:xfrm>
          <a:prstGeom prst="line">
            <a:avLst/>
          </a:prstGeom>
          <a:noFill/>
          <a:ln w="9525">
            <a:solidFill>
              <a:srgbClr val="DFE6F0"/>
            </a:solidFill>
            <a:prstDash val="solid"/>
          </a:ln>
        </p:spPr>
      </p:sp>
      <p:sp>
        <p:nvSpPr>
          <p:cNvPr id="50" name="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1" name="Text 49"/>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2" name="Text 50"/>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53" name="Text 5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CONTENEDORES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5" name="Text 33"/>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6" name="Shape 34"/>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7" name="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41" name="Text 39"/>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2" name="Shape 40"/>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3" name="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7" name="Text 45"/>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CONTENEDORES Y KUBERNETES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CI/CD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Cada cambio se prueba solo</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Del push a una imagen publicada, sin pasos manuales.</a:t>
            </a:r>
            <a:endParaRPr lang="en-US" sz="1700" dirty="0"/>
          </a:p>
        </p:txBody>
      </p:sp>
      <p:sp>
        <p:nvSpPr>
          <p:cNvPr id="14" name="Shape 12"/>
          <p:cNvSpPr/>
          <p:nvPr/>
        </p:nvSpPr>
        <p:spPr>
          <a:xfrm>
            <a:off x="612648" y="2359152"/>
            <a:ext cx="1964893" cy="1737360"/>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5" name="Icono git-pull-request"/>
          <p:cNvSpPr/>
          <p:nvPr/>
        </p:nvSpPr>
        <p:spPr>
          <a:xfrm>
            <a:off x="1220191" y="2671877"/>
            <a:ext cx="566928" cy="566928"/>
          </a:xfrm>
          <a:custGeom>
            <a:avLst/>
            <a:gdLst/>
            <a:ahLst/>
            <a:cxnLst/>
            <a:rect l="l" t="t" r="r" b="b"/>
            <a:pathLst>
              <a:path w="566928" h="566928">
                <a:moveTo>
                  <a:pt x="496062" y="425196"/>
                </a:moveTo>
                <a:cubicBezTo>
                  <a:pt x="496062" y="464334"/>
                  <a:pt x="464334" y="496062"/>
                  <a:pt x="425196" y="496062"/>
                </a:cubicBezTo>
                <a:cubicBezTo>
                  <a:pt x="386058" y="496062"/>
                  <a:pt x="354330" y="464334"/>
                  <a:pt x="354330" y="425196"/>
                </a:cubicBezTo>
                <a:cubicBezTo>
                  <a:pt x="354330" y="386058"/>
                  <a:pt x="386058" y="354330"/>
                  <a:pt x="425196" y="354330"/>
                </a:cubicBezTo>
                <a:cubicBezTo>
                  <a:pt x="464334" y="354330"/>
                  <a:pt x="496062" y="386058"/>
                  <a:pt x="496062" y="425196"/>
                </a:cubicBezTo>
                <a:close/>
                <a:moveTo>
                  <a:pt x="212598" y="141732"/>
                </a:moveTo>
                <a:cubicBezTo>
                  <a:pt x="212598" y="180870"/>
                  <a:pt x="180870" y="212598"/>
                  <a:pt x="141732" y="212598"/>
                </a:cubicBezTo>
                <a:cubicBezTo>
                  <a:pt x="102594" y="212598"/>
                  <a:pt x="70866" y="180870"/>
                  <a:pt x="70866" y="141732"/>
                </a:cubicBezTo>
                <a:cubicBezTo>
                  <a:pt x="70866" y="102594"/>
                  <a:pt x="102594" y="70866"/>
                  <a:pt x="141732" y="70866"/>
                </a:cubicBezTo>
                <a:cubicBezTo>
                  <a:pt x="180870" y="70866"/>
                  <a:pt x="212598" y="102594"/>
                  <a:pt x="212598" y="141732"/>
                </a:cubicBezTo>
                <a:close/>
                <a:moveTo>
                  <a:pt x="307086" y="141732"/>
                </a:moveTo>
                <a:lnTo>
                  <a:pt x="377952" y="141732"/>
                </a:lnTo>
                <a:cubicBezTo>
                  <a:pt x="404044" y="141732"/>
                  <a:pt x="425196" y="162884"/>
                  <a:pt x="425196" y="188976"/>
                </a:cubicBezTo>
                <a:lnTo>
                  <a:pt x="425196" y="354330"/>
                </a:lnTo>
                <a:moveTo>
                  <a:pt x="141732" y="212598"/>
                </a:moveTo>
                <a:lnTo>
                  <a:pt x="141732" y="496062"/>
                </a:lnTo>
              </a:path>
            </a:pathLst>
          </a:custGeom>
          <a:noFill/>
          <a:ln w="47244" cap="rnd">
            <a:solidFill>
              <a:srgbClr val="FFFFFF"/>
            </a:solidFill>
            <a:prstDash val="solid"/>
            <a:round/>
          </a:ln>
        </p:spPr>
      </p:sp>
      <p:sp>
        <p:nvSpPr>
          <p:cNvPr id="16" name="Text 14"/>
          <p:cNvSpPr/>
          <p:nvPr/>
        </p:nvSpPr>
        <p:spPr>
          <a:xfrm>
            <a:off x="886968"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Push o PR</a:t>
            </a:r>
            <a:endParaRPr lang="en-US" sz="1600" dirty="0"/>
          </a:p>
        </p:txBody>
      </p:sp>
      <p:sp>
        <p:nvSpPr>
          <p:cNvPr id="17" name="Text 15"/>
          <p:cNvSpPr/>
          <p:nvPr/>
        </p:nvSpPr>
        <p:spPr>
          <a:xfrm>
            <a:off x="722376"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Alguien sube un cambio.</a:t>
            </a:r>
            <a:endParaRPr lang="en-US" sz="1400" dirty="0"/>
          </a:p>
        </p:txBody>
      </p:sp>
      <p:sp>
        <p:nvSpPr>
          <p:cNvPr id="18" name="Shape 16"/>
          <p:cNvSpPr/>
          <p:nvPr/>
        </p:nvSpPr>
        <p:spPr>
          <a:xfrm>
            <a:off x="1549375" y="4151376"/>
            <a:ext cx="0" cy="109728"/>
          </a:xfrm>
          <a:prstGeom prst="line">
            <a:avLst/>
          </a:prstGeom>
          <a:noFill/>
          <a:ln w="25400">
            <a:solidFill>
              <a:srgbClr val="0B2350"/>
            </a:solidFill>
            <a:prstDash val="solid"/>
          </a:ln>
        </p:spPr>
      </p:sp>
      <p:sp>
        <p:nvSpPr>
          <p:cNvPr id="19" name="Shape 17"/>
          <p:cNvSpPr/>
          <p:nvPr/>
        </p:nvSpPr>
        <p:spPr>
          <a:xfrm>
            <a:off x="2412949" y="2359152"/>
            <a:ext cx="1964893" cy="1737360"/>
          </a:xfrm>
          <a:prstGeom prst="chevron">
            <a:avLst/>
          </a:prstGeom>
          <a:solidFill>
            <a:srgbClr val="0B325C"/>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0" name="Icono settings"/>
          <p:cNvSpPr/>
          <p:nvPr/>
        </p:nvSpPr>
        <p:spPr>
          <a:xfrm>
            <a:off x="3157652" y="2671877"/>
            <a:ext cx="566928" cy="566928"/>
          </a:xfrm>
          <a:custGeom>
            <a:avLst/>
            <a:gdLst/>
            <a:ahLst/>
            <a:cxnLst/>
            <a:rect l="l" t="t" r="r" b="b"/>
            <a:pathLst>
              <a:path w="566928" h="566928">
                <a:moveTo>
                  <a:pt x="288661" y="47244"/>
                </a:moveTo>
                <a:lnTo>
                  <a:pt x="278267" y="47244"/>
                </a:lnTo>
                <a:cubicBezTo>
                  <a:pt x="252175" y="47244"/>
                  <a:pt x="231023" y="68396"/>
                  <a:pt x="231023" y="94488"/>
                </a:cubicBezTo>
                <a:lnTo>
                  <a:pt x="231023" y="98740"/>
                </a:lnTo>
                <a:cubicBezTo>
                  <a:pt x="231006" y="115601"/>
                  <a:pt x="222004" y="131175"/>
                  <a:pt x="207401" y="139606"/>
                </a:cubicBezTo>
                <a:lnTo>
                  <a:pt x="197244" y="145512"/>
                </a:lnTo>
                <a:cubicBezTo>
                  <a:pt x="182626" y="153951"/>
                  <a:pt x="164617" y="153951"/>
                  <a:pt x="150000" y="145512"/>
                </a:cubicBezTo>
                <a:lnTo>
                  <a:pt x="146456" y="143622"/>
                </a:lnTo>
                <a:cubicBezTo>
                  <a:pt x="123883" y="130601"/>
                  <a:pt x="95030" y="138316"/>
                  <a:pt x="81968" y="160866"/>
                </a:cubicBezTo>
                <a:lnTo>
                  <a:pt x="76772" y="169842"/>
                </a:lnTo>
                <a:cubicBezTo>
                  <a:pt x="63750" y="192415"/>
                  <a:pt x="71466" y="221269"/>
                  <a:pt x="94016" y="234330"/>
                </a:cubicBezTo>
                <a:lnTo>
                  <a:pt x="97559" y="236692"/>
                </a:lnTo>
                <a:cubicBezTo>
                  <a:pt x="112088" y="245081"/>
                  <a:pt x="121080" y="260545"/>
                  <a:pt x="121181" y="277322"/>
                </a:cubicBezTo>
                <a:lnTo>
                  <a:pt x="121181" y="289370"/>
                </a:lnTo>
                <a:cubicBezTo>
                  <a:pt x="121248" y="306315"/>
                  <a:pt x="112234" y="321999"/>
                  <a:pt x="97559" y="330472"/>
                </a:cubicBezTo>
                <a:lnTo>
                  <a:pt x="94016" y="332598"/>
                </a:lnTo>
                <a:cubicBezTo>
                  <a:pt x="71466" y="345659"/>
                  <a:pt x="63750" y="374513"/>
                  <a:pt x="76772" y="397086"/>
                </a:cubicBezTo>
                <a:lnTo>
                  <a:pt x="81968" y="406062"/>
                </a:lnTo>
                <a:cubicBezTo>
                  <a:pt x="95030" y="428612"/>
                  <a:pt x="123883" y="436327"/>
                  <a:pt x="146456" y="423306"/>
                </a:cubicBezTo>
                <a:lnTo>
                  <a:pt x="150000" y="421416"/>
                </a:lnTo>
                <a:cubicBezTo>
                  <a:pt x="164617" y="412977"/>
                  <a:pt x="182626" y="412977"/>
                  <a:pt x="197244" y="421416"/>
                </a:cubicBezTo>
                <a:lnTo>
                  <a:pt x="207401" y="427322"/>
                </a:lnTo>
                <a:cubicBezTo>
                  <a:pt x="222004" y="435753"/>
                  <a:pt x="231006" y="451327"/>
                  <a:pt x="231023" y="468188"/>
                </a:cubicBezTo>
                <a:lnTo>
                  <a:pt x="231023" y="472440"/>
                </a:lnTo>
                <a:cubicBezTo>
                  <a:pt x="231023" y="498532"/>
                  <a:pt x="252175" y="519684"/>
                  <a:pt x="278267" y="519684"/>
                </a:cubicBezTo>
                <a:lnTo>
                  <a:pt x="288661" y="519684"/>
                </a:lnTo>
                <a:cubicBezTo>
                  <a:pt x="314753" y="519684"/>
                  <a:pt x="335905" y="498532"/>
                  <a:pt x="335905" y="472440"/>
                </a:cubicBezTo>
                <a:lnTo>
                  <a:pt x="335905" y="468188"/>
                </a:lnTo>
                <a:cubicBezTo>
                  <a:pt x="335922" y="451327"/>
                  <a:pt x="344924" y="435753"/>
                  <a:pt x="359527" y="427322"/>
                </a:cubicBezTo>
                <a:lnTo>
                  <a:pt x="369684" y="421416"/>
                </a:lnTo>
                <a:cubicBezTo>
                  <a:pt x="384302" y="412977"/>
                  <a:pt x="402311" y="412977"/>
                  <a:pt x="416928" y="421416"/>
                </a:cubicBezTo>
                <a:lnTo>
                  <a:pt x="420472" y="423306"/>
                </a:lnTo>
                <a:cubicBezTo>
                  <a:pt x="443045" y="436327"/>
                  <a:pt x="471898" y="428612"/>
                  <a:pt x="484960" y="406062"/>
                </a:cubicBezTo>
                <a:lnTo>
                  <a:pt x="490156" y="396850"/>
                </a:lnTo>
                <a:cubicBezTo>
                  <a:pt x="503178" y="374277"/>
                  <a:pt x="495462" y="345423"/>
                  <a:pt x="472912" y="332362"/>
                </a:cubicBezTo>
                <a:lnTo>
                  <a:pt x="469369" y="330472"/>
                </a:lnTo>
                <a:cubicBezTo>
                  <a:pt x="454694" y="321999"/>
                  <a:pt x="445680" y="306315"/>
                  <a:pt x="445747" y="289369"/>
                </a:cubicBezTo>
                <a:lnTo>
                  <a:pt x="445747" y="277558"/>
                </a:lnTo>
                <a:cubicBezTo>
                  <a:pt x="445680" y="260613"/>
                  <a:pt x="454694" y="244929"/>
                  <a:pt x="469369" y="236456"/>
                </a:cubicBezTo>
                <a:lnTo>
                  <a:pt x="472912" y="234330"/>
                </a:lnTo>
                <a:cubicBezTo>
                  <a:pt x="495462" y="221269"/>
                  <a:pt x="503178" y="192415"/>
                  <a:pt x="490156" y="169842"/>
                </a:cubicBezTo>
                <a:lnTo>
                  <a:pt x="484960" y="160866"/>
                </a:lnTo>
                <a:cubicBezTo>
                  <a:pt x="471898" y="138316"/>
                  <a:pt x="443045" y="130601"/>
                  <a:pt x="420472" y="143622"/>
                </a:cubicBezTo>
                <a:lnTo>
                  <a:pt x="416928" y="145512"/>
                </a:lnTo>
                <a:cubicBezTo>
                  <a:pt x="402311" y="153951"/>
                  <a:pt x="384302" y="153951"/>
                  <a:pt x="369684" y="145512"/>
                </a:cubicBezTo>
                <a:lnTo>
                  <a:pt x="359527" y="139606"/>
                </a:lnTo>
                <a:cubicBezTo>
                  <a:pt x="344924" y="131175"/>
                  <a:pt x="335922" y="115601"/>
                  <a:pt x="335905" y="98740"/>
                </a:cubicBezTo>
                <a:lnTo>
                  <a:pt x="335905" y="94488"/>
                </a:lnTo>
                <a:cubicBezTo>
                  <a:pt x="335905" y="68396"/>
                  <a:pt x="314753" y="47244"/>
                  <a:pt x="288661" y="47244"/>
                </a:cubicBezTo>
                <a:close/>
                <a:moveTo>
                  <a:pt x="354330" y="283464"/>
                </a:moveTo>
                <a:cubicBezTo>
                  <a:pt x="354330" y="322602"/>
                  <a:pt x="322602" y="354330"/>
                  <a:pt x="283464" y="354330"/>
                </a:cubicBezTo>
                <a:cubicBezTo>
                  <a:pt x="244326" y="354330"/>
                  <a:pt x="212598" y="322602"/>
                  <a:pt x="212598" y="283464"/>
                </a:cubicBezTo>
                <a:cubicBezTo>
                  <a:pt x="212598" y="244326"/>
                  <a:pt x="244326" y="212598"/>
                  <a:pt x="283464" y="212598"/>
                </a:cubicBezTo>
                <a:cubicBezTo>
                  <a:pt x="322602" y="212598"/>
                  <a:pt x="354330" y="244326"/>
                  <a:pt x="354330" y="283464"/>
                </a:cubicBezTo>
                <a:close/>
              </a:path>
            </a:pathLst>
          </a:custGeom>
          <a:noFill/>
          <a:ln w="47244" cap="rnd">
            <a:solidFill>
              <a:srgbClr val="FFFFFF"/>
            </a:solidFill>
            <a:prstDash val="solid"/>
            <a:round/>
          </a:ln>
        </p:spPr>
      </p:sp>
      <p:sp>
        <p:nvSpPr>
          <p:cNvPr id="21" name="Text 19"/>
          <p:cNvSpPr/>
          <p:nvPr/>
        </p:nvSpPr>
        <p:spPr>
          <a:xfrm>
            <a:off x="2687269"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Compilar</a:t>
            </a:r>
            <a:endParaRPr lang="en-US" sz="1600" dirty="0"/>
          </a:p>
        </p:txBody>
      </p:sp>
      <p:sp>
        <p:nvSpPr>
          <p:cNvPr id="22" name="Text 20"/>
          <p:cNvSpPr/>
          <p:nvPr/>
        </p:nvSpPr>
        <p:spPr>
          <a:xfrm>
            <a:off x="2522677"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Java 26 y Maven, un job por servicio.</a:t>
            </a:r>
            <a:endParaRPr lang="en-US" sz="1400" dirty="0"/>
          </a:p>
        </p:txBody>
      </p:sp>
      <p:sp>
        <p:nvSpPr>
          <p:cNvPr id="23" name="Shape 21"/>
          <p:cNvSpPr/>
          <p:nvPr/>
        </p:nvSpPr>
        <p:spPr>
          <a:xfrm>
            <a:off x="3349676" y="4151376"/>
            <a:ext cx="0" cy="109728"/>
          </a:xfrm>
          <a:prstGeom prst="line">
            <a:avLst/>
          </a:prstGeom>
          <a:noFill/>
          <a:ln w="25400">
            <a:solidFill>
              <a:srgbClr val="0B325C"/>
            </a:solidFill>
            <a:prstDash val="solid"/>
          </a:ln>
        </p:spPr>
      </p:sp>
      <p:sp>
        <p:nvSpPr>
          <p:cNvPr id="24" name="Shape 22"/>
          <p:cNvSpPr/>
          <p:nvPr/>
        </p:nvSpPr>
        <p:spPr>
          <a:xfrm>
            <a:off x="4213250" y="2359152"/>
            <a:ext cx="1964893" cy="1737360"/>
          </a:xfrm>
          <a:prstGeom prst="chevron">
            <a:avLst/>
          </a:prstGeom>
          <a:solidFill>
            <a:srgbClr val="0B416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5" name="Icono flask-conical"/>
          <p:cNvSpPr/>
          <p:nvPr/>
        </p:nvSpPr>
        <p:spPr>
          <a:xfrm>
            <a:off x="4957953" y="2671877"/>
            <a:ext cx="566928" cy="566928"/>
          </a:xfrm>
          <a:custGeom>
            <a:avLst/>
            <a:gdLst/>
            <a:ahLst/>
            <a:cxnLst/>
            <a:rect l="l" t="t" r="r" b="b"/>
            <a:pathLst>
              <a:path w="566928" h="566928">
                <a:moveTo>
                  <a:pt x="330708" y="47244"/>
                </a:moveTo>
                <a:lnTo>
                  <a:pt x="330708" y="188976"/>
                </a:lnTo>
                <a:cubicBezTo>
                  <a:pt x="330705" y="196901"/>
                  <a:pt x="332695" y="204699"/>
                  <a:pt x="336495" y="211653"/>
                </a:cubicBezTo>
                <a:lnTo>
                  <a:pt x="466653" y="449763"/>
                </a:lnTo>
                <a:cubicBezTo>
                  <a:pt x="474662" y="464402"/>
                  <a:pt x="474355" y="482181"/>
                  <a:pt x="465845" y="496535"/>
                </a:cubicBezTo>
                <a:cubicBezTo>
                  <a:pt x="457335" y="510888"/>
                  <a:pt x="441883" y="519688"/>
                  <a:pt x="425196" y="519684"/>
                </a:cubicBezTo>
                <a:lnTo>
                  <a:pt x="141732" y="519684"/>
                </a:lnTo>
                <a:cubicBezTo>
                  <a:pt x="125045" y="519688"/>
                  <a:pt x="109593" y="510888"/>
                  <a:pt x="101083" y="496535"/>
                </a:cubicBezTo>
                <a:cubicBezTo>
                  <a:pt x="92573" y="482181"/>
                  <a:pt x="92266" y="464402"/>
                  <a:pt x="100275" y="449763"/>
                </a:cubicBezTo>
                <a:lnTo>
                  <a:pt x="230433" y="211653"/>
                </a:lnTo>
                <a:cubicBezTo>
                  <a:pt x="234233" y="204699"/>
                  <a:pt x="236223" y="196901"/>
                  <a:pt x="236220" y="188976"/>
                </a:cubicBezTo>
                <a:lnTo>
                  <a:pt x="236220" y="47244"/>
                </a:lnTo>
                <a:moveTo>
                  <a:pt x="152433" y="354330"/>
                </a:moveTo>
                <a:lnTo>
                  <a:pt x="414495" y="354330"/>
                </a:lnTo>
                <a:moveTo>
                  <a:pt x="200787" y="47244"/>
                </a:moveTo>
                <a:lnTo>
                  <a:pt x="366141" y="47244"/>
                </a:lnTo>
              </a:path>
            </a:pathLst>
          </a:custGeom>
          <a:noFill/>
          <a:ln w="47244" cap="rnd">
            <a:solidFill>
              <a:srgbClr val="FFFFFF"/>
            </a:solidFill>
            <a:prstDash val="solid"/>
            <a:round/>
          </a:ln>
        </p:spPr>
      </p:sp>
      <p:sp>
        <p:nvSpPr>
          <p:cNvPr id="26" name="Text 24"/>
          <p:cNvSpPr/>
          <p:nvPr/>
        </p:nvSpPr>
        <p:spPr>
          <a:xfrm>
            <a:off x="4487570"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Probar</a:t>
            </a:r>
            <a:endParaRPr lang="en-US" sz="1600" dirty="0"/>
          </a:p>
        </p:txBody>
      </p:sp>
      <p:sp>
        <p:nvSpPr>
          <p:cNvPr id="27" name="Text 25"/>
          <p:cNvSpPr/>
          <p:nvPr/>
        </p:nvSpPr>
        <p:spPr>
          <a:xfrm>
            <a:off x="4322978"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mvn verify con PostgreSQL de servicio.</a:t>
            </a:r>
            <a:endParaRPr lang="en-US" sz="1400" dirty="0"/>
          </a:p>
        </p:txBody>
      </p:sp>
      <p:sp>
        <p:nvSpPr>
          <p:cNvPr id="28" name="Shape 26"/>
          <p:cNvSpPr/>
          <p:nvPr/>
        </p:nvSpPr>
        <p:spPr>
          <a:xfrm>
            <a:off x="5149977" y="4151376"/>
            <a:ext cx="0" cy="109728"/>
          </a:xfrm>
          <a:prstGeom prst="line">
            <a:avLst/>
          </a:prstGeom>
          <a:noFill/>
          <a:ln w="25400">
            <a:solidFill>
              <a:srgbClr val="0B4167"/>
            </a:solidFill>
            <a:prstDash val="solid"/>
          </a:ln>
        </p:spPr>
      </p:sp>
      <p:sp>
        <p:nvSpPr>
          <p:cNvPr id="29" name="Shape 27"/>
          <p:cNvSpPr/>
          <p:nvPr/>
        </p:nvSpPr>
        <p:spPr>
          <a:xfrm>
            <a:off x="6013552" y="2359152"/>
            <a:ext cx="1964893" cy="1737360"/>
          </a:xfrm>
          <a:prstGeom prst="chevron">
            <a:avLst/>
          </a:prstGeom>
          <a:solidFill>
            <a:srgbClr val="0B507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0" name="Icono power"/>
          <p:cNvSpPr/>
          <p:nvPr/>
        </p:nvSpPr>
        <p:spPr>
          <a:xfrm>
            <a:off x="6758254" y="2671877"/>
            <a:ext cx="566928" cy="566928"/>
          </a:xfrm>
          <a:custGeom>
            <a:avLst/>
            <a:gdLst/>
            <a:ahLst/>
            <a:cxnLst/>
            <a:rect l="l" t="t" r="r" b="b"/>
            <a:pathLst>
              <a:path w="566928" h="566928">
                <a:moveTo>
                  <a:pt x="283464" y="47244"/>
                </a:moveTo>
                <a:lnTo>
                  <a:pt x="283464" y="283464"/>
                </a:lnTo>
                <a:moveTo>
                  <a:pt x="434645" y="155905"/>
                </a:moveTo>
                <a:cubicBezTo>
                  <a:pt x="517524" y="238815"/>
                  <a:pt x="517648" y="373169"/>
                  <a:pt x="434922" y="456231"/>
                </a:cubicBezTo>
                <a:cubicBezTo>
                  <a:pt x="352195" y="539294"/>
                  <a:pt x="217842" y="539715"/>
                  <a:pt x="134597" y="457172"/>
                </a:cubicBezTo>
                <a:cubicBezTo>
                  <a:pt x="51351" y="374629"/>
                  <a:pt x="50633" y="240278"/>
                  <a:pt x="132992" y="156850"/>
                </a:cubicBezTo>
              </a:path>
            </a:pathLst>
          </a:custGeom>
          <a:noFill/>
          <a:ln w="47244" cap="rnd">
            <a:solidFill>
              <a:srgbClr val="FFFFFF"/>
            </a:solidFill>
            <a:prstDash val="solid"/>
            <a:round/>
          </a:ln>
        </p:spPr>
      </p:sp>
      <p:sp>
        <p:nvSpPr>
          <p:cNvPr id="31" name="Text 29"/>
          <p:cNvSpPr/>
          <p:nvPr/>
        </p:nvSpPr>
        <p:spPr>
          <a:xfrm>
            <a:off x="6287872"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Arrancar</a:t>
            </a:r>
            <a:endParaRPr lang="en-US" sz="1600" dirty="0"/>
          </a:p>
        </p:txBody>
      </p:sp>
      <p:sp>
        <p:nvSpPr>
          <p:cNvPr id="32" name="Text 30"/>
          <p:cNvSpPr/>
          <p:nvPr/>
        </p:nvSpPr>
        <p:spPr>
          <a:xfrm>
            <a:off x="6123280"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Levanta el JAR y espera ver CAM-002.</a:t>
            </a:r>
            <a:endParaRPr lang="en-US" sz="1400" dirty="0"/>
          </a:p>
        </p:txBody>
      </p:sp>
      <p:sp>
        <p:nvSpPr>
          <p:cNvPr id="33" name="Shape 31"/>
          <p:cNvSpPr/>
          <p:nvPr/>
        </p:nvSpPr>
        <p:spPr>
          <a:xfrm>
            <a:off x="6950278" y="4151376"/>
            <a:ext cx="0" cy="109728"/>
          </a:xfrm>
          <a:prstGeom prst="line">
            <a:avLst/>
          </a:prstGeom>
          <a:noFill/>
          <a:ln w="25400">
            <a:solidFill>
              <a:srgbClr val="0B5073"/>
            </a:solidFill>
            <a:prstDash val="solid"/>
          </a:ln>
        </p:spPr>
      </p:sp>
      <p:sp>
        <p:nvSpPr>
          <p:cNvPr id="34" name="Shape 32"/>
          <p:cNvSpPr/>
          <p:nvPr/>
        </p:nvSpPr>
        <p:spPr>
          <a:xfrm>
            <a:off x="7813853" y="2359152"/>
            <a:ext cx="1964893" cy="1737360"/>
          </a:xfrm>
          <a:prstGeom prst="chevron">
            <a:avLst/>
          </a:prstGeom>
          <a:solidFill>
            <a:srgbClr val="0B5F7E"/>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5" name="Icono package"/>
          <p:cNvSpPr/>
          <p:nvPr/>
        </p:nvSpPr>
        <p:spPr>
          <a:xfrm>
            <a:off x="8558555" y="2671877"/>
            <a:ext cx="566928" cy="566928"/>
          </a:xfrm>
          <a:custGeom>
            <a:avLst/>
            <a:gdLst/>
            <a:ahLst/>
            <a:cxnLst/>
            <a:rect l="l" t="t" r="r" b="b"/>
            <a:pathLst>
              <a:path w="566928" h="566928">
                <a:moveTo>
                  <a:pt x="259842" y="513306"/>
                </a:moveTo>
                <a:cubicBezTo>
                  <a:pt x="274459" y="521745"/>
                  <a:pt x="292469" y="521745"/>
                  <a:pt x="307086" y="513306"/>
                </a:cubicBezTo>
                <a:lnTo>
                  <a:pt x="472440" y="418818"/>
                </a:lnTo>
                <a:cubicBezTo>
                  <a:pt x="487042" y="410387"/>
                  <a:pt x="496045" y="394813"/>
                  <a:pt x="496062" y="377952"/>
                </a:cubicBezTo>
                <a:lnTo>
                  <a:pt x="496062" y="188976"/>
                </a:lnTo>
                <a:cubicBezTo>
                  <a:pt x="496045" y="172115"/>
                  <a:pt x="487042" y="156541"/>
                  <a:pt x="472440" y="148110"/>
                </a:cubicBezTo>
                <a:lnTo>
                  <a:pt x="307086" y="53622"/>
                </a:lnTo>
                <a:cubicBezTo>
                  <a:pt x="292469" y="45183"/>
                  <a:pt x="274459" y="45183"/>
                  <a:pt x="259842" y="53622"/>
                </a:cubicBezTo>
                <a:lnTo>
                  <a:pt x="94488" y="148110"/>
                </a:lnTo>
                <a:cubicBezTo>
                  <a:pt x="79886" y="156541"/>
                  <a:pt x="70883" y="172115"/>
                  <a:pt x="70866" y="188976"/>
                </a:cubicBezTo>
                <a:lnTo>
                  <a:pt x="70866" y="377952"/>
                </a:lnTo>
                <a:cubicBezTo>
                  <a:pt x="70883" y="394813"/>
                  <a:pt x="79886" y="410387"/>
                  <a:pt x="94488" y="418818"/>
                </a:cubicBezTo>
                <a:close/>
                <a:moveTo>
                  <a:pt x="283464" y="519684"/>
                </a:moveTo>
                <a:lnTo>
                  <a:pt x="283464" y="283464"/>
                </a:lnTo>
                <a:moveTo>
                  <a:pt x="77953" y="165354"/>
                </a:moveTo>
                <a:lnTo>
                  <a:pt x="259913" y="277181"/>
                </a:lnTo>
                <a:cubicBezTo>
                  <a:pt x="274494" y="285565"/>
                  <a:pt x="292434" y="285565"/>
                  <a:pt x="307015" y="277181"/>
                </a:cubicBezTo>
                <a:lnTo>
                  <a:pt x="488975" y="165354"/>
                </a:lnTo>
                <a:moveTo>
                  <a:pt x="177165" y="100866"/>
                </a:moveTo>
                <a:lnTo>
                  <a:pt x="389763" y="222519"/>
                </a:lnTo>
              </a:path>
            </a:pathLst>
          </a:custGeom>
          <a:noFill/>
          <a:ln w="47244" cap="rnd">
            <a:solidFill>
              <a:srgbClr val="FFFFFF"/>
            </a:solidFill>
            <a:prstDash val="solid"/>
            <a:round/>
          </a:ln>
        </p:spPr>
      </p:sp>
      <p:sp>
        <p:nvSpPr>
          <p:cNvPr id="36" name="Text 34"/>
          <p:cNvSpPr/>
          <p:nvPr/>
        </p:nvSpPr>
        <p:spPr>
          <a:xfrm>
            <a:off x="8088173"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Imagen</a:t>
            </a:r>
            <a:endParaRPr lang="en-US" sz="1600" dirty="0"/>
          </a:p>
        </p:txBody>
      </p:sp>
      <p:sp>
        <p:nvSpPr>
          <p:cNvPr id="37" name="Text 35"/>
          <p:cNvSpPr/>
          <p:nvPr/>
        </p:nvSpPr>
        <p:spPr>
          <a:xfrm>
            <a:off x="7923581"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construye con Docker.</a:t>
            </a:r>
            <a:endParaRPr lang="en-US" sz="1400" dirty="0"/>
          </a:p>
        </p:txBody>
      </p:sp>
      <p:sp>
        <p:nvSpPr>
          <p:cNvPr id="38" name="Shape 36"/>
          <p:cNvSpPr/>
          <p:nvPr/>
        </p:nvSpPr>
        <p:spPr>
          <a:xfrm>
            <a:off x="8750579" y="4151376"/>
            <a:ext cx="0" cy="109728"/>
          </a:xfrm>
          <a:prstGeom prst="line">
            <a:avLst/>
          </a:prstGeom>
          <a:noFill/>
          <a:ln w="25400">
            <a:solidFill>
              <a:srgbClr val="0B5F7E"/>
            </a:solidFill>
            <a:prstDash val="solid"/>
          </a:ln>
        </p:spPr>
      </p:sp>
      <p:sp>
        <p:nvSpPr>
          <p:cNvPr id="39" name="Shape 37"/>
          <p:cNvSpPr/>
          <p:nvPr/>
        </p:nvSpPr>
        <p:spPr>
          <a:xfrm>
            <a:off x="9614154" y="2359152"/>
            <a:ext cx="1964893" cy="1737360"/>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0" name="Icono cloud-upload"/>
          <p:cNvSpPr/>
          <p:nvPr/>
        </p:nvSpPr>
        <p:spPr>
          <a:xfrm>
            <a:off x="10358857" y="2671877"/>
            <a:ext cx="566928" cy="566928"/>
          </a:xfrm>
          <a:custGeom>
            <a:avLst/>
            <a:gdLst/>
            <a:ahLst/>
            <a:cxnLst/>
            <a:rect l="l" t="t" r="r" b="b"/>
            <a:pathLst>
              <a:path w="566928" h="566928">
                <a:moveTo>
                  <a:pt x="283464" y="307086"/>
                </a:moveTo>
                <a:lnTo>
                  <a:pt x="283464" y="496062"/>
                </a:lnTo>
                <a:moveTo>
                  <a:pt x="94488" y="351944"/>
                </a:moveTo>
                <a:cubicBezTo>
                  <a:pt x="46416" y="302829"/>
                  <a:pt x="33736" y="229099"/>
                  <a:pt x="62638" y="166745"/>
                </a:cubicBezTo>
                <a:cubicBezTo>
                  <a:pt x="91540" y="104392"/>
                  <a:pt x="155997" y="66417"/>
                  <a:pt x="224545" y="71357"/>
                </a:cubicBezTo>
                <a:cubicBezTo>
                  <a:pt x="293093" y="76297"/>
                  <a:pt x="351439" y="123123"/>
                  <a:pt x="371102" y="188976"/>
                </a:cubicBezTo>
                <a:lnTo>
                  <a:pt x="413385" y="188976"/>
                </a:lnTo>
                <a:cubicBezTo>
                  <a:pt x="460212" y="188971"/>
                  <a:pt x="501527" y="219609"/>
                  <a:pt x="515120" y="264420"/>
                </a:cubicBezTo>
                <a:cubicBezTo>
                  <a:pt x="528712" y="309231"/>
                  <a:pt x="511379" y="357659"/>
                  <a:pt x="472440" y="383669"/>
                </a:cubicBezTo>
                <a:moveTo>
                  <a:pt x="188976" y="401574"/>
                </a:moveTo>
                <a:lnTo>
                  <a:pt x="283464" y="307086"/>
                </a:lnTo>
                <a:lnTo>
                  <a:pt x="377952" y="401574"/>
                </a:lnTo>
              </a:path>
            </a:pathLst>
          </a:custGeom>
          <a:noFill/>
          <a:ln w="47244" cap="rnd">
            <a:solidFill>
              <a:srgbClr val="FFFFFF"/>
            </a:solidFill>
            <a:prstDash val="solid"/>
            <a:round/>
          </a:ln>
        </p:spPr>
      </p:sp>
      <p:sp>
        <p:nvSpPr>
          <p:cNvPr id="41" name="Text 39"/>
          <p:cNvSpPr/>
          <p:nvPr/>
        </p:nvSpPr>
        <p:spPr>
          <a:xfrm>
            <a:off x="9888474" y="3330245"/>
            <a:ext cx="1507693" cy="384048"/>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Publicar</a:t>
            </a:r>
            <a:endParaRPr lang="en-US" sz="1600" dirty="0"/>
          </a:p>
        </p:txBody>
      </p:sp>
      <p:sp>
        <p:nvSpPr>
          <p:cNvPr id="42" name="Text 40"/>
          <p:cNvSpPr/>
          <p:nvPr/>
        </p:nvSpPr>
        <p:spPr>
          <a:xfrm>
            <a:off x="9723882" y="4297680"/>
            <a:ext cx="1745437"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 con el SHA del commit.</a:t>
            </a:r>
            <a:endParaRPr lang="en-US" sz="1400" dirty="0"/>
          </a:p>
        </p:txBody>
      </p:sp>
      <p:sp>
        <p:nvSpPr>
          <p:cNvPr id="43" name="Shape 41"/>
          <p:cNvSpPr/>
          <p:nvPr/>
        </p:nvSpPr>
        <p:spPr>
          <a:xfrm>
            <a:off x="10550881" y="4151376"/>
            <a:ext cx="0" cy="109728"/>
          </a:xfrm>
          <a:prstGeom prst="line">
            <a:avLst/>
          </a:prstGeom>
          <a:noFill/>
          <a:ln w="25400">
            <a:solidFill>
              <a:srgbClr val="0B6E8A"/>
            </a:solidFill>
            <a:prstDash val="solid"/>
          </a:ln>
        </p:spPr>
      </p:sp>
      <p:sp>
        <p:nvSpPr>
          <p:cNvPr id="44" name="Shape 42"/>
          <p:cNvSpPr/>
          <p:nvPr/>
        </p:nvSpPr>
        <p:spPr>
          <a:xfrm>
            <a:off x="0" y="5961888"/>
            <a:ext cx="12191695" cy="475488"/>
          </a:xfrm>
          <a:prstGeom prst="rect">
            <a:avLst/>
          </a:prstGeom>
          <a:solidFill>
            <a:srgbClr val="0B2350"/>
          </a:solidFill>
          <a:ln w="12700">
            <a:solidFill>
              <a:srgbClr val="0B2350"/>
            </a:solidFill>
            <a:prstDash val="solid"/>
          </a:ln>
        </p:spPr>
      </p:sp>
      <p:sp>
        <p:nvSpPr>
          <p:cNvPr id="4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6" name="Text 4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minutos, antes de llegar a los demás.</a:t>
            </a:r>
            <a:endParaRPr lang="en-US" sz="14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CI/CD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4" name="Shape 12"/>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5" name="Shape 13"/>
          <p:cNvSpPr/>
          <p:nvPr/>
        </p:nvSpPr>
        <p:spPr>
          <a:xfrm>
            <a:off x="795528" y="5806440"/>
            <a:ext cx="438912" cy="438912"/>
          </a:xfrm>
          <a:prstGeom prst="ellipse">
            <a:avLst/>
          </a:prstGeom>
          <a:solidFill>
            <a:srgbClr val="FFFFFF"/>
          </a:solidFill>
          <a:ln w="12700">
            <a:solidFill>
              <a:srgbClr val="FFFFFF"/>
            </a:solidFill>
            <a:prstDash val="solid"/>
          </a:ln>
        </p:spPr>
      </p:sp>
      <p:sp>
        <p:nvSpPr>
          <p:cNvPr id="16"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7" name="Text 15"/>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8" name="Shape 16"/>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20" name="Text 18"/>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2" name="Text 20"/>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3" name="Shape 21"/>
          <p:cNvSpPr/>
          <p:nvPr/>
        </p:nvSpPr>
        <p:spPr>
          <a:xfrm>
            <a:off x="2806408" y="2875788"/>
            <a:ext cx="1095680" cy="0"/>
          </a:xfrm>
          <a:prstGeom prst="line">
            <a:avLst/>
          </a:prstGeom>
          <a:noFill/>
          <a:ln w="38100">
            <a:solidFill>
              <a:srgbClr val="2BA6CB"/>
            </a:solidFill>
            <a:prstDash val="solid"/>
            <a:tailEnd type="triangle"/>
          </a:ln>
        </p:spPr>
      </p:sp>
      <p:sp>
        <p:nvSpPr>
          <p:cNvPr id="24" name="Shape 22"/>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5" name="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6" name="Text 24"/>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8" name="Text 26"/>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9" name="Shape 27"/>
          <p:cNvSpPr/>
          <p:nvPr/>
        </p:nvSpPr>
        <p:spPr>
          <a:xfrm>
            <a:off x="5548008" y="2875788"/>
            <a:ext cx="1095680" cy="0"/>
          </a:xfrm>
          <a:prstGeom prst="line">
            <a:avLst/>
          </a:prstGeom>
          <a:noFill/>
          <a:ln w="38100">
            <a:solidFill>
              <a:srgbClr val="2BA6CB"/>
            </a:solidFill>
            <a:prstDash val="solid"/>
            <a:tailEnd type="triangle"/>
          </a:ln>
        </p:spPr>
      </p:sp>
      <p:sp>
        <p:nvSpPr>
          <p:cNvPr id="30" name="Shape 28"/>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1" name="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2" name="Text 30"/>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4" name="Text 32"/>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5" name="Shape 33"/>
          <p:cNvSpPr/>
          <p:nvPr/>
        </p:nvSpPr>
        <p:spPr>
          <a:xfrm>
            <a:off x="8289608" y="2875788"/>
            <a:ext cx="1095680" cy="0"/>
          </a:xfrm>
          <a:prstGeom prst="line">
            <a:avLst/>
          </a:prstGeom>
          <a:noFill/>
          <a:ln w="38100">
            <a:solidFill>
              <a:srgbClr val="2BA6CB"/>
            </a:solidFill>
            <a:prstDash val="solid"/>
            <a:tailEnd type="triangle"/>
          </a:ln>
        </p:spPr>
      </p:sp>
      <p:sp>
        <p:nvSpPr>
          <p:cNvPr id="36" name="Shape 34"/>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8" name="Text 36"/>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40" name="Text 38"/>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DOCUMENTACIÓN</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Contratos vivos con Swagger</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3" name="Shape 11"/>
          <p:cNvSpPr/>
          <p:nvPr/>
        </p:nvSpPr>
        <p:spPr>
          <a:xfrm>
            <a:off x="4910328" y="1371600"/>
            <a:ext cx="6668719" cy="4401355"/>
          </a:xfrm>
          <a:prstGeom prst="roundRect">
            <a:avLst>
              <a:gd name="adj" fmla="val 2078"/>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5020056" y="1446290"/>
            <a:ext cx="79358" cy="79358"/>
          </a:xfrm>
          <a:prstGeom prst="ellipse">
            <a:avLst/>
          </a:prstGeom>
          <a:solidFill>
            <a:srgbClr val="E5484D"/>
          </a:solidFill>
          <a:ln w="12700">
            <a:solidFill>
              <a:srgbClr val="E5484D"/>
            </a:solidFill>
            <a:prstDash val="solid"/>
          </a:ln>
        </p:spPr>
      </p:sp>
      <p:sp>
        <p:nvSpPr>
          <p:cNvPr id="15" name="Shape 13"/>
          <p:cNvSpPr/>
          <p:nvPr/>
        </p:nvSpPr>
        <p:spPr>
          <a:xfrm>
            <a:off x="5125088" y="1446290"/>
            <a:ext cx="79358" cy="79358"/>
          </a:xfrm>
          <a:prstGeom prst="ellipse">
            <a:avLst/>
          </a:prstGeom>
          <a:solidFill>
            <a:srgbClr val="F5A524"/>
          </a:solidFill>
          <a:ln w="12700">
            <a:solidFill>
              <a:srgbClr val="F5A524"/>
            </a:solidFill>
            <a:prstDash val="solid"/>
          </a:ln>
        </p:spPr>
      </p:sp>
      <p:sp>
        <p:nvSpPr>
          <p:cNvPr id="16" name="Shape 14"/>
          <p:cNvSpPr/>
          <p:nvPr/>
        </p:nvSpPr>
        <p:spPr>
          <a:xfrm>
            <a:off x="5230121" y="1446290"/>
            <a:ext cx="79358" cy="79358"/>
          </a:xfrm>
          <a:prstGeom prst="ellipse">
            <a:avLst/>
          </a:prstGeom>
          <a:solidFill>
            <a:srgbClr val="30A46C"/>
          </a:solidFill>
          <a:ln w="12700">
            <a:solidFill>
              <a:srgbClr val="30A46C"/>
            </a:solidFill>
            <a:prstDash val="solid"/>
          </a:ln>
        </p:spPr>
      </p:sp>
      <p:sp>
        <p:nvSpPr>
          <p:cNvPr id="17" name="Text 15"/>
          <p:cNvSpPr/>
          <p:nvPr/>
        </p:nvSpPr>
        <p:spPr>
          <a:xfrm>
            <a:off x="5443316" y="1408945"/>
            <a:ext cx="3667796" cy="158716"/>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localhost:8080/swagger-ui/index.html</a:t>
            </a:r>
            <a:endParaRPr lang="en-US" sz="700" dirty="0"/>
          </a:p>
        </p:txBody>
      </p:sp>
      <p:pic>
        <p:nvPicPr>
          <p:cNvPr id="18" name="Image 0" descr="Swagger de solicitudes">    </p:cNvPr>
          <p:cNvPicPr>
            <a:picLocks noChangeAspect="1"/>
          </p:cNvPicPr>
          <p:nvPr/>
        </p:nvPicPr>
        <p:blipFill>
          <a:blip r:embed="rId1"/>
          <a:stretch>
            <a:fillRect/>
          </a:stretch>
        </p:blipFill>
        <p:spPr>
          <a:xfrm>
            <a:off x="4910328" y="1605005"/>
            <a:ext cx="6668719" cy="4167950"/>
          </a:xfrm>
          <a:prstGeom prst="rect">
            <a:avLst/>
          </a:prstGeom>
        </p:spPr>
      </p:pic>
      <p:sp>
        <p:nvSpPr>
          <p:cNvPr id="19" name="Shape 16"/>
          <p:cNvSpPr/>
          <p:nvPr/>
        </p:nvSpPr>
        <p:spPr>
          <a:xfrm>
            <a:off x="612648" y="1426464"/>
            <a:ext cx="73152" cy="822960"/>
          </a:xfrm>
          <a:prstGeom prst="rect">
            <a:avLst/>
          </a:prstGeom>
          <a:solidFill>
            <a:srgbClr val="2BA6CB"/>
          </a:solidFill>
          <a:ln w="12700">
            <a:solidFill>
              <a:srgbClr val="2BA6CB"/>
            </a:solidFill>
            <a:prstDash val="solid"/>
          </a:ln>
        </p:spPr>
      </p:sp>
      <p:sp>
        <p:nvSpPr>
          <p:cNvPr id="20" name="Text 17"/>
          <p:cNvSpPr/>
          <p:nvPr/>
        </p:nvSpPr>
        <p:spPr>
          <a:xfrm>
            <a:off x="850392" y="1371600"/>
            <a:ext cx="3694176" cy="1143000"/>
          </a:xfrm>
          <a:prstGeom prst="rect">
            <a:avLst/>
          </a:prstGeom>
          <a:noFill/>
          <a:ln/>
        </p:spPr>
        <p:txBody>
          <a:bodyPr wrap="square" lIns="0" tIns="0" rIns="0" bIns="0" rtlCol="0" anchor="t">
            <a:normAutofit/>
          </a:bodyPr>
          <a:lstStyle/>
          <a:p>
            <a:pPr indent="0" marL="0">
              <a:buNone/>
            </a:pPr>
            <a:r>
              <a:rPr lang="en-US" sz="2400" b="1" dirty="0">
                <a:solidFill>
                  <a:srgbClr val="0B2350"/>
                </a:solidFill>
                <a:latin typeface="Segoe UI Semibold" pitchFamily="34" charset="0"/>
                <a:ea typeface="Segoe UI Semibold" pitchFamily="34" charset="-122"/>
                <a:cs typeface="Segoe UI Semibold" pitchFamily="34" charset="-120"/>
              </a:rPr>
              <a:t>La documentación de la API sale del mismo código.</a:t>
            </a:r>
            <a:endParaRPr lang="en-US" sz="2400" dirty="0"/>
          </a:p>
        </p:txBody>
      </p:sp>
      <p:sp>
        <p:nvSpPr>
          <p:cNvPr id="21" name="Shape 18"/>
          <p:cNvSpPr/>
          <p:nvPr/>
        </p:nvSpPr>
        <p:spPr>
          <a:xfrm>
            <a:off x="612648" y="2778633"/>
            <a:ext cx="420624" cy="420624"/>
          </a:xfrm>
          <a:prstGeom prst="ellipse">
            <a:avLst/>
          </a:prstGeom>
          <a:solidFill>
            <a:srgbClr val="E3F4FA"/>
          </a:solidFill>
          <a:ln w="12700">
            <a:solidFill>
              <a:srgbClr val="E3F4FA"/>
            </a:solidFill>
            <a:prstDash val="solid"/>
          </a:ln>
        </p:spPr>
      </p:sp>
      <p:sp>
        <p:nvSpPr>
          <p:cNvPr id="22" name="Icono file-json"/>
          <p:cNvSpPr/>
          <p:nvPr/>
        </p:nvSpPr>
        <p:spPr>
          <a:xfrm>
            <a:off x="713598" y="2879583"/>
            <a:ext cx="218724" cy="218724"/>
          </a:xfrm>
          <a:custGeom>
            <a:avLst/>
            <a:gdLst/>
            <a:ahLst/>
            <a:cxnLst/>
            <a:rect l="l" t="t" r="r" b="b"/>
            <a:pathLst>
              <a:path w="218724" h="218724">
                <a:moveTo>
                  <a:pt x="136703" y="18227"/>
                </a:moveTo>
                <a:lnTo>
                  <a:pt x="54681" y="18227"/>
                </a:lnTo>
                <a:cubicBezTo>
                  <a:pt x="44615" y="18227"/>
                  <a:pt x="36454" y="26388"/>
                  <a:pt x="36454" y="36454"/>
                </a:cubicBezTo>
                <a:lnTo>
                  <a:pt x="36454" y="182270"/>
                </a:lnTo>
                <a:cubicBezTo>
                  <a:pt x="36454" y="192337"/>
                  <a:pt x="44615" y="200497"/>
                  <a:pt x="54681" y="200497"/>
                </a:cubicBezTo>
                <a:lnTo>
                  <a:pt x="164043" y="200497"/>
                </a:lnTo>
                <a:cubicBezTo>
                  <a:pt x="174110" y="200497"/>
                  <a:pt x="182270" y="192337"/>
                  <a:pt x="182270" y="182270"/>
                </a:cubicBezTo>
                <a:lnTo>
                  <a:pt x="182270" y="63795"/>
                </a:lnTo>
                <a:close/>
                <a:moveTo>
                  <a:pt x="127589" y="18227"/>
                </a:moveTo>
                <a:lnTo>
                  <a:pt x="127589" y="54681"/>
                </a:lnTo>
                <a:cubicBezTo>
                  <a:pt x="127589" y="64748"/>
                  <a:pt x="135750" y="72908"/>
                  <a:pt x="145816" y="72908"/>
                </a:cubicBezTo>
                <a:lnTo>
                  <a:pt x="182270" y="72908"/>
                </a:lnTo>
                <a:moveTo>
                  <a:pt x="91135" y="109362"/>
                </a:moveTo>
                <a:cubicBezTo>
                  <a:pt x="86102" y="109362"/>
                  <a:pt x="82022" y="113443"/>
                  <a:pt x="82022" y="118476"/>
                </a:cubicBezTo>
                <a:lnTo>
                  <a:pt x="82022" y="127589"/>
                </a:lnTo>
                <a:cubicBezTo>
                  <a:pt x="82022" y="132623"/>
                  <a:pt x="77941" y="136703"/>
                  <a:pt x="72908" y="136703"/>
                </a:cubicBezTo>
                <a:cubicBezTo>
                  <a:pt x="77941" y="136703"/>
                  <a:pt x="82022" y="140783"/>
                  <a:pt x="82022" y="145816"/>
                </a:cubicBezTo>
                <a:lnTo>
                  <a:pt x="82022" y="154930"/>
                </a:lnTo>
                <a:cubicBezTo>
                  <a:pt x="82022" y="159963"/>
                  <a:pt x="86102" y="164043"/>
                  <a:pt x="91135" y="164043"/>
                </a:cubicBezTo>
                <a:moveTo>
                  <a:pt x="127589" y="164043"/>
                </a:moveTo>
                <a:cubicBezTo>
                  <a:pt x="132623" y="164043"/>
                  <a:pt x="136703" y="159963"/>
                  <a:pt x="136703" y="154930"/>
                </a:cubicBezTo>
                <a:lnTo>
                  <a:pt x="136703" y="145816"/>
                </a:lnTo>
                <a:cubicBezTo>
                  <a:pt x="136703" y="140783"/>
                  <a:pt x="140783" y="136703"/>
                  <a:pt x="145816" y="136703"/>
                </a:cubicBezTo>
                <a:cubicBezTo>
                  <a:pt x="140783" y="136703"/>
                  <a:pt x="136703" y="132623"/>
                  <a:pt x="136703" y="127589"/>
                </a:cubicBezTo>
                <a:lnTo>
                  <a:pt x="136703" y="118476"/>
                </a:lnTo>
                <a:cubicBezTo>
                  <a:pt x="136703" y="113443"/>
                  <a:pt x="132623" y="109362"/>
                  <a:pt x="127589" y="109362"/>
                </a:cubicBezTo>
              </a:path>
            </a:pathLst>
          </a:custGeom>
          <a:noFill/>
          <a:ln w="18227" cap="rnd">
            <a:solidFill>
              <a:srgbClr val="0B6E8A"/>
            </a:solidFill>
            <a:prstDash val="solid"/>
            <a:round/>
          </a:ln>
        </p:spPr>
      </p:sp>
      <p:sp>
        <p:nvSpPr>
          <p:cNvPr id="23" name="Text 20"/>
          <p:cNvSpPr/>
          <p:nvPr/>
        </p:nvSpPr>
        <p:spPr>
          <a:xfrm>
            <a:off x="1161288" y="269748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Cada servicio publica su contrato OpenAPI</a:t>
            </a:r>
            <a:endParaRPr lang="en-US" sz="1350" dirty="0"/>
          </a:p>
        </p:txBody>
      </p:sp>
      <p:sp>
        <p:nvSpPr>
          <p:cNvPr id="24" name="Shape 21"/>
          <p:cNvSpPr/>
          <p:nvPr/>
        </p:nvSpPr>
        <p:spPr>
          <a:xfrm>
            <a:off x="612648" y="3361563"/>
            <a:ext cx="420624" cy="420624"/>
          </a:xfrm>
          <a:prstGeom prst="ellipse">
            <a:avLst/>
          </a:prstGeom>
          <a:solidFill>
            <a:srgbClr val="E3F4FA"/>
          </a:solidFill>
          <a:ln w="12700">
            <a:solidFill>
              <a:srgbClr val="E3F4FA"/>
            </a:solidFill>
            <a:prstDash val="solid"/>
          </a:ln>
        </p:spPr>
      </p:sp>
      <p:sp>
        <p:nvSpPr>
          <p:cNvPr id="25" name="Icono play"/>
          <p:cNvSpPr/>
          <p:nvPr/>
        </p:nvSpPr>
        <p:spPr>
          <a:xfrm>
            <a:off x="713598" y="3462513"/>
            <a:ext cx="218724" cy="218724"/>
          </a:xfrm>
          <a:custGeom>
            <a:avLst/>
            <a:gdLst/>
            <a:ahLst/>
            <a:cxnLst/>
            <a:rect l="l" t="t" r="r" b="b"/>
            <a:pathLst>
              <a:path w="218724" h="218724">
                <a:moveTo>
                  <a:pt x="54681" y="27341"/>
                </a:moveTo>
                <a:lnTo>
                  <a:pt x="182270" y="109362"/>
                </a:lnTo>
                <a:lnTo>
                  <a:pt x="54681" y="191384"/>
                </a:lnTo>
                <a:lnTo>
                  <a:pt x="54681" y="27341"/>
                </a:lnTo>
                <a:close/>
              </a:path>
            </a:pathLst>
          </a:custGeom>
          <a:noFill/>
          <a:ln w="18227" cap="rnd">
            <a:solidFill>
              <a:srgbClr val="0B6E8A"/>
            </a:solidFill>
            <a:prstDash val="solid"/>
            <a:round/>
          </a:ln>
        </p:spPr>
      </p:sp>
      <p:sp>
        <p:nvSpPr>
          <p:cNvPr id="26" name="Text 23"/>
          <p:cNvSpPr/>
          <p:nvPr/>
        </p:nvSpPr>
        <p:spPr>
          <a:xfrm>
            <a:off x="1161288" y="328041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Swagger UI lo muestra y permite probarlo</a:t>
            </a:r>
            <a:endParaRPr lang="en-US" sz="1350" dirty="0"/>
          </a:p>
        </p:txBody>
      </p:sp>
      <p:sp>
        <p:nvSpPr>
          <p:cNvPr id="27" name="Shape 24"/>
          <p:cNvSpPr/>
          <p:nvPr/>
        </p:nvSpPr>
        <p:spPr>
          <a:xfrm>
            <a:off x="612648" y="3944493"/>
            <a:ext cx="420624" cy="420624"/>
          </a:xfrm>
          <a:prstGeom prst="ellipse">
            <a:avLst/>
          </a:prstGeom>
          <a:solidFill>
            <a:srgbClr val="E3F4FA"/>
          </a:solidFill>
          <a:ln w="12700">
            <a:solidFill>
              <a:srgbClr val="E3F4FA"/>
            </a:solidFill>
            <a:prstDash val="solid"/>
          </a:ln>
        </p:spPr>
      </p:sp>
      <p:sp>
        <p:nvSpPr>
          <p:cNvPr id="28" name="Icono sparkles"/>
          <p:cNvSpPr/>
          <p:nvPr/>
        </p:nvSpPr>
        <p:spPr>
          <a:xfrm>
            <a:off x="713598" y="4045443"/>
            <a:ext cx="218724" cy="218724"/>
          </a:xfrm>
          <a:custGeom>
            <a:avLst/>
            <a:gdLst/>
            <a:ahLst/>
            <a:cxnLst/>
            <a:rect l="l" t="t" r="r" b="b"/>
            <a:pathLst>
              <a:path w="218724" h="218724">
                <a:moveTo>
                  <a:pt x="90561" y="141260"/>
                </a:moveTo>
                <a:cubicBezTo>
                  <a:pt x="88904" y="134836"/>
                  <a:pt x="83888" y="129820"/>
                  <a:pt x="77465" y="128163"/>
                </a:cubicBezTo>
                <a:lnTo>
                  <a:pt x="21553" y="113746"/>
                </a:lnTo>
                <a:cubicBezTo>
                  <a:pt x="19593" y="113190"/>
                  <a:pt x="18241" y="111400"/>
                  <a:pt x="18241" y="109362"/>
                </a:cubicBezTo>
                <a:cubicBezTo>
                  <a:pt x="18241" y="107325"/>
                  <a:pt x="19593" y="105535"/>
                  <a:pt x="21553" y="104979"/>
                </a:cubicBezTo>
                <a:lnTo>
                  <a:pt x="77465" y="90552"/>
                </a:lnTo>
                <a:cubicBezTo>
                  <a:pt x="83886" y="88896"/>
                  <a:pt x="88901" y="83885"/>
                  <a:pt x="90561" y="77465"/>
                </a:cubicBezTo>
                <a:lnTo>
                  <a:pt x="104979" y="21553"/>
                </a:lnTo>
                <a:cubicBezTo>
                  <a:pt x="105529" y="19585"/>
                  <a:pt x="107323" y="18225"/>
                  <a:pt x="109367" y="18225"/>
                </a:cubicBezTo>
                <a:cubicBezTo>
                  <a:pt x="111410" y="18225"/>
                  <a:pt x="113204" y="19585"/>
                  <a:pt x="113755" y="21553"/>
                </a:cubicBezTo>
                <a:lnTo>
                  <a:pt x="128163" y="77465"/>
                </a:lnTo>
                <a:cubicBezTo>
                  <a:pt x="129820" y="83888"/>
                  <a:pt x="134836" y="88904"/>
                  <a:pt x="141260" y="90561"/>
                </a:cubicBezTo>
                <a:lnTo>
                  <a:pt x="197171" y="104970"/>
                </a:lnTo>
                <a:cubicBezTo>
                  <a:pt x="199147" y="105515"/>
                  <a:pt x="200516" y="107312"/>
                  <a:pt x="200516" y="109362"/>
                </a:cubicBezTo>
                <a:cubicBezTo>
                  <a:pt x="200516" y="111412"/>
                  <a:pt x="199147" y="113210"/>
                  <a:pt x="197171" y="113755"/>
                </a:cubicBezTo>
                <a:lnTo>
                  <a:pt x="141260" y="128163"/>
                </a:lnTo>
                <a:cubicBezTo>
                  <a:pt x="134836" y="129820"/>
                  <a:pt x="129820" y="134836"/>
                  <a:pt x="128163" y="141260"/>
                </a:cubicBezTo>
                <a:lnTo>
                  <a:pt x="113746" y="197171"/>
                </a:lnTo>
                <a:cubicBezTo>
                  <a:pt x="113195" y="199139"/>
                  <a:pt x="111401" y="200500"/>
                  <a:pt x="109358" y="200500"/>
                </a:cubicBezTo>
                <a:cubicBezTo>
                  <a:pt x="107314" y="200500"/>
                  <a:pt x="105520" y="199139"/>
                  <a:pt x="104970" y="197171"/>
                </a:cubicBezTo>
                <a:close/>
                <a:moveTo>
                  <a:pt x="182270" y="27341"/>
                </a:moveTo>
                <a:lnTo>
                  <a:pt x="182270" y="63795"/>
                </a:lnTo>
                <a:moveTo>
                  <a:pt x="200497" y="45568"/>
                </a:moveTo>
                <a:lnTo>
                  <a:pt x="164043" y="45568"/>
                </a:lnTo>
                <a:moveTo>
                  <a:pt x="36454" y="154930"/>
                </a:moveTo>
                <a:lnTo>
                  <a:pt x="36454" y="173157"/>
                </a:lnTo>
                <a:moveTo>
                  <a:pt x="45568" y="164043"/>
                </a:moveTo>
                <a:lnTo>
                  <a:pt x="27341" y="164043"/>
                </a:lnTo>
              </a:path>
            </a:pathLst>
          </a:custGeom>
          <a:noFill/>
          <a:ln w="18227" cap="rnd">
            <a:solidFill>
              <a:srgbClr val="0B6E8A"/>
            </a:solidFill>
            <a:prstDash val="solid"/>
            <a:round/>
          </a:ln>
        </p:spPr>
      </p:sp>
      <p:sp>
        <p:nvSpPr>
          <p:cNvPr id="29" name="Text 26"/>
          <p:cNvSpPr/>
          <p:nvPr/>
        </p:nvSpPr>
        <p:spPr>
          <a:xfrm>
            <a:off x="1161288" y="386334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Un endpoint nuevo aparece solo</a:t>
            </a:r>
            <a:endParaRPr lang="en-US" sz="1350" dirty="0"/>
          </a:p>
        </p:txBody>
      </p:sp>
      <p:sp>
        <p:nvSpPr>
          <p:cNvPr id="30" name="Shape 27"/>
          <p:cNvSpPr/>
          <p:nvPr/>
        </p:nvSpPr>
        <p:spPr>
          <a:xfrm>
            <a:off x="612648" y="4527423"/>
            <a:ext cx="420624" cy="420624"/>
          </a:xfrm>
          <a:prstGeom prst="ellipse">
            <a:avLst/>
          </a:prstGeom>
          <a:solidFill>
            <a:srgbClr val="E3F4FA"/>
          </a:solidFill>
          <a:ln w="12700">
            <a:solidFill>
              <a:srgbClr val="E3F4FA"/>
            </a:solidFill>
            <a:prstDash val="solid"/>
          </a:ln>
        </p:spPr>
      </p:sp>
      <p:sp>
        <p:nvSpPr>
          <p:cNvPr id="31" name="Icono link"/>
          <p:cNvSpPr/>
          <p:nvPr/>
        </p:nvSpPr>
        <p:spPr>
          <a:xfrm>
            <a:off x="713598" y="4628373"/>
            <a:ext cx="218724" cy="218724"/>
          </a:xfrm>
          <a:custGeom>
            <a:avLst/>
            <a:gdLst/>
            <a:ahLst/>
            <a:cxnLst/>
            <a:rect l="l" t="t" r="r" b="b"/>
            <a:pathLst>
              <a:path w="218724" h="218724">
                <a:moveTo>
                  <a:pt x="91135" y="118476"/>
                </a:moveTo>
                <a:cubicBezTo>
                  <a:pt x="99054" y="129063"/>
                  <a:pt x="111182" y="135688"/>
                  <a:pt x="124369" y="136633"/>
                </a:cubicBezTo>
                <a:cubicBezTo>
                  <a:pt x="137556" y="137577"/>
                  <a:pt x="150504" y="132748"/>
                  <a:pt x="159851" y="123397"/>
                </a:cubicBezTo>
                <a:lnTo>
                  <a:pt x="187192" y="96057"/>
                </a:lnTo>
                <a:cubicBezTo>
                  <a:pt x="204461" y="78177"/>
                  <a:pt x="204214" y="49756"/>
                  <a:pt x="186637" y="32179"/>
                </a:cubicBezTo>
                <a:cubicBezTo>
                  <a:pt x="169060" y="14602"/>
                  <a:pt x="140639" y="14355"/>
                  <a:pt x="122759" y="31624"/>
                </a:cubicBezTo>
                <a:lnTo>
                  <a:pt x="107084" y="47208"/>
                </a:lnTo>
                <a:moveTo>
                  <a:pt x="127589" y="100249"/>
                </a:moveTo>
                <a:cubicBezTo>
                  <a:pt x="119670" y="89662"/>
                  <a:pt x="107543" y="83036"/>
                  <a:pt x="94355" y="82092"/>
                </a:cubicBezTo>
                <a:cubicBezTo>
                  <a:pt x="81168" y="81147"/>
                  <a:pt x="68220" y="85977"/>
                  <a:pt x="58873" y="95327"/>
                </a:cubicBezTo>
                <a:lnTo>
                  <a:pt x="31533" y="122668"/>
                </a:lnTo>
                <a:cubicBezTo>
                  <a:pt x="14264" y="140548"/>
                  <a:pt x="14511" y="168969"/>
                  <a:pt x="32088" y="186545"/>
                </a:cubicBezTo>
                <a:cubicBezTo>
                  <a:pt x="49665" y="204122"/>
                  <a:pt x="78086" y="204369"/>
                  <a:pt x="95965" y="187101"/>
                </a:cubicBezTo>
                <a:lnTo>
                  <a:pt x="111549" y="171516"/>
                </a:lnTo>
              </a:path>
            </a:pathLst>
          </a:custGeom>
          <a:noFill/>
          <a:ln w="18227" cap="rnd">
            <a:solidFill>
              <a:srgbClr val="0B6E8A"/>
            </a:solidFill>
            <a:prstDash val="solid"/>
            <a:round/>
          </a:ln>
        </p:spPr>
      </p:sp>
      <p:sp>
        <p:nvSpPr>
          <p:cNvPr id="32" name="Text 29"/>
          <p:cNvSpPr/>
          <p:nvPr/>
        </p:nvSpPr>
        <p:spPr>
          <a:xfrm>
            <a:off x="1161288" y="4446270"/>
            <a:ext cx="3383280" cy="582930"/>
          </a:xfrm>
          <a:prstGeom prst="rect">
            <a:avLst/>
          </a:prstGeom>
          <a:noFill/>
          <a:ln/>
        </p:spPr>
        <p:txBody>
          <a:bodyPr wrap="square" lIns="0" tIns="0" rIns="0" bIns="0" rtlCol="0" anchor="ctr">
            <a:normAutofit/>
          </a:bodyPr>
          <a:lstStyle/>
          <a:p>
            <a:pPr indent="0" marL="0">
              <a:buNone/>
            </a:pPr>
            <a:r>
              <a:rPr lang="en-US" sz="1350" dirty="0">
                <a:solidFill>
                  <a:srgbClr val="0B1A3C"/>
                </a:solidFill>
                <a:latin typeface="Segoe UI" pitchFamily="34" charset="0"/>
                <a:ea typeface="Segoe UI" pitchFamily="34" charset="-122"/>
                <a:cs typeface="Segoe UI" pitchFamily="34" charset="-120"/>
              </a:rPr>
              <a:t>La UI enlaza los dos Swagger</a:t>
            </a:r>
            <a:endParaRPr lang="en-US" sz="1350" dirty="0"/>
          </a:p>
        </p:txBody>
      </p:sp>
      <p:sp>
        <p:nvSpPr>
          <p:cNvPr id="33" name="Shape 30"/>
          <p:cNvSpPr/>
          <p:nvPr/>
        </p:nvSpPr>
        <p:spPr>
          <a:xfrm>
            <a:off x="612648" y="5166360"/>
            <a:ext cx="3931920" cy="1188720"/>
          </a:xfrm>
          <a:prstGeom prst="roundRect">
            <a:avLst>
              <a:gd name="adj" fmla="val 9231"/>
            </a:avLst>
          </a:prstGeom>
          <a:solidFill>
            <a:srgbClr val="E3F4FA"/>
          </a:solidFill>
          <a:ln w="12700">
            <a:solidFill>
              <a:srgbClr val="8ACEE2"/>
            </a:solidFill>
            <a:prstDash val="solid"/>
          </a:ln>
        </p:spPr>
      </p:sp>
      <p:sp>
        <p:nvSpPr>
          <p:cNvPr id="34" name="Shape 31"/>
          <p:cNvSpPr/>
          <p:nvPr/>
        </p:nvSpPr>
        <p:spPr>
          <a:xfrm>
            <a:off x="795528" y="5458968"/>
            <a:ext cx="603504" cy="603504"/>
          </a:xfrm>
          <a:prstGeom prst="ellipse">
            <a:avLst/>
          </a:prstGeom>
          <a:solidFill>
            <a:srgbClr val="FFFFFF"/>
          </a:solidFill>
          <a:ln w="12700">
            <a:solidFill>
              <a:srgbClr val="FFFFFF"/>
            </a:solidFill>
            <a:prstDash val="solid"/>
          </a:ln>
        </p:spPr>
      </p:sp>
      <p:sp>
        <p:nvSpPr>
          <p:cNvPr id="35" name="Icono utensils"/>
          <p:cNvSpPr/>
          <p:nvPr/>
        </p:nvSpPr>
        <p:spPr>
          <a:xfrm>
            <a:off x="940369" y="5603809"/>
            <a:ext cx="313822" cy="313822"/>
          </a:xfrm>
          <a:custGeom>
            <a:avLst/>
            <a:gdLst/>
            <a:ahLst/>
            <a:cxnLst/>
            <a:rect l="l" t="t" r="r" b="b"/>
            <a:pathLst>
              <a:path w="313822" h="313822">
                <a:moveTo>
                  <a:pt x="39228" y="26152"/>
                </a:moveTo>
                <a:lnTo>
                  <a:pt x="39228" y="117683"/>
                </a:lnTo>
                <a:cubicBezTo>
                  <a:pt x="39228" y="132067"/>
                  <a:pt x="50996" y="143835"/>
                  <a:pt x="65380" y="143835"/>
                </a:cubicBezTo>
                <a:lnTo>
                  <a:pt x="117683" y="143835"/>
                </a:lnTo>
                <a:cubicBezTo>
                  <a:pt x="132127" y="143835"/>
                  <a:pt x="143835" y="132127"/>
                  <a:pt x="143835" y="117683"/>
                </a:cubicBezTo>
                <a:lnTo>
                  <a:pt x="143835" y="26152"/>
                </a:lnTo>
                <a:moveTo>
                  <a:pt x="91531" y="26152"/>
                </a:moveTo>
                <a:lnTo>
                  <a:pt x="91531" y="287670"/>
                </a:lnTo>
                <a:moveTo>
                  <a:pt x="274594" y="196139"/>
                </a:moveTo>
                <a:lnTo>
                  <a:pt x="274594" y="26152"/>
                </a:lnTo>
                <a:cubicBezTo>
                  <a:pt x="238486" y="26152"/>
                  <a:pt x="209215" y="55423"/>
                  <a:pt x="209215" y="91531"/>
                </a:cubicBezTo>
                <a:lnTo>
                  <a:pt x="209215" y="169987"/>
                </a:lnTo>
                <a:cubicBezTo>
                  <a:pt x="209215" y="184370"/>
                  <a:pt x="220983" y="196139"/>
                  <a:pt x="235367" y="196139"/>
                </a:cubicBezTo>
                <a:lnTo>
                  <a:pt x="274594" y="196139"/>
                </a:lnTo>
                <a:close/>
                <a:moveTo>
                  <a:pt x="274594" y="196139"/>
                </a:moveTo>
                <a:lnTo>
                  <a:pt x="274594" y="287670"/>
                </a:lnTo>
              </a:path>
            </a:pathLst>
          </a:custGeom>
          <a:noFill/>
          <a:ln w="26152" cap="rnd">
            <a:solidFill>
              <a:srgbClr val="0B6E8A"/>
            </a:solidFill>
            <a:prstDash val="solid"/>
            <a:round/>
          </a:ln>
        </p:spPr>
      </p:sp>
      <p:sp>
        <p:nvSpPr>
          <p:cNvPr id="36" name="Text 33"/>
          <p:cNvSpPr/>
          <p:nvPr/>
        </p:nvSpPr>
        <p:spPr>
          <a:xfrm>
            <a:off x="1563624" y="5239512"/>
            <a:ext cx="2825496" cy="1042416"/>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menú de un restaurante: dice qué hay, qué lleva cada plato y qué te van a traer.</a:t>
            </a:r>
            <a:endParaRPr lang="en-US" sz="1450" dirty="0"/>
          </a:p>
        </p:txBody>
      </p:sp>
      <p:sp>
        <p:nvSpPr>
          <p:cNvPr id="37"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DOCUMENTACIÓN</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8 · LA UI COMO LABORATORIO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 notificaciones se cae</a:t>
            </a:r>
            <a:endParaRPr lang="en-US" sz="2800" dirty="0"/>
          </a:p>
        </p:txBody>
      </p:sp>
      <p:sp>
        <p:nvSpPr>
          <p:cNvPr id="5" name="Shape 3"/>
          <p:cNvSpPr/>
          <p:nvPr/>
        </p:nvSpPr>
        <p:spPr>
          <a:xfrm>
            <a:off x="8872423"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2" name="Shape 10"/>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3" name="Text 11"/>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usuario no se entera; el aviso llega cuando el servicio vuelve.</a:t>
            </a:r>
            <a:endParaRPr lang="en-US" sz="1700" dirty="0"/>
          </a:p>
        </p:txBody>
      </p:sp>
      <p:sp>
        <p:nvSpPr>
          <p:cNvPr id="14" name="Shape 12"/>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612648" y="1828800"/>
            <a:ext cx="82296" cy="530352"/>
          </a:xfrm>
          <a:prstGeom prst="rect">
            <a:avLst/>
          </a:prstGeom>
          <a:solidFill>
            <a:srgbClr val="AB243E"/>
          </a:solidFill>
          <a:ln w="12700">
            <a:solidFill>
              <a:srgbClr val="AB243E"/>
            </a:solidFill>
            <a:prstDash val="solid"/>
          </a:ln>
        </p:spPr>
      </p:sp>
      <p:sp>
        <p:nvSpPr>
          <p:cNvPr id="16" name="Shape 14"/>
          <p:cNvSpPr/>
          <p:nvPr/>
        </p:nvSpPr>
        <p:spPr>
          <a:xfrm>
            <a:off x="886968" y="1819656"/>
            <a:ext cx="548640" cy="548640"/>
          </a:xfrm>
          <a:prstGeom prst="ellipse">
            <a:avLst/>
          </a:prstGeom>
          <a:solidFill>
            <a:srgbClr val="AB243E"/>
          </a:solidFill>
          <a:ln w="12700">
            <a:solidFill>
              <a:srgbClr val="AB243E"/>
            </a:solidFill>
            <a:prstDash val="solid"/>
          </a:ln>
        </p:spPr>
      </p:sp>
      <p:sp>
        <p:nvSpPr>
          <p:cNvPr id="17"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8" name="Text 16"/>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9" name="Text 17"/>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700" b="1" dirty="0">
                <a:solidFill>
                  <a:srgbClr val="AB243E"/>
                </a:solidFill>
                <a:latin typeface="Segoe UI" pitchFamily="34" charset="0"/>
                <a:ea typeface="Segoe UI" pitchFamily="34" charset="-122"/>
                <a:cs typeface="Segoe UI" pitchFamily="34" charset="-120"/>
              </a:rPr>
              <a:t>notificaciones está caído</a:t>
            </a:r>
            <a:pPr indent="0" marL="0">
              <a:buNone/>
            </a:pPr>
            <a:r>
              <a:rPr lang="en-US" sz="1700" dirty="0">
                <a:solidFill>
                  <a:srgbClr val="0B1A3C"/>
                </a:solidFill>
                <a:latin typeface="Segoe UI" pitchFamily="34" charset="0"/>
                <a:ea typeface="Segoe UI" pitchFamily="34" charset="-122"/>
                <a:cs typeface="Segoe UI" pitchFamily="34" charset="-120"/>
              </a:rPr>
              <a:t>   docker compose stop servicio-notificaciones</a:t>
            </a:r>
            <a:endParaRPr lang="en-US" sz="1700" dirty="0"/>
          </a:p>
        </p:txBody>
      </p:sp>
      <p:sp>
        <p:nvSpPr>
          <p:cNvPr id="20" name="Shape 18"/>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612648" y="5715000"/>
            <a:ext cx="82296" cy="530352"/>
          </a:xfrm>
          <a:prstGeom prst="rect">
            <a:avLst/>
          </a:prstGeom>
          <a:solidFill>
            <a:srgbClr val="0A6648"/>
          </a:solidFill>
          <a:ln w="12700">
            <a:solidFill>
              <a:srgbClr val="0A6648"/>
            </a:solidFill>
            <a:prstDash val="solid"/>
          </a:ln>
        </p:spPr>
      </p:sp>
      <p:sp>
        <p:nvSpPr>
          <p:cNvPr id="22" name="Shape 20"/>
          <p:cNvSpPr/>
          <p:nvPr/>
        </p:nvSpPr>
        <p:spPr>
          <a:xfrm>
            <a:off x="886968" y="5705856"/>
            <a:ext cx="548640" cy="548640"/>
          </a:xfrm>
          <a:prstGeom prst="ellipse">
            <a:avLst/>
          </a:prstGeom>
          <a:solidFill>
            <a:srgbClr val="0A6648"/>
          </a:solidFill>
          <a:ln w="12700">
            <a:solidFill>
              <a:srgbClr val="0A6648"/>
            </a:solidFill>
            <a:prstDash val="solid"/>
          </a:ln>
        </p:spPr>
      </p:sp>
      <p:sp>
        <p:nvSpPr>
          <p:cNvPr id="23" name="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4" name="Text 22"/>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5" name="Text 23"/>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700" b="1" dirty="0">
                <a:solidFill>
                  <a:srgbClr val="0A6648"/>
                </a:solidFill>
                <a:latin typeface="Segoe UI" pitchFamily="34" charset="0"/>
                <a:ea typeface="Segoe UI" pitchFamily="34" charset="-122"/>
                <a:cs typeface="Segoe UI" pitchFamily="34" charset="-120"/>
              </a:rPr>
              <a:t>1 aviso, 0 perdidos</a:t>
            </a:r>
            <a:pPr indent="0" marL="0">
              <a:buNone/>
            </a:pPr>
            <a:r>
              <a:rPr lang="en-US" sz="1700" dirty="0">
                <a:solidFill>
                  <a:srgbClr val="0B1A3C"/>
                </a:solidFill>
                <a:latin typeface="Segoe UI" pitchFamily="34" charset="0"/>
                <a:ea typeface="Segoe UI" pitchFamily="34" charset="-122"/>
                <a:cs typeface="Segoe UI" pitchFamily="34" charset="-120"/>
              </a:rPr>
              <a:t>   Sin intervención y sin duplicados.</a:t>
            </a:r>
            <a:endParaRPr lang="en-US" sz="1700" dirty="0"/>
          </a:p>
        </p:txBody>
      </p:sp>
      <p:sp>
        <p:nvSpPr>
          <p:cNvPr id="26" name="Shape 24"/>
          <p:cNvSpPr/>
          <p:nvPr/>
        </p:nvSpPr>
        <p:spPr>
          <a:xfrm>
            <a:off x="2631940" y="2487168"/>
            <a:ext cx="0" cy="1005108"/>
          </a:xfrm>
          <a:prstGeom prst="line">
            <a:avLst/>
          </a:prstGeom>
          <a:noFill/>
          <a:ln w="25400">
            <a:solidFill>
              <a:srgbClr val="AB243E"/>
            </a:solidFill>
            <a:prstDash val="dash"/>
            <a:tailEnd type="triangle"/>
          </a:ln>
        </p:spPr>
      </p:sp>
      <p:sp>
        <p:nvSpPr>
          <p:cNvPr id="27" name="Shape 25"/>
          <p:cNvSpPr/>
          <p:nvPr/>
        </p:nvSpPr>
        <p:spPr>
          <a:xfrm>
            <a:off x="10856740" y="3711732"/>
            <a:ext cx="0" cy="1875252"/>
          </a:xfrm>
          <a:prstGeom prst="line">
            <a:avLst/>
          </a:prstGeom>
          <a:noFill/>
          <a:ln w="25400">
            <a:solidFill>
              <a:srgbClr val="0A6648"/>
            </a:solidFill>
            <a:prstDash val="dash"/>
            <a:tailEnd type="triangle"/>
          </a:ln>
        </p:spPr>
      </p:sp>
      <p:sp>
        <p:nvSpPr>
          <p:cNvPr id="28" name="Shape 26"/>
          <p:cNvSpPr/>
          <p:nvPr/>
        </p:nvSpPr>
        <p:spPr>
          <a:xfrm>
            <a:off x="1983448" y="3602004"/>
            <a:ext cx="8224799" cy="0"/>
          </a:xfrm>
          <a:prstGeom prst="line">
            <a:avLst/>
          </a:prstGeom>
          <a:noFill/>
          <a:ln w="50800">
            <a:solidFill>
              <a:srgbClr val="6BC1DB"/>
            </a:solidFill>
            <a:prstDash val="solid"/>
          </a:ln>
        </p:spPr>
      </p:sp>
      <p:sp>
        <p:nvSpPr>
          <p:cNvPr id="29" name="Text 27"/>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30" name="Shape 28"/>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1" name="Icono send"/>
          <p:cNvSpPr/>
          <p:nvPr/>
        </p:nvSpPr>
        <p:spPr>
          <a:xfrm>
            <a:off x="1756706" y="3375263"/>
            <a:ext cx="453484" cy="453484"/>
          </a:xfrm>
          <a:custGeom>
            <a:avLst/>
            <a:gdLst/>
            <a:ahLst/>
            <a:cxnLst/>
            <a:rect l="l" t="t" r="r" b="b"/>
            <a:pathLst>
              <a:path w="453484" h="453484">
                <a:moveTo>
                  <a:pt x="274660" y="409760"/>
                </a:moveTo>
                <a:cubicBezTo>
                  <a:pt x="276130" y="413424"/>
                  <a:pt x="279724" y="415788"/>
                  <a:pt x="283670" y="415687"/>
                </a:cubicBezTo>
                <a:cubicBezTo>
                  <a:pt x="287617" y="415586"/>
                  <a:pt x="291084" y="413041"/>
                  <a:pt x="292365" y="409307"/>
                </a:cubicBezTo>
                <a:lnTo>
                  <a:pt x="415183" y="50299"/>
                </a:lnTo>
                <a:cubicBezTo>
                  <a:pt x="416418" y="46881"/>
                  <a:pt x="415565" y="43058"/>
                  <a:pt x="412996" y="40488"/>
                </a:cubicBezTo>
                <a:cubicBezTo>
                  <a:pt x="410426" y="37919"/>
                  <a:pt x="406603" y="37066"/>
                  <a:pt x="403185" y="38300"/>
                </a:cubicBezTo>
                <a:lnTo>
                  <a:pt x="44177" y="161119"/>
                </a:lnTo>
                <a:cubicBezTo>
                  <a:pt x="40443" y="162400"/>
                  <a:pt x="37898" y="165867"/>
                  <a:pt x="37797" y="169814"/>
                </a:cubicBezTo>
                <a:cubicBezTo>
                  <a:pt x="37696" y="173760"/>
                  <a:pt x="40060" y="177354"/>
                  <a:pt x="43723" y="178824"/>
                </a:cubicBezTo>
                <a:lnTo>
                  <a:pt x="193562" y="238910"/>
                </a:lnTo>
                <a:cubicBezTo>
                  <a:pt x="203134" y="242743"/>
                  <a:pt x="210724" y="250319"/>
                  <a:pt x="214573" y="259884"/>
                </a:cubicBezTo>
                <a:close/>
                <a:moveTo>
                  <a:pt x="412935" y="40568"/>
                </a:moveTo>
                <a:lnTo>
                  <a:pt x="206222" y="247262"/>
                </a:lnTo>
              </a:path>
            </a:pathLst>
          </a:custGeom>
          <a:noFill/>
          <a:ln w="33067" cap="rnd">
            <a:solidFill>
              <a:srgbClr val="0B2350"/>
            </a:solidFill>
            <a:prstDash val="solid"/>
            <a:round/>
          </a:ln>
        </p:spPr>
      </p:sp>
      <p:sp>
        <p:nvSpPr>
          <p:cNvPr id="32" name="Shape 30"/>
          <p:cNvSpPr/>
          <p:nvPr/>
        </p:nvSpPr>
        <p:spPr>
          <a:xfrm>
            <a:off x="2476492" y="3602004"/>
            <a:ext cx="1755511" cy="0"/>
          </a:xfrm>
          <a:prstGeom prst="line">
            <a:avLst/>
          </a:prstGeom>
          <a:noFill/>
          <a:ln w="38100">
            <a:solidFill>
              <a:srgbClr val="2BA6CB"/>
            </a:solidFill>
            <a:prstDash val="solid"/>
            <a:tailEnd type="triangle"/>
          </a:ln>
        </p:spPr>
      </p:sp>
      <p:sp>
        <p:nvSpPr>
          <p:cNvPr id="33" name="Text 31"/>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Enviar</a:t>
            </a:r>
            <a:endParaRPr lang="en-US" sz="1700" dirty="0"/>
          </a:p>
        </p:txBody>
      </p:sp>
      <p:sp>
        <p:nvSpPr>
          <p:cNvPr id="34" name="Text 32"/>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Responde 200: solicitud ENVIADA y evento guardado.</a:t>
            </a:r>
            <a:endParaRPr lang="en-US" sz="1300" dirty="0"/>
          </a:p>
        </p:txBody>
      </p:sp>
      <p:sp>
        <p:nvSpPr>
          <p:cNvPr id="35" name="Text 33"/>
          <p:cNvSpPr/>
          <p:nvPr/>
        </p:nvSpPr>
        <p:spPr>
          <a:xfrm>
            <a:off x="41306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cada 5 s</a:t>
            </a:r>
            <a:endParaRPr lang="en-US" sz="1100" dirty="0"/>
          </a:p>
        </p:txBody>
      </p:sp>
      <p:sp>
        <p:nvSpPr>
          <p:cNvPr id="36" name="Shape 34"/>
          <p:cNvSpPr/>
          <p:nvPr/>
        </p:nvSpPr>
        <p:spPr>
          <a:xfrm>
            <a:off x="43051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7" name="Icono refresh-cw"/>
          <p:cNvSpPr/>
          <p:nvPr/>
        </p:nvSpPr>
        <p:spPr>
          <a:xfrm>
            <a:off x="4498306"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8A4B06"/>
            </a:solidFill>
            <a:prstDash val="solid"/>
            <a:round/>
          </a:ln>
        </p:spPr>
      </p:sp>
      <p:sp>
        <p:nvSpPr>
          <p:cNvPr id="38" name="Shape 36"/>
          <p:cNvSpPr/>
          <p:nvPr/>
        </p:nvSpPr>
        <p:spPr>
          <a:xfrm>
            <a:off x="5218092" y="3602004"/>
            <a:ext cx="1755511" cy="0"/>
          </a:xfrm>
          <a:prstGeom prst="line">
            <a:avLst/>
          </a:prstGeom>
          <a:noFill/>
          <a:ln w="38100">
            <a:solidFill>
              <a:srgbClr val="2BA6CB"/>
            </a:solidFill>
            <a:prstDash val="solid"/>
            <a:tailEnd type="triangle"/>
          </a:ln>
        </p:spPr>
      </p:sp>
      <p:sp>
        <p:nvSpPr>
          <p:cNvPr id="39" name="Text 37"/>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Reintenta</a:t>
            </a:r>
            <a:endParaRPr lang="en-US" sz="1700" dirty="0"/>
          </a:p>
        </p:txBody>
      </p:sp>
      <p:sp>
        <p:nvSpPr>
          <p:cNvPr id="40" name="Text 38"/>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3 intentos por ciclo; el evento sigue pendiente.</a:t>
            </a:r>
            <a:endParaRPr lang="en-US" sz="1300" dirty="0"/>
          </a:p>
        </p:txBody>
      </p:sp>
      <p:sp>
        <p:nvSpPr>
          <p:cNvPr id="41" name="Text 39"/>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la UI</a:t>
            </a:r>
            <a:endParaRPr lang="en-US" sz="1100" dirty="0"/>
          </a:p>
        </p:txBody>
      </p:sp>
      <p:sp>
        <p:nvSpPr>
          <p:cNvPr id="42" name="Shape 40"/>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3" name="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4" name="Shape 42"/>
          <p:cNvSpPr/>
          <p:nvPr/>
        </p:nvSpPr>
        <p:spPr>
          <a:xfrm>
            <a:off x="7959692" y="3602004"/>
            <a:ext cx="1755511" cy="0"/>
          </a:xfrm>
          <a:prstGeom prst="line">
            <a:avLst/>
          </a:prstGeom>
          <a:noFill/>
          <a:ln w="38100">
            <a:solidFill>
              <a:srgbClr val="2BA6CB"/>
            </a:solidFill>
            <a:prstDash val="solid"/>
            <a:tailEnd type="triangle"/>
          </a:ln>
        </p:spPr>
      </p:sp>
      <p:sp>
        <p:nvSpPr>
          <p:cNvPr id="45" name="Text 43"/>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6" name="Text 44"/>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Salud en DOWN y “1 evento en camino”.</a:t>
            </a:r>
            <a:endParaRPr lang="en-US" sz="1300" dirty="0"/>
          </a:p>
        </p:txBody>
      </p:sp>
      <p:sp>
        <p:nvSpPr>
          <p:cNvPr id="47" name="Text 45"/>
          <p:cNvSpPr/>
          <p:nvPr/>
        </p:nvSpPr>
        <p:spPr>
          <a:xfrm>
            <a:off x="9568167"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al volver</a:t>
            </a:r>
            <a:endParaRPr lang="en-US" sz="1100" dirty="0"/>
          </a:p>
        </p:txBody>
      </p:sp>
      <p:sp>
        <p:nvSpPr>
          <p:cNvPr id="48" name="Shape 46"/>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9" name="Icono bell"/>
          <p:cNvSpPr/>
          <p:nvPr/>
        </p:nvSpPr>
        <p:spPr>
          <a:xfrm>
            <a:off x="9981505" y="3375263"/>
            <a:ext cx="453484" cy="453484"/>
          </a:xfrm>
          <a:custGeom>
            <a:avLst/>
            <a:gdLst/>
            <a:ahLst/>
            <a:cxnLst/>
            <a:rect l="l" t="t" r="r" b="b"/>
            <a:pathLst>
              <a:path w="453484" h="453484">
                <a:moveTo>
                  <a:pt x="194016" y="396798"/>
                </a:moveTo>
                <a:cubicBezTo>
                  <a:pt x="200766" y="408490"/>
                  <a:pt x="213241" y="415692"/>
                  <a:pt x="226742" y="415692"/>
                </a:cubicBezTo>
                <a:cubicBezTo>
                  <a:pt x="240242" y="415692"/>
                  <a:pt x="252718" y="408490"/>
                  <a:pt x="259468" y="396798"/>
                </a:cubicBezTo>
                <a:moveTo>
                  <a:pt x="61636" y="289587"/>
                </a:moveTo>
                <a:cubicBezTo>
                  <a:pt x="56593" y="295115"/>
                  <a:pt x="55286" y="303098"/>
                  <a:pt x="58305" y="309945"/>
                </a:cubicBezTo>
                <a:cubicBezTo>
                  <a:pt x="61323" y="316792"/>
                  <a:pt x="68098" y="321212"/>
                  <a:pt x="75581" y="321218"/>
                </a:cubicBezTo>
                <a:lnTo>
                  <a:pt x="377903" y="321218"/>
                </a:lnTo>
                <a:cubicBezTo>
                  <a:pt x="385385" y="321220"/>
                  <a:pt x="392164" y="316808"/>
                  <a:pt x="395190" y="309966"/>
                </a:cubicBezTo>
                <a:cubicBezTo>
                  <a:pt x="398217" y="303124"/>
                  <a:pt x="396921" y="295140"/>
                  <a:pt x="391886" y="289606"/>
                </a:cubicBezTo>
                <a:cubicBezTo>
                  <a:pt x="366755" y="263701"/>
                  <a:pt x="340113" y="236171"/>
                  <a:pt x="340113" y="151161"/>
                </a:cubicBezTo>
                <a:cubicBezTo>
                  <a:pt x="340113" y="88548"/>
                  <a:pt x="289355" y="37790"/>
                  <a:pt x="226742" y="37790"/>
                </a:cubicBezTo>
                <a:cubicBezTo>
                  <a:pt x="164129" y="37790"/>
                  <a:pt x="113371" y="88548"/>
                  <a:pt x="113371" y="151161"/>
                </a:cubicBezTo>
                <a:cubicBezTo>
                  <a:pt x="113371" y="236171"/>
                  <a:pt x="86710" y="263701"/>
                  <a:pt x="61636" y="289587"/>
                </a:cubicBezTo>
              </a:path>
            </a:pathLst>
          </a:custGeom>
          <a:noFill/>
          <a:ln w="33067" cap="rnd">
            <a:solidFill>
              <a:srgbClr val="0A6648"/>
            </a:solidFill>
            <a:prstDash val="solid"/>
            <a:round/>
          </a:ln>
        </p:spPr>
      </p:sp>
      <p:sp>
        <p:nvSpPr>
          <p:cNvPr id="50" name="Text 48"/>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Entrega</a:t>
            </a:r>
            <a:endParaRPr lang="en-US" sz="1700" dirty="0"/>
          </a:p>
        </p:txBody>
      </p:sp>
      <p:sp>
        <p:nvSpPr>
          <p:cNvPr id="51" name="Text 49"/>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Mismo eventoId: se crea el aviso.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8 · LA UI COMO LABORATORIO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desde mañana.</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Resiliencia</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Outbox, reintentos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Shape 17"/>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612648" y="3198571"/>
            <a:ext cx="64008" cy="546811"/>
          </a:xfrm>
          <a:prstGeom prst="rect">
            <a:avLst/>
          </a:prstGeom>
          <a:solidFill>
            <a:srgbClr val="0B6E8A"/>
          </a:solidFill>
          <a:ln w="12700">
            <a:solidFill>
              <a:srgbClr val="0B6E8A"/>
            </a:solidFill>
            <a:prstDash val="solid"/>
          </a:ln>
        </p:spPr>
      </p:sp>
      <p:sp>
        <p:nvSpPr>
          <p:cNvPr id="21" name="Shape 19"/>
          <p:cNvSpPr/>
          <p:nvPr/>
        </p:nvSpPr>
        <p:spPr>
          <a:xfrm>
            <a:off x="772668" y="3215945"/>
            <a:ext cx="512064" cy="512064"/>
          </a:xfrm>
          <a:prstGeom prst="ellipse">
            <a:avLst/>
          </a:prstGeom>
          <a:solidFill>
            <a:srgbClr val="E3F4FA"/>
          </a:solidFill>
          <a:ln w="12700">
            <a:solidFill>
              <a:srgbClr val="E3F4FA"/>
            </a:solidFill>
            <a:prstDash val="solid"/>
          </a:ln>
        </p:spPr>
      </p:sp>
      <p:sp>
        <p:nvSpPr>
          <p:cNvPr id="22" name="Icono container"/>
          <p:cNvSpPr/>
          <p:nvPr/>
        </p:nvSpPr>
        <p:spPr>
          <a:xfrm>
            <a:off x="895563" y="3338840"/>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23" name="Text 21"/>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24" name="Shape 22"/>
          <p:cNvSpPr/>
          <p:nvPr/>
        </p:nvSpPr>
        <p:spPr>
          <a:xfrm>
            <a:off x="4140961" y="3235147"/>
            <a:ext cx="0" cy="473659"/>
          </a:xfrm>
          <a:prstGeom prst="line">
            <a:avLst/>
          </a:prstGeom>
          <a:noFill/>
          <a:ln w="9525">
            <a:solidFill>
              <a:srgbClr val="DFE6F0"/>
            </a:solidFill>
            <a:prstDash val="solid"/>
          </a:ln>
        </p:spPr>
      </p:sp>
      <p:sp>
        <p:nvSpPr>
          <p:cNvPr id="25" name="Text 23"/>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26" name="Shape 24"/>
          <p:cNvSpPr/>
          <p:nvPr/>
        </p:nvSpPr>
        <p:spPr>
          <a:xfrm>
            <a:off x="8114733" y="3235147"/>
            <a:ext cx="0" cy="473659"/>
          </a:xfrm>
          <a:prstGeom prst="line">
            <a:avLst/>
          </a:prstGeom>
          <a:noFill/>
          <a:ln w="9525">
            <a:solidFill>
              <a:srgbClr val="DFE6F0"/>
            </a:solidFill>
            <a:prstDash val="solid"/>
          </a:ln>
        </p:spPr>
      </p:sp>
      <p:sp>
        <p:nvSpPr>
          <p:cNvPr id="27" name="Text 25"/>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28" name="Shape 26"/>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12648" y="4037990"/>
            <a:ext cx="64008" cy="546811"/>
          </a:xfrm>
          <a:prstGeom prst="rect">
            <a:avLst/>
          </a:prstGeom>
          <a:solidFill>
            <a:srgbClr val="0B2350"/>
          </a:solidFill>
          <a:ln w="12700">
            <a:solidFill>
              <a:srgbClr val="0B2350"/>
            </a:solidFill>
            <a:prstDash val="solid"/>
          </a:ln>
        </p:spPr>
      </p:sp>
      <p:sp>
        <p:nvSpPr>
          <p:cNvPr id="30" name="Shape 28"/>
          <p:cNvSpPr/>
          <p:nvPr/>
        </p:nvSpPr>
        <p:spPr>
          <a:xfrm>
            <a:off x="772668" y="4055364"/>
            <a:ext cx="512064" cy="512064"/>
          </a:xfrm>
          <a:prstGeom prst="ellipse">
            <a:avLst/>
          </a:prstGeom>
          <a:solidFill>
            <a:srgbClr val="E8EEF8"/>
          </a:solidFill>
          <a:ln w="12700">
            <a:solidFill>
              <a:srgbClr val="E8EEF8"/>
            </a:solidFill>
            <a:prstDash val="solid"/>
          </a:ln>
        </p:spPr>
      </p:sp>
      <p:sp>
        <p:nvSpPr>
          <p:cNvPr id="31" name="Icono flask-conical"/>
          <p:cNvSpPr/>
          <p:nvPr/>
        </p:nvSpPr>
        <p:spPr>
          <a:xfrm>
            <a:off x="895563" y="417825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32" name="Text 30"/>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33" name="Shape 31"/>
          <p:cNvSpPr/>
          <p:nvPr/>
        </p:nvSpPr>
        <p:spPr>
          <a:xfrm>
            <a:off x="4140961" y="4074566"/>
            <a:ext cx="0" cy="473659"/>
          </a:xfrm>
          <a:prstGeom prst="line">
            <a:avLst/>
          </a:prstGeom>
          <a:noFill/>
          <a:ln w="9525">
            <a:solidFill>
              <a:srgbClr val="DFE6F0"/>
            </a:solidFill>
            <a:prstDash val="solid"/>
          </a:ln>
        </p:spPr>
      </p:sp>
      <p:sp>
        <p:nvSpPr>
          <p:cNvPr id="34" name="Text 32"/>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67 pruebas y pipeline por PR</a:t>
            </a:r>
            <a:endParaRPr lang="en-US" sz="1400" dirty="0"/>
          </a:p>
        </p:txBody>
      </p:sp>
      <p:sp>
        <p:nvSpPr>
          <p:cNvPr id="35" name="Shape 33"/>
          <p:cNvSpPr/>
          <p:nvPr/>
        </p:nvSpPr>
        <p:spPr>
          <a:xfrm>
            <a:off x="8114733" y="4074566"/>
            <a:ext cx="0" cy="473659"/>
          </a:xfrm>
          <a:prstGeom prst="line">
            <a:avLst/>
          </a:prstGeom>
          <a:noFill/>
          <a:ln w="9525">
            <a:solidFill>
              <a:srgbClr val="DFE6F0"/>
            </a:solidFill>
            <a:prstDash val="solid"/>
          </a:ln>
        </p:spPr>
      </p:sp>
      <p:sp>
        <p:nvSpPr>
          <p:cNvPr id="36" name="Text 34"/>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no en producción</a:t>
            </a:r>
            <a:endParaRPr lang="en-US" sz="1400" dirty="0"/>
          </a:p>
        </p:txBody>
      </p:sp>
      <p:sp>
        <p:nvSpPr>
          <p:cNvPr id="37" name="Shape 35"/>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612648" y="4877410"/>
            <a:ext cx="64008" cy="546811"/>
          </a:xfrm>
          <a:prstGeom prst="rect">
            <a:avLst/>
          </a:prstGeom>
          <a:solidFill>
            <a:srgbClr val="8A4B06"/>
          </a:solidFill>
          <a:ln w="12700">
            <a:solidFill>
              <a:srgbClr val="8A4B06"/>
            </a:solidFill>
            <a:prstDash val="solid"/>
          </a:ln>
        </p:spPr>
      </p:sp>
      <p:sp>
        <p:nvSpPr>
          <p:cNvPr id="39" name="Shape 37"/>
          <p:cNvSpPr/>
          <p:nvPr/>
        </p:nvSpPr>
        <p:spPr>
          <a:xfrm>
            <a:off x="772668" y="4894783"/>
            <a:ext cx="512064" cy="512064"/>
          </a:xfrm>
          <a:prstGeom prst="ellipse">
            <a:avLst/>
          </a:prstGeom>
          <a:solidFill>
            <a:srgbClr val="FCEFD6"/>
          </a:solidFill>
          <a:ln w="12700">
            <a:solidFill>
              <a:srgbClr val="FCEFD6"/>
            </a:solidFill>
            <a:prstDash val="solid"/>
          </a:ln>
        </p:spPr>
      </p:sp>
      <p:sp>
        <p:nvSpPr>
          <p:cNvPr id="40" name="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41" name="Text 39"/>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Trazabilidad</a:t>
            </a:r>
            <a:endParaRPr lang="en-US" sz="1500" dirty="0"/>
          </a:p>
        </p:txBody>
      </p:sp>
      <p:sp>
        <p:nvSpPr>
          <p:cNvPr id="42" name="Shape 40"/>
          <p:cNvSpPr/>
          <p:nvPr/>
        </p:nvSpPr>
        <p:spPr>
          <a:xfrm>
            <a:off x="4140961" y="4913986"/>
            <a:ext cx="0" cy="473659"/>
          </a:xfrm>
          <a:prstGeom prst="line">
            <a:avLst/>
          </a:prstGeom>
          <a:noFill/>
          <a:ln w="9525">
            <a:solidFill>
              <a:srgbClr val="DFE6F0"/>
            </a:solidFill>
            <a:prstDash val="solid"/>
          </a:ln>
        </p:spPr>
      </p:sp>
      <p:sp>
        <p:nvSpPr>
          <p:cNvPr id="43" name="Text 41"/>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SHA</a:t>
            </a:r>
            <a:endParaRPr lang="en-US" sz="1400" dirty="0"/>
          </a:p>
        </p:txBody>
      </p:sp>
      <p:sp>
        <p:nvSpPr>
          <p:cNvPr id="44" name="Shape 42"/>
          <p:cNvSpPr/>
          <p:nvPr/>
        </p:nvSpPr>
        <p:spPr>
          <a:xfrm>
            <a:off x="8114733" y="4913986"/>
            <a:ext cx="0" cy="473659"/>
          </a:xfrm>
          <a:prstGeom prst="line">
            <a:avLst/>
          </a:prstGeom>
          <a:noFill/>
          <a:ln w="9525">
            <a:solidFill>
              <a:srgbClr val="DFE6F0"/>
            </a:solidFill>
            <a:prstDash val="solid"/>
          </a:ln>
        </p:spPr>
      </p:sp>
      <p:sp>
        <p:nvSpPr>
          <p:cNvPr id="45" name="Text 43"/>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46" name="Shape 44"/>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612648" y="5716829"/>
            <a:ext cx="64008" cy="546811"/>
          </a:xfrm>
          <a:prstGeom prst="rect">
            <a:avLst/>
          </a:prstGeom>
          <a:solidFill>
            <a:srgbClr val="5B3FC4"/>
          </a:solidFill>
          <a:ln w="12700">
            <a:solidFill>
              <a:srgbClr val="5B3FC4"/>
            </a:solidFill>
            <a:prstDash val="solid"/>
          </a:ln>
        </p:spPr>
      </p:sp>
      <p:sp>
        <p:nvSpPr>
          <p:cNvPr id="48" name="Shape 46"/>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Icono file-json"/>
          <p:cNvSpPr/>
          <p:nvPr/>
        </p:nvSpPr>
        <p:spPr>
          <a:xfrm>
            <a:off x="895563" y="5857098"/>
            <a:ext cx="266273" cy="266273"/>
          </a:xfrm>
          <a:custGeom>
            <a:avLst/>
            <a:gdLst/>
            <a:ahLst/>
            <a:cxnLst/>
            <a:rect l="l" t="t" r="r" b="b"/>
            <a:pathLst>
              <a:path w="266273" h="266273">
                <a:moveTo>
                  <a:pt x="166421" y="22189"/>
                </a:moveTo>
                <a:lnTo>
                  <a:pt x="66568" y="22189"/>
                </a:lnTo>
                <a:cubicBezTo>
                  <a:pt x="54313" y="22189"/>
                  <a:pt x="44379" y="32124"/>
                  <a:pt x="44379" y="44379"/>
                </a:cubicBezTo>
                <a:lnTo>
                  <a:pt x="44379" y="221894"/>
                </a:lnTo>
                <a:cubicBezTo>
                  <a:pt x="44379" y="234149"/>
                  <a:pt x="54313" y="244084"/>
                  <a:pt x="66568" y="244084"/>
                </a:cubicBezTo>
                <a:lnTo>
                  <a:pt x="199705" y="244084"/>
                </a:lnTo>
                <a:cubicBezTo>
                  <a:pt x="211960" y="244084"/>
                  <a:pt x="221894" y="234149"/>
                  <a:pt x="221894" y="221894"/>
                </a:cubicBezTo>
                <a:lnTo>
                  <a:pt x="221894" y="77663"/>
                </a:lnTo>
                <a:close/>
                <a:moveTo>
                  <a:pt x="155326" y="22189"/>
                </a:moveTo>
                <a:lnTo>
                  <a:pt x="155326" y="66568"/>
                </a:lnTo>
                <a:cubicBezTo>
                  <a:pt x="155326" y="78823"/>
                  <a:pt x="165261" y="88758"/>
                  <a:pt x="177516" y="88758"/>
                </a:cubicBezTo>
                <a:lnTo>
                  <a:pt x="221894" y="88758"/>
                </a:lnTo>
                <a:moveTo>
                  <a:pt x="110947" y="133137"/>
                </a:moveTo>
                <a:cubicBezTo>
                  <a:pt x="104820" y="133137"/>
                  <a:pt x="99852" y="138104"/>
                  <a:pt x="99852" y="144231"/>
                </a:cubicBezTo>
                <a:lnTo>
                  <a:pt x="99852" y="155326"/>
                </a:lnTo>
                <a:cubicBezTo>
                  <a:pt x="99852" y="161454"/>
                  <a:pt x="94885" y="166421"/>
                  <a:pt x="88758" y="166421"/>
                </a:cubicBezTo>
                <a:cubicBezTo>
                  <a:pt x="94885" y="166421"/>
                  <a:pt x="99852" y="171388"/>
                  <a:pt x="99852" y="177516"/>
                </a:cubicBezTo>
                <a:lnTo>
                  <a:pt x="99852" y="188610"/>
                </a:lnTo>
                <a:cubicBezTo>
                  <a:pt x="99852" y="194738"/>
                  <a:pt x="104820" y="199705"/>
                  <a:pt x="110947" y="199705"/>
                </a:cubicBezTo>
                <a:moveTo>
                  <a:pt x="155326" y="199705"/>
                </a:moveTo>
                <a:cubicBezTo>
                  <a:pt x="161454" y="199705"/>
                  <a:pt x="166421" y="194738"/>
                  <a:pt x="166421" y="188610"/>
                </a:cubicBezTo>
                <a:lnTo>
                  <a:pt x="166421" y="177516"/>
                </a:lnTo>
                <a:cubicBezTo>
                  <a:pt x="166421" y="171388"/>
                  <a:pt x="171388" y="166421"/>
                  <a:pt x="177516" y="166421"/>
                </a:cubicBezTo>
                <a:cubicBezTo>
                  <a:pt x="171388" y="166421"/>
                  <a:pt x="166421" y="161454"/>
                  <a:pt x="166421" y="155326"/>
                </a:cubicBezTo>
                <a:lnTo>
                  <a:pt x="166421" y="144231"/>
                </a:lnTo>
                <a:cubicBezTo>
                  <a:pt x="166421" y="138104"/>
                  <a:pt x="161454" y="133137"/>
                  <a:pt x="155326" y="133137"/>
                </a:cubicBezTo>
              </a:path>
            </a:pathLst>
          </a:custGeom>
          <a:noFill/>
          <a:ln w="22189" cap="rnd">
            <a:solidFill>
              <a:srgbClr val="5B3FC4"/>
            </a:solidFill>
            <a:prstDash val="solid"/>
            <a:round/>
          </a:ln>
        </p:spPr>
      </p:sp>
      <p:sp>
        <p:nvSpPr>
          <p:cNvPr id="50" name="Text 48"/>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Contratos y diseño</a:t>
            </a:r>
            <a:endParaRPr lang="en-US" sz="1500" dirty="0"/>
          </a:p>
        </p:txBody>
      </p:sp>
      <p:sp>
        <p:nvSpPr>
          <p:cNvPr id="51" name="Shape 49"/>
          <p:cNvSpPr/>
          <p:nvPr/>
        </p:nvSpPr>
        <p:spPr>
          <a:xfrm>
            <a:off x="4140961" y="5753405"/>
            <a:ext cx="0" cy="473659"/>
          </a:xfrm>
          <a:prstGeom prst="line">
            <a:avLst/>
          </a:prstGeom>
          <a:noFill/>
          <a:ln w="9525">
            <a:solidFill>
              <a:srgbClr val="DFE6F0"/>
            </a:solidFill>
            <a:prstDash val="solid"/>
          </a:ln>
        </p:spPr>
      </p:sp>
      <p:sp>
        <p:nvSpPr>
          <p:cNvPr id="52" name="Text 50"/>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OpenAPI generado y puertos y adaptadores</a:t>
            </a:r>
            <a:endParaRPr lang="en-US" sz="1400" dirty="0"/>
          </a:p>
        </p:txBody>
      </p:sp>
      <p:sp>
        <p:nvSpPr>
          <p:cNvPr id="53" name="Shape 51"/>
          <p:cNvSpPr/>
          <p:nvPr/>
        </p:nvSpPr>
        <p:spPr>
          <a:xfrm>
            <a:off x="8114733" y="5753405"/>
            <a:ext cx="0" cy="473659"/>
          </a:xfrm>
          <a:prstGeom prst="line">
            <a:avLst/>
          </a:prstGeom>
          <a:noFill/>
          <a:ln w="9525">
            <a:solidFill>
              <a:srgbClr val="DFE6F0"/>
            </a:solidFill>
            <a:prstDash val="solid"/>
          </a:ln>
        </p:spPr>
      </p:sp>
      <p:sp>
        <p:nvSpPr>
          <p:cNvPr id="54" name="Text 52"/>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Integraciones claras y tecnología intercambiable</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67</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pruebas en cada cambio</a:t>
            </a:r>
            <a:endParaRPr lang="en-US" sz="1300" dirty="0"/>
          </a:p>
        </p:txBody>
      </p:sp>
      <p:sp>
        <p:nvSpPr>
          <p:cNvPr id="14" name="Shape 12"/>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Text 15"/>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Text 16"/>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Shape 17"/>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Text 19"/>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Text 20"/>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Shape 21"/>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Text 24"/>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Text 25"/>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Shape 26"/>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Text 28"/>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Text 29"/>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Shape 30"/>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Shape 31"/>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Text 33"/>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Text 34"/>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 laboratorio.</a:t>
            </a:r>
            <a:endParaRPr lang="en-US" sz="1300" dirty="0"/>
          </a:p>
        </p:txBody>
      </p:sp>
      <p:sp>
        <p:nvSpPr>
          <p:cNvPr id="37" name="Shape 35"/>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Text 37"/>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Text 38"/>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sigue</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laboratorio sólido, todavía no un producto.</a:t>
            </a:r>
            <a:endParaRPr lang="en-US" sz="1700" dirty="0"/>
          </a:p>
        </p:txBody>
      </p:sp>
      <p:sp>
        <p:nvSpPr>
          <p:cNvPr id="6" name="Shape 4"/>
          <p:cNvSpPr/>
          <p:nvPr/>
        </p:nvSpPr>
        <p:spPr>
          <a:xfrm>
            <a:off x="612648" y="1719072"/>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7" name="Shape 5"/>
          <p:cNvSpPr/>
          <p:nvPr/>
        </p:nvSpPr>
        <p:spPr>
          <a:xfrm>
            <a:off x="612648" y="1847088"/>
            <a:ext cx="64008" cy="1764792"/>
          </a:xfrm>
          <a:prstGeom prst="rect">
            <a:avLst/>
          </a:prstGeom>
          <a:solidFill>
            <a:srgbClr val="8A4B06"/>
          </a:solidFill>
          <a:ln w="12700">
            <a:solidFill>
              <a:srgbClr val="8A4B06"/>
            </a:solidFill>
            <a:prstDash val="solid"/>
          </a:ln>
        </p:spPr>
      </p:sp>
      <p:sp>
        <p:nvSpPr>
          <p:cNvPr id="8" name="Shape 6"/>
          <p:cNvSpPr/>
          <p:nvPr/>
        </p:nvSpPr>
        <p:spPr>
          <a:xfrm>
            <a:off x="886968" y="2336292"/>
            <a:ext cx="786384" cy="786384"/>
          </a:xfrm>
          <a:prstGeom prst="ellipse">
            <a:avLst/>
          </a:prstGeom>
          <a:solidFill>
            <a:srgbClr val="FCEFD6"/>
          </a:solidFill>
          <a:ln w="12700">
            <a:solidFill>
              <a:srgbClr val="FCEFD6"/>
            </a:solidFill>
            <a:prstDash val="solid"/>
          </a:ln>
        </p:spPr>
      </p:sp>
      <p:sp>
        <p:nvSpPr>
          <p:cNvPr id="9" name="Icono database"/>
          <p:cNvSpPr/>
          <p:nvPr/>
        </p:nvSpPr>
        <p:spPr>
          <a:xfrm>
            <a:off x="1075700" y="2525024"/>
            <a:ext cx="408920" cy="408920"/>
          </a:xfrm>
          <a:custGeom>
            <a:avLst/>
            <a:gdLst/>
            <a:ahLst/>
            <a:cxnLst/>
            <a:rect l="l" t="t" r="r" b="b"/>
            <a:pathLst>
              <a:path w="408920" h="408920">
                <a:moveTo>
                  <a:pt x="357805" y="85192"/>
                </a:moveTo>
                <a:cubicBezTo>
                  <a:pt x="357805" y="113422"/>
                  <a:pt x="289150" y="136307"/>
                  <a:pt x="204460" y="136307"/>
                </a:cubicBezTo>
                <a:cubicBezTo>
                  <a:pt x="119770" y="136307"/>
                  <a:pt x="51115" y="113422"/>
                  <a:pt x="51115" y="85192"/>
                </a:cubicBezTo>
                <a:cubicBezTo>
                  <a:pt x="51115" y="56962"/>
                  <a:pt x="119770" y="34077"/>
                  <a:pt x="204460" y="34077"/>
                </a:cubicBezTo>
                <a:cubicBezTo>
                  <a:pt x="289150" y="34077"/>
                  <a:pt x="357805" y="56962"/>
                  <a:pt x="357805" y="85192"/>
                </a:cubicBezTo>
                <a:close/>
                <a:moveTo>
                  <a:pt x="51115" y="85192"/>
                </a:moveTo>
                <a:lnTo>
                  <a:pt x="51115" y="323728"/>
                </a:lnTo>
                <a:cubicBezTo>
                  <a:pt x="51115" y="351958"/>
                  <a:pt x="119770" y="374843"/>
                  <a:pt x="204460" y="374843"/>
                </a:cubicBezTo>
                <a:cubicBezTo>
                  <a:pt x="289150" y="374843"/>
                  <a:pt x="357805" y="351958"/>
                  <a:pt x="357805" y="323728"/>
                </a:cubicBezTo>
                <a:lnTo>
                  <a:pt x="357805" y="85192"/>
                </a:lnTo>
                <a:moveTo>
                  <a:pt x="51115" y="204460"/>
                </a:moveTo>
                <a:cubicBezTo>
                  <a:pt x="51115" y="232690"/>
                  <a:pt x="119770" y="255575"/>
                  <a:pt x="204460" y="255575"/>
                </a:cubicBezTo>
                <a:cubicBezTo>
                  <a:pt x="289150" y="255575"/>
                  <a:pt x="357805" y="232690"/>
                  <a:pt x="357805" y="204460"/>
                </a:cubicBezTo>
              </a:path>
            </a:pathLst>
          </a:custGeom>
          <a:noFill/>
          <a:ln w="34077" cap="rnd">
            <a:solidFill>
              <a:srgbClr val="8A4B06"/>
            </a:solidFill>
            <a:prstDash val="solid"/>
            <a:round/>
          </a:ln>
        </p:spPr>
      </p:sp>
      <p:sp>
        <p:nvSpPr>
          <p:cNvPr id="10" name="Text 8"/>
          <p:cNvSpPr/>
          <p:nvPr/>
        </p:nvSpPr>
        <p:spPr>
          <a:xfrm>
            <a:off x="1929384" y="227228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8A4B06"/>
                </a:solidFill>
                <a:latin typeface="Segoe UI Semibold" pitchFamily="34" charset="0"/>
                <a:ea typeface="Segoe UI Semibold" pitchFamily="34" charset="-122"/>
                <a:cs typeface="Segoe UI Semibold" pitchFamily="34" charset="-120"/>
              </a:rPr>
              <a:t>Persistir los avisos</a:t>
            </a:r>
            <a:endParaRPr lang="en-US" sz="2000" dirty="0"/>
          </a:p>
        </p:txBody>
      </p:sp>
      <p:sp>
        <p:nvSpPr>
          <p:cNvPr id="11" name="Text 9"/>
          <p:cNvSpPr/>
          <p:nvPr/>
        </p:nvSpPr>
        <p:spPr>
          <a:xfrm>
            <a:off x="1929384" y="2747772"/>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Hoy el texto vive en memoria; los eventos procesados sí están en la base.</a:t>
            </a:r>
            <a:endParaRPr lang="en-US" sz="1600" dirty="0"/>
          </a:p>
        </p:txBody>
      </p:sp>
      <p:sp>
        <p:nvSpPr>
          <p:cNvPr id="12" name="Shape 10"/>
          <p:cNvSpPr/>
          <p:nvPr/>
        </p:nvSpPr>
        <p:spPr>
          <a:xfrm>
            <a:off x="6187288" y="1719072"/>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87288" y="1847088"/>
            <a:ext cx="64008" cy="1764792"/>
          </a:xfrm>
          <a:prstGeom prst="rect">
            <a:avLst/>
          </a:prstGeom>
          <a:solidFill>
            <a:srgbClr val="AB243E"/>
          </a:solidFill>
          <a:ln w="12700">
            <a:solidFill>
              <a:srgbClr val="AB243E"/>
            </a:solidFill>
            <a:prstDash val="solid"/>
          </a:ln>
        </p:spPr>
      </p:sp>
      <p:sp>
        <p:nvSpPr>
          <p:cNvPr id="14" name="Shape 12"/>
          <p:cNvSpPr/>
          <p:nvPr/>
        </p:nvSpPr>
        <p:spPr>
          <a:xfrm>
            <a:off x="6461608" y="2336292"/>
            <a:ext cx="786384" cy="786384"/>
          </a:xfrm>
          <a:prstGeom prst="ellipse">
            <a:avLst/>
          </a:prstGeom>
          <a:solidFill>
            <a:srgbClr val="F7E3E7"/>
          </a:solidFill>
          <a:ln w="12700">
            <a:solidFill>
              <a:srgbClr val="F7E3E7"/>
            </a:solidFill>
            <a:prstDash val="solid"/>
          </a:ln>
        </p:spPr>
      </p:sp>
      <p:sp>
        <p:nvSpPr>
          <p:cNvPr id="15" name="Icono lock"/>
          <p:cNvSpPr/>
          <p:nvPr/>
        </p:nvSpPr>
        <p:spPr>
          <a:xfrm>
            <a:off x="6650340" y="2525024"/>
            <a:ext cx="408920" cy="408920"/>
          </a:xfrm>
          <a:custGeom>
            <a:avLst/>
            <a:gdLst/>
            <a:ahLst/>
            <a:cxnLst/>
            <a:rect l="l" t="t" r="r" b="b"/>
            <a:pathLst>
              <a:path w="408920" h="408920">
                <a:moveTo>
                  <a:pt x="85192" y="187422"/>
                </a:moveTo>
                <a:lnTo>
                  <a:pt x="323728" y="187422"/>
                </a:lnTo>
                <a:cubicBezTo>
                  <a:pt x="342548" y="187422"/>
                  <a:pt x="357805" y="202678"/>
                  <a:pt x="357805" y="221498"/>
                </a:cubicBezTo>
                <a:lnTo>
                  <a:pt x="357805" y="340766"/>
                </a:lnTo>
                <a:cubicBezTo>
                  <a:pt x="357805" y="359586"/>
                  <a:pt x="342548" y="374843"/>
                  <a:pt x="323728" y="374843"/>
                </a:cubicBezTo>
                <a:lnTo>
                  <a:pt x="85192" y="374843"/>
                </a:lnTo>
                <a:cubicBezTo>
                  <a:pt x="66372" y="374843"/>
                  <a:pt x="51115" y="359586"/>
                  <a:pt x="51115" y="340766"/>
                </a:cubicBezTo>
                <a:lnTo>
                  <a:pt x="51115" y="221498"/>
                </a:lnTo>
                <a:cubicBezTo>
                  <a:pt x="51115" y="202678"/>
                  <a:pt x="66372" y="187422"/>
                  <a:pt x="85192" y="187422"/>
                </a:cubicBezTo>
                <a:close/>
                <a:moveTo>
                  <a:pt x="119268" y="187422"/>
                </a:moveTo>
                <a:lnTo>
                  <a:pt x="119268" y="119268"/>
                </a:lnTo>
                <a:cubicBezTo>
                  <a:pt x="119268" y="72218"/>
                  <a:pt x="157410" y="34077"/>
                  <a:pt x="204460" y="34077"/>
                </a:cubicBezTo>
                <a:cubicBezTo>
                  <a:pt x="251510" y="34077"/>
                  <a:pt x="289651" y="72218"/>
                  <a:pt x="289651" y="119268"/>
                </a:cubicBezTo>
                <a:lnTo>
                  <a:pt x="289651" y="187422"/>
                </a:lnTo>
              </a:path>
            </a:pathLst>
          </a:custGeom>
          <a:noFill/>
          <a:ln w="34077" cap="rnd">
            <a:solidFill>
              <a:srgbClr val="AB243E"/>
            </a:solidFill>
            <a:prstDash val="solid"/>
            <a:round/>
          </a:ln>
        </p:spPr>
      </p:sp>
      <p:sp>
        <p:nvSpPr>
          <p:cNvPr id="16" name="Text 14"/>
          <p:cNvSpPr/>
          <p:nvPr/>
        </p:nvSpPr>
        <p:spPr>
          <a:xfrm>
            <a:off x="7504024" y="2272284"/>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AB243E"/>
                </a:solidFill>
                <a:latin typeface="Segoe UI Semibold" pitchFamily="34" charset="0"/>
                <a:ea typeface="Segoe UI Semibold" pitchFamily="34" charset="-122"/>
                <a:cs typeface="Segoe UI Semibold" pitchFamily="34" charset="-120"/>
              </a:rPr>
              <a:t>Seguridad</a:t>
            </a:r>
            <a:endParaRPr lang="en-US" sz="2000" dirty="0"/>
          </a:p>
        </p:txBody>
      </p:sp>
      <p:sp>
        <p:nvSpPr>
          <p:cNvPr id="17" name="Text 15"/>
          <p:cNvSpPr/>
          <p:nvPr/>
        </p:nvSpPr>
        <p:spPr>
          <a:xfrm>
            <a:off x="7504024" y="2747772"/>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Autenticación y contraseñas en un gestor de secretos.</a:t>
            </a:r>
            <a:endParaRPr lang="en-US" sz="1600" dirty="0"/>
          </a:p>
        </p:txBody>
      </p:sp>
      <p:sp>
        <p:nvSpPr>
          <p:cNvPr id="18" name="Shape 16"/>
          <p:cNvSpPr/>
          <p:nvPr/>
        </p:nvSpPr>
        <p:spPr>
          <a:xfrm>
            <a:off x="612648" y="3922776"/>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612648" y="4050792"/>
            <a:ext cx="64008" cy="1764792"/>
          </a:xfrm>
          <a:prstGeom prst="rect">
            <a:avLst/>
          </a:prstGeom>
          <a:solidFill>
            <a:srgbClr val="0B6E8A"/>
          </a:solidFill>
          <a:ln w="12700">
            <a:solidFill>
              <a:srgbClr val="0B6E8A"/>
            </a:solidFill>
            <a:prstDash val="solid"/>
          </a:ln>
        </p:spPr>
      </p:sp>
      <p:sp>
        <p:nvSpPr>
          <p:cNvPr id="20" name="Shape 18"/>
          <p:cNvSpPr/>
          <p:nvPr/>
        </p:nvSpPr>
        <p:spPr>
          <a:xfrm>
            <a:off x="886968" y="4539996"/>
            <a:ext cx="786384" cy="786384"/>
          </a:xfrm>
          <a:prstGeom prst="ellipse">
            <a:avLst/>
          </a:prstGeom>
          <a:solidFill>
            <a:srgbClr val="E3F4FA"/>
          </a:solidFill>
          <a:ln w="12700">
            <a:solidFill>
              <a:srgbClr val="E3F4FA"/>
            </a:solidFill>
            <a:prstDash val="solid"/>
          </a:ln>
        </p:spPr>
      </p:sp>
      <p:sp>
        <p:nvSpPr>
          <p:cNvPr id="21" name="Icono gauge"/>
          <p:cNvSpPr/>
          <p:nvPr/>
        </p:nvSpPr>
        <p:spPr>
          <a:xfrm>
            <a:off x="1075700" y="4728728"/>
            <a:ext cx="408920" cy="408920"/>
          </a:xfrm>
          <a:custGeom>
            <a:avLst/>
            <a:gdLst/>
            <a:ahLst/>
            <a:cxnLst/>
            <a:rect l="l" t="t" r="r" b="b"/>
            <a:pathLst>
              <a:path w="408920" h="408920">
                <a:moveTo>
                  <a:pt x="204460" y="238536"/>
                </a:moveTo>
                <a:lnTo>
                  <a:pt x="272613" y="170383"/>
                </a:lnTo>
                <a:moveTo>
                  <a:pt x="56908" y="323728"/>
                </a:moveTo>
                <a:cubicBezTo>
                  <a:pt x="15560" y="252120"/>
                  <a:pt x="31596" y="161162"/>
                  <a:pt x="94937" y="108010"/>
                </a:cubicBezTo>
                <a:cubicBezTo>
                  <a:pt x="158279" y="54858"/>
                  <a:pt x="250640" y="54858"/>
                  <a:pt x="313982" y="108010"/>
                </a:cubicBezTo>
                <a:cubicBezTo>
                  <a:pt x="377324" y="161162"/>
                  <a:pt x="393359" y="252120"/>
                  <a:pt x="352012" y="323728"/>
                </a:cubicBezTo>
              </a:path>
            </a:pathLst>
          </a:custGeom>
          <a:noFill/>
          <a:ln w="34077" cap="rnd">
            <a:solidFill>
              <a:srgbClr val="0B6E8A"/>
            </a:solidFill>
            <a:prstDash val="solid"/>
            <a:round/>
          </a:ln>
        </p:spPr>
      </p:sp>
      <p:sp>
        <p:nvSpPr>
          <p:cNvPr id="22" name="Text 20"/>
          <p:cNvSpPr/>
          <p:nvPr/>
        </p:nvSpPr>
        <p:spPr>
          <a:xfrm>
            <a:off x="1929384" y="447598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B6E8A"/>
                </a:solidFill>
                <a:latin typeface="Segoe UI Semibold" pitchFamily="34" charset="0"/>
                <a:ea typeface="Segoe UI Semibold" pitchFamily="34" charset="-122"/>
                <a:cs typeface="Segoe UI Semibold" pitchFamily="34" charset="-120"/>
              </a:rPr>
              <a:t>Métricas y alertas</a:t>
            </a:r>
            <a:endParaRPr lang="en-US" sz="2000" dirty="0"/>
          </a:p>
        </p:txBody>
      </p:sp>
      <p:sp>
        <p:nvSpPr>
          <p:cNvPr id="23" name="Text 21"/>
          <p:cNvSpPr/>
          <p:nvPr/>
        </p:nvSpPr>
        <p:spPr>
          <a:xfrm>
            <a:off x="1929384" y="4951476"/>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Prometheus ya está expuesto: falta guardarlas y alertar.</a:t>
            </a:r>
            <a:endParaRPr lang="en-US" sz="1600" dirty="0"/>
          </a:p>
        </p:txBody>
      </p:sp>
      <p:sp>
        <p:nvSpPr>
          <p:cNvPr id="24" name="Shape 22"/>
          <p:cNvSpPr/>
          <p:nvPr/>
        </p:nvSpPr>
        <p:spPr>
          <a:xfrm>
            <a:off x="6187288" y="3922776"/>
            <a:ext cx="5391760" cy="2020824"/>
          </a:xfrm>
          <a:prstGeom prst="roundRect">
            <a:avLst>
              <a:gd name="adj" fmla="val 633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6187288" y="4050792"/>
            <a:ext cx="64008" cy="1764792"/>
          </a:xfrm>
          <a:prstGeom prst="rect">
            <a:avLst/>
          </a:prstGeom>
          <a:solidFill>
            <a:srgbClr val="0A6648"/>
          </a:solidFill>
          <a:ln w="12700">
            <a:solidFill>
              <a:srgbClr val="0A6648"/>
            </a:solidFill>
            <a:prstDash val="solid"/>
          </a:ln>
        </p:spPr>
      </p:sp>
      <p:sp>
        <p:nvSpPr>
          <p:cNvPr id="26" name="Shape 24"/>
          <p:cNvSpPr/>
          <p:nvPr/>
        </p:nvSpPr>
        <p:spPr>
          <a:xfrm>
            <a:off x="6461608" y="4539996"/>
            <a:ext cx="786384" cy="786384"/>
          </a:xfrm>
          <a:prstGeom prst="ellipse">
            <a:avLst/>
          </a:prstGeom>
          <a:solidFill>
            <a:srgbClr val="E1F1EA"/>
          </a:solidFill>
          <a:ln w="12700">
            <a:solidFill>
              <a:srgbClr val="E1F1EA"/>
            </a:solidFill>
            <a:prstDash val="solid"/>
          </a:ln>
        </p:spPr>
      </p:sp>
      <p:sp>
        <p:nvSpPr>
          <p:cNvPr id="27" name="Icono rocket"/>
          <p:cNvSpPr/>
          <p:nvPr/>
        </p:nvSpPr>
        <p:spPr>
          <a:xfrm>
            <a:off x="6650340" y="4728728"/>
            <a:ext cx="408920" cy="408920"/>
          </a:xfrm>
          <a:custGeom>
            <a:avLst/>
            <a:gdLst/>
            <a:ahLst/>
            <a:cxnLst/>
            <a:rect l="l" t="t" r="r" b="b"/>
            <a:pathLst>
              <a:path w="408920" h="408920">
                <a:moveTo>
                  <a:pt x="76672" y="281132"/>
                </a:moveTo>
                <a:cubicBezTo>
                  <a:pt x="51115" y="302601"/>
                  <a:pt x="42596" y="366324"/>
                  <a:pt x="42596" y="366324"/>
                </a:cubicBezTo>
                <a:cubicBezTo>
                  <a:pt x="42596" y="366324"/>
                  <a:pt x="106319" y="357805"/>
                  <a:pt x="127787" y="332247"/>
                </a:cubicBezTo>
                <a:cubicBezTo>
                  <a:pt x="139885" y="317935"/>
                  <a:pt x="139714" y="295956"/>
                  <a:pt x="126254" y="282666"/>
                </a:cubicBezTo>
                <a:cubicBezTo>
                  <a:pt x="112540" y="269576"/>
                  <a:pt x="91169" y="268915"/>
                  <a:pt x="76672" y="281132"/>
                </a:cubicBezTo>
                <a:close/>
                <a:moveTo>
                  <a:pt x="204460" y="255575"/>
                </a:moveTo>
                <a:lnTo>
                  <a:pt x="153345" y="204460"/>
                </a:lnTo>
                <a:cubicBezTo>
                  <a:pt x="162412" y="180937"/>
                  <a:pt x="173828" y="158389"/>
                  <a:pt x="187422" y="137158"/>
                </a:cubicBezTo>
                <a:cubicBezTo>
                  <a:pt x="227788" y="72617"/>
                  <a:pt x="298719" y="33604"/>
                  <a:pt x="374843" y="34077"/>
                </a:cubicBezTo>
                <a:cubicBezTo>
                  <a:pt x="374843" y="80421"/>
                  <a:pt x="361553" y="161864"/>
                  <a:pt x="272613" y="221498"/>
                </a:cubicBezTo>
                <a:cubicBezTo>
                  <a:pt x="251092" y="235107"/>
                  <a:pt x="228260" y="246523"/>
                  <a:pt x="204460" y="255575"/>
                </a:cubicBezTo>
                <a:close/>
                <a:moveTo>
                  <a:pt x="153345" y="204460"/>
                </a:moveTo>
                <a:lnTo>
                  <a:pt x="68153" y="204460"/>
                </a:lnTo>
                <a:cubicBezTo>
                  <a:pt x="68153" y="204460"/>
                  <a:pt x="77524" y="152834"/>
                  <a:pt x="102230" y="136307"/>
                </a:cubicBezTo>
                <a:cubicBezTo>
                  <a:pt x="129832" y="117905"/>
                  <a:pt x="187422" y="136307"/>
                  <a:pt x="187422" y="136307"/>
                </a:cubicBezTo>
                <a:moveTo>
                  <a:pt x="204460" y="255575"/>
                </a:moveTo>
                <a:lnTo>
                  <a:pt x="204460" y="340766"/>
                </a:lnTo>
                <a:cubicBezTo>
                  <a:pt x="204460" y="340766"/>
                  <a:pt x="256086" y="331395"/>
                  <a:pt x="272613" y="306690"/>
                </a:cubicBezTo>
                <a:cubicBezTo>
                  <a:pt x="291015" y="279088"/>
                  <a:pt x="272613" y="221498"/>
                  <a:pt x="272613" y="221498"/>
                </a:cubicBezTo>
              </a:path>
            </a:pathLst>
          </a:custGeom>
          <a:noFill/>
          <a:ln w="34077" cap="rnd">
            <a:solidFill>
              <a:srgbClr val="0A6648"/>
            </a:solidFill>
            <a:prstDash val="solid"/>
            <a:round/>
          </a:ln>
        </p:spPr>
      </p:sp>
      <p:sp>
        <p:nvSpPr>
          <p:cNvPr id="28" name="Text 26"/>
          <p:cNvSpPr/>
          <p:nvPr/>
        </p:nvSpPr>
        <p:spPr>
          <a:xfrm>
            <a:off x="7504024" y="4475988"/>
            <a:ext cx="3892144" cy="420624"/>
          </a:xfrm>
          <a:prstGeom prst="rect">
            <a:avLst/>
          </a:prstGeom>
          <a:noFill/>
          <a:ln/>
        </p:spPr>
        <p:txBody>
          <a:bodyPr wrap="square" lIns="0" tIns="0" rIns="0" bIns="0" rtlCol="0" anchor="b">
            <a:normAutofit/>
          </a:bodyPr>
          <a:lstStyle/>
          <a:p>
            <a:pPr algn="l" indent="0" marL="0">
              <a:buNone/>
            </a:pPr>
            <a:r>
              <a:rPr lang="en-US" sz="2000" b="1" dirty="0">
                <a:solidFill>
                  <a:srgbClr val="0A6648"/>
                </a:solidFill>
                <a:latin typeface="Segoe UI Semibold" pitchFamily="34" charset="0"/>
                <a:ea typeface="Segoe UI Semibold" pitchFamily="34" charset="-122"/>
                <a:cs typeface="Segoe UI Semibold" pitchFamily="34" charset="-120"/>
              </a:rPr>
              <a:t>Entrega a Kubernetes</a:t>
            </a:r>
            <a:endParaRPr lang="en-US" sz="2000" dirty="0"/>
          </a:p>
        </p:txBody>
      </p:sp>
      <p:sp>
        <p:nvSpPr>
          <p:cNvPr id="29" name="Text 27"/>
          <p:cNvSpPr/>
          <p:nvPr/>
        </p:nvSpPr>
        <p:spPr>
          <a:xfrm>
            <a:off x="7504024" y="4951476"/>
            <a:ext cx="3892144" cy="873252"/>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pipeline publica; falta que despliegue solo.</a:t>
            </a:r>
            <a:endParaRPr lang="en-US" sz="1600" dirty="0"/>
          </a:p>
        </p:txBody>
      </p:sp>
      <p:sp>
        <p:nvSpPr>
          <p:cNvPr id="30" name="Text 28"/>
          <p:cNvSpPr/>
          <p:nvPr/>
        </p:nvSpPr>
        <p:spPr>
          <a:xfrm>
            <a:off x="612648" y="6016752"/>
            <a:ext cx="4498848"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Las cuatro son propuestas: no existen todavía en el código</a:t>
            </a:r>
            <a:endParaRPr lang="en-US" sz="95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138160" y="-1280160"/>
            <a:ext cx="5669280" cy="5669280"/>
          </a:xfrm>
          <a:prstGeom prst="ellipse">
            <a:avLst/>
          </a:prstGeom>
          <a:solidFill>
            <a:srgbClr val="0B2350"/>
          </a:solidFill>
          <a:ln w="12700">
            <a:solidFill>
              <a:srgbClr val="0B2350"/>
            </a:solidFill>
            <a:prstDash val="solid"/>
          </a:ln>
        </p:spPr>
      </p:sp>
      <p:sp>
        <p:nvSpPr>
          <p:cNvPr id="3" name="Shape 1"/>
          <p:cNvSpPr/>
          <p:nvPr/>
        </p:nvSpPr>
        <p:spPr>
          <a:xfrm>
            <a:off x="0" y="0"/>
            <a:ext cx="109728" cy="6858000"/>
          </a:xfrm>
          <a:prstGeom prst="rect">
            <a:avLst/>
          </a:prstGeom>
          <a:solidFill>
            <a:srgbClr val="2BA6CB"/>
          </a:solidFill>
          <a:ln w="12700">
            <a:solidFill>
              <a:srgbClr val="2BA6CB"/>
            </a:solidFill>
            <a:prstDash val="solid"/>
          </a:ln>
        </p:spPr>
      </p:sp>
      <p:sp>
        <p:nvSpPr>
          <p:cNvPr id="4" name="Icono sparkles"/>
          <p:cNvSpPr/>
          <p:nvPr/>
        </p:nvSpPr>
        <p:spPr>
          <a:xfrm>
            <a:off x="9692640" y="822960"/>
            <a:ext cx="1737360" cy="1737360"/>
          </a:xfrm>
          <a:custGeom>
            <a:avLst/>
            <a:gdLst/>
            <a:ahLst/>
            <a:cxnLst/>
            <a:rect l="l" t="t" r="r" b="b"/>
            <a:pathLst>
              <a:path w="1737360" h="1737360">
                <a:moveTo>
                  <a:pt x="719339" y="1122045"/>
                </a:moveTo>
                <a:cubicBezTo>
                  <a:pt x="706177" y="1071024"/>
                  <a:pt x="666336" y="1031183"/>
                  <a:pt x="615315" y="1018021"/>
                </a:cubicBezTo>
                <a:lnTo>
                  <a:pt x="171202" y="903500"/>
                </a:lnTo>
                <a:cubicBezTo>
                  <a:pt x="155634" y="899081"/>
                  <a:pt x="144890" y="884864"/>
                  <a:pt x="144890" y="868680"/>
                </a:cubicBezTo>
                <a:cubicBezTo>
                  <a:pt x="144890" y="852496"/>
                  <a:pt x="155634" y="838279"/>
                  <a:pt x="171202" y="833860"/>
                </a:cubicBezTo>
                <a:lnTo>
                  <a:pt x="615315" y="719267"/>
                </a:lnTo>
                <a:cubicBezTo>
                  <a:pt x="666317" y="706118"/>
                  <a:pt x="706154" y="666308"/>
                  <a:pt x="719339" y="615315"/>
                </a:cubicBezTo>
                <a:lnTo>
                  <a:pt x="833860" y="171202"/>
                </a:lnTo>
                <a:cubicBezTo>
                  <a:pt x="838235" y="155570"/>
                  <a:pt x="852483" y="144762"/>
                  <a:pt x="868716" y="144762"/>
                </a:cubicBezTo>
                <a:cubicBezTo>
                  <a:pt x="884949" y="144762"/>
                  <a:pt x="899197" y="155570"/>
                  <a:pt x="903572" y="171202"/>
                </a:cubicBezTo>
                <a:lnTo>
                  <a:pt x="1018021" y="615315"/>
                </a:lnTo>
                <a:cubicBezTo>
                  <a:pt x="1031183" y="666336"/>
                  <a:pt x="1071024" y="706177"/>
                  <a:pt x="1122045" y="719339"/>
                </a:cubicBezTo>
                <a:lnTo>
                  <a:pt x="1566158" y="833788"/>
                </a:lnTo>
                <a:cubicBezTo>
                  <a:pt x="1581855" y="838118"/>
                  <a:pt x="1592728" y="852397"/>
                  <a:pt x="1592728" y="868680"/>
                </a:cubicBezTo>
                <a:cubicBezTo>
                  <a:pt x="1592728" y="884963"/>
                  <a:pt x="1581855" y="899242"/>
                  <a:pt x="1566158" y="903572"/>
                </a:cubicBezTo>
                <a:lnTo>
                  <a:pt x="1122045" y="1018021"/>
                </a:lnTo>
                <a:cubicBezTo>
                  <a:pt x="1071024" y="1031183"/>
                  <a:pt x="1031183" y="1071024"/>
                  <a:pt x="1018021" y="1122045"/>
                </a:cubicBezTo>
                <a:lnTo>
                  <a:pt x="903500" y="1566158"/>
                </a:lnTo>
                <a:cubicBezTo>
                  <a:pt x="899125" y="1581790"/>
                  <a:pt x="884877" y="1592598"/>
                  <a:pt x="868644" y="1592598"/>
                </a:cubicBezTo>
                <a:cubicBezTo>
                  <a:pt x="852411" y="1592598"/>
                  <a:pt x="838163" y="1581790"/>
                  <a:pt x="833788" y="1566158"/>
                </a:cubicBezTo>
                <a:close/>
                <a:moveTo>
                  <a:pt x="1447800" y="217170"/>
                </a:moveTo>
                <a:lnTo>
                  <a:pt x="1447800" y="506730"/>
                </a:lnTo>
                <a:moveTo>
                  <a:pt x="1592580" y="361950"/>
                </a:moveTo>
                <a:lnTo>
                  <a:pt x="1303020" y="361950"/>
                </a:lnTo>
                <a:moveTo>
                  <a:pt x="289560" y="1230630"/>
                </a:moveTo>
                <a:lnTo>
                  <a:pt x="289560" y="1375410"/>
                </a:lnTo>
                <a:moveTo>
                  <a:pt x="361950" y="1303020"/>
                </a:moveTo>
                <a:lnTo>
                  <a:pt x="217170" y="1303020"/>
                </a:lnTo>
              </a:path>
            </a:pathLst>
          </a:custGeom>
          <a:noFill/>
          <a:ln w="90487" cap="rnd">
            <a:solidFill>
              <a:srgbClr val="2BA6CB"/>
            </a:solidFill>
            <a:prstDash val="solid"/>
            <a:round/>
          </a:ln>
        </p:spPr>
      </p:sp>
      <p:sp>
        <p:nvSpPr>
          <p:cNvPr id="5" name="Shape 3"/>
          <p:cNvSpPr/>
          <p:nvPr/>
        </p:nvSpPr>
        <p:spPr>
          <a:xfrm>
            <a:off x="758952" y="530352"/>
            <a:ext cx="329184" cy="329184"/>
          </a:xfrm>
          <a:prstGeom prst="ellipse">
            <a:avLst/>
          </a:prstGeom>
          <a:solidFill>
            <a:srgbClr val="2BA6CB"/>
          </a:solidFill>
          <a:ln w="12700">
            <a:solidFill>
              <a:srgbClr val="2BA6CB"/>
            </a:solidFill>
            <a:prstDash val="solid"/>
          </a:ln>
        </p:spPr>
      </p:sp>
      <p:sp>
        <p:nvSpPr>
          <p:cNvPr id="6" name="Text 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7" name="Text 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8" name="Text 6"/>
          <p:cNvSpPr/>
          <p:nvPr/>
        </p:nvSpPr>
        <p:spPr>
          <a:xfrm>
            <a:off x="758952" y="2103120"/>
            <a:ext cx="82296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9" name="Text 7"/>
          <p:cNvSpPr/>
          <p:nvPr/>
        </p:nvSpPr>
        <p:spPr>
          <a:xfrm>
            <a:off x="758952" y="3474720"/>
            <a:ext cx="8229600" cy="1097280"/>
          </a:xfrm>
          <a:prstGeom prst="rect">
            <a:avLst/>
          </a:prstGeom>
          <a:noFill/>
          <a:ln/>
        </p:spPr>
        <p:txBody>
          <a:bodyPr wrap="square" lIns="0" tIns="0" rIns="0" bIns="0" rtlCol="0" anchor="t"/>
          <a:lstStyle/>
          <a:p>
            <a:pPr indent="0" marL="0">
              <a:buNone/>
            </a:pPr>
            <a:r>
              <a:rPr lang="en-US" sz="2200" dirty="0">
                <a:solidFill>
                  <a:srgbClr val="9FBEE0"/>
                </a:solidFill>
                <a:latin typeface="Segoe UI" pitchFamily="34" charset="0"/>
                <a:ea typeface="Segoe UI" pitchFamily="34" charset="-122"/>
                <a:cs typeface="Segoe UI" pitchFamily="34" charset="-120"/>
              </a:rPr>
              <a:t>Equipo arka-litos · Upskilling Backend Java</a:t>
            </a:r>
            <a:endParaRPr lang="en-US" sz="2200" dirty="0"/>
          </a:p>
          <a:p>
            <a:pPr indent="0" marL="0">
              <a:buNone/>
            </a:pPr>
            <a:r>
              <a:rPr lang="en-US" sz="2200" dirty="0">
                <a:solidFill>
                  <a:srgbClr val="9FBEE0"/>
                </a:solidFill>
                <a:latin typeface="Segoe UI" pitchFamily="34" charset="0"/>
                <a:ea typeface="Segoe UI" pitchFamily="34" charset="-122"/>
                <a:cs typeface="Segoe UI" pitchFamily="34" charset="-120"/>
              </a:rPr>
              <a:t>¿Preguntas?</a:t>
            </a:r>
            <a:endParaRPr lang="en-US" sz="2200" dirty="0"/>
          </a:p>
        </p:txBody>
      </p:sp>
      <p:sp>
        <p:nvSpPr>
          <p:cNvPr id="10" name="Shape 8"/>
          <p:cNvSpPr/>
          <p:nvPr/>
        </p:nvSpPr>
        <p:spPr>
          <a:xfrm>
            <a:off x="758952" y="5120640"/>
            <a:ext cx="548640" cy="548640"/>
          </a:xfrm>
          <a:prstGeom prst="ellipse">
            <a:avLst/>
          </a:prstGeom>
          <a:solidFill>
            <a:srgbClr val="0B2350"/>
          </a:solidFill>
          <a:ln w="15875">
            <a:solidFill>
              <a:srgbClr val="2BA6CB"/>
            </a:solidFill>
            <a:prstDash val="solid"/>
          </a:ln>
        </p:spPr>
      </p:sp>
      <p:sp>
        <p:nvSpPr>
          <p:cNvPr id="11" name="Icono code"/>
          <p:cNvSpPr/>
          <p:nvPr/>
        </p:nvSpPr>
        <p:spPr>
          <a:xfrm>
            <a:off x="896112" y="5257800"/>
            <a:ext cx="274320" cy="274320"/>
          </a:xfrm>
          <a:custGeom>
            <a:avLst/>
            <a:gdLst/>
            <a:ahLst/>
            <a:cxnLst/>
            <a:rect l="l" t="t" r="r" b="b"/>
            <a:pathLst>
              <a:path w="274320" h="274320">
                <a:moveTo>
                  <a:pt x="182880" y="205740"/>
                </a:moveTo>
                <a:lnTo>
                  <a:pt x="251460" y="137160"/>
                </a:lnTo>
                <a:lnTo>
                  <a:pt x="182880" y="68580"/>
                </a:lnTo>
                <a:moveTo>
                  <a:pt x="91440" y="68580"/>
                </a:moveTo>
                <a:lnTo>
                  <a:pt x="22860" y="137160"/>
                </a:lnTo>
                <a:lnTo>
                  <a:pt x="91440" y="205740"/>
                </a:lnTo>
              </a:path>
            </a:pathLst>
          </a:custGeom>
          <a:noFill/>
          <a:ln w="22860" cap="rnd">
            <a:solidFill>
              <a:srgbClr val="2BA6CB"/>
            </a:solidFill>
            <a:prstDash val="solid"/>
            <a:round/>
          </a:ln>
        </p:spPr>
      </p:sp>
      <p:sp>
        <p:nvSpPr>
          <p:cNvPr id="12" name="Shape 10"/>
          <p:cNvSpPr/>
          <p:nvPr/>
        </p:nvSpPr>
        <p:spPr>
          <a:xfrm>
            <a:off x="1472184" y="5120640"/>
            <a:ext cx="548640" cy="548640"/>
          </a:xfrm>
          <a:prstGeom prst="ellipse">
            <a:avLst/>
          </a:prstGeom>
          <a:solidFill>
            <a:srgbClr val="0B2350"/>
          </a:solidFill>
          <a:ln w="15875">
            <a:solidFill>
              <a:srgbClr val="2BA6CB"/>
            </a:solidFill>
            <a:prstDash val="solid"/>
          </a:ln>
        </p:spPr>
      </p:sp>
      <p:sp>
        <p:nvSpPr>
          <p:cNvPr id="13" name="Icono network"/>
          <p:cNvSpPr/>
          <p:nvPr/>
        </p:nvSpPr>
        <p:spPr>
          <a:xfrm>
            <a:off x="1609344" y="5257800"/>
            <a:ext cx="274320" cy="274320"/>
          </a:xfrm>
          <a:custGeom>
            <a:avLst/>
            <a:gdLst/>
            <a:ahLst/>
            <a:cxnLst/>
            <a:rect l="l" t="t" r="r" b="b"/>
            <a:pathLst>
              <a:path w="274320" h="274320">
                <a:moveTo>
                  <a:pt x="194310" y="182880"/>
                </a:moveTo>
                <a:lnTo>
                  <a:pt x="240030" y="182880"/>
                </a:lnTo>
                <a:cubicBezTo>
                  <a:pt x="246343" y="182880"/>
                  <a:pt x="251460" y="187997"/>
                  <a:pt x="251460" y="194310"/>
                </a:cubicBezTo>
                <a:lnTo>
                  <a:pt x="251460" y="240030"/>
                </a:lnTo>
                <a:cubicBezTo>
                  <a:pt x="251460" y="246343"/>
                  <a:pt x="246343" y="251460"/>
                  <a:pt x="240030" y="251460"/>
                </a:cubicBezTo>
                <a:lnTo>
                  <a:pt x="194310" y="251460"/>
                </a:lnTo>
                <a:cubicBezTo>
                  <a:pt x="187997" y="251460"/>
                  <a:pt x="182880" y="246343"/>
                  <a:pt x="182880" y="240030"/>
                </a:cubicBezTo>
                <a:lnTo>
                  <a:pt x="182880" y="194310"/>
                </a:lnTo>
                <a:cubicBezTo>
                  <a:pt x="182880" y="187997"/>
                  <a:pt x="187997" y="182880"/>
                  <a:pt x="194310" y="182880"/>
                </a:cubicBezTo>
                <a:close/>
                <a:moveTo>
                  <a:pt x="34290" y="182880"/>
                </a:moveTo>
                <a:lnTo>
                  <a:pt x="80010" y="182880"/>
                </a:lnTo>
                <a:cubicBezTo>
                  <a:pt x="86323" y="182880"/>
                  <a:pt x="91440" y="187997"/>
                  <a:pt x="91440" y="194310"/>
                </a:cubicBezTo>
                <a:lnTo>
                  <a:pt x="91440" y="240030"/>
                </a:lnTo>
                <a:cubicBezTo>
                  <a:pt x="91440" y="246343"/>
                  <a:pt x="86323" y="251460"/>
                  <a:pt x="80010" y="251460"/>
                </a:cubicBezTo>
                <a:lnTo>
                  <a:pt x="34290" y="251460"/>
                </a:lnTo>
                <a:cubicBezTo>
                  <a:pt x="27977" y="251460"/>
                  <a:pt x="22860" y="246343"/>
                  <a:pt x="22860" y="240030"/>
                </a:cubicBezTo>
                <a:lnTo>
                  <a:pt x="22860" y="194310"/>
                </a:lnTo>
                <a:cubicBezTo>
                  <a:pt x="22860" y="187997"/>
                  <a:pt x="27977" y="182880"/>
                  <a:pt x="34290" y="182880"/>
                </a:cubicBezTo>
                <a:close/>
                <a:moveTo>
                  <a:pt x="114300" y="22860"/>
                </a:moveTo>
                <a:lnTo>
                  <a:pt x="160020" y="22860"/>
                </a:lnTo>
                <a:cubicBezTo>
                  <a:pt x="166333" y="22860"/>
                  <a:pt x="171450" y="27977"/>
                  <a:pt x="171450" y="34290"/>
                </a:cubicBezTo>
                <a:lnTo>
                  <a:pt x="171450" y="80010"/>
                </a:lnTo>
                <a:cubicBezTo>
                  <a:pt x="171450" y="86323"/>
                  <a:pt x="166333" y="91440"/>
                  <a:pt x="160020" y="91440"/>
                </a:cubicBezTo>
                <a:lnTo>
                  <a:pt x="114300" y="91440"/>
                </a:lnTo>
                <a:cubicBezTo>
                  <a:pt x="107987" y="91440"/>
                  <a:pt x="102870" y="86323"/>
                  <a:pt x="102870" y="80010"/>
                </a:cubicBezTo>
                <a:lnTo>
                  <a:pt x="102870" y="34290"/>
                </a:lnTo>
                <a:cubicBezTo>
                  <a:pt x="102870" y="27977"/>
                  <a:pt x="107987" y="22860"/>
                  <a:pt x="114300" y="22860"/>
                </a:cubicBezTo>
                <a:close/>
                <a:moveTo>
                  <a:pt x="57150" y="182880"/>
                </a:moveTo>
                <a:lnTo>
                  <a:pt x="57150" y="148590"/>
                </a:lnTo>
                <a:cubicBezTo>
                  <a:pt x="57150" y="142277"/>
                  <a:pt x="62267" y="137160"/>
                  <a:pt x="68580" y="137160"/>
                </a:cubicBezTo>
                <a:lnTo>
                  <a:pt x="205740" y="137160"/>
                </a:lnTo>
                <a:cubicBezTo>
                  <a:pt x="212053" y="137160"/>
                  <a:pt x="217170" y="142277"/>
                  <a:pt x="217170" y="148590"/>
                </a:cubicBezTo>
                <a:lnTo>
                  <a:pt x="217170" y="182880"/>
                </a:lnTo>
                <a:moveTo>
                  <a:pt x="137160" y="137160"/>
                </a:moveTo>
                <a:lnTo>
                  <a:pt x="137160" y="91440"/>
                </a:lnTo>
              </a:path>
            </a:pathLst>
          </a:custGeom>
          <a:noFill/>
          <a:ln w="22860" cap="rnd">
            <a:solidFill>
              <a:srgbClr val="2BA6CB"/>
            </a:solidFill>
            <a:prstDash val="solid"/>
            <a:round/>
          </a:ln>
        </p:spPr>
      </p:sp>
      <p:sp>
        <p:nvSpPr>
          <p:cNvPr id="14" name="Shape 12"/>
          <p:cNvSpPr/>
          <p:nvPr/>
        </p:nvSpPr>
        <p:spPr>
          <a:xfrm>
            <a:off x="2185416" y="5120640"/>
            <a:ext cx="548640" cy="548640"/>
          </a:xfrm>
          <a:prstGeom prst="ellipse">
            <a:avLst/>
          </a:prstGeom>
          <a:solidFill>
            <a:srgbClr val="0B2350"/>
          </a:solidFill>
          <a:ln w="15875">
            <a:solidFill>
              <a:srgbClr val="2BA6CB"/>
            </a:solidFill>
            <a:prstDash val="solid"/>
          </a:ln>
        </p:spPr>
      </p:sp>
      <p:sp>
        <p:nvSpPr>
          <p:cNvPr id="15" name="Icono database"/>
          <p:cNvSpPr/>
          <p:nvPr/>
        </p:nvSpPr>
        <p:spPr>
          <a:xfrm>
            <a:off x="2322576" y="5257800"/>
            <a:ext cx="274320" cy="274320"/>
          </a:xfrm>
          <a:custGeom>
            <a:avLst/>
            <a:gdLst/>
            <a:ahLst/>
            <a:cxnLst/>
            <a:rect l="l" t="t" r="r" b="b"/>
            <a:pathLst>
              <a:path w="274320" h="274320">
                <a:moveTo>
                  <a:pt x="240030" y="57150"/>
                </a:moveTo>
                <a:cubicBezTo>
                  <a:pt x="240030" y="76088"/>
                  <a:pt x="193974" y="91440"/>
                  <a:pt x="137160" y="91440"/>
                </a:cubicBezTo>
                <a:cubicBezTo>
                  <a:pt x="80346" y="91440"/>
                  <a:pt x="34290" y="76088"/>
                  <a:pt x="34290" y="57150"/>
                </a:cubicBezTo>
                <a:cubicBezTo>
                  <a:pt x="34290" y="38212"/>
                  <a:pt x="80346" y="22860"/>
                  <a:pt x="137160" y="22860"/>
                </a:cubicBezTo>
                <a:cubicBezTo>
                  <a:pt x="193974" y="22860"/>
                  <a:pt x="240030" y="38212"/>
                  <a:pt x="240030" y="57150"/>
                </a:cubicBezTo>
                <a:close/>
                <a:moveTo>
                  <a:pt x="34290" y="57150"/>
                </a:moveTo>
                <a:lnTo>
                  <a:pt x="34290" y="217170"/>
                </a:lnTo>
                <a:cubicBezTo>
                  <a:pt x="34290" y="236108"/>
                  <a:pt x="80346" y="251460"/>
                  <a:pt x="137160" y="251460"/>
                </a:cubicBezTo>
                <a:cubicBezTo>
                  <a:pt x="193974" y="251460"/>
                  <a:pt x="240030" y="236108"/>
                  <a:pt x="240030" y="217170"/>
                </a:cubicBezTo>
                <a:lnTo>
                  <a:pt x="240030" y="57150"/>
                </a:lnTo>
                <a:moveTo>
                  <a:pt x="34290" y="137160"/>
                </a:moveTo>
                <a:cubicBezTo>
                  <a:pt x="34290" y="156098"/>
                  <a:pt x="80346" y="171450"/>
                  <a:pt x="137160" y="171450"/>
                </a:cubicBezTo>
                <a:cubicBezTo>
                  <a:pt x="193974" y="171450"/>
                  <a:pt x="240030" y="156098"/>
                  <a:pt x="240030" y="137160"/>
                </a:cubicBezTo>
              </a:path>
            </a:pathLst>
          </a:custGeom>
          <a:noFill/>
          <a:ln w="22860" cap="rnd">
            <a:solidFill>
              <a:srgbClr val="2BA6CB"/>
            </a:solidFill>
            <a:prstDash val="solid"/>
            <a:round/>
          </a:ln>
        </p:spPr>
      </p:sp>
      <p:sp>
        <p:nvSpPr>
          <p:cNvPr id="16" name="Shape 14"/>
          <p:cNvSpPr/>
          <p:nvPr/>
        </p:nvSpPr>
        <p:spPr>
          <a:xfrm>
            <a:off x="2898648" y="5120640"/>
            <a:ext cx="548640" cy="548640"/>
          </a:xfrm>
          <a:prstGeom prst="ellipse">
            <a:avLst/>
          </a:prstGeom>
          <a:solidFill>
            <a:srgbClr val="0B2350"/>
          </a:solidFill>
          <a:ln w="15875">
            <a:solidFill>
              <a:srgbClr val="2BA6CB"/>
            </a:solidFill>
            <a:prstDash val="solid"/>
          </a:ln>
        </p:spPr>
      </p:sp>
      <p:sp>
        <p:nvSpPr>
          <p:cNvPr id="17" name="Icono container"/>
          <p:cNvSpPr/>
          <p:nvPr/>
        </p:nvSpPr>
        <p:spPr>
          <a:xfrm>
            <a:off x="3035808" y="5257800"/>
            <a:ext cx="274320" cy="274320"/>
          </a:xfrm>
          <a:custGeom>
            <a:avLst/>
            <a:gdLst/>
            <a:ahLst/>
            <a:cxnLst/>
            <a:rect l="l" t="t" r="r" b="b"/>
            <a:pathLst>
              <a:path w="274320" h="274320">
                <a:moveTo>
                  <a:pt x="251460" y="88011"/>
                </a:moveTo>
                <a:cubicBezTo>
                  <a:pt x="251460" y="81153"/>
                  <a:pt x="246888" y="74295"/>
                  <a:pt x="242316" y="70866"/>
                </a:cubicBezTo>
                <a:lnTo>
                  <a:pt x="170307" y="26289"/>
                </a:lnTo>
                <a:cubicBezTo>
                  <a:pt x="164283" y="22864"/>
                  <a:pt x="156900" y="22864"/>
                  <a:pt x="150876" y="26289"/>
                </a:cubicBezTo>
                <a:lnTo>
                  <a:pt x="33147" y="94869"/>
                </a:lnTo>
                <a:cubicBezTo>
                  <a:pt x="27432" y="97155"/>
                  <a:pt x="22860" y="104013"/>
                  <a:pt x="22860" y="110871"/>
                </a:cubicBezTo>
                <a:lnTo>
                  <a:pt x="22860" y="186309"/>
                </a:lnTo>
                <a:cubicBezTo>
                  <a:pt x="22860" y="192024"/>
                  <a:pt x="27432" y="200025"/>
                  <a:pt x="32004" y="203454"/>
                </a:cubicBezTo>
                <a:lnTo>
                  <a:pt x="104013" y="248031"/>
                </a:lnTo>
                <a:cubicBezTo>
                  <a:pt x="110037" y="251456"/>
                  <a:pt x="117420" y="251456"/>
                  <a:pt x="123444" y="248031"/>
                </a:cubicBezTo>
                <a:lnTo>
                  <a:pt x="241173" y="179451"/>
                </a:lnTo>
                <a:cubicBezTo>
                  <a:pt x="246888" y="176022"/>
                  <a:pt x="251460" y="168021"/>
                  <a:pt x="251460" y="162306"/>
                </a:cubicBezTo>
                <a:close/>
                <a:moveTo>
                  <a:pt x="114300" y="250317"/>
                </a:moveTo>
                <a:lnTo>
                  <a:pt x="114300" y="160020"/>
                </a:lnTo>
                <a:lnTo>
                  <a:pt x="24003" y="104013"/>
                </a:lnTo>
                <a:moveTo>
                  <a:pt x="114300" y="160020"/>
                </a:moveTo>
                <a:lnTo>
                  <a:pt x="250317" y="81153"/>
                </a:lnTo>
                <a:moveTo>
                  <a:pt x="160020" y="226314"/>
                </a:moveTo>
                <a:lnTo>
                  <a:pt x="160020" y="133731"/>
                </a:lnTo>
                <a:moveTo>
                  <a:pt x="205740" y="200025"/>
                </a:moveTo>
                <a:lnTo>
                  <a:pt x="205740" y="107442"/>
                </a:lnTo>
              </a:path>
            </a:pathLst>
          </a:custGeom>
          <a:noFill/>
          <a:ln w="22860" cap="rnd">
            <a:solidFill>
              <a:srgbClr val="2BA6CB"/>
            </a:solidFill>
            <a:prstDash val="solid"/>
            <a:round/>
          </a:ln>
        </p:spPr>
      </p:sp>
      <p:sp>
        <p:nvSpPr>
          <p:cNvPr id="18" name="Shape 16"/>
          <p:cNvSpPr/>
          <p:nvPr/>
        </p:nvSpPr>
        <p:spPr>
          <a:xfrm>
            <a:off x="3611880" y="5120640"/>
            <a:ext cx="548640" cy="548640"/>
          </a:xfrm>
          <a:prstGeom prst="ellipse">
            <a:avLst/>
          </a:prstGeom>
          <a:solidFill>
            <a:srgbClr val="0B2350"/>
          </a:solidFill>
          <a:ln w="15875">
            <a:solidFill>
              <a:srgbClr val="2BA6CB"/>
            </a:solidFill>
            <a:prstDash val="solid"/>
          </a:ln>
        </p:spPr>
      </p:sp>
      <p:sp>
        <p:nvSpPr>
          <p:cNvPr id="19" name="Icono workflow"/>
          <p:cNvSpPr/>
          <p:nvPr/>
        </p:nvSpPr>
        <p:spPr>
          <a:xfrm>
            <a:off x="3749040" y="5257800"/>
            <a:ext cx="274320" cy="274320"/>
          </a:xfrm>
          <a:custGeom>
            <a:avLst/>
            <a:gdLst/>
            <a:ahLst/>
            <a:cxnLst/>
            <a:rect l="l" t="t" r="r" b="b"/>
            <a:pathLst>
              <a:path w="274320" h="274320">
                <a:moveTo>
                  <a:pt x="57150" y="34290"/>
                </a:moveTo>
                <a:lnTo>
                  <a:pt x="102870" y="34290"/>
                </a:lnTo>
                <a:cubicBezTo>
                  <a:pt x="115495" y="34290"/>
                  <a:pt x="125730" y="44525"/>
                  <a:pt x="125730" y="57150"/>
                </a:cubicBezTo>
                <a:lnTo>
                  <a:pt x="125730" y="102870"/>
                </a:lnTo>
                <a:cubicBezTo>
                  <a:pt x="125730" y="115495"/>
                  <a:pt x="115495" y="125730"/>
                  <a:pt x="102870" y="125730"/>
                </a:cubicBezTo>
                <a:lnTo>
                  <a:pt x="57150" y="125730"/>
                </a:lnTo>
                <a:cubicBezTo>
                  <a:pt x="44525" y="125730"/>
                  <a:pt x="34290" y="115495"/>
                  <a:pt x="34290" y="102870"/>
                </a:cubicBezTo>
                <a:lnTo>
                  <a:pt x="34290" y="57150"/>
                </a:lnTo>
                <a:cubicBezTo>
                  <a:pt x="34290" y="44525"/>
                  <a:pt x="44525" y="34290"/>
                  <a:pt x="57150" y="34290"/>
                </a:cubicBezTo>
                <a:close/>
                <a:moveTo>
                  <a:pt x="80010" y="125730"/>
                </a:moveTo>
                <a:lnTo>
                  <a:pt x="80010" y="171450"/>
                </a:lnTo>
                <a:cubicBezTo>
                  <a:pt x="80010" y="184075"/>
                  <a:pt x="90245" y="194310"/>
                  <a:pt x="102870" y="194310"/>
                </a:cubicBezTo>
                <a:lnTo>
                  <a:pt x="148590" y="194310"/>
                </a:lnTo>
                <a:moveTo>
                  <a:pt x="171450" y="148590"/>
                </a:moveTo>
                <a:lnTo>
                  <a:pt x="217170" y="148590"/>
                </a:lnTo>
                <a:cubicBezTo>
                  <a:pt x="229795" y="148590"/>
                  <a:pt x="240030" y="158825"/>
                  <a:pt x="240030" y="171450"/>
                </a:cubicBezTo>
                <a:lnTo>
                  <a:pt x="240030" y="217170"/>
                </a:lnTo>
                <a:cubicBezTo>
                  <a:pt x="240030" y="229795"/>
                  <a:pt x="229795" y="240030"/>
                  <a:pt x="217170" y="240030"/>
                </a:cubicBezTo>
                <a:lnTo>
                  <a:pt x="171450" y="240030"/>
                </a:lnTo>
                <a:cubicBezTo>
                  <a:pt x="158825" y="240030"/>
                  <a:pt x="148590" y="229795"/>
                  <a:pt x="148590" y="217170"/>
                </a:cubicBezTo>
                <a:lnTo>
                  <a:pt x="148590" y="171450"/>
                </a:lnTo>
                <a:cubicBezTo>
                  <a:pt x="148590" y="158825"/>
                  <a:pt x="158825" y="148590"/>
                  <a:pt x="171450" y="148590"/>
                </a:cubicBezTo>
                <a:close/>
              </a:path>
            </a:pathLst>
          </a:custGeom>
          <a:noFill/>
          <a:ln w="22860" cap="rnd">
            <a:solidFill>
              <a:srgbClr val="2BA6CB"/>
            </a:solidFill>
            <a:prstDash val="solid"/>
            <a:round/>
          </a:ln>
        </p:spPr>
      </p:sp>
      <p:sp>
        <p:nvSpPr>
          <p:cNvPr id="20" name="Shape 18"/>
          <p:cNvSpPr/>
          <p:nvPr/>
        </p:nvSpPr>
        <p:spPr>
          <a:xfrm>
            <a:off x="4325112" y="5120640"/>
            <a:ext cx="548640" cy="548640"/>
          </a:xfrm>
          <a:prstGeom prst="ellipse">
            <a:avLst/>
          </a:prstGeom>
          <a:solidFill>
            <a:srgbClr val="0B2350"/>
          </a:solidFill>
          <a:ln w="15875">
            <a:solidFill>
              <a:srgbClr val="2BA6CB"/>
            </a:solidFill>
            <a:prstDash val="solid"/>
          </a:ln>
        </p:spPr>
      </p:sp>
      <p:sp>
        <p:nvSpPr>
          <p:cNvPr id="21" name="Icono chart-line"/>
          <p:cNvSpPr/>
          <p:nvPr/>
        </p:nvSpPr>
        <p:spPr>
          <a:xfrm>
            <a:off x="4462272" y="5257800"/>
            <a:ext cx="274320" cy="274320"/>
          </a:xfrm>
          <a:custGeom>
            <a:avLst/>
            <a:gdLst/>
            <a:ahLst/>
            <a:cxnLst/>
            <a:rect l="l" t="t" r="r" b="b"/>
            <a:pathLst>
              <a:path w="274320" h="274320">
                <a:moveTo>
                  <a:pt x="34290" y="34290"/>
                </a:moveTo>
                <a:lnTo>
                  <a:pt x="34290" y="217170"/>
                </a:lnTo>
                <a:cubicBezTo>
                  <a:pt x="34290" y="229795"/>
                  <a:pt x="44525" y="240030"/>
                  <a:pt x="57150" y="240030"/>
                </a:cubicBezTo>
                <a:lnTo>
                  <a:pt x="240030" y="240030"/>
                </a:lnTo>
                <a:moveTo>
                  <a:pt x="217170" y="102870"/>
                </a:moveTo>
                <a:lnTo>
                  <a:pt x="160020" y="160020"/>
                </a:lnTo>
                <a:lnTo>
                  <a:pt x="114300" y="114300"/>
                </a:lnTo>
                <a:lnTo>
                  <a:pt x="80010" y="148590"/>
                </a:lnTo>
              </a:path>
            </a:pathLst>
          </a:custGeom>
          <a:noFill/>
          <a:ln w="22860" cap="rnd">
            <a:solidFill>
              <a:srgbClr val="2BA6CB"/>
            </a:solidFill>
            <a:prstDash val="solid"/>
            <a:round/>
          </a:ln>
        </p:spPr>
      </p:sp>
      <p:sp>
        <p:nvSpPr>
          <p:cNvPr id="22" name="Shape 20"/>
          <p:cNvSpPr/>
          <p:nvPr/>
        </p:nvSpPr>
        <p:spPr>
          <a:xfrm>
            <a:off x="5038344" y="5120640"/>
            <a:ext cx="548640" cy="548640"/>
          </a:xfrm>
          <a:prstGeom prst="ellipse">
            <a:avLst/>
          </a:prstGeom>
          <a:solidFill>
            <a:srgbClr val="0B2350"/>
          </a:solidFill>
          <a:ln w="15875">
            <a:solidFill>
              <a:srgbClr val="2BA6CB"/>
            </a:solidFill>
            <a:prstDash val="solid"/>
          </a:ln>
        </p:spPr>
      </p:sp>
      <p:sp>
        <p:nvSpPr>
          <p:cNvPr id="23" name="Icono book-open"/>
          <p:cNvSpPr/>
          <p:nvPr/>
        </p:nvSpPr>
        <p:spPr>
          <a:xfrm>
            <a:off x="5175504" y="5257800"/>
            <a:ext cx="274320" cy="274320"/>
          </a:xfrm>
          <a:custGeom>
            <a:avLst/>
            <a:gdLst/>
            <a:ahLst/>
            <a:cxnLst/>
            <a:rect l="l" t="t" r="r" b="b"/>
            <a:pathLst>
              <a:path w="274320" h="274320">
                <a:moveTo>
                  <a:pt x="137160" y="80010"/>
                </a:moveTo>
                <a:lnTo>
                  <a:pt x="137160" y="240030"/>
                </a:lnTo>
                <a:moveTo>
                  <a:pt x="34290" y="205740"/>
                </a:moveTo>
                <a:cubicBezTo>
                  <a:pt x="27977" y="205740"/>
                  <a:pt x="22860" y="200623"/>
                  <a:pt x="22860" y="194310"/>
                </a:cubicBezTo>
                <a:lnTo>
                  <a:pt x="22860" y="45720"/>
                </a:lnTo>
                <a:cubicBezTo>
                  <a:pt x="22860" y="39407"/>
                  <a:pt x="27977" y="34290"/>
                  <a:pt x="34290" y="34290"/>
                </a:cubicBezTo>
                <a:lnTo>
                  <a:pt x="91440" y="34290"/>
                </a:lnTo>
                <a:cubicBezTo>
                  <a:pt x="116690" y="34290"/>
                  <a:pt x="137160" y="54760"/>
                  <a:pt x="137160" y="80010"/>
                </a:cubicBezTo>
                <a:cubicBezTo>
                  <a:pt x="137160" y="54760"/>
                  <a:pt x="157630" y="34290"/>
                  <a:pt x="182880" y="34290"/>
                </a:cubicBezTo>
                <a:lnTo>
                  <a:pt x="240030" y="34290"/>
                </a:lnTo>
                <a:cubicBezTo>
                  <a:pt x="246343" y="34290"/>
                  <a:pt x="251460" y="39407"/>
                  <a:pt x="251460" y="45720"/>
                </a:cubicBezTo>
                <a:lnTo>
                  <a:pt x="251460" y="194310"/>
                </a:lnTo>
                <a:cubicBezTo>
                  <a:pt x="251460" y="200623"/>
                  <a:pt x="246343" y="205740"/>
                  <a:pt x="240030" y="205740"/>
                </a:cubicBezTo>
                <a:lnTo>
                  <a:pt x="171450" y="205740"/>
                </a:lnTo>
                <a:cubicBezTo>
                  <a:pt x="152512" y="205740"/>
                  <a:pt x="137160" y="221092"/>
                  <a:pt x="137160" y="240030"/>
                </a:cubicBezTo>
                <a:cubicBezTo>
                  <a:pt x="137160" y="221092"/>
                  <a:pt x="121808" y="205740"/>
                  <a:pt x="102870" y="205740"/>
                </a:cubicBezTo>
                <a:close/>
              </a:path>
            </a:pathLst>
          </a:custGeom>
          <a:noFill/>
          <a:ln w="22860" cap="rnd">
            <a:solidFill>
              <a:srgbClr val="2BA6CB"/>
            </a:solidFill>
            <a:prstDash val="solid"/>
            <a:round/>
          </a:ln>
        </p:spPr>
      </p:sp>
      <p:sp>
        <p:nvSpPr>
          <p:cNvPr id="24" name="Shape 22"/>
          <p:cNvSpPr/>
          <p:nvPr/>
        </p:nvSpPr>
        <p:spPr>
          <a:xfrm>
            <a:off x="5751576" y="5120640"/>
            <a:ext cx="548640" cy="548640"/>
          </a:xfrm>
          <a:prstGeom prst="ellipse">
            <a:avLst/>
          </a:prstGeom>
          <a:solidFill>
            <a:srgbClr val="0B2350"/>
          </a:solidFill>
          <a:ln w="15875">
            <a:solidFill>
              <a:srgbClr val="2BA6CB"/>
            </a:solidFill>
            <a:prstDash val="solid"/>
          </a:ln>
        </p:spPr>
      </p:sp>
      <p:sp>
        <p:nvSpPr>
          <p:cNvPr id="25" name="Icono flask-conical"/>
          <p:cNvSpPr/>
          <p:nvPr/>
        </p:nvSpPr>
        <p:spPr>
          <a:xfrm>
            <a:off x="5888736" y="5257800"/>
            <a:ext cx="274320" cy="274320"/>
          </a:xfrm>
          <a:custGeom>
            <a:avLst/>
            <a:gdLst/>
            <a:ahLst/>
            <a:cxnLst/>
            <a:rect l="l" t="t" r="r" b="b"/>
            <a:pathLst>
              <a:path w="274320" h="274320">
                <a:moveTo>
                  <a:pt x="160020" y="22860"/>
                </a:moveTo>
                <a:lnTo>
                  <a:pt x="160020" y="91440"/>
                </a:lnTo>
                <a:cubicBezTo>
                  <a:pt x="160018" y="95275"/>
                  <a:pt x="160981" y="99048"/>
                  <a:pt x="162820" y="102413"/>
                </a:cubicBezTo>
                <a:lnTo>
                  <a:pt x="225800" y="217627"/>
                </a:lnTo>
                <a:cubicBezTo>
                  <a:pt x="229675" y="224711"/>
                  <a:pt x="229527" y="233313"/>
                  <a:pt x="225409" y="240259"/>
                </a:cubicBezTo>
                <a:cubicBezTo>
                  <a:pt x="221291" y="247204"/>
                  <a:pt x="213814" y="251462"/>
                  <a:pt x="205740" y="251460"/>
                </a:cubicBezTo>
                <a:lnTo>
                  <a:pt x="68580" y="251460"/>
                </a:lnTo>
                <a:cubicBezTo>
                  <a:pt x="60506" y="251462"/>
                  <a:pt x="53029" y="247204"/>
                  <a:pt x="48911" y="240259"/>
                </a:cubicBezTo>
                <a:cubicBezTo>
                  <a:pt x="44793" y="233313"/>
                  <a:pt x="44645" y="224711"/>
                  <a:pt x="48520" y="217627"/>
                </a:cubicBezTo>
                <a:lnTo>
                  <a:pt x="111500" y="102413"/>
                </a:lnTo>
                <a:cubicBezTo>
                  <a:pt x="113339" y="99048"/>
                  <a:pt x="114302" y="95275"/>
                  <a:pt x="114300" y="91440"/>
                </a:cubicBezTo>
                <a:lnTo>
                  <a:pt x="114300" y="22860"/>
                </a:lnTo>
                <a:moveTo>
                  <a:pt x="73758" y="171450"/>
                </a:moveTo>
                <a:lnTo>
                  <a:pt x="200562" y="171450"/>
                </a:lnTo>
                <a:moveTo>
                  <a:pt x="97155" y="22860"/>
                </a:moveTo>
                <a:lnTo>
                  <a:pt x="177165" y="22860"/>
                </a:lnTo>
              </a:path>
            </a:pathLst>
          </a:custGeom>
          <a:noFill/>
          <a:ln w="22860" cap="rnd">
            <a:solidFill>
              <a:srgbClr val="2BA6CB"/>
            </a:solidFill>
            <a:prstDash val="solid"/>
            <a:roun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resumen</dc:title>
  <dc:subject>Proyecto final de Upskilling Backend Java</dc:subject>
  <dc:creator>Equipo arka-litos</dc:creator>
  <cp:lastModifiedBy>Equipo arka-litos</cp:lastModifiedBy>
  <cp:revision>1</cp:revision>
  <dcterms:created xsi:type="dcterms:W3CDTF">2026-10-28T05:12:05Z</dcterms:created>
  <dcterms:modified xsi:type="dcterms:W3CDTF">2026-10-28T05:12:05Z</dcterms:modified>
</cp:coreProperties>
</file>