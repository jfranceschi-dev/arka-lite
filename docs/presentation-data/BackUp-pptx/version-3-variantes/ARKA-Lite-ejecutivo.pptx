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“Buenos días. Somos el equipo arka-litos, del curso Upskilling Backend Java, y hoy les presentamos ARKA-Lite, nuestro proyecto final.”
“Empezamos escribiendo un endpoint y terminamos con un sistema de dos microservicios corriendo en Kubernetes, con su pipeline, su base de datos y su observabilidad. No les vamos a contar el temario: les vamos a contar qué construimos, qué medimos y qué aprendimos.”
QUÉ HACER (no se dice)
• Antes de empezar, abrir la UI en http://localhost:8088 y comprobar que los dos servicios aparecen en verde.
PARA PASAR
“Primero,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“ARKA-Lite hace algo sencillo a propósito: registra solicitudes, como una incidencia o un pedido de cambio, y avisa cuando una solicitud se envía. El problema es pequeño para que el foco esté en cómo se construye, se despliega y se opera.”
“Son dos microservicios con Spring Boot, once endpoints documentados, sesenta y siete pruebas automáticas y ocho contenedores que se levantan con un solo comando.”
“Y los dos números que más nos importan: un aviso se entrega en cinco segundos o menos, y no se pierde ni se duplica ninguno, aunque el otro servicio esté caído. Más adelante les mostramos cómo lo logramos.”
PARA PASAR
“Antes de entrar, ocho palabras que vamos a usar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“Sabemos que muchos de ustedes trabajan sobre todo con la base de datos y procedimientos almacenados, así que antes de entrar les dejamos ocho conceptos en una frase.”
“Un microservicio es una aplicación pequeña con una sola tarea y su propia base. Una API REST es la puerta para pedirle cosas por HTTP. La arquitectura hexagonal pone el negocio al centro y conecta la base y la web como si fueran enchufes. Y un ORM traduce entre clases Java y tablas, para no escribir a mano el SQL de todos los días.”
“Docker empaqueta la aplicación con todo lo que necesita; Kubernetes administra esos paquetes. CI/CD es un robot que prueba cada cambio. Y observabilidad es poder ver qué pasa adentro. Cada uno lo vamos a ver con un ejemplo.”
SI PREGUNTAN
¿Esto reemplaza a los procedimientos almacenados?
RESPUESTA CORTA
No necesariamente. Mueve las reglas del negocio al código; el SQL pesado o los reportes pueden seguir en la base.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“Vamos en ocho partes, en el orden en que se construye un sistema: fundamentos, arquitectura, base de datos, contenedores y Kubernetes, integración y entrega continua, observabilidad y documentación.”
“Después les mostramos la interfaz que usamos como laboratorio, sobre todo para ver qué pasa cuando algo falla. Y cerramos con el valor que esto deja.”
“Cada parte termina con una lámina de aprendizajes: qué aprendimos, cómo lo aplicamos y qué valor tiene para un equipo de tecnología.”
PARA PASAR
“Empecemos por los fundamentos.”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endpoint REST es método más ruta: POST a /solicitudes crea, GET lista. El controlador solo traduce; quien decide es el dominio, que son clases Java normales, sin Spring. Por ejemplo, una solicitud solo se puede enviar si está en borrador.”
“Si la regla no se cumple, el dominio lanza una excepción, y un único manejador global la convierte en una respuesta HTTP. Así cada error tiene su código: 400 si faltan datos, 404 si no existe, 409 si hay un conflicto. Siempre con la misma forma: estado y mensaje.”
“Para el staff esto significa una API predecible: quien la consume sabe qué pasó sin leer el código.”
QUÉ HACER (no se dice)
• Mostrar: En la UI, crear dos veces el mismo identificador. Debe verse: El diálogo “Ese identificador ya existe” con el código 409.
PARA PASAR
“¿Y cómo sabemos que las reglas siguen funcionando después de cada cambio?”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“Tres aprendizajes de esta parte. Primero: el negocio no debe depender del framework. Mantener las reglas en clases Java simples nos permitió probarlas rápido y pensar en el negocio, no en las anotaciones.”
“Segundo: los errores son parte del contrato. Un buen 409 con un mensaje claro ahorra muchas horas de soporte.”
“Y tercero: trabajar con ramas cortas y Pull Requests con aprobación nos dio un historial que cualquiera puede leer.”
PARA PASAR
“Con esas bases, veamos cómo está armado el sistema completo.”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“Este es el sistema por capas. Arriba, la experiencia: la persona usa la interfaz, y la interfaz no guarda nada, solo llama a los servicios por un proxy.”
“En el medio, los dos microservicios. Solicitudes lleva el trámite; notificaciones crea los avisos. No comparten base: cada uno es dueño de sus datos, y se comunican con un evento por HTTP.”
“Y abajo, la plataforma que lo sostiene: dónde corre, cómo se prueba y publica cada cambio, y dónde vemos los logs. Cada capa tiene una sola responsabilidad, y por eso cada una se puede cambiar sin romper las otras.”
SI PREGUNTAN
¿Por qué no comparten una sola base de datos?
RESPUESTA CORTA
Para que cada servicio sea dueño de sus datos y pueda cambiar sin romper al otro.
PARA PASAR
“Ahora entremos a uno de los servicios.”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“¿Qué quiere decir hexagonal? El nombre viene del dibujo: un hexágono con el negocio al centro y cada lado como un enchufe hacia afuera. También se le llama puertos y adaptadores. El dominio no llama a la base: pide lo que necesita a través de puertos, que son interfaces.”
“Para quien trabaja con procedimientos almacenados es una idea conocida: la aplicación llama a un procedimiento por su nombre y sus parámetros, sin saber cómo está escrito por dentro. Aquí es al revés: el negocio declara qué necesita, y la tecnología se enchufa a ese contrato.”
“A la izquierda están los adaptadores de entrada, como el controlador REST. A la derecha, los de salida: el que guarda en PostgreSQL, el que anota el evento pendiente y el que lo publica con reintentos.”
“Fíjense en el de abajo: un repositorio en memoria que cumple el mismo puerto. Lo usan las pruebas, y Spring elige el de producción con @Primary. Por eso cambiar la base o el mecanismo de entrega no obliga a tocar las reglas del negocio.”
SI PREGUNTAN
¿Esto no es más código que una aplicación en capas tradicional?
RESPUESTA CORTA
Un poco más de interfaces, a cambio de probar sin base y cambiar adaptadores sin tocar reglas.
PARA PASAR
“¿Y por qué dos servicios y no uno solo?”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“Primero: los puertos separan el negocio de la tecnología. Hoy usamos PostgreSQL y HTTP, pero cambiar a otra base o a un sistema de mensajería no obligaría a reescribir las reglas.”
“Segundo: separar servicios tiene un costo real. Lo vale cuando el negocio o los equipos lo piden, no antes.”
“Y tercero: entre dos servicios, lo único compartido debe ser el contrato. Si cambia, cambia en los dos lados, de forma coordinada.”
PARA PASAR
“El costo más interesante de separar está en los datos. Vamos a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“Muchos de ustedes trabajan con procedimientos almacenados: la regla del negocio vive en la base, y la aplicación solo hace EXEC con parámetros. Funciona, pero cambiar una regla es cambiar la base, y probarla exige una base con datos.”
“En ARKA-Lite usamos un ORM, que significa mapeo objeto-relacional. En Java el estándar se llama JPA y la herramienta que lo hace es Hibernate. Una clase Java se marca como entidad y queda asociada a una tabla: cada campo es una columna. Cuando guardamos o buscamos, Hibernate escribe el INSERT, el UPDATE o el SELECT por nosotros.”
“Ojo: no es todo o nada. Las reglas del negocio pasan al código, donde se prueban en milisegundos, y lo que de verdad es trabajo de base de datos, como reportes pesados, puede seguir en SQL.”
SI PREGUNTAN
¿Y el rendimiento? ¿El SQL que genera Hibernate es bueno?
RESPUESTA CORTA
Para guardar y buscar por llave, sí. Para consultas complejas se puede escribir SQL propio; además, los índices y constraints siguen siendo trabajo de la base.
PARA PASAR
“¿Y cómo llega, paso a paso, una línea de Java hasta PostgreSQL?”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“Sigamos una línea de código. El dominio dice: guardar esta solicitud. No sabe nada de SQL. Spring Data nos da métodos listos, como save o findById, sin escribir una sola consulta.”
“Por debajo, Hibernate convierte el objeto en un INSERT o un UPDATE. Y el driver JDBC, con un pool de conexiones que las reutiliza, como el que ya conocen de cualquier aplicación, se lo manda a PostgreSQL, que ejecuta y confirma la transacción.”
“La dirección de la base, el usuario y la clave no están en el código: llegan por variables de entorno. Eso lo vamos a ver con Docker.”
PARA PASAR
“Ahora veamos qué tablas tiene cada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“Cada servicio tiene su propia base PostgreSQL. En la de solicitudes hay dos tablas: la solicitud, con un CHECK que solo admite los cuatro estados válidos, y la tabla evento, que funciona como bandeja de salida: cada fila es un aviso pendiente de entregar.”
“En la de notificaciones hay una sola tabla importante: evento_procesado, la lista de eventos que ya recibió.”
“Fíjense en la flecha: no hay llaves foráneas entre bases. Lo único que viaja de un lado al otro es el evento_id. Esa es la frontera entre los dos servicios.”
SI PREGUNTAN
¿Por qué no un JOIN entre las dos bases?
RESPUESTA CORTA
Porque cada servicio es dueño de sus datos; un JOIN entre bases los volvería a acoplar.
PARA PASAR
“Ahora, el problema más interesante: ¿qué pasa si guardo y el otro servicio está caído?”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“Este es el problema de la consistencia. Si al enviar una solicitud llamáramos directamente a notificaciones y justo estuviera caído, la solicitud quedaría enviada y nadie se enteraría.”
“La solución se llama patrón outbox, o bandeja de salida. Al enviar, guardamos la solicitud y un evento pendiente en la misma transacción: o se guardan las dos cosas, o ninguna. La respuesta le llega a la persona enseguida.”
“Después, un relevador revisa la bandeja cada cinco segundos y entrega los pendientes, con hasta tres intentos. Si aun así falla, el evento sigue pendiente, con el mismo número, para el siguiente ciclo.”
SI PREGUNTAN
¿Que el envío responda bien significa que el aviso ya existe?
RESPUESTA CORTA
No. Significa que la solicitud y el evento quedaron guardados; el aviso llega después.
PARA PASAR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“Sí, puede llegar dos veces. Si notificaciones recibió el evento pero su respuesta se perdió, el relevador cree que falló y lo vuelve a mandar.”
“Para eso está la idempotencia: repetir la misma operación no multiplica su efecto. Notificaciones funciona como un portero con lista: anota el número de cada evento, y si llega uno que ya está en la lista, lo ignora.”
“El outbox evita perder avisos; la idempotencia evita duplicarlos. Juntos dan lo que en la industria se llama entrega al menos una vez con efecto exactamente una vez.”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“Esto es lo que aprendimos de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“Cuatro aprendizajes de datos. El primero, para quienes vienen de los procedimientos almacenados: el ORM no elimina el trabajo de base de datos. Escribe el SQL rutinario, pero los índices, los CHECK y las transacciones siguen siendo diseño de base.”
“Segundo: la transacción local es la herramienta más confiable que tenemos. En lugar de coordinar dos servicios al mismo tiempo, guardamos todo en nuestra base y avisamos después.”
“Tercero: cualquier reintento necesita idempotencia del otro lado. Si no, los reintentos que nos protegen de perder datos nos terminan duplicando datos.”
“Y cuarto: el esquema también es código. Versionado, idempotente y validado al arrancar.”
PARA PASAR
“Los datos están cuidados. Ahora, ¿cómo llevamos todo esto a cualquier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“Dos palabras que se escuchan mucho. Docker resuelve el clásico “en mi máquina funciona”: empaqueta la aplicación con Java y todo lo que necesita en una imagen, un paquete que no cambia. Cuando esa imagen corre, se llama contenedor, y corre igual en una laptop o en un servidor.”
“Kubernetes es el siguiente nivel: no empaqueta, administra. Decide dónde corre cada contenedor, lo vigila, y si uno se cae, levanta otro. Piénsenlo como un puerto de carga: Docker es el contenedor estándar y Kubernetes es el puerto que los acomoda y reemplaza el que se daña.”
“En una sola computadora usamos Docker Compose; en un clúster, Kubernetes. La misma imagen sirve en los dos.”
SI PREGUNTAN
¿Docker es una máquina virtual?
RESPUESTA CORTA
No. Es más liviano: comparte el sistema operativo y solo aísla la aplicación y lo que necesita.
PARA PASAR
“Veamos el sistema completo levantado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“¿Cuántas veces hemos escuchado “en mi máquina funciona”? Con Docker, cada servicio viaja con su receta, y con Compose levantamos el sistema completo con un solo comando: los dos servicios, sus bases, la interfaz y las herramientas de logs.”
“Dentro de la red de Compose, cada servicio encuentra al otro por su nombre, no por localhost. Y la configuración entra por variables de entorno, así que la misma imagen sirve en nuestra computadora y en el clúster, sin recompilar.”
“Para un equipo nuevo, esto es la diferencia entre un día configurando y cinco minutos.”
QUÉ HACER (no se dice)
• Mostrar: docker compose ps Debe verse: La UI, los servicios y las bases arriba y sanos.
SI PREGUNTAN
Dentro de un contenedor, ¿a dónde lleva localhost?
RESPUESTA CORTA
Al mismo contenedor, no a otro servicio. Por eso usamos el nombre del servicio.
PARA PASAR
“En nuestra computadora usamos Compose. En un clúster,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“Kubernetes funciona como un termostato: no le decimos qué hacer paso a paso, le decimos el estado que queremos, por ejemplo una copia de cada servicio, y él lo mantiene.”
“Si el Pod de solicitudes se cae, el Deployment detecta que falta una copia y crea otro con la misma imagen. El Pod nuevo espera a que su base y notificaciones respondan, y solo cuando su prueba de salud contesta, el Service le vuelve a mandar tráfico.”
“Y como los eventos pendientes están en la base, no en memoria, nada se pierde mientras tanto. Nadie tuvo que despertarse a las tres de la mañana.”
QUÉ HACER (no se dice)
• Mostrar: kubectl delete pod -l app=servicio-solicitudes y luego kubectl get pods -w. Debe verse: Aparece un Pod nuevo que vuelve a estar Ready.
SI PREGUNTAN
¿Y si se cae la base?
RESPUESTA CORTA
Su Pod también se recrea y los datos siguen en el disco persistente; los servicios esperan a que vuelva.
PARA PASAR
“Esto es lo que aprendimos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“Primero: la imagen es el entregable. Lo que se prueba es exactamente lo que se despliega.”
“Segundo: configurar por variables de entorno y no por código. Así hay un solo artefacto para todos los ambientes.”
“Y tercero: con Kubernetes declaramos el estado que queremos y el clúster lo mantiene. Arrancar no es lo mismo que estar listo, y eso hay que decírselo explícitamente.”
PARA PASAR
“¿Y quién construye y prueba esas imágenes? Nadie a mano: 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“Con GitHub Actions, cada vez que alguien sube un cambio o abre un Pull Request, se dispara el pipeline. Por cada servicio prepara Java y una base PostgreSQL, compila y corre todas las pruebas.”
“Luego hace algo que muchos pipelines no hacen: arranca el servicio de verdad y espera a ver los datos iniciales. Así detectamos errores de configuración que las pruebas unitarias no ven.”
“Si todo pasa, construye la imagen y la publica etiquetada con el código del commit. Cada imagen se puede rastrear hasta el cambio exacto que la produjo.”
SI PREGUNTAN
¿Publicar la imagen la despliega en Kubernetes?
RESPUESTA CORTA
No. Hoy desplegar es un paso aparte; es el siguiente paso natural.
PARA PASAR
“El pipeline funciona porque todo entra por el mismo camino.”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“Primero: hay que probar que el servicio arranca, no solo que compila. Muchos errores de configuración solo aparecen al arrancar.”
“Segundo: cada imagen se etiqueta con su commit. Eso nos dice exactamente qué código está corriendo y nos permite volver atrás con certeza.”
“Y tercero: el pipeline es la puerta de entrada. La calidad no depende de que alguien se acuerde de correr las pruebas.”
PARA PASAR
“Ya está desplegado. ¿Cómo sabemos qué pasa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“Con dos servicios, cada uno tiene sus propios logs. Si algo falla, no queremos entrar contenedor por contenedor a buscar.”
“Cada servicio escribe sus logs en JSON, con un formato estándar. Promtail los recoge de todos los contenedores, Loki los guarda etiquetados por servicio y Grafana nos deja buscarlos en un solo lugar.”
“Las llamadas entre servicios llevan el traceId, así que con una sola búsqueda vemos el viaje de un evento: cuándo lo publicó el relevador y cuándo lo consumió notificaciones.”
QUÉ HACER (no se dice)
• Mostrar: Grafana › Explore › Loki: {service="servicio-notificaciones"} |= "evento". Debe verse: Las líneas “Consume evento” y “aviso creado” con el número del evento.
PARA PASAR
“Los logs cuentan qué pasó. La salud dice cómo estamos ahora.”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“Cada servicio expone su salud con Spring Boot Actuator: por dentro revisa, por ejemplo, que pueda hablar con su base. La interfaz la muestra en la pestaña Salud.”
“Pero ojo: que un servicio diga UP solo significa que responde. No garantiza que todos los avisos llegaron. Para eso miramos los eventos pendientes y los logs.”
“Las métricas ya se exponen en formato Prometheus; guardarlas en el tiempo y ponerles alertas es el siguiente paso.”
SI PREGUNTAN
Si todo está UP y falta un aviso, ¿qué miramos?
RESPUESTA CORTA
Si el evento sigue pendiente en Enviadas, y los logs del relevador y de notificaciones.
PARA PASAR
“Esto es lo que aprendimos de la observabilidad.”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“Primero: los logs estructurados se configuran desde el día uno. Después es mucho más caro.”
“Segundo: en un sistema distribuido hace falta un identificador que cruce los servicios. Sin el traceId o el eventoId, diagnosticar es adivinar.”
“Y tercero: salud no es lo mismo que correcto. Un servicio puede estar UP y tener avisos pendientes; hay que medir el resultado, no solo el proceso.”
PARA PASAR
“Todo esto también tiene que estar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“Un contrato de API es como el menú de un restaurante: dice qué se puede pedir, qué lleva cada pedido y qué te van a devolver.”
“Cada servicio publica su contrato con el estándar OpenAPI, usando springdoc, y Swagger lo muestra como una página donde se puede ver cada endpoint, sus códigos de respuesta y probarlo en vivo.”
“Lo importante para el staff: se genera desde el código. Cuando agregamos un endpoint, aparece solo, y nunca queda desactualizado. Un equipo que consume la API no tiene que pedirnos un documento.”
QUÉ HACER (no se dice)
• Mostrar: En la UI, pestaña Salud › Swagger · solicitudes, y ejecutar GET /solicitudes. Debe verse: La lista en JSON con código 200.
PARA PASAR
“Y lo que no sale del código, lo documentamos junto al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“Primero: lo que se genera desde el código no se desactualiza. Es la mejor documentación de API que existe.”
“Segundo: la documentación se revisa en el mismo Pull Request que el cambio.”
“Y tercero: documentamos para la persona que llega mañana al equipo. Ese es el verdadero usuario de la documentación.”
PARA PASAR
“Para ver todo esto funcionando, construimos una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“Una aclaración importante: esta interfaz no es parte del entregable. Los entregables son los dos microservicios y su plataforma. La interfaz la agregamos como laboratorio, para que cualquiera pueda ver lo que normalmente es invisible.”
“En Solicitudes se crean y se envían. En Enviadas se ve la bandeja de salida: qué eventos están pendientes, cuáles se entregaron, y un botón para reentregar a propósito. En Salud, si cada servicio está UP o DOWN. Y en Ayuda, diagramas de cómo funciona.”
“Donde más vale es cuando algo falla. Veamos eso.”
PARA PASAR
“Primer caso: el servicio de notificaciones se cae.”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“Detenemos notificaciones a propósito. En la pestaña Salud aparece en DOWN.”
“Ahora enviamos una solicitud. La respuesta es buena: la solicitud queda enviada y su evento queda guardado. La persona no ve ningún error, porque no depende de que el otro servicio esté arriba.”
“En Enviadas vemos el evento en camino. El relevador lo intenta cada cinco segundos y falla, pero no lo pierde. Cuando levantamos notificaciones, en el siguiente ciclo lo entrega con el mismo número, y aparece exactamente un aviso.”
QUÉ HACER (no se dice)
• Antes: docker compose stop servicio-notificaciones. Mostrar Salud en DOWN.
• Crear y enviar DEMO-01; mostrar en Enviadas “1 evento en camino”.
• docker compose start servicio-notificaciones y esperar unos segundos: el evento pasa a entregado y aparece 1 aviso.
• Mostrar: Detener notificaciones, enviar DEMO-01, mirar Enviadas y volver a iniciar notificaciones. Debe verse: Evento en camino mientras está caído; al volver, entregado y 1 aviso.
SI PREGUNTAN
¿Cuánto tiempo puede esperar un evento pendiente?
RESPUESTA CORTA
Indefinidamente: está en la base. Se entrega en el primer ciclo después de que notificaciones vuelve.
PARA PASAR
“Ese es el caso más importante, pero no el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“Esta tabla resume cómo se comporta el sistema ante cada falla que probamos, y qué ve la persona en la interfaz.”
“Si un evento llega dos veces, se ignora. Si alguien intenta una acción que no corresponde, como enviar dos veces, recibe un 409 con el motivo. Si faltan datos, un 400 sin guardar nada.”
“Y un detalle de diseño en la propia interfaz: si una operación que cambia datos tarda o se corta, no la repite sola, porque el cambio pudo haberse guardado aunque la respuesta no llegara. Ninguna falla queda sin una reacción prevista.”
QUÉ HACER (no se dice)
• Mostrar: En Enviadas, Reentregar un evento ya consumido; en Solicitudes, enviar dos veces la misma solicitud. Debe verse: “El aviso no se duplicó” y el diálogo 409.
PARA PASAR
“Esto es lo que aprendimos con la UI como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“Primero: hay que diseñar para la falla, no solo para el camino feliz. La pregunta no es si algo va a fallar, sino cómo se comporta cuando falle.”
“Segundo: lo asíncrono hay que hacerlo visible. Sin la pestaña Enviadas, un evento pendiente sería invisible.”
“Y tercero: una herramienta de demostración también sirve para capacitar. Esta interfaz se puede usar para explicarle el sistema a cualquiera.”
PARA PASAR
“Para cerrar,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“Si tuviéramos que resumir el valor en una lámina, sería esta. Construimos resiliencia: ante una caída parcial no se pierde ni se duplica un aviso. Reproducibilidad: un comando y la misma imagen en cualquier ambiente.”
“Calidad: sesenta y siete pruebas en cada Pull Request. Trazabilidad: logs centralizados con traceId e imágenes rastreables a su commit. Y contratos claros con un diseño que permite cambiar tecnología sin tocar el negocio.”
“Nada de esto es exclusivo de ARKA-Lite: son prácticas que cualquier equipo puede adoptar desde mañana.”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“Tres ideas. Diseñar para la falla: en un sistema distribuido, algo siempre va a fallar, y la diferencia está en cómo reacciona.”
“Automatizar la confianza: pruebas, pipeline e infraestructura declarada nos permiten cambiar rápido sin miedo.”
“Y hacer visible el sistema: lo que no se ve no se puede diagnosticar ni explicar.”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“ARKA-Lite es un laboratorio y lo decimos con claridad. El texto de los avisos vive en memoria, no hay inicio de sesión, las métricas no se guardan en el tiempo y el pipeline publica las imágenes, pero no las despliega solo.”
“Esos son los siguientes pasos naturales, y la arquitectura ya está preparada para ellos: por ejemplo, guardar los avisos es cambiar un adaptador, sin tocar el negocio.”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“Empezamos con un endpoint y terminamos con un sistema de dos microservicios, con su base de datos, empaquetado, desplegado, observado y documentado, que sabe comportarse cuando algo falla.”
“Muchas gracias por acompañarnos.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737360"/>
            <a:ext cx="6583680" cy="6583680"/>
          </a:xfrm>
          <a:prstGeom prst="ellipse">
            <a:avLst/>
          </a:prstGeom>
          <a:solidFill>
            <a:srgbClr val="0B2350"/>
          </a:solidFill>
          <a:ln w="12700">
            <a:solidFill>
              <a:srgbClr val="0B2350"/>
            </a:solidFill>
            <a:prstDash val="solid"/>
          </a:ln>
        </p:spPr>
      </p:sp>
      <p:sp>
        <p:nvSpPr>
          <p:cNvPr id="3" name="Shape 1"/>
          <p:cNvSpPr/>
          <p:nvPr/>
        </p:nvSpPr>
        <p:spPr>
          <a:xfrm>
            <a:off x="9966960" y="4206240"/>
            <a:ext cx="3108960" cy="3108960"/>
          </a:xfrm>
          <a:prstGeom prst="ellipse">
            <a:avLst/>
          </a:prstGeom>
          <a:solidFill>
            <a:srgbClr val="113B66"/>
          </a:solidFill>
          <a:ln w="12700">
            <a:solidFill>
              <a:srgbClr val="0B2350"/>
            </a:solidFill>
            <a:prstDash val="solid"/>
          </a:ln>
        </p:spPr>
      </p:sp>
      <p:sp>
        <p:nvSpPr>
          <p:cNvPr id="4" name="Shape 2"/>
          <p:cNvSpPr/>
          <p:nvPr/>
        </p:nvSpPr>
        <p:spPr>
          <a:xfrm>
            <a:off x="0" y="0"/>
            <a:ext cx="109728" cy="6858000"/>
          </a:xfrm>
          <a:prstGeom prst="rect">
            <a:avLst/>
          </a:prstGeom>
          <a:solidFill>
            <a:srgbClr val="2BA6CB"/>
          </a:solidFill>
          <a:ln w="12700">
            <a:solidFill>
              <a:srgbClr val="2BA6CB"/>
            </a:solidFill>
            <a:prstDash val="soli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9" name="Text 7"/>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10" name="Text 8"/>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Lo que aprendimos construyendo dos microservicios Java, de punta a punta.</a:t>
            </a:r>
            <a:endParaRPr lang="en-US" sz="1800" dirty="0"/>
          </a:p>
        </p:txBody>
      </p:sp>
      <p:sp>
        <p:nvSpPr>
          <p:cNvPr id="11" name="Text 9"/>
          <p:cNvSpPr/>
          <p:nvPr/>
        </p:nvSpPr>
        <p:spPr>
          <a:xfrm>
            <a:off x="758952" y="5212080"/>
            <a:ext cx="5010912" cy="384048"/>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100" b="1" spc="150" kern="0" dirty="0">
                <a:solidFill>
                  <a:srgbClr val="2BA6CB"/>
                </a:solidFill>
                <a:latin typeface="Segoe UI" pitchFamily="34" charset="0"/>
                <a:ea typeface="Segoe UI" pitchFamily="34" charset="-122"/>
                <a:cs typeface="Segoe UI" pitchFamily="34" charset="-120"/>
              </a:rPr>
              <a:t>VERSIÓN EJECUTIVO · STAFF DE TECNOLOGÍA</a:t>
            </a:r>
            <a:endParaRPr lang="en-US" sz="1100" dirty="0"/>
          </a:p>
        </p:txBody>
      </p:sp>
      <p:sp>
        <p:nvSpPr>
          <p:cNvPr id="12" name="Text 10"/>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ejecutivo</a:t>
            </a:r>
            <a:endParaRPr lang="en-US" sz="1150" dirty="0"/>
          </a:p>
        </p:txBody>
      </p:sp>
      <p:sp>
        <p:nvSpPr>
          <p:cNvPr id="13" name="Shape 11"/>
          <p:cNvSpPr/>
          <p:nvPr/>
        </p:nvSpPr>
        <p:spPr>
          <a:xfrm>
            <a:off x="9710928" y="2112264"/>
            <a:ext cx="0" cy="530352"/>
          </a:xfrm>
          <a:prstGeom prst="line">
            <a:avLst/>
          </a:prstGeom>
          <a:noFill/>
          <a:ln w="22225">
            <a:solidFill>
              <a:srgbClr val="5D7598"/>
            </a:solidFill>
            <a:prstDash val="solid"/>
          </a:ln>
        </p:spPr>
      </p:sp>
      <p:sp>
        <p:nvSpPr>
          <p:cNvPr id="14" name="Shape 12"/>
          <p:cNvSpPr/>
          <p:nvPr/>
        </p:nvSpPr>
        <p:spPr>
          <a:xfrm>
            <a:off x="8851392" y="2642616"/>
            <a:ext cx="1737360" cy="0"/>
          </a:xfrm>
          <a:prstGeom prst="line">
            <a:avLst/>
          </a:prstGeom>
          <a:noFill/>
          <a:ln w="22225">
            <a:solidFill>
              <a:srgbClr val="5D7598"/>
            </a:solidFill>
            <a:prstDash val="solid"/>
          </a:ln>
        </p:spPr>
      </p:sp>
      <p:sp>
        <p:nvSpPr>
          <p:cNvPr id="15" name="Shape 13"/>
          <p:cNvSpPr/>
          <p:nvPr/>
        </p:nvSpPr>
        <p:spPr>
          <a:xfrm>
            <a:off x="8851392" y="2642616"/>
            <a:ext cx="0" cy="347472"/>
          </a:xfrm>
          <a:prstGeom prst="line">
            <a:avLst/>
          </a:prstGeom>
          <a:noFill/>
          <a:ln w="22225">
            <a:solidFill>
              <a:srgbClr val="5D7598"/>
            </a:solidFill>
            <a:prstDash val="solid"/>
          </a:ln>
        </p:spPr>
      </p:sp>
      <p:sp>
        <p:nvSpPr>
          <p:cNvPr id="16" name="Shape 14"/>
          <p:cNvSpPr/>
          <p:nvPr/>
        </p:nvSpPr>
        <p:spPr>
          <a:xfrm>
            <a:off x="10588752" y="2642616"/>
            <a:ext cx="0" cy="347472"/>
          </a:xfrm>
          <a:prstGeom prst="line">
            <a:avLst/>
          </a:prstGeom>
          <a:noFill/>
          <a:ln w="22225">
            <a:solidFill>
              <a:srgbClr val="5D7598"/>
            </a:solidFill>
            <a:prstDash val="solid"/>
          </a:ln>
        </p:spPr>
      </p:sp>
      <p:sp>
        <p:nvSpPr>
          <p:cNvPr id="17" name="Shape 15"/>
          <p:cNvSpPr/>
          <p:nvPr/>
        </p:nvSpPr>
        <p:spPr>
          <a:xfrm>
            <a:off x="8851392" y="3675888"/>
            <a:ext cx="0" cy="566928"/>
          </a:xfrm>
          <a:prstGeom prst="line">
            <a:avLst/>
          </a:prstGeom>
          <a:noFill/>
          <a:ln w="22225">
            <a:solidFill>
              <a:srgbClr val="5D7598"/>
            </a:solidFill>
            <a:prstDash val="solid"/>
          </a:ln>
        </p:spPr>
      </p:sp>
      <p:sp>
        <p:nvSpPr>
          <p:cNvPr id="18" name="Shape 16"/>
          <p:cNvSpPr/>
          <p:nvPr/>
        </p:nvSpPr>
        <p:spPr>
          <a:xfrm>
            <a:off x="10588752" y="3675888"/>
            <a:ext cx="0" cy="566928"/>
          </a:xfrm>
          <a:prstGeom prst="line">
            <a:avLst/>
          </a:prstGeom>
          <a:noFill/>
          <a:ln w="22225">
            <a:solidFill>
              <a:srgbClr val="5D7598"/>
            </a:solidFill>
            <a:prstDash val="solid"/>
          </a:ln>
        </p:spPr>
      </p:sp>
      <p:sp>
        <p:nvSpPr>
          <p:cNvPr id="19" name="Shape 17"/>
          <p:cNvSpPr/>
          <p:nvPr/>
        </p:nvSpPr>
        <p:spPr>
          <a:xfrm>
            <a:off x="8951976" y="1426464"/>
            <a:ext cx="1527048" cy="685800"/>
          </a:xfrm>
          <a:prstGeom prst="roundRect">
            <a:avLst>
              <a:gd name="adj" fmla="val 18667"/>
            </a:avLst>
          </a:prstGeom>
          <a:solidFill>
            <a:srgbClr val="2BA6CB"/>
          </a:solidFill>
          <a:ln w="12700">
            <a:solidFill>
              <a:srgbClr val="2BA6CB"/>
            </a:solidFill>
            <a:prstDash val="solid"/>
          </a:ln>
          <a:effectLst>
            <a:outerShdw sx="100000" sy="100000" kx="0" ky="0" algn="bl" rotWithShape="0" blurRad="127000" dist="38100" dir="5400000">
              <a:srgbClr val="000000">
                <a:alpha val="30000"/>
              </a:srgbClr>
            </a:outerShdw>
          </a:effectLst>
        </p:spPr>
      </p:sp>
      <p:sp>
        <p:nvSpPr>
          <p:cNvPr id="20" name="Icono monitor"/>
          <p:cNvSpPr/>
          <p:nvPr/>
        </p:nvSpPr>
        <p:spPr>
          <a:xfrm>
            <a:off x="9079992" y="1645920"/>
            <a:ext cx="246888" cy="246888"/>
          </a:xfrm>
          <a:custGeom>
            <a:avLst/>
            <a:gdLst/>
            <a:ahLst/>
            <a:cxnLst/>
            <a:rect l="l" t="t" r="r" b="b"/>
            <a:pathLst>
              <a:path w="246888" h="246888">
                <a:moveTo>
                  <a:pt x="41148" y="30861"/>
                </a:moveTo>
                <a:lnTo>
                  <a:pt x="205740" y="30861"/>
                </a:lnTo>
                <a:cubicBezTo>
                  <a:pt x="217103" y="30861"/>
                  <a:pt x="226314" y="40072"/>
                  <a:pt x="226314" y="51435"/>
                </a:cubicBezTo>
                <a:lnTo>
                  <a:pt x="226314" y="154305"/>
                </a:lnTo>
                <a:cubicBezTo>
                  <a:pt x="226314" y="165668"/>
                  <a:pt x="217103" y="174879"/>
                  <a:pt x="205740" y="174879"/>
                </a:cubicBezTo>
                <a:lnTo>
                  <a:pt x="41148" y="174879"/>
                </a:lnTo>
                <a:cubicBezTo>
                  <a:pt x="29785" y="174879"/>
                  <a:pt x="20574" y="165668"/>
                  <a:pt x="20574" y="154305"/>
                </a:cubicBezTo>
                <a:lnTo>
                  <a:pt x="20574" y="51435"/>
                </a:lnTo>
                <a:cubicBezTo>
                  <a:pt x="20574" y="40072"/>
                  <a:pt x="29785" y="30861"/>
                  <a:pt x="41148" y="30861"/>
                </a:cubicBezTo>
                <a:close/>
                <a:moveTo>
                  <a:pt x="82296" y="216027"/>
                </a:moveTo>
                <a:lnTo>
                  <a:pt x="164592" y="216027"/>
                </a:lnTo>
                <a:moveTo>
                  <a:pt x="123444" y="174879"/>
                </a:moveTo>
                <a:lnTo>
                  <a:pt x="123444" y="216027"/>
                </a:lnTo>
              </a:path>
            </a:pathLst>
          </a:custGeom>
          <a:noFill/>
          <a:ln w="20574" cap="rnd">
            <a:solidFill>
              <a:srgbClr val="0B1F3A"/>
            </a:solidFill>
            <a:prstDash val="solid"/>
            <a:round/>
          </a:ln>
        </p:spPr>
      </p:sp>
      <p:sp>
        <p:nvSpPr>
          <p:cNvPr id="21" name="Text 19"/>
          <p:cNvSpPr/>
          <p:nvPr/>
        </p:nvSpPr>
        <p:spPr>
          <a:xfrm>
            <a:off x="9372600" y="1426464"/>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UI</a:t>
            </a:r>
            <a:endParaRPr lang="en-US" sz="1200" dirty="0"/>
          </a:p>
        </p:txBody>
      </p:sp>
      <p:sp>
        <p:nvSpPr>
          <p:cNvPr id="22" name="Shape 20"/>
          <p:cNvSpPr/>
          <p:nvPr/>
        </p:nvSpPr>
        <p:spPr>
          <a:xfrm>
            <a:off x="809244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3" name="Icono clipboard-list"/>
          <p:cNvSpPr/>
          <p:nvPr/>
        </p:nvSpPr>
        <p:spPr>
          <a:xfrm>
            <a:off x="8220456" y="3209544"/>
            <a:ext cx="246888" cy="246888"/>
          </a:xfrm>
          <a:custGeom>
            <a:avLst/>
            <a:gdLst/>
            <a:ahLst/>
            <a:cxnLst/>
            <a:rect l="l" t="t" r="r" b="b"/>
            <a:pathLst>
              <a:path w="246888" h="246888">
                <a:moveTo>
                  <a:pt x="92583" y="20574"/>
                </a:moveTo>
                <a:lnTo>
                  <a:pt x="154305" y="20574"/>
                </a:lnTo>
                <a:cubicBezTo>
                  <a:pt x="159986" y="20574"/>
                  <a:pt x="164592" y="25180"/>
                  <a:pt x="164592" y="30861"/>
                </a:cubicBezTo>
                <a:lnTo>
                  <a:pt x="164592" y="51435"/>
                </a:lnTo>
                <a:cubicBezTo>
                  <a:pt x="164592" y="57116"/>
                  <a:pt x="159986" y="61722"/>
                  <a:pt x="154305" y="61722"/>
                </a:cubicBezTo>
                <a:lnTo>
                  <a:pt x="92583" y="61722"/>
                </a:lnTo>
                <a:cubicBezTo>
                  <a:pt x="86902" y="61722"/>
                  <a:pt x="82296" y="57116"/>
                  <a:pt x="82296" y="51435"/>
                </a:cubicBezTo>
                <a:lnTo>
                  <a:pt x="82296" y="30861"/>
                </a:lnTo>
                <a:cubicBezTo>
                  <a:pt x="82296" y="25180"/>
                  <a:pt x="86902" y="20574"/>
                  <a:pt x="92583" y="20574"/>
                </a:cubicBezTo>
                <a:close/>
                <a:moveTo>
                  <a:pt x="164592" y="41148"/>
                </a:moveTo>
                <a:lnTo>
                  <a:pt x="185166" y="41148"/>
                </a:lnTo>
                <a:cubicBezTo>
                  <a:pt x="196529" y="41148"/>
                  <a:pt x="205740" y="50359"/>
                  <a:pt x="205740" y="61722"/>
                </a:cubicBezTo>
                <a:lnTo>
                  <a:pt x="205740" y="205740"/>
                </a:lnTo>
                <a:cubicBezTo>
                  <a:pt x="205740" y="217103"/>
                  <a:pt x="196529" y="226314"/>
                  <a:pt x="185166" y="226314"/>
                </a:cubicBezTo>
                <a:lnTo>
                  <a:pt x="61722" y="226314"/>
                </a:lnTo>
                <a:cubicBezTo>
                  <a:pt x="50359" y="226314"/>
                  <a:pt x="41148" y="217103"/>
                  <a:pt x="41148" y="205740"/>
                </a:cubicBezTo>
                <a:lnTo>
                  <a:pt x="41148" y="61722"/>
                </a:lnTo>
                <a:cubicBezTo>
                  <a:pt x="41148" y="50359"/>
                  <a:pt x="50359" y="41148"/>
                  <a:pt x="61722" y="41148"/>
                </a:cubicBezTo>
                <a:lnTo>
                  <a:pt x="82296" y="41148"/>
                </a:lnTo>
                <a:moveTo>
                  <a:pt x="123444" y="113157"/>
                </a:moveTo>
                <a:lnTo>
                  <a:pt x="164592" y="113157"/>
                </a:lnTo>
                <a:moveTo>
                  <a:pt x="123444" y="164592"/>
                </a:moveTo>
                <a:lnTo>
                  <a:pt x="164592" y="164592"/>
                </a:lnTo>
                <a:moveTo>
                  <a:pt x="82296" y="113157"/>
                </a:moveTo>
                <a:lnTo>
                  <a:pt x="82399" y="113157"/>
                </a:lnTo>
                <a:moveTo>
                  <a:pt x="82296" y="164592"/>
                </a:moveTo>
                <a:lnTo>
                  <a:pt x="82399" y="164592"/>
                </a:lnTo>
              </a:path>
            </a:pathLst>
          </a:custGeom>
          <a:noFill/>
          <a:ln w="20574" cap="rnd">
            <a:solidFill>
              <a:srgbClr val="0B1F3A"/>
            </a:solidFill>
            <a:prstDash val="solid"/>
            <a:round/>
          </a:ln>
        </p:spPr>
      </p:sp>
      <p:sp>
        <p:nvSpPr>
          <p:cNvPr id="24" name="Text 22"/>
          <p:cNvSpPr/>
          <p:nvPr/>
        </p:nvSpPr>
        <p:spPr>
          <a:xfrm>
            <a:off x="851306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Solicitudes</a:t>
            </a:r>
            <a:endParaRPr lang="en-US" sz="1200" dirty="0"/>
          </a:p>
        </p:txBody>
      </p:sp>
      <p:sp>
        <p:nvSpPr>
          <p:cNvPr id="25" name="Shape 23"/>
          <p:cNvSpPr/>
          <p:nvPr/>
        </p:nvSpPr>
        <p:spPr>
          <a:xfrm>
            <a:off x="982980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6" name="Icono bell"/>
          <p:cNvSpPr/>
          <p:nvPr/>
        </p:nvSpPr>
        <p:spPr>
          <a:xfrm>
            <a:off x="9957816" y="3209544"/>
            <a:ext cx="246888" cy="246888"/>
          </a:xfrm>
          <a:custGeom>
            <a:avLst/>
            <a:gdLst/>
            <a:ahLst/>
            <a:cxnLst/>
            <a:rect l="l" t="t" r="r" b="b"/>
            <a:pathLst>
              <a:path w="246888" h="246888">
                <a:moveTo>
                  <a:pt x="105627" y="216027"/>
                </a:moveTo>
                <a:cubicBezTo>
                  <a:pt x="109302" y="222392"/>
                  <a:pt x="116094" y="226313"/>
                  <a:pt x="123444" y="226313"/>
                </a:cubicBezTo>
                <a:cubicBezTo>
                  <a:pt x="130794" y="226313"/>
                  <a:pt x="137586" y="222392"/>
                  <a:pt x="141261" y="216027"/>
                </a:cubicBezTo>
                <a:moveTo>
                  <a:pt x="33556" y="157659"/>
                </a:moveTo>
                <a:cubicBezTo>
                  <a:pt x="30810" y="160668"/>
                  <a:pt x="30099" y="165014"/>
                  <a:pt x="31743" y="168742"/>
                </a:cubicBezTo>
                <a:cubicBezTo>
                  <a:pt x="33386" y="172469"/>
                  <a:pt x="37074" y="174876"/>
                  <a:pt x="41148" y="174879"/>
                </a:cubicBezTo>
                <a:lnTo>
                  <a:pt x="205740" y="174879"/>
                </a:lnTo>
                <a:cubicBezTo>
                  <a:pt x="209813" y="174880"/>
                  <a:pt x="213504" y="172478"/>
                  <a:pt x="215151" y="168753"/>
                </a:cubicBezTo>
                <a:cubicBezTo>
                  <a:pt x="216799" y="165028"/>
                  <a:pt x="216094" y="160682"/>
                  <a:pt x="213352" y="157669"/>
                </a:cubicBezTo>
                <a:cubicBezTo>
                  <a:pt x="199671" y="143565"/>
                  <a:pt x="185166" y="128577"/>
                  <a:pt x="185166" y="82296"/>
                </a:cubicBezTo>
                <a:cubicBezTo>
                  <a:pt x="185166" y="48208"/>
                  <a:pt x="157532" y="20574"/>
                  <a:pt x="123444" y="20574"/>
                </a:cubicBezTo>
                <a:cubicBezTo>
                  <a:pt x="89356" y="20574"/>
                  <a:pt x="61722" y="48208"/>
                  <a:pt x="61722" y="82296"/>
                </a:cubicBezTo>
                <a:cubicBezTo>
                  <a:pt x="61722" y="128577"/>
                  <a:pt x="47207" y="143565"/>
                  <a:pt x="33556" y="157659"/>
                </a:cubicBezTo>
              </a:path>
            </a:pathLst>
          </a:custGeom>
          <a:noFill/>
          <a:ln w="20574" cap="rnd">
            <a:solidFill>
              <a:srgbClr val="0B1F3A"/>
            </a:solidFill>
            <a:prstDash val="solid"/>
            <a:round/>
          </a:ln>
        </p:spPr>
      </p:sp>
      <p:sp>
        <p:nvSpPr>
          <p:cNvPr id="27" name="Text 25"/>
          <p:cNvSpPr/>
          <p:nvPr/>
        </p:nvSpPr>
        <p:spPr>
          <a:xfrm>
            <a:off x="1025042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Notificaciones</a:t>
            </a:r>
            <a:endParaRPr lang="en-US" sz="1200" dirty="0"/>
          </a:p>
        </p:txBody>
      </p:sp>
      <p:sp>
        <p:nvSpPr>
          <p:cNvPr id="28" name="Shape 26"/>
          <p:cNvSpPr/>
          <p:nvPr/>
        </p:nvSpPr>
        <p:spPr>
          <a:xfrm>
            <a:off x="8284464" y="4242816"/>
            <a:ext cx="1143000" cy="566928"/>
          </a:xfrm>
          <a:prstGeom prst="roundRect">
            <a:avLst>
              <a:gd name="adj" fmla="val 48387"/>
            </a:avLst>
          </a:prstGeom>
          <a:solidFill>
            <a:srgbClr val="0B1F3A"/>
          </a:solidFill>
          <a:ln w="19050">
            <a:solidFill>
              <a:srgbClr val="9FB4D2"/>
            </a:solidFill>
            <a:prstDash val="solid"/>
          </a:ln>
        </p:spPr>
      </p:sp>
      <p:sp>
        <p:nvSpPr>
          <p:cNvPr id="29" name="Icono database"/>
          <p:cNvSpPr/>
          <p:nvPr/>
        </p:nvSpPr>
        <p:spPr>
          <a:xfrm>
            <a:off x="841248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0" name="Text 28"/>
          <p:cNvSpPr/>
          <p:nvPr/>
        </p:nvSpPr>
        <p:spPr>
          <a:xfrm>
            <a:off x="868680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
        <p:nvSpPr>
          <p:cNvPr id="31" name="Shape 29"/>
          <p:cNvSpPr/>
          <p:nvPr/>
        </p:nvSpPr>
        <p:spPr>
          <a:xfrm>
            <a:off x="10021824" y="4242816"/>
            <a:ext cx="1143000" cy="566928"/>
          </a:xfrm>
          <a:prstGeom prst="roundRect">
            <a:avLst>
              <a:gd name="adj" fmla="val 48387"/>
            </a:avLst>
          </a:prstGeom>
          <a:solidFill>
            <a:srgbClr val="0B1F3A"/>
          </a:solidFill>
          <a:ln w="19050">
            <a:solidFill>
              <a:srgbClr val="9FB4D2"/>
            </a:solidFill>
            <a:prstDash val="solid"/>
          </a:ln>
        </p:spPr>
      </p:sp>
      <p:sp>
        <p:nvSpPr>
          <p:cNvPr id="32" name="Icono database"/>
          <p:cNvSpPr/>
          <p:nvPr/>
        </p:nvSpPr>
        <p:spPr>
          <a:xfrm>
            <a:off x="1014984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3" name="Text 31"/>
          <p:cNvSpPr/>
          <p:nvPr/>
        </p:nvSpPr>
        <p:spPr>
          <a:xfrm>
            <a:off x="1042416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Registra solicitudes y avisa cuando se envían: un sistema pequeño,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4 y Java 26, cada uno con su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Documentados con OpenAPI y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A6648"/>
          </a:solidFill>
          <a:ln w="12700">
            <a:solidFill>
              <a:srgbClr val="0A6648"/>
            </a:solidFill>
            <a:prstDash val="solid"/>
          </a:ln>
        </p:spPr>
      </p:sp>
      <p:sp>
        <p:nvSpPr>
          <p:cNvPr id="22" name="Shape 20"/>
          <p:cNvSpPr/>
          <p:nvPr/>
        </p:nvSpPr>
        <p:spPr>
          <a:xfrm>
            <a:off x="10792663" y="1956816"/>
            <a:ext cx="566928" cy="566928"/>
          </a:xfrm>
          <a:prstGeom prst="ellipse">
            <a:avLst/>
          </a:prstGeom>
          <a:solidFill>
            <a:srgbClr val="E1F1EA"/>
          </a:solidFill>
          <a:ln w="12700">
            <a:solidFill>
              <a:srgbClr val="E1F1EA"/>
            </a:solidFill>
            <a:prstDash val="solid"/>
          </a:ln>
        </p:spPr>
      </p:sp>
      <p:sp>
        <p:nvSpPr>
          <p:cNvPr id="23" name="Icono flask-conical"/>
          <p:cNvSpPr/>
          <p:nvPr/>
        </p:nvSpPr>
        <p:spPr>
          <a:xfrm>
            <a:off x="10928726" y="2092879"/>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29 en la UI.</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B6E8A"/>
          </a:solidFill>
          <a:ln w="12700">
            <a:solidFill>
              <a:srgbClr val="0B6E8A"/>
            </a:solidFill>
            <a:prstDash val="solid"/>
          </a:ln>
        </p:spPr>
      </p:sp>
      <p:sp>
        <p:nvSpPr>
          <p:cNvPr id="29" name="Shape 27"/>
          <p:cNvSpPr/>
          <p:nvPr/>
        </p:nvSpPr>
        <p:spPr>
          <a:xfrm>
            <a:off x="3335426" y="4384548"/>
            <a:ext cx="566928" cy="566928"/>
          </a:xfrm>
          <a:prstGeom prst="ellipse">
            <a:avLst/>
          </a:prstGeom>
          <a:solidFill>
            <a:srgbClr val="E3F4FA"/>
          </a:solidFill>
          <a:ln w="12700">
            <a:solidFill>
              <a:srgbClr val="E3F4FA"/>
            </a:solidFill>
            <a:prstDash val="solid"/>
          </a:ln>
        </p:spPr>
      </p:sp>
      <p:sp>
        <p:nvSpPr>
          <p:cNvPr id="30" name="Icono container"/>
          <p:cNvSpPr/>
          <p:nvPr/>
        </p:nvSpPr>
        <p:spPr>
          <a:xfrm>
            <a:off x="3471489" y="4520611"/>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UI y logs con un solo comando.</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 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relevador revisa los pendientes cada 5 segundos.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450" b="1" dirty="0">
                <a:solidFill>
                  <a:srgbClr val="0B1A3C"/>
                </a:solidFill>
                <a:latin typeface="Segoe UI Semibold" pitchFamily="34" charset="0"/>
                <a:ea typeface="Segoe UI Semibold" pitchFamily="34" charset="-122"/>
                <a:cs typeface="Segoe UI Semibold" pitchFamily="34" charset="-120"/>
              </a:rPr>
              <a:t>avisos perdidos o duplicados</a:t>
            </a:r>
            <a:endParaRPr lang="en-US" sz="145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el otro servicio esté caído o el evento llegue dos veces.</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Ocho conceptos, en una frase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mínimo para seguir la presentación, sin jerga.</a:t>
            </a:r>
            <a:endParaRPr lang="en-US" sz="1700" dirty="0"/>
          </a:p>
        </p:txBody>
      </p:sp>
      <p:sp>
        <p:nvSpPr>
          <p:cNvPr id="6" name="Shape 4"/>
          <p:cNvSpPr/>
          <p:nvPr/>
        </p:nvSpPr>
        <p:spPr>
          <a:xfrm>
            <a:off x="61264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0B2350"/>
          </a:solidFill>
          <a:ln w="12700">
            <a:solidFill>
              <a:srgbClr val="0B2350"/>
            </a:solidFill>
            <a:prstDash val="solid"/>
          </a:ln>
        </p:spPr>
      </p:sp>
      <p:sp>
        <p:nvSpPr>
          <p:cNvPr id="8" name="Shape 6"/>
          <p:cNvSpPr/>
          <p:nvPr/>
        </p:nvSpPr>
        <p:spPr>
          <a:xfrm>
            <a:off x="813816" y="1901952"/>
            <a:ext cx="566928" cy="566928"/>
          </a:xfrm>
          <a:prstGeom prst="ellipse">
            <a:avLst/>
          </a:prstGeom>
          <a:solidFill>
            <a:srgbClr val="E8EEF8"/>
          </a:solidFill>
          <a:ln w="12700">
            <a:solidFill>
              <a:srgbClr val="E8EEF8"/>
            </a:solidFill>
            <a:prstDash val="solid"/>
          </a:ln>
        </p:spPr>
      </p:sp>
      <p:sp>
        <p:nvSpPr>
          <p:cNvPr id="9" name="Icono server"/>
          <p:cNvSpPr/>
          <p:nvPr/>
        </p:nvSpPr>
        <p:spPr>
          <a:xfrm>
            <a:off x="949879" y="2038015"/>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152704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a:t>
            </a:r>
            <a:endParaRPr lang="en-US" sz="1500" dirty="0"/>
          </a:p>
        </p:txBody>
      </p:sp>
      <p:sp>
        <p:nvSpPr>
          <p:cNvPr id="11" name="Text 9"/>
          <p:cNvSpPr/>
          <p:nvPr/>
        </p:nvSpPr>
        <p:spPr>
          <a:xfrm>
            <a:off x="86868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Una aplicación pequeña, con una sola tarea y su propia base de datos.</a:t>
            </a:r>
            <a:endParaRPr lang="en-US" sz="1300" dirty="0"/>
          </a:p>
        </p:txBody>
      </p:sp>
      <p:sp>
        <p:nvSpPr>
          <p:cNvPr id="12" name="Shape 10"/>
          <p:cNvSpPr/>
          <p:nvPr/>
        </p:nvSpPr>
        <p:spPr>
          <a:xfrm>
            <a:off x="339996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3399968" y="1847088"/>
            <a:ext cx="64008" cy="1970532"/>
          </a:xfrm>
          <a:prstGeom prst="rect">
            <a:avLst/>
          </a:prstGeom>
          <a:solidFill>
            <a:srgbClr val="5B3FC4"/>
          </a:solidFill>
          <a:ln w="12700">
            <a:solidFill>
              <a:srgbClr val="5B3FC4"/>
            </a:solidFill>
            <a:prstDash val="solid"/>
          </a:ln>
        </p:spPr>
      </p:sp>
      <p:sp>
        <p:nvSpPr>
          <p:cNvPr id="14" name="Shape 12"/>
          <p:cNvSpPr/>
          <p:nvPr/>
        </p:nvSpPr>
        <p:spPr>
          <a:xfrm>
            <a:off x="3601136" y="1901952"/>
            <a:ext cx="566928" cy="566928"/>
          </a:xfrm>
          <a:prstGeom prst="ellipse">
            <a:avLst/>
          </a:prstGeom>
          <a:solidFill>
            <a:srgbClr val="F1EEFD"/>
          </a:solidFill>
          <a:ln w="12700">
            <a:solidFill>
              <a:srgbClr val="F1EEFD"/>
            </a:solidFill>
            <a:prstDash val="solid"/>
          </a:ln>
        </p:spPr>
      </p:sp>
      <p:sp>
        <p:nvSpPr>
          <p:cNvPr id="15" name="Icono globe"/>
          <p:cNvSpPr/>
          <p:nvPr/>
        </p:nvSpPr>
        <p:spPr>
          <a:xfrm>
            <a:off x="3737199" y="2038015"/>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47401" y="24567"/>
                </a:moveTo>
                <a:cubicBezTo>
                  <a:pt x="81890" y="93354"/>
                  <a:pt x="81890" y="201448"/>
                  <a:pt x="147401" y="270236"/>
                </a:cubicBezTo>
                <a:cubicBezTo>
                  <a:pt x="212913" y="201448"/>
                  <a:pt x="212913" y="93354"/>
                  <a:pt x="147401" y="24567"/>
                </a:cubicBezTo>
                <a:moveTo>
                  <a:pt x="24567" y="147401"/>
                </a:moveTo>
                <a:lnTo>
                  <a:pt x="270236" y="147401"/>
                </a:lnTo>
              </a:path>
            </a:pathLst>
          </a:custGeom>
          <a:noFill/>
          <a:ln w="24567" cap="rnd">
            <a:solidFill>
              <a:srgbClr val="5B3FC4"/>
            </a:solidFill>
            <a:prstDash val="solid"/>
            <a:round/>
          </a:ln>
        </p:spPr>
      </p:sp>
      <p:sp>
        <p:nvSpPr>
          <p:cNvPr id="16" name="Text 14"/>
          <p:cNvSpPr/>
          <p:nvPr/>
        </p:nvSpPr>
        <p:spPr>
          <a:xfrm>
            <a:off x="431436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API REST</a:t>
            </a:r>
            <a:endParaRPr lang="en-US" sz="1500" dirty="0"/>
          </a:p>
        </p:txBody>
      </p:sp>
      <p:sp>
        <p:nvSpPr>
          <p:cNvPr id="17" name="Text 15"/>
          <p:cNvSpPr/>
          <p:nvPr/>
        </p:nvSpPr>
        <p:spPr>
          <a:xfrm>
            <a:off x="365600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puerta para pedirle algo a una aplicación por HTTP, como abrir una URL.</a:t>
            </a:r>
            <a:endParaRPr lang="en-US" sz="1300" dirty="0"/>
          </a:p>
        </p:txBody>
      </p:sp>
      <p:sp>
        <p:nvSpPr>
          <p:cNvPr id="18" name="Shape 16"/>
          <p:cNvSpPr/>
          <p:nvPr/>
        </p:nvSpPr>
        <p:spPr>
          <a:xfrm>
            <a:off x="618728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87288" y="1847088"/>
            <a:ext cx="64008" cy="1970532"/>
          </a:xfrm>
          <a:prstGeom prst="rect">
            <a:avLst/>
          </a:prstGeom>
          <a:solidFill>
            <a:srgbClr val="0B2350"/>
          </a:solidFill>
          <a:ln w="12700">
            <a:solidFill>
              <a:srgbClr val="0B2350"/>
            </a:solidFill>
            <a:prstDash val="solid"/>
          </a:ln>
        </p:spPr>
      </p:sp>
      <p:sp>
        <p:nvSpPr>
          <p:cNvPr id="20" name="Shape 18"/>
          <p:cNvSpPr/>
          <p:nvPr/>
        </p:nvSpPr>
        <p:spPr>
          <a:xfrm>
            <a:off x="6388456" y="1901952"/>
            <a:ext cx="566928" cy="566928"/>
          </a:xfrm>
          <a:prstGeom prst="ellipse">
            <a:avLst/>
          </a:prstGeom>
          <a:solidFill>
            <a:srgbClr val="E8EEF8"/>
          </a:solidFill>
          <a:ln w="12700">
            <a:solidFill>
              <a:srgbClr val="E8EEF8"/>
            </a:solidFill>
            <a:prstDash val="solid"/>
          </a:ln>
        </p:spPr>
      </p:sp>
      <p:sp>
        <p:nvSpPr>
          <p:cNvPr id="21" name="Icono hexagon"/>
          <p:cNvSpPr/>
          <p:nvPr/>
        </p:nvSpPr>
        <p:spPr>
          <a:xfrm>
            <a:off x="6524518" y="2038015"/>
            <a:ext cx="294803" cy="294803"/>
          </a:xfrm>
          <a:custGeom>
            <a:avLst/>
            <a:gdLst/>
            <a:ahLst/>
            <a:cxnLst/>
            <a:rect l="l" t="t" r="r" b="b"/>
            <a:pathLst>
              <a:path w="294803" h="294803">
                <a:moveTo>
                  <a:pt x="257952" y="196535"/>
                </a:move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lnTo>
                  <a:pt x="135118" y="266919"/>
                </a:lnTo>
                <a:cubicBezTo>
                  <a:pt x="142719" y="271308"/>
                  <a:pt x="152084" y="271308"/>
                  <a:pt x="159685" y="266919"/>
                </a:cubicBezTo>
                <a:lnTo>
                  <a:pt x="245669" y="217785"/>
                </a:lnTo>
                <a:cubicBezTo>
                  <a:pt x="253262" y="213401"/>
                  <a:pt x="257943" y="205303"/>
                  <a:pt x="257952" y="196535"/>
                </a:cubicBezTo>
                <a:close/>
              </a:path>
            </a:pathLst>
          </a:custGeom>
          <a:noFill/>
          <a:ln w="24567" cap="rnd">
            <a:solidFill>
              <a:srgbClr val="0B2350"/>
            </a:solidFill>
            <a:prstDash val="solid"/>
            <a:round/>
          </a:ln>
        </p:spPr>
      </p:sp>
      <p:sp>
        <p:nvSpPr>
          <p:cNvPr id="22" name="Text 20"/>
          <p:cNvSpPr/>
          <p:nvPr/>
        </p:nvSpPr>
        <p:spPr>
          <a:xfrm>
            <a:off x="710168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 hexagonal</a:t>
            </a:r>
            <a:endParaRPr lang="en-US" sz="1500" dirty="0"/>
          </a:p>
        </p:txBody>
      </p:sp>
      <p:sp>
        <p:nvSpPr>
          <p:cNvPr id="23" name="Text 21"/>
          <p:cNvSpPr/>
          <p:nvPr/>
        </p:nvSpPr>
        <p:spPr>
          <a:xfrm>
            <a:off x="644332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negocio al centro; la base y la web se conectan por “enchufes”.</a:t>
            </a:r>
            <a:endParaRPr lang="en-US" sz="1300" dirty="0"/>
          </a:p>
        </p:txBody>
      </p:sp>
      <p:sp>
        <p:nvSpPr>
          <p:cNvPr id="24" name="Shape 22"/>
          <p:cNvSpPr/>
          <p:nvPr/>
        </p:nvSpPr>
        <p:spPr>
          <a:xfrm>
            <a:off x="8974607"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8974607" y="1847088"/>
            <a:ext cx="64008" cy="1970532"/>
          </a:xfrm>
          <a:prstGeom prst="rect">
            <a:avLst/>
          </a:prstGeom>
          <a:solidFill>
            <a:srgbClr val="0B6E8A"/>
          </a:solidFill>
          <a:ln w="12700">
            <a:solidFill>
              <a:srgbClr val="0B6E8A"/>
            </a:solidFill>
            <a:prstDash val="solid"/>
          </a:ln>
        </p:spPr>
      </p:sp>
      <p:sp>
        <p:nvSpPr>
          <p:cNvPr id="26" name="Shape 24"/>
          <p:cNvSpPr/>
          <p:nvPr/>
        </p:nvSpPr>
        <p:spPr>
          <a:xfrm>
            <a:off x="9175775" y="1901952"/>
            <a:ext cx="566928" cy="566928"/>
          </a:xfrm>
          <a:prstGeom prst="ellipse">
            <a:avLst/>
          </a:prstGeom>
          <a:solidFill>
            <a:srgbClr val="E3F4FA"/>
          </a:solidFill>
          <a:ln w="12700">
            <a:solidFill>
              <a:srgbClr val="E3F4FA"/>
            </a:solidFill>
            <a:prstDash val="solid"/>
          </a:ln>
        </p:spPr>
      </p:sp>
      <p:sp>
        <p:nvSpPr>
          <p:cNvPr id="27" name="Icono table"/>
          <p:cNvSpPr/>
          <p:nvPr/>
        </p:nvSpPr>
        <p:spPr>
          <a:xfrm>
            <a:off x="9311838" y="2038015"/>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0B6E8A"/>
            </a:solidFill>
            <a:prstDash val="solid"/>
            <a:round/>
          </a:ln>
        </p:spPr>
      </p:sp>
      <p:sp>
        <p:nvSpPr>
          <p:cNvPr id="28" name="Text 26"/>
          <p:cNvSpPr/>
          <p:nvPr/>
        </p:nvSpPr>
        <p:spPr>
          <a:xfrm>
            <a:off x="9889007"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ORM (JPA)</a:t>
            </a:r>
            <a:endParaRPr lang="en-US" sz="1500" dirty="0"/>
          </a:p>
        </p:txBody>
      </p:sp>
      <p:sp>
        <p:nvSpPr>
          <p:cNvPr id="29" name="Text 27"/>
          <p:cNvSpPr/>
          <p:nvPr/>
        </p:nvSpPr>
        <p:spPr>
          <a:xfrm>
            <a:off x="9230639"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Traduce entre clases Java y tablas: escribe el SQL rutinario por nosotros.</a:t>
            </a:r>
            <a:endParaRPr lang="en-US" sz="1300" dirty="0"/>
          </a:p>
        </p:txBody>
      </p:sp>
      <p:sp>
        <p:nvSpPr>
          <p:cNvPr id="30" name="Shape 28"/>
          <p:cNvSpPr/>
          <p:nvPr/>
        </p:nvSpPr>
        <p:spPr>
          <a:xfrm>
            <a:off x="61264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12648" y="4256532"/>
            <a:ext cx="64008" cy="1970532"/>
          </a:xfrm>
          <a:prstGeom prst="rect">
            <a:avLst/>
          </a:prstGeom>
          <a:solidFill>
            <a:srgbClr val="0B6E8A"/>
          </a:solidFill>
          <a:ln w="12700">
            <a:solidFill>
              <a:srgbClr val="0B6E8A"/>
            </a:solidFill>
            <a:prstDash val="solid"/>
          </a:ln>
        </p:spPr>
      </p:sp>
      <p:sp>
        <p:nvSpPr>
          <p:cNvPr id="32" name="Shape 30"/>
          <p:cNvSpPr/>
          <p:nvPr/>
        </p:nvSpPr>
        <p:spPr>
          <a:xfrm>
            <a:off x="813816" y="4311396"/>
            <a:ext cx="566928" cy="566928"/>
          </a:xfrm>
          <a:prstGeom prst="ellipse">
            <a:avLst/>
          </a:prstGeom>
          <a:solidFill>
            <a:srgbClr val="E3F4FA"/>
          </a:solidFill>
          <a:ln w="12700">
            <a:solidFill>
              <a:srgbClr val="E3F4FA"/>
            </a:solidFill>
            <a:prstDash val="solid"/>
          </a:ln>
        </p:spPr>
      </p:sp>
      <p:sp>
        <p:nvSpPr>
          <p:cNvPr id="33" name="Icono container"/>
          <p:cNvSpPr/>
          <p:nvPr/>
        </p:nvSpPr>
        <p:spPr>
          <a:xfrm>
            <a:off x="949879" y="444745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4" name="Text 32"/>
          <p:cNvSpPr/>
          <p:nvPr/>
        </p:nvSpPr>
        <p:spPr>
          <a:xfrm>
            <a:off x="152704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a:t>
            </a:r>
            <a:endParaRPr lang="en-US" sz="1500" dirty="0"/>
          </a:p>
        </p:txBody>
      </p:sp>
      <p:sp>
        <p:nvSpPr>
          <p:cNvPr id="35" name="Text 33"/>
          <p:cNvSpPr/>
          <p:nvPr/>
        </p:nvSpPr>
        <p:spPr>
          <a:xfrm>
            <a:off x="86868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Empaqueta la aplicación con todo lo que necesita: corre igual en cualquier lado.</a:t>
            </a:r>
            <a:endParaRPr lang="en-US" sz="1300" dirty="0"/>
          </a:p>
        </p:txBody>
      </p:sp>
      <p:sp>
        <p:nvSpPr>
          <p:cNvPr id="36" name="Shape 34"/>
          <p:cNvSpPr/>
          <p:nvPr/>
        </p:nvSpPr>
        <p:spPr>
          <a:xfrm>
            <a:off x="339996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3399968" y="4256532"/>
            <a:ext cx="64008" cy="1970532"/>
          </a:xfrm>
          <a:prstGeom prst="rect">
            <a:avLst/>
          </a:prstGeom>
          <a:solidFill>
            <a:srgbClr val="0A6648"/>
          </a:solidFill>
          <a:ln w="12700">
            <a:solidFill>
              <a:srgbClr val="0A6648"/>
            </a:solidFill>
            <a:prstDash val="solid"/>
          </a:ln>
        </p:spPr>
      </p:sp>
      <p:sp>
        <p:nvSpPr>
          <p:cNvPr id="38" name="Shape 36"/>
          <p:cNvSpPr/>
          <p:nvPr/>
        </p:nvSpPr>
        <p:spPr>
          <a:xfrm>
            <a:off x="3601136" y="4311396"/>
            <a:ext cx="566928" cy="566928"/>
          </a:xfrm>
          <a:prstGeom prst="ellipse">
            <a:avLst/>
          </a:prstGeom>
          <a:solidFill>
            <a:srgbClr val="E1F1EA"/>
          </a:solidFill>
          <a:ln w="12700">
            <a:solidFill>
              <a:srgbClr val="E1F1EA"/>
            </a:solidFill>
            <a:prstDash val="solid"/>
          </a:ln>
        </p:spPr>
      </p:sp>
      <p:sp>
        <p:nvSpPr>
          <p:cNvPr id="39" name="Icono ship-wheel"/>
          <p:cNvSpPr/>
          <p:nvPr/>
        </p:nvSpPr>
        <p:spPr>
          <a:xfrm>
            <a:off x="3737199" y="4447459"/>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40" name="Text 38"/>
          <p:cNvSpPr/>
          <p:nvPr/>
        </p:nvSpPr>
        <p:spPr>
          <a:xfrm>
            <a:off x="431436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41" name="Text 39"/>
          <p:cNvSpPr/>
          <p:nvPr/>
        </p:nvSpPr>
        <p:spPr>
          <a:xfrm>
            <a:off x="365600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Administra esos paquetes: los arranca, los vigila y los reinicia si fallan.</a:t>
            </a:r>
            <a:endParaRPr lang="en-US" sz="1300" dirty="0"/>
          </a:p>
        </p:txBody>
      </p:sp>
      <p:sp>
        <p:nvSpPr>
          <p:cNvPr id="42" name="Shape 40"/>
          <p:cNvSpPr/>
          <p:nvPr/>
        </p:nvSpPr>
        <p:spPr>
          <a:xfrm>
            <a:off x="618728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6187288" y="4256532"/>
            <a:ext cx="64008" cy="1970532"/>
          </a:xfrm>
          <a:prstGeom prst="rect">
            <a:avLst/>
          </a:prstGeom>
          <a:solidFill>
            <a:srgbClr val="0A6648"/>
          </a:solidFill>
          <a:ln w="12700">
            <a:solidFill>
              <a:srgbClr val="0A6648"/>
            </a:solidFill>
            <a:prstDash val="solid"/>
          </a:ln>
        </p:spPr>
      </p:sp>
      <p:sp>
        <p:nvSpPr>
          <p:cNvPr id="44" name="Shape 42"/>
          <p:cNvSpPr/>
          <p:nvPr/>
        </p:nvSpPr>
        <p:spPr>
          <a:xfrm>
            <a:off x="6388456" y="4311396"/>
            <a:ext cx="566928" cy="566928"/>
          </a:xfrm>
          <a:prstGeom prst="ellipse">
            <a:avLst/>
          </a:prstGeom>
          <a:solidFill>
            <a:srgbClr val="E1F1EA"/>
          </a:solidFill>
          <a:ln w="12700">
            <a:solidFill>
              <a:srgbClr val="E1F1EA"/>
            </a:solidFill>
            <a:prstDash val="solid"/>
          </a:ln>
        </p:spPr>
      </p:sp>
      <p:sp>
        <p:nvSpPr>
          <p:cNvPr id="45" name="Icono workflow"/>
          <p:cNvSpPr/>
          <p:nvPr/>
        </p:nvSpPr>
        <p:spPr>
          <a:xfrm>
            <a:off x="6524518" y="4447459"/>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46" name="Text 44"/>
          <p:cNvSpPr/>
          <p:nvPr/>
        </p:nvSpPr>
        <p:spPr>
          <a:xfrm>
            <a:off x="710168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CI/CD</a:t>
            </a:r>
            <a:endParaRPr lang="en-US" sz="1500" dirty="0"/>
          </a:p>
        </p:txBody>
      </p:sp>
      <p:sp>
        <p:nvSpPr>
          <p:cNvPr id="47" name="Text 45"/>
          <p:cNvSpPr/>
          <p:nvPr/>
        </p:nvSpPr>
        <p:spPr>
          <a:xfrm>
            <a:off x="644332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robot que compila, prueba y empaqueta cada cambio, sin pasos manuales.</a:t>
            </a:r>
            <a:endParaRPr lang="en-US" sz="1300" dirty="0"/>
          </a:p>
        </p:txBody>
      </p:sp>
      <p:sp>
        <p:nvSpPr>
          <p:cNvPr id="48" name="Shape 46"/>
          <p:cNvSpPr/>
          <p:nvPr/>
        </p:nvSpPr>
        <p:spPr>
          <a:xfrm>
            <a:off x="8974607"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8974607" y="4256532"/>
            <a:ext cx="64008" cy="1970532"/>
          </a:xfrm>
          <a:prstGeom prst="rect">
            <a:avLst/>
          </a:prstGeom>
          <a:solidFill>
            <a:srgbClr val="8A4B06"/>
          </a:solidFill>
          <a:ln w="12700">
            <a:solidFill>
              <a:srgbClr val="8A4B06"/>
            </a:solidFill>
            <a:prstDash val="solid"/>
          </a:ln>
        </p:spPr>
      </p:sp>
      <p:sp>
        <p:nvSpPr>
          <p:cNvPr id="50" name="Shape 48"/>
          <p:cNvSpPr/>
          <p:nvPr/>
        </p:nvSpPr>
        <p:spPr>
          <a:xfrm>
            <a:off x="9175775" y="4311396"/>
            <a:ext cx="566928" cy="566928"/>
          </a:xfrm>
          <a:prstGeom prst="ellipse">
            <a:avLst/>
          </a:prstGeom>
          <a:solidFill>
            <a:srgbClr val="FCEFD6"/>
          </a:solidFill>
          <a:ln w="12700">
            <a:solidFill>
              <a:srgbClr val="FCEFD6"/>
            </a:solidFill>
            <a:prstDash val="solid"/>
          </a:ln>
        </p:spPr>
      </p:sp>
      <p:sp>
        <p:nvSpPr>
          <p:cNvPr id="51" name="Icono chart-line"/>
          <p:cNvSpPr/>
          <p:nvPr/>
        </p:nvSpPr>
        <p:spPr>
          <a:xfrm>
            <a:off x="9311838" y="444745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2" name="Text 50"/>
          <p:cNvSpPr/>
          <p:nvPr/>
        </p:nvSpPr>
        <p:spPr>
          <a:xfrm>
            <a:off x="9889007"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53" name="Text 51"/>
          <p:cNvSpPr/>
          <p:nvPr/>
        </p:nvSpPr>
        <p:spPr>
          <a:xfrm>
            <a:off x="9230639"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y salud de todo el sistema en un solo lugar.</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partes, del código a la operación, y en cada una lo que aprendimos.</a:t>
            </a:r>
            <a:endParaRPr lang="en-US" sz="1700" dirty="0"/>
          </a:p>
        </p:txBody>
      </p:sp>
      <p:sp>
        <p:nvSpPr>
          <p:cNvPr id="6" name="Shape 4"/>
          <p:cNvSpPr/>
          <p:nvPr/>
        </p:nvSpPr>
        <p:spPr>
          <a:xfrm>
            <a:off x="1298048" y="2450592"/>
            <a:ext cx="9595599" cy="0"/>
          </a:xfrm>
          <a:prstGeom prst="line">
            <a:avLst/>
          </a:prstGeom>
          <a:noFill/>
          <a:ln w="50800">
            <a:solidFill>
              <a:srgbClr val="75C5DD"/>
            </a:solidFill>
            <a:prstDash val="solid"/>
          </a:ln>
        </p:spPr>
      </p:sp>
      <p:sp>
        <p:nvSpPr>
          <p:cNvPr id="7" name="Shape 5"/>
          <p:cNvSpPr/>
          <p:nvPr/>
        </p:nvSpPr>
        <p:spPr>
          <a:xfrm>
            <a:off x="8408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069448" y="2221992"/>
            <a:ext cx="457200" cy="457200"/>
          </a:xfrm>
          <a:custGeom>
            <a:avLst/>
            <a:gdLst/>
            <a:ahLst/>
            <a:cxnLst/>
            <a:rect l="l" t="t" r="r" b="b"/>
            <a:pathLst>
              <a:path w="457200" h="457200">
                <a:moveTo>
                  <a:pt x="304800" y="342900"/>
                </a:moveTo>
                <a:lnTo>
                  <a:pt x="419100" y="228600"/>
                </a:lnTo>
                <a:lnTo>
                  <a:pt x="304800" y="114300"/>
                </a:lnTo>
                <a:moveTo>
                  <a:pt x="152400" y="114300"/>
                </a:moveTo>
                <a:lnTo>
                  <a:pt x="38100" y="228600"/>
                </a:lnTo>
                <a:lnTo>
                  <a:pt x="152400" y="342900"/>
                </a:lnTo>
              </a:path>
            </a:pathLst>
          </a:custGeom>
          <a:noFill/>
          <a:ln w="38100" cap="rnd">
            <a:solidFill>
              <a:srgbClr val="FFFFFF"/>
            </a:solidFill>
            <a:prstDash val="solid"/>
            <a:round/>
          </a:ln>
        </p:spPr>
      </p:sp>
      <p:sp>
        <p:nvSpPr>
          <p:cNvPr id="9" name="Text 7"/>
          <p:cNvSpPr/>
          <p:nvPr/>
        </p:nvSpPr>
        <p:spPr>
          <a:xfrm>
            <a:off x="14443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Fundamentos</a:t>
            </a:r>
            <a:endParaRPr lang="en-US" sz="1400" dirty="0"/>
          </a:p>
        </p:txBody>
      </p:sp>
      <p:sp>
        <p:nvSpPr>
          <p:cNvPr id="11" name="Text 9"/>
          <p:cNvSpPr/>
          <p:nvPr/>
        </p:nvSpPr>
        <p:spPr>
          <a:xfrm>
            <a:off x="667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Spring Boot · Endpoints REST · Manejo global de errores</a:t>
            </a:r>
            <a:endParaRPr lang="en-US" sz="1050" dirty="0"/>
          </a:p>
        </p:txBody>
      </p:sp>
      <p:sp>
        <p:nvSpPr>
          <p:cNvPr id="12" name="Shape 10"/>
          <p:cNvSpPr/>
          <p:nvPr/>
        </p:nvSpPr>
        <p:spPr>
          <a:xfrm>
            <a:off x="22116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3" name="Icono network"/>
          <p:cNvSpPr/>
          <p:nvPr/>
        </p:nvSpPr>
        <p:spPr>
          <a:xfrm>
            <a:off x="2440248" y="2221992"/>
            <a:ext cx="457200" cy="457200"/>
          </a:xfrm>
          <a:custGeom>
            <a:avLst/>
            <a:gdLst/>
            <a:ahLst/>
            <a:cxnLst/>
            <a:rect l="l" t="t" r="r" b="b"/>
            <a:pathLst>
              <a:path w="457200" h="457200">
                <a:moveTo>
                  <a:pt x="323850" y="304800"/>
                </a:moveTo>
                <a:lnTo>
                  <a:pt x="400050" y="304800"/>
                </a:lnTo>
                <a:cubicBezTo>
                  <a:pt x="410571" y="304800"/>
                  <a:pt x="419100" y="313329"/>
                  <a:pt x="419100" y="323850"/>
                </a:cubicBezTo>
                <a:lnTo>
                  <a:pt x="419100" y="400050"/>
                </a:lnTo>
                <a:cubicBezTo>
                  <a:pt x="419100" y="410571"/>
                  <a:pt x="410571" y="419100"/>
                  <a:pt x="400050" y="419100"/>
                </a:cubicBezTo>
                <a:lnTo>
                  <a:pt x="323850" y="419100"/>
                </a:lnTo>
                <a:cubicBezTo>
                  <a:pt x="313329" y="419100"/>
                  <a:pt x="304800" y="410571"/>
                  <a:pt x="304800" y="400050"/>
                </a:cubicBezTo>
                <a:lnTo>
                  <a:pt x="304800" y="323850"/>
                </a:lnTo>
                <a:cubicBezTo>
                  <a:pt x="304800" y="313329"/>
                  <a:pt x="313329" y="304800"/>
                  <a:pt x="323850" y="304800"/>
                </a:cubicBezTo>
                <a:close/>
                <a:moveTo>
                  <a:pt x="57150" y="304800"/>
                </a:moveTo>
                <a:lnTo>
                  <a:pt x="133350" y="304800"/>
                </a:lnTo>
                <a:cubicBezTo>
                  <a:pt x="143871" y="304800"/>
                  <a:pt x="152400" y="313329"/>
                  <a:pt x="152400" y="323850"/>
                </a:cubicBezTo>
                <a:lnTo>
                  <a:pt x="152400" y="400050"/>
                </a:lnTo>
                <a:cubicBezTo>
                  <a:pt x="152400" y="410571"/>
                  <a:pt x="143871" y="419100"/>
                  <a:pt x="133350" y="419100"/>
                </a:cubicBezTo>
                <a:lnTo>
                  <a:pt x="57150" y="419100"/>
                </a:lnTo>
                <a:cubicBezTo>
                  <a:pt x="46629" y="419100"/>
                  <a:pt x="38100" y="410571"/>
                  <a:pt x="38100" y="400050"/>
                </a:cubicBezTo>
                <a:lnTo>
                  <a:pt x="38100" y="323850"/>
                </a:lnTo>
                <a:cubicBezTo>
                  <a:pt x="38100" y="313329"/>
                  <a:pt x="46629" y="304800"/>
                  <a:pt x="57150" y="304800"/>
                </a:cubicBezTo>
                <a:close/>
                <a:moveTo>
                  <a:pt x="190500" y="38100"/>
                </a:moveTo>
                <a:lnTo>
                  <a:pt x="266700" y="38100"/>
                </a:lnTo>
                <a:cubicBezTo>
                  <a:pt x="277221" y="38100"/>
                  <a:pt x="285750" y="46629"/>
                  <a:pt x="285750" y="57150"/>
                </a:cubicBezTo>
                <a:lnTo>
                  <a:pt x="285750" y="133350"/>
                </a:lnTo>
                <a:cubicBezTo>
                  <a:pt x="285750" y="143871"/>
                  <a:pt x="277221" y="152400"/>
                  <a:pt x="266700" y="152400"/>
                </a:cubicBezTo>
                <a:lnTo>
                  <a:pt x="190500" y="152400"/>
                </a:lnTo>
                <a:cubicBezTo>
                  <a:pt x="179979" y="152400"/>
                  <a:pt x="171450" y="143871"/>
                  <a:pt x="171450" y="133350"/>
                </a:cubicBezTo>
                <a:lnTo>
                  <a:pt x="171450" y="57150"/>
                </a:lnTo>
                <a:cubicBezTo>
                  <a:pt x="171450" y="46629"/>
                  <a:pt x="179979" y="38100"/>
                  <a:pt x="190500" y="38100"/>
                </a:cubicBezTo>
                <a:close/>
                <a:moveTo>
                  <a:pt x="95250" y="304800"/>
                </a:moveTo>
                <a:lnTo>
                  <a:pt x="95250" y="247650"/>
                </a:lnTo>
                <a:cubicBezTo>
                  <a:pt x="95250" y="237129"/>
                  <a:pt x="103779" y="228600"/>
                  <a:pt x="114300" y="228600"/>
                </a:cubicBezTo>
                <a:lnTo>
                  <a:pt x="342900" y="228600"/>
                </a:lnTo>
                <a:cubicBezTo>
                  <a:pt x="353421" y="228600"/>
                  <a:pt x="361950" y="237129"/>
                  <a:pt x="361950" y="247650"/>
                </a:cubicBezTo>
                <a:lnTo>
                  <a:pt x="361950" y="304800"/>
                </a:lnTo>
                <a:moveTo>
                  <a:pt x="228600" y="228600"/>
                </a:moveTo>
                <a:lnTo>
                  <a:pt x="228600" y="152400"/>
                </a:lnTo>
              </a:path>
            </a:pathLst>
          </a:custGeom>
          <a:noFill/>
          <a:ln w="38100" cap="rnd">
            <a:solidFill>
              <a:srgbClr val="FFFFFF"/>
            </a:solidFill>
            <a:prstDash val="solid"/>
            <a:round/>
          </a:ln>
        </p:spPr>
      </p:sp>
      <p:sp>
        <p:nvSpPr>
          <p:cNvPr id="14" name="Text 12"/>
          <p:cNvSpPr/>
          <p:nvPr/>
        </p:nvSpPr>
        <p:spPr>
          <a:xfrm>
            <a:off x="28151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5" name="Text 13"/>
          <p:cNvSpPr/>
          <p:nvPr/>
        </p:nvSpPr>
        <p:spPr>
          <a:xfrm>
            <a:off x="20200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Arquitectura</a:t>
            </a:r>
            <a:endParaRPr lang="en-US" sz="1400" dirty="0"/>
          </a:p>
        </p:txBody>
      </p:sp>
      <p:sp>
        <p:nvSpPr>
          <p:cNvPr id="16" name="Text 14"/>
          <p:cNvSpPr/>
          <p:nvPr/>
        </p:nvSpPr>
        <p:spPr>
          <a:xfrm>
            <a:off x="20383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Microservicios · Puertos y adaptadores · De monolito a microservicios</a:t>
            </a:r>
            <a:endParaRPr lang="en-US" sz="1050" dirty="0"/>
          </a:p>
        </p:txBody>
      </p:sp>
      <p:sp>
        <p:nvSpPr>
          <p:cNvPr id="17" name="Shape 15"/>
          <p:cNvSpPr/>
          <p:nvPr/>
        </p:nvSpPr>
        <p:spPr>
          <a:xfrm>
            <a:off x="35824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8" name="Icono database"/>
          <p:cNvSpPr/>
          <p:nvPr/>
        </p:nvSpPr>
        <p:spPr>
          <a:xfrm>
            <a:off x="3811048" y="2221992"/>
            <a:ext cx="457200" cy="457200"/>
          </a:xfrm>
          <a:custGeom>
            <a:avLst/>
            <a:gdLst/>
            <a:ahLst/>
            <a:cxnLst/>
            <a:rect l="l" t="t" r="r" b="b"/>
            <a:pathLst>
              <a:path w="457200" h="457200">
                <a:moveTo>
                  <a:pt x="400050" y="95250"/>
                </a:moveTo>
                <a:cubicBezTo>
                  <a:pt x="400050" y="126813"/>
                  <a:pt x="323289" y="152400"/>
                  <a:pt x="228600" y="152400"/>
                </a:cubicBezTo>
                <a:cubicBezTo>
                  <a:pt x="133911" y="152400"/>
                  <a:pt x="57150" y="126813"/>
                  <a:pt x="57150" y="95250"/>
                </a:cubicBezTo>
                <a:cubicBezTo>
                  <a:pt x="57150" y="63687"/>
                  <a:pt x="133911" y="38100"/>
                  <a:pt x="228600" y="38100"/>
                </a:cubicBezTo>
                <a:cubicBezTo>
                  <a:pt x="323289" y="38100"/>
                  <a:pt x="400050" y="63687"/>
                  <a:pt x="400050" y="95250"/>
                </a:cubicBezTo>
                <a:close/>
                <a:moveTo>
                  <a:pt x="57150" y="95250"/>
                </a:moveTo>
                <a:lnTo>
                  <a:pt x="57150" y="361950"/>
                </a:lnTo>
                <a:cubicBezTo>
                  <a:pt x="57150" y="393513"/>
                  <a:pt x="133911" y="419100"/>
                  <a:pt x="228600" y="419100"/>
                </a:cubicBezTo>
                <a:cubicBezTo>
                  <a:pt x="323289" y="419100"/>
                  <a:pt x="400050" y="393513"/>
                  <a:pt x="400050" y="361950"/>
                </a:cubicBezTo>
                <a:lnTo>
                  <a:pt x="400050" y="95250"/>
                </a:lnTo>
                <a:moveTo>
                  <a:pt x="57150" y="228600"/>
                </a:moveTo>
                <a:cubicBezTo>
                  <a:pt x="57150" y="260163"/>
                  <a:pt x="133911" y="285750"/>
                  <a:pt x="228600" y="285750"/>
                </a:cubicBezTo>
                <a:cubicBezTo>
                  <a:pt x="323289" y="285750"/>
                  <a:pt x="400050" y="260163"/>
                  <a:pt x="400050" y="228600"/>
                </a:cubicBezTo>
              </a:path>
            </a:pathLst>
          </a:custGeom>
          <a:noFill/>
          <a:ln w="38100" cap="rnd">
            <a:solidFill>
              <a:srgbClr val="FFFFFF"/>
            </a:solidFill>
            <a:prstDash val="solid"/>
            <a:round/>
          </a:ln>
        </p:spPr>
      </p:sp>
      <p:sp>
        <p:nvSpPr>
          <p:cNvPr id="19" name="Text 17"/>
          <p:cNvSpPr/>
          <p:nvPr/>
        </p:nvSpPr>
        <p:spPr>
          <a:xfrm>
            <a:off x="41859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0" name="Text 18"/>
          <p:cNvSpPr/>
          <p:nvPr/>
        </p:nvSpPr>
        <p:spPr>
          <a:xfrm>
            <a:off x="33908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Base de datos</a:t>
            </a:r>
            <a:endParaRPr lang="en-US" sz="1400" dirty="0"/>
          </a:p>
        </p:txBody>
      </p:sp>
      <p:sp>
        <p:nvSpPr>
          <p:cNvPr id="21" name="Text 19"/>
          <p:cNvSpPr/>
          <p:nvPr/>
        </p:nvSpPr>
        <p:spPr>
          <a:xfrm>
            <a:off x="34091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Modelado y consultas · Adaptador con base real · El problema de la consistencia</a:t>
            </a:r>
            <a:endParaRPr lang="en-US" sz="1050" dirty="0"/>
          </a:p>
        </p:txBody>
      </p:sp>
      <p:sp>
        <p:nvSpPr>
          <p:cNvPr id="22" name="Shape 20"/>
          <p:cNvSpPr/>
          <p:nvPr/>
        </p:nvSpPr>
        <p:spPr>
          <a:xfrm>
            <a:off x="49532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3" name="Icono container"/>
          <p:cNvSpPr/>
          <p:nvPr/>
        </p:nvSpPr>
        <p:spPr>
          <a:xfrm>
            <a:off x="5181848" y="2221992"/>
            <a:ext cx="457200" cy="457200"/>
          </a:xfrm>
          <a:custGeom>
            <a:avLst/>
            <a:gdLst/>
            <a:ahLst/>
            <a:cxnLst/>
            <a:rect l="l" t="t" r="r" b="b"/>
            <a:pathLst>
              <a:path w="457200" h="457200">
                <a:moveTo>
                  <a:pt x="419100" y="146685"/>
                </a:moveTo>
                <a:cubicBezTo>
                  <a:pt x="419100" y="135255"/>
                  <a:pt x="411480" y="123825"/>
                  <a:pt x="403860" y="118110"/>
                </a:cubicBezTo>
                <a:lnTo>
                  <a:pt x="283845" y="43815"/>
                </a:lnTo>
                <a:cubicBezTo>
                  <a:pt x="273804" y="38107"/>
                  <a:pt x="261501" y="38107"/>
                  <a:pt x="251460" y="43815"/>
                </a:cubicBezTo>
                <a:lnTo>
                  <a:pt x="55245" y="158115"/>
                </a:lnTo>
                <a:cubicBezTo>
                  <a:pt x="45720" y="161925"/>
                  <a:pt x="38100" y="173355"/>
                  <a:pt x="38100" y="184785"/>
                </a:cubicBezTo>
                <a:lnTo>
                  <a:pt x="38100" y="310515"/>
                </a:lnTo>
                <a:cubicBezTo>
                  <a:pt x="38100" y="320040"/>
                  <a:pt x="45720" y="333375"/>
                  <a:pt x="53340" y="339090"/>
                </a:cubicBezTo>
                <a:lnTo>
                  <a:pt x="173355" y="413385"/>
                </a:lnTo>
                <a:cubicBezTo>
                  <a:pt x="183396" y="419093"/>
                  <a:pt x="195699" y="419093"/>
                  <a:pt x="205740" y="413385"/>
                </a:cubicBezTo>
                <a:lnTo>
                  <a:pt x="401955" y="299085"/>
                </a:lnTo>
                <a:cubicBezTo>
                  <a:pt x="411480" y="293370"/>
                  <a:pt x="419100" y="280035"/>
                  <a:pt x="419100" y="270510"/>
                </a:cubicBezTo>
                <a:close/>
                <a:moveTo>
                  <a:pt x="190500" y="417195"/>
                </a:moveTo>
                <a:lnTo>
                  <a:pt x="190500" y="266700"/>
                </a:lnTo>
                <a:lnTo>
                  <a:pt x="40005" y="173355"/>
                </a:lnTo>
                <a:moveTo>
                  <a:pt x="190500" y="266700"/>
                </a:moveTo>
                <a:lnTo>
                  <a:pt x="417195" y="135255"/>
                </a:lnTo>
                <a:moveTo>
                  <a:pt x="266700" y="377190"/>
                </a:moveTo>
                <a:lnTo>
                  <a:pt x="266700" y="222885"/>
                </a:lnTo>
                <a:moveTo>
                  <a:pt x="342900" y="333375"/>
                </a:moveTo>
                <a:lnTo>
                  <a:pt x="342900" y="179070"/>
                </a:lnTo>
              </a:path>
            </a:pathLst>
          </a:custGeom>
          <a:noFill/>
          <a:ln w="38100" cap="rnd">
            <a:solidFill>
              <a:srgbClr val="FFFFFF"/>
            </a:solidFill>
            <a:prstDash val="solid"/>
            <a:round/>
          </a:ln>
        </p:spPr>
      </p:sp>
      <p:sp>
        <p:nvSpPr>
          <p:cNvPr id="24" name="Text 22"/>
          <p:cNvSpPr/>
          <p:nvPr/>
        </p:nvSpPr>
        <p:spPr>
          <a:xfrm>
            <a:off x="55567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5" name="Text 23"/>
          <p:cNvSpPr/>
          <p:nvPr/>
        </p:nvSpPr>
        <p:spPr>
          <a:xfrm>
            <a:off x="47616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Contenedores y Kubernetes</a:t>
            </a:r>
            <a:endParaRPr lang="en-US" sz="1400" dirty="0"/>
          </a:p>
        </p:txBody>
      </p:sp>
      <p:sp>
        <p:nvSpPr>
          <p:cNvPr id="26" name="Text 24"/>
          <p:cNvSpPr/>
          <p:nvPr/>
        </p:nvSpPr>
        <p:spPr>
          <a:xfrm>
            <a:off x="47799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Docker y Dockerfile · Docker Compose · Kubernetes</a:t>
            </a:r>
            <a:endParaRPr lang="en-US" sz="1050" dirty="0"/>
          </a:p>
        </p:txBody>
      </p:sp>
      <p:sp>
        <p:nvSpPr>
          <p:cNvPr id="27" name="Shape 25"/>
          <p:cNvSpPr/>
          <p:nvPr/>
        </p:nvSpPr>
        <p:spPr>
          <a:xfrm>
            <a:off x="63240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8" name="Icono workflow"/>
          <p:cNvSpPr/>
          <p:nvPr/>
        </p:nvSpPr>
        <p:spPr>
          <a:xfrm>
            <a:off x="6552648" y="2221992"/>
            <a:ext cx="457200" cy="457200"/>
          </a:xfrm>
          <a:custGeom>
            <a:avLst/>
            <a:gdLst/>
            <a:ahLst/>
            <a:cxnLst/>
            <a:rect l="l" t="t" r="r" b="b"/>
            <a:pathLst>
              <a:path w="457200" h="457200">
                <a:moveTo>
                  <a:pt x="95250" y="57150"/>
                </a:moveTo>
                <a:lnTo>
                  <a:pt x="171450" y="57150"/>
                </a:lnTo>
                <a:cubicBezTo>
                  <a:pt x="192492" y="57150"/>
                  <a:pt x="209550" y="74208"/>
                  <a:pt x="209550" y="95250"/>
                </a:cubicBezTo>
                <a:lnTo>
                  <a:pt x="209550" y="171450"/>
                </a:lnTo>
                <a:cubicBezTo>
                  <a:pt x="209550" y="192492"/>
                  <a:pt x="192492" y="209550"/>
                  <a:pt x="171450" y="209550"/>
                </a:cubicBezTo>
                <a:lnTo>
                  <a:pt x="95250" y="209550"/>
                </a:lnTo>
                <a:cubicBezTo>
                  <a:pt x="74208" y="209550"/>
                  <a:pt x="57150" y="192492"/>
                  <a:pt x="57150" y="171450"/>
                </a:cubicBezTo>
                <a:lnTo>
                  <a:pt x="57150" y="95250"/>
                </a:lnTo>
                <a:cubicBezTo>
                  <a:pt x="57150" y="74208"/>
                  <a:pt x="74208" y="57150"/>
                  <a:pt x="95250" y="57150"/>
                </a:cubicBezTo>
                <a:close/>
                <a:moveTo>
                  <a:pt x="133350" y="209550"/>
                </a:moveTo>
                <a:lnTo>
                  <a:pt x="133350" y="285750"/>
                </a:lnTo>
                <a:cubicBezTo>
                  <a:pt x="133350" y="306792"/>
                  <a:pt x="150408" y="323850"/>
                  <a:pt x="171450" y="323850"/>
                </a:cubicBezTo>
                <a:lnTo>
                  <a:pt x="247650" y="323850"/>
                </a:lnTo>
                <a:moveTo>
                  <a:pt x="285750" y="247650"/>
                </a:moveTo>
                <a:lnTo>
                  <a:pt x="361950" y="247650"/>
                </a:lnTo>
                <a:cubicBezTo>
                  <a:pt x="382992" y="247650"/>
                  <a:pt x="400050" y="264708"/>
                  <a:pt x="400050" y="285750"/>
                </a:cubicBezTo>
                <a:lnTo>
                  <a:pt x="400050" y="361950"/>
                </a:lnTo>
                <a:cubicBezTo>
                  <a:pt x="400050" y="382992"/>
                  <a:pt x="382992" y="400050"/>
                  <a:pt x="361950" y="400050"/>
                </a:cubicBezTo>
                <a:lnTo>
                  <a:pt x="285750" y="400050"/>
                </a:lnTo>
                <a:cubicBezTo>
                  <a:pt x="264708" y="400050"/>
                  <a:pt x="247650" y="382992"/>
                  <a:pt x="247650" y="361950"/>
                </a:cubicBezTo>
                <a:lnTo>
                  <a:pt x="247650" y="285750"/>
                </a:lnTo>
                <a:cubicBezTo>
                  <a:pt x="247650" y="264708"/>
                  <a:pt x="264708" y="247650"/>
                  <a:pt x="285750" y="247650"/>
                </a:cubicBezTo>
                <a:close/>
              </a:path>
            </a:pathLst>
          </a:custGeom>
          <a:noFill/>
          <a:ln w="38100" cap="rnd">
            <a:solidFill>
              <a:srgbClr val="FFFFFF"/>
            </a:solidFill>
            <a:prstDash val="solid"/>
            <a:round/>
          </a:ln>
        </p:spPr>
      </p:sp>
      <p:sp>
        <p:nvSpPr>
          <p:cNvPr id="29" name="Text 27"/>
          <p:cNvSpPr/>
          <p:nvPr/>
        </p:nvSpPr>
        <p:spPr>
          <a:xfrm>
            <a:off x="69275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0" name="Text 28"/>
          <p:cNvSpPr/>
          <p:nvPr/>
        </p:nvSpPr>
        <p:spPr>
          <a:xfrm>
            <a:off x="61324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CI/CD</a:t>
            </a:r>
            <a:endParaRPr lang="en-US" sz="1400" dirty="0"/>
          </a:p>
        </p:txBody>
      </p:sp>
      <p:sp>
        <p:nvSpPr>
          <p:cNvPr id="31" name="Text 29"/>
          <p:cNvSpPr/>
          <p:nvPr/>
        </p:nvSpPr>
        <p:spPr>
          <a:xfrm>
            <a:off x="61507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Integración continua · Entrega continua · GitHub Actions</a:t>
            </a:r>
            <a:endParaRPr lang="en-US" sz="1050" dirty="0"/>
          </a:p>
        </p:txBody>
      </p:sp>
      <p:sp>
        <p:nvSpPr>
          <p:cNvPr id="32" name="Shape 30"/>
          <p:cNvSpPr/>
          <p:nvPr/>
        </p:nvSpPr>
        <p:spPr>
          <a:xfrm>
            <a:off x="76948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3" name="Icono chart-line"/>
          <p:cNvSpPr/>
          <p:nvPr/>
        </p:nvSpPr>
        <p:spPr>
          <a:xfrm>
            <a:off x="7923447" y="2221992"/>
            <a:ext cx="457200" cy="457200"/>
          </a:xfrm>
          <a:custGeom>
            <a:avLst/>
            <a:gdLst/>
            <a:ahLst/>
            <a:cxnLst/>
            <a:rect l="l" t="t" r="r" b="b"/>
            <a:pathLst>
              <a:path w="457200" h="457200">
                <a:moveTo>
                  <a:pt x="57150" y="57150"/>
                </a:moveTo>
                <a:lnTo>
                  <a:pt x="57150" y="361950"/>
                </a:lnTo>
                <a:cubicBezTo>
                  <a:pt x="57150" y="382992"/>
                  <a:pt x="74208" y="400050"/>
                  <a:pt x="95250" y="400050"/>
                </a:cubicBezTo>
                <a:lnTo>
                  <a:pt x="400050" y="400050"/>
                </a:lnTo>
                <a:moveTo>
                  <a:pt x="361950" y="171450"/>
                </a:moveTo>
                <a:lnTo>
                  <a:pt x="266700" y="266700"/>
                </a:lnTo>
                <a:lnTo>
                  <a:pt x="190500" y="190500"/>
                </a:lnTo>
                <a:lnTo>
                  <a:pt x="133350" y="247650"/>
                </a:lnTo>
              </a:path>
            </a:pathLst>
          </a:custGeom>
          <a:noFill/>
          <a:ln w="38100" cap="rnd">
            <a:solidFill>
              <a:srgbClr val="FFFFFF"/>
            </a:solidFill>
            <a:prstDash val="solid"/>
            <a:round/>
          </a:ln>
        </p:spPr>
      </p:sp>
      <p:sp>
        <p:nvSpPr>
          <p:cNvPr id="34" name="Text 32"/>
          <p:cNvSpPr/>
          <p:nvPr/>
        </p:nvSpPr>
        <p:spPr>
          <a:xfrm>
            <a:off x="82983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35" name="Text 33"/>
          <p:cNvSpPr/>
          <p:nvPr/>
        </p:nvSpPr>
        <p:spPr>
          <a:xfrm>
            <a:off x="7503224" y="3054096"/>
            <a:ext cx="1297648" cy="566928"/>
          </a:xfrm>
          <a:prstGeom prst="rect">
            <a:avLst/>
          </a:prstGeom>
          <a:noFill/>
          <a:ln/>
        </p:spPr>
        <p:txBody>
          <a:bodyPr wrap="square" lIns="0" tIns="0" rIns="0" bIns="0" rtlCol="0" anchor="t">
            <a:normAutofit/>
          </a:bodyPr>
          <a:lstStyle/>
          <a:p>
            <a:pPr algn="ctr" indent="0" marL="0">
              <a:buNone/>
            </a:pPr>
            <a:r>
              <a:rPr lang="en-US" sz="1250" b="1" dirty="0">
                <a:solidFill>
                  <a:srgbClr val="0B1A3C"/>
                </a:solidFill>
                <a:latin typeface="Segoe UI Semibold" pitchFamily="34" charset="0"/>
                <a:ea typeface="Segoe UI Semibold" pitchFamily="34" charset="-122"/>
                <a:cs typeface="Segoe UI Semibold" pitchFamily="34" charset="-120"/>
              </a:rPr>
              <a:t>Observabilidad</a:t>
            </a:r>
            <a:endParaRPr lang="en-US" sz="1250" dirty="0"/>
          </a:p>
        </p:txBody>
      </p:sp>
      <p:sp>
        <p:nvSpPr>
          <p:cNvPr id="36" name="Text 34"/>
          <p:cNvSpPr/>
          <p:nvPr/>
        </p:nvSpPr>
        <p:spPr>
          <a:xfrm>
            <a:off x="7521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Logs y monitoreo · Centralización de logs · Trazas</a:t>
            </a:r>
            <a:endParaRPr lang="en-US" sz="1050" dirty="0"/>
          </a:p>
        </p:txBody>
      </p:sp>
      <p:sp>
        <p:nvSpPr>
          <p:cNvPr id="37" name="Shape 35"/>
          <p:cNvSpPr/>
          <p:nvPr/>
        </p:nvSpPr>
        <p:spPr>
          <a:xfrm>
            <a:off x="90656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Icono book-open"/>
          <p:cNvSpPr/>
          <p:nvPr/>
        </p:nvSpPr>
        <p:spPr>
          <a:xfrm>
            <a:off x="9294247" y="2221992"/>
            <a:ext cx="457200" cy="457200"/>
          </a:xfrm>
          <a:custGeom>
            <a:avLst/>
            <a:gdLst/>
            <a:ahLst/>
            <a:cxnLst/>
            <a:rect l="l" t="t" r="r" b="b"/>
            <a:pathLst>
              <a:path w="457200" h="457200">
                <a:moveTo>
                  <a:pt x="228600" y="133350"/>
                </a:moveTo>
                <a:lnTo>
                  <a:pt x="228600" y="400050"/>
                </a:lnTo>
                <a:moveTo>
                  <a:pt x="57150" y="342900"/>
                </a:moveTo>
                <a:cubicBezTo>
                  <a:pt x="46629" y="342900"/>
                  <a:pt x="38100" y="334371"/>
                  <a:pt x="38100" y="323850"/>
                </a:cubicBezTo>
                <a:lnTo>
                  <a:pt x="38100" y="76200"/>
                </a:lnTo>
                <a:cubicBezTo>
                  <a:pt x="38100" y="65679"/>
                  <a:pt x="46629" y="57150"/>
                  <a:pt x="57150" y="57150"/>
                </a:cubicBezTo>
                <a:lnTo>
                  <a:pt x="152400" y="57150"/>
                </a:lnTo>
                <a:cubicBezTo>
                  <a:pt x="194484" y="57150"/>
                  <a:pt x="228600" y="91266"/>
                  <a:pt x="228600" y="133350"/>
                </a:cubicBezTo>
                <a:cubicBezTo>
                  <a:pt x="228600" y="91266"/>
                  <a:pt x="262716" y="57150"/>
                  <a:pt x="304800" y="57150"/>
                </a:cubicBezTo>
                <a:lnTo>
                  <a:pt x="400050" y="57150"/>
                </a:lnTo>
                <a:cubicBezTo>
                  <a:pt x="410571" y="57150"/>
                  <a:pt x="419100" y="65679"/>
                  <a:pt x="419100" y="76200"/>
                </a:cubicBezTo>
                <a:lnTo>
                  <a:pt x="419100" y="323850"/>
                </a:lnTo>
                <a:cubicBezTo>
                  <a:pt x="419100" y="334371"/>
                  <a:pt x="410571" y="342900"/>
                  <a:pt x="400050" y="342900"/>
                </a:cubicBezTo>
                <a:lnTo>
                  <a:pt x="285750" y="342900"/>
                </a:lnTo>
                <a:cubicBezTo>
                  <a:pt x="254187" y="342900"/>
                  <a:pt x="228600" y="368487"/>
                  <a:pt x="228600" y="400050"/>
                </a:cubicBezTo>
                <a:cubicBezTo>
                  <a:pt x="228600" y="368487"/>
                  <a:pt x="203013" y="342900"/>
                  <a:pt x="171450" y="342900"/>
                </a:cubicBezTo>
                <a:close/>
              </a:path>
            </a:pathLst>
          </a:custGeom>
          <a:noFill/>
          <a:ln w="38100" cap="rnd">
            <a:solidFill>
              <a:srgbClr val="FFFFFF"/>
            </a:solidFill>
            <a:prstDash val="solid"/>
            <a:round/>
          </a:ln>
        </p:spPr>
      </p:sp>
      <p:sp>
        <p:nvSpPr>
          <p:cNvPr id="39" name="Text 37"/>
          <p:cNvSpPr/>
          <p:nvPr/>
        </p:nvSpPr>
        <p:spPr>
          <a:xfrm>
            <a:off x="96691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0" name="Text 38"/>
          <p:cNvSpPr/>
          <p:nvPr/>
        </p:nvSpPr>
        <p:spPr>
          <a:xfrm>
            <a:off x="8874023" y="3054096"/>
            <a:ext cx="1297648" cy="566928"/>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Documentación</a:t>
            </a:r>
            <a:endParaRPr lang="en-US" sz="1300" dirty="0"/>
          </a:p>
        </p:txBody>
      </p:sp>
      <p:sp>
        <p:nvSpPr>
          <p:cNvPr id="41" name="Text 39"/>
          <p:cNvSpPr/>
          <p:nvPr/>
        </p:nvSpPr>
        <p:spPr>
          <a:xfrm>
            <a:off x="88923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OpenAPI · Swagger · Git y documentación</a:t>
            </a:r>
            <a:endParaRPr lang="en-US" sz="1050" dirty="0"/>
          </a:p>
        </p:txBody>
      </p:sp>
      <p:sp>
        <p:nvSpPr>
          <p:cNvPr id="42" name="Shape 40"/>
          <p:cNvSpPr/>
          <p:nvPr/>
        </p:nvSpPr>
        <p:spPr>
          <a:xfrm>
            <a:off x="104364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3" name="Icono flask-conical"/>
          <p:cNvSpPr/>
          <p:nvPr/>
        </p:nvSpPr>
        <p:spPr>
          <a:xfrm>
            <a:off x="10665047" y="2221992"/>
            <a:ext cx="457200" cy="457200"/>
          </a:xfrm>
          <a:custGeom>
            <a:avLst/>
            <a:gdLst/>
            <a:ahLst/>
            <a:cxnLst/>
            <a:rect l="l" t="t" r="r" b="b"/>
            <a:pathLst>
              <a:path w="457200" h="457200">
                <a:moveTo>
                  <a:pt x="266700" y="38100"/>
                </a:moveTo>
                <a:lnTo>
                  <a:pt x="266700" y="152400"/>
                </a:lnTo>
                <a:cubicBezTo>
                  <a:pt x="266697" y="158791"/>
                  <a:pt x="268302" y="165080"/>
                  <a:pt x="271367" y="170688"/>
                </a:cubicBezTo>
                <a:lnTo>
                  <a:pt x="376333" y="362712"/>
                </a:lnTo>
                <a:cubicBezTo>
                  <a:pt x="382792" y="374518"/>
                  <a:pt x="382545" y="388855"/>
                  <a:pt x="375681" y="400431"/>
                </a:cubicBezTo>
                <a:cubicBezTo>
                  <a:pt x="368818" y="412007"/>
                  <a:pt x="356357" y="419103"/>
                  <a:pt x="342900" y="419100"/>
                </a:cubicBezTo>
                <a:lnTo>
                  <a:pt x="114300" y="419100"/>
                </a:lnTo>
                <a:cubicBezTo>
                  <a:pt x="100843" y="419103"/>
                  <a:pt x="88382" y="412007"/>
                  <a:pt x="81519" y="400431"/>
                </a:cubicBezTo>
                <a:cubicBezTo>
                  <a:pt x="74655" y="388855"/>
                  <a:pt x="74408" y="374518"/>
                  <a:pt x="80867" y="362712"/>
                </a:cubicBezTo>
                <a:lnTo>
                  <a:pt x="185833" y="170688"/>
                </a:lnTo>
                <a:cubicBezTo>
                  <a:pt x="188898" y="165080"/>
                  <a:pt x="190503" y="158791"/>
                  <a:pt x="190500" y="152400"/>
                </a:cubicBezTo>
                <a:lnTo>
                  <a:pt x="190500" y="38100"/>
                </a:lnTo>
                <a:moveTo>
                  <a:pt x="122930" y="285750"/>
                </a:moveTo>
                <a:lnTo>
                  <a:pt x="334270" y="285750"/>
                </a:lnTo>
                <a:moveTo>
                  <a:pt x="161925" y="38100"/>
                </a:moveTo>
                <a:lnTo>
                  <a:pt x="295275" y="38100"/>
                </a:lnTo>
              </a:path>
            </a:pathLst>
          </a:custGeom>
          <a:noFill/>
          <a:ln w="38100" cap="rnd">
            <a:solidFill>
              <a:srgbClr val="FFFFFF"/>
            </a:solidFill>
            <a:prstDash val="solid"/>
            <a:round/>
          </a:ln>
        </p:spPr>
      </p:sp>
      <p:sp>
        <p:nvSpPr>
          <p:cNvPr id="44" name="Text 42"/>
          <p:cNvSpPr/>
          <p:nvPr/>
        </p:nvSpPr>
        <p:spPr>
          <a:xfrm>
            <a:off x="110399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8</a:t>
            </a:r>
            <a:endParaRPr lang="en-US" sz="1150" dirty="0"/>
          </a:p>
        </p:txBody>
      </p:sp>
      <p:sp>
        <p:nvSpPr>
          <p:cNvPr id="45" name="Text 43"/>
          <p:cNvSpPr/>
          <p:nvPr/>
        </p:nvSpPr>
        <p:spPr>
          <a:xfrm>
            <a:off x="10244823"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La UI como laboratorio</a:t>
            </a:r>
            <a:endParaRPr lang="en-US" sz="1400" dirty="0"/>
          </a:p>
        </p:txBody>
      </p:sp>
      <p:sp>
        <p:nvSpPr>
          <p:cNvPr id="46" name="Text 44"/>
          <p:cNvSpPr/>
          <p:nvPr/>
        </p:nvSpPr>
        <p:spPr>
          <a:xfrm>
            <a:off x="102631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Ensamblaje del sistema · Fallas parciales · Demostración</a:t>
            </a:r>
            <a:endParaRPr lang="en-US" sz="105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API que responde siempre igual</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regla vive en el dominio; un solo componente la traduce a HTTP.</a:t>
            </a:r>
            <a:endParaRPr lang="en-US" sz="1700" dirty="0"/>
          </a:p>
        </p:txBody>
      </p:sp>
      <p:sp>
        <p:nvSpPr>
          <p:cNvPr id="14" name="Shape 12"/>
          <p:cNvSpPr/>
          <p:nvPr/>
        </p:nvSpPr>
        <p:spPr>
          <a:xfrm>
            <a:off x="612648"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740664" y="1719072"/>
            <a:ext cx="2320976" cy="64008"/>
          </a:xfrm>
          <a:prstGeom prst="rect">
            <a:avLst/>
          </a:prstGeom>
          <a:solidFill>
            <a:srgbClr val="0A6648"/>
          </a:solidFill>
          <a:ln w="12700">
            <a:solidFill>
              <a:srgbClr val="0A6648"/>
            </a:solidFill>
            <a:prstDash val="solid"/>
          </a:ln>
        </p:spPr>
      </p:sp>
      <p:sp>
        <p:nvSpPr>
          <p:cNvPr id="16" name="Shape 14"/>
          <p:cNvSpPr/>
          <p:nvPr/>
        </p:nvSpPr>
        <p:spPr>
          <a:xfrm>
            <a:off x="2403272" y="1956816"/>
            <a:ext cx="566928" cy="566928"/>
          </a:xfrm>
          <a:prstGeom prst="ellipse">
            <a:avLst/>
          </a:prstGeom>
          <a:solidFill>
            <a:srgbClr val="E1F1EA"/>
          </a:solidFill>
          <a:ln w="12700">
            <a:solidFill>
              <a:srgbClr val="E1F1EA"/>
            </a:solidFill>
            <a:prstDash val="solid"/>
          </a:ln>
        </p:spPr>
      </p:sp>
      <p:sp>
        <p:nvSpPr>
          <p:cNvPr id="17" name="Icono circle-check"/>
          <p:cNvSpPr/>
          <p:nvPr/>
        </p:nvSpPr>
        <p:spPr>
          <a:xfrm>
            <a:off x="2539335"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10551" y="147401"/>
                </a:moveTo>
                <a:lnTo>
                  <a:pt x="135118" y="171968"/>
                </a:lnTo>
                <a:lnTo>
                  <a:pt x="184252" y="122834"/>
                </a:lnTo>
              </a:path>
            </a:pathLst>
          </a:custGeom>
          <a:noFill/>
          <a:ln w="24567" cap="rnd">
            <a:solidFill>
              <a:srgbClr val="0A6648"/>
            </a:solidFill>
            <a:prstDash val="solid"/>
            <a:round/>
          </a:ln>
        </p:spPr>
      </p:sp>
      <p:sp>
        <p:nvSpPr>
          <p:cNvPr id="18" name="Text 16"/>
          <p:cNvSpPr/>
          <p:nvPr/>
        </p:nvSpPr>
        <p:spPr>
          <a:xfrm>
            <a:off x="868680"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201</a:t>
            </a:r>
            <a:endParaRPr lang="en-US" sz="5600" dirty="0"/>
          </a:p>
        </p:txBody>
      </p:sp>
      <p:sp>
        <p:nvSpPr>
          <p:cNvPr id="19" name="Text 17"/>
          <p:cNvSpPr/>
          <p:nvPr/>
        </p:nvSpPr>
        <p:spPr>
          <a:xfrm>
            <a:off x="868680"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Creada</a:t>
            </a:r>
            <a:endParaRPr lang="en-US" sz="1500" dirty="0"/>
          </a:p>
        </p:txBody>
      </p:sp>
      <p:sp>
        <p:nvSpPr>
          <p:cNvPr id="20" name="Text 18"/>
          <p:cNvSpPr/>
          <p:nvPr/>
        </p:nvSpPr>
        <p:spPr>
          <a:xfrm>
            <a:off x="868680"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solicitud quedó en BORRADOR.</a:t>
            </a:r>
            <a:endParaRPr lang="en-US" sz="1200" dirty="0"/>
          </a:p>
        </p:txBody>
      </p:sp>
      <p:sp>
        <p:nvSpPr>
          <p:cNvPr id="21" name="Shape 19"/>
          <p:cNvSpPr/>
          <p:nvPr/>
        </p:nvSpPr>
        <p:spPr>
          <a:xfrm>
            <a:off x="3409112"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537128" y="1719072"/>
            <a:ext cx="2320976" cy="64008"/>
          </a:xfrm>
          <a:prstGeom prst="rect">
            <a:avLst/>
          </a:prstGeom>
          <a:solidFill>
            <a:srgbClr val="8A4B06"/>
          </a:solidFill>
          <a:ln w="12700">
            <a:solidFill>
              <a:srgbClr val="8A4B06"/>
            </a:solidFill>
            <a:prstDash val="solid"/>
          </a:ln>
        </p:spPr>
      </p:sp>
      <p:sp>
        <p:nvSpPr>
          <p:cNvPr id="23" name="Shape 21"/>
          <p:cNvSpPr/>
          <p:nvPr/>
        </p:nvSpPr>
        <p:spPr>
          <a:xfrm>
            <a:off x="5199736" y="1956816"/>
            <a:ext cx="566928" cy="566928"/>
          </a:xfrm>
          <a:prstGeom prst="ellipse">
            <a:avLst/>
          </a:prstGeom>
          <a:solidFill>
            <a:srgbClr val="FCEFD6"/>
          </a:solidFill>
          <a:ln w="12700">
            <a:solidFill>
              <a:srgbClr val="FCEFD6"/>
            </a:solidFill>
            <a:prstDash val="solid"/>
          </a:ln>
        </p:spPr>
      </p:sp>
      <p:sp>
        <p:nvSpPr>
          <p:cNvPr id="24" name="Icono triangle-alert"/>
          <p:cNvSpPr/>
          <p:nvPr/>
        </p:nvSpPr>
        <p:spPr>
          <a:xfrm>
            <a:off x="5335798" y="2092879"/>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8A4B06"/>
            </a:solidFill>
            <a:prstDash val="solid"/>
            <a:round/>
          </a:ln>
        </p:spPr>
      </p:sp>
      <p:sp>
        <p:nvSpPr>
          <p:cNvPr id="25" name="Text 23"/>
          <p:cNvSpPr/>
          <p:nvPr/>
        </p:nvSpPr>
        <p:spPr>
          <a:xfrm>
            <a:off x="3665144"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8A4B06"/>
                </a:solidFill>
                <a:latin typeface="Segoe UI Semibold" pitchFamily="34" charset="0"/>
                <a:ea typeface="Segoe UI Semibold" pitchFamily="34" charset="-122"/>
                <a:cs typeface="Segoe UI Semibold" pitchFamily="34" charset="-120"/>
              </a:rPr>
              <a:t>400</a:t>
            </a:r>
            <a:endParaRPr lang="en-US" sz="5600" dirty="0"/>
          </a:p>
        </p:txBody>
      </p:sp>
      <p:sp>
        <p:nvSpPr>
          <p:cNvPr id="26" name="Text 24"/>
          <p:cNvSpPr/>
          <p:nvPr/>
        </p:nvSpPr>
        <p:spPr>
          <a:xfrm>
            <a:off x="3665144"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Faltan datos</a:t>
            </a:r>
            <a:endParaRPr lang="en-US" sz="1500" dirty="0"/>
          </a:p>
        </p:txBody>
      </p:sp>
      <p:sp>
        <p:nvSpPr>
          <p:cNvPr id="27" name="Text 25"/>
          <p:cNvSpPr/>
          <p:nvPr/>
        </p:nvSpPr>
        <p:spPr>
          <a:xfrm>
            <a:off x="3665144"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o el tipo vienen vacíos.</a:t>
            </a:r>
            <a:endParaRPr lang="en-US" sz="1200" dirty="0"/>
          </a:p>
        </p:txBody>
      </p:sp>
      <p:sp>
        <p:nvSpPr>
          <p:cNvPr id="28" name="Shape 26"/>
          <p:cNvSpPr/>
          <p:nvPr/>
        </p:nvSpPr>
        <p:spPr>
          <a:xfrm>
            <a:off x="6205576"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333592" y="1719072"/>
            <a:ext cx="2320976" cy="64008"/>
          </a:xfrm>
          <a:prstGeom prst="rect">
            <a:avLst/>
          </a:prstGeom>
          <a:solidFill>
            <a:srgbClr val="55627E"/>
          </a:solidFill>
          <a:ln w="12700">
            <a:solidFill>
              <a:srgbClr val="55627E"/>
            </a:solidFill>
            <a:prstDash val="solid"/>
          </a:ln>
        </p:spPr>
      </p:sp>
      <p:sp>
        <p:nvSpPr>
          <p:cNvPr id="30" name="Shape 28"/>
          <p:cNvSpPr/>
          <p:nvPr/>
        </p:nvSpPr>
        <p:spPr>
          <a:xfrm>
            <a:off x="7996199" y="1956816"/>
            <a:ext cx="566928" cy="566928"/>
          </a:xfrm>
          <a:prstGeom prst="ellipse">
            <a:avLst/>
          </a:prstGeom>
          <a:solidFill>
            <a:srgbClr val="F4F7FB"/>
          </a:solidFill>
          <a:ln w="12700">
            <a:solidFill>
              <a:srgbClr val="F4F7FB"/>
            </a:solidFill>
            <a:prstDash val="solid"/>
          </a:ln>
        </p:spPr>
      </p:sp>
      <p:sp>
        <p:nvSpPr>
          <p:cNvPr id="31" name="Icono search"/>
          <p:cNvSpPr/>
          <p:nvPr/>
        </p:nvSpPr>
        <p:spPr>
          <a:xfrm>
            <a:off x="8132262" y="2092879"/>
            <a:ext cx="294803" cy="294803"/>
          </a:xfrm>
          <a:custGeom>
            <a:avLst/>
            <a:gdLst/>
            <a:ahLst/>
            <a:cxnLst/>
            <a:rect l="l" t="t" r="r" b="b"/>
            <a:pathLst>
              <a:path w="294803" h="294803">
                <a:moveTo>
                  <a:pt x="233385" y="135118"/>
                </a:moveTo>
                <a:cubicBezTo>
                  <a:pt x="233385" y="189389"/>
                  <a:pt x="189389" y="233385"/>
                  <a:pt x="135118" y="233385"/>
                </a:cubicBezTo>
                <a:cubicBezTo>
                  <a:pt x="80846" y="233385"/>
                  <a:pt x="36850" y="189389"/>
                  <a:pt x="36850" y="135118"/>
                </a:cubicBezTo>
                <a:cubicBezTo>
                  <a:pt x="36850" y="80846"/>
                  <a:pt x="80846" y="36850"/>
                  <a:pt x="135118" y="36850"/>
                </a:cubicBezTo>
                <a:cubicBezTo>
                  <a:pt x="189389" y="36850"/>
                  <a:pt x="233385" y="80846"/>
                  <a:pt x="233385" y="135118"/>
                </a:cubicBezTo>
                <a:close/>
                <a:moveTo>
                  <a:pt x="257952" y="257952"/>
                </a:moveTo>
                <a:lnTo>
                  <a:pt x="205133" y="205133"/>
                </a:lnTo>
              </a:path>
            </a:pathLst>
          </a:custGeom>
          <a:noFill/>
          <a:ln w="24567" cap="rnd">
            <a:solidFill>
              <a:srgbClr val="55627E"/>
            </a:solidFill>
            <a:prstDash val="solid"/>
            <a:round/>
          </a:ln>
        </p:spPr>
      </p:sp>
      <p:sp>
        <p:nvSpPr>
          <p:cNvPr id="32" name="Text 30"/>
          <p:cNvSpPr/>
          <p:nvPr/>
        </p:nvSpPr>
        <p:spPr>
          <a:xfrm>
            <a:off x="6461608"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55627E"/>
                </a:solidFill>
                <a:latin typeface="Segoe UI Semibold" pitchFamily="34" charset="0"/>
                <a:ea typeface="Segoe UI Semibold" pitchFamily="34" charset="-122"/>
                <a:cs typeface="Segoe UI Semibold" pitchFamily="34" charset="-120"/>
              </a:rPr>
              <a:t>404</a:t>
            </a:r>
            <a:endParaRPr lang="en-US" sz="5600" dirty="0"/>
          </a:p>
        </p:txBody>
      </p:sp>
      <p:sp>
        <p:nvSpPr>
          <p:cNvPr id="33" name="Text 31"/>
          <p:cNvSpPr/>
          <p:nvPr/>
        </p:nvSpPr>
        <p:spPr>
          <a:xfrm>
            <a:off x="6461608"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No existe</a:t>
            </a:r>
            <a:endParaRPr lang="en-US" sz="1500" dirty="0"/>
          </a:p>
        </p:txBody>
      </p:sp>
      <p:sp>
        <p:nvSpPr>
          <p:cNvPr id="34" name="Text 32"/>
          <p:cNvSpPr/>
          <p:nvPr/>
        </p:nvSpPr>
        <p:spPr>
          <a:xfrm>
            <a:off x="6461608"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No hay una solicitud con ese identificador.</a:t>
            </a:r>
            <a:endParaRPr lang="en-US" sz="1200" dirty="0"/>
          </a:p>
        </p:txBody>
      </p:sp>
      <p:sp>
        <p:nvSpPr>
          <p:cNvPr id="35" name="Shape 33"/>
          <p:cNvSpPr/>
          <p:nvPr/>
        </p:nvSpPr>
        <p:spPr>
          <a:xfrm>
            <a:off x="9002039"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130055" y="1719072"/>
            <a:ext cx="2320976" cy="64008"/>
          </a:xfrm>
          <a:prstGeom prst="rect">
            <a:avLst/>
          </a:prstGeom>
          <a:solidFill>
            <a:srgbClr val="AB243E"/>
          </a:solidFill>
          <a:ln w="12700">
            <a:solidFill>
              <a:srgbClr val="AB243E"/>
            </a:solidFill>
            <a:prstDash val="solid"/>
          </a:ln>
        </p:spPr>
      </p:sp>
      <p:sp>
        <p:nvSpPr>
          <p:cNvPr id="37" name="Shape 35"/>
          <p:cNvSpPr/>
          <p:nvPr/>
        </p:nvSpPr>
        <p:spPr>
          <a:xfrm>
            <a:off x="10792663" y="1956816"/>
            <a:ext cx="566928" cy="566928"/>
          </a:xfrm>
          <a:prstGeom prst="ellipse">
            <a:avLst/>
          </a:prstGeom>
          <a:solidFill>
            <a:srgbClr val="F7E3E7"/>
          </a:solidFill>
          <a:ln w="12700">
            <a:solidFill>
              <a:srgbClr val="F7E3E7"/>
            </a:solidFill>
            <a:prstDash val="solid"/>
          </a:ln>
        </p:spPr>
      </p:sp>
      <p:sp>
        <p:nvSpPr>
          <p:cNvPr id="38" name="Icono ban"/>
          <p:cNvSpPr/>
          <p:nvPr/>
        </p:nvSpPr>
        <p:spPr>
          <a:xfrm>
            <a:off x="10928726"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9" name="Text 37"/>
          <p:cNvSpPr/>
          <p:nvPr/>
        </p:nvSpPr>
        <p:spPr>
          <a:xfrm>
            <a:off x="9258071"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409</a:t>
            </a:r>
            <a:endParaRPr lang="en-US" sz="5600" dirty="0"/>
          </a:p>
        </p:txBody>
      </p:sp>
      <p:sp>
        <p:nvSpPr>
          <p:cNvPr id="40" name="Text 38"/>
          <p:cNvSpPr/>
          <p:nvPr/>
        </p:nvSpPr>
        <p:spPr>
          <a:xfrm>
            <a:off x="9258071"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Conflicto</a:t>
            </a:r>
            <a:endParaRPr lang="en-US" sz="1500" dirty="0"/>
          </a:p>
        </p:txBody>
      </p:sp>
      <p:sp>
        <p:nvSpPr>
          <p:cNvPr id="41" name="Text 39"/>
          <p:cNvSpPr/>
          <p:nvPr/>
        </p:nvSpPr>
        <p:spPr>
          <a:xfrm>
            <a:off x="9258071"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 ya existe o el cambio de estado no se permite.</a:t>
            </a:r>
            <a:endParaRPr lang="en-US" sz="1200" dirty="0"/>
          </a:p>
        </p:txBody>
      </p:sp>
      <p:sp>
        <p:nvSpPr>
          <p:cNvPr id="42" name="Shape 40"/>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4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Quien consume la API sabe qué pasó sin adivinar, y la UI le muestra a la persona un mensaje claro.</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bases de datos para probar</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hield-check"/>
          <p:cNvSpPr/>
          <p:nvPr/>
        </p:nvSpPr>
        <p:spPr>
          <a:xfrm>
            <a:off x="4258544" y="1955780"/>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negocio no depende del framework</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Las reglas son clases Java sin Spring, inyectadas por constructor.</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 prueban en milisegundos y sobreviven a un cambio de framework.</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hield-alert"/>
          <p:cNvSpPr/>
          <p:nvPr/>
        </p:nvSpPr>
        <p:spPr>
          <a:xfrm>
            <a:off x="4258544" y="3677900"/>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85440" y="123627"/>
                </a:moveTo>
                <a:lnTo>
                  <a:pt x="185440" y="185440"/>
                </a:lnTo>
                <a:moveTo>
                  <a:pt x="185440" y="247254"/>
                </a:moveTo>
                <a:lnTo>
                  <a:pt x="185595" y="247254"/>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Los errores son parte del contrato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manejador global responde 400, 404 y 409 con la misma forma.</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soporte: quien consume la API entiende qué pasó.</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it-pull-request"/>
          <p:cNvSpPr/>
          <p:nvPr/>
        </p:nvSpPr>
        <p:spPr>
          <a:xfrm>
            <a:off x="4258544" y="540002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Todo entra por Pull Request</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Ramas cortas, commits con sentido y una aprobación.</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Historial legible y ningún cambio sin revisar.</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React + nginx · proxy /api</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servicio-solicitudes</a:t>
            </a:r>
            <a:endParaRPr lang="en-US" sz="13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3F4FA"/>
          </a:solidFill>
          <a:ln w="12700">
            <a:solidFill>
              <a:srgbClr val="E3F4FA"/>
            </a:solidFill>
            <a:prstDash val="solid"/>
          </a:ln>
        </p:spPr>
      </p:sp>
      <p:sp>
        <p:nvSpPr>
          <p:cNvPr id="36" name="Icono send"/>
          <p:cNvSpPr/>
          <p:nvPr/>
        </p:nvSpPr>
        <p:spPr>
          <a:xfrm>
            <a:off x="5748345" y="328502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0B6E8A"/>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250" b="1" dirty="0">
                <a:solidFill>
                  <a:srgbClr val="0B6E8A"/>
                </a:solidFill>
                <a:latin typeface="Segoe UI Semibold" pitchFamily="34" charset="0"/>
                <a:ea typeface="Segoe UI Semibold" pitchFamily="34" charset="-122"/>
                <a:cs typeface="Segoe UI Semibold" pitchFamily="34" charset="-120"/>
              </a:rPr>
              <a:t>Evento SolicitudEnviada</a:t>
            </a:r>
            <a:endParaRPr lang="en-US" sz="125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Por HTTP, con su eventoId</a:t>
            </a:r>
            <a:endParaRPr lang="en-US" sz="115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3F4FA"/>
          </a:solidFill>
          <a:ln w="12700">
            <a:solidFill>
              <a:srgbClr val="E3F4FA"/>
            </a:solidFill>
            <a:prstDash val="solid"/>
          </a:ln>
        </p:spPr>
      </p:sp>
      <p:sp>
        <p:nvSpPr>
          <p:cNvPr id="41" name="Icono bell"/>
          <p:cNvSpPr/>
          <p:nvPr/>
        </p:nvSpPr>
        <p:spPr>
          <a:xfrm>
            <a:off x="8818596"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150" b="1" dirty="0">
                <a:solidFill>
                  <a:srgbClr val="0B6E8A"/>
                </a:solidFill>
                <a:latin typeface="Segoe UI Semibold" pitchFamily="34" charset="0"/>
                <a:ea typeface="Segoe UI Semibold" pitchFamily="34" charset="-122"/>
                <a:cs typeface="Segoe UI Semibold" pitchFamily="34" charset="-120"/>
              </a:rPr>
              <a:t>servicio-notificaciones</a:t>
            </a:r>
            <a:endParaRPr lang="en-US" sz="115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Los avisos, sin duplicados</a:t>
            </a:r>
            <a:endParaRPr lang="en-US" sz="11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6" name="Text 44"/>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4F7FB"/>
          </a:solidFill>
          <a:ln w="12700">
            <a:solidFill>
              <a:srgbClr val="F4F7FB"/>
            </a:solidFill>
            <a:prstDash val="solid"/>
          </a:ln>
        </p:spPr>
      </p:sp>
      <p:sp>
        <p:nvSpPr>
          <p:cNvPr id="49" name="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4F7FB"/>
          </a:solidFill>
          <a:ln w="12700">
            <a:solidFill>
              <a:srgbClr val="F4F7FB"/>
            </a:solidFill>
            <a:prstDash val="solid"/>
          </a:ln>
        </p:spPr>
      </p:sp>
      <p:sp>
        <p:nvSpPr>
          <p:cNvPr id="54" name="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9" name="Text 57"/>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60" name="Shape 58"/>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E1F1EA"/>
          </a:solidFill>
          <a:ln w="12700">
            <a:solidFill>
              <a:srgbClr val="E1F1EA"/>
            </a:solidFill>
            <a:prstDash val="solid"/>
          </a:ln>
        </p:spPr>
      </p:sp>
      <p:sp>
        <p:nvSpPr>
          <p:cNvPr id="62" name="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63" name="Text 61"/>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64" name="Text 62"/>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65" name="Shape 63"/>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5612282" y="5567553"/>
            <a:ext cx="566928" cy="566928"/>
          </a:xfrm>
          <a:prstGeom prst="ellipse">
            <a:avLst/>
          </a:prstGeom>
          <a:solidFill>
            <a:srgbClr val="E1F1EA"/>
          </a:solidFill>
          <a:ln w="12700">
            <a:solidFill>
              <a:srgbClr val="E1F1EA"/>
            </a:solidFill>
            <a:prstDash val="solid"/>
          </a:ln>
        </p:spPr>
      </p:sp>
      <p:sp>
        <p:nvSpPr>
          <p:cNvPr id="67" name="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8" name="Text 66"/>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9" name="Text 67"/>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70" name="Shape 68"/>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71" name="Shape 69"/>
          <p:cNvSpPr/>
          <p:nvPr/>
        </p:nvSpPr>
        <p:spPr>
          <a:xfrm>
            <a:off x="8682533" y="5567553"/>
            <a:ext cx="566928" cy="566928"/>
          </a:xfrm>
          <a:prstGeom prst="ellipse">
            <a:avLst/>
          </a:prstGeom>
          <a:solidFill>
            <a:srgbClr val="FCEFD6"/>
          </a:solidFill>
          <a:ln w="12700">
            <a:solidFill>
              <a:srgbClr val="FCEFD6"/>
            </a:solidFill>
            <a:prstDash val="solid"/>
          </a:ln>
        </p:spPr>
      </p:sp>
      <p:sp>
        <p:nvSpPr>
          <p:cNvPr id="72" name="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73" name="Text 71"/>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74" name="Text 72"/>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75" name="Text 7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puertos y adaptadores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Hexagonal: el negocio al centro y cada tecnología conectada por un enchufe (puerto).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no sabe de qué planta viene la electricidad, solo que el enchufe cumple la norma.</a:t>
            </a:r>
            <a:endParaRPr lang="en-US" sz="1450" dirty="0"/>
          </a:p>
        </p:txBody>
      </p:sp>
      <p:sp>
        <p:nvSpPr>
          <p:cNvPr id="18" name="Text 16"/>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9" name="Text 17"/>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20" name="Text 18"/>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21" name="Text 19"/>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2" name="Shape 20"/>
          <p:cNvSpPr/>
          <p:nvPr/>
        </p:nvSpPr>
        <p:spPr>
          <a:xfrm>
            <a:off x="3200400" y="2568623"/>
            <a:ext cx="2819095" cy="2507138"/>
          </a:xfrm>
          <a:prstGeom prst="hexagon">
            <a:avLst/>
          </a:prstGeom>
          <a:solidFill>
            <a:srgbClr val="E3F4FA"/>
          </a:solidFill>
          <a:ln w="19050">
            <a:solidFill>
              <a:srgbClr val="2BA6CB"/>
            </a:solidFill>
            <a:prstDash val="dash"/>
          </a:ln>
        </p:spPr>
      </p:sp>
      <p:sp>
        <p:nvSpPr>
          <p:cNvPr id="23" name="Shape 21"/>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4"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5" name="Text 23"/>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Segoe UI Semibold" pitchFamily="34" charset="0"/>
                <a:ea typeface="Segoe UI Semibold" pitchFamily="34" charset="-122"/>
                <a:cs typeface="Segoe UI Semibold" pitchFamily="34" charset="-120"/>
              </a:rPr>
              <a:t>Dominio</a:t>
            </a:r>
            <a:endParaRPr lang="en-US" sz="2400" dirty="0"/>
          </a:p>
        </p:txBody>
      </p:sp>
      <p:sp>
        <p:nvSpPr>
          <p:cNvPr id="26" name="Text 24"/>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100" dirty="0">
                <a:solidFill>
                  <a:srgbClr val="9FBEE0"/>
                </a:solidFill>
                <a:latin typeface="Segoe UI" pitchFamily="34" charset="0"/>
                <a:ea typeface="Segoe UI" pitchFamily="34" charset="-122"/>
                <a:cs typeface="Segoe UI" pitchFamily="34" charset="-120"/>
              </a:rPr>
              <a:t>Solicitud · ServicioDeSolicitudes</a:t>
            </a:r>
            <a:endParaRPr lang="en-US" sz="1100" dirty="0"/>
          </a:p>
        </p:txBody>
      </p:sp>
      <p:sp>
        <p:nvSpPr>
          <p:cNvPr id="27" name="Shape 25"/>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3054096"/>
            <a:ext cx="475488" cy="475488"/>
          </a:xfrm>
          <a:prstGeom prst="ellipse">
            <a:avLst/>
          </a:prstGeom>
          <a:solidFill>
            <a:srgbClr val="F1EEFD"/>
          </a:solidFill>
          <a:ln w="12700">
            <a:solidFill>
              <a:srgbClr val="F1EEFD"/>
            </a:solidFill>
            <a:prstDash val="solid"/>
          </a:ln>
        </p:spPr>
      </p:sp>
      <p:sp>
        <p:nvSpPr>
          <p:cNvPr id="29" name="Icono code"/>
          <p:cNvSpPr/>
          <p:nvPr/>
        </p:nvSpPr>
        <p:spPr>
          <a:xfrm>
            <a:off x="854781" y="3168213"/>
            <a:ext cx="247254" cy="247254"/>
          </a:xfrm>
          <a:custGeom>
            <a:avLst/>
            <a:gdLst/>
            <a:ahLst/>
            <a:cxnLst/>
            <a:rect l="l" t="t" r="r" b="b"/>
            <a:pathLst>
              <a:path w="247254" h="247254">
                <a:moveTo>
                  <a:pt x="164836" y="185440"/>
                </a:moveTo>
                <a:lnTo>
                  <a:pt x="226649" y="123627"/>
                </a:lnTo>
                <a:lnTo>
                  <a:pt x="164836" y="61813"/>
                </a:lnTo>
                <a:moveTo>
                  <a:pt x="82418" y="61813"/>
                </a:moveTo>
                <a:lnTo>
                  <a:pt x="20604" y="123627"/>
                </a:lnTo>
                <a:lnTo>
                  <a:pt x="82418" y="185440"/>
                </a:lnTo>
              </a:path>
            </a:pathLst>
          </a:custGeom>
          <a:noFill/>
          <a:ln w="20604" cap="rnd">
            <a:solidFill>
              <a:srgbClr val="5B3FC4"/>
            </a:solidFill>
            <a:prstDash val="solid"/>
            <a:round/>
          </a:ln>
        </p:spPr>
      </p:sp>
      <p:sp>
        <p:nvSpPr>
          <p:cNvPr id="30" name="Text 28"/>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050" b="1" dirty="0">
                <a:solidFill>
                  <a:srgbClr val="5B3FC4"/>
                </a:solidFill>
                <a:latin typeface="Segoe UI Semibold" pitchFamily="34" charset="0"/>
                <a:ea typeface="Segoe UI Semibold" pitchFamily="34" charset="-122"/>
                <a:cs typeface="Segoe UI Semibold" pitchFamily="34" charset="-120"/>
              </a:rPr>
              <a:t>SolicitudController</a:t>
            </a:r>
            <a:endParaRPr lang="en-US" sz="1050" dirty="0"/>
          </a:p>
        </p:txBody>
      </p:sp>
      <p:sp>
        <p:nvSpPr>
          <p:cNvPr id="31" name="Text 29"/>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REST · Swagger</a:t>
            </a:r>
            <a:endParaRPr lang="en-US" sz="1100" dirty="0"/>
          </a:p>
        </p:txBody>
      </p:sp>
      <p:sp>
        <p:nvSpPr>
          <p:cNvPr id="32" name="Shape 30"/>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740664" y="4114800"/>
            <a:ext cx="475488" cy="475488"/>
          </a:xfrm>
          <a:prstGeom prst="ellipse">
            <a:avLst/>
          </a:prstGeom>
          <a:solidFill>
            <a:srgbClr val="F1EEFD"/>
          </a:solidFill>
          <a:ln w="12700">
            <a:solidFill>
              <a:srgbClr val="F1EEFD"/>
            </a:solidFill>
            <a:prstDash val="solid"/>
          </a:ln>
        </p:spPr>
      </p:sp>
      <p:sp>
        <p:nvSpPr>
          <p:cNvPr id="34" name="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5" name="Text 33"/>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Manejador global</a:t>
            </a:r>
            <a:endParaRPr lang="en-US" sz="1350" dirty="0"/>
          </a:p>
        </p:txBody>
      </p:sp>
      <p:sp>
        <p:nvSpPr>
          <p:cNvPr id="36" name="Text 34"/>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Errores → HTTP</a:t>
            </a:r>
            <a:endParaRPr lang="en-US" sz="1100" dirty="0"/>
          </a:p>
        </p:txBody>
      </p:sp>
      <p:sp>
        <p:nvSpPr>
          <p:cNvPr id="37" name="Shape 35"/>
          <p:cNvSpPr/>
          <p:nvPr/>
        </p:nvSpPr>
        <p:spPr>
          <a:xfrm>
            <a:off x="2953512" y="3291840"/>
            <a:ext cx="210312" cy="72816"/>
          </a:xfrm>
          <a:prstGeom prst="line">
            <a:avLst/>
          </a:prstGeom>
          <a:noFill/>
          <a:ln w="28575">
            <a:solidFill>
              <a:srgbClr val="2E6DB4"/>
            </a:solidFill>
            <a:prstDash val="solid"/>
            <a:tailEnd type="triangle"/>
          </a:ln>
        </p:spPr>
      </p:sp>
      <p:sp>
        <p:nvSpPr>
          <p:cNvPr id="38" name="Shape 36"/>
          <p:cNvSpPr/>
          <p:nvPr/>
        </p:nvSpPr>
        <p:spPr>
          <a:xfrm flipV="1">
            <a:off x="2953512" y="4279728"/>
            <a:ext cx="210312" cy="72816"/>
          </a:xfrm>
          <a:prstGeom prst="line">
            <a:avLst/>
          </a:prstGeom>
          <a:noFill/>
          <a:ln w="28575">
            <a:solidFill>
              <a:srgbClr val="2E6DB4"/>
            </a:solidFill>
            <a:prstDash val="solid"/>
            <a:tailEnd type="triangle"/>
          </a:ln>
        </p:spPr>
      </p:sp>
      <p:sp>
        <p:nvSpPr>
          <p:cNvPr id="39" name="Shape 37"/>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40" name="Text 38"/>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RepositorioDeSolicitudes</a:t>
            </a:r>
            <a:endParaRPr lang="en-US" sz="850" dirty="0"/>
          </a:p>
        </p:txBody>
      </p:sp>
      <p:sp>
        <p:nvSpPr>
          <p:cNvPr id="41" name="Shape 39"/>
          <p:cNvSpPr/>
          <p:nvPr/>
        </p:nvSpPr>
        <p:spPr>
          <a:xfrm>
            <a:off x="5772607" y="3108960"/>
            <a:ext cx="301752" cy="0"/>
          </a:xfrm>
          <a:prstGeom prst="line">
            <a:avLst/>
          </a:prstGeom>
          <a:noFill/>
          <a:ln w="19050">
            <a:solidFill>
              <a:srgbClr val="2BA6CB"/>
            </a:solidFill>
            <a:prstDash val="solid"/>
            <a:tailEnd type="triangle"/>
          </a:ln>
        </p:spPr>
      </p:sp>
      <p:sp>
        <p:nvSpPr>
          <p:cNvPr id="42" name="Shape 40"/>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3" name="Text 41"/>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050" b="1" dirty="0">
                <a:solidFill>
                  <a:srgbClr val="0B6E8A"/>
                </a:solidFill>
                <a:latin typeface="Consolas" pitchFamily="34" charset="0"/>
                <a:ea typeface="Consolas" pitchFamily="34" charset="-122"/>
                <a:cs typeface="Consolas" pitchFamily="34" charset="-120"/>
              </a:rPr>
              <a:t>RegistradorDeEventosSalientes</a:t>
            </a:r>
            <a:endParaRPr lang="en-US" sz="850" dirty="0"/>
          </a:p>
        </p:txBody>
      </p:sp>
      <p:sp>
        <p:nvSpPr>
          <p:cNvPr id="44" name="Shape 42"/>
          <p:cNvSpPr/>
          <p:nvPr/>
        </p:nvSpPr>
        <p:spPr>
          <a:xfrm>
            <a:off x="5772607" y="3822192"/>
            <a:ext cx="301752" cy="0"/>
          </a:xfrm>
          <a:prstGeom prst="line">
            <a:avLst/>
          </a:prstGeom>
          <a:noFill/>
          <a:ln w="19050">
            <a:solidFill>
              <a:srgbClr val="2BA6CB"/>
            </a:solidFill>
            <a:prstDash val="solid"/>
            <a:tailEnd type="triangle"/>
          </a:ln>
        </p:spPr>
      </p:sp>
      <p:sp>
        <p:nvSpPr>
          <p:cNvPr id="45" name="Shape 43"/>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6" name="Text 44"/>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PublicadorDeEventos</a:t>
            </a:r>
            <a:endParaRPr lang="en-US" sz="850" dirty="0"/>
          </a:p>
        </p:txBody>
      </p:sp>
      <p:sp>
        <p:nvSpPr>
          <p:cNvPr id="47" name="Shape 45"/>
          <p:cNvSpPr/>
          <p:nvPr/>
        </p:nvSpPr>
        <p:spPr>
          <a:xfrm>
            <a:off x="5772607" y="4535424"/>
            <a:ext cx="301752" cy="0"/>
          </a:xfrm>
          <a:prstGeom prst="line">
            <a:avLst/>
          </a:prstGeom>
          <a:noFill/>
          <a:ln w="19050">
            <a:solidFill>
              <a:srgbClr val="2BA6CB"/>
            </a:solidFill>
            <a:prstDash val="solid"/>
            <a:tailEnd type="triangle"/>
          </a:ln>
        </p:spPr>
      </p:sp>
      <p:sp>
        <p:nvSpPr>
          <p:cNvPr id="48" name="Shape 46"/>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9238183" y="2260854"/>
            <a:ext cx="475488" cy="475488"/>
          </a:xfrm>
          <a:prstGeom prst="ellipse">
            <a:avLst/>
          </a:prstGeom>
          <a:solidFill>
            <a:srgbClr val="E8EEF8"/>
          </a:solidFill>
          <a:ln w="12700">
            <a:solidFill>
              <a:srgbClr val="E8EEF8"/>
            </a:solidFill>
            <a:prstDash val="solid"/>
          </a:ln>
        </p:spPr>
      </p:sp>
      <p:sp>
        <p:nvSpPr>
          <p:cNvPr id="50" name="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51" name="Text 49"/>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RepositorioJpa</a:t>
            </a:r>
            <a:endParaRPr lang="en-US" sz="1350" dirty="0"/>
          </a:p>
        </p:txBody>
      </p:sp>
      <p:sp>
        <p:nvSpPr>
          <p:cNvPr id="52" name="Text 50"/>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PostgreSQL</a:t>
            </a:r>
            <a:endParaRPr lang="en-US" sz="1100" dirty="0"/>
          </a:p>
        </p:txBody>
      </p:sp>
      <p:sp>
        <p:nvSpPr>
          <p:cNvPr id="53" name="Shape 51"/>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9238183" y="3143250"/>
            <a:ext cx="475488" cy="475488"/>
          </a:xfrm>
          <a:prstGeom prst="ellipse">
            <a:avLst/>
          </a:prstGeom>
          <a:solidFill>
            <a:srgbClr val="E8EEF8"/>
          </a:solidFill>
          <a:ln w="12700">
            <a:solidFill>
              <a:srgbClr val="E8EEF8"/>
            </a:solidFill>
            <a:prstDash val="solid"/>
          </a:ln>
        </p:spPr>
      </p:sp>
      <p:sp>
        <p:nvSpPr>
          <p:cNvPr id="55" name="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6" name="Text 54"/>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7" name="Text 55"/>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8" name="Shape 56"/>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9" name="Shape 57"/>
          <p:cNvSpPr/>
          <p:nvPr/>
        </p:nvSpPr>
        <p:spPr>
          <a:xfrm>
            <a:off x="9238183" y="4025646"/>
            <a:ext cx="475488" cy="475488"/>
          </a:xfrm>
          <a:prstGeom prst="ellipse">
            <a:avLst/>
          </a:prstGeom>
          <a:solidFill>
            <a:srgbClr val="E3F4FA"/>
          </a:solidFill>
          <a:ln w="12700">
            <a:solidFill>
              <a:srgbClr val="E3F4FA"/>
            </a:solidFill>
            <a:prstDash val="solid"/>
          </a:ln>
        </p:spPr>
      </p:sp>
      <p:sp>
        <p:nvSpPr>
          <p:cNvPr id="60" name="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61" name="Text 59"/>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000" b="1" dirty="0">
                <a:solidFill>
                  <a:srgbClr val="0B6E8A"/>
                </a:solidFill>
                <a:latin typeface="Segoe UI Semibold" pitchFamily="34" charset="0"/>
                <a:ea typeface="Segoe UI Semibold" pitchFamily="34" charset="-122"/>
                <a:cs typeface="Segoe UI Semibold" pitchFamily="34" charset="-120"/>
              </a:rPr>
              <a:t>PublicadorConReintento</a:t>
            </a:r>
            <a:endParaRPr lang="en-US" sz="1000" dirty="0"/>
          </a:p>
        </p:txBody>
      </p:sp>
      <p:sp>
        <p:nvSpPr>
          <p:cNvPr id="62" name="Text 60"/>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HTTP</a:t>
            </a:r>
            <a:endParaRPr lang="en-US" sz="1100" dirty="0"/>
          </a:p>
        </p:txBody>
      </p:sp>
      <p:sp>
        <p:nvSpPr>
          <p:cNvPr id="63" name="Shape 61"/>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238183" y="4908042"/>
            <a:ext cx="475488" cy="475488"/>
          </a:xfrm>
          <a:prstGeom prst="ellipse">
            <a:avLst/>
          </a:prstGeom>
          <a:solidFill>
            <a:srgbClr val="F4F7FB"/>
          </a:solidFill>
          <a:ln w="12700">
            <a:solidFill>
              <a:srgbClr val="F4F7FB"/>
            </a:solidFill>
            <a:prstDash val="solid"/>
          </a:ln>
        </p:spPr>
      </p:sp>
      <p:sp>
        <p:nvSpPr>
          <p:cNvPr id="65" name="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6" name="Text 64"/>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100" b="1" dirty="0">
                <a:solidFill>
                  <a:srgbClr val="55627E"/>
                </a:solidFill>
                <a:latin typeface="Segoe UI Semibold" pitchFamily="34" charset="0"/>
                <a:ea typeface="Segoe UI Semibold" pitchFamily="34" charset="-122"/>
                <a:cs typeface="Segoe UI Semibold" pitchFamily="34" charset="-120"/>
              </a:rPr>
              <a:t>RepositorioEnMemoria</a:t>
            </a:r>
            <a:endParaRPr lang="en-US" sz="1100" dirty="0"/>
          </a:p>
        </p:txBody>
      </p:sp>
      <p:sp>
        <p:nvSpPr>
          <p:cNvPr id="67" name="Text 65"/>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8" name="Shape 66"/>
          <p:cNvSpPr/>
          <p:nvPr/>
        </p:nvSpPr>
        <p:spPr>
          <a:xfrm flipH="1">
            <a:off x="8753551" y="2498598"/>
            <a:ext cx="301752" cy="418338"/>
          </a:xfrm>
          <a:prstGeom prst="line">
            <a:avLst/>
          </a:prstGeom>
          <a:noFill/>
          <a:ln w="19050">
            <a:solidFill>
              <a:srgbClr val="55627E"/>
            </a:solidFill>
            <a:prstDash val="dash"/>
            <a:tailEnd type="triangle"/>
          </a:ln>
        </p:spPr>
      </p:sp>
      <p:sp>
        <p:nvSpPr>
          <p:cNvPr id="69" name="Shape 67"/>
          <p:cNvSpPr/>
          <p:nvPr/>
        </p:nvSpPr>
        <p:spPr>
          <a:xfrm flipH="1">
            <a:off x="8753551" y="3380994"/>
            <a:ext cx="301752" cy="0"/>
          </a:xfrm>
          <a:prstGeom prst="line">
            <a:avLst/>
          </a:prstGeom>
          <a:noFill/>
          <a:ln w="19050">
            <a:solidFill>
              <a:srgbClr val="55627E"/>
            </a:solidFill>
            <a:prstDash val="dash"/>
            <a:tailEnd type="triangle"/>
          </a:ln>
        </p:spPr>
      </p:sp>
      <p:sp>
        <p:nvSpPr>
          <p:cNvPr id="70" name="Shape 68"/>
          <p:cNvSpPr/>
          <p:nvPr/>
        </p:nvSpPr>
        <p:spPr>
          <a:xfrm flipH="1">
            <a:off x="8753551" y="4263390"/>
            <a:ext cx="301752" cy="0"/>
          </a:xfrm>
          <a:prstGeom prst="line">
            <a:avLst/>
          </a:prstGeom>
          <a:noFill/>
          <a:ln w="19050">
            <a:solidFill>
              <a:srgbClr val="55627E"/>
            </a:solidFill>
            <a:prstDash val="dash"/>
            <a:tailEnd type="triangle"/>
          </a:ln>
        </p:spPr>
      </p:sp>
      <p:sp>
        <p:nvSpPr>
          <p:cNvPr id="71" name="Shape 69"/>
          <p:cNvSpPr/>
          <p:nvPr/>
        </p:nvSpPr>
        <p:spPr>
          <a:xfrm flipH="1" flipV="1">
            <a:off x="8753551" y="4727448"/>
            <a:ext cx="301752" cy="418338"/>
          </a:xfrm>
          <a:prstGeom prst="line">
            <a:avLst/>
          </a:prstGeom>
          <a:noFill/>
          <a:ln w="19050">
            <a:solidFill>
              <a:srgbClr val="55627E"/>
            </a:solidFill>
            <a:prstDash val="dash"/>
            <a:tailEnd type="triangle"/>
          </a:ln>
        </p:spPr>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puertos en solicitudes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adaptadores por puerto</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lug"/>
          <p:cNvSpPr/>
          <p:nvPr/>
        </p:nvSpPr>
        <p:spPr>
          <a:xfrm>
            <a:off x="4258544" y="1955780"/>
            <a:ext cx="370881" cy="370881"/>
          </a:xfrm>
          <a:custGeom>
            <a:avLst/>
            <a:gdLst/>
            <a:ahLst/>
            <a:cxnLst/>
            <a:rect l="l" t="t" r="r" b="b"/>
            <a:pathLst>
              <a:path w="370881" h="370881">
                <a:moveTo>
                  <a:pt x="185440" y="339974"/>
                </a:moveTo>
                <a:lnTo>
                  <a:pt x="185440" y="262707"/>
                </a:lnTo>
                <a:moveTo>
                  <a:pt x="139080" y="123627"/>
                </a:moveTo>
                <a:lnTo>
                  <a:pt x="139080" y="30907"/>
                </a:lnTo>
                <a:moveTo>
                  <a:pt x="231800" y="123627"/>
                </a:moveTo>
                <a:lnTo>
                  <a:pt x="231800" y="30907"/>
                </a:lnTo>
                <a:moveTo>
                  <a:pt x="278160" y="123627"/>
                </a:moveTo>
                <a:lnTo>
                  <a:pt x="278160" y="200894"/>
                </a:lnTo>
                <a:cubicBezTo>
                  <a:pt x="278160" y="235032"/>
                  <a:pt x="250486" y="262707"/>
                  <a:pt x="216347" y="262707"/>
                </a:cubicBezTo>
                <a:lnTo>
                  <a:pt x="154534" y="262707"/>
                </a:lnTo>
                <a:cubicBezTo>
                  <a:pt x="120395" y="262707"/>
                  <a:pt x="92720" y="235032"/>
                  <a:pt x="92720" y="200894"/>
                </a:cubicBezTo>
                <a:lnTo>
                  <a:pt x="92720" y="123627"/>
                </a:lnTo>
                <a:close/>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Los puertos separan negocio y tecnología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Varios adaptadores por puerto; Spring usa el @Primary.</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la base o la mensajería sin reescribir reglas.</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cale"/>
          <p:cNvSpPr/>
          <p:nvPr/>
        </p:nvSpPr>
        <p:spPr>
          <a:xfrm>
            <a:off x="4258544" y="3677900"/>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Separar servicios tiene un costo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Red, bases propias y fallos parciales.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Separar solo cuando el negocio o los equipos lo justifican.</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file-json"/>
          <p:cNvSpPr/>
          <p:nvPr/>
        </p:nvSpPr>
        <p:spPr>
          <a:xfrm>
            <a:off x="4258544" y="5400020"/>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SolicitudEnviada vive en los dos servicios y cambia junto.</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explícito.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ORM: cada clase Java se mapea a una tabla y el SQL de todos los días se genera solo.</a:t>
            </a:r>
            <a:endParaRPr lang="en-US" sz="1700" dirty="0"/>
          </a:p>
        </p:txBody>
      </p:sp>
      <p:sp>
        <p:nvSpPr>
          <p:cNvPr id="14" name="Shape 12"/>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database"/>
          <p:cNvSpPr/>
          <p:nvPr/>
        </p:nvSpPr>
        <p:spPr>
          <a:xfrm>
            <a:off x="986089" y="2019361"/>
            <a:ext cx="313822" cy="313822"/>
          </a:xfrm>
          <a:custGeom>
            <a:avLst/>
            <a:gdLst/>
            <a:ahLst/>
            <a:cxnLst/>
            <a:rect l="l" t="t" r="r" b="b"/>
            <a:pathLst>
              <a:path w="313822" h="313822">
                <a:moveTo>
                  <a:pt x="274594" y="65380"/>
                </a:moveTo>
                <a:cubicBezTo>
                  <a:pt x="274594" y="87044"/>
                  <a:pt x="221906" y="104607"/>
                  <a:pt x="156911" y="104607"/>
                </a:cubicBezTo>
                <a:cubicBezTo>
                  <a:pt x="91916" y="104607"/>
                  <a:pt x="39228" y="87044"/>
                  <a:pt x="39228" y="65380"/>
                </a:cubicBezTo>
                <a:cubicBezTo>
                  <a:pt x="39228" y="43715"/>
                  <a:pt x="91916" y="26152"/>
                  <a:pt x="156911" y="26152"/>
                </a:cubicBezTo>
                <a:cubicBezTo>
                  <a:pt x="221906" y="26152"/>
                  <a:pt x="274594" y="43715"/>
                  <a:pt x="274594" y="65380"/>
                </a:cubicBezTo>
                <a:close/>
                <a:moveTo>
                  <a:pt x="39228" y="65380"/>
                </a:moveTo>
                <a:lnTo>
                  <a:pt x="39228" y="248442"/>
                </a:lnTo>
                <a:cubicBezTo>
                  <a:pt x="39228" y="270107"/>
                  <a:pt x="91916" y="287670"/>
                  <a:pt x="156911" y="287670"/>
                </a:cubicBezTo>
                <a:cubicBezTo>
                  <a:pt x="221906" y="287670"/>
                  <a:pt x="274594" y="270107"/>
                  <a:pt x="274594" y="248442"/>
                </a:cubicBezTo>
                <a:lnTo>
                  <a:pt x="274594" y="65380"/>
                </a:lnTo>
                <a:moveTo>
                  <a:pt x="39228" y="156911"/>
                </a:moveTo>
                <a:cubicBezTo>
                  <a:pt x="39228" y="178576"/>
                  <a:pt x="91916" y="196139"/>
                  <a:pt x="156911" y="196139"/>
                </a:cubicBezTo>
                <a:cubicBezTo>
                  <a:pt x="221906" y="196139"/>
                  <a:pt x="274594" y="178576"/>
                  <a:pt x="274594" y="156911"/>
                </a:cubicBez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procedimientos almacenados</a:t>
            </a:r>
            <a:endParaRPr lang="en-US" sz="1900" dirty="0"/>
          </a:p>
        </p:txBody>
      </p:sp>
      <p:sp>
        <p:nvSpPr>
          <p:cNvPr id="20" name="Icono arrow-right"/>
          <p:cNvSpPr/>
          <p:nvPr/>
        </p:nvSpPr>
        <p:spPr>
          <a:xfrm>
            <a:off x="905256" y="30232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la base: EXEC sp_enviar</a:t>
            </a:r>
            <a:endParaRPr lang="en-US" sz="1500" dirty="0"/>
          </a:p>
        </p:txBody>
      </p:sp>
      <p:sp>
        <p:nvSpPr>
          <p:cNvPr id="22" name="Shape 20"/>
          <p:cNvSpPr/>
          <p:nvPr/>
        </p:nvSpPr>
        <p:spPr>
          <a:xfrm>
            <a:off x="886968" y="3559302"/>
            <a:ext cx="4614520" cy="0"/>
          </a:xfrm>
          <a:prstGeom prst="line">
            <a:avLst/>
          </a:prstGeom>
          <a:noFill/>
          <a:ln w="9525">
            <a:solidFill>
              <a:srgbClr val="DFE6F0"/>
            </a:solidFill>
            <a:prstDash val="solid"/>
          </a:ln>
        </p:spPr>
      </p:sp>
      <p:sp>
        <p:nvSpPr>
          <p:cNvPr id="23" name="Icono arrow-right"/>
          <p:cNvSpPr/>
          <p:nvPr/>
        </p:nvSpPr>
        <p:spPr>
          <a:xfrm>
            <a:off x="905256" y="37661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una regla es cambiar la base</a:t>
            </a:r>
            <a:endParaRPr lang="en-US" sz="1500" dirty="0"/>
          </a:p>
        </p:txBody>
      </p:sp>
      <p:sp>
        <p:nvSpPr>
          <p:cNvPr id="25" name="Shape 23"/>
          <p:cNvSpPr/>
          <p:nvPr/>
        </p:nvSpPr>
        <p:spPr>
          <a:xfrm>
            <a:off x="886968" y="4302252"/>
            <a:ext cx="4614520" cy="0"/>
          </a:xfrm>
          <a:prstGeom prst="line">
            <a:avLst/>
          </a:prstGeom>
          <a:noFill/>
          <a:ln w="9525">
            <a:solidFill>
              <a:srgbClr val="DFE6F0"/>
            </a:solidFill>
            <a:prstDash val="solid"/>
          </a:ln>
        </p:spPr>
      </p:sp>
      <p:sp>
        <p:nvSpPr>
          <p:cNvPr id="26" name="Icono arrow-right"/>
          <p:cNvSpPr/>
          <p:nvPr/>
        </p:nvSpPr>
        <p:spPr>
          <a:xfrm>
            <a:off x="905256" y="45091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Para probar hace falta la base con datos</a:t>
            </a:r>
            <a:endParaRPr lang="en-US" sz="1500" dirty="0"/>
          </a:p>
        </p:txBody>
      </p:sp>
      <p:sp>
        <p:nvSpPr>
          <p:cNvPr id="28" name="Shape 26"/>
          <p:cNvSpPr/>
          <p:nvPr/>
        </p:nvSpPr>
        <p:spPr>
          <a:xfrm>
            <a:off x="886968" y="5045202"/>
            <a:ext cx="4614520" cy="0"/>
          </a:xfrm>
          <a:prstGeom prst="line">
            <a:avLst/>
          </a:prstGeom>
          <a:noFill/>
          <a:ln w="9525">
            <a:solidFill>
              <a:srgbClr val="DFE6F0"/>
            </a:solidFill>
            <a:prstDash val="solid"/>
          </a:ln>
        </p:spPr>
      </p:sp>
      <p:sp>
        <p:nvSpPr>
          <p:cNvPr id="29" name="Icono arrow-right"/>
          <p:cNvSpPr/>
          <p:nvPr/>
        </p:nvSpPr>
        <p:spPr>
          <a:xfrm>
            <a:off x="905256" y="52520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Atado a un motor: T-SQL o PL/SQL</a:t>
            </a:r>
            <a:endParaRPr lang="en-US" sz="1500" dirty="0"/>
          </a:p>
        </p:txBody>
      </p:sp>
      <p:sp>
        <p:nvSpPr>
          <p:cNvPr id="31" name="Shape 29"/>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code"/>
          <p:cNvSpPr/>
          <p:nvPr/>
        </p:nvSpPr>
        <p:spPr>
          <a:xfrm>
            <a:off x="6789329" y="2019361"/>
            <a:ext cx="313822" cy="313822"/>
          </a:xfrm>
          <a:custGeom>
            <a:avLst/>
            <a:gdLst/>
            <a:ahLst/>
            <a:cxnLst/>
            <a:rect l="l" t="t" r="r" b="b"/>
            <a:pathLst>
              <a:path w="313822" h="313822">
                <a:moveTo>
                  <a:pt x="209215" y="235367"/>
                </a:moveTo>
                <a:lnTo>
                  <a:pt x="287670" y="156911"/>
                </a:lnTo>
                <a:lnTo>
                  <a:pt x="209215" y="78456"/>
                </a:lnTo>
                <a:moveTo>
                  <a:pt x="104607" y="78456"/>
                </a:moveTo>
                <a:lnTo>
                  <a:pt x="26152" y="156911"/>
                </a:lnTo>
                <a:lnTo>
                  <a:pt x="104607" y="23536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un ORM: JPA + Hibernate</a:t>
            </a:r>
            <a:endParaRPr lang="en-US" sz="1900" dirty="0"/>
          </a:p>
        </p:txBody>
      </p:sp>
      <p:sp>
        <p:nvSpPr>
          <p:cNvPr id="37" name="Icono circle-check"/>
          <p:cNvSpPr/>
          <p:nvPr/>
        </p:nvSpPr>
        <p:spPr>
          <a:xfrm>
            <a:off x="6708496" y="30232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Java, en el dominio</a:t>
            </a:r>
            <a:endParaRPr lang="en-US" sz="1500" dirty="0"/>
          </a:p>
        </p:txBody>
      </p:sp>
      <p:sp>
        <p:nvSpPr>
          <p:cNvPr id="39" name="Shape 37"/>
          <p:cNvSpPr/>
          <p:nvPr/>
        </p:nvSpPr>
        <p:spPr>
          <a:xfrm>
            <a:off x="6690208" y="3559302"/>
            <a:ext cx="4614520" cy="0"/>
          </a:xfrm>
          <a:prstGeom prst="line">
            <a:avLst/>
          </a:prstGeom>
          <a:noFill/>
          <a:ln w="9525">
            <a:solidFill>
              <a:srgbClr val="DFE6F0"/>
            </a:solidFill>
            <a:prstDash val="solid"/>
          </a:ln>
        </p:spPr>
      </p:sp>
      <p:sp>
        <p:nvSpPr>
          <p:cNvPr id="40" name="Icono circle-check"/>
          <p:cNvSpPr/>
          <p:nvPr/>
        </p:nvSpPr>
        <p:spPr>
          <a:xfrm>
            <a:off x="6708496" y="37661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Hibernate genera el SQL de guardar y buscar</a:t>
            </a:r>
            <a:endParaRPr lang="en-US" sz="1500" dirty="0"/>
          </a:p>
        </p:txBody>
      </p:sp>
      <p:sp>
        <p:nvSpPr>
          <p:cNvPr id="42" name="Shape 40"/>
          <p:cNvSpPr/>
          <p:nvPr/>
        </p:nvSpPr>
        <p:spPr>
          <a:xfrm>
            <a:off x="6690208" y="4302252"/>
            <a:ext cx="4614520" cy="0"/>
          </a:xfrm>
          <a:prstGeom prst="line">
            <a:avLst/>
          </a:prstGeom>
          <a:noFill/>
          <a:ln w="9525">
            <a:solidFill>
              <a:srgbClr val="DFE6F0"/>
            </a:solidFill>
            <a:prstDash val="solid"/>
          </a:ln>
        </p:spPr>
      </p:sp>
      <p:sp>
        <p:nvSpPr>
          <p:cNvPr id="43" name="Icono circle-check"/>
          <p:cNvSpPr/>
          <p:nvPr/>
        </p:nvSpPr>
        <p:spPr>
          <a:xfrm>
            <a:off x="6708496" y="45091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reglas se prueban sin base, en milisegundos</a:t>
            </a:r>
            <a:endParaRPr lang="en-US" sz="1500" dirty="0"/>
          </a:p>
        </p:txBody>
      </p:sp>
      <p:sp>
        <p:nvSpPr>
          <p:cNvPr id="45" name="Shape 43"/>
          <p:cNvSpPr/>
          <p:nvPr/>
        </p:nvSpPr>
        <p:spPr>
          <a:xfrm>
            <a:off x="6690208" y="5045202"/>
            <a:ext cx="4614520" cy="0"/>
          </a:xfrm>
          <a:prstGeom prst="line">
            <a:avLst/>
          </a:prstGeom>
          <a:noFill/>
          <a:ln w="9525">
            <a:solidFill>
              <a:srgbClr val="DFE6F0"/>
            </a:solidFill>
            <a:prstDash val="solid"/>
          </a:ln>
        </p:spPr>
      </p:sp>
      <p:sp>
        <p:nvSpPr>
          <p:cNvPr id="46" name="Icono circle-check"/>
          <p:cNvSpPr/>
          <p:nvPr/>
        </p:nvSpPr>
        <p:spPr>
          <a:xfrm>
            <a:off x="6708496" y="52520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de motor no toca las reglas</a:t>
            </a:r>
            <a:endParaRPr lang="en-US" sz="1500" dirty="0"/>
          </a:p>
        </p:txBody>
      </p:sp>
      <p:sp>
        <p:nvSpPr>
          <p:cNvPr id="48" name="Text 46"/>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el código llega a la base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Cinco piezas entre una línea de Java y una fila en PostgreSQL.</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uzzle"/>
          <p:cNvSpPr/>
          <p:nvPr/>
        </p:nvSpPr>
        <p:spPr>
          <a:xfrm>
            <a:off x="1339302"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Dominio</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Pide guardar la solicitud, sin SQL.</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plug"/>
          <p:cNvSpPr/>
          <p:nvPr/>
        </p:nvSpPr>
        <p:spPr>
          <a:xfrm>
            <a:off x="353258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Spring Data</a:t>
            </a:r>
            <a:endParaRPr lang="en-US" sz="180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save() y findById(), sin escribir SQL.</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able"/>
          <p:cNvSpPr/>
          <p:nvPr/>
        </p:nvSpPr>
        <p:spPr>
          <a:xfrm>
            <a:off x="572586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o UPDATE.</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cable"/>
          <p:cNvSpPr/>
          <p:nvPr/>
        </p:nvSpPr>
        <p:spPr>
          <a:xfrm>
            <a:off x="7919141" y="2505802"/>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JDBC + pool</a:t>
            </a:r>
            <a:endParaRPr lang="en-US" sz="180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Reutiliza conexiones con usuario y clave.</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Ejecuta y confirma la transacción.</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base por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servicio es dueño de sus tablas; solo el evento cruza la frontera.</a:t>
            </a:r>
            <a:endParaRPr lang="en-US" sz="1700" dirty="0"/>
          </a:p>
        </p:txBody>
      </p:sp>
      <p:sp>
        <p:nvSpPr>
          <p:cNvPr id="14" name="Shape 12"/>
          <p:cNvSpPr/>
          <p:nvPr/>
        </p:nvSpPr>
        <p:spPr>
          <a:xfrm>
            <a:off x="612648" y="2020824"/>
            <a:ext cx="6152693" cy="3511296"/>
          </a:xfrm>
          <a:prstGeom prst="roundRect">
            <a:avLst>
              <a:gd name="adj" fmla="val 3646"/>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2020824"/>
            <a:ext cx="6152693" cy="749808"/>
          </a:xfrm>
          <a:prstGeom prst="roundRect">
            <a:avLst>
              <a:gd name="adj" fmla="val 17073"/>
            </a:avLst>
          </a:prstGeom>
          <a:solidFill>
            <a:srgbClr val="0B2350"/>
          </a:solidFill>
          <a:ln w="12700">
            <a:solidFill>
              <a:srgbClr val="0B2350"/>
            </a:solidFill>
            <a:prstDash val="solid"/>
          </a:ln>
        </p:spPr>
      </p:sp>
      <p:sp>
        <p:nvSpPr>
          <p:cNvPr id="16" name="Shape 14"/>
          <p:cNvSpPr/>
          <p:nvPr/>
        </p:nvSpPr>
        <p:spPr>
          <a:xfrm>
            <a:off x="612648" y="2478024"/>
            <a:ext cx="6152693" cy="292608"/>
          </a:xfrm>
          <a:prstGeom prst="rect">
            <a:avLst/>
          </a:prstGeom>
          <a:solidFill>
            <a:srgbClr val="0B2350"/>
          </a:solidFill>
          <a:ln w="12700">
            <a:solidFill>
              <a:srgbClr val="0B2350"/>
            </a:solidFill>
            <a:prstDash val="solid"/>
          </a:ln>
        </p:spPr>
      </p:sp>
      <p:sp>
        <p:nvSpPr>
          <p:cNvPr id="17" name="Icono database"/>
          <p:cNvSpPr/>
          <p:nvPr/>
        </p:nvSpPr>
        <p:spPr>
          <a:xfrm>
            <a:off x="832104"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8" name="Text 16"/>
          <p:cNvSpPr/>
          <p:nvPr/>
        </p:nvSpPr>
        <p:spPr>
          <a:xfrm>
            <a:off x="1362456" y="2093976"/>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9" name="Text 17"/>
          <p:cNvSpPr/>
          <p:nvPr/>
        </p:nvSpPr>
        <p:spPr>
          <a:xfrm>
            <a:off x="1362456" y="2441448"/>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20" name="Shape 18"/>
          <p:cNvSpPr/>
          <p:nvPr/>
        </p:nvSpPr>
        <p:spPr>
          <a:xfrm>
            <a:off x="841248"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41248" y="2980944"/>
            <a:ext cx="2733446" cy="512064"/>
          </a:xfrm>
          <a:prstGeom prst="roundRect">
            <a:avLst>
              <a:gd name="adj" fmla="val 25000"/>
            </a:avLst>
          </a:prstGeom>
          <a:solidFill>
            <a:srgbClr val="E8EEF8"/>
          </a:solidFill>
          <a:ln w="12700">
            <a:solidFill>
              <a:srgbClr val="E8EEF8"/>
            </a:solidFill>
            <a:prstDash val="solid"/>
          </a:ln>
        </p:spPr>
      </p:sp>
      <p:sp>
        <p:nvSpPr>
          <p:cNvPr id="22" name="Shape 20"/>
          <p:cNvSpPr/>
          <p:nvPr/>
        </p:nvSpPr>
        <p:spPr>
          <a:xfrm>
            <a:off x="841248" y="3310128"/>
            <a:ext cx="2733446" cy="182880"/>
          </a:xfrm>
          <a:prstGeom prst="rect">
            <a:avLst/>
          </a:prstGeom>
          <a:solidFill>
            <a:srgbClr val="E8EEF8"/>
          </a:solidFill>
          <a:ln w="12700">
            <a:solidFill>
              <a:srgbClr val="E8EEF8"/>
            </a:solidFill>
            <a:prstDash val="solid"/>
          </a:ln>
        </p:spPr>
      </p:sp>
      <p:sp>
        <p:nvSpPr>
          <p:cNvPr id="23" name="Icono table"/>
          <p:cNvSpPr/>
          <p:nvPr/>
        </p:nvSpPr>
        <p:spPr>
          <a:xfrm>
            <a:off x="987552"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4" name="Text 22"/>
          <p:cNvSpPr/>
          <p:nvPr/>
        </p:nvSpPr>
        <p:spPr>
          <a:xfrm>
            <a:off x="1353312"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5" name="Icono key-round"/>
          <p:cNvSpPr/>
          <p:nvPr/>
        </p:nvSpPr>
        <p:spPr>
          <a:xfrm>
            <a:off x="996696"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6" name="Text 24"/>
          <p:cNvSpPr/>
          <p:nvPr/>
        </p:nvSpPr>
        <p:spPr>
          <a:xfrm>
            <a:off x="1280160"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27" name="Shape 25"/>
          <p:cNvSpPr/>
          <p:nvPr/>
        </p:nvSpPr>
        <p:spPr>
          <a:xfrm>
            <a:off x="978408" y="4096512"/>
            <a:ext cx="2459126" cy="0"/>
          </a:xfrm>
          <a:prstGeom prst="line">
            <a:avLst/>
          </a:prstGeom>
          <a:noFill/>
          <a:ln w="9525">
            <a:solidFill>
              <a:srgbClr val="DFE6F0"/>
            </a:solidFill>
            <a:prstDash val="solid"/>
          </a:ln>
        </p:spPr>
      </p:sp>
      <p:sp>
        <p:nvSpPr>
          <p:cNvPr id="28" name="Icono hash"/>
          <p:cNvSpPr/>
          <p:nvPr/>
        </p:nvSpPr>
        <p:spPr>
          <a:xfrm>
            <a:off x="996696"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9" name="Text 27"/>
          <p:cNvSpPr/>
          <p:nvPr/>
        </p:nvSpPr>
        <p:spPr>
          <a:xfrm>
            <a:off x="1280160"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endParaRPr lang="en-US" sz="1400" dirty="0"/>
          </a:p>
        </p:txBody>
      </p:sp>
      <p:sp>
        <p:nvSpPr>
          <p:cNvPr id="30" name="Shape 28"/>
          <p:cNvSpPr/>
          <p:nvPr/>
        </p:nvSpPr>
        <p:spPr>
          <a:xfrm>
            <a:off x="978408" y="4663440"/>
            <a:ext cx="2459126" cy="0"/>
          </a:xfrm>
          <a:prstGeom prst="line">
            <a:avLst/>
          </a:prstGeom>
          <a:noFill/>
          <a:ln w="9525">
            <a:solidFill>
              <a:srgbClr val="DFE6F0"/>
            </a:solidFill>
            <a:prstDash val="solid"/>
          </a:ln>
        </p:spPr>
      </p:sp>
      <p:sp>
        <p:nvSpPr>
          <p:cNvPr id="31" name="Icono hash"/>
          <p:cNvSpPr/>
          <p:nvPr/>
        </p:nvSpPr>
        <p:spPr>
          <a:xfrm>
            <a:off x="996696"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2" name="Text 30"/>
          <p:cNvSpPr/>
          <p:nvPr/>
        </p:nvSpPr>
        <p:spPr>
          <a:xfrm>
            <a:off x="1280160"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estado</a:t>
            </a:r>
            <a:pPr indent="0" marL="0">
              <a:buNone/>
            </a:pPr>
            <a:r>
              <a:rPr lang="en-US" sz="1400" dirty="0">
                <a:solidFill>
                  <a:srgbClr val="55627E"/>
                </a:solidFill>
                <a:latin typeface="Segoe UI" pitchFamily="34" charset="0"/>
                <a:ea typeface="Segoe UI" pitchFamily="34" charset="-122"/>
                <a:cs typeface="Segoe UI" pitchFamily="34" charset="-120"/>
              </a:rPr>
              <a:t>  CHECK (4 estados)</a:t>
            </a:r>
            <a:endParaRPr lang="en-US" sz="1400" dirty="0"/>
          </a:p>
        </p:txBody>
      </p:sp>
      <p:sp>
        <p:nvSpPr>
          <p:cNvPr id="33" name="Shape 31"/>
          <p:cNvSpPr/>
          <p:nvPr/>
        </p:nvSpPr>
        <p:spPr>
          <a:xfrm>
            <a:off x="3803294"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3803294" y="2980944"/>
            <a:ext cx="2733446" cy="512064"/>
          </a:xfrm>
          <a:prstGeom prst="roundRect">
            <a:avLst>
              <a:gd name="adj" fmla="val 25000"/>
            </a:avLst>
          </a:prstGeom>
          <a:solidFill>
            <a:srgbClr val="E8EEF8"/>
          </a:solidFill>
          <a:ln w="12700">
            <a:solidFill>
              <a:srgbClr val="E8EEF8"/>
            </a:solidFill>
            <a:prstDash val="solid"/>
          </a:ln>
        </p:spPr>
      </p:sp>
      <p:sp>
        <p:nvSpPr>
          <p:cNvPr id="35" name="Shape 33"/>
          <p:cNvSpPr/>
          <p:nvPr/>
        </p:nvSpPr>
        <p:spPr>
          <a:xfrm>
            <a:off x="3803294" y="3310128"/>
            <a:ext cx="2733446" cy="182880"/>
          </a:xfrm>
          <a:prstGeom prst="rect">
            <a:avLst/>
          </a:prstGeom>
          <a:solidFill>
            <a:srgbClr val="E8EEF8"/>
          </a:solidFill>
          <a:ln w="12700">
            <a:solidFill>
              <a:srgbClr val="E8EEF8"/>
            </a:solidFill>
            <a:prstDash val="solid"/>
          </a:ln>
        </p:spPr>
      </p:sp>
      <p:sp>
        <p:nvSpPr>
          <p:cNvPr id="36" name="Icono table"/>
          <p:cNvSpPr/>
          <p:nvPr/>
        </p:nvSpPr>
        <p:spPr>
          <a:xfrm>
            <a:off x="3949598"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7" name="Text 35"/>
          <p:cNvSpPr/>
          <p:nvPr/>
        </p:nvSpPr>
        <p:spPr>
          <a:xfrm>
            <a:off x="4315358"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8" name="Icono key-round"/>
          <p:cNvSpPr/>
          <p:nvPr/>
        </p:nvSpPr>
        <p:spPr>
          <a:xfrm>
            <a:off x="3958742"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9" name="Text 37"/>
          <p:cNvSpPr/>
          <p:nvPr/>
        </p:nvSpPr>
        <p:spPr>
          <a:xfrm>
            <a:off x="4242206"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solicitud_id</a:t>
            </a:r>
            <a:pPr indent="0" marL="0">
              <a:buNone/>
            </a:pPr>
            <a:r>
              <a:rPr lang="en-US" sz="1400" dirty="0">
                <a:solidFill>
                  <a:srgbClr val="55627E"/>
                </a:solidFill>
                <a:latin typeface="Segoe UI" pitchFamily="34" charset="0"/>
                <a:ea typeface="Segoe UI" pitchFamily="34" charset="-122"/>
                <a:cs typeface="Segoe UI" pitchFamily="34" charset="-120"/>
              </a:rPr>
              <a:t>  FK</a:t>
            </a:r>
            <a:endParaRPr lang="en-US" sz="1400" dirty="0"/>
          </a:p>
        </p:txBody>
      </p:sp>
      <p:sp>
        <p:nvSpPr>
          <p:cNvPr id="40" name="Shape 38"/>
          <p:cNvSpPr/>
          <p:nvPr/>
        </p:nvSpPr>
        <p:spPr>
          <a:xfrm>
            <a:off x="3940454" y="4096512"/>
            <a:ext cx="2459126" cy="0"/>
          </a:xfrm>
          <a:prstGeom prst="line">
            <a:avLst/>
          </a:prstGeom>
          <a:noFill/>
          <a:ln w="9525">
            <a:solidFill>
              <a:srgbClr val="DFE6F0"/>
            </a:solidFill>
            <a:prstDash val="solid"/>
          </a:ln>
        </p:spPr>
      </p:sp>
      <p:sp>
        <p:nvSpPr>
          <p:cNvPr id="41" name="Icono hash"/>
          <p:cNvSpPr/>
          <p:nvPr/>
        </p:nvSpPr>
        <p:spPr>
          <a:xfrm>
            <a:off x="3958742"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2" name="Text 40"/>
          <p:cNvSpPr/>
          <p:nvPr/>
        </p:nvSpPr>
        <p:spPr>
          <a:xfrm>
            <a:off x="4242206"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3" name="Shape 41"/>
          <p:cNvSpPr/>
          <p:nvPr/>
        </p:nvSpPr>
        <p:spPr>
          <a:xfrm>
            <a:off x="3940454" y="4663440"/>
            <a:ext cx="2459126" cy="0"/>
          </a:xfrm>
          <a:prstGeom prst="line">
            <a:avLst/>
          </a:prstGeom>
          <a:noFill/>
          <a:ln w="9525">
            <a:solidFill>
              <a:srgbClr val="DFE6F0"/>
            </a:solidFill>
            <a:prstDash val="solid"/>
          </a:ln>
        </p:spPr>
      </p:sp>
      <p:sp>
        <p:nvSpPr>
          <p:cNvPr id="44" name="Icono hash"/>
          <p:cNvSpPr/>
          <p:nvPr/>
        </p:nvSpPr>
        <p:spPr>
          <a:xfrm>
            <a:off x="3958742"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5" name="Text 43"/>
          <p:cNvSpPr/>
          <p:nvPr/>
        </p:nvSpPr>
        <p:spPr>
          <a:xfrm>
            <a:off x="4242206"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procesado</a:t>
            </a:r>
            <a:pPr indent="0" marL="0">
              <a:buNone/>
            </a:pPr>
            <a:r>
              <a:rPr lang="en-US" sz="1400" dirty="0">
                <a:solidFill>
                  <a:srgbClr val="55627E"/>
                </a:solidFill>
                <a:latin typeface="Segoe UI" pitchFamily="34" charset="0"/>
                <a:ea typeface="Segoe UI" pitchFamily="34" charset="-122"/>
                <a:cs typeface="Segoe UI" pitchFamily="34" charset="-120"/>
              </a:rPr>
              <a:t>  false = pendiente</a:t>
            </a:r>
            <a:endParaRPr lang="en-US" sz="1400" dirty="0"/>
          </a:p>
        </p:txBody>
      </p:sp>
      <p:sp>
        <p:nvSpPr>
          <p:cNvPr id="46" name="Shape 44"/>
          <p:cNvSpPr/>
          <p:nvPr/>
        </p:nvSpPr>
        <p:spPr>
          <a:xfrm>
            <a:off x="8502701" y="2020824"/>
            <a:ext cx="3076346" cy="3511296"/>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8502701" y="2020824"/>
            <a:ext cx="3076346" cy="749808"/>
          </a:xfrm>
          <a:prstGeom prst="roundRect">
            <a:avLst>
              <a:gd name="adj" fmla="val 17073"/>
            </a:avLst>
          </a:prstGeom>
          <a:solidFill>
            <a:srgbClr val="0B6E8A"/>
          </a:solidFill>
          <a:ln w="12700">
            <a:solidFill>
              <a:srgbClr val="0B6E8A"/>
            </a:solidFill>
            <a:prstDash val="solid"/>
          </a:ln>
        </p:spPr>
      </p:sp>
      <p:sp>
        <p:nvSpPr>
          <p:cNvPr id="48" name="Shape 46"/>
          <p:cNvSpPr/>
          <p:nvPr/>
        </p:nvSpPr>
        <p:spPr>
          <a:xfrm>
            <a:off x="8502701" y="2478024"/>
            <a:ext cx="3076346" cy="292608"/>
          </a:xfrm>
          <a:prstGeom prst="rect">
            <a:avLst/>
          </a:prstGeom>
          <a:solidFill>
            <a:srgbClr val="0B6E8A"/>
          </a:solidFill>
          <a:ln w="12700">
            <a:solidFill>
              <a:srgbClr val="0B6E8A"/>
            </a:solidFill>
            <a:prstDash val="solid"/>
          </a:ln>
        </p:spPr>
      </p:sp>
      <p:sp>
        <p:nvSpPr>
          <p:cNvPr id="49" name="Icono database"/>
          <p:cNvSpPr/>
          <p:nvPr/>
        </p:nvSpPr>
        <p:spPr>
          <a:xfrm>
            <a:off x="8722157"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0" name="Text 48"/>
          <p:cNvSpPr/>
          <p:nvPr/>
        </p:nvSpPr>
        <p:spPr>
          <a:xfrm>
            <a:off x="9252509" y="2093976"/>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1" name="Text 49"/>
          <p:cNvSpPr/>
          <p:nvPr/>
        </p:nvSpPr>
        <p:spPr>
          <a:xfrm>
            <a:off x="9252509" y="2441448"/>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2" name="Shape 50"/>
          <p:cNvSpPr/>
          <p:nvPr/>
        </p:nvSpPr>
        <p:spPr>
          <a:xfrm>
            <a:off x="8731301" y="2980944"/>
            <a:ext cx="26191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8731301" y="2980944"/>
            <a:ext cx="2619146" cy="512064"/>
          </a:xfrm>
          <a:prstGeom prst="roundRect">
            <a:avLst>
              <a:gd name="adj" fmla="val 25000"/>
            </a:avLst>
          </a:prstGeom>
          <a:solidFill>
            <a:srgbClr val="E3F4FA"/>
          </a:solidFill>
          <a:ln w="12700">
            <a:solidFill>
              <a:srgbClr val="E3F4FA"/>
            </a:solidFill>
            <a:prstDash val="solid"/>
          </a:ln>
        </p:spPr>
      </p:sp>
      <p:sp>
        <p:nvSpPr>
          <p:cNvPr id="54" name="Shape 52"/>
          <p:cNvSpPr/>
          <p:nvPr/>
        </p:nvSpPr>
        <p:spPr>
          <a:xfrm>
            <a:off x="8731301" y="3310128"/>
            <a:ext cx="2619146" cy="182880"/>
          </a:xfrm>
          <a:prstGeom prst="rect">
            <a:avLst/>
          </a:prstGeom>
          <a:solidFill>
            <a:srgbClr val="E3F4FA"/>
          </a:solidFill>
          <a:ln w="12700">
            <a:solidFill>
              <a:srgbClr val="E3F4FA"/>
            </a:solidFill>
            <a:prstDash val="solid"/>
          </a:ln>
        </p:spPr>
      </p:sp>
      <p:sp>
        <p:nvSpPr>
          <p:cNvPr id="55" name="Icono table"/>
          <p:cNvSpPr/>
          <p:nvPr/>
        </p:nvSpPr>
        <p:spPr>
          <a:xfrm>
            <a:off x="8877605"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56" name="Text 54"/>
          <p:cNvSpPr/>
          <p:nvPr/>
        </p:nvSpPr>
        <p:spPr>
          <a:xfrm>
            <a:off x="9243365" y="3035808"/>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57" name="Icono key-round"/>
          <p:cNvSpPr/>
          <p:nvPr/>
        </p:nvSpPr>
        <p:spPr>
          <a:xfrm>
            <a:off x="8886749"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58" name="Text 56"/>
          <p:cNvSpPr/>
          <p:nvPr/>
        </p:nvSpPr>
        <p:spPr>
          <a:xfrm>
            <a:off x="9170213" y="3529584"/>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59" name="Shape 57"/>
          <p:cNvSpPr/>
          <p:nvPr/>
        </p:nvSpPr>
        <p:spPr>
          <a:xfrm>
            <a:off x="8868461" y="4096512"/>
            <a:ext cx="2344826" cy="0"/>
          </a:xfrm>
          <a:prstGeom prst="line">
            <a:avLst/>
          </a:prstGeom>
          <a:noFill/>
          <a:ln w="9525">
            <a:solidFill>
              <a:srgbClr val="DFE6F0"/>
            </a:solidFill>
            <a:prstDash val="solid"/>
          </a:ln>
        </p:spPr>
      </p:sp>
      <p:sp>
        <p:nvSpPr>
          <p:cNvPr id="60" name="Icono hash"/>
          <p:cNvSpPr/>
          <p:nvPr/>
        </p:nvSpPr>
        <p:spPr>
          <a:xfrm>
            <a:off x="8886749"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1" name="Text 59"/>
          <p:cNvSpPr/>
          <p:nvPr/>
        </p:nvSpPr>
        <p:spPr>
          <a:xfrm>
            <a:off x="9170213" y="4096512"/>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un registro por evento recibido</a:t>
            </a:r>
            <a:endParaRPr lang="en-US" sz="1400" dirty="0"/>
          </a:p>
        </p:txBody>
      </p:sp>
      <p:sp>
        <p:nvSpPr>
          <p:cNvPr id="62" name="Shape 60"/>
          <p:cNvSpPr/>
          <p:nvPr/>
        </p:nvSpPr>
        <p:spPr>
          <a:xfrm>
            <a:off x="6838493" y="4142232"/>
            <a:ext cx="1591056" cy="0"/>
          </a:xfrm>
          <a:prstGeom prst="line">
            <a:avLst/>
          </a:prstGeom>
          <a:noFill/>
          <a:ln w="31750">
            <a:solidFill>
              <a:srgbClr val="0B6E8A"/>
            </a:solidFill>
            <a:prstDash val="dash"/>
            <a:tailEnd type="triangle"/>
          </a:ln>
        </p:spPr>
      </p:sp>
      <p:sp>
        <p:nvSpPr>
          <p:cNvPr id="63" name="Text 61"/>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4" name="Text 62"/>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65" name="Shape 63"/>
          <p:cNvSpPr/>
          <p:nvPr/>
        </p:nvSpPr>
        <p:spPr>
          <a:xfrm>
            <a:off x="0" y="5961888"/>
            <a:ext cx="12191695" cy="475488"/>
          </a:xfrm>
          <a:prstGeom prst="rect">
            <a:avLst/>
          </a:prstGeom>
          <a:solidFill>
            <a:srgbClr val="0B2350"/>
          </a:solidFill>
          <a:ln w="12700">
            <a:solidFill>
              <a:srgbClr val="0B2350"/>
            </a:solidFill>
            <a:prstDash val="solid"/>
          </a:ln>
        </p:spPr>
      </p:sp>
      <p:sp>
        <p:nvSpPr>
          <p:cNvPr id="6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7" name="Text 6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contrato del evento es compartido.</a:t>
            </a:r>
            <a:endParaRPr lang="en-US" sz="1400" dirty="0"/>
          </a:p>
        </p:txBody>
      </p:sp>
      <p:sp>
        <p:nvSpPr>
          <p:cNvPr id="68" name="Text 6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a:t>
            </a:r>
            <a:endParaRPr lang="en-US" sz="1700" dirty="0"/>
          </a:p>
        </p:txBody>
      </p:sp>
      <p:sp>
        <p:nvSpPr>
          <p:cNvPr id="14" name="Shape 12"/>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285232"/>
            <a:ext cx="438912" cy="438912"/>
          </a:xfrm>
          <a:prstGeom prst="ellipse">
            <a:avLst/>
          </a:prstGeom>
          <a:solidFill>
            <a:srgbClr val="FFFFFF"/>
          </a:solidFill>
          <a:ln w="12700">
            <a:solidFill>
              <a:srgbClr val="FFFFFF"/>
            </a:solidFill>
            <a:prstDash val="solid"/>
          </a:ln>
        </p:spPr>
      </p:sp>
      <p:sp>
        <p:nvSpPr>
          <p:cNvPr id="16"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7" name="Text 15"/>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8" name="Shape 16"/>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20" name="Text 18"/>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3" name="Shape 21"/>
          <p:cNvSpPr/>
          <p:nvPr/>
        </p:nvSpPr>
        <p:spPr>
          <a:xfrm>
            <a:off x="2431504" y="2185416"/>
            <a:ext cx="1845488" cy="0"/>
          </a:xfrm>
          <a:prstGeom prst="line">
            <a:avLst/>
          </a:prstGeom>
          <a:noFill/>
          <a:ln w="38100">
            <a:solidFill>
              <a:srgbClr val="2BA6CB"/>
            </a:solidFill>
            <a:prstDash val="solid"/>
            <a:tailEnd type="triangle"/>
          </a:ln>
        </p:spPr>
      </p:sp>
      <p:sp>
        <p:nvSpPr>
          <p:cNvPr id="24" name="Shape 22"/>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6" name="Text 24"/>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8" name="Text 26"/>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9" name="Shape 27"/>
          <p:cNvSpPr/>
          <p:nvPr/>
        </p:nvSpPr>
        <p:spPr>
          <a:xfrm>
            <a:off x="5173104" y="2185416"/>
            <a:ext cx="1845488" cy="0"/>
          </a:xfrm>
          <a:prstGeom prst="line">
            <a:avLst/>
          </a:prstGeom>
          <a:noFill/>
          <a:ln w="38100">
            <a:solidFill>
              <a:srgbClr val="2BA6CB"/>
            </a:solidFill>
            <a:prstDash val="solid"/>
            <a:tailEnd type="triangle"/>
          </a:ln>
        </p:spPr>
      </p:sp>
      <p:sp>
        <p:nvSpPr>
          <p:cNvPr id="30" name="Shape 28"/>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2" name="Text 30"/>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4" name="Text 32"/>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5" name="Shape 33"/>
          <p:cNvSpPr/>
          <p:nvPr/>
        </p:nvSpPr>
        <p:spPr>
          <a:xfrm>
            <a:off x="7914704" y="2185416"/>
            <a:ext cx="1845488" cy="0"/>
          </a:xfrm>
          <a:prstGeom prst="line">
            <a:avLst/>
          </a:prstGeom>
          <a:noFill/>
          <a:ln w="38100">
            <a:solidFill>
              <a:srgbClr val="2BA6CB"/>
            </a:solidFill>
            <a:prstDash val="solid"/>
            <a:tailEnd type="triangle"/>
          </a:ln>
        </p:spPr>
      </p:sp>
      <p:sp>
        <p:nvSpPr>
          <p:cNvPr id="36" name="Shape 34"/>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8" name="Text 36"/>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40" name="Text 38"/>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1" name="Shape 39"/>
          <p:cNvSpPr/>
          <p:nvPr/>
        </p:nvSpPr>
        <p:spPr>
          <a:xfrm>
            <a:off x="7466648" y="3602736"/>
            <a:ext cx="0" cy="955548"/>
          </a:xfrm>
          <a:prstGeom prst="line">
            <a:avLst/>
          </a:prstGeom>
          <a:noFill/>
          <a:ln w="25400">
            <a:solidFill>
              <a:srgbClr val="8A4B06"/>
            </a:solidFill>
            <a:prstDash val="dash"/>
          </a:ln>
        </p:spPr>
      </p:sp>
      <p:sp>
        <p:nvSpPr>
          <p:cNvPr id="42" name="Shape 40"/>
          <p:cNvSpPr/>
          <p:nvPr/>
        </p:nvSpPr>
        <p:spPr>
          <a:xfrm flipH="1">
            <a:off x="7372807" y="4558284"/>
            <a:ext cx="93840" cy="0"/>
          </a:xfrm>
          <a:prstGeom prst="line">
            <a:avLst/>
          </a:prstGeom>
          <a:noFill/>
          <a:ln w="25400">
            <a:solidFill>
              <a:srgbClr val="8A4B06"/>
            </a:solidFill>
            <a:prstDash val="dash"/>
            <a:tailEnd type="triangle"/>
          </a:ln>
        </p:spPr>
      </p:sp>
      <p:sp>
        <p:nvSpPr>
          <p:cNvPr id="43" name="Text 41"/>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4" name="Shape 42"/>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537399" y="4279392"/>
            <a:ext cx="548640" cy="548640"/>
          </a:xfrm>
          <a:prstGeom prst="ellipse">
            <a:avLst/>
          </a:prstGeom>
          <a:solidFill>
            <a:srgbClr val="FFFFFF"/>
          </a:solidFill>
          <a:ln w="12700">
            <a:solidFill>
              <a:srgbClr val="FFFFFF"/>
            </a:solidFill>
            <a:prstDash val="solid"/>
          </a:ln>
        </p:spPr>
      </p:sp>
      <p:sp>
        <p:nvSpPr>
          <p:cNvPr id="46" name="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7" name="Text 45"/>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8" name="Text 46"/>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8" name="Shape 16"/>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20" name="Text 18"/>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2" name="Text 20"/>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3" name="Shape 21"/>
          <p:cNvSpPr/>
          <p:nvPr/>
        </p:nvSpPr>
        <p:spPr>
          <a:xfrm>
            <a:off x="2692108" y="2446020"/>
            <a:ext cx="1324280" cy="0"/>
          </a:xfrm>
          <a:prstGeom prst="line">
            <a:avLst/>
          </a:prstGeom>
          <a:noFill/>
          <a:ln w="38100">
            <a:solidFill>
              <a:srgbClr val="2BA6CB"/>
            </a:solidFill>
            <a:prstDash val="solid"/>
            <a:tailEnd type="triangle"/>
          </a:ln>
        </p:spPr>
      </p:sp>
      <p:sp>
        <p:nvSpPr>
          <p:cNvPr id="24" name="Shape 22"/>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6" name="Text 24"/>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8" name="Text 26"/>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9" name="Shape 27"/>
          <p:cNvSpPr/>
          <p:nvPr/>
        </p:nvSpPr>
        <p:spPr>
          <a:xfrm>
            <a:off x="5433708" y="2446020"/>
            <a:ext cx="1324280" cy="0"/>
          </a:xfrm>
          <a:prstGeom prst="line">
            <a:avLst/>
          </a:prstGeom>
          <a:noFill/>
          <a:ln w="38100">
            <a:solidFill>
              <a:srgbClr val="2BA6CB"/>
            </a:solidFill>
            <a:prstDash val="solid"/>
            <a:tailEnd type="triangle"/>
          </a:ln>
        </p:spPr>
      </p:sp>
      <p:sp>
        <p:nvSpPr>
          <p:cNvPr id="30" name="Shape 28"/>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2" name="Text 30"/>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4" name="Text 32"/>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5" name="Shape 33"/>
          <p:cNvSpPr/>
          <p:nvPr/>
        </p:nvSpPr>
        <p:spPr>
          <a:xfrm>
            <a:off x="8175308" y="2446020"/>
            <a:ext cx="1324280" cy="0"/>
          </a:xfrm>
          <a:prstGeom prst="line">
            <a:avLst/>
          </a:prstGeom>
          <a:noFill/>
          <a:ln w="38100">
            <a:solidFill>
              <a:srgbClr val="2BA6CB"/>
            </a:solidFill>
            <a:prstDash val="solid"/>
            <a:tailEnd type="triangle"/>
          </a:ln>
        </p:spPr>
      </p:sp>
      <p:sp>
        <p:nvSpPr>
          <p:cNvPr id="36" name="Shape 34"/>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8" name="Text 36"/>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40" name="Text 38"/>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41" name="Shape 39"/>
          <p:cNvSpPr/>
          <p:nvPr/>
        </p:nvSpPr>
        <p:spPr>
          <a:xfrm>
            <a:off x="4725048" y="4123944"/>
            <a:ext cx="0" cy="955548"/>
          </a:xfrm>
          <a:prstGeom prst="line">
            <a:avLst/>
          </a:prstGeom>
          <a:noFill/>
          <a:ln w="25400">
            <a:solidFill>
              <a:srgbClr val="55627E"/>
            </a:solidFill>
            <a:prstDash val="dash"/>
          </a:ln>
        </p:spPr>
      </p:sp>
      <p:sp>
        <p:nvSpPr>
          <p:cNvPr id="42" name="Shape 40"/>
          <p:cNvSpPr/>
          <p:nvPr/>
        </p:nvSpPr>
        <p:spPr>
          <a:xfrm>
            <a:off x="4725048" y="5079492"/>
            <a:ext cx="457200" cy="0"/>
          </a:xfrm>
          <a:prstGeom prst="line">
            <a:avLst/>
          </a:prstGeom>
          <a:noFill/>
          <a:ln w="25400">
            <a:solidFill>
              <a:srgbClr val="55627E"/>
            </a:solidFill>
            <a:prstDash val="dash"/>
            <a:tailEnd type="triangle"/>
          </a:ln>
        </p:spPr>
      </p:sp>
      <p:sp>
        <p:nvSpPr>
          <p:cNvPr id="43" name="Text 41"/>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4" name="Shape 42"/>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5346840" y="4800600"/>
            <a:ext cx="548640" cy="548640"/>
          </a:xfrm>
          <a:prstGeom prst="ellipse">
            <a:avLst/>
          </a:prstGeom>
          <a:solidFill>
            <a:srgbClr val="FFFFFF"/>
          </a:solidFill>
          <a:ln w="12700">
            <a:solidFill>
              <a:srgbClr val="FFFFFF"/>
            </a:solidFill>
            <a:prstDash val="solid"/>
          </a:ln>
        </p:spPr>
      </p:sp>
      <p:sp>
        <p:nvSpPr>
          <p:cNvPr id="46" name="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7" name="Text 45"/>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8" name="Text 46"/>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950" dirty="0">
                <a:solidFill>
                  <a:srgbClr val="55627E"/>
                </a:solidFill>
                <a:latin typeface="Segoe UI" pitchFamily="34" charset="0"/>
                <a:ea typeface="Segoe UI" pitchFamily="34" charset="-122"/>
                <a:cs typeface="Segoe UI" pitchFamily="34" charset="-120"/>
              </a:rPr>
              <a:t>Hibernate escribe el SQL rutinario; índices, CHECK y transacciones siguen siendo diseño de BD.</a:t>
            </a:r>
            <a:endParaRPr lang="en-US" sz="9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150" b="1" dirty="0">
                <a:solidFill>
                  <a:srgbClr val="0B1A3C"/>
                </a:solidFill>
                <a:latin typeface="Segoe UI" pitchFamily="34" charset="0"/>
                <a:ea typeface="Segoe UI" pitchFamily="34" charset="-122"/>
                <a:cs typeface="Segoe UI" pitchFamily="34" charset="-120"/>
              </a:rPr>
              <a:t>Reglas que se prueban en código y una base que se cuida sola.</a:t>
            </a:r>
            <a:endParaRPr lang="en-US" sz="115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una transacción local; el relevador entrega después.</a:t>
            </a:r>
            <a:endParaRPr lang="en-US" sz="11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eventoId fijo y una tabla de eventos ya procesados.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 puede reintentar sin miedo a duplicar efectos.</a:t>
            </a:r>
            <a:endParaRPr lang="en-US" sz="135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idempotente, CHECK, índice parcial y validación al arrancar.</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Docker y qué es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empaqueta la aplicación; Kubernetes administra lo empaquetado.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8" name="Shape 16"/>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20" name="Shape 18"/>
          <p:cNvSpPr/>
          <p:nvPr/>
        </p:nvSpPr>
        <p:spPr>
          <a:xfrm>
            <a:off x="612648" y="2267712"/>
            <a:ext cx="5163160" cy="365760"/>
          </a:xfrm>
          <a:prstGeom prst="rect">
            <a:avLst/>
          </a:prstGeom>
          <a:solidFill>
            <a:srgbClr val="0B6E8A"/>
          </a:solidFill>
          <a:ln w="12700">
            <a:solidFill>
              <a:srgbClr val="0B6E8A"/>
            </a:solidFill>
            <a:prstDash val="solid"/>
          </a:ln>
        </p:spPr>
      </p:sp>
      <p:sp>
        <p:nvSpPr>
          <p:cNvPr id="21" name="Shape 19"/>
          <p:cNvSpPr/>
          <p:nvPr/>
        </p:nvSpPr>
        <p:spPr>
          <a:xfrm>
            <a:off x="841248" y="1874520"/>
            <a:ext cx="603504" cy="603504"/>
          </a:xfrm>
          <a:prstGeom prst="ellipse">
            <a:avLst/>
          </a:prstGeom>
          <a:solidFill>
            <a:srgbClr val="FFFFFF"/>
          </a:solidFill>
          <a:ln w="12700">
            <a:solidFill>
              <a:srgbClr val="FFFFFF"/>
            </a:solidFill>
            <a:prstDash val="solid"/>
          </a:ln>
        </p:spPr>
      </p:sp>
      <p:sp>
        <p:nvSpPr>
          <p:cNvPr id="22"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3" name="Text 21"/>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la caja</a:t>
            </a:r>
            <a:endParaRPr lang="en-US" sz="1900" dirty="0"/>
          </a:p>
        </p:txBody>
      </p:sp>
      <p:sp>
        <p:nvSpPr>
          <p:cNvPr id="24"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5" name="Text 23"/>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Empaqueta la app con Java y todo lo que usa</a:t>
            </a:r>
            <a:endParaRPr lang="en-US" sz="1500" dirty="0"/>
          </a:p>
        </p:txBody>
      </p:sp>
      <p:sp>
        <p:nvSpPr>
          <p:cNvPr id="26" name="Shape 24"/>
          <p:cNvSpPr/>
          <p:nvPr/>
        </p:nvSpPr>
        <p:spPr>
          <a:xfrm>
            <a:off x="886968" y="3479292"/>
            <a:ext cx="4614520" cy="0"/>
          </a:xfrm>
          <a:prstGeom prst="line">
            <a:avLst/>
          </a:prstGeom>
          <a:noFill/>
          <a:ln w="9525">
            <a:solidFill>
              <a:srgbClr val="DFE6F0"/>
            </a:solidFill>
            <a:prstDash val="solid"/>
          </a:ln>
        </p:spPr>
      </p:sp>
      <p:sp>
        <p:nvSpPr>
          <p:cNvPr id="27"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8" name="Text 26"/>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Imagen: un paquete que no cambia</a:t>
            </a:r>
            <a:endParaRPr lang="en-US" sz="1500" dirty="0"/>
          </a:p>
        </p:txBody>
      </p:sp>
      <p:sp>
        <p:nvSpPr>
          <p:cNvPr id="29" name="Shape 27"/>
          <p:cNvSpPr/>
          <p:nvPr/>
        </p:nvSpPr>
        <p:spPr>
          <a:xfrm>
            <a:off x="886968" y="4142232"/>
            <a:ext cx="4614520" cy="0"/>
          </a:xfrm>
          <a:prstGeom prst="line">
            <a:avLst/>
          </a:prstGeom>
          <a:noFill/>
          <a:ln w="9525">
            <a:solidFill>
              <a:srgbClr val="DFE6F0"/>
            </a:solidFill>
            <a:prstDash val="solid"/>
          </a:ln>
        </p:spPr>
      </p:sp>
      <p:sp>
        <p:nvSpPr>
          <p:cNvPr id="30"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1" name="Text 29"/>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y en un servidor</a:t>
            </a:r>
            <a:endParaRPr lang="en-US" sz="1500" dirty="0"/>
          </a:p>
        </p:txBody>
      </p:sp>
      <p:sp>
        <p:nvSpPr>
          <p:cNvPr id="32" name="Shape 30"/>
          <p:cNvSpPr/>
          <p:nvPr/>
        </p:nvSpPr>
        <p:spPr>
          <a:xfrm>
            <a:off x="886968" y="4805172"/>
            <a:ext cx="4614520" cy="0"/>
          </a:xfrm>
          <a:prstGeom prst="line">
            <a:avLst/>
          </a:prstGeom>
          <a:noFill/>
          <a:ln w="9525">
            <a:solidFill>
              <a:srgbClr val="DFE6F0"/>
            </a:solidFill>
            <a:prstDash val="solid"/>
          </a:ln>
        </p:spPr>
      </p:sp>
      <p:sp>
        <p:nvSpPr>
          <p:cNvPr id="33"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4" name="Text 32"/>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5" name="Shape 33"/>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7" name="Shape 35"/>
          <p:cNvSpPr/>
          <p:nvPr/>
        </p:nvSpPr>
        <p:spPr>
          <a:xfrm>
            <a:off x="6415888" y="2267712"/>
            <a:ext cx="5163160" cy="365760"/>
          </a:xfrm>
          <a:prstGeom prst="rect">
            <a:avLst/>
          </a:prstGeom>
          <a:solidFill>
            <a:srgbClr val="0A6648"/>
          </a:solidFill>
          <a:ln w="12700">
            <a:solidFill>
              <a:srgbClr val="0A6648"/>
            </a:solidFill>
            <a:prstDash val="solid"/>
          </a:ln>
        </p:spPr>
      </p:sp>
      <p:sp>
        <p:nvSpPr>
          <p:cNvPr id="38" name="Shape 36"/>
          <p:cNvSpPr/>
          <p:nvPr/>
        </p:nvSpPr>
        <p:spPr>
          <a:xfrm>
            <a:off x="6644488" y="1874520"/>
            <a:ext cx="603504" cy="603504"/>
          </a:xfrm>
          <a:prstGeom prst="ellipse">
            <a:avLst/>
          </a:prstGeom>
          <a:solidFill>
            <a:srgbClr val="FFFFFF"/>
          </a:solidFill>
          <a:ln w="12700">
            <a:solidFill>
              <a:srgbClr val="FFFFFF"/>
            </a:solidFill>
            <a:prstDash val="solid"/>
          </a:ln>
        </p:spPr>
      </p:sp>
      <p:sp>
        <p:nvSpPr>
          <p:cNvPr id="39" name="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40" name="Text 38"/>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el administrador</a:t>
            </a:r>
            <a:endParaRPr lang="en-US" sz="1900" dirty="0"/>
          </a:p>
        </p:txBody>
      </p:sp>
      <p:sp>
        <p:nvSpPr>
          <p:cNvPr id="41" name="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2" name="Text 40"/>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3" name="Shape 41"/>
          <p:cNvSpPr/>
          <p:nvPr/>
        </p:nvSpPr>
        <p:spPr>
          <a:xfrm>
            <a:off x="6690208" y="3479292"/>
            <a:ext cx="4614520" cy="0"/>
          </a:xfrm>
          <a:prstGeom prst="line">
            <a:avLst/>
          </a:prstGeom>
          <a:noFill/>
          <a:ln w="9525">
            <a:solidFill>
              <a:srgbClr val="DFE6F0"/>
            </a:solidFill>
            <a:prstDash val="solid"/>
          </a:ln>
        </p:spPr>
      </p:sp>
      <p:sp>
        <p:nvSpPr>
          <p:cNvPr id="44" name="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5" name="Text 43"/>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6" name="Shape 44"/>
          <p:cNvSpPr/>
          <p:nvPr/>
        </p:nvSpPr>
        <p:spPr>
          <a:xfrm>
            <a:off x="6690208" y="4142232"/>
            <a:ext cx="4614520" cy="0"/>
          </a:xfrm>
          <a:prstGeom prst="line">
            <a:avLst/>
          </a:prstGeom>
          <a:noFill/>
          <a:ln w="9525">
            <a:solidFill>
              <a:srgbClr val="DFE6F0"/>
            </a:solidFill>
            <a:prstDash val="solid"/>
          </a:ln>
        </p:spPr>
      </p:sp>
      <p:sp>
        <p:nvSpPr>
          <p:cNvPr id="47" name="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8" name="Text 46"/>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9" name="Shape 47"/>
          <p:cNvSpPr/>
          <p:nvPr/>
        </p:nvSpPr>
        <p:spPr>
          <a:xfrm>
            <a:off x="6690208" y="4805172"/>
            <a:ext cx="4614520" cy="0"/>
          </a:xfrm>
          <a:prstGeom prst="line">
            <a:avLst/>
          </a:prstGeom>
          <a:noFill/>
          <a:ln w="9525">
            <a:solidFill>
              <a:srgbClr val="DFE6F0"/>
            </a:solidFill>
            <a:prstDash val="solid"/>
          </a:ln>
        </p:spPr>
      </p:sp>
      <p:sp>
        <p:nvSpPr>
          <p:cNvPr id="50" name="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1" name="Text 49"/>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2" name="Text 50"/>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4" name="Shape 12"/>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5"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6" name="Text 14"/>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7" name="Shape 15"/>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624328"/>
            <a:ext cx="64008" cy="1581912"/>
          </a:xfrm>
          <a:prstGeom prst="rect">
            <a:avLst/>
          </a:prstGeom>
          <a:solidFill>
            <a:srgbClr val="5B3FC4"/>
          </a:solidFill>
          <a:ln w="12700">
            <a:solidFill>
              <a:srgbClr val="5B3FC4"/>
            </a:solidFill>
            <a:prstDash val="solid"/>
          </a:ln>
        </p:spPr>
      </p:sp>
      <p:sp>
        <p:nvSpPr>
          <p:cNvPr id="19" name="Shape 17"/>
          <p:cNvSpPr/>
          <p:nvPr/>
        </p:nvSpPr>
        <p:spPr>
          <a:xfrm>
            <a:off x="813816" y="2679192"/>
            <a:ext cx="566928" cy="566928"/>
          </a:xfrm>
          <a:prstGeom prst="ellipse">
            <a:avLst/>
          </a:prstGeom>
          <a:solidFill>
            <a:srgbClr val="F1EEFD"/>
          </a:solidFill>
          <a:ln w="12700">
            <a:solidFill>
              <a:srgbClr val="F1EEFD"/>
            </a:solidFill>
            <a:prstDash val="solid"/>
          </a:ln>
        </p:spPr>
      </p:sp>
      <p:sp>
        <p:nvSpPr>
          <p:cNvPr id="20" name="Icono monitor"/>
          <p:cNvSpPr/>
          <p:nvPr/>
        </p:nvSpPr>
        <p:spPr>
          <a:xfrm>
            <a:off x="949879" y="2815255"/>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1" name="Text 19"/>
          <p:cNvSpPr/>
          <p:nvPr/>
        </p:nvSpPr>
        <p:spPr>
          <a:xfrm>
            <a:off x="1527048"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arka-lite-ui</a:t>
            </a:r>
            <a:endParaRPr lang="en-US" sz="1500" dirty="0"/>
          </a:p>
        </p:txBody>
      </p:sp>
      <p:sp>
        <p:nvSpPr>
          <p:cNvPr id="22" name="Text 20"/>
          <p:cNvSpPr/>
          <p:nvPr/>
        </p:nvSpPr>
        <p:spPr>
          <a:xfrm>
            <a:off x="86868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:8088 · la interfaz y su proxy</a:t>
            </a:r>
            <a:endParaRPr lang="en-US" sz="1300" dirty="0"/>
          </a:p>
        </p:txBody>
      </p:sp>
      <p:sp>
        <p:nvSpPr>
          <p:cNvPr id="23" name="Shape 21"/>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3399968" y="2624328"/>
            <a:ext cx="64008" cy="1581912"/>
          </a:xfrm>
          <a:prstGeom prst="rect">
            <a:avLst/>
          </a:prstGeom>
          <a:solidFill>
            <a:srgbClr val="0B2350"/>
          </a:solidFill>
          <a:ln w="12700">
            <a:solidFill>
              <a:srgbClr val="0B2350"/>
            </a:solidFill>
            <a:prstDash val="solid"/>
          </a:ln>
        </p:spPr>
      </p:sp>
      <p:sp>
        <p:nvSpPr>
          <p:cNvPr id="25" name="Shape 23"/>
          <p:cNvSpPr/>
          <p:nvPr/>
        </p:nvSpPr>
        <p:spPr>
          <a:xfrm>
            <a:off x="3601136" y="2679192"/>
            <a:ext cx="566928" cy="566928"/>
          </a:xfrm>
          <a:prstGeom prst="ellipse">
            <a:avLst/>
          </a:prstGeom>
          <a:solidFill>
            <a:srgbClr val="E8EEF8"/>
          </a:solidFill>
          <a:ln w="12700">
            <a:solidFill>
              <a:srgbClr val="E8EEF8"/>
            </a:solidFill>
            <a:prstDash val="solid"/>
          </a:ln>
        </p:spPr>
      </p:sp>
      <p:sp>
        <p:nvSpPr>
          <p:cNvPr id="26" name="Icono clipboard-list"/>
          <p:cNvSpPr/>
          <p:nvPr/>
        </p:nvSpPr>
        <p:spPr>
          <a:xfrm>
            <a:off x="3737199" y="2815255"/>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27" name="Text 25"/>
          <p:cNvSpPr/>
          <p:nvPr/>
        </p:nvSpPr>
        <p:spPr>
          <a:xfrm>
            <a:off x="4314368" y="2679192"/>
            <a:ext cx="1552880" cy="566928"/>
          </a:xfrm>
          <a:prstGeom prst="rect">
            <a:avLst/>
          </a:prstGeom>
          <a:noFill/>
          <a:ln/>
        </p:spPr>
        <p:txBody>
          <a:bodyPr wrap="square" lIns="0" tIns="0" rIns="0" bIns="0" rtlCol="0" anchor="ctr">
            <a:normAutofit/>
          </a:bodyPr>
          <a:lstStyle/>
          <a:p>
            <a:pPr algn="l" indent="0" marL="0">
              <a:buNone/>
            </a:pPr>
            <a:r>
              <a:rPr lang="en-US" sz="1050" b="1" dirty="0">
                <a:solidFill>
                  <a:srgbClr val="0B1A3C"/>
                </a:solidFill>
                <a:latin typeface="Segoe UI Semibold" pitchFamily="34" charset="0"/>
                <a:ea typeface="Segoe UI Semibold" pitchFamily="34" charset="-122"/>
                <a:cs typeface="Segoe UI Semibold" pitchFamily="34" charset="-120"/>
              </a:rPr>
              <a:t>servicio-solicitudes</a:t>
            </a:r>
            <a:endParaRPr lang="en-US" sz="1050" dirty="0"/>
          </a:p>
        </p:txBody>
      </p:sp>
      <p:sp>
        <p:nvSpPr>
          <p:cNvPr id="28" name="Text 26"/>
          <p:cNvSpPr/>
          <p:nvPr/>
        </p:nvSpPr>
        <p:spPr>
          <a:xfrm>
            <a:off x="365600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:8080 · el trámite</a:t>
            </a:r>
            <a:endParaRPr lang="en-US" sz="1300" dirty="0"/>
          </a:p>
        </p:txBody>
      </p:sp>
      <p:sp>
        <p:nvSpPr>
          <p:cNvPr id="29" name="Shape 27"/>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6187288" y="2624328"/>
            <a:ext cx="64008" cy="1581912"/>
          </a:xfrm>
          <a:prstGeom prst="rect">
            <a:avLst/>
          </a:prstGeom>
          <a:solidFill>
            <a:srgbClr val="0B6E8A"/>
          </a:solidFill>
          <a:ln w="12700">
            <a:solidFill>
              <a:srgbClr val="0B6E8A"/>
            </a:solidFill>
            <a:prstDash val="solid"/>
          </a:ln>
        </p:spPr>
      </p:sp>
      <p:sp>
        <p:nvSpPr>
          <p:cNvPr id="31" name="Shape 29"/>
          <p:cNvSpPr/>
          <p:nvPr/>
        </p:nvSpPr>
        <p:spPr>
          <a:xfrm>
            <a:off x="6388456" y="2679192"/>
            <a:ext cx="566928" cy="566928"/>
          </a:xfrm>
          <a:prstGeom prst="ellipse">
            <a:avLst/>
          </a:prstGeom>
          <a:solidFill>
            <a:srgbClr val="E3F4FA"/>
          </a:solidFill>
          <a:ln w="12700">
            <a:solidFill>
              <a:srgbClr val="E3F4FA"/>
            </a:solidFill>
            <a:prstDash val="solid"/>
          </a:ln>
        </p:spPr>
      </p:sp>
      <p:sp>
        <p:nvSpPr>
          <p:cNvPr id="32" name="Icono bell"/>
          <p:cNvSpPr/>
          <p:nvPr/>
        </p:nvSpPr>
        <p:spPr>
          <a:xfrm>
            <a:off x="6524518" y="2815255"/>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3" name="Text 31"/>
          <p:cNvSpPr/>
          <p:nvPr/>
        </p:nvSpPr>
        <p:spPr>
          <a:xfrm>
            <a:off x="7101688" y="2679192"/>
            <a:ext cx="1552880" cy="566928"/>
          </a:xfrm>
          <a:prstGeom prst="rect">
            <a:avLst/>
          </a:prstGeom>
          <a:noFill/>
          <a:ln/>
        </p:spPr>
        <p:txBody>
          <a:bodyPr wrap="square" lIns="0" tIns="0" rIns="0" bIns="0" rtlCol="0" anchor="ctr">
            <a:normAutofit/>
          </a:bodyPr>
          <a:lstStyle/>
          <a:p>
            <a:pPr algn="l" indent="0" marL="0">
              <a:buNone/>
            </a:pPr>
            <a:r>
              <a:rPr lang="en-US" sz="900" b="1" dirty="0">
                <a:solidFill>
                  <a:srgbClr val="0B1A3C"/>
                </a:solidFill>
                <a:latin typeface="Segoe UI Semibold" pitchFamily="34" charset="0"/>
                <a:ea typeface="Segoe UI Semibold" pitchFamily="34" charset="-122"/>
                <a:cs typeface="Segoe UI Semibold" pitchFamily="34" charset="-120"/>
              </a:rPr>
              <a:t>servicio-notificaciones</a:t>
            </a:r>
            <a:endParaRPr lang="en-US" sz="900" dirty="0"/>
          </a:p>
        </p:txBody>
      </p:sp>
      <p:sp>
        <p:nvSpPr>
          <p:cNvPr id="34" name="Text 32"/>
          <p:cNvSpPr/>
          <p:nvPr/>
        </p:nvSpPr>
        <p:spPr>
          <a:xfrm>
            <a:off x="644332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:8081 · los avisos</a:t>
            </a:r>
            <a:endParaRPr lang="en-US" sz="1300" dirty="0"/>
          </a:p>
        </p:txBody>
      </p:sp>
      <p:sp>
        <p:nvSpPr>
          <p:cNvPr id="35" name="Shape 33"/>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974607" y="2624328"/>
            <a:ext cx="64008" cy="1581912"/>
          </a:xfrm>
          <a:prstGeom prst="rect">
            <a:avLst/>
          </a:prstGeom>
          <a:solidFill>
            <a:srgbClr val="55627E"/>
          </a:solidFill>
          <a:ln w="12700">
            <a:solidFill>
              <a:srgbClr val="55627E"/>
            </a:solidFill>
            <a:prstDash val="solid"/>
          </a:ln>
        </p:spPr>
      </p:sp>
      <p:sp>
        <p:nvSpPr>
          <p:cNvPr id="37" name="Shape 35"/>
          <p:cNvSpPr/>
          <p:nvPr/>
        </p:nvSpPr>
        <p:spPr>
          <a:xfrm>
            <a:off x="9175775" y="2679192"/>
            <a:ext cx="566928" cy="566928"/>
          </a:xfrm>
          <a:prstGeom prst="ellipse">
            <a:avLst/>
          </a:prstGeom>
          <a:solidFill>
            <a:srgbClr val="F4F7FB"/>
          </a:solidFill>
          <a:ln w="12700">
            <a:solidFill>
              <a:srgbClr val="F4F7FB"/>
            </a:solidFill>
            <a:prstDash val="solid"/>
          </a:ln>
        </p:spPr>
      </p:sp>
      <p:sp>
        <p:nvSpPr>
          <p:cNvPr id="38" name="Icono database"/>
          <p:cNvSpPr/>
          <p:nvPr/>
        </p:nvSpPr>
        <p:spPr>
          <a:xfrm>
            <a:off x="9311838" y="2815255"/>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9" name="Text 37"/>
          <p:cNvSpPr/>
          <p:nvPr/>
        </p:nvSpPr>
        <p:spPr>
          <a:xfrm>
            <a:off x="9889007"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db-solicitudes</a:t>
            </a:r>
            <a:endParaRPr lang="en-US" sz="1500" dirty="0"/>
          </a:p>
        </p:txBody>
      </p:sp>
      <p:sp>
        <p:nvSpPr>
          <p:cNvPr id="40" name="Text 38"/>
          <p:cNvSpPr/>
          <p:nvPr/>
        </p:nvSpPr>
        <p:spPr>
          <a:xfrm>
            <a:off x="9230639"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solo red interna</a:t>
            </a:r>
            <a:endParaRPr lang="en-US" sz="1300" dirty="0"/>
          </a:p>
        </p:txBody>
      </p:sp>
      <p:sp>
        <p:nvSpPr>
          <p:cNvPr id="41" name="Shape 39"/>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12648" y="4645152"/>
            <a:ext cx="64008" cy="1581912"/>
          </a:xfrm>
          <a:prstGeom prst="rect">
            <a:avLst/>
          </a:prstGeom>
          <a:solidFill>
            <a:srgbClr val="55627E"/>
          </a:solidFill>
          <a:ln w="12700">
            <a:solidFill>
              <a:srgbClr val="55627E"/>
            </a:solidFill>
            <a:prstDash val="solid"/>
          </a:ln>
        </p:spPr>
      </p:sp>
      <p:sp>
        <p:nvSpPr>
          <p:cNvPr id="43" name="Shape 41"/>
          <p:cNvSpPr/>
          <p:nvPr/>
        </p:nvSpPr>
        <p:spPr>
          <a:xfrm>
            <a:off x="813816" y="4700016"/>
            <a:ext cx="566928" cy="566928"/>
          </a:xfrm>
          <a:prstGeom prst="ellipse">
            <a:avLst/>
          </a:prstGeom>
          <a:solidFill>
            <a:srgbClr val="F4F7FB"/>
          </a:solidFill>
          <a:ln w="12700">
            <a:solidFill>
              <a:srgbClr val="F4F7FB"/>
            </a:solidFill>
            <a:prstDash val="solid"/>
          </a:ln>
        </p:spPr>
      </p:sp>
      <p:sp>
        <p:nvSpPr>
          <p:cNvPr id="44" name="Icono database"/>
          <p:cNvSpPr/>
          <p:nvPr/>
        </p:nvSpPr>
        <p:spPr>
          <a:xfrm>
            <a:off x="949879" y="483607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5" name="Text 43"/>
          <p:cNvSpPr/>
          <p:nvPr/>
        </p:nvSpPr>
        <p:spPr>
          <a:xfrm>
            <a:off x="1527048" y="4700016"/>
            <a:ext cx="1552880" cy="566928"/>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Semibold" pitchFamily="34" charset="0"/>
                <a:ea typeface="Segoe UI Semibold" pitchFamily="34" charset="-122"/>
                <a:cs typeface="Segoe UI Semibold" pitchFamily="34" charset="-120"/>
              </a:rPr>
              <a:t>db-notificaciones</a:t>
            </a:r>
            <a:endParaRPr lang="en-US" sz="1200" dirty="0"/>
          </a:p>
        </p:txBody>
      </p:sp>
      <p:sp>
        <p:nvSpPr>
          <p:cNvPr id="46" name="Text 44"/>
          <p:cNvSpPr/>
          <p:nvPr/>
        </p:nvSpPr>
        <p:spPr>
          <a:xfrm>
            <a:off x="86868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:5433</a:t>
            </a:r>
            <a:endParaRPr lang="en-US" sz="1300" dirty="0"/>
          </a:p>
        </p:txBody>
      </p:sp>
      <p:sp>
        <p:nvSpPr>
          <p:cNvPr id="47" name="Shape 45"/>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3399968" y="4645152"/>
            <a:ext cx="64008" cy="1581912"/>
          </a:xfrm>
          <a:prstGeom prst="rect">
            <a:avLst/>
          </a:prstGeom>
          <a:solidFill>
            <a:srgbClr val="8A4B06"/>
          </a:solidFill>
          <a:ln w="12700">
            <a:solidFill>
              <a:srgbClr val="8A4B06"/>
            </a:solidFill>
            <a:prstDash val="solid"/>
          </a:ln>
        </p:spPr>
      </p:sp>
      <p:sp>
        <p:nvSpPr>
          <p:cNvPr id="49" name="Shape 47"/>
          <p:cNvSpPr/>
          <p:nvPr/>
        </p:nvSpPr>
        <p:spPr>
          <a:xfrm>
            <a:off x="3601136" y="4700016"/>
            <a:ext cx="566928" cy="566928"/>
          </a:xfrm>
          <a:prstGeom prst="ellipse">
            <a:avLst/>
          </a:prstGeom>
          <a:solidFill>
            <a:srgbClr val="FCEFD6"/>
          </a:solidFill>
          <a:ln w="12700">
            <a:solidFill>
              <a:srgbClr val="FCEFD6"/>
            </a:solidFill>
            <a:prstDash val="solid"/>
          </a:ln>
        </p:spPr>
      </p:sp>
      <p:sp>
        <p:nvSpPr>
          <p:cNvPr id="50" name="Icono scan-eye"/>
          <p:cNvSpPr/>
          <p:nvPr/>
        </p:nvSpPr>
        <p:spPr>
          <a:xfrm>
            <a:off x="3737199" y="4836079"/>
            <a:ext cx="294803" cy="294803"/>
          </a:xfrm>
          <a:custGeom>
            <a:avLst/>
            <a:gdLst/>
            <a:ahLst/>
            <a:cxnLst/>
            <a:rect l="l" t="t" r="r" b="b"/>
            <a:pathLst>
              <a:path w="294803" h="294803">
                <a:moveTo>
                  <a:pt x="36850" y="85984"/>
                </a:moveTo>
                <a:lnTo>
                  <a:pt x="36850" y="61417"/>
                </a:lnTo>
                <a:cubicBezTo>
                  <a:pt x="36850" y="47849"/>
                  <a:pt x="47849" y="36850"/>
                  <a:pt x="61417" y="36850"/>
                </a:cubicBezTo>
                <a:lnTo>
                  <a:pt x="85984" y="36850"/>
                </a:lnTo>
                <a:moveTo>
                  <a:pt x="208818" y="36850"/>
                </a:moveTo>
                <a:lnTo>
                  <a:pt x="233385" y="36850"/>
                </a:lnTo>
                <a:cubicBezTo>
                  <a:pt x="246953" y="36850"/>
                  <a:pt x="257952" y="47849"/>
                  <a:pt x="257952" y="61417"/>
                </a:cubicBezTo>
                <a:lnTo>
                  <a:pt x="257952" y="85984"/>
                </a:lnTo>
                <a:moveTo>
                  <a:pt x="257952" y="208818"/>
                </a:moveTo>
                <a:lnTo>
                  <a:pt x="257952" y="233385"/>
                </a:lnTo>
                <a:cubicBezTo>
                  <a:pt x="257952" y="246953"/>
                  <a:pt x="246953" y="257952"/>
                  <a:pt x="233385" y="257952"/>
                </a:cubicBezTo>
                <a:lnTo>
                  <a:pt x="208818" y="257952"/>
                </a:lnTo>
                <a:moveTo>
                  <a:pt x="85984" y="257952"/>
                </a:moveTo>
                <a:lnTo>
                  <a:pt x="61417" y="257952"/>
                </a:lnTo>
                <a:cubicBezTo>
                  <a:pt x="47849" y="257952"/>
                  <a:pt x="36850" y="246953"/>
                  <a:pt x="36850" y="233385"/>
                </a:cubicBezTo>
                <a:lnTo>
                  <a:pt x="36850" y="208818"/>
                </a:lnTo>
                <a:moveTo>
                  <a:pt x="159685" y="147401"/>
                </a:moveTo>
                <a:cubicBezTo>
                  <a:pt x="159685" y="154185"/>
                  <a:pt x="154185" y="159685"/>
                  <a:pt x="147401" y="159685"/>
                </a:cubicBezTo>
                <a:cubicBezTo>
                  <a:pt x="140617" y="159685"/>
                  <a:pt x="135118" y="154185"/>
                  <a:pt x="135118" y="147401"/>
                </a:cubicBezTo>
                <a:cubicBezTo>
                  <a:pt x="135118" y="140617"/>
                  <a:pt x="140617" y="135118"/>
                  <a:pt x="147401" y="135118"/>
                </a:cubicBezTo>
                <a:cubicBezTo>
                  <a:pt x="154185" y="135118"/>
                  <a:pt x="159685" y="140617"/>
                  <a:pt x="159685" y="147401"/>
                </a:cubicBezTo>
                <a:close/>
                <a:moveTo>
                  <a:pt x="232697" y="151455"/>
                </a:moveTo>
                <a:cubicBezTo>
                  <a:pt x="233615" y="148830"/>
                  <a:pt x="233615" y="145972"/>
                  <a:pt x="232697" y="143348"/>
                </a:cubicBezTo>
                <a:cubicBezTo>
                  <a:pt x="218552" y="108686"/>
                  <a:pt x="184838" y="86032"/>
                  <a:pt x="147401" y="86032"/>
                </a:cubicBezTo>
                <a:cubicBezTo>
                  <a:pt x="109965" y="86032"/>
                  <a:pt x="76251" y="108686"/>
                  <a:pt x="62105" y="143348"/>
                </a:cubicBezTo>
                <a:cubicBezTo>
                  <a:pt x="61188" y="145972"/>
                  <a:pt x="61188" y="148830"/>
                  <a:pt x="62105" y="151455"/>
                </a:cubicBezTo>
                <a:cubicBezTo>
                  <a:pt x="76251" y="186116"/>
                  <a:pt x="109965" y="208771"/>
                  <a:pt x="147401" y="208771"/>
                </a:cubicBezTo>
                <a:cubicBezTo>
                  <a:pt x="184838" y="208771"/>
                  <a:pt x="218552" y="186116"/>
                  <a:pt x="232697" y="151455"/>
                </a:cubicBezTo>
              </a:path>
            </a:pathLst>
          </a:custGeom>
          <a:noFill/>
          <a:ln w="24567" cap="rnd">
            <a:solidFill>
              <a:srgbClr val="8A4B06"/>
            </a:solidFill>
            <a:prstDash val="solid"/>
            <a:round/>
          </a:ln>
        </p:spPr>
      </p:sp>
      <p:sp>
        <p:nvSpPr>
          <p:cNvPr id="51" name="Text 49"/>
          <p:cNvSpPr/>
          <p:nvPr/>
        </p:nvSpPr>
        <p:spPr>
          <a:xfrm>
            <a:off x="431436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promtail</a:t>
            </a:r>
            <a:endParaRPr lang="en-US" sz="1500" dirty="0"/>
          </a:p>
        </p:txBody>
      </p:sp>
      <p:sp>
        <p:nvSpPr>
          <p:cNvPr id="52" name="Text 50"/>
          <p:cNvSpPr/>
          <p:nvPr/>
        </p:nvSpPr>
        <p:spPr>
          <a:xfrm>
            <a:off x="365600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recoge los logs</a:t>
            </a:r>
            <a:endParaRPr lang="en-US" sz="1300" dirty="0"/>
          </a:p>
        </p:txBody>
      </p:sp>
      <p:sp>
        <p:nvSpPr>
          <p:cNvPr id="53" name="Shape 51"/>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6187288" y="4645152"/>
            <a:ext cx="64008" cy="1581912"/>
          </a:xfrm>
          <a:prstGeom prst="rect">
            <a:avLst/>
          </a:prstGeom>
          <a:solidFill>
            <a:srgbClr val="8A4B06"/>
          </a:solidFill>
          <a:ln w="12700">
            <a:solidFill>
              <a:srgbClr val="8A4B06"/>
            </a:solidFill>
            <a:prstDash val="solid"/>
          </a:ln>
        </p:spPr>
      </p:sp>
      <p:sp>
        <p:nvSpPr>
          <p:cNvPr id="55" name="Shape 53"/>
          <p:cNvSpPr/>
          <p:nvPr/>
        </p:nvSpPr>
        <p:spPr>
          <a:xfrm>
            <a:off x="6388456" y="4700016"/>
            <a:ext cx="566928" cy="566928"/>
          </a:xfrm>
          <a:prstGeom prst="ellipse">
            <a:avLst/>
          </a:prstGeom>
          <a:solidFill>
            <a:srgbClr val="FCEFD6"/>
          </a:solidFill>
          <a:ln w="12700">
            <a:solidFill>
              <a:srgbClr val="FCEFD6"/>
            </a:solidFill>
            <a:prstDash val="solid"/>
          </a:ln>
        </p:spPr>
      </p:sp>
      <p:sp>
        <p:nvSpPr>
          <p:cNvPr id="56" name="Icono archive"/>
          <p:cNvSpPr/>
          <p:nvPr/>
        </p:nvSpPr>
        <p:spPr>
          <a:xfrm>
            <a:off x="6524518" y="4836079"/>
            <a:ext cx="294803" cy="294803"/>
          </a:xfrm>
          <a:custGeom>
            <a:avLst/>
            <a:gdLst/>
            <a:ahLst/>
            <a:cxnLst/>
            <a:rect l="l" t="t" r="r" b="b"/>
            <a:pathLst>
              <a:path w="294803" h="294803">
                <a:moveTo>
                  <a:pt x="36850" y="36850"/>
                </a:moveTo>
                <a:lnTo>
                  <a:pt x="257952" y="36850"/>
                </a:lnTo>
                <a:cubicBezTo>
                  <a:pt x="264736" y="36850"/>
                  <a:pt x="270236" y="42350"/>
                  <a:pt x="270236" y="49134"/>
                </a:cubicBezTo>
                <a:lnTo>
                  <a:pt x="270236" y="85984"/>
                </a:lnTo>
                <a:cubicBezTo>
                  <a:pt x="270236" y="92768"/>
                  <a:pt x="264736" y="98268"/>
                  <a:pt x="257952" y="98268"/>
                </a:cubicBezTo>
                <a:lnTo>
                  <a:pt x="36850" y="98268"/>
                </a:lnTo>
                <a:cubicBezTo>
                  <a:pt x="30066" y="98268"/>
                  <a:pt x="24567" y="92768"/>
                  <a:pt x="24567" y="85984"/>
                </a:cubicBezTo>
                <a:lnTo>
                  <a:pt x="24567" y="49134"/>
                </a:lnTo>
                <a:cubicBezTo>
                  <a:pt x="24567" y="42350"/>
                  <a:pt x="30066" y="36850"/>
                  <a:pt x="36850" y="36850"/>
                </a:cubicBezTo>
                <a:close/>
                <a:moveTo>
                  <a:pt x="49134" y="98268"/>
                </a:moveTo>
                <a:lnTo>
                  <a:pt x="49134" y="233385"/>
                </a:lnTo>
                <a:cubicBezTo>
                  <a:pt x="49134" y="246953"/>
                  <a:pt x="60133" y="257952"/>
                  <a:pt x="73701" y="257952"/>
                </a:cubicBezTo>
                <a:lnTo>
                  <a:pt x="221102" y="257952"/>
                </a:lnTo>
                <a:cubicBezTo>
                  <a:pt x="234670" y="257952"/>
                  <a:pt x="245669" y="246953"/>
                  <a:pt x="245669" y="233385"/>
                </a:cubicBezTo>
                <a:lnTo>
                  <a:pt x="245669" y="98268"/>
                </a:lnTo>
                <a:moveTo>
                  <a:pt x="122834" y="147401"/>
                </a:moveTo>
                <a:lnTo>
                  <a:pt x="171968" y="147401"/>
                </a:lnTo>
              </a:path>
            </a:pathLst>
          </a:custGeom>
          <a:noFill/>
          <a:ln w="24567" cap="rnd">
            <a:solidFill>
              <a:srgbClr val="8A4B06"/>
            </a:solidFill>
            <a:prstDash val="solid"/>
            <a:round/>
          </a:ln>
        </p:spPr>
      </p:sp>
      <p:sp>
        <p:nvSpPr>
          <p:cNvPr id="57" name="Text 55"/>
          <p:cNvSpPr/>
          <p:nvPr/>
        </p:nvSpPr>
        <p:spPr>
          <a:xfrm>
            <a:off x="710168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loki</a:t>
            </a:r>
            <a:endParaRPr lang="en-US" sz="1500" dirty="0"/>
          </a:p>
        </p:txBody>
      </p:sp>
      <p:sp>
        <p:nvSpPr>
          <p:cNvPr id="58" name="Text 56"/>
          <p:cNvSpPr/>
          <p:nvPr/>
        </p:nvSpPr>
        <p:spPr>
          <a:xfrm>
            <a:off x="644332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:3100 · guarda los logs</a:t>
            </a:r>
            <a:endParaRPr lang="en-US" sz="1300" dirty="0"/>
          </a:p>
        </p:txBody>
      </p:sp>
      <p:sp>
        <p:nvSpPr>
          <p:cNvPr id="59" name="Shape 57"/>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8974607" y="4645152"/>
            <a:ext cx="64008" cy="1581912"/>
          </a:xfrm>
          <a:prstGeom prst="rect">
            <a:avLst/>
          </a:prstGeom>
          <a:solidFill>
            <a:srgbClr val="8A4B06"/>
          </a:solidFill>
          <a:ln w="12700">
            <a:solidFill>
              <a:srgbClr val="8A4B06"/>
            </a:solidFill>
            <a:prstDash val="solid"/>
          </a:ln>
        </p:spPr>
      </p:sp>
      <p:sp>
        <p:nvSpPr>
          <p:cNvPr id="61" name="Shape 59"/>
          <p:cNvSpPr/>
          <p:nvPr/>
        </p:nvSpPr>
        <p:spPr>
          <a:xfrm>
            <a:off x="9175775" y="4700016"/>
            <a:ext cx="566928" cy="566928"/>
          </a:xfrm>
          <a:prstGeom prst="ellipse">
            <a:avLst/>
          </a:prstGeom>
          <a:solidFill>
            <a:srgbClr val="FCEFD6"/>
          </a:solidFill>
          <a:ln w="12700">
            <a:solidFill>
              <a:srgbClr val="FCEFD6"/>
            </a:solidFill>
            <a:prstDash val="solid"/>
          </a:ln>
        </p:spPr>
      </p:sp>
      <p:sp>
        <p:nvSpPr>
          <p:cNvPr id="62" name="Icono chart-line"/>
          <p:cNvSpPr/>
          <p:nvPr/>
        </p:nvSpPr>
        <p:spPr>
          <a:xfrm>
            <a:off x="9311838" y="483607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3" name="Text 61"/>
          <p:cNvSpPr/>
          <p:nvPr/>
        </p:nvSpPr>
        <p:spPr>
          <a:xfrm>
            <a:off x="9889007"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grafana</a:t>
            </a:r>
            <a:endParaRPr lang="en-US" sz="1500" dirty="0"/>
          </a:p>
        </p:txBody>
      </p:sp>
      <p:sp>
        <p:nvSpPr>
          <p:cNvPr id="64" name="Text 62"/>
          <p:cNvSpPr/>
          <p:nvPr/>
        </p:nvSpPr>
        <p:spPr>
          <a:xfrm>
            <a:off x="9230639"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:3000 · busca en los logs</a:t>
            </a:r>
            <a:endParaRPr lang="en-US" sz="1300" dirty="0"/>
          </a:p>
        </p:txBody>
      </p:sp>
      <p:sp>
        <p:nvSpPr>
          <p:cNvPr id="65" name="Text 6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5" name="Text 33"/>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6" name="Shape 34"/>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1" name="Text 39"/>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2" name="Shape 40"/>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3" name="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7" name="Text 45"/>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Contenedores y Kubernetes: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manifiestos en k8s/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ackage"/>
          <p:cNvSpPr/>
          <p:nvPr/>
        </p:nvSpPr>
        <p:spPr>
          <a:xfrm>
            <a:off x="4258544" y="1955780"/>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Dos etapas, solo Java y el JAR, usuario sin privilegios.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 que se prueba es exactamente lo que se despliega.</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ettings"/>
          <p:cNvSpPr/>
          <p:nvPr/>
        </p:nvSpPr>
        <p:spPr>
          <a:xfrm>
            <a:off x="4258544" y="3677900"/>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misma imagen en Compose y en Kubernetes.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ship-wheel"/>
          <p:cNvSpPr/>
          <p:nvPr/>
        </p:nvSpPr>
        <p:spPr>
          <a:xfrm>
            <a:off x="4258544" y="5400020"/>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Deployments, initContainers y readinessProbe.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no recibe tráfico antes de tiempo.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Del push a una imagen publicada, sin pasos manuales.</a:t>
            </a:r>
            <a:endParaRPr lang="en-US" sz="1700" dirty="0"/>
          </a:p>
        </p:txBody>
      </p:sp>
      <p:sp>
        <p:nvSpPr>
          <p:cNvPr id="14" name="Shape 12"/>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5"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16" name="Text 14"/>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17" name="Text 15"/>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8" name="Shape 16"/>
          <p:cNvSpPr/>
          <p:nvPr/>
        </p:nvSpPr>
        <p:spPr>
          <a:xfrm>
            <a:off x="1549375" y="4151376"/>
            <a:ext cx="0" cy="109728"/>
          </a:xfrm>
          <a:prstGeom prst="line">
            <a:avLst/>
          </a:prstGeom>
          <a:noFill/>
          <a:ln w="25400">
            <a:solidFill>
              <a:srgbClr val="0B2350"/>
            </a:solidFill>
            <a:prstDash val="solid"/>
          </a:ln>
        </p:spPr>
      </p:sp>
      <p:sp>
        <p:nvSpPr>
          <p:cNvPr id="19" name="Shape 17"/>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21" name="Text 19"/>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22" name="Text 20"/>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job por servicio.</a:t>
            </a:r>
            <a:endParaRPr lang="en-US" sz="1400" dirty="0"/>
          </a:p>
        </p:txBody>
      </p:sp>
      <p:sp>
        <p:nvSpPr>
          <p:cNvPr id="23" name="Shape 21"/>
          <p:cNvSpPr/>
          <p:nvPr/>
        </p:nvSpPr>
        <p:spPr>
          <a:xfrm>
            <a:off x="3349676" y="4151376"/>
            <a:ext cx="0" cy="109728"/>
          </a:xfrm>
          <a:prstGeom prst="line">
            <a:avLst/>
          </a:prstGeom>
          <a:noFill/>
          <a:ln w="25400">
            <a:solidFill>
              <a:srgbClr val="0B325C"/>
            </a:solidFill>
            <a:prstDash val="solid"/>
          </a:ln>
        </p:spPr>
      </p:sp>
      <p:sp>
        <p:nvSpPr>
          <p:cNvPr id="24" name="Shape 22"/>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5"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26" name="Text 24"/>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27" name="Text 25"/>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mvn verify con PostgreSQL de servicio.</a:t>
            </a:r>
            <a:endParaRPr lang="en-US" sz="1400" dirty="0"/>
          </a:p>
        </p:txBody>
      </p:sp>
      <p:sp>
        <p:nvSpPr>
          <p:cNvPr id="28" name="Shape 26"/>
          <p:cNvSpPr/>
          <p:nvPr/>
        </p:nvSpPr>
        <p:spPr>
          <a:xfrm>
            <a:off x="5149977" y="4151376"/>
            <a:ext cx="0" cy="109728"/>
          </a:xfrm>
          <a:prstGeom prst="line">
            <a:avLst/>
          </a:prstGeom>
          <a:noFill/>
          <a:ln w="25400">
            <a:solidFill>
              <a:srgbClr val="0B4167"/>
            </a:solidFill>
            <a:prstDash val="solid"/>
          </a:ln>
        </p:spPr>
      </p:sp>
      <p:sp>
        <p:nvSpPr>
          <p:cNvPr id="29" name="Shape 27"/>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0"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31" name="Text 29"/>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32" name="Text 30"/>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Levanta el JAR y espera ver CAM-002.</a:t>
            </a:r>
            <a:endParaRPr lang="en-US" sz="1400" dirty="0"/>
          </a:p>
        </p:txBody>
      </p:sp>
      <p:sp>
        <p:nvSpPr>
          <p:cNvPr id="33" name="Shape 31"/>
          <p:cNvSpPr/>
          <p:nvPr/>
        </p:nvSpPr>
        <p:spPr>
          <a:xfrm>
            <a:off x="6950278" y="4151376"/>
            <a:ext cx="0" cy="109728"/>
          </a:xfrm>
          <a:prstGeom prst="line">
            <a:avLst/>
          </a:prstGeom>
          <a:noFill/>
          <a:ln w="25400">
            <a:solidFill>
              <a:srgbClr val="0B5073"/>
            </a:solidFill>
            <a:prstDash val="solid"/>
          </a:ln>
        </p:spPr>
      </p:sp>
      <p:sp>
        <p:nvSpPr>
          <p:cNvPr id="34" name="Shape 32"/>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5"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36" name="Text 34"/>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37" name="Text 35"/>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8" name="Shape 36"/>
          <p:cNvSpPr/>
          <p:nvPr/>
        </p:nvSpPr>
        <p:spPr>
          <a:xfrm>
            <a:off x="8750579" y="4151376"/>
            <a:ext cx="0" cy="109728"/>
          </a:xfrm>
          <a:prstGeom prst="line">
            <a:avLst/>
          </a:prstGeom>
          <a:noFill/>
          <a:ln w="25400">
            <a:solidFill>
              <a:srgbClr val="0B5F7E"/>
            </a:solidFill>
            <a:prstDash val="solid"/>
          </a:ln>
        </p:spPr>
      </p:sp>
      <p:sp>
        <p:nvSpPr>
          <p:cNvPr id="39" name="Shape 37"/>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0"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41" name="Text 39"/>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42" name="Text 40"/>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43" name="Shape 41"/>
          <p:cNvSpPr/>
          <p:nvPr/>
        </p:nvSpPr>
        <p:spPr>
          <a:xfrm>
            <a:off x="10550881" y="4151376"/>
            <a:ext cx="0" cy="109728"/>
          </a:xfrm>
          <a:prstGeom prst="line">
            <a:avLst/>
          </a:prstGeom>
          <a:noFill/>
          <a:ln w="25400">
            <a:solidFill>
              <a:srgbClr val="0B6E8A"/>
            </a:solidFill>
            <a:prstDash val="solid"/>
          </a:ln>
        </p:spPr>
      </p:sp>
      <p:sp>
        <p:nvSpPr>
          <p:cNvPr id="44" name="Shape 42"/>
          <p:cNvSpPr/>
          <p:nvPr/>
        </p:nvSpPr>
        <p:spPr>
          <a:xfrm>
            <a:off x="0" y="5961888"/>
            <a:ext cx="12191695" cy="475488"/>
          </a:xfrm>
          <a:prstGeom prst="rect">
            <a:avLst/>
          </a:prstGeom>
          <a:solidFill>
            <a:srgbClr val="0B2350"/>
          </a:solidFill>
          <a:ln w="12700">
            <a:solidFill>
              <a:srgbClr val="0B2350"/>
            </a:solidFill>
            <a:prstDash val="solid"/>
          </a:ln>
        </p:spPr>
      </p:sp>
      <p:sp>
        <p:nvSpPr>
          <p:cNvPr id="4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6" name="Text 4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llegar a los demás.</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workflow"/>
          <p:cNvSpPr/>
          <p:nvPr/>
        </p:nvSpPr>
        <p:spPr>
          <a:xfrm>
            <a:off x="1058144" y="1817096"/>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jobs en paralelo, uno por servicio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ower"/>
          <p:cNvSpPr/>
          <p:nvPr/>
        </p:nvSpPr>
        <p:spPr>
          <a:xfrm>
            <a:off x="4258544" y="1955780"/>
            <a:ext cx="370881" cy="370881"/>
          </a:xfrm>
          <a:custGeom>
            <a:avLst/>
            <a:gdLst/>
            <a:ahLst/>
            <a:cxnLst/>
            <a:rect l="l" t="t" r="r" b="b"/>
            <a:pathLst>
              <a:path w="370881" h="370881">
                <a:moveTo>
                  <a:pt x="185440" y="30907"/>
                </a:moveTo>
                <a:lnTo>
                  <a:pt x="185440" y="185440"/>
                </a:lnTo>
                <a:moveTo>
                  <a:pt x="284342" y="101992"/>
                </a:moveTo>
                <a:cubicBezTo>
                  <a:pt x="338561" y="156231"/>
                  <a:pt x="338642" y="244125"/>
                  <a:pt x="284523" y="298464"/>
                </a:cubicBezTo>
                <a:cubicBezTo>
                  <a:pt x="230404" y="352803"/>
                  <a:pt x="142511" y="353078"/>
                  <a:pt x="88052" y="299079"/>
                </a:cubicBezTo>
                <a:cubicBezTo>
                  <a:pt x="33594" y="245080"/>
                  <a:pt x="33124" y="157188"/>
                  <a:pt x="87002" y="102610"/>
                </a:cubicBez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Probar que arranca, no solo que compila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pipeline levanta el JAR y consulta GET /solicitudes.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Los errores de configuración aparecen antes de desplegar.</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hash"/>
          <p:cNvSpPr/>
          <p:nvPr/>
        </p:nvSpPr>
        <p:spPr>
          <a:xfrm>
            <a:off x="4258544" y="3677900"/>
            <a:ext cx="370881" cy="370881"/>
          </a:xfrm>
          <a:custGeom>
            <a:avLst/>
            <a:gdLst/>
            <a:ahLst/>
            <a:cxnLst/>
            <a:rect l="l" t="t" r="r" b="b"/>
            <a:pathLst>
              <a:path w="370881" h="370881">
                <a:moveTo>
                  <a:pt x="61813" y="139080"/>
                </a:moveTo>
                <a:lnTo>
                  <a:pt x="309067" y="139080"/>
                </a:lnTo>
                <a:moveTo>
                  <a:pt x="61813" y="231800"/>
                </a:moveTo>
                <a:lnTo>
                  <a:pt x="309067" y="231800"/>
                </a:lnTo>
                <a:moveTo>
                  <a:pt x="154534" y="46360"/>
                </a:moveTo>
                <a:lnTo>
                  <a:pt x="123627" y="324521"/>
                </a:lnTo>
                <a:moveTo>
                  <a:pt x="247254" y="46360"/>
                </a:moveTo>
                <a:lnTo>
                  <a:pt x="216347"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Cada imagen se rastrea a su commit</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Etiqueta con el SHA en GHCR.</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Saber qué código corre y volver atrás con certeza.</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it-merge"/>
          <p:cNvSpPr/>
          <p:nvPr/>
        </p:nvSpPr>
        <p:spPr>
          <a:xfrm>
            <a:off x="4258544" y="540002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92720" y="324521"/>
                </a:moveTo>
                <a:lnTo>
                  <a:pt x="92720" y="139080"/>
                </a:lnTo>
                <a:cubicBezTo>
                  <a:pt x="92720" y="215892"/>
                  <a:pt x="154989" y="278160"/>
                  <a:pt x="231800" y="278160"/>
                </a:cubicBez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pipeline es la puerta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Pull Request, una aprobación y todo en verde.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La calidad no depende de la memoria de nadie.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8" name="Shape 16"/>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20" name="Text 18"/>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2" name="Text 20"/>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3" name="Shape 21"/>
          <p:cNvSpPr/>
          <p:nvPr/>
        </p:nvSpPr>
        <p:spPr>
          <a:xfrm>
            <a:off x="2806408" y="2875788"/>
            <a:ext cx="1095680" cy="0"/>
          </a:xfrm>
          <a:prstGeom prst="line">
            <a:avLst/>
          </a:prstGeom>
          <a:noFill/>
          <a:ln w="38100">
            <a:solidFill>
              <a:srgbClr val="2BA6CB"/>
            </a:solidFill>
            <a:prstDash val="solid"/>
            <a:tailEnd type="triangle"/>
          </a:ln>
        </p:spPr>
      </p:sp>
      <p:sp>
        <p:nvSpPr>
          <p:cNvPr id="24" name="Shape 22"/>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5"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6" name="Text 24"/>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8" name="Text 26"/>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9" name="Shape 27"/>
          <p:cNvSpPr/>
          <p:nvPr/>
        </p:nvSpPr>
        <p:spPr>
          <a:xfrm>
            <a:off x="5548008" y="2875788"/>
            <a:ext cx="1095680" cy="0"/>
          </a:xfrm>
          <a:prstGeom prst="line">
            <a:avLst/>
          </a:prstGeom>
          <a:noFill/>
          <a:ln w="38100">
            <a:solidFill>
              <a:srgbClr val="2BA6CB"/>
            </a:solidFill>
            <a:prstDash val="solid"/>
            <a:tailEnd type="triangle"/>
          </a:ln>
        </p:spPr>
      </p:sp>
      <p:sp>
        <p:nvSpPr>
          <p:cNvPr id="30" name="Shape 28"/>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2" name="Text 30"/>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4" name="Text 32"/>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5" name="Shape 33"/>
          <p:cNvSpPr/>
          <p:nvPr/>
        </p:nvSpPr>
        <p:spPr>
          <a:xfrm>
            <a:off x="8289608" y="2875788"/>
            <a:ext cx="1095680" cy="0"/>
          </a:xfrm>
          <a:prstGeom prst="line">
            <a:avLst/>
          </a:prstGeom>
          <a:noFill/>
          <a:ln w="38100">
            <a:solidFill>
              <a:srgbClr val="2BA6CB"/>
            </a:solidFill>
            <a:prstDash val="solid"/>
            <a:tailEnd type="triangle"/>
          </a:ln>
        </p:spPr>
      </p:sp>
      <p:sp>
        <p:nvSpPr>
          <p:cNvPr id="36" name="Shape 34"/>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8" name="Text 36"/>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40" name="Text 38"/>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de cada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18" name="Image 0" descr="La pestaña Salud de la UI">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Cada servicio responde: ¿estás bien?</a:t>
            </a:r>
            <a:endParaRPr lang="en-US" sz="2400" dirty="0"/>
          </a:p>
        </p:txBody>
      </p:sp>
      <p:sp>
        <p:nvSpPr>
          <p:cNvPr id="21" name="Shape 18"/>
          <p:cNvSpPr/>
          <p:nvPr/>
        </p:nvSpPr>
        <p:spPr>
          <a:xfrm>
            <a:off x="612648" y="2816352"/>
            <a:ext cx="420624" cy="420624"/>
          </a:xfrm>
          <a:prstGeom prst="ellipse">
            <a:avLst/>
          </a:prstGeom>
          <a:solidFill>
            <a:srgbClr val="E3F4FA"/>
          </a:solidFill>
          <a:ln w="12700">
            <a:solidFill>
              <a:srgbClr val="E3F4FA"/>
            </a:solidFill>
            <a:prstDash val="solid"/>
          </a:ln>
        </p:spPr>
      </p:sp>
      <p:sp>
        <p:nvSpPr>
          <p:cNvPr id="22" name="Icono heart-pulse"/>
          <p:cNvSpPr/>
          <p:nvPr/>
        </p:nvSpPr>
        <p:spPr>
          <a:xfrm>
            <a:off x="713598" y="2917302"/>
            <a:ext cx="218724" cy="218724"/>
          </a:xfrm>
          <a:custGeom>
            <a:avLst/>
            <a:gdLst/>
            <a:ahLst/>
            <a:cxnLst/>
            <a:rect l="l" t="t" r="r" b="b"/>
            <a:pathLst>
              <a:path w="218724" h="218724">
                <a:moveTo>
                  <a:pt x="173157" y="127589"/>
                </a:moveTo>
                <a:cubicBezTo>
                  <a:pt x="186736" y="114284"/>
                  <a:pt x="200497" y="98335"/>
                  <a:pt x="200497" y="77465"/>
                </a:cubicBezTo>
                <a:cubicBezTo>
                  <a:pt x="200497" y="49782"/>
                  <a:pt x="178056" y="27341"/>
                  <a:pt x="150373" y="27341"/>
                </a:cubicBezTo>
                <a:cubicBezTo>
                  <a:pt x="134333" y="27341"/>
                  <a:pt x="123033" y="31897"/>
                  <a:pt x="109362" y="45568"/>
                </a:cubicBezTo>
                <a:cubicBezTo>
                  <a:pt x="95692" y="31897"/>
                  <a:pt x="84391" y="27341"/>
                  <a:pt x="68351" y="27341"/>
                </a:cubicBezTo>
                <a:cubicBezTo>
                  <a:pt x="40668" y="27341"/>
                  <a:pt x="18227" y="49782"/>
                  <a:pt x="18227" y="77465"/>
                </a:cubicBezTo>
                <a:cubicBezTo>
                  <a:pt x="18227" y="98426"/>
                  <a:pt x="31897" y="114375"/>
                  <a:pt x="45568" y="127589"/>
                </a:cubicBezTo>
                <a:lnTo>
                  <a:pt x="109362" y="191384"/>
                </a:lnTo>
                <a:close/>
                <a:moveTo>
                  <a:pt x="29346" y="109362"/>
                </a:moveTo>
                <a:lnTo>
                  <a:pt x="86578" y="109362"/>
                </a:lnTo>
                <a:lnTo>
                  <a:pt x="91135" y="100249"/>
                </a:lnTo>
                <a:lnTo>
                  <a:pt x="109362" y="141260"/>
                </a:lnTo>
                <a:lnTo>
                  <a:pt x="127589" y="77465"/>
                </a:lnTo>
                <a:lnTo>
                  <a:pt x="141260" y="109362"/>
                </a:lnTo>
                <a:lnTo>
                  <a:pt x="189288" y="109362"/>
                </a:lnTo>
              </a:path>
            </a:pathLst>
          </a:custGeom>
          <a:noFill/>
          <a:ln w="18227" cap="rnd">
            <a:solidFill>
              <a:srgbClr val="0B6E8A"/>
            </a:solidFill>
            <a:prstDash val="solid"/>
            <a:round/>
          </a:ln>
        </p:spPr>
      </p:sp>
      <p:sp>
        <p:nvSpPr>
          <p:cNvPr id="23" name="Text 20"/>
          <p:cNvSpPr/>
          <p:nvPr/>
        </p:nvSpPr>
        <p:spPr>
          <a:xfrm>
            <a:off x="1161288" y="2697480"/>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Actuator expone health, info y métricas</a:t>
            </a:r>
            <a:endParaRPr lang="en-US" sz="1350" dirty="0"/>
          </a:p>
        </p:txBody>
      </p:sp>
      <p:sp>
        <p:nvSpPr>
          <p:cNvPr id="24" name="Shape 21"/>
          <p:cNvSpPr/>
          <p:nvPr/>
        </p:nvSpPr>
        <p:spPr>
          <a:xfrm>
            <a:off x="612648" y="3474720"/>
            <a:ext cx="420624" cy="420624"/>
          </a:xfrm>
          <a:prstGeom prst="ellipse">
            <a:avLst/>
          </a:prstGeom>
          <a:solidFill>
            <a:srgbClr val="E3F4FA"/>
          </a:solidFill>
          <a:ln w="12700">
            <a:solidFill>
              <a:srgbClr val="E3F4FA"/>
            </a:solidFill>
            <a:prstDash val="solid"/>
          </a:ln>
        </p:spPr>
      </p:sp>
      <p:sp>
        <p:nvSpPr>
          <p:cNvPr id="25" name="Icono database"/>
          <p:cNvSpPr/>
          <p:nvPr/>
        </p:nvSpPr>
        <p:spPr>
          <a:xfrm>
            <a:off x="713598" y="3575670"/>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0B6E8A"/>
            </a:solidFill>
            <a:prstDash val="solid"/>
            <a:round/>
          </a:ln>
        </p:spPr>
      </p:sp>
      <p:sp>
        <p:nvSpPr>
          <p:cNvPr id="26" name="Text 23"/>
          <p:cNvSpPr/>
          <p:nvPr/>
        </p:nvSpPr>
        <p:spPr>
          <a:xfrm>
            <a:off x="1161288" y="3355848"/>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salud revisa la conexión con la base</a:t>
            </a:r>
            <a:endParaRPr lang="en-US" sz="1350" dirty="0"/>
          </a:p>
        </p:txBody>
      </p:sp>
      <p:sp>
        <p:nvSpPr>
          <p:cNvPr id="27" name="Shape 24"/>
          <p:cNvSpPr/>
          <p:nvPr/>
        </p:nvSpPr>
        <p:spPr>
          <a:xfrm>
            <a:off x="612648" y="4133088"/>
            <a:ext cx="420624" cy="420624"/>
          </a:xfrm>
          <a:prstGeom prst="ellipse">
            <a:avLst/>
          </a:prstGeom>
          <a:solidFill>
            <a:srgbClr val="E3F4FA"/>
          </a:solidFill>
          <a:ln w="12700">
            <a:solidFill>
              <a:srgbClr val="E3F4FA"/>
            </a:solidFill>
            <a:prstDash val="solid"/>
          </a:ln>
        </p:spPr>
      </p:sp>
      <p:sp>
        <p:nvSpPr>
          <p:cNvPr id="28" name="Icono ship-wheel"/>
          <p:cNvSpPr/>
          <p:nvPr/>
        </p:nvSpPr>
        <p:spPr>
          <a:xfrm>
            <a:off x="713598" y="4234038"/>
            <a:ext cx="218724" cy="218724"/>
          </a:xfrm>
          <a:custGeom>
            <a:avLst/>
            <a:gdLst/>
            <a:ahLst/>
            <a:cxnLst/>
            <a:rect l="l" t="t" r="r" b="b"/>
            <a:pathLst>
              <a:path w="218724" h="218724">
                <a:moveTo>
                  <a:pt x="182270" y="109362"/>
                </a:moveTo>
                <a:cubicBezTo>
                  <a:pt x="182270" y="149628"/>
                  <a:pt x="149628" y="182270"/>
                  <a:pt x="109362" y="182270"/>
                </a:cubicBezTo>
                <a:cubicBezTo>
                  <a:pt x="69096" y="182270"/>
                  <a:pt x="36454" y="149628"/>
                  <a:pt x="36454" y="109362"/>
                </a:cubicBezTo>
                <a:cubicBezTo>
                  <a:pt x="36454" y="69096"/>
                  <a:pt x="69096" y="36454"/>
                  <a:pt x="109362" y="36454"/>
                </a:cubicBezTo>
                <a:cubicBezTo>
                  <a:pt x="149628" y="36454"/>
                  <a:pt x="182270" y="69096"/>
                  <a:pt x="182270" y="109362"/>
                </a:cubicBezTo>
                <a:close/>
                <a:moveTo>
                  <a:pt x="109362" y="18227"/>
                </a:moveTo>
                <a:lnTo>
                  <a:pt x="109362" y="86578"/>
                </a:lnTo>
                <a:moveTo>
                  <a:pt x="173157" y="45568"/>
                </a:moveTo>
                <a:lnTo>
                  <a:pt x="125493" y="93231"/>
                </a:lnTo>
                <a:moveTo>
                  <a:pt x="200497" y="109362"/>
                </a:moveTo>
                <a:lnTo>
                  <a:pt x="132146" y="109362"/>
                </a:lnTo>
                <a:moveTo>
                  <a:pt x="173157" y="173157"/>
                </a:moveTo>
                <a:lnTo>
                  <a:pt x="125493" y="125493"/>
                </a:lnTo>
                <a:moveTo>
                  <a:pt x="109362" y="132146"/>
                </a:moveTo>
                <a:lnTo>
                  <a:pt x="109362" y="200497"/>
                </a:lnTo>
                <a:moveTo>
                  <a:pt x="93231" y="125493"/>
                </a:moveTo>
                <a:lnTo>
                  <a:pt x="45568" y="173157"/>
                </a:lnTo>
                <a:moveTo>
                  <a:pt x="86578" y="109362"/>
                </a:moveTo>
                <a:lnTo>
                  <a:pt x="18227" y="109362"/>
                </a:lnTo>
                <a:moveTo>
                  <a:pt x="93231" y="93231"/>
                </a:moveTo>
                <a:lnTo>
                  <a:pt x="45568" y="45568"/>
                </a:lnTo>
                <a:moveTo>
                  <a:pt x="132146" y="109362"/>
                </a:moveTo>
                <a:cubicBezTo>
                  <a:pt x="132146" y="121945"/>
                  <a:pt x="121945" y="132146"/>
                  <a:pt x="109362" y="132146"/>
                </a:cubicBezTo>
                <a:cubicBezTo>
                  <a:pt x="96779" y="132146"/>
                  <a:pt x="86578" y="121945"/>
                  <a:pt x="86578" y="109362"/>
                </a:cubicBezTo>
                <a:cubicBezTo>
                  <a:pt x="86578" y="96779"/>
                  <a:pt x="96779" y="86578"/>
                  <a:pt x="109362" y="86578"/>
                </a:cubicBezTo>
                <a:cubicBezTo>
                  <a:pt x="121945" y="86578"/>
                  <a:pt x="132146" y="96779"/>
                  <a:pt x="132146" y="109362"/>
                </a:cubicBezTo>
                <a:close/>
              </a:path>
            </a:pathLst>
          </a:custGeom>
          <a:noFill/>
          <a:ln w="18227" cap="rnd">
            <a:solidFill>
              <a:srgbClr val="0B6E8A"/>
            </a:solidFill>
            <a:prstDash val="solid"/>
            <a:round/>
          </a:ln>
        </p:spPr>
      </p:sp>
      <p:sp>
        <p:nvSpPr>
          <p:cNvPr id="29" name="Text 26"/>
          <p:cNvSpPr/>
          <p:nvPr/>
        </p:nvSpPr>
        <p:spPr>
          <a:xfrm>
            <a:off x="1161288" y="4014216"/>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Kubernetes y la UI la consultan</a:t>
            </a:r>
            <a:endParaRPr lang="en-US" sz="1350" dirty="0"/>
          </a:p>
        </p:txBody>
      </p:sp>
      <p:sp>
        <p:nvSpPr>
          <p:cNvPr id="30" name="Shape 27"/>
          <p:cNvSpPr/>
          <p:nvPr/>
        </p:nvSpPr>
        <p:spPr>
          <a:xfrm>
            <a:off x="612648" y="4791456"/>
            <a:ext cx="420624" cy="420624"/>
          </a:xfrm>
          <a:prstGeom prst="ellipse">
            <a:avLst/>
          </a:prstGeom>
          <a:solidFill>
            <a:srgbClr val="E3F4FA"/>
          </a:solidFill>
          <a:ln w="12700">
            <a:solidFill>
              <a:srgbClr val="E3F4FA"/>
            </a:solidFill>
            <a:prstDash val="solid"/>
          </a:ln>
        </p:spPr>
      </p:sp>
      <p:sp>
        <p:nvSpPr>
          <p:cNvPr id="31" name="Icono triangle-alert"/>
          <p:cNvSpPr/>
          <p:nvPr/>
        </p:nvSpPr>
        <p:spPr>
          <a:xfrm>
            <a:off x="713598" y="4892406"/>
            <a:ext cx="218724" cy="218724"/>
          </a:xfrm>
          <a:custGeom>
            <a:avLst/>
            <a:gdLst/>
            <a:ahLst/>
            <a:cxnLst/>
            <a:rect l="l" t="t" r="r" b="b"/>
            <a:pathLst>
              <a:path w="218724" h="218724">
                <a:moveTo>
                  <a:pt x="198037" y="164043"/>
                </a:moveTo>
                <a:lnTo>
                  <a:pt x="125129" y="36454"/>
                </a:lnTo>
                <a:cubicBezTo>
                  <a:pt x="121892" y="30743"/>
                  <a:pt x="115835" y="27214"/>
                  <a:pt x="109271" y="27214"/>
                </a:cubicBezTo>
                <a:cubicBezTo>
                  <a:pt x="102707" y="27214"/>
                  <a:pt x="96650" y="30743"/>
                  <a:pt x="93414" y="36454"/>
                </a:cubicBezTo>
                <a:lnTo>
                  <a:pt x="20505" y="164043"/>
                </a:lnTo>
                <a:cubicBezTo>
                  <a:pt x="17234" y="169708"/>
                  <a:pt x="17250" y="176691"/>
                  <a:pt x="20546" y="182342"/>
                </a:cubicBezTo>
                <a:cubicBezTo>
                  <a:pt x="23842" y="187992"/>
                  <a:pt x="29913" y="191443"/>
                  <a:pt x="36454" y="191384"/>
                </a:cubicBezTo>
                <a:lnTo>
                  <a:pt x="182270" y="191384"/>
                </a:lnTo>
                <a:cubicBezTo>
                  <a:pt x="188779" y="191377"/>
                  <a:pt x="194790" y="187901"/>
                  <a:pt x="198041" y="182262"/>
                </a:cubicBezTo>
                <a:cubicBezTo>
                  <a:pt x="201293" y="176624"/>
                  <a:pt x="201291" y="169680"/>
                  <a:pt x="198037" y="164043"/>
                </a:cubicBezTo>
                <a:moveTo>
                  <a:pt x="109362" y="82022"/>
                </a:moveTo>
                <a:lnTo>
                  <a:pt x="109362" y="118476"/>
                </a:lnTo>
                <a:moveTo>
                  <a:pt x="109362" y="154930"/>
                </a:moveTo>
                <a:lnTo>
                  <a:pt x="109453" y="154930"/>
                </a:lnTo>
              </a:path>
            </a:pathLst>
          </a:custGeom>
          <a:noFill/>
          <a:ln w="18227" cap="rnd">
            <a:solidFill>
              <a:srgbClr val="0B6E8A"/>
            </a:solidFill>
            <a:prstDash val="solid"/>
            <a:round/>
          </a:ln>
        </p:spPr>
      </p:sp>
      <p:sp>
        <p:nvSpPr>
          <p:cNvPr id="32" name="Text 29"/>
          <p:cNvSpPr/>
          <p:nvPr/>
        </p:nvSpPr>
        <p:spPr>
          <a:xfrm>
            <a:off x="1161288" y="4672584"/>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UP no garantiza que todos los avisos llegaron</a:t>
            </a:r>
            <a:endParaRPr lang="en-US" sz="1350" dirty="0"/>
          </a:p>
        </p:txBody>
      </p:sp>
      <p:sp>
        <p:nvSpPr>
          <p:cNvPr id="33"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ECS, sin cambiar el código de negocio.</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traceId propagado por el RestClient y eventoId en cada log.</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Contratos vivos con Swagger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8"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de la API sale del mismo código.</a:t>
            </a:r>
            <a:endParaRPr lang="en-US" sz="2400" dirty="0"/>
          </a:p>
        </p:txBody>
      </p:sp>
      <p:sp>
        <p:nvSpPr>
          <p:cNvPr id="21" name="Shape 18"/>
          <p:cNvSpPr/>
          <p:nvPr/>
        </p:nvSpPr>
        <p:spPr>
          <a:xfrm>
            <a:off x="612648" y="2778633"/>
            <a:ext cx="420624" cy="420624"/>
          </a:xfrm>
          <a:prstGeom prst="ellipse">
            <a:avLst/>
          </a:prstGeom>
          <a:solidFill>
            <a:srgbClr val="E3F4FA"/>
          </a:solidFill>
          <a:ln w="12700">
            <a:solidFill>
              <a:srgbClr val="E3F4FA"/>
            </a:solidFill>
            <a:prstDash val="solid"/>
          </a:ln>
        </p:spPr>
      </p:sp>
      <p:sp>
        <p:nvSpPr>
          <p:cNvPr id="22"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23" name="Text 20"/>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OpenAPI</a:t>
            </a:r>
            <a:endParaRPr lang="en-US" sz="1350" dirty="0"/>
          </a:p>
        </p:txBody>
      </p:sp>
      <p:sp>
        <p:nvSpPr>
          <p:cNvPr id="24" name="Shape 21"/>
          <p:cNvSpPr/>
          <p:nvPr/>
        </p:nvSpPr>
        <p:spPr>
          <a:xfrm>
            <a:off x="612648" y="3361563"/>
            <a:ext cx="420624" cy="420624"/>
          </a:xfrm>
          <a:prstGeom prst="ellipse">
            <a:avLst/>
          </a:prstGeom>
          <a:solidFill>
            <a:srgbClr val="E3F4FA"/>
          </a:solidFill>
          <a:ln w="12700">
            <a:solidFill>
              <a:srgbClr val="E3F4FA"/>
            </a:solidFill>
            <a:prstDash val="solid"/>
          </a:ln>
        </p:spPr>
      </p:sp>
      <p:sp>
        <p:nvSpPr>
          <p:cNvPr id="25" name="Icono play"/>
          <p:cNvSpPr/>
          <p:nvPr/>
        </p:nvSpPr>
        <p:spPr>
          <a:xfrm>
            <a:off x="713598" y="346251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6" name="Text 23"/>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UI lo muestra y permite probarlo</a:t>
            </a:r>
            <a:endParaRPr lang="en-US" sz="1350" dirty="0"/>
          </a:p>
        </p:txBody>
      </p:sp>
      <p:sp>
        <p:nvSpPr>
          <p:cNvPr id="27" name="Shape 24"/>
          <p:cNvSpPr/>
          <p:nvPr/>
        </p:nvSpPr>
        <p:spPr>
          <a:xfrm>
            <a:off x="612648" y="3944493"/>
            <a:ext cx="420624" cy="420624"/>
          </a:xfrm>
          <a:prstGeom prst="ellipse">
            <a:avLst/>
          </a:prstGeom>
          <a:solidFill>
            <a:srgbClr val="E3F4FA"/>
          </a:solidFill>
          <a:ln w="12700">
            <a:solidFill>
              <a:srgbClr val="E3F4FA"/>
            </a:solidFill>
            <a:prstDash val="solid"/>
          </a:ln>
        </p:spPr>
      </p:sp>
      <p:sp>
        <p:nvSpPr>
          <p:cNvPr id="28" name="Icono sparkles"/>
          <p:cNvSpPr/>
          <p:nvPr/>
        </p:nvSpPr>
        <p:spPr>
          <a:xfrm>
            <a:off x="713598" y="404544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9" name="Text 26"/>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Un endpoint nuevo aparece solo</a:t>
            </a:r>
            <a:endParaRPr lang="en-US" sz="1350" dirty="0"/>
          </a:p>
        </p:txBody>
      </p:sp>
      <p:sp>
        <p:nvSpPr>
          <p:cNvPr id="30" name="Shape 27"/>
          <p:cNvSpPr/>
          <p:nvPr/>
        </p:nvSpPr>
        <p:spPr>
          <a:xfrm>
            <a:off x="612648" y="4527423"/>
            <a:ext cx="420624" cy="420624"/>
          </a:xfrm>
          <a:prstGeom prst="ellipse">
            <a:avLst/>
          </a:prstGeom>
          <a:solidFill>
            <a:srgbClr val="E3F4FA"/>
          </a:solidFill>
          <a:ln w="12700">
            <a:solidFill>
              <a:srgbClr val="E3F4FA"/>
            </a:solidFill>
            <a:prstDash val="solid"/>
          </a:ln>
        </p:spPr>
      </p:sp>
      <p:sp>
        <p:nvSpPr>
          <p:cNvPr id="31" name="Icono link"/>
          <p:cNvSpPr/>
          <p:nvPr/>
        </p:nvSpPr>
        <p:spPr>
          <a:xfrm>
            <a:off x="713598" y="4628373"/>
            <a:ext cx="218724" cy="218724"/>
          </a:xfrm>
          <a:custGeom>
            <a:avLst/>
            <a:gdLst/>
            <a:ahLst/>
            <a:cxnLst/>
            <a:rect l="l" t="t" r="r" b="b"/>
            <a:pathLst>
              <a:path w="218724" h="218724">
                <a:moveTo>
                  <a:pt x="91135" y="118476"/>
                </a:moveTo>
                <a:cubicBezTo>
                  <a:pt x="99054" y="129063"/>
                  <a:pt x="111182" y="135688"/>
                  <a:pt x="124369" y="136633"/>
                </a:cubicBezTo>
                <a:cubicBezTo>
                  <a:pt x="137556" y="137577"/>
                  <a:pt x="150504" y="132748"/>
                  <a:pt x="159851" y="123397"/>
                </a:cubicBezTo>
                <a:lnTo>
                  <a:pt x="187192" y="96057"/>
                </a:lnTo>
                <a:cubicBezTo>
                  <a:pt x="204461" y="78177"/>
                  <a:pt x="204214" y="49756"/>
                  <a:pt x="186637" y="32179"/>
                </a:cubicBezTo>
                <a:cubicBezTo>
                  <a:pt x="169060" y="14602"/>
                  <a:pt x="140639" y="14355"/>
                  <a:pt x="122759" y="31624"/>
                </a:cubicBezTo>
                <a:lnTo>
                  <a:pt x="107084" y="47208"/>
                </a:lnTo>
                <a:moveTo>
                  <a:pt x="127589" y="100249"/>
                </a:moveTo>
                <a:cubicBezTo>
                  <a:pt x="119670" y="89662"/>
                  <a:pt x="107543" y="83036"/>
                  <a:pt x="94355" y="82092"/>
                </a:cubicBezTo>
                <a:cubicBezTo>
                  <a:pt x="81168" y="81147"/>
                  <a:pt x="68220" y="85977"/>
                  <a:pt x="58873" y="95327"/>
                </a:cubicBezTo>
                <a:lnTo>
                  <a:pt x="31533" y="122668"/>
                </a:lnTo>
                <a:cubicBezTo>
                  <a:pt x="14264" y="140548"/>
                  <a:pt x="14511" y="168969"/>
                  <a:pt x="32088" y="186545"/>
                </a:cubicBezTo>
                <a:cubicBezTo>
                  <a:pt x="49665" y="204122"/>
                  <a:pt x="78086" y="204369"/>
                  <a:pt x="95965" y="187101"/>
                </a:cubicBezTo>
                <a:lnTo>
                  <a:pt x="111549" y="171516"/>
                </a:lnTo>
              </a:path>
            </a:pathLst>
          </a:custGeom>
          <a:noFill/>
          <a:ln w="18227" cap="rnd">
            <a:solidFill>
              <a:srgbClr val="0B6E8A"/>
            </a:solidFill>
            <a:prstDash val="solid"/>
            <a:round/>
          </a:ln>
        </p:spPr>
      </p:sp>
      <p:sp>
        <p:nvSpPr>
          <p:cNvPr id="32" name="Text 29"/>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UI enlaza los dos Swagger</a:t>
            </a:r>
            <a:endParaRPr lang="en-US" sz="1350" dirty="0"/>
          </a:p>
        </p:txBody>
      </p:sp>
      <p:sp>
        <p:nvSpPr>
          <p:cNvPr id="33" name="Shape 30"/>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34" name="Shape 31"/>
          <p:cNvSpPr/>
          <p:nvPr/>
        </p:nvSpPr>
        <p:spPr>
          <a:xfrm>
            <a:off x="795528" y="5458968"/>
            <a:ext cx="603504" cy="603504"/>
          </a:xfrm>
          <a:prstGeom prst="ellipse">
            <a:avLst/>
          </a:prstGeom>
          <a:solidFill>
            <a:srgbClr val="FFFFFF"/>
          </a:solidFill>
          <a:ln w="12700">
            <a:solidFill>
              <a:srgbClr val="FFFFFF"/>
            </a:solidFill>
            <a:prstDash val="solid"/>
          </a:ln>
        </p:spPr>
      </p:sp>
      <p:sp>
        <p:nvSpPr>
          <p:cNvPr id="35"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36" name="Text 33"/>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37"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Documentación: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book-open"/>
          <p:cNvSpPr/>
          <p:nvPr/>
        </p:nvSpPr>
        <p:spPr>
          <a:xfrm>
            <a:off x="1058144" y="1817096"/>
            <a:ext cx="370881" cy="370881"/>
          </a:xfrm>
          <a:custGeom>
            <a:avLst/>
            <a:gdLst/>
            <a:ahLst/>
            <a:cxnLst/>
            <a:rect l="l" t="t" r="r" b="b"/>
            <a:pathLst>
              <a:path w="370881" h="370881">
                <a:moveTo>
                  <a:pt x="185440" y="108174"/>
                </a:moveTo>
                <a:lnTo>
                  <a:pt x="185440" y="324521"/>
                </a:lnTo>
                <a:moveTo>
                  <a:pt x="46360" y="278160"/>
                </a:moveTo>
                <a:cubicBezTo>
                  <a:pt x="37825" y="278160"/>
                  <a:pt x="30907" y="271242"/>
                  <a:pt x="30907" y="262707"/>
                </a:cubicBezTo>
                <a:lnTo>
                  <a:pt x="30907" y="61813"/>
                </a:lnTo>
                <a:cubicBezTo>
                  <a:pt x="30907" y="53279"/>
                  <a:pt x="37825" y="46360"/>
                  <a:pt x="46360" y="46360"/>
                </a:cubicBezTo>
                <a:lnTo>
                  <a:pt x="123627" y="46360"/>
                </a:lnTo>
                <a:cubicBezTo>
                  <a:pt x="157766" y="46360"/>
                  <a:pt x="185440" y="74035"/>
                  <a:pt x="185440" y="108174"/>
                </a:cubicBezTo>
                <a:cubicBezTo>
                  <a:pt x="185440" y="74035"/>
                  <a:pt x="213115" y="46360"/>
                  <a:pt x="247254" y="46360"/>
                </a:cubicBezTo>
                <a:lnTo>
                  <a:pt x="324521" y="46360"/>
                </a:lnTo>
                <a:cubicBezTo>
                  <a:pt x="333055" y="46360"/>
                  <a:pt x="339974" y="53279"/>
                  <a:pt x="339974" y="61813"/>
                </a:cubicBezTo>
                <a:lnTo>
                  <a:pt x="339974" y="262707"/>
                </a:lnTo>
                <a:cubicBezTo>
                  <a:pt x="339974" y="271242"/>
                  <a:pt x="333055" y="278160"/>
                  <a:pt x="324521" y="278160"/>
                </a:cubicBezTo>
                <a:lnTo>
                  <a:pt x="231800" y="278160"/>
                </a:lnTo>
                <a:cubicBezTo>
                  <a:pt x="206196" y="278160"/>
                  <a:pt x="185440" y="298917"/>
                  <a:pt x="185440" y="324521"/>
                </a:cubicBezTo>
                <a:cubicBezTo>
                  <a:pt x="185440" y="298917"/>
                  <a:pt x="164684" y="278160"/>
                  <a:pt x="139080" y="278160"/>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endpoints documentados solos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Swagger, uno por servicio</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parkles"/>
          <p:cNvSpPr/>
          <p:nvPr/>
        </p:nvSpPr>
        <p:spPr>
          <a:xfrm>
            <a:off x="4258544" y="1955780"/>
            <a:ext cx="370881" cy="370881"/>
          </a:xfrm>
          <a:custGeom>
            <a:avLst/>
            <a:gdLst/>
            <a:ahLst/>
            <a:cxnLst/>
            <a:rect l="l" t="t" r="r" b="b"/>
            <a:pathLst>
              <a:path w="370881" h="370881">
                <a:moveTo>
                  <a:pt x="153560" y="239527"/>
                </a:moveTo>
                <a:cubicBezTo>
                  <a:pt x="150750" y="228636"/>
                  <a:pt x="142245" y="220130"/>
                  <a:pt x="131354" y="217321"/>
                </a:cubicBezTo>
                <a:lnTo>
                  <a:pt x="36547" y="192873"/>
                </a:lnTo>
                <a:cubicBezTo>
                  <a:pt x="33224" y="191930"/>
                  <a:pt x="30930" y="188895"/>
                  <a:pt x="30930" y="185440"/>
                </a:cubicBezTo>
                <a:cubicBezTo>
                  <a:pt x="30930" y="181986"/>
                  <a:pt x="33224" y="178951"/>
                  <a:pt x="36547" y="178007"/>
                </a:cubicBezTo>
                <a:lnTo>
                  <a:pt x="131354" y="153545"/>
                </a:lnTo>
                <a:cubicBezTo>
                  <a:pt x="142241" y="150738"/>
                  <a:pt x="150745" y="142239"/>
                  <a:pt x="153560" y="131354"/>
                </a:cubicBezTo>
                <a:lnTo>
                  <a:pt x="178007" y="36547"/>
                </a:lnTo>
                <a:cubicBezTo>
                  <a:pt x="178941" y="33210"/>
                  <a:pt x="181983" y="30903"/>
                  <a:pt x="185448" y="30903"/>
                </a:cubicBezTo>
                <a:cubicBezTo>
                  <a:pt x="188913" y="30903"/>
                  <a:pt x="191955" y="33210"/>
                  <a:pt x="192889" y="36547"/>
                </a:cubicBezTo>
                <a:lnTo>
                  <a:pt x="217321" y="131354"/>
                </a:lnTo>
                <a:cubicBezTo>
                  <a:pt x="220130" y="142245"/>
                  <a:pt x="228636" y="150750"/>
                  <a:pt x="239527" y="153560"/>
                </a:cubicBezTo>
                <a:lnTo>
                  <a:pt x="334333" y="177992"/>
                </a:lnTo>
                <a:cubicBezTo>
                  <a:pt x="337684" y="178916"/>
                  <a:pt x="340006" y="181964"/>
                  <a:pt x="340006" y="185440"/>
                </a:cubicBezTo>
                <a:cubicBezTo>
                  <a:pt x="340006" y="188916"/>
                  <a:pt x="337684" y="191965"/>
                  <a:pt x="334333" y="192889"/>
                </a:cubicBezTo>
                <a:lnTo>
                  <a:pt x="239527" y="217321"/>
                </a:lnTo>
                <a:cubicBezTo>
                  <a:pt x="228636" y="220130"/>
                  <a:pt x="220130" y="228636"/>
                  <a:pt x="217321" y="239527"/>
                </a:cubicBezTo>
                <a:lnTo>
                  <a:pt x="192873" y="334333"/>
                </a:lnTo>
                <a:cubicBezTo>
                  <a:pt x="191939" y="337671"/>
                  <a:pt x="188898" y="339978"/>
                  <a:pt x="185433" y="339978"/>
                </a:cubicBezTo>
                <a:cubicBezTo>
                  <a:pt x="181967" y="339978"/>
                  <a:pt x="178926" y="337671"/>
                  <a:pt x="177992" y="334333"/>
                </a:cubicBezTo>
                <a:close/>
                <a:moveTo>
                  <a:pt x="309067" y="46360"/>
                </a:moveTo>
                <a:lnTo>
                  <a:pt x="309067" y="108174"/>
                </a:lnTo>
                <a:moveTo>
                  <a:pt x="339974" y="77267"/>
                </a:moveTo>
                <a:lnTo>
                  <a:pt x="278160" y="77267"/>
                </a:lnTo>
                <a:moveTo>
                  <a:pt x="61813" y="262707"/>
                </a:moveTo>
                <a:lnTo>
                  <a:pt x="61813" y="293614"/>
                </a:lnTo>
                <a:moveTo>
                  <a:pt x="77267" y="278160"/>
                </a:moveTo>
                <a:lnTo>
                  <a:pt x="4636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 que se genera no se desactualiza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OpenAPI sale de los controladores con springdoc.</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Cero horas manteniendo un documento de API aparte.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git-pull-request"/>
          <p:cNvSpPr/>
          <p:nvPr/>
        </p:nvSpPr>
        <p:spPr>
          <a:xfrm>
            <a:off x="4258544" y="367790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doc se revisa en el mismo PR</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cambio y su explicación llegan juntos.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Quien revisa entiende el porqué, no solo el qué.</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raduation-cap"/>
          <p:cNvSpPr/>
          <p:nvPr/>
        </p:nvSpPr>
        <p:spPr>
          <a:xfrm>
            <a:off x="4258544" y="5400020"/>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Documentar para quien llega mañana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Guías en PowerShell, diagramas y la Ayuda de la UI.</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tiempo para que alguien nuevo aporte.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UI para ver el sistema por dentro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es parte del entregable: la hicimos para ejemplificar lo que aprendimos.</a:t>
            </a:r>
            <a:endParaRPr lang="en-US" sz="1700" dirty="0"/>
          </a:p>
        </p:txBody>
      </p:sp>
      <p:sp>
        <p:nvSpPr>
          <p:cNvPr id="14" name="Shape 12"/>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5" name="Shape 13"/>
          <p:cNvSpPr/>
          <p:nvPr/>
        </p:nvSpPr>
        <p:spPr>
          <a:xfrm>
            <a:off x="722376" y="1816730"/>
            <a:ext cx="74615" cy="74615"/>
          </a:xfrm>
          <a:prstGeom prst="ellipse">
            <a:avLst/>
          </a:prstGeom>
          <a:solidFill>
            <a:srgbClr val="E5484D"/>
          </a:solidFill>
          <a:ln w="12700">
            <a:solidFill>
              <a:srgbClr val="E5484D"/>
            </a:solidFill>
            <a:prstDash val="solid"/>
          </a:ln>
        </p:spPr>
      </p:sp>
      <p:sp>
        <p:nvSpPr>
          <p:cNvPr id="16" name="Shape 14"/>
          <p:cNvSpPr/>
          <p:nvPr/>
        </p:nvSpPr>
        <p:spPr>
          <a:xfrm>
            <a:off x="821131" y="1816730"/>
            <a:ext cx="74615" cy="74615"/>
          </a:xfrm>
          <a:prstGeom prst="ellipse">
            <a:avLst/>
          </a:prstGeom>
          <a:solidFill>
            <a:srgbClr val="F5A524"/>
          </a:solidFill>
          <a:ln w="12700">
            <a:solidFill>
              <a:srgbClr val="F5A524"/>
            </a:solidFill>
            <a:prstDash val="solid"/>
          </a:ln>
        </p:spPr>
      </p:sp>
      <p:sp>
        <p:nvSpPr>
          <p:cNvPr id="17" name="Shape 15"/>
          <p:cNvSpPr/>
          <p:nvPr/>
        </p:nvSpPr>
        <p:spPr>
          <a:xfrm>
            <a:off x="919886" y="1816730"/>
            <a:ext cx="74615" cy="74615"/>
          </a:xfrm>
          <a:prstGeom prst="ellipse">
            <a:avLst/>
          </a:prstGeom>
          <a:solidFill>
            <a:srgbClr val="30A46C"/>
          </a:solidFill>
          <a:ln w="12700">
            <a:solidFill>
              <a:srgbClr val="30A46C"/>
            </a:solidFill>
            <a:prstDash val="solid"/>
          </a:ln>
        </p:spPr>
      </p:sp>
      <p:sp>
        <p:nvSpPr>
          <p:cNvPr id="18" name="Text 16"/>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9"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20" name="Text 17"/>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21" name="Text 18"/>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22" name="Text 19"/>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Crear, enviar y decidir.</a:t>
            </a:r>
            <a:endParaRPr lang="en-US" sz="1400" dirty="0"/>
          </a:p>
        </p:txBody>
      </p:sp>
      <p:sp>
        <p:nvSpPr>
          <p:cNvPr id="23" name="Shape 20"/>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4" name="Shape 21"/>
          <p:cNvSpPr/>
          <p:nvPr/>
        </p:nvSpPr>
        <p:spPr>
          <a:xfrm>
            <a:off x="6388456" y="1816730"/>
            <a:ext cx="74615" cy="74615"/>
          </a:xfrm>
          <a:prstGeom prst="ellipse">
            <a:avLst/>
          </a:prstGeom>
          <a:solidFill>
            <a:srgbClr val="E5484D"/>
          </a:solidFill>
          <a:ln w="12700">
            <a:solidFill>
              <a:srgbClr val="E5484D"/>
            </a:solidFill>
            <a:prstDash val="solid"/>
          </a:ln>
        </p:spPr>
      </p:sp>
      <p:sp>
        <p:nvSpPr>
          <p:cNvPr id="25" name="Shape 22"/>
          <p:cNvSpPr/>
          <p:nvPr/>
        </p:nvSpPr>
        <p:spPr>
          <a:xfrm>
            <a:off x="6487211" y="1816730"/>
            <a:ext cx="74615" cy="74615"/>
          </a:xfrm>
          <a:prstGeom prst="ellipse">
            <a:avLst/>
          </a:prstGeom>
          <a:solidFill>
            <a:srgbClr val="F5A524"/>
          </a:solidFill>
          <a:ln w="12700">
            <a:solidFill>
              <a:srgbClr val="F5A524"/>
            </a:solidFill>
            <a:prstDash val="solid"/>
          </a:ln>
        </p:spPr>
      </p:sp>
      <p:sp>
        <p:nvSpPr>
          <p:cNvPr id="26" name="Shape 23"/>
          <p:cNvSpPr/>
          <p:nvPr/>
        </p:nvSpPr>
        <p:spPr>
          <a:xfrm>
            <a:off x="6585966" y="1816730"/>
            <a:ext cx="74615" cy="74615"/>
          </a:xfrm>
          <a:prstGeom prst="ellipse">
            <a:avLst/>
          </a:prstGeom>
          <a:solidFill>
            <a:srgbClr val="30A46C"/>
          </a:solidFill>
          <a:ln w="12700">
            <a:solidFill>
              <a:srgbClr val="30A46C"/>
            </a:solidFill>
            <a:prstDash val="solid"/>
          </a:ln>
        </p:spPr>
      </p:sp>
      <p:sp>
        <p:nvSpPr>
          <p:cNvPr id="27" name="Text 24"/>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8" name="Image 1"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9" name="Text 25"/>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30" name="Text 26"/>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31" name="Text 27"/>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Pendientes, entregados y Reentregar.</a:t>
            </a:r>
            <a:endParaRPr lang="en-US" sz="1400" dirty="0"/>
          </a:p>
        </p:txBody>
      </p:sp>
      <p:sp>
        <p:nvSpPr>
          <p:cNvPr id="32" name="Shape 28"/>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3" name="Shape 29"/>
          <p:cNvSpPr/>
          <p:nvPr/>
        </p:nvSpPr>
        <p:spPr>
          <a:xfrm>
            <a:off x="722376" y="3974714"/>
            <a:ext cx="74615" cy="74615"/>
          </a:xfrm>
          <a:prstGeom prst="ellipse">
            <a:avLst/>
          </a:prstGeom>
          <a:solidFill>
            <a:srgbClr val="E5484D"/>
          </a:solidFill>
          <a:ln w="12700">
            <a:solidFill>
              <a:srgbClr val="E5484D"/>
            </a:solidFill>
            <a:prstDash val="solid"/>
          </a:ln>
        </p:spPr>
      </p:sp>
      <p:sp>
        <p:nvSpPr>
          <p:cNvPr id="34" name="Shape 30"/>
          <p:cNvSpPr/>
          <p:nvPr/>
        </p:nvSpPr>
        <p:spPr>
          <a:xfrm>
            <a:off x="821131" y="3974714"/>
            <a:ext cx="74615" cy="74615"/>
          </a:xfrm>
          <a:prstGeom prst="ellipse">
            <a:avLst/>
          </a:prstGeom>
          <a:solidFill>
            <a:srgbClr val="F5A524"/>
          </a:solidFill>
          <a:ln w="12700">
            <a:solidFill>
              <a:srgbClr val="F5A524"/>
            </a:solidFill>
            <a:prstDash val="solid"/>
          </a:ln>
        </p:spPr>
      </p:sp>
      <p:sp>
        <p:nvSpPr>
          <p:cNvPr id="35" name="Shape 31"/>
          <p:cNvSpPr/>
          <p:nvPr/>
        </p:nvSpPr>
        <p:spPr>
          <a:xfrm>
            <a:off x="919886" y="3974714"/>
            <a:ext cx="74615" cy="74615"/>
          </a:xfrm>
          <a:prstGeom prst="ellipse">
            <a:avLst/>
          </a:prstGeom>
          <a:solidFill>
            <a:srgbClr val="30A46C"/>
          </a:solidFill>
          <a:ln w="12700">
            <a:solidFill>
              <a:srgbClr val="30A46C"/>
            </a:solidFill>
            <a:prstDash val="solid"/>
          </a:ln>
        </p:spPr>
      </p:sp>
      <p:sp>
        <p:nvSpPr>
          <p:cNvPr id="36" name="Text 32"/>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37" name="Image 2" descr="Salud">    </p:cNvPr>
          <p:cNvPicPr>
            <a:picLocks noChangeAspect="1"/>
          </p:cNvPicPr>
          <p:nvPr/>
        </p:nvPicPr>
        <p:blipFill>
          <a:blip r:embed="rId3"/>
          <a:stretch>
            <a:fillRect/>
          </a:stretch>
        </p:blipFill>
        <p:spPr>
          <a:xfrm>
            <a:off x="612648" y="4123944"/>
            <a:ext cx="2877386" cy="1798366"/>
          </a:xfrm>
          <a:prstGeom prst="rect">
            <a:avLst/>
          </a:prstGeom>
        </p:spPr>
      </p:pic>
      <p:sp>
        <p:nvSpPr>
          <p:cNvPr id="38" name="Text 33"/>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9" name="Text 34"/>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40" name="Text 35"/>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UP o DOWN, Swagger y Grafana.</a:t>
            </a:r>
            <a:endParaRPr lang="en-US" sz="1400" dirty="0"/>
          </a:p>
        </p:txBody>
      </p:sp>
      <p:sp>
        <p:nvSpPr>
          <p:cNvPr id="41" name="Shape 36"/>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42" name="Shape 37"/>
          <p:cNvSpPr/>
          <p:nvPr/>
        </p:nvSpPr>
        <p:spPr>
          <a:xfrm>
            <a:off x="6388456" y="3974714"/>
            <a:ext cx="74615" cy="74615"/>
          </a:xfrm>
          <a:prstGeom prst="ellipse">
            <a:avLst/>
          </a:prstGeom>
          <a:solidFill>
            <a:srgbClr val="E5484D"/>
          </a:solidFill>
          <a:ln w="12700">
            <a:solidFill>
              <a:srgbClr val="E5484D"/>
            </a:solidFill>
            <a:prstDash val="solid"/>
          </a:ln>
        </p:spPr>
      </p:sp>
      <p:sp>
        <p:nvSpPr>
          <p:cNvPr id="43" name="Shape 38"/>
          <p:cNvSpPr/>
          <p:nvPr/>
        </p:nvSpPr>
        <p:spPr>
          <a:xfrm>
            <a:off x="6487211" y="3974714"/>
            <a:ext cx="74615" cy="74615"/>
          </a:xfrm>
          <a:prstGeom prst="ellipse">
            <a:avLst/>
          </a:prstGeom>
          <a:solidFill>
            <a:srgbClr val="F5A524"/>
          </a:solidFill>
          <a:ln w="12700">
            <a:solidFill>
              <a:srgbClr val="F5A524"/>
            </a:solidFill>
            <a:prstDash val="solid"/>
          </a:ln>
        </p:spPr>
      </p:sp>
      <p:sp>
        <p:nvSpPr>
          <p:cNvPr id="44" name="Shape 39"/>
          <p:cNvSpPr/>
          <p:nvPr/>
        </p:nvSpPr>
        <p:spPr>
          <a:xfrm>
            <a:off x="6585966" y="3974714"/>
            <a:ext cx="74615" cy="74615"/>
          </a:xfrm>
          <a:prstGeom prst="ellipse">
            <a:avLst/>
          </a:prstGeom>
          <a:solidFill>
            <a:srgbClr val="30A46C"/>
          </a:solidFill>
          <a:ln w="12700">
            <a:solidFill>
              <a:srgbClr val="30A46C"/>
            </a:solidFill>
            <a:prstDash val="solid"/>
          </a:ln>
        </p:spPr>
      </p:sp>
      <p:sp>
        <p:nvSpPr>
          <p:cNvPr id="45" name="Text 40"/>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46" name="Image 3" descr="Ayuda">    </p:cNvPr>
          <p:cNvPicPr>
            <a:picLocks noChangeAspect="1"/>
          </p:cNvPicPr>
          <p:nvPr/>
        </p:nvPicPr>
        <p:blipFill>
          <a:blip r:embed="rId4"/>
          <a:stretch>
            <a:fillRect/>
          </a:stretch>
        </p:blipFill>
        <p:spPr>
          <a:xfrm>
            <a:off x="6278728" y="4123944"/>
            <a:ext cx="2877386" cy="1798366"/>
          </a:xfrm>
          <a:prstGeom prst="rect">
            <a:avLst/>
          </a:prstGeom>
        </p:spPr>
      </p:pic>
      <p:sp>
        <p:nvSpPr>
          <p:cNvPr id="47" name="Text 41"/>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8" name="Text 42"/>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9" name="Text 43"/>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a:t>
            </a:r>
            <a:endParaRPr lang="en-US" sz="1400" dirty="0"/>
          </a:p>
        </p:txBody>
      </p:sp>
      <p:sp>
        <p:nvSpPr>
          <p:cNvPr id="50" name="Shape 44"/>
          <p:cNvSpPr/>
          <p:nvPr/>
        </p:nvSpPr>
        <p:spPr>
          <a:xfrm>
            <a:off x="0" y="5961888"/>
            <a:ext cx="12191695" cy="475488"/>
          </a:xfrm>
          <a:prstGeom prst="rect">
            <a:avLst/>
          </a:prstGeom>
          <a:solidFill>
            <a:srgbClr val="0B2350"/>
          </a:solidFill>
          <a:ln w="12700">
            <a:solidFill>
              <a:srgbClr val="0B2350"/>
            </a:solidFill>
            <a:prstDash val="solid"/>
          </a:ln>
        </p:spPr>
      </p:sp>
      <p:sp>
        <p:nvSpPr>
          <p:cNvPr id="5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2" name="Text 4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Hace visible lo invisible: la bandeja de salida, los reintentos y la idempotencia.</a:t>
            </a:r>
            <a:endParaRPr lang="en-US" sz="1400" dirty="0"/>
          </a:p>
        </p:txBody>
      </p:sp>
      <p:sp>
        <p:nvSpPr>
          <p:cNvPr id="53"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 notificaciones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usuario no se entera; el aviso llega cuando el servicio vuelve.</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sin duplicados.</a:t>
            </a:r>
            <a:endParaRPr lang="en-US" sz="170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200: solicitud ENVIADA y evento guardado.</a:t>
            </a:r>
            <a:endParaRPr lang="en-US" sz="1300" dirty="0"/>
          </a:p>
        </p:txBody>
      </p:sp>
      <p:sp>
        <p:nvSpPr>
          <p:cNvPr id="35" name="Text 33"/>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6" name="Shape 34"/>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7" name="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1" name="Text 39"/>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2" name="Shape 40"/>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3" name="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Salud en DOWN y “1 evento en camino”.</a:t>
            </a:r>
            <a:endParaRPr lang="en-US" sz="1300" dirty="0"/>
          </a:p>
        </p:txBody>
      </p:sp>
      <p:sp>
        <p:nvSpPr>
          <p:cNvPr id="47" name="Text 45"/>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se comporta cuando algo falla</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falla tiene una reacción prevista y algo visible en la UI.</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FALLA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REACCIONA EL SISTEMA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SE VE EN LA UI</a:t>
            </a:r>
            <a:endParaRPr lang="en-US" sz="1150" dirty="0"/>
          </a:p>
        </p:txBody>
      </p:sp>
      <p:sp>
        <p:nvSpPr>
          <p:cNvPr id="18" name="Shape 16"/>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546811"/>
          </a:xfrm>
          <a:prstGeom prst="rect">
            <a:avLst/>
          </a:prstGeom>
          <a:solidFill>
            <a:srgbClr val="AB243E"/>
          </a:solidFill>
          <a:ln w="12700">
            <a:solidFill>
              <a:srgbClr val="AB243E"/>
            </a:solidFill>
            <a:prstDash val="solid"/>
          </a:ln>
        </p:spPr>
      </p:sp>
      <p:sp>
        <p:nvSpPr>
          <p:cNvPr id="20" name="Shape 18"/>
          <p:cNvSpPr/>
          <p:nvPr/>
        </p:nvSpPr>
        <p:spPr>
          <a:xfrm>
            <a:off x="772668" y="2376526"/>
            <a:ext cx="512064" cy="512064"/>
          </a:xfrm>
          <a:prstGeom prst="ellipse">
            <a:avLst/>
          </a:prstGeom>
          <a:solidFill>
            <a:srgbClr val="F7E3E7"/>
          </a:solidFill>
          <a:ln w="12700">
            <a:solidFill>
              <a:srgbClr val="F7E3E7"/>
            </a:solidFill>
            <a:prstDash val="solid"/>
          </a:ln>
        </p:spPr>
      </p:sp>
      <p:sp>
        <p:nvSpPr>
          <p:cNvPr id="21" name="Icono siren"/>
          <p:cNvSpPr/>
          <p:nvPr/>
        </p:nvSpPr>
        <p:spPr>
          <a:xfrm>
            <a:off x="895563" y="2499421"/>
            <a:ext cx="266273" cy="266273"/>
          </a:xfrm>
          <a:custGeom>
            <a:avLst/>
            <a:gdLst/>
            <a:ahLst/>
            <a:cxnLst/>
            <a:rect l="l" t="t" r="r" b="b"/>
            <a:pathLst>
              <a:path w="266273" h="266273">
                <a:moveTo>
                  <a:pt x="77663" y="199705"/>
                </a:moveTo>
                <a:lnTo>
                  <a:pt x="77663" y="133137"/>
                </a:lnTo>
                <a:cubicBezTo>
                  <a:pt x="77663" y="102499"/>
                  <a:pt x="102499" y="77663"/>
                  <a:pt x="133137" y="77663"/>
                </a:cubicBezTo>
                <a:cubicBezTo>
                  <a:pt x="163774" y="77663"/>
                  <a:pt x="188610" y="102499"/>
                  <a:pt x="188610" y="133137"/>
                </a:cubicBezTo>
                <a:lnTo>
                  <a:pt x="188610" y="199705"/>
                </a:lnTo>
                <a:moveTo>
                  <a:pt x="55474" y="232989"/>
                </a:moveTo>
                <a:cubicBezTo>
                  <a:pt x="55474" y="239117"/>
                  <a:pt x="60441" y="244084"/>
                  <a:pt x="66568" y="244084"/>
                </a:cubicBezTo>
                <a:lnTo>
                  <a:pt x="199705" y="244084"/>
                </a:lnTo>
                <a:cubicBezTo>
                  <a:pt x="205832" y="244084"/>
                  <a:pt x="210800" y="239117"/>
                  <a:pt x="210800" y="232989"/>
                </a:cubicBezTo>
                <a:lnTo>
                  <a:pt x="210800" y="221894"/>
                </a:lnTo>
                <a:cubicBezTo>
                  <a:pt x="210800" y="209640"/>
                  <a:pt x="200865" y="199705"/>
                  <a:pt x="188610" y="199705"/>
                </a:cubicBezTo>
                <a:lnTo>
                  <a:pt x="77663" y="199705"/>
                </a:lnTo>
                <a:cubicBezTo>
                  <a:pt x="65408" y="199705"/>
                  <a:pt x="55474" y="209640"/>
                  <a:pt x="55474" y="221894"/>
                </a:cubicBezTo>
                <a:close/>
                <a:moveTo>
                  <a:pt x="232989" y="133137"/>
                </a:moveTo>
                <a:lnTo>
                  <a:pt x="244084" y="133137"/>
                </a:lnTo>
                <a:moveTo>
                  <a:pt x="205252" y="49926"/>
                </a:moveTo>
                <a:lnTo>
                  <a:pt x="199705" y="55474"/>
                </a:lnTo>
                <a:moveTo>
                  <a:pt x="22189" y="133137"/>
                </a:moveTo>
                <a:lnTo>
                  <a:pt x="33284" y="133137"/>
                </a:lnTo>
                <a:moveTo>
                  <a:pt x="133137" y="22189"/>
                </a:moveTo>
                <a:lnTo>
                  <a:pt x="133137" y="33284"/>
                </a:lnTo>
                <a:moveTo>
                  <a:pt x="54686" y="54686"/>
                </a:moveTo>
                <a:lnTo>
                  <a:pt x="62530" y="62530"/>
                </a:lnTo>
                <a:moveTo>
                  <a:pt x="133137" y="133137"/>
                </a:moveTo>
                <a:lnTo>
                  <a:pt x="133137" y="199705"/>
                </a:lnTo>
              </a:path>
            </a:pathLst>
          </a:custGeom>
          <a:noFill/>
          <a:ln w="22189" cap="rnd">
            <a:solidFill>
              <a:srgbClr val="AB243E"/>
            </a:solidFill>
            <a:prstDash val="solid"/>
            <a:round/>
          </a:ln>
        </p:spPr>
      </p:sp>
      <p:sp>
        <p:nvSpPr>
          <p:cNvPr id="22" name="Text 20"/>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notificaciones está caído</a:t>
            </a:r>
            <a:endParaRPr lang="en-US" sz="1500" dirty="0"/>
          </a:p>
        </p:txBody>
      </p:sp>
      <p:sp>
        <p:nvSpPr>
          <p:cNvPr id="23" name="Shape 21"/>
          <p:cNvSpPr/>
          <p:nvPr/>
        </p:nvSpPr>
        <p:spPr>
          <a:xfrm>
            <a:off x="4140961" y="2395728"/>
            <a:ext cx="0" cy="473659"/>
          </a:xfrm>
          <a:prstGeom prst="line">
            <a:avLst/>
          </a:prstGeom>
          <a:noFill/>
          <a:ln w="9525">
            <a:solidFill>
              <a:srgbClr val="DFE6F0"/>
            </a:solidFill>
            <a:prstDash val="solid"/>
          </a:ln>
        </p:spPr>
      </p:sp>
      <p:sp>
        <p:nvSpPr>
          <p:cNvPr id="24" name="Text 22"/>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evento queda pendiente y se reintenta cada 5 s</a:t>
            </a:r>
            <a:endParaRPr lang="en-US" sz="1400" dirty="0"/>
          </a:p>
        </p:txBody>
      </p:sp>
      <p:sp>
        <p:nvSpPr>
          <p:cNvPr id="25" name="Shape 23"/>
          <p:cNvSpPr/>
          <p:nvPr/>
        </p:nvSpPr>
        <p:spPr>
          <a:xfrm>
            <a:off x="8114733" y="2395728"/>
            <a:ext cx="0" cy="473659"/>
          </a:xfrm>
          <a:prstGeom prst="line">
            <a:avLst/>
          </a:prstGeom>
          <a:noFill/>
          <a:ln w="9525">
            <a:solidFill>
              <a:srgbClr val="DFE6F0"/>
            </a:solidFill>
            <a:prstDash val="solid"/>
          </a:ln>
        </p:spPr>
      </p:sp>
      <p:sp>
        <p:nvSpPr>
          <p:cNvPr id="26" name="Text 24"/>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Salud en DOWN · “evento en camino”</a:t>
            </a:r>
            <a:endParaRPr lang="en-US" sz="1400" dirty="0"/>
          </a:p>
        </p:txBody>
      </p:sp>
      <p:sp>
        <p:nvSpPr>
          <p:cNvPr id="27" name="Shape 25"/>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198571"/>
            <a:ext cx="64008" cy="546811"/>
          </a:xfrm>
          <a:prstGeom prst="rect">
            <a:avLst/>
          </a:prstGeom>
          <a:solidFill>
            <a:srgbClr val="8A4B06"/>
          </a:solidFill>
          <a:ln w="12700">
            <a:solidFill>
              <a:srgbClr val="8A4B06"/>
            </a:solidFill>
            <a:prstDash val="solid"/>
          </a:ln>
        </p:spPr>
      </p:sp>
      <p:sp>
        <p:nvSpPr>
          <p:cNvPr id="29" name="Shape 27"/>
          <p:cNvSpPr/>
          <p:nvPr/>
        </p:nvSpPr>
        <p:spPr>
          <a:xfrm>
            <a:off x="772668" y="3215945"/>
            <a:ext cx="512064" cy="512064"/>
          </a:xfrm>
          <a:prstGeom prst="ellipse">
            <a:avLst/>
          </a:prstGeom>
          <a:solidFill>
            <a:srgbClr val="FCEFD6"/>
          </a:solidFill>
          <a:ln w="12700">
            <a:solidFill>
              <a:srgbClr val="FCEFD6"/>
            </a:solidFill>
            <a:prstDash val="solid"/>
          </a:ln>
        </p:spPr>
      </p:sp>
      <p:sp>
        <p:nvSpPr>
          <p:cNvPr id="30" name="Icono copy"/>
          <p:cNvSpPr/>
          <p:nvPr/>
        </p:nvSpPr>
        <p:spPr>
          <a:xfrm>
            <a:off x="895563" y="3338840"/>
            <a:ext cx="266273" cy="266273"/>
          </a:xfrm>
          <a:custGeom>
            <a:avLst/>
            <a:gdLst/>
            <a:ahLst/>
            <a:cxnLst/>
            <a:rect l="l" t="t" r="r" b="b"/>
            <a:pathLst>
              <a:path w="266273" h="266273">
                <a:moveTo>
                  <a:pt x="110947" y="88758"/>
                </a:moveTo>
                <a:lnTo>
                  <a:pt x="221894" y="88758"/>
                </a:lnTo>
                <a:cubicBezTo>
                  <a:pt x="234149" y="88758"/>
                  <a:pt x="244084" y="98692"/>
                  <a:pt x="244084" y="110947"/>
                </a:cubicBezTo>
                <a:lnTo>
                  <a:pt x="244084" y="221894"/>
                </a:lnTo>
                <a:cubicBezTo>
                  <a:pt x="244084" y="234149"/>
                  <a:pt x="234149" y="244084"/>
                  <a:pt x="221894" y="244084"/>
                </a:cubicBezTo>
                <a:lnTo>
                  <a:pt x="110947" y="244084"/>
                </a:lnTo>
                <a:cubicBezTo>
                  <a:pt x="98692" y="244084"/>
                  <a:pt x="88758" y="234149"/>
                  <a:pt x="88758" y="221894"/>
                </a:cubicBezTo>
                <a:lnTo>
                  <a:pt x="88758" y="110947"/>
                </a:lnTo>
                <a:cubicBezTo>
                  <a:pt x="88758" y="98692"/>
                  <a:pt x="98692" y="88758"/>
                  <a:pt x="110947" y="88758"/>
                </a:cubicBezTo>
                <a:close/>
                <a:moveTo>
                  <a:pt x="44379" y="177516"/>
                </a:moveTo>
                <a:cubicBezTo>
                  <a:pt x="32175" y="177516"/>
                  <a:pt x="22189" y="167530"/>
                  <a:pt x="22189" y="155326"/>
                </a:cubicBezTo>
                <a:lnTo>
                  <a:pt x="22189" y="44379"/>
                </a:lnTo>
                <a:cubicBezTo>
                  <a:pt x="22189" y="32175"/>
                  <a:pt x="32175" y="22189"/>
                  <a:pt x="44379" y="22189"/>
                </a:cubicBezTo>
                <a:lnTo>
                  <a:pt x="155326" y="22189"/>
                </a:lnTo>
                <a:cubicBezTo>
                  <a:pt x="167530" y="22189"/>
                  <a:pt x="177516" y="32175"/>
                  <a:pt x="177516" y="44379"/>
                </a:cubicBezTo>
              </a:path>
            </a:pathLst>
          </a:custGeom>
          <a:noFill/>
          <a:ln w="22189" cap="rnd">
            <a:solidFill>
              <a:srgbClr val="8A4B06"/>
            </a:solidFill>
            <a:prstDash val="solid"/>
            <a:round/>
          </a:ln>
        </p:spPr>
      </p:sp>
      <p:sp>
        <p:nvSpPr>
          <p:cNvPr id="31" name="Text 29"/>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El evento llega dos veces</a:t>
            </a:r>
            <a:endParaRPr lang="en-US" sz="1500" dirty="0"/>
          </a:p>
        </p:txBody>
      </p:sp>
      <p:sp>
        <p:nvSpPr>
          <p:cNvPr id="32" name="Shape 30"/>
          <p:cNvSpPr/>
          <p:nvPr/>
        </p:nvSpPr>
        <p:spPr>
          <a:xfrm>
            <a:off x="4140961" y="3235147"/>
            <a:ext cx="0" cy="473659"/>
          </a:xfrm>
          <a:prstGeom prst="line">
            <a:avLst/>
          </a:prstGeom>
          <a:noFill/>
          <a:ln w="9525">
            <a:solidFill>
              <a:srgbClr val="DFE6F0"/>
            </a:solidFill>
            <a:prstDash val="solid"/>
          </a:ln>
        </p:spPr>
      </p:sp>
      <p:sp>
        <p:nvSpPr>
          <p:cNvPr id="33" name="Text 31"/>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ConsumoIdempotente lo reconoce y lo ignora</a:t>
            </a:r>
            <a:endParaRPr lang="en-US" sz="1400" dirty="0"/>
          </a:p>
        </p:txBody>
      </p:sp>
      <p:sp>
        <p:nvSpPr>
          <p:cNvPr id="34" name="Shape 32"/>
          <p:cNvSpPr/>
          <p:nvPr/>
        </p:nvSpPr>
        <p:spPr>
          <a:xfrm>
            <a:off x="8114733" y="3235147"/>
            <a:ext cx="0" cy="473659"/>
          </a:xfrm>
          <a:prstGeom prst="line">
            <a:avLst/>
          </a:prstGeom>
          <a:noFill/>
          <a:ln w="9525">
            <a:solidFill>
              <a:srgbClr val="DFE6F0"/>
            </a:solidFill>
            <a:prstDash val="solid"/>
          </a:ln>
        </p:spPr>
      </p:sp>
      <p:sp>
        <p:nvSpPr>
          <p:cNvPr id="35" name="Text 33"/>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aviso no se duplicó” · 0 duplicados</a:t>
            </a:r>
            <a:endParaRPr lang="en-US" sz="1400" dirty="0"/>
          </a:p>
        </p:txBody>
      </p:sp>
      <p:sp>
        <p:nvSpPr>
          <p:cNvPr id="36" name="Shape 34"/>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4037990"/>
            <a:ext cx="64008" cy="546811"/>
          </a:xfrm>
          <a:prstGeom prst="rect">
            <a:avLst/>
          </a:prstGeom>
          <a:solidFill>
            <a:srgbClr val="AB243E"/>
          </a:solidFill>
          <a:ln w="12700">
            <a:solidFill>
              <a:srgbClr val="AB243E"/>
            </a:solidFill>
            <a:prstDash val="solid"/>
          </a:ln>
        </p:spPr>
      </p:sp>
      <p:sp>
        <p:nvSpPr>
          <p:cNvPr id="38" name="Shape 36"/>
          <p:cNvSpPr/>
          <p:nvPr/>
        </p:nvSpPr>
        <p:spPr>
          <a:xfrm>
            <a:off x="772668" y="4055364"/>
            <a:ext cx="512064" cy="512064"/>
          </a:xfrm>
          <a:prstGeom prst="ellipse">
            <a:avLst/>
          </a:prstGeom>
          <a:solidFill>
            <a:srgbClr val="F7E3E7"/>
          </a:solidFill>
          <a:ln w="12700">
            <a:solidFill>
              <a:srgbClr val="F7E3E7"/>
            </a:solidFill>
            <a:prstDash val="solid"/>
          </a:ln>
        </p:spPr>
      </p:sp>
      <p:sp>
        <p:nvSpPr>
          <p:cNvPr id="39" name="Icono ban"/>
          <p:cNvSpPr/>
          <p:nvPr/>
        </p:nvSpPr>
        <p:spPr>
          <a:xfrm>
            <a:off x="895563" y="4178259"/>
            <a:ext cx="266273" cy="266273"/>
          </a:xfrm>
          <a:custGeom>
            <a:avLst/>
            <a:gdLst/>
            <a:ahLst/>
            <a:cxnLst/>
            <a:rect l="l" t="t" r="r" b="b"/>
            <a:pathLst>
              <a:path w="266273" h="266273">
                <a:moveTo>
                  <a:pt x="244084" y="133137"/>
                </a:moveTo>
                <a:cubicBezTo>
                  <a:pt x="244084" y="194411"/>
                  <a:pt x="194411" y="244084"/>
                  <a:pt x="133137" y="244084"/>
                </a:cubicBezTo>
                <a:cubicBezTo>
                  <a:pt x="71862" y="244084"/>
                  <a:pt x="22189" y="194411"/>
                  <a:pt x="22189" y="133137"/>
                </a:cubicBezTo>
                <a:cubicBezTo>
                  <a:pt x="22189" y="71862"/>
                  <a:pt x="71862" y="22189"/>
                  <a:pt x="133137" y="22189"/>
                </a:cubicBezTo>
                <a:cubicBezTo>
                  <a:pt x="194411" y="22189"/>
                  <a:pt x="244084" y="71862"/>
                  <a:pt x="244084" y="133137"/>
                </a:cubicBezTo>
                <a:close/>
                <a:moveTo>
                  <a:pt x="54364" y="54364"/>
                </a:moveTo>
                <a:lnTo>
                  <a:pt x="211909" y="211909"/>
                </a:lnTo>
              </a:path>
            </a:pathLst>
          </a:custGeom>
          <a:noFill/>
          <a:ln w="22189" cap="rnd">
            <a:solidFill>
              <a:srgbClr val="AB243E"/>
            </a:solidFill>
            <a:prstDash val="solid"/>
            <a:round/>
          </a:ln>
        </p:spPr>
      </p:sp>
      <p:sp>
        <p:nvSpPr>
          <p:cNvPr id="40" name="Text 38"/>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Enviar dos veces o aprobar un borrador</a:t>
            </a:r>
            <a:endParaRPr lang="en-US" sz="1500" dirty="0"/>
          </a:p>
        </p:txBody>
      </p:sp>
      <p:sp>
        <p:nvSpPr>
          <p:cNvPr id="41" name="Shape 39"/>
          <p:cNvSpPr/>
          <p:nvPr/>
        </p:nvSpPr>
        <p:spPr>
          <a:xfrm>
            <a:off x="4140961" y="4074566"/>
            <a:ext cx="0" cy="473659"/>
          </a:xfrm>
          <a:prstGeom prst="line">
            <a:avLst/>
          </a:prstGeom>
          <a:noFill/>
          <a:ln w="9525">
            <a:solidFill>
              <a:srgbClr val="DFE6F0"/>
            </a:solidFill>
            <a:prstDash val="solid"/>
          </a:ln>
        </p:spPr>
      </p:sp>
      <p:sp>
        <p:nvSpPr>
          <p:cNvPr id="42" name="Text 40"/>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dominio rechaza la transición: 409</a:t>
            </a:r>
            <a:endParaRPr lang="en-US" sz="1400" dirty="0"/>
          </a:p>
        </p:txBody>
      </p:sp>
      <p:sp>
        <p:nvSpPr>
          <p:cNvPr id="43" name="Shape 41"/>
          <p:cNvSpPr/>
          <p:nvPr/>
        </p:nvSpPr>
        <p:spPr>
          <a:xfrm>
            <a:off x="8114733" y="4074566"/>
            <a:ext cx="0" cy="473659"/>
          </a:xfrm>
          <a:prstGeom prst="line">
            <a:avLst/>
          </a:prstGeom>
          <a:noFill/>
          <a:ln w="9525">
            <a:solidFill>
              <a:srgbClr val="DFE6F0"/>
            </a:solidFill>
            <a:prstDash val="solid"/>
          </a:ln>
        </p:spPr>
      </p:sp>
      <p:sp>
        <p:nvSpPr>
          <p:cNvPr id="44" name="Text 42"/>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con el motivo del 409</a:t>
            </a:r>
            <a:endParaRPr lang="en-US" sz="1400" dirty="0"/>
          </a:p>
        </p:txBody>
      </p:sp>
      <p:sp>
        <p:nvSpPr>
          <p:cNvPr id="45" name="Shape 43"/>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877410"/>
            <a:ext cx="64008" cy="546811"/>
          </a:xfrm>
          <a:prstGeom prst="rect">
            <a:avLst/>
          </a:prstGeom>
          <a:solidFill>
            <a:srgbClr val="8A4B06"/>
          </a:solidFill>
          <a:ln w="12700">
            <a:solidFill>
              <a:srgbClr val="8A4B06"/>
            </a:solidFill>
            <a:prstDash val="solid"/>
          </a:ln>
        </p:spPr>
      </p:sp>
      <p:sp>
        <p:nvSpPr>
          <p:cNvPr id="47" name="Shape 45"/>
          <p:cNvSpPr/>
          <p:nvPr/>
        </p:nvSpPr>
        <p:spPr>
          <a:xfrm>
            <a:off x="772668" y="4894783"/>
            <a:ext cx="512064" cy="512064"/>
          </a:xfrm>
          <a:prstGeom prst="ellipse">
            <a:avLst/>
          </a:prstGeom>
          <a:solidFill>
            <a:srgbClr val="FCEFD6"/>
          </a:solidFill>
          <a:ln w="12700">
            <a:solidFill>
              <a:srgbClr val="FCEFD6"/>
            </a:solidFill>
            <a:prstDash val="solid"/>
          </a:ln>
        </p:spPr>
      </p:sp>
      <p:sp>
        <p:nvSpPr>
          <p:cNvPr id="48" name="Icono triangle-alert"/>
          <p:cNvSpPr/>
          <p:nvPr/>
        </p:nvSpPr>
        <p:spPr>
          <a:xfrm>
            <a:off x="895563" y="5017679"/>
            <a:ext cx="266273" cy="266273"/>
          </a:xfrm>
          <a:custGeom>
            <a:avLst/>
            <a:gdLst/>
            <a:ahLst/>
            <a:cxnLst/>
            <a:rect l="l" t="t" r="r" b="b"/>
            <a:pathLst>
              <a:path w="266273" h="266273">
                <a:moveTo>
                  <a:pt x="241088" y="199705"/>
                </a:moveTo>
                <a:lnTo>
                  <a:pt x="152331" y="44379"/>
                </a:lnTo>
                <a:cubicBezTo>
                  <a:pt x="148391" y="37427"/>
                  <a:pt x="141017" y="33130"/>
                  <a:pt x="133026" y="33130"/>
                </a:cubicBezTo>
                <a:cubicBezTo>
                  <a:pt x="125035" y="33130"/>
                  <a:pt x="117661" y="37427"/>
                  <a:pt x="113721" y="44379"/>
                </a:cubicBezTo>
                <a:lnTo>
                  <a:pt x="24963" y="199705"/>
                </a:lnTo>
                <a:cubicBezTo>
                  <a:pt x="20981" y="206601"/>
                  <a:pt x="21000" y="215103"/>
                  <a:pt x="25012" y="221981"/>
                </a:cubicBezTo>
                <a:cubicBezTo>
                  <a:pt x="29025" y="228860"/>
                  <a:pt x="36416" y="233061"/>
                  <a:pt x="44379" y="232989"/>
                </a:cubicBezTo>
                <a:lnTo>
                  <a:pt x="221894" y="232989"/>
                </a:lnTo>
                <a:cubicBezTo>
                  <a:pt x="229818" y="232981"/>
                  <a:pt x="237136" y="228749"/>
                  <a:pt x="241094" y="221885"/>
                </a:cubicBezTo>
                <a:cubicBezTo>
                  <a:pt x="245052" y="215021"/>
                  <a:pt x="245050" y="206567"/>
                  <a:pt x="241088" y="199705"/>
                </a:cubicBezTo>
                <a:moveTo>
                  <a:pt x="133137" y="99852"/>
                </a:moveTo>
                <a:lnTo>
                  <a:pt x="133137" y="144231"/>
                </a:lnTo>
                <a:moveTo>
                  <a:pt x="133137" y="188610"/>
                </a:moveTo>
                <a:lnTo>
                  <a:pt x="133248" y="188610"/>
                </a:lnTo>
              </a:path>
            </a:pathLst>
          </a:custGeom>
          <a:noFill/>
          <a:ln w="22189" cap="rnd">
            <a:solidFill>
              <a:srgbClr val="8A4B06"/>
            </a:solidFill>
            <a:prstDash val="solid"/>
            <a:round/>
          </a:ln>
        </p:spPr>
      </p:sp>
      <p:sp>
        <p:nvSpPr>
          <p:cNvPr id="49" name="Text 47"/>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Faltan datos o el id ya existe</a:t>
            </a:r>
            <a:endParaRPr lang="en-US" sz="1500" dirty="0"/>
          </a:p>
        </p:txBody>
      </p:sp>
      <p:sp>
        <p:nvSpPr>
          <p:cNvPr id="50" name="Shape 48"/>
          <p:cNvSpPr/>
          <p:nvPr/>
        </p:nvSpPr>
        <p:spPr>
          <a:xfrm>
            <a:off x="4140961" y="4913986"/>
            <a:ext cx="0" cy="473659"/>
          </a:xfrm>
          <a:prstGeom prst="line">
            <a:avLst/>
          </a:prstGeom>
          <a:noFill/>
          <a:ln w="9525">
            <a:solidFill>
              <a:srgbClr val="DFE6F0"/>
            </a:solidFill>
            <a:prstDash val="solid"/>
          </a:ln>
        </p:spPr>
      </p:sp>
      <p:sp>
        <p:nvSpPr>
          <p:cNvPr id="51" name="Text 49"/>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valida antes de guardar: 400 o 409</a:t>
            </a:r>
            <a:endParaRPr lang="en-US" sz="1400" dirty="0"/>
          </a:p>
        </p:txBody>
      </p:sp>
      <p:sp>
        <p:nvSpPr>
          <p:cNvPr id="52" name="Shape 50"/>
          <p:cNvSpPr/>
          <p:nvPr/>
        </p:nvSpPr>
        <p:spPr>
          <a:xfrm>
            <a:off x="8114733" y="4913986"/>
            <a:ext cx="0" cy="473659"/>
          </a:xfrm>
          <a:prstGeom prst="line">
            <a:avLst/>
          </a:prstGeom>
          <a:noFill/>
          <a:ln w="9525">
            <a:solidFill>
              <a:srgbClr val="DFE6F0"/>
            </a:solidFill>
            <a:prstDash val="solid"/>
          </a:ln>
        </p:spPr>
      </p:sp>
      <p:sp>
        <p:nvSpPr>
          <p:cNvPr id="53" name="Text 51"/>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“Faltan datos” o “Ese identificador ya existe”</a:t>
            </a:r>
            <a:endParaRPr lang="en-US" sz="1400" dirty="0"/>
          </a:p>
        </p:txBody>
      </p:sp>
      <p:sp>
        <p:nvSpPr>
          <p:cNvPr id="54" name="Shape 52"/>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716829"/>
            <a:ext cx="64008" cy="546811"/>
          </a:xfrm>
          <a:prstGeom prst="rect">
            <a:avLst/>
          </a:prstGeom>
          <a:solidFill>
            <a:srgbClr val="55627E"/>
          </a:solidFill>
          <a:ln w="12700">
            <a:solidFill>
              <a:srgbClr val="55627E"/>
            </a:solidFill>
            <a:prstDash val="solid"/>
          </a:ln>
        </p:spPr>
      </p:sp>
      <p:sp>
        <p:nvSpPr>
          <p:cNvPr id="56" name="Shape 54"/>
          <p:cNvSpPr/>
          <p:nvPr/>
        </p:nvSpPr>
        <p:spPr>
          <a:xfrm>
            <a:off x="772668" y="5734202"/>
            <a:ext cx="512064" cy="512064"/>
          </a:xfrm>
          <a:prstGeom prst="ellipse">
            <a:avLst/>
          </a:prstGeom>
          <a:solidFill>
            <a:srgbClr val="F4F7FB"/>
          </a:solidFill>
          <a:ln w="12700">
            <a:solidFill>
              <a:srgbClr val="F4F7FB"/>
            </a:solidFill>
            <a:prstDash val="solid"/>
          </a:ln>
        </p:spPr>
      </p:sp>
      <p:sp>
        <p:nvSpPr>
          <p:cNvPr id="57" name="Icono timer"/>
          <p:cNvSpPr/>
          <p:nvPr/>
        </p:nvSpPr>
        <p:spPr>
          <a:xfrm>
            <a:off x="895563" y="5857098"/>
            <a:ext cx="266273" cy="266273"/>
          </a:xfrm>
          <a:custGeom>
            <a:avLst/>
            <a:gdLst/>
            <a:ahLst/>
            <a:cxnLst/>
            <a:rect l="l" t="t" r="r" b="b"/>
            <a:pathLst>
              <a:path w="266273" h="266273">
                <a:moveTo>
                  <a:pt x="110947" y="22189"/>
                </a:moveTo>
                <a:lnTo>
                  <a:pt x="155326" y="22189"/>
                </a:lnTo>
                <a:moveTo>
                  <a:pt x="133137" y="155326"/>
                </a:moveTo>
                <a:lnTo>
                  <a:pt x="166421" y="122042"/>
                </a:lnTo>
                <a:moveTo>
                  <a:pt x="221894" y="155326"/>
                </a:moveTo>
                <a:cubicBezTo>
                  <a:pt x="221894" y="204346"/>
                  <a:pt x="182156" y="244084"/>
                  <a:pt x="133137" y="244084"/>
                </a:cubicBezTo>
                <a:cubicBezTo>
                  <a:pt x="84117" y="244084"/>
                  <a:pt x="44379" y="204346"/>
                  <a:pt x="44379" y="155326"/>
                </a:cubicBezTo>
                <a:cubicBezTo>
                  <a:pt x="44379" y="106307"/>
                  <a:pt x="84117" y="66568"/>
                  <a:pt x="133137" y="66568"/>
                </a:cubicBezTo>
                <a:cubicBezTo>
                  <a:pt x="182156" y="66568"/>
                  <a:pt x="221894" y="106307"/>
                  <a:pt x="221894" y="155326"/>
                </a:cubicBezTo>
                <a:close/>
              </a:path>
            </a:pathLst>
          </a:custGeom>
          <a:noFill/>
          <a:ln w="22189" cap="rnd">
            <a:solidFill>
              <a:srgbClr val="55627E"/>
            </a:solidFill>
            <a:prstDash val="solid"/>
            <a:round/>
          </a:ln>
        </p:spPr>
      </p:sp>
      <p:sp>
        <p:nvSpPr>
          <p:cNvPr id="58" name="Text 56"/>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Un POST tarda o se corta</a:t>
            </a:r>
            <a:endParaRPr lang="en-US" sz="1500" dirty="0"/>
          </a:p>
        </p:txBody>
      </p:sp>
      <p:sp>
        <p:nvSpPr>
          <p:cNvPr id="59" name="Shape 57"/>
          <p:cNvSpPr/>
          <p:nvPr/>
        </p:nvSpPr>
        <p:spPr>
          <a:xfrm>
            <a:off x="4140961" y="5753405"/>
            <a:ext cx="0" cy="473659"/>
          </a:xfrm>
          <a:prstGeom prst="line">
            <a:avLst/>
          </a:prstGeom>
          <a:noFill/>
          <a:ln w="9525">
            <a:solidFill>
              <a:srgbClr val="DFE6F0"/>
            </a:solidFill>
            <a:prstDash val="solid"/>
          </a:ln>
        </p:spPr>
      </p:sp>
      <p:sp>
        <p:nvSpPr>
          <p:cNvPr id="60" name="Text 58"/>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UI no lo repite sola: pudo haberse guardado</a:t>
            </a:r>
            <a:endParaRPr lang="en-US" sz="1400" dirty="0"/>
          </a:p>
        </p:txBody>
      </p:sp>
      <p:sp>
        <p:nvSpPr>
          <p:cNvPr id="61" name="Shape 59"/>
          <p:cNvSpPr/>
          <p:nvPr/>
        </p:nvSpPr>
        <p:spPr>
          <a:xfrm>
            <a:off x="8114733" y="5753405"/>
            <a:ext cx="0" cy="473659"/>
          </a:xfrm>
          <a:prstGeom prst="line">
            <a:avLst/>
          </a:prstGeom>
          <a:noFill/>
          <a:ln w="9525">
            <a:solidFill>
              <a:srgbClr val="DFE6F0"/>
            </a:solidFill>
            <a:prstDash val="solid"/>
          </a:ln>
        </p:spPr>
      </p:sp>
      <p:sp>
        <p:nvSpPr>
          <p:cNvPr id="62" name="Text 60"/>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 de tiempo agotado, sin reintento automático</a:t>
            </a:r>
            <a:endParaRPr lang="en-US" sz="1400" dirty="0"/>
          </a:p>
        </p:txBody>
      </p:sp>
      <p:sp>
        <p:nvSpPr>
          <p:cNvPr id="63" name="Text 6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UI como laboratorio: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flask-conical"/>
          <p:cNvSpPr/>
          <p:nvPr/>
        </p:nvSpPr>
        <p:spPr>
          <a:xfrm>
            <a:off x="1058144" y="1817096"/>
            <a:ext cx="370881" cy="370881"/>
          </a:xfrm>
          <a:custGeom>
            <a:avLst/>
            <a:gdLst/>
            <a:ahLst/>
            <a:cxnLst/>
            <a:rect l="l" t="t" r="r" b="b"/>
            <a:pathLst>
              <a:path w="370881" h="370881">
                <a:moveTo>
                  <a:pt x="216347" y="30907"/>
                </a:moveTo>
                <a:lnTo>
                  <a:pt x="216347" y="123627"/>
                </a:lnTo>
                <a:cubicBezTo>
                  <a:pt x="216345" y="128811"/>
                  <a:pt x="217647" y="133913"/>
                  <a:pt x="220133" y="138462"/>
                </a:cubicBezTo>
                <a:lnTo>
                  <a:pt x="305281" y="294232"/>
                </a:lnTo>
                <a:cubicBezTo>
                  <a:pt x="310521" y="303809"/>
                  <a:pt x="310320" y="315439"/>
                  <a:pt x="304753" y="324830"/>
                </a:cubicBezTo>
                <a:cubicBezTo>
                  <a:pt x="299185" y="334220"/>
                  <a:pt x="289077" y="339976"/>
                  <a:pt x="278160" y="339974"/>
                </a:cubicBezTo>
                <a:lnTo>
                  <a:pt x="92720" y="339974"/>
                </a:lnTo>
                <a:cubicBezTo>
                  <a:pt x="81804" y="339976"/>
                  <a:pt x="71695" y="334220"/>
                  <a:pt x="66128" y="324830"/>
                </a:cubicBezTo>
                <a:cubicBezTo>
                  <a:pt x="60560" y="315439"/>
                  <a:pt x="60360" y="303809"/>
                  <a:pt x="65600" y="294232"/>
                </a:cubicBezTo>
                <a:lnTo>
                  <a:pt x="150748" y="138462"/>
                </a:lnTo>
                <a:cubicBezTo>
                  <a:pt x="153234" y="133913"/>
                  <a:pt x="154536" y="128811"/>
                  <a:pt x="154534" y="123627"/>
                </a:cubicBezTo>
                <a:lnTo>
                  <a:pt x="154534" y="30907"/>
                </a:lnTo>
                <a:moveTo>
                  <a:pt x="99721" y="231800"/>
                </a:moveTo>
                <a:lnTo>
                  <a:pt x="271160" y="231800"/>
                </a:lnTo>
                <a:moveTo>
                  <a:pt x="131354" y="30907"/>
                </a:moveTo>
                <a:lnTo>
                  <a:pt x="239527" y="3090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fallas con reacción prevista</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29</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de la UI</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Cada falla probada tiene una reacción y un mensaje.</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incidentes y menos llamadas a soporte.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eye"/>
          <p:cNvSpPr/>
          <p:nvPr/>
        </p:nvSpPr>
        <p:spPr>
          <a:xfrm>
            <a:off x="4258544" y="367790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lo asíncrono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Pendientes, entregados y consumidos en una pantalla.</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Explicar el sistema a negocio sin abrir el código.</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lightbulb"/>
          <p:cNvSpPr/>
          <p:nvPr/>
        </p:nvSpPr>
        <p:spPr>
          <a:xfrm>
            <a:off x="4258544" y="5400020"/>
            <a:ext cx="370881" cy="370881"/>
          </a:xfrm>
          <a:custGeom>
            <a:avLst/>
            <a:gdLst/>
            <a:ahLst/>
            <a:cxnLst/>
            <a:rect l="l" t="t" r="r" b="b"/>
            <a:pathLst>
              <a:path w="370881" h="370881">
                <a:moveTo>
                  <a:pt x="231800" y="216347"/>
                </a:moveTo>
                <a:cubicBezTo>
                  <a:pt x="234891" y="200894"/>
                  <a:pt x="242618" y="190076"/>
                  <a:pt x="254980" y="177714"/>
                </a:cubicBezTo>
                <a:cubicBezTo>
                  <a:pt x="270434" y="163806"/>
                  <a:pt x="278160" y="143716"/>
                  <a:pt x="278160" y="123627"/>
                </a:cubicBezTo>
                <a:cubicBezTo>
                  <a:pt x="278160" y="72419"/>
                  <a:pt x="236648" y="30907"/>
                  <a:pt x="185440" y="30907"/>
                </a:cubicBezTo>
                <a:cubicBezTo>
                  <a:pt x="134232" y="30907"/>
                  <a:pt x="92720" y="72419"/>
                  <a:pt x="92720" y="123627"/>
                </a:cubicBezTo>
                <a:cubicBezTo>
                  <a:pt x="92720" y="139080"/>
                  <a:pt x="95811" y="157624"/>
                  <a:pt x="115900" y="177714"/>
                </a:cubicBezTo>
                <a:cubicBezTo>
                  <a:pt x="126718" y="188531"/>
                  <a:pt x="135990" y="200894"/>
                  <a:pt x="139080" y="216347"/>
                </a:cubicBezTo>
                <a:moveTo>
                  <a:pt x="139080" y="278160"/>
                </a:moveTo>
                <a:lnTo>
                  <a:pt x="231800" y="278160"/>
                </a:lnTo>
                <a:moveTo>
                  <a:pt x="154534" y="339974"/>
                </a:moveTo>
                <a:lnTo>
                  <a:pt x="216347" y="339974"/>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demo también enseña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Ayuda con diagramas y botones para provocar fallas.</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Material de capacitación para quien llegue al equipo.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desde mañana.</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Resiliencia</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Outbox, reintentos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Shape 17"/>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12648" y="3198571"/>
            <a:ext cx="64008" cy="546811"/>
          </a:xfrm>
          <a:prstGeom prst="rect">
            <a:avLst/>
          </a:prstGeom>
          <a:solidFill>
            <a:srgbClr val="0B6E8A"/>
          </a:solidFill>
          <a:ln w="12700">
            <a:solidFill>
              <a:srgbClr val="0B6E8A"/>
            </a:solidFill>
            <a:prstDash val="solid"/>
          </a:ln>
        </p:spPr>
      </p:sp>
      <p:sp>
        <p:nvSpPr>
          <p:cNvPr id="21" name="Shape 19"/>
          <p:cNvSpPr/>
          <p:nvPr/>
        </p:nvSpPr>
        <p:spPr>
          <a:xfrm>
            <a:off x="772668" y="3215945"/>
            <a:ext cx="512064" cy="512064"/>
          </a:xfrm>
          <a:prstGeom prst="ellipse">
            <a:avLst/>
          </a:prstGeom>
          <a:solidFill>
            <a:srgbClr val="E3F4FA"/>
          </a:solidFill>
          <a:ln w="12700">
            <a:solidFill>
              <a:srgbClr val="E3F4FA"/>
            </a:solidFill>
            <a:prstDash val="solid"/>
          </a:ln>
        </p:spPr>
      </p:sp>
      <p:sp>
        <p:nvSpPr>
          <p:cNvPr id="22" name="Icono container"/>
          <p:cNvSpPr/>
          <p:nvPr/>
        </p:nvSpPr>
        <p:spPr>
          <a:xfrm>
            <a:off x="895563" y="3338840"/>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23" name="Text 21"/>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24" name="Shape 22"/>
          <p:cNvSpPr/>
          <p:nvPr/>
        </p:nvSpPr>
        <p:spPr>
          <a:xfrm>
            <a:off x="4140961" y="3235147"/>
            <a:ext cx="0" cy="473659"/>
          </a:xfrm>
          <a:prstGeom prst="line">
            <a:avLst/>
          </a:prstGeom>
          <a:noFill/>
          <a:ln w="9525">
            <a:solidFill>
              <a:srgbClr val="DFE6F0"/>
            </a:solidFill>
            <a:prstDash val="solid"/>
          </a:ln>
        </p:spPr>
      </p:sp>
      <p:sp>
        <p:nvSpPr>
          <p:cNvPr id="25" name="Text 23"/>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26" name="Shape 24"/>
          <p:cNvSpPr/>
          <p:nvPr/>
        </p:nvSpPr>
        <p:spPr>
          <a:xfrm>
            <a:off x="8114733" y="3235147"/>
            <a:ext cx="0" cy="473659"/>
          </a:xfrm>
          <a:prstGeom prst="line">
            <a:avLst/>
          </a:prstGeom>
          <a:noFill/>
          <a:ln w="9525">
            <a:solidFill>
              <a:srgbClr val="DFE6F0"/>
            </a:solidFill>
            <a:prstDash val="solid"/>
          </a:ln>
        </p:spPr>
      </p:sp>
      <p:sp>
        <p:nvSpPr>
          <p:cNvPr id="27" name="Text 25"/>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28" name="Shape 26"/>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2648" y="4037990"/>
            <a:ext cx="64008" cy="546811"/>
          </a:xfrm>
          <a:prstGeom prst="rect">
            <a:avLst/>
          </a:prstGeom>
          <a:solidFill>
            <a:srgbClr val="0B2350"/>
          </a:solidFill>
          <a:ln w="12700">
            <a:solidFill>
              <a:srgbClr val="0B2350"/>
            </a:solidFill>
            <a:prstDash val="solid"/>
          </a:ln>
        </p:spPr>
      </p:sp>
      <p:sp>
        <p:nvSpPr>
          <p:cNvPr id="30" name="Shape 28"/>
          <p:cNvSpPr/>
          <p:nvPr/>
        </p:nvSpPr>
        <p:spPr>
          <a:xfrm>
            <a:off x="772668" y="4055364"/>
            <a:ext cx="512064" cy="512064"/>
          </a:xfrm>
          <a:prstGeom prst="ellipse">
            <a:avLst/>
          </a:prstGeom>
          <a:solidFill>
            <a:srgbClr val="E8EEF8"/>
          </a:solidFill>
          <a:ln w="12700">
            <a:solidFill>
              <a:srgbClr val="E8EEF8"/>
            </a:solidFill>
            <a:prstDash val="solid"/>
          </a:ln>
        </p:spPr>
      </p:sp>
      <p:sp>
        <p:nvSpPr>
          <p:cNvPr id="31" name="Icono flask-conical"/>
          <p:cNvSpPr/>
          <p:nvPr/>
        </p:nvSpPr>
        <p:spPr>
          <a:xfrm>
            <a:off x="895563" y="417825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32" name="Text 30"/>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33" name="Shape 31"/>
          <p:cNvSpPr/>
          <p:nvPr/>
        </p:nvSpPr>
        <p:spPr>
          <a:xfrm>
            <a:off x="4140961" y="4074566"/>
            <a:ext cx="0" cy="473659"/>
          </a:xfrm>
          <a:prstGeom prst="line">
            <a:avLst/>
          </a:prstGeom>
          <a:noFill/>
          <a:ln w="9525">
            <a:solidFill>
              <a:srgbClr val="DFE6F0"/>
            </a:solidFill>
            <a:prstDash val="solid"/>
          </a:ln>
        </p:spPr>
      </p:sp>
      <p:sp>
        <p:nvSpPr>
          <p:cNvPr id="34" name="Text 32"/>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67 pruebas y pipeline por PR</a:t>
            </a:r>
            <a:endParaRPr lang="en-US" sz="1400" dirty="0"/>
          </a:p>
        </p:txBody>
      </p:sp>
      <p:sp>
        <p:nvSpPr>
          <p:cNvPr id="35" name="Shape 33"/>
          <p:cNvSpPr/>
          <p:nvPr/>
        </p:nvSpPr>
        <p:spPr>
          <a:xfrm>
            <a:off x="8114733" y="4074566"/>
            <a:ext cx="0" cy="473659"/>
          </a:xfrm>
          <a:prstGeom prst="line">
            <a:avLst/>
          </a:prstGeom>
          <a:noFill/>
          <a:ln w="9525">
            <a:solidFill>
              <a:srgbClr val="DFE6F0"/>
            </a:solidFill>
            <a:prstDash val="solid"/>
          </a:ln>
        </p:spPr>
      </p:sp>
      <p:sp>
        <p:nvSpPr>
          <p:cNvPr id="36" name="Text 34"/>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no en producción</a:t>
            </a:r>
            <a:endParaRPr lang="en-US" sz="1400" dirty="0"/>
          </a:p>
        </p:txBody>
      </p:sp>
      <p:sp>
        <p:nvSpPr>
          <p:cNvPr id="37" name="Shape 35"/>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12648" y="4877410"/>
            <a:ext cx="64008" cy="546811"/>
          </a:xfrm>
          <a:prstGeom prst="rect">
            <a:avLst/>
          </a:prstGeom>
          <a:solidFill>
            <a:srgbClr val="8A4B06"/>
          </a:solidFill>
          <a:ln w="12700">
            <a:solidFill>
              <a:srgbClr val="8A4B06"/>
            </a:solidFill>
            <a:prstDash val="solid"/>
          </a:ln>
        </p:spPr>
      </p:sp>
      <p:sp>
        <p:nvSpPr>
          <p:cNvPr id="39" name="Shape 37"/>
          <p:cNvSpPr/>
          <p:nvPr/>
        </p:nvSpPr>
        <p:spPr>
          <a:xfrm>
            <a:off x="772668" y="4894783"/>
            <a:ext cx="512064" cy="512064"/>
          </a:xfrm>
          <a:prstGeom prst="ellipse">
            <a:avLst/>
          </a:prstGeom>
          <a:solidFill>
            <a:srgbClr val="FCEFD6"/>
          </a:solidFill>
          <a:ln w="12700">
            <a:solidFill>
              <a:srgbClr val="FCEFD6"/>
            </a:solidFill>
            <a:prstDash val="solid"/>
          </a:ln>
        </p:spPr>
      </p:sp>
      <p:sp>
        <p:nvSpPr>
          <p:cNvPr id="40" name="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41" name="Text 39"/>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Trazabilidad</a:t>
            </a:r>
            <a:endParaRPr lang="en-US" sz="1500" dirty="0"/>
          </a:p>
        </p:txBody>
      </p:sp>
      <p:sp>
        <p:nvSpPr>
          <p:cNvPr id="42" name="Shape 40"/>
          <p:cNvSpPr/>
          <p:nvPr/>
        </p:nvSpPr>
        <p:spPr>
          <a:xfrm>
            <a:off x="4140961" y="4913986"/>
            <a:ext cx="0" cy="473659"/>
          </a:xfrm>
          <a:prstGeom prst="line">
            <a:avLst/>
          </a:prstGeom>
          <a:noFill/>
          <a:ln w="9525">
            <a:solidFill>
              <a:srgbClr val="DFE6F0"/>
            </a:solidFill>
            <a:prstDash val="solid"/>
          </a:ln>
        </p:spPr>
      </p:sp>
      <p:sp>
        <p:nvSpPr>
          <p:cNvPr id="43" name="Text 41"/>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SHA</a:t>
            </a:r>
            <a:endParaRPr lang="en-US" sz="1400" dirty="0"/>
          </a:p>
        </p:txBody>
      </p:sp>
      <p:sp>
        <p:nvSpPr>
          <p:cNvPr id="44" name="Shape 42"/>
          <p:cNvSpPr/>
          <p:nvPr/>
        </p:nvSpPr>
        <p:spPr>
          <a:xfrm>
            <a:off x="8114733" y="4913986"/>
            <a:ext cx="0" cy="473659"/>
          </a:xfrm>
          <a:prstGeom prst="line">
            <a:avLst/>
          </a:prstGeom>
          <a:noFill/>
          <a:ln w="9525">
            <a:solidFill>
              <a:srgbClr val="DFE6F0"/>
            </a:solidFill>
            <a:prstDash val="solid"/>
          </a:ln>
        </p:spPr>
      </p:sp>
      <p:sp>
        <p:nvSpPr>
          <p:cNvPr id="45" name="Text 43"/>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46" name="Shape 44"/>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612648" y="5716829"/>
            <a:ext cx="64008" cy="546811"/>
          </a:xfrm>
          <a:prstGeom prst="rect">
            <a:avLst/>
          </a:prstGeom>
          <a:solidFill>
            <a:srgbClr val="5B3FC4"/>
          </a:solidFill>
          <a:ln w="12700">
            <a:solidFill>
              <a:srgbClr val="5B3FC4"/>
            </a:solidFill>
            <a:prstDash val="solid"/>
          </a:ln>
        </p:spPr>
      </p:sp>
      <p:sp>
        <p:nvSpPr>
          <p:cNvPr id="48" name="Shape 46"/>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Icono file-json"/>
          <p:cNvSpPr/>
          <p:nvPr/>
        </p:nvSpPr>
        <p:spPr>
          <a:xfrm>
            <a:off x="895563" y="5857098"/>
            <a:ext cx="266273" cy="266273"/>
          </a:xfrm>
          <a:custGeom>
            <a:avLst/>
            <a:gdLst/>
            <a:ahLst/>
            <a:cxnLst/>
            <a:rect l="l" t="t" r="r" b="b"/>
            <a:pathLst>
              <a:path w="266273" h="266273">
                <a:moveTo>
                  <a:pt x="166421" y="22189"/>
                </a:moveTo>
                <a:lnTo>
                  <a:pt x="66568" y="22189"/>
                </a:lnTo>
                <a:cubicBezTo>
                  <a:pt x="54313" y="22189"/>
                  <a:pt x="44379" y="32124"/>
                  <a:pt x="44379" y="44379"/>
                </a:cubicBezTo>
                <a:lnTo>
                  <a:pt x="44379" y="221894"/>
                </a:lnTo>
                <a:cubicBezTo>
                  <a:pt x="44379" y="234149"/>
                  <a:pt x="54313" y="244084"/>
                  <a:pt x="66568" y="244084"/>
                </a:cubicBezTo>
                <a:lnTo>
                  <a:pt x="199705" y="244084"/>
                </a:lnTo>
                <a:cubicBezTo>
                  <a:pt x="211960" y="244084"/>
                  <a:pt x="221894" y="234149"/>
                  <a:pt x="221894" y="221894"/>
                </a:cubicBezTo>
                <a:lnTo>
                  <a:pt x="221894" y="77663"/>
                </a:lnTo>
                <a:close/>
                <a:moveTo>
                  <a:pt x="155326" y="22189"/>
                </a:moveTo>
                <a:lnTo>
                  <a:pt x="155326" y="66568"/>
                </a:lnTo>
                <a:cubicBezTo>
                  <a:pt x="155326" y="78823"/>
                  <a:pt x="165261" y="88758"/>
                  <a:pt x="177516" y="88758"/>
                </a:cubicBezTo>
                <a:lnTo>
                  <a:pt x="221894" y="88758"/>
                </a:lnTo>
                <a:moveTo>
                  <a:pt x="110947" y="133137"/>
                </a:moveTo>
                <a:cubicBezTo>
                  <a:pt x="104820" y="133137"/>
                  <a:pt x="99852" y="138104"/>
                  <a:pt x="99852" y="144231"/>
                </a:cubicBezTo>
                <a:lnTo>
                  <a:pt x="99852" y="155326"/>
                </a:lnTo>
                <a:cubicBezTo>
                  <a:pt x="99852" y="161454"/>
                  <a:pt x="94885" y="166421"/>
                  <a:pt x="88758" y="166421"/>
                </a:cubicBezTo>
                <a:cubicBezTo>
                  <a:pt x="94885" y="166421"/>
                  <a:pt x="99852" y="171388"/>
                  <a:pt x="99852" y="177516"/>
                </a:cubicBezTo>
                <a:lnTo>
                  <a:pt x="99852" y="188610"/>
                </a:lnTo>
                <a:cubicBezTo>
                  <a:pt x="99852" y="194738"/>
                  <a:pt x="104820" y="199705"/>
                  <a:pt x="110947" y="199705"/>
                </a:cubicBezTo>
                <a:moveTo>
                  <a:pt x="155326" y="199705"/>
                </a:moveTo>
                <a:cubicBezTo>
                  <a:pt x="161454" y="199705"/>
                  <a:pt x="166421" y="194738"/>
                  <a:pt x="166421" y="188610"/>
                </a:cubicBezTo>
                <a:lnTo>
                  <a:pt x="166421" y="177516"/>
                </a:lnTo>
                <a:cubicBezTo>
                  <a:pt x="166421" y="171388"/>
                  <a:pt x="171388" y="166421"/>
                  <a:pt x="177516" y="166421"/>
                </a:cubicBezTo>
                <a:cubicBezTo>
                  <a:pt x="171388" y="166421"/>
                  <a:pt x="166421" y="161454"/>
                  <a:pt x="166421" y="155326"/>
                </a:cubicBezTo>
                <a:lnTo>
                  <a:pt x="166421" y="144231"/>
                </a:lnTo>
                <a:cubicBezTo>
                  <a:pt x="166421" y="138104"/>
                  <a:pt x="161454" y="133137"/>
                  <a:pt x="155326" y="133137"/>
                </a:cubicBezTo>
              </a:path>
            </a:pathLst>
          </a:custGeom>
          <a:noFill/>
          <a:ln w="22189" cap="rnd">
            <a:solidFill>
              <a:srgbClr val="5B3FC4"/>
            </a:solidFill>
            <a:prstDash val="solid"/>
            <a:round/>
          </a:ln>
        </p:spPr>
      </p:sp>
      <p:sp>
        <p:nvSpPr>
          <p:cNvPr id="50" name="Text 48"/>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Contratos y diseño</a:t>
            </a:r>
            <a:endParaRPr lang="en-US" sz="1500" dirty="0"/>
          </a:p>
        </p:txBody>
      </p:sp>
      <p:sp>
        <p:nvSpPr>
          <p:cNvPr id="51" name="Shape 49"/>
          <p:cNvSpPr/>
          <p:nvPr/>
        </p:nvSpPr>
        <p:spPr>
          <a:xfrm>
            <a:off x="4140961" y="5753405"/>
            <a:ext cx="0" cy="473659"/>
          </a:xfrm>
          <a:prstGeom prst="line">
            <a:avLst/>
          </a:prstGeom>
          <a:noFill/>
          <a:ln w="9525">
            <a:solidFill>
              <a:srgbClr val="DFE6F0"/>
            </a:solidFill>
            <a:prstDash val="solid"/>
          </a:ln>
        </p:spPr>
      </p:sp>
      <p:sp>
        <p:nvSpPr>
          <p:cNvPr id="52" name="Text 50"/>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OpenAPI generado y puertos y adaptadores</a:t>
            </a:r>
            <a:endParaRPr lang="en-US" sz="1400" dirty="0"/>
          </a:p>
        </p:txBody>
      </p:sp>
      <p:sp>
        <p:nvSpPr>
          <p:cNvPr id="53" name="Shape 51"/>
          <p:cNvSpPr/>
          <p:nvPr/>
        </p:nvSpPr>
        <p:spPr>
          <a:xfrm>
            <a:off x="8114733" y="5753405"/>
            <a:ext cx="0" cy="473659"/>
          </a:xfrm>
          <a:prstGeom prst="line">
            <a:avLst/>
          </a:prstGeom>
          <a:noFill/>
          <a:ln w="9525">
            <a:solidFill>
              <a:srgbClr val="DFE6F0"/>
            </a:solidFill>
            <a:prstDash val="solid"/>
          </a:ln>
        </p:spPr>
      </p:sp>
      <p:sp>
        <p:nvSpPr>
          <p:cNvPr id="54" name="Text 52"/>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Integraciones claras y tecnología intercambiable</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4" name="Shape 12"/>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Text 15"/>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Text 16"/>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Shape 17"/>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Text 19"/>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Text 20"/>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Shape 21"/>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Text 24"/>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Text 25"/>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Shape 26"/>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Text 28"/>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Text 29"/>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Shape 30"/>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Text 33"/>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Text 34"/>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 laboratorio.</a:t>
            </a:r>
            <a:endParaRPr lang="en-US" sz="1300" dirty="0"/>
          </a:p>
        </p:txBody>
      </p:sp>
      <p:sp>
        <p:nvSpPr>
          <p:cNvPr id="37" name="Shape 35"/>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Text 37"/>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Text 38"/>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sigue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laboratorio sólido, todavía no un producto.</a:t>
            </a:r>
            <a:endParaRPr lang="en-US" sz="1700" dirty="0"/>
          </a:p>
        </p:txBody>
      </p:sp>
      <p:sp>
        <p:nvSpPr>
          <p:cNvPr id="6" name="Shape 4"/>
          <p:cNvSpPr/>
          <p:nvPr/>
        </p:nvSpPr>
        <p:spPr>
          <a:xfrm>
            <a:off x="612648" y="1719072"/>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764792"/>
          </a:xfrm>
          <a:prstGeom prst="rect">
            <a:avLst/>
          </a:prstGeom>
          <a:solidFill>
            <a:srgbClr val="8A4B06"/>
          </a:solidFill>
          <a:ln w="12700">
            <a:solidFill>
              <a:srgbClr val="8A4B06"/>
            </a:solidFill>
            <a:prstDash val="solid"/>
          </a:ln>
        </p:spPr>
      </p:sp>
      <p:sp>
        <p:nvSpPr>
          <p:cNvPr id="8" name="Shape 6"/>
          <p:cNvSpPr/>
          <p:nvPr/>
        </p:nvSpPr>
        <p:spPr>
          <a:xfrm>
            <a:off x="886968" y="2336292"/>
            <a:ext cx="786384" cy="786384"/>
          </a:xfrm>
          <a:prstGeom prst="ellipse">
            <a:avLst/>
          </a:prstGeom>
          <a:solidFill>
            <a:srgbClr val="FCEFD6"/>
          </a:solidFill>
          <a:ln w="12700">
            <a:solidFill>
              <a:srgbClr val="FCEFD6"/>
            </a:solidFill>
            <a:prstDash val="solid"/>
          </a:ln>
        </p:spPr>
      </p:sp>
      <p:sp>
        <p:nvSpPr>
          <p:cNvPr id="9" name="Icono database"/>
          <p:cNvSpPr/>
          <p:nvPr/>
        </p:nvSpPr>
        <p:spPr>
          <a:xfrm>
            <a:off x="1075700" y="2525024"/>
            <a:ext cx="408920" cy="408920"/>
          </a:xfrm>
          <a:custGeom>
            <a:avLst/>
            <a:gdLst/>
            <a:ahLst/>
            <a:cxnLst/>
            <a:rect l="l" t="t" r="r" b="b"/>
            <a:pathLst>
              <a:path w="408920" h="408920">
                <a:moveTo>
                  <a:pt x="357805" y="85192"/>
                </a:moveTo>
                <a:cubicBezTo>
                  <a:pt x="357805" y="113422"/>
                  <a:pt x="289150" y="136307"/>
                  <a:pt x="204460" y="136307"/>
                </a:cubicBezTo>
                <a:cubicBezTo>
                  <a:pt x="119770" y="136307"/>
                  <a:pt x="51115" y="113422"/>
                  <a:pt x="51115" y="85192"/>
                </a:cubicBezTo>
                <a:cubicBezTo>
                  <a:pt x="51115" y="56962"/>
                  <a:pt x="119770" y="34077"/>
                  <a:pt x="204460" y="34077"/>
                </a:cubicBezTo>
                <a:cubicBezTo>
                  <a:pt x="289150" y="34077"/>
                  <a:pt x="357805" y="56962"/>
                  <a:pt x="357805" y="85192"/>
                </a:cubicBezTo>
                <a:close/>
                <a:moveTo>
                  <a:pt x="51115" y="85192"/>
                </a:moveTo>
                <a:lnTo>
                  <a:pt x="51115" y="323728"/>
                </a:lnTo>
                <a:cubicBezTo>
                  <a:pt x="51115" y="351958"/>
                  <a:pt x="119770" y="374843"/>
                  <a:pt x="204460" y="374843"/>
                </a:cubicBezTo>
                <a:cubicBezTo>
                  <a:pt x="289150" y="374843"/>
                  <a:pt x="357805" y="351958"/>
                  <a:pt x="357805" y="323728"/>
                </a:cubicBezTo>
                <a:lnTo>
                  <a:pt x="357805" y="85192"/>
                </a:lnTo>
                <a:moveTo>
                  <a:pt x="51115" y="204460"/>
                </a:moveTo>
                <a:cubicBezTo>
                  <a:pt x="51115" y="232690"/>
                  <a:pt x="119770" y="255575"/>
                  <a:pt x="204460" y="255575"/>
                </a:cubicBezTo>
                <a:cubicBezTo>
                  <a:pt x="289150" y="255575"/>
                  <a:pt x="357805" y="232690"/>
                  <a:pt x="357805" y="204460"/>
                </a:cubicBezTo>
              </a:path>
            </a:pathLst>
          </a:custGeom>
          <a:noFill/>
          <a:ln w="34077" cap="rnd">
            <a:solidFill>
              <a:srgbClr val="8A4B06"/>
            </a:solidFill>
            <a:prstDash val="solid"/>
            <a:round/>
          </a:ln>
        </p:spPr>
      </p:sp>
      <p:sp>
        <p:nvSpPr>
          <p:cNvPr id="10" name="Text 8"/>
          <p:cNvSpPr/>
          <p:nvPr/>
        </p:nvSpPr>
        <p:spPr>
          <a:xfrm>
            <a:off x="1929384" y="227228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Persistir los avisos</a:t>
            </a:r>
            <a:endParaRPr lang="en-US" sz="2000" dirty="0"/>
          </a:p>
        </p:txBody>
      </p:sp>
      <p:sp>
        <p:nvSpPr>
          <p:cNvPr id="11" name="Text 9"/>
          <p:cNvSpPr/>
          <p:nvPr/>
        </p:nvSpPr>
        <p:spPr>
          <a:xfrm>
            <a:off x="1929384" y="2747772"/>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Hoy el texto vive en memoria; los eventos procesados sí están en la base.</a:t>
            </a:r>
            <a:endParaRPr lang="en-US" sz="1600" dirty="0"/>
          </a:p>
        </p:txBody>
      </p:sp>
      <p:sp>
        <p:nvSpPr>
          <p:cNvPr id="12" name="Shape 10"/>
          <p:cNvSpPr/>
          <p:nvPr/>
        </p:nvSpPr>
        <p:spPr>
          <a:xfrm>
            <a:off x="6187288" y="1719072"/>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764792"/>
          </a:xfrm>
          <a:prstGeom prst="rect">
            <a:avLst/>
          </a:prstGeom>
          <a:solidFill>
            <a:srgbClr val="AB243E"/>
          </a:solidFill>
          <a:ln w="12700">
            <a:solidFill>
              <a:srgbClr val="AB243E"/>
            </a:solidFill>
            <a:prstDash val="solid"/>
          </a:ln>
        </p:spPr>
      </p:sp>
      <p:sp>
        <p:nvSpPr>
          <p:cNvPr id="14" name="Shape 12"/>
          <p:cNvSpPr/>
          <p:nvPr/>
        </p:nvSpPr>
        <p:spPr>
          <a:xfrm>
            <a:off x="6461608" y="2336292"/>
            <a:ext cx="786384" cy="786384"/>
          </a:xfrm>
          <a:prstGeom prst="ellipse">
            <a:avLst/>
          </a:prstGeom>
          <a:solidFill>
            <a:srgbClr val="F7E3E7"/>
          </a:solidFill>
          <a:ln w="12700">
            <a:solidFill>
              <a:srgbClr val="F7E3E7"/>
            </a:solidFill>
            <a:prstDash val="solid"/>
          </a:ln>
        </p:spPr>
      </p:sp>
      <p:sp>
        <p:nvSpPr>
          <p:cNvPr id="15" name="Icono lock"/>
          <p:cNvSpPr/>
          <p:nvPr/>
        </p:nvSpPr>
        <p:spPr>
          <a:xfrm>
            <a:off x="6650340" y="2525024"/>
            <a:ext cx="408920" cy="408920"/>
          </a:xfrm>
          <a:custGeom>
            <a:avLst/>
            <a:gdLst/>
            <a:ahLst/>
            <a:cxnLst/>
            <a:rect l="l" t="t" r="r" b="b"/>
            <a:pathLst>
              <a:path w="408920" h="408920">
                <a:moveTo>
                  <a:pt x="85192" y="187422"/>
                </a:moveTo>
                <a:lnTo>
                  <a:pt x="323728" y="187422"/>
                </a:lnTo>
                <a:cubicBezTo>
                  <a:pt x="342548" y="187422"/>
                  <a:pt x="357805" y="202678"/>
                  <a:pt x="357805" y="221498"/>
                </a:cubicBezTo>
                <a:lnTo>
                  <a:pt x="357805" y="340766"/>
                </a:lnTo>
                <a:cubicBezTo>
                  <a:pt x="357805" y="359586"/>
                  <a:pt x="342548" y="374843"/>
                  <a:pt x="323728" y="374843"/>
                </a:cubicBezTo>
                <a:lnTo>
                  <a:pt x="85192" y="374843"/>
                </a:lnTo>
                <a:cubicBezTo>
                  <a:pt x="66372" y="374843"/>
                  <a:pt x="51115" y="359586"/>
                  <a:pt x="51115" y="340766"/>
                </a:cubicBezTo>
                <a:lnTo>
                  <a:pt x="51115" y="221498"/>
                </a:lnTo>
                <a:cubicBezTo>
                  <a:pt x="51115" y="202678"/>
                  <a:pt x="66372" y="187422"/>
                  <a:pt x="85192" y="187422"/>
                </a:cubicBezTo>
                <a:close/>
                <a:moveTo>
                  <a:pt x="119268" y="187422"/>
                </a:moveTo>
                <a:lnTo>
                  <a:pt x="119268" y="119268"/>
                </a:lnTo>
                <a:cubicBezTo>
                  <a:pt x="119268" y="72218"/>
                  <a:pt x="157410" y="34077"/>
                  <a:pt x="204460" y="34077"/>
                </a:cubicBezTo>
                <a:cubicBezTo>
                  <a:pt x="251510" y="34077"/>
                  <a:pt x="289651" y="72218"/>
                  <a:pt x="289651" y="119268"/>
                </a:cubicBezTo>
                <a:lnTo>
                  <a:pt x="289651" y="187422"/>
                </a:lnTo>
              </a:path>
            </a:pathLst>
          </a:custGeom>
          <a:noFill/>
          <a:ln w="34077" cap="rnd">
            <a:solidFill>
              <a:srgbClr val="AB243E"/>
            </a:solidFill>
            <a:prstDash val="solid"/>
            <a:round/>
          </a:ln>
        </p:spPr>
      </p:sp>
      <p:sp>
        <p:nvSpPr>
          <p:cNvPr id="16" name="Text 14"/>
          <p:cNvSpPr/>
          <p:nvPr/>
        </p:nvSpPr>
        <p:spPr>
          <a:xfrm>
            <a:off x="7504024" y="227228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Seguridad</a:t>
            </a:r>
            <a:endParaRPr lang="en-US" sz="2000" dirty="0"/>
          </a:p>
        </p:txBody>
      </p:sp>
      <p:sp>
        <p:nvSpPr>
          <p:cNvPr id="17" name="Text 15"/>
          <p:cNvSpPr/>
          <p:nvPr/>
        </p:nvSpPr>
        <p:spPr>
          <a:xfrm>
            <a:off x="7504024" y="2747772"/>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Autenticación y contraseñas en un gestor de secretos.</a:t>
            </a:r>
            <a:endParaRPr lang="en-US" sz="1600" dirty="0"/>
          </a:p>
        </p:txBody>
      </p:sp>
      <p:sp>
        <p:nvSpPr>
          <p:cNvPr id="18" name="Shape 16"/>
          <p:cNvSpPr/>
          <p:nvPr/>
        </p:nvSpPr>
        <p:spPr>
          <a:xfrm>
            <a:off x="612648" y="3922776"/>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4050792"/>
            <a:ext cx="64008" cy="1764792"/>
          </a:xfrm>
          <a:prstGeom prst="rect">
            <a:avLst/>
          </a:prstGeom>
          <a:solidFill>
            <a:srgbClr val="0B6E8A"/>
          </a:solidFill>
          <a:ln w="12700">
            <a:solidFill>
              <a:srgbClr val="0B6E8A"/>
            </a:solidFill>
            <a:prstDash val="solid"/>
          </a:ln>
        </p:spPr>
      </p:sp>
      <p:sp>
        <p:nvSpPr>
          <p:cNvPr id="20" name="Shape 18"/>
          <p:cNvSpPr/>
          <p:nvPr/>
        </p:nvSpPr>
        <p:spPr>
          <a:xfrm>
            <a:off x="886968" y="4539996"/>
            <a:ext cx="786384" cy="786384"/>
          </a:xfrm>
          <a:prstGeom prst="ellipse">
            <a:avLst/>
          </a:prstGeom>
          <a:solidFill>
            <a:srgbClr val="E3F4FA"/>
          </a:solidFill>
          <a:ln w="12700">
            <a:solidFill>
              <a:srgbClr val="E3F4FA"/>
            </a:solidFill>
            <a:prstDash val="solid"/>
          </a:ln>
        </p:spPr>
      </p:sp>
      <p:sp>
        <p:nvSpPr>
          <p:cNvPr id="21" name="Icono gauge"/>
          <p:cNvSpPr/>
          <p:nvPr/>
        </p:nvSpPr>
        <p:spPr>
          <a:xfrm>
            <a:off x="1075700" y="4728728"/>
            <a:ext cx="408920" cy="408920"/>
          </a:xfrm>
          <a:custGeom>
            <a:avLst/>
            <a:gdLst/>
            <a:ahLst/>
            <a:cxnLst/>
            <a:rect l="l" t="t" r="r" b="b"/>
            <a:pathLst>
              <a:path w="408920" h="408920">
                <a:moveTo>
                  <a:pt x="204460" y="238536"/>
                </a:moveTo>
                <a:lnTo>
                  <a:pt x="272613" y="170383"/>
                </a:lnTo>
                <a:moveTo>
                  <a:pt x="56908" y="323728"/>
                </a:moveTo>
                <a:cubicBezTo>
                  <a:pt x="15560" y="252120"/>
                  <a:pt x="31596" y="161162"/>
                  <a:pt x="94937" y="108010"/>
                </a:cubicBezTo>
                <a:cubicBezTo>
                  <a:pt x="158279" y="54858"/>
                  <a:pt x="250640" y="54858"/>
                  <a:pt x="313982" y="108010"/>
                </a:cubicBezTo>
                <a:cubicBezTo>
                  <a:pt x="377324" y="161162"/>
                  <a:pt x="393359" y="252120"/>
                  <a:pt x="352012" y="323728"/>
                </a:cubicBezTo>
              </a:path>
            </a:pathLst>
          </a:custGeom>
          <a:noFill/>
          <a:ln w="34077" cap="rnd">
            <a:solidFill>
              <a:srgbClr val="0B6E8A"/>
            </a:solidFill>
            <a:prstDash val="solid"/>
            <a:round/>
          </a:ln>
        </p:spPr>
      </p:sp>
      <p:sp>
        <p:nvSpPr>
          <p:cNvPr id="22" name="Text 20"/>
          <p:cNvSpPr/>
          <p:nvPr/>
        </p:nvSpPr>
        <p:spPr>
          <a:xfrm>
            <a:off x="1929384" y="447598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Métricas y alertas</a:t>
            </a:r>
            <a:endParaRPr lang="en-US" sz="2000" dirty="0"/>
          </a:p>
        </p:txBody>
      </p:sp>
      <p:sp>
        <p:nvSpPr>
          <p:cNvPr id="23" name="Text 21"/>
          <p:cNvSpPr/>
          <p:nvPr/>
        </p:nvSpPr>
        <p:spPr>
          <a:xfrm>
            <a:off x="1929384" y="4951476"/>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Prometheus ya está expuesto: falta guardarlas y alertar.</a:t>
            </a:r>
            <a:endParaRPr lang="en-US" sz="1600" dirty="0"/>
          </a:p>
        </p:txBody>
      </p:sp>
      <p:sp>
        <p:nvSpPr>
          <p:cNvPr id="24" name="Shape 22"/>
          <p:cNvSpPr/>
          <p:nvPr/>
        </p:nvSpPr>
        <p:spPr>
          <a:xfrm>
            <a:off x="6187288" y="3922776"/>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4050792"/>
            <a:ext cx="64008" cy="1764792"/>
          </a:xfrm>
          <a:prstGeom prst="rect">
            <a:avLst/>
          </a:prstGeom>
          <a:solidFill>
            <a:srgbClr val="0A6648"/>
          </a:solidFill>
          <a:ln w="12700">
            <a:solidFill>
              <a:srgbClr val="0A6648"/>
            </a:solidFill>
            <a:prstDash val="solid"/>
          </a:ln>
        </p:spPr>
      </p:sp>
      <p:sp>
        <p:nvSpPr>
          <p:cNvPr id="26" name="Shape 24"/>
          <p:cNvSpPr/>
          <p:nvPr/>
        </p:nvSpPr>
        <p:spPr>
          <a:xfrm>
            <a:off x="6461608" y="4539996"/>
            <a:ext cx="786384" cy="786384"/>
          </a:xfrm>
          <a:prstGeom prst="ellipse">
            <a:avLst/>
          </a:prstGeom>
          <a:solidFill>
            <a:srgbClr val="E1F1EA"/>
          </a:solidFill>
          <a:ln w="12700">
            <a:solidFill>
              <a:srgbClr val="E1F1EA"/>
            </a:solidFill>
            <a:prstDash val="solid"/>
          </a:ln>
        </p:spPr>
      </p:sp>
      <p:sp>
        <p:nvSpPr>
          <p:cNvPr id="27" name="Icono rocket"/>
          <p:cNvSpPr/>
          <p:nvPr/>
        </p:nvSpPr>
        <p:spPr>
          <a:xfrm>
            <a:off x="6650340" y="4728728"/>
            <a:ext cx="408920" cy="408920"/>
          </a:xfrm>
          <a:custGeom>
            <a:avLst/>
            <a:gdLst/>
            <a:ahLst/>
            <a:cxnLst/>
            <a:rect l="l" t="t" r="r" b="b"/>
            <a:pathLst>
              <a:path w="408920" h="408920">
                <a:moveTo>
                  <a:pt x="76672" y="281132"/>
                </a:moveTo>
                <a:cubicBezTo>
                  <a:pt x="51115" y="302601"/>
                  <a:pt x="42596" y="366324"/>
                  <a:pt x="42596" y="366324"/>
                </a:cubicBezTo>
                <a:cubicBezTo>
                  <a:pt x="42596" y="366324"/>
                  <a:pt x="106319" y="357805"/>
                  <a:pt x="127787" y="332247"/>
                </a:cubicBezTo>
                <a:cubicBezTo>
                  <a:pt x="139885" y="317935"/>
                  <a:pt x="139714" y="295956"/>
                  <a:pt x="126254" y="282666"/>
                </a:cubicBezTo>
                <a:cubicBezTo>
                  <a:pt x="112540" y="269576"/>
                  <a:pt x="91169" y="268915"/>
                  <a:pt x="76672" y="281132"/>
                </a:cubicBezTo>
                <a:close/>
                <a:moveTo>
                  <a:pt x="204460" y="255575"/>
                </a:moveTo>
                <a:lnTo>
                  <a:pt x="153345" y="204460"/>
                </a:lnTo>
                <a:cubicBezTo>
                  <a:pt x="162412" y="180937"/>
                  <a:pt x="173828" y="158389"/>
                  <a:pt x="187422" y="137158"/>
                </a:cubicBezTo>
                <a:cubicBezTo>
                  <a:pt x="227788" y="72617"/>
                  <a:pt x="298719" y="33604"/>
                  <a:pt x="374843" y="34077"/>
                </a:cubicBezTo>
                <a:cubicBezTo>
                  <a:pt x="374843" y="80421"/>
                  <a:pt x="361553" y="161864"/>
                  <a:pt x="272613" y="221498"/>
                </a:cubicBezTo>
                <a:cubicBezTo>
                  <a:pt x="251092" y="235107"/>
                  <a:pt x="228260" y="246523"/>
                  <a:pt x="204460" y="255575"/>
                </a:cubicBezTo>
                <a:close/>
                <a:moveTo>
                  <a:pt x="153345" y="204460"/>
                </a:moveTo>
                <a:lnTo>
                  <a:pt x="68153" y="204460"/>
                </a:lnTo>
                <a:cubicBezTo>
                  <a:pt x="68153" y="204460"/>
                  <a:pt x="77524" y="152834"/>
                  <a:pt x="102230" y="136307"/>
                </a:cubicBezTo>
                <a:cubicBezTo>
                  <a:pt x="129832" y="117905"/>
                  <a:pt x="187422" y="136307"/>
                  <a:pt x="187422" y="136307"/>
                </a:cubicBezTo>
                <a:moveTo>
                  <a:pt x="204460" y="255575"/>
                </a:moveTo>
                <a:lnTo>
                  <a:pt x="204460" y="340766"/>
                </a:lnTo>
                <a:cubicBezTo>
                  <a:pt x="204460" y="340766"/>
                  <a:pt x="256086" y="331395"/>
                  <a:pt x="272613" y="306690"/>
                </a:cubicBezTo>
                <a:cubicBezTo>
                  <a:pt x="291015" y="279088"/>
                  <a:pt x="272613" y="221498"/>
                  <a:pt x="272613" y="221498"/>
                </a:cubicBezTo>
              </a:path>
            </a:pathLst>
          </a:custGeom>
          <a:noFill/>
          <a:ln w="34077" cap="rnd">
            <a:solidFill>
              <a:srgbClr val="0A6648"/>
            </a:solidFill>
            <a:prstDash val="solid"/>
            <a:round/>
          </a:ln>
        </p:spPr>
      </p:sp>
      <p:sp>
        <p:nvSpPr>
          <p:cNvPr id="28" name="Text 26"/>
          <p:cNvSpPr/>
          <p:nvPr/>
        </p:nvSpPr>
        <p:spPr>
          <a:xfrm>
            <a:off x="7504024" y="447598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Entrega a Kubernetes</a:t>
            </a:r>
            <a:endParaRPr lang="en-US" sz="2000" dirty="0"/>
          </a:p>
        </p:txBody>
      </p:sp>
      <p:sp>
        <p:nvSpPr>
          <p:cNvPr id="29" name="Text 27"/>
          <p:cNvSpPr/>
          <p:nvPr/>
        </p:nvSpPr>
        <p:spPr>
          <a:xfrm>
            <a:off x="7504024" y="4951476"/>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pipeline publica; falta que despliegue solo.</a:t>
            </a:r>
            <a:endParaRPr lang="en-US" sz="1600" dirty="0"/>
          </a:p>
        </p:txBody>
      </p:sp>
      <p:sp>
        <p:nvSpPr>
          <p:cNvPr id="30" name="Text 28"/>
          <p:cNvSpPr/>
          <p:nvPr/>
        </p:nvSpPr>
        <p:spPr>
          <a:xfrm>
            <a:off x="612648" y="6016752"/>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Las cuatro son propuestas: no existen todavía en el código</a:t>
            </a:r>
            <a:endParaRPr lang="en-US" sz="95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138160" y="-1280160"/>
            <a:ext cx="5669280" cy="5669280"/>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Icono sparkles"/>
          <p:cNvSpPr/>
          <p:nvPr/>
        </p:nvSpPr>
        <p:spPr>
          <a:xfrm>
            <a:off x="9692640" y="822960"/>
            <a:ext cx="1737360" cy="1737360"/>
          </a:xfrm>
          <a:custGeom>
            <a:avLst/>
            <a:gdLst/>
            <a:ahLst/>
            <a:cxnLst/>
            <a:rect l="l" t="t" r="r" b="b"/>
            <a:pathLst>
              <a:path w="1737360" h="1737360">
                <a:moveTo>
                  <a:pt x="719339" y="1122045"/>
                </a:moveTo>
                <a:cubicBezTo>
                  <a:pt x="706177" y="1071024"/>
                  <a:pt x="666336" y="1031183"/>
                  <a:pt x="615315" y="1018021"/>
                </a:cubicBezTo>
                <a:lnTo>
                  <a:pt x="171202" y="903500"/>
                </a:lnTo>
                <a:cubicBezTo>
                  <a:pt x="155634" y="899081"/>
                  <a:pt x="144890" y="884864"/>
                  <a:pt x="144890" y="868680"/>
                </a:cubicBezTo>
                <a:cubicBezTo>
                  <a:pt x="144890" y="852496"/>
                  <a:pt x="155634" y="838279"/>
                  <a:pt x="171202" y="833860"/>
                </a:cubicBezTo>
                <a:lnTo>
                  <a:pt x="615315" y="719267"/>
                </a:lnTo>
                <a:cubicBezTo>
                  <a:pt x="666317" y="706118"/>
                  <a:pt x="706154" y="666308"/>
                  <a:pt x="719339" y="615315"/>
                </a:cubicBezTo>
                <a:lnTo>
                  <a:pt x="833860" y="171202"/>
                </a:lnTo>
                <a:cubicBezTo>
                  <a:pt x="838235" y="155570"/>
                  <a:pt x="852483" y="144762"/>
                  <a:pt x="868716" y="144762"/>
                </a:cubicBezTo>
                <a:cubicBezTo>
                  <a:pt x="884949" y="144762"/>
                  <a:pt x="899197" y="155570"/>
                  <a:pt x="903572" y="171202"/>
                </a:cubicBezTo>
                <a:lnTo>
                  <a:pt x="1018021" y="615315"/>
                </a:lnTo>
                <a:cubicBezTo>
                  <a:pt x="1031183" y="666336"/>
                  <a:pt x="1071024" y="706177"/>
                  <a:pt x="1122045" y="719339"/>
                </a:cubicBezTo>
                <a:lnTo>
                  <a:pt x="1566158" y="833788"/>
                </a:lnTo>
                <a:cubicBezTo>
                  <a:pt x="1581855" y="838118"/>
                  <a:pt x="1592728" y="852397"/>
                  <a:pt x="1592728" y="868680"/>
                </a:cubicBezTo>
                <a:cubicBezTo>
                  <a:pt x="1592728" y="884963"/>
                  <a:pt x="1581855" y="899242"/>
                  <a:pt x="1566158" y="903572"/>
                </a:cubicBezTo>
                <a:lnTo>
                  <a:pt x="1122045" y="1018021"/>
                </a:lnTo>
                <a:cubicBezTo>
                  <a:pt x="1071024" y="1031183"/>
                  <a:pt x="1031183" y="1071024"/>
                  <a:pt x="1018021" y="1122045"/>
                </a:cubicBezTo>
                <a:lnTo>
                  <a:pt x="903500" y="1566158"/>
                </a:lnTo>
                <a:cubicBezTo>
                  <a:pt x="899125" y="1581790"/>
                  <a:pt x="884877" y="1592598"/>
                  <a:pt x="868644" y="1592598"/>
                </a:cubicBezTo>
                <a:cubicBezTo>
                  <a:pt x="852411" y="1592598"/>
                  <a:pt x="838163" y="1581790"/>
                  <a:pt x="833788" y="1566158"/>
                </a:cubicBezTo>
                <a:close/>
                <a:moveTo>
                  <a:pt x="1447800" y="217170"/>
                </a:moveTo>
                <a:lnTo>
                  <a:pt x="1447800" y="506730"/>
                </a:lnTo>
                <a:moveTo>
                  <a:pt x="1592580" y="361950"/>
                </a:moveTo>
                <a:lnTo>
                  <a:pt x="1303020" y="361950"/>
                </a:lnTo>
                <a:moveTo>
                  <a:pt x="289560" y="1230630"/>
                </a:moveTo>
                <a:lnTo>
                  <a:pt x="289560" y="1375410"/>
                </a:lnTo>
                <a:moveTo>
                  <a:pt x="361950" y="1303020"/>
                </a:moveTo>
                <a:lnTo>
                  <a:pt x="217170" y="1303020"/>
                </a:lnTo>
              </a:path>
            </a:pathLst>
          </a:custGeom>
          <a:noFill/>
          <a:ln w="90487" cap="rnd">
            <a:solidFill>
              <a:srgbClr val="2BA6CB"/>
            </a:solidFill>
            <a:prstDash val="solid"/>
            <a:roun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2103120"/>
            <a:ext cx="82296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9" name="Text 7"/>
          <p:cNvSpPr/>
          <p:nvPr/>
        </p:nvSpPr>
        <p:spPr>
          <a:xfrm>
            <a:off x="758952" y="3474720"/>
            <a:ext cx="82296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
        <p:nvSpPr>
          <p:cNvPr id="10" name="Shape 8"/>
          <p:cNvSpPr/>
          <p:nvPr/>
        </p:nvSpPr>
        <p:spPr>
          <a:xfrm>
            <a:off x="758952" y="5120640"/>
            <a:ext cx="548640" cy="548640"/>
          </a:xfrm>
          <a:prstGeom prst="ellipse">
            <a:avLst/>
          </a:prstGeom>
          <a:solidFill>
            <a:srgbClr val="0B2350"/>
          </a:solidFill>
          <a:ln w="15875">
            <a:solidFill>
              <a:srgbClr val="2BA6CB"/>
            </a:solidFill>
            <a:prstDash val="solid"/>
          </a:ln>
        </p:spPr>
      </p:sp>
      <p:sp>
        <p:nvSpPr>
          <p:cNvPr id="11" name="Icono code"/>
          <p:cNvSpPr/>
          <p:nvPr/>
        </p:nvSpPr>
        <p:spPr>
          <a:xfrm>
            <a:off x="896112" y="5257800"/>
            <a:ext cx="274320" cy="274320"/>
          </a:xfrm>
          <a:custGeom>
            <a:avLst/>
            <a:gdLst/>
            <a:ahLst/>
            <a:cxnLst/>
            <a:rect l="l" t="t" r="r" b="b"/>
            <a:pathLst>
              <a:path w="274320" h="274320">
                <a:moveTo>
                  <a:pt x="182880" y="205740"/>
                </a:moveTo>
                <a:lnTo>
                  <a:pt x="251460" y="137160"/>
                </a:lnTo>
                <a:lnTo>
                  <a:pt x="182880" y="68580"/>
                </a:lnTo>
                <a:moveTo>
                  <a:pt x="91440" y="68580"/>
                </a:moveTo>
                <a:lnTo>
                  <a:pt x="22860" y="137160"/>
                </a:lnTo>
                <a:lnTo>
                  <a:pt x="91440" y="205740"/>
                </a:lnTo>
              </a:path>
            </a:pathLst>
          </a:custGeom>
          <a:noFill/>
          <a:ln w="22860" cap="rnd">
            <a:solidFill>
              <a:srgbClr val="2BA6CB"/>
            </a:solidFill>
            <a:prstDash val="solid"/>
            <a:round/>
          </a:ln>
        </p:spPr>
      </p:sp>
      <p:sp>
        <p:nvSpPr>
          <p:cNvPr id="12" name="Shape 10"/>
          <p:cNvSpPr/>
          <p:nvPr/>
        </p:nvSpPr>
        <p:spPr>
          <a:xfrm>
            <a:off x="1472184" y="5120640"/>
            <a:ext cx="548640" cy="548640"/>
          </a:xfrm>
          <a:prstGeom prst="ellipse">
            <a:avLst/>
          </a:prstGeom>
          <a:solidFill>
            <a:srgbClr val="0B2350"/>
          </a:solidFill>
          <a:ln w="15875">
            <a:solidFill>
              <a:srgbClr val="2BA6CB"/>
            </a:solidFill>
            <a:prstDash val="solid"/>
          </a:ln>
        </p:spPr>
      </p:sp>
      <p:sp>
        <p:nvSpPr>
          <p:cNvPr id="13" name="Icono network"/>
          <p:cNvSpPr/>
          <p:nvPr/>
        </p:nvSpPr>
        <p:spPr>
          <a:xfrm>
            <a:off x="1609344" y="5257800"/>
            <a:ext cx="274320" cy="274320"/>
          </a:xfrm>
          <a:custGeom>
            <a:avLst/>
            <a:gdLst/>
            <a:ahLst/>
            <a:cxnLst/>
            <a:rect l="l" t="t" r="r" b="b"/>
            <a:pathLst>
              <a:path w="274320" h="274320">
                <a:moveTo>
                  <a:pt x="194310" y="182880"/>
                </a:moveTo>
                <a:lnTo>
                  <a:pt x="240030" y="182880"/>
                </a:lnTo>
                <a:cubicBezTo>
                  <a:pt x="246343" y="182880"/>
                  <a:pt x="251460" y="187997"/>
                  <a:pt x="251460" y="194310"/>
                </a:cubicBezTo>
                <a:lnTo>
                  <a:pt x="251460" y="240030"/>
                </a:lnTo>
                <a:cubicBezTo>
                  <a:pt x="251460" y="246343"/>
                  <a:pt x="246343" y="251460"/>
                  <a:pt x="240030" y="251460"/>
                </a:cubicBezTo>
                <a:lnTo>
                  <a:pt x="194310" y="251460"/>
                </a:lnTo>
                <a:cubicBezTo>
                  <a:pt x="187997" y="251460"/>
                  <a:pt x="182880" y="246343"/>
                  <a:pt x="182880" y="240030"/>
                </a:cubicBezTo>
                <a:lnTo>
                  <a:pt x="182880" y="194310"/>
                </a:lnTo>
                <a:cubicBezTo>
                  <a:pt x="182880" y="187997"/>
                  <a:pt x="187997" y="182880"/>
                  <a:pt x="194310" y="182880"/>
                </a:cubicBezTo>
                <a:close/>
                <a:moveTo>
                  <a:pt x="34290" y="182880"/>
                </a:moveTo>
                <a:lnTo>
                  <a:pt x="80010" y="182880"/>
                </a:lnTo>
                <a:cubicBezTo>
                  <a:pt x="86323" y="182880"/>
                  <a:pt x="91440" y="187997"/>
                  <a:pt x="91440" y="194310"/>
                </a:cubicBezTo>
                <a:lnTo>
                  <a:pt x="91440" y="240030"/>
                </a:lnTo>
                <a:cubicBezTo>
                  <a:pt x="91440" y="246343"/>
                  <a:pt x="86323" y="251460"/>
                  <a:pt x="80010" y="251460"/>
                </a:cubicBezTo>
                <a:lnTo>
                  <a:pt x="34290" y="251460"/>
                </a:lnTo>
                <a:cubicBezTo>
                  <a:pt x="27977" y="251460"/>
                  <a:pt x="22860" y="246343"/>
                  <a:pt x="22860" y="240030"/>
                </a:cubicBezTo>
                <a:lnTo>
                  <a:pt x="22860" y="194310"/>
                </a:lnTo>
                <a:cubicBezTo>
                  <a:pt x="22860" y="187997"/>
                  <a:pt x="27977" y="182880"/>
                  <a:pt x="34290" y="182880"/>
                </a:cubicBezTo>
                <a:close/>
                <a:moveTo>
                  <a:pt x="114300" y="22860"/>
                </a:moveTo>
                <a:lnTo>
                  <a:pt x="160020" y="22860"/>
                </a:lnTo>
                <a:cubicBezTo>
                  <a:pt x="166333" y="22860"/>
                  <a:pt x="171450" y="27977"/>
                  <a:pt x="171450" y="34290"/>
                </a:cubicBezTo>
                <a:lnTo>
                  <a:pt x="171450" y="80010"/>
                </a:lnTo>
                <a:cubicBezTo>
                  <a:pt x="171450" y="86323"/>
                  <a:pt x="166333" y="91440"/>
                  <a:pt x="160020" y="91440"/>
                </a:cubicBezTo>
                <a:lnTo>
                  <a:pt x="114300" y="91440"/>
                </a:lnTo>
                <a:cubicBezTo>
                  <a:pt x="107987" y="91440"/>
                  <a:pt x="102870" y="86323"/>
                  <a:pt x="102870" y="80010"/>
                </a:cubicBezTo>
                <a:lnTo>
                  <a:pt x="102870" y="34290"/>
                </a:lnTo>
                <a:cubicBezTo>
                  <a:pt x="102870" y="27977"/>
                  <a:pt x="107987" y="22860"/>
                  <a:pt x="114300" y="22860"/>
                </a:cubicBezTo>
                <a:close/>
                <a:moveTo>
                  <a:pt x="57150" y="182880"/>
                </a:moveTo>
                <a:lnTo>
                  <a:pt x="57150" y="148590"/>
                </a:lnTo>
                <a:cubicBezTo>
                  <a:pt x="57150" y="142277"/>
                  <a:pt x="62267" y="137160"/>
                  <a:pt x="68580" y="137160"/>
                </a:cubicBezTo>
                <a:lnTo>
                  <a:pt x="205740" y="137160"/>
                </a:lnTo>
                <a:cubicBezTo>
                  <a:pt x="212053" y="137160"/>
                  <a:pt x="217170" y="142277"/>
                  <a:pt x="217170" y="148590"/>
                </a:cubicBezTo>
                <a:lnTo>
                  <a:pt x="217170" y="182880"/>
                </a:lnTo>
                <a:moveTo>
                  <a:pt x="137160" y="137160"/>
                </a:moveTo>
                <a:lnTo>
                  <a:pt x="137160" y="91440"/>
                </a:lnTo>
              </a:path>
            </a:pathLst>
          </a:custGeom>
          <a:noFill/>
          <a:ln w="22860" cap="rnd">
            <a:solidFill>
              <a:srgbClr val="2BA6CB"/>
            </a:solidFill>
            <a:prstDash val="solid"/>
            <a:round/>
          </a:ln>
        </p:spPr>
      </p:sp>
      <p:sp>
        <p:nvSpPr>
          <p:cNvPr id="14" name="Shape 12"/>
          <p:cNvSpPr/>
          <p:nvPr/>
        </p:nvSpPr>
        <p:spPr>
          <a:xfrm>
            <a:off x="2185416" y="5120640"/>
            <a:ext cx="548640" cy="548640"/>
          </a:xfrm>
          <a:prstGeom prst="ellipse">
            <a:avLst/>
          </a:prstGeom>
          <a:solidFill>
            <a:srgbClr val="0B2350"/>
          </a:solidFill>
          <a:ln w="15875">
            <a:solidFill>
              <a:srgbClr val="2BA6CB"/>
            </a:solidFill>
            <a:prstDash val="solid"/>
          </a:ln>
        </p:spPr>
      </p:sp>
      <p:sp>
        <p:nvSpPr>
          <p:cNvPr id="15" name="Icono database"/>
          <p:cNvSpPr/>
          <p:nvPr/>
        </p:nvSpPr>
        <p:spPr>
          <a:xfrm>
            <a:off x="2322576" y="525780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2BA6CB"/>
            </a:solidFill>
            <a:prstDash val="solid"/>
            <a:round/>
          </a:ln>
        </p:spPr>
      </p:sp>
      <p:sp>
        <p:nvSpPr>
          <p:cNvPr id="16" name="Shape 14"/>
          <p:cNvSpPr/>
          <p:nvPr/>
        </p:nvSpPr>
        <p:spPr>
          <a:xfrm>
            <a:off x="2898648" y="5120640"/>
            <a:ext cx="548640" cy="548640"/>
          </a:xfrm>
          <a:prstGeom prst="ellipse">
            <a:avLst/>
          </a:prstGeom>
          <a:solidFill>
            <a:srgbClr val="0B2350"/>
          </a:solidFill>
          <a:ln w="15875">
            <a:solidFill>
              <a:srgbClr val="2BA6CB"/>
            </a:solidFill>
            <a:prstDash val="solid"/>
          </a:ln>
        </p:spPr>
      </p:sp>
      <p:sp>
        <p:nvSpPr>
          <p:cNvPr id="17" name="Icono container"/>
          <p:cNvSpPr/>
          <p:nvPr/>
        </p:nvSpPr>
        <p:spPr>
          <a:xfrm>
            <a:off x="3035808" y="5257800"/>
            <a:ext cx="274320" cy="274320"/>
          </a:xfrm>
          <a:custGeom>
            <a:avLst/>
            <a:gdLst/>
            <a:ahLst/>
            <a:cxnLst/>
            <a:rect l="l" t="t" r="r" b="b"/>
            <a:pathLst>
              <a:path w="274320" h="274320">
                <a:moveTo>
                  <a:pt x="251460" y="88011"/>
                </a:moveTo>
                <a:cubicBezTo>
                  <a:pt x="251460" y="81153"/>
                  <a:pt x="246888" y="74295"/>
                  <a:pt x="242316" y="70866"/>
                </a:cubicBezTo>
                <a:lnTo>
                  <a:pt x="170307" y="26289"/>
                </a:lnTo>
                <a:cubicBezTo>
                  <a:pt x="164283" y="22864"/>
                  <a:pt x="156900" y="22864"/>
                  <a:pt x="150876" y="26289"/>
                </a:cubicBezTo>
                <a:lnTo>
                  <a:pt x="33147" y="94869"/>
                </a:lnTo>
                <a:cubicBezTo>
                  <a:pt x="27432" y="97155"/>
                  <a:pt x="22860" y="104013"/>
                  <a:pt x="22860" y="110871"/>
                </a:cubicBezTo>
                <a:lnTo>
                  <a:pt x="22860" y="186309"/>
                </a:lnTo>
                <a:cubicBezTo>
                  <a:pt x="22860" y="192024"/>
                  <a:pt x="27432" y="200025"/>
                  <a:pt x="32004" y="203454"/>
                </a:cubicBezTo>
                <a:lnTo>
                  <a:pt x="104013" y="248031"/>
                </a:lnTo>
                <a:cubicBezTo>
                  <a:pt x="110037" y="251456"/>
                  <a:pt x="117420" y="251456"/>
                  <a:pt x="123444" y="248031"/>
                </a:cubicBezTo>
                <a:lnTo>
                  <a:pt x="241173" y="179451"/>
                </a:lnTo>
                <a:cubicBezTo>
                  <a:pt x="246888" y="176022"/>
                  <a:pt x="251460" y="168021"/>
                  <a:pt x="251460" y="162306"/>
                </a:cubicBezTo>
                <a:close/>
                <a:moveTo>
                  <a:pt x="114300" y="250317"/>
                </a:moveTo>
                <a:lnTo>
                  <a:pt x="114300" y="160020"/>
                </a:lnTo>
                <a:lnTo>
                  <a:pt x="24003" y="104013"/>
                </a:lnTo>
                <a:moveTo>
                  <a:pt x="114300" y="160020"/>
                </a:moveTo>
                <a:lnTo>
                  <a:pt x="250317" y="81153"/>
                </a:lnTo>
                <a:moveTo>
                  <a:pt x="160020" y="226314"/>
                </a:moveTo>
                <a:lnTo>
                  <a:pt x="160020" y="133731"/>
                </a:lnTo>
                <a:moveTo>
                  <a:pt x="205740" y="200025"/>
                </a:moveTo>
                <a:lnTo>
                  <a:pt x="205740" y="107442"/>
                </a:lnTo>
              </a:path>
            </a:pathLst>
          </a:custGeom>
          <a:noFill/>
          <a:ln w="22860" cap="rnd">
            <a:solidFill>
              <a:srgbClr val="2BA6CB"/>
            </a:solidFill>
            <a:prstDash val="solid"/>
            <a:round/>
          </a:ln>
        </p:spPr>
      </p:sp>
      <p:sp>
        <p:nvSpPr>
          <p:cNvPr id="18" name="Shape 16"/>
          <p:cNvSpPr/>
          <p:nvPr/>
        </p:nvSpPr>
        <p:spPr>
          <a:xfrm>
            <a:off x="3611880" y="5120640"/>
            <a:ext cx="548640" cy="548640"/>
          </a:xfrm>
          <a:prstGeom prst="ellipse">
            <a:avLst/>
          </a:prstGeom>
          <a:solidFill>
            <a:srgbClr val="0B2350"/>
          </a:solidFill>
          <a:ln w="15875">
            <a:solidFill>
              <a:srgbClr val="2BA6CB"/>
            </a:solidFill>
            <a:prstDash val="solid"/>
          </a:ln>
        </p:spPr>
      </p:sp>
      <p:sp>
        <p:nvSpPr>
          <p:cNvPr id="19" name="Icono workflow"/>
          <p:cNvSpPr/>
          <p:nvPr/>
        </p:nvSpPr>
        <p:spPr>
          <a:xfrm>
            <a:off x="3749040" y="5257800"/>
            <a:ext cx="274320" cy="274320"/>
          </a:xfrm>
          <a:custGeom>
            <a:avLst/>
            <a:gdLst/>
            <a:ahLst/>
            <a:cxnLst/>
            <a:rect l="l" t="t" r="r" b="b"/>
            <a:pathLst>
              <a:path w="274320" h="274320">
                <a:moveTo>
                  <a:pt x="57150" y="34290"/>
                </a:moveTo>
                <a:lnTo>
                  <a:pt x="102870" y="34290"/>
                </a:lnTo>
                <a:cubicBezTo>
                  <a:pt x="115495" y="34290"/>
                  <a:pt x="125730" y="44525"/>
                  <a:pt x="125730" y="57150"/>
                </a:cubicBezTo>
                <a:lnTo>
                  <a:pt x="125730" y="102870"/>
                </a:lnTo>
                <a:cubicBezTo>
                  <a:pt x="125730" y="115495"/>
                  <a:pt x="115495" y="125730"/>
                  <a:pt x="102870" y="125730"/>
                </a:cubicBezTo>
                <a:lnTo>
                  <a:pt x="57150" y="125730"/>
                </a:lnTo>
                <a:cubicBezTo>
                  <a:pt x="44525" y="125730"/>
                  <a:pt x="34290" y="115495"/>
                  <a:pt x="34290" y="102870"/>
                </a:cubicBezTo>
                <a:lnTo>
                  <a:pt x="34290" y="57150"/>
                </a:lnTo>
                <a:cubicBezTo>
                  <a:pt x="34290" y="44525"/>
                  <a:pt x="44525" y="34290"/>
                  <a:pt x="57150" y="34290"/>
                </a:cubicBezTo>
                <a:close/>
                <a:moveTo>
                  <a:pt x="80010" y="125730"/>
                </a:moveTo>
                <a:lnTo>
                  <a:pt x="80010" y="171450"/>
                </a:lnTo>
                <a:cubicBezTo>
                  <a:pt x="80010" y="184075"/>
                  <a:pt x="90245" y="194310"/>
                  <a:pt x="102870" y="194310"/>
                </a:cubicBezTo>
                <a:lnTo>
                  <a:pt x="148590" y="194310"/>
                </a:lnTo>
                <a:moveTo>
                  <a:pt x="171450" y="148590"/>
                </a:moveTo>
                <a:lnTo>
                  <a:pt x="217170" y="148590"/>
                </a:lnTo>
                <a:cubicBezTo>
                  <a:pt x="229795" y="148590"/>
                  <a:pt x="240030" y="158825"/>
                  <a:pt x="240030" y="171450"/>
                </a:cubicBezTo>
                <a:lnTo>
                  <a:pt x="240030" y="217170"/>
                </a:lnTo>
                <a:cubicBezTo>
                  <a:pt x="240030" y="229795"/>
                  <a:pt x="229795" y="240030"/>
                  <a:pt x="217170" y="240030"/>
                </a:cubicBezTo>
                <a:lnTo>
                  <a:pt x="171450" y="240030"/>
                </a:lnTo>
                <a:cubicBezTo>
                  <a:pt x="158825" y="240030"/>
                  <a:pt x="148590" y="229795"/>
                  <a:pt x="148590" y="217170"/>
                </a:cubicBezTo>
                <a:lnTo>
                  <a:pt x="148590" y="171450"/>
                </a:lnTo>
                <a:cubicBezTo>
                  <a:pt x="148590" y="158825"/>
                  <a:pt x="158825" y="148590"/>
                  <a:pt x="171450" y="148590"/>
                </a:cubicBezTo>
                <a:close/>
              </a:path>
            </a:pathLst>
          </a:custGeom>
          <a:noFill/>
          <a:ln w="22860" cap="rnd">
            <a:solidFill>
              <a:srgbClr val="2BA6CB"/>
            </a:solidFill>
            <a:prstDash val="solid"/>
            <a:round/>
          </a:ln>
        </p:spPr>
      </p:sp>
      <p:sp>
        <p:nvSpPr>
          <p:cNvPr id="20" name="Shape 18"/>
          <p:cNvSpPr/>
          <p:nvPr/>
        </p:nvSpPr>
        <p:spPr>
          <a:xfrm>
            <a:off x="4325112" y="5120640"/>
            <a:ext cx="548640" cy="548640"/>
          </a:xfrm>
          <a:prstGeom prst="ellipse">
            <a:avLst/>
          </a:prstGeom>
          <a:solidFill>
            <a:srgbClr val="0B2350"/>
          </a:solidFill>
          <a:ln w="15875">
            <a:solidFill>
              <a:srgbClr val="2BA6CB"/>
            </a:solidFill>
            <a:prstDash val="solid"/>
          </a:ln>
        </p:spPr>
      </p:sp>
      <p:sp>
        <p:nvSpPr>
          <p:cNvPr id="21" name="Icono chart-line"/>
          <p:cNvSpPr/>
          <p:nvPr/>
        </p:nvSpPr>
        <p:spPr>
          <a:xfrm>
            <a:off x="4462272" y="5257800"/>
            <a:ext cx="274320" cy="274320"/>
          </a:xfrm>
          <a:custGeom>
            <a:avLst/>
            <a:gdLst/>
            <a:ahLst/>
            <a:cxnLst/>
            <a:rect l="l" t="t" r="r" b="b"/>
            <a:pathLst>
              <a:path w="274320" h="274320">
                <a:moveTo>
                  <a:pt x="34290" y="34290"/>
                </a:moveTo>
                <a:lnTo>
                  <a:pt x="34290" y="217170"/>
                </a:lnTo>
                <a:cubicBezTo>
                  <a:pt x="34290" y="229795"/>
                  <a:pt x="44525" y="240030"/>
                  <a:pt x="57150" y="240030"/>
                </a:cubicBezTo>
                <a:lnTo>
                  <a:pt x="240030" y="240030"/>
                </a:lnTo>
                <a:moveTo>
                  <a:pt x="217170" y="102870"/>
                </a:moveTo>
                <a:lnTo>
                  <a:pt x="160020" y="160020"/>
                </a:lnTo>
                <a:lnTo>
                  <a:pt x="114300" y="114300"/>
                </a:lnTo>
                <a:lnTo>
                  <a:pt x="80010" y="148590"/>
                </a:lnTo>
              </a:path>
            </a:pathLst>
          </a:custGeom>
          <a:noFill/>
          <a:ln w="22860" cap="rnd">
            <a:solidFill>
              <a:srgbClr val="2BA6CB"/>
            </a:solidFill>
            <a:prstDash val="solid"/>
            <a:round/>
          </a:ln>
        </p:spPr>
      </p:sp>
      <p:sp>
        <p:nvSpPr>
          <p:cNvPr id="22" name="Shape 20"/>
          <p:cNvSpPr/>
          <p:nvPr/>
        </p:nvSpPr>
        <p:spPr>
          <a:xfrm>
            <a:off x="5038344" y="5120640"/>
            <a:ext cx="548640" cy="548640"/>
          </a:xfrm>
          <a:prstGeom prst="ellipse">
            <a:avLst/>
          </a:prstGeom>
          <a:solidFill>
            <a:srgbClr val="0B2350"/>
          </a:solidFill>
          <a:ln w="15875">
            <a:solidFill>
              <a:srgbClr val="2BA6CB"/>
            </a:solidFill>
            <a:prstDash val="solid"/>
          </a:ln>
        </p:spPr>
      </p:sp>
      <p:sp>
        <p:nvSpPr>
          <p:cNvPr id="23" name="Icono book-open"/>
          <p:cNvSpPr/>
          <p:nvPr/>
        </p:nvSpPr>
        <p:spPr>
          <a:xfrm>
            <a:off x="5175504" y="5257800"/>
            <a:ext cx="274320" cy="274320"/>
          </a:xfrm>
          <a:custGeom>
            <a:avLst/>
            <a:gdLst/>
            <a:ahLst/>
            <a:cxnLst/>
            <a:rect l="l" t="t" r="r" b="b"/>
            <a:pathLst>
              <a:path w="274320" h="274320">
                <a:moveTo>
                  <a:pt x="137160" y="80010"/>
                </a:moveTo>
                <a:lnTo>
                  <a:pt x="137160" y="240030"/>
                </a:lnTo>
                <a:moveTo>
                  <a:pt x="34290" y="205740"/>
                </a:moveTo>
                <a:cubicBezTo>
                  <a:pt x="27977" y="205740"/>
                  <a:pt x="22860" y="200623"/>
                  <a:pt x="22860" y="194310"/>
                </a:cubicBezTo>
                <a:lnTo>
                  <a:pt x="22860" y="45720"/>
                </a:lnTo>
                <a:cubicBezTo>
                  <a:pt x="22860" y="39407"/>
                  <a:pt x="27977" y="34290"/>
                  <a:pt x="34290" y="34290"/>
                </a:cubicBezTo>
                <a:lnTo>
                  <a:pt x="91440" y="34290"/>
                </a:lnTo>
                <a:cubicBezTo>
                  <a:pt x="116690" y="34290"/>
                  <a:pt x="137160" y="54760"/>
                  <a:pt x="137160" y="80010"/>
                </a:cubicBezTo>
                <a:cubicBezTo>
                  <a:pt x="137160" y="54760"/>
                  <a:pt x="157630" y="34290"/>
                  <a:pt x="182880" y="34290"/>
                </a:cubicBezTo>
                <a:lnTo>
                  <a:pt x="240030" y="34290"/>
                </a:lnTo>
                <a:cubicBezTo>
                  <a:pt x="246343" y="34290"/>
                  <a:pt x="251460" y="39407"/>
                  <a:pt x="251460" y="45720"/>
                </a:cubicBezTo>
                <a:lnTo>
                  <a:pt x="251460" y="194310"/>
                </a:lnTo>
                <a:cubicBezTo>
                  <a:pt x="251460" y="200623"/>
                  <a:pt x="246343" y="205740"/>
                  <a:pt x="240030" y="205740"/>
                </a:cubicBezTo>
                <a:lnTo>
                  <a:pt x="171450" y="205740"/>
                </a:lnTo>
                <a:cubicBezTo>
                  <a:pt x="152512" y="205740"/>
                  <a:pt x="137160" y="221092"/>
                  <a:pt x="137160" y="240030"/>
                </a:cubicBezTo>
                <a:cubicBezTo>
                  <a:pt x="137160" y="221092"/>
                  <a:pt x="121808" y="205740"/>
                  <a:pt x="102870" y="205740"/>
                </a:cubicBezTo>
                <a:close/>
              </a:path>
            </a:pathLst>
          </a:custGeom>
          <a:noFill/>
          <a:ln w="22860" cap="rnd">
            <a:solidFill>
              <a:srgbClr val="2BA6CB"/>
            </a:solidFill>
            <a:prstDash val="solid"/>
            <a:round/>
          </a:ln>
        </p:spPr>
      </p:sp>
      <p:sp>
        <p:nvSpPr>
          <p:cNvPr id="24" name="Shape 22"/>
          <p:cNvSpPr/>
          <p:nvPr/>
        </p:nvSpPr>
        <p:spPr>
          <a:xfrm>
            <a:off x="5751576" y="5120640"/>
            <a:ext cx="548640" cy="548640"/>
          </a:xfrm>
          <a:prstGeom prst="ellipse">
            <a:avLst/>
          </a:prstGeom>
          <a:solidFill>
            <a:srgbClr val="0B2350"/>
          </a:solidFill>
          <a:ln w="15875">
            <a:solidFill>
              <a:srgbClr val="2BA6CB"/>
            </a:solidFill>
            <a:prstDash val="solid"/>
          </a:ln>
        </p:spPr>
      </p:sp>
      <p:sp>
        <p:nvSpPr>
          <p:cNvPr id="25" name="Icono flask-conical"/>
          <p:cNvSpPr/>
          <p:nvPr/>
        </p:nvSpPr>
        <p:spPr>
          <a:xfrm>
            <a:off x="5888736" y="5257800"/>
            <a:ext cx="274320" cy="274320"/>
          </a:xfrm>
          <a:custGeom>
            <a:avLst/>
            <a:gdLst/>
            <a:ahLst/>
            <a:cxnLst/>
            <a:rect l="l" t="t" r="r" b="b"/>
            <a:pathLst>
              <a:path w="274320" h="274320">
                <a:moveTo>
                  <a:pt x="160020" y="22860"/>
                </a:moveTo>
                <a:lnTo>
                  <a:pt x="160020" y="91440"/>
                </a:lnTo>
                <a:cubicBezTo>
                  <a:pt x="160018" y="95275"/>
                  <a:pt x="160981" y="99048"/>
                  <a:pt x="162820" y="102413"/>
                </a:cubicBezTo>
                <a:lnTo>
                  <a:pt x="225800" y="217627"/>
                </a:lnTo>
                <a:cubicBezTo>
                  <a:pt x="229675" y="224711"/>
                  <a:pt x="229527" y="233313"/>
                  <a:pt x="225409" y="240259"/>
                </a:cubicBezTo>
                <a:cubicBezTo>
                  <a:pt x="221291" y="247204"/>
                  <a:pt x="213814" y="251462"/>
                  <a:pt x="205740" y="251460"/>
                </a:cubicBezTo>
                <a:lnTo>
                  <a:pt x="68580" y="251460"/>
                </a:lnTo>
                <a:cubicBezTo>
                  <a:pt x="60506" y="251462"/>
                  <a:pt x="53029" y="247204"/>
                  <a:pt x="48911" y="240259"/>
                </a:cubicBezTo>
                <a:cubicBezTo>
                  <a:pt x="44793" y="233313"/>
                  <a:pt x="44645" y="224711"/>
                  <a:pt x="48520" y="217627"/>
                </a:cubicBezTo>
                <a:lnTo>
                  <a:pt x="111500" y="102413"/>
                </a:lnTo>
                <a:cubicBezTo>
                  <a:pt x="113339" y="99048"/>
                  <a:pt x="114302" y="95275"/>
                  <a:pt x="114300" y="91440"/>
                </a:cubicBezTo>
                <a:lnTo>
                  <a:pt x="114300" y="22860"/>
                </a:lnTo>
                <a:moveTo>
                  <a:pt x="73758" y="171450"/>
                </a:moveTo>
                <a:lnTo>
                  <a:pt x="200562" y="171450"/>
                </a:lnTo>
                <a:moveTo>
                  <a:pt x="97155" y="22860"/>
                </a:moveTo>
                <a:lnTo>
                  <a:pt x="177165" y="22860"/>
                </a:lnTo>
              </a:path>
            </a:pathLst>
          </a:custGeom>
          <a:noFill/>
          <a:ln w="22860" cap="rnd">
            <a:solidFill>
              <a:srgbClr val="2BA6CB"/>
            </a:solidFill>
            <a:prstDash val="solid"/>
            <a:roun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ejecutivo</dc:title>
  <dc:subject>Proyecto final de Upskilling Backend Java</dc:subject>
  <dc:creator>Equipo arka-litos</dc:creator>
  <cp:lastModifiedBy>Equipo arka-litos</cp:lastModifiedBy>
  <cp:revision>1</cp:revision>
  <dcterms:created xsi:type="dcterms:W3CDTF">2026-10-28T05:12:05Z</dcterms:created>
  <dcterms:modified xsi:type="dcterms:W3CDTF">2026-10-28T05:12:05Z</dcterms:modified>
</cp:coreProperties>
</file>