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“Buenos días a todos. Somos el equipo arka-litos, del curso Upskilling Backend Java, y hoy les vamos a contar cómo construimos ARKA-Lite, nuestro proyecto final.”
“El título lo resume: empezamos escribiendo un endpoint, una sola operación en Java, y terminamos con un sistema completo corriendo en un clúster de Kubernetes. En el camino fuimos aplicando, uno por uno, los temas que vimos en el curso.”
QUÉ HACER (no se dice)
• Antes de empezar, abrir la UI en http://localhost:8088 y comprobar que los dos servicios aparecen en verde.
PARA PASAR
“Primero, quiénes somos.”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“Somos siete personas. Cuatro somos de desarrollo: construimos los servicios, su diseño y la interfaz. Dos son de DevOps: se encargaron de empaquetar, desplegar y operar el sistema. Y una es de base de datos: cuidó cómo se guardan los datos y que ningún aviso se pierda.”
“Por eso hoy van a escuchar varias voces: cada uno presenta la parte de su área. Debajo de cada persona ven qué partes le tocan.”
“La idea no es que memoricen tecnologías. Queremos que, al salir, puedan explicar con sus propias palabras cómo funciona el sistema y por qué tomamos cada decisión.”
PARA PASAR
“Empecemos por lo básico: qué hace ARKA-Lite.”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“ARKA-Lite hace algo sencillo: registra solicitudes, por ejemplo una incidencia o un pedido de cambio, y avisa cuando una solicitud se envía.”
“Por dentro son dos servicios. El de solicitudes es como la ventanilla: recibe el trámite y lleva su estado. El de notificaciones es como el buzón: cuando el trámite avanza, deja el aviso. Y encima de los dos hay una interfaz web, que es lo que usa la persona.”
“Elegimos un problema pequeño a propósito. Así el foco no está en el negocio, sino en cómo se construye, se despliega y se opera un sistema con más de un servicio.”
PARA PASAR
“Antes de entrar en detalle, veamos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“Así se ve ARKA-Lite en números. Son dos microservicios hechos con Spring Boot, cada uno con su propia base de datos, y entre los dos exponen once endpoints REST.”
“Todo el sistema son ocho contenedores: los servicios, sus bases, la interfaz y las herramientas de logs. Y se levantan con un solo comando.”
“Lo cuidan sesenta y siete pruebas automáticas. Los avisos pendientes se entregan cada cinco segundos y, aunque un evento llegue dos veces, se crea un solo aviso. Esos dos números los vamos a explicar con calma más adelante.”
PARA PASAR
“¿Y cómo se conecta esto con lo que vimos en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“No vamos a seguir el temario clase por clase. Vamos a contar la historia de cómo se construye el sistema, en el orden en que tiene sentido.”
“Primero lo vemos por fuera, como un usuario. Después entramos a un servicio y vemos cómo se arma. Luego, cómo lo diseñamos para que pueda cambiar sin romperse y cómo cuidamos los datos. Nuestros compañeros de DevOps nos muestran cómo lo empaquetamos, lo desplegamos y sabemos si está funcionando. Al final lo vemos todo junto, en vivo.”
“En cada parte van a ver el mismo orden: qué problema resuelve, cómo lo aplicamos, un diagrama paso a paso y la prueba de que funciona.”
QUÉ HACER (no se dice)
• Explicar que el número sobre cada flecha de los diagramas coincide con el paso que se lee.
PARA PASAR
“Empecemos mirando el sistema completo desde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“Ahora vamos con el sistema por fuera. Primero, qué problema resuelve.”
QUÉ HACER (no se dice)
Leer las cinco preguntas antes de avanzar.
RESPUESTAS
Problema: Antes de ver código, hay que saber qué piezas existen y cómo se hablan.
Cómo funciona: Una UI llama a dos microservicios por HTTP; cada uno guarda sus datos en su propia base.
Cómo se ve: Persona → UI → solicitudes y notificaciones → una base PostgreSQL para cada uno.
En ARKA-Lite: compose.yaml levanta la UI, los dos servicios, sus bases y la observabilidad con un solo comando.
Cómo se comprueba: La UI en localhost:8088 con los dos servicios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mapa. A la izquierda está la persona, usando la interfaz desde su navegador. La interfaz no guarda nada: le pide las cosas a los servicios.”
“Arriba está el servicio de solicitudes, con su base de datos. Abajo, el de notificaciones, con la suya. Fíjense en algo importante: ninguno lee la base del otro. Si notificaciones necesita saber algo, solicitudes se lo cuenta con un mensaje que llamamos evento.”
“Y todo viaja por HTTP, el mismo protocolo que usa cualquier página web. No hay magia: son peticiones y respuestas.”
SI PREGUNTAN
¿Por qué no comparten una sola base de datos?
RESPUESTA CORTA
Para que cada servicio sea dueño de sus datos y pueda cambiar sin romper al otro.
PARA PASAR
“Veamos qué le pasa a una solicitud durante su vida.”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usa la UI en el navegador.”
Paso 2: “La UI llama a solicitudes por /api: crear, listar, enviar, aprobar o rechazar.”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“Solicitudes guarda los datos en su propia base.”
Paso 4: “Al enviar, solicitudes avisa después a notificaciones con un evento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guarda en su base qué eventos ya consumió.”
Paso 6: “La UI también consulta a notificaciones: avisos y eventos consumidos.”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“Toda solicitud nace en borrador. Mientras está en borrador, nadie se entera: es como un formulario que todavía no hemos entregado.”
“Cuando la enviamos, pasa a enviada, y ese es el único momento en que se genera un aviso. Desde enviada, alguien la puede aprobar o rechazar, y ahí termina su vida.”
“¿Qué pasa si intentamos algo que no corresponde, como enviar dos veces la misma solicitud? El servicio no lo permite y responde con un código 409, que en HTTP significa conflicto, junto con un mensaje que explica el porqué.”
QUÉ HACER (no se dice)
• Mostrar: En la UI, pestaña Solicitudes: crear una solicitud nueva y enviarla. Debe verse: La fila pasa de Borrador a Enviada y, unos segundos después, muestra 1 aviso.
PARA PASAR
“Esa es la vista sencilla. Ahora veamos todo lo que hay alrededor.”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mismo sistema, pero con todo lo que lo rodea. El recuadro grande es el lugar donde corre: en nuestra computadora con Docker Compose, o en un clúster de Kubernetes.”
“Abajo a la izquierda está la entrega continua. Cada vez que alguien sube un cambio a GitHub, un proceso automático lo compila, corre las pruebas y, si todo sale bien, publica las imágenes listas para desplegar.”
“Y abajo a la derecha, la observabilidad: los logs de todos los contenedores se recogen con Promtail, se guardan en Loki y se consultan en Grafana. Así, si algo falla, no tenemos que entrar a cada servicio a buscar qué pasó.”
SI PREGUNTAN
Si mañana agregamos un tercer servicio, ¿qué partes del dibujo cambian?
RESPUESTA CORTA
Se agrega su caja y su base; la entrega y los logs lo cubren igual, sin cambios.
PARA PASAR
“Ya vimos el mapa. Ahora entremos a uno de esos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usa la interfaz en su navegador: React muestra las cuatro pestañas.”
Paso 2: “nginx recibe /api y reenvía cada ruta al servicio que corresponde.”
Paso 3: “La API de solicitudes recibe la petición y el dominio aplica las reglas.”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“En una sola transacción se guardan la solicitud y su evento pendiente.”
Paso 5: “Cada 5 segundos, el relevador lee los pendientes y los entrega por HTTP, con el traceId.”
Paso 6: “Notificaciones revisa si el evento ya llegó; si es nuevo, crea el aviso y anota su número.”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“Cada cambio en GitHub pasa por GitHub Actions, que prueba y publica las imágenes en GHCR.”
Paso 8: “Los logs de todos los contenedores llegan a Grafana a través de Promtail y Loki.”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“Ahora vamos con construir un servicio. Primero, qué problema resuelve.”
QUÉ HACER (no se dice)
Leer las cinco preguntas antes de avanzar.
RESPUESTAS
Problema: Necesitamos exponer operaciones del negocio por HTTP de forma clara, documentada y probada.
Cómo funciona: Spring Boot arma la aplicación; los controladores reciben peticiones; el dominio decide; las pruebas lo comprueban.
Cómo se ve: Petición → controlador → servicio → repositorio → respuesta con su código HTTP.
En ARKA-Lite: SolicitudController, ServicioDeSolicitudes, ManejadorGlobalDeErrores, Swagger y las pruebas JUnit.
Cómo se comprueba: ./mvnw verify en cada servicio y Swagger en /swagger-ui/index.html.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“Nuestro primer contacto con Spring Boot fue entender qué hace por nosotros. Maven se encarga de descargar las librerías, compilar y correr las pruebas. Spring Boot levanta el servidor web y conecta las piezas de la aplicación.”
“Piénsenlo como un contratista de obra: nosotros le decimos qué piezas hay, y él las arma y las conecta. Cada pieza recibe lo que necesita por su constructor; nadie sale a buscar sus dependencias por su cuenta.”
“Una decisión que tomamos desde el principio: las reglas del negocio no conocen a Spring. Son clases normales de Java. Eso nos va a servir mucho cuando hablemos de pruebas y de diseño.”
QUÉ HACER (no se dice)
• Mostrar: Ejecutar ./mvnw clean verify dentro de servicio-solicitudes. Debe verse: BUILD SUCCESS y el resumen de pruebas.
PARA PASAR
“Con la aplicación arriba, construyamos nuestro primer endpoint.”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endpoint REST es una combinación de método y ruta. Por ejemplo, POST a /solicitudes significa: crea una solicitud nueva. GET a /solicitudes significa: dame la lista.”
“Sigamos el diagrama. La interfaz manda los datos en formato JSON. El controlador los recibe y se los pasa al servicio. El servicio revisa que todo esté bien y el adaptador lo guarda en la base de datos. Si todo sale bien, la respuesta es 201, que quiere decir creado.”
“Y si el identificador ya existía, el servicio no lo guarda y responde 409, conflicto, con un mensaje claro. Cada código cuenta qué pasó, sin tener que adivinar.”
PARA PASAR
“¿Y dónde vive la regla que decide si algo se permite?”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UI envía POST con un cuerpo JSON: id y tipo.”
Paso 2: “El controlador convierte el JSON en NuevaSolicitud y llama al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valida los datos y revisa que el id no exista.”
Paso 4: “El adaptador JPA guarda la fila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API responde 201 Created con la solicitud en BORRADOR.”
Paso 6: “Si el id ya existe, el manejador global de errores responde 409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 solicitud es un record de Java, que es una forma corta de declarar datos que no cambian. Cuando la enviamos, no modificamos la solicitud que teníamos: creamos una nueva en estado enviada.”
“Y la regla está ahí mismo, a la vista: solo se puede enviar si está en borrador. Si no, lanza una excepción que se llama TransicionNoPermitida.”
“Fíjense en lo que esta clase no sabe: no sabe de HTTP, no sabe de PostgreSQL. Solo sabe del negocio. Si mañana cambia la regla, la cambiamos en un solo lugar.”
PARA PASAR
“Esa excepción tiene que llegarle a la persona como un mensaje que entienda.”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“En el taller del endpoint seguro aprendimos a no repetir el manejo de errores en cada controlador. En su lugar, hay un solo componente, el manejador global, que atrapa las excepciones y las convierte en respuestas HTTP.”
“Si la solicitud no existe, responde 404. Si el identificador ya existe o el cambio no se permite, 409. Si faltan datos, 400. Y siempre con la misma forma: un estado y un mensaje.”
“Eso es lo que permite que la interfaz le muestre a la persona un mensaje claro, en lugar de un error genérico que nadie entiende.”
QUÉ HACER (no se dice)
• Mostrar: En la UI, crear dos veces el mismo identificador. Debe verse: Aparece el diálogo “Ese identificador ya existe” con el código 409.
PARA PASAR
“Ahora, ¿cómo sabe otra persona qué endpoints existen?”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contrato de API es como el menú de un restaurante: dice qué se puede pedir, qué lleva cada pedido y qué te van a devolver.”
“Cada servicio publica su contrato con un estándar llamado OpenAPI, y Swagger lo muestra como una página donde podemos ver cada endpoint y hasta probarlo.”
“Lo mejor es que se genera desde el código. Cuando agregamos un endpoint, la documentación lo muestra sin trabajo extra, y nunca queda desactualizada. Desde la interfaz hay un menú, Contratos, que abre estas páginas directamente.”
QUÉ HACER (no se dice)
• Mostrar: En la UI, menú Contratos › Swagger · solicitudes, y ejecutar GET /solicitudes. Debe verse: La lista en JSON con código 200.
PARA PASAR
“Documentar no basta: también hay que comprobar que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“Las pruebas son como un vigilante que revisa cada regla todas las noches. Si alguien cambia algo y rompe una regla sin darse cuenta, la prueba falla y nos avisa.”
“Como el negocio no depende de Spring, podemos probar las reglas sin levantar nada: son pruebas muy rápidas. En lugar de PostgreSQL usamos un repositorio en memoria que cumple el mismo contrato.”
“Los controladores los probamos con MockMvc, que simula peticiones HTTP sin un servidor real. Solo el servicio de solicitudes tiene 28 pruebas, y el pipeline las corre todas en cada cambio.”
QUÉ HACER (no se dice)
• Mostrar: ./mvnw test en servicio-solicitudes. Debe verse: Tests run: 28, Failures: 0.
PARA PASAR
“Las pruebas cuidan el código. Git cuida su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“Trabajamos en equipo sobre el mismo código, así que necesitábamos orden. Cada tarea se hace en una rama corta, con un nombre que dice qué es: feat para algo nuevo, fix para una corrección, docs para documentación.”
“Cada commit sigue una convención: el tipo, dos puntos y una frase corta que dice qué hace el cambio. Por ejemplo: feat, crear solicitud por post. Así, leyendo el historial, cualquiera entiende qué pasó.”
“Y nadie sube cambios directo a la rama principal. Todo entra por un Pull Request, otra persona lo revisa y el pipeline lo valida antes de integrarlo.”
QUÉ HACER (no se dice)
• Mostrar el historial del repositorio en GitHub; no crear commits durante la exposición.
PARA PASAR
“Ya sabemos construir un servicio. Ahora veamos cómo lo diseñamos para que pueda cambiar.”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“Ahora vamos con diseñar para cambiar. Primero, qué problema resuelve.”
QUÉ HACER (no se dice)
Leer las cinco preguntas antes de avanzar.
RESPUESTAS
Problema: Si las reglas dependen de HTTP o de la base, cambiar una tecnología obliga a tocar el negocio.
Cómo funciona: El negocio va en el centro y la tecnología en los bordes. Lo que cambia por motivos distintos va en servicios distintos.
Cómo se ve: Entrada → dominio → salida; un monolito que se separa en dos servicios.
En ARKA-Lite: Paquetes dominio/ y adaptadores/ en cada servicio; adaptadores activos marcados con @Primary.
Cómo se comprueba: Las pruebas usan un repositorio en memoria con el mismo puerto, sin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estructura base organizamos cada servicio en tres zonas. A la izquierda, la entrada: los controladores que reciben las peticiones HTTP. En el centro, el dominio: las reglas del negocio. A la derecha, la salida: lo que habla con el exterior, como la base de datos o el otro servicio.”
“El dominio no llama directamente a la base. Pide lo que necesita a través de puertos, que son interfaces: un contrato que dice, por ejemplo, necesito guardar y buscar solicitudes, sin decir cómo.”
“Los adaptadores de salida cumplen ese contrato. Uno guarda en PostgreSQL; otro anota el evento pendiente; otro lo entrega a notificaciones. A esto se le llama arquitectura de puertos y adaptadores, o arquitectura hexagonal.”
PARA PASAR
“El otro servicio sigue la misma idea.”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“Las peticiones entran por el controlador, que solo traduce HTTP.”
Paso 2: “El servicio de dominio coordina cada caso: crear, enviar, aprobar o rechazar.”
Paso 3: “Las reglas viven en el record Solicitud; si una no se cumple, lanza una excepción.”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dominio pide lo que necesita a través de puertos: interfaces sin tecnología.”
Paso 5: “Los adaptadores de salida implementan esos puertos; Spring usa los marcados con @Primary.”
Paso 6: “Al enviar, la solicitud y su evento pendiente se guardan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“Cada 5 segundos, el relevador lee los pendientes y el publicador los entrega con reintentos.”
Paso 8: “El manejador global convierte las excepciones en 404, 409 o 400; Swagger y Actuator publican el contrato y la salud.”
Paso 9: “ConfiguracionDominio arma las piezas con @Bean, y el RestClient lleva el traceId al otro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“Ahora el otro servicio. Notificaciones es más pequeño, pero está organizado igual: entrada, dominio y salida.”
“Por la entrada llegan dos cosas: el evento que manda solicitudes y las consultas de la interfaz. Antes de crear un aviso, una pieza que llamamos consumo idempotente revisa en la base si ese número de evento ya llegó. Si es nuevo, el dominio crea el aviso y se anota el número.”
“Y un detalle honesto: los avisos viven en memoria, pero la lista de eventos ya recibidos está en PostgreSQL. Por eso, aunque el servicio se reinicie, nunca crea un aviso repetido.”
SI PREGUNTAN
¿Qué pasa con los avisos si notificaciones se reinicia?
RESPUESTA CORTA
Se pierde su texto, pero no se duplican: la lista de eventos recibidos está en la base.
PARA PASAR
“¿Qué ganamos con esa separación?”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“Solicitudes entrega el evento por HTTP a EventoController.”
Paso 2: “ConsumoIdempotente pregunta si ese eventoId ya está en evento_procesado.”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“Si es nuevo, el dominio crea el aviso; si ya estaba, lo ignora.”
Paso 4: “El aviso se guarda en memoria por el puerto, y el eventoId queda anotado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interfaz consulta los avisos con GET /notificaciones.”
Paso 6: “ConfiguracionNotificaciones arma el dominio; Swagger y Actuator publican el contrato y la salud.”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“Piensen en un enchufe. Un aparato no sabe si la electricidad viene de una hidroeléctrica o de paneles solares. Solo sabe que el enchufe cumple la norma. Los puertos son ese enchufe.”
“Por eso podemos tener varios adaptadores para el mismo puerto. Hoy, Spring usa el que marcamos con @Primary: el que guarda en PostgreSQL y el que publica con reintentos. En las pruebas usamos uno que guarda en memoria, y el negocio ni se entera del cambio.”
“Dejamos las versiones alternativas en el código a propósito, como material de aprendizaje: muestran que cambiar la pieza no obliga a tocar las reglas.”
SI PREGUNTAN
¿La interfaz guarda algo por sí misma?
RESPUESTA CORTA
No. Solo declara el contrato; el adaptador es el que hace el trabajo.
PARA PASAR
“Esa misma idea, llevada más lejos, separa aplicaciones completas.”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servicio de dominio solo conoce el contrato que necesita, no la clase que lo cumple.”
Paso 2: “El adaptador también conoce ese contrato y lo cumple. Los dos dependen del contrato.”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“Cuando la aplicación corre, la llamada sí llega al adaptador.”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“Spring elige cuál usar: el que está marcado con @Primary, hoy el que guarda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descomposición del monolito aprendimos que la pregunta clave no es técnica. Es: ¿qué partes del negocio cambian juntas?”
“Un monolito es una sola aplicación que lo hace todo y comparte una base. En ARKA-Lite, el trámite y los avisos cambian por motivos distintos, así que los separamos en dos servicios, cada uno con su propia base.”
“¿Cómo se hablan, entonces? Con un contrato: un mensaje llamado SolicitudEnviada, que dice qué solicitud se envió. Ese contrato está copiado en los dos proyectos, y si cambia de un lado, hay que cambiarlo del otro.”
PARA PASAR
“¿Siempre conviene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“Antes: una sola aplicación hace todo y comparte una base.”
Paso 2: “Separamos por responsabilidad: el trámite y los avisos cambian por motivos distintos.”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servicio es dueño de su base. Ninguno lee la base del otro.”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“Se comunican con un contrato: el evento SolicitudEnviada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“Separar no es gratis. Ahora hay red entre los servicios, cada uno tiene su base, y puede pasar que uno esté arriba y el otro caído. A eso se le llama fallo parcial.”
“Por eso la decisión se toma con criterios como los de esta tabla: si las partes cambian juntas, si necesitan desplegarse por separado, si un equipo distinto es dueño de cada una.”
“En ARKA-Lite separamos para aprender esas fronteras. Y justamente el fallo parcial es el problema que resolvemos en la siguiente parte.”
SI PREGUNTAN
Si un solo equipo mantiene todo y lo publica junto, ¿qué ganamos separando?
RESPUESTA CORTA
Poco: agregamos red y fallos parciales sin un beneficio claro.
PARA PASAR
“Si un servicio puede fallar mientras el otro funciona, ¿cómo evitamos perder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“Ahora vamos con guardar sin perder datos. Primero, qué problema resuelve.”
QUÉ HACER (no se dice)
Leer las cinco preguntas antes de avanzar.
RESPUESTAS
Problema: Si guardamos la solicitud y justo después falla el aviso, podríamos perder la intención de avisar.
Cómo funciona: Primero se guarda, después se avisa; y el que recibe ignora lo que ya recibió.
Cómo se ve: Transacción local → evento pendiente → relevador → receptor idempotente.
En ARKA-Lite: Adaptador JPA, tabla evento, RelevadorDeEventosPendientes, PublicadorConReintento y ConsumoIdempotente.
Cómo se comprueba: En la UI, pestaña Enviadas: eventos entregados y consumidos, y 0 avisos duplicados al reentregar.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“En el taller de modelado y consultas conectamos el adaptador a una base de datos real: PostgreSQL. Para no escribir SQL a mano en cada operación, usamos JPA, que traduce entre nuestros objetos y las tablas.”
“Al arrancar, el servicio ejecuta un archivo llamado schema.sql que crea las tablas si no existen. Después, Hibernate revisa que las clases coincidan con las tablas. Si no coinciden, el servicio no arranca, y eso es bueno: preferimos un error al inicio que datos mal guardados.”
“Un detalle de diseño: la clase que JPA guarda no es la misma que usa el negocio. El adaptador traduce entre las dos, y así el negocio sigue sin saber nada de la base.”
PARA PASAR
“Ahora veamos el problema más interesante del proyecto.”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“Antes del problema, ubiquemos los datos. Solicitudes guarda el trámite y una lista de eventos pendientes. Notificaciones guarda la lista de eventos que ya recibió.”
“Las dos bases no están conectadas entre sí. Lo único que las une es el contrato del evento.”
“Y una aclaración honesta: el texto del aviso vive en memoria. Si notificaciones se reinicia, perdemos ese texto, pero conservamos el registro de qué eventos ya recibimos. Lo mencionamos al final como mejora pendiente.”
PARA PASAR
“Con esto claro, veamos el problema de la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“Solicitudes guarda el trámite en su propia base de datos.”
Paso 2: “En esa misma base anota el evento pendiente, para no perder la intención de avisar.”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“Notificaciones guarda en su base los números de evento que ya recibió.”
Paso 4: “El texto del aviso vive en memoria: si el servicio se reinicia, se pierde el texto, pero no el registro.”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“Las dos bases no están conectadas. Lo que las une es el contrato del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“Imagínense que envían una solicitud justo cuando el servicio de avisos está caído. Si en ese momento intentáramos avisar directamente, la solicitud quedaría enviada, pero nadie se enteraría. Ese es el problema de la consistencia.”
“Lo que hicimos fue separar el envío en dos momentos. En el primero, guardamos la solicitud como enviada y, en la misma operación, dejamos anotado que hay un aviso pendiente. Es todo o nada: si una de las dos cosas falla, no se guarda ninguna.”
“La respuesta le llega a la persona enseguida. El aviso se entrega en un segundo momento, que vemos en la siguiente lámina.”
SI PREGUNTAN
¿Que el envío responda bien significa que el aviso ya existe?
RESPUESTA CORTA
No. Significa que la solicitud y el evento quedaron guardados; el aviso llega después.
PARA PASAR
“¿Quién entrega ese aviso pendiente?”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Enviar y la interfaz le pide al servicio que envíe la solicitud.”
Paso 2: “El controlador recibe el pedido y se lo pasa al servicio de dominio.”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revisa que la solicitud esté en BORRADOR y la cambia a ENVIADA.”
Paso 4: “En una sola operación se guardan dos cosas: la solicitud ENVIADA y un evento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respuesta llega enseguida. El aviso todavía no existe: se entrega después.”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“Esto se llama patrón outbox, que en español sería bandeja de salida. Es como dejar una carta en la bandeja: aunque el mensajero no pase hoy, la carta no se pierde.”
“Nuestro mensajero se llama relevador. Cada cinco segundos revisa la tabla de eventos pendientes y los entrega a notificaciones. Si no logra entregarlos, lo intenta hasta tres veces, y si aun así falla, el evento sigue pendiente para el siguiente ciclo.”
“Un detalle importante: cada reintento lleva exactamente el mismo número de evento. Eso es lo que nos permite resolver el siguiente problema.”
PARA PASAR
“Si se reintenta, ¿no puede llegar el aviso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evento espera en la tabla de pendientes.”
Paso 2: “Cada 5 segundos, el relevador revisa si hay pendientes.”
Paso 3: “El publicador lo entrega hasta con tres intentos, siempre con el mismo número de evento.”
Paso 4: “El evento llega a notificaciones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revisa si ya conoce ese número de evento.”
Paso 6: “Si es nuevo, crea el aviso y anota el número.”
Paso 7: “Si ya lo conocía, lo ignora. Así una reentrega no duplica el aviso.”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8: “Notificaciones responde que lo recibió.”
Paso 9: “Solo entonces el relevador lo marca como entregado.”
Paso 10: “Si esa respuesta se pierde, el evento se vuelve a mandar, y la idempotencia evita el aviso doble.”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“Sí, puede llegar dos veces. Por ejemplo, si notificaciones recibió el evento pero su respuesta se perdió en el camino, el relevador piensa que falló y lo vuelve a mandar.”
“Para eso está la idempotencia, una palabra difícil para una idea sencilla: repetir la misma operación no multiplica su efecto. Notificaciones funciona como un portero con lista de invitados: anota el número de cada evento que recibe, y si llega uno que ya está en la lista, lo ignora.”
“En la demostración lo vamos a comprobar: vamos a reentregar a propósito un evento que ya llegó, y vamos a ver que no aparece un aviso nuevo.”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“Los datos están cuidados. Ahora, ¿cómo llevamos todo esto a cualquier computadora?”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“Ahora vamos con empaquetar y entregar. Primero, qué problema resuelve.”
QUÉ HACER (no se dice)
Leer las cinco preguntas antes de avanzar.
RESPUESTAS
Problema: “En mi máquina funciona”: cada computadora tiene otro Java, otras variables y otra red.
Cómo funciona: Docker empaqueta cada servicio, Compose levanta el sistema y el pipeline prueba cada cambio.
Cómo se ve: Dockerfile → imagen → contenedor; push → pipeline → imagen publicada.
En ARKA-Lite: Un Dockerfile por servicio, compose.yaml y .github/workflows/ci.yml.
Cómo se comprueba: docker compose ps con todo sano y la ejecución en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“¿Cuántas veces hemos escuchado “en mi máquina funciona”? Docker existe para que eso no vuelva a pasar.”
“El Dockerfile es una receta. La imagen es el plato ya preparado y empaquetado. Y el contenedor es ese plato servido: la imagen corriendo. Con la misma receta, sale lo mismo en cualquier computadora.”
“En el taller del Dockerfile usamos dos etapas. La primera tiene todas las herramientas para compilar. La segunda solo lleva lo necesario para ejecutar, así la imagen final es más liviana, y corre con un usuario sin privilegios, que es más seguro.”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primera etapa tiene Maven y Java completo, y compila el programa.”
Paso 2: “La etapa final solo lleva lo necesario para ejecutarlo, con un usuario sin privilegios.”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resultado es una imagen: la misma receta para cualquier computadora.”
Paso 4: “Un contenedor es esa imagen corriendo, con su configuración.”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“Dentro de la red, solicitudes llama a notificaciones por su nombre, no por localhost.”
Paso 6: “Desde tu computadora entras por el puerto publicado.”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 Compose conectamos los dos microservicios. Con un solo comando levantamos todo: los dos servicios, sus dos bases, la interfaz y las herramientas de logs.”
“Dentro de la red que crea Compose, cada servicio encuentra al otro por su nombre. Solicitudes no llama a localhost: llama a servicio-notificaciones. Esto es importante, porque dentro de un contenedor, localhost es el mismo contenedor.”
“Y la configuración entra por variables de entorno: la dirección de la base, la del otro servicio. Así la misma imagen sirve en nuestra computadora y en el clúster, sin recompilar.”
QUÉ HACER (no se dice)
• Mostrar: docker compose ps Debe verse: La UI, los servicios y las bases arriba y sanos.
SI PREGUNTAN
Dentro de un contenedor, ¿a dónde lleva localhost?
RESPUESTA CORTA
Al mismo contenedor, no a otro servicio. Por eso usamos el nombre del servicio.
PARA PASAR
“Ya corre en cualquier computadora. Ahora, cómo validamos cada cambio sin hacerlo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del pipeline configuramos GitHub Actions para que trabaje por nosotros. Cada vez que alguien sube un cambio o abre un Pull Request, se dispara solo.”
“Por cada servicio, prepara Java y una base de datos, compila, corre todas las pruebas y comprueba que el servicio realmente arranca. Si algo falla, nos avisa en minutos.”
“Si todo pasa, construye la imagen y la publica con el código del commit. Así cada imagen se puede relacionar con el cambio exacto que la produjo. Integración continua es probar seguido; entrega continua es dejar siempre una versión lista para desplegar.”
SI PREGUNTAN
¿Publicar la imagen la despliega en Kubernetes?
RESPUESTA CORTA
No. Desplegar es un paso aparte.
PARA PASAR
“Con cada cambio probado y empaquetado, falta llevarlo al clúster.”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“Un push a main o un Pull Request dispara el pipeline.”
Paso 2: “Se crea un trabajo por servicio, cada uno con su base de datos de prueba.”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trabajo compila y corre todas las pruebas del servicio.”
Paso 4: “En solicitudes, además, comprueba que el servicio arranca de verdad.”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“Si todo pasa, construye la imagen y la publica con el código del commit.”
Paso 6: “Publicar no es desplegar: lo que corre en el clúster cambia en un paso aparte.”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“Ahora vamos con desplegar y operar. Primero, qué problema resuelve.”
QUÉ HACER (no se dice)
Leer las cinco preguntas antes de avanzar.
RESPUESTAS
Problema: Si un servicio se cae de madrugada, alguien tiene que levantarlo y después averiguar qué pasó.
Cómo funciona: Kubernetes mantiene el sistema corriendo; los logs y la salud nos dicen qué está pasando.
Cómo se ve: Deployment → Pod → Service; App → Promtail → Loki → Grafana.
En ARKA-Lite: Los manifiestos de k8s/, Promtail, Loki y Grafana, y Actuator en cada servicio.
Cómo se comprueba: kubectl get pods, una búsqueda en Grafana por número de evento y la pestaña Salud de la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“Kubernetes funciona como un termostato. No le decimos qué hacer paso a paso: le decimos el estado que queremos, por ejemplo una copia de cada servicio, y él se encarga de mantenerlo.”
“El Deployment dice cuántas copias queremos. Cada copia corre en un Pod. El Service le da a cada servicio un nombre fijo dentro del clúster, para que los demás lo encuentren. Y las bases guardan su contraseña en un Secret y sus datos en un disco que sobrevive a los reinicios.”
“En el taller desplegamos ARKA-Lite completo en un clúster con un solo comando: kubectl apply sobre la carpeta k8s.”
PARA PASAR
“¿Y cómo sabe Kubernetes si un servicio está bien?”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“Declaramos un Deployment: qué imagen usar y cuántas copias queremos.”
Paso 2: “Kubernetes mantiene ese número de copias. Si una falta, crea otra.”
Paso 3: “Cada copia corre en un Pod. Antes de arrancar, espera a la base y a notificaciones.”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Service da un nombre fijo y solo manda tráfico a los Pods listos.”
Paso 5: “El Secret entrega la contraseña de la base sin escribirla en el código.”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“La base guarda sus datos en un disco que sobrevive a los reinicios. Aun así, no es un respaldo.”
Paso 7: “La aplicación llega a la base por su nombre de Service, no por una dirección fija.”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“En la puesta a punto aprendimos que arrancar no es lo mismo que estar listo. Por eso, antes de iniciar, cada servicio espera a que su base y sus dependencias respondan.”
“Kubernetes hace dos preguntas a cada Pod. La primera: ¿ya puedes recibir tráfico? Si no, no le manda peticiones. La segunda: ¿sigues vivo? Si no responde, lo reinicia.”
“Y si borramos un Pod a propósito, Kubernetes crea otro solo. En la tabla está la primera pregunta que nos hacemos según el estado en que veamos un Pod.”
QUÉ HACER (no se dice)
• Mostrar: kubectl delete pod de servicio-solicitudes y luego kubectl get pods. Debe verse: Aparece un Pod nuevo que vuelve a estar Ready.
PARA PASAR
“El sistema corre. ¿Cómo sabemos qué está pasando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“Los logs son como la caja negra de un avión: registran lo que pasó para poder revisarlo después. El problema es que cada servicio tiene su propia caja negra.”
“En el taller de centralización de logs armamos este recorrido. Cada servicio escribe sus logs en formato JSON. Promtail los recoge de todos los contenedores, Loki los guarda y Grafana nos deja buscarlos en un solo lugar.”
“Así podemos seguir un evento de un servicio a otro buscando su número, sin entrar a cada contenedor. Desde la interfaz, el menú Contratos tiene un acceso directo a Grafana.”
QUÉ HACER (no se dice)
• Mostrar: Grafana › Explore › Loki: {service="servicio-solicitudes"} |= "evento". Debe verse: Las líneas “Intentando publicar evento” con el número del evento.
PARA PASAR
“Además de los logs, cada servicio dice si está bien.”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escribe sus logs en formato JSON.”
Paso 2: “Docker guarda lo que escribe cada contenedor.”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“Promtail recoge esos logs de todos los contenedores.”
Paso 4: “Loki los guarda y permite buscarlos.”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“Grafana muestra los logs y deja filtrarlos, por ejemplo, por número de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“Cada servicio tiene una dirección de salud que responde si está bien. Por dentro revisa, por ejemplo, que pueda hablar con su base de datos. Kubernetes la usa para decidir si un Pod está listo, y la interfaz la muestra en la pestaña Salud.”
“Pero ojo: que un servicio diga UP solo significa que responde. No garantiza que todos los avisos llegaron. Para eso miramos la pestaña Enviadas y los logs.”
“Las métricas, como cuántas peticiones recibe cada servicio, ya se exponen. Guardarlas en el tiempo con Prometheus queda como siguiente paso.”
SI PREGUNTAN
Si todo está UP y falta un aviso, ¿qué miramos?
RESPUESTA CORTA
Si el evento se entregó y se consumió, en Enviadas, y los logs del relevador y de notificaciones.
PARA PASAR
“Ya tenemos todas las piezas. Falta ensamblarlas con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mide cosas como cuántas peticiones recibe.”
Paso 2: “Actuator expone esas mediciones y también la salud del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“Un servidor Prometheus las guardaría en el tiempo. Hoy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“Grafana las mostraría en gráficos. También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“Ahora vamos con ensamblaje: la ui. Primero, qué problema resuelve.”
QUÉ HACER (no se dice)
Leer las cinco preguntas antes de avanzar.
RESPUESTAS
Problema: Dos servicios sueltos no son un producto: alguien tiene que poder usarlos y entenderlos.
Cómo funciona: Una interfaz web consume los dos servicios por un mismo origen y explica cómo funcionan.
Cómo se ve: Navegador → /api → nginx → solicitudes o notificaciones.
En ARKA-Lite: arka-lite-ui: React, nginx como proxy, DataTables, Tom Select y SweetAlert2.
Cómo se comprueba: La demostración en vivo: crear, enviar, ver el aviso y reentregar sin duplicar.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es una aplicación web hecha con React y servida por nginx. El navegador nunca conoce las direcciones internas de los servicios: siempre llama a /api, en la misma dirección de la página.”
“nginx funciona como una recepcionista: recibe cada petición y la pasa al servicio que corresponde. Lo que empieza con /api/solicitudes va a solicitudes; lo de notificaciones, a notificaciones.”
“Y un detalle de cuidado: si una operación que cambia datos tarda demasiado, la interfaz no la repite por su cuenta, porque el cambio pudo haberse guardado aunque la respuesta no llegara.”
PARA PASAR
“¿Y qué ve la persona cuando abre la interfaz?”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un botón en la pantalla.”
Paso 2: “Si la acción cambia datos, la interfaz pide confirmarla antes de enviarla.”
Paso 3: “El cliente HTTP mide el tiempo y, si tarda más de 10 segundos, no lo repite solo.”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navegador llama a /api y nginx lo pasa al servicio que corresponde.”
Paso 5: “nginx llega al servicio por su nombre interno.”
Paso 6: “Vuelve la respuesta con su código: 200, 201, 404, 409 o un error si el servicio no responde.”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“La petición queda registrada con su método, ruta, código y duración.”
Paso 8: “La pantalla muestra el resultado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tiene solo cuatro pestañas. En Solicitudes creas una solicitud, ves las que creaste y tienes a la mano las acciones que corresponden a cada una. Antes de cada acción, la app te pide confirmar.”
“En Enviadas ves el recorrido de cada evento: registrado, entregado, consumido y aviso. En Salud validas que los dos servicios estén bien, y desde ahí también abres los contratos en Swagger y los logs en Grafana.”
“Y en Ayuda está la explicación: cada tema responde una pregunta, como qué pasa cuando envío una solicitud, con un diagrama que avanza paso a paso. Los colores de la plantilla se pueden personalizar desde la propia app.”
PARA PASAR
“Ahora sí, vamos a verlo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“Abrimos la interfaz. Arriba a la derecha vemos que los dos servicios están en verde. Creamos una solicitud nueva, con un identificador propio. La app confirma que se creó y la marca como nuestra.”
“Ahora la enviamos. La app nos pide confirmar, confirmamos, y en la pestaña Enviadas vemos el evento registrado. En unos segundos, el relevador lo entrega, notificaciones lo recibe y aparece el aviso. Fíjense en la línea fina bajo la barra superior: se ilumina cuando un evento termina su viaje.”
“Y la prueba final: reentregamos a propósito el mismo evento. La app nos confirma que notificaciones lo reconoció y no creó otro aviso. Avisos duplicados: cero. Eso es la idempotencia, funcionando.”
QUÉ HACER (no se dice)
• Usar un identificador que no exista, por ejemplo DEMO-01. Si ya existe, la app muestra el mensaje 409: explicarlo y usar otro.
• Si el evento tarda, esperar: la pestaña Enviadas se actualiza sola cada 5 segundos.
• Mostrar: Solicitudes: crear DEMO-01 y enviarla. Enviadas: esperar el aviso y pulsar Reentregar. Debe verse: 201 al crear; evento entregado y consumido; 1 aviso; “El aviso no se duplicó”.
PARA PASAR
“Para cerrar, repasemos lo que aprendimos.”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“Esta tabla resume el curso entero. Cada tema que vimos tiene un lugar concreto en ARKA-Lite, desde el primer endpoint con Spring Boot hasta el despliegue en Kubernetes y la centralización de logs.”
“Y no lo decimos solo en una lámina: lo acaban de ver funcionando, con pruebas automáticas que lo vigilan y un pipeline que lo valida en cada cambio.”
PARA PASAR
“También queremos ser honestos con lo que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“ARKA-Lite es un laboratorio, y lo decimos con claridad. El texto de los avisos se pierde si notificaciones se reinicia. No tiene inicio de sesión y las contraseñas son de prueba. No usa un sistema de mensajería dedicado, no guarda métricas en el tiempo y el pipeline publica las imágenes, pero no las despliega solo.”
“Los siguientes pasos serían guardar el aviso en la base junto con su número de evento, agregar autenticación y sacar las contraseñas del repositorio.”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“Empezamos con un endpoint y terminamos con un sistema de dos microservicios, empaquetado, desplegado, observado y con una interfaz que cualquiera puede usar para comprobar cómo funciona.”
“Muchas gracias por acompañarnos, de parte de todo el equipo arka-litos.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slideLayout" Target="../slideLayouts/slideLayout1.xml"/><Relationship Id="rId6"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589520" y="-1737360"/>
            <a:ext cx="6583680" cy="6583680"/>
          </a:xfrm>
          <a:prstGeom prst="ellipse">
            <a:avLst/>
          </a:prstGeom>
          <a:solidFill>
            <a:srgbClr val="0B2350"/>
          </a:solidFill>
          <a:ln w="12700">
            <a:solidFill>
              <a:srgbClr val="0B2350"/>
            </a:solidFill>
            <a:prstDash val="solid"/>
          </a:ln>
        </p:spPr>
      </p:sp>
      <p:sp>
        <p:nvSpPr>
          <p:cNvPr id="3" name="Shape 1"/>
          <p:cNvSpPr/>
          <p:nvPr/>
        </p:nvSpPr>
        <p:spPr>
          <a:xfrm>
            <a:off x="9966960" y="4206240"/>
            <a:ext cx="3108960" cy="3108960"/>
          </a:xfrm>
          <a:prstGeom prst="ellipse">
            <a:avLst/>
          </a:prstGeom>
          <a:solidFill>
            <a:srgbClr val="113B66"/>
          </a:solidFill>
          <a:ln w="12700">
            <a:solidFill>
              <a:srgbClr val="0B2350"/>
            </a:solidFill>
            <a:prstDash val="solid"/>
          </a:ln>
        </p:spPr>
      </p:sp>
      <p:sp>
        <p:nvSpPr>
          <p:cNvPr id="4" name="Shape 2"/>
          <p:cNvSpPr/>
          <p:nvPr/>
        </p:nvSpPr>
        <p:spPr>
          <a:xfrm>
            <a:off x="0" y="0"/>
            <a:ext cx="109728" cy="6858000"/>
          </a:xfrm>
          <a:prstGeom prst="rect">
            <a:avLst/>
          </a:prstGeom>
          <a:solidFill>
            <a:srgbClr val="2BA6CB"/>
          </a:solidFill>
          <a:ln w="12700">
            <a:solidFill>
              <a:srgbClr val="2BA6CB"/>
            </a:solidFill>
            <a:prstDash val="soli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1828800"/>
            <a:ext cx="64008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9" name="Text 7"/>
          <p:cNvSpPr/>
          <p:nvPr/>
        </p:nvSpPr>
        <p:spPr>
          <a:xfrm>
            <a:off x="758952" y="2176272"/>
            <a:ext cx="658368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10" name="Text 8"/>
          <p:cNvSpPr/>
          <p:nvPr/>
        </p:nvSpPr>
        <p:spPr>
          <a:xfrm>
            <a:off x="758952" y="4114800"/>
            <a:ext cx="6217920" cy="822960"/>
          </a:xfrm>
          <a:prstGeom prst="rect">
            <a:avLst/>
          </a:prstGeom>
          <a:noFill/>
          <a:ln/>
        </p:spPr>
        <p:txBody>
          <a:bodyPr wrap="square" lIns="0" tIns="0" rIns="0" bIns="0" rtlCol="0" anchor="t"/>
          <a:lstStyle/>
          <a:p>
            <a:pPr indent="0" marL="0">
              <a:buNone/>
            </a:pPr>
            <a:r>
              <a:rPr lang="en-US" sz="1800" dirty="0">
                <a:solidFill>
                  <a:srgbClr val="9FBEE0"/>
                </a:solidFill>
                <a:latin typeface="Segoe UI" pitchFamily="34" charset="0"/>
                <a:ea typeface="Segoe UI" pitchFamily="34" charset="-122"/>
                <a:cs typeface="Segoe UI" pitchFamily="34" charset="-120"/>
              </a:rPr>
              <a:t>Cómo construimos ARKA-Lite: una interfaz web y dos microservicios en Java.</a:t>
            </a:r>
            <a:endParaRPr lang="en-US" sz="1800" dirty="0"/>
          </a:p>
        </p:txBody>
      </p:sp>
      <p:sp>
        <p:nvSpPr>
          <p:cNvPr id="11" name="Text 9"/>
          <p:cNvSpPr/>
          <p:nvPr/>
        </p:nvSpPr>
        <p:spPr>
          <a:xfrm>
            <a:off x="758952"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P1</a:t>
            </a:r>
            <a:endParaRPr lang="en-US" sz="850" dirty="0"/>
          </a:p>
        </p:txBody>
      </p:sp>
      <p:sp>
        <p:nvSpPr>
          <p:cNvPr id="12" name="Text 10"/>
          <p:cNvSpPr/>
          <p:nvPr/>
        </p:nvSpPr>
        <p:spPr>
          <a:xfrm>
            <a:off x="1161288"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P2</a:t>
            </a:r>
            <a:endParaRPr lang="en-US" sz="850" dirty="0"/>
          </a:p>
        </p:txBody>
      </p:sp>
      <p:sp>
        <p:nvSpPr>
          <p:cNvPr id="13" name="Text 11"/>
          <p:cNvSpPr/>
          <p:nvPr/>
        </p:nvSpPr>
        <p:spPr>
          <a:xfrm>
            <a:off x="1563624"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P3</a:t>
            </a:r>
            <a:endParaRPr lang="en-US" sz="850" dirty="0"/>
          </a:p>
        </p:txBody>
      </p:sp>
      <p:sp>
        <p:nvSpPr>
          <p:cNvPr id="14" name="Text 12"/>
          <p:cNvSpPr/>
          <p:nvPr/>
        </p:nvSpPr>
        <p:spPr>
          <a:xfrm>
            <a:off x="1965960" y="5285232"/>
            <a:ext cx="347472" cy="347472"/>
          </a:xfrm>
          <a:prstGeom prst="ellipse">
            <a:avLst/>
          </a:prstGeom>
          <a:solidFill>
            <a:srgbClr val="7A63E0"/>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P4</a:t>
            </a:r>
            <a:endParaRPr lang="en-US" sz="850" dirty="0"/>
          </a:p>
        </p:txBody>
      </p:sp>
      <p:sp>
        <p:nvSpPr>
          <p:cNvPr id="15" name="Text 13"/>
          <p:cNvSpPr/>
          <p:nvPr/>
        </p:nvSpPr>
        <p:spPr>
          <a:xfrm>
            <a:off x="2368296" y="5285232"/>
            <a:ext cx="347472" cy="347472"/>
          </a:xfrm>
          <a:prstGeom prst="ellipse">
            <a:avLst/>
          </a:prstGeom>
          <a:solidFill>
            <a:srgbClr val="1F9A6E"/>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P5</a:t>
            </a:r>
            <a:endParaRPr lang="en-US" sz="850" dirty="0"/>
          </a:p>
        </p:txBody>
      </p:sp>
      <p:sp>
        <p:nvSpPr>
          <p:cNvPr id="16" name="Text 14"/>
          <p:cNvSpPr/>
          <p:nvPr/>
        </p:nvSpPr>
        <p:spPr>
          <a:xfrm>
            <a:off x="2770632" y="5285232"/>
            <a:ext cx="347472" cy="347472"/>
          </a:xfrm>
          <a:prstGeom prst="ellipse">
            <a:avLst/>
          </a:prstGeom>
          <a:solidFill>
            <a:srgbClr val="1F9A6E"/>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P6</a:t>
            </a:r>
            <a:endParaRPr lang="en-US" sz="850" dirty="0"/>
          </a:p>
        </p:txBody>
      </p:sp>
      <p:sp>
        <p:nvSpPr>
          <p:cNvPr id="17" name="Text 15"/>
          <p:cNvSpPr/>
          <p:nvPr/>
        </p:nvSpPr>
        <p:spPr>
          <a:xfrm>
            <a:off x="3172968"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P7</a:t>
            </a:r>
            <a:endParaRPr lang="en-US" sz="850" dirty="0"/>
          </a:p>
        </p:txBody>
      </p:sp>
      <p:sp>
        <p:nvSpPr>
          <p:cNvPr id="18" name="Text 16"/>
          <p:cNvSpPr/>
          <p:nvPr/>
        </p:nvSpPr>
        <p:spPr>
          <a:xfrm>
            <a:off x="758952" y="5897880"/>
            <a:ext cx="9144000" cy="274320"/>
          </a:xfrm>
          <a:prstGeom prst="rect">
            <a:avLst/>
          </a:prstGeom>
          <a:noFill/>
          <a:ln/>
        </p:spPr>
        <p:txBody>
          <a:bodyPr wrap="square" lIns="0" tIns="0" rIns="0" bIns="0" rtlCol="0" anchor="ctr"/>
          <a:lstStyle/>
          <a:p>
            <a:pPr indent="0" marL="0">
              <a:buNone/>
            </a:pPr>
            <a:r>
              <a:rPr lang="en-US" sz="1150" dirty="0">
                <a:solidFill>
                  <a:srgbClr val="9FBEE0"/>
                </a:solidFill>
                <a:latin typeface="Segoe UI" pitchFamily="34" charset="0"/>
                <a:ea typeface="Segoe UI" pitchFamily="34" charset="-122"/>
                <a:cs typeface="Segoe UI" pitchFamily="34" charset="-120"/>
              </a:rPr>
              <a:t>Equipo arka-litos · Recorrido ejecutivo</a:t>
            </a:r>
            <a:endParaRPr lang="en-US" sz="1150" dirty="0"/>
          </a:p>
        </p:txBody>
      </p:sp>
      <p:sp>
        <p:nvSpPr>
          <p:cNvPr id="19" name="Shape 17"/>
          <p:cNvSpPr/>
          <p:nvPr/>
        </p:nvSpPr>
        <p:spPr>
          <a:xfrm>
            <a:off x="9710928" y="2112264"/>
            <a:ext cx="0" cy="530352"/>
          </a:xfrm>
          <a:prstGeom prst="line">
            <a:avLst/>
          </a:prstGeom>
          <a:noFill/>
          <a:ln w="22225">
            <a:solidFill>
              <a:srgbClr val="5D7598"/>
            </a:solidFill>
            <a:prstDash val="solid"/>
          </a:ln>
        </p:spPr>
      </p:sp>
      <p:sp>
        <p:nvSpPr>
          <p:cNvPr id="20" name="Shape 18"/>
          <p:cNvSpPr/>
          <p:nvPr/>
        </p:nvSpPr>
        <p:spPr>
          <a:xfrm>
            <a:off x="8851392" y="2642616"/>
            <a:ext cx="1737360" cy="0"/>
          </a:xfrm>
          <a:prstGeom prst="line">
            <a:avLst/>
          </a:prstGeom>
          <a:noFill/>
          <a:ln w="22225">
            <a:solidFill>
              <a:srgbClr val="5D7598"/>
            </a:solidFill>
            <a:prstDash val="solid"/>
          </a:ln>
        </p:spPr>
      </p:sp>
      <p:sp>
        <p:nvSpPr>
          <p:cNvPr id="21" name="Shape 19"/>
          <p:cNvSpPr/>
          <p:nvPr/>
        </p:nvSpPr>
        <p:spPr>
          <a:xfrm>
            <a:off x="8851392" y="2642616"/>
            <a:ext cx="0" cy="347472"/>
          </a:xfrm>
          <a:prstGeom prst="line">
            <a:avLst/>
          </a:prstGeom>
          <a:noFill/>
          <a:ln w="22225">
            <a:solidFill>
              <a:srgbClr val="5D7598"/>
            </a:solidFill>
            <a:prstDash val="solid"/>
          </a:ln>
        </p:spPr>
      </p:sp>
      <p:sp>
        <p:nvSpPr>
          <p:cNvPr id="22" name="Shape 20"/>
          <p:cNvSpPr/>
          <p:nvPr/>
        </p:nvSpPr>
        <p:spPr>
          <a:xfrm>
            <a:off x="10588752" y="2642616"/>
            <a:ext cx="0" cy="347472"/>
          </a:xfrm>
          <a:prstGeom prst="line">
            <a:avLst/>
          </a:prstGeom>
          <a:noFill/>
          <a:ln w="22225">
            <a:solidFill>
              <a:srgbClr val="5D7598"/>
            </a:solidFill>
            <a:prstDash val="solid"/>
          </a:ln>
        </p:spPr>
      </p:sp>
      <p:sp>
        <p:nvSpPr>
          <p:cNvPr id="23" name="Shape 21"/>
          <p:cNvSpPr/>
          <p:nvPr/>
        </p:nvSpPr>
        <p:spPr>
          <a:xfrm>
            <a:off x="8851392" y="3675888"/>
            <a:ext cx="0" cy="566928"/>
          </a:xfrm>
          <a:prstGeom prst="line">
            <a:avLst/>
          </a:prstGeom>
          <a:noFill/>
          <a:ln w="22225">
            <a:solidFill>
              <a:srgbClr val="5D7598"/>
            </a:solidFill>
            <a:prstDash val="solid"/>
          </a:ln>
        </p:spPr>
      </p:sp>
      <p:sp>
        <p:nvSpPr>
          <p:cNvPr id="24" name="Shape 22"/>
          <p:cNvSpPr/>
          <p:nvPr/>
        </p:nvSpPr>
        <p:spPr>
          <a:xfrm>
            <a:off x="10588752" y="3675888"/>
            <a:ext cx="0" cy="566928"/>
          </a:xfrm>
          <a:prstGeom prst="line">
            <a:avLst/>
          </a:prstGeom>
          <a:noFill/>
          <a:ln w="22225">
            <a:solidFill>
              <a:srgbClr val="5D7598"/>
            </a:solidFill>
            <a:prstDash val="solid"/>
          </a:ln>
        </p:spPr>
      </p:sp>
      <p:sp>
        <p:nvSpPr>
          <p:cNvPr id="25" name="Shape 23"/>
          <p:cNvSpPr/>
          <p:nvPr/>
        </p:nvSpPr>
        <p:spPr>
          <a:xfrm>
            <a:off x="8951976" y="1426464"/>
            <a:ext cx="1527048" cy="685800"/>
          </a:xfrm>
          <a:prstGeom prst="roundRect">
            <a:avLst>
              <a:gd name="adj" fmla="val 18667"/>
            </a:avLst>
          </a:prstGeom>
          <a:solidFill>
            <a:srgbClr val="2BA6CB"/>
          </a:solidFill>
          <a:ln w="12700">
            <a:solidFill>
              <a:srgbClr val="2BA6CB"/>
            </a:solidFill>
            <a:prstDash val="solid"/>
          </a:ln>
          <a:effectLst>
            <a:outerShdw sx="100000" sy="100000" kx="0" ky="0" algn="bl" rotWithShape="0" blurRad="127000" dist="38100" dir="5400000">
              <a:srgbClr val="000000">
                <a:alpha val="30000"/>
              </a:srgbClr>
            </a:outerShdw>
          </a:effectLst>
        </p:spPr>
      </p:sp>
      <p:sp>
        <p:nvSpPr>
          <p:cNvPr id="26" name="Icono monitor"/>
          <p:cNvSpPr/>
          <p:nvPr/>
        </p:nvSpPr>
        <p:spPr>
          <a:xfrm>
            <a:off x="9079992" y="1645920"/>
            <a:ext cx="246888" cy="246888"/>
          </a:xfrm>
          <a:custGeom>
            <a:avLst/>
            <a:gdLst/>
            <a:ahLst/>
            <a:cxnLst/>
            <a:rect l="l" t="t" r="r" b="b"/>
            <a:pathLst>
              <a:path w="246888" h="246888">
                <a:moveTo>
                  <a:pt x="41148" y="30861"/>
                </a:moveTo>
                <a:lnTo>
                  <a:pt x="205740" y="30861"/>
                </a:lnTo>
                <a:cubicBezTo>
                  <a:pt x="217103" y="30861"/>
                  <a:pt x="226314" y="40072"/>
                  <a:pt x="226314" y="51435"/>
                </a:cubicBezTo>
                <a:lnTo>
                  <a:pt x="226314" y="154305"/>
                </a:lnTo>
                <a:cubicBezTo>
                  <a:pt x="226314" y="165668"/>
                  <a:pt x="217103" y="174879"/>
                  <a:pt x="205740" y="174879"/>
                </a:cubicBezTo>
                <a:lnTo>
                  <a:pt x="41148" y="174879"/>
                </a:lnTo>
                <a:cubicBezTo>
                  <a:pt x="29785" y="174879"/>
                  <a:pt x="20574" y="165668"/>
                  <a:pt x="20574" y="154305"/>
                </a:cubicBezTo>
                <a:lnTo>
                  <a:pt x="20574" y="51435"/>
                </a:lnTo>
                <a:cubicBezTo>
                  <a:pt x="20574" y="40072"/>
                  <a:pt x="29785" y="30861"/>
                  <a:pt x="41148" y="30861"/>
                </a:cubicBezTo>
                <a:close/>
                <a:moveTo>
                  <a:pt x="82296" y="216027"/>
                </a:moveTo>
                <a:lnTo>
                  <a:pt x="164592" y="216027"/>
                </a:lnTo>
                <a:moveTo>
                  <a:pt x="123444" y="174879"/>
                </a:moveTo>
                <a:lnTo>
                  <a:pt x="123444" y="216027"/>
                </a:lnTo>
              </a:path>
            </a:pathLst>
          </a:custGeom>
          <a:noFill/>
          <a:ln w="20574" cap="rnd">
            <a:solidFill>
              <a:srgbClr val="0B1F3A"/>
            </a:solidFill>
            <a:prstDash val="solid"/>
            <a:round/>
          </a:ln>
        </p:spPr>
      </p:sp>
      <p:sp>
        <p:nvSpPr>
          <p:cNvPr id="27" name="Text 25"/>
          <p:cNvSpPr/>
          <p:nvPr/>
        </p:nvSpPr>
        <p:spPr>
          <a:xfrm>
            <a:off x="9372600" y="1426464"/>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UI</a:t>
            </a:r>
            <a:endParaRPr lang="en-US" sz="1200" dirty="0"/>
          </a:p>
        </p:txBody>
      </p:sp>
      <p:sp>
        <p:nvSpPr>
          <p:cNvPr id="28" name="Shape 26"/>
          <p:cNvSpPr/>
          <p:nvPr/>
        </p:nvSpPr>
        <p:spPr>
          <a:xfrm>
            <a:off x="809244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9" name="Icono clipboard-list"/>
          <p:cNvSpPr/>
          <p:nvPr/>
        </p:nvSpPr>
        <p:spPr>
          <a:xfrm>
            <a:off x="8220456" y="3209544"/>
            <a:ext cx="246888" cy="246888"/>
          </a:xfrm>
          <a:custGeom>
            <a:avLst/>
            <a:gdLst/>
            <a:ahLst/>
            <a:cxnLst/>
            <a:rect l="l" t="t" r="r" b="b"/>
            <a:pathLst>
              <a:path w="246888" h="246888">
                <a:moveTo>
                  <a:pt x="92583" y="20574"/>
                </a:moveTo>
                <a:lnTo>
                  <a:pt x="154305" y="20574"/>
                </a:lnTo>
                <a:cubicBezTo>
                  <a:pt x="159986" y="20574"/>
                  <a:pt x="164592" y="25180"/>
                  <a:pt x="164592" y="30861"/>
                </a:cubicBezTo>
                <a:lnTo>
                  <a:pt x="164592" y="51435"/>
                </a:lnTo>
                <a:cubicBezTo>
                  <a:pt x="164592" y="57116"/>
                  <a:pt x="159986" y="61722"/>
                  <a:pt x="154305" y="61722"/>
                </a:cubicBezTo>
                <a:lnTo>
                  <a:pt x="92583" y="61722"/>
                </a:lnTo>
                <a:cubicBezTo>
                  <a:pt x="86902" y="61722"/>
                  <a:pt x="82296" y="57116"/>
                  <a:pt x="82296" y="51435"/>
                </a:cubicBezTo>
                <a:lnTo>
                  <a:pt x="82296" y="30861"/>
                </a:lnTo>
                <a:cubicBezTo>
                  <a:pt x="82296" y="25180"/>
                  <a:pt x="86902" y="20574"/>
                  <a:pt x="92583" y="20574"/>
                </a:cubicBezTo>
                <a:close/>
                <a:moveTo>
                  <a:pt x="164592" y="41148"/>
                </a:moveTo>
                <a:lnTo>
                  <a:pt x="185166" y="41148"/>
                </a:lnTo>
                <a:cubicBezTo>
                  <a:pt x="196529" y="41148"/>
                  <a:pt x="205740" y="50359"/>
                  <a:pt x="205740" y="61722"/>
                </a:cubicBezTo>
                <a:lnTo>
                  <a:pt x="205740" y="205740"/>
                </a:lnTo>
                <a:cubicBezTo>
                  <a:pt x="205740" y="217103"/>
                  <a:pt x="196529" y="226314"/>
                  <a:pt x="185166" y="226314"/>
                </a:cubicBezTo>
                <a:lnTo>
                  <a:pt x="61722" y="226314"/>
                </a:lnTo>
                <a:cubicBezTo>
                  <a:pt x="50359" y="226314"/>
                  <a:pt x="41148" y="217103"/>
                  <a:pt x="41148" y="205740"/>
                </a:cubicBezTo>
                <a:lnTo>
                  <a:pt x="41148" y="61722"/>
                </a:lnTo>
                <a:cubicBezTo>
                  <a:pt x="41148" y="50359"/>
                  <a:pt x="50359" y="41148"/>
                  <a:pt x="61722" y="41148"/>
                </a:cubicBezTo>
                <a:lnTo>
                  <a:pt x="82296" y="41148"/>
                </a:lnTo>
                <a:moveTo>
                  <a:pt x="123444" y="113157"/>
                </a:moveTo>
                <a:lnTo>
                  <a:pt x="164592" y="113157"/>
                </a:lnTo>
                <a:moveTo>
                  <a:pt x="123444" y="164592"/>
                </a:moveTo>
                <a:lnTo>
                  <a:pt x="164592" y="164592"/>
                </a:lnTo>
                <a:moveTo>
                  <a:pt x="82296" y="113157"/>
                </a:moveTo>
                <a:lnTo>
                  <a:pt x="82399" y="113157"/>
                </a:lnTo>
                <a:moveTo>
                  <a:pt x="82296" y="164592"/>
                </a:moveTo>
                <a:lnTo>
                  <a:pt x="82399" y="164592"/>
                </a:lnTo>
              </a:path>
            </a:pathLst>
          </a:custGeom>
          <a:noFill/>
          <a:ln w="20574" cap="rnd">
            <a:solidFill>
              <a:srgbClr val="0B1F3A"/>
            </a:solidFill>
            <a:prstDash val="solid"/>
            <a:round/>
          </a:ln>
        </p:spPr>
      </p:sp>
      <p:sp>
        <p:nvSpPr>
          <p:cNvPr id="30" name="Text 28"/>
          <p:cNvSpPr/>
          <p:nvPr/>
        </p:nvSpPr>
        <p:spPr>
          <a:xfrm>
            <a:off x="851306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Solicitudes</a:t>
            </a:r>
            <a:endParaRPr lang="en-US" sz="1200" dirty="0"/>
          </a:p>
        </p:txBody>
      </p:sp>
      <p:sp>
        <p:nvSpPr>
          <p:cNvPr id="31" name="Shape 29"/>
          <p:cNvSpPr/>
          <p:nvPr/>
        </p:nvSpPr>
        <p:spPr>
          <a:xfrm>
            <a:off x="982980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32" name="Icono bell"/>
          <p:cNvSpPr/>
          <p:nvPr/>
        </p:nvSpPr>
        <p:spPr>
          <a:xfrm>
            <a:off x="9957816" y="3209544"/>
            <a:ext cx="246888" cy="246888"/>
          </a:xfrm>
          <a:custGeom>
            <a:avLst/>
            <a:gdLst/>
            <a:ahLst/>
            <a:cxnLst/>
            <a:rect l="l" t="t" r="r" b="b"/>
            <a:pathLst>
              <a:path w="246888" h="246888">
                <a:moveTo>
                  <a:pt x="105627" y="216027"/>
                </a:moveTo>
                <a:cubicBezTo>
                  <a:pt x="109302" y="222392"/>
                  <a:pt x="116094" y="226313"/>
                  <a:pt x="123444" y="226313"/>
                </a:cubicBezTo>
                <a:cubicBezTo>
                  <a:pt x="130794" y="226313"/>
                  <a:pt x="137586" y="222392"/>
                  <a:pt x="141261" y="216027"/>
                </a:cubicBezTo>
                <a:moveTo>
                  <a:pt x="33556" y="157659"/>
                </a:moveTo>
                <a:cubicBezTo>
                  <a:pt x="30810" y="160668"/>
                  <a:pt x="30099" y="165014"/>
                  <a:pt x="31743" y="168742"/>
                </a:cubicBezTo>
                <a:cubicBezTo>
                  <a:pt x="33386" y="172469"/>
                  <a:pt x="37074" y="174876"/>
                  <a:pt x="41148" y="174879"/>
                </a:cubicBezTo>
                <a:lnTo>
                  <a:pt x="205740" y="174879"/>
                </a:lnTo>
                <a:cubicBezTo>
                  <a:pt x="209813" y="174880"/>
                  <a:pt x="213504" y="172478"/>
                  <a:pt x="215151" y="168753"/>
                </a:cubicBezTo>
                <a:cubicBezTo>
                  <a:pt x="216799" y="165028"/>
                  <a:pt x="216094" y="160682"/>
                  <a:pt x="213352" y="157669"/>
                </a:cubicBezTo>
                <a:cubicBezTo>
                  <a:pt x="199671" y="143565"/>
                  <a:pt x="185166" y="128577"/>
                  <a:pt x="185166" y="82296"/>
                </a:cubicBezTo>
                <a:cubicBezTo>
                  <a:pt x="185166" y="48208"/>
                  <a:pt x="157532" y="20574"/>
                  <a:pt x="123444" y="20574"/>
                </a:cubicBezTo>
                <a:cubicBezTo>
                  <a:pt x="89356" y="20574"/>
                  <a:pt x="61722" y="48208"/>
                  <a:pt x="61722" y="82296"/>
                </a:cubicBezTo>
                <a:cubicBezTo>
                  <a:pt x="61722" y="128577"/>
                  <a:pt x="47207" y="143565"/>
                  <a:pt x="33556" y="157659"/>
                </a:cubicBezTo>
              </a:path>
            </a:pathLst>
          </a:custGeom>
          <a:noFill/>
          <a:ln w="20574" cap="rnd">
            <a:solidFill>
              <a:srgbClr val="0B1F3A"/>
            </a:solidFill>
            <a:prstDash val="solid"/>
            <a:round/>
          </a:ln>
        </p:spPr>
      </p:sp>
      <p:sp>
        <p:nvSpPr>
          <p:cNvPr id="33" name="Text 31"/>
          <p:cNvSpPr/>
          <p:nvPr/>
        </p:nvSpPr>
        <p:spPr>
          <a:xfrm>
            <a:off x="1025042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Notificaciones</a:t>
            </a:r>
            <a:endParaRPr lang="en-US" sz="1200" dirty="0"/>
          </a:p>
        </p:txBody>
      </p:sp>
      <p:sp>
        <p:nvSpPr>
          <p:cNvPr id="34" name="Shape 32"/>
          <p:cNvSpPr/>
          <p:nvPr/>
        </p:nvSpPr>
        <p:spPr>
          <a:xfrm>
            <a:off x="8284464" y="4242816"/>
            <a:ext cx="1143000" cy="566928"/>
          </a:xfrm>
          <a:prstGeom prst="roundRect">
            <a:avLst>
              <a:gd name="adj" fmla="val 48387"/>
            </a:avLst>
          </a:prstGeom>
          <a:solidFill>
            <a:srgbClr val="0B1F3A"/>
          </a:solidFill>
          <a:ln w="19050">
            <a:solidFill>
              <a:srgbClr val="9FB4D2"/>
            </a:solidFill>
            <a:prstDash val="solid"/>
          </a:ln>
        </p:spPr>
      </p:sp>
      <p:sp>
        <p:nvSpPr>
          <p:cNvPr id="35" name="Icono database"/>
          <p:cNvSpPr/>
          <p:nvPr/>
        </p:nvSpPr>
        <p:spPr>
          <a:xfrm>
            <a:off x="841248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6" name="Text 34"/>
          <p:cNvSpPr/>
          <p:nvPr/>
        </p:nvSpPr>
        <p:spPr>
          <a:xfrm>
            <a:off x="868680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
        <p:nvSpPr>
          <p:cNvPr id="37" name="Shape 35"/>
          <p:cNvSpPr/>
          <p:nvPr/>
        </p:nvSpPr>
        <p:spPr>
          <a:xfrm>
            <a:off x="10021824" y="4242816"/>
            <a:ext cx="1143000" cy="566928"/>
          </a:xfrm>
          <a:prstGeom prst="roundRect">
            <a:avLst>
              <a:gd name="adj" fmla="val 48387"/>
            </a:avLst>
          </a:prstGeom>
          <a:solidFill>
            <a:srgbClr val="0B1F3A"/>
          </a:solidFill>
          <a:ln w="19050">
            <a:solidFill>
              <a:srgbClr val="9FB4D2"/>
            </a:solidFill>
            <a:prstDash val="solid"/>
          </a:ln>
        </p:spPr>
      </p:sp>
      <p:sp>
        <p:nvSpPr>
          <p:cNvPr id="38" name="Icono database"/>
          <p:cNvSpPr/>
          <p:nvPr/>
        </p:nvSpPr>
        <p:spPr>
          <a:xfrm>
            <a:off x="1014984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9" name="Text 37"/>
          <p:cNvSpPr/>
          <p:nvPr/>
        </p:nvSpPr>
        <p:spPr>
          <a:xfrm>
            <a:off x="1042416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equipo arka-litos</a:t>
            </a:r>
            <a:endParaRPr lang="en-US" sz="2800" dirty="0"/>
          </a:p>
        </p:txBody>
      </p:sp>
      <p:sp>
        <p:nvSpPr>
          <p:cNvPr id="5" name="Shape 3"/>
          <p:cNvSpPr/>
          <p:nvPr/>
        </p:nvSpPr>
        <p:spPr>
          <a:xfrm>
            <a:off x="612648" y="1371600"/>
            <a:ext cx="5433542" cy="4983480"/>
          </a:xfrm>
          <a:prstGeom prst="roundRect">
            <a:avLst>
              <a:gd name="adj" fmla="val 256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740664" y="1371600"/>
            <a:ext cx="5177510" cy="64008"/>
          </a:xfrm>
          <a:prstGeom prst="rect">
            <a:avLst/>
          </a:prstGeom>
          <a:solidFill>
            <a:srgbClr val="1F4E8C"/>
          </a:solidFill>
          <a:ln w="12700">
            <a:solidFill>
              <a:srgbClr val="1F4E8C"/>
            </a:solidFill>
            <a:prstDash val="solid"/>
          </a:ln>
        </p:spPr>
      </p:sp>
      <p:sp>
        <p:nvSpPr>
          <p:cNvPr id="7" name="Shape 5"/>
          <p:cNvSpPr/>
          <p:nvPr/>
        </p:nvSpPr>
        <p:spPr>
          <a:xfrm>
            <a:off x="841248" y="1664208"/>
            <a:ext cx="566928" cy="566928"/>
          </a:xfrm>
          <a:prstGeom prst="ellipse">
            <a:avLst/>
          </a:prstGeom>
          <a:solidFill>
            <a:srgbClr val="EAF0FA"/>
          </a:solidFill>
          <a:ln w="12700">
            <a:solidFill>
              <a:srgbClr val="EAF0FA"/>
            </a:solidFill>
            <a:prstDash val="solid"/>
          </a:ln>
        </p:spPr>
      </p:sp>
      <p:sp>
        <p:nvSpPr>
          <p:cNvPr id="8" name="Icono code"/>
          <p:cNvSpPr/>
          <p:nvPr/>
        </p:nvSpPr>
        <p:spPr>
          <a:xfrm>
            <a:off x="977311" y="1800271"/>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1F4E8C"/>
            </a:solidFill>
            <a:prstDash val="solid"/>
            <a:round/>
          </a:ln>
        </p:spPr>
      </p:sp>
      <p:sp>
        <p:nvSpPr>
          <p:cNvPr id="9" name="Text 7"/>
          <p:cNvSpPr/>
          <p:nvPr/>
        </p:nvSpPr>
        <p:spPr>
          <a:xfrm>
            <a:off x="1527048" y="1645920"/>
            <a:ext cx="4427702" cy="347472"/>
          </a:xfrm>
          <a:prstGeom prst="rect">
            <a:avLst/>
          </a:prstGeom>
          <a:noFill/>
          <a:ln/>
        </p:spPr>
        <p:txBody>
          <a:bodyPr wrap="square" lIns="0" tIns="0" rIns="0" bIns="0" rtlCol="0" anchor="t">
            <a:normAutofit/>
          </a:bodyPr>
          <a:lstStyle/>
          <a:p>
            <a:pPr algn="l" indent="0" marL="0">
              <a:buNone/>
            </a:pPr>
            <a:r>
              <a:rPr lang="en-US" sz="1800" b="1" dirty="0">
                <a:solidFill>
                  <a:srgbClr val="1F4E8C"/>
                </a:solidFill>
                <a:latin typeface="Segoe UI Semibold" pitchFamily="34" charset="0"/>
                <a:ea typeface="Segoe UI Semibold" pitchFamily="34" charset="-122"/>
                <a:cs typeface="Segoe UI Semibold" pitchFamily="34" charset="-120"/>
              </a:rPr>
              <a:t>Desarrollo</a:t>
            </a:r>
            <a:endParaRPr lang="en-US" sz="1800" dirty="0"/>
          </a:p>
        </p:txBody>
      </p:sp>
      <p:sp>
        <p:nvSpPr>
          <p:cNvPr id="10" name="Text 8"/>
          <p:cNvSpPr/>
          <p:nvPr/>
        </p:nvSpPr>
        <p:spPr>
          <a:xfrm>
            <a:off x="1527048" y="1975104"/>
            <a:ext cx="4427702" cy="2560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4 personas</a:t>
            </a:r>
            <a:endParaRPr lang="en-US" sz="1200" dirty="0"/>
          </a:p>
        </p:txBody>
      </p:sp>
      <p:sp>
        <p:nvSpPr>
          <p:cNvPr id="11" name="Shape 9"/>
          <p:cNvSpPr/>
          <p:nvPr/>
        </p:nvSpPr>
        <p:spPr>
          <a:xfrm>
            <a:off x="914651"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2" name="Text 10"/>
          <p:cNvSpPr/>
          <p:nvPr/>
        </p:nvSpPr>
        <p:spPr>
          <a:xfrm>
            <a:off x="914651"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P1</a:t>
            </a:r>
            <a:endParaRPr lang="en-US" sz="2200" dirty="0"/>
          </a:p>
        </p:txBody>
      </p:sp>
      <p:sp>
        <p:nvSpPr>
          <p:cNvPr id="13" name="Text 11"/>
          <p:cNvSpPr/>
          <p:nvPr/>
        </p:nvSpPr>
        <p:spPr>
          <a:xfrm>
            <a:off x="749808"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1</a:t>
            </a:r>
            <a:endParaRPr lang="en-US" sz="1200" dirty="0"/>
          </a:p>
        </p:txBody>
      </p:sp>
      <p:sp>
        <p:nvSpPr>
          <p:cNvPr id="14" name="Text 12"/>
          <p:cNvSpPr/>
          <p:nvPr/>
        </p:nvSpPr>
        <p:spPr>
          <a:xfrm>
            <a:off x="822960"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Apertura · Sistema · Cierre</a:t>
            </a:r>
            <a:endParaRPr lang="en-US" sz="1050" dirty="0"/>
          </a:p>
        </p:txBody>
      </p:sp>
      <p:sp>
        <p:nvSpPr>
          <p:cNvPr id="15" name="Text 13"/>
          <p:cNvSpPr/>
          <p:nvPr/>
        </p:nvSpPr>
        <p:spPr>
          <a:xfrm>
            <a:off x="804672"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Abre, presenta el sistema por fuera y cierra.</a:t>
            </a:r>
            <a:endParaRPr lang="en-US" sz="1050" dirty="0"/>
          </a:p>
        </p:txBody>
      </p:sp>
      <p:sp>
        <p:nvSpPr>
          <p:cNvPr id="16" name="Shape 14"/>
          <p:cNvSpPr/>
          <p:nvPr/>
        </p:nvSpPr>
        <p:spPr>
          <a:xfrm>
            <a:off x="2204456"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7" name="Text 15"/>
          <p:cNvSpPr/>
          <p:nvPr/>
        </p:nvSpPr>
        <p:spPr>
          <a:xfrm>
            <a:off x="2204456"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P2</a:t>
            </a:r>
            <a:endParaRPr lang="en-US" sz="2200" dirty="0"/>
          </a:p>
        </p:txBody>
      </p:sp>
      <p:sp>
        <p:nvSpPr>
          <p:cNvPr id="18" name="Text 16"/>
          <p:cNvSpPr/>
          <p:nvPr/>
        </p:nvSpPr>
        <p:spPr>
          <a:xfrm>
            <a:off x="2039613"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2</a:t>
            </a:r>
            <a:endParaRPr lang="en-US" sz="1200" dirty="0"/>
          </a:p>
        </p:txBody>
      </p:sp>
      <p:sp>
        <p:nvSpPr>
          <p:cNvPr id="19" name="Text 17"/>
          <p:cNvSpPr/>
          <p:nvPr/>
        </p:nvSpPr>
        <p:spPr>
          <a:xfrm>
            <a:off x="2112765"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Servicio</a:t>
            </a:r>
            <a:endParaRPr lang="en-US" sz="1050" dirty="0"/>
          </a:p>
        </p:txBody>
      </p:sp>
      <p:sp>
        <p:nvSpPr>
          <p:cNvPr id="20" name="Text 18"/>
          <p:cNvSpPr/>
          <p:nvPr/>
        </p:nvSpPr>
        <p:spPr>
          <a:xfrm>
            <a:off x="2094477"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cómo se construye un servicio con Spring Boot.</a:t>
            </a:r>
            <a:endParaRPr lang="en-US" sz="1050" dirty="0"/>
          </a:p>
        </p:txBody>
      </p:sp>
      <p:sp>
        <p:nvSpPr>
          <p:cNvPr id="21" name="Shape 19"/>
          <p:cNvSpPr/>
          <p:nvPr/>
        </p:nvSpPr>
        <p:spPr>
          <a:xfrm>
            <a:off x="3494262"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2" name="Text 20"/>
          <p:cNvSpPr/>
          <p:nvPr/>
        </p:nvSpPr>
        <p:spPr>
          <a:xfrm>
            <a:off x="3494262"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P3</a:t>
            </a:r>
            <a:endParaRPr lang="en-US" sz="2200" dirty="0"/>
          </a:p>
        </p:txBody>
      </p:sp>
      <p:sp>
        <p:nvSpPr>
          <p:cNvPr id="23" name="Text 21"/>
          <p:cNvSpPr/>
          <p:nvPr/>
        </p:nvSpPr>
        <p:spPr>
          <a:xfrm>
            <a:off x="3329419"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3</a:t>
            </a:r>
            <a:endParaRPr lang="en-US" sz="1200" dirty="0"/>
          </a:p>
        </p:txBody>
      </p:sp>
      <p:sp>
        <p:nvSpPr>
          <p:cNvPr id="24" name="Text 22"/>
          <p:cNvSpPr/>
          <p:nvPr/>
        </p:nvSpPr>
        <p:spPr>
          <a:xfrm>
            <a:off x="3402571"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Diseño</a:t>
            </a:r>
            <a:endParaRPr lang="en-US" sz="1050" dirty="0"/>
          </a:p>
        </p:txBody>
      </p:sp>
      <p:sp>
        <p:nvSpPr>
          <p:cNvPr id="25" name="Text 23"/>
          <p:cNvSpPr/>
          <p:nvPr/>
        </p:nvSpPr>
        <p:spPr>
          <a:xfrm>
            <a:off x="3384283"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cómo diseñamos el código para que pueda cambiar.</a:t>
            </a:r>
            <a:endParaRPr lang="en-US" sz="1050" dirty="0"/>
          </a:p>
        </p:txBody>
      </p:sp>
      <p:sp>
        <p:nvSpPr>
          <p:cNvPr id="26" name="Shape 24"/>
          <p:cNvSpPr/>
          <p:nvPr/>
        </p:nvSpPr>
        <p:spPr>
          <a:xfrm>
            <a:off x="4784067"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7" name="Text 25"/>
          <p:cNvSpPr/>
          <p:nvPr/>
        </p:nvSpPr>
        <p:spPr>
          <a:xfrm>
            <a:off x="4784067"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P7</a:t>
            </a:r>
            <a:endParaRPr lang="en-US" sz="2200" dirty="0"/>
          </a:p>
        </p:txBody>
      </p:sp>
      <p:sp>
        <p:nvSpPr>
          <p:cNvPr id="28" name="Text 26"/>
          <p:cNvSpPr/>
          <p:nvPr/>
        </p:nvSpPr>
        <p:spPr>
          <a:xfrm>
            <a:off x="4619224"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7</a:t>
            </a:r>
            <a:endParaRPr lang="en-US" sz="1200" dirty="0"/>
          </a:p>
        </p:txBody>
      </p:sp>
      <p:sp>
        <p:nvSpPr>
          <p:cNvPr id="29" name="Text 27"/>
          <p:cNvSpPr/>
          <p:nvPr/>
        </p:nvSpPr>
        <p:spPr>
          <a:xfrm>
            <a:off x="4692376"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UI</a:t>
            </a:r>
            <a:endParaRPr lang="en-US" sz="1050" dirty="0"/>
          </a:p>
        </p:txBody>
      </p:sp>
      <p:sp>
        <p:nvSpPr>
          <p:cNvPr id="30" name="Text 28"/>
          <p:cNvSpPr/>
          <p:nvPr/>
        </p:nvSpPr>
        <p:spPr>
          <a:xfrm>
            <a:off x="4674088"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la interfaz web y conduce la demostración en vivo.</a:t>
            </a:r>
            <a:endParaRPr lang="en-US" sz="1050" dirty="0"/>
          </a:p>
        </p:txBody>
      </p:sp>
      <p:sp>
        <p:nvSpPr>
          <p:cNvPr id="31" name="Shape 29"/>
          <p:cNvSpPr/>
          <p:nvPr/>
        </p:nvSpPr>
        <p:spPr>
          <a:xfrm>
            <a:off x="6265646" y="1371600"/>
            <a:ext cx="2716771" cy="4983480"/>
          </a:xfrm>
          <a:prstGeom prst="roundRect">
            <a:avLst>
              <a:gd name="adj" fmla="val 47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393662" y="1371600"/>
            <a:ext cx="2460739" cy="64008"/>
          </a:xfrm>
          <a:prstGeom prst="rect">
            <a:avLst/>
          </a:prstGeom>
          <a:solidFill>
            <a:srgbClr val="0A6648"/>
          </a:solidFill>
          <a:ln w="12700">
            <a:solidFill>
              <a:srgbClr val="0A6648"/>
            </a:solidFill>
            <a:prstDash val="solid"/>
          </a:ln>
        </p:spPr>
      </p:sp>
      <p:sp>
        <p:nvSpPr>
          <p:cNvPr id="33" name="Shape 31"/>
          <p:cNvSpPr/>
          <p:nvPr/>
        </p:nvSpPr>
        <p:spPr>
          <a:xfrm>
            <a:off x="6494246" y="1664208"/>
            <a:ext cx="566928" cy="566928"/>
          </a:xfrm>
          <a:prstGeom prst="ellipse">
            <a:avLst/>
          </a:prstGeom>
          <a:solidFill>
            <a:srgbClr val="E1F1EA"/>
          </a:solidFill>
          <a:ln w="12700">
            <a:solidFill>
              <a:srgbClr val="E1F1EA"/>
            </a:solidFill>
            <a:prstDash val="solid"/>
          </a:ln>
        </p:spPr>
      </p:sp>
      <p:sp>
        <p:nvSpPr>
          <p:cNvPr id="34" name="Icono ship-wheel"/>
          <p:cNvSpPr/>
          <p:nvPr/>
        </p:nvSpPr>
        <p:spPr>
          <a:xfrm>
            <a:off x="6630309" y="1800271"/>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35" name="Text 33"/>
          <p:cNvSpPr/>
          <p:nvPr/>
        </p:nvSpPr>
        <p:spPr>
          <a:xfrm>
            <a:off x="7180046" y="1645920"/>
            <a:ext cx="1710931" cy="347472"/>
          </a:xfrm>
          <a:prstGeom prst="rect">
            <a:avLst/>
          </a:prstGeom>
          <a:noFill/>
          <a:ln/>
        </p:spPr>
        <p:txBody>
          <a:bodyPr wrap="square" lIns="0" tIns="0" rIns="0" bIns="0" rtlCol="0" anchor="t">
            <a:normAutofit/>
          </a:bodyPr>
          <a:lstStyle/>
          <a:p>
            <a:pPr algn="l" indent="0" marL="0">
              <a:buNone/>
            </a:pPr>
            <a:r>
              <a:rPr lang="en-US" sz="1800" b="1" dirty="0">
                <a:solidFill>
                  <a:srgbClr val="0A6648"/>
                </a:solidFill>
                <a:latin typeface="Segoe UI Semibold" pitchFamily="34" charset="0"/>
                <a:ea typeface="Segoe UI Semibold" pitchFamily="34" charset="-122"/>
                <a:cs typeface="Segoe UI Semibold" pitchFamily="34" charset="-120"/>
              </a:rPr>
              <a:t>DevOps</a:t>
            </a:r>
            <a:endParaRPr lang="en-US" sz="1800" dirty="0"/>
          </a:p>
        </p:txBody>
      </p:sp>
      <p:sp>
        <p:nvSpPr>
          <p:cNvPr id="36" name="Text 34"/>
          <p:cNvSpPr/>
          <p:nvPr/>
        </p:nvSpPr>
        <p:spPr>
          <a:xfrm>
            <a:off x="7180046" y="1975104"/>
            <a:ext cx="1710931" cy="2560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 personas</a:t>
            </a:r>
            <a:endParaRPr lang="en-US" sz="1200" dirty="0"/>
          </a:p>
        </p:txBody>
      </p:sp>
      <p:sp>
        <p:nvSpPr>
          <p:cNvPr id="37" name="Shape 35"/>
          <p:cNvSpPr/>
          <p:nvPr/>
        </p:nvSpPr>
        <p:spPr>
          <a:xfrm>
            <a:off x="6539966" y="2514600"/>
            <a:ext cx="946905" cy="946905"/>
          </a:xfrm>
          <a:prstGeom prst="ellipse">
            <a:avLst/>
          </a:prstGeom>
          <a:solidFill>
            <a:srgbClr val="0A6648"/>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6539966" y="2514600"/>
            <a:ext cx="946905" cy="946905"/>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P5</a:t>
            </a:r>
            <a:endParaRPr lang="en-US" sz="2200" dirty="0"/>
          </a:p>
        </p:txBody>
      </p:sp>
      <p:sp>
        <p:nvSpPr>
          <p:cNvPr id="39" name="Text 37"/>
          <p:cNvSpPr/>
          <p:nvPr/>
        </p:nvSpPr>
        <p:spPr>
          <a:xfrm>
            <a:off x="6402806" y="3589521"/>
            <a:ext cx="1221225" cy="274320"/>
          </a:xfrm>
          <a:prstGeom prst="rect">
            <a:avLst/>
          </a:prstGeom>
          <a:noFill/>
          <a:ln/>
        </p:spPr>
        <p:txBody>
          <a:bodyPr wrap="square" lIns="0" tIns="0" rIns="0" bIns="0" rtlCol="0" anchor="t">
            <a:normAutofit/>
          </a:bodyPr>
          <a:lstStyle/>
          <a:p>
            <a:pPr algn="ctr" indent="0" marL="0">
              <a:buNone/>
            </a:pPr>
            <a:r>
              <a:rPr lang="en-US" sz="1150" b="1" dirty="0">
                <a:solidFill>
                  <a:srgbClr val="0B1A3C"/>
                </a:solidFill>
                <a:latin typeface="Segoe UI" pitchFamily="34" charset="0"/>
                <a:ea typeface="Segoe UI" pitchFamily="34" charset="-122"/>
                <a:cs typeface="Segoe UI" pitchFamily="34" charset="-120"/>
              </a:rPr>
              <a:t>Participante 5</a:t>
            </a:r>
            <a:endParaRPr lang="en-US" sz="1150" dirty="0"/>
          </a:p>
        </p:txBody>
      </p:sp>
      <p:sp>
        <p:nvSpPr>
          <p:cNvPr id="40" name="Text 38"/>
          <p:cNvSpPr/>
          <p:nvPr/>
        </p:nvSpPr>
        <p:spPr>
          <a:xfrm>
            <a:off x="6475958" y="3918705"/>
            <a:ext cx="1074921" cy="310896"/>
          </a:xfrm>
          <a:prstGeom prst="roundRect">
            <a:avLst>
              <a:gd name="adj" fmla="val 50000"/>
            </a:avLst>
          </a:prstGeom>
          <a:solidFill>
            <a:srgbClr val="E1F1EA"/>
          </a:solidFill>
          <a:ln>
            <a:solidFill>
              <a:srgbClr val="E1F1EA"/>
            </a:solidFill>
          </a:ln>
        </p:spPr>
        <p:txBody>
          <a:bodyPr wrap="square" lIns="0" tIns="50800" rIns="5080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Empaquetar</a:t>
            </a:r>
            <a:endParaRPr lang="en-US" sz="1050" dirty="0"/>
          </a:p>
        </p:txBody>
      </p:sp>
      <p:sp>
        <p:nvSpPr>
          <p:cNvPr id="41" name="Text 39"/>
          <p:cNvSpPr/>
          <p:nvPr/>
        </p:nvSpPr>
        <p:spPr>
          <a:xfrm>
            <a:off x="6457670" y="4330185"/>
            <a:ext cx="1111497" cy="1933455"/>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Docker, Docker Compose y el pipeline de integración y entrega continua.</a:t>
            </a:r>
            <a:endParaRPr lang="en-US" sz="1050" dirty="0"/>
          </a:p>
        </p:txBody>
      </p:sp>
      <p:sp>
        <p:nvSpPr>
          <p:cNvPr id="42" name="Shape 40"/>
          <p:cNvSpPr/>
          <p:nvPr/>
        </p:nvSpPr>
        <p:spPr>
          <a:xfrm>
            <a:off x="7761191" y="2514600"/>
            <a:ext cx="946905" cy="946905"/>
          </a:xfrm>
          <a:prstGeom prst="ellipse">
            <a:avLst/>
          </a:prstGeom>
          <a:solidFill>
            <a:srgbClr val="0A6648"/>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761191" y="2514600"/>
            <a:ext cx="946905" cy="946905"/>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P6</a:t>
            </a:r>
            <a:endParaRPr lang="en-US" sz="2200" dirty="0"/>
          </a:p>
        </p:txBody>
      </p:sp>
      <p:sp>
        <p:nvSpPr>
          <p:cNvPr id="44" name="Text 42"/>
          <p:cNvSpPr/>
          <p:nvPr/>
        </p:nvSpPr>
        <p:spPr>
          <a:xfrm>
            <a:off x="7624031" y="3589521"/>
            <a:ext cx="1221225" cy="274320"/>
          </a:xfrm>
          <a:prstGeom prst="rect">
            <a:avLst/>
          </a:prstGeom>
          <a:noFill/>
          <a:ln/>
        </p:spPr>
        <p:txBody>
          <a:bodyPr wrap="square" lIns="0" tIns="0" rIns="0" bIns="0" rtlCol="0" anchor="t">
            <a:normAutofit/>
          </a:bodyPr>
          <a:lstStyle/>
          <a:p>
            <a:pPr algn="ctr" indent="0" marL="0">
              <a:buNone/>
            </a:pPr>
            <a:r>
              <a:rPr lang="en-US" sz="1150" b="1" dirty="0">
                <a:solidFill>
                  <a:srgbClr val="0B1A3C"/>
                </a:solidFill>
                <a:latin typeface="Segoe UI" pitchFamily="34" charset="0"/>
                <a:ea typeface="Segoe UI" pitchFamily="34" charset="-122"/>
                <a:cs typeface="Segoe UI" pitchFamily="34" charset="-120"/>
              </a:rPr>
              <a:t>Participante 6</a:t>
            </a:r>
            <a:endParaRPr lang="en-US" sz="1150" dirty="0"/>
          </a:p>
        </p:txBody>
      </p:sp>
      <p:sp>
        <p:nvSpPr>
          <p:cNvPr id="45" name="Text 43"/>
          <p:cNvSpPr/>
          <p:nvPr/>
        </p:nvSpPr>
        <p:spPr>
          <a:xfrm>
            <a:off x="7697183" y="3918705"/>
            <a:ext cx="1074921" cy="310896"/>
          </a:xfrm>
          <a:prstGeom prst="roundRect">
            <a:avLst>
              <a:gd name="adj" fmla="val 50000"/>
            </a:avLst>
          </a:prstGeom>
          <a:solidFill>
            <a:srgbClr val="E1F1EA"/>
          </a:solidFill>
          <a:ln>
            <a:solidFill>
              <a:srgbClr val="E1F1EA"/>
            </a:solidFill>
          </a:ln>
        </p:spPr>
        <p:txBody>
          <a:bodyPr wrap="square" lIns="0" tIns="50800" rIns="5080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Operar</a:t>
            </a:r>
            <a:endParaRPr lang="en-US" sz="1050" dirty="0"/>
          </a:p>
        </p:txBody>
      </p:sp>
      <p:sp>
        <p:nvSpPr>
          <p:cNvPr id="46" name="Text 44"/>
          <p:cNvSpPr/>
          <p:nvPr/>
        </p:nvSpPr>
        <p:spPr>
          <a:xfrm>
            <a:off x="7678895" y="4330185"/>
            <a:ext cx="1111497" cy="1933455"/>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Kubernetes, la puesta a punto y la centralización de logs.</a:t>
            </a:r>
            <a:endParaRPr lang="en-US" sz="1050" dirty="0"/>
          </a:p>
        </p:txBody>
      </p:sp>
      <p:sp>
        <p:nvSpPr>
          <p:cNvPr id="47" name="Shape 45"/>
          <p:cNvSpPr/>
          <p:nvPr/>
        </p:nvSpPr>
        <p:spPr>
          <a:xfrm>
            <a:off x="9201873" y="1371600"/>
            <a:ext cx="2377175" cy="4983480"/>
          </a:xfrm>
          <a:prstGeom prst="roundRect">
            <a:avLst>
              <a:gd name="adj" fmla="val 538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9329889" y="1371600"/>
            <a:ext cx="2121143" cy="64008"/>
          </a:xfrm>
          <a:prstGeom prst="rect">
            <a:avLst/>
          </a:prstGeom>
          <a:solidFill>
            <a:srgbClr val="5B3FC4"/>
          </a:solidFill>
          <a:ln w="12700">
            <a:solidFill>
              <a:srgbClr val="5B3FC4"/>
            </a:solidFill>
            <a:prstDash val="solid"/>
          </a:ln>
        </p:spPr>
      </p:sp>
      <p:sp>
        <p:nvSpPr>
          <p:cNvPr id="49" name="Shape 47"/>
          <p:cNvSpPr/>
          <p:nvPr/>
        </p:nvSpPr>
        <p:spPr>
          <a:xfrm>
            <a:off x="9430473" y="1664208"/>
            <a:ext cx="566928" cy="566928"/>
          </a:xfrm>
          <a:prstGeom prst="ellipse">
            <a:avLst/>
          </a:prstGeom>
          <a:solidFill>
            <a:srgbClr val="F1EEFD"/>
          </a:solidFill>
          <a:ln w="12700">
            <a:solidFill>
              <a:srgbClr val="F1EEFD"/>
            </a:solidFill>
            <a:prstDash val="solid"/>
          </a:ln>
        </p:spPr>
      </p:sp>
      <p:sp>
        <p:nvSpPr>
          <p:cNvPr id="50" name="Icono database"/>
          <p:cNvSpPr/>
          <p:nvPr/>
        </p:nvSpPr>
        <p:spPr>
          <a:xfrm>
            <a:off x="9566535" y="1800271"/>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B3FC4"/>
            </a:solidFill>
            <a:prstDash val="solid"/>
            <a:round/>
          </a:ln>
        </p:spPr>
      </p:sp>
      <p:sp>
        <p:nvSpPr>
          <p:cNvPr id="51" name="Text 49"/>
          <p:cNvSpPr/>
          <p:nvPr/>
        </p:nvSpPr>
        <p:spPr>
          <a:xfrm>
            <a:off x="10116273" y="1645920"/>
            <a:ext cx="1371335" cy="347472"/>
          </a:xfrm>
          <a:prstGeom prst="rect">
            <a:avLst/>
          </a:prstGeom>
          <a:noFill/>
          <a:ln/>
        </p:spPr>
        <p:txBody>
          <a:bodyPr wrap="square" lIns="0" tIns="0" rIns="0" bIns="0" rtlCol="0" anchor="t">
            <a:normAutofit/>
          </a:bodyPr>
          <a:lstStyle/>
          <a:p>
            <a:pPr algn="l" indent="0" marL="0">
              <a:buNone/>
            </a:pPr>
            <a:r>
              <a:rPr lang="en-US" sz="1400" b="1" dirty="0">
                <a:solidFill>
                  <a:srgbClr val="5B3FC4"/>
                </a:solidFill>
                <a:latin typeface="Segoe UI Semibold" pitchFamily="34" charset="0"/>
                <a:ea typeface="Segoe UI Semibold" pitchFamily="34" charset="-122"/>
                <a:cs typeface="Segoe UI Semibold" pitchFamily="34" charset="-120"/>
              </a:rPr>
              <a:t>Base de datos</a:t>
            </a:r>
            <a:endParaRPr lang="en-US" sz="1400" dirty="0"/>
          </a:p>
        </p:txBody>
      </p:sp>
      <p:sp>
        <p:nvSpPr>
          <p:cNvPr id="52" name="Text 50"/>
          <p:cNvSpPr/>
          <p:nvPr/>
        </p:nvSpPr>
        <p:spPr>
          <a:xfrm>
            <a:off x="10116273" y="1975104"/>
            <a:ext cx="1371335" cy="2560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1 persona</a:t>
            </a:r>
            <a:endParaRPr lang="en-US" sz="1200" dirty="0"/>
          </a:p>
        </p:txBody>
      </p:sp>
      <p:sp>
        <p:nvSpPr>
          <p:cNvPr id="53" name="Shape 51"/>
          <p:cNvSpPr/>
          <p:nvPr/>
        </p:nvSpPr>
        <p:spPr>
          <a:xfrm>
            <a:off x="9910400" y="2514600"/>
            <a:ext cx="960120" cy="960120"/>
          </a:xfrm>
          <a:prstGeom prst="ellipse">
            <a:avLst/>
          </a:prstGeom>
          <a:solidFill>
            <a:srgbClr val="5B3FC4"/>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54" name="Text 52"/>
          <p:cNvSpPr/>
          <p:nvPr/>
        </p:nvSpPr>
        <p:spPr>
          <a:xfrm>
            <a:off x="9910400"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P4</a:t>
            </a:r>
            <a:endParaRPr lang="en-US" sz="2200" dirty="0"/>
          </a:p>
        </p:txBody>
      </p:sp>
      <p:sp>
        <p:nvSpPr>
          <p:cNvPr id="55" name="Text 53"/>
          <p:cNvSpPr/>
          <p:nvPr/>
        </p:nvSpPr>
        <p:spPr>
          <a:xfrm>
            <a:off x="9339033" y="3602736"/>
            <a:ext cx="2102855" cy="274320"/>
          </a:xfrm>
          <a:prstGeom prst="rect">
            <a:avLst/>
          </a:prstGeom>
          <a:noFill/>
          <a:ln/>
        </p:spPr>
        <p:txBody>
          <a:bodyPr wrap="square" lIns="0" tIns="0" rIns="0" bIns="0" rtlCol="0" anchor="t">
            <a:normAutofit/>
          </a:bodyPr>
          <a:lstStyle/>
          <a:p>
            <a:pPr algn="ctr" indent="0" marL="0">
              <a:buNone/>
            </a:pPr>
            <a:r>
              <a:rPr lang="en-US" sz="1250" b="1" dirty="0">
                <a:solidFill>
                  <a:srgbClr val="0B1A3C"/>
                </a:solidFill>
                <a:latin typeface="Segoe UI" pitchFamily="34" charset="0"/>
                <a:ea typeface="Segoe UI" pitchFamily="34" charset="-122"/>
                <a:cs typeface="Segoe UI" pitchFamily="34" charset="-120"/>
              </a:rPr>
              <a:t>Participante 4</a:t>
            </a:r>
            <a:endParaRPr lang="en-US" sz="1250" dirty="0"/>
          </a:p>
        </p:txBody>
      </p:sp>
      <p:sp>
        <p:nvSpPr>
          <p:cNvPr id="56" name="Text 54"/>
          <p:cNvSpPr/>
          <p:nvPr/>
        </p:nvSpPr>
        <p:spPr>
          <a:xfrm>
            <a:off x="9412185" y="3931920"/>
            <a:ext cx="1956551" cy="310896"/>
          </a:xfrm>
          <a:prstGeom prst="roundRect">
            <a:avLst>
              <a:gd name="adj" fmla="val 50000"/>
            </a:avLst>
          </a:prstGeom>
          <a:solidFill>
            <a:srgbClr val="F1EEFD"/>
          </a:solidFill>
          <a:ln>
            <a:solidFill>
              <a:srgbClr val="F1EEFD"/>
            </a:solidFill>
          </a:ln>
        </p:spPr>
        <p:txBody>
          <a:bodyPr wrap="square" lIns="0" tIns="50800" rIns="50800" bIns="0" rtlCol="0" anchor="ctr">
            <a:normAutofit/>
          </a:bodyPr>
          <a:lstStyle/>
          <a:p>
            <a:pPr algn="ctr" indent="0" marL="0">
              <a:buNone/>
            </a:pPr>
            <a:r>
              <a:rPr lang="en-US" sz="1050" b="1" dirty="0">
                <a:solidFill>
                  <a:srgbClr val="5B3FC4"/>
                </a:solidFill>
                <a:latin typeface="Segoe UI" pitchFamily="34" charset="0"/>
                <a:ea typeface="Segoe UI" pitchFamily="34" charset="-122"/>
                <a:cs typeface="Segoe UI" pitchFamily="34" charset="-120"/>
              </a:rPr>
              <a:t>Datos</a:t>
            </a:r>
            <a:endParaRPr lang="en-US" sz="1050" dirty="0"/>
          </a:p>
        </p:txBody>
      </p:sp>
      <p:sp>
        <p:nvSpPr>
          <p:cNvPr id="57" name="Text 55"/>
          <p:cNvSpPr/>
          <p:nvPr/>
        </p:nvSpPr>
        <p:spPr>
          <a:xfrm>
            <a:off x="9393897" y="4343400"/>
            <a:ext cx="199312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la base de datos, la consistencia y la idempotencia.</a:t>
            </a:r>
            <a:endParaRPr lang="en-US" sz="10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ARKA-Lite</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Registra solicitudes y avisa cuando se envían.</a:t>
            </a:r>
            <a:endParaRPr lang="en-US" sz="3200" dirty="0"/>
          </a:p>
        </p:txBody>
      </p:sp>
      <p:sp>
        <p:nvSpPr>
          <p:cNvPr id="7" name="Shape 5"/>
          <p:cNvSpPr/>
          <p:nvPr/>
        </p:nvSpPr>
        <p:spPr>
          <a:xfrm>
            <a:off x="612648" y="4507992"/>
            <a:ext cx="5257800" cy="1188720"/>
          </a:xfrm>
          <a:prstGeom prst="roundRect">
            <a:avLst>
              <a:gd name="adj" fmla="val 9231"/>
            </a:avLst>
          </a:prstGeom>
          <a:solidFill>
            <a:srgbClr val="E3F4FA"/>
          </a:solidFill>
          <a:ln w="12700">
            <a:solidFill>
              <a:srgbClr val="8ACEE2"/>
            </a:solidFill>
            <a:prstDash val="solid"/>
          </a:ln>
        </p:spPr>
      </p:sp>
      <p:sp>
        <p:nvSpPr>
          <p:cNvPr id="8" name="Shape 6"/>
          <p:cNvSpPr/>
          <p:nvPr/>
        </p:nvSpPr>
        <p:spPr>
          <a:xfrm>
            <a:off x="795528" y="4800600"/>
            <a:ext cx="603504" cy="603504"/>
          </a:xfrm>
          <a:prstGeom prst="ellipse">
            <a:avLst/>
          </a:prstGeom>
          <a:solidFill>
            <a:srgbClr val="FFFFFF"/>
          </a:solidFill>
          <a:ln w="12700">
            <a:solidFill>
              <a:srgbClr val="FFFFFF"/>
            </a:solidFill>
            <a:prstDash val="solid"/>
          </a:ln>
        </p:spPr>
      </p:sp>
      <p:sp>
        <p:nvSpPr>
          <p:cNvPr id="9" name="Icono mailbox"/>
          <p:cNvSpPr/>
          <p:nvPr/>
        </p:nvSpPr>
        <p:spPr>
          <a:xfrm>
            <a:off x="940369" y="4945441"/>
            <a:ext cx="313822" cy="313822"/>
          </a:xfrm>
          <a:custGeom>
            <a:avLst/>
            <a:gdLst/>
            <a:ahLst/>
            <a:cxnLst/>
            <a:rect l="l" t="t" r="r" b="b"/>
            <a:pathLst>
              <a:path w="313822" h="313822">
                <a:moveTo>
                  <a:pt x="287670" y="222291"/>
                </a:moveTo>
                <a:cubicBezTo>
                  <a:pt x="287670" y="236734"/>
                  <a:pt x="275962" y="248442"/>
                  <a:pt x="261518" y="248442"/>
                </a:cubicBezTo>
                <a:lnTo>
                  <a:pt x="52304" y="248442"/>
                </a:lnTo>
                <a:cubicBezTo>
                  <a:pt x="37860" y="248442"/>
                  <a:pt x="26152" y="236734"/>
                  <a:pt x="26152" y="222291"/>
                </a:cubicBezTo>
                <a:lnTo>
                  <a:pt x="26152" y="124221"/>
                </a:lnTo>
                <a:cubicBezTo>
                  <a:pt x="26152" y="91531"/>
                  <a:pt x="52304" y="65380"/>
                  <a:pt x="84993" y="65380"/>
                </a:cubicBezTo>
                <a:lnTo>
                  <a:pt x="235367" y="65380"/>
                </a:lnTo>
                <a:cubicBezTo>
                  <a:pt x="264134" y="65380"/>
                  <a:pt x="287670" y="88916"/>
                  <a:pt x="287670" y="117683"/>
                </a:cubicBezTo>
                <a:lnTo>
                  <a:pt x="287670" y="222291"/>
                </a:lnTo>
                <a:close/>
                <a:moveTo>
                  <a:pt x="196139" y="117683"/>
                </a:moveTo>
                <a:lnTo>
                  <a:pt x="235367" y="117683"/>
                </a:lnTo>
                <a:lnTo>
                  <a:pt x="235367" y="143835"/>
                </a:lnTo>
                <a:moveTo>
                  <a:pt x="84993" y="65380"/>
                </a:moveTo>
                <a:cubicBezTo>
                  <a:pt x="117683" y="65380"/>
                  <a:pt x="143835" y="91531"/>
                  <a:pt x="143835" y="124221"/>
                </a:cubicBezTo>
                <a:lnTo>
                  <a:pt x="143835" y="222291"/>
                </a:lnTo>
                <a:cubicBezTo>
                  <a:pt x="143835" y="236734"/>
                  <a:pt x="132127" y="248442"/>
                  <a:pt x="117683" y="248442"/>
                </a:cubicBezTo>
                <a:moveTo>
                  <a:pt x="78456" y="130759"/>
                </a:moveTo>
                <a:lnTo>
                  <a:pt x="91531" y="130759"/>
                </a:lnTo>
              </a:path>
            </a:pathLst>
          </a:custGeom>
          <a:noFill/>
          <a:ln w="26152" cap="rnd">
            <a:solidFill>
              <a:srgbClr val="0B6E8A"/>
            </a:solidFill>
            <a:prstDash val="solid"/>
            <a:round/>
          </a:ln>
        </p:spPr>
      </p:sp>
      <p:sp>
        <p:nvSpPr>
          <p:cNvPr id="10" name="Text 8"/>
          <p:cNvSpPr/>
          <p:nvPr/>
        </p:nvSpPr>
        <p:spPr>
          <a:xfrm>
            <a:off x="1563624" y="4581144"/>
            <a:ext cx="415137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una ventanilla y un buzón: la ventanilla recibe el trámite y el buzón te avisa cuando avanzó.</a:t>
            </a:r>
            <a:endParaRPr lang="en-US" sz="1450" dirty="0"/>
          </a:p>
        </p:txBody>
      </p:sp>
      <p:sp>
        <p:nvSpPr>
          <p:cNvPr id="11" name="Shape 9"/>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6437376" y="1659636"/>
            <a:ext cx="566928" cy="566928"/>
          </a:xfrm>
          <a:prstGeom prst="ellipse">
            <a:avLst/>
          </a:prstGeom>
          <a:solidFill>
            <a:srgbClr val="0B2350"/>
          </a:solidFill>
          <a:ln w="12700">
            <a:solidFill>
              <a:srgbClr val="0B2350"/>
            </a:solidFill>
            <a:prstDash val="solid"/>
          </a:ln>
        </p:spPr>
      </p:sp>
      <p:sp>
        <p:nvSpPr>
          <p:cNvPr id="13" name="Icono clipboard-list"/>
          <p:cNvSpPr/>
          <p:nvPr/>
        </p:nvSpPr>
        <p:spPr>
          <a:xfrm>
            <a:off x="6573439" y="1795699"/>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FFFFFF"/>
            </a:solidFill>
            <a:prstDash val="solid"/>
            <a:round/>
          </a:ln>
        </p:spPr>
      </p:sp>
      <p:sp>
        <p:nvSpPr>
          <p:cNvPr id="14" name="Text 12"/>
          <p:cNvSpPr/>
          <p:nvPr/>
        </p:nvSpPr>
        <p:spPr>
          <a:xfrm>
            <a:off x="7150608" y="1417320"/>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Solicitudes: crea solicitudes y cambia su estado</a:t>
            </a:r>
            <a:endParaRPr lang="en-US" sz="1600" dirty="0"/>
          </a:p>
        </p:txBody>
      </p:sp>
      <p:sp>
        <p:nvSpPr>
          <p:cNvPr id="15" name="Shape 13"/>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437376" y="2857500"/>
            <a:ext cx="566928" cy="566928"/>
          </a:xfrm>
          <a:prstGeom prst="ellipse">
            <a:avLst/>
          </a:prstGeom>
          <a:solidFill>
            <a:srgbClr val="0B6E8A"/>
          </a:solidFill>
          <a:ln w="12700">
            <a:solidFill>
              <a:srgbClr val="0B6E8A"/>
            </a:solidFill>
            <a:prstDash val="solid"/>
          </a:ln>
        </p:spPr>
      </p:sp>
      <p:sp>
        <p:nvSpPr>
          <p:cNvPr id="17" name="Icono bell"/>
          <p:cNvSpPr/>
          <p:nvPr/>
        </p:nvSpPr>
        <p:spPr>
          <a:xfrm>
            <a:off x="6573439" y="2993563"/>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FFFFFF"/>
            </a:solidFill>
            <a:prstDash val="solid"/>
            <a:round/>
          </a:ln>
        </p:spPr>
      </p:sp>
      <p:sp>
        <p:nvSpPr>
          <p:cNvPr id="18" name="Text 16"/>
          <p:cNvSpPr/>
          <p:nvPr/>
        </p:nvSpPr>
        <p:spPr>
          <a:xfrm>
            <a:off x="7150608" y="2615184"/>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Notificaciones: crea un aviso cuando una solicitud se envía</a:t>
            </a:r>
            <a:endParaRPr lang="en-US" sz="1600" dirty="0"/>
          </a:p>
        </p:txBody>
      </p:sp>
      <p:sp>
        <p:nvSpPr>
          <p:cNvPr id="19" name="Shape 17"/>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437376" y="4055364"/>
            <a:ext cx="566928" cy="566928"/>
          </a:xfrm>
          <a:prstGeom prst="ellipse">
            <a:avLst/>
          </a:prstGeom>
          <a:solidFill>
            <a:srgbClr val="0A6648"/>
          </a:solidFill>
          <a:ln w="12700">
            <a:solidFill>
              <a:srgbClr val="0A6648"/>
            </a:solidFill>
            <a:prstDash val="solid"/>
          </a:ln>
        </p:spPr>
      </p:sp>
      <p:sp>
        <p:nvSpPr>
          <p:cNvPr id="21" name="Icono monitor"/>
          <p:cNvSpPr/>
          <p:nvPr/>
        </p:nvSpPr>
        <p:spPr>
          <a:xfrm>
            <a:off x="6573439" y="4191427"/>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FFFFFF"/>
            </a:solidFill>
            <a:prstDash val="solid"/>
            <a:round/>
          </a:ln>
        </p:spPr>
      </p:sp>
      <p:sp>
        <p:nvSpPr>
          <p:cNvPr id="22" name="Text 20"/>
          <p:cNvSpPr/>
          <p:nvPr/>
        </p:nvSpPr>
        <p:spPr>
          <a:xfrm>
            <a:off x="7150608" y="3813048"/>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interfaz web: permite usar y entender los dos</a:t>
            </a:r>
            <a:endParaRPr lang="en-US" sz="1600" dirty="0"/>
          </a:p>
        </p:txBody>
      </p:sp>
      <p:sp>
        <p:nvSpPr>
          <p:cNvPr id="23" name="Shape 21"/>
          <p:cNvSpPr/>
          <p:nvPr/>
        </p:nvSpPr>
        <p:spPr>
          <a:xfrm>
            <a:off x="0" y="5961888"/>
            <a:ext cx="12191695" cy="475488"/>
          </a:xfrm>
          <a:prstGeom prst="rect">
            <a:avLst/>
          </a:prstGeom>
          <a:solidFill>
            <a:srgbClr val="0B2350"/>
          </a:solidFill>
          <a:ln w="12700">
            <a:solidFill>
              <a:srgbClr val="0B2350"/>
            </a:solidFill>
            <a:prstDash val="solid"/>
          </a:ln>
        </p:spPr>
      </p:sp>
      <p:sp>
        <p:nvSpPr>
          <p:cNvPr id="24"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25" name="Text 23"/>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Dos servicios con tareas distintas: así pudimos practicar todo lo que trae trabajar con microservicios.</a:t>
            </a:r>
            <a:endParaRPr lang="en-US" sz="1400" dirty="0"/>
          </a:p>
        </p:txBody>
      </p:sp>
      <p:sp>
        <p:nvSpPr>
          <p:cNvPr id="26" name="Text 2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sistema pequeño, pero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con Java 26, cada uno con su base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8 en solicitudes y 3 en notificaciones, documentados con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B6E8A"/>
          </a:solidFill>
          <a:ln w="12700">
            <a:solidFill>
              <a:srgbClr val="0B6E8A"/>
            </a:solidFill>
            <a:prstDash val="solid"/>
          </a:ln>
        </p:spPr>
      </p:sp>
      <p:sp>
        <p:nvSpPr>
          <p:cNvPr id="22" name="Shape 20"/>
          <p:cNvSpPr/>
          <p:nvPr/>
        </p:nvSpPr>
        <p:spPr>
          <a:xfrm>
            <a:off x="10792663" y="1956816"/>
            <a:ext cx="566928" cy="566928"/>
          </a:xfrm>
          <a:prstGeom prst="ellipse">
            <a:avLst/>
          </a:prstGeom>
          <a:solidFill>
            <a:srgbClr val="E3F4FA"/>
          </a:solidFill>
          <a:ln w="12700">
            <a:solidFill>
              <a:srgbClr val="E3F4FA"/>
            </a:solidFill>
            <a:prstDash val="solid"/>
          </a:ln>
        </p:spPr>
      </p:sp>
      <p:sp>
        <p:nvSpPr>
          <p:cNvPr id="23" name="Icono container"/>
          <p:cNvSpPr/>
          <p:nvPr/>
        </p:nvSpPr>
        <p:spPr>
          <a:xfrm>
            <a:off x="10928726" y="209287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interfaz y logs, con un solo comando.</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A6648"/>
          </a:solidFill>
          <a:ln w="12700">
            <a:solidFill>
              <a:srgbClr val="0A6648"/>
            </a:solidFill>
            <a:prstDash val="solid"/>
          </a:ln>
        </p:spPr>
      </p:sp>
      <p:sp>
        <p:nvSpPr>
          <p:cNvPr id="29" name="Shape 27"/>
          <p:cNvSpPr/>
          <p:nvPr/>
        </p:nvSpPr>
        <p:spPr>
          <a:xfrm>
            <a:off x="3335426" y="4384548"/>
            <a:ext cx="566928" cy="566928"/>
          </a:xfrm>
          <a:prstGeom prst="ellipse">
            <a:avLst/>
          </a:prstGeom>
          <a:solidFill>
            <a:srgbClr val="E1F1EA"/>
          </a:solidFill>
          <a:ln w="12700">
            <a:solidFill>
              <a:srgbClr val="E1F1EA"/>
            </a:solidFill>
            <a:prstDash val="solid"/>
          </a:ln>
        </p:spPr>
      </p:sp>
      <p:sp>
        <p:nvSpPr>
          <p:cNvPr id="30" name="Icono flask-conical"/>
          <p:cNvSpPr/>
          <p:nvPr/>
        </p:nvSpPr>
        <p:spPr>
          <a:xfrm>
            <a:off x="3471489" y="4520611"/>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y 29 en la interfaz.</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Cada cinco segundos se entregan los avisos pendientes.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avisos duplicados</a:t>
            </a:r>
            <a:endParaRPr lang="en-US" sz="150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un evento llegue dos veces, se crea un solo aviso.</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vamos a recorrerlo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Siete partes, en el orden en que se construye el sistema.</a:t>
            </a:r>
            <a:endParaRPr lang="en-US" sz="1700" dirty="0"/>
          </a:p>
        </p:txBody>
      </p:sp>
      <p:sp>
        <p:nvSpPr>
          <p:cNvPr id="6" name="Shape 4"/>
          <p:cNvSpPr/>
          <p:nvPr/>
        </p:nvSpPr>
        <p:spPr>
          <a:xfrm>
            <a:off x="1395962" y="2519172"/>
            <a:ext cx="9399771" cy="0"/>
          </a:xfrm>
          <a:prstGeom prst="line">
            <a:avLst/>
          </a:prstGeom>
          <a:noFill/>
          <a:ln w="50800">
            <a:solidFill>
              <a:srgbClr val="75C5DD"/>
            </a:solidFill>
            <a:prstDash val="solid"/>
          </a:ln>
        </p:spPr>
      </p:sp>
      <p:sp>
        <p:nvSpPr>
          <p:cNvPr id="7" name="Shape 5"/>
          <p:cNvSpPr/>
          <p:nvPr/>
        </p:nvSpPr>
        <p:spPr>
          <a:xfrm>
            <a:off x="915902"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map"/>
          <p:cNvSpPr/>
          <p:nvPr/>
        </p:nvSpPr>
        <p:spPr>
          <a:xfrm>
            <a:off x="1155932" y="2279142"/>
            <a:ext cx="480060" cy="480060"/>
          </a:xfrm>
          <a:custGeom>
            <a:avLst/>
            <a:gdLst/>
            <a:ahLst/>
            <a:cxnLst/>
            <a:rect l="l" t="t" r="r" b="b"/>
            <a:pathLst>
              <a:path w="480060" h="480060">
                <a:moveTo>
                  <a:pt x="282155" y="111074"/>
                </a:moveTo>
                <a:cubicBezTo>
                  <a:pt x="293413" y="116699"/>
                  <a:pt x="306662" y="116699"/>
                  <a:pt x="317920" y="111074"/>
                </a:cubicBezTo>
                <a:lnTo>
                  <a:pt x="391109" y="74469"/>
                </a:lnTo>
                <a:cubicBezTo>
                  <a:pt x="397314" y="71369"/>
                  <a:pt x="404683" y="71704"/>
                  <a:pt x="410580" y="75356"/>
                </a:cubicBezTo>
                <a:cubicBezTo>
                  <a:pt x="416478" y="79008"/>
                  <a:pt x="420063" y="85455"/>
                  <a:pt x="420053" y="92392"/>
                </a:cubicBezTo>
                <a:lnTo>
                  <a:pt x="420053" y="347703"/>
                </a:lnTo>
                <a:cubicBezTo>
                  <a:pt x="420048" y="355278"/>
                  <a:pt x="415767" y="362200"/>
                  <a:pt x="408991" y="365586"/>
                </a:cubicBezTo>
                <a:lnTo>
                  <a:pt x="317920" y="411131"/>
                </a:lnTo>
                <a:cubicBezTo>
                  <a:pt x="306662" y="416757"/>
                  <a:pt x="293413" y="416757"/>
                  <a:pt x="282155" y="411131"/>
                </a:cubicBezTo>
                <a:lnTo>
                  <a:pt x="197905" y="369006"/>
                </a:lnTo>
                <a:cubicBezTo>
                  <a:pt x="186647" y="363381"/>
                  <a:pt x="173398" y="363381"/>
                  <a:pt x="162140" y="369006"/>
                </a:cubicBezTo>
                <a:lnTo>
                  <a:pt x="88951" y="405611"/>
                </a:lnTo>
                <a:cubicBezTo>
                  <a:pt x="82743" y="408713"/>
                  <a:pt x="75370" y="408375"/>
                  <a:pt x="69471" y="404719"/>
                </a:cubicBezTo>
                <a:cubicBezTo>
                  <a:pt x="63572" y="401062"/>
                  <a:pt x="59990" y="394609"/>
                  <a:pt x="60008" y="387668"/>
                </a:cubicBezTo>
                <a:lnTo>
                  <a:pt x="60008" y="132377"/>
                </a:lnTo>
                <a:cubicBezTo>
                  <a:pt x="60012" y="124802"/>
                  <a:pt x="64293" y="117880"/>
                  <a:pt x="71069" y="114494"/>
                </a:cubicBezTo>
                <a:lnTo>
                  <a:pt x="162140" y="68949"/>
                </a:lnTo>
                <a:cubicBezTo>
                  <a:pt x="173398" y="63323"/>
                  <a:pt x="186647" y="63323"/>
                  <a:pt x="197905" y="68949"/>
                </a:cubicBezTo>
                <a:close/>
                <a:moveTo>
                  <a:pt x="300038" y="115294"/>
                </a:moveTo>
                <a:lnTo>
                  <a:pt x="300038" y="415332"/>
                </a:lnTo>
                <a:moveTo>
                  <a:pt x="180023" y="64728"/>
                </a:moveTo>
                <a:lnTo>
                  <a:pt x="180023" y="364766"/>
                </a:lnTo>
              </a:path>
            </a:pathLst>
          </a:custGeom>
          <a:noFill/>
          <a:ln w="40005" cap="rnd">
            <a:solidFill>
              <a:srgbClr val="FFFFFF"/>
            </a:solidFill>
            <a:prstDash val="solid"/>
            <a:round/>
          </a:ln>
        </p:spPr>
      </p:sp>
      <p:sp>
        <p:nvSpPr>
          <p:cNvPr id="9" name="Text 7"/>
          <p:cNvSpPr/>
          <p:nvPr/>
        </p:nvSpPr>
        <p:spPr>
          <a:xfrm>
            <a:off x="1568784"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1</a:t>
            </a:r>
            <a:endParaRPr lang="en-US" sz="1200" dirty="0"/>
          </a:p>
        </p:txBody>
      </p:sp>
      <p:sp>
        <p:nvSpPr>
          <p:cNvPr id="10" name="Text 8"/>
          <p:cNvSpPr/>
          <p:nvPr/>
        </p:nvSpPr>
        <p:spPr>
          <a:xfrm>
            <a:off x="667512"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El sistema por fuera</a:t>
            </a:r>
            <a:endParaRPr lang="en-US" sz="1400" dirty="0"/>
          </a:p>
        </p:txBody>
      </p:sp>
      <p:sp>
        <p:nvSpPr>
          <p:cNvPr id="11" name="Text 9"/>
          <p:cNvSpPr/>
          <p:nvPr/>
        </p:nvSpPr>
        <p:spPr>
          <a:xfrm>
            <a:off x="685800"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Visión general · Arquitectura · Microservicios</a:t>
            </a:r>
            <a:endParaRPr lang="en-US" sz="1050" dirty="0"/>
          </a:p>
        </p:txBody>
      </p:sp>
      <p:sp>
        <p:nvSpPr>
          <p:cNvPr id="12" name="Text 10"/>
          <p:cNvSpPr/>
          <p:nvPr/>
        </p:nvSpPr>
        <p:spPr>
          <a:xfrm>
            <a:off x="740664"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P1 · Desarrollo</a:t>
            </a:r>
            <a:endParaRPr lang="en-US" sz="1050" dirty="0"/>
          </a:p>
        </p:txBody>
      </p:sp>
      <p:sp>
        <p:nvSpPr>
          <p:cNvPr id="13" name="Shape 11"/>
          <p:cNvSpPr/>
          <p:nvPr/>
        </p:nvSpPr>
        <p:spPr>
          <a:xfrm>
            <a:off x="2482531"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code"/>
          <p:cNvSpPr/>
          <p:nvPr/>
        </p:nvSpPr>
        <p:spPr>
          <a:xfrm>
            <a:off x="2722561" y="2279142"/>
            <a:ext cx="480060" cy="480060"/>
          </a:xfrm>
          <a:custGeom>
            <a:avLst/>
            <a:gdLst/>
            <a:ahLst/>
            <a:cxnLst/>
            <a:rect l="l" t="t" r="r" b="b"/>
            <a:pathLst>
              <a:path w="480060" h="480060">
                <a:moveTo>
                  <a:pt x="320040" y="360045"/>
                </a:moveTo>
                <a:lnTo>
                  <a:pt x="440055" y="240030"/>
                </a:lnTo>
                <a:lnTo>
                  <a:pt x="320040" y="120015"/>
                </a:lnTo>
                <a:moveTo>
                  <a:pt x="160020" y="120015"/>
                </a:moveTo>
                <a:lnTo>
                  <a:pt x="40005" y="240030"/>
                </a:lnTo>
                <a:lnTo>
                  <a:pt x="160020" y="360045"/>
                </a:lnTo>
              </a:path>
            </a:pathLst>
          </a:custGeom>
          <a:noFill/>
          <a:ln w="40005" cap="rnd">
            <a:solidFill>
              <a:srgbClr val="FFFFFF"/>
            </a:solidFill>
            <a:prstDash val="solid"/>
            <a:round/>
          </a:ln>
        </p:spPr>
      </p:sp>
      <p:sp>
        <p:nvSpPr>
          <p:cNvPr id="15" name="Text 13"/>
          <p:cNvSpPr/>
          <p:nvPr/>
        </p:nvSpPr>
        <p:spPr>
          <a:xfrm>
            <a:off x="3135412"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2</a:t>
            </a:r>
            <a:endParaRPr lang="en-US" sz="1200" dirty="0"/>
          </a:p>
        </p:txBody>
      </p:sp>
      <p:sp>
        <p:nvSpPr>
          <p:cNvPr id="16" name="Text 14"/>
          <p:cNvSpPr/>
          <p:nvPr/>
        </p:nvSpPr>
        <p:spPr>
          <a:xfrm>
            <a:off x="2234140"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Construir un servicio</a:t>
            </a:r>
            <a:endParaRPr lang="en-US" sz="1400" dirty="0"/>
          </a:p>
        </p:txBody>
      </p:sp>
      <p:sp>
        <p:nvSpPr>
          <p:cNvPr id="17" name="Text 15"/>
          <p:cNvSpPr/>
          <p:nvPr/>
        </p:nvSpPr>
        <p:spPr>
          <a:xfrm>
            <a:off x="2252428"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Spring Boot · Endpoints REST · Manejo global de errores</a:t>
            </a:r>
            <a:endParaRPr lang="en-US" sz="1050" dirty="0"/>
          </a:p>
        </p:txBody>
      </p:sp>
      <p:sp>
        <p:nvSpPr>
          <p:cNvPr id="18" name="Text 16"/>
          <p:cNvSpPr/>
          <p:nvPr/>
        </p:nvSpPr>
        <p:spPr>
          <a:xfrm>
            <a:off x="2307292"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P2 · Desarrollo</a:t>
            </a:r>
            <a:endParaRPr lang="en-US" sz="1050" dirty="0"/>
          </a:p>
        </p:txBody>
      </p:sp>
      <p:sp>
        <p:nvSpPr>
          <p:cNvPr id="19" name="Shape 17"/>
          <p:cNvSpPr/>
          <p:nvPr/>
        </p:nvSpPr>
        <p:spPr>
          <a:xfrm>
            <a:off x="4049159"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puzzle"/>
          <p:cNvSpPr/>
          <p:nvPr/>
        </p:nvSpPr>
        <p:spPr>
          <a:xfrm>
            <a:off x="4289189" y="2279142"/>
            <a:ext cx="480060" cy="480060"/>
          </a:xfrm>
          <a:custGeom>
            <a:avLst/>
            <a:gdLst/>
            <a:ahLst/>
            <a:cxnLst/>
            <a:rect l="l" t="t" r="r" b="b"/>
            <a:pathLst>
              <a:path w="480060" h="480060">
                <a:moveTo>
                  <a:pt x="307838" y="87811"/>
                </a:moveTo>
                <a:cubicBezTo>
                  <a:pt x="312958" y="92936"/>
                  <a:pt x="320449" y="94892"/>
                  <a:pt x="327421" y="92925"/>
                </a:cubicBezTo>
                <a:cubicBezTo>
                  <a:pt x="334393" y="90958"/>
                  <a:pt x="339757" y="85375"/>
                  <a:pt x="341443" y="78330"/>
                </a:cubicBezTo>
                <a:cubicBezTo>
                  <a:pt x="347188" y="54412"/>
                  <a:pt x="369475" y="38225"/>
                  <a:pt x="393997" y="40159"/>
                </a:cubicBezTo>
                <a:cubicBezTo>
                  <a:pt x="418519" y="42093"/>
                  <a:pt x="437993" y="61573"/>
                  <a:pt x="439918" y="86096"/>
                </a:cubicBezTo>
                <a:cubicBezTo>
                  <a:pt x="441844" y="110618"/>
                  <a:pt x="425650" y="132900"/>
                  <a:pt x="401730" y="138637"/>
                </a:cubicBezTo>
                <a:cubicBezTo>
                  <a:pt x="394685" y="140323"/>
                  <a:pt x="389102" y="145687"/>
                  <a:pt x="387135" y="152659"/>
                </a:cubicBezTo>
                <a:cubicBezTo>
                  <a:pt x="385168" y="159631"/>
                  <a:pt x="387124" y="167122"/>
                  <a:pt x="392249" y="172242"/>
                </a:cubicBezTo>
                <a:lnTo>
                  <a:pt x="425913" y="205886"/>
                </a:lnTo>
                <a:cubicBezTo>
                  <a:pt x="434969" y="214941"/>
                  <a:pt x="440057" y="227223"/>
                  <a:pt x="440057" y="240030"/>
                </a:cubicBezTo>
                <a:cubicBezTo>
                  <a:pt x="440057" y="252837"/>
                  <a:pt x="434969" y="265119"/>
                  <a:pt x="425913" y="274174"/>
                </a:cubicBezTo>
                <a:lnTo>
                  <a:pt x="392249" y="307838"/>
                </a:lnTo>
                <a:cubicBezTo>
                  <a:pt x="387129" y="312963"/>
                  <a:pt x="379638" y="314920"/>
                  <a:pt x="372666" y="312953"/>
                </a:cubicBezTo>
                <a:cubicBezTo>
                  <a:pt x="365694" y="310986"/>
                  <a:pt x="360331" y="305403"/>
                  <a:pt x="358645" y="298357"/>
                </a:cubicBezTo>
                <a:cubicBezTo>
                  <a:pt x="352899" y="274440"/>
                  <a:pt x="330612" y="258253"/>
                  <a:pt x="306091" y="260187"/>
                </a:cubicBezTo>
                <a:cubicBezTo>
                  <a:pt x="281569" y="262120"/>
                  <a:pt x="262095" y="281601"/>
                  <a:pt x="260169" y="306123"/>
                </a:cubicBezTo>
                <a:cubicBezTo>
                  <a:pt x="258243" y="330646"/>
                  <a:pt x="274438" y="352927"/>
                  <a:pt x="298357" y="358665"/>
                </a:cubicBezTo>
                <a:cubicBezTo>
                  <a:pt x="305403" y="360351"/>
                  <a:pt x="310986" y="365714"/>
                  <a:pt x="312953" y="372686"/>
                </a:cubicBezTo>
                <a:cubicBezTo>
                  <a:pt x="314920" y="379658"/>
                  <a:pt x="312963" y="387149"/>
                  <a:pt x="307838" y="392269"/>
                </a:cubicBezTo>
                <a:lnTo>
                  <a:pt x="274174" y="425913"/>
                </a:lnTo>
                <a:cubicBezTo>
                  <a:pt x="265119" y="434969"/>
                  <a:pt x="252837" y="440057"/>
                  <a:pt x="240030" y="440057"/>
                </a:cubicBezTo>
                <a:cubicBezTo>
                  <a:pt x="227223" y="440057"/>
                  <a:pt x="214941" y="434969"/>
                  <a:pt x="205886" y="425913"/>
                </a:cubicBezTo>
                <a:lnTo>
                  <a:pt x="172222" y="392249"/>
                </a:lnTo>
                <a:cubicBezTo>
                  <a:pt x="167102" y="387124"/>
                  <a:pt x="159611" y="385168"/>
                  <a:pt x="152639" y="387135"/>
                </a:cubicBezTo>
                <a:cubicBezTo>
                  <a:pt x="145667" y="389102"/>
                  <a:pt x="140303" y="394685"/>
                  <a:pt x="138617" y="401730"/>
                </a:cubicBezTo>
                <a:cubicBezTo>
                  <a:pt x="132872" y="425648"/>
                  <a:pt x="110585" y="441835"/>
                  <a:pt x="86063" y="439901"/>
                </a:cubicBezTo>
                <a:cubicBezTo>
                  <a:pt x="61541" y="437967"/>
                  <a:pt x="42067" y="418487"/>
                  <a:pt x="40142" y="393964"/>
                </a:cubicBezTo>
                <a:cubicBezTo>
                  <a:pt x="38216" y="369442"/>
                  <a:pt x="54410" y="347160"/>
                  <a:pt x="78330" y="341423"/>
                </a:cubicBezTo>
                <a:cubicBezTo>
                  <a:pt x="85375" y="339737"/>
                  <a:pt x="90958" y="334373"/>
                  <a:pt x="92925" y="327401"/>
                </a:cubicBezTo>
                <a:cubicBezTo>
                  <a:pt x="94892" y="320429"/>
                  <a:pt x="92936" y="312938"/>
                  <a:pt x="87811" y="307818"/>
                </a:cubicBezTo>
                <a:lnTo>
                  <a:pt x="54147" y="274174"/>
                </a:lnTo>
                <a:cubicBezTo>
                  <a:pt x="45091" y="265119"/>
                  <a:pt x="40003" y="252837"/>
                  <a:pt x="40003" y="240030"/>
                </a:cubicBezTo>
                <a:cubicBezTo>
                  <a:pt x="40003" y="227223"/>
                  <a:pt x="45091" y="214941"/>
                  <a:pt x="54147" y="205886"/>
                </a:cubicBezTo>
                <a:lnTo>
                  <a:pt x="87811" y="172222"/>
                </a:lnTo>
                <a:cubicBezTo>
                  <a:pt x="92931" y="167097"/>
                  <a:pt x="100422" y="165140"/>
                  <a:pt x="107394" y="167107"/>
                </a:cubicBezTo>
                <a:cubicBezTo>
                  <a:pt x="114366" y="169074"/>
                  <a:pt x="119729" y="174657"/>
                  <a:pt x="121415" y="181703"/>
                </a:cubicBezTo>
                <a:cubicBezTo>
                  <a:pt x="127161" y="205620"/>
                  <a:pt x="149448" y="221807"/>
                  <a:pt x="173969" y="219873"/>
                </a:cubicBezTo>
                <a:cubicBezTo>
                  <a:pt x="198491" y="217940"/>
                  <a:pt x="217965" y="198459"/>
                  <a:pt x="219891" y="173937"/>
                </a:cubicBezTo>
                <a:cubicBezTo>
                  <a:pt x="221817" y="149414"/>
                  <a:pt x="205622" y="127133"/>
                  <a:pt x="181703" y="121395"/>
                </a:cubicBezTo>
                <a:cubicBezTo>
                  <a:pt x="174657" y="119709"/>
                  <a:pt x="169074" y="114346"/>
                  <a:pt x="167107" y="107374"/>
                </a:cubicBezTo>
                <a:cubicBezTo>
                  <a:pt x="165140" y="100402"/>
                  <a:pt x="167097" y="92911"/>
                  <a:pt x="172222" y="87791"/>
                </a:cubicBezTo>
                <a:lnTo>
                  <a:pt x="205886" y="54147"/>
                </a:lnTo>
                <a:cubicBezTo>
                  <a:pt x="214941" y="45091"/>
                  <a:pt x="227223" y="40003"/>
                  <a:pt x="240030" y="40003"/>
                </a:cubicBezTo>
                <a:cubicBezTo>
                  <a:pt x="252837" y="40003"/>
                  <a:pt x="265119" y="45091"/>
                  <a:pt x="274174" y="54147"/>
                </a:cubicBezTo>
                <a:close/>
              </a:path>
            </a:pathLst>
          </a:custGeom>
          <a:noFill/>
          <a:ln w="40005" cap="rnd">
            <a:solidFill>
              <a:srgbClr val="FFFFFF"/>
            </a:solidFill>
            <a:prstDash val="solid"/>
            <a:round/>
          </a:ln>
        </p:spPr>
      </p:sp>
      <p:sp>
        <p:nvSpPr>
          <p:cNvPr id="21" name="Text 19"/>
          <p:cNvSpPr/>
          <p:nvPr/>
        </p:nvSpPr>
        <p:spPr>
          <a:xfrm>
            <a:off x="4702041"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3</a:t>
            </a:r>
            <a:endParaRPr lang="en-US" sz="1200" dirty="0"/>
          </a:p>
        </p:txBody>
      </p:sp>
      <p:sp>
        <p:nvSpPr>
          <p:cNvPr id="22" name="Text 20"/>
          <p:cNvSpPr/>
          <p:nvPr/>
        </p:nvSpPr>
        <p:spPr>
          <a:xfrm>
            <a:off x="3800769"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Diseñar para cambiar</a:t>
            </a:r>
            <a:endParaRPr lang="en-US" sz="1400" dirty="0"/>
          </a:p>
        </p:txBody>
      </p:sp>
      <p:sp>
        <p:nvSpPr>
          <p:cNvPr id="23" name="Text 21"/>
          <p:cNvSpPr/>
          <p:nvPr/>
        </p:nvSpPr>
        <p:spPr>
          <a:xfrm>
            <a:off x="3819057" y="3749040"/>
            <a:ext cx="1420324" cy="960120"/>
          </a:xfrm>
          <a:prstGeom prst="rect">
            <a:avLst/>
          </a:prstGeom>
          <a:noFill/>
          <a:ln/>
        </p:spPr>
        <p:txBody>
          <a:bodyPr wrap="square" lIns="0" tIns="0" rIns="0" bIns="0" rtlCol="0" anchor="t">
            <a:normAutofit/>
          </a:bodyPr>
          <a:lstStyle/>
          <a:p>
            <a:pPr algn="ctr" indent="0" marL="0">
              <a:buNone/>
            </a:pPr>
            <a:r>
              <a:rPr lang="en-US" sz="1000" dirty="0">
                <a:solidFill>
                  <a:srgbClr val="55627E"/>
                </a:solidFill>
                <a:latin typeface="Segoe UI" pitchFamily="34" charset="0"/>
                <a:ea typeface="Segoe UI" pitchFamily="34" charset="-122"/>
                <a:cs typeface="Segoe UI" pitchFamily="34" charset="-120"/>
              </a:rPr>
              <a:t>Puertos y adaptadores · Estructura base de ARKA-Lite · De monolito a microservicios</a:t>
            </a:r>
            <a:endParaRPr lang="en-US" sz="1000" dirty="0"/>
          </a:p>
        </p:txBody>
      </p:sp>
      <p:sp>
        <p:nvSpPr>
          <p:cNvPr id="24" name="Text 22"/>
          <p:cNvSpPr/>
          <p:nvPr/>
        </p:nvSpPr>
        <p:spPr>
          <a:xfrm>
            <a:off x="3873921"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P3 · Desarrollo</a:t>
            </a:r>
            <a:endParaRPr lang="en-US" sz="1050" dirty="0"/>
          </a:p>
        </p:txBody>
      </p:sp>
      <p:sp>
        <p:nvSpPr>
          <p:cNvPr id="25" name="Shape 23"/>
          <p:cNvSpPr/>
          <p:nvPr/>
        </p:nvSpPr>
        <p:spPr>
          <a:xfrm>
            <a:off x="5615788"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6" name="Icono database"/>
          <p:cNvSpPr/>
          <p:nvPr/>
        </p:nvSpPr>
        <p:spPr>
          <a:xfrm>
            <a:off x="5855818" y="2279142"/>
            <a:ext cx="480060" cy="480060"/>
          </a:xfrm>
          <a:custGeom>
            <a:avLst/>
            <a:gdLst/>
            <a:ahLst/>
            <a:cxnLst/>
            <a:rect l="l" t="t" r="r" b="b"/>
            <a:pathLst>
              <a:path w="480060" h="480060">
                <a:moveTo>
                  <a:pt x="420053" y="100013"/>
                </a:moveTo>
                <a:cubicBezTo>
                  <a:pt x="420053" y="133154"/>
                  <a:pt x="339454" y="160020"/>
                  <a:pt x="240030" y="160020"/>
                </a:cubicBezTo>
                <a:cubicBezTo>
                  <a:pt x="140606" y="160020"/>
                  <a:pt x="60008" y="133154"/>
                  <a:pt x="60008" y="100013"/>
                </a:cubicBezTo>
                <a:cubicBezTo>
                  <a:pt x="60008" y="66871"/>
                  <a:pt x="140606" y="40005"/>
                  <a:pt x="240030" y="40005"/>
                </a:cubicBezTo>
                <a:cubicBezTo>
                  <a:pt x="339454" y="40005"/>
                  <a:pt x="420053" y="66871"/>
                  <a:pt x="420053" y="100013"/>
                </a:cubicBezTo>
                <a:close/>
                <a:moveTo>
                  <a:pt x="60008" y="100013"/>
                </a:moveTo>
                <a:lnTo>
                  <a:pt x="60008" y="380048"/>
                </a:lnTo>
                <a:cubicBezTo>
                  <a:pt x="60008" y="413189"/>
                  <a:pt x="140606" y="440055"/>
                  <a:pt x="240030" y="440055"/>
                </a:cubicBezTo>
                <a:cubicBezTo>
                  <a:pt x="339454" y="440055"/>
                  <a:pt x="420053" y="413189"/>
                  <a:pt x="420053" y="380048"/>
                </a:cubicBezTo>
                <a:lnTo>
                  <a:pt x="420053" y="100013"/>
                </a:lnTo>
                <a:moveTo>
                  <a:pt x="60008" y="240030"/>
                </a:moveTo>
                <a:cubicBezTo>
                  <a:pt x="60008" y="273171"/>
                  <a:pt x="140606" y="300038"/>
                  <a:pt x="240030" y="300038"/>
                </a:cubicBezTo>
                <a:cubicBezTo>
                  <a:pt x="339454" y="300038"/>
                  <a:pt x="420053" y="273171"/>
                  <a:pt x="420053" y="240030"/>
                </a:cubicBezTo>
              </a:path>
            </a:pathLst>
          </a:custGeom>
          <a:noFill/>
          <a:ln w="40005" cap="rnd">
            <a:solidFill>
              <a:srgbClr val="FFFFFF"/>
            </a:solidFill>
            <a:prstDash val="solid"/>
            <a:round/>
          </a:ln>
        </p:spPr>
      </p:sp>
      <p:sp>
        <p:nvSpPr>
          <p:cNvPr id="27" name="Text 25"/>
          <p:cNvSpPr/>
          <p:nvPr/>
        </p:nvSpPr>
        <p:spPr>
          <a:xfrm>
            <a:off x="6268669"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4</a:t>
            </a:r>
            <a:endParaRPr lang="en-US" sz="1200" dirty="0"/>
          </a:p>
        </p:txBody>
      </p:sp>
      <p:sp>
        <p:nvSpPr>
          <p:cNvPr id="28" name="Text 26"/>
          <p:cNvSpPr/>
          <p:nvPr/>
        </p:nvSpPr>
        <p:spPr>
          <a:xfrm>
            <a:off x="5367397"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Guardar sin perder datos</a:t>
            </a:r>
            <a:endParaRPr lang="en-US" sz="1400" dirty="0"/>
          </a:p>
        </p:txBody>
      </p:sp>
      <p:sp>
        <p:nvSpPr>
          <p:cNvPr id="29" name="Text 27"/>
          <p:cNvSpPr/>
          <p:nvPr/>
        </p:nvSpPr>
        <p:spPr>
          <a:xfrm>
            <a:off x="5385685"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Modelado y consultas · Adaptador con base de datos real · El problema de la consistencia</a:t>
            </a:r>
            <a:endParaRPr lang="en-US" sz="1050" dirty="0"/>
          </a:p>
        </p:txBody>
      </p:sp>
      <p:sp>
        <p:nvSpPr>
          <p:cNvPr id="30" name="Text 28"/>
          <p:cNvSpPr/>
          <p:nvPr/>
        </p:nvSpPr>
        <p:spPr>
          <a:xfrm>
            <a:off x="5440549" y="5971032"/>
            <a:ext cx="1310596" cy="310896"/>
          </a:xfrm>
          <a:prstGeom prst="roundRect">
            <a:avLst>
              <a:gd name="adj" fmla="val 50000"/>
            </a:avLst>
          </a:prstGeom>
          <a:solidFill>
            <a:srgbClr val="F1EEFD"/>
          </a:solidFill>
          <a:ln>
            <a:solidFill>
              <a:srgbClr val="F1EEFD"/>
            </a:solidFill>
          </a:ln>
        </p:spPr>
        <p:txBody>
          <a:bodyPr wrap="square" lIns="0" tIns="0" rIns="0" bIns="0" rtlCol="0" anchor="ctr">
            <a:normAutofit/>
          </a:bodyPr>
          <a:lstStyle/>
          <a:p>
            <a:pPr algn="ctr" indent="0" marL="0">
              <a:buNone/>
            </a:pPr>
            <a:r>
              <a:rPr lang="en-US" sz="1050" b="1" dirty="0">
                <a:solidFill>
                  <a:srgbClr val="5B3FC4"/>
                </a:solidFill>
                <a:latin typeface="Segoe UI" pitchFamily="34" charset="0"/>
                <a:ea typeface="Segoe UI" pitchFamily="34" charset="-122"/>
                <a:cs typeface="Segoe UI" pitchFamily="34" charset="-120"/>
              </a:rPr>
              <a:t>P4 · Base de datos</a:t>
            </a:r>
            <a:endParaRPr lang="en-US" sz="1050" dirty="0"/>
          </a:p>
        </p:txBody>
      </p:sp>
      <p:sp>
        <p:nvSpPr>
          <p:cNvPr id="31" name="Shape 29"/>
          <p:cNvSpPr/>
          <p:nvPr/>
        </p:nvSpPr>
        <p:spPr>
          <a:xfrm>
            <a:off x="7182416"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2" name="Icono package"/>
          <p:cNvSpPr/>
          <p:nvPr/>
        </p:nvSpPr>
        <p:spPr>
          <a:xfrm>
            <a:off x="7422446" y="2279142"/>
            <a:ext cx="480060" cy="480060"/>
          </a:xfrm>
          <a:custGeom>
            <a:avLst/>
            <a:gdLst/>
            <a:ahLst/>
            <a:cxnLst/>
            <a:rect l="l" t="t" r="r" b="b"/>
            <a:pathLst>
              <a:path w="480060" h="480060">
                <a:moveTo>
                  <a:pt x="220028" y="434654"/>
                </a:moveTo>
                <a:cubicBezTo>
                  <a:pt x="232405" y="441801"/>
                  <a:pt x="247655" y="441801"/>
                  <a:pt x="260033" y="434654"/>
                </a:cubicBezTo>
                <a:lnTo>
                  <a:pt x="400050" y="354644"/>
                </a:lnTo>
                <a:cubicBezTo>
                  <a:pt x="412415" y="347505"/>
                  <a:pt x="420038" y="334318"/>
                  <a:pt x="420053" y="320040"/>
                </a:cubicBezTo>
                <a:lnTo>
                  <a:pt x="420053" y="160020"/>
                </a:lnTo>
                <a:cubicBezTo>
                  <a:pt x="420038" y="145742"/>
                  <a:pt x="412415" y="132555"/>
                  <a:pt x="400050" y="125416"/>
                </a:cubicBezTo>
                <a:lnTo>
                  <a:pt x="260033" y="45406"/>
                </a:lnTo>
                <a:cubicBezTo>
                  <a:pt x="247655" y="38259"/>
                  <a:pt x="232405" y="38259"/>
                  <a:pt x="220028" y="45406"/>
                </a:cubicBezTo>
                <a:lnTo>
                  <a:pt x="80010" y="125416"/>
                </a:lnTo>
                <a:cubicBezTo>
                  <a:pt x="67645" y="132555"/>
                  <a:pt x="60022" y="145742"/>
                  <a:pt x="60008" y="160020"/>
                </a:cubicBezTo>
                <a:lnTo>
                  <a:pt x="60008" y="320040"/>
                </a:lnTo>
                <a:cubicBezTo>
                  <a:pt x="60022" y="334318"/>
                  <a:pt x="67645" y="347505"/>
                  <a:pt x="80010" y="354644"/>
                </a:cubicBezTo>
                <a:close/>
                <a:moveTo>
                  <a:pt x="240030" y="440055"/>
                </a:moveTo>
                <a:lnTo>
                  <a:pt x="240030" y="240030"/>
                </a:lnTo>
                <a:moveTo>
                  <a:pt x="66008" y="140018"/>
                </a:moveTo>
                <a:lnTo>
                  <a:pt x="220088" y="234709"/>
                </a:lnTo>
                <a:cubicBezTo>
                  <a:pt x="232435" y="241809"/>
                  <a:pt x="247625" y="241809"/>
                  <a:pt x="259972" y="234709"/>
                </a:cubicBezTo>
                <a:lnTo>
                  <a:pt x="414052" y="140018"/>
                </a:lnTo>
                <a:moveTo>
                  <a:pt x="150019" y="85411"/>
                </a:moveTo>
                <a:lnTo>
                  <a:pt x="330041" y="188424"/>
                </a:lnTo>
              </a:path>
            </a:pathLst>
          </a:custGeom>
          <a:noFill/>
          <a:ln w="40005" cap="rnd">
            <a:solidFill>
              <a:srgbClr val="FFFFFF"/>
            </a:solidFill>
            <a:prstDash val="solid"/>
            <a:round/>
          </a:ln>
        </p:spPr>
      </p:sp>
      <p:sp>
        <p:nvSpPr>
          <p:cNvPr id="33" name="Text 31"/>
          <p:cNvSpPr/>
          <p:nvPr/>
        </p:nvSpPr>
        <p:spPr>
          <a:xfrm>
            <a:off x="7835298"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5</a:t>
            </a:r>
            <a:endParaRPr lang="en-US" sz="1200" dirty="0"/>
          </a:p>
        </p:txBody>
      </p:sp>
      <p:sp>
        <p:nvSpPr>
          <p:cNvPr id="34" name="Text 32"/>
          <p:cNvSpPr/>
          <p:nvPr/>
        </p:nvSpPr>
        <p:spPr>
          <a:xfrm>
            <a:off x="6934026"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Empaquetar y entregar</a:t>
            </a:r>
            <a:endParaRPr lang="en-US" sz="1400" dirty="0"/>
          </a:p>
        </p:txBody>
      </p:sp>
      <p:sp>
        <p:nvSpPr>
          <p:cNvPr id="35" name="Text 33"/>
          <p:cNvSpPr/>
          <p:nvPr/>
        </p:nvSpPr>
        <p:spPr>
          <a:xfrm>
            <a:off x="6952314"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Docker y Dockerfile · Docker Compose · Integración y entrega continua</a:t>
            </a:r>
            <a:endParaRPr lang="en-US" sz="1050" dirty="0"/>
          </a:p>
        </p:txBody>
      </p:sp>
      <p:sp>
        <p:nvSpPr>
          <p:cNvPr id="36" name="Text 34"/>
          <p:cNvSpPr/>
          <p:nvPr/>
        </p:nvSpPr>
        <p:spPr>
          <a:xfrm>
            <a:off x="7007178" y="5971032"/>
            <a:ext cx="1310596" cy="310896"/>
          </a:xfrm>
          <a:prstGeom prst="roundRect">
            <a:avLst>
              <a:gd name="adj" fmla="val 50000"/>
            </a:avLst>
          </a:prstGeom>
          <a:solidFill>
            <a:srgbClr val="E1F1EA"/>
          </a:solidFill>
          <a:ln>
            <a:solidFill>
              <a:srgbClr val="E1F1EA"/>
            </a:solidFill>
          </a:ln>
        </p:spPr>
        <p:txBody>
          <a:bodyPr wrap="square" lIns="0" tIns="0" rIns="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P5 · DevOps</a:t>
            </a:r>
            <a:endParaRPr lang="en-US" sz="1050" dirty="0"/>
          </a:p>
        </p:txBody>
      </p:sp>
      <p:sp>
        <p:nvSpPr>
          <p:cNvPr id="37" name="Shape 35"/>
          <p:cNvSpPr/>
          <p:nvPr/>
        </p:nvSpPr>
        <p:spPr>
          <a:xfrm>
            <a:off x="8749045"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Icono ship-wheel"/>
          <p:cNvSpPr/>
          <p:nvPr/>
        </p:nvSpPr>
        <p:spPr>
          <a:xfrm>
            <a:off x="8989075" y="2279142"/>
            <a:ext cx="480060" cy="480060"/>
          </a:xfrm>
          <a:custGeom>
            <a:avLst/>
            <a:gdLst/>
            <a:ahLst/>
            <a:cxnLst/>
            <a:rect l="l" t="t" r="r" b="b"/>
            <a:pathLst>
              <a:path w="480060" h="480060">
                <a:moveTo>
                  <a:pt x="400050" y="240030"/>
                </a:moveTo>
                <a:cubicBezTo>
                  <a:pt x="400050" y="328407"/>
                  <a:pt x="328407" y="400050"/>
                  <a:pt x="240030" y="400050"/>
                </a:cubicBezTo>
                <a:cubicBezTo>
                  <a:pt x="151653" y="400050"/>
                  <a:pt x="80010" y="328407"/>
                  <a:pt x="80010" y="240030"/>
                </a:cubicBezTo>
                <a:cubicBezTo>
                  <a:pt x="80010" y="151653"/>
                  <a:pt x="151653" y="80010"/>
                  <a:pt x="240030" y="80010"/>
                </a:cubicBezTo>
                <a:cubicBezTo>
                  <a:pt x="328407" y="80010"/>
                  <a:pt x="400050" y="151653"/>
                  <a:pt x="400050" y="240030"/>
                </a:cubicBezTo>
                <a:close/>
                <a:moveTo>
                  <a:pt x="240030" y="40005"/>
                </a:moveTo>
                <a:lnTo>
                  <a:pt x="240030" y="190024"/>
                </a:lnTo>
                <a:moveTo>
                  <a:pt x="380048" y="100013"/>
                </a:moveTo>
                <a:lnTo>
                  <a:pt x="275434" y="204626"/>
                </a:lnTo>
                <a:moveTo>
                  <a:pt x="440055" y="240030"/>
                </a:moveTo>
                <a:lnTo>
                  <a:pt x="290036" y="240030"/>
                </a:lnTo>
                <a:moveTo>
                  <a:pt x="380048" y="380048"/>
                </a:moveTo>
                <a:lnTo>
                  <a:pt x="275434" y="275434"/>
                </a:lnTo>
                <a:moveTo>
                  <a:pt x="240030" y="290036"/>
                </a:moveTo>
                <a:lnTo>
                  <a:pt x="240030" y="440055"/>
                </a:lnTo>
                <a:moveTo>
                  <a:pt x="204626" y="275434"/>
                </a:moveTo>
                <a:lnTo>
                  <a:pt x="100013" y="380048"/>
                </a:lnTo>
                <a:moveTo>
                  <a:pt x="190024" y="240030"/>
                </a:moveTo>
                <a:lnTo>
                  <a:pt x="40005" y="240030"/>
                </a:lnTo>
                <a:moveTo>
                  <a:pt x="204626" y="204626"/>
                </a:moveTo>
                <a:lnTo>
                  <a:pt x="100013" y="100013"/>
                </a:lnTo>
                <a:moveTo>
                  <a:pt x="290036" y="240030"/>
                </a:moveTo>
                <a:cubicBezTo>
                  <a:pt x="290036" y="267648"/>
                  <a:pt x="267648" y="290036"/>
                  <a:pt x="240030" y="290036"/>
                </a:cubicBezTo>
                <a:cubicBezTo>
                  <a:pt x="212412" y="290036"/>
                  <a:pt x="190024" y="267648"/>
                  <a:pt x="190024" y="240030"/>
                </a:cubicBezTo>
                <a:cubicBezTo>
                  <a:pt x="190024" y="212412"/>
                  <a:pt x="212412" y="190024"/>
                  <a:pt x="240030" y="190024"/>
                </a:cubicBezTo>
                <a:cubicBezTo>
                  <a:pt x="267648" y="190024"/>
                  <a:pt x="290036" y="212412"/>
                  <a:pt x="290036" y="240030"/>
                </a:cubicBezTo>
                <a:close/>
              </a:path>
            </a:pathLst>
          </a:custGeom>
          <a:noFill/>
          <a:ln w="40005" cap="rnd">
            <a:solidFill>
              <a:srgbClr val="FFFFFF"/>
            </a:solidFill>
            <a:prstDash val="solid"/>
            <a:round/>
          </a:ln>
        </p:spPr>
      </p:sp>
      <p:sp>
        <p:nvSpPr>
          <p:cNvPr id="39" name="Text 37"/>
          <p:cNvSpPr/>
          <p:nvPr/>
        </p:nvSpPr>
        <p:spPr>
          <a:xfrm>
            <a:off x="9401926"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6</a:t>
            </a:r>
            <a:endParaRPr lang="en-US" sz="1200" dirty="0"/>
          </a:p>
        </p:txBody>
      </p:sp>
      <p:sp>
        <p:nvSpPr>
          <p:cNvPr id="40" name="Text 38"/>
          <p:cNvSpPr/>
          <p:nvPr/>
        </p:nvSpPr>
        <p:spPr>
          <a:xfrm>
            <a:off x="8500654"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Desplegar y operar</a:t>
            </a:r>
            <a:endParaRPr lang="en-US" sz="1400" dirty="0"/>
          </a:p>
        </p:txBody>
      </p:sp>
      <p:sp>
        <p:nvSpPr>
          <p:cNvPr id="41" name="Text 39"/>
          <p:cNvSpPr/>
          <p:nvPr/>
        </p:nvSpPr>
        <p:spPr>
          <a:xfrm>
            <a:off x="8518942"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Fundamentos de Kubernetes · Del contenedor al clúster · Puesta a punto</a:t>
            </a:r>
            <a:endParaRPr lang="en-US" sz="1050" dirty="0"/>
          </a:p>
        </p:txBody>
      </p:sp>
      <p:sp>
        <p:nvSpPr>
          <p:cNvPr id="42" name="Text 40"/>
          <p:cNvSpPr/>
          <p:nvPr/>
        </p:nvSpPr>
        <p:spPr>
          <a:xfrm>
            <a:off x="8573806" y="5971032"/>
            <a:ext cx="1310596" cy="310896"/>
          </a:xfrm>
          <a:prstGeom prst="roundRect">
            <a:avLst>
              <a:gd name="adj" fmla="val 50000"/>
            </a:avLst>
          </a:prstGeom>
          <a:solidFill>
            <a:srgbClr val="E1F1EA"/>
          </a:solidFill>
          <a:ln>
            <a:solidFill>
              <a:srgbClr val="E1F1EA"/>
            </a:solidFill>
          </a:ln>
        </p:spPr>
        <p:txBody>
          <a:bodyPr wrap="square" lIns="0" tIns="0" rIns="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P6 · DevOps</a:t>
            </a:r>
            <a:endParaRPr lang="en-US" sz="1050" dirty="0"/>
          </a:p>
        </p:txBody>
      </p:sp>
      <p:sp>
        <p:nvSpPr>
          <p:cNvPr id="43" name="Shape 41"/>
          <p:cNvSpPr/>
          <p:nvPr/>
        </p:nvSpPr>
        <p:spPr>
          <a:xfrm>
            <a:off x="10315673"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4" name="Icono monitor"/>
          <p:cNvSpPr/>
          <p:nvPr/>
        </p:nvSpPr>
        <p:spPr>
          <a:xfrm>
            <a:off x="10555703" y="2279142"/>
            <a:ext cx="480060" cy="480060"/>
          </a:xfrm>
          <a:custGeom>
            <a:avLst/>
            <a:gdLst/>
            <a:ahLst/>
            <a:cxnLst/>
            <a:rect l="l" t="t" r="r" b="b"/>
            <a:pathLst>
              <a:path w="480060" h="480060">
                <a:moveTo>
                  <a:pt x="80010" y="60008"/>
                </a:moveTo>
                <a:lnTo>
                  <a:pt x="400050" y="60008"/>
                </a:lnTo>
                <a:cubicBezTo>
                  <a:pt x="422144" y="60008"/>
                  <a:pt x="440055" y="77918"/>
                  <a:pt x="440055" y="100013"/>
                </a:cubicBezTo>
                <a:lnTo>
                  <a:pt x="440055" y="300038"/>
                </a:lnTo>
                <a:cubicBezTo>
                  <a:pt x="440055" y="322132"/>
                  <a:pt x="422144" y="340043"/>
                  <a:pt x="400050" y="340043"/>
                </a:cubicBezTo>
                <a:lnTo>
                  <a:pt x="80010" y="340043"/>
                </a:lnTo>
                <a:cubicBezTo>
                  <a:pt x="57916" y="340043"/>
                  <a:pt x="40005" y="322132"/>
                  <a:pt x="40005" y="300038"/>
                </a:cubicBezTo>
                <a:lnTo>
                  <a:pt x="40005" y="100013"/>
                </a:lnTo>
                <a:cubicBezTo>
                  <a:pt x="40005" y="77918"/>
                  <a:pt x="57916" y="60008"/>
                  <a:pt x="80010" y="60008"/>
                </a:cubicBezTo>
                <a:close/>
                <a:moveTo>
                  <a:pt x="160020" y="420053"/>
                </a:moveTo>
                <a:lnTo>
                  <a:pt x="320040" y="420053"/>
                </a:lnTo>
                <a:moveTo>
                  <a:pt x="240030" y="340043"/>
                </a:moveTo>
                <a:lnTo>
                  <a:pt x="240030" y="420053"/>
                </a:lnTo>
              </a:path>
            </a:pathLst>
          </a:custGeom>
          <a:noFill/>
          <a:ln w="40005" cap="rnd">
            <a:solidFill>
              <a:srgbClr val="FFFFFF"/>
            </a:solidFill>
            <a:prstDash val="solid"/>
            <a:round/>
          </a:ln>
        </p:spPr>
      </p:sp>
      <p:sp>
        <p:nvSpPr>
          <p:cNvPr id="45" name="Text 43"/>
          <p:cNvSpPr/>
          <p:nvPr/>
        </p:nvSpPr>
        <p:spPr>
          <a:xfrm>
            <a:off x="10968555"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7</a:t>
            </a:r>
            <a:endParaRPr lang="en-US" sz="1200" dirty="0"/>
          </a:p>
        </p:txBody>
      </p:sp>
      <p:sp>
        <p:nvSpPr>
          <p:cNvPr id="46" name="Text 44"/>
          <p:cNvSpPr/>
          <p:nvPr/>
        </p:nvSpPr>
        <p:spPr>
          <a:xfrm>
            <a:off x="10067283"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Ensamblaje: la UI</a:t>
            </a:r>
            <a:endParaRPr lang="en-US" sz="1400" dirty="0"/>
          </a:p>
        </p:txBody>
      </p:sp>
      <p:sp>
        <p:nvSpPr>
          <p:cNvPr id="47" name="Text 45"/>
          <p:cNvSpPr/>
          <p:nvPr/>
        </p:nvSpPr>
        <p:spPr>
          <a:xfrm>
            <a:off x="10085571"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Ensamblaje del sistema · Puesta a punto</a:t>
            </a:r>
            <a:endParaRPr lang="en-US" sz="1050" dirty="0"/>
          </a:p>
        </p:txBody>
      </p:sp>
      <p:sp>
        <p:nvSpPr>
          <p:cNvPr id="48" name="Text 46"/>
          <p:cNvSpPr/>
          <p:nvPr/>
        </p:nvSpPr>
        <p:spPr>
          <a:xfrm>
            <a:off x="10140435"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P7 · Desarrollo</a:t>
            </a:r>
            <a:endParaRPr lang="en-US" sz="10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map"/>
          <p:cNvSpPr/>
          <p:nvPr/>
        </p:nvSpPr>
        <p:spPr>
          <a:xfrm>
            <a:off x="9098280" y="1783080"/>
            <a:ext cx="1371600" cy="1371600"/>
          </a:xfrm>
          <a:custGeom>
            <a:avLst/>
            <a:gdLst/>
            <a:ahLst/>
            <a:cxnLst/>
            <a:rect l="l" t="t" r="r" b="b"/>
            <a:pathLst>
              <a:path w="1371600" h="1371600">
                <a:moveTo>
                  <a:pt x="806158" y="317354"/>
                </a:moveTo>
                <a:cubicBezTo>
                  <a:pt x="838323" y="333427"/>
                  <a:pt x="876177" y="333427"/>
                  <a:pt x="908342" y="317354"/>
                </a:cubicBezTo>
                <a:lnTo>
                  <a:pt x="1117454" y="212769"/>
                </a:lnTo>
                <a:cubicBezTo>
                  <a:pt x="1135183" y="203910"/>
                  <a:pt x="1156236" y="204869"/>
                  <a:pt x="1173087" y="215303"/>
                </a:cubicBezTo>
                <a:cubicBezTo>
                  <a:pt x="1189938" y="225737"/>
                  <a:pt x="1200179" y="244156"/>
                  <a:pt x="1200150" y="263976"/>
                </a:cubicBezTo>
                <a:lnTo>
                  <a:pt x="1200150" y="993438"/>
                </a:lnTo>
                <a:cubicBezTo>
                  <a:pt x="1200138" y="1015079"/>
                  <a:pt x="1187904" y="1034857"/>
                  <a:pt x="1168546" y="1044531"/>
                </a:cubicBezTo>
                <a:lnTo>
                  <a:pt x="908342" y="1174661"/>
                </a:lnTo>
                <a:cubicBezTo>
                  <a:pt x="876177" y="1190734"/>
                  <a:pt x="838323" y="1190734"/>
                  <a:pt x="806158" y="1174661"/>
                </a:cubicBezTo>
                <a:lnTo>
                  <a:pt x="565442" y="1054303"/>
                </a:lnTo>
                <a:cubicBezTo>
                  <a:pt x="533277" y="1038230"/>
                  <a:pt x="495423" y="1038230"/>
                  <a:pt x="463258" y="1054303"/>
                </a:cubicBezTo>
                <a:lnTo>
                  <a:pt x="254146" y="1158888"/>
                </a:lnTo>
                <a:cubicBezTo>
                  <a:pt x="236408" y="1167752"/>
                  <a:pt x="215343" y="1166787"/>
                  <a:pt x="198489" y="1156339"/>
                </a:cubicBezTo>
                <a:cubicBezTo>
                  <a:pt x="181635" y="1145891"/>
                  <a:pt x="171401" y="1127454"/>
                  <a:pt x="171450" y="1107624"/>
                </a:cubicBezTo>
                <a:lnTo>
                  <a:pt x="171450" y="378219"/>
                </a:lnTo>
                <a:cubicBezTo>
                  <a:pt x="171462" y="356578"/>
                  <a:pt x="183696" y="336800"/>
                  <a:pt x="203054" y="327127"/>
                </a:cubicBezTo>
                <a:lnTo>
                  <a:pt x="463258" y="196996"/>
                </a:lnTo>
                <a:cubicBezTo>
                  <a:pt x="495423" y="180923"/>
                  <a:pt x="533277" y="180923"/>
                  <a:pt x="565442" y="196996"/>
                </a:cubicBezTo>
                <a:close/>
                <a:moveTo>
                  <a:pt x="857250" y="329413"/>
                </a:moveTo>
                <a:lnTo>
                  <a:pt x="857250" y="1186663"/>
                </a:lnTo>
                <a:moveTo>
                  <a:pt x="514350" y="184937"/>
                </a:moveTo>
                <a:lnTo>
                  <a:pt x="514350" y="1042187"/>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1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374B70"/>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374B70"/>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374B70"/>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01</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El sistema por fuera</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Qué piezas tiene ARKA-Lite, dónde corren y cómo se hablan.</a:t>
            </a:r>
            <a:endParaRPr lang="en-US" sz="1900" dirty="0"/>
          </a:p>
        </p:txBody>
      </p:sp>
      <p:sp>
        <p:nvSpPr>
          <p:cNvPr id="16" name="Text 14"/>
          <p:cNvSpPr/>
          <p:nvPr/>
        </p:nvSpPr>
        <p:spPr>
          <a:xfrm>
            <a:off x="758952"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Visión general</a:t>
            </a:r>
            <a:endParaRPr lang="en-US" sz="1300" dirty="0"/>
          </a:p>
        </p:txBody>
      </p:sp>
      <p:sp>
        <p:nvSpPr>
          <p:cNvPr id="17" name="Text 15"/>
          <p:cNvSpPr/>
          <p:nvPr/>
        </p:nvSpPr>
        <p:spPr>
          <a:xfrm>
            <a:off x="2688336" y="4663440"/>
            <a:ext cx="160934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Arquitectura</a:t>
            </a:r>
            <a:endParaRPr lang="en-US" sz="1300" dirty="0"/>
          </a:p>
        </p:txBody>
      </p:sp>
      <p:sp>
        <p:nvSpPr>
          <p:cNvPr id="18" name="Text 16"/>
          <p:cNvSpPr/>
          <p:nvPr/>
        </p:nvSpPr>
        <p:spPr>
          <a:xfrm>
            <a:off x="4425696"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Microservicios</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P1</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1 · Desarrollo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es la puerta de entrada</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tiene su propia base</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avisa a notificaciones con un evento</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Todo se comunica por HTTP</a:t>
            </a:r>
            <a:endParaRPr lang="en-US" sz="1100" dirty="0"/>
          </a:p>
        </p:txBody>
      </p:sp>
      <p:sp>
        <p:nvSpPr>
          <p:cNvPr id="9" name="Shape 7"/>
          <p:cNvSpPr/>
          <p:nvPr/>
        </p:nvSpPr>
        <p:spPr>
          <a:xfrm>
            <a:off x="5552694" y="2172614"/>
            <a:ext cx="5612587" cy="1357884"/>
          </a:xfrm>
          <a:prstGeom prst="roundRect">
            <a:avLst>
              <a:gd name="adj" fmla="val 8081"/>
            </a:avLst>
          </a:prstGeom>
          <a:solidFill>
            <a:srgbClr val="EAF0FA"/>
          </a:solidFill>
          <a:ln w="12700">
            <a:solidFill>
              <a:srgbClr val="AFC4E6"/>
            </a:solidFill>
            <a:prstDash val="solid"/>
          </a:ln>
        </p:spPr>
      </p:sp>
      <p:sp>
        <p:nvSpPr>
          <p:cNvPr id="10" name="Text 8"/>
          <p:cNvSpPr/>
          <p:nvPr/>
        </p:nvSpPr>
        <p:spPr>
          <a:xfrm>
            <a:off x="5625846" y="2227478"/>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11" name="Shape 9"/>
          <p:cNvSpPr/>
          <p:nvPr/>
        </p:nvSpPr>
        <p:spPr>
          <a:xfrm>
            <a:off x="5552694" y="4707331"/>
            <a:ext cx="5612587" cy="1357884"/>
          </a:xfrm>
          <a:prstGeom prst="roundRect">
            <a:avLst>
              <a:gd name="adj" fmla="val 8081"/>
            </a:avLst>
          </a:prstGeom>
          <a:solidFill>
            <a:srgbClr val="E5F5FA"/>
          </a:solidFill>
          <a:ln w="12700">
            <a:solidFill>
              <a:srgbClr val="9DD7E8"/>
            </a:solidFill>
            <a:prstDash val="solid"/>
          </a:ln>
        </p:spPr>
      </p:sp>
      <p:sp>
        <p:nvSpPr>
          <p:cNvPr id="12" name="Text 10"/>
          <p:cNvSpPr/>
          <p:nvPr/>
        </p:nvSpPr>
        <p:spPr>
          <a:xfrm>
            <a:off x="5625846" y="476219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13" name="Shape 11"/>
          <p:cNvSpPr/>
          <p:nvPr/>
        </p:nvSpPr>
        <p:spPr>
          <a:xfrm>
            <a:off x="2384298" y="4073652"/>
            <a:ext cx="543154" cy="0"/>
          </a:xfrm>
          <a:prstGeom prst="line">
            <a:avLst/>
          </a:prstGeom>
          <a:noFill/>
          <a:ln w="31750">
            <a:solidFill>
              <a:srgbClr val="2E6DB4"/>
            </a:solidFill>
            <a:prstDash val="solid"/>
            <a:tailEnd type="triangle"/>
          </a:ln>
        </p:spPr>
      </p:sp>
      <p:sp>
        <p:nvSpPr>
          <p:cNvPr id="14" name="Text 12"/>
          <p:cNvSpPr/>
          <p:nvPr/>
        </p:nvSpPr>
        <p:spPr>
          <a:xfrm>
            <a:off x="2459736" y="3836731"/>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clic</a:t>
            </a:r>
            <a:endParaRPr lang="en-US" sz="850" dirty="0"/>
          </a:p>
        </p:txBody>
      </p:sp>
      <p:sp>
        <p:nvSpPr>
          <p:cNvPr id="15" name="Text 13"/>
          <p:cNvSpPr/>
          <p:nvPr/>
        </p:nvSpPr>
        <p:spPr>
          <a:xfrm>
            <a:off x="2491831" y="39639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737964" y="3892601"/>
            <a:ext cx="1719986" cy="0"/>
          </a:xfrm>
          <a:prstGeom prst="line">
            <a:avLst/>
          </a:prstGeom>
          <a:noFill/>
          <a:ln w="31750">
            <a:solidFill>
              <a:srgbClr val="2E6DB4"/>
            </a:solidFill>
            <a:prstDash val="solid"/>
          </a:ln>
        </p:spPr>
      </p:sp>
      <p:sp>
        <p:nvSpPr>
          <p:cNvPr id="17" name="Shape 15"/>
          <p:cNvSpPr/>
          <p:nvPr/>
        </p:nvSpPr>
        <p:spPr>
          <a:xfrm flipV="1">
            <a:off x="6457950" y="3222711"/>
            <a:ext cx="0" cy="669889"/>
          </a:xfrm>
          <a:prstGeom prst="line">
            <a:avLst/>
          </a:prstGeom>
          <a:noFill/>
          <a:ln w="31750">
            <a:solidFill>
              <a:srgbClr val="2E6DB4"/>
            </a:solidFill>
            <a:prstDash val="solid"/>
            <a:tailEnd type="triangle"/>
          </a:ln>
        </p:spPr>
      </p:sp>
      <p:sp>
        <p:nvSpPr>
          <p:cNvPr id="18" name="Text 16"/>
          <p:cNvSpPr/>
          <p:nvPr/>
        </p:nvSpPr>
        <p:spPr>
          <a:xfrm>
            <a:off x="5005426" y="3655680"/>
            <a:ext cx="1185062"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/api/solicitudes</a:t>
            </a:r>
            <a:endParaRPr lang="en-US" sz="850" dirty="0"/>
          </a:p>
        </p:txBody>
      </p:sp>
      <p:sp>
        <p:nvSpPr>
          <p:cNvPr id="19" name="Text 17"/>
          <p:cNvSpPr/>
          <p:nvPr/>
        </p:nvSpPr>
        <p:spPr>
          <a:xfrm>
            <a:off x="4845497" y="378287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0" name="Shape 18"/>
          <p:cNvSpPr/>
          <p:nvPr/>
        </p:nvSpPr>
        <p:spPr>
          <a:xfrm>
            <a:off x="8087411" y="2878714"/>
            <a:ext cx="724205" cy="0"/>
          </a:xfrm>
          <a:prstGeom prst="line">
            <a:avLst/>
          </a:prstGeom>
          <a:noFill/>
          <a:ln w="31750">
            <a:solidFill>
              <a:srgbClr val="55627E"/>
            </a:solidFill>
            <a:prstDash val="sysDot"/>
            <a:tailEnd type="triangle"/>
          </a:ln>
        </p:spPr>
      </p:sp>
      <p:sp>
        <p:nvSpPr>
          <p:cNvPr id="21" name="Text 19"/>
          <p:cNvSpPr/>
          <p:nvPr/>
        </p:nvSpPr>
        <p:spPr>
          <a:xfrm>
            <a:off x="8286407" y="264179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2" name="Text 20"/>
          <p:cNvSpPr/>
          <p:nvPr/>
        </p:nvSpPr>
        <p:spPr>
          <a:xfrm>
            <a:off x="8194944" y="276898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Shape 21"/>
          <p:cNvSpPr/>
          <p:nvPr/>
        </p:nvSpPr>
        <p:spPr>
          <a:xfrm>
            <a:off x="7544257" y="3222711"/>
            <a:ext cx="0" cy="1846722"/>
          </a:xfrm>
          <a:prstGeom prst="line">
            <a:avLst/>
          </a:prstGeom>
          <a:noFill/>
          <a:ln w="25400">
            <a:solidFill>
              <a:srgbClr val="55627E"/>
            </a:solidFill>
            <a:prstDash val="dash"/>
            <a:tailEnd type="triangle"/>
          </a:ln>
        </p:spPr>
      </p:sp>
      <p:sp>
        <p:nvSpPr>
          <p:cNvPr id="24" name="Text 22"/>
          <p:cNvSpPr/>
          <p:nvPr/>
        </p:nvSpPr>
        <p:spPr>
          <a:xfrm>
            <a:off x="7634783" y="4026835"/>
            <a:ext cx="986866"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evento · HTTP</a:t>
            </a:r>
            <a:endParaRPr lang="en-US" sz="850" dirty="0"/>
          </a:p>
        </p:txBody>
      </p:sp>
      <p:sp>
        <p:nvSpPr>
          <p:cNvPr id="25" name="Text 23"/>
          <p:cNvSpPr/>
          <p:nvPr/>
        </p:nvSpPr>
        <p:spPr>
          <a:xfrm>
            <a:off x="7434529" y="33302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6" name="Shape 24"/>
          <p:cNvSpPr/>
          <p:nvPr/>
        </p:nvSpPr>
        <p:spPr>
          <a:xfrm>
            <a:off x="8087411" y="5413431"/>
            <a:ext cx="724205" cy="0"/>
          </a:xfrm>
          <a:prstGeom prst="line">
            <a:avLst/>
          </a:prstGeom>
          <a:noFill/>
          <a:ln w="31750">
            <a:solidFill>
              <a:srgbClr val="55627E"/>
            </a:solidFill>
            <a:prstDash val="sysDot"/>
            <a:tailEnd type="triangle"/>
          </a:ln>
        </p:spPr>
      </p:sp>
      <p:sp>
        <p:nvSpPr>
          <p:cNvPr id="27" name="Text 25"/>
          <p:cNvSpPr/>
          <p:nvPr/>
        </p:nvSpPr>
        <p:spPr>
          <a:xfrm>
            <a:off x="8286407" y="5176510"/>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8" name="Text 26"/>
          <p:cNvSpPr/>
          <p:nvPr/>
        </p:nvSpPr>
        <p:spPr>
          <a:xfrm>
            <a:off x="8194944" y="530370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9" name="Shape 27"/>
          <p:cNvSpPr/>
          <p:nvPr/>
        </p:nvSpPr>
        <p:spPr>
          <a:xfrm>
            <a:off x="4737964" y="4254703"/>
            <a:ext cx="1719986" cy="0"/>
          </a:xfrm>
          <a:prstGeom prst="line">
            <a:avLst/>
          </a:prstGeom>
          <a:noFill/>
          <a:ln w="31750">
            <a:solidFill>
              <a:srgbClr val="2E6DB4"/>
            </a:solidFill>
            <a:prstDash val="solid"/>
          </a:ln>
        </p:spPr>
      </p:sp>
      <p:sp>
        <p:nvSpPr>
          <p:cNvPr id="30" name="Shape 28"/>
          <p:cNvSpPr/>
          <p:nvPr/>
        </p:nvSpPr>
        <p:spPr>
          <a:xfrm>
            <a:off x="6457950" y="4254703"/>
            <a:ext cx="0" cy="814730"/>
          </a:xfrm>
          <a:prstGeom prst="line">
            <a:avLst/>
          </a:prstGeom>
          <a:noFill/>
          <a:ln w="31750">
            <a:solidFill>
              <a:srgbClr val="2E6DB4"/>
            </a:solidFill>
            <a:prstDash val="solid"/>
            <a:tailEnd type="triangle"/>
          </a:ln>
        </p:spPr>
      </p:sp>
      <p:sp>
        <p:nvSpPr>
          <p:cNvPr id="31" name="Text 29"/>
          <p:cNvSpPr/>
          <p:nvPr/>
        </p:nvSpPr>
        <p:spPr>
          <a:xfrm>
            <a:off x="4906328" y="4271254"/>
            <a:ext cx="138325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/api/notificaciones</a:t>
            </a:r>
            <a:endParaRPr lang="en-US" sz="850" dirty="0"/>
          </a:p>
        </p:txBody>
      </p:sp>
      <p:sp>
        <p:nvSpPr>
          <p:cNvPr id="32" name="Text 30"/>
          <p:cNvSpPr/>
          <p:nvPr/>
        </p:nvSpPr>
        <p:spPr>
          <a:xfrm>
            <a:off x="4845497" y="414497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3" name="Shape 31"/>
          <p:cNvSpPr/>
          <p:nvPr/>
        </p:nvSpPr>
        <p:spPr>
          <a:xfrm>
            <a:off x="1026414" y="3729655"/>
            <a:ext cx="1357884" cy="687995"/>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1246572" y="3863340"/>
            <a:ext cx="420624" cy="420624"/>
          </a:xfrm>
          <a:prstGeom prst="ellipse">
            <a:avLst/>
          </a:prstGeom>
          <a:solidFill>
            <a:srgbClr val="E2E5EA"/>
          </a:solidFill>
          <a:ln w="12700">
            <a:solidFill>
              <a:srgbClr val="E2E5EA"/>
            </a:solidFill>
            <a:prstDash val="solid"/>
          </a:ln>
        </p:spPr>
      </p:sp>
      <p:sp>
        <p:nvSpPr>
          <p:cNvPr id="35" name="Icono user"/>
          <p:cNvSpPr/>
          <p:nvPr/>
        </p:nvSpPr>
        <p:spPr>
          <a:xfrm>
            <a:off x="1301436" y="3918204"/>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6" name="Text 34"/>
          <p:cNvSpPr/>
          <p:nvPr/>
        </p:nvSpPr>
        <p:spPr>
          <a:xfrm>
            <a:off x="1722060" y="3729655"/>
            <a:ext cx="607374" cy="687995"/>
          </a:xfrm>
          <a:prstGeom prst="rect">
            <a:avLst/>
          </a:prstGeom>
          <a:noFill/>
          <a:ln/>
        </p:spPr>
        <p:txBody>
          <a:bodyPr wrap="square" lIns="12700" tIns="25400" rIns="25400" bIns="12700" rtlCol="0" anchor="ctr">
            <a:normAutofit/>
          </a:bodyPr>
          <a:lstStyle/>
          <a:p>
            <a:pPr algn="l" indent="0" marL="0">
              <a:lnSpc>
                <a:spcPct val="95000"/>
              </a:lnSpc>
              <a:buNone/>
            </a:pPr>
            <a:r>
              <a:rPr lang="en-US" sz="1026" b="1" dirty="0">
                <a:solidFill>
                  <a:srgbClr val="0B1A3C"/>
                </a:solidFill>
                <a:latin typeface="Segoe UI" pitchFamily="34" charset="0"/>
                <a:ea typeface="Segoe UI" pitchFamily="34" charset="-122"/>
                <a:cs typeface="Segoe UI" pitchFamily="34" charset="-120"/>
              </a:rPr>
              <a:t>Persona</a:t>
            </a:r>
            <a:endParaRPr lang="en-US" sz="1026" dirty="0"/>
          </a:p>
          <a:p>
            <a:pPr algn="l" indent="0" marL="0">
              <a:lnSpc>
                <a:spcPct val="95000"/>
              </a:lnSpc>
              <a:buNone/>
            </a:pPr>
            <a:r>
              <a:rPr lang="en-US" sz="821" dirty="0">
                <a:solidFill>
                  <a:srgbClr val="55627E"/>
                </a:solidFill>
                <a:latin typeface="Segoe UI" pitchFamily="34" charset="0"/>
                <a:ea typeface="Segoe UI" pitchFamily="34" charset="-122"/>
                <a:cs typeface="Segoe UI" pitchFamily="34" charset="-120"/>
              </a:rPr>
              <a:t>usa el navegador</a:t>
            </a:r>
            <a:endParaRPr lang="en-US" sz="1026" dirty="0"/>
          </a:p>
        </p:txBody>
      </p:sp>
      <p:sp>
        <p:nvSpPr>
          <p:cNvPr id="37" name="Shape 35"/>
          <p:cNvSpPr/>
          <p:nvPr/>
        </p:nvSpPr>
        <p:spPr>
          <a:xfrm>
            <a:off x="2927452" y="3729655"/>
            <a:ext cx="1810512" cy="687995"/>
          </a:xfrm>
          <a:prstGeom prst="roundRect">
            <a:avLst>
              <a:gd name="adj" fmla="val 11962"/>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3018892" y="3863340"/>
            <a:ext cx="420624" cy="420624"/>
          </a:xfrm>
          <a:prstGeom prst="ellipse">
            <a:avLst/>
          </a:prstGeom>
          <a:solidFill>
            <a:srgbClr val="E2E5EA"/>
          </a:solidFill>
          <a:ln w="12700">
            <a:solidFill>
              <a:srgbClr val="E2E5EA"/>
            </a:solidFill>
            <a:prstDash val="solid"/>
          </a:ln>
        </p:spPr>
      </p:sp>
      <p:sp>
        <p:nvSpPr>
          <p:cNvPr id="39" name="Icono monitor"/>
          <p:cNvSpPr/>
          <p:nvPr/>
        </p:nvSpPr>
        <p:spPr>
          <a:xfrm>
            <a:off x="3073756" y="39182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40" name="Text 38"/>
          <p:cNvSpPr/>
          <p:nvPr/>
        </p:nvSpPr>
        <p:spPr>
          <a:xfrm>
            <a:off x="3494380" y="3729655"/>
            <a:ext cx="1188720" cy="687995"/>
          </a:xfrm>
          <a:prstGeom prst="rect">
            <a:avLst/>
          </a:prstGeom>
          <a:noFill/>
          <a:ln/>
        </p:spPr>
        <p:txBody>
          <a:bodyPr wrap="square" lIns="12700" tIns="25400" rIns="25400" bIns="12700" rtlCol="0" anchor="ctr">
            <a:normAutofit/>
          </a:bodyPr>
          <a:lstStyle/>
          <a:p>
            <a:pPr algn="l" indent="0" marL="0">
              <a:lnSpc>
                <a:spcPct val="95000"/>
              </a:lnSpc>
              <a:buNone/>
            </a:pPr>
            <a:r>
              <a:rPr lang="en-US" sz="1069" b="1" dirty="0">
                <a:solidFill>
                  <a:srgbClr val="0B1A3C"/>
                </a:solidFill>
                <a:latin typeface="Segoe UI" pitchFamily="34" charset="0"/>
                <a:ea typeface="Segoe UI" pitchFamily="34" charset="-122"/>
                <a:cs typeface="Segoe UI" pitchFamily="34" charset="-120"/>
              </a:rPr>
              <a:t>arka-lite-ui</a:t>
            </a:r>
            <a:endParaRPr lang="en-US" sz="1069" dirty="0"/>
          </a:p>
          <a:p>
            <a:pPr algn="l" indent="0" marL="0">
              <a:lnSpc>
                <a:spcPct val="95000"/>
              </a:lnSpc>
              <a:buNone/>
            </a:pPr>
            <a:r>
              <a:rPr lang="en-US" sz="855" dirty="0">
                <a:solidFill>
                  <a:srgbClr val="55627E"/>
                </a:solidFill>
                <a:latin typeface="Segoe UI" pitchFamily="34" charset="0"/>
                <a:ea typeface="Segoe UI" pitchFamily="34" charset="-122"/>
                <a:cs typeface="Segoe UI" pitchFamily="34" charset="-120"/>
              </a:rPr>
              <a:t>React + nginx · :8088</a:t>
            </a:r>
            <a:endParaRPr lang="en-US" sz="1069" dirty="0"/>
          </a:p>
        </p:txBody>
      </p:sp>
      <p:sp>
        <p:nvSpPr>
          <p:cNvPr id="41" name="Shape 39"/>
          <p:cNvSpPr/>
          <p:nvPr/>
        </p:nvSpPr>
        <p:spPr>
          <a:xfrm>
            <a:off x="5914796" y="2534717"/>
            <a:ext cx="2172614" cy="687995"/>
          </a:xfrm>
          <a:prstGeom prst="roundRect">
            <a:avLst>
              <a:gd name="adj" fmla="val 1196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006236" y="2668402"/>
            <a:ext cx="420624" cy="420624"/>
          </a:xfrm>
          <a:prstGeom prst="ellipse">
            <a:avLst/>
          </a:prstGeom>
          <a:solidFill>
            <a:srgbClr val="E4EAF1"/>
          </a:solidFill>
          <a:ln w="12700">
            <a:solidFill>
              <a:srgbClr val="E4EAF1"/>
            </a:solidFill>
            <a:prstDash val="solid"/>
          </a:ln>
        </p:spPr>
      </p:sp>
      <p:sp>
        <p:nvSpPr>
          <p:cNvPr id="43" name="Icono clipboard-list"/>
          <p:cNvSpPr/>
          <p:nvPr/>
        </p:nvSpPr>
        <p:spPr>
          <a:xfrm>
            <a:off x="6061100" y="2723266"/>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1F4E8C"/>
            </a:solidFill>
            <a:prstDash val="solid"/>
            <a:round/>
          </a:ln>
        </p:spPr>
      </p:sp>
      <p:sp>
        <p:nvSpPr>
          <p:cNvPr id="44" name="Text 42"/>
          <p:cNvSpPr/>
          <p:nvPr/>
        </p:nvSpPr>
        <p:spPr>
          <a:xfrm>
            <a:off x="6481724" y="2534717"/>
            <a:ext cx="1550822" cy="687995"/>
          </a:xfrm>
          <a:prstGeom prst="rect">
            <a:avLst/>
          </a:prstGeom>
          <a:noFill/>
          <a:ln/>
        </p:spPr>
        <p:txBody>
          <a:bodyPr wrap="square" lIns="12700" tIns="25400" rIns="25400" bIns="12700" rtlCol="0" anchor="ctr">
            <a:normAutofit/>
          </a:bodyPr>
          <a:lstStyle/>
          <a:p>
            <a:pPr algn="l" indent="0" marL="0">
              <a:lnSpc>
                <a:spcPct val="95000"/>
              </a:lnSpc>
              <a:buNone/>
            </a:pPr>
            <a:r>
              <a:rPr lang="en-US" sz="984" b="1" dirty="0">
                <a:solidFill>
                  <a:srgbClr val="0B1A3C"/>
                </a:solidFill>
                <a:latin typeface="Segoe UI" pitchFamily="34" charset="0"/>
                <a:ea typeface="Segoe UI" pitchFamily="34" charset="-122"/>
                <a:cs typeface="Segoe UI" pitchFamily="34" charset="-120"/>
              </a:rPr>
              <a:t>servicio-solicitudes</a:t>
            </a:r>
            <a:endParaRPr lang="en-US" sz="984" dirty="0"/>
          </a:p>
          <a:p>
            <a:pPr algn="l" indent="0" marL="0">
              <a:lnSpc>
                <a:spcPct val="95000"/>
              </a:lnSpc>
              <a:buNone/>
            </a:pPr>
            <a:r>
              <a:rPr lang="en-US" sz="787" dirty="0">
                <a:solidFill>
                  <a:srgbClr val="55627E"/>
                </a:solidFill>
                <a:latin typeface="Segoe UI" pitchFamily="34" charset="0"/>
                <a:ea typeface="Segoe UI" pitchFamily="34" charset="-122"/>
                <a:cs typeface="Segoe UI" pitchFamily="34" charset="-120"/>
              </a:rPr>
              <a:t>Spring Boot · :8080</a:t>
            </a:r>
            <a:endParaRPr lang="en-US" sz="984" dirty="0"/>
          </a:p>
        </p:txBody>
      </p:sp>
      <p:sp>
        <p:nvSpPr>
          <p:cNvPr id="45" name="Shape 43"/>
          <p:cNvSpPr/>
          <p:nvPr/>
        </p:nvSpPr>
        <p:spPr>
          <a:xfrm>
            <a:off x="8811616" y="2534717"/>
            <a:ext cx="1991563" cy="687995"/>
          </a:xfrm>
          <a:prstGeom prst="roundRect">
            <a:avLst>
              <a:gd name="adj" fmla="val 11962"/>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8903056" y="2668402"/>
            <a:ext cx="420624" cy="420624"/>
          </a:xfrm>
          <a:prstGeom prst="ellipse">
            <a:avLst/>
          </a:prstGeom>
          <a:solidFill>
            <a:srgbClr val="E4EAF1"/>
          </a:solidFill>
          <a:ln w="12700">
            <a:solidFill>
              <a:srgbClr val="E4EAF1"/>
            </a:solidFill>
            <a:prstDash val="solid"/>
          </a:ln>
        </p:spPr>
      </p:sp>
      <p:sp>
        <p:nvSpPr>
          <p:cNvPr id="47" name="Icono database"/>
          <p:cNvSpPr/>
          <p:nvPr/>
        </p:nvSpPr>
        <p:spPr>
          <a:xfrm>
            <a:off x="8957920" y="272326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1F4E8C"/>
            </a:solidFill>
            <a:prstDash val="solid"/>
            <a:round/>
          </a:ln>
        </p:spPr>
      </p:sp>
      <p:sp>
        <p:nvSpPr>
          <p:cNvPr id="48" name="Text 46"/>
          <p:cNvSpPr/>
          <p:nvPr/>
        </p:nvSpPr>
        <p:spPr>
          <a:xfrm>
            <a:off x="9378544" y="2534717"/>
            <a:ext cx="1369771" cy="687995"/>
          </a:xfrm>
          <a:prstGeom prst="rect">
            <a:avLst/>
          </a:prstGeom>
          <a:noFill/>
          <a:ln/>
        </p:spPr>
        <p:txBody>
          <a:bodyPr wrap="square" lIns="12700" tIns="25400" rIns="25400" bIns="12700" rtlCol="0" anchor="ctr">
            <a:normAutofit/>
          </a:bodyPr>
          <a:lstStyle/>
          <a:p>
            <a:pPr algn="l" indent="0" marL="0">
              <a:lnSpc>
                <a:spcPct val="95000"/>
              </a:lnSpc>
              <a:buNone/>
            </a:pPr>
            <a:r>
              <a:rPr lang="en-US" sz="1069" b="1" dirty="0">
                <a:solidFill>
                  <a:srgbClr val="0B1A3C"/>
                </a:solidFill>
                <a:latin typeface="Segoe UI" pitchFamily="34" charset="0"/>
                <a:ea typeface="Segoe UI" pitchFamily="34" charset="-122"/>
                <a:cs typeface="Segoe UI" pitchFamily="34" charset="-120"/>
              </a:rPr>
              <a:t>db-solicitudes</a:t>
            </a:r>
            <a:endParaRPr lang="en-US" sz="1069" dirty="0"/>
          </a:p>
          <a:p>
            <a:pPr algn="l" indent="0" marL="0">
              <a:lnSpc>
                <a:spcPct val="95000"/>
              </a:lnSpc>
              <a:buNone/>
            </a:pPr>
            <a:r>
              <a:rPr lang="en-US" sz="855" dirty="0">
                <a:solidFill>
                  <a:srgbClr val="55627E"/>
                </a:solidFill>
                <a:latin typeface="Segoe UI" pitchFamily="34" charset="0"/>
                <a:ea typeface="Segoe UI" pitchFamily="34" charset="-122"/>
                <a:cs typeface="Segoe UI" pitchFamily="34" charset="-120"/>
              </a:rPr>
              <a:t>PostgreSQL 17</a:t>
            </a:r>
            <a:endParaRPr lang="en-US" sz="1069" dirty="0"/>
          </a:p>
        </p:txBody>
      </p:sp>
      <p:sp>
        <p:nvSpPr>
          <p:cNvPr id="49" name="Shape 47"/>
          <p:cNvSpPr/>
          <p:nvPr/>
        </p:nvSpPr>
        <p:spPr>
          <a:xfrm>
            <a:off x="5914796" y="5069434"/>
            <a:ext cx="2172614" cy="687995"/>
          </a:xfrm>
          <a:prstGeom prst="roundRect">
            <a:avLst>
              <a:gd name="adj" fmla="val 11962"/>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6006236" y="5203119"/>
            <a:ext cx="420624" cy="420624"/>
          </a:xfrm>
          <a:prstGeom prst="ellipse">
            <a:avLst/>
          </a:prstGeom>
          <a:solidFill>
            <a:srgbClr val="E2EEF1"/>
          </a:solidFill>
          <a:ln w="12700">
            <a:solidFill>
              <a:srgbClr val="E2EEF1"/>
            </a:solidFill>
            <a:prstDash val="solid"/>
          </a:ln>
        </p:spPr>
      </p:sp>
      <p:sp>
        <p:nvSpPr>
          <p:cNvPr id="51" name="Icono bell"/>
          <p:cNvSpPr/>
          <p:nvPr/>
        </p:nvSpPr>
        <p:spPr>
          <a:xfrm>
            <a:off x="6061100" y="5257983"/>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52" name="Text 50"/>
          <p:cNvSpPr/>
          <p:nvPr/>
        </p:nvSpPr>
        <p:spPr>
          <a:xfrm>
            <a:off x="6481724" y="5069434"/>
            <a:ext cx="1550822" cy="687995"/>
          </a:xfrm>
          <a:prstGeom prst="rect">
            <a:avLst/>
          </a:prstGeom>
          <a:noFill/>
          <a:ln/>
        </p:spPr>
        <p:txBody>
          <a:bodyPr wrap="square" lIns="12700" tIns="25400" rIns="25400" bIns="12700" rtlCol="0" anchor="ctr">
            <a:normAutofit/>
          </a:bodyPr>
          <a:lstStyle/>
          <a:p>
            <a:pPr algn="l" indent="0" marL="0">
              <a:lnSpc>
                <a:spcPct val="95000"/>
              </a:lnSpc>
              <a:buNone/>
            </a:pPr>
            <a:r>
              <a:rPr lang="en-US" sz="855" b="1" dirty="0">
                <a:solidFill>
                  <a:srgbClr val="0B1A3C"/>
                </a:solidFill>
                <a:latin typeface="Segoe UI" pitchFamily="34" charset="0"/>
                <a:ea typeface="Segoe UI" pitchFamily="34" charset="-122"/>
                <a:cs typeface="Segoe UI" pitchFamily="34" charset="-120"/>
              </a:rPr>
              <a:t>servicio-notificaciones</a:t>
            </a:r>
            <a:endParaRPr lang="en-US" sz="855" dirty="0"/>
          </a:p>
          <a:p>
            <a:pPr algn="l" indent="0" marL="0">
              <a:lnSpc>
                <a:spcPct val="95000"/>
              </a:lnSpc>
              <a:buNone/>
            </a:pPr>
            <a:r>
              <a:rPr lang="en-US" sz="684" dirty="0">
                <a:solidFill>
                  <a:srgbClr val="55627E"/>
                </a:solidFill>
                <a:latin typeface="Segoe UI" pitchFamily="34" charset="0"/>
                <a:ea typeface="Segoe UI" pitchFamily="34" charset="-122"/>
                <a:cs typeface="Segoe UI" pitchFamily="34" charset="-120"/>
              </a:rPr>
              <a:t>Spring Boot · :8081</a:t>
            </a:r>
            <a:endParaRPr lang="en-US" sz="855" dirty="0"/>
          </a:p>
        </p:txBody>
      </p:sp>
      <p:sp>
        <p:nvSpPr>
          <p:cNvPr id="53" name="Shape 51"/>
          <p:cNvSpPr/>
          <p:nvPr/>
        </p:nvSpPr>
        <p:spPr>
          <a:xfrm>
            <a:off x="8811616" y="5069434"/>
            <a:ext cx="1991563" cy="687995"/>
          </a:xfrm>
          <a:prstGeom prst="roundRect">
            <a:avLst>
              <a:gd name="adj" fmla="val 11962"/>
            </a:avLst>
          </a:prstGeom>
          <a:solidFill>
            <a:srgbClr val="F3F6FA"/>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8903056" y="5203119"/>
            <a:ext cx="420624" cy="420624"/>
          </a:xfrm>
          <a:prstGeom prst="ellipse">
            <a:avLst/>
          </a:prstGeom>
          <a:solidFill>
            <a:srgbClr val="E2EEF1"/>
          </a:solidFill>
          <a:ln w="12700">
            <a:solidFill>
              <a:srgbClr val="E2EEF1"/>
            </a:solidFill>
            <a:prstDash val="solid"/>
          </a:ln>
        </p:spPr>
      </p:sp>
      <p:sp>
        <p:nvSpPr>
          <p:cNvPr id="55" name="Icono database"/>
          <p:cNvSpPr/>
          <p:nvPr/>
        </p:nvSpPr>
        <p:spPr>
          <a:xfrm>
            <a:off x="8957920" y="5257983"/>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56" name="Text 54"/>
          <p:cNvSpPr/>
          <p:nvPr/>
        </p:nvSpPr>
        <p:spPr>
          <a:xfrm>
            <a:off x="9378544" y="5069434"/>
            <a:ext cx="1369771" cy="687995"/>
          </a:xfrm>
          <a:prstGeom prst="rect">
            <a:avLst/>
          </a:prstGeom>
          <a:noFill/>
          <a:ln/>
        </p:spPr>
        <p:txBody>
          <a:bodyPr wrap="square" lIns="12700" tIns="25400" rIns="25400" bIns="12700" rtlCol="0" anchor="ctr">
            <a:normAutofit/>
          </a:bodyPr>
          <a:lstStyle/>
          <a:p>
            <a:pPr algn="l" indent="0" marL="0">
              <a:lnSpc>
                <a:spcPct val="95000"/>
              </a:lnSpc>
              <a:buNone/>
            </a:pPr>
            <a:r>
              <a:rPr lang="en-US" sz="1026" b="1" dirty="0">
                <a:solidFill>
                  <a:srgbClr val="0B1A3C"/>
                </a:solidFill>
                <a:latin typeface="Segoe UI" pitchFamily="34" charset="0"/>
                <a:ea typeface="Segoe UI" pitchFamily="34" charset="-122"/>
                <a:cs typeface="Segoe UI" pitchFamily="34" charset="-120"/>
              </a:rPr>
              <a:t>db-notificaciones</a:t>
            </a:r>
            <a:endParaRPr lang="en-US" sz="1026" dirty="0"/>
          </a:p>
          <a:p>
            <a:pPr algn="l" indent="0" marL="0">
              <a:lnSpc>
                <a:spcPct val="95000"/>
              </a:lnSpc>
              <a:buNone/>
            </a:pPr>
            <a:r>
              <a:rPr lang="en-US" sz="821" dirty="0">
                <a:solidFill>
                  <a:srgbClr val="55627E"/>
                </a:solidFill>
                <a:latin typeface="Segoe UI" pitchFamily="34" charset="0"/>
                <a:ea typeface="Segoe UI" pitchFamily="34" charset="-122"/>
                <a:cs typeface="Segoe UI" pitchFamily="34" charset="-120"/>
              </a:rPr>
              <a:t>PostgreSQL 17</a:t>
            </a:r>
            <a:endParaRPr lang="en-US" sz="1026"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3F4FA"/>
          </a:solidFill>
          <a:ln w="22225">
            <a:solidFill>
              <a:srgbClr val="2BA6CB"/>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5F5FA"/>
          </a:solidFill>
          <a:ln w="12700">
            <a:solidFill>
              <a:srgbClr val="9DD7E8"/>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47625">
            <a:solidFill>
              <a:srgbClr val="2BA6CB"/>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47625">
            <a:solidFill>
              <a:srgbClr val="2BA6CB"/>
            </a:solidFill>
            <a:prstDash val="solid"/>
          </a:ln>
        </p:spPr>
      </p:sp>
      <p:sp>
        <p:nvSpPr>
          <p:cNvPr id="13" name="Shape 11"/>
          <p:cNvSpPr/>
          <p:nvPr/>
        </p:nvSpPr>
        <p:spPr>
          <a:xfrm flipV="1">
            <a:off x="6411864" y="2530913"/>
            <a:ext cx="0" cy="584631"/>
          </a:xfrm>
          <a:prstGeom prst="line">
            <a:avLst/>
          </a:prstGeom>
          <a:noFill/>
          <a:ln w="47625">
            <a:solidFill>
              <a:srgbClr val="2BA6CB"/>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31750">
            <a:solidFill>
              <a:srgbClr val="CBD5E3"/>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25400">
            <a:solidFill>
              <a:srgbClr val="CBD5E3"/>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31750">
            <a:solidFill>
              <a:srgbClr val="CBD5E3"/>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31750">
            <a:solidFill>
              <a:srgbClr val="CBD5E3"/>
            </a:solidFill>
            <a:prstDash val="solid"/>
          </a:ln>
        </p:spPr>
      </p:sp>
      <p:sp>
        <p:nvSpPr>
          <p:cNvPr id="26" name="Shape 24"/>
          <p:cNvSpPr/>
          <p:nvPr/>
        </p:nvSpPr>
        <p:spPr>
          <a:xfrm>
            <a:off x="6411864" y="3431560"/>
            <a:ext cx="0" cy="711037"/>
          </a:xfrm>
          <a:prstGeom prst="line">
            <a:avLst/>
          </a:prstGeom>
          <a:noFill/>
          <a:ln w="31750">
            <a:solidFill>
              <a:srgbClr val="CBD5E3"/>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1" name="Shape 29"/>
          <p:cNvSpPr/>
          <p:nvPr/>
        </p:nvSpPr>
        <p:spPr>
          <a:xfrm>
            <a:off x="3422142" y="3063240"/>
            <a:ext cx="420624" cy="420624"/>
          </a:xfrm>
          <a:prstGeom prst="ellipse">
            <a:avLst/>
          </a:prstGeom>
          <a:solidFill>
            <a:srgbClr val="E3F4FA"/>
          </a:solidFill>
          <a:ln w="12700">
            <a:solidFill>
              <a:srgbClr val="E3F4F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3F6FA"/>
          </a:solidFill>
          <a:ln w="12700">
            <a:solidFill>
              <a:srgbClr val="D5DDE8"/>
            </a:solidFill>
            <a:prstDash val="solid"/>
          </a:ln>
        </p:spPr>
      </p:sp>
      <p:sp>
        <p:nvSpPr>
          <p:cNvPr id="36" name="Shape 34"/>
          <p:cNvSpPr/>
          <p:nvPr/>
        </p:nvSpPr>
        <p:spPr>
          <a:xfrm>
            <a:off x="8557412" y="2020385"/>
            <a:ext cx="420624" cy="420624"/>
          </a:xfrm>
          <a:prstGeom prst="ellipse">
            <a:avLst/>
          </a:prstGeom>
          <a:solidFill>
            <a:srgbClr val="EEF2F7"/>
          </a:solidFill>
          <a:ln w="12700">
            <a:solidFill>
              <a:srgbClr val="EEF2F7"/>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3" name="Text 4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usa la UI en el navegador.</a:t>
            </a:r>
            <a:endParaRPr lang="en-US" sz="1300" dirty="0"/>
          </a:p>
        </p:txBody>
      </p:sp>
      <p:sp>
        <p:nvSpPr>
          <p:cNvPr id="44" name="Shape 4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6" name="Text 4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llama a solicitudes por /api: crear, listar, enviar, aprobar o rechazar.</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AF0FA"/>
          </a:solidFill>
          <a:ln w="12700">
            <a:solidFill>
              <a:srgbClr val="AFC4E6"/>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3F4FA"/>
          </a:solidFill>
          <a:ln w="22225">
            <a:solidFill>
              <a:srgbClr val="2BA6CB"/>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31750">
            <a:solidFill>
              <a:srgbClr val="2E6DB4"/>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31750">
            <a:solidFill>
              <a:srgbClr val="2E6DB4"/>
            </a:solidFill>
            <a:prstDash val="solid"/>
          </a:ln>
        </p:spPr>
      </p:sp>
      <p:sp>
        <p:nvSpPr>
          <p:cNvPr id="13" name="Shape 11"/>
          <p:cNvSpPr/>
          <p:nvPr/>
        </p:nvSpPr>
        <p:spPr>
          <a:xfrm flipV="1">
            <a:off x="6411864" y="2530913"/>
            <a:ext cx="0" cy="584631"/>
          </a:xfrm>
          <a:prstGeom prst="line">
            <a:avLst/>
          </a:prstGeom>
          <a:noFill/>
          <a:ln w="31750">
            <a:solidFill>
              <a:srgbClr val="2E6DB4"/>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47625">
            <a:solidFill>
              <a:srgbClr val="2BA6CB"/>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41275">
            <a:solidFill>
              <a:srgbClr val="2BA6CB"/>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31750">
            <a:solidFill>
              <a:srgbClr val="CBD5E3"/>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31750">
            <a:solidFill>
              <a:srgbClr val="CBD5E3"/>
            </a:solidFill>
            <a:prstDash val="solid"/>
          </a:ln>
        </p:spPr>
      </p:sp>
      <p:sp>
        <p:nvSpPr>
          <p:cNvPr id="26" name="Shape 24"/>
          <p:cNvSpPr/>
          <p:nvPr/>
        </p:nvSpPr>
        <p:spPr>
          <a:xfrm>
            <a:off x="6411864" y="3431560"/>
            <a:ext cx="0" cy="711037"/>
          </a:xfrm>
          <a:prstGeom prst="line">
            <a:avLst/>
          </a:prstGeom>
          <a:noFill/>
          <a:ln w="31750">
            <a:solidFill>
              <a:srgbClr val="CBD5E3"/>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3422142" y="3063240"/>
            <a:ext cx="420624" cy="420624"/>
          </a:xfrm>
          <a:prstGeom prst="ellipse">
            <a:avLst/>
          </a:prstGeom>
          <a:solidFill>
            <a:srgbClr val="E2E5EA"/>
          </a:solidFill>
          <a:ln w="12700">
            <a:solidFill>
              <a:srgbClr val="E2E5E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8557412" y="2020385"/>
            <a:ext cx="420624" cy="420624"/>
          </a:xfrm>
          <a:prstGeom prst="ellipse">
            <a:avLst/>
          </a:prstGeom>
          <a:solidFill>
            <a:srgbClr val="E3F4FA"/>
          </a:solidFill>
          <a:ln w="12700">
            <a:solidFill>
              <a:srgbClr val="E3F4FA"/>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3" name="Text 4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los datos en su propia base.</a:t>
            </a:r>
            <a:endParaRPr lang="en-US" sz="1300" dirty="0"/>
          </a:p>
        </p:txBody>
      </p:sp>
      <p:sp>
        <p:nvSpPr>
          <p:cNvPr id="44" name="Shape 4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6" name="Text 4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solicitudes avisa después a notificaciones con un evento por HTTP.</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AF0FA"/>
          </a:solidFill>
          <a:ln w="12700">
            <a:solidFill>
              <a:srgbClr val="AFC4E6"/>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5F5FA"/>
          </a:solidFill>
          <a:ln w="12700">
            <a:solidFill>
              <a:srgbClr val="9DD7E8"/>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31750">
            <a:solidFill>
              <a:srgbClr val="2E6DB4"/>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31750">
            <a:solidFill>
              <a:srgbClr val="2E6DB4"/>
            </a:solidFill>
            <a:prstDash val="solid"/>
          </a:ln>
        </p:spPr>
      </p:sp>
      <p:sp>
        <p:nvSpPr>
          <p:cNvPr id="13" name="Shape 11"/>
          <p:cNvSpPr/>
          <p:nvPr/>
        </p:nvSpPr>
        <p:spPr>
          <a:xfrm flipV="1">
            <a:off x="6411864" y="2530913"/>
            <a:ext cx="0" cy="584631"/>
          </a:xfrm>
          <a:prstGeom prst="line">
            <a:avLst/>
          </a:prstGeom>
          <a:noFill/>
          <a:ln w="31750">
            <a:solidFill>
              <a:srgbClr val="2E6DB4"/>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31750">
            <a:solidFill>
              <a:srgbClr val="55627E"/>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25400">
            <a:solidFill>
              <a:srgbClr val="55627E"/>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47625">
            <a:solidFill>
              <a:srgbClr val="2BA6CB"/>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47625">
            <a:solidFill>
              <a:srgbClr val="2BA6CB"/>
            </a:solidFill>
            <a:prstDash val="solid"/>
          </a:ln>
        </p:spPr>
      </p:sp>
      <p:sp>
        <p:nvSpPr>
          <p:cNvPr id="26" name="Shape 24"/>
          <p:cNvSpPr/>
          <p:nvPr/>
        </p:nvSpPr>
        <p:spPr>
          <a:xfrm>
            <a:off x="6411864" y="3431560"/>
            <a:ext cx="0" cy="711037"/>
          </a:xfrm>
          <a:prstGeom prst="line">
            <a:avLst/>
          </a:prstGeom>
          <a:noFill/>
          <a:ln w="47625">
            <a:solidFill>
              <a:srgbClr val="2BA6CB"/>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1" name="Shape 29"/>
          <p:cNvSpPr/>
          <p:nvPr/>
        </p:nvSpPr>
        <p:spPr>
          <a:xfrm>
            <a:off x="3422142" y="3063240"/>
            <a:ext cx="420624" cy="420624"/>
          </a:xfrm>
          <a:prstGeom prst="ellipse">
            <a:avLst/>
          </a:prstGeom>
          <a:solidFill>
            <a:srgbClr val="E3F4FA"/>
          </a:solidFill>
          <a:ln w="12700">
            <a:solidFill>
              <a:srgbClr val="E3F4F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557412" y="2020385"/>
            <a:ext cx="420624" cy="420624"/>
          </a:xfrm>
          <a:prstGeom prst="ellipse">
            <a:avLst/>
          </a:prstGeom>
          <a:solidFill>
            <a:srgbClr val="E4EAF1"/>
          </a:solidFill>
          <a:ln w="12700">
            <a:solidFill>
              <a:srgbClr val="E4EAF1"/>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1F4E8C"/>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3" name="Text 4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qué eventos ya consumió.</a:t>
            </a:r>
            <a:endParaRPr lang="en-US" sz="1300" dirty="0"/>
          </a:p>
        </p:txBody>
      </p:sp>
      <p:sp>
        <p:nvSpPr>
          <p:cNvPr id="44" name="Shape 4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6" name="Text 4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también consulta a notificaciones: avisos y eventos consumidos.</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vida de una solicitud</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Cuatro estados, y solo un momento genera un aviso.</a:t>
            </a:r>
            <a:endParaRPr lang="en-US" sz="1700" dirty="0"/>
          </a:p>
        </p:txBody>
      </p:sp>
      <p:sp>
        <p:nvSpPr>
          <p:cNvPr id="6" name="Shape 4"/>
          <p:cNvSpPr/>
          <p:nvPr/>
        </p:nvSpPr>
        <p:spPr>
          <a:xfrm>
            <a:off x="612648" y="2939796"/>
            <a:ext cx="2514600" cy="960120"/>
          </a:xfrm>
          <a:prstGeom prst="roundRect">
            <a:avLst>
              <a:gd name="adj" fmla="val 50000"/>
            </a:avLst>
          </a:prstGeom>
          <a:solidFill>
            <a:srgbClr val="F4F7FB"/>
          </a:solidFill>
          <a:ln w="28575">
            <a:solidFill>
              <a:srgbClr val="55627E"/>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77240" y="3099816"/>
            <a:ext cx="640080" cy="640080"/>
          </a:xfrm>
          <a:prstGeom prst="ellipse">
            <a:avLst/>
          </a:prstGeom>
          <a:solidFill>
            <a:srgbClr val="55627E"/>
          </a:solidFill>
          <a:ln w="12700">
            <a:solidFill>
              <a:srgbClr val="55627E"/>
            </a:solidFill>
            <a:prstDash val="solid"/>
          </a:ln>
        </p:spPr>
      </p:sp>
      <p:sp>
        <p:nvSpPr>
          <p:cNvPr id="8" name="Icono file-plus"/>
          <p:cNvSpPr/>
          <p:nvPr/>
        </p:nvSpPr>
        <p:spPr>
          <a:xfrm>
            <a:off x="930859" y="3253435"/>
            <a:ext cx="332842" cy="332842"/>
          </a:xfrm>
          <a:custGeom>
            <a:avLst/>
            <a:gdLst/>
            <a:ahLst/>
            <a:cxnLst/>
            <a:rect l="l" t="t" r="r" b="b"/>
            <a:pathLst>
              <a:path w="332842" h="332842">
                <a:moveTo>
                  <a:pt x="208026" y="27737"/>
                </a:moveTo>
                <a:lnTo>
                  <a:pt x="83210" y="27737"/>
                </a:lnTo>
                <a:cubicBezTo>
                  <a:pt x="67892" y="27737"/>
                  <a:pt x="55474" y="40155"/>
                  <a:pt x="55474" y="55474"/>
                </a:cubicBezTo>
                <a:lnTo>
                  <a:pt x="55474" y="277368"/>
                </a:lnTo>
                <a:cubicBezTo>
                  <a:pt x="55474" y="292687"/>
                  <a:pt x="67892" y="305105"/>
                  <a:pt x="83210" y="305105"/>
                </a:cubicBezTo>
                <a:lnTo>
                  <a:pt x="249631" y="305105"/>
                </a:lnTo>
                <a:cubicBezTo>
                  <a:pt x="264950" y="305105"/>
                  <a:pt x="277368" y="292687"/>
                  <a:pt x="277368" y="277368"/>
                </a:cubicBezTo>
                <a:lnTo>
                  <a:pt x="277368" y="97079"/>
                </a:lnTo>
                <a:close/>
                <a:moveTo>
                  <a:pt x="194158" y="27737"/>
                </a:moveTo>
                <a:lnTo>
                  <a:pt x="194158" y="83210"/>
                </a:lnTo>
                <a:cubicBezTo>
                  <a:pt x="194158" y="98529"/>
                  <a:pt x="206576" y="110947"/>
                  <a:pt x="221894" y="110947"/>
                </a:cubicBezTo>
                <a:lnTo>
                  <a:pt x="277368" y="110947"/>
                </a:lnTo>
                <a:moveTo>
                  <a:pt x="124816" y="208026"/>
                </a:moveTo>
                <a:lnTo>
                  <a:pt x="208026" y="208026"/>
                </a:lnTo>
                <a:moveTo>
                  <a:pt x="166421" y="249631"/>
                </a:moveTo>
                <a:lnTo>
                  <a:pt x="166421" y="166421"/>
                </a:lnTo>
              </a:path>
            </a:pathLst>
          </a:custGeom>
          <a:noFill/>
          <a:ln w="27737" cap="rnd">
            <a:solidFill>
              <a:srgbClr val="FFFFFF"/>
            </a:solidFill>
            <a:prstDash val="solid"/>
            <a:round/>
          </a:ln>
        </p:spPr>
      </p:sp>
      <p:sp>
        <p:nvSpPr>
          <p:cNvPr id="9" name="Text 7"/>
          <p:cNvSpPr/>
          <p:nvPr/>
        </p:nvSpPr>
        <p:spPr>
          <a:xfrm>
            <a:off x="1527048" y="30952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55627E"/>
                </a:solidFill>
                <a:latin typeface="Segoe UI Semibold" pitchFamily="34" charset="0"/>
                <a:ea typeface="Segoe UI Semibold" pitchFamily="34" charset="-122"/>
                <a:cs typeface="Segoe UI Semibold" pitchFamily="34" charset="-120"/>
              </a:rPr>
              <a:t>BORRADOR</a:t>
            </a:r>
            <a:endParaRPr lang="en-US" sz="1700" dirty="0"/>
          </a:p>
        </p:txBody>
      </p:sp>
      <p:sp>
        <p:nvSpPr>
          <p:cNvPr id="10" name="Text 8"/>
          <p:cNvSpPr/>
          <p:nvPr/>
        </p:nvSpPr>
        <p:spPr>
          <a:xfrm>
            <a:off x="1527048" y="3451860"/>
            <a:ext cx="1490472" cy="329184"/>
          </a:xfrm>
          <a:prstGeom prst="rect">
            <a:avLst/>
          </a:prstGeom>
          <a:noFill/>
          <a:ln/>
        </p:spPr>
        <p:txBody>
          <a:bodyPr wrap="square" lIns="0" tIns="0" rIns="0" bIns="0" rtlCol="0" anchor="t">
            <a:normAutofit/>
          </a:bodyPr>
          <a:lstStyle/>
          <a:p>
            <a:pPr algn="l" indent="0" marL="0">
              <a:buNone/>
            </a:pPr>
            <a:r>
              <a:rPr lang="en-US" sz="1050" dirty="0">
                <a:solidFill>
                  <a:srgbClr val="0B1A3C"/>
                </a:solidFill>
                <a:latin typeface="Segoe UI" pitchFamily="34" charset="0"/>
                <a:ea typeface="Segoe UI" pitchFamily="34" charset="-122"/>
                <a:cs typeface="Segoe UI" pitchFamily="34" charset="-120"/>
              </a:rPr>
              <a:t>Recién creada. Nadie se entera.</a:t>
            </a:r>
            <a:endParaRPr lang="en-US" sz="1050" dirty="0"/>
          </a:p>
        </p:txBody>
      </p:sp>
      <p:sp>
        <p:nvSpPr>
          <p:cNvPr id="11" name="Shape 9"/>
          <p:cNvSpPr/>
          <p:nvPr/>
        </p:nvSpPr>
        <p:spPr>
          <a:xfrm>
            <a:off x="4838548" y="2939796"/>
            <a:ext cx="2514600" cy="960120"/>
          </a:xfrm>
          <a:prstGeom prst="roundRect">
            <a:avLst>
              <a:gd name="adj" fmla="val 50000"/>
            </a:avLst>
          </a:prstGeom>
          <a:solidFill>
            <a:srgbClr val="E3F4FA"/>
          </a:solidFill>
          <a:ln w="28575">
            <a:solidFill>
              <a:srgbClr val="0B6E8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5003140" y="3099816"/>
            <a:ext cx="640080" cy="640080"/>
          </a:xfrm>
          <a:prstGeom prst="ellipse">
            <a:avLst/>
          </a:prstGeom>
          <a:solidFill>
            <a:srgbClr val="0B6E8A"/>
          </a:solidFill>
          <a:ln w="12700">
            <a:solidFill>
              <a:srgbClr val="0B6E8A"/>
            </a:solidFill>
            <a:prstDash val="solid"/>
          </a:ln>
        </p:spPr>
      </p:sp>
      <p:sp>
        <p:nvSpPr>
          <p:cNvPr id="13" name="Icono send"/>
          <p:cNvSpPr/>
          <p:nvPr/>
        </p:nvSpPr>
        <p:spPr>
          <a:xfrm>
            <a:off x="5156759" y="3253435"/>
            <a:ext cx="332842" cy="332842"/>
          </a:xfrm>
          <a:custGeom>
            <a:avLst/>
            <a:gdLst/>
            <a:ahLst/>
            <a:cxnLst/>
            <a:rect l="l" t="t" r="r" b="b"/>
            <a:pathLst>
              <a:path w="332842" h="332842">
                <a:moveTo>
                  <a:pt x="201591" y="300750"/>
                </a:moveTo>
                <a:cubicBezTo>
                  <a:pt x="202670" y="303439"/>
                  <a:pt x="205307" y="305174"/>
                  <a:pt x="208204" y="305100"/>
                </a:cubicBezTo>
                <a:cubicBezTo>
                  <a:pt x="211101" y="305026"/>
                  <a:pt x="213646" y="303158"/>
                  <a:pt x="214586" y="300417"/>
                </a:cubicBezTo>
                <a:lnTo>
                  <a:pt x="304730" y="36918"/>
                </a:lnTo>
                <a:cubicBezTo>
                  <a:pt x="305636" y="34409"/>
                  <a:pt x="305011" y="31603"/>
                  <a:pt x="303125" y="29717"/>
                </a:cubicBezTo>
                <a:cubicBezTo>
                  <a:pt x="301239" y="27831"/>
                  <a:pt x="298432" y="27205"/>
                  <a:pt x="295924" y="28111"/>
                </a:cubicBezTo>
                <a:lnTo>
                  <a:pt x="32424" y="118256"/>
                </a:lnTo>
                <a:cubicBezTo>
                  <a:pt x="29683" y="119196"/>
                  <a:pt x="27816" y="121741"/>
                  <a:pt x="27742" y="124638"/>
                </a:cubicBezTo>
                <a:cubicBezTo>
                  <a:pt x="27668" y="127534"/>
                  <a:pt x="29402" y="130172"/>
                  <a:pt x="32091" y="131251"/>
                </a:cubicBezTo>
                <a:lnTo>
                  <a:pt x="142068" y="175352"/>
                </a:lnTo>
                <a:cubicBezTo>
                  <a:pt x="149093" y="178165"/>
                  <a:pt x="154664" y="183726"/>
                  <a:pt x="157490" y="190746"/>
                </a:cubicBezTo>
                <a:close/>
                <a:moveTo>
                  <a:pt x="303080" y="29775"/>
                </a:moveTo>
                <a:lnTo>
                  <a:pt x="151360" y="181482"/>
                </a:lnTo>
              </a:path>
            </a:pathLst>
          </a:custGeom>
          <a:noFill/>
          <a:ln w="27737" cap="rnd">
            <a:solidFill>
              <a:srgbClr val="FFFFFF"/>
            </a:solidFill>
            <a:prstDash val="solid"/>
            <a:round/>
          </a:ln>
        </p:spPr>
      </p:sp>
      <p:sp>
        <p:nvSpPr>
          <p:cNvPr id="14" name="Text 12"/>
          <p:cNvSpPr/>
          <p:nvPr/>
        </p:nvSpPr>
        <p:spPr>
          <a:xfrm>
            <a:off x="5752948" y="30952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0B6E8A"/>
                </a:solidFill>
                <a:latin typeface="Segoe UI Semibold" pitchFamily="34" charset="0"/>
                <a:ea typeface="Segoe UI Semibold" pitchFamily="34" charset="-122"/>
                <a:cs typeface="Segoe UI Semibold" pitchFamily="34" charset="-120"/>
              </a:rPr>
              <a:t>ENVIADA</a:t>
            </a:r>
            <a:endParaRPr lang="en-US" sz="1700" dirty="0"/>
          </a:p>
        </p:txBody>
      </p:sp>
      <p:sp>
        <p:nvSpPr>
          <p:cNvPr id="15" name="Text 13"/>
          <p:cNvSpPr/>
          <p:nvPr/>
        </p:nvSpPr>
        <p:spPr>
          <a:xfrm>
            <a:off x="5752948" y="3451860"/>
            <a:ext cx="1490472" cy="329184"/>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Se genera un aviso.</a:t>
            </a:r>
            <a:endParaRPr lang="en-US" sz="1150" dirty="0"/>
          </a:p>
        </p:txBody>
      </p:sp>
      <p:sp>
        <p:nvSpPr>
          <p:cNvPr id="16" name="Shape 14"/>
          <p:cNvSpPr/>
          <p:nvPr/>
        </p:nvSpPr>
        <p:spPr>
          <a:xfrm>
            <a:off x="9064447" y="2253996"/>
            <a:ext cx="2514600" cy="960120"/>
          </a:xfrm>
          <a:prstGeom prst="roundRect">
            <a:avLst>
              <a:gd name="adj" fmla="val 50000"/>
            </a:avLst>
          </a:prstGeom>
          <a:solidFill>
            <a:srgbClr val="E1F1EA"/>
          </a:solidFill>
          <a:ln w="28575">
            <a:solidFill>
              <a:srgbClr val="0A6648"/>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9229039" y="2414016"/>
            <a:ext cx="640080" cy="640080"/>
          </a:xfrm>
          <a:prstGeom prst="ellipse">
            <a:avLst/>
          </a:prstGeom>
          <a:solidFill>
            <a:srgbClr val="0A6648"/>
          </a:solidFill>
          <a:ln w="12700">
            <a:solidFill>
              <a:srgbClr val="0A6648"/>
            </a:solidFill>
            <a:prstDash val="solid"/>
          </a:ln>
        </p:spPr>
      </p:sp>
      <p:sp>
        <p:nvSpPr>
          <p:cNvPr id="18" name="Icono circle-check"/>
          <p:cNvSpPr/>
          <p:nvPr/>
        </p:nvSpPr>
        <p:spPr>
          <a:xfrm>
            <a:off x="9382658" y="2567635"/>
            <a:ext cx="332842" cy="332842"/>
          </a:xfrm>
          <a:custGeom>
            <a:avLst/>
            <a:gdLst/>
            <a:ahLst/>
            <a:cxnLst/>
            <a:rect l="l" t="t" r="r" b="b"/>
            <a:pathLst>
              <a:path w="332842" h="332842">
                <a:moveTo>
                  <a:pt x="305105" y="166421"/>
                </a:moveTo>
                <a:cubicBezTo>
                  <a:pt x="305105" y="243014"/>
                  <a:pt x="243014" y="305105"/>
                  <a:pt x="166421" y="305105"/>
                </a:cubicBezTo>
                <a:cubicBezTo>
                  <a:pt x="89828" y="305105"/>
                  <a:pt x="27737" y="243014"/>
                  <a:pt x="27737" y="166421"/>
                </a:cubicBezTo>
                <a:cubicBezTo>
                  <a:pt x="27737" y="89828"/>
                  <a:pt x="89828" y="27737"/>
                  <a:pt x="166421" y="27737"/>
                </a:cubicBezTo>
                <a:cubicBezTo>
                  <a:pt x="243014" y="27737"/>
                  <a:pt x="305105" y="89828"/>
                  <a:pt x="305105" y="166421"/>
                </a:cubicBezTo>
                <a:close/>
                <a:moveTo>
                  <a:pt x="124816" y="166421"/>
                </a:moveTo>
                <a:lnTo>
                  <a:pt x="152552" y="194158"/>
                </a:lnTo>
                <a:lnTo>
                  <a:pt x="208026" y="138684"/>
                </a:lnTo>
              </a:path>
            </a:pathLst>
          </a:custGeom>
          <a:noFill/>
          <a:ln w="27737" cap="rnd">
            <a:solidFill>
              <a:srgbClr val="FFFFFF"/>
            </a:solidFill>
            <a:prstDash val="solid"/>
            <a:round/>
          </a:ln>
        </p:spPr>
      </p:sp>
      <p:sp>
        <p:nvSpPr>
          <p:cNvPr id="19" name="Text 17"/>
          <p:cNvSpPr/>
          <p:nvPr/>
        </p:nvSpPr>
        <p:spPr>
          <a:xfrm>
            <a:off x="9978847" y="24094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0A6648"/>
                </a:solidFill>
                <a:latin typeface="Segoe UI Semibold" pitchFamily="34" charset="0"/>
                <a:ea typeface="Segoe UI Semibold" pitchFamily="34" charset="-122"/>
                <a:cs typeface="Segoe UI Semibold" pitchFamily="34" charset="-120"/>
              </a:rPr>
              <a:t>APROBADA</a:t>
            </a:r>
            <a:endParaRPr lang="en-US" sz="1700" dirty="0"/>
          </a:p>
        </p:txBody>
      </p:sp>
      <p:sp>
        <p:nvSpPr>
          <p:cNvPr id="20" name="Text 18"/>
          <p:cNvSpPr/>
          <p:nvPr/>
        </p:nvSpPr>
        <p:spPr>
          <a:xfrm>
            <a:off x="9978847" y="2766060"/>
            <a:ext cx="1490472" cy="329184"/>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Termina su vida.</a:t>
            </a:r>
            <a:endParaRPr lang="en-US" sz="1150" dirty="0"/>
          </a:p>
        </p:txBody>
      </p:sp>
      <p:sp>
        <p:nvSpPr>
          <p:cNvPr id="21" name="Shape 19"/>
          <p:cNvSpPr/>
          <p:nvPr/>
        </p:nvSpPr>
        <p:spPr>
          <a:xfrm>
            <a:off x="9064447" y="3625596"/>
            <a:ext cx="2514600" cy="960120"/>
          </a:xfrm>
          <a:prstGeom prst="roundRect">
            <a:avLst>
              <a:gd name="adj" fmla="val 50000"/>
            </a:avLst>
          </a:prstGeom>
          <a:solidFill>
            <a:srgbClr val="F7E3E7"/>
          </a:solidFill>
          <a:ln w="28575">
            <a:solidFill>
              <a:srgbClr val="AB243E"/>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9229039" y="3785616"/>
            <a:ext cx="640080" cy="640080"/>
          </a:xfrm>
          <a:prstGeom prst="ellipse">
            <a:avLst/>
          </a:prstGeom>
          <a:solidFill>
            <a:srgbClr val="AB243E"/>
          </a:solidFill>
          <a:ln w="12700">
            <a:solidFill>
              <a:srgbClr val="AB243E"/>
            </a:solidFill>
            <a:prstDash val="solid"/>
          </a:ln>
        </p:spPr>
      </p:sp>
      <p:sp>
        <p:nvSpPr>
          <p:cNvPr id="23" name="Icono circle-x"/>
          <p:cNvSpPr/>
          <p:nvPr/>
        </p:nvSpPr>
        <p:spPr>
          <a:xfrm>
            <a:off x="9382658" y="3939235"/>
            <a:ext cx="332842" cy="332842"/>
          </a:xfrm>
          <a:custGeom>
            <a:avLst/>
            <a:gdLst/>
            <a:ahLst/>
            <a:cxnLst/>
            <a:rect l="l" t="t" r="r" b="b"/>
            <a:pathLst>
              <a:path w="332842" h="332842">
                <a:moveTo>
                  <a:pt x="305105" y="166421"/>
                </a:moveTo>
                <a:cubicBezTo>
                  <a:pt x="305105" y="243014"/>
                  <a:pt x="243014" y="305105"/>
                  <a:pt x="166421" y="305105"/>
                </a:cubicBezTo>
                <a:cubicBezTo>
                  <a:pt x="89828" y="305105"/>
                  <a:pt x="27737" y="243014"/>
                  <a:pt x="27737" y="166421"/>
                </a:cubicBezTo>
                <a:cubicBezTo>
                  <a:pt x="27737" y="89828"/>
                  <a:pt x="89828" y="27737"/>
                  <a:pt x="166421" y="27737"/>
                </a:cubicBezTo>
                <a:cubicBezTo>
                  <a:pt x="243014" y="27737"/>
                  <a:pt x="305105" y="89828"/>
                  <a:pt x="305105" y="166421"/>
                </a:cubicBezTo>
                <a:close/>
                <a:moveTo>
                  <a:pt x="208026" y="124816"/>
                </a:moveTo>
                <a:lnTo>
                  <a:pt x="124816" y="208026"/>
                </a:lnTo>
                <a:moveTo>
                  <a:pt x="124816" y="124816"/>
                </a:moveTo>
                <a:lnTo>
                  <a:pt x="208026" y="208026"/>
                </a:lnTo>
              </a:path>
            </a:pathLst>
          </a:custGeom>
          <a:noFill/>
          <a:ln w="27737" cap="rnd">
            <a:solidFill>
              <a:srgbClr val="FFFFFF"/>
            </a:solidFill>
            <a:prstDash val="solid"/>
            <a:round/>
          </a:ln>
        </p:spPr>
      </p:sp>
      <p:sp>
        <p:nvSpPr>
          <p:cNvPr id="24" name="Text 22"/>
          <p:cNvSpPr/>
          <p:nvPr/>
        </p:nvSpPr>
        <p:spPr>
          <a:xfrm>
            <a:off x="9978847" y="37810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AB243E"/>
                </a:solidFill>
                <a:latin typeface="Segoe UI Semibold" pitchFamily="34" charset="0"/>
                <a:ea typeface="Segoe UI Semibold" pitchFamily="34" charset="-122"/>
                <a:cs typeface="Segoe UI Semibold" pitchFamily="34" charset="-120"/>
              </a:rPr>
              <a:t>RECHAZADA</a:t>
            </a:r>
            <a:endParaRPr lang="en-US" sz="1700" dirty="0"/>
          </a:p>
        </p:txBody>
      </p:sp>
      <p:sp>
        <p:nvSpPr>
          <p:cNvPr id="25" name="Text 23"/>
          <p:cNvSpPr/>
          <p:nvPr/>
        </p:nvSpPr>
        <p:spPr>
          <a:xfrm>
            <a:off x="9978847" y="4137660"/>
            <a:ext cx="1490472" cy="329184"/>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Termina su vida.</a:t>
            </a:r>
            <a:endParaRPr lang="en-US" sz="1150" dirty="0"/>
          </a:p>
        </p:txBody>
      </p:sp>
      <p:sp>
        <p:nvSpPr>
          <p:cNvPr id="26" name="Shape 24"/>
          <p:cNvSpPr/>
          <p:nvPr/>
        </p:nvSpPr>
        <p:spPr>
          <a:xfrm>
            <a:off x="3200400" y="3419856"/>
            <a:ext cx="1564996" cy="0"/>
          </a:xfrm>
          <a:prstGeom prst="line">
            <a:avLst/>
          </a:prstGeom>
          <a:noFill/>
          <a:ln w="38100">
            <a:solidFill>
              <a:srgbClr val="2BA6CB"/>
            </a:solidFill>
            <a:prstDash val="solid"/>
            <a:tailEnd type="triangle"/>
          </a:ln>
        </p:spPr>
      </p:sp>
      <p:sp>
        <p:nvSpPr>
          <p:cNvPr id="27" name="Text 25"/>
          <p:cNvSpPr/>
          <p:nvPr/>
        </p:nvSpPr>
        <p:spPr>
          <a:xfrm>
            <a:off x="3557702" y="2798064"/>
            <a:ext cx="850392" cy="329184"/>
          </a:xfrm>
          <a:prstGeom prst="roundRect">
            <a:avLst>
              <a:gd name="adj" fmla="val 50000"/>
            </a:avLst>
          </a:prstGeom>
          <a:solidFill>
            <a:srgbClr val="0B2350"/>
          </a:solidFill>
          <a:ln>
            <a:solidFill>
              <a:srgbClr val="0B2350"/>
            </a:solidFill>
          </a:ln>
        </p:spPr>
        <p:txBody>
          <a:bodyPr wrap="square" lIns="0" tIns="76200" rIns="7620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Enviar</a:t>
            </a:r>
            <a:endParaRPr lang="en-US" sz="1200" dirty="0"/>
          </a:p>
        </p:txBody>
      </p:sp>
      <p:sp>
        <p:nvSpPr>
          <p:cNvPr id="28" name="Shape 26"/>
          <p:cNvSpPr/>
          <p:nvPr/>
        </p:nvSpPr>
        <p:spPr>
          <a:xfrm flipV="1">
            <a:off x="7426300" y="2734056"/>
            <a:ext cx="1564996" cy="685800"/>
          </a:xfrm>
          <a:prstGeom prst="line">
            <a:avLst/>
          </a:prstGeom>
          <a:noFill/>
          <a:ln w="38100">
            <a:solidFill>
              <a:srgbClr val="2BA6CB"/>
            </a:solidFill>
            <a:prstDash val="solid"/>
            <a:tailEnd type="triangle"/>
          </a:ln>
        </p:spPr>
      </p:sp>
      <p:sp>
        <p:nvSpPr>
          <p:cNvPr id="29" name="Shape 27"/>
          <p:cNvSpPr/>
          <p:nvPr/>
        </p:nvSpPr>
        <p:spPr>
          <a:xfrm>
            <a:off x="7426300" y="3419856"/>
            <a:ext cx="1564996" cy="685800"/>
          </a:xfrm>
          <a:prstGeom prst="line">
            <a:avLst/>
          </a:prstGeom>
          <a:noFill/>
          <a:ln w="38100">
            <a:solidFill>
              <a:srgbClr val="2BA6CB"/>
            </a:solidFill>
            <a:prstDash val="solid"/>
            <a:tailEnd type="triangle"/>
          </a:ln>
        </p:spPr>
      </p:sp>
      <p:sp>
        <p:nvSpPr>
          <p:cNvPr id="30" name="Text 28"/>
          <p:cNvSpPr/>
          <p:nvPr/>
        </p:nvSpPr>
        <p:spPr>
          <a:xfrm>
            <a:off x="7398868" y="2798064"/>
            <a:ext cx="1619860" cy="329184"/>
          </a:xfrm>
          <a:prstGeom prst="roundRect">
            <a:avLst>
              <a:gd name="adj" fmla="val 50000"/>
            </a:avLst>
          </a:prstGeom>
          <a:solidFill>
            <a:srgbClr val="0B2350"/>
          </a:solidFill>
          <a:ln>
            <a:solidFill>
              <a:srgbClr val="0B2350"/>
            </a:solidFill>
          </a:ln>
        </p:spPr>
        <p:txBody>
          <a:bodyPr wrap="square" lIns="0" tIns="76200" rIns="7620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Aprobar o rechazar</a:t>
            </a:r>
            <a:endParaRPr lang="en-US" sz="1200" dirty="0"/>
          </a:p>
        </p:txBody>
      </p:sp>
      <p:sp>
        <p:nvSpPr>
          <p:cNvPr id="31" name="Shape 29"/>
          <p:cNvSpPr/>
          <p:nvPr/>
        </p:nvSpPr>
        <p:spPr>
          <a:xfrm>
            <a:off x="2805928" y="5394960"/>
            <a:ext cx="6579840" cy="960120"/>
          </a:xfrm>
          <a:prstGeom prst="roundRect">
            <a:avLst>
              <a:gd name="adj" fmla="val 13333"/>
            </a:avLst>
          </a:prstGeom>
          <a:solidFill>
            <a:srgbClr val="F7E3E7"/>
          </a:solidFill>
          <a:ln w="12700">
            <a:solidFill>
              <a:srgbClr val="D18795"/>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3007096" y="5573268"/>
            <a:ext cx="603504" cy="603504"/>
          </a:xfrm>
          <a:prstGeom prst="ellipse">
            <a:avLst/>
          </a:prstGeom>
          <a:solidFill>
            <a:srgbClr val="FFFFFF"/>
          </a:solidFill>
          <a:ln w="12700">
            <a:solidFill>
              <a:srgbClr val="FFFFFF"/>
            </a:solidFill>
            <a:prstDash val="solid"/>
          </a:ln>
        </p:spPr>
      </p:sp>
      <p:sp>
        <p:nvSpPr>
          <p:cNvPr id="33" name="Icono ban"/>
          <p:cNvSpPr/>
          <p:nvPr/>
        </p:nvSpPr>
        <p:spPr>
          <a:xfrm>
            <a:off x="3151937" y="5718109"/>
            <a:ext cx="313822" cy="313822"/>
          </a:xfrm>
          <a:custGeom>
            <a:avLst/>
            <a:gdLst/>
            <a:ahLst/>
            <a:cxnLst/>
            <a:rect l="l" t="t" r="r" b="b"/>
            <a:pathLst>
              <a:path w="313822" h="313822">
                <a:moveTo>
                  <a:pt x="287670" y="156911"/>
                </a:moveTo>
                <a:cubicBezTo>
                  <a:pt x="287670" y="229127"/>
                  <a:pt x="229127" y="287670"/>
                  <a:pt x="156911" y="287670"/>
                </a:cubicBezTo>
                <a:cubicBezTo>
                  <a:pt x="84695" y="287670"/>
                  <a:pt x="26152" y="229127"/>
                  <a:pt x="26152" y="156911"/>
                </a:cubicBezTo>
                <a:cubicBezTo>
                  <a:pt x="26152" y="84695"/>
                  <a:pt x="84695" y="26152"/>
                  <a:pt x="156911" y="26152"/>
                </a:cubicBezTo>
                <a:cubicBezTo>
                  <a:pt x="229127" y="26152"/>
                  <a:pt x="287670" y="84695"/>
                  <a:pt x="287670" y="156911"/>
                </a:cubicBezTo>
                <a:close/>
                <a:moveTo>
                  <a:pt x="64072" y="64072"/>
                </a:moveTo>
                <a:lnTo>
                  <a:pt x="249750" y="249750"/>
                </a:lnTo>
              </a:path>
            </a:pathLst>
          </a:custGeom>
          <a:noFill/>
          <a:ln w="26152" cap="rnd">
            <a:solidFill>
              <a:srgbClr val="AB243E"/>
            </a:solidFill>
            <a:prstDash val="solid"/>
            <a:round/>
          </a:ln>
        </p:spPr>
      </p:sp>
      <p:sp>
        <p:nvSpPr>
          <p:cNvPr id="34" name="Text 32"/>
          <p:cNvSpPr/>
          <p:nvPr/>
        </p:nvSpPr>
        <p:spPr>
          <a:xfrm>
            <a:off x="3766048" y="5522976"/>
            <a:ext cx="5482560" cy="365760"/>
          </a:xfrm>
          <a:prstGeom prst="rect">
            <a:avLst/>
          </a:prstGeom>
          <a:noFill/>
          <a:ln/>
        </p:spPr>
        <p:txBody>
          <a:bodyPr wrap="square" lIns="0" tIns="0" rIns="0" bIns="0" rtlCol="0" anchor="t">
            <a:normAutofit/>
          </a:bodyPr>
          <a:lstStyle/>
          <a:p>
            <a:pPr algn="l" indent="0" marL="0">
              <a:buNone/>
            </a:pPr>
            <a:r>
              <a:rPr lang="en-US" sz="1700" b="1" dirty="0">
                <a:solidFill>
                  <a:srgbClr val="AB243E"/>
                </a:solidFill>
                <a:latin typeface="Segoe UI Semibold" pitchFamily="34" charset="0"/>
                <a:ea typeface="Segoe UI Semibold" pitchFamily="34" charset="-122"/>
                <a:cs typeface="Segoe UI Semibold" pitchFamily="34" charset="-120"/>
              </a:rPr>
              <a:t>409 · Conflicto</a:t>
            </a:r>
            <a:endParaRPr lang="en-US" sz="1700" dirty="0"/>
          </a:p>
        </p:txBody>
      </p:sp>
      <p:sp>
        <p:nvSpPr>
          <p:cNvPr id="35" name="Text 33"/>
          <p:cNvSpPr/>
          <p:nvPr/>
        </p:nvSpPr>
        <p:spPr>
          <a:xfrm>
            <a:off x="3766048" y="5888736"/>
            <a:ext cx="5482560" cy="384048"/>
          </a:xfrm>
          <a:prstGeom prst="rect">
            <a:avLst/>
          </a:prstGeom>
          <a:noFill/>
          <a:ln/>
        </p:spPr>
        <p:txBody>
          <a:bodyPr wrap="square" lIns="0" tIns="0" rIns="0" bIns="0" rtlCol="0" anchor="t">
            <a:normAutofit/>
          </a:bodyPr>
          <a:lstStyle/>
          <a:p>
            <a:pPr algn="l" indent="0" marL="0">
              <a:buNone/>
            </a:pPr>
            <a:r>
              <a:rPr lang="en-US" sz="1200" dirty="0">
                <a:solidFill>
                  <a:srgbClr val="0B1A3C"/>
                </a:solidFill>
                <a:latin typeface="Segoe UI" pitchFamily="34" charset="0"/>
                <a:ea typeface="Segoe UI" pitchFamily="34" charset="-122"/>
                <a:cs typeface="Segoe UI" pitchFamily="34" charset="-120"/>
              </a:rPr>
              <a:t>Enviar dos veces o aprobar algo que no está enviado: el servicio no lo permite y explica por qué.</a:t>
            </a:r>
            <a:endParaRPr lang="en-US" sz="12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piezas corren en Docker Compose o en Kubernetes</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GitHub Actions prueba cada cambio y publica las imágenes</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Los logs de todos llegan a Grafana</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pieza tiene una sola responsabilidad</a:t>
            </a:r>
            <a:endParaRPr lang="en-US" sz="1100" dirty="0"/>
          </a:p>
        </p:txBody>
      </p:sp>
      <p:sp>
        <p:nvSpPr>
          <p:cNvPr id="9" name="Shape 7"/>
          <p:cNvSpPr/>
          <p:nvPr/>
        </p:nvSpPr>
        <p:spPr>
          <a:xfrm>
            <a:off x="2297005" y="1826677"/>
            <a:ext cx="9149552" cy="3152231"/>
          </a:xfrm>
          <a:prstGeom prst="roundRect">
            <a:avLst>
              <a:gd name="adj" fmla="val 3481"/>
            </a:avLst>
          </a:prstGeom>
          <a:solidFill>
            <a:srgbClr val="F7F9FC"/>
          </a:solidFill>
          <a:ln w="12700">
            <a:solidFill>
              <a:srgbClr val="C7D2E2"/>
            </a:solidFill>
            <a:prstDash val="dash"/>
          </a:ln>
        </p:spPr>
      </p:sp>
      <p:sp>
        <p:nvSpPr>
          <p:cNvPr id="10" name="Text 8"/>
          <p:cNvSpPr/>
          <p:nvPr/>
        </p:nvSpPr>
        <p:spPr>
          <a:xfrm>
            <a:off x="2370157" y="1881541"/>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11" name="Shape 9"/>
          <p:cNvSpPr/>
          <p:nvPr/>
        </p:nvSpPr>
        <p:spPr>
          <a:xfrm>
            <a:off x="2426328" y="2198479"/>
            <a:ext cx="1616529" cy="2683437"/>
          </a:xfrm>
          <a:prstGeom prst="roundRect">
            <a:avLst>
              <a:gd name="adj" fmla="val 6788"/>
            </a:avLst>
          </a:prstGeom>
          <a:solidFill>
            <a:srgbClr val="F1EEFD"/>
          </a:solidFill>
          <a:ln w="12700">
            <a:solidFill>
              <a:srgbClr val="C9BEF4"/>
            </a:solidFill>
            <a:prstDash val="solid"/>
          </a:ln>
        </p:spPr>
      </p:sp>
      <p:sp>
        <p:nvSpPr>
          <p:cNvPr id="12" name="Text 10"/>
          <p:cNvSpPr/>
          <p:nvPr/>
        </p:nvSpPr>
        <p:spPr>
          <a:xfrm>
            <a:off x="2499480" y="2253343"/>
            <a:ext cx="143364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13" name="Shape 11"/>
          <p:cNvSpPr/>
          <p:nvPr/>
        </p:nvSpPr>
        <p:spPr>
          <a:xfrm>
            <a:off x="4285336" y="2198479"/>
            <a:ext cx="4849586" cy="1196231"/>
          </a:xfrm>
          <a:prstGeom prst="roundRect">
            <a:avLst>
              <a:gd name="adj" fmla="val 9173"/>
            </a:avLst>
          </a:prstGeom>
          <a:solidFill>
            <a:srgbClr val="EAF0FA"/>
          </a:solidFill>
          <a:ln w="12700">
            <a:solidFill>
              <a:srgbClr val="AFC4E6"/>
            </a:solidFill>
            <a:prstDash val="solid"/>
          </a:ln>
        </p:spPr>
      </p:sp>
      <p:sp>
        <p:nvSpPr>
          <p:cNvPr id="14" name="Text 12"/>
          <p:cNvSpPr/>
          <p:nvPr/>
        </p:nvSpPr>
        <p:spPr>
          <a:xfrm>
            <a:off x="4358488" y="2253343"/>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5" name="Shape 13"/>
          <p:cNvSpPr/>
          <p:nvPr/>
        </p:nvSpPr>
        <p:spPr>
          <a:xfrm>
            <a:off x="4285336" y="3637189"/>
            <a:ext cx="4849586" cy="1244727"/>
          </a:xfrm>
          <a:prstGeom prst="roundRect">
            <a:avLst>
              <a:gd name="adj" fmla="val 8815"/>
            </a:avLst>
          </a:prstGeom>
          <a:solidFill>
            <a:srgbClr val="E5F5FA"/>
          </a:solidFill>
          <a:ln w="12700">
            <a:solidFill>
              <a:srgbClr val="9DD7E8"/>
            </a:solidFill>
            <a:prstDash val="solid"/>
          </a:ln>
        </p:spPr>
      </p:sp>
      <p:sp>
        <p:nvSpPr>
          <p:cNvPr id="16" name="Text 14"/>
          <p:cNvSpPr/>
          <p:nvPr/>
        </p:nvSpPr>
        <p:spPr>
          <a:xfrm>
            <a:off x="4358488" y="369205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7" name="Shape 15"/>
          <p:cNvSpPr/>
          <p:nvPr/>
        </p:nvSpPr>
        <p:spPr>
          <a:xfrm>
            <a:off x="2297005" y="5156726"/>
            <a:ext cx="4849586" cy="1115405"/>
          </a:xfrm>
          <a:prstGeom prst="roundRect">
            <a:avLst>
              <a:gd name="adj" fmla="val 9838"/>
            </a:avLst>
          </a:prstGeom>
          <a:solidFill>
            <a:srgbClr val="E6F4EE"/>
          </a:solidFill>
          <a:ln w="12700">
            <a:solidFill>
              <a:srgbClr val="A9D8C3"/>
            </a:solidFill>
            <a:prstDash val="solid"/>
          </a:ln>
        </p:spPr>
      </p:sp>
      <p:sp>
        <p:nvSpPr>
          <p:cNvPr id="18" name="Text 16"/>
          <p:cNvSpPr/>
          <p:nvPr/>
        </p:nvSpPr>
        <p:spPr>
          <a:xfrm>
            <a:off x="2370157" y="5211590"/>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9" name="Shape 17"/>
          <p:cNvSpPr/>
          <p:nvPr/>
        </p:nvSpPr>
        <p:spPr>
          <a:xfrm>
            <a:off x="7308244" y="5156726"/>
            <a:ext cx="4138313" cy="1115405"/>
          </a:xfrm>
          <a:prstGeom prst="roundRect">
            <a:avLst>
              <a:gd name="adj" fmla="val 9838"/>
            </a:avLst>
          </a:prstGeom>
          <a:solidFill>
            <a:srgbClr val="FCF2E2"/>
          </a:solidFill>
          <a:ln w="12700">
            <a:solidFill>
              <a:srgbClr val="EDCC93"/>
            </a:solidFill>
            <a:prstDash val="solid"/>
          </a:ln>
        </p:spPr>
      </p:sp>
      <p:sp>
        <p:nvSpPr>
          <p:cNvPr id="20" name="Text 18"/>
          <p:cNvSpPr/>
          <p:nvPr/>
        </p:nvSpPr>
        <p:spPr>
          <a:xfrm>
            <a:off x="7381396" y="5211590"/>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21" name="Shape 19"/>
          <p:cNvSpPr/>
          <p:nvPr/>
        </p:nvSpPr>
        <p:spPr>
          <a:xfrm>
            <a:off x="2135353" y="2828925"/>
            <a:ext cx="420297" cy="0"/>
          </a:xfrm>
          <a:prstGeom prst="line">
            <a:avLst/>
          </a:prstGeom>
          <a:noFill/>
          <a:ln w="31750">
            <a:solidFill>
              <a:srgbClr val="2E6DB4"/>
            </a:solidFill>
            <a:prstDash val="solid"/>
            <a:tailEnd type="triangle"/>
          </a:ln>
        </p:spPr>
      </p:sp>
      <p:sp>
        <p:nvSpPr>
          <p:cNvPr id="22" name="Text 20"/>
          <p:cNvSpPr/>
          <p:nvPr/>
        </p:nvSpPr>
        <p:spPr>
          <a:xfrm>
            <a:off x="2219608" y="271919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Shape 21"/>
          <p:cNvSpPr/>
          <p:nvPr/>
        </p:nvSpPr>
        <p:spPr>
          <a:xfrm>
            <a:off x="2781964" y="3071404"/>
            <a:ext cx="0" cy="856760"/>
          </a:xfrm>
          <a:prstGeom prst="line">
            <a:avLst/>
          </a:prstGeom>
          <a:noFill/>
          <a:ln w="31750">
            <a:solidFill>
              <a:srgbClr val="2E6DB4"/>
            </a:solidFill>
            <a:prstDash val="solid"/>
            <a:tailEnd type="triangle"/>
          </a:ln>
        </p:spPr>
      </p:sp>
      <p:sp>
        <p:nvSpPr>
          <p:cNvPr id="24" name="Text 22"/>
          <p:cNvSpPr/>
          <p:nvPr/>
        </p:nvSpPr>
        <p:spPr>
          <a:xfrm>
            <a:off x="2672236" y="31556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3913534" y="4089817"/>
            <a:ext cx="258645" cy="0"/>
          </a:xfrm>
          <a:prstGeom prst="line">
            <a:avLst/>
          </a:prstGeom>
          <a:noFill/>
          <a:ln w="31750">
            <a:solidFill>
              <a:srgbClr val="2E6DB4"/>
            </a:solidFill>
            <a:prstDash val="solid"/>
          </a:ln>
        </p:spPr>
      </p:sp>
      <p:sp>
        <p:nvSpPr>
          <p:cNvPr id="26" name="Shape 24"/>
          <p:cNvSpPr/>
          <p:nvPr/>
        </p:nvSpPr>
        <p:spPr>
          <a:xfrm flipV="1">
            <a:off x="4172179" y="2828925"/>
            <a:ext cx="0" cy="1260892"/>
          </a:xfrm>
          <a:prstGeom prst="line">
            <a:avLst/>
          </a:prstGeom>
          <a:noFill/>
          <a:ln w="31750">
            <a:solidFill>
              <a:srgbClr val="2E6DB4"/>
            </a:solidFill>
            <a:prstDash val="solid"/>
          </a:ln>
        </p:spPr>
      </p:sp>
      <p:sp>
        <p:nvSpPr>
          <p:cNvPr id="27" name="Shape 25"/>
          <p:cNvSpPr/>
          <p:nvPr/>
        </p:nvSpPr>
        <p:spPr>
          <a:xfrm>
            <a:off x="4172179" y="2828925"/>
            <a:ext cx="258645" cy="0"/>
          </a:xfrm>
          <a:prstGeom prst="line">
            <a:avLst/>
          </a:prstGeom>
          <a:noFill/>
          <a:ln w="31750">
            <a:solidFill>
              <a:srgbClr val="2E6DB4"/>
            </a:solidFill>
            <a:prstDash val="solid"/>
            <a:tailEnd type="triangle"/>
          </a:ln>
        </p:spPr>
      </p:sp>
      <p:sp>
        <p:nvSpPr>
          <p:cNvPr id="28" name="Text 26"/>
          <p:cNvSpPr/>
          <p:nvPr/>
        </p:nvSpPr>
        <p:spPr>
          <a:xfrm>
            <a:off x="2968469" y="3336254"/>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9" name="Text 27"/>
          <p:cNvSpPr/>
          <p:nvPr/>
        </p:nvSpPr>
        <p:spPr>
          <a:xfrm>
            <a:off x="3933128" y="398008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0" name="Shape 28"/>
          <p:cNvSpPr/>
          <p:nvPr/>
        </p:nvSpPr>
        <p:spPr>
          <a:xfrm>
            <a:off x="3913534" y="4211057"/>
            <a:ext cx="517289" cy="0"/>
          </a:xfrm>
          <a:prstGeom prst="line">
            <a:avLst/>
          </a:prstGeom>
          <a:noFill/>
          <a:ln w="31750">
            <a:solidFill>
              <a:srgbClr val="2E6DB4"/>
            </a:solidFill>
            <a:prstDash val="solid"/>
            <a:tailEnd type="triangle"/>
          </a:ln>
        </p:spPr>
      </p:sp>
      <p:sp>
        <p:nvSpPr>
          <p:cNvPr id="31" name="Text 29"/>
          <p:cNvSpPr/>
          <p:nvPr/>
        </p:nvSpPr>
        <p:spPr>
          <a:xfrm>
            <a:off x="3997789" y="410132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2" name="Shape 30"/>
          <p:cNvSpPr/>
          <p:nvPr/>
        </p:nvSpPr>
        <p:spPr>
          <a:xfrm>
            <a:off x="5804872" y="2828925"/>
            <a:ext cx="242479" cy="0"/>
          </a:xfrm>
          <a:prstGeom prst="line">
            <a:avLst/>
          </a:prstGeom>
          <a:noFill/>
          <a:ln w="31750">
            <a:solidFill>
              <a:srgbClr val="55627E"/>
            </a:solidFill>
            <a:prstDash val="sysDot"/>
            <a:tailEnd type="triangle"/>
          </a:ln>
        </p:spPr>
      </p:sp>
      <p:sp>
        <p:nvSpPr>
          <p:cNvPr id="33" name="Text 31"/>
          <p:cNvSpPr/>
          <p:nvPr/>
        </p:nvSpPr>
        <p:spPr>
          <a:xfrm>
            <a:off x="5816384" y="2719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4" name="Shape 32"/>
          <p:cNvSpPr/>
          <p:nvPr/>
        </p:nvSpPr>
        <p:spPr>
          <a:xfrm flipV="1">
            <a:off x="6693963" y="2376297"/>
            <a:ext cx="0" cy="210149"/>
          </a:xfrm>
          <a:prstGeom prst="line">
            <a:avLst/>
          </a:prstGeom>
          <a:noFill/>
          <a:ln w="31750">
            <a:solidFill>
              <a:srgbClr val="55627E"/>
            </a:solidFill>
            <a:prstDash val="sysDot"/>
          </a:ln>
        </p:spPr>
      </p:sp>
      <p:sp>
        <p:nvSpPr>
          <p:cNvPr id="35" name="Shape 33"/>
          <p:cNvSpPr/>
          <p:nvPr/>
        </p:nvSpPr>
        <p:spPr>
          <a:xfrm>
            <a:off x="6693963" y="2376297"/>
            <a:ext cx="3685685" cy="0"/>
          </a:xfrm>
          <a:prstGeom prst="line">
            <a:avLst/>
          </a:prstGeom>
          <a:noFill/>
          <a:ln w="31750">
            <a:solidFill>
              <a:srgbClr val="55627E"/>
            </a:solidFill>
            <a:prstDash val="sysDot"/>
          </a:ln>
        </p:spPr>
      </p:sp>
      <p:sp>
        <p:nvSpPr>
          <p:cNvPr id="36" name="Shape 34"/>
          <p:cNvSpPr/>
          <p:nvPr/>
        </p:nvSpPr>
        <p:spPr>
          <a:xfrm>
            <a:off x="10379648" y="2376297"/>
            <a:ext cx="0" cy="210149"/>
          </a:xfrm>
          <a:prstGeom prst="line">
            <a:avLst/>
          </a:prstGeom>
          <a:noFill/>
          <a:ln w="31750">
            <a:solidFill>
              <a:srgbClr val="55627E"/>
            </a:solidFill>
            <a:prstDash val="sysDot"/>
            <a:tailEnd type="triangle"/>
          </a:ln>
        </p:spPr>
      </p:sp>
      <p:sp>
        <p:nvSpPr>
          <p:cNvPr id="37" name="Text 35"/>
          <p:cNvSpPr/>
          <p:nvPr/>
        </p:nvSpPr>
        <p:spPr>
          <a:xfrm>
            <a:off x="7322483" y="2148105"/>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38" name="Text 36"/>
          <p:cNvSpPr/>
          <p:nvPr/>
        </p:nvSpPr>
        <p:spPr>
          <a:xfrm>
            <a:off x="6584235" y="23716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9" name="Shape 37"/>
          <p:cNvSpPr/>
          <p:nvPr/>
        </p:nvSpPr>
        <p:spPr>
          <a:xfrm>
            <a:off x="8989434" y="2828925"/>
            <a:ext cx="452628" cy="0"/>
          </a:xfrm>
          <a:prstGeom prst="line">
            <a:avLst/>
          </a:prstGeom>
          <a:noFill/>
          <a:ln w="31750">
            <a:solidFill>
              <a:srgbClr val="55627E"/>
            </a:solidFill>
            <a:prstDash val="sysDot"/>
            <a:tailEnd type="triangle"/>
          </a:ln>
        </p:spPr>
      </p:sp>
      <p:sp>
        <p:nvSpPr>
          <p:cNvPr id="40" name="Text 38"/>
          <p:cNvSpPr/>
          <p:nvPr/>
        </p:nvSpPr>
        <p:spPr>
          <a:xfrm>
            <a:off x="9073689" y="2719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1" name="Shape 39"/>
          <p:cNvSpPr/>
          <p:nvPr/>
        </p:nvSpPr>
        <p:spPr>
          <a:xfrm>
            <a:off x="8294326" y="3071404"/>
            <a:ext cx="0" cy="444545"/>
          </a:xfrm>
          <a:prstGeom prst="line">
            <a:avLst/>
          </a:prstGeom>
          <a:noFill/>
          <a:ln w="25400">
            <a:solidFill>
              <a:srgbClr val="55627E"/>
            </a:solidFill>
            <a:prstDash val="dash"/>
          </a:ln>
        </p:spPr>
      </p:sp>
      <p:sp>
        <p:nvSpPr>
          <p:cNvPr id="42" name="Shape 40"/>
          <p:cNvSpPr/>
          <p:nvPr/>
        </p:nvSpPr>
        <p:spPr>
          <a:xfrm flipH="1">
            <a:off x="5117848" y="3515950"/>
            <a:ext cx="3176479" cy="0"/>
          </a:xfrm>
          <a:prstGeom prst="line">
            <a:avLst/>
          </a:prstGeom>
          <a:noFill/>
          <a:ln w="25400">
            <a:solidFill>
              <a:srgbClr val="55627E"/>
            </a:solidFill>
            <a:prstDash val="dash"/>
          </a:ln>
        </p:spPr>
      </p:sp>
      <p:sp>
        <p:nvSpPr>
          <p:cNvPr id="43" name="Shape 41"/>
          <p:cNvSpPr/>
          <p:nvPr/>
        </p:nvSpPr>
        <p:spPr>
          <a:xfrm>
            <a:off x="5117848" y="3515950"/>
            <a:ext cx="0" cy="493041"/>
          </a:xfrm>
          <a:prstGeom prst="line">
            <a:avLst/>
          </a:prstGeom>
          <a:noFill/>
          <a:ln w="25400">
            <a:solidFill>
              <a:srgbClr val="55627E"/>
            </a:solidFill>
            <a:prstDash val="dash"/>
            <a:tailEnd type="triangle"/>
          </a:ln>
        </p:spPr>
      </p:sp>
      <p:sp>
        <p:nvSpPr>
          <p:cNvPr id="44" name="Text 42"/>
          <p:cNvSpPr/>
          <p:nvPr/>
        </p:nvSpPr>
        <p:spPr>
          <a:xfrm>
            <a:off x="5864839" y="3287758"/>
            <a:ext cx="168249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 por HTTP + traceId</a:t>
            </a:r>
            <a:endParaRPr lang="en-US" sz="800" dirty="0"/>
          </a:p>
        </p:txBody>
      </p:sp>
      <p:sp>
        <p:nvSpPr>
          <p:cNvPr id="45" name="Text 43"/>
          <p:cNvSpPr/>
          <p:nvPr/>
        </p:nvSpPr>
        <p:spPr>
          <a:xfrm>
            <a:off x="8184598" y="31556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6" name="Shape 44"/>
          <p:cNvSpPr/>
          <p:nvPr/>
        </p:nvSpPr>
        <p:spPr>
          <a:xfrm>
            <a:off x="5804872" y="4251470"/>
            <a:ext cx="242479" cy="0"/>
          </a:xfrm>
          <a:prstGeom prst="line">
            <a:avLst/>
          </a:prstGeom>
          <a:noFill/>
          <a:ln w="31750">
            <a:solidFill>
              <a:srgbClr val="55627E"/>
            </a:solidFill>
            <a:prstDash val="sysDot"/>
            <a:tailEnd type="triangle"/>
          </a:ln>
        </p:spPr>
      </p:sp>
      <p:sp>
        <p:nvSpPr>
          <p:cNvPr id="47" name="Text 45"/>
          <p:cNvSpPr/>
          <p:nvPr/>
        </p:nvSpPr>
        <p:spPr>
          <a:xfrm>
            <a:off x="5816384" y="414174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8" name="Shape 46"/>
          <p:cNvSpPr/>
          <p:nvPr/>
        </p:nvSpPr>
        <p:spPr>
          <a:xfrm>
            <a:off x="7340575" y="4251470"/>
            <a:ext cx="258645" cy="0"/>
          </a:xfrm>
          <a:prstGeom prst="line">
            <a:avLst/>
          </a:prstGeom>
          <a:noFill/>
          <a:ln w="31750">
            <a:solidFill>
              <a:srgbClr val="55627E"/>
            </a:solidFill>
            <a:prstDash val="sysDot"/>
            <a:tailEnd type="triangle"/>
          </a:ln>
        </p:spPr>
      </p:sp>
      <p:sp>
        <p:nvSpPr>
          <p:cNvPr id="49" name="Text 47"/>
          <p:cNvSpPr/>
          <p:nvPr/>
        </p:nvSpPr>
        <p:spPr>
          <a:xfrm>
            <a:off x="7360169" y="414174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0" name="Shape 48"/>
          <p:cNvSpPr/>
          <p:nvPr/>
        </p:nvSpPr>
        <p:spPr>
          <a:xfrm>
            <a:off x="6693963" y="4493949"/>
            <a:ext cx="0" cy="210149"/>
          </a:xfrm>
          <a:prstGeom prst="line">
            <a:avLst/>
          </a:prstGeom>
          <a:noFill/>
          <a:ln w="31750">
            <a:solidFill>
              <a:srgbClr val="55627E"/>
            </a:solidFill>
            <a:prstDash val="sysDot"/>
          </a:ln>
        </p:spPr>
      </p:sp>
      <p:sp>
        <p:nvSpPr>
          <p:cNvPr id="51" name="Shape 49"/>
          <p:cNvSpPr/>
          <p:nvPr/>
        </p:nvSpPr>
        <p:spPr>
          <a:xfrm>
            <a:off x="6693963" y="4704098"/>
            <a:ext cx="2570280" cy="0"/>
          </a:xfrm>
          <a:prstGeom prst="line">
            <a:avLst/>
          </a:prstGeom>
          <a:noFill/>
          <a:ln w="31750">
            <a:solidFill>
              <a:srgbClr val="55627E"/>
            </a:solidFill>
            <a:prstDash val="sysDot"/>
          </a:ln>
        </p:spPr>
      </p:sp>
      <p:sp>
        <p:nvSpPr>
          <p:cNvPr id="52" name="Shape 50"/>
          <p:cNvSpPr/>
          <p:nvPr/>
        </p:nvSpPr>
        <p:spPr>
          <a:xfrm flipV="1">
            <a:off x="9264244" y="4089817"/>
            <a:ext cx="0" cy="614281"/>
          </a:xfrm>
          <a:prstGeom prst="line">
            <a:avLst/>
          </a:prstGeom>
          <a:noFill/>
          <a:ln w="31750">
            <a:solidFill>
              <a:srgbClr val="55627E"/>
            </a:solidFill>
            <a:prstDash val="sysDot"/>
          </a:ln>
        </p:spPr>
      </p:sp>
      <p:sp>
        <p:nvSpPr>
          <p:cNvPr id="53" name="Shape 51"/>
          <p:cNvSpPr/>
          <p:nvPr/>
        </p:nvSpPr>
        <p:spPr>
          <a:xfrm>
            <a:off x="9264244" y="4089817"/>
            <a:ext cx="177818" cy="0"/>
          </a:xfrm>
          <a:prstGeom prst="line">
            <a:avLst/>
          </a:prstGeom>
          <a:noFill/>
          <a:ln w="31750">
            <a:solidFill>
              <a:srgbClr val="55627E"/>
            </a:solidFill>
            <a:prstDash val="sysDot"/>
            <a:tailEnd type="triangle"/>
          </a:ln>
        </p:spPr>
      </p:sp>
      <p:sp>
        <p:nvSpPr>
          <p:cNvPr id="54" name="Text 52"/>
          <p:cNvSpPr/>
          <p:nvPr/>
        </p:nvSpPr>
        <p:spPr>
          <a:xfrm>
            <a:off x="7386572" y="4475906"/>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anota el eventoId</a:t>
            </a:r>
            <a:endParaRPr lang="en-US" sz="800" dirty="0"/>
          </a:p>
        </p:txBody>
      </p:sp>
      <p:sp>
        <p:nvSpPr>
          <p:cNvPr id="55" name="Text 53"/>
          <p:cNvSpPr/>
          <p:nvPr/>
        </p:nvSpPr>
        <p:spPr>
          <a:xfrm>
            <a:off x="6584235" y="448929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6" name="Shape 54"/>
          <p:cNvSpPr/>
          <p:nvPr/>
        </p:nvSpPr>
        <p:spPr>
          <a:xfrm>
            <a:off x="2135353" y="5771007"/>
            <a:ext cx="323306" cy="0"/>
          </a:xfrm>
          <a:prstGeom prst="line">
            <a:avLst/>
          </a:prstGeom>
          <a:noFill/>
          <a:ln w="31750">
            <a:solidFill>
              <a:srgbClr val="2E6DB4"/>
            </a:solidFill>
            <a:prstDash val="solid"/>
            <a:tailEnd type="triangle"/>
          </a:ln>
        </p:spPr>
      </p:sp>
      <p:sp>
        <p:nvSpPr>
          <p:cNvPr id="57" name="Text 55"/>
          <p:cNvSpPr/>
          <p:nvPr/>
        </p:nvSpPr>
        <p:spPr>
          <a:xfrm>
            <a:off x="2187277" y="566127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3816542" y="5771007"/>
            <a:ext cx="242479" cy="0"/>
          </a:xfrm>
          <a:prstGeom prst="line">
            <a:avLst/>
          </a:prstGeom>
          <a:noFill/>
          <a:ln w="31750">
            <a:solidFill>
              <a:srgbClr val="55627E"/>
            </a:solidFill>
            <a:prstDash val="sysDot"/>
            <a:tailEnd type="triangle"/>
          </a:ln>
        </p:spPr>
      </p:sp>
      <p:sp>
        <p:nvSpPr>
          <p:cNvPr id="59" name="Text 57"/>
          <p:cNvSpPr/>
          <p:nvPr/>
        </p:nvSpPr>
        <p:spPr>
          <a:xfrm>
            <a:off x="3828054"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0" name="Shape 58"/>
          <p:cNvSpPr/>
          <p:nvPr/>
        </p:nvSpPr>
        <p:spPr>
          <a:xfrm>
            <a:off x="5433071" y="5771007"/>
            <a:ext cx="242479" cy="0"/>
          </a:xfrm>
          <a:prstGeom prst="line">
            <a:avLst/>
          </a:prstGeom>
          <a:noFill/>
          <a:ln w="31750">
            <a:solidFill>
              <a:srgbClr val="55627E"/>
            </a:solidFill>
            <a:prstDash val="sysDot"/>
            <a:tailEnd type="triangle"/>
          </a:ln>
        </p:spPr>
      </p:sp>
      <p:sp>
        <p:nvSpPr>
          <p:cNvPr id="61" name="Text 59"/>
          <p:cNvSpPr/>
          <p:nvPr/>
        </p:nvSpPr>
        <p:spPr>
          <a:xfrm>
            <a:off x="5444583"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2" name="Shape 60"/>
          <p:cNvSpPr/>
          <p:nvPr/>
        </p:nvSpPr>
        <p:spPr>
          <a:xfrm>
            <a:off x="9975516" y="4881916"/>
            <a:ext cx="0" cy="185901"/>
          </a:xfrm>
          <a:prstGeom prst="line">
            <a:avLst/>
          </a:prstGeom>
          <a:noFill/>
          <a:ln w="25400">
            <a:solidFill>
              <a:srgbClr val="55627E"/>
            </a:solidFill>
            <a:prstDash val="dash"/>
          </a:ln>
        </p:spPr>
      </p:sp>
      <p:sp>
        <p:nvSpPr>
          <p:cNvPr id="63" name="Shape 61"/>
          <p:cNvSpPr/>
          <p:nvPr/>
        </p:nvSpPr>
        <p:spPr>
          <a:xfrm flipH="1">
            <a:off x="8649963" y="5067817"/>
            <a:ext cx="1325553" cy="0"/>
          </a:xfrm>
          <a:prstGeom prst="line">
            <a:avLst/>
          </a:prstGeom>
          <a:noFill/>
          <a:ln w="25400">
            <a:solidFill>
              <a:srgbClr val="55627E"/>
            </a:solidFill>
            <a:prstDash val="dash"/>
          </a:ln>
        </p:spPr>
      </p:sp>
      <p:sp>
        <p:nvSpPr>
          <p:cNvPr id="64" name="Shape 62"/>
          <p:cNvSpPr/>
          <p:nvPr/>
        </p:nvSpPr>
        <p:spPr>
          <a:xfrm>
            <a:off x="8649963" y="5067817"/>
            <a:ext cx="0" cy="444545"/>
          </a:xfrm>
          <a:prstGeom prst="line">
            <a:avLst/>
          </a:prstGeom>
          <a:noFill/>
          <a:ln w="25400">
            <a:solidFill>
              <a:srgbClr val="55627E"/>
            </a:solidFill>
            <a:prstDash val="dash"/>
            <a:tailEnd type="triangle"/>
          </a:ln>
        </p:spPr>
      </p:sp>
      <p:sp>
        <p:nvSpPr>
          <p:cNvPr id="65" name="Text 63"/>
          <p:cNvSpPr/>
          <p:nvPr/>
        </p:nvSpPr>
        <p:spPr>
          <a:xfrm>
            <a:off x="9124373" y="506593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66" name="Text 64"/>
          <p:cNvSpPr/>
          <p:nvPr/>
        </p:nvSpPr>
        <p:spPr>
          <a:xfrm>
            <a:off x="9865788" y="48651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7" name="Shape 65"/>
          <p:cNvSpPr/>
          <p:nvPr/>
        </p:nvSpPr>
        <p:spPr>
          <a:xfrm>
            <a:off x="8682293" y="5771007"/>
            <a:ext cx="258645" cy="0"/>
          </a:xfrm>
          <a:prstGeom prst="line">
            <a:avLst/>
          </a:prstGeom>
          <a:noFill/>
          <a:ln w="31750">
            <a:solidFill>
              <a:srgbClr val="55627E"/>
            </a:solidFill>
            <a:prstDash val="sysDot"/>
            <a:tailEnd type="triangle"/>
          </a:ln>
        </p:spPr>
      </p:sp>
      <p:sp>
        <p:nvSpPr>
          <p:cNvPr id="68" name="Text 66"/>
          <p:cNvSpPr/>
          <p:nvPr/>
        </p:nvSpPr>
        <p:spPr>
          <a:xfrm>
            <a:off x="8701888"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9" name="Shape 67"/>
          <p:cNvSpPr/>
          <p:nvPr/>
        </p:nvSpPr>
        <p:spPr>
          <a:xfrm>
            <a:off x="9975516" y="5771007"/>
            <a:ext cx="258645" cy="0"/>
          </a:xfrm>
          <a:prstGeom prst="line">
            <a:avLst/>
          </a:prstGeom>
          <a:noFill/>
          <a:ln w="31750">
            <a:solidFill>
              <a:srgbClr val="55627E"/>
            </a:solidFill>
            <a:prstDash val="sysDot"/>
            <a:tailEnd type="triangle"/>
          </a:ln>
        </p:spPr>
      </p:sp>
      <p:sp>
        <p:nvSpPr>
          <p:cNvPr id="70" name="Text 68"/>
          <p:cNvSpPr/>
          <p:nvPr/>
        </p:nvSpPr>
        <p:spPr>
          <a:xfrm>
            <a:off x="9995110"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1" name="Shape 69"/>
          <p:cNvSpPr/>
          <p:nvPr/>
        </p:nvSpPr>
        <p:spPr>
          <a:xfrm>
            <a:off x="761303" y="2586446"/>
            <a:ext cx="1374049" cy="48495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72" name="Shape 70"/>
          <p:cNvSpPr/>
          <p:nvPr/>
        </p:nvSpPr>
        <p:spPr>
          <a:xfrm>
            <a:off x="916490" y="2647972"/>
            <a:ext cx="361906" cy="361906"/>
          </a:xfrm>
          <a:prstGeom prst="ellipse">
            <a:avLst/>
          </a:prstGeom>
          <a:solidFill>
            <a:srgbClr val="E2E5EA"/>
          </a:solidFill>
          <a:ln w="12700">
            <a:solidFill>
              <a:srgbClr val="E2E5EA"/>
            </a:solidFill>
            <a:prstDash val="solid"/>
          </a:ln>
        </p:spPr>
      </p:sp>
      <p:sp>
        <p:nvSpPr>
          <p:cNvPr id="73" name="Icono user"/>
          <p:cNvSpPr/>
          <p:nvPr/>
        </p:nvSpPr>
        <p:spPr>
          <a:xfrm>
            <a:off x="971354" y="2702836"/>
            <a:ext cx="252178" cy="252178"/>
          </a:xfrm>
          <a:custGeom>
            <a:avLst/>
            <a:gdLst/>
            <a:ahLst/>
            <a:cxnLst/>
            <a:rect l="l" t="t" r="r" b="b"/>
            <a:pathLst>
              <a:path w="252178" h="252178">
                <a:moveTo>
                  <a:pt x="199641" y="220656"/>
                </a:moveTo>
                <a:lnTo>
                  <a:pt x="199641" y="199641"/>
                </a:lnTo>
                <a:cubicBezTo>
                  <a:pt x="199641" y="176429"/>
                  <a:pt x="180824" y="157612"/>
                  <a:pt x="157612" y="157612"/>
                </a:cubicBezTo>
                <a:lnTo>
                  <a:pt x="94567" y="157612"/>
                </a:lnTo>
                <a:cubicBezTo>
                  <a:pt x="71355" y="157612"/>
                  <a:pt x="52537" y="176429"/>
                  <a:pt x="52537" y="199641"/>
                </a:cubicBezTo>
                <a:lnTo>
                  <a:pt x="52537" y="220656"/>
                </a:lnTo>
                <a:moveTo>
                  <a:pt x="168119" y="73552"/>
                </a:moveTo>
                <a:cubicBezTo>
                  <a:pt x="168119" y="96764"/>
                  <a:pt x="149302" y="115582"/>
                  <a:pt x="126089" y="115582"/>
                </a:cubicBezTo>
                <a:cubicBezTo>
                  <a:pt x="102877" y="115582"/>
                  <a:pt x="84059" y="96764"/>
                  <a:pt x="84059" y="73552"/>
                </a:cubicBezTo>
                <a:cubicBezTo>
                  <a:pt x="84059" y="50340"/>
                  <a:pt x="102877" y="31522"/>
                  <a:pt x="126089" y="31522"/>
                </a:cubicBezTo>
                <a:cubicBezTo>
                  <a:pt x="149302" y="31522"/>
                  <a:pt x="168119" y="50340"/>
                  <a:pt x="168119" y="73552"/>
                </a:cubicBezTo>
                <a:close/>
              </a:path>
            </a:pathLst>
          </a:custGeom>
          <a:noFill/>
          <a:ln w="21015" cap="rnd">
            <a:solidFill>
              <a:srgbClr val="0B2350"/>
            </a:solidFill>
            <a:prstDash val="solid"/>
            <a:round/>
          </a:ln>
        </p:spPr>
      </p:sp>
      <p:sp>
        <p:nvSpPr>
          <p:cNvPr id="74" name="Text 72"/>
          <p:cNvSpPr/>
          <p:nvPr/>
        </p:nvSpPr>
        <p:spPr>
          <a:xfrm>
            <a:off x="1333261" y="2586446"/>
            <a:ext cx="747228"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Persona</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usa el navegador</a:t>
            </a:r>
            <a:endParaRPr lang="en-US" sz="955" dirty="0"/>
          </a:p>
        </p:txBody>
      </p:sp>
      <p:sp>
        <p:nvSpPr>
          <p:cNvPr id="75" name="Shape 73"/>
          <p:cNvSpPr/>
          <p:nvPr/>
        </p:nvSpPr>
        <p:spPr>
          <a:xfrm>
            <a:off x="2555650" y="2586446"/>
            <a:ext cx="1357884" cy="484959"/>
          </a:xfrm>
          <a:prstGeom prst="roundRect">
            <a:avLst>
              <a:gd name="adj" fmla="val 1697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76" name="Shape 74"/>
          <p:cNvSpPr/>
          <p:nvPr/>
        </p:nvSpPr>
        <p:spPr>
          <a:xfrm>
            <a:off x="2647090" y="2647972"/>
            <a:ext cx="361906" cy="361906"/>
          </a:xfrm>
          <a:prstGeom prst="ellipse">
            <a:avLst/>
          </a:prstGeom>
          <a:solidFill>
            <a:srgbClr val="EBE8F8"/>
          </a:solidFill>
          <a:ln w="12700">
            <a:solidFill>
              <a:srgbClr val="EBE8F8"/>
            </a:solidFill>
            <a:prstDash val="solid"/>
          </a:ln>
        </p:spPr>
      </p:sp>
      <p:sp>
        <p:nvSpPr>
          <p:cNvPr id="77" name="Icono app-window"/>
          <p:cNvSpPr/>
          <p:nvPr/>
        </p:nvSpPr>
        <p:spPr>
          <a:xfrm>
            <a:off x="2701954" y="2702836"/>
            <a:ext cx="252178" cy="252178"/>
          </a:xfrm>
          <a:custGeom>
            <a:avLst/>
            <a:gdLst/>
            <a:ahLst/>
            <a:cxnLst/>
            <a:rect l="l" t="t" r="r" b="b"/>
            <a:pathLst>
              <a:path w="252178" h="252178">
                <a:moveTo>
                  <a:pt x="42030" y="42030"/>
                </a:moveTo>
                <a:lnTo>
                  <a:pt x="210149" y="42030"/>
                </a:lnTo>
                <a:cubicBezTo>
                  <a:pt x="221755" y="42030"/>
                  <a:pt x="231164" y="51438"/>
                  <a:pt x="231164" y="63045"/>
                </a:cubicBezTo>
                <a:lnTo>
                  <a:pt x="231164" y="189134"/>
                </a:lnTo>
                <a:cubicBezTo>
                  <a:pt x="231164" y="200740"/>
                  <a:pt x="221755" y="210149"/>
                  <a:pt x="210149" y="210149"/>
                </a:cubicBezTo>
                <a:lnTo>
                  <a:pt x="42030" y="210149"/>
                </a:lnTo>
                <a:cubicBezTo>
                  <a:pt x="30424" y="210149"/>
                  <a:pt x="21015" y="200740"/>
                  <a:pt x="21015" y="189134"/>
                </a:cubicBezTo>
                <a:lnTo>
                  <a:pt x="21015" y="63045"/>
                </a:lnTo>
                <a:cubicBezTo>
                  <a:pt x="21015" y="51438"/>
                  <a:pt x="30424" y="42030"/>
                  <a:pt x="42030" y="42030"/>
                </a:cubicBezTo>
                <a:close/>
                <a:moveTo>
                  <a:pt x="105074" y="42030"/>
                </a:moveTo>
                <a:lnTo>
                  <a:pt x="105074" y="84059"/>
                </a:lnTo>
                <a:moveTo>
                  <a:pt x="21015" y="84059"/>
                </a:moveTo>
                <a:lnTo>
                  <a:pt x="231164" y="84059"/>
                </a:lnTo>
                <a:moveTo>
                  <a:pt x="63045" y="42030"/>
                </a:moveTo>
                <a:lnTo>
                  <a:pt x="63045" y="84059"/>
                </a:lnTo>
              </a:path>
            </a:pathLst>
          </a:custGeom>
          <a:noFill/>
          <a:ln w="21015" cap="rnd">
            <a:solidFill>
              <a:srgbClr val="5B3FC4"/>
            </a:solidFill>
            <a:prstDash val="solid"/>
            <a:round/>
          </a:ln>
        </p:spPr>
      </p:sp>
      <p:sp>
        <p:nvSpPr>
          <p:cNvPr id="78" name="Text 76"/>
          <p:cNvSpPr/>
          <p:nvPr/>
        </p:nvSpPr>
        <p:spPr>
          <a:xfrm>
            <a:off x="3063860" y="2586446"/>
            <a:ext cx="79481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React</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55" dirty="0"/>
          </a:p>
        </p:txBody>
      </p:sp>
      <p:sp>
        <p:nvSpPr>
          <p:cNvPr id="79" name="Shape 77"/>
          <p:cNvSpPr/>
          <p:nvPr/>
        </p:nvSpPr>
        <p:spPr>
          <a:xfrm>
            <a:off x="2555650" y="3928164"/>
            <a:ext cx="1357884" cy="484959"/>
          </a:xfrm>
          <a:prstGeom prst="roundRect">
            <a:avLst>
              <a:gd name="adj" fmla="val 1697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80" name="Shape 78"/>
          <p:cNvSpPr/>
          <p:nvPr/>
        </p:nvSpPr>
        <p:spPr>
          <a:xfrm>
            <a:off x="2647090" y="3989690"/>
            <a:ext cx="361906" cy="361906"/>
          </a:xfrm>
          <a:prstGeom prst="ellipse">
            <a:avLst/>
          </a:prstGeom>
          <a:solidFill>
            <a:srgbClr val="EBE8F8"/>
          </a:solidFill>
          <a:ln w="12700">
            <a:solidFill>
              <a:srgbClr val="EBE8F8"/>
            </a:solidFill>
            <a:prstDash val="solid"/>
          </a:ln>
        </p:spPr>
      </p:sp>
      <p:sp>
        <p:nvSpPr>
          <p:cNvPr id="81" name="Icono network"/>
          <p:cNvSpPr/>
          <p:nvPr/>
        </p:nvSpPr>
        <p:spPr>
          <a:xfrm>
            <a:off x="2701954" y="4044554"/>
            <a:ext cx="252178" cy="252178"/>
          </a:xfrm>
          <a:custGeom>
            <a:avLst/>
            <a:gdLst/>
            <a:ahLst/>
            <a:cxnLst/>
            <a:rect l="l" t="t" r="r" b="b"/>
            <a:pathLst>
              <a:path w="252178" h="252178">
                <a:moveTo>
                  <a:pt x="178626" y="168119"/>
                </a:moveTo>
                <a:lnTo>
                  <a:pt x="220656" y="168119"/>
                </a:lnTo>
                <a:cubicBezTo>
                  <a:pt x="226459" y="168119"/>
                  <a:pt x="231164" y="172823"/>
                  <a:pt x="231164" y="178626"/>
                </a:cubicBezTo>
                <a:lnTo>
                  <a:pt x="231164" y="220656"/>
                </a:lnTo>
                <a:cubicBezTo>
                  <a:pt x="231164" y="226459"/>
                  <a:pt x="226459" y="231164"/>
                  <a:pt x="220656" y="231164"/>
                </a:cubicBezTo>
                <a:lnTo>
                  <a:pt x="178626" y="231164"/>
                </a:lnTo>
                <a:cubicBezTo>
                  <a:pt x="172823" y="231164"/>
                  <a:pt x="168119" y="226459"/>
                  <a:pt x="168119" y="220656"/>
                </a:cubicBezTo>
                <a:lnTo>
                  <a:pt x="168119" y="178626"/>
                </a:lnTo>
                <a:cubicBezTo>
                  <a:pt x="168119" y="172823"/>
                  <a:pt x="172823" y="168119"/>
                  <a:pt x="178626" y="168119"/>
                </a:cubicBezTo>
                <a:close/>
                <a:moveTo>
                  <a:pt x="31522" y="168119"/>
                </a:moveTo>
                <a:lnTo>
                  <a:pt x="73552" y="168119"/>
                </a:lnTo>
                <a:cubicBezTo>
                  <a:pt x="79355" y="168119"/>
                  <a:pt x="84059" y="172823"/>
                  <a:pt x="84059" y="178626"/>
                </a:cubicBezTo>
                <a:lnTo>
                  <a:pt x="84059" y="220656"/>
                </a:lnTo>
                <a:cubicBezTo>
                  <a:pt x="84059" y="226459"/>
                  <a:pt x="79355" y="231164"/>
                  <a:pt x="73552" y="231164"/>
                </a:cubicBezTo>
                <a:lnTo>
                  <a:pt x="31522" y="231164"/>
                </a:lnTo>
                <a:cubicBezTo>
                  <a:pt x="25719" y="231164"/>
                  <a:pt x="21015" y="226459"/>
                  <a:pt x="21015" y="220656"/>
                </a:cubicBezTo>
                <a:lnTo>
                  <a:pt x="21015" y="178626"/>
                </a:lnTo>
                <a:cubicBezTo>
                  <a:pt x="21015" y="172823"/>
                  <a:pt x="25719" y="168119"/>
                  <a:pt x="31522" y="168119"/>
                </a:cubicBezTo>
                <a:close/>
                <a:moveTo>
                  <a:pt x="105074" y="21015"/>
                </a:moveTo>
                <a:lnTo>
                  <a:pt x="147104" y="21015"/>
                </a:lnTo>
                <a:cubicBezTo>
                  <a:pt x="152907" y="21015"/>
                  <a:pt x="157612" y="25719"/>
                  <a:pt x="157612" y="31522"/>
                </a:cubicBezTo>
                <a:lnTo>
                  <a:pt x="157612" y="73552"/>
                </a:lnTo>
                <a:cubicBezTo>
                  <a:pt x="157612" y="79355"/>
                  <a:pt x="152907" y="84059"/>
                  <a:pt x="147104" y="84059"/>
                </a:cubicBezTo>
                <a:lnTo>
                  <a:pt x="105074" y="84059"/>
                </a:lnTo>
                <a:cubicBezTo>
                  <a:pt x="99271" y="84059"/>
                  <a:pt x="94567" y="79355"/>
                  <a:pt x="94567" y="73552"/>
                </a:cubicBezTo>
                <a:lnTo>
                  <a:pt x="94567" y="31522"/>
                </a:lnTo>
                <a:cubicBezTo>
                  <a:pt x="94567" y="25719"/>
                  <a:pt x="99271" y="21015"/>
                  <a:pt x="105074" y="21015"/>
                </a:cubicBezTo>
                <a:close/>
                <a:moveTo>
                  <a:pt x="52537" y="168119"/>
                </a:moveTo>
                <a:lnTo>
                  <a:pt x="52537" y="136597"/>
                </a:lnTo>
                <a:cubicBezTo>
                  <a:pt x="52537" y="130794"/>
                  <a:pt x="57242" y="126089"/>
                  <a:pt x="63045" y="126089"/>
                </a:cubicBezTo>
                <a:lnTo>
                  <a:pt x="189134" y="126089"/>
                </a:lnTo>
                <a:cubicBezTo>
                  <a:pt x="194937" y="126089"/>
                  <a:pt x="199641" y="130794"/>
                  <a:pt x="199641" y="136597"/>
                </a:cubicBezTo>
                <a:lnTo>
                  <a:pt x="199641" y="168119"/>
                </a:lnTo>
                <a:moveTo>
                  <a:pt x="126089" y="126089"/>
                </a:moveTo>
                <a:lnTo>
                  <a:pt x="126089" y="84059"/>
                </a:lnTo>
              </a:path>
            </a:pathLst>
          </a:custGeom>
          <a:noFill/>
          <a:ln w="21015" cap="rnd">
            <a:solidFill>
              <a:srgbClr val="5B3FC4"/>
            </a:solidFill>
            <a:prstDash val="solid"/>
            <a:round/>
          </a:ln>
        </p:spPr>
      </p:sp>
      <p:sp>
        <p:nvSpPr>
          <p:cNvPr id="82" name="Text 80"/>
          <p:cNvSpPr/>
          <p:nvPr/>
        </p:nvSpPr>
        <p:spPr>
          <a:xfrm>
            <a:off x="3063860" y="3928164"/>
            <a:ext cx="79481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nginx</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proxy de /api</a:t>
            </a:r>
            <a:endParaRPr lang="en-US" sz="955" dirty="0"/>
          </a:p>
        </p:txBody>
      </p:sp>
      <p:sp>
        <p:nvSpPr>
          <p:cNvPr id="83" name="Shape 81"/>
          <p:cNvSpPr/>
          <p:nvPr/>
        </p:nvSpPr>
        <p:spPr>
          <a:xfrm>
            <a:off x="4430823" y="2586446"/>
            <a:ext cx="1374049" cy="484959"/>
          </a:xfrm>
          <a:prstGeom prst="roundRect">
            <a:avLst>
              <a:gd name="adj" fmla="val 1697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4" name="Shape 82"/>
          <p:cNvSpPr/>
          <p:nvPr/>
        </p:nvSpPr>
        <p:spPr>
          <a:xfrm>
            <a:off x="4522263" y="2647972"/>
            <a:ext cx="361906" cy="361906"/>
          </a:xfrm>
          <a:prstGeom prst="ellipse">
            <a:avLst/>
          </a:prstGeom>
          <a:solidFill>
            <a:srgbClr val="E4EAF1"/>
          </a:solidFill>
          <a:ln w="12700">
            <a:solidFill>
              <a:srgbClr val="E4EAF1"/>
            </a:solidFill>
            <a:prstDash val="solid"/>
          </a:ln>
        </p:spPr>
      </p:sp>
      <p:sp>
        <p:nvSpPr>
          <p:cNvPr id="85" name="Icono code"/>
          <p:cNvSpPr/>
          <p:nvPr/>
        </p:nvSpPr>
        <p:spPr>
          <a:xfrm>
            <a:off x="4577127" y="2702836"/>
            <a:ext cx="252178" cy="252178"/>
          </a:xfrm>
          <a:custGeom>
            <a:avLst/>
            <a:gdLst/>
            <a:ahLst/>
            <a:cxnLst/>
            <a:rect l="l" t="t" r="r" b="b"/>
            <a:pathLst>
              <a:path w="252178" h="252178">
                <a:moveTo>
                  <a:pt x="168119" y="189134"/>
                </a:moveTo>
                <a:lnTo>
                  <a:pt x="231164" y="126089"/>
                </a:lnTo>
                <a:lnTo>
                  <a:pt x="168119" y="63045"/>
                </a:lnTo>
                <a:moveTo>
                  <a:pt x="84059" y="63045"/>
                </a:moveTo>
                <a:lnTo>
                  <a:pt x="21015" y="126089"/>
                </a:lnTo>
                <a:lnTo>
                  <a:pt x="84059" y="189134"/>
                </a:lnTo>
              </a:path>
            </a:pathLst>
          </a:custGeom>
          <a:noFill/>
          <a:ln w="21015" cap="rnd">
            <a:solidFill>
              <a:srgbClr val="1F4E8C"/>
            </a:solidFill>
            <a:prstDash val="solid"/>
            <a:round/>
          </a:ln>
        </p:spPr>
      </p:sp>
      <p:sp>
        <p:nvSpPr>
          <p:cNvPr id="86" name="Text 84"/>
          <p:cNvSpPr/>
          <p:nvPr/>
        </p:nvSpPr>
        <p:spPr>
          <a:xfrm>
            <a:off x="4939034" y="2586446"/>
            <a:ext cx="810975"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API REST</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Swagger · Actuator</a:t>
            </a:r>
            <a:endParaRPr lang="en-US" sz="955" dirty="0"/>
          </a:p>
        </p:txBody>
      </p:sp>
      <p:sp>
        <p:nvSpPr>
          <p:cNvPr id="87" name="Shape 85"/>
          <p:cNvSpPr/>
          <p:nvPr/>
        </p:nvSpPr>
        <p:spPr>
          <a:xfrm>
            <a:off x="6047352" y="2586446"/>
            <a:ext cx="1293223" cy="484959"/>
          </a:xfrm>
          <a:prstGeom prst="roundRect">
            <a:avLst>
              <a:gd name="adj" fmla="val 1697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8" name="Shape 86"/>
          <p:cNvSpPr/>
          <p:nvPr/>
        </p:nvSpPr>
        <p:spPr>
          <a:xfrm>
            <a:off x="6138792" y="2647972"/>
            <a:ext cx="361906" cy="361906"/>
          </a:xfrm>
          <a:prstGeom prst="ellipse">
            <a:avLst/>
          </a:prstGeom>
          <a:solidFill>
            <a:srgbClr val="E4EAF1"/>
          </a:solidFill>
          <a:ln w="12700">
            <a:solidFill>
              <a:srgbClr val="E4EAF1"/>
            </a:solidFill>
            <a:prstDash val="solid"/>
          </a:ln>
        </p:spPr>
      </p:sp>
      <p:sp>
        <p:nvSpPr>
          <p:cNvPr id="89" name="Icono puzzle"/>
          <p:cNvSpPr/>
          <p:nvPr/>
        </p:nvSpPr>
        <p:spPr>
          <a:xfrm>
            <a:off x="6193656" y="2702836"/>
            <a:ext cx="252178" cy="252178"/>
          </a:xfrm>
          <a:custGeom>
            <a:avLst/>
            <a:gdLst/>
            <a:ahLst/>
            <a:cxnLst/>
            <a:rect l="l" t="t" r="r" b="b"/>
            <a:pathLst>
              <a:path w="252178" h="252178">
                <a:moveTo>
                  <a:pt x="161709" y="46128"/>
                </a:moveTo>
                <a:cubicBezTo>
                  <a:pt x="164399" y="48820"/>
                  <a:pt x="168334" y="49847"/>
                  <a:pt x="171996" y="48814"/>
                </a:cubicBezTo>
                <a:cubicBezTo>
                  <a:pt x="175659" y="47781"/>
                  <a:pt x="178476" y="44848"/>
                  <a:pt x="179362" y="41147"/>
                </a:cubicBezTo>
                <a:cubicBezTo>
                  <a:pt x="182380" y="28583"/>
                  <a:pt x="194088" y="20080"/>
                  <a:pt x="206969" y="21096"/>
                </a:cubicBezTo>
                <a:cubicBezTo>
                  <a:pt x="219850" y="22112"/>
                  <a:pt x="230080" y="32345"/>
                  <a:pt x="231092" y="45227"/>
                </a:cubicBezTo>
                <a:cubicBezTo>
                  <a:pt x="232103" y="58108"/>
                  <a:pt x="223596" y="69813"/>
                  <a:pt x="211031" y="72827"/>
                </a:cubicBezTo>
                <a:cubicBezTo>
                  <a:pt x="207330" y="73713"/>
                  <a:pt x="204398" y="76530"/>
                  <a:pt x="203364" y="80193"/>
                </a:cubicBezTo>
                <a:cubicBezTo>
                  <a:pt x="202331" y="83855"/>
                  <a:pt x="203359" y="87790"/>
                  <a:pt x="206051" y="90480"/>
                </a:cubicBezTo>
                <a:lnTo>
                  <a:pt x="223735" y="108153"/>
                </a:lnTo>
                <a:cubicBezTo>
                  <a:pt x="228492" y="112910"/>
                  <a:pt x="231165" y="119362"/>
                  <a:pt x="231165" y="126089"/>
                </a:cubicBezTo>
                <a:cubicBezTo>
                  <a:pt x="231165" y="132817"/>
                  <a:pt x="228492" y="139269"/>
                  <a:pt x="223735" y="144025"/>
                </a:cubicBezTo>
                <a:lnTo>
                  <a:pt x="206051" y="161709"/>
                </a:lnTo>
                <a:cubicBezTo>
                  <a:pt x="203361" y="164402"/>
                  <a:pt x="199426" y="165429"/>
                  <a:pt x="195764" y="164396"/>
                </a:cubicBezTo>
                <a:cubicBezTo>
                  <a:pt x="192102" y="163363"/>
                  <a:pt x="189284" y="160430"/>
                  <a:pt x="188398" y="156729"/>
                </a:cubicBezTo>
                <a:cubicBezTo>
                  <a:pt x="185380" y="144165"/>
                  <a:pt x="173673" y="135662"/>
                  <a:pt x="160791" y="136678"/>
                </a:cubicBezTo>
                <a:cubicBezTo>
                  <a:pt x="147910" y="137693"/>
                  <a:pt x="137680" y="147927"/>
                  <a:pt x="136668" y="160808"/>
                </a:cubicBezTo>
                <a:cubicBezTo>
                  <a:pt x="135657" y="173690"/>
                  <a:pt x="144164" y="185395"/>
                  <a:pt x="156729" y="188409"/>
                </a:cubicBezTo>
                <a:cubicBezTo>
                  <a:pt x="160430" y="189295"/>
                  <a:pt x="163363" y="192112"/>
                  <a:pt x="164396" y="195774"/>
                </a:cubicBezTo>
                <a:cubicBezTo>
                  <a:pt x="165429" y="199437"/>
                  <a:pt x="164402" y="203372"/>
                  <a:pt x="161709" y="206061"/>
                </a:cubicBezTo>
                <a:lnTo>
                  <a:pt x="144025" y="223735"/>
                </a:lnTo>
                <a:cubicBezTo>
                  <a:pt x="139269" y="228492"/>
                  <a:pt x="132817" y="231165"/>
                  <a:pt x="126089" y="231165"/>
                </a:cubicBezTo>
                <a:cubicBezTo>
                  <a:pt x="119362" y="231165"/>
                  <a:pt x="112910" y="228492"/>
                  <a:pt x="108153" y="223735"/>
                </a:cubicBezTo>
                <a:lnTo>
                  <a:pt x="90469" y="206051"/>
                </a:lnTo>
                <a:cubicBezTo>
                  <a:pt x="87780" y="203359"/>
                  <a:pt x="83845" y="202331"/>
                  <a:pt x="80182" y="203364"/>
                </a:cubicBezTo>
                <a:cubicBezTo>
                  <a:pt x="76520" y="204398"/>
                  <a:pt x="73702" y="207330"/>
                  <a:pt x="72817" y="211031"/>
                </a:cubicBezTo>
                <a:cubicBezTo>
                  <a:pt x="69798" y="223595"/>
                  <a:pt x="58091" y="232098"/>
                  <a:pt x="45209" y="231083"/>
                </a:cubicBezTo>
                <a:cubicBezTo>
                  <a:pt x="32328" y="230067"/>
                  <a:pt x="22098" y="219834"/>
                  <a:pt x="21087" y="206952"/>
                </a:cubicBezTo>
                <a:cubicBezTo>
                  <a:pt x="20075" y="194070"/>
                  <a:pt x="28582" y="182366"/>
                  <a:pt x="41147" y="179351"/>
                </a:cubicBezTo>
                <a:cubicBezTo>
                  <a:pt x="44848" y="178466"/>
                  <a:pt x="47781" y="175648"/>
                  <a:pt x="48814" y="171986"/>
                </a:cubicBezTo>
                <a:cubicBezTo>
                  <a:pt x="49847" y="168323"/>
                  <a:pt x="48820" y="164388"/>
                  <a:pt x="46128" y="161699"/>
                </a:cubicBezTo>
                <a:lnTo>
                  <a:pt x="28444" y="144025"/>
                </a:lnTo>
                <a:cubicBezTo>
                  <a:pt x="23686" y="139269"/>
                  <a:pt x="21014" y="132817"/>
                  <a:pt x="21014" y="126089"/>
                </a:cubicBezTo>
                <a:cubicBezTo>
                  <a:pt x="21014" y="119362"/>
                  <a:pt x="23686" y="112910"/>
                  <a:pt x="28444" y="108153"/>
                </a:cubicBezTo>
                <a:lnTo>
                  <a:pt x="46128" y="90469"/>
                </a:lnTo>
                <a:cubicBezTo>
                  <a:pt x="48817" y="87777"/>
                  <a:pt x="52752" y="86749"/>
                  <a:pt x="56414" y="87783"/>
                </a:cubicBezTo>
                <a:cubicBezTo>
                  <a:pt x="60077" y="88816"/>
                  <a:pt x="62894" y="91749"/>
                  <a:pt x="63780" y="95450"/>
                </a:cubicBezTo>
                <a:cubicBezTo>
                  <a:pt x="66798" y="108014"/>
                  <a:pt x="78506" y="116517"/>
                  <a:pt x="91387" y="115501"/>
                </a:cubicBezTo>
                <a:cubicBezTo>
                  <a:pt x="104269" y="114485"/>
                  <a:pt x="114498" y="104252"/>
                  <a:pt x="115510" y="91370"/>
                </a:cubicBezTo>
                <a:cubicBezTo>
                  <a:pt x="116522" y="78488"/>
                  <a:pt x="108015" y="66784"/>
                  <a:pt x="95450" y="63770"/>
                </a:cubicBezTo>
                <a:cubicBezTo>
                  <a:pt x="91749" y="62884"/>
                  <a:pt x="88816" y="60066"/>
                  <a:pt x="87783" y="56404"/>
                </a:cubicBezTo>
                <a:cubicBezTo>
                  <a:pt x="86749" y="52742"/>
                  <a:pt x="87777" y="48807"/>
                  <a:pt x="90469" y="46117"/>
                </a:cubicBezTo>
                <a:lnTo>
                  <a:pt x="108153" y="28444"/>
                </a:lnTo>
                <a:cubicBezTo>
                  <a:pt x="112910" y="23686"/>
                  <a:pt x="119362" y="21014"/>
                  <a:pt x="126089" y="21014"/>
                </a:cubicBezTo>
                <a:cubicBezTo>
                  <a:pt x="132817" y="21014"/>
                  <a:pt x="139269" y="23686"/>
                  <a:pt x="144025" y="28444"/>
                </a:cubicBezTo>
                <a:close/>
              </a:path>
            </a:pathLst>
          </a:custGeom>
          <a:noFill/>
          <a:ln w="21015" cap="rnd">
            <a:solidFill>
              <a:srgbClr val="1F4E8C"/>
            </a:solidFill>
            <a:prstDash val="solid"/>
            <a:round/>
          </a:ln>
        </p:spPr>
      </p:sp>
      <p:sp>
        <p:nvSpPr>
          <p:cNvPr id="90" name="Text 88"/>
          <p:cNvSpPr/>
          <p:nvPr/>
        </p:nvSpPr>
        <p:spPr>
          <a:xfrm>
            <a:off x="6555562" y="2586446"/>
            <a:ext cx="730148"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Dominio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reglas de estado</a:t>
            </a:r>
            <a:endParaRPr lang="en-US" sz="955" dirty="0"/>
          </a:p>
        </p:txBody>
      </p:sp>
      <p:sp>
        <p:nvSpPr>
          <p:cNvPr id="91" name="Shape 89"/>
          <p:cNvSpPr/>
          <p:nvPr/>
        </p:nvSpPr>
        <p:spPr>
          <a:xfrm>
            <a:off x="7599219" y="2586446"/>
            <a:ext cx="1390215" cy="484959"/>
          </a:xfrm>
          <a:prstGeom prst="roundRect">
            <a:avLst>
              <a:gd name="adj" fmla="val 1697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92" name="Shape 90"/>
          <p:cNvSpPr/>
          <p:nvPr/>
        </p:nvSpPr>
        <p:spPr>
          <a:xfrm>
            <a:off x="7690659" y="2647972"/>
            <a:ext cx="361906" cy="361906"/>
          </a:xfrm>
          <a:prstGeom prst="ellipse">
            <a:avLst/>
          </a:prstGeom>
          <a:solidFill>
            <a:srgbClr val="E4EAF1"/>
          </a:solidFill>
          <a:ln w="12700">
            <a:solidFill>
              <a:srgbClr val="E4EAF1"/>
            </a:solidFill>
            <a:prstDash val="solid"/>
          </a:ln>
        </p:spPr>
      </p:sp>
      <p:sp>
        <p:nvSpPr>
          <p:cNvPr id="93" name="Icono timer"/>
          <p:cNvSpPr/>
          <p:nvPr/>
        </p:nvSpPr>
        <p:spPr>
          <a:xfrm>
            <a:off x="7745523" y="2702836"/>
            <a:ext cx="252178" cy="252178"/>
          </a:xfrm>
          <a:custGeom>
            <a:avLst/>
            <a:gdLst/>
            <a:ahLst/>
            <a:cxnLst/>
            <a:rect l="l" t="t" r="r" b="b"/>
            <a:pathLst>
              <a:path w="252178" h="252178">
                <a:moveTo>
                  <a:pt x="105074" y="21015"/>
                </a:moveTo>
                <a:lnTo>
                  <a:pt x="147104" y="21015"/>
                </a:lnTo>
                <a:moveTo>
                  <a:pt x="126089" y="147104"/>
                </a:moveTo>
                <a:lnTo>
                  <a:pt x="157612" y="115582"/>
                </a:lnTo>
                <a:moveTo>
                  <a:pt x="210149" y="147104"/>
                </a:moveTo>
                <a:cubicBezTo>
                  <a:pt x="210149" y="193529"/>
                  <a:pt x="172514" y="231164"/>
                  <a:pt x="126089" y="231164"/>
                </a:cubicBezTo>
                <a:cubicBezTo>
                  <a:pt x="79664" y="231164"/>
                  <a:pt x="42030" y="193529"/>
                  <a:pt x="42030" y="147104"/>
                </a:cubicBezTo>
                <a:cubicBezTo>
                  <a:pt x="42030" y="100679"/>
                  <a:pt x="79664" y="63045"/>
                  <a:pt x="126089" y="63045"/>
                </a:cubicBezTo>
                <a:cubicBezTo>
                  <a:pt x="172514" y="63045"/>
                  <a:pt x="210149" y="100679"/>
                  <a:pt x="210149" y="147104"/>
                </a:cubicBezTo>
                <a:close/>
              </a:path>
            </a:pathLst>
          </a:custGeom>
          <a:noFill/>
          <a:ln w="21015" cap="rnd">
            <a:solidFill>
              <a:srgbClr val="1F4E8C"/>
            </a:solidFill>
            <a:prstDash val="solid"/>
            <a:round/>
          </a:ln>
        </p:spPr>
      </p:sp>
      <p:sp>
        <p:nvSpPr>
          <p:cNvPr id="94" name="Text 92"/>
          <p:cNvSpPr/>
          <p:nvPr/>
        </p:nvSpPr>
        <p:spPr>
          <a:xfrm>
            <a:off x="8107430" y="2586446"/>
            <a:ext cx="82714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Relevador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cada 5 s · 3 intentos</a:t>
            </a:r>
            <a:endParaRPr lang="en-US" sz="955" dirty="0"/>
          </a:p>
        </p:txBody>
      </p:sp>
      <p:sp>
        <p:nvSpPr>
          <p:cNvPr id="95" name="Shape 93"/>
          <p:cNvSpPr/>
          <p:nvPr/>
        </p:nvSpPr>
        <p:spPr>
          <a:xfrm>
            <a:off x="9442062" y="2586446"/>
            <a:ext cx="1875173" cy="484959"/>
          </a:xfrm>
          <a:prstGeom prst="roundRect">
            <a:avLst>
              <a:gd name="adj" fmla="val 1697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96" name="Shape 94"/>
          <p:cNvSpPr/>
          <p:nvPr/>
        </p:nvSpPr>
        <p:spPr>
          <a:xfrm>
            <a:off x="9533502" y="2647972"/>
            <a:ext cx="361906" cy="361906"/>
          </a:xfrm>
          <a:prstGeom prst="ellipse">
            <a:avLst/>
          </a:prstGeom>
          <a:solidFill>
            <a:srgbClr val="EBECF0"/>
          </a:solidFill>
          <a:ln w="12700">
            <a:solidFill>
              <a:srgbClr val="EBECF0"/>
            </a:solidFill>
            <a:prstDash val="solid"/>
          </a:ln>
        </p:spPr>
      </p:sp>
      <p:sp>
        <p:nvSpPr>
          <p:cNvPr id="97" name="Icono database"/>
          <p:cNvSpPr/>
          <p:nvPr/>
        </p:nvSpPr>
        <p:spPr>
          <a:xfrm>
            <a:off x="9588366" y="2702836"/>
            <a:ext cx="252178" cy="252178"/>
          </a:xfrm>
          <a:custGeom>
            <a:avLst/>
            <a:gdLst/>
            <a:ahLst/>
            <a:cxnLst/>
            <a:rect l="l" t="t" r="r" b="b"/>
            <a:pathLst>
              <a:path w="252178" h="252178">
                <a:moveTo>
                  <a:pt x="220656" y="52537"/>
                </a:moveTo>
                <a:cubicBezTo>
                  <a:pt x="220656" y="69946"/>
                  <a:pt x="178317" y="84059"/>
                  <a:pt x="126089" y="84059"/>
                </a:cubicBezTo>
                <a:cubicBezTo>
                  <a:pt x="73861" y="84059"/>
                  <a:pt x="31522" y="69946"/>
                  <a:pt x="31522" y="52537"/>
                </a:cubicBezTo>
                <a:cubicBezTo>
                  <a:pt x="31522" y="35128"/>
                  <a:pt x="73861" y="21015"/>
                  <a:pt x="126089" y="21015"/>
                </a:cubicBezTo>
                <a:cubicBezTo>
                  <a:pt x="178317" y="21015"/>
                  <a:pt x="220656" y="35128"/>
                  <a:pt x="220656" y="52537"/>
                </a:cubicBezTo>
                <a:close/>
                <a:moveTo>
                  <a:pt x="31522" y="52537"/>
                </a:moveTo>
                <a:lnTo>
                  <a:pt x="31522" y="199641"/>
                </a:lnTo>
                <a:cubicBezTo>
                  <a:pt x="31522" y="217051"/>
                  <a:pt x="73861" y="231164"/>
                  <a:pt x="126089" y="231164"/>
                </a:cubicBezTo>
                <a:cubicBezTo>
                  <a:pt x="178317" y="231164"/>
                  <a:pt x="220656" y="217051"/>
                  <a:pt x="220656" y="199641"/>
                </a:cubicBezTo>
                <a:lnTo>
                  <a:pt x="220656" y="52537"/>
                </a:lnTo>
                <a:moveTo>
                  <a:pt x="31522" y="126089"/>
                </a:moveTo>
                <a:cubicBezTo>
                  <a:pt x="31522" y="143499"/>
                  <a:pt x="73861" y="157612"/>
                  <a:pt x="126089" y="157612"/>
                </a:cubicBezTo>
                <a:cubicBezTo>
                  <a:pt x="178317" y="157612"/>
                  <a:pt x="220656" y="143499"/>
                  <a:pt x="220656" y="126089"/>
                </a:cubicBezTo>
              </a:path>
            </a:pathLst>
          </a:custGeom>
          <a:noFill/>
          <a:ln w="21015" cap="rnd">
            <a:solidFill>
              <a:srgbClr val="55627E"/>
            </a:solidFill>
            <a:prstDash val="solid"/>
            <a:round/>
          </a:ln>
        </p:spPr>
      </p:sp>
      <p:sp>
        <p:nvSpPr>
          <p:cNvPr id="98" name="Text 96"/>
          <p:cNvSpPr/>
          <p:nvPr/>
        </p:nvSpPr>
        <p:spPr>
          <a:xfrm>
            <a:off x="9950272" y="2586446"/>
            <a:ext cx="1312099"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db-solicitudes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55" dirty="0"/>
          </a:p>
        </p:txBody>
      </p:sp>
      <p:sp>
        <p:nvSpPr>
          <p:cNvPr id="99" name="Shape 97"/>
          <p:cNvSpPr/>
          <p:nvPr/>
        </p:nvSpPr>
        <p:spPr>
          <a:xfrm>
            <a:off x="4430823" y="4008991"/>
            <a:ext cx="1374049" cy="484959"/>
          </a:xfrm>
          <a:prstGeom prst="roundRect">
            <a:avLst>
              <a:gd name="adj" fmla="val 1697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100" name="Shape 98"/>
          <p:cNvSpPr/>
          <p:nvPr/>
        </p:nvSpPr>
        <p:spPr>
          <a:xfrm>
            <a:off x="4522263" y="4070517"/>
            <a:ext cx="361906" cy="361906"/>
          </a:xfrm>
          <a:prstGeom prst="ellipse">
            <a:avLst/>
          </a:prstGeom>
          <a:solidFill>
            <a:srgbClr val="E2EEF1"/>
          </a:solidFill>
          <a:ln w="12700">
            <a:solidFill>
              <a:srgbClr val="E2EEF1"/>
            </a:solidFill>
            <a:prstDash val="solid"/>
          </a:ln>
        </p:spPr>
      </p:sp>
      <p:sp>
        <p:nvSpPr>
          <p:cNvPr id="101" name="Icono code"/>
          <p:cNvSpPr/>
          <p:nvPr/>
        </p:nvSpPr>
        <p:spPr>
          <a:xfrm>
            <a:off x="4577127" y="4125381"/>
            <a:ext cx="252178" cy="252178"/>
          </a:xfrm>
          <a:custGeom>
            <a:avLst/>
            <a:gdLst/>
            <a:ahLst/>
            <a:cxnLst/>
            <a:rect l="l" t="t" r="r" b="b"/>
            <a:pathLst>
              <a:path w="252178" h="252178">
                <a:moveTo>
                  <a:pt x="168119" y="189134"/>
                </a:moveTo>
                <a:lnTo>
                  <a:pt x="231164" y="126089"/>
                </a:lnTo>
                <a:lnTo>
                  <a:pt x="168119" y="63045"/>
                </a:lnTo>
                <a:moveTo>
                  <a:pt x="84059" y="63045"/>
                </a:moveTo>
                <a:lnTo>
                  <a:pt x="21015" y="126089"/>
                </a:lnTo>
                <a:lnTo>
                  <a:pt x="84059" y="189134"/>
                </a:lnTo>
              </a:path>
            </a:pathLst>
          </a:custGeom>
          <a:noFill/>
          <a:ln w="21015" cap="rnd">
            <a:solidFill>
              <a:srgbClr val="0B6E8A"/>
            </a:solidFill>
            <a:prstDash val="solid"/>
            <a:round/>
          </a:ln>
        </p:spPr>
      </p:sp>
      <p:sp>
        <p:nvSpPr>
          <p:cNvPr id="102" name="Text 100"/>
          <p:cNvSpPr/>
          <p:nvPr/>
        </p:nvSpPr>
        <p:spPr>
          <a:xfrm>
            <a:off x="4939034" y="4008991"/>
            <a:ext cx="810975"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API REST</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Swagger · Actuator</a:t>
            </a:r>
            <a:endParaRPr lang="en-US" sz="955" dirty="0"/>
          </a:p>
        </p:txBody>
      </p:sp>
      <p:sp>
        <p:nvSpPr>
          <p:cNvPr id="103" name="Text 101"/>
          <p:cNvSpPr/>
          <p:nvPr/>
        </p:nvSpPr>
        <p:spPr>
          <a:xfrm>
            <a:off x="6047352" y="4008991"/>
            <a:ext cx="1293223" cy="484959"/>
          </a:xfrm>
          <a:prstGeom prst="roundRect">
            <a:avLst>
              <a:gd name="adj" fmla="val 1697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Consumo idempotente</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¿ya llegó?</a:t>
            </a:r>
            <a:endParaRPr lang="en-US" sz="955" dirty="0"/>
          </a:p>
        </p:txBody>
      </p:sp>
      <p:sp>
        <p:nvSpPr>
          <p:cNvPr id="104" name="Shape 102"/>
          <p:cNvSpPr/>
          <p:nvPr/>
        </p:nvSpPr>
        <p:spPr>
          <a:xfrm>
            <a:off x="7599219" y="4008991"/>
            <a:ext cx="1390215" cy="484959"/>
          </a:xfrm>
          <a:prstGeom prst="roundRect">
            <a:avLst>
              <a:gd name="adj" fmla="val 16970"/>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105" name="Shape 103"/>
          <p:cNvSpPr/>
          <p:nvPr/>
        </p:nvSpPr>
        <p:spPr>
          <a:xfrm>
            <a:off x="7690659" y="4070517"/>
            <a:ext cx="361906" cy="361906"/>
          </a:xfrm>
          <a:prstGeom prst="ellipse">
            <a:avLst/>
          </a:prstGeom>
          <a:solidFill>
            <a:srgbClr val="E2EEF1"/>
          </a:solidFill>
          <a:ln w="12700">
            <a:solidFill>
              <a:srgbClr val="E2EEF1"/>
            </a:solidFill>
            <a:prstDash val="solid"/>
          </a:ln>
        </p:spPr>
      </p:sp>
      <p:sp>
        <p:nvSpPr>
          <p:cNvPr id="106" name="Icono bell"/>
          <p:cNvSpPr/>
          <p:nvPr/>
        </p:nvSpPr>
        <p:spPr>
          <a:xfrm>
            <a:off x="7745523" y="4125381"/>
            <a:ext cx="252178" cy="252178"/>
          </a:xfrm>
          <a:custGeom>
            <a:avLst/>
            <a:gdLst/>
            <a:ahLst/>
            <a:cxnLst/>
            <a:rect l="l" t="t" r="r" b="b"/>
            <a:pathLst>
              <a:path w="252178" h="252178">
                <a:moveTo>
                  <a:pt x="107890" y="220656"/>
                </a:moveTo>
                <a:cubicBezTo>
                  <a:pt x="111644" y="227158"/>
                  <a:pt x="118582" y="231163"/>
                  <a:pt x="126089" y="231163"/>
                </a:cubicBezTo>
                <a:cubicBezTo>
                  <a:pt x="133597" y="231163"/>
                  <a:pt x="140534" y="227158"/>
                  <a:pt x="144288" y="220656"/>
                </a:cubicBezTo>
                <a:moveTo>
                  <a:pt x="34275" y="161037"/>
                </a:moveTo>
                <a:cubicBezTo>
                  <a:pt x="31471" y="164111"/>
                  <a:pt x="30744" y="168550"/>
                  <a:pt x="32423" y="172358"/>
                </a:cubicBezTo>
                <a:cubicBezTo>
                  <a:pt x="34101" y="176165"/>
                  <a:pt x="37869" y="178623"/>
                  <a:pt x="42030" y="178626"/>
                </a:cubicBezTo>
                <a:lnTo>
                  <a:pt x="210149" y="178626"/>
                </a:lnTo>
                <a:cubicBezTo>
                  <a:pt x="214309" y="178628"/>
                  <a:pt x="218079" y="176174"/>
                  <a:pt x="219762" y="172369"/>
                </a:cubicBezTo>
                <a:cubicBezTo>
                  <a:pt x="221445" y="168564"/>
                  <a:pt x="220724" y="164125"/>
                  <a:pt x="217924" y="161047"/>
                </a:cubicBezTo>
                <a:cubicBezTo>
                  <a:pt x="203949" y="146642"/>
                  <a:pt x="189134" y="131332"/>
                  <a:pt x="189134" y="84059"/>
                </a:cubicBezTo>
                <a:cubicBezTo>
                  <a:pt x="189134" y="49241"/>
                  <a:pt x="160908" y="21015"/>
                  <a:pt x="126089" y="21015"/>
                </a:cubicBezTo>
                <a:cubicBezTo>
                  <a:pt x="91271" y="21015"/>
                  <a:pt x="63045" y="49241"/>
                  <a:pt x="63045" y="84059"/>
                </a:cubicBezTo>
                <a:cubicBezTo>
                  <a:pt x="63045" y="131332"/>
                  <a:pt x="48219" y="146642"/>
                  <a:pt x="34275" y="161037"/>
                </a:cubicBezTo>
              </a:path>
            </a:pathLst>
          </a:custGeom>
          <a:noFill/>
          <a:ln w="21015" cap="rnd">
            <a:solidFill>
              <a:srgbClr val="0B6E8A"/>
            </a:solidFill>
            <a:prstDash val="solid"/>
            <a:round/>
          </a:ln>
        </p:spPr>
      </p:sp>
      <p:sp>
        <p:nvSpPr>
          <p:cNvPr id="107" name="Text 105"/>
          <p:cNvSpPr/>
          <p:nvPr/>
        </p:nvSpPr>
        <p:spPr>
          <a:xfrm>
            <a:off x="8107430" y="4008991"/>
            <a:ext cx="82714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5C3404"/>
                </a:solidFill>
                <a:latin typeface="Segoe UI" pitchFamily="34" charset="0"/>
                <a:ea typeface="Segoe UI" pitchFamily="34" charset="-122"/>
                <a:cs typeface="Segoe UI" pitchFamily="34" charset="-120"/>
              </a:rPr>
              <a:t>Avisos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55" dirty="0"/>
          </a:p>
        </p:txBody>
      </p:sp>
      <p:sp>
        <p:nvSpPr>
          <p:cNvPr id="108" name="Shape 106"/>
          <p:cNvSpPr/>
          <p:nvPr/>
        </p:nvSpPr>
        <p:spPr>
          <a:xfrm>
            <a:off x="9442062" y="3847338"/>
            <a:ext cx="1875173" cy="484959"/>
          </a:xfrm>
          <a:prstGeom prst="roundRect">
            <a:avLst>
              <a:gd name="adj" fmla="val 1697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109" name="Shape 107"/>
          <p:cNvSpPr/>
          <p:nvPr/>
        </p:nvSpPr>
        <p:spPr>
          <a:xfrm>
            <a:off x="9533502" y="3908864"/>
            <a:ext cx="361906" cy="361906"/>
          </a:xfrm>
          <a:prstGeom prst="ellipse">
            <a:avLst/>
          </a:prstGeom>
          <a:solidFill>
            <a:srgbClr val="EBECF0"/>
          </a:solidFill>
          <a:ln w="12700">
            <a:solidFill>
              <a:srgbClr val="EBECF0"/>
            </a:solidFill>
            <a:prstDash val="solid"/>
          </a:ln>
        </p:spPr>
      </p:sp>
      <p:sp>
        <p:nvSpPr>
          <p:cNvPr id="110" name="Icono database"/>
          <p:cNvSpPr/>
          <p:nvPr/>
        </p:nvSpPr>
        <p:spPr>
          <a:xfrm>
            <a:off x="9588366" y="3963728"/>
            <a:ext cx="252178" cy="252178"/>
          </a:xfrm>
          <a:custGeom>
            <a:avLst/>
            <a:gdLst/>
            <a:ahLst/>
            <a:cxnLst/>
            <a:rect l="l" t="t" r="r" b="b"/>
            <a:pathLst>
              <a:path w="252178" h="252178">
                <a:moveTo>
                  <a:pt x="220656" y="52537"/>
                </a:moveTo>
                <a:cubicBezTo>
                  <a:pt x="220656" y="69946"/>
                  <a:pt x="178317" y="84059"/>
                  <a:pt x="126089" y="84059"/>
                </a:cubicBezTo>
                <a:cubicBezTo>
                  <a:pt x="73861" y="84059"/>
                  <a:pt x="31522" y="69946"/>
                  <a:pt x="31522" y="52537"/>
                </a:cubicBezTo>
                <a:cubicBezTo>
                  <a:pt x="31522" y="35128"/>
                  <a:pt x="73861" y="21015"/>
                  <a:pt x="126089" y="21015"/>
                </a:cubicBezTo>
                <a:cubicBezTo>
                  <a:pt x="178317" y="21015"/>
                  <a:pt x="220656" y="35128"/>
                  <a:pt x="220656" y="52537"/>
                </a:cubicBezTo>
                <a:close/>
                <a:moveTo>
                  <a:pt x="31522" y="52537"/>
                </a:moveTo>
                <a:lnTo>
                  <a:pt x="31522" y="199641"/>
                </a:lnTo>
                <a:cubicBezTo>
                  <a:pt x="31522" y="217051"/>
                  <a:pt x="73861" y="231164"/>
                  <a:pt x="126089" y="231164"/>
                </a:cubicBezTo>
                <a:cubicBezTo>
                  <a:pt x="178317" y="231164"/>
                  <a:pt x="220656" y="217051"/>
                  <a:pt x="220656" y="199641"/>
                </a:cubicBezTo>
                <a:lnTo>
                  <a:pt x="220656" y="52537"/>
                </a:lnTo>
                <a:moveTo>
                  <a:pt x="31522" y="126089"/>
                </a:moveTo>
                <a:cubicBezTo>
                  <a:pt x="31522" y="143499"/>
                  <a:pt x="73861" y="157612"/>
                  <a:pt x="126089" y="157612"/>
                </a:cubicBezTo>
                <a:cubicBezTo>
                  <a:pt x="178317" y="157612"/>
                  <a:pt x="220656" y="143499"/>
                  <a:pt x="220656" y="126089"/>
                </a:cubicBezTo>
              </a:path>
            </a:pathLst>
          </a:custGeom>
          <a:noFill/>
          <a:ln w="21015" cap="rnd">
            <a:solidFill>
              <a:srgbClr val="55627E"/>
            </a:solidFill>
            <a:prstDash val="solid"/>
            <a:round/>
          </a:ln>
        </p:spPr>
      </p:sp>
      <p:sp>
        <p:nvSpPr>
          <p:cNvPr id="111" name="Text 109"/>
          <p:cNvSpPr/>
          <p:nvPr/>
        </p:nvSpPr>
        <p:spPr>
          <a:xfrm>
            <a:off x="9950272" y="3847338"/>
            <a:ext cx="1312099"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db-notificaciones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evento_procesado</a:t>
            </a:r>
            <a:endParaRPr lang="en-US" sz="955" dirty="0"/>
          </a:p>
        </p:txBody>
      </p:sp>
      <p:sp>
        <p:nvSpPr>
          <p:cNvPr id="112" name="Text 110"/>
          <p:cNvSpPr/>
          <p:nvPr/>
        </p:nvSpPr>
        <p:spPr>
          <a:xfrm>
            <a:off x="9442062" y="4445454"/>
            <a:ext cx="1875173" cy="436463"/>
          </a:xfrm>
          <a:prstGeom prst="roundRect">
            <a:avLst>
              <a:gd name="adj" fmla="val 18855"/>
            </a:avLst>
          </a:prstGeom>
          <a:solidFill>
            <a:srgbClr val="FBFCFE"/>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16" b="1" dirty="0">
                <a:solidFill>
                  <a:srgbClr val="0B1A3C"/>
                </a:solidFill>
                <a:latin typeface="Segoe UI" pitchFamily="34" charset="0"/>
                <a:ea typeface="Segoe UI" pitchFamily="34" charset="-122"/>
                <a:cs typeface="Segoe UI" pitchFamily="34" charset="-120"/>
              </a:rPr>
              <a:t>Salida de los contenedores</a:t>
            </a:r>
            <a:endParaRPr lang="en-US" sz="916" dirty="0"/>
          </a:p>
          <a:p>
            <a:pPr algn="ctr" indent="0" marL="0">
              <a:buNone/>
            </a:pPr>
            <a:r>
              <a:rPr lang="en-US" sz="768" dirty="0">
                <a:solidFill>
                  <a:srgbClr val="55627E"/>
                </a:solidFill>
                <a:latin typeface="Segoe UI" pitchFamily="34" charset="0"/>
                <a:ea typeface="Segoe UI" pitchFamily="34" charset="-122"/>
                <a:cs typeface="Segoe UI" pitchFamily="34" charset="-120"/>
              </a:rPr>
              <a:t>logs JSON con traceId</a:t>
            </a:r>
            <a:endParaRPr lang="en-US" sz="916" dirty="0"/>
          </a:p>
        </p:txBody>
      </p:sp>
      <p:sp>
        <p:nvSpPr>
          <p:cNvPr id="113" name="Shape 111"/>
          <p:cNvSpPr/>
          <p:nvPr/>
        </p:nvSpPr>
        <p:spPr>
          <a:xfrm>
            <a:off x="761303" y="5512362"/>
            <a:ext cx="1374049" cy="51728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14" name="Shape 112"/>
          <p:cNvSpPr/>
          <p:nvPr/>
        </p:nvSpPr>
        <p:spPr>
          <a:xfrm>
            <a:off x="926836" y="5581648"/>
            <a:ext cx="378718" cy="378718"/>
          </a:xfrm>
          <a:prstGeom prst="ellipse">
            <a:avLst/>
          </a:prstGeom>
          <a:solidFill>
            <a:srgbClr val="E2E5EA"/>
          </a:solidFill>
          <a:ln w="12700">
            <a:solidFill>
              <a:srgbClr val="E2E5EA"/>
            </a:solidFill>
            <a:prstDash val="solid"/>
          </a:ln>
        </p:spPr>
      </p:sp>
      <p:sp>
        <p:nvSpPr>
          <p:cNvPr id="115" name="Icono users"/>
          <p:cNvSpPr/>
          <p:nvPr/>
        </p:nvSpPr>
        <p:spPr>
          <a:xfrm>
            <a:off x="981700" y="5636512"/>
            <a:ext cx="268990" cy="268990"/>
          </a:xfrm>
          <a:custGeom>
            <a:avLst/>
            <a:gdLst/>
            <a:ahLst/>
            <a:cxnLst/>
            <a:rect l="l" t="t" r="r" b="b"/>
            <a:pathLst>
              <a:path w="268990" h="268990">
                <a:moveTo>
                  <a:pt x="179327" y="235367"/>
                </a:moveTo>
                <a:lnTo>
                  <a:pt x="179327" y="212951"/>
                </a:lnTo>
                <a:cubicBezTo>
                  <a:pt x="179327" y="188191"/>
                  <a:pt x="159255" y="168119"/>
                  <a:pt x="134495" y="168119"/>
                </a:cubicBezTo>
                <a:lnTo>
                  <a:pt x="67248" y="168119"/>
                </a:lnTo>
                <a:cubicBezTo>
                  <a:pt x="42488" y="168119"/>
                  <a:pt x="22416" y="188191"/>
                  <a:pt x="22416" y="212951"/>
                </a:cubicBezTo>
                <a:lnTo>
                  <a:pt x="22416" y="235367"/>
                </a:lnTo>
                <a:moveTo>
                  <a:pt x="145703" y="78456"/>
                </a:moveTo>
                <a:cubicBezTo>
                  <a:pt x="145703" y="103215"/>
                  <a:pt x="125631" y="123287"/>
                  <a:pt x="100871" y="123287"/>
                </a:cubicBezTo>
                <a:cubicBezTo>
                  <a:pt x="76112" y="123287"/>
                  <a:pt x="56040" y="103215"/>
                  <a:pt x="56040" y="78456"/>
                </a:cubicBezTo>
                <a:cubicBezTo>
                  <a:pt x="56040" y="53696"/>
                  <a:pt x="76112" y="33624"/>
                  <a:pt x="100871" y="33624"/>
                </a:cubicBezTo>
                <a:cubicBezTo>
                  <a:pt x="125631" y="33624"/>
                  <a:pt x="145703" y="53696"/>
                  <a:pt x="145703" y="78456"/>
                </a:cubicBezTo>
                <a:close/>
                <a:moveTo>
                  <a:pt x="246574" y="235367"/>
                </a:moveTo>
                <a:lnTo>
                  <a:pt x="246574" y="212951"/>
                </a:lnTo>
                <a:cubicBezTo>
                  <a:pt x="246559" y="192520"/>
                  <a:pt x="232733" y="174684"/>
                  <a:pt x="212951" y="169576"/>
                </a:cubicBezTo>
                <a:moveTo>
                  <a:pt x="179327" y="35081"/>
                </a:moveTo>
                <a:cubicBezTo>
                  <a:pt x="199164" y="40160"/>
                  <a:pt x="213039" y="58035"/>
                  <a:pt x="213039" y="78512"/>
                </a:cubicBezTo>
                <a:cubicBezTo>
                  <a:pt x="213039" y="98989"/>
                  <a:pt x="199164" y="116863"/>
                  <a:pt x="179327" y="121942"/>
                </a:cubicBezTo>
              </a:path>
            </a:pathLst>
          </a:custGeom>
          <a:noFill/>
          <a:ln w="22416" cap="rnd">
            <a:solidFill>
              <a:srgbClr val="0B2350"/>
            </a:solidFill>
            <a:prstDash val="solid"/>
            <a:round/>
          </a:ln>
        </p:spPr>
      </p:sp>
      <p:sp>
        <p:nvSpPr>
          <p:cNvPr id="116" name="Text 114"/>
          <p:cNvSpPr/>
          <p:nvPr/>
        </p:nvSpPr>
        <p:spPr>
          <a:xfrm>
            <a:off x="1360418" y="5512362"/>
            <a:ext cx="720070"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Equipo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desarrolla y opera</a:t>
            </a:r>
            <a:endParaRPr lang="en-US" sz="955" dirty="0"/>
          </a:p>
        </p:txBody>
      </p:sp>
      <p:sp>
        <p:nvSpPr>
          <p:cNvPr id="117" name="Shape 115"/>
          <p:cNvSpPr/>
          <p:nvPr/>
        </p:nvSpPr>
        <p:spPr>
          <a:xfrm>
            <a:off x="2458658" y="5512362"/>
            <a:ext cx="1357884" cy="517289"/>
          </a:xfrm>
          <a:prstGeom prst="roundRect">
            <a:avLst>
              <a:gd name="adj" fmla="val 1590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118" name="Shape 116"/>
          <p:cNvSpPr/>
          <p:nvPr/>
        </p:nvSpPr>
        <p:spPr>
          <a:xfrm>
            <a:off x="2550098" y="5581648"/>
            <a:ext cx="378718" cy="378718"/>
          </a:xfrm>
          <a:prstGeom prst="ellipse">
            <a:avLst/>
          </a:prstGeom>
          <a:solidFill>
            <a:srgbClr val="E2EDE9"/>
          </a:solidFill>
          <a:ln w="12700">
            <a:solidFill>
              <a:srgbClr val="E2EDE9"/>
            </a:solidFill>
            <a:prstDash val="solid"/>
          </a:ln>
        </p:spPr>
      </p:sp>
      <p:sp>
        <p:nvSpPr>
          <p:cNvPr id="119" name="Icono github"/>
          <p:cNvSpPr/>
          <p:nvPr/>
        </p:nvSpPr>
        <p:spPr>
          <a:xfrm>
            <a:off x="2604962" y="5636512"/>
            <a:ext cx="268990" cy="268990"/>
          </a:xfrm>
          <a:custGeom>
            <a:avLst/>
            <a:gdLst/>
            <a:ahLst/>
            <a:cxnLst/>
            <a:rect l="l" t="t" r="r" b="b"/>
            <a:pathLst>
              <a:path w="268990" h="268990">
                <a:moveTo>
                  <a:pt x="168119" y="246574"/>
                </a:moveTo>
                <a:lnTo>
                  <a:pt x="168119" y="201743"/>
                </a:lnTo>
                <a:cubicBezTo>
                  <a:pt x="169678" y="187702"/>
                  <a:pt x="165652" y="173612"/>
                  <a:pt x="156911" y="162515"/>
                </a:cubicBezTo>
                <a:cubicBezTo>
                  <a:pt x="190535" y="162515"/>
                  <a:pt x="224159" y="140099"/>
                  <a:pt x="224159" y="100871"/>
                </a:cubicBezTo>
                <a:cubicBezTo>
                  <a:pt x="225055" y="86861"/>
                  <a:pt x="221132" y="73076"/>
                  <a:pt x="212951" y="61644"/>
                </a:cubicBezTo>
                <a:cubicBezTo>
                  <a:pt x="216089" y="48755"/>
                  <a:pt x="216089" y="35305"/>
                  <a:pt x="212951" y="22416"/>
                </a:cubicBezTo>
                <a:cubicBezTo>
                  <a:pt x="212951" y="22416"/>
                  <a:pt x="201743" y="22416"/>
                  <a:pt x="179327" y="39228"/>
                </a:cubicBezTo>
                <a:cubicBezTo>
                  <a:pt x="149738" y="33624"/>
                  <a:pt x="119252" y="33624"/>
                  <a:pt x="89663" y="39228"/>
                </a:cubicBezTo>
                <a:cubicBezTo>
                  <a:pt x="67248" y="22416"/>
                  <a:pt x="56040" y="22416"/>
                  <a:pt x="56040" y="22416"/>
                </a:cubicBezTo>
                <a:cubicBezTo>
                  <a:pt x="52677" y="35305"/>
                  <a:pt x="52677" y="48755"/>
                  <a:pt x="56040" y="61644"/>
                </a:cubicBezTo>
                <a:cubicBezTo>
                  <a:pt x="47879" y="73030"/>
                  <a:pt x="43918" y="86893"/>
                  <a:pt x="44832" y="100871"/>
                </a:cubicBezTo>
                <a:cubicBezTo>
                  <a:pt x="44832" y="140099"/>
                  <a:pt x="78456" y="162515"/>
                  <a:pt x="112079" y="162515"/>
                </a:cubicBezTo>
                <a:cubicBezTo>
                  <a:pt x="107708" y="168007"/>
                  <a:pt x="104458" y="174283"/>
                  <a:pt x="102553" y="181008"/>
                </a:cubicBezTo>
                <a:cubicBezTo>
                  <a:pt x="100647" y="187733"/>
                  <a:pt x="100087" y="194794"/>
                  <a:pt x="100871" y="201743"/>
                </a:cubicBezTo>
                <a:lnTo>
                  <a:pt x="100871" y="246574"/>
                </a:lnTo>
                <a:moveTo>
                  <a:pt x="100871" y="201743"/>
                </a:moveTo>
                <a:cubicBezTo>
                  <a:pt x="50324" y="224159"/>
                  <a:pt x="44832" y="179327"/>
                  <a:pt x="22416" y="179327"/>
                </a:cubicBezTo>
              </a:path>
            </a:pathLst>
          </a:custGeom>
          <a:noFill/>
          <a:ln w="22416" cap="rnd">
            <a:solidFill>
              <a:srgbClr val="0A6648"/>
            </a:solidFill>
            <a:prstDash val="solid"/>
            <a:round/>
          </a:ln>
        </p:spPr>
      </p:sp>
      <p:sp>
        <p:nvSpPr>
          <p:cNvPr id="120" name="Text 118"/>
          <p:cNvSpPr/>
          <p:nvPr/>
        </p:nvSpPr>
        <p:spPr>
          <a:xfrm>
            <a:off x="2983681" y="5512362"/>
            <a:ext cx="777998"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GitHub</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ramas y Pull Requests</a:t>
            </a:r>
            <a:endParaRPr lang="en-US" sz="955" dirty="0"/>
          </a:p>
        </p:txBody>
      </p:sp>
      <p:sp>
        <p:nvSpPr>
          <p:cNvPr id="121" name="Text 119"/>
          <p:cNvSpPr/>
          <p:nvPr/>
        </p:nvSpPr>
        <p:spPr>
          <a:xfrm>
            <a:off x="4059022" y="5512362"/>
            <a:ext cx="1374049" cy="517289"/>
          </a:xfrm>
          <a:prstGeom prst="roundRect">
            <a:avLst>
              <a:gd name="adj" fmla="val 1590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GitHub Actions</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compila, prueba y construye</a:t>
            </a:r>
            <a:endParaRPr lang="en-US" sz="955" dirty="0"/>
          </a:p>
        </p:txBody>
      </p:sp>
      <p:sp>
        <p:nvSpPr>
          <p:cNvPr id="122" name="Shape 120"/>
          <p:cNvSpPr/>
          <p:nvPr/>
        </p:nvSpPr>
        <p:spPr>
          <a:xfrm>
            <a:off x="5675550" y="5512362"/>
            <a:ext cx="1374049" cy="517289"/>
          </a:xfrm>
          <a:prstGeom prst="roundRect">
            <a:avLst>
              <a:gd name="adj" fmla="val 1590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123" name="Shape 121"/>
          <p:cNvSpPr/>
          <p:nvPr/>
        </p:nvSpPr>
        <p:spPr>
          <a:xfrm>
            <a:off x="5766990" y="5581648"/>
            <a:ext cx="378718" cy="378718"/>
          </a:xfrm>
          <a:prstGeom prst="ellipse">
            <a:avLst/>
          </a:prstGeom>
          <a:solidFill>
            <a:srgbClr val="E2EDE9"/>
          </a:solidFill>
          <a:ln w="12700">
            <a:solidFill>
              <a:srgbClr val="E2EDE9"/>
            </a:solidFill>
            <a:prstDash val="solid"/>
          </a:ln>
        </p:spPr>
      </p:sp>
      <p:sp>
        <p:nvSpPr>
          <p:cNvPr id="124" name="Icono package-check"/>
          <p:cNvSpPr/>
          <p:nvPr/>
        </p:nvSpPr>
        <p:spPr>
          <a:xfrm>
            <a:off x="5821854" y="5636512"/>
            <a:ext cx="268990" cy="268990"/>
          </a:xfrm>
          <a:custGeom>
            <a:avLst/>
            <a:gdLst/>
            <a:ahLst/>
            <a:cxnLst/>
            <a:rect l="l" t="t" r="r" b="b"/>
            <a:pathLst>
              <a:path w="268990" h="268990">
                <a:moveTo>
                  <a:pt x="179327" y="179327"/>
                </a:moveTo>
                <a:lnTo>
                  <a:pt x="201743" y="201743"/>
                </a:lnTo>
                <a:lnTo>
                  <a:pt x="246574" y="156911"/>
                </a:lnTo>
                <a:moveTo>
                  <a:pt x="235367" y="112079"/>
                </a:moveTo>
                <a:lnTo>
                  <a:pt x="235367" y="89663"/>
                </a:lnTo>
                <a:cubicBezTo>
                  <a:pt x="235358" y="81663"/>
                  <a:pt x="231087" y="74274"/>
                  <a:pt x="224159" y="70274"/>
                </a:cubicBezTo>
                <a:lnTo>
                  <a:pt x="145703" y="25442"/>
                </a:lnTo>
                <a:cubicBezTo>
                  <a:pt x="138768" y="21438"/>
                  <a:pt x="130223" y="21438"/>
                  <a:pt x="123287" y="25442"/>
                </a:cubicBezTo>
                <a:lnTo>
                  <a:pt x="44832" y="70274"/>
                </a:lnTo>
                <a:cubicBezTo>
                  <a:pt x="37903" y="74274"/>
                  <a:pt x="33632" y="81663"/>
                  <a:pt x="33624" y="89663"/>
                </a:cubicBezTo>
                <a:lnTo>
                  <a:pt x="33624" y="179327"/>
                </a:lnTo>
                <a:cubicBezTo>
                  <a:pt x="33632" y="187327"/>
                  <a:pt x="37903" y="194717"/>
                  <a:pt x="44832" y="198717"/>
                </a:cubicBezTo>
                <a:lnTo>
                  <a:pt x="123287" y="243548"/>
                </a:lnTo>
                <a:cubicBezTo>
                  <a:pt x="130223" y="247553"/>
                  <a:pt x="138768" y="247553"/>
                  <a:pt x="145703" y="243548"/>
                </a:cubicBezTo>
                <a:lnTo>
                  <a:pt x="168119" y="230771"/>
                </a:lnTo>
                <a:moveTo>
                  <a:pt x="84059" y="47858"/>
                </a:moveTo>
                <a:lnTo>
                  <a:pt x="184931" y="105579"/>
                </a:lnTo>
                <a:moveTo>
                  <a:pt x="36874" y="78456"/>
                </a:moveTo>
                <a:lnTo>
                  <a:pt x="134495" y="134495"/>
                </a:lnTo>
                <a:lnTo>
                  <a:pt x="232116" y="78456"/>
                </a:lnTo>
                <a:moveTo>
                  <a:pt x="134495" y="246574"/>
                </a:moveTo>
                <a:lnTo>
                  <a:pt x="134495" y="134495"/>
                </a:lnTo>
              </a:path>
            </a:pathLst>
          </a:custGeom>
          <a:noFill/>
          <a:ln w="22416" cap="rnd">
            <a:solidFill>
              <a:srgbClr val="0A6648"/>
            </a:solidFill>
            <a:prstDash val="solid"/>
            <a:round/>
          </a:ln>
        </p:spPr>
      </p:sp>
      <p:sp>
        <p:nvSpPr>
          <p:cNvPr id="125" name="Text 123"/>
          <p:cNvSpPr/>
          <p:nvPr/>
        </p:nvSpPr>
        <p:spPr>
          <a:xfrm>
            <a:off x="6200573" y="5512362"/>
            <a:ext cx="794163"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GHCR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imágenes por commit</a:t>
            </a:r>
            <a:endParaRPr lang="en-US" sz="955" dirty="0"/>
          </a:p>
        </p:txBody>
      </p:sp>
      <p:sp>
        <p:nvSpPr>
          <p:cNvPr id="126" name="Shape 124"/>
          <p:cNvSpPr/>
          <p:nvPr/>
        </p:nvSpPr>
        <p:spPr>
          <a:xfrm>
            <a:off x="7518393" y="5512362"/>
            <a:ext cx="1163901" cy="517289"/>
          </a:xfrm>
          <a:prstGeom prst="roundRect">
            <a:avLst>
              <a:gd name="adj" fmla="val 15909"/>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sp>
      <p:sp>
        <p:nvSpPr>
          <p:cNvPr id="127" name="Shape 125"/>
          <p:cNvSpPr/>
          <p:nvPr/>
        </p:nvSpPr>
        <p:spPr>
          <a:xfrm>
            <a:off x="7609833" y="5581648"/>
            <a:ext cx="378718" cy="378718"/>
          </a:xfrm>
          <a:prstGeom prst="ellipse">
            <a:avLst/>
          </a:prstGeom>
          <a:solidFill>
            <a:srgbClr val="F1E9E1"/>
          </a:solidFill>
          <a:ln w="12700">
            <a:solidFill>
              <a:srgbClr val="F1E9E1"/>
            </a:solidFill>
            <a:prstDash val="solid"/>
          </a:ln>
        </p:spPr>
      </p:sp>
      <p:sp>
        <p:nvSpPr>
          <p:cNvPr id="128" name="Icono scan-eye"/>
          <p:cNvSpPr/>
          <p:nvPr/>
        </p:nvSpPr>
        <p:spPr>
          <a:xfrm>
            <a:off x="7664697" y="5636512"/>
            <a:ext cx="268990" cy="268990"/>
          </a:xfrm>
          <a:custGeom>
            <a:avLst/>
            <a:gdLst/>
            <a:ahLst/>
            <a:cxnLst/>
            <a:rect l="l" t="t" r="r" b="b"/>
            <a:pathLst>
              <a:path w="268990" h="268990">
                <a:moveTo>
                  <a:pt x="33624" y="78456"/>
                </a:moveTo>
                <a:lnTo>
                  <a:pt x="33624" y="56040"/>
                </a:lnTo>
                <a:cubicBezTo>
                  <a:pt x="33624" y="43660"/>
                  <a:pt x="43660" y="33624"/>
                  <a:pt x="56040" y="33624"/>
                </a:cubicBezTo>
                <a:lnTo>
                  <a:pt x="78456" y="33624"/>
                </a:lnTo>
                <a:moveTo>
                  <a:pt x="190535" y="33624"/>
                </a:moveTo>
                <a:lnTo>
                  <a:pt x="212951" y="33624"/>
                </a:lnTo>
                <a:cubicBezTo>
                  <a:pt x="225331" y="33624"/>
                  <a:pt x="235367" y="43660"/>
                  <a:pt x="235367" y="56040"/>
                </a:cubicBezTo>
                <a:lnTo>
                  <a:pt x="235367" y="78456"/>
                </a:lnTo>
                <a:moveTo>
                  <a:pt x="235367" y="190535"/>
                </a:moveTo>
                <a:lnTo>
                  <a:pt x="235367" y="212951"/>
                </a:lnTo>
                <a:cubicBezTo>
                  <a:pt x="235367" y="225331"/>
                  <a:pt x="225331" y="235367"/>
                  <a:pt x="212951" y="235367"/>
                </a:cubicBezTo>
                <a:lnTo>
                  <a:pt x="190535" y="235367"/>
                </a:lnTo>
                <a:moveTo>
                  <a:pt x="78456" y="235367"/>
                </a:moveTo>
                <a:lnTo>
                  <a:pt x="56040" y="235367"/>
                </a:lnTo>
                <a:cubicBezTo>
                  <a:pt x="43660" y="235367"/>
                  <a:pt x="33624" y="225331"/>
                  <a:pt x="33624" y="212951"/>
                </a:cubicBezTo>
                <a:lnTo>
                  <a:pt x="33624" y="190535"/>
                </a:lnTo>
                <a:moveTo>
                  <a:pt x="145703" y="134495"/>
                </a:moveTo>
                <a:cubicBezTo>
                  <a:pt x="145703" y="140685"/>
                  <a:pt x="140685" y="145703"/>
                  <a:pt x="134495" y="145703"/>
                </a:cubicBezTo>
                <a:cubicBezTo>
                  <a:pt x="128305" y="145703"/>
                  <a:pt x="123287" y="140685"/>
                  <a:pt x="123287" y="134495"/>
                </a:cubicBezTo>
                <a:cubicBezTo>
                  <a:pt x="123287" y="128305"/>
                  <a:pt x="128305" y="123287"/>
                  <a:pt x="134495" y="123287"/>
                </a:cubicBezTo>
                <a:cubicBezTo>
                  <a:pt x="140685" y="123287"/>
                  <a:pt x="145703" y="128305"/>
                  <a:pt x="145703" y="134495"/>
                </a:cubicBezTo>
                <a:close/>
                <a:moveTo>
                  <a:pt x="212323" y="138194"/>
                </a:moveTo>
                <a:cubicBezTo>
                  <a:pt x="213160" y="135799"/>
                  <a:pt x="213160" y="133191"/>
                  <a:pt x="212323" y="130797"/>
                </a:cubicBezTo>
                <a:cubicBezTo>
                  <a:pt x="199416" y="99170"/>
                  <a:pt x="168654" y="78499"/>
                  <a:pt x="134495" y="78499"/>
                </a:cubicBezTo>
                <a:cubicBezTo>
                  <a:pt x="100336" y="78499"/>
                  <a:pt x="69574" y="99170"/>
                  <a:pt x="56667" y="130797"/>
                </a:cubicBezTo>
                <a:cubicBezTo>
                  <a:pt x="55830" y="133191"/>
                  <a:pt x="55830" y="135799"/>
                  <a:pt x="56667" y="138194"/>
                </a:cubicBezTo>
                <a:cubicBezTo>
                  <a:pt x="69574" y="169820"/>
                  <a:pt x="100336" y="190491"/>
                  <a:pt x="134495" y="190491"/>
                </a:cubicBezTo>
                <a:cubicBezTo>
                  <a:pt x="168654" y="190491"/>
                  <a:pt x="199416" y="169820"/>
                  <a:pt x="212323" y="138194"/>
                </a:cubicBezTo>
              </a:path>
            </a:pathLst>
          </a:custGeom>
          <a:noFill/>
          <a:ln w="22416" cap="rnd">
            <a:solidFill>
              <a:srgbClr val="8A4B06"/>
            </a:solidFill>
            <a:prstDash val="solid"/>
            <a:round/>
          </a:ln>
        </p:spPr>
      </p:sp>
      <p:sp>
        <p:nvSpPr>
          <p:cNvPr id="129" name="Text 127"/>
          <p:cNvSpPr/>
          <p:nvPr/>
        </p:nvSpPr>
        <p:spPr>
          <a:xfrm>
            <a:off x="8043415" y="5512362"/>
            <a:ext cx="584014" cy="517289"/>
          </a:xfrm>
          <a:prstGeom prst="rect">
            <a:avLst/>
          </a:prstGeom>
          <a:noFill/>
          <a:ln/>
        </p:spPr>
        <p:txBody>
          <a:bodyPr wrap="square" lIns="12700" tIns="25400" rIns="25400" bIns="12700" rtlCol="0" anchor="ctr">
            <a:normAutofit/>
          </a:bodyPr>
          <a:lstStyle/>
          <a:p>
            <a:pPr algn="l" indent="0" marL="0">
              <a:lnSpc>
                <a:spcPct val="95000"/>
              </a:lnSpc>
              <a:buNone/>
            </a:pPr>
            <a:r>
              <a:rPr lang="en-US" sz="878" b="1" dirty="0">
                <a:solidFill>
                  <a:srgbClr val="0B1A3C"/>
                </a:solidFill>
                <a:latin typeface="Segoe UI" pitchFamily="34" charset="0"/>
                <a:ea typeface="Segoe UI" pitchFamily="34" charset="-122"/>
                <a:cs typeface="Segoe UI" pitchFamily="34" charset="-120"/>
              </a:rPr>
              <a:t>Promtail</a:t>
            </a:r>
            <a:endParaRPr lang="en-US" sz="878" dirty="0"/>
          </a:p>
          <a:p>
            <a:pPr algn="l" indent="0" marL="0">
              <a:lnSpc>
                <a:spcPct val="95000"/>
              </a:lnSpc>
              <a:buNone/>
            </a:pPr>
            <a:r>
              <a:rPr lang="en-US" sz="736" dirty="0">
                <a:solidFill>
                  <a:srgbClr val="55627E"/>
                </a:solidFill>
                <a:latin typeface="Segoe UI" pitchFamily="34" charset="0"/>
                <a:ea typeface="Segoe UI" pitchFamily="34" charset="-122"/>
                <a:cs typeface="Segoe UI" pitchFamily="34" charset="-120"/>
              </a:rPr>
              <a:t>recoge los logs</a:t>
            </a:r>
            <a:endParaRPr lang="en-US" sz="878" dirty="0"/>
          </a:p>
        </p:txBody>
      </p:sp>
      <p:sp>
        <p:nvSpPr>
          <p:cNvPr id="130" name="Shape 128"/>
          <p:cNvSpPr/>
          <p:nvPr/>
        </p:nvSpPr>
        <p:spPr>
          <a:xfrm>
            <a:off x="8940938" y="5512362"/>
            <a:ext cx="1034578" cy="517289"/>
          </a:xfrm>
          <a:prstGeom prst="roundRect">
            <a:avLst>
              <a:gd name="adj" fmla="val 15909"/>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sp>
      <p:sp>
        <p:nvSpPr>
          <p:cNvPr id="131" name="Shape 129"/>
          <p:cNvSpPr/>
          <p:nvPr/>
        </p:nvSpPr>
        <p:spPr>
          <a:xfrm>
            <a:off x="9032378" y="5581648"/>
            <a:ext cx="378718" cy="378718"/>
          </a:xfrm>
          <a:prstGeom prst="ellipse">
            <a:avLst/>
          </a:prstGeom>
          <a:solidFill>
            <a:srgbClr val="F1E9E1"/>
          </a:solidFill>
          <a:ln w="12700">
            <a:solidFill>
              <a:srgbClr val="F1E9E1"/>
            </a:solidFill>
            <a:prstDash val="solid"/>
          </a:ln>
        </p:spPr>
      </p:sp>
      <p:sp>
        <p:nvSpPr>
          <p:cNvPr id="132" name="Icono archive"/>
          <p:cNvSpPr/>
          <p:nvPr/>
        </p:nvSpPr>
        <p:spPr>
          <a:xfrm>
            <a:off x="9087242" y="5636512"/>
            <a:ext cx="268990" cy="268990"/>
          </a:xfrm>
          <a:custGeom>
            <a:avLst/>
            <a:gdLst/>
            <a:ahLst/>
            <a:cxnLst/>
            <a:rect l="l" t="t" r="r" b="b"/>
            <a:pathLst>
              <a:path w="268990" h="268990">
                <a:moveTo>
                  <a:pt x="33624" y="33624"/>
                </a:moveTo>
                <a:lnTo>
                  <a:pt x="235367" y="33624"/>
                </a:lnTo>
                <a:cubicBezTo>
                  <a:pt x="241557" y="33624"/>
                  <a:pt x="246574" y="38642"/>
                  <a:pt x="246574" y="44832"/>
                </a:cubicBezTo>
                <a:lnTo>
                  <a:pt x="246574" y="78456"/>
                </a:lnTo>
                <a:cubicBezTo>
                  <a:pt x="246574" y="84645"/>
                  <a:pt x="241557" y="89663"/>
                  <a:pt x="235367" y="89663"/>
                </a:cubicBezTo>
                <a:lnTo>
                  <a:pt x="33624" y="89663"/>
                </a:lnTo>
                <a:cubicBezTo>
                  <a:pt x="27434" y="89663"/>
                  <a:pt x="22416" y="84645"/>
                  <a:pt x="22416" y="78456"/>
                </a:cubicBezTo>
                <a:lnTo>
                  <a:pt x="22416" y="44832"/>
                </a:lnTo>
                <a:cubicBezTo>
                  <a:pt x="22416" y="38642"/>
                  <a:pt x="27434" y="33624"/>
                  <a:pt x="33624" y="33624"/>
                </a:cubicBezTo>
                <a:close/>
                <a:moveTo>
                  <a:pt x="44832" y="89663"/>
                </a:moveTo>
                <a:lnTo>
                  <a:pt x="44832" y="212951"/>
                </a:lnTo>
                <a:cubicBezTo>
                  <a:pt x="44832" y="225331"/>
                  <a:pt x="54868" y="235367"/>
                  <a:pt x="67248" y="235367"/>
                </a:cubicBezTo>
                <a:lnTo>
                  <a:pt x="201743" y="235367"/>
                </a:lnTo>
                <a:cubicBezTo>
                  <a:pt x="214123" y="235367"/>
                  <a:pt x="224159" y="225331"/>
                  <a:pt x="224159" y="212951"/>
                </a:cubicBezTo>
                <a:lnTo>
                  <a:pt x="224159" y="89663"/>
                </a:lnTo>
                <a:moveTo>
                  <a:pt x="112079" y="134495"/>
                </a:moveTo>
                <a:lnTo>
                  <a:pt x="156911" y="134495"/>
                </a:lnTo>
              </a:path>
            </a:pathLst>
          </a:custGeom>
          <a:noFill/>
          <a:ln w="22416" cap="rnd">
            <a:solidFill>
              <a:srgbClr val="8A4B06"/>
            </a:solidFill>
            <a:prstDash val="solid"/>
            <a:round/>
          </a:ln>
        </p:spPr>
      </p:sp>
      <p:sp>
        <p:nvSpPr>
          <p:cNvPr id="133" name="Text 131"/>
          <p:cNvSpPr/>
          <p:nvPr/>
        </p:nvSpPr>
        <p:spPr>
          <a:xfrm>
            <a:off x="9465960" y="5512362"/>
            <a:ext cx="454692"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Loki</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guarda</a:t>
            </a:r>
            <a:endParaRPr lang="en-US" sz="955" dirty="0"/>
          </a:p>
        </p:txBody>
      </p:sp>
      <p:sp>
        <p:nvSpPr>
          <p:cNvPr id="134" name="Shape 132"/>
          <p:cNvSpPr/>
          <p:nvPr/>
        </p:nvSpPr>
        <p:spPr>
          <a:xfrm>
            <a:off x="10234161" y="5512362"/>
            <a:ext cx="1131570" cy="517289"/>
          </a:xfrm>
          <a:prstGeom prst="roundRect">
            <a:avLst>
              <a:gd name="adj" fmla="val 15909"/>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sp>
      <p:sp>
        <p:nvSpPr>
          <p:cNvPr id="135" name="Shape 133"/>
          <p:cNvSpPr/>
          <p:nvPr/>
        </p:nvSpPr>
        <p:spPr>
          <a:xfrm>
            <a:off x="10325601" y="5581648"/>
            <a:ext cx="378718" cy="378718"/>
          </a:xfrm>
          <a:prstGeom prst="ellipse">
            <a:avLst/>
          </a:prstGeom>
          <a:solidFill>
            <a:srgbClr val="F1E9E1"/>
          </a:solidFill>
          <a:ln w="12700">
            <a:solidFill>
              <a:srgbClr val="F1E9E1"/>
            </a:solidFill>
            <a:prstDash val="solid"/>
          </a:ln>
        </p:spPr>
      </p:sp>
      <p:sp>
        <p:nvSpPr>
          <p:cNvPr id="136" name="Icono chart-line"/>
          <p:cNvSpPr/>
          <p:nvPr/>
        </p:nvSpPr>
        <p:spPr>
          <a:xfrm>
            <a:off x="10380465" y="5636512"/>
            <a:ext cx="268990" cy="268990"/>
          </a:xfrm>
          <a:custGeom>
            <a:avLst/>
            <a:gdLst/>
            <a:ahLst/>
            <a:cxnLst/>
            <a:rect l="l" t="t" r="r" b="b"/>
            <a:pathLst>
              <a:path w="268990" h="268990">
                <a:moveTo>
                  <a:pt x="33624" y="33624"/>
                </a:moveTo>
                <a:lnTo>
                  <a:pt x="33624" y="212951"/>
                </a:lnTo>
                <a:cubicBezTo>
                  <a:pt x="33624" y="225331"/>
                  <a:pt x="43660" y="235367"/>
                  <a:pt x="56040" y="235367"/>
                </a:cubicBezTo>
                <a:lnTo>
                  <a:pt x="235367" y="235367"/>
                </a:lnTo>
                <a:moveTo>
                  <a:pt x="212951" y="100871"/>
                </a:moveTo>
                <a:lnTo>
                  <a:pt x="156911" y="156911"/>
                </a:lnTo>
                <a:lnTo>
                  <a:pt x="112079" y="112079"/>
                </a:lnTo>
                <a:lnTo>
                  <a:pt x="78456" y="145703"/>
                </a:lnTo>
              </a:path>
            </a:pathLst>
          </a:custGeom>
          <a:noFill/>
          <a:ln w="22416" cap="rnd">
            <a:solidFill>
              <a:srgbClr val="8A4B06"/>
            </a:solidFill>
            <a:prstDash val="solid"/>
            <a:round/>
          </a:ln>
        </p:spPr>
      </p:sp>
      <p:sp>
        <p:nvSpPr>
          <p:cNvPr id="137" name="Text 135"/>
          <p:cNvSpPr/>
          <p:nvPr/>
        </p:nvSpPr>
        <p:spPr>
          <a:xfrm>
            <a:off x="10759183" y="5512362"/>
            <a:ext cx="551684" cy="517289"/>
          </a:xfrm>
          <a:prstGeom prst="rect">
            <a:avLst/>
          </a:prstGeom>
          <a:noFill/>
          <a:ln/>
        </p:spPr>
        <p:txBody>
          <a:bodyPr wrap="square" lIns="12700" tIns="25400" rIns="25400" bIns="12700" rtlCol="0" anchor="ctr">
            <a:normAutofit/>
          </a:bodyPr>
          <a:lstStyle/>
          <a:p>
            <a:pPr algn="l" indent="0" marL="0">
              <a:lnSpc>
                <a:spcPct val="95000"/>
              </a:lnSpc>
              <a:buNone/>
            </a:pPr>
            <a:r>
              <a:rPr lang="en-US" sz="916" b="1" dirty="0">
                <a:solidFill>
                  <a:srgbClr val="0B1A3C"/>
                </a:solidFill>
                <a:latin typeface="Segoe UI" pitchFamily="34" charset="0"/>
                <a:ea typeface="Segoe UI" pitchFamily="34" charset="-122"/>
                <a:cs typeface="Segoe UI" pitchFamily="34" charset="-120"/>
              </a:rPr>
              <a:t>Grafana</a:t>
            </a:r>
            <a:endParaRPr lang="en-US" sz="916"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busca por traceId</a:t>
            </a:r>
            <a:endParaRPr lang="en-US" sz="916" dirty="0"/>
          </a:p>
        </p:txBody>
      </p:sp>
      <p:sp>
        <p:nvSpPr>
          <p:cNvPr id="138" name="Text 1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E3F4FA"/>
          </a:solidFill>
          <a:ln w="22225">
            <a:solidFill>
              <a:srgbClr val="2BA6CB"/>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650" b="1" spc="80" kern="0" dirty="0">
                <a:solidFill>
                  <a:srgbClr val="0B6E8A"/>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3F4FA"/>
          </a:solidFill>
          <a:ln w="22225">
            <a:solidFill>
              <a:srgbClr val="2BA6CB"/>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5F5FA"/>
          </a:solidFill>
          <a:ln w="12700">
            <a:solidFill>
              <a:srgbClr val="9DD7E8"/>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6F4EE"/>
          </a:solidFill>
          <a:ln w="12700">
            <a:solidFill>
              <a:srgbClr val="A9D8C3"/>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FCF2E2"/>
          </a:solidFill>
          <a:ln w="12700">
            <a:solidFill>
              <a:srgbClr val="EDCC93"/>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47625">
            <a:solidFill>
              <a:srgbClr val="2BA6CB"/>
            </a:solidFill>
            <a:prstDash val="solid"/>
            <a:tailEnd type="triangle"/>
          </a:ln>
        </p:spPr>
      </p:sp>
      <p:sp>
        <p:nvSpPr>
          <p:cNvPr id="18" name="Text 16"/>
          <p:cNvSpPr/>
          <p:nvPr/>
        </p:nvSpPr>
        <p:spPr>
          <a:xfrm>
            <a:off x="2698982" y="20775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47625">
            <a:solidFill>
              <a:srgbClr val="2BA6CB"/>
            </a:solidFill>
            <a:prstDash val="solid"/>
            <a:tailEnd type="triangle"/>
          </a:ln>
        </p:spPr>
      </p:sp>
      <p:sp>
        <p:nvSpPr>
          <p:cNvPr id="20" name="Text 18"/>
          <p:cNvSpPr/>
          <p:nvPr/>
        </p:nvSpPr>
        <p:spPr>
          <a:xfrm>
            <a:off x="3094003" y="245843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47625">
            <a:solidFill>
              <a:srgbClr val="2BA6CB"/>
            </a:solidFill>
            <a:prstDash val="solid"/>
          </a:ln>
        </p:spPr>
      </p:sp>
      <p:sp>
        <p:nvSpPr>
          <p:cNvPr id="22" name="Shape 20"/>
          <p:cNvSpPr/>
          <p:nvPr/>
        </p:nvSpPr>
        <p:spPr>
          <a:xfrm flipV="1">
            <a:off x="4417009" y="2187245"/>
            <a:ext cx="0" cy="1100415"/>
          </a:xfrm>
          <a:prstGeom prst="line">
            <a:avLst/>
          </a:prstGeom>
          <a:noFill/>
          <a:ln w="47625">
            <a:solidFill>
              <a:srgbClr val="2BA6CB"/>
            </a:solidFill>
            <a:prstDash val="solid"/>
          </a:ln>
        </p:spPr>
      </p:sp>
      <p:sp>
        <p:nvSpPr>
          <p:cNvPr id="23" name="Shape 21"/>
          <p:cNvSpPr/>
          <p:nvPr/>
        </p:nvSpPr>
        <p:spPr>
          <a:xfrm>
            <a:off x="4417009" y="2187245"/>
            <a:ext cx="225726" cy="0"/>
          </a:xfrm>
          <a:prstGeom prst="line">
            <a:avLst/>
          </a:prstGeom>
          <a:noFill/>
          <a:ln w="47625">
            <a:solidFill>
              <a:srgbClr val="2BA6CB"/>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47625">
            <a:solidFill>
              <a:srgbClr val="2BA6CB"/>
            </a:solidFill>
            <a:prstDash val="solid"/>
            <a:tailEnd type="triangle"/>
          </a:ln>
        </p:spPr>
      </p:sp>
      <p:sp>
        <p:nvSpPr>
          <p:cNvPr id="27" name="Text 25"/>
          <p:cNvSpPr/>
          <p:nvPr/>
        </p:nvSpPr>
        <p:spPr>
          <a:xfrm>
            <a:off x="4250850" y="32837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47625">
            <a:solidFill>
              <a:srgbClr val="2BA6CB"/>
            </a:solidFill>
            <a:prstDash val="sysDot"/>
            <a:tailEnd type="triangle"/>
          </a:ln>
        </p:spPr>
      </p:sp>
      <p:sp>
        <p:nvSpPr>
          <p:cNvPr id="29" name="Text 27"/>
          <p:cNvSpPr/>
          <p:nvPr/>
        </p:nvSpPr>
        <p:spPr>
          <a:xfrm>
            <a:off x="5837987" y="20775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31750">
            <a:solidFill>
              <a:srgbClr val="CBD5E3"/>
            </a:solidFill>
            <a:prstDash val="sysDot"/>
          </a:ln>
        </p:spPr>
      </p:sp>
      <p:sp>
        <p:nvSpPr>
          <p:cNvPr id="31" name="Shape 29"/>
          <p:cNvSpPr/>
          <p:nvPr/>
        </p:nvSpPr>
        <p:spPr>
          <a:xfrm>
            <a:off x="6617839" y="1792224"/>
            <a:ext cx="3216598" cy="0"/>
          </a:xfrm>
          <a:prstGeom prst="line">
            <a:avLst/>
          </a:prstGeom>
          <a:noFill/>
          <a:ln w="31750">
            <a:solidFill>
              <a:srgbClr val="CBD5E3"/>
            </a:solidFill>
            <a:prstDash val="sysDot"/>
          </a:ln>
        </p:spPr>
      </p:sp>
      <p:sp>
        <p:nvSpPr>
          <p:cNvPr id="32" name="Shape 30"/>
          <p:cNvSpPr/>
          <p:nvPr/>
        </p:nvSpPr>
        <p:spPr>
          <a:xfrm>
            <a:off x="9834437" y="1792224"/>
            <a:ext cx="0" cy="183403"/>
          </a:xfrm>
          <a:prstGeom prst="line">
            <a:avLst/>
          </a:prstGeom>
          <a:noFill/>
          <a:ln w="31750">
            <a:solidFill>
              <a:srgbClr val="CBD5E3"/>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31750">
            <a:solidFill>
              <a:srgbClr val="CBD5E3"/>
            </a:solidFill>
            <a:prstDash val="sysDot"/>
            <a:tailEnd type="triangle"/>
          </a:ln>
        </p:spPr>
      </p:sp>
      <p:sp>
        <p:nvSpPr>
          <p:cNvPr id="36" name="Text 34"/>
          <p:cNvSpPr/>
          <p:nvPr/>
        </p:nvSpPr>
        <p:spPr>
          <a:xfrm>
            <a:off x="8680726" y="20775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25400">
            <a:solidFill>
              <a:srgbClr val="CBD5E3"/>
            </a:solidFill>
            <a:prstDash val="dash"/>
          </a:ln>
        </p:spPr>
      </p:sp>
      <p:sp>
        <p:nvSpPr>
          <p:cNvPr id="38" name="Shape 36"/>
          <p:cNvSpPr/>
          <p:nvPr/>
        </p:nvSpPr>
        <p:spPr>
          <a:xfrm flipH="1">
            <a:off x="5242321" y="2786830"/>
            <a:ext cx="2772200" cy="0"/>
          </a:xfrm>
          <a:prstGeom prst="line">
            <a:avLst/>
          </a:prstGeom>
          <a:noFill/>
          <a:ln w="25400">
            <a:solidFill>
              <a:srgbClr val="CBD5E3"/>
            </a:solidFill>
            <a:prstDash val="dash"/>
          </a:ln>
        </p:spPr>
      </p:sp>
      <p:sp>
        <p:nvSpPr>
          <p:cNvPr id="39" name="Shape 37"/>
          <p:cNvSpPr/>
          <p:nvPr/>
        </p:nvSpPr>
        <p:spPr>
          <a:xfrm>
            <a:off x="5242321" y="2786830"/>
            <a:ext cx="0" cy="430291"/>
          </a:xfrm>
          <a:prstGeom prst="line">
            <a:avLst/>
          </a:prstGeom>
          <a:noFill/>
          <a:ln w="25400">
            <a:solidFill>
              <a:srgbClr val="CBD5E3"/>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31750">
            <a:solidFill>
              <a:srgbClr val="CBD5E3"/>
            </a:solidFill>
            <a:prstDash val="sysDot"/>
            <a:tailEnd type="triangle"/>
          </a:ln>
        </p:spPr>
      </p:sp>
      <p:sp>
        <p:nvSpPr>
          <p:cNvPr id="43" name="Text 41"/>
          <p:cNvSpPr/>
          <p:nvPr/>
        </p:nvSpPr>
        <p:spPr>
          <a:xfrm>
            <a:off x="5837987" y="33190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31750">
            <a:solidFill>
              <a:srgbClr val="CBD5E3"/>
            </a:solidFill>
            <a:prstDash val="sysDot"/>
            <a:tailEnd type="triangle"/>
          </a:ln>
        </p:spPr>
      </p:sp>
      <p:sp>
        <p:nvSpPr>
          <p:cNvPr id="45" name="Text 43"/>
          <p:cNvSpPr/>
          <p:nvPr/>
        </p:nvSpPr>
        <p:spPr>
          <a:xfrm>
            <a:off x="7185290" y="33190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31750">
            <a:solidFill>
              <a:srgbClr val="CBD5E3"/>
            </a:solidFill>
            <a:prstDash val="sysDot"/>
          </a:ln>
        </p:spPr>
      </p:sp>
      <p:sp>
        <p:nvSpPr>
          <p:cNvPr id="47" name="Shape 45"/>
          <p:cNvSpPr/>
          <p:nvPr/>
        </p:nvSpPr>
        <p:spPr>
          <a:xfrm>
            <a:off x="6617839" y="3823760"/>
            <a:ext cx="2243154" cy="0"/>
          </a:xfrm>
          <a:prstGeom prst="line">
            <a:avLst/>
          </a:prstGeom>
          <a:noFill/>
          <a:ln w="31750">
            <a:solidFill>
              <a:srgbClr val="CBD5E3"/>
            </a:solidFill>
            <a:prstDash val="sysDot"/>
          </a:ln>
        </p:spPr>
      </p:sp>
      <p:sp>
        <p:nvSpPr>
          <p:cNvPr id="48" name="Shape 46"/>
          <p:cNvSpPr/>
          <p:nvPr/>
        </p:nvSpPr>
        <p:spPr>
          <a:xfrm flipV="1">
            <a:off x="8860993" y="3287660"/>
            <a:ext cx="0" cy="536100"/>
          </a:xfrm>
          <a:prstGeom prst="line">
            <a:avLst/>
          </a:prstGeom>
          <a:noFill/>
          <a:ln w="31750">
            <a:solidFill>
              <a:srgbClr val="CBD5E3"/>
            </a:solidFill>
            <a:prstDash val="sysDot"/>
          </a:ln>
        </p:spPr>
      </p:sp>
      <p:sp>
        <p:nvSpPr>
          <p:cNvPr id="49" name="Shape 47"/>
          <p:cNvSpPr/>
          <p:nvPr/>
        </p:nvSpPr>
        <p:spPr>
          <a:xfrm>
            <a:off x="8860993" y="3287660"/>
            <a:ext cx="155187" cy="0"/>
          </a:xfrm>
          <a:prstGeom prst="line">
            <a:avLst/>
          </a:prstGeom>
          <a:noFill/>
          <a:ln w="31750">
            <a:solidFill>
              <a:srgbClr val="CBD5E3"/>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31750">
            <a:solidFill>
              <a:srgbClr val="CBD5E3"/>
            </a:solidFill>
            <a:prstDash val="solid"/>
            <a:tailEnd type="triangle"/>
          </a:ln>
        </p:spPr>
      </p:sp>
      <p:sp>
        <p:nvSpPr>
          <p:cNvPr id="53" name="Text 51"/>
          <p:cNvSpPr/>
          <p:nvPr/>
        </p:nvSpPr>
        <p:spPr>
          <a:xfrm>
            <a:off x="2670766"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31750">
            <a:solidFill>
              <a:srgbClr val="CBD5E3"/>
            </a:solidFill>
            <a:prstDash val="sysDot"/>
            <a:tailEnd type="triangle"/>
          </a:ln>
        </p:spPr>
      </p:sp>
      <p:sp>
        <p:nvSpPr>
          <p:cNvPr id="55" name="Text 53"/>
          <p:cNvSpPr/>
          <p:nvPr/>
        </p:nvSpPr>
        <p:spPr>
          <a:xfrm>
            <a:off x="4102717"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31750">
            <a:solidFill>
              <a:srgbClr val="CBD5E3"/>
            </a:solidFill>
            <a:prstDash val="sysDot"/>
            <a:tailEnd type="triangle"/>
          </a:ln>
        </p:spPr>
      </p:sp>
      <p:sp>
        <p:nvSpPr>
          <p:cNvPr id="57" name="Text 55"/>
          <p:cNvSpPr/>
          <p:nvPr/>
        </p:nvSpPr>
        <p:spPr>
          <a:xfrm>
            <a:off x="551350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25400">
            <a:solidFill>
              <a:srgbClr val="CBD5E3"/>
            </a:solidFill>
            <a:prstDash val="dash"/>
          </a:ln>
        </p:spPr>
      </p:sp>
      <p:sp>
        <p:nvSpPr>
          <p:cNvPr id="59" name="Shape 57"/>
          <p:cNvSpPr/>
          <p:nvPr/>
        </p:nvSpPr>
        <p:spPr>
          <a:xfrm flipH="1">
            <a:off x="8324894" y="4141187"/>
            <a:ext cx="1156847" cy="0"/>
          </a:xfrm>
          <a:prstGeom prst="line">
            <a:avLst/>
          </a:prstGeom>
          <a:noFill/>
          <a:ln w="25400">
            <a:solidFill>
              <a:srgbClr val="CBD5E3"/>
            </a:solidFill>
            <a:prstDash val="dash"/>
          </a:ln>
        </p:spPr>
      </p:sp>
      <p:sp>
        <p:nvSpPr>
          <p:cNvPr id="60" name="Shape 58"/>
          <p:cNvSpPr/>
          <p:nvPr/>
        </p:nvSpPr>
        <p:spPr>
          <a:xfrm>
            <a:off x="8324894" y="4141187"/>
            <a:ext cx="0" cy="387967"/>
          </a:xfrm>
          <a:prstGeom prst="line">
            <a:avLst/>
          </a:prstGeom>
          <a:noFill/>
          <a:ln w="25400">
            <a:solidFill>
              <a:srgbClr val="CBD5E3"/>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31750">
            <a:solidFill>
              <a:srgbClr val="CBD5E3"/>
            </a:solidFill>
            <a:prstDash val="sysDot"/>
            <a:tailEnd type="triangle"/>
          </a:ln>
        </p:spPr>
      </p:sp>
      <p:sp>
        <p:nvSpPr>
          <p:cNvPr id="64" name="Text 62"/>
          <p:cNvSpPr/>
          <p:nvPr/>
        </p:nvSpPr>
        <p:spPr>
          <a:xfrm>
            <a:off x="8356244"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31750">
            <a:solidFill>
              <a:srgbClr val="CBD5E3"/>
            </a:solidFill>
            <a:prstDash val="sysDot"/>
            <a:tailEnd type="triangle"/>
          </a:ln>
        </p:spPr>
      </p:sp>
      <p:sp>
        <p:nvSpPr>
          <p:cNvPr id="66" name="Text 64"/>
          <p:cNvSpPr/>
          <p:nvPr/>
        </p:nvSpPr>
        <p:spPr>
          <a:xfrm>
            <a:off x="948487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9" name="Shape 67"/>
          <p:cNvSpPr/>
          <p:nvPr/>
        </p:nvSpPr>
        <p:spPr>
          <a:xfrm>
            <a:off x="3097661" y="2022339"/>
            <a:ext cx="329811" cy="329811"/>
          </a:xfrm>
          <a:prstGeom prst="ellipse">
            <a:avLst/>
          </a:prstGeom>
          <a:solidFill>
            <a:srgbClr val="E3F4FA"/>
          </a:solidFill>
          <a:ln w="12700">
            <a:solidFill>
              <a:srgbClr val="E3F4FA"/>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0B6E8A"/>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64" b="1" dirty="0">
                <a:solidFill>
                  <a:srgbClr val="8A95AB"/>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9AA5B8"/>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3F6FA"/>
          </a:solidFill>
          <a:ln w="12700">
            <a:solidFill>
              <a:srgbClr val="D5DDE8"/>
            </a:solidFill>
            <a:prstDash val="solid"/>
          </a:ln>
        </p:spPr>
      </p:sp>
      <p:sp>
        <p:nvSpPr>
          <p:cNvPr id="77" name="Shape 75"/>
          <p:cNvSpPr/>
          <p:nvPr/>
        </p:nvSpPr>
        <p:spPr>
          <a:xfrm>
            <a:off x="9107620" y="2022339"/>
            <a:ext cx="329811" cy="329811"/>
          </a:xfrm>
          <a:prstGeom prst="ellipse">
            <a:avLst/>
          </a:prstGeom>
          <a:solidFill>
            <a:srgbClr val="EEF2F7"/>
          </a:solidFill>
          <a:ln w="12700">
            <a:solidFill>
              <a:srgbClr val="EEF2F7"/>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A9B4C6"/>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792" b="1" dirty="0">
                <a:solidFill>
                  <a:srgbClr val="8A95AB"/>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9AA5B8"/>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12700">
            <a:solidFill>
              <a:srgbClr val="A85D08"/>
            </a:solidFill>
            <a:prstDash val="dash"/>
          </a:ln>
        </p:spPr>
      </p:sp>
      <p:sp>
        <p:nvSpPr>
          <p:cNvPr id="83" name="Shape 81"/>
          <p:cNvSpPr/>
          <p:nvPr/>
        </p:nvSpPr>
        <p:spPr>
          <a:xfrm>
            <a:off x="7499321" y="3263833"/>
            <a:ext cx="329811" cy="329811"/>
          </a:xfrm>
          <a:prstGeom prst="ellipse">
            <a:avLst/>
          </a:prstGeom>
          <a:solidFill>
            <a:srgbClr val="EEF2F7"/>
          </a:solidFill>
          <a:ln w="12700">
            <a:solidFill>
              <a:srgbClr val="EEF2F7"/>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A9B4C6"/>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BFCFE"/>
          </a:solidFill>
          <a:ln w="12700">
            <a:solidFill>
              <a:srgbClr val="D5DDE8"/>
            </a:solidFill>
            <a:prstDash val="solid"/>
          </a:ln>
        </p:spPr>
        <p:txBody>
          <a:bodyPr wrap="square" lIns="38100" tIns="38100" rIns="38100" bIns="38100" rtlCol="0" anchor="ctr">
            <a:normAutofit/>
          </a:bodyPr>
          <a:lstStyle/>
          <a:p>
            <a:pPr algn="ctr" indent="0" marL="0">
              <a:buNone/>
            </a:pPr>
            <a:r>
              <a:rPr lang="en-US" sz="756" b="1" dirty="0">
                <a:solidFill>
                  <a:srgbClr val="8A95AB"/>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9AA5B8"/>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12700">
            <a:solidFill>
              <a:srgbClr val="D5DDE8"/>
            </a:solidFill>
            <a:prstDash val="solid"/>
          </a:ln>
        </p:spPr>
      </p:sp>
      <p:sp>
        <p:nvSpPr>
          <p:cNvPr id="89" name="Shape 87"/>
          <p:cNvSpPr/>
          <p:nvPr/>
        </p:nvSpPr>
        <p:spPr>
          <a:xfrm>
            <a:off x="1584710" y="4582638"/>
            <a:ext cx="344483" cy="344483"/>
          </a:xfrm>
          <a:prstGeom prst="ellipse">
            <a:avLst/>
          </a:prstGeom>
          <a:solidFill>
            <a:srgbClr val="EEF2F7"/>
          </a:solidFill>
          <a:ln w="12700">
            <a:solidFill>
              <a:srgbClr val="EEF2F7"/>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A9B4C6"/>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12700">
            <a:solidFill>
              <a:srgbClr val="D5DDE8"/>
            </a:solidFill>
            <a:prstDash val="solid"/>
          </a:ln>
        </p:spPr>
      </p:sp>
      <p:sp>
        <p:nvSpPr>
          <p:cNvPr id="95" name="Shape 93"/>
          <p:cNvSpPr/>
          <p:nvPr/>
        </p:nvSpPr>
        <p:spPr>
          <a:xfrm>
            <a:off x="5820483" y="4582638"/>
            <a:ext cx="344483" cy="344483"/>
          </a:xfrm>
          <a:prstGeom prst="ellipse">
            <a:avLst/>
          </a:prstGeom>
          <a:solidFill>
            <a:srgbClr val="EEF2F7"/>
          </a:solidFill>
          <a:ln w="12700">
            <a:solidFill>
              <a:srgbClr val="EEF2F7"/>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A9B4C6"/>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3" name="Text 101"/>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usa la interfaz en su navegador: React muestra las cuatro pestañas.</a:t>
            </a:r>
            <a:endParaRPr lang="en-US" sz="1300" dirty="0"/>
          </a:p>
        </p:txBody>
      </p:sp>
      <p:sp>
        <p:nvSpPr>
          <p:cNvPr id="104" name="Shape 102"/>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5" name="Text 103"/>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06" name="Text 104"/>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nginx recibe /api y reenvía cada ruta al servicio que corresponde.</a:t>
            </a:r>
            <a:endParaRPr lang="en-US" sz="1300" dirty="0"/>
          </a:p>
        </p:txBody>
      </p:sp>
      <p:sp>
        <p:nvSpPr>
          <p:cNvPr id="107" name="Shape 105"/>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8" name="Text 106"/>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09" name="Text 107"/>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API de solicitudes recibe la petición y el dominio aplica las reglas.</a:t>
            </a:r>
            <a:endParaRPr lang="en-US" sz="1300" dirty="0"/>
          </a:p>
        </p:txBody>
      </p:sp>
      <p:sp>
        <p:nvSpPr>
          <p:cNvPr id="110" name="Text 10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F1EEFD"/>
          </a:solidFill>
          <a:ln w="12700">
            <a:solidFill>
              <a:srgbClr val="C9BEF4"/>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AF0FA"/>
          </a:solidFill>
          <a:ln w="12700">
            <a:solidFill>
              <a:srgbClr val="AFC4E6"/>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3F4FA"/>
          </a:solidFill>
          <a:ln w="22225">
            <a:solidFill>
              <a:srgbClr val="2BA6CB"/>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6F4EE"/>
          </a:solidFill>
          <a:ln w="12700">
            <a:solidFill>
              <a:srgbClr val="A9D8C3"/>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FCF2E2"/>
          </a:solidFill>
          <a:ln w="12700">
            <a:solidFill>
              <a:srgbClr val="EDCC93"/>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31750">
            <a:solidFill>
              <a:srgbClr val="2E6DB4"/>
            </a:solidFill>
            <a:prstDash val="solid"/>
            <a:tailEnd type="triangle"/>
          </a:ln>
        </p:spPr>
      </p:sp>
      <p:sp>
        <p:nvSpPr>
          <p:cNvPr id="18" name="Text 16"/>
          <p:cNvSpPr/>
          <p:nvPr/>
        </p:nvSpPr>
        <p:spPr>
          <a:xfrm>
            <a:off x="2698982" y="207751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31750">
            <a:solidFill>
              <a:srgbClr val="2E6DB4"/>
            </a:solidFill>
            <a:prstDash val="solid"/>
            <a:tailEnd type="triangle"/>
          </a:ln>
        </p:spPr>
      </p:sp>
      <p:sp>
        <p:nvSpPr>
          <p:cNvPr id="20" name="Text 18"/>
          <p:cNvSpPr/>
          <p:nvPr/>
        </p:nvSpPr>
        <p:spPr>
          <a:xfrm>
            <a:off x="3094003" y="24584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31750">
            <a:solidFill>
              <a:srgbClr val="2E6DB4"/>
            </a:solidFill>
            <a:prstDash val="solid"/>
          </a:ln>
        </p:spPr>
      </p:sp>
      <p:sp>
        <p:nvSpPr>
          <p:cNvPr id="22" name="Shape 20"/>
          <p:cNvSpPr/>
          <p:nvPr/>
        </p:nvSpPr>
        <p:spPr>
          <a:xfrm flipV="1">
            <a:off x="4417009" y="2187245"/>
            <a:ext cx="0" cy="1100415"/>
          </a:xfrm>
          <a:prstGeom prst="line">
            <a:avLst/>
          </a:prstGeom>
          <a:noFill/>
          <a:ln w="31750">
            <a:solidFill>
              <a:srgbClr val="2E6DB4"/>
            </a:solidFill>
            <a:prstDash val="solid"/>
          </a:ln>
        </p:spPr>
      </p:sp>
      <p:sp>
        <p:nvSpPr>
          <p:cNvPr id="23" name="Shape 21"/>
          <p:cNvSpPr/>
          <p:nvPr/>
        </p:nvSpPr>
        <p:spPr>
          <a:xfrm>
            <a:off x="4417009" y="2187245"/>
            <a:ext cx="225726" cy="0"/>
          </a:xfrm>
          <a:prstGeom prst="line">
            <a:avLst/>
          </a:prstGeom>
          <a:noFill/>
          <a:ln w="31750">
            <a:solidFill>
              <a:srgbClr val="2E6DB4"/>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31750">
            <a:solidFill>
              <a:srgbClr val="2E6DB4"/>
            </a:solidFill>
            <a:prstDash val="solid"/>
            <a:tailEnd type="triangle"/>
          </a:ln>
        </p:spPr>
      </p:sp>
      <p:sp>
        <p:nvSpPr>
          <p:cNvPr id="27" name="Text 25"/>
          <p:cNvSpPr/>
          <p:nvPr/>
        </p:nvSpPr>
        <p:spPr>
          <a:xfrm>
            <a:off x="4250850" y="328374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31750">
            <a:solidFill>
              <a:srgbClr val="55627E"/>
            </a:solidFill>
            <a:prstDash val="sysDot"/>
            <a:tailEnd type="triangle"/>
          </a:ln>
        </p:spPr>
      </p:sp>
      <p:sp>
        <p:nvSpPr>
          <p:cNvPr id="29" name="Text 27"/>
          <p:cNvSpPr/>
          <p:nvPr/>
        </p:nvSpPr>
        <p:spPr>
          <a:xfrm>
            <a:off x="5837987"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47625">
            <a:solidFill>
              <a:srgbClr val="2BA6CB"/>
            </a:solidFill>
            <a:prstDash val="sysDot"/>
          </a:ln>
        </p:spPr>
      </p:sp>
      <p:sp>
        <p:nvSpPr>
          <p:cNvPr id="31" name="Shape 29"/>
          <p:cNvSpPr/>
          <p:nvPr/>
        </p:nvSpPr>
        <p:spPr>
          <a:xfrm>
            <a:off x="6617839" y="1792224"/>
            <a:ext cx="3216598" cy="0"/>
          </a:xfrm>
          <a:prstGeom prst="line">
            <a:avLst/>
          </a:prstGeom>
          <a:noFill/>
          <a:ln w="47625">
            <a:solidFill>
              <a:srgbClr val="2BA6CB"/>
            </a:solidFill>
            <a:prstDash val="sysDot"/>
          </a:ln>
        </p:spPr>
      </p:sp>
      <p:sp>
        <p:nvSpPr>
          <p:cNvPr id="32" name="Shape 30"/>
          <p:cNvSpPr/>
          <p:nvPr/>
        </p:nvSpPr>
        <p:spPr>
          <a:xfrm>
            <a:off x="9834437" y="1792224"/>
            <a:ext cx="0" cy="183403"/>
          </a:xfrm>
          <a:prstGeom prst="line">
            <a:avLst/>
          </a:prstGeom>
          <a:noFill/>
          <a:ln w="47625">
            <a:solidFill>
              <a:srgbClr val="2BA6CB"/>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47625">
            <a:solidFill>
              <a:srgbClr val="2BA6CB"/>
            </a:solidFill>
            <a:prstDash val="sysDot"/>
            <a:tailEnd type="triangle"/>
          </a:ln>
        </p:spPr>
      </p:sp>
      <p:sp>
        <p:nvSpPr>
          <p:cNvPr id="36" name="Text 34"/>
          <p:cNvSpPr/>
          <p:nvPr/>
        </p:nvSpPr>
        <p:spPr>
          <a:xfrm>
            <a:off x="8680726" y="20775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41275">
            <a:solidFill>
              <a:srgbClr val="2BA6CB"/>
            </a:solidFill>
            <a:prstDash val="dash"/>
          </a:ln>
        </p:spPr>
      </p:sp>
      <p:sp>
        <p:nvSpPr>
          <p:cNvPr id="38" name="Shape 36"/>
          <p:cNvSpPr/>
          <p:nvPr/>
        </p:nvSpPr>
        <p:spPr>
          <a:xfrm flipH="1">
            <a:off x="5242321" y="2786830"/>
            <a:ext cx="2772200" cy="0"/>
          </a:xfrm>
          <a:prstGeom prst="line">
            <a:avLst/>
          </a:prstGeom>
          <a:noFill/>
          <a:ln w="41275">
            <a:solidFill>
              <a:srgbClr val="2BA6CB"/>
            </a:solidFill>
            <a:prstDash val="dash"/>
          </a:ln>
        </p:spPr>
      </p:sp>
      <p:sp>
        <p:nvSpPr>
          <p:cNvPr id="39" name="Shape 37"/>
          <p:cNvSpPr/>
          <p:nvPr/>
        </p:nvSpPr>
        <p:spPr>
          <a:xfrm>
            <a:off x="5242321" y="2786830"/>
            <a:ext cx="0" cy="430291"/>
          </a:xfrm>
          <a:prstGeom prst="line">
            <a:avLst/>
          </a:prstGeom>
          <a:noFill/>
          <a:ln w="41275">
            <a:solidFill>
              <a:srgbClr val="2BA6CB"/>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47625">
            <a:solidFill>
              <a:srgbClr val="2BA6CB"/>
            </a:solidFill>
            <a:prstDash val="sysDot"/>
            <a:tailEnd type="triangle"/>
          </a:ln>
        </p:spPr>
      </p:sp>
      <p:sp>
        <p:nvSpPr>
          <p:cNvPr id="43" name="Text 41"/>
          <p:cNvSpPr/>
          <p:nvPr/>
        </p:nvSpPr>
        <p:spPr>
          <a:xfrm>
            <a:off x="5837987" y="33190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47625">
            <a:solidFill>
              <a:srgbClr val="2BA6CB"/>
            </a:solidFill>
            <a:prstDash val="sysDot"/>
            <a:tailEnd type="triangle"/>
          </a:ln>
        </p:spPr>
      </p:sp>
      <p:sp>
        <p:nvSpPr>
          <p:cNvPr id="45" name="Text 43"/>
          <p:cNvSpPr/>
          <p:nvPr/>
        </p:nvSpPr>
        <p:spPr>
          <a:xfrm>
            <a:off x="7185290" y="33190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47625">
            <a:solidFill>
              <a:srgbClr val="2BA6CB"/>
            </a:solidFill>
            <a:prstDash val="sysDot"/>
          </a:ln>
        </p:spPr>
      </p:sp>
      <p:sp>
        <p:nvSpPr>
          <p:cNvPr id="47" name="Shape 45"/>
          <p:cNvSpPr/>
          <p:nvPr/>
        </p:nvSpPr>
        <p:spPr>
          <a:xfrm>
            <a:off x="6617839" y="3823760"/>
            <a:ext cx="2243154" cy="0"/>
          </a:xfrm>
          <a:prstGeom prst="line">
            <a:avLst/>
          </a:prstGeom>
          <a:noFill/>
          <a:ln w="47625">
            <a:solidFill>
              <a:srgbClr val="2BA6CB"/>
            </a:solidFill>
            <a:prstDash val="sysDot"/>
          </a:ln>
        </p:spPr>
      </p:sp>
      <p:sp>
        <p:nvSpPr>
          <p:cNvPr id="48" name="Shape 46"/>
          <p:cNvSpPr/>
          <p:nvPr/>
        </p:nvSpPr>
        <p:spPr>
          <a:xfrm flipV="1">
            <a:off x="8860993" y="3287660"/>
            <a:ext cx="0" cy="536100"/>
          </a:xfrm>
          <a:prstGeom prst="line">
            <a:avLst/>
          </a:prstGeom>
          <a:noFill/>
          <a:ln w="47625">
            <a:solidFill>
              <a:srgbClr val="2BA6CB"/>
            </a:solidFill>
            <a:prstDash val="sysDot"/>
          </a:ln>
        </p:spPr>
      </p:sp>
      <p:sp>
        <p:nvSpPr>
          <p:cNvPr id="49" name="Shape 47"/>
          <p:cNvSpPr/>
          <p:nvPr/>
        </p:nvSpPr>
        <p:spPr>
          <a:xfrm>
            <a:off x="8860993" y="3287660"/>
            <a:ext cx="155187" cy="0"/>
          </a:xfrm>
          <a:prstGeom prst="line">
            <a:avLst/>
          </a:prstGeom>
          <a:noFill/>
          <a:ln w="47625">
            <a:solidFill>
              <a:srgbClr val="2BA6CB"/>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31750">
            <a:solidFill>
              <a:srgbClr val="CBD5E3"/>
            </a:solidFill>
            <a:prstDash val="solid"/>
            <a:tailEnd type="triangle"/>
          </a:ln>
        </p:spPr>
      </p:sp>
      <p:sp>
        <p:nvSpPr>
          <p:cNvPr id="53" name="Text 51"/>
          <p:cNvSpPr/>
          <p:nvPr/>
        </p:nvSpPr>
        <p:spPr>
          <a:xfrm>
            <a:off x="2670766"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31750">
            <a:solidFill>
              <a:srgbClr val="CBD5E3"/>
            </a:solidFill>
            <a:prstDash val="sysDot"/>
            <a:tailEnd type="triangle"/>
          </a:ln>
        </p:spPr>
      </p:sp>
      <p:sp>
        <p:nvSpPr>
          <p:cNvPr id="55" name="Text 53"/>
          <p:cNvSpPr/>
          <p:nvPr/>
        </p:nvSpPr>
        <p:spPr>
          <a:xfrm>
            <a:off x="4102717"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31750">
            <a:solidFill>
              <a:srgbClr val="CBD5E3"/>
            </a:solidFill>
            <a:prstDash val="sysDot"/>
            <a:tailEnd type="triangle"/>
          </a:ln>
        </p:spPr>
      </p:sp>
      <p:sp>
        <p:nvSpPr>
          <p:cNvPr id="57" name="Text 55"/>
          <p:cNvSpPr/>
          <p:nvPr/>
        </p:nvSpPr>
        <p:spPr>
          <a:xfrm>
            <a:off x="551350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25400">
            <a:solidFill>
              <a:srgbClr val="CBD5E3"/>
            </a:solidFill>
            <a:prstDash val="dash"/>
          </a:ln>
        </p:spPr>
      </p:sp>
      <p:sp>
        <p:nvSpPr>
          <p:cNvPr id="59" name="Shape 57"/>
          <p:cNvSpPr/>
          <p:nvPr/>
        </p:nvSpPr>
        <p:spPr>
          <a:xfrm flipH="1">
            <a:off x="8324894" y="4141187"/>
            <a:ext cx="1156847" cy="0"/>
          </a:xfrm>
          <a:prstGeom prst="line">
            <a:avLst/>
          </a:prstGeom>
          <a:noFill/>
          <a:ln w="25400">
            <a:solidFill>
              <a:srgbClr val="CBD5E3"/>
            </a:solidFill>
            <a:prstDash val="dash"/>
          </a:ln>
        </p:spPr>
      </p:sp>
      <p:sp>
        <p:nvSpPr>
          <p:cNvPr id="60" name="Shape 58"/>
          <p:cNvSpPr/>
          <p:nvPr/>
        </p:nvSpPr>
        <p:spPr>
          <a:xfrm>
            <a:off x="8324894" y="4141187"/>
            <a:ext cx="0" cy="387967"/>
          </a:xfrm>
          <a:prstGeom prst="line">
            <a:avLst/>
          </a:prstGeom>
          <a:noFill/>
          <a:ln w="25400">
            <a:solidFill>
              <a:srgbClr val="CBD5E3"/>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31750">
            <a:solidFill>
              <a:srgbClr val="CBD5E3"/>
            </a:solidFill>
            <a:prstDash val="sysDot"/>
            <a:tailEnd type="triangle"/>
          </a:ln>
        </p:spPr>
      </p:sp>
      <p:sp>
        <p:nvSpPr>
          <p:cNvPr id="64" name="Text 62"/>
          <p:cNvSpPr/>
          <p:nvPr/>
        </p:nvSpPr>
        <p:spPr>
          <a:xfrm>
            <a:off x="8356244"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31750">
            <a:solidFill>
              <a:srgbClr val="CBD5E3"/>
            </a:solidFill>
            <a:prstDash val="sysDot"/>
            <a:tailEnd type="triangle"/>
          </a:ln>
        </p:spPr>
      </p:sp>
      <p:sp>
        <p:nvSpPr>
          <p:cNvPr id="66" name="Text 64"/>
          <p:cNvSpPr/>
          <p:nvPr/>
        </p:nvSpPr>
        <p:spPr>
          <a:xfrm>
            <a:off x="948487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3097661" y="2022339"/>
            <a:ext cx="329811" cy="329811"/>
          </a:xfrm>
          <a:prstGeom prst="ellipse">
            <a:avLst/>
          </a:prstGeom>
          <a:solidFill>
            <a:srgbClr val="EBE8F8"/>
          </a:solidFill>
          <a:ln w="12700">
            <a:solidFill>
              <a:srgbClr val="EBE8F8"/>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5B3FC4"/>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864" b="1" dirty="0">
                <a:solidFill>
                  <a:srgbClr val="0B1A3C"/>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55627E"/>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7" name="Shape 75"/>
          <p:cNvSpPr/>
          <p:nvPr/>
        </p:nvSpPr>
        <p:spPr>
          <a:xfrm>
            <a:off x="9107620" y="2022339"/>
            <a:ext cx="329811" cy="329811"/>
          </a:xfrm>
          <a:prstGeom prst="ellipse">
            <a:avLst/>
          </a:prstGeom>
          <a:solidFill>
            <a:srgbClr val="E3F4FA"/>
          </a:solidFill>
          <a:ln w="12700">
            <a:solidFill>
              <a:srgbClr val="E3F4FA"/>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0B6E8A"/>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792" b="1" dirty="0">
                <a:solidFill>
                  <a:srgbClr val="0B1A3C"/>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55627E"/>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83" name="Shape 81"/>
          <p:cNvSpPr/>
          <p:nvPr/>
        </p:nvSpPr>
        <p:spPr>
          <a:xfrm>
            <a:off x="7499321" y="3263833"/>
            <a:ext cx="329811" cy="329811"/>
          </a:xfrm>
          <a:prstGeom prst="ellipse">
            <a:avLst/>
          </a:prstGeom>
          <a:solidFill>
            <a:srgbClr val="E3F4FA"/>
          </a:solidFill>
          <a:ln w="12700">
            <a:solidFill>
              <a:srgbClr val="E3F4FA"/>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0B6E8A"/>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BFCFE"/>
          </a:solidFill>
          <a:ln w="12700">
            <a:solidFill>
              <a:srgbClr val="D5DDE8"/>
            </a:solidFill>
            <a:prstDash val="solid"/>
          </a:ln>
        </p:spPr>
        <p:txBody>
          <a:bodyPr wrap="square" lIns="38100" tIns="38100" rIns="38100" bIns="38100" rtlCol="0" anchor="ctr">
            <a:normAutofit/>
          </a:bodyPr>
          <a:lstStyle/>
          <a:p>
            <a:pPr algn="ctr" indent="0" marL="0">
              <a:buNone/>
            </a:pPr>
            <a:r>
              <a:rPr lang="en-US" sz="756" b="1" dirty="0">
                <a:solidFill>
                  <a:srgbClr val="8A95AB"/>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9AA5B8"/>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12700">
            <a:solidFill>
              <a:srgbClr val="D5DDE8"/>
            </a:solidFill>
            <a:prstDash val="solid"/>
          </a:ln>
        </p:spPr>
      </p:sp>
      <p:sp>
        <p:nvSpPr>
          <p:cNvPr id="89" name="Shape 87"/>
          <p:cNvSpPr/>
          <p:nvPr/>
        </p:nvSpPr>
        <p:spPr>
          <a:xfrm>
            <a:off x="1584710" y="4582638"/>
            <a:ext cx="344483" cy="344483"/>
          </a:xfrm>
          <a:prstGeom prst="ellipse">
            <a:avLst/>
          </a:prstGeom>
          <a:solidFill>
            <a:srgbClr val="EEF2F7"/>
          </a:solidFill>
          <a:ln w="12700">
            <a:solidFill>
              <a:srgbClr val="EEF2F7"/>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A9B4C6"/>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12700">
            <a:solidFill>
              <a:srgbClr val="D5DDE8"/>
            </a:solidFill>
            <a:prstDash val="solid"/>
          </a:ln>
        </p:spPr>
      </p:sp>
      <p:sp>
        <p:nvSpPr>
          <p:cNvPr id="95" name="Shape 93"/>
          <p:cNvSpPr/>
          <p:nvPr/>
        </p:nvSpPr>
        <p:spPr>
          <a:xfrm>
            <a:off x="5820483" y="4582638"/>
            <a:ext cx="344483" cy="344483"/>
          </a:xfrm>
          <a:prstGeom prst="ellipse">
            <a:avLst/>
          </a:prstGeom>
          <a:solidFill>
            <a:srgbClr val="EEF2F7"/>
          </a:solidFill>
          <a:ln w="12700">
            <a:solidFill>
              <a:srgbClr val="EEF2F7"/>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A9B4C6"/>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03" name="Text 101"/>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una sola transacción se guardan la solicitud y su evento pendiente.</a:t>
            </a:r>
            <a:endParaRPr lang="en-US" sz="1300" dirty="0"/>
          </a:p>
        </p:txBody>
      </p:sp>
      <p:sp>
        <p:nvSpPr>
          <p:cNvPr id="104" name="Shape 102"/>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5" name="Text 103"/>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06" name="Text 104"/>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lee los pendientes y los entrega por HTTP, con el traceId.</a:t>
            </a:r>
            <a:endParaRPr lang="en-US" sz="1300" dirty="0"/>
          </a:p>
        </p:txBody>
      </p:sp>
      <p:sp>
        <p:nvSpPr>
          <p:cNvPr id="107" name="Shape 105"/>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8" name="Text 106"/>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109" name="Text 107"/>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revisa si el evento ya llegó; si es nuevo, crea el aviso y anota su número.</a:t>
            </a:r>
            <a:endParaRPr lang="en-US" sz="1300" dirty="0"/>
          </a:p>
        </p:txBody>
      </p:sp>
      <p:sp>
        <p:nvSpPr>
          <p:cNvPr id="110" name="Text 10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F1EEFD"/>
          </a:solidFill>
          <a:ln w="12700">
            <a:solidFill>
              <a:srgbClr val="C9BEF4"/>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AF0FA"/>
          </a:solidFill>
          <a:ln w="12700">
            <a:solidFill>
              <a:srgbClr val="AFC4E6"/>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5F5FA"/>
          </a:solidFill>
          <a:ln w="12700">
            <a:solidFill>
              <a:srgbClr val="9DD7E8"/>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3F4FA"/>
          </a:solidFill>
          <a:ln w="22225">
            <a:solidFill>
              <a:srgbClr val="2BA6CB"/>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E3F4FA"/>
          </a:solidFill>
          <a:ln w="22225">
            <a:solidFill>
              <a:srgbClr val="2BA6CB"/>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31750">
            <a:solidFill>
              <a:srgbClr val="2E6DB4"/>
            </a:solidFill>
            <a:prstDash val="solid"/>
            <a:tailEnd type="triangle"/>
          </a:ln>
        </p:spPr>
      </p:sp>
      <p:sp>
        <p:nvSpPr>
          <p:cNvPr id="18" name="Text 16"/>
          <p:cNvSpPr/>
          <p:nvPr/>
        </p:nvSpPr>
        <p:spPr>
          <a:xfrm>
            <a:off x="2698982" y="207751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31750">
            <a:solidFill>
              <a:srgbClr val="2E6DB4"/>
            </a:solidFill>
            <a:prstDash val="solid"/>
            <a:tailEnd type="triangle"/>
          </a:ln>
        </p:spPr>
      </p:sp>
      <p:sp>
        <p:nvSpPr>
          <p:cNvPr id="20" name="Text 18"/>
          <p:cNvSpPr/>
          <p:nvPr/>
        </p:nvSpPr>
        <p:spPr>
          <a:xfrm>
            <a:off x="3094003" y="24584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31750">
            <a:solidFill>
              <a:srgbClr val="2E6DB4"/>
            </a:solidFill>
            <a:prstDash val="solid"/>
          </a:ln>
        </p:spPr>
      </p:sp>
      <p:sp>
        <p:nvSpPr>
          <p:cNvPr id="22" name="Shape 20"/>
          <p:cNvSpPr/>
          <p:nvPr/>
        </p:nvSpPr>
        <p:spPr>
          <a:xfrm flipV="1">
            <a:off x="4417009" y="2187245"/>
            <a:ext cx="0" cy="1100415"/>
          </a:xfrm>
          <a:prstGeom prst="line">
            <a:avLst/>
          </a:prstGeom>
          <a:noFill/>
          <a:ln w="31750">
            <a:solidFill>
              <a:srgbClr val="2E6DB4"/>
            </a:solidFill>
            <a:prstDash val="solid"/>
          </a:ln>
        </p:spPr>
      </p:sp>
      <p:sp>
        <p:nvSpPr>
          <p:cNvPr id="23" name="Shape 21"/>
          <p:cNvSpPr/>
          <p:nvPr/>
        </p:nvSpPr>
        <p:spPr>
          <a:xfrm>
            <a:off x="4417009" y="2187245"/>
            <a:ext cx="225726" cy="0"/>
          </a:xfrm>
          <a:prstGeom prst="line">
            <a:avLst/>
          </a:prstGeom>
          <a:noFill/>
          <a:ln w="31750">
            <a:solidFill>
              <a:srgbClr val="2E6DB4"/>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31750">
            <a:solidFill>
              <a:srgbClr val="2E6DB4"/>
            </a:solidFill>
            <a:prstDash val="solid"/>
            <a:tailEnd type="triangle"/>
          </a:ln>
        </p:spPr>
      </p:sp>
      <p:sp>
        <p:nvSpPr>
          <p:cNvPr id="27" name="Text 25"/>
          <p:cNvSpPr/>
          <p:nvPr/>
        </p:nvSpPr>
        <p:spPr>
          <a:xfrm>
            <a:off x="4250850" y="328374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31750">
            <a:solidFill>
              <a:srgbClr val="55627E"/>
            </a:solidFill>
            <a:prstDash val="sysDot"/>
            <a:tailEnd type="triangle"/>
          </a:ln>
        </p:spPr>
      </p:sp>
      <p:sp>
        <p:nvSpPr>
          <p:cNvPr id="29" name="Text 27"/>
          <p:cNvSpPr/>
          <p:nvPr/>
        </p:nvSpPr>
        <p:spPr>
          <a:xfrm>
            <a:off x="5837987"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31750">
            <a:solidFill>
              <a:srgbClr val="55627E"/>
            </a:solidFill>
            <a:prstDash val="sysDot"/>
          </a:ln>
        </p:spPr>
      </p:sp>
      <p:sp>
        <p:nvSpPr>
          <p:cNvPr id="31" name="Shape 29"/>
          <p:cNvSpPr/>
          <p:nvPr/>
        </p:nvSpPr>
        <p:spPr>
          <a:xfrm>
            <a:off x="6617839" y="1792224"/>
            <a:ext cx="3216598" cy="0"/>
          </a:xfrm>
          <a:prstGeom prst="line">
            <a:avLst/>
          </a:prstGeom>
          <a:noFill/>
          <a:ln w="31750">
            <a:solidFill>
              <a:srgbClr val="55627E"/>
            </a:solidFill>
            <a:prstDash val="sysDot"/>
          </a:ln>
        </p:spPr>
      </p:sp>
      <p:sp>
        <p:nvSpPr>
          <p:cNvPr id="32" name="Shape 30"/>
          <p:cNvSpPr/>
          <p:nvPr/>
        </p:nvSpPr>
        <p:spPr>
          <a:xfrm>
            <a:off x="9834437" y="1792224"/>
            <a:ext cx="0" cy="183403"/>
          </a:xfrm>
          <a:prstGeom prst="line">
            <a:avLst/>
          </a:prstGeom>
          <a:noFill/>
          <a:ln w="31750">
            <a:solidFill>
              <a:srgbClr val="55627E"/>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31750">
            <a:solidFill>
              <a:srgbClr val="55627E"/>
            </a:solidFill>
            <a:prstDash val="sysDot"/>
            <a:tailEnd type="triangle"/>
          </a:ln>
        </p:spPr>
      </p:sp>
      <p:sp>
        <p:nvSpPr>
          <p:cNvPr id="36" name="Text 34"/>
          <p:cNvSpPr/>
          <p:nvPr/>
        </p:nvSpPr>
        <p:spPr>
          <a:xfrm>
            <a:off x="8680726"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25400">
            <a:solidFill>
              <a:srgbClr val="55627E"/>
            </a:solidFill>
            <a:prstDash val="dash"/>
          </a:ln>
        </p:spPr>
      </p:sp>
      <p:sp>
        <p:nvSpPr>
          <p:cNvPr id="38" name="Shape 36"/>
          <p:cNvSpPr/>
          <p:nvPr/>
        </p:nvSpPr>
        <p:spPr>
          <a:xfrm flipH="1">
            <a:off x="5242321" y="2786830"/>
            <a:ext cx="2772200" cy="0"/>
          </a:xfrm>
          <a:prstGeom prst="line">
            <a:avLst/>
          </a:prstGeom>
          <a:noFill/>
          <a:ln w="25400">
            <a:solidFill>
              <a:srgbClr val="55627E"/>
            </a:solidFill>
            <a:prstDash val="dash"/>
          </a:ln>
        </p:spPr>
      </p:sp>
      <p:sp>
        <p:nvSpPr>
          <p:cNvPr id="39" name="Shape 37"/>
          <p:cNvSpPr/>
          <p:nvPr/>
        </p:nvSpPr>
        <p:spPr>
          <a:xfrm>
            <a:off x="5242321" y="2786830"/>
            <a:ext cx="0" cy="430291"/>
          </a:xfrm>
          <a:prstGeom prst="line">
            <a:avLst/>
          </a:prstGeom>
          <a:noFill/>
          <a:ln w="25400">
            <a:solidFill>
              <a:srgbClr val="55627E"/>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31750">
            <a:solidFill>
              <a:srgbClr val="55627E"/>
            </a:solidFill>
            <a:prstDash val="sysDot"/>
            <a:tailEnd type="triangle"/>
          </a:ln>
        </p:spPr>
      </p:sp>
      <p:sp>
        <p:nvSpPr>
          <p:cNvPr id="43" name="Text 41"/>
          <p:cNvSpPr/>
          <p:nvPr/>
        </p:nvSpPr>
        <p:spPr>
          <a:xfrm>
            <a:off x="5837987" y="33190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31750">
            <a:solidFill>
              <a:srgbClr val="55627E"/>
            </a:solidFill>
            <a:prstDash val="sysDot"/>
            <a:tailEnd type="triangle"/>
          </a:ln>
        </p:spPr>
      </p:sp>
      <p:sp>
        <p:nvSpPr>
          <p:cNvPr id="45" name="Text 43"/>
          <p:cNvSpPr/>
          <p:nvPr/>
        </p:nvSpPr>
        <p:spPr>
          <a:xfrm>
            <a:off x="7185290" y="33190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31750">
            <a:solidFill>
              <a:srgbClr val="55627E"/>
            </a:solidFill>
            <a:prstDash val="sysDot"/>
          </a:ln>
        </p:spPr>
      </p:sp>
      <p:sp>
        <p:nvSpPr>
          <p:cNvPr id="47" name="Shape 45"/>
          <p:cNvSpPr/>
          <p:nvPr/>
        </p:nvSpPr>
        <p:spPr>
          <a:xfrm>
            <a:off x="6617839" y="3823760"/>
            <a:ext cx="2243154" cy="0"/>
          </a:xfrm>
          <a:prstGeom prst="line">
            <a:avLst/>
          </a:prstGeom>
          <a:noFill/>
          <a:ln w="31750">
            <a:solidFill>
              <a:srgbClr val="55627E"/>
            </a:solidFill>
            <a:prstDash val="sysDot"/>
          </a:ln>
        </p:spPr>
      </p:sp>
      <p:sp>
        <p:nvSpPr>
          <p:cNvPr id="48" name="Shape 46"/>
          <p:cNvSpPr/>
          <p:nvPr/>
        </p:nvSpPr>
        <p:spPr>
          <a:xfrm flipV="1">
            <a:off x="8860993" y="3287660"/>
            <a:ext cx="0" cy="536100"/>
          </a:xfrm>
          <a:prstGeom prst="line">
            <a:avLst/>
          </a:prstGeom>
          <a:noFill/>
          <a:ln w="31750">
            <a:solidFill>
              <a:srgbClr val="55627E"/>
            </a:solidFill>
            <a:prstDash val="sysDot"/>
          </a:ln>
        </p:spPr>
      </p:sp>
      <p:sp>
        <p:nvSpPr>
          <p:cNvPr id="49" name="Shape 47"/>
          <p:cNvSpPr/>
          <p:nvPr/>
        </p:nvSpPr>
        <p:spPr>
          <a:xfrm>
            <a:off x="8860993" y="3287660"/>
            <a:ext cx="155187" cy="0"/>
          </a:xfrm>
          <a:prstGeom prst="line">
            <a:avLst/>
          </a:prstGeom>
          <a:noFill/>
          <a:ln w="31750">
            <a:solidFill>
              <a:srgbClr val="55627E"/>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47625">
            <a:solidFill>
              <a:srgbClr val="2BA6CB"/>
            </a:solidFill>
            <a:prstDash val="solid"/>
            <a:tailEnd type="triangle"/>
          </a:ln>
        </p:spPr>
      </p:sp>
      <p:sp>
        <p:nvSpPr>
          <p:cNvPr id="53" name="Text 51"/>
          <p:cNvSpPr/>
          <p:nvPr/>
        </p:nvSpPr>
        <p:spPr>
          <a:xfrm>
            <a:off x="2670766"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47625">
            <a:solidFill>
              <a:srgbClr val="2BA6CB"/>
            </a:solidFill>
            <a:prstDash val="sysDot"/>
            <a:tailEnd type="triangle"/>
          </a:ln>
        </p:spPr>
      </p:sp>
      <p:sp>
        <p:nvSpPr>
          <p:cNvPr id="55" name="Text 53"/>
          <p:cNvSpPr/>
          <p:nvPr/>
        </p:nvSpPr>
        <p:spPr>
          <a:xfrm>
            <a:off x="4102717"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47625">
            <a:solidFill>
              <a:srgbClr val="2BA6CB"/>
            </a:solidFill>
            <a:prstDash val="sysDot"/>
            <a:tailEnd type="triangle"/>
          </a:ln>
        </p:spPr>
      </p:sp>
      <p:sp>
        <p:nvSpPr>
          <p:cNvPr id="57" name="Text 55"/>
          <p:cNvSpPr/>
          <p:nvPr/>
        </p:nvSpPr>
        <p:spPr>
          <a:xfrm>
            <a:off x="5513505"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41275">
            <a:solidFill>
              <a:srgbClr val="2BA6CB"/>
            </a:solidFill>
            <a:prstDash val="dash"/>
          </a:ln>
        </p:spPr>
      </p:sp>
      <p:sp>
        <p:nvSpPr>
          <p:cNvPr id="59" name="Shape 57"/>
          <p:cNvSpPr/>
          <p:nvPr/>
        </p:nvSpPr>
        <p:spPr>
          <a:xfrm flipH="1">
            <a:off x="8324894" y="4141187"/>
            <a:ext cx="1156847" cy="0"/>
          </a:xfrm>
          <a:prstGeom prst="line">
            <a:avLst/>
          </a:prstGeom>
          <a:noFill/>
          <a:ln w="41275">
            <a:solidFill>
              <a:srgbClr val="2BA6CB"/>
            </a:solidFill>
            <a:prstDash val="dash"/>
          </a:ln>
        </p:spPr>
      </p:sp>
      <p:sp>
        <p:nvSpPr>
          <p:cNvPr id="60" name="Shape 58"/>
          <p:cNvSpPr/>
          <p:nvPr/>
        </p:nvSpPr>
        <p:spPr>
          <a:xfrm>
            <a:off x="8324894" y="4141187"/>
            <a:ext cx="0" cy="387967"/>
          </a:xfrm>
          <a:prstGeom prst="line">
            <a:avLst/>
          </a:prstGeom>
          <a:noFill/>
          <a:ln w="41275">
            <a:solidFill>
              <a:srgbClr val="2BA6CB"/>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47625">
            <a:solidFill>
              <a:srgbClr val="2BA6CB"/>
            </a:solidFill>
            <a:prstDash val="sysDot"/>
            <a:tailEnd type="triangle"/>
          </a:ln>
        </p:spPr>
      </p:sp>
      <p:sp>
        <p:nvSpPr>
          <p:cNvPr id="64" name="Text 62"/>
          <p:cNvSpPr/>
          <p:nvPr/>
        </p:nvSpPr>
        <p:spPr>
          <a:xfrm>
            <a:off x="8356244"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47625">
            <a:solidFill>
              <a:srgbClr val="2BA6CB"/>
            </a:solidFill>
            <a:prstDash val="sysDot"/>
            <a:tailEnd type="triangle"/>
          </a:ln>
        </p:spPr>
      </p:sp>
      <p:sp>
        <p:nvSpPr>
          <p:cNvPr id="66" name="Text 64"/>
          <p:cNvSpPr/>
          <p:nvPr/>
        </p:nvSpPr>
        <p:spPr>
          <a:xfrm>
            <a:off x="9484875"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3097661" y="2022339"/>
            <a:ext cx="329811" cy="329811"/>
          </a:xfrm>
          <a:prstGeom prst="ellipse">
            <a:avLst/>
          </a:prstGeom>
          <a:solidFill>
            <a:srgbClr val="EBE8F8"/>
          </a:solidFill>
          <a:ln w="12700">
            <a:solidFill>
              <a:srgbClr val="EBE8F8"/>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5B3FC4"/>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64" b="1" dirty="0">
                <a:solidFill>
                  <a:srgbClr val="0B1A3C"/>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55627E"/>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9107620" y="2022339"/>
            <a:ext cx="329811" cy="329811"/>
          </a:xfrm>
          <a:prstGeom prst="ellipse">
            <a:avLst/>
          </a:prstGeom>
          <a:solidFill>
            <a:srgbClr val="EBECF0"/>
          </a:solidFill>
          <a:ln w="12700">
            <a:solidFill>
              <a:srgbClr val="EBECF0"/>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55627E"/>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92" b="1" dirty="0">
                <a:solidFill>
                  <a:srgbClr val="0B1A3C"/>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55627E"/>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3" name="Shape 81"/>
          <p:cNvSpPr/>
          <p:nvPr/>
        </p:nvSpPr>
        <p:spPr>
          <a:xfrm>
            <a:off x="7499321" y="3263833"/>
            <a:ext cx="329811" cy="329811"/>
          </a:xfrm>
          <a:prstGeom prst="ellipse">
            <a:avLst/>
          </a:prstGeom>
          <a:solidFill>
            <a:srgbClr val="E2EEF1"/>
          </a:solidFill>
          <a:ln w="12700">
            <a:solidFill>
              <a:srgbClr val="E2EEF1"/>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0B6E8A"/>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756" b="1" dirty="0">
                <a:solidFill>
                  <a:srgbClr val="0B1A3C"/>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55627E"/>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9" name="Shape 87"/>
          <p:cNvSpPr/>
          <p:nvPr/>
        </p:nvSpPr>
        <p:spPr>
          <a:xfrm>
            <a:off x="1584710" y="4582638"/>
            <a:ext cx="344483" cy="344483"/>
          </a:xfrm>
          <a:prstGeom prst="ellipse">
            <a:avLst/>
          </a:prstGeom>
          <a:solidFill>
            <a:srgbClr val="E3F4FA"/>
          </a:solidFill>
          <a:ln w="12700">
            <a:solidFill>
              <a:srgbClr val="E3F4FA"/>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0B6E8A"/>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95" name="Shape 93"/>
          <p:cNvSpPr/>
          <p:nvPr/>
        </p:nvSpPr>
        <p:spPr>
          <a:xfrm>
            <a:off x="5820483" y="4582638"/>
            <a:ext cx="344483" cy="344483"/>
          </a:xfrm>
          <a:prstGeom prst="ellipse">
            <a:avLst/>
          </a:prstGeom>
          <a:solidFill>
            <a:srgbClr val="E3F4FA"/>
          </a:solidFill>
          <a:ln w="12700">
            <a:solidFill>
              <a:srgbClr val="E3F4FA"/>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0B6E8A"/>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103" name="Text 10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cambio en GitHub pasa por GitHub Actions, que prueba y publica las imágenes en GHCR.</a:t>
            </a:r>
            <a:endParaRPr lang="en-US" sz="1300" dirty="0"/>
          </a:p>
        </p:txBody>
      </p:sp>
      <p:sp>
        <p:nvSpPr>
          <p:cNvPr id="104" name="Shape 10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5" name="Text 10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106" name="Text 10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logs de todos los contenedores llegan a Grafana a través de Promtail y Loki.</a:t>
            </a:r>
            <a:endParaRPr lang="en-US" sz="1300" dirty="0"/>
          </a:p>
        </p:txBody>
      </p:sp>
      <p:sp>
        <p:nvSpPr>
          <p:cNvPr id="107" name="Text 10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code"/>
          <p:cNvSpPr/>
          <p:nvPr/>
        </p:nvSpPr>
        <p:spPr>
          <a:xfrm>
            <a:off x="9098280" y="1783080"/>
            <a:ext cx="1371600" cy="1371600"/>
          </a:xfrm>
          <a:custGeom>
            <a:avLst/>
            <a:gdLst/>
            <a:ahLst/>
            <a:cxnLst/>
            <a:rect l="l" t="t" r="r" b="b"/>
            <a:pathLst>
              <a:path w="1371600" h="1371600">
                <a:moveTo>
                  <a:pt x="914400" y="1028700"/>
                </a:moveTo>
                <a:lnTo>
                  <a:pt x="1257300" y="685800"/>
                </a:lnTo>
                <a:lnTo>
                  <a:pt x="914400" y="342900"/>
                </a:lnTo>
                <a:moveTo>
                  <a:pt x="457200" y="342900"/>
                </a:moveTo>
                <a:lnTo>
                  <a:pt x="114300" y="685800"/>
                </a:lnTo>
                <a:lnTo>
                  <a:pt x="457200" y="1028700"/>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2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374B70"/>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374B70"/>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02</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Construir un servicio</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pasamos de una idea a un endpoint que responde, avisa sus errores y está probado.</a:t>
            </a:r>
            <a:endParaRPr lang="en-US" sz="1900" dirty="0"/>
          </a:p>
        </p:txBody>
      </p:sp>
      <p:sp>
        <p:nvSpPr>
          <p:cNvPr id="16" name="Text 14"/>
          <p:cNvSpPr/>
          <p:nvPr/>
        </p:nvSpPr>
        <p:spPr>
          <a:xfrm>
            <a:off x="758952" y="4663440"/>
            <a:ext cx="151333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Spring Boot</a:t>
            </a:r>
            <a:endParaRPr lang="en-US" sz="1300" dirty="0"/>
          </a:p>
        </p:txBody>
      </p:sp>
      <p:sp>
        <p:nvSpPr>
          <p:cNvPr id="17" name="Text 15"/>
          <p:cNvSpPr/>
          <p:nvPr/>
        </p:nvSpPr>
        <p:spPr>
          <a:xfrm>
            <a:off x="2400300"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Endpoints REST</a:t>
            </a:r>
            <a:endParaRPr lang="en-US" sz="1300" dirty="0"/>
          </a:p>
        </p:txBody>
      </p:sp>
      <p:sp>
        <p:nvSpPr>
          <p:cNvPr id="18" name="Text 16"/>
          <p:cNvSpPr/>
          <p:nvPr/>
        </p:nvSpPr>
        <p:spPr>
          <a:xfrm>
            <a:off x="4329684" y="4663440"/>
            <a:ext cx="276148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Manejo global de errores</a:t>
            </a:r>
            <a:endParaRPr lang="en-US" sz="1300" dirty="0"/>
          </a:p>
        </p:txBody>
      </p:sp>
      <p:sp>
        <p:nvSpPr>
          <p:cNvPr id="19" name="Text 17"/>
          <p:cNvSpPr/>
          <p:nvPr/>
        </p:nvSpPr>
        <p:spPr>
          <a:xfrm>
            <a:off x="7219188" y="4663440"/>
            <a:ext cx="11292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Swagger</a:t>
            </a:r>
            <a:endParaRPr lang="en-US" sz="1300" dirty="0"/>
          </a:p>
        </p:txBody>
      </p:sp>
      <p:sp>
        <p:nvSpPr>
          <p:cNvPr id="20" name="Text 18"/>
          <p:cNvSpPr/>
          <p:nvPr/>
        </p:nvSpPr>
        <p:spPr>
          <a:xfrm>
            <a:off x="8476488" y="4663440"/>
            <a:ext cx="208940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Pruebas unitarias</a:t>
            </a:r>
            <a:endParaRPr lang="en-US" sz="1300" dirty="0"/>
          </a:p>
        </p:txBody>
      </p:sp>
      <p:sp>
        <p:nvSpPr>
          <p:cNvPr id="21" name="Text 19"/>
          <p:cNvSpPr/>
          <p:nvPr/>
        </p:nvSpPr>
        <p:spPr>
          <a:xfrm>
            <a:off x="10693908" y="4663440"/>
            <a:ext cx="7452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Git</a:t>
            </a:r>
            <a:endParaRPr lang="en-US" sz="1300" dirty="0"/>
          </a:p>
        </p:txBody>
      </p:sp>
      <p:sp>
        <p:nvSpPr>
          <p:cNvPr id="22" name="Text 20"/>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P2</a:t>
            </a:r>
            <a:endParaRPr lang="en-US" sz="1000" dirty="0"/>
          </a:p>
        </p:txBody>
      </p:sp>
      <p:sp>
        <p:nvSpPr>
          <p:cNvPr id="23" name="Text 21"/>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2 · Desarrollo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 contacto con Spring Boot</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Spring Boot arma la aplicación por nosotros.</a:t>
            </a:r>
            <a:endParaRPr lang="en-US" sz="3200" dirty="0"/>
          </a:p>
        </p:txBody>
      </p:sp>
      <p:sp>
        <p:nvSpPr>
          <p:cNvPr id="7" name="Shape 5"/>
          <p:cNvSpPr/>
          <p:nvPr/>
        </p:nvSpPr>
        <p:spPr>
          <a:xfrm>
            <a:off x="612648" y="5029200"/>
            <a:ext cx="5257800" cy="1188720"/>
          </a:xfrm>
          <a:prstGeom prst="roundRect">
            <a:avLst>
              <a:gd name="adj" fmla="val 9231"/>
            </a:avLst>
          </a:prstGeom>
          <a:solidFill>
            <a:srgbClr val="E3F4FA"/>
          </a:solidFill>
          <a:ln w="12700">
            <a:solidFill>
              <a:srgbClr val="8ACEE2"/>
            </a:solidFill>
            <a:prstDash val="solid"/>
          </a:ln>
        </p:spPr>
      </p:sp>
      <p:sp>
        <p:nvSpPr>
          <p:cNvPr id="8" name="Shape 6"/>
          <p:cNvSpPr/>
          <p:nvPr/>
        </p:nvSpPr>
        <p:spPr>
          <a:xfrm>
            <a:off x="795528" y="5321808"/>
            <a:ext cx="603504" cy="603504"/>
          </a:xfrm>
          <a:prstGeom prst="ellipse">
            <a:avLst/>
          </a:prstGeom>
          <a:solidFill>
            <a:srgbClr val="FFFFFF"/>
          </a:solidFill>
          <a:ln w="12700">
            <a:solidFill>
              <a:srgbClr val="FFFFFF"/>
            </a:solidFill>
            <a:prstDash val="solid"/>
          </a:ln>
        </p:spPr>
      </p:sp>
      <p:sp>
        <p:nvSpPr>
          <p:cNvPr id="9" name="Icono hard-hat"/>
          <p:cNvSpPr/>
          <p:nvPr/>
        </p:nvSpPr>
        <p:spPr>
          <a:xfrm>
            <a:off x="940369" y="5466649"/>
            <a:ext cx="313822" cy="313822"/>
          </a:xfrm>
          <a:custGeom>
            <a:avLst/>
            <a:gdLst/>
            <a:ahLst/>
            <a:cxnLst/>
            <a:rect l="l" t="t" r="r" b="b"/>
            <a:pathLst>
              <a:path w="313822" h="313822">
                <a:moveTo>
                  <a:pt x="130759" y="130759"/>
                </a:moveTo>
                <a:lnTo>
                  <a:pt x="130759" y="65380"/>
                </a:lnTo>
                <a:cubicBezTo>
                  <a:pt x="130759" y="58158"/>
                  <a:pt x="136613" y="52304"/>
                  <a:pt x="143835" y="52304"/>
                </a:cubicBezTo>
                <a:lnTo>
                  <a:pt x="169987" y="52304"/>
                </a:lnTo>
                <a:cubicBezTo>
                  <a:pt x="177209" y="52304"/>
                  <a:pt x="183063" y="58158"/>
                  <a:pt x="183063" y="65380"/>
                </a:cubicBezTo>
                <a:lnTo>
                  <a:pt x="183063" y="130759"/>
                </a:lnTo>
                <a:moveTo>
                  <a:pt x="183063" y="78456"/>
                </a:moveTo>
                <a:cubicBezTo>
                  <a:pt x="226393" y="78456"/>
                  <a:pt x="261518" y="113581"/>
                  <a:pt x="261518" y="156911"/>
                </a:cubicBezTo>
                <a:lnTo>
                  <a:pt x="261518" y="196139"/>
                </a:lnTo>
                <a:moveTo>
                  <a:pt x="52304" y="196139"/>
                </a:moveTo>
                <a:lnTo>
                  <a:pt x="52304" y="156911"/>
                </a:lnTo>
                <a:cubicBezTo>
                  <a:pt x="52304" y="113581"/>
                  <a:pt x="87429" y="78456"/>
                  <a:pt x="130759" y="78456"/>
                </a:cubicBezTo>
                <a:moveTo>
                  <a:pt x="39228" y="196139"/>
                </a:moveTo>
                <a:lnTo>
                  <a:pt x="274594" y="196139"/>
                </a:lnTo>
                <a:cubicBezTo>
                  <a:pt x="281816" y="196139"/>
                  <a:pt x="287670" y="201993"/>
                  <a:pt x="287670" y="209215"/>
                </a:cubicBezTo>
                <a:lnTo>
                  <a:pt x="287670" y="235367"/>
                </a:lnTo>
                <a:cubicBezTo>
                  <a:pt x="287670" y="242588"/>
                  <a:pt x="281816" y="248442"/>
                  <a:pt x="274594" y="248442"/>
                </a:cubicBezTo>
                <a:lnTo>
                  <a:pt x="39228" y="248442"/>
                </a:lnTo>
                <a:cubicBezTo>
                  <a:pt x="32006" y="248442"/>
                  <a:pt x="26152" y="242588"/>
                  <a:pt x="26152" y="235367"/>
                </a:cubicBezTo>
                <a:lnTo>
                  <a:pt x="26152" y="209215"/>
                </a:lnTo>
                <a:cubicBezTo>
                  <a:pt x="26152" y="201993"/>
                  <a:pt x="32006" y="196139"/>
                  <a:pt x="39228" y="196139"/>
                </a:cubicBezTo>
                <a:close/>
              </a:path>
            </a:pathLst>
          </a:custGeom>
          <a:noFill/>
          <a:ln w="26152" cap="rnd">
            <a:solidFill>
              <a:srgbClr val="0B6E8A"/>
            </a:solidFill>
            <a:prstDash val="solid"/>
            <a:round/>
          </a:ln>
        </p:spPr>
      </p:sp>
      <p:sp>
        <p:nvSpPr>
          <p:cNvPr id="10" name="Text 8"/>
          <p:cNvSpPr/>
          <p:nvPr/>
        </p:nvSpPr>
        <p:spPr>
          <a:xfrm>
            <a:off x="1563624" y="5102352"/>
            <a:ext cx="415137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contratista de obra: nosotros decimos qué piezas hay y él las arma y las conecta.</a:t>
            </a:r>
            <a:endParaRPr lang="en-US" sz="1450" dirty="0"/>
          </a:p>
        </p:txBody>
      </p:sp>
      <p:sp>
        <p:nvSpPr>
          <p:cNvPr id="11" name="Shape 9"/>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6437376" y="1659636"/>
            <a:ext cx="566928" cy="566928"/>
          </a:xfrm>
          <a:prstGeom prst="ellipse">
            <a:avLst/>
          </a:prstGeom>
          <a:solidFill>
            <a:srgbClr val="0B2350"/>
          </a:solidFill>
          <a:ln w="12700">
            <a:solidFill>
              <a:srgbClr val="0B2350"/>
            </a:solidFill>
            <a:prstDash val="solid"/>
          </a:ln>
        </p:spPr>
      </p:sp>
      <p:sp>
        <p:nvSpPr>
          <p:cNvPr id="13" name="Icono package"/>
          <p:cNvSpPr/>
          <p:nvPr/>
        </p:nvSpPr>
        <p:spPr>
          <a:xfrm>
            <a:off x="6573439" y="1795699"/>
            <a:ext cx="294803" cy="294803"/>
          </a:xfrm>
          <a:custGeom>
            <a:avLst/>
            <a:gdLst/>
            <a:ahLst/>
            <a:cxnLst/>
            <a:rect l="l" t="t" r="r" b="b"/>
            <a:pathLst>
              <a:path w="294803" h="294803">
                <a:moveTo>
                  <a:pt x="135118" y="266919"/>
                </a:moveTo>
                <a:cubicBezTo>
                  <a:pt x="142719" y="271308"/>
                  <a:pt x="152084" y="271308"/>
                  <a:pt x="159685" y="266919"/>
                </a:cubicBezTo>
                <a:lnTo>
                  <a:pt x="245669" y="217785"/>
                </a:lnTo>
                <a:cubicBezTo>
                  <a:pt x="253262" y="213401"/>
                  <a:pt x="257943" y="205303"/>
                  <a:pt x="257952" y="196535"/>
                </a:cubicBez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close/>
                <a:moveTo>
                  <a:pt x="147401" y="270236"/>
                </a:moveTo>
                <a:lnTo>
                  <a:pt x="147401" y="147401"/>
                </a:lnTo>
                <a:moveTo>
                  <a:pt x="40535" y="85984"/>
                </a:moveTo>
                <a:lnTo>
                  <a:pt x="135155" y="144134"/>
                </a:lnTo>
                <a:cubicBezTo>
                  <a:pt x="142737" y="148494"/>
                  <a:pt x="152066" y="148494"/>
                  <a:pt x="159648" y="144134"/>
                </a:cubicBezTo>
                <a:lnTo>
                  <a:pt x="254267" y="85984"/>
                </a:lnTo>
                <a:moveTo>
                  <a:pt x="92126" y="52450"/>
                </a:moveTo>
                <a:lnTo>
                  <a:pt x="202677" y="115710"/>
                </a:lnTo>
              </a:path>
            </a:pathLst>
          </a:custGeom>
          <a:noFill/>
          <a:ln w="24567" cap="rnd">
            <a:solidFill>
              <a:srgbClr val="FFFFFF"/>
            </a:solidFill>
            <a:prstDash val="solid"/>
            <a:round/>
          </a:ln>
        </p:spPr>
      </p:sp>
      <p:sp>
        <p:nvSpPr>
          <p:cNvPr id="14" name="Text 12"/>
          <p:cNvSpPr/>
          <p:nvPr/>
        </p:nvSpPr>
        <p:spPr>
          <a:xfrm>
            <a:off x="7150608" y="1417320"/>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Maven descarga lo necesario, compila y prueba</a:t>
            </a:r>
            <a:endParaRPr lang="en-US" sz="1600" dirty="0"/>
          </a:p>
        </p:txBody>
      </p:sp>
      <p:sp>
        <p:nvSpPr>
          <p:cNvPr id="15" name="Shape 13"/>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437376" y="2857500"/>
            <a:ext cx="566928" cy="566928"/>
          </a:xfrm>
          <a:prstGeom prst="ellipse">
            <a:avLst/>
          </a:prstGeom>
          <a:solidFill>
            <a:srgbClr val="0B6E8A"/>
          </a:solidFill>
          <a:ln w="12700">
            <a:solidFill>
              <a:srgbClr val="0B6E8A"/>
            </a:solidFill>
            <a:prstDash val="solid"/>
          </a:ln>
        </p:spPr>
      </p:sp>
      <p:sp>
        <p:nvSpPr>
          <p:cNvPr id="17" name="Icono rocket"/>
          <p:cNvSpPr/>
          <p:nvPr/>
        </p:nvSpPr>
        <p:spPr>
          <a:xfrm>
            <a:off x="6573439" y="2993563"/>
            <a:ext cx="294803" cy="294803"/>
          </a:xfrm>
          <a:custGeom>
            <a:avLst/>
            <a:gdLst/>
            <a:ahLst/>
            <a:cxnLst/>
            <a:rect l="l" t="t" r="r" b="b"/>
            <a:pathLst>
              <a:path w="294803" h="294803">
                <a:moveTo>
                  <a:pt x="55275" y="202677"/>
                </a:moveTo>
                <a:cubicBezTo>
                  <a:pt x="36850" y="218154"/>
                  <a:pt x="30709" y="264094"/>
                  <a:pt x="30709" y="264094"/>
                </a:cubicBezTo>
                <a:cubicBezTo>
                  <a:pt x="30709" y="264094"/>
                  <a:pt x="76649" y="257952"/>
                  <a:pt x="92126" y="239527"/>
                </a:cubicBezTo>
                <a:cubicBezTo>
                  <a:pt x="100847" y="229209"/>
                  <a:pt x="100724" y="213363"/>
                  <a:pt x="91020" y="203782"/>
                </a:cubicBezTo>
                <a:cubicBezTo>
                  <a:pt x="81133" y="194346"/>
                  <a:pt x="65727" y="193869"/>
                  <a:pt x="55275" y="202677"/>
                </a:cubicBezTo>
                <a:close/>
                <a:moveTo>
                  <a:pt x="147401" y="184252"/>
                </a:moveTo>
                <a:lnTo>
                  <a:pt x="110551" y="147401"/>
                </a:lnTo>
                <a:cubicBezTo>
                  <a:pt x="117088" y="130443"/>
                  <a:pt x="125318" y="114188"/>
                  <a:pt x="135118" y="98882"/>
                </a:cubicBezTo>
                <a:cubicBezTo>
                  <a:pt x="164219" y="52351"/>
                  <a:pt x="215356" y="24226"/>
                  <a:pt x="270236" y="24567"/>
                </a:cubicBezTo>
                <a:cubicBezTo>
                  <a:pt x="270236" y="57978"/>
                  <a:pt x="260655" y="116693"/>
                  <a:pt x="196535" y="159685"/>
                </a:cubicBezTo>
                <a:cubicBezTo>
                  <a:pt x="181020" y="169496"/>
                  <a:pt x="164559" y="177726"/>
                  <a:pt x="147401" y="184252"/>
                </a:cubicBezTo>
                <a:close/>
                <a:moveTo>
                  <a:pt x="110551" y="147401"/>
                </a:moveTo>
                <a:lnTo>
                  <a:pt x="49134" y="147401"/>
                </a:lnTo>
                <a:cubicBezTo>
                  <a:pt x="49134" y="147401"/>
                  <a:pt x="55890" y="110182"/>
                  <a:pt x="73701" y="98268"/>
                </a:cubicBezTo>
                <a:cubicBezTo>
                  <a:pt x="93600" y="85001"/>
                  <a:pt x="135118" y="98268"/>
                  <a:pt x="135118" y="98268"/>
                </a:cubicBezTo>
                <a:moveTo>
                  <a:pt x="147401" y="184252"/>
                </a:moveTo>
                <a:lnTo>
                  <a:pt x="147401" y="245669"/>
                </a:lnTo>
                <a:cubicBezTo>
                  <a:pt x="147401" y="245669"/>
                  <a:pt x="184620" y="238913"/>
                  <a:pt x="196535" y="221102"/>
                </a:cubicBezTo>
                <a:cubicBezTo>
                  <a:pt x="209801" y="201203"/>
                  <a:pt x="196535" y="159685"/>
                  <a:pt x="196535" y="159685"/>
                </a:cubicBezTo>
              </a:path>
            </a:pathLst>
          </a:custGeom>
          <a:noFill/>
          <a:ln w="24567" cap="rnd">
            <a:solidFill>
              <a:srgbClr val="FFFFFF"/>
            </a:solidFill>
            <a:prstDash val="solid"/>
            <a:round/>
          </a:ln>
        </p:spPr>
      </p:sp>
      <p:sp>
        <p:nvSpPr>
          <p:cNvPr id="18" name="Text 16"/>
          <p:cNvSpPr/>
          <p:nvPr/>
        </p:nvSpPr>
        <p:spPr>
          <a:xfrm>
            <a:off x="7150608" y="2615184"/>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Spring Boot levanta el servidor y conecta las piezas</a:t>
            </a:r>
            <a:endParaRPr lang="en-US" sz="1600" dirty="0"/>
          </a:p>
        </p:txBody>
      </p:sp>
      <p:sp>
        <p:nvSpPr>
          <p:cNvPr id="19" name="Shape 17"/>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437376" y="4055364"/>
            <a:ext cx="566928" cy="566928"/>
          </a:xfrm>
          <a:prstGeom prst="ellipse">
            <a:avLst/>
          </a:prstGeom>
          <a:solidFill>
            <a:srgbClr val="0B6E8A"/>
          </a:solidFill>
          <a:ln w="12700">
            <a:solidFill>
              <a:srgbClr val="0B6E8A"/>
            </a:solidFill>
            <a:prstDash val="solid"/>
          </a:ln>
        </p:spPr>
      </p:sp>
      <p:sp>
        <p:nvSpPr>
          <p:cNvPr id="21" name="Icono plug"/>
          <p:cNvSpPr/>
          <p:nvPr/>
        </p:nvSpPr>
        <p:spPr>
          <a:xfrm>
            <a:off x="6573439" y="4191427"/>
            <a:ext cx="294803" cy="294803"/>
          </a:xfrm>
          <a:custGeom>
            <a:avLst/>
            <a:gdLst/>
            <a:ahLst/>
            <a:cxnLst/>
            <a:rect l="l" t="t" r="r" b="b"/>
            <a:pathLst>
              <a:path w="294803" h="294803">
                <a:moveTo>
                  <a:pt x="147401" y="270236"/>
                </a:moveTo>
                <a:lnTo>
                  <a:pt x="147401" y="208818"/>
                </a:lnTo>
                <a:moveTo>
                  <a:pt x="110551" y="98268"/>
                </a:moveTo>
                <a:lnTo>
                  <a:pt x="110551" y="24567"/>
                </a:lnTo>
                <a:moveTo>
                  <a:pt x="184252" y="98268"/>
                </a:moveTo>
                <a:lnTo>
                  <a:pt x="184252" y="24567"/>
                </a:lnTo>
                <a:moveTo>
                  <a:pt x="221102" y="98268"/>
                </a:moveTo>
                <a:lnTo>
                  <a:pt x="221102" y="159685"/>
                </a:lnTo>
                <a:cubicBezTo>
                  <a:pt x="221102" y="186821"/>
                  <a:pt x="199104" y="208818"/>
                  <a:pt x="171968" y="208818"/>
                </a:cubicBezTo>
                <a:lnTo>
                  <a:pt x="122834" y="208818"/>
                </a:lnTo>
                <a:cubicBezTo>
                  <a:pt x="95699" y="208818"/>
                  <a:pt x="73701" y="186821"/>
                  <a:pt x="73701" y="159685"/>
                </a:cubicBezTo>
                <a:lnTo>
                  <a:pt x="73701" y="98268"/>
                </a:lnTo>
                <a:close/>
              </a:path>
            </a:pathLst>
          </a:custGeom>
          <a:noFill/>
          <a:ln w="24567" cap="rnd">
            <a:solidFill>
              <a:srgbClr val="FFFFFF"/>
            </a:solidFill>
            <a:prstDash val="solid"/>
            <a:round/>
          </a:ln>
        </p:spPr>
      </p:sp>
      <p:sp>
        <p:nvSpPr>
          <p:cNvPr id="22" name="Text 20"/>
          <p:cNvSpPr/>
          <p:nvPr/>
        </p:nvSpPr>
        <p:spPr>
          <a:xfrm>
            <a:off x="7150608" y="3813048"/>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Cada pieza recibe lo que necesita por el constructor</a:t>
            </a:r>
            <a:endParaRPr lang="en-US" sz="1600" dirty="0"/>
          </a:p>
        </p:txBody>
      </p:sp>
      <p:sp>
        <p:nvSpPr>
          <p:cNvPr id="23" name="Shape 21"/>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6437376" y="5253228"/>
            <a:ext cx="566928" cy="566928"/>
          </a:xfrm>
          <a:prstGeom prst="ellipse">
            <a:avLst/>
          </a:prstGeom>
          <a:solidFill>
            <a:srgbClr val="0A6648"/>
          </a:solidFill>
          <a:ln w="12700">
            <a:solidFill>
              <a:srgbClr val="0A6648"/>
            </a:solidFill>
            <a:prstDash val="solid"/>
          </a:ln>
        </p:spPr>
      </p:sp>
      <p:sp>
        <p:nvSpPr>
          <p:cNvPr id="25" name="Icono shield-check"/>
          <p:cNvSpPr/>
          <p:nvPr/>
        </p:nvSpPr>
        <p:spPr>
          <a:xfrm>
            <a:off x="6573439" y="5389291"/>
            <a:ext cx="294803" cy="294803"/>
          </a:xfrm>
          <a:custGeom>
            <a:avLst/>
            <a:gdLst/>
            <a:ahLst/>
            <a:cxnLst/>
            <a:rect l="l" t="t" r="r" b="b"/>
            <a:pathLst>
              <a:path w="294803" h="294803">
                <a:moveTo>
                  <a:pt x="245669" y="159685"/>
                </a:moveTo>
                <a:cubicBezTo>
                  <a:pt x="245669" y="221102"/>
                  <a:pt x="202677" y="251811"/>
                  <a:pt x="151578" y="269622"/>
                </a:cubicBezTo>
                <a:cubicBezTo>
                  <a:pt x="148902" y="270528"/>
                  <a:pt x="145995" y="270485"/>
                  <a:pt x="143348" y="269499"/>
                </a:cubicBezTo>
                <a:cubicBezTo>
                  <a:pt x="92126" y="251811"/>
                  <a:pt x="49134" y="221102"/>
                  <a:pt x="49134" y="159685"/>
                </a:cubicBezTo>
                <a:lnTo>
                  <a:pt x="49134" y="73701"/>
                </a:lnTo>
                <a:cubicBezTo>
                  <a:pt x="49134" y="66917"/>
                  <a:pt x="54633" y="61417"/>
                  <a:pt x="61417" y="61417"/>
                </a:cubicBezTo>
                <a:cubicBezTo>
                  <a:pt x="85984" y="61417"/>
                  <a:pt x="116693" y="46677"/>
                  <a:pt x="138066" y="28006"/>
                </a:cubicBezTo>
                <a:cubicBezTo>
                  <a:pt x="143442" y="23413"/>
                  <a:pt x="151361" y="23413"/>
                  <a:pt x="156737" y="28006"/>
                </a:cubicBezTo>
                <a:cubicBezTo>
                  <a:pt x="178233" y="46800"/>
                  <a:pt x="208818" y="61417"/>
                  <a:pt x="233385" y="61417"/>
                </a:cubicBezTo>
                <a:cubicBezTo>
                  <a:pt x="240169" y="61417"/>
                  <a:pt x="245669" y="66917"/>
                  <a:pt x="245669" y="73701"/>
                </a:cubicBezTo>
                <a:close/>
                <a:moveTo>
                  <a:pt x="110551" y="147401"/>
                </a:moveTo>
                <a:lnTo>
                  <a:pt x="135118" y="171968"/>
                </a:lnTo>
                <a:lnTo>
                  <a:pt x="184252" y="122834"/>
                </a:lnTo>
              </a:path>
            </a:pathLst>
          </a:custGeom>
          <a:noFill/>
          <a:ln w="24567" cap="rnd">
            <a:solidFill>
              <a:srgbClr val="FFFFFF"/>
            </a:solidFill>
            <a:prstDash val="solid"/>
            <a:round/>
          </a:ln>
        </p:spPr>
      </p:sp>
      <p:sp>
        <p:nvSpPr>
          <p:cNvPr id="26" name="Text 24"/>
          <p:cNvSpPr/>
          <p:nvPr/>
        </p:nvSpPr>
        <p:spPr>
          <a:xfrm>
            <a:off x="7150608" y="5010912"/>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Las reglas del negocio no dependen de Spring</a:t>
            </a:r>
            <a:endParaRPr lang="en-US" sz="1600" dirty="0"/>
          </a:p>
        </p:txBody>
      </p:sp>
      <p:sp>
        <p:nvSpPr>
          <p:cNvPr id="27" name="Text 2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Construcción de endpoints REST</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Método + ruta = una operación</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cuerpo viaja en JSON</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respuesta trae un código: 201, 404, 409</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controlador traduce; quien decide es el servicio</a:t>
            </a:r>
            <a:endParaRPr lang="en-US" sz="1100" dirty="0"/>
          </a:p>
        </p:txBody>
      </p:sp>
      <p:sp>
        <p:nvSpPr>
          <p:cNvPr id="9" name="Shape 7"/>
          <p:cNvSpPr/>
          <p:nvPr/>
        </p:nvSpPr>
        <p:spPr>
          <a:xfrm>
            <a:off x="2348995" y="3762937"/>
            <a:ext cx="639707" cy="0"/>
          </a:xfrm>
          <a:prstGeom prst="line">
            <a:avLst/>
          </a:prstGeom>
          <a:noFill/>
          <a:ln w="31750">
            <a:solidFill>
              <a:srgbClr val="2E6DB4"/>
            </a:solidFill>
            <a:prstDash val="solid"/>
            <a:tailEnd type="triangle"/>
          </a:ln>
        </p:spPr>
      </p:sp>
      <p:sp>
        <p:nvSpPr>
          <p:cNvPr id="10" name="Text 8"/>
          <p:cNvSpPr/>
          <p:nvPr/>
        </p:nvSpPr>
        <p:spPr>
          <a:xfrm>
            <a:off x="2472709" y="3525241"/>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JSON</a:t>
            </a:r>
            <a:endParaRPr lang="en-US" sz="850" dirty="0"/>
          </a:p>
        </p:txBody>
      </p:sp>
      <p:sp>
        <p:nvSpPr>
          <p:cNvPr id="11" name="Text 9"/>
          <p:cNvSpPr/>
          <p:nvPr/>
        </p:nvSpPr>
        <p:spPr>
          <a:xfrm>
            <a:off x="2458595" y="365320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816434" y="3872601"/>
            <a:ext cx="639707" cy="0"/>
          </a:xfrm>
          <a:prstGeom prst="line">
            <a:avLst/>
          </a:prstGeom>
          <a:noFill/>
          <a:ln w="31750">
            <a:solidFill>
              <a:srgbClr val="55627E"/>
            </a:solidFill>
            <a:prstDash val="sysDot"/>
            <a:tailEnd type="triangle"/>
          </a:ln>
        </p:spPr>
      </p:sp>
      <p:sp>
        <p:nvSpPr>
          <p:cNvPr id="13" name="Text 11"/>
          <p:cNvSpPr/>
          <p:nvPr/>
        </p:nvSpPr>
        <p:spPr>
          <a:xfrm>
            <a:off x="4907116" y="3634905"/>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crear</a:t>
            </a:r>
            <a:endParaRPr lang="en-US" sz="850" dirty="0"/>
          </a:p>
        </p:txBody>
      </p:sp>
      <p:sp>
        <p:nvSpPr>
          <p:cNvPr id="14" name="Text 12"/>
          <p:cNvSpPr/>
          <p:nvPr/>
        </p:nvSpPr>
        <p:spPr>
          <a:xfrm>
            <a:off x="4926034" y="376287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7466648" y="3872601"/>
            <a:ext cx="639707" cy="0"/>
          </a:xfrm>
          <a:prstGeom prst="line">
            <a:avLst/>
          </a:prstGeom>
          <a:noFill/>
          <a:ln w="31750">
            <a:solidFill>
              <a:srgbClr val="55627E"/>
            </a:solidFill>
            <a:prstDash val="sysDot"/>
            <a:tailEnd type="triangle"/>
          </a:ln>
        </p:spPr>
      </p:sp>
      <p:sp>
        <p:nvSpPr>
          <p:cNvPr id="16" name="Text 14"/>
          <p:cNvSpPr/>
          <p:nvPr/>
        </p:nvSpPr>
        <p:spPr>
          <a:xfrm>
            <a:off x="7491264" y="3634905"/>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17" name="Text 15"/>
          <p:cNvSpPr/>
          <p:nvPr/>
        </p:nvSpPr>
        <p:spPr>
          <a:xfrm>
            <a:off x="7576247" y="376287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a:off x="9659927" y="3872601"/>
            <a:ext cx="456933" cy="0"/>
          </a:xfrm>
          <a:prstGeom prst="line">
            <a:avLst/>
          </a:prstGeom>
          <a:noFill/>
          <a:ln w="31750">
            <a:solidFill>
              <a:srgbClr val="55627E"/>
            </a:solidFill>
            <a:prstDash val="sysDot"/>
            <a:tailEnd type="triangle"/>
          </a:ln>
        </p:spPr>
      </p:sp>
      <p:sp>
        <p:nvSpPr>
          <p:cNvPr id="19" name="Text 17"/>
          <p:cNvSpPr/>
          <p:nvPr/>
        </p:nvSpPr>
        <p:spPr>
          <a:xfrm>
            <a:off x="9626190" y="363490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INSERT</a:t>
            </a:r>
            <a:endParaRPr lang="en-US" sz="850" dirty="0"/>
          </a:p>
        </p:txBody>
      </p:sp>
      <p:sp>
        <p:nvSpPr>
          <p:cNvPr id="20" name="Text 18"/>
          <p:cNvSpPr/>
          <p:nvPr/>
        </p:nvSpPr>
        <p:spPr>
          <a:xfrm>
            <a:off x="9769527" y="376287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flipH="1">
            <a:off x="2348995" y="3982265"/>
            <a:ext cx="639707" cy="0"/>
          </a:xfrm>
          <a:prstGeom prst="line">
            <a:avLst/>
          </a:prstGeom>
          <a:noFill/>
          <a:ln w="22860">
            <a:solidFill>
              <a:srgbClr val="0B6E8A"/>
            </a:solidFill>
            <a:prstDash val="solid"/>
            <a:tailEnd type="arrow"/>
          </a:ln>
        </p:spPr>
      </p:sp>
      <p:sp>
        <p:nvSpPr>
          <p:cNvPr id="22" name="Text 20"/>
          <p:cNvSpPr/>
          <p:nvPr/>
        </p:nvSpPr>
        <p:spPr>
          <a:xfrm>
            <a:off x="2505742" y="4000452"/>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201</a:t>
            </a:r>
            <a:endParaRPr lang="en-US" sz="850" dirty="0"/>
          </a:p>
        </p:txBody>
      </p:sp>
      <p:sp>
        <p:nvSpPr>
          <p:cNvPr id="23" name="Text 21"/>
          <p:cNvSpPr/>
          <p:nvPr/>
        </p:nvSpPr>
        <p:spPr>
          <a:xfrm>
            <a:off x="2659645" y="3872537"/>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a:off x="6461394" y="4219871"/>
            <a:ext cx="0" cy="950421"/>
          </a:xfrm>
          <a:prstGeom prst="line">
            <a:avLst/>
          </a:prstGeom>
          <a:noFill/>
          <a:ln w="31750">
            <a:solidFill>
              <a:srgbClr val="AB243E"/>
            </a:solidFill>
            <a:prstDash val="sysDash"/>
            <a:tailEnd type="triangle"/>
          </a:ln>
        </p:spPr>
      </p:sp>
      <p:sp>
        <p:nvSpPr>
          <p:cNvPr id="25" name="Text 23"/>
          <p:cNvSpPr/>
          <p:nvPr/>
        </p:nvSpPr>
        <p:spPr>
          <a:xfrm>
            <a:off x="6552781" y="4576188"/>
            <a:ext cx="722605" cy="192024"/>
          </a:xfrm>
          <a:prstGeom prst="rect">
            <a:avLst/>
          </a:prstGeom>
          <a:noFill/>
          <a:ln/>
        </p:spPr>
        <p:txBody>
          <a:bodyPr wrap="square" lIns="0" tIns="0" rIns="0" bIns="0" rtlCol="0" anchor="ctr"/>
          <a:lstStyle/>
          <a:p>
            <a:pPr algn="l" indent="0" marL="0">
              <a:buNone/>
            </a:pPr>
            <a:r>
              <a:rPr lang="en-US" sz="850" b="1" dirty="0">
                <a:solidFill>
                  <a:srgbClr val="AB243E"/>
                </a:solidFill>
                <a:latin typeface="Segoe UI" pitchFamily="34" charset="0"/>
                <a:ea typeface="Segoe UI" pitchFamily="34" charset="-122"/>
                <a:cs typeface="Segoe UI" pitchFamily="34" charset="-120"/>
              </a:rPr>
              <a:t>ya existe</a:t>
            </a:r>
            <a:endParaRPr lang="en-US" sz="850" dirty="0"/>
          </a:p>
        </p:txBody>
      </p:sp>
      <p:sp>
        <p:nvSpPr>
          <p:cNvPr id="26" name="Text 24"/>
          <p:cNvSpPr/>
          <p:nvPr/>
        </p:nvSpPr>
        <p:spPr>
          <a:xfrm>
            <a:off x="6351666" y="4329471"/>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H="1">
            <a:off x="1617901" y="5517561"/>
            <a:ext cx="3838240" cy="0"/>
          </a:xfrm>
          <a:prstGeom prst="line">
            <a:avLst/>
          </a:prstGeom>
          <a:noFill/>
          <a:ln w="31750">
            <a:solidFill>
              <a:srgbClr val="AB243E"/>
            </a:solidFill>
            <a:prstDash val="sysDash"/>
          </a:ln>
        </p:spPr>
      </p:sp>
      <p:sp>
        <p:nvSpPr>
          <p:cNvPr id="28" name="Shape 26"/>
          <p:cNvSpPr/>
          <p:nvPr/>
        </p:nvSpPr>
        <p:spPr>
          <a:xfrm flipV="1">
            <a:off x="1617901" y="4219871"/>
            <a:ext cx="0" cy="1297691"/>
          </a:xfrm>
          <a:prstGeom prst="line">
            <a:avLst/>
          </a:prstGeom>
          <a:noFill/>
          <a:ln w="31750">
            <a:solidFill>
              <a:srgbClr val="AB243E"/>
            </a:solidFill>
            <a:prstDash val="sysDash"/>
            <a:tailEnd type="triangle"/>
          </a:ln>
        </p:spPr>
      </p:sp>
      <p:sp>
        <p:nvSpPr>
          <p:cNvPr id="29" name="Text 27"/>
          <p:cNvSpPr/>
          <p:nvPr/>
        </p:nvSpPr>
        <p:spPr>
          <a:xfrm>
            <a:off x="3043588" y="5535748"/>
            <a:ext cx="986866" cy="192024"/>
          </a:xfrm>
          <a:prstGeom prst="rect">
            <a:avLst/>
          </a:prstGeom>
          <a:noFill/>
          <a:ln/>
        </p:spPr>
        <p:txBody>
          <a:bodyPr wrap="square" lIns="0" tIns="0" rIns="0" bIns="0" rtlCol="0" anchor="ctr"/>
          <a:lstStyle/>
          <a:p>
            <a:pPr algn="ctr" indent="0" marL="0">
              <a:buNone/>
            </a:pPr>
            <a:r>
              <a:rPr lang="en-US" sz="850" b="1" dirty="0">
                <a:solidFill>
                  <a:srgbClr val="AB243E"/>
                </a:solidFill>
                <a:latin typeface="Segoe UI" pitchFamily="34" charset="0"/>
                <a:ea typeface="Segoe UI" pitchFamily="34" charset="-122"/>
                <a:cs typeface="Segoe UI" pitchFamily="34" charset="-120"/>
              </a:rPr>
              <a:t>409 + mensaje</a:t>
            </a:r>
            <a:endParaRPr lang="en-US" sz="850" dirty="0"/>
          </a:p>
        </p:txBody>
      </p:sp>
      <p:sp>
        <p:nvSpPr>
          <p:cNvPr id="30" name="Text 28"/>
          <p:cNvSpPr/>
          <p:nvPr/>
        </p:nvSpPr>
        <p:spPr>
          <a:xfrm>
            <a:off x="5127085" y="5407833"/>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1" name="Shape 29"/>
          <p:cNvSpPr/>
          <p:nvPr/>
        </p:nvSpPr>
        <p:spPr>
          <a:xfrm>
            <a:off x="886808" y="3525332"/>
            <a:ext cx="146218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978248" y="3662289"/>
            <a:ext cx="420624" cy="420624"/>
          </a:xfrm>
          <a:prstGeom prst="ellipse">
            <a:avLst/>
          </a:prstGeom>
          <a:solidFill>
            <a:srgbClr val="E2E5EA"/>
          </a:solidFill>
          <a:ln w="12700">
            <a:solidFill>
              <a:srgbClr val="E2E5EA"/>
            </a:solidFill>
            <a:prstDash val="solid"/>
          </a:ln>
        </p:spPr>
      </p:sp>
      <p:sp>
        <p:nvSpPr>
          <p:cNvPr id="33" name="Icono monitor"/>
          <p:cNvSpPr/>
          <p:nvPr/>
        </p:nvSpPr>
        <p:spPr>
          <a:xfrm>
            <a:off x="1033112" y="3717153"/>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4" name="Text 32"/>
          <p:cNvSpPr/>
          <p:nvPr/>
        </p:nvSpPr>
        <p:spPr>
          <a:xfrm>
            <a:off x="1453736" y="3525332"/>
            <a:ext cx="840395" cy="694539"/>
          </a:xfrm>
          <a:prstGeom prst="rect">
            <a:avLst/>
          </a:prstGeom>
          <a:noFill/>
          <a:ln/>
        </p:spPr>
        <p:txBody>
          <a:bodyPr wrap="square" lIns="12700" tIns="25400" rIns="25400" bIns="12700" rtlCol="0" anchor="ctr">
            <a:normAutofit/>
          </a:bodyPr>
          <a:lstStyle/>
          <a:p>
            <a:pPr algn="l" indent="0" marL="0">
              <a:lnSpc>
                <a:spcPct val="95000"/>
              </a:lnSpc>
              <a:buNone/>
            </a:pPr>
            <a:r>
              <a:rPr lang="en-US" sz="907" b="1" dirty="0">
                <a:solidFill>
                  <a:srgbClr val="0B1A3C"/>
                </a:solidFill>
                <a:latin typeface="Segoe UI" pitchFamily="34" charset="0"/>
                <a:ea typeface="Segoe UI" pitchFamily="34" charset="-122"/>
                <a:cs typeface="Segoe UI" pitchFamily="34" charset="-120"/>
              </a:rPr>
              <a:t>UI</a:t>
            </a:r>
            <a:endParaRPr lang="en-US" sz="907" dirty="0"/>
          </a:p>
          <a:p>
            <a:pPr algn="l" indent="0" marL="0">
              <a:lnSpc>
                <a:spcPct val="95000"/>
              </a:lnSpc>
              <a:buNone/>
            </a:pPr>
            <a:r>
              <a:rPr lang="en-US" sz="725" dirty="0">
                <a:solidFill>
                  <a:srgbClr val="55627E"/>
                </a:solidFill>
                <a:latin typeface="Segoe UI" pitchFamily="34" charset="0"/>
                <a:ea typeface="Segoe UI" pitchFamily="34" charset="-122"/>
                <a:cs typeface="Segoe UI" pitchFamily="34" charset="-120"/>
              </a:rPr>
              <a:t>POST /api/solicitudes</a:t>
            </a:r>
            <a:endParaRPr lang="en-US" sz="907" dirty="0"/>
          </a:p>
        </p:txBody>
      </p:sp>
      <p:sp>
        <p:nvSpPr>
          <p:cNvPr id="35" name="Text 33"/>
          <p:cNvSpPr/>
          <p:nvPr/>
        </p:nvSpPr>
        <p:spPr>
          <a:xfrm>
            <a:off x="2988701" y="3525332"/>
            <a:ext cx="182773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SolicitudController</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@PostMapping · 201</a:t>
            </a:r>
            <a:endParaRPr lang="en-US" sz="1079" dirty="0"/>
          </a:p>
        </p:txBody>
      </p:sp>
      <p:sp>
        <p:nvSpPr>
          <p:cNvPr id="36" name="Shape 34"/>
          <p:cNvSpPr/>
          <p:nvPr/>
        </p:nvSpPr>
        <p:spPr>
          <a:xfrm>
            <a:off x="5456141" y="3525332"/>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5547581" y="3662289"/>
            <a:ext cx="420624" cy="420624"/>
          </a:xfrm>
          <a:prstGeom prst="ellipse">
            <a:avLst/>
          </a:prstGeom>
          <a:solidFill>
            <a:srgbClr val="E2E5EA"/>
          </a:solidFill>
          <a:ln w="12700">
            <a:solidFill>
              <a:srgbClr val="E2E5EA"/>
            </a:solidFill>
            <a:prstDash val="solid"/>
          </a:ln>
        </p:spPr>
      </p:sp>
      <p:sp>
        <p:nvSpPr>
          <p:cNvPr id="38" name="Icono settings"/>
          <p:cNvSpPr/>
          <p:nvPr/>
        </p:nvSpPr>
        <p:spPr>
          <a:xfrm>
            <a:off x="5602445" y="3717153"/>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0B2350"/>
            </a:solidFill>
            <a:prstDash val="solid"/>
            <a:round/>
          </a:ln>
        </p:spPr>
      </p:sp>
      <p:sp>
        <p:nvSpPr>
          <p:cNvPr id="39" name="Text 37"/>
          <p:cNvSpPr/>
          <p:nvPr/>
        </p:nvSpPr>
        <p:spPr>
          <a:xfrm>
            <a:off x="6023069" y="3525332"/>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863" b="1" dirty="0">
                <a:solidFill>
                  <a:srgbClr val="0B1A3C"/>
                </a:solidFill>
                <a:latin typeface="Segoe UI" pitchFamily="34" charset="0"/>
                <a:ea typeface="Segoe UI" pitchFamily="34" charset="-122"/>
                <a:cs typeface="Segoe UI" pitchFamily="34" charset="-120"/>
              </a:rPr>
              <a:t>ServicioDeSolicitudes</a:t>
            </a:r>
            <a:endParaRPr lang="en-US" sz="863" dirty="0"/>
          </a:p>
          <a:p>
            <a:pPr algn="l" indent="0" marL="0">
              <a:lnSpc>
                <a:spcPct val="95000"/>
              </a:lnSpc>
              <a:buNone/>
            </a:pPr>
            <a:r>
              <a:rPr lang="en-US" sz="691" dirty="0">
                <a:solidFill>
                  <a:srgbClr val="55627E"/>
                </a:solidFill>
                <a:latin typeface="Segoe UI" pitchFamily="34" charset="0"/>
                <a:ea typeface="Segoe UI" pitchFamily="34" charset="-122"/>
                <a:cs typeface="Segoe UI" pitchFamily="34" charset="-120"/>
              </a:rPr>
              <a:t>crear(id, tipo)</a:t>
            </a:r>
            <a:endParaRPr lang="en-US" sz="863" dirty="0"/>
          </a:p>
        </p:txBody>
      </p:sp>
      <p:sp>
        <p:nvSpPr>
          <p:cNvPr id="40" name="Text 38"/>
          <p:cNvSpPr/>
          <p:nvPr/>
        </p:nvSpPr>
        <p:spPr>
          <a:xfrm>
            <a:off x="8106354" y="352533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RepositorioJpa</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adaptador</a:t>
            </a:r>
            <a:endParaRPr lang="en-US" sz="1079" dirty="0"/>
          </a:p>
        </p:txBody>
      </p:sp>
      <p:sp>
        <p:nvSpPr>
          <p:cNvPr id="41" name="Text 39"/>
          <p:cNvSpPr/>
          <p:nvPr/>
        </p:nvSpPr>
        <p:spPr>
          <a:xfrm>
            <a:off x="10116861" y="3525332"/>
            <a:ext cx="1279413"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PostgreSQL</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tabla solicitud</a:t>
            </a:r>
            <a:endParaRPr lang="en-US" sz="1079" dirty="0"/>
          </a:p>
        </p:txBody>
      </p:sp>
      <p:sp>
        <p:nvSpPr>
          <p:cNvPr id="42" name="Text 40"/>
          <p:cNvSpPr/>
          <p:nvPr/>
        </p:nvSpPr>
        <p:spPr>
          <a:xfrm>
            <a:off x="5456141" y="5170292"/>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36" b="1" dirty="0">
                <a:solidFill>
                  <a:srgbClr val="0B1A3C"/>
                </a:solidFill>
                <a:latin typeface="Segoe UI" pitchFamily="34" charset="0"/>
                <a:ea typeface="Segoe UI" pitchFamily="34" charset="-122"/>
                <a:cs typeface="Segoe UI" pitchFamily="34" charset="-120"/>
              </a:rPr>
              <a:t>ManejadorGlobalDeErrores</a:t>
            </a:r>
            <a:endParaRPr lang="en-US" sz="1036" dirty="0"/>
          </a:p>
          <a:p>
            <a:pPr algn="ctr" indent="0" marL="0">
              <a:buNone/>
            </a:pPr>
            <a:r>
              <a:rPr lang="en-US" sz="829" dirty="0">
                <a:solidFill>
                  <a:srgbClr val="55627E"/>
                </a:solidFill>
                <a:latin typeface="Segoe UI" pitchFamily="34" charset="0"/>
                <a:ea typeface="Segoe UI" pitchFamily="34" charset="-122"/>
                <a:cs typeface="Segoe UI" pitchFamily="34" charset="-120"/>
              </a:rPr>
              <a:t>404 · 409 · 400</a:t>
            </a:r>
            <a:endParaRPr lang="en-US" sz="1036"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47625">
            <a:solidFill>
              <a:srgbClr val="2BA6CB"/>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47625">
            <a:solidFill>
              <a:srgbClr val="2BA6CB"/>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31750">
            <a:solidFill>
              <a:srgbClr val="CBD5E3"/>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31750">
            <a:solidFill>
              <a:srgbClr val="CBD5E3"/>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22860">
            <a:solidFill>
              <a:srgbClr val="CBD5E3"/>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31750">
            <a:solidFill>
              <a:srgbClr val="CBD5E3"/>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31750">
            <a:solidFill>
              <a:srgbClr val="CBD5E3"/>
            </a:solidFill>
            <a:prstDash val="sysDash"/>
          </a:ln>
        </p:spPr>
      </p:sp>
      <p:sp>
        <p:nvSpPr>
          <p:cNvPr id="24" name="Shape 22"/>
          <p:cNvSpPr/>
          <p:nvPr/>
        </p:nvSpPr>
        <p:spPr>
          <a:xfrm flipV="1">
            <a:off x="1888017" y="3410951"/>
            <a:ext cx="0" cy="1219412"/>
          </a:xfrm>
          <a:prstGeom prst="line">
            <a:avLst/>
          </a:prstGeom>
          <a:noFill/>
          <a:ln w="31750">
            <a:solidFill>
              <a:srgbClr val="CBD5E3"/>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74" b="1" dirty="0">
                <a:solidFill>
                  <a:srgbClr val="8A95AB"/>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9AA5B8"/>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envía POST con un cuerpo JSON: id y tipo.</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convierte el JSON en NuevaSolicitud y llama al servicio.</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31750">
            <a:solidFill>
              <a:srgbClr val="2E6DB4"/>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31750">
            <a:solidFill>
              <a:srgbClr val="55627E"/>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47625">
            <a:solidFill>
              <a:srgbClr val="2BA6CB"/>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47625">
            <a:solidFill>
              <a:srgbClr val="2BA6CB"/>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22860">
            <a:solidFill>
              <a:srgbClr val="CBD5E3"/>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31750">
            <a:solidFill>
              <a:srgbClr val="CBD5E3"/>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31750">
            <a:solidFill>
              <a:srgbClr val="CBD5E3"/>
            </a:solidFill>
            <a:prstDash val="sysDash"/>
          </a:ln>
        </p:spPr>
      </p:sp>
      <p:sp>
        <p:nvSpPr>
          <p:cNvPr id="24" name="Shape 22"/>
          <p:cNvSpPr/>
          <p:nvPr/>
        </p:nvSpPr>
        <p:spPr>
          <a:xfrm flipV="1">
            <a:off x="1888017" y="3410951"/>
            <a:ext cx="0" cy="1219412"/>
          </a:xfrm>
          <a:prstGeom prst="line">
            <a:avLst/>
          </a:prstGeom>
          <a:noFill/>
          <a:ln w="31750">
            <a:solidFill>
              <a:srgbClr val="CBD5E3"/>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74" b="1" dirty="0">
                <a:solidFill>
                  <a:srgbClr val="8A95AB"/>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9AA5B8"/>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valida los datos y revisa que el id no exista.</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JPA guarda la fila en PostgreSQL.</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31750">
            <a:solidFill>
              <a:srgbClr val="2E6DB4"/>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31750">
            <a:solidFill>
              <a:srgbClr val="55627E"/>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31750">
            <a:solidFill>
              <a:srgbClr val="55627E"/>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31750">
            <a:solidFill>
              <a:srgbClr val="55627E"/>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38735">
            <a:solidFill>
              <a:srgbClr val="2BA6CB"/>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47625">
            <a:solidFill>
              <a:srgbClr val="2BA6CB"/>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47625">
            <a:solidFill>
              <a:srgbClr val="2BA6CB"/>
            </a:solidFill>
            <a:prstDash val="sysDash"/>
          </a:ln>
        </p:spPr>
      </p:sp>
      <p:sp>
        <p:nvSpPr>
          <p:cNvPr id="24" name="Shape 22"/>
          <p:cNvSpPr/>
          <p:nvPr/>
        </p:nvSpPr>
        <p:spPr>
          <a:xfrm flipV="1">
            <a:off x="1888017" y="3410951"/>
            <a:ext cx="0" cy="1219412"/>
          </a:xfrm>
          <a:prstGeom prst="line">
            <a:avLst/>
          </a:prstGeom>
          <a:noFill/>
          <a:ln w="47625">
            <a:solidFill>
              <a:srgbClr val="2BA6CB"/>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74" b="1" dirty="0">
                <a:solidFill>
                  <a:srgbClr val="0B1A3C"/>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55627E"/>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API responde 201 Created con la solicitud en BORRADOR.</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el id ya existe, el manejador global de errores responde 409 con un mensaje claro.</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regla vive en el dominio</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La regla del negocio está en un solo lugar.</a:t>
            </a:r>
            <a:endParaRPr lang="en-US" sz="3200" dirty="0"/>
          </a:p>
        </p:txBody>
      </p:sp>
      <p:sp>
        <p:nvSpPr>
          <p:cNvPr id="7" name="Shape 5"/>
          <p:cNvSpPr/>
          <p:nvPr/>
        </p:nvSpPr>
        <p:spPr>
          <a:xfrm>
            <a:off x="6281928" y="1417320"/>
            <a:ext cx="5297119" cy="994410"/>
          </a:xfrm>
          <a:prstGeom prst="roundRect">
            <a:avLst>
              <a:gd name="adj" fmla="val 11034"/>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8" name="Shape 6"/>
          <p:cNvSpPr/>
          <p:nvPr/>
        </p:nvSpPr>
        <p:spPr>
          <a:xfrm>
            <a:off x="6437376" y="1631061"/>
            <a:ext cx="566928" cy="566928"/>
          </a:xfrm>
          <a:prstGeom prst="ellipse">
            <a:avLst/>
          </a:prstGeom>
          <a:solidFill>
            <a:srgbClr val="0B2350"/>
          </a:solidFill>
          <a:ln w="12700">
            <a:solidFill>
              <a:srgbClr val="0B2350"/>
            </a:solidFill>
            <a:prstDash val="solid"/>
          </a:ln>
        </p:spPr>
      </p:sp>
      <p:sp>
        <p:nvSpPr>
          <p:cNvPr id="9" name="Icono lock"/>
          <p:cNvSpPr/>
          <p:nvPr/>
        </p:nvSpPr>
        <p:spPr>
          <a:xfrm>
            <a:off x="6573439" y="1767124"/>
            <a:ext cx="294803" cy="294803"/>
          </a:xfrm>
          <a:custGeom>
            <a:avLst/>
            <a:gdLst/>
            <a:ahLst/>
            <a:cxnLst/>
            <a:rect l="l" t="t" r="r" b="b"/>
            <a:pathLst>
              <a:path w="294803" h="294803">
                <a:moveTo>
                  <a:pt x="61417" y="135118"/>
                </a:moveTo>
                <a:lnTo>
                  <a:pt x="233385" y="135118"/>
                </a:lnTo>
                <a:cubicBezTo>
                  <a:pt x="246953" y="135118"/>
                  <a:pt x="257952" y="146117"/>
                  <a:pt x="257952" y="159685"/>
                </a:cubicBezTo>
                <a:lnTo>
                  <a:pt x="257952" y="245669"/>
                </a:lnTo>
                <a:cubicBezTo>
                  <a:pt x="257952" y="259237"/>
                  <a:pt x="246953" y="270236"/>
                  <a:pt x="233385" y="270236"/>
                </a:cubicBezTo>
                <a:lnTo>
                  <a:pt x="61417" y="270236"/>
                </a:lnTo>
                <a:cubicBezTo>
                  <a:pt x="47849" y="270236"/>
                  <a:pt x="36850" y="259237"/>
                  <a:pt x="36850" y="245669"/>
                </a:cubicBezTo>
                <a:lnTo>
                  <a:pt x="36850" y="159685"/>
                </a:lnTo>
                <a:cubicBezTo>
                  <a:pt x="36850" y="146117"/>
                  <a:pt x="47849" y="135118"/>
                  <a:pt x="61417" y="135118"/>
                </a:cubicBezTo>
                <a:close/>
                <a:moveTo>
                  <a:pt x="85984" y="135118"/>
                </a:moveTo>
                <a:lnTo>
                  <a:pt x="85984" y="85984"/>
                </a:lnTo>
                <a:cubicBezTo>
                  <a:pt x="85984" y="52064"/>
                  <a:pt x="113481" y="24567"/>
                  <a:pt x="147401" y="24567"/>
                </a:cubicBezTo>
                <a:cubicBezTo>
                  <a:pt x="181321" y="24567"/>
                  <a:pt x="208818" y="52064"/>
                  <a:pt x="208818" y="85984"/>
                </a:cubicBezTo>
                <a:lnTo>
                  <a:pt x="208818" y="135118"/>
                </a:lnTo>
              </a:path>
            </a:pathLst>
          </a:custGeom>
          <a:noFill/>
          <a:ln w="24567" cap="rnd">
            <a:solidFill>
              <a:srgbClr val="FFFFFF"/>
            </a:solidFill>
            <a:prstDash val="solid"/>
            <a:round/>
          </a:ln>
        </p:spPr>
      </p:sp>
      <p:sp>
        <p:nvSpPr>
          <p:cNvPr id="10" name="Text 8"/>
          <p:cNvSpPr/>
          <p:nvPr/>
        </p:nvSpPr>
        <p:spPr>
          <a:xfrm>
            <a:off x="7150608" y="1417320"/>
            <a:ext cx="429127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solicitud es un record: datos que no cambian</a:t>
            </a:r>
            <a:endParaRPr lang="en-US" sz="1600" dirty="0"/>
          </a:p>
        </p:txBody>
      </p:sp>
      <p:sp>
        <p:nvSpPr>
          <p:cNvPr id="11" name="Shape 9"/>
          <p:cNvSpPr/>
          <p:nvPr/>
        </p:nvSpPr>
        <p:spPr>
          <a:xfrm>
            <a:off x="6281928" y="2558034"/>
            <a:ext cx="5297119" cy="994410"/>
          </a:xfrm>
          <a:prstGeom prst="roundRect">
            <a:avLst>
              <a:gd name="adj" fmla="val 11034"/>
            </a:avLst>
          </a:prstGeom>
          <a:solidFill>
            <a:srgbClr val="E3F4FA"/>
          </a:solidFill>
          <a:ln w="15875">
            <a:solidFill>
              <a:srgbClr val="2BA6CB"/>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6437376" y="2771775"/>
            <a:ext cx="566928" cy="566928"/>
          </a:xfrm>
          <a:prstGeom prst="ellipse">
            <a:avLst/>
          </a:prstGeom>
          <a:solidFill>
            <a:srgbClr val="0B6E8A"/>
          </a:solidFill>
          <a:ln w="12700">
            <a:solidFill>
              <a:srgbClr val="0B6E8A"/>
            </a:solidFill>
            <a:prstDash val="solid"/>
          </a:ln>
        </p:spPr>
      </p:sp>
      <p:sp>
        <p:nvSpPr>
          <p:cNvPr id="13" name="Icono send"/>
          <p:cNvSpPr/>
          <p:nvPr/>
        </p:nvSpPr>
        <p:spPr>
          <a:xfrm>
            <a:off x="6573439" y="2907838"/>
            <a:ext cx="294803" cy="294803"/>
          </a:xfrm>
          <a:custGeom>
            <a:avLst/>
            <a:gdLst/>
            <a:ahLst/>
            <a:cxnLst/>
            <a:rect l="l" t="t" r="r" b="b"/>
            <a:pathLst>
              <a:path w="294803" h="294803">
                <a:moveTo>
                  <a:pt x="178552" y="266379"/>
                </a:moveTo>
                <a:cubicBezTo>
                  <a:pt x="179508" y="268761"/>
                  <a:pt x="181844" y="270297"/>
                  <a:pt x="184409" y="270231"/>
                </a:cubicBezTo>
                <a:cubicBezTo>
                  <a:pt x="186975" y="270166"/>
                  <a:pt x="189229" y="268512"/>
                  <a:pt x="190062" y="266084"/>
                </a:cubicBezTo>
                <a:lnTo>
                  <a:pt x="269904" y="32699"/>
                </a:lnTo>
                <a:cubicBezTo>
                  <a:pt x="270707" y="30477"/>
                  <a:pt x="270152" y="27991"/>
                  <a:pt x="268482" y="26321"/>
                </a:cubicBezTo>
                <a:cubicBezTo>
                  <a:pt x="266811" y="24650"/>
                  <a:pt x="264326" y="24096"/>
                  <a:pt x="262104" y="24899"/>
                </a:cubicBezTo>
                <a:lnTo>
                  <a:pt x="28719" y="104741"/>
                </a:lnTo>
                <a:cubicBezTo>
                  <a:pt x="26291" y="105573"/>
                  <a:pt x="24637" y="107828"/>
                  <a:pt x="24571" y="110393"/>
                </a:cubicBezTo>
                <a:cubicBezTo>
                  <a:pt x="24506" y="112959"/>
                  <a:pt x="26042" y="115295"/>
                  <a:pt x="28424" y="116250"/>
                </a:cubicBezTo>
                <a:lnTo>
                  <a:pt x="125832" y="155312"/>
                </a:lnTo>
                <a:cubicBezTo>
                  <a:pt x="132054" y="157803"/>
                  <a:pt x="136988" y="162729"/>
                  <a:pt x="139491" y="168946"/>
                </a:cubicBezTo>
                <a:close/>
                <a:moveTo>
                  <a:pt x="268442" y="26373"/>
                </a:moveTo>
                <a:lnTo>
                  <a:pt x="134061" y="160741"/>
                </a:lnTo>
              </a:path>
            </a:pathLst>
          </a:custGeom>
          <a:noFill/>
          <a:ln w="24567" cap="rnd">
            <a:solidFill>
              <a:srgbClr val="FFFFFF"/>
            </a:solidFill>
            <a:prstDash val="solid"/>
            <a:round/>
          </a:ln>
        </p:spPr>
      </p:sp>
      <p:sp>
        <p:nvSpPr>
          <p:cNvPr id="14" name="Text 12"/>
          <p:cNvSpPr/>
          <p:nvPr/>
        </p:nvSpPr>
        <p:spPr>
          <a:xfrm>
            <a:off x="7150608" y="2558034"/>
            <a:ext cx="429127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Solo se envía si está en BORRADOR</a:t>
            </a:r>
            <a:endParaRPr lang="en-US" sz="1600" dirty="0"/>
          </a:p>
        </p:txBody>
      </p:sp>
      <p:sp>
        <p:nvSpPr>
          <p:cNvPr id="15" name="Shape 13"/>
          <p:cNvSpPr/>
          <p:nvPr/>
        </p:nvSpPr>
        <p:spPr>
          <a:xfrm>
            <a:off x="6281928" y="3698748"/>
            <a:ext cx="5297119" cy="994410"/>
          </a:xfrm>
          <a:prstGeom prst="roundRect">
            <a:avLst>
              <a:gd name="adj" fmla="val 11034"/>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437376" y="3912489"/>
            <a:ext cx="566928" cy="566928"/>
          </a:xfrm>
          <a:prstGeom prst="ellipse">
            <a:avLst/>
          </a:prstGeom>
          <a:solidFill>
            <a:srgbClr val="0B6E8A"/>
          </a:solidFill>
          <a:ln w="12700">
            <a:solidFill>
              <a:srgbClr val="0B6E8A"/>
            </a:solidFill>
            <a:prstDash val="solid"/>
          </a:ln>
        </p:spPr>
      </p:sp>
      <p:sp>
        <p:nvSpPr>
          <p:cNvPr id="17" name="Icono triangle-alert"/>
          <p:cNvSpPr/>
          <p:nvPr/>
        </p:nvSpPr>
        <p:spPr>
          <a:xfrm>
            <a:off x="6573439" y="4048552"/>
            <a:ext cx="294803" cy="294803"/>
          </a:xfrm>
          <a:custGeom>
            <a:avLst/>
            <a:gdLst/>
            <a:ahLst/>
            <a:cxnLst/>
            <a:rect l="l" t="t" r="r" b="b"/>
            <a:pathLst>
              <a:path w="294803" h="294803">
                <a:moveTo>
                  <a:pt x="266919" y="221102"/>
                </a:moveTo>
                <a:lnTo>
                  <a:pt x="168652" y="49134"/>
                </a:lnTo>
                <a:cubicBezTo>
                  <a:pt x="164290" y="41437"/>
                  <a:pt x="156126" y="36680"/>
                  <a:pt x="147278" y="36680"/>
                </a:cubicBezTo>
                <a:cubicBezTo>
                  <a:pt x="138431" y="36680"/>
                  <a:pt x="130267" y="41437"/>
                  <a:pt x="125905" y="49134"/>
                </a:cubicBezTo>
                <a:lnTo>
                  <a:pt x="27638" y="221102"/>
                </a:lnTo>
                <a:cubicBezTo>
                  <a:pt x="23229" y="228737"/>
                  <a:pt x="23250" y="238149"/>
                  <a:pt x="27692" y="245765"/>
                </a:cubicBezTo>
                <a:cubicBezTo>
                  <a:pt x="32135" y="253380"/>
                  <a:pt x="40318" y="258032"/>
                  <a:pt x="49134" y="257952"/>
                </a:cubicBezTo>
                <a:lnTo>
                  <a:pt x="245669" y="257952"/>
                </a:lnTo>
                <a:cubicBezTo>
                  <a:pt x="254441" y="257943"/>
                  <a:pt x="262543" y="253257"/>
                  <a:pt x="266925" y="245658"/>
                </a:cubicBezTo>
                <a:cubicBezTo>
                  <a:pt x="271308" y="238059"/>
                  <a:pt x="271305" y="228699"/>
                  <a:pt x="266919" y="221102"/>
                </a:cubicBezTo>
                <a:moveTo>
                  <a:pt x="147401" y="110551"/>
                </a:moveTo>
                <a:lnTo>
                  <a:pt x="147401" y="159685"/>
                </a:lnTo>
                <a:moveTo>
                  <a:pt x="147401" y="208818"/>
                </a:moveTo>
                <a:lnTo>
                  <a:pt x="147524" y="208818"/>
                </a:lnTo>
              </a:path>
            </a:pathLst>
          </a:custGeom>
          <a:noFill/>
          <a:ln w="24567" cap="rnd">
            <a:solidFill>
              <a:srgbClr val="FFFFFF"/>
            </a:solidFill>
            <a:prstDash val="solid"/>
            <a:round/>
          </a:ln>
        </p:spPr>
      </p:sp>
      <p:sp>
        <p:nvSpPr>
          <p:cNvPr id="18" name="Text 16"/>
          <p:cNvSpPr/>
          <p:nvPr/>
        </p:nvSpPr>
        <p:spPr>
          <a:xfrm>
            <a:off x="7150608" y="3698748"/>
            <a:ext cx="429127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 no, lanza una excepción del dominio</a:t>
            </a:r>
            <a:endParaRPr lang="en-US" sz="1600" dirty="0"/>
          </a:p>
        </p:txBody>
      </p:sp>
      <p:sp>
        <p:nvSpPr>
          <p:cNvPr id="19" name="Shape 17"/>
          <p:cNvSpPr/>
          <p:nvPr/>
        </p:nvSpPr>
        <p:spPr>
          <a:xfrm>
            <a:off x="6281928" y="4839462"/>
            <a:ext cx="5297119" cy="994410"/>
          </a:xfrm>
          <a:prstGeom prst="roundRect">
            <a:avLst>
              <a:gd name="adj" fmla="val 11034"/>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437376" y="5053203"/>
            <a:ext cx="566928" cy="566928"/>
          </a:xfrm>
          <a:prstGeom prst="ellipse">
            <a:avLst/>
          </a:prstGeom>
          <a:solidFill>
            <a:srgbClr val="0A6648"/>
          </a:solidFill>
          <a:ln w="12700">
            <a:solidFill>
              <a:srgbClr val="0A6648"/>
            </a:solidFill>
            <a:prstDash val="solid"/>
          </a:ln>
        </p:spPr>
      </p:sp>
      <p:sp>
        <p:nvSpPr>
          <p:cNvPr id="21" name="Icono shield"/>
          <p:cNvSpPr/>
          <p:nvPr/>
        </p:nvSpPr>
        <p:spPr>
          <a:xfrm>
            <a:off x="6573439" y="5189266"/>
            <a:ext cx="294803" cy="294803"/>
          </a:xfrm>
          <a:custGeom>
            <a:avLst/>
            <a:gdLst/>
            <a:ahLst/>
            <a:cxnLst/>
            <a:rect l="l" t="t" r="r" b="b"/>
            <a:pathLst>
              <a:path w="294803" h="294803">
                <a:moveTo>
                  <a:pt x="245669" y="159685"/>
                </a:moveTo>
                <a:cubicBezTo>
                  <a:pt x="245669" y="221102"/>
                  <a:pt x="202677" y="251811"/>
                  <a:pt x="151578" y="269622"/>
                </a:cubicBezTo>
                <a:cubicBezTo>
                  <a:pt x="148902" y="270528"/>
                  <a:pt x="145995" y="270485"/>
                  <a:pt x="143348" y="269499"/>
                </a:cubicBezTo>
                <a:cubicBezTo>
                  <a:pt x="92126" y="251811"/>
                  <a:pt x="49134" y="221102"/>
                  <a:pt x="49134" y="159685"/>
                </a:cubicBezTo>
                <a:lnTo>
                  <a:pt x="49134" y="73701"/>
                </a:lnTo>
                <a:cubicBezTo>
                  <a:pt x="49134" y="66917"/>
                  <a:pt x="54633" y="61417"/>
                  <a:pt x="61417" y="61417"/>
                </a:cubicBezTo>
                <a:cubicBezTo>
                  <a:pt x="85984" y="61417"/>
                  <a:pt x="116693" y="46677"/>
                  <a:pt x="138066" y="28006"/>
                </a:cubicBezTo>
                <a:cubicBezTo>
                  <a:pt x="143442" y="23413"/>
                  <a:pt x="151361" y="23413"/>
                  <a:pt x="156737" y="28006"/>
                </a:cubicBezTo>
                <a:cubicBezTo>
                  <a:pt x="178233" y="46800"/>
                  <a:pt x="208818" y="61417"/>
                  <a:pt x="233385" y="61417"/>
                </a:cubicBezTo>
                <a:cubicBezTo>
                  <a:pt x="240169" y="61417"/>
                  <a:pt x="245669" y="66917"/>
                  <a:pt x="245669" y="73701"/>
                </a:cubicBezTo>
                <a:close/>
              </a:path>
            </a:pathLst>
          </a:custGeom>
          <a:noFill/>
          <a:ln w="24567" cap="rnd">
            <a:solidFill>
              <a:srgbClr val="FFFFFF"/>
            </a:solidFill>
            <a:prstDash val="solid"/>
            <a:round/>
          </a:ln>
        </p:spPr>
      </p:sp>
      <p:sp>
        <p:nvSpPr>
          <p:cNvPr id="22" name="Text 20"/>
          <p:cNvSpPr/>
          <p:nvPr/>
        </p:nvSpPr>
        <p:spPr>
          <a:xfrm>
            <a:off x="7150608" y="4839462"/>
            <a:ext cx="429127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 sabe nada de HTTP ni de bases de datos</a:t>
            </a:r>
            <a:endParaRPr lang="en-US" sz="1600" dirty="0"/>
          </a:p>
        </p:txBody>
      </p:sp>
      <p:sp>
        <p:nvSpPr>
          <p:cNvPr id="23" name="Shape 21"/>
          <p:cNvSpPr/>
          <p:nvPr/>
        </p:nvSpPr>
        <p:spPr>
          <a:xfrm>
            <a:off x="0" y="5961888"/>
            <a:ext cx="12191695" cy="475488"/>
          </a:xfrm>
          <a:prstGeom prst="rect">
            <a:avLst/>
          </a:prstGeom>
          <a:solidFill>
            <a:srgbClr val="0B2350"/>
          </a:solidFill>
          <a:ln w="12700">
            <a:solidFill>
              <a:srgbClr val="0B2350"/>
            </a:solidFill>
            <a:prstDash val="solid"/>
          </a:ln>
        </p:spPr>
      </p:sp>
      <p:sp>
        <p:nvSpPr>
          <p:cNvPr id="24"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25" name="Text 23"/>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mañana cambia la regla, se cambia en un solo archivo y las pruebas lo confirman.</a:t>
            </a:r>
            <a:endParaRPr lang="en-US" sz="1400" dirty="0"/>
          </a:p>
        </p:txBody>
      </p:sp>
      <p:sp>
        <p:nvSpPr>
          <p:cNvPr id="26" name="Text 2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Manejo global de errores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solo lugar convierte los errores en respuestas claras.</a:t>
            </a:r>
            <a:endParaRPr lang="en-US" sz="1700" dirty="0"/>
          </a:p>
        </p:txBody>
      </p:sp>
      <p:sp>
        <p:nvSpPr>
          <p:cNvPr id="6" name="Shape 4"/>
          <p:cNvSpPr/>
          <p:nvPr/>
        </p:nvSpPr>
        <p:spPr>
          <a:xfrm>
            <a:off x="612648"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2320976" cy="64008"/>
          </a:xfrm>
          <a:prstGeom prst="rect">
            <a:avLst/>
          </a:prstGeom>
          <a:solidFill>
            <a:srgbClr val="0A6648"/>
          </a:solidFill>
          <a:ln w="12700">
            <a:solidFill>
              <a:srgbClr val="0A6648"/>
            </a:solidFill>
            <a:prstDash val="solid"/>
          </a:ln>
        </p:spPr>
      </p:sp>
      <p:sp>
        <p:nvSpPr>
          <p:cNvPr id="8" name="Shape 6"/>
          <p:cNvSpPr/>
          <p:nvPr/>
        </p:nvSpPr>
        <p:spPr>
          <a:xfrm>
            <a:off x="2403272" y="1956816"/>
            <a:ext cx="566928" cy="566928"/>
          </a:xfrm>
          <a:prstGeom prst="ellipse">
            <a:avLst/>
          </a:prstGeom>
          <a:solidFill>
            <a:srgbClr val="E1F1EA"/>
          </a:solidFill>
          <a:ln w="12700">
            <a:solidFill>
              <a:srgbClr val="E1F1EA"/>
            </a:solidFill>
            <a:prstDash val="solid"/>
          </a:ln>
        </p:spPr>
      </p:sp>
      <p:sp>
        <p:nvSpPr>
          <p:cNvPr id="9" name="Icono circle-check"/>
          <p:cNvSpPr/>
          <p:nvPr/>
        </p:nvSpPr>
        <p:spPr>
          <a:xfrm>
            <a:off x="2539335"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10551" y="147401"/>
                </a:moveTo>
                <a:lnTo>
                  <a:pt x="135118" y="171968"/>
                </a:lnTo>
                <a:lnTo>
                  <a:pt x="184252" y="122834"/>
                </a:lnTo>
              </a:path>
            </a:pathLst>
          </a:custGeom>
          <a:noFill/>
          <a:ln w="24567" cap="rnd">
            <a:solidFill>
              <a:srgbClr val="0A6648"/>
            </a:solidFill>
            <a:prstDash val="solid"/>
            <a:round/>
          </a:ln>
        </p:spPr>
      </p:sp>
      <p:sp>
        <p:nvSpPr>
          <p:cNvPr id="10" name="Text 8"/>
          <p:cNvSpPr/>
          <p:nvPr/>
        </p:nvSpPr>
        <p:spPr>
          <a:xfrm>
            <a:off x="868680"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201</a:t>
            </a:r>
            <a:endParaRPr lang="en-US" sz="5600" dirty="0"/>
          </a:p>
        </p:txBody>
      </p:sp>
      <p:sp>
        <p:nvSpPr>
          <p:cNvPr id="11" name="Text 9"/>
          <p:cNvSpPr/>
          <p:nvPr/>
        </p:nvSpPr>
        <p:spPr>
          <a:xfrm>
            <a:off x="868680"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Creada</a:t>
            </a:r>
            <a:endParaRPr lang="en-US" sz="1500" dirty="0"/>
          </a:p>
        </p:txBody>
      </p:sp>
      <p:sp>
        <p:nvSpPr>
          <p:cNvPr id="12" name="Text 10"/>
          <p:cNvSpPr/>
          <p:nvPr/>
        </p:nvSpPr>
        <p:spPr>
          <a:xfrm>
            <a:off x="868680"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Todo salió bien: la solicitud quedó en BORRADOR.</a:t>
            </a:r>
            <a:endParaRPr lang="en-US" sz="1200" dirty="0"/>
          </a:p>
        </p:txBody>
      </p:sp>
      <p:sp>
        <p:nvSpPr>
          <p:cNvPr id="13" name="Shape 11"/>
          <p:cNvSpPr/>
          <p:nvPr/>
        </p:nvSpPr>
        <p:spPr>
          <a:xfrm>
            <a:off x="3409112"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3537128" y="1719072"/>
            <a:ext cx="2320976" cy="64008"/>
          </a:xfrm>
          <a:prstGeom prst="rect">
            <a:avLst/>
          </a:prstGeom>
          <a:solidFill>
            <a:srgbClr val="8A4B06"/>
          </a:solidFill>
          <a:ln w="12700">
            <a:solidFill>
              <a:srgbClr val="8A4B06"/>
            </a:solidFill>
            <a:prstDash val="solid"/>
          </a:ln>
        </p:spPr>
      </p:sp>
      <p:sp>
        <p:nvSpPr>
          <p:cNvPr id="15" name="Shape 13"/>
          <p:cNvSpPr/>
          <p:nvPr/>
        </p:nvSpPr>
        <p:spPr>
          <a:xfrm>
            <a:off x="5199736" y="1956816"/>
            <a:ext cx="566928" cy="566928"/>
          </a:xfrm>
          <a:prstGeom prst="ellipse">
            <a:avLst/>
          </a:prstGeom>
          <a:solidFill>
            <a:srgbClr val="FCEFD6"/>
          </a:solidFill>
          <a:ln w="12700">
            <a:solidFill>
              <a:srgbClr val="FCEFD6"/>
            </a:solidFill>
            <a:prstDash val="solid"/>
          </a:ln>
        </p:spPr>
      </p:sp>
      <p:sp>
        <p:nvSpPr>
          <p:cNvPr id="16" name="Icono triangle-alert"/>
          <p:cNvSpPr/>
          <p:nvPr/>
        </p:nvSpPr>
        <p:spPr>
          <a:xfrm>
            <a:off x="5335798" y="2092879"/>
            <a:ext cx="294803" cy="294803"/>
          </a:xfrm>
          <a:custGeom>
            <a:avLst/>
            <a:gdLst/>
            <a:ahLst/>
            <a:cxnLst/>
            <a:rect l="l" t="t" r="r" b="b"/>
            <a:pathLst>
              <a:path w="294803" h="294803">
                <a:moveTo>
                  <a:pt x="266919" y="221102"/>
                </a:moveTo>
                <a:lnTo>
                  <a:pt x="168652" y="49134"/>
                </a:lnTo>
                <a:cubicBezTo>
                  <a:pt x="164290" y="41437"/>
                  <a:pt x="156126" y="36680"/>
                  <a:pt x="147278" y="36680"/>
                </a:cubicBezTo>
                <a:cubicBezTo>
                  <a:pt x="138431" y="36680"/>
                  <a:pt x="130267" y="41437"/>
                  <a:pt x="125905" y="49134"/>
                </a:cubicBezTo>
                <a:lnTo>
                  <a:pt x="27638" y="221102"/>
                </a:lnTo>
                <a:cubicBezTo>
                  <a:pt x="23229" y="228737"/>
                  <a:pt x="23250" y="238149"/>
                  <a:pt x="27692" y="245765"/>
                </a:cubicBezTo>
                <a:cubicBezTo>
                  <a:pt x="32135" y="253380"/>
                  <a:pt x="40318" y="258032"/>
                  <a:pt x="49134" y="257952"/>
                </a:cubicBezTo>
                <a:lnTo>
                  <a:pt x="245669" y="257952"/>
                </a:lnTo>
                <a:cubicBezTo>
                  <a:pt x="254441" y="257943"/>
                  <a:pt x="262543" y="253257"/>
                  <a:pt x="266925" y="245658"/>
                </a:cubicBezTo>
                <a:cubicBezTo>
                  <a:pt x="271308" y="238059"/>
                  <a:pt x="271305" y="228699"/>
                  <a:pt x="266919" y="221102"/>
                </a:cubicBezTo>
                <a:moveTo>
                  <a:pt x="147401" y="110551"/>
                </a:moveTo>
                <a:lnTo>
                  <a:pt x="147401" y="159685"/>
                </a:lnTo>
                <a:moveTo>
                  <a:pt x="147401" y="208818"/>
                </a:moveTo>
                <a:lnTo>
                  <a:pt x="147524" y="208818"/>
                </a:lnTo>
              </a:path>
            </a:pathLst>
          </a:custGeom>
          <a:noFill/>
          <a:ln w="24567" cap="rnd">
            <a:solidFill>
              <a:srgbClr val="8A4B06"/>
            </a:solidFill>
            <a:prstDash val="solid"/>
            <a:round/>
          </a:ln>
        </p:spPr>
      </p:sp>
      <p:sp>
        <p:nvSpPr>
          <p:cNvPr id="17" name="Text 15"/>
          <p:cNvSpPr/>
          <p:nvPr/>
        </p:nvSpPr>
        <p:spPr>
          <a:xfrm>
            <a:off x="3665144"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8A4B06"/>
                </a:solidFill>
                <a:latin typeface="Segoe UI Semibold" pitchFamily="34" charset="0"/>
                <a:ea typeface="Segoe UI Semibold" pitchFamily="34" charset="-122"/>
                <a:cs typeface="Segoe UI Semibold" pitchFamily="34" charset="-120"/>
              </a:rPr>
              <a:t>400</a:t>
            </a:r>
            <a:endParaRPr lang="en-US" sz="5600" dirty="0"/>
          </a:p>
        </p:txBody>
      </p:sp>
      <p:sp>
        <p:nvSpPr>
          <p:cNvPr id="18" name="Text 16"/>
          <p:cNvSpPr/>
          <p:nvPr/>
        </p:nvSpPr>
        <p:spPr>
          <a:xfrm>
            <a:off x="3665144"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Faltan datos</a:t>
            </a:r>
            <a:endParaRPr lang="en-US" sz="1500" dirty="0"/>
          </a:p>
        </p:txBody>
      </p:sp>
      <p:sp>
        <p:nvSpPr>
          <p:cNvPr id="19" name="Text 17"/>
          <p:cNvSpPr/>
          <p:nvPr/>
        </p:nvSpPr>
        <p:spPr>
          <a:xfrm>
            <a:off x="3665144"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o el tipo vienen vacíos.</a:t>
            </a:r>
            <a:endParaRPr lang="en-US" sz="1200" dirty="0"/>
          </a:p>
        </p:txBody>
      </p:sp>
      <p:sp>
        <p:nvSpPr>
          <p:cNvPr id="20" name="Shape 18"/>
          <p:cNvSpPr/>
          <p:nvPr/>
        </p:nvSpPr>
        <p:spPr>
          <a:xfrm>
            <a:off x="6205576"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333592" y="1719072"/>
            <a:ext cx="2320976" cy="64008"/>
          </a:xfrm>
          <a:prstGeom prst="rect">
            <a:avLst/>
          </a:prstGeom>
          <a:solidFill>
            <a:srgbClr val="55627E"/>
          </a:solidFill>
          <a:ln w="12700">
            <a:solidFill>
              <a:srgbClr val="55627E"/>
            </a:solidFill>
            <a:prstDash val="solid"/>
          </a:ln>
        </p:spPr>
      </p:sp>
      <p:sp>
        <p:nvSpPr>
          <p:cNvPr id="22" name="Shape 20"/>
          <p:cNvSpPr/>
          <p:nvPr/>
        </p:nvSpPr>
        <p:spPr>
          <a:xfrm>
            <a:off x="7996199" y="1956816"/>
            <a:ext cx="566928" cy="566928"/>
          </a:xfrm>
          <a:prstGeom prst="ellipse">
            <a:avLst/>
          </a:prstGeom>
          <a:solidFill>
            <a:srgbClr val="F4F7FB"/>
          </a:solidFill>
          <a:ln w="12700">
            <a:solidFill>
              <a:srgbClr val="F4F7FB"/>
            </a:solidFill>
            <a:prstDash val="solid"/>
          </a:ln>
        </p:spPr>
      </p:sp>
      <p:sp>
        <p:nvSpPr>
          <p:cNvPr id="23" name="Icono search"/>
          <p:cNvSpPr/>
          <p:nvPr/>
        </p:nvSpPr>
        <p:spPr>
          <a:xfrm>
            <a:off x="8132262" y="2092879"/>
            <a:ext cx="294803" cy="294803"/>
          </a:xfrm>
          <a:custGeom>
            <a:avLst/>
            <a:gdLst/>
            <a:ahLst/>
            <a:cxnLst/>
            <a:rect l="l" t="t" r="r" b="b"/>
            <a:pathLst>
              <a:path w="294803" h="294803">
                <a:moveTo>
                  <a:pt x="233385" y="135118"/>
                </a:moveTo>
                <a:cubicBezTo>
                  <a:pt x="233385" y="189389"/>
                  <a:pt x="189389" y="233385"/>
                  <a:pt x="135118" y="233385"/>
                </a:cubicBezTo>
                <a:cubicBezTo>
                  <a:pt x="80846" y="233385"/>
                  <a:pt x="36850" y="189389"/>
                  <a:pt x="36850" y="135118"/>
                </a:cubicBezTo>
                <a:cubicBezTo>
                  <a:pt x="36850" y="80846"/>
                  <a:pt x="80846" y="36850"/>
                  <a:pt x="135118" y="36850"/>
                </a:cubicBezTo>
                <a:cubicBezTo>
                  <a:pt x="189389" y="36850"/>
                  <a:pt x="233385" y="80846"/>
                  <a:pt x="233385" y="135118"/>
                </a:cubicBezTo>
                <a:close/>
                <a:moveTo>
                  <a:pt x="257952" y="257952"/>
                </a:moveTo>
                <a:lnTo>
                  <a:pt x="205133" y="205133"/>
                </a:lnTo>
              </a:path>
            </a:pathLst>
          </a:custGeom>
          <a:noFill/>
          <a:ln w="24567" cap="rnd">
            <a:solidFill>
              <a:srgbClr val="55627E"/>
            </a:solidFill>
            <a:prstDash val="solid"/>
            <a:round/>
          </a:ln>
        </p:spPr>
      </p:sp>
      <p:sp>
        <p:nvSpPr>
          <p:cNvPr id="24" name="Text 22"/>
          <p:cNvSpPr/>
          <p:nvPr/>
        </p:nvSpPr>
        <p:spPr>
          <a:xfrm>
            <a:off x="6461608"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55627E"/>
                </a:solidFill>
                <a:latin typeface="Segoe UI Semibold" pitchFamily="34" charset="0"/>
                <a:ea typeface="Segoe UI Semibold" pitchFamily="34" charset="-122"/>
                <a:cs typeface="Segoe UI Semibold" pitchFamily="34" charset="-120"/>
              </a:rPr>
              <a:t>404</a:t>
            </a:r>
            <a:endParaRPr lang="en-US" sz="5600" dirty="0"/>
          </a:p>
        </p:txBody>
      </p:sp>
      <p:sp>
        <p:nvSpPr>
          <p:cNvPr id="25" name="Text 23"/>
          <p:cNvSpPr/>
          <p:nvPr/>
        </p:nvSpPr>
        <p:spPr>
          <a:xfrm>
            <a:off x="6461608"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No existe</a:t>
            </a:r>
            <a:endParaRPr lang="en-US" sz="1500" dirty="0"/>
          </a:p>
        </p:txBody>
      </p:sp>
      <p:sp>
        <p:nvSpPr>
          <p:cNvPr id="26" name="Text 24"/>
          <p:cNvSpPr/>
          <p:nvPr/>
        </p:nvSpPr>
        <p:spPr>
          <a:xfrm>
            <a:off x="6461608"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No hay ninguna solicitud con ese identificador.</a:t>
            </a:r>
            <a:endParaRPr lang="en-US" sz="1200" dirty="0"/>
          </a:p>
        </p:txBody>
      </p:sp>
      <p:sp>
        <p:nvSpPr>
          <p:cNvPr id="27" name="Shape 25"/>
          <p:cNvSpPr/>
          <p:nvPr/>
        </p:nvSpPr>
        <p:spPr>
          <a:xfrm>
            <a:off x="9002039"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9130055" y="1719072"/>
            <a:ext cx="2320976" cy="64008"/>
          </a:xfrm>
          <a:prstGeom prst="rect">
            <a:avLst/>
          </a:prstGeom>
          <a:solidFill>
            <a:srgbClr val="AB243E"/>
          </a:solidFill>
          <a:ln w="12700">
            <a:solidFill>
              <a:srgbClr val="AB243E"/>
            </a:solidFill>
            <a:prstDash val="solid"/>
          </a:ln>
        </p:spPr>
      </p:sp>
      <p:sp>
        <p:nvSpPr>
          <p:cNvPr id="29" name="Shape 27"/>
          <p:cNvSpPr/>
          <p:nvPr/>
        </p:nvSpPr>
        <p:spPr>
          <a:xfrm>
            <a:off x="10792663" y="1956816"/>
            <a:ext cx="566928" cy="566928"/>
          </a:xfrm>
          <a:prstGeom prst="ellipse">
            <a:avLst/>
          </a:prstGeom>
          <a:solidFill>
            <a:srgbClr val="F7E3E7"/>
          </a:solidFill>
          <a:ln w="12700">
            <a:solidFill>
              <a:srgbClr val="F7E3E7"/>
            </a:solidFill>
            <a:prstDash val="solid"/>
          </a:ln>
        </p:spPr>
      </p:sp>
      <p:sp>
        <p:nvSpPr>
          <p:cNvPr id="30" name="Icono ban"/>
          <p:cNvSpPr/>
          <p:nvPr/>
        </p:nvSpPr>
        <p:spPr>
          <a:xfrm>
            <a:off x="10928726"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1" name="Text 29"/>
          <p:cNvSpPr/>
          <p:nvPr/>
        </p:nvSpPr>
        <p:spPr>
          <a:xfrm>
            <a:off x="9258071"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409</a:t>
            </a:r>
            <a:endParaRPr lang="en-US" sz="5600" dirty="0"/>
          </a:p>
        </p:txBody>
      </p:sp>
      <p:sp>
        <p:nvSpPr>
          <p:cNvPr id="32" name="Text 30"/>
          <p:cNvSpPr/>
          <p:nvPr/>
        </p:nvSpPr>
        <p:spPr>
          <a:xfrm>
            <a:off x="9258071"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Conflicto</a:t>
            </a:r>
            <a:endParaRPr lang="en-US" sz="1500" dirty="0"/>
          </a:p>
        </p:txBody>
      </p:sp>
      <p:sp>
        <p:nvSpPr>
          <p:cNvPr id="33" name="Text 31"/>
          <p:cNvSpPr/>
          <p:nvPr/>
        </p:nvSpPr>
        <p:spPr>
          <a:xfrm>
            <a:off x="9258071"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ya existe o el cambio no se permite.</a:t>
            </a:r>
            <a:endParaRPr lang="en-US" sz="1200" dirty="0"/>
          </a:p>
        </p:txBody>
      </p:sp>
      <p:sp>
        <p:nvSpPr>
          <p:cNvPr id="34" name="Shape 32"/>
          <p:cNvSpPr/>
          <p:nvPr/>
        </p:nvSpPr>
        <p:spPr>
          <a:xfrm>
            <a:off x="0" y="5961888"/>
            <a:ext cx="12191695" cy="475488"/>
          </a:xfrm>
          <a:prstGeom prst="rect">
            <a:avLst/>
          </a:prstGeom>
          <a:solidFill>
            <a:srgbClr val="0B2350"/>
          </a:solidFill>
          <a:ln w="12700">
            <a:solidFill>
              <a:srgbClr val="0B2350"/>
            </a:solidFill>
            <a:prstDash val="solid"/>
          </a:ln>
        </p:spPr>
      </p:sp>
      <p:sp>
        <p:nvSpPr>
          <p:cNvPr id="3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6" name="Text 3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La interfaz puede mostrarle a la persona exactamente qué pasó.</a:t>
            </a:r>
            <a:endParaRPr lang="en-US" sz="14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Documentar con Swagger</a:t>
            </a:r>
            <a:endParaRPr lang="en-US" sz="2800" dirty="0"/>
          </a:p>
        </p:txBody>
      </p:sp>
      <p:sp>
        <p:nvSpPr>
          <p:cNvPr id="5" name="Shape 3"/>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6" name="Shape 4"/>
          <p:cNvSpPr/>
          <p:nvPr/>
        </p:nvSpPr>
        <p:spPr>
          <a:xfrm>
            <a:off x="5020056" y="1446290"/>
            <a:ext cx="79358" cy="79358"/>
          </a:xfrm>
          <a:prstGeom prst="ellipse">
            <a:avLst/>
          </a:prstGeom>
          <a:solidFill>
            <a:srgbClr val="E5484D"/>
          </a:solidFill>
          <a:ln w="12700">
            <a:solidFill>
              <a:srgbClr val="E5484D"/>
            </a:solidFill>
            <a:prstDash val="solid"/>
          </a:ln>
        </p:spPr>
      </p:sp>
      <p:sp>
        <p:nvSpPr>
          <p:cNvPr id="7" name="Shape 5"/>
          <p:cNvSpPr/>
          <p:nvPr/>
        </p:nvSpPr>
        <p:spPr>
          <a:xfrm>
            <a:off x="5125088" y="1446290"/>
            <a:ext cx="79358" cy="79358"/>
          </a:xfrm>
          <a:prstGeom prst="ellipse">
            <a:avLst/>
          </a:prstGeom>
          <a:solidFill>
            <a:srgbClr val="F5A524"/>
          </a:solidFill>
          <a:ln w="12700">
            <a:solidFill>
              <a:srgbClr val="F5A524"/>
            </a:solidFill>
            <a:prstDash val="solid"/>
          </a:ln>
        </p:spPr>
      </p:sp>
      <p:sp>
        <p:nvSpPr>
          <p:cNvPr id="8" name="Shape 6"/>
          <p:cNvSpPr/>
          <p:nvPr/>
        </p:nvSpPr>
        <p:spPr>
          <a:xfrm>
            <a:off x="5230121" y="1446290"/>
            <a:ext cx="79358" cy="79358"/>
          </a:xfrm>
          <a:prstGeom prst="ellipse">
            <a:avLst/>
          </a:prstGeom>
          <a:solidFill>
            <a:srgbClr val="30A46C"/>
          </a:solidFill>
          <a:ln w="12700">
            <a:solidFill>
              <a:srgbClr val="30A46C"/>
            </a:solidFill>
            <a:prstDash val="solid"/>
          </a:ln>
        </p:spPr>
      </p:sp>
      <p:sp>
        <p:nvSpPr>
          <p:cNvPr id="9" name="Text 7"/>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0"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1" name="Shape 8"/>
          <p:cNvSpPr/>
          <p:nvPr/>
        </p:nvSpPr>
        <p:spPr>
          <a:xfrm>
            <a:off x="612648" y="1426464"/>
            <a:ext cx="73152" cy="822960"/>
          </a:xfrm>
          <a:prstGeom prst="rect">
            <a:avLst/>
          </a:prstGeom>
          <a:solidFill>
            <a:srgbClr val="2BA6CB"/>
          </a:solidFill>
          <a:ln w="12700">
            <a:solidFill>
              <a:srgbClr val="2BA6CB"/>
            </a:solidFill>
            <a:prstDash val="solid"/>
          </a:ln>
        </p:spPr>
      </p:sp>
      <p:sp>
        <p:nvSpPr>
          <p:cNvPr id="12" name="Text 9"/>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sale del mismo código.</a:t>
            </a:r>
            <a:endParaRPr lang="en-US" sz="2400" dirty="0"/>
          </a:p>
        </p:txBody>
      </p:sp>
      <p:sp>
        <p:nvSpPr>
          <p:cNvPr id="13" name="Shape 10"/>
          <p:cNvSpPr/>
          <p:nvPr/>
        </p:nvSpPr>
        <p:spPr>
          <a:xfrm>
            <a:off x="612648" y="2778633"/>
            <a:ext cx="420624" cy="420624"/>
          </a:xfrm>
          <a:prstGeom prst="ellipse">
            <a:avLst/>
          </a:prstGeom>
          <a:solidFill>
            <a:srgbClr val="E3F4FA"/>
          </a:solidFill>
          <a:ln w="12700">
            <a:solidFill>
              <a:srgbClr val="E3F4FA"/>
            </a:solidFill>
            <a:prstDash val="solid"/>
          </a:ln>
        </p:spPr>
      </p:sp>
      <p:sp>
        <p:nvSpPr>
          <p:cNvPr id="14"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15" name="Text 12"/>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con OpenAPI</a:t>
            </a:r>
            <a:endParaRPr lang="en-US" sz="1350" dirty="0"/>
          </a:p>
        </p:txBody>
      </p:sp>
      <p:sp>
        <p:nvSpPr>
          <p:cNvPr id="16" name="Shape 13"/>
          <p:cNvSpPr/>
          <p:nvPr/>
        </p:nvSpPr>
        <p:spPr>
          <a:xfrm>
            <a:off x="612648" y="3361563"/>
            <a:ext cx="420624" cy="420624"/>
          </a:xfrm>
          <a:prstGeom prst="ellipse">
            <a:avLst/>
          </a:prstGeom>
          <a:solidFill>
            <a:srgbClr val="E3F4FA"/>
          </a:solidFill>
          <a:ln w="12700">
            <a:solidFill>
              <a:srgbClr val="E3F4FA"/>
            </a:solidFill>
            <a:prstDash val="solid"/>
          </a:ln>
        </p:spPr>
      </p:sp>
      <p:sp>
        <p:nvSpPr>
          <p:cNvPr id="17" name="Icono book-open"/>
          <p:cNvSpPr/>
          <p:nvPr/>
        </p:nvSpPr>
        <p:spPr>
          <a:xfrm>
            <a:off x="713598" y="3462513"/>
            <a:ext cx="218724" cy="218724"/>
          </a:xfrm>
          <a:custGeom>
            <a:avLst/>
            <a:gdLst/>
            <a:ahLst/>
            <a:cxnLst/>
            <a:rect l="l" t="t" r="r" b="b"/>
            <a:pathLst>
              <a:path w="218724" h="218724">
                <a:moveTo>
                  <a:pt x="109362" y="63795"/>
                </a:moveTo>
                <a:lnTo>
                  <a:pt x="109362" y="191384"/>
                </a:lnTo>
                <a:moveTo>
                  <a:pt x="27341" y="164043"/>
                </a:moveTo>
                <a:cubicBezTo>
                  <a:pt x="22307" y="164043"/>
                  <a:pt x="18227" y="159963"/>
                  <a:pt x="18227" y="154930"/>
                </a:cubicBezTo>
                <a:lnTo>
                  <a:pt x="18227" y="36454"/>
                </a:lnTo>
                <a:cubicBezTo>
                  <a:pt x="18227" y="31421"/>
                  <a:pt x="22307" y="27341"/>
                  <a:pt x="27341" y="27341"/>
                </a:cubicBezTo>
                <a:lnTo>
                  <a:pt x="72908" y="27341"/>
                </a:lnTo>
                <a:cubicBezTo>
                  <a:pt x="93041" y="27341"/>
                  <a:pt x="109362" y="43662"/>
                  <a:pt x="109362" y="63795"/>
                </a:cubicBezTo>
                <a:cubicBezTo>
                  <a:pt x="109362" y="43662"/>
                  <a:pt x="125683" y="27341"/>
                  <a:pt x="145816" y="27341"/>
                </a:cubicBezTo>
                <a:lnTo>
                  <a:pt x="191384" y="27341"/>
                </a:lnTo>
                <a:cubicBezTo>
                  <a:pt x="196417" y="27341"/>
                  <a:pt x="200497" y="31421"/>
                  <a:pt x="200497" y="36454"/>
                </a:cubicBezTo>
                <a:lnTo>
                  <a:pt x="200497" y="154930"/>
                </a:lnTo>
                <a:cubicBezTo>
                  <a:pt x="200497" y="159963"/>
                  <a:pt x="196417" y="164043"/>
                  <a:pt x="191384" y="164043"/>
                </a:cubicBezTo>
                <a:lnTo>
                  <a:pt x="136703" y="164043"/>
                </a:lnTo>
                <a:cubicBezTo>
                  <a:pt x="121603" y="164043"/>
                  <a:pt x="109362" y="176284"/>
                  <a:pt x="109362" y="191384"/>
                </a:cubicBezTo>
                <a:cubicBezTo>
                  <a:pt x="109362" y="176284"/>
                  <a:pt x="97121" y="164043"/>
                  <a:pt x="82022" y="164043"/>
                </a:cubicBezTo>
                <a:close/>
              </a:path>
            </a:pathLst>
          </a:custGeom>
          <a:noFill/>
          <a:ln w="18227" cap="rnd">
            <a:solidFill>
              <a:srgbClr val="0B6E8A"/>
            </a:solidFill>
            <a:prstDash val="solid"/>
            <a:round/>
          </a:ln>
        </p:spPr>
      </p:sp>
      <p:sp>
        <p:nvSpPr>
          <p:cNvPr id="18" name="Text 15"/>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lo muestra como una página</a:t>
            </a:r>
            <a:endParaRPr lang="en-US" sz="1350" dirty="0"/>
          </a:p>
        </p:txBody>
      </p:sp>
      <p:sp>
        <p:nvSpPr>
          <p:cNvPr id="19" name="Shape 16"/>
          <p:cNvSpPr/>
          <p:nvPr/>
        </p:nvSpPr>
        <p:spPr>
          <a:xfrm>
            <a:off x="612648" y="3944493"/>
            <a:ext cx="420624" cy="420624"/>
          </a:xfrm>
          <a:prstGeom prst="ellipse">
            <a:avLst/>
          </a:prstGeom>
          <a:solidFill>
            <a:srgbClr val="E3F4FA"/>
          </a:solidFill>
          <a:ln w="12700">
            <a:solidFill>
              <a:srgbClr val="E3F4FA"/>
            </a:solidFill>
            <a:prstDash val="solid"/>
          </a:ln>
        </p:spPr>
      </p:sp>
      <p:sp>
        <p:nvSpPr>
          <p:cNvPr id="20" name="Icono play"/>
          <p:cNvSpPr/>
          <p:nvPr/>
        </p:nvSpPr>
        <p:spPr>
          <a:xfrm>
            <a:off x="713598" y="404544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1" name="Text 18"/>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Se puede probar cada endpoint desde ahí</a:t>
            </a:r>
            <a:endParaRPr lang="en-US" sz="1350" dirty="0"/>
          </a:p>
        </p:txBody>
      </p:sp>
      <p:sp>
        <p:nvSpPr>
          <p:cNvPr id="22" name="Shape 19"/>
          <p:cNvSpPr/>
          <p:nvPr/>
        </p:nvSpPr>
        <p:spPr>
          <a:xfrm>
            <a:off x="612648" y="4527423"/>
            <a:ext cx="420624" cy="420624"/>
          </a:xfrm>
          <a:prstGeom prst="ellipse">
            <a:avLst/>
          </a:prstGeom>
          <a:solidFill>
            <a:srgbClr val="E3F4FA"/>
          </a:solidFill>
          <a:ln w="12700">
            <a:solidFill>
              <a:srgbClr val="E3F4FA"/>
            </a:solidFill>
            <a:prstDash val="solid"/>
          </a:ln>
        </p:spPr>
      </p:sp>
      <p:sp>
        <p:nvSpPr>
          <p:cNvPr id="23" name="Icono sparkles"/>
          <p:cNvSpPr/>
          <p:nvPr/>
        </p:nvSpPr>
        <p:spPr>
          <a:xfrm>
            <a:off x="713598" y="462837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4" name="Text 21"/>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Si agregamos un endpoint, aparece solo</a:t>
            </a:r>
            <a:endParaRPr lang="en-US" sz="1350" dirty="0"/>
          </a:p>
        </p:txBody>
      </p:sp>
      <p:sp>
        <p:nvSpPr>
          <p:cNvPr id="25" name="Shape 22"/>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26" name="Shape 23"/>
          <p:cNvSpPr/>
          <p:nvPr/>
        </p:nvSpPr>
        <p:spPr>
          <a:xfrm>
            <a:off x="795528" y="5458968"/>
            <a:ext cx="603504" cy="603504"/>
          </a:xfrm>
          <a:prstGeom prst="ellipse">
            <a:avLst/>
          </a:prstGeom>
          <a:solidFill>
            <a:srgbClr val="FFFFFF"/>
          </a:solidFill>
          <a:ln w="12700">
            <a:solidFill>
              <a:srgbClr val="FFFFFF"/>
            </a:solidFill>
            <a:prstDash val="solid"/>
          </a:ln>
        </p:spPr>
      </p:sp>
      <p:sp>
        <p:nvSpPr>
          <p:cNvPr id="27"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28" name="Text 25"/>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29"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Pruebas unitarias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regla tiene una prueba que la vigila.</a:t>
            </a:r>
            <a:endParaRPr lang="en-US" sz="1700" dirty="0"/>
          </a:p>
        </p:txBody>
      </p:sp>
      <p:sp>
        <p:nvSpPr>
          <p:cNvPr id="6" name="Shape 4"/>
          <p:cNvSpPr/>
          <p:nvPr/>
        </p:nvSpPr>
        <p:spPr>
          <a:xfrm>
            <a:off x="612648" y="171907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709928"/>
          </a:xfrm>
          <a:prstGeom prst="rect">
            <a:avLst/>
          </a:prstGeom>
          <a:solidFill>
            <a:srgbClr val="0B2350"/>
          </a:solidFill>
          <a:ln w="12700">
            <a:solidFill>
              <a:srgbClr val="0B2350"/>
            </a:solidFill>
            <a:prstDash val="solid"/>
          </a:ln>
        </p:spPr>
      </p:sp>
      <p:sp>
        <p:nvSpPr>
          <p:cNvPr id="8" name="Shape 6"/>
          <p:cNvSpPr/>
          <p:nvPr/>
        </p:nvSpPr>
        <p:spPr>
          <a:xfrm>
            <a:off x="886968" y="2308860"/>
            <a:ext cx="786384" cy="786384"/>
          </a:xfrm>
          <a:prstGeom prst="ellipse">
            <a:avLst/>
          </a:prstGeom>
          <a:solidFill>
            <a:srgbClr val="E8EEF8"/>
          </a:solidFill>
          <a:ln w="12700">
            <a:solidFill>
              <a:srgbClr val="E8EEF8"/>
            </a:solidFill>
            <a:prstDash val="solid"/>
          </a:ln>
        </p:spPr>
      </p:sp>
      <p:sp>
        <p:nvSpPr>
          <p:cNvPr id="9" name="Icono list-checks"/>
          <p:cNvSpPr/>
          <p:nvPr/>
        </p:nvSpPr>
        <p:spPr>
          <a:xfrm>
            <a:off x="1075700" y="2497592"/>
            <a:ext cx="408920" cy="408920"/>
          </a:xfrm>
          <a:custGeom>
            <a:avLst/>
            <a:gdLst/>
            <a:ahLst/>
            <a:cxnLst/>
            <a:rect l="l" t="t" r="r" b="b"/>
            <a:pathLst>
              <a:path w="408920" h="408920">
                <a:moveTo>
                  <a:pt x="51115" y="289651"/>
                </a:moveTo>
                <a:lnTo>
                  <a:pt x="85192" y="323728"/>
                </a:lnTo>
                <a:lnTo>
                  <a:pt x="153345" y="255575"/>
                </a:lnTo>
                <a:moveTo>
                  <a:pt x="51115" y="119268"/>
                </a:moveTo>
                <a:lnTo>
                  <a:pt x="85192" y="153345"/>
                </a:lnTo>
                <a:lnTo>
                  <a:pt x="153345" y="85192"/>
                </a:lnTo>
                <a:moveTo>
                  <a:pt x="221498" y="102230"/>
                </a:moveTo>
                <a:lnTo>
                  <a:pt x="357805" y="102230"/>
                </a:lnTo>
                <a:moveTo>
                  <a:pt x="221498" y="204460"/>
                </a:moveTo>
                <a:lnTo>
                  <a:pt x="357805" y="204460"/>
                </a:lnTo>
                <a:moveTo>
                  <a:pt x="221498" y="306690"/>
                </a:moveTo>
                <a:lnTo>
                  <a:pt x="357805" y="306690"/>
                </a:lnTo>
              </a:path>
            </a:pathLst>
          </a:custGeom>
          <a:noFill/>
          <a:ln w="34077" cap="rnd">
            <a:solidFill>
              <a:srgbClr val="0B2350"/>
            </a:solidFill>
            <a:prstDash val="solid"/>
            <a:round/>
          </a:ln>
        </p:spPr>
      </p:sp>
      <p:sp>
        <p:nvSpPr>
          <p:cNvPr id="10" name="Text 8"/>
          <p:cNvSpPr/>
          <p:nvPr/>
        </p:nvSpPr>
        <p:spPr>
          <a:xfrm>
            <a:off x="1929384" y="2244852"/>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SolicitudTest</a:t>
            </a:r>
            <a:endParaRPr lang="en-US" sz="2000" dirty="0"/>
          </a:p>
        </p:txBody>
      </p:sp>
      <p:sp>
        <p:nvSpPr>
          <p:cNvPr id="11" name="Text 9"/>
          <p:cNvSpPr/>
          <p:nvPr/>
        </p:nvSpPr>
        <p:spPr>
          <a:xfrm>
            <a:off x="1929384" y="272034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Los cambios de estado permitidos y los prohibidos.</a:t>
            </a:r>
            <a:endParaRPr lang="en-US" sz="1600" dirty="0"/>
          </a:p>
        </p:txBody>
      </p:sp>
      <p:sp>
        <p:nvSpPr>
          <p:cNvPr id="12" name="Shape 10"/>
          <p:cNvSpPr/>
          <p:nvPr/>
        </p:nvSpPr>
        <p:spPr>
          <a:xfrm>
            <a:off x="6187288" y="171907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87288" y="1847088"/>
            <a:ext cx="64008" cy="1709928"/>
          </a:xfrm>
          <a:prstGeom prst="rect">
            <a:avLst/>
          </a:prstGeom>
          <a:solidFill>
            <a:srgbClr val="0B6E8A"/>
          </a:solidFill>
          <a:ln w="12700">
            <a:solidFill>
              <a:srgbClr val="0B6E8A"/>
            </a:solidFill>
            <a:prstDash val="solid"/>
          </a:ln>
        </p:spPr>
      </p:sp>
      <p:sp>
        <p:nvSpPr>
          <p:cNvPr id="14" name="Shape 12"/>
          <p:cNvSpPr/>
          <p:nvPr/>
        </p:nvSpPr>
        <p:spPr>
          <a:xfrm>
            <a:off x="6461608" y="2308860"/>
            <a:ext cx="786384" cy="786384"/>
          </a:xfrm>
          <a:prstGeom prst="ellipse">
            <a:avLst/>
          </a:prstGeom>
          <a:solidFill>
            <a:srgbClr val="E3F4FA"/>
          </a:solidFill>
          <a:ln w="12700">
            <a:solidFill>
              <a:srgbClr val="E3F4FA"/>
            </a:solidFill>
            <a:prstDash val="solid"/>
          </a:ln>
        </p:spPr>
      </p:sp>
      <p:sp>
        <p:nvSpPr>
          <p:cNvPr id="15" name="Icono flask-conical"/>
          <p:cNvSpPr/>
          <p:nvPr/>
        </p:nvSpPr>
        <p:spPr>
          <a:xfrm>
            <a:off x="6650340" y="2497592"/>
            <a:ext cx="408920" cy="408920"/>
          </a:xfrm>
          <a:custGeom>
            <a:avLst/>
            <a:gdLst/>
            <a:ahLst/>
            <a:cxnLst/>
            <a:rect l="l" t="t" r="r" b="b"/>
            <a:pathLst>
              <a:path w="408920" h="408920">
                <a:moveTo>
                  <a:pt x="238536" y="34077"/>
                </a:moveTo>
                <a:lnTo>
                  <a:pt x="238536" y="136307"/>
                </a:lnTo>
                <a:cubicBezTo>
                  <a:pt x="238534" y="142023"/>
                  <a:pt x="239970" y="147647"/>
                  <a:pt x="242711" y="152663"/>
                </a:cubicBezTo>
                <a:lnTo>
                  <a:pt x="336592" y="324410"/>
                </a:lnTo>
                <a:cubicBezTo>
                  <a:pt x="342369" y="334969"/>
                  <a:pt x="342148" y="347792"/>
                  <a:pt x="336009" y="358146"/>
                </a:cubicBezTo>
                <a:cubicBezTo>
                  <a:pt x="329871" y="368499"/>
                  <a:pt x="318726" y="374846"/>
                  <a:pt x="306690" y="374843"/>
                </a:cubicBezTo>
                <a:lnTo>
                  <a:pt x="102230" y="374843"/>
                </a:lnTo>
                <a:cubicBezTo>
                  <a:pt x="90194" y="374846"/>
                  <a:pt x="79049" y="368499"/>
                  <a:pt x="72910" y="358146"/>
                </a:cubicBezTo>
                <a:cubicBezTo>
                  <a:pt x="66772" y="347792"/>
                  <a:pt x="66550" y="334969"/>
                  <a:pt x="72328" y="324410"/>
                </a:cubicBezTo>
                <a:lnTo>
                  <a:pt x="166209" y="152663"/>
                </a:lnTo>
                <a:cubicBezTo>
                  <a:pt x="168950" y="147647"/>
                  <a:pt x="170386" y="142023"/>
                  <a:pt x="170383" y="136307"/>
                </a:cubicBezTo>
                <a:lnTo>
                  <a:pt x="170383" y="34077"/>
                </a:lnTo>
                <a:moveTo>
                  <a:pt x="109948" y="255575"/>
                </a:moveTo>
                <a:lnTo>
                  <a:pt x="298971" y="255575"/>
                </a:lnTo>
                <a:moveTo>
                  <a:pt x="144826" y="34077"/>
                </a:moveTo>
                <a:lnTo>
                  <a:pt x="264094" y="34077"/>
                </a:lnTo>
              </a:path>
            </a:pathLst>
          </a:custGeom>
          <a:noFill/>
          <a:ln w="34077" cap="rnd">
            <a:solidFill>
              <a:srgbClr val="0B6E8A"/>
            </a:solidFill>
            <a:prstDash val="solid"/>
            <a:round/>
          </a:ln>
        </p:spPr>
      </p:sp>
      <p:sp>
        <p:nvSpPr>
          <p:cNvPr id="16" name="Text 14"/>
          <p:cNvSpPr/>
          <p:nvPr/>
        </p:nvSpPr>
        <p:spPr>
          <a:xfrm>
            <a:off x="7504024" y="2244852"/>
            <a:ext cx="3892144" cy="420624"/>
          </a:xfrm>
          <a:prstGeom prst="rect">
            <a:avLst/>
          </a:prstGeom>
          <a:noFill/>
          <a:ln/>
        </p:spPr>
        <p:txBody>
          <a:bodyPr wrap="square" lIns="0" tIns="0" rIns="0" bIns="0" rtlCol="0" anchor="b">
            <a:normAutofit/>
          </a:bodyPr>
          <a:lstStyle/>
          <a:p>
            <a:pPr algn="l" indent="0" marL="0">
              <a:buNone/>
            </a:pPr>
            <a:r>
              <a:rPr lang="en-US" sz="1950" b="1" dirty="0">
                <a:solidFill>
                  <a:srgbClr val="0B6E8A"/>
                </a:solidFill>
                <a:latin typeface="Segoe UI Semibold" pitchFamily="34" charset="0"/>
                <a:ea typeface="Segoe UI Semibold" pitchFamily="34" charset="-122"/>
                <a:cs typeface="Segoe UI Semibold" pitchFamily="34" charset="-120"/>
              </a:rPr>
              <a:t>ServicioSolicitudesUnitTest</a:t>
            </a:r>
            <a:endParaRPr lang="en-US" sz="1950" dirty="0"/>
          </a:p>
        </p:txBody>
      </p:sp>
      <p:sp>
        <p:nvSpPr>
          <p:cNvPr id="17" name="Text 15"/>
          <p:cNvSpPr/>
          <p:nvPr/>
        </p:nvSpPr>
        <p:spPr>
          <a:xfrm>
            <a:off x="7504024" y="272034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Crear, enviar y registrar el evento, con un repositorio en memoria.</a:t>
            </a:r>
            <a:endParaRPr lang="en-US" sz="1600" dirty="0"/>
          </a:p>
        </p:txBody>
      </p:sp>
      <p:sp>
        <p:nvSpPr>
          <p:cNvPr id="18" name="Shape 16"/>
          <p:cNvSpPr/>
          <p:nvPr/>
        </p:nvSpPr>
        <p:spPr>
          <a:xfrm>
            <a:off x="612648" y="386791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3995928"/>
            <a:ext cx="64008" cy="1709928"/>
          </a:xfrm>
          <a:prstGeom prst="rect">
            <a:avLst/>
          </a:prstGeom>
          <a:solidFill>
            <a:srgbClr val="5B3FC4"/>
          </a:solidFill>
          <a:ln w="12700">
            <a:solidFill>
              <a:srgbClr val="5B3FC4"/>
            </a:solidFill>
            <a:prstDash val="solid"/>
          </a:ln>
        </p:spPr>
      </p:sp>
      <p:sp>
        <p:nvSpPr>
          <p:cNvPr id="20" name="Shape 18"/>
          <p:cNvSpPr/>
          <p:nvPr/>
        </p:nvSpPr>
        <p:spPr>
          <a:xfrm>
            <a:off x="886968" y="4457700"/>
            <a:ext cx="786384" cy="786384"/>
          </a:xfrm>
          <a:prstGeom prst="ellipse">
            <a:avLst/>
          </a:prstGeom>
          <a:solidFill>
            <a:srgbClr val="F1EEFD"/>
          </a:solidFill>
          <a:ln w="12700">
            <a:solidFill>
              <a:srgbClr val="F1EEFD"/>
            </a:solidFill>
            <a:prstDash val="solid"/>
          </a:ln>
        </p:spPr>
      </p:sp>
      <p:sp>
        <p:nvSpPr>
          <p:cNvPr id="21" name="Icono code"/>
          <p:cNvSpPr/>
          <p:nvPr/>
        </p:nvSpPr>
        <p:spPr>
          <a:xfrm>
            <a:off x="1075700" y="4646432"/>
            <a:ext cx="408920" cy="408920"/>
          </a:xfrm>
          <a:custGeom>
            <a:avLst/>
            <a:gdLst/>
            <a:ahLst/>
            <a:cxnLst/>
            <a:rect l="l" t="t" r="r" b="b"/>
            <a:pathLst>
              <a:path w="408920" h="408920">
                <a:moveTo>
                  <a:pt x="272613" y="306690"/>
                </a:moveTo>
                <a:lnTo>
                  <a:pt x="374843" y="204460"/>
                </a:lnTo>
                <a:lnTo>
                  <a:pt x="272613" y="102230"/>
                </a:lnTo>
                <a:moveTo>
                  <a:pt x="136307" y="102230"/>
                </a:moveTo>
                <a:lnTo>
                  <a:pt x="34077" y="204460"/>
                </a:lnTo>
                <a:lnTo>
                  <a:pt x="136307" y="306690"/>
                </a:lnTo>
              </a:path>
            </a:pathLst>
          </a:custGeom>
          <a:noFill/>
          <a:ln w="34077" cap="rnd">
            <a:solidFill>
              <a:srgbClr val="5B3FC4"/>
            </a:solidFill>
            <a:prstDash val="solid"/>
            <a:round/>
          </a:ln>
        </p:spPr>
      </p:sp>
      <p:sp>
        <p:nvSpPr>
          <p:cNvPr id="22" name="Text 20"/>
          <p:cNvSpPr/>
          <p:nvPr/>
        </p:nvSpPr>
        <p:spPr>
          <a:xfrm>
            <a:off x="1929384" y="4393692"/>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5B3FC4"/>
                </a:solidFill>
                <a:latin typeface="Segoe UI Semibold" pitchFamily="34" charset="0"/>
                <a:ea typeface="Segoe UI Semibold" pitchFamily="34" charset="-122"/>
                <a:cs typeface="Segoe UI Semibold" pitchFamily="34" charset="-120"/>
              </a:rPr>
              <a:t>SolicitudControllerWebTest</a:t>
            </a:r>
            <a:endParaRPr lang="en-US" sz="2000" dirty="0"/>
          </a:p>
        </p:txBody>
      </p:sp>
      <p:sp>
        <p:nvSpPr>
          <p:cNvPr id="23" name="Text 21"/>
          <p:cNvSpPr/>
          <p:nvPr/>
        </p:nvSpPr>
        <p:spPr>
          <a:xfrm>
            <a:off x="1929384" y="486918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JSON y los códigos 201, 404, 409 y 400, con MockMvc.</a:t>
            </a:r>
            <a:endParaRPr lang="en-US" sz="1600" dirty="0"/>
          </a:p>
        </p:txBody>
      </p:sp>
      <p:sp>
        <p:nvSpPr>
          <p:cNvPr id="24" name="Shape 22"/>
          <p:cNvSpPr/>
          <p:nvPr/>
        </p:nvSpPr>
        <p:spPr>
          <a:xfrm>
            <a:off x="6187288" y="386791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6187288" y="3995928"/>
            <a:ext cx="64008" cy="1709928"/>
          </a:xfrm>
          <a:prstGeom prst="rect">
            <a:avLst/>
          </a:prstGeom>
          <a:solidFill>
            <a:srgbClr val="0A6648"/>
          </a:solidFill>
          <a:ln w="12700">
            <a:solidFill>
              <a:srgbClr val="0A6648"/>
            </a:solidFill>
            <a:prstDash val="solid"/>
          </a:ln>
        </p:spPr>
      </p:sp>
      <p:sp>
        <p:nvSpPr>
          <p:cNvPr id="26" name="Shape 24"/>
          <p:cNvSpPr/>
          <p:nvPr/>
        </p:nvSpPr>
        <p:spPr>
          <a:xfrm>
            <a:off x="6461608" y="4457700"/>
            <a:ext cx="786384" cy="786384"/>
          </a:xfrm>
          <a:prstGeom prst="ellipse">
            <a:avLst/>
          </a:prstGeom>
          <a:solidFill>
            <a:srgbClr val="E1F1EA"/>
          </a:solidFill>
          <a:ln w="12700">
            <a:solidFill>
              <a:srgbClr val="E1F1EA"/>
            </a:solidFill>
            <a:prstDash val="solid"/>
          </a:ln>
        </p:spPr>
      </p:sp>
      <p:sp>
        <p:nvSpPr>
          <p:cNvPr id="27" name="Icono fingerprint"/>
          <p:cNvSpPr/>
          <p:nvPr/>
        </p:nvSpPr>
        <p:spPr>
          <a:xfrm>
            <a:off x="6650340" y="4646432"/>
            <a:ext cx="408920" cy="408920"/>
          </a:xfrm>
          <a:custGeom>
            <a:avLst/>
            <a:gdLst/>
            <a:ahLst/>
            <a:cxnLst/>
            <a:rect l="l" t="t" r="r" b="b"/>
            <a:pathLst>
              <a:path w="408920" h="408920">
                <a:moveTo>
                  <a:pt x="204460" y="170383"/>
                </a:moveTo>
                <a:cubicBezTo>
                  <a:pt x="185640" y="170383"/>
                  <a:pt x="170383" y="185640"/>
                  <a:pt x="170383" y="204460"/>
                </a:cubicBezTo>
                <a:cubicBezTo>
                  <a:pt x="170383" y="221839"/>
                  <a:pt x="168679" y="247226"/>
                  <a:pt x="165953" y="272613"/>
                </a:cubicBezTo>
                <a:moveTo>
                  <a:pt x="238536" y="223543"/>
                </a:moveTo>
                <a:cubicBezTo>
                  <a:pt x="238536" y="264094"/>
                  <a:pt x="238536" y="332247"/>
                  <a:pt x="221498" y="374843"/>
                </a:cubicBezTo>
                <a:moveTo>
                  <a:pt x="294593" y="358145"/>
                </a:moveTo>
                <a:cubicBezTo>
                  <a:pt x="296637" y="347922"/>
                  <a:pt x="301919" y="318957"/>
                  <a:pt x="303112" y="306690"/>
                </a:cubicBezTo>
                <a:moveTo>
                  <a:pt x="34077" y="204460"/>
                </a:moveTo>
                <a:cubicBezTo>
                  <a:pt x="34077" y="131122"/>
                  <a:pt x="81005" y="66012"/>
                  <a:pt x="150580" y="42820"/>
                </a:cubicBezTo>
                <a:cubicBezTo>
                  <a:pt x="220155" y="19629"/>
                  <a:pt x="296764" y="43559"/>
                  <a:pt x="340766" y="102230"/>
                </a:cubicBezTo>
                <a:moveTo>
                  <a:pt x="34077" y="272613"/>
                </a:moveTo>
                <a:lnTo>
                  <a:pt x="34247" y="272613"/>
                </a:lnTo>
                <a:moveTo>
                  <a:pt x="371435" y="272613"/>
                </a:moveTo>
                <a:cubicBezTo>
                  <a:pt x="374843" y="238536"/>
                  <a:pt x="373667" y="181390"/>
                  <a:pt x="371435" y="170383"/>
                </a:cubicBezTo>
                <a:moveTo>
                  <a:pt x="85192" y="332247"/>
                </a:moveTo>
                <a:cubicBezTo>
                  <a:pt x="93711" y="306690"/>
                  <a:pt x="102230" y="255575"/>
                  <a:pt x="102230" y="204460"/>
                </a:cubicBezTo>
                <a:cubicBezTo>
                  <a:pt x="102213" y="192854"/>
                  <a:pt x="104172" y="181331"/>
                  <a:pt x="108023" y="170383"/>
                </a:cubicBezTo>
                <a:moveTo>
                  <a:pt x="147381" y="374843"/>
                </a:moveTo>
                <a:cubicBezTo>
                  <a:pt x="150960" y="363598"/>
                  <a:pt x="155049" y="352352"/>
                  <a:pt x="157093" y="340766"/>
                </a:cubicBezTo>
                <a:moveTo>
                  <a:pt x="153345" y="115861"/>
                </a:moveTo>
                <a:cubicBezTo>
                  <a:pt x="184985" y="97593"/>
                  <a:pt x="223969" y="97599"/>
                  <a:pt x="255603" y="115877"/>
                </a:cubicBezTo>
                <a:cubicBezTo>
                  <a:pt x="287238" y="134155"/>
                  <a:pt x="306713" y="167925"/>
                  <a:pt x="306690" y="204460"/>
                </a:cubicBezTo>
                <a:lnTo>
                  <a:pt x="306690" y="238536"/>
                </a:lnTo>
              </a:path>
            </a:pathLst>
          </a:custGeom>
          <a:noFill/>
          <a:ln w="34077" cap="rnd">
            <a:solidFill>
              <a:srgbClr val="0A6648"/>
            </a:solidFill>
            <a:prstDash val="solid"/>
            <a:round/>
          </a:ln>
        </p:spPr>
      </p:sp>
      <p:sp>
        <p:nvSpPr>
          <p:cNvPr id="28" name="Text 26"/>
          <p:cNvSpPr/>
          <p:nvPr/>
        </p:nvSpPr>
        <p:spPr>
          <a:xfrm>
            <a:off x="7504024" y="4393692"/>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Pruebas de notificaciones</a:t>
            </a:r>
            <a:endParaRPr lang="en-US" sz="2000" dirty="0"/>
          </a:p>
        </p:txBody>
      </p:sp>
      <p:sp>
        <p:nvSpPr>
          <p:cNvPr id="29" name="Text 27"/>
          <p:cNvSpPr/>
          <p:nvPr/>
        </p:nvSpPr>
        <p:spPr>
          <a:xfrm>
            <a:off x="7504024" y="486918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 evento repetido genera un solo aviso.</a:t>
            </a:r>
            <a:endParaRPr lang="en-US" sz="1600" dirty="0"/>
          </a:p>
        </p:txBody>
      </p:sp>
      <p:sp>
        <p:nvSpPr>
          <p:cNvPr id="30" name="Shape 28"/>
          <p:cNvSpPr/>
          <p:nvPr/>
        </p:nvSpPr>
        <p:spPr>
          <a:xfrm>
            <a:off x="0" y="5961888"/>
            <a:ext cx="12191695" cy="475488"/>
          </a:xfrm>
          <a:prstGeom prst="rect">
            <a:avLst/>
          </a:prstGeom>
          <a:solidFill>
            <a:srgbClr val="0B2350"/>
          </a:solidFill>
          <a:ln w="12700">
            <a:solidFill>
              <a:srgbClr val="0B2350"/>
            </a:solidFill>
            <a:prstDash val="solid"/>
          </a:ln>
        </p:spPr>
      </p:sp>
      <p:sp>
        <p:nvSpPr>
          <p:cNvPr id="3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2" name="Text 30"/>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alguien rompe una regla sin darse cuenta, una prueba falla antes de llegar a producción.</a:t>
            </a:r>
            <a:endParaRPr lang="en-US" sz="14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Git y commits con sentido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cambio cuenta qué hizo y por qué.</a:t>
            </a:r>
            <a:endParaRPr lang="en-US" sz="1700" dirty="0"/>
          </a:p>
        </p:txBody>
      </p:sp>
      <p:sp>
        <p:nvSpPr>
          <p:cNvPr id="6" name="Shape 4"/>
          <p:cNvSpPr/>
          <p:nvPr/>
        </p:nvSpPr>
        <p:spPr>
          <a:xfrm>
            <a:off x="978408" y="5349240"/>
            <a:ext cx="10234879" cy="0"/>
          </a:xfrm>
          <a:prstGeom prst="line">
            <a:avLst/>
          </a:prstGeom>
          <a:noFill/>
          <a:ln w="76200">
            <a:solidFill>
              <a:srgbClr val="0B2350"/>
            </a:solidFill>
            <a:prstDash val="solid"/>
          </a:ln>
        </p:spPr>
      </p:sp>
      <p:sp>
        <p:nvSpPr>
          <p:cNvPr id="7" name="Text 5"/>
          <p:cNvSpPr/>
          <p:nvPr/>
        </p:nvSpPr>
        <p:spPr>
          <a:xfrm>
            <a:off x="886968" y="5550408"/>
            <a:ext cx="1463040" cy="365760"/>
          </a:xfrm>
          <a:prstGeom prst="roundRect">
            <a:avLst>
              <a:gd name="adj" fmla="val 50000"/>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main</a:t>
            </a:r>
            <a:endParaRPr lang="en-US" sz="1400" dirty="0"/>
          </a:p>
        </p:txBody>
      </p:sp>
      <p:sp>
        <p:nvSpPr>
          <p:cNvPr id="8" name="Shape 6"/>
          <p:cNvSpPr/>
          <p:nvPr/>
        </p:nvSpPr>
        <p:spPr>
          <a:xfrm flipV="1">
            <a:off x="2075688" y="2816352"/>
            <a:ext cx="640080" cy="2532888"/>
          </a:xfrm>
          <a:prstGeom prst="line">
            <a:avLst/>
          </a:prstGeom>
          <a:noFill/>
          <a:ln w="63500">
            <a:solidFill>
              <a:srgbClr val="2BA6CB"/>
            </a:solidFill>
            <a:prstDash val="solid"/>
          </a:ln>
        </p:spPr>
      </p:sp>
      <p:sp>
        <p:nvSpPr>
          <p:cNvPr id="9" name="Shape 7"/>
          <p:cNvSpPr/>
          <p:nvPr/>
        </p:nvSpPr>
        <p:spPr>
          <a:xfrm>
            <a:off x="2715768" y="2816352"/>
            <a:ext cx="6394399" cy="0"/>
          </a:xfrm>
          <a:prstGeom prst="line">
            <a:avLst/>
          </a:prstGeom>
          <a:noFill/>
          <a:ln w="63500">
            <a:solidFill>
              <a:srgbClr val="2BA6CB"/>
            </a:solidFill>
            <a:prstDash val="solid"/>
          </a:ln>
        </p:spPr>
      </p:sp>
      <p:sp>
        <p:nvSpPr>
          <p:cNvPr id="10" name="Shape 8"/>
          <p:cNvSpPr/>
          <p:nvPr/>
        </p:nvSpPr>
        <p:spPr>
          <a:xfrm>
            <a:off x="9110167" y="2816352"/>
            <a:ext cx="640080" cy="2532888"/>
          </a:xfrm>
          <a:prstGeom prst="line">
            <a:avLst/>
          </a:prstGeom>
          <a:noFill/>
          <a:ln w="63500">
            <a:solidFill>
              <a:srgbClr val="0A6648"/>
            </a:solidFill>
            <a:prstDash val="solid"/>
            <a:tailEnd type="triangle"/>
          </a:ln>
        </p:spPr>
      </p:sp>
      <p:sp>
        <p:nvSpPr>
          <p:cNvPr id="11" name="Text 9"/>
          <p:cNvSpPr/>
          <p:nvPr/>
        </p:nvSpPr>
        <p:spPr>
          <a:xfrm>
            <a:off x="2761488" y="2103120"/>
            <a:ext cx="4206240" cy="365760"/>
          </a:xfrm>
          <a:prstGeom prst="roundRect">
            <a:avLst>
              <a:gd name="adj" fmla="val 50000"/>
            </a:avLst>
          </a:prstGeom>
          <a:solidFill>
            <a:srgbClr val="E3F4FA"/>
          </a:solidFill>
          <a:ln w="12700">
            <a:solidFill>
              <a:srgbClr val="2BA6CB"/>
            </a:solidFill>
          </a:ln>
        </p:spPr>
        <p:txBody>
          <a:bodyPr wrap="square" lIns="0" tIns="127000" rIns="127000" bIns="0" rtlCol="0" anchor="ctr">
            <a:normAutofit/>
          </a:bodyPr>
          <a:lstStyle/>
          <a:p>
            <a:pPr indent="0" marL="0">
              <a:buNone/>
            </a:pPr>
            <a:r>
              <a:rPr lang="en-US" sz="1300" b="1" dirty="0">
                <a:solidFill>
                  <a:srgbClr val="0B6E8A"/>
                </a:solidFill>
                <a:latin typeface="Consolas" pitchFamily="34" charset="0"/>
                <a:ea typeface="Consolas" pitchFamily="34" charset="-122"/>
                <a:cs typeface="Consolas" pitchFamily="34" charset="-120"/>
              </a:rPr>
              <a:t>feat/crear-solicitud-por-post</a:t>
            </a:r>
            <a:endParaRPr lang="en-US" sz="1300" dirty="0"/>
          </a:p>
        </p:txBody>
      </p:sp>
      <p:sp>
        <p:nvSpPr>
          <p:cNvPr id="12" name="Icono git-branch"/>
          <p:cNvSpPr/>
          <p:nvPr/>
        </p:nvSpPr>
        <p:spPr>
          <a:xfrm>
            <a:off x="2029968" y="2084832"/>
            <a:ext cx="365760" cy="365760"/>
          </a:xfrm>
          <a:custGeom>
            <a:avLst/>
            <a:gdLst/>
            <a:ahLst/>
            <a:cxnLst/>
            <a:rect l="l" t="t" r="r" b="b"/>
            <a:pathLst>
              <a:path w="365760" h="365760">
                <a:moveTo>
                  <a:pt x="91440" y="45720"/>
                </a:moveTo>
                <a:lnTo>
                  <a:pt x="91440" y="228600"/>
                </a:lnTo>
                <a:moveTo>
                  <a:pt x="320040" y="91440"/>
                </a:moveTo>
                <a:cubicBezTo>
                  <a:pt x="320040" y="116690"/>
                  <a:pt x="299570" y="137160"/>
                  <a:pt x="274320" y="137160"/>
                </a:cubicBezTo>
                <a:cubicBezTo>
                  <a:pt x="249070" y="137160"/>
                  <a:pt x="228600" y="116690"/>
                  <a:pt x="228600" y="91440"/>
                </a:cubicBezTo>
                <a:cubicBezTo>
                  <a:pt x="228600" y="66190"/>
                  <a:pt x="249070" y="45720"/>
                  <a:pt x="274320" y="45720"/>
                </a:cubicBezTo>
                <a:cubicBezTo>
                  <a:pt x="299570" y="45720"/>
                  <a:pt x="320040" y="66190"/>
                  <a:pt x="320040" y="91440"/>
                </a:cubicBezTo>
                <a:close/>
                <a:moveTo>
                  <a:pt x="137160" y="274320"/>
                </a:moveTo>
                <a:cubicBezTo>
                  <a:pt x="137160" y="299570"/>
                  <a:pt x="116690" y="320040"/>
                  <a:pt x="91440" y="320040"/>
                </a:cubicBezTo>
                <a:cubicBezTo>
                  <a:pt x="66190" y="320040"/>
                  <a:pt x="45720" y="299570"/>
                  <a:pt x="45720" y="274320"/>
                </a:cubicBezTo>
                <a:cubicBezTo>
                  <a:pt x="45720" y="249070"/>
                  <a:pt x="66190" y="228600"/>
                  <a:pt x="91440" y="228600"/>
                </a:cubicBezTo>
                <a:cubicBezTo>
                  <a:pt x="116690" y="228600"/>
                  <a:pt x="137160" y="249070"/>
                  <a:pt x="137160" y="274320"/>
                </a:cubicBezTo>
                <a:close/>
                <a:moveTo>
                  <a:pt x="274320" y="137160"/>
                </a:moveTo>
                <a:cubicBezTo>
                  <a:pt x="274320" y="212911"/>
                  <a:pt x="212911" y="274320"/>
                  <a:pt x="137160" y="274320"/>
                </a:cubicBezTo>
              </a:path>
            </a:pathLst>
          </a:custGeom>
          <a:noFill/>
          <a:ln w="30480" cap="rnd">
            <a:solidFill>
              <a:srgbClr val="0B6E8A"/>
            </a:solidFill>
            <a:prstDash val="solid"/>
            <a:round/>
          </a:ln>
        </p:spPr>
      </p:sp>
      <p:sp>
        <p:nvSpPr>
          <p:cNvPr id="13" name="Shape 11"/>
          <p:cNvSpPr/>
          <p:nvPr/>
        </p:nvSpPr>
        <p:spPr>
          <a:xfrm>
            <a:off x="3598621"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14" name="Text 12"/>
          <p:cNvSpPr/>
          <p:nvPr/>
        </p:nvSpPr>
        <p:spPr>
          <a:xfrm>
            <a:off x="2761488"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feat: crear solicitud por post</a:t>
            </a:r>
            <a:endParaRPr lang="en-US" sz="1150" dirty="0"/>
          </a:p>
        </p:txBody>
      </p:sp>
      <p:sp>
        <p:nvSpPr>
          <p:cNvPr id="15" name="Shape 13"/>
          <p:cNvSpPr/>
          <p:nvPr/>
        </p:nvSpPr>
        <p:spPr>
          <a:xfrm>
            <a:off x="5730088"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16" name="Text 14"/>
          <p:cNvSpPr/>
          <p:nvPr/>
        </p:nvSpPr>
        <p:spPr>
          <a:xfrm>
            <a:off x="4892954"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fix: responder 409 si el id ya existe</a:t>
            </a:r>
            <a:endParaRPr lang="en-US" sz="1150" dirty="0"/>
          </a:p>
        </p:txBody>
      </p:sp>
      <p:sp>
        <p:nvSpPr>
          <p:cNvPr id="17" name="Shape 15"/>
          <p:cNvSpPr/>
          <p:nvPr/>
        </p:nvSpPr>
        <p:spPr>
          <a:xfrm>
            <a:off x="7861554"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18" name="Text 16"/>
          <p:cNvSpPr/>
          <p:nvPr/>
        </p:nvSpPr>
        <p:spPr>
          <a:xfrm>
            <a:off x="7024421"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docs: documentar POST /solicitudes</a:t>
            </a:r>
            <a:endParaRPr lang="en-US" sz="1150" dirty="0"/>
          </a:p>
        </p:txBody>
      </p:sp>
      <p:sp>
        <p:nvSpPr>
          <p:cNvPr id="19" name="Shape 17"/>
          <p:cNvSpPr/>
          <p:nvPr/>
        </p:nvSpPr>
        <p:spPr>
          <a:xfrm>
            <a:off x="1280160" y="5193792"/>
            <a:ext cx="310896" cy="310896"/>
          </a:xfrm>
          <a:prstGeom prst="ellipse">
            <a:avLst/>
          </a:prstGeom>
          <a:solidFill>
            <a:srgbClr val="0B2350"/>
          </a:solidFill>
          <a:ln w="25400">
            <a:solidFill>
              <a:srgbClr val="FFFFFF"/>
            </a:solidFill>
            <a:prstDash val="solid"/>
          </a:ln>
        </p:spPr>
      </p:sp>
      <p:sp>
        <p:nvSpPr>
          <p:cNvPr id="20" name="Shape 18"/>
          <p:cNvSpPr/>
          <p:nvPr/>
        </p:nvSpPr>
        <p:spPr>
          <a:xfrm>
            <a:off x="1920240" y="5193792"/>
            <a:ext cx="310896" cy="310896"/>
          </a:xfrm>
          <a:prstGeom prst="ellipse">
            <a:avLst/>
          </a:prstGeom>
          <a:solidFill>
            <a:srgbClr val="0B2350"/>
          </a:solidFill>
          <a:ln w="25400">
            <a:solidFill>
              <a:srgbClr val="FFFFFF"/>
            </a:solidFill>
            <a:prstDash val="solid"/>
          </a:ln>
        </p:spPr>
      </p:sp>
      <p:sp>
        <p:nvSpPr>
          <p:cNvPr id="21" name="Shape 19"/>
          <p:cNvSpPr/>
          <p:nvPr/>
        </p:nvSpPr>
        <p:spPr>
          <a:xfrm>
            <a:off x="9594799" y="5193792"/>
            <a:ext cx="310896" cy="310896"/>
          </a:xfrm>
          <a:prstGeom prst="ellipse">
            <a:avLst/>
          </a:prstGeom>
          <a:solidFill>
            <a:srgbClr val="0B2350"/>
          </a:solidFill>
          <a:ln w="25400">
            <a:solidFill>
              <a:srgbClr val="FFFFFF"/>
            </a:solidFill>
            <a:prstDash val="solid"/>
          </a:ln>
        </p:spPr>
      </p:sp>
      <p:sp>
        <p:nvSpPr>
          <p:cNvPr id="22" name="Shape 20"/>
          <p:cNvSpPr/>
          <p:nvPr/>
        </p:nvSpPr>
        <p:spPr>
          <a:xfrm>
            <a:off x="10600639" y="5193792"/>
            <a:ext cx="310896" cy="310896"/>
          </a:xfrm>
          <a:prstGeom prst="ellipse">
            <a:avLst/>
          </a:prstGeom>
          <a:solidFill>
            <a:srgbClr val="0B2350"/>
          </a:solidFill>
          <a:ln w="25400">
            <a:solidFill>
              <a:srgbClr val="FFFFFF"/>
            </a:solidFill>
            <a:prstDash val="solid"/>
          </a:ln>
        </p:spPr>
      </p:sp>
      <p:sp>
        <p:nvSpPr>
          <p:cNvPr id="23" name="Shape 21"/>
          <p:cNvSpPr/>
          <p:nvPr/>
        </p:nvSpPr>
        <p:spPr>
          <a:xfrm>
            <a:off x="6275527" y="4142232"/>
            <a:ext cx="3154680" cy="749808"/>
          </a:xfrm>
          <a:prstGeom prst="roundRect">
            <a:avLst>
              <a:gd name="adj" fmla="val 17073"/>
            </a:avLst>
          </a:prstGeom>
          <a:solidFill>
            <a:srgbClr val="E1F1EA"/>
          </a:solidFill>
          <a:ln w="12700">
            <a:solidFill>
              <a:srgbClr val="85B3A4"/>
            </a:solidFill>
            <a:prstDash val="solid"/>
          </a:ln>
          <a:effectLst>
            <a:outerShdw sx="100000" sy="100000" kx="0" ky="0" algn="bl" rotWithShape="0" blurRad="76200" dist="19050" dir="5400000">
              <a:srgbClr val="0B1F3A">
                <a:alpha val="14000"/>
              </a:srgbClr>
            </a:outerShdw>
          </a:effectLst>
        </p:spPr>
      </p:sp>
      <p:sp>
        <p:nvSpPr>
          <p:cNvPr id="24" name="Icono git-pull-request"/>
          <p:cNvSpPr/>
          <p:nvPr/>
        </p:nvSpPr>
        <p:spPr>
          <a:xfrm>
            <a:off x="6421831" y="4325112"/>
            <a:ext cx="384048" cy="384048"/>
          </a:xfrm>
          <a:custGeom>
            <a:avLst/>
            <a:gdLst/>
            <a:ahLst/>
            <a:cxnLst/>
            <a:rect l="l" t="t" r="r" b="b"/>
            <a:pathLst>
              <a:path w="384048" h="384048">
                <a:moveTo>
                  <a:pt x="336042" y="288036"/>
                </a:moveTo>
                <a:cubicBezTo>
                  <a:pt x="336042" y="314549"/>
                  <a:pt x="314549" y="336042"/>
                  <a:pt x="288036" y="336042"/>
                </a:cubicBezTo>
                <a:cubicBezTo>
                  <a:pt x="261523" y="336042"/>
                  <a:pt x="240030" y="314549"/>
                  <a:pt x="240030" y="288036"/>
                </a:cubicBezTo>
                <a:cubicBezTo>
                  <a:pt x="240030" y="261523"/>
                  <a:pt x="261523" y="240030"/>
                  <a:pt x="288036" y="240030"/>
                </a:cubicBezTo>
                <a:cubicBezTo>
                  <a:pt x="314549" y="240030"/>
                  <a:pt x="336042" y="261523"/>
                  <a:pt x="336042" y="288036"/>
                </a:cubicBezTo>
                <a:close/>
                <a:moveTo>
                  <a:pt x="144018" y="96012"/>
                </a:moveTo>
                <a:cubicBezTo>
                  <a:pt x="144018" y="122525"/>
                  <a:pt x="122525" y="144018"/>
                  <a:pt x="96012" y="144018"/>
                </a:cubicBezTo>
                <a:cubicBezTo>
                  <a:pt x="69499" y="144018"/>
                  <a:pt x="48006" y="122525"/>
                  <a:pt x="48006" y="96012"/>
                </a:cubicBezTo>
                <a:cubicBezTo>
                  <a:pt x="48006" y="69499"/>
                  <a:pt x="69499" y="48006"/>
                  <a:pt x="96012" y="48006"/>
                </a:cubicBezTo>
                <a:cubicBezTo>
                  <a:pt x="122525" y="48006"/>
                  <a:pt x="144018" y="69499"/>
                  <a:pt x="144018" y="96012"/>
                </a:cubicBezTo>
                <a:close/>
                <a:moveTo>
                  <a:pt x="208026" y="96012"/>
                </a:moveTo>
                <a:lnTo>
                  <a:pt x="256032" y="96012"/>
                </a:lnTo>
                <a:cubicBezTo>
                  <a:pt x="273707" y="96012"/>
                  <a:pt x="288036" y="110341"/>
                  <a:pt x="288036" y="128016"/>
                </a:cubicBezTo>
                <a:lnTo>
                  <a:pt x="288036" y="240030"/>
                </a:lnTo>
                <a:moveTo>
                  <a:pt x="96012" y="144018"/>
                </a:moveTo>
                <a:lnTo>
                  <a:pt x="96012" y="336042"/>
                </a:lnTo>
              </a:path>
            </a:pathLst>
          </a:custGeom>
          <a:noFill/>
          <a:ln w="32004" cap="rnd">
            <a:solidFill>
              <a:srgbClr val="0A6648"/>
            </a:solidFill>
            <a:prstDash val="solid"/>
            <a:round/>
          </a:ln>
        </p:spPr>
      </p:sp>
      <p:sp>
        <p:nvSpPr>
          <p:cNvPr id="25" name="Text 23"/>
          <p:cNvSpPr/>
          <p:nvPr/>
        </p:nvSpPr>
        <p:spPr>
          <a:xfrm>
            <a:off x="6915607" y="4197096"/>
            <a:ext cx="2423160" cy="640080"/>
          </a:xfrm>
          <a:prstGeom prst="rect">
            <a:avLst/>
          </a:prstGeom>
          <a:noFill/>
          <a:ln/>
        </p:spPr>
        <p:txBody>
          <a:bodyPr wrap="square" lIns="0" tIns="0" rIns="0" bIns="0" rtlCol="0" anchor="ctr">
            <a:normAutofit/>
          </a:bodyPr>
          <a:lstStyle/>
          <a:p>
            <a:pPr algn="l" indent="0" marL="0">
              <a:buNone/>
            </a:pPr>
            <a:r>
              <a:rPr lang="en-US" sz="1250" b="1" dirty="0">
                <a:solidFill>
                  <a:srgbClr val="0A6648"/>
                </a:solidFill>
                <a:latin typeface="Segoe UI" pitchFamily="34" charset="0"/>
                <a:ea typeface="Segoe UI" pitchFamily="34" charset="-122"/>
                <a:cs typeface="Segoe UI" pitchFamily="34" charset="-120"/>
              </a:rPr>
              <a:t>Pull Request: una aprobación y el pipeline en verde</a:t>
            </a:r>
            <a:endParaRPr lang="en-US" sz="1250" dirty="0"/>
          </a:p>
        </p:txBody>
      </p:sp>
      <p:sp>
        <p:nvSpPr>
          <p:cNvPr id="26" name="Text 2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puzzle"/>
          <p:cNvSpPr/>
          <p:nvPr/>
        </p:nvSpPr>
        <p:spPr>
          <a:xfrm>
            <a:off x="9098280" y="1783080"/>
            <a:ext cx="1371600" cy="1371600"/>
          </a:xfrm>
          <a:custGeom>
            <a:avLst/>
            <a:gdLst/>
            <a:ahLst/>
            <a:cxnLst/>
            <a:rect l="l" t="t" r="r" b="b"/>
            <a:pathLst>
              <a:path w="1371600" h="1371600">
                <a:moveTo>
                  <a:pt x="879539" y="250888"/>
                </a:moveTo>
                <a:cubicBezTo>
                  <a:pt x="894167" y="265531"/>
                  <a:pt x="915569" y="271121"/>
                  <a:pt x="935489" y="265500"/>
                </a:cubicBezTo>
                <a:cubicBezTo>
                  <a:pt x="955409" y="259880"/>
                  <a:pt x="970733" y="243929"/>
                  <a:pt x="975551" y="223799"/>
                </a:cubicBezTo>
                <a:cubicBezTo>
                  <a:pt x="991967" y="155464"/>
                  <a:pt x="1055643" y="109215"/>
                  <a:pt x="1125705" y="114740"/>
                </a:cubicBezTo>
                <a:cubicBezTo>
                  <a:pt x="1195768" y="120266"/>
                  <a:pt x="1251408" y="175924"/>
                  <a:pt x="1256910" y="245988"/>
                </a:cubicBezTo>
                <a:cubicBezTo>
                  <a:pt x="1262412" y="316052"/>
                  <a:pt x="1216142" y="379713"/>
                  <a:pt x="1147801" y="396107"/>
                </a:cubicBezTo>
                <a:cubicBezTo>
                  <a:pt x="1127671" y="400924"/>
                  <a:pt x="1111720" y="416248"/>
                  <a:pt x="1106100" y="436169"/>
                </a:cubicBezTo>
                <a:cubicBezTo>
                  <a:pt x="1100479" y="456089"/>
                  <a:pt x="1106069" y="477491"/>
                  <a:pt x="1120712" y="492119"/>
                </a:cubicBezTo>
                <a:lnTo>
                  <a:pt x="1216895" y="588245"/>
                </a:lnTo>
                <a:cubicBezTo>
                  <a:pt x="1242769" y="614118"/>
                  <a:pt x="1257305" y="649209"/>
                  <a:pt x="1257305" y="685800"/>
                </a:cubicBezTo>
                <a:cubicBezTo>
                  <a:pt x="1257305" y="722391"/>
                  <a:pt x="1242769" y="757482"/>
                  <a:pt x="1216895" y="783355"/>
                </a:cubicBezTo>
                <a:lnTo>
                  <a:pt x="1120712" y="879539"/>
                </a:lnTo>
                <a:cubicBezTo>
                  <a:pt x="1106083" y="894181"/>
                  <a:pt x="1084681" y="899771"/>
                  <a:pt x="1064761" y="894150"/>
                </a:cubicBezTo>
                <a:cubicBezTo>
                  <a:pt x="1044841" y="888530"/>
                  <a:pt x="1029517" y="872579"/>
                  <a:pt x="1024700" y="852449"/>
                </a:cubicBezTo>
                <a:cubicBezTo>
                  <a:pt x="1008283" y="784114"/>
                  <a:pt x="944607" y="737865"/>
                  <a:pt x="874545" y="743390"/>
                </a:cubicBezTo>
                <a:cubicBezTo>
                  <a:pt x="804482" y="748916"/>
                  <a:pt x="748842" y="804574"/>
                  <a:pt x="743340" y="874638"/>
                </a:cubicBezTo>
                <a:cubicBezTo>
                  <a:pt x="737838" y="944702"/>
                  <a:pt x="784108" y="1008363"/>
                  <a:pt x="852449" y="1024757"/>
                </a:cubicBezTo>
                <a:cubicBezTo>
                  <a:pt x="872579" y="1029574"/>
                  <a:pt x="888530" y="1044898"/>
                  <a:pt x="894150" y="1064819"/>
                </a:cubicBezTo>
                <a:cubicBezTo>
                  <a:pt x="899771" y="1084739"/>
                  <a:pt x="894181" y="1106141"/>
                  <a:pt x="879539" y="1120769"/>
                </a:cubicBezTo>
                <a:lnTo>
                  <a:pt x="783355" y="1216895"/>
                </a:lnTo>
                <a:cubicBezTo>
                  <a:pt x="757482" y="1242769"/>
                  <a:pt x="722391" y="1257305"/>
                  <a:pt x="685800" y="1257305"/>
                </a:cubicBezTo>
                <a:cubicBezTo>
                  <a:pt x="649209" y="1257305"/>
                  <a:pt x="614118" y="1242769"/>
                  <a:pt x="588245" y="1216895"/>
                </a:cubicBezTo>
                <a:lnTo>
                  <a:pt x="492061" y="1120712"/>
                </a:lnTo>
                <a:cubicBezTo>
                  <a:pt x="477433" y="1106069"/>
                  <a:pt x="456031" y="1100479"/>
                  <a:pt x="436111" y="1106100"/>
                </a:cubicBezTo>
                <a:cubicBezTo>
                  <a:pt x="416191" y="1111720"/>
                  <a:pt x="400867" y="1127671"/>
                  <a:pt x="396050" y="1147801"/>
                </a:cubicBezTo>
                <a:cubicBezTo>
                  <a:pt x="379633" y="1216136"/>
                  <a:pt x="315957" y="1262385"/>
                  <a:pt x="245895" y="1256860"/>
                </a:cubicBezTo>
                <a:cubicBezTo>
                  <a:pt x="175832" y="1251334"/>
                  <a:pt x="120192" y="1195676"/>
                  <a:pt x="114690" y="1125612"/>
                </a:cubicBezTo>
                <a:cubicBezTo>
                  <a:pt x="109188" y="1055548"/>
                  <a:pt x="155458" y="991887"/>
                  <a:pt x="223799" y="975493"/>
                </a:cubicBezTo>
                <a:cubicBezTo>
                  <a:pt x="243929" y="970676"/>
                  <a:pt x="259880" y="955352"/>
                  <a:pt x="265500" y="935431"/>
                </a:cubicBezTo>
                <a:cubicBezTo>
                  <a:pt x="271121" y="915511"/>
                  <a:pt x="265531" y="894109"/>
                  <a:pt x="250888" y="879481"/>
                </a:cubicBezTo>
                <a:lnTo>
                  <a:pt x="154705" y="783355"/>
                </a:lnTo>
                <a:cubicBezTo>
                  <a:pt x="128831" y="757482"/>
                  <a:pt x="114295" y="722391"/>
                  <a:pt x="114295" y="685800"/>
                </a:cubicBezTo>
                <a:cubicBezTo>
                  <a:pt x="114295" y="649209"/>
                  <a:pt x="128831" y="614118"/>
                  <a:pt x="154705" y="588245"/>
                </a:cubicBezTo>
                <a:lnTo>
                  <a:pt x="250888" y="492061"/>
                </a:lnTo>
                <a:cubicBezTo>
                  <a:pt x="265517" y="477419"/>
                  <a:pt x="286919" y="471829"/>
                  <a:pt x="306839" y="477450"/>
                </a:cubicBezTo>
                <a:cubicBezTo>
                  <a:pt x="326759" y="483070"/>
                  <a:pt x="342083" y="499021"/>
                  <a:pt x="346900" y="519151"/>
                </a:cubicBezTo>
                <a:cubicBezTo>
                  <a:pt x="363317" y="587486"/>
                  <a:pt x="426993" y="633735"/>
                  <a:pt x="497055" y="628210"/>
                </a:cubicBezTo>
                <a:cubicBezTo>
                  <a:pt x="567118" y="622684"/>
                  <a:pt x="622758" y="567026"/>
                  <a:pt x="628260" y="496962"/>
                </a:cubicBezTo>
                <a:cubicBezTo>
                  <a:pt x="633762" y="426898"/>
                  <a:pt x="587492" y="363237"/>
                  <a:pt x="519151" y="346843"/>
                </a:cubicBezTo>
                <a:cubicBezTo>
                  <a:pt x="499021" y="342026"/>
                  <a:pt x="483070" y="326702"/>
                  <a:pt x="477450" y="306781"/>
                </a:cubicBezTo>
                <a:cubicBezTo>
                  <a:pt x="471829" y="286861"/>
                  <a:pt x="477419" y="265459"/>
                  <a:pt x="492061" y="250831"/>
                </a:cubicBezTo>
                <a:lnTo>
                  <a:pt x="588245" y="154705"/>
                </a:lnTo>
                <a:cubicBezTo>
                  <a:pt x="614118" y="128831"/>
                  <a:pt x="649209" y="114295"/>
                  <a:pt x="685800" y="114295"/>
                </a:cubicBezTo>
                <a:cubicBezTo>
                  <a:pt x="722391" y="114295"/>
                  <a:pt x="757482" y="128831"/>
                  <a:pt x="783355" y="154705"/>
                </a:cubicBezTo>
                <a:close/>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3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374B70"/>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03</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Diseñar para cambiar</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organizamos el código para cambiar una tecnología sin tocar el negocio.</a:t>
            </a:r>
            <a:endParaRPr lang="en-US" sz="1900" dirty="0"/>
          </a:p>
        </p:txBody>
      </p:sp>
      <p:sp>
        <p:nvSpPr>
          <p:cNvPr id="16" name="Text 14"/>
          <p:cNvSpPr/>
          <p:nvPr/>
        </p:nvSpPr>
        <p:spPr>
          <a:xfrm>
            <a:off x="758952" y="4663440"/>
            <a:ext cx="247345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Puertos y adaptadores</a:t>
            </a:r>
            <a:endParaRPr lang="en-US" sz="1300" dirty="0"/>
          </a:p>
        </p:txBody>
      </p:sp>
      <p:sp>
        <p:nvSpPr>
          <p:cNvPr id="17" name="Text 15"/>
          <p:cNvSpPr/>
          <p:nvPr/>
        </p:nvSpPr>
        <p:spPr>
          <a:xfrm>
            <a:off x="3360420" y="466344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Estructura base de ARKA-Lite</a:t>
            </a:r>
            <a:endParaRPr lang="en-US" sz="1300" dirty="0"/>
          </a:p>
        </p:txBody>
      </p:sp>
      <p:sp>
        <p:nvSpPr>
          <p:cNvPr id="18" name="Text 16"/>
          <p:cNvSpPr/>
          <p:nvPr/>
        </p:nvSpPr>
        <p:spPr>
          <a:xfrm>
            <a:off x="6633972" y="466344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 monolito a microservicios</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P3</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3 · Desarrollo</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Entrada: traduce HTTP</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Dominio: las reglas, sin Spring</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Puertos: lo que el negocio necesita</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Salida: PostgreSQL y HTTP</a:t>
            </a:r>
            <a:endParaRPr lang="en-US" sz="1100" dirty="0"/>
          </a:p>
        </p:txBody>
      </p:sp>
      <p:sp>
        <p:nvSpPr>
          <p:cNvPr id="9" name="Shape 7"/>
          <p:cNvSpPr/>
          <p:nvPr/>
        </p:nvSpPr>
        <p:spPr>
          <a:xfrm>
            <a:off x="809799" y="1939834"/>
            <a:ext cx="2424793" cy="3798842"/>
          </a:xfrm>
          <a:prstGeom prst="roundRect">
            <a:avLst>
              <a:gd name="adj" fmla="val 4525"/>
            </a:avLst>
          </a:prstGeom>
          <a:solidFill>
            <a:srgbClr val="F7F9FC"/>
          </a:solidFill>
          <a:ln w="12700">
            <a:solidFill>
              <a:srgbClr val="C7D2E2"/>
            </a:solidFill>
            <a:prstDash val="solid"/>
          </a:ln>
        </p:spPr>
      </p:sp>
      <p:sp>
        <p:nvSpPr>
          <p:cNvPr id="10" name="Text 8"/>
          <p:cNvSpPr/>
          <p:nvPr/>
        </p:nvSpPr>
        <p:spPr>
          <a:xfrm>
            <a:off x="882951" y="1994698"/>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11" name="Shape 9"/>
          <p:cNvSpPr/>
          <p:nvPr/>
        </p:nvSpPr>
        <p:spPr>
          <a:xfrm>
            <a:off x="3477071" y="1939834"/>
            <a:ext cx="3394710" cy="3798842"/>
          </a:xfrm>
          <a:prstGeom prst="roundRect">
            <a:avLst>
              <a:gd name="adj" fmla="val 3232"/>
            </a:avLst>
          </a:prstGeom>
          <a:solidFill>
            <a:srgbClr val="EAF0FA"/>
          </a:solidFill>
          <a:ln w="12700">
            <a:solidFill>
              <a:srgbClr val="AFC4E6"/>
            </a:solidFill>
            <a:prstDash val="solid"/>
          </a:ln>
        </p:spPr>
      </p:sp>
      <p:sp>
        <p:nvSpPr>
          <p:cNvPr id="12" name="Text 10"/>
          <p:cNvSpPr/>
          <p:nvPr/>
        </p:nvSpPr>
        <p:spPr>
          <a:xfrm>
            <a:off x="3550223" y="1994698"/>
            <a:ext cx="278384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DOMINIO · LAS REGLAS, SIN SPRING</a:t>
            </a:r>
            <a:endParaRPr lang="en-US" sz="800" dirty="0"/>
          </a:p>
        </p:txBody>
      </p:sp>
      <p:sp>
        <p:nvSpPr>
          <p:cNvPr id="13" name="Shape 11"/>
          <p:cNvSpPr/>
          <p:nvPr/>
        </p:nvSpPr>
        <p:spPr>
          <a:xfrm>
            <a:off x="7114261" y="1939834"/>
            <a:ext cx="4267635" cy="3798842"/>
          </a:xfrm>
          <a:prstGeom prst="roundRect">
            <a:avLst>
              <a:gd name="adj" fmla="val 2888"/>
            </a:avLst>
          </a:prstGeom>
          <a:solidFill>
            <a:srgbClr val="EEF2F7"/>
          </a:solidFill>
          <a:ln w="12700">
            <a:solidFill>
              <a:srgbClr val="C2CEDD"/>
            </a:solidFill>
            <a:prstDash val="solid"/>
          </a:ln>
        </p:spPr>
      </p:sp>
      <p:sp>
        <p:nvSpPr>
          <p:cNvPr id="14" name="Text 12"/>
          <p:cNvSpPr/>
          <p:nvPr/>
        </p:nvSpPr>
        <p:spPr>
          <a:xfrm>
            <a:off x="7187413" y="1994698"/>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5" name="Shape 13"/>
          <p:cNvSpPr/>
          <p:nvPr/>
        </p:nvSpPr>
        <p:spPr>
          <a:xfrm>
            <a:off x="3072939" y="2578363"/>
            <a:ext cx="565785" cy="0"/>
          </a:xfrm>
          <a:prstGeom prst="line">
            <a:avLst/>
          </a:prstGeom>
          <a:noFill/>
          <a:ln w="31750">
            <a:solidFill>
              <a:srgbClr val="55627E"/>
            </a:solidFill>
            <a:prstDash val="sysDot"/>
            <a:tailEnd type="triangle"/>
          </a:ln>
        </p:spPr>
      </p:sp>
      <p:sp>
        <p:nvSpPr>
          <p:cNvPr id="16" name="Text 14"/>
          <p:cNvSpPr/>
          <p:nvPr/>
        </p:nvSpPr>
        <p:spPr>
          <a:xfrm>
            <a:off x="3136376" y="2350171"/>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7" name="Text 15"/>
          <p:cNvSpPr/>
          <p:nvPr/>
        </p:nvSpPr>
        <p:spPr>
          <a:xfrm>
            <a:off x="3157195" y="246863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8" name="Shape 16"/>
          <p:cNvSpPr/>
          <p:nvPr/>
        </p:nvSpPr>
        <p:spPr>
          <a:xfrm>
            <a:off x="4366162" y="2828925"/>
            <a:ext cx="0" cy="565785"/>
          </a:xfrm>
          <a:prstGeom prst="line">
            <a:avLst/>
          </a:prstGeom>
          <a:noFill/>
          <a:ln w="31750">
            <a:solidFill>
              <a:srgbClr val="55627E"/>
            </a:solidFill>
            <a:prstDash val="sysDot"/>
            <a:tailEnd type="triangle"/>
          </a:ln>
        </p:spPr>
      </p:sp>
      <p:sp>
        <p:nvSpPr>
          <p:cNvPr id="19" name="Text 17"/>
          <p:cNvSpPr/>
          <p:nvPr/>
        </p:nvSpPr>
        <p:spPr>
          <a:xfrm>
            <a:off x="4256434" y="291318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5982691" y="2828925"/>
            <a:ext cx="0" cy="565785"/>
          </a:xfrm>
          <a:prstGeom prst="line">
            <a:avLst/>
          </a:prstGeom>
          <a:noFill/>
          <a:ln w="22860">
            <a:solidFill>
              <a:srgbClr val="1F4E8C"/>
            </a:solidFill>
            <a:prstDash val="lgDash"/>
            <a:tailEnd type="arrow"/>
          </a:ln>
        </p:spPr>
      </p:sp>
      <p:sp>
        <p:nvSpPr>
          <p:cNvPr id="21" name="Text 19"/>
          <p:cNvSpPr/>
          <p:nvPr/>
        </p:nvSpPr>
        <p:spPr>
          <a:xfrm>
            <a:off x="5587311" y="2988700"/>
            <a:ext cx="314554"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22" name="Text 20"/>
          <p:cNvSpPr/>
          <p:nvPr/>
        </p:nvSpPr>
        <p:spPr>
          <a:xfrm>
            <a:off x="5872963" y="291318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flipH="1">
            <a:off x="7033434" y="2699603"/>
            <a:ext cx="242479" cy="0"/>
          </a:xfrm>
          <a:prstGeom prst="line">
            <a:avLst/>
          </a:prstGeom>
          <a:noFill/>
          <a:ln w="22860">
            <a:solidFill>
              <a:srgbClr val="1F4E8C"/>
            </a:solidFill>
            <a:prstDash val="lgDash"/>
          </a:ln>
        </p:spPr>
      </p:sp>
      <p:sp>
        <p:nvSpPr>
          <p:cNvPr id="24" name="Shape 22"/>
          <p:cNvSpPr/>
          <p:nvPr/>
        </p:nvSpPr>
        <p:spPr>
          <a:xfrm>
            <a:off x="7033434" y="2699603"/>
            <a:ext cx="0" cy="945669"/>
          </a:xfrm>
          <a:prstGeom prst="line">
            <a:avLst/>
          </a:prstGeom>
          <a:noFill/>
          <a:ln w="22860">
            <a:solidFill>
              <a:srgbClr val="1F4E8C"/>
            </a:solidFill>
            <a:prstDash val="lgDash"/>
          </a:ln>
        </p:spPr>
      </p:sp>
      <p:sp>
        <p:nvSpPr>
          <p:cNvPr id="25" name="Shape 23"/>
          <p:cNvSpPr/>
          <p:nvPr/>
        </p:nvSpPr>
        <p:spPr>
          <a:xfrm flipH="1">
            <a:off x="6710128" y="3645272"/>
            <a:ext cx="323306" cy="0"/>
          </a:xfrm>
          <a:prstGeom prst="line">
            <a:avLst/>
          </a:prstGeom>
          <a:noFill/>
          <a:ln w="22860">
            <a:solidFill>
              <a:srgbClr val="1F4E8C"/>
            </a:solidFill>
            <a:prstDash val="lgDash"/>
            <a:tailEnd type="arrow"/>
          </a:ln>
        </p:spPr>
      </p:sp>
      <p:sp>
        <p:nvSpPr>
          <p:cNvPr id="26" name="Text 24"/>
          <p:cNvSpPr/>
          <p:nvPr/>
        </p:nvSpPr>
        <p:spPr>
          <a:xfrm>
            <a:off x="6140621" y="3049320"/>
            <a:ext cx="811987"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implementan</a:t>
            </a:r>
            <a:endParaRPr lang="en-US" sz="800" dirty="0"/>
          </a:p>
        </p:txBody>
      </p:sp>
      <p:sp>
        <p:nvSpPr>
          <p:cNvPr id="27" name="Text 25"/>
          <p:cNvSpPr/>
          <p:nvPr/>
        </p:nvSpPr>
        <p:spPr>
          <a:xfrm>
            <a:off x="7044946" y="258987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7033434" y="3289636"/>
            <a:ext cx="242479" cy="0"/>
          </a:xfrm>
          <a:prstGeom prst="line">
            <a:avLst/>
          </a:prstGeom>
          <a:noFill/>
          <a:ln w="22860">
            <a:solidFill>
              <a:srgbClr val="1F4E8C"/>
            </a:solidFill>
            <a:prstDash val="lgDash"/>
          </a:ln>
        </p:spPr>
      </p:sp>
      <p:sp>
        <p:nvSpPr>
          <p:cNvPr id="29" name="Shape 27"/>
          <p:cNvSpPr/>
          <p:nvPr/>
        </p:nvSpPr>
        <p:spPr>
          <a:xfrm>
            <a:off x="7033434" y="3289636"/>
            <a:ext cx="0" cy="355636"/>
          </a:xfrm>
          <a:prstGeom prst="line">
            <a:avLst/>
          </a:prstGeom>
          <a:noFill/>
          <a:ln w="22860">
            <a:solidFill>
              <a:srgbClr val="1F4E8C"/>
            </a:solidFill>
            <a:prstDash val="lgDash"/>
          </a:ln>
        </p:spPr>
      </p:sp>
      <p:sp>
        <p:nvSpPr>
          <p:cNvPr id="30" name="Shape 28"/>
          <p:cNvSpPr/>
          <p:nvPr/>
        </p:nvSpPr>
        <p:spPr>
          <a:xfrm flipH="1">
            <a:off x="6710128" y="3645272"/>
            <a:ext cx="323306" cy="0"/>
          </a:xfrm>
          <a:prstGeom prst="line">
            <a:avLst/>
          </a:prstGeom>
          <a:noFill/>
          <a:ln w="22860">
            <a:solidFill>
              <a:srgbClr val="1F4E8C"/>
            </a:solidFill>
            <a:prstDash val="lgDash"/>
            <a:tailEnd type="arrow"/>
          </a:ln>
        </p:spPr>
      </p:sp>
      <p:sp>
        <p:nvSpPr>
          <p:cNvPr id="31" name="Text 29"/>
          <p:cNvSpPr/>
          <p:nvPr/>
        </p:nvSpPr>
        <p:spPr>
          <a:xfrm>
            <a:off x="7044946" y="317990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flipH="1">
            <a:off x="7033434" y="4712181"/>
            <a:ext cx="242479" cy="0"/>
          </a:xfrm>
          <a:prstGeom prst="line">
            <a:avLst/>
          </a:prstGeom>
          <a:noFill/>
          <a:ln w="22860">
            <a:solidFill>
              <a:srgbClr val="1F4E8C"/>
            </a:solidFill>
            <a:prstDash val="lgDash"/>
          </a:ln>
        </p:spPr>
      </p:sp>
      <p:sp>
        <p:nvSpPr>
          <p:cNvPr id="33" name="Shape 31"/>
          <p:cNvSpPr/>
          <p:nvPr/>
        </p:nvSpPr>
        <p:spPr>
          <a:xfrm flipV="1">
            <a:off x="7033434" y="3645272"/>
            <a:ext cx="0" cy="1066909"/>
          </a:xfrm>
          <a:prstGeom prst="line">
            <a:avLst/>
          </a:prstGeom>
          <a:noFill/>
          <a:ln w="22860">
            <a:solidFill>
              <a:srgbClr val="1F4E8C"/>
            </a:solidFill>
            <a:prstDash val="lgDash"/>
          </a:ln>
        </p:spPr>
      </p:sp>
      <p:sp>
        <p:nvSpPr>
          <p:cNvPr id="34" name="Shape 32"/>
          <p:cNvSpPr/>
          <p:nvPr/>
        </p:nvSpPr>
        <p:spPr>
          <a:xfrm flipH="1">
            <a:off x="6710128" y="3645272"/>
            <a:ext cx="323306" cy="0"/>
          </a:xfrm>
          <a:prstGeom prst="line">
            <a:avLst/>
          </a:prstGeom>
          <a:noFill/>
          <a:ln w="22860">
            <a:solidFill>
              <a:srgbClr val="1F4E8C"/>
            </a:solidFill>
            <a:prstDash val="lgDash"/>
            <a:tailEnd type="arrow"/>
          </a:ln>
        </p:spPr>
      </p:sp>
      <p:sp>
        <p:nvSpPr>
          <p:cNvPr id="35" name="Text 33"/>
          <p:cNvSpPr/>
          <p:nvPr/>
        </p:nvSpPr>
        <p:spPr>
          <a:xfrm>
            <a:off x="7044946" y="4602453"/>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6" name="Shape 34"/>
          <p:cNvSpPr/>
          <p:nvPr/>
        </p:nvSpPr>
        <p:spPr>
          <a:xfrm>
            <a:off x="6710128" y="2457123"/>
            <a:ext cx="565785" cy="0"/>
          </a:xfrm>
          <a:prstGeom prst="line">
            <a:avLst/>
          </a:prstGeom>
          <a:noFill/>
          <a:ln w="31750">
            <a:solidFill>
              <a:srgbClr val="55627E"/>
            </a:solidFill>
            <a:prstDash val="sysDot"/>
            <a:tailEnd type="triangle"/>
          </a:ln>
        </p:spPr>
      </p:sp>
      <p:sp>
        <p:nvSpPr>
          <p:cNvPr id="37" name="Text 35"/>
          <p:cNvSpPr/>
          <p:nvPr/>
        </p:nvSpPr>
        <p:spPr>
          <a:xfrm>
            <a:off x="6711386" y="2228932"/>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38" name="Text 36"/>
          <p:cNvSpPr/>
          <p:nvPr/>
        </p:nvSpPr>
        <p:spPr>
          <a:xfrm>
            <a:off x="6794384" y="23473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9" name="Shape 37"/>
          <p:cNvSpPr/>
          <p:nvPr/>
        </p:nvSpPr>
        <p:spPr>
          <a:xfrm>
            <a:off x="9183417" y="2578363"/>
            <a:ext cx="1147735" cy="0"/>
          </a:xfrm>
          <a:prstGeom prst="line">
            <a:avLst/>
          </a:prstGeom>
          <a:noFill/>
          <a:ln w="31750">
            <a:solidFill>
              <a:srgbClr val="55627E"/>
            </a:solidFill>
            <a:prstDash val="sysDot"/>
          </a:ln>
        </p:spPr>
      </p:sp>
      <p:sp>
        <p:nvSpPr>
          <p:cNvPr id="40" name="Shape 38"/>
          <p:cNvSpPr/>
          <p:nvPr/>
        </p:nvSpPr>
        <p:spPr>
          <a:xfrm flipV="1">
            <a:off x="10331152" y="2327801"/>
            <a:ext cx="0" cy="250562"/>
          </a:xfrm>
          <a:prstGeom prst="line">
            <a:avLst/>
          </a:prstGeom>
          <a:noFill/>
          <a:ln w="31750">
            <a:solidFill>
              <a:srgbClr val="55627E"/>
            </a:solidFill>
            <a:prstDash val="sysDot"/>
            <a:tailEnd type="triangle"/>
          </a:ln>
        </p:spPr>
      </p:sp>
      <p:sp>
        <p:nvSpPr>
          <p:cNvPr id="41" name="Text 39"/>
          <p:cNvSpPr/>
          <p:nvPr/>
        </p:nvSpPr>
        <p:spPr>
          <a:xfrm>
            <a:off x="9267673" y="246863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2" name="Shape 40"/>
          <p:cNvSpPr/>
          <p:nvPr/>
        </p:nvSpPr>
        <p:spPr>
          <a:xfrm>
            <a:off x="9183417" y="3289636"/>
            <a:ext cx="1147735" cy="0"/>
          </a:xfrm>
          <a:prstGeom prst="line">
            <a:avLst/>
          </a:prstGeom>
          <a:noFill/>
          <a:ln w="31750">
            <a:solidFill>
              <a:srgbClr val="55627E"/>
            </a:solidFill>
            <a:prstDash val="sysDot"/>
          </a:ln>
        </p:spPr>
      </p:sp>
      <p:sp>
        <p:nvSpPr>
          <p:cNvPr id="43" name="Shape 41"/>
          <p:cNvSpPr/>
          <p:nvPr/>
        </p:nvSpPr>
        <p:spPr>
          <a:xfrm>
            <a:off x="10331152" y="3289636"/>
            <a:ext cx="0" cy="250562"/>
          </a:xfrm>
          <a:prstGeom prst="line">
            <a:avLst/>
          </a:prstGeom>
          <a:noFill/>
          <a:ln w="31750">
            <a:solidFill>
              <a:srgbClr val="55627E"/>
            </a:solidFill>
            <a:prstDash val="sysDot"/>
            <a:tailEnd type="triangle"/>
          </a:ln>
        </p:spPr>
      </p:sp>
      <p:sp>
        <p:nvSpPr>
          <p:cNvPr id="44" name="Text 42"/>
          <p:cNvSpPr/>
          <p:nvPr/>
        </p:nvSpPr>
        <p:spPr>
          <a:xfrm>
            <a:off x="9267673" y="317990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5" name="Shape 43"/>
          <p:cNvSpPr/>
          <p:nvPr/>
        </p:nvSpPr>
        <p:spPr>
          <a:xfrm>
            <a:off x="9183417" y="4000908"/>
            <a:ext cx="1147735" cy="0"/>
          </a:xfrm>
          <a:prstGeom prst="line">
            <a:avLst/>
          </a:prstGeom>
          <a:noFill/>
          <a:ln w="31750">
            <a:solidFill>
              <a:srgbClr val="55627E"/>
            </a:solidFill>
            <a:prstDash val="sysDot"/>
          </a:ln>
        </p:spPr>
      </p:sp>
      <p:sp>
        <p:nvSpPr>
          <p:cNvPr id="46" name="Shape 44"/>
          <p:cNvSpPr/>
          <p:nvPr/>
        </p:nvSpPr>
        <p:spPr>
          <a:xfrm flipV="1">
            <a:off x="10331152" y="3540198"/>
            <a:ext cx="0" cy="460711"/>
          </a:xfrm>
          <a:prstGeom prst="line">
            <a:avLst/>
          </a:prstGeom>
          <a:noFill/>
          <a:ln w="31750">
            <a:solidFill>
              <a:srgbClr val="55627E"/>
            </a:solidFill>
            <a:prstDash val="sysDot"/>
            <a:tailEnd type="triangle"/>
          </a:ln>
        </p:spPr>
      </p:sp>
      <p:sp>
        <p:nvSpPr>
          <p:cNvPr id="47" name="Text 45"/>
          <p:cNvSpPr/>
          <p:nvPr/>
        </p:nvSpPr>
        <p:spPr>
          <a:xfrm>
            <a:off x="9258022" y="3772716"/>
            <a:ext cx="998525"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48" name="Text 46"/>
          <p:cNvSpPr/>
          <p:nvPr/>
        </p:nvSpPr>
        <p:spPr>
          <a:xfrm>
            <a:off x="9267673" y="389118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8229665" y="4251470"/>
            <a:ext cx="0" cy="210149"/>
          </a:xfrm>
          <a:prstGeom prst="line">
            <a:avLst/>
          </a:prstGeom>
          <a:noFill/>
          <a:ln w="31750">
            <a:solidFill>
              <a:srgbClr val="55627E"/>
            </a:solidFill>
            <a:prstDash val="sysDot"/>
            <a:tailEnd type="triangle"/>
          </a:ln>
        </p:spPr>
      </p:sp>
      <p:sp>
        <p:nvSpPr>
          <p:cNvPr id="50" name="Text 48"/>
          <p:cNvSpPr/>
          <p:nvPr/>
        </p:nvSpPr>
        <p:spPr>
          <a:xfrm>
            <a:off x="8119937" y="42468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1" name="Shape 49"/>
          <p:cNvSpPr/>
          <p:nvPr/>
        </p:nvSpPr>
        <p:spPr>
          <a:xfrm>
            <a:off x="9183417" y="4712181"/>
            <a:ext cx="258645" cy="0"/>
          </a:xfrm>
          <a:prstGeom prst="line">
            <a:avLst/>
          </a:prstGeom>
          <a:noFill/>
          <a:ln w="25400">
            <a:solidFill>
              <a:srgbClr val="55627E"/>
            </a:solidFill>
            <a:prstDash val="dash"/>
            <a:tailEnd type="triangle"/>
          </a:ln>
        </p:spPr>
      </p:sp>
      <p:sp>
        <p:nvSpPr>
          <p:cNvPr id="52" name="Text 50"/>
          <p:cNvSpPr/>
          <p:nvPr/>
        </p:nvSpPr>
        <p:spPr>
          <a:xfrm>
            <a:off x="9203011" y="46024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3" name="Shape 51"/>
          <p:cNvSpPr/>
          <p:nvPr/>
        </p:nvSpPr>
        <p:spPr>
          <a:xfrm>
            <a:off x="4366162" y="3895834"/>
            <a:ext cx="0" cy="565785"/>
          </a:xfrm>
          <a:prstGeom prst="line">
            <a:avLst/>
          </a:prstGeom>
          <a:noFill/>
          <a:ln w="31750">
            <a:solidFill>
              <a:srgbClr val="AB243E"/>
            </a:solidFill>
            <a:prstDash val="sysDash"/>
            <a:tailEnd type="triangle"/>
          </a:ln>
        </p:spPr>
      </p:sp>
      <p:sp>
        <p:nvSpPr>
          <p:cNvPr id="54" name="Text 52"/>
          <p:cNvSpPr/>
          <p:nvPr/>
        </p:nvSpPr>
        <p:spPr>
          <a:xfrm>
            <a:off x="4446988" y="4055609"/>
            <a:ext cx="438912" cy="192024"/>
          </a:xfrm>
          <a:prstGeom prst="rect">
            <a:avLst/>
          </a:prstGeom>
          <a:noFill/>
          <a:ln/>
        </p:spPr>
        <p:txBody>
          <a:bodyPr wrap="square" lIns="0" tIns="0" rIns="0" bIns="0" rtlCol="0" anchor="ctr"/>
          <a:lstStyle/>
          <a:p>
            <a:pPr algn="l" indent="0" marL="0">
              <a:buNone/>
            </a:pPr>
            <a:r>
              <a:rPr lang="en-US" sz="800" b="1" dirty="0">
                <a:solidFill>
                  <a:srgbClr val="AB243E"/>
                </a:solidFill>
                <a:latin typeface="Segoe UI" pitchFamily="34" charset="0"/>
                <a:ea typeface="Segoe UI" pitchFamily="34" charset="-122"/>
                <a:cs typeface="Segoe UI" pitchFamily="34" charset="-120"/>
              </a:rPr>
              <a:t>lanza</a:t>
            </a:r>
            <a:endParaRPr lang="en-US" sz="800" dirty="0"/>
          </a:p>
        </p:txBody>
      </p:sp>
      <p:sp>
        <p:nvSpPr>
          <p:cNvPr id="55" name="Text 53"/>
          <p:cNvSpPr/>
          <p:nvPr/>
        </p:nvSpPr>
        <p:spPr>
          <a:xfrm>
            <a:off x="4256434" y="3980089"/>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6" name="Shape 54"/>
          <p:cNvSpPr/>
          <p:nvPr/>
        </p:nvSpPr>
        <p:spPr>
          <a:xfrm flipH="1">
            <a:off x="3355832" y="4712181"/>
            <a:ext cx="282893" cy="0"/>
          </a:xfrm>
          <a:prstGeom prst="line">
            <a:avLst/>
          </a:prstGeom>
          <a:noFill/>
          <a:ln w="31750">
            <a:solidFill>
              <a:srgbClr val="AB243E"/>
            </a:solidFill>
            <a:prstDash val="sysDash"/>
          </a:ln>
        </p:spPr>
      </p:sp>
      <p:sp>
        <p:nvSpPr>
          <p:cNvPr id="57" name="Shape 55"/>
          <p:cNvSpPr/>
          <p:nvPr/>
        </p:nvSpPr>
        <p:spPr>
          <a:xfrm flipV="1">
            <a:off x="3355832" y="4000908"/>
            <a:ext cx="0" cy="711273"/>
          </a:xfrm>
          <a:prstGeom prst="line">
            <a:avLst/>
          </a:prstGeom>
          <a:noFill/>
          <a:ln w="31750">
            <a:solidFill>
              <a:srgbClr val="AB243E"/>
            </a:solidFill>
            <a:prstDash val="sysDash"/>
          </a:ln>
        </p:spPr>
      </p:sp>
      <p:sp>
        <p:nvSpPr>
          <p:cNvPr id="58" name="Shape 56"/>
          <p:cNvSpPr/>
          <p:nvPr/>
        </p:nvSpPr>
        <p:spPr>
          <a:xfrm flipH="1">
            <a:off x="3072939" y="4000908"/>
            <a:ext cx="282893" cy="0"/>
          </a:xfrm>
          <a:prstGeom prst="line">
            <a:avLst/>
          </a:prstGeom>
          <a:noFill/>
          <a:ln w="31750">
            <a:solidFill>
              <a:srgbClr val="AB243E"/>
            </a:solidFill>
            <a:prstDash val="sysDash"/>
            <a:tailEnd type="triangle"/>
          </a:ln>
        </p:spPr>
      </p:sp>
      <p:sp>
        <p:nvSpPr>
          <p:cNvPr id="59" name="Text 57"/>
          <p:cNvSpPr/>
          <p:nvPr/>
        </p:nvSpPr>
        <p:spPr>
          <a:xfrm>
            <a:off x="3387550" y="4602453"/>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0" name="Shape 58"/>
          <p:cNvSpPr/>
          <p:nvPr/>
        </p:nvSpPr>
        <p:spPr>
          <a:xfrm>
            <a:off x="8229665" y="4962743"/>
            <a:ext cx="0" cy="889091"/>
          </a:xfrm>
          <a:prstGeom prst="line">
            <a:avLst/>
          </a:prstGeom>
          <a:noFill/>
          <a:ln w="22860">
            <a:solidFill>
              <a:srgbClr val="1F4E8C"/>
            </a:solidFill>
            <a:prstDash val="lgDash"/>
            <a:tailEnd type="arrow"/>
          </a:ln>
        </p:spPr>
      </p:sp>
      <p:sp>
        <p:nvSpPr>
          <p:cNvPr id="61" name="Text 59"/>
          <p:cNvSpPr/>
          <p:nvPr/>
        </p:nvSpPr>
        <p:spPr>
          <a:xfrm>
            <a:off x="8310492" y="5284171"/>
            <a:ext cx="314554"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62" name="Text 60"/>
          <p:cNvSpPr/>
          <p:nvPr/>
        </p:nvSpPr>
        <p:spPr>
          <a:xfrm>
            <a:off x="8119937" y="504699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63" name="Shape 61"/>
          <p:cNvSpPr/>
          <p:nvPr/>
        </p:nvSpPr>
        <p:spPr>
          <a:xfrm>
            <a:off x="971452" y="2327801"/>
            <a:ext cx="2101487" cy="501124"/>
          </a:xfrm>
          <a:prstGeom prst="roundRect">
            <a:avLst>
              <a:gd name="adj" fmla="val 16422"/>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1062892" y="2393207"/>
            <a:ext cx="370312" cy="370312"/>
          </a:xfrm>
          <a:prstGeom prst="ellipse">
            <a:avLst/>
          </a:prstGeom>
          <a:solidFill>
            <a:srgbClr val="EBECF0"/>
          </a:solidFill>
          <a:ln w="12700">
            <a:solidFill>
              <a:srgbClr val="EBECF0"/>
            </a:solidFill>
            <a:prstDash val="solid"/>
          </a:ln>
        </p:spPr>
      </p:sp>
      <p:sp>
        <p:nvSpPr>
          <p:cNvPr id="65" name="Icono code"/>
          <p:cNvSpPr/>
          <p:nvPr/>
        </p:nvSpPr>
        <p:spPr>
          <a:xfrm>
            <a:off x="1117756" y="2448071"/>
            <a:ext cx="260584" cy="260584"/>
          </a:xfrm>
          <a:custGeom>
            <a:avLst/>
            <a:gdLst/>
            <a:ahLst/>
            <a:cxnLst/>
            <a:rect l="l" t="t" r="r" b="b"/>
            <a:pathLst>
              <a:path w="260584" h="260584">
                <a:moveTo>
                  <a:pt x="173723" y="195438"/>
                </a:moveTo>
                <a:lnTo>
                  <a:pt x="238869" y="130292"/>
                </a:lnTo>
                <a:lnTo>
                  <a:pt x="173723" y="65146"/>
                </a:lnTo>
                <a:moveTo>
                  <a:pt x="86861" y="65146"/>
                </a:moveTo>
                <a:lnTo>
                  <a:pt x="21715" y="130292"/>
                </a:lnTo>
                <a:lnTo>
                  <a:pt x="86861" y="195438"/>
                </a:lnTo>
              </a:path>
            </a:pathLst>
          </a:custGeom>
          <a:noFill/>
          <a:ln w="21715" cap="rnd">
            <a:solidFill>
              <a:srgbClr val="55627E"/>
            </a:solidFill>
            <a:prstDash val="solid"/>
            <a:round/>
          </a:ln>
        </p:spPr>
      </p:sp>
      <p:sp>
        <p:nvSpPr>
          <p:cNvPr id="66" name="Text 64"/>
          <p:cNvSpPr/>
          <p:nvPr/>
        </p:nvSpPr>
        <p:spPr>
          <a:xfrm>
            <a:off x="1488068" y="2327801"/>
            <a:ext cx="1530007"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SolicitudController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y GET /solicitudes</a:t>
            </a:r>
            <a:endParaRPr lang="en-US" sz="955" dirty="0"/>
          </a:p>
        </p:txBody>
      </p:sp>
      <p:sp>
        <p:nvSpPr>
          <p:cNvPr id="67" name="Text 65"/>
          <p:cNvSpPr/>
          <p:nvPr/>
        </p:nvSpPr>
        <p:spPr>
          <a:xfrm>
            <a:off x="971452" y="3039074"/>
            <a:ext cx="2101487" cy="501124"/>
          </a:xfrm>
          <a:prstGeom prst="roundRect">
            <a:avLst>
              <a:gd name="adj" fmla="val 16422"/>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EventoSalienteController</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GET /eventos</a:t>
            </a:r>
            <a:endParaRPr lang="en-US" sz="955" dirty="0"/>
          </a:p>
        </p:txBody>
      </p:sp>
      <p:sp>
        <p:nvSpPr>
          <p:cNvPr id="68" name="Text 66"/>
          <p:cNvSpPr/>
          <p:nvPr/>
        </p:nvSpPr>
        <p:spPr>
          <a:xfrm>
            <a:off x="971452" y="3750346"/>
            <a:ext cx="2101487" cy="501124"/>
          </a:xfrm>
          <a:prstGeom prst="roundRect">
            <a:avLst>
              <a:gd name="adj" fmla="val 16422"/>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ManejadorGlobalDeErrores</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5" dirty="0"/>
          </a:p>
        </p:txBody>
      </p:sp>
      <p:sp>
        <p:nvSpPr>
          <p:cNvPr id="69" name="Shape 67"/>
          <p:cNvSpPr/>
          <p:nvPr/>
        </p:nvSpPr>
        <p:spPr>
          <a:xfrm>
            <a:off x="971452" y="4461619"/>
            <a:ext cx="2101487" cy="501124"/>
          </a:xfrm>
          <a:prstGeom prst="roundRect">
            <a:avLst>
              <a:gd name="adj" fmla="val 16422"/>
            </a:avLst>
          </a:prstGeom>
          <a:solidFill>
            <a:srgbClr val="FBFCFE"/>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1062892" y="4527025"/>
            <a:ext cx="370312" cy="370312"/>
          </a:xfrm>
          <a:prstGeom prst="ellipse">
            <a:avLst/>
          </a:prstGeom>
          <a:solidFill>
            <a:srgbClr val="EBECF0"/>
          </a:solidFill>
          <a:ln w="12700">
            <a:solidFill>
              <a:srgbClr val="EBECF0"/>
            </a:solidFill>
            <a:prstDash val="solid"/>
          </a:ln>
        </p:spPr>
      </p:sp>
      <p:sp>
        <p:nvSpPr>
          <p:cNvPr id="71" name="Icono book-open"/>
          <p:cNvSpPr/>
          <p:nvPr/>
        </p:nvSpPr>
        <p:spPr>
          <a:xfrm>
            <a:off x="1117756" y="4581889"/>
            <a:ext cx="260584" cy="260584"/>
          </a:xfrm>
          <a:custGeom>
            <a:avLst/>
            <a:gdLst/>
            <a:ahLst/>
            <a:cxnLst/>
            <a:rect l="l" t="t" r="r" b="b"/>
            <a:pathLst>
              <a:path w="260584" h="260584">
                <a:moveTo>
                  <a:pt x="130292" y="76004"/>
                </a:moveTo>
                <a:lnTo>
                  <a:pt x="130292" y="228011"/>
                </a:lnTo>
                <a:moveTo>
                  <a:pt x="32573" y="195438"/>
                </a:moveTo>
                <a:cubicBezTo>
                  <a:pt x="26577" y="195438"/>
                  <a:pt x="21715" y="190577"/>
                  <a:pt x="21715" y="184581"/>
                </a:cubicBezTo>
                <a:lnTo>
                  <a:pt x="21715" y="43431"/>
                </a:lnTo>
                <a:cubicBezTo>
                  <a:pt x="21715" y="37434"/>
                  <a:pt x="26577" y="32573"/>
                  <a:pt x="32573" y="32573"/>
                </a:cubicBezTo>
                <a:lnTo>
                  <a:pt x="86861" y="32573"/>
                </a:lnTo>
                <a:cubicBezTo>
                  <a:pt x="110848" y="32573"/>
                  <a:pt x="130292" y="52018"/>
                  <a:pt x="130292" y="76004"/>
                </a:cubicBezTo>
                <a:cubicBezTo>
                  <a:pt x="130292" y="52018"/>
                  <a:pt x="149737" y="32573"/>
                  <a:pt x="173723" y="32573"/>
                </a:cubicBezTo>
                <a:lnTo>
                  <a:pt x="228011" y="32573"/>
                </a:lnTo>
                <a:cubicBezTo>
                  <a:pt x="234008" y="32573"/>
                  <a:pt x="238869" y="37434"/>
                  <a:pt x="238869" y="43431"/>
                </a:cubicBezTo>
                <a:lnTo>
                  <a:pt x="238869" y="184581"/>
                </a:lnTo>
                <a:cubicBezTo>
                  <a:pt x="238869" y="190577"/>
                  <a:pt x="234008" y="195438"/>
                  <a:pt x="228011" y="195438"/>
                </a:cubicBezTo>
                <a:lnTo>
                  <a:pt x="162865" y="195438"/>
                </a:lnTo>
                <a:cubicBezTo>
                  <a:pt x="144876" y="195438"/>
                  <a:pt x="130292" y="210022"/>
                  <a:pt x="130292" y="228011"/>
                </a:cubicBezTo>
                <a:cubicBezTo>
                  <a:pt x="130292" y="210022"/>
                  <a:pt x="115709" y="195438"/>
                  <a:pt x="97719" y="195438"/>
                </a:cubicBezTo>
                <a:close/>
              </a:path>
            </a:pathLst>
          </a:custGeom>
          <a:noFill/>
          <a:ln w="21715" cap="rnd">
            <a:solidFill>
              <a:srgbClr val="55627E"/>
            </a:solidFill>
            <a:prstDash val="solid"/>
            <a:round/>
          </a:ln>
        </p:spPr>
      </p:sp>
      <p:sp>
        <p:nvSpPr>
          <p:cNvPr id="72" name="Text 70"/>
          <p:cNvSpPr/>
          <p:nvPr/>
        </p:nvSpPr>
        <p:spPr>
          <a:xfrm>
            <a:off x="1488068" y="4461619"/>
            <a:ext cx="1530007"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Swagger y Actuator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55" dirty="0"/>
          </a:p>
        </p:txBody>
      </p:sp>
      <p:sp>
        <p:nvSpPr>
          <p:cNvPr id="73" name="Shape 71"/>
          <p:cNvSpPr/>
          <p:nvPr/>
        </p:nvSpPr>
        <p:spPr>
          <a:xfrm>
            <a:off x="3638724" y="2327801"/>
            <a:ext cx="3071404" cy="501124"/>
          </a:xfrm>
          <a:prstGeom prst="roundRect">
            <a:avLst>
              <a:gd name="adj" fmla="val 1642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4" name="Shape 72"/>
          <p:cNvSpPr/>
          <p:nvPr/>
        </p:nvSpPr>
        <p:spPr>
          <a:xfrm>
            <a:off x="3730164" y="2393207"/>
            <a:ext cx="370312" cy="370312"/>
          </a:xfrm>
          <a:prstGeom prst="ellipse">
            <a:avLst/>
          </a:prstGeom>
          <a:solidFill>
            <a:srgbClr val="E4EAF1"/>
          </a:solidFill>
          <a:ln w="12700">
            <a:solidFill>
              <a:srgbClr val="E4EAF1"/>
            </a:solidFill>
            <a:prstDash val="solid"/>
          </a:ln>
        </p:spPr>
      </p:sp>
      <p:sp>
        <p:nvSpPr>
          <p:cNvPr id="75" name="Icono settings"/>
          <p:cNvSpPr/>
          <p:nvPr/>
        </p:nvSpPr>
        <p:spPr>
          <a:xfrm>
            <a:off x="3785028" y="2448071"/>
            <a:ext cx="260584" cy="260584"/>
          </a:xfrm>
          <a:custGeom>
            <a:avLst/>
            <a:gdLst/>
            <a:ahLst/>
            <a:cxnLst/>
            <a:rect l="l" t="t" r="r" b="b"/>
            <a:pathLst>
              <a:path w="260584" h="260584">
                <a:moveTo>
                  <a:pt x="132681" y="21715"/>
                </a:moveTo>
                <a:lnTo>
                  <a:pt x="127904" y="21715"/>
                </a:lnTo>
                <a:cubicBezTo>
                  <a:pt x="115910" y="21715"/>
                  <a:pt x="106188" y="31438"/>
                  <a:pt x="106188" y="43431"/>
                </a:cubicBezTo>
                <a:lnTo>
                  <a:pt x="106188" y="45385"/>
                </a:lnTo>
                <a:cubicBezTo>
                  <a:pt x="106180" y="53135"/>
                  <a:pt x="102042" y="60294"/>
                  <a:pt x="95330" y="64169"/>
                </a:cubicBezTo>
                <a:lnTo>
                  <a:pt x="90662" y="66883"/>
                </a:lnTo>
                <a:cubicBezTo>
                  <a:pt x="83943" y="70762"/>
                  <a:pt x="75665" y="70762"/>
                  <a:pt x="68946" y="66883"/>
                </a:cubicBezTo>
                <a:lnTo>
                  <a:pt x="67318" y="66015"/>
                </a:lnTo>
                <a:cubicBezTo>
                  <a:pt x="56942" y="60030"/>
                  <a:pt x="43680" y="63576"/>
                  <a:pt x="37676" y="73941"/>
                </a:cubicBezTo>
                <a:lnTo>
                  <a:pt x="35287" y="78067"/>
                </a:lnTo>
                <a:cubicBezTo>
                  <a:pt x="29302" y="88442"/>
                  <a:pt x="32849" y="101705"/>
                  <a:pt x="43214" y="107708"/>
                </a:cubicBezTo>
                <a:lnTo>
                  <a:pt x="44842" y="108794"/>
                </a:lnTo>
                <a:cubicBezTo>
                  <a:pt x="51521" y="112650"/>
                  <a:pt x="55653" y="119758"/>
                  <a:pt x="55700" y="127469"/>
                </a:cubicBezTo>
                <a:lnTo>
                  <a:pt x="55700" y="133007"/>
                </a:lnTo>
                <a:cubicBezTo>
                  <a:pt x="55731" y="140796"/>
                  <a:pt x="51588" y="148005"/>
                  <a:pt x="44842" y="151899"/>
                </a:cubicBezTo>
                <a:lnTo>
                  <a:pt x="43214" y="152876"/>
                </a:lnTo>
                <a:cubicBezTo>
                  <a:pt x="32849" y="158880"/>
                  <a:pt x="29302" y="172142"/>
                  <a:pt x="35287" y="182518"/>
                </a:cubicBezTo>
                <a:lnTo>
                  <a:pt x="37676" y="186644"/>
                </a:lnTo>
                <a:cubicBezTo>
                  <a:pt x="43680" y="197008"/>
                  <a:pt x="56942" y="200555"/>
                  <a:pt x="67318" y="194570"/>
                </a:cubicBezTo>
                <a:lnTo>
                  <a:pt x="68946" y="193701"/>
                </a:lnTo>
                <a:cubicBezTo>
                  <a:pt x="75665" y="189822"/>
                  <a:pt x="83943" y="189822"/>
                  <a:pt x="90662" y="193701"/>
                </a:cubicBezTo>
                <a:lnTo>
                  <a:pt x="95330" y="196415"/>
                </a:lnTo>
                <a:cubicBezTo>
                  <a:pt x="102042" y="200291"/>
                  <a:pt x="106180" y="207449"/>
                  <a:pt x="106188" y="215199"/>
                </a:cubicBezTo>
                <a:lnTo>
                  <a:pt x="106188" y="217154"/>
                </a:lnTo>
                <a:cubicBezTo>
                  <a:pt x="106188" y="229147"/>
                  <a:pt x="115910" y="238869"/>
                  <a:pt x="127904" y="238869"/>
                </a:cubicBezTo>
                <a:lnTo>
                  <a:pt x="132681" y="238869"/>
                </a:lnTo>
                <a:cubicBezTo>
                  <a:pt x="144674" y="238869"/>
                  <a:pt x="154396" y="229147"/>
                  <a:pt x="154396" y="217154"/>
                </a:cubicBezTo>
                <a:lnTo>
                  <a:pt x="154396" y="215199"/>
                </a:lnTo>
                <a:cubicBezTo>
                  <a:pt x="154404" y="207449"/>
                  <a:pt x="158542" y="200291"/>
                  <a:pt x="165254" y="196415"/>
                </a:cubicBezTo>
                <a:lnTo>
                  <a:pt x="169923" y="193701"/>
                </a:lnTo>
                <a:cubicBezTo>
                  <a:pt x="176642" y="189822"/>
                  <a:pt x="184919" y="189822"/>
                  <a:pt x="191638" y="193701"/>
                </a:cubicBezTo>
                <a:lnTo>
                  <a:pt x="193267" y="194570"/>
                </a:lnTo>
                <a:cubicBezTo>
                  <a:pt x="203642" y="200555"/>
                  <a:pt x="216905" y="197008"/>
                  <a:pt x="222908" y="186644"/>
                </a:cubicBezTo>
                <a:lnTo>
                  <a:pt x="225297" y="182409"/>
                </a:lnTo>
                <a:cubicBezTo>
                  <a:pt x="231282" y="172034"/>
                  <a:pt x="227736" y="158771"/>
                  <a:pt x="217371" y="152768"/>
                </a:cubicBezTo>
                <a:lnTo>
                  <a:pt x="215742" y="151899"/>
                </a:lnTo>
                <a:cubicBezTo>
                  <a:pt x="208997" y="148005"/>
                  <a:pt x="204854" y="140796"/>
                  <a:pt x="204884" y="133007"/>
                </a:cubicBezTo>
                <a:lnTo>
                  <a:pt x="204884" y="127578"/>
                </a:lnTo>
                <a:cubicBezTo>
                  <a:pt x="204854" y="119789"/>
                  <a:pt x="208997" y="112580"/>
                  <a:pt x="215742" y="108685"/>
                </a:cubicBezTo>
                <a:lnTo>
                  <a:pt x="217371" y="107708"/>
                </a:lnTo>
                <a:cubicBezTo>
                  <a:pt x="227736" y="101705"/>
                  <a:pt x="231282" y="88442"/>
                  <a:pt x="225297" y="78067"/>
                </a:cubicBezTo>
                <a:lnTo>
                  <a:pt x="222908" y="73941"/>
                </a:lnTo>
                <a:cubicBezTo>
                  <a:pt x="216905" y="63576"/>
                  <a:pt x="203642" y="60030"/>
                  <a:pt x="193267" y="66015"/>
                </a:cubicBezTo>
                <a:lnTo>
                  <a:pt x="191638" y="66883"/>
                </a:lnTo>
                <a:cubicBezTo>
                  <a:pt x="184919" y="70762"/>
                  <a:pt x="176642" y="70762"/>
                  <a:pt x="169923" y="66883"/>
                </a:cubicBezTo>
                <a:lnTo>
                  <a:pt x="165254" y="64169"/>
                </a:lnTo>
                <a:cubicBezTo>
                  <a:pt x="158542" y="60294"/>
                  <a:pt x="154404" y="53135"/>
                  <a:pt x="154396" y="45385"/>
                </a:cubicBezTo>
                <a:lnTo>
                  <a:pt x="154396" y="43431"/>
                </a:lnTo>
                <a:cubicBezTo>
                  <a:pt x="154396" y="31438"/>
                  <a:pt x="144674" y="21715"/>
                  <a:pt x="132681" y="21715"/>
                </a:cubicBezTo>
                <a:close/>
                <a:moveTo>
                  <a:pt x="162865" y="130292"/>
                </a:moveTo>
                <a:cubicBezTo>
                  <a:pt x="162865" y="148282"/>
                  <a:pt x="148282" y="162865"/>
                  <a:pt x="130292" y="162865"/>
                </a:cubicBezTo>
                <a:cubicBezTo>
                  <a:pt x="112303" y="162865"/>
                  <a:pt x="97719" y="148282"/>
                  <a:pt x="97719" y="130292"/>
                </a:cubicBezTo>
                <a:cubicBezTo>
                  <a:pt x="97719" y="112303"/>
                  <a:pt x="112303" y="97719"/>
                  <a:pt x="130292" y="97719"/>
                </a:cubicBezTo>
                <a:cubicBezTo>
                  <a:pt x="148282" y="97719"/>
                  <a:pt x="162865" y="112303"/>
                  <a:pt x="162865" y="130292"/>
                </a:cubicBezTo>
                <a:close/>
              </a:path>
            </a:pathLst>
          </a:custGeom>
          <a:noFill/>
          <a:ln w="21715" cap="rnd">
            <a:solidFill>
              <a:srgbClr val="1F4E8C"/>
            </a:solidFill>
            <a:prstDash val="solid"/>
            <a:round/>
          </a:ln>
        </p:spPr>
      </p:sp>
      <p:sp>
        <p:nvSpPr>
          <p:cNvPr id="76" name="Text 74"/>
          <p:cNvSpPr/>
          <p:nvPr/>
        </p:nvSpPr>
        <p:spPr>
          <a:xfrm>
            <a:off x="4155341" y="2327801"/>
            <a:ext cx="2499924"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ServicioDeSolicitudes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5" dirty="0"/>
          </a:p>
        </p:txBody>
      </p:sp>
      <p:sp>
        <p:nvSpPr>
          <p:cNvPr id="77" name="Shape 75"/>
          <p:cNvSpPr/>
          <p:nvPr/>
        </p:nvSpPr>
        <p:spPr>
          <a:xfrm>
            <a:off x="3638724" y="3394710"/>
            <a:ext cx="1454876" cy="501124"/>
          </a:xfrm>
          <a:prstGeom prst="roundRect">
            <a:avLst>
              <a:gd name="adj" fmla="val 1642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8" name="Shape 76"/>
          <p:cNvSpPr/>
          <p:nvPr/>
        </p:nvSpPr>
        <p:spPr>
          <a:xfrm>
            <a:off x="3730164" y="3460116"/>
            <a:ext cx="370312" cy="370312"/>
          </a:xfrm>
          <a:prstGeom prst="ellipse">
            <a:avLst/>
          </a:prstGeom>
          <a:solidFill>
            <a:srgbClr val="E4EAF1"/>
          </a:solidFill>
          <a:ln w="12700">
            <a:solidFill>
              <a:srgbClr val="E4EAF1"/>
            </a:solidFill>
            <a:prstDash val="solid"/>
          </a:ln>
        </p:spPr>
      </p:sp>
      <p:sp>
        <p:nvSpPr>
          <p:cNvPr id="79" name="Icono file-text"/>
          <p:cNvSpPr/>
          <p:nvPr/>
        </p:nvSpPr>
        <p:spPr>
          <a:xfrm>
            <a:off x="3785028" y="3514980"/>
            <a:ext cx="260584" cy="260584"/>
          </a:xfrm>
          <a:custGeom>
            <a:avLst/>
            <a:gdLst/>
            <a:ahLst/>
            <a:cxnLst/>
            <a:rect l="l" t="t" r="r" b="b"/>
            <a:pathLst>
              <a:path w="260584" h="260584">
                <a:moveTo>
                  <a:pt x="162865" y="21715"/>
                </a:moveTo>
                <a:lnTo>
                  <a:pt x="65146" y="21715"/>
                </a:lnTo>
                <a:cubicBezTo>
                  <a:pt x="53153" y="21715"/>
                  <a:pt x="43431" y="31438"/>
                  <a:pt x="43431" y="43431"/>
                </a:cubicBezTo>
                <a:lnTo>
                  <a:pt x="43431" y="217154"/>
                </a:lnTo>
                <a:cubicBezTo>
                  <a:pt x="43431" y="229147"/>
                  <a:pt x="53153" y="238869"/>
                  <a:pt x="65146" y="238869"/>
                </a:cubicBezTo>
                <a:lnTo>
                  <a:pt x="195438" y="238869"/>
                </a:lnTo>
                <a:cubicBezTo>
                  <a:pt x="207431" y="238869"/>
                  <a:pt x="217154" y="229147"/>
                  <a:pt x="217154" y="217154"/>
                </a:cubicBezTo>
                <a:lnTo>
                  <a:pt x="217154" y="76004"/>
                </a:lnTo>
                <a:close/>
                <a:moveTo>
                  <a:pt x="152008" y="21715"/>
                </a:moveTo>
                <a:lnTo>
                  <a:pt x="152008" y="65146"/>
                </a:lnTo>
                <a:cubicBezTo>
                  <a:pt x="152008" y="77139"/>
                  <a:pt x="161730" y="86861"/>
                  <a:pt x="173723" y="86861"/>
                </a:cubicBezTo>
                <a:lnTo>
                  <a:pt x="217154" y="86861"/>
                </a:lnTo>
                <a:moveTo>
                  <a:pt x="108577" y="97719"/>
                </a:moveTo>
                <a:lnTo>
                  <a:pt x="86861" y="97719"/>
                </a:lnTo>
                <a:moveTo>
                  <a:pt x="173723" y="141150"/>
                </a:moveTo>
                <a:lnTo>
                  <a:pt x="86861" y="141150"/>
                </a:lnTo>
                <a:moveTo>
                  <a:pt x="173723" y="184581"/>
                </a:moveTo>
                <a:lnTo>
                  <a:pt x="86861" y="184581"/>
                </a:lnTo>
              </a:path>
            </a:pathLst>
          </a:custGeom>
          <a:noFill/>
          <a:ln w="21715" cap="rnd">
            <a:solidFill>
              <a:srgbClr val="1F4E8C"/>
            </a:solidFill>
            <a:prstDash val="solid"/>
            <a:round/>
          </a:ln>
        </p:spPr>
      </p:sp>
      <p:sp>
        <p:nvSpPr>
          <p:cNvPr id="80" name="Text 78"/>
          <p:cNvSpPr/>
          <p:nvPr/>
        </p:nvSpPr>
        <p:spPr>
          <a:xfrm>
            <a:off x="4155341" y="3394710"/>
            <a:ext cx="883395"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Solicitud</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con las reglas</a:t>
            </a:r>
            <a:endParaRPr lang="en-US" sz="955" dirty="0"/>
          </a:p>
        </p:txBody>
      </p:sp>
      <p:sp>
        <p:nvSpPr>
          <p:cNvPr id="81" name="Shape 79"/>
          <p:cNvSpPr/>
          <p:nvPr/>
        </p:nvSpPr>
        <p:spPr>
          <a:xfrm>
            <a:off x="5255253" y="3394710"/>
            <a:ext cx="1454876" cy="501124"/>
          </a:xfrm>
          <a:prstGeom prst="roundRect">
            <a:avLst>
              <a:gd name="adj" fmla="val 16422"/>
            </a:avLst>
          </a:prstGeom>
          <a:solidFill>
            <a:srgbClr val="FFFFFF"/>
          </a:solidFill>
          <a:ln w="12700">
            <a:solidFill>
              <a:srgbClr val="9AAFCB"/>
            </a:solidFill>
            <a:prstDash val="dash"/>
          </a:ln>
          <a:effectLst>
            <a:outerShdw sx="100000" sy="100000" kx="0" ky="0" algn="bl" rotWithShape="0" blurRad="76200" dist="19050" dir="5400000">
              <a:srgbClr val="0B1F3A">
                <a:alpha val="14000"/>
              </a:srgbClr>
            </a:outerShdw>
          </a:effectLst>
        </p:spPr>
      </p:sp>
      <p:sp>
        <p:nvSpPr>
          <p:cNvPr id="82" name="Shape 80"/>
          <p:cNvSpPr/>
          <p:nvPr/>
        </p:nvSpPr>
        <p:spPr>
          <a:xfrm>
            <a:off x="5346693" y="3460116"/>
            <a:ext cx="370312" cy="370312"/>
          </a:xfrm>
          <a:prstGeom prst="ellipse">
            <a:avLst/>
          </a:prstGeom>
          <a:solidFill>
            <a:srgbClr val="E4EAF1"/>
          </a:solidFill>
          <a:ln w="12700">
            <a:solidFill>
              <a:srgbClr val="E4EAF1"/>
            </a:solidFill>
            <a:prstDash val="solid"/>
          </a:ln>
        </p:spPr>
      </p:sp>
      <p:sp>
        <p:nvSpPr>
          <p:cNvPr id="83" name="Icono plug"/>
          <p:cNvSpPr/>
          <p:nvPr/>
        </p:nvSpPr>
        <p:spPr>
          <a:xfrm>
            <a:off x="5401557" y="3514980"/>
            <a:ext cx="260584" cy="260584"/>
          </a:xfrm>
          <a:custGeom>
            <a:avLst/>
            <a:gdLst/>
            <a:ahLst/>
            <a:cxnLst/>
            <a:rect l="l" t="t" r="r" b="b"/>
            <a:pathLst>
              <a:path w="260584" h="260584">
                <a:moveTo>
                  <a:pt x="130292" y="238869"/>
                </a:moveTo>
                <a:lnTo>
                  <a:pt x="130292" y="184581"/>
                </a:lnTo>
                <a:moveTo>
                  <a:pt x="97719" y="86861"/>
                </a:moveTo>
                <a:lnTo>
                  <a:pt x="97719" y="21715"/>
                </a:lnTo>
                <a:moveTo>
                  <a:pt x="162865" y="86861"/>
                </a:moveTo>
                <a:lnTo>
                  <a:pt x="162865" y="21715"/>
                </a:lnTo>
                <a:moveTo>
                  <a:pt x="195438" y="86861"/>
                </a:moveTo>
                <a:lnTo>
                  <a:pt x="195438" y="141150"/>
                </a:lnTo>
                <a:cubicBezTo>
                  <a:pt x="195438" y="165136"/>
                  <a:pt x="175994" y="184581"/>
                  <a:pt x="152008" y="184581"/>
                </a:cubicBezTo>
                <a:lnTo>
                  <a:pt x="108577" y="184581"/>
                </a:lnTo>
                <a:cubicBezTo>
                  <a:pt x="84591" y="184581"/>
                  <a:pt x="65146" y="165136"/>
                  <a:pt x="65146" y="141150"/>
                </a:cubicBezTo>
                <a:lnTo>
                  <a:pt x="65146" y="86861"/>
                </a:lnTo>
                <a:close/>
              </a:path>
            </a:pathLst>
          </a:custGeom>
          <a:noFill/>
          <a:ln w="21715" cap="rnd">
            <a:solidFill>
              <a:srgbClr val="1F4E8C"/>
            </a:solidFill>
            <a:prstDash val="solid"/>
            <a:round/>
          </a:ln>
        </p:spPr>
      </p:sp>
      <p:sp>
        <p:nvSpPr>
          <p:cNvPr id="84" name="Text 82"/>
          <p:cNvSpPr/>
          <p:nvPr/>
        </p:nvSpPr>
        <p:spPr>
          <a:xfrm>
            <a:off x="5771869" y="3394710"/>
            <a:ext cx="883395" cy="501124"/>
          </a:xfrm>
          <a:prstGeom prst="rect">
            <a:avLst/>
          </a:prstGeom>
          <a:noFill/>
          <a:ln/>
        </p:spPr>
        <p:txBody>
          <a:bodyPr wrap="square" lIns="12700" tIns="25400" rIns="25400" bIns="12700" rtlCol="0" anchor="ctr">
            <a:normAutofit/>
          </a:bodyPr>
          <a:lstStyle/>
          <a:p>
            <a:pPr algn="l" indent="0" marL="0">
              <a:lnSpc>
                <a:spcPct val="95000"/>
              </a:lnSpc>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Puertos</a:t>
            </a:r>
            <a:endParaRPr lang="en-US" sz="8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interfaces</a:t>
            </a:r>
            <a:endParaRPr lang="en-US" sz="800" dirty="0"/>
          </a:p>
        </p:txBody>
      </p:sp>
      <p:sp>
        <p:nvSpPr>
          <p:cNvPr id="85" name="Shape 83"/>
          <p:cNvSpPr/>
          <p:nvPr/>
        </p:nvSpPr>
        <p:spPr>
          <a:xfrm>
            <a:off x="3638724" y="4461619"/>
            <a:ext cx="3071404" cy="501124"/>
          </a:xfrm>
          <a:prstGeom prst="roundRect">
            <a:avLst>
              <a:gd name="adj" fmla="val 1642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6" name="Shape 84"/>
          <p:cNvSpPr/>
          <p:nvPr/>
        </p:nvSpPr>
        <p:spPr>
          <a:xfrm>
            <a:off x="3730164" y="4527025"/>
            <a:ext cx="370312" cy="370312"/>
          </a:xfrm>
          <a:prstGeom prst="ellipse">
            <a:avLst/>
          </a:prstGeom>
          <a:solidFill>
            <a:srgbClr val="E4EAF1"/>
          </a:solidFill>
          <a:ln w="12700">
            <a:solidFill>
              <a:srgbClr val="E4EAF1"/>
            </a:solidFill>
            <a:prstDash val="solid"/>
          </a:ln>
        </p:spPr>
      </p:sp>
      <p:sp>
        <p:nvSpPr>
          <p:cNvPr id="87" name="Icono triangle-alert"/>
          <p:cNvSpPr/>
          <p:nvPr/>
        </p:nvSpPr>
        <p:spPr>
          <a:xfrm>
            <a:off x="3785028" y="4581889"/>
            <a:ext cx="260584" cy="260584"/>
          </a:xfrm>
          <a:custGeom>
            <a:avLst/>
            <a:gdLst/>
            <a:ahLst/>
            <a:cxnLst/>
            <a:rect l="l" t="t" r="r" b="b"/>
            <a:pathLst>
              <a:path w="260584" h="260584">
                <a:moveTo>
                  <a:pt x="235937" y="195438"/>
                </a:moveTo>
                <a:lnTo>
                  <a:pt x="149076" y="43431"/>
                </a:lnTo>
                <a:cubicBezTo>
                  <a:pt x="145220" y="36627"/>
                  <a:pt x="138004" y="32422"/>
                  <a:pt x="130184" y="32422"/>
                </a:cubicBezTo>
                <a:cubicBezTo>
                  <a:pt x="122363" y="32422"/>
                  <a:pt x="115147" y="36627"/>
                  <a:pt x="111291" y="43431"/>
                </a:cubicBezTo>
                <a:lnTo>
                  <a:pt x="24430" y="195438"/>
                </a:lnTo>
                <a:cubicBezTo>
                  <a:pt x="20533" y="202187"/>
                  <a:pt x="20551" y="210507"/>
                  <a:pt x="24478" y="217239"/>
                </a:cubicBezTo>
                <a:cubicBezTo>
                  <a:pt x="28405" y="223970"/>
                  <a:pt x="35638" y="228081"/>
                  <a:pt x="43431" y="228011"/>
                </a:cubicBezTo>
                <a:lnTo>
                  <a:pt x="217154" y="228011"/>
                </a:lnTo>
                <a:cubicBezTo>
                  <a:pt x="224908" y="228003"/>
                  <a:pt x="232069" y="223861"/>
                  <a:pt x="235943" y="217144"/>
                </a:cubicBezTo>
                <a:cubicBezTo>
                  <a:pt x="239817" y="210427"/>
                  <a:pt x="239815" y="202154"/>
                  <a:pt x="235937" y="195438"/>
                </a:cubicBezTo>
                <a:moveTo>
                  <a:pt x="130292" y="97719"/>
                </a:moveTo>
                <a:lnTo>
                  <a:pt x="130292" y="141150"/>
                </a:lnTo>
                <a:moveTo>
                  <a:pt x="130292" y="184581"/>
                </a:moveTo>
                <a:lnTo>
                  <a:pt x="130401" y="184581"/>
                </a:lnTo>
              </a:path>
            </a:pathLst>
          </a:custGeom>
          <a:noFill/>
          <a:ln w="21715" cap="rnd">
            <a:solidFill>
              <a:srgbClr val="1F4E8C"/>
            </a:solidFill>
            <a:prstDash val="solid"/>
            <a:round/>
          </a:ln>
        </p:spPr>
      </p:sp>
      <p:sp>
        <p:nvSpPr>
          <p:cNvPr id="88" name="Text 86"/>
          <p:cNvSpPr/>
          <p:nvPr/>
        </p:nvSpPr>
        <p:spPr>
          <a:xfrm>
            <a:off x="4155341" y="4461619"/>
            <a:ext cx="2499924"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Excepciones del dominio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TransicionNoPermitida · SolicitudYaExiste</a:t>
            </a:r>
            <a:endParaRPr lang="en-US" sz="955" dirty="0"/>
          </a:p>
        </p:txBody>
      </p:sp>
      <p:sp>
        <p:nvSpPr>
          <p:cNvPr id="89" name="Shape 87"/>
          <p:cNvSpPr/>
          <p:nvPr/>
        </p:nvSpPr>
        <p:spPr>
          <a:xfrm>
            <a:off x="7275913" y="2327801"/>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90" name="Shape 88"/>
          <p:cNvSpPr/>
          <p:nvPr/>
        </p:nvSpPr>
        <p:spPr>
          <a:xfrm>
            <a:off x="7367353" y="2393207"/>
            <a:ext cx="370312" cy="370312"/>
          </a:xfrm>
          <a:prstGeom prst="ellipse">
            <a:avLst/>
          </a:prstGeom>
          <a:solidFill>
            <a:srgbClr val="E8EBEE"/>
          </a:solidFill>
          <a:ln w="12700">
            <a:solidFill>
              <a:srgbClr val="E8EBEE"/>
            </a:solidFill>
            <a:prstDash val="solid"/>
          </a:ln>
        </p:spPr>
      </p:sp>
      <p:sp>
        <p:nvSpPr>
          <p:cNvPr id="91" name="Icono save"/>
          <p:cNvSpPr/>
          <p:nvPr/>
        </p:nvSpPr>
        <p:spPr>
          <a:xfrm>
            <a:off x="7422217" y="2448071"/>
            <a:ext cx="260584" cy="260584"/>
          </a:xfrm>
          <a:custGeom>
            <a:avLst/>
            <a:gdLst/>
            <a:ahLst/>
            <a:cxnLst/>
            <a:rect l="l" t="t" r="r" b="b"/>
            <a:pathLst>
              <a:path w="260584" h="260584">
                <a:moveTo>
                  <a:pt x="165037" y="32573"/>
                </a:moveTo>
                <a:cubicBezTo>
                  <a:pt x="170765" y="32655"/>
                  <a:pt x="176228" y="34996"/>
                  <a:pt x="180238" y="39088"/>
                </a:cubicBezTo>
                <a:lnTo>
                  <a:pt x="221497" y="80347"/>
                </a:lnTo>
                <a:cubicBezTo>
                  <a:pt x="225588" y="84356"/>
                  <a:pt x="227930" y="89820"/>
                  <a:pt x="228011" y="95548"/>
                </a:cubicBezTo>
                <a:lnTo>
                  <a:pt x="228011" y="206296"/>
                </a:lnTo>
                <a:cubicBezTo>
                  <a:pt x="228011" y="218289"/>
                  <a:pt x="218289" y="228011"/>
                  <a:pt x="206296" y="228011"/>
                </a:cubicBezTo>
                <a:lnTo>
                  <a:pt x="54288" y="228011"/>
                </a:lnTo>
                <a:cubicBezTo>
                  <a:pt x="42295" y="228011"/>
                  <a:pt x="32573" y="218289"/>
                  <a:pt x="32573" y="206296"/>
                </a:cubicBezTo>
                <a:lnTo>
                  <a:pt x="32573" y="54288"/>
                </a:lnTo>
                <a:cubicBezTo>
                  <a:pt x="32573" y="42295"/>
                  <a:pt x="42295" y="32573"/>
                  <a:pt x="54288" y="32573"/>
                </a:cubicBezTo>
                <a:close/>
                <a:moveTo>
                  <a:pt x="184581" y="228011"/>
                </a:moveTo>
                <a:lnTo>
                  <a:pt x="184581" y="152008"/>
                </a:lnTo>
                <a:cubicBezTo>
                  <a:pt x="184581" y="146011"/>
                  <a:pt x="179719" y="141150"/>
                  <a:pt x="173723" y="141150"/>
                </a:cubicBezTo>
                <a:lnTo>
                  <a:pt x="86861" y="141150"/>
                </a:lnTo>
                <a:cubicBezTo>
                  <a:pt x="80865" y="141150"/>
                  <a:pt x="76004" y="146011"/>
                  <a:pt x="76004" y="152008"/>
                </a:cubicBezTo>
                <a:lnTo>
                  <a:pt x="76004" y="228011"/>
                </a:lnTo>
                <a:moveTo>
                  <a:pt x="76004" y="32573"/>
                </a:moveTo>
                <a:lnTo>
                  <a:pt x="76004" y="76004"/>
                </a:lnTo>
                <a:cubicBezTo>
                  <a:pt x="76004" y="82000"/>
                  <a:pt x="80865" y="86861"/>
                  <a:pt x="86861" y="86861"/>
                </a:cubicBezTo>
                <a:lnTo>
                  <a:pt x="162865" y="86861"/>
                </a:lnTo>
              </a:path>
            </a:pathLst>
          </a:custGeom>
          <a:noFill/>
          <a:ln w="21715" cap="rnd">
            <a:solidFill>
              <a:srgbClr val="3D5675"/>
            </a:solidFill>
            <a:prstDash val="solid"/>
            <a:round/>
          </a:ln>
        </p:spPr>
      </p:sp>
      <p:sp>
        <p:nvSpPr>
          <p:cNvPr id="92" name="Text 90"/>
          <p:cNvSpPr/>
          <p:nvPr/>
        </p:nvSpPr>
        <p:spPr>
          <a:xfrm>
            <a:off x="7792530" y="2327801"/>
            <a:ext cx="1336023"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RepositorioJpa</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@Primary · guarda la solicitud</a:t>
            </a:r>
            <a:endParaRPr lang="en-US" sz="955" dirty="0"/>
          </a:p>
        </p:txBody>
      </p:sp>
      <p:sp>
        <p:nvSpPr>
          <p:cNvPr id="93" name="Text 91"/>
          <p:cNvSpPr/>
          <p:nvPr/>
        </p:nvSpPr>
        <p:spPr>
          <a:xfrm>
            <a:off x="7275913" y="3039074"/>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RegistradorDeEventosJpa</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5" dirty="0"/>
          </a:p>
        </p:txBody>
      </p:sp>
      <p:sp>
        <p:nvSpPr>
          <p:cNvPr id="94" name="Shape 92"/>
          <p:cNvSpPr/>
          <p:nvPr/>
        </p:nvSpPr>
        <p:spPr>
          <a:xfrm>
            <a:off x="7275913" y="3750346"/>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95" name="Shape 93"/>
          <p:cNvSpPr/>
          <p:nvPr/>
        </p:nvSpPr>
        <p:spPr>
          <a:xfrm>
            <a:off x="7367353" y="3815752"/>
            <a:ext cx="370312" cy="370312"/>
          </a:xfrm>
          <a:prstGeom prst="ellipse">
            <a:avLst/>
          </a:prstGeom>
          <a:solidFill>
            <a:srgbClr val="E8EBEE"/>
          </a:solidFill>
          <a:ln w="12700">
            <a:solidFill>
              <a:srgbClr val="E8EBEE"/>
            </a:solidFill>
            <a:prstDash val="solid"/>
          </a:ln>
        </p:spPr>
      </p:sp>
      <p:sp>
        <p:nvSpPr>
          <p:cNvPr id="96" name="Icono timer"/>
          <p:cNvSpPr/>
          <p:nvPr/>
        </p:nvSpPr>
        <p:spPr>
          <a:xfrm>
            <a:off x="7422217" y="3870616"/>
            <a:ext cx="260584" cy="260584"/>
          </a:xfrm>
          <a:custGeom>
            <a:avLst/>
            <a:gdLst/>
            <a:ahLst/>
            <a:cxnLst/>
            <a:rect l="l" t="t" r="r" b="b"/>
            <a:pathLst>
              <a:path w="260584" h="260584">
                <a:moveTo>
                  <a:pt x="108577" y="21715"/>
                </a:moveTo>
                <a:lnTo>
                  <a:pt x="152008" y="21715"/>
                </a:lnTo>
                <a:moveTo>
                  <a:pt x="130292" y="152008"/>
                </a:moveTo>
                <a:lnTo>
                  <a:pt x="162865" y="119435"/>
                </a:lnTo>
                <a:moveTo>
                  <a:pt x="217154" y="152008"/>
                </a:moveTo>
                <a:cubicBezTo>
                  <a:pt x="217154" y="199980"/>
                  <a:pt x="178264" y="238869"/>
                  <a:pt x="130292" y="238869"/>
                </a:cubicBezTo>
                <a:cubicBezTo>
                  <a:pt x="82320" y="238869"/>
                  <a:pt x="43431" y="199980"/>
                  <a:pt x="43431" y="152008"/>
                </a:cubicBezTo>
                <a:cubicBezTo>
                  <a:pt x="43431" y="104035"/>
                  <a:pt x="82320" y="65146"/>
                  <a:pt x="130292" y="65146"/>
                </a:cubicBezTo>
                <a:cubicBezTo>
                  <a:pt x="178264" y="65146"/>
                  <a:pt x="217154" y="104035"/>
                  <a:pt x="217154" y="152008"/>
                </a:cubicBezTo>
                <a:close/>
              </a:path>
            </a:pathLst>
          </a:custGeom>
          <a:noFill/>
          <a:ln w="21715" cap="rnd">
            <a:solidFill>
              <a:srgbClr val="3D5675"/>
            </a:solidFill>
            <a:prstDash val="solid"/>
            <a:round/>
          </a:ln>
        </p:spPr>
      </p:sp>
      <p:sp>
        <p:nvSpPr>
          <p:cNvPr id="97" name="Text 95"/>
          <p:cNvSpPr/>
          <p:nvPr/>
        </p:nvSpPr>
        <p:spPr>
          <a:xfrm>
            <a:off x="7792530" y="3750346"/>
            <a:ext cx="1336023"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Relevador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55" dirty="0"/>
          </a:p>
        </p:txBody>
      </p:sp>
      <p:sp>
        <p:nvSpPr>
          <p:cNvPr id="98" name="Text 96"/>
          <p:cNvSpPr/>
          <p:nvPr/>
        </p:nvSpPr>
        <p:spPr>
          <a:xfrm>
            <a:off x="7275913" y="4461619"/>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PublicadorConReintento</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@Primary · 3 intentos</a:t>
            </a:r>
            <a:endParaRPr lang="en-US" sz="955" dirty="0"/>
          </a:p>
        </p:txBody>
      </p:sp>
      <p:sp>
        <p:nvSpPr>
          <p:cNvPr id="99" name="Shape 97"/>
          <p:cNvSpPr/>
          <p:nvPr/>
        </p:nvSpPr>
        <p:spPr>
          <a:xfrm>
            <a:off x="9442062" y="2327801"/>
            <a:ext cx="1778181" cy="1212396"/>
          </a:xfrm>
          <a:prstGeom prst="roundRect">
            <a:avLst>
              <a:gd name="adj" fmla="val 6788"/>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100" name="Shape 98"/>
          <p:cNvSpPr/>
          <p:nvPr/>
        </p:nvSpPr>
        <p:spPr>
          <a:xfrm>
            <a:off x="9533502" y="2723687"/>
            <a:ext cx="420624" cy="420624"/>
          </a:xfrm>
          <a:prstGeom prst="ellipse">
            <a:avLst/>
          </a:prstGeom>
          <a:solidFill>
            <a:srgbClr val="E8EBEE"/>
          </a:solidFill>
          <a:ln w="12700">
            <a:solidFill>
              <a:srgbClr val="E8EBEE"/>
            </a:solidFill>
            <a:prstDash val="solid"/>
          </a:ln>
        </p:spPr>
      </p:sp>
      <p:sp>
        <p:nvSpPr>
          <p:cNvPr id="101" name="Icono database"/>
          <p:cNvSpPr/>
          <p:nvPr/>
        </p:nvSpPr>
        <p:spPr>
          <a:xfrm>
            <a:off x="9588366" y="27785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102" name="Text 100"/>
          <p:cNvSpPr/>
          <p:nvPr/>
        </p:nvSpPr>
        <p:spPr>
          <a:xfrm>
            <a:off x="10008990" y="2327801"/>
            <a:ext cx="1156389" cy="1212396"/>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db-solicitudes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tablas solicitud y evento</a:t>
            </a:r>
            <a:endParaRPr lang="en-US" sz="955" dirty="0"/>
          </a:p>
        </p:txBody>
      </p:sp>
      <p:sp>
        <p:nvSpPr>
          <p:cNvPr id="103" name="Text 101"/>
          <p:cNvSpPr/>
          <p:nvPr/>
        </p:nvSpPr>
        <p:spPr>
          <a:xfrm>
            <a:off x="9442062" y="4461619"/>
            <a:ext cx="1778181"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servicio-notificaciones</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recibe el evento</a:t>
            </a:r>
            <a:endParaRPr lang="en-US" sz="955" dirty="0"/>
          </a:p>
        </p:txBody>
      </p:sp>
      <p:sp>
        <p:nvSpPr>
          <p:cNvPr id="104" name="Shape 102"/>
          <p:cNvSpPr/>
          <p:nvPr/>
        </p:nvSpPr>
        <p:spPr>
          <a:xfrm>
            <a:off x="3638724" y="5851833"/>
            <a:ext cx="3071404" cy="420297"/>
          </a:xfrm>
          <a:prstGeom prst="roundRect">
            <a:avLst>
              <a:gd name="adj" fmla="val 1958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05" name="Shape 103"/>
          <p:cNvSpPr/>
          <p:nvPr/>
        </p:nvSpPr>
        <p:spPr>
          <a:xfrm>
            <a:off x="3730164" y="5897841"/>
            <a:ext cx="328283" cy="328283"/>
          </a:xfrm>
          <a:prstGeom prst="ellipse">
            <a:avLst/>
          </a:prstGeom>
          <a:solidFill>
            <a:srgbClr val="E2E5EA"/>
          </a:solidFill>
          <a:ln w="12700">
            <a:solidFill>
              <a:srgbClr val="E2E5EA"/>
            </a:solidFill>
            <a:prstDash val="solid"/>
          </a:ln>
        </p:spPr>
      </p:sp>
      <p:sp>
        <p:nvSpPr>
          <p:cNvPr id="106" name="Icono settings"/>
          <p:cNvSpPr/>
          <p:nvPr/>
        </p:nvSpPr>
        <p:spPr>
          <a:xfrm>
            <a:off x="3785028" y="5952705"/>
            <a:ext cx="218555" cy="218555"/>
          </a:xfrm>
          <a:custGeom>
            <a:avLst/>
            <a:gdLst/>
            <a:ahLst/>
            <a:cxnLst/>
            <a:rect l="l" t="t" r="r" b="b"/>
            <a:pathLst>
              <a:path w="218555" h="218555">
                <a:moveTo>
                  <a:pt x="111281" y="18213"/>
                </a:moveTo>
                <a:lnTo>
                  <a:pt x="107274" y="18213"/>
                </a:lnTo>
                <a:cubicBezTo>
                  <a:pt x="97215" y="18213"/>
                  <a:pt x="89061" y="26367"/>
                  <a:pt x="89061" y="36426"/>
                </a:cubicBezTo>
                <a:lnTo>
                  <a:pt x="89061" y="38065"/>
                </a:lnTo>
                <a:cubicBezTo>
                  <a:pt x="89054" y="44565"/>
                  <a:pt x="85584" y="50569"/>
                  <a:pt x="79955" y="53819"/>
                </a:cubicBezTo>
                <a:lnTo>
                  <a:pt x="76039" y="56096"/>
                </a:lnTo>
                <a:cubicBezTo>
                  <a:pt x="70404" y="59349"/>
                  <a:pt x="63461" y="59349"/>
                  <a:pt x="57826" y="56096"/>
                </a:cubicBezTo>
                <a:lnTo>
                  <a:pt x="56460" y="55367"/>
                </a:lnTo>
                <a:cubicBezTo>
                  <a:pt x="47758" y="50347"/>
                  <a:pt x="36635" y="53322"/>
                  <a:pt x="31599" y="62015"/>
                </a:cubicBezTo>
                <a:lnTo>
                  <a:pt x="29596" y="65475"/>
                </a:lnTo>
                <a:cubicBezTo>
                  <a:pt x="24576" y="74177"/>
                  <a:pt x="27551" y="85301"/>
                  <a:pt x="36244" y="90336"/>
                </a:cubicBezTo>
                <a:lnTo>
                  <a:pt x="37610" y="91247"/>
                </a:lnTo>
                <a:cubicBezTo>
                  <a:pt x="43211" y="94480"/>
                  <a:pt x="46677" y="100442"/>
                  <a:pt x="46716" y="106910"/>
                </a:cubicBezTo>
                <a:lnTo>
                  <a:pt x="46716" y="111554"/>
                </a:lnTo>
                <a:cubicBezTo>
                  <a:pt x="46742" y="118087"/>
                  <a:pt x="43267" y="124133"/>
                  <a:pt x="37610" y="127399"/>
                </a:cubicBezTo>
                <a:lnTo>
                  <a:pt x="36244" y="128219"/>
                </a:lnTo>
                <a:cubicBezTo>
                  <a:pt x="27551" y="133254"/>
                  <a:pt x="24576" y="144377"/>
                  <a:pt x="29596" y="153079"/>
                </a:cubicBezTo>
                <a:lnTo>
                  <a:pt x="31599" y="156540"/>
                </a:lnTo>
                <a:cubicBezTo>
                  <a:pt x="36635" y="165233"/>
                  <a:pt x="47758" y="168207"/>
                  <a:pt x="56460" y="163187"/>
                </a:cubicBezTo>
                <a:lnTo>
                  <a:pt x="57826" y="162459"/>
                </a:lnTo>
                <a:cubicBezTo>
                  <a:pt x="63461" y="159206"/>
                  <a:pt x="70404" y="159206"/>
                  <a:pt x="76039" y="162459"/>
                </a:cubicBezTo>
                <a:lnTo>
                  <a:pt x="79955" y="164736"/>
                </a:lnTo>
                <a:cubicBezTo>
                  <a:pt x="85584" y="167986"/>
                  <a:pt x="89054" y="173990"/>
                  <a:pt x="89061" y="180490"/>
                </a:cubicBezTo>
                <a:lnTo>
                  <a:pt x="89061" y="182129"/>
                </a:lnTo>
                <a:cubicBezTo>
                  <a:pt x="89061" y="192188"/>
                  <a:pt x="97215" y="200342"/>
                  <a:pt x="107274" y="200342"/>
                </a:cubicBezTo>
                <a:lnTo>
                  <a:pt x="111281" y="200342"/>
                </a:lnTo>
                <a:cubicBezTo>
                  <a:pt x="121339" y="200342"/>
                  <a:pt x="129494" y="192188"/>
                  <a:pt x="129494" y="182129"/>
                </a:cubicBezTo>
                <a:lnTo>
                  <a:pt x="129494" y="180490"/>
                </a:lnTo>
                <a:cubicBezTo>
                  <a:pt x="129500" y="173990"/>
                  <a:pt x="132971" y="167986"/>
                  <a:pt x="138600" y="164736"/>
                </a:cubicBezTo>
                <a:lnTo>
                  <a:pt x="142516" y="162459"/>
                </a:lnTo>
                <a:cubicBezTo>
                  <a:pt x="148151" y="159206"/>
                  <a:pt x="155094" y="159206"/>
                  <a:pt x="160729" y="162459"/>
                </a:cubicBezTo>
                <a:lnTo>
                  <a:pt x="162095" y="163187"/>
                </a:lnTo>
                <a:cubicBezTo>
                  <a:pt x="170797" y="168207"/>
                  <a:pt x="181920" y="165233"/>
                  <a:pt x="186955" y="156540"/>
                </a:cubicBezTo>
                <a:lnTo>
                  <a:pt x="188959" y="152988"/>
                </a:lnTo>
                <a:cubicBezTo>
                  <a:pt x="193979" y="144286"/>
                  <a:pt x="191004" y="133163"/>
                  <a:pt x="182311" y="128128"/>
                </a:cubicBezTo>
                <a:lnTo>
                  <a:pt x="180945" y="127399"/>
                </a:lnTo>
                <a:cubicBezTo>
                  <a:pt x="175288" y="124133"/>
                  <a:pt x="171813" y="118087"/>
                  <a:pt x="171839" y="111554"/>
                </a:cubicBezTo>
                <a:lnTo>
                  <a:pt x="171839" y="107001"/>
                </a:lnTo>
                <a:cubicBezTo>
                  <a:pt x="171813" y="100468"/>
                  <a:pt x="175288" y="94422"/>
                  <a:pt x="180945" y="91156"/>
                </a:cubicBezTo>
                <a:lnTo>
                  <a:pt x="182311" y="90336"/>
                </a:lnTo>
                <a:cubicBezTo>
                  <a:pt x="191004" y="85301"/>
                  <a:pt x="193979" y="74177"/>
                  <a:pt x="188959" y="65475"/>
                </a:cubicBezTo>
                <a:lnTo>
                  <a:pt x="186955" y="62015"/>
                </a:lnTo>
                <a:cubicBezTo>
                  <a:pt x="181920" y="53322"/>
                  <a:pt x="170797" y="50347"/>
                  <a:pt x="162095" y="55367"/>
                </a:cubicBezTo>
                <a:lnTo>
                  <a:pt x="160729" y="56096"/>
                </a:lnTo>
                <a:cubicBezTo>
                  <a:pt x="155094" y="59349"/>
                  <a:pt x="148151" y="59349"/>
                  <a:pt x="142516" y="56096"/>
                </a:cubicBezTo>
                <a:lnTo>
                  <a:pt x="138600" y="53819"/>
                </a:lnTo>
                <a:cubicBezTo>
                  <a:pt x="132971" y="50569"/>
                  <a:pt x="129500" y="44565"/>
                  <a:pt x="129494" y="38065"/>
                </a:cubicBezTo>
                <a:lnTo>
                  <a:pt x="129494" y="36426"/>
                </a:lnTo>
                <a:cubicBezTo>
                  <a:pt x="129494" y="26367"/>
                  <a:pt x="121339" y="18213"/>
                  <a:pt x="111281" y="18213"/>
                </a:cubicBezTo>
                <a:close/>
                <a:moveTo>
                  <a:pt x="136597" y="109277"/>
                </a:moveTo>
                <a:cubicBezTo>
                  <a:pt x="136597" y="124365"/>
                  <a:pt x="124365" y="136597"/>
                  <a:pt x="109277" y="136597"/>
                </a:cubicBezTo>
                <a:cubicBezTo>
                  <a:pt x="94189" y="136597"/>
                  <a:pt x="81958" y="124365"/>
                  <a:pt x="81958" y="109277"/>
                </a:cubicBezTo>
                <a:cubicBezTo>
                  <a:pt x="81958" y="94189"/>
                  <a:pt x="94189" y="81958"/>
                  <a:pt x="109277" y="81958"/>
                </a:cubicBezTo>
                <a:cubicBezTo>
                  <a:pt x="124365" y="81958"/>
                  <a:pt x="136597" y="94189"/>
                  <a:pt x="136597" y="109277"/>
                </a:cubicBezTo>
                <a:close/>
              </a:path>
            </a:pathLst>
          </a:custGeom>
          <a:noFill/>
          <a:ln w="18213" cap="rnd">
            <a:solidFill>
              <a:srgbClr val="0B2350"/>
            </a:solidFill>
            <a:prstDash val="solid"/>
            <a:round/>
          </a:ln>
        </p:spPr>
      </p:sp>
      <p:sp>
        <p:nvSpPr>
          <p:cNvPr id="107" name="Text 105"/>
          <p:cNvSpPr/>
          <p:nvPr/>
        </p:nvSpPr>
        <p:spPr>
          <a:xfrm>
            <a:off x="4113311" y="5851833"/>
            <a:ext cx="2541954" cy="420297"/>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ConfiguracionDominio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@Bean: une puertos con adaptadores</a:t>
            </a:r>
            <a:endParaRPr lang="en-US" sz="955" dirty="0"/>
          </a:p>
        </p:txBody>
      </p:sp>
      <p:sp>
        <p:nvSpPr>
          <p:cNvPr id="108" name="Shape 106"/>
          <p:cNvSpPr/>
          <p:nvPr/>
        </p:nvSpPr>
        <p:spPr>
          <a:xfrm>
            <a:off x="7275913" y="5851833"/>
            <a:ext cx="3944330" cy="420297"/>
          </a:xfrm>
          <a:prstGeom prst="roundRect">
            <a:avLst>
              <a:gd name="adj" fmla="val 1958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09" name="Shape 107"/>
          <p:cNvSpPr/>
          <p:nvPr/>
        </p:nvSpPr>
        <p:spPr>
          <a:xfrm>
            <a:off x="7367353" y="5897841"/>
            <a:ext cx="328283" cy="328283"/>
          </a:xfrm>
          <a:prstGeom prst="ellipse">
            <a:avLst/>
          </a:prstGeom>
          <a:solidFill>
            <a:srgbClr val="E2E5EA"/>
          </a:solidFill>
          <a:ln w="12700">
            <a:solidFill>
              <a:srgbClr val="E2E5EA"/>
            </a:solidFill>
            <a:prstDash val="solid"/>
          </a:ln>
        </p:spPr>
      </p:sp>
      <p:sp>
        <p:nvSpPr>
          <p:cNvPr id="110" name="Icono waypoints"/>
          <p:cNvSpPr/>
          <p:nvPr/>
        </p:nvSpPr>
        <p:spPr>
          <a:xfrm>
            <a:off x="7422217" y="5952705"/>
            <a:ext cx="218555" cy="218555"/>
          </a:xfrm>
          <a:custGeom>
            <a:avLst/>
            <a:gdLst/>
            <a:ahLst/>
            <a:cxnLst/>
            <a:rect l="l" t="t" r="r" b="b"/>
            <a:pathLst>
              <a:path w="218555" h="218555">
                <a:moveTo>
                  <a:pt x="132043" y="40979"/>
                </a:moveTo>
                <a:cubicBezTo>
                  <a:pt x="132043" y="53552"/>
                  <a:pt x="121851" y="63745"/>
                  <a:pt x="109277" y="63745"/>
                </a:cubicBezTo>
                <a:cubicBezTo>
                  <a:pt x="96704" y="63745"/>
                  <a:pt x="86511" y="53552"/>
                  <a:pt x="86511" y="40979"/>
                </a:cubicBezTo>
                <a:cubicBezTo>
                  <a:pt x="86511" y="28406"/>
                  <a:pt x="96704" y="18213"/>
                  <a:pt x="109277" y="18213"/>
                </a:cubicBezTo>
                <a:cubicBezTo>
                  <a:pt x="121851" y="18213"/>
                  <a:pt x="132043" y="28406"/>
                  <a:pt x="132043" y="40979"/>
                </a:cubicBezTo>
                <a:close/>
                <a:moveTo>
                  <a:pt x="92886" y="57371"/>
                </a:moveTo>
                <a:lnTo>
                  <a:pt x="57371" y="92886"/>
                </a:lnTo>
                <a:moveTo>
                  <a:pt x="63745" y="109277"/>
                </a:moveTo>
                <a:cubicBezTo>
                  <a:pt x="63745" y="121851"/>
                  <a:pt x="53552" y="132043"/>
                  <a:pt x="40979" y="132043"/>
                </a:cubicBezTo>
                <a:cubicBezTo>
                  <a:pt x="28406" y="132043"/>
                  <a:pt x="18213" y="121851"/>
                  <a:pt x="18213" y="109277"/>
                </a:cubicBezTo>
                <a:cubicBezTo>
                  <a:pt x="18213" y="96704"/>
                  <a:pt x="28406" y="86511"/>
                  <a:pt x="40979" y="86511"/>
                </a:cubicBezTo>
                <a:cubicBezTo>
                  <a:pt x="53552" y="86511"/>
                  <a:pt x="63745" y="96704"/>
                  <a:pt x="63745" y="109277"/>
                </a:cubicBezTo>
                <a:close/>
                <a:moveTo>
                  <a:pt x="63745" y="109277"/>
                </a:moveTo>
                <a:lnTo>
                  <a:pt x="154810" y="109277"/>
                </a:lnTo>
                <a:moveTo>
                  <a:pt x="200342" y="109277"/>
                </a:moveTo>
                <a:cubicBezTo>
                  <a:pt x="200342" y="121851"/>
                  <a:pt x="190149" y="132043"/>
                  <a:pt x="177576" y="132043"/>
                </a:cubicBezTo>
                <a:cubicBezTo>
                  <a:pt x="165002" y="132043"/>
                  <a:pt x="154810" y="121851"/>
                  <a:pt x="154810" y="109277"/>
                </a:cubicBezTo>
                <a:cubicBezTo>
                  <a:pt x="154810" y="96704"/>
                  <a:pt x="165002" y="86511"/>
                  <a:pt x="177576" y="86511"/>
                </a:cubicBezTo>
                <a:cubicBezTo>
                  <a:pt x="190149" y="86511"/>
                  <a:pt x="200342" y="96704"/>
                  <a:pt x="200342" y="109277"/>
                </a:cubicBezTo>
                <a:close/>
                <a:moveTo>
                  <a:pt x="125669" y="161184"/>
                </a:moveTo>
                <a:lnTo>
                  <a:pt x="161184" y="125669"/>
                </a:lnTo>
                <a:moveTo>
                  <a:pt x="132043" y="177576"/>
                </a:moveTo>
                <a:cubicBezTo>
                  <a:pt x="132043" y="190149"/>
                  <a:pt x="121851" y="200342"/>
                  <a:pt x="109277" y="200342"/>
                </a:cubicBezTo>
                <a:cubicBezTo>
                  <a:pt x="96704" y="200342"/>
                  <a:pt x="86511" y="190149"/>
                  <a:pt x="86511" y="177576"/>
                </a:cubicBezTo>
                <a:cubicBezTo>
                  <a:pt x="86511" y="165002"/>
                  <a:pt x="96704" y="154810"/>
                  <a:pt x="109277" y="154810"/>
                </a:cubicBezTo>
                <a:cubicBezTo>
                  <a:pt x="121851" y="154810"/>
                  <a:pt x="132043" y="165002"/>
                  <a:pt x="132043" y="177576"/>
                </a:cubicBezTo>
                <a:close/>
              </a:path>
            </a:pathLst>
          </a:custGeom>
          <a:noFill/>
          <a:ln w="18213" cap="rnd">
            <a:solidFill>
              <a:srgbClr val="0B2350"/>
            </a:solidFill>
            <a:prstDash val="solid"/>
            <a:round/>
          </a:ln>
        </p:spPr>
      </p:sp>
      <p:sp>
        <p:nvSpPr>
          <p:cNvPr id="111" name="Text 109"/>
          <p:cNvSpPr/>
          <p:nvPr/>
        </p:nvSpPr>
        <p:spPr>
          <a:xfrm>
            <a:off x="7750500" y="5851833"/>
            <a:ext cx="3414879" cy="420297"/>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PropagacionDeTraza</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RestClient que lleva el traceId al otro servicio</a:t>
            </a:r>
            <a:endParaRPr lang="en-US" sz="955" dirty="0"/>
          </a:p>
        </p:txBody>
      </p:sp>
      <p:sp>
        <p:nvSpPr>
          <p:cNvPr id="112" name="Text 11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E3F4FA"/>
          </a:solidFill>
          <a:ln w="22225">
            <a:solidFill>
              <a:srgbClr val="2BA6CB"/>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750" b="1" spc="80" kern="0" dirty="0">
                <a:solidFill>
                  <a:srgbClr val="0B6E8A"/>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3F4FA"/>
          </a:solidFill>
          <a:ln w="22225">
            <a:solidFill>
              <a:srgbClr val="2BA6CB"/>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750" b="1" spc="80" kern="0" dirty="0">
                <a:solidFill>
                  <a:srgbClr val="0B6E8A"/>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EF2F7"/>
          </a:solidFill>
          <a:ln w="12700">
            <a:solidFill>
              <a:srgbClr val="C2CEDD"/>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47625">
            <a:solidFill>
              <a:srgbClr val="2BA6CB"/>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47625">
            <a:solidFill>
              <a:srgbClr val="2BA6CB"/>
            </a:solidFill>
            <a:prstDash val="sysDot"/>
            <a:tailEnd type="triangle"/>
          </a:ln>
        </p:spPr>
      </p:sp>
      <p:sp>
        <p:nvSpPr>
          <p:cNvPr id="15" name="Text 13"/>
          <p:cNvSpPr/>
          <p:nvPr/>
        </p:nvSpPr>
        <p:spPr>
          <a:xfrm>
            <a:off x="4476576" y="22468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22860">
            <a:solidFill>
              <a:srgbClr val="CBD5E3"/>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22860">
            <a:solidFill>
              <a:srgbClr val="CBD5E3"/>
            </a:solidFill>
            <a:prstDash val="lgDash"/>
          </a:ln>
        </p:spPr>
      </p:sp>
      <p:sp>
        <p:nvSpPr>
          <p:cNvPr id="20" name="Shape 18"/>
          <p:cNvSpPr/>
          <p:nvPr/>
        </p:nvSpPr>
        <p:spPr>
          <a:xfrm>
            <a:off x="6914105" y="2074382"/>
            <a:ext cx="0" cy="825311"/>
          </a:xfrm>
          <a:prstGeom prst="line">
            <a:avLst/>
          </a:prstGeom>
          <a:noFill/>
          <a:ln w="22860">
            <a:solidFill>
              <a:srgbClr val="CBD5E3"/>
            </a:solidFill>
            <a:prstDash val="lgDash"/>
          </a:ln>
        </p:spPr>
      </p:sp>
      <p:sp>
        <p:nvSpPr>
          <p:cNvPr id="21" name="Shape 19"/>
          <p:cNvSpPr/>
          <p:nvPr/>
        </p:nvSpPr>
        <p:spPr>
          <a:xfrm flipH="1">
            <a:off x="6631947" y="2899693"/>
            <a:ext cx="282158" cy="0"/>
          </a:xfrm>
          <a:prstGeom prst="line">
            <a:avLst/>
          </a:prstGeom>
          <a:noFill/>
          <a:ln w="22860">
            <a:solidFill>
              <a:srgbClr val="CBD5E3"/>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22860">
            <a:solidFill>
              <a:srgbClr val="CBD5E3"/>
            </a:solidFill>
            <a:prstDash val="lgDash"/>
          </a:ln>
        </p:spPr>
      </p:sp>
      <p:sp>
        <p:nvSpPr>
          <p:cNvPr id="25" name="Shape 23"/>
          <p:cNvSpPr/>
          <p:nvPr/>
        </p:nvSpPr>
        <p:spPr>
          <a:xfrm>
            <a:off x="6914105" y="2589320"/>
            <a:ext cx="0" cy="310373"/>
          </a:xfrm>
          <a:prstGeom prst="line">
            <a:avLst/>
          </a:prstGeom>
          <a:noFill/>
          <a:ln w="22860">
            <a:solidFill>
              <a:srgbClr val="CBD5E3"/>
            </a:solidFill>
            <a:prstDash val="lgDash"/>
          </a:ln>
        </p:spPr>
      </p:sp>
      <p:sp>
        <p:nvSpPr>
          <p:cNvPr id="26" name="Shape 24"/>
          <p:cNvSpPr/>
          <p:nvPr/>
        </p:nvSpPr>
        <p:spPr>
          <a:xfrm flipH="1">
            <a:off x="6631947" y="2899693"/>
            <a:ext cx="282158" cy="0"/>
          </a:xfrm>
          <a:prstGeom prst="line">
            <a:avLst/>
          </a:prstGeom>
          <a:noFill/>
          <a:ln w="22860">
            <a:solidFill>
              <a:srgbClr val="CBD5E3"/>
            </a:solidFill>
            <a:prstDash val="lgDash"/>
            <a:tailEnd type="arrow"/>
          </a:ln>
        </p:spPr>
      </p:sp>
      <p:sp>
        <p:nvSpPr>
          <p:cNvPr id="27" name="Text 25"/>
          <p:cNvSpPr/>
          <p:nvPr/>
        </p:nvSpPr>
        <p:spPr>
          <a:xfrm>
            <a:off x="6910186" y="24795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22860">
            <a:solidFill>
              <a:srgbClr val="CBD5E3"/>
            </a:solidFill>
            <a:prstDash val="lgDash"/>
          </a:ln>
        </p:spPr>
      </p:sp>
      <p:sp>
        <p:nvSpPr>
          <p:cNvPr id="29" name="Shape 27"/>
          <p:cNvSpPr/>
          <p:nvPr/>
        </p:nvSpPr>
        <p:spPr>
          <a:xfrm flipV="1">
            <a:off x="6914105" y="2899693"/>
            <a:ext cx="0" cy="931120"/>
          </a:xfrm>
          <a:prstGeom prst="line">
            <a:avLst/>
          </a:prstGeom>
          <a:noFill/>
          <a:ln w="22860">
            <a:solidFill>
              <a:srgbClr val="CBD5E3"/>
            </a:solidFill>
            <a:prstDash val="lgDash"/>
          </a:ln>
        </p:spPr>
      </p:sp>
      <p:sp>
        <p:nvSpPr>
          <p:cNvPr id="30" name="Shape 28"/>
          <p:cNvSpPr/>
          <p:nvPr/>
        </p:nvSpPr>
        <p:spPr>
          <a:xfrm flipH="1">
            <a:off x="6631947" y="2899693"/>
            <a:ext cx="282158" cy="0"/>
          </a:xfrm>
          <a:prstGeom prst="line">
            <a:avLst/>
          </a:prstGeom>
          <a:noFill/>
          <a:ln w="22860">
            <a:solidFill>
              <a:srgbClr val="CBD5E3"/>
            </a:solidFill>
            <a:prstDash val="lgDash"/>
            <a:tailEnd type="arrow"/>
          </a:ln>
        </p:spPr>
      </p:sp>
      <p:sp>
        <p:nvSpPr>
          <p:cNvPr id="31" name="Text 29"/>
          <p:cNvSpPr/>
          <p:nvPr/>
        </p:nvSpPr>
        <p:spPr>
          <a:xfrm>
            <a:off x="6910186"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31750">
            <a:solidFill>
              <a:srgbClr val="CBD5E3"/>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31750">
            <a:solidFill>
              <a:srgbClr val="CBD5E3"/>
            </a:solidFill>
            <a:prstDash val="sysDot"/>
          </a:ln>
        </p:spPr>
      </p:sp>
      <p:sp>
        <p:nvSpPr>
          <p:cNvPr id="36" name="Shape 34"/>
          <p:cNvSpPr/>
          <p:nvPr/>
        </p:nvSpPr>
        <p:spPr>
          <a:xfrm flipV="1">
            <a:off x="9792114" y="1749900"/>
            <a:ext cx="0" cy="218672"/>
          </a:xfrm>
          <a:prstGeom prst="line">
            <a:avLst/>
          </a:prstGeom>
          <a:noFill/>
          <a:ln w="31750">
            <a:solidFill>
              <a:srgbClr val="CBD5E3"/>
            </a:solidFill>
            <a:prstDash val="sysDot"/>
            <a:tailEnd type="triangle"/>
          </a:ln>
        </p:spPr>
      </p:sp>
      <p:sp>
        <p:nvSpPr>
          <p:cNvPr id="37" name="Text 35"/>
          <p:cNvSpPr/>
          <p:nvPr/>
        </p:nvSpPr>
        <p:spPr>
          <a:xfrm>
            <a:off x="8850020" y="18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31750">
            <a:solidFill>
              <a:srgbClr val="CBD5E3"/>
            </a:solidFill>
            <a:prstDash val="sysDot"/>
          </a:ln>
        </p:spPr>
      </p:sp>
      <p:sp>
        <p:nvSpPr>
          <p:cNvPr id="39" name="Shape 37"/>
          <p:cNvSpPr/>
          <p:nvPr/>
        </p:nvSpPr>
        <p:spPr>
          <a:xfrm>
            <a:off x="9792114" y="2589320"/>
            <a:ext cx="0" cy="218672"/>
          </a:xfrm>
          <a:prstGeom prst="line">
            <a:avLst/>
          </a:prstGeom>
          <a:noFill/>
          <a:ln w="31750">
            <a:solidFill>
              <a:srgbClr val="CBD5E3"/>
            </a:solidFill>
            <a:prstDash val="sysDot"/>
            <a:tailEnd type="triangle"/>
          </a:ln>
        </p:spPr>
      </p:sp>
      <p:sp>
        <p:nvSpPr>
          <p:cNvPr id="40" name="Text 38"/>
          <p:cNvSpPr/>
          <p:nvPr/>
        </p:nvSpPr>
        <p:spPr>
          <a:xfrm>
            <a:off x="8850020" y="24795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31750">
            <a:solidFill>
              <a:srgbClr val="CBD5E3"/>
            </a:solidFill>
            <a:prstDash val="sysDot"/>
          </a:ln>
        </p:spPr>
      </p:sp>
      <p:sp>
        <p:nvSpPr>
          <p:cNvPr id="42" name="Shape 40"/>
          <p:cNvSpPr/>
          <p:nvPr/>
        </p:nvSpPr>
        <p:spPr>
          <a:xfrm flipV="1">
            <a:off x="9792114" y="2807992"/>
            <a:ext cx="0" cy="402075"/>
          </a:xfrm>
          <a:prstGeom prst="line">
            <a:avLst/>
          </a:prstGeom>
          <a:noFill/>
          <a:ln w="31750">
            <a:solidFill>
              <a:srgbClr val="CBD5E3"/>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31750">
            <a:solidFill>
              <a:srgbClr val="CBD5E3"/>
            </a:solidFill>
            <a:prstDash val="sysDot"/>
            <a:tailEnd type="triangle"/>
          </a:ln>
        </p:spPr>
      </p:sp>
      <p:sp>
        <p:nvSpPr>
          <p:cNvPr id="46" name="Text 44"/>
          <p:cNvSpPr/>
          <p:nvPr/>
        </p:nvSpPr>
        <p:spPr>
          <a:xfrm>
            <a:off x="7848361" y="341071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25400">
            <a:solidFill>
              <a:srgbClr val="CBD5E3"/>
            </a:solidFill>
            <a:prstDash val="dash"/>
            <a:tailEnd type="triangle"/>
          </a:ln>
        </p:spPr>
      </p:sp>
      <p:sp>
        <p:nvSpPr>
          <p:cNvPr id="48" name="Text 46"/>
          <p:cNvSpPr/>
          <p:nvPr/>
        </p:nvSpPr>
        <p:spPr>
          <a:xfrm>
            <a:off x="8793589"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47625">
            <a:solidFill>
              <a:srgbClr val="2BA6CB"/>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31750">
            <a:solidFill>
              <a:srgbClr val="CBD5E3"/>
            </a:solidFill>
            <a:prstDash val="sysDash"/>
          </a:ln>
        </p:spPr>
      </p:sp>
      <p:sp>
        <p:nvSpPr>
          <p:cNvPr id="53" name="Shape 51"/>
          <p:cNvSpPr/>
          <p:nvPr/>
        </p:nvSpPr>
        <p:spPr>
          <a:xfrm flipV="1">
            <a:off x="3704561" y="3210067"/>
            <a:ext cx="0" cy="620747"/>
          </a:xfrm>
          <a:prstGeom prst="line">
            <a:avLst/>
          </a:prstGeom>
          <a:noFill/>
          <a:ln w="31750">
            <a:solidFill>
              <a:srgbClr val="CBD5E3"/>
            </a:solidFill>
            <a:prstDash val="sysDash"/>
          </a:ln>
        </p:spPr>
      </p:sp>
      <p:sp>
        <p:nvSpPr>
          <p:cNvPr id="54" name="Shape 52"/>
          <p:cNvSpPr/>
          <p:nvPr/>
        </p:nvSpPr>
        <p:spPr>
          <a:xfrm flipH="1">
            <a:off x="3457673" y="3210067"/>
            <a:ext cx="246888" cy="0"/>
          </a:xfrm>
          <a:prstGeom prst="line">
            <a:avLst/>
          </a:prstGeom>
          <a:noFill/>
          <a:ln w="31750">
            <a:solidFill>
              <a:srgbClr val="CBD5E3"/>
            </a:solidFill>
            <a:prstDash val="sysDash"/>
            <a:tailEnd type="triangle"/>
          </a:ln>
        </p:spPr>
      </p:sp>
      <p:sp>
        <p:nvSpPr>
          <p:cNvPr id="55" name="Text 53"/>
          <p:cNvSpPr/>
          <p:nvPr/>
        </p:nvSpPr>
        <p:spPr>
          <a:xfrm>
            <a:off x="3718277"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22860">
            <a:solidFill>
              <a:srgbClr val="CBD5E3"/>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0" name="Shape 58"/>
          <p:cNvSpPr/>
          <p:nvPr/>
        </p:nvSpPr>
        <p:spPr>
          <a:xfrm>
            <a:off x="1715088" y="1799999"/>
            <a:ext cx="337147" cy="337147"/>
          </a:xfrm>
          <a:prstGeom prst="ellipse">
            <a:avLst/>
          </a:prstGeom>
          <a:solidFill>
            <a:srgbClr val="E3F4FA"/>
          </a:solidFill>
          <a:ln w="12700">
            <a:solidFill>
              <a:srgbClr val="E3F4FA"/>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0B6E8A"/>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BFCFE"/>
          </a:solidFill>
          <a:ln w="12700">
            <a:solidFill>
              <a:srgbClr val="D5DDE8"/>
            </a:solidFill>
            <a:prstDash val="solid"/>
          </a:ln>
        </p:spPr>
      </p:sp>
      <p:sp>
        <p:nvSpPr>
          <p:cNvPr id="66" name="Shape 64"/>
          <p:cNvSpPr/>
          <p:nvPr/>
        </p:nvSpPr>
        <p:spPr>
          <a:xfrm>
            <a:off x="1715088" y="3662240"/>
            <a:ext cx="337147" cy="337147"/>
          </a:xfrm>
          <a:prstGeom prst="ellipse">
            <a:avLst/>
          </a:prstGeom>
          <a:solidFill>
            <a:srgbClr val="EEF2F7"/>
          </a:solidFill>
          <a:ln w="12700">
            <a:solidFill>
              <a:srgbClr val="EEF2F7"/>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A9B4C6"/>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0" name="Shape 68"/>
          <p:cNvSpPr/>
          <p:nvPr/>
        </p:nvSpPr>
        <p:spPr>
          <a:xfrm>
            <a:off x="4042889" y="1799999"/>
            <a:ext cx="337147" cy="337147"/>
          </a:xfrm>
          <a:prstGeom prst="ellipse">
            <a:avLst/>
          </a:prstGeom>
          <a:solidFill>
            <a:srgbClr val="E3F4FA"/>
          </a:solidFill>
          <a:ln w="12700">
            <a:solidFill>
              <a:srgbClr val="E3F4FA"/>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0B6E8A"/>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4" name="Shape 72"/>
          <p:cNvSpPr/>
          <p:nvPr/>
        </p:nvSpPr>
        <p:spPr>
          <a:xfrm>
            <a:off x="4042889" y="2731119"/>
            <a:ext cx="337147" cy="337147"/>
          </a:xfrm>
          <a:prstGeom prst="ellipse">
            <a:avLst/>
          </a:prstGeom>
          <a:solidFill>
            <a:srgbClr val="E3F4FA"/>
          </a:solidFill>
          <a:ln w="12700">
            <a:solidFill>
              <a:srgbClr val="E3F4FA"/>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0B6E8A"/>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12700">
            <a:solidFill>
              <a:srgbClr val="D5DDE8"/>
            </a:solidFill>
            <a:prstDash val="dash"/>
          </a:ln>
        </p:spPr>
      </p:sp>
      <p:sp>
        <p:nvSpPr>
          <p:cNvPr id="78" name="Shape 76"/>
          <p:cNvSpPr/>
          <p:nvPr/>
        </p:nvSpPr>
        <p:spPr>
          <a:xfrm>
            <a:off x="5453678" y="2731119"/>
            <a:ext cx="337147" cy="337147"/>
          </a:xfrm>
          <a:prstGeom prst="ellipse">
            <a:avLst/>
          </a:prstGeom>
          <a:solidFill>
            <a:srgbClr val="EEF2F7"/>
          </a:solidFill>
          <a:ln w="12700">
            <a:solidFill>
              <a:srgbClr val="EEF2F7"/>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A9B4C6"/>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8A95AB"/>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9AA5B8"/>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2" name="Shape 80"/>
          <p:cNvSpPr/>
          <p:nvPr/>
        </p:nvSpPr>
        <p:spPr>
          <a:xfrm>
            <a:off x="4042889" y="3662240"/>
            <a:ext cx="337147" cy="337147"/>
          </a:xfrm>
          <a:prstGeom prst="ellipse">
            <a:avLst/>
          </a:prstGeom>
          <a:solidFill>
            <a:srgbClr val="E3F4FA"/>
          </a:solidFill>
          <a:ln w="12700">
            <a:solidFill>
              <a:srgbClr val="E3F4FA"/>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0B6E8A"/>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12700">
            <a:solidFill>
              <a:srgbClr val="D5DDE8"/>
            </a:solidFill>
            <a:prstDash val="solid"/>
          </a:ln>
        </p:spPr>
      </p:sp>
      <p:sp>
        <p:nvSpPr>
          <p:cNvPr id="86" name="Shape 84"/>
          <p:cNvSpPr/>
          <p:nvPr/>
        </p:nvSpPr>
        <p:spPr>
          <a:xfrm>
            <a:off x="7217163" y="1799999"/>
            <a:ext cx="337147" cy="337147"/>
          </a:xfrm>
          <a:prstGeom prst="ellipse">
            <a:avLst/>
          </a:prstGeom>
          <a:solidFill>
            <a:srgbClr val="EEF2F7"/>
          </a:solidFill>
          <a:ln w="12700">
            <a:solidFill>
              <a:srgbClr val="EEF2F7"/>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A9B4C6"/>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12700">
            <a:solidFill>
              <a:srgbClr val="D5DDE8"/>
            </a:solidFill>
            <a:prstDash val="solid"/>
          </a:ln>
        </p:spPr>
      </p:sp>
      <p:sp>
        <p:nvSpPr>
          <p:cNvPr id="91" name="Shape 89"/>
          <p:cNvSpPr/>
          <p:nvPr/>
        </p:nvSpPr>
        <p:spPr>
          <a:xfrm>
            <a:off x="7217163" y="3041493"/>
            <a:ext cx="337147" cy="337147"/>
          </a:xfrm>
          <a:prstGeom prst="ellipse">
            <a:avLst/>
          </a:prstGeom>
          <a:solidFill>
            <a:srgbClr val="EEF2F7"/>
          </a:solidFill>
          <a:ln w="12700">
            <a:solidFill>
              <a:srgbClr val="EEF2F7"/>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A9B4C6"/>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28" b="1" dirty="0">
                <a:solidFill>
                  <a:srgbClr val="8A95AB"/>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9AA5B8"/>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BFCFE"/>
          </a:solidFill>
          <a:ln w="12700">
            <a:solidFill>
              <a:srgbClr val="D5DDE8"/>
            </a:solidFill>
            <a:prstDash val="solid"/>
          </a:ln>
        </p:spPr>
      </p:sp>
      <p:sp>
        <p:nvSpPr>
          <p:cNvPr id="98" name="Shape 96"/>
          <p:cNvSpPr/>
          <p:nvPr/>
        </p:nvSpPr>
        <p:spPr>
          <a:xfrm>
            <a:off x="4042889" y="4858589"/>
            <a:ext cx="300467" cy="300467"/>
          </a:xfrm>
          <a:prstGeom prst="ellipse">
            <a:avLst/>
          </a:prstGeom>
          <a:solidFill>
            <a:srgbClr val="EEF2F7"/>
          </a:solidFill>
          <a:ln w="12700">
            <a:solidFill>
              <a:srgbClr val="EEF2F7"/>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A9B4C6"/>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BFCFE"/>
          </a:solidFill>
          <a:ln w="12700">
            <a:solidFill>
              <a:srgbClr val="D5DDE8"/>
            </a:solidFill>
            <a:prstDash val="solid"/>
          </a:ln>
        </p:spPr>
      </p:sp>
      <p:sp>
        <p:nvSpPr>
          <p:cNvPr id="102" name="Shape 100"/>
          <p:cNvSpPr/>
          <p:nvPr/>
        </p:nvSpPr>
        <p:spPr>
          <a:xfrm>
            <a:off x="7217163" y="4858589"/>
            <a:ext cx="300467" cy="300467"/>
          </a:xfrm>
          <a:prstGeom prst="ellipse">
            <a:avLst/>
          </a:prstGeom>
          <a:solidFill>
            <a:srgbClr val="EEF2F7"/>
          </a:solidFill>
          <a:ln w="12700">
            <a:solidFill>
              <a:srgbClr val="EEF2F7"/>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A9B4C6"/>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7" name="Text 105"/>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peticiones entran por el controlador, que solo traduce HTTP.</a:t>
            </a:r>
            <a:endParaRPr lang="en-US" sz="1300" dirty="0"/>
          </a:p>
        </p:txBody>
      </p:sp>
      <p:sp>
        <p:nvSpPr>
          <p:cNvPr id="108" name="Shape 106"/>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9" name="Text 107"/>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10" name="Text 108"/>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coordina cada caso: crear, enviar, aprobar o rechazar.</a:t>
            </a:r>
            <a:endParaRPr lang="en-US" sz="1300" dirty="0"/>
          </a:p>
        </p:txBody>
      </p:sp>
      <p:sp>
        <p:nvSpPr>
          <p:cNvPr id="111" name="Shape 109"/>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12" name="Text 110"/>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13" name="Text 111"/>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reglas viven en el record Solicitud; si una no se cumple, lanza una excepción.</a:t>
            </a:r>
            <a:endParaRPr lang="en-US" sz="1300" dirty="0"/>
          </a:p>
        </p:txBody>
      </p:sp>
      <p:sp>
        <p:nvSpPr>
          <p:cNvPr id="114" name="Text 11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F7F9FC"/>
          </a:solidFill>
          <a:ln w="12700">
            <a:solidFill>
              <a:srgbClr val="C7D2E2"/>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750" b="1" spc="80" kern="0" dirty="0">
                <a:solidFill>
                  <a:srgbClr val="55627E"/>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AF0FA"/>
          </a:solidFill>
          <a:ln w="12700">
            <a:solidFill>
              <a:srgbClr val="AFC4E6"/>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750" b="1" spc="80" kern="0" dirty="0">
                <a:solidFill>
                  <a:srgbClr val="1F4E8C"/>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3F4FA"/>
          </a:solidFill>
          <a:ln w="22225">
            <a:solidFill>
              <a:srgbClr val="2BA6CB"/>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31750">
            <a:solidFill>
              <a:srgbClr val="55627E"/>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31750">
            <a:solidFill>
              <a:srgbClr val="55627E"/>
            </a:solidFill>
            <a:prstDash val="sysDot"/>
            <a:tailEnd type="triangle"/>
          </a:ln>
        </p:spPr>
      </p:sp>
      <p:sp>
        <p:nvSpPr>
          <p:cNvPr id="15" name="Text 13"/>
          <p:cNvSpPr/>
          <p:nvPr/>
        </p:nvSpPr>
        <p:spPr>
          <a:xfrm>
            <a:off x="4476576" y="22468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38735">
            <a:solidFill>
              <a:srgbClr val="2BA6CB"/>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38735">
            <a:solidFill>
              <a:srgbClr val="2BA6CB"/>
            </a:solidFill>
            <a:prstDash val="lgDash"/>
          </a:ln>
        </p:spPr>
      </p:sp>
      <p:sp>
        <p:nvSpPr>
          <p:cNvPr id="20" name="Shape 18"/>
          <p:cNvSpPr/>
          <p:nvPr/>
        </p:nvSpPr>
        <p:spPr>
          <a:xfrm>
            <a:off x="6914105" y="2074382"/>
            <a:ext cx="0" cy="825311"/>
          </a:xfrm>
          <a:prstGeom prst="line">
            <a:avLst/>
          </a:prstGeom>
          <a:noFill/>
          <a:ln w="38735">
            <a:solidFill>
              <a:srgbClr val="2BA6CB"/>
            </a:solidFill>
            <a:prstDash val="lgDash"/>
          </a:ln>
        </p:spPr>
      </p:sp>
      <p:sp>
        <p:nvSpPr>
          <p:cNvPr id="21" name="Shape 19"/>
          <p:cNvSpPr/>
          <p:nvPr/>
        </p:nvSpPr>
        <p:spPr>
          <a:xfrm flipH="1">
            <a:off x="6631947" y="2899693"/>
            <a:ext cx="282158" cy="0"/>
          </a:xfrm>
          <a:prstGeom prst="line">
            <a:avLst/>
          </a:prstGeom>
          <a:noFill/>
          <a:ln w="38735">
            <a:solidFill>
              <a:srgbClr val="2BA6CB"/>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38735">
            <a:solidFill>
              <a:srgbClr val="2BA6CB"/>
            </a:solidFill>
            <a:prstDash val="lgDash"/>
          </a:ln>
        </p:spPr>
      </p:sp>
      <p:sp>
        <p:nvSpPr>
          <p:cNvPr id="25" name="Shape 23"/>
          <p:cNvSpPr/>
          <p:nvPr/>
        </p:nvSpPr>
        <p:spPr>
          <a:xfrm>
            <a:off x="6914105" y="2589320"/>
            <a:ext cx="0" cy="310373"/>
          </a:xfrm>
          <a:prstGeom prst="line">
            <a:avLst/>
          </a:prstGeom>
          <a:noFill/>
          <a:ln w="38735">
            <a:solidFill>
              <a:srgbClr val="2BA6CB"/>
            </a:solidFill>
            <a:prstDash val="lgDash"/>
          </a:ln>
        </p:spPr>
      </p:sp>
      <p:sp>
        <p:nvSpPr>
          <p:cNvPr id="26" name="Shape 24"/>
          <p:cNvSpPr/>
          <p:nvPr/>
        </p:nvSpPr>
        <p:spPr>
          <a:xfrm flipH="1">
            <a:off x="6631947" y="2899693"/>
            <a:ext cx="282158" cy="0"/>
          </a:xfrm>
          <a:prstGeom prst="line">
            <a:avLst/>
          </a:prstGeom>
          <a:noFill/>
          <a:ln w="38735">
            <a:solidFill>
              <a:srgbClr val="2BA6CB"/>
            </a:solidFill>
            <a:prstDash val="lgDash"/>
            <a:tailEnd type="arrow"/>
          </a:ln>
        </p:spPr>
      </p:sp>
      <p:sp>
        <p:nvSpPr>
          <p:cNvPr id="27" name="Text 25"/>
          <p:cNvSpPr/>
          <p:nvPr/>
        </p:nvSpPr>
        <p:spPr>
          <a:xfrm>
            <a:off x="6910186" y="24795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38735">
            <a:solidFill>
              <a:srgbClr val="2BA6CB"/>
            </a:solidFill>
            <a:prstDash val="lgDash"/>
          </a:ln>
        </p:spPr>
      </p:sp>
      <p:sp>
        <p:nvSpPr>
          <p:cNvPr id="29" name="Shape 27"/>
          <p:cNvSpPr/>
          <p:nvPr/>
        </p:nvSpPr>
        <p:spPr>
          <a:xfrm flipV="1">
            <a:off x="6914105" y="2899693"/>
            <a:ext cx="0" cy="931120"/>
          </a:xfrm>
          <a:prstGeom prst="line">
            <a:avLst/>
          </a:prstGeom>
          <a:noFill/>
          <a:ln w="38735">
            <a:solidFill>
              <a:srgbClr val="2BA6CB"/>
            </a:solidFill>
            <a:prstDash val="lgDash"/>
          </a:ln>
        </p:spPr>
      </p:sp>
      <p:sp>
        <p:nvSpPr>
          <p:cNvPr id="30" name="Shape 28"/>
          <p:cNvSpPr/>
          <p:nvPr/>
        </p:nvSpPr>
        <p:spPr>
          <a:xfrm flipH="1">
            <a:off x="6631947" y="2899693"/>
            <a:ext cx="282158" cy="0"/>
          </a:xfrm>
          <a:prstGeom prst="line">
            <a:avLst/>
          </a:prstGeom>
          <a:noFill/>
          <a:ln w="38735">
            <a:solidFill>
              <a:srgbClr val="2BA6CB"/>
            </a:solidFill>
            <a:prstDash val="lgDash"/>
            <a:tailEnd type="arrow"/>
          </a:ln>
        </p:spPr>
      </p:sp>
      <p:sp>
        <p:nvSpPr>
          <p:cNvPr id="31" name="Text 29"/>
          <p:cNvSpPr/>
          <p:nvPr/>
        </p:nvSpPr>
        <p:spPr>
          <a:xfrm>
            <a:off x="6910186" y="37210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47625">
            <a:solidFill>
              <a:srgbClr val="2BA6CB"/>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47625">
            <a:solidFill>
              <a:srgbClr val="2BA6CB"/>
            </a:solidFill>
            <a:prstDash val="sysDot"/>
          </a:ln>
        </p:spPr>
      </p:sp>
      <p:sp>
        <p:nvSpPr>
          <p:cNvPr id="36" name="Shape 34"/>
          <p:cNvSpPr/>
          <p:nvPr/>
        </p:nvSpPr>
        <p:spPr>
          <a:xfrm flipV="1">
            <a:off x="9792114" y="1749900"/>
            <a:ext cx="0" cy="218672"/>
          </a:xfrm>
          <a:prstGeom prst="line">
            <a:avLst/>
          </a:prstGeom>
          <a:noFill/>
          <a:ln w="47625">
            <a:solidFill>
              <a:srgbClr val="2BA6CB"/>
            </a:solidFill>
            <a:prstDash val="sysDot"/>
            <a:tailEnd type="triangle"/>
          </a:ln>
        </p:spPr>
      </p:sp>
      <p:sp>
        <p:nvSpPr>
          <p:cNvPr id="37" name="Text 35"/>
          <p:cNvSpPr/>
          <p:nvPr/>
        </p:nvSpPr>
        <p:spPr>
          <a:xfrm>
            <a:off x="8850020" y="1858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47625">
            <a:solidFill>
              <a:srgbClr val="2BA6CB"/>
            </a:solidFill>
            <a:prstDash val="sysDot"/>
          </a:ln>
        </p:spPr>
      </p:sp>
      <p:sp>
        <p:nvSpPr>
          <p:cNvPr id="39" name="Shape 37"/>
          <p:cNvSpPr/>
          <p:nvPr/>
        </p:nvSpPr>
        <p:spPr>
          <a:xfrm>
            <a:off x="9792114" y="2589320"/>
            <a:ext cx="0" cy="218672"/>
          </a:xfrm>
          <a:prstGeom prst="line">
            <a:avLst/>
          </a:prstGeom>
          <a:noFill/>
          <a:ln w="47625">
            <a:solidFill>
              <a:srgbClr val="2BA6CB"/>
            </a:solidFill>
            <a:prstDash val="sysDot"/>
            <a:tailEnd type="triangle"/>
          </a:ln>
        </p:spPr>
      </p:sp>
      <p:sp>
        <p:nvSpPr>
          <p:cNvPr id="40" name="Text 38"/>
          <p:cNvSpPr/>
          <p:nvPr/>
        </p:nvSpPr>
        <p:spPr>
          <a:xfrm>
            <a:off x="8850020" y="24795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31750">
            <a:solidFill>
              <a:srgbClr val="CBD5E3"/>
            </a:solidFill>
            <a:prstDash val="sysDot"/>
          </a:ln>
        </p:spPr>
      </p:sp>
      <p:sp>
        <p:nvSpPr>
          <p:cNvPr id="42" name="Shape 40"/>
          <p:cNvSpPr/>
          <p:nvPr/>
        </p:nvSpPr>
        <p:spPr>
          <a:xfrm flipV="1">
            <a:off x="9792114" y="2807992"/>
            <a:ext cx="0" cy="402075"/>
          </a:xfrm>
          <a:prstGeom prst="line">
            <a:avLst/>
          </a:prstGeom>
          <a:noFill/>
          <a:ln w="31750">
            <a:solidFill>
              <a:srgbClr val="CBD5E3"/>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31750">
            <a:solidFill>
              <a:srgbClr val="CBD5E3"/>
            </a:solidFill>
            <a:prstDash val="sysDot"/>
            <a:tailEnd type="triangle"/>
          </a:ln>
        </p:spPr>
      </p:sp>
      <p:sp>
        <p:nvSpPr>
          <p:cNvPr id="46" name="Text 44"/>
          <p:cNvSpPr/>
          <p:nvPr/>
        </p:nvSpPr>
        <p:spPr>
          <a:xfrm>
            <a:off x="7848361" y="341071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25400">
            <a:solidFill>
              <a:srgbClr val="CBD5E3"/>
            </a:solidFill>
            <a:prstDash val="dash"/>
            <a:tailEnd type="triangle"/>
          </a:ln>
        </p:spPr>
      </p:sp>
      <p:sp>
        <p:nvSpPr>
          <p:cNvPr id="48" name="Text 46"/>
          <p:cNvSpPr/>
          <p:nvPr/>
        </p:nvSpPr>
        <p:spPr>
          <a:xfrm>
            <a:off x="8793589"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31750">
            <a:solidFill>
              <a:srgbClr val="AB243E"/>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AB243E"/>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31750">
            <a:solidFill>
              <a:srgbClr val="CBD5E3"/>
            </a:solidFill>
            <a:prstDash val="sysDash"/>
          </a:ln>
        </p:spPr>
      </p:sp>
      <p:sp>
        <p:nvSpPr>
          <p:cNvPr id="53" name="Shape 51"/>
          <p:cNvSpPr/>
          <p:nvPr/>
        </p:nvSpPr>
        <p:spPr>
          <a:xfrm flipV="1">
            <a:off x="3704561" y="3210067"/>
            <a:ext cx="0" cy="620747"/>
          </a:xfrm>
          <a:prstGeom prst="line">
            <a:avLst/>
          </a:prstGeom>
          <a:noFill/>
          <a:ln w="31750">
            <a:solidFill>
              <a:srgbClr val="CBD5E3"/>
            </a:solidFill>
            <a:prstDash val="sysDash"/>
          </a:ln>
        </p:spPr>
      </p:sp>
      <p:sp>
        <p:nvSpPr>
          <p:cNvPr id="54" name="Shape 52"/>
          <p:cNvSpPr/>
          <p:nvPr/>
        </p:nvSpPr>
        <p:spPr>
          <a:xfrm flipH="1">
            <a:off x="3457673" y="3210067"/>
            <a:ext cx="246888" cy="0"/>
          </a:xfrm>
          <a:prstGeom prst="line">
            <a:avLst/>
          </a:prstGeom>
          <a:noFill/>
          <a:ln w="31750">
            <a:solidFill>
              <a:srgbClr val="CBD5E3"/>
            </a:solidFill>
            <a:prstDash val="sysDash"/>
            <a:tailEnd type="triangle"/>
          </a:ln>
        </p:spPr>
      </p:sp>
      <p:sp>
        <p:nvSpPr>
          <p:cNvPr id="55" name="Text 53"/>
          <p:cNvSpPr/>
          <p:nvPr/>
        </p:nvSpPr>
        <p:spPr>
          <a:xfrm>
            <a:off x="3718277"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22860">
            <a:solidFill>
              <a:srgbClr val="CBD5E3"/>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1715088" y="1799999"/>
            <a:ext cx="337147" cy="337147"/>
          </a:xfrm>
          <a:prstGeom prst="ellipse">
            <a:avLst/>
          </a:prstGeom>
          <a:solidFill>
            <a:srgbClr val="EBECF0"/>
          </a:solidFill>
          <a:ln w="12700">
            <a:solidFill>
              <a:srgbClr val="EBECF0"/>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55627E"/>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BFCFE"/>
          </a:solidFill>
          <a:ln w="12700">
            <a:solidFill>
              <a:srgbClr val="D5DDE8"/>
            </a:solidFill>
            <a:prstDash val="solid"/>
          </a:ln>
        </p:spPr>
      </p:sp>
      <p:sp>
        <p:nvSpPr>
          <p:cNvPr id="66" name="Shape 64"/>
          <p:cNvSpPr/>
          <p:nvPr/>
        </p:nvSpPr>
        <p:spPr>
          <a:xfrm>
            <a:off x="1715088" y="3662240"/>
            <a:ext cx="337147" cy="337147"/>
          </a:xfrm>
          <a:prstGeom prst="ellipse">
            <a:avLst/>
          </a:prstGeom>
          <a:solidFill>
            <a:srgbClr val="EEF2F7"/>
          </a:solidFill>
          <a:ln w="12700">
            <a:solidFill>
              <a:srgbClr val="EEF2F7"/>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A9B4C6"/>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4042889" y="1799999"/>
            <a:ext cx="337147" cy="337147"/>
          </a:xfrm>
          <a:prstGeom prst="ellipse">
            <a:avLst/>
          </a:prstGeom>
          <a:solidFill>
            <a:srgbClr val="E4EAF1"/>
          </a:solidFill>
          <a:ln w="12700">
            <a:solidFill>
              <a:srgbClr val="E4EAF1"/>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1F4E8C"/>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4" name="Shape 72"/>
          <p:cNvSpPr/>
          <p:nvPr/>
        </p:nvSpPr>
        <p:spPr>
          <a:xfrm>
            <a:off x="4042889" y="2731119"/>
            <a:ext cx="337147" cy="337147"/>
          </a:xfrm>
          <a:prstGeom prst="ellipse">
            <a:avLst/>
          </a:prstGeom>
          <a:solidFill>
            <a:srgbClr val="E4EAF1"/>
          </a:solidFill>
          <a:ln w="12700">
            <a:solidFill>
              <a:srgbClr val="E4EAF1"/>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1F4E8C"/>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78" name="Shape 76"/>
          <p:cNvSpPr/>
          <p:nvPr/>
        </p:nvSpPr>
        <p:spPr>
          <a:xfrm>
            <a:off x="5453678" y="2731119"/>
            <a:ext cx="337147" cy="337147"/>
          </a:xfrm>
          <a:prstGeom prst="ellipse">
            <a:avLst/>
          </a:prstGeom>
          <a:solidFill>
            <a:srgbClr val="E3F4FA"/>
          </a:solidFill>
          <a:ln w="12700">
            <a:solidFill>
              <a:srgbClr val="E3F4FA"/>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0B6E8A"/>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0B1A3C"/>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55627E"/>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2" name="Shape 80"/>
          <p:cNvSpPr/>
          <p:nvPr/>
        </p:nvSpPr>
        <p:spPr>
          <a:xfrm>
            <a:off x="4042889" y="3662240"/>
            <a:ext cx="337147" cy="337147"/>
          </a:xfrm>
          <a:prstGeom prst="ellipse">
            <a:avLst/>
          </a:prstGeom>
          <a:solidFill>
            <a:srgbClr val="E4EAF1"/>
          </a:solidFill>
          <a:ln w="12700">
            <a:solidFill>
              <a:srgbClr val="E4EAF1"/>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1F4E8C"/>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6" name="Shape 84"/>
          <p:cNvSpPr/>
          <p:nvPr/>
        </p:nvSpPr>
        <p:spPr>
          <a:xfrm>
            <a:off x="7217163" y="1799999"/>
            <a:ext cx="337147" cy="337147"/>
          </a:xfrm>
          <a:prstGeom prst="ellipse">
            <a:avLst/>
          </a:prstGeom>
          <a:solidFill>
            <a:srgbClr val="E3F4FA"/>
          </a:solidFill>
          <a:ln w="12700">
            <a:solidFill>
              <a:srgbClr val="E3F4FA"/>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0B6E8A"/>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12700">
            <a:solidFill>
              <a:srgbClr val="D5DDE8"/>
            </a:solidFill>
            <a:prstDash val="solid"/>
          </a:ln>
        </p:spPr>
      </p:sp>
      <p:sp>
        <p:nvSpPr>
          <p:cNvPr id="91" name="Shape 89"/>
          <p:cNvSpPr/>
          <p:nvPr/>
        </p:nvSpPr>
        <p:spPr>
          <a:xfrm>
            <a:off x="7217163" y="3041493"/>
            <a:ext cx="337147" cy="337147"/>
          </a:xfrm>
          <a:prstGeom prst="ellipse">
            <a:avLst/>
          </a:prstGeom>
          <a:solidFill>
            <a:srgbClr val="EEF2F7"/>
          </a:solidFill>
          <a:ln w="12700">
            <a:solidFill>
              <a:srgbClr val="EEF2F7"/>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A9B4C6"/>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28" b="1" dirty="0">
                <a:solidFill>
                  <a:srgbClr val="8A95AB"/>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9AA5B8"/>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BFCFE"/>
          </a:solidFill>
          <a:ln w="12700">
            <a:solidFill>
              <a:srgbClr val="D5DDE8"/>
            </a:solidFill>
            <a:prstDash val="solid"/>
          </a:ln>
        </p:spPr>
      </p:sp>
      <p:sp>
        <p:nvSpPr>
          <p:cNvPr id="98" name="Shape 96"/>
          <p:cNvSpPr/>
          <p:nvPr/>
        </p:nvSpPr>
        <p:spPr>
          <a:xfrm>
            <a:off x="4042889" y="4858589"/>
            <a:ext cx="300467" cy="300467"/>
          </a:xfrm>
          <a:prstGeom prst="ellipse">
            <a:avLst/>
          </a:prstGeom>
          <a:solidFill>
            <a:srgbClr val="EEF2F7"/>
          </a:solidFill>
          <a:ln w="12700">
            <a:solidFill>
              <a:srgbClr val="EEF2F7"/>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A9B4C6"/>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BFCFE"/>
          </a:solidFill>
          <a:ln w="12700">
            <a:solidFill>
              <a:srgbClr val="D5DDE8"/>
            </a:solidFill>
            <a:prstDash val="solid"/>
          </a:ln>
        </p:spPr>
      </p:sp>
      <p:sp>
        <p:nvSpPr>
          <p:cNvPr id="102" name="Shape 100"/>
          <p:cNvSpPr/>
          <p:nvPr/>
        </p:nvSpPr>
        <p:spPr>
          <a:xfrm>
            <a:off x="7217163" y="4858589"/>
            <a:ext cx="300467" cy="300467"/>
          </a:xfrm>
          <a:prstGeom prst="ellipse">
            <a:avLst/>
          </a:prstGeom>
          <a:solidFill>
            <a:srgbClr val="EEF2F7"/>
          </a:solidFill>
          <a:ln w="12700">
            <a:solidFill>
              <a:srgbClr val="EEF2F7"/>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A9B4C6"/>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07" name="Text 105"/>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dominio pide lo que necesita a través de puertos: interfaces sin tecnología.</a:t>
            </a:r>
            <a:endParaRPr lang="en-US" sz="1300" dirty="0"/>
          </a:p>
        </p:txBody>
      </p:sp>
      <p:sp>
        <p:nvSpPr>
          <p:cNvPr id="108" name="Shape 106"/>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9" name="Text 107"/>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10" name="Text 108"/>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adaptadores de salida implementan esos puertos; Spring usa los marcados con @Primary.</a:t>
            </a:r>
            <a:endParaRPr lang="en-US" sz="1300" dirty="0"/>
          </a:p>
        </p:txBody>
      </p:sp>
      <p:sp>
        <p:nvSpPr>
          <p:cNvPr id="111" name="Shape 109"/>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12" name="Text 110"/>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113" name="Text 111"/>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la solicitud y su evento pendiente se guardan en PostgreSQL.</a:t>
            </a:r>
            <a:endParaRPr lang="en-US" sz="1300" dirty="0"/>
          </a:p>
        </p:txBody>
      </p:sp>
      <p:sp>
        <p:nvSpPr>
          <p:cNvPr id="114" name="Text 11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F7F9FC"/>
          </a:solidFill>
          <a:ln w="12700">
            <a:solidFill>
              <a:srgbClr val="C7D2E2"/>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750" b="1" spc="80" kern="0" dirty="0">
                <a:solidFill>
                  <a:srgbClr val="55627E"/>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AF0FA"/>
          </a:solidFill>
          <a:ln w="12700">
            <a:solidFill>
              <a:srgbClr val="AFC4E6"/>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750" b="1" spc="80" kern="0" dirty="0">
                <a:solidFill>
                  <a:srgbClr val="1F4E8C"/>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EF2F7"/>
          </a:solidFill>
          <a:ln w="12700">
            <a:solidFill>
              <a:srgbClr val="C2CEDD"/>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31750">
            <a:solidFill>
              <a:srgbClr val="55627E"/>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31750">
            <a:solidFill>
              <a:srgbClr val="55627E"/>
            </a:solidFill>
            <a:prstDash val="sysDot"/>
            <a:tailEnd type="triangle"/>
          </a:ln>
        </p:spPr>
      </p:sp>
      <p:sp>
        <p:nvSpPr>
          <p:cNvPr id="15" name="Text 13"/>
          <p:cNvSpPr/>
          <p:nvPr/>
        </p:nvSpPr>
        <p:spPr>
          <a:xfrm>
            <a:off x="4476576" y="22468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22860">
            <a:solidFill>
              <a:srgbClr val="1F4E8C"/>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22860">
            <a:solidFill>
              <a:srgbClr val="1F4E8C"/>
            </a:solidFill>
            <a:prstDash val="lgDash"/>
          </a:ln>
        </p:spPr>
      </p:sp>
      <p:sp>
        <p:nvSpPr>
          <p:cNvPr id="20" name="Shape 18"/>
          <p:cNvSpPr/>
          <p:nvPr/>
        </p:nvSpPr>
        <p:spPr>
          <a:xfrm>
            <a:off x="6914105" y="2074382"/>
            <a:ext cx="0" cy="825311"/>
          </a:xfrm>
          <a:prstGeom prst="line">
            <a:avLst/>
          </a:prstGeom>
          <a:noFill/>
          <a:ln w="22860">
            <a:solidFill>
              <a:srgbClr val="1F4E8C"/>
            </a:solidFill>
            <a:prstDash val="lgDash"/>
          </a:ln>
        </p:spPr>
      </p:sp>
      <p:sp>
        <p:nvSpPr>
          <p:cNvPr id="21" name="Shape 19"/>
          <p:cNvSpPr/>
          <p:nvPr/>
        </p:nvSpPr>
        <p:spPr>
          <a:xfrm flipH="1">
            <a:off x="6631947" y="2899693"/>
            <a:ext cx="282158" cy="0"/>
          </a:xfrm>
          <a:prstGeom prst="line">
            <a:avLst/>
          </a:prstGeom>
          <a:noFill/>
          <a:ln w="22860">
            <a:solidFill>
              <a:srgbClr val="1F4E8C"/>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22860">
            <a:solidFill>
              <a:srgbClr val="1F4E8C"/>
            </a:solidFill>
            <a:prstDash val="lgDash"/>
          </a:ln>
        </p:spPr>
      </p:sp>
      <p:sp>
        <p:nvSpPr>
          <p:cNvPr id="25" name="Shape 23"/>
          <p:cNvSpPr/>
          <p:nvPr/>
        </p:nvSpPr>
        <p:spPr>
          <a:xfrm>
            <a:off x="6914105" y="2589320"/>
            <a:ext cx="0" cy="310373"/>
          </a:xfrm>
          <a:prstGeom prst="line">
            <a:avLst/>
          </a:prstGeom>
          <a:noFill/>
          <a:ln w="22860">
            <a:solidFill>
              <a:srgbClr val="1F4E8C"/>
            </a:solidFill>
            <a:prstDash val="lgDash"/>
          </a:ln>
        </p:spPr>
      </p:sp>
      <p:sp>
        <p:nvSpPr>
          <p:cNvPr id="26" name="Shape 24"/>
          <p:cNvSpPr/>
          <p:nvPr/>
        </p:nvSpPr>
        <p:spPr>
          <a:xfrm flipH="1">
            <a:off x="6631947" y="2899693"/>
            <a:ext cx="282158" cy="0"/>
          </a:xfrm>
          <a:prstGeom prst="line">
            <a:avLst/>
          </a:prstGeom>
          <a:noFill/>
          <a:ln w="22860">
            <a:solidFill>
              <a:srgbClr val="1F4E8C"/>
            </a:solidFill>
            <a:prstDash val="lgDash"/>
            <a:tailEnd type="arrow"/>
          </a:ln>
        </p:spPr>
      </p:sp>
      <p:sp>
        <p:nvSpPr>
          <p:cNvPr id="27" name="Text 25"/>
          <p:cNvSpPr/>
          <p:nvPr/>
        </p:nvSpPr>
        <p:spPr>
          <a:xfrm>
            <a:off x="6910186" y="2479592"/>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22860">
            <a:solidFill>
              <a:srgbClr val="1F4E8C"/>
            </a:solidFill>
            <a:prstDash val="lgDash"/>
          </a:ln>
        </p:spPr>
      </p:sp>
      <p:sp>
        <p:nvSpPr>
          <p:cNvPr id="29" name="Shape 27"/>
          <p:cNvSpPr/>
          <p:nvPr/>
        </p:nvSpPr>
        <p:spPr>
          <a:xfrm flipV="1">
            <a:off x="6914105" y="2899693"/>
            <a:ext cx="0" cy="931120"/>
          </a:xfrm>
          <a:prstGeom prst="line">
            <a:avLst/>
          </a:prstGeom>
          <a:noFill/>
          <a:ln w="22860">
            <a:solidFill>
              <a:srgbClr val="1F4E8C"/>
            </a:solidFill>
            <a:prstDash val="lgDash"/>
          </a:ln>
        </p:spPr>
      </p:sp>
      <p:sp>
        <p:nvSpPr>
          <p:cNvPr id="30" name="Shape 28"/>
          <p:cNvSpPr/>
          <p:nvPr/>
        </p:nvSpPr>
        <p:spPr>
          <a:xfrm flipH="1">
            <a:off x="6631947" y="2899693"/>
            <a:ext cx="282158" cy="0"/>
          </a:xfrm>
          <a:prstGeom prst="line">
            <a:avLst/>
          </a:prstGeom>
          <a:noFill/>
          <a:ln w="22860">
            <a:solidFill>
              <a:srgbClr val="1F4E8C"/>
            </a:solidFill>
            <a:prstDash val="lgDash"/>
            <a:tailEnd type="arrow"/>
          </a:ln>
        </p:spPr>
      </p:sp>
      <p:sp>
        <p:nvSpPr>
          <p:cNvPr id="31" name="Text 29"/>
          <p:cNvSpPr/>
          <p:nvPr/>
        </p:nvSpPr>
        <p:spPr>
          <a:xfrm>
            <a:off x="6910186" y="372108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31750">
            <a:solidFill>
              <a:srgbClr val="55627E"/>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31750">
            <a:solidFill>
              <a:srgbClr val="55627E"/>
            </a:solidFill>
            <a:prstDash val="sysDot"/>
          </a:ln>
        </p:spPr>
      </p:sp>
      <p:sp>
        <p:nvSpPr>
          <p:cNvPr id="36" name="Shape 34"/>
          <p:cNvSpPr/>
          <p:nvPr/>
        </p:nvSpPr>
        <p:spPr>
          <a:xfrm flipV="1">
            <a:off x="9792114" y="1749900"/>
            <a:ext cx="0" cy="218672"/>
          </a:xfrm>
          <a:prstGeom prst="line">
            <a:avLst/>
          </a:prstGeom>
          <a:noFill/>
          <a:ln w="31750">
            <a:solidFill>
              <a:srgbClr val="55627E"/>
            </a:solidFill>
            <a:prstDash val="sysDot"/>
            <a:tailEnd type="triangle"/>
          </a:ln>
        </p:spPr>
      </p:sp>
      <p:sp>
        <p:nvSpPr>
          <p:cNvPr id="37" name="Text 35"/>
          <p:cNvSpPr/>
          <p:nvPr/>
        </p:nvSpPr>
        <p:spPr>
          <a:xfrm>
            <a:off x="885002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31750">
            <a:solidFill>
              <a:srgbClr val="55627E"/>
            </a:solidFill>
            <a:prstDash val="sysDot"/>
          </a:ln>
        </p:spPr>
      </p:sp>
      <p:sp>
        <p:nvSpPr>
          <p:cNvPr id="39" name="Shape 37"/>
          <p:cNvSpPr/>
          <p:nvPr/>
        </p:nvSpPr>
        <p:spPr>
          <a:xfrm>
            <a:off x="9792114" y="2589320"/>
            <a:ext cx="0" cy="218672"/>
          </a:xfrm>
          <a:prstGeom prst="line">
            <a:avLst/>
          </a:prstGeom>
          <a:noFill/>
          <a:ln w="31750">
            <a:solidFill>
              <a:srgbClr val="55627E"/>
            </a:solidFill>
            <a:prstDash val="sysDot"/>
            <a:tailEnd type="triangle"/>
          </a:ln>
        </p:spPr>
      </p:sp>
      <p:sp>
        <p:nvSpPr>
          <p:cNvPr id="40" name="Text 38"/>
          <p:cNvSpPr/>
          <p:nvPr/>
        </p:nvSpPr>
        <p:spPr>
          <a:xfrm>
            <a:off x="8850020" y="24795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47625">
            <a:solidFill>
              <a:srgbClr val="2BA6CB"/>
            </a:solidFill>
            <a:prstDash val="sysDot"/>
          </a:ln>
        </p:spPr>
      </p:sp>
      <p:sp>
        <p:nvSpPr>
          <p:cNvPr id="42" name="Shape 40"/>
          <p:cNvSpPr/>
          <p:nvPr/>
        </p:nvSpPr>
        <p:spPr>
          <a:xfrm flipV="1">
            <a:off x="9792114" y="2807992"/>
            <a:ext cx="0" cy="402075"/>
          </a:xfrm>
          <a:prstGeom prst="line">
            <a:avLst/>
          </a:prstGeom>
          <a:noFill/>
          <a:ln w="47625">
            <a:solidFill>
              <a:srgbClr val="2BA6CB"/>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47625">
            <a:solidFill>
              <a:srgbClr val="2BA6CB"/>
            </a:solidFill>
            <a:prstDash val="sysDot"/>
            <a:tailEnd type="triangle"/>
          </a:ln>
        </p:spPr>
      </p:sp>
      <p:sp>
        <p:nvSpPr>
          <p:cNvPr id="46" name="Text 44"/>
          <p:cNvSpPr/>
          <p:nvPr/>
        </p:nvSpPr>
        <p:spPr>
          <a:xfrm>
            <a:off x="7848361" y="341071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41275">
            <a:solidFill>
              <a:srgbClr val="2BA6CB"/>
            </a:solidFill>
            <a:prstDash val="dash"/>
            <a:tailEnd type="triangle"/>
          </a:ln>
        </p:spPr>
      </p:sp>
      <p:sp>
        <p:nvSpPr>
          <p:cNvPr id="48" name="Text 46"/>
          <p:cNvSpPr/>
          <p:nvPr/>
        </p:nvSpPr>
        <p:spPr>
          <a:xfrm>
            <a:off x="8793589" y="37210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31750">
            <a:solidFill>
              <a:srgbClr val="AB243E"/>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AB243E"/>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47625">
            <a:solidFill>
              <a:srgbClr val="2BA6CB"/>
            </a:solidFill>
            <a:prstDash val="sysDash"/>
          </a:ln>
        </p:spPr>
      </p:sp>
      <p:sp>
        <p:nvSpPr>
          <p:cNvPr id="53" name="Shape 51"/>
          <p:cNvSpPr/>
          <p:nvPr/>
        </p:nvSpPr>
        <p:spPr>
          <a:xfrm flipV="1">
            <a:off x="3704561" y="3210067"/>
            <a:ext cx="0" cy="620747"/>
          </a:xfrm>
          <a:prstGeom prst="line">
            <a:avLst/>
          </a:prstGeom>
          <a:noFill/>
          <a:ln w="47625">
            <a:solidFill>
              <a:srgbClr val="2BA6CB"/>
            </a:solidFill>
            <a:prstDash val="sysDash"/>
          </a:ln>
        </p:spPr>
      </p:sp>
      <p:sp>
        <p:nvSpPr>
          <p:cNvPr id="54" name="Shape 52"/>
          <p:cNvSpPr/>
          <p:nvPr/>
        </p:nvSpPr>
        <p:spPr>
          <a:xfrm flipH="1">
            <a:off x="3457673" y="3210067"/>
            <a:ext cx="246888" cy="0"/>
          </a:xfrm>
          <a:prstGeom prst="line">
            <a:avLst/>
          </a:prstGeom>
          <a:noFill/>
          <a:ln w="47625">
            <a:solidFill>
              <a:srgbClr val="2BA6CB"/>
            </a:solidFill>
            <a:prstDash val="sysDash"/>
            <a:tailEnd type="triangle"/>
          </a:ln>
        </p:spPr>
      </p:sp>
      <p:sp>
        <p:nvSpPr>
          <p:cNvPr id="55" name="Text 53"/>
          <p:cNvSpPr/>
          <p:nvPr/>
        </p:nvSpPr>
        <p:spPr>
          <a:xfrm>
            <a:off x="3718277" y="37210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38735">
            <a:solidFill>
              <a:srgbClr val="2BA6CB"/>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1715088" y="1799999"/>
            <a:ext cx="337147" cy="337147"/>
          </a:xfrm>
          <a:prstGeom prst="ellipse">
            <a:avLst/>
          </a:prstGeom>
          <a:solidFill>
            <a:srgbClr val="EBECF0"/>
          </a:solidFill>
          <a:ln w="12700">
            <a:solidFill>
              <a:srgbClr val="EBECF0"/>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55627E"/>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6" name="Shape 64"/>
          <p:cNvSpPr/>
          <p:nvPr/>
        </p:nvSpPr>
        <p:spPr>
          <a:xfrm>
            <a:off x="1715088" y="3662240"/>
            <a:ext cx="337147" cy="337147"/>
          </a:xfrm>
          <a:prstGeom prst="ellipse">
            <a:avLst/>
          </a:prstGeom>
          <a:solidFill>
            <a:srgbClr val="E3F4FA"/>
          </a:solidFill>
          <a:ln w="12700">
            <a:solidFill>
              <a:srgbClr val="E3F4FA"/>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0B6E8A"/>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4042889" y="1799999"/>
            <a:ext cx="337147" cy="337147"/>
          </a:xfrm>
          <a:prstGeom prst="ellipse">
            <a:avLst/>
          </a:prstGeom>
          <a:solidFill>
            <a:srgbClr val="E4EAF1"/>
          </a:solidFill>
          <a:ln w="12700">
            <a:solidFill>
              <a:srgbClr val="E4EAF1"/>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1F4E8C"/>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4" name="Shape 72"/>
          <p:cNvSpPr/>
          <p:nvPr/>
        </p:nvSpPr>
        <p:spPr>
          <a:xfrm>
            <a:off x="4042889" y="2731119"/>
            <a:ext cx="337147" cy="337147"/>
          </a:xfrm>
          <a:prstGeom prst="ellipse">
            <a:avLst/>
          </a:prstGeom>
          <a:solidFill>
            <a:srgbClr val="E4EAF1"/>
          </a:solidFill>
          <a:ln w="12700">
            <a:solidFill>
              <a:srgbClr val="E4EAF1"/>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1F4E8C"/>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12700">
            <a:solidFill>
              <a:srgbClr val="9AAFCB"/>
            </a:solidFill>
            <a:prstDash val="dash"/>
          </a:ln>
          <a:effectLst>
            <a:outerShdw sx="100000" sy="100000" kx="0" ky="0" algn="bl" rotWithShape="0" blurRad="76200" dist="19050" dir="5400000">
              <a:srgbClr val="0B1F3A">
                <a:alpha val="14000"/>
              </a:srgbClr>
            </a:outerShdw>
          </a:effectLst>
        </p:spPr>
      </p:sp>
      <p:sp>
        <p:nvSpPr>
          <p:cNvPr id="78" name="Shape 76"/>
          <p:cNvSpPr/>
          <p:nvPr/>
        </p:nvSpPr>
        <p:spPr>
          <a:xfrm>
            <a:off x="5453678" y="2731119"/>
            <a:ext cx="337147" cy="337147"/>
          </a:xfrm>
          <a:prstGeom prst="ellipse">
            <a:avLst/>
          </a:prstGeom>
          <a:solidFill>
            <a:srgbClr val="E4EAF1"/>
          </a:solidFill>
          <a:ln w="12700">
            <a:solidFill>
              <a:srgbClr val="E4EAF1"/>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1F4E8C"/>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0B1A3C"/>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55627E"/>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2" name="Shape 80"/>
          <p:cNvSpPr/>
          <p:nvPr/>
        </p:nvSpPr>
        <p:spPr>
          <a:xfrm>
            <a:off x="4042889" y="3662240"/>
            <a:ext cx="337147" cy="337147"/>
          </a:xfrm>
          <a:prstGeom prst="ellipse">
            <a:avLst/>
          </a:prstGeom>
          <a:solidFill>
            <a:srgbClr val="E4EAF1"/>
          </a:solidFill>
          <a:ln w="12700">
            <a:solidFill>
              <a:srgbClr val="E4EAF1"/>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1F4E8C"/>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86" name="Shape 84"/>
          <p:cNvSpPr/>
          <p:nvPr/>
        </p:nvSpPr>
        <p:spPr>
          <a:xfrm>
            <a:off x="7217163" y="1799999"/>
            <a:ext cx="337147" cy="337147"/>
          </a:xfrm>
          <a:prstGeom prst="ellipse">
            <a:avLst/>
          </a:prstGeom>
          <a:solidFill>
            <a:srgbClr val="E8EBEE"/>
          </a:solidFill>
          <a:ln w="12700">
            <a:solidFill>
              <a:srgbClr val="E8EBEE"/>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3D5675"/>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91" name="Shape 89"/>
          <p:cNvSpPr/>
          <p:nvPr/>
        </p:nvSpPr>
        <p:spPr>
          <a:xfrm>
            <a:off x="7217163" y="3041493"/>
            <a:ext cx="337147" cy="337147"/>
          </a:xfrm>
          <a:prstGeom prst="ellipse">
            <a:avLst/>
          </a:prstGeom>
          <a:solidFill>
            <a:srgbClr val="E3F4FA"/>
          </a:solidFill>
          <a:ln w="12700">
            <a:solidFill>
              <a:srgbClr val="E3F4FA"/>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0B6E8A"/>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98" name="Shape 96"/>
          <p:cNvSpPr/>
          <p:nvPr/>
        </p:nvSpPr>
        <p:spPr>
          <a:xfrm>
            <a:off x="4042889" y="4858589"/>
            <a:ext cx="300467" cy="300467"/>
          </a:xfrm>
          <a:prstGeom prst="ellipse">
            <a:avLst/>
          </a:prstGeom>
          <a:solidFill>
            <a:srgbClr val="E3F4FA"/>
          </a:solidFill>
          <a:ln w="12700">
            <a:solidFill>
              <a:srgbClr val="E3F4FA"/>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0B6E8A"/>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02" name="Shape 100"/>
          <p:cNvSpPr/>
          <p:nvPr/>
        </p:nvSpPr>
        <p:spPr>
          <a:xfrm>
            <a:off x="7217163" y="4858589"/>
            <a:ext cx="300467" cy="300467"/>
          </a:xfrm>
          <a:prstGeom prst="ellipse">
            <a:avLst/>
          </a:prstGeom>
          <a:solidFill>
            <a:srgbClr val="E3F4FA"/>
          </a:solidFill>
          <a:ln w="12700">
            <a:solidFill>
              <a:srgbClr val="E3F4FA"/>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0B6E8A"/>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107" name="Text 105"/>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lee los pendientes y el publicador los entrega con reintentos.</a:t>
            </a:r>
            <a:endParaRPr lang="en-US" sz="1300" dirty="0"/>
          </a:p>
        </p:txBody>
      </p:sp>
      <p:sp>
        <p:nvSpPr>
          <p:cNvPr id="108" name="Shape 106"/>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9" name="Text 107"/>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110" name="Text 108"/>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250" dirty="0">
                <a:solidFill>
                  <a:srgbClr val="0B1A3C"/>
                </a:solidFill>
                <a:latin typeface="Segoe UI" pitchFamily="34" charset="0"/>
                <a:ea typeface="Segoe UI" pitchFamily="34" charset="-122"/>
                <a:cs typeface="Segoe UI" pitchFamily="34" charset="-120"/>
              </a:rPr>
              <a:t>El manejador global convierte las excepciones en 404, 409 o 400; Swagger y Actuator publican el contrato y la salud.</a:t>
            </a:r>
            <a:endParaRPr lang="en-US" sz="1250" dirty="0"/>
          </a:p>
        </p:txBody>
      </p:sp>
      <p:sp>
        <p:nvSpPr>
          <p:cNvPr id="111" name="Shape 109"/>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12" name="Text 110"/>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9</a:t>
            </a:r>
            <a:endParaRPr lang="en-US" sz="1400" dirty="0"/>
          </a:p>
        </p:txBody>
      </p:sp>
      <p:sp>
        <p:nvSpPr>
          <p:cNvPr id="113" name="Text 111"/>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ConfiguracionDominio arma las piezas con @Bean, y el RestClient lleva el traceId al otro servicio.</a:t>
            </a:r>
            <a:endParaRPr lang="en-US" sz="1300" dirty="0"/>
          </a:p>
        </p:txBody>
      </p:sp>
      <p:sp>
        <p:nvSpPr>
          <p:cNvPr id="114" name="Text 11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Entrada: recibe el evento y las consultas</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Consumo idempotente: ¿este evento ya llegó?</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Dominio: crea el aviso</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Salida: avisos en memoria y eventos en PostgreSQL</a:t>
            </a:r>
            <a:endParaRPr lang="en-US" sz="1100" dirty="0"/>
          </a:p>
        </p:txBody>
      </p:sp>
      <p:sp>
        <p:nvSpPr>
          <p:cNvPr id="9" name="Shape 7"/>
          <p:cNvSpPr/>
          <p:nvPr/>
        </p:nvSpPr>
        <p:spPr>
          <a:xfrm>
            <a:off x="2413102" y="2240463"/>
            <a:ext cx="2700680" cy="3273552"/>
          </a:xfrm>
          <a:prstGeom prst="roundRect">
            <a:avLst>
              <a:gd name="adj" fmla="val 4063"/>
            </a:avLst>
          </a:prstGeom>
          <a:solidFill>
            <a:srgbClr val="F7F9FC"/>
          </a:solidFill>
          <a:ln w="12700">
            <a:solidFill>
              <a:srgbClr val="C7D2E2"/>
            </a:solidFill>
            <a:prstDash val="solid"/>
          </a:ln>
        </p:spPr>
      </p:sp>
      <p:sp>
        <p:nvSpPr>
          <p:cNvPr id="10" name="Text 8"/>
          <p:cNvSpPr/>
          <p:nvPr/>
        </p:nvSpPr>
        <p:spPr>
          <a:xfrm>
            <a:off x="2486254" y="22953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11" name="Shape 9"/>
          <p:cNvSpPr/>
          <p:nvPr/>
        </p:nvSpPr>
        <p:spPr>
          <a:xfrm>
            <a:off x="5359298" y="2240463"/>
            <a:ext cx="2700680" cy="3273552"/>
          </a:xfrm>
          <a:prstGeom prst="roundRect">
            <a:avLst>
              <a:gd name="adj" fmla="val 4063"/>
            </a:avLst>
          </a:prstGeom>
          <a:solidFill>
            <a:srgbClr val="E5F5FA"/>
          </a:solidFill>
          <a:ln w="12700">
            <a:solidFill>
              <a:srgbClr val="9DD7E8"/>
            </a:solidFill>
            <a:prstDash val="solid"/>
          </a:ln>
        </p:spPr>
      </p:sp>
      <p:sp>
        <p:nvSpPr>
          <p:cNvPr id="12" name="Text 10"/>
          <p:cNvSpPr/>
          <p:nvPr/>
        </p:nvSpPr>
        <p:spPr>
          <a:xfrm>
            <a:off x="5432450" y="22953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13" name="Shape 11"/>
          <p:cNvSpPr/>
          <p:nvPr/>
        </p:nvSpPr>
        <p:spPr>
          <a:xfrm>
            <a:off x="8305495" y="2240463"/>
            <a:ext cx="3191713" cy="3273552"/>
          </a:xfrm>
          <a:prstGeom prst="roundRect">
            <a:avLst>
              <a:gd name="adj" fmla="val 3438"/>
            </a:avLst>
          </a:prstGeom>
          <a:solidFill>
            <a:srgbClr val="EEF2F7"/>
          </a:solidFill>
          <a:ln w="12700">
            <a:solidFill>
              <a:srgbClr val="C2CEDD"/>
            </a:solidFill>
            <a:prstDash val="solid"/>
          </a:ln>
        </p:spPr>
      </p:sp>
      <p:sp>
        <p:nvSpPr>
          <p:cNvPr id="14" name="Text 12"/>
          <p:cNvSpPr/>
          <p:nvPr/>
        </p:nvSpPr>
        <p:spPr>
          <a:xfrm>
            <a:off x="8378647" y="22953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5" name="Shape 13"/>
          <p:cNvSpPr/>
          <p:nvPr/>
        </p:nvSpPr>
        <p:spPr>
          <a:xfrm>
            <a:off x="2249424" y="2886989"/>
            <a:ext cx="327355" cy="0"/>
          </a:xfrm>
          <a:prstGeom prst="line">
            <a:avLst/>
          </a:prstGeom>
          <a:noFill/>
          <a:ln w="25400">
            <a:solidFill>
              <a:srgbClr val="55627E"/>
            </a:solidFill>
            <a:prstDash val="dash"/>
            <a:tailEnd type="triangle"/>
          </a:ln>
        </p:spPr>
      </p:sp>
      <p:sp>
        <p:nvSpPr>
          <p:cNvPr id="16" name="Text 14"/>
          <p:cNvSpPr/>
          <p:nvPr/>
        </p:nvSpPr>
        <p:spPr>
          <a:xfrm>
            <a:off x="2162556" y="26578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7" name="Text 15"/>
          <p:cNvSpPr/>
          <p:nvPr/>
        </p:nvSpPr>
        <p:spPr>
          <a:xfrm>
            <a:off x="2303374" y="27772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8" name="Shape 16"/>
          <p:cNvSpPr/>
          <p:nvPr/>
        </p:nvSpPr>
        <p:spPr>
          <a:xfrm>
            <a:off x="3763442" y="3140690"/>
            <a:ext cx="0" cy="458297"/>
          </a:xfrm>
          <a:prstGeom prst="line">
            <a:avLst/>
          </a:prstGeom>
          <a:noFill/>
          <a:ln w="31750">
            <a:solidFill>
              <a:srgbClr val="55627E"/>
            </a:solidFill>
            <a:prstDash val="sysDot"/>
            <a:tailEnd type="triangle"/>
          </a:ln>
        </p:spPr>
      </p:sp>
      <p:sp>
        <p:nvSpPr>
          <p:cNvPr id="19" name="Text 17"/>
          <p:cNvSpPr/>
          <p:nvPr/>
        </p:nvSpPr>
        <p:spPr>
          <a:xfrm>
            <a:off x="3653714" y="32273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0" name="Shape 18"/>
          <p:cNvSpPr/>
          <p:nvPr/>
        </p:nvSpPr>
        <p:spPr>
          <a:xfrm flipV="1">
            <a:off x="4704588" y="3402574"/>
            <a:ext cx="0" cy="196413"/>
          </a:xfrm>
          <a:prstGeom prst="line">
            <a:avLst/>
          </a:prstGeom>
          <a:noFill/>
          <a:ln w="31750">
            <a:solidFill>
              <a:srgbClr val="55627E"/>
            </a:solidFill>
            <a:prstDash val="sysDot"/>
          </a:ln>
        </p:spPr>
      </p:sp>
      <p:sp>
        <p:nvSpPr>
          <p:cNvPr id="21" name="Shape 19"/>
          <p:cNvSpPr/>
          <p:nvPr/>
        </p:nvSpPr>
        <p:spPr>
          <a:xfrm>
            <a:off x="4704588" y="3402574"/>
            <a:ext cx="3478149" cy="0"/>
          </a:xfrm>
          <a:prstGeom prst="line">
            <a:avLst/>
          </a:prstGeom>
          <a:noFill/>
          <a:ln w="31750">
            <a:solidFill>
              <a:srgbClr val="55627E"/>
            </a:solidFill>
            <a:prstDash val="sysDot"/>
          </a:ln>
        </p:spPr>
      </p:sp>
      <p:sp>
        <p:nvSpPr>
          <p:cNvPr id="22" name="Shape 20"/>
          <p:cNvSpPr/>
          <p:nvPr/>
        </p:nvSpPr>
        <p:spPr>
          <a:xfrm>
            <a:off x="8182737" y="3402574"/>
            <a:ext cx="0" cy="450113"/>
          </a:xfrm>
          <a:prstGeom prst="line">
            <a:avLst/>
          </a:prstGeom>
          <a:noFill/>
          <a:ln w="31750">
            <a:solidFill>
              <a:srgbClr val="55627E"/>
            </a:solidFill>
            <a:prstDash val="sysDot"/>
          </a:ln>
        </p:spPr>
      </p:sp>
      <p:sp>
        <p:nvSpPr>
          <p:cNvPr id="23" name="Shape 21"/>
          <p:cNvSpPr/>
          <p:nvPr/>
        </p:nvSpPr>
        <p:spPr>
          <a:xfrm>
            <a:off x="8182737" y="3852687"/>
            <a:ext cx="286436" cy="0"/>
          </a:xfrm>
          <a:prstGeom prst="line">
            <a:avLst/>
          </a:prstGeom>
          <a:noFill/>
          <a:ln w="31750">
            <a:solidFill>
              <a:srgbClr val="55627E"/>
            </a:solidFill>
            <a:prstDash val="sysDot"/>
            <a:tailEnd type="triangle"/>
          </a:ln>
        </p:spPr>
      </p:sp>
      <p:sp>
        <p:nvSpPr>
          <p:cNvPr id="24" name="Text 22"/>
          <p:cNvSpPr/>
          <p:nvPr/>
        </p:nvSpPr>
        <p:spPr>
          <a:xfrm>
            <a:off x="5757863" y="31734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5" name="Text 23"/>
          <p:cNvSpPr/>
          <p:nvPr/>
        </p:nvSpPr>
        <p:spPr>
          <a:xfrm>
            <a:off x="4594860" y="33910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flipV="1">
            <a:off x="9901352" y="3140690"/>
            <a:ext cx="0" cy="458297"/>
          </a:xfrm>
          <a:prstGeom prst="line">
            <a:avLst/>
          </a:prstGeom>
          <a:noFill/>
          <a:ln w="31750">
            <a:solidFill>
              <a:srgbClr val="55627E"/>
            </a:solidFill>
            <a:prstDash val="sysDot"/>
            <a:tailEnd type="triangle"/>
          </a:ln>
        </p:spPr>
      </p:sp>
      <p:sp>
        <p:nvSpPr>
          <p:cNvPr id="27" name="Text 25"/>
          <p:cNvSpPr/>
          <p:nvPr/>
        </p:nvSpPr>
        <p:spPr>
          <a:xfrm>
            <a:off x="9983191" y="32471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8" name="Text 26"/>
          <p:cNvSpPr/>
          <p:nvPr/>
        </p:nvSpPr>
        <p:spPr>
          <a:xfrm>
            <a:off x="9791624" y="32928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9" name="Shape 27"/>
          <p:cNvSpPr/>
          <p:nvPr/>
        </p:nvSpPr>
        <p:spPr>
          <a:xfrm>
            <a:off x="4950104" y="3852687"/>
            <a:ext cx="572872" cy="0"/>
          </a:xfrm>
          <a:prstGeom prst="line">
            <a:avLst/>
          </a:prstGeom>
          <a:noFill/>
          <a:ln w="31750">
            <a:solidFill>
              <a:srgbClr val="55627E"/>
            </a:solidFill>
            <a:prstDash val="sysDot"/>
            <a:tailEnd type="triangle"/>
          </a:ln>
        </p:spPr>
      </p:sp>
      <p:sp>
        <p:nvSpPr>
          <p:cNvPr id="30" name="Text 28"/>
          <p:cNvSpPr/>
          <p:nvPr/>
        </p:nvSpPr>
        <p:spPr>
          <a:xfrm>
            <a:off x="4830547" y="3623584"/>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 nuevo</a:t>
            </a:r>
            <a:endParaRPr lang="en-US" sz="800" dirty="0"/>
          </a:p>
        </p:txBody>
      </p:sp>
      <p:sp>
        <p:nvSpPr>
          <p:cNvPr id="31" name="Text 29"/>
          <p:cNvSpPr/>
          <p:nvPr/>
        </p:nvSpPr>
        <p:spPr>
          <a:xfrm>
            <a:off x="5036790" y="374295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2" name="Shape 30"/>
          <p:cNvSpPr/>
          <p:nvPr/>
        </p:nvSpPr>
        <p:spPr>
          <a:xfrm flipV="1">
            <a:off x="6709639" y="3140690"/>
            <a:ext cx="0" cy="458297"/>
          </a:xfrm>
          <a:prstGeom prst="line">
            <a:avLst/>
          </a:prstGeom>
          <a:noFill/>
          <a:ln w="31750">
            <a:solidFill>
              <a:srgbClr val="55627E"/>
            </a:solidFill>
            <a:prstDash val="sysDot"/>
            <a:tailEnd type="triangle"/>
          </a:ln>
        </p:spPr>
      </p:sp>
      <p:sp>
        <p:nvSpPr>
          <p:cNvPr id="33" name="Text 31"/>
          <p:cNvSpPr/>
          <p:nvPr/>
        </p:nvSpPr>
        <p:spPr>
          <a:xfrm>
            <a:off x="6791477" y="324712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34" name="Text 32"/>
          <p:cNvSpPr/>
          <p:nvPr/>
        </p:nvSpPr>
        <p:spPr>
          <a:xfrm>
            <a:off x="6599911" y="32928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5" name="Shape 33"/>
          <p:cNvSpPr/>
          <p:nvPr/>
        </p:nvSpPr>
        <p:spPr>
          <a:xfrm>
            <a:off x="6709639" y="4106388"/>
            <a:ext cx="0" cy="458297"/>
          </a:xfrm>
          <a:prstGeom prst="line">
            <a:avLst/>
          </a:prstGeom>
          <a:noFill/>
          <a:ln w="22860">
            <a:solidFill>
              <a:srgbClr val="1F4E8C"/>
            </a:solidFill>
            <a:prstDash val="lgDash"/>
            <a:tailEnd type="arrow"/>
          </a:ln>
        </p:spPr>
      </p:sp>
      <p:sp>
        <p:nvSpPr>
          <p:cNvPr id="36" name="Text 34"/>
          <p:cNvSpPr/>
          <p:nvPr/>
        </p:nvSpPr>
        <p:spPr>
          <a:xfrm>
            <a:off x="6791477" y="4212824"/>
            <a:ext cx="501091"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guarda</a:t>
            </a:r>
            <a:endParaRPr lang="en-US" sz="800" dirty="0"/>
          </a:p>
        </p:txBody>
      </p:sp>
      <p:sp>
        <p:nvSpPr>
          <p:cNvPr id="37" name="Text 35"/>
          <p:cNvSpPr/>
          <p:nvPr/>
        </p:nvSpPr>
        <p:spPr>
          <a:xfrm>
            <a:off x="6599911" y="4193073"/>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8" name="Shape 36"/>
          <p:cNvSpPr/>
          <p:nvPr/>
        </p:nvSpPr>
        <p:spPr>
          <a:xfrm flipH="1">
            <a:off x="7896301" y="4818385"/>
            <a:ext cx="572872" cy="0"/>
          </a:xfrm>
          <a:prstGeom prst="line">
            <a:avLst/>
          </a:prstGeom>
          <a:noFill/>
          <a:ln w="22860">
            <a:solidFill>
              <a:srgbClr val="1F4E8C"/>
            </a:solidFill>
            <a:prstDash val="lgDash"/>
            <a:tailEnd type="arrow"/>
          </a:ln>
        </p:spPr>
      </p:sp>
      <p:sp>
        <p:nvSpPr>
          <p:cNvPr id="39" name="Text 37"/>
          <p:cNvSpPr/>
          <p:nvPr/>
        </p:nvSpPr>
        <p:spPr>
          <a:xfrm>
            <a:off x="7807833" y="4589282"/>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40" name="Text 38"/>
          <p:cNvSpPr/>
          <p:nvPr/>
        </p:nvSpPr>
        <p:spPr>
          <a:xfrm>
            <a:off x="8163032" y="470865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41" name="Shape 39"/>
          <p:cNvSpPr/>
          <p:nvPr/>
        </p:nvSpPr>
        <p:spPr>
          <a:xfrm>
            <a:off x="2249424" y="4818385"/>
            <a:ext cx="327355" cy="0"/>
          </a:xfrm>
          <a:prstGeom prst="line">
            <a:avLst/>
          </a:prstGeom>
          <a:noFill/>
          <a:ln w="31750">
            <a:solidFill>
              <a:srgbClr val="2E6DB4"/>
            </a:solidFill>
            <a:prstDash val="solid"/>
            <a:tailEnd type="triangle"/>
          </a:ln>
        </p:spPr>
      </p:sp>
      <p:sp>
        <p:nvSpPr>
          <p:cNvPr id="42" name="Text 40"/>
          <p:cNvSpPr/>
          <p:nvPr/>
        </p:nvSpPr>
        <p:spPr>
          <a:xfrm>
            <a:off x="2303374" y="470865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3" name="Shape 41"/>
          <p:cNvSpPr/>
          <p:nvPr/>
        </p:nvSpPr>
        <p:spPr>
          <a:xfrm>
            <a:off x="4950104" y="4818385"/>
            <a:ext cx="286436" cy="0"/>
          </a:xfrm>
          <a:prstGeom prst="line">
            <a:avLst/>
          </a:prstGeom>
          <a:noFill/>
          <a:ln w="31750">
            <a:solidFill>
              <a:srgbClr val="55627E"/>
            </a:solidFill>
            <a:prstDash val="sysDot"/>
          </a:ln>
        </p:spPr>
      </p:sp>
      <p:sp>
        <p:nvSpPr>
          <p:cNvPr id="44" name="Shape 42"/>
          <p:cNvSpPr/>
          <p:nvPr/>
        </p:nvSpPr>
        <p:spPr>
          <a:xfrm flipV="1">
            <a:off x="5236540" y="3959078"/>
            <a:ext cx="0" cy="859307"/>
          </a:xfrm>
          <a:prstGeom prst="line">
            <a:avLst/>
          </a:prstGeom>
          <a:noFill/>
          <a:ln w="31750">
            <a:solidFill>
              <a:srgbClr val="55627E"/>
            </a:solidFill>
            <a:prstDash val="sysDot"/>
          </a:ln>
        </p:spPr>
      </p:sp>
      <p:sp>
        <p:nvSpPr>
          <p:cNvPr id="45" name="Shape 43"/>
          <p:cNvSpPr/>
          <p:nvPr/>
        </p:nvSpPr>
        <p:spPr>
          <a:xfrm>
            <a:off x="5236540" y="3959078"/>
            <a:ext cx="286436" cy="0"/>
          </a:xfrm>
          <a:prstGeom prst="line">
            <a:avLst/>
          </a:prstGeom>
          <a:noFill/>
          <a:ln w="31750">
            <a:solidFill>
              <a:srgbClr val="55627E"/>
            </a:solidFill>
            <a:prstDash val="sysDot"/>
            <a:tailEnd type="triangle"/>
          </a:ln>
        </p:spPr>
      </p:sp>
      <p:sp>
        <p:nvSpPr>
          <p:cNvPr id="46" name="Text 44"/>
          <p:cNvSpPr/>
          <p:nvPr/>
        </p:nvSpPr>
        <p:spPr>
          <a:xfrm>
            <a:off x="4983594" y="47086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7" name="Text 45"/>
          <p:cNvSpPr/>
          <p:nvPr/>
        </p:nvSpPr>
        <p:spPr>
          <a:xfrm>
            <a:off x="694487" y="26332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8" name="Shape 46"/>
          <p:cNvSpPr/>
          <p:nvPr/>
        </p:nvSpPr>
        <p:spPr>
          <a:xfrm>
            <a:off x="694487" y="4564685"/>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785927" y="4631597"/>
            <a:ext cx="373576" cy="373576"/>
          </a:xfrm>
          <a:prstGeom prst="ellipse">
            <a:avLst/>
          </a:prstGeom>
          <a:solidFill>
            <a:srgbClr val="E2E5EA"/>
          </a:solidFill>
          <a:ln w="12700">
            <a:solidFill>
              <a:srgbClr val="E2E5EA"/>
            </a:solidFill>
            <a:prstDash val="solid"/>
          </a:ln>
        </p:spPr>
      </p:sp>
      <p:sp>
        <p:nvSpPr>
          <p:cNvPr id="50" name="Icono monitor"/>
          <p:cNvSpPr/>
          <p:nvPr/>
        </p:nvSpPr>
        <p:spPr>
          <a:xfrm>
            <a:off x="840791" y="46864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0B2350"/>
            </a:solidFill>
            <a:prstDash val="solid"/>
            <a:round/>
          </a:ln>
        </p:spPr>
      </p:sp>
      <p:sp>
        <p:nvSpPr>
          <p:cNvPr id="51" name="Text 49"/>
          <p:cNvSpPr/>
          <p:nvPr/>
        </p:nvSpPr>
        <p:spPr>
          <a:xfrm>
            <a:off x="1214367" y="45646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consulta los avisos</a:t>
            </a:r>
            <a:endParaRPr lang="en-US" sz="967" dirty="0"/>
          </a:p>
        </p:txBody>
      </p:sp>
      <p:sp>
        <p:nvSpPr>
          <p:cNvPr id="52" name="Shape 50"/>
          <p:cNvSpPr/>
          <p:nvPr/>
        </p:nvSpPr>
        <p:spPr>
          <a:xfrm>
            <a:off x="2576779" y="26332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700201"/>
            <a:ext cx="373576" cy="373576"/>
          </a:xfrm>
          <a:prstGeom prst="ellipse">
            <a:avLst/>
          </a:prstGeom>
          <a:solidFill>
            <a:srgbClr val="EBECF0"/>
          </a:solidFill>
          <a:ln w="12700">
            <a:solidFill>
              <a:srgbClr val="EBECF0"/>
            </a:solidFill>
            <a:prstDash val="solid"/>
          </a:ln>
        </p:spPr>
      </p:sp>
      <p:sp>
        <p:nvSpPr>
          <p:cNvPr id="54" name="Icono code"/>
          <p:cNvSpPr/>
          <p:nvPr/>
        </p:nvSpPr>
        <p:spPr>
          <a:xfrm>
            <a:off x="2723083" y="27550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5" name="Text 53"/>
          <p:cNvSpPr/>
          <p:nvPr/>
        </p:nvSpPr>
        <p:spPr>
          <a:xfrm>
            <a:off x="3096659" y="26332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6" name="Shape 54"/>
          <p:cNvSpPr/>
          <p:nvPr/>
        </p:nvSpPr>
        <p:spPr>
          <a:xfrm>
            <a:off x="2576779" y="35989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7" name="Shape 55"/>
          <p:cNvSpPr/>
          <p:nvPr/>
        </p:nvSpPr>
        <p:spPr>
          <a:xfrm>
            <a:off x="2668219" y="3665899"/>
            <a:ext cx="373576" cy="373576"/>
          </a:xfrm>
          <a:prstGeom prst="ellipse">
            <a:avLst/>
          </a:prstGeom>
          <a:solidFill>
            <a:srgbClr val="EBECF0"/>
          </a:solidFill>
          <a:ln w="12700">
            <a:solidFill>
              <a:srgbClr val="EBECF0"/>
            </a:solidFill>
            <a:prstDash val="solid"/>
          </a:ln>
        </p:spPr>
      </p:sp>
      <p:sp>
        <p:nvSpPr>
          <p:cNvPr id="58" name="Icono fingerprint"/>
          <p:cNvSpPr/>
          <p:nvPr/>
        </p:nvSpPr>
        <p:spPr>
          <a:xfrm>
            <a:off x="2723083" y="37207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9" name="Text 57"/>
          <p:cNvSpPr/>
          <p:nvPr/>
        </p:nvSpPr>
        <p:spPr>
          <a:xfrm>
            <a:off x="3096659" y="35989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60" name="Shape 58"/>
          <p:cNvSpPr/>
          <p:nvPr/>
        </p:nvSpPr>
        <p:spPr>
          <a:xfrm>
            <a:off x="2576779" y="4564685"/>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668219" y="4631597"/>
            <a:ext cx="373576" cy="373576"/>
          </a:xfrm>
          <a:prstGeom prst="ellipse">
            <a:avLst/>
          </a:prstGeom>
          <a:solidFill>
            <a:srgbClr val="EBECF0"/>
          </a:solidFill>
          <a:ln w="12700">
            <a:solidFill>
              <a:srgbClr val="EBECF0"/>
            </a:solidFill>
            <a:prstDash val="solid"/>
          </a:ln>
        </p:spPr>
      </p:sp>
      <p:sp>
        <p:nvSpPr>
          <p:cNvPr id="62" name="Icono code"/>
          <p:cNvSpPr/>
          <p:nvPr/>
        </p:nvSpPr>
        <p:spPr>
          <a:xfrm>
            <a:off x="2723083" y="46864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63" name="Text 61"/>
          <p:cNvSpPr/>
          <p:nvPr/>
        </p:nvSpPr>
        <p:spPr>
          <a:xfrm>
            <a:off x="3096659" y="45646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GET /notificaciones</a:t>
            </a:r>
            <a:endParaRPr lang="en-US" sz="967" dirty="0"/>
          </a:p>
        </p:txBody>
      </p:sp>
      <p:sp>
        <p:nvSpPr>
          <p:cNvPr id="64" name="Shape 62"/>
          <p:cNvSpPr/>
          <p:nvPr/>
        </p:nvSpPr>
        <p:spPr>
          <a:xfrm>
            <a:off x="5522976" y="2633289"/>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5" name="Shape 63"/>
          <p:cNvSpPr/>
          <p:nvPr/>
        </p:nvSpPr>
        <p:spPr>
          <a:xfrm>
            <a:off x="5614416" y="2700201"/>
            <a:ext cx="373576" cy="373576"/>
          </a:xfrm>
          <a:prstGeom prst="ellipse">
            <a:avLst/>
          </a:prstGeom>
          <a:solidFill>
            <a:srgbClr val="E2EEF1"/>
          </a:solidFill>
          <a:ln w="12700">
            <a:solidFill>
              <a:srgbClr val="E2EEF1"/>
            </a:solidFill>
            <a:prstDash val="solid"/>
          </a:ln>
        </p:spPr>
      </p:sp>
      <p:sp>
        <p:nvSpPr>
          <p:cNvPr id="66" name="Icono file-text"/>
          <p:cNvSpPr/>
          <p:nvPr/>
        </p:nvSpPr>
        <p:spPr>
          <a:xfrm>
            <a:off x="5669280" y="27550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7" name="Text 65"/>
          <p:cNvSpPr/>
          <p:nvPr/>
        </p:nvSpPr>
        <p:spPr>
          <a:xfrm>
            <a:off x="6042856" y="26332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8" name="Shape 66"/>
          <p:cNvSpPr/>
          <p:nvPr/>
        </p:nvSpPr>
        <p:spPr>
          <a:xfrm>
            <a:off x="5522976" y="3598987"/>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5614416" y="3665899"/>
            <a:ext cx="373576" cy="373576"/>
          </a:xfrm>
          <a:prstGeom prst="ellipse">
            <a:avLst/>
          </a:prstGeom>
          <a:solidFill>
            <a:srgbClr val="E2EEF1"/>
          </a:solidFill>
          <a:ln w="12700">
            <a:solidFill>
              <a:srgbClr val="E2EEF1"/>
            </a:solidFill>
            <a:prstDash val="solid"/>
          </a:ln>
        </p:spPr>
      </p:sp>
      <p:sp>
        <p:nvSpPr>
          <p:cNvPr id="70" name="Icono settings"/>
          <p:cNvSpPr/>
          <p:nvPr/>
        </p:nvSpPr>
        <p:spPr>
          <a:xfrm>
            <a:off x="5669280" y="37207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71" name="Text 69"/>
          <p:cNvSpPr/>
          <p:nvPr/>
        </p:nvSpPr>
        <p:spPr>
          <a:xfrm>
            <a:off x="6042856" y="35989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72" name="Shape 70"/>
          <p:cNvSpPr/>
          <p:nvPr/>
        </p:nvSpPr>
        <p:spPr>
          <a:xfrm>
            <a:off x="5522976" y="4564685"/>
            <a:ext cx="2373325" cy="507401"/>
          </a:xfrm>
          <a:prstGeom prst="roundRect">
            <a:avLst>
              <a:gd name="adj" fmla="val 16219"/>
            </a:avLst>
          </a:prstGeom>
          <a:solidFill>
            <a:srgbClr val="FFFFFF"/>
          </a:solidFill>
          <a:ln w="12700">
            <a:solidFill>
              <a:srgbClr val="91BECA"/>
            </a:solidFill>
            <a:prstDash val="dash"/>
          </a:ln>
          <a:effectLst>
            <a:outerShdw sx="100000" sy="100000" kx="0" ky="0" algn="bl" rotWithShape="0" blurRad="76200" dist="19050" dir="5400000">
              <a:srgbClr val="0B1F3A">
                <a:alpha val="14000"/>
              </a:srgbClr>
            </a:outerShdw>
          </a:effectLst>
        </p:spPr>
      </p:sp>
      <p:sp>
        <p:nvSpPr>
          <p:cNvPr id="73" name="Shape 71"/>
          <p:cNvSpPr/>
          <p:nvPr/>
        </p:nvSpPr>
        <p:spPr>
          <a:xfrm>
            <a:off x="5614416" y="4631597"/>
            <a:ext cx="373576" cy="373576"/>
          </a:xfrm>
          <a:prstGeom prst="ellipse">
            <a:avLst/>
          </a:prstGeom>
          <a:solidFill>
            <a:srgbClr val="E2EEF1"/>
          </a:solidFill>
          <a:ln w="12700">
            <a:solidFill>
              <a:srgbClr val="E2EEF1"/>
            </a:solidFill>
            <a:prstDash val="solid"/>
          </a:ln>
        </p:spPr>
      </p:sp>
      <p:sp>
        <p:nvSpPr>
          <p:cNvPr id="74" name="Icono plug"/>
          <p:cNvSpPr/>
          <p:nvPr/>
        </p:nvSpPr>
        <p:spPr>
          <a:xfrm>
            <a:off x="5669280" y="46864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0B6E8A"/>
            </a:solidFill>
            <a:prstDash val="solid"/>
            <a:round/>
          </a:ln>
        </p:spPr>
      </p:sp>
      <p:sp>
        <p:nvSpPr>
          <p:cNvPr id="75" name="Text 73"/>
          <p:cNvSpPr/>
          <p:nvPr/>
        </p:nvSpPr>
        <p:spPr>
          <a:xfrm>
            <a:off x="6042856" y="45646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0B1A3C"/>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55627E"/>
                </a:solidFill>
                <a:latin typeface="Segoe UI" pitchFamily="34" charset="0"/>
                <a:ea typeface="Segoe UI" pitchFamily="34" charset="-122"/>
                <a:cs typeface="Segoe UI" pitchFamily="34" charset="-120"/>
              </a:rPr>
              <a:t>puerto: guardar y listar</a:t>
            </a:r>
            <a:endParaRPr lang="en-US" sz="704" dirty="0"/>
          </a:p>
        </p:txBody>
      </p:sp>
      <p:sp>
        <p:nvSpPr>
          <p:cNvPr id="76" name="Shape 74"/>
          <p:cNvSpPr/>
          <p:nvPr/>
        </p:nvSpPr>
        <p:spPr>
          <a:xfrm>
            <a:off x="8469173" y="26332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700201"/>
            <a:ext cx="373576" cy="373576"/>
          </a:xfrm>
          <a:prstGeom prst="ellipse">
            <a:avLst/>
          </a:prstGeom>
          <a:solidFill>
            <a:srgbClr val="E8EBEE"/>
          </a:solidFill>
          <a:ln w="12700">
            <a:solidFill>
              <a:srgbClr val="E8EBEE"/>
            </a:solidFill>
            <a:prstDash val="solid"/>
          </a:ln>
        </p:spPr>
      </p:sp>
      <p:sp>
        <p:nvSpPr>
          <p:cNvPr id="78" name="Icono database"/>
          <p:cNvSpPr/>
          <p:nvPr/>
        </p:nvSpPr>
        <p:spPr>
          <a:xfrm>
            <a:off x="8615477" y="27550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9" name="Text 77"/>
          <p:cNvSpPr/>
          <p:nvPr/>
        </p:nvSpPr>
        <p:spPr>
          <a:xfrm>
            <a:off x="8989053" y="26332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80" name="Shape 78"/>
          <p:cNvSpPr/>
          <p:nvPr/>
        </p:nvSpPr>
        <p:spPr>
          <a:xfrm>
            <a:off x="8469173" y="35989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81" name="Shape 79"/>
          <p:cNvSpPr/>
          <p:nvPr/>
        </p:nvSpPr>
        <p:spPr>
          <a:xfrm>
            <a:off x="8560613" y="3665899"/>
            <a:ext cx="373576" cy="373576"/>
          </a:xfrm>
          <a:prstGeom prst="ellipse">
            <a:avLst/>
          </a:prstGeom>
          <a:solidFill>
            <a:srgbClr val="E8EBEE"/>
          </a:solidFill>
          <a:ln w="12700">
            <a:solidFill>
              <a:srgbClr val="E8EBEE"/>
            </a:solidFill>
            <a:prstDash val="solid"/>
          </a:ln>
        </p:spPr>
      </p:sp>
      <p:sp>
        <p:nvSpPr>
          <p:cNvPr id="82" name="Icono save"/>
          <p:cNvSpPr/>
          <p:nvPr/>
        </p:nvSpPr>
        <p:spPr>
          <a:xfrm>
            <a:off x="8615477" y="37207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83" name="Text 81"/>
          <p:cNvSpPr/>
          <p:nvPr/>
        </p:nvSpPr>
        <p:spPr>
          <a:xfrm>
            <a:off x="8989053" y="35989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4" name="Shape 82"/>
          <p:cNvSpPr/>
          <p:nvPr/>
        </p:nvSpPr>
        <p:spPr>
          <a:xfrm>
            <a:off x="8469173" y="4564685"/>
            <a:ext cx="2864358" cy="507401"/>
          </a:xfrm>
          <a:prstGeom prst="roundRect">
            <a:avLst>
              <a:gd name="adj" fmla="val 16219"/>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5" name="Shape 83"/>
          <p:cNvSpPr/>
          <p:nvPr/>
        </p:nvSpPr>
        <p:spPr>
          <a:xfrm>
            <a:off x="8560613" y="4631597"/>
            <a:ext cx="373576" cy="373576"/>
          </a:xfrm>
          <a:prstGeom prst="ellipse">
            <a:avLst/>
          </a:prstGeom>
          <a:solidFill>
            <a:srgbClr val="E8EBEE"/>
          </a:solidFill>
          <a:ln w="12700">
            <a:solidFill>
              <a:srgbClr val="E8EBEE"/>
            </a:solidFill>
            <a:prstDash val="solid"/>
          </a:ln>
        </p:spPr>
      </p:sp>
      <p:sp>
        <p:nvSpPr>
          <p:cNvPr id="86" name="Icono save"/>
          <p:cNvSpPr/>
          <p:nvPr/>
        </p:nvSpPr>
        <p:spPr>
          <a:xfrm>
            <a:off x="8615477" y="46864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87" name="Text 85"/>
          <p:cNvSpPr/>
          <p:nvPr/>
        </p:nvSpPr>
        <p:spPr>
          <a:xfrm>
            <a:off x="8989053" y="45646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5C3404"/>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avisos, en memoria</a:t>
            </a:r>
            <a:endParaRPr lang="en-US" sz="967" dirty="0"/>
          </a:p>
        </p:txBody>
      </p:sp>
      <p:sp>
        <p:nvSpPr>
          <p:cNvPr id="88" name="Shape 86"/>
          <p:cNvSpPr/>
          <p:nvPr/>
        </p:nvSpPr>
        <p:spPr>
          <a:xfrm>
            <a:off x="2576779" y="5612221"/>
            <a:ext cx="2373325" cy="392826"/>
          </a:xfrm>
          <a:prstGeom prst="roundRect">
            <a:avLst>
              <a:gd name="adj" fmla="val 2095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89" name="Shape 87"/>
          <p:cNvSpPr/>
          <p:nvPr/>
        </p:nvSpPr>
        <p:spPr>
          <a:xfrm>
            <a:off x="2668219" y="5651636"/>
            <a:ext cx="313998" cy="313998"/>
          </a:xfrm>
          <a:prstGeom prst="ellipse">
            <a:avLst/>
          </a:prstGeom>
          <a:solidFill>
            <a:srgbClr val="E2E5EA"/>
          </a:solidFill>
          <a:ln w="12700">
            <a:solidFill>
              <a:srgbClr val="E2E5EA"/>
            </a:solidFill>
            <a:prstDash val="solid"/>
          </a:ln>
        </p:spPr>
      </p:sp>
      <p:sp>
        <p:nvSpPr>
          <p:cNvPr id="90" name="Icono book-open"/>
          <p:cNvSpPr/>
          <p:nvPr/>
        </p:nvSpPr>
        <p:spPr>
          <a:xfrm>
            <a:off x="2723083" y="57065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0B2350"/>
            </a:solidFill>
            <a:prstDash val="solid"/>
            <a:round/>
          </a:ln>
        </p:spPr>
      </p:sp>
      <p:sp>
        <p:nvSpPr>
          <p:cNvPr id="91" name="Text 89"/>
          <p:cNvSpPr/>
          <p:nvPr/>
        </p:nvSpPr>
        <p:spPr>
          <a:xfrm>
            <a:off x="3037081" y="56122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67" dirty="0"/>
          </a:p>
        </p:txBody>
      </p:sp>
      <p:sp>
        <p:nvSpPr>
          <p:cNvPr id="92" name="Shape 90"/>
          <p:cNvSpPr/>
          <p:nvPr/>
        </p:nvSpPr>
        <p:spPr>
          <a:xfrm>
            <a:off x="5522976" y="5612221"/>
            <a:ext cx="2373325" cy="392826"/>
          </a:xfrm>
          <a:prstGeom prst="roundRect">
            <a:avLst>
              <a:gd name="adj" fmla="val 2095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93" name="Shape 91"/>
          <p:cNvSpPr/>
          <p:nvPr/>
        </p:nvSpPr>
        <p:spPr>
          <a:xfrm>
            <a:off x="5614416" y="5651636"/>
            <a:ext cx="313998" cy="313998"/>
          </a:xfrm>
          <a:prstGeom prst="ellipse">
            <a:avLst/>
          </a:prstGeom>
          <a:solidFill>
            <a:srgbClr val="E2E5EA"/>
          </a:solidFill>
          <a:ln w="12700">
            <a:solidFill>
              <a:srgbClr val="E2E5EA"/>
            </a:solidFill>
            <a:prstDash val="solid"/>
          </a:ln>
        </p:spPr>
      </p:sp>
      <p:sp>
        <p:nvSpPr>
          <p:cNvPr id="94" name="Icono settings"/>
          <p:cNvSpPr/>
          <p:nvPr/>
        </p:nvSpPr>
        <p:spPr>
          <a:xfrm>
            <a:off x="5669280" y="57065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0B2350"/>
            </a:solidFill>
            <a:prstDash val="solid"/>
            <a:round/>
          </a:ln>
        </p:spPr>
      </p:sp>
      <p:sp>
        <p:nvSpPr>
          <p:cNvPr id="95" name="Text 93"/>
          <p:cNvSpPr/>
          <p:nvPr/>
        </p:nvSpPr>
        <p:spPr>
          <a:xfrm>
            <a:off x="5983278" y="56122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0B1A3C"/>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55627E"/>
                </a:solidFill>
                <a:latin typeface="Segoe UI" pitchFamily="34" charset="0"/>
                <a:ea typeface="Segoe UI" pitchFamily="34" charset="-122"/>
                <a:cs typeface="Segoe UI" pitchFamily="34" charset="-120"/>
              </a:rPr>
              <a:t>@Bean: arma el dominio</a:t>
            </a:r>
            <a:endParaRPr lang="en-US" sz="889" dirty="0"/>
          </a:p>
        </p:txBody>
      </p:sp>
      <p:sp>
        <p:nvSpPr>
          <p:cNvPr id="96" name="Text 9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E3F4FA"/>
          </a:solidFill>
          <a:ln w="22225">
            <a:solidFill>
              <a:srgbClr val="2BA6CB"/>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5F5FA"/>
          </a:solidFill>
          <a:ln w="12700">
            <a:solidFill>
              <a:srgbClr val="9DD7E8"/>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EF2F7"/>
          </a:solidFill>
          <a:ln w="12700">
            <a:solidFill>
              <a:srgbClr val="C2CEDD"/>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41275">
            <a:solidFill>
              <a:srgbClr val="2BA6CB"/>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47625">
            <a:solidFill>
              <a:srgbClr val="2BA6CB"/>
            </a:solidFill>
            <a:prstDash val="sysDot"/>
            <a:tailEnd type="triangle"/>
          </a:ln>
        </p:spPr>
      </p:sp>
      <p:sp>
        <p:nvSpPr>
          <p:cNvPr id="15" name="Text 13"/>
          <p:cNvSpPr/>
          <p:nvPr/>
        </p:nvSpPr>
        <p:spPr>
          <a:xfrm>
            <a:off x="3653714" y="242727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47625">
            <a:solidFill>
              <a:srgbClr val="2BA6CB"/>
            </a:solidFill>
            <a:prstDash val="sysDot"/>
          </a:ln>
        </p:spPr>
      </p:sp>
      <p:sp>
        <p:nvSpPr>
          <p:cNvPr id="17" name="Shape 15"/>
          <p:cNvSpPr/>
          <p:nvPr/>
        </p:nvSpPr>
        <p:spPr>
          <a:xfrm>
            <a:off x="4704588" y="2602474"/>
            <a:ext cx="3478149" cy="0"/>
          </a:xfrm>
          <a:prstGeom prst="line">
            <a:avLst/>
          </a:prstGeom>
          <a:noFill/>
          <a:ln w="47625">
            <a:solidFill>
              <a:srgbClr val="2BA6CB"/>
            </a:solidFill>
            <a:prstDash val="sysDot"/>
          </a:ln>
        </p:spPr>
      </p:sp>
      <p:sp>
        <p:nvSpPr>
          <p:cNvPr id="18" name="Shape 16"/>
          <p:cNvSpPr/>
          <p:nvPr/>
        </p:nvSpPr>
        <p:spPr>
          <a:xfrm>
            <a:off x="8182737" y="2602474"/>
            <a:ext cx="0" cy="450113"/>
          </a:xfrm>
          <a:prstGeom prst="line">
            <a:avLst/>
          </a:prstGeom>
          <a:noFill/>
          <a:ln w="47625">
            <a:solidFill>
              <a:srgbClr val="2BA6CB"/>
            </a:solidFill>
            <a:prstDash val="sysDot"/>
          </a:ln>
        </p:spPr>
      </p:sp>
      <p:sp>
        <p:nvSpPr>
          <p:cNvPr id="19" name="Shape 17"/>
          <p:cNvSpPr/>
          <p:nvPr/>
        </p:nvSpPr>
        <p:spPr>
          <a:xfrm>
            <a:off x="8182737" y="3052587"/>
            <a:ext cx="286436" cy="0"/>
          </a:xfrm>
          <a:prstGeom prst="line">
            <a:avLst/>
          </a:prstGeom>
          <a:noFill/>
          <a:ln w="47625">
            <a:solidFill>
              <a:srgbClr val="2BA6CB"/>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47625">
            <a:solidFill>
              <a:srgbClr val="2BA6CB"/>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31750">
            <a:solidFill>
              <a:srgbClr val="CBD5E3"/>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31750">
            <a:solidFill>
              <a:srgbClr val="CBD5E3"/>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22860">
            <a:solidFill>
              <a:srgbClr val="CBD5E3"/>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22860">
            <a:solidFill>
              <a:srgbClr val="CBD5E3"/>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31750">
            <a:solidFill>
              <a:srgbClr val="CBD5E3"/>
            </a:solidFill>
            <a:prstDash val="solid"/>
            <a:tailEnd type="triangle"/>
          </a:ln>
        </p:spPr>
      </p:sp>
      <p:sp>
        <p:nvSpPr>
          <p:cNvPr id="38" name="Text 36"/>
          <p:cNvSpPr/>
          <p:nvPr/>
        </p:nvSpPr>
        <p:spPr>
          <a:xfrm>
            <a:off x="230337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31750">
            <a:solidFill>
              <a:srgbClr val="CBD5E3"/>
            </a:solidFill>
            <a:prstDash val="sysDot"/>
          </a:ln>
        </p:spPr>
      </p:sp>
      <p:sp>
        <p:nvSpPr>
          <p:cNvPr id="40" name="Shape 38"/>
          <p:cNvSpPr/>
          <p:nvPr/>
        </p:nvSpPr>
        <p:spPr>
          <a:xfrm flipV="1">
            <a:off x="5236540" y="3158978"/>
            <a:ext cx="0" cy="859307"/>
          </a:xfrm>
          <a:prstGeom prst="line">
            <a:avLst/>
          </a:prstGeom>
          <a:noFill/>
          <a:ln w="31750">
            <a:solidFill>
              <a:srgbClr val="CBD5E3"/>
            </a:solidFill>
            <a:prstDash val="sysDot"/>
          </a:ln>
        </p:spPr>
      </p:sp>
      <p:sp>
        <p:nvSpPr>
          <p:cNvPr id="41" name="Shape 39"/>
          <p:cNvSpPr/>
          <p:nvPr/>
        </p:nvSpPr>
        <p:spPr>
          <a:xfrm>
            <a:off x="5236540" y="3158978"/>
            <a:ext cx="286436" cy="0"/>
          </a:xfrm>
          <a:prstGeom prst="line">
            <a:avLst/>
          </a:prstGeom>
          <a:noFill/>
          <a:ln w="31750">
            <a:solidFill>
              <a:srgbClr val="CBD5E3"/>
            </a:solidFill>
            <a:prstDash val="sysDot"/>
            <a:tailEnd type="triangle"/>
          </a:ln>
        </p:spPr>
      </p:sp>
      <p:sp>
        <p:nvSpPr>
          <p:cNvPr id="42" name="Text 40"/>
          <p:cNvSpPr/>
          <p:nvPr/>
        </p:nvSpPr>
        <p:spPr>
          <a:xfrm>
            <a:off x="498359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12700">
            <a:solidFill>
              <a:srgbClr val="D5DDE8"/>
            </a:solidFill>
            <a:prstDash val="solid"/>
          </a:ln>
        </p:spPr>
      </p:sp>
      <p:sp>
        <p:nvSpPr>
          <p:cNvPr id="45" name="Shape 43"/>
          <p:cNvSpPr/>
          <p:nvPr/>
        </p:nvSpPr>
        <p:spPr>
          <a:xfrm>
            <a:off x="785927" y="3831497"/>
            <a:ext cx="373576" cy="373576"/>
          </a:xfrm>
          <a:prstGeom prst="ellipse">
            <a:avLst/>
          </a:prstGeom>
          <a:solidFill>
            <a:srgbClr val="EEF2F7"/>
          </a:solidFill>
          <a:ln w="12700">
            <a:solidFill>
              <a:srgbClr val="EEF2F7"/>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A9B4C6"/>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9" name="Shape 47"/>
          <p:cNvSpPr/>
          <p:nvPr/>
        </p:nvSpPr>
        <p:spPr>
          <a:xfrm>
            <a:off x="2668219" y="1900101"/>
            <a:ext cx="373576" cy="373576"/>
          </a:xfrm>
          <a:prstGeom prst="ellipse">
            <a:avLst/>
          </a:prstGeom>
          <a:solidFill>
            <a:srgbClr val="E3F4FA"/>
          </a:solidFill>
          <a:ln w="12700">
            <a:solidFill>
              <a:srgbClr val="E3F4FA"/>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0B6E8A"/>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3" name="Shape 51"/>
          <p:cNvSpPr/>
          <p:nvPr/>
        </p:nvSpPr>
        <p:spPr>
          <a:xfrm>
            <a:off x="2668219" y="2865799"/>
            <a:ext cx="373576" cy="373576"/>
          </a:xfrm>
          <a:prstGeom prst="ellipse">
            <a:avLst/>
          </a:prstGeom>
          <a:solidFill>
            <a:srgbClr val="E3F4FA"/>
          </a:solidFill>
          <a:ln w="12700">
            <a:solidFill>
              <a:srgbClr val="E3F4FA"/>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0B6E8A"/>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12700">
            <a:solidFill>
              <a:srgbClr val="D5DDE8"/>
            </a:solidFill>
            <a:prstDash val="solid"/>
          </a:ln>
        </p:spPr>
      </p:sp>
      <p:sp>
        <p:nvSpPr>
          <p:cNvPr id="57" name="Shape 55"/>
          <p:cNvSpPr/>
          <p:nvPr/>
        </p:nvSpPr>
        <p:spPr>
          <a:xfrm>
            <a:off x="2668219" y="3831497"/>
            <a:ext cx="373576" cy="373576"/>
          </a:xfrm>
          <a:prstGeom prst="ellipse">
            <a:avLst/>
          </a:prstGeom>
          <a:solidFill>
            <a:srgbClr val="EEF2F7"/>
          </a:solidFill>
          <a:ln w="12700">
            <a:solidFill>
              <a:srgbClr val="EEF2F7"/>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A9B4C6"/>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12700">
            <a:solidFill>
              <a:srgbClr val="D5DDE8"/>
            </a:solidFill>
            <a:prstDash val="solid"/>
          </a:ln>
        </p:spPr>
      </p:sp>
      <p:sp>
        <p:nvSpPr>
          <p:cNvPr id="61" name="Shape 59"/>
          <p:cNvSpPr/>
          <p:nvPr/>
        </p:nvSpPr>
        <p:spPr>
          <a:xfrm>
            <a:off x="5614416" y="1900101"/>
            <a:ext cx="373576" cy="373576"/>
          </a:xfrm>
          <a:prstGeom prst="ellipse">
            <a:avLst/>
          </a:prstGeom>
          <a:solidFill>
            <a:srgbClr val="EEF2F7"/>
          </a:solidFill>
          <a:ln w="12700">
            <a:solidFill>
              <a:srgbClr val="EEF2F7"/>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A9B4C6"/>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12700">
            <a:solidFill>
              <a:srgbClr val="D5DDE8"/>
            </a:solidFill>
            <a:prstDash val="solid"/>
          </a:ln>
        </p:spPr>
      </p:sp>
      <p:sp>
        <p:nvSpPr>
          <p:cNvPr id="65" name="Shape 63"/>
          <p:cNvSpPr/>
          <p:nvPr/>
        </p:nvSpPr>
        <p:spPr>
          <a:xfrm>
            <a:off x="5614416" y="2865799"/>
            <a:ext cx="373576" cy="373576"/>
          </a:xfrm>
          <a:prstGeom prst="ellipse">
            <a:avLst/>
          </a:prstGeom>
          <a:solidFill>
            <a:srgbClr val="EEF2F7"/>
          </a:solidFill>
          <a:ln w="12700">
            <a:solidFill>
              <a:srgbClr val="EEF2F7"/>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A9B4C6"/>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12700">
            <a:solidFill>
              <a:srgbClr val="D5DDE8"/>
            </a:solidFill>
            <a:prstDash val="dash"/>
          </a:ln>
        </p:spPr>
      </p:sp>
      <p:sp>
        <p:nvSpPr>
          <p:cNvPr id="69" name="Shape 67"/>
          <p:cNvSpPr/>
          <p:nvPr/>
        </p:nvSpPr>
        <p:spPr>
          <a:xfrm>
            <a:off x="5614416" y="3831497"/>
            <a:ext cx="373576" cy="373576"/>
          </a:xfrm>
          <a:prstGeom prst="ellipse">
            <a:avLst/>
          </a:prstGeom>
          <a:solidFill>
            <a:srgbClr val="EEF2F7"/>
          </a:solidFill>
          <a:ln w="12700">
            <a:solidFill>
              <a:srgbClr val="EEF2F7"/>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A9B4C6"/>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8A95AB"/>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9AA5B8"/>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3" name="Shape 71"/>
          <p:cNvSpPr/>
          <p:nvPr/>
        </p:nvSpPr>
        <p:spPr>
          <a:xfrm>
            <a:off x="8560613" y="1900101"/>
            <a:ext cx="373576" cy="373576"/>
          </a:xfrm>
          <a:prstGeom prst="ellipse">
            <a:avLst/>
          </a:prstGeom>
          <a:solidFill>
            <a:srgbClr val="E3F4FA"/>
          </a:solidFill>
          <a:ln w="12700">
            <a:solidFill>
              <a:srgbClr val="E3F4FA"/>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0B6E8A"/>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7" name="Shape 75"/>
          <p:cNvSpPr/>
          <p:nvPr/>
        </p:nvSpPr>
        <p:spPr>
          <a:xfrm>
            <a:off x="8560613" y="2865799"/>
            <a:ext cx="373576" cy="373576"/>
          </a:xfrm>
          <a:prstGeom prst="ellipse">
            <a:avLst/>
          </a:prstGeom>
          <a:solidFill>
            <a:srgbClr val="E3F4FA"/>
          </a:solidFill>
          <a:ln w="12700">
            <a:solidFill>
              <a:srgbClr val="E3F4FA"/>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0B6E8A"/>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12700">
            <a:solidFill>
              <a:srgbClr val="A85D08"/>
            </a:solidFill>
            <a:prstDash val="dash"/>
          </a:ln>
        </p:spPr>
      </p:sp>
      <p:sp>
        <p:nvSpPr>
          <p:cNvPr id="81" name="Shape 79"/>
          <p:cNvSpPr/>
          <p:nvPr/>
        </p:nvSpPr>
        <p:spPr>
          <a:xfrm>
            <a:off x="8560613" y="3831497"/>
            <a:ext cx="373576" cy="373576"/>
          </a:xfrm>
          <a:prstGeom prst="ellipse">
            <a:avLst/>
          </a:prstGeom>
          <a:solidFill>
            <a:srgbClr val="EEF2F7"/>
          </a:solidFill>
          <a:ln w="12700">
            <a:solidFill>
              <a:srgbClr val="EEF2F7"/>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A9B4C6"/>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BFCFE"/>
          </a:solidFill>
          <a:ln w="12700">
            <a:solidFill>
              <a:srgbClr val="D5DDE8"/>
            </a:solidFill>
            <a:prstDash val="solid"/>
          </a:ln>
        </p:spPr>
      </p:sp>
      <p:sp>
        <p:nvSpPr>
          <p:cNvPr id="85" name="Shape 83"/>
          <p:cNvSpPr/>
          <p:nvPr/>
        </p:nvSpPr>
        <p:spPr>
          <a:xfrm>
            <a:off x="2668219" y="4851536"/>
            <a:ext cx="313998" cy="313998"/>
          </a:xfrm>
          <a:prstGeom prst="ellipse">
            <a:avLst/>
          </a:prstGeom>
          <a:solidFill>
            <a:srgbClr val="EEF2F7"/>
          </a:solidFill>
          <a:ln w="12700">
            <a:solidFill>
              <a:srgbClr val="EEF2F7"/>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A9B4C6"/>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BFCFE"/>
          </a:solidFill>
          <a:ln w="12700">
            <a:solidFill>
              <a:srgbClr val="D5DDE8"/>
            </a:solidFill>
            <a:prstDash val="solid"/>
          </a:ln>
        </p:spPr>
      </p:sp>
      <p:sp>
        <p:nvSpPr>
          <p:cNvPr id="89" name="Shape 87"/>
          <p:cNvSpPr/>
          <p:nvPr/>
        </p:nvSpPr>
        <p:spPr>
          <a:xfrm>
            <a:off x="5614416" y="4851536"/>
            <a:ext cx="313998" cy="313998"/>
          </a:xfrm>
          <a:prstGeom prst="ellipse">
            <a:avLst/>
          </a:prstGeom>
          <a:solidFill>
            <a:srgbClr val="EEF2F7"/>
          </a:solidFill>
          <a:ln w="12700">
            <a:solidFill>
              <a:srgbClr val="EEF2F7"/>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A9B4C6"/>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8A95AB"/>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9AA5B8"/>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94" name="Text 9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entrega el evento por HTTP a EventoController.</a:t>
            </a:r>
            <a:endParaRPr lang="en-US" sz="1300" dirty="0"/>
          </a:p>
        </p:txBody>
      </p:sp>
      <p:sp>
        <p:nvSpPr>
          <p:cNvPr id="95" name="Shape 9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6" name="Text 9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97" name="Text 9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ConsumoIdempotente pregunta si ese eventoId ya está en evento_procesado.</a:t>
            </a:r>
            <a:endParaRPr lang="en-US" sz="1300" dirty="0"/>
          </a:p>
        </p:txBody>
      </p:sp>
      <p:sp>
        <p:nvSpPr>
          <p:cNvPr id="98" name="Text 9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F7F9FC"/>
          </a:solidFill>
          <a:ln w="12700">
            <a:solidFill>
              <a:srgbClr val="C7D2E2"/>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3F4FA"/>
          </a:solidFill>
          <a:ln w="22225">
            <a:solidFill>
              <a:srgbClr val="2BA6CB"/>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3F4FA"/>
          </a:solidFill>
          <a:ln w="22225">
            <a:solidFill>
              <a:srgbClr val="2BA6CB"/>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25400">
            <a:solidFill>
              <a:srgbClr val="55627E"/>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31750">
            <a:solidFill>
              <a:srgbClr val="55627E"/>
            </a:solidFill>
            <a:prstDash val="sysDot"/>
            <a:tailEnd type="triangle"/>
          </a:ln>
        </p:spPr>
      </p:sp>
      <p:sp>
        <p:nvSpPr>
          <p:cNvPr id="15" name="Text 13"/>
          <p:cNvSpPr/>
          <p:nvPr/>
        </p:nvSpPr>
        <p:spPr>
          <a:xfrm>
            <a:off x="3653714" y="2427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31750">
            <a:solidFill>
              <a:srgbClr val="55627E"/>
            </a:solidFill>
            <a:prstDash val="sysDot"/>
          </a:ln>
        </p:spPr>
      </p:sp>
      <p:sp>
        <p:nvSpPr>
          <p:cNvPr id="17" name="Shape 15"/>
          <p:cNvSpPr/>
          <p:nvPr/>
        </p:nvSpPr>
        <p:spPr>
          <a:xfrm>
            <a:off x="4704588" y="2602474"/>
            <a:ext cx="3478149" cy="0"/>
          </a:xfrm>
          <a:prstGeom prst="line">
            <a:avLst/>
          </a:prstGeom>
          <a:noFill/>
          <a:ln w="31750">
            <a:solidFill>
              <a:srgbClr val="55627E"/>
            </a:solidFill>
            <a:prstDash val="sysDot"/>
          </a:ln>
        </p:spPr>
      </p:sp>
      <p:sp>
        <p:nvSpPr>
          <p:cNvPr id="18" name="Shape 16"/>
          <p:cNvSpPr/>
          <p:nvPr/>
        </p:nvSpPr>
        <p:spPr>
          <a:xfrm>
            <a:off x="8182737" y="2602474"/>
            <a:ext cx="0" cy="450113"/>
          </a:xfrm>
          <a:prstGeom prst="line">
            <a:avLst/>
          </a:prstGeom>
          <a:noFill/>
          <a:ln w="31750">
            <a:solidFill>
              <a:srgbClr val="55627E"/>
            </a:solidFill>
            <a:prstDash val="sysDot"/>
          </a:ln>
        </p:spPr>
      </p:sp>
      <p:sp>
        <p:nvSpPr>
          <p:cNvPr id="19" name="Shape 17"/>
          <p:cNvSpPr/>
          <p:nvPr/>
        </p:nvSpPr>
        <p:spPr>
          <a:xfrm>
            <a:off x="8182737" y="3052587"/>
            <a:ext cx="286436" cy="0"/>
          </a:xfrm>
          <a:prstGeom prst="line">
            <a:avLst/>
          </a:prstGeom>
          <a:noFill/>
          <a:ln w="31750">
            <a:solidFill>
              <a:srgbClr val="55627E"/>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31750">
            <a:solidFill>
              <a:srgbClr val="55627E"/>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47625">
            <a:solidFill>
              <a:srgbClr val="2BA6CB"/>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47625">
            <a:solidFill>
              <a:srgbClr val="2BA6CB"/>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38735">
            <a:solidFill>
              <a:srgbClr val="2BA6CB"/>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38735">
            <a:solidFill>
              <a:srgbClr val="2BA6CB"/>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31750">
            <a:solidFill>
              <a:srgbClr val="CBD5E3"/>
            </a:solidFill>
            <a:prstDash val="solid"/>
            <a:tailEnd type="triangle"/>
          </a:ln>
        </p:spPr>
      </p:sp>
      <p:sp>
        <p:nvSpPr>
          <p:cNvPr id="38" name="Text 36"/>
          <p:cNvSpPr/>
          <p:nvPr/>
        </p:nvSpPr>
        <p:spPr>
          <a:xfrm>
            <a:off x="230337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31750">
            <a:solidFill>
              <a:srgbClr val="CBD5E3"/>
            </a:solidFill>
            <a:prstDash val="sysDot"/>
          </a:ln>
        </p:spPr>
      </p:sp>
      <p:sp>
        <p:nvSpPr>
          <p:cNvPr id="40" name="Shape 38"/>
          <p:cNvSpPr/>
          <p:nvPr/>
        </p:nvSpPr>
        <p:spPr>
          <a:xfrm flipV="1">
            <a:off x="5236540" y="3158978"/>
            <a:ext cx="0" cy="859307"/>
          </a:xfrm>
          <a:prstGeom prst="line">
            <a:avLst/>
          </a:prstGeom>
          <a:noFill/>
          <a:ln w="31750">
            <a:solidFill>
              <a:srgbClr val="CBD5E3"/>
            </a:solidFill>
            <a:prstDash val="sysDot"/>
          </a:ln>
        </p:spPr>
      </p:sp>
      <p:sp>
        <p:nvSpPr>
          <p:cNvPr id="41" name="Shape 39"/>
          <p:cNvSpPr/>
          <p:nvPr/>
        </p:nvSpPr>
        <p:spPr>
          <a:xfrm>
            <a:off x="5236540" y="3158978"/>
            <a:ext cx="286436" cy="0"/>
          </a:xfrm>
          <a:prstGeom prst="line">
            <a:avLst/>
          </a:prstGeom>
          <a:noFill/>
          <a:ln w="31750">
            <a:solidFill>
              <a:srgbClr val="CBD5E3"/>
            </a:solidFill>
            <a:prstDash val="sysDot"/>
            <a:tailEnd type="triangle"/>
          </a:ln>
        </p:spPr>
      </p:sp>
      <p:sp>
        <p:nvSpPr>
          <p:cNvPr id="42" name="Text 40"/>
          <p:cNvSpPr/>
          <p:nvPr/>
        </p:nvSpPr>
        <p:spPr>
          <a:xfrm>
            <a:off x="498359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12700">
            <a:solidFill>
              <a:srgbClr val="D5DDE8"/>
            </a:solidFill>
            <a:prstDash val="solid"/>
          </a:ln>
        </p:spPr>
      </p:sp>
      <p:sp>
        <p:nvSpPr>
          <p:cNvPr id="45" name="Shape 43"/>
          <p:cNvSpPr/>
          <p:nvPr/>
        </p:nvSpPr>
        <p:spPr>
          <a:xfrm>
            <a:off x="785927" y="3831497"/>
            <a:ext cx="373576" cy="373576"/>
          </a:xfrm>
          <a:prstGeom prst="ellipse">
            <a:avLst/>
          </a:prstGeom>
          <a:solidFill>
            <a:srgbClr val="EEF2F7"/>
          </a:solidFill>
          <a:ln w="12700">
            <a:solidFill>
              <a:srgbClr val="EEF2F7"/>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A9B4C6"/>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2668219" y="1900101"/>
            <a:ext cx="373576" cy="373576"/>
          </a:xfrm>
          <a:prstGeom prst="ellipse">
            <a:avLst/>
          </a:prstGeom>
          <a:solidFill>
            <a:srgbClr val="EBECF0"/>
          </a:solidFill>
          <a:ln w="12700">
            <a:solidFill>
              <a:srgbClr val="EBECF0"/>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865799"/>
            <a:ext cx="373576" cy="373576"/>
          </a:xfrm>
          <a:prstGeom prst="ellipse">
            <a:avLst/>
          </a:prstGeom>
          <a:solidFill>
            <a:srgbClr val="EBECF0"/>
          </a:solidFill>
          <a:ln w="12700">
            <a:solidFill>
              <a:srgbClr val="EBECF0"/>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12700">
            <a:solidFill>
              <a:srgbClr val="D5DDE8"/>
            </a:solidFill>
            <a:prstDash val="solid"/>
          </a:ln>
        </p:spPr>
      </p:sp>
      <p:sp>
        <p:nvSpPr>
          <p:cNvPr id="57" name="Shape 55"/>
          <p:cNvSpPr/>
          <p:nvPr/>
        </p:nvSpPr>
        <p:spPr>
          <a:xfrm>
            <a:off x="2668219" y="3831497"/>
            <a:ext cx="373576" cy="373576"/>
          </a:xfrm>
          <a:prstGeom prst="ellipse">
            <a:avLst/>
          </a:prstGeom>
          <a:solidFill>
            <a:srgbClr val="EEF2F7"/>
          </a:solidFill>
          <a:ln w="12700">
            <a:solidFill>
              <a:srgbClr val="EEF2F7"/>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A9B4C6"/>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1" name="Shape 59"/>
          <p:cNvSpPr/>
          <p:nvPr/>
        </p:nvSpPr>
        <p:spPr>
          <a:xfrm>
            <a:off x="5614416" y="1900101"/>
            <a:ext cx="373576" cy="373576"/>
          </a:xfrm>
          <a:prstGeom prst="ellipse">
            <a:avLst/>
          </a:prstGeom>
          <a:solidFill>
            <a:srgbClr val="E3F4FA"/>
          </a:solidFill>
          <a:ln w="12700">
            <a:solidFill>
              <a:srgbClr val="E3F4FA"/>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5" name="Shape 63"/>
          <p:cNvSpPr/>
          <p:nvPr/>
        </p:nvSpPr>
        <p:spPr>
          <a:xfrm>
            <a:off x="5614416" y="2865799"/>
            <a:ext cx="373576" cy="373576"/>
          </a:xfrm>
          <a:prstGeom prst="ellipse">
            <a:avLst/>
          </a:prstGeom>
          <a:solidFill>
            <a:srgbClr val="E3F4FA"/>
          </a:solidFill>
          <a:ln w="12700">
            <a:solidFill>
              <a:srgbClr val="E3F4FA"/>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69" name="Shape 67"/>
          <p:cNvSpPr/>
          <p:nvPr/>
        </p:nvSpPr>
        <p:spPr>
          <a:xfrm>
            <a:off x="5614416" y="3831497"/>
            <a:ext cx="373576" cy="373576"/>
          </a:xfrm>
          <a:prstGeom prst="ellipse">
            <a:avLst/>
          </a:prstGeom>
          <a:solidFill>
            <a:srgbClr val="E3F4FA"/>
          </a:solidFill>
          <a:ln w="12700">
            <a:solidFill>
              <a:srgbClr val="E3F4FA"/>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0B6E8A"/>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0B1A3C"/>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55627E"/>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3" name="Shape 71"/>
          <p:cNvSpPr/>
          <p:nvPr/>
        </p:nvSpPr>
        <p:spPr>
          <a:xfrm>
            <a:off x="8560613" y="1900101"/>
            <a:ext cx="373576" cy="373576"/>
          </a:xfrm>
          <a:prstGeom prst="ellipse">
            <a:avLst/>
          </a:prstGeom>
          <a:solidFill>
            <a:srgbClr val="E8EBEE"/>
          </a:solidFill>
          <a:ln w="12700">
            <a:solidFill>
              <a:srgbClr val="E8EBEE"/>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865799"/>
            <a:ext cx="373576" cy="373576"/>
          </a:xfrm>
          <a:prstGeom prst="ellipse">
            <a:avLst/>
          </a:prstGeom>
          <a:solidFill>
            <a:srgbClr val="E8EBEE"/>
          </a:solidFill>
          <a:ln w="12700">
            <a:solidFill>
              <a:srgbClr val="E8EBEE"/>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81" name="Shape 79"/>
          <p:cNvSpPr/>
          <p:nvPr/>
        </p:nvSpPr>
        <p:spPr>
          <a:xfrm>
            <a:off x="8560613" y="3831497"/>
            <a:ext cx="373576" cy="373576"/>
          </a:xfrm>
          <a:prstGeom prst="ellipse">
            <a:avLst/>
          </a:prstGeom>
          <a:solidFill>
            <a:srgbClr val="E3F4FA"/>
          </a:solidFill>
          <a:ln w="12700">
            <a:solidFill>
              <a:srgbClr val="E3F4FA"/>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0B6E8A"/>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5C3404"/>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BFCFE"/>
          </a:solidFill>
          <a:ln w="12700">
            <a:solidFill>
              <a:srgbClr val="D5DDE8"/>
            </a:solidFill>
            <a:prstDash val="solid"/>
          </a:ln>
        </p:spPr>
      </p:sp>
      <p:sp>
        <p:nvSpPr>
          <p:cNvPr id="85" name="Shape 83"/>
          <p:cNvSpPr/>
          <p:nvPr/>
        </p:nvSpPr>
        <p:spPr>
          <a:xfrm>
            <a:off x="2668219" y="4851536"/>
            <a:ext cx="313998" cy="313998"/>
          </a:xfrm>
          <a:prstGeom prst="ellipse">
            <a:avLst/>
          </a:prstGeom>
          <a:solidFill>
            <a:srgbClr val="EEF2F7"/>
          </a:solidFill>
          <a:ln w="12700">
            <a:solidFill>
              <a:srgbClr val="EEF2F7"/>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A9B4C6"/>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BFCFE"/>
          </a:solidFill>
          <a:ln w="12700">
            <a:solidFill>
              <a:srgbClr val="D5DDE8"/>
            </a:solidFill>
            <a:prstDash val="solid"/>
          </a:ln>
        </p:spPr>
      </p:sp>
      <p:sp>
        <p:nvSpPr>
          <p:cNvPr id="89" name="Shape 87"/>
          <p:cNvSpPr/>
          <p:nvPr/>
        </p:nvSpPr>
        <p:spPr>
          <a:xfrm>
            <a:off x="5614416" y="4851536"/>
            <a:ext cx="313998" cy="313998"/>
          </a:xfrm>
          <a:prstGeom prst="ellipse">
            <a:avLst/>
          </a:prstGeom>
          <a:solidFill>
            <a:srgbClr val="EEF2F7"/>
          </a:solidFill>
          <a:ln w="12700">
            <a:solidFill>
              <a:srgbClr val="EEF2F7"/>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A9B4C6"/>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8A95AB"/>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9AA5B8"/>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94" name="Text 9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 nuevo, el dominio crea el aviso; si ya estaba, lo ignora.</a:t>
            </a:r>
            <a:endParaRPr lang="en-US" sz="1300" dirty="0"/>
          </a:p>
        </p:txBody>
      </p:sp>
      <p:sp>
        <p:nvSpPr>
          <p:cNvPr id="95" name="Shape 9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6" name="Text 9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97" name="Text 9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aviso se guarda en memoria por el puerto, y el eventoId queda anotado en PostgreSQL.</a:t>
            </a:r>
            <a:endParaRPr lang="en-US" sz="1300" dirty="0"/>
          </a:p>
        </p:txBody>
      </p:sp>
      <p:sp>
        <p:nvSpPr>
          <p:cNvPr id="98" name="Text 9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F7F9FC"/>
          </a:solidFill>
          <a:ln w="12700">
            <a:solidFill>
              <a:srgbClr val="C7D2E2"/>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5F5FA"/>
          </a:solidFill>
          <a:ln w="12700">
            <a:solidFill>
              <a:srgbClr val="9DD7E8"/>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EF2F7"/>
          </a:solidFill>
          <a:ln w="12700">
            <a:solidFill>
              <a:srgbClr val="C2CEDD"/>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25400">
            <a:solidFill>
              <a:srgbClr val="55627E"/>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31750">
            <a:solidFill>
              <a:srgbClr val="55627E"/>
            </a:solidFill>
            <a:prstDash val="sysDot"/>
            <a:tailEnd type="triangle"/>
          </a:ln>
        </p:spPr>
      </p:sp>
      <p:sp>
        <p:nvSpPr>
          <p:cNvPr id="15" name="Text 13"/>
          <p:cNvSpPr/>
          <p:nvPr/>
        </p:nvSpPr>
        <p:spPr>
          <a:xfrm>
            <a:off x="3653714" y="2427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31750">
            <a:solidFill>
              <a:srgbClr val="55627E"/>
            </a:solidFill>
            <a:prstDash val="sysDot"/>
          </a:ln>
        </p:spPr>
      </p:sp>
      <p:sp>
        <p:nvSpPr>
          <p:cNvPr id="17" name="Shape 15"/>
          <p:cNvSpPr/>
          <p:nvPr/>
        </p:nvSpPr>
        <p:spPr>
          <a:xfrm>
            <a:off x="4704588" y="2602474"/>
            <a:ext cx="3478149" cy="0"/>
          </a:xfrm>
          <a:prstGeom prst="line">
            <a:avLst/>
          </a:prstGeom>
          <a:noFill/>
          <a:ln w="31750">
            <a:solidFill>
              <a:srgbClr val="55627E"/>
            </a:solidFill>
            <a:prstDash val="sysDot"/>
          </a:ln>
        </p:spPr>
      </p:sp>
      <p:sp>
        <p:nvSpPr>
          <p:cNvPr id="18" name="Shape 16"/>
          <p:cNvSpPr/>
          <p:nvPr/>
        </p:nvSpPr>
        <p:spPr>
          <a:xfrm>
            <a:off x="8182737" y="2602474"/>
            <a:ext cx="0" cy="450113"/>
          </a:xfrm>
          <a:prstGeom prst="line">
            <a:avLst/>
          </a:prstGeom>
          <a:noFill/>
          <a:ln w="31750">
            <a:solidFill>
              <a:srgbClr val="55627E"/>
            </a:solidFill>
            <a:prstDash val="sysDot"/>
          </a:ln>
        </p:spPr>
      </p:sp>
      <p:sp>
        <p:nvSpPr>
          <p:cNvPr id="19" name="Shape 17"/>
          <p:cNvSpPr/>
          <p:nvPr/>
        </p:nvSpPr>
        <p:spPr>
          <a:xfrm>
            <a:off x="8182737" y="3052587"/>
            <a:ext cx="286436" cy="0"/>
          </a:xfrm>
          <a:prstGeom prst="line">
            <a:avLst/>
          </a:prstGeom>
          <a:noFill/>
          <a:ln w="31750">
            <a:solidFill>
              <a:srgbClr val="55627E"/>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31750">
            <a:solidFill>
              <a:srgbClr val="55627E"/>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31750">
            <a:solidFill>
              <a:srgbClr val="55627E"/>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31750">
            <a:solidFill>
              <a:srgbClr val="55627E"/>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22860">
            <a:solidFill>
              <a:srgbClr val="1F4E8C"/>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22860">
            <a:solidFill>
              <a:srgbClr val="1F4E8C"/>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47625">
            <a:solidFill>
              <a:srgbClr val="2BA6CB"/>
            </a:solidFill>
            <a:prstDash val="solid"/>
            <a:tailEnd type="triangle"/>
          </a:ln>
        </p:spPr>
      </p:sp>
      <p:sp>
        <p:nvSpPr>
          <p:cNvPr id="38" name="Text 36"/>
          <p:cNvSpPr/>
          <p:nvPr/>
        </p:nvSpPr>
        <p:spPr>
          <a:xfrm>
            <a:off x="2303374" y="39085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47625">
            <a:solidFill>
              <a:srgbClr val="2BA6CB"/>
            </a:solidFill>
            <a:prstDash val="sysDot"/>
          </a:ln>
        </p:spPr>
      </p:sp>
      <p:sp>
        <p:nvSpPr>
          <p:cNvPr id="40" name="Shape 38"/>
          <p:cNvSpPr/>
          <p:nvPr/>
        </p:nvSpPr>
        <p:spPr>
          <a:xfrm flipV="1">
            <a:off x="5236540" y="3158978"/>
            <a:ext cx="0" cy="859307"/>
          </a:xfrm>
          <a:prstGeom prst="line">
            <a:avLst/>
          </a:prstGeom>
          <a:noFill/>
          <a:ln w="47625">
            <a:solidFill>
              <a:srgbClr val="2BA6CB"/>
            </a:solidFill>
            <a:prstDash val="sysDot"/>
          </a:ln>
        </p:spPr>
      </p:sp>
      <p:sp>
        <p:nvSpPr>
          <p:cNvPr id="41" name="Shape 39"/>
          <p:cNvSpPr/>
          <p:nvPr/>
        </p:nvSpPr>
        <p:spPr>
          <a:xfrm>
            <a:off x="5236540" y="3158978"/>
            <a:ext cx="286436" cy="0"/>
          </a:xfrm>
          <a:prstGeom prst="line">
            <a:avLst/>
          </a:prstGeom>
          <a:noFill/>
          <a:ln w="47625">
            <a:solidFill>
              <a:srgbClr val="2BA6CB"/>
            </a:solidFill>
            <a:prstDash val="sysDot"/>
            <a:tailEnd type="triangle"/>
          </a:ln>
        </p:spPr>
      </p:sp>
      <p:sp>
        <p:nvSpPr>
          <p:cNvPr id="42" name="Text 40"/>
          <p:cNvSpPr/>
          <p:nvPr/>
        </p:nvSpPr>
        <p:spPr>
          <a:xfrm>
            <a:off x="4983594" y="39085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5" name="Shape 43"/>
          <p:cNvSpPr/>
          <p:nvPr/>
        </p:nvSpPr>
        <p:spPr>
          <a:xfrm>
            <a:off x="785927" y="3831497"/>
            <a:ext cx="373576" cy="373576"/>
          </a:xfrm>
          <a:prstGeom prst="ellipse">
            <a:avLst/>
          </a:prstGeom>
          <a:solidFill>
            <a:srgbClr val="E3F4FA"/>
          </a:solidFill>
          <a:ln w="12700">
            <a:solidFill>
              <a:srgbClr val="E3F4FA"/>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0B6E8A"/>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2668219" y="1900101"/>
            <a:ext cx="373576" cy="373576"/>
          </a:xfrm>
          <a:prstGeom prst="ellipse">
            <a:avLst/>
          </a:prstGeom>
          <a:solidFill>
            <a:srgbClr val="EBECF0"/>
          </a:solidFill>
          <a:ln w="12700">
            <a:solidFill>
              <a:srgbClr val="EBECF0"/>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865799"/>
            <a:ext cx="373576" cy="373576"/>
          </a:xfrm>
          <a:prstGeom prst="ellipse">
            <a:avLst/>
          </a:prstGeom>
          <a:solidFill>
            <a:srgbClr val="EBECF0"/>
          </a:solidFill>
          <a:ln w="12700">
            <a:solidFill>
              <a:srgbClr val="EBECF0"/>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7" name="Shape 55"/>
          <p:cNvSpPr/>
          <p:nvPr/>
        </p:nvSpPr>
        <p:spPr>
          <a:xfrm>
            <a:off x="2668219" y="3831497"/>
            <a:ext cx="373576" cy="373576"/>
          </a:xfrm>
          <a:prstGeom prst="ellipse">
            <a:avLst/>
          </a:prstGeom>
          <a:solidFill>
            <a:srgbClr val="E3F4FA"/>
          </a:solidFill>
          <a:ln w="12700">
            <a:solidFill>
              <a:srgbClr val="E3F4FA"/>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0B6E8A"/>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5614416" y="1900101"/>
            <a:ext cx="373576" cy="373576"/>
          </a:xfrm>
          <a:prstGeom prst="ellipse">
            <a:avLst/>
          </a:prstGeom>
          <a:solidFill>
            <a:srgbClr val="E2EEF1"/>
          </a:solidFill>
          <a:ln w="12700">
            <a:solidFill>
              <a:srgbClr val="E2EEF1"/>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5" name="Shape 63"/>
          <p:cNvSpPr/>
          <p:nvPr/>
        </p:nvSpPr>
        <p:spPr>
          <a:xfrm>
            <a:off x="5614416" y="2865799"/>
            <a:ext cx="373576" cy="373576"/>
          </a:xfrm>
          <a:prstGeom prst="ellipse">
            <a:avLst/>
          </a:prstGeom>
          <a:solidFill>
            <a:srgbClr val="E2EEF1"/>
          </a:solidFill>
          <a:ln w="12700">
            <a:solidFill>
              <a:srgbClr val="E2EEF1"/>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12700">
            <a:solidFill>
              <a:srgbClr val="91BECA"/>
            </a:solidFill>
            <a:prstDash val="dash"/>
          </a:ln>
          <a:effectLst>
            <a:outerShdw sx="100000" sy="100000" kx="0" ky="0" algn="bl" rotWithShape="0" blurRad="76200" dist="19050" dir="5400000">
              <a:srgbClr val="0B1F3A">
                <a:alpha val="14000"/>
              </a:srgbClr>
            </a:outerShdw>
          </a:effectLst>
        </p:spPr>
      </p:sp>
      <p:sp>
        <p:nvSpPr>
          <p:cNvPr id="69" name="Shape 67"/>
          <p:cNvSpPr/>
          <p:nvPr/>
        </p:nvSpPr>
        <p:spPr>
          <a:xfrm>
            <a:off x="5614416" y="3831497"/>
            <a:ext cx="373576" cy="373576"/>
          </a:xfrm>
          <a:prstGeom prst="ellipse">
            <a:avLst/>
          </a:prstGeom>
          <a:solidFill>
            <a:srgbClr val="E2EEF1"/>
          </a:solidFill>
          <a:ln w="12700">
            <a:solidFill>
              <a:srgbClr val="E2EEF1"/>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0B6E8A"/>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0B1A3C"/>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55627E"/>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3" name="Shape 71"/>
          <p:cNvSpPr/>
          <p:nvPr/>
        </p:nvSpPr>
        <p:spPr>
          <a:xfrm>
            <a:off x="8560613" y="1900101"/>
            <a:ext cx="373576" cy="373576"/>
          </a:xfrm>
          <a:prstGeom prst="ellipse">
            <a:avLst/>
          </a:prstGeom>
          <a:solidFill>
            <a:srgbClr val="E8EBEE"/>
          </a:solidFill>
          <a:ln w="12700">
            <a:solidFill>
              <a:srgbClr val="E8EBEE"/>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865799"/>
            <a:ext cx="373576" cy="373576"/>
          </a:xfrm>
          <a:prstGeom prst="ellipse">
            <a:avLst/>
          </a:prstGeom>
          <a:solidFill>
            <a:srgbClr val="E8EBEE"/>
          </a:solidFill>
          <a:ln w="12700">
            <a:solidFill>
              <a:srgbClr val="E8EBEE"/>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1" name="Shape 79"/>
          <p:cNvSpPr/>
          <p:nvPr/>
        </p:nvSpPr>
        <p:spPr>
          <a:xfrm>
            <a:off x="8560613" y="3831497"/>
            <a:ext cx="373576" cy="373576"/>
          </a:xfrm>
          <a:prstGeom prst="ellipse">
            <a:avLst/>
          </a:prstGeom>
          <a:solidFill>
            <a:srgbClr val="E8EBEE"/>
          </a:solidFill>
          <a:ln w="12700">
            <a:solidFill>
              <a:srgbClr val="E8EBEE"/>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5C3404"/>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5" name="Shape 83"/>
          <p:cNvSpPr/>
          <p:nvPr/>
        </p:nvSpPr>
        <p:spPr>
          <a:xfrm>
            <a:off x="2668219" y="4851536"/>
            <a:ext cx="313998" cy="313998"/>
          </a:xfrm>
          <a:prstGeom prst="ellipse">
            <a:avLst/>
          </a:prstGeom>
          <a:solidFill>
            <a:srgbClr val="E3F4FA"/>
          </a:solidFill>
          <a:ln w="12700">
            <a:solidFill>
              <a:srgbClr val="E3F4FA"/>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0B6E8A"/>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9" name="Shape 87"/>
          <p:cNvSpPr/>
          <p:nvPr/>
        </p:nvSpPr>
        <p:spPr>
          <a:xfrm>
            <a:off x="5614416" y="4851536"/>
            <a:ext cx="313998" cy="313998"/>
          </a:xfrm>
          <a:prstGeom prst="ellipse">
            <a:avLst/>
          </a:prstGeom>
          <a:solidFill>
            <a:srgbClr val="E3F4FA"/>
          </a:solidFill>
          <a:ln w="12700">
            <a:solidFill>
              <a:srgbClr val="E3F4FA"/>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0B6E8A"/>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0B1A3C"/>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55627E"/>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94" name="Text 9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interfaz consulta los avisos con GET /notificaciones.</a:t>
            </a:r>
            <a:endParaRPr lang="en-US" sz="1300" dirty="0"/>
          </a:p>
        </p:txBody>
      </p:sp>
      <p:sp>
        <p:nvSpPr>
          <p:cNvPr id="95" name="Shape 9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6" name="Text 9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97" name="Text 9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ConfiguracionNotificaciones arma el dominio; Swagger y Actuator publican el contrato y la salud.</a:t>
            </a:r>
            <a:endParaRPr lang="en-US" sz="1300" dirty="0"/>
          </a:p>
        </p:txBody>
      </p:sp>
      <p:sp>
        <p:nvSpPr>
          <p:cNvPr id="98" name="Text 9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Cambiar la pieza sin tocar el negocio</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Hay varios adaptadores para el mismo puerto</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Spring usa el que tiene @Primary</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Hoy: PostgreSQL y publicador con reintentos</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 las pruebas: un repositorio en memoria</a:t>
            </a:r>
            <a:endParaRPr lang="en-US" sz="1100" dirty="0"/>
          </a:p>
        </p:txBody>
      </p:sp>
      <p:sp>
        <p:nvSpPr>
          <p:cNvPr id="9" name="Shape 7"/>
          <p:cNvSpPr/>
          <p:nvPr/>
        </p:nvSpPr>
        <p:spPr>
          <a:xfrm>
            <a:off x="795421" y="2245919"/>
            <a:ext cx="5117653"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868573" y="2300783"/>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11" name="Shape 9"/>
          <p:cNvSpPr/>
          <p:nvPr/>
        </p:nvSpPr>
        <p:spPr>
          <a:xfrm>
            <a:off x="6278621" y="2245919"/>
            <a:ext cx="5117653"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351773" y="2300783"/>
            <a:ext cx="18897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13" name="Shape 11"/>
          <p:cNvSpPr/>
          <p:nvPr/>
        </p:nvSpPr>
        <p:spPr>
          <a:xfrm>
            <a:off x="2714541" y="3415668"/>
            <a:ext cx="1919120" cy="0"/>
          </a:xfrm>
          <a:prstGeom prst="line">
            <a:avLst/>
          </a:prstGeom>
          <a:noFill/>
          <a:ln w="22860">
            <a:solidFill>
              <a:srgbClr val="1F4E8C"/>
            </a:solidFill>
            <a:prstDash val="lgDash"/>
          </a:ln>
        </p:spPr>
      </p:sp>
      <p:sp>
        <p:nvSpPr>
          <p:cNvPr id="14" name="Shape 12"/>
          <p:cNvSpPr/>
          <p:nvPr/>
        </p:nvSpPr>
        <p:spPr>
          <a:xfrm>
            <a:off x="4633661" y="3415668"/>
            <a:ext cx="0" cy="475211"/>
          </a:xfrm>
          <a:prstGeom prst="line">
            <a:avLst/>
          </a:prstGeom>
          <a:noFill/>
          <a:ln w="22860">
            <a:solidFill>
              <a:srgbClr val="1F4E8C"/>
            </a:solidFill>
            <a:prstDash val="lgDash"/>
            <a:tailEnd type="arrow"/>
          </a:ln>
        </p:spPr>
      </p:sp>
      <p:sp>
        <p:nvSpPr>
          <p:cNvPr id="15" name="Text 13"/>
          <p:cNvSpPr/>
          <p:nvPr/>
        </p:nvSpPr>
        <p:spPr>
          <a:xfrm>
            <a:off x="3510995" y="3177972"/>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6" name="Text 14"/>
          <p:cNvSpPr/>
          <p:nvPr/>
        </p:nvSpPr>
        <p:spPr>
          <a:xfrm>
            <a:off x="2824141" y="330594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7" name="Shape 15"/>
          <p:cNvSpPr/>
          <p:nvPr/>
        </p:nvSpPr>
        <p:spPr>
          <a:xfrm>
            <a:off x="2714541" y="5060628"/>
            <a:ext cx="1919120" cy="0"/>
          </a:xfrm>
          <a:prstGeom prst="line">
            <a:avLst/>
          </a:prstGeom>
          <a:noFill/>
          <a:ln w="22860">
            <a:solidFill>
              <a:srgbClr val="1F4E8C"/>
            </a:solidFill>
            <a:prstDash val="lgDash"/>
          </a:ln>
        </p:spPr>
      </p:sp>
      <p:sp>
        <p:nvSpPr>
          <p:cNvPr id="18" name="Shape 16"/>
          <p:cNvSpPr/>
          <p:nvPr/>
        </p:nvSpPr>
        <p:spPr>
          <a:xfrm flipV="1">
            <a:off x="4633661" y="4585417"/>
            <a:ext cx="0" cy="475211"/>
          </a:xfrm>
          <a:prstGeom prst="line">
            <a:avLst/>
          </a:prstGeom>
          <a:noFill/>
          <a:ln w="22860">
            <a:solidFill>
              <a:srgbClr val="1F4E8C"/>
            </a:solidFill>
            <a:prstDash val="lgDash"/>
            <a:tailEnd type="arrow"/>
          </a:ln>
        </p:spPr>
      </p:sp>
      <p:sp>
        <p:nvSpPr>
          <p:cNvPr id="19" name="Text 17"/>
          <p:cNvSpPr/>
          <p:nvPr/>
        </p:nvSpPr>
        <p:spPr>
          <a:xfrm>
            <a:off x="3279766" y="5078815"/>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20" name="Text 18"/>
          <p:cNvSpPr/>
          <p:nvPr/>
        </p:nvSpPr>
        <p:spPr>
          <a:xfrm>
            <a:off x="2824141" y="495090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1" name="Shape 19"/>
          <p:cNvSpPr/>
          <p:nvPr/>
        </p:nvSpPr>
        <p:spPr>
          <a:xfrm>
            <a:off x="8289127" y="3415668"/>
            <a:ext cx="1096640" cy="0"/>
          </a:xfrm>
          <a:prstGeom prst="line">
            <a:avLst/>
          </a:prstGeom>
          <a:noFill/>
          <a:ln w="31750">
            <a:solidFill>
              <a:srgbClr val="55627E"/>
            </a:solidFill>
            <a:prstDash val="sysDot"/>
            <a:tailEnd type="triangle"/>
          </a:ln>
        </p:spPr>
      </p:sp>
      <p:sp>
        <p:nvSpPr>
          <p:cNvPr id="22" name="Text 20"/>
          <p:cNvSpPr/>
          <p:nvPr/>
        </p:nvSpPr>
        <p:spPr>
          <a:xfrm>
            <a:off x="8443112" y="3177972"/>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23" name="Text 21"/>
          <p:cNvSpPr/>
          <p:nvPr/>
        </p:nvSpPr>
        <p:spPr>
          <a:xfrm>
            <a:off x="8398727" y="330594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4" name="Shape 22"/>
          <p:cNvSpPr/>
          <p:nvPr/>
        </p:nvSpPr>
        <p:spPr>
          <a:xfrm flipH="1">
            <a:off x="7466648" y="5060628"/>
            <a:ext cx="365547" cy="0"/>
          </a:xfrm>
          <a:prstGeom prst="line">
            <a:avLst/>
          </a:prstGeom>
          <a:noFill/>
          <a:ln w="22860">
            <a:solidFill>
              <a:srgbClr val="1F4E8C"/>
            </a:solidFill>
            <a:prstDash val="lgDash"/>
          </a:ln>
        </p:spPr>
      </p:sp>
      <p:sp>
        <p:nvSpPr>
          <p:cNvPr id="25" name="Shape 23"/>
          <p:cNvSpPr/>
          <p:nvPr/>
        </p:nvSpPr>
        <p:spPr>
          <a:xfrm flipV="1">
            <a:off x="7466648" y="3762937"/>
            <a:ext cx="0" cy="1297691"/>
          </a:xfrm>
          <a:prstGeom prst="line">
            <a:avLst/>
          </a:prstGeom>
          <a:noFill/>
          <a:ln w="22860">
            <a:solidFill>
              <a:srgbClr val="1F4E8C"/>
            </a:solidFill>
            <a:prstDash val="lgDash"/>
            <a:tailEnd type="arrow"/>
          </a:ln>
        </p:spPr>
      </p:sp>
      <p:sp>
        <p:nvSpPr>
          <p:cNvPr id="26" name="Text 24"/>
          <p:cNvSpPr/>
          <p:nvPr/>
        </p:nvSpPr>
        <p:spPr>
          <a:xfrm>
            <a:off x="7171411" y="4429969"/>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inyecta</a:t>
            </a:r>
            <a:endParaRPr lang="en-US" sz="850" dirty="0"/>
          </a:p>
        </p:txBody>
      </p:sp>
      <p:sp>
        <p:nvSpPr>
          <p:cNvPr id="27" name="Text 25"/>
          <p:cNvSpPr/>
          <p:nvPr/>
        </p:nvSpPr>
        <p:spPr>
          <a:xfrm>
            <a:off x="7539693" y="495090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8" name="Text 26"/>
          <p:cNvSpPr/>
          <p:nvPr/>
        </p:nvSpPr>
        <p:spPr>
          <a:xfrm>
            <a:off x="1069581" y="3068399"/>
            <a:ext cx="164496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60" dirty="0">
                <a:solidFill>
                  <a:srgbClr val="55627E"/>
                </a:solidFill>
                <a:latin typeface="Segoe UI" pitchFamily="34" charset="0"/>
                <a:ea typeface="Segoe UI" pitchFamily="34" charset="-122"/>
                <a:cs typeface="Segoe UI" pitchFamily="34" charset="-120"/>
              </a:rPr>
              <a:t>caso de uso</a:t>
            </a:r>
            <a:endParaRPr lang="en-US" sz="950" dirty="0"/>
          </a:p>
        </p:txBody>
      </p:sp>
      <p:sp>
        <p:nvSpPr>
          <p:cNvPr id="29" name="Shape 27"/>
          <p:cNvSpPr/>
          <p:nvPr/>
        </p:nvSpPr>
        <p:spPr>
          <a:xfrm>
            <a:off x="1069581" y="4713359"/>
            <a:ext cx="164496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1161021" y="4850316"/>
            <a:ext cx="420624" cy="420624"/>
          </a:xfrm>
          <a:prstGeom prst="ellipse">
            <a:avLst/>
          </a:prstGeom>
          <a:solidFill>
            <a:srgbClr val="E2E5EA"/>
          </a:solidFill>
          <a:ln w="12700">
            <a:solidFill>
              <a:srgbClr val="E2E5EA"/>
            </a:solidFill>
            <a:prstDash val="solid"/>
          </a:ln>
        </p:spPr>
      </p:sp>
      <p:sp>
        <p:nvSpPr>
          <p:cNvPr id="31" name="Icono save"/>
          <p:cNvSpPr/>
          <p:nvPr/>
        </p:nvSpPr>
        <p:spPr>
          <a:xfrm>
            <a:off x="1215885" y="4905180"/>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32" name="Text 30"/>
          <p:cNvSpPr/>
          <p:nvPr/>
        </p:nvSpPr>
        <p:spPr>
          <a:xfrm>
            <a:off x="1636509" y="4713359"/>
            <a:ext cx="1023168" cy="694539"/>
          </a:xfrm>
          <a:prstGeom prst="rect">
            <a:avLst/>
          </a:prstGeom>
          <a:noFill/>
          <a:ln/>
        </p:spPr>
        <p:txBody>
          <a:bodyPr wrap="square" lIns="12700" tIns="25400" rIns="25400" bIns="12700" rtlCol="0" anchor="ctr">
            <a:normAutofit/>
          </a:bodyPr>
          <a:lstStyle/>
          <a:p>
            <a:pPr algn="l" indent="0" marL="0">
              <a:lnSpc>
                <a:spcPct val="95000"/>
              </a:lnSpc>
              <a:buNone/>
            </a:pPr>
            <a:r>
              <a:rPr lang="en-US" sz="907" b="1" dirty="0">
                <a:solidFill>
                  <a:srgbClr val="0B1A3C"/>
                </a:solidFill>
                <a:latin typeface="Segoe UI" pitchFamily="34" charset="0"/>
                <a:ea typeface="Segoe UI" pitchFamily="34" charset="-122"/>
                <a:cs typeface="Segoe UI" pitchFamily="34" charset="-120"/>
              </a:rPr>
              <a:t>RepositorioJpa</a:t>
            </a:r>
            <a:endParaRPr lang="en-US" sz="907" dirty="0"/>
          </a:p>
          <a:p>
            <a:pPr algn="l" indent="0" marL="0">
              <a:lnSpc>
                <a:spcPct val="95000"/>
              </a:lnSpc>
              <a:buNone/>
            </a:pPr>
            <a:r>
              <a:rPr lang="en-US" sz="725" dirty="0">
                <a:solidFill>
                  <a:srgbClr val="55627E"/>
                </a:solidFill>
                <a:latin typeface="Segoe UI" pitchFamily="34" charset="0"/>
                <a:ea typeface="Segoe UI" pitchFamily="34" charset="-122"/>
                <a:cs typeface="Segoe UI" pitchFamily="34" charset="-120"/>
              </a:rPr>
              <a:t>adaptador</a:t>
            </a:r>
            <a:endParaRPr lang="en-US" sz="907" dirty="0"/>
          </a:p>
        </p:txBody>
      </p:sp>
      <p:sp>
        <p:nvSpPr>
          <p:cNvPr id="33" name="Text 31"/>
          <p:cNvSpPr/>
          <p:nvPr/>
        </p:nvSpPr>
        <p:spPr>
          <a:xfrm>
            <a:off x="3719794" y="3890879"/>
            <a:ext cx="1827733" cy="694539"/>
          </a:xfrm>
          <a:prstGeom prst="roundRect">
            <a:avLst>
              <a:gd name="adj" fmla="val 11849"/>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60" i="1" dirty="0">
                <a:solidFill>
                  <a:srgbClr val="55627E"/>
                </a:solidFill>
                <a:latin typeface="Segoe UI" pitchFamily="34" charset="0"/>
                <a:ea typeface="Segoe UI" pitchFamily="34" charset="-122"/>
                <a:cs typeface="Segoe UI" pitchFamily="34" charset="-120"/>
              </a:rPr>
              <a:t>«interfaz»</a:t>
            </a:r>
            <a:endParaRPr lang="en-US" sz="76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60" dirty="0"/>
          </a:p>
          <a:p>
            <a:pPr algn="ctr" indent="0" marL="0">
              <a:buNone/>
            </a:pPr>
            <a:r>
              <a:rPr lang="en-US" sz="760" dirty="0">
                <a:solidFill>
                  <a:srgbClr val="55627E"/>
                </a:solidFill>
                <a:latin typeface="Segoe UI" pitchFamily="34" charset="0"/>
                <a:ea typeface="Segoe UI" pitchFamily="34" charset="-122"/>
                <a:cs typeface="Segoe UI" pitchFamily="34" charset="-120"/>
              </a:rPr>
              <a:t>interfaz</a:t>
            </a:r>
            <a:endParaRPr lang="en-US" sz="760" dirty="0"/>
          </a:p>
        </p:txBody>
      </p:sp>
      <p:sp>
        <p:nvSpPr>
          <p:cNvPr id="34" name="Text 32"/>
          <p:cNvSpPr/>
          <p:nvPr/>
        </p:nvSpPr>
        <p:spPr>
          <a:xfrm>
            <a:off x="6644168" y="3068399"/>
            <a:ext cx="164496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60" dirty="0">
                <a:solidFill>
                  <a:srgbClr val="55627E"/>
                </a:solidFill>
                <a:latin typeface="Segoe UI" pitchFamily="34" charset="0"/>
                <a:ea typeface="Segoe UI" pitchFamily="34" charset="-122"/>
                <a:cs typeface="Segoe UI" pitchFamily="34" charset="-120"/>
              </a:rPr>
              <a:t>en ejecución</a:t>
            </a:r>
            <a:endParaRPr lang="en-US" sz="950" dirty="0"/>
          </a:p>
        </p:txBody>
      </p:sp>
      <p:sp>
        <p:nvSpPr>
          <p:cNvPr id="35" name="Shape 33"/>
          <p:cNvSpPr/>
          <p:nvPr/>
        </p:nvSpPr>
        <p:spPr>
          <a:xfrm>
            <a:off x="9385767" y="3068399"/>
            <a:ext cx="173634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477207" y="3205356"/>
            <a:ext cx="420624" cy="420624"/>
          </a:xfrm>
          <a:prstGeom prst="ellipse">
            <a:avLst/>
          </a:prstGeom>
          <a:solidFill>
            <a:srgbClr val="E2E5EA"/>
          </a:solidFill>
          <a:ln w="12700">
            <a:solidFill>
              <a:srgbClr val="E2E5EA"/>
            </a:solidFill>
            <a:prstDash val="solid"/>
          </a:ln>
        </p:spPr>
      </p:sp>
      <p:sp>
        <p:nvSpPr>
          <p:cNvPr id="37" name="Icono save"/>
          <p:cNvSpPr/>
          <p:nvPr/>
        </p:nvSpPr>
        <p:spPr>
          <a:xfrm>
            <a:off x="9532071" y="3260220"/>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38" name="Text 36"/>
          <p:cNvSpPr/>
          <p:nvPr/>
        </p:nvSpPr>
        <p:spPr>
          <a:xfrm>
            <a:off x="9952695" y="3068399"/>
            <a:ext cx="1114555" cy="694539"/>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RepositorioJpa</a:t>
            </a:r>
            <a:endParaRPr lang="en-US" sz="993" dirty="0"/>
          </a:p>
          <a:p>
            <a:pPr algn="l" indent="0" marL="0">
              <a:lnSpc>
                <a:spcPct val="95000"/>
              </a:lnSpc>
              <a:buNone/>
            </a:pPr>
            <a:r>
              <a:rPr lang="en-US" sz="794" dirty="0">
                <a:solidFill>
                  <a:srgbClr val="55627E"/>
                </a:solidFill>
                <a:latin typeface="Segoe UI" pitchFamily="34" charset="0"/>
                <a:ea typeface="Segoe UI" pitchFamily="34" charset="-122"/>
                <a:cs typeface="Segoe UI" pitchFamily="34" charset="-120"/>
              </a:rPr>
              <a:t>@Repository @Primary</a:t>
            </a:r>
            <a:endParaRPr lang="en-US" sz="993" dirty="0"/>
          </a:p>
        </p:txBody>
      </p:sp>
      <p:sp>
        <p:nvSpPr>
          <p:cNvPr id="39" name="Shape 37"/>
          <p:cNvSpPr/>
          <p:nvPr/>
        </p:nvSpPr>
        <p:spPr>
          <a:xfrm>
            <a:off x="7832194" y="4713359"/>
            <a:ext cx="2193280"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7923634" y="4850316"/>
            <a:ext cx="420624" cy="420624"/>
          </a:xfrm>
          <a:prstGeom prst="ellipse">
            <a:avLst/>
          </a:prstGeom>
          <a:solidFill>
            <a:srgbClr val="E2E5EA"/>
          </a:solidFill>
          <a:ln w="12700">
            <a:solidFill>
              <a:srgbClr val="E2E5EA"/>
            </a:solidFill>
            <a:prstDash val="solid"/>
          </a:ln>
        </p:spPr>
      </p:sp>
      <p:sp>
        <p:nvSpPr>
          <p:cNvPr id="41" name="Icono settings"/>
          <p:cNvSpPr/>
          <p:nvPr/>
        </p:nvSpPr>
        <p:spPr>
          <a:xfrm>
            <a:off x="7978498" y="4905180"/>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0B2350"/>
            </a:solidFill>
            <a:prstDash val="solid"/>
            <a:round/>
          </a:ln>
        </p:spPr>
      </p:sp>
      <p:sp>
        <p:nvSpPr>
          <p:cNvPr id="42" name="Text 40"/>
          <p:cNvSpPr/>
          <p:nvPr/>
        </p:nvSpPr>
        <p:spPr>
          <a:xfrm>
            <a:off x="8399122" y="4713359"/>
            <a:ext cx="157148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elige la implementación @Primary</a:t>
            </a:r>
            <a:endParaRPr lang="en-US" sz="1079"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888755" y="1478003"/>
            <a:ext cx="5027537" cy="3591098"/>
          </a:xfrm>
          <a:prstGeom prst="roundRect">
            <a:avLst>
              <a:gd name="adj" fmla="val 3056"/>
            </a:avLst>
          </a:prstGeom>
          <a:solidFill>
            <a:srgbClr val="E3F4FA"/>
          </a:solidFill>
          <a:ln w="22225">
            <a:solidFill>
              <a:srgbClr val="2BA6CB"/>
            </a:solidFill>
            <a:prstDash val="solid"/>
          </a:ln>
        </p:spPr>
      </p:sp>
      <p:sp>
        <p:nvSpPr>
          <p:cNvPr id="6" name="Text 4"/>
          <p:cNvSpPr/>
          <p:nvPr/>
        </p:nvSpPr>
        <p:spPr>
          <a:xfrm>
            <a:off x="961907" y="1532867"/>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5403" y="1478003"/>
            <a:ext cx="5027537"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348555" y="1532867"/>
            <a:ext cx="18897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74082" y="2627154"/>
            <a:ext cx="1885327" cy="0"/>
          </a:xfrm>
          <a:prstGeom prst="line">
            <a:avLst/>
          </a:prstGeom>
          <a:noFill/>
          <a:ln w="38735">
            <a:solidFill>
              <a:srgbClr val="2BA6CB"/>
            </a:solidFill>
            <a:prstDash val="lgDash"/>
          </a:ln>
        </p:spPr>
      </p:sp>
      <p:sp>
        <p:nvSpPr>
          <p:cNvPr id="10" name="Shape 8"/>
          <p:cNvSpPr/>
          <p:nvPr/>
        </p:nvSpPr>
        <p:spPr>
          <a:xfrm>
            <a:off x="4659408" y="2627154"/>
            <a:ext cx="0" cy="466843"/>
          </a:xfrm>
          <a:prstGeom prst="line">
            <a:avLst/>
          </a:prstGeom>
          <a:noFill/>
          <a:ln w="38735">
            <a:solidFill>
              <a:srgbClr val="2BA6CB"/>
            </a:solidFill>
            <a:prstDash val="lgDash"/>
            <a:tailEnd type="arrow"/>
          </a:ln>
        </p:spPr>
      </p:sp>
      <p:sp>
        <p:nvSpPr>
          <p:cNvPr id="11" name="Text 9"/>
          <p:cNvSpPr/>
          <p:nvPr/>
        </p:nvSpPr>
        <p:spPr>
          <a:xfrm>
            <a:off x="3553639" y="2390907"/>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79820" y="25174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74082" y="4243149"/>
            <a:ext cx="1885327" cy="0"/>
          </a:xfrm>
          <a:prstGeom prst="line">
            <a:avLst/>
          </a:prstGeom>
          <a:noFill/>
          <a:ln w="38735">
            <a:solidFill>
              <a:srgbClr val="2BA6CB"/>
            </a:solidFill>
            <a:prstDash val="lgDash"/>
          </a:ln>
        </p:spPr>
      </p:sp>
      <p:sp>
        <p:nvSpPr>
          <p:cNvPr id="14" name="Shape 12"/>
          <p:cNvSpPr/>
          <p:nvPr/>
        </p:nvSpPr>
        <p:spPr>
          <a:xfrm flipV="1">
            <a:off x="4659408" y="3776306"/>
            <a:ext cx="0" cy="466843"/>
          </a:xfrm>
          <a:prstGeom prst="line">
            <a:avLst/>
          </a:prstGeom>
          <a:noFill/>
          <a:ln w="38735">
            <a:solidFill>
              <a:srgbClr val="2BA6CB"/>
            </a:solidFill>
            <a:prstDash val="lgDash"/>
            <a:tailEnd type="arrow"/>
          </a:ln>
        </p:spPr>
      </p:sp>
      <p:sp>
        <p:nvSpPr>
          <p:cNvPr id="15" name="Text 13"/>
          <p:cNvSpPr/>
          <p:nvPr/>
        </p:nvSpPr>
        <p:spPr>
          <a:xfrm>
            <a:off x="3322410" y="4258278"/>
            <a:ext cx="788670"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79820" y="413342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50507" y="2627154"/>
            <a:ext cx="1077329" cy="0"/>
          </a:xfrm>
          <a:prstGeom prst="line">
            <a:avLst/>
          </a:prstGeom>
          <a:noFill/>
          <a:ln w="31750">
            <a:solidFill>
              <a:srgbClr val="CBD5E3"/>
            </a:solidFill>
            <a:prstDash val="sysDot"/>
            <a:tailEnd type="triangle"/>
          </a:ln>
        </p:spPr>
      </p:sp>
      <p:sp>
        <p:nvSpPr>
          <p:cNvPr id="18" name="Text 16"/>
          <p:cNvSpPr/>
          <p:nvPr/>
        </p:nvSpPr>
        <p:spPr>
          <a:xfrm>
            <a:off x="8394836" y="2390907"/>
            <a:ext cx="788670"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56244" y="251742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42509" y="4243149"/>
            <a:ext cx="359110" cy="0"/>
          </a:xfrm>
          <a:prstGeom prst="line">
            <a:avLst/>
          </a:prstGeom>
          <a:noFill/>
          <a:ln w="22860">
            <a:solidFill>
              <a:srgbClr val="CBD5E3"/>
            </a:solidFill>
            <a:prstDash val="lgDash"/>
          </a:ln>
        </p:spPr>
      </p:sp>
      <p:sp>
        <p:nvSpPr>
          <p:cNvPr id="21" name="Shape 19"/>
          <p:cNvSpPr/>
          <p:nvPr/>
        </p:nvSpPr>
        <p:spPr>
          <a:xfrm flipV="1">
            <a:off x="7442509" y="2968309"/>
            <a:ext cx="0" cy="1274840"/>
          </a:xfrm>
          <a:prstGeom prst="line">
            <a:avLst/>
          </a:prstGeom>
          <a:noFill/>
          <a:ln w="22860">
            <a:solidFill>
              <a:srgbClr val="CBD5E3"/>
            </a:solidFill>
            <a:prstDash val="lgDash"/>
            <a:tailEnd type="arrow"/>
          </a:ln>
        </p:spPr>
      </p:sp>
      <p:sp>
        <p:nvSpPr>
          <p:cNvPr id="22" name="Text 20"/>
          <p:cNvSpPr/>
          <p:nvPr/>
        </p:nvSpPr>
        <p:spPr>
          <a:xfrm>
            <a:off x="7147273" y="3620858"/>
            <a:ext cx="590474"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12336" y="413342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58088" y="2286000"/>
            <a:ext cx="161599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caso de uso</a:t>
            </a:r>
            <a:endParaRPr lang="en-US" sz="933" dirty="0"/>
          </a:p>
        </p:txBody>
      </p:sp>
      <p:sp>
        <p:nvSpPr>
          <p:cNvPr id="25" name="Shape 23"/>
          <p:cNvSpPr/>
          <p:nvPr/>
        </p:nvSpPr>
        <p:spPr>
          <a:xfrm>
            <a:off x="1158088" y="3901994"/>
            <a:ext cx="161599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6" name="Shape 24"/>
          <p:cNvSpPr/>
          <p:nvPr/>
        </p:nvSpPr>
        <p:spPr>
          <a:xfrm>
            <a:off x="1249528" y="4032837"/>
            <a:ext cx="420624" cy="420624"/>
          </a:xfrm>
          <a:prstGeom prst="ellipse">
            <a:avLst/>
          </a:prstGeom>
          <a:solidFill>
            <a:srgbClr val="E3F4FA"/>
          </a:solidFill>
          <a:ln w="12700">
            <a:solidFill>
              <a:srgbClr val="E3F4FA"/>
            </a:solidFill>
            <a:prstDash val="solid"/>
          </a:ln>
        </p:spPr>
      </p:sp>
      <p:sp>
        <p:nvSpPr>
          <p:cNvPr id="27" name="Icono save"/>
          <p:cNvSpPr/>
          <p:nvPr/>
        </p:nvSpPr>
        <p:spPr>
          <a:xfrm>
            <a:off x="1304392" y="4087701"/>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6E8A"/>
            </a:solidFill>
            <a:prstDash val="solid"/>
            <a:round/>
          </a:ln>
        </p:spPr>
      </p:sp>
      <p:sp>
        <p:nvSpPr>
          <p:cNvPr id="28" name="Text 26"/>
          <p:cNvSpPr/>
          <p:nvPr/>
        </p:nvSpPr>
        <p:spPr>
          <a:xfrm>
            <a:off x="1725016" y="3901994"/>
            <a:ext cx="994202" cy="682309"/>
          </a:xfrm>
          <a:prstGeom prst="rect">
            <a:avLst/>
          </a:prstGeom>
          <a:noFill/>
          <a:ln/>
        </p:spPr>
        <p:txBody>
          <a:bodyPr wrap="square" lIns="12700" tIns="25400" rIns="25400" bIns="12700" rtlCol="0" anchor="ctr">
            <a:normAutofit/>
          </a:bodyPr>
          <a:lstStyle/>
          <a:p>
            <a:pPr algn="l" indent="0" marL="0">
              <a:lnSpc>
                <a:spcPct val="95000"/>
              </a:lnSpc>
              <a:buNone/>
            </a:pPr>
            <a:r>
              <a:rPr lang="en-US" sz="891" b="1" dirty="0">
                <a:solidFill>
                  <a:srgbClr val="0B1A3C"/>
                </a:solidFill>
                <a:latin typeface="Segoe UI" pitchFamily="34" charset="0"/>
                <a:ea typeface="Segoe UI" pitchFamily="34" charset="-122"/>
                <a:cs typeface="Segoe UI" pitchFamily="34" charset="-120"/>
              </a:rPr>
              <a:t>RepositorioJpa</a:t>
            </a:r>
            <a:endParaRPr lang="en-US" sz="891" dirty="0"/>
          </a:p>
          <a:p>
            <a:pPr algn="l" indent="0" marL="0">
              <a:lnSpc>
                <a:spcPct val="95000"/>
              </a:lnSpc>
              <a:buNone/>
            </a:pPr>
            <a:r>
              <a:rPr lang="en-US" sz="713" dirty="0">
                <a:solidFill>
                  <a:srgbClr val="55627E"/>
                </a:solidFill>
                <a:latin typeface="Segoe UI" pitchFamily="34" charset="0"/>
                <a:ea typeface="Segoe UI" pitchFamily="34" charset="-122"/>
                <a:cs typeface="Segoe UI" pitchFamily="34" charset="-120"/>
              </a:rPr>
              <a:t>adaptador</a:t>
            </a:r>
            <a:endParaRPr lang="en-US" sz="891" dirty="0"/>
          </a:p>
        </p:txBody>
      </p:sp>
      <p:sp>
        <p:nvSpPr>
          <p:cNvPr id="29" name="Text 27"/>
          <p:cNvSpPr/>
          <p:nvPr/>
        </p:nvSpPr>
        <p:spPr>
          <a:xfrm>
            <a:off x="3761634" y="3093997"/>
            <a:ext cx="1795549" cy="682309"/>
          </a:xfrm>
          <a:prstGeom prst="roundRect">
            <a:avLst>
              <a:gd name="adj" fmla="val 12061"/>
            </a:avLst>
          </a:prstGeom>
          <a:solidFill>
            <a:srgbClr val="FFFFFF"/>
          </a:solidFill>
          <a:ln w="28575">
            <a:solidFill>
              <a:srgbClr val="2BA6CB"/>
            </a:solidFill>
            <a:prstDash val="dash"/>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746" i="1" dirty="0">
                <a:solidFill>
                  <a:srgbClr val="55627E"/>
                </a:solidFill>
                <a:latin typeface="Segoe UI" pitchFamily="34" charset="0"/>
                <a:ea typeface="Segoe UI" pitchFamily="34" charset="-122"/>
                <a:cs typeface="Segoe UI" pitchFamily="34" charset="-120"/>
              </a:rPr>
              <a:t>«interfaz»</a:t>
            </a:r>
            <a:endParaRPr lang="en-US" sz="746" dirty="0"/>
          </a:p>
          <a:p>
            <a:pPr algn="ctr" indent="0" marL="0">
              <a:buNone/>
            </a:pPr>
            <a:r>
              <a:rPr lang="en-US" sz="933" b="1" dirty="0">
                <a:solidFill>
                  <a:srgbClr val="0B1A3C"/>
                </a:solidFill>
                <a:latin typeface="Segoe UI" pitchFamily="34" charset="0"/>
                <a:ea typeface="Segoe UI" pitchFamily="34" charset="-122"/>
                <a:cs typeface="Segoe UI" pitchFamily="34" charset="-120"/>
              </a:rPr>
              <a:t>RepositorioDeSolicitudes</a:t>
            </a:r>
            <a:endParaRPr lang="en-US" sz="746" dirty="0"/>
          </a:p>
          <a:p>
            <a:pPr algn="ctr" indent="0" marL="0">
              <a:buNone/>
            </a:pPr>
            <a:r>
              <a:rPr lang="en-US" sz="746" dirty="0">
                <a:solidFill>
                  <a:srgbClr val="55627E"/>
                </a:solidFill>
                <a:latin typeface="Segoe UI" pitchFamily="34" charset="0"/>
                <a:ea typeface="Segoe UI" pitchFamily="34" charset="-122"/>
                <a:cs typeface="Segoe UI" pitchFamily="34" charset="-120"/>
              </a:rPr>
              <a:t>interfaz</a:t>
            </a:r>
            <a:endParaRPr lang="en-US" sz="746" dirty="0"/>
          </a:p>
        </p:txBody>
      </p:sp>
      <p:sp>
        <p:nvSpPr>
          <p:cNvPr id="30" name="Text 28"/>
          <p:cNvSpPr/>
          <p:nvPr/>
        </p:nvSpPr>
        <p:spPr>
          <a:xfrm>
            <a:off x="6634512" y="2286000"/>
            <a:ext cx="1615994" cy="682309"/>
          </a:xfrm>
          <a:prstGeom prst="roundRect">
            <a:avLst>
              <a:gd name="adj" fmla="val 1206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9AA5B8"/>
                </a:solidFill>
                <a:latin typeface="Segoe UI" pitchFamily="34" charset="0"/>
                <a:ea typeface="Segoe UI" pitchFamily="34" charset="-122"/>
                <a:cs typeface="Segoe UI" pitchFamily="34" charset="-120"/>
              </a:rPr>
              <a:t>en ejecución</a:t>
            </a:r>
            <a:endParaRPr lang="en-US" sz="933" dirty="0"/>
          </a:p>
        </p:txBody>
      </p:sp>
      <p:sp>
        <p:nvSpPr>
          <p:cNvPr id="31" name="Shape 29"/>
          <p:cNvSpPr/>
          <p:nvPr/>
        </p:nvSpPr>
        <p:spPr>
          <a:xfrm>
            <a:off x="9327836" y="2286000"/>
            <a:ext cx="1705772" cy="682309"/>
          </a:xfrm>
          <a:prstGeom prst="roundRect">
            <a:avLst>
              <a:gd name="adj" fmla="val 12061"/>
            </a:avLst>
          </a:prstGeom>
          <a:solidFill>
            <a:srgbClr val="FFFFFF"/>
          </a:solidFill>
          <a:ln w="12700">
            <a:solidFill>
              <a:srgbClr val="D5DDE8"/>
            </a:solidFill>
            <a:prstDash val="solid"/>
          </a:ln>
        </p:spPr>
      </p:sp>
      <p:sp>
        <p:nvSpPr>
          <p:cNvPr id="32" name="Shape 30"/>
          <p:cNvSpPr/>
          <p:nvPr/>
        </p:nvSpPr>
        <p:spPr>
          <a:xfrm>
            <a:off x="9419276" y="2416842"/>
            <a:ext cx="420624" cy="420624"/>
          </a:xfrm>
          <a:prstGeom prst="ellipse">
            <a:avLst/>
          </a:prstGeom>
          <a:solidFill>
            <a:srgbClr val="EEF2F7"/>
          </a:solidFill>
          <a:ln w="12700">
            <a:solidFill>
              <a:srgbClr val="EEF2F7"/>
            </a:solidFill>
            <a:prstDash val="solid"/>
          </a:ln>
        </p:spPr>
      </p:sp>
      <p:sp>
        <p:nvSpPr>
          <p:cNvPr id="33" name="Icono save"/>
          <p:cNvSpPr/>
          <p:nvPr/>
        </p:nvSpPr>
        <p:spPr>
          <a:xfrm>
            <a:off x="9474140" y="2471706"/>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A9B4C6"/>
            </a:solidFill>
            <a:prstDash val="solid"/>
            <a:round/>
          </a:ln>
        </p:spPr>
      </p:sp>
      <p:sp>
        <p:nvSpPr>
          <p:cNvPr id="34" name="Text 32"/>
          <p:cNvSpPr/>
          <p:nvPr/>
        </p:nvSpPr>
        <p:spPr>
          <a:xfrm>
            <a:off x="9894764" y="2286000"/>
            <a:ext cx="1083980" cy="682309"/>
          </a:xfrm>
          <a:prstGeom prst="rect">
            <a:avLst/>
          </a:prstGeom>
          <a:noFill/>
          <a:ln/>
        </p:spPr>
        <p:txBody>
          <a:bodyPr wrap="square" lIns="12700" tIns="25400" rIns="25400" bIns="12700" rtlCol="0" anchor="ctr">
            <a:normAutofit/>
          </a:bodyPr>
          <a:lstStyle/>
          <a:p>
            <a:pPr algn="l" indent="0" marL="0">
              <a:lnSpc>
                <a:spcPct val="95000"/>
              </a:lnSpc>
              <a:buNone/>
            </a:pPr>
            <a:r>
              <a:rPr lang="en-US" sz="976" b="1" dirty="0">
                <a:solidFill>
                  <a:srgbClr val="8A95AB"/>
                </a:solidFill>
                <a:latin typeface="Segoe UI" pitchFamily="34" charset="0"/>
                <a:ea typeface="Segoe UI" pitchFamily="34" charset="-122"/>
                <a:cs typeface="Segoe UI" pitchFamily="34" charset="-120"/>
              </a:rPr>
              <a:t>RepositorioJpa</a:t>
            </a:r>
            <a:endParaRPr lang="en-US" sz="976" dirty="0"/>
          </a:p>
          <a:p>
            <a:pPr algn="l" indent="0" marL="0">
              <a:lnSpc>
                <a:spcPct val="95000"/>
              </a:lnSpc>
              <a:buNone/>
            </a:pPr>
            <a:r>
              <a:rPr lang="en-US" sz="780" dirty="0">
                <a:solidFill>
                  <a:srgbClr val="9AA5B8"/>
                </a:solidFill>
                <a:latin typeface="Segoe UI" pitchFamily="34" charset="0"/>
                <a:ea typeface="Segoe UI" pitchFamily="34" charset="-122"/>
                <a:cs typeface="Segoe UI" pitchFamily="34" charset="-120"/>
              </a:rPr>
              <a:t>@Repository @Primary</a:t>
            </a:r>
            <a:endParaRPr lang="en-US" sz="976" dirty="0"/>
          </a:p>
        </p:txBody>
      </p:sp>
      <p:sp>
        <p:nvSpPr>
          <p:cNvPr id="35" name="Shape 33"/>
          <p:cNvSpPr/>
          <p:nvPr/>
        </p:nvSpPr>
        <p:spPr>
          <a:xfrm>
            <a:off x="7801619" y="3901994"/>
            <a:ext cx="2154659" cy="682309"/>
          </a:xfrm>
          <a:prstGeom prst="roundRect">
            <a:avLst>
              <a:gd name="adj" fmla="val 12061"/>
            </a:avLst>
          </a:prstGeom>
          <a:solidFill>
            <a:srgbClr val="FBFCFE"/>
          </a:solidFill>
          <a:ln w="12700">
            <a:solidFill>
              <a:srgbClr val="D5DDE8"/>
            </a:solidFill>
            <a:prstDash val="solid"/>
          </a:ln>
        </p:spPr>
      </p:sp>
      <p:sp>
        <p:nvSpPr>
          <p:cNvPr id="36" name="Shape 34"/>
          <p:cNvSpPr/>
          <p:nvPr/>
        </p:nvSpPr>
        <p:spPr>
          <a:xfrm>
            <a:off x="7893059" y="4032837"/>
            <a:ext cx="420624" cy="420624"/>
          </a:xfrm>
          <a:prstGeom prst="ellipse">
            <a:avLst/>
          </a:prstGeom>
          <a:solidFill>
            <a:srgbClr val="EEF2F7"/>
          </a:solidFill>
          <a:ln w="12700">
            <a:solidFill>
              <a:srgbClr val="EEF2F7"/>
            </a:solidFill>
            <a:prstDash val="solid"/>
          </a:ln>
        </p:spPr>
      </p:sp>
      <p:sp>
        <p:nvSpPr>
          <p:cNvPr id="37" name="Icono settings"/>
          <p:cNvSpPr/>
          <p:nvPr/>
        </p:nvSpPr>
        <p:spPr>
          <a:xfrm>
            <a:off x="7947923" y="4087701"/>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A9B4C6"/>
            </a:solidFill>
            <a:prstDash val="solid"/>
            <a:round/>
          </a:ln>
        </p:spPr>
      </p:sp>
      <p:sp>
        <p:nvSpPr>
          <p:cNvPr id="38" name="Text 36"/>
          <p:cNvSpPr/>
          <p:nvPr/>
        </p:nvSpPr>
        <p:spPr>
          <a:xfrm>
            <a:off x="8368547" y="3901994"/>
            <a:ext cx="1532867"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Spring</a:t>
            </a:r>
            <a:endParaRPr lang="en-US" sz="1060" dirty="0"/>
          </a:p>
          <a:p>
            <a:pPr algn="l" indent="0" marL="0">
              <a:lnSpc>
                <a:spcPct val="95000"/>
              </a:lnSpc>
              <a:buNone/>
            </a:pPr>
            <a:r>
              <a:rPr lang="en-US" sz="848" dirty="0">
                <a:solidFill>
                  <a:srgbClr val="9AA5B8"/>
                </a:solidFill>
                <a:latin typeface="Segoe UI" pitchFamily="34" charset="0"/>
                <a:ea typeface="Segoe UI" pitchFamily="34" charset="-122"/>
                <a:cs typeface="Segoe UI" pitchFamily="34" charset="-120"/>
              </a:rPr>
              <a:t>elige la implementación @Primary</a:t>
            </a:r>
            <a:endParaRPr lang="en-US" sz="1060" dirty="0"/>
          </a:p>
        </p:txBody>
      </p:sp>
      <p:sp>
        <p:nvSpPr>
          <p:cNvPr id="39" name="Shape 37"/>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0" name="Text 3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1" name="Text 39"/>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solo conoce el contrato que necesita, no la clase que lo cumple.</a:t>
            </a:r>
            <a:endParaRPr lang="en-US" sz="1300" dirty="0"/>
          </a:p>
        </p:txBody>
      </p:sp>
      <p:sp>
        <p:nvSpPr>
          <p:cNvPr id="42" name="Shape 40"/>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4" name="Text 42"/>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también conoce ese contrato y lo cumple. Los dos dependen del contrato.</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888755" y="1478003"/>
            <a:ext cx="5027537"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5403" y="1478003"/>
            <a:ext cx="5027537" cy="3591098"/>
          </a:xfrm>
          <a:prstGeom prst="roundRect">
            <a:avLst>
              <a:gd name="adj" fmla="val 3056"/>
            </a:avLst>
          </a:prstGeom>
          <a:solidFill>
            <a:srgbClr val="E3F4FA"/>
          </a:solidFill>
          <a:ln w="22225">
            <a:solidFill>
              <a:srgbClr val="2BA6CB"/>
            </a:solidFill>
            <a:prstDash val="solid"/>
          </a:ln>
        </p:spPr>
      </p:sp>
      <p:sp>
        <p:nvSpPr>
          <p:cNvPr id="8" name="Text 6"/>
          <p:cNvSpPr/>
          <p:nvPr/>
        </p:nvSpPr>
        <p:spPr>
          <a:xfrm>
            <a:off x="6348555" y="1532867"/>
            <a:ext cx="18897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74082" y="2627154"/>
            <a:ext cx="1885327" cy="0"/>
          </a:xfrm>
          <a:prstGeom prst="line">
            <a:avLst/>
          </a:prstGeom>
          <a:noFill/>
          <a:ln w="22860">
            <a:solidFill>
              <a:srgbClr val="1F4E8C"/>
            </a:solidFill>
            <a:prstDash val="lgDash"/>
          </a:ln>
        </p:spPr>
      </p:sp>
      <p:sp>
        <p:nvSpPr>
          <p:cNvPr id="10" name="Shape 8"/>
          <p:cNvSpPr/>
          <p:nvPr/>
        </p:nvSpPr>
        <p:spPr>
          <a:xfrm>
            <a:off x="4659408" y="2627154"/>
            <a:ext cx="0" cy="466843"/>
          </a:xfrm>
          <a:prstGeom prst="line">
            <a:avLst/>
          </a:prstGeom>
          <a:noFill/>
          <a:ln w="22860">
            <a:solidFill>
              <a:srgbClr val="1F4E8C"/>
            </a:solidFill>
            <a:prstDash val="lgDash"/>
            <a:tailEnd type="arrow"/>
          </a:ln>
        </p:spPr>
      </p:sp>
      <p:sp>
        <p:nvSpPr>
          <p:cNvPr id="11" name="Text 9"/>
          <p:cNvSpPr/>
          <p:nvPr/>
        </p:nvSpPr>
        <p:spPr>
          <a:xfrm>
            <a:off x="3553639" y="2390907"/>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79820" y="251742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74082" y="4243149"/>
            <a:ext cx="1885327" cy="0"/>
          </a:xfrm>
          <a:prstGeom prst="line">
            <a:avLst/>
          </a:prstGeom>
          <a:noFill/>
          <a:ln w="22860">
            <a:solidFill>
              <a:srgbClr val="1F4E8C"/>
            </a:solidFill>
            <a:prstDash val="lgDash"/>
          </a:ln>
        </p:spPr>
      </p:sp>
      <p:sp>
        <p:nvSpPr>
          <p:cNvPr id="14" name="Shape 12"/>
          <p:cNvSpPr/>
          <p:nvPr/>
        </p:nvSpPr>
        <p:spPr>
          <a:xfrm flipV="1">
            <a:off x="4659408" y="3776306"/>
            <a:ext cx="0" cy="466843"/>
          </a:xfrm>
          <a:prstGeom prst="line">
            <a:avLst/>
          </a:prstGeom>
          <a:noFill/>
          <a:ln w="22860">
            <a:solidFill>
              <a:srgbClr val="1F4E8C"/>
            </a:solidFill>
            <a:prstDash val="lgDash"/>
            <a:tailEnd type="arrow"/>
          </a:ln>
        </p:spPr>
      </p:sp>
      <p:sp>
        <p:nvSpPr>
          <p:cNvPr id="15" name="Text 13"/>
          <p:cNvSpPr/>
          <p:nvPr/>
        </p:nvSpPr>
        <p:spPr>
          <a:xfrm>
            <a:off x="3322410" y="4258278"/>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79820" y="413342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50507" y="2627154"/>
            <a:ext cx="1077329" cy="0"/>
          </a:xfrm>
          <a:prstGeom prst="line">
            <a:avLst/>
          </a:prstGeom>
          <a:noFill/>
          <a:ln w="47625">
            <a:solidFill>
              <a:srgbClr val="2BA6CB"/>
            </a:solidFill>
            <a:prstDash val="sysDot"/>
            <a:tailEnd type="triangle"/>
          </a:ln>
        </p:spPr>
      </p:sp>
      <p:sp>
        <p:nvSpPr>
          <p:cNvPr id="18" name="Text 16"/>
          <p:cNvSpPr/>
          <p:nvPr/>
        </p:nvSpPr>
        <p:spPr>
          <a:xfrm>
            <a:off x="8394836" y="2390907"/>
            <a:ext cx="788670"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56244" y="25174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42509" y="4243149"/>
            <a:ext cx="359110" cy="0"/>
          </a:xfrm>
          <a:prstGeom prst="line">
            <a:avLst/>
          </a:prstGeom>
          <a:noFill/>
          <a:ln w="22860">
            <a:solidFill>
              <a:srgbClr val="CBD5E3"/>
            </a:solidFill>
            <a:prstDash val="lgDash"/>
          </a:ln>
        </p:spPr>
      </p:sp>
      <p:sp>
        <p:nvSpPr>
          <p:cNvPr id="21" name="Shape 19"/>
          <p:cNvSpPr/>
          <p:nvPr/>
        </p:nvSpPr>
        <p:spPr>
          <a:xfrm flipV="1">
            <a:off x="7442509" y="2968309"/>
            <a:ext cx="0" cy="1274840"/>
          </a:xfrm>
          <a:prstGeom prst="line">
            <a:avLst/>
          </a:prstGeom>
          <a:noFill/>
          <a:ln w="22860">
            <a:solidFill>
              <a:srgbClr val="CBD5E3"/>
            </a:solidFill>
            <a:prstDash val="lgDash"/>
            <a:tailEnd type="arrow"/>
          </a:ln>
        </p:spPr>
      </p:sp>
      <p:sp>
        <p:nvSpPr>
          <p:cNvPr id="22" name="Text 20"/>
          <p:cNvSpPr/>
          <p:nvPr/>
        </p:nvSpPr>
        <p:spPr>
          <a:xfrm>
            <a:off x="7147273" y="3620858"/>
            <a:ext cx="590474"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12336" y="413342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58088" y="2286000"/>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caso de uso</a:t>
            </a:r>
            <a:endParaRPr lang="en-US" sz="933" dirty="0"/>
          </a:p>
        </p:txBody>
      </p:sp>
      <p:sp>
        <p:nvSpPr>
          <p:cNvPr id="25" name="Shape 23"/>
          <p:cNvSpPr/>
          <p:nvPr/>
        </p:nvSpPr>
        <p:spPr>
          <a:xfrm>
            <a:off x="1158088" y="3901994"/>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249528" y="4032837"/>
            <a:ext cx="420624" cy="420624"/>
          </a:xfrm>
          <a:prstGeom prst="ellipse">
            <a:avLst/>
          </a:prstGeom>
          <a:solidFill>
            <a:srgbClr val="E2E5EA"/>
          </a:solidFill>
          <a:ln w="12700">
            <a:solidFill>
              <a:srgbClr val="E2E5EA"/>
            </a:solidFill>
            <a:prstDash val="solid"/>
          </a:ln>
        </p:spPr>
      </p:sp>
      <p:sp>
        <p:nvSpPr>
          <p:cNvPr id="27" name="Icono save"/>
          <p:cNvSpPr/>
          <p:nvPr/>
        </p:nvSpPr>
        <p:spPr>
          <a:xfrm>
            <a:off x="1304392" y="4087701"/>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28" name="Text 26"/>
          <p:cNvSpPr/>
          <p:nvPr/>
        </p:nvSpPr>
        <p:spPr>
          <a:xfrm>
            <a:off x="1725016" y="3901994"/>
            <a:ext cx="994202" cy="682309"/>
          </a:xfrm>
          <a:prstGeom prst="rect">
            <a:avLst/>
          </a:prstGeom>
          <a:noFill/>
          <a:ln/>
        </p:spPr>
        <p:txBody>
          <a:bodyPr wrap="square" lIns="12700" tIns="25400" rIns="25400" bIns="12700" rtlCol="0" anchor="ctr">
            <a:normAutofit/>
          </a:bodyPr>
          <a:lstStyle/>
          <a:p>
            <a:pPr algn="l" indent="0" marL="0">
              <a:lnSpc>
                <a:spcPct val="95000"/>
              </a:lnSpc>
              <a:buNone/>
            </a:pPr>
            <a:r>
              <a:rPr lang="en-US" sz="891" b="1" dirty="0">
                <a:solidFill>
                  <a:srgbClr val="0B1A3C"/>
                </a:solidFill>
                <a:latin typeface="Segoe UI" pitchFamily="34" charset="0"/>
                <a:ea typeface="Segoe UI" pitchFamily="34" charset="-122"/>
                <a:cs typeface="Segoe UI" pitchFamily="34" charset="-120"/>
              </a:rPr>
              <a:t>RepositorioJpa</a:t>
            </a:r>
            <a:endParaRPr lang="en-US" sz="891" dirty="0"/>
          </a:p>
          <a:p>
            <a:pPr algn="l" indent="0" marL="0">
              <a:lnSpc>
                <a:spcPct val="95000"/>
              </a:lnSpc>
              <a:buNone/>
            </a:pPr>
            <a:r>
              <a:rPr lang="en-US" sz="713" dirty="0">
                <a:solidFill>
                  <a:srgbClr val="55627E"/>
                </a:solidFill>
                <a:latin typeface="Segoe UI" pitchFamily="34" charset="0"/>
                <a:ea typeface="Segoe UI" pitchFamily="34" charset="-122"/>
                <a:cs typeface="Segoe UI" pitchFamily="34" charset="-120"/>
              </a:rPr>
              <a:t>adaptador</a:t>
            </a:r>
            <a:endParaRPr lang="en-US" sz="891" dirty="0"/>
          </a:p>
        </p:txBody>
      </p:sp>
      <p:sp>
        <p:nvSpPr>
          <p:cNvPr id="29" name="Text 27"/>
          <p:cNvSpPr/>
          <p:nvPr/>
        </p:nvSpPr>
        <p:spPr>
          <a:xfrm>
            <a:off x="3761634" y="3093997"/>
            <a:ext cx="1795549" cy="682309"/>
          </a:xfrm>
          <a:prstGeom prst="roundRect">
            <a:avLst>
              <a:gd name="adj" fmla="val 12061"/>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46" i="1" dirty="0">
                <a:solidFill>
                  <a:srgbClr val="55627E"/>
                </a:solidFill>
                <a:latin typeface="Segoe UI" pitchFamily="34" charset="0"/>
                <a:ea typeface="Segoe UI" pitchFamily="34" charset="-122"/>
                <a:cs typeface="Segoe UI" pitchFamily="34" charset="-120"/>
              </a:rPr>
              <a:t>«interfaz»</a:t>
            </a:r>
            <a:endParaRPr lang="en-US" sz="746" dirty="0"/>
          </a:p>
          <a:p>
            <a:pPr algn="ctr" indent="0" marL="0">
              <a:buNone/>
            </a:pPr>
            <a:r>
              <a:rPr lang="en-US" sz="933" b="1" dirty="0">
                <a:solidFill>
                  <a:srgbClr val="0B1A3C"/>
                </a:solidFill>
                <a:latin typeface="Segoe UI" pitchFamily="34" charset="0"/>
                <a:ea typeface="Segoe UI" pitchFamily="34" charset="-122"/>
                <a:cs typeface="Segoe UI" pitchFamily="34" charset="-120"/>
              </a:rPr>
              <a:t>RepositorioDeSolicitudes</a:t>
            </a:r>
            <a:endParaRPr lang="en-US" sz="746" dirty="0"/>
          </a:p>
          <a:p>
            <a:pPr algn="ctr" indent="0" marL="0">
              <a:buNone/>
            </a:pPr>
            <a:r>
              <a:rPr lang="en-US" sz="746" dirty="0">
                <a:solidFill>
                  <a:srgbClr val="55627E"/>
                </a:solidFill>
                <a:latin typeface="Segoe UI" pitchFamily="34" charset="0"/>
                <a:ea typeface="Segoe UI" pitchFamily="34" charset="-122"/>
                <a:cs typeface="Segoe UI" pitchFamily="34" charset="-120"/>
              </a:rPr>
              <a:t>interfaz</a:t>
            </a:r>
            <a:endParaRPr lang="en-US" sz="746" dirty="0"/>
          </a:p>
        </p:txBody>
      </p:sp>
      <p:sp>
        <p:nvSpPr>
          <p:cNvPr id="30" name="Text 28"/>
          <p:cNvSpPr/>
          <p:nvPr/>
        </p:nvSpPr>
        <p:spPr>
          <a:xfrm>
            <a:off x="6634512" y="2286000"/>
            <a:ext cx="161599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en ejecución</a:t>
            </a:r>
            <a:endParaRPr lang="en-US" sz="933" dirty="0"/>
          </a:p>
        </p:txBody>
      </p:sp>
      <p:sp>
        <p:nvSpPr>
          <p:cNvPr id="31" name="Shape 29"/>
          <p:cNvSpPr/>
          <p:nvPr/>
        </p:nvSpPr>
        <p:spPr>
          <a:xfrm>
            <a:off x="9327836" y="2286000"/>
            <a:ext cx="1705772"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9419276" y="2416842"/>
            <a:ext cx="420624" cy="420624"/>
          </a:xfrm>
          <a:prstGeom prst="ellipse">
            <a:avLst/>
          </a:prstGeom>
          <a:solidFill>
            <a:srgbClr val="E3F4FA"/>
          </a:solidFill>
          <a:ln w="12700">
            <a:solidFill>
              <a:srgbClr val="E3F4FA"/>
            </a:solidFill>
            <a:prstDash val="solid"/>
          </a:ln>
        </p:spPr>
      </p:sp>
      <p:sp>
        <p:nvSpPr>
          <p:cNvPr id="33" name="Icono save"/>
          <p:cNvSpPr/>
          <p:nvPr/>
        </p:nvSpPr>
        <p:spPr>
          <a:xfrm>
            <a:off x="9474140" y="2471706"/>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6E8A"/>
            </a:solidFill>
            <a:prstDash val="solid"/>
            <a:round/>
          </a:ln>
        </p:spPr>
      </p:sp>
      <p:sp>
        <p:nvSpPr>
          <p:cNvPr id="34" name="Text 32"/>
          <p:cNvSpPr/>
          <p:nvPr/>
        </p:nvSpPr>
        <p:spPr>
          <a:xfrm>
            <a:off x="9894764" y="2286000"/>
            <a:ext cx="1083980" cy="682309"/>
          </a:xfrm>
          <a:prstGeom prst="rect">
            <a:avLst/>
          </a:prstGeom>
          <a:noFill/>
          <a:ln/>
        </p:spPr>
        <p:txBody>
          <a:bodyPr wrap="square" lIns="12700" tIns="25400" rIns="25400" bIns="12700" rtlCol="0" anchor="ctr">
            <a:normAutofit/>
          </a:bodyPr>
          <a:lstStyle/>
          <a:p>
            <a:pPr algn="l" indent="0" marL="0">
              <a:lnSpc>
                <a:spcPct val="95000"/>
              </a:lnSpc>
              <a:buNone/>
            </a:pPr>
            <a:r>
              <a:rPr lang="en-US" sz="976" b="1" dirty="0">
                <a:solidFill>
                  <a:srgbClr val="0B1A3C"/>
                </a:solidFill>
                <a:latin typeface="Segoe UI" pitchFamily="34" charset="0"/>
                <a:ea typeface="Segoe UI" pitchFamily="34" charset="-122"/>
                <a:cs typeface="Segoe UI" pitchFamily="34" charset="-120"/>
              </a:rPr>
              <a:t>RepositorioJpa</a:t>
            </a:r>
            <a:endParaRPr lang="en-US" sz="976" dirty="0"/>
          </a:p>
          <a:p>
            <a:pPr algn="l" indent="0" marL="0">
              <a:lnSpc>
                <a:spcPct val="95000"/>
              </a:lnSpc>
              <a:buNone/>
            </a:pPr>
            <a:r>
              <a:rPr lang="en-US" sz="780" dirty="0">
                <a:solidFill>
                  <a:srgbClr val="55627E"/>
                </a:solidFill>
                <a:latin typeface="Segoe UI" pitchFamily="34" charset="0"/>
                <a:ea typeface="Segoe UI" pitchFamily="34" charset="-122"/>
                <a:cs typeface="Segoe UI" pitchFamily="34" charset="-120"/>
              </a:rPr>
              <a:t>@Repository @Primary</a:t>
            </a:r>
            <a:endParaRPr lang="en-US" sz="976" dirty="0"/>
          </a:p>
        </p:txBody>
      </p:sp>
      <p:sp>
        <p:nvSpPr>
          <p:cNvPr id="35" name="Shape 33"/>
          <p:cNvSpPr/>
          <p:nvPr/>
        </p:nvSpPr>
        <p:spPr>
          <a:xfrm>
            <a:off x="7801619" y="3901994"/>
            <a:ext cx="2154659" cy="682309"/>
          </a:xfrm>
          <a:prstGeom prst="roundRect">
            <a:avLst>
              <a:gd name="adj" fmla="val 12061"/>
            </a:avLst>
          </a:prstGeom>
          <a:solidFill>
            <a:srgbClr val="FBFCFE"/>
          </a:solidFill>
          <a:ln w="12700">
            <a:solidFill>
              <a:srgbClr val="D5DDE8"/>
            </a:solidFill>
            <a:prstDash val="solid"/>
          </a:ln>
        </p:spPr>
      </p:sp>
      <p:sp>
        <p:nvSpPr>
          <p:cNvPr id="36" name="Shape 34"/>
          <p:cNvSpPr/>
          <p:nvPr/>
        </p:nvSpPr>
        <p:spPr>
          <a:xfrm>
            <a:off x="7893059" y="4032837"/>
            <a:ext cx="420624" cy="420624"/>
          </a:xfrm>
          <a:prstGeom prst="ellipse">
            <a:avLst/>
          </a:prstGeom>
          <a:solidFill>
            <a:srgbClr val="EEF2F7"/>
          </a:solidFill>
          <a:ln w="12700">
            <a:solidFill>
              <a:srgbClr val="EEF2F7"/>
            </a:solidFill>
            <a:prstDash val="solid"/>
          </a:ln>
        </p:spPr>
      </p:sp>
      <p:sp>
        <p:nvSpPr>
          <p:cNvPr id="37" name="Icono settings"/>
          <p:cNvSpPr/>
          <p:nvPr/>
        </p:nvSpPr>
        <p:spPr>
          <a:xfrm>
            <a:off x="7947923" y="4087701"/>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A9B4C6"/>
            </a:solidFill>
            <a:prstDash val="solid"/>
            <a:round/>
          </a:ln>
        </p:spPr>
      </p:sp>
      <p:sp>
        <p:nvSpPr>
          <p:cNvPr id="38" name="Text 36"/>
          <p:cNvSpPr/>
          <p:nvPr/>
        </p:nvSpPr>
        <p:spPr>
          <a:xfrm>
            <a:off x="8368547" y="3901994"/>
            <a:ext cx="1532867"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Spring</a:t>
            </a:r>
            <a:endParaRPr lang="en-US" sz="1060" dirty="0"/>
          </a:p>
          <a:p>
            <a:pPr algn="l" indent="0" marL="0">
              <a:lnSpc>
                <a:spcPct val="95000"/>
              </a:lnSpc>
              <a:buNone/>
            </a:pPr>
            <a:r>
              <a:rPr lang="en-US" sz="848" dirty="0">
                <a:solidFill>
                  <a:srgbClr val="9AA5B8"/>
                </a:solidFill>
                <a:latin typeface="Segoe UI" pitchFamily="34" charset="0"/>
                <a:ea typeface="Segoe UI" pitchFamily="34" charset="-122"/>
                <a:cs typeface="Segoe UI" pitchFamily="34" charset="-120"/>
              </a:rPr>
              <a:t>elige la implementación @Primary</a:t>
            </a:r>
            <a:endParaRPr lang="en-US" sz="1060" dirty="0"/>
          </a:p>
        </p:txBody>
      </p:sp>
      <p:sp>
        <p:nvSpPr>
          <p:cNvPr id="39" name="Shape 3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0" name="Text 3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1" name="Text 3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Cuando la aplicación corre, la llamada sí llega al adaptador.</a:t>
            </a:r>
            <a:endParaRPr lang="en-US" sz="1300" dirty="0"/>
          </a:p>
        </p:txBody>
      </p:sp>
      <p:sp>
        <p:nvSpPr>
          <p:cNvPr id="42" name="Text 4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888755" y="1478003"/>
            <a:ext cx="5027537"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5403" y="1478003"/>
            <a:ext cx="5027537" cy="3591098"/>
          </a:xfrm>
          <a:prstGeom prst="roundRect">
            <a:avLst>
              <a:gd name="adj" fmla="val 3056"/>
            </a:avLst>
          </a:prstGeom>
          <a:solidFill>
            <a:srgbClr val="E3F4FA"/>
          </a:solidFill>
          <a:ln w="22225">
            <a:solidFill>
              <a:srgbClr val="2BA6CB"/>
            </a:solidFill>
            <a:prstDash val="solid"/>
          </a:ln>
        </p:spPr>
      </p:sp>
      <p:sp>
        <p:nvSpPr>
          <p:cNvPr id="8" name="Text 6"/>
          <p:cNvSpPr/>
          <p:nvPr/>
        </p:nvSpPr>
        <p:spPr>
          <a:xfrm>
            <a:off x="6348555" y="1532867"/>
            <a:ext cx="18897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74082" y="2627154"/>
            <a:ext cx="1885327" cy="0"/>
          </a:xfrm>
          <a:prstGeom prst="line">
            <a:avLst/>
          </a:prstGeom>
          <a:noFill/>
          <a:ln w="22860">
            <a:solidFill>
              <a:srgbClr val="1F4E8C"/>
            </a:solidFill>
            <a:prstDash val="lgDash"/>
          </a:ln>
        </p:spPr>
      </p:sp>
      <p:sp>
        <p:nvSpPr>
          <p:cNvPr id="10" name="Shape 8"/>
          <p:cNvSpPr/>
          <p:nvPr/>
        </p:nvSpPr>
        <p:spPr>
          <a:xfrm>
            <a:off x="4659408" y="2627154"/>
            <a:ext cx="0" cy="466843"/>
          </a:xfrm>
          <a:prstGeom prst="line">
            <a:avLst/>
          </a:prstGeom>
          <a:noFill/>
          <a:ln w="22860">
            <a:solidFill>
              <a:srgbClr val="1F4E8C"/>
            </a:solidFill>
            <a:prstDash val="lgDash"/>
            <a:tailEnd type="arrow"/>
          </a:ln>
        </p:spPr>
      </p:sp>
      <p:sp>
        <p:nvSpPr>
          <p:cNvPr id="11" name="Text 9"/>
          <p:cNvSpPr/>
          <p:nvPr/>
        </p:nvSpPr>
        <p:spPr>
          <a:xfrm>
            <a:off x="3553639" y="2390907"/>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79820" y="251742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74082" y="4243149"/>
            <a:ext cx="1885327" cy="0"/>
          </a:xfrm>
          <a:prstGeom prst="line">
            <a:avLst/>
          </a:prstGeom>
          <a:noFill/>
          <a:ln w="22860">
            <a:solidFill>
              <a:srgbClr val="1F4E8C"/>
            </a:solidFill>
            <a:prstDash val="lgDash"/>
          </a:ln>
        </p:spPr>
      </p:sp>
      <p:sp>
        <p:nvSpPr>
          <p:cNvPr id="14" name="Shape 12"/>
          <p:cNvSpPr/>
          <p:nvPr/>
        </p:nvSpPr>
        <p:spPr>
          <a:xfrm flipV="1">
            <a:off x="4659408" y="3776306"/>
            <a:ext cx="0" cy="466843"/>
          </a:xfrm>
          <a:prstGeom prst="line">
            <a:avLst/>
          </a:prstGeom>
          <a:noFill/>
          <a:ln w="22860">
            <a:solidFill>
              <a:srgbClr val="1F4E8C"/>
            </a:solidFill>
            <a:prstDash val="lgDash"/>
            <a:tailEnd type="arrow"/>
          </a:ln>
        </p:spPr>
      </p:sp>
      <p:sp>
        <p:nvSpPr>
          <p:cNvPr id="15" name="Text 13"/>
          <p:cNvSpPr/>
          <p:nvPr/>
        </p:nvSpPr>
        <p:spPr>
          <a:xfrm>
            <a:off x="3322410" y="4258278"/>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79820" y="413342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50507" y="2627154"/>
            <a:ext cx="1077329" cy="0"/>
          </a:xfrm>
          <a:prstGeom prst="line">
            <a:avLst/>
          </a:prstGeom>
          <a:noFill/>
          <a:ln w="31750">
            <a:solidFill>
              <a:srgbClr val="55627E"/>
            </a:solidFill>
            <a:prstDash val="sysDot"/>
            <a:tailEnd type="triangle"/>
          </a:ln>
        </p:spPr>
      </p:sp>
      <p:sp>
        <p:nvSpPr>
          <p:cNvPr id="18" name="Text 16"/>
          <p:cNvSpPr/>
          <p:nvPr/>
        </p:nvSpPr>
        <p:spPr>
          <a:xfrm>
            <a:off x="8394836" y="2390907"/>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56244" y="25174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42509" y="4243149"/>
            <a:ext cx="359110" cy="0"/>
          </a:xfrm>
          <a:prstGeom prst="line">
            <a:avLst/>
          </a:prstGeom>
          <a:noFill/>
          <a:ln w="38735">
            <a:solidFill>
              <a:srgbClr val="2BA6CB"/>
            </a:solidFill>
            <a:prstDash val="lgDash"/>
          </a:ln>
        </p:spPr>
      </p:sp>
      <p:sp>
        <p:nvSpPr>
          <p:cNvPr id="21" name="Shape 19"/>
          <p:cNvSpPr/>
          <p:nvPr/>
        </p:nvSpPr>
        <p:spPr>
          <a:xfrm flipV="1">
            <a:off x="7442509" y="2968309"/>
            <a:ext cx="0" cy="1274840"/>
          </a:xfrm>
          <a:prstGeom prst="line">
            <a:avLst/>
          </a:prstGeom>
          <a:noFill/>
          <a:ln w="38735">
            <a:solidFill>
              <a:srgbClr val="2BA6CB"/>
            </a:solidFill>
            <a:prstDash val="lgDash"/>
            <a:tailEnd type="arrow"/>
          </a:ln>
        </p:spPr>
      </p:sp>
      <p:sp>
        <p:nvSpPr>
          <p:cNvPr id="22" name="Text 20"/>
          <p:cNvSpPr/>
          <p:nvPr/>
        </p:nvSpPr>
        <p:spPr>
          <a:xfrm>
            <a:off x="7147273" y="3620858"/>
            <a:ext cx="590474"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12336" y="413342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58088" y="2286000"/>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caso de uso</a:t>
            </a:r>
            <a:endParaRPr lang="en-US" sz="933" dirty="0"/>
          </a:p>
        </p:txBody>
      </p:sp>
      <p:sp>
        <p:nvSpPr>
          <p:cNvPr id="25" name="Shape 23"/>
          <p:cNvSpPr/>
          <p:nvPr/>
        </p:nvSpPr>
        <p:spPr>
          <a:xfrm>
            <a:off x="1158088" y="3901994"/>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249528" y="4032837"/>
            <a:ext cx="420624" cy="420624"/>
          </a:xfrm>
          <a:prstGeom prst="ellipse">
            <a:avLst/>
          </a:prstGeom>
          <a:solidFill>
            <a:srgbClr val="E2E5EA"/>
          </a:solidFill>
          <a:ln w="12700">
            <a:solidFill>
              <a:srgbClr val="E2E5EA"/>
            </a:solidFill>
            <a:prstDash val="solid"/>
          </a:ln>
        </p:spPr>
      </p:sp>
      <p:sp>
        <p:nvSpPr>
          <p:cNvPr id="27" name="Icono save"/>
          <p:cNvSpPr/>
          <p:nvPr/>
        </p:nvSpPr>
        <p:spPr>
          <a:xfrm>
            <a:off x="1304392" y="4087701"/>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28" name="Text 26"/>
          <p:cNvSpPr/>
          <p:nvPr/>
        </p:nvSpPr>
        <p:spPr>
          <a:xfrm>
            <a:off x="1725016" y="3901994"/>
            <a:ext cx="994202" cy="682309"/>
          </a:xfrm>
          <a:prstGeom prst="rect">
            <a:avLst/>
          </a:prstGeom>
          <a:noFill/>
          <a:ln/>
        </p:spPr>
        <p:txBody>
          <a:bodyPr wrap="square" lIns="12700" tIns="25400" rIns="25400" bIns="12700" rtlCol="0" anchor="ctr">
            <a:normAutofit/>
          </a:bodyPr>
          <a:lstStyle/>
          <a:p>
            <a:pPr algn="l" indent="0" marL="0">
              <a:lnSpc>
                <a:spcPct val="95000"/>
              </a:lnSpc>
              <a:buNone/>
            </a:pPr>
            <a:r>
              <a:rPr lang="en-US" sz="891" b="1" dirty="0">
                <a:solidFill>
                  <a:srgbClr val="0B1A3C"/>
                </a:solidFill>
                <a:latin typeface="Segoe UI" pitchFamily="34" charset="0"/>
                <a:ea typeface="Segoe UI" pitchFamily="34" charset="-122"/>
                <a:cs typeface="Segoe UI" pitchFamily="34" charset="-120"/>
              </a:rPr>
              <a:t>RepositorioJpa</a:t>
            </a:r>
            <a:endParaRPr lang="en-US" sz="891" dirty="0"/>
          </a:p>
          <a:p>
            <a:pPr algn="l" indent="0" marL="0">
              <a:lnSpc>
                <a:spcPct val="95000"/>
              </a:lnSpc>
              <a:buNone/>
            </a:pPr>
            <a:r>
              <a:rPr lang="en-US" sz="713" dirty="0">
                <a:solidFill>
                  <a:srgbClr val="55627E"/>
                </a:solidFill>
                <a:latin typeface="Segoe UI" pitchFamily="34" charset="0"/>
                <a:ea typeface="Segoe UI" pitchFamily="34" charset="-122"/>
                <a:cs typeface="Segoe UI" pitchFamily="34" charset="-120"/>
              </a:rPr>
              <a:t>adaptador</a:t>
            </a:r>
            <a:endParaRPr lang="en-US" sz="891" dirty="0"/>
          </a:p>
        </p:txBody>
      </p:sp>
      <p:sp>
        <p:nvSpPr>
          <p:cNvPr id="29" name="Text 27"/>
          <p:cNvSpPr/>
          <p:nvPr/>
        </p:nvSpPr>
        <p:spPr>
          <a:xfrm>
            <a:off x="3761634" y="3093997"/>
            <a:ext cx="1795549" cy="682309"/>
          </a:xfrm>
          <a:prstGeom prst="roundRect">
            <a:avLst>
              <a:gd name="adj" fmla="val 12061"/>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46" i="1" dirty="0">
                <a:solidFill>
                  <a:srgbClr val="55627E"/>
                </a:solidFill>
                <a:latin typeface="Segoe UI" pitchFamily="34" charset="0"/>
                <a:ea typeface="Segoe UI" pitchFamily="34" charset="-122"/>
                <a:cs typeface="Segoe UI" pitchFamily="34" charset="-120"/>
              </a:rPr>
              <a:t>«interfaz»</a:t>
            </a:r>
            <a:endParaRPr lang="en-US" sz="746" dirty="0"/>
          </a:p>
          <a:p>
            <a:pPr algn="ctr" indent="0" marL="0">
              <a:buNone/>
            </a:pPr>
            <a:r>
              <a:rPr lang="en-US" sz="933" b="1" dirty="0">
                <a:solidFill>
                  <a:srgbClr val="0B1A3C"/>
                </a:solidFill>
                <a:latin typeface="Segoe UI" pitchFamily="34" charset="0"/>
                <a:ea typeface="Segoe UI" pitchFamily="34" charset="-122"/>
                <a:cs typeface="Segoe UI" pitchFamily="34" charset="-120"/>
              </a:rPr>
              <a:t>RepositorioDeSolicitudes</a:t>
            </a:r>
            <a:endParaRPr lang="en-US" sz="746" dirty="0"/>
          </a:p>
          <a:p>
            <a:pPr algn="ctr" indent="0" marL="0">
              <a:buNone/>
            </a:pPr>
            <a:r>
              <a:rPr lang="en-US" sz="746" dirty="0">
                <a:solidFill>
                  <a:srgbClr val="55627E"/>
                </a:solidFill>
                <a:latin typeface="Segoe UI" pitchFamily="34" charset="0"/>
                <a:ea typeface="Segoe UI" pitchFamily="34" charset="-122"/>
                <a:cs typeface="Segoe UI" pitchFamily="34" charset="-120"/>
              </a:rPr>
              <a:t>interfaz</a:t>
            </a:r>
            <a:endParaRPr lang="en-US" sz="746" dirty="0"/>
          </a:p>
        </p:txBody>
      </p:sp>
      <p:sp>
        <p:nvSpPr>
          <p:cNvPr id="30" name="Text 28"/>
          <p:cNvSpPr/>
          <p:nvPr/>
        </p:nvSpPr>
        <p:spPr>
          <a:xfrm>
            <a:off x="6634512" y="2286000"/>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en ejecución</a:t>
            </a:r>
            <a:endParaRPr lang="en-US" sz="933" dirty="0"/>
          </a:p>
        </p:txBody>
      </p:sp>
      <p:sp>
        <p:nvSpPr>
          <p:cNvPr id="31" name="Shape 29"/>
          <p:cNvSpPr/>
          <p:nvPr/>
        </p:nvSpPr>
        <p:spPr>
          <a:xfrm>
            <a:off x="9327836" y="2286000"/>
            <a:ext cx="1705772"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9419276" y="2416842"/>
            <a:ext cx="420624" cy="420624"/>
          </a:xfrm>
          <a:prstGeom prst="ellipse">
            <a:avLst/>
          </a:prstGeom>
          <a:solidFill>
            <a:srgbClr val="E2E5EA"/>
          </a:solidFill>
          <a:ln w="12700">
            <a:solidFill>
              <a:srgbClr val="E2E5EA"/>
            </a:solidFill>
            <a:prstDash val="solid"/>
          </a:ln>
        </p:spPr>
      </p:sp>
      <p:sp>
        <p:nvSpPr>
          <p:cNvPr id="33" name="Icono save"/>
          <p:cNvSpPr/>
          <p:nvPr/>
        </p:nvSpPr>
        <p:spPr>
          <a:xfrm>
            <a:off x="9474140" y="2471706"/>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34" name="Text 32"/>
          <p:cNvSpPr/>
          <p:nvPr/>
        </p:nvSpPr>
        <p:spPr>
          <a:xfrm>
            <a:off x="9894764" y="2286000"/>
            <a:ext cx="1083980" cy="682309"/>
          </a:xfrm>
          <a:prstGeom prst="rect">
            <a:avLst/>
          </a:prstGeom>
          <a:noFill/>
          <a:ln/>
        </p:spPr>
        <p:txBody>
          <a:bodyPr wrap="square" lIns="12700" tIns="25400" rIns="25400" bIns="12700" rtlCol="0" anchor="ctr">
            <a:normAutofit/>
          </a:bodyPr>
          <a:lstStyle/>
          <a:p>
            <a:pPr algn="l" indent="0" marL="0">
              <a:lnSpc>
                <a:spcPct val="95000"/>
              </a:lnSpc>
              <a:buNone/>
            </a:pPr>
            <a:r>
              <a:rPr lang="en-US" sz="976" b="1" dirty="0">
                <a:solidFill>
                  <a:srgbClr val="0B1A3C"/>
                </a:solidFill>
                <a:latin typeface="Segoe UI" pitchFamily="34" charset="0"/>
                <a:ea typeface="Segoe UI" pitchFamily="34" charset="-122"/>
                <a:cs typeface="Segoe UI" pitchFamily="34" charset="-120"/>
              </a:rPr>
              <a:t>RepositorioJpa</a:t>
            </a:r>
            <a:endParaRPr lang="en-US" sz="976" dirty="0"/>
          </a:p>
          <a:p>
            <a:pPr algn="l" indent="0" marL="0">
              <a:lnSpc>
                <a:spcPct val="95000"/>
              </a:lnSpc>
              <a:buNone/>
            </a:pPr>
            <a:r>
              <a:rPr lang="en-US" sz="780" dirty="0">
                <a:solidFill>
                  <a:srgbClr val="55627E"/>
                </a:solidFill>
                <a:latin typeface="Segoe UI" pitchFamily="34" charset="0"/>
                <a:ea typeface="Segoe UI" pitchFamily="34" charset="-122"/>
                <a:cs typeface="Segoe UI" pitchFamily="34" charset="-120"/>
              </a:rPr>
              <a:t>@Repository @Primary</a:t>
            </a:r>
            <a:endParaRPr lang="en-US" sz="976" dirty="0"/>
          </a:p>
        </p:txBody>
      </p:sp>
      <p:sp>
        <p:nvSpPr>
          <p:cNvPr id="35" name="Shape 33"/>
          <p:cNvSpPr/>
          <p:nvPr/>
        </p:nvSpPr>
        <p:spPr>
          <a:xfrm>
            <a:off x="7801619" y="3901994"/>
            <a:ext cx="2154659"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7893059" y="4032837"/>
            <a:ext cx="420624" cy="420624"/>
          </a:xfrm>
          <a:prstGeom prst="ellipse">
            <a:avLst/>
          </a:prstGeom>
          <a:solidFill>
            <a:srgbClr val="E3F4FA"/>
          </a:solidFill>
          <a:ln w="12700">
            <a:solidFill>
              <a:srgbClr val="E3F4FA"/>
            </a:solidFill>
            <a:prstDash val="solid"/>
          </a:ln>
        </p:spPr>
      </p:sp>
      <p:sp>
        <p:nvSpPr>
          <p:cNvPr id="37" name="Icono settings"/>
          <p:cNvSpPr/>
          <p:nvPr/>
        </p:nvSpPr>
        <p:spPr>
          <a:xfrm>
            <a:off x="7947923" y="4087701"/>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0B6E8A"/>
            </a:solidFill>
            <a:prstDash val="solid"/>
            <a:round/>
          </a:ln>
        </p:spPr>
      </p:sp>
      <p:sp>
        <p:nvSpPr>
          <p:cNvPr id="38" name="Text 36"/>
          <p:cNvSpPr/>
          <p:nvPr/>
        </p:nvSpPr>
        <p:spPr>
          <a:xfrm>
            <a:off x="8368547" y="3901994"/>
            <a:ext cx="1532867"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Spring</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elige la implementación @Primary</a:t>
            </a:r>
            <a:endParaRPr lang="en-US" sz="1060" dirty="0"/>
          </a:p>
        </p:txBody>
      </p:sp>
      <p:sp>
        <p:nvSpPr>
          <p:cNvPr id="39" name="Shape 3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0" name="Text 3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1" name="Text 3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Spring elige cuál usar: el que está marcado con @Primary, hoy el que guarda en PostgreSQL.</a:t>
            </a:r>
            <a:endParaRPr lang="en-US" sz="1300" dirty="0"/>
          </a:p>
        </p:txBody>
      </p:sp>
      <p:sp>
        <p:nvSpPr>
          <p:cNvPr id="42" name="Text 4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Separamos por responsabilidad</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trámite y los avisos cambian por motivos distintos</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es dueño de su base</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hablan con un contrato: el evento</a:t>
            </a:r>
            <a:endParaRPr lang="en-US" sz="1100" dirty="0"/>
          </a:p>
        </p:txBody>
      </p:sp>
      <p:sp>
        <p:nvSpPr>
          <p:cNvPr id="9" name="Shape 7"/>
          <p:cNvSpPr/>
          <p:nvPr/>
        </p:nvSpPr>
        <p:spPr>
          <a:xfrm>
            <a:off x="795421" y="2245919"/>
            <a:ext cx="4934880"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868573" y="2300783"/>
            <a:ext cx="23774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11" name="Shape 9"/>
          <p:cNvSpPr/>
          <p:nvPr/>
        </p:nvSpPr>
        <p:spPr>
          <a:xfrm>
            <a:off x="6461394" y="2245919"/>
            <a:ext cx="4934880"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534546" y="2300783"/>
            <a:ext cx="24587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13" name="Shape 11"/>
          <p:cNvSpPr/>
          <p:nvPr/>
        </p:nvSpPr>
        <p:spPr>
          <a:xfrm>
            <a:off x="3262861" y="3580164"/>
            <a:ext cx="0" cy="1224581"/>
          </a:xfrm>
          <a:prstGeom prst="line">
            <a:avLst/>
          </a:prstGeom>
          <a:noFill/>
          <a:ln w="31750">
            <a:solidFill>
              <a:srgbClr val="55627E"/>
            </a:solidFill>
            <a:prstDash val="sysDot"/>
            <a:tailEnd type="triangle"/>
          </a:ln>
        </p:spPr>
      </p:sp>
      <p:sp>
        <p:nvSpPr>
          <p:cNvPr id="14" name="Text 12"/>
          <p:cNvSpPr/>
          <p:nvPr/>
        </p:nvSpPr>
        <p:spPr>
          <a:xfrm>
            <a:off x="3354248" y="4073561"/>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5" name="Text 13"/>
          <p:cNvSpPr/>
          <p:nvPr/>
        </p:nvSpPr>
        <p:spPr>
          <a:xfrm>
            <a:off x="3153133" y="368976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8746061" y="3232895"/>
            <a:ext cx="456933" cy="0"/>
          </a:xfrm>
          <a:prstGeom prst="line">
            <a:avLst/>
          </a:prstGeom>
          <a:noFill/>
          <a:ln w="25400">
            <a:solidFill>
              <a:srgbClr val="55627E"/>
            </a:solidFill>
            <a:prstDash val="dash"/>
            <a:tailEnd type="triangle"/>
          </a:ln>
        </p:spPr>
      </p:sp>
      <p:sp>
        <p:nvSpPr>
          <p:cNvPr id="17" name="Text 15"/>
          <p:cNvSpPr/>
          <p:nvPr/>
        </p:nvSpPr>
        <p:spPr>
          <a:xfrm>
            <a:off x="8712323" y="2995199"/>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8" name="Text 16"/>
          <p:cNvSpPr/>
          <p:nvPr/>
        </p:nvSpPr>
        <p:spPr>
          <a:xfrm>
            <a:off x="8855661" y="312316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9" name="Shape 17"/>
          <p:cNvSpPr/>
          <p:nvPr/>
        </p:nvSpPr>
        <p:spPr>
          <a:xfrm>
            <a:off x="7786501" y="3580164"/>
            <a:ext cx="0" cy="1224581"/>
          </a:xfrm>
          <a:prstGeom prst="line">
            <a:avLst/>
          </a:prstGeom>
          <a:noFill/>
          <a:ln w="31750">
            <a:solidFill>
              <a:srgbClr val="55627E"/>
            </a:solidFill>
            <a:prstDash val="sysDot"/>
            <a:tailEnd type="triangle"/>
          </a:ln>
        </p:spPr>
      </p:sp>
      <p:sp>
        <p:nvSpPr>
          <p:cNvPr id="20" name="Text 18"/>
          <p:cNvSpPr/>
          <p:nvPr/>
        </p:nvSpPr>
        <p:spPr>
          <a:xfrm>
            <a:off x="7676773" y="368976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1" name="Shape 19"/>
          <p:cNvSpPr/>
          <p:nvPr/>
        </p:nvSpPr>
        <p:spPr>
          <a:xfrm>
            <a:off x="10162554" y="3580164"/>
            <a:ext cx="0" cy="1224581"/>
          </a:xfrm>
          <a:prstGeom prst="line">
            <a:avLst/>
          </a:prstGeom>
          <a:noFill/>
          <a:ln w="31750">
            <a:solidFill>
              <a:srgbClr val="55627E"/>
            </a:solidFill>
            <a:prstDash val="sysDot"/>
            <a:tailEnd type="triangle"/>
          </a:ln>
        </p:spPr>
      </p:sp>
      <p:sp>
        <p:nvSpPr>
          <p:cNvPr id="22" name="Text 20"/>
          <p:cNvSpPr/>
          <p:nvPr/>
        </p:nvSpPr>
        <p:spPr>
          <a:xfrm>
            <a:off x="10052826" y="368976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Shape 21"/>
          <p:cNvSpPr/>
          <p:nvPr/>
        </p:nvSpPr>
        <p:spPr>
          <a:xfrm>
            <a:off x="1160968" y="2885625"/>
            <a:ext cx="4203786"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1252408" y="3022583"/>
            <a:ext cx="420624" cy="420624"/>
          </a:xfrm>
          <a:prstGeom prst="ellipse">
            <a:avLst/>
          </a:prstGeom>
          <a:solidFill>
            <a:srgbClr val="E2E5EA"/>
          </a:solidFill>
          <a:ln w="12700">
            <a:solidFill>
              <a:srgbClr val="E2E5EA"/>
            </a:solidFill>
            <a:prstDash val="solid"/>
          </a:ln>
        </p:spPr>
      </p:sp>
      <p:sp>
        <p:nvSpPr>
          <p:cNvPr id="25" name="Icono box"/>
          <p:cNvSpPr/>
          <p:nvPr/>
        </p:nvSpPr>
        <p:spPr>
          <a:xfrm>
            <a:off x="1307272" y="3077447"/>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26" name="Text 24"/>
          <p:cNvSpPr/>
          <p:nvPr/>
        </p:nvSpPr>
        <p:spPr>
          <a:xfrm>
            <a:off x="1727896" y="2885625"/>
            <a:ext cx="3581994"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Una aplicación</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trámites y avisos en el mismo proceso</a:t>
            </a:r>
            <a:endParaRPr lang="en-US" sz="1079" dirty="0"/>
          </a:p>
        </p:txBody>
      </p:sp>
      <p:sp>
        <p:nvSpPr>
          <p:cNvPr id="27" name="Shape 25"/>
          <p:cNvSpPr/>
          <p:nvPr/>
        </p:nvSpPr>
        <p:spPr>
          <a:xfrm>
            <a:off x="2257608" y="4804745"/>
            <a:ext cx="2010507"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2349048" y="4941703"/>
            <a:ext cx="420624" cy="420624"/>
          </a:xfrm>
          <a:prstGeom prst="ellipse">
            <a:avLst/>
          </a:prstGeom>
          <a:solidFill>
            <a:srgbClr val="E8EBEE"/>
          </a:solidFill>
          <a:ln w="12700">
            <a:solidFill>
              <a:srgbClr val="E8EBEE"/>
            </a:solidFill>
            <a:prstDash val="solid"/>
          </a:ln>
        </p:spPr>
      </p:sp>
      <p:sp>
        <p:nvSpPr>
          <p:cNvPr id="29" name="Icono database"/>
          <p:cNvSpPr/>
          <p:nvPr/>
        </p:nvSpPr>
        <p:spPr>
          <a:xfrm>
            <a:off x="2403912" y="499656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0" name="Text 28"/>
          <p:cNvSpPr/>
          <p:nvPr/>
        </p:nvSpPr>
        <p:spPr>
          <a:xfrm>
            <a:off x="2824536" y="480474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Una base</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tablas de todos</a:t>
            </a:r>
            <a:endParaRPr lang="en-US" sz="1079" dirty="0"/>
          </a:p>
        </p:txBody>
      </p:sp>
      <p:sp>
        <p:nvSpPr>
          <p:cNvPr id="31" name="Shape 29"/>
          <p:cNvSpPr/>
          <p:nvPr/>
        </p:nvSpPr>
        <p:spPr>
          <a:xfrm>
            <a:off x="6826941" y="2885625"/>
            <a:ext cx="191912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918381" y="3022583"/>
            <a:ext cx="420624" cy="420624"/>
          </a:xfrm>
          <a:prstGeom prst="ellipse">
            <a:avLst/>
          </a:prstGeom>
          <a:solidFill>
            <a:srgbClr val="E2E5EA"/>
          </a:solidFill>
          <a:ln w="12700">
            <a:solidFill>
              <a:srgbClr val="E2E5EA"/>
            </a:solidFill>
            <a:prstDash val="solid"/>
          </a:ln>
        </p:spPr>
      </p:sp>
      <p:sp>
        <p:nvSpPr>
          <p:cNvPr id="33" name="Icono clipboard-list"/>
          <p:cNvSpPr/>
          <p:nvPr/>
        </p:nvSpPr>
        <p:spPr>
          <a:xfrm>
            <a:off x="6973245" y="3077447"/>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2350"/>
            </a:solidFill>
            <a:prstDash val="solid"/>
            <a:round/>
          </a:ln>
        </p:spPr>
      </p:sp>
      <p:sp>
        <p:nvSpPr>
          <p:cNvPr id="34" name="Text 32"/>
          <p:cNvSpPr/>
          <p:nvPr/>
        </p:nvSpPr>
        <p:spPr>
          <a:xfrm>
            <a:off x="7393869" y="288562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el trámite</a:t>
            </a:r>
            <a:endParaRPr lang="en-US" sz="1079" dirty="0"/>
          </a:p>
        </p:txBody>
      </p:sp>
      <p:sp>
        <p:nvSpPr>
          <p:cNvPr id="35" name="Shape 33"/>
          <p:cNvSpPr/>
          <p:nvPr/>
        </p:nvSpPr>
        <p:spPr>
          <a:xfrm>
            <a:off x="9202994" y="2885625"/>
            <a:ext cx="191912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294434" y="3022583"/>
            <a:ext cx="420624" cy="420624"/>
          </a:xfrm>
          <a:prstGeom prst="ellipse">
            <a:avLst/>
          </a:prstGeom>
          <a:solidFill>
            <a:srgbClr val="E2E5EA"/>
          </a:solidFill>
          <a:ln w="12700">
            <a:solidFill>
              <a:srgbClr val="E2E5EA"/>
            </a:solidFill>
            <a:prstDash val="solid"/>
          </a:ln>
        </p:spPr>
      </p:sp>
      <p:sp>
        <p:nvSpPr>
          <p:cNvPr id="37" name="Icono bell"/>
          <p:cNvSpPr/>
          <p:nvPr/>
        </p:nvSpPr>
        <p:spPr>
          <a:xfrm>
            <a:off x="9349298" y="3077447"/>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38" name="Text 36"/>
          <p:cNvSpPr/>
          <p:nvPr/>
        </p:nvSpPr>
        <p:spPr>
          <a:xfrm>
            <a:off x="9769922" y="288562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notificaciones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los avisos</a:t>
            </a:r>
            <a:endParaRPr lang="en-US" sz="1079" dirty="0"/>
          </a:p>
        </p:txBody>
      </p:sp>
      <p:sp>
        <p:nvSpPr>
          <p:cNvPr id="39" name="Shape 37"/>
          <p:cNvSpPr/>
          <p:nvPr/>
        </p:nvSpPr>
        <p:spPr>
          <a:xfrm>
            <a:off x="6826941" y="4804745"/>
            <a:ext cx="1919120"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6918381" y="4941703"/>
            <a:ext cx="420624" cy="420624"/>
          </a:xfrm>
          <a:prstGeom prst="ellipse">
            <a:avLst/>
          </a:prstGeom>
          <a:solidFill>
            <a:srgbClr val="E8EBEE"/>
          </a:solidFill>
          <a:ln w="12700">
            <a:solidFill>
              <a:srgbClr val="E8EBEE"/>
            </a:solidFill>
            <a:prstDash val="solid"/>
          </a:ln>
        </p:spPr>
      </p:sp>
      <p:sp>
        <p:nvSpPr>
          <p:cNvPr id="41" name="Icono database"/>
          <p:cNvSpPr/>
          <p:nvPr/>
        </p:nvSpPr>
        <p:spPr>
          <a:xfrm>
            <a:off x="6973245" y="499656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2" name="Text 40"/>
          <p:cNvSpPr/>
          <p:nvPr/>
        </p:nvSpPr>
        <p:spPr>
          <a:xfrm>
            <a:off x="7393869" y="480474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db-solicitudes</a:t>
            </a:r>
            <a:endParaRPr lang="en-US" sz="1079" dirty="0"/>
          </a:p>
        </p:txBody>
      </p:sp>
      <p:sp>
        <p:nvSpPr>
          <p:cNvPr id="43" name="Shape 41"/>
          <p:cNvSpPr/>
          <p:nvPr/>
        </p:nvSpPr>
        <p:spPr>
          <a:xfrm>
            <a:off x="9202994" y="4804745"/>
            <a:ext cx="1919120"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9294434" y="4941703"/>
            <a:ext cx="420624" cy="420624"/>
          </a:xfrm>
          <a:prstGeom prst="ellipse">
            <a:avLst/>
          </a:prstGeom>
          <a:solidFill>
            <a:srgbClr val="E8EBEE"/>
          </a:solidFill>
          <a:ln w="12700">
            <a:solidFill>
              <a:srgbClr val="E8EBEE"/>
            </a:solidFill>
            <a:prstDash val="solid"/>
          </a:ln>
        </p:spPr>
      </p:sp>
      <p:sp>
        <p:nvSpPr>
          <p:cNvPr id="45" name="Icono database"/>
          <p:cNvSpPr/>
          <p:nvPr/>
        </p:nvSpPr>
        <p:spPr>
          <a:xfrm>
            <a:off x="9349298" y="499656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6" name="Text 44"/>
          <p:cNvSpPr/>
          <p:nvPr/>
        </p:nvSpPr>
        <p:spPr>
          <a:xfrm>
            <a:off x="9769922" y="480474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db-notificaciones</a:t>
            </a:r>
            <a:endParaRPr lang="en-US" sz="993"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888755" y="1478003"/>
            <a:ext cx="4847983" cy="3591098"/>
          </a:xfrm>
          <a:prstGeom prst="roundRect">
            <a:avLst>
              <a:gd name="adj" fmla="val 3056"/>
            </a:avLst>
          </a:prstGeom>
          <a:solidFill>
            <a:srgbClr val="E3F4FA"/>
          </a:solidFill>
          <a:ln w="22225">
            <a:solidFill>
              <a:srgbClr val="2BA6CB"/>
            </a:solidFill>
            <a:prstDash val="solid"/>
          </a:ln>
        </p:spPr>
      </p:sp>
      <p:sp>
        <p:nvSpPr>
          <p:cNvPr id="6" name="Text 4"/>
          <p:cNvSpPr/>
          <p:nvPr/>
        </p:nvSpPr>
        <p:spPr>
          <a:xfrm>
            <a:off x="961907" y="1532867"/>
            <a:ext cx="23774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4957" y="1478003"/>
            <a:ext cx="4847983" cy="3591098"/>
          </a:xfrm>
          <a:prstGeom prst="roundRect">
            <a:avLst>
              <a:gd name="adj" fmla="val 3056"/>
            </a:avLst>
          </a:prstGeom>
          <a:solidFill>
            <a:srgbClr val="E3F4FA"/>
          </a:solidFill>
          <a:ln w="22225">
            <a:solidFill>
              <a:srgbClr val="2BA6CB"/>
            </a:solidFill>
            <a:prstDash val="solid"/>
          </a:ln>
        </p:spPr>
      </p:sp>
      <p:sp>
        <p:nvSpPr>
          <p:cNvPr id="8" name="Text 6"/>
          <p:cNvSpPr/>
          <p:nvPr/>
        </p:nvSpPr>
        <p:spPr>
          <a:xfrm>
            <a:off x="6528109" y="1532867"/>
            <a:ext cx="245872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12747" y="2788754"/>
            <a:ext cx="0" cy="1203018"/>
          </a:xfrm>
          <a:prstGeom prst="line">
            <a:avLst/>
          </a:prstGeom>
          <a:noFill/>
          <a:ln w="47625">
            <a:solidFill>
              <a:srgbClr val="2BA6CB"/>
            </a:solidFill>
            <a:prstDash val="sysDot"/>
            <a:tailEnd type="triangle"/>
          </a:ln>
        </p:spPr>
      </p:sp>
      <p:sp>
        <p:nvSpPr>
          <p:cNvPr id="10" name="Text 8"/>
          <p:cNvSpPr/>
          <p:nvPr/>
        </p:nvSpPr>
        <p:spPr>
          <a:xfrm>
            <a:off x="3402524" y="3270726"/>
            <a:ext cx="788670"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03019" y="28944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99394" y="2447599"/>
            <a:ext cx="448887" cy="0"/>
          </a:xfrm>
          <a:prstGeom prst="line">
            <a:avLst/>
          </a:prstGeom>
          <a:noFill/>
          <a:ln w="25400">
            <a:solidFill>
              <a:srgbClr val="CBD5E3"/>
            </a:solidFill>
            <a:prstDash val="dash"/>
            <a:tailEnd type="triangle"/>
          </a:ln>
        </p:spPr>
      </p:sp>
      <p:sp>
        <p:nvSpPr>
          <p:cNvPr id="13" name="Text 11"/>
          <p:cNvSpPr/>
          <p:nvPr/>
        </p:nvSpPr>
        <p:spPr>
          <a:xfrm>
            <a:off x="8661633" y="2211352"/>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805132" y="233787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56731" y="2788754"/>
            <a:ext cx="0" cy="1203018"/>
          </a:xfrm>
          <a:prstGeom prst="line">
            <a:avLst/>
          </a:prstGeom>
          <a:noFill/>
          <a:ln w="31750">
            <a:solidFill>
              <a:srgbClr val="CBD5E3"/>
            </a:solidFill>
            <a:prstDash val="sysDot"/>
            <a:tailEnd type="triangle"/>
          </a:ln>
        </p:spPr>
      </p:sp>
      <p:sp>
        <p:nvSpPr>
          <p:cNvPr id="16" name="Text 14"/>
          <p:cNvSpPr/>
          <p:nvPr/>
        </p:nvSpPr>
        <p:spPr>
          <a:xfrm>
            <a:off x="7647003" y="28944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90944" y="2788754"/>
            <a:ext cx="0" cy="1203018"/>
          </a:xfrm>
          <a:prstGeom prst="line">
            <a:avLst/>
          </a:prstGeom>
          <a:noFill/>
          <a:ln w="31750">
            <a:solidFill>
              <a:srgbClr val="CBD5E3"/>
            </a:solidFill>
            <a:prstDash val="sysDot"/>
            <a:tailEnd type="triangle"/>
          </a:ln>
        </p:spPr>
      </p:sp>
      <p:sp>
        <p:nvSpPr>
          <p:cNvPr id="18" name="Text 16"/>
          <p:cNvSpPr/>
          <p:nvPr/>
        </p:nvSpPr>
        <p:spPr>
          <a:xfrm>
            <a:off x="9981216" y="28944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9" name="Shape 17"/>
          <p:cNvSpPr/>
          <p:nvPr/>
        </p:nvSpPr>
        <p:spPr>
          <a:xfrm>
            <a:off x="1247865" y="2106445"/>
            <a:ext cx="4129763"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0" name="Shape 18"/>
          <p:cNvSpPr/>
          <p:nvPr/>
        </p:nvSpPr>
        <p:spPr>
          <a:xfrm>
            <a:off x="1339305" y="2237287"/>
            <a:ext cx="420624" cy="420624"/>
          </a:xfrm>
          <a:prstGeom prst="ellipse">
            <a:avLst/>
          </a:prstGeom>
          <a:solidFill>
            <a:srgbClr val="E3F4FA"/>
          </a:solidFill>
          <a:ln w="12700">
            <a:solidFill>
              <a:srgbClr val="E3F4FA"/>
            </a:solidFill>
            <a:prstDash val="solid"/>
          </a:ln>
        </p:spPr>
      </p:sp>
      <p:sp>
        <p:nvSpPr>
          <p:cNvPr id="21" name="Icono box"/>
          <p:cNvSpPr/>
          <p:nvPr/>
        </p:nvSpPr>
        <p:spPr>
          <a:xfrm>
            <a:off x="1394169" y="2292151"/>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6E8A"/>
            </a:solidFill>
            <a:prstDash val="solid"/>
            <a:round/>
          </a:ln>
        </p:spPr>
      </p:sp>
      <p:sp>
        <p:nvSpPr>
          <p:cNvPr id="22" name="Text 20"/>
          <p:cNvSpPr/>
          <p:nvPr/>
        </p:nvSpPr>
        <p:spPr>
          <a:xfrm>
            <a:off x="1814793" y="2106445"/>
            <a:ext cx="3507971"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aplicación</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trámites y avisos en el mismo proceso</a:t>
            </a:r>
            <a:endParaRPr lang="en-US" sz="1060" dirty="0"/>
          </a:p>
        </p:txBody>
      </p:sp>
      <p:sp>
        <p:nvSpPr>
          <p:cNvPr id="23" name="Shape 21"/>
          <p:cNvSpPr/>
          <p:nvPr/>
        </p:nvSpPr>
        <p:spPr>
          <a:xfrm>
            <a:off x="2325195" y="3991772"/>
            <a:ext cx="197510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4" name="Shape 22"/>
          <p:cNvSpPr/>
          <p:nvPr/>
        </p:nvSpPr>
        <p:spPr>
          <a:xfrm>
            <a:off x="2416635" y="4122614"/>
            <a:ext cx="420624" cy="420624"/>
          </a:xfrm>
          <a:prstGeom prst="ellipse">
            <a:avLst/>
          </a:prstGeom>
          <a:solidFill>
            <a:srgbClr val="E3F4FA"/>
          </a:solidFill>
          <a:ln w="12700">
            <a:solidFill>
              <a:srgbClr val="E3F4FA"/>
            </a:solidFill>
            <a:prstDash val="solid"/>
          </a:ln>
        </p:spPr>
      </p:sp>
      <p:sp>
        <p:nvSpPr>
          <p:cNvPr id="25" name="Icono database"/>
          <p:cNvSpPr/>
          <p:nvPr/>
        </p:nvSpPr>
        <p:spPr>
          <a:xfrm>
            <a:off x="2471499"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26" name="Text 24"/>
          <p:cNvSpPr/>
          <p:nvPr/>
        </p:nvSpPr>
        <p:spPr>
          <a:xfrm>
            <a:off x="2892123" y="3991772"/>
            <a:ext cx="1353312"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base</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tablas de todos</a:t>
            </a:r>
            <a:endParaRPr lang="en-US" sz="1060" dirty="0"/>
          </a:p>
        </p:txBody>
      </p:sp>
      <p:sp>
        <p:nvSpPr>
          <p:cNvPr id="27" name="Shape 25"/>
          <p:cNvSpPr/>
          <p:nvPr/>
        </p:nvSpPr>
        <p:spPr>
          <a:xfrm>
            <a:off x="6814067"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8" name="Shape 26"/>
          <p:cNvSpPr/>
          <p:nvPr/>
        </p:nvSpPr>
        <p:spPr>
          <a:xfrm>
            <a:off x="6905507" y="2237287"/>
            <a:ext cx="420624" cy="420624"/>
          </a:xfrm>
          <a:prstGeom prst="ellipse">
            <a:avLst/>
          </a:prstGeom>
          <a:solidFill>
            <a:srgbClr val="E3F4FA"/>
          </a:solidFill>
          <a:ln w="12700">
            <a:solidFill>
              <a:srgbClr val="E3F4FA"/>
            </a:solidFill>
            <a:prstDash val="solid"/>
          </a:ln>
        </p:spPr>
      </p:sp>
      <p:sp>
        <p:nvSpPr>
          <p:cNvPr id="29" name="Icono clipboard-list"/>
          <p:cNvSpPr/>
          <p:nvPr/>
        </p:nvSpPr>
        <p:spPr>
          <a:xfrm>
            <a:off x="6960371" y="2292151"/>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6E8A"/>
            </a:solidFill>
            <a:prstDash val="solid"/>
            <a:round/>
          </a:ln>
        </p:spPr>
      </p:sp>
      <p:sp>
        <p:nvSpPr>
          <p:cNvPr id="30" name="Text 28"/>
          <p:cNvSpPr/>
          <p:nvPr/>
        </p:nvSpPr>
        <p:spPr>
          <a:xfrm>
            <a:off x="7380995"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solicitudes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 trámite</a:t>
            </a:r>
            <a:endParaRPr lang="en-US" sz="1060" dirty="0"/>
          </a:p>
        </p:txBody>
      </p:sp>
      <p:sp>
        <p:nvSpPr>
          <p:cNvPr id="31" name="Shape 29"/>
          <p:cNvSpPr/>
          <p:nvPr/>
        </p:nvSpPr>
        <p:spPr>
          <a:xfrm>
            <a:off x="9148281"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9239721" y="2237287"/>
            <a:ext cx="420624" cy="420624"/>
          </a:xfrm>
          <a:prstGeom prst="ellipse">
            <a:avLst/>
          </a:prstGeom>
          <a:solidFill>
            <a:srgbClr val="E3F4FA"/>
          </a:solidFill>
          <a:ln w="12700">
            <a:solidFill>
              <a:srgbClr val="E3F4FA"/>
            </a:solidFill>
            <a:prstDash val="solid"/>
          </a:ln>
        </p:spPr>
      </p:sp>
      <p:sp>
        <p:nvSpPr>
          <p:cNvPr id="33" name="Icono bell"/>
          <p:cNvSpPr/>
          <p:nvPr/>
        </p:nvSpPr>
        <p:spPr>
          <a:xfrm>
            <a:off x="9294585" y="22921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34" name="Text 32"/>
          <p:cNvSpPr/>
          <p:nvPr/>
        </p:nvSpPr>
        <p:spPr>
          <a:xfrm>
            <a:off x="9715209"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notificaciones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los avisos</a:t>
            </a:r>
            <a:endParaRPr lang="en-US" sz="1060" dirty="0"/>
          </a:p>
        </p:txBody>
      </p:sp>
      <p:sp>
        <p:nvSpPr>
          <p:cNvPr id="35" name="Shape 33"/>
          <p:cNvSpPr/>
          <p:nvPr/>
        </p:nvSpPr>
        <p:spPr>
          <a:xfrm>
            <a:off x="6814067" y="3991772"/>
            <a:ext cx="1885327" cy="682309"/>
          </a:xfrm>
          <a:prstGeom prst="roundRect">
            <a:avLst>
              <a:gd name="adj" fmla="val 12061"/>
            </a:avLst>
          </a:prstGeom>
          <a:solidFill>
            <a:srgbClr val="F3F6FA"/>
          </a:solidFill>
          <a:ln w="12700">
            <a:solidFill>
              <a:srgbClr val="D5DDE8"/>
            </a:solidFill>
            <a:prstDash val="solid"/>
          </a:ln>
        </p:spPr>
      </p:sp>
      <p:sp>
        <p:nvSpPr>
          <p:cNvPr id="36" name="Shape 34"/>
          <p:cNvSpPr/>
          <p:nvPr/>
        </p:nvSpPr>
        <p:spPr>
          <a:xfrm>
            <a:off x="6905507" y="4122614"/>
            <a:ext cx="420624" cy="420624"/>
          </a:xfrm>
          <a:prstGeom prst="ellipse">
            <a:avLst/>
          </a:prstGeom>
          <a:solidFill>
            <a:srgbClr val="EEF2F7"/>
          </a:solidFill>
          <a:ln w="12700">
            <a:solidFill>
              <a:srgbClr val="EEF2F7"/>
            </a:solidFill>
            <a:prstDash val="solid"/>
          </a:ln>
        </p:spPr>
      </p:sp>
      <p:sp>
        <p:nvSpPr>
          <p:cNvPr id="37" name="Icono database"/>
          <p:cNvSpPr/>
          <p:nvPr/>
        </p:nvSpPr>
        <p:spPr>
          <a:xfrm>
            <a:off x="6960371"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8" name="Text 36"/>
          <p:cNvSpPr/>
          <p:nvPr/>
        </p:nvSpPr>
        <p:spPr>
          <a:xfrm>
            <a:off x="7380995"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db-solicitudes</a:t>
            </a:r>
            <a:endParaRPr lang="en-US" sz="1060" dirty="0"/>
          </a:p>
        </p:txBody>
      </p:sp>
      <p:sp>
        <p:nvSpPr>
          <p:cNvPr id="39" name="Shape 37"/>
          <p:cNvSpPr/>
          <p:nvPr/>
        </p:nvSpPr>
        <p:spPr>
          <a:xfrm>
            <a:off x="9148281" y="3991772"/>
            <a:ext cx="1885327" cy="682309"/>
          </a:xfrm>
          <a:prstGeom prst="roundRect">
            <a:avLst>
              <a:gd name="adj" fmla="val 12061"/>
            </a:avLst>
          </a:prstGeom>
          <a:solidFill>
            <a:srgbClr val="F3F6FA"/>
          </a:solidFill>
          <a:ln w="12700">
            <a:solidFill>
              <a:srgbClr val="D5DDE8"/>
            </a:solidFill>
            <a:prstDash val="solid"/>
          </a:ln>
        </p:spPr>
      </p:sp>
      <p:sp>
        <p:nvSpPr>
          <p:cNvPr id="40" name="Shape 38"/>
          <p:cNvSpPr/>
          <p:nvPr/>
        </p:nvSpPr>
        <p:spPr>
          <a:xfrm>
            <a:off x="9239721" y="4122614"/>
            <a:ext cx="420624" cy="420624"/>
          </a:xfrm>
          <a:prstGeom prst="ellipse">
            <a:avLst/>
          </a:prstGeom>
          <a:solidFill>
            <a:srgbClr val="EEF2F7"/>
          </a:solidFill>
          <a:ln w="12700">
            <a:solidFill>
              <a:srgbClr val="EEF2F7"/>
            </a:solidFill>
            <a:prstDash val="solid"/>
          </a:ln>
        </p:spPr>
      </p:sp>
      <p:sp>
        <p:nvSpPr>
          <p:cNvPr id="41" name="Icono database"/>
          <p:cNvSpPr/>
          <p:nvPr/>
        </p:nvSpPr>
        <p:spPr>
          <a:xfrm>
            <a:off x="9294585"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42" name="Text 40"/>
          <p:cNvSpPr/>
          <p:nvPr/>
        </p:nvSpPr>
        <p:spPr>
          <a:xfrm>
            <a:off x="9715209"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Antes: una sola aplicación hace todo y comparte una base.</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Separamos por responsabilidad: el trámite y los avisos cambian por motivos distintos.</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888755" y="1478003"/>
            <a:ext cx="4847983"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23774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4957" y="1478003"/>
            <a:ext cx="4847983"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528109" y="1532867"/>
            <a:ext cx="24587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12747" y="2788754"/>
            <a:ext cx="0" cy="1203018"/>
          </a:xfrm>
          <a:prstGeom prst="line">
            <a:avLst/>
          </a:prstGeom>
          <a:noFill/>
          <a:ln w="31750">
            <a:solidFill>
              <a:srgbClr val="55627E"/>
            </a:solidFill>
            <a:prstDash val="sysDot"/>
            <a:tailEnd type="triangle"/>
          </a:ln>
        </p:spPr>
      </p:sp>
      <p:sp>
        <p:nvSpPr>
          <p:cNvPr id="10" name="Text 8"/>
          <p:cNvSpPr/>
          <p:nvPr/>
        </p:nvSpPr>
        <p:spPr>
          <a:xfrm>
            <a:off x="3402524" y="3270726"/>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03019"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99394" y="2447599"/>
            <a:ext cx="448887" cy="0"/>
          </a:xfrm>
          <a:prstGeom prst="line">
            <a:avLst/>
          </a:prstGeom>
          <a:noFill/>
          <a:ln w="25400">
            <a:solidFill>
              <a:srgbClr val="CBD5E3"/>
            </a:solidFill>
            <a:prstDash val="dash"/>
            <a:tailEnd type="triangle"/>
          </a:ln>
        </p:spPr>
      </p:sp>
      <p:sp>
        <p:nvSpPr>
          <p:cNvPr id="13" name="Text 11"/>
          <p:cNvSpPr/>
          <p:nvPr/>
        </p:nvSpPr>
        <p:spPr>
          <a:xfrm>
            <a:off x="8661633" y="2211352"/>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805132" y="233787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56731" y="2788754"/>
            <a:ext cx="0" cy="1203018"/>
          </a:xfrm>
          <a:prstGeom prst="line">
            <a:avLst/>
          </a:prstGeom>
          <a:noFill/>
          <a:ln w="47625">
            <a:solidFill>
              <a:srgbClr val="2BA6CB"/>
            </a:solidFill>
            <a:prstDash val="sysDot"/>
            <a:tailEnd type="triangle"/>
          </a:ln>
        </p:spPr>
      </p:sp>
      <p:sp>
        <p:nvSpPr>
          <p:cNvPr id="16" name="Text 14"/>
          <p:cNvSpPr/>
          <p:nvPr/>
        </p:nvSpPr>
        <p:spPr>
          <a:xfrm>
            <a:off x="7647003" y="28944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90944" y="2788754"/>
            <a:ext cx="0" cy="1203018"/>
          </a:xfrm>
          <a:prstGeom prst="line">
            <a:avLst/>
          </a:prstGeom>
          <a:noFill/>
          <a:ln w="47625">
            <a:solidFill>
              <a:srgbClr val="2BA6CB"/>
            </a:solidFill>
            <a:prstDash val="sysDot"/>
            <a:tailEnd type="triangle"/>
          </a:ln>
        </p:spPr>
      </p:sp>
      <p:sp>
        <p:nvSpPr>
          <p:cNvPr id="18" name="Text 16"/>
          <p:cNvSpPr/>
          <p:nvPr/>
        </p:nvSpPr>
        <p:spPr>
          <a:xfrm>
            <a:off x="9981216" y="28944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Shape 17"/>
          <p:cNvSpPr/>
          <p:nvPr/>
        </p:nvSpPr>
        <p:spPr>
          <a:xfrm>
            <a:off x="1247865" y="2106445"/>
            <a:ext cx="4129763"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1339305" y="2237287"/>
            <a:ext cx="420624" cy="420624"/>
          </a:xfrm>
          <a:prstGeom prst="ellipse">
            <a:avLst/>
          </a:prstGeom>
          <a:solidFill>
            <a:srgbClr val="E2E5EA"/>
          </a:solidFill>
          <a:ln w="12700">
            <a:solidFill>
              <a:srgbClr val="E2E5EA"/>
            </a:solidFill>
            <a:prstDash val="solid"/>
          </a:ln>
        </p:spPr>
      </p:sp>
      <p:sp>
        <p:nvSpPr>
          <p:cNvPr id="21" name="Icono box"/>
          <p:cNvSpPr/>
          <p:nvPr/>
        </p:nvSpPr>
        <p:spPr>
          <a:xfrm>
            <a:off x="1394169" y="2292151"/>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22" name="Text 20"/>
          <p:cNvSpPr/>
          <p:nvPr/>
        </p:nvSpPr>
        <p:spPr>
          <a:xfrm>
            <a:off x="1814793" y="2106445"/>
            <a:ext cx="3507971"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aplicación</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trámites y avisos en el mismo proceso</a:t>
            </a:r>
            <a:endParaRPr lang="en-US" sz="1060" dirty="0"/>
          </a:p>
        </p:txBody>
      </p:sp>
      <p:sp>
        <p:nvSpPr>
          <p:cNvPr id="23" name="Shape 21"/>
          <p:cNvSpPr/>
          <p:nvPr/>
        </p:nvSpPr>
        <p:spPr>
          <a:xfrm>
            <a:off x="2325195" y="3991772"/>
            <a:ext cx="1975104"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2416635" y="4122614"/>
            <a:ext cx="420624" cy="420624"/>
          </a:xfrm>
          <a:prstGeom prst="ellipse">
            <a:avLst/>
          </a:prstGeom>
          <a:solidFill>
            <a:srgbClr val="E8EBEE"/>
          </a:solidFill>
          <a:ln w="12700">
            <a:solidFill>
              <a:srgbClr val="E8EBEE"/>
            </a:solidFill>
            <a:prstDash val="solid"/>
          </a:ln>
        </p:spPr>
      </p:sp>
      <p:sp>
        <p:nvSpPr>
          <p:cNvPr id="25" name="Icono database"/>
          <p:cNvSpPr/>
          <p:nvPr/>
        </p:nvSpPr>
        <p:spPr>
          <a:xfrm>
            <a:off x="2471499"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6" name="Text 24"/>
          <p:cNvSpPr/>
          <p:nvPr/>
        </p:nvSpPr>
        <p:spPr>
          <a:xfrm>
            <a:off x="2892123" y="3991772"/>
            <a:ext cx="1353312"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base</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tablas de todos</a:t>
            </a:r>
            <a:endParaRPr lang="en-US" sz="1060" dirty="0"/>
          </a:p>
        </p:txBody>
      </p:sp>
      <p:sp>
        <p:nvSpPr>
          <p:cNvPr id="27" name="Shape 25"/>
          <p:cNvSpPr/>
          <p:nvPr/>
        </p:nvSpPr>
        <p:spPr>
          <a:xfrm>
            <a:off x="6814067" y="2106445"/>
            <a:ext cx="1885327"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905507" y="2237287"/>
            <a:ext cx="420624" cy="420624"/>
          </a:xfrm>
          <a:prstGeom prst="ellipse">
            <a:avLst/>
          </a:prstGeom>
          <a:solidFill>
            <a:srgbClr val="E2E5EA"/>
          </a:solidFill>
          <a:ln w="12700">
            <a:solidFill>
              <a:srgbClr val="E2E5EA"/>
            </a:solidFill>
            <a:prstDash val="solid"/>
          </a:ln>
        </p:spPr>
      </p:sp>
      <p:sp>
        <p:nvSpPr>
          <p:cNvPr id="29" name="Icono clipboard-list"/>
          <p:cNvSpPr/>
          <p:nvPr/>
        </p:nvSpPr>
        <p:spPr>
          <a:xfrm>
            <a:off x="6960371" y="2292151"/>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2350"/>
            </a:solidFill>
            <a:prstDash val="solid"/>
            <a:round/>
          </a:ln>
        </p:spPr>
      </p:sp>
      <p:sp>
        <p:nvSpPr>
          <p:cNvPr id="30" name="Text 28"/>
          <p:cNvSpPr/>
          <p:nvPr/>
        </p:nvSpPr>
        <p:spPr>
          <a:xfrm>
            <a:off x="7380995"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solicitudes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 trámite</a:t>
            </a:r>
            <a:endParaRPr lang="en-US" sz="1060" dirty="0"/>
          </a:p>
        </p:txBody>
      </p:sp>
      <p:sp>
        <p:nvSpPr>
          <p:cNvPr id="31" name="Shape 29"/>
          <p:cNvSpPr/>
          <p:nvPr/>
        </p:nvSpPr>
        <p:spPr>
          <a:xfrm>
            <a:off x="9148281" y="2106445"/>
            <a:ext cx="1885327"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9239721" y="2237287"/>
            <a:ext cx="420624" cy="420624"/>
          </a:xfrm>
          <a:prstGeom prst="ellipse">
            <a:avLst/>
          </a:prstGeom>
          <a:solidFill>
            <a:srgbClr val="E2E5EA"/>
          </a:solidFill>
          <a:ln w="12700">
            <a:solidFill>
              <a:srgbClr val="E2E5EA"/>
            </a:solidFill>
            <a:prstDash val="solid"/>
          </a:ln>
        </p:spPr>
      </p:sp>
      <p:sp>
        <p:nvSpPr>
          <p:cNvPr id="33" name="Icono bell"/>
          <p:cNvSpPr/>
          <p:nvPr/>
        </p:nvSpPr>
        <p:spPr>
          <a:xfrm>
            <a:off x="9294585" y="22921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34" name="Text 32"/>
          <p:cNvSpPr/>
          <p:nvPr/>
        </p:nvSpPr>
        <p:spPr>
          <a:xfrm>
            <a:off x="9715209"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notificaciones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los avisos</a:t>
            </a:r>
            <a:endParaRPr lang="en-US" sz="1060" dirty="0"/>
          </a:p>
        </p:txBody>
      </p:sp>
      <p:sp>
        <p:nvSpPr>
          <p:cNvPr id="35" name="Shape 33"/>
          <p:cNvSpPr/>
          <p:nvPr/>
        </p:nvSpPr>
        <p:spPr>
          <a:xfrm>
            <a:off x="6814067" y="3991772"/>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6905507" y="4122614"/>
            <a:ext cx="420624" cy="420624"/>
          </a:xfrm>
          <a:prstGeom prst="ellipse">
            <a:avLst/>
          </a:prstGeom>
          <a:solidFill>
            <a:srgbClr val="E3F4FA"/>
          </a:solidFill>
          <a:ln w="12700">
            <a:solidFill>
              <a:srgbClr val="E3F4FA"/>
            </a:solidFill>
            <a:prstDash val="solid"/>
          </a:ln>
        </p:spPr>
      </p:sp>
      <p:sp>
        <p:nvSpPr>
          <p:cNvPr id="37" name="Icono database"/>
          <p:cNvSpPr/>
          <p:nvPr/>
        </p:nvSpPr>
        <p:spPr>
          <a:xfrm>
            <a:off x="6960371"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8" name="Text 36"/>
          <p:cNvSpPr/>
          <p:nvPr/>
        </p:nvSpPr>
        <p:spPr>
          <a:xfrm>
            <a:off x="7380995"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db-solicitudes</a:t>
            </a:r>
            <a:endParaRPr lang="en-US" sz="1060" dirty="0"/>
          </a:p>
        </p:txBody>
      </p:sp>
      <p:sp>
        <p:nvSpPr>
          <p:cNvPr id="39" name="Shape 37"/>
          <p:cNvSpPr/>
          <p:nvPr/>
        </p:nvSpPr>
        <p:spPr>
          <a:xfrm>
            <a:off x="9148281" y="3991772"/>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0" name="Shape 38"/>
          <p:cNvSpPr/>
          <p:nvPr/>
        </p:nvSpPr>
        <p:spPr>
          <a:xfrm>
            <a:off x="9239721" y="4122614"/>
            <a:ext cx="420624" cy="420624"/>
          </a:xfrm>
          <a:prstGeom prst="ellipse">
            <a:avLst/>
          </a:prstGeom>
          <a:solidFill>
            <a:srgbClr val="E3F4FA"/>
          </a:solidFill>
          <a:ln w="12700">
            <a:solidFill>
              <a:srgbClr val="E3F4FA"/>
            </a:solidFill>
            <a:prstDash val="solid"/>
          </a:ln>
        </p:spPr>
      </p:sp>
      <p:sp>
        <p:nvSpPr>
          <p:cNvPr id="41" name="Icono database"/>
          <p:cNvSpPr/>
          <p:nvPr/>
        </p:nvSpPr>
        <p:spPr>
          <a:xfrm>
            <a:off x="9294585"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42" name="Text 40"/>
          <p:cNvSpPr/>
          <p:nvPr/>
        </p:nvSpPr>
        <p:spPr>
          <a:xfrm>
            <a:off x="9715209"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db-notificaciones</a:t>
            </a:r>
            <a:endParaRPr lang="en-US" sz="933"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 dueño de su base. Ninguno lee la base del otro.</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888755" y="1478003"/>
            <a:ext cx="4847983"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23774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4957" y="1478003"/>
            <a:ext cx="4847983"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528109" y="1532867"/>
            <a:ext cx="24587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12747" y="2788754"/>
            <a:ext cx="0" cy="1203018"/>
          </a:xfrm>
          <a:prstGeom prst="line">
            <a:avLst/>
          </a:prstGeom>
          <a:noFill/>
          <a:ln w="31750">
            <a:solidFill>
              <a:srgbClr val="55627E"/>
            </a:solidFill>
            <a:prstDash val="sysDot"/>
            <a:tailEnd type="triangle"/>
          </a:ln>
        </p:spPr>
      </p:sp>
      <p:sp>
        <p:nvSpPr>
          <p:cNvPr id="10" name="Text 8"/>
          <p:cNvSpPr/>
          <p:nvPr/>
        </p:nvSpPr>
        <p:spPr>
          <a:xfrm>
            <a:off x="3402524" y="3270726"/>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03019"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99394" y="2447599"/>
            <a:ext cx="448887" cy="0"/>
          </a:xfrm>
          <a:prstGeom prst="line">
            <a:avLst/>
          </a:prstGeom>
          <a:noFill/>
          <a:ln w="41275">
            <a:solidFill>
              <a:srgbClr val="2BA6CB"/>
            </a:solidFill>
            <a:prstDash val="dash"/>
            <a:tailEnd type="triangle"/>
          </a:ln>
        </p:spPr>
      </p:sp>
      <p:sp>
        <p:nvSpPr>
          <p:cNvPr id="13" name="Text 11"/>
          <p:cNvSpPr/>
          <p:nvPr/>
        </p:nvSpPr>
        <p:spPr>
          <a:xfrm>
            <a:off x="8661633" y="2211352"/>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805132" y="23378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56731" y="2788754"/>
            <a:ext cx="0" cy="1203018"/>
          </a:xfrm>
          <a:prstGeom prst="line">
            <a:avLst/>
          </a:prstGeom>
          <a:noFill/>
          <a:ln w="31750">
            <a:solidFill>
              <a:srgbClr val="55627E"/>
            </a:solidFill>
            <a:prstDash val="sysDot"/>
            <a:tailEnd type="triangle"/>
          </a:ln>
        </p:spPr>
      </p:sp>
      <p:sp>
        <p:nvSpPr>
          <p:cNvPr id="16" name="Text 14"/>
          <p:cNvSpPr/>
          <p:nvPr/>
        </p:nvSpPr>
        <p:spPr>
          <a:xfrm>
            <a:off x="7647003"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90944" y="2788754"/>
            <a:ext cx="0" cy="1203018"/>
          </a:xfrm>
          <a:prstGeom prst="line">
            <a:avLst/>
          </a:prstGeom>
          <a:noFill/>
          <a:ln w="31750">
            <a:solidFill>
              <a:srgbClr val="55627E"/>
            </a:solidFill>
            <a:prstDash val="sysDot"/>
            <a:tailEnd type="triangle"/>
          </a:ln>
        </p:spPr>
      </p:sp>
      <p:sp>
        <p:nvSpPr>
          <p:cNvPr id="18" name="Text 16"/>
          <p:cNvSpPr/>
          <p:nvPr/>
        </p:nvSpPr>
        <p:spPr>
          <a:xfrm>
            <a:off x="9981216"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Shape 17"/>
          <p:cNvSpPr/>
          <p:nvPr/>
        </p:nvSpPr>
        <p:spPr>
          <a:xfrm>
            <a:off x="1247865" y="2106445"/>
            <a:ext cx="4129763"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1339305" y="2237287"/>
            <a:ext cx="420624" cy="420624"/>
          </a:xfrm>
          <a:prstGeom prst="ellipse">
            <a:avLst/>
          </a:prstGeom>
          <a:solidFill>
            <a:srgbClr val="E2E5EA"/>
          </a:solidFill>
          <a:ln w="12700">
            <a:solidFill>
              <a:srgbClr val="E2E5EA"/>
            </a:solidFill>
            <a:prstDash val="solid"/>
          </a:ln>
        </p:spPr>
      </p:sp>
      <p:sp>
        <p:nvSpPr>
          <p:cNvPr id="21" name="Icono box"/>
          <p:cNvSpPr/>
          <p:nvPr/>
        </p:nvSpPr>
        <p:spPr>
          <a:xfrm>
            <a:off x="1394169" y="2292151"/>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22" name="Text 20"/>
          <p:cNvSpPr/>
          <p:nvPr/>
        </p:nvSpPr>
        <p:spPr>
          <a:xfrm>
            <a:off x="1814793" y="2106445"/>
            <a:ext cx="3507971"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aplicación</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trámites y avisos en el mismo proceso</a:t>
            </a:r>
            <a:endParaRPr lang="en-US" sz="1060" dirty="0"/>
          </a:p>
        </p:txBody>
      </p:sp>
      <p:sp>
        <p:nvSpPr>
          <p:cNvPr id="23" name="Shape 21"/>
          <p:cNvSpPr/>
          <p:nvPr/>
        </p:nvSpPr>
        <p:spPr>
          <a:xfrm>
            <a:off x="2325195" y="3991772"/>
            <a:ext cx="1975104"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2416635" y="4122614"/>
            <a:ext cx="420624" cy="420624"/>
          </a:xfrm>
          <a:prstGeom prst="ellipse">
            <a:avLst/>
          </a:prstGeom>
          <a:solidFill>
            <a:srgbClr val="E8EBEE"/>
          </a:solidFill>
          <a:ln w="12700">
            <a:solidFill>
              <a:srgbClr val="E8EBEE"/>
            </a:solidFill>
            <a:prstDash val="solid"/>
          </a:ln>
        </p:spPr>
      </p:sp>
      <p:sp>
        <p:nvSpPr>
          <p:cNvPr id="25" name="Icono database"/>
          <p:cNvSpPr/>
          <p:nvPr/>
        </p:nvSpPr>
        <p:spPr>
          <a:xfrm>
            <a:off x="2471499"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6" name="Text 24"/>
          <p:cNvSpPr/>
          <p:nvPr/>
        </p:nvSpPr>
        <p:spPr>
          <a:xfrm>
            <a:off x="2892123" y="3991772"/>
            <a:ext cx="1353312"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base</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tablas de todos</a:t>
            </a:r>
            <a:endParaRPr lang="en-US" sz="1060" dirty="0"/>
          </a:p>
        </p:txBody>
      </p:sp>
      <p:sp>
        <p:nvSpPr>
          <p:cNvPr id="27" name="Shape 25"/>
          <p:cNvSpPr/>
          <p:nvPr/>
        </p:nvSpPr>
        <p:spPr>
          <a:xfrm>
            <a:off x="6814067"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8" name="Shape 26"/>
          <p:cNvSpPr/>
          <p:nvPr/>
        </p:nvSpPr>
        <p:spPr>
          <a:xfrm>
            <a:off x="6905507" y="2237287"/>
            <a:ext cx="420624" cy="420624"/>
          </a:xfrm>
          <a:prstGeom prst="ellipse">
            <a:avLst/>
          </a:prstGeom>
          <a:solidFill>
            <a:srgbClr val="E3F4FA"/>
          </a:solidFill>
          <a:ln w="12700">
            <a:solidFill>
              <a:srgbClr val="E3F4FA"/>
            </a:solidFill>
            <a:prstDash val="solid"/>
          </a:ln>
        </p:spPr>
      </p:sp>
      <p:sp>
        <p:nvSpPr>
          <p:cNvPr id="29" name="Icono clipboard-list"/>
          <p:cNvSpPr/>
          <p:nvPr/>
        </p:nvSpPr>
        <p:spPr>
          <a:xfrm>
            <a:off x="6960371" y="2292151"/>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6E8A"/>
            </a:solidFill>
            <a:prstDash val="solid"/>
            <a:round/>
          </a:ln>
        </p:spPr>
      </p:sp>
      <p:sp>
        <p:nvSpPr>
          <p:cNvPr id="30" name="Text 28"/>
          <p:cNvSpPr/>
          <p:nvPr/>
        </p:nvSpPr>
        <p:spPr>
          <a:xfrm>
            <a:off x="7380995"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solicitudes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 trámite</a:t>
            </a:r>
            <a:endParaRPr lang="en-US" sz="1060" dirty="0"/>
          </a:p>
        </p:txBody>
      </p:sp>
      <p:sp>
        <p:nvSpPr>
          <p:cNvPr id="31" name="Shape 29"/>
          <p:cNvSpPr/>
          <p:nvPr/>
        </p:nvSpPr>
        <p:spPr>
          <a:xfrm>
            <a:off x="9148281"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9239721" y="2237287"/>
            <a:ext cx="420624" cy="420624"/>
          </a:xfrm>
          <a:prstGeom prst="ellipse">
            <a:avLst/>
          </a:prstGeom>
          <a:solidFill>
            <a:srgbClr val="E3F4FA"/>
          </a:solidFill>
          <a:ln w="12700">
            <a:solidFill>
              <a:srgbClr val="E3F4FA"/>
            </a:solidFill>
            <a:prstDash val="solid"/>
          </a:ln>
        </p:spPr>
      </p:sp>
      <p:sp>
        <p:nvSpPr>
          <p:cNvPr id="33" name="Icono bell"/>
          <p:cNvSpPr/>
          <p:nvPr/>
        </p:nvSpPr>
        <p:spPr>
          <a:xfrm>
            <a:off x="9294585" y="22921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34" name="Text 32"/>
          <p:cNvSpPr/>
          <p:nvPr/>
        </p:nvSpPr>
        <p:spPr>
          <a:xfrm>
            <a:off x="9715209"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notificaciones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los avisos</a:t>
            </a:r>
            <a:endParaRPr lang="en-US" sz="1060" dirty="0"/>
          </a:p>
        </p:txBody>
      </p:sp>
      <p:sp>
        <p:nvSpPr>
          <p:cNvPr id="35" name="Shape 33"/>
          <p:cNvSpPr/>
          <p:nvPr/>
        </p:nvSpPr>
        <p:spPr>
          <a:xfrm>
            <a:off x="6814067" y="3991772"/>
            <a:ext cx="1885327"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905507" y="4122614"/>
            <a:ext cx="420624" cy="420624"/>
          </a:xfrm>
          <a:prstGeom prst="ellipse">
            <a:avLst/>
          </a:prstGeom>
          <a:solidFill>
            <a:srgbClr val="E8EBEE"/>
          </a:solidFill>
          <a:ln w="12700">
            <a:solidFill>
              <a:srgbClr val="E8EBEE"/>
            </a:solidFill>
            <a:prstDash val="solid"/>
          </a:ln>
        </p:spPr>
      </p:sp>
      <p:sp>
        <p:nvSpPr>
          <p:cNvPr id="37" name="Icono database"/>
          <p:cNvSpPr/>
          <p:nvPr/>
        </p:nvSpPr>
        <p:spPr>
          <a:xfrm>
            <a:off x="6960371"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8" name="Text 36"/>
          <p:cNvSpPr/>
          <p:nvPr/>
        </p:nvSpPr>
        <p:spPr>
          <a:xfrm>
            <a:off x="7380995"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db-solicitudes</a:t>
            </a:r>
            <a:endParaRPr lang="en-US" sz="1060" dirty="0"/>
          </a:p>
        </p:txBody>
      </p:sp>
      <p:sp>
        <p:nvSpPr>
          <p:cNvPr id="39" name="Shape 37"/>
          <p:cNvSpPr/>
          <p:nvPr/>
        </p:nvSpPr>
        <p:spPr>
          <a:xfrm>
            <a:off x="9148281" y="3991772"/>
            <a:ext cx="1885327"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9239721" y="4122614"/>
            <a:ext cx="420624" cy="420624"/>
          </a:xfrm>
          <a:prstGeom prst="ellipse">
            <a:avLst/>
          </a:prstGeom>
          <a:solidFill>
            <a:srgbClr val="E8EBEE"/>
          </a:solidFill>
          <a:ln w="12700">
            <a:solidFill>
              <a:srgbClr val="E8EBEE"/>
            </a:solidFill>
            <a:prstDash val="solid"/>
          </a:ln>
        </p:spPr>
      </p:sp>
      <p:sp>
        <p:nvSpPr>
          <p:cNvPr id="41" name="Icono database"/>
          <p:cNvSpPr/>
          <p:nvPr/>
        </p:nvSpPr>
        <p:spPr>
          <a:xfrm>
            <a:off x="9294585"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2" name="Text 40"/>
          <p:cNvSpPr/>
          <p:nvPr/>
        </p:nvSpPr>
        <p:spPr>
          <a:xfrm>
            <a:off x="9715209"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db-notificaciones</a:t>
            </a:r>
            <a:endParaRPr lang="en-US" sz="933"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comunican con un contrato: el evento SolicitudEnviada por HTTP.</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Cuándo conviene separar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Separar se decide por el negocio, no por moda.</a:t>
            </a:r>
            <a:endParaRPr lang="en-US" sz="1700" dirty="0"/>
          </a:p>
        </p:txBody>
      </p:sp>
      <p:sp>
        <p:nvSpPr>
          <p:cNvPr id="6" name="Shape 4"/>
          <p:cNvSpPr/>
          <p:nvPr/>
        </p:nvSpPr>
        <p:spPr>
          <a:xfrm>
            <a:off x="61264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8" name="Shape 6"/>
          <p:cNvSpPr/>
          <p:nvPr/>
        </p:nvSpPr>
        <p:spPr>
          <a:xfrm>
            <a:off x="612648" y="2267712"/>
            <a:ext cx="5163160" cy="365760"/>
          </a:xfrm>
          <a:prstGeom prst="rect">
            <a:avLst/>
          </a:prstGeom>
          <a:solidFill>
            <a:srgbClr val="55627E"/>
          </a:solidFill>
          <a:ln w="12700">
            <a:solidFill>
              <a:srgbClr val="55627E"/>
            </a:solidFill>
            <a:prstDash val="solid"/>
          </a:ln>
        </p:spPr>
      </p:sp>
      <p:sp>
        <p:nvSpPr>
          <p:cNvPr id="9" name="Shape 7"/>
          <p:cNvSpPr/>
          <p:nvPr/>
        </p:nvSpPr>
        <p:spPr>
          <a:xfrm>
            <a:off x="841248" y="1874520"/>
            <a:ext cx="603504" cy="603504"/>
          </a:xfrm>
          <a:prstGeom prst="ellipse">
            <a:avLst/>
          </a:prstGeom>
          <a:solidFill>
            <a:srgbClr val="FFFFFF"/>
          </a:solidFill>
          <a:ln w="12700">
            <a:solidFill>
              <a:srgbClr val="FFFFFF"/>
            </a:solidFill>
            <a:prstDash val="solid"/>
          </a:ln>
        </p:spPr>
      </p:sp>
      <p:sp>
        <p:nvSpPr>
          <p:cNvPr id="10" name="Icono box"/>
          <p:cNvSpPr/>
          <p:nvPr/>
        </p:nvSpPr>
        <p:spPr>
          <a:xfrm>
            <a:off x="986089" y="2019361"/>
            <a:ext cx="313822" cy="313822"/>
          </a:xfrm>
          <a:custGeom>
            <a:avLst/>
            <a:gdLst/>
            <a:ahLst/>
            <a:cxnLst/>
            <a:rect l="l" t="t" r="r" b="b"/>
            <a:pathLst>
              <a:path w="313822" h="313822">
                <a:moveTo>
                  <a:pt x="274594" y="104607"/>
                </a:moveTo>
                <a:cubicBezTo>
                  <a:pt x="274585" y="95274"/>
                  <a:pt x="269602" y="86653"/>
                  <a:pt x="261518" y="81986"/>
                </a:cubicBezTo>
                <a:lnTo>
                  <a:pt x="169987" y="29682"/>
                </a:lnTo>
                <a:cubicBezTo>
                  <a:pt x="161896" y="25011"/>
                  <a:pt x="151927" y="25011"/>
                  <a:pt x="143835" y="29682"/>
                </a:cubicBezTo>
                <a:lnTo>
                  <a:pt x="52304" y="81986"/>
                </a:lnTo>
                <a:cubicBezTo>
                  <a:pt x="44221" y="86653"/>
                  <a:pt x="39237" y="95274"/>
                  <a:pt x="39228" y="104607"/>
                </a:cubicBezTo>
                <a:lnTo>
                  <a:pt x="39228" y="209215"/>
                </a:lnTo>
                <a:cubicBezTo>
                  <a:pt x="39237" y="218548"/>
                  <a:pt x="44221" y="227169"/>
                  <a:pt x="52304" y="231836"/>
                </a:cubicBezTo>
                <a:lnTo>
                  <a:pt x="143835" y="284140"/>
                </a:lnTo>
                <a:cubicBezTo>
                  <a:pt x="151927" y="288811"/>
                  <a:pt x="161896" y="288811"/>
                  <a:pt x="169987" y="284140"/>
                </a:cubicBezTo>
                <a:lnTo>
                  <a:pt x="261518" y="231836"/>
                </a:lnTo>
                <a:cubicBezTo>
                  <a:pt x="269602" y="227169"/>
                  <a:pt x="274585" y="218548"/>
                  <a:pt x="274594" y="209215"/>
                </a:cubicBezTo>
                <a:close/>
                <a:moveTo>
                  <a:pt x="43151" y="91531"/>
                </a:moveTo>
                <a:lnTo>
                  <a:pt x="156911" y="156911"/>
                </a:lnTo>
                <a:lnTo>
                  <a:pt x="270672" y="91531"/>
                </a:lnTo>
                <a:moveTo>
                  <a:pt x="156911" y="287670"/>
                </a:moveTo>
                <a:lnTo>
                  <a:pt x="156911" y="156911"/>
                </a:lnTo>
              </a:path>
            </a:pathLst>
          </a:custGeom>
          <a:noFill/>
          <a:ln w="26152" cap="rnd">
            <a:solidFill>
              <a:srgbClr val="55627E"/>
            </a:solidFill>
            <a:prstDash val="solid"/>
            <a:round/>
          </a:ln>
        </p:spPr>
      </p:sp>
      <p:sp>
        <p:nvSpPr>
          <p:cNvPr id="11" name="Text 9"/>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un monolito</a:t>
            </a:r>
            <a:endParaRPr lang="en-US" sz="1900" dirty="0"/>
          </a:p>
        </p:txBody>
      </p:sp>
      <p:sp>
        <p:nvSpPr>
          <p:cNvPr id="12"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13" name="Text 11"/>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partes cambian juntas</a:t>
            </a:r>
            <a:endParaRPr lang="en-US" sz="1500" dirty="0"/>
          </a:p>
        </p:txBody>
      </p:sp>
      <p:sp>
        <p:nvSpPr>
          <p:cNvPr id="14" name="Shape 12"/>
          <p:cNvSpPr/>
          <p:nvPr/>
        </p:nvSpPr>
        <p:spPr>
          <a:xfrm>
            <a:off x="886968" y="3593592"/>
            <a:ext cx="4614520" cy="0"/>
          </a:xfrm>
          <a:prstGeom prst="line">
            <a:avLst/>
          </a:prstGeom>
          <a:noFill/>
          <a:ln w="9525">
            <a:solidFill>
              <a:srgbClr val="DFE6F0"/>
            </a:solidFill>
            <a:prstDash val="solid"/>
          </a:ln>
        </p:spPr>
      </p:sp>
      <p:sp>
        <p:nvSpPr>
          <p:cNvPr id="15"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16" name="Text 14"/>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 publica todo junto</a:t>
            </a:r>
            <a:endParaRPr lang="en-US" sz="1500" dirty="0"/>
          </a:p>
        </p:txBody>
      </p:sp>
      <p:sp>
        <p:nvSpPr>
          <p:cNvPr id="17" name="Shape 15"/>
          <p:cNvSpPr/>
          <p:nvPr/>
        </p:nvSpPr>
        <p:spPr>
          <a:xfrm>
            <a:off x="886968" y="4370832"/>
            <a:ext cx="4614520" cy="0"/>
          </a:xfrm>
          <a:prstGeom prst="line">
            <a:avLst/>
          </a:prstGeom>
          <a:noFill/>
          <a:ln w="9525">
            <a:solidFill>
              <a:srgbClr val="DFE6F0"/>
            </a:solidFill>
            <a:prstDash val="solid"/>
          </a:ln>
        </p:spPr>
      </p:sp>
      <p:sp>
        <p:nvSpPr>
          <p:cNvPr id="18"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19" name="Text 17"/>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carga es pareja</a:t>
            </a:r>
            <a:endParaRPr lang="en-US" sz="1500" dirty="0"/>
          </a:p>
        </p:txBody>
      </p:sp>
      <p:sp>
        <p:nvSpPr>
          <p:cNvPr id="20" name="Shape 18"/>
          <p:cNvSpPr/>
          <p:nvPr/>
        </p:nvSpPr>
        <p:spPr>
          <a:xfrm>
            <a:off x="886968" y="5148072"/>
            <a:ext cx="4614520" cy="0"/>
          </a:xfrm>
          <a:prstGeom prst="line">
            <a:avLst/>
          </a:prstGeom>
          <a:noFill/>
          <a:ln w="9525">
            <a:solidFill>
              <a:srgbClr val="DFE6F0"/>
            </a:solidFill>
            <a:prstDash val="solid"/>
          </a:ln>
        </p:spPr>
      </p:sp>
      <p:sp>
        <p:nvSpPr>
          <p:cNvPr id="21" name="Icono arrow-right"/>
          <p:cNvSpPr/>
          <p:nvPr/>
        </p:nvSpPr>
        <p:spPr>
          <a:xfrm>
            <a:off x="905256" y="537210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2" name="Text 20"/>
          <p:cNvSpPr/>
          <p:nvPr/>
        </p:nvSpPr>
        <p:spPr>
          <a:xfrm>
            <a:off x="139903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pequeño lo mantiene</a:t>
            </a:r>
            <a:endParaRPr lang="en-US" sz="1500" dirty="0"/>
          </a:p>
        </p:txBody>
      </p:sp>
      <p:sp>
        <p:nvSpPr>
          <p:cNvPr id="23" name="Shape 21"/>
          <p:cNvSpPr/>
          <p:nvPr/>
        </p:nvSpPr>
        <p:spPr>
          <a:xfrm>
            <a:off x="641588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25" name="Shape 23"/>
          <p:cNvSpPr/>
          <p:nvPr/>
        </p:nvSpPr>
        <p:spPr>
          <a:xfrm>
            <a:off x="6415888" y="2267712"/>
            <a:ext cx="5163160" cy="365760"/>
          </a:xfrm>
          <a:prstGeom prst="rect">
            <a:avLst/>
          </a:prstGeom>
          <a:solidFill>
            <a:srgbClr val="0B6E8A"/>
          </a:solidFill>
          <a:ln w="12700">
            <a:solidFill>
              <a:srgbClr val="0B6E8A"/>
            </a:solidFill>
            <a:prstDash val="solid"/>
          </a:ln>
        </p:spPr>
      </p:sp>
      <p:sp>
        <p:nvSpPr>
          <p:cNvPr id="26" name="Shape 24"/>
          <p:cNvSpPr/>
          <p:nvPr/>
        </p:nvSpPr>
        <p:spPr>
          <a:xfrm>
            <a:off x="6644488" y="1874520"/>
            <a:ext cx="603504" cy="603504"/>
          </a:xfrm>
          <a:prstGeom prst="ellipse">
            <a:avLst/>
          </a:prstGeom>
          <a:solidFill>
            <a:srgbClr val="FFFFFF"/>
          </a:solidFill>
          <a:ln w="12700">
            <a:solidFill>
              <a:srgbClr val="FFFFFF"/>
            </a:solidFill>
            <a:prstDash val="solid"/>
          </a:ln>
        </p:spPr>
      </p:sp>
      <p:sp>
        <p:nvSpPr>
          <p:cNvPr id="27" name="Icono boxes"/>
          <p:cNvSpPr/>
          <p:nvPr/>
        </p:nvSpPr>
        <p:spPr>
          <a:xfrm>
            <a:off x="6789329" y="2019361"/>
            <a:ext cx="313822" cy="313822"/>
          </a:xfrm>
          <a:custGeom>
            <a:avLst/>
            <a:gdLst/>
            <a:ahLst/>
            <a:cxnLst/>
            <a:rect l="l" t="t" r="r" b="b"/>
            <a:pathLst>
              <a:path w="313822" h="313822">
                <a:moveTo>
                  <a:pt x="38835" y="168941"/>
                </a:moveTo>
                <a:cubicBezTo>
                  <a:pt x="30983" y="173658"/>
                  <a:pt x="26172" y="182140"/>
                  <a:pt x="26152" y="191301"/>
                </a:cubicBezTo>
                <a:lnTo>
                  <a:pt x="26152" y="233667"/>
                </a:lnTo>
                <a:cubicBezTo>
                  <a:pt x="26172" y="242827"/>
                  <a:pt x="30983" y="251309"/>
                  <a:pt x="38835" y="256027"/>
                </a:cubicBezTo>
                <a:lnTo>
                  <a:pt x="78063" y="279563"/>
                </a:lnTo>
                <a:cubicBezTo>
                  <a:pt x="86352" y="284543"/>
                  <a:pt x="96711" y="284543"/>
                  <a:pt x="105000" y="279563"/>
                </a:cubicBezTo>
                <a:lnTo>
                  <a:pt x="156911" y="248442"/>
                </a:lnTo>
                <a:lnTo>
                  <a:pt x="156911" y="176525"/>
                </a:lnTo>
                <a:lnTo>
                  <a:pt x="91531" y="137297"/>
                </a:lnTo>
                <a:lnTo>
                  <a:pt x="38835" y="168941"/>
                </a:lnTo>
                <a:close/>
                <a:moveTo>
                  <a:pt x="91531" y="215753"/>
                </a:moveTo>
                <a:lnTo>
                  <a:pt x="29552" y="178486"/>
                </a:lnTo>
                <a:moveTo>
                  <a:pt x="91531" y="215753"/>
                </a:moveTo>
                <a:lnTo>
                  <a:pt x="156911" y="176525"/>
                </a:lnTo>
                <a:moveTo>
                  <a:pt x="91531" y="215753"/>
                </a:moveTo>
                <a:lnTo>
                  <a:pt x="91531" y="283355"/>
                </a:lnTo>
                <a:moveTo>
                  <a:pt x="156911" y="176525"/>
                </a:moveTo>
                <a:lnTo>
                  <a:pt x="156911" y="248442"/>
                </a:lnTo>
                <a:lnTo>
                  <a:pt x="208822" y="279563"/>
                </a:lnTo>
                <a:cubicBezTo>
                  <a:pt x="217111" y="284543"/>
                  <a:pt x="227470" y="284543"/>
                  <a:pt x="235759" y="279563"/>
                </a:cubicBezTo>
                <a:lnTo>
                  <a:pt x="274987" y="256027"/>
                </a:lnTo>
                <a:cubicBezTo>
                  <a:pt x="282839" y="251309"/>
                  <a:pt x="287650" y="242827"/>
                  <a:pt x="287670" y="233667"/>
                </a:cubicBezTo>
                <a:lnTo>
                  <a:pt x="287670" y="191301"/>
                </a:lnTo>
                <a:cubicBezTo>
                  <a:pt x="287650" y="182140"/>
                  <a:pt x="282839" y="173658"/>
                  <a:pt x="274987" y="168941"/>
                </a:cubicBezTo>
                <a:lnTo>
                  <a:pt x="222291" y="137297"/>
                </a:lnTo>
                <a:lnTo>
                  <a:pt x="156911" y="176525"/>
                </a:lnTo>
                <a:close/>
                <a:moveTo>
                  <a:pt x="222291" y="215753"/>
                </a:moveTo>
                <a:lnTo>
                  <a:pt x="156911" y="176525"/>
                </a:lnTo>
                <a:moveTo>
                  <a:pt x="222291" y="215753"/>
                </a:moveTo>
                <a:lnTo>
                  <a:pt x="284271" y="178486"/>
                </a:lnTo>
                <a:moveTo>
                  <a:pt x="222291" y="215753"/>
                </a:moveTo>
                <a:lnTo>
                  <a:pt x="222291" y="283355"/>
                </a:lnTo>
                <a:moveTo>
                  <a:pt x="104215" y="57796"/>
                </a:moveTo>
                <a:cubicBezTo>
                  <a:pt x="96363" y="62513"/>
                  <a:pt x="91552" y="70995"/>
                  <a:pt x="91531" y="80155"/>
                </a:cubicBezTo>
                <a:lnTo>
                  <a:pt x="91531" y="137297"/>
                </a:lnTo>
                <a:lnTo>
                  <a:pt x="156911" y="176525"/>
                </a:lnTo>
                <a:lnTo>
                  <a:pt x="222291" y="137297"/>
                </a:lnTo>
                <a:lnTo>
                  <a:pt x="222291" y="80155"/>
                </a:lnTo>
                <a:cubicBezTo>
                  <a:pt x="222271" y="70995"/>
                  <a:pt x="217459" y="62513"/>
                  <a:pt x="209607" y="57796"/>
                </a:cubicBezTo>
                <a:lnTo>
                  <a:pt x="170379" y="34259"/>
                </a:lnTo>
                <a:cubicBezTo>
                  <a:pt x="162091" y="29279"/>
                  <a:pt x="151731" y="29279"/>
                  <a:pt x="143443" y="34259"/>
                </a:cubicBezTo>
                <a:lnTo>
                  <a:pt x="104215" y="57796"/>
                </a:lnTo>
                <a:close/>
                <a:moveTo>
                  <a:pt x="156911" y="104607"/>
                </a:moveTo>
                <a:lnTo>
                  <a:pt x="94931" y="67341"/>
                </a:lnTo>
                <a:moveTo>
                  <a:pt x="156911" y="104607"/>
                </a:moveTo>
                <a:lnTo>
                  <a:pt x="218891" y="67341"/>
                </a:lnTo>
                <a:moveTo>
                  <a:pt x="156911" y="176525"/>
                </a:moveTo>
                <a:lnTo>
                  <a:pt x="156911" y="104607"/>
                </a:lnTo>
              </a:path>
            </a:pathLst>
          </a:custGeom>
          <a:noFill/>
          <a:ln w="26152" cap="rnd">
            <a:solidFill>
              <a:srgbClr val="0B6E8A"/>
            </a:solidFill>
            <a:prstDash val="solid"/>
            <a:round/>
          </a:ln>
        </p:spPr>
      </p:sp>
      <p:sp>
        <p:nvSpPr>
          <p:cNvPr id="28" name="Text 26"/>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separar</a:t>
            </a:r>
            <a:endParaRPr lang="en-US" sz="1900" dirty="0"/>
          </a:p>
        </p:txBody>
      </p:sp>
      <p:sp>
        <p:nvSpPr>
          <p:cNvPr id="29"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0" name="Text 28"/>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Responsabilidades claramente distintas</a:t>
            </a:r>
            <a:endParaRPr lang="en-US" sz="1500" dirty="0"/>
          </a:p>
        </p:txBody>
      </p:sp>
      <p:sp>
        <p:nvSpPr>
          <p:cNvPr id="31" name="Shape 29"/>
          <p:cNvSpPr/>
          <p:nvPr/>
        </p:nvSpPr>
        <p:spPr>
          <a:xfrm>
            <a:off x="6690208" y="3593592"/>
            <a:ext cx="4614520" cy="0"/>
          </a:xfrm>
          <a:prstGeom prst="line">
            <a:avLst/>
          </a:prstGeom>
          <a:noFill/>
          <a:ln w="9525">
            <a:solidFill>
              <a:srgbClr val="DFE6F0"/>
            </a:solidFill>
            <a:prstDash val="solid"/>
          </a:ln>
        </p:spPr>
      </p:sp>
      <p:sp>
        <p:nvSpPr>
          <p:cNvPr id="32"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3" name="Text 31"/>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salir sola</a:t>
            </a:r>
            <a:endParaRPr lang="en-US" sz="1500" dirty="0"/>
          </a:p>
        </p:txBody>
      </p:sp>
      <p:sp>
        <p:nvSpPr>
          <p:cNvPr id="34" name="Shape 32"/>
          <p:cNvSpPr/>
          <p:nvPr/>
        </p:nvSpPr>
        <p:spPr>
          <a:xfrm>
            <a:off x="6690208" y="4370832"/>
            <a:ext cx="4614520" cy="0"/>
          </a:xfrm>
          <a:prstGeom prst="line">
            <a:avLst/>
          </a:prstGeom>
          <a:noFill/>
          <a:ln w="9525">
            <a:solidFill>
              <a:srgbClr val="DFE6F0"/>
            </a:solidFill>
            <a:prstDash val="solid"/>
          </a:ln>
        </p:spPr>
      </p:sp>
      <p:sp>
        <p:nvSpPr>
          <p:cNvPr id="35"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6" name="Text 34"/>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más recursos</a:t>
            </a:r>
            <a:endParaRPr lang="en-US" sz="1500" dirty="0"/>
          </a:p>
        </p:txBody>
      </p:sp>
      <p:sp>
        <p:nvSpPr>
          <p:cNvPr id="37" name="Shape 35"/>
          <p:cNvSpPr/>
          <p:nvPr/>
        </p:nvSpPr>
        <p:spPr>
          <a:xfrm>
            <a:off x="6690208" y="5148072"/>
            <a:ext cx="4614520" cy="0"/>
          </a:xfrm>
          <a:prstGeom prst="line">
            <a:avLst/>
          </a:prstGeom>
          <a:noFill/>
          <a:ln w="9525">
            <a:solidFill>
              <a:srgbClr val="DFE6F0"/>
            </a:solidFill>
            <a:prstDash val="solid"/>
          </a:ln>
        </p:spPr>
      </p:sp>
      <p:sp>
        <p:nvSpPr>
          <p:cNvPr id="38" name="Icono circle-check"/>
          <p:cNvSpPr/>
          <p:nvPr/>
        </p:nvSpPr>
        <p:spPr>
          <a:xfrm>
            <a:off x="6708496" y="537210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9" name="Text 37"/>
          <p:cNvSpPr/>
          <p:nvPr/>
        </p:nvSpPr>
        <p:spPr>
          <a:xfrm>
            <a:off x="720227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dueño de cada parte</a:t>
            </a:r>
            <a:endParaRPr lang="en-US" sz="1500" dirty="0"/>
          </a:p>
        </p:txBody>
      </p:sp>
      <p:sp>
        <p:nvSpPr>
          <p:cNvPr id="40" name="Text 38"/>
          <p:cNvSpPr/>
          <p:nvPr/>
        </p:nvSpPr>
        <p:spPr>
          <a:xfrm>
            <a:off x="5766664" y="3707892"/>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database"/>
          <p:cNvSpPr/>
          <p:nvPr/>
        </p:nvSpPr>
        <p:spPr>
          <a:xfrm>
            <a:off x="9098280" y="1783080"/>
            <a:ext cx="1371600" cy="1371600"/>
          </a:xfrm>
          <a:custGeom>
            <a:avLst/>
            <a:gdLst/>
            <a:ahLst/>
            <a:cxnLst/>
            <a:rect l="l" t="t" r="r" b="b"/>
            <a:pathLst>
              <a:path w="1371600" h="1371600">
                <a:moveTo>
                  <a:pt x="1200150" y="285750"/>
                </a:moveTo>
                <a:cubicBezTo>
                  <a:pt x="1200150" y="380439"/>
                  <a:pt x="969868" y="457200"/>
                  <a:pt x="685800" y="457200"/>
                </a:cubicBezTo>
                <a:cubicBezTo>
                  <a:pt x="401732" y="457200"/>
                  <a:pt x="171450" y="380439"/>
                  <a:pt x="171450" y="285750"/>
                </a:cubicBezTo>
                <a:cubicBezTo>
                  <a:pt x="171450" y="191061"/>
                  <a:pt x="401732" y="114300"/>
                  <a:pt x="685800" y="114300"/>
                </a:cubicBezTo>
                <a:cubicBezTo>
                  <a:pt x="969868" y="114300"/>
                  <a:pt x="1200150" y="191061"/>
                  <a:pt x="1200150" y="285750"/>
                </a:cubicBezTo>
                <a:close/>
                <a:moveTo>
                  <a:pt x="171450" y="285750"/>
                </a:moveTo>
                <a:lnTo>
                  <a:pt x="171450" y="1085850"/>
                </a:lnTo>
                <a:cubicBezTo>
                  <a:pt x="171450" y="1180539"/>
                  <a:pt x="401732" y="1257300"/>
                  <a:pt x="685800" y="1257300"/>
                </a:cubicBezTo>
                <a:cubicBezTo>
                  <a:pt x="969868" y="1257300"/>
                  <a:pt x="1200150" y="1180539"/>
                  <a:pt x="1200150" y="1085850"/>
                </a:cubicBezTo>
                <a:lnTo>
                  <a:pt x="1200150" y="285750"/>
                </a:lnTo>
                <a:moveTo>
                  <a:pt x="171450" y="685800"/>
                </a:moveTo>
                <a:cubicBezTo>
                  <a:pt x="171450" y="780489"/>
                  <a:pt x="401732" y="857250"/>
                  <a:pt x="685800" y="857250"/>
                </a:cubicBezTo>
                <a:cubicBezTo>
                  <a:pt x="969868" y="857250"/>
                  <a:pt x="1200150" y="780489"/>
                  <a:pt x="1200150" y="685800"/>
                </a:cubicBez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4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04</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Guardar sin perder datos</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Qué hicimos para que un aviso nunca se pierda ni se duplique.</a:t>
            </a:r>
            <a:endParaRPr lang="en-US" sz="1900" dirty="0"/>
          </a:p>
        </p:txBody>
      </p:sp>
      <p:sp>
        <p:nvSpPr>
          <p:cNvPr id="16" name="Text 14"/>
          <p:cNvSpPr/>
          <p:nvPr/>
        </p:nvSpPr>
        <p:spPr>
          <a:xfrm>
            <a:off x="758952" y="4663440"/>
            <a:ext cx="237744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Modelado y consultas</a:t>
            </a:r>
            <a:endParaRPr lang="en-US" sz="1300" dirty="0"/>
          </a:p>
        </p:txBody>
      </p:sp>
      <p:sp>
        <p:nvSpPr>
          <p:cNvPr id="17" name="Text 15"/>
          <p:cNvSpPr/>
          <p:nvPr/>
        </p:nvSpPr>
        <p:spPr>
          <a:xfrm>
            <a:off x="3264408" y="4663440"/>
            <a:ext cx="35295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Adaptador con base de datos real</a:t>
            </a:r>
            <a:endParaRPr lang="en-US" sz="1300" dirty="0"/>
          </a:p>
        </p:txBody>
      </p:sp>
      <p:sp>
        <p:nvSpPr>
          <p:cNvPr id="18" name="Text 16"/>
          <p:cNvSpPr/>
          <p:nvPr/>
        </p:nvSpPr>
        <p:spPr>
          <a:xfrm>
            <a:off x="6922008" y="466344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El problema de la consistencia</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P4</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4 · Base de datos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adaptador conectado a una base real</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JPA traduce entre objetos y tablas.</a:t>
            </a:r>
            <a:endParaRPr lang="en-US" sz="3200" dirty="0"/>
          </a:p>
        </p:txBody>
      </p:sp>
      <p:sp>
        <p:nvSpPr>
          <p:cNvPr id="7" name="Shape 5"/>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8" name="Shape 6"/>
          <p:cNvSpPr/>
          <p:nvPr/>
        </p:nvSpPr>
        <p:spPr>
          <a:xfrm>
            <a:off x="6437376" y="1659636"/>
            <a:ext cx="566928" cy="566928"/>
          </a:xfrm>
          <a:prstGeom prst="ellipse">
            <a:avLst/>
          </a:prstGeom>
          <a:solidFill>
            <a:srgbClr val="0B2350"/>
          </a:solidFill>
          <a:ln w="12700">
            <a:solidFill>
              <a:srgbClr val="0B2350"/>
            </a:solidFill>
            <a:prstDash val="solid"/>
          </a:ln>
        </p:spPr>
      </p:sp>
      <p:sp>
        <p:nvSpPr>
          <p:cNvPr id="9" name="Icono database"/>
          <p:cNvSpPr/>
          <p:nvPr/>
        </p:nvSpPr>
        <p:spPr>
          <a:xfrm>
            <a:off x="6573439" y="1795699"/>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FFFFFF"/>
            </a:solidFill>
            <a:prstDash val="solid"/>
            <a:round/>
          </a:ln>
        </p:spPr>
      </p:sp>
      <p:sp>
        <p:nvSpPr>
          <p:cNvPr id="10" name="Text 8"/>
          <p:cNvSpPr/>
          <p:nvPr/>
        </p:nvSpPr>
        <p:spPr>
          <a:xfrm>
            <a:off x="7150608" y="1417320"/>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Cada servicio tiene su base PostgreSQL</a:t>
            </a:r>
            <a:endParaRPr lang="en-US" sz="1600" dirty="0"/>
          </a:p>
        </p:txBody>
      </p:sp>
      <p:sp>
        <p:nvSpPr>
          <p:cNvPr id="11" name="Shape 9"/>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6437376" y="2857500"/>
            <a:ext cx="566928" cy="566928"/>
          </a:xfrm>
          <a:prstGeom prst="ellipse">
            <a:avLst/>
          </a:prstGeom>
          <a:solidFill>
            <a:srgbClr val="0B6E8A"/>
          </a:solidFill>
          <a:ln w="12700">
            <a:solidFill>
              <a:srgbClr val="0B6E8A"/>
            </a:solidFill>
            <a:prstDash val="solid"/>
          </a:ln>
        </p:spPr>
      </p:sp>
      <p:sp>
        <p:nvSpPr>
          <p:cNvPr id="13" name="Icono table"/>
          <p:cNvSpPr/>
          <p:nvPr/>
        </p:nvSpPr>
        <p:spPr>
          <a:xfrm>
            <a:off x="6573439" y="2993563"/>
            <a:ext cx="294803" cy="294803"/>
          </a:xfrm>
          <a:custGeom>
            <a:avLst/>
            <a:gdLst/>
            <a:ahLst/>
            <a:cxnLst/>
            <a:rect l="l" t="t" r="r" b="b"/>
            <a:pathLst>
              <a:path w="294803" h="294803">
                <a:moveTo>
                  <a:pt x="147401" y="36850"/>
                </a:moveTo>
                <a:lnTo>
                  <a:pt x="147401" y="257952"/>
                </a:lnTo>
                <a:moveTo>
                  <a:pt x="61417" y="36850"/>
                </a:moveTo>
                <a:lnTo>
                  <a:pt x="233385" y="36850"/>
                </a:lnTo>
                <a:cubicBezTo>
                  <a:pt x="246953" y="36850"/>
                  <a:pt x="257952" y="47849"/>
                  <a:pt x="257952" y="61417"/>
                </a:cubicBezTo>
                <a:lnTo>
                  <a:pt x="257952" y="233385"/>
                </a:lnTo>
                <a:cubicBezTo>
                  <a:pt x="257952" y="246953"/>
                  <a:pt x="246953" y="257952"/>
                  <a:pt x="233385" y="257952"/>
                </a:cubicBezTo>
                <a:lnTo>
                  <a:pt x="61417" y="257952"/>
                </a:lnTo>
                <a:cubicBezTo>
                  <a:pt x="47849" y="257952"/>
                  <a:pt x="36850" y="246953"/>
                  <a:pt x="36850" y="233385"/>
                </a:cubicBezTo>
                <a:lnTo>
                  <a:pt x="36850" y="61417"/>
                </a:lnTo>
                <a:cubicBezTo>
                  <a:pt x="36850" y="47849"/>
                  <a:pt x="47849" y="36850"/>
                  <a:pt x="61417" y="36850"/>
                </a:cubicBezTo>
                <a:close/>
                <a:moveTo>
                  <a:pt x="36850" y="110551"/>
                </a:moveTo>
                <a:lnTo>
                  <a:pt x="257952" y="110551"/>
                </a:lnTo>
                <a:moveTo>
                  <a:pt x="36850" y="184252"/>
                </a:moveTo>
                <a:lnTo>
                  <a:pt x="257952" y="184252"/>
                </a:lnTo>
              </a:path>
            </a:pathLst>
          </a:custGeom>
          <a:noFill/>
          <a:ln w="24567" cap="rnd">
            <a:solidFill>
              <a:srgbClr val="FFFFFF"/>
            </a:solidFill>
            <a:prstDash val="solid"/>
            <a:round/>
          </a:ln>
        </p:spPr>
      </p:sp>
      <p:sp>
        <p:nvSpPr>
          <p:cNvPr id="14" name="Text 12"/>
          <p:cNvSpPr/>
          <p:nvPr/>
        </p:nvSpPr>
        <p:spPr>
          <a:xfrm>
            <a:off x="7150608" y="2615184"/>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schema.sql crea las tablas al arrancar</a:t>
            </a:r>
            <a:endParaRPr lang="en-US" sz="1600" dirty="0"/>
          </a:p>
        </p:txBody>
      </p:sp>
      <p:sp>
        <p:nvSpPr>
          <p:cNvPr id="15" name="Shape 13"/>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437376" y="4055364"/>
            <a:ext cx="566928" cy="566928"/>
          </a:xfrm>
          <a:prstGeom prst="ellipse">
            <a:avLst/>
          </a:prstGeom>
          <a:solidFill>
            <a:srgbClr val="0B6E8A"/>
          </a:solidFill>
          <a:ln w="12700">
            <a:solidFill>
              <a:srgbClr val="0B6E8A"/>
            </a:solidFill>
            <a:prstDash val="solid"/>
          </a:ln>
        </p:spPr>
      </p:sp>
      <p:sp>
        <p:nvSpPr>
          <p:cNvPr id="17" name="Icono list-checks"/>
          <p:cNvSpPr/>
          <p:nvPr/>
        </p:nvSpPr>
        <p:spPr>
          <a:xfrm>
            <a:off x="6573439" y="4191427"/>
            <a:ext cx="294803" cy="294803"/>
          </a:xfrm>
          <a:custGeom>
            <a:avLst/>
            <a:gdLst/>
            <a:ahLst/>
            <a:cxnLst/>
            <a:rect l="l" t="t" r="r" b="b"/>
            <a:pathLst>
              <a:path w="294803" h="294803">
                <a:moveTo>
                  <a:pt x="36850" y="208818"/>
                </a:moveTo>
                <a:lnTo>
                  <a:pt x="61417" y="233385"/>
                </a:lnTo>
                <a:lnTo>
                  <a:pt x="110551" y="184252"/>
                </a:lnTo>
                <a:moveTo>
                  <a:pt x="36850" y="85984"/>
                </a:moveTo>
                <a:lnTo>
                  <a:pt x="61417" y="110551"/>
                </a:lnTo>
                <a:lnTo>
                  <a:pt x="110551" y="61417"/>
                </a:lnTo>
                <a:moveTo>
                  <a:pt x="159685" y="73701"/>
                </a:moveTo>
                <a:lnTo>
                  <a:pt x="257952" y="73701"/>
                </a:lnTo>
                <a:moveTo>
                  <a:pt x="159685" y="147401"/>
                </a:moveTo>
                <a:lnTo>
                  <a:pt x="257952" y="147401"/>
                </a:lnTo>
                <a:moveTo>
                  <a:pt x="159685" y="221102"/>
                </a:moveTo>
                <a:lnTo>
                  <a:pt x="257952" y="221102"/>
                </a:lnTo>
              </a:path>
            </a:pathLst>
          </a:custGeom>
          <a:noFill/>
          <a:ln w="24567" cap="rnd">
            <a:solidFill>
              <a:srgbClr val="FFFFFF"/>
            </a:solidFill>
            <a:prstDash val="solid"/>
            <a:round/>
          </a:ln>
        </p:spPr>
      </p:sp>
      <p:sp>
        <p:nvSpPr>
          <p:cNvPr id="18" name="Text 16"/>
          <p:cNvSpPr/>
          <p:nvPr/>
        </p:nvSpPr>
        <p:spPr>
          <a:xfrm>
            <a:off x="7150608" y="3813048"/>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Hibernate revisa que las entidades coincidan</a:t>
            </a:r>
            <a:endParaRPr lang="en-US" sz="1600" dirty="0"/>
          </a:p>
        </p:txBody>
      </p:sp>
      <p:sp>
        <p:nvSpPr>
          <p:cNvPr id="19" name="Shape 17"/>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437376" y="5253228"/>
            <a:ext cx="566928" cy="566928"/>
          </a:xfrm>
          <a:prstGeom prst="ellipse">
            <a:avLst/>
          </a:prstGeom>
          <a:solidFill>
            <a:srgbClr val="0A6648"/>
          </a:solidFill>
          <a:ln w="12700">
            <a:solidFill>
              <a:srgbClr val="0A6648"/>
            </a:solidFill>
            <a:prstDash val="solid"/>
          </a:ln>
        </p:spPr>
      </p:sp>
      <p:sp>
        <p:nvSpPr>
          <p:cNvPr id="21" name="Icono split"/>
          <p:cNvSpPr/>
          <p:nvPr/>
        </p:nvSpPr>
        <p:spPr>
          <a:xfrm>
            <a:off x="6573439" y="5389291"/>
            <a:ext cx="294803" cy="294803"/>
          </a:xfrm>
          <a:custGeom>
            <a:avLst/>
            <a:gdLst/>
            <a:ahLst/>
            <a:cxnLst/>
            <a:rect l="l" t="t" r="r" b="b"/>
            <a:pathLst>
              <a:path w="294803" h="294803">
                <a:moveTo>
                  <a:pt x="196535" y="36850"/>
                </a:moveTo>
                <a:lnTo>
                  <a:pt x="257952" y="36850"/>
                </a:lnTo>
                <a:lnTo>
                  <a:pt x="257952" y="98268"/>
                </a:lnTo>
                <a:moveTo>
                  <a:pt x="98268" y="36850"/>
                </a:moveTo>
                <a:lnTo>
                  <a:pt x="36850" y="36850"/>
                </a:lnTo>
                <a:lnTo>
                  <a:pt x="36850" y="98268"/>
                </a:lnTo>
                <a:moveTo>
                  <a:pt x="147401" y="270236"/>
                </a:moveTo>
                <a:lnTo>
                  <a:pt x="147401" y="168283"/>
                </a:lnTo>
                <a:cubicBezTo>
                  <a:pt x="147543" y="155066"/>
                  <a:pt x="142354" y="142349"/>
                  <a:pt x="133005" y="133005"/>
                </a:cubicBezTo>
                <a:lnTo>
                  <a:pt x="36850" y="36850"/>
                </a:lnTo>
                <a:moveTo>
                  <a:pt x="184252" y="110551"/>
                </a:moveTo>
                <a:lnTo>
                  <a:pt x="257952" y="36850"/>
                </a:lnTo>
              </a:path>
            </a:pathLst>
          </a:custGeom>
          <a:noFill/>
          <a:ln w="24567" cap="rnd">
            <a:solidFill>
              <a:srgbClr val="FFFFFF"/>
            </a:solidFill>
            <a:prstDash val="solid"/>
            <a:round/>
          </a:ln>
        </p:spPr>
      </p:sp>
      <p:sp>
        <p:nvSpPr>
          <p:cNvPr id="22" name="Text 20"/>
          <p:cNvSpPr/>
          <p:nvPr/>
        </p:nvSpPr>
        <p:spPr>
          <a:xfrm>
            <a:off x="7150608" y="5010912"/>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entidad JPA no es el objeto del dominio</a:t>
            </a:r>
            <a:endParaRPr lang="en-US" sz="1600" dirty="0"/>
          </a:p>
        </p:txBody>
      </p:sp>
      <p:sp>
        <p:nvSpPr>
          <p:cNvPr id="23" name="Text 2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guarda el trámite y sus eventos</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Notificaciones guarda qué eventos ya recibió</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texto del aviso vive en memoria</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 hay relación directa entre las dos bases</a:t>
            </a:r>
            <a:endParaRPr lang="en-US" sz="1100" dirty="0"/>
          </a:p>
        </p:txBody>
      </p:sp>
      <p:sp>
        <p:nvSpPr>
          <p:cNvPr id="9" name="Shape 7"/>
          <p:cNvSpPr/>
          <p:nvPr/>
        </p:nvSpPr>
        <p:spPr>
          <a:xfrm>
            <a:off x="795421" y="2063145"/>
            <a:ext cx="5117653" cy="3107146"/>
          </a:xfrm>
          <a:prstGeom prst="roundRect">
            <a:avLst>
              <a:gd name="adj" fmla="val 3531"/>
            </a:avLst>
          </a:prstGeom>
          <a:solidFill>
            <a:srgbClr val="F4F7FB"/>
          </a:solidFill>
          <a:ln w="12700">
            <a:solidFill>
              <a:srgbClr val="DFE6F0"/>
            </a:solidFill>
            <a:prstDash val="solid"/>
          </a:ln>
        </p:spPr>
      </p:sp>
      <p:sp>
        <p:nvSpPr>
          <p:cNvPr id="10" name="Text 8"/>
          <p:cNvSpPr/>
          <p:nvPr/>
        </p:nvSpPr>
        <p:spPr>
          <a:xfrm>
            <a:off x="868573" y="2118009"/>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11" name="Shape 9"/>
          <p:cNvSpPr/>
          <p:nvPr/>
        </p:nvSpPr>
        <p:spPr>
          <a:xfrm>
            <a:off x="6278621" y="2063145"/>
            <a:ext cx="5117653" cy="3107146"/>
          </a:xfrm>
          <a:prstGeom prst="roundRect">
            <a:avLst>
              <a:gd name="adj" fmla="val 3531"/>
            </a:avLst>
          </a:prstGeom>
          <a:solidFill>
            <a:srgbClr val="F4F7FB"/>
          </a:solidFill>
          <a:ln w="12700">
            <a:solidFill>
              <a:srgbClr val="DFE6F0"/>
            </a:solidFill>
            <a:prstDash val="solid"/>
          </a:ln>
        </p:spPr>
      </p:sp>
      <p:sp>
        <p:nvSpPr>
          <p:cNvPr id="12" name="Text 10"/>
          <p:cNvSpPr/>
          <p:nvPr/>
        </p:nvSpPr>
        <p:spPr>
          <a:xfrm>
            <a:off x="6351773" y="2118009"/>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13" name="Shape 11"/>
          <p:cNvSpPr/>
          <p:nvPr/>
        </p:nvSpPr>
        <p:spPr>
          <a:xfrm>
            <a:off x="2166221" y="3159785"/>
            <a:ext cx="0" cy="822480"/>
          </a:xfrm>
          <a:prstGeom prst="line">
            <a:avLst/>
          </a:prstGeom>
          <a:noFill/>
          <a:ln w="31750">
            <a:solidFill>
              <a:srgbClr val="55627E"/>
            </a:solidFill>
            <a:prstDash val="sysDot"/>
            <a:tailEnd type="triangle"/>
          </a:ln>
        </p:spPr>
      </p:sp>
      <p:sp>
        <p:nvSpPr>
          <p:cNvPr id="14" name="Text 12"/>
          <p:cNvSpPr/>
          <p:nvPr/>
        </p:nvSpPr>
        <p:spPr>
          <a:xfrm>
            <a:off x="2257608" y="3452132"/>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a:t>
            </a:r>
            <a:endParaRPr lang="en-US" sz="850" dirty="0"/>
          </a:p>
        </p:txBody>
      </p:sp>
      <p:sp>
        <p:nvSpPr>
          <p:cNvPr id="15" name="Text 13"/>
          <p:cNvSpPr/>
          <p:nvPr/>
        </p:nvSpPr>
        <p:spPr>
          <a:xfrm>
            <a:off x="2056493"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542274" y="3159785"/>
            <a:ext cx="0" cy="822480"/>
          </a:xfrm>
          <a:prstGeom prst="line">
            <a:avLst/>
          </a:prstGeom>
          <a:noFill/>
          <a:ln w="31750">
            <a:solidFill>
              <a:srgbClr val="55627E"/>
            </a:solidFill>
            <a:prstDash val="sysDot"/>
            <a:tailEnd type="triangle"/>
          </a:ln>
        </p:spPr>
      </p:sp>
      <p:sp>
        <p:nvSpPr>
          <p:cNvPr id="17" name="Text 15"/>
          <p:cNvSpPr/>
          <p:nvPr/>
        </p:nvSpPr>
        <p:spPr>
          <a:xfrm>
            <a:off x="4633661" y="3452132"/>
            <a:ext cx="656539"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18" name="Text 16"/>
          <p:cNvSpPr/>
          <p:nvPr/>
        </p:nvSpPr>
        <p:spPr>
          <a:xfrm>
            <a:off x="4432546"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9" name="Shape 17"/>
          <p:cNvSpPr/>
          <p:nvPr/>
        </p:nvSpPr>
        <p:spPr>
          <a:xfrm>
            <a:off x="7649421" y="3159785"/>
            <a:ext cx="0" cy="822480"/>
          </a:xfrm>
          <a:prstGeom prst="line">
            <a:avLst/>
          </a:prstGeom>
          <a:noFill/>
          <a:ln w="31750">
            <a:solidFill>
              <a:srgbClr val="55627E"/>
            </a:solidFill>
            <a:prstDash val="sysDot"/>
            <a:tailEnd type="triangle"/>
          </a:ln>
        </p:spPr>
      </p:sp>
      <p:sp>
        <p:nvSpPr>
          <p:cNvPr id="20" name="Text 18"/>
          <p:cNvSpPr/>
          <p:nvPr/>
        </p:nvSpPr>
        <p:spPr>
          <a:xfrm>
            <a:off x="7740807" y="3452132"/>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agrega</a:t>
            </a:r>
            <a:endParaRPr lang="en-US" sz="850" dirty="0"/>
          </a:p>
        </p:txBody>
      </p:sp>
      <p:sp>
        <p:nvSpPr>
          <p:cNvPr id="21" name="Text 19"/>
          <p:cNvSpPr/>
          <p:nvPr/>
        </p:nvSpPr>
        <p:spPr>
          <a:xfrm>
            <a:off x="7539693"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2" name="Shape 20"/>
          <p:cNvSpPr/>
          <p:nvPr/>
        </p:nvSpPr>
        <p:spPr>
          <a:xfrm>
            <a:off x="10025474" y="3159785"/>
            <a:ext cx="0" cy="822480"/>
          </a:xfrm>
          <a:prstGeom prst="line">
            <a:avLst/>
          </a:prstGeom>
          <a:noFill/>
          <a:ln w="31750">
            <a:solidFill>
              <a:srgbClr val="55627E"/>
            </a:solidFill>
            <a:prstDash val="sysDot"/>
            <a:tailEnd type="triangle"/>
          </a:ln>
        </p:spPr>
      </p:sp>
      <p:sp>
        <p:nvSpPr>
          <p:cNvPr id="23" name="Text 21"/>
          <p:cNvSpPr/>
          <p:nvPr/>
        </p:nvSpPr>
        <p:spPr>
          <a:xfrm>
            <a:off x="10116861" y="3452132"/>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 id</a:t>
            </a:r>
            <a:endParaRPr lang="en-US" sz="850" dirty="0"/>
          </a:p>
        </p:txBody>
      </p:sp>
      <p:sp>
        <p:nvSpPr>
          <p:cNvPr id="24" name="Text 22"/>
          <p:cNvSpPr/>
          <p:nvPr/>
        </p:nvSpPr>
        <p:spPr>
          <a:xfrm>
            <a:off x="9915746"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5" name="Shape 23"/>
          <p:cNvSpPr/>
          <p:nvPr/>
        </p:nvSpPr>
        <p:spPr>
          <a:xfrm>
            <a:off x="1160968" y="2520079"/>
            <a:ext cx="4386560" cy="639707"/>
          </a:xfrm>
          <a:prstGeom prst="roundRect">
            <a:avLst>
              <a:gd name="adj" fmla="val 12865"/>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252408" y="2629620"/>
            <a:ext cx="420624" cy="420624"/>
          </a:xfrm>
          <a:prstGeom prst="ellipse">
            <a:avLst/>
          </a:prstGeom>
          <a:solidFill>
            <a:srgbClr val="E2E5EA"/>
          </a:solidFill>
          <a:ln w="12700">
            <a:solidFill>
              <a:srgbClr val="E2E5EA"/>
            </a:solidFill>
            <a:prstDash val="solid"/>
          </a:ln>
        </p:spPr>
      </p:sp>
      <p:sp>
        <p:nvSpPr>
          <p:cNvPr id="27" name="Icono server"/>
          <p:cNvSpPr/>
          <p:nvPr/>
        </p:nvSpPr>
        <p:spPr>
          <a:xfrm>
            <a:off x="1307272" y="2684484"/>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8" name="Text 26"/>
          <p:cNvSpPr/>
          <p:nvPr/>
        </p:nvSpPr>
        <p:spPr>
          <a:xfrm>
            <a:off x="1727896" y="2520079"/>
            <a:ext cx="3764768" cy="63970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Proceso Java de 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ServicioDeSolicitudes</a:t>
            </a:r>
            <a:endParaRPr lang="en-US" sz="1079" dirty="0"/>
          </a:p>
        </p:txBody>
      </p:sp>
      <p:sp>
        <p:nvSpPr>
          <p:cNvPr id="29" name="Shape 27"/>
          <p:cNvSpPr/>
          <p:nvPr/>
        </p:nvSpPr>
        <p:spPr>
          <a:xfrm>
            <a:off x="1160968" y="3982265"/>
            <a:ext cx="2010507" cy="913867"/>
          </a:xfrm>
          <a:prstGeom prst="roundRect">
            <a:avLst>
              <a:gd name="adj" fmla="val 9005"/>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1252408" y="4228887"/>
            <a:ext cx="420624" cy="420624"/>
          </a:xfrm>
          <a:prstGeom prst="ellipse">
            <a:avLst/>
          </a:prstGeom>
          <a:solidFill>
            <a:srgbClr val="E8EBEE"/>
          </a:solidFill>
          <a:ln w="12700">
            <a:solidFill>
              <a:srgbClr val="E8EBEE"/>
            </a:solidFill>
            <a:prstDash val="solid"/>
          </a:ln>
        </p:spPr>
      </p:sp>
      <p:sp>
        <p:nvSpPr>
          <p:cNvPr id="31" name="Icono database"/>
          <p:cNvSpPr/>
          <p:nvPr/>
        </p:nvSpPr>
        <p:spPr>
          <a:xfrm>
            <a:off x="1307272" y="42837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1727896"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solicitud</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id · tipo · estado</a:t>
            </a:r>
            <a:endParaRPr lang="en-US" sz="1079" dirty="0"/>
          </a:p>
        </p:txBody>
      </p:sp>
      <p:sp>
        <p:nvSpPr>
          <p:cNvPr id="33" name="Shape 31"/>
          <p:cNvSpPr/>
          <p:nvPr/>
        </p:nvSpPr>
        <p:spPr>
          <a:xfrm>
            <a:off x="3537021" y="3982265"/>
            <a:ext cx="2010507" cy="913867"/>
          </a:xfrm>
          <a:prstGeom prst="roundRect">
            <a:avLst>
              <a:gd name="adj" fmla="val 9005"/>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3628461" y="4228887"/>
            <a:ext cx="420624" cy="420624"/>
          </a:xfrm>
          <a:prstGeom prst="ellipse">
            <a:avLst/>
          </a:prstGeom>
          <a:solidFill>
            <a:srgbClr val="E8EBEE"/>
          </a:solidFill>
          <a:ln w="12700">
            <a:solidFill>
              <a:srgbClr val="E8EBEE"/>
            </a:solidFill>
            <a:prstDash val="solid"/>
          </a:ln>
        </p:spPr>
      </p:sp>
      <p:sp>
        <p:nvSpPr>
          <p:cNvPr id="35" name="Icono database"/>
          <p:cNvSpPr/>
          <p:nvPr/>
        </p:nvSpPr>
        <p:spPr>
          <a:xfrm>
            <a:off x="3683325" y="42837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6" name="Text 34"/>
          <p:cNvSpPr/>
          <p:nvPr/>
        </p:nvSpPr>
        <p:spPr>
          <a:xfrm>
            <a:off x="4103949"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evento</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evento_id · procesado</a:t>
            </a:r>
            <a:endParaRPr lang="en-US" sz="1079" dirty="0"/>
          </a:p>
        </p:txBody>
      </p:sp>
      <p:sp>
        <p:nvSpPr>
          <p:cNvPr id="37" name="Shape 35"/>
          <p:cNvSpPr/>
          <p:nvPr/>
        </p:nvSpPr>
        <p:spPr>
          <a:xfrm>
            <a:off x="6644168" y="2520079"/>
            <a:ext cx="4386560" cy="639707"/>
          </a:xfrm>
          <a:prstGeom prst="roundRect">
            <a:avLst>
              <a:gd name="adj" fmla="val 12865"/>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735608" y="2629620"/>
            <a:ext cx="420624" cy="420624"/>
          </a:xfrm>
          <a:prstGeom prst="ellipse">
            <a:avLst/>
          </a:prstGeom>
          <a:solidFill>
            <a:srgbClr val="E2E5EA"/>
          </a:solidFill>
          <a:ln w="12700">
            <a:solidFill>
              <a:srgbClr val="E2E5EA"/>
            </a:solidFill>
            <a:prstDash val="solid"/>
          </a:ln>
        </p:spPr>
      </p:sp>
      <p:sp>
        <p:nvSpPr>
          <p:cNvPr id="39" name="Icono server"/>
          <p:cNvSpPr/>
          <p:nvPr/>
        </p:nvSpPr>
        <p:spPr>
          <a:xfrm>
            <a:off x="6790472" y="2684484"/>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40" name="Text 38"/>
          <p:cNvSpPr/>
          <p:nvPr/>
        </p:nvSpPr>
        <p:spPr>
          <a:xfrm>
            <a:off x="7211096" y="2520079"/>
            <a:ext cx="3764768" cy="63970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Proceso Java de notificaciones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ConsumoIdempotente</a:t>
            </a:r>
            <a:endParaRPr lang="en-US" sz="1079" dirty="0"/>
          </a:p>
        </p:txBody>
      </p:sp>
      <p:sp>
        <p:nvSpPr>
          <p:cNvPr id="41" name="Shape 39"/>
          <p:cNvSpPr/>
          <p:nvPr/>
        </p:nvSpPr>
        <p:spPr>
          <a:xfrm>
            <a:off x="6644168" y="3982265"/>
            <a:ext cx="2010507" cy="913867"/>
          </a:xfrm>
          <a:prstGeom prst="roundRect">
            <a:avLst>
              <a:gd name="adj" fmla="val 9005"/>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42" name="Shape 40"/>
          <p:cNvSpPr/>
          <p:nvPr/>
        </p:nvSpPr>
        <p:spPr>
          <a:xfrm>
            <a:off x="6735608" y="4228887"/>
            <a:ext cx="420624" cy="420624"/>
          </a:xfrm>
          <a:prstGeom prst="ellipse">
            <a:avLst/>
          </a:prstGeom>
          <a:solidFill>
            <a:srgbClr val="E2E5EA"/>
          </a:solidFill>
          <a:ln w="12700">
            <a:solidFill>
              <a:srgbClr val="E2E5EA"/>
            </a:solidFill>
            <a:prstDash val="solid"/>
          </a:ln>
        </p:spPr>
      </p:sp>
      <p:sp>
        <p:nvSpPr>
          <p:cNvPr id="43" name="Icono bell"/>
          <p:cNvSpPr/>
          <p:nvPr/>
        </p:nvSpPr>
        <p:spPr>
          <a:xfrm>
            <a:off x="6790472" y="42837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44" name="Text 42"/>
          <p:cNvSpPr/>
          <p:nvPr/>
        </p:nvSpPr>
        <p:spPr>
          <a:xfrm>
            <a:off x="7211096"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5C3404"/>
                </a:solidFill>
                <a:latin typeface="Segoe UI" pitchFamily="34" charset="0"/>
                <a:ea typeface="Segoe UI" pitchFamily="34" charset="-122"/>
                <a:cs typeface="Segoe UI" pitchFamily="34" charset="-120"/>
              </a:rPr>
              <a:t>Avisos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lista en memoria</a:t>
            </a:r>
            <a:endParaRPr lang="en-US" sz="1079" dirty="0"/>
          </a:p>
        </p:txBody>
      </p:sp>
      <p:sp>
        <p:nvSpPr>
          <p:cNvPr id="45" name="Shape 43"/>
          <p:cNvSpPr/>
          <p:nvPr/>
        </p:nvSpPr>
        <p:spPr>
          <a:xfrm>
            <a:off x="9020221" y="3982265"/>
            <a:ext cx="2010507" cy="913867"/>
          </a:xfrm>
          <a:prstGeom prst="roundRect">
            <a:avLst>
              <a:gd name="adj" fmla="val 9005"/>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9111661" y="4228887"/>
            <a:ext cx="420624" cy="420624"/>
          </a:xfrm>
          <a:prstGeom prst="ellipse">
            <a:avLst/>
          </a:prstGeom>
          <a:solidFill>
            <a:srgbClr val="E8EBEE"/>
          </a:solidFill>
          <a:ln w="12700">
            <a:solidFill>
              <a:srgbClr val="E8EBEE"/>
            </a:solidFill>
            <a:prstDash val="solid"/>
          </a:ln>
        </p:spPr>
      </p:sp>
      <p:sp>
        <p:nvSpPr>
          <p:cNvPr id="47" name="Icono database"/>
          <p:cNvSpPr/>
          <p:nvPr/>
        </p:nvSpPr>
        <p:spPr>
          <a:xfrm>
            <a:off x="9166525" y="42837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8" name="Text 46"/>
          <p:cNvSpPr/>
          <p:nvPr/>
        </p:nvSpPr>
        <p:spPr>
          <a:xfrm>
            <a:off x="9587149"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evento_procesado</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evento_id</a:t>
            </a:r>
            <a:endParaRPr lang="en-US" sz="1079" dirty="0"/>
          </a:p>
        </p:txBody>
      </p:sp>
      <p:sp>
        <p:nvSpPr>
          <p:cNvPr id="49" name="Shape 47"/>
          <p:cNvSpPr/>
          <p:nvPr/>
        </p:nvSpPr>
        <p:spPr>
          <a:xfrm>
            <a:off x="3902568" y="5444452"/>
            <a:ext cx="4386560" cy="584875"/>
          </a:xfrm>
          <a:prstGeom prst="roundRect">
            <a:avLst>
              <a:gd name="adj" fmla="val 14071"/>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3994008" y="5529958"/>
            <a:ext cx="413863" cy="413863"/>
          </a:xfrm>
          <a:prstGeom prst="ellipse">
            <a:avLst/>
          </a:prstGeom>
          <a:solidFill>
            <a:srgbClr val="E2E5EA"/>
          </a:solidFill>
          <a:ln w="12700">
            <a:solidFill>
              <a:srgbClr val="E2E5EA"/>
            </a:solidFill>
            <a:prstDash val="solid"/>
          </a:ln>
        </p:spPr>
      </p:sp>
      <p:sp>
        <p:nvSpPr>
          <p:cNvPr id="51" name="Icono split"/>
          <p:cNvSpPr/>
          <p:nvPr/>
        </p:nvSpPr>
        <p:spPr>
          <a:xfrm>
            <a:off x="4048872" y="5584822"/>
            <a:ext cx="304135" cy="304135"/>
          </a:xfrm>
          <a:custGeom>
            <a:avLst/>
            <a:gdLst/>
            <a:ahLst/>
            <a:cxnLst/>
            <a:rect l="l" t="t" r="r" b="b"/>
            <a:pathLst>
              <a:path w="304135" h="304135">
                <a:moveTo>
                  <a:pt x="202757" y="38017"/>
                </a:moveTo>
                <a:lnTo>
                  <a:pt x="266118" y="38017"/>
                </a:lnTo>
                <a:lnTo>
                  <a:pt x="266118" y="101378"/>
                </a:lnTo>
                <a:moveTo>
                  <a:pt x="101378" y="38017"/>
                </a:moveTo>
                <a:lnTo>
                  <a:pt x="38017" y="38017"/>
                </a:lnTo>
                <a:lnTo>
                  <a:pt x="38017" y="101378"/>
                </a:lnTo>
                <a:moveTo>
                  <a:pt x="152067" y="278790"/>
                </a:moveTo>
                <a:lnTo>
                  <a:pt x="152067" y="173610"/>
                </a:lnTo>
                <a:cubicBezTo>
                  <a:pt x="152214" y="159975"/>
                  <a:pt x="146860" y="146856"/>
                  <a:pt x="137215" y="137215"/>
                </a:cubicBezTo>
                <a:lnTo>
                  <a:pt x="38017" y="38017"/>
                </a:lnTo>
                <a:moveTo>
                  <a:pt x="190084" y="114051"/>
                </a:moveTo>
                <a:lnTo>
                  <a:pt x="266118" y="38017"/>
                </a:lnTo>
              </a:path>
            </a:pathLst>
          </a:custGeom>
          <a:noFill/>
          <a:ln w="25345" cap="rnd">
            <a:solidFill>
              <a:srgbClr val="0B2350"/>
            </a:solidFill>
            <a:prstDash val="solid"/>
            <a:round/>
          </a:ln>
        </p:spPr>
      </p:sp>
      <p:sp>
        <p:nvSpPr>
          <p:cNvPr id="52" name="Text 50"/>
          <p:cNvSpPr/>
          <p:nvPr/>
        </p:nvSpPr>
        <p:spPr>
          <a:xfrm>
            <a:off x="4462735" y="5444452"/>
            <a:ext cx="3771529" cy="584875"/>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Sin FK entre bases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el vínculo es el contrato del evento por HTTP</a:t>
            </a:r>
            <a:endParaRPr lang="en-US" sz="1079"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E3F4FA"/>
          </a:solidFill>
          <a:ln w="22225">
            <a:solidFill>
              <a:srgbClr val="2BA6CB"/>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F4F7FB"/>
          </a:solidFill>
          <a:ln w="12700">
            <a:solidFill>
              <a:srgbClr val="DFE6F0"/>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47625">
            <a:solidFill>
              <a:srgbClr val="2BA6CB"/>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47625">
            <a:solidFill>
              <a:srgbClr val="2BA6CB"/>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31750">
            <a:solidFill>
              <a:srgbClr val="CBD5E3"/>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31750">
            <a:solidFill>
              <a:srgbClr val="CBD5E3"/>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2" name="Shape 20"/>
          <p:cNvSpPr/>
          <p:nvPr/>
        </p:nvSpPr>
        <p:spPr>
          <a:xfrm>
            <a:off x="1743304" y="1957913"/>
            <a:ext cx="409285" cy="409285"/>
          </a:xfrm>
          <a:prstGeom prst="ellipse">
            <a:avLst/>
          </a:prstGeom>
          <a:solidFill>
            <a:srgbClr val="E3F4FA"/>
          </a:solidFill>
          <a:ln w="12700">
            <a:solidFill>
              <a:srgbClr val="E3F4F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6E8A"/>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6" name="Shape 24"/>
          <p:cNvSpPr/>
          <p:nvPr/>
        </p:nvSpPr>
        <p:spPr>
          <a:xfrm>
            <a:off x="1743304" y="3392424"/>
            <a:ext cx="420624" cy="420624"/>
          </a:xfrm>
          <a:prstGeom prst="ellipse">
            <a:avLst/>
          </a:prstGeom>
          <a:solidFill>
            <a:srgbClr val="E3F4FA"/>
          </a:solidFill>
          <a:ln w="12700">
            <a:solidFill>
              <a:srgbClr val="E3F4FA"/>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0" name="Shape 28"/>
          <p:cNvSpPr/>
          <p:nvPr/>
        </p:nvSpPr>
        <p:spPr>
          <a:xfrm>
            <a:off x="3883000" y="3392424"/>
            <a:ext cx="420624" cy="420624"/>
          </a:xfrm>
          <a:prstGeom prst="ellipse">
            <a:avLst/>
          </a:prstGeom>
          <a:solidFill>
            <a:srgbClr val="E3F4FA"/>
          </a:solidFill>
          <a:ln w="12700">
            <a:solidFill>
              <a:srgbClr val="E3F4FA"/>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12700">
            <a:solidFill>
              <a:srgbClr val="D5DDE8"/>
            </a:solidFill>
            <a:prstDash val="solid"/>
          </a:ln>
        </p:spPr>
      </p:sp>
      <p:sp>
        <p:nvSpPr>
          <p:cNvPr id="34" name="Shape 32"/>
          <p:cNvSpPr/>
          <p:nvPr/>
        </p:nvSpPr>
        <p:spPr>
          <a:xfrm>
            <a:off x="6681064" y="1957913"/>
            <a:ext cx="409285" cy="409285"/>
          </a:xfrm>
          <a:prstGeom prst="ellipse">
            <a:avLst/>
          </a:prstGeom>
          <a:solidFill>
            <a:srgbClr val="EEF2F7"/>
          </a:solidFill>
          <a:ln w="12700">
            <a:solidFill>
              <a:srgbClr val="EEF2F7"/>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A9B4C6"/>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12700">
            <a:solidFill>
              <a:srgbClr val="A85D08"/>
            </a:solidFill>
            <a:prstDash val="dash"/>
          </a:ln>
        </p:spPr>
      </p:sp>
      <p:sp>
        <p:nvSpPr>
          <p:cNvPr id="38" name="Shape 36"/>
          <p:cNvSpPr/>
          <p:nvPr/>
        </p:nvSpPr>
        <p:spPr>
          <a:xfrm>
            <a:off x="6681064" y="3392424"/>
            <a:ext cx="420624" cy="420624"/>
          </a:xfrm>
          <a:prstGeom prst="ellipse">
            <a:avLst/>
          </a:prstGeom>
          <a:solidFill>
            <a:srgbClr val="EEF2F7"/>
          </a:solidFill>
          <a:ln w="12700">
            <a:solidFill>
              <a:srgbClr val="EEF2F7"/>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A9B4C6"/>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3F6FA"/>
          </a:solidFill>
          <a:ln w="12700">
            <a:solidFill>
              <a:srgbClr val="D5DDE8"/>
            </a:solidFill>
            <a:prstDash val="solid"/>
          </a:ln>
        </p:spPr>
      </p:sp>
      <p:sp>
        <p:nvSpPr>
          <p:cNvPr id="42" name="Shape 40"/>
          <p:cNvSpPr/>
          <p:nvPr/>
        </p:nvSpPr>
        <p:spPr>
          <a:xfrm>
            <a:off x="8820760" y="3392424"/>
            <a:ext cx="420624" cy="420624"/>
          </a:xfrm>
          <a:prstGeom prst="ellipse">
            <a:avLst/>
          </a:prstGeom>
          <a:solidFill>
            <a:srgbClr val="EEF2F7"/>
          </a:solidFill>
          <a:ln w="12700">
            <a:solidFill>
              <a:srgbClr val="EEF2F7"/>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BFCFE"/>
          </a:solidFill>
          <a:ln w="12700">
            <a:solidFill>
              <a:srgbClr val="D5DDE8"/>
            </a:solidFill>
            <a:prstDash val="solid"/>
          </a:ln>
        </p:spPr>
      </p:sp>
      <p:sp>
        <p:nvSpPr>
          <p:cNvPr id="46" name="Shape 44"/>
          <p:cNvSpPr/>
          <p:nvPr/>
        </p:nvSpPr>
        <p:spPr>
          <a:xfrm>
            <a:off x="4212184" y="4579535"/>
            <a:ext cx="383609" cy="383609"/>
          </a:xfrm>
          <a:prstGeom prst="ellipse">
            <a:avLst/>
          </a:prstGeom>
          <a:solidFill>
            <a:srgbClr val="EEF2F7"/>
          </a:solidFill>
          <a:ln w="12700">
            <a:solidFill>
              <a:srgbClr val="EEF2F7"/>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A9B4C6"/>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51" name="Text 49"/>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el trámite en su propia base de datos.</a:t>
            </a:r>
            <a:endParaRPr lang="en-US" sz="1300" dirty="0"/>
          </a:p>
        </p:txBody>
      </p:sp>
      <p:sp>
        <p:nvSpPr>
          <p:cNvPr id="52" name="Shape 50"/>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3" name="Text 51"/>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54" name="Text 52"/>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esa misma base anota el evento pendiente, para no perder la intención de avisar.</a:t>
            </a:r>
            <a:endParaRPr lang="en-US" sz="13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F4F7FB"/>
          </a:solidFill>
          <a:ln w="12700">
            <a:solidFill>
              <a:srgbClr val="DFE6F0"/>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E3F4FA"/>
          </a:solidFill>
          <a:ln w="22225">
            <a:solidFill>
              <a:srgbClr val="2BA6CB"/>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31750">
            <a:solidFill>
              <a:srgbClr val="55627E"/>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31750">
            <a:solidFill>
              <a:srgbClr val="55627E"/>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47625">
            <a:solidFill>
              <a:srgbClr val="2BA6CB"/>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47625">
            <a:solidFill>
              <a:srgbClr val="2BA6CB"/>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1743304" y="1957913"/>
            <a:ext cx="409285" cy="409285"/>
          </a:xfrm>
          <a:prstGeom prst="ellipse">
            <a:avLst/>
          </a:prstGeom>
          <a:solidFill>
            <a:srgbClr val="E2E5EA"/>
          </a:solidFill>
          <a:ln w="12700">
            <a:solidFill>
              <a:srgbClr val="E2E5E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743304" y="3392424"/>
            <a:ext cx="420624" cy="420624"/>
          </a:xfrm>
          <a:prstGeom prst="ellipse">
            <a:avLst/>
          </a:prstGeom>
          <a:solidFill>
            <a:srgbClr val="E8EBEE"/>
          </a:solidFill>
          <a:ln w="12700">
            <a:solidFill>
              <a:srgbClr val="E8EBEE"/>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3883000" y="3392424"/>
            <a:ext cx="420624" cy="420624"/>
          </a:xfrm>
          <a:prstGeom prst="ellipse">
            <a:avLst/>
          </a:prstGeom>
          <a:solidFill>
            <a:srgbClr val="E8EBEE"/>
          </a:solidFill>
          <a:ln w="12700">
            <a:solidFill>
              <a:srgbClr val="E8EBEE"/>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6681064" y="1957913"/>
            <a:ext cx="409285" cy="409285"/>
          </a:xfrm>
          <a:prstGeom prst="ellipse">
            <a:avLst/>
          </a:prstGeom>
          <a:solidFill>
            <a:srgbClr val="E3F4FA"/>
          </a:solidFill>
          <a:ln w="12700">
            <a:solidFill>
              <a:srgbClr val="E3F4FA"/>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6E8A"/>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38" name="Shape 36"/>
          <p:cNvSpPr/>
          <p:nvPr/>
        </p:nvSpPr>
        <p:spPr>
          <a:xfrm>
            <a:off x="6681064" y="3392424"/>
            <a:ext cx="420624" cy="420624"/>
          </a:xfrm>
          <a:prstGeom prst="ellipse">
            <a:avLst/>
          </a:prstGeom>
          <a:solidFill>
            <a:srgbClr val="E3F4FA"/>
          </a:solidFill>
          <a:ln w="12700">
            <a:solidFill>
              <a:srgbClr val="E3F4FA"/>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5C3404"/>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2" name="Shape 40"/>
          <p:cNvSpPr/>
          <p:nvPr/>
        </p:nvSpPr>
        <p:spPr>
          <a:xfrm>
            <a:off x="8820760" y="3392424"/>
            <a:ext cx="420624" cy="420624"/>
          </a:xfrm>
          <a:prstGeom prst="ellipse">
            <a:avLst/>
          </a:prstGeom>
          <a:solidFill>
            <a:srgbClr val="E3F4FA"/>
          </a:solidFill>
          <a:ln w="12700">
            <a:solidFill>
              <a:srgbClr val="E3F4FA"/>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BFCFE"/>
          </a:solidFill>
          <a:ln w="12700">
            <a:solidFill>
              <a:srgbClr val="D5DDE8"/>
            </a:solidFill>
            <a:prstDash val="solid"/>
          </a:ln>
        </p:spPr>
      </p:sp>
      <p:sp>
        <p:nvSpPr>
          <p:cNvPr id="46" name="Shape 44"/>
          <p:cNvSpPr/>
          <p:nvPr/>
        </p:nvSpPr>
        <p:spPr>
          <a:xfrm>
            <a:off x="4212184" y="4579535"/>
            <a:ext cx="383609" cy="383609"/>
          </a:xfrm>
          <a:prstGeom prst="ellipse">
            <a:avLst/>
          </a:prstGeom>
          <a:solidFill>
            <a:srgbClr val="EEF2F7"/>
          </a:solidFill>
          <a:ln w="12700">
            <a:solidFill>
              <a:srgbClr val="EEF2F7"/>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A9B4C6"/>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51" name="Text 49"/>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los números de evento que ya recibió.</a:t>
            </a:r>
            <a:endParaRPr lang="en-US" sz="1300" dirty="0"/>
          </a:p>
        </p:txBody>
      </p:sp>
      <p:sp>
        <p:nvSpPr>
          <p:cNvPr id="52" name="Shape 50"/>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3" name="Text 51"/>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4" name="Text 52"/>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texto del aviso vive en memoria: si el servicio se reinicia, se pierde el texto, pero no el registro.</a:t>
            </a:r>
            <a:endParaRPr lang="en-US" sz="13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F4F7FB"/>
          </a:solidFill>
          <a:ln w="12700">
            <a:solidFill>
              <a:srgbClr val="DFE6F0"/>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F4F7FB"/>
          </a:solidFill>
          <a:ln w="12700">
            <a:solidFill>
              <a:srgbClr val="DFE6F0"/>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31750">
            <a:solidFill>
              <a:srgbClr val="55627E"/>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31750">
            <a:solidFill>
              <a:srgbClr val="55627E"/>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31750">
            <a:solidFill>
              <a:srgbClr val="55627E"/>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31750">
            <a:solidFill>
              <a:srgbClr val="55627E"/>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1743304" y="1957913"/>
            <a:ext cx="409285" cy="409285"/>
          </a:xfrm>
          <a:prstGeom prst="ellipse">
            <a:avLst/>
          </a:prstGeom>
          <a:solidFill>
            <a:srgbClr val="E2E5EA"/>
          </a:solidFill>
          <a:ln w="12700">
            <a:solidFill>
              <a:srgbClr val="E2E5E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743304" y="3392424"/>
            <a:ext cx="420624" cy="420624"/>
          </a:xfrm>
          <a:prstGeom prst="ellipse">
            <a:avLst/>
          </a:prstGeom>
          <a:solidFill>
            <a:srgbClr val="E8EBEE"/>
          </a:solidFill>
          <a:ln w="12700">
            <a:solidFill>
              <a:srgbClr val="E8EBEE"/>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3883000" y="3392424"/>
            <a:ext cx="420624" cy="420624"/>
          </a:xfrm>
          <a:prstGeom prst="ellipse">
            <a:avLst/>
          </a:prstGeom>
          <a:solidFill>
            <a:srgbClr val="E8EBEE"/>
          </a:solidFill>
          <a:ln w="12700">
            <a:solidFill>
              <a:srgbClr val="E8EBEE"/>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6681064" y="1957913"/>
            <a:ext cx="409285" cy="409285"/>
          </a:xfrm>
          <a:prstGeom prst="ellipse">
            <a:avLst/>
          </a:prstGeom>
          <a:solidFill>
            <a:srgbClr val="E2E5EA"/>
          </a:solidFill>
          <a:ln w="12700">
            <a:solidFill>
              <a:srgbClr val="E2E5EA"/>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38" name="Shape 36"/>
          <p:cNvSpPr/>
          <p:nvPr/>
        </p:nvSpPr>
        <p:spPr>
          <a:xfrm>
            <a:off x="6681064" y="3392424"/>
            <a:ext cx="420624" cy="420624"/>
          </a:xfrm>
          <a:prstGeom prst="ellipse">
            <a:avLst/>
          </a:prstGeom>
          <a:solidFill>
            <a:srgbClr val="E2E5EA"/>
          </a:solidFill>
          <a:ln w="12700">
            <a:solidFill>
              <a:srgbClr val="E2E5EA"/>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5C3404"/>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820760" y="3392424"/>
            <a:ext cx="420624" cy="420624"/>
          </a:xfrm>
          <a:prstGeom prst="ellipse">
            <a:avLst/>
          </a:prstGeom>
          <a:solidFill>
            <a:srgbClr val="E8EBEE"/>
          </a:solidFill>
          <a:ln w="12700">
            <a:solidFill>
              <a:srgbClr val="E8EBEE"/>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6" name="Shape 44"/>
          <p:cNvSpPr/>
          <p:nvPr/>
        </p:nvSpPr>
        <p:spPr>
          <a:xfrm>
            <a:off x="4212184" y="4579535"/>
            <a:ext cx="383609" cy="383609"/>
          </a:xfrm>
          <a:prstGeom prst="ellipse">
            <a:avLst/>
          </a:prstGeom>
          <a:solidFill>
            <a:srgbClr val="E3F4FA"/>
          </a:solidFill>
          <a:ln w="12700">
            <a:solidFill>
              <a:srgbClr val="E3F4FA"/>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0B6E8A"/>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1" name="Text 4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dos bases no están conectadas. Lo que las une es el contrato del evento.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problema de la consistencia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Primero se guarda. Después se avisa.</a:t>
            </a:r>
            <a:endParaRPr lang="en-US" sz="1700" dirty="0"/>
          </a:p>
        </p:txBody>
      </p:sp>
      <p:sp>
        <p:nvSpPr>
          <p:cNvPr id="6" name="Shape 4"/>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719072"/>
            <a:ext cx="5163160" cy="914400"/>
          </a:xfrm>
          <a:prstGeom prst="roundRect">
            <a:avLst>
              <a:gd name="adj" fmla="val 14000"/>
            </a:avLst>
          </a:prstGeom>
          <a:solidFill>
            <a:srgbClr val="AB243E"/>
          </a:solidFill>
          <a:ln w="12700">
            <a:solidFill>
              <a:srgbClr val="AB243E"/>
            </a:solidFill>
            <a:prstDash val="solid"/>
          </a:ln>
        </p:spPr>
      </p:sp>
      <p:sp>
        <p:nvSpPr>
          <p:cNvPr id="8" name="Shape 6"/>
          <p:cNvSpPr/>
          <p:nvPr/>
        </p:nvSpPr>
        <p:spPr>
          <a:xfrm>
            <a:off x="612648" y="2267712"/>
            <a:ext cx="5163160" cy="365760"/>
          </a:xfrm>
          <a:prstGeom prst="rect">
            <a:avLst/>
          </a:prstGeom>
          <a:solidFill>
            <a:srgbClr val="AB243E"/>
          </a:solidFill>
          <a:ln w="12700">
            <a:solidFill>
              <a:srgbClr val="AB243E"/>
            </a:solidFill>
            <a:prstDash val="solid"/>
          </a:ln>
        </p:spPr>
      </p:sp>
      <p:sp>
        <p:nvSpPr>
          <p:cNvPr id="9" name="Shape 7"/>
          <p:cNvSpPr/>
          <p:nvPr/>
        </p:nvSpPr>
        <p:spPr>
          <a:xfrm>
            <a:off x="841248" y="1874520"/>
            <a:ext cx="603504" cy="603504"/>
          </a:xfrm>
          <a:prstGeom prst="ellipse">
            <a:avLst/>
          </a:prstGeom>
          <a:solidFill>
            <a:srgbClr val="FFFFFF"/>
          </a:solidFill>
          <a:ln w="12700">
            <a:solidFill>
              <a:srgbClr val="FFFFFF"/>
            </a:solidFill>
            <a:prstDash val="solid"/>
          </a:ln>
        </p:spPr>
      </p:sp>
      <p:sp>
        <p:nvSpPr>
          <p:cNvPr id="10" name="Icono zap"/>
          <p:cNvSpPr/>
          <p:nvPr/>
        </p:nvSpPr>
        <p:spPr>
          <a:xfrm>
            <a:off x="986089" y="2019361"/>
            <a:ext cx="313822" cy="313822"/>
          </a:xfrm>
          <a:custGeom>
            <a:avLst/>
            <a:gdLst/>
            <a:ahLst/>
            <a:cxnLst/>
            <a:rect l="l" t="t" r="r" b="b"/>
            <a:pathLst>
              <a:path w="313822" h="313822">
                <a:moveTo>
                  <a:pt x="52304" y="183063"/>
                </a:moveTo>
                <a:cubicBezTo>
                  <a:pt x="47253" y="183080"/>
                  <a:pt x="42644" y="180187"/>
                  <a:pt x="40464" y="175631"/>
                </a:cubicBezTo>
                <a:cubicBezTo>
                  <a:pt x="38284" y="171075"/>
                  <a:pt x="38923" y="165671"/>
                  <a:pt x="42104" y="161749"/>
                </a:cubicBezTo>
                <a:lnTo>
                  <a:pt x="171556" y="28375"/>
                </a:lnTo>
                <a:cubicBezTo>
                  <a:pt x="173556" y="26066"/>
                  <a:pt x="176888" y="25450"/>
                  <a:pt x="179581" y="26891"/>
                </a:cubicBezTo>
                <a:cubicBezTo>
                  <a:pt x="182274" y="28331"/>
                  <a:pt x="183611" y="31445"/>
                  <a:pt x="182801" y="34390"/>
                </a:cubicBezTo>
                <a:lnTo>
                  <a:pt x="157696" y="113107"/>
                </a:lnTo>
                <a:cubicBezTo>
                  <a:pt x="156193" y="117129"/>
                  <a:pt x="156760" y="121632"/>
                  <a:pt x="159214" y="125155"/>
                </a:cubicBezTo>
                <a:cubicBezTo>
                  <a:pt x="161667" y="128679"/>
                  <a:pt x="165694" y="130773"/>
                  <a:pt x="169987" y="130759"/>
                </a:cubicBezTo>
                <a:lnTo>
                  <a:pt x="261518" y="130759"/>
                </a:lnTo>
                <a:cubicBezTo>
                  <a:pt x="266569" y="130742"/>
                  <a:pt x="271178" y="133635"/>
                  <a:pt x="273358" y="138191"/>
                </a:cubicBezTo>
                <a:cubicBezTo>
                  <a:pt x="275538" y="142747"/>
                  <a:pt x="274900" y="148151"/>
                  <a:pt x="271718" y="152073"/>
                </a:cubicBezTo>
                <a:lnTo>
                  <a:pt x="142266" y="285447"/>
                </a:lnTo>
                <a:cubicBezTo>
                  <a:pt x="140266" y="287756"/>
                  <a:pt x="136934" y="288372"/>
                  <a:pt x="134241" y="286931"/>
                </a:cubicBezTo>
                <a:cubicBezTo>
                  <a:pt x="131548" y="285491"/>
                  <a:pt x="130211" y="282377"/>
                  <a:pt x="131021" y="279432"/>
                </a:cubicBezTo>
                <a:lnTo>
                  <a:pt x="156126" y="200715"/>
                </a:lnTo>
                <a:cubicBezTo>
                  <a:pt x="157629" y="196694"/>
                  <a:pt x="157062" y="192190"/>
                  <a:pt x="154608" y="188667"/>
                </a:cubicBezTo>
                <a:cubicBezTo>
                  <a:pt x="152155" y="185143"/>
                  <a:pt x="148128" y="183049"/>
                  <a:pt x="143835" y="183063"/>
                </a:cubicBezTo>
                <a:close/>
              </a:path>
            </a:pathLst>
          </a:custGeom>
          <a:noFill/>
          <a:ln w="26152" cap="rnd">
            <a:solidFill>
              <a:srgbClr val="AB243E"/>
            </a:solidFill>
            <a:prstDash val="solid"/>
            <a:round/>
          </a:ln>
        </p:spPr>
      </p:sp>
      <p:sp>
        <p:nvSpPr>
          <p:cNvPr id="11" name="Text 9"/>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Avisar en el mismo momento</a:t>
            </a:r>
            <a:endParaRPr lang="en-US" sz="1900" dirty="0"/>
          </a:p>
        </p:txBody>
      </p:sp>
      <p:sp>
        <p:nvSpPr>
          <p:cNvPr id="12" name="Icono circle-x"/>
          <p:cNvSpPr/>
          <p:nvPr/>
        </p:nvSpPr>
        <p:spPr>
          <a:xfrm>
            <a:off x="90525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205740" y="123444"/>
                </a:moveTo>
                <a:lnTo>
                  <a:pt x="123444" y="205740"/>
                </a:lnTo>
                <a:moveTo>
                  <a:pt x="123444" y="123444"/>
                </a:moveTo>
                <a:lnTo>
                  <a:pt x="205740" y="205740"/>
                </a:lnTo>
              </a:path>
            </a:pathLst>
          </a:custGeom>
          <a:noFill/>
          <a:ln w="27432" cap="rnd">
            <a:solidFill>
              <a:srgbClr val="AB243E"/>
            </a:solidFill>
            <a:prstDash val="solid"/>
            <a:round/>
          </a:ln>
        </p:spPr>
      </p:sp>
      <p:sp>
        <p:nvSpPr>
          <p:cNvPr id="13" name="Text 11"/>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 guarda la solicitud como enviada</a:t>
            </a:r>
            <a:endParaRPr lang="en-US" sz="1500" dirty="0"/>
          </a:p>
        </p:txBody>
      </p:sp>
      <p:sp>
        <p:nvSpPr>
          <p:cNvPr id="14" name="Shape 12"/>
          <p:cNvSpPr/>
          <p:nvPr/>
        </p:nvSpPr>
        <p:spPr>
          <a:xfrm>
            <a:off x="886968" y="3593592"/>
            <a:ext cx="4614520" cy="0"/>
          </a:xfrm>
          <a:prstGeom prst="line">
            <a:avLst/>
          </a:prstGeom>
          <a:noFill/>
          <a:ln w="9525">
            <a:solidFill>
              <a:srgbClr val="DFE6F0"/>
            </a:solidFill>
            <a:prstDash val="solid"/>
          </a:ln>
        </p:spPr>
      </p:sp>
      <p:sp>
        <p:nvSpPr>
          <p:cNvPr id="15" name="Icono circle-x"/>
          <p:cNvSpPr/>
          <p:nvPr/>
        </p:nvSpPr>
        <p:spPr>
          <a:xfrm>
            <a:off x="90525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205740" y="123444"/>
                </a:moveTo>
                <a:lnTo>
                  <a:pt x="123444" y="205740"/>
                </a:lnTo>
                <a:moveTo>
                  <a:pt x="123444" y="123444"/>
                </a:moveTo>
                <a:lnTo>
                  <a:pt x="205740" y="205740"/>
                </a:lnTo>
              </a:path>
            </a:pathLst>
          </a:custGeom>
          <a:noFill/>
          <a:ln w="27432" cap="rnd">
            <a:solidFill>
              <a:srgbClr val="AB243E"/>
            </a:solidFill>
            <a:prstDash val="solid"/>
            <a:round/>
          </a:ln>
        </p:spPr>
      </p:sp>
      <p:sp>
        <p:nvSpPr>
          <p:cNvPr id="16" name="Text 14"/>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Justo ahí, notificaciones está caído</a:t>
            </a:r>
            <a:endParaRPr lang="en-US" sz="1500" dirty="0"/>
          </a:p>
        </p:txBody>
      </p:sp>
      <p:sp>
        <p:nvSpPr>
          <p:cNvPr id="17" name="Shape 15"/>
          <p:cNvSpPr/>
          <p:nvPr/>
        </p:nvSpPr>
        <p:spPr>
          <a:xfrm>
            <a:off x="886968" y="4370832"/>
            <a:ext cx="4614520" cy="0"/>
          </a:xfrm>
          <a:prstGeom prst="line">
            <a:avLst/>
          </a:prstGeom>
          <a:noFill/>
          <a:ln w="9525">
            <a:solidFill>
              <a:srgbClr val="DFE6F0"/>
            </a:solidFill>
            <a:prstDash val="solid"/>
          </a:ln>
        </p:spPr>
      </p:sp>
      <p:sp>
        <p:nvSpPr>
          <p:cNvPr id="18" name="Icono circle-x"/>
          <p:cNvSpPr/>
          <p:nvPr/>
        </p:nvSpPr>
        <p:spPr>
          <a:xfrm>
            <a:off x="90525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205740" y="123444"/>
                </a:moveTo>
                <a:lnTo>
                  <a:pt x="123444" y="205740"/>
                </a:lnTo>
                <a:moveTo>
                  <a:pt x="123444" y="123444"/>
                </a:moveTo>
                <a:lnTo>
                  <a:pt x="205740" y="205740"/>
                </a:lnTo>
              </a:path>
            </a:pathLst>
          </a:custGeom>
          <a:noFill/>
          <a:ln w="27432" cap="rnd">
            <a:solidFill>
              <a:srgbClr val="AB243E"/>
            </a:solidFill>
            <a:prstDash val="solid"/>
            <a:round/>
          </a:ln>
        </p:spPr>
      </p:sp>
      <p:sp>
        <p:nvSpPr>
          <p:cNvPr id="19" name="Text 17"/>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aviso se pierde y nadie se entera</a:t>
            </a:r>
            <a:endParaRPr lang="en-US" sz="1500" dirty="0"/>
          </a:p>
        </p:txBody>
      </p:sp>
      <p:sp>
        <p:nvSpPr>
          <p:cNvPr id="20" name="Shape 18"/>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22" name="Shape 20"/>
          <p:cNvSpPr/>
          <p:nvPr/>
        </p:nvSpPr>
        <p:spPr>
          <a:xfrm>
            <a:off x="6415888" y="2267712"/>
            <a:ext cx="5163160" cy="365760"/>
          </a:xfrm>
          <a:prstGeom prst="rect">
            <a:avLst/>
          </a:prstGeom>
          <a:solidFill>
            <a:srgbClr val="0A6648"/>
          </a:solidFill>
          <a:ln w="12700">
            <a:solidFill>
              <a:srgbClr val="0A6648"/>
            </a:solidFill>
            <a:prstDash val="solid"/>
          </a:ln>
        </p:spPr>
      </p:sp>
      <p:sp>
        <p:nvSpPr>
          <p:cNvPr id="23" name="Shape 21"/>
          <p:cNvSpPr/>
          <p:nvPr/>
        </p:nvSpPr>
        <p:spPr>
          <a:xfrm>
            <a:off x="6644488" y="1874520"/>
            <a:ext cx="603504" cy="603504"/>
          </a:xfrm>
          <a:prstGeom prst="ellipse">
            <a:avLst/>
          </a:prstGeom>
          <a:solidFill>
            <a:srgbClr val="FFFFFF"/>
          </a:solidFill>
          <a:ln w="12700">
            <a:solidFill>
              <a:srgbClr val="FFFFFF"/>
            </a:solidFill>
            <a:prstDash val="solid"/>
          </a:ln>
        </p:spPr>
      </p:sp>
      <p:sp>
        <p:nvSpPr>
          <p:cNvPr id="24" name="Icono inbox"/>
          <p:cNvSpPr/>
          <p:nvPr/>
        </p:nvSpPr>
        <p:spPr>
          <a:xfrm>
            <a:off x="6789329" y="2019361"/>
            <a:ext cx="313822" cy="313822"/>
          </a:xfrm>
          <a:custGeom>
            <a:avLst/>
            <a:gdLst/>
            <a:ahLst/>
            <a:cxnLst/>
            <a:rect l="l" t="t" r="r" b="b"/>
            <a:pathLst>
              <a:path w="313822" h="313822">
                <a:moveTo>
                  <a:pt x="287670" y="156911"/>
                </a:moveTo>
                <a:lnTo>
                  <a:pt x="209215" y="156911"/>
                </a:lnTo>
                <a:lnTo>
                  <a:pt x="183063" y="196139"/>
                </a:lnTo>
                <a:lnTo>
                  <a:pt x="130759" y="196139"/>
                </a:lnTo>
                <a:lnTo>
                  <a:pt x="104607" y="156911"/>
                </a:lnTo>
                <a:lnTo>
                  <a:pt x="26152" y="156911"/>
                </a:lnTo>
                <a:moveTo>
                  <a:pt x="71264" y="66818"/>
                </a:moveTo>
                <a:lnTo>
                  <a:pt x="26152" y="156911"/>
                </a:lnTo>
                <a:lnTo>
                  <a:pt x="26152" y="235367"/>
                </a:lnTo>
                <a:cubicBezTo>
                  <a:pt x="26152" y="249810"/>
                  <a:pt x="37860" y="261518"/>
                  <a:pt x="52304" y="261518"/>
                </a:cubicBezTo>
                <a:lnTo>
                  <a:pt x="261518" y="261518"/>
                </a:lnTo>
                <a:cubicBezTo>
                  <a:pt x="275962" y="261518"/>
                  <a:pt x="287670" y="249810"/>
                  <a:pt x="287670" y="235367"/>
                </a:cubicBezTo>
                <a:lnTo>
                  <a:pt x="287670" y="156911"/>
                </a:lnTo>
                <a:lnTo>
                  <a:pt x="242558" y="66818"/>
                </a:lnTo>
                <a:cubicBezTo>
                  <a:pt x="238142" y="57931"/>
                  <a:pt x="229076" y="52309"/>
                  <a:pt x="219152" y="52304"/>
                </a:cubicBezTo>
                <a:lnTo>
                  <a:pt x="94670" y="52304"/>
                </a:lnTo>
                <a:cubicBezTo>
                  <a:pt x="84746" y="52309"/>
                  <a:pt x="75680" y="57931"/>
                  <a:pt x="71264" y="66818"/>
                </a:cubicBezTo>
                <a:close/>
              </a:path>
            </a:pathLst>
          </a:custGeom>
          <a:noFill/>
          <a:ln w="26152" cap="rnd">
            <a:solidFill>
              <a:srgbClr val="0A6648"/>
            </a:solidFill>
            <a:prstDash val="solid"/>
            <a:round/>
          </a:ln>
        </p:spPr>
      </p:sp>
      <p:sp>
        <p:nvSpPr>
          <p:cNvPr id="25" name="Text 23"/>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Guardar primero, avisar después</a:t>
            </a:r>
            <a:endParaRPr lang="en-US" sz="1900" dirty="0"/>
          </a:p>
        </p:txBody>
      </p:sp>
      <p:sp>
        <p:nvSpPr>
          <p:cNvPr id="26"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27" name="Text 25"/>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Solicitud y evento pendiente se guardan juntos</a:t>
            </a:r>
            <a:endParaRPr lang="en-US" sz="1500" dirty="0"/>
          </a:p>
        </p:txBody>
      </p:sp>
      <p:sp>
        <p:nvSpPr>
          <p:cNvPr id="28" name="Shape 26"/>
          <p:cNvSpPr/>
          <p:nvPr/>
        </p:nvSpPr>
        <p:spPr>
          <a:xfrm>
            <a:off x="6690208" y="3593592"/>
            <a:ext cx="4614520" cy="0"/>
          </a:xfrm>
          <a:prstGeom prst="line">
            <a:avLst/>
          </a:prstGeom>
          <a:noFill/>
          <a:ln w="9525">
            <a:solidFill>
              <a:srgbClr val="DFE6F0"/>
            </a:solidFill>
            <a:prstDash val="solid"/>
          </a:ln>
        </p:spPr>
      </p:sp>
      <p:sp>
        <p:nvSpPr>
          <p:cNvPr id="29"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30" name="Text 28"/>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está caído, el evento espera</a:t>
            </a:r>
            <a:endParaRPr lang="en-US" sz="1500" dirty="0"/>
          </a:p>
        </p:txBody>
      </p:sp>
      <p:sp>
        <p:nvSpPr>
          <p:cNvPr id="31" name="Shape 29"/>
          <p:cNvSpPr/>
          <p:nvPr/>
        </p:nvSpPr>
        <p:spPr>
          <a:xfrm>
            <a:off x="6690208" y="4370832"/>
            <a:ext cx="4614520" cy="0"/>
          </a:xfrm>
          <a:prstGeom prst="line">
            <a:avLst/>
          </a:prstGeom>
          <a:noFill/>
          <a:ln w="9525">
            <a:solidFill>
              <a:srgbClr val="DFE6F0"/>
            </a:solidFill>
            <a:prstDash val="solid"/>
          </a:ln>
        </p:spPr>
      </p:sp>
      <p:sp>
        <p:nvSpPr>
          <p:cNvPr id="32"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33" name="Text 31"/>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aviso llega cuando el servicio vuelve</a:t>
            </a:r>
            <a:endParaRPr lang="en-US" sz="1500" dirty="0"/>
          </a:p>
        </p:txBody>
      </p:sp>
      <p:sp>
        <p:nvSpPr>
          <p:cNvPr id="34" name="Text 32"/>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35" name="Shape 33"/>
          <p:cNvSpPr/>
          <p:nvPr/>
        </p:nvSpPr>
        <p:spPr>
          <a:xfrm>
            <a:off x="0" y="5961888"/>
            <a:ext cx="12191695" cy="475488"/>
          </a:xfrm>
          <a:prstGeom prst="rect">
            <a:avLst/>
          </a:prstGeom>
          <a:solidFill>
            <a:srgbClr val="0B2350"/>
          </a:solidFill>
          <a:ln w="12700">
            <a:solidFill>
              <a:srgbClr val="0B2350"/>
            </a:solidFill>
            <a:prstDash val="solid"/>
          </a:ln>
        </p:spPr>
      </p:sp>
      <p:sp>
        <p:nvSpPr>
          <p:cNvPr id="3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7" name="Text 3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a:t>
            </a:r>
            <a:endParaRPr lang="en-US" sz="14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F4F7FB"/>
          </a:solidFill>
          <a:ln w="12700">
            <a:solidFill>
              <a:srgbClr val="DFE6F0"/>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47625">
            <a:solidFill>
              <a:srgbClr val="2BA6CB"/>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47625">
            <a:solidFill>
              <a:srgbClr val="2BA6CB"/>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31750">
            <a:solidFill>
              <a:srgbClr val="CBD5E3"/>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31750">
            <a:solidFill>
              <a:srgbClr val="CBD5E3"/>
            </a:solidFill>
            <a:prstDash val="sysDot"/>
          </a:ln>
        </p:spPr>
      </p:sp>
      <p:sp>
        <p:nvSpPr>
          <p:cNvPr id="17" name="Shape 15"/>
          <p:cNvSpPr/>
          <p:nvPr/>
        </p:nvSpPr>
        <p:spPr>
          <a:xfrm>
            <a:off x="8659280" y="2206155"/>
            <a:ext cx="0" cy="1613702"/>
          </a:xfrm>
          <a:prstGeom prst="line">
            <a:avLst/>
          </a:prstGeom>
          <a:noFill/>
          <a:ln w="31750">
            <a:solidFill>
              <a:srgbClr val="CBD5E3"/>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22860">
            <a:solidFill>
              <a:srgbClr val="CBD5E3"/>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4" name="Shape 22"/>
          <p:cNvSpPr/>
          <p:nvPr/>
        </p:nvSpPr>
        <p:spPr>
          <a:xfrm>
            <a:off x="1396610" y="1995843"/>
            <a:ext cx="420624" cy="420624"/>
          </a:xfrm>
          <a:prstGeom prst="ellipse">
            <a:avLst/>
          </a:prstGeom>
          <a:solidFill>
            <a:srgbClr val="E3F4FA"/>
          </a:solidFill>
          <a:ln w="12700">
            <a:solidFill>
              <a:srgbClr val="E3F4F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93" b="1" dirty="0">
                <a:solidFill>
                  <a:srgbClr val="8A95AB"/>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9AA5B8"/>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3F6FA"/>
          </a:solidFill>
          <a:ln w="12700">
            <a:solidFill>
              <a:srgbClr val="D5DDE8"/>
            </a:solidFill>
            <a:prstDash val="solid"/>
          </a:ln>
        </p:spPr>
      </p:sp>
      <p:sp>
        <p:nvSpPr>
          <p:cNvPr id="30" name="Shape 28"/>
          <p:cNvSpPr/>
          <p:nvPr/>
        </p:nvSpPr>
        <p:spPr>
          <a:xfrm>
            <a:off x="5851100" y="3962543"/>
            <a:ext cx="420624" cy="420624"/>
          </a:xfrm>
          <a:prstGeom prst="ellipse">
            <a:avLst/>
          </a:prstGeom>
          <a:solidFill>
            <a:srgbClr val="EEF2F7"/>
          </a:solidFill>
          <a:ln w="12700">
            <a:solidFill>
              <a:srgbClr val="EEF2F7"/>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3F6FA"/>
          </a:solidFill>
          <a:ln w="12700">
            <a:solidFill>
              <a:srgbClr val="D5DDE8"/>
            </a:solidFill>
            <a:prstDash val="solid"/>
          </a:ln>
        </p:spPr>
      </p:sp>
      <p:sp>
        <p:nvSpPr>
          <p:cNvPr id="34" name="Shape 32"/>
          <p:cNvSpPr/>
          <p:nvPr/>
        </p:nvSpPr>
        <p:spPr>
          <a:xfrm>
            <a:off x="7868227" y="3962543"/>
            <a:ext cx="420624" cy="420624"/>
          </a:xfrm>
          <a:prstGeom prst="ellipse">
            <a:avLst/>
          </a:prstGeom>
          <a:solidFill>
            <a:srgbClr val="EEF2F7"/>
          </a:solidFill>
          <a:ln w="12700">
            <a:solidFill>
              <a:srgbClr val="EEF2F7"/>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9" name="Text 3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Enviar y la interfaz le pide al servicio que envíe la solicitud.</a:t>
            </a:r>
            <a:endParaRPr lang="en-US" sz="1300" dirty="0"/>
          </a:p>
        </p:txBody>
      </p:sp>
      <p:sp>
        <p:nvSpPr>
          <p:cNvPr id="40" name="Shape 3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1" name="Text 3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2" name="Text 4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recibe el pedido y se lo pasa al servicio de dominio.</a:t>
            </a:r>
            <a:endParaRPr lang="en-US" sz="130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E3F4FA"/>
          </a:solidFill>
          <a:ln w="22225">
            <a:solidFill>
              <a:srgbClr val="2BA6CB"/>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31750">
            <a:solidFill>
              <a:srgbClr val="2E6DB4"/>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31750">
            <a:solidFill>
              <a:srgbClr val="55627E"/>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47625">
            <a:solidFill>
              <a:srgbClr val="2BA6CB"/>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47625">
            <a:solidFill>
              <a:srgbClr val="2BA6CB"/>
            </a:solidFill>
            <a:prstDash val="sysDot"/>
          </a:ln>
        </p:spPr>
      </p:sp>
      <p:sp>
        <p:nvSpPr>
          <p:cNvPr id="17" name="Shape 15"/>
          <p:cNvSpPr/>
          <p:nvPr/>
        </p:nvSpPr>
        <p:spPr>
          <a:xfrm>
            <a:off x="8659280" y="2206155"/>
            <a:ext cx="0" cy="1613702"/>
          </a:xfrm>
          <a:prstGeom prst="line">
            <a:avLst/>
          </a:prstGeom>
          <a:noFill/>
          <a:ln w="47625">
            <a:solidFill>
              <a:srgbClr val="2BA6CB"/>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22860">
            <a:solidFill>
              <a:srgbClr val="CBD5E3"/>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1396610" y="1995843"/>
            <a:ext cx="420624" cy="420624"/>
          </a:xfrm>
          <a:prstGeom prst="ellipse">
            <a:avLst/>
          </a:prstGeom>
          <a:solidFill>
            <a:srgbClr val="E2E5EA"/>
          </a:solidFill>
          <a:ln w="12700">
            <a:solidFill>
              <a:srgbClr val="E2E5E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0" name="Shape 28"/>
          <p:cNvSpPr/>
          <p:nvPr/>
        </p:nvSpPr>
        <p:spPr>
          <a:xfrm>
            <a:off x="5851100" y="3962543"/>
            <a:ext cx="420624" cy="420624"/>
          </a:xfrm>
          <a:prstGeom prst="ellipse">
            <a:avLst/>
          </a:prstGeom>
          <a:solidFill>
            <a:srgbClr val="E3F4FA"/>
          </a:solidFill>
          <a:ln w="12700">
            <a:solidFill>
              <a:srgbClr val="E3F4FA"/>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7868227" y="3962543"/>
            <a:ext cx="420624" cy="420624"/>
          </a:xfrm>
          <a:prstGeom prst="ellipse">
            <a:avLst/>
          </a:prstGeom>
          <a:solidFill>
            <a:srgbClr val="E3F4FA"/>
          </a:solidFill>
          <a:ln w="12700">
            <a:solidFill>
              <a:srgbClr val="E3F4FA"/>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9" name="Text 3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revisa que la solicitud esté en BORRADOR y la cambia a ENVIADA.</a:t>
            </a:r>
            <a:endParaRPr lang="en-US" sz="1300" dirty="0"/>
          </a:p>
        </p:txBody>
      </p:sp>
      <p:sp>
        <p:nvSpPr>
          <p:cNvPr id="40" name="Shape 3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1" name="Text 3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2" name="Text 4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una sola operación se guardan dos cosas: la solicitud ENVIADA y un evento pendiente.</a:t>
            </a:r>
            <a:endParaRPr lang="en-US" sz="130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F4F7FB"/>
          </a:solidFill>
          <a:ln w="12700">
            <a:solidFill>
              <a:srgbClr val="DFE6F0"/>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31750">
            <a:solidFill>
              <a:srgbClr val="2E6DB4"/>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31750">
            <a:solidFill>
              <a:srgbClr val="55627E"/>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31750">
            <a:solidFill>
              <a:srgbClr val="55627E"/>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31750">
            <a:solidFill>
              <a:srgbClr val="55627E"/>
            </a:solidFill>
            <a:prstDash val="sysDot"/>
          </a:ln>
        </p:spPr>
      </p:sp>
      <p:sp>
        <p:nvSpPr>
          <p:cNvPr id="17" name="Shape 15"/>
          <p:cNvSpPr/>
          <p:nvPr/>
        </p:nvSpPr>
        <p:spPr>
          <a:xfrm>
            <a:off x="8659280" y="2206155"/>
            <a:ext cx="0" cy="1613702"/>
          </a:xfrm>
          <a:prstGeom prst="line">
            <a:avLst/>
          </a:prstGeom>
          <a:noFill/>
          <a:ln w="31750">
            <a:solidFill>
              <a:srgbClr val="55627E"/>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38735">
            <a:solidFill>
              <a:srgbClr val="2BA6CB"/>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4" name="Shape 22"/>
          <p:cNvSpPr/>
          <p:nvPr/>
        </p:nvSpPr>
        <p:spPr>
          <a:xfrm>
            <a:off x="1396610" y="1995843"/>
            <a:ext cx="420624" cy="420624"/>
          </a:xfrm>
          <a:prstGeom prst="ellipse">
            <a:avLst/>
          </a:prstGeom>
          <a:solidFill>
            <a:srgbClr val="E3F4FA"/>
          </a:solidFill>
          <a:ln w="12700">
            <a:solidFill>
              <a:srgbClr val="E3F4F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5851100" y="3962543"/>
            <a:ext cx="420624" cy="420624"/>
          </a:xfrm>
          <a:prstGeom prst="ellipse">
            <a:avLst/>
          </a:prstGeom>
          <a:solidFill>
            <a:srgbClr val="E8EBEE"/>
          </a:solidFill>
          <a:ln w="12700">
            <a:solidFill>
              <a:srgbClr val="E8EBEE"/>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7868227" y="3962543"/>
            <a:ext cx="420624" cy="420624"/>
          </a:xfrm>
          <a:prstGeom prst="ellipse">
            <a:avLst/>
          </a:prstGeom>
          <a:solidFill>
            <a:srgbClr val="E8EBEE"/>
          </a:solidFill>
          <a:ln w="12700">
            <a:solidFill>
              <a:srgbClr val="E8EBEE"/>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respuesta llega enseguida. El aviso todavía no existe: se entrega después.</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bandeja de salida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mensajero pasa cada 5 segundos.</a:t>
            </a:r>
            <a:endParaRPr lang="en-US" sz="1700" dirty="0"/>
          </a:p>
        </p:txBody>
      </p:sp>
      <p:sp>
        <p:nvSpPr>
          <p:cNvPr id="6" name="Shape 4"/>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806440"/>
            <a:ext cx="438912" cy="438912"/>
          </a:xfrm>
          <a:prstGeom prst="ellipse">
            <a:avLst/>
          </a:prstGeom>
          <a:solidFill>
            <a:srgbClr val="FFFFFF"/>
          </a:solidFill>
          <a:ln w="12700">
            <a:solidFill>
              <a:srgbClr val="FFFFFF"/>
            </a:solidFill>
            <a:prstDash val="solid"/>
          </a:ln>
        </p:spPr>
      </p:sp>
      <p:sp>
        <p:nvSpPr>
          <p:cNvPr id="8" name="Icono mail"/>
          <p:cNvSpPr/>
          <p:nvPr/>
        </p:nvSpPr>
        <p:spPr>
          <a:xfrm>
            <a:off x="900867" y="5911779"/>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9" name="Text 7"/>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0" name="Shape 8"/>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inbox"/>
          <p:cNvSpPr/>
          <p:nvPr/>
        </p:nvSpPr>
        <p:spPr>
          <a:xfrm>
            <a:off x="1650149" y="2112721"/>
            <a:ext cx="666598" cy="666598"/>
          </a:xfrm>
          <a:custGeom>
            <a:avLst/>
            <a:gdLst/>
            <a:ahLst/>
            <a:cxnLst/>
            <a:rect l="l" t="t" r="r" b="b"/>
            <a:pathLst>
              <a:path w="666598" h="666598">
                <a:moveTo>
                  <a:pt x="611048" y="333299"/>
                </a:moveTo>
                <a:lnTo>
                  <a:pt x="444398" y="333299"/>
                </a:lnTo>
                <a:lnTo>
                  <a:pt x="388849" y="416624"/>
                </a:lnTo>
                <a:lnTo>
                  <a:pt x="277749" y="416624"/>
                </a:lnTo>
                <a:lnTo>
                  <a:pt x="222199" y="333299"/>
                </a:lnTo>
                <a:lnTo>
                  <a:pt x="55550" y="333299"/>
                </a:lnTo>
                <a:moveTo>
                  <a:pt x="151373" y="141930"/>
                </a:moveTo>
                <a:lnTo>
                  <a:pt x="55550" y="333299"/>
                </a:lnTo>
                <a:lnTo>
                  <a:pt x="55550" y="499948"/>
                </a:lnTo>
                <a:cubicBezTo>
                  <a:pt x="55550" y="530628"/>
                  <a:pt x="80420" y="555498"/>
                  <a:pt x="111100" y="555498"/>
                </a:cubicBezTo>
                <a:lnTo>
                  <a:pt x="555498" y="555498"/>
                </a:lnTo>
                <a:cubicBezTo>
                  <a:pt x="586177" y="555498"/>
                  <a:pt x="611048" y="530628"/>
                  <a:pt x="611048" y="499948"/>
                </a:cubicBezTo>
                <a:lnTo>
                  <a:pt x="611048" y="333299"/>
                </a:lnTo>
                <a:lnTo>
                  <a:pt x="515224" y="141930"/>
                </a:lnTo>
                <a:cubicBezTo>
                  <a:pt x="505844" y="123052"/>
                  <a:pt x="486587" y="111111"/>
                  <a:pt x="465507" y="111100"/>
                </a:cubicBezTo>
                <a:lnTo>
                  <a:pt x="201090" y="111100"/>
                </a:lnTo>
                <a:cubicBezTo>
                  <a:pt x="180011" y="111111"/>
                  <a:pt x="160754" y="123052"/>
                  <a:pt x="151373" y="141930"/>
                </a:cubicBezTo>
                <a:close/>
              </a:path>
            </a:pathLst>
          </a:custGeom>
          <a:noFill/>
          <a:ln w="48606" cap="rnd">
            <a:solidFill>
              <a:srgbClr val="0B2350"/>
            </a:solidFill>
            <a:prstDash val="solid"/>
            <a:round/>
          </a:ln>
        </p:spPr>
      </p:sp>
      <p:sp>
        <p:nvSpPr>
          <p:cNvPr id="12" name="Text 10"/>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Evento pendiente</a:t>
            </a:r>
            <a:endParaRPr lang="en-US" sz="1800" dirty="0"/>
          </a:p>
        </p:txBody>
      </p:sp>
      <p:sp>
        <p:nvSpPr>
          <p:cNvPr id="14" name="Text 12"/>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Espera en la tabla evento, junto a la solicitud.</a:t>
            </a:r>
            <a:endParaRPr lang="en-US" sz="1400" dirty="0"/>
          </a:p>
        </p:txBody>
      </p:sp>
      <p:sp>
        <p:nvSpPr>
          <p:cNvPr id="15" name="Shape 13"/>
          <p:cNvSpPr/>
          <p:nvPr/>
        </p:nvSpPr>
        <p:spPr>
          <a:xfrm>
            <a:off x="2692108" y="2446020"/>
            <a:ext cx="1324280" cy="0"/>
          </a:xfrm>
          <a:prstGeom prst="line">
            <a:avLst/>
          </a:prstGeom>
          <a:noFill/>
          <a:ln w="38100">
            <a:solidFill>
              <a:srgbClr val="2BA6CB"/>
            </a:solidFill>
            <a:prstDash val="solid"/>
            <a:tailEnd type="triangle"/>
          </a:ln>
        </p:spPr>
      </p:sp>
      <p:sp>
        <p:nvSpPr>
          <p:cNvPr id="16" name="Shape 14"/>
          <p:cNvSpPr/>
          <p:nvPr/>
        </p:nvSpPr>
        <p:spPr>
          <a:xfrm>
            <a:off x="41078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timer"/>
          <p:cNvSpPr/>
          <p:nvPr/>
        </p:nvSpPr>
        <p:spPr>
          <a:xfrm>
            <a:off x="4391749" y="2112721"/>
            <a:ext cx="666598" cy="666598"/>
          </a:xfrm>
          <a:custGeom>
            <a:avLst/>
            <a:gdLst/>
            <a:ahLst/>
            <a:cxnLst/>
            <a:rect l="l" t="t" r="r" b="b"/>
            <a:pathLst>
              <a:path w="666598" h="666598">
                <a:moveTo>
                  <a:pt x="277749" y="55550"/>
                </a:moveTo>
                <a:lnTo>
                  <a:pt x="388849" y="55550"/>
                </a:lnTo>
                <a:moveTo>
                  <a:pt x="333299" y="388849"/>
                </a:moveTo>
                <a:lnTo>
                  <a:pt x="416624" y="305524"/>
                </a:lnTo>
                <a:moveTo>
                  <a:pt x="555498" y="388849"/>
                </a:moveTo>
                <a:cubicBezTo>
                  <a:pt x="555498" y="511566"/>
                  <a:pt x="456016" y="611048"/>
                  <a:pt x="333299" y="611048"/>
                </a:cubicBezTo>
                <a:cubicBezTo>
                  <a:pt x="210582" y="611048"/>
                  <a:pt x="111100" y="511566"/>
                  <a:pt x="111100" y="388849"/>
                </a:cubicBezTo>
                <a:cubicBezTo>
                  <a:pt x="111100" y="266131"/>
                  <a:pt x="210582" y="166649"/>
                  <a:pt x="333299" y="166649"/>
                </a:cubicBezTo>
                <a:cubicBezTo>
                  <a:pt x="456016" y="166649"/>
                  <a:pt x="555498" y="266131"/>
                  <a:pt x="555498" y="388849"/>
                </a:cubicBezTo>
                <a:close/>
              </a:path>
            </a:pathLst>
          </a:custGeom>
          <a:noFill/>
          <a:ln w="48606" cap="rnd">
            <a:solidFill>
              <a:srgbClr val="0B2350"/>
            </a:solidFill>
            <a:prstDash val="solid"/>
            <a:round/>
          </a:ln>
        </p:spPr>
      </p:sp>
      <p:sp>
        <p:nvSpPr>
          <p:cNvPr id="18" name="Text 16"/>
          <p:cNvSpPr/>
          <p:nvPr/>
        </p:nvSpPr>
        <p:spPr>
          <a:xfrm>
            <a:off x="40712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20" name="Text 18"/>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Revisa los pendientes cada 5 segundos.</a:t>
            </a:r>
            <a:endParaRPr lang="en-US" sz="1400" dirty="0"/>
          </a:p>
        </p:txBody>
      </p:sp>
      <p:sp>
        <p:nvSpPr>
          <p:cNvPr id="21" name="Shape 19"/>
          <p:cNvSpPr/>
          <p:nvPr/>
        </p:nvSpPr>
        <p:spPr>
          <a:xfrm>
            <a:off x="5433708" y="2446020"/>
            <a:ext cx="1324280" cy="0"/>
          </a:xfrm>
          <a:prstGeom prst="line">
            <a:avLst/>
          </a:prstGeom>
          <a:noFill/>
          <a:ln w="38100">
            <a:solidFill>
              <a:srgbClr val="2BA6CB"/>
            </a:solidFill>
            <a:prstDash val="solid"/>
            <a:tailEnd type="triangle"/>
          </a:ln>
        </p:spPr>
      </p:sp>
      <p:sp>
        <p:nvSpPr>
          <p:cNvPr id="22" name="Shape 20"/>
          <p:cNvSpPr/>
          <p:nvPr/>
        </p:nvSpPr>
        <p:spPr>
          <a:xfrm>
            <a:off x="68494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3" name="Icono send"/>
          <p:cNvSpPr/>
          <p:nvPr/>
        </p:nvSpPr>
        <p:spPr>
          <a:xfrm>
            <a:off x="7133349" y="2112721"/>
            <a:ext cx="666598" cy="666598"/>
          </a:xfrm>
          <a:custGeom>
            <a:avLst/>
            <a:gdLst/>
            <a:ahLst/>
            <a:cxnLst/>
            <a:rect l="l" t="t" r="r" b="b"/>
            <a:pathLst>
              <a:path w="666598" h="666598">
                <a:moveTo>
                  <a:pt x="403736" y="602326"/>
                </a:moveTo>
                <a:cubicBezTo>
                  <a:pt x="405897" y="607712"/>
                  <a:pt x="411179" y="611186"/>
                  <a:pt x="416980" y="611038"/>
                </a:cubicBezTo>
                <a:cubicBezTo>
                  <a:pt x="422781" y="610889"/>
                  <a:pt x="427879" y="607149"/>
                  <a:pt x="429761" y="601660"/>
                </a:cubicBezTo>
                <a:lnTo>
                  <a:pt x="610298" y="73937"/>
                </a:lnTo>
                <a:cubicBezTo>
                  <a:pt x="612113" y="68913"/>
                  <a:pt x="610859" y="63293"/>
                  <a:pt x="607082" y="59515"/>
                </a:cubicBezTo>
                <a:cubicBezTo>
                  <a:pt x="603305" y="55738"/>
                  <a:pt x="597685" y="54485"/>
                  <a:pt x="592661" y="56300"/>
                </a:cubicBezTo>
                <a:lnTo>
                  <a:pt x="64938" y="236837"/>
                </a:lnTo>
                <a:cubicBezTo>
                  <a:pt x="59448" y="238719"/>
                  <a:pt x="55708" y="243816"/>
                  <a:pt x="55560" y="249617"/>
                </a:cubicBezTo>
                <a:cubicBezTo>
                  <a:pt x="55411" y="255419"/>
                  <a:pt x="58885" y="260701"/>
                  <a:pt x="64271" y="262862"/>
                </a:cubicBezTo>
                <a:lnTo>
                  <a:pt x="284526" y="351186"/>
                </a:lnTo>
                <a:cubicBezTo>
                  <a:pt x="298596" y="356819"/>
                  <a:pt x="309753" y="367956"/>
                  <a:pt x="315412" y="382016"/>
                </a:cubicBezTo>
                <a:close/>
                <a:moveTo>
                  <a:pt x="606993" y="59633"/>
                </a:moveTo>
                <a:lnTo>
                  <a:pt x="303135" y="363462"/>
                </a:lnTo>
              </a:path>
            </a:pathLst>
          </a:custGeom>
          <a:noFill/>
          <a:ln w="48606" cap="rnd">
            <a:solidFill>
              <a:srgbClr val="0B6E8A"/>
            </a:solidFill>
            <a:prstDash val="solid"/>
            <a:round/>
          </a:ln>
        </p:spPr>
      </p:sp>
      <p:sp>
        <p:nvSpPr>
          <p:cNvPr id="24" name="Text 22"/>
          <p:cNvSpPr/>
          <p:nvPr/>
        </p:nvSpPr>
        <p:spPr>
          <a:xfrm>
            <a:off x="68128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Publicador</a:t>
            </a:r>
            <a:endParaRPr lang="en-US" sz="1800" dirty="0"/>
          </a:p>
        </p:txBody>
      </p:sp>
      <p:sp>
        <p:nvSpPr>
          <p:cNvPr id="26" name="Text 24"/>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entrega por HTTP, con hasta 3 intentos.</a:t>
            </a:r>
            <a:endParaRPr lang="en-US" sz="1400" dirty="0"/>
          </a:p>
        </p:txBody>
      </p:sp>
      <p:sp>
        <p:nvSpPr>
          <p:cNvPr id="27" name="Shape 25"/>
          <p:cNvSpPr/>
          <p:nvPr/>
        </p:nvSpPr>
        <p:spPr>
          <a:xfrm>
            <a:off x="8175308" y="2446020"/>
            <a:ext cx="1324280" cy="0"/>
          </a:xfrm>
          <a:prstGeom prst="line">
            <a:avLst/>
          </a:prstGeom>
          <a:noFill/>
          <a:ln w="38100">
            <a:solidFill>
              <a:srgbClr val="2BA6CB"/>
            </a:solidFill>
            <a:prstDash val="solid"/>
            <a:tailEnd type="triangle"/>
          </a:ln>
        </p:spPr>
      </p:sp>
      <p:sp>
        <p:nvSpPr>
          <p:cNvPr id="28" name="Shape 26"/>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bell"/>
          <p:cNvSpPr/>
          <p:nvPr/>
        </p:nvSpPr>
        <p:spPr>
          <a:xfrm>
            <a:off x="98749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0" name="Text 28"/>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32" name="Text 30"/>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33" name="Shape 31"/>
          <p:cNvSpPr/>
          <p:nvPr/>
        </p:nvSpPr>
        <p:spPr>
          <a:xfrm>
            <a:off x="7466648" y="4123944"/>
            <a:ext cx="0" cy="955548"/>
          </a:xfrm>
          <a:prstGeom prst="line">
            <a:avLst/>
          </a:prstGeom>
          <a:noFill/>
          <a:ln w="25400">
            <a:solidFill>
              <a:srgbClr val="8A4B06"/>
            </a:solidFill>
            <a:prstDash val="dash"/>
          </a:ln>
        </p:spPr>
      </p:sp>
      <p:sp>
        <p:nvSpPr>
          <p:cNvPr id="34" name="Shape 32"/>
          <p:cNvSpPr/>
          <p:nvPr/>
        </p:nvSpPr>
        <p:spPr>
          <a:xfrm flipH="1">
            <a:off x="7372807" y="5079492"/>
            <a:ext cx="93840" cy="0"/>
          </a:xfrm>
          <a:prstGeom prst="line">
            <a:avLst/>
          </a:prstGeom>
          <a:noFill/>
          <a:ln w="25400">
            <a:solidFill>
              <a:srgbClr val="8A4B06"/>
            </a:solidFill>
            <a:prstDash val="dash"/>
            <a:tailEnd type="triangle"/>
          </a:ln>
        </p:spPr>
      </p:sp>
      <p:sp>
        <p:nvSpPr>
          <p:cNvPr id="35" name="Text 33"/>
          <p:cNvSpPr/>
          <p:nvPr/>
        </p:nvSpPr>
        <p:spPr>
          <a:xfrm>
            <a:off x="60036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36" name="Shape 34"/>
          <p:cNvSpPr/>
          <p:nvPr/>
        </p:nvSpPr>
        <p:spPr>
          <a:xfrm>
            <a:off x="7372807" y="4645152"/>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7537399" y="4800600"/>
            <a:ext cx="548640" cy="548640"/>
          </a:xfrm>
          <a:prstGeom prst="ellipse">
            <a:avLst/>
          </a:prstGeom>
          <a:solidFill>
            <a:srgbClr val="FFFFFF"/>
          </a:solidFill>
          <a:ln w="12700">
            <a:solidFill>
              <a:srgbClr val="FFFFFF"/>
            </a:solidFill>
            <a:prstDash val="solid"/>
          </a:ln>
        </p:spPr>
      </p:sp>
      <p:sp>
        <p:nvSpPr>
          <p:cNvPr id="38" name="Icono refresh-cw"/>
          <p:cNvSpPr/>
          <p:nvPr/>
        </p:nvSpPr>
        <p:spPr>
          <a:xfrm>
            <a:off x="7669073" y="4932274"/>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39" name="Text 37"/>
          <p:cNvSpPr/>
          <p:nvPr/>
        </p:nvSpPr>
        <p:spPr>
          <a:xfrm>
            <a:off x="8214055"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0" name="Text 38"/>
          <p:cNvSpPr/>
          <p:nvPr/>
        </p:nvSpPr>
        <p:spPr>
          <a:xfrm>
            <a:off x="8214055"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Con el mismo número de evento, se reintenta en el siguiente ciclo.</a:t>
            </a:r>
            <a:endParaRPr lang="en-US" sz="11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E3F4FA"/>
          </a:solidFill>
          <a:ln w="22225">
            <a:solidFill>
              <a:srgbClr val="2BA6CB"/>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E3F4FA"/>
          </a:solidFill>
          <a:ln w="22225">
            <a:solidFill>
              <a:srgbClr val="2BA6CB"/>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41275">
            <a:solidFill>
              <a:srgbClr val="2BA6CB"/>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41275">
            <a:solidFill>
              <a:srgbClr val="2BA6CB"/>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47625">
            <a:solidFill>
              <a:srgbClr val="2BA6CB"/>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22860">
            <a:solidFill>
              <a:srgbClr val="CBD5E3"/>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31750">
            <a:solidFill>
              <a:srgbClr val="CBD5E3"/>
            </a:solidFill>
            <a:prstDash val="sysDot"/>
            <a:tailEnd type="triangle"/>
          </a:ln>
        </p:spPr>
      </p:sp>
      <p:sp>
        <p:nvSpPr>
          <p:cNvPr id="22" name="Text 20"/>
          <p:cNvSpPr/>
          <p:nvPr/>
        </p:nvSpPr>
        <p:spPr>
          <a:xfrm>
            <a:off x="6240062" y="357295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31750">
            <a:solidFill>
              <a:srgbClr val="CBD5E3"/>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31750">
            <a:solidFill>
              <a:srgbClr val="CBD5E3"/>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25400">
            <a:solidFill>
              <a:srgbClr val="CBD5E3"/>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4353262" y="2007103"/>
            <a:ext cx="388500" cy="388500"/>
          </a:xfrm>
          <a:prstGeom prst="ellipse">
            <a:avLst/>
          </a:prstGeom>
          <a:solidFill>
            <a:srgbClr val="E3F4FA"/>
          </a:solidFill>
          <a:ln w="12700">
            <a:solidFill>
              <a:srgbClr val="E3F4F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6E8A"/>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E3F4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12700">
            <a:solidFill>
              <a:srgbClr val="D5DDE8"/>
            </a:solidFill>
            <a:prstDash val="solid"/>
          </a:ln>
        </p:spPr>
      </p:sp>
      <p:sp>
        <p:nvSpPr>
          <p:cNvPr id="42" name="Shape 40"/>
          <p:cNvSpPr/>
          <p:nvPr/>
        </p:nvSpPr>
        <p:spPr>
          <a:xfrm>
            <a:off x="2307619" y="3488431"/>
            <a:ext cx="388500" cy="388500"/>
          </a:xfrm>
          <a:prstGeom prst="ellipse">
            <a:avLst/>
          </a:prstGeom>
          <a:solidFill>
            <a:srgbClr val="EEF2F7"/>
          </a:solidFill>
          <a:ln w="12700">
            <a:solidFill>
              <a:srgbClr val="EEF2F7"/>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A9B4C6"/>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2645588"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8" name="Text 46"/>
          <p:cNvSpPr/>
          <p:nvPr/>
        </p:nvSpPr>
        <p:spPr>
          <a:xfrm>
            <a:off x="1271016" y="5413248"/>
            <a:ext cx="1868348"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espera en la tabla de pendientes.</a:t>
            </a:r>
            <a:endParaRPr lang="en-US" sz="1300" dirty="0"/>
          </a:p>
        </p:txBody>
      </p:sp>
      <p:sp>
        <p:nvSpPr>
          <p:cNvPr id="49" name="Shape 47"/>
          <p:cNvSpPr/>
          <p:nvPr/>
        </p:nvSpPr>
        <p:spPr>
          <a:xfrm>
            <a:off x="3386252" y="5376672"/>
            <a:ext cx="2645588"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3523412"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51" name="Text 49"/>
          <p:cNvSpPr/>
          <p:nvPr/>
        </p:nvSpPr>
        <p:spPr>
          <a:xfrm>
            <a:off x="4044620" y="5413248"/>
            <a:ext cx="1868348"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revisa si hay pendientes.</a:t>
            </a:r>
            <a:endParaRPr lang="en-US" sz="1300" dirty="0"/>
          </a:p>
        </p:txBody>
      </p:sp>
      <p:sp>
        <p:nvSpPr>
          <p:cNvPr id="52" name="Shape 50"/>
          <p:cNvSpPr/>
          <p:nvPr/>
        </p:nvSpPr>
        <p:spPr>
          <a:xfrm>
            <a:off x="6159856" y="5376672"/>
            <a:ext cx="2645588"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3" name="Text 51"/>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54" name="Text 52"/>
          <p:cNvSpPr/>
          <p:nvPr/>
        </p:nvSpPr>
        <p:spPr>
          <a:xfrm>
            <a:off x="6818224" y="5413248"/>
            <a:ext cx="1868348" cy="841248"/>
          </a:xfrm>
          <a:prstGeom prst="rect">
            <a:avLst/>
          </a:prstGeom>
          <a:noFill/>
          <a:ln/>
        </p:spPr>
        <p:txBody>
          <a:bodyPr wrap="square" lIns="0" tIns="0" rIns="0" bIns="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publicador lo entrega hasta con tres intentos, siempre con el mismo número de evento.</a:t>
            </a:r>
            <a:endParaRPr lang="en-US" sz="1100" dirty="0"/>
          </a:p>
        </p:txBody>
      </p:sp>
      <p:sp>
        <p:nvSpPr>
          <p:cNvPr id="55" name="Shape 53"/>
          <p:cNvSpPr/>
          <p:nvPr/>
        </p:nvSpPr>
        <p:spPr>
          <a:xfrm>
            <a:off x="8933459" y="5376672"/>
            <a:ext cx="2645588"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6" name="Text 54"/>
          <p:cNvSpPr/>
          <p:nvPr/>
        </p:nvSpPr>
        <p:spPr>
          <a:xfrm>
            <a:off x="9070619"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7" name="Text 55"/>
          <p:cNvSpPr/>
          <p:nvPr/>
        </p:nvSpPr>
        <p:spPr>
          <a:xfrm>
            <a:off x="9591827" y="5413248"/>
            <a:ext cx="1868348"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llega a notificaciones por HTTP.</a:t>
            </a:r>
            <a:endParaRPr lang="en-US" sz="130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F4F7FB"/>
          </a:solidFill>
          <a:ln w="12700">
            <a:solidFill>
              <a:srgbClr val="DFE6F0"/>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F4F7FB"/>
          </a:solidFill>
          <a:ln w="12700">
            <a:solidFill>
              <a:srgbClr val="DFE6F0"/>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25400">
            <a:solidFill>
              <a:srgbClr val="55627E"/>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25400">
            <a:solidFill>
              <a:srgbClr val="55627E"/>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31750">
            <a:solidFill>
              <a:srgbClr val="2E6DB4"/>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22860">
            <a:solidFill>
              <a:srgbClr val="CBD5E3"/>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47625">
            <a:solidFill>
              <a:srgbClr val="2BA6CB"/>
            </a:solidFill>
            <a:prstDash val="sysDot"/>
            <a:tailEnd type="triangle"/>
          </a:ln>
        </p:spPr>
      </p:sp>
      <p:sp>
        <p:nvSpPr>
          <p:cNvPr id="22" name="Text 20"/>
          <p:cNvSpPr/>
          <p:nvPr/>
        </p:nvSpPr>
        <p:spPr>
          <a:xfrm>
            <a:off x="6240062" y="35729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47625">
            <a:solidFill>
              <a:srgbClr val="2BA6CB"/>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47625">
            <a:solidFill>
              <a:srgbClr val="2BA6CB"/>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25400">
            <a:solidFill>
              <a:srgbClr val="CBD5E3"/>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4353262" y="2007103"/>
            <a:ext cx="388500" cy="388500"/>
          </a:xfrm>
          <a:prstGeom prst="ellipse">
            <a:avLst/>
          </a:prstGeom>
          <a:solidFill>
            <a:srgbClr val="E2E5EA"/>
          </a:solidFill>
          <a:ln w="12700">
            <a:solidFill>
              <a:srgbClr val="E2E5E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2350"/>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2" name="Shape 40"/>
          <p:cNvSpPr/>
          <p:nvPr/>
        </p:nvSpPr>
        <p:spPr>
          <a:xfrm>
            <a:off x="2307619" y="3488431"/>
            <a:ext cx="388500" cy="388500"/>
          </a:xfrm>
          <a:prstGeom prst="ellipse">
            <a:avLst/>
          </a:prstGeom>
          <a:solidFill>
            <a:srgbClr val="E3F4FA"/>
          </a:solidFill>
          <a:ln w="12700">
            <a:solidFill>
              <a:srgbClr val="E3F4FA"/>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0B6E8A"/>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8" name="Text 46"/>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revisa si ya conoce ese número de evento.</a:t>
            </a:r>
            <a:endParaRPr lang="en-US" sz="1300" dirty="0"/>
          </a:p>
        </p:txBody>
      </p:sp>
      <p:sp>
        <p:nvSpPr>
          <p:cNvPr id="49" name="Shape 47"/>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1" name="Text 49"/>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 nuevo, crea el aviso y anota el número.</a:t>
            </a:r>
            <a:endParaRPr lang="en-US" sz="1300" dirty="0"/>
          </a:p>
        </p:txBody>
      </p:sp>
      <p:sp>
        <p:nvSpPr>
          <p:cNvPr id="52" name="Shape 50"/>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3" name="Text 51"/>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54" name="Text 52"/>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ya lo conocía, lo ignora. Así una reentrega no duplica el aviso.</a:t>
            </a:r>
            <a:endParaRPr lang="en-US" sz="13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F4F7FB"/>
          </a:solidFill>
          <a:ln w="12700">
            <a:solidFill>
              <a:srgbClr val="DFE6F0"/>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F4F7FB"/>
          </a:solidFill>
          <a:ln w="12700">
            <a:solidFill>
              <a:srgbClr val="DFE6F0"/>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25400">
            <a:solidFill>
              <a:srgbClr val="55627E"/>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25400">
            <a:solidFill>
              <a:srgbClr val="55627E"/>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47625">
            <a:solidFill>
              <a:srgbClr val="2BA6CB"/>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38735">
            <a:solidFill>
              <a:srgbClr val="2BA6CB"/>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31750">
            <a:solidFill>
              <a:srgbClr val="55627E"/>
            </a:solidFill>
            <a:prstDash val="sysDot"/>
            <a:tailEnd type="triangle"/>
          </a:ln>
        </p:spPr>
      </p:sp>
      <p:sp>
        <p:nvSpPr>
          <p:cNvPr id="22" name="Text 20"/>
          <p:cNvSpPr/>
          <p:nvPr/>
        </p:nvSpPr>
        <p:spPr>
          <a:xfrm>
            <a:off x="6240062" y="35729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47625">
            <a:solidFill>
              <a:srgbClr val="2BA6CB"/>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31750">
            <a:solidFill>
              <a:srgbClr val="55627E"/>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41275">
            <a:solidFill>
              <a:srgbClr val="2BA6CB"/>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4353262" y="2007103"/>
            <a:ext cx="388500" cy="388500"/>
          </a:xfrm>
          <a:prstGeom prst="ellipse">
            <a:avLst/>
          </a:prstGeom>
          <a:solidFill>
            <a:srgbClr val="E3F4FA"/>
          </a:solidFill>
          <a:ln w="12700">
            <a:solidFill>
              <a:srgbClr val="E3F4F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6E8A"/>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2" name="Shape 40"/>
          <p:cNvSpPr/>
          <p:nvPr/>
        </p:nvSpPr>
        <p:spPr>
          <a:xfrm>
            <a:off x="2307619" y="3488431"/>
            <a:ext cx="388500" cy="388500"/>
          </a:xfrm>
          <a:prstGeom prst="ellipse">
            <a:avLst/>
          </a:prstGeom>
          <a:solidFill>
            <a:srgbClr val="E3F4FA"/>
          </a:solidFill>
          <a:ln w="12700">
            <a:solidFill>
              <a:srgbClr val="E3F4FA"/>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0B6E8A"/>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48" name="Text 46"/>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responde que lo recibió.</a:t>
            </a:r>
            <a:endParaRPr lang="en-US" sz="1300" dirty="0"/>
          </a:p>
        </p:txBody>
      </p:sp>
      <p:sp>
        <p:nvSpPr>
          <p:cNvPr id="49" name="Shape 47"/>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9</a:t>
            </a:r>
            <a:endParaRPr lang="en-US" sz="1400" dirty="0"/>
          </a:p>
        </p:txBody>
      </p:sp>
      <p:sp>
        <p:nvSpPr>
          <p:cNvPr id="51" name="Text 49"/>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Solo entonces el relevador lo marca como entregado.</a:t>
            </a:r>
            <a:endParaRPr lang="en-US" sz="1300" dirty="0"/>
          </a:p>
        </p:txBody>
      </p:sp>
      <p:sp>
        <p:nvSpPr>
          <p:cNvPr id="52" name="Shape 50"/>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3" name="Text 51"/>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10</a:t>
            </a:r>
            <a:endParaRPr lang="en-US" sz="1400" dirty="0"/>
          </a:p>
        </p:txBody>
      </p:sp>
      <p:sp>
        <p:nvSpPr>
          <p:cNvPr id="54" name="Text 52"/>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esa respuesta se pierde, el evento se vuelve a mandar, y la idempotencia evita el aviso doble.</a:t>
            </a:r>
            <a:endParaRPr lang="en-US" sz="13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no multiplica el efecto.</a:t>
            </a:r>
            <a:endParaRPr lang="en-US" sz="1700" dirty="0"/>
          </a:p>
        </p:txBody>
      </p:sp>
      <p:sp>
        <p:nvSpPr>
          <p:cNvPr id="6" name="Shape 4"/>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285232"/>
            <a:ext cx="438912" cy="438912"/>
          </a:xfrm>
          <a:prstGeom prst="ellipse">
            <a:avLst/>
          </a:prstGeom>
          <a:solidFill>
            <a:srgbClr val="FFFFFF"/>
          </a:solidFill>
          <a:ln w="12700">
            <a:solidFill>
              <a:srgbClr val="FFFFFF"/>
            </a:solidFill>
            <a:prstDash val="solid"/>
          </a:ln>
        </p:spPr>
      </p:sp>
      <p:sp>
        <p:nvSpPr>
          <p:cNvPr id="8" name="Icono user-check"/>
          <p:cNvSpPr/>
          <p:nvPr/>
        </p:nvSpPr>
        <p:spPr>
          <a:xfrm>
            <a:off x="900867" y="5390571"/>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9" name="Text 7"/>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0" name="Shape 8"/>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mail"/>
          <p:cNvSpPr/>
          <p:nvPr/>
        </p:nvSpPr>
        <p:spPr>
          <a:xfrm>
            <a:off x="1790875" y="1992843"/>
            <a:ext cx="385145" cy="385145"/>
          </a:xfrm>
          <a:custGeom>
            <a:avLst/>
            <a:gdLst/>
            <a:ahLst/>
            <a:cxnLst/>
            <a:rect l="l" t="t" r="r" b="b"/>
            <a:pathLst>
              <a:path w="385145" h="385145">
                <a:moveTo>
                  <a:pt x="64191" y="64191"/>
                </a:moveTo>
                <a:lnTo>
                  <a:pt x="320954" y="64191"/>
                </a:lnTo>
                <a:cubicBezTo>
                  <a:pt x="338680" y="64191"/>
                  <a:pt x="353050" y="78560"/>
                  <a:pt x="353050" y="96286"/>
                </a:cubicBezTo>
                <a:lnTo>
                  <a:pt x="353050" y="288859"/>
                </a:lnTo>
                <a:cubicBezTo>
                  <a:pt x="353050" y="306585"/>
                  <a:pt x="338680" y="320954"/>
                  <a:pt x="320954" y="320954"/>
                </a:cubicBezTo>
                <a:lnTo>
                  <a:pt x="64191" y="320954"/>
                </a:lnTo>
                <a:cubicBezTo>
                  <a:pt x="46465" y="320954"/>
                  <a:pt x="32095" y="306585"/>
                  <a:pt x="32095" y="288859"/>
                </a:cubicBezTo>
                <a:lnTo>
                  <a:pt x="32095" y="96286"/>
                </a:lnTo>
                <a:cubicBezTo>
                  <a:pt x="32095" y="78560"/>
                  <a:pt x="46465" y="64191"/>
                  <a:pt x="64191" y="64191"/>
                </a:cubicBezTo>
                <a:close/>
                <a:moveTo>
                  <a:pt x="353050" y="112334"/>
                </a:moveTo>
                <a:lnTo>
                  <a:pt x="209102" y="203806"/>
                </a:lnTo>
                <a:cubicBezTo>
                  <a:pt x="198992" y="210140"/>
                  <a:pt x="186153" y="210140"/>
                  <a:pt x="176043" y="203806"/>
                </a:cubicBezTo>
                <a:lnTo>
                  <a:pt x="32095" y="112334"/>
                </a:lnTo>
              </a:path>
            </a:pathLst>
          </a:custGeom>
          <a:noFill/>
          <a:ln w="28084" cap="rnd">
            <a:solidFill>
              <a:srgbClr val="0B2350"/>
            </a:solidFill>
            <a:prstDash val="solid"/>
            <a:round/>
          </a:ln>
        </p:spPr>
      </p:sp>
      <p:sp>
        <p:nvSpPr>
          <p:cNvPr id="12" name="Text 10"/>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14" name="Text 12"/>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número: el eventoId.</a:t>
            </a:r>
            <a:endParaRPr lang="en-US" sz="1400" dirty="0"/>
          </a:p>
        </p:txBody>
      </p:sp>
      <p:sp>
        <p:nvSpPr>
          <p:cNvPr id="15" name="Shape 13"/>
          <p:cNvSpPr/>
          <p:nvPr/>
        </p:nvSpPr>
        <p:spPr>
          <a:xfrm>
            <a:off x="2431504" y="2185416"/>
            <a:ext cx="1845488" cy="0"/>
          </a:xfrm>
          <a:prstGeom prst="line">
            <a:avLst/>
          </a:prstGeom>
          <a:noFill/>
          <a:ln w="38100">
            <a:solidFill>
              <a:srgbClr val="2BA6CB"/>
            </a:solidFill>
            <a:prstDash val="solid"/>
            <a:tailEnd type="triangle"/>
          </a:ln>
        </p:spPr>
      </p:sp>
      <p:sp>
        <p:nvSpPr>
          <p:cNvPr id="16" name="Shape 14"/>
          <p:cNvSpPr/>
          <p:nvPr/>
        </p:nvSpPr>
        <p:spPr>
          <a:xfrm>
            <a:off x="43684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7" name="Icono fingerprint"/>
          <p:cNvSpPr/>
          <p:nvPr/>
        </p:nvSpPr>
        <p:spPr>
          <a:xfrm>
            <a:off x="4532475" y="1992843"/>
            <a:ext cx="385145" cy="385145"/>
          </a:xfrm>
          <a:custGeom>
            <a:avLst/>
            <a:gdLst/>
            <a:ahLst/>
            <a:cxnLst/>
            <a:rect l="l" t="t" r="r" b="b"/>
            <a:pathLst>
              <a:path w="385145" h="385145">
                <a:moveTo>
                  <a:pt x="192573" y="160477"/>
                </a:moveTo>
                <a:cubicBezTo>
                  <a:pt x="174847" y="160477"/>
                  <a:pt x="160477" y="174847"/>
                  <a:pt x="160477" y="192573"/>
                </a:cubicBezTo>
                <a:cubicBezTo>
                  <a:pt x="160477" y="208941"/>
                  <a:pt x="158872" y="232852"/>
                  <a:pt x="156305" y="256764"/>
                </a:cubicBezTo>
                <a:moveTo>
                  <a:pt x="224668" y="210546"/>
                </a:moveTo>
                <a:cubicBezTo>
                  <a:pt x="224668" y="248740"/>
                  <a:pt x="224668" y="312931"/>
                  <a:pt x="208620" y="353050"/>
                </a:cubicBezTo>
                <a:moveTo>
                  <a:pt x="277465" y="337323"/>
                </a:moveTo>
                <a:cubicBezTo>
                  <a:pt x="279391" y="327694"/>
                  <a:pt x="284366" y="300413"/>
                  <a:pt x="285489" y="288859"/>
                </a:cubicBezTo>
                <a:moveTo>
                  <a:pt x="32095" y="192573"/>
                </a:moveTo>
                <a:cubicBezTo>
                  <a:pt x="32095" y="123498"/>
                  <a:pt x="76296" y="62174"/>
                  <a:pt x="141825" y="40331"/>
                </a:cubicBezTo>
                <a:cubicBezTo>
                  <a:pt x="207355" y="18487"/>
                  <a:pt x="279510" y="41027"/>
                  <a:pt x="320954" y="96286"/>
                </a:cubicBezTo>
                <a:moveTo>
                  <a:pt x="32095" y="256764"/>
                </a:moveTo>
                <a:lnTo>
                  <a:pt x="32256" y="256764"/>
                </a:lnTo>
                <a:moveTo>
                  <a:pt x="349840" y="256764"/>
                </a:moveTo>
                <a:cubicBezTo>
                  <a:pt x="353050" y="224668"/>
                  <a:pt x="351943" y="170844"/>
                  <a:pt x="349840" y="160477"/>
                </a:cubicBezTo>
                <a:moveTo>
                  <a:pt x="80239" y="312931"/>
                </a:moveTo>
                <a:cubicBezTo>
                  <a:pt x="88262" y="288859"/>
                  <a:pt x="96286" y="240716"/>
                  <a:pt x="96286" y="192573"/>
                </a:cubicBezTo>
                <a:cubicBezTo>
                  <a:pt x="96270" y="181642"/>
                  <a:pt x="98115" y="170788"/>
                  <a:pt x="101743" y="160477"/>
                </a:cubicBezTo>
                <a:moveTo>
                  <a:pt x="138813" y="353050"/>
                </a:moveTo>
                <a:cubicBezTo>
                  <a:pt x="142183" y="342458"/>
                  <a:pt x="146034" y="331867"/>
                  <a:pt x="147960" y="320954"/>
                </a:cubicBezTo>
                <a:moveTo>
                  <a:pt x="144429" y="109124"/>
                </a:moveTo>
                <a:cubicBezTo>
                  <a:pt x="174230" y="91919"/>
                  <a:pt x="210947" y="91925"/>
                  <a:pt x="240743" y="109140"/>
                </a:cubicBezTo>
                <a:cubicBezTo>
                  <a:pt x="270538" y="126355"/>
                  <a:pt x="288881" y="158162"/>
                  <a:pt x="288859" y="192573"/>
                </a:cubicBezTo>
                <a:lnTo>
                  <a:pt x="288859" y="224668"/>
                </a:lnTo>
              </a:path>
            </a:pathLst>
          </a:custGeom>
          <a:noFill/>
          <a:ln w="28084" cap="rnd">
            <a:solidFill>
              <a:srgbClr val="0B6E8A"/>
            </a:solidFill>
            <a:prstDash val="solid"/>
            <a:round/>
          </a:ln>
        </p:spPr>
      </p:sp>
      <p:sp>
        <p:nvSpPr>
          <p:cNvPr id="18" name="Text 16"/>
          <p:cNvSpPr/>
          <p:nvPr/>
        </p:nvSpPr>
        <p:spPr>
          <a:xfrm>
            <a:off x="43318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0" name="Text 18"/>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el número en la tabla evento_procesado.</a:t>
            </a:r>
            <a:endParaRPr lang="en-US" sz="1400" dirty="0"/>
          </a:p>
        </p:txBody>
      </p:sp>
      <p:sp>
        <p:nvSpPr>
          <p:cNvPr id="21" name="Shape 19"/>
          <p:cNvSpPr/>
          <p:nvPr/>
        </p:nvSpPr>
        <p:spPr>
          <a:xfrm>
            <a:off x="5173104" y="2185416"/>
            <a:ext cx="1845488" cy="0"/>
          </a:xfrm>
          <a:prstGeom prst="line">
            <a:avLst/>
          </a:prstGeom>
          <a:noFill/>
          <a:ln w="38100">
            <a:solidFill>
              <a:srgbClr val="2BA6CB"/>
            </a:solidFill>
            <a:prstDash val="solid"/>
            <a:tailEnd type="triangle"/>
          </a:ln>
        </p:spPr>
      </p:sp>
      <p:sp>
        <p:nvSpPr>
          <p:cNvPr id="22" name="Shape 20"/>
          <p:cNvSpPr/>
          <p:nvPr/>
        </p:nvSpPr>
        <p:spPr>
          <a:xfrm>
            <a:off x="7110032"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3" name="Icono bell"/>
          <p:cNvSpPr/>
          <p:nvPr/>
        </p:nvSpPr>
        <p:spPr>
          <a:xfrm>
            <a:off x="72740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24" name="Text 22"/>
          <p:cNvSpPr/>
          <p:nvPr/>
        </p:nvSpPr>
        <p:spPr>
          <a:xfrm>
            <a:off x="7073456"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26" name="Text 24"/>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27" name="Shape 25"/>
          <p:cNvSpPr/>
          <p:nvPr/>
        </p:nvSpPr>
        <p:spPr>
          <a:xfrm>
            <a:off x="7914704" y="2185416"/>
            <a:ext cx="1845488" cy="0"/>
          </a:xfrm>
          <a:prstGeom prst="line">
            <a:avLst/>
          </a:prstGeom>
          <a:noFill/>
          <a:ln w="38100">
            <a:solidFill>
              <a:srgbClr val="2BA6CB"/>
            </a:solidFill>
            <a:prstDash val="solid"/>
            <a:tailEnd type="triangle"/>
          </a:ln>
        </p:spPr>
      </p:sp>
      <p:sp>
        <p:nvSpPr>
          <p:cNvPr id="28" name="Shape 26"/>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clipboard-check"/>
          <p:cNvSpPr/>
          <p:nvPr/>
        </p:nvSpPr>
        <p:spPr>
          <a:xfrm>
            <a:off x="10015675" y="1992843"/>
            <a:ext cx="385145" cy="385145"/>
          </a:xfrm>
          <a:custGeom>
            <a:avLst/>
            <a:gdLst/>
            <a:ahLst/>
            <a:cxnLst/>
            <a:rect l="l" t="t" r="r" b="b"/>
            <a:pathLst>
              <a:path w="385145" h="385145">
                <a:moveTo>
                  <a:pt x="144429" y="32095"/>
                </a:moveTo>
                <a:lnTo>
                  <a:pt x="240716" y="32095"/>
                </a:lnTo>
                <a:cubicBezTo>
                  <a:pt x="249579" y="32095"/>
                  <a:pt x="256764" y="39280"/>
                  <a:pt x="256764" y="48143"/>
                </a:cubicBezTo>
                <a:lnTo>
                  <a:pt x="256764" y="80239"/>
                </a:lnTo>
                <a:cubicBezTo>
                  <a:pt x="256764" y="89102"/>
                  <a:pt x="249579" y="96286"/>
                  <a:pt x="240716" y="96286"/>
                </a:cubicBezTo>
                <a:lnTo>
                  <a:pt x="144429" y="96286"/>
                </a:lnTo>
                <a:cubicBezTo>
                  <a:pt x="135567" y="96286"/>
                  <a:pt x="128382" y="89102"/>
                  <a:pt x="128382" y="80239"/>
                </a:cubicBezTo>
                <a:lnTo>
                  <a:pt x="128382" y="48143"/>
                </a:lnTo>
                <a:cubicBezTo>
                  <a:pt x="128382" y="39280"/>
                  <a:pt x="135567" y="32095"/>
                  <a:pt x="144429" y="32095"/>
                </a:cubicBezTo>
                <a:close/>
                <a:moveTo>
                  <a:pt x="256764" y="64191"/>
                </a:moveTo>
                <a:lnTo>
                  <a:pt x="288859" y="64191"/>
                </a:lnTo>
                <a:cubicBezTo>
                  <a:pt x="306585" y="64191"/>
                  <a:pt x="320954" y="78560"/>
                  <a:pt x="320954" y="96286"/>
                </a:cubicBezTo>
                <a:lnTo>
                  <a:pt x="320954" y="320954"/>
                </a:lnTo>
                <a:cubicBezTo>
                  <a:pt x="320954" y="338680"/>
                  <a:pt x="306585" y="353050"/>
                  <a:pt x="288859" y="353050"/>
                </a:cubicBezTo>
                <a:lnTo>
                  <a:pt x="96286" y="353050"/>
                </a:lnTo>
                <a:cubicBezTo>
                  <a:pt x="78560" y="353050"/>
                  <a:pt x="64191" y="338680"/>
                  <a:pt x="64191" y="320954"/>
                </a:cubicBezTo>
                <a:lnTo>
                  <a:pt x="64191" y="96286"/>
                </a:lnTo>
                <a:cubicBezTo>
                  <a:pt x="64191" y="78560"/>
                  <a:pt x="78560" y="64191"/>
                  <a:pt x="96286" y="64191"/>
                </a:cubicBezTo>
                <a:lnTo>
                  <a:pt x="128382" y="64191"/>
                </a:lnTo>
                <a:moveTo>
                  <a:pt x="144429" y="224668"/>
                </a:moveTo>
                <a:lnTo>
                  <a:pt x="176525" y="256764"/>
                </a:lnTo>
                <a:lnTo>
                  <a:pt x="240716" y="192573"/>
                </a:lnTo>
              </a:path>
            </a:pathLst>
          </a:custGeom>
          <a:noFill/>
          <a:ln w="28084" cap="rnd">
            <a:solidFill>
              <a:srgbClr val="0A6648"/>
            </a:solidFill>
            <a:prstDash val="solid"/>
            <a:round/>
          </a:ln>
        </p:spPr>
      </p:sp>
      <p:sp>
        <p:nvSpPr>
          <p:cNvPr id="30" name="Text 28"/>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32" name="Text 30"/>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Para reconocerlo si vuelve a llegar.</a:t>
            </a:r>
            <a:endParaRPr lang="en-US" sz="1400" dirty="0"/>
          </a:p>
        </p:txBody>
      </p:sp>
      <p:sp>
        <p:nvSpPr>
          <p:cNvPr id="33" name="Shape 31"/>
          <p:cNvSpPr/>
          <p:nvPr/>
        </p:nvSpPr>
        <p:spPr>
          <a:xfrm>
            <a:off x="4725048" y="3602736"/>
            <a:ext cx="0" cy="955548"/>
          </a:xfrm>
          <a:prstGeom prst="line">
            <a:avLst/>
          </a:prstGeom>
          <a:noFill/>
          <a:ln w="25400">
            <a:solidFill>
              <a:srgbClr val="55627E"/>
            </a:solidFill>
            <a:prstDash val="dash"/>
          </a:ln>
        </p:spPr>
      </p:sp>
      <p:sp>
        <p:nvSpPr>
          <p:cNvPr id="34" name="Shape 32"/>
          <p:cNvSpPr/>
          <p:nvPr/>
        </p:nvSpPr>
        <p:spPr>
          <a:xfrm>
            <a:off x="4725048" y="4558284"/>
            <a:ext cx="457200" cy="0"/>
          </a:xfrm>
          <a:prstGeom prst="line">
            <a:avLst/>
          </a:prstGeom>
          <a:noFill/>
          <a:ln w="25400">
            <a:solidFill>
              <a:srgbClr val="55627E"/>
            </a:solidFill>
            <a:prstDash val="dash"/>
            <a:tailEnd type="triangle"/>
          </a:ln>
        </p:spPr>
      </p:sp>
      <p:sp>
        <p:nvSpPr>
          <p:cNvPr id="35" name="Text 33"/>
          <p:cNvSpPr/>
          <p:nvPr/>
        </p:nvSpPr>
        <p:spPr>
          <a:xfrm>
            <a:off x="32620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36" name="Shape 34"/>
          <p:cNvSpPr/>
          <p:nvPr/>
        </p:nvSpPr>
        <p:spPr>
          <a:xfrm>
            <a:off x="5182248" y="4123944"/>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5346840" y="4279392"/>
            <a:ext cx="548640" cy="548640"/>
          </a:xfrm>
          <a:prstGeom prst="ellipse">
            <a:avLst/>
          </a:prstGeom>
          <a:solidFill>
            <a:srgbClr val="FFFFFF"/>
          </a:solidFill>
          <a:ln w="12700">
            <a:solidFill>
              <a:srgbClr val="FFFFFF"/>
            </a:solidFill>
            <a:prstDash val="solid"/>
          </a:ln>
        </p:spPr>
      </p:sp>
      <p:sp>
        <p:nvSpPr>
          <p:cNvPr id="38" name="Icono ban"/>
          <p:cNvSpPr/>
          <p:nvPr/>
        </p:nvSpPr>
        <p:spPr>
          <a:xfrm>
            <a:off x="5478513" y="4411066"/>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39" name="Text 37"/>
          <p:cNvSpPr/>
          <p:nvPr/>
        </p:nvSpPr>
        <p:spPr>
          <a:xfrm>
            <a:off x="6023496"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0" name="Text 38"/>
          <p:cNvSpPr/>
          <p:nvPr/>
        </p:nvSpPr>
        <p:spPr>
          <a:xfrm>
            <a:off x="6023496"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Avisos duplicados: cero.</a:t>
            </a:r>
            <a:endParaRPr lang="en-US" sz="1150" dirty="0"/>
          </a:p>
        </p:txBody>
      </p:sp>
      <p:sp>
        <p:nvSpPr>
          <p:cNvPr id="41" name="Shape 39"/>
          <p:cNvSpPr/>
          <p:nvPr/>
        </p:nvSpPr>
        <p:spPr>
          <a:xfrm>
            <a:off x="0" y="5961888"/>
            <a:ext cx="12191695" cy="475488"/>
          </a:xfrm>
          <a:prstGeom prst="rect">
            <a:avLst/>
          </a:prstGeom>
          <a:solidFill>
            <a:srgbClr val="0B2350"/>
          </a:solidFill>
          <a:ln w="12700">
            <a:solidFill>
              <a:srgbClr val="0B2350"/>
            </a:solidFill>
            <a:prstDash val="solid"/>
          </a:ln>
        </p:spPr>
      </p:sp>
      <p:sp>
        <p:nvSpPr>
          <p:cNvPr id="42"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3" name="Text 41"/>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Los reintentos nos protegen de perder avisos; la idempotencia, de duplicarlos.</a:t>
            </a:r>
            <a:endParaRPr lang="en-US" sz="140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package"/>
          <p:cNvSpPr/>
          <p:nvPr/>
        </p:nvSpPr>
        <p:spPr>
          <a:xfrm>
            <a:off x="9098280" y="1783080"/>
            <a:ext cx="1371600" cy="1371600"/>
          </a:xfrm>
          <a:custGeom>
            <a:avLst/>
            <a:gdLst/>
            <a:ahLst/>
            <a:cxnLst/>
            <a:rect l="l" t="t" r="r" b="b"/>
            <a:pathLst>
              <a:path w="1371600" h="1371600">
                <a:moveTo>
                  <a:pt x="628650" y="1241870"/>
                </a:moveTo>
                <a:cubicBezTo>
                  <a:pt x="664015" y="1262287"/>
                  <a:pt x="707585" y="1262287"/>
                  <a:pt x="742950" y="1241870"/>
                </a:cubicBezTo>
                <a:lnTo>
                  <a:pt x="1143000" y="1013270"/>
                </a:lnTo>
                <a:cubicBezTo>
                  <a:pt x="1178328" y="992873"/>
                  <a:pt x="1200108" y="955194"/>
                  <a:pt x="1200150" y="914400"/>
                </a:cubicBezTo>
                <a:lnTo>
                  <a:pt x="1200150" y="457200"/>
                </a:lnTo>
                <a:cubicBezTo>
                  <a:pt x="1200108" y="416406"/>
                  <a:pt x="1178328" y="378727"/>
                  <a:pt x="1143000" y="358330"/>
                </a:cubicBezTo>
                <a:lnTo>
                  <a:pt x="742950" y="129730"/>
                </a:lnTo>
                <a:cubicBezTo>
                  <a:pt x="707585" y="109313"/>
                  <a:pt x="664015" y="109313"/>
                  <a:pt x="628650" y="129730"/>
                </a:cubicBezTo>
                <a:lnTo>
                  <a:pt x="228600" y="358331"/>
                </a:lnTo>
                <a:cubicBezTo>
                  <a:pt x="193272" y="378727"/>
                  <a:pt x="171492" y="416406"/>
                  <a:pt x="171450" y="457200"/>
                </a:cubicBezTo>
                <a:lnTo>
                  <a:pt x="171450" y="914400"/>
                </a:lnTo>
                <a:cubicBezTo>
                  <a:pt x="171492" y="955194"/>
                  <a:pt x="193272" y="992873"/>
                  <a:pt x="228600" y="1013270"/>
                </a:cubicBezTo>
                <a:close/>
                <a:moveTo>
                  <a:pt x="685800" y="1257300"/>
                </a:moveTo>
                <a:lnTo>
                  <a:pt x="685800" y="685800"/>
                </a:lnTo>
                <a:moveTo>
                  <a:pt x="188595" y="400050"/>
                </a:moveTo>
                <a:lnTo>
                  <a:pt x="628821" y="670598"/>
                </a:lnTo>
                <a:cubicBezTo>
                  <a:pt x="664099" y="690884"/>
                  <a:pt x="707501" y="690884"/>
                  <a:pt x="742779" y="670598"/>
                </a:cubicBezTo>
                <a:lnTo>
                  <a:pt x="1183005" y="400050"/>
                </a:lnTo>
                <a:moveTo>
                  <a:pt x="428625" y="244030"/>
                </a:moveTo>
                <a:lnTo>
                  <a:pt x="942975" y="538353"/>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5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2BA6CB"/>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05</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Empaquetar y entregar</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hicimos que el sistema corra igual en cualquier computadora y que cada cambio se pruebe solo.</a:t>
            </a:r>
            <a:endParaRPr lang="en-US" sz="1900" dirty="0"/>
          </a:p>
        </p:txBody>
      </p:sp>
      <p:sp>
        <p:nvSpPr>
          <p:cNvPr id="16" name="Text 14"/>
          <p:cNvSpPr/>
          <p:nvPr/>
        </p:nvSpPr>
        <p:spPr>
          <a:xfrm>
            <a:off x="758952" y="4663440"/>
            <a:ext cx="228142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y Dockerfile</a:t>
            </a:r>
            <a:endParaRPr lang="en-US" sz="1300" dirty="0"/>
          </a:p>
        </p:txBody>
      </p:sp>
      <p:sp>
        <p:nvSpPr>
          <p:cNvPr id="17" name="Text 15"/>
          <p:cNvSpPr/>
          <p:nvPr/>
        </p:nvSpPr>
        <p:spPr>
          <a:xfrm>
            <a:off x="3168396"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Compose</a:t>
            </a:r>
            <a:endParaRPr lang="en-US" sz="1300" dirty="0"/>
          </a:p>
        </p:txBody>
      </p:sp>
      <p:sp>
        <p:nvSpPr>
          <p:cNvPr id="18" name="Text 16"/>
          <p:cNvSpPr/>
          <p:nvPr/>
        </p:nvSpPr>
        <p:spPr>
          <a:xfrm>
            <a:off x="5097780" y="466344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Integración y entrega continua</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P5</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5 · DevOps</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Dockerfile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receta que funciona igual en cualquier computadora.</a:t>
            </a:r>
            <a:endParaRPr lang="en-US" sz="1700" dirty="0"/>
          </a:p>
        </p:txBody>
      </p:sp>
      <p:sp>
        <p:nvSpPr>
          <p:cNvPr id="6" name="Shape 4"/>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806440"/>
            <a:ext cx="438912" cy="438912"/>
          </a:xfrm>
          <a:prstGeom prst="ellipse">
            <a:avLst/>
          </a:prstGeom>
          <a:solidFill>
            <a:srgbClr val="FFFFFF"/>
          </a:solidFill>
          <a:ln w="12700">
            <a:solidFill>
              <a:srgbClr val="FFFFFF"/>
            </a:solidFill>
            <a:prstDash val="solid"/>
          </a:ln>
        </p:spPr>
      </p:sp>
      <p:sp>
        <p:nvSpPr>
          <p:cNvPr id="8" name="Icono chef-hat"/>
          <p:cNvSpPr/>
          <p:nvPr/>
        </p:nvSpPr>
        <p:spPr>
          <a:xfrm>
            <a:off x="900867" y="5911779"/>
            <a:ext cx="228234" cy="228234"/>
          </a:xfrm>
          <a:custGeom>
            <a:avLst/>
            <a:gdLst/>
            <a:ahLst/>
            <a:cxnLst/>
            <a:rect l="l" t="t" r="r" b="b"/>
            <a:pathLst>
              <a:path w="228234" h="228234">
                <a:moveTo>
                  <a:pt x="161666" y="199705"/>
                </a:moveTo>
                <a:cubicBezTo>
                  <a:pt x="166918" y="199705"/>
                  <a:pt x="171176" y="195447"/>
                  <a:pt x="171176" y="190195"/>
                </a:cubicBezTo>
                <a:lnTo>
                  <a:pt x="171176" y="139318"/>
                </a:lnTo>
                <a:cubicBezTo>
                  <a:pt x="171176" y="134972"/>
                  <a:pt x="174181" y="131292"/>
                  <a:pt x="178089" y="129418"/>
                </a:cubicBezTo>
                <a:cubicBezTo>
                  <a:pt x="194797" y="121448"/>
                  <a:pt x="203341" y="102608"/>
                  <a:pt x="198330" y="84789"/>
                </a:cubicBezTo>
                <a:cubicBezTo>
                  <a:pt x="193319" y="66969"/>
                  <a:pt x="176208" y="55343"/>
                  <a:pt x="157795" y="57249"/>
                </a:cubicBezTo>
                <a:cubicBezTo>
                  <a:pt x="150288" y="39798"/>
                  <a:pt x="133114" y="28491"/>
                  <a:pt x="114117" y="28491"/>
                </a:cubicBezTo>
                <a:cubicBezTo>
                  <a:pt x="95120" y="28491"/>
                  <a:pt x="77946" y="39798"/>
                  <a:pt x="70439" y="57249"/>
                </a:cubicBezTo>
                <a:cubicBezTo>
                  <a:pt x="52035" y="55357"/>
                  <a:pt x="34939" y="66980"/>
                  <a:pt x="29930" y="84790"/>
                </a:cubicBezTo>
                <a:cubicBezTo>
                  <a:pt x="24921" y="102600"/>
                  <a:pt x="33453" y="121431"/>
                  <a:pt x="50145" y="129409"/>
                </a:cubicBezTo>
                <a:cubicBezTo>
                  <a:pt x="54053" y="131292"/>
                  <a:pt x="57059" y="134972"/>
                  <a:pt x="57059" y="139308"/>
                </a:cubicBezTo>
                <a:lnTo>
                  <a:pt x="57059" y="190195"/>
                </a:lnTo>
                <a:cubicBezTo>
                  <a:pt x="57059" y="195447"/>
                  <a:pt x="61316" y="199705"/>
                  <a:pt x="66568" y="199705"/>
                </a:cubicBezTo>
                <a:close/>
                <a:moveTo>
                  <a:pt x="57059" y="161666"/>
                </a:moveTo>
                <a:lnTo>
                  <a:pt x="171176" y="161666"/>
                </a:lnTo>
              </a:path>
            </a:pathLst>
          </a:custGeom>
          <a:noFill/>
          <a:ln w="19020" cap="rnd">
            <a:solidFill>
              <a:srgbClr val="0B6E8A"/>
            </a:solidFill>
            <a:prstDash val="solid"/>
            <a:round/>
          </a:ln>
        </p:spPr>
      </p:sp>
      <p:sp>
        <p:nvSpPr>
          <p:cNvPr id="9" name="Text 7"/>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una receta de cocina: con los mismos ingredientes y pasos, sale el mismo plato en cualquier cocina.</a:t>
            </a:r>
            <a:endParaRPr lang="en-US" sz="1450" dirty="0"/>
          </a:p>
        </p:txBody>
      </p:sp>
      <p:sp>
        <p:nvSpPr>
          <p:cNvPr id="10" name="Shape 8"/>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file-code"/>
          <p:cNvSpPr/>
          <p:nvPr/>
        </p:nvSpPr>
        <p:spPr>
          <a:xfrm>
            <a:off x="1588427" y="2480767"/>
            <a:ext cx="790042" cy="790042"/>
          </a:xfrm>
          <a:custGeom>
            <a:avLst/>
            <a:gdLst/>
            <a:ahLst/>
            <a:cxnLst/>
            <a:rect l="l" t="t" r="r" b="b"/>
            <a:pathLst>
              <a:path w="790042" h="790042">
                <a:moveTo>
                  <a:pt x="329184" y="411480"/>
                </a:moveTo>
                <a:lnTo>
                  <a:pt x="263347" y="493776"/>
                </a:lnTo>
                <a:lnTo>
                  <a:pt x="329184" y="576072"/>
                </a:lnTo>
                <a:moveTo>
                  <a:pt x="460858" y="411480"/>
                </a:moveTo>
                <a:lnTo>
                  <a:pt x="526694" y="493776"/>
                </a:lnTo>
                <a:lnTo>
                  <a:pt x="460858" y="576072"/>
                </a:lnTo>
                <a:moveTo>
                  <a:pt x="460858" y="65837"/>
                </a:moveTo>
                <a:lnTo>
                  <a:pt x="460858" y="197510"/>
                </a:lnTo>
                <a:cubicBezTo>
                  <a:pt x="460858" y="233871"/>
                  <a:pt x="490334" y="263347"/>
                  <a:pt x="526694" y="263347"/>
                </a:cubicBezTo>
                <a:lnTo>
                  <a:pt x="658368" y="263347"/>
                </a:lnTo>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path>
            </a:pathLst>
          </a:custGeom>
          <a:noFill/>
          <a:ln w="57607" cap="rnd">
            <a:solidFill>
              <a:srgbClr val="0B2350"/>
            </a:solidFill>
            <a:prstDash val="solid"/>
            <a:round/>
          </a:ln>
        </p:spPr>
      </p:sp>
      <p:sp>
        <p:nvSpPr>
          <p:cNvPr id="12" name="Text 10"/>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Dockerfile</a:t>
            </a:r>
            <a:endParaRPr lang="en-US" sz="1800" dirty="0"/>
          </a:p>
        </p:txBody>
      </p:sp>
      <p:sp>
        <p:nvSpPr>
          <p:cNvPr id="14" name="Text 12"/>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receta: qué instalar y qué copiar.</a:t>
            </a:r>
            <a:endParaRPr lang="en-US" sz="1400" dirty="0"/>
          </a:p>
        </p:txBody>
      </p:sp>
      <p:sp>
        <p:nvSpPr>
          <p:cNvPr id="15" name="Shape 13"/>
          <p:cNvSpPr/>
          <p:nvPr/>
        </p:nvSpPr>
        <p:spPr>
          <a:xfrm>
            <a:off x="2806408" y="2875788"/>
            <a:ext cx="1095680" cy="0"/>
          </a:xfrm>
          <a:prstGeom prst="line">
            <a:avLst/>
          </a:prstGeom>
          <a:noFill/>
          <a:ln w="38100">
            <a:solidFill>
              <a:srgbClr val="2BA6CB"/>
            </a:solidFill>
            <a:prstDash val="solid"/>
            <a:tailEnd type="triangle"/>
          </a:ln>
        </p:spPr>
      </p:sp>
      <p:sp>
        <p:nvSpPr>
          <p:cNvPr id="16" name="Shape 14"/>
          <p:cNvSpPr/>
          <p:nvPr/>
        </p:nvSpPr>
        <p:spPr>
          <a:xfrm>
            <a:off x="39935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settings"/>
          <p:cNvSpPr/>
          <p:nvPr/>
        </p:nvSpPr>
        <p:spPr>
          <a:xfrm>
            <a:off x="4330027" y="2480767"/>
            <a:ext cx="790042" cy="790042"/>
          </a:xfrm>
          <a:custGeom>
            <a:avLst/>
            <a:gdLst/>
            <a:ahLst/>
            <a:cxnLst/>
            <a:rect l="l" t="t" r="r" b="b"/>
            <a:pathLst>
              <a:path w="790042" h="790042">
                <a:moveTo>
                  <a:pt x="402263" y="65837"/>
                </a:moveTo>
                <a:lnTo>
                  <a:pt x="387779" y="65837"/>
                </a:lnTo>
                <a:cubicBezTo>
                  <a:pt x="351418" y="65837"/>
                  <a:pt x="321942" y="95313"/>
                  <a:pt x="321942" y="131674"/>
                </a:cubicBezTo>
                <a:lnTo>
                  <a:pt x="321942" y="137599"/>
                </a:lnTo>
                <a:cubicBezTo>
                  <a:pt x="321918" y="161096"/>
                  <a:pt x="309373" y="182799"/>
                  <a:pt x="289024" y="194548"/>
                </a:cubicBezTo>
                <a:lnTo>
                  <a:pt x="274869" y="202777"/>
                </a:lnTo>
                <a:cubicBezTo>
                  <a:pt x="254499" y="214538"/>
                  <a:pt x="229402" y="214538"/>
                  <a:pt x="209032" y="202777"/>
                </a:cubicBezTo>
                <a:lnTo>
                  <a:pt x="204094" y="200144"/>
                </a:lnTo>
                <a:cubicBezTo>
                  <a:pt x="172638" y="181998"/>
                  <a:pt x="132428" y="192750"/>
                  <a:pt x="114227" y="224174"/>
                </a:cubicBezTo>
                <a:lnTo>
                  <a:pt x="106985" y="236683"/>
                </a:lnTo>
                <a:cubicBezTo>
                  <a:pt x="88839" y="268140"/>
                  <a:pt x="99591" y="308349"/>
                  <a:pt x="131015" y="326551"/>
                </a:cubicBezTo>
                <a:lnTo>
                  <a:pt x="135953" y="329842"/>
                </a:lnTo>
                <a:cubicBezTo>
                  <a:pt x="156201" y="341532"/>
                  <a:pt x="168730" y="363083"/>
                  <a:pt x="168871" y="386462"/>
                </a:cubicBezTo>
                <a:lnTo>
                  <a:pt x="168871" y="403250"/>
                </a:lnTo>
                <a:cubicBezTo>
                  <a:pt x="168965" y="426865"/>
                  <a:pt x="156404" y="448721"/>
                  <a:pt x="135953" y="460528"/>
                </a:cubicBezTo>
                <a:lnTo>
                  <a:pt x="131015" y="463491"/>
                </a:lnTo>
                <a:cubicBezTo>
                  <a:pt x="99591" y="481693"/>
                  <a:pt x="88839" y="521902"/>
                  <a:pt x="106985" y="553358"/>
                </a:cubicBezTo>
                <a:lnTo>
                  <a:pt x="114227" y="565867"/>
                </a:lnTo>
                <a:cubicBezTo>
                  <a:pt x="132428" y="597292"/>
                  <a:pt x="172638" y="608043"/>
                  <a:pt x="204094" y="589898"/>
                </a:cubicBezTo>
                <a:lnTo>
                  <a:pt x="209032" y="587264"/>
                </a:lnTo>
                <a:cubicBezTo>
                  <a:pt x="229402" y="575504"/>
                  <a:pt x="254499" y="575504"/>
                  <a:pt x="274869" y="587264"/>
                </a:cubicBezTo>
                <a:lnTo>
                  <a:pt x="289024" y="595494"/>
                </a:lnTo>
                <a:cubicBezTo>
                  <a:pt x="309373" y="607242"/>
                  <a:pt x="321918" y="628946"/>
                  <a:pt x="321942" y="652443"/>
                </a:cubicBezTo>
                <a:lnTo>
                  <a:pt x="321942" y="658368"/>
                </a:lnTo>
                <a:cubicBezTo>
                  <a:pt x="321942" y="694729"/>
                  <a:pt x="351418" y="724205"/>
                  <a:pt x="387779" y="724205"/>
                </a:cubicBezTo>
                <a:lnTo>
                  <a:pt x="402263" y="724205"/>
                </a:lnTo>
                <a:cubicBezTo>
                  <a:pt x="438624" y="724205"/>
                  <a:pt x="468100" y="694729"/>
                  <a:pt x="468100" y="658368"/>
                </a:cubicBezTo>
                <a:lnTo>
                  <a:pt x="468100" y="652443"/>
                </a:lnTo>
                <a:cubicBezTo>
                  <a:pt x="468124" y="628946"/>
                  <a:pt x="480669" y="607242"/>
                  <a:pt x="501018" y="595494"/>
                </a:cubicBezTo>
                <a:lnTo>
                  <a:pt x="515173" y="587264"/>
                </a:lnTo>
                <a:cubicBezTo>
                  <a:pt x="535543" y="575504"/>
                  <a:pt x="560640" y="575504"/>
                  <a:pt x="581010" y="587264"/>
                </a:cubicBezTo>
                <a:lnTo>
                  <a:pt x="585948" y="589898"/>
                </a:lnTo>
                <a:cubicBezTo>
                  <a:pt x="617404" y="608043"/>
                  <a:pt x="657613" y="597292"/>
                  <a:pt x="675815" y="565867"/>
                </a:cubicBezTo>
                <a:lnTo>
                  <a:pt x="683057" y="553029"/>
                </a:lnTo>
                <a:cubicBezTo>
                  <a:pt x="701203" y="521573"/>
                  <a:pt x="690451" y="481363"/>
                  <a:pt x="659026" y="463162"/>
                </a:cubicBezTo>
                <a:lnTo>
                  <a:pt x="654089" y="460528"/>
                </a:lnTo>
                <a:cubicBezTo>
                  <a:pt x="633637" y="448721"/>
                  <a:pt x="621076" y="426865"/>
                  <a:pt x="621170" y="403250"/>
                </a:cubicBezTo>
                <a:lnTo>
                  <a:pt x="621170" y="386791"/>
                </a:lnTo>
                <a:cubicBezTo>
                  <a:pt x="621076" y="363177"/>
                  <a:pt x="633637" y="341320"/>
                  <a:pt x="654089" y="329513"/>
                </a:cubicBezTo>
                <a:lnTo>
                  <a:pt x="659026" y="326551"/>
                </a:lnTo>
                <a:cubicBezTo>
                  <a:pt x="690451" y="308349"/>
                  <a:pt x="701203" y="268140"/>
                  <a:pt x="683057" y="236683"/>
                </a:cubicBezTo>
                <a:lnTo>
                  <a:pt x="675815" y="224174"/>
                </a:lnTo>
                <a:cubicBezTo>
                  <a:pt x="657613" y="192750"/>
                  <a:pt x="617404" y="181998"/>
                  <a:pt x="585948" y="200144"/>
                </a:cubicBezTo>
                <a:lnTo>
                  <a:pt x="581010" y="202777"/>
                </a:lnTo>
                <a:cubicBezTo>
                  <a:pt x="560640" y="214538"/>
                  <a:pt x="535543" y="214538"/>
                  <a:pt x="515173" y="202777"/>
                </a:cubicBezTo>
                <a:lnTo>
                  <a:pt x="501018" y="194548"/>
                </a:lnTo>
                <a:cubicBezTo>
                  <a:pt x="480669" y="182799"/>
                  <a:pt x="468124" y="161096"/>
                  <a:pt x="468100" y="137599"/>
                </a:cubicBezTo>
                <a:lnTo>
                  <a:pt x="468100" y="131674"/>
                </a:lnTo>
                <a:cubicBezTo>
                  <a:pt x="468100" y="95313"/>
                  <a:pt x="438624" y="65837"/>
                  <a:pt x="402263" y="65837"/>
                </a:cubicBezTo>
                <a:close/>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path>
            </a:pathLst>
          </a:custGeom>
          <a:noFill/>
          <a:ln w="57607" cap="rnd">
            <a:solidFill>
              <a:srgbClr val="0B2350"/>
            </a:solidFill>
            <a:prstDash val="solid"/>
            <a:round/>
          </a:ln>
        </p:spPr>
      </p:sp>
      <p:sp>
        <p:nvSpPr>
          <p:cNvPr id="18" name="Text 16"/>
          <p:cNvSpPr/>
          <p:nvPr/>
        </p:nvSpPr>
        <p:spPr>
          <a:xfrm>
            <a:off x="39569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Etapa build</a:t>
            </a:r>
            <a:endParaRPr lang="en-US" sz="1800" dirty="0"/>
          </a:p>
        </p:txBody>
      </p:sp>
      <p:sp>
        <p:nvSpPr>
          <p:cNvPr id="20" name="Text 18"/>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Compila el JAR con Maven.</a:t>
            </a:r>
            <a:endParaRPr lang="en-US" sz="1400" dirty="0"/>
          </a:p>
        </p:txBody>
      </p:sp>
      <p:sp>
        <p:nvSpPr>
          <p:cNvPr id="21" name="Shape 19"/>
          <p:cNvSpPr/>
          <p:nvPr/>
        </p:nvSpPr>
        <p:spPr>
          <a:xfrm>
            <a:off x="5548008" y="2875788"/>
            <a:ext cx="1095680" cy="0"/>
          </a:xfrm>
          <a:prstGeom prst="line">
            <a:avLst/>
          </a:prstGeom>
          <a:noFill/>
          <a:ln w="38100">
            <a:solidFill>
              <a:srgbClr val="2BA6CB"/>
            </a:solidFill>
            <a:prstDash val="solid"/>
            <a:tailEnd type="triangle"/>
          </a:ln>
        </p:spPr>
      </p:sp>
      <p:sp>
        <p:nvSpPr>
          <p:cNvPr id="22" name="Shape 20"/>
          <p:cNvSpPr/>
          <p:nvPr/>
        </p:nvSpPr>
        <p:spPr>
          <a:xfrm>
            <a:off x="6735128" y="2144268"/>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3" name="Icono package"/>
          <p:cNvSpPr/>
          <p:nvPr/>
        </p:nvSpPr>
        <p:spPr>
          <a:xfrm>
            <a:off x="7071627" y="2480767"/>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6E8A"/>
            </a:solidFill>
            <a:prstDash val="solid"/>
            <a:round/>
          </a:ln>
        </p:spPr>
      </p:sp>
      <p:sp>
        <p:nvSpPr>
          <p:cNvPr id="24" name="Text 22"/>
          <p:cNvSpPr/>
          <p:nvPr/>
        </p:nvSpPr>
        <p:spPr>
          <a:xfrm>
            <a:off x="6698552" y="210769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Imagen</a:t>
            </a:r>
            <a:endParaRPr lang="en-US" sz="1800" dirty="0"/>
          </a:p>
        </p:txBody>
      </p:sp>
      <p:sp>
        <p:nvSpPr>
          <p:cNvPr id="26" name="Text 24"/>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Java y el JAR, con un usuario sin privilegios.</a:t>
            </a:r>
            <a:endParaRPr lang="en-US" sz="1400" dirty="0"/>
          </a:p>
        </p:txBody>
      </p:sp>
      <p:sp>
        <p:nvSpPr>
          <p:cNvPr id="27" name="Shape 25"/>
          <p:cNvSpPr/>
          <p:nvPr/>
        </p:nvSpPr>
        <p:spPr>
          <a:xfrm>
            <a:off x="8289608" y="2875788"/>
            <a:ext cx="1095680" cy="0"/>
          </a:xfrm>
          <a:prstGeom prst="line">
            <a:avLst/>
          </a:prstGeom>
          <a:noFill/>
          <a:ln w="38100">
            <a:solidFill>
              <a:srgbClr val="2BA6CB"/>
            </a:solidFill>
            <a:prstDash val="solid"/>
            <a:tailEnd type="triangle"/>
          </a:ln>
        </p:spPr>
      </p:sp>
      <p:sp>
        <p:nvSpPr>
          <p:cNvPr id="28" name="Shape 26"/>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container"/>
          <p:cNvSpPr/>
          <p:nvPr/>
        </p:nvSpPr>
        <p:spPr>
          <a:xfrm>
            <a:off x="9813226" y="2480767"/>
            <a:ext cx="790042" cy="790042"/>
          </a:xfrm>
          <a:custGeom>
            <a:avLst/>
            <a:gdLst/>
            <a:ahLst/>
            <a:cxnLst/>
            <a:rect l="l" t="t" r="r" b="b"/>
            <a:pathLst>
              <a:path w="790042" h="790042">
                <a:moveTo>
                  <a:pt x="724205" y="253472"/>
                </a:moveTo>
                <a:cubicBezTo>
                  <a:pt x="724205" y="233721"/>
                  <a:pt x="711037" y="213970"/>
                  <a:pt x="697870" y="204094"/>
                </a:cubicBezTo>
                <a:lnTo>
                  <a:pt x="490484" y="75712"/>
                </a:lnTo>
                <a:cubicBezTo>
                  <a:pt x="473134" y="65850"/>
                  <a:pt x="451873" y="65850"/>
                  <a:pt x="434523" y="75712"/>
                </a:cubicBezTo>
                <a:lnTo>
                  <a:pt x="95463" y="273223"/>
                </a:lnTo>
                <a:cubicBezTo>
                  <a:pt x="79004" y="279806"/>
                  <a:pt x="65837" y="299557"/>
                  <a:pt x="65837" y="319308"/>
                </a:cubicBezTo>
                <a:lnTo>
                  <a:pt x="65837" y="536570"/>
                </a:lnTo>
                <a:cubicBezTo>
                  <a:pt x="65837" y="553029"/>
                  <a:pt x="79004" y="576072"/>
                  <a:pt x="92172" y="585948"/>
                </a:cubicBezTo>
                <a:lnTo>
                  <a:pt x="299557" y="714329"/>
                </a:lnTo>
                <a:cubicBezTo>
                  <a:pt x="316908" y="724192"/>
                  <a:pt x="338169" y="724192"/>
                  <a:pt x="355519" y="714329"/>
                </a:cubicBezTo>
                <a:lnTo>
                  <a:pt x="694578" y="516819"/>
                </a:lnTo>
                <a:cubicBezTo>
                  <a:pt x="711037" y="506943"/>
                  <a:pt x="724205" y="483900"/>
                  <a:pt x="724205" y="467441"/>
                </a:cubicBezTo>
                <a:close/>
                <a:moveTo>
                  <a:pt x="329184" y="720913"/>
                </a:moveTo>
                <a:lnTo>
                  <a:pt x="329184" y="460858"/>
                </a:lnTo>
                <a:lnTo>
                  <a:pt x="69129" y="299557"/>
                </a:lnTo>
                <a:moveTo>
                  <a:pt x="329184" y="460858"/>
                </a:moveTo>
                <a:lnTo>
                  <a:pt x="720913" y="233721"/>
                </a:lnTo>
                <a:moveTo>
                  <a:pt x="460858" y="651784"/>
                </a:moveTo>
                <a:lnTo>
                  <a:pt x="460858" y="385145"/>
                </a:lnTo>
                <a:moveTo>
                  <a:pt x="592531" y="576072"/>
                </a:moveTo>
                <a:lnTo>
                  <a:pt x="592531" y="309433"/>
                </a:lnTo>
              </a:path>
            </a:pathLst>
          </a:custGeom>
          <a:noFill/>
          <a:ln w="57607" cap="rnd">
            <a:solidFill>
              <a:srgbClr val="0A6648"/>
            </a:solidFill>
            <a:prstDash val="solid"/>
            <a:round/>
          </a:ln>
        </p:spPr>
      </p:sp>
      <p:sp>
        <p:nvSpPr>
          <p:cNvPr id="30" name="Text 28"/>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Contenedor</a:t>
            </a:r>
            <a:endParaRPr lang="en-US" sz="1800" dirty="0"/>
          </a:p>
        </p:txBody>
      </p:sp>
      <p:sp>
        <p:nvSpPr>
          <p:cNvPr id="32" name="Text 30"/>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imagen corriendo, igual en cualquier computadora.</a:t>
            </a:r>
            <a:endParaRPr lang="en-US" sz="14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F4F7FB"/>
          </a:solidFill>
          <a:ln w="12700">
            <a:solidFill>
              <a:srgbClr val="DFE6F0"/>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47625">
            <a:solidFill>
              <a:srgbClr val="2BA6CB"/>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47625">
            <a:solidFill>
              <a:srgbClr val="2BA6CB"/>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31750">
            <a:solidFill>
              <a:srgbClr val="CBD5E3"/>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31750">
            <a:solidFill>
              <a:srgbClr val="CBD5E3"/>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31750">
            <a:solidFill>
              <a:srgbClr val="CBD5E3"/>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31750">
            <a:solidFill>
              <a:srgbClr val="CBD5E3"/>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8" name="Shape 26"/>
          <p:cNvSpPr/>
          <p:nvPr/>
        </p:nvSpPr>
        <p:spPr>
          <a:xfrm>
            <a:off x="5883425" y="1862984"/>
            <a:ext cx="420624" cy="420624"/>
          </a:xfrm>
          <a:prstGeom prst="ellipse">
            <a:avLst/>
          </a:prstGeom>
          <a:solidFill>
            <a:srgbClr val="E3F4FA"/>
          </a:solidFill>
          <a:ln w="12700">
            <a:solidFill>
              <a:srgbClr val="E3F4F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6E8A"/>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12700">
            <a:solidFill>
              <a:srgbClr val="D5DDE8"/>
            </a:solidFill>
            <a:prstDash val="solid"/>
          </a:ln>
        </p:spPr>
      </p:sp>
      <p:sp>
        <p:nvSpPr>
          <p:cNvPr id="32" name="Shape 30"/>
          <p:cNvSpPr/>
          <p:nvPr/>
        </p:nvSpPr>
        <p:spPr>
          <a:xfrm>
            <a:off x="8466254" y="1862984"/>
            <a:ext cx="420624" cy="420624"/>
          </a:xfrm>
          <a:prstGeom prst="ellipse">
            <a:avLst/>
          </a:prstGeom>
          <a:solidFill>
            <a:srgbClr val="EEF2F7"/>
          </a:solidFill>
          <a:ln w="12700">
            <a:solidFill>
              <a:srgbClr val="EEF2F7"/>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A9B4C6"/>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12700">
            <a:solidFill>
              <a:srgbClr val="D5DDE8"/>
            </a:solidFill>
            <a:prstDash val="solid"/>
          </a:ln>
        </p:spPr>
      </p:sp>
      <p:sp>
        <p:nvSpPr>
          <p:cNvPr id="36" name="Shape 34"/>
          <p:cNvSpPr/>
          <p:nvPr/>
        </p:nvSpPr>
        <p:spPr>
          <a:xfrm>
            <a:off x="8466254" y="3458261"/>
            <a:ext cx="420624" cy="420624"/>
          </a:xfrm>
          <a:prstGeom prst="ellipse">
            <a:avLst/>
          </a:prstGeom>
          <a:solidFill>
            <a:srgbClr val="EEF2F7"/>
          </a:solidFill>
          <a:ln w="12700">
            <a:solidFill>
              <a:srgbClr val="EEF2F7"/>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A9B4C6"/>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12700">
            <a:solidFill>
              <a:srgbClr val="D5DDE8"/>
            </a:solidFill>
            <a:prstDash val="solid"/>
          </a:ln>
        </p:spPr>
      </p:sp>
      <p:sp>
        <p:nvSpPr>
          <p:cNvPr id="41" name="Shape 39"/>
          <p:cNvSpPr/>
          <p:nvPr/>
        </p:nvSpPr>
        <p:spPr>
          <a:xfrm>
            <a:off x="8569286" y="4582551"/>
            <a:ext cx="420624" cy="420624"/>
          </a:xfrm>
          <a:prstGeom prst="ellipse">
            <a:avLst/>
          </a:prstGeom>
          <a:solidFill>
            <a:srgbClr val="EEF2F7"/>
          </a:solidFill>
          <a:ln w="12700">
            <a:solidFill>
              <a:srgbClr val="EEF2F7"/>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A9B4C6"/>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6" name="Text 44"/>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primera etapa tiene Maven y Java completo, y compila el programa.</a:t>
            </a:r>
            <a:endParaRPr lang="en-US" sz="1300" dirty="0"/>
          </a:p>
        </p:txBody>
      </p:sp>
      <p:sp>
        <p:nvSpPr>
          <p:cNvPr id="47" name="Shape 45"/>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8" name="Text 46"/>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9" name="Text 47"/>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etapa final solo lleva lo necesario para ejecutarlo, con un usuario sin privilegios.</a:t>
            </a:r>
            <a:endParaRPr lang="en-US" sz="130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F4F7FB"/>
          </a:solidFill>
          <a:ln w="12700">
            <a:solidFill>
              <a:srgbClr val="DFE6F0"/>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31750">
            <a:solidFill>
              <a:srgbClr val="55627E"/>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31750">
            <a:solidFill>
              <a:srgbClr val="55627E"/>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47625">
            <a:solidFill>
              <a:srgbClr val="2BA6CB"/>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47625">
            <a:solidFill>
              <a:srgbClr val="2BA6CB"/>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31750">
            <a:solidFill>
              <a:srgbClr val="CBD5E3"/>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31750">
            <a:solidFill>
              <a:srgbClr val="CBD5E3"/>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5883425" y="1862984"/>
            <a:ext cx="420624" cy="420624"/>
          </a:xfrm>
          <a:prstGeom prst="ellipse">
            <a:avLst/>
          </a:prstGeom>
          <a:solidFill>
            <a:srgbClr val="E2E5EA"/>
          </a:solidFill>
          <a:ln w="12700">
            <a:solidFill>
              <a:srgbClr val="E2E5E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8466254" y="1862984"/>
            <a:ext cx="420624" cy="420624"/>
          </a:xfrm>
          <a:prstGeom prst="ellipse">
            <a:avLst/>
          </a:prstGeom>
          <a:solidFill>
            <a:srgbClr val="E3F4FA"/>
          </a:solidFill>
          <a:ln w="12700">
            <a:solidFill>
              <a:srgbClr val="E3F4FA"/>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6E8A"/>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8466254" y="3458261"/>
            <a:ext cx="420624" cy="420624"/>
          </a:xfrm>
          <a:prstGeom prst="ellipse">
            <a:avLst/>
          </a:prstGeom>
          <a:solidFill>
            <a:srgbClr val="E3F4FA"/>
          </a:solidFill>
          <a:ln w="12700">
            <a:solidFill>
              <a:srgbClr val="E3F4FA"/>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6E8A"/>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12700">
            <a:solidFill>
              <a:srgbClr val="D5DDE8"/>
            </a:solidFill>
            <a:prstDash val="solid"/>
          </a:ln>
        </p:spPr>
      </p:sp>
      <p:sp>
        <p:nvSpPr>
          <p:cNvPr id="41" name="Shape 39"/>
          <p:cNvSpPr/>
          <p:nvPr/>
        </p:nvSpPr>
        <p:spPr>
          <a:xfrm>
            <a:off x="8569286" y="4582551"/>
            <a:ext cx="420624" cy="420624"/>
          </a:xfrm>
          <a:prstGeom prst="ellipse">
            <a:avLst/>
          </a:prstGeom>
          <a:solidFill>
            <a:srgbClr val="EEF2F7"/>
          </a:solidFill>
          <a:ln w="12700">
            <a:solidFill>
              <a:srgbClr val="EEF2F7"/>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A9B4C6"/>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6" name="Text 44"/>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resultado es una imagen: la misma receta para cualquier computadora.</a:t>
            </a:r>
            <a:endParaRPr lang="en-US" sz="1300" dirty="0"/>
          </a:p>
        </p:txBody>
      </p:sp>
      <p:sp>
        <p:nvSpPr>
          <p:cNvPr id="47" name="Shape 45"/>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8" name="Text 46"/>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9" name="Text 47"/>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contenedor es esa imagen corriendo, con su configuración.</a:t>
            </a:r>
            <a:endParaRPr lang="en-US" sz="130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E3F4FA"/>
          </a:solidFill>
          <a:ln w="22225">
            <a:solidFill>
              <a:srgbClr val="2BA6CB"/>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31750">
            <a:solidFill>
              <a:srgbClr val="55627E"/>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31750">
            <a:solidFill>
              <a:srgbClr val="55627E"/>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31750">
            <a:solidFill>
              <a:srgbClr val="55627E"/>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31750">
            <a:solidFill>
              <a:srgbClr val="55627E"/>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47625">
            <a:solidFill>
              <a:srgbClr val="2BA6CB"/>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47625">
            <a:solidFill>
              <a:srgbClr val="2BA6CB"/>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5883425" y="1862984"/>
            <a:ext cx="420624" cy="420624"/>
          </a:xfrm>
          <a:prstGeom prst="ellipse">
            <a:avLst/>
          </a:prstGeom>
          <a:solidFill>
            <a:srgbClr val="E2E5EA"/>
          </a:solidFill>
          <a:ln w="12700">
            <a:solidFill>
              <a:srgbClr val="E2E5E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8466254" y="1862984"/>
            <a:ext cx="420624" cy="420624"/>
          </a:xfrm>
          <a:prstGeom prst="ellipse">
            <a:avLst/>
          </a:prstGeom>
          <a:solidFill>
            <a:srgbClr val="E2E5EA"/>
          </a:solidFill>
          <a:ln w="12700">
            <a:solidFill>
              <a:srgbClr val="E2E5EA"/>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466254" y="3458261"/>
            <a:ext cx="420624" cy="420624"/>
          </a:xfrm>
          <a:prstGeom prst="ellipse">
            <a:avLst/>
          </a:prstGeom>
          <a:solidFill>
            <a:srgbClr val="E2E5EA"/>
          </a:solidFill>
          <a:ln w="12700">
            <a:solidFill>
              <a:srgbClr val="E2E5EA"/>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1" name="Shape 39"/>
          <p:cNvSpPr/>
          <p:nvPr/>
        </p:nvSpPr>
        <p:spPr>
          <a:xfrm>
            <a:off x="8569286" y="4582551"/>
            <a:ext cx="420624" cy="420624"/>
          </a:xfrm>
          <a:prstGeom prst="ellipse">
            <a:avLst/>
          </a:prstGeom>
          <a:solidFill>
            <a:srgbClr val="E3F4FA"/>
          </a:solidFill>
          <a:ln w="12700">
            <a:solidFill>
              <a:srgbClr val="E3F4FA"/>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6" name="Text 44"/>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Dentro de la red, solicitudes llama a notificaciones por su nombre, no por localhost.</a:t>
            </a:r>
            <a:endParaRPr lang="en-US" sz="1300" dirty="0"/>
          </a:p>
        </p:txBody>
      </p:sp>
      <p:sp>
        <p:nvSpPr>
          <p:cNvPr id="47" name="Shape 45"/>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8" name="Text 46"/>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9" name="Text 47"/>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Desde tu computadora entras por el puerto publicado.</a:t>
            </a:r>
            <a:endParaRPr lang="en-US" sz="130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Compose: el sistema completo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solo comando levanta todo el sistema.</a:t>
            </a:r>
            <a:endParaRPr lang="en-US" sz="1700" dirty="0"/>
          </a:p>
        </p:txBody>
      </p:sp>
      <p:sp>
        <p:nvSpPr>
          <p:cNvPr id="6" name="Shape 4"/>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7"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8" name="Text 6"/>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9" name="Shape 7"/>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0" name="Shape 8"/>
          <p:cNvSpPr/>
          <p:nvPr/>
        </p:nvSpPr>
        <p:spPr>
          <a:xfrm>
            <a:off x="612648" y="2624328"/>
            <a:ext cx="64008" cy="1581912"/>
          </a:xfrm>
          <a:prstGeom prst="rect">
            <a:avLst/>
          </a:prstGeom>
          <a:solidFill>
            <a:srgbClr val="5B3FC4"/>
          </a:solidFill>
          <a:ln w="12700">
            <a:solidFill>
              <a:srgbClr val="5B3FC4"/>
            </a:solidFill>
            <a:prstDash val="solid"/>
          </a:ln>
        </p:spPr>
      </p:sp>
      <p:sp>
        <p:nvSpPr>
          <p:cNvPr id="11" name="Shape 9"/>
          <p:cNvSpPr/>
          <p:nvPr/>
        </p:nvSpPr>
        <p:spPr>
          <a:xfrm>
            <a:off x="813816" y="2679192"/>
            <a:ext cx="566928" cy="566928"/>
          </a:xfrm>
          <a:prstGeom prst="ellipse">
            <a:avLst/>
          </a:prstGeom>
          <a:solidFill>
            <a:srgbClr val="F1EEFD"/>
          </a:solidFill>
          <a:ln w="12700">
            <a:solidFill>
              <a:srgbClr val="F1EEFD"/>
            </a:solidFill>
            <a:prstDash val="solid"/>
          </a:ln>
        </p:spPr>
      </p:sp>
      <p:sp>
        <p:nvSpPr>
          <p:cNvPr id="12" name="Icono monitor"/>
          <p:cNvSpPr/>
          <p:nvPr/>
        </p:nvSpPr>
        <p:spPr>
          <a:xfrm>
            <a:off x="949879" y="2815255"/>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13" name="Text 11"/>
          <p:cNvSpPr/>
          <p:nvPr/>
        </p:nvSpPr>
        <p:spPr>
          <a:xfrm>
            <a:off x="1527048"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arka-lite-ui</a:t>
            </a:r>
            <a:endParaRPr lang="en-US" sz="1500" dirty="0"/>
          </a:p>
        </p:txBody>
      </p:sp>
      <p:sp>
        <p:nvSpPr>
          <p:cNvPr id="14" name="Text 12"/>
          <p:cNvSpPr/>
          <p:nvPr/>
        </p:nvSpPr>
        <p:spPr>
          <a:xfrm>
            <a:off x="86868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:8088 · la interfaz y su proxy</a:t>
            </a:r>
            <a:endParaRPr lang="en-US" sz="1300" dirty="0"/>
          </a:p>
        </p:txBody>
      </p:sp>
      <p:sp>
        <p:nvSpPr>
          <p:cNvPr id="15" name="Shape 13"/>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3399968" y="2624328"/>
            <a:ext cx="64008" cy="1581912"/>
          </a:xfrm>
          <a:prstGeom prst="rect">
            <a:avLst/>
          </a:prstGeom>
          <a:solidFill>
            <a:srgbClr val="0B2350"/>
          </a:solidFill>
          <a:ln w="12700">
            <a:solidFill>
              <a:srgbClr val="0B2350"/>
            </a:solidFill>
            <a:prstDash val="solid"/>
          </a:ln>
        </p:spPr>
      </p:sp>
      <p:sp>
        <p:nvSpPr>
          <p:cNvPr id="17" name="Shape 15"/>
          <p:cNvSpPr/>
          <p:nvPr/>
        </p:nvSpPr>
        <p:spPr>
          <a:xfrm>
            <a:off x="3601136" y="2679192"/>
            <a:ext cx="566928" cy="566928"/>
          </a:xfrm>
          <a:prstGeom prst="ellipse">
            <a:avLst/>
          </a:prstGeom>
          <a:solidFill>
            <a:srgbClr val="E8EEF8"/>
          </a:solidFill>
          <a:ln w="12700">
            <a:solidFill>
              <a:srgbClr val="E8EEF8"/>
            </a:solidFill>
            <a:prstDash val="solid"/>
          </a:ln>
        </p:spPr>
      </p:sp>
      <p:sp>
        <p:nvSpPr>
          <p:cNvPr id="18" name="Icono clipboard-list"/>
          <p:cNvSpPr/>
          <p:nvPr/>
        </p:nvSpPr>
        <p:spPr>
          <a:xfrm>
            <a:off x="3737199" y="2815255"/>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19" name="Text 17"/>
          <p:cNvSpPr/>
          <p:nvPr/>
        </p:nvSpPr>
        <p:spPr>
          <a:xfrm>
            <a:off x="4314368" y="2679192"/>
            <a:ext cx="1552880" cy="566928"/>
          </a:xfrm>
          <a:prstGeom prst="rect">
            <a:avLst/>
          </a:prstGeom>
          <a:noFill/>
          <a:ln/>
        </p:spPr>
        <p:txBody>
          <a:bodyPr wrap="square" lIns="0" tIns="0" rIns="0" bIns="0" rtlCol="0" anchor="ctr">
            <a:normAutofit/>
          </a:bodyPr>
          <a:lstStyle/>
          <a:p>
            <a:pPr algn="l" indent="0" marL="0">
              <a:buNone/>
            </a:pPr>
            <a:r>
              <a:rPr lang="en-US" sz="1050" b="1" dirty="0">
                <a:solidFill>
                  <a:srgbClr val="0B1A3C"/>
                </a:solidFill>
                <a:latin typeface="Segoe UI Semibold" pitchFamily="34" charset="0"/>
                <a:ea typeface="Segoe UI Semibold" pitchFamily="34" charset="-122"/>
                <a:cs typeface="Segoe UI Semibold" pitchFamily="34" charset="-120"/>
              </a:rPr>
              <a:t>servicio-solicitudes</a:t>
            </a:r>
            <a:endParaRPr lang="en-US" sz="1050" dirty="0"/>
          </a:p>
        </p:txBody>
      </p:sp>
      <p:sp>
        <p:nvSpPr>
          <p:cNvPr id="20" name="Text 18"/>
          <p:cNvSpPr/>
          <p:nvPr/>
        </p:nvSpPr>
        <p:spPr>
          <a:xfrm>
            <a:off x="365600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:8080 · el trámite</a:t>
            </a:r>
            <a:endParaRPr lang="en-US" sz="1300" dirty="0"/>
          </a:p>
        </p:txBody>
      </p:sp>
      <p:sp>
        <p:nvSpPr>
          <p:cNvPr id="21" name="Shape 19"/>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6187288" y="2624328"/>
            <a:ext cx="64008" cy="1581912"/>
          </a:xfrm>
          <a:prstGeom prst="rect">
            <a:avLst/>
          </a:prstGeom>
          <a:solidFill>
            <a:srgbClr val="0B6E8A"/>
          </a:solidFill>
          <a:ln w="12700">
            <a:solidFill>
              <a:srgbClr val="0B6E8A"/>
            </a:solidFill>
            <a:prstDash val="solid"/>
          </a:ln>
        </p:spPr>
      </p:sp>
      <p:sp>
        <p:nvSpPr>
          <p:cNvPr id="23" name="Shape 21"/>
          <p:cNvSpPr/>
          <p:nvPr/>
        </p:nvSpPr>
        <p:spPr>
          <a:xfrm>
            <a:off x="6388456" y="2679192"/>
            <a:ext cx="566928" cy="566928"/>
          </a:xfrm>
          <a:prstGeom prst="ellipse">
            <a:avLst/>
          </a:prstGeom>
          <a:solidFill>
            <a:srgbClr val="E3F4FA"/>
          </a:solidFill>
          <a:ln w="12700">
            <a:solidFill>
              <a:srgbClr val="E3F4FA"/>
            </a:solidFill>
            <a:prstDash val="solid"/>
          </a:ln>
        </p:spPr>
      </p:sp>
      <p:sp>
        <p:nvSpPr>
          <p:cNvPr id="24" name="Icono bell"/>
          <p:cNvSpPr/>
          <p:nvPr/>
        </p:nvSpPr>
        <p:spPr>
          <a:xfrm>
            <a:off x="6524518" y="2815255"/>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25" name="Text 23"/>
          <p:cNvSpPr/>
          <p:nvPr/>
        </p:nvSpPr>
        <p:spPr>
          <a:xfrm>
            <a:off x="7101688" y="2679192"/>
            <a:ext cx="1552880" cy="566928"/>
          </a:xfrm>
          <a:prstGeom prst="rect">
            <a:avLst/>
          </a:prstGeom>
          <a:noFill/>
          <a:ln/>
        </p:spPr>
        <p:txBody>
          <a:bodyPr wrap="square" lIns="0" tIns="0" rIns="0" bIns="0" rtlCol="0" anchor="ctr">
            <a:normAutofit/>
          </a:bodyPr>
          <a:lstStyle/>
          <a:p>
            <a:pPr algn="l" indent="0" marL="0">
              <a:buNone/>
            </a:pPr>
            <a:r>
              <a:rPr lang="en-US" sz="900" b="1" dirty="0">
                <a:solidFill>
                  <a:srgbClr val="0B1A3C"/>
                </a:solidFill>
                <a:latin typeface="Segoe UI Semibold" pitchFamily="34" charset="0"/>
                <a:ea typeface="Segoe UI Semibold" pitchFamily="34" charset="-122"/>
                <a:cs typeface="Segoe UI Semibold" pitchFamily="34" charset="-120"/>
              </a:rPr>
              <a:t>servicio-notificaciones</a:t>
            </a:r>
            <a:endParaRPr lang="en-US" sz="900" dirty="0"/>
          </a:p>
        </p:txBody>
      </p:sp>
      <p:sp>
        <p:nvSpPr>
          <p:cNvPr id="26" name="Text 24"/>
          <p:cNvSpPr/>
          <p:nvPr/>
        </p:nvSpPr>
        <p:spPr>
          <a:xfrm>
            <a:off x="644332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:8081 · los avisos</a:t>
            </a:r>
            <a:endParaRPr lang="en-US" sz="1300" dirty="0"/>
          </a:p>
        </p:txBody>
      </p:sp>
      <p:sp>
        <p:nvSpPr>
          <p:cNvPr id="27" name="Shape 25"/>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8974607" y="2624328"/>
            <a:ext cx="64008" cy="1581912"/>
          </a:xfrm>
          <a:prstGeom prst="rect">
            <a:avLst/>
          </a:prstGeom>
          <a:solidFill>
            <a:srgbClr val="55627E"/>
          </a:solidFill>
          <a:ln w="12700">
            <a:solidFill>
              <a:srgbClr val="55627E"/>
            </a:solidFill>
            <a:prstDash val="solid"/>
          </a:ln>
        </p:spPr>
      </p:sp>
      <p:sp>
        <p:nvSpPr>
          <p:cNvPr id="29" name="Shape 27"/>
          <p:cNvSpPr/>
          <p:nvPr/>
        </p:nvSpPr>
        <p:spPr>
          <a:xfrm>
            <a:off x="9175775" y="2679192"/>
            <a:ext cx="566928" cy="566928"/>
          </a:xfrm>
          <a:prstGeom prst="ellipse">
            <a:avLst/>
          </a:prstGeom>
          <a:solidFill>
            <a:srgbClr val="F4F7FB"/>
          </a:solidFill>
          <a:ln w="12700">
            <a:solidFill>
              <a:srgbClr val="F4F7FB"/>
            </a:solidFill>
            <a:prstDash val="solid"/>
          </a:ln>
        </p:spPr>
      </p:sp>
      <p:sp>
        <p:nvSpPr>
          <p:cNvPr id="30" name="Icono database"/>
          <p:cNvSpPr/>
          <p:nvPr/>
        </p:nvSpPr>
        <p:spPr>
          <a:xfrm>
            <a:off x="9311838" y="2815255"/>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1" name="Text 29"/>
          <p:cNvSpPr/>
          <p:nvPr/>
        </p:nvSpPr>
        <p:spPr>
          <a:xfrm>
            <a:off x="9889007"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db-solicitudes</a:t>
            </a:r>
            <a:endParaRPr lang="en-US" sz="1500" dirty="0"/>
          </a:p>
        </p:txBody>
      </p:sp>
      <p:sp>
        <p:nvSpPr>
          <p:cNvPr id="32" name="Text 30"/>
          <p:cNvSpPr/>
          <p:nvPr/>
        </p:nvSpPr>
        <p:spPr>
          <a:xfrm>
            <a:off x="9230639"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solo red interna</a:t>
            </a:r>
            <a:endParaRPr lang="en-US" sz="1300" dirty="0"/>
          </a:p>
        </p:txBody>
      </p:sp>
      <p:sp>
        <p:nvSpPr>
          <p:cNvPr id="33" name="Shape 31"/>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612648" y="4645152"/>
            <a:ext cx="64008" cy="1581912"/>
          </a:xfrm>
          <a:prstGeom prst="rect">
            <a:avLst/>
          </a:prstGeom>
          <a:solidFill>
            <a:srgbClr val="55627E"/>
          </a:solidFill>
          <a:ln w="12700">
            <a:solidFill>
              <a:srgbClr val="55627E"/>
            </a:solidFill>
            <a:prstDash val="solid"/>
          </a:ln>
        </p:spPr>
      </p:sp>
      <p:sp>
        <p:nvSpPr>
          <p:cNvPr id="35" name="Shape 33"/>
          <p:cNvSpPr/>
          <p:nvPr/>
        </p:nvSpPr>
        <p:spPr>
          <a:xfrm>
            <a:off x="813816" y="4700016"/>
            <a:ext cx="566928" cy="566928"/>
          </a:xfrm>
          <a:prstGeom prst="ellipse">
            <a:avLst/>
          </a:prstGeom>
          <a:solidFill>
            <a:srgbClr val="F4F7FB"/>
          </a:solidFill>
          <a:ln w="12700">
            <a:solidFill>
              <a:srgbClr val="F4F7FB"/>
            </a:solidFill>
            <a:prstDash val="solid"/>
          </a:ln>
        </p:spPr>
      </p:sp>
      <p:sp>
        <p:nvSpPr>
          <p:cNvPr id="36" name="Icono database"/>
          <p:cNvSpPr/>
          <p:nvPr/>
        </p:nvSpPr>
        <p:spPr>
          <a:xfrm>
            <a:off x="949879" y="4836079"/>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7" name="Text 35"/>
          <p:cNvSpPr/>
          <p:nvPr/>
        </p:nvSpPr>
        <p:spPr>
          <a:xfrm>
            <a:off x="1527048" y="4700016"/>
            <a:ext cx="1552880" cy="566928"/>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Semibold" pitchFamily="34" charset="0"/>
                <a:ea typeface="Segoe UI Semibold" pitchFamily="34" charset="-122"/>
                <a:cs typeface="Segoe UI Semibold" pitchFamily="34" charset="-120"/>
              </a:rPr>
              <a:t>db-notificaciones</a:t>
            </a:r>
            <a:endParaRPr lang="en-US" sz="1200" dirty="0"/>
          </a:p>
        </p:txBody>
      </p:sp>
      <p:sp>
        <p:nvSpPr>
          <p:cNvPr id="38" name="Text 36"/>
          <p:cNvSpPr/>
          <p:nvPr/>
        </p:nvSpPr>
        <p:spPr>
          <a:xfrm>
            <a:off x="86868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:5433</a:t>
            </a:r>
            <a:endParaRPr lang="en-US" sz="1300" dirty="0"/>
          </a:p>
        </p:txBody>
      </p:sp>
      <p:sp>
        <p:nvSpPr>
          <p:cNvPr id="39" name="Shape 37"/>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399968" y="4645152"/>
            <a:ext cx="64008" cy="1581912"/>
          </a:xfrm>
          <a:prstGeom prst="rect">
            <a:avLst/>
          </a:prstGeom>
          <a:solidFill>
            <a:srgbClr val="8A4B06"/>
          </a:solidFill>
          <a:ln w="12700">
            <a:solidFill>
              <a:srgbClr val="8A4B06"/>
            </a:solidFill>
            <a:prstDash val="solid"/>
          </a:ln>
        </p:spPr>
      </p:sp>
      <p:sp>
        <p:nvSpPr>
          <p:cNvPr id="41" name="Shape 39"/>
          <p:cNvSpPr/>
          <p:nvPr/>
        </p:nvSpPr>
        <p:spPr>
          <a:xfrm>
            <a:off x="3601136" y="4700016"/>
            <a:ext cx="566928" cy="566928"/>
          </a:xfrm>
          <a:prstGeom prst="ellipse">
            <a:avLst/>
          </a:prstGeom>
          <a:solidFill>
            <a:srgbClr val="FCEFD6"/>
          </a:solidFill>
          <a:ln w="12700">
            <a:solidFill>
              <a:srgbClr val="FCEFD6"/>
            </a:solidFill>
            <a:prstDash val="solid"/>
          </a:ln>
        </p:spPr>
      </p:sp>
      <p:sp>
        <p:nvSpPr>
          <p:cNvPr id="42" name="Icono scan-eye"/>
          <p:cNvSpPr/>
          <p:nvPr/>
        </p:nvSpPr>
        <p:spPr>
          <a:xfrm>
            <a:off x="3737199" y="4836079"/>
            <a:ext cx="294803" cy="294803"/>
          </a:xfrm>
          <a:custGeom>
            <a:avLst/>
            <a:gdLst/>
            <a:ahLst/>
            <a:cxnLst/>
            <a:rect l="l" t="t" r="r" b="b"/>
            <a:pathLst>
              <a:path w="294803" h="294803">
                <a:moveTo>
                  <a:pt x="36850" y="85984"/>
                </a:moveTo>
                <a:lnTo>
                  <a:pt x="36850" y="61417"/>
                </a:lnTo>
                <a:cubicBezTo>
                  <a:pt x="36850" y="47849"/>
                  <a:pt x="47849" y="36850"/>
                  <a:pt x="61417" y="36850"/>
                </a:cubicBezTo>
                <a:lnTo>
                  <a:pt x="85984" y="36850"/>
                </a:lnTo>
                <a:moveTo>
                  <a:pt x="208818" y="36850"/>
                </a:moveTo>
                <a:lnTo>
                  <a:pt x="233385" y="36850"/>
                </a:lnTo>
                <a:cubicBezTo>
                  <a:pt x="246953" y="36850"/>
                  <a:pt x="257952" y="47849"/>
                  <a:pt x="257952" y="61417"/>
                </a:cubicBezTo>
                <a:lnTo>
                  <a:pt x="257952" y="85984"/>
                </a:lnTo>
                <a:moveTo>
                  <a:pt x="257952" y="208818"/>
                </a:moveTo>
                <a:lnTo>
                  <a:pt x="257952" y="233385"/>
                </a:lnTo>
                <a:cubicBezTo>
                  <a:pt x="257952" y="246953"/>
                  <a:pt x="246953" y="257952"/>
                  <a:pt x="233385" y="257952"/>
                </a:cubicBezTo>
                <a:lnTo>
                  <a:pt x="208818" y="257952"/>
                </a:lnTo>
                <a:moveTo>
                  <a:pt x="85984" y="257952"/>
                </a:moveTo>
                <a:lnTo>
                  <a:pt x="61417" y="257952"/>
                </a:lnTo>
                <a:cubicBezTo>
                  <a:pt x="47849" y="257952"/>
                  <a:pt x="36850" y="246953"/>
                  <a:pt x="36850" y="233385"/>
                </a:cubicBezTo>
                <a:lnTo>
                  <a:pt x="36850" y="208818"/>
                </a:lnTo>
                <a:moveTo>
                  <a:pt x="159685" y="147401"/>
                </a:moveTo>
                <a:cubicBezTo>
                  <a:pt x="159685" y="154185"/>
                  <a:pt x="154185" y="159685"/>
                  <a:pt x="147401" y="159685"/>
                </a:cubicBezTo>
                <a:cubicBezTo>
                  <a:pt x="140617" y="159685"/>
                  <a:pt x="135118" y="154185"/>
                  <a:pt x="135118" y="147401"/>
                </a:cubicBezTo>
                <a:cubicBezTo>
                  <a:pt x="135118" y="140617"/>
                  <a:pt x="140617" y="135118"/>
                  <a:pt x="147401" y="135118"/>
                </a:cubicBezTo>
                <a:cubicBezTo>
                  <a:pt x="154185" y="135118"/>
                  <a:pt x="159685" y="140617"/>
                  <a:pt x="159685" y="147401"/>
                </a:cubicBezTo>
                <a:close/>
                <a:moveTo>
                  <a:pt x="232697" y="151455"/>
                </a:moveTo>
                <a:cubicBezTo>
                  <a:pt x="233615" y="148830"/>
                  <a:pt x="233615" y="145972"/>
                  <a:pt x="232697" y="143348"/>
                </a:cubicBezTo>
                <a:cubicBezTo>
                  <a:pt x="218552" y="108686"/>
                  <a:pt x="184838" y="86032"/>
                  <a:pt x="147401" y="86032"/>
                </a:cubicBezTo>
                <a:cubicBezTo>
                  <a:pt x="109965" y="86032"/>
                  <a:pt x="76251" y="108686"/>
                  <a:pt x="62105" y="143348"/>
                </a:cubicBezTo>
                <a:cubicBezTo>
                  <a:pt x="61188" y="145972"/>
                  <a:pt x="61188" y="148830"/>
                  <a:pt x="62105" y="151455"/>
                </a:cubicBezTo>
                <a:cubicBezTo>
                  <a:pt x="76251" y="186116"/>
                  <a:pt x="109965" y="208771"/>
                  <a:pt x="147401" y="208771"/>
                </a:cubicBezTo>
                <a:cubicBezTo>
                  <a:pt x="184838" y="208771"/>
                  <a:pt x="218552" y="186116"/>
                  <a:pt x="232697" y="151455"/>
                </a:cubicBezTo>
              </a:path>
            </a:pathLst>
          </a:custGeom>
          <a:noFill/>
          <a:ln w="24567" cap="rnd">
            <a:solidFill>
              <a:srgbClr val="8A4B06"/>
            </a:solidFill>
            <a:prstDash val="solid"/>
            <a:round/>
          </a:ln>
        </p:spPr>
      </p:sp>
      <p:sp>
        <p:nvSpPr>
          <p:cNvPr id="43" name="Text 41"/>
          <p:cNvSpPr/>
          <p:nvPr/>
        </p:nvSpPr>
        <p:spPr>
          <a:xfrm>
            <a:off x="431436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promtail</a:t>
            </a:r>
            <a:endParaRPr lang="en-US" sz="1500" dirty="0"/>
          </a:p>
        </p:txBody>
      </p:sp>
      <p:sp>
        <p:nvSpPr>
          <p:cNvPr id="44" name="Text 42"/>
          <p:cNvSpPr/>
          <p:nvPr/>
        </p:nvSpPr>
        <p:spPr>
          <a:xfrm>
            <a:off x="365600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recoge los logs</a:t>
            </a:r>
            <a:endParaRPr lang="en-US" sz="1300" dirty="0"/>
          </a:p>
        </p:txBody>
      </p:sp>
      <p:sp>
        <p:nvSpPr>
          <p:cNvPr id="45" name="Shape 43"/>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87288" y="4645152"/>
            <a:ext cx="64008" cy="1581912"/>
          </a:xfrm>
          <a:prstGeom prst="rect">
            <a:avLst/>
          </a:prstGeom>
          <a:solidFill>
            <a:srgbClr val="8A4B06"/>
          </a:solidFill>
          <a:ln w="12700">
            <a:solidFill>
              <a:srgbClr val="8A4B06"/>
            </a:solidFill>
            <a:prstDash val="solid"/>
          </a:ln>
        </p:spPr>
      </p:sp>
      <p:sp>
        <p:nvSpPr>
          <p:cNvPr id="47" name="Shape 45"/>
          <p:cNvSpPr/>
          <p:nvPr/>
        </p:nvSpPr>
        <p:spPr>
          <a:xfrm>
            <a:off x="6388456" y="4700016"/>
            <a:ext cx="566928" cy="566928"/>
          </a:xfrm>
          <a:prstGeom prst="ellipse">
            <a:avLst/>
          </a:prstGeom>
          <a:solidFill>
            <a:srgbClr val="FCEFD6"/>
          </a:solidFill>
          <a:ln w="12700">
            <a:solidFill>
              <a:srgbClr val="FCEFD6"/>
            </a:solidFill>
            <a:prstDash val="solid"/>
          </a:ln>
        </p:spPr>
      </p:sp>
      <p:sp>
        <p:nvSpPr>
          <p:cNvPr id="48" name="Icono archive"/>
          <p:cNvSpPr/>
          <p:nvPr/>
        </p:nvSpPr>
        <p:spPr>
          <a:xfrm>
            <a:off x="6524518" y="4836079"/>
            <a:ext cx="294803" cy="294803"/>
          </a:xfrm>
          <a:custGeom>
            <a:avLst/>
            <a:gdLst/>
            <a:ahLst/>
            <a:cxnLst/>
            <a:rect l="l" t="t" r="r" b="b"/>
            <a:pathLst>
              <a:path w="294803" h="294803">
                <a:moveTo>
                  <a:pt x="36850" y="36850"/>
                </a:moveTo>
                <a:lnTo>
                  <a:pt x="257952" y="36850"/>
                </a:lnTo>
                <a:cubicBezTo>
                  <a:pt x="264736" y="36850"/>
                  <a:pt x="270236" y="42350"/>
                  <a:pt x="270236" y="49134"/>
                </a:cubicBezTo>
                <a:lnTo>
                  <a:pt x="270236" y="85984"/>
                </a:lnTo>
                <a:cubicBezTo>
                  <a:pt x="270236" y="92768"/>
                  <a:pt x="264736" y="98268"/>
                  <a:pt x="257952" y="98268"/>
                </a:cubicBezTo>
                <a:lnTo>
                  <a:pt x="36850" y="98268"/>
                </a:lnTo>
                <a:cubicBezTo>
                  <a:pt x="30066" y="98268"/>
                  <a:pt x="24567" y="92768"/>
                  <a:pt x="24567" y="85984"/>
                </a:cubicBezTo>
                <a:lnTo>
                  <a:pt x="24567" y="49134"/>
                </a:lnTo>
                <a:cubicBezTo>
                  <a:pt x="24567" y="42350"/>
                  <a:pt x="30066" y="36850"/>
                  <a:pt x="36850" y="36850"/>
                </a:cubicBezTo>
                <a:close/>
                <a:moveTo>
                  <a:pt x="49134" y="98268"/>
                </a:moveTo>
                <a:lnTo>
                  <a:pt x="49134" y="233385"/>
                </a:lnTo>
                <a:cubicBezTo>
                  <a:pt x="49134" y="246953"/>
                  <a:pt x="60133" y="257952"/>
                  <a:pt x="73701" y="257952"/>
                </a:cubicBezTo>
                <a:lnTo>
                  <a:pt x="221102" y="257952"/>
                </a:lnTo>
                <a:cubicBezTo>
                  <a:pt x="234670" y="257952"/>
                  <a:pt x="245669" y="246953"/>
                  <a:pt x="245669" y="233385"/>
                </a:cubicBezTo>
                <a:lnTo>
                  <a:pt x="245669" y="98268"/>
                </a:lnTo>
                <a:moveTo>
                  <a:pt x="122834" y="147401"/>
                </a:moveTo>
                <a:lnTo>
                  <a:pt x="171968" y="147401"/>
                </a:lnTo>
              </a:path>
            </a:pathLst>
          </a:custGeom>
          <a:noFill/>
          <a:ln w="24567" cap="rnd">
            <a:solidFill>
              <a:srgbClr val="8A4B06"/>
            </a:solidFill>
            <a:prstDash val="solid"/>
            <a:round/>
          </a:ln>
        </p:spPr>
      </p:sp>
      <p:sp>
        <p:nvSpPr>
          <p:cNvPr id="49" name="Text 47"/>
          <p:cNvSpPr/>
          <p:nvPr/>
        </p:nvSpPr>
        <p:spPr>
          <a:xfrm>
            <a:off x="710168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loki</a:t>
            </a:r>
            <a:endParaRPr lang="en-US" sz="1500" dirty="0"/>
          </a:p>
        </p:txBody>
      </p:sp>
      <p:sp>
        <p:nvSpPr>
          <p:cNvPr id="50" name="Text 48"/>
          <p:cNvSpPr/>
          <p:nvPr/>
        </p:nvSpPr>
        <p:spPr>
          <a:xfrm>
            <a:off x="644332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:3100 · guarda los logs</a:t>
            </a:r>
            <a:endParaRPr lang="en-US" sz="1300" dirty="0"/>
          </a:p>
        </p:txBody>
      </p:sp>
      <p:sp>
        <p:nvSpPr>
          <p:cNvPr id="51" name="Shape 49"/>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8974607" y="4645152"/>
            <a:ext cx="64008" cy="1581912"/>
          </a:xfrm>
          <a:prstGeom prst="rect">
            <a:avLst/>
          </a:prstGeom>
          <a:solidFill>
            <a:srgbClr val="8A4B06"/>
          </a:solidFill>
          <a:ln w="12700">
            <a:solidFill>
              <a:srgbClr val="8A4B06"/>
            </a:solidFill>
            <a:prstDash val="solid"/>
          </a:ln>
        </p:spPr>
      </p:sp>
      <p:sp>
        <p:nvSpPr>
          <p:cNvPr id="53" name="Shape 51"/>
          <p:cNvSpPr/>
          <p:nvPr/>
        </p:nvSpPr>
        <p:spPr>
          <a:xfrm>
            <a:off x="9175775" y="4700016"/>
            <a:ext cx="566928" cy="566928"/>
          </a:xfrm>
          <a:prstGeom prst="ellipse">
            <a:avLst/>
          </a:prstGeom>
          <a:solidFill>
            <a:srgbClr val="FCEFD6"/>
          </a:solidFill>
          <a:ln w="12700">
            <a:solidFill>
              <a:srgbClr val="FCEFD6"/>
            </a:solidFill>
            <a:prstDash val="solid"/>
          </a:ln>
        </p:spPr>
      </p:sp>
      <p:sp>
        <p:nvSpPr>
          <p:cNvPr id="54" name="Icono chart-line"/>
          <p:cNvSpPr/>
          <p:nvPr/>
        </p:nvSpPr>
        <p:spPr>
          <a:xfrm>
            <a:off x="9311838" y="483607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5" name="Text 53"/>
          <p:cNvSpPr/>
          <p:nvPr/>
        </p:nvSpPr>
        <p:spPr>
          <a:xfrm>
            <a:off x="9889007"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grafana</a:t>
            </a:r>
            <a:endParaRPr lang="en-US" sz="1500" dirty="0"/>
          </a:p>
        </p:txBody>
      </p:sp>
      <p:sp>
        <p:nvSpPr>
          <p:cNvPr id="56" name="Text 54"/>
          <p:cNvSpPr/>
          <p:nvPr/>
        </p:nvSpPr>
        <p:spPr>
          <a:xfrm>
            <a:off x="9230639"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:3000 · busca en los logs</a:t>
            </a:r>
            <a:endParaRPr lang="en-US" sz="130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Integración y entrega continua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cambio se prueba solo.</a:t>
            </a:r>
            <a:endParaRPr lang="en-US" sz="1700" dirty="0"/>
          </a:p>
        </p:txBody>
      </p:sp>
      <p:sp>
        <p:nvSpPr>
          <p:cNvPr id="6" name="Shape 4"/>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7"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8" name="Text 6"/>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9" name="Text 7"/>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0" name="Shape 8"/>
          <p:cNvSpPr/>
          <p:nvPr/>
        </p:nvSpPr>
        <p:spPr>
          <a:xfrm>
            <a:off x="1549375" y="4151376"/>
            <a:ext cx="0" cy="109728"/>
          </a:xfrm>
          <a:prstGeom prst="line">
            <a:avLst/>
          </a:prstGeom>
          <a:noFill/>
          <a:ln w="25400">
            <a:solidFill>
              <a:srgbClr val="0B2350"/>
            </a:solidFill>
            <a:prstDash val="solid"/>
          </a:ln>
        </p:spPr>
      </p:sp>
      <p:sp>
        <p:nvSpPr>
          <p:cNvPr id="11" name="Shape 9"/>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2"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13" name="Text 11"/>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14" name="Text 12"/>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trabajo por servicio.</a:t>
            </a:r>
            <a:endParaRPr lang="en-US" sz="1400" dirty="0"/>
          </a:p>
        </p:txBody>
      </p:sp>
      <p:sp>
        <p:nvSpPr>
          <p:cNvPr id="15" name="Shape 13"/>
          <p:cNvSpPr/>
          <p:nvPr/>
        </p:nvSpPr>
        <p:spPr>
          <a:xfrm>
            <a:off x="3349676" y="4151376"/>
            <a:ext cx="0" cy="109728"/>
          </a:xfrm>
          <a:prstGeom prst="line">
            <a:avLst/>
          </a:prstGeom>
          <a:noFill/>
          <a:ln w="25400">
            <a:solidFill>
              <a:srgbClr val="0B325C"/>
            </a:solidFill>
            <a:prstDash val="solid"/>
          </a:ln>
        </p:spPr>
      </p:sp>
      <p:sp>
        <p:nvSpPr>
          <p:cNvPr id="16" name="Shape 14"/>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7"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18" name="Text 16"/>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19" name="Text 17"/>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Todas las pruebas, cada servicio con su base.</a:t>
            </a:r>
            <a:endParaRPr lang="en-US" sz="1400" dirty="0"/>
          </a:p>
        </p:txBody>
      </p:sp>
      <p:sp>
        <p:nvSpPr>
          <p:cNvPr id="20" name="Shape 18"/>
          <p:cNvSpPr/>
          <p:nvPr/>
        </p:nvSpPr>
        <p:spPr>
          <a:xfrm>
            <a:off x="5149977" y="4151376"/>
            <a:ext cx="0" cy="109728"/>
          </a:xfrm>
          <a:prstGeom prst="line">
            <a:avLst/>
          </a:prstGeom>
          <a:noFill/>
          <a:ln w="25400">
            <a:solidFill>
              <a:srgbClr val="0B4167"/>
            </a:solidFill>
            <a:prstDash val="solid"/>
          </a:ln>
        </p:spPr>
      </p:sp>
      <p:sp>
        <p:nvSpPr>
          <p:cNvPr id="21" name="Shape 19"/>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2"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23" name="Text 21"/>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24" name="Text 22"/>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servicio realmente levanta?</a:t>
            </a:r>
            <a:endParaRPr lang="en-US" sz="1400" dirty="0"/>
          </a:p>
        </p:txBody>
      </p:sp>
      <p:sp>
        <p:nvSpPr>
          <p:cNvPr id="25" name="Shape 23"/>
          <p:cNvSpPr/>
          <p:nvPr/>
        </p:nvSpPr>
        <p:spPr>
          <a:xfrm>
            <a:off x="6950278" y="4151376"/>
            <a:ext cx="0" cy="109728"/>
          </a:xfrm>
          <a:prstGeom prst="line">
            <a:avLst/>
          </a:prstGeom>
          <a:noFill/>
          <a:ln w="25400">
            <a:solidFill>
              <a:srgbClr val="0B5073"/>
            </a:solidFill>
            <a:prstDash val="solid"/>
          </a:ln>
        </p:spPr>
      </p:sp>
      <p:sp>
        <p:nvSpPr>
          <p:cNvPr id="26" name="Shape 24"/>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7"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28" name="Text 26"/>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29" name="Text 27"/>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0" name="Shape 28"/>
          <p:cNvSpPr/>
          <p:nvPr/>
        </p:nvSpPr>
        <p:spPr>
          <a:xfrm>
            <a:off x="8750579" y="4151376"/>
            <a:ext cx="0" cy="109728"/>
          </a:xfrm>
          <a:prstGeom prst="line">
            <a:avLst/>
          </a:prstGeom>
          <a:noFill/>
          <a:ln w="25400">
            <a:solidFill>
              <a:srgbClr val="0B5F7E"/>
            </a:solidFill>
            <a:prstDash val="solid"/>
          </a:ln>
        </p:spPr>
      </p:sp>
      <p:sp>
        <p:nvSpPr>
          <p:cNvPr id="31" name="Shape 29"/>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2"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33" name="Text 31"/>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34" name="Text 32"/>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35" name="Shape 33"/>
          <p:cNvSpPr/>
          <p:nvPr/>
        </p:nvSpPr>
        <p:spPr>
          <a:xfrm>
            <a:off x="10550881" y="4151376"/>
            <a:ext cx="0" cy="109728"/>
          </a:xfrm>
          <a:prstGeom prst="line">
            <a:avLst/>
          </a:prstGeom>
          <a:noFill/>
          <a:ln w="25400">
            <a:solidFill>
              <a:srgbClr val="0B6E8A"/>
            </a:solidFill>
            <a:prstDash val="solid"/>
          </a:ln>
        </p:spPr>
      </p:sp>
      <p:sp>
        <p:nvSpPr>
          <p:cNvPr id="36" name="Shape 34"/>
          <p:cNvSpPr/>
          <p:nvPr/>
        </p:nvSpPr>
        <p:spPr>
          <a:xfrm>
            <a:off x="0" y="5961888"/>
            <a:ext cx="12191695" cy="475488"/>
          </a:xfrm>
          <a:prstGeom prst="rect">
            <a:avLst/>
          </a:prstGeom>
          <a:solidFill>
            <a:srgbClr val="0B2350"/>
          </a:solidFill>
          <a:ln w="12700">
            <a:solidFill>
              <a:srgbClr val="0B2350"/>
            </a:solidFill>
            <a:prstDash val="solid"/>
          </a:ln>
        </p:spPr>
      </p:sp>
      <p:sp>
        <p:nvSpPr>
          <p:cNvPr id="37"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8" name="Text 3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que llegue a los demás.</a:t>
            </a:r>
            <a:endParaRPr lang="en-US" sz="14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E3F4FA"/>
          </a:solidFill>
          <a:ln w="22225">
            <a:solidFill>
              <a:srgbClr val="2BA6CB"/>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E3F4FA"/>
          </a:solidFill>
          <a:ln w="22225">
            <a:solidFill>
              <a:srgbClr val="2BA6CB"/>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41275">
            <a:solidFill>
              <a:srgbClr val="2BA6CB"/>
            </a:solidFill>
            <a:prstDash val="dash"/>
            <a:tailEnd type="triangle"/>
          </a:ln>
        </p:spPr>
      </p:sp>
      <p:sp>
        <p:nvSpPr>
          <p:cNvPr id="10" name="Text 8"/>
          <p:cNvSpPr/>
          <p:nvPr/>
        </p:nvSpPr>
        <p:spPr>
          <a:xfrm>
            <a:off x="3585609"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41275">
            <a:solidFill>
              <a:srgbClr val="2BA6CB"/>
            </a:solidFill>
            <a:prstDash val="dash"/>
          </a:ln>
        </p:spPr>
      </p:sp>
      <p:sp>
        <p:nvSpPr>
          <p:cNvPr id="12" name="Shape 10"/>
          <p:cNvSpPr/>
          <p:nvPr/>
        </p:nvSpPr>
        <p:spPr>
          <a:xfrm>
            <a:off x="2677398" y="4169945"/>
            <a:ext cx="1291414" cy="0"/>
          </a:xfrm>
          <a:prstGeom prst="line">
            <a:avLst/>
          </a:prstGeom>
          <a:noFill/>
          <a:ln w="41275">
            <a:solidFill>
              <a:srgbClr val="2BA6CB"/>
            </a:solidFill>
            <a:prstDash val="dash"/>
            <a:tailEnd type="triangle"/>
          </a:ln>
        </p:spPr>
      </p:sp>
      <p:sp>
        <p:nvSpPr>
          <p:cNvPr id="13" name="Text 11"/>
          <p:cNvSpPr/>
          <p:nvPr/>
        </p:nvSpPr>
        <p:spPr>
          <a:xfrm>
            <a:off x="2567670" y="263206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31750">
            <a:solidFill>
              <a:srgbClr val="CBD5E3"/>
            </a:solidFill>
            <a:prstDash val="sysDot"/>
            <a:tailEnd type="triangle"/>
          </a:ln>
        </p:spPr>
      </p:sp>
      <p:sp>
        <p:nvSpPr>
          <p:cNvPr id="15" name="Text 13"/>
          <p:cNvSpPr/>
          <p:nvPr/>
        </p:nvSpPr>
        <p:spPr>
          <a:xfrm>
            <a:off x="5302430"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31750">
            <a:solidFill>
              <a:srgbClr val="CBD5E3"/>
            </a:solidFill>
            <a:prstDash val="sysDot"/>
            <a:tailEnd type="triangle"/>
          </a:ln>
        </p:spPr>
      </p:sp>
      <p:sp>
        <p:nvSpPr>
          <p:cNvPr id="17" name="Text 15"/>
          <p:cNvSpPr/>
          <p:nvPr/>
        </p:nvSpPr>
        <p:spPr>
          <a:xfrm>
            <a:off x="6897706"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31750">
            <a:solidFill>
              <a:srgbClr val="CBD5E3"/>
            </a:solidFill>
            <a:prstDash val="sysDot"/>
            <a:tailEnd type="triangle"/>
          </a:ln>
        </p:spPr>
      </p:sp>
      <p:sp>
        <p:nvSpPr>
          <p:cNvPr id="19" name="Text 17"/>
          <p:cNvSpPr/>
          <p:nvPr/>
        </p:nvSpPr>
        <p:spPr>
          <a:xfrm>
            <a:off x="8568948"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31750">
            <a:solidFill>
              <a:srgbClr val="CBD5E3"/>
            </a:solidFill>
            <a:prstDash val="sysDot"/>
            <a:tailEnd type="triangle"/>
          </a:ln>
        </p:spPr>
      </p:sp>
      <p:sp>
        <p:nvSpPr>
          <p:cNvPr id="21" name="Text 19"/>
          <p:cNvSpPr/>
          <p:nvPr/>
        </p:nvSpPr>
        <p:spPr>
          <a:xfrm>
            <a:off x="5302430" y="40602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31750">
            <a:solidFill>
              <a:srgbClr val="CBD5E3"/>
            </a:solidFill>
            <a:prstDash val="sysDot"/>
            <a:tailEnd type="triangle"/>
          </a:ln>
        </p:spPr>
      </p:sp>
      <p:sp>
        <p:nvSpPr>
          <p:cNvPr id="23" name="Text 21"/>
          <p:cNvSpPr/>
          <p:nvPr/>
        </p:nvSpPr>
        <p:spPr>
          <a:xfrm>
            <a:off x="6928092" y="40602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5" name="Shape 23"/>
          <p:cNvSpPr/>
          <p:nvPr/>
        </p:nvSpPr>
        <p:spPr>
          <a:xfrm>
            <a:off x="2026526" y="2065835"/>
            <a:ext cx="409944" cy="409944"/>
          </a:xfrm>
          <a:prstGeom prst="ellipse">
            <a:avLst/>
          </a:prstGeom>
          <a:solidFill>
            <a:srgbClr val="E3F4FA"/>
          </a:solidFill>
          <a:ln w="12700">
            <a:solidFill>
              <a:srgbClr val="E3F4F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6E8A"/>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12700">
            <a:solidFill>
              <a:srgbClr val="D5DDE8"/>
            </a:solidFill>
            <a:prstDash val="solid"/>
          </a:ln>
        </p:spPr>
      </p:sp>
      <p:sp>
        <p:nvSpPr>
          <p:cNvPr id="31" name="Shape 29"/>
          <p:cNvSpPr/>
          <p:nvPr/>
        </p:nvSpPr>
        <p:spPr>
          <a:xfrm>
            <a:off x="7250805" y="2065835"/>
            <a:ext cx="409944" cy="409944"/>
          </a:xfrm>
          <a:prstGeom prst="ellipse">
            <a:avLst/>
          </a:prstGeom>
          <a:solidFill>
            <a:srgbClr val="EEF2F7"/>
          </a:solidFill>
          <a:ln w="12700">
            <a:solidFill>
              <a:srgbClr val="EEF2F7"/>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A9B4C6"/>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12700">
            <a:solidFill>
              <a:srgbClr val="55627E"/>
            </a:solidFill>
            <a:prstDash val="dash"/>
          </a:ln>
        </p:spPr>
      </p:sp>
      <p:sp>
        <p:nvSpPr>
          <p:cNvPr id="39" name="Shape 37"/>
          <p:cNvSpPr/>
          <p:nvPr/>
        </p:nvSpPr>
        <p:spPr>
          <a:xfrm>
            <a:off x="1933217" y="4572698"/>
            <a:ext cx="409944" cy="409944"/>
          </a:xfrm>
          <a:prstGeom prst="ellipse">
            <a:avLst/>
          </a:prstGeom>
          <a:solidFill>
            <a:srgbClr val="EEF2F7"/>
          </a:solidFill>
          <a:ln w="12700">
            <a:solidFill>
              <a:srgbClr val="EEF2F7"/>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A9B4C6"/>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4" name="Text 4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push a main o un Pull Request dispara el pipeline.</a:t>
            </a:r>
            <a:endParaRPr lang="en-US" sz="1300" dirty="0"/>
          </a:p>
        </p:txBody>
      </p:sp>
      <p:sp>
        <p:nvSpPr>
          <p:cNvPr id="45" name="Shape 4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6" name="Text 4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7" name="Text 4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crea un trabajo por servicio, cada uno con su base de datos de prueba.</a:t>
            </a:r>
            <a:endParaRPr lang="en-US" sz="13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F4F7FB"/>
          </a:solidFill>
          <a:ln w="12700">
            <a:solidFill>
              <a:srgbClr val="DFE6F0"/>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F4F7FB"/>
          </a:solidFill>
          <a:ln w="12700">
            <a:solidFill>
              <a:srgbClr val="DFE6F0"/>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25400">
            <a:solidFill>
              <a:srgbClr val="55627E"/>
            </a:solidFill>
            <a:prstDash val="dash"/>
            <a:tailEnd type="triangle"/>
          </a:ln>
        </p:spPr>
      </p:sp>
      <p:sp>
        <p:nvSpPr>
          <p:cNvPr id="10" name="Text 8"/>
          <p:cNvSpPr/>
          <p:nvPr/>
        </p:nvSpPr>
        <p:spPr>
          <a:xfrm>
            <a:off x="3585609"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25400">
            <a:solidFill>
              <a:srgbClr val="55627E"/>
            </a:solidFill>
            <a:prstDash val="dash"/>
          </a:ln>
        </p:spPr>
      </p:sp>
      <p:sp>
        <p:nvSpPr>
          <p:cNvPr id="12" name="Shape 10"/>
          <p:cNvSpPr/>
          <p:nvPr/>
        </p:nvSpPr>
        <p:spPr>
          <a:xfrm>
            <a:off x="2677398" y="4169945"/>
            <a:ext cx="1291414" cy="0"/>
          </a:xfrm>
          <a:prstGeom prst="line">
            <a:avLst/>
          </a:prstGeom>
          <a:noFill/>
          <a:ln w="25400">
            <a:solidFill>
              <a:srgbClr val="55627E"/>
            </a:solidFill>
            <a:prstDash val="dash"/>
            <a:tailEnd type="triangle"/>
          </a:ln>
        </p:spPr>
      </p:sp>
      <p:sp>
        <p:nvSpPr>
          <p:cNvPr id="13" name="Text 11"/>
          <p:cNvSpPr/>
          <p:nvPr/>
        </p:nvSpPr>
        <p:spPr>
          <a:xfrm>
            <a:off x="2567670" y="263206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47625">
            <a:solidFill>
              <a:srgbClr val="2BA6CB"/>
            </a:solidFill>
            <a:prstDash val="sysDot"/>
            <a:tailEnd type="triangle"/>
          </a:ln>
        </p:spPr>
      </p:sp>
      <p:sp>
        <p:nvSpPr>
          <p:cNvPr id="15" name="Text 13"/>
          <p:cNvSpPr/>
          <p:nvPr/>
        </p:nvSpPr>
        <p:spPr>
          <a:xfrm>
            <a:off x="5302430"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47625">
            <a:solidFill>
              <a:srgbClr val="2BA6CB"/>
            </a:solidFill>
            <a:prstDash val="sysDot"/>
            <a:tailEnd type="triangle"/>
          </a:ln>
        </p:spPr>
      </p:sp>
      <p:sp>
        <p:nvSpPr>
          <p:cNvPr id="17" name="Text 15"/>
          <p:cNvSpPr/>
          <p:nvPr/>
        </p:nvSpPr>
        <p:spPr>
          <a:xfrm>
            <a:off x="6897706"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31750">
            <a:solidFill>
              <a:srgbClr val="CBD5E3"/>
            </a:solidFill>
            <a:prstDash val="sysDot"/>
            <a:tailEnd type="triangle"/>
          </a:ln>
        </p:spPr>
      </p:sp>
      <p:sp>
        <p:nvSpPr>
          <p:cNvPr id="19" name="Text 17"/>
          <p:cNvSpPr/>
          <p:nvPr/>
        </p:nvSpPr>
        <p:spPr>
          <a:xfrm>
            <a:off x="8568948"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47625">
            <a:solidFill>
              <a:srgbClr val="2BA6CB"/>
            </a:solidFill>
            <a:prstDash val="sysDot"/>
            <a:tailEnd type="triangle"/>
          </a:ln>
        </p:spPr>
      </p:sp>
      <p:sp>
        <p:nvSpPr>
          <p:cNvPr id="21" name="Text 19"/>
          <p:cNvSpPr/>
          <p:nvPr/>
        </p:nvSpPr>
        <p:spPr>
          <a:xfrm>
            <a:off x="5302430" y="40602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31750">
            <a:solidFill>
              <a:srgbClr val="CBD5E3"/>
            </a:solidFill>
            <a:prstDash val="sysDot"/>
            <a:tailEnd type="triangle"/>
          </a:ln>
        </p:spPr>
      </p:sp>
      <p:sp>
        <p:nvSpPr>
          <p:cNvPr id="23" name="Text 21"/>
          <p:cNvSpPr/>
          <p:nvPr/>
        </p:nvSpPr>
        <p:spPr>
          <a:xfrm>
            <a:off x="6928092" y="40602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2026526" y="2065835"/>
            <a:ext cx="409944" cy="409944"/>
          </a:xfrm>
          <a:prstGeom prst="ellipse">
            <a:avLst/>
          </a:prstGeom>
          <a:solidFill>
            <a:srgbClr val="E2E5EA"/>
          </a:solidFill>
          <a:ln w="12700">
            <a:solidFill>
              <a:srgbClr val="E2E5E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2350"/>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1" name="Shape 29"/>
          <p:cNvSpPr/>
          <p:nvPr/>
        </p:nvSpPr>
        <p:spPr>
          <a:xfrm>
            <a:off x="7250805" y="2065835"/>
            <a:ext cx="409944" cy="409944"/>
          </a:xfrm>
          <a:prstGeom prst="ellipse">
            <a:avLst/>
          </a:prstGeom>
          <a:solidFill>
            <a:srgbClr val="E3F4FA"/>
          </a:solidFill>
          <a:ln w="12700">
            <a:solidFill>
              <a:srgbClr val="E3F4FA"/>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0B6E8A"/>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12700">
            <a:solidFill>
              <a:srgbClr val="55627E"/>
            </a:solidFill>
            <a:prstDash val="dash"/>
          </a:ln>
        </p:spPr>
      </p:sp>
      <p:sp>
        <p:nvSpPr>
          <p:cNvPr id="39" name="Shape 37"/>
          <p:cNvSpPr/>
          <p:nvPr/>
        </p:nvSpPr>
        <p:spPr>
          <a:xfrm>
            <a:off x="1933217" y="4572698"/>
            <a:ext cx="409944" cy="409944"/>
          </a:xfrm>
          <a:prstGeom prst="ellipse">
            <a:avLst/>
          </a:prstGeom>
          <a:solidFill>
            <a:srgbClr val="EEF2F7"/>
          </a:solidFill>
          <a:ln w="12700">
            <a:solidFill>
              <a:srgbClr val="EEF2F7"/>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A9B4C6"/>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4" name="Text 4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trabajo compila y corre todas las pruebas del servicio.</a:t>
            </a:r>
            <a:endParaRPr lang="en-US" sz="1300" dirty="0"/>
          </a:p>
        </p:txBody>
      </p:sp>
      <p:sp>
        <p:nvSpPr>
          <p:cNvPr id="45" name="Shape 4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6" name="Text 4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7" name="Text 4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solicitudes, además, comprueba que el servicio arranca de verdad.</a:t>
            </a:r>
            <a:endParaRPr lang="en-US" sz="13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F4F7FB"/>
          </a:solidFill>
          <a:ln w="12700">
            <a:solidFill>
              <a:srgbClr val="DFE6F0"/>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F4F7FB"/>
          </a:solidFill>
          <a:ln w="12700">
            <a:solidFill>
              <a:srgbClr val="DFE6F0"/>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25400">
            <a:solidFill>
              <a:srgbClr val="55627E"/>
            </a:solidFill>
            <a:prstDash val="dash"/>
            <a:tailEnd type="triangle"/>
          </a:ln>
        </p:spPr>
      </p:sp>
      <p:sp>
        <p:nvSpPr>
          <p:cNvPr id="10" name="Text 8"/>
          <p:cNvSpPr/>
          <p:nvPr/>
        </p:nvSpPr>
        <p:spPr>
          <a:xfrm>
            <a:off x="3585609"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25400">
            <a:solidFill>
              <a:srgbClr val="55627E"/>
            </a:solidFill>
            <a:prstDash val="dash"/>
          </a:ln>
        </p:spPr>
      </p:sp>
      <p:sp>
        <p:nvSpPr>
          <p:cNvPr id="12" name="Shape 10"/>
          <p:cNvSpPr/>
          <p:nvPr/>
        </p:nvSpPr>
        <p:spPr>
          <a:xfrm>
            <a:off x="2677398" y="4169945"/>
            <a:ext cx="1291414" cy="0"/>
          </a:xfrm>
          <a:prstGeom prst="line">
            <a:avLst/>
          </a:prstGeom>
          <a:noFill/>
          <a:ln w="25400">
            <a:solidFill>
              <a:srgbClr val="55627E"/>
            </a:solidFill>
            <a:prstDash val="dash"/>
            <a:tailEnd type="triangle"/>
          </a:ln>
        </p:spPr>
      </p:sp>
      <p:sp>
        <p:nvSpPr>
          <p:cNvPr id="13" name="Text 11"/>
          <p:cNvSpPr/>
          <p:nvPr/>
        </p:nvSpPr>
        <p:spPr>
          <a:xfrm>
            <a:off x="2567670" y="263206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31750">
            <a:solidFill>
              <a:srgbClr val="55627E"/>
            </a:solidFill>
            <a:prstDash val="sysDot"/>
            <a:tailEnd type="triangle"/>
          </a:ln>
        </p:spPr>
      </p:sp>
      <p:sp>
        <p:nvSpPr>
          <p:cNvPr id="15" name="Text 13"/>
          <p:cNvSpPr/>
          <p:nvPr/>
        </p:nvSpPr>
        <p:spPr>
          <a:xfrm>
            <a:off x="5302430"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31750">
            <a:solidFill>
              <a:srgbClr val="55627E"/>
            </a:solidFill>
            <a:prstDash val="sysDot"/>
            <a:tailEnd type="triangle"/>
          </a:ln>
        </p:spPr>
      </p:sp>
      <p:sp>
        <p:nvSpPr>
          <p:cNvPr id="17" name="Text 15"/>
          <p:cNvSpPr/>
          <p:nvPr/>
        </p:nvSpPr>
        <p:spPr>
          <a:xfrm>
            <a:off x="6897706"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47625">
            <a:solidFill>
              <a:srgbClr val="2BA6CB"/>
            </a:solidFill>
            <a:prstDash val="sysDot"/>
            <a:tailEnd type="triangle"/>
          </a:ln>
        </p:spPr>
      </p:sp>
      <p:sp>
        <p:nvSpPr>
          <p:cNvPr id="19" name="Text 17"/>
          <p:cNvSpPr/>
          <p:nvPr/>
        </p:nvSpPr>
        <p:spPr>
          <a:xfrm>
            <a:off x="8568948"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31750">
            <a:solidFill>
              <a:srgbClr val="55627E"/>
            </a:solidFill>
            <a:prstDash val="sysDot"/>
            <a:tailEnd type="triangle"/>
          </a:ln>
        </p:spPr>
      </p:sp>
      <p:sp>
        <p:nvSpPr>
          <p:cNvPr id="21" name="Text 19"/>
          <p:cNvSpPr/>
          <p:nvPr/>
        </p:nvSpPr>
        <p:spPr>
          <a:xfrm>
            <a:off x="5302430" y="40602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47625">
            <a:solidFill>
              <a:srgbClr val="2BA6CB"/>
            </a:solidFill>
            <a:prstDash val="sysDot"/>
            <a:tailEnd type="triangle"/>
          </a:ln>
        </p:spPr>
      </p:sp>
      <p:sp>
        <p:nvSpPr>
          <p:cNvPr id="23" name="Text 21"/>
          <p:cNvSpPr/>
          <p:nvPr/>
        </p:nvSpPr>
        <p:spPr>
          <a:xfrm>
            <a:off x="6928092" y="40602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2026526" y="2065835"/>
            <a:ext cx="409944" cy="409944"/>
          </a:xfrm>
          <a:prstGeom prst="ellipse">
            <a:avLst/>
          </a:prstGeom>
          <a:solidFill>
            <a:srgbClr val="E2E5EA"/>
          </a:solidFill>
          <a:ln w="12700">
            <a:solidFill>
              <a:srgbClr val="E2E5E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2350"/>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7250805" y="2065835"/>
            <a:ext cx="409944" cy="409944"/>
          </a:xfrm>
          <a:prstGeom prst="ellipse">
            <a:avLst/>
          </a:prstGeom>
          <a:solidFill>
            <a:srgbClr val="E2E5EA"/>
          </a:solidFill>
          <a:ln w="12700">
            <a:solidFill>
              <a:srgbClr val="E2E5EA"/>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0B2350"/>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28575">
            <a:solidFill>
              <a:srgbClr val="2BA6CB"/>
            </a:solidFill>
            <a:prstDash val="dash"/>
          </a:ln>
        </p:spPr>
      </p:sp>
      <p:sp>
        <p:nvSpPr>
          <p:cNvPr id="39" name="Shape 37"/>
          <p:cNvSpPr/>
          <p:nvPr/>
        </p:nvSpPr>
        <p:spPr>
          <a:xfrm>
            <a:off x="1933217" y="4572698"/>
            <a:ext cx="409944" cy="409944"/>
          </a:xfrm>
          <a:prstGeom prst="ellipse">
            <a:avLst/>
          </a:prstGeom>
          <a:solidFill>
            <a:srgbClr val="E3F4FA"/>
          </a:solidFill>
          <a:ln w="12700">
            <a:solidFill>
              <a:srgbClr val="E3F4FA"/>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0B6E8A"/>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4" name="Text 4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todo pasa, construye la imagen y la publica con el código del commit.</a:t>
            </a:r>
            <a:endParaRPr lang="en-US" sz="1300" dirty="0"/>
          </a:p>
        </p:txBody>
      </p:sp>
      <p:sp>
        <p:nvSpPr>
          <p:cNvPr id="45" name="Shape 4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6" name="Text 4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7" name="Text 4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Publicar no es desplegar: lo que corre en el clúster cambia en un paso aparte.</a:t>
            </a:r>
            <a:endParaRPr lang="en-US" sz="13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ship-wheel"/>
          <p:cNvSpPr/>
          <p:nvPr/>
        </p:nvSpPr>
        <p:spPr>
          <a:xfrm>
            <a:off x="9098280" y="1783080"/>
            <a:ext cx="1371600" cy="1371600"/>
          </a:xfrm>
          <a:custGeom>
            <a:avLst/>
            <a:gdLst/>
            <a:ahLst/>
            <a:cxnLst/>
            <a:rect l="l" t="t" r="r" b="b"/>
            <a:pathLst>
              <a:path w="1371600" h="1371600">
                <a:moveTo>
                  <a:pt x="1143000" y="685800"/>
                </a:moveTo>
                <a:cubicBezTo>
                  <a:pt x="1143000" y="938305"/>
                  <a:pt x="938305" y="1143000"/>
                  <a:pt x="685800" y="1143000"/>
                </a:cubicBezTo>
                <a:cubicBezTo>
                  <a:pt x="433295" y="1143000"/>
                  <a:pt x="228600" y="938305"/>
                  <a:pt x="228600" y="685800"/>
                </a:cubicBezTo>
                <a:cubicBezTo>
                  <a:pt x="228600" y="433295"/>
                  <a:pt x="433295" y="228600"/>
                  <a:pt x="685800" y="228600"/>
                </a:cubicBezTo>
                <a:cubicBezTo>
                  <a:pt x="938305" y="228600"/>
                  <a:pt x="1143000" y="433295"/>
                  <a:pt x="1143000" y="685800"/>
                </a:cubicBezTo>
                <a:close/>
                <a:moveTo>
                  <a:pt x="685800" y="114300"/>
                </a:moveTo>
                <a:lnTo>
                  <a:pt x="685800" y="542925"/>
                </a:lnTo>
                <a:moveTo>
                  <a:pt x="1085850" y="285750"/>
                </a:moveTo>
                <a:lnTo>
                  <a:pt x="786956" y="584645"/>
                </a:lnTo>
                <a:moveTo>
                  <a:pt x="1257300" y="685800"/>
                </a:moveTo>
                <a:lnTo>
                  <a:pt x="828675" y="685800"/>
                </a:lnTo>
                <a:moveTo>
                  <a:pt x="1085850" y="1085850"/>
                </a:moveTo>
                <a:lnTo>
                  <a:pt x="786956" y="786956"/>
                </a:lnTo>
                <a:moveTo>
                  <a:pt x="685800" y="828675"/>
                </a:moveTo>
                <a:lnTo>
                  <a:pt x="685800" y="1257300"/>
                </a:lnTo>
                <a:moveTo>
                  <a:pt x="584645" y="786956"/>
                </a:moveTo>
                <a:lnTo>
                  <a:pt x="285750" y="1085850"/>
                </a:lnTo>
                <a:moveTo>
                  <a:pt x="542925" y="685800"/>
                </a:moveTo>
                <a:lnTo>
                  <a:pt x="114300" y="685800"/>
                </a:lnTo>
                <a:moveTo>
                  <a:pt x="584645" y="584645"/>
                </a:moveTo>
                <a:lnTo>
                  <a:pt x="285750" y="285750"/>
                </a:lnTo>
                <a:moveTo>
                  <a:pt x="828675" y="685800"/>
                </a:moveTo>
                <a:cubicBezTo>
                  <a:pt x="828675" y="764708"/>
                  <a:pt x="764708" y="828675"/>
                  <a:pt x="685800" y="828675"/>
                </a:cubicBezTo>
                <a:cubicBezTo>
                  <a:pt x="606892" y="828675"/>
                  <a:pt x="542925" y="764708"/>
                  <a:pt x="542925" y="685800"/>
                </a:cubicBezTo>
                <a:cubicBezTo>
                  <a:pt x="542925" y="606892"/>
                  <a:pt x="606892" y="542925"/>
                  <a:pt x="685800" y="542925"/>
                </a:cubicBezTo>
                <a:cubicBezTo>
                  <a:pt x="764708" y="542925"/>
                  <a:pt x="828675" y="606892"/>
                  <a:pt x="828675" y="685800"/>
                </a:cubicBezTo>
                <a:close/>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6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2BA6CB"/>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2BA6CB"/>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06</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Desplegar y operar</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lo llevamos a un clúster, lo mantenemos corriendo y sabemos qué pasa adentro.</a:t>
            </a:r>
            <a:endParaRPr lang="en-US" sz="1900" dirty="0"/>
          </a:p>
        </p:txBody>
      </p:sp>
      <p:sp>
        <p:nvSpPr>
          <p:cNvPr id="16" name="Text 14"/>
          <p:cNvSpPr/>
          <p:nvPr/>
        </p:nvSpPr>
        <p:spPr>
          <a:xfrm>
            <a:off x="758952" y="466344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Fundamentos de Kubernetes</a:t>
            </a:r>
            <a:endParaRPr lang="en-US" sz="1300" dirty="0"/>
          </a:p>
        </p:txBody>
      </p:sp>
      <p:sp>
        <p:nvSpPr>
          <p:cNvPr id="17" name="Text 15"/>
          <p:cNvSpPr/>
          <p:nvPr/>
        </p:nvSpPr>
        <p:spPr>
          <a:xfrm>
            <a:off x="3744468" y="466344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Del contenedor al clúster</a:t>
            </a:r>
            <a:endParaRPr lang="en-US" sz="1300" dirty="0"/>
          </a:p>
        </p:txBody>
      </p:sp>
      <p:sp>
        <p:nvSpPr>
          <p:cNvPr id="18" name="Text 16"/>
          <p:cNvSpPr/>
          <p:nvPr/>
        </p:nvSpPr>
        <p:spPr>
          <a:xfrm>
            <a:off x="6729984"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19" name="Text 17"/>
          <p:cNvSpPr/>
          <p:nvPr/>
        </p:nvSpPr>
        <p:spPr>
          <a:xfrm>
            <a:off x="8659368" y="4663440"/>
            <a:ext cx="199339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Logs y monitoreo</a:t>
            </a:r>
            <a:endParaRPr lang="en-US" sz="1300" dirty="0"/>
          </a:p>
        </p:txBody>
      </p:sp>
      <p:sp>
        <p:nvSpPr>
          <p:cNvPr id="20" name="Text 18"/>
          <p:cNvSpPr/>
          <p:nvPr/>
        </p:nvSpPr>
        <p:spPr>
          <a:xfrm>
            <a:off x="758952" y="516636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Centralización de logs</a:t>
            </a:r>
            <a:endParaRPr lang="en-US" sz="1300" dirty="0"/>
          </a:p>
        </p:txBody>
      </p:sp>
      <p:sp>
        <p:nvSpPr>
          <p:cNvPr id="21" name="Text 19"/>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P6</a:t>
            </a:r>
            <a:endParaRPr lang="en-US" sz="1000" dirty="0"/>
          </a:p>
        </p:txBody>
      </p:sp>
      <p:sp>
        <p:nvSpPr>
          <p:cNvPr id="22" name="Text 20"/>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6 · DevOps</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contenedor al clúster</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Deployment: cuántas copias de cada servicio</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Pod: donde corre el contenedor</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Service: un nombre fijo para encontrarlo</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Secret y disco persistente para las bases</a:t>
            </a:r>
            <a:endParaRPr lang="en-US" sz="1100" dirty="0"/>
          </a:p>
        </p:txBody>
      </p:sp>
      <p:sp>
        <p:nvSpPr>
          <p:cNvPr id="9" name="Shape 7"/>
          <p:cNvSpPr/>
          <p:nvPr/>
        </p:nvSpPr>
        <p:spPr>
          <a:xfrm>
            <a:off x="2988701" y="2684575"/>
            <a:ext cx="731093" cy="0"/>
          </a:xfrm>
          <a:prstGeom prst="line">
            <a:avLst/>
          </a:prstGeom>
          <a:noFill/>
          <a:ln w="31750">
            <a:solidFill>
              <a:srgbClr val="55627E"/>
            </a:solidFill>
            <a:prstDash val="sysDot"/>
            <a:tailEnd type="triangle"/>
          </a:ln>
        </p:spPr>
      </p:sp>
      <p:sp>
        <p:nvSpPr>
          <p:cNvPr id="10" name="Text 8"/>
          <p:cNvSpPr/>
          <p:nvPr/>
        </p:nvSpPr>
        <p:spPr>
          <a:xfrm>
            <a:off x="3158109" y="2446879"/>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a:t>
            </a:r>
            <a:endParaRPr lang="en-US" sz="850" dirty="0"/>
          </a:p>
        </p:txBody>
      </p:sp>
      <p:sp>
        <p:nvSpPr>
          <p:cNvPr id="11" name="Text 9"/>
          <p:cNvSpPr/>
          <p:nvPr/>
        </p:nvSpPr>
        <p:spPr>
          <a:xfrm>
            <a:off x="3098301" y="257484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a:off x="5547528" y="2684575"/>
            <a:ext cx="731093" cy="0"/>
          </a:xfrm>
          <a:prstGeom prst="line">
            <a:avLst/>
          </a:prstGeom>
          <a:noFill/>
          <a:ln w="31750">
            <a:solidFill>
              <a:srgbClr val="55627E"/>
            </a:solidFill>
            <a:prstDash val="sysDot"/>
            <a:tailEnd type="triangle"/>
          </a:ln>
        </p:spPr>
      </p:sp>
      <p:sp>
        <p:nvSpPr>
          <p:cNvPr id="13" name="Text 11"/>
          <p:cNvSpPr/>
          <p:nvPr/>
        </p:nvSpPr>
        <p:spPr>
          <a:xfrm>
            <a:off x="5584805" y="2446879"/>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mantiene</a:t>
            </a:r>
            <a:endParaRPr lang="en-US" sz="850" dirty="0"/>
          </a:p>
        </p:txBody>
      </p:sp>
      <p:sp>
        <p:nvSpPr>
          <p:cNvPr id="14" name="Text 12"/>
          <p:cNvSpPr/>
          <p:nvPr/>
        </p:nvSpPr>
        <p:spPr>
          <a:xfrm>
            <a:off x="5657128" y="257484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flipH="1">
            <a:off x="8471901" y="2684575"/>
            <a:ext cx="731093" cy="0"/>
          </a:xfrm>
          <a:prstGeom prst="line">
            <a:avLst/>
          </a:prstGeom>
          <a:noFill/>
          <a:ln w="31750">
            <a:solidFill>
              <a:srgbClr val="2E6DB4"/>
            </a:solidFill>
            <a:prstDash val="solid"/>
            <a:tailEnd type="triangle"/>
          </a:ln>
        </p:spPr>
      </p:sp>
      <p:sp>
        <p:nvSpPr>
          <p:cNvPr id="16" name="Text 14"/>
          <p:cNvSpPr/>
          <p:nvPr/>
        </p:nvSpPr>
        <p:spPr>
          <a:xfrm>
            <a:off x="8344014" y="2446879"/>
            <a:ext cx="986866"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si está listo</a:t>
            </a:r>
            <a:endParaRPr lang="en-US" sz="850" dirty="0"/>
          </a:p>
        </p:txBody>
      </p:sp>
      <p:sp>
        <p:nvSpPr>
          <p:cNvPr id="17" name="Text 15"/>
          <p:cNvSpPr/>
          <p:nvPr/>
        </p:nvSpPr>
        <p:spPr>
          <a:xfrm>
            <a:off x="8873938" y="25748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flipV="1">
            <a:off x="1983448" y="3708105"/>
            <a:ext cx="0" cy="548320"/>
          </a:xfrm>
          <a:prstGeom prst="line">
            <a:avLst/>
          </a:prstGeom>
          <a:noFill/>
          <a:ln w="22860">
            <a:solidFill>
              <a:srgbClr val="1F4E8C"/>
            </a:solidFill>
            <a:prstDash val="lgDash"/>
          </a:ln>
        </p:spPr>
      </p:sp>
      <p:sp>
        <p:nvSpPr>
          <p:cNvPr id="19" name="Shape 17"/>
          <p:cNvSpPr/>
          <p:nvPr/>
        </p:nvSpPr>
        <p:spPr>
          <a:xfrm>
            <a:off x="1983448" y="3708105"/>
            <a:ext cx="5026266" cy="0"/>
          </a:xfrm>
          <a:prstGeom prst="line">
            <a:avLst/>
          </a:prstGeom>
          <a:noFill/>
          <a:ln w="22860">
            <a:solidFill>
              <a:srgbClr val="1F4E8C"/>
            </a:solidFill>
            <a:prstDash val="lgDash"/>
          </a:ln>
        </p:spPr>
      </p:sp>
      <p:sp>
        <p:nvSpPr>
          <p:cNvPr id="20" name="Shape 18"/>
          <p:cNvSpPr/>
          <p:nvPr/>
        </p:nvSpPr>
        <p:spPr>
          <a:xfrm flipV="1">
            <a:off x="7009714" y="3031844"/>
            <a:ext cx="0" cy="676261"/>
          </a:xfrm>
          <a:prstGeom prst="line">
            <a:avLst/>
          </a:prstGeom>
          <a:noFill/>
          <a:ln w="22860">
            <a:solidFill>
              <a:srgbClr val="1F4E8C"/>
            </a:solidFill>
            <a:prstDash val="lgDash"/>
            <a:tailEnd type="arrow"/>
          </a:ln>
        </p:spPr>
      </p:sp>
      <p:sp>
        <p:nvSpPr>
          <p:cNvPr id="21" name="Text 19"/>
          <p:cNvSpPr/>
          <p:nvPr/>
        </p:nvSpPr>
        <p:spPr>
          <a:xfrm>
            <a:off x="4069213" y="3470409"/>
            <a:ext cx="854735"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DB_PASSWORD</a:t>
            </a:r>
            <a:endParaRPr lang="en-US" sz="850" dirty="0"/>
          </a:p>
        </p:txBody>
      </p:sp>
      <p:sp>
        <p:nvSpPr>
          <p:cNvPr id="22" name="Text 20"/>
          <p:cNvSpPr/>
          <p:nvPr/>
        </p:nvSpPr>
        <p:spPr>
          <a:xfrm>
            <a:off x="1873720" y="3927369"/>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3" name="Shape 21"/>
          <p:cNvSpPr/>
          <p:nvPr/>
        </p:nvSpPr>
        <p:spPr>
          <a:xfrm>
            <a:off x="5730301" y="4603695"/>
            <a:ext cx="548320" cy="0"/>
          </a:xfrm>
          <a:prstGeom prst="line">
            <a:avLst/>
          </a:prstGeom>
          <a:noFill/>
          <a:ln w="22860">
            <a:solidFill>
              <a:srgbClr val="1F4E8C"/>
            </a:solidFill>
            <a:prstDash val="lgDash"/>
            <a:tailEnd type="arrow"/>
          </a:ln>
        </p:spPr>
      </p:sp>
      <p:sp>
        <p:nvSpPr>
          <p:cNvPr id="24" name="Text 22"/>
          <p:cNvSpPr/>
          <p:nvPr/>
        </p:nvSpPr>
        <p:spPr>
          <a:xfrm>
            <a:off x="5709224" y="4365999"/>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volumen</a:t>
            </a:r>
            <a:endParaRPr lang="en-US" sz="850" dirty="0"/>
          </a:p>
        </p:txBody>
      </p:sp>
      <p:sp>
        <p:nvSpPr>
          <p:cNvPr id="25" name="Text 23"/>
          <p:cNvSpPr/>
          <p:nvPr/>
        </p:nvSpPr>
        <p:spPr>
          <a:xfrm>
            <a:off x="5839901" y="449396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1983448" y="4950964"/>
            <a:ext cx="0" cy="767648"/>
          </a:xfrm>
          <a:prstGeom prst="line">
            <a:avLst/>
          </a:prstGeom>
          <a:noFill/>
          <a:ln w="22860">
            <a:solidFill>
              <a:srgbClr val="1F4E8C"/>
            </a:solidFill>
            <a:prstDash val="lgDash"/>
          </a:ln>
        </p:spPr>
      </p:sp>
      <p:sp>
        <p:nvSpPr>
          <p:cNvPr id="27" name="Shape 25"/>
          <p:cNvSpPr/>
          <p:nvPr/>
        </p:nvSpPr>
        <p:spPr>
          <a:xfrm>
            <a:off x="1983448" y="5718612"/>
            <a:ext cx="5391813" cy="0"/>
          </a:xfrm>
          <a:prstGeom prst="line">
            <a:avLst/>
          </a:prstGeom>
          <a:noFill/>
          <a:ln w="22860">
            <a:solidFill>
              <a:srgbClr val="1F4E8C"/>
            </a:solidFill>
            <a:prstDash val="lgDash"/>
          </a:ln>
        </p:spPr>
      </p:sp>
      <p:sp>
        <p:nvSpPr>
          <p:cNvPr id="28" name="Shape 26"/>
          <p:cNvSpPr/>
          <p:nvPr/>
        </p:nvSpPr>
        <p:spPr>
          <a:xfrm flipV="1">
            <a:off x="7375261" y="4950964"/>
            <a:ext cx="0" cy="767648"/>
          </a:xfrm>
          <a:prstGeom prst="line">
            <a:avLst/>
          </a:prstGeom>
          <a:noFill/>
          <a:ln w="22860">
            <a:solidFill>
              <a:srgbClr val="1F4E8C"/>
            </a:solidFill>
            <a:prstDash val="lgDash"/>
            <a:tailEnd type="arrow"/>
          </a:ln>
        </p:spPr>
      </p:sp>
      <p:sp>
        <p:nvSpPr>
          <p:cNvPr id="29" name="Text 27"/>
          <p:cNvSpPr/>
          <p:nvPr/>
        </p:nvSpPr>
        <p:spPr>
          <a:xfrm>
            <a:off x="4053790" y="5736799"/>
            <a:ext cx="1251128"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POSTGRES_PASSWORD</a:t>
            </a:r>
            <a:endParaRPr lang="en-US" sz="850" dirty="0"/>
          </a:p>
        </p:txBody>
      </p:sp>
      <p:sp>
        <p:nvSpPr>
          <p:cNvPr id="30" name="Text 28"/>
          <p:cNvSpPr/>
          <p:nvPr/>
        </p:nvSpPr>
        <p:spPr>
          <a:xfrm>
            <a:off x="1873720" y="506056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1" name="Shape 29"/>
          <p:cNvSpPr/>
          <p:nvPr/>
        </p:nvSpPr>
        <p:spPr>
          <a:xfrm>
            <a:off x="7923581" y="3031844"/>
            <a:ext cx="0" cy="676261"/>
          </a:xfrm>
          <a:prstGeom prst="line">
            <a:avLst/>
          </a:prstGeom>
          <a:noFill/>
          <a:ln w="31750">
            <a:solidFill>
              <a:srgbClr val="2E6DB4"/>
            </a:solidFill>
            <a:prstDash val="solid"/>
          </a:ln>
        </p:spPr>
      </p:sp>
      <p:sp>
        <p:nvSpPr>
          <p:cNvPr id="32" name="Shape 30"/>
          <p:cNvSpPr/>
          <p:nvPr/>
        </p:nvSpPr>
        <p:spPr>
          <a:xfrm>
            <a:off x="7923581" y="3708105"/>
            <a:ext cx="2284667" cy="0"/>
          </a:xfrm>
          <a:prstGeom prst="line">
            <a:avLst/>
          </a:prstGeom>
          <a:noFill/>
          <a:ln w="31750">
            <a:solidFill>
              <a:srgbClr val="2E6DB4"/>
            </a:solidFill>
            <a:prstDash val="solid"/>
          </a:ln>
        </p:spPr>
      </p:sp>
      <p:sp>
        <p:nvSpPr>
          <p:cNvPr id="33" name="Shape 31"/>
          <p:cNvSpPr/>
          <p:nvPr/>
        </p:nvSpPr>
        <p:spPr>
          <a:xfrm>
            <a:off x="10208247" y="3708105"/>
            <a:ext cx="0" cy="548320"/>
          </a:xfrm>
          <a:prstGeom prst="line">
            <a:avLst/>
          </a:prstGeom>
          <a:noFill/>
          <a:ln w="31750">
            <a:solidFill>
              <a:srgbClr val="2E6DB4"/>
            </a:solidFill>
            <a:prstDash val="solid"/>
            <a:tailEnd type="triangle"/>
          </a:ln>
        </p:spPr>
      </p:sp>
      <p:sp>
        <p:nvSpPr>
          <p:cNvPr id="34" name="Text 32"/>
          <p:cNvSpPr/>
          <p:nvPr/>
        </p:nvSpPr>
        <p:spPr>
          <a:xfrm>
            <a:off x="8869775" y="3470409"/>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JDBC</a:t>
            </a:r>
            <a:endParaRPr lang="en-US" sz="850" dirty="0"/>
          </a:p>
        </p:txBody>
      </p:sp>
      <p:sp>
        <p:nvSpPr>
          <p:cNvPr id="35" name="Text 33"/>
          <p:cNvSpPr/>
          <p:nvPr/>
        </p:nvSpPr>
        <p:spPr>
          <a:xfrm>
            <a:off x="7813853" y="314144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6" name="Shape 34"/>
          <p:cNvSpPr/>
          <p:nvPr/>
        </p:nvSpPr>
        <p:spPr>
          <a:xfrm flipH="1">
            <a:off x="8471901" y="4603695"/>
            <a:ext cx="731093" cy="0"/>
          </a:xfrm>
          <a:prstGeom prst="line">
            <a:avLst/>
          </a:prstGeom>
          <a:noFill/>
          <a:ln w="31750">
            <a:solidFill>
              <a:srgbClr val="55627E"/>
            </a:solidFill>
            <a:prstDash val="sysDot"/>
            <a:tailEnd type="triangle"/>
          </a:ln>
        </p:spPr>
      </p:sp>
      <p:sp>
        <p:nvSpPr>
          <p:cNvPr id="37" name="Text 35"/>
          <p:cNvSpPr/>
          <p:nvPr/>
        </p:nvSpPr>
        <p:spPr>
          <a:xfrm>
            <a:off x="8641309" y="4365999"/>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5432</a:t>
            </a:r>
            <a:endParaRPr lang="en-US" sz="850" dirty="0"/>
          </a:p>
        </p:txBody>
      </p:sp>
      <p:sp>
        <p:nvSpPr>
          <p:cNvPr id="38" name="Text 36"/>
          <p:cNvSpPr/>
          <p:nvPr/>
        </p:nvSpPr>
        <p:spPr>
          <a:xfrm>
            <a:off x="8873938" y="449396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9" name="Shape 37"/>
          <p:cNvSpPr/>
          <p:nvPr/>
        </p:nvSpPr>
        <p:spPr>
          <a:xfrm>
            <a:off x="978195" y="2337305"/>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1069635" y="2474263"/>
            <a:ext cx="420624" cy="420624"/>
          </a:xfrm>
          <a:prstGeom prst="ellipse">
            <a:avLst/>
          </a:prstGeom>
          <a:solidFill>
            <a:srgbClr val="E2E5EA"/>
          </a:solidFill>
          <a:ln w="12700">
            <a:solidFill>
              <a:srgbClr val="E2E5EA"/>
            </a:solidFill>
            <a:prstDash val="solid"/>
          </a:ln>
        </p:spPr>
      </p:sp>
      <p:sp>
        <p:nvSpPr>
          <p:cNvPr id="41" name="Icono layers"/>
          <p:cNvSpPr/>
          <p:nvPr/>
        </p:nvSpPr>
        <p:spPr>
          <a:xfrm>
            <a:off x="1124499" y="2529127"/>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42" name="Text 40"/>
          <p:cNvSpPr/>
          <p:nvPr/>
        </p:nvSpPr>
        <p:spPr>
          <a:xfrm>
            <a:off x="1545123" y="233730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Deployment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servicio-solicitudes · 1 réplica</a:t>
            </a:r>
            <a:endParaRPr lang="en-US" sz="1079" dirty="0"/>
          </a:p>
        </p:txBody>
      </p:sp>
      <p:sp>
        <p:nvSpPr>
          <p:cNvPr id="43" name="Shape 41"/>
          <p:cNvSpPr/>
          <p:nvPr/>
        </p:nvSpPr>
        <p:spPr>
          <a:xfrm>
            <a:off x="3719794" y="2337305"/>
            <a:ext cx="182773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3811234" y="2474263"/>
            <a:ext cx="420624" cy="420624"/>
          </a:xfrm>
          <a:prstGeom prst="ellipse">
            <a:avLst/>
          </a:prstGeom>
          <a:solidFill>
            <a:srgbClr val="E2E5EA"/>
          </a:solidFill>
          <a:ln w="12700">
            <a:solidFill>
              <a:srgbClr val="E2E5EA"/>
            </a:solidFill>
            <a:prstDash val="solid"/>
          </a:ln>
        </p:spPr>
      </p:sp>
      <p:sp>
        <p:nvSpPr>
          <p:cNvPr id="45" name="Icono copy"/>
          <p:cNvSpPr/>
          <p:nvPr/>
        </p:nvSpPr>
        <p:spPr>
          <a:xfrm>
            <a:off x="3866098" y="2529127"/>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6" name="Text 44"/>
          <p:cNvSpPr/>
          <p:nvPr/>
        </p:nvSpPr>
        <p:spPr>
          <a:xfrm>
            <a:off x="4286722" y="2337305"/>
            <a:ext cx="120594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ReplicaSet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mantiene la cantidad</a:t>
            </a:r>
            <a:endParaRPr lang="en-US" sz="1079" dirty="0"/>
          </a:p>
        </p:txBody>
      </p:sp>
      <p:sp>
        <p:nvSpPr>
          <p:cNvPr id="47" name="Shape 45"/>
          <p:cNvSpPr/>
          <p:nvPr/>
        </p:nvSpPr>
        <p:spPr>
          <a:xfrm>
            <a:off x="6278621" y="2337305"/>
            <a:ext cx="219328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6370061" y="2474263"/>
            <a:ext cx="420624" cy="420624"/>
          </a:xfrm>
          <a:prstGeom prst="ellipse">
            <a:avLst/>
          </a:prstGeom>
          <a:solidFill>
            <a:srgbClr val="E2E5EA"/>
          </a:solidFill>
          <a:ln w="12700">
            <a:solidFill>
              <a:srgbClr val="E2E5EA"/>
            </a:solidFill>
            <a:prstDash val="solid"/>
          </a:ln>
        </p:spPr>
      </p:sp>
      <p:sp>
        <p:nvSpPr>
          <p:cNvPr id="49" name="Icono box"/>
          <p:cNvSpPr/>
          <p:nvPr/>
        </p:nvSpPr>
        <p:spPr>
          <a:xfrm>
            <a:off x="6424925" y="2529127"/>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50" name="Text 48"/>
          <p:cNvSpPr/>
          <p:nvPr/>
        </p:nvSpPr>
        <p:spPr>
          <a:xfrm>
            <a:off x="6845549" y="2337305"/>
            <a:ext cx="157148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Pod</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ejecuta el contenedor</a:t>
            </a:r>
            <a:endParaRPr lang="en-US" sz="1079" dirty="0"/>
          </a:p>
        </p:txBody>
      </p:sp>
      <p:sp>
        <p:nvSpPr>
          <p:cNvPr id="51" name="Shape 49"/>
          <p:cNvSpPr/>
          <p:nvPr/>
        </p:nvSpPr>
        <p:spPr>
          <a:xfrm>
            <a:off x="9202994" y="2337305"/>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9294434" y="2474263"/>
            <a:ext cx="420624" cy="420624"/>
          </a:xfrm>
          <a:prstGeom prst="ellipse">
            <a:avLst/>
          </a:prstGeom>
          <a:solidFill>
            <a:srgbClr val="E2E5EA"/>
          </a:solidFill>
          <a:ln w="12700">
            <a:solidFill>
              <a:srgbClr val="E2E5EA"/>
            </a:solidFill>
            <a:prstDash val="solid"/>
          </a:ln>
        </p:spPr>
      </p:sp>
      <p:sp>
        <p:nvSpPr>
          <p:cNvPr id="53" name="Icono link"/>
          <p:cNvSpPr/>
          <p:nvPr/>
        </p:nvSpPr>
        <p:spPr>
          <a:xfrm>
            <a:off x="9349298" y="2529127"/>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54" name="Text 52"/>
          <p:cNvSpPr/>
          <p:nvPr/>
        </p:nvSpPr>
        <p:spPr>
          <a:xfrm>
            <a:off x="9769922" y="233730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Service</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NodePort · nombre estable</a:t>
            </a:r>
            <a:endParaRPr lang="en-US" sz="1079" dirty="0"/>
          </a:p>
        </p:txBody>
      </p:sp>
      <p:sp>
        <p:nvSpPr>
          <p:cNvPr id="55" name="Shape 53"/>
          <p:cNvSpPr/>
          <p:nvPr/>
        </p:nvSpPr>
        <p:spPr>
          <a:xfrm>
            <a:off x="978195" y="4256425"/>
            <a:ext cx="2010507"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6" name="Shape 54"/>
          <p:cNvSpPr/>
          <p:nvPr/>
        </p:nvSpPr>
        <p:spPr>
          <a:xfrm>
            <a:off x="1069635" y="4393383"/>
            <a:ext cx="420624" cy="420624"/>
          </a:xfrm>
          <a:prstGeom prst="ellipse">
            <a:avLst/>
          </a:prstGeom>
          <a:solidFill>
            <a:srgbClr val="E2E5EA"/>
          </a:solidFill>
          <a:ln w="12700">
            <a:solidFill>
              <a:srgbClr val="E2E5EA"/>
            </a:solidFill>
            <a:prstDash val="solid"/>
          </a:ln>
        </p:spPr>
      </p:sp>
      <p:sp>
        <p:nvSpPr>
          <p:cNvPr id="57" name="Icono key-round"/>
          <p:cNvSpPr/>
          <p:nvPr/>
        </p:nvSpPr>
        <p:spPr>
          <a:xfrm>
            <a:off x="1124499" y="4448247"/>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0B2350"/>
            </a:solidFill>
            <a:prstDash val="solid"/>
            <a:round/>
          </a:ln>
        </p:spPr>
      </p:sp>
      <p:sp>
        <p:nvSpPr>
          <p:cNvPr id="58" name="Text 56"/>
          <p:cNvSpPr/>
          <p:nvPr/>
        </p:nvSpPr>
        <p:spPr>
          <a:xfrm>
            <a:off x="1545123" y="425642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Secret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arka-postgres</a:t>
            </a:r>
            <a:endParaRPr lang="en-US" sz="1079" dirty="0"/>
          </a:p>
        </p:txBody>
      </p:sp>
      <p:sp>
        <p:nvSpPr>
          <p:cNvPr id="59" name="Shape 57"/>
          <p:cNvSpPr/>
          <p:nvPr/>
        </p:nvSpPr>
        <p:spPr>
          <a:xfrm>
            <a:off x="3719794" y="4256425"/>
            <a:ext cx="2010507"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3811234" y="4393383"/>
            <a:ext cx="420624" cy="420624"/>
          </a:xfrm>
          <a:prstGeom prst="ellipse">
            <a:avLst/>
          </a:prstGeom>
          <a:solidFill>
            <a:srgbClr val="E8EBEE"/>
          </a:solidFill>
          <a:ln w="12700">
            <a:solidFill>
              <a:srgbClr val="E8EBEE"/>
            </a:solidFill>
            <a:prstDash val="solid"/>
          </a:ln>
        </p:spPr>
      </p:sp>
      <p:sp>
        <p:nvSpPr>
          <p:cNvPr id="61" name="Icono hard-drive"/>
          <p:cNvSpPr/>
          <p:nvPr/>
        </p:nvSpPr>
        <p:spPr>
          <a:xfrm>
            <a:off x="3866098" y="4448247"/>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3D5675"/>
            </a:solidFill>
            <a:prstDash val="solid"/>
            <a:round/>
          </a:ln>
        </p:spPr>
      </p:sp>
      <p:sp>
        <p:nvSpPr>
          <p:cNvPr id="62" name="Text 60"/>
          <p:cNvSpPr/>
          <p:nvPr/>
        </p:nvSpPr>
        <p:spPr>
          <a:xfrm>
            <a:off x="4286722" y="425642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PVC</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arka-postgres-data · 1Gi</a:t>
            </a:r>
            <a:endParaRPr lang="en-US" sz="1079" dirty="0"/>
          </a:p>
        </p:txBody>
      </p:sp>
      <p:sp>
        <p:nvSpPr>
          <p:cNvPr id="63" name="Shape 61"/>
          <p:cNvSpPr/>
          <p:nvPr/>
        </p:nvSpPr>
        <p:spPr>
          <a:xfrm>
            <a:off x="6278621" y="4256425"/>
            <a:ext cx="2193280"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370061" y="4393383"/>
            <a:ext cx="420624" cy="420624"/>
          </a:xfrm>
          <a:prstGeom prst="ellipse">
            <a:avLst/>
          </a:prstGeom>
          <a:solidFill>
            <a:srgbClr val="E8EBEE"/>
          </a:solidFill>
          <a:ln w="12700">
            <a:solidFill>
              <a:srgbClr val="E8EBEE"/>
            </a:solidFill>
            <a:prstDash val="solid"/>
          </a:ln>
        </p:spPr>
      </p:sp>
      <p:sp>
        <p:nvSpPr>
          <p:cNvPr id="65" name="Icono database"/>
          <p:cNvSpPr/>
          <p:nvPr/>
        </p:nvSpPr>
        <p:spPr>
          <a:xfrm>
            <a:off x="6424925" y="444824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66" name="Text 64"/>
          <p:cNvSpPr/>
          <p:nvPr/>
        </p:nvSpPr>
        <p:spPr>
          <a:xfrm>
            <a:off x="6845549" y="4256425"/>
            <a:ext cx="157148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Pod db-solicitudes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postgres:17</a:t>
            </a:r>
            <a:endParaRPr lang="en-US" sz="1079" dirty="0"/>
          </a:p>
        </p:txBody>
      </p:sp>
      <p:sp>
        <p:nvSpPr>
          <p:cNvPr id="67" name="Shape 65"/>
          <p:cNvSpPr/>
          <p:nvPr/>
        </p:nvSpPr>
        <p:spPr>
          <a:xfrm>
            <a:off x="9202994" y="4256425"/>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8" name="Shape 66"/>
          <p:cNvSpPr/>
          <p:nvPr/>
        </p:nvSpPr>
        <p:spPr>
          <a:xfrm>
            <a:off x="9294434" y="4393383"/>
            <a:ext cx="420624" cy="420624"/>
          </a:xfrm>
          <a:prstGeom prst="ellipse">
            <a:avLst/>
          </a:prstGeom>
          <a:solidFill>
            <a:srgbClr val="E2E5EA"/>
          </a:solidFill>
          <a:ln w="12700">
            <a:solidFill>
              <a:srgbClr val="E2E5EA"/>
            </a:solidFill>
            <a:prstDash val="solid"/>
          </a:ln>
        </p:spPr>
      </p:sp>
      <p:sp>
        <p:nvSpPr>
          <p:cNvPr id="69" name="Icono link"/>
          <p:cNvSpPr/>
          <p:nvPr/>
        </p:nvSpPr>
        <p:spPr>
          <a:xfrm>
            <a:off x="9349298" y="4448247"/>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70" name="Text 68"/>
          <p:cNvSpPr/>
          <p:nvPr/>
        </p:nvSpPr>
        <p:spPr>
          <a:xfrm>
            <a:off x="9769922" y="425642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Service db-solicitudes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5432</a:t>
            </a:r>
            <a:endParaRPr lang="en-US" sz="1079" dirty="0"/>
          </a:p>
        </p:txBody>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47625">
            <a:solidFill>
              <a:srgbClr val="2BA6CB"/>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47625">
            <a:solidFill>
              <a:srgbClr val="2BA6CB"/>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31750">
            <a:solidFill>
              <a:srgbClr val="CBD5E3"/>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22860">
            <a:solidFill>
              <a:srgbClr val="CBD5E3"/>
            </a:solidFill>
            <a:prstDash val="lgDash"/>
          </a:ln>
        </p:spPr>
      </p:sp>
      <p:sp>
        <p:nvSpPr>
          <p:cNvPr id="15" name="Shape 13"/>
          <p:cNvSpPr/>
          <p:nvPr/>
        </p:nvSpPr>
        <p:spPr>
          <a:xfrm>
            <a:off x="2392528" y="2944368"/>
            <a:ext cx="4526280" cy="0"/>
          </a:xfrm>
          <a:prstGeom prst="line">
            <a:avLst/>
          </a:prstGeom>
          <a:noFill/>
          <a:ln w="22860">
            <a:solidFill>
              <a:srgbClr val="CBD5E3"/>
            </a:solidFill>
            <a:prstDash val="lgDash"/>
          </a:ln>
        </p:spPr>
      </p:sp>
      <p:sp>
        <p:nvSpPr>
          <p:cNvPr id="16" name="Shape 14"/>
          <p:cNvSpPr/>
          <p:nvPr/>
        </p:nvSpPr>
        <p:spPr>
          <a:xfrm flipV="1">
            <a:off x="6918808" y="2335378"/>
            <a:ext cx="0" cy="608990"/>
          </a:xfrm>
          <a:prstGeom prst="line">
            <a:avLst/>
          </a:prstGeom>
          <a:noFill/>
          <a:ln w="22860">
            <a:solidFill>
              <a:srgbClr val="CBD5E3"/>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22860">
            <a:solidFill>
              <a:srgbClr val="CBD5E3"/>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22860">
            <a:solidFill>
              <a:srgbClr val="CBD5E3"/>
            </a:solidFill>
            <a:prstDash val="lgDash"/>
          </a:ln>
        </p:spPr>
      </p:sp>
      <p:sp>
        <p:nvSpPr>
          <p:cNvPr id="23" name="Shape 21"/>
          <p:cNvSpPr/>
          <p:nvPr/>
        </p:nvSpPr>
        <p:spPr>
          <a:xfrm>
            <a:off x="2392528" y="4754880"/>
            <a:ext cx="4855464" cy="0"/>
          </a:xfrm>
          <a:prstGeom prst="line">
            <a:avLst/>
          </a:prstGeom>
          <a:noFill/>
          <a:ln w="22860">
            <a:solidFill>
              <a:srgbClr val="CBD5E3"/>
            </a:solidFill>
            <a:prstDash val="lgDash"/>
          </a:ln>
        </p:spPr>
      </p:sp>
      <p:sp>
        <p:nvSpPr>
          <p:cNvPr id="24" name="Shape 22"/>
          <p:cNvSpPr/>
          <p:nvPr/>
        </p:nvSpPr>
        <p:spPr>
          <a:xfrm flipV="1">
            <a:off x="7247992" y="4063594"/>
            <a:ext cx="0" cy="691286"/>
          </a:xfrm>
          <a:prstGeom prst="line">
            <a:avLst/>
          </a:prstGeom>
          <a:noFill/>
          <a:ln w="22860">
            <a:solidFill>
              <a:srgbClr val="CBD5E3"/>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31750">
            <a:solidFill>
              <a:srgbClr val="CBD5E3"/>
            </a:solidFill>
            <a:prstDash val="solid"/>
          </a:ln>
        </p:spPr>
      </p:sp>
      <p:sp>
        <p:nvSpPr>
          <p:cNvPr id="28" name="Shape 26"/>
          <p:cNvSpPr/>
          <p:nvPr/>
        </p:nvSpPr>
        <p:spPr>
          <a:xfrm>
            <a:off x="7741768" y="2944368"/>
            <a:ext cx="2057400" cy="0"/>
          </a:xfrm>
          <a:prstGeom prst="line">
            <a:avLst/>
          </a:prstGeom>
          <a:noFill/>
          <a:ln w="31750">
            <a:solidFill>
              <a:srgbClr val="CBD5E3"/>
            </a:solidFill>
            <a:prstDash val="solid"/>
          </a:ln>
        </p:spPr>
      </p:sp>
      <p:sp>
        <p:nvSpPr>
          <p:cNvPr id="29" name="Shape 27"/>
          <p:cNvSpPr/>
          <p:nvPr/>
        </p:nvSpPr>
        <p:spPr>
          <a:xfrm>
            <a:off x="9799168" y="2944368"/>
            <a:ext cx="0" cy="493776"/>
          </a:xfrm>
          <a:prstGeom prst="line">
            <a:avLst/>
          </a:prstGeom>
          <a:noFill/>
          <a:ln w="31750">
            <a:solidFill>
              <a:srgbClr val="CBD5E3"/>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31750">
            <a:solidFill>
              <a:srgbClr val="CBD5E3"/>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1578712" y="1812341"/>
            <a:ext cx="420624" cy="420624"/>
          </a:xfrm>
          <a:prstGeom prst="ellipse">
            <a:avLst/>
          </a:prstGeom>
          <a:solidFill>
            <a:srgbClr val="E3F4FA"/>
          </a:solidFill>
          <a:ln w="12700">
            <a:solidFill>
              <a:srgbClr val="E3F4F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6E8A"/>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0" name="Shape 38"/>
          <p:cNvSpPr/>
          <p:nvPr/>
        </p:nvSpPr>
        <p:spPr>
          <a:xfrm>
            <a:off x="4047592" y="1812341"/>
            <a:ext cx="420624" cy="420624"/>
          </a:xfrm>
          <a:prstGeom prst="ellipse">
            <a:avLst/>
          </a:prstGeom>
          <a:solidFill>
            <a:srgbClr val="E3F4FA"/>
          </a:solidFill>
          <a:ln w="12700">
            <a:solidFill>
              <a:srgbClr val="E3F4F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6E8A"/>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4" name="Shape 42"/>
          <p:cNvSpPr/>
          <p:nvPr/>
        </p:nvSpPr>
        <p:spPr>
          <a:xfrm>
            <a:off x="6351880" y="1812341"/>
            <a:ext cx="420624" cy="420624"/>
          </a:xfrm>
          <a:prstGeom prst="ellipse">
            <a:avLst/>
          </a:prstGeom>
          <a:solidFill>
            <a:srgbClr val="E3F4FA"/>
          </a:solidFill>
          <a:ln w="12700">
            <a:solidFill>
              <a:srgbClr val="E3F4FA"/>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6E8A"/>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12700">
            <a:solidFill>
              <a:srgbClr val="D5DDE8"/>
            </a:solidFill>
            <a:prstDash val="solid"/>
          </a:ln>
        </p:spPr>
      </p:sp>
      <p:sp>
        <p:nvSpPr>
          <p:cNvPr id="48" name="Shape 46"/>
          <p:cNvSpPr/>
          <p:nvPr/>
        </p:nvSpPr>
        <p:spPr>
          <a:xfrm>
            <a:off x="8985352" y="1812341"/>
            <a:ext cx="420624" cy="420624"/>
          </a:xfrm>
          <a:prstGeom prst="ellipse">
            <a:avLst/>
          </a:prstGeom>
          <a:solidFill>
            <a:srgbClr val="EEF2F7"/>
          </a:solidFill>
          <a:ln w="12700">
            <a:solidFill>
              <a:srgbClr val="EEF2F7"/>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BFCFE"/>
          </a:solidFill>
          <a:ln w="12700">
            <a:solidFill>
              <a:srgbClr val="D5DDE8"/>
            </a:solidFill>
            <a:prstDash val="solid"/>
          </a:ln>
        </p:spPr>
      </p:sp>
      <p:sp>
        <p:nvSpPr>
          <p:cNvPr id="52" name="Shape 50"/>
          <p:cNvSpPr/>
          <p:nvPr/>
        </p:nvSpPr>
        <p:spPr>
          <a:xfrm>
            <a:off x="1578712" y="3540557"/>
            <a:ext cx="420624" cy="420624"/>
          </a:xfrm>
          <a:prstGeom prst="ellipse">
            <a:avLst/>
          </a:prstGeom>
          <a:solidFill>
            <a:srgbClr val="EEF2F7"/>
          </a:solidFill>
          <a:ln w="12700">
            <a:solidFill>
              <a:srgbClr val="EEF2F7"/>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A9B4C6"/>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3F6FA"/>
          </a:solidFill>
          <a:ln w="12700">
            <a:solidFill>
              <a:srgbClr val="D5DDE8"/>
            </a:solidFill>
            <a:prstDash val="solid"/>
          </a:ln>
        </p:spPr>
      </p:sp>
      <p:sp>
        <p:nvSpPr>
          <p:cNvPr id="56" name="Shape 54"/>
          <p:cNvSpPr/>
          <p:nvPr/>
        </p:nvSpPr>
        <p:spPr>
          <a:xfrm>
            <a:off x="4047592" y="3540557"/>
            <a:ext cx="420624" cy="420624"/>
          </a:xfrm>
          <a:prstGeom prst="ellipse">
            <a:avLst/>
          </a:prstGeom>
          <a:solidFill>
            <a:srgbClr val="EEF2F7"/>
          </a:solidFill>
          <a:ln w="12700">
            <a:solidFill>
              <a:srgbClr val="EEF2F7"/>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A9B4C6"/>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3F6FA"/>
          </a:solidFill>
          <a:ln w="12700">
            <a:solidFill>
              <a:srgbClr val="D5DDE8"/>
            </a:solidFill>
            <a:prstDash val="solid"/>
          </a:ln>
        </p:spPr>
      </p:sp>
      <p:sp>
        <p:nvSpPr>
          <p:cNvPr id="60" name="Shape 58"/>
          <p:cNvSpPr/>
          <p:nvPr/>
        </p:nvSpPr>
        <p:spPr>
          <a:xfrm>
            <a:off x="6351880" y="3540557"/>
            <a:ext cx="420624" cy="420624"/>
          </a:xfrm>
          <a:prstGeom prst="ellipse">
            <a:avLst/>
          </a:prstGeom>
          <a:solidFill>
            <a:srgbClr val="EEF2F7"/>
          </a:solidFill>
          <a:ln w="12700">
            <a:solidFill>
              <a:srgbClr val="EEF2F7"/>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12700">
            <a:solidFill>
              <a:srgbClr val="D5DDE8"/>
            </a:solidFill>
            <a:prstDash val="solid"/>
          </a:ln>
        </p:spPr>
      </p:sp>
      <p:sp>
        <p:nvSpPr>
          <p:cNvPr id="64" name="Shape 62"/>
          <p:cNvSpPr/>
          <p:nvPr/>
        </p:nvSpPr>
        <p:spPr>
          <a:xfrm>
            <a:off x="8985352" y="3540557"/>
            <a:ext cx="420624" cy="420624"/>
          </a:xfrm>
          <a:prstGeom prst="ellipse">
            <a:avLst/>
          </a:prstGeom>
          <a:solidFill>
            <a:srgbClr val="EEF2F7"/>
          </a:solidFill>
          <a:ln w="12700">
            <a:solidFill>
              <a:srgbClr val="EEF2F7"/>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69" name="Text 67"/>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Declaramos un Deployment: qué imagen usar y cuántas copias queremos.</a:t>
            </a:r>
            <a:endParaRPr lang="en-US" sz="1300" dirty="0"/>
          </a:p>
        </p:txBody>
      </p:sp>
      <p:sp>
        <p:nvSpPr>
          <p:cNvPr id="70" name="Shape 68"/>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72" name="Text 70"/>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Kubernetes mantiene ese número de copias. Si una falta, crea otra.</a:t>
            </a:r>
            <a:endParaRPr lang="en-US" sz="1300" dirty="0"/>
          </a:p>
        </p:txBody>
      </p:sp>
      <p:sp>
        <p:nvSpPr>
          <p:cNvPr id="73" name="Shape 71"/>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4" name="Text 72"/>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75" name="Text 73"/>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copia corre en un Pod. Antes de arrancar, espera a la base y a notificaciones.</a:t>
            </a:r>
            <a:endParaRPr lang="en-US" sz="1300" dirty="0"/>
          </a:p>
        </p:txBody>
      </p:sp>
      <p:sp>
        <p:nvSpPr>
          <p:cNvPr id="76" name="Text 7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31750">
            <a:solidFill>
              <a:srgbClr val="55627E"/>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31750">
            <a:solidFill>
              <a:srgbClr val="55627E"/>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47625">
            <a:solidFill>
              <a:srgbClr val="2BA6CB"/>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38735">
            <a:solidFill>
              <a:srgbClr val="2BA6CB"/>
            </a:solidFill>
            <a:prstDash val="lgDash"/>
          </a:ln>
        </p:spPr>
      </p:sp>
      <p:sp>
        <p:nvSpPr>
          <p:cNvPr id="15" name="Shape 13"/>
          <p:cNvSpPr/>
          <p:nvPr/>
        </p:nvSpPr>
        <p:spPr>
          <a:xfrm>
            <a:off x="2392528" y="2944368"/>
            <a:ext cx="4526280" cy="0"/>
          </a:xfrm>
          <a:prstGeom prst="line">
            <a:avLst/>
          </a:prstGeom>
          <a:noFill/>
          <a:ln w="38735">
            <a:solidFill>
              <a:srgbClr val="2BA6CB"/>
            </a:solidFill>
            <a:prstDash val="lgDash"/>
          </a:ln>
        </p:spPr>
      </p:sp>
      <p:sp>
        <p:nvSpPr>
          <p:cNvPr id="16" name="Shape 14"/>
          <p:cNvSpPr/>
          <p:nvPr/>
        </p:nvSpPr>
        <p:spPr>
          <a:xfrm flipV="1">
            <a:off x="6918808" y="2335378"/>
            <a:ext cx="0" cy="608990"/>
          </a:xfrm>
          <a:prstGeom prst="line">
            <a:avLst/>
          </a:prstGeom>
          <a:noFill/>
          <a:ln w="38735">
            <a:solidFill>
              <a:srgbClr val="2BA6CB"/>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22860">
            <a:solidFill>
              <a:srgbClr val="CBD5E3"/>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38735">
            <a:solidFill>
              <a:srgbClr val="2BA6CB"/>
            </a:solidFill>
            <a:prstDash val="lgDash"/>
          </a:ln>
        </p:spPr>
      </p:sp>
      <p:sp>
        <p:nvSpPr>
          <p:cNvPr id="23" name="Shape 21"/>
          <p:cNvSpPr/>
          <p:nvPr/>
        </p:nvSpPr>
        <p:spPr>
          <a:xfrm>
            <a:off x="2392528" y="4754880"/>
            <a:ext cx="4855464" cy="0"/>
          </a:xfrm>
          <a:prstGeom prst="line">
            <a:avLst/>
          </a:prstGeom>
          <a:noFill/>
          <a:ln w="38735">
            <a:solidFill>
              <a:srgbClr val="2BA6CB"/>
            </a:solidFill>
            <a:prstDash val="lgDash"/>
          </a:ln>
        </p:spPr>
      </p:sp>
      <p:sp>
        <p:nvSpPr>
          <p:cNvPr id="24" name="Shape 22"/>
          <p:cNvSpPr/>
          <p:nvPr/>
        </p:nvSpPr>
        <p:spPr>
          <a:xfrm flipV="1">
            <a:off x="7247992" y="4063594"/>
            <a:ext cx="0" cy="691286"/>
          </a:xfrm>
          <a:prstGeom prst="line">
            <a:avLst/>
          </a:prstGeom>
          <a:noFill/>
          <a:ln w="38735">
            <a:solidFill>
              <a:srgbClr val="2BA6CB"/>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31750">
            <a:solidFill>
              <a:srgbClr val="CBD5E3"/>
            </a:solidFill>
            <a:prstDash val="solid"/>
          </a:ln>
        </p:spPr>
      </p:sp>
      <p:sp>
        <p:nvSpPr>
          <p:cNvPr id="28" name="Shape 26"/>
          <p:cNvSpPr/>
          <p:nvPr/>
        </p:nvSpPr>
        <p:spPr>
          <a:xfrm>
            <a:off x="7741768" y="2944368"/>
            <a:ext cx="2057400" cy="0"/>
          </a:xfrm>
          <a:prstGeom prst="line">
            <a:avLst/>
          </a:prstGeom>
          <a:noFill/>
          <a:ln w="31750">
            <a:solidFill>
              <a:srgbClr val="CBD5E3"/>
            </a:solidFill>
            <a:prstDash val="solid"/>
          </a:ln>
        </p:spPr>
      </p:sp>
      <p:sp>
        <p:nvSpPr>
          <p:cNvPr id="29" name="Shape 27"/>
          <p:cNvSpPr/>
          <p:nvPr/>
        </p:nvSpPr>
        <p:spPr>
          <a:xfrm>
            <a:off x="9799168" y="2944368"/>
            <a:ext cx="0" cy="493776"/>
          </a:xfrm>
          <a:prstGeom prst="line">
            <a:avLst/>
          </a:prstGeom>
          <a:noFill/>
          <a:ln w="31750">
            <a:solidFill>
              <a:srgbClr val="CBD5E3"/>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31750">
            <a:solidFill>
              <a:srgbClr val="CBD5E3"/>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578712" y="1812341"/>
            <a:ext cx="420624" cy="420624"/>
          </a:xfrm>
          <a:prstGeom prst="ellipse">
            <a:avLst/>
          </a:prstGeom>
          <a:solidFill>
            <a:srgbClr val="E2E5EA"/>
          </a:solidFill>
          <a:ln w="12700">
            <a:solidFill>
              <a:srgbClr val="E2E5E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4047592" y="1812341"/>
            <a:ext cx="420624" cy="420624"/>
          </a:xfrm>
          <a:prstGeom prst="ellipse">
            <a:avLst/>
          </a:prstGeom>
          <a:solidFill>
            <a:srgbClr val="E2E5EA"/>
          </a:solidFill>
          <a:ln w="12700">
            <a:solidFill>
              <a:srgbClr val="E2E5E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6351880" y="1812341"/>
            <a:ext cx="420624" cy="420624"/>
          </a:xfrm>
          <a:prstGeom prst="ellipse">
            <a:avLst/>
          </a:prstGeom>
          <a:solidFill>
            <a:srgbClr val="E2E5EA"/>
          </a:solidFill>
          <a:ln w="12700">
            <a:solidFill>
              <a:srgbClr val="E2E5EA"/>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8" name="Shape 46"/>
          <p:cNvSpPr/>
          <p:nvPr/>
        </p:nvSpPr>
        <p:spPr>
          <a:xfrm>
            <a:off x="8985352" y="1812341"/>
            <a:ext cx="420624" cy="420624"/>
          </a:xfrm>
          <a:prstGeom prst="ellipse">
            <a:avLst/>
          </a:prstGeom>
          <a:solidFill>
            <a:srgbClr val="E3F4FA"/>
          </a:solidFill>
          <a:ln w="12700">
            <a:solidFill>
              <a:srgbClr val="E3F4FA"/>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6E8A"/>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2" name="Shape 50"/>
          <p:cNvSpPr/>
          <p:nvPr/>
        </p:nvSpPr>
        <p:spPr>
          <a:xfrm>
            <a:off x="1578712" y="3540557"/>
            <a:ext cx="420624" cy="420624"/>
          </a:xfrm>
          <a:prstGeom prst="ellipse">
            <a:avLst/>
          </a:prstGeom>
          <a:solidFill>
            <a:srgbClr val="E3F4FA"/>
          </a:solidFill>
          <a:ln w="12700">
            <a:solidFill>
              <a:srgbClr val="E3F4FA"/>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0B6E8A"/>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3F6FA"/>
          </a:solidFill>
          <a:ln w="12700">
            <a:solidFill>
              <a:srgbClr val="D5DDE8"/>
            </a:solidFill>
            <a:prstDash val="solid"/>
          </a:ln>
        </p:spPr>
      </p:sp>
      <p:sp>
        <p:nvSpPr>
          <p:cNvPr id="56" name="Shape 54"/>
          <p:cNvSpPr/>
          <p:nvPr/>
        </p:nvSpPr>
        <p:spPr>
          <a:xfrm>
            <a:off x="4047592" y="3540557"/>
            <a:ext cx="420624" cy="420624"/>
          </a:xfrm>
          <a:prstGeom prst="ellipse">
            <a:avLst/>
          </a:prstGeom>
          <a:solidFill>
            <a:srgbClr val="EEF2F7"/>
          </a:solidFill>
          <a:ln w="12700">
            <a:solidFill>
              <a:srgbClr val="EEF2F7"/>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A9B4C6"/>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3F6FA"/>
          </a:solidFill>
          <a:ln w="12700">
            <a:solidFill>
              <a:srgbClr val="D5DDE8"/>
            </a:solidFill>
            <a:prstDash val="solid"/>
          </a:ln>
        </p:spPr>
      </p:sp>
      <p:sp>
        <p:nvSpPr>
          <p:cNvPr id="60" name="Shape 58"/>
          <p:cNvSpPr/>
          <p:nvPr/>
        </p:nvSpPr>
        <p:spPr>
          <a:xfrm>
            <a:off x="6351880" y="3540557"/>
            <a:ext cx="420624" cy="420624"/>
          </a:xfrm>
          <a:prstGeom prst="ellipse">
            <a:avLst/>
          </a:prstGeom>
          <a:solidFill>
            <a:srgbClr val="EEF2F7"/>
          </a:solidFill>
          <a:ln w="12700">
            <a:solidFill>
              <a:srgbClr val="EEF2F7"/>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12700">
            <a:solidFill>
              <a:srgbClr val="D5DDE8"/>
            </a:solidFill>
            <a:prstDash val="solid"/>
          </a:ln>
        </p:spPr>
      </p:sp>
      <p:sp>
        <p:nvSpPr>
          <p:cNvPr id="64" name="Shape 62"/>
          <p:cNvSpPr/>
          <p:nvPr/>
        </p:nvSpPr>
        <p:spPr>
          <a:xfrm>
            <a:off x="8985352" y="3540557"/>
            <a:ext cx="420624" cy="420624"/>
          </a:xfrm>
          <a:prstGeom prst="ellipse">
            <a:avLst/>
          </a:prstGeom>
          <a:solidFill>
            <a:srgbClr val="EEF2F7"/>
          </a:solidFill>
          <a:ln w="12700">
            <a:solidFill>
              <a:srgbClr val="EEF2F7"/>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Service da un nombre fijo y solo manda tráfico a los Pods listos.</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Secret entrega la contraseña de la base sin escribirla en el código.</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31750">
            <a:solidFill>
              <a:srgbClr val="55627E"/>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31750">
            <a:solidFill>
              <a:srgbClr val="55627E"/>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31750">
            <a:solidFill>
              <a:srgbClr val="2E6DB4"/>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22860">
            <a:solidFill>
              <a:srgbClr val="1F4E8C"/>
            </a:solidFill>
            <a:prstDash val="lgDash"/>
          </a:ln>
        </p:spPr>
      </p:sp>
      <p:sp>
        <p:nvSpPr>
          <p:cNvPr id="15" name="Shape 13"/>
          <p:cNvSpPr/>
          <p:nvPr/>
        </p:nvSpPr>
        <p:spPr>
          <a:xfrm>
            <a:off x="2392528" y="2944368"/>
            <a:ext cx="4526280" cy="0"/>
          </a:xfrm>
          <a:prstGeom prst="line">
            <a:avLst/>
          </a:prstGeom>
          <a:noFill/>
          <a:ln w="22860">
            <a:solidFill>
              <a:srgbClr val="1F4E8C"/>
            </a:solidFill>
            <a:prstDash val="lgDash"/>
          </a:ln>
        </p:spPr>
      </p:sp>
      <p:sp>
        <p:nvSpPr>
          <p:cNvPr id="16" name="Shape 14"/>
          <p:cNvSpPr/>
          <p:nvPr/>
        </p:nvSpPr>
        <p:spPr>
          <a:xfrm flipV="1">
            <a:off x="6918808" y="2335378"/>
            <a:ext cx="0" cy="608990"/>
          </a:xfrm>
          <a:prstGeom prst="line">
            <a:avLst/>
          </a:prstGeom>
          <a:noFill/>
          <a:ln w="22860">
            <a:solidFill>
              <a:srgbClr val="1F4E8C"/>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38735">
            <a:solidFill>
              <a:srgbClr val="2BA6CB"/>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22860">
            <a:solidFill>
              <a:srgbClr val="1F4E8C"/>
            </a:solidFill>
            <a:prstDash val="lgDash"/>
          </a:ln>
        </p:spPr>
      </p:sp>
      <p:sp>
        <p:nvSpPr>
          <p:cNvPr id="23" name="Shape 21"/>
          <p:cNvSpPr/>
          <p:nvPr/>
        </p:nvSpPr>
        <p:spPr>
          <a:xfrm>
            <a:off x="2392528" y="4754880"/>
            <a:ext cx="4855464" cy="0"/>
          </a:xfrm>
          <a:prstGeom prst="line">
            <a:avLst/>
          </a:prstGeom>
          <a:noFill/>
          <a:ln w="22860">
            <a:solidFill>
              <a:srgbClr val="1F4E8C"/>
            </a:solidFill>
            <a:prstDash val="lgDash"/>
          </a:ln>
        </p:spPr>
      </p:sp>
      <p:sp>
        <p:nvSpPr>
          <p:cNvPr id="24" name="Shape 22"/>
          <p:cNvSpPr/>
          <p:nvPr/>
        </p:nvSpPr>
        <p:spPr>
          <a:xfrm flipV="1">
            <a:off x="7247992" y="4063594"/>
            <a:ext cx="0" cy="691286"/>
          </a:xfrm>
          <a:prstGeom prst="line">
            <a:avLst/>
          </a:prstGeom>
          <a:noFill/>
          <a:ln w="22860">
            <a:solidFill>
              <a:srgbClr val="1F4E8C"/>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47625">
            <a:solidFill>
              <a:srgbClr val="2BA6CB"/>
            </a:solidFill>
            <a:prstDash val="solid"/>
          </a:ln>
        </p:spPr>
      </p:sp>
      <p:sp>
        <p:nvSpPr>
          <p:cNvPr id="28" name="Shape 26"/>
          <p:cNvSpPr/>
          <p:nvPr/>
        </p:nvSpPr>
        <p:spPr>
          <a:xfrm>
            <a:off x="7741768" y="2944368"/>
            <a:ext cx="2057400" cy="0"/>
          </a:xfrm>
          <a:prstGeom prst="line">
            <a:avLst/>
          </a:prstGeom>
          <a:noFill/>
          <a:ln w="47625">
            <a:solidFill>
              <a:srgbClr val="2BA6CB"/>
            </a:solidFill>
            <a:prstDash val="solid"/>
          </a:ln>
        </p:spPr>
      </p:sp>
      <p:sp>
        <p:nvSpPr>
          <p:cNvPr id="29" name="Shape 27"/>
          <p:cNvSpPr/>
          <p:nvPr/>
        </p:nvSpPr>
        <p:spPr>
          <a:xfrm>
            <a:off x="9799168" y="2944368"/>
            <a:ext cx="0" cy="493776"/>
          </a:xfrm>
          <a:prstGeom prst="line">
            <a:avLst/>
          </a:prstGeom>
          <a:noFill/>
          <a:ln w="47625">
            <a:solidFill>
              <a:srgbClr val="2BA6CB"/>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47625">
            <a:solidFill>
              <a:srgbClr val="2BA6CB"/>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578712" y="1812341"/>
            <a:ext cx="420624" cy="420624"/>
          </a:xfrm>
          <a:prstGeom prst="ellipse">
            <a:avLst/>
          </a:prstGeom>
          <a:solidFill>
            <a:srgbClr val="E2E5EA"/>
          </a:solidFill>
          <a:ln w="12700">
            <a:solidFill>
              <a:srgbClr val="E2E5E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4047592" y="1812341"/>
            <a:ext cx="420624" cy="420624"/>
          </a:xfrm>
          <a:prstGeom prst="ellipse">
            <a:avLst/>
          </a:prstGeom>
          <a:solidFill>
            <a:srgbClr val="E2E5EA"/>
          </a:solidFill>
          <a:ln w="12700">
            <a:solidFill>
              <a:srgbClr val="E2E5E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6351880" y="1812341"/>
            <a:ext cx="420624" cy="420624"/>
          </a:xfrm>
          <a:prstGeom prst="ellipse">
            <a:avLst/>
          </a:prstGeom>
          <a:solidFill>
            <a:srgbClr val="E2E5EA"/>
          </a:solidFill>
          <a:ln w="12700">
            <a:solidFill>
              <a:srgbClr val="E2E5EA"/>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8985352" y="1812341"/>
            <a:ext cx="420624" cy="420624"/>
          </a:xfrm>
          <a:prstGeom prst="ellipse">
            <a:avLst/>
          </a:prstGeom>
          <a:solidFill>
            <a:srgbClr val="E2E5EA"/>
          </a:solidFill>
          <a:ln w="12700">
            <a:solidFill>
              <a:srgbClr val="E2E5EA"/>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1578712" y="3540557"/>
            <a:ext cx="420624" cy="420624"/>
          </a:xfrm>
          <a:prstGeom prst="ellipse">
            <a:avLst/>
          </a:prstGeom>
          <a:solidFill>
            <a:srgbClr val="E2E5EA"/>
          </a:solidFill>
          <a:ln w="12700">
            <a:solidFill>
              <a:srgbClr val="E2E5EA"/>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0B2350"/>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6" name="Shape 54"/>
          <p:cNvSpPr/>
          <p:nvPr/>
        </p:nvSpPr>
        <p:spPr>
          <a:xfrm>
            <a:off x="4047592" y="3540557"/>
            <a:ext cx="420624" cy="420624"/>
          </a:xfrm>
          <a:prstGeom prst="ellipse">
            <a:avLst/>
          </a:prstGeom>
          <a:solidFill>
            <a:srgbClr val="E3F4FA"/>
          </a:solidFill>
          <a:ln w="12700">
            <a:solidFill>
              <a:srgbClr val="E3F4FA"/>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0B6E8A"/>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0" name="Shape 58"/>
          <p:cNvSpPr/>
          <p:nvPr/>
        </p:nvSpPr>
        <p:spPr>
          <a:xfrm>
            <a:off x="6351880" y="3540557"/>
            <a:ext cx="420624" cy="420624"/>
          </a:xfrm>
          <a:prstGeom prst="ellipse">
            <a:avLst/>
          </a:prstGeom>
          <a:solidFill>
            <a:srgbClr val="E3F4FA"/>
          </a:solidFill>
          <a:ln w="12700">
            <a:solidFill>
              <a:srgbClr val="E3F4FA"/>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4" name="Shape 62"/>
          <p:cNvSpPr/>
          <p:nvPr/>
        </p:nvSpPr>
        <p:spPr>
          <a:xfrm>
            <a:off x="8985352" y="3540557"/>
            <a:ext cx="420624" cy="420624"/>
          </a:xfrm>
          <a:prstGeom prst="ellipse">
            <a:avLst/>
          </a:prstGeom>
          <a:solidFill>
            <a:srgbClr val="E3F4FA"/>
          </a:solidFill>
          <a:ln w="12700">
            <a:solidFill>
              <a:srgbClr val="E3F4FA"/>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6E8A"/>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base guarda sus datos en un disco que sobrevive a los reinicios. Aun así, no es un respaldo.</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aplicación llega a la base por su nombre de Service, no por una dirección fija.</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Puesta a punto: arranque y salud</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Arrancar no es lo mismo que estar listo. Si un Pod se ve así, esta es la primera pregunta:</a:t>
            </a:r>
            <a:endParaRPr lang="en-US" sz="1700" dirty="0"/>
          </a:p>
        </p:txBody>
      </p:sp>
      <p:sp>
        <p:nvSpPr>
          <p:cNvPr id="6" name="Shape 4"/>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8A4B06"/>
          </a:solidFill>
          <a:ln w="12700">
            <a:solidFill>
              <a:srgbClr val="8A4B06"/>
            </a:solidFill>
            <a:prstDash val="solid"/>
          </a:ln>
        </p:spPr>
      </p:sp>
      <p:sp>
        <p:nvSpPr>
          <p:cNvPr id="8" name="Shape 6"/>
          <p:cNvSpPr/>
          <p:nvPr/>
        </p:nvSpPr>
        <p:spPr>
          <a:xfrm>
            <a:off x="886968" y="2439162"/>
            <a:ext cx="786384" cy="786384"/>
          </a:xfrm>
          <a:prstGeom prst="ellipse">
            <a:avLst/>
          </a:prstGeom>
          <a:solidFill>
            <a:srgbClr val="FCEFD6"/>
          </a:solidFill>
          <a:ln w="12700">
            <a:solidFill>
              <a:srgbClr val="FCEFD6"/>
            </a:solidFill>
            <a:prstDash val="solid"/>
          </a:ln>
        </p:spPr>
      </p:sp>
      <p:sp>
        <p:nvSpPr>
          <p:cNvPr id="9" name="Icono hourglass"/>
          <p:cNvSpPr/>
          <p:nvPr/>
        </p:nvSpPr>
        <p:spPr>
          <a:xfrm>
            <a:off x="1075700" y="2627894"/>
            <a:ext cx="408920" cy="408920"/>
          </a:xfrm>
          <a:custGeom>
            <a:avLst/>
            <a:gdLst/>
            <a:ahLst/>
            <a:cxnLst/>
            <a:rect l="l" t="t" r="r" b="b"/>
            <a:pathLst>
              <a:path w="408920" h="408920">
                <a:moveTo>
                  <a:pt x="85192" y="374843"/>
                </a:moveTo>
                <a:lnTo>
                  <a:pt x="323728" y="374843"/>
                </a:lnTo>
                <a:moveTo>
                  <a:pt x="85192" y="34077"/>
                </a:moveTo>
                <a:lnTo>
                  <a:pt x="323728" y="34077"/>
                </a:lnTo>
                <a:moveTo>
                  <a:pt x="289651" y="374843"/>
                </a:moveTo>
                <a:lnTo>
                  <a:pt x="289651" y="303759"/>
                </a:lnTo>
                <a:cubicBezTo>
                  <a:pt x="289650" y="294722"/>
                  <a:pt x="286058" y="286056"/>
                  <a:pt x="279667" y="279667"/>
                </a:cubicBezTo>
                <a:lnTo>
                  <a:pt x="204460" y="204460"/>
                </a:lnTo>
                <a:lnTo>
                  <a:pt x="129253" y="279667"/>
                </a:lnTo>
                <a:cubicBezTo>
                  <a:pt x="122862" y="286056"/>
                  <a:pt x="119270" y="294722"/>
                  <a:pt x="119268" y="303759"/>
                </a:cubicBezTo>
                <a:lnTo>
                  <a:pt x="119268" y="374843"/>
                </a:lnTo>
                <a:moveTo>
                  <a:pt x="119268" y="34077"/>
                </a:moveTo>
                <a:lnTo>
                  <a:pt x="119268" y="105161"/>
                </a:lnTo>
                <a:cubicBezTo>
                  <a:pt x="119270" y="114197"/>
                  <a:pt x="122862" y="122864"/>
                  <a:pt x="129253" y="129253"/>
                </a:cubicBezTo>
                <a:lnTo>
                  <a:pt x="204460" y="204460"/>
                </a:lnTo>
                <a:lnTo>
                  <a:pt x="279667" y="129253"/>
                </a:lnTo>
                <a:cubicBezTo>
                  <a:pt x="286058" y="122864"/>
                  <a:pt x="289650" y="114197"/>
                  <a:pt x="289651" y="105161"/>
                </a:cubicBezTo>
                <a:lnTo>
                  <a:pt x="289651" y="34077"/>
                </a:lnTo>
              </a:path>
            </a:pathLst>
          </a:custGeom>
          <a:noFill/>
          <a:ln w="34077" cap="rnd">
            <a:solidFill>
              <a:srgbClr val="8A4B06"/>
            </a:solidFill>
            <a:prstDash val="solid"/>
            <a:round/>
          </a:ln>
        </p:spPr>
      </p:sp>
      <p:sp>
        <p:nvSpPr>
          <p:cNvPr id="10" name="Text 8"/>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Pending</a:t>
            </a:r>
            <a:endParaRPr lang="en-US" sz="2000" dirty="0"/>
          </a:p>
        </p:txBody>
      </p:sp>
      <p:sp>
        <p:nvSpPr>
          <p:cNvPr id="11" name="Text 9"/>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¿Hay recursos o falta el disco?</a:t>
            </a:r>
            <a:endParaRPr lang="en-US" sz="1600" dirty="0"/>
          </a:p>
        </p:txBody>
      </p:sp>
      <p:sp>
        <p:nvSpPr>
          <p:cNvPr id="12" name="Shape 10"/>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87288" y="1847088"/>
            <a:ext cx="64008" cy="1970532"/>
          </a:xfrm>
          <a:prstGeom prst="rect">
            <a:avLst/>
          </a:prstGeom>
          <a:solidFill>
            <a:srgbClr val="AB243E"/>
          </a:solidFill>
          <a:ln w="12700">
            <a:solidFill>
              <a:srgbClr val="AB243E"/>
            </a:solidFill>
            <a:prstDash val="solid"/>
          </a:ln>
        </p:spPr>
      </p:sp>
      <p:sp>
        <p:nvSpPr>
          <p:cNvPr id="14" name="Shape 12"/>
          <p:cNvSpPr/>
          <p:nvPr/>
        </p:nvSpPr>
        <p:spPr>
          <a:xfrm>
            <a:off x="6461608" y="2439162"/>
            <a:ext cx="786384" cy="786384"/>
          </a:xfrm>
          <a:prstGeom prst="ellipse">
            <a:avLst/>
          </a:prstGeom>
          <a:solidFill>
            <a:srgbClr val="F7E3E7"/>
          </a:solidFill>
          <a:ln w="12700">
            <a:solidFill>
              <a:srgbClr val="F7E3E7"/>
            </a:solidFill>
            <a:prstDash val="solid"/>
          </a:ln>
        </p:spPr>
      </p:sp>
      <p:sp>
        <p:nvSpPr>
          <p:cNvPr id="15" name="Icono image-off"/>
          <p:cNvSpPr/>
          <p:nvPr/>
        </p:nvSpPr>
        <p:spPr>
          <a:xfrm>
            <a:off x="6650340" y="2627894"/>
            <a:ext cx="408920" cy="408920"/>
          </a:xfrm>
          <a:custGeom>
            <a:avLst/>
            <a:gdLst/>
            <a:ahLst/>
            <a:cxnLst/>
            <a:rect l="l" t="t" r="r" b="b"/>
            <a:pathLst>
              <a:path w="408920" h="408920">
                <a:moveTo>
                  <a:pt x="34077" y="34077"/>
                </a:moveTo>
                <a:lnTo>
                  <a:pt x="374843" y="374843"/>
                </a:lnTo>
                <a:moveTo>
                  <a:pt x="177369" y="177369"/>
                </a:moveTo>
                <a:cubicBezTo>
                  <a:pt x="164054" y="190684"/>
                  <a:pt x="142466" y="190684"/>
                  <a:pt x="129150" y="177369"/>
                </a:cubicBezTo>
                <a:cubicBezTo>
                  <a:pt x="115835" y="164054"/>
                  <a:pt x="115835" y="142466"/>
                  <a:pt x="129150" y="129150"/>
                </a:cubicBezTo>
                <a:moveTo>
                  <a:pt x="230017" y="230017"/>
                </a:moveTo>
                <a:lnTo>
                  <a:pt x="102230" y="357805"/>
                </a:lnTo>
                <a:moveTo>
                  <a:pt x="306690" y="204460"/>
                </a:moveTo>
                <a:lnTo>
                  <a:pt x="357805" y="255575"/>
                </a:lnTo>
                <a:moveTo>
                  <a:pt x="61168" y="61168"/>
                </a:moveTo>
                <a:cubicBezTo>
                  <a:pt x="54752" y="67518"/>
                  <a:pt x="51134" y="76165"/>
                  <a:pt x="51115" y="85192"/>
                </a:cubicBezTo>
                <a:lnTo>
                  <a:pt x="51115" y="323728"/>
                </a:lnTo>
                <a:cubicBezTo>
                  <a:pt x="51115" y="342548"/>
                  <a:pt x="66372" y="357805"/>
                  <a:pt x="85192" y="357805"/>
                </a:cubicBezTo>
                <a:lnTo>
                  <a:pt x="323728" y="357805"/>
                </a:lnTo>
                <a:cubicBezTo>
                  <a:pt x="333099" y="357805"/>
                  <a:pt x="341652" y="354056"/>
                  <a:pt x="347752" y="347752"/>
                </a:cubicBezTo>
                <a:moveTo>
                  <a:pt x="357805" y="255575"/>
                </a:moveTo>
                <a:lnTo>
                  <a:pt x="357805" y="85192"/>
                </a:lnTo>
                <a:cubicBezTo>
                  <a:pt x="357805" y="66372"/>
                  <a:pt x="342548" y="51115"/>
                  <a:pt x="323728" y="51115"/>
                </a:cubicBezTo>
                <a:lnTo>
                  <a:pt x="153345" y="51115"/>
                </a:lnTo>
              </a:path>
            </a:pathLst>
          </a:custGeom>
          <a:noFill/>
          <a:ln w="34077" cap="rnd">
            <a:solidFill>
              <a:srgbClr val="AB243E"/>
            </a:solidFill>
            <a:prstDash val="solid"/>
            <a:round/>
          </a:ln>
        </p:spPr>
      </p:sp>
      <p:sp>
        <p:nvSpPr>
          <p:cNvPr id="16" name="Text 14"/>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AB243E"/>
                </a:solidFill>
                <a:latin typeface="Segoe UI Semibold" pitchFamily="34" charset="0"/>
                <a:ea typeface="Segoe UI Semibold" pitchFamily="34" charset="-122"/>
                <a:cs typeface="Segoe UI Semibold" pitchFamily="34" charset="-120"/>
              </a:rPr>
              <a:t>ImagePullBackOff</a:t>
            </a:r>
            <a:endParaRPr lang="en-US" sz="2000" dirty="0"/>
          </a:p>
        </p:txBody>
      </p:sp>
      <p:sp>
        <p:nvSpPr>
          <p:cNvPr id="17" name="Text 15"/>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¿Existe la imagen en el clúster?</a:t>
            </a:r>
            <a:endParaRPr lang="en-US" sz="1600" dirty="0"/>
          </a:p>
        </p:txBody>
      </p:sp>
      <p:sp>
        <p:nvSpPr>
          <p:cNvPr id="18" name="Shape 16"/>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4256532"/>
            <a:ext cx="64008" cy="1970532"/>
          </a:xfrm>
          <a:prstGeom prst="rect">
            <a:avLst/>
          </a:prstGeom>
          <a:solidFill>
            <a:srgbClr val="AB243E"/>
          </a:solidFill>
          <a:ln w="12700">
            <a:solidFill>
              <a:srgbClr val="AB243E"/>
            </a:solidFill>
            <a:prstDash val="solid"/>
          </a:ln>
        </p:spPr>
      </p:sp>
      <p:sp>
        <p:nvSpPr>
          <p:cNvPr id="20" name="Shape 18"/>
          <p:cNvSpPr/>
          <p:nvPr/>
        </p:nvSpPr>
        <p:spPr>
          <a:xfrm>
            <a:off x="886968" y="4848606"/>
            <a:ext cx="786384" cy="786384"/>
          </a:xfrm>
          <a:prstGeom prst="ellipse">
            <a:avLst/>
          </a:prstGeom>
          <a:solidFill>
            <a:srgbClr val="F7E3E7"/>
          </a:solidFill>
          <a:ln w="12700">
            <a:solidFill>
              <a:srgbClr val="F7E3E7"/>
            </a:solidFill>
            <a:prstDash val="solid"/>
          </a:ln>
        </p:spPr>
      </p:sp>
      <p:sp>
        <p:nvSpPr>
          <p:cNvPr id="21" name="Icono refresh-cw"/>
          <p:cNvSpPr/>
          <p:nvPr/>
        </p:nvSpPr>
        <p:spPr>
          <a:xfrm>
            <a:off x="1075700" y="5037338"/>
            <a:ext cx="408920" cy="408920"/>
          </a:xfrm>
          <a:custGeom>
            <a:avLst/>
            <a:gdLst/>
            <a:ahLst/>
            <a:cxnLst/>
            <a:rect l="l" t="t" r="r" b="b"/>
            <a:pathLst>
              <a:path w="408920" h="408920">
                <a:moveTo>
                  <a:pt x="51115" y="204460"/>
                </a:moveTo>
                <a:cubicBezTo>
                  <a:pt x="51115" y="119770"/>
                  <a:pt x="119770" y="51115"/>
                  <a:pt x="204460" y="51115"/>
                </a:cubicBezTo>
                <a:cubicBezTo>
                  <a:pt x="247329" y="51276"/>
                  <a:pt x="288476" y="68004"/>
                  <a:pt x="319298" y="97800"/>
                </a:cubicBezTo>
                <a:lnTo>
                  <a:pt x="357805" y="136307"/>
                </a:lnTo>
                <a:moveTo>
                  <a:pt x="357805" y="51115"/>
                </a:moveTo>
                <a:lnTo>
                  <a:pt x="357805" y="136307"/>
                </a:lnTo>
                <a:lnTo>
                  <a:pt x="272613" y="136307"/>
                </a:lnTo>
                <a:moveTo>
                  <a:pt x="357805" y="204460"/>
                </a:moveTo>
                <a:cubicBezTo>
                  <a:pt x="357805" y="289150"/>
                  <a:pt x="289150" y="357805"/>
                  <a:pt x="204460" y="357805"/>
                </a:cubicBezTo>
                <a:cubicBezTo>
                  <a:pt x="161591" y="357643"/>
                  <a:pt x="120443" y="340916"/>
                  <a:pt x="89622" y="311120"/>
                </a:cubicBezTo>
                <a:lnTo>
                  <a:pt x="51115" y="272613"/>
                </a:lnTo>
                <a:moveTo>
                  <a:pt x="136307" y="272613"/>
                </a:moveTo>
                <a:lnTo>
                  <a:pt x="51115" y="272613"/>
                </a:lnTo>
                <a:lnTo>
                  <a:pt x="51115" y="357805"/>
                </a:lnTo>
              </a:path>
            </a:pathLst>
          </a:custGeom>
          <a:noFill/>
          <a:ln w="34077" cap="rnd">
            <a:solidFill>
              <a:srgbClr val="AB243E"/>
            </a:solidFill>
            <a:prstDash val="solid"/>
            <a:round/>
          </a:ln>
        </p:spPr>
      </p:sp>
      <p:sp>
        <p:nvSpPr>
          <p:cNvPr id="22" name="Text 20"/>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AB243E"/>
                </a:solidFill>
                <a:latin typeface="Segoe UI Semibold" pitchFamily="34" charset="0"/>
                <a:ea typeface="Segoe UI Semibold" pitchFamily="34" charset="-122"/>
                <a:cs typeface="Segoe UI Semibold" pitchFamily="34" charset="-120"/>
              </a:rPr>
              <a:t>CrashLoopBackOff</a:t>
            </a:r>
            <a:endParaRPr lang="en-US" sz="2000" dirty="0"/>
          </a:p>
        </p:txBody>
      </p:sp>
      <p:sp>
        <p:nvSpPr>
          <p:cNvPr id="23" name="Text 21"/>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¿Qué dicen los logs del contenedor?</a:t>
            </a:r>
            <a:endParaRPr lang="en-US" sz="1600" dirty="0"/>
          </a:p>
        </p:txBody>
      </p:sp>
      <p:sp>
        <p:nvSpPr>
          <p:cNvPr id="24" name="Shape 22"/>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6187288" y="4256532"/>
            <a:ext cx="64008" cy="1970532"/>
          </a:xfrm>
          <a:prstGeom prst="rect">
            <a:avLst/>
          </a:prstGeom>
          <a:solidFill>
            <a:srgbClr val="8A4B06"/>
          </a:solidFill>
          <a:ln w="12700">
            <a:solidFill>
              <a:srgbClr val="8A4B06"/>
            </a:solidFill>
            <a:prstDash val="solid"/>
          </a:ln>
        </p:spPr>
      </p:sp>
      <p:sp>
        <p:nvSpPr>
          <p:cNvPr id="26" name="Shape 24"/>
          <p:cNvSpPr/>
          <p:nvPr/>
        </p:nvSpPr>
        <p:spPr>
          <a:xfrm>
            <a:off x="6461608" y="4848606"/>
            <a:ext cx="786384" cy="786384"/>
          </a:xfrm>
          <a:prstGeom prst="ellipse">
            <a:avLst/>
          </a:prstGeom>
          <a:solidFill>
            <a:srgbClr val="FCEFD6"/>
          </a:solidFill>
          <a:ln w="12700">
            <a:solidFill>
              <a:srgbClr val="FCEFD6"/>
            </a:solidFill>
            <a:prstDash val="solid"/>
          </a:ln>
        </p:spPr>
      </p:sp>
      <p:sp>
        <p:nvSpPr>
          <p:cNvPr id="27" name="Icono heart-pulse"/>
          <p:cNvSpPr/>
          <p:nvPr/>
        </p:nvSpPr>
        <p:spPr>
          <a:xfrm>
            <a:off x="6650340" y="5037338"/>
            <a:ext cx="408920" cy="408920"/>
          </a:xfrm>
          <a:custGeom>
            <a:avLst/>
            <a:gdLst/>
            <a:ahLst/>
            <a:cxnLst/>
            <a:rect l="l" t="t" r="r" b="b"/>
            <a:pathLst>
              <a:path w="408920" h="408920">
                <a:moveTo>
                  <a:pt x="323728" y="238536"/>
                </a:moveTo>
                <a:cubicBezTo>
                  <a:pt x="349115" y="213661"/>
                  <a:pt x="374843" y="183843"/>
                  <a:pt x="374843" y="144826"/>
                </a:cubicBezTo>
                <a:cubicBezTo>
                  <a:pt x="374843" y="93071"/>
                  <a:pt x="332887" y="51115"/>
                  <a:pt x="281132" y="51115"/>
                </a:cubicBezTo>
                <a:cubicBezTo>
                  <a:pt x="251145" y="51115"/>
                  <a:pt x="230017" y="59634"/>
                  <a:pt x="204460" y="85192"/>
                </a:cubicBezTo>
                <a:cubicBezTo>
                  <a:pt x="178902" y="59634"/>
                  <a:pt x="157775" y="51115"/>
                  <a:pt x="127787" y="51115"/>
                </a:cubicBezTo>
                <a:cubicBezTo>
                  <a:pt x="76032" y="51115"/>
                  <a:pt x="34077" y="93071"/>
                  <a:pt x="34077" y="144826"/>
                </a:cubicBezTo>
                <a:cubicBezTo>
                  <a:pt x="34077" y="184014"/>
                  <a:pt x="59634" y="213831"/>
                  <a:pt x="85192" y="238536"/>
                </a:cubicBezTo>
                <a:lnTo>
                  <a:pt x="204460" y="357805"/>
                </a:lnTo>
                <a:close/>
                <a:moveTo>
                  <a:pt x="54863" y="204460"/>
                </a:moveTo>
                <a:lnTo>
                  <a:pt x="161864" y="204460"/>
                </a:lnTo>
                <a:lnTo>
                  <a:pt x="170383" y="187422"/>
                </a:lnTo>
                <a:lnTo>
                  <a:pt x="204460" y="264094"/>
                </a:lnTo>
                <a:lnTo>
                  <a:pt x="238536" y="144826"/>
                </a:lnTo>
                <a:lnTo>
                  <a:pt x="264094" y="204460"/>
                </a:lnTo>
                <a:lnTo>
                  <a:pt x="353886" y="204460"/>
                </a:lnTo>
              </a:path>
            </a:pathLst>
          </a:custGeom>
          <a:noFill/>
          <a:ln w="34077" cap="rnd">
            <a:solidFill>
              <a:srgbClr val="8A4B06"/>
            </a:solidFill>
            <a:prstDash val="solid"/>
            <a:round/>
          </a:ln>
        </p:spPr>
      </p:sp>
      <p:sp>
        <p:nvSpPr>
          <p:cNvPr id="28" name="Text 26"/>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Running, sin Ready</a:t>
            </a:r>
            <a:endParaRPr lang="en-US" sz="2000" dirty="0"/>
          </a:p>
        </p:txBody>
      </p:sp>
      <p:sp>
        <p:nvSpPr>
          <p:cNvPr id="29" name="Text 27"/>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¿Responde la ruta de salud?</a:t>
            </a:r>
            <a:endParaRPr lang="en-US" sz="1600" dirty="0"/>
          </a:p>
        </p:txBody>
      </p:sp>
      <p:sp>
        <p:nvSpPr>
          <p:cNvPr id="30" name="Text 2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Centralizar los logs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Todos los logs, en un solo lugar.</a:t>
            </a:r>
            <a:endParaRPr lang="en-US" sz="1700" dirty="0"/>
          </a:p>
        </p:txBody>
      </p:sp>
      <p:sp>
        <p:nvSpPr>
          <p:cNvPr id="6" name="Shape 4"/>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806440"/>
            <a:ext cx="438912" cy="438912"/>
          </a:xfrm>
          <a:prstGeom prst="ellipse">
            <a:avLst/>
          </a:prstGeom>
          <a:solidFill>
            <a:srgbClr val="FFFFFF"/>
          </a:solidFill>
          <a:ln w="12700">
            <a:solidFill>
              <a:srgbClr val="FFFFFF"/>
            </a:solidFill>
            <a:prstDash val="solid"/>
          </a:ln>
        </p:spPr>
      </p:sp>
      <p:sp>
        <p:nvSpPr>
          <p:cNvPr id="8"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9" name="Text 7"/>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todo lo que pasó, para revisarlo después.</a:t>
            </a:r>
            <a:endParaRPr lang="en-US" sz="1450" dirty="0"/>
          </a:p>
        </p:txBody>
      </p:sp>
      <p:sp>
        <p:nvSpPr>
          <p:cNvPr id="10" name="Shape 8"/>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12" name="Text 10"/>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14" name="Text 12"/>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Escriben sus logs en JSON, con el traceId.</a:t>
            </a:r>
            <a:endParaRPr lang="en-US" sz="1400" dirty="0"/>
          </a:p>
        </p:txBody>
      </p:sp>
      <p:sp>
        <p:nvSpPr>
          <p:cNvPr id="15" name="Shape 13"/>
          <p:cNvSpPr/>
          <p:nvPr/>
        </p:nvSpPr>
        <p:spPr>
          <a:xfrm>
            <a:off x="2806408" y="2875788"/>
            <a:ext cx="1095680" cy="0"/>
          </a:xfrm>
          <a:prstGeom prst="line">
            <a:avLst/>
          </a:prstGeom>
          <a:noFill/>
          <a:ln w="38100">
            <a:solidFill>
              <a:srgbClr val="2BA6CB"/>
            </a:solidFill>
            <a:prstDash val="solid"/>
            <a:tailEnd type="triangle"/>
          </a:ln>
        </p:spPr>
      </p:sp>
      <p:sp>
        <p:nvSpPr>
          <p:cNvPr id="16" name="Shape 14"/>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17"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18" name="Text 16"/>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0" name="Text 18"/>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todos los contenedores.</a:t>
            </a:r>
            <a:endParaRPr lang="en-US" sz="1400" dirty="0"/>
          </a:p>
        </p:txBody>
      </p:sp>
      <p:sp>
        <p:nvSpPr>
          <p:cNvPr id="21" name="Shape 19"/>
          <p:cNvSpPr/>
          <p:nvPr/>
        </p:nvSpPr>
        <p:spPr>
          <a:xfrm>
            <a:off x="5548008" y="2875788"/>
            <a:ext cx="1095680" cy="0"/>
          </a:xfrm>
          <a:prstGeom prst="line">
            <a:avLst/>
          </a:prstGeom>
          <a:noFill/>
          <a:ln w="38100">
            <a:solidFill>
              <a:srgbClr val="2BA6CB"/>
            </a:solidFill>
            <a:prstDash val="solid"/>
            <a:tailEnd type="triangle"/>
          </a:ln>
        </p:spPr>
      </p:sp>
      <p:sp>
        <p:nvSpPr>
          <p:cNvPr id="22" name="Shape 20"/>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3"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24" name="Text 22"/>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26" name="Text 24"/>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y los ordena por servicio.</a:t>
            </a:r>
            <a:endParaRPr lang="en-US" sz="1400" dirty="0"/>
          </a:p>
        </p:txBody>
      </p:sp>
      <p:sp>
        <p:nvSpPr>
          <p:cNvPr id="27" name="Shape 25"/>
          <p:cNvSpPr/>
          <p:nvPr/>
        </p:nvSpPr>
        <p:spPr>
          <a:xfrm>
            <a:off x="8289608" y="2875788"/>
            <a:ext cx="1095680" cy="0"/>
          </a:xfrm>
          <a:prstGeom prst="line">
            <a:avLst/>
          </a:prstGeom>
          <a:noFill/>
          <a:ln w="38100">
            <a:solidFill>
              <a:srgbClr val="2BA6CB"/>
            </a:solidFill>
            <a:prstDash val="solid"/>
            <a:tailEnd type="triangle"/>
          </a:ln>
        </p:spPr>
      </p:sp>
      <p:sp>
        <p:nvSpPr>
          <p:cNvPr id="28" name="Shape 26"/>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0" name="Text 28"/>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32" name="Text 30"/>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Permite buscarlos en un solo lugar.</a:t>
            </a:r>
            <a:endParaRPr lang="en-US" sz="14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47625">
            <a:solidFill>
              <a:srgbClr val="2BA6CB"/>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25400">
            <a:solidFill>
              <a:srgbClr val="CBD5E3"/>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31750">
            <a:solidFill>
              <a:srgbClr val="CBD5E3"/>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31750">
            <a:solidFill>
              <a:srgbClr val="CBD5E3"/>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8" name="Shape 16"/>
          <p:cNvSpPr/>
          <p:nvPr/>
        </p:nvSpPr>
        <p:spPr>
          <a:xfrm>
            <a:off x="978248" y="2990131"/>
            <a:ext cx="420624" cy="420624"/>
          </a:xfrm>
          <a:prstGeom prst="ellipse">
            <a:avLst/>
          </a:prstGeom>
          <a:solidFill>
            <a:srgbClr val="E3F4FA"/>
          </a:solidFill>
          <a:ln w="12700">
            <a:solidFill>
              <a:srgbClr val="E3F4F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6E8A"/>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2" name="Shape 20"/>
          <p:cNvSpPr/>
          <p:nvPr/>
        </p:nvSpPr>
        <p:spPr>
          <a:xfrm>
            <a:off x="3354301" y="2990131"/>
            <a:ext cx="420624" cy="420624"/>
          </a:xfrm>
          <a:prstGeom prst="ellipse">
            <a:avLst/>
          </a:prstGeom>
          <a:solidFill>
            <a:srgbClr val="E3F4FA"/>
          </a:solidFill>
          <a:ln w="12700">
            <a:solidFill>
              <a:srgbClr val="E3F4FA"/>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6E8A"/>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12700">
            <a:solidFill>
              <a:srgbClr val="D5DDE8"/>
            </a:solidFill>
            <a:prstDash val="solid"/>
          </a:ln>
        </p:spPr>
      </p:sp>
      <p:sp>
        <p:nvSpPr>
          <p:cNvPr id="26" name="Shape 24"/>
          <p:cNvSpPr/>
          <p:nvPr/>
        </p:nvSpPr>
        <p:spPr>
          <a:xfrm>
            <a:off x="5730354" y="2990131"/>
            <a:ext cx="420624" cy="420624"/>
          </a:xfrm>
          <a:prstGeom prst="ellipse">
            <a:avLst/>
          </a:prstGeom>
          <a:solidFill>
            <a:srgbClr val="EEF2F7"/>
          </a:solidFill>
          <a:ln w="12700">
            <a:solidFill>
              <a:srgbClr val="EEF2F7"/>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A9B4C6"/>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12700">
            <a:solidFill>
              <a:srgbClr val="D5DDE8"/>
            </a:solidFill>
            <a:prstDash val="solid"/>
          </a:ln>
        </p:spPr>
      </p:sp>
      <p:sp>
        <p:nvSpPr>
          <p:cNvPr id="30" name="Shape 28"/>
          <p:cNvSpPr/>
          <p:nvPr/>
        </p:nvSpPr>
        <p:spPr>
          <a:xfrm>
            <a:off x="8106407" y="2990131"/>
            <a:ext cx="420624" cy="420624"/>
          </a:xfrm>
          <a:prstGeom prst="ellipse">
            <a:avLst/>
          </a:prstGeom>
          <a:solidFill>
            <a:srgbClr val="EEF2F7"/>
          </a:solidFill>
          <a:ln w="12700">
            <a:solidFill>
              <a:srgbClr val="EEF2F7"/>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A9B4C6"/>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12700">
            <a:solidFill>
              <a:srgbClr val="D5DDE8"/>
            </a:solidFill>
            <a:prstDash val="solid"/>
          </a:ln>
        </p:spPr>
      </p:sp>
      <p:sp>
        <p:nvSpPr>
          <p:cNvPr id="34" name="Shape 32"/>
          <p:cNvSpPr/>
          <p:nvPr/>
        </p:nvSpPr>
        <p:spPr>
          <a:xfrm>
            <a:off x="10025527" y="2990131"/>
            <a:ext cx="420624" cy="420624"/>
          </a:xfrm>
          <a:prstGeom prst="ellipse">
            <a:avLst/>
          </a:prstGeom>
          <a:solidFill>
            <a:srgbClr val="EEF2F7"/>
          </a:solidFill>
          <a:ln w="12700">
            <a:solidFill>
              <a:srgbClr val="EEF2F7"/>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9" name="Text 3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escribe sus logs en formato JSON.</a:t>
            </a:r>
            <a:endParaRPr lang="en-US" sz="1300" dirty="0"/>
          </a:p>
        </p:txBody>
      </p:sp>
      <p:sp>
        <p:nvSpPr>
          <p:cNvPr id="40" name="Shape 3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1" name="Text 3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2" name="Text 4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Docker guarda lo que escribe cada contenedor.</a:t>
            </a:r>
            <a:endParaRPr lang="en-US" sz="130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31750">
            <a:solidFill>
              <a:srgbClr val="55627E"/>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41275">
            <a:solidFill>
              <a:srgbClr val="2BA6CB"/>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47625">
            <a:solidFill>
              <a:srgbClr val="2BA6CB"/>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31750">
            <a:solidFill>
              <a:srgbClr val="CBD5E3"/>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978248" y="2990131"/>
            <a:ext cx="420624" cy="420624"/>
          </a:xfrm>
          <a:prstGeom prst="ellipse">
            <a:avLst/>
          </a:prstGeom>
          <a:solidFill>
            <a:srgbClr val="E2E5EA"/>
          </a:solidFill>
          <a:ln w="12700">
            <a:solidFill>
              <a:srgbClr val="E2E5E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354301" y="2990131"/>
            <a:ext cx="420624" cy="420624"/>
          </a:xfrm>
          <a:prstGeom prst="ellipse">
            <a:avLst/>
          </a:prstGeom>
          <a:solidFill>
            <a:srgbClr val="E2E5EA"/>
          </a:solidFill>
          <a:ln w="12700">
            <a:solidFill>
              <a:srgbClr val="E2E5EA"/>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6" name="Shape 24"/>
          <p:cNvSpPr/>
          <p:nvPr/>
        </p:nvSpPr>
        <p:spPr>
          <a:xfrm>
            <a:off x="5730354" y="2990131"/>
            <a:ext cx="420624" cy="420624"/>
          </a:xfrm>
          <a:prstGeom prst="ellipse">
            <a:avLst/>
          </a:prstGeom>
          <a:solidFill>
            <a:srgbClr val="E3F4FA"/>
          </a:solidFill>
          <a:ln w="12700">
            <a:solidFill>
              <a:srgbClr val="E3F4FA"/>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0B6E8A"/>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0" name="Shape 28"/>
          <p:cNvSpPr/>
          <p:nvPr/>
        </p:nvSpPr>
        <p:spPr>
          <a:xfrm>
            <a:off x="8106407" y="2990131"/>
            <a:ext cx="420624" cy="420624"/>
          </a:xfrm>
          <a:prstGeom prst="ellipse">
            <a:avLst/>
          </a:prstGeom>
          <a:solidFill>
            <a:srgbClr val="E3F4FA"/>
          </a:solidFill>
          <a:ln w="12700">
            <a:solidFill>
              <a:srgbClr val="E3F4FA"/>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0B6E8A"/>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12700">
            <a:solidFill>
              <a:srgbClr val="D5DDE8"/>
            </a:solidFill>
            <a:prstDash val="solid"/>
          </a:ln>
        </p:spPr>
      </p:sp>
      <p:sp>
        <p:nvSpPr>
          <p:cNvPr id="34" name="Shape 32"/>
          <p:cNvSpPr/>
          <p:nvPr/>
        </p:nvSpPr>
        <p:spPr>
          <a:xfrm>
            <a:off x="10025527" y="2990131"/>
            <a:ext cx="420624" cy="420624"/>
          </a:xfrm>
          <a:prstGeom prst="ellipse">
            <a:avLst/>
          </a:prstGeom>
          <a:solidFill>
            <a:srgbClr val="EEF2F7"/>
          </a:solidFill>
          <a:ln w="12700">
            <a:solidFill>
              <a:srgbClr val="EEF2F7"/>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9" name="Text 3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Promtail recoge esos logs de todos los contenedores.</a:t>
            </a:r>
            <a:endParaRPr lang="en-US" sz="1300" dirty="0"/>
          </a:p>
        </p:txBody>
      </p:sp>
      <p:sp>
        <p:nvSpPr>
          <p:cNvPr id="40" name="Shape 3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1" name="Text 3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2" name="Text 4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Loki los guarda y permite buscarlos.</a:t>
            </a:r>
            <a:endParaRPr lang="en-US" sz="130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31750">
            <a:solidFill>
              <a:srgbClr val="55627E"/>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25400">
            <a:solidFill>
              <a:srgbClr val="55627E"/>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31750">
            <a:solidFill>
              <a:srgbClr val="2E6DB4"/>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47625">
            <a:solidFill>
              <a:srgbClr val="2BA6CB"/>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978248" y="2990131"/>
            <a:ext cx="420624" cy="420624"/>
          </a:xfrm>
          <a:prstGeom prst="ellipse">
            <a:avLst/>
          </a:prstGeom>
          <a:solidFill>
            <a:srgbClr val="E2E5EA"/>
          </a:solidFill>
          <a:ln w="12700">
            <a:solidFill>
              <a:srgbClr val="E2E5E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354301" y="2990131"/>
            <a:ext cx="420624" cy="420624"/>
          </a:xfrm>
          <a:prstGeom prst="ellipse">
            <a:avLst/>
          </a:prstGeom>
          <a:solidFill>
            <a:srgbClr val="E2E5EA"/>
          </a:solidFill>
          <a:ln w="12700">
            <a:solidFill>
              <a:srgbClr val="E2E5EA"/>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5730354" y="2990131"/>
            <a:ext cx="420624" cy="420624"/>
          </a:xfrm>
          <a:prstGeom prst="ellipse">
            <a:avLst/>
          </a:prstGeom>
          <a:solidFill>
            <a:srgbClr val="E2E5EA"/>
          </a:solidFill>
          <a:ln w="12700">
            <a:solidFill>
              <a:srgbClr val="E2E5EA"/>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0B2350"/>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8106407" y="2990131"/>
            <a:ext cx="420624" cy="420624"/>
          </a:xfrm>
          <a:prstGeom prst="ellipse">
            <a:avLst/>
          </a:prstGeom>
          <a:solidFill>
            <a:srgbClr val="E2E5EA"/>
          </a:solidFill>
          <a:ln w="12700">
            <a:solidFill>
              <a:srgbClr val="E2E5EA"/>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0B2350"/>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10025527" y="2990131"/>
            <a:ext cx="420624" cy="420624"/>
          </a:xfrm>
          <a:prstGeom prst="ellipse">
            <a:avLst/>
          </a:prstGeom>
          <a:solidFill>
            <a:srgbClr val="E3F4FA"/>
          </a:solidFill>
          <a:ln w="12700">
            <a:solidFill>
              <a:srgbClr val="E3F4FA"/>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0B6E8A"/>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muestra los logs y deja filtrarlos, por ejemplo, por número de evento.</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y monitoreo</a:t>
            </a:r>
            <a:endParaRPr lang="en-US" sz="2800" dirty="0"/>
          </a:p>
        </p:txBody>
      </p:sp>
      <p:sp>
        <p:nvSpPr>
          <p:cNvPr id="5" name="Shape 3"/>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6" name="Shape 4"/>
          <p:cNvSpPr/>
          <p:nvPr/>
        </p:nvSpPr>
        <p:spPr>
          <a:xfrm>
            <a:off x="5020056" y="1446290"/>
            <a:ext cx="79358" cy="79358"/>
          </a:xfrm>
          <a:prstGeom prst="ellipse">
            <a:avLst/>
          </a:prstGeom>
          <a:solidFill>
            <a:srgbClr val="E5484D"/>
          </a:solidFill>
          <a:ln w="12700">
            <a:solidFill>
              <a:srgbClr val="E5484D"/>
            </a:solidFill>
            <a:prstDash val="solid"/>
          </a:ln>
        </p:spPr>
      </p:sp>
      <p:sp>
        <p:nvSpPr>
          <p:cNvPr id="7" name="Shape 5"/>
          <p:cNvSpPr/>
          <p:nvPr/>
        </p:nvSpPr>
        <p:spPr>
          <a:xfrm>
            <a:off x="5125088" y="1446290"/>
            <a:ext cx="79358" cy="79358"/>
          </a:xfrm>
          <a:prstGeom prst="ellipse">
            <a:avLst/>
          </a:prstGeom>
          <a:solidFill>
            <a:srgbClr val="F5A524"/>
          </a:solidFill>
          <a:ln w="12700">
            <a:solidFill>
              <a:srgbClr val="F5A524"/>
            </a:solidFill>
            <a:prstDash val="solid"/>
          </a:ln>
        </p:spPr>
      </p:sp>
      <p:sp>
        <p:nvSpPr>
          <p:cNvPr id="8" name="Shape 6"/>
          <p:cNvSpPr/>
          <p:nvPr/>
        </p:nvSpPr>
        <p:spPr>
          <a:xfrm>
            <a:off x="5230121" y="1446290"/>
            <a:ext cx="79358" cy="79358"/>
          </a:xfrm>
          <a:prstGeom prst="ellipse">
            <a:avLst/>
          </a:prstGeom>
          <a:solidFill>
            <a:srgbClr val="30A46C"/>
          </a:solidFill>
          <a:ln w="12700">
            <a:solidFill>
              <a:srgbClr val="30A46C"/>
            </a:solidFill>
            <a:prstDash val="solid"/>
          </a:ln>
        </p:spPr>
      </p:sp>
      <p:sp>
        <p:nvSpPr>
          <p:cNvPr id="9" name="Text 7"/>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10" name="Image 0" descr="La pestaña Salud de la UI">    </p:cNvPr>
          <p:cNvPicPr>
            <a:picLocks noChangeAspect="1"/>
          </p:cNvPicPr>
          <p:nvPr/>
        </p:nvPicPr>
        <p:blipFill>
          <a:blip r:embed="rId1"/>
          <a:stretch>
            <a:fillRect/>
          </a:stretch>
        </p:blipFill>
        <p:spPr>
          <a:xfrm>
            <a:off x="4910328" y="1605005"/>
            <a:ext cx="6668719" cy="4167950"/>
          </a:xfrm>
          <a:prstGeom prst="rect">
            <a:avLst/>
          </a:prstGeom>
        </p:spPr>
      </p:pic>
      <p:sp>
        <p:nvSpPr>
          <p:cNvPr id="11" name="Shape 8"/>
          <p:cNvSpPr/>
          <p:nvPr/>
        </p:nvSpPr>
        <p:spPr>
          <a:xfrm>
            <a:off x="612648" y="1426464"/>
            <a:ext cx="73152" cy="822960"/>
          </a:xfrm>
          <a:prstGeom prst="rect">
            <a:avLst/>
          </a:prstGeom>
          <a:solidFill>
            <a:srgbClr val="2BA6CB"/>
          </a:solidFill>
          <a:ln w="12700">
            <a:solidFill>
              <a:srgbClr val="2BA6CB"/>
            </a:solidFill>
            <a:prstDash val="solid"/>
          </a:ln>
        </p:spPr>
      </p:sp>
      <p:sp>
        <p:nvSpPr>
          <p:cNvPr id="12" name="Text 9"/>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Cada servicio responde: ¿estás bien?</a:t>
            </a:r>
            <a:endParaRPr lang="en-US" sz="2400" dirty="0"/>
          </a:p>
        </p:txBody>
      </p:sp>
      <p:sp>
        <p:nvSpPr>
          <p:cNvPr id="13" name="Shape 10"/>
          <p:cNvSpPr/>
          <p:nvPr/>
        </p:nvSpPr>
        <p:spPr>
          <a:xfrm>
            <a:off x="612648" y="2816352"/>
            <a:ext cx="420624" cy="420624"/>
          </a:xfrm>
          <a:prstGeom prst="ellipse">
            <a:avLst/>
          </a:prstGeom>
          <a:solidFill>
            <a:srgbClr val="E3F4FA"/>
          </a:solidFill>
          <a:ln w="12700">
            <a:solidFill>
              <a:srgbClr val="E3F4FA"/>
            </a:solidFill>
            <a:prstDash val="solid"/>
          </a:ln>
        </p:spPr>
      </p:sp>
      <p:sp>
        <p:nvSpPr>
          <p:cNvPr id="14" name="Icono heart-pulse"/>
          <p:cNvSpPr/>
          <p:nvPr/>
        </p:nvSpPr>
        <p:spPr>
          <a:xfrm>
            <a:off x="713598" y="2917302"/>
            <a:ext cx="218724" cy="218724"/>
          </a:xfrm>
          <a:custGeom>
            <a:avLst/>
            <a:gdLst/>
            <a:ahLst/>
            <a:cxnLst/>
            <a:rect l="l" t="t" r="r" b="b"/>
            <a:pathLst>
              <a:path w="218724" h="218724">
                <a:moveTo>
                  <a:pt x="173157" y="127589"/>
                </a:moveTo>
                <a:cubicBezTo>
                  <a:pt x="186736" y="114284"/>
                  <a:pt x="200497" y="98335"/>
                  <a:pt x="200497" y="77465"/>
                </a:cubicBezTo>
                <a:cubicBezTo>
                  <a:pt x="200497" y="49782"/>
                  <a:pt x="178056" y="27341"/>
                  <a:pt x="150373" y="27341"/>
                </a:cubicBezTo>
                <a:cubicBezTo>
                  <a:pt x="134333" y="27341"/>
                  <a:pt x="123033" y="31897"/>
                  <a:pt x="109362" y="45568"/>
                </a:cubicBezTo>
                <a:cubicBezTo>
                  <a:pt x="95692" y="31897"/>
                  <a:pt x="84391" y="27341"/>
                  <a:pt x="68351" y="27341"/>
                </a:cubicBezTo>
                <a:cubicBezTo>
                  <a:pt x="40668" y="27341"/>
                  <a:pt x="18227" y="49782"/>
                  <a:pt x="18227" y="77465"/>
                </a:cubicBezTo>
                <a:cubicBezTo>
                  <a:pt x="18227" y="98426"/>
                  <a:pt x="31897" y="114375"/>
                  <a:pt x="45568" y="127589"/>
                </a:cubicBezTo>
                <a:lnTo>
                  <a:pt x="109362" y="191384"/>
                </a:lnTo>
                <a:close/>
                <a:moveTo>
                  <a:pt x="29346" y="109362"/>
                </a:moveTo>
                <a:lnTo>
                  <a:pt x="86578" y="109362"/>
                </a:lnTo>
                <a:lnTo>
                  <a:pt x="91135" y="100249"/>
                </a:lnTo>
                <a:lnTo>
                  <a:pt x="109362" y="141260"/>
                </a:lnTo>
                <a:lnTo>
                  <a:pt x="127589" y="77465"/>
                </a:lnTo>
                <a:lnTo>
                  <a:pt x="141260" y="109362"/>
                </a:lnTo>
                <a:lnTo>
                  <a:pt x="189288" y="109362"/>
                </a:lnTo>
              </a:path>
            </a:pathLst>
          </a:custGeom>
          <a:noFill/>
          <a:ln w="18227" cap="rnd">
            <a:solidFill>
              <a:srgbClr val="0B6E8A"/>
            </a:solidFill>
            <a:prstDash val="solid"/>
            <a:round/>
          </a:ln>
        </p:spPr>
      </p:sp>
      <p:sp>
        <p:nvSpPr>
          <p:cNvPr id="15" name="Text 12"/>
          <p:cNvSpPr/>
          <p:nvPr/>
        </p:nvSpPr>
        <p:spPr>
          <a:xfrm>
            <a:off x="1161288" y="2697480"/>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Actuator expone la salud de cada servicio</a:t>
            </a:r>
            <a:endParaRPr lang="en-US" sz="1350" dirty="0"/>
          </a:p>
        </p:txBody>
      </p:sp>
      <p:sp>
        <p:nvSpPr>
          <p:cNvPr id="16" name="Shape 13"/>
          <p:cNvSpPr/>
          <p:nvPr/>
        </p:nvSpPr>
        <p:spPr>
          <a:xfrm>
            <a:off x="612648" y="3474720"/>
            <a:ext cx="420624" cy="420624"/>
          </a:xfrm>
          <a:prstGeom prst="ellipse">
            <a:avLst/>
          </a:prstGeom>
          <a:solidFill>
            <a:srgbClr val="E3F4FA"/>
          </a:solidFill>
          <a:ln w="12700">
            <a:solidFill>
              <a:srgbClr val="E3F4FA"/>
            </a:solidFill>
            <a:prstDash val="solid"/>
          </a:ln>
        </p:spPr>
      </p:sp>
      <p:sp>
        <p:nvSpPr>
          <p:cNvPr id="17" name="Icono database"/>
          <p:cNvSpPr/>
          <p:nvPr/>
        </p:nvSpPr>
        <p:spPr>
          <a:xfrm>
            <a:off x="713598" y="3575670"/>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0B6E8A"/>
            </a:solidFill>
            <a:prstDash val="solid"/>
            <a:round/>
          </a:ln>
        </p:spPr>
      </p:sp>
      <p:sp>
        <p:nvSpPr>
          <p:cNvPr id="18" name="Text 15"/>
          <p:cNvSpPr/>
          <p:nvPr/>
        </p:nvSpPr>
        <p:spPr>
          <a:xfrm>
            <a:off x="1161288" y="3355848"/>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Revisa, por ejemplo, la conexión con la base</a:t>
            </a:r>
            <a:endParaRPr lang="en-US" sz="1350" dirty="0"/>
          </a:p>
        </p:txBody>
      </p:sp>
      <p:sp>
        <p:nvSpPr>
          <p:cNvPr id="19" name="Shape 16"/>
          <p:cNvSpPr/>
          <p:nvPr/>
        </p:nvSpPr>
        <p:spPr>
          <a:xfrm>
            <a:off x="612648" y="4133088"/>
            <a:ext cx="420624" cy="420624"/>
          </a:xfrm>
          <a:prstGeom prst="ellipse">
            <a:avLst/>
          </a:prstGeom>
          <a:solidFill>
            <a:srgbClr val="E3F4FA"/>
          </a:solidFill>
          <a:ln w="12700">
            <a:solidFill>
              <a:srgbClr val="E3F4FA"/>
            </a:solidFill>
            <a:prstDash val="solid"/>
          </a:ln>
        </p:spPr>
      </p:sp>
      <p:sp>
        <p:nvSpPr>
          <p:cNvPr id="20" name="Icono ship-wheel"/>
          <p:cNvSpPr/>
          <p:nvPr/>
        </p:nvSpPr>
        <p:spPr>
          <a:xfrm>
            <a:off x="713598" y="4234038"/>
            <a:ext cx="218724" cy="218724"/>
          </a:xfrm>
          <a:custGeom>
            <a:avLst/>
            <a:gdLst/>
            <a:ahLst/>
            <a:cxnLst/>
            <a:rect l="l" t="t" r="r" b="b"/>
            <a:pathLst>
              <a:path w="218724" h="218724">
                <a:moveTo>
                  <a:pt x="182270" y="109362"/>
                </a:moveTo>
                <a:cubicBezTo>
                  <a:pt x="182270" y="149628"/>
                  <a:pt x="149628" y="182270"/>
                  <a:pt x="109362" y="182270"/>
                </a:cubicBezTo>
                <a:cubicBezTo>
                  <a:pt x="69096" y="182270"/>
                  <a:pt x="36454" y="149628"/>
                  <a:pt x="36454" y="109362"/>
                </a:cubicBezTo>
                <a:cubicBezTo>
                  <a:pt x="36454" y="69096"/>
                  <a:pt x="69096" y="36454"/>
                  <a:pt x="109362" y="36454"/>
                </a:cubicBezTo>
                <a:cubicBezTo>
                  <a:pt x="149628" y="36454"/>
                  <a:pt x="182270" y="69096"/>
                  <a:pt x="182270" y="109362"/>
                </a:cubicBezTo>
                <a:close/>
                <a:moveTo>
                  <a:pt x="109362" y="18227"/>
                </a:moveTo>
                <a:lnTo>
                  <a:pt x="109362" y="86578"/>
                </a:lnTo>
                <a:moveTo>
                  <a:pt x="173157" y="45568"/>
                </a:moveTo>
                <a:lnTo>
                  <a:pt x="125493" y="93231"/>
                </a:lnTo>
                <a:moveTo>
                  <a:pt x="200497" y="109362"/>
                </a:moveTo>
                <a:lnTo>
                  <a:pt x="132146" y="109362"/>
                </a:lnTo>
                <a:moveTo>
                  <a:pt x="173157" y="173157"/>
                </a:moveTo>
                <a:lnTo>
                  <a:pt x="125493" y="125493"/>
                </a:lnTo>
                <a:moveTo>
                  <a:pt x="109362" y="132146"/>
                </a:moveTo>
                <a:lnTo>
                  <a:pt x="109362" y="200497"/>
                </a:lnTo>
                <a:moveTo>
                  <a:pt x="93231" y="125493"/>
                </a:moveTo>
                <a:lnTo>
                  <a:pt x="45568" y="173157"/>
                </a:lnTo>
                <a:moveTo>
                  <a:pt x="86578" y="109362"/>
                </a:moveTo>
                <a:lnTo>
                  <a:pt x="18227" y="109362"/>
                </a:lnTo>
                <a:moveTo>
                  <a:pt x="93231" y="93231"/>
                </a:moveTo>
                <a:lnTo>
                  <a:pt x="45568" y="45568"/>
                </a:lnTo>
                <a:moveTo>
                  <a:pt x="132146" y="109362"/>
                </a:moveTo>
                <a:cubicBezTo>
                  <a:pt x="132146" y="121945"/>
                  <a:pt x="121945" y="132146"/>
                  <a:pt x="109362" y="132146"/>
                </a:cubicBezTo>
                <a:cubicBezTo>
                  <a:pt x="96779" y="132146"/>
                  <a:pt x="86578" y="121945"/>
                  <a:pt x="86578" y="109362"/>
                </a:cubicBezTo>
                <a:cubicBezTo>
                  <a:pt x="86578" y="96779"/>
                  <a:pt x="96779" y="86578"/>
                  <a:pt x="109362" y="86578"/>
                </a:cubicBezTo>
                <a:cubicBezTo>
                  <a:pt x="121945" y="86578"/>
                  <a:pt x="132146" y="96779"/>
                  <a:pt x="132146" y="109362"/>
                </a:cubicBezTo>
                <a:close/>
              </a:path>
            </a:pathLst>
          </a:custGeom>
          <a:noFill/>
          <a:ln w="18227" cap="rnd">
            <a:solidFill>
              <a:srgbClr val="0B6E8A"/>
            </a:solidFill>
            <a:prstDash val="solid"/>
            <a:round/>
          </a:ln>
        </p:spPr>
      </p:sp>
      <p:sp>
        <p:nvSpPr>
          <p:cNvPr id="21" name="Text 18"/>
          <p:cNvSpPr/>
          <p:nvPr/>
        </p:nvSpPr>
        <p:spPr>
          <a:xfrm>
            <a:off x="1161288" y="4014216"/>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Kubernetes y la UI la consultan</a:t>
            </a:r>
            <a:endParaRPr lang="en-US" sz="1350" dirty="0"/>
          </a:p>
        </p:txBody>
      </p:sp>
      <p:sp>
        <p:nvSpPr>
          <p:cNvPr id="22" name="Shape 19"/>
          <p:cNvSpPr/>
          <p:nvPr/>
        </p:nvSpPr>
        <p:spPr>
          <a:xfrm>
            <a:off x="612648" y="4791456"/>
            <a:ext cx="420624" cy="420624"/>
          </a:xfrm>
          <a:prstGeom prst="ellipse">
            <a:avLst/>
          </a:prstGeom>
          <a:solidFill>
            <a:srgbClr val="E3F4FA"/>
          </a:solidFill>
          <a:ln w="12700">
            <a:solidFill>
              <a:srgbClr val="E3F4FA"/>
            </a:solidFill>
            <a:prstDash val="solid"/>
          </a:ln>
        </p:spPr>
      </p:sp>
      <p:sp>
        <p:nvSpPr>
          <p:cNvPr id="23" name="Icono triangle-alert"/>
          <p:cNvSpPr/>
          <p:nvPr/>
        </p:nvSpPr>
        <p:spPr>
          <a:xfrm>
            <a:off x="713598" y="4892406"/>
            <a:ext cx="218724" cy="218724"/>
          </a:xfrm>
          <a:custGeom>
            <a:avLst/>
            <a:gdLst/>
            <a:ahLst/>
            <a:cxnLst/>
            <a:rect l="l" t="t" r="r" b="b"/>
            <a:pathLst>
              <a:path w="218724" h="218724">
                <a:moveTo>
                  <a:pt x="198037" y="164043"/>
                </a:moveTo>
                <a:lnTo>
                  <a:pt x="125129" y="36454"/>
                </a:lnTo>
                <a:cubicBezTo>
                  <a:pt x="121892" y="30743"/>
                  <a:pt x="115835" y="27214"/>
                  <a:pt x="109271" y="27214"/>
                </a:cubicBezTo>
                <a:cubicBezTo>
                  <a:pt x="102707" y="27214"/>
                  <a:pt x="96650" y="30743"/>
                  <a:pt x="93414" y="36454"/>
                </a:cubicBezTo>
                <a:lnTo>
                  <a:pt x="20505" y="164043"/>
                </a:lnTo>
                <a:cubicBezTo>
                  <a:pt x="17234" y="169708"/>
                  <a:pt x="17250" y="176691"/>
                  <a:pt x="20546" y="182342"/>
                </a:cubicBezTo>
                <a:cubicBezTo>
                  <a:pt x="23842" y="187992"/>
                  <a:pt x="29913" y="191443"/>
                  <a:pt x="36454" y="191384"/>
                </a:cubicBezTo>
                <a:lnTo>
                  <a:pt x="182270" y="191384"/>
                </a:lnTo>
                <a:cubicBezTo>
                  <a:pt x="188779" y="191377"/>
                  <a:pt x="194790" y="187901"/>
                  <a:pt x="198041" y="182262"/>
                </a:cubicBezTo>
                <a:cubicBezTo>
                  <a:pt x="201293" y="176624"/>
                  <a:pt x="201291" y="169680"/>
                  <a:pt x="198037" y="164043"/>
                </a:cubicBezTo>
                <a:moveTo>
                  <a:pt x="109362" y="82022"/>
                </a:moveTo>
                <a:lnTo>
                  <a:pt x="109362" y="118476"/>
                </a:lnTo>
                <a:moveTo>
                  <a:pt x="109362" y="154930"/>
                </a:moveTo>
                <a:lnTo>
                  <a:pt x="109453" y="154930"/>
                </a:lnTo>
              </a:path>
            </a:pathLst>
          </a:custGeom>
          <a:noFill/>
          <a:ln w="18227" cap="rnd">
            <a:solidFill>
              <a:srgbClr val="0B6E8A"/>
            </a:solidFill>
            <a:prstDash val="solid"/>
            <a:round/>
          </a:ln>
        </p:spPr>
      </p:sp>
      <p:sp>
        <p:nvSpPr>
          <p:cNvPr id="24" name="Text 21"/>
          <p:cNvSpPr/>
          <p:nvPr/>
        </p:nvSpPr>
        <p:spPr>
          <a:xfrm>
            <a:off x="1161288" y="4672584"/>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UP no garantiza que todos los avisos llegaron</a:t>
            </a:r>
            <a:endParaRPr lang="en-US" sz="1350" dirty="0"/>
          </a:p>
        </p:txBody>
      </p:sp>
      <p:sp>
        <p:nvSpPr>
          <p:cNvPr id="25" name="Text 2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200443"/>
            <a:ext cx="639707" cy="0"/>
          </a:xfrm>
          <a:prstGeom prst="line">
            <a:avLst/>
          </a:prstGeom>
          <a:noFill/>
          <a:ln w="47625">
            <a:solidFill>
              <a:srgbClr val="2BA6CB"/>
            </a:solidFill>
            <a:prstDash val="sysDot"/>
            <a:tailEnd type="triangle"/>
          </a:ln>
        </p:spPr>
      </p:sp>
      <p:sp>
        <p:nvSpPr>
          <p:cNvPr id="6" name="Text 4"/>
          <p:cNvSpPr/>
          <p:nvPr/>
        </p:nvSpPr>
        <p:spPr>
          <a:xfrm>
            <a:off x="3046350" y="2962747"/>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200443"/>
            <a:ext cx="822480" cy="0"/>
          </a:xfrm>
          <a:prstGeom prst="line">
            <a:avLst/>
          </a:prstGeom>
          <a:noFill/>
          <a:ln w="31750">
            <a:solidFill>
              <a:srgbClr val="CBD5E3"/>
            </a:solidFill>
            <a:prstDash val="solid"/>
            <a:tailEnd type="triangle"/>
          </a:ln>
        </p:spPr>
      </p:sp>
      <p:sp>
        <p:nvSpPr>
          <p:cNvPr id="9" name="Text 7"/>
          <p:cNvSpPr/>
          <p:nvPr/>
        </p:nvSpPr>
        <p:spPr>
          <a:xfrm>
            <a:off x="5970723" y="2962747"/>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200443"/>
            <a:ext cx="639707" cy="0"/>
          </a:xfrm>
          <a:prstGeom prst="line">
            <a:avLst/>
          </a:prstGeom>
          <a:noFill/>
          <a:ln w="31750">
            <a:solidFill>
              <a:srgbClr val="CBD5E3"/>
            </a:solidFill>
            <a:prstDash val="solid"/>
            <a:tailEnd type="triangle"/>
          </a:ln>
        </p:spPr>
      </p:sp>
      <p:sp>
        <p:nvSpPr>
          <p:cNvPr id="12" name="Text 10"/>
          <p:cNvSpPr/>
          <p:nvPr/>
        </p:nvSpPr>
        <p:spPr>
          <a:xfrm>
            <a:off x="8646258"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a:off x="978195" y="2816619"/>
            <a:ext cx="2010507"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5" name="Shape 13"/>
          <p:cNvSpPr/>
          <p:nvPr/>
        </p:nvSpPr>
        <p:spPr>
          <a:xfrm>
            <a:off x="1069635" y="2990131"/>
            <a:ext cx="420624" cy="420624"/>
          </a:xfrm>
          <a:prstGeom prst="ellipse">
            <a:avLst/>
          </a:prstGeom>
          <a:solidFill>
            <a:srgbClr val="E3F4FA"/>
          </a:solidFill>
          <a:ln w="12700">
            <a:solidFill>
              <a:srgbClr val="E3F4FA"/>
            </a:solidFill>
            <a:prstDash val="solid"/>
          </a:ln>
        </p:spPr>
      </p:sp>
      <p:sp>
        <p:nvSpPr>
          <p:cNvPr id="16" name="Icono gauge"/>
          <p:cNvSpPr/>
          <p:nvPr/>
        </p:nvSpPr>
        <p:spPr>
          <a:xfrm>
            <a:off x="1124499" y="3044995"/>
            <a:ext cx="310896" cy="310896"/>
          </a:xfrm>
          <a:custGeom>
            <a:avLst/>
            <a:gdLst/>
            <a:ahLst/>
            <a:cxnLst/>
            <a:rect l="l" t="t" r="r" b="b"/>
            <a:pathLst>
              <a:path w="310896" h="310896">
                <a:moveTo>
                  <a:pt x="155448" y="181356"/>
                </a:moveTo>
                <a:lnTo>
                  <a:pt x="207264" y="129540"/>
                </a:lnTo>
                <a:moveTo>
                  <a:pt x="43266" y="246126"/>
                </a:moveTo>
                <a:cubicBezTo>
                  <a:pt x="11830" y="191684"/>
                  <a:pt x="24022" y="122529"/>
                  <a:pt x="72180" y="82118"/>
                </a:cubicBezTo>
                <a:cubicBezTo>
                  <a:pt x="120338" y="41708"/>
                  <a:pt x="190558" y="41708"/>
                  <a:pt x="238716" y="82118"/>
                </a:cubicBezTo>
                <a:cubicBezTo>
                  <a:pt x="286874" y="122529"/>
                  <a:pt x="299066" y="191684"/>
                  <a:pt x="267630" y="246126"/>
                </a:cubicBezTo>
              </a:path>
            </a:pathLst>
          </a:custGeom>
          <a:noFill/>
          <a:ln w="25908" cap="rnd">
            <a:solidFill>
              <a:srgbClr val="0B6E8A"/>
            </a:solidFill>
            <a:prstDash val="solid"/>
            <a:round/>
          </a:ln>
        </p:spPr>
      </p:sp>
      <p:sp>
        <p:nvSpPr>
          <p:cNvPr id="17" name="Text 15"/>
          <p:cNvSpPr/>
          <p:nvPr/>
        </p:nvSpPr>
        <p:spPr>
          <a:xfrm>
            <a:off x="1545123"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Micrometer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mediciones dentro de la app</a:t>
            </a:r>
            <a:endParaRPr lang="en-US" sz="1079" dirty="0"/>
          </a:p>
        </p:txBody>
      </p:sp>
      <p:sp>
        <p:nvSpPr>
          <p:cNvPr id="18" name="Shape 16"/>
          <p:cNvSpPr/>
          <p:nvPr/>
        </p:nvSpPr>
        <p:spPr>
          <a:xfrm>
            <a:off x="3628408" y="2816619"/>
            <a:ext cx="2193280"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9" name="Shape 17"/>
          <p:cNvSpPr/>
          <p:nvPr/>
        </p:nvSpPr>
        <p:spPr>
          <a:xfrm>
            <a:off x="3719848" y="2990131"/>
            <a:ext cx="420624" cy="420624"/>
          </a:xfrm>
          <a:prstGeom prst="ellipse">
            <a:avLst/>
          </a:prstGeom>
          <a:solidFill>
            <a:srgbClr val="E3F4FA"/>
          </a:solidFill>
          <a:ln w="12700">
            <a:solidFill>
              <a:srgbClr val="E3F4FA"/>
            </a:solidFill>
            <a:prstDash val="solid"/>
          </a:ln>
        </p:spPr>
      </p:sp>
      <p:sp>
        <p:nvSpPr>
          <p:cNvPr id="20" name="Icono heart-pulse"/>
          <p:cNvSpPr/>
          <p:nvPr/>
        </p:nvSpPr>
        <p:spPr>
          <a:xfrm>
            <a:off x="3774712" y="3044995"/>
            <a:ext cx="310896" cy="310896"/>
          </a:xfrm>
          <a:custGeom>
            <a:avLst/>
            <a:gdLst/>
            <a:ahLst/>
            <a:cxnLst/>
            <a:rect l="l" t="t" r="r" b="b"/>
            <a:pathLst>
              <a:path w="310896" h="310896">
                <a:moveTo>
                  <a:pt x="246126" y="181356"/>
                </a:moveTo>
                <a:cubicBezTo>
                  <a:pt x="265427" y="162443"/>
                  <a:pt x="284988" y="139774"/>
                  <a:pt x="284988" y="110109"/>
                </a:cubicBezTo>
                <a:cubicBezTo>
                  <a:pt x="284988" y="70760"/>
                  <a:pt x="253090" y="38862"/>
                  <a:pt x="213741" y="38862"/>
                </a:cubicBezTo>
                <a:cubicBezTo>
                  <a:pt x="190942" y="38862"/>
                  <a:pt x="174879" y="45339"/>
                  <a:pt x="155448" y="64770"/>
                </a:cubicBezTo>
                <a:cubicBezTo>
                  <a:pt x="136017" y="45339"/>
                  <a:pt x="119954" y="38862"/>
                  <a:pt x="97155" y="38862"/>
                </a:cubicBezTo>
                <a:cubicBezTo>
                  <a:pt x="57806" y="38862"/>
                  <a:pt x="25908" y="70760"/>
                  <a:pt x="25908" y="110109"/>
                </a:cubicBezTo>
                <a:cubicBezTo>
                  <a:pt x="25908" y="139903"/>
                  <a:pt x="45339" y="162573"/>
                  <a:pt x="64770" y="181356"/>
                </a:cubicBezTo>
                <a:lnTo>
                  <a:pt x="155448" y="272034"/>
                </a:lnTo>
                <a:close/>
                <a:moveTo>
                  <a:pt x="41712" y="155448"/>
                </a:moveTo>
                <a:lnTo>
                  <a:pt x="123063" y="155448"/>
                </a:lnTo>
                <a:lnTo>
                  <a:pt x="129540" y="142494"/>
                </a:lnTo>
                <a:lnTo>
                  <a:pt x="155448" y="200787"/>
                </a:lnTo>
                <a:lnTo>
                  <a:pt x="181356" y="110109"/>
                </a:lnTo>
                <a:lnTo>
                  <a:pt x="200787" y="155448"/>
                </a:lnTo>
                <a:lnTo>
                  <a:pt x="269055" y="155448"/>
                </a:lnTo>
              </a:path>
            </a:pathLst>
          </a:custGeom>
          <a:noFill/>
          <a:ln w="25908" cap="rnd">
            <a:solidFill>
              <a:srgbClr val="0B6E8A"/>
            </a:solidFill>
            <a:prstDash val="solid"/>
            <a:round/>
          </a:ln>
        </p:spPr>
      </p:sp>
      <p:sp>
        <p:nvSpPr>
          <p:cNvPr id="21" name="Text 19"/>
          <p:cNvSpPr/>
          <p:nvPr/>
        </p:nvSpPr>
        <p:spPr>
          <a:xfrm>
            <a:off x="4195336" y="2816619"/>
            <a:ext cx="1571488"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Actuator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/actuator/prometheus · /health</a:t>
            </a:r>
            <a:endParaRPr lang="en-US" sz="1079" dirty="0"/>
          </a:p>
        </p:txBody>
      </p:sp>
      <p:sp>
        <p:nvSpPr>
          <p:cNvPr id="22" name="Shape 20"/>
          <p:cNvSpPr/>
          <p:nvPr/>
        </p:nvSpPr>
        <p:spPr>
          <a:xfrm>
            <a:off x="6644168" y="2816619"/>
            <a:ext cx="2010507" cy="767648"/>
          </a:xfrm>
          <a:prstGeom prst="roundRect">
            <a:avLst>
              <a:gd name="adj" fmla="val 10721"/>
            </a:avLst>
          </a:prstGeom>
          <a:solidFill>
            <a:srgbClr val="FFFFFF"/>
          </a:solidFill>
          <a:ln w="12700">
            <a:solidFill>
              <a:srgbClr val="55627E"/>
            </a:solidFill>
            <a:prstDash val="dash"/>
          </a:ln>
        </p:spPr>
      </p:sp>
      <p:sp>
        <p:nvSpPr>
          <p:cNvPr id="23" name="Shape 21"/>
          <p:cNvSpPr/>
          <p:nvPr/>
        </p:nvSpPr>
        <p:spPr>
          <a:xfrm>
            <a:off x="6735608" y="2990131"/>
            <a:ext cx="420624" cy="420624"/>
          </a:xfrm>
          <a:prstGeom prst="ellipse">
            <a:avLst/>
          </a:prstGeom>
          <a:solidFill>
            <a:srgbClr val="EEF2F7"/>
          </a:solidFill>
          <a:ln w="12700">
            <a:solidFill>
              <a:srgbClr val="EEF2F7"/>
            </a:solidFill>
            <a:prstDash val="solid"/>
          </a:ln>
        </p:spPr>
      </p:sp>
      <p:sp>
        <p:nvSpPr>
          <p:cNvPr id="24" name="Icono activity"/>
          <p:cNvSpPr/>
          <p:nvPr/>
        </p:nvSpPr>
        <p:spPr>
          <a:xfrm>
            <a:off x="6790472" y="3044995"/>
            <a:ext cx="310896" cy="310896"/>
          </a:xfrm>
          <a:custGeom>
            <a:avLst/>
            <a:gdLst/>
            <a:ahLst/>
            <a:cxnLst/>
            <a:rect l="l" t="t" r="r" b="b"/>
            <a:pathLst>
              <a:path w="310896" h="310896">
                <a:moveTo>
                  <a:pt x="284988" y="155448"/>
                </a:moveTo>
                <a:lnTo>
                  <a:pt x="252862" y="155448"/>
                </a:lnTo>
                <a:cubicBezTo>
                  <a:pt x="241227" y="155423"/>
                  <a:pt x="231002" y="163158"/>
                  <a:pt x="227861" y="174361"/>
                </a:cubicBezTo>
                <a:lnTo>
                  <a:pt x="197419" y="282656"/>
                </a:lnTo>
                <a:cubicBezTo>
                  <a:pt x="197016" y="284038"/>
                  <a:pt x="195749" y="284988"/>
                  <a:pt x="194310" y="284988"/>
                </a:cubicBezTo>
                <a:cubicBezTo>
                  <a:pt x="192871" y="284988"/>
                  <a:pt x="191604" y="284038"/>
                  <a:pt x="191201" y="282656"/>
                </a:cubicBezTo>
                <a:lnTo>
                  <a:pt x="119695" y="28240"/>
                </a:lnTo>
                <a:cubicBezTo>
                  <a:pt x="119292" y="26858"/>
                  <a:pt x="118025" y="25908"/>
                  <a:pt x="116586" y="25908"/>
                </a:cubicBezTo>
                <a:cubicBezTo>
                  <a:pt x="115147" y="25908"/>
                  <a:pt x="113880" y="26858"/>
                  <a:pt x="113477" y="28240"/>
                </a:cubicBezTo>
                <a:lnTo>
                  <a:pt x="83035" y="136535"/>
                </a:lnTo>
                <a:cubicBezTo>
                  <a:pt x="79907" y="147692"/>
                  <a:pt x="69751" y="155415"/>
                  <a:pt x="58163" y="155448"/>
                </a:cubicBezTo>
                <a:lnTo>
                  <a:pt x="25908" y="155448"/>
                </a:lnTo>
              </a:path>
            </a:pathLst>
          </a:custGeom>
          <a:noFill/>
          <a:ln w="25908" cap="rnd">
            <a:solidFill>
              <a:srgbClr val="A9B4C6"/>
            </a:solidFill>
            <a:prstDash val="solid"/>
            <a:round/>
          </a:ln>
        </p:spPr>
      </p:sp>
      <p:sp>
        <p:nvSpPr>
          <p:cNvPr id="25" name="Text 23"/>
          <p:cNvSpPr/>
          <p:nvPr/>
        </p:nvSpPr>
        <p:spPr>
          <a:xfrm>
            <a:off x="7211096"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Prometheus</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no está en Compose</a:t>
            </a:r>
            <a:endParaRPr lang="en-US" sz="1079" dirty="0"/>
          </a:p>
        </p:txBody>
      </p:sp>
      <p:sp>
        <p:nvSpPr>
          <p:cNvPr id="26" name="Shape 24"/>
          <p:cNvSpPr/>
          <p:nvPr/>
        </p:nvSpPr>
        <p:spPr>
          <a:xfrm>
            <a:off x="9294381" y="2816619"/>
            <a:ext cx="2010507" cy="767648"/>
          </a:xfrm>
          <a:prstGeom prst="roundRect">
            <a:avLst>
              <a:gd name="adj" fmla="val 10721"/>
            </a:avLst>
          </a:prstGeom>
          <a:solidFill>
            <a:srgbClr val="FFFFFF"/>
          </a:solidFill>
          <a:ln w="12700">
            <a:solidFill>
              <a:srgbClr val="55627E"/>
            </a:solidFill>
            <a:prstDash val="dash"/>
          </a:ln>
        </p:spPr>
      </p:sp>
      <p:sp>
        <p:nvSpPr>
          <p:cNvPr id="27" name="Shape 25"/>
          <p:cNvSpPr/>
          <p:nvPr/>
        </p:nvSpPr>
        <p:spPr>
          <a:xfrm>
            <a:off x="9385821" y="2990131"/>
            <a:ext cx="420624" cy="420624"/>
          </a:xfrm>
          <a:prstGeom prst="ellipse">
            <a:avLst/>
          </a:prstGeom>
          <a:solidFill>
            <a:srgbClr val="EEF2F7"/>
          </a:solidFill>
          <a:ln w="12700">
            <a:solidFill>
              <a:srgbClr val="EEF2F7"/>
            </a:solidFill>
            <a:prstDash val="solid"/>
          </a:ln>
        </p:spPr>
      </p:sp>
      <p:sp>
        <p:nvSpPr>
          <p:cNvPr id="28" name="Icono chart-line"/>
          <p:cNvSpPr/>
          <p:nvPr/>
        </p:nvSpPr>
        <p:spPr>
          <a:xfrm>
            <a:off x="9440685"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29" name="Text 27"/>
          <p:cNvSpPr/>
          <p:nvPr/>
        </p:nvSpPr>
        <p:spPr>
          <a:xfrm>
            <a:off x="9861309"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Prometheus pendiente</a:t>
            </a:r>
            <a:endParaRPr lang="en-US" sz="1079" dirty="0"/>
          </a:p>
        </p:txBody>
      </p:sp>
      <p:sp>
        <p:nvSpPr>
          <p:cNvPr id="30" name="Shape 28"/>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2" name="Text 3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mide cosas como cuántas peticiones recibe.</a:t>
            </a:r>
            <a:endParaRPr lang="en-US" sz="1300" dirty="0"/>
          </a:p>
        </p:txBody>
      </p:sp>
      <p:sp>
        <p:nvSpPr>
          <p:cNvPr id="33" name="Shape 3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5" name="Text 3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Actuator expone esas mediciones y también la salud del servicio.</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200443"/>
            <a:ext cx="639707" cy="0"/>
          </a:xfrm>
          <a:prstGeom prst="line">
            <a:avLst/>
          </a:prstGeom>
          <a:noFill/>
          <a:ln w="31750">
            <a:solidFill>
              <a:srgbClr val="55627E"/>
            </a:solidFill>
            <a:prstDash val="sysDot"/>
            <a:tailEnd type="triangle"/>
          </a:ln>
        </p:spPr>
      </p:sp>
      <p:sp>
        <p:nvSpPr>
          <p:cNvPr id="6" name="Text 4"/>
          <p:cNvSpPr/>
          <p:nvPr/>
        </p:nvSpPr>
        <p:spPr>
          <a:xfrm>
            <a:off x="3046350"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200443"/>
            <a:ext cx="822480" cy="0"/>
          </a:xfrm>
          <a:prstGeom prst="line">
            <a:avLst/>
          </a:prstGeom>
          <a:noFill/>
          <a:ln w="47625">
            <a:solidFill>
              <a:srgbClr val="2BA6CB"/>
            </a:solidFill>
            <a:prstDash val="solid"/>
            <a:tailEnd type="triangle"/>
          </a:ln>
        </p:spPr>
      </p:sp>
      <p:sp>
        <p:nvSpPr>
          <p:cNvPr id="9" name="Text 7"/>
          <p:cNvSpPr/>
          <p:nvPr/>
        </p:nvSpPr>
        <p:spPr>
          <a:xfrm>
            <a:off x="5970723" y="2962747"/>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200443"/>
            <a:ext cx="639707" cy="0"/>
          </a:xfrm>
          <a:prstGeom prst="line">
            <a:avLst/>
          </a:prstGeom>
          <a:noFill/>
          <a:ln w="31750">
            <a:solidFill>
              <a:srgbClr val="CBD5E3"/>
            </a:solidFill>
            <a:prstDash val="solid"/>
            <a:tailEnd type="triangle"/>
          </a:ln>
        </p:spPr>
      </p:sp>
      <p:sp>
        <p:nvSpPr>
          <p:cNvPr id="12" name="Text 10"/>
          <p:cNvSpPr/>
          <p:nvPr/>
        </p:nvSpPr>
        <p:spPr>
          <a:xfrm>
            <a:off x="8646258"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a:off x="978195" y="2816619"/>
            <a:ext cx="2010507"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1069635" y="2990131"/>
            <a:ext cx="420624" cy="420624"/>
          </a:xfrm>
          <a:prstGeom prst="ellipse">
            <a:avLst/>
          </a:prstGeom>
          <a:solidFill>
            <a:srgbClr val="E2E5EA"/>
          </a:solidFill>
          <a:ln w="12700">
            <a:solidFill>
              <a:srgbClr val="E2E5EA"/>
            </a:solidFill>
            <a:prstDash val="solid"/>
          </a:ln>
        </p:spPr>
      </p:sp>
      <p:sp>
        <p:nvSpPr>
          <p:cNvPr id="16" name="Icono gauge"/>
          <p:cNvSpPr/>
          <p:nvPr/>
        </p:nvSpPr>
        <p:spPr>
          <a:xfrm>
            <a:off x="1124499" y="3044995"/>
            <a:ext cx="310896" cy="310896"/>
          </a:xfrm>
          <a:custGeom>
            <a:avLst/>
            <a:gdLst/>
            <a:ahLst/>
            <a:cxnLst/>
            <a:rect l="l" t="t" r="r" b="b"/>
            <a:pathLst>
              <a:path w="310896" h="310896">
                <a:moveTo>
                  <a:pt x="155448" y="181356"/>
                </a:moveTo>
                <a:lnTo>
                  <a:pt x="207264" y="129540"/>
                </a:lnTo>
                <a:moveTo>
                  <a:pt x="43266" y="246126"/>
                </a:moveTo>
                <a:cubicBezTo>
                  <a:pt x="11830" y="191684"/>
                  <a:pt x="24022" y="122529"/>
                  <a:pt x="72180" y="82118"/>
                </a:cubicBezTo>
                <a:cubicBezTo>
                  <a:pt x="120338" y="41708"/>
                  <a:pt x="190558" y="41708"/>
                  <a:pt x="238716" y="82118"/>
                </a:cubicBezTo>
                <a:cubicBezTo>
                  <a:pt x="286874" y="122529"/>
                  <a:pt x="299066" y="191684"/>
                  <a:pt x="267630" y="246126"/>
                </a:cubicBezTo>
              </a:path>
            </a:pathLst>
          </a:custGeom>
          <a:noFill/>
          <a:ln w="25908" cap="rnd">
            <a:solidFill>
              <a:srgbClr val="0B2350"/>
            </a:solidFill>
            <a:prstDash val="solid"/>
            <a:round/>
          </a:ln>
        </p:spPr>
      </p:sp>
      <p:sp>
        <p:nvSpPr>
          <p:cNvPr id="17" name="Text 15"/>
          <p:cNvSpPr/>
          <p:nvPr/>
        </p:nvSpPr>
        <p:spPr>
          <a:xfrm>
            <a:off x="1545123"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Micrometer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mediciones dentro de la app</a:t>
            </a:r>
            <a:endParaRPr lang="en-US" sz="1079" dirty="0"/>
          </a:p>
        </p:txBody>
      </p:sp>
      <p:sp>
        <p:nvSpPr>
          <p:cNvPr id="18" name="Shape 16"/>
          <p:cNvSpPr/>
          <p:nvPr/>
        </p:nvSpPr>
        <p:spPr>
          <a:xfrm>
            <a:off x="3628408" y="2816619"/>
            <a:ext cx="2193280"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3719848" y="2990131"/>
            <a:ext cx="420624" cy="420624"/>
          </a:xfrm>
          <a:prstGeom prst="ellipse">
            <a:avLst/>
          </a:prstGeom>
          <a:solidFill>
            <a:srgbClr val="E2E5EA"/>
          </a:solidFill>
          <a:ln w="12700">
            <a:solidFill>
              <a:srgbClr val="E2E5EA"/>
            </a:solidFill>
            <a:prstDash val="solid"/>
          </a:ln>
        </p:spPr>
      </p:sp>
      <p:sp>
        <p:nvSpPr>
          <p:cNvPr id="20" name="Icono heart-pulse"/>
          <p:cNvSpPr/>
          <p:nvPr/>
        </p:nvSpPr>
        <p:spPr>
          <a:xfrm>
            <a:off x="3774712" y="3044995"/>
            <a:ext cx="310896" cy="310896"/>
          </a:xfrm>
          <a:custGeom>
            <a:avLst/>
            <a:gdLst/>
            <a:ahLst/>
            <a:cxnLst/>
            <a:rect l="l" t="t" r="r" b="b"/>
            <a:pathLst>
              <a:path w="310896" h="310896">
                <a:moveTo>
                  <a:pt x="246126" y="181356"/>
                </a:moveTo>
                <a:cubicBezTo>
                  <a:pt x="265427" y="162443"/>
                  <a:pt x="284988" y="139774"/>
                  <a:pt x="284988" y="110109"/>
                </a:cubicBezTo>
                <a:cubicBezTo>
                  <a:pt x="284988" y="70760"/>
                  <a:pt x="253090" y="38862"/>
                  <a:pt x="213741" y="38862"/>
                </a:cubicBezTo>
                <a:cubicBezTo>
                  <a:pt x="190942" y="38862"/>
                  <a:pt x="174879" y="45339"/>
                  <a:pt x="155448" y="64770"/>
                </a:cubicBezTo>
                <a:cubicBezTo>
                  <a:pt x="136017" y="45339"/>
                  <a:pt x="119954" y="38862"/>
                  <a:pt x="97155" y="38862"/>
                </a:cubicBezTo>
                <a:cubicBezTo>
                  <a:pt x="57806" y="38862"/>
                  <a:pt x="25908" y="70760"/>
                  <a:pt x="25908" y="110109"/>
                </a:cubicBezTo>
                <a:cubicBezTo>
                  <a:pt x="25908" y="139903"/>
                  <a:pt x="45339" y="162573"/>
                  <a:pt x="64770" y="181356"/>
                </a:cubicBezTo>
                <a:lnTo>
                  <a:pt x="155448" y="272034"/>
                </a:lnTo>
                <a:close/>
                <a:moveTo>
                  <a:pt x="41712" y="155448"/>
                </a:moveTo>
                <a:lnTo>
                  <a:pt x="123063" y="155448"/>
                </a:lnTo>
                <a:lnTo>
                  <a:pt x="129540" y="142494"/>
                </a:lnTo>
                <a:lnTo>
                  <a:pt x="155448" y="200787"/>
                </a:lnTo>
                <a:lnTo>
                  <a:pt x="181356" y="110109"/>
                </a:lnTo>
                <a:lnTo>
                  <a:pt x="200787" y="155448"/>
                </a:lnTo>
                <a:lnTo>
                  <a:pt x="269055" y="155448"/>
                </a:lnTo>
              </a:path>
            </a:pathLst>
          </a:custGeom>
          <a:noFill/>
          <a:ln w="25908" cap="rnd">
            <a:solidFill>
              <a:srgbClr val="0B2350"/>
            </a:solidFill>
            <a:prstDash val="solid"/>
            <a:round/>
          </a:ln>
        </p:spPr>
      </p:sp>
      <p:sp>
        <p:nvSpPr>
          <p:cNvPr id="21" name="Text 19"/>
          <p:cNvSpPr/>
          <p:nvPr/>
        </p:nvSpPr>
        <p:spPr>
          <a:xfrm>
            <a:off x="4195336" y="2816619"/>
            <a:ext cx="1571488"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Actuator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/actuator/prometheus · /health</a:t>
            </a:r>
            <a:endParaRPr lang="en-US" sz="1079" dirty="0"/>
          </a:p>
        </p:txBody>
      </p:sp>
      <p:sp>
        <p:nvSpPr>
          <p:cNvPr id="22" name="Shape 20"/>
          <p:cNvSpPr/>
          <p:nvPr/>
        </p:nvSpPr>
        <p:spPr>
          <a:xfrm>
            <a:off x="6644168" y="2816619"/>
            <a:ext cx="2010507" cy="767648"/>
          </a:xfrm>
          <a:prstGeom prst="roundRect">
            <a:avLst>
              <a:gd name="adj" fmla="val 10721"/>
            </a:avLst>
          </a:prstGeom>
          <a:solidFill>
            <a:srgbClr val="FFFFFF"/>
          </a:solidFill>
          <a:ln w="28575">
            <a:solidFill>
              <a:srgbClr val="2BA6CB"/>
            </a:solidFill>
            <a:prstDash val="dash"/>
          </a:ln>
        </p:spPr>
      </p:sp>
      <p:sp>
        <p:nvSpPr>
          <p:cNvPr id="23" name="Shape 21"/>
          <p:cNvSpPr/>
          <p:nvPr/>
        </p:nvSpPr>
        <p:spPr>
          <a:xfrm>
            <a:off x="6735608" y="2990131"/>
            <a:ext cx="420624" cy="420624"/>
          </a:xfrm>
          <a:prstGeom prst="ellipse">
            <a:avLst/>
          </a:prstGeom>
          <a:solidFill>
            <a:srgbClr val="E3F4FA"/>
          </a:solidFill>
          <a:ln w="12700">
            <a:solidFill>
              <a:srgbClr val="E3F4FA"/>
            </a:solidFill>
            <a:prstDash val="solid"/>
          </a:ln>
        </p:spPr>
      </p:sp>
      <p:sp>
        <p:nvSpPr>
          <p:cNvPr id="24" name="Icono activity"/>
          <p:cNvSpPr/>
          <p:nvPr/>
        </p:nvSpPr>
        <p:spPr>
          <a:xfrm>
            <a:off x="6790472" y="3044995"/>
            <a:ext cx="310896" cy="310896"/>
          </a:xfrm>
          <a:custGeom>
            <a:avLst/>
            <a:gdLst/>
            <a:ahLst/>
            <a:cxnLst/>
            <a:rect l="l" t="t" r="r" b="b"/>
            <a:pathLst>
              <a:path w="310896" h="310896">
                <a:moveTo>
                  <a:pt x="284988" y="155448"/>
                </a:moveTo>
                <a:lnTo>
                  <a:pt x="252862" y="155448"/>
                </a:lnTo>
                <a:cubicBezTo>
                  <a:pt x="241227" y="155423"/>
                  <a:pt x="231002" y="163158"/>
                  <a:pt x="227861" y="174361"/>
                </a:cubicBezTo>
                <a:lnTo>
                  <a:pt x="197419" y="282656"/>
                </a:lnTo>
                <a:cubicBezTo>
                  <a:pt x="197016" y="284038"/>
                  <a:pt x="195749" y="284988"/>
                  <a:pt x="194310" y="284988"/>
                </a:cubicBezTo>
                <a:cubicBezTo>
                  <a:pt x="192871" y="284988"/>
                  <a:pt x="191604" y="284038"/>
                  <a:pt x="191201" y="282656"/>
                </a:cubicBezTo>
                <a:lnTo>
                  <a:pt x="119695" y="28240"/>
                </a:lnTo>
                <a:cubicBezTo>
                  <a:pt x="119292" y="26858"/>
                  <a:pt x="118025" y="25908"/>
                  <a:pt x="116586" y="25908"/>
                </a:cubicBezTo>
                <a:cubicBezTo>
                  <a:pt x="115147" y="25908"/>
                  <a:pt x="113880" y="26858"/>
                  <a:pt x="113477" y="28240"/>
                </a:cubicBezTo>
                <a:lnTo>
                  <a:pt x="83035" y="136535"/>
                </a:lnTo>
                <a:cubicBezTo>
                  <a:pt x="79907" y="147692"/>
                  <a:pt x="69751" y="155415"/>
                  <a:pt x="58163" y="155448"/>
                </a:cubicBezTo>
                <a:lnTo>
                  <a:pt x="25908" y="155448"/>
                </a:lnTo>
              </a:path>
            </a:pathLst>
          </a:custGeom>
          <a:noFill/>
          <a:ln w="25908" cap="rnd">
            <a:solidFill>
              <a:srgbClr val="0B6E8A"/>
            </a:solidFill>
            <a:prstDash val="solid"/>
            <a:round/>
          </a:ln>
        </p:spPr>
      </p:sp>
      <p:sp>
        <p:nvSpPr>
          <p:cNvPr id="25" name="Text 23"/>
          <p:cNvSpPr/>
          <p:nvPr/>
        </p:nvSpPr>
        <p:spPr>
          <a:xfrm>
            <a:off x="7211096"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Prometheus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no está en Compose</a:t>
            </a:r>
            <a:endParaRPr lang="en-US" sz="1079" dirty="0"/>
          </a:p>
        </p:txBody>
      </p:sp>
      <p:sp>
        <p:nvSpPr>
          <p:cNvPr id="26" name="Shape 24"/>
          <p:cNvSpPr/>
          <p:nvPr/>
        </p:nvSpPr>
        <p:spPr>
          <a:xfrm>
            <a:off x="9294381" y="2816619"/>
            <a:ext cx="2010507" cy="767648"/>
          </a:xfrm>
          <a:prstGeom prst="roundRect">
            <a:avLst>
              <a:gd name="adj" fmla="val 10721"/>
            </a:avLst>
          </a:prstGeom>
          <a:solidFill>
            <a:srgbClr val="FFFFFF"/>
          </a:solidFill>
          <a:ln w="12700">
            <a:solidFill>
              <a:srgbClr val="55627E"/>
            </a:solidFill>
            <a:prstDash val="dash"/>
          </a:ln>
        </p:spPr>
      </p:sp>
      <p:sp>
        <p:nvSpPr>
          <p:cNvPr id="27" name="Shape 25"/>
          <p:cNvSpPr/>
          <p:nvPr/>
        </p:nvSpPr>
        <p:spPr>
          <a:xfrm>
            <a:off x="9385821" y="2990131"/>
            <a:ext cx="420624" cy="420624"/>
          </a:xfrm>
          <a:prstGeom prst="ellipse">
            <a:avLst/>
          </a:prstGeom>
          <a:solidFill>
            <a:srgbClr val="EEF2F7"/>
          </a:solidFill>
          <a:ln w="12700">
            <a:solidFill>
              <a:srgbClr val="EEF2F7"/>
            </a:solidFill>
            <a:prstDash val="solid"/>
          </a:ln>
        </p:spPr>
      </p:sp>
      <p:sp>
        <p:nvSpPr>
          <p:cNvPr id="28" name="Icono chart-line"/>
          <p:cNvSpPr/>
          <p:nvPr/>
        </p:nvSpPr>
        <p:spPr>
          <a:xfrm>
            <a:off x="9440685"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29" name="Text 27"/>
          <p:cNvSpPr/>
          <p:nvPr/>
        </p:nvSpPr>
        <p:spPr>
          <a:xfrm>
            <a:off x="9861309"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Prometheus pendiente</a:t>
            </a:r>
            <a:endParaRPr lang="en-US" sz="1079"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servidor Prometheus las guardaría en el tiempo. Hoy queda pendiente.</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200443"/>
            <a:ext cx="639707" cy="0"/>
          </a:xfrm>
          <a:prstGeom prst="line">
            <a:avLst/>
          </a:prstGeom>
          <a:noFill/>
          <a:ln w="31750">
            <a:solidFill>
              <a:srgbClr val="55627E"/>
            </a:solidFill>
            <a:prstDash val="sysDot"/>
            <a:tailEnd type="triangle"/>
          </a:ln>
        </p:spPr>
      </p:sp>
      <p:sp>
        <p:nvSpPr>
          <p:cNvPr id="6" name="Text 4"/>
          <p:cNvSpPr/>
          <p:nvPr/>
        </p:nvSpPr>
        <p:spPr>
          <a:xfrm>
            <a:off x="3046350"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200443"/>
            <a:ext cx="822480" cy="0"/>
          </a:xfrm>
          <a:prstGeom prst="line">
            <a:avLst/>
          </a:prstGeom>
          <a:noFill/>
          <a:ln w="31750">
            <a:solidFill>
              <a:srgbClr val="2E6DB4"/>
            </a:solidFill>
            <a:prstDash val="solid"/>
            <a:tailEnd type="triangle"/>
          </a:ln>
        </p:spPr>
      </p:sp>
      <p:sp>
        <p:nvSpPr>
          <p:cNvPr id="9" name="Text 7"/>
          <p:cNvSpPr/>
          <p:nvPr/>
        </p:nvSpPr>
        <p:spPr>
          <a:xfrm>
            <a:off x="5970723" y="2962747"/>
            <a:ext cx="52440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9071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200443"/>
            <a:ext cx="639707" cy="0"/>
          </a:xfrm>
          <a:prstGeom prst="line">
            <a:avLst/>
          </a:prstGeom>
          <a:noFill/>
          <a:ln w="47625">
            <a:solidFill>
              <a:srgbClr val="2BA6CB"/>
            </a:solidFill>
            <a:prstDash val="solid"/>
            <a:tailEnd type="triangle"/>
          </a:ln>
        </p:spPr>
      </p:sp>
      <p:sp>
        <p:nvSpPr>
          <p:cNvPr id="12" name="Text 10"/>
          <p:cNvSpPr/>
          <p:nvPr/>
        </p:nvSpPr>
        <p:spPr>
          <a:xfrm>
            <a:off x="8646258" y="2962747"/>
            <a:ext cx="656539"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a:off x="978195" y="2816619"/>
            <a:ext cx="2010507"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1069635" y="2990131"/>
            <a:ext cx="420624" cy="420624"/>
          </a:xfrm>
          <a:prstGeom prst="ellipse">
            <a:avLst/>
          </a:prstGeom>
          <a:solidFill>
            <a:srgbClr val="E2E5EA"/>
          </a:solidFill>
          <a:ln w="12700">
            <a:solidFill>
              <a:srgbClr val="E2E5EA"/>
            </a:solidFill>
            <a:prstDash val="solid"/>
          </a:ln>
        </p:spPr>
      </p:sp>
      <p:sp>
        <p:nvSpPr>
          <p:cNvPr id="16" name="Icono gauge"/>
          <p:cNvSpPr/>
          <p:nvPr/>
        </p:nvSpPr>
        <p:spPr>
          <a:xfrm>
            <a:off x="1124499" y="3044995"/>
            <a:ext cx="310896" cy="310896"/>
          </a:xfrm>
          <a:custGeom>
            <a:avLst/>
            <a:gdLst/>
            <a:ahLst/>
            <a:cxnLst/>
            <a:rect l="l" t="t" r="r" b="b"/>
            <a:pathLst>
              <a:path w="310896" h="310896">
                <a:moveTo>
                  <a:pt x="155448" y="181356"/>
                </a:moveTo>
                <a:lnTo>
                  <a:pt x="207264" y="129540"/>
                </a:lnTo>
                <a:moveTo>
                  <a:pt x="43266" y="246126"/>
                </a:moveTo>
                <a:cubicBezTo>
                  <a:pt x="11830" y="191684"/>
                  <a:pt x="24022" y="122529"/>
                  <a:pt x="72180" y="82118"/>
                </a:cubicBezTo>
                <a:cubicBezTo>
                  <a:pt x="120338" y="41708"/>
                  <a:pt x="190558" y="41708"/>
                  <a:pt x="238716" y="82118"/>
                </a:cubicBezTo>
                <a:cubicBezTo>
                  <a:pt x="286874" y="122529"/>
                  <a:pt x="299066" y="191684"/>
                  <a:pt x="267630" y="246126"/>
                </a:cubicBezTo>
              </a:path>
            </a:pathLst>
          </a:custGeom>
          <a:noFill/>
          <a:ln w="25908" cap="rnd">
            <a:solidFill>
              <a:srgbClr val="0B2350"/>
            </a:solidFill>
            <a:prstDash val="solid"/>
            <a:round/>
          </a:ln>
        </p:spPr>
      </p:sp>
      <p:sp>
        <p:nvSpPr>
          <p:cNvPr id="17" name="Text 15"/>
          <p:cNvSpPr/>
          <p:nvPr/>
        </p:nvSpPr>
        <p:spPr>
          <a:xfrm>
            <a:off x="1545123"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Micrometer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mediciones dentro de la app</a:t>
            </a:r>
            <a:endParaRPr lang="en-US" sz="1079" dirty="0"/>
          </a:p>
        </p:txBody>
      </p:sp>
      <p:sp>
        <p:nvSpPr>
          <p:cNvPr id="18" name="Shape 16"/>
          <p:cNvSpPr/>
          <p:nvPr/>
        </p:nvSpPr>
        <p:spPr>
          <a:xfrm>
            <a:off x="3628408" y="2816619"/>
            <a:ext cx="2193280"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3719848" y="2990131"/>
            <a:ext cx="420624" cy="420624"/>
          </a:xfrm>
          <a:prstGeom prst="ellipse">
            <a:avLst/>
          </a:prstGeom>
          <a:solidFill>
            <a:srgbClr val="E2E5EA"/>
          </a:solidFill>
          <a:ln w="12700">
            <a:solidFill>
              <a:srgbClr val="E2E5EA"/>
            </a:solidFill>
            <a:prstDash val="solid"/>
          </a:ln>
        </p:spPr>
      </p:sp>
      <p:sp>
        <p:nvSpPr>
          <p:cNvPr id="20" name="Icono heart-pulse"/>
          <p:cNvSpPr/>
          <p:nvPr/>
        </p:nvSpPr>
        <p:spPr>
          <a:xfrm>
            <a:off x="3774712" y="3044995"/>
            <a:ext cx="310896" cy="310896"/>
          </a:xfrm>
          <a:custGeom>
            <a:avLst/>
            <a:gdLst/>
            <a:ahLst/>
            <a:cxnLst/>
            <a:rect l="l" t="t" r="r" b="b"/>
            <a:pathLst>
              <a:path w="310896" h="310896">
                <a:moveTo>
                  <a:pt x="246126" y="181356"/>
                </a:moveTo>
                <a:cubicBezTo>
                  <a:pt x="265427" y="162443"/>
                  <a:pt x="284988" y="139774"/>
                  <a:pt x="284988" y="110109"/>
                </a:cubicBezTo>
                <a:cubicBezTo>
                  <a:pt x="284988" y="70760"/>
                  <a:pt x="253090" y="38862"/>
                  <a:pt x="213741" y="38862"/>
                </a:cubicBezTo>
                <a:cubicBezTo>
                  <a:pt x="190942" y="38862"/>
                  <a:pt x="174879" y="45339"/>
                  <a:pt x="155448" y="64770"/>
                </a:cubicBezTo>
                <a:cubicBezTo>
                  <a:pt x="136017" y="45339"/>
                  <a:pt x="119954" y="38862"/>
                  <a:pt x="97155" y="38862"/>
                </a:cubicBezTo>
                <a:cubicBezTo>
                  <a:pt x="57806" y="38862"/>
                  <a:pt x="25908" y="70760"/>
                  <a:pt x="25908" y="110109"/>
                </a:cubicBezTo>
                <a:cubicBezTo>
                  <a:pt x="25908" y="139903"/>
                  <a:pt x="45339" y="162573"/>
                  <a:pt x="64770" y="181356"/>
                </a:cubicBezTo>
                <a:lnTo>
                  <a:pt x="155448" y="272034"/>
                </a:lnTo>
                <a:close/>
                <a:moveTo>
                  <a:pt x="41712" y="155448"/>
                </a:moveTo>
                <a:lnTo>
                  <a:pt x="123063" y="155448"/>
                </a:lnTo>
                <a:lnTo>
                  <a:pt x="129540" y="142494"/>
                </a:lnTo>
                <a:lnTo>
                  <a:pt x="155448" y="200787"/>
                </a:lnTo>
                <a:lnTo>
                  <a:pt x="181356" y="110109"/>
                </a:lnTo>
                <a:lnTo>
                  <a:pt x="200787" y="155448"/>
                </a:lnTo>
                <a:lnTo>
                  <a:pt x="269055" y="155448"/>
                </a:lnTo>
              </a:path>
            </a:pathLst>
          </a:custGeom>
          <a:noFill/>
          <a:ln w="25908" cap="rnd">
            <a:solidFill>
              <a:srgbClr val="0B2350"/>
            </a:solidFill>
            <a:prstDash val="solid"/>
            <a:round/>
          </a:ln>
        </p:spPr>
      </p:sp>
      <p:sp>
        <p:nvSpPr>
          <p:cNvPr id="21" name="Text 19"/>
          <p:cNvSpPr/>
          <p:nvPr/>
        </p:nvSpPr>
        <p:spPr>
          <a:xfrm>
            <a:off x="4195336" y="2816619"/>
            <a:ext cx="1571488"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Actuator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/actuator/prometheus · /health</a:t>
            </a:r>
            <a:endParaRPr lang="en-US" sz="1079" dirty="0"/>
          </a:p>
        </p:txBody>
      </p:sp>
      <p:sp>
        <p:nvSpPr>
          <p:cNvPr id="22" name="Shape 20"/>
          <p:cNvSpPr/>
          <p:nvPr/>
        </p:nvSpPr>
        <p:spPr>
          <a:xfrm>
            <a:off x="6644168" y="2816619"/>
            <a:ext cx="2010507" cy="767648"/>
          </a:xfrm>
          <a:prstGeom prst="roundRect">
            <a:avLst>
              <a:gd name="adj" fmla="val 10721"/>
            </a:avLst>
          </a:prstGeom>
          <a:solidFill>
            <a:srgbClr val="FFFFFF"/>
          </a:solidFill>
          <a:ln w="12700">
            <a:solidFill>
              <a:srgbClr val="55627E"/>
            </a:solidFill>
            <a:prstDash val="dash"/>
          </a:ln>
        </p:spPr>
      </p:sp>
      <p:sp>
        <p:nvSpPr>
          <p:cNvPr id="23" name="Shape 21"/>
          <p:cNvSpPr/>
          <p:nvPr/>
        </p:nvSpPr>
        <p:spPr>
          <a:xfrm>
            <a:off x="6735608" y="2990131"/>
            <a:ext cx="420624" cy="420624"/>
          </a:xfrm>
          <a:prstGeom prst="ellipse">
            <a:avLst/>
          </a:prstGeom>
          <a:solidFill>
            <a:srgbClr val="E2E5EA"/>
          </a:solidFill>
          <a:ln w="12700">
            <a:solidFill>
              <a:srgbClr val="E2E5EA"/>
            </a:solidFill>
            <a:prstDash val="solid"/>
          </a:ln>
        </p:spPr>
      </p:sp>
      <p:sp>
        <p:nvSpPr>
          <p:cNvPr id="24" name="Icono activity"/>
          <p:cNvSpPr/>
          <p:nvPr/>
        </p:nvSpPr>
        <p:spPr>
          <a:xfrm>
            <a:off x="6790472" y="3044995"/>
            <a:ext cx="310896" cy="310896"/>
          </a:xfrm>
          <a:custGeom>
            <a:avLst/>
            <a:gdLst/>
            <a:ahLst/>
            <a:cxnLst/>
            <a:rect l="l" t="t" r="r" b="b"/>
            <a:pathLst>
              <a:path w="310896" h="310896">
                <a:moveTo>
                  <a:pt x="284988" y="155448"/>
                </a:moveTo>
                <a:lnTo>
                  <a:pt x="252862" y="155448"/>
                </a:lnTo>
                <a:cubicBezTo>
                  <a:pt x="241227" y="155423"/>
                  <a:pt x="231002" y="163158"/>
                  <a:pt x="227861" y="174361"/>
                </a:cubicBezTo>
                <a:lnTo>
                  <a:pt x="197419" y="282656"/>
                </a:lnTo>
                <a:cubicBezTo>
                  <a:pt x="197016" y="284038"/>
                  <a:pt x="195749" y="284988"/>
                  <a:pt x="194310" y="284988"/>
                </a:cubicBezTo>
                <a:cubicBezTo>
                  <a:pt x="192871" y="284988"/>
                  <a:pt x="191604" y="284038"/>
                  <a:pt x="191201" y="282656"/>
                </a:cubicBezTo>
                <a:lnTo>
                  <a:pt x="119695" y="28240"/>
                </a:lnTo>
                <a:cubicBezTo>
                  <a:pt x="119292" y="26858"/>
                  <a:pt x="118025" y="25908"/>
                  <a:pt x="116586" y="25908"/>
                </a:cubicBezTo>
                <a:cubicBezTo>
                  <a:pt x="115147" y="25908"/>
                  <a:pt x="113880" y="26858"/>
                  <a:pt x="113477" y="28240"/>
                </a:cubicBezTo>
                <a:lnTo>
                  <a:pt x="83035" y="136535"/>
                </a:lnTo>
                <a:cubicBezTo>
                  <a:pt x="79907" y="147692"/>
                  <a:pt x="69751" y="155415"/>
                  <a:pt x="58163" y="155448"/>
                </a:cubicBezTo>
                <a:lnTo>
                  <a:pt x="25908" y="155448"/>
                </a:lnTo>
              </a:path>
            </a:pathLst>
          </a:custGeom>
          <a:noFill/>
          <a:ln w="25908" cap="rnd">
            <a:solidFill>
              <a:srgbClr val="0B2350"/>
            </a:solidFill>
            <a:prstDash val="solid"/>
            <a:round/>
          </a:ln>
        </p:spPr>
      </p:sp>
      <p:sp>
        <p:nvSpPr>
          <p:cNvPr id="25" name="Text 23"/>
          <p:cNvSpPr/>
          <p:nvPr/>
        </p:nvSpPr>
        <p:spPr>
          <a:xfrm>
            <a:off x="7211096"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Prometheus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no está en Compose</a:t>
            </a:r>
            <a:endParaRPr lang="en-US" sz="1079" dirty="0"/>
          </a:p>
        </p:txBody>
      </p:sp>
      <p:sp>
        <p:nvSpPr>
          <p:cNvPr id="26" name="Shape 24"/>
          <p:cNvSpPr/>
          <p:nvPr/>
        </p:nvSpPr>
        <p:spPr>
          <a:xfrm>
            <a:off x="9294381" y="2816619"/>
            <a:ext cx="2010507" cy="767648"/>
          </a:xfrm>
          <a:prstGeom prst="roundRect">
            <a:avLst>
              <a:gd name="adj" fmla="val 10721"/>
            </a:avLst>
          </a:prstGeom>
          <a:solidFill>
            <a:srgbClr val="FFFFFF"/>
          </a:solidFill>
          <a:ln w="28575">
            <a:solidFill>
              <a:srgbClr val="2BA6CB"/>
            </a:solidFill>
            <a:prstDash val="dash"/>
          </a:ln>
        </p:spPr>
      </p:sp>
      <p:sp>
        <p:nvSpPr>
          <p:cNvPr id="27" name="Shape 25"/>
          <p:cNvSpPr/>
          <p:nvPr/>
        </p:nvSpPr>
        <p:spPr>
          <a:xfrm>
            <a:off x="9385821" y="2990131"/>
            <a:ext cx="420624" cy="420624"/>
          </a:xfrm>
          <a:prstGeom prst="ellipse">
            <a:avLst/>
          </a:prstGeom>
          <a:solidFill>
            <a:srgbClr val="E3F4FA"/>
          </a:solidFill>
          <a:ln w="12700">
            <a:solidFill>
              <a:srgbClr val="E3F4FA"/>
            </a:solidFill>
            <a:prstDash val="solid"/>
          </a:ln>
        </p:spPr>
      </p:sp>
      <p:sp>
        <p:nvSpPr>
          <p:cNvPr id="28" name="Icono chart-line"/>
          <p:cNvSpPr/>
          <p:nvPr/>
        </p:nvSpPr>
        <p:spPr>
          <a:xfrm>
            <a:off x="9440685"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0B6E8A"/>
            </a:solidFill>
            <a:prstDash val="solid"/>
            <a:round/>
          </a:ln>
        </p:spPr>
      </p:sp>
      <p:sp>
        <p:nvSpPr>
          <p:cNvPr id="29" name="Text 27"/>
          <p:cNvSpPr/>
          <p:nvPr/>
        </p:nvSpPr>
        <p:spPr>
          <a:xfrm>
            <a:off x="9861309"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fuente Prometheus pendiente</a:t>
            </a:r>
            <a:endParaRPr lang="en-US" sz="1079"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las mostraría en gráficos. También queda pendiente.</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monitor"/>
          <p:cNvSpPr/>
          <p:nvPr/>
        </p:nvSpPr>
        <p:spPr>
          <a:xfrm>
            <a:off x="9098280" y="1783080"/>
            <a:ext cx="1371600" cy="1371600"/>
          </a:xfrm>
          <a:custGeom>
            <a:avLst/>
            <a:gdLst/>
            <a:ahLst/>
            <a:cxnLst/>
            <a:rect l="l" t="t" r="r" b="b"/>
            <a:pathLst>
              <a:path w="1371600" h="1371600">
                <a:moveTo>
                  <a:pt x="228600" y="171450"/>
                </a:moveTo>
                <a:lnTo>
                  <a:pt x="1143000" y="171450"/>
                </a:lnTo>
                <a:cubicBezTo>
                  <a:pt x="1206126" y="171450"/>
                  <a:pt x="1257300" y="222624"/>
                  <a:pt x="1257300" y="285750"/>
                </a:cubicBezTo>
                <a:lnTo>
                  <a:pt x="1257300" y="857250"/>
                </a:lnTo>
                <a:cubicBezTo>
                  <a:pt x="1257300" y="920376"/>
                  <a:pt x="1206126" y="971550"/>
                  <a:pt x="1143000" y="971550"/>
                </a:cubicBezTo>
                <a:lnTo>
                  <a:pt x="228600" y="971550"/>
                </a:lnTo>
                <a:cubicBezTo>
                  <a:pt x="165474" y="971550"/>
                  <a:pt x="114300" y="920376"/>
                  <a:pt x="114300" y="857250"/>
                </a:cubicBezTo>
                <a:lnTo>
                  <a:pt x="114300" y="285750"/>
                </a:lnTo>
                <a:cubicBezTo>
                  <a:pt x="114300" y="222624"/>
                  <a:pt x="165474" y="171450"/>
                  <a:pt x="228600" y="171450"/>
                </a:cubicBezTo>
                <a:close/>
                <a:moveTo>
                  <a:pt x="457200" y="1200150"/>
                </a:moveTo>
                <a:lnTo>
                  <a:pt x="914400" y="1200150"/>
                </a:lnTo>
                <a:moveTo>
                  <a:pt x="685800" y="971550"/>
                </a:moveTo>
                <a:lnTo>
                  <a:pt x="685800" y="1200150"/>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7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2BA6CB"/>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2BA6CB"/>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2BA6CB"/>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07</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Ensamblaje: la UI</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La interfaz que junta los dos servicios y permite comprobar, en vivo, todo lo anterior.</a:t>
            </a:r>
            <a:endParaRPr lang="en-US" sz="1900" dirty="0"/>
          </a:p>
        </p:txBody>
      </p:sp>
      <p:sp>
        <p:nvSpPr>
          <p:cNvPr id="16" name="Text 14"/>
          <p:cNvSpPr/>
          <p:nvPr/>
        </p:nvSpPr>
        <p:spPr>
          <a:xfrm>
            <a:off x="758952" y="466344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Ensamblaje del sistema</a:t>
            </a:r>
            <a:endParaRPr lang="en-US" sz="1300" dirty="0"/>
          </a:p>
        </p:txBody>
      </p:sp>
      <p:sp>
        <p:nvSpPr>
          <p:cNvPr id="17" name="Text 15"/>
          <p:cNvSpPr/>
          <p:nvPr/>
        </p:nvSpPr>
        <p:spPr>
          <a:xfrm>
            <a:off x="3456432"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18" name="Text 16"/>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P7</a:t>
            </a:r>
            <a:endParaRPr lang="en-US" sz="1000" dirty="0"/>
          </a:p>
        </p:txBody>
      </p:sp>
      <p:sp>
        <p:nvSpPr>
          <p:cNvPr id="19" name="Text 17"/>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7 · Desarrollo</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la UI consume los dos servicios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navegador solo conoce /api</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nginx reenvía cada ruta al servicio que corresponde</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registra cada petición que hace</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 POST tarda, no lo repite sola</a:t>
            </a:r>
            <a:endParaRPr lang="en-US" sz="1100" dirty="0"/>
          </a:p>
        </p:txBody>
      </p:sp>
      <p:sp>
        <p:nvSpPr>
          <p:cNvPr id="9" name="Shape 7"/>
          <p:cNvSpPr/>
          <p:nvPr/>
        </p:nvSpPr>
        <p:spPr>
          <a:xfrm>
            <a:off x="2531768" y="3050121"/>
            <a:ext cx="639707" cy="0"/>
          </a:xfrm>
          <a:prstGeom prst="line">
            <a:avLst/>
          </a:prstGeom>
          <a:noFill/>
          <a:ln w="31750">
            <a:solidFill>
              <a:srgbClr val="55627E"/>
            </a:solidFill>
            <a:prstDash val="sysDot"/>
            <a:tailEnd type="triangle"/>
          </a:ln>
        </p:spPr>
      </p:sp>
      <p:sp>
        <p:nvSpPr>
          <p:cNvPr id="10" name="Text 8"/>
          <p:cNvSpPr/>
          <p:nvPr/>
        </p:nvSpPr>
        <p:spPr>
          <a:xfrm>
            <a:off x="2655482" y="28124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11" name="Text 9"/>
          <p:cNvSpPr/>
          <p:nvPr/>
        </p:nvSpPr>
        <p:spPr>
          <a:xfrm>
            <a:off x="2641368" y="29403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725048" y="3050121"/>
            <a:ext cx="639707" cy="0"/>
          </a:xfrm>
          <a:prstGeom prst="line">
            <a:avLst/>
          </a:prstGeom>
          <a:noFill/>
          <a:ln w="31750">
            <a:solidFill>
              <a:srgbClr val="55627E"/>
            </a:solidFill>
            <a:prstDash val="sysDot"/>
            <a:tailEnd type="triangle"/>
          </a:ln>
        </p:spPr>
      </p:sp>
      <p:sp>
        <p:nvSpPr>
          <p:cNvPr id="13" name="Text 11"/>
          <p:cNvSpPr/>
          <p:nvPr/>
        </p:nvSpPr>
        <p:spPr>
          <a:xfrm>
            <a:off x="4782697" y="28124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4" name="Text 12"/>
          <p:cNvSpPr/>
          <p:nvPr/>
        </p:nvSpPr>
        <p:spPr>
          <a:xfrm>
            <a:off x="4834648" y="29403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6918328" y="2940457"/>
            <a:ext cx="639707" cy="0"/>
          </a:xfrm>
          <a:prstGeom prst="line">
            <a:avLst/>
          </a:prstGeom>
          <a:noFill/>
          <a:ln w="31750">
            <a:solidFill>
              <a:srgbClr val="55627E"/>
            </a:solidFill>
            <a:prstDash val="sysDot"/>
            <a:tailEnd type="triangle"/>
          </a:ln>
        </p:spPr>
      </p:sp>
      <p:sp>
        <p:nvSpPr>
          <p:cNvPr id="16" name="Text 14"/>
          <p:cNvSpPr/>
          <p:nvPr/>
        </p:nvSpPr>
        <p:spPr>
          <a:xfrm>
            <a:off x="7009009" y="270276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7" name="Text 15"/>
          <p:cNvSpPr/>
          <p:nvPr/>
        </p:nvSpPr>
        <p:spPr>
          <a:xfrm>
            <a:off x="7027928" y="283072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8" name="Shape 16"/>
          <p:cNvSpPr/>
          <p:nvPr/>
        </p:nvSpPr>
        <p:spPr>
          <a:xfrm>
            <a:off x="8115493" y="3397391"/>
            <a:ext cx="0" cy="1407355"/>
          </a:xfrm>
          <a:prstGeom prst="line">
            <a:avLst/>
          </a:prstGeom>
          <a:noFill/>
          <a:ln w="31750">
            <a:solidFill>
              <a:srgbClr val="2E6DB4"/>
            </a:solidFill>
            <a:prstDash val="solid"/>
            <a:tailEnd type="triangle"/>
          </a:ln>
        </p:spPr>
      </p:sp>
      <p:sp>
        <p:nvSpPr>
          <p:cNvPr id="19" name="Text 17"/>
          <p:cNvSpPr/>
          <p:nvPr/>
        </p:nvSpPr>
        <p:spPr>
          <a:xfrm>
            <a:off x="8206879" y="3982175"/>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20" name="Text 18"/>
          <p:cNvSpPr/>
          <p:nvPr/>
        </p:nvSpPr>
        <p:spPr>
          <a:xfrm>
            <a:off x="8005765" y="35069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a:off x="9111607" y="5042351"/>
            <a:ext cx="639707" cy="0"/>
          </a:xfrm>
          <a:prstGeom prst="line">
            <a:avLst/>
          </a:prstGeom>
          <a:noFill/>
          <a:ln w="31750">
            <a:solidFill>
              <a:srgbClr val="2E6DB4"/>
            </a:solidFill>
            <a:prstDash val="solid"/>
            <a:tailEnd type="triangle"/>
          </a:ln>
        </p:spPr>
      </p:sp>
      <p:sp>
        <p:nvSpPr>
          <p:cNvPr id="22" name="Text 20"/>
          <p:cNvSpPr/>
          <p:nvPr/>
        </p:nvSpPr>
        <p:spPr>
          <a:xfrm>
            <a:off x="9202289" y="4804655"/>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23" name="Text 21"/>
          <p:cNvSpPr/>
          <p:nvPr/>
        </p:nvSpPr>
        <p:spPr>
          <a:xfrm>
            <a:off x="9221207" y="493262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flipH="1">
            <a:off x="9111607" y="5261679"/>
            <a:ext cx="639707" cy="0"/>
          </a:xfrm>
          <a:prstGeom prst="line">
            <a:avLst/>
          </a:prstGeom>
          <a:noFill/>
          <a:ln w="22860">
            <a:solidFill>
              <a:srgbClr val="0B6E8A"/>
            </a:solidFill>
            <a:prstDash val="solid"/>
            <a:tailEnd type="arrow"/>
          </a:ln>
        </p:spPr>
      </p:sp>
      <p:sp>
        <p:nvSpPr>
          <p:cNvPr id="25" name="Text 23"/>
          <p:cNvSpPr/>
          <p:nvPr/>
        </p:nvSpPr>
        <p:spPr>
          <a:xfrm>
            <a:off x="9169256" y="527986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6" name="Text 24"/>
          <p:cNvSpPr/>
          <p:nvPr/>
        </p:nvSpPr>
        <p:spPr>
          <a:xfrm>
            <a:off x="9422258" y="5151951"/>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V="1">
            <a:off x="8554149" y="3397391"/>
            <a:ext cx="0" cy="1407355"/>
          </a:xfrm>
          <a:prstGeom prst="line">
            <a:avLst/>
          </a:prstGeom>
          <a:noFill/>
          <a:ln w="22860">
            <a:solidFill>
              <a:srgbClr val="0B6E8A"/>
            </a:solidFill>
            <a:prstDash val="solid"/>
            <a:tailEnd type="arrow"/>
          </a:ln>
        </p:spPr>
      </p:sp>
      <p:sp>
        <p:nvSpPr>
          <p:cNvPr id="28" name="Text 26"/>
          <p:cNvSpPr/>
          <p:nvPr/>
        </p:nvSpPr>
        <p:spPr>
          <a:xfrm>
            <a:off x="8645535" y="3982175"/>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9" name="Text 27"/>
          <p:cNvSpPr/>
          <p:nvPr/>
        </p:nvSpPr>
        <p:spPr>
          <a:xfrm>
            <a:off x="8444421" y="447568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0" name="Shape 28"/>
          <p:cNvSpPr/>
          <p:nvPr/>
        </p:nvSpPr>
        <p:spPr>
          <a:xfrm>
            <a:off x="9111607" y="3050121"/>
            <a:ext cx="639707" cy="0"/>
          </a:xfrm>
          <a:prstGeom prst="line">
            <a:avLst/>
          </a:prstGeom>
          <a:noFill/>
          <a:ln w="31750">
            <a:solidFill>
              <a:srgbClr val="55627E"/>
            </a:solidFill>
            <a:prstDash val="sysDot"/>
            <a:tailEnd type="triangle"/>
          </a:ln>
        </p:spPr>
      </p:sp>
      <p:sp>
        <p:nvSpPr>
          <p:cNvPr id="31" name="Text 29"/>
          <p:cNvSpPr/>
          <p:nvPr/>
        </p:nvSpPr>
        <p:spPr>
          <a:xfrm>
            <a:off x="9103191" y="2812425"/>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32" name="Text 30"/>
          <p:cNvSpPr/>
          <p:nvPr/>
        </p:nvSpPr>
        <p:spPr>
          <a:xfrm>
            <a:off x="9221207" y="29403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3" name="Shape 31"/>
          <p:cNvSpPr/>
          <p:nvPr/>
        </p:nvSpPr>
        <p:spPr>
          <a:xfrm flipH="1">
            <a:off x="6918328" y="3159785"/>
            <a:ext cx="639707" cy="0"/>
          </a:xfrm>
          <a:prstGeom prst="line">
            <a:avLst/>
          </a:prstGeom>
          <a:noFill/>
          <a:ln w="31750">
            <a:solidFill>
              <a:srgbClr val="55627E"/>
            </a:solidFill>
            <a:prstDash val="sysDot"/>
            <a:tailEnd type="triangle"/>
          </a:ln>
        </p:spPr>
      </p:sp>
      <p:sp>
        <p:nvSpPr>
          <p:cNvPr id="34" name="Text 32"/>
          <p:cNvSpPr/>
          <p:nvPr/>
        </p:nvSpPr>
        <p:spPr>
          <a:xfrm>
            <a:off x="6876879" y="3177972"/>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5" name="Text 33"/>
          <p:cNvSpPr/>
          <p:nvPr/>
        </p:nvSpPr>
        <p:spPr>
          <a:xfrm>
            <a:off x="7228978" y="30500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6" name="Shape 34"/>
          <p:cNvSpPr/>
          <p:nvPr/>
        </p:nvSpPr>
        <p:spPr>
          <a:xfrm>
            <a:off x="6141541" y="3397391"/>
            <a:ext cx="0" cy="1407355"/>
          </a:xfrm>
          <a:prstGeom prst="line">
            <a:avLst/>
          </a:prstGeom>
          <a:noFill/>
          <a:ln w="31750">
            <a:solidFill>
              <a:srgbClr val="55627E"/>
            </a:solidFill>
            <a:prstDash val="sysDot"/>
            <a:tailEnd type="triangle"/>
          </a:ln>
        </p:spPr>
      </p:sp>
      <p:sp>
        <p:nvSpPr>
          <p:cNvPr id="37" name="Text 35"/>
          <p:cNvSpPr/>
          <p:nvPr/>
        </p:nvSpPr>
        <p:spPr>
          <a:xfrm>
            <a:off x="6232928" y="3982175"/>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8" name="Text 36"/>
          <p:cNvSpPr/>
          <p:nvPr/>
        </p:nvSpPr>
        <p:spPr>
          <a:xfrm>
            <a:off x="6031813" y="350699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9" name="Shape 37"/>
          <p:cNvSpPr/>
          <p:nvPr/>
        </p:nvSpPr>
        <p:spPr>
          <a:xfrm>
            <a:off x="978195" y="27028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1200447" y="2839809"/>
            <a:ext cx="420624" cy="420624"/>
          </a:xfrm>
          <a:prstGeom prst="ellipse">
            <a:avLst/>
          </a:prstGeom>
          <a:solidFill>
            <a:srgbClr val="E2E5EA"/>
          </a:solidFill>
          <a:ln w="12700">
            <a:solidFill>
              <a:srgbClr val="E2E5EA"/>
            </a:solidFill>
            <a:prstDash val="solid"/>
          </a:ln>
        </p:spPr>
      </p:sp>
      <p:sp>
        <p:nvSpPr>
          <p:cNvPr id="41" name="Icono user"/>
          <p:cNvSpPr/>
          <p:nvPr/>
        </p:nvSpPr>
        <p:spPr>
          <a:xfrm>
            <a:off x="1255311" y="28946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42" name="Text 40"/>
          <p:cNvSpPr/>
          <p:nvPr/>
        </p:nvSpPr>
        <p:spPr>
          <a:xfrm>
            <a:off x="1675935" y="27028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43" name="Shape 41"/>
          <p:cNvSpPr/>
          <p:nvPr/>
        </p:nvSpPr>
        <p:spPr>
          <a:xfrm>
            <a:off x="317147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3262914" y="2839809"/>
            <a:ext cx="420624" cy="420624"/>
          </a:xfrm>
          <a:prstGeom prst="ellipse">
            <a:avLst/>
          </a:prstGeom>
          <a:solidFill>
            <a:srgbClr val="E2E5EA"/>
          </a:solidFill>
          <a:ln w="12700">
            <a:solidFill>
              <a:srgbClr val="E2E5EA"/>
            </a:solidFill>
            <a:prstDash val="solid"/>
          </a:ln>
        </p:spPr>
      </p:sp>
      <p:sp>
        <p:nvSpPr>
          <p:cNvPr id="45" name="Icono mouse-pointer-click"/>
          <p:cNvSpPr/>
          <p:nvPr/>
        </p:nvSpPr>
        <p:spPr>
          <a:xfrm>
            <a:off x="3317778" y="28946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6" name="Text 44"/>
          <p:cNvSpPr/>
          <p:nvPr/>
        </p:nvSpPr>
        <p:spPr>
          <a:xfrm>
            <a:off x="373840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7" name="Shape 45"/>
          <p:cNvSpPr/>
          <p:nvPr/>
        </p:nvSpPr>
        <p:spPr>
          <a:xfrm>
            <a:off x="536475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5456194" y="2839809"/>
            <a:ext cx="420624" cy="420624"/>
          </a:xfrm>
          <a:prstGeom prst="ellipse">
            <a:avLst/>
          </a:prstGeom>
          <a:solidFill>
            <a:srgbClr val="E2E5EA"/>
          </a:solidFill>
          <a:ln w="12700">
            <a:solidFill>
              <a:srgbClr val="E2E5EA"/>
            </a:solidFill>
            <a:prstDash val="solid"/>
          </a:ln>
        </p:spPr>
      </p:sp>
      <p:sp>
        <p:nvSpPr>
          <p:cNvPr id="49" name="Icono app-window"/>
          <p:cNvSpPr/>
          <p:nvPr/>
        </p:nvSpPr>
        <p:spPr>
          <a:xfrm>
            <a:off x="5511058" y="28946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50" name="Text 48"/>
          <p:cNvSpPr/>
          <p:nvPr/>
        </p:nvSpPr>
        <p:spPr>
          <a:xfrm>
            <a:off x="593168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51" name="Shape 49"/>
          <p:cNvSpPr/>
          <p:nvPr/>
        </p:nvSpPr>
        <p:spPr>
          <a:xfrm>
            <a:off x="755803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7649474" y="2839809"/>
            <a:ext cx="420624" cy="420624"/>
          </a:xfrm>
          <a:prstGeom prst="ellipse">
            <a:avLst/>
          </a:prstGeom>
          <a:solidFill>
            <a:srgbClr val="E2E5EA"/>
          </a:solidFill>
          <a:ln w="12700">
            <a:solidFill>
              <a:srgbClr val="E2E5EA"/>
            </a:solidFill>
            <a:prstDash val="solid"/>
          </a:ln>
        </p:spPr>
      </p:sp>
      <p:sp>
        <p:nvSpPr>
          <p:cNvPr id="53" name="Icono globe"/>
          <p:cNvSpPr/>
          <p:nvPr/>
        </p:nvSpPr>
        <p:spPr>
          <a:xfrm>
            <a:off x="7704338" y="28946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2350"/>
            </a:solidFill>
            <a:prstDash val="solid"/>
            <a:round/>
          </a:ln>
        </p:spPr>
      </p:sp>
      <p:sp>
        <p:nvSpPr>
          <p:cNvPr id="54" name="Text 52"/>
          <p:cNvSpPr/>
          <p:nvPr/>
        </p:nvSpPr>
        <p:spPr>
          <a:xfrm>
            <a:off x="812496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5" name="Shape 53"/>
          <p:cNvSpPr/>
          <p:nvPr/>
        </p:nvSpPr>
        <p:spPr>
          <a:xfrm>
            <a:off x="975131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6" name="Shape 54"/>
          <p:cNvSpPr/>
          <p:nvPr/>
        </p:nvSpPr>
        <p:spPr>
          <a:xfrm>
            <a:off x="9842754" y="2839809"/>
            <a:ext cx="420624" cy="420624"/>
          </a:xfrm>
          <a:prstGeom prst="ellipse">
            <a:avLst/>
          </a:prstGeom>
          <a:solidFill>
            <a:srgbClr val="E2E5EA"/>
          </a:solidFill>
          <a:ln w="12700">
            <a:solidFill>
              <a:srgbClr val="E2E5EA"/>
            </a:solidFill>
            <a:prstDash val="solid"/>
          </a:ln>
        </p:spPr>
      </p:sp>
      <p:sp>
        <p:nvSpPr>
          <p:cNvPr id="57" name="Icono list-todo"/>
          <p:cNvSpPr/>
          <p:nvPr/>
        </p:nvSpPr>
        <p:spPr>
          <a:xfrm>
            <a:off x="9897618" y="28946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0B2350"/>
            </a:solidFill>
            <a:prstDash val="solid"/>
            <a:round/>
          </a:ln>
        </p:spPr>
      </p:sp>
      <p:sp>
        <p:nvSpPr>
          <p:cNvPr id="58" name="Text 56"/>
          <p:cNvSpPr/>
          <p:nvPr/>
        </p:nvSpPr>
        <p:spPr>
          <a:xfrm>
            <a:off x="1031824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solo peticiones de la UI</a:t>
            </a:r>
            <a:endParaRPr lang="en-US" sz="1079" dirty="0"/>
          </a:p>
        </p:txBody>
      </p:sp>
      <p:sp>
        <p:nvSpPr>
          <p:cNvPr id="59" name="Shape 57"/>
          <p:cNvSpPr/>
          <p:nvPr/>
        </p:nvSpPr>
        <p:spPr>
          <a:xfrm>
            <a:off x="5364754" y="4804745"/>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5456194" y="4941703"/>
            <a:ext cx="420624" cy="420624"/>
          </a:xfrm>
          <a:prstGeom prst="ellipse">
            <a:avLst/>
          </a:prstGeom>
          <a:solidFill>
            <a:srgbClr val="E2E5EA"/>
          </a:solidFill>
          <a:ln w="12700">
            <a:solidFill>
              <a:srgbClr val="E2E5EA"/>
            </a:solidFill>
            <a:prstDash val="solid"/>
          </a:ln>
        </p:spPr>
      </p:sp>
      <p:sp>
        <p:nvSpPr>
          <p:cNvPr id="61" name="Icono app-window"/>
          <p:cNvSpPr/>
          <p:nvPr/>
        </p:nvSpPr>
        <p:spPr>
          <a:xfrm>
            <a:off x="5511058" y="49965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62" name="Text 60"/>
          <p:cNvSpPr/>
          <p:nvPr/>
        </p:nvSpPr>
        <p:spPr>
          <a:xfrm>
            <a:off x="5931682" y="48047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 actualiza</a:t>
            </a:r>
            <a:endParaRPr lang="en-US" sz="1079" dirty="0"/>
          </a:p>
        </p:txBody>
      </p:sp>
      <p:sp>
        <p:nvSpPr>
          <p:cNvPr id="63" name="Shape 61"/>
          <p:cNvSpPr/>
          <p:nvPr/>
        </p:nvSpPr>
        <p:spPr>
          <a:xfrm>
            <a:off x="7558034" y="4804745"/>
            <a:ext cx="1553573"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7649474" y="4941703"/>
            <a:ext cx="420624" cy="420624"/>
          </a:xfrm>
          <a:prstGeom prst="ellipse">
            <a:avLst/>
          </a:prstGeom>
          <a:solidFill>
            <a:srgbClr val="E2E5EA"/>
          </a:solidFill>
          <a:ln w="12700">
            <a:solidFill>
              <a:srgbClr val="E2E5EA"/>
            </a:solidFill>
            <a:prstDash val="solid"/>
          </a:ln>
        </p:spPr>
      </p:sp>
      <p:sp>
        <p:nvSpPr>
          <p:cNvPr id="65" name="Icono network"/>
          <p:cNvSpPr/>
          <p:nvPr/>
        </p:nvSpPr>
        <p:spPr>
          <a:xfrm>
            <a:off x="7704338" y="49965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2350"/>
            </a:solidFill>
            <a:prstDash val="solid"/>
            <a:round/>
          </a:ln>
        </p:spPr>
      </p:sp>
      <p:sp>
        <p:nvSpPr>
          <p:cNvPr id="66" name="Text 64"/>
          <p:cNvSpPr/>
          <p:nvPr/>
        </p:nvSpPr>
        <p:spPr>
          <a:xfrm>
            <a:off x="8124962" y="48047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7" name="Shape 65"/>
          <p:cNvSpPr/>
          <p:nvPr/>
        </p:nvSpPr>
        <p:spPr>
          <a:xfrm>
            <a:off x="9751314" y="4804745"/>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8" name="Shape 66"/>
          <p:cNvSpPr/>
          <p:nvPr/>
        </p:nvSpPr>
        <p:spPr>
          <a:xfrm>
            <a:off x="9842754" y="4941703"/>
            <a:ext cx="420624" cy="420624"/>
          </a:xfrm>
          <a:prstGeom prst="ellipse">
            <a:avLst/>
          </a:prstGeom>
          <a:solidFill>
            <a:srgbClr val="E2E5EA"/>
          </a:solidFill>
          <a:ln w="12700">
            <a:solidFill>
              <a:srgbClr val="E2E5EA"/>
            </a:solidFill>
            <a:prstDash val="solid"/>
          </a:ln>
        </p:spPr>
      </p:sp>
      <p:sp>
        <p:nvSpPr>
          <p:cNvPr id="69" name="Icono server"/>
          <p:cNvSpPr/>
          <p:nvPr/>
        </p:nvSpPr>
        <p:spPr>
          <a:xfrm>
            <a:off x="9897618" y="49965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70" name="Text 68"/>
          <p:cNvSpPr/>
          <p:nvPr/>
        </p:nvSpPr>
        <p:spPr>
          <a:xfrm>
            <a:off x="10318242" y="48047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solicitudes o notificaciones</a:t>
            </a:r>
            <a:endParaRPr lang="en-US" sz="1079" dirty="0"/>
          </a:p>
        </p:txBody>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47625">
            <a:solidFill>
              <a:srgbClr val="2BA6CB"/>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47625">
            <a:solidFill>
              <a:srgbClr val="2BA6CB"/>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47625">
            <a:solidFill>
              <a:srgbClr val="2BA6CB"/>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31750">
            <a:solidFill>
              <a:srgbClr val="CBD5E3"/>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31750">
            <a:solidFill>
              <a:srgbClr val="CBD5E3"/>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22860">
            <a:solidFill>
              <a:srgbClr val="CBD5E3"/>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22860">
            <a:solidFill>
              <a:srgbClr val="CBD5E3"/>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31750">
            <a:solidFill>
              <a:srgbClr val="CBD5E3"/>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31750">
            <a:solidFill>
              <a:srgbClr val="CBD5E3"/>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31750">
            <a:solidFill>
              <a:srgbClr val="CBD5E3"/>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1200447" y="2039709"/>
            <a:ext cx="420624" cy="420624"/>
          </a:xfrm>
          <a:prstGeom prst="ellipse">
            <a:avLst/>
          </a:prstGeom>
          <a:solidFill>
            <a:srgbClr val="E3F4FA"/>
          </a:solidFill>
          <a:ln w="12700">
            <a:solidFill>
              <a:srgbClr val="E3F4F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6E8A"/>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0" name="Shape 38"/>
          <p:cNvSpPr/>
          <p:nvPr/>
        </p:nvSpPr>
        <p:spPr>
          <a:xfrm>
            <a:off x="3262914" y="2039709"/>
            <a:ext cx="420624" cy="420624"/>
          </a:xfrm>
          <a:prstGeom prst="ellipse">
            <a:avLst/>
          </a:prstGeom>
          <a:solidFill>
            <a:srgbClr val="E3F4FA"/>
          </a:solidFill>
          <a:ln w="12700">
            <a:solidFill>
              <a:srgbClr val="E3F4F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6E8A"/>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4" name="Shape 42"/>
          <p:cNvSpPr/>
          <p:nvPr/>
        </p:nvSpPr>
        <p:spPr>
          <a:xfrm>
            <a:off x="5456194" y="2039709"/>
            <a:ext cx="420624" cy="420624"/>
          </a:xfrm>
          <a:prstGeom prst="ellipse">
            <a:avLst/>
          </a:prstGeom>
          <a:solidFill>
            <a:srgbClr val="E3F4FA"/>
          </a:solidFill>
          <a:ln w="12700">
            <a:solidFill>
              <a:srgbClr val="E3F4F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6E8A"/>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8" name="Shape 46"/>
          <p:cNvSpPr/>
          <p:nvPr/>
        </p:nvSpPr>
        <p:spPr>
          <a:xfrm>
            <a:off x="7649474" y="2039709"/>
            <a:ext cx="420624" cy="420624"/>
          </a:xfrm>
          <a:prstGeom prst="ellipse">
            <a:avLst/>
          </a:prstGeom>
          <a:solidFill>
            <a:srgbClr val="E3F4FA"/>
          </a:solidFill>
          <a:ln w="12700">
            <a:solidFill>
              <a:srgbClr val="E3F4FA"/>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6E8A"/>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12700">
            <a:solidFill>
              <a:srgbClr val="D5DDE8"/>
            </a:solidFill>
            <a:prstDash val="solid"/>
          </a:ln>
        </p:spPr>
      </p:sp>
      <p:sp>
        <p:nvSpPr>
          <p:cNvPr id="52" name="Shape 50"/>
          <p:cNvSpPr/>
          <p:nvPr/>
        </p:nvSpPr>
        <p:spPr>
          <a:xfrm>
            <a:off x="9842754" y="2039709"/>
            <a:ext cx="420624" cy="420624"/>
          </a:xfrm>
          <a:prstGeom prst="ellipse">
            <a:avLst/>
          </a:prstGeom>
          <a:solidFill>
            <a:srgbClr val="EEF2F7"/>
          </a:solidFill>
          <a:ln w="12700">
            <a:solidFill>
              <a:srgbClr val="EEF2F7"/>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A9B4C6"/>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12700">
            <a:solidFill>
              <a:srgbClr val="D5DDE8"/>
            </a:solidFill>
            <a:prstDash val="solid"/>
          </a:ln>
        </p:spPr>
      </p:sp>
      <p:sp>
        <p:nvSpPr>
          <p:cNvPr id="56" name="Shape 54"/>
          <p:cNvSpPr/>
          <p:nvPr/>
        </p:nvSpPr>
        <p:spPr>
          <a:xfrm>
            <a:off x="5456194" y="4141603"/>
            <a:ext cx="420624" cy="420624"/>
          </a:xfrm>
          <a:prstGeom prst="ellipse">
            <a:avLst/>
          </a:prstGeom>
          <a:solidFill>
            <a:srgbClr val="EEF2F7"/>
          </a:solidFill>
          <a:ln w="12700">
            <a:solidFill>
              <a:srgbClr val="EEF2F7"/>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A9B4C6"/>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BFCFE"/>
          </a:solidFill>
          <a:ln w="12700">
            <a:solidFill>
              <a:srgbClr val="D5DDE8"/>
            </a:solidFill>
            <a:prstDash val="solid"/>
          </a:ln>
        </p:spPr>
      </p:sp>
      <p:sp>
        <p:nvSpPr>
          <p:cNvPr id="60" name="Shape 58"/>
          <p:cNvSpPr/>
          <p:nvPr/>
        </p:nvSpPr>
        <p:spPr>
          <a:xfrm>
            <a:off x="7649474" y="4141603"/>
            <a:ext cx="420624" cy="420624"/>
          </a:xfrm>
          <a:prstGeom prst="ellipse">
            <a:avLst/>
          </a:prstGeom>
          <a:solidFill>
            <a:srgbClr val="EEF2F7"/>
          </a:solidFill>
          <a:ln w="12700">
            <a:solidFill>
              <a:srgbClr val="EEF2F7"/>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A9B4C6"/>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12700">
            <a:solidFill>
              <a:srgbClr val="D5DDE8"/>
            </a:solidFill>
            <a:prstDash val="solid"/>
          </a:ln>
        </p:spPr>
      </p:sp>
      <p:sp>
        <p:nvSpPr>
          <p:cNvPr id="64" name="Shape 62"/>
          <p:cNvSpPr/>
          <p:nvPr/>
        </p:nvSpPr>
        <p:spPr>
          <a:xfrm>
            <a:off x="9842754" y="4141603"/>
            <a:ext cx="420624" cy="420624"/>
          </a:xfrm>
          <a:prstGeom prst="ellipse">
            <a:avLst/>
          </a:prstGeom>
          <a:solidFill>
            <a:srgbClr val="EEF2F7"/>
          </a:solidFill>
          <a:ln w="12700">
            <a:solidFill>
              <a:srgbClr val="EEF2F7"/>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A9B4C6"/>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69" name="Text 67"/>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un botón en la pantalla.</a:t>
            </a:r>
            <a:endParaRPr lang="en-US" sz="1300" dirty="0"/>
          </a:p>
        </p:txBody>
      </p:sp>
      <p:sp>
        <p:nvSpPr>
          <p:cNvPr id="70" name="Shape 68"/>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72" name="Text 70"/>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la acción cambia datos, la interfaz pide confirmarla antes de enviarla.</a:t>
            </a:r>
            <a:endParaRPr lang="en-US" sz="1300" dirty="0"/>
          </a:p>
        </p:txBody>
      </p:sp>
      <p:sp>
        <p:nvSpPr>
          <p:cNvPr id="73" name="Shape 71"/>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4" name="Text 72"/>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75" name="Text 73"/>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cliente HTTP mide el tiempo y, si tarda más de 10 segundos, no lo repite solo.</a:t>
            </a:r>
            <a:endParaRPr lang="en-US" sz="1300" dirty="0"/>
          </a:p>
        </p:txBody>
      </p:sp>
      <p:sp>
        <p:nvSpPr>
          <p:cNvPr id="76" name="Text 7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31750">
            <a:solidFill>
              <a:srgbClr val="55627E"/>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31750">
            <a:solidFill>
              <a:srgbClr val="55627E"/>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31750">
            <a:solidFill>
              <a:srgbClr val="55627E"/>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47625">
            <a:solidFill>
              <a:srgbClr val="2BA6CB"/>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47625">
            <a:solidFill>
              <a:srgbClr val="2BA6CB"/>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38735">
            <a:solidFill>
              <a:srgbClr val="2BA6CB"/>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38735">
            <a:solidFill>
              <a:srgbClr val="2BA6CB"/>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31750">
            <a:solidFill>
              <a:srgbClr val="CBD5E3"/>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31750">
            <a:solidFill>
              <a:srgbClr val="CBD5E3"/>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31750">
            <a:solidFill>
              <a:srgbClr val="CBD5E3"/>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0447" y="2039709"/>
            <a:ext cx="420624" cy="420624"/>
          </a:xfrm>
          <a:prstGeom prst="ellipse">
            <a:avLst/>
          </a:prstGeom>
          <a:solidFill>
            <a:srgbClr val="E2E5EA"/>
          </a:solidFill>
          <a:ln w="12700">
            <a:solidFill>
              <a:srgbClr val="E2E5E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262914" y="2039709"/>
            <a:ext cx="420624" cy="420624"/>
          </a:xfrm>
          <a:prstGeom prst="ellipse">
            <a:avLst/>
          </a:prstGeom>
          <a:solidFill>
            <a:srgbClr val="E2E5EA"/>
          </a:solidFill>
          <a:ln w="12700">
            <a:solidFill>
              <a:srgbClr val="E2E5E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5456194" y="2039709"/>
            <a:ext cx="420624" cy="420624"/>
          </a:xfrm>
          <a:prstGeom prst="ellipse">
            <a:avLst/>
          </a:prstGeom>
          <a:solidFill>
            <a:srgbClr val="E2E5EA"/>
          </a:solidFill>
          <a:ln w="12700">
            <a:solidFill>
              <a:srgbClr val="E2E5E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8" name="Shape 46"/>
          <p:cNvSpPr/>
          <p:nvPr/>
        </p:nvSpPr>
        <p:spPr>
          <a:xfrm>
            <a:off x="7649474" y="2039709"/>
            <a:ext cx="420624" cy="420624"/>
          </a:xfrm>
          <a:prstGeom prst="ellipse">
            <a:avLst/>
          </a:prstGeom>
          <a:solidFill>
            <a:srgbClr val="E3F4FA"/>
          </a:solidFill>
          <a:ln w="12700">
            <a:solidFill>
              <a:srgbClr val="E3F4FA"/>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6E8A"/>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12700">
            <a:solidFill>
              <a:srgbClr val="D5DDE8"/>
            </a:solidFill>
            <a:prstDash val="solid"/>
          </a:ln>
        </p:spPr>
      </p:sp>
      <p:sp>
        <p:nvSpPr>
          <p:cNvPr id="52" name="Shape 50"/>
          <p:cNvSpPr/>
          <p:nvPr/>
        </p:nvSpPr>
        <p:spPr>
          <a:xfrm>
            <a:off x="9842754" y="2039709"/>
            <a:ext cx="420624" cy="420624"/>
          </a:xfrm>
          <a:prstGeom prst="ellipse">
            <a:avLst/>
          </a:prstGeom>
          <a:solidFill>
            <a:srgbClr val="EEF2F7"/>
          </a:solidFill>
          <a:ln w="12700">
            <a:solidFill>
              <a:srgbClr val="EEF2F7"/>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A9B4C6"/>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12700">
            <a:solidFill>
              <a:srgbClr val="D5DDE8"/>
            </a:solidFill>
            <a:prstDash val="solid"/>
          </a:ln>
        </p:spPr>
      </p:sp>
      <p:sp>
        <p:nvSpPr>
          <p:cNvPr id="56" name="Shape 54"/>
          <p:cNvSpPr/>
          <p:nvPr/>
        </p:nvSpPr>
        <p:spPr>
          <a:xfrm>
            <a:off x="5456194" y="4141603"/>
            <a:ext cx="420624" cy="420624"/>
          </a:xfrm>
          <a:prstGeom prst="ellipse">
            <a:avLst/>
          </a:prstGeom>
          <a:solidFill>
            <a:srgbClr val="EEF2F7"/>
          </a:solidFill>
          <a:ln w="12700">
            <a:solidFill>
              <a:srgbClr val="EEF2F7"/>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A9B4C6"/>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0" name="Shape 58"/>
          <p:cNvSpPr/>
          <p:nvPr/>
        </p:nvSpPr>
        <p:spPr>
          <a:xfrm>
            <a:off x="7649474" y="4141603"/>
            <a:ext cx="420624" cy="420624"/>
          </a:xfrm>
          <a:prstGeom prst="ellipse">
            <a:avLst/>
          </a:prstGeom>
          <a:solidFill>
            <a:srgbClr val="E3F4FA"/>
          </a:solidFill>
          <a:ln w="12700">
            <a:solidFill>
              <a:srgbClr val="E3F4FA"/>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6E8A"/>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4" name="Shape 62"/>
          <p:cNvSpPr/>
          <p:nvPr/>
        </p:nvSpPr>
        <p:spPr>
          <a:xfrm>
            <a:off x="9842754" y="4141603"/>
            <a:ext cx="420624" cy="420624"/>
          </a:xfrm>
          <a:prstGeom prst="ellipse">
            <a:avLst/>
          </a:prstGeom>
          <a:solidFill>
            <a:srgbClr val="E3F4FA"/>
          </a:solidFill>
          <a:ln w="12700">
            <a:solidFill>
              <a:srgbClr val="E3F4FA"/>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6E8A"/>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69" name="Text 67"/>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navegador llama a /api y nginx lo pasa al servicio que corresponde.</a:t>
            </a:r>
            <a:endParaRPr lang="en-US" sz="1300" dirty="0"/>
          </a:p>
        </p:txBody>
      </p:sp>
      <p:sp>
        <p:nvSpPr>
          <p:cNvPr id="70" name="Shape 68"/>
          <p:cNvSpPr/>
          <p:nvPr/>
        </p:nvSpPr>
        <p:spPr>
          <a:xfrm>
            <a:off x="4310786"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72" name="Text 70"/>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nginx llega al servicio por su nombre interno.</a:t>
            </a:r>
            <a:endParaRPr lang="en-US" sz="1300" dirty="0"/>
          </a:p>
        </p:txBody>
      </p:sp>
      <p:sp>
        <p:nvSpPr>
          <p:cNvPr id="73" name="Shape 71"/>
          <p:cNvSpPr/>
          <p:nvPr/>
        </p:nvSpPr>
        <p:spPr>
          <a:xfrm>
            <a:off x="8008925" y="5376672"/>
            <a:ext cx="357012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4" name="Text 72"/>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75" name="Text 73"/>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Vuelve la respuesta con su código: 200, 201, 404, 409 o un error si el servicio no responde.</a:t>
            </a:r>
            <a:endParaRPr lang="en-US" sz="1300" dirty="0"/>
          </a:p>
        </p:txBody>
      </p:sp>
      <p:sp>
        <p:nvSpPr>
          <p:cNvPr id="76" name="Text 7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31750">
            <a:solidFill>
              <a:srgbClr val="55627E"/>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31750">
            <a:solidFill>
              <a:srgbClr val="55627E"/>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31750">
            <a:solidFill>
              <a:srgbClr val="55627E"/>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31750">
            <a:solidFill>
              <a:srgbClr val="2E6DB4"/>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31750">
            <a:solidFill>
              <a:srgbClr val="2E6DB4"/>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22860">
            <a:solidFill>
              <a:srgbClr val="0B6E8A"/>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22860">
            <a:solidFill>
              <a:srgbClr val="0B6E8A"/>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47625">
            <a:solidFill>
              <a:srgbClr val="2BA6CB"/>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47625">
            <a:solidFill>
              <a:srgbClr val="2BA6CB"/>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47625">
            <a:solidFill>
              <a:srgbClr val="2BA6CB"/>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0447" y="2039709"/>
            <a:ext cx="420624" cy="420624"/>
          </a:xfrm>
          <a:prstGeom prst="ellipse">
            <a:avLst/>
          </a:prstGeom>
          <a:solidFill>
            <a:srgbClr val="E2E5EA"/>
          </a:solidFill>
          <a:ln w="12700">
            <a:solidFill>
              <a:srgbClr val="E2E5E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262914" y="2039709"/>
            <a:ext cx="420624" cy="420624"/>
          </a:xfrm>
          <a:prstGeom prst="ellipse">
            <a:avLst/>
          </a:prstGeom>
          <a:solidFill>
            <a:srgbClr val="E2E5EA"/>
          </a:solidFill>
          <a:ln w="12700">
            <a:solidFill>
              <a:srgbClr val="E2E5E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5456194" y="2039709"/>
            <a:ext cx="420624" cy="420624"/>
          </a:xfrm>
          <a:prstGeom prst="ellipse">
            <a:avLst/>
          </a:prstGeom>
          <a:solidFill>
            <a:srgbClr val="E2E5EA"/>
          </a:solidFill>
          <a:ln w="12700">
            <a:solidFill>
              <a:srgbClr val="E2E5E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7649474" y="2039709"/>
            <a:ext cx="420624" cy="420624"/>
          </a:xfrm>
          <a:prstGeom prst="ellipse">
            <a:avLst/>
          </a:prstGeom>
          <a:solidFill>
            <a:srgbClr val="E2E5EA"/>
          </a:solidFill>
          <a:ln w="12700">
            <a:solidFill>
              <a:srgbClr val="E2E5EA"/>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2350"/>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2" name="Shape 50"/>
          <p:cNvSpPr/>
          <p:nvPr/>
        </p:nvSpPr>
        <p:spPr>
          <a:xfrm>
            <a:off x="9842754" y="2039709"/>
            <a:ext cx="420624" cy="420624"/>
          </a:xfrm>
          <a:prstGeom prst="ellipse">
            <a:avLst/>
          </a:prstGeom>
          <a:solidFill>
            <a:srgbClr val="E3F4FA"/>
          </a:solidFill>
          <a:ln w="12700">
            <a:solidFill>
              <a:srgbClr val="E3F4FA"/>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0B6E8A"/>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6" name="Shape 54"/>
          <p:cNvSpPr/>
          <p:nvPr/>
        </p:nvSpPr>
        <p:spPr>
          <a:xfrm>
            <a:off x="5456194" y="4141603"/>
            <a:ext cx="420624" cy="420624"/>
          </a:xfrm>
          <a:prstGeom prst="ellipse">
            <a:avLst/>
          </a:prstGeom>
          <a:solidFill>
            <a:srgbClr val="E3F4FA"/>
          </a:solidFill>
          <a:ln w="12700">
            <a:solidFill>
              <a:srgbClr val="E3F4FA"/>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6E8A"/>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7649474" y="4141603"/>
            <a:ext cx="420624" cy="420624"/>
          </a:xfrm>
          <a:prstGeom prst="ellipse">
            <a:avLst/>
          </a:prstGeom>
          <a:solidFill>
            <a:srgbClr val="E2E5EA"/>
          </a:solidFill>
          <a:ln w="12700">
            <a:solidFill>
              <a:srgbClr val="E2E5EA"/>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2350"/>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9842754" y="4141603"/>
            <a:ext cx="420624" cy="420624"/>
          </a:xfrm>
          <a:prstGeom prst="ellipse">
            <a:avLst/>
          </a:prstGeom>
          <a:solidFill>
            <a:srgbClr val="E2E5EA"/>
          </a:solidFill>
          <a:ln w="12700">
            <a:solidFill>
              <a:srgbClr val="E2E5EA"/>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petición queda registrada con su método, ruta, código y duración.</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pantalla muestra el resultado con un mensaje claro.</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interfaz simple, con ayuda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Cuatro pestañas: usar, seguir, validar y entender.</a:t>
            </a:r>
            <a:endParaRPr lang="en-US" sz="1700" dirty="0"/>
          </a:p>
        </p:txBody>
      </p:sp>
      <p:sp>
        <p:nvSpPr>
          <p:cNvPr id="6" name="Shape 4"/>
          <p:cNvSpPr/>
          <p:nvPr/>
        </p:nvSpPr>
        <p:spPr>
          <a:xfrm>
            <a:off x="61264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7" name="Shape 5"/>
          <p:cNvSpPr/>
          <p:nvPr/>
        </p:nvSpPr>
        <p:spPr>
          <a:xfrm>
            <a:off x="722376" y="1816730"/>
            <a:ext cx="74615" cy="74615"/>
          </a:xfrm>
          <a:prstGeom prst="ellipse">
            <a:avLst/>
          </a:prstGeom>
          <a:solidFill>
            <a:srgbClr val="E5484D"/>
          </a:solidFill>
          <a:ln w="12700">
            <a:solidFill>
              <a:srgbClr val="E5484D"/>
            </a:solidFill>
            <a:prstDash val="solid"/>
          </a:ln>
        </p:spPr>
      </p:sp>
      <p:sp>
        <p:nvSpPr>
          <p:cNvPr id="8" name="Shape 6"/>
          <p:cNvSpPr/>
          <p:nvPr/>
        </p:nvSpPr>
        <p:spPr>
          <a:xfrm>
            <a:off x="821131" y="1816730"/>
            <a:ext cx="74615" cy="74615"/>
          </a:xfrm>
          <a:prstGeom prst="ellipse">
            <a:avLst/>
          </a:prstGeom>
          <a:solidFill>
            <a:srgbClr val="F5A524"/>
          </a:solidFill>
          <a:ln w="12700">
            <a:solidFill>
              <a:srgbClr val="F5A524"/>
            </a:solidFill>
            <a:prstDash val="solid"/>
          </a:ln>
        </p:spPr>
      </p:sp>
      <p:sp>
        <p:nvSpPr>
          <p:cNvPr id="9" name="Shape 7"/>
          <p:cNvSpPr/>
          <p:nvPr/>
        </p:nvSpPr>
        <p:spPr>
          <a:xfrm>
            <a:off x="919886" y="1816730"/>
            <a:ext cx="74615" cy="74615"/>
          </a:xfrm>
          <a:prstGeom prst="ellipse">
            <a:avLst/>
          </a:prstGeom>
          <a:solidFill>
            <a:srgbClr val="30A46C"/>
          </a:solidFill>
          <a:ln w="12700">
            <a:solidFill>
              <a:srgbClr val="30A46C"/>
            </a:solidFill>
            <a:prstDash val="solid"/>
          </a:ln>
        </p:spPr>
      </p:sp>
      <p:sp>
        <p:nvSpPr>
          <p:cNvPr id="10" name="Text 8"/>
          <p:cNvSpPr/>
          <p:nvPr/>
        </p:nvSpPr>
        <p:spPr>
          <a:xfrm>
            <a:off x="112471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localhost:8088/#/solicitudes</a:t>
            </a:r>
            <a:endParaRPr lang="en-US" sz="700" dirty="0"/>
          </a:p>
        </p:txBody>
      </p:sp>
      <p:pic>
        <p:nvPicPr>
          <p:cNvPr id="11" name="Image 0" descr="Solicitudes">    </p:cNvPr>
          <p:cNvPicPr>
            <a:picLocks noChangeAspect="1"/>
          </p:cNvPicPr>
          <p:nvPr/>
        </p:nvPicPr>
        <p:blipFill>
          <a:blip r:embed="rId1"/>
          <a:stretch>
            <a:fillRect/>
          </a:stretch>
        </p:blipFill>
        <p:spPr>
          <a:xfrm>
            <a:off x="612648" y="1965960"/>
            <a:ext cx="2877386" cy="1798366"/>
          </a:xfrm>
          <a:prstGeom prst="rect">
            <a:avLst/>
          </a:prstGeom>
        </p:spPr>
      </p:pic>
      <p:sp>
        <p:nvSpPr>
          <p:cNvPr id="12" name="Text 9"/>
          <p:cNvSpPr/>
          <p:nvPr/>
        </p:nvSpPr>
        <p:spPr>
          <a:xfrm>
            <a:off x="3727778"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13" name="Text 10"/>
          <p:cNvSpPr/>
          <p:nvPr/>
        </p:nvSpPr>
        <p:spPr>
          <a:xfrm>
            <a:off x="4184978"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Solicitudes</a:t>
            </a:r>
            <a:endParaRPr lang="en-US" sz="2000" dirty="0"/>
          </a:p>
        </p:txBody>
      </p:sp>
      <p:sp>
        <p:nvSpPr>
          <p:cNvPr id="14" name="Text 11"/>
          <p:cNvSpPr/>
          <p:nvPr/>
        </p:nvSpPr>
        <p:spPr>
          <a:xfrm>
            <a:off x="3727778"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Crear, ver las tuyas y decidir.</a:t>
            </a:r>
            <a:endParaRPr lang="en-US" sz="1400" dirty="0"/>
          </a:p>
        </p:txBody>
      </p:sp>
      <p:sp>
        <p:nvSpPr>
          <p:cNvPr id="15" name="Shape 12"/>
          <p:cNvSpPr/>
          <p:nvPr/>
        </p:nvSpPr>
        <p:spPr>
          <a:xfrm>
            <a:off x="627872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6" name="Shape 13"/>
          <p:cNvSpPr/>
          <p:nvPr/>
        </p:nvSpPr>
        <p:spPr>
          <a:xfrm>
            <a:off x="6388456" y="1816730"/>
            <a:ext cx="74615" cy="74615"/>
          </a:xfrm>
          <a:prstGeom prst="ellipse">
            <a:avLst/>
          </a:prstGeom>
          <a:solidFill>
            <a:srgbClr val="E5484D"/>
          </a:solidFill>
          <a:ln w="12700">
            <a:solidFill>
              <a:srgbClr val="E5484D"/>
            </a:solidFill>
            <a:prstDash val="solid"/>
          </a:ln>
        </p:spPr>
      </p:sp>
      <p:sp>
        <p:nvSpPr>
          <p:cNvPr id="17" name="Shape 14"/>
          <p:cNvSpPr/>
          <p:nvPr/>
        </p:nvSpPr>
        <p:spPr>
          <a:xfrm>
            <a:off x="6487211" y="1816730"/>
            <a:ext cx="74615" cy="74615"/>
          </a:xfrm>
          <a:prstGeom prst="ellipse">
            <a:avLst/>
          </a:prstGeom>
          <a:solidFill>
            <a:srgbClr val="F5A524"/>
          </a:solidFill>
          <a:ln w="12700">
            <a:solidFill>
              <a:srgbClr val="F5A524"/>
            </a:solidFill>
            <a:prstDash val="solid"/>
          </a:ln>
        </p:spPr>
      </p:sp>
      <p:sp>
        <p:nvSpPr>
          <p:cNvPr id="18" name="Shape 15"/>
          <p:cNvSpPr/>
          <p:nvPr/>
        </p:nvSpPr>
        <p:spPr>
          <a:xfrm>
            <a:off x="6585966" y="1816730"/>
            <a:ext cx="74615" cy="74615"/>
          </a:xfrm>
          <a:prstGeom prst="ellipse">
            <a:avLst/>
          </a:prstGeom>
          <a:solidFill>
            <a:srgbClr val="30A46C"/>
          </a:solidFill>
          <a:ln w="12700">
            <a:solidFill>
              <a:srgbClr val="30A46C"/>
            </a:solidFill>
            <a:prstDash val="solid"/>
          </a:ln>
        </p:spPr>
      </p:sp>
      <p:sp>
        <p:nvSpPr>
          <p:cNvPr id="19" name="Text 16"/>
          <p:cNvSpPr/>
          <p:nvPr/>
        </p:nvSpPr>
        <p:spPr>
          <a:xfrm>
            <a:off x="679079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localhost:8088/#/enviadas</a:t>
            </a:r>
            <a:endParaRPr lang="en-US" sz="700" dirty="0"/>
          </a:p>
        </p:txBody>
      </p:sp>
      <p:pic>
        <p:nvPicPr>
          <p:cNvPr id="20" name="Image 1" descr="Enviadas">    </p:cNvPr>
          <p:cNvPicPr>
            <a:picLocks noChangeAspect="1"/>
          </p:cNvPicPr>
          <p:nvPr/>
        </p:nvPicPr>
        <p:blipFill>
          <a:blip r:embed="rId2"/>
          <a:stretch>
            <a:fillRect/>
          </a:stretch>
        </p:blipFill>
        <p:spPr>
          <a:xfrm>
            <a:off x="6278728" y="1965960"/>
            <a:ext cx="2877386" cy="1798366"/>
          </a:xfrm>
          <a:prstGeom prst="rect">
            <a:avLst/>
          </a:prstGeom>
        </p:spPr>
      </p:pic>
      <p:sp>
        <p:nvSpPr>
          <p:cNvPr id="21" name="Text 17"/>
          <p:cNvSpPr/>
          <p:nvPr/>
        </p:nvSpPr>
        <p:spPr>
          <a:xfrm>
            <a:off x="9393857"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22" name="Text 18"/>
          <p:cNvSpPr/>
          <p:nvPr/>
        </p:nvSpPr>
        <p:spPr>
          <a:xfrm>
            <a:off x="9851057"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Enviadas</a:t>
            </a:r>
            <a:endParaRPr lang="en-US" sz="2000" dirty="0"/>
          </a:p>
        </p:txBody>
      </p:sp>
      <p:sp>
        <p:nvSpPr>
          <p:cNvPr id="23" name="Text 19"/>
          <p:cNvSpPr/>
          <p:nvPr/>
        </p:nvSpPr>
        <p:spPr>
          <a:xfrm>
            <a:off x="9393857"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El recorrido de cada evento y Reentregar.</a:t>
            </a:r>
            <a:endParaRPr lang="en-US" sz="1400" dirty="0"/>
          </a:p>
        </p:txBody>
      </p:sp>
      <p:sp>
        <p:nvSpPr>
          <p:cNvPr id="24" name="Shape 20"/>
          <p:cNvSpPr/>
          <p:nvPr/>
        </p:nvSpPr>
        <p:spPr>
          <a:xfrm>
            <a:off x="61264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25" name="Shape 21"/>
          <p:cNvSpPr/>
          <p:nvPr/>
        </p:nvSpPr>
        <p:spPr>
          <a:xfrm>
            <a:off x="722376" y="3974714"/>
            <a:ext cx="74615" cy="74615"/>
          </a:xfrm>
          <a:prstGeom prst="ellipse">
            <a:avLst/>
          </a:prstGeom>
          <a:solidFill>
            <a:srgbClr val="E5484D"/>
          </a:solidFill>
          <a:ln w="12700">
            <a:solidFill>
              <a:srgbClr val="E5484D"/>
            </a:solidFill>
            <a:prstDash val="solid"/>
          </a:ln>
        </p:spPr>
      </p:sp>
      <p:sp>
        <p:nvSpPr>
          <p:cNvPr id="26" name="Shape 22"/>
          <p:cNvSpPr/>
          <p:nvPr/>
        </p:nvSpPr>
        <p:spPr>
          <a:xfrm>
            <a:off x="821131" y="3974714"/>
            <a:ext cx="74615" cy="74615"/>
          </a:xfrm>
          <a:prstGeom prst="ellipse">
            <a:avLst/>
          </a:prstGeom>
          <a:solidFill>
            <a:srgbClr val="F5A524"/>
          </a:solidFill>
          <a:ln w="12700">
            <a:solidFill>
              <a:srgbClr val="F5A524"/>
            </a:solidFill>
            <a:prstDash val="solid"/>
          </a:ln>
        </p:spPr>
      </p:sp>
      <p:sp>
        <p:nvSpPr>
          <p:cNvPr id="27" name="Shape 23"/>
          <p:cNvSpPr/>
          <p:nvPr/>
        </p:nvSpPr>
        <p:spPr>
          <a:xfrm>
            <a:off x="919886" y="3974714"/>
            <a:ext cx="74615" cy="74615"/>
          </a:xfrm>
          <a:prstGeom prst="ellipse">
            <a:avLst/>
          </a:prstGeom>
          <a:solidFill>
            <a:srgbClr val="30A46C"/>
          </a:solidFill>
          <a:ln w="12700">
            <a:solidFill>
              <a:srgbClr val="30A46C"/>
            </a:solidFill>
            <a:prstDash val="solid"/>
          </a:ln>
        </p:spPr>
      </p:sp>
      <p:sp>
        <p:nvSpPr>
          <p:cNvPr id="28" name="Text 24"/>
          <p:cNvSpPr/>
          <p:nvPr/>
        </p:nvSpPr>
        <p:spPr>
          <a:xfrm>
            <a:off x="112471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29" name="Image 2" descr="Salud">    </p:cNvPr>
          <p:cNvPicPr>
            <a:picLocks noChangeAspect="1"/>
          </p:cNvPicPr>
          <p:nvPr/>
        </p:nvPicPr>
        <p:blipFill>
          <a:blip r:embed="rId3"/>
          <a:stretch>
            <a:fillRect/>
          </a:stretch>
        </p:blipFill>
        <p:spPr>
          <a:xfrm>
            <a:off x="612648" y="4123944"/>
            <a:ext cx="2877386" cy="1798366"/>
          </a:xfrm>
          <a:prstGeom prst="rect">
            <a:avLst/>
          </a:prstGeom>
        </p:spPr>
      </p:pic>
      <p:sp>
        <p:nvSpPr>
          <p:cNvPr id="30" name="Text 25"/>
          <p:cNvSpPr/>
          <p:nvPr/>
        </p:nvSpPr>
        <p:spPr>
          <a:xfrm>
            <a:off x="3727778"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31" name="Text 26"/>
          <p:cNvSpPr/>
          <p:nvPr/>
        </p:nvSpPr>
        <p:spPr>
          <a:xfrm>
            <a:off x="4184978"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Salud</a:t>
            </a:r>
            <a:endParaRPr lang="en-US" sz="2000" dirty="0"/>
          </a:p>
        </p:txBody>
      </p:sp>
      <p:sp>
        <p:nvSpPr>
          <p:cNvPr id="32" name="Text 27"/>
          <p:cNvSpPr/>
          <p:nvPr/>
        </p:nvSpPr>
        <p:spPr>
          <a:xfrm>
            <a:off x="3727778"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Los dos servicios, Swagger y Grafana.</a:t>
            </a:r>
            <a:endParaRPr lang="en-US" sz="1400" dirty="0"/>
          </a:p>
        </p:txBody>
      </p:sp>
      <p:sp>
        <p:nvSpPr>
          <p:cNvPr id="33" name="Shape 28"/>
          <p:cNvSpPr/>
          <p:nvPr/>
        </p:nvSpPr>
        <p:spPr>
          <a:xfrm>
            <a:off x="627872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34" name="Shape 29"/>
          <p:cNvSpPr/>
          <p:nvPr/>
        </p:nvSpPr>
        <p:spPr>
          <a:xfrm>
            <a:off x="6388456" y="3974714"/>
            <a:ext cx="74615" cy="74615"/>
          </a:xfrm>
          <a:prstGeom prst="ellipse">
            <a:avLst/>
          </a:prstGeom>
          <a:solidFill>
            <a:srgbClr val="E5484D"/>
          </a:solidFill>
          <a:ln w="12700">
            <a:solidFill>
              <a:srgbClr val="E5484D"/>
            </a:solidFill>
            <a:prstDash val="solid"/>
          </a:ln>
        </p:spPr>
      </p:sp>
      <p:sp>
        <p:nvSpPr>
          <p:cNvPr id="35" name="Shape 30"/>
          <p:cNvSpPr/>
          <p:nvPr/>
        </p:nvSpPr>
        <p:spPr>
          <a:xfrm>
            <a:off x="6487211" y="3974714"/>
            <a:ext cx="74615" cy="74615"/>
          </a:xfrm>
          <a:prstGeom prst="ellipse">
            <a:avLst/>
          </a:prstGeom>
          <a:solidFill>
            <a:srgbClr val="F5A524"/>
          </a:solidFill>
          <a:ln w="12700">
            <a:solidFill>
              <a:srgbClr val="F5A524"/>
            </a:solidFill>
            <a:prstDash val="solid"/>
          </a:ln>
        </p:spPr>
      </p:sp>
      <p:sp>
        <p:nvSpPr>
          <p:cNvPr id="36" name="Shape 31"/>
          <p:cNvSpPr/>
          <p:nvPr/>
        </p:nvSpPr>
        <p:spPr>
          <a:xfrm>
            <a:off x="6585966" y="3974714"/>
            <a:ext cx="74615" cy="74615"/>
          </a:xfrm>
          <a:prstGeom prst="ellipse">
            <a:avLst/>
          </a:prstGeom>
          <a:solidFill>
            <a:srgbClr val="30A46C"/>
          </a:solidFill>
          <a:ln w="12700">
            <a:solidFill>
              <a:srgbClr val="30A46C"/>
            </a:solidFill>
            <a:prstDash val="solid"/>
          </a:ln>
        </p:spPr>
      </p:sp>
      <p:sp>
        <p:nvSpPr>
          <p:cNvPr id="37" name="Text 32"/>
          <p:cNvSpPr/>
          <p:nvPr/>
        </p:nvSpPr>
        <p:spPr>
          <a:xfrm>
            <a:off x="679079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localhost:8088/#/ayuda</a:t>
            </a:r>
            <a:endParaRPr lang="en-US" sz="700" dirty="0"/>
          </a:p>
        </p:txBody>
      </p:sp>
      <p:pic>
        <p:nvPicPr>
          <p:cNvPr id="38" name="Image 3" descr="Ayuda">    </p:cNvPr>
          <p:cNvPicPr>
            <a:picLocks noChangeAspect="1"/>
          </p:cNvPicPr>
          <p:nvPr/>
        </p:nvPicPr>
        <p:blipFill>
          <a:blip r:embed="rId4"/>
          <a:stretch>
            <a:fillRect/>
          </a:stretch>
        </p:blipFill>
        <p:spPr>
          <a:xfrm>
            <a:off x="6278728" y="4123944"/>
            <a:ext cx="2877386" cy="1798366"/>
          </a:xfrm>
          <a:prstGeom prst="rect">
            <a:avLst/>
          </a:prstGeom>
        </p:spPr>
      </p:pic>
      <p:sp>
        <p:nvSpPr>
          <p:cNvPr id="39" name="Text 33"/>
          <p:cNvSpPr/>
          <p:nvPr/>
        </p:nvSpPr>
        <p:spPr>
          <a:xfrm>
            <a:off x="9393857"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40" name="Text 34"/>
          <p:cNvSpPr/>
          <p:nvPr/>
        </p:nvSpPr>
        <p:spPr>
          <a:xfrm>
            <a:off x="9851057"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Ayuda</a:t>
            </a:r>
            <a:endParaRPr lang="en-US" sz="2000" dirty="0"/>
          </a:p>
        </p:txBody>
      </p:sp>
      <p:sp>
        <p:nvSpPr>
          <p:cNvPr id="41" name="Text 35"/>
          <p:cNvSpPr/>
          <p:nvPr/>
        </p:nvSpPr>
        <p:spPr>
          <a:xfrm>
            <a:off x="9393857"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Diagramas paso a paso de cómo funciona.</a:t>
            </a:r>
            <a:endParaRPr lang="en-US" sz="1400" dirty="0"/>
          </a:p>
        </p:txBody>
      </p:sp>
      <p:sp>
        <p:nvSpPr>
          <p:cNvPr id="42" name="Shape 36"/>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38"/>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Cualquier persona puede usarla, y quien quiera entenderla tiene la explicación a un clic.</a:t>
            </a:r>
            <a:endParaRPr lang="en-US" sz="1400" dirty="0"/>
          </a:p>
        </p:txBody>
      </p:sp>
      <p:sp>
        <p:nvSpPr>
          <p:cNvPr id="45"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Demostración en vivo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lo que contamos, funcionando.</a:t>
            </a:r>
            <a:endParaRPr lang="en-US" sz="1700" dirty="0"/>
          </a:p>
        </p:txBody>
      </p:sp>
      <p:sp>
        <p:nvSpPr>
          <p:cNvPr id="6" name="Shape 4"/>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7" name="Icono heart-pulse"/>
          <p:cNvSpPr/>
          <p:nvPr/>
        </p:nvSpPr>
        <p:spPr>
          <a:xfrm>
            <a:off x="1588427" y="2901391"/>
            <a:ext cx="790042" cy="790042"/>
          </a:xfrm>
          <a:custGeom>
            <a:avLst/>
            <a:gdLst/>
            <a:ahLst/>
            <a:cxnLst/>
            <a:rect l="l" t="t" r="r" b="b"/>
            <a:pathLst>
              <a:path w="790042" h="790042">
                <a:moveTo>
                  <a:pt x="625450" y="460858"/>
                </a:moveTo>
                <a:cubicBezTo>
                  <a:pt x="674498" y="412797"/>
                  <a:pt x="724205" y="355190"/>
                  <a:pt x="724205" y="279806"/>
                </a:cubicBezTo>
                <a:cubicBezTo>
                  <a:pt x="724205" y="179815"/>
                  <a:pt x="643145" y="98755"/>
                  <a:pt x="543154" y="98755"/>
                </a:cubicBezTo>
                <a:cubicBezTo>
                  <a:pt x="485217" y="98755"/>
                  <a:pt x="444398" y="115214"/>
                  <a:pt x="395021" y="164592"/>
                </a:cubicBezTo>
                <a:cubicBezTo>
                  <a:pt x="345643" y="115214"/>
                  <a:pt x="304824" y="98755"/>
                  <a:pt x="246888" y="98755"/>
                </a:cubicBezTo>
                <a:cubicBezTo>
                  <a:pt x="146896" y="98755"/>
                  <a:pt x="65837" y="179815"/>
                  <a:pt x="65837" y="279806"/>
                </a:cubicBezTo>
                <a:cubicBezTo>
                  <a:pt x="65837" y="355519"/>
                  <a:pt x="115214" y="413126"/>
                  <a:pt x="164592" y="460858"/>
                </a:cubicBezTo>
                <a:lnTo>
                  <a:pt x="395021" y="691286"/>
                </a:lnTo>
                <a:close/>
                <a:moveTo>
                  <a:pt x="105997" y="395021"/>
                </a:moveTo>
                <a:lnTo>
                  <a:pt x="312725" y="395021"/>
                </a:lnTo>
                <a:lnTo>
                  <a:pt x="329184" y="362102"/>
                </a:lnTo>
                <a:lnTo>
                  <a:pt x="395021" y="510235"/>
                </a:lnTo>
                <a:lnTo>
                  <a:pt x="460858" y="279806"/>
                </a:lnTo>
                <a:lnTo>
                  <a:pt x="510235" y="395021"/>
                </a:lnTo>
                <a:lnTo>
                  <a:pt x="683715" y="395021"/>
                </a:lnTo>
              </a:path>
            </a:pathLst>
          </a:custGeom>
          <a:noFill/>
          <a:ln w="57607" cap="rnd">
            <a:solidFill>
              <a:srgbClr val="0B2350"/>
            </a:solidFill>
            <a:prstDash val="solid"/>
            <a:round/>
          </a:ln>
        </p:spPr>
      </p:sp>
      <p:sp>
        <p:nvSpPr>
          <p:cNvPr id="8" name="Text 6"/>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9" name="Text 7"/>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Ver la salud</a:t>
            </a:r>
            <a:endParaRPr lang="en-US" sz="1800" dirty="0"/>
          </a:p>
        </p:txBody>
      </p:sp>
      <p:sp>
        <p:nvSpPr>
          <p:cNvPr id="10" name="Text 8"/>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dos servicios en verde.</a:t>
            </a:r>
            <a:endParaRPr lang="en-US" sz="1400" dirty="0"/>
          </a:p>
        </p:txBody>
      </p:sp>
      <p:sp>
        <p:nvSpPr>
          <p:cNvPr id="11" name="Shape 9"/>
          <p:cNvSpPr/>
          <p:nvPr/>
        </p:nvSpPr>
        <p:spPr>
          <a:xfrm>
            <a:off x="2806408" y="3296412"/>
            <a:ext cx="1095680" cy="0"/>
          </a:xfrm>
          <a:prstGeom prst="line">
            <a:avLst/>
          </a:prstGeom>
          <a:noFill/>
          <a:ln w="38100">
            <a:solidFill>
              <a:srgbClr val="2BA6CB"/>
            </a:solidFill>
            <a:prstDash val="solid"/>
            <a:tailEnd type="triangle"/>
          </a:ln>
        </p:spPr>
      </p:sp>
      <p:sp>
        <p:nvSpPr>
          <p:cNvPr id="12" name="Shape 10"/>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3" name="Icono file-plus"/>
          <p:cNvSpPr/>
          <p:nvPr/>
        </p:nvSpPr>
        <p:spPr>
          <a:xfrm>
            <a:off x="4330027" y="2901391"/>
            <a:ext cx="790042" cy="790042"/>
          </a:xfrm>
          <a:custGeom>
            <a:avLst/>
            <a:gdLst/>
            <a:ahLst/>
            <a:cxnLst/>
            <a:rect l="l" t="t" r="r" b="b"/>
            <a:pathLst>
              <a:path w="790042" h="790042">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moveTo>
                  <a:pt x="460858" y="65837"/>
                </a:moveTo>
                <a:lnTo>
                  <a:pt x="460858" y="197510"/>
                </a:lnTo>
                <a:cubicBezTo>
                  <a:pt x="460858" y="233871"/>
                  <a:pt x="490334" y="263347"/>
                  <a:pt x="526694" y="263347"/>
                </a:cubicBezTo>
                <a:lnTo>
                  <a:pt x="658368" y="263347"/>
                </a:lnTo>
                <a:moveTo>
                  <a:pt x="296266" y="493776"/>
                </a:moveTo>
                <a:lnTo>
                  <a:pt x="493776" y="493776"/>
                </a:lnTo>
                <a:moveTo>
                  <a:pt x="395021" y="592531"/>
                </a:moveTo>
                <a:lnTo>
                  <a:pt x="395021" y="395021"/>
                </a:lnTo>
              </a:path>
            </a:pathLst>
          </a:custGeom>
          <a:noFill/>
          <a:ln w="57607" cap="rnd">
            <a:solidFill>
              <a:srgbClr val="0B2350"/>
            </a:solidFill>
            <a:prstDash val="solid"/>
            <a:round/>
          </a:ln>
        </p:spPr>
      </p:sp>
      <p:sp>
        <p:nvSpPr>
          <p:cNvPr id="14" name="Text 12"/>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5" name="Text 13"/>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a:t>
            </a:r>
            <a:endParaRPr lang="en-US" sz="1800" dirty="0"/>
          </a:p>
        </p:txBody>
      </p:sp>
      <p:sp>
        <p:nvSpPr>
          <p:cNvPr id="16" name="Text 14"/>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solicitud nueva: DEMO-01.</a:t>
            </a:r>
            <a:endParaRPr lang="en-US" sz="1400" dirty="0"/>
          </a:p>
        </p:txBody>
      </p:sp>
      <p:sp>
        <p:nvSpPr>
          <p:cNvPr id="17" name="Shape 15"/>
          <p:cNvSpPr/>
          <p:nvPr/>
        </p:nvSpPr>
        <p:spPr>
          <a:xfrm>
            <a:off x="5548008" y="3296412"/>
            <a:ext cx="1095680" cy="0"/>
          </a:xfrm>
          <a:prstGeom prst="line">
            <a:avLst/>
          </a:prstGeom>
          <a:noFill/>
          <a:ln w="38100">
            <a:solidFill>
              <a:srgbClr val="2BA6CB"/>
            </a:solidFill>
            <a:prstDash val="solid"/>
            <a:tailEnd type="triangle"/>
          </a:ln>
        </p:spPr>
      </p:sp>
      <p:sp>
        <p:nvSpPr>
          <p:cNvPr id="18" name="Shape 16"/>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7071627" y="2901391"/>
            <a:ext cx="790042" cy="790042"/>
          </a:xfrm>
          <a:custGeom>
            <a:avLst/>
            <a:gdLst/>
            <a:ahLst/>
            <a:cxnLst/>
            <a:rect l="l" t="t" r="r" b="b"/>
            <a:pathLst>
              <a:path w="790042" h="790042">
                <a:moveTo>
                  <a:pt x="478502" y="713868"/>
                </a:moveTo>
                <a:cubicBezTo>
                  <a:pt x="481063" y="720252"/>
                  <a:pt x="487323" y="724369"/>
                  <a:pt x="494199" y="724193"/>
                </a:cubicBezTo>
                <a:cubicBezTo>
                  <a:pt x="501074" y="724017"/>
                  <a:pt x="507115" y="719584"/>
                  <a:pt x="509346" y="713078"/>
                </a:cubicBezTo>
                <a:lnTo>
                  <a:pt x="723316" y="87629"/>
                </a:lnTo>
                <a:cubicBezTo>
                  <a:pt x="725467" y="81674"/>
                  <a:pt x="723981" y="75013"/>
                  <a:pt x="719505" y="70537"/>
                </a:cubicBezTo>
                <a:cubicBezTo>
                  <a:pt x="715028" y="66060"/>
                  <a:pt x="708367" y="64575"/>
                  <a:pt x="702413" y="66726"/>
                </a:cubicBezTo>
                <a:lnTo>
                  <a:pt x="76963" y="280695"/>
                </a:lnTo>
                <a:cubicBezTo>
                  <a:pt x="70457" y="282926"/>
                  <a:pt x="66025" y="288967"/>
                  <a:pt x="65849" y="295843"/>
                </a:cubicBezTo>
                <a:cubicBezTo>
                  <a:pt x="65673" y="302718"/>
                  <a:pt x="69790" y="308979"/>
                  <a:pt x="76173" y="311540"/>
                </a:cubicBezTo>
                <a:lnTo>
                  <a:pt x="337216" y="416220"/>
                </a:lnTo>
                <a:cubicBezTo>
                  <a:pt x="353891" y="422897"/>
                  <a:pt x="367115" y="436096"/>
                  <a:pt x="373821" y="452760"/>
                </a:cubicBezTo>
                <a:close/>
                <a:moveTo>
                  <a:pt x="719399" y="70676"/>
                </a:moveTo>
                <a:lnTo>
                  <a:pt x="359271" y="430770"/>
                </a:lnTo>
              </a:path>
            </a:pathLst>
          </a:custGeom>
          <a:noFill/>
          <a:ln w="57607" cap="rnd">
            <a:solidFill>
              <a:srgbClr val="0B6E8A"/>
            </a:solidFill>
            <a:prstDash val="solid"/>
            <a:round/>
          </a:ln>
        </p:spPr>
      </p:sp>
      <p:sp>
        <p:nvSpPr>
          <p:cNvPr id="20" name="Text 18"/>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1" name="Text 19"/>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Y ver llegar el evento y el aviso.</a:t>
            </a:r>
            <a:endParaRPr lang="en-US" sz="1400" dirty="0"/>
          </a:p>
        </p:txBody>
      </p:sp>
      <p:sp>
        <p:nvSpPr>
          <p:cNvPr id="23" name="Shape 21"/>
          <p:cNvSpPr/>
          <p:nvPr/>
        </p:nvSpPr>
        <p:spPr>
          <a:xfrm>
            <a:off x="8289608" y="3296412"/>
            <a:ext cx="1095680" cy="0"/>
          </a:xfrm>
          <a:prstGeom prst="line">
            <a:avLst/>
          </a:prstGeom>
          <a:noFill/>
          <a:ln w="38100">
            <a:solidFill>
              <a:srgbClr val="2BA6CB"/>
            </a:solidFill>
            <a:prstDash val="solid"/>
            <a:tailEnd type="triangle"/>
          </a:ln>
        </p:spPr>
      </p:sp>
      <p:sp>
        <p:nvSpPr>
          <p:cNvPr id="24" name="Shape 22"/>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5" name="Icono repeat"/>
          <p:cNvSpPr/>
          <p:nvPr/>
        </p:nvSpPr>
        <p:spPr>
          <a:xfrm>
            <a:off x="9813226" y="2901391"/>
            <a:ext cx="790042" cy="790042"/>
          </a:xfrm>
          <a:custGeom>
            <a:avLst/>
            <a:gdLst/>
            <a:ahLst/>
            <a:cxnLst/>
            <a:rect l="l" t="t" r="r" b="b"/>
            <a:pathLst>
              <a:path w="790042" h="790042">
                <a:moveTo>
                  <a:pt x="559613" y="65837"/>
                </a:moveTo>
                <a:lnTo>
                  <a:pt x="691286" y="197510"/>
                </a:lnTo>
                <a:lnTo>
                  <a:pt x="559613" y="329184"/>
                </a:lnTo>
                <a:moveTo>
                  <a:pt x="98755" y="362102"/>
                </a:moveTo>
                <a:lnTo>
                  <a:pt x="98755" y="329184"/>
                </a:lnTo>
                <a:cubicBezTo>
                  <a:pt x="98755" y="256463"/>
                  <a:pt x="157707" y="197510"/>
                  <a:pt x="230429" y="197510"/>
                </a:cubicBezTo>
                <a:lnTo>
                  <a:pt x="691286" y="197510"/>
                </a:lnTo>
                <a:moveTo>
                  <a:pt x="230429" y="724205"/>
                </a:moveTo>
                <a:lnTo>
                  <a:pt x="98755" y="592531"/>
                </a:lnTo>
                <a:lnTo>
                  <a:pt x="230429" y="460858"/>
                </a:lnTo>
                <a:moveTo>
                  <a:pt x="691286" y="427939"/>
                </a:moveTo>
                <a:lnTo>
                  <a:pt x="691286" y="460858"/>
                </a:lnTo>
                <a:cubicBezTo>
                  <a:pt x="691286" y="533579"/>
                  <a:pt x="632334" y="592531"/>
                  <a:pt x="559613" y="592531"/>
                </a:cubicBezTo>
                <a:lnTo>
                  <a:pt x="98755" y="592531"/>
                </a:lnTo>
              </a:path>
            </a:pathLst>
          </a:custGeom>
          <a:noFill/>
          <a:ln w="57607" cap="rnd">
            <a:solidFill>
              <a:srgbClr val="0A6648"/>
            </a:solidFill>
            <a:prstDash val="solid"/>
            <a:round/>
          </a:ln>
        </p:spPr>
      </p:sp>
      <p:sp>
        <p:nvSpPr>
          <p:cNvPr id="26" name="Text 24"/>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7" name="Text 25"/>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Reentregar</a:t>
            </a:r>
            <a:endParaRPr lang="en-US" sz="1800" dirty="0"/>
          </a:p>
        </p:txBody>
      </p:sp>
      <p:sp>
        <p:nvSpPr>
          <p:cNvPr id="28" name="Text 26"/>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aviso no se duplica.</a:t>
            </a:r>
            <a:endParaRPr lang="en-US" sz="1400" dirty="0"/>
          </a:p>
        </p:txBody>
      </p:sp>
      <p:sp>
        <p:nvSpPr>
          <p:cNvPr id="29" name="Text 2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aprendimos, en ARKA-Lite</a:t>
            </a:r>
            <a:endParaRPr lang="en-US" sz="2800" dirty="0"/>
          </a:p>
        </p:txBody>
      </p:sp>
      <p:sp>
        <p:nvSpPr>
          <p:cNvPr id="5" name="Shape 3"/>
          <p:cNvSpPr/>
          <p:nvPr/>
        </p:nvSpPr>
        <p:spPr>
          <a:xfrm>
            <a:off x="612648"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612648" y="1499616"/>
            <a:ext cx="64008" cy="1283208"/>
          </a:xfrm>
          <a:prstGeom prst="rect">
            <a:avLst/>
          </a:prstGeom>
          <a:solidFill>
            <a:srgbClr val="0B2350"/>
          </a:solidFill>
          <a:ln w="12700">
            <a:solidFill>
              <a:srgbClr val="0B2350"/>
            </a:solidFill>
            <a:prstDash val="solid"/>
          </a:ln>
        </p:spPr>
      </p:sp>
      <p:sp>
        <p:nvSpPr>
          <p:cNvPr id="7" name="Shape 5"/>
          <p:cNvSpPr/>
          <p:nvPr/>
        </p:nvSpPr>
        <p:spPr>
          <a:xfrm>
            <a:off x="813816" y="1554480"/>
            <a:ext cx="566928" cy="566928"/>
          </a:xfrm>
          <a:prstGeom prst="ellipse">
            <a:avLst/>
          </a:prstGeom>
          <a:solidFill>
            <a:srgbClr val="E8EEF8"/>
          </a:solidFill>
          <a:ln w="12700">
            <a:solidFill>
              <a:srgbClr val="E8EEF8"/>
            </a:solidFill>
            <a:prstDash val="solid"/>
          </a:ln>
        </p:spPr>
      </p:sp>
      <p:sp>
        <p:nvSpPr>
          <p:cNvPr id="8" name="Icono code"/>
          <p:cNvSpPr/>
          <p:nvPr/>
        </p:nvSpPr>
        <p:spPr>
          <a:xfrm>
            <a:off x="949879" y="1690543"/>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0B2350"/>
            </a:solidFill>
            <a:prstDash val="solid"/>
            <a:round/>
          </a:ln>
        </p:spPr>
      </p:sp>
      <p:sp>
        <p:nvSpPr>
          <p:cNvPr id="9" name="Text 7"/>
          <p:cNvSpPr/>
          <p:nvPr/>
        </p:nvSpPr>
        <p:spPr>
          <a:xfrm>
            <a:off x="1527048"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Spring Boot y endpoints REST</a:t>
            </a:r>
            <a:endParaRPr lang="en-US" sz="1500" dirty="0"/>
          </a:p>
        </p:txBody>
      </p:sp>
      <p:sp>
        <p:nvSpPr>
          <p:cNvPr id="10" name="Text 8"/>
          <p:cNvSpPr/>
          <p:nvPr/>
        </p:nvSpPr>
        <p:spPr>
          <a:xfrm>
            <a:off x="868680"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Los controladores de los dos servicios</a:t>
            </a:r>
            <a:endParaRPr lang="en-US" sz="1300" dirty="0"/>
          </a:p>
        </p:txBody>
      </p:sp>
      <p:sp>
        <p:nvSpPr>
          <p:cNvPr id="11" name="Shape 9"/>
          <p:cNvSpPr/>
          <p:nvPr/>
        </p:nvSpPr>
        <p:spPr>
          <a:xfrm>
            <a:off x="3399968"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3399968" y="1499616"/>
            <a:ext cx="64008" cy="1283208"/>
          </a:xfrm>
          <a:prstGeom prst="rect">
            <a:avLst/>
          </a:prstGeom>
          <a:solidFill>
            <a:srgbClr val="0B2350"/>
          </a:solidFill>
          <a:ln w="12700">
            <a:solidFill>
              <a:srgbClr val="0B2350"/>
            </a:solidFill>
            <a:prstDash val="solid"/>
          </a:ln>
        </p:spPr>
      </p:sp>
      <p:sp>
        <p:nvSpPr>
          <p:cNvPr id="13" name="Shape 11"/>
          <p:cNvSpPr/>
          <p:nvPr/>
        </p:nvSpPr>
        <p:spPr>
          <a:xfrm>
            <a:off x="3601136" y="1554480"/>
            <a:ext cx="566928" cy="566928"/>
          </a:xfrm>
          <a:prstGeom prst="ellipse">
            <a:avLst/>
          </a:prstGeom>
          <a:solidFill>
            <a:srgbClr val="E8EEF8"/>
          </a:solidFill>
          <a:ln w="12700">
            <a:solidFill>
              <a:srgbClr val="E8EEF8"/>
            </a:solidFill>
            <a:prstDash val="solid"/>
          </a:ln>
        </p:spPr>
      </p:sp>
      <p:sp>
        <p:nvSpPr>
          <p:cNvPr id="14" name="Icono shield-alert"/>
          <p:cNvSpPr/>
          <p:nvPr/>
        </p:nvSpPr>
        <p:spPr>
          <a:xfrm>
            <a:off x="3737199" y="1690543"/>
            <a:ext cx="294803" cy="294803"/>
          </a:xfrm>
          <a:custGeom>
            <a:avLst/>
            <a:gdLst/>
            <a:ahLst/>
            <a:cxnLst/>
            <a:rect l="l" t="t" r="r" b="b"/>
            <a:pathLst>
              <a:path w="294803" h="294803">
                <a:moveTo>
                  <a:pt x="245669" y="159685"/>
                </a:moveTo>
                <a:cubicBezTo>
                  <a:pt x="245669" y="221102"/>
                  <a:pt x="202677" y="251811"/>
                  <a:pt x="151578" y="269622"/>
                </a:cubicBezTo>
                <a:cubicBezTo>
                  <a:pt x="148902" y="270528"/>
                  <a:pt x="145995" y="270485"/>
                  <a:pt x="143348" y="269499"/>
                </a:cubicBezTo>
                <a:cubicBezTo>
                  <a:pt x="92126" y="251811"/>
                  <a:pt x="49134" y="221102"/>
                  <a:pt x="49134" y="159685"/>
                </a:cubicBezTo>
                <a:lnTo>
                  <a:pt x="49134" y="73701"/>
                </a:lnTo>
                <a:cubicBezTo>
                  <a:pt x="49134" y="66917"/>
                  <a:pt x="54633" y="61417"/>
                  <a:pt x="61417" y="61417"/>
                </a:cubicBezTo>
                <a:cubicBezTo>
                  <a:pt x="85984" y="61417"/>
                  <a:pt x="116693" y="46677"/>
                  <a:pt x="138066" y="28006"/>
                </a:cubicBezTo>
                <a:cubicBezTo>
                  <a:pt x="143442" y="23413"/>
                  <a:pt x="151361" y="23413"/>
                  <a:pt x="156737" y="28006"/>
                </a:cubicBezTo>
                <a:cubicBezTo>
                  <a:pt x="178233" y="46800"/>
                  <a:pt x="208818" y="61417"/>
                  <a:pt x="233385" y="61417"/>
                </a:cubicBezTo>
                <a:cubicBezTo>
                  <a:pt x="240169" y="61417"/>
                  <a:pt x="245669" y="66917"/>
                  <a:pt x="245669" y="73701"/>
                </a:cubicBezTo>
                <a:close/>
                <a:moveTo>
                  <a:pt x="147401" y="98268"/>
                </a:moveTo>
                <a:lnTo>
                  <a:pt x="147401" y="147401"/>
                </a:lnTo>
                <a:moveTo>
                  <a:pt x="147401" y="196535"/>
                </a:moveTo>
                <a:lnTo>
                  <a:pt x="147524" y="196535"/>
                </a:lnTo>
              </a:path>
            </a:pathLst>
          </a:custGeom>
          <a:noFill/>
          <a:ln w="24567" cap="rnd">
            <a:solidFill>
              <a:srgbClr val="0B2350"/>
            </a:solidFill>
            <a:prstDash val="solid"/>
            <a:round/>
          </a:ln>
        </p:spPr>
      </p:sp>
      <p:sp>
        <p:nvSpPr>
          <p:cNvPr id="15" name="Text 13"/>
          <p:cNvSpPr/>
          <p:nvPr/>
        </p:nvSpPr>
        <p:spPr>
          <a:xfrm>
            <a:off x="4314368"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Manejo global de errores</a:t>
            </a:r>
            <a:endParaRPr lang="en-US" sz="1500" dirty="0"/>
          </a:p>
        </p:txBody>
      </p:sp>
      <p:sp>
        <p:nvSpPr>
          <p:cNvPr id="16" name="Text 14"/>
          <p:cNvSpPr/>
          <p:nvPr/>
        </p:nvSpPr>
        <p:spPr>
          <a:xfrm>
            <a:off x="3656000"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404, 409 y 400 desde un solo lugar</a:t>
            </a:r>
            <a:endParaRPr lang="en-US" sz="1300" dirty="0"/>
          </a:p>
        </p:txBody>
      </p:sp>
      <p:sp>
        <p:nvSpPr>
          <p:cNvPr id="17" name="Shape 15"/>
          <p:cNvSpPr/>
          <p:nvPr/>
        </p:nvSpPr>
        <p:spPr>
          <a:xfrm>
            <a:off x="6187288"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87288" y="1499616"/>
            <a:ext cx="64008" cy="1283208"/>
          </a:xfrm>
          <a:prstGeom prst="rect">
            <a:avLst/>
          </a:prstGeom>
          <a:solidFill>
            <a:srgbClr val="0B2350"/>
          </a:solidFill>
          <a:ln w="12700">
            <a:solidFill>
              <a:srgbClr val="0B2350"/>
            </a:solidFill>
            <a:prstDash val="solid"/>
          </a:ln>
        </p:spPr>
      </p:sp>
      <p:sp>
        <p:nvSpPr>
          <p:cNvPr id="19" name="Shape 17"/>
          <p:cNvSpPr/>
          <p:nvPr/>
        </p:nvSpPr>
        <p:spPr>
          <a:xfrm>
            <a:off x="6388456" y="1554480"/>
            <a:ext cx="566928" cy="566928"/>
          </a:xfrm>
          <a:prstGeom prst="ellipse">
            <a:avLst/>
          </a:prstGeom>
          <a:solidFill>
            <a:srgbClr val="E8EEF8"/>
          </a:solidFill>
          <a:ln w="12700">
            <a:solidFill>
              <a:srgbClr val="E8EEF8"/>
            </a:solidFill>
            <a:prstDash val="solid"/>
          </a:ln>
        </p:spPr>
      </p:sp>
      <p:sp>
        <p:nvSpPr>
          <p:cNvPr id="20" name="Icono git-branch"/>
          <p:cNvSpPr/>
          <p:nvPr/>
        </p:nvSpPr>
        <p:spPr>
          <a:xfrm>
            <a:off x="6524518" y="1690543"/>
            <a:ext cx="294803" cy="294803"/>
          </a:xfrm>
          <a:custGeom>
            <a:avLst/>
            <a:gdLst/>
            <a:ahLst/>
            <a:cxnLst/>
            <a:rect l="l" t="t" r="r" b="b"/>
            <a:pathLst>
              <a:path w="294803" h="294803">
                <a:moveTo>
                  <a:pt x="73701" y="36850"/>
                </a:moveTo>
                <a:lnTo>
                  <a:pt x="73701" y="184252"/>
                </a:lnTo>
                <a:moveTo>
                  <a:pt x="257952" y="73701"/>
                </a:moveTo>
                <a:cubicBezTo>
                  <a:pt x="257952" y="94053"/>
                  <a:pt x="241454" y="110551"/>
                  <a:pt x="221102" y="110551"/>
                </a:cubicBezTo>
                <a:cubicBezTo>
                  <a:pt x="200750" y="110551"/>
                  <a:pt x="184252" y="94053"/>
                  <a:pt x="184252" y="73701"/>
                </a:cubicBezTo>
                <a:cubicBezTo>
                  <a:pt x="184252" y="53349"/>
                  <a:pt x="200750" y="36850"/>
                  <a:pt x="221102" y="36850"/>
                </a:cubicBezTo>
                <a:cubicBezTo>
                  <a:pt x="241454" y="36850"/>
                  <a:pt x="257952" y="53349"/>
                  <a:pt x="257952" y="73701"/>
                </a:cubicBezTo>
                <a:close/>
                <a:moveTo>
                  <a:pt x="110551" y="221102"/>
                </a:moveTo>
                <a:cubicBezTo>
                  <a:pt x="110551" y="241454"/>
                  <a:pt x="94053" y="257952"/>
                  <a:pt x="73701" y="257952"/>
                </a:cubicBezTo>
                <a:cubicBezTo>
                  <a:pt x="53349" y="257952"/>
                  <a:pt x="36850" y="241454"/>
                  <a:pt x="36850" y="221102"/>
                </a:cubicBezTo>
                <a:cubicBezTo>
                  <a:pt x="36850" y="200750"/>
                  <a:pt x="53349" y="184252"/>
                  <a:pt x="73701" y="184252"/>
                </a:cubicBezTo>
                <a:cubicBezTo>
                  <a:pt x="94053" y="184252"/>
                  <a:pt x="110551" y="200750"/>
                  <a:pt x="110551" y="221102"/>
                </a:cubicBezTo>
                <a:close/>
                <a:moveTo>
                  <a:pt x="221102" y="110551"/>
                </a:moveTo>
                <a:cubicBezTo>
                  <a:pt x="221102" y="171607"/>
                  <a:pt x="171607" y="221102"/>
                  <a:pt x="110551" y="221102"/>
                </a:cubicBezTo>
              </a:path>
            </a:pathLst>
          </a:custGeom>
          <a:noFill/>
          <a:ln w="24567" cap="rnd">
            <a:solidFill>
              <a:srgbClr val="0B2350"/>
            </a:solidFill>
            <a:prstDash val="solid"/>
            <a:round/>
          </a:ln>
        </p:spPr>
      </p:sp>
      <p:sp>
        <p:nvSpPr>
          <p:cNvPr id="21" name="Text 19"/>
          <p:cNvSpPr/>
          <p:nvPr/>
        </p:nvSpPr>
        <p:spPr>
          <a:xfrm>
            <a:off x="7101688"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Git, Swagger y pruebas</a:t>
            </a:r>
            <a:endParaRPr lang="en-US" sz="1500" dirty="0"/>
          </a:p>
        </p:txBody>
      </p:sp>
      <p:sp>
        <p:nvSpPr>
          <p:cNvPr id="22" name="Text 20"/>
          <p:cNvSpPr/>
          <p:nvPr/>
        </p:nvSpPr>
        <p:spPr>
          <a:xfrm>
            <a:off x="6443320"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Pull Requests, contratos, JUnit y MockMvc</a:t>
            </a:r>
            <a:endParaRPr lang="en-US" sz="1300" dirty="0"/>
          </a:p>
        </p:txBody>
      </p:sp>
      <p:sp>
        <p:nvSpPr>
          <p:cNvPr id="23" name="Shape 21"/>
          <p:cNvSpPr/>
          <p:nvPr/>
        </p:nvSpPr>
        <p:spPr>
          <a:xfrm>
            <a:off x="8974607"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8974607" y="1499616"/>
            <a:ext cx="64008" cy="1283208"/>
          </a:xfrm>
          <a:prstGeom prst="rect">
            <a:avLst/>
          </a:prstGeom>
          <a:solidFill>
            <a:srgbClr val="0B2350"/>
          </a:solidFill>
          <a:ln w="12700">
            <a:solidFill>
              <a:srgbClr val="0B2350"/>
            </a:solidFill>
            <a:prstDash val="solid"/>
          </a:ln>
        </p:spPr>
      </p:sp>
      <p:sp>
        <p:nvSpPr>
          <p:cNvPr id="25" name="Shape 23"/>
          <p:cNvSpPr/>
          <p:nvPr/>
        </p:nvSpPr>
        <p:spPr>
          <a:xfrm>
            <a:off x="9175775" y="1554480"/>
            <a:ext cx="566928" cy="566928"/>
          </a:xfrm>
          <a:prstGeom prst="ellipse">
            <a:avLst/>
          </a:prstGeom>
          <a:solidFill>
            <a:srgbClr val="E8EEF8"/>
          </a:solidFill>
          <a:ln w="12700">
            <a:solidFill>
              <a:srgbClr val="E8EEF8"/>
            </a:solidFill>
            <a:prstDash val="solid"/>
          </a:ln>
        </p:spPr>
      </p:sp>
      <p:sp>
        <p:nvSpPr>
          <p:cNvPr id="26" name="Icono plug"/>
          <p:cNvSpPr/>
          <p:nvPr/>
        </p:nvSpPr>
        <p:spPr>
          <a:xfrm>
            <a:off x="9311838" y="1690543"/>
            <a:ext cx="294803" cy="294803"/>
          </a:xfrm>
          <a:custGeom>
            <a:avLst/>
            <a:gdLst/>
            <a:ahLst/>
            <a:cxnLst/>
            <a:rect l="l" t="t" r="r" b="b"/>
            <a:pathLst>
              <a:path w="294803" h="294803">
                <a:moveTo>
                  <a:pt x="147401" y="270236"/>
                </a:moveTo>
                <a:lnTo>
                  <a:pt x="147401" y="208818"/>
                </a:lnTo>
                <a:moveTo>
                  <a:pt x="110551" y="98268"/>
                </a:moveTo>
                <a:lnTo>
                  <a:pt x="110551" y="24567"/>
                </a:lnTo>
                <a:moveTo>
                  <a:pt x="184252" y="98268"/>
                </a:moveTo>
                <a:lnTo>
                  <a:pt x="184252" y="24567"/>
                </a:lnTo>
                <a:moveTo>
                  <a:pt x="221102" y="98268"/>
                </a:moveTo>
                <a:lnTo>
                  <a:pt x="221102" y="159685"/>
                </a:lnTo>
                <a:cubicBezTo>
                  <a:pt x="221102" y="186821"/>
                  <a:pt x="199104" y="208818"/>
                  <a:pt x="171968" y="208818"/>
                </a:cubicBezTo>
                <a:lnTo>
                  <a:pt x="122834" y="208818"/>
                </a:lnTo>
                <a:cubicBezTo>
                  <a:pt x="95699" y="208818"/>
                  <a:pt x="73701" y="186821"/>
                  <a:pt x="73701" y="159685"/>
                </a:cubicBezTo>
                <a:lnTo>
                  <a:pt x="73701" y="98268"/>
                </a:lnTo>
                <a:close/>
              </a:path>
            </a:pathLst>
          </a:custGeom>
          <a:noFill/>
          <a:ln w="24567" cap="rnd">
            <a:solidFill>
              <a:srgbClr val="0B2350"/>
            </a:solidFill>
            <a:prstDash val="solid"/>
            <a:round/>
          </a:ln>
        </p:spPr>
      </p:sp>
      <p:sp>
        <p:nvSpPr>
          <p:cNvPr id="27" name="Text 25"/>
          <p:cNvSpPr/>
          <p:nvPr/>
        </p:nvSpPr>
        <p:spPr>
          <a:xfrm>
            <a:off x="9889007"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Puertos y adaptadores</a:t>
            </a:r>
            <a:endParaRPr lang="en-US" sz="1500" dirty="0"/>
          </a:p>
        </p:txBody>
      </p:sp>
      <p:sp>
        <p:nvSpPr>
          <p:cNvPr id="28" name="Text 26"/>
          <p:cNvSpPr/>
          <p:nvPr/>
        </p:nvSpPr>
        <p:spPr>
          <a:xfrm>
            <a:off x="9230639"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dominio/ y adaptadores/, con @Primary</a:t>
            </a:r>
            <a:endParaRPr lang="en-US" sz="1300" dirty="0"/>
          </a:p>
        </p:txBody>
      </p:sp>
      <p:sp>
        <p:nvSpPr>
          <p:cNvPr id="29" name="Shape 27"/>
          <p:cNvSpPr/>
          <p:nvPr/>
        </p:nvSpPr>
        <p:spPr>
          <a:xfrm>
            <a:off x="612648"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612648" y="3221736"/>
            <a:ext cx="64008" cy="1283208"/>
          </a:xfrm>
          <a:prstGeom prst="rect">
            <a:avLst/>
          </a:prstGeom>
          <a:solidFill>
            <a:srgbClr val="0B2350"/>
          </a:solidFill>
          <a:ln w="12700">
            <a:solidFill>
              <a:srgbClr val="0B2350"/>
            </a:solidFill>
            <a:prstDash val="solid"/>
          </a:ln>
        </p:spPr>
      </p:sp>
      <p:sp>
        <p:nvSpPr>
          <p:cNvPr id="31" name="Shape 29"/>
          <p:cNvSpPr/>
          <p:nvPr/>
        </p:nvSpPr>
        <p:spPr>
          <a:xfrm>
            <a:off x="813816" y="3276600"/>
            <a:ext cx="566928" cy="566928"/>
          </a:xfrm>
          <a:prstGeom prst="ellipse">
            <a:avLst/>
          </a:prstGeom>
          <a:solidFill>
            <a:srgbClr val="E8EEF8"/>
          </a:solidFill>
          <a:ln w="12700">
            <a:solidFill>
              <a:srgbClr val="E8EEF8"/>
            </a:solidFill>
            <a:prstDash val="solid"/>
          </a:ln>
        </p:spPr>
      </p:sp>
      <p:sp>
        <p:nvSpPr>
          <p:cNvPr id="32" name="Icono boxes"/>
          <p:cNvSpPr/>
          <p:nvPr/>
        </p:nvSpPr>
        <p:spPr>
          <a:xfrm>
            <a:off x="949879" y="3412663"/>
            <a:ext cx="294803" cy="294803"/>
          </a:xfrm>
          <a:custGeom>
            <a:avLst/>
            <a:gdLst/>
            <a:ahLst/>
            <a:cxnLst/>
            <a:rect l="l" t="t" r="r" b="b"/>
            <a:pathLst>
              <a:path w="294803" h="294803">
                <a:moveTo>
                  <a:pt x="36482" y="158702"/>
                </a:moveTo>
                <a:cubicBezTo>
                  <a:pt x="29106" y="163134"/>
                  <a:pt x="24586" y="171102"/>
                  <a:pt x="24567" y="179707"/>
                </a:cubicBezTo>
                <a:lnTo>
                  <a:pt x="24567" y="219505"/>
                </a:lnTo>
                <a:cubicBezTo>
                  <a:pt x="24586" y="228110"/>
                  <a:pt x="29106" y="236078"/>
                  <a:pt x="36482" y="240510"/>
                </a:cubicBezTo>
                <a:lnTo>
                  <a:pt x="73332" y="262620"/>
                </a:lnTo>
                <a:cubicBezTo>
                  <a:pt x="81118" y="267298"/>
                  <a:pt x="90850" y="267298"/>
                  <a:pt x="98636" y="262620"/>
                </a:cubicBezTo>
                <a:lnTo>
                  <a:pt x="147401" y="233385"/>
                </a:lnTo>
                <a:lnTo>
                  <a:pt x="147401" y="165826"/>
                </a:lnTo>
                <a:lnTo>
                  <a:pt x="85984" y="128976"/>
                </a:lnTo>
                <a:lnTo>
                  <a:pt x="36482" y="158702"/>
                </a:lnTo>
                <a:close/>
                <a:moveTo>
                  <a:pt x="85984" y="202677"/>
                </a:moveTo>
                <a:lnTo>
                  <a:pt x="27761" y="167669"/>
                </a:lnTo>
                <a:moveTo>
                  <a:pt x="85984" y="202677"/>
                </a:moveTo>
                <a:lnTo>
                  <a:pt x="147401" y="165826"/>
                </a:lnTo>
                <a:moveTo>
                  <a:pt x="85984" y="202677"/>
                </a:moveTo>
                <a:lnTo>
                  <a:pt x="85984" y="266182"/>
                </a:lnTo>
                <a:moveTo>
                  <a:pt x="147401" y="165826"/>
                </a:moveTo>
                <a:lnTo>
                  <a:pt x="147401" y="233385"/>
                </a:lnTo>
                <a:lnTo>
                  <a:pt x="196167" y="262620"/>
                </a:lnTo>
                <a:cubicBezTo>
                  <a:pt x="203953" y="267298"/>
                  <a:pt x="213684" y="267298"/>
                  <a:pt x="221470" y="262620"/>
                </a:cubicBezTo>
                <a:lnTo>
                  <a:pt x="258321" y="240510"/>
                </a:lnTo>
                <a:cubicBezTo>
                  <a:pt x="265697" y="236078"/>
                  <a:pt x="270217" y="228110"/>
                  <a:pt x="270236" y="219505"/>
                </a:cubicBezTo>
                <a:lnTo>
                  <a:pt x="270236" y="179707"/>
                </a:lnTo>
                <a:cubicBezTo>
                  <a:pt x="270217" y="171102"/>
                  <a:pt x="265697" y="163134"/>
                  <a:pt x="258321" y="158702"/>
                </a:cubicBezTo>
                <a:lnTo>
                  <a:pt x="208818" y="128976"/>
                </a:lnTo>
                <a:lnTo>
                  <a:pt x="147401" y="165826"/>
                </a:lnTo>
                <a:close/>
                <a:moveTo>
                  <a:pt x="208818" y="202677"/>
                </a:moveTo>
                <a:lnTo>
                  <a:pt x="147401" y="165826"/>
                </a:lnTo>
                <a:moveTo>
                  <a:pt x="208818" y="202677"/>
                </a:moveTo>
                <a:lnTo>
                  <a:pt x="267042" y="167669"/>
                </a:lnTo>
                <a:moveTo>
                  <a:pt x="208818" y="202677"/>
                </a:moveTo>
                <a:lnTo>
                  <a:pt x="208818" y="266182"/>
                </a:lnTo>
                <a:moveTo>
                  <a:pt x="97899" y="54293"/>
                </a:moveTo>
                <a:cubicBezTo>
                  <a:pt x="90523" y="58724"/>
                  <a:pt x="86003" y="66692"/>
                  <a:pt x="85984" y="75297"/>
                </a:cubicBezTo>
                <a:lnTo>
                  <a:pt x="85984" y="128976"/>
                </a:lnTo>
                <a:lnTo>
                  <a:pt x="147401" y="165826"/>
                </a:lnTo>
                <a:lnTo>
                  <a:pt x="208818" y="128976"/>
                </a:lnTo>
                <a:lnTo>
                  <a:pt x="208818" y="75297"/>
                </a:lnTo>
                <a:cubicBezTo>
                  <a:pt x="208800" y="66692"/>
                  <a:pt x="204280" y="58724"/>
                  <a:pt x="196904" y="54293"/>
                </a:cubicBezTo>
                <a:lnTo>
                  <a:pt x="160053" y="32183"/>
                </a:lnTo>
                <a:cubicBezTo>
                  <a:pt x="152267" y="27505"/>
                  <a:pt x="142535" y="27505"/>
                  <a:pt x="134749" y="32183"/>
                </a:cubicBezTo>
                <a:lnTo>
                  <a:pt x="97899" y="54293"/>
                </a:lnTo>
                <a:close/>
                <a:moveTo>
                  <a:pt x="147401" y="98268"/>
                </a:moveTo>
                <a:lnTo>
                  <a:pt x="89178" y="63260"/>
                </a:lnTo>
                <a:moveTo>
                  <a:pt x="147401" y="98268"/>
                </a:moveTo>
                <a:lnTo>
                  <a:pt x="205625" y="63260"/>
                </a:lnTo>
                <a:moveTo>
                  <a:pt x="147401" y="165826"/>
                </a:moveTo>
                <a:lnTo>
                  <a:pt x="147401" y="98268"/>
                </a:lnTo>
              </a:path>
            </a:pathLst>
          </a:custGeom>
          <a:noFill/>
          <a:ln w="24567" cap="rnd">
            <a:solidFill>
              <a:srgbClr val="0B2350"/>
            </a:solidFill>
            <a:prstDash val="solid"/>
            <a:round/>
          </a:ln>
        </p:spPr>
      </p:sp>
      <p:sp>
        <p:nvSpPr>
          <p:cNvPr id="33" name="Text 31"/>
          <p:cNvSpPr/>
          <p:nvPr/>
        </p:nvSpPr>
        <p:spPr>
          <a:xfrm>
            <a:off x="1527048" y="327660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1500" dirty="0"/>
          </a:p>
        </p:txBody>
      </p:sp>
      <p:sp>
        <p:nvSpPr>
          <p:cNvPr id="34" name="Text 32"/>
          <p:cNvSpPr/>
          <p:nvPr/>
        </p:nvSpPr>
        <p:spPr>
          <a:xfrm>
            <a:off x="868680"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Dos servicios, cada uno con su base</a:t>
            </a:r>
            <a:endParaRPr lang="en-US" sz="1300" dirty="0"/>
          </a:p>
        </p:txBody>
      </p:sp>
      <p:sp>
        <p:nvSpPr>
          <p:cNvPr id="35" name="Shape 33"/>
          <p:cNvSpPr/>
          <p:nvPr/>
        </p:nvSpPr>
        <p:spPr>
          <a:xfrm>
            <a:off x="3399968"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3399968" y="3221736"/>
            <a:ext cx="64008" cy="1283208"/>
          </a:xfrm>
          <a:prstGeom prst="rect">
            <a:avLst/>
          </a:prstGeom>
          <a:solidFill>
            <a:srgbClr val="5B3FC4"/>
          </a:solidFill>
          <a:ln w="12700">
            <a:solidFill>
              <a:srgbClr val="5B3FC4"/>
            </a:solidFill>
            <a:prstDash val="solid"/>
          </a:ln>
        </p:spPr>
      </p:sp>
      <p:sp>
        <p:nvSpPr>
          <p:cNvPr id="37" name="Shape 35"/>
          <p:cNvSpPr/>
          <p:nvPr/>
        </p:nvSpPr>
        <p:spPr>
          <a:xfrm>
            <a:off x="3601136" y="3276600"/>
            <a:ext cx="566928" cy="566928"/>
          </a:xfrm>
          <a:prstGeom prst="ellipse">
            <a:avLst/>
          </a:prstGeom>
          <a:solidFill>
            <a:srgbClr val="F1EEFD"/>
          </a:solidFill>
          <a:ln w="12700">
            <a:solidFill>
              <a:srgbClr val="F1EEFD"/>
            </a:solidFill>
            <a:prstDash val="solid"/>
          </a:ln>
        </p:spPr>
      </p:sp>
      <p:sp>
        <p:nvSpPr>
          <p:cNvPr id="38" name="Icono database"/>
          <p:cNvSpPr/>
          <p:nvPr/>
        </p:nvSpPr>
        <p:spPr>
          <a:xfrm>
            <a:off x="3737199" y="3412663"/>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B3FC4"/>
            </a:solidFill>
            <a:prstDash val="solid"/>
            <a:round/>
          </a:ln>
        </p:spPr>
      </p:sp>
      <p:sp>
        <p:nvSpPr>
          <p:cNvPr id="39" name="Text 37"/>
          <p:cNvSpPr/>
          <p:nvPr/>
        </p:nvSpPr>
        <p:spPr>
          <a:xfrm>
            <a:off x="4314368" y="327660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Base de datos y consistencia</a:t>
            </a:r>
            <a:endParaRPr lang="en-US" sz="1500" dirty="0"/>
          </a:p>
        </p:txBody>
      </p:sp>
      <p:sp>
        <p:nvSpPr>
          <p:cNvPr id="40" name="Text 38"/>
          <p:cNvSpPr/>
          <p:nvPr/>
        </p:nvSpPr>
        <p:spPr>
          <a:xfrm>
            <a:off x="3656000"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JPA, bandeja de salida e idempotencia</a:t>
            </a:r>
            <a:endParaRPr lang="en-US" sz="1300" dirty="0"/>
          </a:p>
        </p:txBody>
      </p:sp>
      <p:sp>
        <p:nvSpPr>
          <p:cNvPr id="41" name="Shape 39"/>
          <p:cNvSpPr/>
          <p:nvPr/>
        </p:nvSpPr>
        <p:spPr>
          <a:xfrm>
            <a:off x="6187288"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187288" y="3221736"/>
            <a:ext cx="64008" cy="1283208"/>
          </a:xfrm>
          <a:prstGeom prst="rect">
            <a:avLst/>
          </a:prstGeom>
          <a:solidFill>
            <a:srgbClr val="0A6648"/>
          </a:solidFill>
          <a:ln w="12700">
            <a:solidFill>
              <a:srgbClr val="0A6648"/>
            </a:solidFill>
            <a:prstDash val="solid"/>
          </a:ln>
        </p:spPr>
      </p:sp>
      <p:sp>
        <p:nvSpPr>
          <p:cNvPr id="43" name="Shape 41"/>
          <p:cNvSpPr/>
          <p:nvPr/>
        </p:nvSpPr>
        <p:spPr>
          <a:xfrm>
            <a:off x="6388456" y="3276600"/>
            <a:ext cx="566928" cy="566928"/>
          </a:xfrm>
          <a:prstGeom prst="ellipse">
            <a:avLst/>
          </a:prstGeom>
          <a:solidFill>
            <a:srgbClr val="E1F1EA"/>
          </a:solidFill>
          <a:ln w="12700">
            <a:solidFill>
              <a:srgbClr val="E1F1EA"/>
            </a:solidFill>
            <a:prstDash val="solid"/>
          </a:ln>
        </p:spPr>
      </p:sp>
      <p:sp>
        <p:nvSpPr>
          <p:cNvPr id="44" name="Icono container"/>
          <p:cNvSpPr/>
          <p:nvPr/>
        </p:nvSpPr>
        <p:spPr>
          <a:xfrm>
            <a:off x="6524518" y="3412663"/>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A6648"/>
            </a:solidFill>
            <a:prstDash val="solid"/>
            <a:round/>
          </a:ln>
        </p:spPr>
      </p:sp>
      <p:sp>
        <p:nvSpPr>
          <p:cNvPr id="45" name="Text 43"/>
          <p:cNvSpPr/>
          <p:nvPr/>
        </p:nvSpPr>
        <p:spPr>
          <a:xfrm>
            <a:off x="7101688" y="327660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 y Compose</a:t>
            </a:r>
            <a:endParaRPr lang="en-US" sz="1500" dirty="0"/>
          </a:p>
        </p:txBody>
      </p:sp>
      <p:sp>
        <p:nvSpPr>
          <p:cNvPr id="46" name="Text 44"/>
          <p:cNvSpPr/>
          <p:nvPr/>
        </p:nvSpPr>
        <p:spPr>
          <a:xfrm>
            <a:off x="6443320"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Dockerfile en dos etapas y compose.yaml</a:t>
            </a:r>
            <a:endParaRPr lang="en-US" sz="1300" dirty="0"/>
          </a:p>
        </p:txBody>
      </p:sp>
      <p:sp>
        <p:nvSpPr>
          <p:cNvPr id="47" name="Shape 45"/>
          <p:cNvSpPr/>
          <p:nvPr/>
        </p:nvSpPr>
        <p:spPr>
          <a:xfrm>
            <a:off x="8974607"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8974607" y="3221736"/>
            <a:ext cx="64008" cy="1283208"/>
          </a:xfrm>
          <a:prstGeom prst="rect">
            <a:avLst/>
          </a:prstGeom>
          <a:solidFill>
            <a:srgbClr val="0A6648"/>
          </a:solidFill>
          <a:ln w="12700">
            <a:solidFill>
              <a:srgbClr val="0A6648"/>
            </a:solidFill>
            <a:prstDash val="solid"/>
          </a:ln>
        </p:spPr>
      </p:sp>
      <p:sp>
        <p:nvSpPr>
          <p:cNvPr id="49" name="Shape 47"/>
          <p:cNvSpPr/>
          <p:nvPr/>
        </p:nvSpPr>
        <p:spPr>
          <a:xfrm>
            <a:off x="9175775" y="3276600"/>
            <a:ext cx="566928" cy="566928"/>
          </a:xfrm>
          <a:prstGeom prst="ellipse">
            <a:avLst/>
          </a:prstGeom>
          <a:solidFill>
            <a:srgbClr val="E1F1EA"/>
          </a:solidFill>
          <a:ln w="12700">
            <a:solidFill>
              <a:srgbClr val="E1F1EA"/>
            </a:solidFill>
            <a:prstDash val="solid"/>
          </a:ln>
        </p:spPr>
      </p:sp>
      <p:sp>
        <p:nvSpPr>
          <p:cNvPr id="50" name="Icono workflow"/>
          <p:cNvSpPr/>
          <p:nvPr/>
        </p:nvSpPr>
        <p:spPr>
          <a:xfrm>
            <a:off x="9311838" y="3412663"/>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51" name="Text 49"/>
          <p:cNvSpPr/>
          <p:nvPr/>
        </p:nvSpPr>
        <p:spPr>
          <a:xfrm>
            <a:off x="9889007" y="3276600"/>
            <a:ext cx="1552880" cy="566928"/>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Semibold" pitchFamily="34" charset="0"/>
                <a:ea typeface="Segoe UI Semibold" pitchFamily="34" charset="-122"/>
                <a:cs typeface="Segoe UI Semibold" pitchFamily="34" charset="-120"/>
              </a:rPr>
              <a:t>Integración y entrega continua</a:t>
            </a:r>
            <a:endParaRPr lang="en-US" sz="1300" dirty="0"/>
          </a:p>
        </p:txBody>
      </p:sp>
      <p:sp>
        <p:nvSpPr>
          <p:cNvPr id="52" name="Text 50"/>
          <p:cNvSpPr/>
          <p:nvPr/>
        </p:nvSpPr>
        <p:spPr>
          <a:xfrm>
            <a:off x="9230639"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pipeline de GitHub Actions</a:t>
            </a:r>
            <a:endParaRPr lang="en-US" sz="1300" dirty="0"/>
          </a:p>
        </p:txBody>
      </p:sp>
      <p:sp>
        <p:nvSpPr>
          <p:cNvPr id="53" name="Shape 51"/>
          <p:cNvSpPr/>
          <p:nvPr/>
        </p:nvSpPr>
        <p:spPr>
          <a:xfrm>
            <a:off x="612648" y="481584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612648" y="4943856"/>
            <a:ext cx="64008" cy="1283208"/>
          </a:xfrm>
          <a:prstGeom prst="rect">
            <a:avLst/>
          </a:prstGeom>
          <a:solidFill>
            <a:srgbClr val="0A6648"/>
          </a:solidFill>
          <a:ln w="12700">
            <a:solidFill>
              <a:srgbClr val="0A6648"/>
            </a:solidFill>
            <a:prstDash val="solid"/>
          </a:ln>
        </p:spPr>
      </p:sp>
      <p:sp>
        <p:nvSpPr>
          <p:cNvPr id="55" name="Shape 53"/>
          <p:cNvSpPr/>
          <p:nvPr/>
        </p:nvSpPr>
        <p:spPr>
          <a:xfrm>
            <a:off x="813816" y="4998720"/>
            <a:ext cx="566928" cy="566928"/>
          </a:xfrm>
          <a:prstGeom prst="ellipse">
            <a:avLst/>
          </a:prstGeom>
          <a:solidFill>
            <a:srgbClr val="E1F1EA"/>
          </a:solidFill>
          <a:ln w="12700">
            <a:solidFill>
              <a:srgbClr val="E1F1EA"/>
            </a:solidFill>
            <a:prstDash val="solid"/>
          </a:ln>
        </p:spPr>
      </p:sp>
      <p:sp>
        <p:nvSpPr>
          <p:cNvPr id="56" name="Icono ship-wheel"/>
          <p:cNvSpPr/>
          <p:nvPr/>
        </p:nvSpPr>
        <p:spPr>
          <a:xfrm>
            <a:off x="949879" y="5134783"/>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57" name="Text 55"/>
          <p:cNvSpPr/>
          <p:nvPr/>
        </p:nvSpPr>
        <p:spPr>
          <a:xfrm>
            <a:off x="1527048" y="499872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58" name="Text 56"/>
          <p:cNvSpPr/>
          <p:nvPr/>
        </p:nvSpPr>
        <p:spPr>
          <a:xfrm>
            <a:off x="868680" y="567537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Deployments, Services, Secret y disco</a:t>
            </a:r>
            <a:endParaRPr lang="en-US" sz="1300" dirty="0"/>
          </a:p>
        </p:txBody>
      </p:sp>
      <p:sp>
        <p:nvSpPr>
          <p:cNvPr id="59" name="Shape 57"/>
          <p:cNvSpPr/>
          <p:nvPr/>
        </p:nvSpPr>
        <p:spPr>
          <a:xfrm>
            <a:off x="3399968" y="481584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3399968" y="4943856"/>
            <a:ext cx="64008" cy="1283208"/>
          </a:xfrm>
          <a:prstGeom prst="rect">
            <a:avLst/>
          </a:prstGeom>
          <a:solidFill>
            <a:srgbClr val="0A6648"/>
          </a:solidFill>
          <a:ln w="12700">
            <a:solidFill>
              <a:srgbClr val="0A6648"/>
            </a:solidFill>
            <a:prstDash val="solid"/>
          </a:ln>
        </p:spPr>
      </p:sp>
      <p:sp>
        <p:nvSpPr>
          <p:cNvPr id="61" name="Shape 59"/>
          <p:cNvSpPr/>
          <p:nvPr/>
        </p:nvSpPr>
        <p:spPr>
          <a:xfrm>
            <a:off x="3601136" y="4998720"/>
            <a:ext cx="566928" cy="566928"/>
          </a:xfrm>
          <a:prstGeom prst="ellipse">
            <a:avLst/>
          </a:prstGeom>
          <a:solidFill>
            <a:srgbClr val="E1F1EA"/>
          </a:solidFill>
          <a:ln w="12700">
            <a:solidFill>
              <a:srgbClr val="E1F1EA"/>
            </a:solidFill>
            <a:prstDash val="solid"/>
          </a:ln>
        </p:spPr>
      </p:sp>
      <p:sp>
        <p:nvSpPr>
          <p:cNvPr id="62" name="Icono chart-line"/>
          <p:cNvSpPr/>
          <p:nvPr/>
        </p:nvSpPr>
        <p:spPr>
          <a:xfrm>
            <a:off x="3737199" y="5134783"/>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0A6648"/>
            </a:solidFill>
            <a:prstDash val="solid"/>
            <a:round/>
          </a:ln>
        </p:spPr>
      </p:sp>
      <p:sp>
        <p:nvSpPr>
          <p:cNvPr id="63" name="Text 61"/>
          <p:cNvSpPr/>
          <p:nvPr/>
        </p:nvSpPr>
        <p:spPr>
          <a:xfrm>
            <a:off x="4314368" y="499872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Logs y monitoreo</a:t>
            </a:r>
            <a:endParaRPr lang="en-US" sz="1500" dirty="0"/>
          </a:p>
        </p:txBody>
      </p:sp>
      <p:sp>
        <p:nvSpPr>
          <p:cNvPr id="64" name="Text 62"/>
          <p:cNvSpPr/>
          <p:nvPr/>
        </p:nvSpPr>
        <p:spPr>
          <a:xfrm>
            <a:off x="3656000" y="567537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Promtail, Loki, Grafana y Actuator</a:t>
            </a:r>
            <a:endParaRPr lang="en-US" sz="1300" dirty="0"/>
          </a:p>
        </p:txBody>
      </p:sp>
      <p:sp>
        <p:nvSpPr>
          <p:cNvPr id="65" name="Shape 63"/>
          <p:cNvSpPr/>
          <p:nvPr/>
        </p:nvSpPr>
        <p:spPr>
          <a:xfrm>
            <a:off x="6187288" y="481584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6187288" y="4943856"/>
            <a:ext cx="64008" cy="1283208"/>
          </a:xfrm>
          <a:prstGeom prst="rect">
            <a:avLst/>
          </a:prstGeom>
          <a:solidFill>
            <a:srgbClr val="0B2350"/>
          </a:solidFill>
          <a:ln w="12700">
            <a:solidFill>
              <a:srgbClr val="0B2350"/>
            </a:solidFill>
            <a:prstDash val="solid"/>
          </a:ln>
        </p:spPr>
      </p:sp>
      <p:sp>
        <p:nvSpPr>
          <p:cNvPr id="67" name="Shape 65"/>
          <p:cNvSpPr/>
          <p:nvPr/>
        </p:nvSpPr>
        <p:spPr>
          <a:xfrm>
            <a:off x="6388456" y="4998720"/>
            <a:ext cx="566928" cy="566928"/>
          </a:xfrm>
          <a:prstGeom prst="ellipse">
            <a:avLst/>
          </a:prstGeom>
          <a:solidFill>
            <a:srgbClr val="E8EEF8"/>
          </a:solidFill>
          <a:ln w="12700">
            <a:solidFill>
              <a:srgbClr val="E8EEF8"/>
            </a:solidFill>
            <a:prstDash val="solid"/>
          </a:ln>
        </p:spPr>
      </p:sp>
      <p:sp>
        <p:nvSpPr>
          <p:cNvPr id="68" name="Icono monitor"/>
          <p:cNvSpPr/>
          <p:nvPr/>
        </p:nvSpPr>
        <p:spPr>
          <a:xfrm>
            <a:off x="6524518" y="5134783"/>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0B2350"/>
            </a:solidFill>
            <a:prstDash val="solid"/>
            <a:round/>
          </a:ln>
        </p:spPr>
      </p:sp>
      <p:sp>
        <p:nvSpPr>
          <p:cNvPr id="69" name="Text 67"/>
          <p:cNvSpPr/>
          <p:nvPr/>
        </p:nvSpPr>
        <p:spPr>
          <a:xfrm>
            <a:off x="7101688" y="499872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Ensamblaje del sistema</a:t>
            </a:r>
            <a:endParaRPr lang="en-US" sz="1500" dirty="0"/>
          </a:p>
        </p:txBody>
      </p:sp>
      <p:sp>
        <p:nvSpPr>
          <p:cNvPr id="70" name="Text 68"/>
          <p:cNvSpPr/>
          <p:nvPr/>
        </p:nvSpPr>
        <p:spPr>
          <a:xfrm>
            <a:off x="6443320" y="567537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interfaz: cuatro pestañas</a:t>
            </a:r>
            <a:endParaRPr lang="en-US" sz="1300" dirty="0"/>
          </a:p>
        </p:txBody>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le falta</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Un laboratorio sólido, todavía no un producto.</a:t>
            </a:r>
            <a:endParaRPr lang="en-US" sz="3200" dirty="0"/>
          </a:p>
        </p:txBody>
      </p:sp>
      <p:sp>
        <p:nvSpPr>
          <p:cNvPr id="7" name="Shape 5"/>
          <p:cNvSpPr/>
          <p:nvPr/>
        </p:nvSpPr>
        <p:spPr>
          <a:xfrm>
            <a:off x="6281928" y="1417320"/>
            <a:ext cx="5297119" cy="891540"/>
          </a:xfrm>
          <a:prstGeom prst="roundRect">
            <a:avLst>
              <a:gd name="adj" fmla="val 12308"/>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8" name="Shape 6"/>
          <p:cNvSpPr/>
          <p:nvPr/>
        </p:nvSpPr>
        <p:spPr>
          <a:xfrm>
            <a:off x="6437376" y="1579626"/>
            <a:ext cx="566928" cy="566928"/>
          </a:xfrm>
          <a:prstGeom prst="ellipse">
            <a:avLst/>
          </a:prstGeom>
          <a:solidFill>
            <a:srgbClr val="0B2350"/>
          </a:solidFill>
          <a:ln w="12700">
            <a:solidFill>
              <a:srgbClr val="0B2350"/>
            </a:solidFill>
            <a:prstDash val="solid"/>
          </a:ln>
        </p:spPr>
      </p:sp>
      <p:sp>
        <p:nvSpPr>
          <p:cNvPr id="9" name="Icono cpu"/>
          <p:cNvSpPr/>
          <p:nvPr/>
        </p:nvSpPr>
        <p:spPr>
          <a:xfrm>
            <a:off x="6573439" y="1715689"/>
            <a:ext cx="294803" cy="294803"/>
          </a:xfrm>
          <a:custGeom>
            <a:avLst/>
            <a:gdLst/>
            <a:ahLst/>
            <a:cxnLst/>
            <a:rect l="l" t="t" r="r" b="b"/>
            <a:pathLst>
              <a:path w="294803" h="294803">
                <a:moveTo>
                  <a:pt x="73701" y="49134"/>
                </a:moveTo>
                <a:lnTo>
                  <a:pt x="221102" y="49134"/>
                </a:lnTo>
                <a:cubicBezTo>
                  <a:pt x="234670" y="49134"/>
                  <a:pt x="245669" y="60133"/>
                  <a:pt x="245669" y="73701"/>
                </a:cubicBezTo>
                <a:lnTo>
                  <a:pt x="245669" y="221102"/>
                </a:lnTo>
                <a:cubicBezTo>
                  <a:pt x="245669" y="234670"/>
                  <a:pt x="234670" y="245669"/>
                  <a:pt x="221102" y="245669"/>
                </a:cubicBezTo>
                <a:lnTo>
                  <a:pt x="73701" y="245669"/>
                </a:lnTo>
                <a:cubicBezTo>
                  <a:pt x="60133" y="245669"/>
                  <a:pt x="49134" y="234670"/>
                  <a:pt x="49134" y="221102"/>
                </a:cubicBezTo>
                <a:lnTo>
                  <a:pt x="49134" y="73701"/>
                </a:lnTo>
                <a:cubicBezTo>
                  <a:pt x="49134" y="60133"/>
                  <a:pt x="60133" y="49134"/>
                  <a:pt x="73701" y="49134"/>
                </a:cubicBezTo>
                <a:close/>
                <a:moveTo>
                  <a:pt x="122834" y="110551"/>
                </a:moveTo>
                <a:lnTo>
                  <a:pt x="171968" y="110551"/>
                </a:lnTo>
                <a:cubicBezTo>
                  <a:pt x="178752" y="110551"/>
                  <a:pt x="184252" y="116050"/>
                  <a:pt x="184252" y="122834"/>
                </a:cubicBezTo>
                <a:lnTo>
                  <a:pt x="184252" y="171968"/>
                </a:lnTo>
                <a:cubicBezTo>
                  <a:pt x="184252" y="178752"/>
                  <a:pt x="178752" y="184252"/>
                  <a:pt x="171968" y="184252"/>
                </a:cubicBezTo>
                <a:lnTo>
                  <a:pt x="122834" y="184252"/>
                </a:lnTo>
                <a:cubicBezTo>
                  <a:pt x="116050" y="184252"/>
                  <a:pt x="110551" y="178752"/>
                  <a:pt x="110551" y="171968"/>
                </a:cubicBezTo>
                <a:lnTo>
                  <a:pt x="110551" y="122834"/>
                </a:lnTo>
                <a:cubicBezTo>
                  <a:pt x="110551" y="116050"/>
                  <a:pt x="116050" y="110551"/>
                  <a:pt x="122834" y="110551"/>
                </a:cubicBezTo>
                <a:close/>
                <a:moveTo>
                  <a:pt x="184252" y="24567"/>
                </a:moveTo>
                <a:lnTo>
                  <a:pt x="184252" y="49134"/>
                </a:lnTo>
                <a:moveTo>
                  <a:pt x="184252" y="245669"/>
                </a:moveTo>
                <a:lnTo>
                  <a:pt x="184252" y="270236"/>
                </a:lnTo>
                <a:moveTo>
                  <a:pt x="24567" y="184252"/>
                </a:moveTo>
                <a:lnTo>
                  <a:pt x="49134" y="184252"/>
                </a:lnTo>
                <a:moveTo>
                  <a:pt x="24567" y="110551"/>
                </a:moveTo>
                <a:lnTo>
                  <a:pt x="49134" y="110551"/>
                </a:lnTo>
                <a:moveTo>
                  <a:pt x="245669" y="184252"/>
                </a:moveTo>
                <a:lnTo>
                  <a:pt x="270236" y="184252"/>
                </a:lnTo>
                <a:moveTo>
                  <a:pt x="245669" y="110551"/>
                </a:moveTo>
                <a:lnTo>
                  <a:pt x="270236" y="110551"/>
                </a:lnTo>
                <a:moveTo>
                  <a:pt x="110551" y="24567"/>
                </a:moveTo>
                <a:lnTo>
                  <a:pt x="110551" y="49134"/>
                </a:lnTo>
                <a:moveTo>
                  <a:pt x="110551" y="245669"/>
                </a:moveTo>
                <a:lnTo>
                  <a:pt x="110551" y="270236"/>
                </a:lnTo>
              </a:path>
            </a:pathLst>
          </a:custGeom>
          <a:noFill/>
          <a:ln w="24567" cap="rnd">
            <a:solidFill>
              <a:srgbClr val="FFFFFF"/>
            </a:solidFill>
            <a:prstDash val="solid"/>
            <a:round/>
          </a:ln>
        </p:spPr>
      </p:sp>
      <p:sp>
        <p:nvSpPr>
          <p:cNvPr id="10" name="Text 8"/>
          <p:cNvSpPr/>
          <p:nvPr/>
        </p:nvSpPr>
        <p:spPr>
          <a:xfrm>
            <a:off x="7150608" y="1417320"/>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texto de los avisos vive en memoria</a:t>
            </a:r>
            <a:endParaRPr lang="en-US" sz="1600" dirty="0"/>
          </a:p>
        </p:txBody>
      </p:sp>
      <p:sp>
        <p:nvSpPr>
          <p:cNvPr id="11" name="Shape 9"/>
          <p:cNvSpPr/>
          <p:nvPr/>
        </p:nvSpPr>
        <p:spPr>
          <a:xfrm>
            <a:off x="6281928" y="2455164"/>
            <a:ext cx="5297119" cy="891540"/>
          </a:xfrm>
          <a:prstGeom prst="roundRect">
            <a:avLst>
              <a:gd name="adj" fmla="val 12308"/>
            </a:avLst>
          </a:prstGeom>
          <a:solidFill>
            <a:srgbClr val="E3F4FA"/>
          </a:solidFill>
          <a:ln w="15875">
            <a:solidFill>
              <a:srgbClr val="2BA6CB"/>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6437376" y="2617470"/>
            <a:ext cx="566928" cy="566928"/>
          </a:xfrm>
          <a:prstGeom prst="ellipse">
            <a:avLst/>
          </a:prstGeom>
          <a:solidFill>
            <a:srgbClr val="0B6E8A"/>
          </a:solidFill>
          <a:ln w="12700">
            <a:solidFill>
              <a:srgbClr val="0B6E8A"/>
            </a:solidFill>
            <a:prstDash val="solid"/>
          </a:ln>
        </p:spPr>
      </p:sp>
      <p:sp>
        <p:nvSpPr>
          <p:cNvPr id="13" name="Icono lock"/>
          <p:cNvSpPr/>
          <p:nvPr/>
        </p:nvSpPr>
        <p:spPr>
          <a:xfrm>
            <a:off x="6573439" y="2753533"/>
            <a:ext cx="294803" cy="294803"/>
          </a:xfrm>
          <a:custGeom>
            <a:avLst/>
            <a:gdLst/>
            <a:ahLst/>
            <a:cxnLst/>
            <a:rect l="l" t="t" r="r" b="b"/>
            <a:pathLst>
              <a:path w="294803" h="294803">
                <a:moveTo>
                  <a:pt x="61417" y="135118"/>
                </a:moveTo>
                <a:lnTo>
                  <a:pt x="233385" y="135118"/>
                </a:lnTo>
                <a:cubicBezTo>
                  <a:pt x="246953" y="135118"/>
                  <a:pt x="257952" y="146117"/>
                  <a:pt x="257952" y="159685"/>
                </a:cubicBezTo>
                <a:lnTo>
                  <a:pt x="257952" y="245669"/>
                </a:lnTo>
                <a:cubicBezTo>
                  <a:pt x="257952" y="259237"/>
                  <a:pt x="246953" y="270236"/>
                  <a:pt x="233385" y="270236"/>
                </a:cubicBezTo>
                <a:lnTo>
                  <a:pt x="61417" y="270236"/>
                </a:lnTo>
                <a:cubicBezTo>
                  <a:pt x="47849" y="270236"/>
                  <a:pt x="36850" y="259237"/>
                  <a:pt x="36850" y="245669"/>
                </a:cubicBezTo>
                <a:lnTo>
                  <a:pt x="36850" y="159685"/>
                </a:lnTo>
                <a:cubicBezTo>
                  <a:pt x="36850" y="146117"/>
                  <a:pt x="47849" y="135118"/>
                  <a:pt x="61417" y="135118"/>
                </a:cubicBezTo>
                <a:close/>
                <a:moveTo>
                  <a:pt x="85984" y="135118"/>
                </a:moveTo>
                <a:lnTo>
                  <a:pt x="85984" y="85984"/>
                </a:lnTo>
                <a:cubicBezTo>
                  <a:pt x="85984" y="52064"/>
                  <a:pt x="113481" y="24567"/>
                  <a:pt x="147401" y="24567"/>
                </a:cubicBezTo>
                <a:cubicBezTo>
                  <a:pt x="181321" y="24567"/>
                  <a:pt x="208818" y="52064"/>
                  <a:pt x="208818" y="85984"/>
                </a:cubicBezTo>
                <a:lnTo>
                  <a:pt x="208818" y="135118"/>
                </a:lnTo>
              </a:path>
            </a:pathLst>
          </a:custGeom>
          <a:noFill/>
          <a:ln w="24567" cap="rnd">
            <a:solidFill>
              <a:srgbClr val="FFFFFF"/>
            </a:solidFill>
            <a:prstDash val="solid"/>
            <a:round/>
          </a:ln>
        </p:spPr>
      </p:sp>
      <p:sp>
        <p:nvSpPr>
          <p:cNvPr id="14" name="Text 12"/>
          <p:cNvSpPr/>
          <p:nvPr/>
        </p:nvSpPr>
        <p:spPr>
          <a:xfrm>
            <a:off x="7150608" y="2455164"/>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 hay inicio de sesión: es un laboratorio</a:t>
            </a:r>
            <a:endParaRPr lang="en-US" sz="1600" dirty="0"/>
          </a:p>
        </p:txBody>
      </p:sp>
      <p:sp>
        <p:nvSpPr>
          <p:cNvPr id="15" name="Shape 13"/>
          <p:cNvSpPr/>
          <p:nvPr/>
        </p:nvSpPr>
        <p:spPr>
          <a:xfrm>
            <a:off x="6281928" y="3493008"/>
            <a:ext cx="5297119" cy="891540"/>
          </a:xfrm>
          <a:prstGeom prst="roundRect">
            <a:avLst>
              <a:gd name="adj" fmla="val 12308"/>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437376" y="3655314"/>
            <a:ext cx="566928" cy="566928"/>
          </a:xfrm>
          <a:prstGeom prst="ellipse">
            <a:avLst/>
          </a:prstGeom>
          <a:solidFill>
            <a:srgbClr val="0B6E8A"/>
          </a:solidFill>
          <a:ln w="12700">
            <a:solidFill>
              <a:srgbClr val="0B6E8A"/>
            </a:solidFill>
            <a:prstDash val="solid"/>
          </a:ln>
        </p:spPr>
      </p:sp>
      <p:sp>
        <p:nvSpPr>
          <p:cNvPr id="17" name="Icono activity"/>
          <p:cNvSpPr/>
          <p:nvPr/>
        </p:nvSpPr>
        <p:spPr>
          <a:xfrm>
            <a:off x="6573439" y="3791377"/>
            <a:ext cx="294803" cy="294803"/>
          </a:xfrm>
          <a:custGeom>
            <a:avLst/>
            <a:gdLst/>
            <a:ahLst/>
            <a:cxnLst/>
            <a:rect l="l" t="t" r="r" b="b"/>
            <a:pathLst>
              <a:path w="294803" h="294803">
                <a:moveTo>
                  <a:pt x="270236" y="147401"/>
                </a:moveTo>
                <a:lnTo>
                  <a:pt x="239773" y="147401"/>
                </a:lnTo>
                <a:cubicBezTo>
                  <a:pt x="228740" y="147378"/>
                  <a:pt x="219045" y="154712"/>
                  <a:pt x="216066" y="165335"/>
                </a:cubicBezTo>
                <a:lnTo>
                  <a:pt x="187200" y="268025"/>
                </a:lnTo>
                <a:cubicBezTo>
                  <a:pt x="186817" y="269335"/>
                  <a:pt x="185616" y="270236"/>
                  <a:pt x="184252" y="270236"/>
                </a:cubicBezTo>
                <a:cubicBezTo>
                  <a:pt x="182887" y="270236"/>
                  <a:pt x="181686" y="269335"/>
                  <a:pt x="181304" y="268025"/>
                </a:cubicBezTo>
                <a:lnTo>
                  <a:pt x="113499" y="26778"/>
                </a:lnTo>
                <a:cubicBezTo>
                  <a:pt x="113117" y="25468"/>
                  <a:pt x="111916" y="24567"/>
                  <a:pt x="110551" y="24567"/>
                </a:cubicBezTo>
                <a:cubicBezTo>
                  <a:pt x="109186" y="24567"/>
                  <a:pt x="107985" y="25468"/>
                  <a:pt x="107603" y="26778"/>
                </a:cubicBezTo>
                <a:lnTo>
                  <a:pt x="78737" y="129467"/>
                </a:lnTo>
                <a:cubicBezTo>
                  <a:pt x="75770" y="140047"/>
                  <a:pt x="66140" y="147370"/>
                  <a:pt x="55153" y="147401"/>
                </a:cubicBezTo>
                <a:lnTo>
                  <a:pt x="24567" y="147401"/>
                </a:lnTo>
              </a:path>
            </a:pathLst>
          </a:custGeom>
          <a:noFill/>
          <a:ln w="24567" cap="rnd">
            <a:solidFill>
              <a:srgbClr val="FFFFFF"/>
            </a:solidFill>
            <a:prstDash val="solid"/>
            <a:round/>
          </a:ln>
        </p:spPr>
      </p:sp>
      <p:sp>
        <p:nvSpPr>
          <p:cNvPr id="18" name="Text 16"/>
          <p:cNvSpPr/>
          <p:nvPr/>
        </p:nvSpPr>
        <p:spPr>
          <a:xfrm>
            <a:off x="7150608" y="3493008"/>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Sin mensajería dedicada ni métricas históricas</a:t>
            </a:r>
            <a:endParaRPr lang="en-US" sz="1600" dirty="0"/>
          </a:p>
        </p:txBody>
      </p:sp>
      <p:sp>
        <p:nvSpPr>
          <p:cNvPr id="19" name="Shape 17"/>
          <p:cNvSpPr/>
          <p:nvPr/>
        </p:nvSpPr>
        <p:spPr>
          <a:xfrm>
            <a:off x="6281928" y="4530852"/>
            <a:ext cx="5297119" cy="891540"/>
          </a:xfrm>
          <a:prstGeom prst="roundRect">
            <a:avLst>
              <a:gd name="adj" fmla="val 12308"/>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437376" y="4693158"/>
            <a:ext cx="566928" cy="566928"/>
          </a:xfrm>
          <a:prstGeom prst="ellipse">
            <a:avLst/>
          </a:prstGeom>
          <a:solidFill>
            <a:srgbClr val="0A6648"/>
          </a:solidFill>
          <a:ln w="12700">
            <a:solidFill>
              <a:srgbClr val="0A6648"/>
            </a:solidFill>
            <a:prstDash val="solid"/>
          </a:ln>
        </p:spPr>
      </p:sp>
      <p:sp>
        <p:nvSpPr>
          <p:cNvPr id="21" name="Icono rocket"/>
          <p:cNvSpPr/>
          <p:nvPr/>
        </p:nvSpPr>
        <p:spPr>
          <a:xfrm>
            <a:off x="6573439" y="4829221"/>
            <a:ext cx="294803" cy="294803"/>
          </a:xfrm>
          <a:custGeom>
            <a:avLst/>
            <a:gdLst/>
            <a:ahLst/>
            <a:cxnLst/>
            <a:rect l="l" t="t" r="r" b="b"/>
            <a:pathLst>
              <a:path w="294803" h="294803">
                <a:moveTo>
                  <a:pt x="55275" y="202677"/>
                </a:moveTo>
                <a:cubicBezTo>
                  <a:pt x="36850" y="218154"/>
                  <a:pt x="30709" y="264094"/>
                  <a:pt x="30709" y="264094"/>
                </a:cubicBezTo>
                <a:cubicBezTo>
                  <a:pt x="30709" y="264094"/>
                  <a:pt x="76649" y="257952"/>
                  <a:pt x="92126" y="239527"/>
                </a:cubicBezTo>
                <a:cubicBezTo>
                  <a:pt x="100847" y="229209"/>
                  <a:pt x="100724" y="213363"/>
                  <a:pt x="91020" y="203782"/>
                </a:cubicBezTo>
                <a:cubicBezTo>
                  <a:pt x="81133" y="194346"/>
                  <a:pt x="65727" y="193869"/>
                  <a:pt x="55275" y="202677"/>
                </a:cubicBezTo>
                <a:close/>
                <a:moveTo>
                  <a:pt x="147401" y="184252"/>
                </a:moveTo>
                <a:lnTo>
                  <a:pt x="110551" y="147401"/>
                </a:lnTo>
                <a:cubicBezTo>
                  <a:pt x="117088" y="130443"/>
                  <a:pt x="125318" y="114188"/>
                  <a:pt x="135118" y="98882"/>
                </a:cubicBezTo>
                <a:cubicBezTo>
                  <a:pt x="164219" y="52351"/>
                  <a:pt x="215356" y="24226"/>
                  <a:pt x="270236" y="24567"/>
                </a:cubicBezTo>
                <a:cubicBezTo>
                  <a:pt x="270236" y="57978"/>
                  <a:pt x="260655" y="116693"/>
                  <a:pt x="196535" y="159685"/>
                </a:cubicBezTo>
                <a:cubicBezTo>
                  <a:pt x="181020" y="169496"/>
                  <a:pt x="164559" y="177726"/>
                  <a:pt x="147401" y="184252"/>
                </a:cubicBezTo>
                <a:close/>
                <a:moveTo>
                  <a:pt x="110551" y="147401"/>
                </a:moveTo>
                <a:lnTo>
                  <a:pt x="49134" y="147401"/>
                </a:lnTo>
                <a:cubicBezTo>
                  <a:pt x="49134" y="147401"/>
                  <a:pt x="55890" y="110182"/>
                  <a:pt x="73701" y="98268"/>
                </a:cubicBezTo>
                <a:cubicBezTo>
                  <a:pt x="93600" y="85001"/>
                  <a:pt x="135118" y="98268"/>
                  <a:pt x="135118" y="98268"/>
                </a:cubicBezTo>
                <a:moveTo>
                  <a:pt x="147401" y="184252"/>
                </a:moveTo>
                <a:lnTo>
                  <a:pt x="147401" y="245669"/>
                </a:lnTo>
                <a:cubicBezTo>
                  <a:pt x="147401" y="245669"/>
                  <a:pt x="184620" y="238913"/>
                  <a:pt x="196535" y="221102"/>
                </a:cubicBezTo>
                <a:cubicBezTo>
                  <a:pt x="209801" y="201203"/>
                  <a:pt x="196535" y="159685"/>
                  <a:pt x="196535" y="159685"/>
                </a:cubicBezTo>
              </a:path>
            </a:pathLst>
          </a:custGeom>
          <a:noFill/>
          <a:ln w="24567" cap="rnd">
            <a:solidFill>
              <a:srgbClr val="FFFFFF"/>
            </a:solidFill>
            <a:prstDash val="solid"/>
            <a:round/>
          </a:ln>
        </p:spPr>
      </p:sp>
      <p:sp>
        <p:nvSpPr>
          <p:cNvPr id="22" name="Text 20"/>
          <p:cNvSpPr/>
          <p:nvPr/>
        </p:nvSpPr>
        <p:spPr>
          <a:xfrm>
            <a:off x="7150608" y="4530852"/>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pipeline publica, pero no despliega solo</a:t>
            </a:r>
            <a:endParaRPr lang="en-US" sz="1600" dirty="0"/>
          </a:p>
        </p:txBody>
      </p:sp>
      <p:sp>
        <p:nvSpPr>
          <p:cNvPr id="23" name="Text 21"/>
          <p:cNvSpPr/>
          <p:nvPr/>
        </p:nvSpPr>
        <p:spPr>
          <a:xfrm>
            <a:off x="612648" y="5495544"/>
            <a:ext cx="4498848"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Guardar el aviso en la base, junto con su número de evento</a:t>
            </a:r>
            <a:endParaRPr lang="en-US" sz="950" dirty="0"/>
          </a:p>
        </p:txBody>
      </p:sp>
      <p:sp>
        <p:nvSpPr>
          <p:cNvPr id="24" name="Text 22"/>
          <p:cNvSpPr/>
          <p:nvPr/>
        </p:nvSpPr>
        <p:spPr>
          <a:xfrm>
            <a:off x="5221224" y="5495544"/>
            <a:ext cx="3955694"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Autenticación y contraseñas fuera del repositorio</a:t>
            </a:r>
            <a:endParaRPr lang="en-US" sz="950" dirty="0"/>
          </a:p>
        </p:txBody>
      </p:sp>
      <p:sp>
        <p:nvSpPr>
          <p:cNvPr id="25" name="Shape 23"/>
          <p:cNvSpPr/>
          <p:nvPr/>
        </p:nvSpPr>
        <p:spPr>
          <a:xfrm>
            <a:off x="0" y="5961888"/>
            <a:ext cx="12191695" cy="475488"/>
          </a:xfrm>
          <a:prstGeom prst="rect">
            <a:avLst/>
          </a:prstGeom>
          <a:solidFill>
            <a:srgbClr val="0B2350"/>
          </a:solidFill>
          <a:ln w="12700">
            <a:solidFill>
              <a:srgbClr val="0B2350"/>
            </a:solidFill>
            <a:prstDash val="solid"/>
          </a:ln>
        </p:spPr>
      </p:sp>
      <p:sp>
        <p:nvSpPr>
          <p:cNvPr id="2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27" name="Text 2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Siguientes pasos: guardar el aviso en la base, agregar autenticación y sacar las contraseñas del repositorio.</a:t>
            </a:r>
            <a:endParaRPr lang="en-US" sz="14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138160" y="-1280160"/>
            <a:ext cx="5669280" cy="5669280"/>
          </a:xfrm>
          <a:prstGeom prst="ellipse">
            <a:avLst/>
          </a:prstGeom>
          <a:solidFill>
            <a:srgbClr val="0B2350"/>
          </a:solidFill>
          <a:ln w="12700">
            <a:solidFill>
              <a:srgbClr val="0B2350"/>
            </a:solidFill>
            <a:prstDash val="solid"/>
          </a:ln>
        </p:spPr>
      </p:sp>
      <p:sp>
        <p:nvSpPr>
          <p:cNvPr id="3" name="Shape 1"/>
          <p:cNvSpPr/>
          <p:nvPr/>
        </p:nvSpPr>
        <p:spPr>
          <a:xfrm>
            <a:off x="0" y="0"/>
            <a:ext cx="109728" cy="6858000"/>
          </a:xfrm>
          <a:prstGeom prst="rect">
            <a:avLst/>
          </a:prstGeom>
          <a:solidFill>
            <a:srgbClr val="2BA6CB"/>
          </a:solidFill>
          <a:ln w="12700">
            <a:solidFill>
              <a:srgbClr val="2BA6CB"/>
            </a:solidFill>
            <a:prstDash val="solid"/>
          </a:ln>
        </p:spPr>
      </p:sp>
      <p:sp>
        <p:nvSpPr>
          <p:cNvPr id="4" name="Icono sparkles"/>
          <p:cNvSpPr/>
          <p:nvPr/>
        </p:nvSpPr>
        <p:spPr>
          <a:xfrm>
            <a:off x="9692640" y="822960"/>
            <a:ext cx="1737360" cy="1737360"/>
          </a:xfrm>
          <a:custGeom>
            <a:avLst/>
            <a:gdLst/>
            <a:ahLst/>
            <a:cxnLst/>
            <a:rect l="l" t="t" r="r" b="b"/>
            <a:pathLst>
              <a:path w="1737360" h="1737360">
                <a:moveTo>
                  <a:pt x="719339" y="1122045"/>
                </a:moveTo>
                <a:cubicBezTo>
                  <a:pt x="706177" y="1071024"/>
                  <a:pt x="666336" y="1031183"/>
                  <a:pt x="615315" y="1018021"/>
                </a:cubicBezTo>
                <a:lnTo>
                  <a:pt x="171202" y="903500"/>
                </a:lnTo>
                <a:cubicBezTo>
                  <a:pt x="155634" y="899081"/>
                  <a:pt x="144890" y="884864"/>
                  <a:pt x="144890" y="868680"/>
                </a:cubicBezTo>
                <a:cubicBezTo>
                  <a:pt x="144890" y="852496"/>
                  <a:pt x="155634" y="838279"/>
                  <a:pt x="171202" y="833860"/>
                </a:cubicBezTo>
                <a:lnTo>
                  <a:pt x="615315" y="719267"/>
                </a:lnTo>
                <a:cubicBezTo>
                  <a:pt x="666317" y="706118"/>
                  <a:pt x="706154" y="666308"/>
                  <a:pt x="719339" y="615315"/>
                </a:cubicBezTo>
                <a:lnTo>
                  <a:pt x="833860" y="171202"/>
                </a:lnTo>
                <a:cubicBezTo>
                  <a:pt x="838235" y="155570"/>
                  <a:pt x="852483" y="144762"/>
                  <a:pt x="868716" y="144762"/>
                </a:cubicBezTo>
                <a:cubicBezTo>
                  <a:pt x="884949" y="144762"/>
                  <a:pt x="899197" y="155570"/>
                  <a:pt x="903572" y="171202"/>
                </a:cubicBezTo>
                <a:lnTo>
                  <a:pt x="1018021" y="615315"/>
                </a:lnTo>
                <a:cubicBezTo>
                  <a:pt x="1031183" y="666336"/>
                  <a:pt x="1071024" y="706177"/>
                  <a:pt x="1122045" y="719339"/>
                </a:cubicBezTo>
                <a:lnTo>
                  <a:pt x="1566158" y="833788"/>
                </a:lnTo>
                <a:cubicBezTo>
                  <a:pt x="1581855" y="838118"/>
                  <a:pt x="1592728" y="852397"/>
                  <a:pt x="1592728" y="868680"/>
                </a:cubicBezTo>
                <a:cubicBezTo>
                  <a:pt x="1592728" y="884963"/>
                  <a:pt x="1581855" y="899242"/>
                  <a:pt x="1566158" y="903572"/>
                </a:cubicBezTo>
                <a:lnTo>
                  <a:pt x="1122045" y="1018021"/>
                </a:lnTo>
                <a:cubicBezTo>
                  <a:pt x="1071024" y="1031183"/>
                  <a:pt x="1031183" y="1071024"/>
                  <a:pt x="1018021" y="1122045"/>
                </a:cubicBezTo>
                <a:lnTo>
                  <a:pt x="903500" y="1566158"/>
                </a:lnTo>
                <a:cubicBezTo>
                  <a:pt x="899125" y="1581790"/>
                  <a:pt x="884877" y="1592598"/>
                  <a:pt x="868644" y="1592598"/>
                </a:cubicBezTo>
                <a:cubicBezTo>
                  <a:pt x="852411" y="1592598"/>
                  <a:pt x="838163" y="1581790"/>
                  <a:pt x="833788" y="1566158"/>
                </a:cubicBezTo>
                <a:close/>
                <a:moveTo>
                  <a:pt x="1447800" y="217170"/>
                </a:moveTo>
                <a:lnTo>
                  <a:pt x="1447800" y="506730"/>
                </a:lnTo>
                <a:moveTo>
                  <a:pt x="1592580" y="361950"/>
                </a:moveTo>
                <a:lnTo>
                  <a:pt x="1303020" y="361950"/>
                </a:lnTo>
                <a:moveTo>
                  <a:pt x="289560" y="1230630"/>
                </a:moveTo>
                <a:lnTo>
                  <a:pt x="289560" y="1375410"/>
                </a:lnTo>
                <a:moveTo>
                  <a:pt x="361950" y="1303020"/>
                </a:moveTo>
                <a:lnTo>
                  <a:pt x="217170" y="1303020"/>
                </a:lnTo>
              </a:path>
            </a:pathLst>
          </a:custGeom>
          <a:noFill/>
          <a:ln w="90487" cap="rnd">
            <a:solidFill>
              <a:srgbClr val="2BA6CB"/>
            </a:solidFill>
            <a:prstDash val="solid"/>
            <a:roun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2103120"/>
            <a:ext cx="82296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9" name="Text 7"/>
          <p:cNvSpPr/>
          <p:nvPr/>
        </p:nvSpPr>
        <p:spPr>
          <a:xfrm>
            <a:off x="758952" y="3474720"/>
            <a:ext cx="8229600" cy="1097280"/>
          </a:xfrm>
          <a:prstGeom prst="rect">
            <a:avLst/>
          </a:prstGeom>
          <a:noFill/>
          <a:ln/>
        </p:spPr>
        <p:txBody>
          <a:bodyPr wrap="square" lIns="0" tIns="0" rIns="0" bIns="0" rtlCol="0" anchor="t"/>
          <a:lstStyle/>
          <a:p>
            <a:pPr indent="0" marL="0">
              <a:buNone/>
            </a:pPr>
            <a:r>
              <a:rPr lang="en-US" sz="2200" dirty="0">
                <a:solidFill>
                  <a:srgbClr val="9FBEE0"/>
                </a:solidFill>
                <a:latin typeface="Segoe UI" pitchFamily="34" charset="0"/>
                <a:ea typeface="Segoe UI" pitchFamily="34" charset="-122"/>
                <a:cs typeface="Segoe UI" pitchFamily="34" charset="-120"/>
              </a:rPr>
              <a:t>Equipo arka-litos · Upskilling Backend Java</a:t>
            </a:r>
            <a:endParaRPr lang="en-US" sz="2200" dirty="0"/>
          </a:p>
          <a:p>
            <a:pPr indent="0" marL="0">
              <a:buNone/>
            </a:pPr>
            <a:r>
              <a:rPr lang="en-US" sz="2200" dirty="0">
                <a:solidFill>
                  <a:srgbClr val="9FBEE0"/>
                </a:solidFill>
                <a:latin typeface="Segoe UI" pitchFamily="34" charset="0"/>
                <a:ea typeface="Segoe UI" pitchFamily="34" charset="-122"/>
                <a:cs typeface="Segoe UI" pitchFamily="34" charset="-120"/>
              </a:rPr>
              <a:t>¿Preguntas?</a:t>
            </a:r>
            <a:endParaRPr lang="en-US" sz="2200" dirty="0"/>
          </a:p>
        </p:txBody>
      </p:sp>
      <p:sp>
        <p:nvSpPr>
          <p:cNvPr id="10" name="Text 8"/>
          <p:cNvSpPr/>
          <p:nvPr/>
        </p:nvSpPr>
        <p:spPr>
          <a:xfrm>
            <a:off x="758952"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P1</a:t>
            </a:r>
            <a:endParaRPr lang="en-US" sz="1300" dirty="0"/>
          </a:p>
        </p:txBody>
      </p:sp>
      <p:sp>
        <p:nvSpPr>
          <p:cNvPr id="11" name="Text 9"/>
          <p:cNvSpPr/>
          <p:nvPr/>
        </p:nvSpPr>
        <p:spPr>
          <a:xfrm>
            <a:off x="649224"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
        <p:nvSpPr>
          <p:cNvPr id="12" name="Text 10"/>
          <p:cNvSpPr/>
          <p:nvPr/>
        </p:nvSpPr>
        <p:spPr>
          <a:xfrm>
            <a:off x="1545336"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P2</a:t>
            </a:r>
            <a:endParaRPr lang="en-US" sz="1300" dirty="0"/>
          </a:p>
        </p:txBody>
      </p:sp>
      <p:sp>
        <p:nvSpPr>
          <p:cNvPr id="13" name="Text 11"/>
          <p:cNvSpPr/>
          <p:nvPr/>
        </p:nvSpPr>
        <p:spPr>
          <a:xfrm>
            <a:off x="1435608"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
        <p:nvSpPr>
          <p:cNvPr id="14" name="Text 12"/>
          <p:cNvSpPr/>
          <p:nvPr/>
        </p:nvSpPr>
        <p:spPr>
          <a:xfrm>
            <a:off x="2331720"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P3</a:t>
            </a:r>
            <a:endParaRPr lang="en-US" sz="1300" dirty="0"/>
          </a:p>
        </p:txBody>
      </p:sp>
      <p:sp>
        <p:nvSpPr>
          <p:cNvPr id="15" name="Text 13"/>
          <p:cNvSpPr/>
          <p:nvPr/>
        </p:nvSpPr>
        <p:spPr>
          <a:xfrm>
            <a:off x="2221992"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
        <p:nvSpPr>
          <p:cNvPr id="16" name="Text 14"/>
          <p:cNvSpPr/>
          <p:nvPr/>
        </p:nvSpPr>
        <p:spPr>
          <a:xfrm>
            <a:off x="3118104" y="5074920"/>
            <a:ext cx="603504" cy="603504"/>
          </a:xfrm>
          <a:prstGeom prst="ellipse">
            <a:avLst/>
          </a:prstGeom>
          <a:solidFill>
            <a:srgbClr val="7A63E0"/>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P4</a:t>
            </a:r>
            <a:endParaRPr lang="en-US" sz="1300" dirty="0"/>
          </a:p>
        </p:txBody>
      </p:sp>
      <p:sp>
        <p:nvSpPr>
          <p:cNvPr id="17" name="Text 15"/>
          <p:cNvSpPr/>
          <p:nvPr/>
        </p:nvSpPr>
        <p:spPr>
          <a:xfrm>
            <a:off x="3008376"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BD</a:t>
            </a:r>
            <a:endParaRPr lang="en-US" sz="850" dirty="0"/>
          </a:p>
        </p:txBody>
      </p:sp>
      <p:sp>
        <p:nvSpPr>
          <p:cNvPr id="18" name="Text 16"/>
          <p:cNvSpPr/>
          <p:nvPr/>
        </p:nvSpPr>
        <p:spPr>
          <a:xfrm>
            <a:off x="3904488" y="5074920"/>
            <a:ext cx="603504" cy="603504"/>
          </a:xfrm>
          <a:prstGeom prst="ellipse">
            <a:avLst/>
          </a:prstGeom>
          <a:solidFill>
            <a:srgbClr val="1F9A6E"/>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P5</a:t>
            </a:r>
            <a:endParaRPr lang="en-US" sz="1300" dirty="0"/>
          </a:p>
        </p:txBody>
      </p:sp>
      <p:sp>
        <p:nvSpPr>
          <p:cNvPr id="19" name="Text 17"/>
          <p:cNvSpPr/>
          <p:nvPr/>
        </p:nvSpPr>
        <p:spPr>
          <a:xfrm>
            <a:off x="3794760"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DevOps</a:t>
            </a:r>
            <a:endParaRPr lang="en-US" sz="850" dirty="0"/>
          </a:p>
        </p:txBody>
      </p:sp>
      <p:sp>
        <p:nvSpPr>
          <p:cNvPr id="20" name="Text 18"/>
          <p:cNvSpPr/>
          <p:nvPr/>
        </p:nvSpPr>
        <p:spPr>
          <a:xfrm>
            <a:off x="4690872" y="5074920"/>
            <a:ext cx="603504" cy="603504"/>
          </a:xfrm>
          <a:prstGeom prst="ellipse">
            <a:avLst/>
          </a:prstGeom>
          <a:solidFill>
            <a:srgbClr val="1F9A6E"/>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P6</a:t>
            </a:r>
            <a:endParaRPr lang="en-US" sz="1300" dirty="0"/>
          </a:p>
        </p:txBody>
      </p:sp>
      <p:sp>
        <p:nvSpPr>
          <p:cNvPr id="21" name="Text 19"/>
          <p:cNvSpPr/>
          <p:nvPr/>
        </p:nvSpPr>
        <p:spPr>
          <a:xfrm>
            <a:off x="4581144"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DevOps</a:t>
            </a:r>
            <a:endParaRPr lang="en-US" sz="850" dirty="0"/>
          </a:p>
        </p:txBody>
      </p:sp>
      <p:sp>
        <p:nvSpPr>
          <p:cNvPr id="22" name="Text 20"/>
          <p:cNvSpPr/>
          <p:nvPr/>
        </p:nvSpPr>
        <p:spPr>
          <a:xfrm>
            <a:off x="5477256"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P7</a:t>
            </a:r>
            <a:endParaRPr lang="en-US" sz="1300" dirty="0"/>
          </a:p>
        </p:txBody>
      </p:sp>
      <p:sp>
        <p:nvSpPr>
          <p:cNvPr id="23" name="Text 21"/>
          <p:cNvSpPr/>
          <p:nvPr/>
        </p:nvSpPr>
        <p:spPr>
          <a:xfrm>
            <a:off x="5367528"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ejecutivo</dc:title>
  <dc:subject>Proyecto final de Upskilling Backend Java</dc:subject>
  <dc:creator>Equipo arka-litos</dc:creator>
  <cp:lastModifiedBy>Equipo arka-litos</cp:lastModifiedBy>
  <cp:revision>1</cp:revision>
  <dcterms:created xsi:type="dcterms:W3CDTF">2026-10-27T11:23:38Z</dcterms:created>
  <dcterms:modified xsi:type="dcterms:W3CDTF">2026-10-27T11:23:38Z</dcterms:modified>
</cp:coreProperties>
</file>