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Lst>
  <p:notesMasterIdLst>
    <p:notesMasterId r:id="rId1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notesMaster" Target="notesMasters/notesMaster1.xml"/><Relationship Id="rId142" Type="http://schemas.openxmlformats.org/officeDocument/2006/relationships/presProps" Target="presProps.xml"/><Relationship Id="rId143" Type="http://schemas.openxmlformats.org/officeDocument/2006/relationships/viewProps" Target="viewProps.xml"/><Relationship Id="rId144" Type="http://schemas.openxmlformats.org/officeDocument/2006/relationships/theme" Target="theme/theme1.xml"/><Relationship Id="rId1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“Buenos días a todos. Somos el equipo arka-litos, del curso Upskilling Backend Java, y hoy les vamos a contar cómo construimos ARKA-Lite, nuestro proyecto final.”
“El título lo resume: empezamos escribiendo un endpoint, una sola operación en Java, y terminamos con un sistema completo corriendo en un clúster de Kubernetes. En el camino fuimos aplicando, uno por uno, los temas que vimos en el curso.”
QUÉ HACER (no se dice)
• Antes de empezar, abrir la UI en http://localhost:8088 y comprobar que los dos servicios aparecen en verde.
PARA PASAR
“Primero, quiénes somos.”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“Somos siete personas. Cuatro somos de desarrollo: construimos los servicios, su diseño y la interfaz. Dos son de DevOps: se encargaron de empaquetar, desplegar y operar el sistema. Y una es de base de datos: cuidó cómo se guardan los datos y que ningún aviso se pierda.”
“Por eso hoy van a escuchar varias voces: cada uno presenta la parte de su área. Debajo de cada persona ven qué partes le tocan.”
“La idea no es que memoricen tecnologías. Queremos que, al salir, puedan explicar con sus propias palabras cómo funciona el sistema y por qué tomamos cada decisión.”
PARA PASAR
“Empecemos por lo básico: qué hace ARKA-Lite.”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“ARKA-Lite hace algo sencillo: registra solicitudes, por ejemplo una incidencia o un pedido de cambio, y avisa cuando una solicitud se envía.”
“Por dentro son dos servicios. El de solicitudes es como la ventanilla: recibe el trámite y lleva su estado. El de notificaciones es como el buzón: cuando el trámite avanza, deja el aviso. Y encima de los dos hay una interfaz web, que es lo que usa la persona.”
“Elegimos un problema pequeño a propósito. Así el foco no está en el negocio, sino en cómo se construye, se despliega y se opera un sistema con más de un servicio.”
PARA PASAR
“Antes de entrar en detalle, veamos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“Así se ve ARKA-Lite en números. Son dos microservicios hechos con Spring Boot, cada uno con su propia base de datos, y entre los dos exponen once endpoints REST.”
“Todo el sistema son ocho contenedores: los servicios, sus bases, la interfaz y las herramientas de logs. Y se levantan con un solo comando.”
“Lo cuidan sesenta y siete pruebas automáticas. Los avisos pendientes se entregan cada cinco segundos y, aunque un evento llegue dos veces, se crea un solo aviso. Esos dos números los vamos a explicar con calma más adelante.”
PARA PASAR
“¿Y cómo se conecta esto con lo que vimos en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“No vamos a seguir el temario clase por clase. Vamos a contar la historia de cómo se construye el sistema, en el orden en que tiene sentido.”
“Primero lo vemos por fuera, como un usuario. Después entramos a un servicio y vemos cómo se arma. Luego, cómo lo diseñamos para que pueda cambiar sin romperse y cómo cuidamos los datos. Nuestros compañeros de DevOps nos muestran cómo lo empaquetamos, lo desplegamos y sabemos si está funcionando. Al final lo vemos todo junto, en vivo.”
“En cada parte van a ver el mismo orden: qué problema resuelve, cómo lo aplicamos, un diagrama paso a paso y la prueba de que funciona.”
QUÉ HACER (no se dice)
• Explicar que el número sobre cada flecha de los diagramas coincide con el paso que se lee.
PARA PASAR
“Empecemos mirando el sistema completo desde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“Ahora vamos con el sistema por fuera. Primero, qué problema resuelve.”
QUÉ HACER (no se dice)
Leer las cinco preguntas antes de avanzar.
RESPUESTAS
Problema: Antes de ver código, hay que saber qué piezas existen y cómo se hablan.
Cómo funciona: Una UI llama a dos microservicios por HTTP; cada uno guarda sus datos en su propia base.
Cómo se ve: Persona → UI → solicitudes y notificaciones → una base PostgreSQL para cada uno.
En ARKA-Lite: compose.yaml levanta la UI, los dos servicios, sus bases y la observabilidad con un solo comando.
Cómo se comprueba: La UI en localhost:8088 con los dos servicios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mapa. A la izquierda está la persona, usando la interfaz desde su navegador. La interfaz no guarda nada: le pide las cosas a los servicios.”
“Arriba está el servicio de solicitudes, con su base de datos. Abajo, el de notificaciones, con la suya. Fíjense en algo importante: ninguno lee la base del otro. Si notificaciones necesita saber algo, solicitudes se lo cuenta con un mensaje que llamamos evento.”
“Y todo viaja por HTTP, el mismo protocolo que usa cualquier página web. No hay magia: son peticiones y respuestas.”
SI PREGUNTAN
¿Por qué no comparten una sola base de datos?
RESPUESTA CORTA
Para que cada servicio sea dueño de sus datos y pueda cambiar sin romper al otro.
PARA PASAR
“Veamos qué le pasa a una solicitud durante su vida.”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usa la UI en el navegador.”
Paso 2: “La UI llama a solicitudes por /api: crear, listar, enviar, aprobar o rechazar.”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“Solicitudes guarda los datos en su propia base.”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“Al enviar, solicitudes avisa después a notificaciones con un evento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guarda en su base qué eventos ya consumió.”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“La UI también consulta a notificaciones: avisos y eventos consumidos.”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“Toda solicitud nace en borrador. Mientras está en borrador, nadie se entera: es como un formulario que todavía no hemos entregado.”
“Cuando la enviamos, pasa a enviada, y ese es el único momento en que se genera un aviso. Desde enviada, alguien la puede aprobar o rechazar, y ahí termina su vida.”
“¿Qué pasa si intentamos algo que no corresponde, como enviar dos veces la misma solicitud? El servicio no lo permite y responde con un código 409, que en HTTP significa conflicto, junto con un mensaje que explica el porqué.”
QUÉ HACER (no se dice)
• Mostrar: En la UI, pestaña Solicitudes: crear una solicitud nueva y enviarla. Debe verse: La fila pasa de Borrador a Enviada y, unos segundos después, muestra 1 aviso.
PARA PASAR
“Esa es la vista sencilla. Ahora veamos todo lo que hay alrededor.”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mismo sistema, pero con todo lo que lo rodea. El recuadro grande es el lugar donde corre: en nuestra computadora con Docker Compose, o en un clúster de Kubernetes.”
“Abajo a la izquierda está la entrega continua. Cada vez que alguien sube un cambio a GitHub, un proceso automático lo compila, corre las pruebas y, si todo sale bien, publica las imágenes listas para desplegar.”
“Y abajo a la derecha, la observabilidad: los logs de todos los contenedores se recogen con Promtail, se guardan en Loki y se consultan en Grafana. Así, si algo falla, no tenemos que entrar a cada servicio a buscar qué pasó.”
SI PREGUNTAN
Si mañana agregamos un tercer servicio, ¿qué partes del dibujo cambian?
RESPUESTA CORTA
Se agrega su caja y su base; la entrega y los logs lo cubren igual, sin cambios.
PARA PASAR
“Ya vimos el mapa. Ahora entremos a uno de esos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usa la interfaz en su navegador: React muestra las cuatro pestañas.”
Paso 2: “nginx recibe /api y reenvía cada ruta al servicio que corresponde.”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“La API de solicitudes recibe la petición y el dominio aplica las reglas.”
Paso 4: “En una sola transacción se guardan la solicitud y su evento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“Cada 5 segundos, el relevador lee los pendientes y los entrega por HTTP, con el traceId.”
Paso 6: “Notificaciones revisa si el evento ya llegó; si es nuevo, crea el aviso y anota su número.”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“Cada cambio en GitHub pasa por GitHub Actions, que prueba y publica las imágenes en GHCR.”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8: “Los logs de todos los contenedores llegan a Grafana a través de Promtail y Loki.”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“Ahora vamos con construir un servicio. Primero, qué problema resuelve.”
QUÉ HACER (no se dice)
Leer las cinco preguntas antes de avanzar.
RESPUESTAS
Problema: Necesitamos exponer operaciones del negocio por HTTP de forma clara, documentada y probada.
Cómo funciona: Spring Boot arma la aplicación; los controladores reciben peticiones; el dominio decide; las pruebas lo comprueban.
Cómo se ve: Petición → controlador → servicio → repositorio → respuesta con su código HTTP.
En ARKA-Lite: SolicitudController, ServicioDeSolicitudes, ManejadorGlobalDeErrores, Swagger y las pruebas JUnit.
Cómo se comprueba: ./mvnw verify en cada servicio y Swagger en /swagger-ui/index.html.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“Nuestro primer contacto con Spring Boot fue entender qué hace por nosotros. Maven se encarga de descargar las librerías, compilar y correr las pruebas. Spring Boot levanta el servidor web y conecta las piezas de la aplicación.”
“Piénsenlo como un contratista de obra: nosotros le decimos qué piezas hay, y él las arma y las conecta. Cada pieza recibe lo que necesita por su constructor; nadie sale a buscar sus dependencias por su cuenta.”
“Una decisión que tomamos desde el principio: las reglas del negocio no conocen a Spring. Son clases normales de Java. Eso nos va a servir mucho cuando hablemos de pruebas y de diseño.”
QUÉ HACER (no se dice)
• Mostrar: Ejecutar ./mvnw clean verify dentro de servicio-solicitudes. Debe verse: BUILD SUCCESS y el resumen de pruebas.
PARA PASAR
“Con la aplicación arriba, construyamos nuestro primer endpoint.”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endpoint REST es una combinación de método y ruta. Por ejemplo, POST a /solicitudes significa: crea una solicitud nueva. GET a /solicitudes significa: dame la lista.”
“Sigamos el diagrama. La interfaz manda los datos en formato JSON. El controlador los recibe y se los pasa al servicio. El servicio revisa que todo esté bien y el adaptador lo guarda en la base de datos. Si todo sale bien, la respuesta es 201, que quiere decir creado.”
“Y si el identificador ya existía, el servicio no lo guarda y responde 409, conflicto, con un mensaje claro. Cada código cuenta qué pasó, sin tener que adivinar.”
PARA PASAR
“¿Y dónde vive la regla que decide si algo se permite?”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UI envía POST con un cuerpo JSON: id y tipo.”
Paso 2: “El controlador convierte el JSON en NuevaSolicitud y llama al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valida los datos y revisa que el id no exista.”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adaptador JPA guarda la fila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API responde 201 Created con la solicitud en BORRADOR.”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“Si el id ya existe, el manejador global de errores responde 409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 solicitud es un record de Java, que es una forma corta de declarar datos que no cambian. Cuando la enviamos, no modificamos la solicitud que teníamos: creamos una nueva en estado enviada.”
“Y la regla está ahí mismo, a la vista: solo se puede enviar si está en borrador. Si no, lanza una excepción que se llama TransicionNoPermitida.”
“Fíjense en lo que esta clase no sabe: no sabe de HTTP, no sabe de PostgreSQL. Solo sabe del negocio. Si mañana cambia la regla, la cambiamos en un solo lugar.”
PARA PASAR
“Esa excepción tiene que llegarle a la persona como un mensaje que entienda.”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“En el taller del endpoint seguro aprendimos a no repetir el manejo de errores en cada controlador. En su lugar, hay un solo componente, el manejador global, que atrapa las excepciones y las convierte en respuestas HTTP.”
“Si la solicitud no existe, responde 404. Si el identificador ya existe o el cambio no se permite, 409. Si faltan datos, 400. Y siempre con la misma forma: un estado y un mensaje.”
“Eso es lo que permite que la interfaz le muestre a la persona un mensaje claro, en lugar de un error genérico que nadie entiende.”
QUÉ HACER (no se dice)
• Mostrar: En la UI, crear dos veces el mismo identificador. Debe verse: Aparece el diálogo “Ese identificador ya existe” con el código 409.
PARA PASAR
“Ahora, ¿cómo sabe otra persona qué endpoints existen?”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servicio-solicitudes/…/adaptadores/entrada/ManejadorGlobalDeErrores.java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contrato de API es como el menú de un restaurante: dice qué se puede pedir, qué lleva cada pedido y qué te van a devolver.”
“Cada servicio publica su contrato con un estándar llamado OpenAPI, y Swagger lo muestra como una página donde podemos ver cada endpoint y hasta probarlo.”
“Lo mejor es que se genera desde el código. Cuando agregamos un endpoint, la documentación lo muestra sin trabajo extra, y nunca queda desactualizada. Desde la interfaz hay un menú, Contratos, que abre estas páginas directamente.”
QUÉ HACER (no se dice)
• Mostrar: En la UI, menú Contratos › Swagger · solicitudes, y ejecutar GET /solicitudes. Debe verse: La lista en JSON con código 200.
PARA PASAR
“Documentar no basta: también hay que comprobar que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“Las pruebas son como un vigilante que revisa cada regla todas las noches. Si alguien cambia algo y rompe una regla sin darse cuenta, la prueba falla y nos avisa.”
“Como el negocio no depende de Spring, podemos probar las reglas sin levantar nada: son pruebas muy rápidas. En lugar de PostgreSQL usamos un repositorio en memoria que cumple el mismo contrato.”
“Los controladores los probamos con MockMvc, que simula peticiones HTTP sin un servidor real. Solo el servicio de solicitudes tiene 28 pruebas, y el pipeline las corre todas en cada cambio.”
QUÉ HACER (no se dice)
• Mostrar: ./mvnw test en servicio-solicitudes. Debe verse: Tests run: 28, Failures: 0.
PARA PASAR
“Las pruebas cuidan el código. Git cuida su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“Trabajamos en equipo sobre el mismo código, así que necesitábamos orden. Cada tarea se hace en una rama corta, con un nombre que dice qué es: feat para algo nuevo, fix para una corrección, docs para documentación.”
“Cada commit sigue una convención: el tipo, dos puntos y una frase corta que dice qué hace el cambio. Por ejemplo: feat, crear solicitud por post. Así, leyendo el historial, cualquiera entiende qué pasó.”
“Y nadie sube cambios directo a la rama principal. Todo entra por un Pull Request, otra persona lo revisa y el pipeline lo valida antes de integrarlo.”
QUÉ HACER (no se dice)
• Mostrar el historial del repositorio en GitHub; no crear commits durante la exposición.
PARA PASAR
“Ya sabemos construir un servicio. Ahora veamos cómo lo diseñamos para que pueda cambiar.”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“Ahora vamos con diseñar para cambiar. Primero, qué problema resuelve.”
QUÉ HACER (no se dice)
Leer las cinco preguntas antes de avanzar.
RESPUESTAS
Problema: Si las reglas dependen de HTTP o de la base, cambiar una tecnología obliga a tocar el negocio.
Cómo funciona: El negocio va en el centro y la tecnología en los bordes. Lo que cambia por motivos distintos va en servicios distintos.
Cómo se ve: Entrada → dominio → salida; un monolito que se separa en dos servicios.
En ARKA-Lite: Paquetes dominio/ y adaptadores/ en cada servicio; adaptadores activos marcados con @Primary.
Cómo se comprueba: Las pruebas usan un repositorio en memoria con el mismo puerto, sin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estructura base organizamos cada servicio en tres zonas. A la izquierda, la entrada: los controladores que reciben las peticiones HTTP. En el centro, el dominio: las reglas del negocio. A la derecha, la salida: lo que habla con el exterior, como la base de datos o el otro servicio.”
“El dominio no llama directamente a la base. Pide lo que necesita a través de puertos, que son interfaces: un contrato que dice, por ejemplo, necesito guardar y buscar solicitudes, sin decir cómo.”
“Los adaptadores de salida cumplen ese contrato. Uno guarda en PostgreSQL; otro anota el evento pendiente; otro lo entrega a notificaciones. A esto se le llama arquitectura de puertos y adaptadores, o arquitectura hexagonal.”
PARA PASAR
“El otro servicio sigue la misma idea.”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“Las peticiones entran por el controlador, que solo traduce HTTP.”
Paso 2: “El servicio de dominio coordina cada caso: crear, enviar, aprobar o rechazar.”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“Las reglas viven en el record Solicitud; si una no se cumple, lanza una excepción.”
Paso 4: “El dominio pide lo que necesita a través de puertos: interfaces sin tecnología.”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“Los adaptadores de salida implementan esos puertos; Spring usa los marcados con @Primary.”
Paso 6: “Al enviar, la solicitud y su evento pendiente se guardan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“Cada 5 segundos, el relevador lee los pendientes y el publicador los entrega con reintentos.”
Paso 8: “El manejador global convierte las excepciones en 404, 409 o 400; Swagger y Actuator publican el contrato y la salud.”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9: “ConfiguracionDominio arma las piezas con @Bean, y el RestClient lleva el traceId al otro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“Ahora el otro servicio. Notificaciones es más pequeño, pero está organizado igual: entrada, dominio y salida.”
“Por la entrada llegan dos cosas: el evento que manda solicitudes y las consultas de la interfaz. Antes de crear un aviso, una pieza que llamamos consumo idempotente revisa en la base si ese número de evento ya llegó. Si es nuevo, el dominio crea el aviso y se anota el número.”
“Y un detalle honesto: los avisos viven en memoria, pero la lista de eventos ya recibidos está en PostgreSQL. Por eso, aunque el servicio se reinicie, nunca crea un aviso repetido.”
SI PREGUNTAN
¿Qué pasa con los avisos si notificaciones se reinicia?
RESPUESTA CORTA
Se pierde su texto, pero no se duplican: la lista de eventos recibidos está en la base.
PARA PASAR
“¿Qué ganamos con esa separación?”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“Solicitudes entrega el evento por HTTP a EventoController.”
Paso 2: “ConsumoIdempotente pregunta si ese eventoId ya está en evento_procesado.”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“Si es nuevo, el dominio crea el aviso; si ya estaba, lo ignora.”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aviso se guarda en memoria por el puerto, y el eventoId queda anotado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interfaz consulta los avisos con GET /notificaciones.”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“ConfiguracionNotificaciones arma el dominio; Swagger y Actuator publican el contrato y la salud.”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“Sigamos una consulta para el equipo técnico. El controlador recibe el id en la ruta y llama al servicio. El servicio pide la solicitud a través del puerto RepositorioDeSolicitudes.”
“Quien responde es RepositorioJpa, que usa Spring Data para hacer la consulta y convierte la fila de la base en un objeto del dominio. El servicio nunca ve una tabla ni una consulta SQL.”
PARA PASAR
“Ahora, la ventaja práctica de trabajar con puertos.”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UI pide GET /solicitudes/SOL-100. El id viaja en la ruta; no hay cuerpo.”
Paso 2: “El controlador no decide reglas: llama al caso de uso.”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caso de uso llama buscar(id) a través del contrato. Spring conectó RepositorioJpa.”
Paso 4: “RepositorioJpa usa Spring Data JPA, que consulta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fila vuelve como entidad y el adaptador la convierte en Solicitud del dominio.”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“Si no existe, el servicio lanza SolicitudNoEncontrada y el manejador responde 404.”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“Spring escribe la solicitud como JSON con id, tipo y estado.”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“Piensen en un enchufe. Un aparato no sabe si la electricidad viene de una hidroeléctrica o de paneles solares. Solo sabe que el enchufe cumple la norma. Los puertos son ese enchufe.”
“Por eso podemos tener varios adaptadores para el mismo puerto. Hoy, Spring usa el que marcamos con @Primary: el que guarda en PostgreSQL y el que publica con reintentos. En las pruebas usamos uno que guarda en memoria, y el negocio ni se entera del cambio.”
“Dejamos las versiones alternativas en el código a propósito, como material de aprendizaje: muestran que cambiar la pieza no obliga a tocar las reglas.”
SI PREGUNTAN
¿La interfaz guarda algo por sí misma?
RESPUESTA CORTA
No. Solo declara el contrato; el adaptador es el que hace el trabajo.
PARA PASAR
“Esa misma idea, llevada más lejos, separa aplicaciones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servicio de dominio solo conoce el contrato que necesita, no la clase que lo cumple.”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“El adaptador también conoce ese contrato y lo cumple. Los dos dependen del contrato.”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“Cuando la aplicación corre, la llamada sí llega al adaptador.”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“Spring elige cuál usar: el que está marcado con @Primary, hoy el que guarda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descomposición del monolito aprendimos que la pregunta clave no es técnica. Es: ¿qué partes del negocio cambian juntas?”
“Un monolito es una sola aplicación que lo hace todo y comparte una base. En ARKA-Lite, el trámite y los avisos cambian por motivos distintos, así que los separamos en dos servicios, cada uno con su propia base.”
“¿Cómo se hablan, entonces? Con un contrato: un mensaje llamado SolicitudEnviada, que dice qué solicitud se envió. Ese contrato está copiado en los dos proyectos, y si cambia de un lado, hay que cambiarlo del otro.”
PARA PASAR
“¿Siempre conviene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servicio-*/…/eventos/SolicitudEnviada.java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“Antes: una sola aplicación hace todo y comparte una base.”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“Separamos por responsabilidad: el trámite y los avisos cambian por motivos distintos.”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servicio es dueño de su base. Ninguno lee la base del otro.”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“Se comunican con un contrato: el evento SolicitudEnviada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“Separar no es gratis. Ahora hay red entre los servicios, cada uno tiene su base, y puede pasar que uno esté arriba y el otro caído. A eso se le llama fallo parcial.”
“Por eso la decisión se toma con criterios como los de esta tabla: si las partes cambian juntas, si necesitan desplegarse por separado, si un equipo distinto es dueño de cada una.”
“En ARKA-Lite separamos para aprender esas fronteras. Y justamente el fallo parcial es el problema que resolvemos en la siguiente parte.”
SI PREGUNTAN
Si un solo equipo mantiene todo y lo publica junto, ¿qué ganamos separando?
RESPUESTA CORTA
Poco: agregamos red y fallos parciales sin un beneficio claro.
PARA PASAR
“Si un servicio puede fallar mientras el otro funciona, ¿cómo evitamos perder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“Ahora vamos con guardar sin perder datos. Primero, qué problema resuelve.”
QUÉ HACER (no se dice)
Leer las cinco preguntas antes de avanzar.
RESPUESTAS
Problema: Si guardamos la solicitud y justo después falla el aviso, podríamos perder la intención de avisar.
Cómo funciona: Primero se guarda, después se avisa; y el que recibe ignora lo que ya recibió.
Cómo se ve: Transacción local → evento pendiente → relevador → receptor idempotente.
En ARKA-Lite: Adaptador JPA, tabla evento, RelevadorDeEventosPendientes, PublicadorConReintento y ConsumoIdempotente.
Cómo se comprueba: En la UI, pestaña Enviadas: eventos entregados y consumidos, y 0 avisos duplicados al reentregar.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“En el taller de modelado y consultas conectamos el adaptador a una base de datos real: PostgreSQL. Para no escribir SQL a mano en cada operación, usamos JPA, que traduce entre nuestros objetos y las tablas.”
“Al arrancar, el servicio ejecuta un archivo llamado schema.sql que crea las tablas si no existen. Después, Hibernate revisa que las clases coincidan con las tablas. Si no coinciden, el servicio no arranca, y eso es bueno: preferimos un error al inicio que datos mal guardados.”
“Un detalle de diseño: la clase que JPA guarda no es la misma que usa el negocio. El adaptador traduce entre las dos, y así el negocio sigue sin saber nada de la base.”
PARA PASAR
“Ahora veamos el problema más interesante del proyecto.”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“Antes del problema, ubiquemos los datos. Solicitudes guarda el trámite y una lista de eventos pendientes. Notificaciones guarda la lista de eventos que ya recibió.”
“Las dos bases no están conectadas entre sí. Lo único que las une es el contrato del evento.”
“Y una aclaración honesta: el texto del aviso vive en memoria. Si notificaciones se reinicia, perdemos ese texto, pero conservamos el registro de qué eventos ya recibimos. Lo mencionamos al final como mejora pendiente.”
PARA PASAR
“Con esto claro, veamos el problema de la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“Solicitudes guarda el trámite en su propia base de datos.”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“En esa misma base anota el evento pendiente, para no perder la intención de avisar.”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“Notificaciones guarda en su base los números de evento que ya recibió.”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texto del aviso vive en memoria: si el servicio se reinicia, se pierde el texto, pero no el registro.”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“Las dos bases no están conectadas. Lo que las une es el contrato del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“Imagínense que envían una solicitud justo cuando el servicio de avisos está caído. Si en ese momento intentáramos avisar directamente, la solicitud quedaría enviada, pero nadie se enteraría. Ese es el problema de la consistencia.”
“Lo que hicimos fue separar el envío en dos momentos. En el primero, guardamos la solicitud como enviada y, en la misma operación, dejamos anotado que hay un aviso pendiente. Es todo o nada: si una de las dos cosas falla, no se guarda ninguna.”
“La respuesta le llega a la persona enseguida. El aviso se entrega en un segundo momento, que vemos en la siguiente lámina.”
SI PREGUNTAN
¿Que el envío responda bien significa que el aviso ya existe?
RESPUESTA CORTA
No. Significa que la solicitud y el evento quedaron guardados; el aviso llega después.
PARA PASAR
“¿Quién entrega ese aviso pendiente?”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servicio-solicitudes/…/dominio/ServicioDeSolicitudes.java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Enviar y la interfaz le pide al servicio que envíe la solicitud.”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“El controlador recibe el pedido y se lo pasa al servicio de dominio.”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revisa que la solicitud esté en BORRADOR y la cambia a ENVIADA.”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“En una sola operación se guardan dos cosas: la solicitud ENVIADA y un evento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respuesta llega enseguida. El aviso todavía no existe: se entrega después.”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“Esto se llama patrón outbox, que en español sería bandeja de salida. Es como dejar una carta en la bandeja: aunque el mensajero no pase hoy, la carta no se pierde.”
“Nuestro mensajero se llama relevador. Cada cinco segundos revisa la tabla de eventos pendientes y los entrega a notificaciones. Si no logra entregarlos, lo intenta hasta tres veces, y si aun así falla, el evento sigue pendiente para el siguiente ciclo.”
“Un detalle importante: cada reintento lleva exactamente el mismo número de evento. Eso es lo que nos permite resolver el siguiente problema.”
PARA PASAR
“Si se reintenta, ¿no puede llegar el aviso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servicio-solicitudes/…/adaptadores/salida/RelevadorDeEventosPendientes.java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evento espera en la tabla de pendientes.”
Paso 2: “Cada 5 segundos, el relevador revisa si hay pendientes.”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publicador lo entrega hasta con tres intentos, siempre con el mismo número de evento.”
Paso 4: “El evento llega a notificaciones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revisa si ya conoce ese número de evento.”
Paso 6: “Si es nuevo, crea el aviso y anota el número.”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“Si ya lo conocía, lo ignora. Así una reentrega no duplica el aviso.”
Paso 8: “Notificaciones responde que lo recibió.”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9: “Solo entonces el relevador lo marca como entregado.”
Paso 10: “Si esa respuesta se pierde, el evento se vuelve a mandar, y la idempotencia evita el aviso doble.”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“Sí, puede llegar dos veces. Por ejemplo, si notificaciones recibió el evento pero su respuesta se perdió en el camino, el relevador piensa que falló y lo vuelve a mandar.”
“Para eso está la idempotencia, una palabra difícil para una idea sencilla: repetir la misma operación no multiplica su efecto. Notificaciones funciona como un portero con lista de invitados: anota el número de cada evento que recibe, y si llega uno que ya está en la lista, lo ignora.”
“En la demostración lo vamos a comprobar: vamos a reentregar a propósito un evento que ya llegó, y vamos a ver que no aparece un aviso nuevo.”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“Los datos están cuidados. Ahora, ¿cómo llevamos todo esto a cualquier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servicio-notificaciones/…/adaptadores/entrada/ConsumoIdempotente.java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“Ahora vamos con empaquetar y entregar. Primero, qué problema resuelve.”
QUÉ HACER (no se dice)
Leer las cinco preguntas antes de avanzar.
RESPUESTAS
Problema: “En mi máquina funciona”: cada computadora tiene otro Java, otras variables y otra red.
Cómo funciona: Docker empaqueta cada servicio, Compose levanta el sistema y el pipeline prueba cada cambio.
Cómo se ve: Dockerfile → imagen → contenedor; push → pipeline → imagen publicada.
En ARKA-Lite: Un Dockerfile por servicio, compose.yaml y .github/workflows/ci.yml.
Cómo se comprueba: docker compose ps con todo sano y la ejecución en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“¿Cuántas veces hemos escuchado “en mi máquina funciona”? Docker existe para que eso no vuelva a pasar.”
“El Dockerfile es una receta. La imagen es el plato ya preparado y empaquetado. Y el contenedor es ese plato servido: la imagen corriendo. Con la misma receta, sale lo mismo en cualquier computadora.”
“En el taller del Dockerfile usamos dos etapas. La primera tiene todas las herramientas para compilar. La segunda solo lleva lo necesario para ejecutar, así la imagen final es más liviana, y corre con un usuario sin privilegios, que es más seguro.”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servicio-solicitudes/Dockerfile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primera etapa tiene Maven y Java completo, y compila el programa.”
Paso 2: “La etapa final solo lleva lo necesario para ejecutarlo, con un usuario sin privilegios.”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resultado es una imagen: la misma receta para cualquier computadora.”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“Un contenedor es esa imagen corriendo, con su configuración.”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“Dentro de la red, solicitudes llama a notificaciones por su nombre, no por localhost.”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“Desde tu computadora entras por el puerto publicado.”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 Compose conectamos los dos microservicios. Con un solo comando levantamos todo: los dos servicios, sus dos bases, la interfaz y las herramientas de logs.”
“Dentro de la red que crea Compose, cada servicio encuentra al otro por su nombre. Solicitudes no llama a localhost: llama a servicio-notificaciones. Esto es importante, porque dentro de un contenedor, localhost es el mismo contenedor.”
“Y la configuración entra por variables de entorno: la dirección de la base, la del otro servicio. Así la misma imagen sirve en nuestra computadora y en el clúster, sin recompilar.”
QUÉ HACER (no se dice)
• Mostrar: docker compose ps Debe verse: La UI, los servicios y las bases arriba y sanos.
SI PREGUNTAN
Dentro de un contenedor, ¿a dónde lleva localhost?
RESPUESTA CORTA
Al mismo contenedor, no a otro servicio. Por eso usamos el nombre del servicio.
PARA PASAR
“Ya corre en cualquier computadora. Ahora, cómo validamos cada cambio sin hacerlo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del pipeline configuramos GitHub Actions para que trabaje por nosotros. Cada vez que alguien sube un cambio o abre un Pull Request, se dispara solo.”
“Por cada servicio, prepara Java y una base de datos, compila, corre todas las pruebas y comprueba que el servicio realmente arranca. Si algo falla, nos avisa en minutos.”
“Si todo pasa, construye la imagen y la publica con el código del commit. Así cada imagen se puede relacionar con el cambio exacto que la produjo. Integración continua es probar seguido; entrega continua es dejar siempre una versión lista para desplegar.”
SI PREGUNTAN
¿Publicar la imagen la despliega en Kubernetes?
RESPUESTA CORTA
No. Desplegar es un paso aparte.
PARA PASAR
“Con cada cambio probado y empaquetado, falta llevarlo al clúster.”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“Un push a main o un Pull Request dispara el pipeline.”
Paso 2: “Se crea un trabajo por servicio, cada uno con su base de datos de prueba.”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trabajo compila y corre todas las pruebas del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“En solicitudes, además, comprueba que el servicio arranca de verdad.”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“Si todo pasa, construye la imagen y la publica con el código del commit.”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“Publicar no es desplegar: lo que corre en el clúster cambia en un paso aparte.”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“Antes de pasar al clúster, para el equipo técnico, veamos el archivo que lo hace. GitHub encuentra los workflows en la carpeta .github/workflows. La sección on dice cuándo se dispara: con cada push a main y con cada Pull Request.”
“La matriz crea un trabajo por servicio, cada uno con su base. Cada trabajo corre mvn verify dentro de su carpeta. En solicitudes, además, arranca el JAR y espera ver la solicitud CAM-002 que se carga al iniciar. Al final, construye y publica la imagen.”
QUÉ HACER (no se dice)
• Abrir el archivo en GitHub solo en modo lectura.
PARA PASAR
“Con las imágenes publicadas, falta llevarlas al clúster.”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“Ahora vamos con desplegar y operar. Primero, qué problema resuelve.”
QUÉ HACER (no se dice)
Leer las cinco preguntas antes de avanzar.
RESPUESTAS
Problema: Si un servicio se cae de madrugada, alguien tiene que levantarlo y después averiguar qué pasó.
Cómo funciona: Kubernetes mantiene el sistema corriendo; los logs y la salud nos dicen qué está pasando.
Cómo se ve: Deployment → Pod → Service; App → Promtail → Loki → Grafana.
En ARKA-Lite: Los manifiestos de k8s/, Promtail, Loki y Grafana, y Actuator en cada servicio.
Cómo se comprueba: kubectl get pods, una búsqueda en Grafana por número de evento y la pestaña Salud de la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“Kubernetes funciona como un termostato. No le decimos qué hacer paso a paso: le decimos el estado que queremos, por ejemplo una copia de cada servicio, y él se encarga de mantenerlo.”
“El Deployment dice cuántas copias queremos. Cada copia corre en un Pod. El Service le da a cada servicio un nombre fijo dentro del clúster, para que los demás lo encuentren. Y las bases guardan su contraseña en un Secret y sus datos en un disco que sobrevive a los reinicios.”
“En el taller desplegamos ARKA-Lite completo en un clúster con un solo comando: kubectl apply sobre la carpeta k8s.”
PARA PASAR
“¿Y cómo sabe Kubernetes si un servicio está bien?”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despliegue local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“Declaramos un Deployment: qué imagen usar y cuántas copias queremos.”
Paso 2: “Kubernetes mantiene ese número de copias. Si una falta, crea otra.”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copia corre en un Pod. Antes de arrancar, espera a la base y a notificaciones.”
Paso 4: “El Service da un nombre fijo y solo manda tráfico a los Pods listos.”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“El Secret entrega la contraseña de la base sin escribirla en el código.”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“La base guarda sus datos en un disco que sobrevive a los reinicios. Aun así, no es un respaldo.”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“La aplicación llega a la base por su nombre de Service, no por una dirección fija.”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“En la puesta a punto aprendimos que arrancar no es lo mismo que estar listo. Por eso, antes de iniciar, cada servicio espera a que su base y sus dependencias respondan.”
“Kubernetes hace dos preguntas a cada Pod. La primera: ¿ya puedes recibir tráfico? Si no, no le manda peticiones. La segunda: ¿sigues vivo? Si no responde, lo reinicia.”
“Y si borramos un Pod a propósito, Kubernetes crea otro solo. En la tabla está la primera pregunta que nos hacemos según el estado en que veamos un Pod.”
QUÉ HACER (no se dice)
• Mostrar: kubectl delete pod de servicio-solicitudes y luego kubectl get pods. Debe verse: Aparece un Pod nuevo que vuelve a estar Ready.
PARA PASAR
“El sistema corre. ¿Cómo sabemos qué está pasando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“Los logs son como la caja negra de un avión: registran lo que pasó para poder revisarlo después. El problema es que cada servicio tiene su propia caja negra.”
“En el taller de centralización de logs armamos este recorrido. Cada servicio escribe sus logs en formato JSON. Promtail los recoge de todos los contenedores, Loki los guarda y Grafana nos deja buscarlos en un solo lugar.”
“Así podemos seguir un evento de un servicio a otro buscando su número, sin entrar a cada contenedor. Desde la interfaz, el menú Contratos tiene un acceso directo a Grafana.”
QUÉ HACER (no se dice)
• Mostrar: Grafana › Explore › Loki: {service="servicio-solicitudes"} |= "evento". Debe verse: Las líneas “Intentando publicar evento” con el número del evento.
PARA PASAR
“Además de los logs, cada servicio dice si está bien.”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observabilidad/promtail.yaml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escribe sus logs en formato JSON.”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“Docker guarda lo que escribe cada contenedor.”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“Promtail recoge esos logs de todos los contenedores.”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“Loki los guarda y permite buscarlos.”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“Grafana muestra los logs y deja filtrarlos, por ejemplo, por número de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“Para el equipo técnico: un buen log responde qué pasó, en qué servicio, cuándo y con qué identificadores. Hoy registramos el momento, el nivel, el servicio y los números de evento y de solicitud dentro del mensaje.”
“Las llamadas entre servicios usan un RestClient preparado para propagar la traza. Registrar el destino, el intento y la duración como campos separados queda como mejora propuesta.”
PARA PASAR
“Además de los logs, cada servicio dice si está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“Cada servicio tiene una dirección de salud que responde si está bien. Por dentro revisa, por ejemplo, que pueda hablar con su base de datos. Kubernetes la usa para decidir si un Pod está listo, y la interfaz la muestra en la pestaña Salud.”
“Pero ojo: que un servicio diga UP solo significa que responde. No garantiza que todos los avisos llegaron. Para eso miramos la pestaña Enviadas y los logs.”
“Las métricas, como cuántas peticiones recibe cada servicio, ya se exponen. Guardarlas en el tiempo con Prometheus queda como siguiente paso.”
SI PREGUNTAN
Si todo está UP y falta un aviso, ¿qué miramos?
RESPUESTA CORTA
Si el evento se entregó y se consumió, en Enviadas, y los logs del relevador y de notificaciones.
PARA PASAR
“Ya tenemos todas las piezas. Falta ensamblarlas con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mide cosas como cuántas peticiones recibe.”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2: “Actuator expone esas mediciones y también la salud del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“Un servidor Prometheus las guardaría en el tiempo. Hoy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“Grafana las mostraría en gráficos. También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“Ahora vamos con ensamblaje: la ui. Primero, qué problema resuelve.”
QUÉ HACER (no se dice)
Leer las cinco preguntas antes de avanzar.
RESPUESTAS
Problema: Dos servicios sueltos no son un producto: alguien tiene que poder usarlos y entenderlos.
Cómo funciona: Una interfaz web consume los dos servicios por un mismo origen y explica cómo funcionan.
Cómo se ve: Navegador → /api → nginx → solicitudes o notificaciones.
En ARKA-Lite: arka-lite-ui: React, nginx como proxy, DataTables, Tom Select y SweetAlert2.
Cómo se comprueba: La demostración en vivo: crear, enviar, ver el aviso y reentregar sin duplicar.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es una aplicación web hecha con React y servida por nginx. El navegador nunca conoce las direcciones internas de los servicios: siempre llama a /api, en la misma dirección de la página.”
“nginx funciona como una recepcionista: recibe cada petición y la pasa al servicio que corresponde. Lo que empieza con /api/solicitudes va a solicitudes; lo de notificaciones, a notificaciones.”
“Y un detalle de cuidado: si una operación que cambia datos tarda demasiado, la interfaz no la repite por su cuenta, porque el cambio pudo haberse guardado aunque la respuesta no llegara.”
PARA PASAR
“¿Y qué ve la persona cuando abre la interfaz?”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HACER (no se dice)
Mostrar el archivo arka-lite-ui/despliegue/nginx.conf.template y leer solo las líneas que se mencionan en el texto de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un botón en la pantalla.”
Paso 2: “Si la acción cambia datos, la interfaz pide confirmarla antes de enviarla.”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cliente HTTP mide el tiempo y, si tarda más de 10 segundos, no lo repite solo.”
Paso 4: “El navegador llama a /api y nginx lo pasa al servicio que corresponde.”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“nginx llega al servicio por su nombre interno.”
Paso 6: “Vuelve la respuesta con su código: 200, 201, 404, 409 o un error si el servicio no 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“La petición queda registrada con su método, ruta, código y duración.”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8: “La pantalla muestra el resultado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tiene solo cuatro pestañas. En Solicitudes creas una solicitud, ves las que creaste y tienes a la mano las acciones que corresponden a cada una. Antes de cada acción, la app te pide confirmar.”
“En Enviadas ves el recorrido de cada evento: registrado, entregado, consumido y aviso. En Salud validas que los dos servicios estén bien, y desde ahí también abres los contratos en Swagger y los logs en Grafana.”
“Y en Ayuda está la explicación: cada tema responde una pregunta, como qué pasa cuando envío una solicitud, con un diagrama que avanza paso a paso. Los colores de la plantilla se pueden personalizar desde la propia app.”
PARA PASAR
“Ahora sí, vamos a verlo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“Abrimos la interfaz. Arriba a la derecha vemos que los dos servicios están en verde. Creamos una solicitud nueva, con un identificador propio. La app confirma que se creó y la marca como nuestra.”
“Ahora la enviamos. La app nos pide confirmar, confirmamos, y en la pestaña Enviadas vemos el evento registrado. En unos segundos, el relevador lo entrega, notificaciones lo recibe y aparece el aviso. Fíjense en la línea fina bajo la barra superior: se ilumina cuando un evento termina su viaje.”
“Y la prueba final: reentregamos a propósito el mismo evento. La app nos confirma que notificaciones lo reconoció y no creó otro aviso. Avisos duplicados: cero. Eso es la idempotencia, funcionando.”
QUÉ HACER (no se dice)
• Usar un identificador que no exista, por ejemplo DEMO-01. Si ya existe, la app muestra el mensaje 409: explicarlo y usar otro.
• Si el evento tarda, esperar: la pestaña Enviadas se actualiza sola cada 5 segundos.
• Mostrar: Solicitudes: crear DEMO-01 y enviarla. Enviadas: esperar el aviso y pulsar Reentregar. Debe verse: 201 al crear; evento entregado y consumido; 1 aviso; “El aviso no se duplicó”.
PARA PASAR
“Para cerrar, repasemos lo que aprendimos.”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“Esta tabla resume el curso entero. Cada tema que vimos tiene un lugar concreto en ARKA-Lite, desde el primer endpoint con Spring Boot hasta el despliegue en Kubernetes y la centralización de logs.”
“Y no lo decimos solo en una lámina: lo acaban de ver funcionando, con pruebas automáticas que lo vigilan y un pipeline que lo valida en cada cambio.”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“ARKA-Lite es un laboratorio, y lo decimos con claridad. El texto de los avisos se pierde si notificaciones se reinicia. No tiene inicio de sesión y las contraseñas son de prueba. No usa un sistema de mensajería dedicado, no guarda métricas en el tiempo y el pipeline publica las imágenes, pero no las despliega solo.”
“Los siguientes pasos serían guardar el aviso en la base junto con su número de evento, agregar autenticación y sacar las contraseñas del repositorio.”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“Empezamos con un endpoint y terminamos con un sistema de dos microservicios, empaquetado, desplegado, observado y con una interfaz que cualquiera puede usar para comprobar cómo funciona.”
“Muchas gracias por acompañarnos, de parte de todo el equipo arka-litos.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image" Target="../media/image-135-2.png"/><Relationship Id="rId3" Type="http://schemas.openxmlformats.org/officeDocument/2006/relationships/image" Target="../media/image-135-3.png"/><Relationship Id="rId4" Type="http://schemas.openxmlformats.org/officeDocument/2006/relationships/image" Target="../media/image-135-4.png"/><Relationship Id="rId5" Type="http://schemas.openxmlformats.org/officeDocument/2006/relationships/slideLayout" Target="../slideLayouts/slideLayout1.xml"/><Relationship Id="rId6"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737360"/>
            <a:ext cx="6583680" cy="6583680"/>
          </a:xfrm>
          <a:prstGeom prst="ellipse">
            <a:avLst/>
          </a:prstGeom>
          <a:solidFill>
            <a:srgbClr val="0B2350"/>
          </a:solidFill>
          <a:ln w="12700">
            <a:solidFill>
              <a:srgbClr val="0B2350"/>
            </a:solidFill>
            <a:prstDash val="solid"/>
          </a:ln>
        </p:spPr>
      </p:sp>
      <p:sp>
        <p:nvSpPr>
          <p:cNvPr id="3" name="Shape 1"/>
          <p:cNvSpPr/>
          <p:nvPr/>
        </p:nvSpPr>
        <p:spPr>
          <a:xfrm>
            <a:off x="9966960" y="4206240"/>
            <a:ext cx="3108960" cy="3108960"/>
          </a:xfrm>
          <a:prstGeom prst="ellipse">
            <a:avLst/>
          </a:prstGeom>
          <a:solidFill>
            <a:srgbClr val="113B66"/>
          </a:solidFill>
          <a:ln w="12700">
            <a:solidFill>
              <a:srgbClr val="0B2350"/>
            </a:solidFill>
            <a:prstDash val="solid"/>
          </a:ln>
        </p:spPr>
      </p:sp>
      <p:sp>
        <p:nvSpPr>
          <p:cNvPr id="4" name="Shape 2"/>
          <p:cNvSpPr/>
          <p:nvPr/>
        </p:nvSpPr>
        <p:spPr>
          <a:xfrm>
            <a:off x="0" y="0"/>
            <a:ext cx="109728" cy="6858000"/>
          </a:xfrm>
          <a:prstGeom prst="rect">
            <a:avLst/>
          </a:prstGeom>
          <a:solidFill>
            <a:srgbClr val="2BA6CB"/>
          </a:solidFill>
          <a:ln w="12700">
            <a:solidFill>
              <a:srgbClr val="2BA6CB"/>
            </a:solidFill>
            <a:prstDash val="soli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9" name="Text 7"/>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10" name="Text 8"/>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Cómo construimos ARKA-Lite: una interfaz web y dos microservicios en Java.</a:t>
            </a:r>
            <a:endParaRPr lang="en-US" sz="1800" dirty="0"/>
          </a:p>
        </p:txBody>
      </p:sp>
      <p:sp>
        <p:nvSpPr>
          <p:cNvPr id="11" name="Text 9"/>
          <p:cNvSpPr/>
          <p:nvPr/>
        </p:nvSpPr>
        <p:spPr>
          <a:xfrm>
            <a:off x="758952"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P1</a:t>
            </a:r>
            <a:endParaRPr lang="en-US" sz="850" dirty="0"/>
          </a:p>
        </p:txBody>
      </p:sp>
      <p:sp>
        <p:nvSpPr>
          <p:cNvPr id="12" name="Text 10"/>
          <p:cNvSpPr/>
          <p:nvPr/>
        </p:nvSpPr>
        <p:spPr>
          <a:xfrm>
            <a:off x="1161288"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P2</a:t>
            </a:r>
            <a:endParaRPr lang="en-US" sz="850" dirty="0"/>
          </a:p>
        </p:txBody>
      </p:sp>
      <p:sp>
        <p:nvSpPr>
          <p:cNvPr id="13" name="Text 11"/>
          <p:cNvSpPr/>
          <p:nvPr/>
        </p:nvSpPr>
        <p:spPr>
          <a:xfrm>
            <a:off x="1563624"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P3</a:t>
            </a:r>
            <a:endParaRPr lang="en-US" sz="850" dirty="0"/>
          </a:p>
        </p:txBody>
      </p:sp>
      <p:sp>
        <p:nvSpPr>
          <p:cNvPr id="14" name="Text 12"/>
          <p:cNvSpPr/>
          <p:nvPr/>
        </p:nvSpPr>
        <p:spPr>
          <a:xfrm>
            <a:off x="1965960" y="5285232"/>
            <a:ext cx="347472" cy="347472"/>
          </a:xfrm>
          <a:prstGeom prst="ellipse">
            <a:avLst/>
          </a:prstGeom>
          <a:solidFill>
            <a:srgbClr val="7A63E0"/>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P4</a:t>
            </a:r>
            <a:endParaRPr lang="en-US" sz="850" dirty="0"/>
          </a:p>
        </p:txBody>
      </p:sp>
      <p:sp>
        <p:nvSpPr>
          <p:cNvPr id="15" name="Text 13"/>
          <p:cNvSpPr/>
          <p:nvPr/>
        </p:nvSpPr>
        <p:spPr>
          <a:xfrm>
            <a:off x="2368296" y="5285232"/>
            <a:ext cx="347472" cy="347472"/>
          </a:xfrm>
          <a:prstGeom prst="ellipse">
            <a:avLst/>
          </a:prstGeom>
          <a:solidFill>
            <a:srgbClr val="1F9A6E"/>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P5</a:t>
            </a:r>
            <a:endParaRPr lang="en-US" sz="850" dirty="0"/>
          </a:p>
        </p:txBody>
      </p:sp>
      <p:sp>
        <p:nvSpPr>
          <p:cNvPr id="16" name="Text 14"/>
          <p:cNvSpPr/>
          <p:nvPr/>
        </p:nvSpPr>
        <p:spPr>
          <a:xfrm>
            <a:off x="2770632" y="5285232"/>
            <a:ext cx="347472" cy="347472"/>
          </a:xfrm>
          <a:prstGeom prst="ellipse">
            <a:avLst/>
          </a:prstGeom>
          <a:solidFill>
            <a:srgbClr val="1F9A6E"/>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P6</a:t>
            </a:r>
            <a:endParaRPr lang="en-US" sz="850" dirty="0"/>
          </a:p>
        </p:txBody>
      </p:sp>
      <p:sp>
        <p:nvSpPr>
          <p:cNvPr id="17" name="Text 15"/>
          <p:cNvSpPr/>
          <p:nvPr/>
        </p:nvSpPr>
        <p:spPr>
          <a:xfrm>
            <a:off x="3172968" y="5285232"/>
            <a:ext cx="347472" cy="347472"/>
          </a:xfrm>
          <a:prstGeom prst="ellipse">
            <a:avLst/>
          </a:prstGeom>
          <a:solidFill>
            <a:srgbClr val="3B74C4"/>
          </a:solidFill>
          <a:ln w="19050">
            <a:solidFill>
              <a:srgbClr val="0B1F3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P7</a:t>
            </a:r>
            <a:endParaRPr lang="en-US" sz="850" dirty="0"/>
          </a:p>
        </p:txBody>
      </p:sp>
      <p:sp>
        <p:nvSpPr>
          <p:cNvPr id="18" name="Text 16"/>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técnico</a:t>
            </a:r>
            <a:endParaRPr lang="en-US" sz="1150" dirty="0"/>
          </a:p>
        </p:txBody>
      </p:sp>
      <p:sp>
        <p:nvSpPr>
          <p:cNvPr id="19" name="Shape 17"/>
          <p:cNvSpPr/>
          <p:nvPr/>
        </p:nvSpPr>
        <p:spPr>
          <a:xfrm>
            <a:off x="9710928" y="2112264"/>
            <a:ext cx="0" cy="530352"/>
          </a:xfrm>
          <a:prstGeom prst="line">
            <a:avLst/>
          </a:prstGeom>
          <a:noFill/>
          <a:ln w="22225">
            <a:solidFill>
              <a:srgbClr val="5D7598"/>
            </a:solidFill>
            <a:prstDash val="solid"/>
          </a:ln>
        </p:spPr>
      </p:sp>
      <p:sp>
        <p:nvSpPr>
          <p:cNvPr id="20" name="Shape 18"/>
          <p:cNvSpPr/>
          <p:nvPr/>
        </p:nvSpPr>
        <p:spPr>
          <a:xfrm>
            <a:off x="8851392" y="2642616"/>
            <a:ext cx="1737360" cy="0"/>
          </a:xfrm>
          <a:prstGeom prst="line">
            <a:avLst/>
          </a:prstGeom>
          <a:noFill/>
          <a:ln w="22225">
            <a:solidFill>
              <a:srgbClr val="5D7598"/>
            </a:solidFill>
            <a:prstDash val="solid"/>
          </a:ln>
        </p:spPr>
      </p:sp>
      <p:sp>
        <p:nvSpPr>
          <p:cNvPr id="21" name="Shape 19"/>
          <p:cNvSpPr/>
          <p:nvPr/>
        </p:nvSpPr>
        <p:spPr>
          <a:xfrm>
            <a:off x="8851392" y="2642616"/>
            <a:ext cx="0" cy="347472"/>
          </a:xfrm>
          <a:prstGeom prst="line">
            <a:avLst/>
          </a:prstGeom>
          <a:noFill/>
          <a:ln w="22225">
            <a:solidFill>
              <a:srgbClr val="5D7598"/>
            </a:solidFill>
            <a:prstDash val="solid"/>
          </a:ln>
        </p:spPr>
      </p:sp>
      <p:sp>
        <p:nvSpPr>
          <p:cNvPr id="22" name="Shape 20"/>
          <p:cNvSpPr/>
          <p:nvPr/>
        </p:nvSpPr>
        <p:spPr>
          <a:xfrm>
            <a:off x="10588752" y="2642616"/>
            <a:ext cx="0" cy="347472"/>
          </a:xfrm>
          <a:prstGeom prst="line">
            <a:avLst/>
          </a:prstGeom>
          <a:noFill/>
          <a:ln w="22225">
            <a:solidFill>
              <a:srgbClr val="5D7598"/>
            </a:solidFill>
            <a:prstDash val="solid"/>
          </a:ln>
        </p:spPr>
      </p:sp>
      <p:sp>
        <p:nvSpPr>
          <p:cNvPr id="23" name="Shape 21"/>
          <p:cNvSpPr/>
          <p:nvPr/>
        </p:nvSpPr>
        <p:spPr>
          <a:xfrm>
            <a:off x="8851392" y="3675888"/>
            <a:ext cx="0" cy="566928"/>
          </a:xfrm>
          <a:prstGeom prst="line">
            <a:avLst/>
          </a:prstGeom>
          <a:noFill/>
          <a:ln w="22225">
            <a:solidFill>
              <a:srgbClr val="5D7598"/>
            </a:solidFill>
            <a:prstDash val="solid"/>
          </a:ln>
        </p:spPr>
      </p:sp>
      <p:sp>
        <p:nvSpPr>
          <p:cNvPr id="24" name="Shape 22"/>
          <p:cNvSpPr/>
          <p:nvPr/>
        </p:nvSpPr>
        <p:spPr>
          <a:xfrm>
            <a:off x="10588752" y="3675888"/>
            <a:ext cx="0" cy="566928"/>
          </a:xfrm>
          <a:prstGeom prst="line">
            <a:avLst/>
          </a:prstGeom>
          <a:noFill/>
          <a:ln w="22225">
            <a:solidFill>
              <a:srgbClr val="5D7598"/>
            </a:solidFill>
            <a:prstDash val="solid"/>
          </a:ln>
        </p:spPr>
      </p:sp>
      <p:sp>
        <p:nvSpPr>
          <p:cNvPr id="25" name="Shape 23"/>
          <p:cNvSpPr/>
          <p:nvPr/>
        </p:nvSpPr>
        <p:spPr>
          <a:xfrm>
            <a:off x="8951976" y="1426464"/>
            <a:ext cx="1527048" cy="685800"/>
          </a:xfrm>
          <a:prstGeom prst="roundRect">
            <a:avLst>
              <a:gd name="adj" fmla="val 18667"/>
            </a:avLst>
          </a:prstGeom>
          <a:solidFill>
            <a:srgbClr val="2BA6CB"/>
          </a:solidFill>
          <a:ln w="12700">
            <a:solidFill>
              <a:srgbClr val="2BA6CB"/>
            </a:solidFill>
            <a:prstDash val="solid"/>
          </a:ln>
          <a:effectLst>
            <a:outerShdw sx="100000" sy="100000" kx="0" ky="0" algn="bl" rotWithShape="0" blurRad="127000" dist="38100" dir="5400000">
              <a:srgbClr val="000000">
                <a:alpha val="30000"/>
              </a:srgbClr>
            </a:outerShdw>
          </a:effectLst>
        </p:spPr>
      </p:sp>
      <p:sp>
        <p:nvSpPr>
          <p:cNvPr id="26" name="Icono monitor"/>
          <p:cNvSpPr/>
          <p:nvPr/>
        </p:nvSpPr>
        <p:spPr>
          <a:xfrm>
            <a:off x="9079992" y="1645920"/>
            <a:ext cx="246888" cy="246888"/>
          </a:xfrm>
          <a:custGeom>
            <a:avLst/>
            <a:gdLst/>
            <a:ahLst/>
            <a:cxnLst/>
            <a:rect l="l" t="t" r="r" b="b"/>
            <a:pathLst>
              <a:path w="246888" h="246888">
                <a:moveTo>
                  <a:pt x="41148" y="30861"/>
                </a:moveTo>
                <a:lnTo>
                  <a:pt x="205740" y="30861"/>
                </a:lnTo>
                <a:cubicBezTo>
                  <a:pt x="217103" y="30861"/>
                  <a:pt x="226314" y="40072"/>
                  <a:pt x="226314" y="51435"/>
                </a:cubicBezTo>
                <a:lnTo>
                  <a:pt x="226314" y="154305"/>
                </a:lnTo>
                <a:cubicBezTo>
                  <a:pt x="226314" y="165668"/>
                  <a:pt x="217103" y="174879"/>
                  <a:pt x="205740" y="174879"/>
                </a:cubicBezTo>
                <a:lnTo>
                  <a:pt x="41148" y="174879"/>
                </a:lnTo>
                <a:cubicBezTo>
                  <a:pt x="29785" y="174879"/>
                  <a:pt x="20574" y="165668"/>
                  <a:pt x="20574" y="154305"/>
                </a:cubicBezTo>
                <a:lnTo>
                  <a:pt x="20574" y="51435"/>
                </a:lnTo>
                <a:cubicBezTo>
                  <a:pt x="20574" y="40072"/>
                  <a:pt x="29785" y="30861"/>
                  <a:pt x="41148" y="30861"/>
                </a:cubicBezTo>
                <a:close/>
                <a:moveTo>
                  <a:pt x="82296" y="216027"/>
                </a:moveTo>
                <a:lnTo>
                  <a:pt x="164592" y="216027"/>
                </a:lnTo>
                <a:moveTo>
                  <a:pt x="123444" y="174879"/>
                </a:moveTo>
                <a:lnTo>
                  <a:pt x="123444" y="216027"/>
                </a:lnTo>
              </a:path>
            </a:pathLst>
          </a:custGeom>
          <a:noFill/>
          <a:ln w="20574" cap="rnd">
            <a:solidFill>
              <a:srgbClr val="0B1F3A"/>
            </a:solidFill>
            <a:prstDash val="solid"/>
            <a:round/>
          </a:ln>
        </p:spPr>
      </p:sp>
      <p:sp>
        <p:nvSpPr>
          <p:cNvPr id="27" name="Text 25"/>
          <p:cNvSpPr/>
          <p:nvPr/>
        </p:nvSpPr>
        <p:spPr>
          <a:xfrm>
            <a:off x="9372600" y="1426464"/>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UI</a:t>
            </a:r>
            <a:endParaRPr lang="en-US" sz="1200" dirty="0"/>
          </a:p>
        </p:txBody>
      </p:sp>
      <p:sp>
        <p:nvSpPr>
          <p:cNvPr id="28" name="Shape 26"/>
          <p:cNvSpPr/>
          <p:nvPr/>
        </p:nvSpPr>
        <p:spPr>
          <a:xfrm>
            <a:off x="809244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9" name="Icono clipboard-list"/>
          <p:cNvSpPr/>
          <p:nvPr/>
        </p:nvSpPr>
        <p:spPr>
          <a:xfrm>
            <a:off x="8220456" y="3209544"/>
            <a:ext cx="246888" cy="246888"/>
          </a:xfrm>
          <a:custGeom>
            <a:avLst/>
            <a:gdLst/>
            <a:ahLst/>
            <a:cxnLst/>
            <a:rect l="l" t="t" r="r" b="b"/>
            <a:pathLst>
              <a:path w="246888" h="246888">
                <a:moveTo>
                  <a:pt x="92583" y="20574"/>
                </a:moveTo>
                <a:lnTo>
                  <a:pt x="154305" y="20574"/>
                </a:lnTo>
                <a:cubicBezTo>
                  <a:pt x="159986" y="20574"/>
                  <a:pt x="164592" y="25180"/>
                  <a:pt x="164592" y="30861"/>
                </a:cubicBezTo>
                <a:lnTo>
                  <a:pt x="164592" y="51435"/>
                </a:lnTo>
                <a:cubicBezTo>
                  <a:pt x="164592" y="57116"/>
                  <a:pt x="159986" y="61722"/>
                  <a:pt x="154305" y="61722"/>
                </a:cubicBezTo>
                <a:lnTo>
                  <a:pt x="92583" y="61722"/>
                </a:lnTo>
                <a:cubicBezTo>
                  <a:pt x="86902" y="61722"/>
                  <a:pt x="82296" y="57116"/>
                  <a:pt x="82296" y="51435"/>
                </a:cubicBezTo>
                <a:lnTo>
                  <a:pt x="82296" y="30861"/>
                </a:lnTo>
                <a:cubicBezTo>
                  <a:pt x="82296" y="25180"/>
                  <a:pt x="86902" y="20574"/>
                  <a:pt x="92583" y="20574"/>
                </a:cubicBezTo>
                <a:close/>
                <a:moveTo>
                  <a:pt x="164592" y="41148"/>
                </a:moveTo>
                <a:lnTo>
                  <a:pt x="185166" y="41148"/>
                </a:lnTo>
                <a:cubicBezTo>
                  <a:pt x="196529" y="41148"/>
                  <a:pt x="205740" y="50359"/>
                  <a:pt x="205740" y="61722"/>
                </a:cubicBezTo>
                <a:lnTo>
                  <a:pt x="205740" y="205740"/>
                </a:lnTo>
                <a:cubicBezTo>
                  <a:pt x="205740" y="217103"/>
                  <a:pt x="196529" y="226314"/>
                  <a:pt x="185166" y="226314"/>
                </a:cubicBezTo>
                <a:lnTo>
                  <a:pt x="61722" y="226314"/>
                </a:lnTo>
                <a:cubicBezTo>
                  <a:pt x="50359" y="226314"/>
                  <a:pt x="41148" y="217103"/>
                  <a:pt x="41148" y="205740"/>
                </a:cubicBezTo>
                <a:lnTo>
                  <a:pt x="41148" y="61722"/>
                </a:lnTo>
                <a:cubicBezTo>
                  <a:pt x="41148" y="50359"/>
                  <a:pt x="50359" y="41148"/>
                  <a:pt x="61722" y="41148"/>
                </a:cubicBezTo>
                <a:lnTo>
                  <a:pt x="82296" y="41148"/>
                </a:lnTo>
                <a:moveTo>
                  <a:pt x="123444" y="113157"/>
                </a:moveTo>
                <a:lnTo>
                  <a:pt x="164592" y="113157"/>
                </a:lnTo>
                <a:moveTo>
                  <a:pt x="123444" y="164592"/>
                </a:moveTo>
                <a:lnTo>
                  <a:pt x="164592" y="164592"/>
                </a:lnTo>
                <a:moveTo>
                  <a:pt x="82296" y="113157"/>
                </a:moveTo>
                <a:lnTo>
                  <a:pt x="82399" y="113157"/>
                </a:lnTo>
                <a:moveTo>
                  <a:pt x="82296" y="164592"/>
                </a:moveTo>
                <a:lnTo>
                  <a:pt x="82399" y="164592"/>
                </a:lnTo>
              </a:path>
            </a:pathLst>
          </a:custGeom>
          <a:noFill/>
          <a:ln w="20574" cap="rnd">
            <a:solidFill>
              <a:srgbClr val="0B1F3A"/>
            </a:solidFill>
            <a:prstDash val="solid"/>
            <a:round/>
          </a:ln>
        </p:spPr>
      </p:sp>
      <p:sp>
        <p:nvSpPr>
          <p:cNvPr id="30" name="Text 28"/>
          <p:cNvSpPr/>
          <p:nvPr/>
        </p:nvSpPr>
        <p:spPr>
          <a:xfrm>
            <a:off x="851306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Solicitudes</a:t>
            </a:r>
            <a:endParaRPr lang="en-US" sz="1200" dirty="0"/>
          </a:p>
        </p:txBody>
      </p:sp>
      <p:sp>
        <p:nvSpPr>
          <p:cNvPr id="31" name="Shape 29"/>
          <p:cNvSpPr/>
          <p:nvPr/>
        </p:nvSpPr>
        <p:spPr>
          <a:xfrm>
            <a:off x="982980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32" name="Icono bell"/>
          <p:cNvSpPr/>
          <p:nvPr/>
        </p:nvSpPr>
        <p:spPr>
          <a:xfrm>
            <a:off x="9957816" y="3209544"/>
            <a:ext cx="246888" cy="246888"/>
          </a:xfrm>
          <a:custGeom>
            <a:avLst/>
            <a:gdLst/>
            <a:ahLst/>
            <a:cxnLst/>
            <a:rect l="l" t="t" r="r" b="b"/>
            <a:pathLst>
              <a:path w="246888" h="246888">
                <a:moveTo>
                  <a:pt x="105627" y="216027"/>
                </a:moveTo>
                <a:cubicBezTo>
                  <a:pt x="109302" y="222392"/>
                  <a:pt x="116094" y="226313"/>
                  <a:pt x="123444" y="226313"/>
                </a:cubicBezTo>
                <a:cubicBezTo>
                  <a:pt x="130794" y="226313"/>
                  <a:pt x="137586" y="222392"/>
                  <a:pt x="141261" y="216027"/>
                </a:cubicBezTo>
                <a:moveTo>
                  <a:pt x="33556" y="157659"/>
                </a:moveTo>
                <a:cubicBezTo>
                  <a:pt x="30810" y="160668"/>
                  <a:pt x="30099" y="165014"/>
                  <a:pt x="31743" y="168742"/>
                </a:cubicBezTo>
                <a:cubicBezTo>
                  <a:pt x="33386" y="172469"/>
                  <a:pt x="37074" y="174876"/>
                  <a:pt x="41148" y="174879"/>
                </a:cubicBezTo>
                <a:lnTo>
                  <a:pt x="205740" y="174879"/>
                </a:lnTo>
                <a:cubicBezTo>
                  <a:pt x="209813" y="174880"/>
                  <a:pt x="213504" y="172478"/>
                  <a:pt x="215151" y="168753"/>
                </a:cubicBezTo>
                <a:cubicBezTo>
                  <a:pt x="216799" y="165028"/>
                  <a:pt x="216094" y="160682"/>
                  <a:pt x="213352" y="157669"/>
                </a:cubicBezTo>
                <a:cubicBezTo>
                  <a:pt x="199671" y="143565"/>
                  <a:pt x="185166" y="128577"/>
                  <a:pt x="185166" y="82296"/>
                </a:cubicBezTo>
                <a:cubicBezTo>
                  <a:pt x="185166" y="48208"/>
                  <a:pt x="157532" y="20574"/>
                  <a:pt x="123444" y="20574"/>
                </a:cubicBezTo>
                <a:cubicBezTo>
                  <a:pt x="89356" y="20574"/>
                  <a:pt x="61722" y="48208"/>
                  <a:pt x="61722" y="82296"/>
                </a:cubicBezTo>
                <a:cubicBezTo>
                  <a:pt x="61722" y="128577"/>
                  <a:pt x="47207" y="143565"/>
                  <a:pt x="33556" y="157659"/>
                </a:cubicBezTo>
              </a:path>
            </a:pathLst>
          </a:custGeom>
          <a:noFill/>
          <a:ln w="20574" cap="rnd">
            <a:solidFill>
              <a:srgbClr val="0B1F3A"/>
            </a:solidFill>
            <a:prstDash val="solid"/>
            <a:round/>
          </a:ln>
        </p:spPr>
      </p:sp>
      <p:sp>
        <p:nvSpPr>
          <p:cNvPr id="33" name="Text 31"/>
          <p:cNvSpPr/>
          <p:nvPr/>
        </p:nvSpPr>
        <p:spPr>
          <a:xfrm>
            <a:off x="1025042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Notificaciones</a:t>
            </a:r>
            <a:endParaRPr lang="en-US" sz="1200" dirty="0"/>
          </a:p>
        </p:txBody>
      </p:sp>
      <p:sp>
        <p:nvSpPr>
          <p:cNvPr id="34" name="Shape 32"/>
          <p:cNvSpPr/>
          <p:nvPr/>
        </p:nvSpPr>
        <p:spPr>
          <a:xfrm>
            <a:off x="8284464" y="4242816"/>
            <a:ext cx="1143000" cy="566928"/>
          </a:xfrm>
          <a:prstGeom prst="roundRect">
            <a:avLst>
              <a:gd name="adj" fmla="val 48387"/>
            </a:avLst>
          </a:prstGeom>
          <a:solidFill>
            <a:srgbClr val="0B1F3A"/>
          </a:solidFill>
          <a:ln w="19050">
            <a:solidFill>
              <a:srgbClr val="9FB4D2"/>
            </a:solidFill>
            <a:prstDash val="solid"/>
          </a:ln>
        </p:spPr>
      </p:sp>
      <p:sp>
        <p:nvSpPr>
          <p:cNvPr id="35" name="Icono database"/>
          <p:cNvSpPr/>
          <p:nvPr/>
        </p:nvSpPr>
        <p:spPr>
          <a:xfrm>
            <a:off x="841248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6" name="Text 34"/>
          <p:cNvSpPr/>
          <p:nvPr/>
        </p:nvSpPr>
        <p:spPr>
          <a:xfrm>
            <a:off x="868680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
        <p:nvSpPr>
          <p:cNvPr id="37" name="Shape 35"/>
          <p:cNvSpPr/>
          <p:nvPr/>
        </p:nvSpPr>
        <p:spPr>
          <a:xfrm>
            <a:off x="10021824" y="4242816"/>
            <a:ext cx="1143000" cy="566928"/>
          </a:xfrm>
          <a:prstGeom prst="roundRect">
            <a:avLst>
              <a:gd name="adj" fmla="val 48387"/>
            </a:avLst>
          </a:prstGeom>
          <a:solidFill>
            <a:srgbClr val="0B1F3A"/>
          </a:solidFill>
          <a:ln w="19050">
            <a:solidFill>
              <a:srgbClr val="9FB4D2"/>
            </a:solidFill>
            <a:prstDash val="solid"/>
          </a:ln>
        </p:spPr>
      </p:sp>
      <p:sp>
        <p:nvSpPr>
          <p:cNvPr id="38" name="Icono database"/>
          <p:cNvSpPr/>
          <p:nvPr/>
        </p:nvSpPr>
        <p:spPr>
          <a:xfrm>
            <a:off x="1014984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9" name="Text 37"/>
          <p:cNvSpPr/>
          <p:nvPr/>
        </p:nvSpPr>
        <p:spPr>
          <a:xfrm>
            <a:off x="1042416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equipo arka-litos</a:t>
            </a:r>
            <a:endParaRPr lang="en-US" sz="2800" dirty="0"/>
          </a:p>
        </p:txBody>
      </p:sp>
      <p:sp>
        <p:nvSpPr>
          <p:cNvPr id="5" name="Shape 3"/>
          <p:cNvSpPr/>
          <p:nvPr/>
        </p:nvSpPr>
        <p:spPr>
          <a:xfrm>
            <a:off x="612648" y="1371600"/>
            <a:ext cx="5433542" cy="4983480"/>
          </a:xfrm>
          <a:prstGeom prst="roundRect">
            <a:avLst>
              <a:gd name="adj" fmla="val 256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740664" y="1371600"/>
            <a:ext cx="5177510" cy="64008"/>
          </a:xfrm>
          <a:prstGeom prst="rect">
            <a:avLst/>
          </a:prstGeom>
          <a:solidFill>
            <a:srgbClr val="1F4E8C"/>
          </a:solidFill>
          <a:ln w="12700">
            <a:solidFill>
              <a:srgbClr val="1F4E8C"/>
            </a:solidFill>
            <a:prstDash val="solid"/>
          </a:ln>
        </p:spPr>
      </p:sp>
      <p:sp>
        <p:nvSpPr>
          <p:cNvPr id="7" name="Shape 5"/>
          <p:cNvSpPr/>
          <p:nvPr/>
        </p:nvSpPr>
        <p:spPr>
          <a:xfrm>
            <a:off x="841248" y="1664208"/>
            <a:ext cx="566928" cy="566928"/>
          </a:xfrm>
          <a:prstGeom prst="ellipse">
            <a:avLst/>
          </a:prstGeom>
          <a:solidFill>
            <a:srgbClr val="EAF0FA"/>
          </a:solidFill>
          <a:ln w="12700">
            <a:solidFill>
              <a:srgbClr val="EAF0FA"/>
            </a:solidFill>
            <a:prstDash val="solid"/>
          </a:ln>
        </p:spPr>
      </p:sp>
      <p:sp>
        <p:nvSpPr>
          <p:cNvPr id="8" name="Icono code"/>
          <p:cNvSpPr/>
          <p:nvPr/>
        </p:nvSpPr>
        <p:spPr>
          <a:xfrm>
            <a:off x="977311" y="1800271"/>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1F4E8C"/>
            </a:solidFill>
            <a:prstDash val="solid"/>
            <a:round/>
          </a:ln>
        </p:spPr>
      </p:sp>
      <p:sp>
        <p:nvSpPr>
          <p:cNvPr id="9" name="Text 7"/>
          <p:cNvSpPr/>
          <p:nvPr/>
        </p:nvSpPr>
        <p:spPr>
          <a:xfrm>
            <a:off x="1527048" y="1645920"/>
            <a:ext cx="4427702" cy="347472"/>
          </a:xfrm>
          <a:prstGeom prst="rect">
            <a:avLst/>
          </a:prstGeom>
          <a:noFill/>
          <a:ln/>
        </p:spPr>
        <p:txBody>
          <a:bodyPr wrap="square" lIns="0" tIns="0" rIns="0" bIns="0" rtlCol="0" anchor="t">
            <a:normAutofit/>
          </a:bodyPr>
          <a:lstStyle/>
          <a:p>
            <a:pPr algn="l" indent="0" marL="0">
              <a:buNone/>
            </a:pPr>
            <a:r>
              <a:rPr lang="en-US" sz="1800" b="1" dirty="0">
                <a:solidFill>
                  <a:srgbClr val="1F4E8C"/>
                </a:solidFill>
                <a:latin typeface="Segoe UI Semibold" pitchFamily="34" charset="0"/>
                <a:ea typeface="Segoe UI Semibold" pitchFamily="34" charset="-122"/>
                <a:cs typeface="Segoe UI Semibold" pitchFamily="34" charset="-120"/>
              </a:rPr>
              <a:t>Desarrollo</a:t>
            </a:r>
            <a:endParaRPr lang="en-US" sz="1800" dirty="0"/>
          </a:p>
        </p:txBody>
      </p:sp>
      <p:sp>
        <p:nvSpPr>
          <p:cNvPr id="10" name="Text 8"/>
          <p:cNvSpPr/>
          <p:nvPr/>
        </p:nvSpPr>
        <p:spPr>
          <a:xfrm>
            <a:off x="1527048" y="1975104"/>
            <a:ext cx="4427702" cy="2560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4 personas</a:t>
            </a:r>
            <a:endParaRPr lang="en-US" sz="1200" dirty="0"/>
          </a:p>
        </p:txBody>
      </p:sp>
      <p:sp>
        <p:nvSpPr>
          <p:cNvPr id="11" name="Shape 9"/>
          <p:cNvSpPr/>
          <p:nvPr/>
        </p:nvSpPr>
        <p:spPr>
          <a:xfrm>
            <a:off x="914651"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2" name="Text 10"/>
          <p:cNvSpPr/>
          <p:nvPr/>
        </p:nvSpPr>
        <p:spPr>
          <a:xfrm>
            <a:off x="914651"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P1</a:t>
            </a:r>
            <a:endParaRPr lang="en-US" sz="2200" dirty="0"/>
          </a:p>
        </p:txBody>
      </p:sp>
      <p:sp>
        <p:nvSpPr>
          <p:cNvPr id="13" name="Text 11"/>
          <p:cNvSpPr/>
          <p:nvPr/>
        </p:nvSpPr>
        <p:spPr>
          <a:xfrm>
            <a:off x="749808"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1</a:t>
            </a:r>
            <a:endParaRPr lang="en-US" sz="1200" dirty="0"/>
          </a:p>
        </p:txBody>
      </p:sp>
      <p:sp>
        <p:nvSpPr>
          <p:cNvPr id="14" name="Text 12"/>
          <p:cNvSpPr/>
          <p:nvPr/>
        </p:nvSpPr>
        <p:spPr>
          <a:xfrm>
            <a:off x="822960"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Apertura · Sistema · Cierre</a:t>
            </a:r>
            <a:endParaRPr lang="en-US" sz="1050" dirty="0"/>
          </a:p>
        </p:txBody>
      </p:sp>
      <p:sp>
        <p:nvSpPr>
          <p:cNvPr id="15" name="Text 13"/>
          <p:cNvSpPr/>
          <p:nvPr/>
        </p:nvSpPr>
        <p:spPr>
          <a:xfrm>
            <a:off x="804672"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Abre, presenta el sistema por fuera y cierra.</a:t>
            </a:r>
            <a:endParaRPr lang="en-US" sz="1050" dirty="0"/>
          </a:p>
        </p:txBody>
      </p:sp>
      <p:sp>
        <p:nvSpPr>
          <p:cNvPr id="16" name="Shape 14"/>
          <p:cNvSpPr/>
          <p:nvPr/>
        </p:nvSpPr>
        <p:spPr>
          <a:xfrm>
            <a:off x="2204456"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7" name="Text 15"/>
          <p:cNvSpPr/>
          <p:nvPr/>
        </p:nvSpPr>
        <p:spPr>
          <a:xfrm>
            <a:off x="2204456"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P2</a:t>
            </a:r>
            <a:endParaRPr lang="en-US" sz="2200" dirty="0"/>
          </a:p>
        </p:txBody>
      </p:sp>
      <p:sp>
        <p:nvSpPr>
          <p:cNvPr id="18" name="Text 16"/>
          <p:cNvSpPr/>
          <p:nvPr/>
        </p:nvSpPr>
        <p:spPr>
          <a:xfrm>
            <a:off x="2039613"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2</a:t>
            </a:r>
            <a:endParaRPr lang="en-US" sz="1200" dirty="0"/>
          </a:p>
        </p:txBody>
      </p:sp>
      <p:sp>
        <p:nvSpPr>
          <p:cNvPr id="19" name="Text 17"/>
          <p:cNvSpPr/>
          <p:nvPr/>
        </p:nvSpPr>
        <p:spPr>
          <a:xfrm>
            <a:off x="2112765"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Servicio</a:t>
            </a:r>
            <a:endParaRPr lang="en-US" sz="1050" dirty="0"/>
          </a:p>
        </p:txBody>
      </p:sp>
      <p:sp>
        <p:nvSpPr>
          <p:cNvPr id="20" name="Text 18"/>
          <p:cNvSpPr/>
          <p:nvPr/>
        </p:nvSpPr>
        <p:spPr>
          <a:xfrm>
            <a:off x="2094477"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cómo se construye un servicio con Spring Boot.</a:t>
            </a:r>
            <a:endParaRPr lang="en-US" sz="1050" dirty="0"/>
          </a:p>
        </p:txBody>
      </p:sp>
      <p:sp>
        <p:nvSpPr>
          <p:cNvPr id="21" name="Shape 19"/>
          <p:cNvSpPr/>
          <p:nvPr/>
        </p:nvSpPr>
        <p:spPr>
          <a:xfrm>
            <a:off x="3494262"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2" name="Text 20"/>
          <p:cNvSpPr/>
          <p:nvPr/>
        </p:nvSpPr>
        <p:spPr>
          <a:xfrm>
            <a:off x="3494262"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P3</a:t>
            </a:r>
            <a:endParaRPr lang="en-US" sz="2200" dirty="0"/>
          </a:p>
        </p:txBody>
      </p:sp>
      <p:sp>
        <p:nvSpPr>
          <p:cNvPr id="23" name="Text 21"/>
          <p:cNvSpPr/>
          <p:nvPr/>
        </p:nvSpPr>
        <p:spPr>
          <a:xfrm>
            <a:off x="3329419"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3</a:t>
            </a:r>
            <a:endParaRPr lang="en-US" sz="1200" dirty="0"/>
          </a:p>
        </p:txBody>
      </p:sp>
      <p:sp>
        <p:nvSpPr>
          <p:cNvPr id="24" name="Text 22"/>
          <p:cNvSpPr/>
          <p:nvPr/>
        </p:nvSpPr>
        <p:spPr>
          <a:xfrm>
            <a:off x="3402571"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Diseño</a:t>
            </a:r>
            <a:endParaRPr lang="en-US" sz="1050" dirty="0"/>
          </a:p>
        </p:txBody>
      </p:sp>
      <p:sp>
        <p:nvSpPr>
          <p:cNvPr id="25" name="Text 23"/>
          <p:cNvSpPr/>
          <p:nvPr/>
        </p:nvSpPr>
        <p:spPr>
          <a:xfrm>
            <a:off x="3384283"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cómo diseñamos el código para que pueda cambiar.</a:t>
            </a:r>
            <a:endParaRPr lang="en-US" sz="1050" dirty="0"/>
          </a:p>
        </p:txBody>
      </p:sp>
      <p:sp>
        <p:nvSpPr>
          <p:cNvPr id="26" name="Shape 24"/>
          <p:cNvSpPr/>
          <p:nvPr/>
        </p:nvSpPr>
        <p:spPr>
          <a:xfrm>
            <a:off x="4784067" y="2514600"/>
            <a:ext cx="960120" cy="960120"/>
          </a:xfrm>
          <a:prstGeom prst="ellipse">
            <a:avLst/>
          </a:prstGeom>
          <a:solidFill>
            <a:srgbClr val="1F4E8C"/>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7" name="Text 25"/>
          <p:cNvSpPr/>
          <p:nvPr/>
        </p:nvSpPr>
        <p:spPr>
          <a:xfrm>
            <a:off x="4784067"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P7</a:t>
            </a:r>
            <a:endParaRPr lang="en-US" sz="2200" dirty="0"/>
          </a:p>
        </p:txBody>
      </p:sp>
      <p:sp>
        <p:nvSpPr>
          <p:cNvPr id="28" name="Text 26"/>
          <p:cNvSpPr/>
          <p:nvPr/>
        </p:nvSpPr>
        <p:spPr>
          <a:xfrm>
            <a:off x="4619224" y="3602736"/>
            <a:ext cx="1289805" cy="274320"/>
          </a:xfrm>
          <a:prstGeom prst="rect">
            <a:avLst/>
          </a:prstGeom>
          <a:noFill/>
          <a:ln/>
        </p:spPr>
        <p:txBody>
          <a:bodyPr wrap="square" lIns="0" tIns="0" rIns="0" bIns="0" rtlCol="0" anchor="t">
            <a:normAutofit/>
          </a:bodyPr>
          <a:lstStyle/>
          <a:p>
            <a:pPr algn="ctr" indent="0" marL="0">
              <a:buNone/>
            </a:pPr>
            <a:r>
              <a:rPr lang="en-US" sz="1200" b="1" dirty="0">
                <a:solidFill>
                  <a:srgbClr val="0B1A3C"/>
                </a:solidFill>
                <a:latin typeface="Segoe UI" pitchFamily="34" charset="0"/>
                <a:ea typeface="Segoe UI" pitchFamily="34" charset="-122"/>
                <a:cs typeface="Segoe UI" pitchFamily="34" charset="-120"/>
              </a:rPr>
              <a:t>Participante 7</a:t>
            </a:r>
            <a:endParaRPr lang="en-US" sz="1200" dirty="0"/>
          </a:p>
        </p:txBody>
      </p:sp>
      <p:sp>
        <p:nvSpPr>
          <p:cNvPr id="29" name="Text 27"/>
          <p:cNvSpPr/>
          <p:nvPr/>
        </p:nvSpPr>
        <p:spPr>
          <a:xfrm>
            <a:off x="4692376" y="3931920"/>
            <a:ext cx="1143501" cy="310896"/>
          </a:xfrm>
          <a:prstGeom prst="roundRect">
            <a:avLst>
              <a:gd name="adj" fmla="val 50000"/>
            </a:avLst>
          </a:prstGeom>
          <a:solidFill>
            <a:srgbClr val="EAF0FA"/>
          </a:solidFill>
          <a:ln>
            <a:solidFill>
              <a:srgbClr val="EAF0FA"/>
            </a:solidFill>
          </a:ln>
        </p:spPr>
        <p:txBody>
          <a:bodyPr wrap="square" lIns="0" tIns="50800" rIns="5080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UI</a:t>
            </a:r>
            <a:endParaRPr lang="en-US" sz="1050" dirty="0"/>
          </a:p>
        </p:txBody>
      </p:sp>
      <p:sp>
        <p:nvSpPr>
          <p:cNvPr id="30" name="Text 28"/>
          <p:cNvSpPr/>
          <p:nvPr/>
        </p:nvSpPr>
        <p:spPr>
          <a:xfrm>
            <a:off x="4674088" y="4343400"/>
            <a:ext cx="118007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la interfaz web y conduce la demostración en vivo.</a:t>
            </a:r>
            <a:endParaRPr lang="en-US" sz="1050" dirty="0"/>
          </a:p>
        </p:txBody>
      </p:sp>
      <p:sp>
        <p:nvSpPr>
          <p:cNvPr id="31" name="Shape 29"/>
          <p:cNvSpPr/>
          <p:nvPr/>
        </p:nvSpPr>
        <p:spPr>
          <a:xfrm>
            <a:off x="6265646" y="1371600"/>
            <a:ext cx="2716771" cy="4983480"/>
          </a:xfrm>
          <a:prstGeom prst="roundRect">
            <a:avLst>
              <a:gd name="adj" fmla="val 47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393662" y="1371600"/>
            <a:ext cx="2460739" cy="64008"/>
          </a:xfrm>
          <a:prstGeom prst="rect">
            <a:avLst/>
          </a:prstGeom>
          <a:solidFill>
            <a:srgbClr val="0A6648"/>
          </a:solidFill>
          <a:ln w="12700">
            <a:solidFill>
              <a:srgbClr val="0A6648"/>
            </a:solidFill>
            <a:prstDash val="solid"/>
          </a:ln>
        </p:spPr>
      </p:sp>
      <p:sp>
        <p:nvSpPr>
          <p:cNvPr id="33" name="Shape 31"/>
          <p:cNvSpPr/>
          <p:nvPr/>
        </p:nvSpPr>
        <p:spPr>
          <a:xfrm>
            <a:off x="6494246" y="1664208"/>
            <a:ext cx="566928" cy="566928"/>
          </a:xfrm>
          <a:prstGeom prst="ellipse">
            <a:avLst/>
          </a:prstGeom>
          <a:solidFill>
            <a:srgbClr val="E1F1EA"/>
          </a:solidFill>
          <a:ln w="12700">
            <a:solidFill>
              <a:srgbClr val="E1F1EA"/>
            </a:solidFill>
            <a:prstDash val="solid"/>
          </a:ln>
        </p:spPr>
      </p:sp>
      <p:sp>
        <p:nvSpPr>
          <p:cNvPr id="34" name="Icono ship-wheel"/>
          <p:cNvSpPr/>
          <p:nvPr/>
        </p:nvSpPr>
        <p:spPr>
          <a:xfrm>
            <a:off x="6630309" y="1800271"/>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35" name="Text 33"/>
          <p:cNvSpPr/>
          <p:nvPr/>
        </p:nvSpPr>
        <p:spPr>
          <a:xfrm>
            <a:off x="7180046" y="1645920"/>
            <a:ext cx="1710931" cy="347472"/>
          </a:xfrm>
          <a:prstGeom prst="rect">
            <a:avLst/>
          </a:prstGeom>
          <a:noFill/>
          <a:ln/>
        </p:spPr>
        <p:txBody>
          <a:bodyPr wrap="square" lIns="0" tIns="0" rIns="0" bIns="0" rtlCol="0" anchor="t">
            <a:normAutofit/>
          </a:bodyPr>
          <a:lstStyle/>
          <a:p>
            <a:pPr algn="l" indent="0" marL="0">
              <a:buNone/>
            </a:pPr>
            <a:r>
              <a:rPr lang="en-US" sz="1800" b="1" dirty="0">
                <a:solidFill>
                  <a:srgbClr val="0A6648"/>
                </a:solidFill>
                <a:latin typeface="Segoe UI Semibold" pitchFamily="34" charset="0"/>
                <a:ea typeface="Segoe UI Semibold" pitchFamily="34" charset="-122"/>
                <a:cs typeface="Segoe UI Semibold" pitchFamily="34" charset="-120"/>
              </a:rPr>
              <a:t>DevOps</a:t>
            </a:r>
            <a:endParaRPr lang="en-US" sz="1800" dirty="0"/>
          </a:p>
        </p:txBody>
      </p:sp>
      <p:sp>
        <p:nvSpPr>
          <p:cNvPr id="36" name="Text 34"/>
          <p:cNvSpPr/>
          <p:nvPr/>
        </p:nvSpPr>
        <p:spPr>
          <a:xfrm>
            <a:off x="7180046" y="1975104"/>
            <a:ext cx="1710931" cy="2560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 personas</a:t>
            </a:r>
            <a:endParaRPr lang="en-US" sz="1200" dirty="0"/>
          </a:p>
        </p:txBody>
      </p:sp>
      <p:sp>
        <p:nvSpPr>
          <p:cNvPr id="37" name="Shape 35"/>
          <p:cNvSpPr/>
          <p:nvPr/>
        </p:nvSpPr>
        <p:spPr>
          <a:xfrm>
            <a:off x="6539966" y="2514600"/>
            <a:ext cx="946905" cy="946905"/>
          </a:xfrm>
          <a:prstGeom prst="ellipse">
            <a:avLst/>
          </a:prstGeom>
          <a:solidFill>
            <a:srgbClr val="0A6648"/>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6539966" y="2514600"/>
            <a:ext cx="946905" cy="946905"/>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P5</a:t>
            </a:r>
            <a:endParaRPr lang="en-US" sz="2200" dirty="0"/>
          </a:p>
        </p:txBody>
      </p:sp>
      <p:sp>
        <p:nvSpPr>
          <p:cNvPr id="39" name="Text 37"/>
          <p:cNvSpPr/>
          <p:nvPr/>
        </p:nvSpPr>
        <p:spPr>
          <a:xfrm>
            <a:off x="6402806" y="3589521"/>
            <a:ext cx="1221225" cy="274320"/>
          </a:xfrm>
          <a:prstGeom prst="rect">
            <a:avLst/>
          </a:prstGeom>
          <a:noFill/>
          <a:ln/>
        </p:spPr>
        <p:txBody>
          <a:bodyPr wrap="square" lIns="0" tIns="0" rIns="0" bIns="0" rtlCol="0" anchor="t">
            <a:normAutofit/>
          </a:bodyPr>
          <a:lstStyle/>
          <a:p>
            <a:pPr algn="ctr" indent="0" marL="0">
              <a:buNone/>
            </a:pPr>
            <a:r>
              <a:rPr lang="en-US" sz="1150" b="1" dirty="0">
                <a:solidFill>
                  <a:srgbClr val="0B1A3C"/>
                </a:solidFill>
                <a:latin typeface="Segoe UI" pitchFamily="34" charset="0"/>
                <a:ea typeface="Segoe UI" pitchFamily="34" charset="-122"/>
                <a:cs typeface="Segoe UI" pitchFamily="34" charset="-120"/>
              </a:rPr>
              <a:t>Participante 5</a:t>
            </a:r>
            <a:endParaRPr lang="en-US" sz="1150" dirty="0"/>
          </a:p>
        </p:txBody>
      </p:sp>
      <p:sp>
        <p:nvSpPr>
          <p:cNvPr id="40" name="Text 38"/>
          <p:cNvSpPr/>
          <p:nvPr/>
        </p:nvSpPr>
        <p:spPr>
          <a:xfrm>
            <a:off x="6475958" y="3918705"/>
            <a:ext cx="1074921" cy="310896"/>
          </a:xfrm>
          <a:prstGeom prst="roundRect">
            <a:avLst>
              <a:gd name="adj" fmla="val 50000"/>
            </a:avLst>
          </a:prstGeom>
          <a:solidFill>
            <a:srgbClr val="E1F1EA"/>
          </a:solidFill>
          <a:ln>
            <a:solidFill>
              <a:srgbClr val="E1F1EA"/>
            </a:solidFill>
          </a:ln>
        </p:spPr>
        <p:txBody>
          <a:bodyPr wrap="square" lIns="0" tIns="50800" rIns="5080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Empaquetar</a:t>
            </a:r>
            <a:endParaRPr lang="en-US" sz="1050" dirty="0"/>
          </a:p>
        </p:txBody>
      </p:sp>
      <p:sp>
        <p:nvSpPr>
          <p:cNvPr id="41" name="Text 39"/>
          <p:cNvSpPr/>
          <p:nvPr/>
        </p:nvSpPr>
        <p:spPr>
          <a:xfrm>
            <a:off x="6457670" y="4330185"/>
            <a:ext cx="1111497" cy="1933455"/>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Docker, Docker Compose y el pipeline de integración y entrega continua.</a:t>
            </a:r>
            <a:endParaRPr lang="en-US" sz="1050" dirty="0"/>
          </a:p>
        </p:txBody>
      </p:sp>
      <p:sp>
        <p:nvSpPr>
          <p:cNvPr id="42" name="Shape 40"/>
          <p:cNvSpPr/>
          <p:nvPr/>
        </p:nvSpPr>
        <p:spPr>
          <a:xfrm>
            <a:off x="7761191" y="2514600"/>
            <a:ext cx="946905" cy="946905"/>
          </a:xfrm>
          <a:prstGeom prst="ellipse">
            <a:avLst/>
          </a:prstGeom>
          <a:solidFill>
            <a:srgbClr val="0A6648"/>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761191" y="2514600"/>
            <a:ext cx="946905" cy="946905"/>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P6</a:t>
            </a:r>
            <a:endParaRPr lang="en-US" sz="2200" dirty="0"/>
          </a:p>
        </p:txBody>
      </p:sp>
      <p:sp>
        <p:nvSpPr>
          <p:cNvPr id="44" name="Text 42"/>
          <p:cNvSpPr/>
          <p:nvPr/>
        </p:nvSpPr>
        <p:spPr>
          <a:xfrm>
            <a:off x="7624031" y="3589521"/>
            <a:ext cx="1221225" cy="274320"/>
          </a:xfrm>
          <a:prstGeom prst="rect">
            <a:avLst/>
          </a:prstGeom>
          <a:noFill/>
          <a:ln/>
        </p:spPr>
        <p:txBody>
          <a:bodyPr wrap="square" lIns="0" tIns="0" rIns="0" bIns="0" rtlCol="0" anchor="t">
            <a:normAutofit/>
          </a:bodyPr>
          <a:lstStyle/>
          <a:p>
            <a:pPr algn="ctr" indent="0" marL="0">
              <a:buNone/>
            </a:pPr>
            <a:r>
              <a:rPr lang="en-US" sz="1150" b="1" dirty="0">
                <a:solidFill>
                  <a:srgbClr val="0B1A3C"/>
                </a:solidFill>
                <a:latin typeface="Segoe UI" pitchFamily="34" charset="0"/>
                <a:ea typeface="Segoe UI" pitchFamily="34" charset="-122"/>
                <a:cs typeface="Segoe UI" pitchFamily="34" charset="-120"/>
              </a:rPr>
              <a:t>Participante 6</a:t>
            </a:r>
            <a:endParaRPr lang="en-US" sz="1150" dirty="0"/>
          </a:p>
        </p:txBody>
      </p:sp>
      <p:sp>
        <p:nvSpPr>
          <p:cNvPr id="45" name="Text 43"/>
          <p:cNvSpPr/>
          <p:nvPr/>
        </p:nvSpPr>
        <p:spPr>
          <a:xfrm>
            <a:off x="7697183" y="3918705"/>
            <a:ext cx="1074921" cy="310896"/>
          </a:xfrm>
          <a:prstGeom prst="roundRect">
            <a:avLst>
              <a:gd name="adj" fmla="val 50000"/>
            </a:avLst>
          </a:prstGeom>
          <a:solidFill>
            <a:srgbClr val="E1F1EA"/>
          </a:solidFill>
          <a:ln>
            <a:solidFill>
              <a:srgbClr val="E1F1EA"/>
            </a:solidFill>
          </a:ln>
        </p:spPr>
        <p:txBody>
          <a:bodyPr wrap="square" lIns="0" tIns="50800" rIns="5080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Operar</a:t>
            </a:r>
            <a:endParaRPr lang="en-US" sz="1050" dirty="0"/>
          </a:p>
        </p:txBody>
      </p:sp>
      <p:sp>
        <p:nvSpPr>
          <p:cNvPr id="46" name="Text 44"/>
          <p:cNvSpPr/>
          <p:nvPr/>
        </p:nvSpPr>
        <p:spPr>
          <a:xfrm>
            <a:off x="7678895" y="4330185"/>
            <a:ext cx="1111497" cy="1933455"/>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Kubernetes, la puesta a punto y la centralización de logs.</a:t>
            </a:r>
            <a:endParaRPr lang="en-US" sz="1050" dirty="0"/>
          </a:p>
        </p:txBody>
      </p:sp>
      <p:sp>
        <p:nvSpPr>
          <p:cNvPr id="47" name="Shape 45"/>
          <p:cNvSpPr/>
          <p:nvPr/>
        </p:nvSpPr>
        <p:spPr>
          <a:xfrm>
            <a:off x="9201873" y="1371600"/>
            <a:ext cx="2377175" cy="4983480"/>
          </a:xfrm>
          <a:prstGeom prst="roundRect">
            <a:avLst>
              <a:gd name="adj" fmla="val 538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9329889" y="1371600"/>
            <a:ext cx="2121143" cy="64008"/>
          </a:xfrm>
          <a:prstGeom prst="rect">
            <a:avLst/>
          </a:prstGeom>
          <a:solidFill>
            <a:srgbClr val="5B3FC4"/>
          </a:solidFill>
          <a:ln w="12700">
            <a:solidFill>
              <a:srgbClr val="5B3FC4"/>
            </a:solidFill>
            <a:prstDash val="solid"/>
          </a:ln>
        </p:spPr>
      </p:sp>
      <p:sp>
        <p:nvSpPr>
          <p:cNvPr id="49" name="Shape 47"/>
          <p:cNvSpPr/>
          <p:nvPr/>
        </p:nvSpPr>
        <p:spPr>
          <a:xfrm>
            <a:off x="9430473" y="1664208"/>
            <a:ext cx="566928" cy="566928"/>
          </a:xfrm>
          <a:prstGeom prst="ellipse">
            <a:avLst/>
          </a:prstGeom>
          <a:solidFill>
            <a:srgbClr val="F1EEFD"/>
          </a:solidFill>
          <a:ln w="12700">
            <a:solidFill>
              <a:srgbClr val="F1EEFD"/>
            </a:solidFill>
            <a:prstDash val="solid"/>
          </a:ln>
        </p:spPr>
      </p:sp>
      <p:sp>
        <p:nvSpPr>
          <p:cNvPr id="50" name="Icono database"/>
          <p:cNvSpPr/>
          <p:nvPr/>
        </p:nvSpPr>
        <p:spPr>
          <a:xfrm>
            <a:off x="9566535" y="1800271"/>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B3FC4"/>
            </a:solidFill>
            <a:prstDash val="solid"/>
            <a:round/>
          </a:ln>
        </p:spPr>
      </p:sp>
      <p:sp>
        <p:nvSpPr>
          <p:cNvPr id="51" name="Text 49"/>
          <p:cNvSpPr/>
          <p:nvPr/>
        </p:nvSpPr>
        <p:spPr>
          <a:xfrm>
            <a:off x="10116273" y="1645920"/>
            <a:ext cx="1371335" cy="347472"/>
          </a:xfrm>
          <a:prstGeom prst="rect">
            <a:avLst/>
          </a:prstGeom>
          <a:noFill/>
          <a:ln/>
        </p:spPr>
        <p:txBody>
          <a:bodyPr wrap="square" lIns="0" tIns="0" rIns="0" bIns="0" rtlCol="0" anchor="t">
            <a:normAutofit/>
          </a:bodyPr>
          <a:lstStyle/>
          <a:p>
            <a:pPr algn="l" indent="0" marL="0">
              <a:buNone/>
            </a:pPr>
            <a:r>
              <a:rPr lang="en-US" sz="1400" b="1" dirty="0">
                <a:solidFill>
                  <a:srgbClr val="5B3FC4"/>
                </a:solidFill>
                <a:latin typeface="Segoe UI Semibold" pitchFamily="34" charset="0"/>
                <a:ea typeface="Segoe UI Semibold" pitchFamily="34" charset="-122"/>
                <a:cs typeface="Segoe UI Semibold" pitchFamily="34" charset="-120"/>
              </a:rPr>
              <a:t>Base de datos</a:t>
            </a:r>
            <a:endParaRPr lang="en-US" sz="1400" dirty="0"/>
          </a:p>
        </p:txBody>
      </p:sp>
      <p:sp>
        <p:nvSpPr>
          <p:cNvPr id="52" name="Text 50"/>
          <p:cNvSpPr/>
          <p:nvPr/>
        </p:nvSpPr>
        <p:spPr>
          <a:xfrm>
            <a:off x="10116273" y="1975104"/>
            <a:ext cx="1371335" cy="2560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1 persona</a:t>
            </a:r>
            <a:endParaRPr lang="en-US" sz="1200" dirty="0"/>
          </a:p>
        </p:txBody>
      </p:sp>
      <p:sp>
        <p:nvSpPr>
          <p:cNvPr id="53" name="Shape 51"/>
          <p:cNvSpPr/>
          <p:nvPr/>
        </p:nvSpPr>
        <p:spPr>
          <a:xfrm>
            <a:off x="9910400" y="2514600"/>
            <a:ext cx="960120" cy="960120"/>
          </a:xfrm>
          <a:prstGeom prst="ellipse">
            <a:avLst/>
          </a:prstGeom>
          <a:solidFill>
            <a:srgbClr val="5B3FC4"/>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54" name="Text 52"/>
          <p:cNvSpPr/>
          <p:nvPr/>
        </p:nvSpPr>
        <p:spPr>
          <a:xfrm>
            <a:off x="9910400" y="2514600"/>
            <a:ext cx="960120" cy="96012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Segoe UI Semibold" pitchFamily="34" charset="0"/>
                <a:ea typeface="Segoe UI Semibold" pitchFamily="34" charset="-122"/>
                <a:cs typeface="Segoe UI Semibold" pitchFamily="34" charset="-120"/>
              </a:rPr>
              <a:t>P4</a:t>
            </a:r>
            <a:endParaRPr lang="en-US" sz="2200" dirty="0"/>
          </a:p>
        </p:txBody>
      </p:sp>
      <p:sp>
        <p:nvSpPr>
          <p:cNvPr id="55" name="Text 53"/>
          <p:cNvSpPr/>
          <p:nvPr/>
        </p:nvSpPr>
        <p:spPr>
          <a:xfrm>
            <a:off x="9339033" y="3602736"/>
            <a:ext cx="2102855" cy="274320"/>
          </a:xfrm>
          <a:prstGeom prst="rect">
            <a:avLst/>
          </a:prstGeom>
          <a:noFill/>
          <a:ln/>
        </p:spPr>
        <p:txBody>
          <a:bodyPr wrap="square" lIns="0" tIns="0" rIns="0" bIns="0" rtlCol="0" anchor="t">
            <a:normAutofit/>
          </a:bodyPr>
          <a:lstStyle/>
          <a:p>
            <a:pPr algn="ctr" indent="0" marL="0">
              <a:buNone/>
            </a:pPr>
            <a:r>
              <a:rPr lang="en-US" sz="1250" b="1" dirty="0">
                <a:solidFill>
                  <a:srgbClr val="0B1A3C"/>
                </a:solidFill>
                <a:latin typeface="Segoe UI" pitchFamily="34" charset="0"/>
                <a:ea typeface="Segoe UI" pitchFamily="34" charset="-122"/>
                <a:cs typeface="Segoe UI" pitchFamily="34" charset="-120"/>
              </a:rPr>
              <a:t>Participante 4</a:t>
            </a:r>
            <a:endParaRPr lang="en-US" sz="1250" dirty="0"/>
          </a:p>
        </p:txBody>
      </p:sp>
      <p:sp>
        <p:nvSpPr>
          <p:cNvPr id="56" name="Text 54"/>
          <p:cNvSpPr/>
          <p:nvPr/>
        </p:nvSpPr>
        <p:spPr>
          <a:xfrm>
            <a:off x="9412185" y="3931920"/>
            <a:ext cx="1956551" cy="310896"/>
          </a:xfrm>
          <a:prstGeom prst="roundRect">
            <a:avLst>
              <a:gd name="adj" fmla="val 50000"/>
            </a:avLst>
          </a:prstGeom>
          <a:solidFill>
            <a:srgbClr val="F1EEFD"/>
          </a:solidFill>
          <a:ln>
            <a:solidFill>
              <a:srgbClr val="F1EEFD"/>
            </a:solidFill>
          </a:ln>
        </p:spPr>
        <p:txBody>
          <a:bodyPr wrap="square" lIns="0" tIns="50800" rIns="50800" bIns="0" rtlCol="0" anchor="ctr">
            <a:normAutofit/>
          </a:bodyPr>
          <a:lstStyle/>
          <a:p>
            <a:pPr algn="ctr" indent="0" marL="0">
              <a:buNone/>
            </a:pPr>
            <a:r>
              <a:rPr lang="en-US" sz="1050" b="1" dirty="0">
                <a:solidFill>
                  <a:srgbClr val="5B3FC4"/>
                </a:solidFill>
                <a:latin typeface="Segoe UI" pitchFamily="34" charset="0"/>
                <a:ea typeface="Segoe UI" pitchFamily="34" charset="-122"/>
                <a:cs typeface="Segoe UI" pitchFamily="34" charset="-120"/>
              </a:rPr>
              <a:t>Datos</a:t>
            </a:r>
            <a:endParaRPr lang="en-US" sz="1050" dirty="0"/>
          </a:p>
        </p:txBody>
      </p:sp>
      <p:sp>
        <p:nvSpPr>
          <p:cNvPr id="57" name="Text 55"/>
          <p:cNvSpPr/>
          <p:nvPr/>
        </p:nvSpPr>
        <p:spPr>
          <a:xfrm>
            <a:off x="9393897" y="4343400"/>
            <a:ext cx="1993127" cy="192024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Explica la base de datos, la consistencia y la idempotencia.</a:t>
            </a:r>
            <a:endParaRPr lang="en-US" sz="1050" dirty="0"/>
          </a:p>
        </p:txBody>
      </p:sp>
      <p:sp>
        <p:nvSpPr>
          <p:cNvPr id="58" name="Text 5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ARKA-Lite</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Registra solicitudes y avisa cuando se envían.</a:t>
            </a:r>
            <a:endParaRPr lang="en-US" sz="3200" dirty="0"/>
          </a:p>
        </p:txBody>
      </p:sp>
      <p:sp>
        <p:nvSpPr>
          <p:cNvPr id="7" name="Shape 5"/>
          <p:cNvSpPr/>
          <p:nvPr/>
        </p:nvSpPr>
        <p:spPr>
          <a:xfrm>
            <a:off x="612648" y="4507992"/>
            <a:ext cx="5257800" cy="1188720"/>
          </a:xfrm>
          <a:prstGeom prst="roundRect">
            <a:avLst>
              <a:gd name="adj" fmla="val 9231"/>
            </a:avLst>
          </a:prstGeom>
          <a:solidFill>
            <a:srgbClr val="E3F4FA"/>
          </a:solidFill>
          <a:ln w="12700">
            <a:solidFill>
              <a:srgbClr val="8ACEE2"/>
            </a:solidFill>
            <a:prstDash val="solid"/>
          </a:ln>
        </p:spPr>
      </p:sp>
      <p:sp>
        <p:nvSpPr>
          <p:cNvPr id="8" name="Shape 6"/>
          <p:cNvSpPr/>
          <p:nvPr/>
        </p:nvSpPr>
        <p:spPr>
          <a:xfrm>
            <a:off x="795528" y="4800600"/>
            <a:ext cx="603504" cy="603504"/>
          </a:xfrm>
          <a:prstGeom prst="ellipse">
            <a:avLst/>
          </a:prstGeom>
          <a:solidFill>
            <a:srgbClr val="FFFFFF"/>
          </a:solidFill>
          <a:ln w="12700">
            <a:solidFill>
              <a:srgbClr val="FFFFFF"/>
            </a:solidFill>
            <a:prstDash val="solid"/>
          </a:ln>
        </p:spPr>
      </p:sp>
      <p:sp>
        <p:nvSpPr>
          <p:cNvPr id="9" name="Icono mailbox"/>
          <p:cNvSpPr/>
          <p:nvPr/>
        </p:nvSpPr>
        <p:spPr>
          <a:xfrm>
            <a:off x="940369" y="4945441"/>
            <a:ext cx="313822" cy="313822"/>
          </a:xfrm>
          <a:custGeom>
            <a:avLst/>
            <a:gdLst/>
            <a:ahLst/>
            <a:cxnLst/>
            <a:rect l="l" t="t" r="r" b="b"/>
            <a:pathLst>
              <a:path w="313822" h="313822">
                <a:moveTo>
                  <a:pt x="287670" y="222291"/>
                </a:moveTo>
                <a:cubicBezTo>
                  <a:pt x="287670" y="236734"/>
                  <a:pt x="275962" y="248442"/>
                  <a:pt x="261518" y="248442"/>
                </a:cubicBezTo>
                <a:lnTo>
                  <a:pt x="52304" y="248442"/>
                </a:lnTo>
                <a:cubicBezTo>
                  <a:pt x="37860" y="248442"/>
                  <a:pt x="26152" y="236734"/>
                  <a:pt x="26152" y="222291"/>
                </a:cubicBezTo>
                <a:lnTo>
                  <a:pt x="26152" y="124221"/>
                </a:lnTo>
                <a:cubicBezTo>
                  <a:pt x="26152" y="91531"/>
                  <a:pt x="52304" y="65380"/>
                  <a:pt x="84993" y="65380"/>
                </a:cubicBezTo>
                <a:lnTo>
                  <a:pt x="235367" y="65380"/>
                </a:lnTo>
                <a:cubicBezTo>
                  <a:pt x="264134" y="65380"/>
                  <a:pt x="287670" y="88916"/>
                  <a:pt x="287670" y="117683"/>
                </a:cubicBezTo>
                <a:lnTo>
                  <a:pt x="287670" y="222291"/>
                </a:lnTo>
                <a:close/>
                <a:moveTo>
                  <a:pt x="196139" y="117683"/>
                </a:moveTo>
                <a:lnTo>
                  <a:pt x="235367" y="117683"/>
                </a:lnTo>
                <a:lnTo>
                  <a:pt x="235367" y="143835"/>
                </a:lnTo>
                <a:moveTo>
                  <a:pt x="84993" y="65380"/>
                </a:moveTo>
                <a:cubicBezTo>
                  <a:pt x="117683" y="65380"/>
                  <a:pt x="143835" y="91531"/>
                  <a:pt x="143835" y="124221"/>
                </a:cubicBezTo>
                <a:lnTo>
                  <a:pt x="143835" y="222291"/>
                </a:lnTo>
                <a:cubicBezTo>
                  <a:pt x="143835" y="236734"/>
                  <a:pt x="132127" y="248442"/>
                  <a:pt x="117683" y="248442"/>
                </a:cubicBezTo>
                <a:moveTo>
                  <a:pt x="78456" y="130759"/>
                </a:moveTo>
                <a:lnTo>
                  <a:pt x="91531" y="130759"/>
                </a:lnTo>
              </a:path>
            </a:pathLst>
          </a:custGeom>
          <a:noFill/>
          <a:ln w="26152" cap="rnd">
            <a:solidFill>
              <a:srgbClr val="0B6E8A"/>
            </a:solidFill>
            <a:prstDash val="solid"/>
            <a:round/>
          </a:ln>
        </p:spPr>
      </p:sp>
      <p:sp>
        <p:nvSpPr>
          <p:cNvPr id="10" name="Text 8"/>
          <p:cNvSpPr/>
          <p:nvPr/>
        </p:nvSpPr>
        <p:spPr>
          <a:xfrm>
            <a:off x="1563624" y="4581144"/>
            <a:ext cx="415137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una ventanilla y un buzón: la ventanilla recibe el trámite y el buzón te avisa cuando avanzó.</a:t>
            </a:r>
            <a:endParaRPr lang="en-US" sz="1450" dirty="0"/>
          </a:p>
        </p:txBody>
      </p:sp>
      <p:sp>
        <p:nvSpPr>
          <p:cNvPr id="11" name="Shape 9"/>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1659636"/>
            <a:ext cx="566928" cy="566928"/>
          </a:xfrm>
          <a:prstGeom prst="ellipse">
            <a:avLst/>
          </a:prstGeom>
          <a:solidFill>
            <a:srgbClr val="0B2350"/>
          </a:solidFill>
          <a:ln w="12700">
            <a:solidFill>
              <a:srgbClr val="0B2350"/>
            </a:solidFill>
            <a:prstDash val="solid"/>
          </a:ln>
        </p:spPr>
      </p:sp>
      <p:sp>
        <p:nvSpPr>
          <p:cNvPr id="13" name="Icono clipboard-list"/>
          <p:cNvSpPr/>
          <p:nvPr/>
        </p:nvSpPr>
        <p:spPr>
          <a:xfrm>
            <a:off x="6573439" y="1795699"/>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FFFFFF"/>
            </a:solidFill>
            <a:prstDash val="solid"/>
            <a:round/>
          </a:ln>
        </p:spPr>
      </p:sp>
      <p:sp>
        <p:nvSpPr>
          <p:cNvPr id="14" name="Text 12"/>
          <p:cNvSpPr/>
          <p:nvPr/>
        </p:nvSpPr>
        <p:spPr>
          <a:xfrm>
            <a:off x="7150608" y="1417320"/>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Solicitudes: crea solicitudes y cambia su estado</a:t>
            </a:r>
            <a:endParaRPr lang="en-US" sz="1600" dirty="0"/>
          </a:p>
        </p:txBody>
      </p:sp>
      <p:sp>
        <p:nvSpPr>
          <p:cNvPr id="15" name="Shape 13"/>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2857500"/>
            <a:ext cx="566928" cy="566928"/>
          </a:xfrm>
          <a:prstGeom prst="ellipse">
            <a:avLst/>
          </a:prstGeom>
          <a:solidFill>
            <a:srgbClr val="0B6E8A"/>
          </a:solidFill>
          <a:ln w="12700">
            <a:solidFill>
              <a:srgbClr val="0B6E8A"/>
            </a:solidFill>
            <a:prstDash val="solid"/>
          </a:ln>
        </p:spPr>
      </p:sp>
      <p:sp>
        <p:nvSpPr>
          <p:cNvPr id="17" name="Icono bell"/>
          <p:cNvSpPr/>
          <p:nvPr/>
        </p:nvSpPr>
        <p:spPr>
          <a:xfrm>
            <a:off x="6573439" y="2993563"/>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FFFFFF"/>
            </a:solidFill>
            <a:prstDash val="solid"/>
            <a:round/>
          </a:ln>
        </p:spPr>
      </p:sp>
      <p:sp>
        <p:nvSpPr>
          <p:cNvPr id="18" name="Text 16"/>
          <p:cNvSpPr/>
          <p:nvPr/>
        </p:nvSpPr>
        <p:spPr>
          <a:xfrm>
            <a:off x="7150608" y="2615184"/>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Notificaciones: crea un aviso cuando una solicitud se envía</a:t>
            </a:r>
            <a:endParaRPr lang="en-US" sz="1600" dirty="0"/>
          </a:p>
        </p:txBody>
      </p:sp>
      <p:sp>
        <p:nvSpPr>
          <p:cNvPr id="19" name="Shape 17"/>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4055364"/>
            <a:ext cx="566928" cy="566928"/>
          </a:xfrm>
          <a:prstGeom prst="ellipse">
            <a:avLst/>
          </a:prstGeom>
          <a:solidFill>
            <a:srgbClr val="0A6648"/>
          </a:solidFill>
          <a:ln w="12700">
            <a:solidFill>
              <a:srgbClr val="0A6648"/>
            </a:solidFill>
            <a:prstDash val="solid"/>
          </a:ln>
        </p:spPr>
      </p:sp>
      <p:sp>
        <p:nvSpPr>
          <p:cNvPr id="21" name="Icono monitor"/>
          <p:cNvSpPr/>
          <p:nvPr/>
        </p:nvSpPr>
        <p:spPr>
          <a:xfrm>
            <a:off x="6573439" y="4191427"/>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FFFFFF"/>
            </a:solidFill>
            <a:prstDash val="solid"/>
            <a:round/>
          </a:ln>
        </p:spPr>
      </p:sp>
      <p:sp>
        <p:nvSpPr>
          <p:cNvPr id="22" name="Text 20"/>
          <p:cNvSpPr/>
          <p:nvPr/>
        </p:nvSpPr>
        <p:spPr>
          <a:xfrm>
            <a:off x="7150608" y="3813048"/>
            <a:ext cx="429127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interfaz web: permite usar y entender los dos</a:t>
            </a:r>
            <a:endParaRPr lang="en-US" sz="1600" dirty="0"/>
          </a:p>
        </p:txBody>
      </p:sp>
      <p:sp>
        <p:nvSpPr>
          <p:cNvPr id="23" name="Shape 21"/>
          <p:cNvSpPr/>
          <p:nvPr/>
        </p:nvSpPr>
        <p:spPr>
          <a:xfrm>
            <a:off x="0" y="5961888"/>
            <a:ext cx="12191695" cy="475488"/>
          </a:xfrm>
          <a:prstGeom prst="rect">
            <a:avLst/>
          </a:prstGeom>
          <a:solidFill>
            <a:srgbClr val="0B2350"/>
          </a:solidFill>
          <a:ln w="12700">
            <a:solidFill>
              <a:srgbClr val="0B2350"/>
            </a:solidFill>
            <a:prstDash val="solid"/>
          </a:ln>
        </p:spPr>
      </p:sp>
      <p:sp>
        <p:nvSpPr>
          <p:cNvPr id="24"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25" name="Text 23"/>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Dos servicios con tareas distintas: así pudimos practicar todo lo que trae trabajar con microservicios.</a:t>
            </a:r>
            <a:endParaRPr lang="en-US" sz="140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sistema pequeño, pero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con Java 26, cada uno con su base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8 en solicitudes y 3 en notificaciones, documentados con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B6E8A"/>
          </a:solidFill>
          <a:ln w="12700">
            <a:solidFill>
              <a:srgbClr val="0B6E8A"/>
            </a:solidFill>
            <a:prstDash val="solid"/>
          </a:ln>
        </p:spPr>
      </p:sp>
      <p:sp>
        <p:nvSpPr>
          <p:cNvPr id="22" name="Shape 20"/>
          <p:cNvSpPr/>
          <p:nvPr/>
        </p:nvSpPr>
        <p:spPr>
          <a:xfrm>
            <a:off x="10792663" y="1956816"/>
            <a:ext cx="566928" cy="566928"/>
          </a:xfrm>
          <a:prstGeom prst="ellipse">
            <a:avLst/>
          </a:prstGeom>
          <a:solidFill>
            <a:srgbClr val="E3F4FA"/>
          </a:solidFill>
          <a:ln w="12700">
            <a:solidFill>
              <a:srgbClr val="E3F4FA"/>
            </a:solidFill>
            <a:prstDash val="solid"/>
          </a:ln>
        </p:spPr>
      </p:sp>
      <p:sp>
        <p:nvSpPr>
          <p:cNvPr id="23" name="Icono container"/>
          <p:cNvSpPr/>
          <p:nvPr/>
        </p:nvSpPr>
        <p:spPr>
          <a:xfrm>
            <a:off x="10928726" y="209287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interfaz y logs, con un solo comando.</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A6648"/>
          </a:solidFill>
          <a:ln w="12700">
            <a:solidFill>
              <a:srgbClr val="0A6648"/>
            </a:solidFill>
            <a:prstDash val="solid"/>
          </a:ln>
        </p:spPr>
      </p:sp>
      <p:sp>
        <p:nvSpPr>
          <p:cNvPr id="29" name="Shape 27"/>
          <p:cNvSpPr/>
          <p:nvPr/>
        </p:nvSpPr>
        <p:spPr>
          <a:xfrm>
            <a:off x="3335426" y="4384548"/>
            <a:ext cx="566928" cy="566928"/>
          </a:xfrm>
          <a:prstGeom prst="ellipse">
            <a:avLst/>
          </a:prstGeom>
          <a:solidFill>
            <a:srgbClr val="E1F1EA"/>
          </a:solidFill>
          <a:ln w="12700">
            <a:solidFill>
              <a:srgbClr val="E1F1EA"/>
            </a:solidFill>
            <a:prstDash val="solid"/>
          </a:ln>
        </p:spPr>
      </p:sp>
      <p:sp>
        <p:nvSpPr>
          <p:cNvPr id="30" name="Icono flask-conical"/>
          <p:cNvSpPr/>
          <p:nvPr/>
        </p:nvSpPr>
        <p:spPr>
          <a:xfrm>
            <a:off x="3471489" y="4520611"/>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y 29 en la interfaz.</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Cada cinco segundos se entregan los avisos pendientes.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avisos duplicados</a:t>
            </a:r>
            <a:endParaRPr lang="en-US" sz="150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un evento llegue dos veces, se crea un solo aviso.</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vamos a recorrerlo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Siete partes, en el orden en que se construye el sistema.</a:t>
            </a:r>
            <a:endParaRPr lang="en-US" sz="1700" dirty="0"/>
          </a:p>
        </p:txBody>
      </p:sp>
      <p:sp>
        <p:nvSpPr>
          <p:cNvPr id="6" name="Shape 4"/>
          <p:cNvSpPr/>
          <p:nvPr/>
        </p:nvSpPr>
        <p:spPr>
          <a:xfrm>
            <a:off x="1395962" y="2519172"/>
            <a:ext cx="9399771" cy="0"/>
          </a:xfrm>
          <a:prstGeom prst="line">
            <a:avLst/>
          </a:prstGeom>
          <a:noFill/>
          <a:ln w="50800">
            <a:solidFill>
              <a:srgbClr val="75C5DD"/>
            </a:solidFill>
            <a:prstDash val="solid"/>
          </a:ln>
        </p:spPr>
      </p:sp>
      <p:sp>
        <p:nvSpPr>
          <p:cNvPr id="7" name="Shape 5"/>
          <p:cNvSpPr/>
          <p:nvPr/>
        </p:nvSpPr>
        <p:spPr>
          <a:xfrm>
            <a:off x="915902"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map"/>
          <p:cNvSpPr/>
          <p:nvPr/>
        </p:nvSpPr>
        <p:spPr>
          <a:xfrm>
            <a:off x="1155932" y="2279142"/>
            <a:ext cx="480060" cy="480060"/>
          </a:xfrm>
          <a:custGeom>
            <a:avLst/>
            <a:gdLst/>
            <a:ahLst/>
            <a:cxnLst/>
            <a:rect l="l" t="t" r="r" b="b"/>
            <a:pathLst>
              <a:path w="480060" h="480060">
                <a:moveTo>
                  <a:pt x="282155" y="111074"/>
                </a:moveTo>
                <a:cubicBezTo>
                  <a:pt x="293413" y="116699"/>
                  <a:pt x="306662" y="116699"/>
                  <a:pt x="317920" y="111074"/>
                </a:cubicBezTo>
                <a:lnTo>
                  <a:pt x="391109" y="74469"/>
                </a:lnTo>
                <a:cubicBezTo>
                  <a:pt x="397314" y="71369"/>
                  <a:pt x="404683" y="71704"/>
                  <a:pt x="410580" y="75356"/>
                </a:cubicBezTo>
                <a:cubicBezTo>
                  <a:pt x="416478" y="79008"/>
                  <a:pt x="420063" y="85455"/>
                  <a:pt x="420053" y="92392"/>
                </a:cubicBezTo>
                <a:lnTo>
                  <a:pt x="420053" y="347703"/>
                </a:lnTo>
                <a:cubicBezTo>
                  <a:pt x="420048" y="355278"/>
                  <a:pt x="415767" y="362200"/>
                  <a:pt x="408991" y="365586"/>
                </a:cubicBezTo>
                <a:lnTo>
                  <a:pt x="317920" y="411131"/>
                </a:lnTo>
                <a:cubicBezTo>
                  <a:pt x="306662" y="416757"/>
                  <a:pt x="293413" y="416757"/>
                  <a:pt x="282155" y="411131"/>
                </a:cubicBezTo>
                <a:lnTo>
                  <a:pt x="197905" y="369006"/>
                </a:lnTo>
                <a:cubicBezTo>
                  <a:pt x="186647" y="363381"/>
                  <a:pt x="173398" y="363381"/>
                  <a:pt x="162140" y="369006"/>
                </a:cubicBezTo>
                <a:lnTo>
                  <a:pt x="88951" y="405611"/>
                </a:lnTo>
                <a:cubicBezTo>
                  <a:pt x="82743" y="408713"/>
                  <a:pt x="75370" y="408375"/>
                  <a:pt x="69471" y="404719"/>
                </a:cubicBezTo>
                <a:cubicBezTo>
                  <a:pt x="63572" y="401062"/>
                  <a:pt x="59990" y="394609"/>
                  <a:pt x="60008" y="387668"/>
                </a:cubicBezTo>
                <a:lnTo>
                  <a:pt x="60008" y="132377"/>
                </a:lnTo>
                <a:cubicBezTo>
                  <a:pt x="60012" y="124802"/>
                  <a:pt x="64293" y="117880"/>
                  <a:pt x="71069" y="114494"/>
                </a:cubicBezTo>
                <a:lnTo>
                  <a:pt x="162140" y="68949"/>
                </a:lnTo>
                <a:cubicBezTo>
                  <a:pt x="173398" y="63323"/>
                  <a:pt x="186647" y="63323"/>
                  <a:pt x="197905" y="68949"/>
                </a:cubicBezTo>
                <a:close/>
                <a:moveTo>
                  <a:pt x="300038" y="115294"/>
                </a:moveTo>
                <a:lnTo>
                  <a:pt x="300038" y="415332"/>
                </a:lnTo>
                <a:moveTo>
                  <a:pt x="180023" y="64728"/>
                </a:moveTo>
                <a:lnTo>
                  <a:pt x="180023" y="364766"/>
                </a:lnTo>
              </a:path>
            </a:pathLst>
          </a:custGeom>
          <a:noFill/>
          <a:ln w="40005" cap="rnd">
            <a:solidFill>
              <a:srgbClr val="FFFFFF"/>
            </a:solidFill>
            <a:prstDash val="solid"/>
            <a:round/>
          </a:ln>
        </p:spPr>
      </p:sp>
      <p:sp>
        <p:nvSpPr>
          <p:cNvPr id="9" name="Text 7"/>
          <p:cNvSpPr/>
          <p:nvPr/>
        </p:nvSpPr>
        <p:spPr>
          <a:xfrm>
            <a:off x="1568784"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1</a:t>
            </a:r>
            <a:endParaRPr lang="en-US" sz="1200" dirty="0"/>
          </a:p>
        </p:txBody>
      </p:sp>
      <p:sp>
        <p:nvSpPr>
          <p:cNvPr id="10" name="Text 8"/>
          <p:cNvSpPr/>
          <p:nvPr/>
        </p:nvSpPr>
        <p:spPr>
          <a:xfrm>
            <a:off x="667512"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El sistema por fuera</a:t>
            </a:r>
            <a:endParaRPr lang="en-US" sz="1400" dirty="0"/>
          </a:p>
        </p:txBody>
      </p:sp>
      <p:sp>
        <p:nvSpPr>
          <p:cNvPr id="11" name="Text 9"/>
          <p:cNvSpPr/>
          <p:nvPr/>
        </p:nvSpPr>
        <p:spPr>
          <a:xfrm>
            <a:off x="685800"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Visión general · Arquitectura · Microservicios</a:t>
            </a:r>
            <a:endParaRPr lang="en-US" sz="1050" dirty="0"/>
          </a:p>
        </p:txBody>
      </p:sp>
      <p:sp>
        <p:nvSpPr>
          <p:cNvPr id="12" name="Text 10"/>
          <p:cNvSpPr/>
          <p:nvPr/>
        </p:nvSpPr>
        <p:spPr>
          <a:xfrm>
            <a:off x="740664"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P1 · Desarrollo</a:t>
            </a:r>
            <a:endParaRPr lang="en-US" sz="1050" dirty="0"/>
          </a:p>
        </p:txBody>
      </p:sp>
      <p:sp>
        <p:nvSpPr>
          <p:cNvPr id="13" name="Shape 11"/>
          <p:cNvSpPr/>
          <p:nvPr/>
        </p:nvSpPr>
        <p:spPr>
          <a:xfrm>
            <a:off x="2482531"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code"/>
          <p:cNvSpPr/>
          <p:nvPr/>
        </p:nvSpPr>
        <p:spPr>
          <a:xfrm>
            <a:off x="2722561" y="2279142"/>
            <a:ext cx="480060" cy="480060"/>
          </a:xfrm>
          <a:custGeom>
            <a:avLst/>
            <a:gdLst/>
            <a:ahLst/>
            <a:cxnLst/>
            <a:rect l="l" t="t" r="r" b="b"/>
            <a:pathLst>
              <a:path w="480060" h="480060">
                <a:moveTo>
                  <a:pt x="320040" y="360045"/>
                </a:moveTo>
                <a:lnTo>
                  <a:pt x="440055" y="240030"/>
                </a:lnTo>
                <a:lnTo>
                  <a:pt x="320040" y="120015"/>
                </a:lnTo>
                <a:moveTo>
                  <a:pt x="160020" y="120015"/>
                </a:moveTo>
                <a:lnTo>
                  <a:pt x="40005" y="240030"/>
                </a:lnTo>
                <a:lnTo>
                  <a:pt x="160020" y="360045"/>
                </a:lnTo>
              </a:path>
            </a:pathLst>
          </a:custGeom>
          <a:noFill/>
          <a:ln w="40005" cap="rnd">
            <a:solidFill>
              <a:srgbClr val="FFFFFF"/>
            </a:solidFill>
            <a:prstDash val="solid"/>
            <a:round/>
          </a:ln>
        </p:spPr>
      </p:sp>
      <p:sp>
        <p:nvSpPr>
          <p:cNvPr id="15" name="Text 13"/>
          <p:cNvSpPr/>
          <p:nvPr/>
        </p:nvSpPr>
        <p:spPr>
          <a:xfrm>
            <a:off x="3135412"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2</a:t>
            </a:r>
            <a:endParaRPr lang="en-US" sz="1200" dirty="0"/>
          </a:p>
        </p:txBody>
      </p:sp>
      <p:sp>
        <p:nvSpPr>
          <p:cNvPr id="16" name="Text 14"/>
          <p:cNvSpPr/>
          <p:nvPr/>
        </p:nvSpPr>
        <p:spPr>
          <a:xfrm>
            <a:off x="2234140"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Construir un servicio</a:t>
            </a:r>
            <a:endParaRPr lang="en-US" sz="1400" dirty="0"/>
          </a:p>
        </p:txBody>
      </p:sp>
      <p:sp>
        <p:nvSpPr>
          <p:cNvPr id="17" name="Text 15"/>
          <p:cNvSpPr/>
          <p:nvPr/>
        </p:nvSpPr>
        <p:spPr>
          <a:xfrm>
            <a:off x="2252428"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Spring Boot · Endpoints REST · Manejo global de errores</a:t>
            </a:r>
            <a:endParaRPr lang="en-US" sz="1050" dirty="0"/>
          </a:p>
        </p:txBody>
      </p:sp>
      <p:sp>
        <p:nvSpPr>
          <p:cNvPr id="18" name="Text 16"/>
          <p:cNvSpPr/>
          <p:nvPr/>
        </p:nvSpPr>
        <p:spPr>
          <a:xfrm>
            <a:off x="2307292"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P2 · Desarrollo</a:t>
            </a:r>
            <a:endParaRPr lang="en-US" sz="1050" dirty="0"/>
          </a:p>
        </p:txBody>
      </p:sp>
      <p:sp>
        <p:nvSpPr>
          <p:cNvPr id="19" name="Shape 17"/>
          <p:cNvSpPr/>
          <p:nvPr/>
        </p:nvSpPr>
        <p:spPr>
          <a:xfrm>
            <a:off x="4049159"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puzzle"/>
          <p:cNvSpPr/>
          <p:nvPr/>
        </p:nvSpPr>
        <p:spPr>
          <a:xfrm>
            <a:off x="4289189" y="2279142"/>
            <a:ext cx="480060" cy="480060"/>
          </a:xfrm>
          <a:custGeom>
            <a:avLst/>
            <a:gdLst/>
            <a:ahLst/>
            <a:cxnLst/>
            <a:rect l="l" t="t" r="r" b="b"/>
            <a:pathLst>
              <a:path w="480060" h="480060">
                <a:moveTo>
                  <a:pt x="307838" y="87811"/>
                </a:moveTo>
                <a:cubicBezTo>
                  <a:pt x="312958" y="92936"/>
                  <a:pt x="320449" y="94892"/>
                  <a:pt x="327421" y="92925"/>
                </a:cubicBezTo>
                <a:cubicBezTo>
                  <a:pt x="334393" y="90958"/>
                  <a:pt x="339757" y="85375"/>
                  <a:pt x="341443" y="78330"/>
                </a:cubicBezTo>
                <a:cubicBezTo>
                  <a:pt x="347188" y="54412"/>
                  <a:pt x="369475" y="38225"/>
                  <a:pt x="393997" y="40159"/>
                </a:cubicBezTo>
                <a:cubicBezTo>
                  <a:pt x="418519" y="42093"/>
                  <a:pt x="437993" y="61573"/>
                  <a:pt x="439918" y="86096"/>
                </a:cubicBezTo>
                <a:cubicBezTo>
                  <a:pt x="441844" y="110618"/>
                  <a:pt x="425650" y="132900"/>
                  <a:pt x="401730" y="138637"/>
                </a:cubicBezTo>
                <a:cubicBezTo>
                  <a:pt x="394685" y="140323"/>
                  <a:pt x="389102" y="145687"/>
                  <a:pt x="387135" y="152659"/>
                </a:cubicBezTo>
                <a:cubicBezTo>
                  <a:pt x="385168" y="159631"/>
                  <a:pt x="387124" y="167122"/>
                  <a:pt x="392249" y="172242"/>
                </a:cubicBezTo>
                <a:lnTo>
                  <a:pt x="425913" y="205886"/>
                </a:lnTo>
                <a:cubicBezTo>
                  <a:pt x="434969" y="214941"/>
                  <a:pt x="440057" y="227223"/>
                  <a:pt x="440057" y="240030"/>
                </a:cubicBezTo>
                <a:cubicBezTo>
                  <a:pt x="440057" y="252837"/>
                  <a:pt x="434969" y="265119"/>
                  <a:pt x="425913" y="274174"/>
                </a:cubicBezTo>
                <a:lnTo>
                  <a:pt x="392249" y="307838"/>
                </a:lnTo>
                <a:cubicBezTo>
                  <a:pt x="387129" y="312963"/>
                  <a:pt x="379638" y="314920"/>
                  <a:pt x="372666" y="312953"/>
                </a:cubicBezTo>
                <a:cubicBezTo>
                  <a:pt x="365694" y="310986"/>
                  <a:pt x="360331" y="305403"/>
                  <a:pt x="358645" y="298357"/>
                </a:cubicBezTo>
                <a:cubicBezTo>
                  <a:pt x="352899" y="274440"/>
                  <a:pt x="330612" y="258253"/>
                  <a:pt x="306091" y="260187"/>
                </a:cubicBezTo>
                <a:cubicBezTo>
                  <a:pt x="281569" y="262120"/>
                  <a:pt x="262095" y="281601"/>
                  <a:pt x="260169" y="306123"/>
                </a:cubicBezTo>
                <a:cubicBezTo>
                  <a:pt x="258243" y="330646"/>
                  <a:pt x="274438" y="352927"/>
                  <a:pt x="298357" y="358665"/>
                </a:cubicBezTo>
                <a:cubicBezTo>
                  <a:pt x="305403" y="360351"/>
                  <a:pt x="310986" y="365714"/>
                  <a:pt x="312953" y="372686"/>
                </a:cubicBezTo>
                <a:cubicBezTo>
                  <a:pt x="314920" y="379658"/>
                  <a:pt x="312963" y="387149"/>
                  <a:pt x="307838" y="392269"/>
                </a:cubicBezTo>
                <a:lnTo>
                  <a:pt x="274174" y="425913"/>
                </a:lnTo>
                <a:cubicBezTo>
                  <a:pt x="265119" y="434969"/>
                  <a:pt x="252837" y="440057"/>
                  <a:pt x="240030" y="440057"/>
                </a:cubicBezTo>
                <a:cubicBezTo>
                  <a:pt x="227223" y="440057"/>
                  <a:pt x="214941" y="434969"/>
                  <a:pt x="205886" y="425913"/>
                </a:cubicBezTo>
                <a:lnTo>
                  <a:pt x="172222" y="392249"/>
                </a:lnTo>
                <a:cubicBezTo>
                  <a:pt x="167102" y="387124"/>
                  <a:pt x="159611" y="385168"/>
                  <a:pt x="152639" y="387135"/>
                </a:cubicBezTo>
                <a:cubicBezTo>
                  <a:pt x="145667" y="389102"/>
                  <a:pt x="140303" y="394685"/>
                  <a:pt x="138617" y="401730"/>
                </a:cubicBezTo>
                <a:cubicBezTo>
                  <a:pt x="132872" y="425648"/>
                  <a:pt x="110585" y="441835"/>
                  <a:pt x="86063" y="439901"/>
                </a:cubicBezTo>
                <a:cubicBezTo>
                  <a:pt x="61541" y="437967"/>
                  <a:pt x="42067" y="418487"/>
                  <a:pt x="40142" y="393964"/>
                </a:cubicBezTo>
                <a:cubicBezTo>
                  <a:pt x="38216" y="369442"/>
                  <a:pt x="54410" y="347160"/>
                  <a:pt x="78330" y="341423"/>
                </a:cubicBezTo>
                <a:cubicBezTo>
                  <a:pt x="85375" y="339737"/>
                  <a:pt x="90958" y="334373"/>
                  <a:pt x="92925" y="327401"/>
                </a:cubicBezTo>
                <a:cubicBezTo>
                  <a:pt x="94892" y="320429"/>
                  <a:pt x="92936" y="312938"/>
                  <a:pt x="87811" y="307818"/>
                </a:cubicBezTo>
                <a:lnTo>
                  <a:pt x="54147" y="274174"/>
                </a:lnTo>
                <a:cubicBezTo>
                  <a:pt x="45091" y="265119"/>
                  <a:pt x="40003" y="252837"/>
                  <a:pt x="40003" y="240030"/>
                </a:cubicBezTo>
                <a:cubicBezTo>
                  <a:pt x="40003" y="227223"/>
                  <a:pt x="45091" y="214941"/>
                  <a:pt x="54147" y="205886"/>
                </a:cubicBezTo>
                <a:lnTo>
                  <a:pt x="87811" y="172222"/>
                </a:lnTo>
                <a:cubicBezTo>
                  <a:pt x="92931" y="167097"/>
                  <a:pt x="100422" y="165140"/>
                  <a:pt x="107394" y="167107"/>
                </a:cubicBezTo>
                <a:cubicBezTo>
                  <a:pt x="114366" y="169074"/>
                  <a:pt x="119729" y="174657"/>
                  <a:pt x="121415" y="181703"/>
                </a:cubicBezTo>
                <a:cubicBezTo>
                  <a:pt x="127161" y="205620"/>
                  <a:pt x="149448" y="221807"/>
                  <a:pt x="173969" y="219873"/>
                </a:cubicBezTo>
                <a:cubicBezTo>
                  <a:pt x="198491" y="217940"/>
                  <a:pt x="217965" y="198459"/>
                  <a:pt x="219891" y="173937"/>
                </a:cubicBezTo>
                <a:cubicBezTo>
                  <a:pt x="221817" y="149414"/>
                  <a:pt x="205622" y="127133"/>
                  <a:pt x="181703" y="121395"/>
                </a:cubicBezTo>
                <a:cubicBezTo>
                  <a:pt x="174657" y="119709"/>
                  <a:pt x="169074" y="114346"/>
                  <a:pt x="167107" y="107374"/>
                </a:cubicBezTo>
                <a:cubicBezTo>
                  <a:pt x="165140" y="100402"/>
                  <a:pt x="167097" y="92911"/>
                  <a:pt x="172222" y="87791"/>
                </a:cubicBezTo>
                <a:lnTo>
                  <a:pt x="205886" y="54147"/>
                </a:lnTo>
                <a:cubicBezTo>
                  <a:pt x="214941" y="45091"/>
                  <a:pt x="227223" y="40003"/>
                  <a:pt x="240030" y="40003"/>
                </a:cubicBezTo>
                <a:cubicBezTo>
                  <a:pt x="252837" y="40003"/>
                  <a:pt x="265119" y="45091"/>
                  <a:pt x="274174" y="54147"/>
                </a:cubicBezTo>
                <a:close/>
              </a:path>
            </a:pathLst>
          </a:custGeom>
          <a:noFill/>
          <a:ln w="40005" cap="rnd">
            <a:solidFill>
              <a:srgbClr val="FFFFFF"/>
            </a:solidFill>
            <a:prstDash val="solid"/>
            <a:round/>
          </a:ln>
        </p:spPr>
      </p:sp>
      <p:sp>
        <p:nvSpPr>
          <p:cNvPr id="21" name="Text 19"/>
          <p:cNvSpPr/>
          <p:nvPr/>
        </p:nvSpPr>
        <p:spPr>
          <a:xfrm>
            <a:off x="4702041"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3</a:t>
            </a:r>
            <a:endParaRPr lang="en-US" sz="1200" dirty="0"/>
          </a:p>
        </p:txBody>
      </p:sp>
      <p:sp>
        <p:nvSpPr>
          <p:cNvPr id="22" name="Text 20"/>
          <p:cNvSpPr/>
          <p:nvPr/>
        </p:nvSpPr>
        <p:spPr>
          <a:xfrm>
            <a:off x="3800769"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Diseñar para cambiar</a:t>
            </a:r>
            <a:endParaRPr lang="en-US" sz="1400" dirty="0"/>
          </a:p>
        </p:txBody>
      </p:sp>
      <p:sp>
        <p:nvSpPr>
          <p:cNvPr id="23" name="Text 21"/>
          <p:cNvSpPr/>
          <p:nvPr/>
        </p:nvSpPr>
        <p:spPr>
          <a:xfrm>
            <a:off x="3819057" y="3749040"/>
            <a:ext cx="1420324" cy="960120"/>
          </a:xfrm>
          <a:prstGeom prst="rect">
            <a:avLst/>
          </a:prstGeom>
          <a:noFill/>
          <a:ln/>
        </p:spPr>
        <p:txBody>
          <a:bodyPr wrap="square" lIns="0" tIns="0" rIns="0" bIns="0" rtlCol="0" anchor="t">
            <a:normAutofit/>
          </a:bodyPr>
          <a:lstStyle/>
          <a:p>
            <a:pPr algn="ctr" indent="0" marL="0">
              <a:buNone/>
            </a:pPr>
            <a:r>
              <a:rPr lang="en-US" sz="1000" dirty="0">
                <a:solidFill>
                  <a:srgbClr val="55627E"/>
                </a:solidFill>
                <a:latin typeface="Segoe UI" pitchFamily="34" charset="0"/>
                <a:ea typeface="Segoe UI" pitchFamily="34" charset="-122"/>
                <a:cs typeface="Segoe UI" pitchFamily="34" charset="-120"/>
              </a:rPr>
              <a:t>Puertos y adaptadores · Estructura base de ARKA-Lite · De monolito a microservicios</a:t>
            </a:r>
            <a:endParaRPr lang="en-US" sz="1000" dirty="0"/>
          </a:p>
        </p:txBody>
      </p:sp>
      <p:sp>
        <p:nvSpPr>
          <p:cNvPr id="24" name="Text 22"/>
          <p:cNvSpPr/>
          <p:nvPr/>
        </p:nvSpPr>
        <p:spPr>
          <a:xfrm>
            <a:off x="3873921"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P3 · Desarrollo</a:t>
            </a:r>
            <a:endParaRPr lang="en-US" sz="1050" dirty="0"/>
          </a:p>
        </p:txBody>
      </p:sp>
      <p:sp>
        <p:nvSpPr>
          <p:cNvPr id="25" name="Shape 23"/>
          <p:cNvSpPr/>
          <p:nvPr/>
        </p:nvSpPr>
        <p:spPr>
          <a:xfrm>
            <a:off x="5615788"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26" name="Icono database"/>
          <p:cNvSpPr/>
          <p:nvPr/>
        </p:nvSpPr>
        <p:spPr>
          <a:xfrm>
            <a:off x="5855818" y="2279142"/>
            <a:ext cx="480060" cy="480060"/>
          </a:xfrm>
          <a:custGeom>
            <a:avLst/>
            <a:gdLst/>
            <a:ahLst/>
            <a:cxnLst/>
            <a:rect l="l" t="t" r="r" b="b"/>
            <a:pathLst>
              <a:path w="480060" h="480060">
                <a:moveTo>
                  <a:pt x="420053" y="100013"/>
                </a:moveTo>
                <a:cubicBezTo>
                  <a:pt x="420053" y="133154"/>
                  <a:pt x="339454" y="160020"/>
                  <a:pt x="240030" y="160020"/>
                </a:cubicBezTo>
                <a:cubicBezTo>
                  <a:pt x="140606" y="160020"/>
                  <a:pt x="60008" y="133154"/>
                  <a:pt x="60008" y="100013"/>
                </a:cubicBezTo>
                <a:cubicBezTo>
                  <a:pt x="60008" y="66871"/>
                  <a:pt x="140606" y="40005"/>
                  <a:pt x="240030" y="40005"/>
                </a:cubicBezTo>
                <a:cubicBezTo>
                  <a:pt x="339454" y="40005"/>
                  <a:pt x="420053" y="66871"/>
                  <a:pt x="420053" y="100013"/>
                </a:cubicBezTo>
                <a:close/>
                <a:moveTo>
                  <a:pt x="60008" y="100013"/>
                </a:moveTo>
                <a:lnTo>
                  <a:pt x="60008" y="380048"/>
                </a:lnTo>
                <a:cubicBezTo>
                  <a:pt x="60008" y="413189"/>
                  <a:pt x="140606" y="440055"/>
                  <a:pt x="240030" y="440055"/>
                </a:cubicBezTo>
                <a:cubicBezTo>
                  <a:pt x="339454" y="440055"/>
                  <a:pt x="420053" y="413189"/>
                  <a:pt x="420053" y="380048"/>
                </a:cubicBezTo>
                <a:lnTo>
                  <a:pt x="420053" y="100013"/>
                </a:lnTo>
                <a:moveTo>
                  <a:pt x="60008" y="240030"/>
                </a:moveTo>
                <a:cubicBezTo>
                  <a:pt x="60008" y="273171"/>
                  <a:pt x="140606" y="300038"/>
                  <a:pt x="240030" y="300038"/>
                </a:cubicBezTo>
                <a:cubicBezTo>
                  <a:pt x="339454" y="300038"/>
                  <a:pt x="420053" y="273171"/>
                  <a:pt x="420053" y="240030"/>
                </a:cubicBezTo>
              </a:path>
            </a:pathLst>
          </a:custGeom>
          <a:noFill/>
          <a:ln w="40005" cap="rnd">
            <a:solidFill>
              <a:srgbClr val="FFFFFF"/>
            </a:solidFill>
            <a:prstDash val="solid"/>
            <a:round/>
          </a:ln>
        </p:spPr>
      </p:sp>
      <p:sp>
        <p:nvSpPr>
          <p:cNvPr id="27" name="Text 25"/>
          <p:cNvSpPr/>
          <p:nvPr/>
        </p:nvSpPr>
        <p:spPr>
          <a:xfrm>
            <a:off x="6268669"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4</a:t>
            </a:r>
            <a:endParaRPr lang="en-US" sz="1200" dirty="0"/>
          </a:p>
        </p:txBody>
      </p:sp>
      <p:sp>
        <p:nvSpPr>
          <p:cNvPr id="28" name="Text 26"/>
          <p:cNvSpPr/>
          <p:nvPr/>
        </p:nvSpPr>
        <p:spPr>
          <a:xfrm>
            <a:off x="5367397"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Guardar sin perder datos</a:t>
            </a:r>
            <a:endParaRPr lang="en-US" sz="1400" dirty="0"/>
          </a:p>
        </p:txBody>
      </p:sp>
      <p:sp>
        <p:nvSpPr>
          <p:cNvPr id="29" name="Text 27"/>
          <p:cNvSpPr/>
          <p:nvPr/>
        </p:nvSpPr>
        <p:spPr>
          <a:xfrm>
            <a:off x="5385685"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Modelado y consultas · Adaptador con base de datos real · El problema de la consistencia</a:t>
            </a:r>
            <a:endParaRPr lang="en-US" sz="1050" dirty="0"/>
          </a:p>
        </p:txBody>
      </p:sp>
      <p:sp>
        <p:nvSpPr>
          <p:cNvPr id="30" name="Text 28"/>
          <p:cNvSpPr/>
          <p:nvPr/>
        </p:nvSpPr>
        <p:spPr>
          <a:xfrm>
            <a:off x="5440549" y="5971032"/>
            <a:ext cx="1310596" cy="310896"/>
          </a:xfrm>
          <a:prstGeom prst="roundRect">
            <a:avLst>
              <a:gd name="adj" fmla="val 50000"/>
            </a:avLst>
          </a:prstGeom>
          <a:solidFill>
            <a:srgbClr val="F1EEFD"/>
          </a:solidFill>
          <a:ln>
            <a:solidFill>
              <a:srgbClr val="F1EEFD"/>
            </a:solidFill>
          </a:ln>
        </p:spPr>
        <p:txBody>
          <a:bodyPr wrap="square" lIns="0" tIns="0" rIns="0" bIns="0" rtlCol="0" anchor="ctr">
            <a:normAutofit/>
          </a:bodyPr>
          <a:lstStyle/>
          <a:p>
            <a:pPr algn="ctr" indent="0" marL="0">
              <a:buNone/>
            </a:pPr>
            <a:r>
              <a:rPr lang="en-US" sz="1050" b="1" dirty="0">
                <a:solidFill>
                  <a:srgbClr val="5B3FC4"/>
                </a:solidFill>
                <a:latin typeface="Segoe UI" pitchFamily="34" charset="0"/>
                <a:ea typeface="Segoe UI" pitchFamily="34" charset="-122"/>
                <a:cs typeface="Segoe UI" pitchFamily="34" charset="-120"/>
              </a:rPr>
              <a:t>P4 · Base de datos</a:t>
            </a:r>
            <a:endParaRPr lang="en-US" sz="1050" dirty="0"/>
          </a:p>
        </p:txBody>
      </p:sp>
      <p:sp>
        <p:nvSpPr>
          <p:cNvPr id="31" name="Shape 29"/>
          <p:cNvSpPr/>
          <p:nvPr/>
        </p:nvSpPr>
        <p:spPr>
          <a:xfrm>
            <a:off x="7182416"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2" name="Icono package"/>
          <p:cNvSpPr/>
          <p:nvPr/>
        </p:nvSpPr>
        <p:spPr>
          <a:xfrm>
            <a:off x="7422446" y="2279142"/>
            <a:ext cx="480060" cy="480060"/>
          </a:xfrm>
          <a:custGeom>
            <a:avLst/>
            <a:gdLst/>
            <a:ahLst/>
            <a:cxnLst/>
            <a:rect l="l" t="t" r="r" b="b"/>
            <a:pathLst>
              <a:path w="480060" h="480060">
                <a:moveTo>
                  <a:pt x="220028" y="434654"/>
                </a:moveTo>
                <a:cubicBezTo>
                  <a:pt x="232405" y="441801"/>
                  <a:pt x="247655" y="441801"/>
                  <a:pt x="260033" y="434654"/>
                </a:cubicBezTo>
                <a:lnTo>
                  <a:pt x="400050" y="354644"/>
                </a:lnTo>
                <a:cubicBezTo>
                  <a:pt x="412415" y="347505"/>
                  <a:pt x="420038" y="334318"/>
                  <a:pt x="420053" y="320040"/>
                </a:cubicBezTo>
                <a:lnTo>
                  <a:pt x="420053" y="160020"/>
                </a:lnTo>
                <a:cubicBezTo>
                  <a:pt x="420038" y="145742"/>
                  <a:pt x="412415" y="132555"/>
                  <a:pt x="400050" y="125416"/>
                </a:cubicBezTo>
                <a:lnTo>
                  <a:pt x="260033" y="45406"/>
                </a:lnTo>
                <a:cubicBezTo>
                  <a:pt x="247655" y="38259"/>
                  <a:pt x="232405" y="38259"/>
                  <a:pt x="220028" y="45406"/>
                </a:cubicBezTo>
                <a:lnTo>
                  <a:pt x="80010" y="125416"/>
                </a:lnTo>
                <a:cubicBezTo>
                  <a:pt x="67645" y="132555"/>
                  <a:pt x="60022" y="145742"/>
                  <a:pt x="60008" y="160020"/>
                </a:cubicBezTo>
                <a:lnTo>
                  <a:pt x="60008" y="320040"/>
                </a:lnTo>
                <a:cubicBezTo>
                  <a:pt x="60022" y="334318"/>
                  <a:pt x="67645" y="347505"/>
                  <a:pt x="80010" y="354644"/>
                </a:cubicBezTo>
                <a:close/>
                <a:moveTo>
                  <a:pt x="240030" y="440055"/>
                </a:moveTo>
                <a:lnTo>
                  <a:pt x="240030" y="240030"/>
                </a:lnTo>
                <a:moveTo>
                  <a:pt x="66008" y="140018"/>
                </a:moveTo>
                <a:lnTo>
                  <a:pt x="220088" y="234709"/>
                </a:lnTo>
                <a:cubicBezTo>
                  <a:pt x="232435" y="241809"/>
                  <a:pt x="247625" y="241809"/>
                  <a:pt x="259972" y="234709"/>
                </a:cubicBezTo>
                <a:lnTo>
                  <a:pt x="414052" y="140018"/>
                </a:lnTo>
                <a:moveTo>
                  <a:pt x="150019" y="85411"/>
                </a:moveTo>
                <a:lnTo>
                  <a:pt x="330041" y="188424"/>
                </a:lnTo>
              </a:path>
            </a:pathLst>
          </a:custGeom>
          <a:noFill/>
          <a:ln w="40005" cap="rnd">
            <a:solidFill>
              <a:srgbClr val="FFFFFF"/>
            </a:solidFill>
            <a:prstDash val="solid"/>
            <a:round/>
          </a:ln>
        </p:spPr>
      </p:sp>
      <p:sp>
        <p:nvSpPr>
          <p:cNvPr id="33" name="Text 31"/>
          <p:cNvSpPr/>
          <p:nvPr/>
        </p:nvSpPr>
        <p:spPr>
          <a:xfrm>
            <a:off x="7835298"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5</a:t>
            </a:r>
            <a:endParaRPr lang="en-US" sz="1200" dirty="0"/>
          </a:p>
        </p:txBody>
      </p:sp>
      <p:sp>
        <p:nvSpPr>
          <p:cNvPr id="34" name="Text 32"/>
          <p:cNvSpPr/>
          <p:nvPr/>
        </p:nvSpPr>
        <p:spPr>
          <a:xfrm>
            <a:off x="6934026"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Empaquetar y entregar</a:t>
            </a:r>
            <a:endParaRPr lang="en-US" sz="1400" dirty="0"/>
          </a:p>
        </p:txBody>
      </p:sp>
      <p:sp>
        <p:nvSpPr>
          <p:cNvPr id="35" name="Text 33"/>
          <p:cNvSpPr/>
          <p:nvPr/>
        </p:nvSpPr>
        <p:spPr>
          <a:xfrm>
            <a:off x="6952314"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Docker y Dockerfile · Docker Compose · Integración y entrega continua</a:t>
            </a:r>
            <a:endParaRPr lang="en-US" sz="1050" dirty="0"/>
          </a:p>
        </p:txBody>
      </p:sp>
      <p:sp>
        <p:nvSpPr>
          <p:cNvPr id="36" name="Text 34"/>
          <p:cNvSpPr/>
          <p:nvPr/>
        </p:nvSpPr>
        <p:spPr>
          <a:xfrm>
            <a:off x="7007178" y="5971032"/>
            <a:ext cx="1310596" cy="310896"/>
          </a:xfrm>
          <a:prstGeom prst="roundRect">
            <a:avLst>
              <a:gd name="adj" fmla="val 50000"/>
            </a:avLst>
          </a:prstGeom>
          <a:solidFill>
            <a:srgbClr val="E1F1EA"/>
          </a:solidFill>
          <a:ln>
            <a:solidFill>
              <a:srgbClr val="E1F1EA"/>
            </a:solidFill>
          </a:ln>
        </p:spPr>
        <p:txBody>
          <a:bodyPr wrap="square" lIns="0" tIns="0" rIns="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P5 · DevOps</a:t>
            </a:r>
            <a:endParaRPr lang="en-US" sz="1050" dirty="0"/>
          </a:p>
        </p:txBody>
      </p:sp>
      <p:sp>
        <p:nvSpPr>
          <p:cNvPr id="37" name="Shape 35"/>
          <p:cNvSpPr/>
          <p:nvPr/>
        </p:nvSpPr>
        <p:spPr>
          <a:xfrm>
            <a:off x="8749045"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Icono ship-wheel"/>
          <p:cNvSpPr/>
          <p:nvPr/>
        </p:nvSpPr>
        <p:spPr>
          <a:xfrm>
            <a:off x="8989075" y="2279142"/>
            <a:ext cx="480060" cy="480060"/>
          </a:xfrm>
          <a:custGeom>
            <a:avLst/>
            <a:gdLst/>
            <a:ahLst/>
            <a:cxnLst/>
            <a:rect l="l" t="t" r="r" b="b"/>
            <a:pathLst>
              <a:path w="480060" h="480060">
                <a:moveTo>
                  <a:pt x="400050" y="240030"/>
                </a:moveTo>
                <a:cubicBezTo>
                  <a:pt x="400050" y="328407"/>
                  <a:pt x="328407" y="400050"/>
                  <a:pt x="240030" y="400050"/>
                </a:cubicBezTo>
                <a:cubicBezTo>
                  <a:pt x="151653" y="400050"/>
                  <a:pt x="80010" y="328407"/>
                  <a:pt x="80010" y="240030"/>
                </a:cubicBezTo>
                <a:cubicBezTo>
                  <a:pt x="80010" y="151653"/>
                  <a:pt x="151653" y="80010"/>
                  <a:pt x="240030" y="80010"/>
                </a:cubicBezTo>
                <a:cubicBezTo>
                  <a:pt x="328407" y="80010"/>
                  <a:pt x="400050" y="151653"/>
                  <a:pt x="400050" y="240030"/>
                </a:cubicBezTo>
                <a:close/>
                <a:moveTo>
                  <a:pt x="240030" y="40005"/>
                </a:moveTo>
                <a:lnTo>
                  <a:pt x="240030" y="190024"/>
                </a:lnTo>
                <a:moveTo>
                  <a:pt x="380048" y="100013"/>
                </a:moveTo>
                <a:lnTo>
                  <a:pt x="275434" y="204626"/>
                </a:lnTo>
                <a:moveTo>
                  <a:pt x="440055" y="240030"/>
                </a:moveTo>
                <a:lnTo>
                  <a:pt x="290036" y="240030"/>
                </a:lnTo>
                <a:moveTo>
                  <a:pt x="380048" y="380048"/>
                </a:moveTo>
                <a:lnTo>
                  <a:pt x="275434" y="275434"/>
                </a:lnTo>
                <a:moveTo>
                  <a:pt x="240030" y="290036"/>
                </a:moveTo>
                <a:lnTo>
                  <a:pt x="240030" y="440055"/>
                </a:lnTo>
                <a:moveTo>
                  <a:pt x="204626" y="275434"/>
                </a:moveTo>
                <a:lnTo>
                  <a:pt x="100013" y="380048"/>
                </a:lnTo>
                <a:moveTo>
                  <a:pt x="190024" y="240030"/>
                </a:moveTo>
                <a:lnTo>
                  <a:pt x="40005" y="240030"/>
                </a:lnTo>
                <a:moveTo>
                  <a:pt x="204626" y="204626"/>
                </a:moveTo>
                <a:lnTo>
                  <a:pt x="100013" y="100013"/>
                </a:lnTo>
                <a:moveTo>
                  <a:pt x="290036" y="240030"/>
                </a:moveTo>
                <a:cubicBezTo>
                  <a:pt x="290036" y="267648"/>
                  <a:pt x="267648" y="290036"/>
                  <a:pt x="240030" y="290036"/>
                </a:cubicBezTo>
                <a:cubicBezTo>
                  <a:pt x="212412" y="290036"/>
                  <a:pt x="190024" y="267648"/>
                  <a:pt x="190024" y="240030"/>
                </a:cubicBezTo>
                <a:cubicBezTo>
                  <a:pt x="190024" y="212412"/>
                  <a:pt x="212412" y="190024"/>
                  <a:pt x="240030" y="190024"/>
                </a:cubicBezTo>
                <a:cubicBezTo>
                  <a:pt x="267648" y="190024"/>
                  <a:pt x="290036" y="212412"/>
                  <a:pt x="290036" y="240030"/>
                </a:cubicBezTo>
                <a:close/>
              </a:path>
            </a:pathLst>
          </a:custGeom>
          <a:noFill/>
          <a:ln w="40005" cap="rnd">
            <a:solidFill>
              <a:srgbClr val="FFFFFF"/>
            </a:solidFill>
            <a:prstDash val="solid"/>
            <a:round/>
          </a:ln>
        </p:spPr>
      </p:sp>
      <p:sp>
        <p:nvSpPr>
          <p:cNvPr id="39" name="Text 37"/>
          <p:cNvSpPr/>
          <p:nvPr/>
        </p:nvSpPr>
        <p:spPr>
          <a:xfrm>
            <a:off x="9401926"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6</a:t>
            </a:r>
            <a:endParaRPr lang="en-US" sz="1200" dirty="0"/>
          </a:p>
        </p:txBody>
      </p:sp>
      <p:sp>
        <p:nvSpPr>
          <p:cNvPr id="40" name="Text 38"/>
          <p:cNvSpPr/>
          <p:nvPr/>
        </p:nvSpPr>
        <p:spPr>
          <a:xfrm>
            <a:off x="8500654"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Desplegar y operar</a:t>
            </a:r>
            <a:endParaRPr lang="en-US" sz="1400" dirty="0"/>
          </a:p>
        </p:txBody>
      </p:sp>
      <p:sp>
        <p:nvSpPr>
          <p:cNvPr id="41" name="Text 39"/>
          <p:cNvSpPr/>
          <p:nvPr/>
        </p:nvSpPr>
        <p:spPr>
          <a:xfrm>
            <a:off x="8518942"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Fundamentos de Kubernetes · Del contenedor al clúster · Puesta a punto</a:t>
            </a:r>
            <a:endParaRPr lang="en-US" sz="1050" dirty="0"/>
          </a:p>
        </p:txBody>
      </p:sp>
      <p:sp>
        <p:nvSpPr>
          <p:cNvPr id="42" name="Text 40"/>
          <p:cNvSpPr/>
          <p:nvPr/>
        </p:nvSpPr>
        <p:spPr>
          <a:xfrm>
            <a:off x="8573806" y="5971032"/>
            <a:ext cx="1310596" cy="310896"/>
          </a:xfrm>
          <a:prstGeom prst="roundRect">
            <a:avLst>
              <a:gd name="adj" fmla="val 50000"/>
            </a:avLst>
          </a:prstGeom>
          <a:solidFill>
            <a:srgbClr val="E1F1EA"/>
          </a:solidFill>
          <a:ln>
            <a:solidFill>
              <a:srgbClr val="E1F1EA"/>
            </a:solidFill>
          </a:ln>
        </p:spPr>
        <p:txBody>
          <a:bodyPr wrap="square" lIns="0" tIns="0" rIns="0" bIns="0" rtlCol="0" anchor="ctr">
            <a:normAutofit/>
          </a:bodyPr>
          <a:lstStyle/>
          <a:p>
            <a:pPr algn="ctr" indent="0" marL="0">
              <a:buNone/>
            </a:pPr>
            <a:r>
              <a:rPr lang="en-US" sz="1050" b="1" dirty="0">
                <a:solidFill>
                  <a:srgbClr val="0A6648"/>
                </a:solidFill>
                <a:latin typeface="Segoe UI" pitchFamily="34" charset="0"/>
                <a:ea typeface="Segoe UI" pitchFamily="34" charset="-122"/>
                <a:cs typeface="Segoe UI" pitchFamily="34" charset="-120"/>
              </a:rPr>
              <a:t>P6 · DevOps</a:t>
            </a:r>
            <a:endParaRPr lang="en-US" sz="1050" dirty="0"/>
          </a:p>
        </p:txBody>
      </p:sp>
      <p:sp>
        <p:nvSpPr>
          <p:cNvPr id="43" name="Shape 41"/>
          <p:cNvSpPr/>
          <p:nvPr/>
        </p:nvSpPr>
        <p:spPr>
          <a:xfrm>
            <a:off x="10315673" y="2039112"/>
            <a:ext cx="960120" cy="960120"/>
          </a:xfrm>
          <a:prstGeom prst="ellipse">
            <a:avLst/>
          </a:prstGeom>
          <a:solidFill>
            <a:srgbClr val="0B2350"/>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4" name="Icono monitor"/>
          <p:cNvSpPr/>
          <p:nvPr/>
        </p:nvSpPr>
        <p:spPr>
          <a:xfrm>
            <a:off x="10555703" y="2279142"/>
            <a:ext cx="480060" cy="480060"/>
          </a:xfrm>
          <a:custGeom>
            <a:avLst/>
            <a:gdLst/>
            <a:ahLst/>
            <a:cxnLst/>
            <a:rect l="l" t="t" r="r" b="b"/>
            <a:pathLst>
              <a:path w="480060" h="480060">
                <a:moveTo>
                  <a:pt x="80010" y="60008"/>
                </a:moveTo>
                <a:lnTo>
                  <a:pt x="400050" y="60008"/>
                </a:lnTo>
                <a:cubicBezTo>
                  <a:pt x="422144" y="60008"/>
                  <a:pt x="440055" y="77918"/>
                  <a:pt x="440055" y="100013"/>
                </a:cubicBezTo>
                <a:lnTo>
                  <a:pt x="440055" y="300038"/>
                </a:lnTo>
                <a:cubicBezTo>
                  <a:pt x="440055" y="322132"/>
                  <a:pt x="422144" y="340043"/>
                  <a:pt x="400050" y="340043"/>
                </a:cubicBezTo>
                <a:lnTo>
                  <a:pt x="80010" y="340043"/>
                </a:lnTo>
                <a:cubicBezTo>
                  <a:pt x="57916" y="340043"/>
                  <a:pt x="40005" y="322132"/>
                  <a:pt x="40005" y="300038"/>
                </a:cubicBezTo>
                <a:lnTo>
                  <a:pt x="40005" y="100013"/>
                </a:lnTo>
                <a:cubicBezTo>
                  <a:pt x="40005" y="77918"/>
                  <a:pt x="57916" y="60008"/>
                  <a:pt x="80010" y="60008"/>
                </a:cubicBezTo>
                <a:close/>
                <a:moveTo>
                  <a:pt x="160020" y="420053"/>
                </a:moveTo>
                <a:lnTo>
                  <a:pt x="320040" y="420053"/>
                </a:lnTo>
                <a:moveTo>
                  <a:pt x="240030" y="340043"/>
                </a:moveTo>
                <a:lnTo>
                  <a:pt x="240030" y="420053"/>
                </a:lnTo>
              </a:path>
            </a:pathLst>
          </a:custGeom>
          <a:noFill/>
          <a:ln w="40005" cap="rnd">
            <a:solidFill>
              <a:srgbClr val="FFFFFF"/>
            </a:solidFill>
            <a:prstDash val="solid"/>
            <a:round/>
          </a:ln>
        </p:spPr>
      </p:sp>
      <p:sp>
        <p:nvSpPr>
          <p:cNvPr id="45" name="Text 43"/>
          <p:cNvSpPr/>
          <p:nvPr/>
        </p:nvSpPr>
        <p:spPr>
          <a:xfrm>
            <a:off x="10968555" y="1965960"/>
            <a:ext cx="329184" cy="329184"/>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7</a:t>
            </a:r>
            <a:endParaRPr lang="en-US" sz="1200" dirty="0"/>
          </a:p>
        </p:txBody>
      </p:sp>
      <p:sp>
        <p:nvSpPr>
          <p:cNvPr id="46" name="Text 44"/>
          <p:cNvSpPr/>
          <p:nvPr/>
        </p:nvSpPr>
        <p:spPr>
          <a:xfrm>
            <a:off x="10067283" y="3163824"/>
            <a:ext cx="1456900"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Ensamblaje: la UI</a:t>
            </a:r>
            <a:endParaRPr lang="en-US" sz="1400" dirty="0"/>
          </a:p>
        </p:txBody>
      </p:sp>
      <p:sp>
        <p:nvSpPr>
          <p:cNvPr id="47" name="Text 45"/>
          <p:cNvSpPr/>
          <p:nvPr/>
        </p:nvSpPr>
        <p:spPr>
          <a:xfrm>
            <a:off x="10085571" y="3749040"/>
            <a:ext cx="1420324" cy="96012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Ensamblaje del sistema · Puesta a punto</a:t>
            </a:r>
            <a:endParaRPr lang="en-US" sz="1050" dirty="0"/>
          </a:p>
        </p:txBody>
      </p:sp>
      <p:sp>
        <p:nvSpPr>
          <p:cNvPr id="48" name="Text 46"/>
          <p:cNvSpPr/>
          <p:nvPr/>
        </p:nvSpPr>
        <p:spPr>
          <a:xfrm>
            <a:off x="10140435" y="5971032"/>
            <a:ext cx="1310596" cy="310896"/>
          </a:xfrm>
          <a:prstGeom prst="roundRect">
            <a:avLst>
              <a:gd name="adj" fmla="val 50000"/>
            </a:avLst>
          </a:prstGeom>
          <a:solidFill>
            <a:srgbClr val="EAF0FA"/>
          </a:solidFill>
          <a:ln>
            <a:solidFill>
              <a:srgbClr val="EAF0FA"/>
            </a:solidFill>
          </a:ln>
        </p:spPr>
        <p:txBody>
          <a:bodyPr wrap="square" lIns="0" tIns="0" rIns="0" bIns="0" rtlCol="0" anchor="ctr">
            <a:normAutofit/>
          </a:bodyPr>
          <a:lstStyle/>
          <a:p>
            <a:pPr algn="ctr" indent="0" marL="0">
              <a:buNone/>
            </a:pPr>
            <a:r>
              <a:rPr lang="en-US" sz="1050" b="1" dirty="0">
                <a:solidFill>
                  <a:srgbClr val="1F4E8C"/>
                </a:solidFill>
                <a:latin typeface="Segoe UI" pitchFamily="34" charset="0"/>
                <a:ea typeface="Segoe UI" pitchFamily="34" charset="-122"/>
                <a:cs typeface="Segoe UI" pitchFamily="34" charset="-120"/>
              </a:rPr>
              <a:t>P7 · Desarrollo</a:t>
            </a:r>
            <a:endParaRPr lang="en-US" sz="10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map"/>
          <p:cNvSpPr/>
          <p:nvPr/>
        </p:nvSpPr>
        <p:spPr>
          <a:xfrm>
            <a:off x="9098280" y="1783080"/>
            <a:ext cx="1371600" cy="1371600"/>
          </a:xfrm>
          <a:custGeom>
            <a:avLst/>
            <a:gdLst/>
            <a:ahLst/>
            <a:cxnLst/>
            <a:rect l="l" t="t" r="r" b="b"/>
            <a:pathLst>
              <a:path w="1371600" h="1371600">
                <a:moveTo>
                  <a:pt x="806158" y="317354"/>
                </a:moveTo>
                <a:cubicBezTo>
                  <a:pt x="838323" y="333427"/>
                  <a:pt x="876177" y="333427"/>
                  <a:pt x="908342" y="317354"/>
                </a:cubicBezTo>
                <a:lnTo>
                  <a:pt x="1117454" y="212769"/>
                </a:lnTo>
                <a:cubicBezTo>
                  <a:pt x="1135183" y="203910"/>
                  <a:pt x="1156236" y="204869"/>
                  <a:pt x="1173087" y="215303"/>
                </a:cubicBezTo>
                <a:cubicBezTo>
                  <a:pt x="1189938" y="225737"/>
                  <a:pt x="1200179" y="244156"/>
                  <a:pt x="1200150" y="263976"/>
                </a:cubicBezTo>
                <a:lnTo>
                  <a:pt x="1200150" y="993438"/>
                </a:lnTo>
                <a:cubicBezTo>
                  <a:pt x="1200138" y="1015079"/>
                  <a:pt x="1187904" y="1034857"/>
                  <a:pt x="1168546" y="1044531"/>
                </a:cubicBezTo>
                <a:lnTo>
                  <a:pt x="908342" y="1174661"/>
                </a:lnTo>
                <a:cubicBezTo>
                  <a:pt x="876177" y="1190734"/>
                  <a:pt x="838323" y="1190734"/>
                  <a:pt x="806158" y="1174661"/>
                </a:cubicBezTo>
                <a:lnTo>
                  <a:pt x="565442" y="1054303"/>
                </a:lnTo>
                <a:cubicBezTo>
                  <a:pt x="533277" y="1038230"/>
                  <a:pt x="495423" y="1038230"/>
                  <a:pt x="463258" y="1054303"/>
                </a:cubicBezTo>
                <a:lnTo>
                  <a:pt x="254146" y="1158888"/>
                </a:lnTo>
                <a:cubicBezTo>
                  <a:pt x="236408" y="1167752"/>
                  <a:pt x="215343" y="1166787"/>
                  <a:pt x="198489" y="1156339"/>
                </a:cubicBezTo>
                <a:cubicBezTo>
                  <a:pt x="181635" y="1145891"/>
                  <a:pt x="171401" y="1127454"/>
                  <a:pt x="171450" y="1107624"/>
                </a:cubicBezTo>
                <a:lnTo>
                  <a:pt x="171450" y="378219"/>
                </a:lnTo>
                <a:cubicBezTo>
                  <a:pt x="171462" y="356578"/>
                  <a:pt x="183696" y="336800"/>
                  <a:pt x="203054" y="327127"/>
                </a:cubicBezTo>
                <a:lnTo>
                  <a:pt x="463258" y="196996"/>
                </a:lnTo>
                <a:cubicBezTo>
                  <a:pt x="495423" y="180923"/>
                  <a:pt x="533277" y="180923"/>
                  <a:pt x="565442" y="196996"/>
                </a:cubicBezTo>
                <a:close/>
                <a:moveTo>
                  <a:pt x="857250" y="329413"/>
                </a:moveTo>
                <a:lnTo>
                  <a:pt x="857250" y="1186663"/>
                </a:lnTo>
                <a:moveTo>
                  <a:pt x="514350" y="184937"/>
                </a:moveTo>
                <a:lnTo>
                  <a:pt x="514350" y="1042187"/>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1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374B70"/>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374B70"/>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374B70"/>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01</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El sistema por fuera</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Qué piezas tiene ARKA-Lite, dónde corren y cómo se hablan.</a:t>
            </a:r>
            <a:endParaRPr lang="en-US" sz="1900" dirty="0"/>
          </a:p>
        </p:txBody>
      </p:sp>
      <p:sp>
        <p:nvSpPr>
          <p:cNvPr id="16" name="Text 14"/>
          <p:cNvSpPr/>
          <p:nvPr/>
        </p:nvSpPr>
        <p:spPr>
          <a:xfrm>
            <a:off x="758952"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Visión general</a:t>
            </a:r>
            <a:endParaRPr lang="en-US" sz="1300" dirty="0"/>
          </a:p>
        </p:txBody>
      </p:sp>
      <p:sp>
        <p:nvSpPr>
          <p:cNvPr id="17" name="Text 15"/>
          <p:cNvSpPr/>
          <p:nvPr/>
        </p:nvSpPr>
        <p:spPr>
          <a:xfrm>
            <a:off x="2688336" y="4663440"/>
            <a:ext cx="160934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Arquitectura</a:t>
            </a:r>
            <a:endParaRPr lang="en-US" sz="1300" dirty="0"/>
          </a:p>
        </p:txBody>
      </p:sp>
      <p:sp>
        <p:nvSpPr>
          <p:cNvPr id="18" name="Text 16"/>
          <p:cNvSpPr/>
          <p:nvPr/>
        </p:nvSpPr>
        <p:spPr>
          <a:xfrm>
            <a:off x="4425696"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Microservicios</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P1</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1 · Desarrollo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es la puerta de entrada</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tiene su propia base</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avisa a notificaciones con un evento</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Todo se comunica por HTTP</a:t>
            </a:r>
            <a:endParaRPr lang="en-US" sz="1100" dirty="0"/>
          </a:p>
        </p:txBody>
      </p:sp>
      <p:sp>
        <p:nvSpPr>
          <p:cNvPr id="9" name="Shape 7"/>
          <p:cNvSpPr/>
          <p:nvPr/>
        </p:nvSpPr>
        <p:spPr>
          <a:xfrm>
            <a:off x="5552694" y="2172614"/>
            <a:ext cx="5612587" cy="1357884"/>
          </a:xfrm>
          <a:prstGeom prst="roundRect">
            <a:avLst>
              <a:gd name="adj" fmla="val 8081"/>
            </a:avLst>
          </a:prstGeom>
          <a:solidFill>
            <a:srgbClr val="EAF0FA"/>
          </a:solidFill>
          <a:ln w="12700">
            <a:solidFill>
              <a:srgbClr val="AFC4E6"/>
            </a:solidFill>
            <a:prstDash val="solid"/>
          </a:ln>
        </p:spPr>
      </p:sp>
      <p:sp>
        <p:nvSpPr>
          <p:cNvPr id="10" name="Text 8"/>
          <p:cNvSpPr/>
          <p:nvPr/>
        </p:nvSpPr>
        <p:spPr>
          <a:xfrm>
            <a:off x="5625846" y="2227478"/>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11" name="Shape 9"/>
          <p:cNvSpPr/>
          <p:nvPr/>
        </p:nvSpPr>
        <p:spPr>
          <a:xfrm>
            <a:off x="5552694" y="4707331"/>
            <a:ext cx="5612587" cy="1357884"/>
          </a:xfrm>
          <a:prstGeom prst="roundRect">
            <a:avLst>
              <a:gd name="adj" fmla="val 8081"/>
            </a:avLst>
          </a:prstGeom>
          <a:solidFill>
            <a:srgbClr val="E5F5FA"/>
          </a:solidFill>
          <a:ln w="12700">
            <a:solidFill>
              <a:srgbClr val="9DD7E8"/>
            </a:solidFill>
            <a:prstDash val="solid"/>
          </a:ln>
        </p:spPr>
      </p:sp>
      <p:sp>
        <p:nvSpPr>
          <p:cNvPr id="12" name="Text 10"/>
          <p:cNvSpPr/>
          <p:nvPr/>
        </p:nvSpPr>
        <p:spPr>
          <a:xfrm>
            <a:off x="5625846" y="476219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13" name="Shape 11"/>
          <p:cNvSpPr/>
          <p:nvPr/>
        </p:nvSpPr>
        <p:spPr>
          <a:xfrm>
            <a:off x="2384298" y="4073652"/>
            <a:ext cx="543154" cy="0"/>
          </a:xfrm>
          <a:prstGeom prst="line">
            <a:avLst/>
          </a:prstGeom>
          <a:noFill/>
          <a:ln w="31750">
            <a:solidFill>
              <a:srgbClr val="2E6DB4"/>
            </a:solidFill>
            <a:prstDash val="solid"/>
            <a:tailEnd type="triangle"/>
          </a:ln>
        </p:spPr>
      </p:sp>
      <p:sp>
        <p:nvSpPr>
          <p:cNvPr id="14" name="Text 12"/>
          <p:cNvSpPr/>
          <p:nvPr/>
        </p:nvSpPr>
        <p:spPr>
          <a:xfrm>
            <a:off x="2459736" y="3836731"/>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clic</a:t>
            </a:r>
            <a:endParaRPr lang="en-US" sz="850" dirty="0"/>
          </a:p>
        </p:txBody>
      </p:sp>
      <p:sp>
        <p:nvSpPr>
          <p:cNvPr id="15" name="Text 13"/>
          <p:cNvSpPr/>
          <p:nvPr/>
        </p:nvSpPr>
        <p:spPr>
          <a:xfrm>
            <a:off x="2491831" y="39639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737964" y="3892601"/>
            <a:ext cx="1719986" cy="0"/>
          </a:xfrm>
          <a:prstGeom prst="line">
            <a:avLst/>
          </a:prstGeom>
          <a:noFill/>
          <a:ln w="31750">
            <a:solidFill>
              <a:srgbClr val="2E6DB4"/>
            </a:solidFill>
            <a:prstDash val="solid"/>
          </a:ln>
        </p:spPr>
      </p:sp>
      <p:sp>
        <p:nvSpPr>
          <p:cNvPr id="17" name="Shape 15"/>
          <p:cNvSpPr/>
          <p:nvPr/>
        </p:nvSpPr>
        <p:spPr>
          <a:xfrm flipV="1">
            <a:off x="6457950" y="3222711"/>
            <a:ext cx="0" cy="669889"/>
          </a:xfrm>
          <a:prstGeom prst="line">
            <a:avLst/>
          </a:prstGeom>
          <a:noFill/>
          <a:ln w="31750">
            <a:solidFill>
              <a:srgbClr val="2E6DB4"/>
            </a:solidFill>
            <a:prstDash val="solid"/>
            <a:tailEnd type="triangle"/>
          </a:ln>
        </p:spPr>
      </p:sp>
      <p:sp>
        <p:nvSpPr>
          <p:cNvPr id="18" name="Text 16"/>
          <p:cNvSpPr/>
          <p:nvPr/>
        </p:nvSpPr>
        <p:spPr>
          <a:xfrm>
            <a:off x="5005426" y="3655680"/>
            <a:ext cx="1185062"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/api/solicitudes</a:t>
            </a:r>
            <a:endParaRPr lang="en-US" sz="850" dirty="0"/>
          </a:p>
        </p:txBody>
      </p:sp>
      <p:sp>
        <p:nvSpPr>
          <p:cNvPr id="19" name="Text 17"/>
          <p:cNvSpPr/>
          <p:nvPr/>
        </p:nvSpPr>
        <p:spPr>
          <a:xfrm>
            <a:off x="4845497" y="378287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0" name="Shape 18"/>
          <p:cNvSpPr/>
          <p:nvPr/>
        </p:nvSpPr>
        <p:spPr>
          <a:xfrm>
            <a:off x="8087411" y="2878714"/>
            <a:ext cx="724205" cy="0"/>
          </a:xfrm>
          <a:prstGeom prst="line">
            <a:avLst/>
          </a:prstGeom>
          <a:noFill/>
          <a:ln w="31750">
            <a:solidFill>
              <a:srgbClr val="55627E"/>
            </a:solidFill>
            <a:prstDash val="sysDot"/>
            <a:tailEnd type="triangle"/>
          </a:ln>
        </p:spPr>
      </p:sp>
      <p:sp>
        <p:nvSpPr>
          <p:cNvPr id="21" name="Text 19"/>
          <p:cNvSpPr/>
          <p:nvPr/>
        </p:nvSpPr>
        <p:spPr>
          <a:xfrm>
            <a:off x="8286407" y="264179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2" name="Text 20"/>
          <p:cNvSpPr/>
          <p:nvPr/>
        </p:nvSpPr>
        <p:spPr>
          <a:xfrm>
            <a:off x="8194944" y="276898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Shape 21"/>
          <p:cNvSpPr/>
          <p:nvPr/>
        </p:nvSpPr>
        <p:spPr>
          <a:xfrm>
            <a:off x="7544257" y="3222711"/>
            <a:ext cx="0" cy="1846722"/>
          </a:xfrm>
          <a:prstGeom prst="line">
            <a:avLst/>
          </a:prstGeom>
          <a:noFill/>
          <a:ln w="25400">
            <a:solidFill>
              <a:srgbClr val="55627E"/>
            </a:solidFill>
            <a:prstDash val="dash"/>
            <a:tailEnd type="triangle"/>
          </a:ln>
        </p:spPr>
      </p:sp>
      <p:sp>
        <p:nvSpPr>
          <p:cNvPr id="24" name="Text 22"/>
          <p:cNvSpPr/>
          <p:nvPr/>
        </p:nvSpPr>
        <p:spPr>
          <a:xfrm>
            <a:off x="7634783" y="4026835"/>
            <a:ext cx="986866"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evento · HTTP</a:t>
            </a:r>
            <a:endParaRPr lang="en-US" sz="850" dirty="0"/>
          </a:p>
        </p:txBody>
      </p:sp>
      <p:sp>
        <p:nvSpPr>
          <p:cNvPr id="25" name="Text 23"/>
          <p:cNvSpPr/>
          <p:nvPr/>
        </p:nvSpPr>
        <p:spPr>
          <a:xfrm>
            <a:off x="7434529" y="33302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6" name="Shape 24"/>
          <p:cNvSpPr/>
          <p:nvPr/>
        </p:nvSpPr>
        <p:spPr>
          <a:xfrm>
            <a:off x="8087411" y="5413431"/>
            <a:ext cx="724205" cy="0"/>
          </a:xfrm>
          <a:prstGeom prst="line">
            <a:avLst/>
          </a:prstGeom>
          <a:noFill/>
          <a:ln w="31750">
            <a:solidFill>
              <a:srgbClr val="55627E"/>
            </a:solidFill>
            <a:prstDash val="sysDot"/>
            <a:tailEnd type="triangle"/>
          </a:ln>
        </p:spPr>
      </p:sp>
      <p:sp>
        <p:nvSpPr>
          <p:cNvPr id="27" name="Text 25"/>
          <p:cNvSpPr/>
          <p:nvPr/>
        </p:nvSpPr>
        <p:spPr>
          <a:xfrm>
            <a:off x="8286407" y="5176510"/>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8" name="Text 26"/>
          <p:cNvSpPr/>
          <p:nvPr/>
        </p:nvSpPr>
        <p:spPr>
          <a:xfrm>
            <a:off x="8194944" y="530370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9" name="Shape 27"/>
          <p:cNvSpPr/>
          <p:nvPr/>
        </p:nvSpPr>
        <p:spPr>
          <a:xfrm>
            <a:off x="4737964" y="4254703"/>
            <a:ext cx="1719986" cy="0"/>
          </a:xfrm>
          <a:prstGeom prst="line">
            <a:avLst/>
          </a:prstGeom>
          <a:noFill/>
          <a:ln w="31750">
            <a:solidFill>
              <a:srgbClr val="2E6DB4"/>
            </a:solidFill>
            <a:prstDash val="solid"/>
          </a:ln>
        </p:spPr>
      </p:sp>
      <p:sp>
        <p:nvSpPr>
          <p:cNvPr id="30" name="Shape 28"/>
          <p:cNvSpPr/>
          <p:nvPr/>
        </p:nvSpPr>
        <p:spPr>
          <a:xfrm>
            <a:off x="6457950" y="4254703"/>
            <a:ext cx="0" cy="814730"/>
          </a:xfrm>
          <a:prstGeom prst="line">
            <a:avLst/>
          </a:prstGeom>
          <a:noFill/>
          <a:ln w="31750">
            <a:solidFill>
              <a:srgbClr val="2E6DB4"/>
            </a:solidFill>
            <a:prstDash val="solid"/>
            <a:tailEnd type="triangle"/>
          </a:ln>
        </p:spPr>
      </p:sp>
      <p:sp>
        <p:nvSpPr>
          <p:cNvPr id="31" name="Text 29"/>
          <p:cNvSpPr/>
          <p:nvPr/>
        </p:nvSpPr>
        <p:spPr>
          <a:xfrm>
            <a:off x="4906328" y="4271254"/>
            <a:ext cx="138325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/api/notificaciones</a:t>
            </a:r>
            <a:endParaRPr lang="en-US" sz="850" dirty="0"/>
          </a:p>
        </p:txBody>
      </p:sp>
      <p:sp>
        <p:nvSpPr>
          <p:cNvPr id="32" name="Text 30"/>
          <p:cNvSpPr/>
          <p:nvPr/>
        </p:nvSpPr>
        <p:spPr>
          <a:xfrm>
            <a:off x="4845497" y="414497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3" name="Shape 31"/>
          <p:cNvSpPr/>
          <p:nvPr/>
        </p:nvSpPr>
        <p:spPr>
          <a:xfrm>
            <a:off x="1026414" y="3729655"/>
            <a:ext cx="1357884" cy="687995"/>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1246572" y="3863340"/>
            <a:ext cx="420624" cy="420624"/>
          </a:xfrm>
          <a:prstGeom prst="ellipse">
            <a:avLst/>
          </a:prstGeom>
          <a:solidFill>
            <a:srgbClr val="E2E5EA"/>
          </a:solidFill>
          <a:ln w="12700">
            <a:solidFill>
              <a:srgbClr val="E2E5EA"/>
            </a:solidFill>
            <a:prstDash val="solid"/>
          </a:ln>
        </p:spPr>
      </p:sp>
      <p:sp>
        <p:nvSpPr>
          <p:cNvPr id="35" name="Icono user"/>
          <p:cNvSpPr/>
          <p:nvPr/>
        </p:nvSpPr>
        <p:spPr>
          <a:xfrm>
            <a:off x="1301436" y="3918204"/>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6" name="Text 34"/>
          <p:cNvSpPr/>
          <p:nvPr/>
        </p:nvSpPr>
        <p:spPr>
          <a:xfrm>
            <a:off x="1722060" y="3729655"/>
            <a:ext cx="607374" cy="687995"/>
          </a:xfrm>
          <a:prstGeom prst="rect">
            <a:avLst/>
          </a:prstGeom>
          <a:noFill/>
          <a:ln/>
        </p:spPr>
        <p:txBody>
          <a:bodyPr wrap="square" lIns="12700" tIns="25400" rIns="25400" bIns="12700" rtlCol="0" anchor="ctr">
            <a:normAutofit/>
          </a:bodyPr>
          <a:lstStyle/>
          <a:p>
            <a:pPr algn="l" indent="0" marL="0">
              <a:lnSpc>
                <a:spcPct val="95000"/>
              </a:lnSpc>
              <a:buNone/>
            </a:pPr>
            <a:r>
              <a:rPr lang="en-US" sz="1026" b="1" dirty="0">
                <a:solidFill>
                  <a:srgbClr val="0B1A3C"/>
                </a:solidFill>
                <a:latin typeface="Segoe UI" pitchFamily="34" charset="0"/>
                <a:ea typeface="Segoe UI" pitchFamily="34" charset="-122"/>
                <a:cs typeface="Segoe UI" pitchFamily="34" charset="-120"/>
              </a:rPr>
              <a:t>Persona</a:t>
            </a:r>
            <a:endParaRPr lang="en-US" sz="1026" dirty="0"/>
          </a:p>
          <a:p>
            <a:pPr algn="l" indent="0" marL="0">
              <a:lnSpc>
                <a:spcPct val="95000"/>
              </a:lnSpc>
              <a:buNone/>
            </a:pPr>
            <a:r>
              <a:rPr lang="en-US" sz="821" dirty="0">
                <a:solidFill>
                  <a:srgbClr val="55627E"/>
                </a:solidFill>
                <a:latin typeface="Segoe UI" pitchFamily="34" charset="0"/>
                <a:ea typeface="Segoe UI" pitchFamily="34" charset="-122"/>
                <a:cs typeface="Segoe UI" pitchFamily="34" charset="-120"/>
              </a:rPr>
              <a:t>usa el navegador</a:t>
            </a:r>
            <a:endParaRPr lang="en-US" sz="1026" dirty="0"/>
          </a:p>
        </p:txBody>
      </p:sp>
      <p:sp>
        <p:nvSpPr>
          <p:cNvPr id="37" name="Shape 35"/>
          <p:cNvSpPr/>
          <p:nvPr/>
        </p:nvSpPr>
        <p:spPr>
          <a:xfrm>
            <a:off x="2927452" y="3729655"/>
            <a:ext cx="1810512" cy="687995"/>
          </a:xfrm>
          <a:prstGeom prst="roundRect">
            <a:avLst>
              <a:gd name="adj" fmla="val 11962"/>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3018892" y="3863340"/>
            <a:ext cx="420624" cy="420624"/>
          </a:xfrm>
          <a:prstGeom prst="ellipse">
            <a:avLst/>
          </a:prstGeom>
          <a:solidFill>
            <a:srgbClr val="E2E5EA"/>
          </a:solidFill>
          <a:ln w="12700">
            <a:solidFill>
              <a:srgbClr val="E2E5EA"/>
            </a:solidFill>
            <a:prstDash val="solid"/>
          </a:ln>
        </p:spPr>
      </p:sp>
      <p:sp>
        <p:nvSpPr>
          <p:cNvPr id="39" name="Icono monitor"/>
          <p:cNvSpPr/>
          <p:nvPr/>
        </p:nvSpPr>
        <p:spPr>
          <a:xfrm>
            <a:off x="3073756" y="39182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40" name="Text 38"/>
          <p:cNvSpPr/>
          <p:nvPr/>
        </p:nvSpPr>
        <p:spPr>
          <a:xfrm>
            <a:off x="3494380" y="3729655"/>
            <a:ext cx="1188720" cy="687995"/>
          </a:xfrm>
          <a:prstGeom prst="rect">
            <a:avLst/>
          </a:prstGeom>
          <a:noFill/>
          <a:ln/>
        </p:spPr>
        <p:txBody>
          <a:bodyPr wrap="square" lIns="12700" tIns="25400" rIns="25400" bIns="12700" rtlCol="0" anchor="ctr">
            <a:normAutofit/>
          </a:bodyPr>
          <a:lstStyle/>
          <a:p>
            <a:pPr algn="l" indent="0" marL="0">
              <a:lnSpc>
                <a:spcPct val="95000"/>
              </a:lnSpc>
              <a:buNone/>
            </a:pPr>
            <a:r>
              <a:rPr lang="en-US" sz="1069" b="1" dirty="0">
                <a:solidFill>
                  <a:srgbClr val="0B1A3C"/>
                </a:solidFill>
                <a:latin typeface="Segoe UI" pitchFamily="34" charset="0"/>
                <a:ea typeface="Segoe UI" pitchFamily="34" charset="-122"/>
                <a:cs typeface="Segoe UI" pitchFamily="34" charset="-120"/>
              </a:rPr>
              <a:t>arka-lite-ui</a:t>
            </a:r>
            <a:endParaRPr lang="en-US" sz="1069" dirty="0"/>
          </a:p>
          <a:p>
            <a:pPr algn="l" indent="0" marL="0">
              <a:lnSpc>
                <a:spcPct val="95000"/>
              </a:lnSpc>
              <a:buNone/>
            </a:pPr>
            <a:r>
              <a:rPr lang="en-US" sz="855" dirty="0">
                <a:solidFill>
                  <a:srgbClr val="55627E"/>
                </a:solidFill>
                <a:latin typeface="Segoe UI" pitchFamily="34" charset="0"/>
                <a:ea typeface="Segoe UI" pitchFamily="34" charset="-122"/>
                <a:cs typeface="Segoe UI" pitchFamily="34" charset="-120"/>
              </a:rPr>
              <a:t>React + nginx · :8088</a:t>
            </a:r>
            <a:endParaRPr lang="en-US" sz="1069" dirty="0"/>
          </a:p>
        </p:txBody>
      </p:sp>
      <p:sp>
        <p:nvSpPr>
          <p:cNvPr id="41" name="Shape 39"/>
          <p:cNvSpPr/>
          <p:nvPr/>
        </p:nvSpPr>
        <p:spPr>
          <a:xfrm>
            <a:off x="5914796" y="2534717"/>
            <a:ext cx="2172614" cy="687995"/>
          </a:xfrm>
          <a:prstGeom prst="roundRect">
            <a:avLst>
              <a:gd name="adj" fmla="val 1196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006236" y="2668402"/>
            <a:ext cx="420624" cy="420624"/>
          </a:xfrm>
          <a:prstGeom prst="ellipse">
            <a:avLst/>
          </a:prstGeom>
          <a:solidFill>
            <a:srgbClr val="E4EAF1"/>
          </a:solidFill>
          <a:ln w="12700">
            <a:solidFill>
              <a:srgbClr val="E4EAF1"/>
            </a:solidFill>
            <a:prstDash val="solid"/>
          </a:ln>
        </p:spPr>
      </p:sp>
      <p:sp>
        <p:nvSpPr>
          <p:cNvPr id="43" name="Icono clipboard-list"/>
          <p:cNvSpPr/>
          <p:nvPr/>
        </p:nvSpPr>
        <p:spPr>
          <a:xfrm>
            <a:off x="6061100" y="2723266"/>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1F4E8C"/>
            </a:solidFill>
            <a:prstDash val="solid"/>
            <a:round/>
          </a:ln>
        </p:spPr>
      </p:sp>
      <p:sp>
        <p:nvSpPr>
          <p:cNvPr id="44" name="Text 42"/>
          <p:cNvSpPr/>
          <p:nvPr/>
        </p:nvSpPr>
        <p:spPr>
          <a:xfrm>
            <a:off x="6481724" y="2534717"/>
            <a:ext cx="1550822" cy="687995"/>
          </a:xfrm>
          <a:prstGeom prst="rect">
            <a:avLst/>
          </a:prstGeom>
          <a:noFill/>
          <a:ln/>
        </p:spPr>
        <p:txBody>
          <a:bodyPr wrap="square" lIns="12700" tIns="25400" rIns="25400" bIns="12700" rtlCol="0" anchor="ctr">
            <a:normAutofit/>
          </a:bodyPr>
          <a:lstStyle/>
          <a:p>
            <a:pPr algn="l" indent="0" marL="0">
              <a:lnSpc>
                <a:spcPct val="95000"/>
              </a:lnSpc>
              <a:buNone/>
            </a:pPr>
            <a:r>
              <a:rPr lang="en-US" sz="984" b="1" dirty="0">
                <a:solidFill>
                  <a:srgbClr val="0B1A3C"/>
                </a:solidFill>
                <a:latin typeface="Segoe UI" pitchFamily="34" charset="0"/>
                <a:ea typeface="Segoe UI" pitchFamily="34" charset="-122"/>
                <a:cs typeface="Segoe UI" pitchFamily="34" charset="-120"/>
              </a:rPr>
              <a:t>servicio-solicitudes</a:t>
            </a:r>
            <a:endParaRPr lang="en-US" sz="984" dirty="0"/>
          </a:p>
          <a:p>
            <a:pPr algn="l" indent="0" marL="0">
              <a:lnSpc>
                <a:spcPct val="95000"/>
              </a:lnSpc>
              <a:buNone/>
            </a:pPr>
            <a:r>
              <a:rPr lang="en-US" sz="787" dirty="0">
                <a:solidFill>
                  <a:srgbClr val="55627E"/>
                </a:solidFill>
                <a:latin typeface="Segoe UI" pitchFamily="34" charset="0"/>
                <a:ea typeface="Segoe UI" pitchFamily="34" charset="-122"/>
                <a:cs typeface="Segoe UI" pitchFamily="34" charset="-120"/>
              </a:rPr>
              <a:t>Spring Boot · :8080</a:t>
            </a:r>
            <a:endParaRPr lang="en-US" sz="984" dirty="0"/>
          </a:p>
        </p:txBody>
      </p:sp>
      <p:sp>
        <p:nvSpPr>
          <p:cNvPr id="45" name="Shape 43"/>
          <p:cNvSpPr/>
          <p:nvPr/>
        </p:nvSpPr>
        <p:spPr>
          <a:xfrm>
            <a:off x="8811616" y="2534717"/>
            <a:ext cx="1991563" cy="687995"/>
          </a:xfrm>
          <a:prstGeom prst="roundRect">
            <a:avLst>
              <a:gd name="adj" fmla="val 11962"/>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8903056" y="2668402"/>
            <a:ext cx="420624" cy="420624"/>
          </a:xfrm>
          <a:prstGeom prst="ellipse">
            <a:avLst/>
          </a:prstGeom>
          <a:solidFill>
            <a:srgbClr val="E4EAF1"/>
          </a:solidFill>
          <a:ln w="12700">
            <a:solidFill>
              <a:srgbClr val="E4EAF1"/>
            </a:solidFill>
            <a:prstDash val="solid"/>
          </a:ln>
        </p:spPr>
      </p:sp>
      <p:sp>
        <p:nvSpPr>
          <p:cNvPr id="47" name="Icono database"/>
          <p:cNvSpPr/>
          <p:nvPr/>
        </p:nvSpPr>
        <p:spPr>
          <a:xfrm>
            <a:off x="8957920" y="272326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1F4E8C"/>
            </a:solidFill>
            <a:prstDash val="solid"/>
            <a:round/>
          </a:ln>
        </p:spPr>
      </p:sp>
      <p:sp>
        <p:nvSpPr>
          <p:cNvPr id="48" name="Text 46"/>
          <p:cNvSpPr/>
          <p:nvPr/>
        </p:nvSpPr>
        <p:spPr>
          <a:xfrm>
            <a:off x="9378544" y="2534717"/>
            <a:ext cx="1369771" cy="687995"/>
          </a:xfrm>
          <a:prstGeom prst="rect">
            <a:avLst/>
          </a:prstGeom>
          <a:noFill/>
          <a:ln/>
        </p:spPr>
        <p:txBody>
          <a:bodyPr wrap="square" lIns="12700" tIns="25400" rIns="25400" bIns="12700" rtlCol="0" anchor="ctr">
            <a:normAutofit/>
          </a:bodyPr>
          <a:lstStyle/>
          <a:p>
            <a:pPr algn="l" indent="0" marL="0">
              <a:lnSpc>
                <a:spcPct val="95000"/>
              </a:lnSpc>
              <a:buNone/>
            </a:pPr>
            <a:r>
              <a:rPr lang="en-US" sz="1069" b="1" dirty="0">
                <a:solidFill>
                  <a:srgbClr val="0B1A3C"/>
                </a:solidFill>
                <a:latin typeface="Segoe UI" pitchFamily="34" charset="0"/>
                <a:ea typeface="Segoe UI" pitchFamily="34" charset="-122"/>
                <a:cs typeface="Segoe UI" pitchFamily="34" charset="-120"/>
              </a:rPr>
              <a:t>db-solicitudes</a:t>
            </a:r>
            <a:endParaRPr lang="en-US" sz="1069" dirty="0"/>
          </a:p>
          <a:p>
            <a:pPr algn="l" indent="0" marL="0">
              <a:lnSpc>
                <a:spcPct val="95000"/>
              </a:lnSpc>
              <a:buNone/>
            </a:pPr>
            <a:r>
              <a:rPr lang="en-US" sz="855" dirty="0">
                <a:solidFill>
                  <a:srgbClr val="55627E"/>
                </a:solidFill>
                <a:latin typeface="Segoe UI" pitchFamily="34" charset="0"/>
                <a:ea typeface="Segoe UI" pitchFamily="34" charset="-122"/>
                <a:cs typeface="Segoe UI" pitchFamily="34" charset="-120"/>
              </a:rPr>
              <a:t>PostgreSQL 17</a:t>
            </a:r>
            <a:endParaRPr lang="en-US" sz="1069" dirty="0"/>
          </a:p>
        </p:txBody>
      </p:sp>
      <p:sp>
        <p:nvSpPr>
          <p:cNvPr id="49" name="Shape 47"/>
          <p:cNvSpPr/>
          <p:nvPr/>
        </p:nvSpPr>
        <p:spPr>
          <a:xfrm>
            <a:off x="5914796" y="5069434"/>
            <a:ext cx="2172614" cy="687995"/>
          </a:xfrm>
          <a:prstGeom prst="roundRect">
            <a:avLst>
              <a:gd name="adj" fmla="val 11962"/>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6006236" y="5203119"/>
            <a:ext cx="420624" cy="420624"/>
          </a:xfrm>
          <a:prstGeom prst="ellipse">
            <a:avLst/>
          </a:prstGeom>
          <a:solidFill>
            <a:srgbClr val="E2EEF1"/>
          </a:solidFill>
          <a:ln w="12700">
            <a:solidFill>
              <a:srgbClr val="E2EEF1"/>
            </a:solidFill>
            <a:prstDash val="solid"/>
          </a:ln>
        </p:spPr>
      </p:sp>
      <p:sp>
        <p:nvSpPr>
          <p:cNvPr id="51" name="Icono bell"/>
          <p:cNvSpPr/>
          <p:nvPr/>
        </p:nvSpPr>
        <p:spPr>
          <a:xfrm>
            <a:off x="6061100" y="5257983"/>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52" name="Text 50"/>
          <p:cNvSpPr/>
          <p:nvPr/>
        </p:nvSpPr>
        <p:spPr>
          <a:xfrm>
            <a:off x="6481724" y="5069434"/>
            <a:ext cx="1550822" cy="687995"/>
          </a:xfrm>
          <a:prstGeom prst="rect">
            <a:avLst/>
          </a:prstGeom>
          <a:noFill/>
          <a:ln/>
        </p:spPr>
        <p:txBody>
          <a:bodyPr wrap="square" lIns="12700" tIns="25400" rIns="25400" bIns="12700" rtlCol="0" anchor="ctr">
            <a:normAutofit/>
          </a:bodyPr>
          <a:lstStyle/>
          <a:p>
            <a:pPr algn="l" indent="0" marL="0">
              <a:lnSpc>
                <a:spcPct val="95000"/>
              </a:lnSpc>
              <a:buNone/>
            </a:pPr>
            <a:r>
              <a:rPr lang="en-US" sz="855" b="1" dirty="0">
                <a:solidFill>
                  <a:srgbClr val="0B1A3C"/>
                </a:solidFill>
                <a:latin typeface="Segoe UI" pitchFamily="34" charset="0"/>
                <a:ea typeface="Segoe UI" pitchFamily="34" charset="-122"/>
                <a:cs typeface="Segoe UI" pitchFamily="34" charset="-120"/>
              </a:rPr>
              <a:t>servicio-notificaciones</a:t>
            </a:r>
            <a:endParaRPr lang="en-US" sz="855" dirty="0"/>
          </a:p>
          <a:p>
            <a:pPr algn="l" indent="0" marL="0">
              <a:lnSpc>
                <a:spcPct val="95000"/>
              </a:lnSpc>
              <a:buNone/>
            </a:pPr>
            <a:r>
              <a:rPr lang="en-US" sz="684" dirty="0">
                <a:solidFill>
                  <a:srgbClr val="55627E"/>
                </a:solidFill>
                <a:latin typeface="Segoe UI" pitchFamily="34" charset="0"/>
                <a:ea typeface="Segoe UI" pitchFamily="34" charset="-122"/>
                <a:cs typeface="Segoe UI" pitchFamily="34" charset="-120"/>
              </a:rPr>
              <a:t>Spring Boot · :8081</a:t>
            </a:r>
            <a:endParaRPr lang="en-US" sz="855" dirty="0"/>
          </a:p>
        </p:txBody>
      </p:sp>
      <p:sp>
        <p:nvSpPr>
          <p:cNvPr id="53" name="Shape 51"/>
          <p:cNvSpPr/>
          <p:nvPr/>
        </p:nvSpPr>
        <p:spPr>
          <a:xfrm>
            <a:off x="8811616" y="5069434"/>
            <a:ext cx="1991563" cy="687995"/>
          </a:xfrm>
          <a:prstGeom prst="roundRect">
            <a:avLst>
              <a:gd name="adj" fmla="val 11962"/>
            </a:avLst>
          </a:prstGeom>
          <a:solidFill>
            <a:srgbClr val="F3F6FA"/>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8903056" y="5203119"/>
            <a:ext cx="420624" cy="420624"/>
          </a:xfrm>
          <a:prstGeom prst="ellipse">
            <a:avLst/>
          </a:prstGeom>
          <a:solidFill>
            <a:srgbClr val="E2EEF1"/>
          </a:solidFill>
          <a:ln w="12700">
            <a:solidFill>
              <a:srgbClr val="E2EEF1"/>
            </a:solidFill>
            <a:prstDash val="solid"/>
          </a:ln>
        </p:spPr>
      </p:sp>
      <p:sp>
        <p:nvSpPr>
          <p:cNvPr id="55" name="Icono database"/>
          <p:cNvSpPr/>
          <p:nvPr/>
        </p:nvSpPr>
        <p:spPr>
          <a:xfrm>
            <a:off x="8957920" y="5257983"/>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56" name="Text 54"/>
          <p:cNvSpPr/>
          <p:nvPr/>
        </p:nvSpPr>
        <p:spPr>
          <a:xfrm>
            <a:off x="9378544" y="5069434"/>
            <a:ext cx="1369771" cy="687995"/>
          </a:xfrm>
          <a:prstGeom prst="rect">
            <a:avLst/>
          </a:prstGeom>
          <a:noFill/>
          <a:ln/>
        </p:spPr>
        <p:txBody>
          <a:bodyPr wrap="square" lIns="12700" tIns="25400" rIns="25400" bIns="12700" rtlCol="0" anchor="ctr">
            <a:normAutofit/>
          </a:bodyPr>
          <a:lstStyle/>
          <a:p>
            <a:pPr algn="l" indent="0" marL="0">
              <a:lnSpc>
                <a:spcPct val="95000"/>
              </a:lnSpc>
              <a:buNone/>
            </a:pPr>
            <a:r>
              <a:rPr lang="en-US" sz="1026" b="1" dirty="0">
                <a:solidFill>
                  <a:srgbClr val="0B1A3C"/>
                </a:solidFill>
                <a:latin typeface="Segoe UI" pitchFamily="34" charset="0"/>
                <a:ea typeface="Segoe UI" pitchFamily="34" charset="-122"/>
                <a:cs typeface="Segoe UI" pitchFamily="34" charset="-120"/>
              </a:rPr>
              <a:t>db-notificaciones</a:t>
            </a:r>
            <a:endParaRPr lang="en-US" sz="1026" dirty="0"/>
          </a:p>
          <a:p>
            <a:pPr algn="l" indent="0" marL="0">
              <a:lnSpc>
                <a:spcPct val="95000"/>
              </a:lnSpc>
              <a:buNone/>
            </a:pPr>
            <a:r>
              <a:rPr lang="en-US" sz="821" dirty="0">
                <a:solidFill>
                  <a:srgbClr val="55627E"/>
                </a:solidFill>
                <a:latin typeface="Segoe UI" pitchFamily="34" charset="0"/>
                <a:ea typeface="Segoe UI" pitchFamily="34" charset="-122"/>
                <a:cs typeface="Segoe UI" pitchFamily="34" charset="-120"/>
              </a:rPr>
              <a:t>PostgreSQL 17</a:t>
            </a:r>
            <a:endParaRPr lang="en-US" sz="1026"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3F4FA"/>
          </a:solidFill>
          <a:ln w="22225">
            <a:solidFill>
              <a:srgbClr val="2BA6CB"/>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5F5FA"/>
          </a:solidFill>
          <a:ln w="12700">
            <a:solidFill>
              <a:srgbClr val="9DD7E8"/>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47625">
            <a:solidFill>
              <a:srgbClr val="2BA6CB"/>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47625">
            <a:solidFill>
              <a:srgbClr val="2BA6CB"/>
            </a:solidFill>
            <a:prstDash val="solid"/>
          </a:ln>
        </p:spPr>
      </p:sp>
      <p:sp>
        <p:nvSpPr>
          <p:cNvPr id="13" name="Shape 11"/>
          <p:cNvSpPr/>
          <p:nvPr/>
        </p:nvSpPr>
        <p:spPr>
          <a:xfrm flipV="1">
            <a:off x="6411864" y="2530913"/>
            <a:ext cx="0" cy="584631"/>
          </a:xfrm>
          <a:prstGeom prst="line">
            <a:avLst/>
          </a:prstGeom>
          <a:noFill/>
          <a:ln w="47625">
            <a:solidFill>
              <a:srgbClr val="2BA6CB"/>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31750">
            <a:solidFill>
              <a:srgbClr val="CBD5E3"/>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25400">
            <a:solidFill>
              <a:srgbClr val="CBD5E3"/>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31750">
            <a:solidFill>
              <a:srgbClr val="CBD5E3"/>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31750">
            <a:solidFill>
              <a:srgbClr val="CBD5E3"/>
            </a:solidFill>
            <a:prstDash val="solid"/>
          </a:ln>
        </p:spPr>
      </p:sp>
      <p:sp>
        <p:nvSpPr>
          <p:cNvPr id="26" name="Shape 24"/>
          <p:cNvSpPr/>
          <p:nvPr/>
        </p:nvSpPr>
        <p:spPr>
          <a:xfrm>
            <a:off x="6411864" y="3431560"/>
            <a:ext cx="0" cy="711037"/>
          </a:xfrm>
          <a:prstGeom prst="line">
            <a:avLst/>
          </a:prstGeom>
          <a:noFill/>
          <a:ln w="31750">
            <a:solidFill>
              <a:srgbClr val="CBD5E3"/>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1" name="Shape 29"/>
          <p:cNvSpPr/>
          <p:nvPr/>
        </p:nvSpPr>
        <p:spPr>
          <a:xfrm>
            <a:off x="3422142" y="3063240"/>
            <a:ext cx="420624" cy="420624"/>
          </a:xfrm>
          <a:prstGeom prst="ellipse">
            <a:avLst/>
          </a:prstGeom>
          <a:solidFill>
            <a:srgbClr val="E3F4FA"/>
          </a:solidFill>
          <a:ln w="12700">
            <a:solidFill>
              <a:srgbClr val="E3F4F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3F6FA"/>
          </a:solidFill>
          <a:ln w="12700">
            <a:solidFill>
              <a:srgbClr val="D5DDE8"/>
            </a:solidFill>
            <a:prstDash val="solid"/>
          </a:ln>
        </p:spPr>
      </p:sp>
      <p:sp>
        <p:nvSpPr>
          <p:cNvPr id="36" name="Shape 34"/>
          <p:cNvSpPr/>
          <p:nvPr/>
        </p:nvSpPr>
        <p:spPr>
          <a:xfrm>
            <a:off x="8557412" y="2020385"/>
            <a:ext cx="420624" cy="420624"/>
          </a:xfrm>
          <a:prstGeom prst="ellipse">
            <a:avLst/>
          </a:prstGeom>
          <a:solidFill>
            <a:srgbClr val="EEF2F7"/>
          </a:solidFill>
          <a:ln w="12700">
            <a:solidFill>
              <a:srgbClr val="EEF2F7"/>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3" name="Text 4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usa la UI en el navegador.</a:t>
            </a:r>
            <a:endParaRPr lang="en-US" sz="1300" dirty="0"/>
          </a:p>
        </p:txBody>
      </p:sp>
      <p:sp>
        <p:nvSpPr>
          <p:cNvPr id="44" name="Shape 4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6" name="Text 4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llama a solicitudes por /api: crear, listar, enviar, aprobar o rechazar.</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AF0FA"/>
          </a:solidFill>
          <a:ln w="12700">
            <a:solidFill>
              <a:srgbClr val="AFC4E6"/>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5F5FA"/>
          </a:solidFill>
          <a:ln w="12700">
            <a:solidFill>
              <a:srgbClr val="9DD7E8"/>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31750">
            <a:solidFill>
              <a:srgbClr val="2E6DB4"/>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31750">
            <a:solidFill>
              <a:srgbClr val="2E6DB4"/>
            </a:solidFill>
            <a:prstDash val="solid"/>
          </a:ln>
        </p:spPr>
      </p:sp>
      <p:sp>
        <p:nvSpPr>
          <p:cNvPr id="13" name="Shape 11"/>
          <p:cNvSpPr/>
          <p:nvPr/>
        </p:nvSpPr>
        <p:spPr>
          <a:xfrm flipV="1">
            <a:off x="6411864" y="2530913"/>
            <a:ext cx="0" cy="584631"/>
          </a:xfrm>
          <a:prstGeom prst="line">
            <a:avLst/>
          </a:prstGeom>
          <a:noFill/>
          <a:ln w="31750">
            <a:solidFill>
              <a:srgbClr val="2E6DB4"/>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47625">
            <a:solidFill>
              <a:srgbClr val="2BA6CB"/>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25400">
            <a:solidFill>
              <a:srgbClr val="CBD5E3"/>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31750">
            <a:solidFill>
              <a:srgbClr val="CBD5E3"/>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31750">
            <a:solidFill>
              <a:srgbClr val="CBD5E3"/>
            </a:solidFill>
            <a:prstDash val="solid"/>
          </a:ln>
        </p:spPr>
      </p:sp>
      <p:sp>
        <p:nvSpPr>
          <p:cNvPr id="26" name="Shape 24"/>
          <p:cNvSpPr/>
          <p:nvPr/>
        </p:nvSpPr>
        <p:spPr>
          <a:xfrm>
            <a:off x="6411864" y="3431560"/>
            <a:ext cx="0" cy="711037"/>
          </a:xfrm>
          <a:prstGeom prst="line">
            <a:avLst/>
          </a:prstGeom>
          <a:noFill/>
          <a:ln w="31750">
            <a:solidFill>
              <a:srgbClr val="CBD5E3"/>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3422142" y="3063240"/>
            <a:ext cx="420624" cy="420624"/>
          </a:xfrm>
          <a:prstGeom prst="ellipse">
            <a:avLst/>
          </a:prstGeom>
          <a:solidFill>
            <a:srgbClr val="E2E5EA"/>
          </a:solidFill>
          <a:ln w="12700">
            <a:solidFill>
              <a:srgbClr val="E2E5E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8557412" y="2020385"/>
            <a:ext cx="420624" cy="420624"/>
          </a:xfrm>
          <a:prstGeom prst="ellipse">
            <a:avLst/>
          </a:prstGeom>
          <a:solidFill>
            <a:srgbClr val="E3F4FA"/>
          </a:solidFill>
          <a:ln w="12700">
            <a:solidFill>
              <a:srgbClr val="E3F4FA"/>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3" name="Text 41"/>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los datos en su propia base.</a:t>
            </a:r>
            <a:endParaRPr lang="en-US" sz="13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AF0FA"/>
          </a:solidFill>
          <a:ln w="12700">
            <a:solidFill>
              <a:srgbClr val="AFC4E6"/>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3F4FA"/>
          </a:solidFill>
          <a:ln w="22225">
            <a:solidFill>
              <a:srgbClr val="2BA6CB"/>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31750">
            <a:solidFill>
              <a:srgbClr val="2E6DB4"/>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31750">
            <a:solidFill>
              <a:srgbClr val="2E6DB4"/>
            </a:solidFill>
            <a:prstDash val="solid"/>
          </a:ln>
        </p:spPr>
      </p:sp>
      <p:sp>
        <p:nvSpPr>
          <p:cNvPr id="13" name="Shape 11"/>
          <p:cNvSpPr/>
          <p:nvPr/>
        </p:nvSpPr>
        <p:spPr>
          <a:xfrm flipV="1">
            <a:off x="6411864" y="2530913"/>
            <a:ext cx="0" cy="584631"/>
          </a:xfrm>
          <a:prstGeom prst="line">
            <a:avLst/>
          </a:prstGeom>
          <a:noFill/>
          <a:ln w="31750">
            <a:solidFill>
              <a:srgbClr val="2E6DB4"/>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31750">
            <a:solidFill>
              <a:srgbClr val="55627E"/>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41275">
            <a:solidFill>
              <a:srgbClr val="2BA6CB"/>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31750">
            <a:solidFill>
              <a:srgbClr val="CBD5E3"/>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31750">
            <a:solidFill>
              <a:srgbClr val="CBD5E3"/>
            </a:solidFill>
            <a:prstDash val="solid"/>
          </a:ln>
        </p:spPr>
      </p:sp>
      <p:sp>
        <p:nvSpPr>
          <p:cNvPr id="26" name="Shape 24"/>
          <p:cNvSpPr/>
          <p:nvPr/>
        </p:nvSpPr>
        <p:spPr>
          <a:xfrm>
            <a:off x="6411864" y="3431560"/>
            <a:ext cx="0" cy="711037"/>
          </a:xfrm>
          <a:prstGeom prst="line">
            <a:avLst/>
          </a:prstGeom>
          <a:noFill/>
          <a:ln w="31750">
            <a:solidFill>
              <a:srgbClr val="CBD5E3"/>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3422142" y="3063240"/>
            <a:ext cx="420624" cy="420624"/>
          </a:xfrm>
          <a:prstGeom prst="ellipse">
            <a:avLst/>
          </a:prstGeom>
          <a:solidFill>
            <a:srgbClr val="E2E5EA"/>
          </a:solidFill>
          <a:ln w="12700">
            <a:solidFill>
              <a:srgbClr val="E2E5E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557412" y="2020385"/>
            <a:ext cx="420624" cy="420624"/>
          </a:xfrm>
          <a:prstGeom prst="ellipse">
            <a:avLst/>
          </a:prstGeom>
          <a:solidFill>
            <a:srgbClr val="E4EAF1"/>
          </a:solidFill>
          <a:ln w="12700">
            <a:solidFill>
              <a:srgbClr val="E4EAF1"/>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1F4E8C"/>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9AA5B8"/>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3" name="Text 41"/>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solicitudes avisa después a notificaciones con un evento por HTTP.</a:t>
            </a:r>
            <a:endParaRPr lang="en-US" sz="13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AF0FA"/>
          </a:solidFill>
          <a:ln w="12700">
            <a:solidFill>
              <a:srgbClr val="AFC4E6"/>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5F5FA"/>
          </a:solidFill>
          <a:ln w="12700">
            <a:solidFill>
              <a:srgbClr val="9DD7E8"/>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31750">
            <a:solidFill>
              <a:srgbClr val="2E6DB4"/>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31750">
            <a:solidFill>
              <a:srgbClr val="2E6DB4"/>
            </a:solidFill>
            <a:prstDash val="solid"/>
          </a:ln>
        </p:spPr>
      </p:sp>
      <p:sp>
        <p:nvSpPr>
          <p:cNvPr id="13" name="Shape 11"/>
          <p:cNvSpPr/>
          <p:nvPr/>
        </p:nvSpPr>
        <p:spPr>
          <a:xfrm flipV="1">
            <a:off x="6411864" y="2530913"/>
            <a:ext cx="0" cy="584631"/>
          </a:xfrm>
          <a:prstGeom prst="line">
            <a:avLst/>
          </a:prstGeom>
          <a:noFill/>
          <a:ln w="31750">
            <a:solidFill>
              <a:srgbClr val="2E6DB4"/>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31750">
            <a:solidFill>
              <a:srgbClr val="55627E"/>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25400">
            <a:solidFill>
              <a:srgbClr val="55627E"/>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47625">
            <a:solidFill>
              <a:srgbClr val="2BA6CB"/>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31750">
            <a:solidFill>
              <a:srgbClr val="CBD5E3"/>
            </a:solidFill>
            <a:prstDash val="solid"/>
          </a:ln>
        </p:spPr>
      </p:sp>
      <p:sp>
        <p:nvSpPr>
          <p:cNvPr id="26" name="Shape 24"/>
          <p:cNvSpPr/>
          <p:nvPr/>
        </p:nvSpPr>
        <p:spPr>
          <a:xfrm>
            <a:off x="6411864" y="3431560"/>
            <a:ext cx="0" cy="711037"/>
          </a:xfrm>
          <a:prstGeom prst="line">
            <a:avLst/>
          </a:prstGeom>
          <a:noFill/>
          <a:ln w="31750">
            <a:solidFill>
              <a:srgbClr val="CBD5E3"/>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3422142" y="3063240"/>
            <a:ext cx="420624" cy="420624"/>
          </a:xfrm>
          <a:prstGeom prst="ellipse">
            <a:avLst/>
          </a:prstGeom>
          <a:solidFill>
            <a:srgbClr val="E2E5EA"/>
          </a:solidFill>
          <a:ln w="12700">
            <a:solidFill>
              <a:srgbClr val="E2E5E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557412" y="2020385"/>
            <a:ext cx="420624" cy="420624"/>
          </a:xfrm>
          <a:prstGeom prst="ellipse">
            <a:avLst/>
          </a:prstGeom>
          <a:solidFill>
            <a:srgbClr val="E4EAF1"/>
          </a:solidFill>
          <a:ln w="12700">
            <a:solidFill>
              <a:srgbClr val="E4EAF1"/>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1F4E8C"/>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3" name="Text 41"/>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qué eventos ya consumió.</a:t>
            </a:r>
            <a:endParaRPr lang="en-US" sz="13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1823" y="1614465"/>
            <a:ext cx="4898258" cy="1185062"/>
          </a:xfrm>
          <a:prstGeom prst="roundRect">
            <a:avLst>
              <a:gd name="adj" fmla="val 9259"/>
            </a:avLst>
          </a:prstGeom>
          <a:solidFill>
            <a:srgbClr val="EAF0FA"/>
          </a:solidFill>
          <a:ln w="12700">
            <a:solidFill>
              <a:srgbClr val="AFC4E6"/>
            </a:solidFill>
            <a:prstDash val="solid"/>
          </a:ln>
        </p:spPr>
      </p:sp>
      <p:sp>
        <p:nvSpPr>
          <p:cNvPr id="6" name="Text 4"/>
          <p:cNvSpPr/>
          <p:nvPr/>
        </p:nvSpPr>
        <p:spPr>
          <a:xfrm>
            <a:off x="5694975" y="1669329"/>
            <a:ext cx="25400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1823" y="3826581"/>
            <a:ext cx="4898258" cy="1185062"/>
          </a:xfrm>
          <a:prstGeom prst="roundRect">
            <a:avLst>
              <a:gd name="adj" fmla="val 9259"/>
            </a:avLst>
          </a:prstGeom>
          <a:solidFill>
            <a:srgbClr val="E5F5FA"/>
          </a:solidFill>
          <a:ln w="12700">
            <a:solidFill>
              <a:srgbClr val="9DD7E8"/>
            </a:solidFill>
            <a:prstDash val="solid"/>
          </a:ln>
        </p:spPr>
      </p:sp>
      <p:sp>
        <p:nvSpPr>
          <p:cNvPr id="8" name="Text 6"/>
          <p:cNvSpPr/>
          <p:nvPr/>
        </p:nvSpPr>
        <p:spPr>
          <a:xfrm>
            <a:off x="5694975" y="3881445"/>
            <a:ext cx="27838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56677" y="3273552"/>
            <a:ext cx="474025" cy="0"/>
          </a:xfrm>
          <a:prstGeom prst="line">
            <a:avLst/>
          </a:prstGeom>
          <a:noFill/>
          <a:ln w="31750">
            <a:solidFill>
              <a:srgbClr val="2E6DB4"/>
            </a:solidFill>
            <a:prstDash val="solid"/>
            <a:tailEnd type="triangle"/>
          </a:ln>
        </p:spPr>
      </p:sp>
      <p:sp>
        <p:nvSpPr>
          <p:cNvPr id="10" name="Text 8"/>
          <p:cNvSpPr/>
          <p:nvPr/>
        </p:nvSpPr>
        <p:spPr>
          <a:xfrm>
            <a:off x="2905323" y="3047000"/>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36559" y="316382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0785" y="3115544"/>
            <a:ext cx="1501079" cy="0"/>
          </a:xfrm>
          <a:prstGeom prst="line">
            <a:avLst/>
          </a:prstGeom>
          <a:noFill/>
          <a:ln w="31750">
            <a:solidFill>
              <a:srgbClr val="2E6DB4"/>
            </a:solidFill>
            <a:prstDash val="solid"/>
          </a:ln>
        </p:spPr>
      </p:sp>
      <p:sp>
        <p:nvSpPr>
          <p:cNvPr id="13" name="Shape 11"/>
          <p:cNvSpPr/>
          <p:nvPr/>
        </p:nvSpPr>
        <p:spPr>
          <a:xfrm flipV="1">
            <a:off x="6411864" y="2530913"/>
            <a:ext cx="0" cy="584631"/>
          </a:xfrm>
          <a:prstGeom prst="line">
            <a:avLst/>
          </a:prstGeom>
          <a:noFill/>
          <a:ln w="31750">
            <a:solidFill>
              <a:srgbClr val="2E6DB4"/>
            </a:solidFill>
            <a:prstDash val="solid"/>
            <a:tailEnd type="triangle"/>
          </a:ln>
        </p:spPr>
      </p:sp>
      <p:sp>
        <p:nvSpPr>
          <p:cNvPr id="14" name="Text 12"/>
          <p:cNvSpPr/>
          <p:nvPr/>
        </p:nvSpPr>
        <p:spPr>
          <a:xfrm>
            <a:off x="5099883" y="288899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0667" y="300581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33939" y="2230697"/>
            <a:ext cx="632033" cy="0"/>
          </a:xfrm>
          <a:prstGeom prst="line">
            <a:avLst/>
          </a:prstGeom>
          <a:noFill/>
          <a:ln w="31750">
            <a:solidFill>
              <a:srgbClr val="55627E"/>
            </a:solidFill>
            <a:prstDash val="sysDot"/>
            <a:tailEnd type="triangle"/>
          </a:ln>
        </p:spPr>
      </p:sp>
      <p:sp>
        <p:nvSpPr>
          <p:cNvPr id="17" name="Text 15"/>
          <p:cNvSpPr/>
          <p:nvPr/>
        </p:nvSpPr>
        <p:spPr>
          <a:xfrm>
            <a:off x="7992679" y="2004145"/>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13821" y="21209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9914" y="2530913"/>
            <a:ext cx="0" cy="1611685"/>
          </a:xfrm>
          <a:prstGeom prst="line">
            <a:avLst/>
          </a:prstGeom>
          <a:noFill/>
          <a:ln w="25400">
            <a:solidFill>
              <a:srgbClr val="55627E"/>
            </a:solidFill>
            <a:prstDash val="dash"/>
            <a:tailEnd type="triangle"/>
          </a:ln>
        </p:spPr>
      </p:sp>
      <p:sp>
        <p:nvSpPr>
          <p:cNvPr id="20" name="Text 18"/>
          <p:cNvSpPr/>
          <p:nvPr/>
        </p:nvSpPr>
        <p:spPr>
          <a:xfrm>
            <a:off x="7438918" y="3212909"/>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50186" y="26107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33939" y="4442814"/>
            <a:ext cx="632033" cy="0"/>
          </a:xfrm>
          <a:prstGeom prst="line">
            <a:avLst/>
          </a:prstGeom>
          <a:noFill/>
          <a:ln w="31750">
            <a:solidFill>
              <a:srgbClr val="55627E"/>
            </a:solidFill>
            <a:prstDash val="sysDot"/>
            <a:tailEnd type="triangle"/>
          </a:ln>
        </p:spPr>
      </p:sp>
      <p:sp>
        <p:nvSpPr>
          <p:cNvPr id="23" name="Text 21"/>
          <p:cNvSpPr/>
          <p:nvPr/>
        </p:nvSpPr>
        <p:spPr>
          <a:xfrm>
            <a:off x="7992679" y="421626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13821" y="433308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0785" y="3431560"/>
            <a:ext cx="1501079" cy="0"/>
          </a:xfrm>
          <a:prstGeom prst="line">
            <a:avLst/>
          </a:prstGeom>
          <a:noFill/>
          <a:ln w="47625">
            <a:solidFill>
              <a:srgbClr val="2BA6CB"/>
            </a:solidFill>
            <a:prstDash val="solid"/>
          </a:ln>
        </p:spPr>
      </p:sp>
      <p:sp>
        <p:nvSpPr>
          <p:cNvPr id="26" name="Shape 24"/>
          <p:cNvSpPr/>
          <p:nvPr/>
        </p:nvSpPr>
        <p:spPr>
          <a:xfrm>
            <a:off x="6411864" y="3431560"/>
            <a:ext cx="0" cy="711037"/>
          </a:xfrm>
          <a:prstGeom prst="line">
            <a:avLst/>
          </a:prstGeom>
          <a:noFill/>
          <a:ln w="47625">
            <a:solidFill>
              <a:srgbClr val="2BA6CB"/>
            </a:solidFill>
            <a:prstDash val="solid"/>
            <a:tailEnd type="triangle"/>
          </a:ln>
        </p:spPr>
      </p:sp>
      <p:sp>
        <p:nvSpPr>
          <p:cNvPr id="27" name="Text 25"/>
          <p:cNvSpPr/>
          <p:nvPr/>
        </p:nvSpPr>
        <p:spPr>
          <a:xfrm>
            <a:off x="5006614" y="3426220"/>
            <a:ext cx="1309421"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0667" y="33218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71615" y="2973336"/>
            <a:ext cx="1185062" cy="60043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Persona</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33" dirty="0"/>
          </a:p>
        </p:txBody>
      </p:sp>
      <p:sp>
        <p:nvSpPr>
          <p:cNvPr id="30" name="Shape 28"/>
          <p:cNvSpPr/>
          <p:nvPr/>
        </p:nvSpPr>
        <p:spPr>
          <a:xfrm>
            <a:off x="3330702" y="2973336"/>
            <a:ext cx="1580083" cy="600432"/>
          </a:xfrm>
          <a:prstGeom prst="roundRect">
            <a:avLst>
              <a:gd name="adj" fmla="val 1370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1" name="Shape 29"/>
          <p:cNvSpPr/>
          <p:nvPr/>
        </p:nvSpPr>
        <p:spPr>
          <a:xfrm>
            <a:off x="3422142" y="3063240"/>
            <a:ext cx="420624" cy="420624"/>
          </a:xfrm>
          <a:prstGeom prst="ellipse">
            <a:avLst/>
          </a:prstGeom>
          <a:solidFill>
            <a:srgbClr val="E3F4FA"/>
          </a:solidFill>
          <a:ln w="12700">
            <a:solidFill>
              <a:srgbClr val="E3F4FA"/>
            </a:solidFill>
            <a:prstDash val="solid"/>
          </a:ln>
        </p:spPr>
      </p:sp>
      <p:sp>
        <p:nvSpPr>
          <p:cNvPr id="32" name="Icono monitor"/>
          <p:cNvSpPr/>
          <p:nvPr/>
        </p:nvSpPr>
        <p:spPr>
          <a:xfrm>
            <a:off x="3477006" y="3118104"/>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33" name="Text 31"/>
          <p:cNvSpPr/>
          <p:nvPr/>
        </p:nvSpPr>
        <p:spPr>
          <a:xfrm>
            <a:off x="3897630" y="2973336"/>
            <a:ext cx="958291"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arka-lite-ui</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React + nginx · :8088</a:t>
            </a:r>
            <a:endParaRPr lang="en-US" sz="933" dirty="0"/>
          </a:p>
        </p:txBody>
      </p:sp>
      <p:sp>
        <p:nvSpPr>
          <p:cNvPr id="34" name="Text 32"/>
          <p:cNvSpPr/>
          <p:nvPr/>
        </p:nvSpPr>
        <p:spPr>
          <a:xfrm>
            <a:off x="5937839" y="1930481"/>
            <a:ext cx="1896100" cy="600432"/>
          </a:xfrm>
          <a:prstGeom prst="roundRect">
            <a:avLst>
              <a:gd name="adj" fmla="val 13706"/>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servicio-solicitudes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33" dirty="0"/>
          </a:p>
        </p:txBody>
      </p:sp>
      <p:sp>
        <p:nvSpPr>
          <p:cNvPr id="35" name="Shape 33"/>
          <p:cNvSpPr/>
          <p:nvPr/>
        </p:nvSpPr>
        <p:spPr>
          <a:xfrm>
            <a:off x="8465972" y="1930481"/>
            <a:ext cx="1738092" cy="600432"/>
          </a:xfrm>
          <a:prstGeom prst="roundRect">
            <a:avLst>
              <a:gd name="adj" fmla="val 13706"/>
            </a:avLst>
          </a:prstGeom>
          <a:solidFill>
            <a:srgbClr val="F3F6FA"/>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557412" y="2020385"/>
            <a:ext cx="420624" cy="420624"/>
          </a:xfrm>
          <a:prstGeom prst="ellipse">
            <a:avLst/>
          </a:prstGeom>
          <a:solidFill>
            <a:srgbClr val="E4EAF1"/>
          </a:solidFill>
          <a:ln w="12700">
            <a:solidFill>
              <a:srgbClr val="E4EAF1"/>
            </a:solidFill>
            <a:prstDash val="solid"/>
          </a:ln>
        </p:spPr>
      </p:sp>
      <p:sp>
        <p:nvSpPr>
          <p:cNvPr id="37" name="Icono database"/>
          <p:cNvSpPr/>
          <p:nvPr/>
        </p:nvSpPr>
        <p:spPr>
          <a:xfrm>
            <a:off x="8612276" y="207524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1F4E8C"/>
            </a:solidFill>
            <a:prstDash val="solid"/>
            <a:round/>
          </a:ln>
        </p:spPr>
      </p:sp>
      <p:sp>
        <p:nvSpPr>
          <p:cNvPr id="38" name="Text 36"/>
          <p:cNvSpPr/>
          <p:nvPr/>
        </p:nvSpPr>
        <p:spPr>
          <a:xfrm>
            <a:off x="9032900" y="1930481"/>
            <a:ext cx="1116300" cy="600432"/>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db-solicitudes</a:t>
            </a:r>
            <a:endParaRPr lang="en-US" sz="93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39" name="Text 37"/>
          <p:cNvSpPr/>
          <p:nvPr/>
        </p:nvSpPr>
        <p:spPr>
          <a:xfrm>
            <a:off x="5937839" y="4142598"/>
            <a:ext cx="1896100" cy="600432"/>
          </a:xfrm>
          <a:prstGeom prst="roundRect">
            <a:avLst>
              <a:gd name="adj" fmla="val 13706"/>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33" dirty="0"/>
          </a:p>
        </p:txBody>
      </p:sp>
      <p:sp>
        <p:nvSpPr>
          <p:cNvPr id="40" name="Text 38"/>
          <p:cNvSpPr/>
          <p:nvPr/>
        </p:nvSpPr>
        <p:spPr>
          <a:xfrm>
            <a:off x="8465972" y="4142598"/>
            <a:ext cx="1738092" cy="600432"/>
          </a:xfrm>
          <a:prstGeom prst="roundRect">
            <a:avLst>
              <a:gd name="adj" fmla="val 13706"/>
            </a:avLst>
          </a:prstGeom>
          <a:solidFill>
            <a:srgbClr val="F3F6FA"/>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33" dirty="0"/>
          </a:p>
        </p:txBody>
      </p:sp>
      <p:sp>
        <p:nvSpPr>
          <p:cNvPr id="41" name="Shape 39"/>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2" name="Text 4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3" name="Text 41"/>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también consulta a notificaciones: avisos y eventos consumidos.</a:t>
            </a:r>
            <a:endParaRPr lang="en-US" sz="13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vida de una solicitud</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Cuatro estados, y solo un momento genera un aviso.</a:t>
            </a:r>
            <a:endParaRPr lang="en-US" sz="1700" dirty="0"/>
          </a:p>
        </p:txBody>
      </p:sp>
      <p:sp>
        <p:nvSpPr>
          <p:cNvPr id="6" name="Shape 4"/>
          <p:cNvSpPr/>
          <p:nvPr/>
        </p:nvSpPr>
        <p:spPr>
          <a:xfrm>
            <a:off x="612648" y="2939796"/>
            <a:ext cx="2514600" cy="960120"/>
          </a:xfrm>
          <a:prstGeom prst="roundRect">
            <a:avLst>
              <a:gd name="adj" fmla="val 50000"/>
            </a:avLst>
          </a:prstGeom>
          <a:solidFill>
            <a:srgbClr val="F4F7FB"/>
          </a:solidFill>
          <a:ln w="28575">
            <a:solidFill>
              <a:srgbClr val="55627E"/>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77240" y="3099816"/>
            <a:ext cx="640080" cy="640080"/>
          </a:xfrm>
          <a:prstGeom prst="ellipse">
            <a:avLst/>
          </a:prstGeom>
          <a:solidFill>
            <a:srgbClr val="55627E"/>
          </a:solidFill>
          <a:ln w="12700">
            <a:solidFill>
              <a:srgbClr val="55627E"/>
            </a:solidFill>
            <a:prstDash val="solid"/>
          </a:ln>
        </p:spPr>
      </p:sp>
      <p:sp>
        <p:nvSpPr>
          <p:cNvPr id="8" name="Icono file-plus"/>
          <p:cNvSpPr/>
          <p:nvPr/>
        </p:nvSpPr>
        <p:spPr>
          <a:xfrm>
            <a:off x="930859" y="3253435"/>
            <a:ext cx="332842" cy="332842"/>
          </a:xfrm>
          <a:custGeom>
            <a:avLst/>
            <a:gdLst/>
            <a:ahLst/>
            <a:cxnLst/>
            <a:rect l="l" t="t" r="r" b="b"/>
            <a:pathLst>
              <a:path w="332842" h="332842">
                <a:moveTo>
                  <a:pt x="208026" y="27737"/>
                </a:moveTo>
                <a:lnTo>
                  <a:pt x="83210" y="27737"/>
                </a:lnTo>
                <a:cubicBezTo>
                  <a:pt x="67892" y="27737"/>
                  <a:pt x="55474" y="40155"/>
                  <a:pt x="55474" y="55474"/>
                </a:cubicBezTo>
                <a:lnTo>
                  <a:pt x="55474" y="277368"/>
                </a:lnTo>
                <a:cubicBezTo>
                  <a:pt x="55474" y="292687"/>
                  <a:pt x="67892" y="305105"/>
                  <a:pt x="83210" y="305105"/>
                </a:cubicBezTo>
                <a:lnTo>
                  <a:pt x="249631" y="305105"/>
                </a:lnTo>
                <a:cubicBezTo>
                  <a:pt x="264950" y="305105"/>
                  <a:pt x="277368" y="292687"/>
                  <a:pt x="277368" y="277368"/>
                </a:cubicBezTo>
                <a:lnTo>
                  <a:pt x="277368" y="97079"/>
                </a:lnTo>
                <a:close/>
                <a:moveTo>
                  <a:pt x="194158" y="27737"/>
                </a:moveTo>
                <a:lnTo>
                  <a:pt x="194158" y="83210"/>
                </a:lnTo>
                <a:cubicBezTo>
                  <a:pt x="194158" y="98529"/>
                  <a:pt x="206576" y="110947"/>
                  <a:pt x="221894" y="110947"/>
                </a:cubicBezTo>
                <a:lnTo>
                  <a:pt x="277368" y="110947"/>
                </a:lnTo>
                <a:moveTo>
                  <a:pt x="124816" y="208026"/>
                </a:moveTo>
                <a:lnTo>
                  <a:pt x="208026" y="208026"/>
                </a:lnTo>
                <a:moveTo>
                  <a:pt x="166421" y="249631"/>
                </a:moveTo>
                <a:lnTo>
                  <a:pt x="166421" y="166421"/>
                </a:lnTo>
              </a:path>
            </a:pathLst>
          </a:custGeom>
          <a:noFill/>
          <a:ln w="27737" cap="rnd">
            <a:solidFill>
              <a:srgbClr val="FFFFFF"/>
            </a:solidFill>
            <a:prstDash val="solid"/>
            <a:round/>
          </a:ln>
        </p:spPr>
      </p:sp>
      <p:sp>
        <p:nvSpPr>
          <p:cNvPr id="9" name="Text 7"/>
          <p:cNvSpPr/>
          <p:nvPr/>
        </p:nvSpPr>
        <p:spPr>
          <a:xfrm>
            <a:off x="1527048" y="30952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55627E"/>
                </a:solidFill>
                <a:latin typeface="Segoe UI Semibold" pitchFamily="34" charset="0"/>
                <a:ea typeface="Segoe UI Semibold" pitchFamily="34" charset="-122"/>
                <a:cs typeface="Segoe UI Semibold" pitchFamily="34" charset="-120"/>
              </a:rPr>
              <a:t>BORRADOR</a:t>
            </a:r>
            <a:endParaRPr lang="en-US" sz="1700" dirty="0"/>
          </a:p>
        </p:txBody>
      </p:sp>
      <p:sp>
        <p:nvSpPr>
          <p:cNvPr id="10" name="Text 8"/>
          <p:cNvSpPr/>
          <p:nvPr/>
        </p:nvSpPr>
        <p:spPr>
          <a:xfrm>
            <a:off x="1527048" y="3451860"/>
            <a:ext cx="1490472" cy="329184"/>
          </a:xfrm>
          <a:prstGeom prst="rect">
            <a:avLst/>
          </a:prstGeom>
          <a:noFill/>
          <a:ln/>
        </p:spPr>
        <p:txBody>
          <a:bodyPr wrap="square" lIns="0" tIns="0" rIns="0" bIns="0" rtlCol="0" anchor="t">
            <a:normAutofit/>
          </a:bodyPr>
          <a:lstStyle/>
          <a:p>
            <a:pPr algn="l" indent="0" marL="0">
              <a:buNone/>
            </a:pPr>
            <a:r>
              <a:rPr lang="en-US" sz="1050" dirty="0">
                <a:solidFill>
                  <a:srgbClr val="0B1A3C"/>
                </a:solidFill>
                <a:latin typeface="Segoe UI" pitchFamily="34" charset="0"/>
                <a:ea typeface="Segoe UI" pitchFamily="34" charset="-122"/>
                <a:cs typeface="Segoe UI" pitchFamily="34" charset="-120"/>
              </a:rPr>
              <a:t>Recién creada. Nadie se entera.</a:t>
            </a:r>
            <a:endParaRPr lang="en-US" sz="1050" dirty="0"/>
          </a:p>
        </p:txBody>
      </p:sp>
      <p:sp>
        <p:nvSpPr>
          <p:cNvPr id="11" name="Shape 9"/>
          <p:cNvSpPr/>
          <p:nvPr/>
        </p:nvSpPr>
        <p:spPr>
          <a:xfrm>
            <a:off x="4838548" y="2939796"/>
            <a:ext cx="2514600" cy="960120"/>
          </a:xfrm>
          <a:prstGeom prst="roundRect">
            <a:avLst>
              <a:gd name="adj" fmla="val 50000"/>
            </a:avLst>
          </a:prstGeom>
          <a:solidFill>
            <a:srgbClr val="E3F4FA"/>
          </a:solidFill>
          <a:ln w="28575">
            <a:solidFill>
              <a:srgbClr val="0B6E8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5003140" y="3099816"/>
            <a:ext cx="640080" cy="640080"/>
          </a:xfrm>
          <a:prstGeom prst="ellipse">
            <a:avLst/>
          </a:prstGeom>
          <a:solidFill>
            <a:srgbClr val="0B6E8A"/>
          </a:solidFill>
          <a:ln w="12700">
            <a:solidFill>
              <a:srgbClr val="0B6E8A"/>
            </a:solidFill>
            <a:prstDash val="solid"/>
          </a:ln>
        </p:spPr>
      </p:sp>
      <p:sp>
        <p:nvSpPr>
          <p:cNvPr id="13" name="Icono send"/>
          <p:cNvSpPr/>
          <p:nvPr/>
        </p:nvSpPr>
        <p:spPr>
          <a:xfrm>
            <a:off x="5156759" y="3253435"/>
            <a:ext cx="332842" cy="332842"/>
          </a:xfrm>
          <a:custGeom>
            <a:avLst/>
            <a:gdLst/>
            <a:ahLst/>
            <a:cxnLst/>
            <a:rect l="l" t="t" r="r" b="b"/>
            <a:pathLst>
              <a:path w="332842" h="332842">
                <a:moveTo>
                  <a:pt x="201591" y="300750"/>
                </a:moveTo>
                <a:cubicBezTo>
                  <a:pt x="202670" y="303439"/>
                  <a:pt x="205307" y="305174"/>
                  <a:pt x="208204" y="305100"/>
                </a:cubicBezTo>
                <a:cubicBezTo>
                  <a:pt x="211101" y="305026"/>
                  <a:pt x="213646" y="303158"/>
                  <a:pt x="214586" y="300417"/>
                </a:cubicBezTo>
                <a:lnTo>
                  <a:pt x="304730" y="36918"/>
                </a:lnTo>
                <a:cubicBezTo>
                  <a:pt x="305636" y="34409"/>
                  <a:pt x="305011" y="31603"/>
                  <a:pt x="303125" y="29717"/>
                </a:cubicBezTo>
                <a:cubicBezTo>
                  <a:pt x="301239" y="27831"/>
                  <a:pt x="298432" y="27205"/>
                  <a:pt x="295924" y="28111"/>
                </a:cubicBezTo>
                <a:lnTo>
                  <a:pt x="32424" y="118256"/>
                </a:lnTo>
                <a:cubicBezTo>
                  <a:pt x="29683" y="119196"/>
                  <a:pt x="27816" y="121741"/>
                  <a:pt x="27742" y="124638"/>
                </a:cubicBezTo>
                <a:cubicBezTo>
                  <a:pt x="27668" y="127534"/>
                  <a:pt x="29402" y="130172"/>
                  <a:pt x="32091" y="131251"/>
                </a:cubicBezTo>
                <a:lnTo>
                  <a:pt x="142068" y="175352"/>
                </a:lnTo>
                <a:cubicBezTo>
                  <a:pt x="149093" y="178165"/>
                  <a:pt x="154664" y="183726"/>
                  <a:pt x="157490" y="190746"/>
                </a:cubicBezTo>
                <a:close/>
                <a:moveTo>
                  <a:pt x="303080" y="29775"/>
                </a:moveTo>
                <a:lnTo>
                  <a:pt x="151360" y="181482"/>
                </a:lnTo>
              </a:path>
            </a:pathLst>
          </a:custGeom>
          <a:noFill/>
          <a:ln w="27737" cap="rnd">
            <a:solidFill>
              <a:srgbClr val="FFFFFF"/>
            </a:solidFill>
            <a:prstDash val="solid"/>
            <a:round/>
          </a:ln>
        </p:spPr>
      </p:sp>
      <p:sp>
        <p:nvSpPr>
          <p:cNvPr id="14" name="Text 12"/>
          <p:cNvSpPr/>
          <p:nvPr/>
        </p:nvSpPr>
        <p:spPr>
          <a:xfrm>
            <a:off x="5752948" y="30952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0B6E8A"/>
                </a:solidFill>
                <a:latin typeface="Segoe UI Semibold" pitchFamily="34" charset="0"/>
                <a:ea typeface="Segoe UI Semibold" pitchFamily="34" charset="-122"/>
                <a:cs typeface="Segoe UI Semibold" pitchFamily="34" charset="-120"/>
              </a:rPr>
              <a:t>ENVIADA</a:t>
            </a:r>
            <a:endParaRPr lang="en-US" sz="1700" dirty="0"/>
          </a:p>
        </p:txBody>
      </p:sp>
      <p:sp>
        <p:nvSpPr>
          <p:cNvPr id="15" name="Text 13"/>
          <p:cNvSpPr/>
          <p:nvPr/>
        </p:nvSpPr>
        <p:spPr>
          <a:xfrm>
            <a:off x="5752948" y="3451860"/>
            <a:ext cx="1490472" cy="329184"/>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Se genera un aviso.</a:t>
            </a:r>
            <a:endParaRPr lang="en-US" sz="1150" dirty="0"/>
          </a:p>
        </p:txBody>
      </p:sp>
      <p:sp>
        <p:nvSpPr>
          <p:cNvPr id="16" name="Shape 14"/>
          <p:cNvSpPr/>
          <p:nvPr/>
        </p:nvSpPr>
        <p:spPr>
          <a:xfrm>
            <a:off x="9064447" y="2253996"/>
            <a:ext cx="2514600" cy="960120"/>
          </a:xfrm>
          <a:prstGeom prst="roundRect">
            <a:avLst>
              <a:gd name="adj" fmla="val 50000"/>
            </a:avLst>
          </a:prstGeom>
          <a:solidFill>
            <a:srgbClr val="E1F1EA"/>
          </a:solidFill>
          <a:ln w="28575">
            <a:solidFill>
              <a:srgbClr val="0A6648"/>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9229039" y="2414016"/>
            <a:ext cx="640080" cy="640080"/>
          </a:xfrm>
          <a:prstGeom prst="ellipse">
            <a:avLst/>
          </a:prstGeom>
          <a:solidFill>
            <a:srgbClr val="0A6648"/>
          </a:solidFill>
          <a:ln w="12700">
            <a:solidFill>
              <a:srgbClr val="0A6648"/>
            </a:solidFill>
            <a:prstDash val="solid"/>
          </a:ln>
        </p:spPr>
      </p:sp>
      <p:sp>
        <p:nvSpPr>
          <p:cNvPr id="18" name="Icono circle-check"/>
          <p:cNvSpPr/>
          <p:nvPr/>
        </p:nvSpPr>
        <p:spPr>
          <a:xfrm>
            <a:off x="9382658" y="2567635"/>
            <a:ext cx="332842" cy="332842"/>
          </a:xfrm>
          <a:custGeom>
            <a:avLst/>
            <a:gdLst/>
            <a:ahLst/>
            <a:cxnLst/>
            <a:rect l="l" t="t" r="r" b="b"/>
            <a:pathLst>
              <a:path w="332842" h="332842">
                <a:moveTo>
                  <a:pt x="305105" y="166421"/>
                </a:moveTo>
                <a:cubicBezTo>
                  <a:pt x="305105" y="243014"/>
                  <a:pt x="243014" y="305105"/>
                  <a:pt x="166421" y="305105"/>
                </a:cubicBezTo>
                <a:cubicBezTo>
                  <a:pt x="89828" y="305105"/>
                  <a:pt x="27737" y="243014"/>
                  <a:pt x="27737" y="166421"/>
                </a:cubicBezTo>
                <a:cubicBezTo>
                  <a:pt x="27737" y="89828"/>
                  <a:pt x="89828" y="27737"/>
                  <a:pt x="166421" y="27737"/>
                </a:cubicBezTo>
                <a:cubicBezTo>
                  <a:pt x="243014" y="27737"/>
                  <a:pt x="305105" y="89828"/>
                  <a:pt x="305105" y="166421"/>
                </a:cubicBezTo>
                <a:close/>
                <a:moveTo>
                  <a:pt x="124816" y="166421"/>
                </a:moveTo>
                <a:lnTo>
                  <a:pt x="152552" y="194158"/>
                </a:lnTo>
                <a:lnTo>
                  <a:pt x="208026" y="138684"/>
                </a:lnTo>
              </a:path>
            </a:pathLst>
          </a:custGeom>
          <a:noFill/>
          <a:ln w="27737" cap="rnd">
            <a:solidFill>
              <a:srgbClr val="FFFFFF"/>
            </a:solidFill>
            <a:prstDash val="solid"/>
            <a:round/>
          </a:ln>
        </p:spPr>
      </p:sp>
      <p:sp>
        <p:nvSpPr>
          <p:cNvPr id="19" name="Text 17"/>
          <p:cNvSpPr/>
          <p:nvPr/>
        </p:nvSpPr>
        <p:spPr>
          <a:xfrm>
            <a:off x="9978847" y="24094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0A6648"/>
                </a:solidFill>
                <a:latin typeface="Segoe UI Semibold" pitchFamily="34" charset="0"/>
                <a:ea typeface="Segoe UI Semibold" pitchFamily="34" charset="-122"/>
                <a:cs typeface="Segoe UI Semibold" pitchFamily="34" charset="-120"/>
              </a:rPr>
              <a:t>APROBADA</a:t>
            </a:r>
            <a:endParaRPr lang="en-US" sz="1700" dirty="0"/>
          </a:p>
        </p:txBody>
      </p:sp>
      <p:sp>
        <p:nvSpPr>
          <p:cNvPr id="20" name="Text 18"/>
          <p:cNvSpPr/>
          <p:nvPr/>
        </p:nvSpPr>
        <p:spPr>
          <a:xfrm>
            <a:off x="9978847" y="2766060"/>
            <a:ext cx="1490472" cy="329184"/>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Termina su vida.</a:t>
            </a:r>
            <a:endParaRPr lang="en-US" sz="1150" dirty="0"/>
          </a:p>
        </p:txBody>
      </p:sp>
      <p:sp>
        <p:nvSpPr>
          <p:cNvPr id="21" name="Shape 19"/>
          <p:cNvSpPr/>
          <p:nvPr/>
        </p:nvSpPr>
        <p:spPr>
          <a:xfrm>
            <a:off x="9064447" y="3625596"/>
            <a:ext cx="2514600" cy="960120"/>
          </a:xfrm>
          <a:prstGeom prst="roundRect">
            <a:avLst>
              <a:gd name="adj" fmla="val 50000"/>
            </a:avLst>
          </a:prstGeom>
          <a:solidFill>
            <a:srgbClr val="F7E3E7"/>
          </a:solidFill>
          <a:ln w="28575">
            <a:solidFill>
              <a:srgbClr val="AB243E"/>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9229039" y="3785616"/>
            <a:ext cx="640080" cy="640080"/>
          </a:xfrm>
          <a:prstGeom prst="ellipse">
            <a:avLst/>
          </a:prstGeom>
          <a:solidFill>
            <a:srgbClr val="AB243E"/>
          </a:solidFill>
          <a:ln w="12700">
            <a:solidFill>
              <a:srgbClr val="AB243E"/>
            </a:solidFill>
            <a:prstDash val="solid"/>
          </a:ln>
        </p:spPr>
      </p:sp>
      <p:sp>
        <p:nvSpPr>
          <p:cNvPr id="23" name="Icono circle-x"/>
          <p:cNvSpPr/>
          <p:nvPr/>
        </p:nvSpPr>
        <p:spPr>
          <a:xfrm>
            <a:off x="9382658" y="3939235"/>
            <a:ext cx="332842" cy="332842"/>
          </a:xfrm>
          <a:custGeom>
            <a:avLst/>
            <a:gdLst/>
            <a:ahLst/>
            <a:cxnLst/>
            <a:rect l="l" t="t" r="r" b="b"/>
            <a:pathLst>
              <a:path w="332842" h="332842">
                <a:moveTo>
                  <a:pt x="305105" y="166421"/>
                </a:moveTo>
                <a:cubicBezTo>
                  <a:pt x="305105" y="243014"/>
                  <a:pt x="243014" y="305105"/>
                  <a:pt x="166421" y="305105"/>
                </a:cubicBezTo>
                <a:cubicBezTo>
                  <a:pt x="89828" y="305105"/>
                  <a:pt x="27737" y="243014"/>
                  <a:pt x="27737" y="166421"/>
                </a:cubicBezTo>
                <a:cubicBezTo>
                  <a:pt x="27737" y="89828"/>
                  <a:pt x="89828" y="27737"/>
                  <a:pt x="166421" y="27737"/>
                </a:cubicBezTo>
                <a:cubicBezTo>
                  <a:pt x="243014" y="27737"/>
                  <a:pt x="305105" y="89828"/>
                  <a:pt x="305105" y="166421"/>
                </a:cubicBezTo>
                <a:close/>
                <a:moveTo>
                  <a:pt x="208026" y="124816"/>
                </a:moveTo>
                <a:lnTo>
                  <a:pt x="124816" y="208026"/>
                </a:lnTo>
                <a:moveTo>
                  <a:pt x="124816" y="124816"/>
                </a:moveTo>
                <a:lnTo>
                  <a:pt x="208026" y="208026"/>
                </a:lnTo>
              </a:path>
            </a:pathLst>
          </a:custGeom>
          <a:noFill/>
          <a:ln w="27737" cap="rnd">
            <a:solidFill>
              <a:srgbClr val="FFFFFF"/>
            </a:solidFill>
            <a:prstDash val="solid"/>
            <a:round/>
          </a:ln>
        </p:spPr>
      </p:sp>
      <p:sp>
        <p:nvSpPr>
          <p:cNvPr id="24" name="Text 22"/>
          <p:cNvSpPr/>
          <p:nvPr/>
        </p:nvSpPr>
        <p:spPr>
          <a:xfrm>
            <a:off x="9978847" y="3781044"/>
            <a:ext cx="1490472" cy="384048"/>
          </a:xfrm>
          <a:prstGeom prst="rect">
            <a:avLst/>
          </a:prstGeom>
          <a:noFill/>
          <a:ln/>
        </p:spPr>
        <p:txBody>
          <a:bodyPr wrap="square" lIns="0" tIns="0" rIns="0" bIns="0" rtlCol="0" anchor="ctr">
            <a:normAutofit/>
          </a:bodyPr>
          <a:lstStyle/>
          <a:p>
            <a:pPr algn="l" indent="0" marL="0">
              <a:buNone/>
            </a:pPr>
            <a:r>
              <a:rPr lang="en-US" sz="1700" b="1" dirty="0">
                <a:solidFill>
                  <a:srgbClr val="AB243E"/>
                </a:solidFill>
                <a:latin typeface="Segoe UI Semibold" pitchFamily="34" charset="0"/>
                <a:ea typeface="Segoe UI Semibold" pitchFamily="34" charset="-122"/>
                <a:cs typeface="Segoe UI Semibold" pitchFamily="34" charset="-120"/>
              </a:rPr>
              <a:t>RECHAZADA</a:t>
            </a:r>
            <a:endParaRPr lang="en-US" sz="1700" dirty="0"/>
          </a:p>
        </p:txBody>
      </p:sp>
      <p:sp>
        <p:nvSpPr>
          <p:cNvPr id="25" name="Text 23"/>
          <p:cNvSpPr/>
          <p:nvPr/>
        </p:nvSpPr>
        <p:spPr>
          <a:xfrm>
            <a:off x="9978847" y="4137660"/>
            <a:ext cx="1490472" cy="329184"/>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Termina su vida.</a:t>
            </a:r>
            <a:endParaRPr lang="en-US" sz="1150" dirty="0"/>
          </a:p>
        </p:txBody>
      </p:sp>
      <p:sp>
        <p:nvSpPr>
          <p:cNvPr id="26" name="Shape 24"/>
          <p:cNvSpPr/>
          <p:nvPr/>
        </p:nvSpPr>
        <p:spPr>
          <a:xfrm>
            <a:off x="3200400" y="3419856"/>
            <a:ext cx="1564996" cy="0"/>
          </a:xfrm>
          <a:prstGeom prst="line">
            <a:avLst/>
          </a:prstGeom>
          <a:noFill/>
          <a:ln w="38100">
            <a:solidFill>
              <a:srgbClr val="2BA6CB"/>
            </a:solidFill>
            <a:prstDash val="solid"/>
            <a:tailEnd type="triangle"/>
          </a:ln>
        </p:spPr>
      </p:sp>
      <p:sp>
        <p:nvSpPr>
          <p:cNvPr id="27" name="Text 25"/>
          <p:cNvSpPr/>
          <p:nvPr/>
        </p:nvSpPr>
        <p:spPr>
          <a:xfrm>
            <a:off x="3557702" y="2798064"/>
            <a:ext cx="850392" cy="329184"/>
          </a:xfrm>
          <a:prstGeom prst="roundRect">
            <a:avLst>
              <a:gd name="adj" fmla="val 50000"/>
            </a:avLst>
          </a:prstGeom>
          <a:solidFill>
            <a:srgbClr val="0B2350"/>
          </a:solidFill>
          <a:ln>
            <a:solidFill>
              <a:srgbClr val="0B2350"/>
            </a:solidFill>
          </a:ln>
        </p:spPr>
        <p:txBody>
          <a:bodyPr wrap="square" lIns="0" tIns="76200" rIns="7620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Enviar</a:t>
            </a:r>
            <a:endParaRPr lang="en-US" sz="1200" dirty="0"/>
          </a:p>
        </p:txBody>
      </p:sp>
      <p:sp>
        <p:nvSpPr>
          <p:cNvPr id="28" name="Shape 26"/>
          <p:cNvSpPr/>
          <p:nvPr/>
        </p:nvSpPr>
        <p:spPr>
          <a:xfrm flipV="1">
            <a:off x="7426300" y="2734056"/>
            <a:ext cx="1564996" cy="685800"/>
          </a:xfrm>
          <a:prstGeom prst="line">
            <a:avLst/>
          </a:prstGeom>
          <a:noFill/>
          <a:ln w="38100">
            <a:solidFill>
              <a:srgbClr val="2BA6CB"/>
            </a:solidFill>
            <a:prstDash val="solid"/>
            <a:tailEnd type="triangle"/>
          </a:ln>
        </p:spPr>
      </p:sp>
      <p:sp>
        <p:nvSpPr>
          <p:cNvPr id="29" name="Shape 27"/>
          <p:cNvSpPr/>
          <p:nvPr/>
        </p:nvSpPr>
        <p:spPr>
          <a:xfrm>
            <a:off x="7426300" y="3419856"/>
            <a:ext cx="1564996" cy="685800"/>
          </a:xfrm>
          <a:prstGeom prst="line">
            <a:avLst/>
          </a:prstGeom>
          <a:noFill/>
          <a:ln w="38100">
            <a:solidFill>
              <a:srgbClr val="2BA6CB"/>
            </a:solidFill>
            <a:prstDash val="solid"/>
            <a:tailEnd type="triangle"/>
          </a:ln>
        </p:spPr>
      </p:sp>
      <p:sp>
        <p:nvSpPr>
          <p:cNvPr id="30" name="Text 28"/>
          <p:cNvSpPr/>
          <p:nvPr/>
        </p:nvSpPr>
        <p:spPr>
          <a:xfrm>
            <a:off x="7398868" y="2798064"/>
            <a:ext cx="1619860" cy="329184"/>
          </a:xfrm>
          <a:prstGeom prst="roundRect">
            <a:avLst>
              <a:gd name="adj" fmla="val 50000"/>
            </a:avLst>
          </a:prstGeom>
          <a:solidFill>
            <a:srgbClr val="0B2350"/>
          </a:solidFill>
          <a:ln>
            <a:solidFill>
              <a:srgbClr val="0B2350"/>
            </a:solidFill>
          </a:ln>
        </p:spPr>
        <p:txBody>
          <a:bodyPr wrap="square" lIns="0" tIns="76200" rIns="76200" bIns="0" rtlCol="0" anchor="ctr">
            <a:normAutofit/>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Aprobar o rechazar</a:t>
            </a:r>
            <a:endParaRPr lang="en-US" sz="1200" dirty="0"/>
          </a:p>
        </p:txBody>
      </p:sp>
      <p:sp>
        <p:nvSpPr>
          <p:cNvPr id="31" name="Shape 29"/>
          <p:cNvSpPr/>
          <p:nvPr/>
        </p:nvSpPr>
        <p:spPr>
          <a:xfrm>
            <a:off x="2805928" y="5394960"/>
            <a:ext cx="6579840" cy="960120"/>
          </a:xfrm>
          <a:prstGeom prst="roundRect">
            <a:avLst>
              <a:gd name="adj" fmla="val 13333"/>
            </a:avLst>
          </a:prstGeom>
          <a:solidFill>
            <a:srgbClr val="F7E3E7"/>
          </a:solidFill>
          <a:ln w="12700">
            <a:solidFill>
              <a:srgbClr val="D18795"/>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3007096" y="5573268"/>
            <a:ext cx="603504" cy="603504"/>
          </a:xfrm>
          <a:prstGeom prst="ellipse">
            <a:avLst/>
          </a:prstGeom>
          <a:solidFill>
            <a:srgbClr val="FFFFFF"/>
          </a:solidFill>
          <a:ln w="12700">
            <a:solidFill>
              <a:srgbClr val="FFFFFF"/>
            </a:solidFill>
            <a:prstDash val="solid"/>
          </a:ln>
        </p:spPr>
      </p:sp>
      <p:sp>
        <p:nvSpPr>
          <p:cNvPr id="33" name="Icono ban"/>
          <p:cNvSpPr/>
          <p:nvPr/>
        </p:nvSpPr>
        <p:spPr>
          <a:xfrm>
            <a:off x="3151937" y="5718109"/>
            <a:ext cx="313822" cy="313822"/>
          </a:xfrm>
          <a:custGeom>
            <a:avLst/>
            <a:gdLst/>
            <a:ahLst/>
            <a:cxnLst/>
            <a:rect l="l" t="t" r="r" b="b"/>
            <a:pathLst>
              <a:path w="313822" h="313822">
                <a:moveTo>
                  <a:pt x="287670" y="156911"/>
                </a:moveTo>
                <a:cubicBezTo>
                  <a:pt x="287670" y="229127"/>
                  <a:pt x="229127" y="287670"/>
                  <a:pt x="156911" y="287670"/>
                </a:cubicBezTo>
                <a:cubicBezTo>
                  <a:pt x="84695" y="287670"/>
                  <a:pt x="26152" y="229127"/>
                  <a:pt x="26152" y="156911"/>
                </a:cubicBezTo>
                <a:cubicBezTo>
                  <a:pt x="26152" y="84695"/>
                  <a:pt x="84695" y="26152"/>
                  <a:pt x="156911" y="26152"/>
                </a:cubicBezTo>
                <a:cubicBezTo>
                  <a:pt x="229127" y="26152"/>
                  <a:pt x="287670" y="84695"/>
                  <a:pt x="287670" y="156911"/>
                </a:cubicBezTo>
                <a:close/>
                <a:moveTo>
                  <a:pt x="64072" y="64072"/>
                </a:moveTo>
                <a:lnTo>
                  <a:pt x="249750" y="249750"/>
                </a:lnTo>
              </a:path>
            </a:pathLst>
          </a:custGeom>
          <a:noFill/>
          <a:ln w="26152" cap="rnd">
            <a:solidFill>
              <a:srgbClr val="AB243E"/>
            </a:solidFill>
            <a:prstDash val="solid"/>
            <a:round/>
          </a:ln>
        </p:spPr>
      </p:sp>
      <p:sp>
        <p:nvSpPr>
          <p:cNvPr id="34" name="Text 32"/>
          <p:cNvSpPr/>
          <p:nvPr/>
        </p:nvSpPr>
        <p:spPr>
          <a:xfrm>
            <a:off x="3766048" y="5522976"/>
            <a:ext cx="5482560" cy="365760"/>
          </a:xfrm>
          <a:prstGeom prst="rect">
            <a:avLst/>
          </a:prstGeom>
          <a:noFill/>
          <a:ln/>
        </p:spPr>
        <p:txBody>
          <a:bodyPr wrap="square" lIns="0" tIns="0" rIns="0" bIns="0" rtlCol="0" anchor="t">
            <a:normAutofit/>
          </a:bodyPr>
          <a:lstStyle/>
          <a:p>
            <a:pPr algn="l" indent="0" marL="0">
              <a:buNone/>
            </a:pPr>
            <a:r>
              <a:rPr lang="en-US" sz="1700" b="1" dirty="0">
                <a:solidFill>
                  <a:srgbClr val="AB243E"/>
                </a:solidFill>
                <a:latin typeface="Segoe UI Semibold" pitchFamily="34" charset="0"/>
                <a:ea typeface="Segoe UI Semibold" pitchFamily="34" charset="-122"/>
                <a:cs typeface="Segoe UI Semibold" pitchFamily="34" charset="-120"/>
              </a:rPr>
              <a:t>409 · Conflicto</a:t>
            </a:r>
            <a:endParaRPr lang="en-US" sz="1700" dirty="0"/>
          </a:p>
        </p:txBody>
      </p:sp>
      <p:sp>
        <p:nvSpPr>
          <p:cNvPr id="35" name="Text 33"/>
          <p:cNvSpPr/>
          <p:nvPr/>
        </p:nvSpPr>
        <p:spPr>
          <a:xfrm>
            <a:off x="3766048" y="5888736"/>
            <a:ext cx="5482560" cy="384048"/>
          </a:xfrm>
          <a:prstGeom prst="rect">
            <a:avLst/>
          </a:prstGeom>
          <a:noFill/>
          <a:ln/>
        </p:spPr>
        <p:txBody>
          <a:bodyPr wrap="square" lIns="0" tIns="0" rIns="0" bIns="0" rtlCol="0" anchor="t">
            <a:normAutofit/>
          </a:bodyPr>
          <a:lstStyle/>
          <a:p>
            <a:pPr algn="l" indent="0" marL="0">
              <a:buNone/>
            </a:pPr>
            <a:r>
              <a:rPr lang="en-US" sz="1200" dirty="0">
                <a:solidFill>
                  <a:srgbClr val="0B1A3C"/>
                </a:solidFill>
                <a:latin typeface="Segoe UI" pitchFamily="34" charset="0"/>
                <a:ea typeface="Segoe UI" pitchFamily="34" charset="-122"/>
                <a:cs typeface="Segoe UI" pitchFamily="34" charset="-120"/>
              </a:rPr>
              <a:t>Enviar dos veces o aprobar algo que no está enviado: el servicio no lo permite y explica por qué.</a:t>
            </a:r>
            <a:endParaRPr lang="en-US" sz="12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piezas corren en Docker Compose o en Kubernetes</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GitHub Actions prueba cada cambio y publica las imágenes</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Los logs de todos llegan a Grafana</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pieza tiene una sola responsabilidad</a:t>
            </a:r>
            <a:endParaRPr lang="en-US" sz="1100" dirty="0"/>
          </a:p>
        </p:txBody>
      </p:sp>
      <p:sp>
        <p:nvSpPr>
          <p:cNvPr id="9" name="Shape 7"/>
          <p:cNvSpPr/>
          <p:nvPr/>
        </p:nvSpPr>
        <p:spPr>
          <a:xfrm>
            <a:off x="2297005" y="1826677"/>
            <a:ext cx="9149552" cy="3152231"/>
          </a:xfrm>
          <a:prstGeom prst="roundRect">
            <a:avLst>
              <a:gd name="adj" fmla="val 3481"/>
            </a:avLst>
          </a:prstGeom>
          <a:solidFill>
            <a:srgbClr val="F7F9FC"/>
          </a:solidFill>
          <a:ln w="12700">
            <a:solidFill>
              <a:srgbClr val="C7D2E2"/>
            </a:solidFill>
            <a:prstDash val="dash"/>
          </a:ln>
        </p:spPr>
      </p:sp>
      <p:sp>
        <p:nvSpPr>
          <p:cNvPr id="10" name="Text 8"/>
          <p:cNvSpPr/>
          <p:nvPr/>
        </p:nvSpPr>
        <p:spPr>
          <a:xfrm>
            <a:off x="2370157" y="1881541"/>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11" name="Shape 9"/>
          <p:cNvSpPr/>
          <p:nvPr/>
        </p:nvSpPr>
        <p:spPr>
          <a:xfrm>
            <a:off x="2426328" y="2198479"/>
            <a:ext cx="1616529" cy="2683437"/>
          </a:xfrm>
          <a:prstGeom prst="roundRect">
            <a:avLst>
              <a:gd name="adj" fmla="val 6788"/>
            </a:avLst>
          </a:prstGeom>
          <a:solidFill>
            <a:srgbClr val="F1EEFD"/>
          </a:solidFill>
          <a:ln w="12700">
            <a:solidFill>
              <a:srgbClr val="C9BEF4"/>
            </a:solidFill>
            <a:prstDash val="solid"/>
          </a:ln>
        </p:spPr>
      </p:sp>
      <p:sp>
        <p:nvSpPr>
          <p:cNvPr id="12" name="Text 10"/>
          <p:cNvSpPr/>
          <p:nvPr/>
        </p:nvSpPr>
        <p:spPr>
          <a:xfrm>
            <a:off x="2499480" y="2253343"/>
            <a:ext cx="143364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13" name="Shape 11"/>
          <p:cNvSpPr/>
          <p:nvPr/>
        </p:nvSpPr>
        <p:spPr>
          <a:xfrm>
            <a:off x="4285336" y="2198479"/>
            <a:ext cx="4849586" cy="1196231"/>
          </a:xfrm>
          <a:prstGeom prst="roundRect">
            <a:avLst>
              <a:gd name="adj" fmla="val 9173"/>
            </a:avLst>
          </a:prstGeom>
          <a:solidFill>
            <a:srgbClr val="EAF0FA"/>
          </a:solidFill>
          <a:ln w="12700">
            <a:solidFill>
              <a:srgbClr val="AFC4E6"/>
            </a:solidFill>
            <a:prstDash val="solid"/>
          </a:ln>
        </p:spPr>
      </p:sp>
      <p:sp>
        <p:nvSpPr>
          <p:cNvPr id="14" name="Text 12"/>
          <p:cNvSpPr/>
          <p:nvPr/>
        </p:nvSpPr>
        <p:spPr>
          <a:xfrm>
            <a:off x="4358488" y="2253343"/>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5" name="Shape 13"/>
          <p:cNvSpPr/>
          <p:nvPr/>
        </p:nvSpPr>
        <p:spPr>
          <a:xfrm>
            <a:off x="4285336" y="3637189"/>
            <a:ext cx="4849586" cy="1244727"/>
          </a:xfrm>
          <a:prstGeom prst="roundRect">
            <a:avLst>
              <a:gd name="adj" fmla="val 8815"/>
            </a:avLst>
          </a:prstGeom>
          <a:solidFill>
            <a:srgbClr val="E5F5FA"/>
          </a:solidFill>
          <a:ln w="12700">
            <a:solidFill>
              <a:srgbClr val="9DD7E8"/>
            </a:solidFill>
            <a:prstDash val="solid"/>
          </a:ln>
        </p:spPr>
      </p:sp>
      <p:sp>
        <p:nvSpPr>
          <p:cNvPr id="16" name="Text 14"/>
          <p:cNvSpPr/>
          <p:nvPr/>
        </p:nvSpPr>
        <p:spPr>
          <a:xfrm>
            <a:off x="4358488" y="369205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7" name="Shape 15"/>
          <p:cNvSpPr/>
          <p:nvPr/>
        </p:nvSpPr>
        <p:spPr>
          <a:xfrm>
            <a:off x="2297005" y="5156726"/>
            <a:ext cx="4849586" cy="1115405"/>
          </a:xfrm>
          <a:prstGeom prst="roundRect">
            <a:avLst>
              <a:gd name="adj" fmla="val 9838"/>
            </a:avLst>
          </a:prstGeom>
          <a:solidFill>
            <a:srgbClr val="E6F4EE"/>
          </a:solidFill>
          <a:ln w="12700">
            <a:solidFill>
              <a:srgbClr val="A9D8C3"/>
            </a:solidFill>
            <a:prstDash val="solid"/>
          </a:ln>
        </p:spPr>
      </p:sp>
      <p:sp>
        <p:nvSpPr>
          <p:cNvPr id="18" name="Text 16"/>
          <p:cNvSpPr/>
          <p:nvPr/>
        </p:nvSpPr>
        <p:spPr>
          <a:xfrm>
            <a:off x="2370157" y="5211590"/>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9" name="Shape 17"/>
          <p:cNvSpPr/>
          <p:nvPr/>
        </p:nvSpPr>
        <p:spPr>
          <a:xfrm>
            <a:off x="7308244" y="5156726"/>
            <a:ext cx="4138313" cy="1115405"/>
          </a:xfrm>
          <a:prstGeom prst="roundRect">
            <a:avLst>
              <a:gd name="adj" fmla="val 9838"/>
            </a:avLst>
          </a:prstGeom>
          <a:solidFill>
            <a:srgbClr val="FCF2E2"/>
          </a:solidFill>
          <a:ln w="12700">
            <a:solidFill>
              <a:srgbClr val="EDCC93"/>
            </a:solidFill>
            <a:prstDash val="solid"/>
          </a:ln>
        </p:spPr>
      </p:sp>
      <p:sp>
        <p:nvSpPr>
          <p:cNvPr id="20" name="Text 18"/>
          <p:cNvSpPr/>
          <p:nvPr/>
        </p:nvSpPr>
        <p:spPr>
          <a:xfrm>
            <a:off x="7381396" y="5211590"/>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21" name="Shape 19"/>
          <p:cNvSpPr/>
          <p:nvPr/>
        </p:nvSpPr>
        <p:spPr>
          <a:xfrm>
            <a:off x="2135353" y="2828925"/>
            <a:ext cx="420297" cy="0"/>
          </a:xfrm>
          <a:prstGeom prst="line">
            <a:avLst/>
          </a:prstGeom>
          <a:noFill/>
          <a:ln w="31750">
            <a:solidFill>
              <a:srgbClr val="2E6DB4"/>
            </a:solidFill>
            <a:prstDash val="solid"/>
            <a:tailEnd type="triangle"/>
          </a:ln>
        </p:spPr>
      </p:sp>
      <p:sp>
        <p:nvSpPr>
          <p:cNvPr id="22" name="Text 20"/>
          <p:cNvSpPr/>
          <p:nvPr/>
        </p:nvSpPr>
        <p:spPr>
          <a:xfrm>
            <a:off x="2219608" y="271919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23" name="Shape 21"/>
          <p:cNvSpPr/>
          <p:nvPr/>
        </p:nvSpPr>
        <p:spPr>
          <a:xfrm>
            <a:off x="2781964" y="3071404"/>
            <a:ext cx="0" cy="856760"/>
          </a:xfrm>
          <a:prstGeom prst="line">
            <a:avLst/>
          </a:prstGeom>
          <a:noFill/>
          <a:ln w="31750">
            <a:solidFill>
              <a:srgbClr val="2E6DB4"/>
            </a:solidFill>
            <a:prstDash val="solid"/>
            <a:tailEnd type="triangle"/>
          </a:ln>
        </p:spPr>
      </p:sp>
      <p:sp>
        <p:nvSpPr>
          <p:cNvPr id="24" name="Text 22"/>
          <p:cNvSpPr/>
          <p:nvPr/>
        </p:nvSpPr>
        <p:spPr>
          <a:xfrm>
            <a:off x="2672236" y="31556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3913534" y="4089817"/>
            <a:ext cx="258645" cy="0"/>
          </a:xfrm>
          <a:prstGeom prst="line">
            <a:avLst/>
          </a:prstGeom>
          <a:noFill/>
          <a:ln w="31750">
            <a:solidFill>
              <a:srgbClr val="2E6DB4"/>
            </a:solidFill>
            <a:prstDash val="solid"/>
          </a:ln>
        </p:spPr>
      </p:sp>
      <p:sp>
        <p:nvSpPr>
          <p:cNvPr id="26" name="Shape 24"/>
          <p:cNvSpPr/>
          <p:nvPr/>
        </p:nvSpPr>
        <p:spPr>
          <a:xfrm flipV="1">
            <a:off x="4172179" y="2828925"/>
            <a:ext cx="0" cy="1260892"/>
          </a:xfrm>
          <a:prstGeom prst="line">
            <a:avLst/>
          </a:prstGeom>
          <a:noFill/>
          <a:ln w="31750">
            <a:solidFill>
              <a:srgbClr val="2E6DB4"/>
            </a:solidFill>
            <a:prstDash val="solid"/>
          </a:ln>
        </p:spPr>
      </p:sp>
      <p:sp>
        <p:nvSpPr>
          <p:cNvPr id="27" name="Shape 25"/>
          <p:cNvSpPr/>
          <p:nvPr/>
        </p:nvSpPr>
        <p:spPr>
          <a:xfrm>
            <a:off x="4172179" y="2828925"/>
            <a:ext cx="258645" cy="0"/>
          </a:xfrm>
          <a:prstGeom prst="line">
            <a:avLst/>
          </a:prstGeom>
          <a:noFill/>
          <a:ln w="31750">
            <a:solidFill>
              <a:srgbClr val="2E6DB4"/>
            </a:solidFill>
            <a:prstDash val="solid"/>
            <a:tailEnd type="triangle"/>
          </a:ln>
        </p:spPr>
      </p:sp>
      <p:sp>
        <p:nvSpPr>
          <p:cNvPr id="28" name="Text 26"/>
          <p:cNvSpPr/>
          <p:nvPr/>
        </p:nvSpPr>
        <p:spPr>
          <a:xfrm>
            <a:off x="2968469" y="3336254"/>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9" name="Text 27"/>
          <p:cNvSpPr/>
          <p:nvPr/>
        </p:nvSpPr>
        <p:spPr>
          <a:xfrm>
            <a:off x="3933128" y="398008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0" name="Shape 28"/>
          <p:cNvSpPr/>
          <p:nvPr/>
        </p:nvSpPr>
        <p:spPr>
          <a:xfrm>
            <a:off x="3913534" y="4211057"/>
            <a:ext cx="517289" cy="0"/>
          </a:xfrm>
          <a:prstGeom prst="line">
            <a:avLst/>
          </a:prstGeom>
          <a:noFill/>
          <a:ln w="31750">
            <a:solidFill>
              <a:srgbClr val="2E6DB4"/>
            </a:solidFill>
            <a:prstDash val="solid"/>
            <a:tailEnd type="triangle"/>
          </a:ln>
        </p:spPr>
      </p:sp>
      <p:sp>
        <p:nvSpPr>
          <p:cNvPr id="31" name="Text 29"/>
          <p:cNvSpPr/>
          <p:nvPr/>
        </p:nvSpPr>
        <p:spPr>
          <a:xfrm>
            <a:off x="3997789" y="410132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32" name="Shape 30"/>
          <p:cNvSpPr/>
          <p:nvPr/>
        </p:nvSpPr>
        <p:spPr>
          <a:xfrm>
            <a:off x="5804872" y="2828925"/>
            <a:ext cx="242479" cy="0"/>
          </a:xfrm>
          <a:prstGeom prst="line">
            <a:avLst/>
          </a:prstGeom>
          <a:noFill/>
          <a:ln w="31750">
            <a:solidFill>
              <a:srgbClr val="55627E"/>
            </a:solidFill>
            <a:prstDash val="sysDot"/>
            <a:tailEnd type="triangle"/>
          </a:ln>
        </p:spPr>
      </p:sp>
      <p:sp>
        <p:nvSpPr>
          <p:cNvPr id="33" name="Text 31"/>
          <p:cNvSpPr/>
          <p:nvPr/>
        </p:nvSpPr>
        <p:spPr>
          <a:xfrm>
            <a:off x="5816384" y="2719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4" name="Shape 32"/>
          <p:cNvSpPr/>
          <p:nvPr/>
        </p:nvSpPr>
        <p:spPr>
          <a:xfrm flipV="1">
            <a:off x="6693963" y="2376297"/>
            <a:ext cx="0" cy="210149"/>
          </a:xfrm>
          <a:prstGeom prst="line">
            <a:avLst/>
          </a:prstGeom>
          <a:noFill/>
          <a:ln w="31750">
            <a:solidFill>
              <a:srgbClr val="55627E"/>
            </a:solidFill>
            <a:prstDash val="sysDot"/>
          </a:ln>
        </p:spPr>
      </p:sp>
      <p:sp>
        <p:nvSpPr>
          <p:cNvPr id="35" name="Shape 33"/>
          <p:cNvSpPr/>
          <p:nvPr/>
        </p:nvSpPr>
        <p:spPr>
          <a:xfrm>
            <a:off x="6693963" y="2376297"/>
            <a:ext cx="3685685" cy="0"/>
          </a:xfrm>
          <a:prstGeom prst="line">
            <a:avLst/>
          </a:prstGeom>
          <a:noFill/>
          <a:ln w="31750">
            <a:solidFill>
              <a:srgbClr val="55627E"/>
            </a:solidFill>
            <a:prstDash val="sysDot"/>
          </a:ln>
        </p:spPr>
      </p:sp>
      <p:sp>
        <p:nvSpPr>
          <p:cNvPr id="36" name="Shape 34"/>
          <p:cNvSpPr/>
          <p:nvPr/>
        </p:nvSpPr>
        <p:spPr>
          <a:xfrm>
            <a:off x="10379648" y="2376297"/>
            <a:ext cx="0" cy="210149"/>
          </a:xfrm>
          <a:prstGeom prst="line">
            <a:avLst/>
          </a:prstGeom>
          <a:noFill/>
          <a:ln w="31750">
            <a:solidFill>
              <a:srgbClr val="55627E"/>
            </a:solidFill>
            <a:prstDash val="sysDot"/>
            <a:tailEnd type="triangle"/>
          </a:ln>
        </p:spPr>
      </p:sp>
      <p:sp>
        <p:nvSpPr>
          <p:cNvPr id="37" name="Text 35"/>
          <p:cNvSpPr/>
          <p:nvPr/>
        </p:nvSpPr>
        <p:spPr>
          <a:xfrm>
            <a:off x="7322483" y="2148105"/>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38" name="Text 36"/>
          <p:cNvSpPr/>
          <p:nvPr/>
        </p:nvSpPr>
        <p:spPr>
          <a:xfrm>
            <a:off x="6584235" y="23716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9" name="Shape 37"/>
          <p:cNvSpPr/>
          <p:nvPr/>
        </p:nvSpPr>
        <p:spPr>
          <a:xfrm>
            <a:off x="8989434" y="2828925"/>
            <a:ext cx="452628" cy="0"/>
          </a:xfrm>
          <a:prstGeom prst="line">
            <a:avLst/>
          </a:prstGeom>
          <a:noFill/>
          <a:ln w="31750">
            <a:solidFill>
              <a:srgbClr val="55627E"/>
            </a:solidFill>
            <a:prstDash val="sysDot"/>
            <a:tailEnd type="triangle"/>
          </a:ln>
        </p:spPr>
      </p:sp>
      <p:sp>
        <p:nvSpPr>
          <p:cNvPr id="40" name="Text 38"/>
          <p:cNvSpPr/>
          <p:nvPr/>
        </p:nvSpPr>
        <p:spPr>
          <a:xfrm>
            <a:off x="9073689" y="2719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1" name="Shape 39"/>
          <p:cNvSpPr/>
          <p:nvPr/>
        </p:nvSpPr>
        <p:spPr>
          <a:xfrm>
            <a:off x="8294326" y="3071404"/>
            <a:ext cx="0" cy="444545"/>
          </a:xfrm>
          <a:prstGeom prst="line">
            <a:avLst/>
          </a:prstGeom>
          <a:noFill/>
          <a:ln w="25400">
            <a:solidFill>
              <a:srgbClr val="55627E"/>
            </a:solidFill>
            <a:prstDash val="dash"/>
          </a:ln>
        </p:spPr>
      </p:sp>
      <p:sp>
        <p:nvSpPr>
          <p:cNvPr id="42" name="Shape 40"/>
          <p:cNvSpPr/>
          <p:nvPr/>
        </p:nvSpPr>
        <p:spPr>
          <a:xfrm flipH="1">
            <a:off x="5117848" y="3515950"/>
            <a:ext cx="3176479" cy="0"/>
          </a:xfrm>
          <a:prstGeom prst="line">
            <a:avLst/>
          </a:prstGeom>
          <a:noFill/>
          <a:ln w="25400">
            <a:solidFill>
              <a:srgbClr val="55627E"/>
            </a:solidFill>
            <a:prstDash val="dash"/>
          </a:ln>
        </p:spPr>
      </p:sp>
      <p:sp>
        <p:nvSpPr>
          <p:cNvPr id="43" name="Shape 41"/>
          <p:cNvSpPr/>
          <p:nvPr/>
        </p:nvSpPr>
        <p:spPr>
          <a:xfrm>
            <a:off x="5117848" y="3515950"/>
            <a:ext cx="0" cy="493041"/>
          </a:xfrm>
          <a:prstGeom prst="line">
            <a:avLst/>
          </a:prstGeom>
          <a:noFill/>
          <a:ln w="25400">
            <a:solidFill>
              <a:srgbClr val="55627E"/>
            </a:solidFill>
            <a:prstDash val="dash"/>
            <a:tailEnd type="triangle"/>
          </a:ln>
        </p:spPr>
      </p:sp>
      <p:sp>
        <p:nvSpPr>
          <p:cNvPr id="44" name="Text 42"/>
          <p:cNvSpPr/>
          <p:nvPr/>
        </p:nvSpPr>
        <p:spPr>
          <a:xfrm>
            <a:off x="5864839" y="3287758"/>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5" name="Text 43"/>
          <p:cNvSpPr/>
          <p:nvPr/>
        </p:nvSpPr>
        <p:spPr>
          <a:xfrm>
            <a:off x="8184598" y="31556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6" name="Shape 44"/>
          <p:cNvSpPr/>
          <p:nvPr/>
        </p:nvSpPr>
        <p:spPr>
          <a:xfrm>
            <a:off x="5804872" y="4251470"/>
            <a:ext cx="242479" cy="0"/>
          </a:xfrm>
          <a:prstGeom prst="line">
            <a:avLst/>
          </a:prstGeom>
          <a:noFill/>
          <a:ln w="31750">
            <a:solidFill>
              <a:srgbClr val="55627E"/>
            </a:solidFill>
            <a:prstDash val="sysDot"/>
            <a:tailEnd type="triangle"/>
          </a:ln>
        </p:spPr>
      </p:sp>
      <p:sp>
        <p:nvSpPr>
          <p:cNvPr id="47" name="Text 45"/>
          <p:cNvSpPr/>
          <p:nvPr/>
        </p:nvSpPr>
        <p:spPr>
          <a:xfrm>
            <a:off x="5816384" y="414174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8" name="Shape 46"/>
          <p:cNvSpPr/>
          <p:nvPr/>
        </p:nvSpPr>
        <p:spPr>
          <a:xfrm>
            <a:off x="7340575" y="4251470"/>
            <a:ext cx="258645" cy="0"/>
          </a:xfrm>
          <a:prstGeom prst="line">
            <a:avLst/>
          </a:prstGeom>
          <a:noFill/>
          <a:ln w="31750">
            <a:solidFill>
              <a:srgbClr val="55627E"/>
            </a:solidFill>
            <a:prstDash val="sysDot"/>
            <a:tailEnd type="triangle"/>
          </a:ln>
        </p:spPr>
      </p:sp>
      <p:sp>
        <p:nvSpPr>
          <p:cNvPr id="49" name="Text 47"/>
          <p:cNvSpPr/>
          <p:nvPr/>
        </p:nvSpPr>
        <p:spPr>
          <a:xfrm>
            <a:off x="7360169" y="414174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0" name="Shape 48"/>
          <p:cNvSpPr/>
          <p:nvPr/>
        </p:nvSpPr>
        <p:spPr>
          <a:xfrm>
            <a:off x="6693963" y="4493949"/>
            <a:ext cx="0" cy="210149"/>
          </a:xfrm>
          <a:prstGeom prst="line">
            <a:avLst/>
          </a:prstGeom>
          <a:noFill/>
          <a:ln w="31750">
            <a:solidFill>
              <a:srgbClr val="55627E"/>
            </a:solidFill>
            <a:prstDash val="sysDot"/>
          </a:ln>
        </p:spPr>
      </p:sp>
      <p:sp>
        <p:nvSpPr>
          <p:cNvPr id="51" name="Shape 49"/>
          <p:cNvSpPr/>
          <p:nvPr/>
        </p:nvSpPr>
        <p:spPr>
          <a:xfrm>
            <a:off x="6693963" y="4704098"/>
            <a:ext cx="2570280" cy="0"/>
          </a:xfrm>
          <a:prstGeom prst="line">
            <a:avLst/>
          </a:prstGeom>
          <a:noFill/>
          <a:ln w="31750">
            <a:solidFill>
              <a:srgbClr val="55627E"/>
            </a:solidFill>
            <a:prstDash val="sysDot"/>
          </a:ln>
        </p:spPr>
      </p:sp>
      <p:sp>
        <p:nvSpPr>
          <p:cNvPr id="52" name="Shape 50"/>
          <p:cNvSpPr/>
          <p:nvPr/>
        </p:nvSpPr>
        <p:spPr>
          <a:xfrm flipV="1">
            <a:off x="9264244" y="4089817"/>
            <a:ext cx="0" cy="614281"/>
          </a:xfrm>
          <a:prstGeom prst="line">
            <a:avLst/>
          </a:prstGeom>
          <a:noFill/>
          <a:ln w="31750">
            <a:solidFill>
              <a:srgbClr val="55627E"/>
            </a:solidFill>
            <a:prstDash val="sysDot"/>
          </a:ln>
        </p:spPr>
      </p:sp>
      <p:sp>
        <p:nvSpPr>
          <p:cNvPr id="53" name="Shape 51"/>
          <p:cNvSpPr/>
          <p:nvPr/>
        </p:nvSpPr>
        <p:spPr>
          <a:xfrm>
            <a:off x="9264244" y="4089817"/>
            <a:ext cx="177818" cy="0"/>
          </a:xfrm>
          <a:prstGeom prst="line">
            <a:avLst/>
          </a:prstGeom>
          <a:noFill/>
          <a:ln w="31750">
            <a:solidFill>
              <a:srgbClr val="55627E"/>
            </a:solidFill>
            <a:prstDash val="sysDot"/>
            <a:tailEnd type="triangle"/>
          </a:ln>
        </p:spPr>
      </p:sp>
      <p:sp>
        <p:nvSpPr>
          <p:cNvPr id="54" name="Text 52"/>
          <p:cNvSpPr/>
          <p:nvPr/>
        </p:nvSpPr>
        <p:spPr>
          <a:xfrm>
            <a:off x="7386572" y="4475906"/>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5" name="Text 53"/>
          <p:cNvSpPr/>
          <p:nvPr/>
        </p:nvSpPr>
        <p:spPr>
          <a:xfrm>
            <a:off x="6584235" y="448929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6" name="Shape 54"/>
          <p:cNvSpPr/>
          <p:nvPr/>
        </p:nvSpPr>
        <p:spPr>
          <a:xfrm>
            <a:off x="2135353" y="5771007"/>
            <a:ext cx="323306" cy="0"/>
          </a:xfrm>
          <a:prstGeom prst="line">
            <a:avLst/>
          </a:prstGeom>
          <a:noFill/>
          <a:ln w="31750">
            <a:solidFill>
              <a:srgbClr val="2E6DB4"/>
            </a:solidFill>
            <a:prstDash val="solid"/>
            <a:tailEnd type="triangle"/>
          </a:ln>
        </p:spPr>
      </p:sp>
      <p:sp>
        <p:nvSpPr>
          <p:cNvPr id="57" name="Text 55"/>
          <p:cNvSpPr/>
          <p:nvPr/>
        </p:nvSpPr>
        <p:spPr>
          <a:xfrm>
            <a:off x="2187277" y="566127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3816542" y="5771007"/>
            <a:ext cx="242479" cy="0"/>
          </a:xfrm>
          <a:prstGeom prst="line">
            <a:avLst/>
          </a:prstGeom>
          <a:noFill/>
          <a:ln w="31750">
            <a:solidFill>
              <a:srgbClr val="55627E"/>
            </a:solidFill>
            <a:prstDash val="sysDot"/>
            <a:tailEnd type="triangle"/>
          </a:ln>
        </p:spPr>
      </p:sp>
      <p:sp>
        <p:nvSpPr>
          <p:cNvPr id="59" name="Text 57"/>
          <p:cNvSpPr/>
          <p:nvPr/>
        </p:nvSpPr>
        <p:spPr>
          <a:xfrm>
            <a:off x="3828054"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0" name="Shape 58"/>
          <p:cNvSpPr/>
          <p:nvPr/>
        </p:nvSpPr>
        <p:spPr>
          <a:xfrm>
            <a:off x="5433071" y="5771007"/>
            <a:ext cx="242479" cy="0"/>
          </a:xfrm>
          <a:prstGeom prst="line">
            <a:avLst/>
          </a:prstGeom>
          <a:noFill/>
          <a:ln w="31750">
            <a:solidFill>
              <a:srgbClr val="55627E"/>
            </a:solidFill>
            <a:prstDash val="sysDot"/>
            <a:tailEnd type="triangle"/>
          </a:ln>
        </p:spPr>
      </p:sp>
      <p:sp>
        <p:nvSpPr>
          <p:cNvPr id="61" name="Text 59"/>
          <p:cNvSpPr/>
          <p:nvPr/>
        </p:nvSpPr>
        <p:spPr>
          <a:xfrm>
            <a:off x="5444583"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62" name="Shape 60"/>
          <p:cNvSpPr/>
          <p:nvPr/>
        </p:nvSpPr>
        <p:spPr>
          <a:xfrm>
            <a:off x="9975516" y="4881916"/>
            <a:ext cx="0" cy="185901"/>
          </a:xfrm>
          <a:prstGeom prst="line">
            <a:avLst/>
          </a:prstGeom>
          <a:noFill/>
          <a:ln w="25400">
            <a:solidFill>
              <a:srgbClr val="55627E"/>
            </a:solidFill>
            <a:prstDash val="dash"/>
          </a:ln>
        </p:spPr>
      </p:sp>
      <p:sp>
        <p:nvSpPr>
          <p:cNvPr id="63" name="Shape 61"/>
          <p:cNvSpPr/>
          <p:nvPr/>
        </p:nvSpPr>
        <p:spPr>
          <a:xfrm flipH="1">
            <a:off x="8649963" y="5067817"/>
            <a:ext cx="1325553" cy="0"/>
          </a:xfrm>
          <a:prstGeom prst="line">
            <a:avLst/>
          </a:prstGeom>
          <a:noFill/>
          <a:ln w="25400">
            <a:solidFill>
              <a:srgbClr val="55627E"/>
            </a:solidFill>
            <a:prstDash val="dash"/>
          </a:ln>
        </p:spPr>
      </p:sp>
      <p:sp>
        <p:nvSpPr>
          <p:cNvPr id="64" name="Shape 62"/>
          <p:cNvSpPr/>
          <p:nvPr/>
        </p:nvSpPr>
        <p:spPr>
          <a:xfrm>
            <a:off x="8649963" y="5067817"/>
            <a:ext cx="0" cy="444545"/>
          </a:xfrm>
          <a:prstGeom prst="line">
            <a:avLst/>
          </a:prstGeom>
          <a:noFill/>
          <a:ln w="25400">
            <a:solidFill>
              <a:srgbClr val="55627E"/>
            </a:solidFill>
            <a:prstDash val="dash"/>
            <a:tailEnd type="triangle"/>
          </a:ln>
        </p:spPr>
      </p:sp>
      <p:sp>
        <p:nvSpPr>
          <p:cNvPr id="65" name="Text 63"/>
          <p:cNvSpPr/>
          <p:nvPr/>
        </p:nvSpPr>
        <p:spPr>
          <a:xfrm>
            <a:off x="9124373" y="506593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66" name="Text 64"/>
          <p:cNvSpPr/>
          <p:nvPr/>
        </p:nvSpPr>
        <p:spPr>
          <a:xfrm>
            <a:off x="9865788" y="48651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7" name="Shape 65"/>
          <p:cNvSpPr/>
          <p:nvPr/>
        </p:nvSpPr>
        <p:spPr>
          <a:xfrm>
            <a:off x="8682293" y="5771007"/>
            <a:ext cx="258645" cy="0"/>
          </a:xfrm>
          <a:prstGeom prst="line">
            <a:avLst/>
          </a:prstGeom>
          <a:noFill/>
          <a:ln w="31750">
            <a:solidFill>
              <a:srgbClr val="55627E"/>
            </a:solidFill>
            <a:prstDash val="sysDot"/>
            <a:tailEnd type="triangle"/>
          </a:ln>
        </p:spPr>
      </p:sp>
      <p:sp>
        <p:nvSpPr>
          <p:cNvPr id="68" name="Text 66"/>
          <p:cNvSpPr/>
          <p:nvPr/>
        </p:nvSpPr>
        <p:spPr>
          <a:xfrm>
            <a:off x="8701888"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9" name="Shape 67"/>
          <p:cNvSpPr/>
          <p:nvPr/>
        </p:nvSpPr>
        <p:spPr>
          <a:xfrm>
            <a:off x="9975516" y="5771007"/>
            <a:ext cx="258645" cy="0"/>
          </a:xfrm>
          <a:prstGeom prst="line">
            <a:avLst/>
          </a:prstGeom>
          <a:noFill/>
          <a:ln w="31750">
            <a:solidFill>
              <a:srgbClr val="55627E"/>
            </a:solidFill>
            <a:prstDash val="sysDot"/>
            <a:tailEnd type="triangle"/>
          </a:ln>
        </p:spPr>
      </p:sp>
      <p:sp>
        <p:nvSpPr>
          <p:cNvPr id="70" name="Text 68"/>
          <p:cNvSpPr/>
          <p:nvPr/>
        </p:nvSpPr>
        <p:spPr>
          <a:xfrm>
            <a:off x="9995110" y="56612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71" name="Shape 69"/>
          <p:cNvSpPr/>
          <p:nvPr/>
        </p:nvSpPr>
        <p:spPr>
          <a:xfrm>
            <a:off x="761303" y="2586446"/>
            <a:ext cx="1374049" cy="48495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72" name="Shape 70"/>
          <p:cNvSpPr/>
          <p:nvPr/>
        </p:nvSpPr>
        <p:spPr>
          <a:xfrm>
            <a:off x="916490" y="2647972"/>
            <a:ext cx="361906" cy="361906"/>
          </a:xfrm>
          <a:prstGeom prst="ellipse">
            <a:avLst/>
          </a:prstGeom>
          <a:solidFill>
            <a:srgbClr val="E2E5EA"/>
          </a:solidFill>
          <a:ln w="12700">
            <a:solidFill>
              <a:srgbClr val="E2E5EA"/>
            </a:solidFill>
            <a:prstDash val="solid"/>
          </a:ln>
        </p:spPr>
      </p:sp>
      <p:sp>
        <p:nvSpPr>
          <p:cNvPr id="73" name="Icono user"/>
          <p:cNvSpPr/>
          <p:nvPr/>
        </p:nvSpPr>
        <p:spPr>
          <a:xfrm>
            <a:off x="971354" y="2702836"/>
            <a:ext cx="252178" cy="252178"/>
          </a:xfrm>
          <a:custGeom>
            <a:avLst/>
            <a:gdLst/>
            <a:ahLst/>
            <a:cxnLst/>
            <a:rect l="l" t="t" r="r" b="b"/>
            <a:pathLst>
              <a:path w="252178" h="252178">
                <a:moveTo>
                  <a:pt x="199641" y="220656"/>
                </a:moveTo>
                <a:lnTo>
                  <a:pt x="199641" y="199641"/>
                </a:lnTo>
                <a:cubicBezTo>
                  <a:pt x="199641" y="176429"/>
                  <a:pt x="180824" y="157612"/>
                  <a:pt x="157612" y="157612"/>
                </a:cubicBezTo>
                <a:lnTo>
                  <a:pt x="94567" y="157612"/>
                </a:lnTo>
                <a:cubicBezTo>
                  <a:pt x="71355" y="157612"/>
                  <a:pt x="52537" y="176429"/>
                  <a:pt x="52537" y="199641"/>
                </a:cubicBezTo>
                <a:lnTo>
                  <a:pt x="52537" y="220656"/>
                </a:lnTo>
                <a:moveTo>
                  <a:pt x="168119" y="73552"/>
                </a:moveTo>
                <a:cubicBezTo>
                  <a:pt x="168119" y="96764"/>
                  <a:pt x="149302" y="115582"/>
                  <a:pt x="126089" y="115582"/>
                </a:cubicBezTo>
                <a:cubicBezTo>
                  <a:pt x="102877" y="115582"/>
                  <a:pt x="84059" y="96764"/>
                  <a:pt x="84059" y="73552"/>
                </a:cubicBezTo>
                <a:cubicBezTo>
                  <a:pt x="84059" y="50340"/>
                  <a:pt x="102877" y="31522"/>
                  <a:pt x="126089" y="31522"/>
                </a:cubicBezTo>
                <a:cubicBezTo>
                  <a:pt x="149302" y="31522"/>
                  <a:pt x="168119" y="50340"/>
                  <a:pt x="168119" y="73552"/>
                </a:cubicBezTo>
                <a:close/>
              </a:path>
            </a:pathLst>
          </a:custGeom>
          <a:noFill/>
          <a:ln w="21015" cap="rnd">
            <a:solidFill>
              <a:srgbClr val="0B2350"/>
            </a:solidFill>
            <a:prstDash val="solid"/>
            <a:round/>
          </a:ln>
        </p:spPr>
      </p:sp>
      <p:sp>
        <p:nvSpPr>
          <p:cNvPr id="74" name="Text 72"/>
          <p:cNvSpPr/>
          <p:nvPr/>
        </p:nvSpPr>
        <p:spPr>
          <a:xfrm>
            <a:off x="1333261" y="2586446"/>
            <a:ext cx="747228"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Persona</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usa el navegador</a:t>
            </a:r>
            <a:endParaRPr lang="en-US" sz="955" dirty="0"/>
          </a:p>
        </p:txBody>
      </p:sp>
      <p:sp>
        <p:nvSpPr>
          <p:cNvPr id="75" name="Shape 73"/>
          <p:cNvSpPr/>
          <p:nvPr/>
        </p:nvSpPr>
        <p:spPr>
          <a:xfrm>
            <a:off x="2555650" y="2586446"/>
            <a:ext cx="1357884" cy="484959"/>
          </a:xfrm>
          <a:prstGeom prst="roundRect">
            <a:avLst>
              <a:gd name="adj" fmla="val 1697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76" name="Shape 74"/>
          <p:cNvSpPr/>
          <p:nvPr/>
        </p:nvSpPr>
        <p:spPr>
          <a:xfrm>
            <a:off x="2647090" y="2647972"/>
            <a:ext cx="361906" cy="361906"/>
          </a:xfrm>
          <a:prstGeom prst="ellipse">
            <a:avLst/>
          </a:prstGeom>
          <a:solidFill>
            <a:srgbClr val="EBE8F8"/>
          </a:solidFill>
          <a:ln w="12700">
            <a:solidFill>
              <a:srgbClr val="EBE8F8"/>
            </a:solidFill>
            <a:prstDash val="solid"/>
          </a:ln>
        </p:spPr>
      </p:sp>
      <p:sp>
        <p:nvSpPr>
          <p:cNvPr id="77" name="Icono app-window"/>
          <p:cNvSpPr/>
          <p:nvPr/>
        </p:nvSpPr>
        <p:spPr>
          <a:xfrm>
            <a:off x="2701954" y="2702836"/>
            <a:ext cx="252178" cy="252178"/>
          </a:xfrm>
          <a:custGeom>
            <a:avLst/>
            <a:gdLst/>
            <a:ahLst/>
            <a:cxnLst/>
            <a:rect l="l" t="t" r="r" b="b"/>
            <a:pathLst>
              <a:path w="252178" h="252178">
                <a:moveTo>
                  <a:pt x="42030" y="42030"/>
                </a:moveTo>
                <a:lnTo>
                  <a:pt x="210149" y="42030"/>
                </a:lnTo>
                <a:cubicBezTo>
                  <a:pt x="221755" y="42030"/>
                  <a:pt x="231164" y="51438"/>
                  <a:pt x="231164" y="63045"/>
                </a:cubicBezTo>
                <a:lnTo>
                  <a:pt x="231164" y="189134"/>
                </a:lnTo>
                <a:cubicBezTo>
                  <a:pt x="231164" y="200740"/>
                  <a:pt x="221755" y="210149"/>
                  <a:pt x="210149" y="210149"/>
                </a:cubicBezTo>
                <a:lnTo>
                  <a:pt x="42030" y="210149"/>
                </a:lnTo>
                <a:cubicBezTo>
                  <a:pt x="30424" y="210149"/>
                  <a:pt x="21015" y="200740"/>
                  <a:pt x="21015" y="189134"/>
                </a:cubicBezTo>
                <a:lnTo>
                  <a:pt x="21015" y="63045"/>
                </a:lnTo>
                <a:cubicBezTo>
                  <a:pt x="21015" y="51438"/>
                  <a:pt x="30424" y="42030"/>
                  <a:pt x="42030" y="42030"/>
                </a:cubicBezTo>
                <a:close/>
                <a:moveTo>
                  <a:pt x="105074" y="42030"/>
                </a:moveTo>
                <a:lnTo>
                  <a:pt x="105074" y="84059"/>
                </a:lnTo>
                <a:moveTo>
                  <a:pt x="21015" y="84059"/>
                </a:moveTo>
                <a:lnTo>
                  <a:pt x="231164" y="84059"/>
                </a:lnTo>
                <a:moveTo>
                  <a:pt x="63045" y="42030"/>
                </a:moveTo>
                <a:lnTo>
                  <a:pt x="63045" y="84059"/>
                </a:lnTo>
              </a:path>
            </a:pathLst>
          </a:custGeom>
          <a:noFill/>
          <a:ln w="21015" cap="rnd">
            <a:solidFill>
              <a:srgbClr val="5B3FC4"/>
            </a:solidFill>
            <a:prstDash val="solid"/>
            <a:round/>
          </a:ln>
        </p:spPr>
      </p:sp>
      <p:sp>
        <p:nvSpPr>
          <p:cNvPr id="78" name="Text 76"/>
          <p:cNvSpPr/>
          <p:nvPr/>
        </p:nvSpPr>
        <p:spPr>
          <a:xfrm>
            <a:off x="3063860" y="2586446"/>
            <a:ext cx="79481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React</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55" dirty="0"/>
          </a:p>
        </p:txBody>
      </p:sp>
      <p:sp>
        <p:nvSpPr>
          <p:cNvPr id="79" name="Shape 77"/>
          <p:cNvSpPr/>
          <p:nvPr/>
        </p:nvSpPr>
        <p:spPr>
          <a:xfrm>
            <a:off x="2555650" y="3928164"/>
            <a:ext cx="1357884" cy="484959"/>
          </a:xfrm>
          <a:prstGeom prst="roundRect">
            <a:avLst>
              <a:gd name="adj" fmla="val 1697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80" name="Shape 78"/>
          <p:cNvSpPr/>
          <p:nvPr/>
        </p:nvSpPr>
        <p:spPr>
          <a:xfrm>
            <a:off x="2647090" y="3989690"/>
            <a:ext cx="361906" cy="361906"/>
          </a:xfrm>
          <a:prstGeom prst="ellipse">
            <a:avLst/>
          </a:prstGeom>
          <a:solidFill>
            <a:srgbClr val="EBE8F8"/>
          </a:solidFill>
          <a:ln w="12700">
            <a:solidFill>
              <a:srgbClr val="EBE8F8"/>
            </a:solidFill>
            <a:prstDash val="solid"/>
          </a:ln>
        </p:spPr>
      </p:sp>
      <p:sp>
        <p:nvSpPr>
          <p:cNvPr id="81" name="Icono network"/>
          <p:cNvSpPr/>
          <p:nvPr/>
        </p:nvSpPr>
        <p:spPr>
          <a:xfrm>
            <a:off x="2701954" y="4044554"/>
            <a:ext cx="252178" cy="252178"/>
          </a:xfrm>
          <a:custGeom>
            <a:avLst/>
            <a:gdLst/>
            <a:ahLst/>
            <a:cxnLst/>
            <a:rect l="l" t="t" r="r" b="b"/>
            <a:pathLst>
              <a:path w="252178" h="252178">
                <a:moveTo>
                  <a:pt x="178626" y="168119"/>
                </a:moveTo>
                <a:lnTo>
                  <a:pt x="220656" y="168119"/>
                </a:lnTo>
                <a:cubicBezTo>
                  <a:pt x="226459" y="168119"/>
                  <a:pt x="231164" y="172823"/>
                  <a:pt x="231164" y="178626"/>
                </a:cubicBezTo>
                <a:lnTo>
                  <a:pt x="231164" y="220656"/>
                </a:lnTo>
                <a:cubicBezTo>
                  <a:pt x="231164" y="226459"/>
                  <a:pt x="226459" y="231164"/>
                  <a:pt x="220656" y="231164"/>
                </a:cubicBezTo>
                <a:lnTo>
                  <a:pt x="178626" y="231164"/>
                </a:lnTo>
                <a:cubicBezTo>
                  <a:pt x="172823" y="231164"/>
                  <a:pt x="168119" y="226459"/>
                  <a:pt x="168119" y="220656"/>
                </a:cubicBezTo>
                <a:lnTo>
                  <a:pt x="168119" y="178626"/>
                </a:lnTo>
                <a:cubicBezTo>
                  <a:pt x="168119" y="172823"/>
                  <a:pt x="172823" y="168119"/>
                  <a:pt x="178626" y="168119"/>
                </a:cubicBezTo>
                <a:close/>
                <a:moveTo>
                  <a:pt x="31522" y="168119"/>
                </a:moveTo>
                <a:lnTo>
                  <a:pt x="73552" y="168119"/>
                </a:lnTo>
                <a:cubicBezTo>
                  <a:pt x="79355" y="168119"/>
                  <a:pt x="84059" y="172823"/>
                  <a:pt x="84059" y="178626"/>
                </a:cubicBezTo>
                <a:lnTo>
                  <a:pt x="84059" y="220656"/>
                </a:lnTo>
                <a:cubicBezTo>
                  <a:pt x="84059" y="226459"/>
                  <a:pt x="79355" y="231164"/>
                  <a:pt x="73552" y="231164"/>
                </a:cubicBezTo>
                <a:lnTo>
                  <a:pt x="31522" y="231164"/>
                </a:lnTo>
                <a:cubicBezTo>
                  <a:pt x="25719" y="231164"/>
                  <a:pt x="21015" y="226459"/>
                  <a:pt x="21015" y="220656"/>
                </a:cubicBezTo>
                <a:lnTo>
                  <a:pt x="21015" y="178626"/>
                </a:lnTo>
                <a:cubicBezTo>
                  <a:pt x="21015" y="172823"/>
                  <a:pt x="25719" y="168119"/>
                  <a:pt x="31522" y="168119"/>
                </a:cubicBezTo>
                <a:close/>
                <a:moveTo>
                  <a:pt x="105074" y="21015"/>
                </a:moveTo>
                <a:lnTo>
                  <a:pt x="147104" y="21015"/>
                </a:lnTo>
                <a:cubicBezTo>
                  <a:pt x="152907" y="21015"/>
                  <a:pt x="157612" y="25719"/>
                  <a:pt x="157612" y="31522"/>
                </a:cubicBezTo>
                <a:lnTo>
                  <a:pt x="157612" y="73552"/>
                </a:lnTo>
                <a:cubicBezTo>
                  <a:pt x="157612" y="79355"/>
                  <a:pt x="152907" y="84059"/>
                  <a:pt x="147104" y="84059"/>
                </a:cubicBezTo>
                <a:lnTo>
                  <a:pt x="105074" y="84059"/>
                </a:lnTo>
                <a:cubicBezTo>
                  <a:pt x="99271" y="84059"/>
                  <a:pt x="94567" y="79355"/>
                  <a:pt x="94567" y="73552"/>
                </a:cubicBezTo>
                <a:lnTo>
                  <a:pt x="94567" y="31522"/>
                </a:lnTo>
                <a:cubicBezTo>
                  <a:pt x="94567" y="25719"/>
                  <a:pt x="99271" y="21015"/>
                  <a:pt x="105074" y="21015"/>
                </a:cubicBezTo>
                <a:close/>
                <a:moveTo>
                  <a:pt x="52537" y="168119"/>
                </a:moveTo>
                <a:lnTo>
                  <a:pt x="52537" y="136597"/>
                </a:lnTo>
                <a:cubicBezTo>
                  <a:pt x="52537" y="130794"/>
                  <a:pt x="57242" y="126089"/>
                  <a:pt x="63045" y="126089"/>
                </a:cubicBezTo>
                <a:lnTo>
                  <a:pt x="189134" y="126089"/>
                </a:lnTo>
                <a:cubicBezTo>
                  <a:pt x="194937" y="126089"/>
                  <a:pt x="199641" y="130794"/>
                  <a:pt x="199641" y="136597"/>
                </a:cubicBezTo>
                <a:lnTo>
                  <a:pt x="199641" y="168119"/>
                </a:lnTo>
                <a:moveTo>
                  <a:pt x="126089" y="126089"/>
                </a:moveTo>
                <a:lnTo>
                  <a:pt x="126089" y="84059"/>
                </a:lnTo>
              </a:path>
            </a:pathLst>
          </a:custGeom>
          <a:noFill/>
          <a:ln w="21015" cap="rnd">
            <a:solidFill>
              <a:srgbClr val="5B3FC4"/>
            </a:solidFill>
            <a:prstDash val="solid"/>
            <a:round/>
          </a:ln>
        </p:spPr>
      </p:sp>
      <p:sp>
        <p:nvSpPr>
          <p:cNvPr id="82" name="Text 80"/>
          <p:cNvSpPr/>
          <p:nvPr/>
        </p:nvSpPr>
        <p:spPr>
          <a:xfrm>
            <a:off x="3063860" y="3928164"/>
            <a:ext cx="79481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nginx</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proxy de /api</a:t>
            </a:r>
            <a:endParaRPr lang="en-US" sz="955" dirty="0"/>
          </a:p>
        </p:txBody>
      </p:sp>
      <p:sp>
        <p:nvSpPr>
          <p:cNvPr id="83" name="Shape 81"/>
          <p:cNvSpPr/>
          <p:nvPr/>
        </p:nvSpPr>
        <p:spPr>
          <a:xfrm>
            <a:off x="4430823" y="2586446"/>
            <a:ext cx="1374049" cy="484959"/>
          </a:xfrm>
          <a:prstGeom prst="roundRect">
            <a:avLst>
              <a:gd name="adj" fmla="val 1697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4" name="Shape 82"/>
          <p:cNvSpPr/>
          <p:nvPr/>
        </p:nvSpPr>
        <p:spPr>
          <a:xfrm>
            <a:off x="4522263" y="2647972"/>
            <a:ext cx="361906" cy="361906"/>
          </a:xfrm>
          <a:prstGeom prst="ellipse">
            <a:avLst/>
          </a:prstGeom>
          <a:solidFill>
            <a:srgbClr val="E4EAF1"/>
          </a:solidFill>
          <a:ln w="12700">
            <a:solidFill>
              <a:srgbClr val="E4EAF1"/>
            </a:solidFill>
            <a:prstDash val="solid"/>
          </a:ln>
        </p:spPr>
      </p:sp>
      <p:sp>
        <p:nvSpPr>
          <p:cNvPr id="85" name="Icono code"/>
          <p:cNvSpPr/>
          <p:nvPr/>
        </p:nvSpPr>
        <p:spPr>
          <a:xfrm>
            <a:off x="4577127" y="2702836"/>
            <a:ext cx="252178" cy="252178"/>
          </a:xfrm>
          <a:custGeom>
            <a:avLst/>
            <a:gdLst/>
            <a:ahLst/>
            <a:cxnLst/>
            <a:rect l="l" t="t" r="r" b="b"/>
            <a:pathLst>
              <a:path w="252178" h="252178">
                <a:moveTo>
                  <a:pt x="168119" y="189134"/>
                </a:moveTo>
                <a:lnTo>
                  <a:pt x="231164" y="126089"/>
                </a:lnTo>
                <a:lnTo>
                  <a:pt x="168119" y="63045"/>
                </a:lnTo>
                <a:moveTo>
                  <a:pt x="84059" y="63045"/>
                </a:moveTo>
                <a:lnTo>
                  <a:pt x="21015" y="126089"/>
                </a:lnTo>
                <a:lnTo>
                  <a:pt x="84059" y="189134"/>
                </a:lnTo>
              </a:path>
            </a:pathLst>
          </a:custGeom>
          <a:noFill/>
          <a:ln w="21015" cap="rnd">
            <a:solidFill>
              <a:srgbClr val="1F4E8C"/>
            </a:solidFill>
            <a:prstDash val="solid"/>
            <a:round/>
          </a:ln>
        </p:spPr>
      </p:sp>
      <p:sp>
        <p:nvSpPr>
          <p:cNvPr id="86" name="Text 84"/>
          <p:cNvSpPr/>
          <p:nvPr/>
        </p:nvSpPr>
        <p:spPr>
          <a:xfrm>
            <a:off x="4939034" y="2586446"/>
            <a:ext cx="810975"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API REST</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Swagger · Actuator</a:t>
            </a:r>
            <a:endParaRPr lang="en-US" sz="955" dirty="0"/>
          </a:p>
        </p:txBody>
      </p:sp>
      <p:sp>
        <p:nvSpPr>
          <p:cNvPr id="87" name="Shape 85"/>
          <p:cNvSpPr/>
          <p:nvPr/>
        </p:nvSpPr>
        <p:spPr>
          <a:xfrm>
            <a:off x="6047352" y="2586446"/>
            <a:ext cx="1293223" cy="484959"/>
          </a:xfrm>
          <a:prstGeom prst="roundRect">
            <a:avLst>
              <a:gd name="adj" fmla="val 1697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8" name="Shape 86"/>
          <p:cNvSpPr/>
          <p:nvPr/>
        </p:nvSpPr>
        <p:spPr>
          <a:xfrm>
            <a:off x="6138792" y="2647972"/>
            <a:ext cx="361906" cy="361906"/>
          </a:xfrm>
          <a:prstGeom prst="ellipse">
            <a:avLst/>
          </a:prstGeom>
          <a:solidFill>
            <a:srgbClr val="E4EAF1"/>
          </a:solidFill>
          <a:ln w="12700">
            <a:solidFill>
              <a:srgbClr val="E4EAF1"/>
            </a:solidFill>
            <a:prstDash val="solid"/>
          </a:ln>
        </p:spPr>
      </p:sp>
      <p:sp>
        <p:nvSpPr>
          <p:cNvPr id="89" name="Icono puzzle"/>
          <p:cNvSpPr/>
          <p:nvPr/>
        </p:nvSpPr>
        <p:spPr>
          <a:xfrm>
            <a:off x="6193656" y="2702836"/>
            <a:ext cx="252178" cy="252178"/>
          </a:xfrm>
          <a:custGeom>
            <a:avLst/>
            <a:gdLst/>
            <a:ahLst/>
            <a:cxnLst/>
            <a:rect l="l" t="t" r="r" b="b"/>
            <a:pathLst>
              <a:path w="252178" h="252178">
                <a:moveTo>
                  <a:pt x="161709" y="46128"/>
                </a:moveTo>
                <a:cubicBezTo>
                  <a:pt x="164399" y="48820"/>
                  <a:pt x="168334" y="49847"/>
                  <a:pt x="171996" y="48814"/>
                </a:cubicBezTo>
                <a:cubicBezTo>
                  <a:pt x="175659" y="47781"/>
                  <a:pt x="178476" y="44848"/>
                  <a:pt x="179362" y="41147"/>
                </a:cubicBezTo>
                <a:cubicBezTo>
                  <a:pt x="182380" y="28583"/>
                  <a:pt x="194088" y="20080"/>
                  <a:pt x="206969" y="21096"/>
                </a:cubicBezTo>
                <a:cubicBezTo>
                  <a:pt x="219850" y="22112"/>
                  <a:pt x="230080" y="32345"/>
                  <a:pt x="231092" y="45227"/>
                </a:cubicBezTo>
                <a:cubicBezTo>
                  <a:pt x="232103" y="58108"/>
                  <a:pt x="223596" y="69813"/>
                  <a:pt x="211031" y="72827"/>
                </a:cubicBezTo>
                <a:cubicBezTo>
                  <a:pt x="207330" y="73713"/>
                  <a:pt x="204398" y="76530"/>
                  <a:pt x="203364" y="80193"/>
                </a:cubicBezTo>
                <a:cubicBezTo>
                  <a:pt x="202331" y="83855"/>
                  <a:pt x="203359" y="87790"/>
                  <a:pt x="206051" y="90480"/>
                </a:cubicBezTo>
                <a:lnTo>
                  <a:pt x="223735" y="108153"/>
                </a:lnTo>
                <a:cubicBezTo>
                  <a:pt x="228492" y="112910"/>
                  <a:pt x="231165" y="119362"/>
                  <a:pt x="231165" y="126089"/>
                </a:cubicBezTo>
                <a:cubicBezTo>
                  <a:pt x="231165" y="132817"/>
                  <a:pt x="228492" y="139269"/>
                  <a:pt x="223735" y="144025"/>
                </a:cubicBezTo>
                <a:lnTo>
                  <a:pt x="206051" y="161709"/>
                </a:lnTo>
                <a:cubicBezTo>
                  <a:pt x="203361" y="164402"/>
                  <a:pt x="199426" y="165429"/>
                  <a:pt x="195764" y="164396"/>
                </a:cubicBezTo>
                <a:cubicBezTo>
                  <a:pt x="192102" y="163363"/>
                  <a:pt x="189284" y="160430"/>
                  <a:pt x="188398" y="156729"/>
                </a:cubicBezTo>
                <a:cubicBezTo>
                  <a:pt x="185380" y="144165"/>
                  <a:pt x="173673" y="135662"/>
                  <a:pt x="160791" y="136678"/>
                </a:cubicBezTo>
                <a:cubicBezTo>
                  <a:pt x="147910" y="137693"/>
                  <a:pt x="137680" y="147927"/>
                  <a:pt x="136668" y="160808"/>
                </a:cubicBezTo>
                <a:cubicBezTo>
                  <a:pt x="135657" y="173690"/>
                  <a:pt x="144164" y="185395"/>
                  <a:pt x="156729" y="188409"/>
                </a:cubicBezTo>
                <a:cubicBezTo>
                  <a:pt x="160430" y="189295"/>
                  <a:pt x="163363" y="192112"/>
                  <a:pt x="164396" y="195774"/>
                </a:cubicBezTo>
                <a:cubicBezTo>
                  <a:pt x="165429" y="199437"/>
                  <a:pt x="164402" y="203372"/>
                  <a:pt x="161709" y="206061"/>
                </a:cubicBezTo>
                <a:lnTo>
                  <a:pt x="144025" y="223735"/>
                </a:lnTo>
                <a:cubicBezTo>
                  <a:pt x="139269" y="228492"/>
                  <a:pt x="132817" y="231165"/>
                  <a:pt x="126089" y="231165"/>
                </a:cubicBezTo>
                <a:cubicBezTo>
                  <a:pt x="119362" y="231165"/>
                  <a:pt x="112910" y="228492"/>
                  <a:pt x="108153" y="223735"/>
                </a:cubicBezTo>
                <a:lnTo>
                  <a:pt x="90469" y="206051"/>
                </a:lnTo>
                <a:cubicBezTo>
                  <a:pt x="87780" y="203359"/>
                  <a:pt x="83845" y="202331"/>
                  <a:pt x="80182" y="203364"/>
                </a:cubicBezTo>
                <a:cubicBezTo>
                  <a:pt x="76520" y="204398"/>
                  <a:pt x="73702" y="207330"/>
                  <a:pt x="72817" y="211031"/>
                </a:cubicBezTo>
                <a:cubicBezTo>
                  <a:pt x="69798" y="223595"/>
                  <a:pt x="58091" y="232098"/>
                  <a:pt x="45209" y="231083"/>
                </a:cubicBezTo>
                <a:cubicBezTo>
                  <a:pt x="32328" y="230067"/>
                  <a:pt x="22098" y="219834"/>
                  <a:pt x="21087" y="206952"/>
                </a:cubicBezTo>
                <a:cubicBezTo>
                  <a:pt x="20075" y="194070"/>
                  <a:pt x="28582" y="182366"/>
                  <a:pt x="41147" y="179351"/>
                </a:cubicBezTo>
                <a:cubicBezTo>
                  <a:pt x="44848" y="178466"/>
                  <a:pt x="47781" y="175648"/>
                  <a:pt x="48814" y="171986"/>
                </a:cubicBezTo>
                <a:cubicBezTo>
                  <a:pt x="49847" y="168323"/>
                  <a:pt x="48820" y="164388"/>
                  <a:pt x="46128" y="161699"/>
                </a:cubicBezTo>
                <a:lnTo>
                  <a:pt x="28444" y="144025"/>
                </a:lnTo>
                <a:cubicBezTo>
                  <a:pt x="23686" y="139269"/>
                  <a:pt x="21014" y="132817"/>
                  <a:pt x="21014" y="126089"/>
                </a:cubicBezTo>
                <a:cubicBezTo>
                  <a:pt x="21014" y="119362"/>
                  <a:pt x="23686" y="112910"/>
                  <a:pt x="28444" y="108153"/>
                </a:cubicBezTo>
                <a:lnTo>
                  <a:pt x="46128" y="90469"/>
                </a:lnTo>
                <a:cubicBezTo>
                  <a:pt x="48817" y="87777"/>
                  <a:pt x="52752" y="86749"/>
                  <a:pt x="56414" y="87783"/>
                </a:cubicBezTo>
                <a:cubicBezTo>
                  <a:pt x="60077" y="88816"/>
                  <a:pt x="62894" y="91749"/>
                  <a:pt x="63780" y="95450"/>
                </a:cubicBezTo>
                <a:cubicBezTo>
                  <a:pt x="66798" y="108014"/>
                  <a:pt x="78506" y="116517"/>
                  <a:pt x="91387" y="115501"/>
                </a:cubicBezTo>
                <a:cubicBezTo>
                  <a:pt x="104269" y="114485"/>
                  <a:pt x="114498" y="104252"/>
                  <a:pt x="115510" y="91370"/>
                </a:cubicBezTo>
                <a:cubicBezTo>
                  <a:pt x="116522" y="78488"/>
                  <a:pt x="108015" y="66784"/>
                  <a:pt x="95450" y="63770"/>
                </a:cubicBezTo>
                <a:cubicBezTo>
                  <a:pt x="91749" y="62884"/>
                  <a:pt x="88816" y="60066"/>
                  <a:pt x="87783" y="56404"/>
                </a:cubicBezTo>
                <a:cubicBezTo>
                  <a:pt x="86749" y="52742"/>
                  <a:pt x="87777" y="48807"/>
                  <a:pt x="90469" y="46117"/>
                </a:cubicBezTo>
                <a:lnTo>
                  <a:pt x="108153" y="28444"/>
                </a:lnTo>
                <a:cubicBezTo>
                  <a:pt x="112910" y="23686"/>
                  <a:pt x="119362" y="21014"/>
                  <a:pt x="126089" y="21014"/>
                </a:cubicBezTo>
                <a:cubicBezTo>
                  <a:pt x="132817" y="21014"/>
                  <a:pt x="139269" y="23686"/>
                  <a:pt x="144025" y="28444"/>
                </a:cubicBezTo>
                <a:close/>
              </a:path>
            </a:pathLst>
          </a:custGeom>
          <a:noFill/>
          <a:ln w="21015" cap="rnd">
            <a:solidFill>
              <a:srgbClr val="1F4E8C"/>
            </a:solidFill>
            <a:prstDash val="solid"/>
            <a:round/>
          </a:ln>
        </p:spPr>
      </p:sp>
      <p:sp>
        <p:nvSpPr>
          <p:cNvPr id="90" name="Text 88"/>
          <p:cNvSpPr/>
          <p:nvPr/>
        </p:nvSpPr>
        <p:spPr>
          <a:xfrm>
            <a:off x="6555562" y="2586446"/>
            <a:ext cx="730148"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Dominio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reglas de estado</a:t>
            </a:r>
            <a:endParaRPr lang="en-US" sz="955" dirty="0"/>
          </a:p>
        </p:txBody>
      </p:sp>
      <p:sp>
        <p:nvSpPr>
          <p:cNvPr id="91" name="Shape 89"/>
          <p:cNvSpPr/>
          <p:nvPr/>
        </p:nvSpPr>
        <p:spPr>
          <a:xfrm>
            <a:off x="7599219" y="2586446"/>
            <a:ext cx="1390215" cy="484959"/>
          </a:xfrm>
          <a:prstGeom prst="roundRect">
            <a:avLst>
              <a:gd name="adj" fmla="val 16970"/>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92" name="Shape 90"/>
          <p:cNvSpPr/>
          <p:nvPr/>
        </p:nvSpPr>
        <p:spPr>
          <a:xfrm>
            <a:off x="7690659" y="2647972"/>
            <a:ext cx="361906" cy="361906"/>
          </a:xfrm>
          <a:prstGeom prst="ellipse">
            <a:avLst/>
          </a:prstGeom>
          <a:solidFill>
            <a:srgbClr val="E4EAF1"/>
          </a:solidFill>
          <a:ln w="12700">
            <a:solidFill>
              <a:srgbClr val="E4EAF1"/>
            </a:solidFill>
            <a:prstDash val="solid"/>
          </a:ln>
        </p:spPr>
      </p:sp>
      <p:sp>
        <p:nvSpPr>
          <p:cNvPr id="93" name="Icono timer"/>
          <p:cNvSpPr/>
          <p:nvPr/>
        </p:nvSpPr>
        <p:spPr>
          <a:xfrm>
            <a:off x="7745523" y="2702836"/>
            <a:ext cx="252178" cy="252178"/>
          </a:xfrm>
          <a:custGeom>
            <a:avLst/>
            <a:gdLst/>
            <a:ahLst/>
            <a:cxnLst/>
            <a:rect l="l" t="t" r="r" b="b"/>
            <a:pathLst>
              <a:path w="252178" h="252178">
                <a:moveTo>
                  <a:pt x="105074" y="21015"/>
                </a:moveTo>
                <a:lnTo>
                  <a:pt x="147104" y="21015"/>
                </a:lnTo>
                <a:moveTo>
                  <a:pt x="126089" y="147104"/>
                </a:moveTo>
                <a:lnTo>
                  <a:pt x="157612" y="115582"/>
                </a:lnTo>
                <a:moveTo>
                  <a:pt x="210149" y="147104"/>
                </a:moveTo>
                <a:cubicBezTo>
                  <a:pt x="210149" y="193529"/>
                  <a:pt x="172514" y="231164"/>
                  <a:pt x="126089" y="231164"/>
                </a:cubicBezTo>
                <a:cubicBezTo>
                  <a:pt x="79664" y="231164"/>
                  <a:pt x="42030" y="193529"/>
                  <a:pt x="42030" y="147104"/>
                </a:cubicBezTo>
                <a:cubicBezTo>
                  <a:pt x="42030" y="100679"/>
                  <a:pt x="79664" y="63045"/>
                  <a:pt x="126089" y="63045"/>
                </a:cubicBezTo>
                <a:cubicBezTo>
                  <a:pt x="172514" y="63045"/>
                  <a:pt x="210149" y="100679"/>
                  <a:pt x="210149" y="147104"/>
                </a:cubicBezTo>
                <a:close/>
              </a:path>
            </a:pathLst>
          </a:custGeom>
          <a:noFill/>
          <a:ln w="21015" cap="rnd">
            <a:solidFill>
              <a:srgbClr val="1F4E8C"/>
            </a:solidFill>
            <a:prstDash val="solid"/>
            <a:round/>
          </a:ln>
        </p:spPr>
      </p:sp>
      <p:sp>
        <p:nvSpPr>
          <p:cNvPr id="94" name="Text 92"/>
          <p:cNvSpPr/>
          <p:nvPr/>
        </p:nvSpPr>
        <p:spPr>
          <a:xfrm>
            <a:off x="8107430" y="2586446"/>
            <a:ext cx="82714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Relevador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cada 5 s · 3 intentos</a:t>
            </a:r>
            <a:endParaRPr lang="en-US" sz="955" dirty="0"/>
          </a:p>
        </p:txBody>
      </p:sp>
      <p:sp>
        <p:nvSpPr>
          <p:cNvPr id="95" name="Shape 93"/>
          <p:cNvSpPr/>
          <p:nvPr/>
        </p:nvSpPr>
        <p:spPr>
          <a:xfrm>
            <a:off x="9442062" y="2586446"/>
            <a:ext cx="1875173" cy="484959"/>
          </a:xfrm>
          <a:prstGeom prst="roundRect">
            <a:avLst>
              <a:gd name="adj" fmla="val 1697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96" name="Shape 94"/>
          <p:cNvSpPr/>
          <p:nvPr/>
        </p:nvSpPr>
        <p:spPr>
          <a:xfrm>
            <a:off x="9533502" y="2647972"/>
            <a:ext cx="361906" cy="361906"/>
          </a:xfrm>
          <a:prstGeom prst="ellipse">
            <a:avLst/>
          </a:prstGeom>
          <a:solidFill>
            <a:srgbClr val="EBECF0"/>
          </a:solidFill>
          <a:ln w="12700">
            <a:solidFill>
              <a:srgbClr val="EBECF0"/>
            </a:solidFill>
            <a:prstDash val="solid"/>
          </a:ln>
        </p:spPr>
      </p:sp>
      <p:sp>
        <p:nvSpPr>
          <p:cNvPr id="97" name="Icono database"/>
          <p:cNvSpPr/>
          <p:nvPr/>
        </p:nvSpPr>
        <p:spPr>
          <a:xfrm>
            <a:off x="9588366" y="2702836"/>
            <a:ext cx="252178" cy="252178"/>
          </a:xfrm>
          <a:custGeom>
            <a:avLst/>
            <a:gdLst/>
            <a:ahLst/>
            <a:cxnLst/>
            <a:rect l="l" t="t" r="r" b="b"/>
            <a:pathLst>
              <a:path w="252178" h="252178">
                <a:moveTo>
                  <a:pt x="220656" y="52537"/>
                </a:moveTo>
                <a:cubicBezTo>
                  <a:pt x="220656" y="69946"/>
                  <a:pt x="178317" y="84059"/>
                  <a:pt x="126089" y="84059"/>
                </a:cubicBezTo>
                <a:cubicBezTo>
                  <a:pt x="73861" y="84059"/>
                  <a:pt x="31522" y="69946"/>
                  <a:pt x="31522" y="52537"/>
                </a:cubicBezTo>
                <a:cubicBezTo>
                  <a:pt x="31522" y="35128"/>
                  <a:pt x="73861" y="21015"/>
                  <a:pt x="126089" y="21015"/>
                </a:cubicBezTo>
                <a:cubicBezTo>
                  <a:pt x="178317" y="21015"/>
                  <a:pt x="220656" y="35128"/>
                  <a:pt x="220656" y="52537"/>
                </a:cubicBezTo>
                <a:close/>
                <a:moveTo>
                  <a:pt x="31522" y="52537"/>
                </a:moveTo>
                <a:lnTo>
                  <a:pt x="31522" y="199641"/>
                </a:lnTo>
                <a:cubicBezTo>
                  <a:pt x="31522" y="217051"/>
                  <a:pt x="73861" y="231164"/>
                  <a:pt x="126089" y="231164"/>
                </a:cubicBezTo>
                <a:cubicBezTo>
                  <a:pt x="178317" y="231164"/>
                  <a:pt x="220656" y="217051"/>
                  <a:pt x="220656" y="199641"/>
                </a:cubicBezTo>
                <a:lnTo>
                  <a:pt x="220656" y="52537"/>
                </a:lnTo>
                <a:moveTo>
                  <a:pt x="31522" y="126089"/>
                </a:moveTo>
                <a:cubicBezTo>
                  <a:pt x="31522" y="143499"/>
                  <a:pt x="73861" y="157612"/>
                  <a:pt x="126089" y="157612"/>
                </a:cubicBezTo>
                <a:cubicBezTo>
                  <a:pt x="178317" y="157612"/>
                  <a:pt x="220656" y="143499"/>
                  <a:pt x="220656" y="126089"/>
                </a:cubicBezTo>
              </a:path>
            </a:pathLst>
          </a:custGeom>
          <a:noFill/>
          <a:ln w="21015" cap="rnd">
            <a:solidFill>
              <a:srgbClr val="55627E"/>
            </a:solidFill>
            <a:prstDash val="solid"/>
            <a:round/>
          </a:ln>
        </p:spPr>
      </p:sp>
      <p:sp>
        <p:nvSpPr>
          <p:cNvPr id="98" name="Text 96"/>
          <p:cNvSpPr/>
          <p:nvPr/>
        </p:nvSpPr>
        <p:spPr>
          <a:xfrm>
            <a:off x="9950272" y="2586446"/>
            <a:ext cx="1312099"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db-solicitudes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55" dirty="0"/>
          </a:p>
        </p:txBody>
      </p:sp>
      <p:sp>
        <p:nvSpPr>
          <p:cNvPr id="99" name="Shape 97"/>
          <p:cNvSpPr/>
          <p:nvPr/>
        </p:nvSpPr>
        <p:spPr>
          <a:xfrm>
            <a:off x="4430823" y="4008991"/>
            <a:ext cx="1374049" cy="484959"/>
          </a:xfrm>
          <a:prstGeom prst="roundRect">
            <a:avLst>
              <a:gd name="adj" fmla="val 1697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100" name="Shape 98"/>
          <p:cNvSpPr/>
          <p:nvPr/>
        </p:nvSpPr>
        <p:spPr>
          <a:xfrm>
            <a:off x="4522263" y="4070517"/>
            <a:ext cx="361906" cy="361906"/>
          </a:xfrm>
          <a:prstGeom prst="ellipse">
            <a:avLst/>
          </a:prstGeom>
          <a:solidFill>
            <a:srgbClr val="E2EEF1"/>
          </a:solidFill>
          <a:ln w="12700">
            <a:solidFill>
              <a:srgbClr val="E2EEF1"/>
            </a:solidFill>
            <a:prstDash val="solid"/>
          </a:ln>
        </p:spPr>
      </p:sp>
      <p:sp>
        <p:nvSpPr>
          <p:cNvPr id="101" name="Icono code"/>
          <p:cNvSpPr/>
          <p:nvPr/>
        </p:nvSpPr>
        <p:spPr>
          <a:xfrm>
            <a:off x="4577127" y="4125381"/>
            <a:ext cx="252178" cy="252178"/>
          </a:xfrm>
          <a:custGeom>
            <a:avLst/>
            <a:gdLst/>
            <a:ahLst/>
            <a:cxnLst/>
            <a:rect l="l" t="t" r="r" b="b"/>
            <a:pathLst>
              <a:path w="252178" h="252178">
                <a:moveTo>
                  <a:pt x="168119" y="189134"/>
                </a:moveTo>
                <a:lnTo>
                  <a:pt x="231164" y="126089"/>
                </a:lnTo>
                <a:lnTo>
                  <a:pt x="168119" y="63045"/>
                </a:lnTo>
                <a:moveTo>
                  <a:pt x="84059" y="63045"/>
                </a:moveTo>
                <a:lnTo>
                  <a:pt x="21015" y="126089"/>
                </a:lnTo>
                <a:lnTo>
                  <a:pt x="84059" y="189134"/>
                </a:lnTo>
              </a:path>
            </a:pathLst>
          </a:custGeom>
          <a:noFill/>
          <a:ln w="21015" cap="rnd">
            <a:solidFill>
              <a:srgbClr val="0B6E8A"/>
            </a:solidFill>
            <a:prstDash val="solid"/>
            <a:round/>
          </a:ln>
        </p:spPr>
      </p:sp>
      <p:sp>
        <p:nvSpPr>
          <p:cNvPr id="102" name="Text 100"/>
          <p:cNvSpPr/>
          <p:nvPr/>
        </p:nvSpPr>
        <p:spPr>
          <a:xfrm>
            <a:off x="4939034" y="4008991"/>
            <a:ext cx="810975"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API REST</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Swagger · Actuator</a:t>
            </a:r>
            <a:endParaRPr lang="en-US" sz="955" dirty="0"/>
          </a:p>
        </p:txBody>
      </p:sp>
      <p:sp>
        <p:nvSpPr>
          <p:cNvPr id="103" name="Text 101"/>
          <p:cNvSpPr/>
          <p:nvPr/>
        </p:nvSpPr>
        <p:spPr>
          <a:xfrm>
            <a:off x="6047352" y="4008991"/>
            <a:ext cx="1293223" cy="484959"/>
          </a:xfrm>
          <a:prstGeom prst="roundRect">
            <a:avLst>
              <a:gd name="adj" fmla="val 16970"/>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Consumo idempotente</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¿ya llegó?</a:t>
            </a:r>
            <a:endParaRPr lang="en-US" sz="955" dirty="0"/>
          </a:p>
        </p:txBody>
      </p:sp>
      <p:sp>
        <p:nvSpPr>
          <p:cNvPr id="104" name="Shape 102"/>
          <p:cNvSpPr/>
          <p:nvPr/>
        </p:nvSpPr>
        <p:spPr>
          <a:xfrm>
            <a:off x="7599219" y="4008991"/>
            <a:ext cx="1390215" cy="484959"/>
          </a:xfrm>
          <a:prstGeom prst="roundRect">
            <a:avLst>
              <a:gd name="adj" fmla="val 16970"/>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105" name="Shape 103"/>
          <p:cNvSpPr/>
          <p:nvPr/>
        </p:nvSpPr>
        <p:spPr>
          <a:xfrm>
            <a:off x="7690659" y="4070517"/>
            <a:ext cx="361906" cy="361906"/>
          </a:xfrm>
          <a:prstGeom prst="ellipse">
            <a:avLst/>
          </a:prstGeom>
          <a:solidFill>
            <a:srgbClr val="E2EEF1"/>
          </a:solidFill>
          <a:ln w="12700">
            <a:solidFill>
              <a:srgbClr val="E2EEF1"/>
            </a:solidFill>
            <a:prstDash val="solid"/>
          </a:ln>
        </p:spPr>
      </p:sp>
      <p:sp>
        <p:nvSpPr>
          <p:cNvPr id="106" name="Icono bell"/>
          <p:cNvSpPr/>
          <p:nvPr/>
        </p:nvSpPr>
        <p:spPr>
          <a:xfrm>
            <a:off x="7745523" y="4125381"/>
            <a:ext cx="252178" cy="252178"/>
          </a:xfrm>
          <a:custGeom>
            <a:avLst/>
            <a:gdLst/>
            <a:ahLst/>
            <a:cxnLst/>
            <a:rect l="l" t="t" r="r" b="b"/>
            <a:pathLst>
              <a:path w="252178" h="252178">
                <a:moveTo>
                  <a:pt x="107890" y="220656"/>
                </a:moveTo>
                <a:cubicBezTo>
                  <a:pt x="111644" y="227158"/>
                  <a:pt x="118582" y="231163"/>
                  <a:pt x="126089" y="231163"/>
                </a:cubicBezTo>
                <a:cubicBezTo>
                  <a:pt x="133597" y="231163"/>
                  <a:pt x="140534" y="227158"/>
                  <a:pt x="144288" y="220656"/>
                </a:cubicBezTo>
                <a:moveTo>
                  <a:pt x="34275" y="161037"/>
                </a:moveTo>
                <a:cubicBezTo>
                  <a:pt x="31471" y="164111"/>
                  <a:pt x="30744" y="168550"/>
                  <a:pt x="32423" y="172358"/>
                </a:cubicBezTo>
                <a:cubicBezTo>
                  <a:pt x="34101" y="176165"/>
                  <a:pt x="37869" y="178623"/>
                  <a:pt x="42030" y="178626"/>
                </a:cubicBezTo>
                <a:lnTo>
                  <a:pt x="210149" y="178626"/>
                </a:lnTo>
                <a:cubicBezTo>
                  <a:pt x="214309" y="178628"/>
                  <a:pt x="218079" y="176174"/>
                  <a:pt x="219762" y="172369"/>
                </a:cubicBezTo>
                <a:cubicBezTo>
                  <a:pt x="221445" y="168564"/>
                  <a:pt x="220724" y="164125"/>
                  <a:pt x="217924" y="161047"/>
                </a:cubicBezTo>
                <a:cubicBezTo>
                  <a:pt x="203949" y="146642"/>
                  <a:pt x="189134" y="131332"/>
                  <a:pt x="189134" y="84059"/>
                </a:cubicBezTo>
                <a:cubicBezTo>
                  <a:pt x="189134" y="49241"/>
                  <a:pt x="160908" y="21015"/>
                  <a:pt x="126089" y="21015"/>
                </a:cubicBezTo>
                <a:cubicBezTo>
                  <a:pt x="91271" y="21015"/>
                  <a:pt x="63045" y="49241"/>
                  <a:pt x="63045" y="84059"/>
                </a:cubicBezTo>
                <a:cubicBezTo>
                  <a:pt x="63045" y="131332"/>
                  <a:pt x="48219" y="146642"/>
                  <a:pt x="34275" y="161037"/>
                </a:cubicBezTo>
              </a:path>
            </a:pathLst>
          </a:custGeom>
          <a:noFill/>
          <a:ln w="21015" cap="rnd">
            <a:solidFill>
              <a:srgbClr val="0B6E8A"/>
            </a:solidFill>
            <a:prstDash val="solid"/>
            <a:round/>
          </a:ln>
        </p:spPr>
      </p:sp>
      <p:sp>
        <p:nvSpPr>
          <p:cNvPr id="107" name="Text 105"/>
          <p:cNvSpPr/>
          <p:nvPr/>
        </p:nvSpPr>
        <p:spPr>
          <a:xfrm>
            <a:off x="8107430" y="4008991"/>
            <a:ext cx="827140"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5C3404"/>
                </a:solidFill>
                <a:latin typeface="Segoe UI" pitchFamily="34" charset="0"/>
                <a:ea typeface="Segoe UI" pitchFamily="34" charset="-122"/>
                <a:cs typeface="Segoe UI" pitchFamily="34" charset="-120"/>
              </a:rPr>
              <a:t>Avisos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55" dirty="0"/>
          </a:p>
        </p:txBody>
      </p:sp>
      <p:sp>
        <p:nvSpPr>
          <p:cNvPr id="108" name="Shape 106"/>
          <p:cNvSpPr/>
          <p:nvPr/>
        </p:nvSpPr>
        <p:spPr>
          <a:xfrm>
            <a:off x="9442062" y="3847338"/>
            <a:ext cx="1875173" cy="484959"/>
          </a:xfrm>
          <a:prstGeom prst="roundRect">
            <a:avLst>
              <a:gd name="adj" fmla="val 16970"/>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109" name="Shape 107"/>
          <p:cNvSpPr/>
          <p:nvPr/>
        </p:nvSpPr>
        <p:spPr>
          <a:xfrm>
            <a:off x="9533502" y="3908864"/>
            <a:ext cx="361906" cy="361906"/>
          </a:xfrm>
          <a:prstGeom prst="ellipse">
            <a:avLst/>
          </a:prstGeom>
          <a:solidFill>
            <a:srgbClr val="EBECF0"/>
          </a:solidFill>
          <a:ln w="12700">
            <a:solidFill>
              <a:srgbClr val="EBECF0"/>
            </a:solidFill>
            <a:prstDash val="solid"/>
          </a:ln>
        </p:spPr>
      </p:sp>
      <p:sp>
        <p:nvSpPr>
          <p:cNvPr id="110" name="Icono database"/>
          <p:cNvSpPr/>
          <p:nvPr/>
        </p:nvSpPr>
        <p:spPr>
          <a:xfrm>
            <a:off x="9588366" y="3963728"/>
            <a:ext cx="252178" cy="252178"/>
          </a:xfrm>
          <a:custGeom>
            <a:avLst/>
            <a:gdLst/>
            <a:ahLst/>
            <a:cxnLst/>
            <a:rect l="l" t="t" r="r" b="b"/>
            <a:pathLst>
              <a:path w="252178" h="252178">
                <a:moveTo>
                  <a:pt x="220656" y="52537"/>
                </a:moveTo>
                <a:cubicBezTo>
                  <a:pt x="220656" y="69946"/>
                  <a:pt x="178317" y="84059"/>
                  <a:pt x="126089" y="84059"/>
                </a:cubicBezTo>
                <a:cubicBezTo>
                  <a:pt x="73861" y="84059"/>
                  <a:pt x="31522" y="69946"/>
                  <a:pt x="31522" y="52537"/>
                </a:cubicBezTo>
                <a:cubicBezTo>
                  <a:pt x="31522" y="35128"/>
                  <a:pt x="73861" y="21015"/>
                  <a:pt x="126089" y="21015"/>
                </a:cubicBezTo>
                <a:cubicBezTo>
                  <a:pt x="178317" y="21015"/>
                  <a:pt x="220656" y="35128"/>
                  <a:pt x="220656" y="52537"/>
                </a:cubicBezTo>
                <a:close/>
                <a:moveTo>
                  <a:pt x="31522" y="52537"/>
                </a:moveTo>
                <a:lnTo>
                  <a:pt x="31522" y="199641"/>
                </a:lnTo>
                <a:cubicBezTo>
                  <a:pt x="31522" y="217051"/>
                  <a:pt x="73861" y="231164"/>
                  <a:pt x="126089" y="231164"/>
                </a:cubicBezTo>
                <a:cubicBezTo>
                  <a:pt x="178317" y="231164"/>
                  <a:pt x="220656" y="217051"/>
                  <a:pt x="220656" y="199641"/>
                </a:cubicBezTo>
                <a:lnTo>
                  <a:pt x="220656" y="52537"/>
                </a:lnTo>
                <a:moveTo>
                  <a:pt x="31522" y="126089"/>
                </a:moveTo>
                <a:cubicBezTo>
                  <a:pt x="31522" y="143499"/>
                  <a:pt x="73861" y="157612"/>
                  <a:pt x="126089" y="157612"/>
                </a:cubicBezTo>
                <a:cubicBezTo>
                  <a:pt x="178317" y="157612"/>
                  <a:pt x="220656" y="143499"/>
                  <a:pt x="220656" y="126089"/>
                </a:cubicBezTo>
              </a:path>
            </a:pathLst>
          </a:custGeom>
          <a:noFill/>
          <a:ln w="21015" cap="rnd">
            <a:solidFill>
              <a:srgbClr val="55627E"/>
            </a:solidFill>
            <a:prstDash val="solid"/>
            <a:round/>
          </a:ln>
        </p:spPr>
      </p:sp>
      <p:sp>
        <p:nvSpPr>
          <p:cNvPr id="111" name="Text 109"/>
          <p:cNvSpPr/>
          <p:nvPr/>
        </p:nvSpPr>
        <p:spPr>
          <a:xfrm>
            <a:off x="9950272" y="3847338"/>
            <a:ext cx="1312099" cy="48495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db-notificaciones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evento_procesado</a:t>
            </a:r>
            <a:endParaRPr lang="en-US" sz="955" dirty="0"/>
          </a:p>
        </p:txBody>
      </p:sp>
      <p:sp>
        <p:nvSpPr>
          <p:cNvPr id="112" name="Text 110"/>
          <p:cNvSpPr/>
          <p:nvPr/>
        </p:nvSpPr>
        <p:spPr>
          <a:xfrm>
            <a:off x="9442062" y="4445454"/>
            <a:ext cx="1875173" cy="436463"/>
          </a:xfrm>
          <a:prstGeom prst="roundRect">
            <a:avLst>
              <a:gd name="adj" fmla="val 18855"/>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16" b="1" dirty="0">
                <a:solidFill>
                  <a:srgbClr val="0B1A3C"/>
                </a:solidFill>
                <a:latin typeface="Segoe UI" pitchFamily="34" charset="0"/>
                <a:ea typeface="Segoe UI" pitchFamily="34" charset="-122"/>
                <a:cs typeface="Segoe UI" pitchFamily="34" charset="-120"/>
              </a:rPr>
              <a:t>Salida de los contenedores</a:t>
            </a:r>
            <a:endParaRPr lang="en-US" sz="916" dirty="0"/>
          </a:p>
          <a:p>
            <a:pPr algn="ctr" indent="0" marL="0">
              <a:buNone/>
            </a:pPr>
            <a:r>
              <a:rPr lang="en-US" sz="768" dirty="0">
                <a:solidFill>
                  <a:srgbClr val="55627E"/>
                </a:solidFill>
                <a:latin typeface="Segoe UI" pitchFamily="34" charset="0"/>
                <a:ea typeface="Segoe UI" pitchFamily="34" charset="-122"/>
                <a:cs typeface="Segoe UI" pitchFamily="34" charset="-120"/>
              </a:rPr>
              <a:t>logs JSON con traceId</a:t>
            </a:r>
            <a:endParaRPr lang="en-US" sz="916" dirty="0"/>
          </a:p>
        </p:txBody>
      </p:sp>
      <p:sp>
        <p:nvSpPr>
          <p:cNvPr id="113" name="Shape 111"/>
          <p:cNvSpPr/>
          <p:nvPr/>
        </p:nvSpPr>
        <p:spPr>
          <a:xfrm>
            <a:off x="761303" y="5512362"/>
            <a:ext cx="1374049" cy="51728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14" name="Shape 112"/>
          <p:cNvSpPr/>
          <p:nvPr/>
        </p:nvSpPr>
        <p:spPr>
          <a:xfrm>
            <a:off x="926836" y="5581648"/>
            <a:ext cx="378718" cy="378718"/>
          </a:xfrm>
          <a:prstGeom prst="ellipse">
            <a:avLst/>
          </a:prstGeom>
          <a:solidFill>
            <a:srgbClr val="E2E5EA"/>
          </a:solidFill>
          <a:ln w="12700">
            <a:solidFill>
              <a:srgbClr val="E2E5EA"/>
            </a:solidFill>
            <a:prstDash val="solid"/>
          </a:ln>
        </p:spPr>
      </p:sp>
      <p:sp>
        <p:nvSpPr>
          <p:cNvPr id="115" name="Icono users"/>
          <p:cNvSpPr/>
          <p:nvPr/>
        </p:nvSpPr>
        <p:spPr>
          <a:xfrm>
            <a:off x="981700" y="5636512"/>
            <a:ext cx="268990" cy="268990"/>
          </a:xfrm>
          <a:custGeom>
            <a:avLst/>
            <a:gdLst/>
            <a:ahLst/>
            <a:cxnLst/>
            <a:rect l="l" t="t" r="r" b="b"/>
            <a:pathLst>
              <a:path w="268990" h="268990">
                <a:moveTo>
                  <a:pt x="179327" y="235367"/>
                </a:moveTo>
                <a:lnTo>
                  <a:pt x="179327" y="212951"/>
                </a:lnTo>
                <a:cubicBezTo>
                  <a:pt x="179327" y="188191"/>
                  <a:pt x="159255" y="168119"/>
                  <a:pt x="134495" y="168119"/>
                </a:cubicBezTo>
                <a:lnTo>
                  <a:pt x="67248" y="168119"/>
                </a:lnTo>
                <a:cubicBezTo>
                  <a:pt x="42488" y="168119"/>
                  <a:pt x="22416" y="188191"/>
                  <a:pt x="22416" y="212951"/>
                </a:cubicBezTo>
                <a:lnTo>
                  <a:pt x="22416" y="235367"/>
                </a:lnTo>
                <a:moveTo>
                  <a:pt x="145703" y="78456"/>
                </a:moveTo>
                <a:cubicBezTo>
                  <a:pt x="145703" y="103215"/>
                  <a:pt x="125631" y="123287"/>
                  <a:pt x="100871" y="123287"/>
                </a:cubicBezTo>
                <a:cubicBezTo>
                  <a:pt x="76112" y="123287"/>
                  <a:pt x="56040" y="103215"/>
                  <a:pt x="56040" y="78456"/>
                </a:cubicBezTo>
                <a:cubicBezTo>
                  <a:pt x="56040" y="53696"/>
                  <a:pt x="76112" y="33624"/>
                  <a:pt x="100871" y="33624"/>
                </a:cubicBezTo>
                <a:cubicBezTo>
                  <a:pt x="125631" y="33624"/>
                  <a:pt x="145703" y="53696"/>
                  <a:pt x="145703" y="78456"/>
                </a:cubicBezTo>
                <a:close/>
                <a:moveTo>
                  <a:pt x="246574" y="235367"/>
                </a:moveTo>
                <a:lnTo>
                  <a:pt x="246574" y="212951"/>
                </a:lnTo>
                <a:cubicBezTo>
                  <a:pt x="246559" y="192520"/>
                  <a:pt x="232733" y="174684"/>
                  <a:pt x="212951" y="169576"/>
                </a:cubicBezTo>
                <a:moveTo>
                  <a:pt x="179327" y="35081"/>
                </a:moveTo>
                <a:cubicBezTo>
                  <a:pt x="199164" y="40160"/>
                  <a:pt x="213039" y="58035"/>
                  <a:pt x="213039" y="78512"/>
                </a:cubicBezTo>
                <a:cubicBezTo>
                  <a:pt x="213039" y="98989"/>
                  <a:pt x="199164" y="116863"/>
                  <a:pt x="179327" y="121942"/>
                </a:cubicBezTo>
              </a:path>
            </a:pathLst>
          </a:custGeom>
          <a:noFill/>
          <a:ln w="22416" cap="rnd">
            <a:solidFill>
              <a:srgbClr val="0B2350"/>
            </a:solidFill>
            <a:prstDash val="solid"/>
            <a:round/>
          </a:ln>
        </p:spPr>
      </p:sp>
      <p:sp>
        <p:nvSpPr>
          <p:cNvPr id="116" name="Text 114"/>
          <p:cNvSpPr/>
          <p:nvPr/>
        </p:nvSpPr>
        <p:spPr>
          <a:xfrm>
            <a:off x="1360418" y="5512362"/>
            <a:ext cx="720070"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Equipo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desarrolla y opera</a:t>
            </a:r>
            <a:endParaRPr lang="en-US" sz="955" dirty="0"/>
          </a:p>
        </p:txBody>
      </p:sp>
      <p:sp>
        <p:nvSpPr>
          <p:cNvPr id="117" name="Shape 115"/>
          <p:cNvSpPr/>
          <p:nvPr/>
        </p:nvSpPr>
        <p:spPr>
          <a:xfrm>
            <a:off x="2458658" y="5512362"/>
            <a:ext cx="1357884" cy="517289"/>
          </a:xfrm>
          <a:prstGeom prst="roundRect">
            <a:avLst>
              <a:gd name="adj" fmla="val 1590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118" name="Shape 116"/>
          <p:cNvSpPr/>
          <p:nvPr/>
        </p:nvSpPr>
        <p:spPr>
          <a:xfrm>
            <a:off x="2550098" y="5581648"/>
            <a:ext cx="378718" cy="378718"/>
          </a:xfrm>
          <a:prstGeom prst="ellipse">
            <a:avLst/>
          </a:prstGeom>
          <a:solidFill>
            <a:srgbClr val="E2EDE9"/>
          </a:solidFill>
          <a:ln w="12700">
            <a:solidFill>
              <a:srgbClr val="E2EDE9"/>
            </a:solidFill>
            <a:prstDash val="solid"/>
          </a:ln>
        </p:spPr>
      </p:sp>
      <p:sp>
        <p:nvSpPr>
          <p:cNvPr id="119" name="Icono github"/>
          <p:cNvSpPr/>
          <p:nvPr/>
        </p:nvSpPr>
        <p:spPr>
          <a:xfrm>
            <a:off x="2604962" y="5636512"/>
            <a:ext cx="268990" cy="268990"/>
          </a:xfrm>
          <a:custGeom>
            <a:avLst/>
            <a:gdLst/>
            <a:ahLst/>
            <a:cxnLst/>
            <a:rect l="l" t="t" r="r" b="b"/>
            <a:pathLst>
              <a:path w="268990" h="268990">
                <a:moveTo>
                  <a:pt x="168119" y="246574"/>
                </a:moveTo>
                <a:lnTo>
                  <a:pt x="168119" y="201743"/>
                </a:lnTo>
                <a:cubicBezTo>
                  <a:pt x="169678" y="187702"/>
                  <a:pt x="165652" y="173612"/>
                  <a:pt x="156911" y="162515"/>
                </a:cubicBezTo>
                <a:cubicBezTo>
                  <a:pt x="190535" y="162515"/>
                  <a:pt x="224159" y="140099"/>
                  <a:pt x="224159" y="100871"/>
                </a:cubicBezTo>
                <a:cubicBezTo>
                  <a:pt x="225055" y="86861"/>
                  <a:pt x="221132" y="73076"/>
                  <a:pt x="212951" y="61644"/>
                </a:cubicBezTo>
                <a:cubicBezTo>
                  <a:pt x="216089" y="48755"/>
                  <a:pt x="216089" y="35305"/>
                  <a:pt x="212951" y="22416"/>
                </a:cubicBezTo>
                <a:cubicBezTo>
                  <a:pt x="212951" y="22416"/>
                  <a:pt x="201743" y="22416"/>
                  <a:pt x="179327" y="39228"/>
                </a:cubicBezTo>
                <a:cubicBezTo>
                  <a:pt x="149738" y="33624"/>
                  <a:pt x="119252" y="33624"/>
                  <a:pt x="89663" y="39228"/>
                </a:cubicBezTo>
                <a:cubicBezTo>
                  <a:pt x="67248" y="22416"/>
                  <a:pt x="56040" y="22416"/>
                  <a:pt x="56040" y="22416"/>
                </a:cubicBezTo>
                <a:cubicBezTo>
                  <a:pt x="52677" y="35305"/>
                  <a:pt x="52677" y="48755"/>
                  <a:pt x="56040" y="61644"/>
                </a:cubicBezTo>
                <a:cubicBezTo>
                  <a:pt x="47879" y="73030"/>
                  <a:pt x="43918" y="86893"/>
                  <a:pt x="44832" y="100871"/>
                </a:cubicBezTo>
                <a:cubicBezTo>
                  <a:pt x="44832" y="140099"/>
                  <a:pt x="78456" y="162515"/>
                  <a:pt x="112079" y="162515"/>
                </a:cubicBezTo>
                <a:cubicBezTo>
                  <a:pt x="107708" y="168007"/>
                  <a:pt x="104458" y="174283"/>
                  <a:pt x="102553" y="181008"/>
                </a:cubicBezTo>
                <a:cubicBezTo>
                  <a:pt x="100647" y="187733"/>
                  <a:pt x="100087" y="194794"/>
                  <a:pt x="100871" y="201743"/>
                </a:cubicBezTo>
                <a:lnTo>
                  <a:pt x="100871" y="246574"/>
                </a:lnTo>
                <a:moveTo>
                  <a:pt x="100871" y="201743"/>
                </a:moveTo>
                <a:cubicBezTo>
                  <a:pt x="50324" y="224159"/>
                  <a:pt x="44832" y="179327"/>
                  <a:pt x="22416" y="179327"/>
                </a:cubicBezTo>
              </a:path>
            </a:pathLst>
          </a:custGeom>
          <a:noFill/>
          <a:ln w="22416" cap="rnd">
            <a:solidFill>
              <a:srgbClr val="0A6648"/>
            </a:solidFill>
            <a:prstDash val="solid"/>
            <a:round/>
          </a:ln>
        </p:spPr>
      </p:sp>
      <p:sp>
        <p:nvSpPr>
          <p:cNvPr id="120" name="Text 118"/>
          <p:cNvSpPr/>
          <p:nvPr/>
        </p:nvSpPr>
        <p:spPr>
          <a:xfrm>
            <a:off x="2983681" y="5512362"/>
            <a:ext cx="777998"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GitHub</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ramas y Pull Requests</a:t>
            </a:r>
            <a:endParaRPr lang="en-US" sz="955" dirty="0"/>
          </a:p>
        </p:txBody>
      </p:sp>
      <p:sp>
        <p:nvSpPr>
          <p:cNvPr id="121" name="Text 119"/>
          <p:cNvSpPr/>
          <p:nvPr/>
        </p:nvSpPr>
        <p:spPr>
          <a:xfrm>
            <a:off x="4059022" y="5512362"/>
            <a:ext cx="1374049" cy="517289"/>
          </a:xfrm>
          <a:prstGeom prst="roundRect">
            <a:avLst>
              <a:gd name="adj" fmla="val 1590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GitHub Actions</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compila, prueba y construye</a:t>
            </a:r>
            <a:endParaRPr lang="en-US" sz="955" dirty="0"/>
          </a:p>
        </p:txBody>
      </p:sp>
      <p:sp>
        <p:nvSpPr>
          <p:cNvPr id="122" name="Shape 120"/>
          <p:cNvSpPr/>
          <p:nvPr/>
        </p:nvSpPr>
        <p:spPr>
          <a:xfrm>
            <a:off x="5675550" y="5512362"/>
            <a:ext cx="1374049" cy="517289"/>
          </a:xfrm>
          <a:prstGeom prst="roundRect">
            <a:avLst>
              <a:gd name="adj" fmla="val 1590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123" name="Shape 121"/>
          <p:cNvSpPr/>
          <p:nvPr/>
        </p:nvSpPr>
        <p:spPr>
          <a:xfrm>
            <a:off x="5766990" y="5581648"/>
            <a:ext cx="378718" cy="378718"/>
          </a:xfrm>
          <a:prstGeom prst="ellipse">
            <a:avLst/>
          </a:prstGeom>
          <a:solidFill>
            <a:srgbClr val="E2EDE9"/>
          </a:solidFill>
          <a:ln w="12700">
            <a:solidFill>
              <a:srgbClr val="E2EDE9"/>
            </a:solidFill>
            <a:prstDash val="solid"/>
          </a:ln>
        </p:spPr>
      </p:sp>
      <p:sp>
        <p:nvSpPr>
          <p:cNvPr id="124" name="Icono package-check"/>
          <p:cNvSpPr/>
          <p:nvPr/>
        </p:nvSpPr>
        <p:spPr>
          <a:xfrm>
            <a:off x="5821854" y="5636512"/>
            <a:ext cx="268990" cy="268990"/>
          </a:xfrm>
          <a:custGeom>
            <a:avLst/>
            <a:gdLst/>
            <a:ahLst/>
            <a:cxnLst/>
            <a:rect l="l" t="t" r="r" b="b"/>
            <a:pathLst>
              <a:path w="268990" h="268990">
                <a:moveTo>
                  <a:pt x="179327" y="179327"/>
                </a:moveTo>
                <a:lnTo>
                  <a:pt x="201743" y="201743"/>
                </a:lnTo>
                <a:lnTo>
                  <a:pt x="246574" y="156911"/>
                </a:lnTo>
                <a:moveTo>
                  <a:pt x="235367" y="112079"/>
                </a:moveTo>
                <a:lnTo>
                  <a:pt x="235367" y="89663"/>
                </a:lnTo>
                <a:cubicBezTo>
                  <a:pt x="235358" y="81663"/>
                  <a:pt x="231087" y="74274"/>
                  <a:pt x="224159" y="70274"/>
                </a:cubicBezTo>
                <a:lnTo>
                  <a:pt x="145703" y="25442"/>
                </a:lnTo>
                <a:cubicBezTo>
                  <a:pt x="138768" y="21438"/>
                  <a:pt x="130223" y="21438"/>
                  <a:pt x="123287" y="25442"/>
                </a:cubicBezTo>
                <a:lnTo>
                  <a:pt x="44832" y="70274"/>
                </a:lnTo>
                <a:cubicBezTo>
                  <a:pt x="37903" y="74274"/>
                  <a:pt x="33632" y="81663"/>
                  <a:pt x="33624" y="89663"/>
                </a:cubicBezTo>
                <a:lnTo>
                  <a:pt x="33624" y="179327"/>
                </a:lnTo>
                <a:cubicBezTo>
                  <a:pt x="33632" y="187327"/>
                  <a:pt x="37903" y="194717"/>
                  <a:pt x="44832" y="198717"/>
                </a:cubicBezTo>
                <a:lnTo>
                  <a:pt x="123287" y="243548"/>
                </a:lnTo>
                <a:cubicBezTo>
                  <a:pt x="130223" y="247553"/>
                  <a:pt x="138768" y="247553"/>
                  <a:pt x="145703" y="243548"/>
                </a:cubicBezTo>
                <a:lnTo>
                  <a:pt x="168119" y="230771"/>
                </a:lnTo>
                <a:moveTo>
                  <a:pt x="84059" y="47858"/>
                </a:moveTo>
                <a:lnTo>
                  <a:pt x="184931" y="105579"/>
                </a:lnTo>
                <a:moveTo>
                  <a:pt x="36874" y="78456"/>
                </a:moveTo>
                <a:lnTo>
                  <a:pt x="134495" y="134495"/>
                </a:lnTo>
                <a:lnTo>
                  <a:pt x="232116" y="78456"/>
                </a:lnTo>
                <a:moveTo>
                  <a:pt x="134495" y="246574"/>
                </a:moveTo>
                <a:lnTo>
                  <a:pt x="134495" y="134495"/>
                </a:lnTo>
              </a:path>
            </a:pathLst>
          </a:custGeom>
          <a:noFill/>
          <a:ln w="22416" cap="rnd">
            <a:solidFill>
              <a:srgbClr val="0A6648"/>
            </a:solidFill>
            <a:prstDash val="solid"/>
            <a:round/>
          </a:ln>
        </p:spPr>
      </p:sp>
      <p:sp>
        <p:nvSpPr>
          <p:cNvPr id="125" name="Text 123"/>
          <p:cNvSpPr/>
          <p:nvPr/>
        </p:nvSpPr>
        <p:spPr>
          <a:xfrm>
            <a:off x="6200573" y="5512362"/>
            <a:ext cx="794163"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GHCR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imágenes por commit</a:t>
            </a:r>
            <a:endParaRPr lang="en-US" sz="955" dirty="0"/>
          </a:p>
        </p:txBody>
      </p:sp>
      <p:sp>
        <p:nvSpPr>
          <p:cNvPr id="126" name="Shape 124"/>
          <p:cNvSpPr/>
          <p:nvPr/>
        </p:nvSpPr>
        <p:spPr>
          <a:xfrm>
            <a:off x="7518393" y="5512362"/>
            <a:ext cx="1163901" cy="517289"/>
          </a:xfrm>
          <a:prstGeom prst="roundRect">
            <a:avLst>
              <a:gd name="adj" fmla="val 15909"/>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sp>
      <p:sp>
        <p:nvSpPr>
          <p:cNvPr id="127" name="Shape 125"/>
          <p:cNvSpPr/>
          <p:nvPr/>
        </p:nvSpPr>
        <p:spPr>
          <a:xfrm>
            <a:off x="7609833" y="5581648"/>
            <a:ext cx="378718" cy="378718"/>
          </a:xfrm>
          <a:prstGeom prst="ellipse">
            <a:avLst/>
          </a:prstGeom>
          <a:solidFill>
            <a:srgbClr val="F1E9E1"/>
          </a:solidFill>
          <a:ln w="12700">
            <a:solidFill>
              <a:srgbClr val="F1E9E1"/>
            </a:solidFill>
            <a:prstDash val="solid"/>
          </a:ln>
        </p:spPr>
      </p:sp>
      <p:sp>
        <p:nvSpPr>
          <p:cNvPr id="128" name="Icono scan-eye"/>
          <p:cNvSpPr/>
          <p:nvPr/>
        </p:nvSpPr>
        <p:spPr>
          <a:xfrm>
            <a:off x="7664697" y="5636512"/>
            <a:ext cx="268990" cy="268990"/>
          </a:xfrm>
          <a:custGeom>
            <a:avLst/>
            <a:gdLst/>
            <a:ahLst/>
            <a:cxnLst/>
            <a:rect l="l" t="t" r="r" b="b"/>
            <a:pathLst>
              <a:path w="268990" h="268990">
                <a:moveTo>
                  <a:pt x="33624" y="78456"/>
                </a:moveTo>
                <a:lnTo>
                  <a:pt x="33624" y="56040"/>
                </a:lnTo>
                <a:cubicBezTo>
                  <a:pt x="33624" y="43660"/>
                  <a:pt x="43660" y="33624"/>
                  <a:pt x="56040" y="33624"/>
                </a:cubicBezTo>
                <a:lnTo>
                  <a:pt x="78456" y="33624"/>
                </a:lnTo>
                <a:moveTo>
                  <a:pt x="190535" y="33624"/>
                </a:moveTo>
                <a:lnTo>
                  <a:pt x="212951" y="33624"/>
                </a:lnTo>
                <a:cubicBezTo>
                  <a:pt x="225331" y="33624"/>
                  <a:pt x="235367" y="43660"/>
                  <a:pt x="235367" y="56040"/>
                </a:cubicBezTo>
                <a:lnTo>
                  <a:pt x="235367" y="78456"/>
                </a:lnTo>
                <a:moveTo>
                  <a:pt x="235367" y="190535"/>
                </a:moveTo>
                <a:lnTo>
                  <a:pt x="235367" y="212951"/>
                </a:lnTo>
                <a:cubicBezTo>
                  <a:pt x="235367" y="225331"/>
                  <a:pt x="225331" y="235367"/>
                  <a:pt x="212951" y="235367"/>
                </a:cubicBezTo>
                <a:lnTo>
                  <a:pt x="190535" y="235367"/>
                </a:lnTo>
                <a:moveTo>
                  <a:pt x="78456" y="235367"/>
                </a:moveTo>
                <a:lnTo>
                  <a:pt x="56040" y="235367"/>
                </a:lnTo>
                <a:cubicBezTo>
                  <a:pt x="43660" y="235367"/>
                  <a:pt x="33624" y="225331"/>
                  <a:pt x="33624" y="212951"/>
                </a:cubicBezTo>
                <a:lnTo>
                  <a:pt x="33624" y="190535"/>
                </a:lnTo>
                <a:moveTo>
                  <a:pt x="145703" y="134495"/>
                </a:moveTo>
                <a:cubicBezTo>
                  <a:pt x="145703" y="140685"/>
                  <a:pt x="140685" y="145703"/>
                  <a:pt x="134495" y="145703"/>
                </a:cubicBezTo>
                <a:cubicBezTo>
                  <a:pt x="128305" y="145703"/>
                  <a:pt x="123287" y="140685"/>
                  <a:pt x="123287" y="134495"/>
                </a:cubicBezTo>
                <a:cubicBezTo>
                  <a:pt x="123287" y="128305"/>
                  <a:pt x="128305" y="123287"/>
                  <a:pt x="134495" y="123287"/>
                </a:cubicBezTo>
                <a:cubicBezTo>
                  <a:pt x="140685" y="123287"/>
                  <a:pt x="145703" y="128305"/>
                  <a:pt x="145703" y="134495"/>
                </a:cubicBezTo>
                <a:close/>
                <a:moveTo>
                  <a:pt x="212323" y="138194"/>
                </a:moveTo>
                <a:cubicBezTo>
                  <a:pt x="213160" y="135799"/>
                  <a:pt x="213160" y="133191"/>
                  <a:pt x="212323" y="130797"/>
                </a:cubicBezTo>
                <a:cubicBezTo>
                  <a:pt x="199416" y="99170"/>
                  <a:pt x="168654" y="78499"/>
                  <a:pt x="134495" y="78499"/>
                </a:cubicBezTo>
                <a:cubicBezTo>
                  <a:pt x="100336" y="78499"/>
                  <a:pt x="69574" y="99170"/>
                  <a:pt x="56667" y="130797"/>
                </a:cubicBezTo>
                <a:cubicBezTo>
                  <a:pt x="55830" y="133191"/>
                  <a:pt x="55830" y="135799"/>
                  <a:pt x="56667" y="138194"/>
                </a:cubicBezTo>
                <a:cubicBezTo>
                  <a:pt x="69574" y="169820"/>
                  <a:pt x="100336" y="190491"/>
                  <a:pt x="134495" y="190491"/>
                </a:cubicBezTo>
                <a:cubicBezTo>
                  <a:pt x="168654" y="190491"/>
                  <a:pt x="199416" y="169820"/>
                  <a:pt x="212323" y="138194"/>
                </a:cubicBezTo>
              </a:path>
            </a:pathLst>
          </a:custGeom>
          <a:noFill/>
          <a:ln w="22416" cap="rnd">
            <a:solidFill>
              <a:srgbClr val="8A4B06"/>
            </a:solidFill>
            <a:prstDash val="solid"/>
            <a:round/>
          </a:ln>
        </p:spPr>
      </p:sp>
      <p:sp>
        <p:nvSpPr>
          <p:cNvPr id="129" name="Text 127"/>
          <p:cNvSpPr/>
          <p:nvPr/>
        </p:nvSpPr>
        <p:spPr>
          <a:xfrm>
            <a:off x="8043415" y="5512362"/>
            <a:ext cx="584014" cy="517289"/>
          </a:xfrm>
          <a:prstGeom prst="rect">
            <a:avLst/>
          </a:prstGeom>
          <a:noFill/>
          <a:ln/>
        </p:spPr>
        <p:txBody>
          <a:bodyPr wrap="square" lIns="12700" tIns="25400" rIns="25400" bIns="12700" rtlCol="0" anchor="ctr">
            <a:normAutofit/>
          </a:bodyPr>
          <a:lstStyle/>
          <a:p>
            <a:pPr algn="l" indent="0" marL="0">
              <a:lnSpc>
                <a:spcPct val="95000"/>
              </a:lnSpc>
              <a:buNone/>
            </a:pPr>
            <a:r>
              <a:rPr lang="en-US" sz="878" b="1" dirty="0">
                <a:solidFill>
                  <a:srgbClr val="0B1A3C"/>
                </a:solidFill>
                <a:latin typeface="Segoe UI" pitchFamily="34" charset="0"/>
                <a:ea typeface="Segoe UI" pitchFamily="34" charset="-122"/>
                <a:cs typeface="Segoe UI" pitchFamily="34" charset="-120"/>
              </a:rPr>
              <a:t>Promtail</a:t>
            </a:r>
            <a:endParaRPr lang="en-US" sz="878" dirty="0"/>
          </a:p>
          <a:p>
            <a:pPr algn="l" indent="0" marL="0">
              <a:lnSpc>
                <a:spcPct val="95000"/>
              </a:lnSpc>
              <a:buNone/>
            </a:pPr>
            <a:r>
              <a:rPr lang="en-US" sz="736" dirty="0">
                <a:solidFill>
                  <a:srgbClr val="55627E"/>
                </a:solidFill>
                <a:latin typeface="Segoe UI" pitchFamily="34" charset="0"/>
                <a:ea typeface="Segoe UI" pitchFamily="34" charset="-122"/>
                <a:cs typeface="Segoe UI" pitchFamily="34" charset="-120"/>
              </a:rPr>
              <a:t>recoge los logs</a:t>
            </a:r>
            <a:endParaRPr lang="en-US" sz="878" dirty="0"/>
          </a:p>
        </p:txBody>
      </p:sp>
      <p:sp>
        <p:nvSpPr>
          <p:cNvPr id="130" name="Shape 128"/>
          <p:cNvSpPr/>
          <p:nvPr/>
        </p:nvSpPr>
        <p:spPr>
          <a:xfrm>
            <a:off x="8940938" y="5512362"/>
            <a:ext cx="1034578" cy="517289"/>
          </a:xfrm>
          <a:prstGeom prst="roundRect">
            <a:avLst>
              <a:gd name="adj" fmla="val 15909"/>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sp>
      <p:sp>
        <p:nvSpPr>
          <p:cNvPr id="131" name="Shape 129"/>
          <p:cNvSpPr/>
          <p:nvPr/>
        </p:nvSpPr>
        <p:spPr>
          <a:xfrm>
            <a:off x="9032378" y="5581648"/>
            <a:ext cx="378718" cy="378718"/>
          </a:xfrm>
          <a:prstGeom prst="ellipse">
            <a:avLst/>
          </a:prstGeom>
          <a:solidFill>
            <a:srgbClr val="F1E9E1"/>
          </a:solidFill>
          <a:ln w="12700">
            <a:solidFill>
              <a:srgbClr val="F1E9E1"/>
            </a:solidFill>
            <a:prstDash val="solid"/>
          </a:ln>
        </p:spPr>
      </p:sp>
      <p:sp>
        <p:nvSpPr>
          <p:cNvPr id="132" name="Icono archive"/>
          <p:cNvSpPr/>
          <p:nvPr/>
        </p:nvSpPr>
        <p:spPr>
          <a:xfrm>
            <a:off x="9087242" y="5636512"/>
            <a:ext cx="268990" cy="268990"/>
          </a:xfrm>
          <a:custGeom>
            <a:avLst/>
            <a:gdLst/>
            <a:ahLst/>
            <a:cxnLst/>
            <a:rect l="l" t="t" r="r" b="b"/>
            <a:pathLst>
              <a:path w="268990" h="268990">
                <a:moveTo>
                  <a:pt x="33624" y="33624"/>
                </a:moveTo>
                <a:lnTo>
                  <a:pt x="235367" y="33624"/>
                </a:lnTo>
                <a:cubicBezTo>
                  <a:pt x="241557" y="33624"/>
                  <a:pt x="246574" y="38642"/>
                  <a:pt x="246574" y="44832"/>
                </a:cubicBezTo>
                <a:lnTo>
                  <a:pt x="246574" y="78456"/>
                </a:lnTo>
                <a:cubicBezTo>
                  <a:pt x="246574" y="84645"/>
                  <a:pt x="241557" y="89663"/>
                  <a:pt x="235367" y="89663"/>
                </a:cubicBezTo>
                <a:lnTo>
                  <a:pt x="33624" y="89663"/>
                </a:lnTo>
                <a:cubicBezTo>
                  <a:pt x="27434" y="89663"/>
                  <a:pt x="22416" y="84645"/>
                  <a:pt x="22416" y="78456"/>
                </a:cubicBezTo>
                <a:lnTo>
                  <a:pt x="22416" y="44832"/>
                </a:lnTo>
                <a:cubicBezTo>
                  <a:pt x="22416" y="38642"/>
                  <a:pt x="27434" y="33624"/>
                  <a:pt x="33624" y="33624"/>
                </a:cubicBezTo>
                <a:close/>
                <a:moveTo>
                  <a:pt x="44832" y="89663"/>
                </a:moveTo>
                <a:lnTo>
                  <a:pt x="44832" y="212951"/>
                </a:lnTo>
                <a:cubicBezTo>
                  <a:pt x="44832" y="225331"/>
                  <a:pt x="54868" y="235367"/>
                  <a:pt x="67248" y="235367"/>
                </a:cubicBezTo>
                <a:lnTo>
                  <a:pt x="201743" y="235367"/>
                </a:lnTo>
                <a:cubicBezTo>
                  <a:pt x="214123" y="235367"/>
                  <a:pt x="224159" y="225331"/>
                  <a:pt x="224159" y="212951"/>
                </a:cubicBezTo>
                <a:lnTo>
                  <a:pt x="224159" y="89663"/>
                </a:lnTo>
                <a:moveTo>
                  <a:pt x="112079" y="134495"/>
                </a:moveTo>
                <a:lnTo>
                  <a:pt x="156911" y="134495"/>
                </a:lnTo>
              </a:path>
            </a:pathLst>
          </a:custGeom>
          <a:noFill/>
          <a:ln w="22416" cap="rnd">
            <a:solidFill>
              <a:srgbClr val="8A4B06"/>
            </a:solidFill>
            <a:prstDash val="solid"/>
            <a:round/>
          </a:ln>
        </p:spPr>
      </p:sp>
      <p:sp>
        <p:nvSpPr>
          <p:cNvPr id="133" name="Text 131"/>
          <p:cNvSpPr/>
          <p:nvPr/>
        </p:nvSpPr>
        <p:spPr>
          <a:xfrm>
            <a:off x="9465960" y="5512362"/>
            <a:ext cx="454692" cy="517289"/>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Loki</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guarda</a:t>
            </a:r>
            <a:endParaRPr lang="en-US" sz="955" dirty="0"/>
          </a:p>
        </p:txBody>
      </p:sp>
      <p:sp>
        <p:nvSpPr>
          <p:cNvPr id="134" name="Shape 132"/>
          <p:cNvSpPr/>
          <p:nvPr/>
        </p:nvSpPr>
        <p:spPr>
          <a:xfrm>
            <a:off x="10234161" y="5512362"/>
            <a:ext cx="1131570" cy="517289"/>
          </a:xfrm>
          <a:prstGeom prst="roundRect">
            <a:avLst>
              <a:gd name="adj" fmla="val 15909"/>
            </a:avLst>
          </a:prstGeom>
          <a:solidFill>
            <a:srgbClr val="FFFFFF"/>
          </a:solidFill>
          <a:ln w="12700">
            <a:solidFill>
              <a:srgbClr val="CAAE8F"/>
            </a:solidFill>
            <a:prstDash val="solid"/>
          </a:ln>
          <a:effectLst>
            <a:outerShdw sx="100000" sy="100000" kx="0" ky="0" algn="bl" rotWithShape="0" blurRad="76200" dist="19050" dir="5400000">
              <a:srgbClr val="0B1F3A">
                <a:alpha val="14000"/>
              </a:srgbClr>
            </a:outerShdw>
          </a:effectLst>
        </p:spPr>
      </p:sp>
      <p:sp>
        <p:nvSpPr>
          <p:cNvPr id="135" name="Shape 133"/>
          <p:cNvSpPr/>
          <p:nvPr/>
        </p:nvSpPr>
        <p:spPr>
          <a:xfrm>
            <a:off x="10325601" y="5581648"/>
            <a:ext cx="378718" cy="378718"/>
          </a:xfrm>
          <a:prstGeom prst="ellipse">
            <a:avLst/>
          </a:prstGeom>
          <a:solidFill>
            <a:srgbClr val="F1E9E1"/>
          </a:solidFill>
          <a:ln w="12700">
            <a:solidFill>
              <a:srgbClr val="F1E9E1"/>
            </a:solidFill>
            <a:prstDash val="solid"/>
          </a:ln>
        </p:spPr>
      </p:sp>
      <p:sp>
        <p:nvSpPr>
          <p:cNvPr id="136" name="Icono chart-line"/>
          <p:cNvSpPr/>
          <p:nvPr/>
        </p:nvSpPr>
        <p:spPr>
          <a:xfrm>
            <a:off x="10380465" y="5636512"/>
            <a:ext cx="268990" cy="268990"/>
          </a:xfrm>
          <a:custGeom>
            <a:avLst/>
            <a:gdLst/>
            <a:ahLst/>
            <a:cxnLst/>
            <a:rect l="l" t="t" r="r" b="b"/>
            <a:pathLst>
              <a:path w="268990" h="268990">
                <a:moveTo>
                  <a:pt x="33624" y="33624"/>
                </a:moveTo>
                <a:lnTo>
                  <a:pt x="33624" y="212951"/>
                </a:lnTo>
                <a:cubicBezTo>
                  <a:pt x="33624" y="225331"/>
                  <a:pt x="43660" y="235367"/>
                  <a:pt x="56040" y="235367"/>
                </a:cubicBezTo>
                <a:lnTo>
                  <a:pt x="235367" y="235367"/>
                </a:lnTo>
                <a:moveTo>
                  <a:pt x="212951" y="100871"/>
                </a:moveTo>
                <a:lnTo>
                  <a:pt x="156911" y="156911"/>
                </a:lnTo>
                <a:lnTo>
                  <a:pt x="112079" y="112079"/>
                </a:lnTo>
                <a:lnTo>
                  <a:pt x="78456" y="145703"/>
                </a:lnTo>
              </a:path>
            </a:pathLst>
          </a:custGeom>
          <a:noFill/>
          <a:ln w="22416" cap="rnd">
            <a:solidFill>
              <a:srgbClr val="8A4B06"/>
            </a:solidFill>
            <a:prstDash val="solid"/>
            <a:round/>
          </a:ln>
        </p:spPr>
      </p:sp>
      <p:sp>
        <p:nvSpPr>
          <p:cNvPr id="137" name="Text 135"/>
          <p:cNvSpPr/>
          <p:nvPr/>
        </p:nvSpPr>
        <p:spPr>
          <a:xfrm>
            <a:off x="10759183" y="5512362"/>
            <a:ext cx="551684" cy="517289"/>
          </a:xfrm>
          <a:prstGeom prst="rect">
            <a:avLst/>
          </a:prstGeom>
          <a:noFill/>
          <a:ln/>
        </p:spPr>
        <p:txBody>
          <a:bodyPr wrap="square" lIns="12700" tIns="25400" rIns="25400" bIns="12700" rtlCol="0" anchor="ctr">
            <a:normAutofit/>
          </a:bodyPr>
          <a:lstStyle/>
          <a:p>
            <a:pPr algn="l" indent="0" marL="0">
              <a:lnSpc>
                <a:spcPct val="95000"/>
              </a:lnSpc>
              <a:buNone/>
            </a:pPr>
            <a:r>
              <a:rPr lang="en-US" sz="916" b="1" dirty="0">
                <a:solidFill>
                  <a:srgbClr val="0B1A3C"/>
                </a:solidFill>
                <a:latin typeface="Segoe UI" pitchFamily="34" charset="0"/>
                <a:ea typeface="Segoe UI" pitchFamily="34" charset="-122"/>
                <a:cs typeface="Segoe UI" pitchFamily="34" charset="-120"/>
              </a:rPr>
              <a:t>Grafana</a:t>
            </a:r>
            <a:endParaRPr lang="en-US" sz="916"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busca por traceId</a:t>
            </a:r>
            <a:endParaRPr lang="en-US" sz="916" dirty="0"/>
          </a:p>
        </p:txBody>
      </p:sp>
      <p:sp>
        <p:nvSpPr>
          <p:cNvPr id="138" name="Text 1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E3F4FA"/>
          </a:solidFill>
          <a:ln w="22225">
            <a:solidFill>
              <a:srgbClr val="2BA6CB"/>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650" b="1" spc="80" kern="0" dirty="0">
                <a:solidFill>
                  <a:srgbClr val="0B6E8A"/>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AF0FA"/>
          </a:solidFill>
          <a:ln w="12700">
            <a:solidFill>
              <a:srgbClr val="AFC4E6"/>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5F5FA"/>
          </a:solidFill>
          <a:ln w="12700">
            <a:solidFill>
              <a:srgbClr val="9DD7E8"/>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6F4EE"/>
          </a:solidFill>
          <a:ln w="12700">
            <a:solidFill>
              <a:srgbClr val="A9D8C3"/>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FCF2E2"/>
          </a:solidFill>
          <a:ln w="12700">
            <a:solidFill>
              <a:srgbClr val="EDCC93"/>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47625">
            <a:solidFill>
              <a:srgbClr val="2BA6CB"/>
            </a:solidFill>
            <a:prstDash val="solid"/>
            <a:tailEnd type="triangle"/>
          </a:ln>
        </p:spPr>
      </p:sp>
      <p:sp>
        <p:nvSpPr>
          <p:cNvPr id="18" name="Text 16"/>
          <p:cNvSpPr/>
          <p:nvPr/>
        </p:nvSpPr>
        <p:spPr>
          <a:xfrm>
            <a:off x="2698982" y="20775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47625">
            <a:solidFill>
              <a:srgbClr val="2BA6CB"/>
            </a:solidFill>
            <a:prstDash val="solid"/>
            <a:tailEnd type="triangle"/>
          </a:ln>
        </p:spPr>
      </p:sp>
      <p:sp>
        <p:nvSpPr>
          <p:cNvPr id="20" name="Text 18"/>
          <p:cNvSpPr/>
          <p:nvPr/>
        </p:nvSpPr>
        <p:spPr>
          <a:xfrm>
            <a:off x="3094003" y="245843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47625">
            <a:solidFill>
              <a:srgbClr val="2BA6CB"/>
            </a:solidFill>
            <a:prstDash val="solid"/>
          </a:ln>
        </p:spPr>
      </p:sp>
      <p:sp>
        <p:nvSpPr>
          <p:cNvPr id="22" name="Shape 20"/>
          <p:cNvSpPr/>
          <p:nvPr/>
        </p:nvSpPr>
        <p:spPr>
          <a:xfrm flipV="1">
            <a:off x="4417009" y="2187245"/>
            <a:ext cx="0" cy="1100415"/>
          </a:xfrm>
          <a:prstGeom prst="line">
            <a:avLst/>
          </a:prstGeom>
          <a:noFill/>
          <a:ln w="47625">
            <a:solidFill>
              <a:srgbClr val="2BA6CB"/>
            </a:solidFill>
            <a:prstDash val="solid"/>
          </a:ln>
        </p:spPr>
      </p:sp>
      <p:sp>
        <p:nvSpPr>
          <p:cNvPr id="23" name="Shape 21"/>
          <p:cNvSpPr/>
          <p:nvPr/>
        </p:nvSpPr>
        <p:spPr>
          <a:xfrm>
            <a:off x="4417009" y="2187245"/>
            <a:ext cx="225726" cy="0"/>
          </a:xfrm>
          <a:prstGeom prst="line">
            <a:avLst/>
          </a:prstGeom>
          <a:noFill/>
          <a:ln w="47625">
            <a:solidFill>
              <a:srgbClr val="2BA6CB"/>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47625">
            <a:solidFill>
              <a:srgbClr val="2BA6CB"/>
            </a:solidFill>
            <a:prstDash val="solid"/>
            <a:tailEnd type="triangle"/>
          </a:ln>
        </p:spPr>
      </p:sp>
      <p:sp>
        <p:nvSpPr>
          <p:cNvPr id="27" name="Text 25"/>
          <p:cNvSpPr/>
          <p:nvPr/>
        </p:nvSpPr>
        <p:spPr>
          <a:xfrm>
            <a:off x="4250850" y="32837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31750">
            <a:solidFill>
              <a:srgbClr val="CBD5E3"/>
            </a:solidFill>
            <a:prstDash val="sysDot"/>
            <a:tailEnd type="triangle"/>
          </a:ln>
        </p:spPr>
      </p:sp>
      <p:sp>
        <p:nvSpPr>
          <p:cNvPr id="29" name="Text 27"/>
          <p:cNvSpPr/>
          <p:nvPr/>
        </p:nvSpPr>
        <p:spPr>
          <a:xfrm>
            <a:off x="5837987" y="20775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31750">
            <a:solidFill>
              <a:srgbClr val="CBD5E3"/>
            </a:solidFill>
            <a:prstDash val="sysDot"/>
          </a:ln>
        </p:spPr>
      </p:sp>
      <p:sp>
        <p:nvSpPr>
          <p:cNvPr id="31" name="Shape 29"/>
          <p:cNvSpPr/>
          <p:nvPr/>
        </p:nvSpPr>
        <p:spPr>
          <a:xfrm>
            <a:off x="6617839" y="1792224"/>
            <a:ext cx="3216598" cy="0"/>
          </a:xfrm>
          <a:prstGeom prst="line">
            <a:avLst/>
          </a:prstGeom>
          <a:noFill/>
          <a:ln w="31750">
            <a:solidFill>
              <a:srgbClr val="CBD5E3"/>
            </a:solidFill>
            <a:prstDash val="sysDot"/>
          </a:ln>
        </p:spPr>
      </p:sp>
      <p:sp>
        <p:nvSpPr>
          <p:cNvPr id="32" name="Shape 30"/>
          <p:cNvSpPr/>
          <p:nvPr/>
        </p:nvSpPr>
        <p:spPr>
          <a:xfrm>
            <a:off x="9834437" y="1792224"/>
            <a:ext cx="0" cy="183403"/>
          </a:xfrm>
          <a:prstGeom prst="line">
            <a:avLst/>
          </a:prstGeom>
          <a:noFill/>
          <a:ln w="31750">
            <a:solidFill>
              <a:srgbClr val="CBD5E3"/>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31750">
            <a:solidFill>
              <a:srgbClr val="CBD5E3"/>
            </a:solidFill>
            <a:prstDash val="sysDot"/>
            <a:tailEnd type="triangle"/>
          </a:ln>
        </p:spPr>
      </p:sp>
      <p:sp>
        <p:nvSpPr>
          <p:cNvPr id="36" name="Text 34"/>
          <p:cNvSpPr/>
          <p:nvPr/>
        </p:nvSpPr>
        <p:spPr>
          <a:xfrm>
            <a:off x="8680726" y="20775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25400">
            <a:solidFill>
              <a:srgbClr val="CBD5E3"/>
            </a:solidFill>
            <a:prstDash val="dash"/>
          </a:ln>
        </p:spPr>
      </p:sp>
      <p:sp>
        <p:nvSpPr>
          <p:cNvPr id="38" name="Shape 36"/>
          <p:cNvSpPr/>
          <p:nvPr/>
        </p:nvSpPr>
        <p:spPr>
          <a:xfrm flipH="1">
            <a:off x="5242321" y="2786830"/>
            <a:ext cx="2772200" cy="0"/>
          </a:xfrm>
          <a:prstGeom prst="line">
            <a:avLst/>
          </a:prstGeom>
          <a:noFill/>
          <a:ln w="25400">
            <a:solidFill>
              <a:srgbClr val="CBD5E3"/>
            </a:solidFill>
            <a:prstDash val="dash"/>
          </a:ln>
        </p:spPr>
      </p:sp>
      <p:sp>
        <p:nvSpPr>
          <p:cNvPr id="39" name="Shape 37"/>
          <p:cNvSpPr/>
          <p:nvPr/>
        </p:nvSpPr>
        <p:spPr>
          <a:xfrm>
            <a:off x="5242321" y="2786830"/>
            <a:ext cx="0" cy="430291"/>
          </a:xfrm>
          <a:prstGeom prst="line">
            <a:avLst/>
          </a:prstGeom>
          <a:noFill/>
          <a:ln w="25400">
            <a:solidFill>
              <a:srgbClr val="CBD5E3"/>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31750">
            <a:solidFill>
              <a:srgbClr val="CBD5E3"/>
            </a:solidFill>
            <a:prstDash val="sysDot"/>
            <a:tailEnd type="triangle"/>
          </a:ln>
        </p:spPr>
      </p:sp>
      <p:sp>
        <p:nvSpPr>
          <p:cNvPr id="43" name="Text 41"/>
          <p:cNvSpPr/>
          <p:nvPr/>
        </p:nvSpPr>
        <p:spPr>
          <a:xfrm>
            <a:off x="5837987" y="33190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31750">
            <a:solidFill>
              <a:srgbClr val="CBD5E3"/>
            </a:solidFill>
            <a:prstDash val="sysDot"/>
            <a:tailEnd type="triangle"/>
          </a:ln>
        </p:spPr>
      </p:sp>
      <p:sp>
        <p:nvSpPr>
          <p:cNvPr id="45" name="Text 43"/>
          <p:cNvSpPr/>
          <p:nvPr/>
        </p:nvSpPr>
        <p:spPr>
          <a:xfrm>
            <a:off x="7185290" y="33190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31750">
            <a:solidFill>
              <a:srgbClr val="CBD5E3"/>
            </a:solidFill>
            <a:prstDash val="sysDot"/>
          </a:ln>
        </p:spPr>
      </p:sp>
      <p:sp>
        <p:nvSpPr>
          <p:cNvPr id="47" name="Shape 45"/>
          <p:cNvSpPr/>
          <p:nvPr/>
        </p:nvSpPr>
        <p:spPr>
          <a:xfrm>
            <a:off x="6617839" y="3823760"/>
            <a:ext cx="2243154" cy="0"/>
          </a:xfrm>
          <a:prstGeom prst="line">
            <a:avLst/>
          </a:prstGeom>
          <a:noFill/>
          <a:ln w="31750">
            <a:solidFill>
              <a:srgbClr val="CBD5E3"/>
            </a:solidFill>
            <a:prstDash val="sysDot"/>
          </a:ln>
        </p:spPr>
      </p:sp>
      <p:sp>
        <p:nvSpPr>
          <p:cNvPr id="48" name="Shape 46"/>
          <p:cNvSpPr/>
          <p:nvPr/>
        </p:nvSpPr>
        <p:spPr>
          <a:xfrm flipV="1">
            <a:off x="8860993" y="3287660"/>
            <a:ext cx="0" cy="536100"/>
          </a:xfrm>
          <a:prstGeom prst="line">
            <a:avLst/>
          </a:prstGeom>
          <a:noFill/>
          <a:ln w="31750">
            <a:solidFill>
              <a:srgbClr val="CBD5E3"/>
            </a:solidFill>
            <a:prstDash val="sysDot"/>
          </a:ln>
        </p:spPr>
      </p:sp>
      <p:sp>
        <p:nvSpPr>
          <p:cNvPr id="49" name="Shape 47"/>
          <p:cNvSpPr/>
          <p:nvPr/>
        </p:nvSpPr>
        <p:spPr>
          <a:xfrm>
            <a:off x="8860993" y="3287660"/>
            <a:ext cx="155187" cy="0"/>
          </a:xfrm>
          <a:prstGeom prst="line">
            <a:avLst/>
          </a:prstGeom>
          <a:noFill/>
          <a:ln w="31750">
            <a:solidFill>
              <a:srgbClr val="CBD5E3"/>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31750">
            <a:solidFill>
              <a:srgbClr val="CBD5E3"/>
            </a:solidFill>
            <a:prstDash val="solid"/>
            <a:tailEnd type="triangle"/>
          </a:ln>
        </p:spPr>
      </p:sp>
      <p:sp>
        <p:nvSpPr>
          <p:cNvPr id="53" name="Text 51"/>
          <p:cNvSpPr/>
          <p:nvPr/>
        </p:nvSpPr>
        <p:spPr>
          <a:xfrm>
            <a:off x="2670766"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31750">
            <a:solidFill>
              <a:srgbClr val="CBD5E3"/>
            </a:solidFill>
            <a:prstDash val="sysDot"/>
            <a:tailEnd type="triangle"/>
          </a:ln>
        </p:spPr>
      </p:sp>
      <p:sp>
        <p:nvSpPr>
          <p:cNvPr id="55" name="Text 53"/>
          <p:cNvSpPr/>
          <p:nvPr/>
        </p:nvSpPr>
        <p:spPr>
          <a:xfrm>
            <a:off x="4102717"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31750">
            <a:solidFill>
              <a:srgbClr val="CBD5E3"/>
            </a:solidFill>
            <a:prstDash val="sysDot"/>
            <a:tailEnd type="triangle"/>
          </a:ln>
        </p:spPr>
      </p:sp>
      <p:sp>
        <p:nvSpPr>
          <p:cNvPr id="57" name="Text 55"/>
          <p:cNvSpPr/>
          <p:nvPr/>
        </p:nvSpPr>
        <p:spPr>
          <a:xfrm>
            <a:off x="551350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25400">
            <a:solidFill>
              <a:srgbClr val="CBD5E3"/>
            </a:solidFill>
            <a:prstDash val="dash"/>
          </a:ln>
        </p:spPr>
      </p:sp>
      <p:sp>
        <p:nvSpPr>
          <p:cNvPr id="59" name="Shape 57"/>
          <p:cNvSpPr/>
          <p:nvPr/>
        </p:nvSpPr>
        <p:spPr>
          <a:xfrm flipH="1">
            <a:off x="8324894" y="4141187"/>
            <a:ext cx="1156847" cy="0"/>
          </a:xfrm>
          <a:prstGeom prst="line">
            <a:avLst/>
          </a:prstGeom>
          <a:noFill/>
          <a:ln w="25400">
            <a:solidFill>
              <a:srgbClr val="CBD5E3"/>
            </a:solidFill>
            <a:prstDash val="dash"/>
          </a:ln>
        </p:spPr>
      </p:sp>
      <p:sp>
        <p:nvSpPr>
          <p:cNvPr id="60" name="Shape 58"/>
          <p:cNvSpPr/>
          <p:nvPr/>
        </p:nvSpPr>
        <p:spPr>
          <a:xfrm>
            <a:off x="8324894" y="4141187"/>
            <a:ext cx="0" cy="387967"/>
          </a:xfrm>
          <a:prstGeom prst="line">
            <a:avLst/>
          </a:prstGeom>
          <a:noFill/>
          <a:ln w="25400">
            <a:solidFill>
              <a:srgbClr val="CBD5E3"/>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31750">
            <a:solidFill>
              <a:srgbClr val="CBD5E3"/>
            </a:solidFill>
            <a:prstDash val="sysDot"/>
            <a:tailEnd type="triangle"/>
          </a:ln>
        </p:spPr>
      </p:sp>
      <p:sp>
        <p:nvSpPr>
          <p:cNvPr id="64" name="Text 62"/>
          <p:cNvSpPr/>
          <p:nvPr/>
        </p:nvSpPr>
        <p:spPr>
          <a:xfrm>
            <a:off x="8356244"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31750">
            <a:solidFill>
              <a:srgbClr val="CBD5E3"/>
            </a:solidFill>
            <a:prstDash val="sysDot"/>
            <a:tailEnd type="triangle"/>
          </a:ln>
        </p:spPr>
      </p:sp>
      <p:sp>
        <p:nvSpPr>
          <p:cNvPr id="66" name="Text 64"/>
          <p:cNvSpPr/>
          <p:nvPr/>
        </p:nvSpPr>
        <p:spPr>
          <a:xfrm>
            <a:off x="948487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9" name="Shape 67"/>
          <p:cNvSpPr/>
          <p:nvPr/>
        </p:nvSpPr>
        <p:spPr>
          <a:xfrm>
            <a:off x="3097661" y="2022339"/>
            <a:ext cx="329811" cy="329811"/>
          </a:xfrm>
          <a:prstGeom prst="ellipse">
            <a:avLst/>
          </a:prstGeom>
          <a:solidFill>
            <a:srgbClr val="E3F4FA"/>
          </a:solidFill>
          <a:ln w="12700">
            <a:solidFill>
              <a:srgbClr val="E3F4FA"/>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0B6E8A"/>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64" b="1" dirty="0">
                <a:solidFill>
                  <a:srgbClr val="8A95AB"/>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9AA5B8"/>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3F6FA"/>
          </a:solidFill>
          <a:ln w="12700">
            <a:solidFill>
              <a:srgbClr val="D5DDE8"/>
            </a:solidFill>
            <a:prstDash val="solid"/>
          </a:ln>
        </p:spPr>
      </p:sp>
      <p:sp>
        <p:nvSpPr>
          <p:cNvPr id="77" name="Shape 75"/>
          <p:cNvSpPr/>
          <p:nvPr/>
        </p:nvSpPr>
        <p:spPr>
          <a:xfrm>
            <a:off x="9107620" y="2022339"/>
            <a:ext cx="329811" cy="329811"/>
          </a:xfrm>
          <a:prstGeom prst="ellipse">
            <a:avLst/>
          </a:prstGeom>
          <a:solidFill>
            <a:srgbClr val="EEF2F7"/>
          </a:solidFill>
          <a:ln w="12700">
            <a:solidFill>
              <a:srgbClr val="EEF2F7"/>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A9B4C6"/>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792" b="1" dirty="0">
                <a:solidFill>
                  <a:srgbClr val="8A95AB"/>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9AA5B8"/>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12700">
            <a:solidFill>
              <a:srgbClr val="A85D08"/>
            </a:solidFill>
            <a:prstDash val="dash"/>
          </a:ln>
        </p:spPr>
      </p:sp>
      <p:sp>
        <p:nvSpPr>
          <p:cNvPr id="83" name="Shape 81"/>
          <p:cNvSpPr/>
          <p:nvPr/>
        </p:nvSpPr>
        <p:spPr>
          <a:xfrm>
            <a:off x="7499321" y="3263833"/>
            <a:ext cx="329811" cy="329811"/>
          </a:xfrm>
          <a:prstGeom prst="ellipse">
            <a:avLst/>
          </a:prstGeom>
          <a:solidFill>
            <a:srgbClr val="EEF2F7"/>
          </a:solidFill>
          <a:ln w="12700">
            <a:solidFill>
              <a:srgbClr val="EEF2F7"/>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A9B4C6"/>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756" b="1" dirty="0">
                <a:solidFill>
                  <a:srgbClr val="8A95AB"/>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9AA5B8"/>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12700">
            <a:solidFill>
              <a:srgbClr val="D5DDE8"/>
            </a:solidFill>
            <a:prstDash val="solid"/>
          </a:ln>
        </p:spPr>
      </p:sp>
      <p:sp>
        <p:nvSpPr>
          <p:cNvPr id="89" name="Shape 87"/>
          <p:cNvSpPr/>
          <p:nvPr/>
        </p:nvSpPr>
        <p:spPr>
          <a:xfrm>
            <a:off x="1584710" y="4582638"/>
            <a:ext cx="344483" cy="344483"/>
          </a:xfrm>
          <a:prstGeom prst="ellipse">
            <a:avLst/>
          </a:prstGeom>
          <a:solidFill>
            <a:srgbClr val="EEF2F7"/>
          </a:solidFill>
          <a:ln w="12700">
            <a:solidFill>
              <a:srgbClr val="EEF2F7"/>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A9B4C6"/>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12700">
            <a:solidFill>
              <a:srgbClr val="D5DDE8"/>
            </a:solidFill>
            <a:prstDash val="solid"/>
          </a:ln>
        </p:spPr>
      </p:sp>
      <p:sp>
        <p:nvSpPr>
          <p:cNvPr id="95" name="Shape 93"/>
          <p:cNvSpPr/>
          <p:nvPr/>
        </p:nvSpPr>
        <p:spPr>
          <a:xfrm>
            <a:off x="5820483" y="4582638"/>
            <a:ext cx="344483" cy="344483"/>
          </a:xfrm>
          <a:prstGeom prst="ellipse">
            <a:avLst/>
          </a:prstGeom>
          <a:solidFill>
            <a:srgbClr val="EEF2F7"/>
          </a:solidFill>
          <a:ln w="12700">
            <a:solidFill>
              <a:srgbClr val="EEF2F7"/>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A9B4C6"/>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3" name="Text 10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usa la interfaz en su navegador: React muestra las cuatro pestañas.</a:t>
            </a:r>
            <a:endParaRPr lang="en-US" sz="1300" dirty="0"/>
          </a:p>
        </p:txBody>
      </p:sp>
      <p:sp>
        <p:nvSpPr>
          <p:cNvPr id="104" name="Shape 10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5" name="Text 10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06" name="Text 10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nginx recibe /api y reenvía cada ruta al servicio que corresponde.</a:t>
            </a:r>
            <a:endParaRPr lang="en-US" sz="1300" dirty="0"/>
          </a:p>
        </p:txBody>
      </p:sp>
      <p:sp>
        <p:nvSpPr>
          <p:cNvPr id="107" name="Text 10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F1EEFD"/>
          </a:solidFill>
          <a:ln w="12700">
            <a:solidFill>
              <a:srgbClr val="C9BEF4"/>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3F4FA"/>
          </a:solidFill>
          <a:ln w="22225">
            <a:solidFill>
              <a:srgbClr val="2BA6CB"/>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5F5FA"/>
          </a:solidFill>
          <a:ln w="12700">
            <a:solidFill>
              <a:srgbClr val="9DD7E8"/>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6F4EE"/>
          </a:solidFill>
          <a:ln w="12700">
            <a:solidFill>
              <a:srgbClr val="A9D8C3"/>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FCF2E2"/>
          </a:solidFill>
          <a:ln w="12700">
            <a:solidFill>
              <a:srgbClr val="EDCC93"/>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31750">
            <a:solidFill>
              <a:srgbClr val="2E6DB4"/>
            </a:solidFill>
            <a:prstDash val="solid"/>
            <a:tailEnd type="triangle"/>
          </a:ln>
        </p:spPr>
      </p:sp>
      <p:sp>
        <p:nvSpPr>
          <p:cNvPr id="18" name="Text 16"/>
          <p:cNvSpPr/>
          <p:nvPr/>
        </p:nvSpPr>
        <p:spPr>
          <a:xfrm>
            <a:off x="2698982" y="207751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31750">
            <a:solidFill>
              <a:srgbClr val="2E6DB4"/>
            </a:solidFill>
            <a:prstDash val="solid"/>
            <a:tailEnd type="triangle"/>
          </a:ln>
        </p:spPr>
      </p:sp>
      <p:sp>
        <p:nvSpPr>
          <p:cNvPr id="20" name="Text 18"/>
          <p:cNvSpPr/>
          <p:nvPr/>
        </p:nvSpPr>
        <p:spPr>
          <a:xfrm>
            <a:off x="3094003" y="24584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31750">
            <a:solidFill>
              <a:srgbClr val="2E6DB4"/>
            </a:solidFill>
            <a:prstDash val="solid"/>
          </a:ln>
        </p:spPr>
      </p:sp>
      <p:sp>
        <p:nvSpPr>
          <p:cNvPr id="22" name="Shape 20"/>
          <p:cNvSpPr/>
          <p:nvPr/>
        </p:nvSpPr>
        <p:spPr>
          <a:xfrm flipV="1">
            <a:off x="4417009" y="2187245"/>
            <a:ext cx="0" cy="1100415"/>
          </a:xfrm>
          <a:prstGeom prst="line">
            <a:avLst/>
          </a:prstGeom>
          <a:noFill/>
          <a:ln w="31750">
            <a:solidFill>
              <a:srgbClr val="2E6DB4"/>
            </a:solidFill>
            <a:prstDash val="solid"/>
          </a:ln>
        </p:spPr>
      </p:sp>
      <p:sp>
        <p:nvSpPr>
          <p:cNvPr id="23" name="Shape 21"/>
          <p:cNvSpPr/>
          <p:nvPr/>
        </p:nvSpPr>
        <p:spPr>
          <a:xfrm>
            <a:off x="4417009" y="2187245"/>
            <a:ext cx="225726" cy="0"/>
          </a:xfrm>
          <a:prstGeom prst="line">
            <a:avLst/>
          </a:prstGeom>
          <a:noFill/>
          <a:ln w="31750">
            <a:solidFill>
              <a:srgbClr val="2E6DB4"/>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31750">
            <a:solidFill>
              <a:srgbClr val="2E6DB4"/>
            </a:solidFill>
            <a:prstDash val="solid"/>
            <a:tailEnd type="triangle"/>
          </a:ln>
        </p:spPr>
      </p:sp>
      <p:sp>
        <p:nvSpPr>
          <p:cNvPr id="27" name="Text 25"/>
          <p:cNvSpPr/>
          <p:nvPr/>
        </p:nvSpPr>
        <p:spPr>
          <a:xfrm>
            <a:off x="4250850" y="328374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47625">
            <a:solidFill>
              <a:srgbClr val="2BA6CB"/>
            </a:solidFill>
            <a:prstDash val="sysDot"/>
            <a:tailEnd type="triangle"/>
          </a:ln>
        </p:spPr>
      </p:sp>
      <p:sp>
        <p:nvSpPr>
          <p:cNvPr id="29" name="Text 27"/>
          <p:cNvSpPr/>
          <p:nvPr/>
        </p:nvSpPr>
        <p:spPr>
          <a:xfrm>
            <a:off x="5837987" y="20775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47625">
            <a:solidFill>
              <a:srgbClr val="2BA6CB"/>
            </a:solidFill>
            <a:prstDash val="sysDot"/>
          </a:ln>
        </p:spPr>
      </p:sp>
      <p:sp>
        <p:nvSpPr>
          <p:cNvPr id="31" name="Shape 29"/>
          <p:cNvSpPr/>
          <p:nvPr/>
        </p:nvSpPr>
        <p:spPr>
          <a:xfrm>
            <a:off x="6617839" y="1792224"/>
            <a:ext cx="3216598" cy="0"/>
          </a:xfrm>
          <a:prstGeom prst="line">
            <a:avLst/>
          </a:prstGeom>
          <a:noFill/>
          <a:ln w="47625">
            <a:solidFill>
              <a:srgbClr val="2BA6CB"/>
            </a:solidFill>
            <a:prstDash val="sysDot"/>
          </a:ln>
        </p:spPr>
      </p:sp>
      <p:sp>
        <p:nvSpPr>
          <p:cNvPr id="32" name="Shape 30"/>
          <p:cNvSpPr/>
          <p:nvPr/>
        </p:nvSpPr>
        <p:spPr>
          <a:xfrm>
            <a:off x="9834437" y="1792224"/>
            <a:ext cx="0" cy="183403"/>
          </a:xfrm>
          <a:prstGeom prst="line">
            <a:avLst/>
          </a:prstGeom>
          <a:noFill/>
          <a:ln w="47625">
            <a:solidFill>
              <a:srgbClr val="2BA6CB"/>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31750">
            <a:solidFill>
              <a:srgbClr val="CBD5E3"/>
            </a:solidFill>
            <a:prstDash val="sysDot"/>
            <a:tailEnd type="triangle"/>
          </a:ln>
        </p:spPr>
      </p:sp>
      <p:sp>
        <p:nvSpPr>
          <p:cNvPr id="36" name="Text 34"/>
          <p:cNvSpPr/>
          <p:nvPr/>
        </p:nvSpPr>
        <p:spPr>
          <a:xfrm>
            <a:off x="8680726" y="20775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25400">
            <a:solidFill>
              <a:srgbClr val="CBD5E3"/>
            </a:solidFill>
            <a:prstDash val="dash"/>
          </a:ln>
        </p:spPr>
      </p:sp>
      <p:sp>
        <p:nvSpPr>
          <p:cNvPr id="38" name="Shape 36"/>
          <p:cNvSpPr/>
          <p:nvPr/>
        </p:nvSpPr>
        <p:spPr>
          <a:xfrm flipH="1">
            <a:off x="5242321" y="2786830"/>
            <a:ext cx="2772200" cy="0"/>
          </a:xfrm>
          <a:prstGeom prst="line">
            <a:avLst/>
          </a:prstGeom>
          <a:noFill/>
          <a:ln w="25400">
            <a:solidFill>
              <a:srgbClr val="CBD5E3"/>
            </a:solidFill>
            <a:prstDash val="dash"/>
          </a:ln>
        </p:spPr>
      </p:sp>
      <p:sp>
        <p:nvSpPr>
          <p:cNvPr id="39" name="Shape 37"/>
          <p:cNvSpPr/>
          <p:nvPr/>
        </p:nvSpPr>
        <p:spPr>
          <a:xfrm>
            <a:off x="5242321" y="2786830"/>
            <a:ext cx="0" cy="430291"/>
          </a:xfrm>
          <a:prstGeom prst="line">
            <a:avLst/>
          </a:prstGeom>
          <a:noFill/>
          <a:ln w="25400">
            <a:solidFill>
              <a:srgbClr val="CBD5E3"/>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31750">
            <a:solidFill>
              <a:srgbClr val="CBD5E3"/>
            </a:solidFill>
            <a:prstDash val="sysDot"/>
            <a:tailEnd type="triangle"/>
          </a:ln>
        </p:spPr>
      </p:sp>
      <p:sp>
        <p:nvSpPr>
          <p:cNvPr id="43" name="Text 41"/>
          <p:cNvSpPr/>
          <p:nvPr/>
        </p:nvSpPr>
        <p:spPr>
          <a:xfrm>
            <a:off x="5837987" y="33190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31750">
            <a:solidFill>
              <a:srgbClr val="CBD5E3"/>
            </a:solidFill>
            <a:prstDash val="sysDot"/>
            <a:tailEnd type="triangle"/>
          </a:ln>
        </p:spPr>
      </p:sp>
      <p:sp>
        <p:nvSpPr>
          <p:cNvPr id="45" name="Text 43"/>
          <p:cNvSpPr/>
          <p:nvPr/>
        </p:nvSpPr>
        <p:spPr>
          <a:xfrm>
            <a:off x="7185290" y="33190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31750">
            <a:solidFill>
              <a:srgbClr val="CBD5E3"/>
            </a:solidFill>
            <a:prstDash val="sysDot"/>
          </a:ln>
        </p:spPr>
      </p:sp>
      <p:sp>
        <p:nvSpPr>
          <p:cNvPr id="47" name="Shape 45"/>
          <p:cNvSpPr/>
          <p:nvPr/>
        </p:nvSpPr>
        <p:spPr>
          <a:xfrm>
            <a:off x="6617839" y="3823760"/>
            <a:ext cx="2243154" cy="0"/>
          </a:xfrm>
          <a:prstGeom prst="line">
            <a:avLst/>
          </a:prstGeom>
          <a:noFill/>
          <a:ln w="31750">
            <a:solidFill>
              <a:srgbClr val="CBD5E3"/>
            </a:solidFill>
            <a:prstDash val="sysDot"/>
          </a:ln>
        </p:spPr>
      </p:sp>
      <p:sp>
        <p:nvSpPr>
          <p:cNvPr id="48" name="Shape 46"/>
          <p:cNvSpPr/>
          <p:nvPr/>
        </p:nvSpPr>
        <p:spPr>
          <a:xfrm flipV="1">
            <a:off x="8860993" y="3287660"/>
            <a:ext cx="0" cy="536100"/>
          </a:xfrm>
          <a:prstGeom prst="line">
            <a:avLst/>
          </a:prstGeom>
          <a:noFill/>
          <a:ln w="31750">
            <a:solidFill>
              <a:srgbClr val="CBD5E3"/>
            </a:solidFill>
            <a:prstDash val="sysDot"/>
          </a:ln>
        </p:spPr>
      </p:sp>
      <p:sp>
        <p:nvSpPr>
          <p:cNvPr id="49" name="Shape 47"/>
          <p:cNvSpPr/>
          <p:nvPr/>
        </p:nvSpPr>
        <p:spPr>
          <a:xfrm>
            <a:off x="8860993" y="3287660"/>
            <a:ext cx="155187" cy="0"/>
          </a:xfrm>
          <a:prstGeom prst="line">
            <a:avLst/>
          </a:prstGeom>
          <a:noFill/>
          <a:ln w="31750">
            <a:solidFill>
              <a:srgbClr val="CBD5E3"/>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31750">
            <a:solidFill>
              <a:srgbClr val="CBD5E3"/>
            </a:solidFill>
            <a:prstDash val="solid"/>
            <a:tailEnd type="triangle"/>
          </a:ln>
        </p:spPr>
      </p:sp>
      <p:sp>
        <p:nvSpPr>
          <p:cNvPr id="53" name="Text 51"/>
          <p:cNvSpPr/>
          <p:nvPr/>
        </p:nvSpPr>
        <p:spPr>
          <a:xfrm>
            <a:off x="2670766"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31750">
            <a:solidFill>
              <a:srgbClr val="CBD5E3"/>
            </a:solidFill>
            <a:prstDash val="sysDot"/>
            <a:tailEnd type="triangle"/>
          </a:ln>
        </p:spPr>
      </p:sp>
      <p:sp>
        <p:nvSpPr>
          <p:cNvPr id="55" name="Text 53"/>
          <p:cNvSpPr/>
          <p:nvPr/>
        </p:nvSpPr>
        <p:spPr>
          <a:xfrm>
            <a:off x="4102717"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31750">
            <a:solidFill>
              <a:srgbClr val="CBD5E3"/>
            </a:solidFill>
            <a:prstDash val="sysDot"/>
            <a:tailEnd type="triangle"/>
          </a:ln>
        </p:spPr>
      </p:sp>
      <p:sp>
        <p:nvSpPr>
          <p:cNvPr id="57" name="Text 55"/>
          <p:cNvSpPr/>
          <p:nvPr/>
        </p:nvSpPr>
        <p:spPr>
          <a:xfrm>
            <a:off x="551350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25400">
            <a:solidFill>
              <a:srgbClr val="CBD5E3"/>
            </a:solidFill>
            <a:prstDash val="dash"/>
          </a:ln>
        </p:spPr>
      </p:sp>
      <p:sp>
        <p:nvSpPr>
          <p:cNvPr id="59" name="Shape 57"/>
          <p:cNvSpPr/>
          <p:nvPr/>
        </p:nvSpPr>
        <p:spPr>
          <a:xfrm flipH="1">
            <a:off x="8324894" y="4141187"/>
            <a:ext cx="1156847" cy="0"/>
          </a:xfrm>
          <a:prstGeom prst="line">
            <a:avLst/>
          </a:prstGeom>
          <a:noFill/>
          <a:ln w="25400">
            <a:solidFill>
              <a:srgbClr val="CBD5E3"/>
            </a:solidFill>
            <a:prstDash val="dash"/>
          </a:ln>
        </p:spPr>
      </p:sp>
      <p:sp>
        <p:nvSpPr>
          <p:cNvPr id="60" name="Shape 58"/>
          <p:cNvSpPr/>
          <p:nvPr/>
        </p:nvSpPr>
        <p:spPr>
          <a:xfrm>
            <a:off x="8324894" y="4141187"/>
            <a:ext cx="0" cy="387967"/>
          </a:xfrm>
          <a:prstGeom prst="line">
            <a:avLst/>
          </a:prstGeom>
          <a:noFill/>
          <a:ln w="25400">
            <a:solidFill>
              <a:srgbClr val="CBD5E3"/>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31750">
            <a:solidFill>
              <a:srgbClr val="CBD5E3"/>
            </a:solidFill>
            <a:prstDash val="sysDot"/>
            <a:tailEnd type="triangle"/>
          </a:ln>
        </p:spPr>
      </p:sp>
      <p:sp>
        <p:nvSpPr>
          <p:cNvPr id="64" name="Text 62"/>
          <p:cNvSpPr/>
          <p:nvPr/>
        </p:nvSpPr>
        <p:spPr>
          <a:xfrm>
            <a:off x="8356244"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31750">
            <a:solidFill>
              <a:srgbClr val="CBD5E3"/>
            </a:solidFill>
            <a:prstDash val="sysDot"/>
            <a:tailEnd type="triangle"/>
          </a:ln>
        </p:spPr>
      </p:sp>
      <p:sp>
        <p:nvSpPr>
          <p:cNvPr id="66" name="Text 64"/>
          <p:cNvSpPr/>
          <p:nvPr/>
        </p:nvSpPr>
        <p:spPr>
          <a:xfrm>
            <a:off x="948487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3097661" y="2022339"/>
            <a:ext cx="329811" cy="329811"/>
          </a:xfrm>
          <a:prstGeom prst="ellipse">
            <a:avLst/>
          </a:prstGeom>
          <a:solidFill>
            <a:srgbClr val="EBE8F8"/>
          </a:solidFill>
          <a:ln w="12700">
            <a:solidFill>
              <a:srgbClr val="EBE8F8"/>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5B3FC4"/>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64" b="1" dirty="0">
                <a:solidFill>
                  <a:srgbClr val="8A95AB"/>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9AA5B8"/>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7" name="Shape 75"/>
          <p:cNvSpPr/>
          <p:nvPr/>
        </p:nvSpPr>
        <p:spPr>
          <a:xfrm>
            <a:off x="9107620" y="2022339"/>
            <a:ext cx="329811" cy="329811"/>
          </a:xfrm>
          <a:prstGeom prst="ellipse">
            <a:avLst/>
          </a:prstGeom>
          <a:solidFill>
            <a:srgbClr val="E3F4FA"/>
          </a:solidFill>
          <a:ln w="12700">
            <a:solidFill>
              <a:srgbClr val="E3F4FA"/>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0B6E8A"/>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792" b="1" dirty="0">
                <a:solidFill>
                  <a:srgbClr val="8A95AB"/>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9AA5B8"/>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12700">
            <a:solidFill>
              <a:srgbClr val="A85D08"/>
            </a:solidFill>
            <a:prstDash val="dash"/>
          </a:ln>
        </p:spPr>
      </p:sp>
      <p:sp>
        <p:nvSpPr>
          <p:cNvPr id="83" name="Shape 81"/>
          <p:cNvSpPr/>
          <p:nvPr/>
        </p:nvSpPr>
        <p:spPr>
          <a:xfrm>
            <a:off x="7499321" y="3263833"/>
            <a:ext cx="329811" cy="329811"/>
          </a:xfrm>
          <a:prstGeom prst="ellipse">
            <a:avLst/>
          </a:prstGeom>
          <a:solidFill>
            <a:srgbClr val="EEF2F7"/>
          </a:solidFill>
          <a:ln w="12700">
            <a:solidFill>
              <a:srgbClr val="EEF2F7"/>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A9B4C6"/>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756" b="1" dirty="0">
                <a:solidFill>
                  <a:srgbClr val="8A95AB"/>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9AA5B8"/>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12700">
            <a:solidFill>
              <a:srgbClr val="D5DDE8"/>
            </a:solidFill>
            <a:prstDash val="solid"/>
          </a:ln>
        </p:spPr>
      </p:sp>
      <p:sp>
        <p:nvSpPr>
          <p:cNvPr id="89" name="Shape 87"/>
          <p:cNvSpPr/>
          <p:nvPr/>
        </p:nvSpPr>
        <p:spPr>
          <a:xfrm>
            <a:off x="1584710" y="4582638"/>
            <a:ext cx="344483" cy="344483"/>
          </a:xfrm>
          <a:prstGeom prst="ellipse">
            <a:avLst/>
          </a:prstGeom>
          <a:solidFill>
            <a:srgbClr val="EEF2F7"/>
          </a:solidFill>
          <a:ln w="12700">
            <a:solidFill>
              <a:srgbClr val="EEF2F7"/>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A9B4C6"/>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12700">
            <a:solidFill>
              <a:srgbClr val="D5DDE8"/>
            </a:solidFill>
            <a:prstDash val="solid"/>
          </a:ln>
        </p:spPr>
      </p:sp>
      <p:sp>
        <p:nvSpPr>
          <p:cNvPr id="95" name="Shape 93"/>
          <p:cNvSpPr/>
          <p:nvPr/>
        </p:nvSpPr>
        <p:spPr>
          <a:xfrm>
            <a:off x="5820483" y="4582638"/>
            <a:ext cx="344483" cy="344483"/>
          </a:xfrm>
          <a:prstGeom prst="ellipse">
            <a:avLst/>
          </a:prstGeom>
          <a:solidFill>
            <a:srgbClr val="EEF2F7"/>
          </a:solidFill>
          <a:ln w="12700">
            <a:solidFill>
              <a:srgbClr val="EEF2F7"/>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A9B4C6"/>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03" name="Text 10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API de solicitudes recibe la petición y el dominio aplica las reglas.</a:t>
            </a:r>
            <a:endParaRPr lang="en-US" sz="1300" dirty="0"/>
          </a:p>
        </p:txBody>
      </p:sp>
      <p:sp>
        <p:nvSpPr>
          <p:cNvPr id="104" name="Shape 10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5" name="Text 10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06" name="Text 10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una sola transacción se guardan la solicitud y su evento pendiente.</a:t>
            </a:r>
            <a:endParaRPr lang="en-US" sz="1300" dirty="0"/>
          </a:p>
        </p:txBody>
      </p:sp>
      <p:sp>
        <p:nvSpPr>
          <p:cNvPr id="107" name="Text 10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F1EEFD"/>
          </a:solidFill>
          <a:ln w="12700">
            <a:solidFill>
              <a:srgbClr val="C9BEF4"/>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AF0FA"/>
          </a:solidFill>
          <a:ln w="12700">
            <a:solidFill>
              <a:srgbClr val="AFC4E6"/>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3F4FA"/>
          </a:solidFill>
          <a:ln w="22225">
            <a:solidFill>
              <a:srgbClr val="2BA6CB"/>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6F4EE"/>
          </a:solidFill>
          <a:ln w="12700">
            <a:solidFill>
              <a:srgbClr val="A9D8C3"/>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FCF2E2"/>
          </a:solidFill>
          <a:ln w="12700">
            <a:solidFill>
              <a:srgbClr val="EDCC93"/>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31750">
            <a:solidFill>
              <a:srgbClr val="2E6DB4"/>
            </a:solidFill>
            <a:prstDash val="solid"/>
            <a:tailEnd type="triangle"/>
          </a:ln>
        </p:spPr>
      </p:sp>
      <p:sp>
        <p:nvSpPr>
          <p:cNvPr id="18" name="Text 16"/>
          <p:cNvSpPr/>
          <p:nvPr/>
        </p:nvSpPr>
        <p:spPr>
          <a:xfrm>
            <a:off x="2698982" y="207751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31750">
            <a:solidFill>
              <a:srgbClr val="2E6DB4"/>
            </a:solidFill>
            <a:prstDash val="solid"/>
            <a:tailEnd type="triangle"/>
          </a:ln>
        </p:spPr>
      </p:sp>
      <p:sp>
        <p:nvSpPr>
          <p:cNvPr id="20" name="Text 18"/>
          <p:cNvSpPr/>
          <p:nvPr/>
        </p:nvSpPr>
        <p:spPr>
          <a:xfrm>
            <a:off x="3094003" y="24584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31750">
            <a:solidFill>
              <a:srgbClr val="2E6DB4"/>
            </a:solidFill>
            <a:prstDash val="solid"/>
          </a:ln>
        </p:spPr>
      </p:sp>
      <p:sp>
        <p:nvSpPr>
          <p:cNvPr id="22" name="Shape 20"/>
          <p:cNvSpPr/>
          <p:nvPr/>
        </p:nvSpPr>
        <p:spPr>
          <a:xfrm flipV="1">
            <a:off x="4417009" y="2187245"/>
            <a:ext cx="0" cy="1100415"/>
          </a:xfrm>
          <a:prstGeom prst="line">
            <a:avLst/>
          </a:prstGeom>
          <a:noFill/>
          <a:ln w="31750">
            <a:solidFill>
              <a:srgbClr val="2E6DB4"/>
            </a:solidFill>
            <a:prstDash val="solid"/>
          </a:ln>
        </p:spPr>
      </p:sp>
      <p:sp>
        <p:nvSpPr>
          <p:cNvPr id="23" name="Shape 21"/>
          <p:cNvSpPr/>
          <p:nvPr/>
        </p:nvSpPr>
        <p:spPr>
          <a:xfrm>
            <a:off x="4417009" y="2187245"/>
            <a:ext cx="225726" cy="0"/>
          </a:xfrm>
          <a:prstGeom prst="line">
            <a:avLst/>
          </a:prstGeom>
          <a:noFill/>
          <a:ln w="31750">
            <a:solidFill>
              <a:srgbClr val="2E6DB4"/>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31750">
            <a:solidFill>
              <a:srgbClr val="2E6DB4"/>
            </a:solidFill>
            <a:prstDash val="solid"/>
            <a:tailEnd type="triangle"/>
          </a:ln>
        </p:spPr>
      </p:sp>
      <p:sp>
        <p:nvSpPr>
          <p:cNvPr id="27" name="Text 25"/>
          <p:cNvSpPr/>
          <p:nvPr/>
        </p:nvSpPr>
        <p:spPr>
          <a:xfrm>
            <a:off x="4250850" y="328374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31750">
            <a:solidFill>
              <a:srgbClr val="55627E"/>
            </a:solidFill>
            <a:prstDash val="sysDot"/>
            <a:tailEnd type="triangle"/>
          </a:ln>
        </p:spPr>
      </p:sp>
      <p:sp>
        <p:nvSpPr>
          <p:cNvPr id="29" name="Text 27"/>
          <p:cNvSpPr/>
          <p:nvPr/>
        </p:nvSpPr>
        <p:spPr>
          <a:xfrm>
            <a:off x="5837987"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31750">
            <a:solidFill>
              <a:srgbClr val="55627E"/>
            </a:solidFill>
            <a:prstDash val="sysDot"/>
          </a:ln>
        </p:spPr>
      </p:sp>
      <p:sp>
        <p:nvSpPr>
          <p:cNvPr id="31" name="Shape 29"/>
          <p:cNvSpPr/>
          <p:nvPr/>
        </p:nvSpPr>
        <p:spPr>
          <a:xfrm>
            <a:off x="6617839" y="1792224"/>
            <a:ext cx="3216598" cy="0"/>
          </a:xfrm>
          <a:prstGeom prst="line">
            <a:avLst/>
          </a:prstGeom>
          <a:noFill/>
          <a:ln w="31750">
            <a:solidFill>
              <a:srgbClr val="55627E"/>
            </a:solidFill>
            <a:prstDash val="sysDot"/>
          </a:ln>
        </p:spPr>
      </p:sp>
      <p:sp>
        <p:nvSpPr>
          <p:cNvPr id="32" name="Shape 30"/>
          <p:cNvSpPr/>
          <p:nvPr/>
        </p:nvSpPr>
        <p:spPr>
          <a:xfrm>
            <a:off x="9834437" y="1792224"/>
            <a:ext cx="0" cy="183403"/>
          </a:xfrm>
          <a:prstGeom prst="line">
            <a:avLst/>
          </a:prstGeom>
          <a:noFill/>
          <a:ln w="31750">
            <a:solidFill>
              <a:srgbClr val="55627E"/>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47625">
            <a:solidFill>
              <a:srgbClr val="2BA6CB"/>
            </a:solidFill>
            <a:prstDash val="sysDot"/>
            <a:tailEnd type="triangle"/>
          </a:ln>
        </p:spPr>
      </p:sp>
      <p:sp>
        <p:nvSpPr>
          <p:cNvPr id="36" name="Text 34"/>
          <p:cNvSpPr/>
          <p:nvPr/>
        </p:nvSpPr>
        <p:spPr>
          <a:xfrm>
            <a:off x="8680726" y="20775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41275">
            <a:solidFill>
              <a:srgbClr val="2BA6CB"/>
            </a:solidFill>
            <a:prstDash val="dash"/>
          </a:ln>
        </p:spPr>
      </p:sp>
      <p:sp>
        <p:nvSpPr>
          <p:cNvPr id="38" name="Shape 36"/>
          <p:cNvSpPr/>
          <p:nvPr/>
        </p:nvSpPr>
        <p:spPr>
          <a:xfrm flipH="1">
            <a:off x="5242321" y="2786830"/>
            <a:ext cx="2772200" cy="0"/>
          </a:xfrm>
          <a:prstGeom prst="line">
            <a:avLst/>
          </a:prstGeom>
          <a:noFill/>
          <a:ln w="41275">
            <a:solidFill>
              <a:srgbClr val="2BA6CB"/>
            </a:solidFill>
            <a:prstDash val="dash"/>
          </a:ln>
        </p:spPr>
      </p:sp>
      <p:sp>
        <p:nvSpPr>
          <p:cNvPr id="39" name="Shape 37"/>
          <p:cNvSpPr/>
          <p:nvPr/>
        </p:nvSpPr>
        <p:spPr>
          <a:xfrm>
            <a:off x="5242321" y="2786830"/>
            <a:ext cx="0" cy="430291"/>
          </a:xfrm>
          <a:prstGeom prst="line">
            <a:avLst/>
          </a:prstGeom>
          <a:noFill/>
          <a:ln w="41275">
            <a:solidFill>
              <a:srgbClr val="2BA6CB"/>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47625">
            <a:solidFill>
              <a:srgbClr val="2BA6CB"/>
            </a:solidFill>
            <a:prstDash val="sysDot"/>
            <a:tailEnd type="triangle"/>
          </a:ln>
        </p:spPr>
      </p:sp>
      <p:sp>
        <p:nvSpPr>
          <p:cNvPr id="43" name="Text 41"/>
          <p:cNvSpPr/>
          <p:nvPr/>
        </p:nvSpPr>
        <p:spPr>
          <a:xfrm>
            <a:off x="5837987" y="33190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47625">
            <a:solidFill>
              <a:srgbClr val="2BA6CB"/>
            </a:solidFill>
            <a:prstDash val="sysDot"/>
            <a:tailEnd type="triangle"/>
          </a:ln>
        </p:spPr>
      </p:sp>
      <p:sp>
        <p:nvSpPr>
          <p:cNvPr id="45" name="Text 43"/>
          <p:cNvSpPr/>
          <p:nvPr/>
        </p:nvSpPr>
        <p:spPr>
          <a:xfrm>
            <a:off x="7185290" y="33190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47625">
            <a:solidFill>
              <a:srgbClr val="2BA6CB"/>
            </a:solidFill>
            <a:prstDash val="sysDot"/>
          </a:ln>
        </p:spPr>
      </p:sp>
      <p:sp>
        <p:nvSpPr>
          <p:cNvPr id="47" name="Shape 45"/>
          <p:cNvSpPr/>
          <p:nvPr/>
        </p:nvSpPr>
        <p:spPr>
          <a:xfrm>
            <a:off x="6617839" y="3823760"/>
            <a:ext cx="2243154" cy="0"/>
          </a:xfrm>
          <a:prstGeom prst="line">
            <a:avLst/>
          </a:prstGeom>
          <a:noFill/>
          <a:ln w="47625">
            <a:solidFill>
              <a:srgbClr val="2BA6CB"/>
            </a:solidFill>
            <a:prstDash val="sysDot"/>
          </a:ln>
        </p:spPr>
      </p:sp>
      <p:sp>
        <p:nvSpPr>
          <p:cNvPr id="48" name="Shape 46"/>
          <p:cNvSpPr/>
          <p:nvPr/>
        </p:nvSpPr>
        <p:spPr>
          <a:xfrm flipV="1">
            <a:off x="8860993" y="3287660"/>
            <a:ext cx="0" cy="536100"/>
          </a:xfrm>
          <a:prstGeom prst="line">
            <a:avLst/>
          </a:prstGeom>
          <a:noFill/>
          <a:ln w="47625">
            <a:solidFill>
              <a:srgbClr val="2BA6CB"/>
            </a:solidFill>
            <a:prstDash val="sysDot"/>
          </a:ln>
        </p:spPr>
      </p:sp>
      <p:sp>
        <p:nvSpPr>
          <p:cNvPr id="49" name="Shape 47"/>
          <p:cNvSpPr/>
          <p:nvPr/>
        </p:nvSpPr>
        <p:spPr>
          <a:xfrm>
            <a:off x="8860993" y="3287660"/>
            <a:ext cx="155187" cy="0"/>
          </a:xfrm>
          <a:prstGeom prst="line">
            <a:avLst/>
          </a:prstGeom>
          <a:noFill/>
          <a:ln w="47625">
            <a:solidFill>
              <a:srgbClr val="2BA6CB"/>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31750">
            <a:solidFill>
              <a:srgbClr val="CBD5E3"/>
            </a:solidFill>
            <a:prstDash val="solid"/>
            <a:tailEnd type="triangle"/>
          </a:ln>
        </p:spPr>
      </p:sp>
      <p:sp>
        <p:nvSpPr>
          <p:cNvPr id="53" name="Text 51"/>
          <p:cNvSpPr/>
          <p:nvPr/>
        </p:nvSpPr>
        <p:spPr>
          <a:xfrm>
            <a:off x="2670766"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31750">
            <a:solidFill>
              <a:srgbClr val="CBD5E3"/>
            </a:solidFill>
            <a:prstDash val="sysDot"/>
            <a:tailEnd type="triangle"/>
          </a:ln>
        </p:spPr>
      </p:sp>
      <p:sp>
        <p:nvSpPr>
          <p:cNvPr id="55" name="Text 53"/>
          <p:cNvSpPr/>
          <p:nvPr/>
        </p:nvSpPr>
        <p:spPr>
          <a:xfrm>
            <a:off x="4102717"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31750">
            <a:solidFill>
              <a:srgbClr val="CBD5E3"/>
            </a:solidFill>
            <a:prstDash val="sysDot"/>
            <a:tailEnd type="triangle"/>
          </a:ln>
        </p:spPr>
      </p:sp>
      <p:sp>
        <p:nvSpPr>
          <p:cNvPr id="57" name="Text 55"/>
          <p:cNvSpPr/>
          <p:nvPr/>
        </p:nvSpPr>
        <p:spPr>
          <a:xfrm>
            <a:off x="551350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25400">
            <a:solidFill>
              <a:srgbClr val="CBD5E3"/>
            </a:solidFill>
            <a:prstDash val="dash"/>
          </a:ln>
        </p:spPr>
      </p:sp>
      <p:sp>
        <p:nvSpPr>
          <p:cNvPr id="59" name="Shape 57"/>
          <p:cNvSpPr/>
          <p:nvPr/>
        </p:nvSpPr>
        <p:spPr>
          <a:xfrm flipH="1">
            <a:off x="8324894" y="4141187"/>
            <a:ext cx="1156847" cy="0"/>
          </a:xfrm>
          <a:prstGeom prst="line">
            <a:avLst/>
          </a:prstGeom>
          <a:noFill/>
          <a:ln w="25400">
            <a:solidFill>
              <a:srgbClr val="CBD5E3"/>
            </a:solidFill>
            <a:prstDash val="dash"/>
          </a:ln>
        </p:spPr>
      </p:sp>
      <p:sp>
        <p:nvSpPr>
          <p:cNvPr id="60" name="Shape 58"/>
          <p:cNvSpPr/>
          <p:nvPr/>
        </p:nvSpPr>
        <p:spPr>
          <a:xfrm>
            <a:off x="8324894" y="4141187"/>
            <a:ext cx="0" cy="387967"/>
          </a:xfrm>
          <a:prstGeom prst="line">
            <a:avLst/>
          </a:prstGeom>
          <a:noFill/>
          <a:ln w="25400">
            <a:solidFill>
              <a:srgbClr val="CBD5E3"/>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31750">
            <a:solidFill>
              <a:srgbClr val="CBD5E3"/>
            </a:solidFill>
            <a:prstDash val="sysDot"/>
            <a:tailEnd type="triangle"/>
          </a:ln>
        </p:spPr>
      </p:sp>
      <p:sp>
        <p:nvSpPr>
          <p:cNvPr id="64" name="Text 62"/>
          <p:cNvSpPr/>
          <p:nvPr/>
        </p:nvSpPr>
        <p:spPr>
          <a:xfrm>
            <a:off x="8356244"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31750">
            <a:solidFill>
              <a:srgbClr val="CBD5E3"/>
            </a:solidFill>
            <a:prstDash val="sysDot"/>
            <a:tailEnd type="triangle"/>
          </a:ln>
        </p:spPr>
      </p:sp>
      <p:sp>
        <p:nvSpPr>
          <p:cNvPr id="66" name="Text 64"/>
          <p:cNvSpPr/>
          <p:nvPr/>
        </p:nvSpPr>
        <p:spPr>
          <a:xfrm>
            <a:off x="948487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3097661" y="2022339"/>
            <a:ext cx="329811" cy="329811"/>
          </a:xfrm>
          <a:prstGeom prst="ellipse">
            <a:avLst/>
          </a:prstGeom>
          <a:solidFill>
            <a:srgbClr val="EBE8F8"/>
          </a:solidFill>
          <a:ln w="12700">
            <a:solidFill>
              <a:srgbClr val="EBE8F8"/>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5B3FC4"/>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9107620" y="2022339"/>
            <a:ext cx="329811" cy="329811"/>
          </a:xfrm>
          <a:prstGeom prst="ellipse">
            <a:avLst/>
          </a:prstGeom>
          <a:solidFill>
            <a:srgbClr val="EBECF0"/>
          </a:solidFill>
          <a:ln w="12700">
            <a:solidFill>
              <a:srgbClr val="EBECF0"/>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55627E"/>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83" name="Shape 81"/>
          <p:cNvSpPr/>
          <p:nvPr/>
        </p:nvSpPr>
        <p:spPr>
          <a:xfrm>
            <a:off x="7499321" y="3263833"/>
            <a:ext cx="329811" cy="329811"/>
          </a:xfrm>
          <a:prstGeom prst="ellipse">
            <a:avLst/>
          </a:prstGeom>
          <a:solidFill>
            <a:srgbClr val="E3F4FA"/>
          </a:solidFill>
          <a:ln w="12700">
            <a:solidFill>
              <a:srgbClr val="E3F4FA"/>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0B6E8A"/>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756" b="1" dirty="0">
                <a:solidFill>
                  <a:srgbClr val="8A95AB"/>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9AA5B8"/>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12700">
            <a:solidFill>
              <a:srgbClr val="D5DDE8"/>
            </a:solidFill>
            <a:prstDash val="solid"/>
          </a:ln>
        </p:spPr>
      </p:sp>
      <p:sp>
        <p:nvSpPr>
          <p:cNvPr id="89" name="Shape 87"/>
          <p:cNvSpPr/>
          <p:nvPr/>
        </p:nvSpPr>
        <p:spPr>
          <a:xfrm>
            <a:off x="1584710" y="4582638"/>
            <a:ext cx="344483" cy="344483"/>
          </a:xfrm>
          <a:prstGeom prst="ellipse">
            <a:avLst/>
          </a:prstGeom>
          <a:solidFill>
            <a:srgbClr val="EEF2F7"/>
          </a:solidFill>
          <a:ln w="12700">
            <a:solidFill>
              <a:srgbClr val="EEF2F7"/>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A9B4C6"/>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12700">
            <a:solidFill>
              <a:srgbClr val="D5DDE8"/>
            </a:solidFill>
            <a:prstDash val="solid"/>
          </a:ln>
        </p:spPr>
      </p:sp>
      <p:sp>
        <p:nvSpPr>
          <p:cNvPr id="95" name="Shape 93"/>
          <p:cNvSpPr/>
          <p:nvPr/>
        </p:nvSpPr>
        <p:spPr>
          <a:xfrm>
            <a:off x="5820483" y="4582638"/>
            <a:ext cx="344483" cy="344483"/>
          </a:xfrm>
          <a:prstGeom prst="ellipse">
            <a:avLst/>
          </a:prstGeom>
          <a:solidFill>
            <a:srgbClr val="EEF2F7"/>
          </a:solidFill>
          <a:ln w="12700">
            <a:solidFill>
              <a:srgbClr val="EEF2F7"/>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A9B4C6"/>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03" name="Text 101"/>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lee los pendientes y los entrega por HTTP, con el traceId.</a:t>
            </a:r>
            <a:endParaRPr lang="en-US" sz="1300" dirty="0"/>
          </a:p>
        </p:txBody>
      </p:sp>
      <p:sp>
        <p:nvSpPr>
          <p:cNvPr id="104" name="Shape 102"/>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5" name="Text 103"/>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106" name="Text 104"/>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revisa si el evento ya llegó; si es nuevo, crea el aviso y anota su número.</a:t>
            </a:r>
            <a:endParaRPr lang="en-US" sz="1300" dirty="0"/>
          </a:p>
        </p:txBody>
      </p:sp>
      <p:sp>
        <p:nvSpPr>
          <p:cNvPr id="107" name="Text 10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F1EEFD"/>
          </a:solidFill>
          <a:ln w="12700">
            <a:solidFill>
              <a:srgbClr val="C9BEF4"/>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AF0FA"/>
          </a:solidFill>
          <a:ln w="12700">
            <a:solidFill>
              <a:srgbClr val="AFC4E6"/>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5F5FA"/>
          </a:solidFill>
          <a:ln w="12700">
            <a:solidFill>
              <a:srgbClr val="9DD7E8"/>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3F4FA"/>
          </a:solidFill>
          <a:ln w="22225">
            <a:solidFill>
              <a:srgbClr val="2BA6CB"/>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FCF2E2"/>
          </a:solidFill>
          <a:ln w="12700">
            <a:solidFill>
              <a:srgbClr val="EDCC93"/>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EDCC93"/>
            </a:solidFill>
          </a:ln>
        </p:spPr>
        <p:txBody>
          <a:bodyPr wrap="square" lIns="0" tIns="0" rIns="0" bIns="0" rtlCol="0" anchor="ctr"/>
          <a:lstStyle/>
          <a:p>
            <a:pPr algn="ctr" indent="0" marL="0">
              <a:buNone/>
            </a:pPr>
            <a:r>
              <a:rPr lang="en-US" sz="800" b="1" spc="80" kern="0" dirty="0">
                <a:solidFill>
                  <a:srgbClr val="8A4B06"/>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31750">
            <a:solidFill>
              <a:srgbClr val="2E6DB4"/>
            </a:solidFill>
            <a:prstDash val="solid"/>
            <a:tailEnd type="triangle"/>
          </a:ln>
        </p:spPr>
      </p:sp>
      <p:sp>
        <p:nvSpPr>
          <p:cNvPr id="18" name="Text 16"/>
          <p:cNvSpPr/>
          <p:nvPr/>
        </p:nvSpPr>
        <p:spPr>
          <a:xfrm>
            <a:off x="2698982" y="207751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31750">
            <a:solidFill>
              <a:srgbClr val="2E6DB4"/>
            </a:solidFill>
            <a:prstDash val="solid"/>
            <a:tailEnd type="triangle"/>
          </a:ln>
        </p:spPr>
      </p:sp>
      <p:sp>
        <p:nvSpPr>
          <p:cNvPr id="20" name="Text 18"/>
          <p:cNvSpPr/>
          <p:nvPr/>
        </p:nvSpPr>
        <p:spPr>
          <a:xfrm>
            <a:off x="3094003" y="24584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31750">
            <a:solidFill>
              <a:srgbClr val="2E6DB4"/>
            </a:solidFill>
            <a:prstDash val="solid"/>
          </a:ln>
        </p:spPr>
      </p:sp>
      <p:sp>
        <p:nvSpPr>
          <p:cNvPr id="22" name="Shape 20"/>
          <p:cNvSpPr/>
          <p:nvPr/>
        </p:nvSpPr>
        <p:spPr>
          <a:xfrm flipV="1">
            <a:off x="4417009" y="2187245"/>
            <a:ext cx="0" cy="1100415"/>
          </a:xfrm>
          <a:prstGeom prst="line">
            <a:avLst/>
          </a:prstGeom>
          <a:noFill/>
          <a:ln w="31750">
            <a:solidFill>
              <a:srgbClr val="2E6DB4"/>
            </a:solidFill>
            <a:prstDash val="solid"/>
          </a:ln>
        </p:spPr>
      </p:sp>
      <p:sp>
        <p:nvSpPr>
          <p:cNvPr id="23" name="Shape 21"/>
          <p:cNvSpPr/>
          <p:nvPr/>
        </p:nvSpPr>
        <p:spPr>
          <a:xfrm>
            <a:off x="4417009" y="2187245"/>
            <a:ext cx="225726" cy="0"/>
          </a:xfrm>
          <a:prstGeom prst="line">
            <a:avLst/>
          </a:prstGeom>
          <a:noFill/>
          <a:ln w="31750">
            <a:solidFill>
              <a:srgbClr val="2E6DB4"/>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31750">
            <a:solidFill>
              <a:srgbClr val="2E6DB4"/>
            </a:solidFill>
            <a:prstDash val="solid"/>
            <a:tailEnd type="triangle"/>
          </a:ln>
        </p:spPr>
      </p:sp>
      <p:sp>
        <p:nvSpPr>
          <p:cNvPr id="27" name="Text 25"/>
          <p:cNvSpPr/>
          <p:nvPr/>
        </p:nvSpPr>
        <p:spPr>
          <a:xfrm>
            <a:off x="4250850" y="328374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31750">
            <a:solidFill>
              <a:srgbClr val="55627E"/>
            </a:solidFill>
            <a:prstDash val="sysDot"/>
            <a:tailEnd type="triangle"/>
          </a:ln>
        </p:spPr>
      </p:sp>
      <p:sp>
        <p:nvSpPr>
          <p:cNvPr id="29" name="Text 27"/>
          <p:cNvSpPr/>
          <p:nvPr/>
        </p:nvSpPr>
        <p:spPr>
          <a:xfrm>
            <a:off x="5837987"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31750">
            <a:solidFill>
              <a:srgbClr val="55627E"/>
            </a:solidFill>
            <a:prstDash val="sysDot"/>
          </a:ln>
        </p:spPr>
      </p:sp>
      <p:sp>
        <p:nvSpPr>
          <p:cNvPr id="31" name="Shape 29"/>
          <p:cNvSpPr/>
          <p:nvPr/>
        </p:nvSpPr>
        <p:spPr>
          <a:xfrm>
            <a:off x="6617839" y="1792224"/>
            <a:ext cx="3216598" cy="0"/>
          </a:xfrm>
          <a:prstGeom prst="line">
            <a:avLst/>
          </a:prstGeom>
          <a:noFill/>
          <a:ln w="31750">
            <a:solidFill>
              <a:srgbClr val="55627E"/>
            </a:solidFill>
            <a:prstDash val="sysDot"/>
          </a:ln>
        </p:spPr>
      </p:sp>
      <p:sp>
        <p:nvSpPr>
          <p:cNvPr id="32" name="Shape 30"/>
          <p:cNvSpPr/>
          <p:nvPr/>
        </p:nvSpPr>
        <p:spPr>
          <a:xfrm>
            <a:off x="9834437" y="1792224"/>
            <a:ext cx="0" cy="183403"/>
          </a:xfrm>
          <a:prstGeom prst="line">
            <a:avLst/>
          </a:prstGeom>
          <a:noFill/>
          <a:ln w="31750">
            <a:solidFill>
              <a:srgbClr val="55627E"/>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31750">
            <a:solidFill>
              <a:srgbClr val="55627E"/>
            </a:solidFill>
            <a:prstDash val="sysDot"/>
            <a:tailEnd type="triangle"/>
          </a:ln>
        </p:spPr>
      </p:sp>
      <p:sp>
        <p:nvSpPr>
          <p:cNvPr id="36" name="Text 34"/>
          <p:cNvSpPr/>
          <p:nvPr/>
        </p:nvSpPr>
        <p:spPr>
          <a:xfrm>
            <a:off x="8680726"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25400">
            <a:solidFill>
              <a:srgbClr val="55627E"/>
            </a:solidFill>
            <a:prstDash val="dash"/>
          </a:ln>
        </p:spPr>
      </p:sp>
      <p:sp>
        <p:nvSpPr>
          <p:cNvPr id="38" name="Shape 36"/>
          <p:cNvSpPr/>
          <p:nvPr/>
        </p:nvSpPr>
        <p:spPr>
          <a:xfrm flipH="1">
            <a:off x="5242321" y="2786830"/>
            <a:ext cx="2772200" cy="0"/>
          </a:xfrm>
          <a:prstGeom prst="line">
            <a:avLst/>
          </a:prstGeom>
          <a:noFill/>
          <a:ln w="25400">
            <a:solidFill>
              <a:srgbClr val="55627E"/>
            </a:solidFill>
            <a:prstDash val="dash"/>
          </a:ln>
        </p:spPr>
      </p:sp>
      <p:sp>
        <p:nvSpPr>
          <p:cNvPr id="39" name="Shape 37"/>
          <p:cNvSpPr/>
          <p:nvPr/>
        </p:nvSpPr>
        <p:spPr>
          <a:xfrm>
            <a:off x="5242321" y="2786830"/>
            <a:ext cx="0" cy="430291"/>
          </a:xfrm>
          <a:prstGeom prst="line">
            <a:avLst/>
          </a:prstGeom>
          <a:noFill/>
          <a:ln w="25400">
            <a:solidFill>
              <a:srgbClr val="55627E"/>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31750">
            <a:solidFill>
              <a:srgbClr val="55627E"/>
            </a:solidFill>
            <a:prstDash val="sysDot"/>
            <a:tailEnd type="triangle"/>
          </a:ln>
        </p:spPr>
      </p:sp>
      <p:sp>
        <p:nvSpPr>
          <p:cNvPr id="43" name="Text 41"/>
          <p:cNvSpPr/>
          <p:nvPr/>
        </p:nvSpPr>
        <p:spPr>
          <a:xfrm>
            <a:off x="5837987" y="33190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31750">
            <a:solidFill>
              <a:srgbClr val="55627E"/>
            </a:solidFill>
            <a:prstDash val="sysDot"/>
            <a:tailEnd type="triangle"/>
          </a:ln>
        </p:spPr>
      </p:sp>
      <p:sp>
        <p:nvSpPr>
          <p:cNvPr id="45" name="Text 43"/>
          <p:cNvSpPr/>
          <p:nvPr/>
        </p:nvSpPr>
        <p:spPr>
          <a:xfrm>
            <a:off x="7185290" y="33190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31750">
            <a:solidFill>
              <a:srgbClr val="55627E"/>
            </a:solidFill>
            <a:prstDash val="sysDot"/>
          </a:ln>
        </p:spPr>
      </p:sp>
      <p:sp>
        <p:nvSpPr>
          <p:cNvPr id="47" name="Shape 45"/>
          <p:cNvSpPr/>
          <p:nvPr/>
        </p:nvSpPr>
        <p:spPr>
          <a:xfrm>
            <a:off x="6617839" y="3823760"/>
            <a:ext cx="2243154" cy="0"/>
          </a:xfrm>
          <a:prstGeom prst="line">
            <a:avLst/>
          </a:prstGeom>
          <a:noFill/>
          <a:ln w="31750">
            <a:solidFill>
              <a:srgbClr val="55627E"/>
            </a:solidFill>
            <a:prstDash val="sysDot"/>
          </a:ln>
        </p:spPr>
      </p:sp>
      <p:sp>
        <p:nvSpPr>
          <p:cNvPr id="48" name="Shape 46"/>
          <p:cNvSpPr/>
          <p:nvPr/>
        </p:nvSpPr>
        <p:spPr>
          <a:xfrm flipV="1">
            <a:off x="8860993" y="3287660"/>
            <a:ext cx="0" cy="536100"/>
          </a:xfrm>
          <a:prstGeom prst="line">
            <a:avLst/>
          </a:prstGeom>
          <a:noFill/>
          <a:ln w="31750">
            <a:solidFill>
              <a:srgbClr val="55627E"/>
            </a:solidFill>
            <a:prstDash val="sysDot"/>
          </a:ln>
        </p:spPr>
      </p:sp>
      <p:sp>
        <p:nvSpPr>
          <p:cNvPr id="49" name="Shape 47"/>
          <p:cNvSpPr/>
          <p:nvPr/>
        </p:nvSpPr>
        <p:spPr>
          <a:xfrm>
            <a:off x="8860993" y="3287660"/>
            <a:ext cx="155187" cy="0"/>
          </a:xfrm>
          <a:prstGeom prst="line">
            <a:avLst/>
          </a:prstGeom>
          <a:noFill/>
          <a:ln w="31750">
            <a:solidFill>
              <a:srgbClr val="55627E"/>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47625">
            <a:solidFill>
              <a:srgbClr val="2BA6CB"/>
            </a:solidFill>
            <a:prstDash val="solid"/>
            <a:tailEnd type="triangle"/>
          </a:ln>
        </p:spPr>
      </p:sp>
      <p:sp>
        <p:nvSpPr>
          <p:cNvPr id="53" name="Text 51"/>
          <p:cNvSpPr/>
          <p:nvPr/>
        </p:nvSpPr>
        <p:spPr>
          <a:xfrm>
            <a:off x="2670766"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47625">
            <a:solidFill>
              <a:srgbClr val="2BA6CB"/>
            </a:solidFill>
            <a:prstDash val="sysDot"/>
            <a:tailEnd type="triangle"/>
          </a:ln>
        </p:spPr>
      </p:sp>
      <p:sp>
        <p:nvSpPr>
          <p:cNvPr id="55" name="Text 53"/>
          <p:cNvSpPr/>
          <p:nvPr/>
        </p:nvSpPr>
        <p:spPr>
          <a:xfrm>
            <a:off x="4102717"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47625">
            <a:solidFill>
              <a:srgbClr val="2BA6CB"/>
            </a:solidFill>
            <a:prstDash val="sysDot"/>
            <a:tailEnd type="triangle"/>
          </a:ln>
        </p:spPr>
      </p:sp>
      <p:sp>
        <p:nvSpPr>
          <p:cNvPr id="57" name="Text 55"/>
          <p:cNvSpPr/>
          <p:nvPr/>
        </p:nvSpPr>
        <p:spPr>
          <a:xfrm>
            <a:off x="5513505"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25400">
            <a:solidFill>
              <a:srgbClr val="CBD5E3"/>
            </a:solidFill>
            <a:prstDash val="dash"/>
          </a:ln>
        </p:spPr>
      </p:sp>
      <p:sp>
        <p:nvSpPr>
          <p:cNvPr id="59" name="Shape 57"/>
          <p:cNvSpPr/>
          <p:nvPr/>
        </p:nvSpPr>
        <p:spPr>
          <a:xfrm flipH="1">
            <a:off x="8324894" y="4141187"/>
            <a:ext cx="1156847" cy="0"/>
          </a:xfrm>
          <a:prstGeom prst="line">
            <a:avLst/>
          </a:prstGeom>
          <a:noFill/>
          <a:ln w="25400">
            <a:solidFill>
              <a:srgbClr val="CBD5E3"/>
            </a:solidFill>
            <a:prstDash val="dash"/>
          </a:ln>
        </p:spPr>
      </p:sp>
      <p:sp>
        <p:nvSpPr>
          <p:cNvPr id="60" name="Shape 58"/>
          <p:cNvSpPr/>
          <p:nvPr/>
        </p:nvSpPr>
        <p:spPr>
          <a:xfrm>
            <a:off x="8324894" y="4141187"/>
            <a:ext cx="0" cy="387967"/>
          </a:xfrm>
          <a:prstGeom prst="line">
            <a:avLst/>
          </a:prstGeom>
          <a:noFill/>
          <a:ln w="25400">
            <a:solidFill>
              <a:srgbClr val="CBD5E3"/>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31750">
            <a:solidFill>
              <a:srgbClr val="CBD5E3"/>
            </a:solidFill>
            <a:prstDash val="sysDot"/>
            <a:tailEnd type="triangle"/>
          </a:ln>
        </p:spPr>
      </p:sp>
      <p:sp>
        <p:nvSpPr>
          <p:cNvPr id="64" name="Text 62"/>
          <p:cNvSpPr/>
          <p:nvPr/>
        </p:nvSpPr>
        <p:spPr>
          <a:xfrm>
            <a:off x="8356244"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31750">
            <a:solidFill>
              <a:srgbClr val="CBD5E3"/>
            </a:solidFill>
            <a:prstDash val="sysDot"/>
            <a:tailEnd type="triangle"/>
          </a:ln>
        </p:spPr>
      </p:sp>
      <p:sp>
        <p:nvSpPr>
          <p:cNvPr id="66" name="Text 64"/>
          <p:cNvSpPr/>
          <p:nvPr/>
        </p:nvSpPr>
        <p:spPr>
          <a:xfrm>
            <a:off x="9484875" y="46451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3097661" y="2022339"/>
            <a:ext cx="329811" cy="329811"/>
          </a:xfrm>
          <a:prstGeom prst="ellipse">
            <a:avLst/>
          </a:prstGeom>
          <a:solidFill>
            <a:srgbClr val="EBE8F8"/>
          </a:solidFill>
          <a:ln w="12700">
            <a:solidFill>
              <a:srgbClr val="EBE8F8"/>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5B3FC4"/>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9107620" y="2022339"/>
            <a:ext cx="329811" cy="329811"/>
          </a:xfrm>
          <a:prstGeom prst="ellipse">
            <a:avLst/>
          </a:prstGeom>
          <a:solidFill>
            <a:srgbClr val="EBECF0"/>
          </a:solidFill>
          <a:ln w="12700">
            <a:solidFill>
              <a:srgbClr val="EBECF0"/>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55627E"/>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3" name="Shape 81"/>
          <p:cNvSpPr/>
          <p:nvPr/>
        </p:nvSpPr>
        <p:spPr>
          <a:xfrm>
            <a:off x="7499321" y="3263833"/>
            <a:ext cx="329811" cy="329811"/>
          </a:xfrm>
          <a:prstGeom prst="ellipse">
            <a:avLst/>
          </a:prstGeom>
          <a:solidFill>
            <a:srgbClr val="E2EEF1"/>
          </a:solidFill>
          <a:ln w="12700">
            <a:solidFill>
              <a:srgbClr val="E2EEF1"/>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0B6E8A"/>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756" b="1" dirty="0">
                <a:solidFill>
                  <a:srgbClr val="8A95AB"/>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9AA5B8"/>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9" name="Shape 87"/>
          <p:cNvSpPr/>
          <p:nvPr/>
        </p:nvSpPr>
        <p:spPr>
          <a:xfrm>
            <a:off x="1584710" y="4582638"/>
            <a:ext cx="344483" cy="344483"/>
          </a:xfrm>
          <a:prstGeom prst="ellipse">
            <a:avLst/>
          </a:prstGeom>
          <a:solidFill>
            <a:srgbClr val="E3F4FA"/>
          </a:solidFill>
          <a:ln w="12700">
            <a:solidFill>
              <a:srgbClr val="E3F4FA"/>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0B6E8A"/>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95" name="Shape 93"/>
          <p:cNvSpPr/>
          <p:nvPr/>
        </p:nvSpPr>
        <p:spPr>
          <a:xfrm>
            <a:off x="5820483" y="4582638"/>
            <a:ext cx="344483" cy="344483"/>
          </a:xfrm>
          <a:prstGeom prst="ellipse">
            <a:avLst/>
          </a:prstGeom>
          <a:solidFill>
            <a:srgbClr val="E3F4FA"/>
          </a:solidFill>
          <a:ln w="12700">
            <a:solidFill>
              <a:srgbClr val="E3F4FA"/>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0B6E8A"/>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103" name="Text 101"/>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cambio en GitHub pasa por GitHub Actions, que prueba y publica las imágenes en GHCR.</a:t>
            </a:r>
            <a:endParaRPr lang="en-US" sz="1300" dirty="0"/>
          </a:p>
        </p:txBody>
      </p:sp>
      <p:sp>
        <p:nvSpPr>
          <p:cNvPr id="104" name="Text 10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2780494" y="1312556"/>
            <a:ext cx="7985063" cy="2751038"/>
          </a:xfrm>
          <a:prstGeom prst="roundRect">
            <a:avLst>
              <a:gd name="adj" fmla="val 3989"/>
            </a:avLst>
          </a:prstGeom>
          <a:solidFill>
            <a:srgbClr val="F7F9FC"/>
          </a:solidFill>
          <a:ln w="12700">
            <a:solidFill>
              <a:srgbClr val="C7D2E2"/>
            </a:solidFill>
            <a:prstDash val="dash"/>
          </a:ln>
        </p:spPr>
      </p:sp>
      <p:sp>
        <p:nvSpPr>
          <p:cNvPr id="6" name="Text 4"/>
          <p:cNvSpPr/>
          <p:nvPr/>
        </p:nvSpPr>
        <p:spPr>
          <a:xfrm>
            <a:off x="2853646" y="1367420"/>
            <a:ext cx="343408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PLATAFORMA · DOCKER COMPOSE O KUBERNETES</a:t>
            </a:r>
            <a:endParaRPr lang="en-US" sz="800" dirty="0"/>
          </a:p>
        </p:txBody>
      </p:sp>
      <p:sp>
        <p:nvSpPr>
          <p:cNvPr id="7" name="Shape 5"/>
          <p:cNvSpPr/>
          <p:nvPr/>
        </p:nvSpPr>
        <p:spPr>
          <a:xfrm>
            <a:off x="2893358" y="1637037"/>
            <a:ext cx="1410789" cy="2341909"/>
          </a:xfrm>
          <a:prstGeom prst="roundRect">
            <a:avLst>
              <a:gd name="adj" fmla="val 7778"/>
            </a:avLst>
          </a:prstGeom>
          <a:solidFill>
            <a:srgbClr val="F1EEFD"/>
          </a:solidFill>
          <a:ln w="12700">
            <a:solidFill>
              <a:srgbClr val="C9BEF4"/>
            </a:solidFill>
            <a:prstDash val="solid"/>
          </a:ln>
        </p:spPr>
      </p:sp>
      <p:sp>
        <p:nvSpPr>
          <p:cNvPr id="8" name="Text 6"/>
          <p:cNvSpPr/>
          <p:nvPr/>
        </p:nvSpPr>
        <p:spPr>
          <a:xfrm>
            <a:off x="2966510" y="1691901"/>
            <a:ext cx="1227909" cy="219456"/>
          </a:xfrm>
          <a:prstGeom prst="roundRect">
            <a:avLst>
              <a:gd name="adj" fmla="val 50000"/>
            </a:avLst>
          </a:prstGeom>
          <a:solidFill>
            <a:srgbClr val="FFFFFF"/>
          </a:solidFill>
          <a:ln w="9525">
            <a:solidFill>
              <a:srgbClr val="C9BEF4"/>
            </a:solidFill>
          </a:ln>
        </p:spPr>
        <p:txBody>
          <a:bodyPr wrap="square" lIns="0" tIns="0" rIns="0" bIns="0" rtlCol="0" anchor="ctr"/>
          <a:lstStyle/>
          <a:p>
            <a:pPr algn="ctr" indent="0" marL="0">
              <a:buNone/>
            </a:pPr>
            <a:r>
              <a:rPr lang="en-US" sz="650" b="1" spc="80" kern="0" dirty="0">
                <a:solidFill>
                  <a:srgbClr val="5B3FC4"/>
                </a:solidFill>
                <a:latin typeface="Segoe UI" pitchFamily="34" charset="0"/>
                <a:ea typeface="Segoe UI" pitchFamily="34" charset="-122"/>
                <a:cs typeface="Segoe UI" pitchFamily="34" charset="-120"/>
              </a:rPr>
              <a:t>INTERFAZ WEB · :8088</a:t>
            </a:r>
            <a:endParaRPr lang="en-US" sz="650" dirty="0"/>
          </a:p>
        </p:txBody>
      </p:sp>
      <p:sp>
        <p:nvSpPr>
          <p:cNvPr id="9" name="Shape 7"/>
          <p:cNvSpPr/>
          <p:nvPr/>
        </p:nvSpPr>
        <p:spPr>
          <a:xfrm>
            <a:off x="4515764" y="1637037"/>
            <a:ext cx="4232366" cy="1043984"/>
          </a:xfrm>
          <a:prstGeom prst="roundRect">
            <a:avLst>
              <a:gd name="adj" fmla="val 10511"/>
            </a:avLst>
          </a:prstGeom>
          <a:solidFill>
            <a:srgbClr val="EAF0FA"/>
          </a:solidFill>
          <a:ln w="12700">
            <a:solidFill>
              <a:srgbClr val="AFC4E6"/>
            </a:solidFill>
            <a:prstDash val="solid"/>
          </a:ln>
        </p:spPr>
      </p:sp>
      <p:sp>
        <p:nvSpPr>
          <p:cNvPr id="10" name="Text 8"/>
          <p:cNvSpPr/>
          <p:nvPr/>
        </p:nvSpPr>
        <p:spPr>
          <a:xfrm>
            <a:off x="4588916" y="1691901"/>
            <a:ext cx="17272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SOLICITUDES · :8080</a:t>
            </a:r>
            <a:endParaRPr lang="en-US" sz="800" dirty="0"/>
          </a:p>
        </p:txBody>
      </p:sp>
      <p:sp>
        <p:nvSpPr>
          <p:cNvPr id="11" name="Shape 9"/>
          <p:cNvSpPr/>
          <p:nvPr/>
        </p:nvSpPr>
        <p:spPr>
          <a:xfrm>
            <a:off x="4515764" y="2892639"/>
            <a:ext cx="4232366" cy="1086307"/>
          </a:xfrm>
          <a:prstGeom prst="roundRect">
            <a:avLst>
              <a:gd name="adj" fmla="val 10101"/>
            </a:avLst>
          </a:prstGeom>
          <a:solidFill>
            <a:srgbClr val="E5F5FA"/>
          </a:solidFill>
          <a:ln w="12700">
            <a:solidFill>
              <a:srgbClr val="9DD7E8"/>
            </a:solidFill>
            <a:prstDash val="solid"/>
          </a:ln>
        </p:spPr>
      </p:sp>
      <p:sp>
        <p:nvSpPr>
          <p:cNvPr id="12" name="Text 10"/>
          <p:cNvSpPr/>
          <p:nvPr/>
        </p:nvSpPr>
        <p:spPr>
          <a:xfrm>
            <a:off x="4588916" y="2947503"/>
            <a:ext cx="197104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NOTIFICACIONES · :8081</a:t>
            </a:r>
            <a:endParaRPr lang="en-US" sz="800" dirty="0"/>
          </a:p>
        </p:txBody>
      </p:sp>
      <p:sp>
        <p:nvSpPr>
          <p:cNvPr id="13" name="Shape 11"/>
          <p:cNvSpPr/>
          <p:nvPr/>
        </p:nvSpPr>
        <p:spPr>
          <a:xfrm>
            <a:off x="2780494" y="4218780"/>
            <a:ext cx="4232366" cy="973444"/>
          </a:xfrm>
          <a:prstGeom prst="roundRect">
            <a:avLst>
              <a:gd name="adj" fmla="val 11272"/>
            </a:avLst>
          </a:prstGeom>
          <a:solidFill>
            <a:srgbClr val="E6F4EE"/>
          </a:solidFill>
          <a:ln w="12700">
            <a:solidFill>
              <a:srgbClr val="A9D8C3"/>
            </a:solidFill>
            <a:prstDash val="solid"/>
          </a:ln>
        </p:spPr>
      </p:sp>
      <p:sp>
        <p:nvSpPr>
          <p:cNvPr id="14" name="Text 12"/>
          <p:cNvSpPr/>
          <p:nvPr/>
        </p:nvSpPr>
        <p:spPr>
          <a:xfrm>
            <a:off x="2853646" y="4273644"/>
            <a:ext cx="1483360" cy="219456"/>
          </a:xfrm>
          <a:prstGeom prst="roundRect">
            <a:avLst>
              <a:gd name="adj" fmla="val 50000"/>
            </a:avLst>
          </a:prstGeom>
          <a:solidFill>
            <a:srgbClr val="FFFFFF"/>
          </a:solidFill>
          <a:ln w="9525">
            <a:solidFill>
              <a:srgbClr val="A9D8C3"/>
            </a:solidFill>
          </a:ln>
        </p:spPr>
        <p:txBody>
          <a:bodyPr wrap="square" lIns="0" tIns="0" rIns="0" bIns="0" rtlCol="0" anchor="ctr"/>
          <a:lstStyle/>
          <a:p>
            <a:pPr algn="ctr" indent="0" marL="0">
              <a:buNone/>
            </a:pPr>
            <a:r>
              <a:rPr lang="en-US" sz="800" b="1" spc="80" kern="0" dirty="0">
                <a:solidFill>
                  <a:srgbClr val="0A6648"/>
                </a:solidFill>
                <a:latin typeface="Segoe UI" pitchFamily="34" charset="0"/>
                <a:ea typeface="Segoe UI" pitchFamily="34" charset="-122"/>
                <a:cs typeface="Segoe UI" pitchFamily="34" charset="-120"/>
              </a:rPr>
              <a:t>ENTREGA CONTINUA</a:t>
            </a:r>
            <a:endParaRPr lang="en-US" sz="800" dirty="0"/>
          </a:p>
        </p:txBody>
      </p:sp>
      <p:sp>
        <p:nvSpPr>
          <p:cNvPr id="15" name="Shape 13"/>
          <p:cNvSpPr/>
          <p:nvPr/>
        </p:nvSpPr>
        <p:spPr>
          <a:xfrm>
            <a:off x="7153939" y="4218780"/>
            <a:ext cx="3611619" cy="973444"/>
          </a:xfrm>
          <a:prstGeom prst="roundRect">
            <a:avLst>
              <a:gd name="adj" fmla="val 11272"/>
            </a:avLst>
          </a:prstGeom>
          <a:solidFill>
            <a:srgbClr val="E3F4FA"/>
          </a:solidFill>
          <a:ln w="22225">
            <a:solidFill>
              <a:srgbClr val="2BA6CB"/>
            </a:solidFill>
            <a:prstDash val="solid"/>
          </a:ln>
        </p:spPr>
      </p:sp>
      <p:sp>
        <p:nvSpPr>
          <p:cNvPr id="16" name="Text 14"/>
          <p:cNvSpPr/>
          <p:nvPr/>
        </p:nvSpPr>
        <p:spPr>
          <a:xfrm>
            <a:off x="7227091" y="4273644"/>
            <a:ext cx="13208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OBSERVABILIDAD</a:t>
            </a:r>
            <a:endParaRPr lang="en-US" sz="800" dirty="0"/>
          </a:p>
        </p:txBody>
      </p:sp>
      <p:sp>
        <p:nvSpPr>
          <p:cNvPr id="17" name="Shape 15"/>
          <p:cNvSpPr/>
          <p:nvPr/>
        </p:nvSpPr>
        <p:spPr>
          <a:xfrm>
            <a:off x="2639416" y="2187245"/>
            <a:ext cx="366805" cy="0"/>
          </a:xfrm>
          <a:prstGeom prst="line">
            <a:avLst/>
          </a:prstGeom>
          <a:noFill/>
          <a:ln w="31750">
            <a:solidFill>
              <a:srgbClr val="2E6DB4"/>
            </a:solidFill>
            <a:prstDash val="solid"/>
            <a:tailEnd type="triangle"/>
          </a:ln>
        </p:spPr>
      </p:sp>
      <p:sp>
        <p:nvSpPr>
          <p:cNvPr id="18" name="Text 16"/>
          <p:cNvSpPr/>
          <p:nvPr/>
        </p:nvSpPr>
        <p:spPr>
          <a:xfrm>
            <a:off x="2698982" y="207751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9" name="Shape 17"/>
          <p:cNvSpPr/>
          <p:nvPr/>
        </p:nvSpPr>
        <p:spPr>
          <a:xfrm>
            <a:off x="3203731" y="2398863"/>
            <a:ext cx="0" cy="747718"/>
          </a:xfrm>
          <a:prstGeom prst="line">
            <a:avLst/>
          </a:prstGeom>
          <a:noFill/>
          <a:ln w="31750">
            <a:solidFill>
              <a:srgbClr val="2E6DB4"/>
            </a:solidFill>
            <a:prstDash val="solid"/>
            <a:tailEnd type="triangle"/>
          </a:ln>
        </p:spPr>
      </p:sp>
      <p:sp>
        <p:nvSpPr>
          <p:cNvPr id="20" name="Text 18"/>
          <p:cNvSpPr/>
          <p:nvPr/>
        </p:nvSpPr>
        <p:spPr>
          <a:xfrm>
            <a:off x="3094003" y="24584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4191283" y="3287660"/>
            <a:ext cx="225726" cy="0"/>
          </a:xfrm>
          <a:prstGeom prst="line">
            <a:avLst/>
          </a:prstGeom>
          <a:noFill/>
          <a:ln w="31750">
            <a:solidFill>
              <a:srgbClr val="2E6DB4"/>
            </a:solidFill>
            <a:prstDash val="solid"/>
          </a:ln>
        </p:spPr>
      </p:sp>
      <p:sp>
        <p:nvSpPr>
          <p:cNvPr id="22" name="Shape 20"/>
          <p:cNvSpPr/>
          <p:nvPr/>
        </p:nvSpPr>
        <p:spPr>
          <a:xfrm flipV="1">
            <a:off x="4417009" y="2187245"/>
            <a:ext cx="0" cy="1100415"/>
          </a:xfrm>
          <a:prstGeom prst="line">
            <a:avLst/>
          </a:prstGeom>
          <a:noFill/>
          <a:ln w="31750">
            <a:solidFill>
              <a:srgbClr val="2E6DB4"/>
            </a:solidFill>
            <a:prstDash val="solid"/>
          </a:ln>
        </p:spPr>
      </p:sp>
      <p:sp>
        <p:nvSpPr>
          <p:cNvPr id="23" name="Shape 21"/>
          <p:cNvSpPr/>
          <p:nvPr/>
        </p:nvSpPr>
        <p:spPr>
          <a:xfrm>
            <a:off x="4417009" y="2187245"/>
            <a:ext cx="225726" cy="0"/>
          </a:xfrm>
          <a:prstGeom prst="line">
            <a:avLst/>
          </a:prstGeom>
          <a:noFill/>
          <a:ln w="31750">
            <a:solidFill>
              <a:srgbClr val="2E6DB4"/>
            </a:solidFill>
            <a:prstDash val="solid"/>
            <a:tailEnd type="triangle"/>
          </a:ln>
        </p:spPr>
      </p:sp>
      <p:sp>
        <p:nvSpPr>
          <p:cNvPr id="24" name="Text 22"/>
          <p:cNvSpPr/>
          <p:nvPr/>
        </p:nvSpPr>
        <p:spPr>
          <a:xfrm>
            <a:off x="3223587" y="2610220"/>
            <a:ext cx="112288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5" name="Text 23"/>
          <p:cNvSpPr/>
          <p:nvPr/>
        </p:nvSpPr>
        <p:spPr>
          <a:xfrm>
            <a:off x="4194418" y="317793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a:off x="4191283" y="3393469"/>
            <a:ext cx="451452" cy="0"/>
          </a:xfrm>
          <a:prstGeom prst="line">
            <a:avLst/>
          </a:prstGeom>
          <a:noFill/>
          <a:ln w="31750">
            <a:solidFill>
              <a:srgbClr val="2E6DB4"/>
            </a:solidFill>
            <a:prstDash val="solid"/>
            <a:tailEnd type="triangle"/>
          </a:ln>
        </p:spPr>
      </p:sp>
      <p:sp>
        <p:nvSpPr>
          <p:cNvPr id="27" name="Text 25"/>
          <p:cNvSpPr/>
          <p:nvPr/>
        </p:nvSpPr>
        <p:spPr>
          <a:xfrm>
            <a:off x="4250850" y="328374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8" name="Shape 26"/>
          <p:cNvSpPr/>
          <p:nvPr/>
        </p:nvSpPr>
        <p:spPr>
          <a:xfrm>
            <a:off x="5841906" y="2187245"/>
            <a:ext cx="211618" cy="0"/>
          </a:xfrm>
          <a:prstGeom prst="line">
            <a:avLst/>
          </a:prstGeom>
          <a:noFill/>
          <a:ln w="31750">
            <a:solidFill>
              <a:srgbClr val="55627E"/>
            </a:solidFill>
            <a:prstDash val="sysDot"/>
            <a:tailEnd type="triangle"/>
          </a:ln>
        </p:spPr>
      </p:sp>
      <p:sp>
        <p:nvSpPr>
          <p:cNvPr id="29" name="Text 27"/>
          <p:cNvSpPr/>
          <p:nvPr/>
        </p:nvSpPr>
        <p:spPr>
          <a:xfrm>
            <a:off x="5837987"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0" name="Shape 28"/>
          <p:cNvSpPr/>
          <p:nvPr/>
        </p:nvSpPr>
        <p:spPr>
          <a:xfrm flipV="1">
            <a:off x="6617839" y="1792224"/>
            <a:ext cx="0" cy="183403"/>
          </a:xfrm>
          <a:prstGeom prst="line">
            <a:avLst/>
          </a:prstGeom>
          <a:noFill/>
          <a:ln w="31750">
            <a:solidFill>
              <a:srgbClr val="55627E"/>
            </a:solidFill>
            <a:prstDash val="sysDot"/>
          </a:ln>
        </p:spPr>
      </p:sp>
      <p:sp>
        <p:nvSpPr>
          <p:cNvPr id="31" name="Shape 29"/>
          <p:cNvSpPr/>
          <p:nvPr/>
        </p:nvSpPr>
        <p:spPr>
          <a:xfrm>
            <a:off x="6617839" y="1792224"/>
            <a:ext cx="3216598" cy="0"/>
          </a:xfrm>
          <a:prstGeom prst="line">
            <a:avLst/>
          </a:prstGeom>
          <a:noFill/>
          <a:ln w="31750">
            <a:solidFill>
              <a:srgbClr val="55627E"/>
            </a:solidFill>
            <a:prstDash val="sysDot"/>
          </a:ln>
        </p:spPr>
      </p:sp>
      <p:sp>
        <p:nvSpPr>
          <p:cNvPr id="32" name="Shape 30"/>
          <p:cNvSpPr/>
          <p:nvPr/>
        </p:nvSpPr>
        <p:spPr>
          <a:xfrm>
            <a:off x="9834437" y="1792224"/>
            <a:ext cx="0" cy="183403"/>
          </a:xfrm>
          <a:prstGeom prst="line">
            <a:avLst/>
          </a:prstGeom>
          <a:noFill/>
          <a:ln w="31750">
            <a:solidFill>
              <a:srgbClr val="55627E"/>
            </a:solidFill>
            <a:prstDash val="sysDot"/>
            <a:tailEnd type="triangle"/>
          </a:ln>
        </p:spPr>
      </p:sp>
      <p:sp>
        <p:nvSpPr>
          <p:cNvPr id="33" name="Text 31"/>
          <p:cNvSpPr/>
          <p:nvPr/>
        </p:nvSpPr>
        <p:spPr>
          <a:xfrm>
            <a:off x="7011815" y="1573291"/>
            <a:ext cx="24286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 + evento en una transacción</a:t>
            </a:r>
            <a:endParaRPr lang="en-US" sz="800" dirty="0"/>
          </a:p>
        </p:txBody>
      </p:sp>
      <p:sp>
        <p:nvSpPr>
          <p:cNvPr id="34" name="Text 32"/>
          <p:cNvSpPr/>
          <p:nvPr/>
        </p:nvSpPr>
        <p:spPr>
          <a:xfrm>
            <a:off x="6508111" y="177419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5" name="Shape 33"/>
          <p:cNvSpPr/>
          <p:nvPr/>
        </p:nvSpPr>
        <p:spPr>
          <a:xfrm>
            <a:off x="8621159" y="2187245"/>
            <a:ext cx="395021" cy="0"/>
          </a:xfrm>
          <a:prstGeom prst="line">
            <a:avLst/>
          </a:prstGeom>
          <a:noFill/>
          <a:ln w="31750">
            <a:solidFill>
              <a:srgbClr val="55627E"/>
            </a:solidFill>
            <a:prstDash val="sysDot"/>
            <a:tailEnd type="triangle"/>
          </a:ln>
        </p:spPr>
      </p:sp>
      <p:sp>
        <p:nvSpPr>
          <p:cNvPr id="36" name="Text 34"/>
          <p:cNvSpPr/>
          <p:nvPr/>
        </p:nvSpPr>
        <p:spPr>
          <a:xfrm>
            <a:off x="8680726" y="20775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7" name="Shape 35"/>
          <p:cNvSpPr/>
          <p:nvPr/>
        </p:nvSpPr>
        <p:spPr>
          <a:xfrm>
            <a:off x="8014520" y="2398863"/>
            <a:ext cx="0" cy="387967"/>
          </a:xfrm>
          <a:prstGeom prst="line">
            <a:avLst/>
          </a:prstGeom>
          <a:noFill/>
          <a:ln w="25400">
            <a:solidFill>
              <a:srgbClr val="55627E"/>
            </a:solidFill>
            <a:prstDash val="dash"/>
          </a:ln>
        </p:spPr>
      </p:sp>
      <p:sp>
        <p:nvSpPr>
          <p:cNvPr id="38" name="Shape 36"/>
          <p:cNvSpPr/>
          <p:nvPr/>
        </p:nvSpPr>
        <p:spPr>
          <a:xfrm flipH="1">
            <a:off x="5242321" y="2786830"/>
            <a:ext cx="2772200" cy="0"/>
          </a:xfrm>
          <a:prstGeom prst="line">
            <a:avLst/>
          </a:prstGeom>
          <a:noFill/>
          <a:ln w="25400">
            <a:solidFill>
              <a:srgbClr val="55627E"/>
            </a:solidFill>
            <a:prstDash val="dash"/>
          </a:ln>
        </p:spPr>
      </p:sp>
      <p:sp>
        <p:nvSpPr>
          <p:cNvPr id="39" name="Shape 37"/>
          <p:cNvSpPr/>
          <p:nvPr/>
        </p:nvSpPr>
        <p:spPr>
          <a:xfrm>
            <a:off x="5242321" y="2786830"/>
            <a:ext cx="0" cy="430291"/>
          </a:xfrm>
          <a:prstGeom prst="line">
            <a:avLst/>
          </a:prstGeom>
          <a:noFill/>
          <a:ln w="25400">
            <a:solidFill>
              <a:srgbClr val="55627E"/>
            </a:solidFill>
            <a:prstDash val="dash"/>
            <a:tailEnd type="triangle"/>
          </a:ln>
        </p:spPr>
      </p:sp>
      <p:sp>
        <p:nvSpPr>
          <p:cNvPr id="40" name="Text 38"/>
          <p:cNvSpPr/>
          <p:nvPr/>
        </p:nvSpPr>
        <p:spPr>
          <a:xfrm>
            <a:off x="5787172" y="2567896"/>
            <a:ext cx="168249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 por HTTP + traceId</a:t>
            </a:r>
            <a:endParaRPr lang="en-US" sz="800" dirty="0"/>
          </a:p>
        </p:txBody>
      </p:sp>
      <p:sp>
        <p:nvSpPr>
          <p:cNvPr id="41" name="Text 39"/>
          <p:cNvSpPr/>
          <p:nvPr/>
        </p:nvSpPr>
        <p:spPr>
          <a:xfrm>
            <a:off x="7904792" y="245843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2" name="Shape 40"/>
          <p:cNvSpPr/>
          <p:nvPr/>
        </p:nvSpPr>
        <p:spPr>
          <a:xfrm>
            <a:off x="5841906" y="3428739"/>
            <a:ext cx="211618" cy="0"/>
          </a:xfrm>
          <a:prstGeom prst="line">
            <a:avLst/>
          </a:prstGeom>
          <a:noFill/>
          <a:ln w="31750">
            <a:solidFill>
              <a:srgbClr val="55627E"/>
            </a:solidFill>
            <a:prstDash val="sysDot"/>
            <a:tailEnd type="triangle"/>
          </a:ln>
        </p:spPr>
      </p:sp>
      <p:sp>
        <p:nvSpPr>
          <p:cNvPr id="43" name="Text 41"/>
          <p:cNvSpPr/>
          <p:nvPr/>
        </p:nvSpPr>
        <p:spPr>
          <a:xfrm>
            <a:off x="5837987" y="33190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4" name="Shape 42"/>
          <p:cNvSpPr/>
          <p:nvPr/>
        </p:nvSpPr>
        <p:spPr>
          <a:xfrm>
            <a:off x="7182155" y="3428739"/>
            <a:ext cx="225726" cy="0"/>
          </a:xfrm>
          <a:prstGeom prst="line">
            <a:avLst/>
          </a:prstGeom>
          <a:noFill/>
          <a:ln w="31750">
            <a:solidFill>
              <a:srgbClr val="55627E"/>
            </a:solidFill>
            <a:prstDash val="sysDot"/>
            <a:tailEnd type="triangle"/>
          </a:ln>
        </p:spPr>
      </p:sp>
      <p:sp>
        <p:nvSpPr>
          <p:cNvPr id="45" name="Text 43"/>
          <p:cNvSpPr/>
          <p:nvPr/>
        </p:nvSpPr>
        <p:spPr>
          <a:xfrm>
            <a:off x="7185290" y="33190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6" name="Shape 44"/>
          <p:cNvSpPr/>
          <p:nvPr/>
        </p:nvSpPr>
        <p:spPr>
          <a:xfrm>
            <a:off x="6617839" y="3640357"/>
            <a:ext cx="0" cy="183403"/>
          </a:xfrm>
          <a:prstGeom prst="line">
            <a:avLst/>
          </a:prstGeom>
          <a:noFill/>
          <a:ln w="31750">
            <a:solidFill>
              <a:srgbClr val="55627E"/>
            </a:solidFill>
            <a:prstDash val="sysDot"/>
          </a:ln>
        </p:spPr>
      </p:sp>
      <p:sp>
        <p:nvSpPr>
          <p:cNvPr id="47" name="Shape 45"/>
          <p:cNvSpPr/>
          <p:nvPr/>
        </p:nvSpPr>
        <p:spPr>
          <a:xfrm>
            <a:off x="6617839" y="3823760"/>
            <a:ext cx="2243154" cy="0"/>
          </a:xfrm>
          <a:prstGeom prst="line">
            <a:avLst/>
          </a:prstGeom>
          <a:noFill/>
          <a:ln w="31750">
            <a:solidFill>
              <a:srgbClr val="55627E"/>
            </a:solidFill>
            <a:prstDash val="sysDot"/>
          </a:ln>
        </p:spPr>
      </p:sp>
      <p:sp>
        <p:nvSpPr>
          <p:cNvPr id="48" name="Shape 46"/>
          <p:cNvSpPr/>
          <p:nvPr/>
        </p:nvSpPr>
        <p:spPr>
          <a:xfrm flipV="1">
            <a:off x="8860993" y="3287660"/>
            <a:ext cx="0" cy="536100"/>
          </a:xfrm>
          <a:prstGeom prst="line">
            <a:avLst/>
          </a:prstGeom>
          <a:noFill/>
          <a:ln w="31750">
            <a:solidFill>
              <a:srgbClr val="55627E"/>
            </a:solidFill>
            <a:prstDash val="sysDot"/>
          </a:ln>
        </p:spPr>
      </p:sp>
      <p:sp>
        <p:nvSpPr>
          <p:cNvPr id="49" name="Shape 47"/>
          <p:cNvSpPr/>
          <p:nvPr/>
        </p:nvSpPr>
        <p:spPr>
          <a:xfrm>
            <a:off x="8860993" y="3287660"/>
            <a:ext cx="155187" cy="0"/>
          </a:xfrm>
          <a:prstGeom prst="line">
            <a:avLst/>
          </a:prstGeom>
          <a:noFill/>
          <a:ln w="31750">
            <a:solidFill>
              <a:srgbClr val="55627E"/>
            </a:solidFill>
            <a:prstDash val="sysDot"/>
            <a:tailEnd type="triangle"/>
          </a:ln>
        </p:spPr>
      </p:sp>
      <p:sp>
        <p:nvSpPr>
          <p:cNvPr id="50" name="Text 48"/>
          <p:cNvSpPr/>
          <p:nvPr/>
        </p:nvSpPr>
        <p:spPr>
          <a:xfrm>
            <a:off x="7146885" y="3604826"/>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anota el eventoId</a:t>
            </a:r>
            <a:endParaRPr lang="en-US" sz="800" dirty="0"/>
          </a:p>
        </p:txBody>
      </p:sp>
      <p:sp>
        <p:nvSpPr>
          <p:cNvPr id="51" name="Text 49"/>
          <p:cNvSpPr/>
          <p:nvPr/>
        </p:nvSpPr>
        <p:spPr>
          <a:xfrm>
            <a:off x="6508111" y="362233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52" name="Shape 50"/>
          <p:cNvSpPr/>
          <p:nvPr/>
        </p:nvSpPr>
        <p:spPr>
          <a:xfrm>
            <a:off x="2639416" y="4754880"/>
            <a:ext cx="282158" cy="0"/>
          </a:xfrm>
          <a:prstGeom prst="line">
            <a:avLst/>
          </a:prstGeom>
          <a:noFill/>
          <a:ln w="31750">
            <a:solidFill>
              <a:srgbClr val="2E6DB4"/>
            </a:solidFill>
            <a:prstDash val="solid"/>
            <a:tailEnd type="triangle"/>
          </a:ln>
        </p:spPr>
      </p:sp>
      <p:sp>
        <p:nvSpPr>
          <p:cNvPr id="53" name="Text 51"/>
          <p:cNvSpPr/>
          <p:nvPr/>
        </p:nvSpPr>
        <p:spPr>
          <a:xfrm>
            <a:off x="2670766" y="46451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4" name="Shape 52"/>
          <p:cNvSpPr/>
          <p:nvPr/>
        </p:nvSpPr>
        <p:spPr>
          <a:xfrm>
            <a:off x="4106636" y="4754880"/>
            <a:ext cx="211618" cy="0"/>
          </a:xfrm>
          <a:prstGeom prst="line">
            <a:avLst/>
          </a:prstGeom>
          <a:noFill/>
          <a:ln w="31750">
            <a:solidFill>
              <a:srgbClr val="55627E"/>
            </a:solidFill>
            <a:prstDash val="sysDot"/>
            <a:tailEnd type="triangle"/>
          </a:ln>
        </p:spPr>
      </p:sp>
      <p:sp>
        <p:nvSpPr>
          <p:cNvPr id="55" name="Text 53"/>
          <p:cNvSpPr/>
          <p:nvPr/>
        </p:nvSpPr>
        <p:spPr>
          <a:xfrm>
            <a:off x="4102717" y="46451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6" name="Shape 54"/>
          <p:cNvSpPr/>
          <p:nvPr/>
        </p:nvSpPr>
        <p:spPr>
          <a:xfrm>
            <a:off x="5517424" y="4754880"/>
            <a:ext cx="211618" cy="0"/>
          </a:xfrm>
          <a:prstGeom prst="line">
            <a:avLst/>
          </a:prstGeom>
          <a:noFill/>
          <a:ln w="31750">
            <a:solidFill>
              <a:srgbClr val="55627E"/>
            </a:solidFill>
            <a:prstDash val="sysDot"/>
            <a:tailEnd type="triangle"/>
          </a:ln>
        </p:spPr>
      </p:sp>
      <p:sp>
        <p:nvSpPr>
          <p:cNvPr id="57" name="Text 55"/>
          <p:cNvSpPr/>
          <p:nvPr/>
        </p:nvSpPr>
        <p:spPr>
          <a:xfrm>
            <a:off x="5513505" y="46451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8" name="Shape 56"/>
          <p:cNvSpPr/>
          <p:nvPr/>
        </p:nvSpPr>
        <p:spPr>
          <a:xfrm>
            <a:off x="9481740" y="3978946"/>
            <a:ext cx="0" cy="162241"/>
          </a:xfrm>
          <a:prstGeom prst="line">
            <a:avLst/>
          </a:prstGeom>
          <a:noFill/>
          <a:ln w="41275">
            <a:solidFill>
              <a:srgbClr val="2BA6CB"/>
            </a:solidFill>
            <a:prstDash val="dash"/>
          </a:ln>
        </p:spPr>
      </p:sp>
      <p:sp>
        <p:nvSpPr>
          <p:cNvPr id="59" name="Shape 57"/>
          <p:cNvSpPr/>
          <p:nvPr/>
        </p:nvSpPr>
        <p:spPr>
          <a:xfrm flipH="1">
            <a:off x="8324894" y="4141187"/>
            <a:ext cx="1156847" cy="0"/>
          </a:xfrm>
          <a:prstGeom prst="line">
            <a:avLst/>
          </a:prstGeom>
          <a:noFill/>
          <a:ln w="41275">
            <a:solidFill>
              <a:srgbClr val="2BA6CB"/>
            </a:solidFill>
            <a:prstDash val="dash"/>
          </a:ln>
        </p:spPr>
      </p:sp>
      <p:sp>
        <p:nvSpPr>
          <p:cNvPr id="60" name="Shape 58"/>
          <p:cNvSpPr/>
          <p:nvPr/>
        </p:nvSpPr>
        <p:spPr>
          <a:xfrm>
            <a:off x="8324894" y="4141187"/>
            <a:ext cx="0" cy="387967"/>
          </a:xfrm>
          <a:prstGeom prst="line">
            <a:avLst/>
          </a:prstGeom>
          <a:noFill/>
          <a:ln w="41275">
            <a:solidFill>
              <a:srgbClr val="2BA6CB"/>
            </a:solidFill>
            <a:prstDash val="dash"/>
            <a:tailEnd type="triangle"/>
          </a:ln>
        </p:spPr>
      </p:sp>
      <p:sp>
        <p:nvSpPr>
          <p:cNvPr id="61" name="Text 59"/>
          <p:cNvSpPr/>
          <p:nvPr/>
        </p:nvSpPr>
        <p:spPr>
          <a:xfrm>
            <a:off x="8714950" y="4119764"/>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logs</a:t>
            </a:r>
            <a:endParaRPr lang="en-US" sz="800" dirty="0"/>
          </a:p>
        </p:txBody>
      </p:sp>
      <p:sp>
        <p:nvSpPr>
          <p:cNvPr id="62" name="Text 60"/>
          <p:cNvSpPr/>
          <p:nvPr/>
        </p:nvSpPr>
        <p:spPr>
          <a:xfrm>
            <a:off x="9372012" y="395033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3" name="Shape 61"/>
          <p:cNvSpPr/>
          <p:nvPr/>
        </p:nvSpPr>
        <p:spPr>
          <a:xfrm>
            <a:off x="8353109" y="4754880"/>
            <a:ext cx="225726" cy="0"/>
          </a:xfrm>
          <a:prstGeom prst="line">
            <a:avLst/>
          </a:prstGeom>
          <a:noFill/>
          <a:ln w="47625">
            <a:solidFill>
              <a:srgbClr val="2BA6CB"/>
            </a:solidFill>
            <a:prstDash val="sysDot"/>
            <a:tailEnd type="triangle"/>
          </a:ln>
        </p:spPr>
      </p:sp>
      <p:sp>
        <p:nvSpPr>
          <p:cNvPr id="64" name="Text 62"/>
          <p:cNvSpPr/>
          <p:nvPr/>
        </p:nvSpPr>
        <p:spPr>
          <a:xfrm>
            <a:off x="8356244"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5" name="Shape 63"/>
          <p:cNvSpPr/>
          <p:nvPr/>
        </p:nvSpPr>
        <p:spPr>
          <a:xfrm>
            <a:off x="9481740" y="4754880"/>
            <a:ext cx="225726" cy="0"/>
          </a:xfrm>
          <a:prstGeom prst="line">
            <a:avLst/>
          </a:prstGeom>
          <a:noFill/>
          <a:ln w="47625">
            <a:solidFill>
              <a:srgbClr val="2BA6CB"/>
            </a:solidFill>
            <a:prstDash val="sysDot"/>
            <a:tailEnd type="triangle"/>
          </a:ln>
        </p:spPr>
      </p:sp>
      <p:sp>
        <p:nvSpPr>
          <p:cNvPr id="66" name="Text 64"/>
          <p:cNvSpPr/>
          <p:nvPr/>
        </p:nvSpPr>
        <p:spPr>
          <a:xfrm>
            <a:off x="9484875" y="46451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7" name="Text 65"/>
          <p:cNvSpPr/>
          <p:nvPr/>
        </p:nvSpPr>
        <p:spPr>
          <a:xfrm>
            <a:off x="1440245" y="1975627"/>
            <a:ext cx="1199170" cy="423237"/>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Persona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00" dirty="0"/>
          </a:p>
        </p:txBody>
      </p:sp>
      <p:sp>
        <p:nvSpPr>
          <p:cNvPr id="68" name="Shape 66"/>
          <p:cNvSpPr/>
          <p:nvPr/>
        </p:nvSpPr>
        <p:spPr>
          <a:xfrm>
            <a:off x="3006221" y="1975627"/>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3097661" y="2022339"/>
            <a:ext cx="329811" cy="329811"/>
          </a:xfrm>
          <a:prstGeom prst="ellipse">
            <a:avLst/>
          </a:prstGeom>
          <a:solidFill>
            <a:srgbClr val="EBE8F8"/>
          </a:solidFill>
          <a:ln w="12700">
            <a:solidFill>
              <a:srgbClr val="EBE8F8"/>
            </a:solidFill>
            <a:prstDash val="solid"/>
          </a:ln>
        </p:spPr>
      </p:sp>
      <p:sp>
        <p:nvSpPr>
          <p:cNvPr id="70" name="Icono app-window"/>
          <p:cNvSpPr/>
          <p:nvPr/>
        </p:nvSpPr>
        <p:spPr>
          <a:xfrm>
            <a:off x="3152525" y="2077203"/>
            <a:ext cx="220083" cy="220083"/>
          </a:xfrm>
          <a:custGeom>
            <a:avLst/>
            <a:gdLst/>
            <a:ahLst/>
            <a:cxnLst/>
            <a:rect l="l" t="t" r="r" b="b"/>
            <a:pathLst>
              <a:path w="220083" h="220083">
                <a:moveTo>
                  <a:pt x="36681" y="36681"/>
                </a:moveTo>
                <a:lnTo>
                  <a:pt x="183403" y="36681"/>
                </a:lnTo>
                <a:cubicBezTo>
                  <a:pt x="193532" y="36681"/>
                  <a:pt x="201743" y="44892"/>
                  <a:pt x="201743" y="55021"/>
                </a:cubicBezTo>
                <a:lnTo>
                  <a:pt x="201743" y="165062"/>
                </a:lnTo>
                <a:cubicBezTo>
                  <a:pt x="201743" y="175191"/>
                  <a:pt x="193532" y="183403"/>
                  <a:pt x="183403" y="183403"/>
                </a:cubicBezTo>
                <a:lnTo>
                  <a:pt x="36681" y="183403"/>
                </a:lnTo>
                <a:cubicBezTo>
                  <a:pt x="26551" y="183403"/>
                  <a:pt x="18340" y="175191"/>
                  <a:pt x="18340" y="165062"/>
                </a:cubicBezTo>
                <a:lnTo>
                  <a:pt x="18340" y="55021"/>
                </a:lnTo>
                <a:cubicBezTo>
                  <a:pt x="18340" y="44892"/>
                  <a:pt x="26551" y="36681"/>
                  <a:pt x="36681" y="36681"/>
                </a:cubicBezTo>
                <a:close/>
                <a:moveTo>
                  <a:pt x="91701" y="36681"/>
                </a:moveTo>
                <a:lnTo>
                  <a:pt x="91701" y="73361"/>
                </a:lnTo>
                <a:moveTo>
                  <a:pt x="18340" y="73361"/>
                </a:moveTo>
                <a:lnTo>
                  <a:pt x="201743" y="73361"/>
                </a:lnTo>
                <a:moveTo>
                  <a:pt x="55021" y="36681"/>
                </a:moveTo>
                <a:lnTo>
                  <a:pt x="55021" y="73361"/>
                </a:lnTo>
              </a:path>
            </a:pathLst>
          </a:custGeom>
          <a:noFill/>
          <a:ln w="18340" cap="rnd">
            <a:solidFill>
              <a:srgbClr val="5B3FC4"/>
            </a:solidFill>
            <a:prstDash val="solid"/>
            <a:round/>
          </a:ln>
        </p:spPr>
      </p:sp>
      <p:sp>
        <p:nvSpPr>
          <p:cNvPr id="71" name="Text 69"/>
          <p:cNvSpPr/>
          <p:nvPr/>
        </p:nvSpPr>
        <p:spPr>
          <a:xfrm>
            <a:off x="3482336" y="1975627"/>
            <a:ext cx="654083"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React</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pestañas</a:t>
            </a:r>
            <a:endParaRPr lang="en-US" sz="900" dirty="0"/>
          </a:p>
        </p:txBody>
      </p:sp>
      <p:sp>
        <p:nvSpPr>
          <p:cNvPr id="72" name="Text 70"/>
          <p:cNvSpPr/>
          <p:nvPr/>
        </p:nvSpPr>
        <p:spPr>
          <a:xfrm>
            <a:off x="3006221" y="3146581"/>
            <a:ext cx="1185062" cy="423237"/>
          </a:xfrm>
          <a:prstGeom prst="roundRect">
            <a:avLst>
              <a:gd name="adj" fmla="val 19444"/>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nginx</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proxy de /api</a:t>
            </a:r>
            <a:endParaRPr lang="en-US" sz="900" dirty="0"/>
          </a:p>
        </p:txBody>
      </p:sp>
      <p:sp>
        <p:nvSpPr>
          <p:cNvPr id="73" name="Text 71"/>
          <p:cNvSpPr/>
          <p:nvPr/>
        </p:nvSpPr>
        <p:spPr>
          <a:xfrm>
            <a:off x="4642735" y="1975627"/>
            <a:ext cx="1199170"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74" name="Text 72"/>
          <p:cNvSpPr/>
          <p:nvPr/>
        </p:nvSpPr>
        <p:spPr>
          <a:xfrm>
            <a:off x="6053524" y="1975627"/>
            <a:ext cx="1128631"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Dominio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00" dirty="0"/>
          </a:p>
        </p:txBody>
      </p:sp>
      <p:sp>
        <p:nvSpPr>
          <p:cNvPr id="75" name="Text 73"/>
          <p:cNvSpPr/>
          <p:nvPr/>
        </p:nvSpPr>
        <p:spPr>
          <a:xfrm>
            <a:off x="7407881" y="1975627"/>
            <a:ext cx="1213278" cy="423237"/>
          </a:xfrm>
          <a:prstGeom prst="roundRect">
            <a:avLst>
              <a:gd name="adj" fmla="val 19444"/>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64" b="1" dirty="0">
                <a:solidFill>
                  <a:srgbClr val="0B1A3C"/>
                </a:solidFill>
                <a:latin typeface="Segoe UI" pitchFamily="34" charset="0"/>
                <a:ea typeface="Segoe UI" pitchFamily="34" charset="-122"/>
                <a:cs typeface="Segoe UI" pitchFamily="34" charset="-120"/>
              </a:rPr>
              <a:t>Relevador</a:t>
            </a:r>
            <a:endParaRPr lang="en-US" sz="864" dirty="0"/>
          </a:p>
          <a:p>
            <a:pPr algn="ctr" indent="0" marL="0">
              <a:buNone/>
            </a:pPr>
            <a:r>
              <a:rPr lang="en-US" sz="768" dirty="0">
                <a:solidFill>
                  <a:srgbClr val="55627E"/>
                </a:solidFill>
                <a:latin typeface="Segoe UI" pitchFamily="34" charset="0"/>
                <a:ea typeface="Segoe UI" pitchFamily="34" charset="-122"/>
                <a:cs typeface="Segoe UI" pitchFamily="34" charset="-120"/>
              </a:rPr>
              <a:t>cada 5 s · 3 intentos</a:t>
            </a:r>
            <a:endParaRPr lang="en-US" sz="864" dirty="0"/>
          </a:p>
        </p:txBody>
      </p:sp>
      <p:sp>
        <p:nvSpPr>
          <p:cNvPr id="76" name="Shape 74"/>
          <p:cNvSpPr/>
          <p:nvPr/>
        </p:nvSpPr>
        <p:spPr>
          <a:xfrm>
            <a:off x="9016180" y="1975627"/>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9107620" y="2022339"/>
            <a:ext cx="329811" cy="329811"/>
          </a:xfrm>
          <a:prstGeom prst="ellipse">
            <a:avLst/>
          </a:prstGeom>
          <a:solidFill>
            <a:srgbClr val="EBECF0"/>
          </a:solidFill>
          <a:ln w="12700">
            <a:solidFill>
              <a:srgbClr val="EBECF0"/>
            </a:solidFill>
            <a:prstDash val="solid"/>
          </a:ln>
        </p:spPr>
      </p:sp>
      <p:sp>
        <p:nvSpPr>
          <p:cNvPr id="78" name="Icono database"/>
          <p:cNvSpPr/>
          <p:nvPr/>
        </p:nvSpPr>
        <p:spPr>
          <a:xfrm>
            <a:off x="9162484" y="2077203"/>
            <a:ext cx="220083" cy="220083"/>
          </a:xfrm>
          <a:custGeom>
            <a:avLst/>
            <a:gdLst/>
            <a:ahLst/>
            <a:cxnLst/>
            <a:rect l="l" t="t" r="r" b="b"/>
            <a:pathLst>
              <a:path w="220083" h="220083">
                <a:moveTo>
                  <a:pt x="192573" y="45851"/>
                </a:moveTo>
                <a:cubicBezTo>
                  <a:pt x="192573" y="61044"/>
                  <a:pt x="155622" y="73361"/>
                  <a:pt x="110042" y="73361"/>
                </a:cubicBezTo>
                <a:cubicBezTo>
                  <a:pt x="64461" y="73361"/>
                  <a:pt x="27510" y="61044"/>
                  <a:pt x="27510" y="45851"/>
                </a:cubicBezTo>
                <a:cubicBezTo>
                  <a:pt x="27510" y="30657"/>
                  <a:pt x="64461" y="18340"/>
                  <a:pt x="110042" y="18340"/>
                </a:cubicBezTo>
                <a:cubicBezTo>
                  <a:pt x="155622" y="18340"/>
                  <a:pt x="192573" y="30657"/>
                  <a:pt x="192573" y="45851"/>
                </a:cubicBezTo>
                <a:close/>
                <a:moveTo>
                  <a:pt x="27510" y="45851"/>
                </a:moveTo>
                <a:lnTo>
                  <a:pt x="27510" y="174232"/>
                </a:lnTo>
                <a:cubicBezTo>
                  <a:pt x="27510" y="189426"/>
                  <a:pt x="64461" y="201743"/>
                  <a:pt x="110042" y="201743"/>
                </a:cubicBezTo>
                <a:cubicBezTo>
                  <a:pt x="155622" y="201743"/>
                  <a:pt x="192573" y="189426"/>
                  <a:pt x="192573" y="174232"/>
                </a:cubicBezTo>
                <a:lnTo>
                  <a:pt x="192573" y="45851"/>
                </a:lnTo>
                <a:moveTo>
                  <a:pt x="27510" y="110042"/>
                </a:moveTo>
                <a:cubicBezTo>
                  <a:pt x="27510" y="125235"/>
                  <a:pt x="64461" y="137552"/>
                  <a:pt x="110042" y="137552"/>
                </a:cubicBezTo>
                <a:cubicBezTo>
                  <a:pt x="155622" y="137552"/>
                  <a:pt x="192573" y="125235"/>
                  <a:pt x="192573" y="110042"/>
                </a:cubicBezTo>
              </a:path>
            </a:pathLst>
          </a:custGeom>
          <a:noFill/>
          <a:ln w="18340" cap="rnd">
            <a:solidFill>
              <a:srgbClr val="55627E"/>
            </a:solidFill>
            <a:prstDash val="solid"/>
            <a:round/>
          </a:ln>
        </p:spPr>
      </p:sp>
      <p:sp>
        <p:nvSpPr>
          <p:cNvPr id="79" name="Text 77"/>
          <p:cNvSpPr/>
          <p:nvPr/>
        </p:nvSpPr>
        <p:spPr>
          <a:xfrm>
            <a:off x="9492295" y="1975627"/>
            <a:ext cx="1105536"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solicitud · evento</a:t>
            </a:r>
            <a:endParaRPr lang="en-US" sz="900" dirty="0"/>
          </a:p>
        </p:txBody>
      </p:sp>
      <p:sp>
        <p:nvSpPr>
          <p:cNvPr id="80" name="Text 78"/>
          <p:cNvSpPr/>
          <p:nvPr/>
        </p:nvSpPr>
        <p:spPr>
          <a:xfrm>
            <a:off x="4642735" y="3217120"/>
            <a:ext cx="1199170" cy="423237"/>
          </a:xfrm>
          <a:prstGeom prst="roundRect">
            <a:avLst>
              <a:gd name="adj" fmla="val 1944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API REST</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Swagger · Actuator</a:t>
            </a:r>
            <a:endParaRPr lang="en-US" sz="900" dirty="0"/>
          </a:p>
        </p:txBody>
      </p:sp>
      <p:sp>
        <p:nvSpPr>
          <p:cNvPr id="81" name="Text 79"/>
          <p:cNvSpPr/>
          <p:nvPr/>
        </p:nvSpPr>
        <p:spPr>
          <a:xfrm>
            <a:off x="6053524" y="3217120"/>
            <a:ext cx="1128631" cy="423237"/>
          </a:xfrm>
          <a:prstGeom prst="roundRect">
            <a:avLst>
              <a:gd name="adj" fmla="val 19444"/>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92" b="1" dirty="0">
                <a:solidFill>
                  <a:srgbClr val="0B1A3C"/>
                </a:solidFill>
                <a:latin typeface="Segoe UI" pitchFamily="34" charset="0"/>
                <a:ea typeface="Segoe UI" pitchFamily="34" charset="-122"/>
                <a:cs typeface="Segoe UI" pitchFamily="34" charset="-120"/>
              </a:rPr>
              <a:t>Consumo idempotente</a:t>
            </a:r>
            <a:endParaRPr lang="en-US" sz="792" dirty="0"/>
          </a:p>
          <a:p>
            <a:pPr algn="ctr" indent="0" marL="0">
              <a:buNone/>
            </a:pPr>
            <a:r>
              <a:rPr lang="en-US" sz="704" dirty="0">
                <a:solidFill>
                  <a:srgbClr val="55627E"/>
                </a:solidFill>
                <a:latin typeface="Segoe UI" pitchFamily="34" charset="0"/>
                <a:ea typeface="Segoe UI" pitchFamily="34" charset="-122"/>
                <a:cs typeface="Segoe UI" pitchFamily="34" charset="-120"/>
              </a:rPr>
              <a:t>¿ya llegó?</a:t>
            </a:r>
            <a:endParaRPr lang="en-US" sz="792" dirty="0"/>
          </a:p>
        </p:txBody>
      </p:sp>
      <p:sp>
        <p:nvSpPr>
          <p:cNvPr id="82" name="Shape 80"/>
          <p:cNvSpPr/>
          <p:nvPr/>
        </p:nvSpPr>
        <p:spPr>
          <a:xfrm>
            <a:off x="7407881" y="3217120"/>
            <a:ext cx="1213278" cy="423237"/>
          </a:xfrm>
          <a:prstGeom prst="roundRect">
            <a:avLst>
              <a:gd name="adj" fmla="val 19444"/>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3" name="Shape 81"/>
          <p:cNvSpPr/>
          <p:nvPr/>
        </p:nvSpPr>
        <p:spPr>
          <a:xfrm>
            <a:off x="7499321" y="3263833"/>
            <a:ext cx="329811" cy="329811"/>
          </a:xfrm>
          <a:prstGeom prst="ellipse">
            <a:avLst/>
          </a:prstGeom>
          <a:solidFill>
            <a:srgbClr val="E2EEF1"/>
          </a:solidFill>
          <a:ln w="12700">
            <a:solidFill>
              <a:srgbClr val="E2EEF1"/>
            </a:solidFill>
            <a:prstDash val="solid"/>
          </a:ln>
        </p:spPr>
      </p:sp>
      <p:sp>
        <p:nvSpPr>
          <p:cNvPr id="84" name="Icono bell"/>
          <p:cNvSpPr/>
          <p:nvPr/>
        </p:nvSpPr>
        <p:spPr>
          <a:xfrm>
            <a:off x="7554185" y="3318697"/>
            <a:ext cx="220083" cy="220083"/>
          </a:xfrm>
          <a:custGeom>
            <a:avLst/>
            <a:gdLst/>
            <a:ahLst/>
            <a:cxnLst/>
            <a:rect l="l" t="t" r="r" b="b"/>
            <a:pathLst>
              <a:path w="220083" h="220083">
                <a:moveTo>
                  <a:pt x="94159" y="192573"/>
                </a:moveTo>
                <a:cubicBezTo>
                  <a:pt x="97435" y="198247"/>
                  <a:pt x="103490" y="201742"/>
                  <a:pt x="110042" y="201742"/>
                </a:cubicBezTo>
                <a:cubicBezTo>
                  <a:pt x="116594" y="201742"/>
                  <a:pt x="122648" y="198247"/>
                  <a:pt x="125924" y="192573"/>
                </a:cubicBezTo>
                <a:moveTo>
                  <a:pt x="29913" y="140541"/>
                </a:moveTo>
                <a:cubicBezTo>
                  <a:pt x="27465" y="143224"/>
                  <a:pt x="26831" y="147098"/>
                  <a:pt x="28296" y="150421"/>
                </a:cubicBezTo>
                <a:cubicBezTo>
                  <a:pt x="29761" y="153744"/>
                  <a:pt x="33049" y="155889"/>
                  <a:pt x="36681" y="155892"/>
                </a:cubicBezTo>
                <a:lnTo>
                  <a:pt x="183403" y="155892"/>
                </a:lnTo>
                <a:cubicBezTo>
                  <a:pt x="187034" y="155893"/>
                  <a:pt x="190323" y="153752"/>
                  <a:pt x="191792" y="150431"/>
                </a:cubicBezTo>
                <a:cubicBezTo>
                  <a:pt x="193261" y="147111"/>
                  <a:pt x="192632" y="143236"/>
                  <a:pt x="190188" y="140551"/>
                </a:cubicBezTo>
                <a:cubicBezTo>
                  <a:pt x="177992" y="127978"/>
                  <a:pt x="165062" y="114617"/>
                  <a:pt x="165062" y="73361"/>
                </a:cubicBezTo>
                <a:cubicBezTo>
                  <a:pt x="165062" y="42974"/>
                  <a:pt x="140429" y="18340"/>
                  <a:pt x="110042" y="18340"/>
                </a:cubicBezTo>
                <a:cubicBezTo>
                  <a:pt x="79654" y="18340"/>
                  <a:pt x="55021" y="42974"/>
                  <a:pt x="55021" y="73361"/>
                </a:cubicBezTo>
                <a:cubicBezTo>
                  <a:pt x="55021" y="114617"/>
                  <a:pt x="42082" y="127978"/>
                  <a:pt x="29913" y="140541"/>
                </a:cubicBezTo>
              </a:path>
            </a:pathLst>
          </a:custGeom>
          <a:noFill/>
          <a:ln w="18340" cap="rnd">
            <a:solidFill>
              <a:srgbClr val="0B6E8A"/>
            </a:solidFill>
            <a:prstDash val="solid"/>
            <a:round/>
          </a:ln>
        </p:spPr>
      </p:sp>
      <p:sp>
        <p:nvSpPr>
          <p:cNvPr id="85" name="Text 83"/>
          <p:cNvSpPr/>
          <p:nvPr/>
        </p:nvSpPr>
        <p:spPr>
          <a:xfrm>
            <a:off x="7883996" y="3217120"/>
            <a:ext cx="682299" cy="423237"/>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en memoria</a:t>
            </a:r>
            <a:endParaRPr lang="en-US" sz="900" dirty="0"/>
          </a:p>
        </p:txBody>
      </p:sp>
      <p:sp>
        <p:nvSpPr>
          <p:cNvPr id="86" name="Text 84"/>
          <p:cNvSpPr/>
          <p:nvPr/>
        </p:nvSpPr>
        <p:spPr>
          <a:xfrm>
            <a:off x="9016180" y="3076042"/>
            <a:ext cx="1636515" cy="423237"/>
          </a:xfrm>
          <a:prstGeom prst="roundRect">
            <a:avLst>
              <a:gd name="adj" fmla="val 19444"/>
            </a:avLst>
          </a:prstGeom>
          <a:solidFill>
            <a:srgbClr val="F3F6FA"/>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evento_procesado</a:t>
            </a:r>
            <a:endParaRPr lang="en-US" sz="900" dirty="0"/>
          </a:p>
        </p:txBody>
      </p:sp>
      <p:sp>
        <p:nvSpPr>
          <p:cNvPr id="87" name="Text 85"/>
          <p:cNvSpPr/>
          <p:nvPr/>
        </p:nvSpPr>
        <p:spPr>
          <a:xfrm>
            <a:off x="9016180" y="3598033"/>
            <a:ext cx="1636515" cy="380913"/>
          </a:xfrm>
          <a:prstGeom prst="roundRect">
            <a:avLst>
              <a:gd name="adj" fmla="val 21605"/>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756" b="1" dirty="0">
                <a:solidFill>
                  <a:srgbClr val="0B1A3C"/>
                </a:solidFill>
                <a:latin typeface="Segoe UI" pitchFamily="34" charset="0"/>
                <a:ea typeface="Segoe UI" pitchFamily="34" charset="-122"/>
                <a:cs typeface="Segoe UI" pitchFamily="34" charset="-120"/>
              </a:rPr>
              <a:t>Salida de los contenedores</a:t>
            </a:r>
            <a:endParaRPr lang="en-US" sz="756" dirty="0"/>
          </a:p>
          <a:p>
            <a:pPr algn="ctr" indent="0" marL="0">
              <a:buNone/>
            </a:pPr>
            <a:r>
              <a:rPr lang="en-US" sz="672" dirty="0">
                <a:solidFill>
                  <a:srgbClr val="55627E"/>
                </a:solidFill>
                <a:latin typeface="Segoe UI" pitchFamily="34" charset="0"/>
                <a:ea typeface="Segoe UI" pitchFamily="34" charset="-122"/>
                <a:cs typeface="Segoe UI" pitchFamily="34" charset="-120"/>
              </a:rPr>
              <a:t>logs JSON con traceId</a:t>
            </a:r>
            <a:endParaRPr lang="en-US" sz="756" dirty="0"/>
          </a:p>
        </p:txBody>
      </p:sp>
      <p:sp>
        <p:nvSpPr>
          <p:cNvPr id="88" name="Shape 86"/>
          <p:cNvSpPr/>
          <p:nvPr/>
        </p:nvSpPr>
        <p:spPr>
          <a:xfrm>
            <a:off x="1440245" y="4529154"/>
            <a:ext cx="1199170" cy="451452"/>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89" name="Shape 87"/>
          <p:cNvSpPr/>
          <p:nvPr/>
        </p:nvSpPr>
        <p:spPr>
          <a:xfrm>
            <a:off x="1584710" y="4582638"/>
            <a:ext cx="344483" cy="344483"/>
          </a:xfrm>
          <a:prstGeom prst="ellipse">
            <a:avLst/>
          </a:prstGeom>
          <a:solidFill>
            <a:srgbClr val="E2E5EA"/>
          </a:solidFill>
          <a:ln w="12700">
            <a:solidFill>
              <a:srgbClr val="E2E5EA"/>
            </a:solidFill>
            <a:prstDash val="solid"/>
          </a:ln>
        </p:spPr>
      </p:sp>
      <p:sp>
        <p:nvSpPr>
          <p:cNvPr id="90" name="Icono users"/>
          <p:cNvSpPr/>
          <p:nvPr/>
        </p:nvSpPr>
        <p:spPr>
          <a:xfrm>
            <a:off x="1639574" y="4637502"/>
            <a:ext cx="234755" cy="234755"/>
          </a:xfrm>
          <a:custGeom>
            <a:avLst/>
            <a:gdLst/>
            <a:ahLst/>
            <a:cxnLst/>
            <a:rect l="l" t="t" r="r" b="b"/>
            <a:pathLst>
              <a:path w="234755" h="234755">
                <a:moveTo>
                  <a:pt x="156503" y="205411"/>
                </a:moveTo>
                <a:lnTo>
                  <a:pt x="156503" y="185848"/>
                </a:lnTo>
                <a:cubicBezTo>
                  <a:pt x="156503" y="164239"/>
                  <a:pt x="138986" y="146722"/>
                  <a:pt x="117378" y="146722"/>
                </a:cubicBezTo>
                <a:lnTo>
                  <a:pt x="58689" y="146722"/>
                </a:lnTo>
                <a:cubicBezTo>
                  <a:pt x="37080" y="146722"/>
                  <a:pt x="19563" y="164239"/>
                  <a:pt x="19563" y="185848"/>
                </a:cubicBezTo>
                <a:lnTo>
                  <a:pt x="19563" y="205411"/>
                </a:lnTo>
                <a:moveTo>
                  <a:pt x="127159" y="68470"/>
                </a:moveTo>
                <a:cubicBezTo>
                  <a:pt x="127159" y="90079"/>
                  <a:pt x="109642" y="107596"/>
                  <a:pt x="88033" y="107596"/>
                </a:cubicBezTo>
                <a:cubicBezTo>
                  <a:pt x="66425" y="107596"/>
                  <a:pt x="48907" y="90079"/>
                  <a:pt x="48907" y="68470"/>
                </a:cubicBezTo>
                <a:cubicBezTo>
                  <a:pt x="48907" y="46862"/>
                  <a:pt x="66425" y="29344"/>
                  <a:pt x="88033" y="29344"/>
                </a:cubicBezTo>
                <a:cubicBezTo>
                  <a:pt x="109642" y="29344"/>
                  <a:pt x="127159" y="46862"/>
                  <a:pt x="127159" y="68470"/>
                </a:cubicBezTo>
                <a:close/>
                <a:moveTo>
                  <a:pt x="215192" y="205411"/>
                </a:moveTo>
                <a:lnTo>
                  <a:pt x="215192" y="185848"/>
                </a:lnTo>
                <a:cubicBezTo>
                  <a:pt x="215179" y="168017"/>
                  <a:pt x="203112" y="152451"/>
                  <a:pt x="185848" y="147994"/>
                </a:cubicBezTo>
                <a:moveTo>
                  <a:pt x="156503" y="30616"/>
                </a:moveTo>
                <a:cubicBezTo>
                  <a:pt x="173816" y="35049"/>
                  <a:pt x="185925" y="50648"/>
                  <a:pt x="185925" y="68519"/>
                </a:cubicBezTo>
                <a:cubicBezTo>
                  <a:pt x="185925" y="86390"/>
                  <a:pt x="173816" y="101990"/>
                  <a:pt x="156503" y="106422"/>
                </a:cubicBezTo>
              </a:path>
            </a:pathLst>
          </a:custGeom>
          <a:noFill/>
          <a:ln w="19563" cap="rnd">
            <a:solidFill>
              <a:srgbClr val="0B2350"/>
            </a:solidFill>
            <a:prstDash val="solid"/>
            <a:round/>
          </a:ln>
        </p:spPr>
      </p:sp>
      <p:sp>
        <p:nvSpPr>
          <p:cNvPr id="91" name="Text 89"/>
          <p:cNvSpPr/>
          <p:nvPr/>
        </p:nvSpPr>
        <p:spPr>
          <a:xfrm>
            <a:off x="1984057" y="4529154"/>
            <a:ext cx="600494" cy="451452"/>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Equipo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desarrolla y opera</a:t>
            </a:r>
            <a:endParaRPr lang="en-US" sz="864" dirty="0"/>
          </a:p>
        </p:txBody>
      </p:sp>
      <p:sp>
        <p:nvSpPr>
          <p:cNvPr id="92" name="Text 90"/>
          <p:cNvSpPr/>
          <p:nvPr/>
        </p:nvSpPr>
        <p:spPr>
          <a:xfrm>
            <a:off x="2921573" y="4529154"/>
            <a:ext cx="1185062" cy="451452"/>
          </a:xfrm>
          <a:prstGeom prst="roundRect">
            <a:avLst>
              <a:gd name="adj" fmla="val 1822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ramas y Pull Requests</a:t>
            </a:r>
            <a:endParaRPr lang="en-US" sz="900" dirty="0"/>
          </a:p>
        </p:txBody>
      </p:sp>
      <p:sp>
        <p:nvSpPr>
          <p:cNvPr id="93" name="Text 91"/>
          <p:cNvSpPr/>
          <p:nvPr/>
        </p:nvSpPr>
        <p:spPr>
          <a:xfrm>
            <a:off x="4318254" y="4529154"/>
            <a:ext cx="1199170" cy="451452"/>
          </a:xfrm>
          <a:prstGeom prst="roundRect">
            <a:avLst>
              <a:gd name="adj" fmla="val 1822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GitHub Actions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compila, prueba y construye</a:t>
            </a:r>
            <a:endParaRPr lang="en-US" sz="900" dirty="0"/>
          </a:p>
        </p:txBody>
      </p:sp>
      <p:sp>
        <p:nvSpPr>
          <p:cNvPr id="94" name="Shape 92"/>
          <p:cNvSpPr/>
          <p:nvPr/>
        </p:nvSpPr>
        <p:spPr>
          <a:xfrm>
            <a:off x="5729043" y="4529154"/>
            <a:ext cx="1199170" cy="451452"/>
          </a:xfrm>
          <a:prstGeom prst="roundRect">
            <a:avLst>
              <a:gd name="adj" fmla="val 18229"/>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95" name="Shape 93"/>
          <p:cNvSpPr/>
          <p:nvPr/>
        </p:nvSpPr>
        <p:spPr>
          <a:xfrm>
            <a:off x="5820483" y="4582638"/>
            <a:ext cx="344483" cy="344483"/>
          </a:xfrm>
          <a:prstGeom prst="ellipse">
            <a:avLst/>
          </a:prstGeom>
          <a:solidFill>
            <a:srgbClr val="E2EDE9"/>
          </a:solidFill>
          <a:ln w="12700">
            <a:solidFill>
              <a:srgbClr val="E2EDE9"/>
            </a:solidFill>
            <a:prstDash val="solid"/>
          </a:ln>
        </p:spPr>
      </p:sp>
      <p:sp>
        <p:nvSpPr>
          <p:cNvPr id="96" name="Icono package-check"/>
          <p:cNvSpPr/>
          <p:nvPr/>
        </p:nvSpPr>
        <p:spPr>
          <a:xfrm>
            <a:off x="5875347" y="4637502"/>
            <a:ext cx="234755" cy="234755"/>
          </a:xfrm>
          <a:custGeom>
            <a:avLst/>
            <a:gdLst/>
            <a:ahLst/>
            <a:cxnLst/>
            <a:rect l="l" t="t" r="r" b="b"/>
            <a:pathLst>
              <a:path w="234755" h="234755">
                <a:moveTo>
                  <a:pt x="156503" y="156503"/>
                </a:moveTo>
                <a:lnTo>
                  <a:pt x="176066" y="176066"/>
                </a:lnTo>
                <a:lnTo>
                  <a:pt x="215192" y="136941"/>
                </a:lnTo>
                <a:moveTo>
                  <a:pt x="205411" y="97815"/>
                </a:moveTo>
                <a:lnTo>
                  <a:pt x="205411" y="78252"/>
                </a:lnTo>
                <a:cubicBezTo>
                  <a:pt x="205404" y="71270"/>
                  <a:pt x="201676" y="64821"/>
                  <a:pt x="195629" y="61330"/>
                </a:cubicBezTo>
                <a:lnTo>
                  <a:pt x="127159" y="22204"/>
                </a:lnTo>
                <a:cubicBezTo>
                  <a:pt x="121106" y="18709"/>
                  <a:pt x="113649" y="18709"/>
                  <a:pt x="107596" y="22204"/>
                </a:cubicBezTo>
                <a:lnTo>
                  <a:pt x="39126" y="61330"/>
                </a:lnTo>
                <a:cubicBezTo>
                  <a:pt x="33079" y="64821"/>
                  <a:pt x="29352" y="71270"/>
                  <a:pt x="29344" y="78252"/>
                </a:cubicBezTo>
                <a:lnTo>
                  <a:pt x="29344" y="156503"/>
                </a:lnTo>
                <a:cubicBezTo>
                  <a:pt x="29352" y="163485"/>
                  <a:pt x="33079" y="169934"/>
                  <a:pt x="39126" y="173425"/>
                </a:cubicBezTo>
                <a:lnTo>
                  <a:pt x="107596" y="212551"/>
                </a:lnTo>
                <a:cubicBezTo>
                  <a:pt x="113649" y="216046"/>
                  <a:pt x="121106" y="216046"/>
                  <a:pt x="127159" y="212551"/>
                </a:cubicBezTo>
                <a:lnTo>
                  <a:pt x="146722" y="201400"/>
                </a:lnTo>
                <a:moveTo>
                  <a:pt x="73361" y="41767"/>
                </a:moveTo>
                <a:lnTo>
                  <a:pt x="161394" y="92141"/>
                </a:lnTo>
                <a:moveTo>
                  <a:pt x="32181" y="68470"/>
                </a:moveTo>
                <a:lnTo>
                  <a:pt x="117378" y="117378"/>
                </a:lnTo>
                <a:lnTo>
                  <a:pt x="202574" y="68470"/>
                </a:lnTo>
                <a:moveTo>
                  <a:pt x="117378" y="215192"/>
                </a:moveTo>
                <a:lnTo>
                  <a:pt x="117378" y="117378"/>
                </a:lnTo>
              </a:path>
            </a:pathLst>
          </a:custGeom>
          <a:noFill/>
          <a:ln w="19563" cap="rnd">
            <a:solidFill>
              <a:srgbClr val="0A6648"/>
            </a:solidFill>
            <a:prstDash val="solid"/>
            <a:round/>
          </a:ln>
        </p:spPr>
      </p:sp>
      <p:sp>
        <p:nvSpPr>
          <p:cNvPr id="97" name="Text 95"/>
          <p:cNvSpPr/>
          <p:nvPr/>
        </p:nvSpPr>
        <p:spPr>
          <a:xfrm>
            <a:off x="6219830" y="4529154"/>
            <a:ext cx="653519" cy="451452"/>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GHCR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imágenes por commit</a:t>
            </a:r>
            <a:endParaRPr lang="en-US" sz="900" dirty="0"/>
          </a:p>
        </p:txBody>
      </p:sp>
      <p:sp>
        <p:nvSpPr>
          <p:cNvPr id="98" name="Text 96"/>
          <p:cNvSpPr/>
          <p:nvPr/>
        </p:nvSpPr>
        <p:spPr>
          <a:xfrm>
            <a:off x="7337342" y="4529154"/>
            <a:ext cx="1015768"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Promtail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recoge los logs</a:t>
            </a:r>
            <a:endParaRPr lang="en-US" sz="900" dirty="0"/>
          </a:p>
        </p:txBody>
      </p:sp>
      <p:sp>
        <p:nvSpPr>
          <p:cNvPr id="99" name="Text 97"/>
          <p:cNvSpPr/>
          <p:nvPr/>
        </p:nvSpPr>
        <p:spPr>
          <a:xfrm>
            <a:off x="8578835" y="4529154"/>
            <a:ext cx="902905"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Loki</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los guarda</a:t>
            </a:r>
            <a:endParaRPr lang="en-US" sz="900" dirty="0"/>
          </a:p>
        </p:txBody>
      </p:sp>
      <p:sp>
        <p:nvSpPr>
          <p:cNvPr id="100" name="Text 98"/>
          <p:cNvSpPr/>
          <p:nvPr/>
        </p:nvSpPr>
        <p:spPr>
          <a:xfrm>
            <a:off x="9707466" y="4529154"/>
            <a:ext cx="987552" cy="451452"/>
          </a:xfrm>
          <a:prstGeom prst="roundRect">
            <a:avLst>
              <a:gd name="adj" fmla="val 1822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Grafana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busca por traceId</a:t>
            </a:r>
            <a:endParaRPr lang="en-US" sz="900" dirty="0"/>
          </a:p>
        </p:txBody>
      </p:sp>
      <p:sp>
        <p:nvSpPr>
          <p:cNvPr id="101" name="Shape 99"/>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2" name="Text 100"/>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103" name="Text 101"/>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logs de todos los contenedores llegan a Grafana a través de Promtail y Loki.</a:t>
            </a:r>
            <a:endParaRPr lang="en-US" sz="1300" dirty="0"/>
          </a:p>
        </p:txBody>
      </p:sp>
      <p:sp>
        <p:nvSpPr>
          <p:cNvPr id="104" name="Text 10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code"/>
          <p:cNvSpPr/>
          <p:nvPr/>
        </p:nvSpPr>
        <p:spPr>
          <a:xfrm>
            <a:off x="9098280" y="1783080"/>
            <a:ext cx="1371600" cy="1371600"/>
          </a:xfrm>
          <a:custGeom>
            <a:avLst/>
            <a:gdLst/>
            <a:ahLst/>
            <a:cxnLst/>
            <a:rect l="l" t="t" r="r" b="b"/>
            <a:pathLst>
              <a:path w="1371600" h="1371600">
                <a:moveTo>
                  <a:pt x="914400" y="1028700"/>
                </a:moveTo>
                <a:lnTo>
                  <a:pt x="1257300" y="685800"/>
                </a:lnTo>
                <a:lnTo>
                  <a:pt x="914400" y="342900"/>
                </a:lnTo>
                <a:moveTo>
                  <a:pt x="457200" y="342900"/>
                </a:moveTo>
                <a:lnTo>
                  <a:pt x="114300" y="685800"/>
                </a:lnTo>
                <a:lnTo>
                  <a:pt x="457200" y="1028700"/>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2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374B70"/>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374B70"/>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02</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Construir un servicio</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pasamos de una idea a un endpoint que responde, avisa sus errores y está probado.</a:t>
            </a:r>
            <a:endParaRPr lang="en-US" sz="1900" dirty="0"/>
          </a:p>
        </p:txBody>
      </p:sp>
      <p:sp>
        <p:nvSpPr>
          <p:cNvPr id="16" name="Text 14"/>
          <p:cNvSpPr/>
          <p:nvPr/>
        </p:nvSpPr>
        <p:spPr>
          <a:xfrm>
            <a:off x="758952" y="4663440"/>
            <a:ext cx="151333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Spring Boot</a:t>
            </a:r>
            <a:endParaRPr lang="en-US" sz="1300" dirty="0"/>
          </a:p>
        </p:txBody>
      </p:sp>
      <p:sp>
        <p:nvSpPr>
          <p:cNvPr id="17" name="Text 15"/>
          <p:cNvSpPr/>
          <p:nvPr/>
        </p:nvSpPr>
        <p:spPr>
          <a:xfrm>
            <a:off x="2400300"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Endpoints REST</a:t>
            </a:r>
            <a:endParaRPr lang="en-US" sz="1300" dirty="0"/>
          </a:p>
        </p:txBody>
      </p:sp>
      <p:sp>
        <p:nvSpPr>
          <p:cNvPr id="18" name="Text 16"/>
          <p:cNvSpPr/>
          <p:nvPr/>
        </p:nvSpPr>
        <p:spPr>
          <a:xfrm>
            <a:off x="4329684" y="4663440"/>
            <a:ext cx="276148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Manejo global de errores</a:t>
            </a:r>
            <a:endParaRPr lang="en-US" sz="1300" dirty="0"/>
          </a:p>
        </p:txBody>
      </p:sp>
      <p:sp>
        <p:nvSpPr>
          <p:cNvPr id="19" name="Text 17"/>
          <p:cNvSpPr/>
          <p:nvPr/>
        </p:nvSpPr>
        <p:spPr>
          <a:xfrm>
            <a:off x="7219188" y="4663440"/>
            <a:ext cx="11292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Swagger</a:t>
            </a:r>
            <a:endParaRPr lang="en-US" sz="1300" dirty="0"/>
          </a:p>
        </p:txBody>
      </p:sp>
      <p:sp>
        <p:nvSpPr>
          <p:cNvPr id="20" name="Text 18"/>
          <p:cNvSpPr/>
          <p:nvPr/>
        </p:nvSpPr>
        <p:spPr>
          <a:xfrm>
            <a:off x="8476488" y="4663440"/>
            <a:ext cx="208940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Pruebas unitarias</a:t>
            </a:r>
            <a:endParaRPr lang="en-US" sz="1300" dirty="0"/>
          </a:p>
        </p:txBody>
      </p:sp>
      <p:sp>
        <p:nvSpPr>
          <p:cNvPr id="21" name="Text 19"/>
          <p:cNvSpPr/>
          <p:nvPr/>
        </p:nvSpPr>
        <p:spPr>
          <a:xfrm>
            <a:off x="10693908" y="4663440"/>
            <a:ext cx="7452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Git</a:t>
            </a:r>
            <a:endParaRPr lang="en-US" sz="1300" dirty="0"/>
          </a:p>
        </p:txBody>
      </p:sp>
      <p:sp>
        <p:nvSpPr>
          <p:cNvPr id="22" name="Text 20"/>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P2</a:t>
            </a:r>
            <a:endParaRPr lang="en-US" sz="1000" dirty="0"/>
          </a:p>
        </p:txBody>
      </p:sp>
      <p:sp>
        <p:nvSpPr>
          <p:cNvPr id="23" name="Text 21"/>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2 · Desarrollo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 contacto con Spring Boot</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Spring Boot arma la aplicación por nosotros.</a:t>
            </a:r>
            <a:endParaRPr lang="en-US" sz="3200" dirty="0"/>
          </a:p>
        </p:txBody>
      </p:sp>
      <p:sp>
        <p:nvSpPr>
          <p:cNvPr id="7" name="Shape 5"/>
          <p:cNvSpPr/>
          <p:nvPr/>
        </p:nvSpPr>
        <p:spPr>
          <a:xfrm>
            <a:off x="612648" y="5029200"/>
            <a:ext cx="5257800" cy="1188720"/>
          </a:xfrm>
          <a:prstGeom prst="roundRect">
            <a:avLst>
              <a:gd name="adj" fmla="val 9231"/>
            </a:avLst>
          </a:prstGeom>
          <a:solidFill>
            <a:srgbClr val="E3F4FA"/>
          </a:solidFill>
          <a:ln w="12700">
            <a:solidFill>
              <a:srgbClr val="8ACEE2"/>
            </a:solidFill>
            <a:prstDash val="solid"/>
          </a:ln>
        </p:spPr>
      </p:sp>
      <p:sp>
        <p:nvSpPr>
          <p:cNvPr id="8" name="Shape 6"/>
          <p:cNvSpPr/>
          <p:nvPr/>
        </p:nvSpPr>
        <p:spPr>
          <a:xfrm>
            <a:off x="795528" y="5321808"/>
            <a:ext cx="603504" cy="603504"/>
          </a:xfrm>
          <a:prstGeom prst="ellipse">
            <a:avLst/>
          </a:prstGeom>
          <a:solidFill>
            <a:srgbClr val="FFFFFF"/>
          </a:solidFill>
          <a:ln w="12700">
            <a:solidFill>
              <a:srgbClr val="FFFFFF"/>
            </a:solidFill>
            <a:prstDash val="solid"/>
          </a:ln>
        </p:spPr>
      </p:sp>
      <p:sp>
        <p:nvSpPr>
          <p:cNvPr id="9" name="Icono hard-hat"/>
          <p:cNvSpPr/>
          <p:nvPr/>
        </p:nvSpPr>
        <p:spPr>
          <a:xfrm>
            <a:off x="940369" y="5466649"/>
            <a:ext cx="313822" cy="313822"/>
          </a:xfrm>
          <a:custGeom>
            <a:avLst/>
            <a:gdLst/>
            <a:ahLst/>
            <a:cxnLst/>
            <a:rect l="l" t="t" r="r" b="b"/>
            <a:pathLst>
              <a:path w="313822" h="313822">
                <a:moveTo>
                  <a:pt x="130759" y="130759"/>
                </a:moveTo>
                <a:lnTo>
                  <a:pt x="130759" y="65380"/>
                </a:lnTo>
                <a:cubicBezTo>
                  <a:pt x="130759" y="58158"/>
                  <a:pt x="136613" y="52304"/>
                  <a:pt x="143835" y="52304"/>
                </a:cubicBezTo>
                <a:lnTo>
                  <a:pt x="169987" y="52304"/>
                </a:lnTo>
                <a:cubicBezTo>
                  <a:pt x="177209" y="52304"/>
                  <a:pt x="183063" y="58158"/>
                  <a:pt x="183063" y="65380"/>
                </a:cubicBezTo>
                <a:lnTo>
                  <a:pt x="183063" y="130759"/>
                </a:lnTo>
                <a:moveTo>
                  <a:pt x="183063" y="78456"/>
                </a:moveTo>
                <a:cubicBezTo>
                  <a:pt x="226393" y="78456"/>
                  <a:pt x="261518" y="113581"/>
                  <a:pt x="261518" y="156911"/>
                </a:cubicBezTo>
                <a:lnTo>
                  <a:pt x="261518" y="196139"/>
                </a:lnTo>
                <a:moveTo>
                  <a:pt x="52304" y="196139"/>
                </a:moveTo>
                <a:lnTo>
                  <a:pt x="52304" y="156911"/>
                </a:lnTo>
                <a:cubicBezTo>
                  <a:pt x="52304" y="113581"/>
                  <a:pt x="87429" y="78456"/>
                  <a:pt x="130759" y="78456"/>
                </a:cubicBezTo>
                <a:moveTo>
                  <a:pt x="39228" y="196139"/>
                </a:moveTo>
                <a:lnTo>
                  <a:pt x="274594" y="196139"/>
                </a:lnTo>
                <a:cubicBezTo>
                  <a:pt x="281816" y="196139"/>
                  <a:pt x="287670" y="201993"/>
                  <a:pt x="287670" y="209215"/>
                </a:cubicBezTo>
                <a:lnTo>
                  <a:pt x="287670" y="235367"/>
                </a:lnTo>
                <a:cubicBezTo>
                  <a:pt x="287670" y="242588"/>
                  <a:pt x="281816" y="248442"/>
                  <a:pt x="274594" y="248442"/>
                </a:cubicBezTo>
                <a:lnTo>
                  <a:pt x="39228" y="248442"/>
                </a:lnTo>
                <a:cubicBezTo>
                  <a:pt x="32006" y="248442"/>
                  <a:pt x="26152" y="242588"/>
                  <a:pt x="26152" y="235367"/>
                </a:cubicBezTo>
                <a:lnTo>
                  <a:pt x="26152" y="209215"/>
                </a:lnTo>
                <a:cubicBezTo>
                  <a:pt x="26152" y="201993"/>
                  <a:pt x="32006" y="196139"/>
                  <a:pt x="39228" y="196139"/>
                </a:cubicBezTo>
                <a:close/>
              </a:path>
            </a:pathLst>
          </a:custGeom>
          <a:noFill/>
          <a:ln w="26152" cap="rnd">
            <a:solidFill>
              <a:srgbClr val="0B6E8A"/>
            </a:solidFill>
            <a:prstDash val="solid"/>
            <a:round/>
          </a:ln>
        </p:spPr>
      </p:sp>
      <p:sp>
        <p:nvSpPr>
          <p:cNvPr id="10" name="Text 8"/>
          <p:cNvSpPr/>
          <p:nvPr/>
        </p:nvSpPr>
        <p:spPr>
          <a:xfrm>
            <a:off x="1563624" y="5102352"/>
            <a:ext cx="415137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contratista de obra: nosotros decimos qué piezas hay y él las arma y las conecta.</a:t>
            </a:r>
            <a:endParaRPr lang="en-US" sz="1450" dirty="0"/>
          </a:p>
        </p:txBody>
      </p:sp>
      <p:sp>
        <p:nvSpPr>
          <p:cNvPr id="11" name="Icono file-code"/>
          <p:cNvSpPr/>
          <p:nvPr/>
        </p:nvSpPr>
        <p:spPr>
          <a:xfrm>
            <a:off x="628192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12" name="Text 10"/>
          <p:cNvSpPr/>
          <p:nvPr/>
        </p:nvSpPr>
        <p:spPr>
          <a:xfrm>
            <a:off x="6556248" y="1371600"/>
            <a:ext cx="50227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servicio-solicitudes/…/config/ConfiguracionDominio.java</a:t>
            </a:r>
            <a:endParaRPr lang="en-US" sz="900" dirty="0"/>
          </a:p>
        </p:txBody>
      </p:sp>
      <p:sp>
        <p:nvSpPr>
          <p:cNvPr id="13" name="Text 11"/>
          <p:cNvSpPr/>
          <p:nvPr/>
        </p:nvSpPr>
        <p:spPr>
          <a:xfrm>
            <a:off x="6281928" y="1645920"/>
            <a:ext cx="529711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850" dirty="0">
                <a:solidFill>
                  <a:srgbClr val="FFB38A"/>
                </a:solidFill>
                <a:latin typeface="Consolas" pitchFamily="34" charset="0"/>
                <a:ea typeface="Consolas" pitchFamily="34" charset="-122"/>
                <a:cs typeface="Consolas" pitchFamily="34" charset="-120"/>
              </a:rPr>
              <a:t>@Bean</a:t>
            </a:r>
            <a:endParaRPr lang="en-US" sz="850" dirty="0"/>
          </a:p>
          <a:p>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servicioDeSolicitudes(</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repositorio,</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PublicadorDeEventos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publicador,</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RegistradorDeEventosSalientes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registrador) {</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850" dirty="0">
                <a:solidFill>
                  <a:srgbClr val="9FBEE0"/>
                </a:solidFill>
                <a:latin typeface="Consolas" pitchFamily="34" charset="0"/>
                <a:ea typeface="Consolas" pitchFamily="34" charset="-122"/>
                <a:cs typeface="Consolas" pitchFamily="34" charset="-120"/>
              </a:rPr>
              <a:t>ServicioDeSolicitudes</a:t>
            </a:r>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(repositorio, publicador, registrador);</a:t>
            </a:r>
            <a:endParaRPr lang="en-US" sz="850" dirty="0"/>
          </a:p>
          <a:p>
            <a:pPr indent="0" marL="0">
              <a:lnSpc>
                <a:spcPct val="110000"/>
              </a:lnSpc>
              <a:buNone/>
            </a:pPr>
            <a:r>
              <a:rPr lang="en-US" sz="850" dirty="0">
                <a:solidFill>
                  <a:srgbClr val="E8EDF8"/>
                </a:solidFill>
                <a:latin typeface="Consolas" pitchFamily="34" charset="0"/>
                <a:ea typeface="Consolas" pitchFamily="34" charset="-122"/>
                <a:cs typeface="Consolas" pitchFamily="34" charset="-120"/>
              </a:rPr>
              <a:t>}</a:t>
            </a:r>
            <a:endParaRPr lang="en-US" sz="850" dirty="0"/>
          </a:p>
        </p:txBody>
      </p:sp>
      <p:sp>
        <p:nvSpPr>
          <p:cNvPr id="14" name="Text 1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Construcción de endpoints REST</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Método + ruta = una operación</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cuerpo viaja en JSON</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respuesta trae un código: 201, 404, 409</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controlador traduce; quien decide es el servicio</a:t>
            </a:r>
            <a:endParaRPr lang="en-US" sz="1100" dirty="0"/>
          </a:p>
        </p:txBody>
      </p:sp>
      <p:sp>
        <p:nvSpPr>
          <p:cNvPr id="9" name="Shape 7"/>
          <p:cNvSpPr/>
          <p:nvPr/>
        </p:nvSpPr>
        <p:spPr>
          <a:xfrm>
            <a:off x="2348995" y="3762937"/>
            <a:ext cx="639707" cy="0"/>
          </a:xfrm>
          <a:prstGeom prst="line">
            <a:avLst/>
          </a:prstGeom>
          <a:noFill/>
          <a:ln w="31750">
            <a:solidFill>
              <a:srgbClr val="2E6DB4"/>
            </a:solidFill>
            <a:prstDash val="solid"/>
            <a:tailEnd type="triangle"/>
          </a:ln>
        </p:spPr>
      </p:sp>
      <p:sp>
        <p:nvSpPr>
          <p:cNvPr id="10" name="Text 8"/>
          <p:cNvSpPr/>
          <p:nvPr/>
        </p:nvSpPr>
        <p:spPr>
          <a:xfrm>
            <a:off x="2472709" y="3525241"/>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JSON</a:t>
            </a:r>
            <a:endParaRPr lang="en-US" sz="850" dirty="0"/>
          </a:p>
        </p:txBody>
      </p:sp>
      <p:sp>
        <p:nvSpPr>
          <p:cNvPr id="11" name="Text 9"/>
          <p:cNvSpPr/>
          <p:nvPr/>
        </p:nvSpPr>
        <p:spPr>
          <a:xfrm>
            <a:off x="2458595" y="365320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816434" y="3872601"/>
            <a:ext cx="639707" cy="0"/>
          </a:xfrm>
          <a:prstGeom prst="line">
            <a:avLst/>
          </a:prstGeom>
          <a:noFill/>
          <a:ln w="31750">
            <a:solidFill>
              <a:srgbClr val="55627E"/>
            </a:solidFill>
            <a:prstDash val="sysDot"/>
            <a:tailEnd type="triangle"/>
          </a:ln>
        </p:spPr>
      </p:sp>
      <p:sp>
        <p:nvSpPr>
          <p:cNvPr id="13" name="Text 11"/>
          <p:cNvSpPr/>
          <p:nvPr/>
        </p:nvSpPr>
        <p:spPr>
          <a:xfrm>
            <a:off x="4907116" y="3634905"/>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a:t>
            </a:r>
            <a:endParaRPr lang="en-US" sz="850" dirty="0"/>
          </a:p>
        </p:txBody>
      </p:sp>
      <p:sp>
        <p:nvSpPr>
          <p:cNvPr id="14" name="Text 12"/>
          <p:cNvSpPr/>
          <p:nvPr/>
        </p:nvSpPr>
        <p:spPr>
          <a:xfrm>
            <a:off x="4926034" y="376287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7466648" y="3872601"/>
            <a:ext cx="639707" cy="0"/>
          </a:xfrm>
          <a:prstGeom prst="line">
            <a:avLst/>
          </a:prstGeom>
          <a:noFill/>
          <a:ln w="31750">
            <a:solidFill>
              <a:srgbClr val="55627E"/>
            </a:solidFill>
            <a:prstDash val="sysDot"/>
            <a:tailEnd type="triangle"/>
          </a:ln>
        </p:spPr>
      </p:sp>
      <p:sp>
        <p:nvSpPr>
          <p:cNvPr id="16" name="Text 14"/>
          <p:cNvSpPr/>
          <p:nvPr/>
        </p:nvSpPr>
        <p:spPr>
          <a:xfrm>
            <a:off x="7491264" y="3634905"/>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17" name="Text 15"/>
          <p:cNvSpPr/>
          <p:nvPr/>
        </p:nvSpPr>
        <p:spPr>
          <a:xfrm>
            <a:off x="7576247" y="376287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a:off x="9659927" y="3872601"/>
            <a:ext cx="456933" cy="0"/>
          </a:xfrm>
          <a:prstGeom prst="line">
            <a:avLst/>
          </a:prstGeom>
          <a:noFill/>
          <a:ln w="31750">
            <a:solidFill>
              <a:srgbClr val="55627E"/>
            </a:solidFill>
            <a:prstDash val="sysDot"/>
            <a:tailEnd type="triangle"/>
          </a:ln>
        </p:spPr>
      </p:sp>
      <p:sp>
        <p:nvSpPr>
          <p:cNvPr id="19" name="Text 17"/>
          <p:cNvSpPr/>
          <p:nvPr/>
        </p:nvSpPr>
        <p:spPr>
          <a:xfrm>
            <a:off x="9626190" y="363490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INSERT</a:t>
            </a:r>
            <a:endParaRPr lang="en-US" sz="850" dirty="0"/>
          </a:p>
        </p:txBody>
      </p:sp>
      <p:sp>
        <p:nvSpPr>
          <p:cNvPr id="20" name="Text 18"/>
          <p:cNvSpPr/>
          <p:nvPr/>
        </p:nvSpPr>
        <p:spPr>
          <a:xfrm>
            <a:off x="9769527" y="376287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flipH="1">
            <a:off x="2348995" y="3982265"/>
            <a:ext cx="639707" cy="0"/>
          </a:xfrm>
          <a:prstGeom prst="line">
            <a:avLst/>
          </a:prstGeom>
          <a:noFill/>
          <a:ln w="22860">
            <a:solidFill>
              <a:srgbClr val="0B6E8A"/>
            </a:solidFill>
            <a:prstDash val="solid"/>
            <a:tailEnd type="arrow"/>
          </a:ln>
        </p:spPr>
      </p:sp>
      <p:sp>
        <p:nvSpPr>
          <p:cNvPr id="22" name="Text 20"/>
          <p:cNvSpPr/>
          <p:nvPr/>
        </p:nvSpPr>
        <p:spPr>
          <a:xfrm>
            <a:off x="2505742" y="4000452"/>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201</a:t>
            </a:r>
            <a:endParaRPr lang="en-US" sz="850" dirty="0"/>
          </a:p>
        </p:txBody>
      </p:sp>
      <p:sp>
        <p:nvSpPr>
          <p:cNvPr id="23" name="Text 21"/>
          <p:cNvSpPr/>
          <p:nvPr/>
        </p:nvSpPr>
        <p:spPr>
          <a:xfrm>
            <a:off x="2659645" y="387253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a:off x="6461394" y="4219871"/>
            <a:ext cx="0" cy="950421"/>
          </a:xfrm>
          <a:prstGeom prst="line">
            <a:avLst/>
          </a:prstGeom>
          <a:noFill/>
          <a:ln w="31750">
            <a:solidFill>
              <a:srgbClr val="AB243E"/>
            </a:solidFill>
            <a:prstDash val="sysDash"/>
            <a:tailEnd type="triangle"/>
          </a:ln>
        </p:spPr>
      </p:sp>
      <p:sp>
        <p:nvSpPr>
          <p:cNvPr id="25" name="Text 23"/>
          <p:cNvSpPr/>
          <p:nvPr/>
        </p:nvSpPr>
        <p:spPr>
          <a:xfrm>
            <a:off x="6552781" y="4576188"/>
            <a:ext cx="722605" cy="192024"/>
          </a:xfrm>
          <a:prstGeom prst="rect">
            <a:avLst/>
          </a:prstGeom>
          <a:noFill/>
          <a:ln/>
        </p:spPr>
        <p:txBody>
          <a:bodyPr wrap="square" lIns="0" tIns="0" rIns="0" bIns="0" rtlCol="0" anchor="ctr"/>
          <a:lstStyle/>
          <a:p>
            <a:pPr algn="l" indent="0" marL="0">
              <a:buNone/>
            </a:pPr>
            <a:r>
              <a:rPr lang="en-US" sz="850" b="1" dirty="0">
                <a:solidFill>
                  <a:srgbClr val="AB243E"/>
                </a:solidFill>
                <a:latin typeface="Segoe UI" pitchFamily="34" charset="0"/>
                <a:ea typeface="Segoe UI" pitchFamily="34" charset="-122"/>
                <a:cs typeface="Segoe UI" pitchFamily="34" charset="-120"/>
              </a:rPr>
              <a:t>ya existe</a:t>
            </a:r>
            <a:endParaRPr lang="en-US" sz="850" dirty="0"/>
          </a:p>
        </p:txBody>
      </p:sp>
      <p:sp>
        <p:nvSpPr>
          <p:cNvPr id="26" name="Text 24"/>
          <p:cNvSpPr/>
          <p:nvPr/>
        </p:nvSpPr>
        <p:spPr>
          <a:xfrm>
            <a:off x="6351666" y="4329471"/>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H="1">
            <a:off x="1617901" y="5517561"/>
            <a:ext cx="3838240" cy="0"/>
          </a:xfrm>
          <a:prstGeom prst="line">
            <a:avLst/>
          </a:prstGeom>
          <a:noFill/>
          <a:ln w="31750">
            <a:solidFill>
              <a:srgbClr val="AB243E"/>
            </a:solidFill>
            <a:prstDash val="sysDash"/>
          </a:ln>
        </p:spPr>
      </p:sp>
      <p:sp>
        <p:nvSpPr>
          <p:cNvPr id="28" name="Shape 26"/>
          <p:cNvSpPr/>
          <p:nvPr/>
        </p:nvSpPr>
        <p:spPr>
          <a:xfrm flipV="1">
            <a:off x="1617901" y="4219871"/>
            <a:ext cx="0" cy="1297691"/>
          </a:xfrm>
          <a:prstGeom prst="line">
            <a:avLst/>
          </a:prstGeom>
          <a:noFill/>
          <a:ln w="31750">
            <a:solidFill>
              <a:srgbClr val="AB243E"/>
            </a:solidFill>
            <a:prstDash val="sysDash"/>
            <a:tailEnd type="triangle"/>
          </a:ln>
        </p:spPr>
      </p:sp>
      <p:sp>
        <p:nvSpPr>
          <p:cNvPr id="29" name="Text 27"/>
          <p:cNvSpPr/>
          <p:nvPr/>
        </p:nvSpPr>
        <p:spPr>
          <a:xfrm>
            <a:off x="3043588" y="5535748"/>
            <a:ext cx="986866" cy="192024"/>
          </a:xfrm>
          <a:prstGeom prst="rect">
            <a:avLst/>
          </a:prstGeom>
          <a:noFill/>
          <a:ln/>
        </p:spPr>
        <p:txBody>
          <a:bodyPr wrap="square" lIns="0" tIns="0" rIns="0" bIns="0" rtlCol="0" anchor="ctr"/>
          <a:lstStyle/>
          <a:p>
            <a:pPr algn="ctr" indent="0" marL="0">
              <a:buNone/>
            </a:pPr>
            <a:r>
              <a:rPr lang="en-US" sz="850" b="1" dirty="0">
                <a:solidFill>
                  <a:srgbClr val="AB243E"/>
                </a:solidFill>
                <a:latin typeface="Segoe UI" pitchFamily="34" charset="0"/>
                <a:ea typeface="Segoe UI" pitchFamily="34" charset="-122"/>
                <a:cs typeface="Segoe UI" pitchFamily="34" charset="-120"/>
              </a:rPr>
              <a:t>409 + mensaje</a:t>
            </a:r>
            <a:endParaRPr lang="en-US" sz="850" dirty="0"/>
          </a:p>
        </p:txBody>
      </p:sp>
      <p:sp>
        <p:nvSpPr>
          <p:cNvPr id="30" name="Text 28"/>
          <p:cNvSpPr/>
          <p:nvPr/>
        </p:nvSpPr>
        <p:spPr>
          <a:xfrm>
            <a:off x="5127085" y="5407833"/>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1" name="Shape 29"/>
          <p:cNvSpPr/>
          <p:nvPr/>
        </p:nvSpPr>
        <p:spPr>
          <a:xfrm>
            <a:off x="886808" y="3525332"/>
            <a:ext cx="146218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978248" y="3662289"/>
            <a:ext cx="420624" cy="420624"/>
          </a:xfrm>
          <a:prstGeom prst="ellipse">
            <a:avLst/>
          </a:prstGeom>
          <a:solidFill>
            <a:srgbClr val="E2E5EA"/>
          </a:solidFill>
          <a:ln w="12700">
            <a:solidFill>
              <a:srgbClr val="E2E5EA"/>
            </a:solidFill>
            <a:prstDash val="solid"/>
          </a:ln>
        </p:spPr>
      </p:sp>
      <p:sp>
        <p:nvSpPr>
          <p:cNvPr id="33" name="Icono monitor"/>
          <p:cNvSpPr/>
          <p:nvPr/>
        </p:nvSpPr>
        <p:spPr>
          <a:xfrm>
            <a:off x="1033112" y="3717153"/>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4" name="Text 32"/>
          <p:cNvSpPr/>
          <p:nvPr/>
        </p:nvSpPr>
        <p:spPr>
          <a:xfrm>
            <a:off x="1453736" y="3525332"/>
            <a:ext cx="840395" cy="694539"/>
          </a:xfrm>
          <a:prstGeom prst="rect">
            <a:avLst/>
          </a:prstGeom>
          <a:noFill/>
          <a:ln/>
        </p:spPr>
        <p:txBody>
          <a:bodyPr wrap="square" lIns="12700" tIns="25400" rIns="25400" bIns="12700" rtlCol="0" anchor="ctr">
            <a:normAutofit/>
          </a:bodyPr>
          <a:lstStyle/>
          <a:p>
            <a:pPr algn="l" indent="0" marL="0">
              <a:lnSpc>
                <a:spcPct val="95000"/>
              </a:lnSpc>
              <a:buNone/>
            </a:pPr>
            <a:r>
              <a:rPr lang="en-US" sz="907" b="1" dirty="0">
                <a:solidFill>
                  <a:srgbClr val="0B1A3C"/>
                </a:solidFill>
                <a:latin typeface="Segoe UI" pitchFamily="34" charset="0"/>
                <a:ea typeface="Segoe UI" pitchFamily="34" charset="-122"/>
                <a:cs typeface="Segoe UI" pitchFamily="34" charset="-120"/>
              </a:rPr>
              <a:t>UI</a:t>
            </a:r>
            <a:endParaRPr lang="en-US" sz="907" dirty="0"/>
          </a:p>
          <a:p>
            <a:pPr algn="l" indent="0" marL="0">
              <a:lnSpc>
                <a:spcPct val="95000"/>
              </a:lnSpc>
              <a:buNone/>
            </a:pPr>
            <a:r>
              <a:rPr lang="en-US" sz="725" dirty="0">
                <a:solidFill>
                  <a:srgbClr val="55627E"/>
                </a:solidFill>
                <a:latin typeface="Segoe UI" pitchFamily="34" charset="0"/>
                <a:ea typeface="Segoe UI" pitchFamily="34" charset="-122"/>
                <a:cs typeface="Segoe UI" pitchFamily="34" charset="-120"/>
              </a:rPr>
              <a:t>POST /api/solicitudes</a:t>
            </a:r>
            <a:endParaRPr lang="en-US" sz="907" dirty="0"/>
          </a:p>
        </p:txBody>
      </p:sp>
      <p:sp>
        <p:nvSpPr>
          <p:cNvPr id="35" name="Text 33"/>
          <p:cNvSpPr/>
          <p:nvPr/>
        </p:nvSpPr>
        <p:spPr>
          <a:xfrm>
            <a:off x="2988701" y="3525332"/>
            <a:ext cx="182773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SolicitudController</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@PostMapping · 201</a:t>
            </a:r>
            <a:endParaRPr lang="en-US" sz="1079" dirty="0"/>
          </a:p>
        </p:txBody>
      </p:sp>
      <p:sp>
        <p:nvSpPr>
          <p:cNvPr id="36" name="Shape 34"/>
          <p:cNvSpPr/>
          <p:nvPr/>
        </p:nvSpPr>
        <p:spPr>
          <a:xfrm>
            <a:off x="5456141" y="3525332"/>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5547581" y="3662289"/>
            <a:ext cx="420624" cy="420624"/>
          </a:xfrm>
          <a:prstGeom prst="ellipse">
            <a:avLst/>
          </a:prstGeom>
          <a:solidFill>
            <a:srgbClr val="E2E5EA"/>
          </a:solidFill>
          <a:ln w="12700">
            <a:solidFill>
              <a:srgbClr val="E2E5EA"/>
            </a:solidFill>
            <a:prstDash val="solid"/>
          </a:ln>
        </p:spPr>
      </p:sp>
      <p:sp>
        <p:nvSpPr>
          <p:cNvPr id="38" name="Icono settings"/>
          <p:cNvSpPr/>
          <p:nvPr/>
        </p:nvSpPr>
        <p:spPr>
          <a:xfrm>
            <a:off x="5602445" y="3717153"/>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0B2350"/>
            </a:solidFill>
            <a:prstDash val="solid"/>
            <a:round/>
          </a:ln>
        </p:spPr>
      </p:sp>
      <p:sp>
        <p:nvSpPr>
          <p:cNvPr id="39" name="Text 37"/>
          <p:cNvSpPr/>
          <p:nvPr/>
        </p:nvSpPr>
        <p:spPr>
          <a:xfrm>
            <a:off x="6023069" y="3525332"/>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863" b="1" dirty="0">
                <a:solidFill>
                  <a:srgbClr val="0B1A3C"/>
                </a:solidFill>
                <a:latin typeface="Segoe UI" pitchFamily="34" charset="0"/>
                <a:ea typeface="Segoe UI" pitchFamily="34" charset="-122"/>
                <a:cs typeface="Segoe UI" pitchFamily="34" charset="-120"/>
              </a:rPr>
              <a:t>ServicioDeSolicitudes</a:t>
            </a:r>
            <a:endParaRPr lang="en-US" sz="863" dirty="0"/>
          </a:p>
          <a:p>
            <a:pPr algn="l" indent="0" marL="0">
              <a:lnSpc>
                <a:spcPct val="95000"/>
              </a:lnSpc>
              <a:buNone/>
            </a:pPr>
            <a:r>
              <a:rPr lang="en-US" sz="691" dirty="0">
                <a:solidFill>
                  <a:srgbClr val="55627E"/>
                </a:solidFill>
                <a:latin typeface="Segoe UI" pitchFamily="34" charset="0"/>
                <a:ea typeface="Segoe UI" pitchFamily="34" charset="-122"/>
                <a:cs typeface="Segoe UI" pitchFamily="34" charset="-120"/>
              </a:rPr>
              <a:t>crear(id, tipo)</a:t>
            </a:r>
            <a:endParaRPr lang="en-US" sz="863" dirty="0"/>
          </a:p>
        </p:txBody>
      </p:sp>
      <p:sp>
        <p:nvSpPr>
          <p:cNvPr id="40" name="Text 38"/>
          <p:cNvSpPr/>
          <p:nvPr/>
        </p:nvSpPr>
        <p:spPr>
          <a:xfrm>
            <a:off x="8106354" y="352533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RepositorioJpa</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adaptador</a:t>
            </a:r>
            <a:endParaRPr lang="en-US" sz="1079" dirty="0"/>
          </a:p>
        </p:txBody>
      </p:sp>
      <p:sp>
        <p:nvSpPr>
          <p:cNvPr id="41" name="Text 39"/>
          <p:cNvSpPr/>
          <p:nvPr/>
        </p:nvSpPr>
        <p:spPr>
          <a:xfrm>
            <a:off x="10116861" y="3525332"/>
            <a:ext cx="1279413"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PostgreSQL</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tabla solicitud</a:t>
            </a:r>
            <a:endParaRPr lang="en-US" sz="1079" dirty="0"/>
          </a:p>
        </p:txBody>
      </p:sp>
      <p:sp>
        <p:nvSpPr>
          <p:cNvPr id="42" name="Text 40"/>
          <p:cNvSpPr/>
          <p:nvPr/>
        </p:nvSpPr>
        <p:spPr>
          <a:xfrm>
            <a:off x="5456141" y="5170292"/>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36" b="1" dirty="0">
                <a:solidFill>
                  <a:srgbClr val="0B1A3C"/>
                </a:solidFill>
                <a:latin typeface="Segoe UI" pitchFamily="34" charset="0"/>
                <a:ea typeface="Segoe UI" pitchFamily="34" charset="-122"/>
                <a:cs typeface="Segoe UI" pitchFamily="34" charset="-120"/>
              </a:rPr>
              <a:t>ManejadorGlobalDeErrores</a:t>
            </a:r>
            <a:endParaRPr lang="en-US" sz="1036" dirty="0"/>
          </a:p>
          <a:p>
            <a:pPr algn="ctr" indent="0" marL="0">
              <a:buNone/>
            </a:pPr>
            <a:r>
              <a:rPr lang="en-US" sz="829" dirty="0">
                <a:solidFill>
                  <a:srgbClr val="55627E"/>
                </a:solidFill>
                <a:latin typeface="Segoe UI" pitchFamily="34" charset="0"/>
                <a:ea typeface="Segoe UI" pitchFamily="34" charset="-122"/>
                <a:cs typeface="Segoe UI" pitchFamily="34" charset="-120"/>
              </a:rPr>
              <a:t>404 · 409 · 400</a:t>
            </a:r>
            <a:endParaRPr lang="en-US" sz="1036"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47625">
            <a:solidFill>
              <a:srgbClr val="2BA6CB"/>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47625">
            <a:solidFill>
              <a:srgbClr val="2BA6CB"/>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31750">
            <a:solidFill>
              <a:srgbClr val="CBD5E3"/>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31750">
            <a:solidFill>
              <a:srgbClr val="CBD5E3"/>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22860">
            <a:solidFill>
              <a:srgbClr val="CBD5E3"/>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31750">
            <a:solidFill>
              <a:srgbClr val="CBD5E3"/>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31750">
            <a:solidFill>
              <a:srgbClr val="CBD5E3"/>
            </a:solidFill>
            <a:prstDash val="sysDash"/>
          </a:ln>
        </p:spPr>
      </p:sp>
      <p:sp>
        <p:nvSpPr>
          <p:cNvPr id="24" name="Shape 22"/>
          <p:cNvSpPr/>
          <p:nvPr/>
        </p:nvSpPr>
        <p:spPr>
          <a:xfrm flipV="1">
            <a:off x="1888017" y="3410951"/>
            <a:ext cx="0" cy="1219412"/>
          </a:xfrm>
          <a:prstGeom prst="line">
            <a:avLst/>
          </a:prstGeom>
          <a:noFill/>
          <a:ln w="31750">
            <a:solidFill>
              <a:srgbClr val="CBD5E3"/>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74" b="1" dirty="0">
                <a:solidFill>
                  <a:srgbClr val="8A95AB"/>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9AA5B8"/>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envía POST con un cuerpo JSON: id y tipo.</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convierte el JSON en NuevaSolicitud y llama al servicio.</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31750">
            <a:solidFill>
              <a:srgbClr val="2E6DB4"/>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31750">
            <a:solidFill>
              <a:srgbClr val="55627E"/>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31750">
            <a:solidFill>
              <a:srgbClr val="CBD5E3"/>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31750">
            <a:solidFill>
              <a:srgbClr val="CBD5E3"/>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22860">
            <a:solidFill>
              <a:srgbClr val="CBD5E3"/>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31750">
            <a:solidFill>
              <a:srgbClr val="CBD5E3"/>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31750">
            <a:solidFill>
              <a:srgbClr val="CBD5E3"/>
            </a:solidFill>
            <a:prstDash val="sysDash"/>
          </a:ln>
        </p:spPr>
      </p:sp>
      <p:sp>
        <p:nvSpPr>
          <p:cNvPr id="24" name="Shape 22"/>
          <p:cNvSpPr/>
          <p:nvPr/>
        </p:nvSpPr>
        <p:spPr>
          <a:xfrm flipV="1">
            <a:off x="1888017" y="3410951"/>
            <a:ext cx="0" cy="1219412"/>
          </a:xfrm>
          <a:prstGeom prst="line">
            <a:avLst/>
          </a:prstGeom>
          <a:noFill/>
          <a:ln w="31750">
            <a:solidFill>
              <a:srgbClr val="CBD5E3"/>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74" b="1" dirty="0">
                <a:solidFill>
                  <a:srgbClr val="8A95AB"/>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9AA5B8"/>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valida los datos y revisa que el id no exista.</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31750">
            <a:solidFill>
              <a:srgbClr val="2E6DB4"/>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31750">
            <a:solidFill>
              <a:srgbClr val="55627E"/>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47625">
            <a:solidFill>
              <a:srgbClr val="2BA6CB"/>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47625">
            <a:solidFill>
              <a:srgbClr val="2BA6CB"/>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22860">
            <a:solidFill>
              <a:srgbClr val="CBD5E3"/>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31750">
            <a:solidFill>
              <a:srgbClr val="CBD5E3"/>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31750">
            <a:solidFill>
              <a:srgbClr val="CBD5E3"/>
            </a:solidFill>
            <a:prstDash val="sysDash"/>
          </a:ln>
        </p:spPr>
      </p:sp>
      <p:sp>
        <p:nvSpPr>
          <p:cNvPr id="24" name="Shape 22"/>
          <p:cNvSpPr/>
          <p:nvPr/>
        </p:nvSpPr>
        <p:spPr>
          <a:xfrm flipV="1">
            <a:off x="1888017" y="3410951"/>
            <a:ext cx="0" cy="1219412"/>
          </a:xfrm>
          <a:prstGeom prst="line">
            <a:avLst/>
          </a:prstGeom>
          <a:noFill/>
          <a:ln w="31750">
            <a:solidFill>
              <a:srgbClr val="CBD5E3"/>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74" b="1" dirty="0">
                <a:solidFill>
                  <a:srgbClr val="8A95AB"/>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9AA5B8"/>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JPA guarda la fila en PostgreSQL.</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31750">
            <a:solidFill>
              <a:srgbClr val="2E6DB4"/>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31750">
            <a:solidFill>
              <a:srgbClr val="55627E"/>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31750">
            <a:solidFill>
              <a:srgbClr val="55627E"/>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31750">
            <a:solidFill>
              <a:srgbClr val="55627E"/>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38735">
            <a:solidFill>
              <a:srgbClr val="2BA6CB"/>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31750">
            <a:solidFill>
              <a:srgbClr val="CBD5E3"/>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31750">
            <a:solidFill>
              <a:srgbClr val="CBD5E3"/>
            </a:solidFill>
            <a:prstDash val="sysDash"/>
          </a:ln>
        </p:spPr>
      </p:sp>
      <p:sp>
        <p:nvSpPr>
          <p:cNvPr id="24" name="Shape 22"/>
          <p:cNvSpPr/>
          <p:nvPr/>
        </p:nvSpPr>
        <p:spPr>
          <a:xfrm flipV="1">
            <a:off x="1888017" y="3410951"/>
            <a:ext cx="0" cy="1219412"/>
          </a:xfrm>
          <a:prstGeom prst="line">
            <a:avLst/>
          </a:prstGeom>
          <a:noFill/>
          <a:ln w="31750">
            <a:solidFill>
              <a:srgbClr val="CBD5E3"/>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74" b="1" dirty="0">
                <a:solidFill>
                  <a:srgbClr val="8A95AB"/>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9AA5B8"/>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API responde 201 Created con la solicitud en BORRADOR.</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75010" y="2981580"/>
            <a:ext cx="601119" cy="0"/>
          </a:xfrm>
          <a:prstGeom prst="line">
            <a:avLst/>
          </a:prstGeom>
          <a:noFill/>
          <a:ln w="31750">
            <a:solidFill>
              <a:srgbClr val="2E6DB4"/>
            </a:solidFill>
            <a:prstDash val="solid"/>
            <a:tailEnd type="triangle"/>
          </a:ln>
        </p:spPr>
      </p:sp>
      <p:sp>
        <p:nvSpPr>
          <p:cNvPr id="6" name="Text 4"/>
          <p:cNvSpPr/>
          <p:nvPr/>
        </p:nvSpPr>
        <p:spPr>
          <a:xfrm>
            <a:off x="2687203" y="274884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71380" y="28718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3610" y="3084629"/>
            <a:ext cx="601119" cy="0"/>
          </a:xfrm>
          <a:prstGeom prst="line">
            <a:avLst/>
          </a:prstGeom>
          <a:noFill/>
          <a:ln w="31750">
            <a:solidFill>
              <a:srgbClr val="55627E"/>
            </a:solidFill>
            <a:prstDash val="sysDot"/>
            <a:tailEnd type="triangle"/>
          </a:ln>
        </p:spPr>
      </p:sp>
      <p:sp>
        <p:nvSpPr>
          <p:cNvPr id="9" name="Text 7"/>
          <p:cNvSpPr/>
          <p:nvPr/>
        </p:nvSpPr>
        <p:spPr>
          <a:xfrm>
            <a:off x="4974714" y="2851894"/>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89980"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83959" y="3084629"/>
            <a:ext cx="601119" cy="0"/>
          </a:xfrm>
          <a:prstGeom prst="line">
            <a:avLst/>
          </a:prstGeom>
          <a:noFill/>
          <a:ln w="31750">
            <a:solidFill>
              <a:srgbClr val="55627E"/>
            </a:solidFill>
            <a:prstDash val="sysDot"/>
            <a:tailEnd type="triangle"/>
          </a:ln>
        </p:spPr>
      </p:sp>
      <p:sp>
        <p:nvSpPr>
          <p:cNvPr id="12" name="Text 10"/>
          <p:cNvSpPr/>
          <p:nvPr/>
        </p:nvSpPr>
        <p:spPr>
          <a:xfrm>
            <a:off x="7402883" y="285189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80329"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44937" y="3084629"/>
            <a:ext cx="429370" cy="0"/>
          </a:xfrm>
          <a:prstGeom prst="line">
            <a:avLst/>
          </a:prstGeom>
          <a:noFill/>
          <a:ln w="31750">
            <a:solidFill>
              <a:srgbClr val="55627E"/>
            </a:solidFill>
            <a:prstDash val="sysDot"/>
            <a:tailEnd type="triangle"/>
          </a:ln>
        </p:spPr>
      </p:sp>
      <p:sp>
        <p:nvSpPr>
          <p:cNvPr id="15" name="Text 13"/>
          <p:cNvSpPr/>
          <p:nvPr/>
        </p:nvSpPr>
        <p:spPr>
          <a:xfrm>
            <a:off x="9409077" y="2851894"/>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41307" y="29749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75010" y="3187678"/>
            <a:ext cx="601119" cy="0"/>
          </a:xfrm>
          <a:prstGeom prst="line">
            <a:avLst/>
          </a:prstGeom>
          <a:noFill/>
          <a:ln w="22860">
            <a:solidFill>
              <a:srgbClr val="0B6E8A"/>
            </a:solidFill>
            <a:prstDash val="solid"/>
            <a:tailEnd type="arrow"/>
          </a:ln>
        </p:spPr>
      </p:sp>
      <p:sp>
        <p:nvSpPr>
          <p:cNvPr id="18" name="Text 16"/>
          <p:cNvSpPr/>
          <p:nvPr/>
        </p:nvSpPr>
        <p:spPr>
          <a:xfrm>
            <a:off x="2718293" y="3195391"/>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60303" y="3077950"/>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9344" y="3410951"/>
            <a:ext cx="0" cy="893091"/>
          </a:xfrm>
          <a:prstGeom prst="line">
            <a:avLst/>
          </a:prstGeom>
          <a:noFill/>
          <a:ln w="47625">
            <a:solidFill>
              <a:srgbClr val="2BA6CB"/>
            </a:solidFill>
            <a:prstDash val="sysDash"/>
            <a:tailEnd type="triangle"/>
          </a:ln>
        </p:spPr>
      </p:sp>
      <p:sp>
        <p:nvSpPr>
          <p:cNvPr id="21" name="Text 19"/>
          <p:cNvSpPr/>
          <p:nvPr/>
        </p:nvSpPr>
        <p:spPr>
          <a:xfrm>
            <a:off x="6525218" y="3736397"/>
            <a:ext cx="687629"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9616" y="350732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888017" y="4630363"/>
            <a:ext cx="3606712" cy="0"/>
          </a:xfrm>
          <a:prstGeom prst="line">
            <a:avLst/>
          </a:prstGeom>
          <a:noFill/>
          <a:ln w="47625">
            <a:solidFill>
              <a:srgbClr val="2BA6CB"/>
            </a:solidFill>
            <a:prstDash val="sysDash"/>
          </a:ln>
        </p:spPr>
      </p:sp>
      <p:sp>
        <p:nvSpPr>
          <p:cNvPr id="24" name="Shape 22"/>
          <p:cNvSpPr/>
          <p:nvPr/>
        </p:nvSpPr>
        <p:spPr>
          <a:xfrm flipV="1">
            <a:off x="1888017" y="3410951"/>
            <a:ext cx="0" cy="1219412"/>
          </a:xfrm>
          <a:prstGeom prst="line">
            <a:avLst/>
          </a:prstGeom>
          <a:noFill/>
          <a:ln w="47625">
            <a:solidFill>
              <a:srgbClr val="2BA6CB"/>
            </a:solidFill>
            <a:prstDash val="sysDash"/>
            <a:tailEnd type="triangle"/>
          </a:ln>
        </p:spPr>
      </p:sp>
      <p:sp>
        <p:nvSpPr>
          <p:cNvPr id="25" name="Text 23"/>
          <p:cNvSpPr/>
          <p:nvPr/>
        </p:nvSpPr>
        <p:spPr>
          <a:xfrm>
            <a:off x="3223200" y="4638075"/>
            <a:ext cx="93634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78903" y="452063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01025" y="2758307"/>
            <a:ext cx="1373985"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 /api/solicitudes</a:t>
            </a:r>
            <a:endParaRPr lang="en-US" sz="1014" dirty="0"/>
          </a:p>
        </p:txBody>
      </p:sp>
      <p:sp>
        <p:nvSpPr>
          <p:cNvPr id="28" name="Text 26"/>
          <p:cNvSpPr/>
          <p:nvPr/>
        </p:nvSpPr>
        <p:spPr>
          <a:xfrm>
            <a:off x="3176129" y="2758307"/>
            <a:ext cx="1717482"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@PostMapping · 201</a:t>
            </a:r>
            <a:endParaRPr lang="en-US" sz="1014" dirty="0"/>
          </a:p>
        </p:txBody>
      </p:sp>
      <p:sp>
        <p:nvSpPr>
          <p:cNvPr id="29" name="Text 27"/>
          <p:cNvSpPr/>
          <p:nvPr/>
        </p:nvSpPr>
        <p:spPr>
          <a:xfrm>
            <a:off x="5494729" y="2758307"/>
            <a:ext cx="1889230"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ServicioDeSolicitudes</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crear(id, tipo)</a:t>
            </a:r>
            <a:endParaRPr lang="en-US" sz="1014" dirty="0"/>
          </a:p>
        </p:txBody>
      </p:sp>
      <p:sp>
        <p:nvSpPr>
          <p:cNvPr id="30" name="Text 28"/>
          <p:cNvSpPr/>
          <p:nvPr/>
        </p:nvSpPr>
        <p:spPr>
          <a:xfrm>
            <a:off x="7985078" y="2758307"/>
            <a:ext cx="1459859"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a:t>
            </a:r>
            <a:endParaRPr lang="en-US" sz="1014" dirty="0"/>
          </a:p>
        </p:txBody>
      </p:sp>
      <p:sp>
        <p:nvSpPr>
          <p:cNvPr id="31" name="Text 29"/>
          <p:cNvSpPr/>
          <p:nvPr/>
        </p:nvSpPr>
        <p:spPr>
          <a:xfrm>
            <a:off x="9874307" y="2758307"/>
            <a:ext cx="1202237" cy="652643"/>
          </a:xfrm>
          <a:prstGeom prst="roundRect">
            <a:avLst>
              <a:gd name="adj" fmla="val 1261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tabla solicitud</a:t>
            </a:r>
            <a:endParaRPr lang="en-US" sz="1014" dirty="0"/>
          </a:p>
        </p:txBody>
      </p:sp>
      <p:sp>
        <p:nvSpPr>
          <p:cNvPr id="32" name="Text 30"/>
          <p:cNvSpPr/>
          <p:nvPr/>
        </p:nvSpPr>
        <p:spPr>
          <a:xfrm>
            <a:off x="5494729" y="4304041"/>
            <a:ext cx="1889230"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ManejadorGlobalDeErrores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404 · 409 · 400</a:t>
            </a:r>
            <a:endParaRPr lang="en-US" sz="974" dirty="0"/>
          </a:p>
        </p:txBody>
      </p:sp>
      <p:sp>
        <p:nvSpPr>
          <p:cNvPr id="33" name="Shape 3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5" name="Text 3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el id ya existe, el manejador global de errores responde 409 con un mensaje claro.</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regla vive en el dominio</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La regla del negocio está en un solo lugar.</a:t>
            </a:r>
            <a:endParaRPr lang="en-US" sz="3200" dirty="0"/>
          </a:p>
        </p:txBody>
      </p:sp>
      <p:sp>
        <p:nvSpPr>
          <p:cNvPr id="7" name="Icono file-code"/>
          <p:cNvSpPr/>
          <p:nvPr/>
        </p:nvSpPr>
        <p:spPr>
          <a:xfrm>
            <a:off x="628192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8" name="Text 6"/>
          <p:cNvSpPr/>
          <p:nvPr/>
        </p:nvSpPr>
        <p:spPr>
          <a:xfrm>
            <a:off x="6556248" y="1371600"/>
            <a:ext cx="50227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servicio-solicitudes/…/dominio/Solicitud.java</a:t>
            </a:r>
            <a:endParaRPr lang="en-US" sz="900" dirty="0"/>
          </a:p>
        </p:txBody>
      </p:sp>
      <p:sp>
        <p:nvSpPr>
          <p:cNvPr id="9" name="Text 7"/>
          <p:cNvSpPr/>
          <p:nvPr/>
        </p:nvSpPr>
        <p:spPr>
          <a:xfrm>
            <a:off x="6281928" y="1645920"/>
            <a:ext cx="5297119" cy="4096512"/>
          </a:xfrm>
          <a:prstGeom prst="roundRect">
            <a:avLst>
              <a:gd name="adj" fmla="val 2232"/>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estado)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enviar()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F2C66D"/>
                </a:solidFill>
                <a:latin typeface="Consolas" pitchFamily="34" charset="0"/>
                <a:ea typeface="Consolas" pitchFamily="34" charset="-122"/>
                <a:cs typeface="Consolas" pitchFamily="34" charset="-120"/>
              </a:rPr>
              <a:t>"solo se puede enviar una solicitud en BORRADOR"</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95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    }</a:t>
            </a:r>
            <a:endParaRPr lang="en-US" sz="950" dirty="0"/>
          </a:p>
          <a:p>
            <a:pPr indent="0" marL="0">
              <a:lnSpc>
                <a:spcPct val="110000"/>
              </a:lnSpc>
              <a:buNone/>
            </a:pPr>
            <a:r>
              <a:rPr lang="en-US" sz="950" dirty="0">
                <a:solidFill>
                  <a:srgbClr val="E8EDF8"/>
                </a:solidFill>
                <a:latin typeface="Consolas" pitchFamily="34" charset="0"/>
                <a:ea typeface="Consolas" pitchFamily="34" charset="-122"/>
                <a:cs typeface="Consolas" pitchFamily="34" charset="-120"/>
              </a:rPr>
              <a:t>}</a:t>
            </a:r>
            <a:endParaRPr lang="en-US" sz="950" dirty="0"/>
          </a:p>
        </p:txBody>
      </p:sp>
      <p:sp>
        <p:nvSpPr>
          <p:cNvPr id="10" name="Shape 8"/>
          <p:cNvSpPr/>
          <p:nvPr/>
        </p:nvSpPr>
        <p:spPr>
          <a:xfrm>
            <a:off x="0" y="5961888"/>
            <a:ext cx="12191695" cy="475488"/>
          </a:xfrm>
          <a:prstGeom prst="rect">
            <a:avLst/>
          </a:prstGeom>
          <a:solidFill>
            <a:srgbClr val="0B2350"/>
          </a:solidFill>
          <a:ln w="12700">
            <a:solidFill>
              <a:srgbClr val="0B2350"/>
            </a:solidFill>
            <a:prstDash val="solid"/>
          </a:ln>
        </p:spPr>
      </p:sp>
      <p:sp>
        <p:nvSpPr>
          <p:cNvPr id="1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12" name="Text 10"/>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mañana cambia la regla, se cambia en un solo archivo y las pruebas lo confirman.</a:t>
            </a:r>
            <a:endParaRPr lang="en-US" sz="1400" dirty="0"/>
          </a:p>
        </p:txBody>
      </p:sp>
      <p:sp>
        <p:nvSpPr>
          <p:cNvPr id="13" name="Text 1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Manejo global de errores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solo lugar convierte los errores en respuestas claras.</a:t>
            </a:r>
            <a:endParaRPr lang="en-US" sz="1700" dirty="0"/>
          </a:p>
        </p:txBody>
      </p:sp>
      <p:sp>
        <p:nvSpPr>
          <p:cNvPr id="6" name="Shape 4"/>
          <p:cNvSpPr/>
          <p:nvPr/>
        </p:nvSpPr>
        <p:spPr>
          <a:xfrm>
            <a:off x="612648"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2320976" cy="64008"/>
          </a:xfrm>
          <a:prstGeom prst="rect">
            <a:avLst/>
          </a:prstGeom>
          <a:solidFill>
            <a:srgbClr val="0A6648"/>
          </a:solidFill>
          <a:ln w="12700">
            <a:solidFill>
              <a:srgbClr val="0A6648"/>
            </a:solidFill>
            <a:prstDash val="solid"/>
          </a:ln>
        </p:spPr>
      </p:sp>
      <p:sp>
        <p:nvSpPr>
          <p:cNvPr id="8" name="Shape 6"/>
          <p:cNvSpPr/>
          <p:nvPr/>
        </p:nvSpPr>
        <p:spPr>
          <a:xfrm>
            <a:off x="2403272" y="1956816"/>
            <a:ext cx="566928" cy="566928"/>
          </a:xfrm>
          <a:prstGeom prst="ellipse">
            <a:avLst/>
          </a:prstGeom>
          <a:solidFill>
            <a:srgbClr val="E1F1EA"/>
          </a:solidFill>
          <a:ln w="12700">
            <a:solidFill>
              <a:srgbClr val="E1F1EA"/>
            </a:solidFill>
            <a:prstDash val="solid"/>
          </a:ln>
        </p:spPr>
      </p:sp>
      <p:sp>
        <p:nvSpPr>
          <p:cNvPr id="9" name="Icono circle-check"/>
          <p:cNvSpPr/>
          <p:nvPr/>
        </p:nvSpPr>
        <p:spPr>
          <a:xfrm>
            <a:off x="2539335"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10551" y="147401"/>
                </a:moveTo>
                <a:lnTo>
                  <a:pt x="135118" y="171968"/>
                </a:lnTo>
                <a:lnTo>
                  <a:pt x="184252" y="122834"/>
                </a:lnTo>
              </a:path>
            </a:pathLst>
          </a:custGeom>
          <a:noFill/>
          <a:ln w="24567" cap="rnd">
            <a:solidFill>
              <a:srgbClr val="0A6648"/>
            </a:solidFill>
            <a:prstDash val="solid"/>
            <a:round/>
          </a:ln>
        </p:spPr>
      </p:sp>
      <p:sp>
        <p:nvSpPr>
          <p:cNvPr id="10" name="Text 8"/>
          <p:cNvSpPr/>
          <p:nvPr/>
        </p:nvSpPr>
        <p:spPr>
          <a:xfrm>
            <a:off x="868680"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201</a:t>
            </a:r>
            <a:endParaRPr lang="en-US" sz="5600" dirty="0"/>
          </a:p>
        </p:txBody>
      </p:sp>
      <p:sp>
        <p:nvSpPr>
          <p:cNvPr id="11" name="Text 9"/>
          <p:cNvSpPr/>
          <p:nvPr/>
        </p:nvSpPr>
        <p:spPr>
          <a:xfrm>
            <a:off x="868680"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Creada</a:t>
            </a:r>
            <a:endParaRPr lang="en-US" sz="1500" dirty="0"/>
          </a:p>
        </p:txBody>
      </p:sp>
      <p:sp>
        <p:nvSpPr>
          <p:cNvPr id="12" name="Text 10"/>
          <p:cNvSpPr/>
          <p:nvPr/>
        </p:nvSpPr>
        <p:spPr>
          <a:xfrm>
            <a:off x="868680"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Todo salió bien: la solicitud quedó en BORRADOR.</a:t>
            </a:r>
            <a:endParaRPr lang="en-US" sz="1200" dirty="0"/>
          </a:p>
        </p:txBody>
      </p:sp>
      <p:sp>
        <p:nvSpPr>
          <p:cNvPr id="13" name="Shape 11"/>
          <p:cNvSpPr/>
          <p:nvPr/>
        </p:nvSpPr>
        <p:spPr>
          <a:xfrm>
            <a:off x="3409112"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3537128" y="1719072"/>
            <a:ext cx="2320976" cy="64008"/>
          </a:xfrm>
          <a:prstGeom prst="rect">
            <a:avLst/>
          </a:prstGeom>
          <a:solidFill>
            <a:srgbClr val="8A4B06"/>
          </a:solidFill>
          <a:ln w="12700">
            <a:solidFill>
              <a:srgbClr val="8A4B06"/>
            </a:solidFill>
            <a:prstDash val="solid"/>
          </a:ln>
        </p:spPr>
      </p:sp>
      <p:sp>
        <p:nvSpPr>
          <p:cNvPr id="15" name="Shape 13"/>
          <p:cNvSpPr/>
          <p:nvPr/>
        </p:nvSpPr>
        <p:spPr>
          <a:xfrm>
            <a:off x="5199736" y="1956816"/>
            <a:ext cx="566928" cy="566928"/>
          </a:xfrm>
          <a:prstGeom prst="ellipse">
            <a:avLst/>
          </a:prstGeom>
          <a:solidFill>
            <a:srgbClr val="FCEFD6"/>
          </a:solidFill>
          <a:ln w="12700">
            <a:solidFill>
              <a:srgbClr val="FCEFD6"/>
            </a:solidFill>
            <a:prstDash val="solid"/>
          </a:ln>
        </p:spPr>
      </p:sp>
      <p:sp>
        <p:nvSpPr>
          <p:cNvPr id="16" name="Icono triangle-alert"/>
          <p:cNvSpPr/>
          <p:nvPr/>
        </p:nvSpPr>
        <p:spPr>
          <a:xfrm>
            <a:off x="5335798" y="2092879"/>
            <a:ext cx="294803" cy="294803"/>
          </a:xfrm>
          <a:custGeom>
            <a:avLst/>
            <a:gdLst/>
            <a:ahLst/>
            <a:cxnLst/>
            <a:rect l="l" t="t" r="r" b="b"/>
            <a:pathLst>
              <a:path w="294803" h="294803">
                <a:moveTo>
                  <a:pt x="266919" y="221102"/>
                </a:moveTo>
                <a:lnTo>
                  <a:pt x="168652" y="49134"/>
                </a:lnTo>
                <a:cubicBezTo>
                  <a:pt x="164290" y="41437"/>
                  <a:pt x="156126" y="36680"/>
                  <a:pt x="147278" y="36680"/>
                </a:cubicBezTo>
                <a:cubicBezTo>
                  <a:pt x="138431" y="36680"/>
                  <a:pt x="130267" y="41437"/>
                  <a:pt x="125905" y="49134"/>
                </a:cubicBezTo>
                <a:lnTo>
                  <a:pt x="27638" y="221102"/>
                </a:lnTo>
                <a:cubicBezTo>
                  <a:pt x="23229" y="228737"/>
                  <a:pt x="23250" y="238149"/>
                  <a:pt x="27692" y="245765"/>
                </a:cubicBezTo>
                <a:cubicBezTo>
                  <a:pt x="32135" y="253380"/>
                  <a:pt x="40318" y="258032"/>
                  <a:pt x="49134" y="257952"/>
                </a:cubicBezTo>
                <a:lnTo>
                  <a:pt x="245669" y="257952"/>
                </a:lnTo>
                <a:cubicBezTo>
                  <a:pt x="254441" y="257943"/>
                  <a:pt x="262543" y="253257"/>
                  <a:pt x="266925" y="245658"/>
                </a:cubicBezTo>
                <a:cubicBezTo>
                  <a:pt x="271308" y="238059"/>
                  <a:pt x="271305" y="228699"/>
                  <a:pt x="266919" y="221102"/>
                </a:cubicBezTo>
                <a:moveTo>
                  <a:pt x="147401" y="110551"/>
                </a:moveTo>
                <a:lnTo>
                  <a:pt x="147401" y="159685"/>
                </a:lnTo>
                <a:moveTo>
                  <a:pt x="147401" y="208818"/>
                </a:moveTo>
                <a:lnTo>
                  <a:pt x="147524" y="208818"/>
                </a:lnTo>
              </a:path>
            </a:pathLst>
          </a:custGeom>
          <a:noFill/>
          <a:ln w="24567" cap="rnd">
            <a:solidFill>
              <a:srgbClr val="8A4B06"/>
            </a:solidFill>
            <a:prstDash val="solid"/>
            <a:round/>
          </a:ln>
        </p:spPr>
      </p:sp>
      <p:sp>
        <p:nvSpPr>
          <p:cNvPr id="17" name="Text 15"/>
          <p:cNvSpPr/>
          <p:nvPr/>
        </p:nvSpPr>
        <p:spPr>
          <a:xfrm>
            <a:off x="3665144"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8A4B06"/>
                </a:solidFill>
                <a:latin typeface="Segoe UI Semibold" pitchFamily="34" charset="0"/>
                <a:ea typeface="Segoe UI Semibold" pitchFamily="34" charset="-122"/>
                <a:cs typeface="Segoe UI Semibold" pitchFamily="34" charset="-120"/>
              </a:rPr>
              <a:t>400</a:t>
            </a:r>
            <a:endParaRPr lang="en-US" sz="5600" dirty="0"/>
          </a:p>
        </p:txBody>
      </p:sp>
      <p:sp>
        <p:nvSpPr>
          <p:cNvPr id="18" name="Text 16"/>
          <p:cNvSpPr/>
          <p:nvPr/>
        </p:nvSpPr>
        <p:spPr>
          <a:xfrm>
            <a:off x="3665144"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Faltan datos</a:t>
            </a:r>
            <a:endParaRPr lang="en-US" sz="1500" dirty="0"/>
          </a:p>
        </p:txBody>
      </p:sp>
      <p:sp>
        <p:nvSpPr>
          <p:cNvPr id="19" name="Text 17"/>
          <p:cNvSpPr/>
          <p:nvPr/>
        </p:nvSpPr>
        <p:spPr>
          <a:xfrm>
            <a:off x="3665144"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o el tipo vienen vacíos.</a:t>
            </a:r>
            <a:endParaRPr lang="en-US" sz="1200" dirty="0"/>
          </a:p>
        </p:txBody>
      </p:sp>
      <p:sp>
        <p:nvSpPr>
          <p:cNvPr id="20" name="Shape 18"/>
          <p:cNvSpPr/>
          <p:nvPr/>
        </p:nvSpPr>
        <p:spPr>
          <a:xfrm>
            <a:off x="6205576"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333592" y="1719072"/>
            <a:ext cx="2320976" cy="64008"/>
          </a:xfrm>
          <a:prstGeom prst="rect">
            <a:avLst/>
          </a:prstGeom>
          <a:solidFill>
            <a:srgbClr val="55627E"/>
          </a:solidFill>
          <a:ln w="12700">
            <a:solidFill>
              <a:srgbClr val="55627E"/>
            </a:solidFill>
            <a:prstDash val="solid"/>
          </a:ln>
        </p:spPr>
      </p:sp>
      <p:sp>
        <p:nvSpPr>
          <p:cNvPr id="22" name="Shape 20"/>
          <p:cNvSpPr/>
          <p:nvPr/>
        </p:nvSpPr>
        <p:spPr>
          <a:xfrm>
            <a:off x="7996199" y="1956816"/>
            <a:ext cx="566928" cy="566928"/>
          </a:xfrm>
          <a:prstGeom prst="ellipse">
            <a:avLst/>
          </a:prstGeom>
          <a:solidFill>
            <a:srgbClr val="F4F7FB"/>
          </a:solidFill>
          <a:ln w="12700">
            <a:solidFill>
              <a:srgbClr val="F4F7FB"/>
            </a:solidFill>
            <a:prstDash val="solid"/>
          </a:ln>
        </p:spPr>
      </p:sp>
      <p:sp>
        <p:nvSpPr>
          <p:cNvPr id="23" name="Icono search"/>
          <p:cNvSpPr/>
          <p:nvPr/>
        </p:nvSpPr>
        <p:spPr>
          <a:xfrm>
            <a:off x="8132262" y="2092879"/>
            <a:ext cx="294803" cy="294803"/>
          </a:xfrm>
          <a:custGeom>
            <a:avLst/>
            <a:gdLst/>
            <a:ahLst/>
            <a:cxnLst/>
            <a:rect l="l" t="t" r="r" b="b"/>
            <a:pathLst>
              <a:path w="294803" h="294803">
                <a:moveTo>
                  <a:pt x="233385" y="135118"/>
                </a:moveTo>
                <a:cubicBezTo>
                  <a:pt x="233385" y="189389"/>
                  <a:pt x="189389" y="233385"/>
                  <a:pt x="135118" y="233385"/>
                </a:cubicBezTo>
                <a:cubicBezTo>
                  <a:pt x="80846" y="233385"/>
                  <a:pt x="36850" y="189389"/>
                  <a:pt x="36850" y="135118"/>
                </a:cubicBezTo>
                <a:cubicBezTo>
                  <a:pt x="36850" y="80846"/>
                  <a:pt x="80846" y="36850"/>
                  <a:pt x="135118" y="36850"/>
                </a:cubicBezTo>
                <a:cubicBezTo>
                  <a:pt x="189389" y="36850"/>
                  <a:pt x="233385" y="80846"/>
                  <a:pt x="233385" y="135118"/>
                </a:cubicBezTo>
                <a:close/>
                <a:moveTo>
                  <a:pt x="257952" y="257952"/>
                </a:moveTo>
                <a:lnTo>
                  <a:pt x="205133" y="205133"/>
                </a:lnTo>
              </a:path>
            </a:pathLst>
          </a:custGeom>
          <a:noFill/>
          <a:ln w="24567" cap="rnd">
            <a:solidFill>
              <a:srgbClr val="55627E"/>
            </a:solidFill>
            <a:prstDash val="solid"/>
            <a:round/>
          </a:ln>
        </p:spPr>
      </p:sp>
      <p:sp>
        <p:nvSpPr>
          <p:cNvPr id="24" name="Text 22"/>
          <p:cNvSpPr/>
          <p:nvPr/>
        </p:nvSpPr>
        <p:spPr>
          <a:xfrm>
            <a:off x="6461608"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55627E"/>
                </a:solidFill>
                <a:latin typeface="Segoe UI Semibold" pitchFamily="34" charset="0"/>
                <a:ea typeface="Segoe UI Semibold" pitchFamily="34" charset="-122"/>
                <a:cs typeface="Segoe UI Semibold" pitchFamily="34" charset="-120"/>
              </a:rPr>
              <a:t>404</a:t>
            </a:r>
            <a:endParaRPr lang="en-US" sz="5600" dirty="0"/>
          </a:p>
        </p:txBody>
      </p:sp>
      <p:sp>
        <p:nvSpPr>
          <p:cNvPr id="25" name="Text 23"/>
          <p:cNvSpPr/>
          <p:nvPr/>
        </p:nvSpPr>
        <p:spPr>
          <a:xfrm>
            <a:off x="6461608"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No existe</a:t>
            </a:r>
            <a:endParaRPr lang="en-US" sz="1500" dirty="0"/>
          </a:p>
        </p:txBody>
      </p:sp>
      <p:sp>
        <p:nvSpPr>
          <p:cNvPr id="26" name="Text 24"/>
          <p:cNvSpPr/>
          <p:nvPr/>
        </p:nvSpPr>
        <p:spPr>
          <a:xfrm>
            <a:off x="6461608"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No hay ninguna solicitud con ese identificador.</a:t>
            </a:r>
            <a:endParaRPr lang="en-US" sz="1200" dirty="0"/>
          </a:p>
        </p:txBody>
      </p:sp>
      <p:sp>
        <p:nvSpPr>
          <p:cNvPr id="27" name="Shape 25"/>
          <p:cNvSpPr/>
          <p:nvPr/>
        </p:nvSpPr>
        <p:spPr>
          <a:xfrm>
            <a:off x="9002039" y="1719072"/>
            <a:ext cx="2577008" cy="411480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9130055" y="1719072"/>
            <a:ext cx="2320976" cy="64008"/>
          </a:xfrm>
          <a:prstGeom prst="rect">
            <a:avLst/>
          </a:prstGeom>
          <a:solidFill>
            <a:srgbClr val="AB243E"/>
          </a:solidFill>
          <a:ln w="12700">
            <a:solidFill>
              <a:srgbClr val="AB243E"/>
            </a:solidFill>
            <a:prstDash val="solid"/>
          </a:ln>
        </p:spPr>
      </p:sp>
      <p:sp>
        <p:nvSpPr>
          <p:cNvPr id="29" name="Shape 27"/>
          <p:cNvSpPr/>
          <p:nvPr/>
        </p:nvSpPr>
        <p:spPr>
          <a:xfrm>
            <a:off x="10792663" y="1956816"/>
            <a:ext cx="566928" cy="566928"/>
          </a:xfrm>
          <a:prstGeom prst="ellipse">
            <a:avLst/>
          </a:prstGeom>
          <a:solidFill>
            <a:srgbClr val="F7E3E7"/>
          </a:solidFill>
          <a:ln w="12700">
            <a:solidFill>
              <a:srgbClr val="F7E3E7"/>
            </a:solidFill>
            <a:prstDash val="solid"/>
          </a:ln>
        </p:spPr>
      </p:sp>
      <p:sp>
        <p:nvSpPr>
          <p:cNvPr id="30" name="Icono ban"/>
          <p:cNvSpPr/>
          <p:nvPr/>
        </p:nvSpPr>
        <p:spPr>
          <a:xfrm>
            <a:off x="10928726" y="2092879"/>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1" name="Text 29"/>
          <p:cNvSpPr/>
          <p:nvPr/>
        </p:nvSpPr>
        <p:spPr>
          <a:xfrm>
            <a:off x="9258071" y="1901952"/>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409</a:t>
            </a:r>
            <a:endParaRPr lang="en-US" sz="5600" dirty="0"/>
          </a:p>
        </p:txBody>
      </p:sp>
      <p:sp>
        <p:nvSpPr>
          <p:cNvPr id="32" name="Text 30"/>
          <p:cNvSpPr/>
          <p:nvPr/>
        </p:nvSpPr>
        <p:spPr>
          <a:xfrm>
            <a:off x="9258071" y="2755392"/>
            <a:ext cx="2119808"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Conflicto</a:t>
            </a:r>
            <a:endParaRPr lang="en-US" sz="1500" dirty="0"/>
          </a:p>
        </p:txBody>
      </p:sp>
      <p:sp>
        <p:nvSpPr>
          <p:cNvPr id="33" name="Text 31"/>
          <p:cNvSpPr/>
          <p:nvPr/>
        </p:nvSpPr>
        <p:spPr>
          <a:xfrm>
            <a:off x="9258071" y="3139440"/>
            <a:ext cx="2119808" cy="262128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identificador ya existe o el cambio no se permite.</a:t>
            </a:r>
            <a:endParaRPr lang="en-US" sz="1200" dirty="0"/>
          </a:p>
        </p:txBody>
      </p:sp>
      <p:sp>
        <p:nvSpPr>
          <p:cNvPr id="34" name="Shape 32"/>
          <p:cNvSpPr/>
          <p:nvPr/>
        </p:nvSpPr>
        <p:spPr>
          <a:xfrm>
            <a:off x="0" y="5961888"/>
            <a:ext cx="12191695" cy="475488"/>
          </a:xfrm>
          <a:prstGeom prst="rect">
            <a:avLst/>
          </a:prstGeom>
          <a:solidFill>
            <a:srgbClr val="0B2350"/>
          </a:solidFill>
          <a:ln w="12700">
            <a:solidFill>
              <a:srgbClr val="0B2350"/>
            </a:solidFill>
            <a:prstDash val="solid"/>
          </a:ln>
        </p:spPr>
      </p:sp>
      <p:sp>
        <p:nvSpPr>
          <p:cNvPr id="3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6" name="Text 3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La interfaz puede mostrarle a la persona exactamente qué pasó.</a:t>
            </a:r>
            <a:endParaRPr lang="en-US" sz="14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Manejo global de errores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servicio-solicitudes/…/adaptadores/entrada/ManejadorGlobalDeErrores.java</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@RestControllerAdvice</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ManejadorGlobalDeErrores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@ExceptionHandler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&gt; transicionNoPermitida(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ResponseEntity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.status(</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HttpStatus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CONFLICT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.body(</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ErrorRespuesta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409</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ex.getMessage()));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Documentar con Swagger</a:t>
            </a:r>
            <a:endParaRPr lang="en-US" sz="2800" dirty="0"/>
          </a:p>
        </p:txBody>
      </p:sp>
      <p:sp>
        <p:nvSpPr>
          <p:cNvPr id="5" name="Shape 3"/>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6" name="Shape 4"/>
          <p:cNvSpPr/>
          <p:nvPr/>
        </p:nvSpPr>
        <p:spPr>
          <a:xfrm>
            <a:off x="5020056" y="1446290"/>
            <a:ext cx="79358" cy="79358"/>
          </a:xfrm>
          <a:prstGeom prst="ellipse">
            <a:avLst/>
          </a:prstGeom>
          <a:solidFill>
            <a:srgbClr val="E5484D"/>
          </a:solidFill>
          <a:ln w="12700">
            <a:solidFill>
              <a:srgbClr val="E5484D"/>
            </a:solidFill>
            <a:prstDash val="solid"/>
          </a:ln>
        </p:spPr>
      </p:sp>
      <p:sp>
        <p:nvSpPr>
          <p:cNvPr id="7" name="Shape 5"/>
          <p:cNvSpPr/>
          <p:nvPr/>
        </p:nvSpPr>
        <p:spPr>
          <a:xfrm>
            <a:off x="5125088" y="1446290"/>
            <a:ext cx="79358" cy="79358"/>
          </a:xfrm>
          <a:prstGeom prst="ellipse">
            <a:avLst/>
          </a:prstGeom>
          <a:solidFill>
            <a:srgbClr val="F5A524"/>
          </a:solidFill>
          <a:ln w="12700">
            <a:solidFill>
              <a:srgbClr val="F5A524"/>
            </a:solidFill>
            <a:prstDash val="solid"/>
          </a:ln>
        </p:spPr>
      </p:sp>
      <p:sp>
        <p:nvSpPr>
          <p:cNvPr id="8" name="Shape 6"/>
          <p:cNvSpPr/>
          <p:nvPr/>
        </p:nvSpPr>
        <p:spPr>
          <a:xfrm>
            <a:off x="5230121" y="1446290"/>
            <a:ext cx="79358" cy="79358"/>
          </a:xfrm>
          <a:prstGeom prst="ellipse">
            <a:avLst/>
          </a:prstGeom>
          <a:solidFill>
            <a:srgbClr val="30A46C"/>
          </a:solidFill>
          <a:ln w="12700">
            <a:solidFill>
              <a:srgbClr val="30A46C"/>
            </a:solidFill>
            <a:prstDash val="solid"/>
          </a:ln>
        </p:spPr>
      </p:sp>
      <p:sp>
        <p:nvSpPr>
          <p:cNvPr id="9" name="Text 7"/>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0"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1" name="Shape 8"/>
          <p:cNvSpPr/>
          <p:nvPr/>
        </p:nvSpPr>
        <p:spPr>
          <a:xfrm>
            <a:off x="612648" y="1426464"/>
            <a:ext cx="73152" cy="822960"/>
          </a:xfrm>
          <a:prstGeom prst="rect">
            <a:avLst/>
          </a:prstGeom>
          <a:solidFill>
            <a:srgbClr val="2BA6CB"/>
          </a:solidFill>
          <a:ln w="12700">
            <a:solidFill>
              <a:srgbClr val="2BA6CB"/>
            </a:solidFill>
            <a:prstDash val="solid"/>
          </a:ln>
        </p:spPr>
      </p:sp>
      <p:sp>
        <p:nvSpPr>
          <p:cNvPr id="12" name="Text 9"/>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sale del mismo código.</a:t>
            </a:r>
            <a:endParaRPr lang="en-US" sz="2400" dirty="0"/>
          </a:p>
        </p:txBody>
      </p:sp>
      <p:sp>
        <p:nvSpPr>
          <p:cNvPr id="13" name="Shape 10"/>
          <p:cNvSpPr/>
          <p:nvPr/>
        </p:nvSpPr>
        <p:spPr>
          <a:xfrm>
            <a:off x="612648" y="2778633"/>
            <a:ext cx="420624" cy="420624"/>
          </a:xfrm>
          <a:prstGeom prst="ellipse">
            <a:avLst/>
          </a:prstGeom>
          <a:solidFill>
            <a:srgbClr val="E3F4FA"/>
          </a:solidFill>
          <a:ln w="12700">
            <a:solidFill>
              <a:srgbClr val="E3F4FA"/>
            </a:solidFill>
            <a:prstDash val="solid"/>
          </a:ln>
        </p:spPr>
      </p:sp>
      <p:sp>
        <p:nvSpPr>
          <p:cNvPr id="14"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15" name="Text 12"/>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con OpenAPI</a:t>
            </a:r>
            <a:endParaRPr lang="en-US" sz="1350" dirty="0"/>
          </a:p>
        </p:txBody>
      </p:sp>
      <p:sp>
        <p:nvSpPr>
          <p:cNvPr id="16" name="Shape 13"/>
          <p:cNvSpPr/>
          <p:nvPr/>
        </p:nvSpPr>
        <p:spPr>
          <a:xfrm>
            <a:off x="612648" y="3361563"/>
            <a:ext cx="420624" cy="420624"/>
          </a:xfrm>
          <a:prstGeom prst="ellipse">
            <a:avLst/>
          </a:prstGeom>
          <a:solidFill>
            <a:srgbClr val="E3F4FA"/>
          </a:solidFill>
          <a:ln w="12700">
            <a:solidFill>
              <a:srgbClr val="E3F4FA"/>
            </a:solidFill>
            <a:prstDash val="solid"/>
          </a:ln>
        </p:spPr>
      </p:sp>
      <p:sp>
        <p:nvSpPr>
          <p:cNvPr id="17" name="Icono book-open"/>
          <p:cNvSpPr/>
          <p:nvPr/>
        </p:nvSpPr>
        <p:spPr>
          <a:xfrm>
            <a:off x="713598" y="3462513"/>
            <a:ext cx="218724" cy="218724"/>
          </a:xfrm>
          <a:custGeom>
            <a:avLst/>
            <a:gdLst/>
            <a:ahLst/>
            <a:cxnLst/>
            <a:rect l="l" t="t" r="r" b="b"/>
            <a:pathLst>
              <a:path w="218724" h="218724">
                <a:moveTo>
                  <a:pt x="109362" y="63795"/>
                </a:moveTo>
                <a:lnTo>
                  <a:pt x="109362" y="191384"/>
                </a:lnTo>
                <a:moveTo>
                  <a:pt x="27341" y="164043"/>
                </a:moveTo>
                <a:cubicBezTo>
                  <a:pt x="22307" y="164043"/>
                  <a:pt x="18227" y="159963"/>
                  <a:pt x="18227" y="154930"/>
                </a:cubicBezTo>
                <a:lnTo>
                  <a:pt x="18227" y="36454"/>
                </a:lnTo>
                <a:cubicBezTo>
                  <a:pt x="18227" y="31421"/>
                  <a:pt x="22307" y="27341"/>
                  <a:pt x="27341" y="27341"/>
                </a:cubicBezTo>
                <a:lnTo>
                  <a:pt x="72908" y="27341"/>
                </a:lnTo>
                <a:cubicBezTo>
                  <a:pt x="93041" y="27341"/>
                  <a:pt x="109362" y="43662"/>
                  <a:pt x="109362" y="63795"/>
                </a:cubicBezTo>
                <a:cubicBezTo>
                  <a:pt x="109362" y="43662"/>
                  <a:pt x="125683" y="27341"/>
                  <a:pt x="145816" y="27341"/>
                </a:cubicBezTo>
                <a:lnTo>
                  <a:pt x="191384" y="27341"/>
                </a:lnTo>
                <a:cubicBezTo>
                  <a:pt x="196417" y="27341"/>
                  <a:pt x="200497" y="31421"/>
                  <a:pt x="200497" y="36454"/>
                </a:cubicBezTo>
                <a:lnTo>
                  <a:pt x="200497" y="154930"/>
                </a:lnTo>
                <a:cubicBezTo>
                  <a:pt x="200497" y="159963"/>
                  <a:pt x="196417" y="164043"/>
                  <a:pt x="191384" y="164043"/>
                </a:cubicBezTo>
                <a:lnTo>
                  <a:pt x="136703" y="164043"/>
                </a:lnTo>
                <a:cubicBezTo>
                  <a:pt x="121603" y="164043"/>
                  <a:pt x="109362" y="176284"/>
                  <a:pt x="109362" y="191384"/>
                </a:cubicBezTo>
                <a:cubicBezTo>
                  <a:pt x="109362" y="176284"/>
                  <a:pt x="97121" y="164043"/>
                  <a:pt x="82022" y="164043"/>
                </a:cubicBezTo>
                <a:close/>
              </a:path>
            </a:pathLst>
          </a:custGeom>
          <a:noFill/>
          <a:ln w="18227" cap="rnd">
            <a:solidFill>
              <a:srgbClr val="0B6E8A"/>
            </a:solidFill>
            <a:prstDash val="solid"/>
            <a:round/>
          </a:ln>
        </p:spPr>
      </p:sp>
      <p:sp>
        <p:nvSpPr>
          <p:cNvPr id="18" name="Text 15"/>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lo muestra como una página</a:t>
            </a:r>
            <a:endParaRPr lang="en-US" sz="1350" dirty="0"/>
          </a:p>
        </p:txBody>
      </p:sp>
      <p:sp>
        <p:nvSpPr>
          <p:cNvPr id="19" name="Shape 16"/>
          <p:cNvSpPr/>
          <p:nvPr/>
        </p:nvSpPr>
        <p:spPr>
          <a:xfrm>
            <a:off x="612648" y="3944493"/>
            <a:ext cx="420624" cy="420624"/>
          </a:xfrm>
          <a:prstGeom prst="ellipse">
            <a:avLst/>
          </a:prstGeom>
          <a:solidFill>
            <a:srgbClr val="E3F4FA"/>
          </a:solidFill>
          <a:ln w="12700">
            <a:solidFill>
              <a:srgbClr val="E3F4FA"/>
            </a:solidFill>
            <a:prstDash val="solid"/>
          </a:ln>
        </p:spPr>
      </p:sp>
      <p:sp>
        <p:nvSpPr>
          <p:cNvPr id="20" name="Icono play"/>
          <p:cNvSpPr/>
          <p:nvPr/>
        </p:nvSpPr>
        <p:spPr>
          <a:xfrm>
            <a:off x="713598" y="404544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1" name="Text 18"/>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Se puede probar cada endpoint desde ahí</a:t>
            </a:r>
            <a:endParaRPr lang="en-US" sz="1350" dirty="0"/>
          </a:p>
        </p:txBody>
      </p:sp>
      <p:sp>
        <p:nvSpPr>
          <p:cNvPr id="22" name="Shape 19"/>
          <p:cNvSpPr/>
          <p:nvPr/>
        </p:nvSpPr>
        <p:spPr>
          <a:xfrm>
            <a:off x="612648" y="4527423"/>
            <a:ext cx="420624" cy="420624"/>
          </a:xfrm>
          <a:prstGeom prst="ellipse">
            <a:avLst/>
          </a:prstGeom>
          <a:solidFill>
            <a:srgbClr val="E3F4FA"/>
          </a:solidFill>
          <a:ln w="12700">
            <a:solidFill>
              <a:srgbClr val="E3F4FA"/>
            </a:solidFill>
            <a:prstDash val="solid"/>
          </a:ln>
        </p:spPr>
      </p:sp>
      <p:sp>
        <p:nvSpPr>
          <p:cNvPr id="23" name="Icono sparkles"/>
          <p:cNvSpPr/>
          <p:nvPr/>
        </p:nvSpPr>
        <p:spPr>
          <a:xfrm>
            <a:off x="713598" y="462837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4" name="Text 21"/>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Si agregamos un endpoint, aparece solo</a:t>
            </a:r>
            <a:endParaRPr lang="en-US" sz="1350" dirty="0"/>
          </a:p>
        </p:txBody>
      </p:sp>
      <p:sp>
        <p:nvSpPr>
          <p:cNvPr id="25" name="Shape 22"/>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26" name="Shape 23"/>
          <p:cNvSpPr/>
          <p:nvPr/>
        </p:nvSpPr>
        <p:spPr>
          <a:xfrm>
            <a:off x="795528" y="5458968"/>
            <a:ext cx="603504" cy="603504"/>
          </a:xfrm>
          <a:prstGeom prst="ellipse">
            <a:avLst/>
          </a:prstGeom>
          <a:solidFill>
            <a:srgbClr val="FFFFFF"/>
          </a:solidFill>
          <a:ln w="12700">
            <a:solidFill>
              <a:srgbClr val="FFFFFF"/>
            </a:solidFill>
            <a:prstDash val="solid"/>
          </a:ln>
        </p:spPr>
      </p:sp>
      <p:sp>
        <p:nvSpPr>
          <p:cNvPr id="27"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28" name="Text 25"/>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29"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Pruebas unitarias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regla tiene una prueba que la vigila.</a:t>
            </a:r>
            <a:endParaRPr lang="en-US" sz="1700" dirty="0"/>
          </a:p>
        </p:txBody>
      </p:sp>
      <p:sp>
        <p:nvSpPr>
          <p:cNvPr id="6" name="Shape 4"/>
          <p:cNvSpPr/>
          <p:nvPr/>
        </p:nvSpPr>
        <p:spPr>
          <a:xfrm>
            <a:off x="612648" y="171907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709928"/>
          </a:xfrm>
          <a:prstGeom prst="rect">
            <a:avLst/>
          </a:prstGeom>
          <a:solidFill>
            <a:srgbClr val="0B2350"/>
          </a:solidFill>
          <a:ln w="12700">
            <a:solidFill>
              <a:srgbClr val="0B2350"/>
            </a:solidFill>
            <a:prstDash val="solid"/>
          </a:ln>
        </p:spPr>
      </p:sp>
      <p:sp>
        <p:nvSpPr>
          <p:cNvPr id="8" name="Shape 6"/>
          <p:cNvSpPr/>
          <p:nvPr/>
        </p:nvSpPr>
        <p:spPr>
          <a:xfrm>
            <a:off x="886968" y="2308860"/>
            <a:ext cx="786384" cy="786384"/>
          </a:xfrm>
          <a:prstGeom prst="ellipse">
            <a:avLst/>
          </a:prstGeom>
          <a:solidFill>
            <a:srgbClr val="E8EEF8"/>
          </a:solidFill>
          <a:ln w="12700">
            <a:solidFill>
              <a:srgbClr val="E8EEF8"/>
            </a:solidFill>
            <a:prstDash val="solid"/>
          </a:ln>
        </p:spPr>
      </p:sp>
      <p:sp>
        <p:nvSpPr>
          <p:cNvPr id="9" name="Icono list-checks"/>
          <p:cNvSpPr/>
          <p:nvPr/>
        </p:nvSpPr>
        <p:spPr>
          <a:xfrm>
            <a:off x="1075700" y="2497592"/>
            <a:ext cx="408920" cy="408920"/>
          </a:xfrm>
          <a:custGeom>
            <a:avLst/>
            <a:gdLst/>
            <a:ahLst/>
            <a:cxnLst/>
            <a:rect l="l" t="t" r="r" b="b"/>
            <a:pathLst>
              <a:path w="408920" h="408920">
                <a:moveTo>
                  <a:pt x="51115" y="289651"/>
                </a:moveTo>
                <a:lnTo>
                  <a:pt x="85192" y="323728"/>
                </a:lnTo>
                <a:lnTo>
                  <a:pt x="153345" y="255575"/>
                </a:lnTo>
                <a:moveTo>
                  <a:pt x="51115" y="119268"/>
                </a:moveTo>
                <a:lnTo>
                  <a:pt x="85192" y="153345"/>
                </a:lnTo>
                <a:lnTo>
                  <a:pt x="153345" y="85192"/>
                </a:lnTo>
                <a:moveTo>
                  <a:pt x="221498" y="102230"/>
                </a:moveTo>
                <a:lnTo>
                  <a:pt x="357805" y="102230"/>
                </a:lnTo>
                <a:moveTo>
                  <a:pt x="221498" y="204460"/>
                </a:moveTo>
                <a:lnTo>
                  <a:pt x="357805" y="204460"/>
                </a:lnTo>
                <a:moveTo>
                  <a:pt x="221498" y="306690"/>
                </a:moveTo>
                <a:lnTo>
                  <a:pt x="357805" y="306690"/>
                </a:lnTo>
              </a:path>
            </a:pathLst>
          </a:custGeom>
          <a:noFill/>
          <a:ln w="34077" cap="rnd">
            <a:solidFill>
              <a:srgbClr val="0B2350"/>
            </a:solidFill>
            <a:prstDash val="solid"/>
            <a:round/>
          </a:ln>
        </p:spPr>
      </p:sp>
      <p:sp>
        <p:nvSpPr>
          <p:cNvPr id="10" name="Text 8"/>
          <p:cNvSpPr/>
          <p:nvPr/>
        </p:nvSpPr>
        <p:spPr>
          <a:xfrm>
            <a:off x="1929384" y="2244852"/>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SolicitudTest</a:t>
            </a:r>
            <a:endParaRPr lang="en-US" sz="2000" dirty="0"/>
          </a:p>
        </p:txBody>
      </p:sp>
      <p:sp>
        <p:nvSpPr>
          <p:cNvPr id="11" name="Text 9"/>
          <p:cNvSpPr/>
          <p:nvPr/>
        </p:nvSpPr>
        <p:spPr>
          <a:xfrm>
            <a:off x="1929384" y="272034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Los cambios de estado permitidos y los prohibidos.</a:t>
            </a:r>
            <a:endParaRPr lang="en-US" sz="1600" dirty="0"/>
          </a:p>
        </p:txBody>
      </p:sp>
      <p:sp>
        <p:nvSpPr>
          <p:cNvPr id="12" name="Shape 10"/>
          <p:cNvSpPr/>
          <p:nvPr/>
        </p:nvSpPr>
        <p:spPr>
          <a:xfrm>
            <a:off x="6187288" y="171907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709928"/>
          </a:xfrm>
          <a:prstGeom prst="rect">
            <a:avLst/>
          </a:prstGeom>
          <a:solidFill>
            <a:srgbClr val="0B6E8A"/>
          </a:solidFill>
          <a:ln w="12700">
            <a:solidFill>
              <a:srgbClr val="0B6E8A"/>
            </a:solidFill>
            <a:prstDash val="solid"/>
          </a:ln>
        </p:spPr>
      </p:sp>
      <p:sp>
        <p:nvSpPr>
          <p:cNvPr id="14" name="Shape 12"/>
          <p:cNvSpPr/>
          <p:nvPr/>
        </p:nvSpPr>
        <p:spPr>
          <a:xfrm>
            <a:off x="6461608" y="2308860"/>
            <a:ext cx="786384" cy="786384"/>
          </a:xfrm>
          <a:prstGeom prst="ellipse">
            <a:avLst/>
          </a:prstGeom>
          <a:solidFill>
            <a:srgbClr val="E3F4FA"/>
          </a:solidFill>
          <a:ln w="12700">
            <a:solidFill>
              <a:srgbClr val="E3F4FA"/>
            </a:solidFill>
            <a:prstDash val="solid"/>
          </a:ln>
        </p:spPr>
      </p:sp>
      <p:sp>
        <p:nvSpPr>
          <p:cNvPr id="15" name="Icono flask-conical"/>
          <p:cNvSpPr/>
          <p:nvPr/>
        </p:nvSpPr>
        <p:spPr>
          <a:xfrm>
            <a:off x="6650340" y="2497592"/>
            <a:ext cx="408920" cy="408920"/>
          </a:xfrm>
          <a:custGeom>
            <a:avLst/>
            <a:gdLst/>
            <a:ahLst/>
            <a:cxnLst/>
            <a:rect l="l" t="t" r="r" b="b"/>
            <a:pathLst>
              <a:path w="408920" h="408920">
                <a:moveTo>
                  <a:pt x="238536" y="34077"/>
                </a:moveTo>
                <a:lnTo>
                  <a:pt x="238536" y="136307"/>
                </a:lnTo>
                <a:cubicBezTo>
                  <a:pt x="238534" y="142023"/>
                  <a:pt x="239970" y="147647"/>
                  <a:pt x="242711" y="152663"/>
                </a:cubicBezTo>
                <a:lnTo>
                  <a:pt x="336592" y="324410"/>
                </a:lnTo>
                <a:cubicBezTo>
                  <a:pt x="342369" y="334969"/>
                  <a:pt x="342148" y="347792"/>
                  <a:pt x="336009" y="358146"/>
                </a:cubicBezTo>
                <a:cubicBezTo>
                  <a:pt x="329871" y="368499"/>
                  <a:pt x="318726" y="374846"/>
                  <a:pt x="306690" y="374843"/>
                </a:cubicBezTo>
                <a:lnTo>
                  <a:pt x="102230" y="374843"/>
                </a:lnTo>
                <a:cubicBezTo>
                  <a:pt x="90194" y="374846"/>
                  <a:pt x="79049" y="368499"/>
                  <a:pt x="72910" y="358146"/>
                </a:cubicBezTo>
                <a:cubicBezTo>
                  <a:pt x="66772" y="347792"/>
                  <a:pt x="66550" y="334969"/>
                  <a:pt x="72328" y="324410"/>
                </a:cubicBezTo>
                <a:lnTo>
                  <a:pt x="166209" y="152663"/>
                </a:lnTo>
                <a:cubicBezTo>
                  <a:pt x="168950" y="147647"/>
                  <a:pt x="170386" y="142023"/>
                  <a:pt x="170383" y="136307"/>
                </a:cubicBezTo>
                <a:lnTo>
                  <a:pt x="170383" y="34077"/>
                </a:lnTo>
                <a:moveTo>
                  <a:pt x="109948" y="255575"/>
                </a:moveTo>
                <a:lnTo>
                  <a:pt x="298971" y="255575"/>
                </a:lnTo>
                <a:moveTo>
                  <a:pt x="144826" y="34077"/>
                </a:moveTo>
                <a:lnTo>
                  <a:pt x="264094" y="34077"/>
                </a:lnTo>
              </a:path>
            </a:pathLst>
          </a:custGeom>
          <a:noFill/>
          <a:ln w="34077" cap="rnd">
            <a:solidFill>
              <a:srgbClr val="0B6E8A"/>
            </a:solidFill>
            <a:prstDash val="solid"/>
            <a:round/>
          </a:ln>
        </p:spPr>
      </p:sp>
      <p:sp>
        <p:nvSpPr>
          <p:cNvPr id="16" name="Text 14"/>
          <p:cNvSpPr/>
          <p:nvPr/>
        </p:nvSpPr>
        <p:spPr>
          <a:xfrm>
            <a:off x="7504024" y="2244852"/>
            <a:ext cx="3892144" cy="420624"/>
          </a:xfrm>
          <a:prstGeom prst="rect">
            <a:avLst/>
          </a:prstGeom>
          <a:noFill/>
          <a:ln/>
        </p:spPr>
        <p:txBody>
          <a:bodyPr wrap="square" lIns="0" tIns="0" rIns="0" bIns="0" rtlCol="0" anchor="b">
            <a:normAutofit/>
          </a:bodyPr>
          <a:lstStyle/>
          <a:p>
            <a:pPr algn="l" indent="0" marL="0">
              <a:buNone/>
            </a:pPr>
            <a:r>
              <a:rPr lang="en-US" sz="1950" b="1" dirty="0">
                <a:solidFill>
                  <a:srgbClr val="0B6E8A"/>
                </a:solidFill>
                <a:latin typeface="Segoe UI Semibold" pitchFamily="34" charset="0"/>
                <a:ea typeface="Segoe UI Semibold" pitchFamily="34" charset="-122"/>
                <a:cs typeface="Segoe UI Semibold" pitchFamily="34" charset="-120"/>
              </a:rPr>
              <a:t>ServicioSolicitudesUnitTest</a:t>
            </a:r>
            <a:endParaRPr lang="en-US" sz="1950" dirty="0"/>
          </a:p>
        </p:txBody>
      </p:sp>
      <p:sp>
        <p:nvSpPr>
          <p:cNvPr id="17" name="Text 15"/>
          <p:cNvSpPr/>
          <p:nvPr/>
        </p:nvSpPr>
        <p:spPr>
          <a:xfrm>
            <a:off x="7504024" y="272034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Crear, enviar y registrar el evento, con un repositorio en memoria.</a:t>
            </a:r>
            <a:endParaRPr lang="en-US" sz="1600" dirty="0"/>
          </a:p>
        </p:txBody>
      </p:sp>
      <p:sp>
        <p:nvSpPr>
          <p:cNvPr id="18" name="Shape 16"/>
          <p:cNvSpPr/>
          <p:nvPr/>
        </p:nvSpPr>
        <p:spPr>
          <a:xfrm>
            <a:off x="612648" y="386791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3995928"/>
            <a:ext cx="64008" cy="1709928"/>
          </a:xfrm>
          <a:prstGeom prst="rect">
            <a:avLst/>
          </a:prstGeom>
          <a:solidFill>
            <a:srgbClr val="5B3FC4"/>
          </a:solidFill>
          <a:ln w="12700">
            <a:solidFill>
              <a:srgbClr val="5B3FC4"/>
            </a:solidFill>
            <a:prstDash val="solid"/>
          </a:ln>
        </p:spPr>
      </p:sp>
      <p:sp>
        <p:nvSpPr>
          <p:cNvPr id="20" name="Shape 18"/>
          <p:cNvSpPr/>
          <p:nvPr/>
        </p:nvSpPr>
        <p:spPr>
          <a:xfrm>
            <a:off x="886968" y="4457700"/>
            <a:ext cx="786384" cy="786384"/>
          </a:xfrm>
          <a:prstGeom prst="ellipse">
            <a:avLst/>
          </a:prstGeom>
          <a:solidFill>
            <a:srgbClr val="F1EEFD"/>
          </a:solidFill>
          <a:ln w="12700">
            <a:solidFill>
              <a:srgbClr val="F1EEFD"/>
            </a:solidFill>
            <a:prstDash val="solid"/>
          </a:ln>
        </p:spPr>
      </p:sp>
      <p:sp>
        <p:nvSpPr>
          <p:cNvPr id="21" name="Icono code"/>
          <p:cNvSpPr/>
          <p:nvPr/>
        </p:nvSpPr>
        <p:spPr>
          <a:xfrm>
            <a:off x="1075700" y="4646432"/>
            <a:ext cx="408920" cy="408920"/>
          </a:xfrm>
          <a:custGeom>
            <a:avLst/>
            <a:gdLst/>
            <a:ahLst/>
            <a:cxnLst/>
            <a:rect l="l" t="t" r="r" b="b"/>
            <a:pathLst>
              <a:path w="408920" h="408920">
                <a:moveTo>
                  <a:pt x="272613" y="306690"/>
                </a:moveTo>
                <a:lnTo>
                  <a:pt x="374843" y="204460"/>
                </a:lnTo>
                <a:lnTo>
                  <a:pt x="272613" y="102230"/>
                </a:lnTo>
                <a:moveTo>
                  <a:pt x="136307" y="102230"/>
                </a:moveTo>
                <a:lnTo>
                  <a:pt x="34077" y="204460"/>
                </a:lnTo>
                <a:lnTo>
                  <a:pt x="136307" y="306690"/>
                </a:lnTo>
              </a:path>
            </a:pathLst>
          </a:custGeom>
          <a:noFill/>
          <a:ln w="34077" cap="rnd">
            <a:solidFill>
              <a:srgbClr val="5B3FC4"/>
            </a:solidFill>
            <a:prstDash val="solid"/>
            <a:round/>
          </a:ln>
        </p:spPr>
      </p:sp>
      <p:sp>
        <p:nvSpPr>
          <p:cNvPr id="22" name="Text 20"/>
          <p:cNvSpPr/>
          <p:nvPr/>
        </p:nvSpPr>
        <p:spPr>
          <a:xfrm>
            <a:off x="1929384" y="4393692"/>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5B3FC4"/>
                </a:solidFill>
                <a:latin typeface="Segoe UI Semibold" pitchFamily="34" charset="0"/>
                <a:ea typeface="Segoe UI Semibold" pitchFamily="34" charset="-122"/>
                <a:cs typeface="Segoe UI Semibold" pitchFamily="34" charset="-120"/>
              </a:rPr>
              <a:t>SolicitudControllerWebTest</a:t>
            </a:r>
            <a:endParaRPr lang="en-US" sz="2000" dirty="0"/>
          </a:p>
        </p:txBody>
      </p:sp>
      <p:sp>
        <p:nvSpPr>
          <p:cNvPr id="23" name="Text 21"/>
          <p:cNvSpPr/>
          <p:nvPr/>
        </p:nvSpPr>
        <p:spPr>
          <a:xfrm>
            <a:off x="1929384" y="486918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JSON y los códigos 201, 404, 409 y 400, con MockMvc.</a:t>
            </a:r>
            <a:endParaRPr lang="en-US" sz="1600" dirty="0"/>
          </a:p>
        </p:txBody>
      </p:sp>
      <p:sp>
        <p:nvSpPr>
          <p:cNvPr id="24" name="Shape 22"/>
          <p:cNvSpPr/>
          <p:nvPr/>
        </p:nvSpPr>
        <p:spPr>
          <a:xfrm>
            <a:off x="6187288" y="3867912"/>
            <a:ext cx="5391760" cy="1965960"/>
          </a:xfrm>
          <a:prstGeom prst="roundRect">
            <a:avLst>
              <a:gd name="adj" fmla="val 6512"/>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3995928"/>
            <a:ext cx="64008" cy="1709928"/>
          </a:xfrm>
          <a:prstGeom prst="rect">
            <a:avLst/>
          </a:prstGeom>
          <a:solidFill>
            <a:srgbClr val="0A6648"/>
          </a:solidFill>
          <a:ln w="12700">
            <a:solidFill>
              <a:srgbClr val="0A6648"/>
            </a:solidFill>
            <a:prstDash val="solid"/>
          </a:ln>
        </p:spPr>
      </p:sp>
      <p:sp>
        <p:nvSpPr>
          <p:cNvPr id="26" name="Shape 24"/>
          <p:cNvSpPr/>
          <p:nvPr/>
        </p:nvSpPr>
        <p:spPr>
          <a:xfrm>
            <a:off x="6461608" y="4457700"/>
            <a:ext cx="786384" cy="786384"/>
          </a:xfrm>
          <a:prstGeom prst="ellipse">
            <a:avLst/>
          </a:prstGeom>
          <a:solidFill>
            <a:srgbClr val="E1F1EA"/>
          </a:solidFill>
          <a:ln w="12700">
            <a:solidFill>
              <a:srgbClr val="E1F1EA"/>
            </a:solidFill>
            <a:prstDash val="solid"/>
          </a:ln>
        </p:spPr>
      </p:sp>
      <p:sp>
        <p:nvSpPr>
          <p:cNvPr id="27" name="Icono fingerprint"/>
          <p:cNvSpPr/>
          <p:nvPr/>
        </p:nvSpPr>
        <p:spPr>
          <a:xfrm>
            <a:off x="6650340" y="4646432"/>
            <a:ext cx="408920" cy="408920"/>
          </a:xfrm>
          <a:custGeom>
            <a:avLst/>
            <a:gdLst/>
            <a:ahLst/>
            <a:cxnLst/>
            <a:rect l="l" t="t" r="r" b="b"/>
            <a:pathLst>
              <a:path w="408920" h="408920">
                <a:moveTo>
                  <a:pt x="204460" y="170383"/>
                </a:moveTo>
                <a:cubicBezTo>
                  <a:pt x="185640" y="170383"/>
                  <a:pt x="170383" y="185640"/>
                  <a:pt x="170383" y="204460"/>
                </a:cubicBezTo>
                <a:cubicBezTo>
                  <a:pt x="170383" y="221839"/>
                  <a:pt x="168679" y="247226"/>
                  <a:pt x="165953" y="272613"/>
                </a:cubicBezTo>
                <a:moveTo>
                  <a:pt x="238536" y="223543"/>
                </a:moveTo>
                <a:cubicBezTo>
                  <a:pt x="238536" y="264094"/>
                  <a:pt x="238536" y="332247"/>
                  <a:pt x="221498" y="374843"/>
                </a:cubicBezTo>
                <a:moveTo>
                  <a:pt x="294593" y="358145"/>
                </a:moveTo>
                <a:cubicBezTo>
                  <a:pt x="296637" y="347922"/>
                  <a:pt x="301919" y="318957"/>
                  <a:pt x="303112" y="306690"/>
                </a:cubicBezTo>
                <a:moveTo>
                  <a:pt x="34077" y="204460"/>
                </a:moveTo>
                <a:cubicBezTo>
                  <a:pt x="34077" y="131122"/>
                  <a:pt x="81005" y="66012"/>
                  <a:pt x="150580" y="42820"/>
                </a:cubicBezTo>
                <a:cubicBezTo>
                  <a:pt x="220155" y="19629"/>
                  <a:pt x="296764" y="43559"/>
                  <a:pt x="340766" y="102230"/>
                </a:cubicBezTo>
                <a:moveTo>
                  <a:pt x="34077" y="272613"/>
                </a:moveTo>
                <a:lnTo>
                  <a:pt x="34247" y="272613"/>
                </a:lnTo>
                <a:moveTo>
                  <a:pt x="371435" y="272613"/>
                </a:moveTo>
                <a:cubicBezTo>
                  <a:pt x="374843" y="238536"/>
                  <a:pt x="373667" y="181390"/>
                  <a:pt x="371435" y="170383"/>
                </a:cubicBezTo>
                <a:moveTo>
                  <a:pt x="85192" y="332247"/>
                </a:moveTo>
                <a:cubicBezTo>
                  <a:pt x="93711" y="306690"/>
                  <a:pt x="102230" y="255575"/>
                  <a:pt x="102230" y="204460"/>
                </a:cubicBezTo>
                <a:cubicBezTo>
                  <a:pt x="102213" y="192854"/>
                  <a:pt x="104172" y="181331"/>
                  <a:pt x="108023" y="170383"/>
                </a:cubicBezTo>
                <a:moveTo>
                  <a:pt x="147381" y="374843"/>
                </a:moveTo>
                <a:cubicBezTo>
                  <a:pt x="150960" y="363598"/>
                  <a:pt x="155049" y="352352"/>
                  <a:pt x="157093" y="340766"/>
                </a:cubicBezTo>
                <a:moveTo>
                  <a:pt x="153345" y="115861"/>
                </a:moveTo>
                <a:cubicBezTo>
                  <a:pt x="184985" y="97593"/>
                  <a:pt x="223969" y="97599"/>
                  <a:pt x="255603" y="115877"/>
                </a:cubicBezTo>
                <a:cubicBezTo>
                  <a:pt x="287238" y="134155"/>
                  <a:pt x="306713" y="167925"/>
                  <a:pt x="306690" y="204460"/>
                </a:cubicBezTo>
                <a:lnTo>
                  <a:pt x="306690" y="238536"/>
                </a:lnTo>
              </a:path>
            </a:pathLst>
          </a:custGeom>
          <a:noFill/>
          <a:ln w="34077" cap="rnd">
            <a:solidFill>
              <a:srgbClr val="0A6648"/>
            </a:solidFill>
            <a:prstDash val="solid"/>
            <a:round/>
          </a:ln>
        </p:spPr>
      </p:sp>
      <p:sp>
        <p:nvSpPr>
          <p:cNvPr id="28" name="Text 26"/>
          <p:cNvSpPr/>
          <p:nvPr/>
        </p:nvSpPr>
        <p:spPr>
          <a:xfrm>
            <a:off x="7504024" y="4393692"/>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Pruebas de notificaciones</a:t>
            </a:r>
            <a:endParaRPr lang="en-US" sz="2000" dirty="0"/>
          </a:p>
        </p:txBody>
      </p:sp>
      <p:sp>
        <p:nvSpPr>
          <p:cNvPr id="29" name="Text 27"/>
          <p:cNvSpPr/>
          <p:nvPr/>
        </p:nvSpPr>
        <p:spPr>
          <a:xfrm>
            <a:off x="7504024" y="4869180"/>
            <a:ext cx="3892144" cy="845820"/>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 evento repetido genera un solo aviso.</a:t>
            </a:r>
            <a:endParaRPr lang="en-US" sz="1600" dirty="0"/>
          </a:p>
        </p:txBody>
      </p:sp>
      <p:sp>
        <p:nvSpPr>
          <p:cNvPr id="30" name="Shape 28"/>
          <p:cNvSpPr/>
          <p:nvPr/>
        </p:nvSpPr>
        <p:spPr>
          <a:xfrm>
            <a:off x="0" y="5961888"/>
            <a:ext cx="12191695" cy="475488"/>
          </a:xfrm>
          <a:prstGeom prst="rect">
            <a:avLst/>
          </a:prstGeom>
          <a:solidFill>
            <a:srgbClr val="0B2350"/>
          </a:solidFill>
          <a:ln w="12700">
            <a:solidFill>
              <a:srgbClr val="0B2350"/>
            </a:solidFill>
            <a:prstDash val="solid"/>
          </a:ln>
        </p:spPr>
      </p:sp>
      <p:sp>
        <p:nvSpPr>
          <p:cNvPr id="3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2" name="Text 30"/>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alguien rompe una regla sin darse cuenta, una prueba falla antes de llegar a producción.</a:t>
            </a:r>
            <a:endParaRPr lang="en-US" sz="14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Git y commits con sentido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cambio cuenta qué hizo y por qué.</a:t>
            </a:r>
            <a:endParaRPr lang="en-US" sz="1700" dirty="0"/>
          </a:p>
        </p:txBody>
      </p:sp>
      <p:sp>
        <p:nvSpPr>
          <p:cNvPr id="6" name="Shape 4"/>
          <p:cNvSpPr/>
          <p:nvPr/>
        </p:nvSpPr>
        <p:spPr>
          <a:xfrm>
            <a:off x="978408" y="5349240"/>
            <a:ext cx="10234879" cy="0"/>
          </a:xfrm>
          <a:prstGeom prst="line">
            <a:avLst/>
          </a:prstGeom>
          <a:noFill/>
          <a:ln w="76200">
            <a:solidFill>
              <a:srgbClr val="0B2350"/>
            </a:solidFill>
            <a:prstDash val="solid"/>
          </a:ln>
        </p:spPr>
      </p:sp>
      <p:sp>
        <p:nvSpPr>
          <p:cNvPr id="7" name="Text 5"/>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8" name="Shape 6"/>
          <p:cNvSpPr/>
          <p:nvPr/>
        </p:nvSpPr>
        <p:spPr>
          <a:xfrm flipV="1">
            <a:off x="2075688" y="2816352"/>
            <a:ext cx="640080" cy="2532888"/>
          </a:xfrm>
          <a:prstGeom prst="line">
            <a:avLst/>
          </a:prstGeom>
          <a:noFill/>
          <a:ln w="63500">
            <a:solidFill>
              <a:srgbClr val="2BA6CB"/>
            </a:solidFill>
            <a:prstDash val="solid"/>
          </a:ln>
        </p:spPr>
      </p:sp>
      <p:sp>
        <p:nvSpPr>
          <p:cNvPr id="9" name="Shape 7"/>
          <p:cNvSpPr/>
          <p:nvPr/>
        </p:nvSpPr>
        <p:spPr>
          <a:xfrm>
            <a:off x="2715768" y="2816352"/>
            <a:ext cx="6394399" cy="0"/>
          </a:xfrm>
          <a:prstGeom prst="line">
            <a:avLst/>
          </a:prstGeom>
          <a:noFill/>
          <a:ln w="63500">
            <a:solidFill>
              <a:srgbClr val="2BA6CB"/>
            </a:solidFill>
            <a:prstDash val="solid"/>
          </a:ln>
        </p:spPr>
      </p:sp>
      <p:sp>
        <p:nvSpPr>
          <p:cNvPr id="10" name="Shape 8"/>
          <p:cNvSpPr/>
          <p:nvPr/>
        </p:nvSpPr>
        <p:spPr>
          <a:xfrm>
            <a:off x="9110167" y="2816352"/>
            <a:ext cx="640080" cy="2532888"/>
          </a:xfrm>
          <a:prstGeom prst="line">
            <a:avLst/>
          </a:prstGeom>
          <a:noFill/>
          <a:ln w="63500">
            <a:solidFill>
              <a:srgbClr val="0A6648"/>
            </a:solidFill>
            <a:prstDash val="solid"/>
            <a:tailEnd type="triangle"/>
          </a:ln>
        </p:spPr>
      </p:sp>
      <p:sp>
        <p:nvSpPr>
          <p:cNvPr id="11" name="Text 9"/>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0" tIns="127000" rIns="127000" bIns="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12"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13" name="Shape 11"/>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14" name="Text 12"/>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 por post</a:t>
            </a:r>
            <a:endParaRPr lang="en-US" sz="1150" dirty="0"/>
          </a:p>
        </p:txBody>
      </p:sp>
      <p:sp>
        <p:nvSpPr>
          <p:cNvPr id="15" name="Shape 13"/>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16" name="Text 14"/>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fix: responder 409 si el id ya existe</a:t>
            </a:r>
            <a:endParaRPr lang="en-US" sz="1150" dirty="0"/>
          </a:p>
        </p:txBody>
      </p:sp>
      <p:sp>
        <p:nvSpPr>
          <p:cNvPr id="17" name="Shape 15"/>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18" name="Text 16"/>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documentar POST /solicitudes</a:t>
            </a:r>
            <a:endParaRPr lang="en-US" sz="1150" dirty="0"/>
          </a:p>
        </p:txBody>
      </p:sp>
      <p:sp>
        <p:nvSpPr>
          <p:cNvPr id="19" name="Shape 17"/>
          <p:cNvSpPr/>
          <p:nvPr/>
        </p:nvSpPr>
        <p:spPr>
          <a:xfrm>
            <a:off x="1280160" y="5193792"/>
            <a:ext cx="310896" cy="310896"/>
          </a:xfrm>
          <a:prstGeom prst="ellipse">
            <a:avLst/>
          </a:prstGeom>
          <a:solidFill>
            <a:srgbClr val="0B2350"/>
          </a:solidFill>
          <a:ln w="25400">
            <a:solidFill>
              <a:srgbClr val="FFFFFF"/>
            </a:solidFill>
            <a:prstDash val="solid"/>
          </a:ln>
        </p:spPr>
      </p:sp>
      <p:sp>
        <p:nvSpPr>
          <p:cNvPr id="20" name="Shape 18"/>
          <p:cNvSpPr/>
          <p:nvPr/>
        </p:nvSpPr>
        <p:spPr>
          <a:xfrm>
            <a:off x="1920240" y="5193792"/>
            <a:ext cx="310896" cy="310896"/>
          </a:xfrm>
          <a:prstGeom prst="ellipse">
            <a:avLst/>
          </a:prstGeom>
          <a:solidFill>
            <a:srgbClr val="0B2350"/>
          </a:solidFill>
          <a:ln w="25400">
            <a:solidFill>
              <a:srgbClr val="FFFFFF"/>
            </a:solidFill>
            <a:prstDash val="solid"/>
          </a:ln>
        </p:spPr>
      </p:sp>
      <p:sp>
        <p:nvSpPr>
          <p:cNvPr id="21" name="Shape 19"/>
          <p:cNvSpPr/>
          <p:nvPr/>
        </p:nvSpPr>
        <p:spPr>
          <a:xfrm>
            <a:off x="9594799" y="5193792"/>
            <a:ext cx="310896" cy="310896"/>
          </a:xfrm>
          <a:prstGeom prst="ellipse">
            <a:avLst/>
          </a:prstGeom>
          <a:solidFill>
            <a:srgbClr val="0B2350"/>
          </a:solidFill>
          <a:ln w="25400">
            <a:solidFill>
              <a:srgbClr val="FFFFFF"/>
            </a:solidFill>
            <a:prstDash val="solid"/>
          </a:ln>
        </p:spPr>
      </p:sp>
      <p:sp>
        <p:nvSpPr>
          <p:cNvPr id="22" name="Shape 20"/>
          <p:cNvSpPr/>
          <p:nvPr/>
        </p:nvSpPr>
        <p:spPr>
          <a:xfrm>
            <a:off x="10600639" y="5193792"/>
            <a:ext cx="310896" cy="310896"/>
          </a:xfrm>
          <a:prstGeom prst="ellipse">
            <a:avLst/>
          </a:prstGeom>
          <a:solidFill>
            <a:srgbClr val="0B2350"/>
          </a:solidFill>
          <a:ln w="25400">
            <a:solidFill>
              <a:srgbClr val="FFFFFF"/>
            </a:solidFill>
            <a:prstDash val="solid"/>
          </a:ln>
        </p:spPr>
      </p:sp>
      <p:sp>
        <p:nvSpPr>
          <p:cNvPr id="23" name="Shape 21"/>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24" name="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25" name="Text 23"/>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una aprobación y el pipeline en verde</a:t>
            </a:r>
            <a:endParaRPr lang="en-US" sz="125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puzzle"/>
          <p:cNvSpPr/>
          <p:nvPr/>
        </p:nvSpPr>
        <p:spPr>
          <a:xfrm>
            <a:off x="9098280" y="1783080"/>
            <a:ext cx="1371600" cy="1371600"/>
          </a:xfrm>
          <a:custGeom>
            <a:avLst/>
            <a:gdLst/>
            <a:ahLst/>
            <a:cxnLst/>
            <a:rect l="l" t="t" r="r" b="b"/>
            <a:pathLst>
              <a:path w="1371600" h="1371600">
                <a:moveTo>
                  <a:pt x="879539" y="250888"/>
                </a:moveTo>
                <a:cubicBezTo>
                  <a:pt x="894167" y="265531"/>
                  <a:pt x="915569" y="271121"/>
                  <a:pt x="935489" y="265500"/>
                </a:cubicBezTo>
                <a:cubicBezTo>
                  <a:pt x="955409" y="259880"/>
                  <a:pt x="970733" y="243929"/>
                  <a:pt x="975551" y="223799"/>
                </a:cubicBezTo>
                <a:cubicBezTo>
                  <a:pt x="991967" y="155464"/>
                  <a:pt x="1055643" y="109215"/>
                  <a:pt x="1125705" y="114740"/>
                </a:cubicBezTo>
                <a:cubicBezTo>
                  <a:pt x="1195768" y="120266"/>
                  <a:pt x="1251408" y="175924"/>
                  <a:pt x="1256910" y="245988"/>
                </a:cubicBezTo>
                <a:cubicBezTo>
                  <a:pt x="1262412" y="316052"/>
                  <a:pt x="1216142" y="379713"/>
                  <a:pt x="1147801" y="396107"/>
                </a:cubicBezTo>
                <a:cubicBezTo>
                  <a:pt x="1127671" y="400924"/>
                  <a:pt x="1111720" y="416248"/>
                  <a:pt x="1106100" y="436169"/>
                </a:cubicBezTo>
                <a:cubicBezTo>
                  <a:pt x="1100479" y="456089"/>
                  <a:pt x="1106069" y="477491"/>
                  <a:pt x="1120712" y="492119"/>
                </a:cubicBezTo>
                <a:lnTo>
                  <a:pt x="1216895" y="588245"/>
                </a:lnTo>
                <a:cubicBezTo>
                  <a:pt x="1242769" y="614118"/>
                  <a:pt x="1257305" y="649209"/>
                  <a:pt x="1257305" y="685800"/>
                </a:cubicBezTo>
                <a:cubicBezTo>
                  <a:pt x="1257305" y="722391"/>
                  <a:pt x="1242769" y="757482"/>
                  <a:pt x="1216895" y="783355"/>
                </a:cubicBezTo>
                <a:lnTo>
                  <a:pt x="1120712" y="879539"/>
                </a:lnTo>
                <a:cubicBezTo>
                  <a:pt x="1106083" y="894181"/>
                  <a:pt x="1084681" y="899771"/>
                  <a:pt x="1064761" y="894150"/>
                </a:cubicBezTo>
                <a:cubicBezTo>
                  <a:pt x="1044841" y="888530"/>
                  <a:pt x="1029517" y="872579"/>
                  <a:pt x="1024700" y="852449"/>
                </a:cubicBezTo>
                <a:cubicBezTo>
                  <a:pt x="1008283" y="784114"/>
                  <a:pt x="944607" y="737865"/>
                  <a:pt x="874545" y="743390"/>
                </a:cubicBezTo>
                <a:cubicBezTo>
                  <a:pt x="804482" y="748916"/>
                  <a:pt x="748842" y="804574"/>
                  <a:pt x="743340" y="874638"/>
                </a:cubicBezTo>
                <a:cubicBezTo>
                  <a:pt x="737838" y="944702"/>
                  <a:pt x="784108" y="1008363"/>
                  <a:pt x="852449" y="1024757"/>
                </a:cubicBezTo>
                <a:cubicBezTo>
                  <a:pt x="872579" y="1029574"/>
                  <a:pt x="888530" y="1044898"/>
                  <a:pt x="894150" y="1064819"/>
                </a:cubicBezTo>
                <a:cubicBezTo>
                  <a:pt x="899771" y="1084739"/>
                  <a:pt x="894181" y="1106141"/>
                  <a:pt x="879539" y="1120769"/>
                </a:cubicBezTo>
                <a:lnTo>
                  <a:pt x="783355" y="1216895"/>
                </a:lnTo>
                <a:cubicBezTo>
                  <a:pt x="757482" y="1242769"/>
                  <a:pt x="722391" y="1257305"/>
                  <a:pt x="685800" y="1257305"/>
                </a:cubicBezTo>
                <a:cubicBezTo>
                  <a:pt x="649209" y="1257305"/>
                  <a:pt x="614118" y="1242769"/>
                  <a:pt x="588245" y="1216895"/>
                </a:cubicBezTo>
                <a:lnTo>
                  <a:pt x="492061" y="1120712"/>
                </a:lnTo>
                <a:cubicBezTo>
                  <a:pt x="477433" y="1106069"/>
                  <a:pt x="456031" y="1100479"/>
                  <a:pt x="436111" y="1106100"/>
                </a:cubicBezTo>
                <a:cubicBezTo>
                  <a:pt x="416191" y="1111720"/>
                  <a:pt x="400867" y="1127671"/>
                  <a:pt x="396050" y="1147801"/>
                </a:cubicBezTo>
                <a:cubicBezTo>
                  <a:pt x="379633" y="1216136"/>
                  <a:pt x="315957" y="1262385"/>
                  <a:pt x="245895" y="1256860"/>
                </a:cubicBezTo>
                <a:cubicBezTo>
                  <a:pt x="175832" y="1251334"/>
                  <a:pt x="120192" y="1195676"/>
                  <a:pt x="114690" y="1125612"/>
                </a:cubicBezTo>
                <a:cubicBezTo>
                  <a:pt x="109188" y="1055548"/>
                  <a:pt x="155458" y="991887"/>
                  <a:pt x="223799" y="975493"/>
                </a:cubicBezTo>
                <a:cubicBezTo>
                  <a:pt x="243929" y="970676"/>
                  <a:pt x="259880" y="955352"/>
                  <a:pt x="265500" y="935431"/>
                </a:cubicBezTo>
                <a:cubicBezTo>
                  <a:pt x="271121" y="915511"/>
                  <a:pt x="265531" y="894109"/>
                  <a:pt x="250888" y="879481"/>
                </a:cubicBezTo>
                <a:lnTo>
                  <a:pt x="154705" y="783355"/>
                </a:lnTo>
                <a:cubicBezTo>
                  <a:pt x="128831" y="757482"/>
                  <a:pt x="114295" y="722391"/>
                  <a:pt x="114295" y="685800"/>
                </a:cubicBezTo>
                <a:cubicBezTo>
                  <a:pt x="114295" y="649209"/>
                  <a:pt x="128831" y="614118"/>
                  <a:pt x="154705" y="588245"/>
                </a:cubicBezTo>
                <a:lnTo>
                  <a:pt x="250888" y="492061"/>
                </a:lnTo>
                <a:cubicBezTo>
                  <a:pt x="265517" y="477419"/>
                  <a:pt x="286919" y="471829"/>
                  <a:pt x="306839" y="477450"/>
                </a:cubicBezTo>
                <a:cubicBezTo>
                  <a:pt x="326759" y="483070"/>
                  <a:pt x="342083" y="499021"/>
                  <a:pt x="346900" y="519151"/>
                </a:cubicBezTo>
                <a:cubicBezTo>
                  <a:pt x="363317" y="587486"/>
                  <a:pt x="426993" y="633735"/>
                  <a:pt x="497055" y="628210"/>
                </a:cubicBezTo>
                <a:cubicBezTo>
                  <a:pt x="567118" y="622684"/>
                  <a:pt x="622758" y="567026"/>
                  <a:pt x="628260" y="496962"/>
                </a:cubicBezTo>
                <a:cubicBezTo>
                  <a:pt x="633762" y="426898"/>
                  <a:pt x="587492" y="363237"/>
                  <a:pt x="519151" y="346843"/>
                </a:cubicBezTo>
                <a:cubicBezTo>
                  <a:pt x="499021" y="342026"/>
                  <a:pt x="483070" y="326702"/>
                  <a:pt x="477450" y="306781"/>
                </a:cubicBezTo>
                <a:cubicBezTo>
                  <a:pt x="471829" y="286861"/>
                  <a:pt x="477419" y="265459"/>
                  <a:pt x="492061" y="250831"/>
                </a:cubicBezTo>
                <a:lnTo>
                  <a:pt x="588245" y="154705"/>
                </a:lnTo>
                <a:cubicBezTo>
                  <a:pt x="614118" y="128831"/>
                  <a:pt x="649209" y="114295"/>
                  <a:pt x="685800" y="114295"/>
                </a:cubicBezTo>
                <a:cubicBezTo>
                  <a:pt x="722391" y="114295"/>
                  <a:pt x="757482" y="128831"/>
                  <a:pt x="783355" y="154705"/>
                </a:cubicBezTo>
                <a:close/>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3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374B70"/>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03</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Diseñar para cambiar</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organizamos el código para cambiar una tecnología sin tocar el negocio.</a:t>
            </a:r>
            <a:endParaRPr lang="en-US" sz="1900" dirty="0"/>
          </a:p>
        </p:txBody>
      </p:sp>
      <p:sp>
        <p:nvSpPr>
          <p:cNvPr id="16" name="Text 14"/>
          <p:cNvSpPr/>
          <p:nvPr/>
        </p:nvSpPr>
        <p:spPr>
          <a:xfrm>
            <a:off x="758952" y="4663440"/>
            <a:ext cx="247345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Puertos y adaptadores</a:t>
            </a:r>
            <a:endParaRPr lang="en-US" sz="1300" dirty="0"/>
          </a:p>
        </p:txBody>
      </p:sp>
      <p:sp>
        <p:nvSpPr>
          <p:cNvPr id="17" name="Text 15"/>
          <p:cNvSpPr/>
          <p:nvPr/>
        </p:nvSpPr>
        <p:spPr>
          <a:xfrm>
            <a:off x="3360420" y="466344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Estructura base de ARKA-Lite</a:t>
            </a:r>
            <a:endParaRPr lang="en-US" sz="1300" dirty="0"/>
          </a:p>
        </p:txBody>
      </p:sp>
      <p:sp>
        <p:nvSpPr>
          <p:cNvPr id="18" name="Text 16"/>
          <p:cNvSpPr/>
          <p:nvPr/>
        </p:nvSpPr>
        <p:spPr>
          <a:xfrm>
            <a:off x="6633972" y="466344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 monolito a microservicios</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P3</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3 · Desarrollo</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Entrada: traduce HTTP</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Dominio: las reglas, sin Spring</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Puertos: lo que el negocio necesita</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Salida: PostgreSQL y HTTP</a:t>
            </a:r>
            <a:endParaRPr lang="en-US" sz="1100" dirty="0"/>
          </a:p>
        </p:txBody>
      </p:sp>
      <p:sp>
        <p:nvSpPr>
          <p:cNvPr id="9" name="Shape 7"/>
          <p:cNvSpPr/>
          <p:nvPr/>
        </p:nvSpPr>
        <p:spPr>
          <a:xfrm>
            <a:off x="809799" y="1939834"/>
            <a:ext cx="2424793" cy="3798842"/>
          </a:xfrm>
          <a:prstGeom prst="roundRect">
            <a:avLst>
              <a:gd name="adj" fmla="val 4525"/>
            </a:avLst>
          </a:prstGeom>
          <a:solidFill>
            <a:srgbClr val="F7F9FC"/>
          </a:solidFill>
          <a:ln w="12700">
            <a:solidFill>
              <a:srgbClr val="C7D2E2"/>
            </a:solidFill>
            <a:prstDash val="solid"/>
          </a:ln>
        </p:spPr>
      </p:sp>
      <p:sp>
        <p:nvSpPr>
          <p:cNvPr id="10" name="Text 8"/>
          <p:cNvSpPr/>
          <p:nvPr/>
        </p:nvSpPr>
        <p:spPr>
          <a:xfrm>
            <a:off x="882951" y="1994698"/>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11" name="Shape 9"/>
          <p:cNvSpPr/>
          <p:nvPr/>
        </p:nvSpPr>
        <p:spPr>
          <a:xfrm>
            <a:off x="3477071" y="1939834"/>
            <a:ext cx="3394710" cy="3798842"/>
          </a:xfrm>
          <a:prstGeom prst="roundRect">
            <a:avLst>
              <a:gd name="adj" fmla="val 3232"/>
            </a:avLst>
          </a:prstGeom>
          <a:solidFill>
            <a:srgbClr val="EAF0FA"/>
          </a:solidFill>
          <a:ln w="12700">
            <a:solidFill>
              <a:srgbClr val="AFC4E6"/>
            </a:solidFill>
            <a:prstDash val="solid"/>
          </a:ln>
        </p:spPr>
      </p:sp>
      <p:sp>
        <p:nvSpPr>
          <p:cNvPr id="12" name="Text 10"/>
          <p:cNvSpPr/>
          <p:nvPr/>
        </p:nvSpPr>
        <p:spPr>
          <a:xfrm>
            <a:off x="3550223" y="1994698"/>
            <a:ext cx="278384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800" b="1" spc="80" kern="0" dirty="0">
                <a:solidFill>
                  <a:srgbClr val="1F4E8C"/>
                </a:solidFill>
                <a:latin typeface="Segoe UI" pitchFamily="34" charset="0"/>
                <a:ea typeface="Segoe UI" pitchFamily="34" charset="-122"/>
                <a:cs typeface="Segoe UI" pitchFamily="34" charset="-120"/>
              </a:rPr>
              <a:t>DOMINIO · LAS REGLAS, SIN SPRING</a:t>
            </a:r>
            <a:endParaRPr lang="en-US" sz="800" dirty="0"/>
          </a:p>
        </p:txBody>
      </p:sp>
      <p:sp>
        <p:nvSpPr>
          <p:cNvPr id="13" name="Shape 11"/>
          <p:cNvSpPr/>
          <p:nvPr/>
        </p:nvSpPr>
        <p:spPr>
          <a:xfrm>
            <a:off x="7114261" y="1939834"/>
            <a:ext cx="4267635" cy="3798842"/>
          </a:xfrm>
          <a:prstGeom prst="roundRect">
            <a:avLst>
              <a:gd name="adj" fmla="val 2888"/>
            </a:avLst>
          </a:prstGeom>
          <a:solidFill>
            <a:srgbClr val="EEF2F7"/>
          </a:solidFill>
          <a:ln w="12700">
            <a:solidFill>
              <a:srgbClr val="C2CEDD"/>
            </a:solidFill>
            <a:prstDash val="solid"/>
          </a:ln>
        </p:spPr>
      </p:sp>
      <p:sp>
        <p:nvSpPr>
          <p:cNvPr id="14" name="Text 12"/>
          <p:cNvSpPr/>
          <p:nvPr/>
        </p:nvSpPr>
        <p:spPr>
          <a:xfrm>
            <a:off x="7187413" y="1994698"/>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5" name="Shape 13"/>
          <p:cNvSpPr/>
          <p:nvPr/>
        </p:nvSpPr>
        <p:spPr>
          <a:xfrm>
            <a:off x="3072939" y="2578363"/>
            <a:ext cx="565785" cy="0"/>
          </a:xfrm>
          <a:prstGeom prst="line">
            <a:avLst/>
          </a:prstGeom>
          <a:noFill/>
          <a:ln w="31750">
            <a:solidFill>
              <a:srgbClr val="55627E"/>
            </a:solidFill>
            <a:prstDash val="sysDot"/>
            <a:tailEnd type="triangle"/>
          </a:ln>
        </p:spPr>
      </p:sp>
      <p:sp>
        <p:nvSpPr>
          <p:cNvPr id="16" name="Text 14"/>
          <p:cNvSpPr/>
          <p:nvPr/>
        </p:nvSpPr>
        <p:spPr>
          <a:xfrm>
            <a:off x="3136376" y="2350171"/>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7" name="Text 15"/>
          <p:cNvSpPr/>
          <p:nvPr/>
        </p:nvSpPr>
        <p:spPr>
          <a:xfrm>
            <a:off x="3157195" y="24686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8" name="Shape 16"/>
          <p:cNvSpPr/>
          <p:nvPr/>
        </p:nvSpPr>
        <p:spPr>
          <a:xfrm>
            <a:off x="4366162" y="2828925"/>
            <a:ext cx="0" cy="565785"/>
          </a:xfrm>
          <a:prstGeom prst="line">
            <a:avLst/>
          </a:prstGeom>
          <a:noFill/>
          <a:ln w="31750">
            <a:solidFill>
              <a:srgbClr val="55627E"/>
            </a:solidFill>
            <a:prstDash val="sysDot"/>
            <a:tailEnd type="triangle"/>
          </a:ln>
        </p:spPr>
      </p:sp>
      <p:sp>
        <p:nvSpPr>
          <p:cNvPr id="19" name="Text 17"/>
          <p:cNvSpPr/>
          <p:nvPr/>
        </p:nvSpPr>
        <p:spPr>
          <a:xfrm>
            <a:off x="4256434" y="291318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5982691" y="2828925"/>
            <a:ext cx="0" cy="565785"/>
          </a:xfrm>
          <a:prstGeom prst="line">
            <a:avLst/>
          </a:prstGeom>
          <a:noFill/>
          <a:ln w="22860">
            <a:solidFill>
              <a:srgbClr val="1F4E8C"/>
            </a:solidFill>
            <a:prstDash val="lgDash"/>
            <a:tailEnd type="arrow"/>
          </a:ln>
        </p:spPr>
      </p:sp>
      <p:sp>
        <p:nvSpPr>
          <p:cNvPr id="21" name="Text 19"/>
          <p:cNvSpPr/>
          <p:nvPr/>
        </p:nvSpPr>
        <p:spPr>
          <a:xfrm>
            <a:off x="5587311" y="2988700"/>
            <a:ext cx="314554"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22" name="Text 20"/>
          <p:cNvSpPr/>
          <p:nvPr/>
        </p:nvSpPr>
        <p:spPr>
          <a:xfrm>
            <a:off x="5872963" y="291318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flipH="1">
            <a:off x="7033434" y="2699603"/>
            <a:ext cx="242479" cy="0"/>
          </a:xfrm>
          <a:prstGeom prst="line">
            <a:avLst/>
          </a:prstGeom>
          <a:noFill/>
          <a:ln w="22860">
            <a:solidFill>
              <a:srgbClr val="1F4E8C"/>
            </a:solidFill>
            <a:prstDash val="lgDash"/>
          </a:ln>
        </p:spPr>
      </p:sp>
      <p:sp>
        <p:nvSpPr>
          <p:cNvPr id="24" name="Shape 22"/>
          <p:cNvSpPr/>
          <p:nvPr/>
        </p:nvSpPr>
        <p:spPr>
          <a:xfrm>
            <a:off x="7033434" y="2699603"/>
            <a:ext cx="0" cy="945669"/>
          </a:xfrm>
          <a:prstGeom prst="line">
            <a:avLst/>
          </a:prstGeom>
          <a:noFill/>
          <a:ln w="22860">
            <a:solidFill>
              <a:srgbClr val="1F4E8C"/>
            </a:solidFill>
            <a:prstDash val="lgDash"/>
          </a:ln>
        </p:spPr>
      </p:sp>
      <p:sp>
        <p:nvSpPr>
          <p:cNvPr id="25" name="Shape 23"/>
          <p:cNvSpPr/>
          <p:nvPr/>
        </p:nvSpPr>
        <p:spPr>
          <a:xfrm flipH="1">
            <a:off x="6710128" y="3645272"/>
            <a:ext cx="323306" cy="0"/>
          </a:xfrm>
          <a:prstGeom prst="line">
            <a:avLst/>
          </a:prstGeom>
          <a:noFill/>
          <a:ln w="22860">
            <a:solidFill>
              <a:srgbClr val="1F4E8C"/>
            </a:solidFill>
            <a:prstDash val="lgDash"/>
            <a:tailEnd type="arrow"/>
          </a:ln>
        </p:spPr>
      </p:sp>
      <p:sp>
        <p:nvSpPr>
          <p:cNvPr id="26" name="Text 24"/>
          <p:cNvSpPr/>
          <p:nvPr/>
        </p:nvSpPr>
        <p:spPr>
          <a:xfrm>
            <a:off x="6140621" y="3049320"/>
            <a:ext cx="811987"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implementan</a:t>
            </a:r>
            <a:endParaRPr lang="en-US" sz="800" dirty="0"/>
          </a:p>
        </p:txBody>
      </p:sp>
      <p:sp>
        <p:nvSpPr>
          <p:cNvPr id="27" name="Text 25"/>
          <p:cNvSpPr/>
          <p:nvPr/>
        </p:nvSpPr>
        <p:spPr>
          <a:xfrm>
            <a:off x="7044946" y="25898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7033434" y="3289636"/>
            <a:ext cx="242479" cy="0"/>
          </a:xfrm>
          <a:prstGeom prst="line">
            <a:avLst/>
          </a:prstGeom>
          <a:noFill/>
          <a:ln w="22860">
            <a:solidFill>
              <a:srgbClr val="1F4E8C"/>
            </a:solidFill>
            <a:prstDash val="lgDash"/>
          </a:ln>
        </p:spPr>
      </p:sp>
      <p:sp>
        <p:nvSpPr>
          <p:cNvPr id="29" name="Shape 27"/>
          <p:cNvSpPr/>
          <p:nvPr/>
        </p:nvSpPr>
        <p:spPr>
          <a:xfrm>
            <a:off x="7033434" y="3289636"/>
            <a:ext cx="0" cy="355636"/>
          </a:xfrm>
          <a:prstGeom prst="line">
            <a:avLst/>
          </a:prstGeom>
          <a:noFill/>
          <a:ln w="22860">
            <a:solidFill>
              <a:srgbClr val="1F4E8C"/>
            </a:solidFill>
            <a:prstDash val="lgDash"/>
          </a:ln>
        </p:spPr>
      </p:sp>
      <p:sp>
        <p:nvSpPr>
          <p:cNvPr id="30" name="Shape 28"/>
          <p:cNvSpPr/>
          <p:nvPr/>
        </p:nvSpPr>
        <p:spPr>
          <a:xfrm flipH="1">
            <a:off x="6710128" y="3645272"/>
            <a:ext cx="323306" cy="0"/>
          </a:xfrm>
          <a:prstGeom prst="line">
            <a:avLst/>
          </a:prstGeom>
          <a:noFill/>
          <a:ln w="22860">
            <a:solidFill>
              <a:srgbClr val="1F4E8C"/>
            </a:solidFill>
            <a:prstDash val="lgDash"/>
            <a:tailEnd type="arrow"/>
          </a:ln>
        </p:spPr>
      </p:sp>
      <p:sp>
        <p:nvSpPr>
          <p:cNvPr id="31" name="Text 29"/>
          <p:cNvSpPr/>
          <p:nvPr/>
        </p:nvSpPr>
        <p:spPr>
          <a:xfrm>
            <a:off x="7044946" y="317990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flipH="1">
            <a:off x="7033434" y="4712181"/>
            <a:ext cx="242479" cy="0"/>
          </a:xfrm>
          <a:prstGeom prst="line">
            <a:avLst/>
          </a:prstGeom>
          <a:noFill/>
          <a:ln w="22860">
            <a:solidFill>
              <a:srgbClr val="1F4E8C"/>
            </a:solidFill>
            <a:prstDash val="lgDash"/>
          </a:ln>
        </p:spPr>
      </p:sp>
      <p:sp>
        <p:nvSpPr>
          <p:cNvPr id="33" name="Shape 31"/>
          <p:cNvSpPr/>
          <p:nvPr/>
        </p:nvSpPr>
        <p:spPr>
          <a:xfrm flipV="1">
            <a:off x="7033434" y="3645272"/>
            <a:ext cx="0" cy="1066909"/>
          </a:xfrm>
          <a:prstGeom prst="line">
            <a:avLst/>
          </a:prstGeom>
          <a:noFill/>
          <a:ln w="22860">
            <a:solidFill>
              <a:srgbClr val="1F4E8C"/>
            </a:solidFill>
            <a:prstDash val="lgDash"/>
          </a:ln>
        </p:spPr>
      </p:sp>
      <p:sp>
        <p:nvSpPr>
          <p:cNvPr id="34" name="Shape 32"/>
          <p:cNvSpPr/>
          <p:nvPr/>
        </p:nvSpPr>
        <p:spPr>
          <a:xfrm flipH="1">
            <a:off x="6710128" y="3645272"/>
            <a:ext cx="323306" cy="0"/>
          </a:xfrm>
          <a:prstGeom prst="line">
            <a:avLst/>
          </a:prstGeom>
          <a:noFill/>
          <a:ln w="22860">
            <a:solidFill>
              <a:srgbClr val="1F4E8C"/>
            </a:solidFill>
            <a:prstDash val="lgDash"/>
            <a:tailEnd type="arrow"/>
          </a:ln>
        </p:spPr>
      </p:sp>
      <p:sp>
        <p:nvSpPr>
          <p:cNvPr id="35" name="Text 33"/>
          <p:cNvSpPr/>
          <p:nvPr/>
        </p:nvSpPr>
        <p:spPr>
          <a:xfrm>
            <a:off x="7044946" y="460245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6" name="Shape 34"/>
          <p:cNvSpPr/>
          <p:nvPr/>
        </p:nvSpPr>
        <p:spPr>
          <a:xfrm>
            <a:off x="6710128" y="2457123"/>
            <a:ext cx="565785" cy="0"/>
          </a:xfrm>
          <a:prstGeom prst="line">
            <a:avLst/>
          </a:prstGeom>
          <a:noFill/>
          <a:ln w="31750">
            <a:solidFill>
              <a:srgbClr val="55627E"/>
            </a:solidFill>
            <a:prstDash val="sysDot"/>
            <a:tailEnd type="triangle"/>
          </a:ln>
        </p:spPr>
      </p:sp>
      <p:sp>
        <p:nvSpPr>
          <p:cNvPr id="37" name="Text 35"/>
          <p:cNvSpPr/>
          <p:nvPr/>
        </p:nvSpPr>
        <p:spPr>
          <a:xfrm>
            <a:off x="6711386" y="2228932"/>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38" name="Text 36"/>
          <p:cNvSpPr/>
          <p:nvPr/>
        </p:nvSpPr>
        <p:spPr>
          <a:xfrm>
            <a:off x="6794384" y="23473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9" name="Shape 37"/>
          <p:cNvSpPr/>
          <p:nvPr/>
        </p:nvSpPr>
        <p:spPr>
          <a:xfrm>
            <a:off x="9183417" y="2578363"/>
            <a:ext cx="1147735" cy="0"/>
          </a:xfrm>
          <a:prstGeom prst="line">
            <a:avLst/>
          </a:prstGeom>
          <a:noFill/>
          <a:ln w="31750">
            <a:solidFill>
              <a:srgbClr val="55627E"/>
            </a:solidFill>
            <a:prstDash val="sysDot"/>
          </a:ln>
        </p:spPr>
      </p:sp>
      <p:sp>
        <p:nvSpPr>
          <p:cNvPr id="40" name="Shape 38"/>
          <p:cNvSpPr/>
          <p:nvPr/>
        </p:nvSpPr>
        <p:spPr>
          <a:xfrm flipV="1">
            <a:off x="10331152" y="2327801"/>
            <a:ext cx="0" cy="250562"/>
          </a:xfrm>
          <a:prstGeom prst="line">
            <a:avLst/>
          </a:prstGeom>
          <a:noFill/>
          <a:ln w="31750">
            <a:solidFill>
              <a:srgbClr val="55627E"/>
            </a:solidFill>
            <a:prstDash val="sysDot"/>
            <a:tailEnd type="triangle"/>
          </a:ln>
        </p:spPr>
      </p:sp>
      <p:sp>
        <p:nvSpPr>
          <p:cNvPr id="41" name="Text 39"/>
          <p:cNvSpPr/>
          <p:nvPr/>
        </p:nvSpPr>
        <p:spPr>
          <a:xfrm>
            <a:off x="9267673" y="24686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2" name="Shape 40"/>
          <p:cNvSpPr/>
          <p:nvPr/>
        </p:nvSpPr>
        <p:spPr>
          <a:xfrm>
            <a:off x="9183417" y="3289636"/>
            <a:ext cx="1147735" cy="0"/>
          </a:xfrm>
          <a:prstGeom prst="line">
            <a:avLst/>
          </a:prstGeom>
          <a:noFill/>
          <a:ln w="31750">
            <a:solidFill>
              <a:srgbClr val="55627E"/>
            </a:solidFill>
            <a:prstDash val="sysDot"/>
          </a:ln>
        </p:spPr>
      </p:sp>
      <p:sp>
        <p:nvSpPr>
          <p:cNvPr id="43" name="Shape 41"/>
          <p:cNvSpPr/>
          <p:nvPr/>
        </p:nvSpPr>
        <p:spPr>
          <a:xfrm>
            <a:off x="10331152" y="3289636"/>
            <a:ext cx="0" cy="250562"/>
          </a:xfrm>
          <a:prstGeom prst="line">
            <a:avLst/>
          </a:prstGeom>
          <a:noFill/>
          <a:ln w="31750">
            <a:solidFill>
              <a:srgbClr val="55627E"/>
            </a:solidFill>
            <a:prstDash val="sysDot"/>
            <a:tailEnd type="triangle"/>
          </a:ln>
        </p:spPr>
      </p:sp>
      <p:sp>
        <p:nvSpPr>
          <p:cNvPr id="44" name="Text 42"/>
          <p:cNvSpPr/>
          <p:nvPr/>
        </p:nvSpPr>
        <p:spPr>
          <a:xfrm>
            <a:off x="9267673" y="317990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5" name="Shape 43"/>
          <p:cNvSpPr/>
          <p:nvPr/>
        </p:nvSpPr>
        <p:spPr>
          <a:xfrm>
            <a:off x="9183417" y="4000908"/>
            <a:ext cx="1147735" cy="0"/>
          </a:xfrm>
          <a:prstGeom prst="line">
            <a:avLst/>
          </a:prstGeom>
          <a:noFill/>
          <a:ln w="31750">
            <a:solidFill>
              <a:srgbClr val="55627E"/>
            </a:solidFill>
            <a:prstDash val="sysDot"/>
          </a:ln>
        </p:spPr>
      </p:sp>
      <p:sp>
        <p:nvSpPr>
          <p:cNvPr id="46" name="Shape 44"/>
          <p:cNvSpPr/>
          <p:nvPr/>
        </p:nvSpPr>
        <p:spPr>
          <a:xfrm flipV="1">
            <a:off x="10331152" y="3540198"/>
            <a:ext cx="0" cy="460711"/>
          </a:xfrm>
          <a:prstGeom prst="line">
            <a:avLst/>
          </a:prstGeom>
          <a:noFill/>
          <a:ln w="31750">
            <a:solidFill>
              <a:srgbClr val="55627E"/>
            </a:solidFill>
            <a:prstDash val="sysDot"/>
            <a:tailEnd type="triangle"/>
          </a:ln>
        </p:spPr>
      </p:sp>
      <p:sp>
        <p:nvSpPr>
          <p:cNvPr id="47" name="Text 45"/>
          <p:cNvSpPr/>
          <p:nvPr/>
        </p:nvSpPr>
        <p:spPr>
          <a:xfrm>
            <a:off x="9258022" y="3772716"/>
            <a:ext cx="998525"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48" name="Text 46"/>
          <p:cNvSpPr/>
          <p:nvPr/>
        </p:nvSpPr>
        <p:spPr>
          <a:xfrm>
            <a:off x="9267673" y="389118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8229665" y="4251470"/>
            <a:ext cx="0" cy="210149"/>
          </a:xfrm>
          <a:prstGeom prst="line">
            <a:avLst/>
          </a:prstGeom>
          <a:noFill/>
          <a:ln w="31750">
            <a:solidFill>
              <a:srgbClr val="55627E"/>
            </a:solidFill>
            <a:prstDash val="sysDot"/>
            <a:tailEnd type="triangle"/>
          </a:ln>
        </p:spPr>
      </p:sp>
      <p:sp>
        <p:nvSpPr>
          <p:cNvPr id="50" name="Text 48"/>
          <p:cNvSpPr/>
          <p:nvPr/>
        </p:nvSpPr>
        <p:spPr>
          <a:xfrm>
            <a:off x="8119937" y="42468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1" name="Shape 49"/>
          <p:cNvSpPr/>
          <p:nvPr/>
        </p:nvSpPr>
        <p:spPr>
          <a:xfrm>
            <a:off x="9183417" y="4712181"/>
            <a:ext cx="258645" cy="0"/>
          </a:xfrm>
          <a:prstGeom prst="line">
            <a:avLst/>
          </a:prstGeom>
          <a:noFill/>
          <a:ln w="25400">
            <a:solidFill>
              <a:srgbClr val="55627E"/>
            </a:solidFill>
            <a:prstDash val="dash"/>
            <a:tailEnd type="triangle"/>
          </a:ln>
        </p:spPr>
      </p:sp>
      <p:sp>
        <p:nvSpPr>
          <p:cNvPr id="52" name="Text 50"/>
          <p:cNvSpPr/>
          <p:nvPr/>
        </p:nvSpPr>
        <p:spPr>
          <a:xfrm>
            <a:off x="9203011" y="46024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53" name="Shape 51"/>
          <p:cNvSpPr/>
          <p:nvPr/>
        </p:nvSpPr>
        <p:spPr>
          <a:xfrm>
            <a:off x="4366162" y="3895834"/>
            <a:ext cx="0" cy="565785"/>
          </a:xfrm>
          <a:prstGeom prst="line">
            <a:avLst/>
          </a:prstGeom>
          <a:noFill/>
          <a:ln w="31750">
            <a:solidFill>
              <a:srgbClr val="AB243E"/>
            </a:solidFill>
            <a:prstDash val="sysDash"/>
            <a:tailEnd type="triangle"/>
          </a:ln>
        </p:spPr>
      </p:sp>
      <p:sp>
        <p:nvSpPr>
          <p:cNvPr id="54" name="Text 52"/>
          <p:cNvSpPr/>
          <p:nvPr/>
        </p:nvSpPr>
        <p:spPr>
          <a:xfrm>
            <a:off x="4446988" y="4055609"/>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5" name="Text 53"/>
          <p:cNvSpPr/>
          <p:nvPr/>
        </p:nvSpPr>
        <p:spPr>
          <a:xfrm>
            <a:off x="4256434" y="3980089"/>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6" name="Shape 54"/>
          <p:cNvSpPr/>
          <p:nvPr/>
        </p:nvSpPr>
        <p:spPr>
          <a:xfrm flipH="1">
            <a:off x="3355832" y="4712181"/>
            <a:ext cx="282893" cy="0"/>
          </a:xfrm>
          <a:prstGeom prst="line">
            <a:avLst/>
          </a:prstGeom>
          <a:noFill/>
          <a:ln w="31750">
            <a:solidFill>
              <a:srgbClr val="AB243E"/>
            </a:solidFill>
            <a:prstDash val="sysDash"/>
          </a:ln>
        </p:spPr>
      </p:sp>
      <p:sp>
        <p:nvSpPr>
          <p:cNvPr id="57" name="Shape 55"/>
          <p:cNvSpPr/>
          <p:nvPr/>
        </p:nvSpPr>
        <p:spPr>
          <a:xfrm flipV="1">
            <a:off x="3355832" y="4000908"/>
            <a:ext cx="0" cy="711273"/>
          </a:xfrm>
          <a:prstGeom prst="line">
            <a:avLst/>
          </a:prstGeom>
          <a:noFill/>
          <a:ln w="31750">
            <a:solidFill>
              <a:srgbClr val="AB243E"/>
            </a:solidFill>
            <a:prstDash val="sysDash"/>
          </a:ln>
        </p:spPr>
      </p:sp>
      <p:sp>
        <p:nvSpPr>
          <p:cNvPr id="58" name="Shape 56"/>
          <p:cNvSpPr/>
          <p:nvPr/>
        </p:nvSpPr>
        <p:spPr>
          <a:xfrm flipH="1">
            <a:off x="3072939" y="4000908"/>
            <a:ext cx="282893" cy="0"/>
          </a:xfrm>
          <a:prstGeom prst="line">
            <a:avLst/>
          </a:prstGeom>
          <a:noFill/>
          <a:ln w="31750">
            <a:solidFill>
              <a:srgbClr val="AB243E"/>
            </a:solidFill>
            <a:prstDash val="sysDash"/>
            <a:tailEnd type="triangle"/>
          </a:ln>
        </p:spPr>
      </p:sp>
      <p:sp>
        <p:nvSpPr>
          <p:cNvPr id="59" name="Text 57"/>
          <p:cNvSpPr/>
          <p:nvPr/>
        </p:nvSpPr>
        <p:spPr>
          <a:xfrm>
            <a:off x="3387550" y="4602453"/>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60" name="Shape 58"/>
          <p:cNvSpPr/>
          <p:nvPr/>
        </p:nvSpPr>
        <p:spPr>
          <a:xfrm>
            <a:off x="8229665" y="4962743"/>
            <a:ext cx="0" cy="889091"/>
          </a:xfrm>
          <a:prstGeom prst="line">
            <a:avLst/>
          </a:prstGeom>
          <a:noFill/>
          <a:ln w="22860">
            <a:solidFill>
              <a:srgbClr val="1F4E8C"/>
            </a:solidFill>
            <a:prstDash val="lgDash"/>
            <a:tailEnd type="arrow"/>
          </a:ln>
        </p:spPr>
      </p:sp>
      <p:sp>
        <p:nvSpPr>
          <p:cNvPr id="61" name="Text 59"/>
          <p:cNvSpPr/>
          <p:nvPr/>
        </p:nvSpPr>
        <p:spPr>
          <a:xfrm>
            <a:off x="8310492" y="5284171"/>
            <a:ext cx="314554"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62" name="Text 60"/>
          <p:cNvSpPr/>
          <p:nvPr/>
        </p:nvSpPr>
        <p:spPr>
          <a:xfrm>
            <a:off x="8119937" y="504699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63" name="Shape 61"/>
          <p:cNvSpPr/>
          <p:nvPr/>
        </p:nvSpPr>
        <p:spPr>
          <a:xfrm>
            <a:off x="971452" y="2327801"/>
            <a:ext cx="2101487" cy="501124"/>
          </a:xfrm>
          <a:prstGeom prst="roundRect">
            <a:avLst>
              <a:gd name="adj" fmla="val 16422"/>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1062892" y="2393207"/>
            <a:ext cx="370312" cy="370312"/>
          </a:xfrm>
          <a:prstGeom prst="ellipse">
            <a:avLst/>
          </a:prstGeom>
          <a:solidFill>
            <a:srgbClr val="EBECF0"/>
          </a:solidFill>
          <a:ln w="12700">
            <a:solidFill>
              <a:srgbClr val="EBECF0"/>
            </a:solidFill>
            <a:prstDash val="solid"/>
          </a:ln>
        </p:spPr>
      </p:sp>
      <p:sp>
        <p:nvSpPr>
          <p:cNvPr id="65" name="Icono code"/>
          <p:cNvSpPr/>
          <p:nvPr/>
        </p:nvSpPr>
        <p:spPr>
          <a:xfrm>
            <a:off x="1117756" y="2448071"/>
            <a:ext cx="260584" cy="260584"/>
          </a:xfrm>
          <a:custGeom>
            <a:avLst/>
            <a:gdLst/>
            <a:ahLst/>
            <a:cxnLst/>
            <a:rect l="l" t="t" r="r" b="b"/>
            <a:pathLst>
              <a:path w="260584" h="260584">
                <a:moveTo>
                  <a:pt x="173723" y="195438"/>
                </a:moveTo>
                <a:lnTo>
                  <a:pt x="238869" y="130292"/>
                </a:lnTo>
                <a:lnTo>
                  <a:pt x="173723" y="65146"/>
                </a:lnTo>
                <a:moveTo>
                  <a:pt x="86861" y="65146"/>
                </a:moveTo>
                <a:lnTo>
                  <a:pt x="21715" y="130292"/>
                </a:lnTo>
                <a:lnTo>
                  <a:pt x="86861" y="195438"/>
                </a:lnTo>
              </a:path>
            </a:pathLst>
          </a:custGeom>
          <a:noFill/>
          <a:ln w="21715" cap="rnd">
            <a:solidFill>
              <a:srgbClr val="55627E"/>
            </a:solidFill>
            <a:prstDash val="solid"/>
            <a:round/>
          </a:ln>
        </p:spPr>
      </p:sp>
      <p:sp>
        <p:nvSpPr>
          <p:cNvPr id="66" name="Text 64"/>
          <p:cNvSpPr/>
          <p:nvPr/>
        </p:nvSpPr>
        <p:spPr>
          <a:xfrm>
            <a:off x="1488068" y="2327801"/>
            <a:ext cx="1530007"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SolicitudController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y GET /solicitudes</a:t>
            </a:r>
            <a:endParaRPr lang="en-US" sz="955" dirty="0"/>
          </a:p>
        </p:txBody>
      </p:sp>
      <p:sp>
        <p:nvSpPr>
          <p:cNvPr id="67" name="Text 65"/>
          <p:cNvSpPr/>
          <p:nvPr/>
        </p:nvSpPr>
        <p:spPr>
          <a:xfrm>
            <a:off x="971452" y="3039074"/>
            <a:ext cx="2101487" cy="501124"/>
          </a:xfrm>
          <a:prstGeom prst="roundRect">
            <a:avLst>
              <a:gd name="adj" fmla="val 16422"/>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EventoSalienteController</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GET /eventos</a:t>
            </a:r>
            <a:endParaRPr lang="en-US" sz="955" dirty="0"/>
          </a:p>
        </p:txBody>
      </p:sp>
      <p:sp>
        <p:nvSpPr>
          <p:cNvPr id="68" name="Text 66"/>
          <p:cNvSpPr/>
          <p:nvPr/>
        </p:nvSpPr>
        <p:spPr>
          <a:xfrm>
            <a:off x="971452" y="3750346"/>
            <a:ext cx="2101487" cy="501124"/>
          </a:xfrm>
          <a:prstGeom prst="roundRect">
            <a:avLst>
              <a:gd name="adj" fmla="val 16422"/>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ManejadorGlobalDeErrores</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5" dirty="0"/>
          </a:p>
        </p:txBody>
      </p:sp>
      <p:sp>
        <p:nvSpPr>
          <p:cNvPr id="69" name="Shape 67"/>
          <p:cNvSpPr/>
          <p:nvPr/>
        </p:nvSpPr>
        <p:spPr>
          <a:xfrm>
            <a:off x="971452" y="4461619"/>
            <a:ext cx="2101487" cy="501124"/>
          </a:xfrm>
          <a:prstGeom prst="roundRect">
            <a:avLst>
              <a:gd name="adj" fmla="val 16422"/>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1062892" y="4527025"/>
            <a:ext cx="370312" cy="370312"/>
          </a:xfrm>
          <a:prstGeom prst="ellipse">
            <a:avLst/>
          </a:prstGeom>
          <a:solidFill>
            <a:srgbClr val="EBECF0"/>
          </a:solidFill>
          <a:ln w="12700">
            <a:solidFill>
              <a:srgbClr val="EBECF0"/>
            </a:solidFill>
            <a:prstDash val="solid"/>
          </a:ln>
        </p:spPr>
      </p:sp>
      <p:sp>
        <p:nvSpPr>
          <p:cNvPr id="71" name="Icono book-open"/>
          <p:cNvSpPr/>
          <p:nvPr/>
        </p:nvSpPr>
        <p:spPr>
          <a:xfrm>
            <a:off x="1117756" y="4581889"/>
            <a:ext cx="260584" cy="260584"/>
          </a:xfrm>
          <a:custGeom>
            <a:avLst/>
            <a:gdLst/>
            <a:ahLst/>
            <a:cxnLst/>
            <a:rect l="l" t="t" r="r" b="b"/>
            <a:pathLst>
              <a:path w="260584" h="260584">
                <a:moveTo>
                  <a:pt x="130292" y="76004"/>
                </a:moveTo>
                <a:lnTo>
                  <a:pt x="130292" y="228011"/>
                </a:lnTo>
                <a:moveTo>
                  <a:pt x="32573" y="195438"/>
                </a:moveTo>
                <a:cubicBezTo>
                  <a:pt x="26577" y="195438"/>
                  <a:pt x="21715" y="190577"/>
                  <a:pt x="21715" y="184581"/>
                </a:cubicBezTo>
                <a:lnTo>
                  <a:pt x="21715" y="43431"/>
                </a:lnTo>
                <a:cubicBezTo>
                  <a:pt x="21715" y="37434"/>
                  <a:pt x="26577" y="32573"/>
                  <a:pt x="32573" y="32573"/>
                </a:cubicBezTo>
                <a:lnTo>
                  <a:pt x="86861" y="32573"/>
                </a:lnTo>
                <a:cubicBezTo>
                  <a:pt x="110848" y="32573"/>
                  <a:pt x="130292" y="52018"/>
                  <a:pt x="130292" y="76004"/>
                </a:cubicBezTo>
                <a:cubicBezTo>
                  <a:pt x="130292" y="52018"/>
                  <a:pt x="149737" y="32573"/>
                  <a:pt x="173723" y="32573"/>
                </a:cubicBezTo>
                <a:lnTo>
                  <a:pt x="228011" y="32573"/>
                </a:lnTo>
                <a:cubicBezTo>
                  <a:pt x="234008" y="32573"/>
                  <a:pt x="238869" y="37434"/>
                  <a:pt x="238869" y="43431"/>
                </a:cubicBezTo>
                <a:lnTo>
                  <a:pt x="238869" y="184581"/>
                </a:lnTo>
                <a:cubicBezTo>
                  <a:pt x="238869" y="190577"/>
                  <a:pt x="234008" y="195438"/>
                  <a:pt x="228011" y="195438"/>
                </a:cubicBezTo>
                <a:lnTo>
                  <a:pt x="162865" y="195438"/>
                </a:lnTo>
                <a:cubicBezTo>
                  <a:pt x="144876" y="195438"/>
                  <a:pt x="130292" y="210022"/>
                  <a:pt x="130292" y="228011"/>
                </a:cubicBezTo>
                <a:cubicBezTo>
                  <a:pt x="130292" y="210022"/>
                  <a:pt x="115709" y="195438"/>
                  <a:pt x="97719" y="195438"/>
                </a:cubicBezTo>
                <a:close/>
              </a:path>
            </a:pathLst>
          </a:custGeom>
          <a:noFill/>
          <a:ln w="21715" cap="rnd">
            <a:solidFill>
              <a:srgbClr val="55627E"/>
            </a:solidFill>
            <a:prstDash val="solid"/>
            <a:round/>
          </a:ln>
        </p:spPr>
      </p:sp>
      <p:sp>
        <p:nvSpPr>
          <p:cNvPr id="72" name="Text 70"/>
          <p:cNvSpPr/>
          <p:nvPr/>
        </p:nvSpPr>
        <p:spPr>
          <a:xfrm>
            <a:off x="1488068" y="4461619"/>
            <a:ext cx="1530007"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Swagger y Actuator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55" dirty="0"/>
          </a:p>
        </p:txBody>
      </p:sp>
      <p:sp>
        <p:nvSpPr>
          <p:cNvPr id="73" name="Shape 71"/>
          <p:cNvSpPr/>
          <p:nvPr/>
        </p:nvSpPr>
        <p:spPr>
          <a:xfrm>
            <a:off x="3638724" y="2327801"/>
            <a:ext cx="3071404" cy="501124"/>
          </a:xfrm>
          <a:prstGeom prst="roundRect">
            <a:avLst>
              <a:gd name="adj" fmla="val 1642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3730164" y="2393207"/>
            <a:ext cx="370312" cy="370312"/>
          </a:xfrm>
          <a:prstGeom prst="ellipse">
            <a:avLst/>
          </a:prstGeom>
          <a:solidFill>
            <a:srgbClr val="E4EAF1"/>
          </a:solidFill>
          <a:ln w="12700">
            <a:solidFill>
              <a:srgbClr val="E4EAF1"/>
            </a:solidFill>
            <a:prstDash val="solid"/>
          </a:ln>
        </p:spPr>
      </p:sp>
      <p:sp>
        <p:nvSpPr>
          <p:cNvPr id="75" name="Icono settings"/>
          <p:cNvSpPr/>
          <p:nvPr/>
        </p:nvSpPr>
        <p:spPr>
          <a:xfrm>
            <a:off x="3785028" y="2448071"/>
            <a:ext cx="260584" cy="260584"/>
          </a:xfrm>
          <a:custGeom>
            <a:avLst/>
            <a:gdLst/>
            <a:ahLst/>
            <a:cxnLst/>
            <a:rect l="l" t="t" r="r" b="b"/>
            <a:pathLst>
              <a:path w="260584" h="260584">
                <a:moveTo>
                  <a:pt x="132681" y="21715"/>
                </a:moveTo>
                <a:lnTo>
                  <a:pt x="127904" y="21715"/>
                </a:lnTo>
                <a:cubicBezTo>
                  <a:pt x="115910" y="21715"/>
                  <a:pt x="106188" y="31438"/>
                  <a:pt x="106188" y="43431"/>
                </a:cubicBezTo>
                <a:lnTo>
                  <a:pt x="106188" y="45385"/>
                </a:lnTo>
                <a:cubicBezTo>
                  <a:pt x="106180" y="53135"/>
                  <a:pt x="102042" y="60294"/>
                  <a:pt x="95330" y="64169"/>
                </a:cubicBezTo>
                <a:lnTo>
                  <a:pt x="90662" y="66883"/>
                </a:lnTo>
                <a:cubicBezTo>
                  <a:pt x="83943" y="70762"/>
                  <a:pt x="75665" y="70762"/>
                  <a:pt x="68946" y="66883"/>
                </a:cubicBezTo>
                <a:lnTo>
                  <a:pt x="67318" y="66015"/>
                </a:lnTo>
                <a:cubicBezTo>
                  <a:pt x="56942" y="60030"/>
                  <a:pt x="43680" y="63576"/>
                  <a:pt x="37676" y="73941"/>
                </a:cubicBezTo>
                <a:lnTo>
                  <a:pt x="35287" y="78067"/>
                </a:lnTo>
                <a:cubicBezTo>
                  <a:pt x="29302" y="88442"/>
                  <a:pt x="32849" y="101705"/>
                  <a:pt x="43214" y="107708"/>
                </a:cubicBezTo>
                <a:lnTo>
                  <a:pt x="44842" y="108794"/>
                </a:lnTo>
                <a:cubicBezTo>
                  <a:pt x="51521" y="112650"/>
                  <a:pt x="55653" y="119758"/>
                  <a:pt x="55700" y="127469"/>
                </a:cubicBezTo>
                <a:lnTo>
                  <a:pt x="55700" y="133007"/>
                </a:lnTo>
                <a:cubicBezTo>
                  <a:pt x="55731" y="140796"/>
                  <a:pt x="51588" y="148005"/>
                  <a:pt x="44842" y="151899"/>
                </a:cubicBezTo>
                <a:lnTo>
                  <a:pt x="43214" y="152876"/>
                </a:lnTo>
                <a:cubicBezTo>
                  <a:pt x="32849" y="158880"/>
                  <a:pt x="29302" y="172142"/>
                  <a:pt x="35287" y="182518"/>
                </a:cubicBezTo>
                <a:lnTo>
                  <a:pt x="37676" y="186644"/>
                </a:lnTo>
                <a:cubicBezTo>
                  <a:pt x="43680" y="197008"/>
                  <a:pt x="56942" y="200555"/>
                  <a:pt x="67318" y="194570"/>
                </a:cubicBezTo>
                <a:lnTo>
                  <a:pt x="68946" y="193701"/>
                </a:lnTo>
                <a:cubicBezTo>
                  <a:pt x="75665" y="189822"/>
                  <a:pt x="83943" y="189822"/>
                  <a:pt x="90662" y="193701"/>
                </a:cubicBezTo>
                <a:lnTo>
                  <a:pt x="95330" y="196415"/>
                </a:lnTo>
                <a:cubicBezTo>
                  <a:pt x="102042" y="200291"/>
                  <a:pt x="106180" y="207449"/>
                  <a:pt x="106188" y="215199"/>
                </a:cubicBezTo>
                <a:lnTo>
                  <a:pt x="106188" y="217154"/>
                </a:lnTo>
                <a:cubicBezTo>
                  <a:pt x="106188" y="229147"/>
                  <a:pt x="115910" y="238869"/>
                  <a:pt x="127904" y="238869"/>
                </a:cubicBezTo>
                <a:lnTo>
                  <a:pt x="132681" y="238869"/>
                </a:lnTo>
                <a:cubicBezTo>
                  <a:pt x="144674" y="238869"/>
                  <a:pt x="154396" y="229147"/>
                  <a:pt x="154396" y="217154"/>
                </a:cubicBezTo>
                <a:lnTo>
                  <a:pt x="154396" y="215199"/>
                </a:lnTo>
                <a:cubicBezTo>
                  <a:pt x="154404" y="207449"/>
                  <a:pt x="158542" y="200291"/>
                  <a:pt x="165254" y="196415"/>
                </a:cubicBezTo>
                <a:lnTo>
                  <a:pt x="169923" y="193701"/>
                </a:lnTo>
                <a:cubicBezTo>
                  <a:pt x="176642" y="189822"/>
                  <a:pt x="184919" y="189822"/>
                  <a:pt x="191638" y="193701"/>
                </a:cubicBezTo>
                <a:lnTo>
                  <a:pt x="193267" y="194570"/>
                </a:lnTo>
                <a:cubicBezTo>
                  <a:pt x="203642" y="200555"/>
                  <a:pt x="216905" y="197008"/>
                  <a:pt x="222908" y="186644"/>
                </a:cubicBezTo>
                <a:lnTo>
                  <a:pt x="225297" y="182409"/>
                </a:lnTo>
                <a:cubicBezTo>
                  <a:pt x="231282" y="172034"/>
                  <a:pt x="227736" y="158771"/>
                  <a:pt x="217371" y="152768"/>
                </a:cubicBezTo>
                <a:lnTo>
                  <a:pt x="215742" y="151899"/>
                </a:lnTo>
                <a:cubicBezTo>
                  <a:pt x="208997" y="148005"/>
                  <a:pt x="204854" y="140796"/>
                  <a:pt x="204884" y="133007"/>
                </a:cubicBezTo>
                <a:lnTo>
                  <a:pt x="204884" y="127578"/>
                </a:lnTo>
                <a:cubicBezTo>
                  <a:pt x="204854" y="119789"/>
                  <a:pt x="208997" y="112580"/>
                  <a:pt x="215742" y="108685"/>
                </a:cubicBezTo>
                <a:lnTo>
                  <a:pt x="217371" y="107708"/>
                </a:lnTo>
                <a:cubicBezTo>
                  <a:pt x="227736" y="101705"/>
                  <a:pt x="231282" y="88442"/>
                  <a:pt x="225297" y="78067"/>
                </a:cubicBezTo>
                <a:lnTo>
                  <a:pt x="222908" y="73941"/>
                </a:lnTo>
                <a:cubicBezTo>
                  <a:pt x="216905" y="63576"/>
                  <a:pt x="203642" y="60030"/>
                  <a:pt x="193267" y="66015"/>
                </a:cubicBezTo>
                <a:lnTo>
                  <a:pt x="191638" y="66883"/>
                </a:lnTo>
                <a:cubicBezTo>
                  <a:pt x="184919" y="70762"/>
                  <a:pt x="176642" y="70762"/>
                  <a:pt x="169923" y="66883"/>
                </a:cubicBezTo>
                <a:lnTo>
                  <a:pt x="165254" y="64169"/>
                </a:lnTo>
                <a:cubicBezTo>
                  <a:pt x="158542" y="60294"/>
                  <a:pt x="154404" y="53135"/>
                  <a:pt x="154396" y="45385"/>
                </a:cubicBezTo>
                <a:lnTo>
                  <a:pt x="154396" y="43431"/>
                </a:lnTo>
                <a:cubicBezTo>
                  <a:pt x="154396" y="31438"/>
                  <a:pt x="144674" y="21715"/>
                  <a:pt x="132681" y="21715"/>
                </a:cubicBezTo>
                <a:close/>
                <a:moveTo>
                  <a:pt x="162865" y="130292"/>
                </a:moveTo>
                <a:cubicBezTo>
                  <a:pt x="162865" y="148282"/>
                  <a:pt x="148282" y="162865"/>
                  <a:pt x="130292" y="162865"/>
                </a:cubicBezTo>
                <a:cubicBezTo>
                  <a:pt x="112303" y="162865"/>
                  <a:pt x="97719" y="148282"/>
                  <a:pt x="97719" y="130292"/>
                </a:cubicBezTo>
                <a:cubicBezTo>
                  <a:pt x="97719" y="112303"/>
                  <a:pt x="112303" y="97719"/>
                  <a:pt x="130292" y="97719"/>
                </a:cubicBezTo>
                <a:cubicBezTo>
                  <a:pt x="148282" y="97719"/>
                  <a:pt x="162865" y="112303"/>
                  <a:pt x="162865" y="130292"/>
                </a:cubicBezTo>
                <a:close/>
              </a:path>
            </a:pathLst>
          </a:custGeom>
          <a:noFill/>
          <a:ln w="21715" cap="rnd">
            <a:solidFill>
              <a:srgbClr val="1F4E8C"/>
            </a:solidFill>
            <a:prstDash val="solid"/>
            <a:round/>
          </a:ln>
        </p:spPr>
      </p:sp>
      <p:sp>
        <p:nvSpPr>
          <p:cNvPr id="76" name="Text 74"/>
          <p:cNvSpPr/>
          <p:nvPr/>
        </p:nvSpPr>
        <p:spPr>
          <a:xfrm>
            <a:off x="4155341" y="2327801"/>
            <a:ext cx="2499924"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ServicioDeSolicitudes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5" dirty="0"/>
          </a:p>
        </p:txBody>
      </p:sp>
      <p:sp>
        <p:nvSpPr>
          <p:cNvPr id="77" name="Shape 75"/>
          <p:cNvSpPr/>
          <p:nvPr/>
        </p:nvSpPr>
        <p:spPr>
          <a:xfrm>
            <a:off x="3638724" y="3394710"/>
            <a:ext cx="1454876" cy="501124"/>
          </a:xfrm>
          <a:prstGeom prst="roundRect">
            <a:avLst>
              <a:gd name="adj" fmla="val 1642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8" name="Shape 76"/>
          <p:cNvSpPr/>
          <p:nvPr/>
        </p:nvSpPr>
        <p:spPr>
          <a:xfrm>
            <a:off x="3730164" y="3460116"/>
            <a:ext cx="370312" cy="370312"/>
          </a:xfrm>
          <a:prstGeom prst="ellipse">
            <a:avLst/>
          </a:prstGeom>
          <a:solidFill>
            <a:srgbClr val="E4EAF1"/>
          </a:solidFill>
          <a:ln w="12700">
            <a:solidFill>
              <a:srgbClr val="E4EAF1"/>
            </a:solidFill>
            <a:prstDash val="solid"/>
          </a:ln>
        </p:spPr>
      </p:sp>
      <p:sp>
        <p:nvSpPr>
          <p:cNvPr id="79" name="Icono file-text"/>
          <p:cNvSpPr/>
          <p:nvPr/>
        </p:nvSpPr>
        <p:spPr>
          <a:xfrm>
            <a:off x="3785028" y="3514980"/>
            <a:ext cx="260584" cy="260584"/>
          </a:xfrm>
          <a:custGeom>
            <a:avLst/>
            <a:gdLst/>
            <a:ahLst/>
            <a:cxnLst/>
            <a:rect l="l" t="t" r="r" b="b"/>
            <a:pathLst>
              <a:path w="260584" h="260584">
                <a:moveTo>
                  <a:pt x="162865" y="21715"/>
                </a:moveTo>
                <a:lnTo>
                  <a:pt x="65146" y="21715"/>
                </a:lnTo>
                <a:cubicBezTo>
                  <a:pt x="53153" y="21715"/>
                  <a:pt x="43431" y="31438"/>
                  <a:pt x="43431" y="43431"/>
                </a:cubicBezTo>
                <a:lnTo>
                  <a:pt x="43431" y="217154"/>
                </a:lnTo>
                <a:cubicBezTo>
                  <a:pt x="43431" y="229147"/>
                  <a:pt x="53153" y="238869"/>
                  <a:pt x="65146" y="238869"/>
                </a:cubicBezTo>
                <a:lnTo>
                  <a:pt x="195438" y="238869"/>
                </a:lnTo>
                <a:cubicBezTo>
                  <a:pt x="207431" y="238869"/>
                  <a:pt x="217154" y="229147"/>
                  <a:pt x="217154" y="217154"/>
                </a:cubicBezTo>
                <a:lnTo>
                  <a:pt x="217154" y="76004"/>
                </a:lnTo>
                <a:close/>
                <a:moveTo>
                  <a:pt x="152008" y="21715"/>
                </a:moveTo>
                <a:lnTo>
                  <a:pt x="152008" y="65146"/>
                </a:lnTo>
                <a:cubicBezTo>
                  <a:pt x="152008" y="77139"/>
                  <a:pt x="161730" y="86861"/>
                  <a:pt x="173723" y="86861"/>
                </a:cubicBezTo>
                <a:lnTo>
                  <a:pt x="217154" y="86861"/>
                </a:lnTo>
                <a:moveTo>
                  <a:pt x="108577" y="97719"/>
                </a:moveTo>
                <a:lnTo>
                  <a:pt x="86861" y="97719"/>
                </a:lnTo>
                <a:moveTo>
                  <a:pt x="173723" y="141150"/>
                </a:moveTo>
                <a:lnTo>
                  <a:pt x="86861" y="141150"/>
                </a:lnTo>
                <a:moveTo>
                  <a:pt x="173723" y="184581"/>
                </a:moveTo>
                <a:lnTo>
                  <a:pt x="86861" y="184581"/>
                </a:lnTo>
              </a:path>
            </a:pathLst>
          </a:custGeom>
          <a:noFill/>
          <a:ln w="21715" cap="rnd">
            <a:solidFill>
              <a:srgbClr val="1F4E8C"/>
            </a:solidFill>
            <a:prstDash val="solid"/>
            <a:round/>
          </a:ln>
        </p:spPr>
      </p:sp>
      <p:sp>
        <p:nvSpPr>
          <p:cNvPr id="80" name="Text 78"/>
          <p:cNvSpPr/>
          <p:nvPr/>
        </p:nvSpPr>
        <p:spPr>
          <a:xfrm>
            <a:off x="4155341" y="3394710"/>
            <a:ext cx="883395"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Solicitud</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con las reglas</a:t>
            </a:r>
            <a:endParaRPr lang="en-US" sz="955" dirty="0"/>
          </a:p>
        </p:txBody>
      </p:sp>
      <p:sp>
        <p:nvSpPr>
          <p:cNvPr id="81" name="Shape 79"/>
          <p:cNvSpPr/>
          <p:nvPr/>
        </p:nvSpPr>
        <p:spPr>
          <a:xfrm>
            <a:off x="5255253" y="3394710"/>
            <a:ext cx="1454876" cy="501124"/>
          </a:xfrm>
          <a:prstGeom prst="roundRect">
            <a:avLst>
              <a:gd name="adj" fmla="val 16422"/>
            </a:avLst>
          </a:prstGeom>
          <a:solidFill>
            <a:srgbClr val="FFFFFF"/>
          </a:solidFill>
          <a:ln w="12700">
            <a:solidFill>
              <a:srgbClr val="9AAFCB"/>
            </a:solidFill>
            <a:prstDash val="dash"/>
          </a:ln>
          <a:effectLst>
            <a:outerShdw sx="100000" sy="100000" kx="0" ky="0" algn="bl" rotWithShape="0" blurRad="76200" dist="19050" dir="5400000">
              <a:srgbClr val="0B1F3A">
                <a:alpha val="14000"/>
              </a:srgbClr>
            </a:outerShdw>
          </a:effectLst>
        </p:spPr>
      </p:sp>
      <p:sp>
        <p:nvSpPr>
          <p:cNvPr id="82" name="Shape 80"/>
          <p:cNvSpPr/>
          <p:nvPr/>
        </p:nvSpPr>
        <p:spPr>
          <a:xfrm>
            <a:off x="5346693" y="3460116"/>
            <a:ext cx="370312" cy="370312"/>
          </a:xfrm>
          <a:prstGeom prst="ellipse">
            <a:avLst/>
          </a:prstGeom>
          <a:solidFill>
            <a:srgbClr val="E4EAF1"/>
          </a:solidFill>
          <a:ln w="12700">
            <a:solidFill>
              <a:srgbClr val="E4EAF1"/>
            </a:solidFill>
            <a:prstDash val="solid"/>
          </a:ln>
        </p:spPr>
      </p:sp>
      <p:sp>
        <p:nvSpPr>
          <p:cNvPr id="83" name="Icono plug"/>
          <p:cNvSpPr/>
          <p:nvPr/>
        </p:nvSpPr>
        <p:spPr>
          <a:xfrm>
            <a:off x="5401557" y="3514980"/>
            <a:ext cx="260584" cy="260584"/>
          </a:xfrm>
          <a:custGeom>
            <a:avLst/>
            <a:gdLst/>
            <a:ahLst/>
            <a:cxnLst/>
            <a:rect l="l" t="t" r="r" b="b"/>
            <a:pathLst>
              <a:path w="260584" h="260584">
                <a:moveTo>
                  <a:pt x="130292" y="238869"/>
                </a:moveTo>
                <a:lnTo>
                  <a:pt x="130292" y="184581"/>
                </a:lnTo>
                <a:moveTo>
                  <a:pt x="97719" y="86861"/>
                </a:moveTo>
                <a:lnTo>
                  <a:pt x="97719" y="21715"/>
                </a:lnTo>
                <a:moveTo>
                  <a:pt x="162865" y="86861"/>
                </a:moveTo>
                <a:lnTo>
                  <a:pt x="162865" y="21715"/>
                </a:lnTo>
                <a:moveTo>
                  <a:pt x="195438" y="86861"/>
                </a:moveTo>
                <a:lnTo>
                  <a:pt x="195438" y="141150"/>
                </a:lnTo>
                <a:cubicBezTo>
                  <a:pt x="195438" y="165136"/>
                  <a:pt x="175994" y="184581"/>
                  <a:pt x="152008" y="184581"/>
                </a:cubicBezTo>
                <a:lnTo>
                  <a:pt x="108577" y="184581"/>
                </a:lnTo>
                <a:cubicBezTo>
                  <a:pt x="84591" y="184581"/>
                  <a:pt x="65146" y="165136"/>
                  <a:pt x="65146" y="141150"/>
                </a:cubicBezTo>
                <a:lnTo>
                  <a:pt x="65146" y="86861"/>
                </a:lnTo>
                <a:close/>
              </a:path>
            </a:pathLst>
          </a:custGeom>
          <a:noFill/>
          <a:ln w="21715" cap="rnd">
            <a:solidFill>
              <a:srgbClr val="1F4E8C"/>
            </a:solidFill>
            <a:prstDash val="solid"/>
            <a:round/>
          </a:ln>
        </p:spPr>
      </p:sp>
      <p:sp>
        <p:nvSpPr>
          <p:cNvPr id="84" name="Text 82"/>
          <p:cNvSpPr/>
          <p:nvPr/>
        </p:nvSpPr>
        <p:spPr>
          <a:xfrm>
            <a:off x="5771869" y="3394710"/>
            <a:ext cx="883395" cy="501124"/>
          </a:xfrm>
          <a:prstGeom prst="rect">
            <a:avLst/>
          </a:prstGeom>
          <a:noFill/>
          <a:ln/>
        </p:spPr>
        <p:txBody>
          <a:bodyPr wrap="square" lIns="12700" tIns="25400" rIns="25400" bIns="12700" rtlCol="0" anchor="ctr">
            <a:normAutofit/>
          </a:bodyPr>
          <a:lstStyle/>
          <a:p>
            <a:pPr algn="l" indent="0" marL="0">
              <a:lnSpc>
                <a:spcPct val="95000"/>
              </a:lnSpc>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Puertos</a:t>
            </a:r>
            <a:endParaRPr lang="en-US" sz="8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4 interfaces</a:t>
            </a:r>
            <a:endParaRPr lang="en-US" sz="800" dirty="0"/>
          </a:p>
        </p:txBody>
      </p:sp>
      <p:sp>
        <p:nvSpPr>
          <p:cNvPr id="85" name="Shape 83"/>
          <p:cNvSpPr/>
          <p:nvPr/>
        </p:nvSpPr>
        <p:spPr>
          <a:xfrm>
            <a:off x="3638724" y="4461619"/>
            <a:ext cx="3071404" cy="501124"/>
          </a:xfrm>
          <a:prstGeom prst="roundRect">
            <a:avLst>
              <a:gd name="adj" fmla="val 16422"/>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6" name="Shape 84"/>
          <p:cNvSpPr/>
          <p:nvPr/>
        </p:nvSpPr>
        <p:spPr>
          <a:xfrm>
            <a:off x="3730164" y="4527025"/>
            <a:ext cx="370312" cy="370312"/>
          </a:xfrm>
          <a:prstGeom prst="ellipse">
            <a:avLst/>
          </a:prstGeom>
          <a:solidFill>
            <a:srgbClr val="E4EAF1"/>
          </a:solidFill>
          <a:ln w="12700">
            <a:solidFill>
              <a:srgbClr val="E4EAF1"/>
            </a:solidFill>
            <a:prstDash val="solid"/>
          </a:ln>
        </p:spPr>
      </p:sp>
      <p:sp>
        <p:nvSpPr>
          <p:cNvPr id="87" name="Icono triangle-alert"/>
          <p:cNvSpPr/>
          <p:nvPr/>
        </p:nvSpPr>
        <p:spPr>
          <a:xfrm>
            <a:off x="3785028" y="4581889"/>
            <a:ext cx="260584" cy="260584"/>
          </a:xfrm>
          <a:custGeom>
            <a:avLst/>
            <a:gdLst/>
            <a:ahLst/>
            <a:cxnLst/>
            <a:rect l="l" t="t" r="r" b="b"/>
            <a:pathLst>
              <a:path w="260584" h="260584">
                <a:moveTo>
                  <a:pt x="235937" y="195438"/>
                </a:moveTo>
                <a:lnTo>
                  <a:pt x="149076" y="43431"/>
                </a:lnTo>
                <a:cubicBezTo>
                  <a:pt x="145220" y="36627"/>
                  <a:pt x="138004" y="32422"/>
                  <a:pt x="130184" y="32422"/>
                </a:cubicBezTo>
                <a:cubicBezTo>
                  <a:pt x="122363" y="32422"/>
                  <a:pt x="115147" y="36627"/>
                  <a:pt x="111291" y="43431"/>
                </a:cubicBezTo>
                <a:lnTo>
                  <a:pt x="24430" y="195438"/>
                </a:lnTo>
                <a:cubicBezTo>
                  <a:pt x="20533" y="202187"/>
                  <a:pt x="20551" y="210507"/>
                  <a:pt x="24478" y="217239"/>
                </a:cubicBezTo>
                <a:cubicBezTo>
                  <a:pt x="28405" y="223970"/>
                  <a:pt x="35638" y="228081"/>
                  <a:pt x="43431" y="228011"/>
                </a:cubicBezTo>
                <a:lnTo>
                  <a:pt x="217154" y="228011"/>
                </a:lnTo>
                <a:cubicBezTo>
                  <a:pt x="224908" y="228003"/>
                  <a:pt x="232069" y="223861"/>
                  <a:pt x="235943" y="217144"/>
                </a:cubicBezTo>
                <a:cubicBezTo>
                  <a:pt x="239817" y="210427"/>
                  <a:pt x="239815" y="202154"/>
                  <a:pt x="235937" y="195438"/>
                </a:cubicBezTo>
                <a:moveTo>
                  <a:pt x="130292" y="97719"/>
                </a:moveTo>
                <a:lnTo>
                  <a:pt x="130292" y="141150"/>
                </a:lnTo>
                <a:moveTo>
                  <a:pt x="130292" y="184581"/>
                </a:moveTo>
                <a:lnTo>
                  <a:pt x="130401" y="184581"/>
                </a:lnTo>
              </a:path>
            </a:pathLst>
          </a:custGeom>
          <a:noFill/>
          <a:ln w="21715" cap="rnd">
            <a:solidFill>
              <a:srgbClr val="1F4E8C"/>
            </a:solidFill>
            <a:prstDash val="solid"/>
            <a:round/>
          </a:ln>
        </p:spPr>
      </p:sp>
      <p:sp>
        <p:nvSpPr>
          <p:cNvPr id="88" name="Text 86"/>
          <p:cNvSpPr/>
          <p:nvPr/>
        </p:nvSpPr>
        <p:spPr>
          <a:xfrm>
            <a:off x="4155341" y="4461619"/>
            <a:ext cx="2499924"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Excepciones del dominio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TransicionNoPermitida · SolicitudYaExiste</a:t>
            </a:r>
            <a:endParaRPr lang="en-US" sz="955" dirty="0"/>
          </a:p>
        </p:txBody>
      </p:sp>
      <p:sp>
        <p:nvSpPr>
          <p:cNvPr id="89" name="Shape 87"/>
          <p:cNvSpPr/>
          <p:nvPr/>
        </p:nvSpPr>
        <p:spPr>
          <a:xfrm>
            <a:off x="7275913" y="2327801"/>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90" name="Shape 88"/>
          <p:cNvSpPr/>
          <p:nvPr/>
        </p:nvSpPr>
        <p:spPr>
          <a:xfrm>
            <a:off x="7367353" y="2393207"/>
            <a:ext cx="370312" cy="370312"/>
          </a:xfrm>
          <a:prstGeom prst="ellipse">
            <a:avLst/>
          </a:prstGeom>
          <a:solidFill>
            <a:srgbClr val="E8EBEE"/>
          </a:solidFill>
          <a:ln w="12700">
            <a:solidFill>
              <a:srgbClr val="E8EBEE"/>
            </a:solidFill>
            <a:prstDash val="solid"/>
          </a:ln>
        </p:spPr>
      </p:sp>
      <p:sp>
        <p:nvSpPr>
          <p:cNvPr id="91" name="Icono save"/>
          <p:cNvSpPr/>
          <p:nvPr/>
        </p:nvSpPr>
        <p:spPr>
          <a:xfrm>
            <a:off x="7422217" y="2448071"/>
            <a:ext cx="260584" cy="260584"/>
          </a:xfrm>
          <a:custGeom>
            <a:avLst/>
            <a:gdLst/>
            <a:ahLst/>
            <a:cxnLst/>
            <a:rect l="l" t="t" r="r" b="b"/>
            <a:pathLst>
              <a:path w="260584" h="260584">
                <a:moveTo>
                  <a:pt x="165037" y="32573"/>
                </a:moveTo>
                <a:cubicBezTo>
                  <a:pt x="170765" y="32655"/>
                  <a:pt x="176228" y="34996"/>
                  <a:pt x="180238" y="39088"/>
                </a:cubicBezTo>
                <a:lnTo>
                  <a:pt x="221497" y="80347"/>
                </a:lnTo>
                <a:cubicBezTo>
                  <a:pt x="225588" y="84356"/>
                  <a:pt x="227930" y="89820"/>
                  <a:pt x="228011" y="95548"/>
                </a:cubicBezTo>
                <a:lnTo>
                  <a:pt x="228011" y="206296"/>
                </a:lnTo>
                <a:cubicBezTo>
                  <a:pt x="228011" y="218289"/>
                  <a:pt x="218289" y="228011"/>
                  <a:pt x="206296" y="228011"/>
                </a:cubicBezTo>
                <a:lnTo>
                  <a:pt x="54288" y="228011"/>
                </a:lnTo>
                <a:cubicBezTo>
                  <a:pt x="42295" y="228011"/>
                  <a:pt x="32573" y="218289"/>
                  <a:pt x="32573" y="206296"/>
                </a:cubicBezTo>
                <a:lnTo>
                  <a:pt x="32573" y="54288"/>
                </a:lnTo>
                <a:cubicBezTo>
                  <a:pt x="32573" y="42295"/>
                  <a:pt x="42295" y="32573"/>
                  <a:pt x="54288" y="32573"/>
                </a:cubicBezTo>
                <a:close/>
                <a:moveTo>
                  <a:pt x="184581" y="228011"/>
                </a:moveTo>
                <a:lnTo>
                  <a:pt x="184581" y="152008"/>
                </a:lnTo>
                <a:cubicBezTo>
                  <a:pt x="184581" y="146011"/>
                  <a:pt x="179719" y="141150"/>
                  <a:pt x="173723" y="141150"/>
                </a:cubicBezTo>
                <a:lnTo>
                  <a:pt x="86861" y="141150"/>
                </a:lnTo>
                <a:cubicBezTo>
                  <a:pt x="80865" y="141150"/>
                  <a:pt x="76004" y="146011"/>
                  <a:pt x="76004" y="152008"/>
                </a:cubicBezTo>
                <a:lnTo>
                  <a:pt x="76004" y="228011"/>
                </a:lnTo>
                <a:moveTo>
                  <a:pt x="76004" y="32573"/>
                </a:moveTo>
                <a:lnTo>
                  <a:pt x="76004" y="76004"/>
                </a:lnTo>
                <a:cubicBezTo>
                  <a:pt x="76004" y="82000"/>
                  <a:pt x="80865" y="86861"/>
                  <a:pt x="86861" y="86861"/>
                </a:cubicBezTo>
                <a:lnTo>
                  <a:pt x="162865" y="86861"/>
                </a:lnTo>
              </a:path>
            </a:pathLst>
          </a:custGeom>
          <a:noFill/>
          <a:ln w="21715" cap="rnd">
            <a:solidFill>
              <a:srgbClr val="3D5675"/>
            </a:solidFill>
            <a:prstDash val="solid"/>
            <a:round/>
          </a:ln>
        </p:spPr>
      </p:sp>
      <p:sp>
        <p:nvSpPr>
          <p:cNvPr id="92" name="Text 90"/>
          <p:cNvSpPr/>
          <p:nvPr/>
        </p:nvSpPr>
        <p:spPr>
          <a:xfrm>
            <a:off x="7792530" y="2327801"/>
            <a:ext cx="1336023"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RepositorioJpa</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@Primary · guarda la solicitud</a:t>
            </a:r>
            <a:endParaRPr lang="en-US" sz="955" dirty="0"/>
          </a:p>
        </p:txBody>
      </p:sp>
      <p:sp>
        <p:nvSpPr>
          <p:cNvPr id="93" name="Text 91"/>
          <p:cNvSpPr/>
          <p:nvPr/>
        </p:nvSpPr>
        <p:spPr>
          <a:xfrm>
            <a:off x="7275913" y="3039074"/>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RegistradorDeEventosJpa</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5" dirty="0"/>
          </a:p>
        </p:txBody>
      </p:sp>
      <p:sp>
        <p:nvSpPr>
          <p:cNvPr id="94" name="Shape 92"/>
          <p:cNvSpPr/>
          <p:nvPr/>
        </p:nvSpPr>
        <p:spPr>
          <a:xfrm>
            <a:off x="7275913" y="3750346"/>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95" name="Shape 93"/>
          <p:cNvSpPr/>
          <p:nvPr/>
        </p:nvSpPr>
        <p:spPr>
          <a:xfrm>
            <a:off x="7367353" y="3815752"/>
            <a:ext cx="370312" cy="370312"/>
          </a:xfrm>
          <a:prstGeom prst="ellipse">
            <a:avLst/>
          </a:prstGeom>
          <a:solidFill>
            <a:srgbClr val="E8EBEE"/>
          </a:solidFill>
          <a:ln w="12700">
            <a:solidFill>
              <a:srgbClr val="E8EBEE"/>
            </a:solidFill>
            <a:prstDash val="solid"/>
          </a:ln>
        </p:spPr>
      </p:sp>
      <p:sp>
        <p:nvSpPr>
          <p:cNvPr id="96" name="Icono timer"/>
          <p:cNvSpPr/>
          <p:nvPr/>
        </p:nvSpPr>
        <p:spPr>
          <a:xfrm>
            <a:off x="7422217" y="3870616"/>
            <a:ext cx="260584" cy="260584"/>
          </a:xfrm>
          <a:custGeom>
            <a:avLst/>
            <a:gdLst/>
            <a:ahLst/>
            <a:cxnLst/>
            <a:rect l="l" t="t" r="r" b="b"/>
            <a:pathLst>
              <a:path w="260584" h="260584">
                <a:moveTo>
                  <a:pt x="108577" y="21715"/>
                </a:moveTo>
                <a:lnTo>
                  <a:pt x="152008" y="21715"/>
                </a:lnTo>
                <a:moveTo>
                  <a:pt x="130292" y="152008"/>
                </a:moveTo>
                <a:lnTo>
                  <a:pt x="162865" y="119435"/>
                </a:lnTo>
                <a:moveTo>
                  <a:pt x="217154" y="152008"/>
                </a:moveTo>
                <a:cubicBezTo>
                  <a:pt x="217154" y="199980"/>
                  <a:pt x="178264" y="238869"/>
                  <a:pt x="130292" y="238869"/>
                </a:cubicBezTo>
                <a:cubicBezTo>
                  <a:pt x="82320" y="238869"/>
                  <a:pt x="43431" y="199980"/>
                  <a:pt x="43431" y="152008"/>
                </a:cubicBezTo>
                <a:cubicBezTo>
                  <a:pt x="43431" y="104035"/>
                  <a:pt x="82320" y="65146"/>
                  <a:pt x="130292" y="65146"/>
                </a:cubicBezTo>
                <a:cubicBezTo>
                  <a:pt x="178264" y="65146"/>
                  <a:pt x="217154" y="104035"/>
                  <a:pt x="217154" y="152008"/>
                </a:cubicBezTo>
                <a:close/>
              </a:path>
            </a:pathLst>
          </a:custGeom>
          <a:noFill/>
          <a:ln w="21715" cap="rnd">
            <a:solidFill>
              <a:srgbClr val="3D5675"/>
            </a:solidFill>
            <a:prstDash val="solid"/>
            <a:round/>
          </a:ln>
        </p:spPr>
      </p:sp>
      <p:sp>
        <p:nvSpPr>
          <p:cNvPr id="97" name="Text 95"/>
          <p:cNvSpPr/>
          <p:nvPr/>
        </p:nvSpPr>
        <p:spPr>
          <a:xfrm>
            <a:off x="7792530" y="3750346"/>
            <a:ext cx="1336023" cy="501124"/>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Relevador</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55" dirty="0"/>
          </a:p>
        </p:txBody>
      </p:sp>
      <p:sp>
        <p:nvSpPr>
          <p:cNvPr id="98" name="Text 96"/>
          <p:cNvSpPr/>
          <p:nvPr/>
        </p:nvSpPr>
        <p:spPr>
          <a:xfrm>
            <a:off x="7275913" y="4461619"/>
            <a:ext cx="1907504"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PublicadorConReintento</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55" dirty="0"/>
          </a:p>
        </p:txBody>
      </p:sp>
      <p:sp>
        <p:nvSpPr>
          <p:cNvPr id="99" name="Shape 97"/>
          <p:cNvSpPr/>
          <p:nvPr/>
        </p:nvSpPr>
        <p:spPr>
          <a:xfrm>
            <a:off x="9442062" y="2327801"/>
            <a:ext cx="1778181" cy="1212396"/>
          </a:xfrm>
          <a:prstGeom prst="roundRect">
            <a:avLst>
              <a:gd name="adj" fmla="val 678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100" name="Shape 98"/>
          <p:cNvSpPr/>
          <p:nvPr/>
        </p:nvSpPr>
        <p:spPr>
          <a:xfrm>
            <a:off x="9533502" y="2723687"/>
            <a:ext cx="420624" cy="420624"/>
          </a:xfrm>
          <a:prstGeom prst="ellipse">
            <a:avLst/>
          </a:prstGeom>
          <a:solidFill>
            <a:srgbClr val="E8EBEE"/>
          </a:solidFill>
          <a:ln w="12700">
            <a:solidFill>
              <a:srgbClr val="E8EBEE"/>
            </a:solidFill>
            <a:prstDash val="solid"/>
          </a:ln>
        </p:spPr>
      </p:sp>
      <p:sp>
        <p:nvSpPr>
          <p:cNvPr id="101" name="Icono database"/>
          <p:cNvSpPr/>
          <p:nvPr/>
        </p:nvSpPr>
        <p:spPr>
          <a:xfrm>
            <a:off x="9588366" y="27785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102" name="Text 100"/>
          <p:cNvSpPr/>
          <p:nvPr/>
        </p:nvSpPr>
        <p:spPr>
          <a:xfrm>
            <a:off x="10008990" y="2327801"/>
            <a:ext cx="1156389" cy="1212396"/>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db-solicitudes</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55" dirty="0"/>
          </a:p>
        </p:txBody>
      </p:sp>
      <p:sp>
        <p:nvSpPr>
          <p:cNvPr id="103" name="Text 101"/>
          <p:cNvSpPr/>
          <p:nvPr/>
        </p:nvSpPr>
        <p:spPr>
          <a:xfrm>
            <a:off x="9442062" y="4461619"/>
            <a:ext cx="1778181" cy="501124"/>
          </a:xfrm>
          <a:prstGeom prst="roundRect">
            <a:avLst>
              <a:gd name="adj" fmla="val 16422"/>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5" b="1" dirty="0">
                <a:solidFill>
                  <a:srgbClr val="0B1A3C"/>
                </a:solidFill>
                <a:latin typeface="Segoe UI" pitchFamily="34" charset="0"/>
                <a:ea typeface="Segoe UI" pitchFamily="34" charset="-122"/>
                <a:cs typeface="Segoe UI" pitchFamily="34" charset="-120"/>
              </a:rPr>
              <a:t>servicio-notificaciones</a:t>
            </a:r>
            <a:endParaRPr lang="en-US" sz="955" dirty="0"/>
          </a:p>
          <a:p>
            <a:pPr algn="ctr" indent="0" marL="0">
              <a:buNone/>
            </a:pPr>
            <a:r>
              <a:rPr lang="en-US" sz="800" dirty="0">
                <a:solidFill>
                  <a:srgbClr val="55627E"/>
                </a:solidFill>
                <a:latin typeface="Segoe UI" pitchFamily="34" charset="0"/>
                <a:ea typeface="Segoe UI" pitchFamily="34" charset="-122"/>
                <a:cs typeface="Segoe UI" pitchFamily="34" charset="-120"/>
              </a:rPr>
              <a:t>recibe el evento</a:t>
            </a:r>
            <a:endParaRPr lang="en-US" sz="955" dirty="0"/>
          </a:p>
        </p:txBody>
      </p:sp>
      <p:sp>
        <p:nvSpPr>
          <p:cNvPr id="104" name="Shape 102"/>
          <p:cNvSpPr/>
          <p:nvPr/>
        </p:nvSpPr>
        <p:spPr>
          <a:xfrm>
            <a:off x="3638724" y="5851833"/>
            <a:ext cx="3071404" cy="420297"/>
          </a:xfrm>
          <a:prstGeom prst="roundRect">
            <a:avLst>
              <a:gd name="adj" fmla="val 1958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05" name="Shape 103"/>
          <p:cNvSpPr/>
          <p:nvPr/>
        </p:nvSpPr>
        <p:spPr>
          <a:xfrm>
            <a:off x="3730164" y="5897841"/>
            <a:ext cx="328283" cy="328283"/>
          </a:xfrm>
          <a:prstGeom prst="ellipse">
            <a:avLst/>
          </a:prstGeom>
          <a:solidFill>
            <a:srgbClr val="E2E5EA"/>
          </a:solidFill>
          <a:ln w="12700">
            <a:solidFill>
              <a:srgbClr val="E2E5EA"/>
            </a:solidFill>
            <a:prstDash val="solid"/>
          </a:ln>
        </p:spPr>
      </p:sp>
      <p:sp>
        <p:nvSpPr>
          <p:cNvPr id="106" name="Icono settings"/>
          <p:cNvSpPr/>
          <p:nvPr/>
        </p:nvSpPr>
        <p:spPr>
          <a:xfrm>
            <a:off x="3785028" y="5952705"/>
            <a:ext cx="218555" cy="218555"/>
          </a:xfrm>
          <a:custGeom>
            <a:avLst/>
            <a:gdLst/>
            <a:ahLst/>
            <a:cxnLst/>
            <a:rect l="l" t="t" r="r" b="b"/>
            <a:pathLst>
              <a:path w="218555" h="218555">
                <a:moveTo>
                  <a:pt x="111281" y="18213"/>
                </a:moveTo>
                <a:lnTo>
                  <a:pt x="107274" y="18213"/>
                </a:lnTo>
                <a:cubicBezTo>
                  <a:pt x="97215" y="18213"/>
                  <a:pt x="89061" y="26367"/>
                  <a:pt x="89061" y="36426"/>
                </a:cubicBezTo>
                <a:lnTo>
                  <a:pt x="89061" y="38065"/>
                </a:lnTo>
                <a:cubicBezTo>
                  <a:pt x="89054" y="44565"/>
                  <a:pt x="85584" y="50569"/>
                  <a:pt x="79955" y="53819"/>
                </a:cubicBezTo>
                <a:lnTo>
                  <a:pt x="76039" y="56096"/>
                </a:lnTo>
                <a:cubicBezTo>
                  <a:pt x="70404" y="59349"/>
                  <a:pt x="63461" y="59349"/>
                  <a:pt x="57826" y="56096"/>
                </a:cubicBezTo>
                <a:lnTo>
                  <a:pt x="56460" y="55367"/>
                </a:lnTo>
                <a:cubicBezTo>
                  <a:pt x="47758" y="50347"/>
                  <a:pt x="36635" y="53322"/>
                  <a:pt x="31599" y="62015"/>
                </a:cubicBezTo>
                <a:lnTo>
                  <a:pt x="29596" y="65475"/>
                </a:lnTo>
                <a:cubicBezTo>
                  <a:pt x="24576" y="74177"/>
                  <a:pt x="27551" y="85301"/>
                  <a:pt x="36244" y="90336"/>
                </a:cubicBezTo>
                <a:lnTo>
                  <a:pt x="37610" y="91247"/>
                </a:lnTo>
                <a:cubicBezTo>
                  <a:pt x="43211" y="94480"/>
                  <a:pt x="46677" y="100442"/>
                  <a:pt x="46716" y="106910"/>
                </a:cubicBezTo>
                <a:lnTo>
                  <a:pt x="46716" y="111554"/>
                </a:lnTo>
                <a:cubicBezTo>
                  <a:pt x="46742" y="118087"/>
                  <a:pt x="43267" y="124133"/>
                  <a:pt x="37610" y="127399"/>
                </a:cubicBezTo>
                <a:lnTo>
                  <a:pt x="36244" y="128219"/>
                </a:lnTo>
                <a:cubicBezTo>
                  <a:pt x="27551" y="133254"/>
                  <a:pt x="24576" y="144377"/>
                  <a:pt x="29596" y="153079"/>
                </a:cubicBezTo>
                <a:lnTo>
                  <a:pt x="31599" y="156540"/>
                </a:lnTo>
                <a:cubicBezTo>
                  <a:pt x="36635" y="165233"/>
                  <a:pt x="47758" y="168207"/>
                  <a:pt x="56460" y="163187"/>
                </a:cubicBezTo>
                <a:lnTo>
                  <a:pt x="57826" y="162459"/>
                </a:lnTo>
                <a:cubicBezTo>
                  <a:pt x="63461" y="159206"/>
                  <a:pt x="70404" y="159206"/>
                  <a:pt x="76039" y="162459"/>
                </a:cubicBezTo>
                <a:lnTo>
                  <a:pt x="79955" y="164736"/>
                </a:lnTo>
                <a:cubicBezTo>
                  <a:pt x="85584" y="167986"/>
                  <a:pt x="89054" y="173990"/>
                  <a:pt x="89061" y="180490"/>
                </a:cubicBezTo>
                <a:lnTo>
                  <a:pt x="89061" y="182129"/>
                </a:lnTo>
                <a:cubicBezTo>
                  <a:pt x="89061" y="192188"/>
                  <a:pt x="97215" y="200342"/>
                  <a:pt x="107274" y="200342"/>
                </a:cubicBezTo>
                <a:lnTo>
                  <a:pt x="111281" y="200342"/>
                </a:lnTo>
                <a:cubicBezTo>
                  <a:pt x="121339" y="200342"/>
                  <a:pt x="129494" y="192188"/>
                  <a:pt x="129494" y="182129"/>
                </a:cubicBezTo>
                <a:lnTo>
                  <a:pt x="129494" y="180490"/>
                </a:lnTo>
                <a:cubicBezTo>
                  <a:pt x="129500" y="173990"/>
                  <a:pt x="132971" y="167986"/>
                  <a:pt x="138600" y="164736"/>
                </a:cubicBezTo>
                <a:lnTo>
                  <a:pt x="142516" y="162459"/>
                </a:lnTo>
                <a:cubicBezTo>
                  <a:pt x="148151" y="159206"/>
                  <a:pt x="155094" y="159206"/>
                  <a:pt x="160729" y="162459"/>
                </a:cubicBezTo>
                <a:lnTo>
                  <a:pt x="162095" y="163187"/>
                </a:lnTo>
                <a:cubicBezTo>
                  <a:pt x="170797" y="168207"/>
                  <a:pt x="181920" y="165233"/>
                  <a:pt x="186955" y="156540"/>
                </a:cubicBezTo>
                <a:lnTo>
                  <a:pt x="188959" y="152988"/>
                </a:lnTo>
                <a:cubicBezTo>
                  <a:pt x="193979" y="144286"/>
                  <a:pt x="191004" y="133163"/>
                  <a:pt x="182311" y="128128"/>
                </a:cubicBezTo>
                <a:lnTo>
                  <a:pt x="180945" y="127399"/>
                </a:lnTo>
                <a:cubicBezTo>
                  <a:pt x="175288" y="124133"/>
                  <a:pt x="171813" y="118087"/>
                  <a:pt x="171839" y="111554"/>
                </a:cubicBezTo>
                <a:lnTo>
                  <a:pt x="171839" y="107001"/>
                </a:lnTo>
                <a:cubicBezTo>
                  <a:pt x="171813" y="100468"/>
                  <a:pt x="175288" y="94422"/>
                  <a:pt x="180945" y="91156"/>
                </a:cubicBezTo>
                <a:lnTo>
                  <a:pt x="182311" y="90336"/>
                </a:lnTo>
                <a:cubicBezTo>
                  <a:pt x="191004" y="85301"/>
                  <a:pt x="193979" y="74177"/>
                  <a:pt x="188959" y="65475"/>
                </a:cubicBezTo>
                <a:lnTo>
                  <a:pt x="186955" y="62015"/>
                </a:lnTo>
                <a:cubicBezTo>
                  <a:pt x="181920" y="53322"/>
                  <a:pt x="170797" y="50347"/>
                  <a:pt x="162095" y="55367"/>
                </a:cubicBezTo>
                <a:lnTo>
                  <a:pt x="160729" y="56096"/>
                </a:lnTo>
                <a:cubicBezTo>
                  <a:pt x="155094" y="59349"/>
                  <a:pt x="148151" y="59349"/>
                  <a:pt x="142516" y="56096"/>
                </a:cubicBezTo>
                <a:lnTo>
                  <a:pt x="138600" y="53819"/>
                </a:lnTo>
                <a:cubicBezTo>
                  <a:pt x="132971" y="50569"/>
                  <a:pt x="129500" y="44565"/>
                  <a:pt x="129494" y="38065"/>
                </a:cubicBezTo>
                <a:lnTo>
                  <a:pt x="129494" y="36426"/>
                </a:lnTo>
                <a:cubicBezTo>
                  <a:pt x="129494" y="26367"/>
                  <a:pt x="121339" y="18213"/>
                  <a:pt x="111281" y="18213"/>
                </a:cubicBezTo>
                <a:close/>
                <a:moveTo>
                  <a:pt x="136597" y="109277"/>
                </a:moveTo>
                <a:cubicBezTo>
                  <a:pt x="136597" y="124365"/>
                  <a:pt x="124365" y="136597"/>
                  <a:pt x="109277" y="136597"/>
                </a:cubicBezTo>
                <a:cubicBezTo>
                  <a:pt x="94189" y="136597"/>
                  <a:pt x="81958" y="124365"/>
                  <a:pt x="81958" y="109277"/>
                </a:cubicBezTo>
                <a:cubicBezTo>
                  <a:pt x="81958" y="94189"/>
                  <a:pt x="94189" y="81958"/>
                  <a:pt x="109277" y="81958"/>
                </a:cubicBezTo>
                <a:cubicBezTo>
                  <a:pt x="124365" y="81958"/>
                  <a:pt x="136597" y="94189"/>
                  <a:pt x="136597" y="109277"/>
                </a:cubicBezTo>
                <a:close/>
              </a:path>
            </a:pathLst>
          </a:custGeom>
          <a:noFill/>
          <a:ln w="18213" cap="rnd">
            <a:solidFill>
              <a:srgbClr val="0B2350"/>
            </a:solidFill>
            <a:prstDash val="solid"/>
            <a:round/>
          </a:ln>
        </p:spPr>
      </p:sp>
      <p:sp>
        <p:nvSpPr>
          <p:cNvPr id="107" name="Text 105"/>
          <p:cNvSpPr/>
          <p:nvPr/>
        </p:nvSpPr>
        <p:spPr>
          <a:xfrm>
            <a:off x="4113311" y="5851833"/>
            <a:ext cx="2541954" cy="420297"/>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ConfiguracionDominio</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@Bean: une puertos con adaptadores</a:t>
            </a:r>
            <a:endParaRPr lang="en-US" sz="955" dirty="0"/>
          </a:p>
        </p:txBody>
      </p:sp>
      <p:sp>
        <p:nvSpPr>
          <p:cNvPr id="108" name="Shape 106"/>
          <p:cNvSpPr/>
          <p:nvPr/>
        </p:nvSpPr>
        <p:spPr>
          <a:xfrm>
            <a:off x="7275913" y="5851833"/>
            <a:ext cx="3944330" cy="420297"/>
          </a:xfrm>
          <a:prstGeom prst="roundRect">
            <a:avLst>
              <a:gd name="adj" fmla="val 1958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09" name="Shape 107"/>
          <p:cNvSpPr/>
          <p:nvPr/>
        </p:nvSpPr>
        <p:spPr>
          <a:xfrm>
            <a:off x="7367353" y="5897841"/>
            <a:ext cx="328283" cy="328283"/>
          </a:xfrm>
          <a:prstGeom prst="ellipse">
            <a:avLst/>
          </a:prstGeom>
          <a:solidFill>
            <a:srgbClr val="E2E5EA"/>
          </a:solidFill>
          <a:ln w="12700">
            <a:solidFill>
              <a:srgbClr val="E2E5EA"/>
            </a:solidFill>
            <a:prstDash val="solid"/>
          </a:ln>
        </p:spPr>
      </p:sp>
      <p:sp>
        <p:nvSpPr>
          <p:cNvPr id="110" name="Icono waypoints"/>
          <p:cNvSpPr/>
          <p:nvPr/>
        </p:nvSpPr>
        <p:spPr>
          <a:xfrm>
            <a:off x="7422217" y="5952705"/>
            <a:ext cx="218555" cy="218555"/>
          </a:xfrm>
          <a:custGeom>
            <a:avLst/>
            <a:gdLst/>
            <a:ahLst/>
            <a:cxnLst/>
            <a:rect l="l" t="t" r="r" b="b"/>
            <a:pathLst>
              <a:path w="218555" h="218555">
                <a:moveTo>
                  <a:pt x="132043" y="40979"/>
                </a:moveTo>
                <a:cubicBezTo>
                  <a:pt x="132043" y="53552"/>
                  <a:pt x="121851" y="63745"/>
                  <a:pt x="109277" y="63745"/>
                </a:cubicBezTo>
                <a:cubicBezTo>
                  <a:pt x="96704" y="63745"/>
                  <a:pt x="86511" y="53552"/>
                  <a:pt x="86511" y="40979"/>
                </a:cubicBezTo>
                <a:cubicBezTo>
                  <a:pt x="86511" y="28406"/>
                  <a:pt x="96704" y="18213"/>
                  <a:pt x="109277" y="18213"/>
                </a:cubicBezTo>
                <a:cubicBezTo>
                  <a:pt x="121851" y="18213"/>
                  <a:pt x="132043" y="28406"/>
                  <a:pt x="132043" y="40979"/>
                </a:cubicBezTo>
                <a:close/>
                <a:moveTo>
                  <a:pt x="92886" y="57371"/>
                </a:moveTo>
                <a:lnTo>
                  <a:pt x="57371" y="92886"/>
                </a:lnTo>
                <a:moveTo>
                  <a:pt x="63745" y="109277"/>
                </a:moveTo>
                <a:cubicBezTo>
                  <a:pt x="63745" y="121851"/>
                  <a:pt x="53552" y="132043"/>
                  <a:pt x="40979" y="132043"/>
                </a:cubicBezTo>
                <a:cubicBezTo>
                  <a:pt x="28406" y="132043"/>
                  <a:pt x="18213" y="121851"/>
                  <a:pt x="18213" y="109277"/>
                </a:cubicBezTo>
                <a:cubicBezTo>
                  <a:pt x="18213" y="96704"/>
                  <a:pt x="28406" y="86511"/>
                  <a:pt x="40979" y="86511"/>
                </a:cubicBezTo>
                <a:cubicBezTo>
                  <a:pt x="53552" y="86511"/>
                  <a:pt x="63745" y="96704"/>
                  <a:pt x="63745" y="109277"/>
                </a:cubicBezTo>
                <a:close/>
                <a:moveTo>
                  <a:pt x="63745" y="109277"/>
                </a:moveTo>
                <a:lnTo>
                  <a:pt x="154810" y="109277"/>
                </a:lnTo>
                <a:moveTo>
                  <a:pt x="200342" y="109277"/>
                </a:moveTo>
                <a:cubicBezTo>
                  <a:pt x="200342" y="121851"/>
                  <a:pt x="190149" y="132043"/>
                  <a:pt x="177576" y="132043"/>
                </a:cubicBezTo>
                <a:cubicBezTo>
                  <a:pt x="165002" y="132043"/>
                  <a:pt x="154810" y="121851"/>
                  <a:pt x="154810" y="109277"/>
                </a:cubicBezTo>
                <a:cubicBezTo>
                  <a:pt x="154810" y="96704"/>
                  <a:pt x="165002" y="86511"/>
                  <a:pt x="177576" y="86511"/>
                </a:cubicBezTo>
                <a:cubicBezTo>
                  <a:pt x="190149" y="86511"/>
                  <a:pt x="200342" y="96704"/>
                  <a:pt x="200342" y="109277"/>
                </a:cubicBezTo>
                <a:close/>
                <a:moveTo>
                  <a:pt x="125669" y="161184"/>
                </a:moveTo>
                <a:lnTo>
                  <a:pt x="161184" y="125669"/>
                </a:lnTo>
                <a:moveTo>
                  <a:pt x="132043" y="177576"/>
                </a:moveTo>
                <a:cubicBezTo>
                  <a:pt x="132043" y="190149"/>
                  <a:pt x="121851" y="200342"/>
                  <a:pt x="109277" y="200342"/>
                </a:cubicBezTo>
                <a:cubicBezTo>
                  <a:pt x="96704" y="200342"/>
                  <a:pt x="86511" y="190149"/>
                  <a:pt x="86511" y="177576"/>
                </a:cubicBezTo>
                <a:cubicBezTo>
                  <a:pt x="86511" y="165002"/>
                  <a:pt x="96704" y="154810"/>
                  <a:pt x="109277" y="154810"/>
                </a:cubicBezTo>
                <a:cubicBezTo>
                  <a:pt x="121851" y="154810"/>
                  <a:pt x="132043" y="165002"/>
                  <a:pt x="132043" y="177576"/>
                </a:cubicBezTo>
                <a:close/>
              </a:path>
            </a:pathLst>
          </a:custGeom>
          <a:noFill/>
          <a:ln w="18213" cap="rnd">
            <a:solidFill>
              <a:srgbClr val="0B2350"/>
            </a:solidFill>
            <a:prstDash val="solid"/>
            <a:round/>
          </a:ln>
        </p:spPr>
      </p:sp>
      <p:sp>
        <p:nvSpPr>
          <p:cNvPr id="111" name="Text 109"/>
          <p:cNvSpPr/>
          <p:nvPr/>
        </p:nvSpPr>
        <p:spPr>
          <a:xfrm>
            <a:off x="7750500" y="5851833"/>
            <a:ext cx="3414879" cy="420297"/>
          </a:xfrm>
          <a:prstGeom prst="rect">
            <a:avLst/>
          </a:prstGeom>
          <a:noFill/>
          <a:ln/>
        </p:spPr>
        <p:txBody>
          <a:bodyPr wrap="square" lIns="12700" tIns="25400" rIns="25400" bIns="12700" rtlCol="0" anchor="ctr">
            <a:normAutofit/>
          </a:bodyPr>
          <a:lstStyle/>
          <a:p>
            <a:pPr algn="l" indent="0" marL="0">
              <a:lnSpc>
                <a:spcPct val="95000"/>
              </a:lnSpc>
              <a:buNone/>
            </a:pPr>
            <a:r>
              <a:rPr lang="en-US" sz="955" b="1" dirty="0">
                <a:solidFill>
                  <a:srgbClr val="0B1A3C"/>
                </a:solidFill>
                <a:latin typeface="Segoe UI" pitchFamily="34" charset="0"/>
                <a:ea typeface="Segoe UI" pitchFamily="34" charset="-122"/>
                <a:cs typeface="Segoe UI" pitchFamily="34" charset="-120"/>
              </a:rPr>
              <a:t>PropagacionDeTraza</a:t>
            </a:r>
            <a:endParaRPr lang="en-US" sz="955"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RestClient que lleva el traceId al otro servicio</a:t>
            </a:r>
            <a:endParaRPr lang="en-US" sz="955" dirty="0"/>
          </a:p>
        </p:txBody>
      </p:sp>
      <p:sp>
        <p:nvSpPr>
          <p:cNvPr id="112" name="Text 11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E3F4FA"/>
          </a:solidFill>
          <a:ln w="22225">
            <a:solidFill>
              <a:srgbClr val="2BA6CB"/>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750" b="1" spc="80" kern="0" dirty="0">
                <a:solidFill>
                  <a:srgbClr val="0B6E8A"/>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3F4FA"/>
          </a:solidFill>
          <a:ln w="22225">
            <a:solidFill>
              <a:srgbClr val="2BA6CB"/>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750" b="1" spc="80" kern="0" dirty="0">
                <a:solidFill>
                  <a:srgbClr val="0B6E8A"/>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EF2F7"/>
          </a:solidFill>
          <a:ln w="12700">
            <a:solidFill>
              <a:srgbClr val="C2CEDD"/>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47625">
            <a:solidFill>
              <a:srgbClr val="2BA6CB"/>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31750">
            <a:solidFill>
              <a:srgbClr val="CBD5E3"/>
            </a:solidFill>
            <a:prstDash val="sysDot"/>
            <a:tailEnd type="triangle"/>
          </a:ln>
        </p:spPr>
      </p:sp>
      <p:sp>
        <p:nvSpPr>
          <p:cNvPr id="15" name="Text 13"/>
          <p:cNvSpPr/>
          <p:nvPr/>
        </p:nvSpPr>
        <p:spPr>
          <a:xfrm>
            <a:off x="4476576" y="22468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22860">
            <a:solidFill>
              <a:srgbClr val="CBD5E3"/>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22860">
            <a:solidFill>
              <a:srgbClr val="CBD5E3"/>
            </a:solidFill>
            <a:prstDash val="lgDash"/>
          </a:ln>
        </p:spPr>
      </p:sp>
      <p:sp>
        <p:nvSpPr>
          <p:cNvPr id="20" name="Shape 18"/>
          <p:cNvSpPr/>
          <p:nvPr/>
        </p:nvSpPr>
        <p:spPr>
          <a:xfrm>
            <a:off x="6914105" y="2074382"/>
            <a:ext cx="0" cy="825311"/>
          </a:xfrm>
          <a:prstGeom prst="line">
            <a:avLst/>
          </a:prstGeom>
          <a:noFill/>
          <a:ln w="22860">
            <a:solidFill>
              <a:srgbClr val="CBD5E3"/>
            </a:solidFill>
            <a:prstDash val="lgDash"/>
          </a:ln>
        </p:spPr>
      </p:sp>
      <p:sp>
        <p:nvSpPr>
          <p:cNvPr id="21" name="Shape 19"/>
          <p:cNvSpPr/>
          <p:nvPr/>
        </p:nvSpPr>
        <p:spPr>
          <a:xfrm flipH="1">
            <a:off x="6631947" y="2899693"/>
            <a:ext cx="282158" cy="0"/>
          </a:xfrm>
          <a:prstGeom prst="line">
            <a:avLst/>
          </a:prstGeom>
          <a:noFill/>
          <a:ln w="22860">
            <a:solidFill>
              <a:srgbClr val="CBD5E3"/>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22860">
            <a:solidFill>
              <a:srgbClr val="CBD5E3"/>
            </a:solidFill>
            <a:prstDash val="lgDash"/>
          </a:ln>
        </p:spPr>
      </p:sp>
      <p:sp>
        <p:nvSpPr>
          <p:cNvPr id="25" name="Shape 23"/>
          <p:cNvSpPr/>
          <p:nvPr/>
        </p:nvSpPr>
        <p:spPr>
          <a:xfrm>
            <a:off x="6914105" y="2589320"/>
            <a:ext cx="0" cy="310373"/>
          </a:xfrm>
          <a:prstGeom prst="line">
            <a:avLst/>
          </a:prstGeom>
          <a:noFill/>
          <a:ln w="22860">
            <a:solidFill>
              <a:srgbClr val="CBD5E3"/>
            </a:solidFill>
            <a:prstDash val="lgDash"/>
          </a:ln>
        </p:spPr>
      </p:sp>
      <p:sp>
        <p:nvSpPr>
          <p:cNvPr id="26" name="Shape 24"/>
          <p:cNvSpPr/>
          <p:nvPr/>
        </p:nvSpPr>
        <p:spPr>
          <a:xfrm flipH="1">
            <a:off x="6631947" y="2899693"/>
            <a:ext cx="282158" cy="0"/>
          </a:xfrm>
          <a:prstGeom prst="line">
            <a:avLst/>
          </a:prstGeom>
          <a:noFill/>
          <a:ln w="22860">
            <a:solidFill>
              <a:srgbClr val="CBD5E3"/>
            </a:solidFill>
            <a:prstDash val="lgDash"/>
            <a:tailEnd type="arrow"/>
          </a:ln>
        </p:spPr>
      </p:sp>
      <p:sp>
        <p:nvSpPr>
          <p:cNvPr id="27" name="Text 25"/>
          <p:cNvSpPr/>
          <p:nvPr/>
        </p:nvSpPr>
        <p:spPr>
          <a:xfrm>
            <a:off x="6910186" y="24795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22860">
            <a:solidFill>
              <a:srgbClr val="CBD5E3"/>
            </a:solidFill>
            <a:prstDash val="lgDash"/>
          </a:ln>
        </p:spPr>
      </p:sp>
      <p:sp>
        <p:nvSpPr>
          <p:cNvPr id="29" name="Shape 27"/>
          <p:cNvSpPr/>
          <p:nvPr/>
        </p:nvSpPr>
        <p:spPr>
          <a:xfrm flipV="1">
            <a:off x="6914105" y="2899693"/>
            <a:ext cx="0" cy="931120"/>
          </a:xfrm>
          <a:prstGeom prst="line">
            <a:avLst/>
          </a:prstGeom>
          <a:noFill/>
          <a:ln w="22860">
            <a:solidFill>
              <a:srgbClr val="CBD5E3"/>
            </a:solidFill>
            <a:prstDash val="lgDash"/>
          </a:ln>
        </p:spPr>
      </p:sp>
      <p:sp>
        <p:nvSpPr>
          <p:cNvPr id="30" name="Shape 28"/>
          <p:cNvSpPr/>
          <p:nvPr/>
        </p:nvSpPr>
        <p:spPr>
          <a:xfrm flipH="1">
            <a:off x="6631947" y="2899693"/>
            <a:ext cx="282158" cy="0"/>
          </a:xfrm>
          <a:prstGeom prst="line">
            <a:avLst/>
          </a:prstGeom>
          <a:noFill/>
          <a:ln w="22860">
            <a:solidFill>
              <a:srgbClr val="CBD5E3"/>
            </a:solidFill>
            <a:prstDash val="lgDash"/>
            <a:tailEnd type="arrow"/>
          </a:ln>
        </p:spPr>
      </p:sp>
      <p:sp>
        <p:nvSpPr>
          <p:cNvPr id="31" name="Text 29"/>
          <p:cNvSpPr/>
          <p:nvPr/>
        </p:nvSpPr>
        <p:spPr>
          <a:xfrm>
            <a:off x="6910186"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31750">
            <a:solidFill>
              <a:srgbClr val="CBD5E3"/>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31750">
            <a:solidFill>
              <a:srgbClr val="CBD5E3"/>
            </a:solidFill>
            <a:prstDash val="sysDot"/>
          </a:ln>
        </p:spPr>
      </p:sp>
      <p:sp>
        <p:nvSpPr>
          <p:cNvPr id="36" name="Shape 34"/>
          <p:cNvSpPr/>
          <p:nvPr/>
        </p:nvSpPr>
        <p:spPr>
          <a:xfrm flipV="1">
            <a:off x="9792114" y="1749900"/>
            <a:ext cx="0" cy="218672"/>
          </a:xfrm>
          <a:prstGeom prst="line">
            <a:avLst/>
          </a:prstGeom>
          <a:noFill/>
          <a:ln w="31750">
            <a:solidFill>
              <a:srgbClr val="CBD5E3"/>
            </a:solidFill>
            <a:prstDash val="sysDot"/>
            <a:tailEnd type="triangle"/>
          </a:ln>
        </p:spPr>
      </p:sp>
      <p:sp>
        <p:nvSpPr>
          <p:cNvPr id="37" name="Text 35"/>
          <p:cNvSpPr/>
          <p:nvPr/>
        </p:nvSpPr>
        <p:spPr>
          <a:xfrm>
            <a:off x="8850020" y="18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31750">
            <a:solidFill>
              <a:srgbClr val="CBD5E3"/>
            </a:solidFill>
            <a:prstDash val="sysDot"/>
          </a:ln>
        </p:spPr>
      </p:sp>
      <p:sp>
        <p:nvSpPr>
          <p:cNvPr id="39" name="Shape 37"/>
          <p:cNvSpPr/>
          <p:nvPr/>
        </p:nvSpPr>
        <p:spPr>
          <a:xfrm>
            <a:off x="9792114" y="2589320"/>
            <a:ext cx="0" cy="218672"/>
          </a:xfrm>
          <a:prstGeom prst="line">
            <a:avLst/>
          </a:prstGeom>
          <a:noFill/>
          <a:ln w="31750">
            <a:solidFill>
              <a:srgbClr val="CBD5E3"/>
            </a:solidFill>
            <a:prstDash val="sysDot"/>
            <a:tailEnd type="triangle"/>
          </a:ln>
        </p:spPr>
      </p:sp>
      <p:sp>
        <p:nvSpPr>
          <p:cNvPr id="40" name="Text 38"/>
          <p:cNvSpPr/>
          <p:nvPr/>
        </p:nvSpPr>
        <p:spPr>
          <a:xfrm>
            <a:off x="8850020" y="24795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31750">
            <a:solidFill>
              <a:srgbClr val="CBD5E3"/>
            </a:solidFill>
            <a:prstDash val="sysDot"/>
          </a:ln>
        </p:spPr>
      </p:sp>
      <p:sp>
        <p:nvSpPr>
          <p:cNvPr id="42" name="Shape 40"/>
          <p:cNvSpPr/>
          <p:nvPr/>
        </p:nvSpPr>
        <p:spPr>
          <a:xfrm flipV="1">
            <a:off x="9792114" y="2807992"/>
            <a:ext cx="0" cy="402075"/>
          </a:xfrm>
          <a:prstGeom prst="line">
            <a:avLst/>
          </a:prstGeom>
          <a:noFill/>
          <a:ln w="31750">
            <a:solidFill>
              <a:srgbClr val="CBD5E3"/>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31750">
            <a:solidFill>
              <a:srgbClr val="CBD5E3"/>
            </a:solidFill>
            <a:prstDash val="sysDot"/>
            <a:tailEnd type="triangle"/>
          </a:ln>
        </p:spPr>
      </p:sp>
      <p:sp>
        <p:nvSpPr>
          <p:cNvPr id="46" name="Text 44"/>
          <p:cNvSpPr/>
          <p:nvPr/>
        </p:nvSpPr>
        <p:spPr>
          <a:xfrm>
            <a:off x="7848361" y="341071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25400">
            <a:solidFill>
              <a:srgbClr val="CBD5E3"/>
            </a:solidFill>
            <a:prstDash val="dash"/>
            <a:tailEnd type="triangle"/>
          </a:ln>
        </p:spPr>
      </p:sp>
      <p:sp>
        <p:nvSpPr>
          <p:cNvPr id="48" name="Text 46"/>
          <p:cNvSpPr/>
          <p:nvPr/>
        </p:nvSpPr>
        <p:spPr>
          <a:xfrm>
            <a:off x="8793589"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31750">
            <a:solidFill>
              <a:srgbClr val="CBD5E3"/>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31750">
            <a:solidFill>
              <a:srgbClr val="CBD5E3"/>
            </a:solidFill>
            <a:prstDash val="sysDash"/>
          </a:ln>
        </p:spPr>
      </p:sp>
      <p:sp>
        <p:nvSpPr>
          <p:cNvPr id="53" name="Shape 51"/>
          <p:cNvSpPr/>
          <p:nvPr/>
        </p:nvSpPr>
        <p:spPr>
          <a:xfrm flipV="1">
            <a:off x="3704561" y="3210067"/>
            <a:ext cx="0" cy="620747"/>
          </a:xfrm>
          <a:prstGeom prst="line">
            <a:avLst/>
          </a:prstGeom>
          <a:noFill/>
          <a:ln w="31750">
            <a:solidFill>
              <a:srgbClr val="CBD5E3"/>
            </a:solidFill>
            <a:prstDash val="sysDash"/>
          </a:ln>
        </p:spPr>
      </p:sp>
      <p:sp>
        <p:nvSpPr>
          <p:cNvPr id="54" name="Shape 52"/>
          <p:cNvSpPr/>
          <p:nvPr/>
        </p:nvSpPr>
        <p:spPr>
          <a:xfrm flipH="1">
            <a:off x="3457673" y="3210067"/>
            <a:ext cx="246888" cy="0"/>
          </a:xfrm>
          <a:prstGeom prst="line">
            <a:avLst/>
          </a:prstGeom>
          <a:noFill/>
          <a:ln w="31750">
            <a:solidFill>
              <a:srgbClr val="CBD5E3"/>
            </a:solidFill>
            <a:prstDash val="sysDash"/>
            <a:tailEnd type="triangle"/>
          </a:ln>
        </p:spPr>
      </p:sp>
      <p:sp>
        <p:nvSpPr>
          <p:cNvPr id="55" name="Text 53"/>
          <p:cNvSpPr/>
          <p:nvPr/>
        </p:nvSpPr>
        <p:spPr>
          <a:xfrm>
            <a:off x="3718277"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22860">
            <a:solidFill>
              <a:srgbClr val="CBD5E3"/>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1715088" y="1799999"/>
            <a:ext cx="337147" cy="337147"/>
          </a:xfrm>
          <a:prstGeom prst="ellipse">
            <a:avLst/>
          </a:prstGeom>
          <a:solidFill>
            <a:srgbClr val="E3F4FA"/>
          </a:solidFill>
          <a:ln w="12700">
            <a:solidFill>
              <a:srgbClr val="E3F4FA"/>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0B6E8A"/>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BFCFE"/>
          </a:solidFill>
          <a:ln w="12700">
            <a:solidFill>
              <a:srgbClr val="D5DDE8"/>
            </a:solidFill>
            <a:prstDash val="solid"/>
          </a:ln>
        </p:spPr>
      </p:sp>
      <p:sp>
        <p:nvSpPr>
          <p:cNvPr id="66" name="Shape 64"/>
          <p:cNvSpPr/>
          <p:nvPr/>
        </p:nvSpPr>
        <p:spPr>
          <a:xfrm>
            <a:off x="1715088" y="3662240"/>
            <a:ext cx="337147" cy="337147"/>
          </a:xfrm>
          <a:prstGeom prst="ellipse">
            <a:avLst/>
          </a:prstGeom>
          <a:solidFill>
            <a:srgbClr val="EEF2F7"/>
          </a:solidFill>
          <a:ln w="12700">
            <a:solidFill>
              <a:srgbClr val="EEF2F7"/>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A9B4C6"/>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0" name="Shape 68"/>
          <p:cNvSpPr/>
          <p:nvPr/>
        </p:nvSpPr>
        <p:spPr>
          <a:xfrm>
            <a:off x="4042889" y="1799999"/>
            <a:ext cx="337147" cy="337147"/>
          </a:xfrm>
          <a:prstGeom prst="ellipse">
            <a:avLst/>
          </a:prstGeom>
          <a:solidFill>
            <a:srgbClr val="E3F4FA"/>
          </a:solidFill>
          <a:ln w="12700">
            <a:solidFill>
              <a:srgbClr val="E3F4FA"/>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0B6E8A"/>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12700">
            <a:solidFill>
              <a:srgbClr val="D5DDE8"/>
            </a:solidFill>
            <a:prstDash val="solid"/>
          </a:ln>
        </p:spPr>
      </p:sp>
      <p:sp>
        <p:nvSpPr>
          <p:cNvPr id="74" name="Shape 72"/>
          <p:cNvSpPr/>
          <p:nvPr/>
        </p:nvSpPr>
        <p:spPr>
          <a:xfrm>
            <a:off x="4042889" y="2731119"/>
            <a:ext cx="337147" cy="337147"/>
          </a:xfrm>
          <a:prstGeom prst="ellipse">
            <a:avLst/>
          </a:prstGeom>
          <a:solidFill>
            <a:srgbClr val="EEF2F7"/>
          </a:solidFill>
          <a:ln w="12700">
            <a:solidFill>
              <a:srgbClr val="EEF2F7"/>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A9B4C6"/>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12700">
            <a:solidFill>
              <a:srgbClr val="D5DDE8"/>
            </a:solidFill>
            <a:prstDash val="dash"/>
          </a:ln>
        </p:spPr>
      </p:sp>
      <p:sp>
        <p:nvSpPr>
          <p:cNvPr id="78" name="Shape 76"/>
          <p:cNvSpPr/>
          <p:nvPr/>
        </p:nvSpPr>
        <p:spPr>
          <a:xfrm>
            <a:off x="5453678" y="2731119"/>
            <a:ext cx="337147" cy="337147"/>
          </a:xfrm>
          <a:prstGeom prst="ellipse">
            <a:avLst/>
          </a:prstGeom>
          <a:solidFill>
            <a:srgbClr val="EEF2F7"/>
          </a:solidFill>
          <a:ln w="12700">
            <a:solidFill>
              <a:srgbClr val="EEF2F7"/>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A9B4C6"/>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8A95AB"/>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9AA5B8"/>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12700">
            <a:solidFill>
              <a:srgbClr val="D5DDE8"/>
            </a:solidFill>
            <a:prstDash val="solid"/>
          </a:ln>
        </p:spPr>
      </p:sp>
      <p:sp>
        <p:nvSpPr>
          <p:cNvPr id="82" name="Shape 80"/>
          <p:cNvSpPr/>
          <p:nvPr/>
        </p:nvSpPr>
        <p:spPr>
          <a:xfrm>
            <a:off x="4042889" y="3662240"/>
            <a:ext cx="337147" cy="337147"/>
          </a:xfrm>
          <a:prstGeom prst="ellipse">
            <a:avLst/>
          </a:prstGeom>
          <a:solidFill>
            <a:srgbClr val="EEF2F7"/>
          </a:solidFill>
          <a:ln w="12700">
            <a:solidFill>
              <a:srgbClr val="EEF2F7"/>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A9B4C6"/>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12700">
            <a:solidFill>
              <a:srgbClr val="D5DDE8"/>
            </a:solidFill>
            <a:prstDash val="solid"/>
          </a:ln>
        </p:spPr>
      </p:sp>
      <p:sp>
        <p:nvSpPr>
          <p:cNvPr id="86" name="Shape 84"/>
          <p:cNvSpPr/>
          <p:nvPr/>
        </p:nvSpPr>
        <p:spPr>
          <a:xfrm>
            <a:off x="7217163" y="1799999"/>
            <a:ext cx="337147" cy="337147"/>
          </a:xfrm>
          <a:prstGeom prst="ellipse">
            <a:avLst/>
          </a:prstGeom>
          <a:solidFill>
            <a:srgbClr val="EEF2F7"/>
          </a:solidFill>
          <a:ln w="12700">
            <a:solidFill>
              <a:srgbClr val="EEF2F7"/>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A9B4C6"/>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12700">
            <a:solidFill>
              <a:srgbClr val="D5DDE8"/>
            </a:solidFill>
            <a:prstDash val="solid"/>
          </a:ln>
        </p:spPr>
      </p:sp>
      <p:sp>
        <p:nvSpPr>
          <p:cNvPr id="91" name="Shape 89"/>
          <p:cNvSpPr/>
          <p:nvPr/>
        </p:nvSpPr>
        <p:spPr>
          <a:xfrm>
            <a:off x="7217163" y="3041493"/>
            <a:ext cx="337147" cy="337147"/>
          </a:xfrm>
          <a:prstGeom prst="ellipse">
            <a:avLst/>
          </a:prstGeom>
          <a:solidFill>
            <a:srgbClr val="EEF2F7"/>
          </a:solidFill>
          <a:ln w="12700">
            <a:solidFill>
              <a:srgbClr val="EEF2F7"/>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A9B4C6"/>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28" b="1" dirty="0">
                <a:solidFill>
                  <a:srgbClr val="8A95AB"/>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9AA5B8"/>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BFCFE"/>
          </a:solidFill>
          <a:ln w="12700">
            <a:solidFill>
              <a:srgbClr val="D5DDE8"/>
            </a:solidFill>
            <a:prstDash val="solid"/>
          </a:ln>
        </p:spPr>
      </p:sp>
      <p:sp>
        <p:nvSpPr>
          <p:cNvPr id="98" name="Shape 96"/>
          <p:cNvSpPr/>
          <p:nvPr/>
        </p:nvSpPr>
        <p:spPr>
          <a:xfrm>
            <a:off x="4042889" y="4858589"/>
            <a:ext cx="300467" cy="300467"/>
          </a:xfrm>
          <a:prstGeom prst="ellipse">
            <a:avLst/>
          </a:prstGeom>
          <a:solidFill>
            <a:srgbClr val="EEF2F7"/>
          </a:solidFill>
          <a:ln w="12700">
            <a:solidFill>
              <a:srgbClr val="EEF2F7"/>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A9B4C6"/>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BFCFE"/>
          </a:solidFill>
          <a:ln w="12700">
            <a:solidFill>
              <a:srgbClr val="D5DDE8"/>
            </a:solidFill>
            <a:prstDash val="solid"/>
          </a:ln>
        </p:spPr>
      </p:sp>
      <p:sp>
        <p:nvSpPr>
          <p:cNvPr id="102" name="Shape 100"/>
          <p:cNvSpPr/>
          <p:nvPr/>
        </p:nvSpPr>
        <p:spPr>
          <a:xfrm>
            <a:off x="7217163" y="4858589"/>
            <a:ext cx="300467" cy="300467"/>
          </a:xfrm>
          <a:prstGeom prst="ellipse">
            <a:avLst/>
          </a:prstGeom>
          <a:solidFill>
            <a:srgbClr val="EEF2F7"/>
          </a:solidFill>
          <a:ln w="12700">
            <a:solidFill>
              <a:srgbClr val="EEF2F7"/>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A9B4C6"/>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7" name="Text 10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peticiones entran por el controlador, que solo traduce HTTP.</a:t>
            </a:r>
            <a:endParaRPr lang="en-US" sz="1300" dirty="0"/>
          </a:p>
        </p:txBody>
      </p:sp>
      <p:sp>
        <p:nvSpPr>
          <p:cNvPr id="108" name="Shape 10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10" name="Text 10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coordina cada caso: crear, enviar, aprobar o rechazar.</a:t>
            </a:r>
            <a:endParaRPr lang="en-US" sz="1300" dirty="0"/>
          </a:p>
        </p:txBody>
      </p:sp>
      <p:sp>
        <p:nvSpPr>
          <p:cNvPr id="111" name="Text 10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F7F9FC"/>
          </a:solidFill>
          <a:ln w="12700">
            <a:solidFill>
              <a:srgbClr val="C7D2E2"/>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750" b="1" spc="80" kern="0" dirty="0">
                <a:solidFill>
                  <a:srgbClr val="55627E"/>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AF0FA"/>
          </a:solidFill>
          <a:ln w="12700">
            <a:solidFill>
              <a:srgbClr val="AFC4E6"/>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750" b="1" spc="80" kern="0" dirty="0">
                <a:solidFill>
                  <a:srgbClr val="1F4E8C"/>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EF2F7"/>
          </a:solidFill>
          <a:ln w="12700">
            <a:solidFill>
              <a:srgbClr val="C2CEDD"/>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31750">
            <a:solidFill>
              <a:srgbClr val="55627E"/>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47625">
            <a:solidFill>
              <a:srgbClr val="2BA6CB"/>
            </a:solidFill>
            <a:prstDash val="sysDot"/>
            <a:tailEnd type="triangle"/>
          </a:ln>
        </p:spPr>
      </p:sp>
      <p:sp>
        <p:nvSpPr>
          <p:cNvPr id="15" name="Text 13"/>
          <p:cNvSpPr/>
          <p:nvPr/>
        </p:nvSpPr>
        <p:spPr>
          <a:xfrm>
            <a:off x="4476576" y="22468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38735">
            <a:solidFill>
              <a:srgbClr val="2BA6CB"/>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22860">
            <a:solidFill>
              <a:srgbClr val="CBD5E3"/>
            </a:solidFill>
            <a:prstDash val="lgDash"/>
          </a:ln>
        </p:spPr>
      </p:sp>
      <p:sp>
        <p:nvSpPr>
          <p:cNvPr id="20" name="Shape 18"/>
          <p:cNvSpPr/>
          <p:nvPr/>
        </p:nvSpPr>
        <p:spPr>
          <a:xfrm>
            <a:off x="6914105" y="2074382"/>
            <a:ext cx="0" cy="825311"/>
          </a:xfrm>
          <a:prstGeom prst="line">
            <a:avLst/>
          </a:prstGeom>
          <a:noFill/>
          <a:ln w="22860">
            <a:solidFill>
              <a:srgbClr val="CBD5E3"/>
            </a:solidFill>
            <a:prstDash val="lgDash"/>
          </a:ln>
        </p:spPr>
      </p:sp>
      <p:sp>
        <p:nvSpPr>
          <p:cNvPr id="21" name="Shape 19"/>
          <p:cNvSpPr/>
          <p:nvPr/>
        </p:nvSpPr>
        <p:spPr>
          <a:xfrm flipH="1">
            <a:off x="6631947" y="2899693"/>
            <a:ext cx="282158" cy="0"/>
          </a:xfrm>
          <a:prstGeom prst="line">
            <a:avLst/>
          </a:prstGeom>
          <a:noFill/>
          <a:ln w="22860">
            <a:solidFill>
              <a:srgbClr val="CBD5E3"/>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22860">
            <a:solidFill>
              <a:srgbClr val="CBD5E3"/>
            </a:solidFill>
            <a:prstDash val="lgDash"/>
          </a:ln>
        </p:spPr>
      </p:sp>
      <p:sp>
        <p:nvSpPr>
          <p:cNvPr id="25" name="Shape 23"/>
          <p:cNvSpPr/>
          <p:nvPr/>
        </p:nvSpPr>
        <p:spPr>
          <a:xfrm>
            <a:off x="6914105" y="2589320"/>
            <a:ext cx="0" cy="310373"/>
          </a:xfrm>
          <a:prstGeom prst="line">
            <a:avLst/>
          </a:prstGeom>
          <a:noFill/>
          <a:ln w="22860">
            <a:solidFill>
              <a:srgbClr val="CBD5E3"/>
            </a:solidFill>
            <a:prstDash val="lgDash"/>
          </a:ln>
        </p:spPr>
      </p:sp>
      <p:sp>
        <p:nvSpPr>
          <p:cNvPr id="26" name="Shape 24"/>
          <p:cNvSpPr/>
          <p:nvPr/>
        </p:nvSpPr>
        <p:spPr>
          <a:xfrm flipH="1">
            <a:off x="6631947" y="2899693"/>
            <a:ext cx="282158" cy="0"/>
          </a:xfrm>
          <a:prstGeom prst="line">
            <a:avLst/>
          </a:prstGeom>
          <a:noFill/>
          <a:ln w="22860">
            <a:solidFill>
              <a:srgbClr val="CBD5E3"/>
            </a:solidFill>
            <a:prstDash val="lgDash"/>
            <a:tailEnd type="arrow"/>
          </a:ln>
        </p:spPr>
      </p:sp>
      <p:sp>
        <p:nvSpPr>
          <p:cNvPr id="27" name="Text 25"/>
          <p:cNvSpPr/>
          <p:nvPr/>
        </p:nvSpPr>
        <p:spPr>
          <a:xfrm>
            <a:off x="6910186" y="24795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22860">
            <a:solidFill>
              <a:srgbClr val="CBD5E3"/>
            </a:solidFill>
            <a:prstDash val="lgDash"/>
          </a:ln>
        </p:spPr>
      </p:sp>
      <p:sp>
        <p:nvSpPr>
          <p:cNvPr id="29" name="Shape 27"/>
          <p:cNvSpPr/>
          <p:nvPr/>
        </p:nvSpPr>
        <p:spPr>
          <a:xfrm flipV="1">
            <a:off x="6914105" y="2899693"/>
            <a:ext cx="0" cy="931120"/>
          </a:xfrm>
          <a:prstGeom prst="line">
            <a:avLst/>
          </a:prstGeom>
          <a:noFill/>
          <a:ln w="22860">
            <a:solidFill>
              <a:srgbClr val="CBD5E3"/>
            </a:solidFill>
            <a:prstDash val="lgDash"/>
          </a:ln>
        </p:spPr>
      </p:sp>
      <p:sp>
        <p:nvSpPr>
          <p:cNvPr id="30" name="Shape 28"/>
          <p:cNvSpPr/>
          <p:nvPr/>
        </p:nvSpPr>
        <p:spPr>
          <a:xfrm flipH="1">
            <a:off x="6631947" y="2899693"/>
            <a:ext cx="282158" cy="0"/>
          </a:xfrm>
          <a:prstGeom prst="line">
            <a:avLst/>
          </a:prstGeom>
          <a:noFill/>
          <a:ln w="22860">
            <a:solidFill>
              <a:srgbClr val="CBD5E3"/>
            </a:solidFill>
            <a:prstDash val="lgDash"/>
            <a:tailEnd type="arrow"/>
          </a:ln>
        </p:spPr>
      </p:sp>
      <p:sp>
        <p:nvSpPr>
          <p:cNvPr id="31" name="Text 29"/>
          <p:cNvSpPr/>
          <p:nvPr/>
        </p:nvSpPr>
        <p:spPr>
          <a:xfrm>
            <a:off x="6910186"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31750">
            <a:solidFill>
              <a:srgbClr val="CBD5E3"/>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31750">
            <a:solidFill>
              <a:srgbClr val="CBD5E3"/>
            </a:solidFill>
            <a:prstDash val="sysDot"/>
          </a:ln>
        </p:spPr>
      </p:sp>
      <p:sp>
        <p:nvSpPr>
          <p:cNvPr id="36" name="Shape 34"/>
          <p:cNvSpPr/>
          <p:nvPr/>
        </p:nvSpPr>
        <p:spPr>
          <a:xfrm flipV="1">
            <a:off x="9792114" y="1749900"/>
            <a:ext cx="0" cy="218672"/>
          </a:xfrm>
          <a:prstGeom prst="line">
            <a:avLst/>
          </a:prstGeom>
          <a:noFill/>
          <a:ln w="31750">
            <a:solidFill>
              <a:srgbClr val="CBD5E3"/>
            </a:solidFill>
            <a:prstDash val="sysDot"/>
            <a:tailEnd type="triangle"/>
          </a:ln>
        </p:spPr>
      </p:sp>
      <p:sp>
        <p:nvSpPr>
          <p:cNvPr id="37" name="Text 35"/>
          <p:cNvSpPr/>
          <p:nvPr/>
        </p:nvSpPr>
        <p:spPr>
          <a:xfrm>
            <a:off x="8850020" y="18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31750">
            <a:solidFill>
              <a:srgbClr val="CBD5E3"/>
            </a:solidFill>
            <a:prstDash val="sysDot"/>
          </a:ln>
        </p:spPr>
      </p:sp>
      <p:sp>
        <p:nvSpPr>
          <p:cNvPr id="39" name="Shape 37"/>
          <p:cNvSpPr/>
          <p:nvPr/>
        </p:nvSpPr>
        <p:spPr>
          <a:xfrm>
            <a:off x="9792114" y="2589320"/>
            <a:ext cx="0" cy="218672"/>
          </a:xfrm>
          <a:prstGeom prst="line">
            <a:avLst/>
          </a:prstGeom>
          <a:noFill/>
          <a:ln w="31750">
            <a:solidFill>
              <a:srgbClr val="CBD5E3"/>
            </a:solidFill>
            <a:prstDash val="sysDot"/>
            <a:tailEnd type="triangle"/>
          </a:ln>
        </p:spPr>
      </p:sp>
      <p:sp>
        <p:nvSpPr>
          <p:cNvPr id="40" name="Text 38"/>
          <p:cNvSpPr/>
          <p:nvPr/>
        </p:nvSpPr>
        <p:spPr>
          <a:xfrm>
            <a:off x="8850020" y="24795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31750">
            <a:solidFill>
              <a:srgbClr val="CBD5E3"/>
            </a:solidFill>
            <a:prstDash val="sysDot"/>
          </a:ln>
        </p:spPr>
      </p:sp>
      <p:sp>
        <p:nvSpPr>
          <p:cNvPr id="42" name="Shape 40"/>
          <p:cNvSpPr/>
          <p:nvPr/>
        </p:nvSpPr>
        <p:spPr>
          <a:xfrm flipV="1">
            <a:off x="9792114" y="2807992"/>
            <a:ext cx="0" cy="402075"/>
          </a:xfrm>
          <a:prstGeom prst="line">
            <a:avLst/>
          </a:prstGeom>
          <a:noFill/>
          <a:ln w="31750">
            <a:solidFill>
              <a:srgbClr val="CBD5E3"/>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31750">
            <a:solidFill>
              <a:srgbClr val="CBD5E3"/>
            </a:solidFill>
            <a:prstDash val="sysDot"/>
            <a:tailEnd type="triangle"/>
          </a:ln>
        </p:spPr>
      </p:sp>
      <p:sp>
        <p:nvSpPr>
          <p:cNvPr id="46" name="Text 44"/>
          <p:cNvSpPr/>
          <p:nvPr/>
        </p:nvSpPr>
        <p:spPr>
          <a:xfrm>
            <a:off x="7848361" y="341071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25400">
            <a:solidFill>
              <a:srgbClr val="CBD5E3"/>
            </a:solidFill>
            <a:prstDash val="dash"/>
            <a:tailEnd type="triangle"/>
          </a:ln>
        </p:spPr>
      </p:sp>
      <p:sp>
        <p:nvSpPr>
          <p:cNvPr id="48" name="Text 46"/>
          <p:cNvSpPr/>
          <p:nvPr/>
        </p:nvSpPr>
        <p:spPr>
          <a:xfrm>
            <a:off x="8793589"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47625">
            <a:solidFill>
              <a:srgbClr val="2BA6CB"/>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31750">
            <a:solidFill>
              <a:srgbClr val="CBD5E3"/>
            </a:solidFill>
            <a:prstDash val="sysDash"/>
          </a:ln>
        </p:spPr>
      </p:sp>
      <p:sp>
        <p:nvSpPr>
          <p:cNvPr id="53" name="Shape 51"/>
          <p:cNvSpPr/>
          <p:nvPr/>
        </p:nvSpPr>
        <p:spPr>
          <a:xfrm flipV="1">
            <a:off x="3704561" y="3210067"/>
            <a:ext cx="0" cy="620747"/>
          </a:xfrm>
          <a:prstGeom prst="line">
            <a:avLst/>
          </a:prstGeom>
          <a:noFill/>
          <a:ln w="31750">
            <a:solidFill>
              <a:srgbClr val="CBD5E3"/>
            </a:solidFill>
            <a:prstDash val="sysDash"/>
          </a:ln>
        </p:spPr>
      </p:sp>
      <p:sp>
        <p:nvSpPr>
          <p:cNvPr id="54" name="Shape 52"/>
          <p:cNvSpPr/>
          <p:nvPr/>
        </p:nvSpPr>
        <p:spPr>
          <a:xfrm flipH="1">
            <a:off x="3457673" y="3210067"/>
            <a:ext cx="246888" cy="0"/>
          </a:xfrm>
          <a:prstGeom prst="line">
            <a:avLst/>
          </a:prstGeom>
          <a:noFill/>
          <a:ln w="31750">
            <a:solidFill>
              <a:srgbClr val="CBD5E3"/>
            </a:solidFill>
            <a:prstDash val="sysDash"/>
            <a:tailEnd type="triangle"/>
          </a:ln>
        </p:spPr>
      </p:sp>
      <p:sp>
        <p:nvSpPr>
          <p:cNvPr id="55" name="Text 53"/>
          <p:cNvSpPr/>
          <p:nvPr/>
        </p:nvSpPr>
        <p:spPr>
          <a:xfrm>
            <a:off x="3718277"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22860">
            <a:solidFill>
              <a:srgbClr val="CBD5E3"/>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1715088" y="1799999"/>
            <a:ext cx="337147" cy="337147"/>
          </a:xfrm>
          <a:prstGeom prst="ellipse">
            <a:avLst/>
          </a:prstGeom>
          <a:solidFill>
            <a:srgbClr val="EBECF0"/>
          </a:solidFill>
          <a:ln w="12700">
            <a:solidFill>
              <a:srgbClr val="EBECF0"/>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55627E"/>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BFCFE"/>
          </a:solidFill>
          <a:ln w="12700">
            <a:solidFill>
              <a:srgbClr val="D5DDE8"/>
            </a:solidFill>
            <a:prstDash val="solid"/>
          </a:ln>
        </p:spPr>
      </p:sp>
      <p:sp>
        <p:nvSpPr>
          <p:cNvPr id="66" name="Shape 64"/>
          <p:cNvSpPr/>
          <p:nvPr/>
        </p:nvSpPr>
        <p:spPr>
          <a:xfrm>
            <a:off x="1715088" y="3662240"/>
            <a:ext cx="337147" cy="337147"/>
          </a:xfrm>
          <a:prstGeom prst="ellipse">
            <a:avLst/>
          </a:prstGeom>
          <a:solidFill>
            <a:srgbClr val="EEF2F7"/>
          </a:solidFill>
          <a:ln w="12700">
            <a:solidFill>
              <a:srgbClr val="EEF2F7"/>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A9B4C6"/>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4042889" y="1799999"/>
            <a:ext cx="337147" cy="337147"/>
          </a:xfrm>
          <a:prstGeom prst="ellipse">
            <a:avLst/>
          </a:prstGeom>
          <a:solidFill>
            <a:srgbClr val="E4EAF1"/>
          </a:solidFill>
          <a:ln w="12700">
            <a:solidFill>
              <a:srgbClr val="E4EAF1"/>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1F4E8C"/>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4" name="Shape 72"/>
          <p:cNvSpPr/>
          <p:nvPr/>
        </p:nvSpPr>
        <p:spPr>
          <a:xfrm>
            <a:off x="4042889" y="2731119"/>
            <a:ext cx="337147" cy="337147"/>
          </a:xfrm>
          <a:prstGeom prst="ellipse">
            <a:avLst/>
          </a:prstGeom>
          <a:solidFill>
            <a:srgbClr val="E3F4FA"/>
          </a:solidFill>
          <a:ln w="12700">
            <a:solidFill>
              <a:srgbClr val="E3F4FA"/>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0B6E8A"/>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78" name="Shape 76"/>
          <p:cNvSpPr/>
          <p:nvPr/>
        </p:nvSpPr>
        <p:spPr>
          <a:xfrm>
            <a:off x="5453678" y="2731119"/>
            <a:ext cx="337147" cy="337147"/>
          </a:xfrm>
          <a:prstGeom prst="ellipse">
            <a:avLst/>
          </a:prstGeom>
          <a:solidFill>
            <a:srgbClr val="E3F4FA"/>
          </a:solidFill>
          <a:ln w="12700">
            <a:solidFill>
              <a:srgbClr val="E3F4FA"/>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0B6E8A"/>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0B1A3C"/>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55627E"/>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2" name="Shape 80"/>
          <p:cNvSpPr/>
          <p:nvPr/>
        </p:nvSpPr>
        <p:spPr>
          <a:xfrm>
            <a:off x="4042889" y="3662240"/>
            <a:ext cx="337147" cy="337147"/>
          </a:xfrm>
          <a:prstGeom prst="ellipse">
            <a:avLst/>
          </a:prstGeom>
          <a:solidFill>
            <a:srgbClr val="E3F4FA"/>
          </a:solidFill>
          <a:ln w="12700">
            <a:solidFill>
              <a:srgbClr val="E3F4FA"/>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0B6E8A"/>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12700">
            <a:solidFill>
              <a:srgbClr val="D5DDE8"/>
            </a:solidFill>
            <a:prstDash val="solid"/>
          </a:ln>
        </p:spPr>
      </p:sp>
      <p:sp>
        <p:nvSpPr>
          <p:cNvPr id="86" name="Shape 84"/>
          <p:cNvSpPr/>
          <p:nvPr/>
        </p:nvSpPr>
        <p:spPr>
          <a:xfrm>
            <a:off x="7217163" y="1799999"/>
            <a:ext cx="337147" cy="337147"/>
          </a:xfrm>
          <a:prstGeom prst="ellipse">
            <a:avLst/>
          </a:prstGeom>
          <a:solidFill>
            <a:srgbClr val="EEF2F7"/>
          </a:solidFill>
          <a:ln w="12700">
            <a:solidFill>
              <a:srgbClr val="EEF2F7"/>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A9B4C6"/>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8A95AB"/>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12700">
            <a:solidFill>
              <a:srgbClr val="D5DDE8"/>
            </a:solidFill>
            <a:prstDash val="solid"/>
          </a:ln>
        </p:spPr>
      </p:sp>
      <p:sp>
        <p:nvSpPr>
          <p:cNvPr id="91" name="Shape 89"/>
          <p:cNvSpPr/>
          <p:nvPr/>
        </p:nvSpPr>
        <p:spPr>
          <a:xfrm>
            <a:off x="7217163" y="3041493"/>
            <a:ext cx="337147" cy="337147"/>
          </a:xfrm>
          <a:prstGeom prst="ellipse">
            <a:avLst/>
          </a:prstGeom>
          <a:solidFill>
            <a:srgbClr val="EEF2F7"/>
          </a:solidFill>
          <a:ln w="12700">
            <a:solidFill>
              <a:srgbClr val="EEF2F7"/>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A9B4C6"/>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28" b="1" dirty="0">
                <a:solidFill>
                  <a:srgbClr val="8A95AB"/>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9AA5B8"/>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BFCFE"/>
          </a:solidFill>
          <a:ln w="12700">
            <a:solidFill>
              <a:srgbClr val="D5DDE8"/>
            </a:solidFill>
            <a:prstDash val="solid"/>
          </a:ln>
        </p:spPr>
      </p:sp>
      <p:sp>
        <p:nvSpPr>
          <p:cNvPr id="98" name="Shape 96"/>
          <p:cNvSpPr/>
          <p:nvPr/>
        </p:nvSpPr>
        <p:spPr>
          <a:xfrm>
            <a:off x="4042889" y="4858589"/>
            <a:ext cx="300467" cy="300467"/>
          </a:xfrm>
          <a:prstGeom prst="ellipse">
            <a:avLst/>
          </a:prstGeom>
          <a:solidFill>
            <a:srgbClr val="EEF2F7"/>
          </a:solidFill>
          <a:ln w="12700">
            <a:solidFill>
              <a:srgbClr val="EEF2F7"/>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A9B4C6"/>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BFCFE"/>
          </a:solidFill>
          <a:ln w="12700">
            <a:solidFill>
              <a:srgbClr val="D5DDE8"/>
            </a:solidFill>
            <a:prstDash val="solid"/>
          </a:ln>
        </p:spPr>
      </p:sp>
      <p:sp>
        <p:nvSpPr>
          <p:cNvPr id="102" name="Shape 100"/>
          <p:cNvSpPr/>
          <p:nvPr/>
        </p:nvSpPr>
        <p:spPr>
          <a:xfrm>
            <a:off x="7217163" y="4858589"/>
            <a:ext cx="300467" cy="300467"/>
          </a:xfrm>
          <a:prstGeom prst="ellipse">
            <a:avLst/>
          </a:prstGeom>
          <a:solidFill>
            <a:srgbClr val="EEF2F7"/>
          </a:solidFill>
          <a:ln w="12700">
            <a:solidFill>
              <a:srgbClr val="EEF2F7"/>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A9B4C6"/>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07" name="Text 10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reglas viven en el record Solicitud; si una no se cumple, lanza una excepción.</a:t>
            </a:r>
            <a:endParaRPr lang="en-US" sz="1300" dirty="0"/>
          </a:p>
        </p:txBody>
      </p:sp>
      <p:sp>
        <p:nvSpPr>
          <p:cNvPr id="108" name="Shape 10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10" name="Text 10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dominio pide lo que necesita a través de puertos: interfaces sin tecnología.</a:t>
            </a:r>
            <a:endParaRPr lang="en-US" sz="1300" dirty="0"/>
          </a:p>
        </p:txBody>
      </p:sp>
      <p:sp>
        <p:nvSpPr>
          <p:cNvPr id="111" name="Text 10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F7F9FC"/>
          </a:solidFill>
          <a:ln w="12700">
            <a:solidFill>
              <a:srgbClr val="C7D2E2"/>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750" b="1" spc="80" kern="0" dirty="0">
                <a:solidFill>
                  <a:srgbClr val="55627E"/>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AF0FA"/>
          </a:solidFill>
          <a:ln w="12700">
            <a:solidFill>
              <a:srgbClr val="AFC4E6"/>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750" b="1" spc="80" kern="0" dirty="0">
                <a:solidFill>
                  <a:srgbClr val="1F4E8C"/>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3F4FA"/>
          </a:solidFill>
          <a:ln w="22225">
            <a:solidFill>
              <a:srgbClr val="2BA6CB"/>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31750">
            <a:solidFill>
              <a:srgbClr val="55627E"/>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31750">
            <a:solidFill>
              <a:srgbClr val="55627E"/>
            </a:solidFill>
            <a:prstDash val="sysDot"/>
            <a:tailEnd type="triangle"/>
          </a:ln>
        </p:spPr>
      </p:sp>
      <p:sp>
        <p:nvSpPr>
          <p:cNvPr id="15" name="Text 13"/>
          <p:cNvSpPr/>
          <p:nvPr/>
        </p:nvSpPr>
        <p:spPr>
          <a:xfrm>
            <a:off x="4476576" y="22468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22860">
            <a:solidFill>
              <a:srgbClr val="1F4E8C"/>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38735">
            <a:solidFill>
              <a:srgbClr val="2BA6CB"/>
            </a:solidFill>
            <a:prstDash val="lgDash"/>
          </a:ln>
        </p:spPr>
      </p:sp>
      <p:sp>
        <p:nvSpPr>
          <p:cNvPr id="20" name="Shape 18"/>
          <p:cNvSpPr/>
          <p:nvPr/>
        </p:nvSpPr>
        <p:spPr>
          <a:xfrm>
            <a:off x="6914105" y="2074382"/>
            <a:ext cx="0" cy="825311"/>
          </a:xfrm>
          <a:prstGeom prst="line">
            <a:avLst/>
          </a:prstGeom>
          <a:noFill/>
          <a:ln w="38735">
            <a:solidFill>
              <a:srgbClr val="2BA6CB"/>
            </a:solidFill>
            <a:prstDash val="lgDash"/>
          </a:ln>
        </p:spPr>
      </p:sp>
      <p:sp>
        <p:nvSpPr>
          <p:cNvPr id="21" name="Shape 19"/>
          <p:cNvSpPr/>
          <p:nvPr/>
        </p:nvSpPr>
        <p:spPr>
          <a:xfrm flipH="1">
            <a:off x="6631947" y="2899693"/>
            <a:ext cx="282158" cy="0"/>
          </a:xfrm>
          <a:prstGeom prst="line">
            <a:avLst/>
          </a:prstGeom>
          <a:noFill/>
          <a:ln w="38735">
            <a:solidFill>
              <a:srgbClr val="2BA6CB"/>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38735">
            <a:solidFill>
              <a:srgbClr val="2BA6CB"/>
            </a:solidFill>
            <a:prstDash val="lgDash"/>
          </a:ln>
        </p:spPr>
      </p:sp>
      <p:sp>
        <p:nvSpPr>
          <p:cNvPr id="25" name="Shape 23"/>
          <p:cNvSpPr/>
          <p:nvPr/>
        </p:nvSpPr>
        <p:spPr>
          <a:xfrm>
            <a:off x="6914105" y="2589320"/>
            <a:ext cx="0" cy="310373"/>
          </a:xfrm>
          <a:prstGeom prst="line">
            <a:avLst/>
          </a:prstGeom>
          <a:noFill/>
          <a:ln w="38735">
            <a:solidFill>
              <a:srgbClr val="2BA6CB"/>
            </a:solidFill>
            <a:prstDash val="lgDash"/>
          </a:ln>
        </p:spPr>
      </p:sp>
      <p:sp>
        <p:nvSpPr>
          <p:cNvPr id="26" name="Shape 24"/>
          <p:cNvSpPr/>
          <p:nvPr/>
        </p:nvSpPr>
        <p:spPr>
          <a:xfrm flipH="1">
            <a:off x="6631947" y="2899693"/>
            <a:ext cx="282158" cy="0"/>
          </a:xfrm>
          <a:prstGeom prst="line">
            <a:avLst/>
          </a:prstGeom>
          <a:noFill/>
          <a:ln w="38735">
            <a:solidFill>
              <a:srgbClr val="2BA6CB"/>
            </a:solidFill>
            <a:prstDash val="lgDash"/>
            <a:tailEnd type="arrow"/>
          </a:ln>
        </p:spPr>
      </p:sp>
      <p:sp>
        <p:nvSpPr>
          <p:cNvPr id="27" name="Text 25"/>
          <p:cNvSpPr/>
          <p:nvPr/>
        </p:nvSpPr>
        <p:spPr>
          <a:xfrm>
            <a:off x="6910186" y="24795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38735">
            <a:solidFill>
              <a:srgbClr val="2BA6CB"/>
            </a:solidFill>
            <a:prstDash val="lgDash"/>
          </a:ln>
        </p:spPr>
      </p:sp>
      <p:sp>
        <p:nvSpPr>
          <p:cNvPr id="29" name="Shape 27"/>
          <p:cNvSpPr/>
          <p:nvPr/>
        </p:nvSpPr>
        <p:spPr>
          <a:xfrm flipV="1">
            <a:off x="6914105" y="2899693"/>
            <a:ext cx="0" cy="931120"/>
          </a:xfrm>
          <a:prstGeom prst="line">
            <a:avLst/>
          </a:prstGeom>
          <a:noFill/>
          <a:ln w="38735">
            <a:solidFill>
              <a:srgbClr val="2BA6CB"/>
            </a:solidFill>
            <a:prstDash val="lgDash"/>
          </a:ln>
        </p:spPr>
      </p:sp>
      <p:sp>
        <p:nvSpPr>
          <p:cNvPr id="30" name="Shape 28"/>
          <p:cNvSpPr/>
          <p:nvPr/>
        </p:nvSpPr>
        <p:spPr>
          <a:xfrm flipH="1">
            <a:off x="6631947" y="2899693"/>
            <a:ext cx="282158" cy="0"/>
          </a:xfrm>
          <a:prstGeom prst="line">
            <a:avLst/>
          </a:prstGeom>
          <a:noFill/>
          <a:ln w="38735">
            <a:solidFill>
              <a:srgbClr val="2BA6CB"/>
            </a:solidFill>
            <a:prstDash val="lgDash"/>
            <a:tailEnd type="arrow"/>
          </a:ln>
        </p:spPr>
      </p:sp>
      <p:sp>
        <p:nvSpPr>
          <p:cNvPr id="31" name="Text 29"/>
          <p:cNvSpPr/>
          <p:nvPr/>
        </p:nvSpPr>
        <p:spPr>
          <a:xfrm>
            <a:off x="6910186" y="37210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47625">
            <a:solidFill>
              <a:srgbClr val="2BA6CB"/>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47625">
            <a:solidFill>
              <a:srgbClr val="2BA6CB"/>
            </a:solidFill>
            <a:prstDash val="sysDot"/>
          </a:ln>
        </p:spPr>
      </p:sp>
      <p:sp>
        <p:nvSpPr>
          <p:cNvPr id="36" name="Shape 34"/>
          <p:cNvSpPr/>
          <p:nvPr/>
        </p:nvSpPr>
        <p:spPr>
          <a:xfrm flipV="1">
            <a:off x="9792114" y="1749900"/>
            <a:ext cx="0" cy="218672"/>
          </a:xfrm>
          <a:prstGeom prst="line">
            <a:avLst/>
          </a:prstGeom>
          <a:noFill/>
          <a:ln w="47625">
            <a:solidFill>
              <a:srgbClr val="2BA6CB"/>
            </a:solidFill>
            <a:prstDash val="sysDot"/>
            <a:tailEnd type="triangle"/>
          </a:ln>
        </p:spPr>
      </p:sp>
      <p:sp>
        <p:nvSpPr>
          <p:cNvPr id="37" name="Text 35"/>
          <p:cNvSpPr/>
          <p:nvPr/>
        </p:nvSpPr>
        <p:spPr>
          <a:xfrm>
            <a:off x="8850020" y="1858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47625">
            <a:solidFill>
              <a:srgbClr val="2BA6CB"/>
            </a:solidFill>
            <a:prstDash val="sysDot"/>
          </a:ln>
        </p:spPr>
      </p:sp>
      <p:sp>
        <p:nvSpPr>
          <p:cNvPr id="39" name="Shape 37"/>
          <p:cNvSpPr/>
          <p:nvPr/>
        </p:nvSpPr>
        <p:spPr>
          <a:xfrm>
            <a:off x="9792114" y="2589320"/>
            <a:ext cx="0" cy="218672"/>
          </a:xfrm>
          <a:prstGeom prst="line">
            <a:avLst/>
          </a:prstGeom>
          <a:noFill/>
          <a:ln w="47625">
            <a:solidFill>
              <a:srgbClr val="2BA6CB"/>
            </a:solidFill>
            <a:prstDash val="sysDot"/>
            <a:tailEnd type="triangle"/>
          </a:ln>
        </p:spPr>
      </p:sp>
      <p:sp>
        <p:nvSpPr>
          <p:cNvPr id="40" name="Text 38"/>
          <p:cNvSpPr/>
          <p:nvPr/>
        </p:nvSpPr>
        <p:spPr>
          <a:xfrm>
            <a:off x="8850020" y="24795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31750">
            <a:solidFill>
              <a:srgbClr val="CBD5E3"/>
            </a:solidFill>
            <a:prstDash val="sysDot"/>
          </a:ln>
        </p:spPr>
      </p:sp>
      <p:sp>
        <p:nvSpPr>
          <p:cNvPr id="42" name="Shape 40"/>
          <p:cNvSpPr/>
          <p:nvPr/>
        </p:nvSpPr>
        <p:spPr>
          <a:xfrm flipV="1">
            <a:off x="9792114" y="2807992"/>
            <a:ext cx="0" cy="402075"/>
          </a:xfrm>
          <a:prstGeom prst="line">
            <a:avLst/>
          </a:prstGeom>
          <a:noFill/>
          <a:ln w="31750">
            <a:solidFill>
              <a:srgbClr val="CBD5E3"/>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31750">
            <a:solidFill>
              <a:srgbClr val="CBD5E3"/>
            </a:solidFill>
            <a:prstDash val="sysDot"/>
            <a:tailEnd type="triangle"/>
          </a:ln>
        </p:spPr>
      </p:sp>
      <p:sp>
        <p:nvSpPr>
          <p:cNvPr id="46" name="Text 44"/>
          <p:cNvSpPr/>
          <p:nvPr/>
        </p:nvSpPr>
        <p:spPr>
          <a:xfrm>
            <a:off x="7848361" y="341071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25400">
            <a:solidFill>
              <a:srgbClr val="CBD5E3"/>
            </a:solidFill>
            <a:prstDash val="dash"/>
            <a:tailEnd type="triangle"/>
          </a:ln>
        </p:spPr>
      </p:sp>
      <p:sp>
        <p:nvSpPr>
          <p:cNvPr id="48" name="Text 46"/>
          <p:cNvSpPr/>
          <p:nvPr/>
        </p:nvSpPr>
        <p:spPr>
          <a:xfrm>
            <a:off x="8793589"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31750">
            <a:solidFill>
              <a:srgbClr val="AB243E"/>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31750">
            <a:solidFill>
              <a:srgbClr val="CBD5E3"/>
            </a:solidFill>
            <a:prstDash val="sysDash"/>
          </a:ln>
        </p:spPr>
      </p:sp>
      <p:sp>
        <p:nvSpPr>
          <p:cNvPr id="53" name="Shape 51"/>
          <p:cNvSpPr/>
          <p:nvPr/>
        </p:nvSpPr>
        <p:spPr>
          <a:xfrm flipV="1">
            <a:off x="3704561" y="3210067"/>
            <a:ext cx="0" cy="620747"/>
          </a:xfrm>
          <a:prstGeom prst="line">
            <a:avLst/>
          </a:prstGeom>
          <a:noFill/>
          <a:ln w="31750">
            <a:solidFill>
              <a:srgbClr val="CBD5E3"/>
            </a:solidFill>
            <a:prstDash val="sysDash"/>
          </a:ln>
        </p:spPr>
      </p:sp>
      <p:sp>
        <p:nvSpPr>
          <p:cNvPr id="54" name="Shape 52"/>
          <p:cNvSpPr/>
          <p:nvPr/>
        </p:nvSpPr>
        <p:spPr>
          <a:xfrm flipH="1">
            <a:off x="3457673" y="3210067"/>
            <a:ext cx="246888" cy="0"/>
          </a:xfrm>
          <a:prstGeom prst="line">
            <a:avLst/>
          </a:prstGeom>
          <a:noFill/>
          <a:ln w="31750">
            <a:solidFill>
              <a:srgbClr val="CBD5E3"/>
            </a:solidFill>
            <a:prstDash val="sysDash"/>
            <a:tailEnd type="triangle"/>
          </a:ln>
        </p:spPr>
      </p:sp>
      <p:sp>
        <p:nvSpPr>
          <p:cNvPr id="55" name="Text 53"/>
          <p:cNvSpPr/>
          <p:nvPr/>
        </p:nvSpPr>
        <p:spPr>
          <a:xfrm>
            <a:off x="3718277" y="372108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22860">
            <a:solidFill>
              <a:srgbClr val="CBD5E3"/>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1715088" y="1799999"/>
            <a:ext cx="337147" cy="337147"/>
          </a:xfrm>
          <a:prstGeom prst="ellipse">
            <a:avLst/>
          </a:prstGeom>
          <a:solidFill>
            <a:srgbClr val="EBECF0"/>
          </a:solidFill>
          <a:ln w="12700">
            <a:solidFill>
              <a:srgbClr val="EBECF0"/>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55627E"/>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BFCFE"/>
          </a:solidFill>
          <a:ln w="12700">
            <a:solidFill>
              <a:srgbClr val="D5DDE8"/>
            </a:solidFill>
            <a:prstDash val="solid"/>
          </a:ln>
        </p:spPr>
      </p:sp>
      <p:sp>
        <p:nvSpPr>
          <p:cNvPr id="66" name="Shape 64"/>
          <p:cNvSpPr/>
          <p:nvPr/>
        </p:nvSpPr>
        <p:spPr>
          <a:xfrm>
            <a:off x="1715088" y="3662240"/>
            <a:ext cx="337147" cy="337147"/>
          </a:xfrm>
          <a:prstGeom prst="ellipse">
            <a:avLst/>
          </a:prstGeom>
          <a:solidFill>
            <a:srgbClr val="EEF2F7"/>
          </a:solidFill>
          <a:ln w="12700">
            <a:solidFill>
              <a:srgbClr val="EEF2F7"/>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A9B4C6"/>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4042889" y="1799999"/>
            <a:ext cx="337147" cy="337147"/>
          </a:xfrm>
          <a:prstGeom prst="ellipse">
            <a:avLst/>
          </a:prstGeom>
          <a:solidFill>
            <a:srgbClr val="E4EAF1"/>
          </a:solidFill>
          <a:ln w="12700">
            <a:solidFill>
              <a:srgbClr val="E4EAF1"/>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1F4E8C"/>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4042889" y="2731119"/>
            <a:ext cx="337147" cy="337147"/>
          </a:xfrm>
          <a:prstGeom prst="ellipse">
            <a:avLst/>
          </a:prstGeom>
          <a:solidFill>
            <a:srgbClr val="E4EAF1"/>
          </a:solidFill>
          <a:ln w="12700">
            <a:solidFill>
              <a:srgbClr val="E4EAF1"/>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1F4E8C"/>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12700">
            <a:solidFill>
              <a:srgbClr val="9AAFCB"/>
            </a:solidFill>
            <a:prstDash val="dash"/>
          </a:ln>
          <a:effectLst>
            <a:outerShdw sx="100000" sy="100000" kx="0" ky="0" algn="bl" rotWithShape="0" blurRad="76200" dist="19050" dir="5400000">
              <a:srgbClr val="0B1F3A">
                <a:alpha val="14000"/>
              </a:srgbClr>
            </a:outerShdw>
          </a:effectLst>
        </p:spPr>
      </p:sp>
      <p:sp>
        <p:nvSpPr>
          <p:cNvPr id="78" name="Shape 76"/>
          <p:cNvSpPr/>
          <p:nvPr/>
        </p:nvSpPr>
        <p:spPr>
          <a:xfrm>
            <a:off x="5453678" y="2731119"/>
            <a:ext cx="337147" cy="337147"/>
          </a:xfrm>
          <a:prstGeom prst="ellipse">
            <a:avLst/>
          </a:prstGeom>
          <a:solidFill>
            <a:srgbClr val="E4EAF1"/>
          </a:solidFill>
          <a:ln w="12700">
            <a:solidFill>
              <a:srgbClr val="E4EAF1"/>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1F4E8C"/>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0B1A3C"/>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55627E"/>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2" name="Shape 80"/>
          <p:cNvSpPr/>
          <p:nvPr/>
        </p:nvSpPr>
        <p:spPr>
          <a:xfrm>
            <a:off x="4042889" y="3662240"/>
            <a:ext cx="337147" cy="337147"/>
          </a:xfrm>
          <a:prstGeom prst="ellipse">
            <a:avLst/>
          </a:prstGeom>
          <a:solidFill>
            <a:srgbClr val="E4EAF1"/>
          </a:solidFill>
          <a:ln w="12700">
            <a:solidFill>
              <a:srgbClr val="E4EAF1"/>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1F4E8C"/>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6" name="Shape 84"/>
          <p:cNvSpPr/>
          <p:nvPr/>
        </p:nvSpPr>
        <p:spPr>
          <a:xfrm>
            <a:off x="7217163" y="1799999"/>
            <a:ext cx="337147" cy="337147"/>
          </a:xfrm>
          <a:prstGeom prst="ellipse">
            <a:avLst/>
          </a:prstGeom>
          <a:solidFill>
            <a:srgbClr val="E3F4FA"/>
          </a:solidFill>
          <a:ln w="12700">
            <a:solidFill>
              <a:srgbClr val="E3F4FA"/>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0B6E8A"/>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12700">
            <a:solidFill>
              <a:srgbClr val="D5DDE8"/>
            </a:solidFill>
            <a:prstDash val="solid"/>
          </a:ln>
        </p:spPr>
      </p:sp>
      <p:sp>
        <p:nvSpPr>
          <p:cNvPr id="91" name="Shape 89"/>
          <p:cNvSpPr/>
          <p:nvPr/>
        </p:nvSpPr>
        <p:spPr>
          <a:xfrm>
            <a:off x="7217163" y="3041493"/>
            <a:ext cx="337147" cy="337147"/>
          </a:xfrm>
          <a:prstGeom prst="ellipse">
            <a:avLst/>
          </a:prstGeom>
          <a:solidFill>
            <a:srgbClr val="EEF2F7"/>
          </a:solidFill>
          <a:ln w="12700">
            <a:solidFill>
              <a:srgbClr val="EEF2F7"/>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A9B4C6"/>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828" b="1" dirty="0">
                <a:solidFill>
                  <a:srgbClr val="8A95AB"/>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9AA5B8"/>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BFCFE"/>
          </a:solidFill>
          <a:ln w="12700">
            <a:solidFill>
              <a:srgbClr val="D5DDE8"/>
            </a:solidFill>
            <a:prstDash val="solid"/>
          </a:ln>
        </p:spPr>
      </p:sp>
      <p:sp>
        <p:nvSpPr>
          <p:cNvPr id="98" name="Shape 96"/>
          <p:cNvSpPr/>
          <p:nvPr/>
        </p:nvSpPr>
        <p:spPr>
          <a:xfrm>
            <a:off x="4042889" y="4858589"/>
            <a:ext cx="300467" cy="300467"/>
          </a:xfrm>
          <a:prstGeom prst="ellipse">
            <a:avLst/>
          </a:prstGeom>
          <a:solidFill>
            <a:srgbClr val="EEF2F7"/>
          </a:solidFill>
          <a:ln w="12700">
            <a:solidFill>
              <a:srgbClr val="EEF2F7"/>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A9B4C6"/>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BFCFE"/>
          </a:solidFill>
          <a:ln w="12700">
            <a:solidFill>
              <a:srgbClr val="D5DDE8"/>
            </a:solidFill>
            <a:prstDash val="solid"/>
          </a:ln>
        </p:spPr>
      </p:sp>
      <p:sp>
        <p:nvSpPr>
          <p:cNvPr id="102" name="Shape 100"/>
          <p:cNvSpPr/>
          <p:nvPr/>
        </p:nvSpPr>
        <p:spPr>
          <a:xfrm>
            <a:off x="7217163" y="4858589"/>
            <a:ext cx="300467" cy="300467"/>
          </a:xfrm>
          <a:prstGeom prst="ellipse">
            <a:avLst/>
          </a:prstGeom>
          <a:solidFill>
            <a:srgbClr val="EEF2F7"/>
          </a:solidFill>
          <a:ln w="12700">
            <a:solidFill>
              <a:srgbClr val="EEF2F7"/>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A9B4C6"/>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107" name="Text 10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adaptadores de salida implementan esos puertos; Spring usa los marcados con @Primary.</a:t>
            </a:r>
            <a:endParaRPr lang="en-US" sz="1300" dirty="0"/>
          </a:p>
        </p:txBody>
      </p:sp>
      <p:sp>
        <p:nvSpPr>
          <p:cNvPr id="108" name="Shape 10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110" name="Text 10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la solicitud y su evento pendiente se guardan en PostgreSQL.</a:t>
            </a:r>
            <a:endParaRPr lang="en-US" sz="1300" dirty="0"/>
          </a:p>
        </p:txBody>
      </p:sp>
      <p:sp>
        <p:nvSpPr>
          <p:cNvPr id="111" name="Text 10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F7F9FC"/>
          </a:solidFill>
          <a:ln w="12700">
            <a:solidFill>
              <a:srgbClr val="C7D2E2"/>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750" b="1" spc="80" kern="0" dirty="0">
                <a:solidFill>
                  <a:srgbClr val="55627E"/>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AF0FA"/>
          </a:solidFill>
          <a:ln w="12700">
            <a:solidFill>
              <a:srgbClr val="AFC4E6"/>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750" b="1" spc="80" kern="0" dirty="0">
                <a:solidFill>
                  <a:srgbClr val="1F4E8C"/>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EF2F7"/>
          </a:solidFill>
          <a:ln w="12700">
            <a:solidFill>
              <a:srgbClr val="C2CEDD"/>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31750">
            <a:solidFill>
              <a:srgbClr val="55627E"/>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31750">
            <a:solidFill>
              <a:srgbClr val="55627E"/>
            </a:solidFill>
            <a:prstDash val="sysDot"/>
            <a:tailEnd type="triangle"/>
          </a:ln>
        </p:spPr>
      </p:sp>
      <p:sp>
        <p:nvSpPr>
          <p:cNvPr id="15" name="Text 13"/>
          <p:cNvSpPr/>
          <p:nvPr/>
        </p:nvSpPr>
        <p:spPr>
          <a:xfrm>
            <a:off x="4476576" y="22468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22860">
            <a:solidFill>
              <a:srgbClr val="1F4E8C"/>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22860">
            <a:solidFill>
              <a:srgbClr val="1F4E8C"/>
            </a:solidFill>
            <a:prstDash val="lgDash"/>
          </a:ln>
        </p:spPr>
      </p:sp>
      <p:sp>
        <p:nvSpPr>
          <p:cNvPr id="20" name="Shape 18"/>
          <p:cNvSpPr/>
          <p:nvPr/>
        </p:nvSpPr>
        <p:spPr>
          <a:xfrm>
            <a:off x="6914105" y="2074382"/>
            <a:ext cx="0" cy="825311"/>
          </a:xfrm>
          <a:prstGeom prst="line">
            <a:avLst/>
          </a:prstGeom>
          <a:noFill/>
          <a:ln w="22860">
            <a:solidFill>
              <a:srgbClr val="1F4E8C"/>
            </a:solidFill>
            <a:prstDash val="lgDash"/>
          </a:ln>
        </p:spPr>
      </p:sp>
      <p:sp>
        <p:nvSpPr>
          <p:cNvPr id="21" name="Shape 19"/>
          <p:cNvSpPr/>
          <p:nvPr/>
        </p:nvSpPr>
        <p:spPr>
          <a:xfrm flipH="1">
            <a:off x="6631947" y="2899693"/>
            <a:ext cx="282158" cy="0"/>
          </a:xfrm>
          <a:prstGeom prst="line">
            <a:avLst/>
          </a:prstGeom>
          <a:noFill/>
          <a:ln w="22860">
            <a:solidFill>
              <a:srgbClr val="1F4E8C"/>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22860">
            <a:solidFill>
              <a:srgbClr val="1F4E8C"/>
            </a:solidFill>
            <a:prstDash val="lgDash"/>
          </a:ln>
        </p:spPr>
      </p:sp>
      <p:sp>
        <p:nvSpPr>
          <p:cNvPr id="25" name="Shape 23"/>
          <p:cNvSpPr/>
          <p:nvPr/>
        </p:nvSpPr>
        <p:spPr>
          <a:xfrm>
            <a:off x="6914105" y="2589320"/>
            <a:ext cx="0" cy="310373"/>
          </a:xfrm>
          <a:prstGeom prst="line">
            <a:avLst/>
          </a:prstGeom>
          <a:noFill/>
          <a:ln w="22860">
            <a:solidFill>
              <a:srgbClr val="1F4E8C"/>
            </a:solidFill>
            <a:prstDash val="lgDash"/>
          </a:ln>
        </p:spPr>
      </p:sp>
      <p:sp>
        <p:nvSpPr>
          <p:cNvPr id="26" name="Shape 24"/>
          <p:cNvSpPr/>
          <p:nvPr/>
        </p:nvSpPr>
        <p:spPr>
          <a:xfrm flipH="1">
            <a:off x="6631947" y="2899693"/>
            <a:ext cx="282158" cy="0"/>
          </a:xfrm>
          <a:prstGeom prst="line">
            <a:avLst/>
          </a:prstGeom>
          <a:noFill/>
          <a:ln w="22860">
            <a:solidFill>
              <a:srgbClr val="1F4E8C"/>
            </a:solidFill>
            <a:prstDash val="lgDash"/>
            <a:tailEnd type="arrow"/>
          </a:ln>
        </p:spPr>
      </p:sp>
      <p:sp>
        <p:nvSpPr>
          <p:cNvPr id="27" name="Text 25"/>
          <p:cNvSpPr/>
          <p:nvPr/>
        </p:nvSpPr>
        <p:spPr>
          <a:xfrm>
            <a:off x="6910186" y="247959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22860">
            <a:solidFill>
              <a:srgbClr val="1F4E8C"/>
            </a:solidFill>
            <a:prstDash val="lgDash"/>
          </a:ln>
        </p:spPr>
      </p:sp>
      <p:sp>
        <p:nvSpPr>
          <p:cNvPr id="29" name="Shape 27"/>
          <p:cNvSpPr/>
          <p:nvPr/>
        </p:nvSpPr>
        <p:spPr>
          <a:xfrm flipV="1">
            <a:off x="6914105" y="2899693"/>
            <a:ext cx="0" cy="931120"/>
          </a:xfrm>
          <a:prstGeom prst="line">
            <a:avLst/>
          </a:prstGeom>
          <a:noFill/>
          <a:ln w="22860">
            <a:solidFill>
              <a:srgbClr val="1F4E8C"/>
            </a:solidFill>
            <a:prstDash val="lgDash"/>
          </a:ln>
        </p:spPr>
      </p:sp>
      <p:sp>
        <p:nvSpPr>
          <p:cNvPr id="30" name="Shape 28"/>
          <p:cNvSpPr/>
          <p:nvPr/>
        </p:nvSpPr>
        <p:spPr>
          <a:xfrm flipH="1">
            <a:off x="6631947" y="2899693"/>
            <a:ext cx="282158" cy="0"/>
          </a:xfrm>
          <a:prstGeom prst="line">
            <a:avLst/>
          </a:prstGeom>
          <a:noFill/>
          <a:ln w="22860">
            <a:solidFill>
              <a:srgbClr val="1F4E8C"/>
            </a:solidFill>
            <a:prstDash val="lgDash"/>
            <a:tailEnd type="arrow"/>
          </a:ln>
        </p:spPr>
      </p:sp>
      <p:sp>
        <p:nvSpPr>
          <p:cNvPr id="31" name="Text 29"/>
          <p:cNvSpPr/>
          <p:nvPr/>
        </p:nvSpPr>
        <p:spPr>
          <a:xfrm>
            <a:off x="6910186" y="372108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31750">
            <a:solidFill>
              <a:srgbClr val="55627E"/>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31750">
            <a:solidFill>
              <a:srgbClr val="55627E"/>
            </a:solidFill>
            <a:prstDash val="sysDot"/>
          </a:ln>
        </p:spPr>
      </p:sp>
      <p:sp>
        <p:nvSpPr>
          <p:cNvPr id="36" name="Shape 34"/>
          <p:cNvSpPr/>
          <p:nvPr/>
        </p:nvSpPr>
        <p:spPr>
          <a:xfrm flipV="1">
            <a:off x="9792114" y="1749900"/>
            <a:ext cx="0" cy="218672"/>
          </a:xfrm>
          <a:prstGeom prst="line">
            <a:avLst/>
          </a:prstGeom>
          <a:noFill/>
          <a:ln w="31750">
            <a:solidFill>
              <a:srgbClr val="55627E"/>
            </a:solidFill>
            <a:prstDash val="sysDot"/>
            <a:tailEnd type="triangle"/>
          </a:ln>
        </p:spPr>
      </p:sp>
      <p:sp>
        <p:nvSpPr>
          <p:cNvPr id="37" name="Text 35"/>
          <p:cNvSpPr/>
          <p:nvPr/>
        </p:nvSpPr>
        <p:spPr>
          <a:xfrm>
            <a:off x="885002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31750">
            <a:solidFill>
              <a:srgbClr val="55627E"/>
            </a:solidFill>
            <a:prstDash val="sysDot"/>
          </a:ln>
        </p:spPr>
      </p:sp>
      <p:sp>
        <p:nvSpPr>
          <p:cNvPr id="39" name="Shape 37"/>
          <p:cNvSpPr/>
          <p:nvPr/>
        </p:nvSpPr>
        <p:spPr>
          <a:xfrm>
            <a:off x="9792114" y="2589320"/>
            <a:ext cx="0" cy="218672"/>
          </a:xfrm>
          <a:prstGeom prst="line">
            <a:avLst/>
          </a:prstGeom>
          <a:noFill/>
          <a:ln w="31750">
            <a:solidFill>
              <a:srgbClr val="55627E"/>
            </a:solidFill>
            <a:prstDash val="sysDot"/>
            <a:tailEnd type="triangle"/>
          </a:ln>
        </p:spPr>
      </p:sp>
      <p:sp>
        <p:nvSpPr>
          <p:cNvPr id="40" name="Text 38"/>
          <p:cNvSpPr/>
          <p:nvPr/>
        </p:nvSpPr>
        <p:spPr>
          <a:xfrm>
            <a:off x="8850020" y="24795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47625">
            <a:solidFill>
              <a:srgbClr val="2BA6CB"/>
            </a:solidFill>
            <a:prstDash val="sysDot"/>
          </a:ln>
        </p:spPr>
      </p:sp>
      <p:sp>
        <p:nvSpPr>
          <p:cNvPr id="42" name="Shape 40"/>
          <p:cNvSpPr/>
          <p:nvPr/>
        </p:nvSpPr>
        <p:spPr>
          <a:xfrm flipV="1">
            <a:off x="9792114" y="2807992"/>
            <a:ext cx="0" cy="402075"/>
          </a:xfrm>
          <a:prstGeom prst="line">
            <a:avLst/>
          </a:prstGeom>
          <a:noFill/>
          <a:ln w="47625">
            <a:solidFill>
              <a:srgbClr val="2BA6CB"/>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47625">
            <a:solidFill>
              <a:srgbClr val="2BA6CB"/>
            </a:solidFill>
            <a:prstDash val="sysDot"/>
            <a:tailEnd type="triangle"/>
          </a:ln>
        </p:spPr>
      </p:sp>
      <p:sp>
        <p:nvSpPr>
          <p:cNvPr id="46" name="Text 44"/>
          <p:cNvSpPr/>
          <p:nvPr/>
        </p:nvSpPr>
        <p:spPr>
          <a:xfrm>
            <a:off x="7848361" y="341071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41275">
            <a:solidFill>
              <a:srgbClr val="2BA6CB"/>
            </a:solidFill>
            <a:prstDash val="dash"/>
            <a:tailEnd type="triangle"/>
          </a:ln>
        </p:spPr>
      </p:sp>
      <p:sp>
        <p:nvSpPr>
          <p:cNvPr id="48" name="Text 46"/>
          <p:cNvSpPr/>
          <p:nvPr/>
        </p:nvSpPr>
        <p:spPr>
          <a:xfrm>
            <a:off x="8793589" y="37210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31750">
            <a:solidFill>
              <a:srgbClr val="AB243E"/>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47625">
            <a:solidFill>
              <a:srgbClr val="2BA6CB"/>
            </a:solidFill>
            <a:prstDash val="sysDash"/>
          </a:ln>
        </p:spPr>
      </p:sp>
      <p:sp>
        <p:nvSpPr>
          <p:cNvPr id="53" name="Shape 51"/>
          <p:cNvSpPr/>
          <p:nvPr/>
        </p:nvSpPr>
        <p:spPr>
          <a:xfrm flipV="1">
            <a:off x="3704561" y="3210067"/>
            <a:ext cx="0" cy="620747"/>
          </a:xfrm>
          <a:prstGeom prst="line">
            <a:avLst/>
          </a:prstGeom>
          <a:noFill/>
          <a:ln w="47625">
            <a:solidFill>
              <a:srgbClr val="2BA6CB"/>
            </a:solidFill>
            <a:prstDash val="sysDash"/>
          </a:ln>
        </p:spPr>
      </p:sp>
      <p:sp>
        <p:nvSpPr>
          <p:cNvPr id="54" name="Shape 52"/>
          <p:cNvSpPr/>
          <p:nvPr/>
        </p:nvSpPr>
        <p:spPr>
          <a:xfrm flipH="1">
            <a:off x="3457673" y="3210067"/>
            <a:ext cx="246888" cy="0"/>
          </a:xfrm>
          <a:prstGeom prst="line">
            <a:avLst/>
          </a:prstGeom>
          <a:noFill/>
          <a:ln w="47625">
            <a:solidFill>
              <a:srgbClr val="2BA6CB"/>
            </a:solidFill>
            <a:prstDash val="sysDash"/>
            <a:tailEnd type="triangle"/>
          </a:ln>
        </p:spPr>
      </p:sp>
      <p:sp>
        <p:nvSpPr>
          <p:cNvPr id="55" name="Text 53"/>
          <p:cNvSpPr/>
          <p:nvPr/>
        </p:nvSpPr>
        <p:spPr>
          <a:xfrm>
            <a:off x="3718277" y="37210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22860">
            <a:solidFill>
              <a:srgbClr val="CBD5E3"/>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1715088" y="1799999"/>
            <a:ext cx="337147" cy="337147"/>
          </a:xfrm>
          <a:prstGeom prst="ellipse">
            <a:avLst/>
          </a:prstGeom>
          <a:solidFill>
            <a:srgbClr val="EBECF0"/>
          </a:solidFill>
          <a:ln w="12700">
            <a:solidFill>
              <a:srgbClr val="EBECF0"/>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55627E"/>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6" name="Shape 64"/>
          <p:cNvSpPr/>
          <p:nvPr/>
        </p:nvSpPr>
        <p:spPr>
          <a:xfrm>
            <a:off x="1715088" y="3662240"/>
            <a:ext cx="337147" cy="337147"/>
          </a:xfrm>
          <a:prstGeom prst="ellipse">
            <a:avLst/>
          </a:prstGeom>
          <a:solidFill>
            <a:srgbClr val="E3F4FA"/>
          </a:solidFill>
          <a:ln w="12700">
            <a:solidFill>
              <a:srgbClr val="E3F4FA"/>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0B6E8A"/>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4042889" y="1799999"/>
            <a:ext cx="337147" cy="337147"/>
          </a:xfrm>
          <a:prstGeom prst="ellipse">
            <a:avLst/>
          </a:prstGeom>
          <a:solidFill>
            <a:srgbClr val="E4EAF1"/>
          </a:solidFill>
          <a:ln w="12700">
            <a:solidFill>
              <a:srgbClr val="E4EAF1"/>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1F4E8C"/>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4042889" y="2731119"/>
            <a:ext cx="337147" cy="337147"/>
          </a:xfrm>
          <a:prstGeom prst="ellipse">
            <a:avLst/>
          </a:prstGeom>
          <a:solidFill>
            <a:srgbClr val="E4EAF1"/>
          </a:solidFill>
          <a:ln w="12700">
            <a:solidFill>
              <a:srgbClr val="E4EAF1"/>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1F4E8C"/>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12700">
            <a:solidFill>
              <a:srgbClr val="9AAFCB"/>
            </a:solidFill>
            <a:prstDash val="dash"/>
          </a:ln>
          <a:effectLst>
            <a:outerShdw sx="100000" sy="100000" kx="0" ky="0" algn="bl" rotWithShape="0" blurRad="76200" dist="19050" dir="5400000">
              <a:srgbClr val="0B1F3A">
                <a:alpha val="14000"/>
              </a:srgbClr>
            </a:outerShdw>
          </a:effectLst>
        </p:spPr>
      </p:sp>
      <p:sp>
        <p:nvSpPr>
          <p:cNvPr id="78" name="Shape 76"/>
          <p:cNvSpPr/>
          <p:nvPr/>
        </p:nvSpPr>
        <p:spPr>
          <a:xfrm>
            <a:off x="5453678" y="2731119"/>
            <a:ext cx="337147" cy="337147"/>
          </a:xfrm>
          <a:prstGeom prst="ellipse">
            <a:avLst/>
          </a:prstGeom>
          <a:solidFill>
            <a:srgbClr val="E4EAF1"/>
          </a:solidFill>
          <a:ln w="12700">
            <a:solidFill>
              <a:srgbClr val="E4EAF1"/>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1F4E8C"/>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0B1A3C"/>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55627E"/>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2" name="Shape 80"/>
          <p:cNvSpPr/>
          <p:nvPr/>
        </p:nvSpPr>
        <p:spPr>
          <a:xfrm>
            <a:off x="4042889" y="3662240"/>
            <a:ext cx="337147" cy="337147"/>
          </a:xfrm>
          <a:prstGeom prst="ellipse">
            <a:avLst/>
          </a:prstGeom>
          <a:solidFill>
            <a:srgbClr val="E4EAF1"/>
          </a:solidFill>
          <a:ln w="12700">
            <a:solidFill>
              <a:srgbClr val="E4EAF1"/>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1F4E8C"/>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86" name="Shape 84"/>
          <p:cNvSpPr/>
          <p:nvPr/>
        </p:nvSpPr>
        <p:spPr>
          <a:xfrm>
            <a:off x="7217163" y="1799999"/>
            <a:ext cx="337147" cy="337147"/>
          </a:xfrm>
          <a:prstGeom prst="ellipse">
            <a:avLst/>
          </a:prstGeom>
          <a:solidFill>
            <a:srgbClr val="E8EBEE"/>
          </a:solidFill>
          <a:ln w="12700">
            <a:solidFill>
              <a:srgbClr val="E8EBEE"/>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3D5675"/>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91" name="Shape 89"/>
          <p:cNvSpPr/>
          <p:nvPr/>
        </p:nvSpPr>
        <p:spPr>
          <a:xfrm>
            <a:off x="7217163" y="3041493"/>
            <a:ext cx="337147" cy="337147"/>
          </a:xfrm>
          <a:prstGeom prst="ellipse">
            <a:avLst/>
          </a:prstGeom>
          <a:solidFill>
            <a:srgbClr val="E3F4FA"/>
          </a:solidFill>
          <a:ln w="12700">
            <a:solidFill>
              <a:srgbClr val="E3F4FA"/>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0B6E8A"/>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BFCFE"/>
          </a:solidFill>
          <a:ln w="12700">
            <a:solidFill>
              <a:srgbClr val="D5DDE8"/>
            </a:solidFill>
            <a:prstDash val="solid"/>
          </a:ln>
        </p:spPr>
      </p:sp>
      <p:sp>
        <p:nvSpPr>
          <p:cNvPr id="98" name="Shape 96"/>
          <p:cNvSpPr/>
          <p:nvPr/>
        </p:nvSpPr>
        <p:spPr>
          <a:xfrm>
            <a:off x="4042889" y="4858589"/>
            <a:ext cx="300467" cy="300467"/>
          </a:xfrm>
          <a:prstGeom prst="ellipse">
            <a:avLst/>
          </a:prstGeom>
          <a:solidFill>
            <a:srgbClr val="EEF2F7"/>
          </a:solidFill>
          <a:ln w="12700">
            <a:solidFill>
              <a:srgbClr val="EEF2F7"/>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A9B4C6"/>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BFCFE"/>
          </a:solidFill>
          <a:ln w="12700">
            <a:solidFill>
              <a:srgbClr val="D5DDE8"/>
            </a:solidFill>
            <a:prstDash val="solid"/>
          </a:ln>
        </p:spPr>
      </p:sp>
      <p:sp>
        <p:nvSpPr>
          <p:cNvPr id="102" name="Shape 100"/>
          <p:cNvSpPr/>
          <p:nvPr/>
        </p:nvSpPr>
        <p:spPr>
          <a:xfrm>
            <a:off x="7217163" y="4858589"/>
            <a:ext cx="300467" cy="300467"/>
          </a:xfrm>
          <a:prstGeom prst="ellipse">
            <a:avLst/>
          </a:prstGeom>
          <a:solidFill>
            <a:srgbClr val="EEF2F7"/>
          </a:solidFill>
          <a:ln w="12700">
            <a:solidFill>
              <a:srgbClr val="EEF2F7"/>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A9B4C6"/>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107" name="Text 10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lee los pendientes y el publicador los entrega con reintentos.</a:t>
            </a:r>
            <a:endParaRPr lang="en-US" sz="1300" dirty="0"/>
          </a:p>
        </p:txBody>
      </p:sp>
      <p:sp>
        <p:nvSpPr>
          <p:cNvPr id="108" name="Shape 10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9" name="Text 10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110" name="Text 10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manejador global convierte las excepciones en 404, 409 o 400; Swagger y Actuator publican el contrato y la salud.</a:t>
            </a:r>
            <a:endParaRPr lang="en-US" sz="1300" dirty="0"/>
          </a:p>
        </p:txBody>
      </p:sp>
      <p:sp>
        <p:nvSpPr>
          <p:cNvPr id="111" name="Text 10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482569" y="1411311"/>
            <a:ext cx="2116183" cy="3315353"/>
          </a:xfrm>
          <a:prstGeom prst="roundRect">
            <a:avLst>
              <a:gd name="adj" fmla="val 5185"/>
            </a:avLst>
          </a:prstGeom>
          <a:solidFill>
            <a:srgbClr val="F7F9FC"/>
          </a:solidFill>
          <a:ln w="12700">
            <a:solidFill>
              <a:srgbClr val="C7D2E2"/>
            </a:solidFill>
            <a:prstDash val="solid"/>
          </a:ln>
        </p:spPr>
      </p:sp>
      <p:sp>
        <p:nvSpPr>
          <p:cNvPr id="6" name="Text 4"/>
          <p:cNvSpPr/>
          <p:nvPr/>
        </p:nvSpPr>
        <p:spPr>
          <a:xfrm>
            <a:off x="1555721" y="1466175"/>
            <a:ext cx="187325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750" b="1" spc="80" kern="0" dirty="0">
                <a:solidFill>
                  <a:srgbClr val="55627E"/>
                </a:solidFill>
                <a:latin typeface="Segoe UI" pitchFamily="34" charset="0"/>
                <a:ea typeface="Segoe UI" pitchFamily="34" charset="-122"/>
                <a:cs typeface="Segoe UI" pitchFamily="34" charset="-120"/>
              </a:rPr>
              <a:t>ENTRADA · TRADUCE HTTP</a:t>
            </a:r>
            <a:endParaRPr lang="en-US" sz="750" dirty="0"/>
          </a:p>
        </p:txBody>
      </p:sp>
      <p:sp>
        <p:nvSpPr>
          <p:cNvPr id="7" name="Shape 5"/>
          <p:cNvSpPr/>
          <p:nvPr/>
        </p:nvSpPr>
        <p:spPr>
          <a:xfrm>
            <a:off x="3810370" y="1411311"/>
            <a:ext cx="2962656" cy="3315353"/>
          </a:xfrm>
          <a:prstGeom prst="roundRect">
            <a:avLst>
              <a:gd name="adj" fmla="val 3704"/>
            </a:avLst>
          </a:prstGeom>
          <a:solidFill>
            <a:srgbClr val="EAF0FA"/>
          </a:solidFill>
          <a:ln w="12700">
            <a:solidFill>
              <a:srgbClr val="AFC4E6"/>
            </a:solidFill>
            <a:prstDash val="solid"/>
          </a:ln>
        </p:spPr>
      </p:sp>
      <p:sp>
        <p:nvSpPr>
          <p:cNvPr id="8" name="Text 6"/>
          <p:cNvSpPr/>
          <p:nvPr/>
        </p:nvSpPr>
        <p:spPr>
          <a:xfrm>
            <a:off x="3883522" y="1466175"/>
            <a:ext cx="2641600" cy="219456"/>
          </a:xfrm>
          <a:prstGeom prst="roundRect">
            <a:avLst>
              <a:gd name="adj" fmla="val 50000"/>
            </a:avLst>
          </a:prstGeom>
          <a:solidFill>
            <a:srgbClr val="FFFFFF"/>
          </a:solidFill>
          <a:ln w="9525">
            <a:solidFill>
              <a:srgbClr val="AFC4E6"/>
            </a:solidFill>
          </a:ln>
        </p:spPr>
        <p:txBody>
          <a:bodyPr wrap="square" lIns="0" tIns="0" rIns="0" bIns="0" rtlCol="0" anchor="ctr"/>
          <a:lstStyle/>
          <a:p>
            <a:pPr algn="ctr" indent="0" marL="0">
              <a:buNone/>
            </a:pPr>
            <a:r>
              <a:rPr lang="en-US" sz="750" b="1" spc="80" kern="0" dirty="0">
                <a:solidFill>
                  <a:srgbClr val="1F4E8C"/>
                </a:solidFill>
                <a:latin typeface="Segoe UI" pitchFamily="34" charset="0"/>
                <a:ea typeface="Segoe UI" pitchFamily="34" charset="-122"/>
                <a:cs typeface="Segoe UI" pitchFamily="34" charset="-120"/>
              </a:rPr>
              <a:t>DOMINIO · LAS REGLAS, SIN SPRING</a:t>
            </a:r>
            <a:endParaRPr lang="en-US" sz="750" dirty="0"/>
          </a:p>
        </p:txBody>
      </p:sp>
      <p:sp>
        <p:nvSpPr>
          <p:cNvPr id="9" name="Shape 7"/>
          <p:cNvSpPr/>
          <p:nvPr/>
        </p:nvSpPr>
        <p:spPr>
          <a:xfrm>
            <a:off x="6984644" y="1411311"/>
            <a:ext cx="3724482" cy="3315353"/>
          </a:xfrm>
          <a:prstGeom prst="roundRect">
            <a:avLst>
              <a:gd name="adj" fmla="val 3310"/>
            </a:avLst>
          </a:prstGeom>
          <a:solidFill>
            <a:srgbClr val="EEF2F7"/>
          </a:solidFill>
          <a:ln w="12700">
            <a:solidFill>
              <a:srgbClr val="C2CEDD"/>
            </a:solidFill>
            <a:prstDash val="solid"/>
          </a:ln>
        </p:spPr>
      </p:sp>
      <p:sp>
        <p:nvSpPr>
          <p:cNvPr id="10" name="Text 8"/>
          <p:cNvSpPr/>
          <p:nvPr/>
        </p:nvSpPr>
        <p:spPr>
          <a:xfrm>
            <a:off x="7057796" y="1466175"/>
            <a:ext cx="262128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457673" y="1968573"/>
            <a:ext cx="493776" cy="0"/>
          </a:xfrm>
          <a:prstGeom prst="line">
            <a:avLst/>
          </a:prstGeom>
          <a:noFill/>
          <a:ln w="31750">
            <a:solidFill>
              <a:srgbClr val="55627E"/>
            </a:solidFill>
            <a:prstDash val="sysDot"/>
            <a:tailEnd type="triangle"/>
          </a:ln>
        </p:spPr>
      </p:sp>
      <p:sp>
        <p:nvSpPr>
          <p:cNvPr id="12" name="Text 10"/>
          <p:cNvSpPr/>
          <p:nvPr/>
        </p:nvSpPr>
        <p:spPr>
          <a:xfrm>
            <a:off x="3485105" y="174963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51724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4586304" y="2187245"/>
            <a:ext cx="0" cy="493776"/>
          </a:xfrm>
          <a:prstGeom prst="line">
            <a:avLst/>
          </a:prstGeom>
          <a:noFill/>
          <a:ln w="31750">
            <a:solidFill>
              <a:srgbClr val="55627E"/>
            </a:solidFill>
            <a:prstDash val="sysDot"/>
            <a:tailEnd type="triangle"/>
          </a:ln>
        </p:spPr>
      </p:sp>
      <p:sp>
        <p:nvSpPr>
          <p:cNvPr id="15" name="Text 13"/>
          <p:cNvSpPr/>
          <p:nvPr/>
        </p:nvSpPr>
        <p:spPr>
          <a:xfrm>
            <a:off x="4476576" y="22468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5997092" y="2187245"/>
            <a:ext cx="0" cy="493776"/>
          </a:xfrm>
          <a:prstGeom prst="line">
            <a:avLst/>
          </a:prstGeom>
          <a:noFill/>
          <a:ln w="22860">
            <a:solidFill>
              <a:srgbClr val="1F4E8C"/>
            </a:solidFill>
            <a:prstDash val="lgDash"/>
            <a:tailEnd type="arrow"/>
          </a:ln>
        </p:spPr>
      </p:sp>
      <p:sp>
        <p:nvSpPr>
          <p:cNvPr id="17" name="Text 15"/>
          <p:cNvSpPr/>
          <p:nvPr/>
        </p:nvSpPr>
        <p:spPr>
          <a:xfrm>
            <a:off x="5611999" y="2306901"/>
            <a:ext cx="314554"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5887364" y="224681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6914105" y="2074382"/>
            <a:ext cx="211618" cy="0"/>
          </a:xfrm>
          <a:prstGeom prst="line">
            <a:avLst/>
          </a:prstGeom>
          <a:noFill/>
          <a:ln w="22860">
            <a:solidFill>
              <a:srgbClr val="1F4E8C"/>
            </a:solidFill>
            <a:prstDash val="lgDash"/>
          </a:ln>
        </p:spPr>
      </p:sp>
      <p:sp>
        <p:nvSpPr>
          <p:cNvPr id="20" name="Shape 18"/>
          <p:cNvSpPr/>
          <p:nvPr/>
        </p:nvSpPr>
        <p:spPr>
          <a:xfrm>
            <a:off x="6914105" y="2074382"/>
            <a:ext cx="0" cy="825311"/>
          </a:xfrm>
          <a:prstGeom prst="line">
            <a:avLst/>
          </a:prstGeom>
          <a:noFill/>
          <a:ln w="22860">
            <a:solidFill>
              <a:srgbClr val="1F4E8C"/>
            </a:solidFill>
            <a:prstDash val="lgDash"/>
          </a:ln>
        </p:spPr>
      </p:sp>
      <p:sp>
        <p:nvSpPr>
          <p:cNvPr id="21" name="Shape 19"/>
          <p:cNvSpPr/>
          <p:nvPr/>
        </p:nvSpPr>
        <p:spPr>
          <a:xfrm flipH="1">
            <a:off x="6631947" y="2899693"/>
            <a:ext cx="282158" cy="0"/>
          </a:xfrm>
          <a:prstGeom prst="line">
            <a:avLst/>
          </a:prstGeom>
          <a:noFill/>
          <a:ln w="22860">
            <a:solidFill>
              <a:srgbClr val="1F4E8C"/>
            </a:solidFill>
            <a:prstDash val="lgDash"/>
            <a:tailEnd type="arrow"/>
          </a:ln>
        </p:spPr>
      </p:sp>
      <p:sp>
        <p:nvSpPr>
          <p:cNvPr id="22" name="Text 20"/>
          <p:cNvSpPr/>
          <p:nvPr/>
        </p:nvSpPr>
        <p:spPr>
          <a:xfrm>
            <a:off x="6031578" y="2359805"/>
            <a:ext cx="811987" cy="192024"/>
          </a:xfrm>
          <a:prstGeom prst="rect">
            <a:avLst/>
          </a:prstGeom>
          <a:noFill/>
          <a:ln/>
        </p:spPr>
        <p:txBody>
          <a:bodyPr wrap="square" lIns="0" tIns="0" rIns="0" bIns="0" rtlCol="0" anchor="ctr"/>
          <a:lstStyle/>
          <a:p>
            <a:pPr algn="r" indent="0" marL="0">
              <a:buNone/>
            </a:pPr>
            <a:r>
              <a:rPr lang="en-US" sz="800" b="1" dirty="0">
                <a:solidFill>
                  <a:srgbClr val="1F4E8C"/>
                </a:solidFill>
                <a:latin typeface="Segoe UI" pitchFamily="34" charset="0"/>
                <a:ea typeface="Segoe UI" pitchFamily="34" charset="-122"/>
                <a:cs typeface="Segoe UI" pitchFamily="34" charset="-120"/>
              </a:rPr>
              <a:t>implementan</a:t>
            </a:r>
            <a:endParaRPr lang="en-US" sz="800" dirty="0"/>
          </a:p>
        </p:txBody>
      </p:sp>
      <p:sp>
        <p:nvSpPr>
          <p:cNvPr id="23" name="Text 21"/>
          <p:cNvSpPr/>
          <p:nvPr/>
        </p:nvSpPr>
        <p:spPr>
          <a:xfrm>
            <a:off x="6910186" y="196465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flipH="1">
            <a:off x="6914105" y="2589320"/>
            <a:ext cx="211618" cy="0"/>
          </a:xfrm>
          <a:prstGeom prst="line">
            <a:avLst/>
          </a:prstGeom>
          <a:noFill/>
          <a:ln w="22860">
            <a:solidFill>
              <a:srgbClr val="1F4E8C"/>
            </a:solidFill>
            <a:prstDash val="lgDash"/>
          </a:ln>
        </p:spPr>
      </p:sp>
      <p:sp>
        <p:nvSpPr>
          <p:cNvPr id="25" name="Shape 23"/>
          <p:cNvSpPr/>
          <p:nvPr/>
        </p:nvSpPr>
        <p:spPr>
          <a:xfrm>
            <a:off x="6914105" y="2589320"/>
            <a:ext cx="0" cy="310373"/>
          </a:xfrm>
          <a:prstGeom prst="line">
            <a:avLst/>
          </a:prstGeom>
          <a:noFill/>
          <a:ln w="22860">
            <a:solidFill>
              <a:srgbClr val="1F4E8C"/>
            </a:solidFill>
            <a:prstDash val="lgDash"/>
          </a:ln>
        </p:spPr>
      </p:sp>
      <p:sp>
        <p:nvSpPr>
          <p:cNvPr id="26" name="Shape 24"/>
          <p:cNvSpPr/>
          <p:nvPr/>
        </p:nvSpPr>
        <p:spPr>
          <a:xfrm flipH="1">
            <a:off x="6631947" y="2899693"/>
            <a:ext cx="282158" cy="0"/>
          </a:xfrm>
          <a:prstGeom prst="line">
            <a:avLst/>
          </a:prstGeom>
          <a:noFill/>
          <a:ln w="22860">
            <a:solidFill>
              <a:srgbClr val="1F4E8C"/>
            </a:solidFill>
            <a:prstDash val="lgDash"/>
            <a:tailEnd type="arrow"/>
          </a:ln>
        </p:spPr>
      </p:sp>
      <p:sp>
        <p:nvSpPr>
          <p:cNvPr id="27" name="Text 25"/>
          <p:cNvSpPr/>
          <p:nvPr/>
        </p:nvSpPr>
        <p:spPr>
          <a:xfrm>
            <a:off x="6910186" y="247959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Shape 26"/>
          <p:cNvSpPr/>
          <p:nvPr/>
        </p:nvSpPr>
        <p:spPr>
          <a:xfrm flipH="1">
            <a:off x="6914105" y="3830813"/>
            <a:ext cx="211618" cy="0"/>
          </a:xfrm>
          <a:prstGeom prst="line">
            <a:avLst/>
          </a:prstGeom>
          <a:noFill/>
          <a:ln w="22860">
            <a:solidFill>
              <a:srgbClr val="1F4E8C"/>
            </a:solidFill>
            <a:prstDash val="lgDash"/>
          </a:ln>
        </p:spPr>
      </p:sp>
      <p:sp>
        <p:nvSpPr>
          <p:cNvPr id="29" name="Shape 27"/>
          <p:cNvSpPr/>
          <p:nvPr/>
        </p:nvSpPr>
        <p:spPr>
          <a:xfrm flipV="1">
            <a:off x="6914105" y="2899693"/>
            <a:ext cx="0" cy="931120"/>
          </a:xfrm>
          <a:prstGeom prst="line">
            <a:avLst/>
          </a:prstGeom>
          <a:noFill/>
          <a:ln w="22860">
            <a:solidFill>
              <a:srgbClr val="1F4E8C"/>
            </a:solidFill>
            <a:prstDash val="lgDash"/>
          </a:ln>
        </p:spPr>
      </p:sp>
      <p:sp>
        <p:nvSpPr>
          <p:cNvPr id="30" name="Shape 28"/>
          <p:cNvSpPr/>
          <p:nvPr/>
        </p:nvSpPr>
        <p:spPr>
          <a:xfrm flipH="1">
            <a:off x="6631947" y="2899693"/>
            <a:ext cx="282158" cy="0"/>
          </a:xfrm>
          <a:prstGeom prst="line">
            <a:avLst/>
          </a:prstGeom>
          <a:noFill/>
          <a:ln w="22860">
            <a:solidFill>
              <a:srgbClr val="1F4E8C"/>
            </a:solidFill>
            <a:prstDash val="lgDash"/>
            <a:tailEnd type="arrow"/>
          </a:ln>
        </p:spPr>
      </p:sp>
      <p:sp>
        <p:nvSpPr>
          <p:cNvPr id="31" name="Text 29"/>
          <p:cNvSpPr/>
          <p:nvPr/>
        </p:nvSpPr>
        <p:spPr>
          <a:xfrm>
            <a:off x="6910186" y="372108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2" name="Shape 30"/>
          <p:cNvSpPr/>
          <p:nvPr/>
        </p:nvSpPr>
        <p:spPr>
          <a:xfrm>
            <a:off x="6631947" y="1862763"/>
            <a:ext cx="493776" cy="0"/>
          </a:xfrm>
          <a:prstGeom prst="line">
            <a:avLst/>
          </a:prstGeom>
          <a:noFill/>
          <a:ln w="31750">
            <a:solidFill>
              <a:srgbClr val="55627E"/>
            </a:solidFill>
            <a:prstDash val="sysDot"/>
            <a:tailEnd type="triangle"/>
          </a:ln>
        </p:spPr>
      </p:sp>
      <p:sp>
        <p:nvSpPr>
          <p:cNvPr id="33" name="Text 31"/>
          <p:cNvSpPr/>
          <p:nvPr/>
        </p:nvSpPr>
        <p:spPr>
          <a:xfrm>
            <a:off x="6597200" y="164383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34" name="Text 32"/>
          <p:cNvSpPr/>
          <p:nvPr/>
        </p:nvSpPr>
        <p:spPr>
          <a:xfrm>
            <a:off x="6691514" y="175303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5" name="Shape 33"/>
          <p:cNvSpPr/>
          <p:nvPr/>
        </p:nvSpPr>
        <p:spPr>
          <a:xfrm>
            <a:off x="8790454" y="1968573"/>
            <a:ext cx="1001660" cy="0"/>
          </a:xfrm>
          <a:prstGeom prst="line">
            <a:avLst/>
          </a:prstGeom>
          <a:noFill/>
          <a:ln w="31750">
            <a:solidFill>
              <a:srgbClr val="55627E"/>
            </a:solidFill>
            <a:prstDash val="sysDot"/>
          </a:ln>
        </p:spPr>
      </p:sp>
      <p:sp>
        <p:nvSpPr>
          <p:cNvPr id="36" name="Shape 34"/>
          <p:cNvSpPr/>
          <p:nvPr/>
        </p:nvSpPr>
        <p:spPr>
          <a:xfrm flipV="1">
            <a:off x="9792114" y="1749900"/>
            <a:ext cx="0" cy="218672"/>
          </a:xfrm>
          <a:prstGeom prst="line">
            <a:avLst/>
          </a:prstGeom>
          <a:noFill/>
          <a:ln w="31750">
            <a:solidFill>
              <a:srgbClr val="55627E"/>
            </a:solidFill>
            <a:prstDash val="sysDot"/>
            <a:tailEnd type="triangle"/>
          </a:ln>
        </p:spPr>
      </p:sp>
      <p:sp>
        <p:nvSpPr>
          <p:cNvPr id="37" name="Text 35"/>
          <p:cNvSpPr/>
          <p:nvPr/>
        </p:nvSpPr>
        <p:spPr>
          <a:xfrm>
            <a:off x="8850020" y="1858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8" name="Shape 36"/>
          <p:cNvSpPr/>
          <p:nvPr/>
        </p:nvSpPr>
        <p:spPr>
          <a:xfrm>
            <a:off x="8790454" y="2589320"/>
            <a:ext cx="1001660" cy="0"/>
          </a:xfrm>
          <a:prstGeom prst="line">
            <a:avLst/>
          </a:prstGeom>
          <a:noFill/>
          <a:ln w="31750">
            <a:solidFill>
              <a:srgbClr val="55627E"/>
            </a:solidFill>
            <a:prstDash val="sysDot"/>
          </a:ln>
        </p:spPr>
      </p:sp>
      <p:sp>
        <p:nvSpPr>
          <p:cNvPr id="39" name="Shape 37"/>
          <p:cNvSpPr/>
          <p:nvPr/>
        </p:nvSpPr>
        <p:spPr>
          <a:xfrm>
            <a:off x="9792114" y="2589320"/>
            <a:ext cx="0" cy="218672"/>
          </a:xfrm>
          <a:prstGeom prst="line">
            <a:avLst/>
          </a:prstGeom>
          <a:noFill/>
          <a:ln w="31750">
            <a:solidFill>
              <a:srgbClr val="55627E"/>
            </a:solidFill>
            <a:prstDash val="sysDot"/>
            <a:tailEnd type="triangle"/>
          </a:ln>
        </p:spPr>
      </p:sp>
      <p:sp>
        <p:nvSpPr>
          <p:cNvPr id="40" name="Text 38"/>
          <p:cNvSpPr/>
          <p:nvPr/>
        </p:nvSpPr>
        <p:spPr>
          <a:xfrm>
            <a:off x="8850020" y="24795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41" name="Shape 39"/>
          <p:cNvSpPr/>
          <p:nvPr/>
        </p:nvSpPr>
        <p:spPr>
          <a:xfrm>
            <a:off x="8790454" y="3210067"/>
            <a:ext cx="1001660" cy="0"/>
          </a:xfrm>
          <a:prstGeom prst="line">
            <a:avLst/>
          </a:prstGeom>
          <a:noFill/>
          <a:ln w="31750">
            <a:solidFill>
              <a:srgbClr val="55627E"/>
            </a:solidFill>
            <a:prstDash val="sysDot"/>
          </a:ln>
        </p:spPr>
      </p:sp>
      <p:sp>
        <p:nvSpPr>
          <p:cNvPr id="42" name="Shape 40"/>
          <p:cNvSpPr/>
          <p:nvPr/>
        </p:nvSpPr>
        <p:spPr>
          <a:xfrm flipV="1">
            <a:off x="9792114" y="2807992"/>
            <a:ext cx="0" cy="402075"/>
          </a:xfrm>
          <a:prstGeom prst="line">
            <a:avLst/>
          </a:prstGeom>
          <a:noFill/>
          <a:ln w="31750">
            <a:solidFill>
              <a:srgbClr val="55627E"/>
            </a:solidFill>
            <a:prstDash val="sysDot"/>
            <a:tailEnd type="triangle"/>
          </a:ln>
        </p:spPr>
      </p:sp>
      <p:sp>
        <p:nvSpPr>
          <p:cNvPr id="43" name="Text 41"/>
          <p:cNvSpPr/>
          <p:nvPr/>
        </p:nvSpPr>
        <p:spPr>
          <a:xfrm>
            <a:off x="8792021" y="2991133"/>
            <a:ext cx="998525"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44" name="Text 42"/>
          <p:cNvSpPr/>
          <p:nvPr/>
        </p:nvSpPr>
        <p:spPr>
          <a:xfrm>
            <a:off x="8850020" y="31003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5" name="Shape 43"/>
          <p:cNvSpPr/>
          <p:nvPr/>
        </p:nvSpPr>
        <p:spPr>
          <a:xfrm>
            <a:off x="7958089" y="3428739"/>
            <a:ext cx="0" cy="183403"/>
          </a:xfrm>
          <a:prstGeom prst="line">
            <a:avLst/>
          </a:prstGeom>
          <a:noFill/>
          <a:ln w="31750">
            <a:solidFill>
              <a:srgbClr val="55627E"/>
            </a:solidFill>
            <a:prstDash val="sysDot"/>
            <a:tailEnd type="triangle"/>
          </a:ln>
        </p:spPr>
      </p:sp>
      <p:sp>
        <p:nvSpPr>
          <p:cNvPr id="46" name="Text 44"/>
          <p:cNvSpPr/>
          <p:nvPr/>
        </p:nvSpPr>
        <p:spPr>
          <a:xfrm>
            <a:off x="7848361" y="341071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7" name="Shape 45"/>
          <p:cNvSpPr/>
          <p:nvPr/>
        </p:nvSpPr>
        <p:spPr>
          <a:xfrm>
            <a:off x="8790454" y="3830813"/>
            <a:ext cx="225726" cy="0"/>
          </a:xfrm>
          <a:prstGeom prst="line">
            <a:avLst/>
          </a:prstGeom>
          <a:noFill/>
          <a:ln w="25400">
            <a:solidFill>
              <a:srgbClr val="55627E"/>
            </a:solidFill>
            <a:prstDash val="dash"/>
            <a:tailEnd type="triangle"/>
          </a:ln>
        </p:spPr>
      </p:sp>
      <p:sp>
        <p:nvSpPr>
          <p:cNvPr id="48" name="Text 46"/>
          <p:cNvSpPr/>
          <p:nvPr/>
        </p:nvSpPr>
        <p:spPr>
          <a:xfrm>
            <a:off x="8793589" y="37210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49" name="Shape 47"/>
          <p:cNvSpPr/>
          <p:nvPr/>
        </p:nvSpPr>
        <p:spPr>
          <a:xfrm>
            <a:off x="4586304" y="3118365"/>
            <a:ext cx="0" cy="493776"/>
          </a:xfrm>
          <a:prstGeom prst="line">
            <a:avLst/>
          </a:prstGeom>
          <a:noFill/>
          <a:ln w="31750">
            <a:solidFill>
              <a:srgbClr val="AB243E"/>
            </a:solidFill>
            <a:prstDash val="sysDash"/>
            <a:tailEnd type="triangle"/>
          </a:ln>
        </p:spPr>
      </p:sp>
      <p:sp>
        <p:nvSpPr>
          <p:cNvPr id="50" name="Text 48"/>
          <p:cNvSpPr/>
          <p:nvPr/>
        </p:nvSpPr>
        <p:spPr>
          <a:xfrm>
            <a:off x="4656843" y="3238021"/>
            <a:ext cx="438912" cy="192024"/>
          </a:xfrm>
          <a:prstGeom prst="rect">
            <a:avLst/>
          </a:prstGeom>
          <a:noFill/>
          <a:ln/>
        </p:spPr>
        <p:txBody>
          <a:bodyPr wrap="square" lIns="0" tIns="0" rIns="0" bIns="0" rtlCol="0" anchor="ctr"/>
          <a:lstStyle/>
          <a:p>
            <a:pPr algn="l" indent="0" marL="0">
              <a:buNone/>
            </a:pPr>
            <a:r>
              <a:rPr lang="en-US" sz="800" b="1" dirty="0">
                <a:solidFill>
                  <a:srgbClr val="AB243E"/>
                </a:solidFill>
                <a:latin typeface="Segoe UI" pitchFamily="34" charset="0"/>
                <a:ea typeface="Segoe UI" pitchFamily="34" charset="-122"/>
                <a:cs typeface="Segoe UI" pitchFamily="34" charset="-120"/>
              </a:rPr>
              <a:t>lanza</a:t>
            </a:r>
            <a:endParaRPr lang="en-US" sz="800" dirty="0"/>
          </a:p>
        </p:txBody>
      </p:sp>
      <p:sp>
        <p:nvSpPr>
          <p:cNvPr id="51" name="Text 49"/>
          <p:cNvSpPr/>
          <p:nvPr/>
        </p:nvSpPr>
        <p:spPr>
          <a:xfrm>
            <a:off x="4476576" y="317793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52" name="Shape 50"/>
          <p:cNvSpPr/>
          <p:nvPr/>
        </p:nvSpPr>
        <p:spPr>
          <a:xfrm flipH="1">
            <a:off x="3704561" y="3830813"/>
            <a:ext cx="246888" cy="0"/>
          </a:xfrm>
          <a:prstGeom prst="line">
            <a:avLst/>
          </a:prstGeom>
          <a:noFill/>
          <a:ln w="31750">
            <a:solidFill>
              <a:srgbClr val="AB243E"/>
            </a:solidFill>
            <a:prstDash val="sysDash"/>
          </a:ln>
        </p:spPr>
      </p:sp>
      <p:sp>
        <p:nvSpPr>
          <p:cNvPr id="53" name="Shape 51"/>
          <p:cNvSpPr/>
          <p:nvPr/>
        </p:nvSpPr>
        <p:spPr>
          <a:xfrm flipV="1">
            <a:off x="3704561" y="3210067"/>
            <a:ext cx="0" cy="620747"/>
          </a:xfrm>
          <a:prstGeom prst="line">
            <a:avLst/>
          </a:prstGeom>
          <a:noFill/>
          <a:ln w="31750">
            <a:solidFill>
              <a:srgbClr val="AB243E"/>
            </a:solidFill>
            <a:prstDash val="sysDash"/>
          </a:ln>
        </p:spPr>
      </p:sp>
      <p:sp>
        <p:nvSpPr>
          <p:cNvPr id="54" name="Shape 52"/>
          <p:cNvSpPr/>
          <p:nvPr/>
        </p:nvSpPr>
        <p:spPr>
          <a:xfrm flipH="1">
            <a:off x="3457673" y="3210067"/>
            <a:ext cx="246888" cy="0"/>
          </a:xfrm>
          <a:prstGeom prst="line">
            <a:avLst/>
          </a:prstGeom>
          <a:noFill/>
          <a:ln w="31750">
            <a:solidFill>
              <a:srgbClr val="AB243E"/>
            </a:solidFill>
            <a:prstDash val="sysDash"/>
            <a:tailEnd type="triangle"/>
          </a:ln>
        </p:spPr>
      </p:sp>
      <p:sp>
        <p:nvSpPr>
          <p:cNvPr id="55" name="Text 53"/>
          <p:cNvSpPr/>
          <p:nvPr/>
        </p:nvSpPr>
        <p:spPr>
          <a:xfrm>
            <a:off x="3718277" y="3721085"/>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56" name="Shape 54"/>
          <p:cNvSpPr/>
          <p:nvPr/>
        </p:nvSpPr>
        <p:spPr>
          <a:xfrm>
            <a:off x="7958089" y="4049486"/>
            <a:ext cx="0" cy="775934"/>
          </a:xfrm>
          <a:prstGeom prst="line">
            <a:avLst/>
          </a:prstGeom>
          <a:noFill/>
          <a:ln w="38735">
            <a:solidFill>
              <a:srgbClr val="2BA6CB"/>
            </a:solidFill>
            <a:prstDash val="lgDash"/>
            <a:tailEnd type="arrow"/>
          </a:ln>
        </p:spPr>
      </p:sp>
      <p:sp>
        <p:nvSpPr>
          <p:cNvPr id="57" name="Text 55"/>
          <p:cNvSpPr/>
          <p:nvPr/>
        </p:nvSpPr>
        <p:spPr>
          <a:xfrm>
            <a:off x="8028628" y="4310220"/>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usa</a:t>
            </a:r>
            <a:endParaRPr lang="en-US" sz="800" dirty="0"/>
          </a:p>
        </p:txBody>
      </p:sp>
      <p:sp>
        <p:nvSpPr>
          <p:cNvPr id="58" name="Text 56"/>
          <p:cNvSpPr/>
          <p:nvPr/>
        </p:nvSpPr>
        <p:spPr>
          <a:xfrm>
            <a:off x="7848361" y="41090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59" name="Shape 57"/>
          <p:cNvSpPr/>
          <p:nvPr/>
        </p:nvSpPr>
        <p:spPr>
          <a:xfrm>
            <a:off x="1623648" y="1749900"/>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1715088" y="1799999"/>
            <a:ext cx="337147" cy="337147"/>
          </a:xfrm>
          <a:prstGeom prst="ellipse">
            <a:avLst/>
          </a:prstGeom>
          <a:solidFill>
            <a:srgbClr val="EBECF0"/>
          </a:solidFill>
          <a:ln w="12700">
            <a:solidFill>
              <a:srgbClr val="EBECF0"/>
            </a:solidFill>
            <a:prstDash val="solid"/>
          </a:ln>
        </p:spPr>
      </p:sp>
      <p:sp>
        <p:nvSpPr>
          <p:cNvPr id="61" name="Icono code"/>
          <p:cNvSpPr/>
          <p:nvPr/>
        </p:nvSpPr>
        <p:spPr>
          <a:xfrm>
            <a:off x="1769952" y="1854863"/>
            <a:ext cx="227419" cy="227419"/>
          </a:xfrm>
          <a:custGeom>
            <a:avLst/>
            <a:gdLst/>
            <a:ahLst/>
            <a:cxnLst/>
            <a:rect l="l" t="t" r="r" b="b"/>
            <a:pathLst>
              <a:path w="227419" h="227419">
                <a:moveTo>
                  <a:pt x="151613" y="170564"/>
                </a:moveTo>
                <a:lnTo>
                  <a:pt x="208468" y="113710"/>
                </a:lnTo>
                <a:lnTo>
                  <a:pt x="151613" y="56855"/>
                </a:lnTo>
                <a:moveTo>
                  <a:pt x="75806" y="56855"/>
                </a:moveTo>
                <a:lnTo>
                  <a:pt x="18952" y="113710"/>
                </a:lnTo>
                <a:lnTo>
                  <a:pt x="75806" y="170564"/>
                </a:lnTo>
              </a:path>
            </a:pathLst>
          </a:custGeom>
          <a:noFill/>
          <a:ln w="18952" cap="rnd">
            <a:solidFill>
              <a:srgbClr val="55627E"/>
            </a:solidFill>
            <a:prstDash val="solid"/>
            <a:round/>
          </a:ln>
        </p:spPr>
      </p:sp>
      <p:sp>
        <p:nvSpPr>
          <p:cNvPr id="62" name="Text 60"/>
          <p:cNvSpPr/>
          <p:nvPr/>
        </p:nvSpPr>
        <p:spPr>
          <a:xfrm>
            <a:off x="2107099" y="1749900"/>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SolicitudController</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POST y GET /solicitudes</a:t>
            </a:r>
            <a:endParaRPr lang="en-US" sz="864" dirty="0"/>
          </a:p>
        </p:txBody>
      </p:sp>
      <p:sp>
        <p:nvSpPr>
          <p:cNvPr id="63" name="Text 61"/>
          <p:cNvSpPr/>
          <p:nvPr/>
        </p:nvSpPr>
        <p:spPr>
          <a:xfrm>
            <a:off x="1623648" y="2370647"/>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EventoSalienteController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GET /eventos</a:t>
            </a:r>
            <a:endParaRPr lang="en-US" sz="900" dirty="0"/>
          </a:p>
        </p:txBody>
      </p:sp>
      <p:sp>
        <p:nvSpPr>
          <p:cNvPr id="64" name="Text 62"/>
          <p:cNvSpPr/>
          <p:nvPr/>
        </p:nvSpPr>
        <p:spPr>
          <a:xfrm>
            <a:off x="1623648" y="2991394"/>
            <a:ext cx="1834025" cy="437344"/>
          </a:xfrm>
          <a:prstGeom prst="roundRect">
            <a:avLst>
              <a:gd name="adj" fmla="val 18817"/>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ManejadorGlobalDeErrores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00" dirty="0"/>
          </a:p>
        </p:txBody>
      </p:sp>
      <p:sp>
        <p:nvSpPr>
          <p:cNvPr id="65" name="Shape 63"/>
          <p:cNvSpPr/>
          <p:nvPr/>
        </p:nvSpPr>
        <p:spPr>
          <a:xfrm>
            <a:off x="1623648" y="3612141"/>
            <a:ext cx="1834025" cy="437344"/>
          </a:xfrm>
          <a:prstGeom prst="roundRect">
            <a:avLst>
              <a:gd name="adj" fmla="val 18817"/>
            </a:avLst>
          </a:prstGeom>
          <a:solidFill>
            <a:srgbClr val="FBFCFE"/>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1715088" y="3662240"/>
            <a:ext cx="337147" cy="337147"/>
          </a:xfrm>
          <a:prstGeom prst="ellipse">
            <a:avLst/>
          </a:prstGeom>
          <a:solidFill>
            <a:srgbClr val="EBECF0"/>
          </a:solidFill>
          <a:ln w="12700">
            <a:solidFill>
              <a:srgbClr val="EBECF0"/>
            </a:solidFill>
            <a:prstDash val="solid"/>
          </a:ln>
        </p:spPr>
      </p:sp>
      <p:sp>
        <p:nvSpPr>
          <p:cNvPr id="67" name="Icono book-open"/>
          <p:cNvSpPr/>
          <p:nvPr/>
        </p:nvSpPr>
        <p:spPr>
          <a:xfrm>
            <a:off x="1769952" y="3717104"/>
            <a:ext cx="227419" cy="227419"/>
          </a:xfrm>
          <a:custGeom>
            <a:avLst/>
            <a:gdLst/>
            <a:ahLst/>
            <a:cxnLst/>
            <a:rect l="l" t="t" r="r" b="b"/>
            <a:pathLst>
              <a:path w="227419" h="227419">
                <a:moveTo>
                  <a:pt x="113710" y="66331"/>
                </a:moveTo>
                <a:lnTo>
                  <a:pt x="113710" y="198992"/>
                </a:lnTo>
                <a:moveTo>
                  <a:pt x="28427" y="170564"/>
                </a:moveTo>
                <a:cubicBezTo>
                  <a:pt x="23194" y="170564"/>
                  <a:pt x="18952" y="166322"/>
                  <a:pt x="18952" y="161089"/>
                </a:cubicBezTo>
                <a:lnTo>
                  <a:pt x="18952" y="37903"/>
                </a:lnTo>
                <a:cubicBezTo>
                  <a:pt x="18952" y="32670"/>
                  <a:pt x="23194" y="28427"/>
                  <a:pt x="28427" y="28427"/>
                </a:cubicBezTo>
                <a:lnTo>
                  <a:pt x="75806" y="28427"/>
                </a:lnTo>
                <a:cubicBezTo>
                  <a:pt x="96740" y="28427"/>
                  <a:pt x="113710" y="45397"/>
                  <a:pt x="113710" y="66331"/>
                </a:cubicBezTo>
                <a:cubicBezTo>
                  <a:pt x="113710" y="45397"/>
                  <a:pt x="130679" y="28427"/>
                  <a:pt x="151613" y="28427"/>
                </a:cubicBezTo>
                <a:lnTo>
                  <a:pt x="198992" y="28427"/>
                </a:lnTo>
                <a:cubicBezTo>
                  <a:pt x="204225" y="28427"/>
                  <a:pt x="208468" y="32670"/>
                  <a:pt x="208468" y="37903"/>
                </a:cubicBezTo>
                <a:lnTo>
                  <a:pt x="208468" y="161089"/>
                </a:lnTo>
                <a:cubicBezTo>
                  <a:pt x="208468" y="166322"/>
                  <a:pt x="204225" y="170564"/>
                  <a:pt x="198992" y="170564"/>
                </a:cubicBezTo>
                <a:lnTo>
                  <a:pt x="142137" y="170564"/>
                </a:lnTo>
                <a:cubicBezTo>
                  <a:pt x="126437" y="170564"/>
                  <a:pt x="113710" y="183292"/>
                  <a:pt x="113710" y="198992"/>
                </a:cubicBezTo>
                <a:cubicBezTo>
                  <a:pt x="113710" y="183292"/>
                  <a:pt x="100982" y="170564"/>
                  <a:pt x="85282" y="170564"/>
                </a:cubicBezTo>
                <a:close/>
              </a:path>
            </a:pathLst>
          </a:custGeom>
          <a:noFill/>
          <a:ln w="18952" cap="rnd">
            <a:solidFill>
              <a:srgbClr val="55627E"/>
            </a:solidFill>
            <a:prstDash val="solid"/>
            <a:round/>
          </a:ln>
        </p:spPr>
      </p:sp>
      <p:sp>
        <p:nvSpPr>
          <p:cNvPr id="68" name="Text 66"/>
          <p:cNvSpPr/>
          <p:nvPr/>
        </p:nvSpPr>
        <p:spPr>
          <a:xfrm>
            <a:off x="2107099" y="3612141"/>
            <a:ext cx="1295710"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Swagger y Actuator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00" dirty="0"/>
          </a:p>
        </p:txBody>
      </p:sp>
      <p:sp>
        <p:nvSpPr>
          <p:cNvPr id="69" name="Shape 67"/>
          <p:cNvSpPr/>
          <p:nvPr/>
        </p:nvSpPr>
        <p:spPr>
          <a:xfrm>
            <a:off x="3951449" y="1749900"/>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0" name="Shape 68"/>
          <p:cNvSpPr/>
          <p:nvPr/>
        </p:nvSpPr>
        <p:spPr>
          <a:xfrm>
            <a:off x="4042889" y="1799999"/>
            <a:ext cx="337147" cy="337147"/>
          </a:xfrm>
          <a:prstGeom prst="ellipse">
            <a:avLst/>
          </a:prstGeom>
          <a:solidFill>
            <a:srgbClr val="E4EAF1"/>
          </a:solidFill>
          <a:ln w="12700">
            <a:solidFill>
              <a:srgbClr val="E4EAF1"/>
            </a:solidFill>
            <a:prstDash val="solid"/>
          </a:ln>
        </p:spPr>
      </p:sp>
      <p:sp>
        <p:nvSpPr>
          <p:cNvPr id="71" name="Icono settings"/>
          <p:cNvSpPr/>
          <p:nvPr/>
        </p:nvSpPr>
        <p:spPr>
          <a:xfrm>
            <a:off x="4097753" y="1854863"/>
            <a:ext cx="227419" cy="227419"/>
          </a:xfrm>
          <a:custGeom>
            <a:avLst/>
            <a:gdLst/>
            <a:ahLst/>
            <a:cxnLst/>
            <a:rect l="l" t="t" r="r" b="b"/>
            <a:pathLst>
              <a:path w="227419" h="227419">
                <a:moveTo>
                  <a:pt x="115794" y="18952"/>
                </a:moveTo>
                <a:lnTo>
                  <a:pt x="111625" y="18952"/>
                </a:lnTo>
                <a:cubicBezTo>
                  <a:pt x="101158" y="18952"/>
                  <a:pt x="92673" y="27437"/>
                  <a:pt x="92673" y="37903"/>
                </a:cubicBezTo>
                <a:lnTo>
                  <a:pt x="92673" y="39609"/>
                </a:lnTo>
                <a:cubicBezTo>
                  <a:pt x="92666" y="46373"/>
                  <a:pt x="89055" y="52620"/>
                  <a:pt x="83197" y="56002"/>
                </a:cubicBezTo>
                <a:lnTo>
                  <a:pt x="79123" y="58371"/>
                </a:lnTo>
                <a:cubicBezTo>
                  <a:pt x="73259" y="61756"/>
                  <a:pt x="66035" y="61756"/>
                  <a:pt x="60171" y="58371"/>
                </a:cubicBezTo>
                <a:lnTo>
                  <a:pt x="58750" y="57613"/>
                </a:lnTo>
                <a:cubicBezTo>
                  <a:pt x="49695" y="52389"/>
                  <a:pt x="38120" y="55484"/>
                  <a:pt x="32881" y="64530"/>
                </a:cubicBezTo>
                <a:lnTo>
                  <a:pt x="30796" y="68131"/>
                </a:lnTo>
                <a:cubicBezTo>
                  <a:pt x="25573" y="77186"/>
                  <a:pt x="28668" y="88760"/>
                  <a:pt x="37714" y="94000"/>
                </a:cubicBezTo>
                <a:lnTo>
                  <a:pt x="39135" y="94947"/>
                </a:lnTo>
                <a:cubicBezTo>
                  <a:pt x="44963" y="98312"/>
                  <a:pt x="48570" y="104516"/>
                  <a:pt x="48611" y="111246"/>
                </a:cubicBezTo>
                <a:lnTo>
                  <a:pt x="48611" y="116079"/>
                </a:lnTo>
                <a:cubicBezTo>
                  <a:pt x="48638" y="122876"/>
                  <a:pt x="45022" y="129168"/>
                  <a:pt x="39135" y="132566"/>
                </a:cubicBezTo>
                <a:lnTo>
                  <a:pt x="37714" y="133419"/>
                </a:lnTo>
                <a:cubicBezTo>
                  <a:pt x="28668" y="138659"/>
                  <a:pt x="25573" y="150233"/>
                  <a:pt x="30796" y="159288"/>
                </a:cubicBezTo>
                <a:lnTo>
                  <a:pt x="32881" y="162889"/>
                </a:lnTo>
                <a:cubicBezTo>
                  <a:pt x="38120" y="171935"/>
                  <a:pt x="49695" y="175030"/>
                  <a:pt x="58750" y="169806"/>
                </a:cubicBezTo>
                <a:lnTo>
                  <a:pt x="60171" y="169048"/>
                </a:lnTo>
                <a:cubicBezTo>
                  <a:pt x="66035" y="165663"/>
                  <a:pt x="73259" y="165663"/>
                  <a:pt x="79123" y="169048"/>
                </a:cubicBezTo>
                <a:lnTo>
                  <a:pt x="83197" y="171417"/>
                </a:lnTo>
                <a:cubicBezTo>
                  <a:pt x="89055" y="174799"/>
                  <a:pt x="92666" y="181046"/>
                  <a:pt x="92673" y="187810"/>
                </a:cubicBezTo>
                <a:lnTo>
                  <a:pt x="92673" y="189516"/>
                </a:lnTo>
                <a:cubicBezTo>
                  <a:pt x="92673" y="199983"/>
                  <a:pt x="101158" y="208468"/>
                  <a:pt x="111625" y="208468"/>
                </a:cubicBezTo>
                <a:lnTo>
                  <a:pt x="115794" y="208468"/>
                </a:lnTo>
                <a:cubicBezTo>
                  <a:pt x="126261" y="208468"/>
                  <a:pt x="134746" y="199983"/>
                  <a:pt x="134746" y="189516"/>
                </a:cubicBezTo>
                <a:lnTo>
                  <a:pt x="134746" y="187810"/>
                </a:lnTo>
                <a:cubicBezTo>
                  <a:pt x="134753" y="181046"/>
                  <a:pt x="138364" y="174799"/>
                  <a:pt x="144222" y="171417"/>
                </a:cubicBezTo>
                <a:lnTo>
                  <a:pt x="148296" y="169048"/>
                </a:lnTo>
                <a:cubicBezTo>
                  <a:pt x="154160" y="165663"/>
                  <a:pt x="161384" y="165663"/>
                  <a:pt x="167248" y="169048"/>
                </a:cubicBezTo>
                <a:lnTo>
                  <a:pt x="168669" y="169806"/>
                </a:lnTo>
                <a:cubicBezTo>
                  <a:pt x="177724" y="175030"/>
                  <a:pt x="189299" y="171935"/>
                  <a:pt x="194538" y="162889"/>
                </a:cubicBezTo>
                <a:lnTo>
                  <a:pt x="196623" y="159193"/>
                </a:lnTo>
                <a:cubicBezTo>
                  <a:pt x="201846" y="150138"/>
                  <a:pt x="198751" y="138564"/>
                  <a:pt x="189705" y="133324"/>
                </a:cubicBezTo>
                <a:lnTo>
                  <a:pt x="188284" y="132566"/>
                </a:lnTo>
                <a:cubicBezTo>
                  <a:pt x="182397" y="129168"/>
                  <a:pt x="178781" y="122876"/>
                  <a:pt x="178808" y="116079"/>
                </a:cubicBezTo>
                <a:lnTo>
                  <a:pt x="178808" y="111341"/>
                </a:lnTo>
                <a:cubicBezTo>
                  <a:pt x="178781" y="104543"/>
                  <a:pt x="182397" y="98252"/>
                  <a:pt x="188284" y="94853"/>
                </a:cubicBezTo>
                <a:lnTo>
                  <a:pt x="189705" y="94000"/>
                </a:lnTo>
                <a:cubicBezTo>
                  <a:pt x="198751" y="88760"/>
                  <a:pt x="201846" y="77186"/>
                  <a:pt x="196623" y="68131"/>
                </a:cubicBezTo>
                <a:lnTo>
                  <a:pt x="194538" y="64530"/>
                </a:lnTo>
                <a:cubicBezTo>
                  <a:pt x="189299" y="55484"/>
                  <a:pt x="177724" y="52389"/>
                  <a:pt x="168669" y="57613"/>
                </a:cubicBezTo>
                <a:lnTo>
                  <a:pt x="167248" y="58371"/>
                </a:lnTo>
                <a:cubicBezTo>
                  <a:pt x="161384" y="61756"/>
                  <a:pt x="154160" y="61756"/>
                  <a:pt x="148296" y="58371"/>
                </a:cubicBezTo>
                <a:lnTo>
                  <a:pt x="144222" y="56002"/>
                </a:lnTo>
                <a:cubicBezTo>
                  <a:pt x="138364" y="52620"/>
                  <a:pt x="134753" y="46373"/>
                  <a:pt x="134746" y="39609"/>
                </a:cubicBezTo>
                <a:lnTo>
                  <a:pt x="134746" y="37903"/>
                </a:lnTo>
                <a:cubicBezTo>
                  <a:pt x="134746" y="27437"/>
                  <a:pt x="126261" y="18952"/>
                  <a:pt x="115794" y="18952"/>
                </a:cubicBezTo>
                <a:close/>
                <a:moveTo>
                  <a:pt x="142137" y="113710"/>
                </a:moveTo>
                <a:cubicBezTo>
                  <a:pt x="142137" y="129410"/>
                  <a:pt x="129410" y="142137"/>
                  <a:pt x="113710" y="142137"/>
                </a:cubicBezTo>
                <a:cubicBezTo>
                  <a:pt x="98010" y="142137"/>
                  <a:pt x="85282" y="129410"/>
                  <a:pt x="85282" y="113710"/>
                </a:cubicBezTo>
                <a:cubicBezTo>
                  <a:pt x="85282" y="98010"/>
                  <a:pt x="98010" y="85282"/>
                  <a:pt x="113710" y="85282"/>
                </a:cubicBezTo>
                <a:cubicBezTo>
                  <a:pt x="129410" y="85282"/>
                  <a:pt x="142137" y="98010"/>
                  <a:pt x="142137" y="113710"/>
                </a:cubicBezTo>
                <a:close/>
              </a:path>
            </a:pathLst>
          </a:custGeom>
          <a:noFill/>
          <a:ln w="18952" cap="rnd">
            <a:solidFill>
              <a:srgbClr val="1F4E8C"/>
            </a:solidFill>
            <a:prstDash val="solid"/>
            <a:round/>
          </a:ln>
        </p:spPr>
      </p:sp>
      <p:sp>
        <p:nvSpPr>
          <p:cNvPr id="72" name="Text 70"/>
          <p:cNvSpPr/>
          <p:nvPr/>
        </p:nvSpPr>
        <p:spPr>
          <a:xfrm>
            <a:off x="4434900" y="1749900"/>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00" dirty="0"/>
          </a:p>
        </p:txBody>
      </p:sp>
      <p:sp>
        <p:nvSpPr>
          <p:cNvPr id="73" name="Shape 71"/>
          <p:cNvSpPr/>
          <p:nvPr/>
        </p:nvSpPr>
        <p:spPr>
          <a:xfrm>
            <a:off x="3951449" y="2681021"/>
            <a:ext cx="1269710"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74" name="Shape 72"/>
          <p:cNvSpPr/>
          <p:nvPr/>
        </p:nvSpPr>
        <p:spPr>
          <a:xfrm>
            <a:off x="4042889" y="2731119"/>
            <a:ext cx="337147" cy="337147"/>
          </a:xfrm>
          <a:prstGeom prst="ellipse">
            <a:avLst/>
          </a:prstGeom>
          <a:solidFill>
            <a:srgbClr val="E4EAF1"/>
          </a:solidFill>
          <a:ln w="12700">
            <a:solidFill>
              <a:srgbClr val="E4EAF1"/>
            </a:solidFill>
            <a:prstDash val="solid"/>
          </a:ln>
        </p:spPr>
      </p:sp>
      <p:sp>
        <p:nvSpPr>
          <p:cNvPr id="75" name="Icono file-text"/>
          <p:cNvSpPr/>
          <p:nvPr/>
        </p:nvSpPr>
        <p:spPr>
          <a:xfrm>
            <a:off x="4097753" y="2785983"/>
            <a:ext cx="227419" cy="227419"/>
          </a:xfrm>
          <a:custGeom>
            <a:avLst/>
            <a:gdLst/>
            <a:ahLst/>
            <a:cxnLst/>
            <a:rect l="l" t="t" r="r" b="b"/>
            <a:pathLst>
              <a:path w="227419" h="227419">
                <a:moveTo>
                  <a:pt x="142137" y="18952"/>
                </a:moveTo>
                <a:lnTo>
                  <a:pt x="56855" y="18952"/>
                </a:lnTo>
                <a:cubicBezTo>
                  <a:pt x="46388" y="18952"/>
                  <a:pt x="37903" y="27437"/>
                  <a:pt x="37903" y="37903"/>
                </a:cubicBezTo>
                <a:lnTo>
                  <a:pt x="37903" y="189516"/>
                </a:lnTo>
                <a:cubicBezTo>
                  <a:pt x="37903" y="199983"/>
                  <a:pt x="46388" y="208468"/>
                  <a:pt x="56855" y="208468"/>
                </a:cubicBezTo>
                <a:lnTo>
                  <a:pt x="170564" y="208468"/>
                </a:lnTo>
                <a:cubicBezTo>
                  <a:pt x="181031" y="208468"/>
                  <a:pt x="189516" y="199983"/>
                  <a:pt x="189516" y="189516"/>
                </a:cubicBezTo>
                <a:lnTo>
                  <a:pt x="189516" y="66331"/>
                </a:lnTo>
                <a:close/>
                <a:moveTo>
                  <a:pt x="132661" y="18952"/>
                </a:moveTo>
                <a:lnTo>
                  <a:pt x="132661" y="56855"/>
                </a:lnTo>
                <a:cubicBezTo>
                  <a:pt x="132661" y="67321"/>
                  <a:pt x="141146" y="75806"/>
                  <a:pt x="151613" y="75806"/>
                </a:cubicBezTo>
                <a:lnTo>
                  <a:pt x="189516" y="75806"/>
                </a:lnTo>
                <a:moveTo>
                  <a:pt x="94758" y="85282"/>
                </a:moveTo>
                <a:lnTo>
                  <a:pt x="75806" y="85282"/>
                </a:lnTo>
                <a:moveTo>
                  <a:pt x="151613" y="123185"/>
                </a:moveTo>
                <a:lnTo>
                  <a:pt x="75806" y="123185"/>
                </a:lnTo>
                <a:moveTo>
                  <a:pt x="151613" y="161089"/>
                </a:moveTo>
                <a:lnTo>
                  <a:pt x="75806" y="161089"/>
                </a:lnTo>
              </a:path>
            </a:pathLst>
          </a:custGeom>
          <a:noFill/>
          <a:ln w="18952" cap="rnd">
            <a:solidFill>
              <a:srgbClr val="1F4E8C"/>
            </a:solidFill>
            <a:prstDash val="solid"/>
            <a:round/>
          </a:ln>
        </p:spPr>
      </p:sp>
      <p:sp>
        <p:nvSpPr>
          <p:cNvPr id="76" name="Text 74"/>
          <p:cNvSpPr/>
          <p:nvPr/>
        </p:nvSpPr>
        <p:spPr>
          <a:xfrm>
            <a:off x="4434900"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Solicitud</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record con las reglas</a:t>
            </a:r>
            <a:endParaRPr lang="en-US" sz="864" dirty="0"/>
          </a:p>
        </p:txBody>
      </p:sp>
      <p:sp>
        <p:nvSpPr>
          <p:cNvPr id="77" name="Shape 75"/>
          <p:cNvSpPr/>
          <p:nvPr/>
        </p:nvSpPr>
        <p:spPr>
          <a:xfrm>
            <a:off x="5362238" y="2681021"/>
            <a:ext cx="1269710" cy="437344"/>
          </a:xfrm>
          <a:prstGeom prst="roundRect">
            <a:avLst>
              <a:gd name="adj" fmla="val 18817"/>
            </a:avLst>
          </a:prstGeom>
          <a:solidFill>
            <a:srgbClr val="FFFFFF"/>
          </a:solidFill>
          <a:ln w="12700">
            <a:solidFill>
              <a:srgbClr val="9AAFCB"/>
            </a:solidFill>
            <a:prstDash val="dash"/>
          </a:ln>
          <a:effectLst>
            <a:outerShdw sx="100000" sy="100000" kx="0" ky="0" algn="bl" rotWithShape="0" blurRad="76200" dist="19050" dir="5400000">
              <a:srgbClr val="0B1F3A">
                <a:alpha val="14000"/>
              </a:srgbClr>
            </a:outerShdw>
          </a:effectLst>
        </p:spPr>
      </p:sp>
      <p:sp>
        <p:nvSpPr>
          <p:cNvPr id="78" name="Shape 76"/>
          <p:cNvSpPr/>
          <p:nvPr/>
        </p:nvSpPr>
        <p:spPr>
          <a:xfrm>
            <a:off x="5453678" y="2731119"/>
            <a:ext cx="337147" cy="337147"/>
          </a:xfrm>
          <a:prstGeom prst="ellipse">
            <a:avLst/>
          </a:prstGeom>
          <a:solidFill>
            <a:srgbClr val="E4EAF1"/>
          </a:solidFill>
          <a:ln w="12700">
            <a:solidFill>
              <a:srgbClr val="E4EAF1"/>
            </a:solidFill>
            <a:prstDash val="solid"/>
          </a:ln>
        </p:spPr>
      </p:sp>
      <p:sp>
        <p:nvSpPr>
          <p:cNvPr id="79" name="Icono plug"/>
          <p:cNvSpPr/>
          <p:nvPr/>
        </p:nvSpPr>
        <p:spPr>
          <a:xfrm>
            <a:off x="5508542" y="2785983"/>
            <a:ext cx="227419" cy="227419"/>
          </a:xfrm>
          <a:custGeom>
            <a:avLst/>
            <a:gdLst/>
            <a:ahLst/>
            <a:cxnLst/>
            <a:rect l="l" t="t" r="r" b="b"/>
            <a:pathLst>
              <a:path w="227419" h="227419">
                <a:moveTo>
                  <a:pt x="113710" y="208468"/>
                </a:moveTo>
                <a:lnTo>
                  <a:pt x="113710" y="161089"/>
                </a:lnTo>
                <a:moveTo>
                  <a:pt x="85282" y="75806"/>
                </a:moveTo>
                <a:lnTo>
                  <a:pt x="85282" y="18952"/>
                </a:lnTo>
                <a:moveTo>
                  <a:pt x="142137" y="75806"/>
                </a:moveTo>
                <a:lnTo>
                  <a:pt x="142137" y="18952"/>
                </a:lnTo>
                <a:moveTo>
                  <a:pt x="170564" y="75806"/>
                </a:moveTo>
                <a:lnTo>
                  <a:pt x="170564" y="123185"/>
                </a:lnTo>
                <a:cubicBezTo>
                  <a:pt x="170564" y="144119"/>
                  <a:pt x="153595" y="161089"/>
                  <a:pt x="132661" y="161089"/>
                </a:cubicBezTo>
                <a:lnTo>
                  <a:pt x="94758" y="161089"/>
                </a:lnTo>
                <a:cubicBezTo>
                  <a:pt x="73825" y="161089"/>
                  <a:pt x="56855" y="144119"/>
                  <a:pt x="56855" y="123185"/>
                </a:cubicBezTo>
                <a:lnTo>
                  <a:pt x="56855" y="75806"/>
                </a:lnTo>
                <a:close/>
              </a:path>
            </a:pathLst>
          </a:custGeom>
          <a:noFill/>
          <a:ln w="18952" cap="rnd">
            <a:solidFill>
              <a:srgbClr val="1F4E8C"/>
            </a:solidFill>
            <a:prstDash val="solid"/>
            <a:round/>
          </a:ln>
        </p:spPr>
      </p:sp>
      <p:sp>
        <p:nvSpPr>
          <p:cNvPr id="80" name="Text 78"/>
          <p:cNvSpPr/>
          <p:nvPr/>
        </p:nvSpPr>
        <p:spPr>
          <a:xfrm>
            <a:off x="5845689" y="2681021"/>
            <a:ext cx="731395" cy="437344"/>
          </a:xfrm>
          <a:prstGeom prst="rect">
            <a:avLst/>
          </a:prstGeom>
          <a:noFill/>
          <a:ln/>
        </p:spPr>
        <p:txBody>
          <a:bodyPr wrap="square" lIns="12700" tIns="25400" rIns="25400" bIns="12700" rtlCol="0" anchor="ctr">
            <a:normAutofit/>
          </a:bodyPr>
          <a:lstStyle/>
          <a:p>
            <a:pPr algn="l" indent="0" marL="0">
              <a:lnSpc>
                <a:spcPct val="95000"/>
              </a:lnSpc>
              <a:buNone/>
            </a:pPr>
            <a:r>
              <a:rPr lang="en-US" sz="650" i="1" dirty="0">
                <a:solidFill>
                  <a:srgbClr val="55627E"/>
                </a:solidFill>
                <a:latin typeface="Segoe UI" pitchFamily="34" charset="0"/>
                <a:ea typeface="Segoe UI" pitchFamily="34" charset="-122"/>
                <a:cs typeface="Segoe UI" pitchFamily="34" charset="-120"/>
              </a:rPr>
              <a:t>«interfaz»</a:t>
            </a:r>
            <a:endParaRPr lang="en-US" sz="650" dirty="0"/>
          </a:p>
          <a:p>
            <a:pPr algn="l" indent="0" marL="0">
              <a:lnSpc>
                <a:spcPct val="95000"/>
              </a:lnSpc>
              <a:buNone/>
            </a:pPr>
            <a:r>
              <a:rPr lang="en-US" sz="700" b="1" dirty="0">
                <a:solidFill>
                  <a:srgbClr val="0B1A3C"/>
                </a:solidFill>
                <a:latin typeface="Segoe UI" pitchFamily="34" charset="0"/>
                <a:ea typeface="Segoe UI" pitchFamily="34" charset="-122"/>
                <a:cs typeface="Segoe UI" pitchFamily="34" charset="-120"/>
              </a:rPr>
              <a:t>Puertos</a:t>
            </a:r>
            <a:endParaRPr lang="en-US" sz="650" dirty="0"/>
          </a:p>
          <a:p>
            <a:pPr algn="l" indent="0" marL="0">
              <a:lnSpc>
                <a:spcPct val="95000"/>
              </a:lnSpc>
              <a:buNone/>
            </a:pPr>
            <a:r>
              <a:rPr lang="en-US" sz="650" dirty="0">
                <a:solidFill>
                  <a:srgbClr val="55627E"/>
                </a:solidFill>
                <a:latin typeface="Segoe UI" pitchFamily="34" charset="0"/>
                <a:ea typeface="Segoe UI" pitchFamily="34" charset="-122"/>
                <a:cs typeface="Segoe UI" pitchFamily="34" charset="-120"/>
              </a:rPr>
              <a:t>4 interfaces</a:t>
            </a:r>
            <a:endParaRPr lang="en-US" sz="650" dirty="0"/>
          </a:p>
        </p:txBody>
      </p:sp>
      <p:sp>
        <p:nvSpPr>
          <p:cNvPr id="81" name="Shape 79"/>
          <p:cNvSpPr/>
          <p:nvPr/>
        </p:nvSpPr>
        <p:spPr>
          <a:xfrm>
            <a:off x="3951449" y="3612141"/>
            <a:ext cx="2680498" cy="437344"/>
          </a:xfrm>
          <a:prstGeom prst="roundRect">
            <a:avLst>
              <a:gd name="adj" fmla="val 18817"/>
            </a:avLst>
          </a:prstGeom>
          <a:solidFill>
            <a:srgbClr val="FFFFFF"/>
          </a:solidFill>
          <a:ln w="12700">
            <a:solidFill>
              <a:srgbClr val="9AAFCB"/>
            </a:solidFill>
            <a:prstDash val="solid"/>
          </a:ln>
          <a:effectLst>
            <a:outerShdw sx="100000" sy="100000" kx="0" ky="0" algn="bl" rotWithShape="0" blurRad="76200" dist="19050" dir="5400000">
              <a:srgbClr val="0B1F3A">
                <a:alpha val="14000"/>
              </a:srgbClr>
            </a:outerShdw>
          </a:effectLst>
        </p:spPr>
      </p:sp>
      <p:sp>
        <p:nvSpPr>
          <p:cNvPr id="82" name="Shape 80"/>
          <p:cNvSpPr/>
          <p:nvPr/>
        </p:nvSpPr>
        <p:spPr>
          <a:xfrm>
            <a:off x="4042889" y="3662240"/>
            <a:ext cx="337147" cy="337147"/>
          </a:xfrm>
          <a:prstGeom prst="ellipse">
            <a:avLst/>
          </a:prstGeom>
          <a:solidFill>
            <a:srgbClr val="E4EAF1"/>
          </a:solidFill>
          <a:ln w="12700">
            <a:solidFill>
              <a:srgbClr val="E4EAF1"/>
            </a:solidFill>
            <a:prstDash val="solid"/>
          </a:ln>
        </p:spPr>
      </p:sp>
      <p:sp>
        <p:nvSpPr>
          <p:cNvPr id="83" name="Icono triangle-alert"/>
          <p:cNvSpPr/>
          <p:nvPr/>
        </p:nvSpPr>
        <p:spPr>
          <a:xfrm>
            <a:off x="4097753" y="3717104"/>
            <a:ext cx="227419" cy="227419"/>
          </a:xfrm>
          <a:custGeom>
            <a:avLst/>
            <a:gdLst/>
            <a:ahLst/>
            <a:cxnLst/>
            <a:rect l="l" t="t" r="r" b="b"/>
            <a:pathLst>
              <a:path w="227419" h="227419">
                <a:moveTo>
                  <a:pt x="205909" y="170564"/>
                </a:moveTo>
                <a:lnTo>
                  <a:pt x="130103" y="37903"/>
                </a:lnTo>
                <a:cubicBezTo>
                  <a:pt x="126738" y="31965"/>
                  <a:pt x="120440" y="28296"/>
                  <a:pt x="113615" y="28296"/>
                </a:cubicBezTo>
                <a:cubicBezTo>
                  <a:pt x="106790" y="28296"/>
                  <a:pt x="100492" y="31965"/>
                  <a:pt x="97127" y="37903"/>
                </a:cubicBezTo>
                <a:lnTo>
                  <a:pt x="21321" y="170564"/>
                </a:lnTo>
                <a:cubicBezTo>
                  <a:pt x="17920" y="176454"/>
                  <a:pt x="17936" y="183715"/>
                  <a:pt x="21363" y="189590"/>
                </a:cubicBezTo>
                <a:cubicBezTo>
                  <a:pt x="24790" y="195465"/>
                  <a:pt x="31102" y="199053"/>
                  <a:pt x="37903" y="198992"/>
                </a:cubicBezTo>
                <a:lnTo>
                  <a:pt x="189516" y="198992"/>
                </a:lnTo>
                <a:cubicBezTo>
                  <a:pt x="196283" y="198985"/>
                  <a:pt x="202533" y="195370"/>
                  <a:pt x="205914" y="189508"/>
                </a:cubicBezTo>
                <a:cubicBezTo>
                  <a:pt x="209295" y="183645"/>
                  <a:pt x="209293" y="176425"/>
                  <a:pt x="205909" y="170564"/>
                </a:cubicBezTo>
                <a:moveTo>
                  <a:pt x="113710" y="85282"/>
                </a:moveTo>
                <a:lnTo>
                  <a:pt x="113710" y="123185"/>
                </a:lnTo>
                <a:moveTo>
                  <a:pt x="113710" y="161089"/>
                </a:moveTo>
                <a:lnTo>
                  <a:pt x="113804" y="161089"/>
                </a:lnTo>
              </a:path>
            </a:pathLst>
          </a:custGeom>
          <a:noFill/>
          <a:ln w="18952" cap="rnd">
            <a:solidFill>
              <a:srgbClr val="1F4E8C"/>
            </a:solidFill>
            <a:prstDash val="solid"/>
            <a:round/>
          </a:ln>
        </p:spPr>
      </p:sp>
      <p:sp>
        <p:nvSpPr>
          <p:cNvPr id="84" name="Text 82"/>
          <p:cNvSpPr/>
          <p:nvPr/>
        </p:nvSpPr>
        <p:spPr>
          <a:xfrm>
            <a:off x="4434900" y="3612141"/>
            <a:ext cx="2142183"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Excepciones del dominio</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TransicionNoPermitida · SolicitudYaExiste</a:t>
            </a:r>
            <a:endParaRPr lang="en-US" sz="864" dirty="0"/>
          </a:p>
        </p:txBody>
      </p:sp>
      <p:sp>
        <p:nvSpPr>
          <p:cNvPr id="85" name="Shape 83"/>
          <p:cNvSpPr/>
          <p:nvPr/>
        </p:nvSpPr>
        <p:spPr>
          <a:xfrm>
            <a:off x="7125723" y="1749900"/>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86" name="Shape 84"/>
          <p:cNvSpPr/>
          <p:nvPr/>
        </p:nvSpPr>
        <p:spPr>
          <a:xfrm>
            <a:off x="7217163" y="1799999"/>
            <a:ext cx="337147" cy="337147"/>
          </a:xfrm>
          <a:prstGeom prst="ellipse">
            <a:avLst/>
          </a:prstGeom>
          <a:solidFill>
            <a:srgbClr val="E8EBEE"/>
          </a:solidFill>
          <a:ln w="12700">
            <a:solidFill>
              <a:srgbClr val="E8EBEE"/>
            </a:solidFill>
            <a:prstDash val="solid"/>
          </a:ln>
        </p:spPr>
      </p:sp>
      <p:sp>
        <p:nvSpPr>
          <p:cNvPr id="87" name="Icono save"/>
          <p:cNvSpPr/>
          <p:nvPr/>
        </p:nvSpPr>
        <p:spPr>
          <a:xfrm>
            <a:off x="7272027" y="1854863"/>
            <a:ext cx="227419" cy="227419"/>
          </a:xfrm>
          <a:custGeom>
            <a:avLst/>
            <a:gdLst/>
            <a:ahLst/>
            <a:cxnLst/>
            <a:rect l="l" t="t" r="r" b="b"/>
            <a:pathLst>
              <a:path w="227419" h="227419">
                <a:moveTo>
                  <a:pt x="144032" y="28427"/>
                </a:moveTo>
                <a:cubicBezTo>
                  <a:pt x="149031" y="28499"/>
                  <a:pt x="153799" y="30542"/>
                  <a:pt x="157298" y="34113"/>
                </a:cubicBezTo>
                <a:lnTo>
                  <a:pt x="193306" y="70121"/>
                </a:lnTo>
                <a:cubicBezTo>
                  <a:pt x="196877" y="73620"/>
                  <a:pt x="198921" y="78388"/>
                  <a:pt x="198992" y="83387"/>
                </a:cubicBezTo>
                <a:lnTo>
                  <a:pt x="198992" y="180040"/>
                </a:lnTo>
                <a:cubicBezTo>
                  <a:pt x="198992" y="190507"/>
                  <a:pt x="190507" y="198992"/>
                  <a:pt x="180040" y="198992"/>
                </a:cubicBezTo>
                <a:lnTo>
                  <a:pt x="47379" y="198992"/>
                </a:lnTo>
                <a:cubicBezTo>
                  <a:pt x="36912" y="198992"/>
                  <a:pt x="28427" y="190507"/>
                  <a:pt x="28427" y="180040"/>
                </a:cubicBezTo>
                <a:lnTo>
                  <a:pt x="28427" y="47379"/>
                </a:lnTo>
                <a:cubicBezTo>
                  <a:pt x="28427" y="36912"/>
                  <a:pt x="36912" y="28427"/>
                  <a:pt x="47379" y="28427"/>
                </a:cubicBezTo>
                <a:close/>
                <a:moveTo>
                  <a:pt x="161089" y="198992"/>
                </a:moveTo>
                <a:lnTo>
                  <a:pt x="161089" y="132661"/>
                </a:lnTo>
                <a:cubicBezTo>
                  <a:pt x="161089" y="127428"/>
                  <a:pt x="156846" y="123185"/>
                  <a:pt x="151613" y="123185"/>
                </a:cubicBezTo>
                <a:lnTo>
                  <a:pt x="75806" y="123185"/>
                </a:lnTo>
                <a:cubicBezTo>
                  <a:pt x="70573" y="123185"/>
                  <a:pt x="66331" y="127428"/>
                  <a:pt x="66331" y="132661"/>
                </a:cubicBezTo>
                <a:lnTo>
                  <a:pt x="66331" y="198992"/>
                </a:lnTo>
                <a:moveTo>
                  <a:pt x="66331" y="28427"/>
                </a:moveTo>
                <a:lnTo>
                  <a:pt x="66331" y="66331"/>
                </a:lnTo>
                <a:cubicBezTo>
                  <a:pt x="66331" y="71564"/>
                  <a:pt x="70573" y="75806"/>
                  <a:pt x="75806" y="75806"/>
                </a:cubicBezTo>
                <a:lnTo>
                  <a:pt x="142137" y="75806"/>
                </a:lnTo>
              </a:path>
            </a:pathLst>
          </a:custGeom>
          <a:noFill/>
          <a:ln w="18952" cap="rnd">
            <a:solidFill>
              <a:srgbClr val="3D5675"/>
            </a:solidFill>
            <a:prstDash val="solid"/>
            <a:round/>
          </a:ln>
        </p:spPr>
      </p:sp>
      <p:sp>
        <p:nvSpPr>
          <p:cNvPr id="88" name="Text 86"/>
          <p:cNvSpPr/>
          <p:nvPr/>
        </p:nvSpPr>
        <p:spPr>
          <a:xfrm>
            <a:off x="7609174" y="1749900"/>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RepositorioJpa</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@Primary · guarda la solicitud</a:t>
            </a:r>
            <a:endParaRPr lang="en-US" sz="864" dirty="0"/>
          </a:p>
        </p:txBody>
      </p:sp>
      <p:sp>
        <p:nvSpPr>
          <p:cNvPr id="89" name="Text 87"/>
          <p:cNvSpPr/>
          <p:nvPr/>
        </p:nvSpPr>
        <p:spPr>
          <a:xfrm>
            <a:off x="7125723" y="2370647"/>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RegistradorDeEventosJpa</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00" dirty="0"/>
          </a:p>
        </p:txBody>
      </p:sp>
      <p:sp>
        <p:nvSpPr>
          <p:cNvPr id="90" name="Shape 88"/>
          <p:cNvSpPr/>
          <p:nvPr/>
        </p:nvSpPr>
        <p:spPr>
          <a:xfrm>
            <a:off x="7125723" y="2991394"/>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91" name="Shape 89"/>
          <p:cNvSpPr/>
          <p:nvPr/>
        </p:nvSpPr>
        <p:spPr>
          <a:xfrm>
            <a:off x="7217163" y="3041493"/>
            <a:ext cx="337147" cy="337147"/>
          </a:xfrm>
          <a:prstGeom prst="ellipse">
            <a:avLst/>
          </a:prstGeom>
          <a:solidFill>
            <a:srgbClr val="E8EBEE"/>
          </a:solidFill>
          <a:ln w="12700">
            <a:solidFill>
              <a:srgbClr val="E8EBEE"/>
            </a:solidFill>
            <a:prstDash val="solid"/>
          </a:ln>
        </p:spPr>
      </p:sp>
      <p:sp>
        <p:nvSpPr>
          <p:cNvPr id="92" name="Icono timer"/>
          <p:cNvSpPr/>
          <p:nvPr/>
        </p:nvSpPr>
        <p:spPr>
          <a:xfrm>
            <a:off x="7272027" y="3096357"/>
            <a:ext cx="227419" cy="227419"/>
          </a:xfrm>
          <a:custGeom>
            <a:avLst/>
            <a:gdLst/>
            <a:ahLst/>
            <a:cxnLst/>
            <a:rect l="l" t="t" r="r" b="b"/>
            <a:pathLst>
              <a:path w="227419" h="227419">
                <a:moveTo>
                  <a:pt x="94758" y="18952"/>
                </a:moveTo>
                <a:lnTo>
                  <a:pt x="132661" y="18952"/>
                </a:lnTo>
                <a:moveTo>
                  <a:pt x="113710" y="132661"/>
                </a:moveTo>
                <a:lnTo>
                  <a:pt x="142137" y="104234"/>
                </a:lnTo>
                <a:moveTo>
                  <a:pt x="189516" y="132661"/>
                </a:moveTo>
                <a:cubicBezTo>
                  <a:pt x="189516" y="174528"/>
                  <a:pt x="155576" y="208468"/>
                  <a:pt x="113710" y="208468"/>
                </a:cubicBezTo>
                <a:cubicBezTo>
                  <a:pt x="71843" y="208468"/>
                  <a:pt x="37903" y="174528"/>
                  <a:pt x="37903" y="132661"/>
                </a:cubicBezTo>
                <a:cubicBezTo>
                  <a:pt x="37903" y="90794"/>
                  <a:pt x="71843" y="56855"/>
                  <a:pt x="113710" y="56855"/>
                </a:cubicBezTo>
                <a:cubicBezTo>
                  <a:pt x="155576" y="56855"/>
                  <a:pt x="189516" y="90794"/>
                  <a:pt x="189516" y="132661"/>
                </a:cubicBezTo>
                <a:close/>
              </a:path>
            </a:pathLst>
          </a:custGeom>
          <a:noFill/>
          <a:ln w="18952" cap="rnd">
            <a:solidFill>
              <a:srgbClr val="3D5675"/>
            </a:solidFill>
            <a:prstDash val="solid"/>
            <a:round/>
          </a:ln>
        </p:spPr>
      </p:sp>
      <p:sp>
        <p:nvSpPr>
          <p:cNvPr id="93" name="Text 91"/>
          <p:cNvSpPr/>
          <p:nvPr/>
        </p:nvSpPr>
        <p:spPr>
          <a:xfrm>
            <a:off x="7609174" y="2991394"/>
            <a:ext cx="1126415" cy="43734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94" name="Text 92"/>
          <p:cNvSpPr/>
          <p:nvPr/>
        </p:nvSpPr>
        <p:spPr>
          <a:xfrm>
            <a:off x="7125723" y="3612141"/>
            <a:ext cx="1664731"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@Primary · 3 intentos</a:t>
            </a:r>
            <a:endParaRPr lang="en-US" sz="900" dirty="0"/>
          </a:p>
        </p:txBody>
      </p:sp>
      <p:sp>
        <p:nvSpPr>
          <p:cNvPr id="95" name="Text 93"/>
          <p:cNvSpPr/>
          <p:nvPr/>
        </p:nvSpPr>
        <p:spPr>
          <a:xfrm>
            <a:off x="9016180" y="1749900"/>
            <a:ext cx="1551867" cy="1058091"/>
          </a:xfrm>
          <a:prstGeom prst="roundRect">
            <a:avLst>
              <a:gd name="adj" fmla="val 777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db-solicitudes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tablas solicitud y evento</a:t>
            </a:r>
            <a:endParaRPr lang="en-US" sz="900" dirty="0"/>
          </a:p>
        </p:txBody>
      </p:sp>
      <p:sp>
        <p:nvSpPr>
          <p:cNvPr id="96" name="Text 94"/>
          <p:cNvSpPr/>
          <p:nvPr/>
        </p:nvSpPr>
        <p:spPr>
          <a:xfrm>
            <a:off x="9016180" y="3612141"/>
            <a:ext cx="1551867" cy="437344"/>
          </a:xfrm>
          <a:prstGeom prst="roundRect">
            <a:avLst>
              <a:gd name="adj" fmla="val 18817"/>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28" b="1" dirty="0">
                <a:solidFill>
                  <a:srgbClr val="0B1A3C"/>
                </a:solidFill>
                <a:latin typeface="Segoe UI" pitchFamily="34" charset="0"/>
                <a:ea typeface="Segoe UI" pitchFamily="34" charset="-122"/>
                <a:cs typeface="Segoe UI" pitchFamily="34" charset="-120"/>
              </a:rPr>
              <a:t>servicio-notificaciones</a:t>
            </a:r>
            <a:endParaRPr lang="en-US" sz="828" dirty="0"/>
          </a:p>
          <a:p>
            <a:pPr algn="ctr" indent="0" marL="0">
              <a:buNone/>
            </a:pPr>
            <a:r>
              <a:rPr lang="en-US" sz="736" dirty="0">
                <a:solidFill>
                  <a:srgbClr val="55627E"/>
                </a:solidFill>
                <a:latin typeface="Segoe UI" pitchFamily="34" charset="0"/>
                <a:ea typeface="Segoe UI" pitchFamily="34" charset="-122"/>
                <a:cs typeface="Segoe UI" pitchFamily="34" charset="-120"/>
              </a:rPr>
              <a:t>recibe el evento</a:t>
            </a:r>
            <a:endParaRPr lang="en-US" sz="828" dirty="0"/>
          </a:p>
        </p:txBody>
      </p:sp>
      <p:sp>
        <p:nvSpPr>
          <p:cNvPr id="97" name="Shape 95"/>
          <p:cNvSpPr/>
          <p:nvPr/>
        </p:nvSpPr>
        <p:spPr>
          <a:xfrm>
            <a:off x="3951449" y="4825419"/>
            <a:ext cx="2680498" cy="366805"/>
          </a:xfrm>
          <a:prstGeom prst="roundRect">
            <a:avLst>
              <a:gd name="adj" fmla="val 2243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98" name="Shape 96"/>
          <p:cNvSpPr/>
          <p:nvPr/>
        </p:nvSpPr>
        <p:spPr>
          <a:xfrm>
            <a:off x="4042889" y="4858589"/>
            <a:ext cx="300467" cy="300467"/>
          </a:xfrm>
          <a:prstGeom prst="ellipse">
            <a:avLst/>
          </a:prstGeom>
          <a:solidFill>
            <a:srgbClr val="E3F4FA"/>
          </a:solidFill>
          <a:ln w="12700">
            <a:solidFill>
              <a:srgbClr val="E3F4FA"/>
            </a:solidFill>
            <a:prstDash val="solid"/>
          </a:ln>
        </p:spPr>
      </p:sp>
      <p:sp>
        <p:nvSpPr>
          <p:cNvPr id="99" name="Icono settings"/>
          <p:cNvSpPr/>
          <p:nvPr/>
        </p:nvSpPr>
        <p:spPr>
          <a:xfrm>
            <a:off x="4097753" y="4913453"/>
            <a:ext cx="190739" cy="190739"/>
          </a:xfrm>
          <a:custGeom>
            <a:avLst/>
            <a:gdLst/>
            <a:ahLst/>
            <a:cxnLst/>
            <a:rect l="l" t="t" r="r" b="b"/>
            <a:pathLst>
              <a:path w="190739" h="190739">
                <a:moveTo>
                  <a:pt x="97118" y="15895"/>
                </a:moveTo>
                <a:lnTo>
                  <a:pt x="93621" y="15895"/>
                </a:lnTo>
                <a:cubicBezTo>
                  <a:pt x="84842" y="15895"/>
                  <a:pt x="77726" y="23011"/>
                  <a:pt x="77726" y="31790"/>
                </a:cubicBezTo>
                <a:lnTo>
                  <a:pt x="77726" y="33220"/>
                </a:lnTo>
                <a:cubicBezTo>
                  <a:pt x="77720" y="38893"/>
                  <a:pt x="74691" y="44133"/>
                  <a:pt x="69779" y="46969"/>
                </a:cubicBezTo>
                <a:lnTo>
                  <a:pt x="66361" y="48956"/>
                </a:lnTo>
                <a:cubicBezTo>
                  <a:pt x="61443" y="51796"/>
                  <a:pt x="55384" y="51796"/>
                  <a:pt x="50466" y="48956"/>
                </a:cubicBezTo>
                <a:lnTo>
                  <a:pt x="49274" y="48320"/>
                </a:lnTo>
                <a:cubicBezTo>
                  <a:pt x="41680" y="43940"/>
                  <a:pt x="31972" y="46535"/>
                  <a:pt x="27578" y="54122"/>
                </a:cubicBezTo>
                <a:lnTo>
                  <a:pt x="25829" y="57142"/>
                </a:lnTo>
                <a:cubicBezTo>
                  <a:pt x="21448" y="64737"/>
                  <a:pt x="24044" y="74444"/>
                  <a:pt x="31631" y="78839"/>
                </a:cubicBezTo>
                <a:lnTo>
                  <a:pt x="32823" y="79633"/>
                </a:lnTo>
                <a:cubicBezTo>
                  <a:pt x="37711" y="82456"/>
                  <a:pt x="40736" y="87659"/>
                  <a:pt x="40770" y="93303"/>
                </a:cubicBezTo>
                <a:lnTo>
                  <a:pt x="40770" y="97356"/>
                </a:lnTo>
                <a:cubicBezTo>
                  <a:pt x="40793" y="103057"/>
                  <a:pt x="37760" y="108334"/>
                  <a:pt x="32823" y="111185"/>
                </a:cubicBezTo>
                <a:lnTo>
                  <a:pt x="31631" y="111900"/>
                </a:lnTo>
                <a:cubicBezTo>
                  <a:pt x="24044" y="116294"/>
                  <a:pt x="21448" y="126002"/>
                  <a:pt x="25829" y="133597"/>
                </a:cubicBezTo>
                <a:lnTo>
                  <a:pt x="27578" y="136617"/>
                </a:lnTo>
                <a:cubicBezTo>
                  <a:pt x="31972" y="144203"/>
                  <a:pt x="41680" y="146799"/>
                  <a:pt x="49274" y="142418"/>
                </a:cubicBezTo>
                <a:lnTo>
                  <a:pt x="50466" y="141782"/>
                </a:lnTo>
                <a:cubicBezTo>
                  <a:pt x="55384" y="138943"/>
                  <a:pt x="61443" y="138943"/>
                  <a:pt x="66361" y="141782"/>
                </a:cubicBezTo>
                <a:lnTo>
                  <a:pt x="69779" y="143769"/>
                </a:lnTo>
                <a:cubicBezTo>
                  <a:pt x="74691" y="146606"/>
                  <a:pt x="77720" y="151845"/>
                  <a:pt x="77726" y="157518"/>
                </a:cubicBezTo>
                <a:lnTo>
                  <a:pt x="77726" y="158949"/>
                </a:lnTo>
                <a:cubicBezTo>
                  <a:pt x="77726" y="167727"/>
                  <a:pt x="84842" y="174844"/>
                  <a:pt x="93621" y="174844"/>
                </a:cubicBezTo>
                <a:lnTo>
                  <a:pt x="97118" y="174844"/>
                </a:lnTo>
                <a:cubicBezTo>
                  <a:pt x="105896" y="174844"/>
                  <a:pt x="113013" y="167727"/>
                  <a:pt x="113013" y="158949"/>
                </a:cubicBezTo>
                <a:lnTo>
                  <a:pt x="113013" y="157518"/>
                </a:lnTo>
                <a:cubicBezTo>
                  <a:pt x="113018" y="151845"/>
                  <a:pt x="116047" y="146606"/>
                  <a:pt x="120960" y="143769"/>
                </a:cubicBezTo>
                <a:lnTo>
                  <a:pt x="124377" y="141782"/>
                </a:lnTo>
                <a:cubicBezTo>
                  <a:pt x="129295" y="138943"/>
                  <a:pt x="135354" y="138943"/>
                  <a:pt x="140272" y="141782"/>
                </a:cubicBezTo>
                <a:lnTo>
                  <a:pt x="141464" y="142418"/>
                </a:lnTo>
                <a:cubicBezTo>
                  <a:pt x="149059" y="146799"/>
                  <a:pt x="158767" y="144203"/>
                  <a:pt x="163161" y="136617"/>
                </a:cubicBezTo>
                <a:lnTo>
                  <a:pt x="164909" y="133517"/>
                </a:lnTo>
                <a:cubicBezTo>
                  <a:pt x="169290" y="125923"/>
                  <a:pt x="166695" y="116215"/>
                  <a:pt x="159108" y="111821"/>
                </a:cubicBezTo>
                <a:lnTo>
                  <a:pt x="157916" y="111185"/>
                </a:lnTo>
                <a:cubicBezTo>
                  <a:pt x="152978" y="108334"/>
                  <a:pt x="149946" y="103057"/>
                  <a:pt x="149968" y="97356"/>
                </a:cubicBezTo>
                <a:lnTo>
                  <a:pt x="149968" y="93382"/>
                </a:lnTo>
                <a:cubicBezTo>
                  <a:pt x="149946" y="87681"/>
                  <a:pt x="152978" y="82405"/>
                  <a:pt x="157916" y="79554"/>
                </a:cubicBezTo>
                <a:lnTo>
                  <a:pt x="159108" y="78839"/>
                </a:lnTo>
                <a:cubicBezTo>
                  <a:pt x="166695" y="74444"/>
                  <a:pt x="169290" y="64737"/>
                  <a:pt x="164909" y="57142"/>
                </a:cubicBezTo>
                <a:lnTo>
                  <a:pt x="163161" y="54122"/>
                </a:lnTo>
                <a:cubicBezTo>
                  <a:pt x="158767" y="46535"/>
                  <a:pt x="149059" y="43940"/>
                  <a:pt x="141464" y="48320"/>
                </a:cubicBezTo>
                <a:lnTo>
                  <a:pt x="140272" y="48956"/>
                </a:lnTo>
                <a:cubicBezTo>
                  <a:pt x="135354" y="51796"/>
                  <a:pt x="129295" y="51796"/>
                  <a:pt x="124377" y="48956"/>
                </a:cubicBezTo>
                <a:lnTo>
                  <a:pt x="120960" y="46969"/>
                </a:lnTo>
                <a:cubicBezTo>
                  <a:pt x="116047" y="44133"/>
                  <a:pt x="113018" y="38893"/>
                  <a:pt x="113013" y="33220"/>
                </a:cubicBezTo>
                <a:lnTo>
                  <a:pt x="113013" y="31790"/>
                </a:lnTo>
                <a:cubicBezTo>
                  <a:pt x="113013" y="23011"/>
                  <a:pt x="105896" y="15895"/>
                  <a:pt x="97118" y="15895"/>
                </a:cubicBezTo>
                <a:close/>
                <a:moveTo>
                  <a:pt x="119212" y="95369"/>
                </a:moveTo>
                <a:cubicBezTo>
                  <a:pt x="119212" y="108537"/>
                  <a:pt x="108537" y="119212"/>
                  <a:pt x="95369" y="119212"/>
                </a:cubicBezTo>
                <a:cubicBezTo>
                  <a:pt x="82202" y="119212"/>
                  <a:pt x="71527" y="108537"/>
                  <a:pt x="71527" y="95369"/>
                </a:cubicBezTo>
                <a:cubicBezTo>
                  <a:pt x="71527" y="82202"/>
                  <a:pt x="82202" y="71527"/>
                  <a:pt x="95369" y="71527"/>
                </a:cubicBezTo>
                <a:cubicBezTo>
                  <a:pt x="108537" y="71527"/>
                  <a:pt x="119212" y="82202"/>
                  <a:pt x="119212" y="95369"/>
                </a:cubicBezTo>
                <a:close/>
              </a:path>
            </a:pathLst>
          </a:custGeom>
          <a:noFill/>
          <a:ln w="15895" cap="rnd">
            <a:solidFill>
              <a:srgbClr val="0B6E8A"/>
            </a:solidFill>
            <a:prstDash val="solid"/>
            <a:round/>
          </a:ln>
        </p:spPr>
      </p:sp>
      <p:sp>
        <p:nvSpPr>
          <p:cNvPr id="100" name="Text 98"/>
          <p:cNvSpPr/>
          <p:nvPr/>
        </p:nvSpPr>
        <p:spPr>
          <a:xfrm>
            <a:off x="4398220" y="4825419"/>
            <a:ext cx="2178864"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ConfiguracionDominio</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@Bean: une puertos con adaptadores</a:t>
            </a:r>
            <a:endParaRPr lang="en-US" sz="900" dirty="0"/>
          </a:p>
        </p:txBody>
      </p:sp>
      <p:sp>
        <p:nvSpPr>
          <p:cNvPr id="101" name="Shape 99"/>
          <p:cNvSpPr/>
          <p:nvPr/>
        </p:nvSpPr>
        <p:spPr>
          <a:xfrm>
            <a:off x="7125723" y="4825419"/>
            <a:ext cx="3442324" cy="366805"/>
          </a:xfrm>
          <a:prstGeom prst="roundRect">
            <a:avLst>
              <a:gd name="adj" fmla="val 2243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02" name="Shape 100"/>
          <p:cNvSpPr/>
          <p:nvPr/>
        </p:nvSpPr>
        <p:spPr>
          <a:xfrm>
            <a:off x="7217163" y="4858589"/>
            <a:ext cx="300467" cy="300467"/>
          </a:xfrm>
          <a:prstGeom prst="ellipse">
            <a:avLst/>
          </a:prstGeom>
          <a:solidFill>
            <a:srgbClr val="E3F4FA"/>
          </a:solidFill>
          <a:ln w="12700">
            <a:solidFill>
              <a:srgbClr val="E3F4FA"/>
            </a:solidFill>
            <a:prstDash val="solid"/>
          </a:ln>
        </p:spPr>
      </p:sp>
      <p:sp>
        <p:nvSpPr>
          <p:cNvPr id="103" name="Icono waypoints"/>
          <p:cNvSpPr/>
          <p:nvPr/>
        </p:nvSpPr>
        <p:spPr>
          <a:xfrm>
            <a:off x="7272027" y="4913453"/>
            <a:ext cx="190739" cy="190739"/>
          </a:xfrm>
          <a:custGeom>
            <a:avLst/>
            <a:gdLst/>
            <a:ahLst/>
            <a:cxnLst/>
            <a:rect l="l" t="t" r="r" b="b"/>
            <a:pathLst>
              <a:path w="190739" h="190739">
                <a:moveTo>
                  <a:pt x="115238" y="35763"/>
                </a:moveTo>
                <a:cubicBezTo>
                  <a:pt x="115238" y="46737"/>
                  <a:pt x="106342" y="55632"/>
                  <a:pt x="95369" y="55632"/>
                </a:cubicBezTo>
                <a:cubicBezTo>
                  <a:pt x="84396" y="55632"/>
                  <a:pt x="75501" y="46737"/>
                  <a:pt x="75501" y="35763"/>
                </a:cubicBezTo>
                <a:cubicBezTo>
                  <a:pt x="75501" y="24790"/>
                  <a:pt x="84396" y="15895"/>
                  <a:pt x="95369" y="15895"/>
                </a:cubicBezTo>
                <a:cubicBezTo>
                  <a:pt x="106342" y="15895"/>
                  <a:pt x="115238" y="24790"/>
                  <a:pt x="115238" y="35763"/>
                </a:cubicBezTo>
                <a:close/>
                <a:moveTo>
                  <a:pt x="81064" y="50069"/>
                </a:moveTo>
                <a:lnTo>
                  <a:pt x="50069" y="81064"/>
                </a:lnTo>
                <a:moveTo>
                  <a:pt x="55632" y="95369"/>
                </a:moveTo>
                <a:cubicBezTo>
                  <a:pt x="55632" y="106342"/>
                  <a:pt x="46737" y="115238"/>
                  <a:pt x="35763" y="115238"/>
                </a:cubicBezTo>
                <a:cubicBezTo>
                  <a:pt x="24790" y="115238"/>
                  <a:pt x="15895" y="106342"/>
                  <a:pt x="15895" y="95369"/>
                </a:cubicBezTo>
                <a:cubicBezTo>
                  <a:pt x="15895" y="84396"/>
                  <a:pt x="24790" y="75501"/>
                  <a:pt x="35763" y="75501"/>
                </a:cubicBezTo>
                <a:cubicBezTo>
                  <a:pt x="46737" y="75501"/>
                  <a:pt x="55632" y="84396"/>
                  <a:pt x="55632" y="95369"/>
                </a:cubicBezTo>
                <a:close/>
                <a:moveTo>
                  <a:pt x="55632" y="95369"/>
                </a:moveTo>
                <a:lnTo>
                  <a:pt x="135107" y="95369"/>
                </a:lnTo>
                <a:moveTo>
                  <a:pt x="174844" y="95369"/>
                </a:moveTo>
                <a:cubicBezTo>
                  <a:pt x="174844" y="106342"/>
                  <a:pt x="165948" y="115238"/>
                  <a:pt x="154975" y="115238"/>
                </a:cubicBezTo>
                <a:cubicBezTo>
                  <a:pt x="144002" y="115238"/>
                  <a:pt x="135107" y="106342"/>
                  <a:pt x="135107" y="95369"/>
                </a:cubicBezTo>
                <a:cubicBezTo>
                  <a:pt x="135107" y="84396"/>
                  <a:pt x="144002" y="75501"/>
                  <a:pt x="154975" y="75501"/>
                </a:cubicBezTo>
                <a:cubicBezTo>
                  <a:pt x="165948" y="75501"/>
                  <a:pt x="174844" y="84396"/>
                  <a:pt x="174844" y="95369"/>
                </a:cubicBezTo>
                <a:close/>
                <a:moveTo>
                  <a:pt x="109675" y="140670"/>
                </a:moveTo>
                <a:lnTo>
                  <a:pt x="140670" y="109675"/>
                </a:lnTo>
                <a:moveTo>
                  <a:pt x="115238" y="154975"/>
                </a:moveTo>
                <a:cubicBezTo>
                  <a:pt x="115238" y="165948"/>
                  <a:pt x="106342" y="174844"/>
                  <a:pt x="95369" y="174844"/>
                </a:cubicBezTo>
                <a:cubicBezTo>
                  <a:pt x="84396" y="174844"/>
                  <a:pt x="75501" y="165948"/>
                  <a:pt x="75501" y="154975"/>
                </a:cubicBezTo>
                <a:cubicBezTo>
                  <a:pt x="75501" y="144002"/>
                  <a:pt x="84396" y="135107"/>
                  <a:pt x="95369" y="135107"/>
                </a:cubicBezTo>
                <a:cubicBezTo>
                  <a:pt x="106342" y="135107"/>
                  <a:pt x="115238" y="144002"/>
                  <a:pt x="115238" y="154975"/>
                </a:cubicBezTo>
                <a:close/>
              </a:path>
            </a:pathLst>
          </a:custGeom>
          <a:noFill/>
          <a:ln w="15895" cap="rnd">
            <a:solidFill>
              <a:srgbClr val="0B6E8A"/>
            </a:solidFill>
            <a:prstDash val="solid"/>
            <a:round/>
          </a:ln>
        </p:spPr>
      </p:sp>
      <p:sp>
        <p:nvSpPr>
          <p:cNvPr id="104" name="Text 102"/>
          <p:cNvSpPr/>
          <p:nvPr/>
        </p:nvSpPr>
        <p:spPr>
          <a:xfrm>
            <a:off x="7572494" y="4825419"/>
            <a:ext cx="2940689" cy="366805"/>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PropagacionDeTraza</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RestClient que lleva el traceId al otro servicio</a:t>
            </a:r>
            <a:endParaRPr lang="en-US" sz="900" dirty="0"/>
          </a:p>
        </p:txBody>
      </p:sp>
      <p:sp>
        <p:nvSpPr>
          <p:cNvPr id="105" name="Shape 10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106" name="Text 10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9</a:t>
            </a:r>
            <a:endParaRPr lang="en-US" sz="1400" dirty="0"/>
          </a:p>
        </p:txBody>
      </p:sp>
      <p:sp>
        <p:nvSpPr>
          <p:cNvPr id="107" name="Text 10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ConfiguracionDominio arma las piezas con @Bean, y el RestClient lleva el traceId al otro servicio.</a:t>
            </a:r>
            <a:endParaRPr lang="en-US" sz="1300" dirty="0"/>
          </a:p>
        </p:txBody>
      </p:sp>
      <p:sp>
        <p:nvSpPr>
          <p:cNvPr id="108" name="Text 10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Entrada: recibe el evento y las consultas</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Consumo idempotente: ¿este evento ya llegó?</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Dominio: crea el aviso</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Salida: avisos en memoria y eventos en PostgreSQL</a:t>
            </a:r>
            <a:endParaRPr lang="en-US" sz="1100" dirty="0"/>
          </a:p>
        </p:txBody>
      </p:sp>
      <p:sp>
        <p:nvSpPr>
          <p:cNvPr id="9" name="Shape 7"/>
          <p:cNvSpPr/>
          <p:nvPr/>
        </p:nvSpPr>
        <p:spPr>
          <a:xfrm>
            <a:off x="2413102" y="2240463"/>
            <a:ext cx="2700680" cy="3273552"/>
          </a:xfrm>
          <a:prstGeom prst="roundRect">
            <a:avLst>
              <a:gd name="adj" fmla="val 4063"/>
            </a:avLst>
          </a:prstGeom>
          <a:solidFill>
            <a:srgbClr val="F7F9FC"/>
          </a:solidFill>
          <a:ln w="12700">
            <a:solidFill>
              <a:srgbClr val="C7D2E2"/>
            </a:solidFill>
            <a:prstDash val="solid"/>
          </a:ln>
        </p:spPr>
      </p:sp>
      <p:sp>
        <p:nvSpPr>
          <p:cNvPr id="10" name="Text 8"/>
          <p:cNvSpPr/>
          <p:nvPr/>
        </p:nvSpPr>
        <p:spPr>
          <a:xfrm>
            <a:off x="2486254" y="22953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11" name="Shape 9"/>
          <p:cNvSpPr/>
          <p:nvPr/>
        </p:nvSpPr>
        <p:spPr>
          <a:xfrm>
            <a:off x="5359298" y="2240463"/>
            <a:ext cx="2700680" cy="3273552"/>
          </a:xfrm>
          <a:prstGeom prst="roundRect">
            <a:avLst>
              <a:gd name="adj" fmla="val 4063"/>
            </a:avLst>
          </a:prstGeom>
          <a:solidFill>
            <a:srgbClr val="E5F5FA"/>
          </a:solidFill>
          <a:ln w="12700">
            <a:solidFill>
              <a:srgbClr val="9DD7E8"/>
            </a:solidFill>
            <a:prstDash val="solid"/>
          </a:ln>
        </p:spPr>
      </p:sp>
      <p:sp>
        <p:nvSpPr>
          <p:cNvPr id="12" name="Text 10"/>
          <p:cNvSpPr/>
          <p:nvPr/>
        </p:nvSpPr>
        <p:spPr>
          <a:xfrm>
            <a:off x="5432450" y="22953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13" name="Shape 11"/>
          <p:cNvSpPr/>
          <p:nvPr/>
        </p:nvSpPr>
        <p:spPr>
          <a:xfrm>
            <a:off x="8305495" y="2240463"/>
            <a:ext cx="3191713" cy="3273552"/>
          </a:xfrm>
          <a:prstGeom prst="roundRect">
            <a:avLst>
              <a:gd name="adj" fmla="val 3438"/>
            </a:avLst>
          </a:prstGeom>
          <a:solidFill>
            <a:srgbClr val="EEF2F7"/>
          </a:solidFill>
          <a:ln w="12700">
            <a:solidFill>
              <a:srgbClr val="C2CEDD"/>
            </a:solidFill>
            <a:prstDash val="solid"/>
          </a:ln>
        </p:spPr>
      </p:sp>
      <p:sp>
        <p:nvSpPr>
          <p:cNvPr id="14" name="Text 12"/>
          <p:cNvSpPr/>
          <p:nvPr/>
        </p:nvSpPr>
        <p:spPr>
          <a:xfrm>
            <a:off x="8378647" y="22953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5" name="Shape 13"/>
          <p:cNvSpPr/>
          <p:nvPr/>
        </p:nvSpPr>
        <p:spPr>
          <a:xfrm>
            <a:off x="2249424" y="2886989"/>
            <a:ext cx="327355" cy="0"/>
          </a:xfrm>
          <a:prstGeom prst="line">
            <a:avLst/>
          </a:prstGeom>
          <a:noFill/>
          <a:ln w="25400">
            <a:solidFill>
              <a:srgbClr val="55627E"/>
            </a:solidFill>
            <a:prstDash val="dash"/>
            <a:tailEnd type="triangle"/>
          </a:ln>
        </p:spPr>
      </p:sp>
      <p:sp>
        <p:nvSpPr>
          <p:cNvPr id="16" name="Text 14"/>
          <p:cNvSpPr/>
          <p:nvPr/>
        </p:nvSpPr>
        <p:spPr>
          <a:xfrm>
            <a:off x="2162556" y="26578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7" name="Text 15"/>
          <p:cNvSpPr/>
          <p:nvPr/>
        </p:nvSpPr>
        <p:spPr>
          <a:xfrm>
            <a:off x="2303374" y="27772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8" name="Shape 16"/>
          <p:cNvSpPr/>
          <p:nvPr/>
        </p:nvSpPr>
        <p:spPr>
          <a:xfrm>
            <a:off x="3763442" y="3140690"/>
            <a:ext cx="0" cy="458297"/>
          </a:xfrm>
          <a:prstGeom prst="line">
            <a:avLst/>
          </a:prstGeom>
          <a:noFill/>
          <a:ln w="31750">
            <a:solidFill>
              <a:srgbClr val="55627E"/>
            </a:solidFill>
            <a:prstDash val="sysDot"/>
            <a:tailEnd type="triangle"/>
          </a:ln>
        </p:spPr>
      </p:sp>
      <p:sp>
        <p:nvSpPr>
          <p:cNvPr id="19" name="Text 17"/>
          <p:cNvSpPr/>
          <p:nvPr/>
        </p:nvSpPr>
        <p:spPr>
          <a:xfrm>
            <a:off x="3653714" y="32273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0" name="Shape 18"/>
          <p:cNvSpPr/>
          <p:nvPr/>
        </p:nvSpPr>
        <p:spPr>
          <a:xfrm flipV="1">
            <a:off x="4704588" y="3402574"/>
            <a:ext cx="0" cy="196413"/>
          </a:xfrm>
          <a:prstGeom prst="line">
            <a:avLst/>
          </a:prstGeom>
          <a:noFill/>
          <a:ln w="31750">
            <a:solidFill>
              <a:srgbClr val="55627E"/>
            </a:solidFill>
            <a:prstDash val="sysDot"/>
          </a:ln>
        </p:spPr>
      </p:sp>
      <p:sp>
        <p:nvSpPr>
          <p:cNvPr id="21" name="Shape 19"/>
          <p:cNvSpPr/>
          <p:nvPr/>
        </p:nvSpPr>
        <p:spPr>
          <a:xfrm>
            <a:off x="4704588" y="3402574"/>
            <a:ext cx="3478149" cy="0"/>
          </a:xfrm>
          <a:prstGeom prst="line">
            <a:avLst/>
          </a:prstGeom>
          <a:noFill/>
          <a:ln w="31750">
            <a:solidFill>
              <a:srgbClr val="55627E"/>
            </a:solidFill>
            <a:prstDash val="sysDot"/>
          </a:ln>
        </p:spPr>
      </p:sp>
      <p:sp>
        <p:nvSpPr>
          <p:cNvPr id="22" name="Shape 20"/>
          <p:cNvSpPr/>
          <p:nvPr/>
        </p:nvSpPr>
        <p:spPr>
          <a:xfrm>
            <a:off x="8182737" y="3402574"/>
            <a:ext cx="0" cy="450113"/>
          </a:xfrm>
          <a:prstGeom prst="line">
            <a:avLst/>
          </a:prstGeom>
          <a:noFill/>
          <a:ln w="31750">
            <a:solidFill>
              <a:srgbClr val="55627E"/>
            </a:solidFill>
            <a:prstDash val="sysDot"/>
          </a:ln>
        </p:spPr>
      </p:sp>
      <p:sp>
        <p:nvSpPr>
          <p:cNvPr id="23" name="Shape 21"/>
          <p:cNvSpPr/>
          <p:nvPr/>
        </p:nvSpPr>
        <p:spPr>
          <a:xfrm>
            <a:off x="8182737" y="3852687"/>
            <a:ext cx="286436" cy="0"/>
          </a:xfrm>
          <a:prstGeom prst="line">
            <a:avLst/>
          </a:prstGeom>
          <a:noFill/>
          <a:ln w="31750">
            <a:solidFill>
              <a:srgbClr val="55627E"/>
            </a:solidFill>
            <a:prstDash val="sysDot"/>
            <a:tailEnd type="triangle"/>
          </a:ln>
        </p:spPr>
      </p:sp>
      <p:sp>
        <p:nvSpPr>
          <p:cNvPr id="24" name="Text 22"/>
          <p:cNvSpPr/>
          <p:nvPr/>
        </p:nvSpPr>
        <p:spPr>
          <a:xfrm>
            <a:off x="5757863" y="31734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5" name="Text 23"/>
          <p:cNvSpPr/>
          <p:nvPr/>
        </p:nvSpPr>
        <p:spPr>
          <a:xfrm>
            <a:off x="4594860" y="33910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6" name="Shape 24"/>
          <p:cNvSpPr/>
          <p:nvPr/>
        </p:nvSpPr>
        <p:spPr>
          <a:xfrm flipV="1">
            <a:off x="9901352" y="3140690"/>
            <a:ext cx="0" cy="458297"/>
          </a:xfrm>
          <a:prstGeom prst="line">
            <a:avLst/>
          </a:prstGeom>
          <a:noFill/>
          <a:ln w="31750">
            <a:solidFill>
              <a:srgbClr val="55627E"/>
            </a:solidFill>
            <a:prstDash val="sysDot"/>
            <a:tailEnd type="triangle"/>
          </a:ln>
        </p:spPr>
      </p:sp>
      <p:sp>
        <p:nvSpPr>
          <p:cNvPr id="27" name="Text 25"/>
          <p:cNvSpPr/>
          <p:nvPr/>
        </p:nvSpPr>
        <p:spPr>
          <a:xfrm>
            <a:off x="9983191" y="32471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8" name="Text 26"/>
          <p:cNvSpPr/>
          <p:nvPr/>
        </p:nvSpPr>
        <p:spPr>
          <a:xfrm>
            <a:off x="9791624" y="32928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9" name="Shape 27"/>
          <p:cNvSpPr/>
          <p:nvPr/>
        </p:nvSpPr>
        <p:spPr>
          <a:xfrm>
            <a:off x="4950104" y="3852687"/>
            <a:ext cx="572872" cy="0"/>
          </a:xfrm>
          <a:prstGeom prst="line">
            <a:avLst/>
          </a:prstGeom>
          <a:noFill/>
          <a:ln w="31750">
            <a:solidFill>
              <a:srgbClr val="55627E"/>
            </a:solidFill>
            <a:prstDash val="sysDot"/>
            <a:tailEnd type="triangle"/>
          </a:ln>
        </p:spPr>
      </p:sp>
      <p:sp>
        <p:nvSpPr>
          <p:cNvPr id="30" name="Text 28"/>
          <p:cNvSpPr/>
          <p:nvPr/>
        </p:nvSpPr>
        <p:spPr>
          <a:xfrm>
            <a:off x="4830547" y="3623584"/>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 nuevo</a:t>
            </a:r>
            <a:endParaRPr lang="en-US" sz="800" dirty="0"/>
          </a:p>
        </p:txBody>
      </p:sp>
      <p:sp>
        <p:nvSpPr>
          <p:cNvPr id="31" name="Text 29"/>
          <p:cNvSpPr/>
          <p:nvPr/>
        </p:nvSpPr>
        <p:spPr>
          <a:xfrm>
            <a:off x="5036790" y="374295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2" name="Shape 30"/>
          <p:cNvSpPr/>
          <p:nvPr/>
        </p:nvSpPr>
        <p:spPr>
          <a:xfrm flipV="1">
            <a:off x="6709639" y="3140690"/>
            <a:ext cx="0" cy="458297"/>
          </a:xfrm>
          <a:prstGeom prst="line">
            <a:avLst/>
          </a:prstGeom>
          <a:noFill/>
          <a:ln w="31750">
            <a:solidFill>
              <a:srgbClr val="55627E"/>
            </a:solidFill>
            <a:prstDash val="sysDot"/>
            <a:tailEnd type="triangle"/>
          </a:ln>
        </p:spPr>
      </p:sp>
      <p:sp>
        <p:nvSpPr>
          <p:cNvPr id="33" name="Text 31"/>
          <p:cNvSpPr/>
          <p:nvPr/>
        </p:nvSpPr>
        <p:spPr>
          <a:xfrm>
            <a:off x="6791477" y="324712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34" name="Text 32"/>
          <p:cNvSpPr/>
          <p:nvPr/>
        </p:nvSpPr>
        <p:spPr>
          <a:xfrm>
            <a:off x="6599911" y="32928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5" name="Shape 33"/>
          <p:cNvSpPr/>
          <p:nvPr/>
        </p:nvSpPr>
        <p:spPr>
          <a:xfrm>
            <a:off x="6709639" y="4106388"/>
            <a:ext cx="0" cy="458297"/>
          </a:xfrm>
          <a:prstGeom prst="line">
            <a:avLst/>
          </a:prstGeom>
          <a:noFill/>
          <a:ln w="22860">
            <a:solidFill>
              <a:srgbClr val="1F4E8C"/>
            </a:solidFill>
            <a:prstDash val="lgDash"/>
            <a:tailEnd type="arrow"/>
          </a:ln>
        </p:spPr>
      </p:sp>
      <p:sp>
        <p:nvSpPr>
          <p:cNvPr id="36" name="Text 34"/>
          <p:cNvSpPr/>
          <p:nvPr/>
        </p:nvSpPr>
        <p:spPr>
          <a:xfrm>
            <a:off x="6791477" y="4212824"/>
            <a:ext cx="501091"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guarda</a:t>
            </a:r>
            <a:endParaRPr lang="en-US" sz="800" dirty="0"/>
          </a:p>
        </p:txBody>
      </p:sp>
      <p:sp>
        <p:nvSpPr>
          <p:cNvPr id="37" name="Text 35"/>
          <p:cNvSpPr/>
          <p:nvPr/>
        </p:nvSpPr>
        <p:spPr>
          <a:xfrm>
            <a:off x="6599911" y="419307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8" name="Shape 36"/>
          <p:cNvSpPr/>
          <p:nvPr/>
        </p:nvSpPr>
        <p:spPr>
          <a:xfrm flipH="1">
            <a:off x="7896301" y="4818385"/>
            <a:ext cx="572872" cy="0"/>
          </a:xfrm>
          <a:prstGeom prst="line">
            <a:avLst/>
          </a:prstGeom>
          <a:noFill/>
          <a:ln w="22860">
            <a:solidFill>
              <a:srgbClr val="1F4E8C"/>
            </a:solidFill>
            <a:prstDash val="lgDash"/>
            <a:tailEnd type="arrow"/>
          </a:ln>
        </p:spPr>
      </p:sp>
      <p:sp>
        <p:nvSpPr>
          <p:cNvPr id="39" name="Text 37"/>
          <p:cNvSpPr/>
          <p:nvPr/>
        </p:nvSpPr>
        <p:spPr>
          <a:xfrm>
            <a:off x="7807833" y="4589282"/>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40" name="Text 38"/>
          <p:cNvSpPr/>
          <p:nvPr/>
        </p:nvSpPr>
        <p:spPr>
          <a:xfrm>
            <a:off x="8163032" y="470865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41" name="Shape 39"/>
          <p:cNvSpPr/>
          <p:nvPr/>
        </p:nvSpPr>
        <p:spPr>
          <a:xfrm>
            <a:off x="2249424" y="4818385"/>
            <a:ext cx="327355" cy="0"/>
          </a:xfrm>
          <a:prstGeom prst="line">
            <a:avLst/>
          </a:prstGeom>
          <a:noFill/>
          <a:ln w="31750">
            <a:solidFill>
              <a:srgbClr val="2E6DB4"/>
            </a:solidFill>
            <a:prstDash val="solid"/>
            <a:tailEnd type="triangle"/>
          </a:ln>
        </p:spPr>
      </p:sp>
      <p:sp>
        <p:nvSpPr>
          <p:cNvPr id="42" name="Text 40"/>
          <p:cNvSpPr/>
          <p:nvPr/>
        </p:nvSpPr>
        <p:spPr>
          <a:xfrm>
            <a:off x="2303374" y="470865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3" name="Shape 41"/>
          <p:cNvSpPr/>
          <p:nvPr/>
        </p:nvSpPr>
        <p:spPr>
          <a:xfrm>
            <a:off x="4950104" y="4818385"/>
            <a:ext cx="286436" cy="0"/>
          </a:xfrm>
          <a:prstGeom prst="line">
            <a:avLst/>
          </a:prstGeom>
          <a:noFill/>
          <a:ln w="31750">
            <a:solidFill>
              <a:srgbClr val="55627E"/>
            </a:solidFill>
            <a:prstDash val="sysDot"/>
          </a:ln>
        </p:spPr>
      </p:sp>
      <p:sp>
        <p:nvSpPr>
          <p:cNvPr id="44" name="Shape 42"/>
          <p:cNvSpPr/>
          <p:nvPr/>
        </p:nvSpPr>
        <p:spPr>
          <a:xfrm flipV="1">
            <a:off x="5236540" y="3959078"/>
            <a:ext cx="0" cy="859307"/>
          </a:xfrm>
          <a:prstGeom prst="line">
            <a:avLst/>
          </a:prstGeom>
          <a:noFill/>
          <a:ln w="31750">
            <a:solidFill>
              <a:srgbClr val="55627E"/>
            </a:solidFill>
            <a:prstDash val="sysDot"/>
          </a:ln>
        </p:spPr>
      </p:sp>
      <p:sp>
        <p:nvSpPr>
          <p:cNvPr id="45" name="Shape 43"/>
          <p:cNvSpPr/>
          <p:nvPr/>
        </p:nvSpPr>
        <p:spPr>
          <a:xfrm>
            <a:off x="5236540" y="3959078"/>
            <a:ext cx="286436" cy="0"/>
          </a:xfrm>
          <a:prstGeom prst="line">
            <a:avLst/>
          </a:prstGeom>
          <a:noFill/>
          <a:ln w="31750">
            <a:solidFill>
              <a:srgbClr val="55627E"/>
            </a:solidFill>
            <a:prstDash val="sysDot"/>
            <a:tailEnd type="triangle"/>
          </a:ln>
        </p:spPr>
      </p:sp>
      <p:sp>
        <p:nvSpPr>
          <p:cNvPr id="46" name="Text 44"/>
          <p:cNvSpPr/>
          <p:nvPr/>
        </p:nvSpPr>
        <p:spPr>
          <a:xfrm>
            <a:off x="4983594" y="47086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7" name="Text 45"/>
          <p:cNvSpPr/>
          <p:nvPr/>
        </p:nvSpPr>
        <p:spPr>
          <a:xfrm>
            <a:off x="694487" y="26332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8" name="Shape 46"/>
          <p:cNvSpPr/>
          <p:nvPr/>
        </p:nvSpPr>
        <p:spPr>
          <a:xfrm>
            <a:off x="694487" y="4564685"/>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785927" y="4631597"/>
            <a:ext cx="373576" cy="373576"/>
          </a:xfrm>
          <a:prstGeom prst="ellipse">
            <a:avLst/>
          </a:prstGeom>
          <a:solidFill>
            <a:srgbClr val="E2E5EA"/>
          </a:solidFill>
          <a:ln w="12700">
            <a:solidFill>
              <a:srgbClr val="E2E5EA"/>
            </a:solidFill>
            <a:prstDash val="solid"/>
          </a:ln>
        </p:spPr>
      </p:sp>
      <p:sp>
        <p:nvSpPr>
          <p:cNvPr id="50" name="Icono monitor"/>
          <p:cNvSpPr/>
          <p:nvPr/>
        </p:nvSpPr>
        <p:spPr>
          <a:xfrm>
            <a:off x="840791" y="46864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0B2350"/>
            </a:solidFill>
            <a:prstDash val="solid"/>
            <a:round/>
          </a:ln>
        </p:spPr>
      </p:sp>
      <p:sp>
        <p:nvSpPr>
          <p:cNvPr id="51" name="Text 49"/>
          <p:cNvSpPr/>
          <p:nvPr/>
        </p:nvSpPr>
        <p:spPr>
          <a:xfrm>
            <a:off x="1214367" y="45646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consulta los avisos</a:t>
            </a:r>
            <a:endParaRPr lang="en-US" sz="967" dirty="0"/>
          </a:p>
        </p:txBody>
      </p:sp>
      <p:sp>
        <p:nvSpPr>
          <p:cNvPr id="52" name="Shape 50"/>
          <p:cNvSpPr/>
          <p:nvPr/>
        </p:nvSpPr>
        <p:spPr>
          <a:xfrm>
            <a:off x="2576779" y="26332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700201"/>
            <a:ext cx="373576" cy="373576"/>
          </a:xfrm>
          <a:prstGeom prst="ellipse">
            <a:avLst/>
          </a:prstGeom>
          <a:solidFill>
            <a:srgbClr val="EBECF0"/>
          </a:solidFill>
          <a:ln w="12700">
            <a:solidFill>
              <a:srgbClr val="EBECF0"/>
            </a:solidFill>
            <a:prstDash val="solid"/>
          </a:ln>
        </p:spPr>
      </p:sp>
      <p:sp>
        <p:nvSpPr>
          <p:cNvPr id="54" name="Icono code"/>
          <p:cNvSpPr/>
          <p:nvPr/>
        </p:nvSpPr>
        <p:spPr>
          <a:xfrm>
            <a:off x="2723083" y="27550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5" name="Text 53"/>
          <p:cNvSpPr/>
          <p:nvPr/>
        </p:nvSpPr>
        <p:spPr>
          <a:xfrm>
            <a:off x="3096659" y="26332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6" name="Shape 54"/>
          <p:cNvSpPr/>
          <p:nvPr/>
        </p:nvSpPr>
        <p:spPr>
          <a:xfrm>
            <a:off x="2576779" y="35989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7" name="Shape 55"/>
          <p:cNvSpPr/>
          <p:nvPr/>
        </p:nvSpPr>
        <p:spPr>
          <a:xfrm>
            <a:off x="2668219" y="3665899"/>
            <a:ext cx="373576" cy="373576"/>
          </a:xfrm>
          <a:prstGeom prst="ellipse">
            <a:avLst/>
          </a:prstGeom>
          <a:solidFill>
            <a:srgbClr val="EBECF0"/>
          </a:solidFill>
          <a:ln w="12700">
            <a:solidFill>
              <a:srgbClr val="EBECF0"/>
            </a:solidFill>
            <a:prstDash val="solid"/>
          </a:ln>
        </p:spPr>
      </p:sp>
      <p:sp>
        <p:nvSpPr>
          <p:cNvPr id="58" name="Icono fingerprint"/>
          <p:cNvSpPr/>
          <p:nvPr/>
        </p:nvSpPr>
        <p:spPr>
          <a:xfrm>
            <a:off x="2723083" y="37207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9" name="Text 57"/>
          <p:cNvSpPr/>
          <p:nvPr/>
        </p:nvSpPr>
        <p:spPr>
          <a:xfrm>
            <a:off x="3096659" y="35989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60" name="Shape 58"/>
          <p:cNvSpPr/>
          <p:nvPr/>
        </p:nvSpPr>
        <p:spPr>
          <a:xfrm>
            <a:off x="2576779" y="4564685"/>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668219" y="4631597"/>
            <a:ext cx="373576" cy="373576"/>
          </a:xfrm>
          <a:prstGeom prst="ellipse">
            <a:avLst/>
          </a:prstGeom>
          <a:solidFill>
            <a:srgbClr val="EBECF0"/>
          </a:solidFill>
          <a:ln w="12700">
            <a:solidFill>
              <a:srgbClr val="EBECF0"/>
            </a:solidFill>
            <a:prstDash val="solid"/>
          </a:ln>
        </p:spPr>
      </p:sp>
      <p:sp>
        <p:nvSpPr>
          <p:cNvPr id="62" name="Icono code"/>
          <p:cNvSpPr/>
          <p:nvPr/>
        </p:nvSpPr>
        <p:spPr>
          <a:xfrm>
            <a:off x="2723083" y="46864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63" name="Text 61"/>
          <p:cNvSpPr/>
          <p:nvPr/>
        </p:nvSpPr>
        <p:spPr>
          <a:xfrm>
            <a:off x="3096659" y="45646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GET /notificaciones</a:t>
            </a:r>
            <a:endParaRPr lang="en-US" sz="967" dirty="0"/>
          </a:p>
        </p:txBody>
      </p:sp>
      <p:sp>
        <p:nvSpPr>
          <p:cNvPr id="64" name="Shape 62"/>
          <p:cNvSpPr/>
          <p:nvPr/>
        </p:nvSpPr>
        <p:spPr>
          <a:xfrm>
            <a:off x="5522976" y="2633289"/>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5" name="Shape 63"/>
          <p:cNvSpPr/>
          <p:nvPr/>
        </p:nvSpPr>
        <p:spPr>
          <a:xfrm>
            <a:off x="5614416" y="2700201"/>
            <a:ext cx="373576" cy="373576"/>
          </a:xfrm>
          <a:prstGeom prst="ellipse">
            <a:avLst/>
          </a:prstGeom>
          <a:solidFill>
            <a:srgbClr val="E2EEF1"/>
          </a:solidFill>
          <a:ln w="12700">
            <a:solidFill>
              <a:srgbClr val="E2EEF1"/>
            </a:solidFill>
            <a:prstDash val="solid"/>
          </a:ln>
        </p:spPr>
      </p:sp>
      <p:sp>
        <p:nvSpPr>
          <p:cNvPr id="66" name="Icono file-text"/>
          <p:cNvSpPr/>
          <p:nvPr/>
        </p:nvSpPr>
        <p:spPr>
          <a:xfrm>
            <a:off x="5669280" y="27550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7" name="Text 65"/>
          <p:cNvSpPr/>
          <p:nvPr/>
        </p:nvSpPr>
        <p:spPr>
          <a:xfrm>
            <a:off x="6042856" y="26332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8" name="Shape 66"/>
          <p:cNvSpPr/>
          <p:nvPr/>
        </p:nvSpPr>
        <p:spPr>
          <a:xfrm>
            <a:off x="5522976" y="3598987"/>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9" name="Shape 67"/>
          <p:cNvSpPr/>
          <p:nvPr/>
        </p:nvSpPr>
        <p:spPr>
          <a:xfrm>
            <a:off x="5614416" y="3665899"/>
            <a:ext cx="373576" cy="373576"/>
          </a:xfrm>
          <a:prstGeom prst="ellipse">
            <a:avLst/>
          </a:prstGeom>
          <a:solidFill>
            <a:srgbClr val="E2EEF1"/>
          </a:solidFill>
          <a:ln w="12700">
            <a:solidFill>
              <a:srgbClr val="E2EEF1"/>
            </a:solidFill>
            <a:prstDash val="solid"/>
          </a:ln>
        </p:spPr>
      </p:sp>
      <p:sp>
        <p:nvSpPr>
          <p:cNvPr id="70" name="Icono settings"/>
          <p:cNvSpPr/>
          <p:nvPr/>
        </p:nvSpPr>
        <p:spPr>
          <a:xfrm>
            <a:off x="5669280" y="37207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71" name="Text 69"/>
          <p:cNvSpPr/>
          <p:nvPr/>
        </p:nvSpPr>
        <p:spPr>
          <a:xfrm>
            <a:off x="6042856" y="35989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72" name="Shape 70"/>
          <p:cNvSpPr/>
          <p:nvPr/>
        </p:nvSpPr>
        <p:spPr>
          <a:xfrm>
            <a:off x="5522976" y="4564685"/>
            <a:ext cx="2373325" cy="507401"/>
          </a:xfrm>
          <a:prstGeom prst="roundRect">
            <a:avLst>
              <a:gd name="adj" fmla="val 16219"/>
            </a:avLst>
          </a:prstGeom>
          <a:solidFill>
            <a:srgbClr val="FFFFFF"/>
          </a:solidFill>
          <a:ln w="12700">
            <a:solidFill>
              <a:srgbClr val="91BECA"/>
            </a:solidFill>
            <a:prstDash val="dash"/>
          </a:ln>
          <a:effectLst>
            <a:outerShdw sx="100000" sy="100000" kx="0" ky="0" algn="bl" rotWithShape="0" blurRad="76200" dist="19050" dir="5400000">
              <a:srgbClr val="0B1F3A">
                <a:alpha val="14000"/>
              </a:srgbClr>
            </a:outerShdw>
          </a:effectLst>
        </p:spPr>
      </p:sp>
      <p:sp>
        <p:nvSpPr>
          <p:cNvPr id="73" name="Shape 71"/>
          <p:cNvSpPr/>
          <p:nvPr/>
        </p:nvSpPr>
        <p:spPr>
          <a:xfrm>
            <a:off x="5614416" y="4631597"/>
            <a:ext cx="373576" cy="373576"/>
          </a:xfrm>
          <a:prstGeom prst="ellipse">
            <a:avLst/>
          </a:prstGeom>
          <a:solidFill>
            <a:srgbClr val="E2EEF1"/>
          </a:solidFill>
          <a:ln w="12700">
            <a:solidFill>
              <a:srgbClr val="E2EEF1"/>
            </a:solidFill>
            <a:prstDash val="solid"/>
          </a:ln>
        </p:spPr>
      </p:sp>
      <p:sp>
        <p:nvSpPr>
          <p:cNvPr id="74" name="Icono plug"/>
          <p:cNvSpPr/>
          <p:nvPr/>
        </p:nvSpPr>
        <p:spPr>
          <a:xfrm>
            <a:off x="5669280" y="46864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5" name="Text 73"/>
          <p:cNvSpPr/>
          <p:nvPr/>
        </p:nvSpPr>
        <p:spPr>
          <a:xfrm>
            <a:off x="6042856" y="45646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6" name="Shape 74"/>
          <p:cNvSpPr/>
          <p:nvPr/>
        </p:nvSpPr>
        <p:spPr>
          <a:xfrm>
            <a:off x="8469173" y="26332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700201"/>
            <a:ext cx="373576" cy="373576"/>
          </a:xfrm>
          <a:prstGeom prst="ellipse">
            <a:avLst/>
          </a:prstGeom>
          <a:solidFill>
            <a:srgbClr val="E8EBEE"/>
          </a:solidFill>
          <a:ln w="12700">
            <a:solidFill>
              <a:srgbClr val="E8EBEE"/>
            </a:solidFill>
            <a:prstDash val="solid"/>
          </a:ln>
        </p:spPr>
      </p:sp>
      <p:sp>
        <p:nvSpPr>
          <p:cNvPr id="78" name="Icono database"/>
          <p:cNvSpPr/>
          <p:nvPr/>
        </p:nvSpPr>
        <p:spPr>
          <a:xfrm>
            <a:off x="8615477" y="27550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9" name="Text 77"/>
          <p:cNvSpPr/>
          <p:nvPr/>
        </p:nvSpPr>
        <p:spPr>
          <a:xfrm>
            <a:off x="8989053" y="26332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80" name="Shape 78"/>
          <p:cNvSpPr/>
          <p:nvPr/>
        </p:nvSpPr>
        <p:spPr>
          <a:xfrm>
            <a:off x="8469173" y="35989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81" name="Shape 79"/>
          <p:cNvSpPr/>
          <p:nvPr/>
        </p:nvSpPr>
        <p:spPr>
          <a:xfrm>
            <a:off x="8560613" y="3665899"/>
            <a:ext cx="373576" cy="373576"/>
          </a:xfrm>
          <a:prstGeom prst="ellipse">
            <a:avLst/>
          </a:prstGeom>
          <a:solidFill>
            <a:srgbClr val="E8EBEE"/>
          </a:solidFill>
          <a:ln w="12700">
            <a:solidFill>
              <a:srgbClr val="E8EBEE"/>
            </a:solidFill>
            <a:prstDash val="solid"/>
          </a:ln>
        </p:spPr>
      </p:sp>
      <p:sp>
        <p:nvSpPr>
          <p:cNvPr id="82" name="Icono save"/>
          <p:cNvSpPr/>
          <p:nvPr/>
        </p:nvSpPr>
        <p:spPr>
          <a:xfrm>
            <a:off x="8615477" y="37207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3" name="Text 81"/>
          <p:cNvSpPr/>
          <p:nvPr/>
        </p:nvSpPr>
        <p:spPr>
          <a:xfrm>
            <a:off x="8989053" y="35989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4" name="Shape 82"/>
          <p:cNvSpPr/>
          <p:nvPr/>
        </p:nvSpPr>
        <p:spPr>
          <a:xfrm>
            <a:off x="8469173" y="4564685"/>
            <a:ext cx="2864358" cy="507401"/>
          </a:xfrm>
          <a:prstGeom prst="roundRect">
            <a:avLst>
              <a:gd name="adj" fmla="val 16219"/>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5" name="Shape 83"/>
          <p:cNvSpPr/>
          <p:nvPr/>
        </p:nvSpPr>
        <p:spPr>
          <a:xfrm>
            <a:off x="8560613" y="4631597"/>
            <a:ext cx="373576" cy="373576"/>
          </a:xfrm>
          <a:prstGeom prst="ellipse">
            <a:avLst/>
          </a:prstGeom>
          <a:solidFill>
            <a:srgbClr val="E8EBEE"/>
          </a:solidFill>
          <a:ln w="12700">
            <a:solidFill>
              <a:srgbClr val="E8EBEE"/>
            </a:solidFill>
            <a:prstDash val="solid"/>
          </a:ln>
        </p:spPr>
      </p:sp>
      <p:sp>
        <p:nvSpPr>
          <p:cNvPr id="86" name="Icono save"/>
          <p:cNvSpPr/>
          <p:nvPr/>
        </p:nvSpPr>
        <p:spPr>
          <a:xfrm>
            <a:off x="8615477" y="46864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7" name="Text 85"/>
          <p:cNvSpPr/>
          <p:nvPr/>
        </p:nvSpPr>
        <p:spPr>
          <a:xfrm>
            <a:off x="8989053" y="45646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8" name="Shape 86"/>
          <p:cNvSpPr/>
          <p:nvPr/>
        </p:nvSpPr>
        <p:spPr>
          <a:xfrm>
            <a:off x="2576779" y="5612221"/>
            <a:ext cx="2373325" cy="392826"/>
          </a:xfrm>
          <a:prstGeom prst="roundRect">
            <a:avLst>
              <a:gd name="adj" fmla="val 2095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89" name="Shape 87"/>
          <p:cNvSpPr/>
          <p:nvPr/>
        </p:nvSpPr>
        <p:spPr>
          <a:xfrm>
            <a:off x="2668219" y="5651636"/>
            <a:ext cx="313998" cy="313998"/>
          </a:xfrm>
          <a:prstGeom prst="ellipse">
            <a:avLst/>
          </a:prstGeom>
          <a:solidFill>
            <a:srgbClr val="E2E5EA"/>
          </a:solidFill>
          <a:ln w="12700">
            <a:solidFill>
              <a:srgbClr val="E2E5EA"/>
            </a:solidFill>
            <a:prstDash val="solid"/>
          </a:ln>
        </p:spPr>
      </p:sp>
      <p:sp>
        <p:nvSpPr>
          <p:cNvPr id="90" name="Icono book-open"/>
          <p:cNvSpPr/>
          <p:nvPr/>
        </p:nvSpPr>
        <p:spPr>
          <a:xfrm>
            <a:off x="2723083" y="57065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0B2350"/>
            </a:solidFill>
            <a:prstDash val="solid"/>
            <a:round/>
          </a:ln>
        </p:spPr>
      </p:sp>
      <p:sp>
        <p:nvSpPr>
          <p:cNvPr id="91" name="Text 89"/>
          <p:cNvSpPr/>
          <p:nvPr/>
        </p:nvSpPr>
        <p:spPr>
          <a:xfrm>
            <a:off x="3037081" y="56122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67" dirty="0"/>
          </a:p>
        </p:txBody>
      </p:sp>
      <p:sp>
        <p:nvSpPr>
          <p:cNvPr id="92" name="Shape 90"/>
          <p:cNvSpPr/>
          <p:nvPr/>
        </p:nvSpPr>
        <p:spPr>
          <a:xfrm>
            <a:off x="5522976" y="5612221"/>
            <a:ext cx="2373325" cy="392826"/>
          </a:xfrm>
          <a:prstGeom prst="roundRect">
            <a:avLst>
              <a:gd name="adj" fmla="val 2095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93" name="Shape 91"/>
          <p:cNvSpPr/>
          <p:nvPr/>
        </p:nvSpPr>
        <p:spPr>
          <a:xfrm>
            <a:off x="5614416" y="5651636"/>
            <a:ext cx="313998" cy="313998"/>
          </a:xfrm>
          <a:prstGeom prst="ellipse">
            <a:avLst/>
          </a:prstGeom>
          <a:solidFill>
            <a:srgbClr val="E2E5EA"/>
          </a:solidFill>
          <a:ln w="12700">
            <a:solidFill>
              <a:srgbClr val="E2E5EA"/>
            </a:solidFill>
            <a:prstDash val="solid"/>
          </a:ln>
        </p:spPr>
      </p:sp>
      <p:sp>
        <p:nvSpPr>
          <p:cNvPr id="94" name="Icono settings"/>
          <p:cNvSpPr/>
          <p:nvPr/>
        </p:nvSpPr>
        <p:spPr>
          <a:xfrm>
            <a:off x="5669280" y="57065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0B2350"/>
            </a:solidFill>
            <a:prstDash val="solid"/>
            <a:round/>
          </a:ln>
        </p:spPr>
      </p:sp>
      <p:sp>
        <p:nvSpPr>
          <p:cNvPr id="95" name="Text 93"/>
          <p:cNvSpPr/>
          <p:nvPr/>
        </p:nvSpPr>
        <p:spPr>
          <a:xfrm>
            <a:off x="5983278" y="56122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0B1A3C"/>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55627E"/>
                </a:solidFill>
                <a:latin typeface="Segoe UI" pitchFamily="34" charset="0"/>
                <a:ea typeface="Segoe UI" pitchFamily="34" charset="-122"/>
                <a:cs typeface="Segoe UI" pitchFamily="34" charset="-120"/>
              </a:rPr>
              <a:t>@Bean: arma el dominio</a:t>
            </a:r>
            <a:endParaRPr lang="en-US" sz="889" dirty="0"/>
          </a:p>
        </p:txBody>
      </p:sp>
      <p:sp>
        <p:nvSpPr>
          <p:cNvPr id="96" name="Text 9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E3F4FA"/>
          </a:solidFill>
          <a:ln w="22225">
            <a:solidFill>
              <a:srgbClr val="2BA6CB"/>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5F5FA"/>
          </a:solidFill>
          <a:ln w="12700">
            <a:solidFill>
              <a:srgbClr val="9DD7E8"/>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EF2F7"/>
          </a:solidFill>
          <a:ln w="12700">
            <a:solidFill>
              <a:srgbClr val="C2CEDD"/>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41275">
            <a:solidFill>
              <a:srgbClr val="2BA6CB"/>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47625">
            <a:solidFill>
              <a:srgbClr val="2BA6CB"/>
            </a:solidFill>
            <a:prstDash val="sysDot"/>
            <a:tailEnd type="triangle"/>
          </a:ln>
        </p:spPr>
      </p:sp>
      <p:sp>
        <p:nvSpPr>
          <p:cNvPr id="15" name="Text 13"/>
          <p:cNvSpPr/>
          <p:nvPr/>
        </p:nvSpPr>
        <p:spPr>
          <a:xfrm>
            <a:off x="3653714" y="242727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47625">
            <a:solidFill>
              <a:srgbClr val="2BA6CB"/>
            </a:solidFill>
            <a:prstDash val="sysDot"/>
          </a:ln>
        </p:spPr>
      </p:sp>
      <p:sp>
        <p:nvSpPr>
          <p:cNvPr id="17" name="Shape 15"/>
          <p:cNvSpPr/>
          <p:nvPr/>
        </p:nvSpPr>
        <p:spPr>
          <a:xfrm>
            <a:off x="4704588" y="2602474"/>
            <a:ext cx="3478149" cy="0"/>
          </a:xfrm>
          <a:prstGeom prst="line">
            <a:avLst/>
          </a:prstGeom>
          <a:noFill/>
          <a:ln w="47625">
            <a:solidFill>
              <a:srgbClr val="2BA6CB"/>
            </a:solidFill>
            <a:prstDash val="sysDot"/>
          </a:ln>
        </p:spPr>
      </p:sp>
      <p:sp>
        <p:nvSpPr>
          <p:cNvPr id="18" name="Shape 16"/>
          <p:cNvSpPr/>
          <p:nvPr/>
        </p:nvSpPr>
        <p:spPr>
          <a:xfrm>
            <a:off x="8182737" y="2602474"/>
            <a:ext cx="0" cy="450113"/>
          </a:xfrm>
          <a:prstGeom prst="line">
            <a:avLst/>
          </a:prstGeom>
          <a:noFill/>
          <a:ln w="47625">
            <a:solidFill>
              <a:srgbClr val="2BA6CB"/>
            </a:solidFill>
            <a:prstDash val="sysDot"/>
          </a:ln>
        </p:spPr>
      </p:sp>
      <p:sp>
        <p:nvSpPr>
          <p:cNvPr id="19" name="Shape 17"/>
          <p:cNvSpPr/>
          <p:nvPr/>
        </p:nvSpPr>
        <p:spPr>
          <a:xfrm>
            <a:off x="8182737" y="3052587"/>
            <a:ext cx="286436" cy="0"/>
          </a:xfrm>
          <a:prstGeom prst="line">
            <a:avLst/>
          </a:prstGeom>
          <a:noFill/>
          <a:ln w="47625">
            <a:solidFill>
              <a:srgbClr val="2BA6CB"/>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47625">
            <a:solidFill>
              <a:srgbClr val="2BA6CB"/>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31750">
            <a:solidFill>
              <a:srgbClr val="CBD5E3"/>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31750">
            <a:solidFill>
              <a:srgbClr val="CBD5E3"/>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22860">
            <a:solidFill>
              <a:srgbClr val="CBD5E3"/>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22860">
            <a:solidFill>
              <a:srgbClr val="CBD5E3"/>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31750">
            <a:solidFill>
              <a:srgbClr val="CBD5E3"/>
            </a:solidFill>
            <a:prstDash val="solid"/>
            <a:tailEnd type="triangle"/>
          </a:ln>
        </p:spPr>
      </p:sp>
      <p:sp>
        <p:nvSpPr>
          <p:cNvPr id="38" name="Text 36"/>
          <p:cNvSpPr/>
          <p:nvPr/>
        </p:nvSpPr>
        <p:spPr>
          <a:xfrm>
            <a:off x="230337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31750">
            <a:solidFill>
              <a:srgbClr val="CBD5E3"/>
            </a:solidFill>
            <a:prstDash val="sysDot"/>
          </a:ln>
        </p:spPr>
      </p:sp>
      <p:sp>
        <p:nvSpPr>
          <p:cNvPr id="40" name="Shape 38"/>
          <p:cNvSpPr/>
          <p:nvPr/>
        </p:nvSpPr>
        <p:spPr>
          <a:xfrm flipV="1">
            <a:off x="5236540" y="3158978"/>
            <a:ext cx="0" cy="859307"/>
          </a:xfrm>
          <a:prstGeom prst="line">
            <a:avLst/>
          </a:prstGeom>
          <a:noFill/>
          <a:ln w="31750">
            <a:solidFill>
              <a:srgbClr val="CBD5E3"/>
            </a:solidFill>
            <a:prstDash val="sysDot"/>
          </a:ln>
        </p:spPr>
      </p:sp>
      <p:sp>
        <p:nvSpPr>
          <p:cNvPr id="41" name="Shape 39"/>
          <p:cNvSpPr/>
          <p:nvPr/>
        </p:nvSpPr>
        <p:spPr>
          <a:xfrm>
            <a:off x="5236540" y="3158978"/>
            <a:ext cx="286436" cy="0"/>
          </a:xfrm>
          <a:prstGeom prst="line">
            <a:avLst/>
          </a:prstGeom>
          <a:noFill/>
          <a:ln w="31750">
            <a:solidFill>
              <a:srgbClr val="CBD5E3"/>
            </a:solidFill>
            <a:prstDash val="sysDot"/>
            <a:tailEnd type="triangle"/>
          </a:ln>
        </p:spPr>
      </p:sp>
      <p:sp>
        <p:nvSpPr>
          <p:cNvPr id="42" name="Text 40"/>
          <p:cNvSpPr/>
          <p:nvPr/>
        </p:nvSpPr>
        <p:spPr>
          <a:xfrm>
            <a:off x="498359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12700">
            <a:solidFill>
              <a:srgbClr val="D5DDE8"/>
            </a:solidFill>
            <a:prstDash val="solid"/>
          </a:ln>
        </p:spPr>
      </p:sp>
      <p:sp>
        <p:nvSpPr>
          <p:cNvPr id="45" name="Shape 43"/>
          <p:cNvSpPr/>
          <p:nvPr/>
        </p:nvSpPr>
        <p:spPr>
          <a:xfrm>
            <a:off x="785927" y="3831497"/>
            <a:ext cx="373576" cy="373576"/>
          </a:xfrm>
          <a:prstGeom prst="ellipse">
            <a:avLst/>
          </a:prstGeom>
          <a:solidFill>
            <a:srgbClr val="EEF2F7"/>
          </a:solidFill>
          <a:ln w="12700">
            <a:solidFill>
              <a:srgbClr val="EEF2F7"/>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A9B4C6"/>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9" name="Shape 47"/>
          <p:cNvSpPr/>
          <p:nvPr/>
        </p:nvSpPr>
        <p:spPr>
          <a:xfrm>
            <a:off x="2668219" y="1900101"/>
            <a:ext cx="373576" cy="373576"/>
          </a:xfrm>
          <a:prstGeom prst="ellipse">
            <a:avLst/>
          </a:prstGeom>
          <a:solidFill>
            <a:srgbClr val="E3F4FA"/>
          </a:solidFill>
          <a:ln w="12700">
            <a:solidFill>
              <a:srgbClr val="E3F4FA"/>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0B6E8A"/>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3" name="Shape 51"/>
          <p:cNvSpPr/>
          <p:nvPr/>
        </p:nvSpPr>
        <p:spPr>
          <a:xfrm>
            <a:off x="2668219" y="2865799"/>
            <a:ext cx="373576" cy="373576"/>
          </a:xfrm>
          <a:prstGeom prst="ellipse">
            <a:avLst/>
          </a:prstGeom>
          <a:solidFill>
            <a:srgbClr val="E3F4FA"/>
          </a:solidFill>
          <a:ln w="12700">
            <a:solidFill>
              <a:srgbClr val="E3F4FA"/>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0B6E8A"/>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12700">
            <a:solidFill>
              <a:srgbClr val="D5DDE8"/>
            </a:solidFill>
            <a:prstDash val="solid"/>
          </a:ln>
        </p:spPr>
      </p:sp>
      <p:sp>
        <p:nvSpPr>
          <p:cNvPr id="57" name="Shape 55"/>
          <p:cNvSpPr/>
          <p:nvPr/>
        </p:nvSpPr>
        <p:spPr>
          <a:xfrm>
            <a:off x="2668219" y="3831497"/>
            <a:ext cx="373576" cy="373576"/>
          </a:xfrm>
          <a:prstGeom prst="ellipse">
            <a:avLst/>
          </a:prstGeom>
          <a:solidFill>
            <a:srgbClr val="EEF2F7"/>
          </a:solidFill>
          <a:ln w="12700">
            <a:solidFill>
              <a:srgbClr val="EEF2F7"/>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A9B4C6"/>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12700">
            <a:solidFill>
              <a:srgbClr val="D5DDE8"/>
            </a:solidFill>
            <a:prstDash val="solid"/>
          </a:ln>
        </p:spPr>
      </p:sp>
      <p:sp>
        <p:nvSpPr>
          <p:cNvPr id="61" name="Shape 59"/>
          <p:cNvSpPr/>
          <p:nvPr/>
        </p:nvSpPr>
        <p:spPr>
          <a:xfrm>
            <a:off x="5614416" y="1900101"/>
            <a:ext cx="373576" cy="373576"/>
          </a:xfrm>
          <a:prstGeom prst="ellipse">
            <a:avLst/>
          </a:prstGeom>
          <a:solidFill>
            <a:srgbClr val="EEF2F7"/>
          </a:solidFill>
          <a:ln w="12700">
            <a:solidFill>
              <a:srgbClr val="EEF2F7"/>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A9B4C6"/>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12700">
            <a:solidFill>
              <a:srgbClr val="D5DDE8"/>
            </a:solidFill>
            <a:prstDash val="solid"/>
          </a:ln>
        </p:spPr>
      </p:sp>
      <p:sp>
        <p:nvSpPr>
          <p:cNvPr id="65" name="Shape 63"/>
          <p:cNvSpPr/>
          <p:nvPr/>
        </p:nvSpPr>
        <p:spPr>
          <a:xfrm>
            <a:off x="5614416" y="2865799"/>
            <a:ext cx="373576" cy="373576"/>
          </a:xfrm>
          <a:prstGeom prst="ellipse">
            <a:avLst/>
          </a:prstGeom>
          <a:solidFill>
            <a:srgbClr val="EEF2F7"/>
          </a:solidFill>
          <a:ln w="12700">
            <a:solidFill>
              <a:srgbClr val="EEF2F7"/>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A9B4C6"/>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12700">
            <a:solidFill>
              <a:srgbClr val="D5DDE8"/>
            </a:solidFill>
            <a:prstDash val="dash"/>
          </a:ln>
        </p:spPr>
      </p:sp>
      <p:sp>
        <p:nvSpPr>
          <p:cNvPr id="69" name="Shape 67"/>
          <p:cNvSpPr/>
          <p:nvPr/>
        </p:nvSpPr>
        <p:spPr>
          <a:xfrm>
            <a:off x="5614416" y="3831497"/>
            <a:ext cx="373576" cy="373576"/>
          </a:xfrm>
          <a:prstGeom prst="ellipse">
            <a:avLst/>
          </a:prstGeom>
          <a:solidFill>
            <a:srgbClr val="EEF2F7"/>
          </a:solidFill>
          <a:ln w="12700">
            <a:solidFill>
              <a:srgbClr val="EEF2F7"/>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A9B4C6"/>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8A95AB"/>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9AA5B8"/>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3" name="Shape 71"/>
          <p:cNvSpPr/>
          <p:nvPr/>
        </p:nvSpPr>
        <p:spPr>
          <a:xfrm>
            <a:off x="8560613" y="1900101"/>
            <a:ext cx="373576" cy="373576"/>
          </a:xfrm>
          <a:prstGeom prst="ellipse">
            <a:avLst/>
          </a:prstGeom>
          <a:solidFill>
            <a:srgbClr val="E3F4FA"/>
          </a:solidFill>
          <a:ln w="12700">
            <a:solidFill>
              <a:srgbClr val="E3F4FA"/>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0B6E8A"/>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77" name="Shape 75"/>
          <p:cNvSpPr/>
          <p:nvPr/>
        </p:nvSpPr>
        <p:spPr>
          <a:xfrm>
            <a:off x="8560613" y="2865799"/>
            <a:ext cx="373576" cy="373576"/>
          </a:xfrm>
          <a:prstGeom prst="ellipse">
            <a:avLst/>
          </a:prstGeom>
          <a:solidFill>
            <a:srgbClr val="E3F4FA"/>
          </a:solidFill>
          <a:ln w="12700">
            <a:solidFill>
              <a:srgbClr val="E3F4FA"/>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0B6E8A"/>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12700">
            <a:solidFill>
              <a:srgbClr val="A85D08"/>
            </a:solidFill>
            <a:prstDash val="dash"/>
          </a:ln>
        </p:spPr>
      </p:sp>
      <p:sp>
        <p:nvSpPr>
          <p:cNvPr id="81" name="Shape 79"/>
          <p:cNvSpPr/>
          <p:nvPr/>
        </p:nvSpPr>
        <p:spPr>
          <a:xfrm>
            <a:off x="8560613" y="3831497"/>
            <a:ext cx="373576" cy="373576"/>
          </a:xfrm>
          <a:prstGeom prst="ellipse">
            <a:avLst/>
          </a:prstGeom>
          <a:solidFill>
            <a:srgbClr val="EEF2F7"/>
          </a:solidFill>
          <a:ln w="12700">
            <a:solidFill>
              <a:srgbClr val="EEF2F7"/>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A9B4C6"/>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BFCFE"/>
          </a:solidFill>
          <a:ln w="12700">
            <a:solidFill>
              <a:srgbClr val="D5DDE8"/>
            </a:solidFill>
            <a:prstDash val="solid"/>
          </a:ln>
        </p:spPr>
      </p:sp>
      <p:sp>
        <p:nvSpPr>
          <p:cNvPr id="85" name="Shape 83"/>
          <p:cNvSpPr/>
          <p:nvPr/>
        </p:nvSpPr>
        <p:spPr>
          <a:xfrm>
            <a:off x="2668219" y="4851536"/>
            <a:ext cx="313998" cy="313998"/>
          </a:xfrm>
          <a:prstGeom prst="ellipse">
            <a:avLst/>
          </a:prstGeom>
          <a:solidFill>
            <a:srgbClr val="EEF2F7"/>
          </a:solidFill>
          <a:ln w="12700">
            <a:solidFill>
              <a:srgbClr val="EEF2F7"/>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A9B4C6"/>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BFCFE"/>
          </a:solidFill>
          <a:ln w="12700">
            <a:solidFill>
              <a:srgbClr val="D5DDE8"/>
            </a:solidFill>
            <a:prstDash val="solid"/>
          </a:ln>
        </p:spPr>
      </p:sp>
      <p:sp>
        <p:nvSpPr>
          <p:cNvPr id="89" name="Shape 87"/>
          <p:cNvSpPr/>
          <p:nvPr/>
        </p:nvSpPr>
        <p:spPr>
          <a:xfrm>
            <a:off x="5614416" y="4851536"/>
            <a:ext cx="313998" cy="313998"/>
          </a:xfrm>
          <a:prstGeom prst="ellipse">
            <a:avLst/>
          </a:prstGeom>
          <a:solidFill>
            <a:srgbClr val="EEF2F7"/>
          </a:solidFill>
          <a:ln w="12700">
            <a:solidFill>
              <a:srgbClr val="EEF2F7"/>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A9B4C6"/>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8A95AB"/>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9AA5B8"/>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94" name="Text 9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entrega el evento por HTTP a EventoController.</a:t>
            </a:r>
            <a:endParaRPr lang="en-US" sz="1300" dirty="0"/>
          </a:p>
        </p:txBody>
      </p:sp>
      <p:sp>
        <p:nvSpPr>
          <p:cNvPr id="95" name="Shape 9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6" name="Text 9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97" name="Text 9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ConsumoIdempotente pregunta si ese eventoId ya está en evento_procesado.</a:t>
            </a:r>
            <a:endParaRPr lang="en-US" sz="1300" dirty="0"/>
          </a:p>
        </p:txBody>
      </p:sp>
      <p:sp>
        <p:nvSpPr>
          <p:cNvPr id="98" name="Text 9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F7F9FC"/>
          </a:solidFill>
          <a:ln w="12700">
            <a:solidFill>
              <a:srgbClr val="C7D2E2"/>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3F4FA"/>
          </a:solidFill>
          <a:ln w="22225">
            <a:solidFill>
              <a:srgbClr val="2BA6CB"/>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EF2F7"/>
          </a:solidFill>
          <a:ln w="12700">
            <a:solidFill>
              <a:srgbClr val="C2CEDD"/>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25400">
            <a:solidFill>
              <a:srgbClr val="55627E"/>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31750">
            <a:solidFill>
              <a:srgbClr val="55627E"/>
            </a:solidFill>
            <a:prstDash val="sysDot"/>
            <a:tailEnd type="triangle"/>
          </a:ln>
        </p:spPr>
      </p:sp>
      <p:sp>
        <p:nvSpPr>
          <p:cNvPr id="15" name="Text 13"/>
          <p:cNvSpPr/>
          <p:nvPr/>
        </p:nvSpPr>
        <p:spPr>
          <a:xfrm>
            <a:off x="3653714" y="2427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31750">
            <a:solidFill>
              <a:srgbClr val="55627E"/>
            </a:solidFill>
            <a:prstDash val="sysDot"/>
          </a:ln>
        </p:spPr>
      </p:sp>
      <p:sp>
        <p:nvSpPr>
          <p:cNvPr id="17" name="Shape 15"/>
          <p:cNvSpPr/>
          <p:nvPr/>
        </p:nvSpPr>
        <p:spPr>
          <a:xfrm>
            <a:off x="4704588" y="2602474"/>
            <a:ext cx="3478149" cy="0"/>
          </a:xfrm>
          <a:prstGeom prst="line">
            <a:avLst/>
          </a:prstGeom>
          <a:noFill/>
          <a:ln w="31750">
            <a:solidFill>
              <a:srgbClr val="55627E"/>
            </a:solidFill>
            <a:prstDash val="sysDot"/>
          </a:ln>
        </p:spPr>
      </p:sp>
      <p:sp>
        <p:nvSpPr>
          <p:cNvPr id="18" name="Shape 16"/>
          <p:cNvSpPr/>
          <p:nvPr/>
        </p:nvSpPr>
        <p:spPr>
          <a:xfrm>
            <a:off x="8182737" y="2602474"/>
            <a:ext cx="0" cy="450113"/>
          </a:xfrm>
          <a:prstGeom prst="line">
            <a:avLst/>
          </a:prstGeom>
          <a:noFill/>
          <a:ln w="31750">
            <a:solidFill>
              <a:srgbClr val="55627E"/>
            </a:solidFill>
            <a:prstDash val="sysDot"/>
          </a:ln>
        </p:spPr>
      </p:sp>
      <p:sp>
        <p:nvSpPr>
          <p:cNvPr id="19" name="Shape 17"/>
          <p:cNvSpPr/>
          <p:nvPr/>
        </p:nvSpPr>
        <p:spPr>
          <a:xfrm>
            <a:off x="8182737" y="3052587"/>
            <a:ext cx="286436" cy="0"/>
          </a:xfrm>
          <a:prstGeom prst="line">
            <a:avLst/>
          </a:prstGeom>
          <a:noFill/>
          <a:ln w="31750">
            <a:solidFill>
              <a:srgbClr val="55627E"/>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31750">
            <a:solidFill>
              <a:srgbClr val="55627E"/>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47625">
            <a:solidFill>
              <a:srgbClr val="2BA6CB"/>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47625">
            <a:solidFill>
              <a:srgbClr val="2BA6CB"/>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22860">
            <a:solidFill>
              <a:srgbClr val="CBD5E3"/>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22860">
            <a:solidFill>
              <a:srgbClr val="CBD5E3"/>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31750">
            <a:solidFill>
              <a:srgbClr val="CBD5E3"/>
            </a:solidFill>
            <a:prstDash val="solid"/>
            <a:tailEnd type="triangle"/>
          </a:ln>
        </p:spPr>
      </p:sp>
      <p:sp>
        <p:nvSpPr>
          <p:cNvPr id="38" name="Text 36"/>
          <p:cNvSpPr/>
          <p:nvPr/>
        </p:nvSpPr>
        <p:spPr>
          <a:xfrm>
            <a:off x="230337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31750">
            <a:solidFill>
              <a:srgbClr val="CBD5E3"/>
            </a:solidFill>
            <a:prstDash val="sysDot"/>
          </a:ln>
        </p:spPr>
      </p:sp>
      <p:sp>
        <p:nvSpPr>
          <p:cNvPr id="40" name="Shape 38"/>
          <p:cNvSpPr/>
          <p:nvPr/>
        </p:nvSpPr>
        <p:spPr>
          <a:xfrm flipV="1">
            <a:off x="5236540" y="3158978"/>
            <a:ext cx="0" cy="859307"/>
          </a:xfrm>
          <a:prstGeom prst="line">
            <a:avLst/>
          </a:prstGeom>
          <a:noFill/>
          <a:ln w="31750">
            <a:solidFill>
              <a:srgbClr val="CBD5E3"/>
            </a:solidFill>
            <a:prstDash val="sysDot"/>
          </a:ln>
        </p:spPr>
      </p:sp>
      <p:sp>
        <p:nvSpPr>
          <p:cNvPr id="41" name="Shape 39"/>
          <p:cNvSpPr/>
          <p:nvPr/>
        </p:nvSpPr>
        <p:spPr>
          <a:xfrm>
            <a:off x="5236540" y="3158978"/>
            <a:ext cx="286436" cy="0"/>
          </a:xfrm>
          <a:prstGeom prst="line">
            <a:avLst/>
          </a:prstGeom>
          <a:noFill/>
          <a:ln w="31750">
            <a:solidFill>
              <a:srgbClr val="CBD5E3"/>
            </a:solidFill>
            <a:prstDash val="sysDot"/>
            <a:tailEnd type="triangle"/>
          </a:ln>
        </p:spPr>
      </p:sp>
      <p:sp>
        <p:nvSpPr>
          <p:cNvPr id="42" name="Text 40"/>
          <p:cNvSpPr/>
          <p:nvPr/>
        </p:nvSpPr>
        <p:spPr>
          <a:xfrm>
            <a:off x="498359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12700">
            <a:solidFill>
              <a:srgbClr val="D5DDE8"/>
            </a:solidFill>
            <a:prstDash val="solid"/>
          </a:ln>
        </p:spPr>
      </p:sp>
      <p:sp>
        <p:nvSpPr>
          <p:cNvPr id="45" name="Shape 43"/>
          <p:cNvSpPr/>
          <p:nvPr/>
        </p:nvSpPr>
        <p:spPr>
          <a:xfrm>
            <a:off x="785927" y="3831497"/>
            <a:ext cx="373576" cy="373576"/>
          </a:xfrm>
          <a:prstGeom prst="ellipse">
            <a:avLst/>
          </a:prstGeom>
          <a:solidFill>
            <a:srgbClr val="EEF2F7"/>
          </a:solidFill>
          <a:ln w="12700">
            <a:solidFill>
              <a:srgbClr val="EEF2F7"/>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A9B4C6"/>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2668219" y="1900101"/>
            <a:ext cx="373576" cy="373576"/>
          </a:xfrm>
          <a:prstGeom prst="ellipse">
            <a:avLst/>
          </a:prstGeom>
          <a:solidFill>
            <a:srgbClr val="EBECF0"/>
          </a:solidFill>
          <a:ln w="12700">
            <a:solidFill>
              <a:srgbClr val="EBECF0"/>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865799"/>
            <a:ext cx="373576" cy="373576"/>
          </a:xfrm>
          <a:prstGeom prst="ellipse">
            <a:avLst/>
          </a:prstGeom>
          <a:solidFill>
            <a:srgbClr val="EBECF0"/>
          </a:solidFill>
          <a:ln w="12700">
            <a:solidFill>
              <a:srgbClr val="EBECF0"/>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12700">
            <a:solidFill>
              <a:srgbClr val="D5DDE8"/>
            </a:solidFill>
            <a:prstDash val="solid"/>
          </a:ln>
        </p:spPr>
      </p:sp>
      <p:sp>
        <p:nvSpPr>
          <p:cNvPr id="57" name="Shape 55"/>
          <p:cNvSpPr/>
          <p:nvPr/>
        </p:nvSpPr>
        <p:spPr>
          <a:xfrm>
            <a:off x="2668219" y="3831497"/>
            <a:ext cx="373576" cy="373576"/>
          </a:xfrm>
          <a:prstGeom prst="ellipse">
            <a:avLst/>
          </a:prstGeom>
          <a:solidFill>
            <a:srgbClr val="EEF2F7"/>
          </a:solidFill>
          <a:ln w="12700">
            <a:solidFill>
              <a:srgbClr val="EEF2F7"/>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A9B4C6"/>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1" name="Shape 59"/>
          <p:cNvSpPr/>
          <p:nvPr/>
        </p:nvSpPr>
        <p:spPr>
          <a:xfrm>
            <a:off x="5614416" y="1900101"/>
            <a:ext cx="373576" cy="373576"/>
          </a:xfrm>
          <a:prstGeom prst="ellipse">
            <a:avLst/>
          </a:prstGeom>
          <a:solidFill>
            <a:srgbClr val="E3F4FA"/>
          </a:solidFill>
          <a:ln w="12700">
            <a:solidFill>
              <a:srgbClr val="E3F4FA"/>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5" name="Shape 63"/>
          <p:cNvSpPr/>
          <p:nvPr/>
        </p:nvSpPr>
        <p:spPr>
          <a:xfrm>
            <a:off x="5614416" y="2865799"/>
            <a:ext cx="373576" cy="373576"/>
          </a:xfrm>
          <a:prstGeom prst="ellipse">
            <a:avLst/>
          </a:prstGeom>
          <a:solidFill>
            <a:srgbClr val="E3F4FA"/>
          </a:solidFill>
          <a:ln w="12700">
            <a:solidFill>
              <a:srgbClr val="E3F4FA"/>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12700">
            <a:solidFill>
              <a:srgbClr val="D5DDE8"/>
            </a:solidFill>
            <a:prstDash val="dash"/>
          </a:ln>
        </p:spPr>
      </p:sp>
      <p:sp>
        <p:nvSpPr>
          <p:cNvPr id="69" name="Shape 67"/>
          <p:cNvSpPr/>
          <p:nvPr/>
        </p:nvSpPr>
        <p:spPr>
          <a:xfrm>
            <a:off x="5614416" y="3831497"/>
            <a:ext cx="373576" cy="373576"/>
          </a:xfrm>
          <a:prstGeom prst="ellipse">
            <a:avLst/>
          </a:prstGeom>
          <a:solidFill>
            <a:srgbClr val="EEF2F7"/>
          </a:solidFill>
          <a:ln w="12700">
            <a:solidFill>
              <a:srgbClr val="EEF2F7"/>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A9B4C6"/>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8A95AB"/>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9AA5B8"/>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3" name="Shape 71"/>
          <p:cNvSpPr/>
          <p:nvPr/>
        </p:nvSpPr>
        <p:spPr>
          <a:xfrm>
            <a:off x="8560613" y="1900101"/>
            <a:ext cx="373576" cy="373576"/>
          </a:xfrm>
          <a:prstGeom prst="ellipse">
            <a:avLst/>
          </a:prstGeom>
          <a:solidFill>
            <a:srgbClr val="E8EBEE"/>
          </a:solidFill>
          <a:ln w="12700">
            <a:solidFill>
              <a:srgbClr val="E8EBEE"/>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865799"/>
            <a:ext cx="373576" cy="373576"/>
          </a:xfrm>
          <a:prstGeom prst="ellipse">
            <a:avLst/>
          </a:prstGeom>
          <a:solidFill>
            <a:srgbClr val="E8EBEE"/>
          </a:solidFill>
          <a:ln w="12700">
            <a:solidFill>
              <a:srgbClr val="E8EBEE"/>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12700">
            <a:solidFill>
              <a:srgbClr val="A85D08"/>
            </a:solidFill>
            <a:prstDash val="dash"/>
          </a:ln>
        </p:spPr>
      </p:sp>
      <p:sp>
        <p:nvSpPr>
          <p:cNvPr id="81" name="Shape 79"/>
          <p:cNvSpPr/>
          <p:nvPr/>
        </p:nvSpPr>
        <p:spPr>
          <a:xfrm>
            <a:off x="8560613" y="3831497"/>
            <a:ext cx="373576" cy="373576"/>
          </a:xfrm>
          <a:prstGeom prst="ellipse">
            <a:avLst/>
          </a:prstGeom>
          <a:solidFill>
            <a:srgbClr val="EEF2F7"/>
          </a:solidFill>
          <a:ln w="12700">
            <a:solidFill>
              <a:srgbClr val="EEF2F7"/>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A9B4C6"/>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BFCFE"/>
          </a:solidFill>
          <a:ln w="12700">
            <a:solidFill>
              <a:srgbClr val="D5DDE8"/>
            </a:solidFill>
            <a:prstDash val="solid"/>
          </a:ln>
        </p:spPr>
      </p:sp>
      <p:sp>
        <p:nvSpPr>
          <p:cNvPr id="85" name="Shape 83"/>
          <p:cNvSpPr/>
          <p:nvPr/>
        </p:nvSpPr>
        <p:spPr>
          <a:xfrm>
            <a:off x="2668219" y="4851536"/>
            <a:ext cx="313998" cy="313998"/>
          </a:xfrm>
          <a:prstGeom prst="ellipse">
            <a:avLst/>
          </a:prstGeom>
          <a:solidFill>
            <a:srgbClr val="EEF2F7"/>
          </a:solidFill>
          <a:ln w="12700">
            <a:solidFill>
              <a:srgbClr val="EEF2F7"/>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A9B4C6"/>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BFCFE"/>
          </a:solidFill>
          <a:ln w="12700">
            <a:solidFill>
              <a:srgbClr val="D5DDE8"/>
            </a:solidFill>
            <a:prstDash val="solid"/>
          </a:ln>
        </p:spPr>
      </p:sp>
      <p:sp>
        <p:nvSpPr>
          <p:cNvPr id="89" name="Shape 87"/>
          <p:cNvSpPr/>
          <p:nvPr/>
        </p:nvSpPr>
        <p:spPr>
          <a:xfrm>
            <a:off x="5614416" y="4851536"/>
            <a:ext cx="313998" cy="313998"/>
          </a:xfrm>
          <a:prstGeom prst="ellipse">
            <a:avLst/>
          </a:prstGeom>
          <a:solidFill>
            <a:srgbClr val="EEF2F7"/>
          </a:solidFill>
          <a:ln w="12700">
            <a:solidFill>
              <a:srgbClr val="EEF2F7"/>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A9B4C6"/>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8A95AB"/>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9AA5B8"/>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94" name="Text 9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 nuevo, el dominio crea el aviso; si ya estaba, lo ignora.</a:t>
            </a:r>
            <a:endParaRPr lang="en-US" sz="1300" dirty="0"/>
          </a:p>
        </p:txBody>
      </p:sp>
      <p:sp>
        <p:nvSpPr>
          <p:cNvPr id="95" name="Text 9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F7F9FC"/>
          </a:solidFill>
          <a:ln w="12700">
            <a:solidFill>
              <a:srgbClr val="C7D2E2"/>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5F5FA"/>
          </a:solidFill>
          <a:ln w="12700">
            <a:solidFill>
              <a:srgbClr val="9DD7E8"/>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3F4FA"/>
          </a:solidFill>
          <a:ln w="22225">
            <a:solidFill>
              <a:srgbClr val="2BA6CB"/>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25400">
            <a:solidFill>
              <a:srgbClr val="55627E"/>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31750">
            <a:solidFill>
              <a:srgbClr val="55627E"/>
            </a:solidFill>
            <a:prstDash val="sysDot"/>
            <a:tailEnd type="triangle"/>
          </a:ln>
        </p:spPr>
      </p:sp>
      <p:sp>
        <p:nvSpPr>
          <p:cNvPr id="15" name="Text 13"/>
          <p:cNvSpPr/>
          <p:nvPr/>
        </p:nvSpPr>
        <p:spPr>
          <a:xfrm>
            <a:off x="3653714" y="2427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31750">
            <a:solidFill>
              <a:srgbClr val="55627E"/>
            </a:solidFill>
            <a:prstDash val="sysDot"/>
          </a:ln>
        </p:spPr>
      </p:sp>
      <p:sp>
        <p:nvSpPr>
          <p:cNvPr id="17" name="Shape 15"/>
          <p:cNvSpPr/>
          <p:nvPr/>
        </p:nvSpPr>
        <p:spPr>
          <a:xfrm>
            <a:off x="4704588" y="2602474"/>
            <a:ext cx="3478149" cy="0"/>
          </a:xfrm>
          <a:prstGeom prst="line">
            <a:avLst/>
          </a:prstGeom>
          <a:noFill/>
          <a:ln w="31750">
            <a:solidFill>
              <a:srgbClr val="55627E"/>
            </a:solidFill>
            <a:prstDash val="sysDot"/>
          </a:ln>
        </p:spPr>
      </p:sp>
      <p:sp>
        <p:nvSpPr>
          <p:cNvPr id="18" name="Shape 16"/>
          <p:cNvSpPr/>
          <p:nvPr/>
        </p:nvSpPr>
        <p:spPr>
          <a:xfrm>
            <a:off x="8182737" y="2602474"/>
            <a:ext cx="0" cy="450113"/>
          </a:xfrm>
          <a:prstGeom prst="line">
            <a:avLst/>
          </a:prstGeom>
          <a:noFill/>
          <a:ln w="31750">
            <a:solidFill>
              <a:srgbClr val="55627E"/>
            </a:solidFill>
            <a:prstDash val="sysDot"/>
          </a:ln>
        </p:spPr>
      </p:sp>
      <p:sp>
        <p:nvSpPr>
          <p:cNvPr id="19" name="Shape 17"/>
          <p:cNvSpPr/>
          <p:nvPr/>
        </p:nvSpPr>
        <p:spPr>
          <a:xfrm>
            <a:off x="8182737" y="3052587"/>
            <a:ext cx="286436" cy="0"/>
          </a:xfrm>
          <a:prstGeom prst="line">
            <a:avLst/>
          </a:prstGeom>
          <a:noFill/>
          <a:ln w="31750">
            <a:solidFill>
              <a:srgbClr val="55627E"/>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31750">
            <a:solidFill>
              <a:srgbClr val="55627E"/>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31750">
            <a:solidFill>
              <a:srgbClr val="55627E"/>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31750">
            <a:solidFill>
              <a:srgbClr val="55627E"/>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38735">
            <a:solidFill>
              <a:srgbClr val="2BA6CB"/>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38735">
            <a:solidFill>
              <a:srgbClr val="2BA6CB"/>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31750">
            <a:solidFill>
              <a:srgbClr val="CBD5E3"/>
            </a:solidFill>
            <a:prstDash val="solid"/>
            <a:tailEnd type="triangle"/>
          </a:ln>
        </p:spPr>
      </p:sp>
      <p:sp>
        <p:nvSpPr>
          <p:cNvPr id="38" name="Text 36"/>
          <p:cNvSpPr/>
          <p:nvPr/>
        </p:nvSpPr>
        <p:spPr>
          <a:xfrm>
            <a:off x="230337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31750">
            <a:solidFill>
              <a:srgbClr val="CBD5E3"/>
            </a:solidFill>
            <a:prstDash val="sysDot"/>
          </a:ln>
        </p:spPr>
      </p:sp>
      <p:sp>
        <p:nvSpPr>
          <p:cNvPr id="40" name="Shape 38"/>
          <p:cNvSpPr/>
          <p:nvPr/>
        </p:nvSpPr>
        <p:spPr>
          <a:xfrm flipV="1">
            <a:off x="5236540" y="3158978"/>
            <a:ext cx="0" cy="859307"/>
          </a:xfrm>
          <a:prstGeom prst="line">
            <a:avLst/>
          </a:prstGeom>
          <a:noFill/>
          <a:ln w="31750">
            <a:solidFill>
              <a:srgbClr val="CBD5E3"/>
            </a:solidFill>
            <a:prstDash val="sysDot"/>
          </a:ln>
        </p:spPr>
      </p:sp>
      <p:sp>
        <p:nvSpPr>
          <p:cNvPr id="41" name="Shape 39"/>
          <p:cNvSpPr/>
          <p:nvPr/>
        </p:nvSpPr>
        <p:spPr>
          <a:xfrm>
            <a:off x="5236540" y="3158978"/>
            <a:ext cx="286436" cy="0"/>
          </a:xfrm>
          <a:prstGeom prst="line">
            <a:avLst/>
          </a:prstGeom>
          <a:noFill/>
          <a:ln w="31750">
            <a:solidFill>
              <a:srgbClr val="CBD5E3"/>
            </a:solidFill>
            <a:prstDash val="sysDot"/>
            <a:tailEnd type="triangle"/>
          </a:ln>
        </p:spPr>
      </p:sp>
      <p:sp>
        <p:nvSpPr>
          <p:cNvPr id="42" name="Text 40"/>
          <p:cNvSpPr/>
          <p:nvPr/>
        </p:nvSpPr>
        <p:spPr>
          <a:xfrm>
            <a:off x="4983594" y="39085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12700">
            <a:solidFill>
              <a:srgbClr val="D5DDE8"/>
            </a:solidFill>
            <a:prstDash val="solid"/>
          </a:ln>
        </p:spPr>
      </p:sp>
      <p:sp>
        <p:nvSpPr>
          <p:cNvPr id="45" name="Shape 43"/>
          <p:cNvSpPr/>
          <p:nvPr/>
        </p:nvSpPr>
        <p:spPr>
          <a:xfrm>
            <a:off x="785927" y="3831497"/>
            <a:ext cx="373576" cy="373576"/>
          </a:xfrm>
          <a:prstGeom prst="ellipse">
            <a:avLst/>
          </a:prstGeom>
          <a:solidFill>
            <a:srgbClr val="EEF2F7"/>
          </a:solidFill>
          <a:ln w="12700">
            <a:solidFill>
              <a:srgbClr val="EEF2F7"/>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A9B4C6"/>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2668219" y="1900101"/>
            <a:ext cx="373576" cy="373576"/>
          </a:xfrm>
          <a:prstGeom prst="ellipse">
            <a:avLst/>
          </a:prstGeom>
          <a:solidFill>
            <a:srgbClr val="EBECF0"/>
          </a:solidFill>
          <a:ln w="12700">
            <a:solidFill>
              <a:srgbClr val="EBECF0"/>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865799"/>
            <a:ext cx="373576" cy="373576"/>
          </a:xfrm>
          <a:prstGeom prst="ellipse">
            <a:avLst/>
          </a:prstGeom>
          <a:solidFill>
            <a:srgbClr val="EBECF0"/>
          </a:solidFill>
          <a:ln w="12700">
            <a:solidFill>
              <a:srgbClr val="EBECF0"/>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12700">
            <a:solidFill>
              <a:srgbClr val="D5DDE8"/>
            </a:solidFill>
            <a:prstDash val="solid"/>
          </a:ln>
        </p:spPr>
      </p:sp>
      <p:sp>
        <p:nvSpPr>
          <p:cNvPr id="57" name="Shape 55"/>
          <p:cNvSpPr/>
          <p:nvPr/>
        </p:nvSpPr>
        <p:spPr>
          <a:xfrm>
            <a:off x="2668219" y="3831497"/>
            <a:ext cx="373576" cy="373576"/>
          </a:xfrm>
          <a:prstGeom prst="ellipse">
            <a:avLst/>
          </a:prstGeom>
          <a:solidFill>
            <a:srgbClr val="EEF2F7"/>
          </a:solidFill>
          <a:ln w="12700">
            <a:solidFill>
              <a:srgbClr val="EEF2F7"/>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A9B4C6"/>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5614416" y="1900101"/>
            <a:ext cx="373576" cy="373576"/>
          </a:xfrm>
          <a:prstGeom prst="ellipse">
            <a:avLst/>
          </a:prstGeom>
          <a:solidFill>
            <a:srgbClr val="E2EEF1"/>
          </a:solidFill>
          <a:ln w="12700">
            <a:solidFill>
              <a:srgbClr val="E2EEF1"/>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5" name="Shape 63"/>
          <p:cNvSpPr/>
          <p:nvPr/>
        </p:nvSpPr>
        <p:spPr>
          <a:xfrm>
            <a:off x="5614416" y="2865799"/>
            <a:ext cx="373576" cy="373576"/>
          </a:xfrm>
          <a:prstGeom prst="ellipse">
            <a:avLst/>
          </a:prstGeom>
          <a:solidFill>
            <a:srgbClr val="E2EEF1"/>
          </a:solidFill>
          <a:ln w="12700">
            <a:solidFill>
              <a:srgbClr val="E2EEF1"/>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69" name="Shape 67"/>
          <p:cNvSpPr/>
          <p:nvPr/>
        </p:nvSpPr>
        <p:spPr>
          <a:xfrm>
            <a:off x="5614416" y="3831497"/>
            <a:ext cx="373576" cy="373576"/>
          </a:xfrm>
          <a:prstGeom prst="ellipse">
            <a:avLst/>
          </a:prstGeom>
          <a:solidFill>
            <a:srgbClr val="E3F4FA"/>
          </a:solidFill>
          <a:ln w="12700">
            <a:solidFill>
              <a:srgbClr val="E3F4FA"/>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3" name="Shape 71"/>
          <p:cNvSpPr/>
          <p:nvPr/>
        </p:nvSpPr>
        <p:spPr>
          <a:xfrm>
            <a:off x="8560613" y="1900101"/>
            <a:ext cx="373576" cy="373576"/>
          </a:xfrm>
          <a:prstGeom prst="ellipse">
            <a:avLst/>
          </a:prstGeom>
          <a:solidFill>
            <a:srgbClr val="E8EBEE"/>
          </a:solidFill>
          <a:ln w="12700">
            <a:solidFill>
              <a:srgbClr val="E8EBEE"/>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865799"/>
            <a:ext cx="373576" cy="373576"/>
          </a:xfrm>
          <a:prstGeom prst="ellipse">
            <a:avLst/>
          </a:prstGeom>
          <a:solidFill>
            <a:srgbClr val="E8EBEE"/>
          </a:solidFill>
          <a:ln w="12700">
            <a:solidFill>
              <a:srgbClr val="E8EBEE"/>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81" name="Shape 79"/>
          <p:cNvSpPr/>
          <p:nvPr/>
        </p:nvSpPr>
        <p:spPr>
          <a:xfrm>
            <a:off x="8560613" y="3831497"/>
            <a:ext cx="373576" cy="373576"/>
          </a:xfrm>
          <a:prstGeom prst="ellipse">
            <a:avLst/>
          </a:prstGeom>
          <a:solidFill>
            <a:srgbClr val="E3F4FA"/>
          </a:solidFill>
          <a:ln w="12700">
            <a:solidFill>
              <a:srgbClr val="E3F4FA"/>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0B6E8A"/>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BFCFE"/>
          </a:solidFill>
          <a:ln w="12700">
            <a:solidFill>
              <a:srgbClr val="D5DDE8"/>
            </a:solidFill>
            <a:prstDash val="solid"/>
          </a:ln>
        </p:spPr>
      </p:sp>
      <p:sp>
        <p:nvSpPr>
          <p:cNvPr id="85" name="Shape 83"/>
          <p:cNvSpPr/>
          <p:nvPr/>
        </p:nvSpPr>
        <p:spPr>
          <a:xfrm>
            <a:off x="2668219" y="4851536"/>
            <a:ext cx="313998" cy="313998"/>
          </a:xfrm>
          <a:prstGeom prst="ellipse">
            <a:avLst/>
          </a:prstGeom>
          <a:solidFill>
            <a:srgbClr val="EEF2F7"/>
          </a:solidFill>
          <a:ln w="12700">
            <a:solidFill>
              <a:srgbClr val="EEF2F7"/>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A9B4C6"/>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BFCFE"/>
          </a:solidFill>
          <a:ln w="12700">
            <a:solidFill>
              <a:srgbClr val="D5DDE8"/>
            </a:solidFill>
            <a:prstDash val="solid"/>
          </a:ln>
        </p:spPr>
      </p:sp>
      <p:sp>
        <p:nvSpPr>
          <p:cNvPr id="89" name="Shape 87"/>
          <p:cNvSpPr/>
          <p:nvPr/>
        </p:nvSpPr>
        <p:spPr>
          <a:xfrm>
            <a:off x="5614416" y="4851536"/>
            <a:ext cx="313998" cy="313998"/>
          </a:xfrm>
          <a:prstGeom prst="ellipse">
            <a:avLst/>
          </a:prstGeom>
          <a:solidFill>
            <a:srgbClr val="EEF2F7"/>
          </a:solidFill>
          <a:ln w="12700">
            <a:solidFill>
              <a:srgbClr val="EEF2F7"/>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A9B4C6"/>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8A95AB"/>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9AA5B8"/>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94" name="Text 9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aviso se guarda en memoria por el puerto, y el eventoId queda anotado en PostgreSQL.</a:t>
            </a:r>
            <a:endParaRPr lang="en-US" sz="1300" dirty="0"/>
          </a:p>
        </p:txBody>
      </p:sp>
      <p:sp>
        <p:nvSpPr>
          <p:cNvPr id="95" name="Text 9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F7F9FC"/>
          </a:solidFill>
          <a:ln w="12700">
            <a:solidFill>
              <a:srgbClr val="C7D2E2"/>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5F5FA"/>
          </a:solidFill>
          <a:ln w="12700">
            <a:solidFill>
              <a:srgbClr val="9DD7E8"/>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EF2F7"/>
          </a:solidFill>
          <a:ln w="12700">
            <a:solidFill>
              <a:srgbClr val="C2CEDD"/>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25400">
            <a:solidFill>
              <a:srgbClr val="55627E"/>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31750">
            <a:solidFill>
              <a:srgbClr val="55627E"/>
            </a:solidFill>
            <a:prstDash val="sysDot"/>
            <a:tailEnd type="triangle"/>
          </a:ln>
        </p:spPr>
      </p:sp>
      <p:sp>
        <p:nvSpPr>
          <p:cNvPr id="15" name="Text 13"/>
          <p:cNvSpPr/>
          <p:nvPr/>
        </p:nvSpPr>
        <p:spPr>
          <a:xfrm>
            <a:off x="3653714" y="2427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31750">
            <a:solidFill>
              <a:srgbClr val="55627E"/>
            </a:solidFill>
            <a:prstDash val="sysDot"/>
          </a:ln>
        </p:spPr>
      </p:sp>
      <p:sp>
        <p:nvSpPr>
          <p:cNvPr id="17" name="Shape 15"/>
          <p:cNvSpPr/>
          <p:nvPr/>
        </p:nvSpPr>
        <p:spPr>
          <a:xfrm>
            <a:off x="4704588" y="2602474"/>
            <a:ext cx="3478149" cy="0"/>
          </a:xfrm>
          <a:prstGeom prst="line">
            <a:avLst/>
          </a:prstGeom>
          <a:noFill/>
          <a:ln w="31750">
            <a:solidFill>
              <a:srgbClr val="55627E"/>
            </a:solidFill>
            <a:prstDash val="sysDot"/>
          </a:ln>
        </p:spPr>
      </p:sp>
      <p:sp>
        <p:nvSpPr>
          <p:cNvPr id="18" name="Shape 16"/>
          <p:cNvSpPr/>
          <p:nvPr/>
        </p:nvSpPr>
        <p:spPr>
          <a:xfrm>
            <a:off x="8182737" y="2602474"/>
            <a:ext cx="0" cy="450113"/>
          </a:xfrm>
          <a:prstGeom prst="line">
            <a:avLst/>
          </a:prstGeom>
          <a:noFill/>
          <a:ln w="31750">
            <a:solidFill>
              <a:srgbClr val="55627E"/>
            </a:solidFill>
            <a:prstDash val="sysDot"/>
          </a:ln>
        </p:spPr>
      </p:sp>
      <p:sp>
        <p:nvSpPr>
          <p:cNvPr id="19" name="Shape 17"/>
          <p:cNvSpPr/>
          <p:nvPr/>
        </p:nvSpPr>
        <p:spPr>
          <a:xfrm>
            <a:off x="8182737" y="3052587"/>
            <a:ext cx="286436" cy="0"/>
          </a:xfrm>
          <a:prstGeom prst="line">
            <a:avLst/>
          </a:prstGeom>
          <a:noFill/>
          <a:ln w="31750">
            <a:solidFill>
              <a:srgbClr val="55627E"/>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31750">
            <a:solidFill>
              <a:srgbClr val="55627E"/>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31750">
            <a:solidFill>
              <a:srgbClr val="55627E"/>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31750">
            <a:solidFill>
              <a:srgbClr val="55627E"/>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22860">
            <a:solidFill>
              <a:srgbClr val="1F4E8C"/>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22860">
            <a:solidFill>
              <a:srgbClr val="1F4E8C"/>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47625">
            <a:solidFill>
              <a:srgbClr val="2BA6CB"/>
            </a:solidFill>
            <a:prstDash val="solid"/>
            <a:tailEnd type="triangle"/>
          </a:ln>
        </p:spPr>
      </p:sp>
      <p:sp>
        <p:nvSpPr>
          <p:cNvPr id="38" name="Text 36"/>
          <p:cNvSpPr/>
          <p:nvPr/>
        </p:nvSpPr>
        <p:spPr>
          <a:xfrm>
            <a:off x="2303374" y="39085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47625">
            <a:solidFill>
              <a:srgbClr val="2BA6CB"/>
            </a:solidFill>
            <a:prstDash val="sysDot"/>
          </a:ln>
        </p:spPr>
      </p:sp>
      <p:sp>
        <p:nvSpPr>
          <p:cNvPr id="40" name="Shape 38"/>
          <p:cNvSpPr/>
          <p:nvPr/>
        </p:nvSpPr>
        <p:spPr>
          <a:xfrm flipV="1">
            <a:off x="5236540" y="3158978"/>
            <a:ext cx="0" cy="859307"/>
          </a:xfrm>
          <a:prstGeom prst="line">
            <a:avLst/>
          </a:prstGeom>
          <a:noFill/>
          <a:ln w="47625">
            <a:solidFill>
              <a:srgbClr val="2BA6CB"/>
            </a:solidFill>
            <a:prstDash val="sysDot"/>
          </a:ln>
        </p:spPr>
      </p:sp>
      <p:sp>
        <p:nvSpPr>
          <p:cNvPr id="41" name="Shape 39"/>
          <p:cNvSpPr/>
          <p:nvPr/>
        </p:nvSpPr>
        <p:spPr>
          <a:xfrm>
            <a:off x="5236540" y="3158978"/>
            <a:ext cx="286436" cy="0"/>
          </a:xfrm>
          <a:prstGeom prst="line">
            <a:avLst/>
          </a:prstGeom>
          <a:noFill/>
          <a:ln w="47625">
            <a:solidFill>
              <a:srgbClr val="2BA6CB"/>
            </a:solidFill>
            <a:prstDash val="sysDot"/>
            <a:tailEnd type="triangle"/>
          </a:ln>
        </p:spPr>
      </p:sp>
      <p:sp>
        <p:nvSpPr>
          <p:cNvPr id="42" name="Text 40"/>
          <p:cNvSpPr/>
          <p:nvPr/>
        </p:nvSpPr>
        <p:spPr>
          <a:xfrm>
            <a:off x="4983594" y="39085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5" name="Shape 43"/>
          <p:cNvSpPr/>
          <p:nvPr/>
        </p:nvSpPr>
        <p:spPr>
          <a:xfrm>
            <a:off x="785927" y="3831497"/>
            <a:ext cx="373576" cy="373576"/>
          </a:xfrm>
          <a:prstGeom prst="ellipse">
            <a:avLst/>
          </a:prstGeom>
          <a:solidFill>
            <a:srgbClr val="E3F4FA"/>
          </a:solidFill>
          <a:ln w="12700">
            <a:solidFill>
              <a:srgbClr val="E3F4FA"/>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0B6E8A"/>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2668219" y="1900101"/>
            <a:ext cx="373576" cy="373576"/>
          </a:xfrm>
          <a:prstGeom prst="ellipse">
            <a:avLst/>
          </a:prstGeom>
          <a:solidFill>
            <a:srgbClr val="EBECF0"/>
          </a:solidFill>
          <a:ln w="12700">
            <a:solidFill>
              <a:srgbClr val="EBECF0"/>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865799"/>
            <a:ext cx="373576" cy="373576"/>
          </a:xfrm>
          <a:prstGeom prst="ellipse">
            <a:avLst/>
          </a:prstGeom>
          <a:solidFill>
            <a:srgbClr val="EBECF0"/>
          </a:solidFill>
          <a:ln w="12700">
            <a:solidFill>
              <a:srgbClr val="EBECF0"/>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7" name="Shape 55"/>
          <p:cNvSpPr/>
          <p:nvPr/>
        </p:nvSpPr>
        <p:spPr>
          <a:xfrm>
            <a:off x="2668219" y="3831497"/>
            <a:ext cx="373576" cy="373576"/>
          </a:xfrm>
          <a:prstGeom prst="ellipse">
            <a:avLst/>
          </a:prstGeom>
          <a:solidFill>
            <a:srgbClr val="E3F4FA"/>
          </a:solidFill>
          <a:ln w="12700">
            <a:solidFill>
              <a:srgbClr val="E3F4FA"/>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0B6E8A"/>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5614416" y="1900101"/>
            <a:ext cx="373576" cy="373576"/>
          </a:xfrm>
          <a:prstGeom prst="ellipse">
            <a:avLst/>
          </a:prstGeom>
          <a:solidFill>
            <a:srgbClr val="E2EEF1"/>
          </a:solidFill>
          <a:ln w="12700">
            <a:solidFill>
              <a:srgbClr val="E2EEF1"/>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5" name="Shape 63"/>
          <p:cNvSpPr/>
          <p:nvPr/>
        </p:nvSpPr>
        <p:spPr>
          <a:xfrm>
            <a:off x="5614416" y="2865799"/>
            <a:ext cx="373576" cy="373576"/>
          </a:xfrm>
          <a:prstGeom prst="ellipse">
            <a:avLst/>
          </a:prstGeom>
          <a:solidFill>
            <a:srgbClr val="E2EEF1"/>
          </a:solidFill>
          <a:ln w="12700">
            <a:solidFill>
              <a:srgbClr val="E2EEF1"/>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12700">
            <a:solidFill>
              <a:srgbClr val="91BECA"/>
            </a:solidFill>
            <a:prstDash val="dash"/>
          </a:ln>
          <a:effectLst>
            <a:outerShdw sx="100000" sy="100000" kx="0" ky="0" algn="bl" rotWithShape="0" blurRad="76200" dist="19050" dir="5400000">
              <a:srgbClr val="0B1F3A">
                <a:alpha val="14000"/>
              </a:srgbClr>
            </a:outerShdw>
          </a:effectLst>
        </p:spPr>
      </p:sp>
      <p:sp>
        <p:nvSpPr>
          <p:cNvPr id="69" name="Shape 67"/>
          <p:cNvSpPr/>
          <p:nvPr/>
        </p:nvSpPr>
        <p:spPr>
          <a:xfrm>
            <a:off x="5614416" y="3831497"/>
            <a:ext cx="373576" cy="373576"/>
          </a:xfrm>
          <a:prstGeom prst="ellipse">
            <a:avLst/>
          </a:prstGeom>
          <a:solidFill>
            <a:srgbClr val="E2EEF1"/>
          </a:solidFill>
          <a:ln w="12700">
            <a:solidFill>
              <a:srgbClr val="E2EEF1"/>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3" name="Shape 71"/>
          <p:cNvSpPr/>
          <p:nvPr/>
        </p:nvSpPr>
        <p:spPr>
          <a:xfrm>
            <a:off x="8560613" y="1900101"/>
            <a:ext cx="373576" cy="373576"/>
          </a:xfrm>
          <a:prstGeom prst="ellipse">
            <a:avLst/>
          </a:prstGeom>
          <a:solidFill>
            <a:srgbClr val="E8EBEE"/>
          </a:solidFill>
          <a:ln w="12700">
            <a:solidFill>
              <a:srgbClr val="E8EBEE"/>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865799"/>
            <a:ext cx="373576" cy="373576"/>
          </a:xfrm>
          <a:prstGeom prst="ellipse">
            <a:avLst/>
          </a:prstGeom>
          <a:solidFill>
            <a:srgbClr val="E8EBEE"/>
          </a:solidFill>
          <a:ln w="12700">
            <a:solidFill>
              <a:srgbClr val="E8EBEE"/>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1" name="Shape 79"/>
          <p:cNvSpPr/>
          <p:nvPr/>
        </p:nvSpPr>
        <p:spPr>
          <a:xfrm>
            <a:off x="8560613" y="3831497"/>
            <a:ext cx="373576" cy="373576"/>
          </a:xfrm>
          <a:prstGeom prst="ellipse">
            <a:avLst/>
          </a:prstGeom>
          <a:solidFill>
            <a:srgbClr val="E8EBEE"/>
          </a:solidFill>
          <a:ln w="12700">
            <a:solidFill>
              <a:srgbClr val="E8EBEE"/>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BFCFE"/>
          </a:solidFill>
          <a:ln w="12700">
            <a:solidFill>
              <a:srgbClr val="D5DDE8"/>
            </a:solidFill>
            <a:prstDash val="solid"/>
          </a:ln>
        </p:spPr>
      </p:sp>
      <p:sp>
        <p:nvSpPr>
          <p:cNvPr id="85" name="Shape 83"/>
          <p:cNvSpPr/>
          <p:nvPr/>
        </p:nvSpPr>
        <p:spPr>
          <a:xfrm>
            <a:off x="2668219" y="4851536"/>
            <a:ext cx="313998" cy="313998"/>
          </a:xfrm>
          <a:prstGeom prst="ellipse">
            <a:avLst/>
          </a:prstGeom>
          <a:solidFill>
            <a:srgbClr val="EEF2F7"/>
          </a:solidFill>
          <a:ln w="12700">
            <a:solidFill>
              <a:srgbClr val="EEF2F7"/>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A9B4C6"/>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8A95AB"/>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BFCFE"/>
          </a:solidFill>
          <a:ln w="12700">
            <a:solidFill>
              <a:srgbClr val="D5DDE8"/>
            </a:solidFill>
            <a:prstDash val="solid"/>
          </a:ln>
        </p:spPr>
      </p:sp>
      <p:sp>
        <p:nvSpPr>
          <p:cNvPr id="89" name="Shape 87"/>
          <p:cNvSpPr/>
          <p:nvPr/>
        </p:nvSpPr>
        <p:spPr>
          <a:xfrm>
            <a:off x="5614416" y="4851536"/>
            <a:ext cx="313998" cy="313998"/>
          </a:xfrm>
          <a:prstGeom prst="ellipse">
            <a:avLst/>
          </a:prstGeom>
          <a:solidFill>
            <a:srgbClr val="EEF2F7"/>
          </a:solidFill>
          <a:ln w="12700">
            <a:solidFill>
              <a:srgbClr val="EEF2F7"/>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A9B4C6"/>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8A95AB"/>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9AA5B8"/>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94" name="Text 9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interfaz consulta los avisos con GET /notificaciones.</a:t>
            </a:r>
            <a:endParaRPr lang="en-US" sz="1300" dirty="0"/>
          </a:p>
        </p:txBody>
      </p:sp>
      <p:sp>
        <p:nvSpPr>
          <p:cNvPr id="95" name="Text 9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servicio-notificaciones</a:t>
            </a:r>
            <a:endParaRPr lang="en-US" sz="2800" dirty="0"/>
          </a:p>
        </p:txBody>
      </p:sp>
      <p:sp>
        <p:nvSpPr>
          <p:cNvPr id="5" name="Shape 3"/>
          <p:cNvSpPr/>
          <p:nvPr/>
        </p:nvSpPr>
        <p:spPr>
          <a:xfrm>
            <a:off x="2413102" y="1440363"/>
            <a:ext cx="2700680" cy="3273552"/>
          </a:xfrm>
          <a:prstGeom prst="roundRect">
            <a:avLst>
              <a:gd name="adj" fmla="val 4063"/>
            </a:avLst>
          </a:prstGeom>
          <a:solidFill>
            <a:srgbClr val="F7F9FC"/>
          </a:solidFill>
          <a:ln w="12700">
            <a:solidFill>
              <a:srgbClr val="C7D2E2"/>
            </a:solidFill>
            <a:prstDash val="solid"/>
          </a:ln>
        </p:spPr>
      </p:sp>
      <p:sp>
        <p:nvSpPr>
          <p:cNvPr id="6" name="Text 4"/>
          <p:cNvSpPr/>
          <p:nvPr/>
        </p:nvSpPr>
        <p:spPr>
          <a:xfrm>
            <a:off x="2486254" y="1495227"/>
            <a:ext cx="1971040" cy="219456"/>
          </a:xfrm>
          <a:prstGeom prst="roundRect">
            <a:avLst>
              <a:gd name="adj" fmla="val 50000"/>
            </a:avLst>
          </a:prstGeom>
          <a:solidFill>
            <a:srgbClr val="FFFFFF"/>
          </a:solidFill>
          <a:ln w="9525">
            <a:solidFill>
              <a:srgbClr val="C7D2E2"/>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5359298" y="1440363"/>
            <a:ext cx="2700680" cy="3273552"/>
          </a:xfrm>
          <a:prstGeom prst="roundRect">
            <a:avLst>
              <a:gd name="adj" fmla="val 4063"/>
            </a:avLst>
          </a:prstGeom>
          <a:solidFill>
            <a:srgbClr val="E5F5FA"/>
          </a:solidFill>
          <a:ln w="12700">
            <a:solidFill>
              <a:srgbClr val="9DD7E8"/>
            </a:solidFill>
            <a:prstDash val="solid"/>
          </a:ln>
        </p:spPr>
      </p:sp>
      <p:sp>
        <p:nvSpPr>
          <p:cNvPr id="8" name="Text 6"/>
          <p:cNvSpPr/>
          <p:nvPr/>
        </p:nvSpPr>
        <p:spPr>
          <a:xfrm>
            <a:off x="5432450" y="1495227"/>
            <a:ext cx="1808480" cy="219456"/>
          </a:xfrm>
          <a:prstGeom prst="roundRect">
            <a:avLst>
              <a:gd name="adj" fmla="val 50000"/>
            </a:avLst>
          </a:prstGeom>
          <a:solidFill>
            <a:srgbClr val="FFFFFF"/>
          </a:solidFill>
          <a:ln w="9525">
            <a:solidFill>
              <a:srgbClr val="9DD7E8"/>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DOMINIO · SIN SPRING</a:t>
            </a:r>
            <a:endParaRPr lang="en-US" sz="800" dirty="0"/>
          </a:p>
        </p:txBody>
      </p:sp>
      <p:sp>
        <p:nvSpPr>
          <p:cNvPr id="9" name="Shape 7"/>
          <p:cNvSpPr/>
          <p:nvPr/>
        </p:nvSpPr>
        <p:spPr>
          <a:xfrm>
            <a:off x="8305495" y="1440363"/>
            <a:ext cx="3191713" cy="3273552"/>
          </a:xfrm>
          <a:prstGeom prst="roundRect">
            <a:avLst>
              <a:gd name="adj" fmla="val 3438"/>
            </a:avLst>
          </a:prstGeom>
          <a:solidFill>
            <a:srgbClr val="EEF2F7"/>
          </a:solidFill>
          <a:ln w="12700">
            <a:solidFill>
              <a:srgbClr val="C2CEDD"/>
            </a:solidFill>
            <a:prstDash val="solid"/>
          </a:ln>
        </p:spPr>
      </p:sp>
      <p:sp>
        <p:nvSpPr>
          <p:cNvPr id="10" name="Text 8"/>
          <p:cNvSpPr/>
          <p:nvPr/>
        </p:nvSpPr>
        <p:spPr>
          <a:xfrm>
            <a:off x="8378647" y="1495227"/>
            <a:ext cx="2540000" cy="219456"/>
          </a:xfrm>
          <a:prstGeom prst="roundRect">
            <a:avLst>
              <a:gd name="adj" fmla="val 50000"/>
            </a:avLst>
          </a:prstGeom>
          <a:solidFill>
            <a:srgbClr val="FFFFFF"/>
          </a:solidFill>
          <a:ln w="9525">
            <a:solidFill>
              <a:srgbClr val="C2CEDD"/>
            </a:solidFill>
          </a:ln>
        </p:spPr>
        <p:txBody>
          <a:bodyPr wrap="square" lIns="0" tIns="0" rIns="0" bIns="0" rtlCol="0" anchor="ctr"/>
          <a:lstStyle/>
          <a:p>
            <a:pPr algn="ctr" indent="0" marL="0">
              <a:buNone/>
            </a:pPr>
            <a:r>
              <a:rPr lang="en-US" sz="800" b="1" spc="80" kern="0" dirty="0">
                <a:solidFill>
                  <a:srgbClr val="3D5675"/>
                </a:solidFill>
                <a:latin typeface="Segoe UI" pitchFamily="34" charset="0"/>
                <a:ea typeface="Segoe UI" pitchFamily="34" charset="-122"/>
                <a:cs typeface="Segoe UI" pitchFamily="34" charset="-120"/>
              </a:rPr>
              <a:t>SALIDA · MEMORIA Y POSTGRESQL</a:t>
            </a:r>
            <a:endParaRPr lang="en-US" sz="800" dirty="0"/>
          </a:p>
        </p:txBody>
      </p:sp>
      <p:sp>
        <p:nvSpPr>
          <p:cNvPr id="11" name="Shape 9"/>
          <p:cNvSpPr/>
          <p:nvPr/>
        </p:nvSpPr>
        <p:spPr>
          <a:xfrm>
            <a:off x="2249424" y="2086889"/>
            <a:ext cx="327355" cy="0"/>
          </a:xfrm>
          <a:prstGeom prst="line">
            <a:avLst/>
          </a:prstGeom>
          <a:noFill/>
          <a:ln w="25400">
            <a:solidFill>
              <a:srgbClr val="55627E"/>
            </a:solidFill>
            <a:prstDash val="dash"/>
            <a:tailEnd type="triangle"/>
          </a:ln>
        </p:spPr>
      </p:sp>
      <p:sp>
        <p:nvSpPr>
          <p:cNvPr id="12" name="Text 10"/>
          <p:cNvSpPr/>
          <p:nvPr/>
        </p:nvSpPr>
        <p:spPr>
          <a:xfrm>
            <a:off x="2162556" y="1857786"/>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13" name="Text 11"/>
          <p:cNvSpPr/>
          <p:nvPr/>
        </p:nvSpPr>
        <p:spPr>
          <a:xfrm>
            <a:off x="2303374" y="197716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3763442" y="2340590"/>
            <a:ext cx="0" cy="458297"/>
          </a:xfrm>
          <a:prstGeom prst="line">
            <a:avLst/>
          </a:prstGeom>
          <a:noFill/>
          <a:ln w="31750">
            <a:solidFill>
              <a:srgbClr val="55627E"/>
            </a:solidFill>
            <a:prstDash val="sysDot"/>
            <a:tailEnd type="triangle"/>
          </a:ln>
        </p:spPr>
      </p:sp>
      <p:sp>
        <p:nvSpPr>
          <p:cNvPr id="15" name="Text 13"/>
          <p:cNvSpPr/>
          <p:nvPr/>
        </p:nvSpPr>
        <p:spPr>
          <a:xfrm>
            <a:off x="3653714" y="2427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flipV="1">
            <a:off x="4704588" y="2602474"/>
            <a:ext cx="0" cy="196413"/>
          </a:xfrm>
          <a:prstGeom prst="line">
            <a:avLst/>
          </a:prstGeom>
          <a:noFill/>
          <a:ln w="31750">
            <a:solidFill>
              <a:srgbClr val="55627E"/>
            </a:solidFill>
            <a:prstDash val="sysDot"/>
          </a:ln>
        </p:spPr>
      </p:sp>
      <p:sp>
        <p:nvSpPr>
          <p:cNvPr id="17" name="Shape 15"/>
          <p:cNvSpPr/>
          <p:nvPr/>
        </p:nvSpPr>
        <p:spPr>
          <a:xfrm>
            <a:off x="4704588" y="2602474"/>
            <a:ext cx="3478149" cy="0"/>
          </a:xfrm>
          <a:prstGeom prst="line">
            <a:avLst/>
          </a:prstGeom>
          <a:noFill/>
          <a:ln w="31750">
            <a:solidFill>
              <a:srgbClr val="55627E"/>
            </a:solidFill>
            <a:prstDash val="sysDot"/>
          </a:ln>
        </p:spPr>
      </p:sp>
      <p:sp>
        <p:nvSpPr>
          <p:cNvPr id="18" name="Shape 16"/>
          <p:cNvSpPr/>
          <p:nvPr/>
        </p:nvSpPr>
        <p:spPr>
          <a:xfrm>
            <a:off x="8182737" y="2602474"/>
            <a:ext cx="0" cy="450113"/>
          </a:xfrm>
          <a:prstGeom prst="line">
            <a:avLst/>
          </a:prstGeom>
          <a:noFill/>
          <a:ln w="31750">
            <a:solidFill>
              <a:srgbClr val="55627E"/>
            </a:solidFill>
            <a:prstDash val="sysDot"/>
          </a:ln>
        </p:spPr>
      </p:sp>
      <p:sp>
        <p:nvSpPr>
          <p:cNvPr id="19" name="Shape 17"/>
          <p:cNvSpPr/>
          <p:nvPr/>
        </p:nvSpPr>
        <p:spPr>
          <a:xfrm>
            <a:off x="8182737" y="3052587"/>
            <a:ext cx="286436" cy="0"/>
          </a:xfrm>
          <a:prstGeom prst="line">
            <a:avLst/>
          </a:prstGeom>
          <a:noFill/>
          <a:ln w="31750">
            <a:solidFill>
              <a:srgbClr val="55627E"/>
            </a:solidFill>
            <a:prstDash val="sysDot"/>
            <a:tailEnd type="triangle"/>
          </a:ln>
        </p:spPr>
      </p:sp>
      <p:sp>
        <p:nvSpPr>
          <p:cNvPr id="20" name="Text 18"/>
          <p:cNvSpPr/>
          <p:nvPr/>
        </p:nvSpPr>
        <p:spPr>
          <a:xfrm>
            <a:off x="5757863" y="2373371"/>
            <a:ext cx="137160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¿existe el eventoId?</a:t>
            </a:r>
            <a:endParaRPr lang="en-US" sz="800" dirty="0"/>
          </a:p>
        </p:txBody>
      </p:sp>
      <p:sp>
        <p:nvSpPr>
          <p:cNvPr id="21" name="Text 19"/>
          <p:cNvSpPr/>
          <p:nvPr/>
        </p:nvSpPr>
        <p:spPr>
          <a:xfrm>
            <a:off x="4594860" y="259095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2" name="Shape 20"/>
          <p:cNvSpPr/>
          <p:nvPr/>
        </p:nvSpPr>
        <p:spPr>
          <a:xfrm flipV="1">
            <a:off x="9901352" y="2340590"/>
            <a:ext cx="0" cy="458297"/>
          </a:xfrm>
          <a:prstGeom prst="line">
            <a:avLst/>
          </a:prstGeom>
          <a:noFill/>
          <a:ln w="31750">
            <a:solidFill>
              <a:srgbClr val="55627E"/>
            </a:solidFill>
            <a:prstDash val="sysDot"/>
            <a:tailEnd type="triangle"/>
          </a:ln>
        </p:spPr>
      </p:sp>
      <p:sp>
        <p:nvSpPr>
          <p:cNvPr id="23" name="Text 21"/>
          <p:cNvSpPr/>
          <p:nvPr/>
        </p:nvSpPr>
        <p:spPr>
          <a:xfrm>
            <a:off x="9983191" y="244702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9791624"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5" name="Shape 23"/>
          <p:cNvSpPr/>
          <p:nvPr/>
        </p:nvSpPr>
        <p:spPr>
          <a:xfrm>
            <a:off x="4950104" y="3052587"/>
            <a:ext cx="572872" cy="0"/>
          </a:xfrm>
          <a:prstGeom prst="line">
            <a:avLst/>
          </a:prstGeom>
          <a:noFill/>
          <a:ln w="31750">
            <a:solidFill>
              <a:srgbClr val="55627E"/>
            </a:solidFill>
            <a:prstDash val="sysDot"/>
            <a:tailEnd type="triangle"/>
          </a:ln>
        </p:spPr>
      </p:sp>
      <p:sp>
        <p:nvSpPr>
          <p:cNvPr id="26" name="Text 24"/>
          <p:cNvSpPr/>
          <p:nvPr/>
        </p:nvSpPr>
        <p:spPr>
          <a:xfrm>
            <a:off x="4830547" y="2823484"/>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 nuevo</a:t>
            </a:r>
            <a:endParaRPr lang="en-US" sz="800" dirty="0"/>
          </a:p>
        </p:txBody>
      </p:sp>
      <p:sp>
        <p:nvSpPr>
          <p:cNvPr id="27" name="Text 25"/>
          <p:cNvSpPr/>
          <p:nvPr/>
        </p:nvSpPr>
        <p:spPr>
          <a:xfrm>
            <a:off x="5036790" y="294285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8" name="Shape 26"/>
          <p:cNvSpPr/>
          <p:nvPr/>
        </p:nvSpPr>
        <p:spPr>
          <a:xfrm flipV="1">
            <a:off x="6709639" y="2340590"/>
            <a:ext cx="0" cy="458297"/>
          </a:xfrm>
          <a:prstGeom prst="line">
            <a:avLst/>
          </a:prstGeom>
          <a:noFill/>
          <a:ln w="31750">
            <a:solidFill>
              <a:srgbClr val="55627E"/>
            </a:solidFill>
            <a:prstDash val="sysDot"/>
            <a:tailEnd type="triangle"/>
          </a:ln>
        </p:spPr>
      </p:sp>
      <p:sp>
        <p:nvSpPr>
          <p:cNvPr id="29" name="Text 27"/>
          <p:cNvSpPr/>
          <p:nvPr/>
        </p:nvSpPr>
        <p:spPr>
          <a:xfrm>
            <a:off x="6791477" y="2447026"/>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30" name="Text 28"/>
          <p:cNvSpPr/>
          <p:nvPr/>
        </p:nvSpPr>
        <p:spPr>
          <a:xfrm>
            <a:off x="6599911" y="249274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31" name="Shape 29"/>
          <p:cNvSpPr/>
          <p:nvPr/>
        </p:nvSpPr>
        <p:spPr>
          <a:xfrm>
            <a:off x="6709639" y="3306288"/>
            <a:ext cx="0" cy="458297"/>
          </a:xfrm>
          <a:prstGeom prst="line">
            <a:avLst/>
          </a:prstGeom>
          <a:noFill/>
          <a:ln w="22860">
            <a:solidFill>
              <a:srgbClr val="1F4E8C"/>
            </a:solidFill>
            <a:prstDash val="lgDash"/>
            <a:tailEnd type="arrow"/>
          </a:ln>
        </p:spPr>
      </p:sp>
      <p:sp>
        <p:nvSpPr>
          <p:cNvPr id="32" name="Text 30"/>
          <p:cNvSpPr/>
          <p:nvPr/>
        </p:nvSpPr>
        <p:spPr>
          <a:xfrm>
            <a:off x="6791477" y="3412724"/>
            <a:ext cx="501091"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guarda</a:t>
            </a:r>
            <a:endParaRPr lang="en-US" sz="800" dirty="0"/>
          </a:p>
        </p:txBody>
      </p:sp>
      <p:sp>
        <p:nvSpPr>
          <p:cNvPr id="33" name="Text 31"/>
          <p:cNvSpPr/>
          <p:nvPr/>
        </p:nvSpPr>
        <p:spPr>
          <a:xfrm>
            <a:off x="6599911" y="3392973"/>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4" name="Shape 32"/>
          <p:cNvSpPr/>
          <p:nvPr/>
        </p:nvSpPr>
        <p:spPr>
          <a:xfrm flipH="1">
            <a:off x="7896301" y="4018285"/>
            <a:ext cx="572872" cy="0"/>
          </a:xfrm>
          <a:prstGeom prst="line">
            <a:avLst/>
          </a:prstGeom>
          <a:noFill/>
          <a:ln w="22860">
            <a:solidFill>
              <a:srgbClr val="1F4E8C"/>
            </a:solidFill>
            <a:prstDash val="lgDash"/>
            <a:tailEnd type="arrow"/>
          </a:ln>
        </p:spPr>
      </p:sp>
      <p:sp>
        <p:nvSpPr>
          <p:cNvPr id="35" name="Text 33"/>
          <p:cNvSpPr/>
          <p:nvPr/>
        </p:nvSpPr>
        <p:spPr>
          <a:xfrm>
            <a:off x="7807833" y="3789182"/>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36" name="Text 34"/>
          <p:cNvSpPr/>
          <p:nvPr/>
        </p:nvSpPr>
        <p:spPr>
          <a:xfrm>
            <a:off x="8163032" y="390855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37" name="Shape 35"/>
          <p:cNvSpPr/>
          <p:nvPr/>
        </p:nvSpPr>
        <p:spPr>
          <a:xfrm>
            <a:off x="2249424" y="4018285"/>
            <a:ext cx="327355" cy="0"/>
          </a:xfrm>
          <a:prstGeom prst="line">
            <a:avLst/>
          </a:prstGeom>
          <a:noFill/>
          <a:ln w="31750">
            <a:solidFill>
              <a:srgbClr val="2E6DB4"/>
            </a:solidFill>
            <a:prstDash val="solid"/>
            <a:tailEnd type="triangle"/>
          </a:ln>
        </p:spPr>
      </p:sp>
      <p:sp>
        <p:nvSpPr>
          <p:cNvPr id="38" name="Text 36"/>
          <p:cNvSpPr/>
          <p:nvPr/>
        </p:nvSpPr>
        <p:spPr>
          <a:xfrm>
            <a:off x="2303374" y="390855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9" name="Shape 37"/>
          <p:cNvSpPr/>
          <p:nvPr/>
        </p:nvSpPr>
        <p:spPr>
          <a:xfrm>
            <a:off x="4950104" y="4018285"/>
            <a:ext cx="286436" cy="0"/>
          </a:xfrm>
          <a:prstGeom prst="line">
            <a:avLst/>
          </a:prstGeom>
          <a:noFill/>
          <a:ln w="31750">
            <a:solidFill>
              <a:srgbClr val="55627E"/>
            </a:solidFill>
            <a:prstDash val="sysDot"/>
          </a:ln>
        </p:spPr>
      </p:sp>
      <p:sp>
        <p:nvSpPr>
          <p:cNvPr id="40" name="Shape 38"/>
          <p:cNvSpPr/>
          <p:nvPr/>
        </p:nvSpPr>
        <p:spPr>
          <a:xfrm flipV="1">
            <a:off x="5236540" y="3158978"/>
            <a:ext cx="0" cy="859307"/>
          </a:xfrm>
          <a:prstGeom prst="line">
            <a:avLst/>
          </a:prstGeom>
          <a:noFill/>
          <a:ln w="31750">
            <a:solidFill>
              <a:srgbClr val="55627E"/>
            </a:solidFill>
            <a:prstDash val="sysDot"/>
          </a:ln>
        </p:spPr>
      </p:sp>
      <p:sp>
        <p:nvSpPr>
          <p:cNvPr id="41" name="Shape 39"/>
          <p:cNvSpPr/>
          <p:nvPr/>
        </p:nvSpPr>
        <p:spPr>
          <a:xfrm>
            <a:off x="5236540" y="3158978"/>
            <a:ext cx="286436" cy="0"/>
          </a:xfrm>
          <a:prstGeom prst="line">
            <a:avLst/>
          </a:prstGeom>
          <a:noFill/>
          <a:ln w="31750">
            <a:solidFill>
              <a:srgbClr val="55627E"/>
            </a:solidFill>
            <a:prstDash val="sysDot"/>
            <a:tailEnd type="triangle"/>
          </a:ln>
        </p:spPr>
      </p:sp>
      <p:sp>
        <p:nvSpPr>
          <p:cNvPr id="42" name="Text 40"/>
          <p:cNvSpPr/>
          <p:nvPr/>
        </p:nvSpPr>
        <p:spPr>
          <a:xfrm>
            <a:off x="4983594" y="39085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43" name="Text 41"/>
          <p:cNvSpPr/>
          <p:nvPr/>
        </p:nvSpPr>
        <p:spPr>
          <a:xfrm>
            <a:off x="694487" y="1833189"/>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67" b="1" dirty="0">
                <a:solidFill>
                  <a:srgbClr val="0B1A3C"/>
                </a:solidFill>
                <a:latin typeface="Segoe UI" pitchFamily="34" charset="0"/>
                <a:ea typeface="Segoe UI" pitchFamily="34" charset="-122"/>
                <a:cs typeface="Segoe UI" pitchFamily="34" charset="-120"/>
              </a:rPr>
              <a:t>servicio-solicitudes</a:t>
            </a:r>
            <a:endParaRPr lang="en-US" sz="967" dirty="0"/>
          </a:p>
          <a:p>
            <a:pPr algn="ctr" indent="0" marL="0">
              <a:buNone/>
            </a:pPr>
            <a:r>
              <a:rPr lang="en-US" sz="800" dirty="0">
                <a:solidFill>
                  <a:srgbClr val="55627E"/>
                </a:solidFill>
                <a:latin typeface="Segoe UI" pitchFamily="34" charset="0"/>
                <a:ea typeface="Segoe UI" pitchFamily="34" charset="-122"/>
                <a:cs typeface="Segoe UI" pitchFamily="34" charset="-120"/>
              </a:rPr>
              <a:t>el relevador entrega</a:t>
            </a:r>
            <a:endParaRPr lang="en-US" sz="967" dirty="0"/>
          </a:p>
        </p:txBody>
      </p:sp>
      <p:sp>
        <p:nvSpPr>
          <p:cNvPr id="44" name="Shape 42"/>
          <p:cNvSpPr/>
          <p:nvPr/>
        </p:nvSpPr>
        <p:spPr>
          <a:xfrm>
            <a:off x="694487" y="3764585"/>
            <a:ext cx="1554937" cy="507401"/>
          </a:xfrm>
          <a:prstGeom prst="roundRect">
            <a:avLst>
              <a:gd name="adj" fmla="val 1621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85927" y="3831497"/>
            <a:ext cx="373576" cy="373576"/>
          </a:xfrm>
          <a:prstGeom prst="ellipse">
            <a:avLst/>
          </a:prstGeom>
          <a:solidFill>
            <a:srgbClr val="E2E5EA"/>
          </a:solidFill>
          <a:ln w="12700">
            <a:solidFill>
              <a:srgbClr val="E2E5EA"/>
            </a:solidFill>
            <a:prstDash val="solid"/>
          </a:ln>
        </p:spPr>
      </p:sp>
      <p:sp>
        <p:nvSpPr>
          <p:cNvPr id="46" name="Icono monitor"/>
          <p:cNvSpPr/>
          <p:nvPr/>
        </p:nvSpPr>
        <p:spPr>
          <a:xfrm>
            <a:off x="840791" y="3886361"/>
            <a:ext cx="263848" cy="263848"/>
          </a:xfrm>
          <a:custGeom>
            <a:avLst/>
            <a:gdLst/>
            <a:ahLst/>
            <a:cxnLst/>
            <a:rect l="l" t="t" r="r" b="b"/>
            <a:pathLst>
              <a:path w="263848" h="263848">
                <a:moveTo>
                  <a:pt x="43975" y="32981"/>
                </a:moveTo>
                <a:lnTo>
                  <a:pt x="219874" y="32981"/>
                </a:lnTo>
                <a:cubicBezTo>
                  <a:pt x="232017" y="32981"/>
                  <a:pt x="241861" y="42825"/>
                  <a:pt x="241861" y="54968"/>
                </a:cubicBezTo>
                <a:lnTo>
                  <a:pt x="241861" y="164905"/>
                </a:lnTo>
                <a:cubicBezTo>
                  <a:pt x="241861" y="177048"/>
                  <a:pt x="232017" y="186893"/>
                  <a:pt x="219874" y="186893"/>
                </a:cubicBezTo>
                <a:lnTo>
                  <a:pt x="43975" y="186893"/>
                </a:lnTo>
                <a:cubicBezTo>
                  <a:pt x="31831" y="186893"/>
                  <a:pt x="21987" y="177048"/>
                  <a:pt x="21987" y="164905"/>
                </a:cubicBezTo>
                <a:lnTo>
                  <a:pt x="21987" y="54968"/>
                </a:lnTo>
                <a:cubicBezTo>
                  <a:pt x="21987" y="42825"/>
                  <a:pt x="31831" y="32981"/>
                  <a:pt x="43975" y="32981"/>
                </a:cubicBezTo>
                <a:close/>
                <a:moveTo>
                  <a:pt x="87949" y="230867"/>
                </a:moveTo>
                <a:lnTo>
                  <a:pt x="175899" y="230867"/>
                </a:lnTo>
                <a:moveTo>
                  <a:pt x="131924" y="186893"/>
                </a:moveTo>
                <a:lnTo>
                  <a:pt x="131924" y="230867"/>
                </a:lnTo>
              </a:path>
            </a:pathLst>
          </a:custGeom>
          <a:noFill/>
          <a:ln w="21987" cap="rnd">
            <a:solidFill>
              <a:srgbClr val="0B2350"/>
            </a:solidFill>
            <a:prstDash val="solid"/>
            <a:round/>
          </a:ln>
        </p:spPr>
      </p:sp>
      <p:sp>
        <p:nvSpPr>
          <p:cNvPr id="47" name="Text 45"/>
          <p:cNvSpPr/>
          <p:nvPr/>
        </p:nvSpPr>
        <p:spPr>
          <a:xfrm>
            <a:off x="1214367" y="3764585"/>
            <a:ext cx="980193"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arka-lite-ui</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consulta los avisos</a:t>
            </a:r>
            <a:endParaRPr lang="en-US" sz="967" dirty="0"/>
          </a:p>
        </p:txBody>
      </p:sp>
      <p:sp>
        <p:nvSpPr>
          <p:cNvPr id="48" name="Shape 46"/>
          <p:cNvSpPr/>
          <p:nvPr/>
        </p:nvSpPr>
        <p:spPr>
          <a:xfrm>
            <a:off x="2576779" y="1833189"/>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2668219" y="1900101"/>
            <a:ext cx="373576" cy="373576"/>
          </a:xfrm>
          <a:prstGeom prst="ellipse">
            <a:avLst/>
          </a:prstGeom>
          <a:solidFill>
            <a:srgbClr val="EBECF0"/>
          </a:solidFill>
          <a:ln w="12700">
            <a:solidFill>
              <a:srgbClr val="EBECF0"/>
            </a:solidFill>
            <a:prstDash val="solid"/>
          </a:ln>
        </p:spPr>
      </p:sp>
      <p:sp>
        <p:nvSpPr>
          <p:cNvPr id="50" name="Icono code"/>
          <p:cNvSpPr/>
          <p:nvPr/>
        </p:nvSpPr>
        <p:spPr>
          <a:xfrm>
            <a:off x="2723083" y="1954965"/>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1" name="Text 49"/>
          <p:cNvSpPr/>
          <p:nvPr/>
        </p:nvSpPr>
        <p:spPr>
          <a:xfrm>
            <a:off x="3096659"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67" dirty="0"/>
          </a:p>
        </p:txBody>
      </p:sp>
      <p:sp>
        <p:nvSpPr>
          <p:cNvPr id="52" name="Shape 50"/>
          <p:cNvSpPr/>
          <p:nvPr/>
        </p:nvSpPr>
        <p:spPr>
          <a:xfrm>
            <a:off x="2576779" y="2798887"/>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2668219" y="2865799"/>
            <a:ext cx="373576" cy="373576"/>
          </a:xfrm>
          <a:prstGeom prst="ellipse">
            <a:avLst/>
          </a:prstGeom>
          <a:solidFill>
            <a:srgbClr val="EBECF0"/>
          </a:solidFill>
          <a:ln w="12700">
            <a:solidFill>
              <a:srgbClr val="EBECF0"/>
            </a:solidFill>
            <a:prstDash val="solid"/>
          </a:ln>
        </p:spPr>
      </p:sp>
      <p:sp>
        <p:nvSpPr>
          <p:cNvPr id="54" name="Icono fingerprint"/>
          <p:cNvSpPr/>
          <p:nvPr/>
        </p:nvSpPr>
        <p:spPr>
          <a:xfrm>
            <a:off x="2723083" y="2920663"/>
            <a:ext cx="263848" cy="263848"/>
          </a:xfrm>
          <a:custGeom>
            <a:avLst/>
            <a:gdLst/>
            <a:ahLst/>
            <a:cxnLst/>
            <a:rect l="l" t="t" r="r" b="b"/>
            <a:pathLst>
              <a:path w="263848" h="263848">
                <a:moveTo>
                  <a:pt x="131924" y="109937"/>
                </a:moveTo>
                <a:cubicBezTo>
                  <a:pt x="119781" y="109937"/>
                  <a:pt x="109937" y="119781"/>
                  <a:pt x="109937" y="131924"/>
                </a:cubicBezTo>
                <a:cubicBezTo>
                  <a:pt x="109937" y="143138"/>
                  <a:pt x="108837" y="159518"/>
                  <a:pt x="107078" y="175899"/>
                </a:cubicBezTo>
                <a:moveTo>
                  <a:pt x="153912" y="144237"/>
                </a:moveTo>
                <a:cubicBezTo>
                  <a:pt x="153912" y="170402"/>
                  <a:pt x="153912" y="214377"/>
                  <a:pt x="142918" y="241861"/>
                </a:cubicBezTo>
                <a:moveTo>
                  <a:pt x="190081" y="231087"/>
                </a:moveTo>
                <a:cubicBezTo>
                  <a:pt x="191400" y="224491"/>
                  <a:pt x="194808" y="205802"/>
                  <a:pt x="195578" y="197886"/>
                </a:cubicBezTo>
                <a:moveTo>
                  <a:pt x="21987" y="131924"/>
                </a:moveTo>
                <a:cubicBezTo>
                  <a:pt x="21987" y="84604"/>
                  <a:pt x="52267" y="42593"/>
                  <a:pt x="97159" y="27629"/>
                </a:cubicBezTo>
                <a:cubicBezTo>
                  <a:pt x="142051" y="12665"/>
                  <a:pt x="191481" y="28106"/>
                  <a:pt x="219874" y="65962"/>
                </a:cubicBezTo>
                <a:moveTo>
                  <a:pt x="21987" y="175899"/>
                </a:moveTo>
                <a:lnTo>
                  <a:pt x="22097" y="175899"/>
                </a:lnTo>
                <a:moveTo>
                  <a:pt x="239662" y="175899"/>
                </a:moveTo>
                <a:cubicBezTo>
                  <a:pt x="241861" y="153912"/>
                  <a:pt x="241102" y="117039"/>
                  <a:pt x="239662" y="109937"/>
                </a:cubicBezTo>
                <a:moveTo>
                  <a:pt x="54968" y="214377"/>
                </a:moveTo>
                <a:cubicBezTo>
                  <a:pt x="60465" y="197886"/>
                  <a:pt x="65962" y="164905"/>
                  <a:pt x="65962" y="131924"/>
                </a:cubicBezTo>
                <a:cubicBezTo>
                  <a:pt x="65951" y="124436"/>
                  <a:pt x="67215" y="117001"/>
                  <a:pt x="69700" y="109937"/>
                </a:cubicBezTo>
                <a:moveTo>
                  <a:pt x="95095" y="241861"/>
                </a:moveTo>
                <a:cubicBezTo>
                  <a:pt x="97404" y="234605"/>
                  <a:pt x="100042" y="227349"/>
                  <a:pt x="101362" y="219874"/>
                </a:cubicBezTo>
                <a:moveTo>
                  <a:pt x="98943" y="74757"/>
                </a:moveTo>
                <a:cubicBezTo>
                  <a:pt x="119358" y="62970"/>
                  <a:pt x="144512" y="62974"/>
                  <a:pt x="164924" y="74768"/>
                </a:cubicBezTo>
                <a:cubicBezTo>
                  <a:pt x="185335" y="86561"/>
                  <a:pt x="197901" y="108351"/>
                  <a:pt x="197886" y="131924"/>
                </a:cubicBezTo>
                <a:lnTo>
                  <a:pt x="197886" y="153912"/>
                </a:lnTo>
              </a:path>
            </a:pathLst>
          </a:custGeom>
          <a:noFill/>
          <a:ln w="21987" cap="rnd">
            <a:solidFill>
              <a:srgbClr val="55627E"/>
            </a:solidFill>
            <a:prstDash val="solid"/>
            <a:round/>
          </a:ln>
        </p:spPr>
      </p:sp>
      <p:sp>
        <p:nvSpPr>
          <p:cNvPr id="55" name="Text 53"/>
          <p:cNvSpPr/>
          <p:nvPr/>
        </p:nvSpPr>
        <p:spPr>
          <a:xfrm>
            <a:off x="3096659"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ConsumoIdempotente</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@Transactional · ¿ya llegó?</a:t>
            </a:r>
            <a:endParaRPr lang="en-US" sz="967" dirty="0"/>
          </a:p>
        </p:txBody>
      </p:sp>
      <p:sp>
        <p:nvSpPr>
          <p:cNvPr id="56" name="Shape 54"/>
          <p:cNvSpPr/>
          <p:nvPr/>
        </p:nvSpPr>
        <p:spPr>
          <a:xfrm>
            <a:off x="2576779" y="3764585"/>
            <a:ext cx="2373325" cy="507401"/>
          </a:xfrm>
          <a:prstGeom prst="roundRect">
            <a:avLst>
              <a:gd name="adj" fmla="val 16219"/>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57" name="Shape 55"/>
          <p:cNvSpPr/>
          <p:nvPr/>
        </p:nvSpPr>
        <p:spPr>
          <a:xfrm>
            <a:off x="2668219" y="3831497"/>
            <a:ext cx="373576" cy="373576"/>
          </a:xfrm>
          <a:prstGeom prst="ellipse">
            <a:avLst/>
          </a:prstGeom>
          <a:solidFill>
            <a:srgbClr val="EBECF0"/>
          </a:solidFill>
          <a:ln w="12700">
            <a:solidFill>
              <a:srgbClr val="EBECF0"/>
            </a:solidFill>
            <a:prstDash val="solid"/>
          </a:ln>
        </p:spPr>
      </p:sp>
      <p:sp>
        <p:nvSpPr>
          <p:cNvPr id="58" name="Icono code"/>
          <p:cNvSpPr/>
          <p:nvPr/>
        </p:nvSpPr>
        <p:spPr>
          <a:xfrm>
            <a:off x="2723083" y="3886361"/>
            <a:ext cx="263848" cy="263848"/>
          </a:xfrm>
          <a:custGeom>
            <a:avLst/>
            <a:gdLst/>
            <a:ahLst/>
            <a:cxnLst/>
            <a:rect l="l" t="t" r="r" b="b"/>
            <a:pathLst>
              <a:path w="263848" h="263848">
                <a:moveTo>
                  <a:pt x="175899" y="197886"/>
                </a:moveTo>
                <a:lnTo>
                  <a:pt x="241861" y="131924"/>
                </a:lnTo>
                <a:lnTo>
                  <a:pt x="175899" y="65962"/>
                </a:lnTo>
                <a:moveTo>
                  <a:pt x="87949" y="65962"/>
                </a:moveTo>
                <a:lnTo>
                  <a:pt x="21987" y="131924"/>
                </a:lnTo>
                <a:lnTo>
                  <a:pt x="87949" y="197886"/>
                </a:lnTo>
              </a:path>
            </a:pathLst>
          </a:custGeom>
          <a:noFill/>
          <a:ln w="21987" cap="rnd">
            <a:solidFill>
              <a:srgbClr val="55627E"/>
            </a:solidFill>
            <a:prstDash val="solid"/>
            <a:round/>
          </a:ln>
        </p:spPr>
      </p:sp>
      <p:sp>
        <p:nvSpPr>
          <p:cNvPr id="59" name="Text 57"/>
          <p:cNvSpPr/>
          <p:nvPr/>
        </p:nvSpPr>
        <p:spPr>
          <a:xfrm>
            <a:off x="3096659"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NotificacionController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GET /notificaciones</a:t>
            </a:r>
            <a:endParaRPr lang="en-US" sz="967" dirty="0"/>
          </a:p>
        </p:txBody>
      </p:sp>
      <p:sp>
        <p:nvSpPr>
          <p:cNvPr id="60" name="Shape 58"/>
          <p:cNvSpPr/>
          <p:nvPr/>
        </p:nvSpPr>
        <p:spPr>
          <a:xfrm>
            <a:off x="5522976" y="1833189"/>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5614416" y="1900101"/>
            <a:ext cx="373576" cy="373576"/>
          </a:xfrm>
          <a:prstGeom prst="ellipse">
            <a:avLst/>
          </a:prstGeom>
          <a:solidFill>
            <a:srgbClr val="E2EEF1"/>
          </a:solidFill>
          <a:ln w="12700">
            <a:solidFill>
              <a:srgbClr val="E2EEF1"/>
            </a:solidFill>
            <a:prstDash val="solid"/>
          </a:ln>
        </p:spPr>
      </p:sp>
      <p:sp>
        <p:nvSpPr>
          <p:cNvPr id="62" name="Icono file-text"/>
          <p:cNvSpPr/>
          <p:nvPr/>
        </p:nvSpPr>
        <p:spPr>
          <a:xfrm>
            <a:off x="5669280" y="1954965"/>
            <a:ext cx="263848" cy="263848"/>
          </a:xfrm>
          <a:custGeom>
            <a:avLst/>
            <a:gdLst/>
            <a:ahLst/>
            <a:cxnLst/>
            <a:rect l="l" t="t" r="r" b="b"/>
            <a:pathLst>
              <a:path w="263848" h="263848">
                <a:moveTo>
                  <a:pt x="164905" y="21987"/>
                </a:moveTo>
                <a:lnTo>
                  <a:pt x="65962" y="21987"/>
                </a:lnTo>
                <a:cubicBezTo>
                  <a:pt x="53819" y="21987"/>
                  <a:pt x="43975" y="31831"/>
                  <a:pt x="43975" y="43975"/>
                </a:cubicBezTo>
                <a:lnTo>
                  <a:pt x="43975" y="219874"/>
                </a:lnTo>
                <a:cubicBezTo>
                  <a:pt x="43975" y="232017"/>
                  <a:pt x="53819" y="241861"/>
                  <a:pt x="65962" y="241861"/>
                </a:cubicBezTo>
                <a:lnTo>
                  <a:pt x="197886" y="241861"/>
                </a:lnTo>
                <a:cubicBezTo>
                  <a:pt x="210030" y="241861"/>
                  <a:pt x="219874" y="232017"/>
                  <a:pt x="219874" y="219874"/>
                </a:cubicBezTo>
                <a:lnTo>
                  <a:pt x="219874" y="76956"/>
                </a:lnTo>
                <a:close/>
                <a:moveTo>
                  <a:pt x="153912" y="21987"/>
                </a:moveTo>
                <a:lnTo>
                  <a:pt x="153912" y="65962"/>
                </a:lnTo>
                <a:cubicBezTo>
                  <a:pt x="153912" y="78105"/>
                  <a:pt x="163756" y="87949"/>
                  <a:pt x="175899" y="87949"/>
                </a:cubicBezTo>
                <a:lnTo>
                  <a:pt x="219874" y="87949"/>
                </a:lnTo>
                <a:moveTo>
                  <a:pt x="109937" y="98943"/>
                </a:moveTo>
                <a:lnTo>
                  <a:pt x="87949" y="98943"/>
                </a:lnTo>
                <a:moveTo>
                  <a:pt x="175899" y="142918"/>
                </a:moveTo>
                <a:lnTo>
                  <a:pt x="87949" y="142918"/>
                </a:lnTo>
                <a:moveTo>
                  <a:pt x="175899" y="186893"/>
                </a:moveTo>
                <a:lnTo>
                  <a:pt x="87949" y="186893"/>
                </a:lnTo>
              </a:path>
            </a:pathLst>
          </a:custGeom>
          <a:noFill/>
          <a:ln w="21987" cap="rnd">
            <a:solidFill>
              <a:srgbClr val="0B6E8A"/>
            </a:solidFill>
            <a:prstDash val="solid"/>
            <a:round/>
          </a:ln>
        </p:spPr>
      </p:sp>
      <p:sp>
        <p:nvSpPr>
          <p:cNvPr id="63" name="Text 61"/>
          <p:cNvSpPr/>
          <p:nvPr/>
        </p:nvSpPr>
        <p:spPr>
          <a:xfrm>
            <a:off x="6042856" y="1833189"/>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Notificacion</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record del aviso</a:t>
            </a:r>
            <a:endParaRPr lang="en-US" sz="967" dirty="0"/>
          </a:p>
        </p:txBody>
      </p:sp>
      <p:sp>
        <p:nvSpPr>
          <p:cNvPr id="64" name="Shape 62"/>
          <p:cNvSpPr/>
          <p:nvPr/>
        </p:nvSpPr>
        <p:spPr>
          <a:xfrm>
            <a:off x="5522976" y="2798887"/>
            <a:ext cx="2373325" cy="507401"/>
          </a:xfrm>
          <a:prstGeom prst="roundRect">
            <a:avLst>
              <a:gd name="adj" fmla="val 16219"/>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5" name="Shape 63"/>
          <p:cNvSpPr/>
          <p:nvPr/>
        </p:nvSpPr>
        <p:spPr>
          <a:xfrm>
            <a:off x="5614416" y="2865799"/>
            <a:ext cx="373576" cy="373576"/>
          </a:xfrm>
          <a:prstGeom prst="ellipse">
            <a:avLst/>
          </a:prstGeom>
          <a:solidFill>
            <a:srgbClr val="E2EEF1"/>
          </a:solidFill>
          <a:ln w="12700">
            <a:solidFill>
              <a:srgbClr val="E2EEF1"/>
            </a:solidFill>
            <a:prstDash val="solid"/>
          </a:ln>
        </p:spPr>
      </p:sp>
      <p:sp>
        <p:nvSpPr>
          <p:cNvPr id="66" name="Icono settings"/>
          <p:cNvSpPr/>
          <p:nvPr/>
        </p:nvSpPr>
        <p:spPr>
          <a:xfrm>
            <a:off x="5669280" y="2920663"/>
            <a:ext cx="263848" cy="263848"/>
          </a:xfrm>
          <a:custGeom>
            <a:avLst/>
            <a:gdLst/>
            <a:ahLst/>
            <a:cxnLst/>
            <a:rect l="l" t="t" r="r" b="b"/>
            <a:pathLst>
              <a:path w="263848" h="263848">
                <a:moveTo>
                  <a:pt x="134343" y="21987"/>
                </a:moveTo>
                <a:lnTo>
                  <a:pt x="129506" y="21987"/>
                </a:lnTo>
                <a:cubicBezTo>
                  <a:pt x="117362" y="21987"/>
                  <a:pt x="107518" y="31831"/>
                  <a:pt x="107518" y="43975"/>
                </a:cubicBezTo>
                <a:lnTo>
                  <a:pt x="107518" y="45954"/>
                </a:lnTo>
                <a:cubicBezTo>
                  <a:pt x="107510" y="53801"/>
                  <a:pt x="103320" y="61049"/>
                  <a:pt x="96524" y="64973"/>
                </a:cubicBezTo>
                <a:lnTo>
                  <a:pt x="91797" y="67721"/>
                </a:lnTo>
                <a:cubicBezTo>
                  <a:pt x="84994" y="71649"/>
                  <a:pt x="76613" y="71649"/>
                  <a:pt x="69810" y="67721"/>
                </a:cubicBezTo>
                <a:lnTo>
                  <a:pt x="68161" y="66842"/>
                </a:lnTo>
                <a:cubicBezTo>
                  <a:pt x="57655" y="60781"/>
                  <a:pt x="44227" y="64372"/>
                  <a:pt x="38148" y="74867"/>
                </a:cubicBezTo>
                <a:lnTo>
                  <a:pt x="35729" y="79045"/>
                </a:lnTo>
                <a:cubicBezTo>
                  <a:pt x="29669" y="89550"/>
                  <a:pt x="33260" y="102979"/>
                  <a:pt x="43755" y="109057"/>
                </a:cubicBezTo>
                <a:lnTo>
                  <a:pt x="45404" y="110157"/>
                </a:lnTo>
                <a:cubicBezTo>
                  <a:pt x="52166" y="114061"/>
                  <a:pt x="56350" y="121258"/>
                  <a:pt x="56398" y="129066"/>
                </a:cubicBezTo>
                <a:lnTo>
                  <a:pt x="56398" y="134673"/>
                </a:lnTo>
                <a:cubicBezTo>
                  <a:pt x="56429" y="142559"/>
                  <a:pt x="52234" y="149858"/>
                  <a:pt x="45404" y="153802"/>
                </a:cubicBezTo>
                <a:lnTo>
                  <a:pt x="43755" y="154791"/>
                </a:lnTo>
                <a:cubicBezTo>
                  <a:pt x="33260" y="160870"/>
                  <a:pt x="29669" y="174298"/>
                  <a:pt x="35729" y="184804"/>
                </a:cubicBezTo>
                <a:lnTo>
                  <a:pt x="38148" y="188981"/>
                </a:lnTo>
                <a:cubicBezTo>
                  <a:pt x="44227" y="199476"/>
                  <a:pt x="57655" y="203067"/>
                  <a:pt x="68161" y="197007"/>
                </a:cubicBezTo>
                <a:lnTo>
                  <a:pt x="69810" y="196127"/>
                </a:lnTo>
                <a:cubicBezTo>
                  <a:pt x="76613" y="192200"/>
                  <a:pt x="84994" y="192200"/>
                  <a:pt x="91797" y="196127"/>
                </a:cubicBezTo>
                <a:lnTo>
                  <a:pt x="96524" y="198876"/>
                </a:lnTo>
                <a:cubicBezTo>
                  <a:pt x="103320" y="202799"/>
                  <a:pt x="107510" y="210047"/>
                  <a:pt x="107518" y="217895"/>
                </a:cubicBezTo>
                <a:lnTo>
                  <a:pt x="107518" y="219874"/>
                </a:lnTo>
                <a:cubicBezTo>
                  <a:pt x="107518" y="232017"/>
                  <a:pt x="117362" y="241861"/>
                  <a:pt x="129506" y="241861"/>
                </a:cubicBezTo>
                <a:lnTo>
                  <a:pt x="134343" y="241861"/>
                </a:lnTo>
                <a:cubicBezTo>
                  <a:pt x="146486" y="241861"/>
                  <a:pt x="156330" y="232017"/>
                  <a:pt x="156330" y="219874"/>
                </a:cubicBezTo>
                <a:lnTo>
                  <a:pt x="156330" y="217895"/>
                </a:lnTo>
                <a:cubicBezTo>
                  <a:pt x="156338" y="210047"/>
                  <a:pt x="160528" y="202799"/>
                  <a:pt x="167324" y="198876"/>
                </a:cubicBezTo>
                <a:lnTo>
                  <a:pt x="172051" y="196127"/>
                </a:lnTo>
                <a:cubicBezTo>
                  <a:pt x="178854" y="192200"/>
                  <a:pt x="187236" y="192200"/>
                  <a:pt x="194038" y="196127"/>
                </a:cubicBezTo>
                <a:lnTo>
                  <a:pt x="195687" y="197007"/>
                </a:lnTo>
                <a:cubicBezTo>
                  <a:pt x="206193" y="203067"/>
                  <a:pt x="219621" y="199476"/>
                  <a:pt x="225700" y="188981"/>
                </a:cubicBezTo>
                <a:lnTo>
                  <a:pt x="228119" y="184694"/>
                </a:lnTo>
                <a:cubicBezTo>
                  <a:pt x="234179" y="174188"/>
                  <a:pt x="230588" y="160760"/>
                  <a:pt x="220093" y="154681"/>
                </a:cubicBezTo>
                <a:lnTo>
                  <a:pt x="218444" y="153802"/>
                </a:lnTo>
                <a:cubicBezTo>
                  <a:pt x="211614" y="149858"/>
                  <a:pt x="207419" y="142559"/>
                  <a:pt x="207451" y="134673"/>
                </a:cubicBezTo>
                <a:lnTo>
                  <a:pt x="207451" y="129176"/>
                </a:lnTo>
                <a:cubicBezTo>
                  <a:pt x="207419" y="121289"/>
                  <a:pt x="211614" y="113990"/>
                  <a:pt x="218444" y="110047"/>
                </a:cubicBezTo>
                <a:lnTo>
                  <a:pt x="220093" y="109057"/>
                </a:lnTo>
                <a:cubicBezTo>
                  <a:pt x="230588" y="102979"/>
                  <a:pt x="234179" y="89550"/>
                  <a:pt x="228119" y="79045"/>
                </a:cubicBezTo>
                <a:lnTo>
                  <a:pt x="225700" y="74867"/>
                </a:lnTo>
                <a:cubicBezTo>
                  <a:pt x="219621" y="64372"/>
                  <a:pt x="206193" y="60781"/>
                  <a:pt x="195687" y="66842"/>
                </a:cubicBezTo>
                <a:lnTo>
                  <a:pt x="194038" y="67721"/>
                </a:lnTo>
                <a:cubicBezTo>
                  <a:pt x="187236" y="71649"/>
                  <a:pt x="178854" y="71649"/>
                  <a:pt x="172051" y="67721"/>
                </a:cubicBezTo>
                <a:lnTo>
                  <a:pt x="167324" y="64973"/>
                </a:lnTo>
                <a:cubicBezTo>
                  <a:pt x="160528" y="61049"/>
                  <a:pt x="156338" y="53801"/>
                  <a:pt x="156330" y="45954"/>
                </a:cubicBezTo>
                <a:lnTo>
                  <a:pt x="156330" y="43975"/>
                </a:lnTo>
                <a:cubicBezTo>
                  <a:pt x="156330" y="31831"/>
                  <a:pt x="146486" y="21987"/>
                  <a:pt x="134343" y="21987"/>
                </a:cubicBezTo>
                <a:close/>
                <a:moveTo>
                  <a:pt x="164905" y="131924"/>
                </a:moveTo>
                <a:cubicBezTo>
                  <a:pt x="164905" y="150139"/>
                  <a:pt x="150139" y="164905"/>
                  <a:pt x="131924" y="164905"/>
                </a:cubicBezTo>
                <a:cubicBezTo>
                  <a:pt x="113709" y="164905"/>
                  <a:pt x="98943" y="150139"/>
                  <a:pt x="98943" y="131924"/>
                </a:cubicBezTo>
                <a:cubicBezTo>
                  <a:pt x="98943" y="113709"/>
                  <a:pt x="113709" y="98943"/>
                  <a:pt x="131924" y="98943"/>
                </a:cubicBezTo>
                <a:cubicBezTo>
                  <a:pt x="150139" y="98943"/>
                  <a:pt x="164905" y="113709"/>
                  <a:pt x="164905" y="131924"/>
                </a:cubicBezTo>
                <a:close/>
              </a:path>
            </a:pathLst>
          </a:custGeom>
          <a:noFill/>
          <a:ln w="21987" cap="rnd">
            <a:solidFill>
              <a:srgbClr val="0B6E8A"/>
            </a:solidFill>
            <a:prstDash val="solid"/>
            <a:round/>
          </a:ln>
        </p:spPr>
      </p:sp>
      <p:sp>
        <p:nvSpPr>
          <p:cNvPr id="67" name="Text 65"/>
          <p:cNvSpPr/>
          <p:nvPr/>
        </p:nvSpPr>
        <p:spPr>
          <a:xfrm>
            <a:off x="6042856" y="2798887"/>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ServicioDeNotificaciones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crea y lista los avisos</a:t>
            </a:r>
            <a:endParaRPr lang="en-US" sz="967" dirty="0"/>
          </a:p>
        </p:txBody>
      </p:sp>
      <p:sp>
        <p:nvSpPr>
          <p:cNvPr id="68" name="Shape 66"/>
          <p:cNvSpPr/>
          <p:nvPr/>
        </p:nvSpPr>
        <p:spPr>
          <a:xfrm>
            <a:off x="5522976" y="3764585"/>
            <a:ext cx="2373325" cy="507401"/>
          </a:xfrm>
          <a:prstGeom prst="roundRect">
            <a:avLst>
              <a:gd name="adj" fmla="val 16219"/>
            </a:avLst>
          </a:prstGeom>
          <a:solidFill>
            <a:srgbClr val="FFFFFF"/>
          </a:solidFill>
          <a:ln w="12700">
            <a:solidFill>
              <a:srgbClr val="91BECA"/>
            </a:solidFill>
            <a:prstDash val="dash"/>
          </a:ln>
          <a:effectLst>
            <a:outerShdw sx="100000" sy="100000" kx="0" ky="0" algn="bl" rotWithShape="0" blurRad="76200" dist="19050" dir="5400000">
              <a:srgbClr val="0B1F3A">
                <a:alpha val="14000"/>
              </a:srgbClr>
            </a:outerShdw>
          </a:effectLst>
        </p:spPr>
      </p:sp>
      <p:sp>
        <p:nvSpPr>
          <p:cNvPr id="69" name="Shape 67"/>
          <p:cNvSpPr/>
          <p:nvPr/>
        </p:nvSpPr>
        <p:spPr>
          <a:xfrm>
            <a:off x="5614416" y="3831497"/>
            <a:ext cx="373576" cy="373576"/>
          </a:xfrm>
          <a:prstGeom prst="ellipse">
            <a:avLst/>
          </a:prstGeom>
          <a:solidFill>
            <a:srgbClr val="E2EEF1"/>
          </a:solidFill>
          <a:ln w="12700">
            <a:solidFill>
              <a:srgbClr val="E2EEF1"/>
            </a:solidFill>
            <a:prstDash val="solid"/>
          </a:ln>
        </p:spPr>
      </p:sp>
      <p:sp>
        <p:nvSpPr>
          <p:cNvPr id="70" name="Icono plug"/>
          <p:cNvSpPr/>
          <p:nvPr/>
        </p:nvSpPr>
        <p:spPr>
          <a:xfrm>
            <a:off x="5669280" y="3886361"/>
            <a:ext cx="263848" cy="263848"/>
          </a:xfrm>
          <a:custGeom>
            <a:avLst/>
            <a:gdLst/>
            <a:ahLst/>
            <a:cxnLst/>
            <a:rect l="l" t="t" r="r" b="b"/>
            <a:pathLst>
              <a:path w="263848" h="263848">
                <a:moveTo>
                  <a:pt x="131924" y="241861"/>
                </a:moveTo>
                <a:lnTo>
                  <a:pt x="131924" y="186893"/>
                </a:lnTo>
                <a:moveTo>
                  <a:pt x="98943" y="87949"/>
                </a:moveTo>
                <a:lnTo>
                  <a:pt x="98943" y="21987"/>
                </a:lnTo>
                <a:moveTo>
                  <a:pt x="164905" y="87949"/>
                </a:moveTo>
                <a:lnTo>
                  <a:pt x="164905" y="21987"/>
                </a:lnTo>
                <a:moveTo>
                  <a:pt x="197886" y="87949"/>
                </a:moveTo>
                <a:lnTo>
                  <a:pt x="197886" y="142918"/>
                </a:lnTo>
                <a:cubicBezTo>
                  <a:pt x="197886" y="167204"/>
                  <a:pt x="178198" y="186893"/>
                  <a:pt x="153912" y="186893"/>
                </a:cubicBezTo>
                <a:lnTo>
                  <a:pt x="109937" y="186893"/>
                </a:lnTo>
                <a:cubicBezTo>
                  <a:pt x="85650" y="186893"/>
                  <a:pt x="65962" y="167204"/>
                  <a:pt x="65962" y="142918"/>
                </a:cubicBezTo>
                <a:lnTo>
                  <a:pt x="65962" y="87949"/>
                </a:lnTo>
                <a:close/>
              </a:path>
            </a:pathLst>
          </a:custGeom>
          <a:noFill/>
          <a:ln w="21987" cap="rnd">
            <a:solidFill>
              <a:srgbClr val="0B6E8A"/>
            </a:solidFill>
            <a:prstDash val="solid"/>
            <a:round/>
          </a:ln>
        </p:spPr>
      </p:sp>
      <p:sp>
        <p:nvSpPr>
          <p:cNvPr id="71" name="Text 69"/>
          <p:cNvSpPr/>
          <p:nvPr/>
        </p:nvSpPr>
        <p:spPr>
          <a:xfrm>
            <a:off x="6042856" y="3764585"/>
            <a:ext cx="1798581" cy="507401"/>
          </a:xfrm>
          <a:prstGeom prst="rect">
            <a:avLst/>
          </a:prstGeom>
          <a:noFill/>
          <a:ln/>
        </p:spPr>
        <p:txBody>
          <a:bodyPr wrap="square" lIns="12700" tIns="25400" rIns="25400" bIns="12700" rtlCol="0" anchor="ctr">
            <a:normAutofit/>
          </a:bodyPr>
          <a:lstStyle/>
          <a:p>
            <a:pPr algn="l" indent="0" marL="0">
              <a:lnSpc>
                <a:spcPct val="95000"/>
              </a:lnSpc>
              <a:buNone/>
            </a:pPr>
            <a:r>
              <a:rPr lang="en-US" sz="704" i="1" dirty="0">
                <a:solidFill>
                  <a:srgbClr val="55627E"/>
                </a:solidFill>
                <a:latin typeface="Segoe UI" pitchFamily="34" charset="0"/>
                <a:ea typeface="Segoe UI" pitchFamily="34" charset="-122"/>
                <a:cs typeface="Segoe UI" pitchFamily="34" charset="-120"/>
              </a:rPr>
              <a:t>«interfaz»</a:t>
            </a:r>
            <a:endParaRPr lang="en-US" sz="704" dirty="0"/>
          </a:p>
          <a:p>
            <a:pPr algn="l" indent="0" marL="0">
              <a:lnSpc>
                <a:spcPct val="95000"/>
              </a:lnSpc>
              <a:buNone/>
            </a:pPr>
            <a:r>
              <a:rPr lang="en-US" sz="851" b="1" dirty="0">
                <a:solidFill>
                  <a:srgbClr val="0B1A3C"/>
                </a:solidFill>
                <a:latin typeface="Segoe UI" pitchFamily="34" charset="0"/>
                <a:ea typeface="Segoe UI" pitchFamily="34" charset="-122"/>
                <a:cs typeface="Segoe UI" pitchFamily="34" charset="-120"/>
              </a:rPr>
              <a:t>RepositorioDeNotificaciones</a:t>
            </a:r>
            <a:endParaRPr lang="en-US" sz="704" dirty="0"/>
          </a:p>
          <a:p>
            <a:pPr algn="l" indent="0" marL="0">
              <a:lnSpc>
                <a:spcPct val="95000"/>
              </a:lnSpc>
              <a:buNone/>
            </a:pPr>
            <a:r>
              <a:rPr lang="en-US" sz="704" dirty="0">
                <a:solidFill>
                  <a:srgbClr val="55627E"/>
                </a:solidFill>
                <a:latin typeface="Segoe UI" pitchFamily="34" charset="0"/>
                <a:ea typeface="Segoe UI" pitchFamily="34" charset="-122"/>
                <a:cs typeface="Segoe UI" pitchFamily="34" charset="-120"/>
              </a:rPr>
              <a:t>puerto: guardar y listar</a:t>
            </a:r>
            <a:endParaRPr lang="en-US" sz="704" dirty="0"/>
          </a:p>
        </p:txBody>
      </p:sp>
      <p:sp>
        <p:nvSpPr>
          <p:cNvPr id="72" name="Shape 70"/>
          <p:cNvSpPr/>
          <p:nvPr/>
        </p:nvSpPr>
        <p:spPr>
          <a:xfrm>
            <a:off x="8469173" y="1833189"/>
            <a:ext cx="2864358" cy="507401"/>
          </a:xfrm>
          <a:prstGeom prst="roundRect">
            <a:avLst>
              <a:gd name="adj" fmla="val 1621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3" name="Shape 71"/>
          <p:cNvSpPr/>
          <p:nvPr/>
        </p:nvSpPr>
        <p:spPr>
          <a:xfrm>
            <a:off x="8560613" y="1900101"/>
            <a:ext cx="373576" cy="373576"/>
          </a:xfrm>
          <a:prstGeom prst="ellipse">
            <a:avLst/>
          </a:prstGeom>
          <a:solidFill>
            <a:srgbClr val="E8EBEE"/>
          </a:solidFill>
          <a:ln w="12700">
            <a:solidFill>
              <a:srgbClr val="E8EBEE"/>
            </a:solidFill>
            <a:prstDash val="solid"/>
          </a:ln>
        </p:spPr>
      </p:sp>
      <p:sp>
        <p:nvSpPr>
          <p:cNvPr id="74" name="Icono database"/>
          <p:cNvSpPr/>
          <p:nvPr/>
        </p:nvSpPr>
        <p:spPr>
          <a:xfrm>
            <a:off x="8615477" y="1954965"/>
            <a:ext cx="263848" cy="263848"/>
          </a:xfrm>
          <a:custGeom>
            <a:avLst/>
            <a:gdLst/>
            <a:ahLst/>
            <a:cxnLst/>
            <a:rect l="l" t="t" r="r" b="b"/>
            <a:pathLst>
              <a:path w="263848" h="263848">
                <a:moveTo>
                  <a:pt x="230867" y="54968"/>
                </a:moveTo>
                <a:cubicBezTo>
                  <a:pt x="230867" y="73183"/>
                  <a:pt x="186569" y="87949"/>
                  <a:pt x="131924" y="87949"/>
                </a:cubicBezTo>
                <a:cubicBezTo>
                  <a:pt x="77279" y="87949"/>
                  <a:pt x="32981" y="73183"/>
                  <a:pt x="32981" y="54968"/>
                </a:cubicBezTo>
                <a:cubicBezTo>
                  <a:pt x="32981" y="36753"/>
                  <a:pt x="77279" y="21987"/>
                  <a:pt x="131924" y="21987"/>
                </a:cubicBezTo>
                <a:cubicBezTo>
                  <a:pt x="186569" y="21987"/>
                  <a:pt x="230867" y="36753"/>
                  <a:pt x="230867" y="54968"/>
                </a:cubicBezTo>
                <a:close/>
                <a:moveTo>
                  <a:pt x="32981" y="54968"/>
                </a:moveTo>
                <a:lnTo>
                  <a:pt x="32981" y="208880"/>
                </a:lnTo>
                <a:cubicBezTo>
                  <a:pt x="32981" y="227095"/>
                  <a:pt x="77279" y="241861"/>
                  <a:pt x="131924" y="241861"/>
                </a:cubicBezTo>
                <a:cubicBezTo>
                  <a:pt x="186569" y="241861"/>
                  <a:pt x="230867" y="227095"/>
                  <a:pt x="230867" y="208880"/>
                </a:cubicBezTo>
                <a:lnTo>
                  <a:pt x="230867" y="54968"/>
                </a:lnTo>
                <a:moveTo>
                  <a:pt x="32981" y="131924"/>
                </a:moveTo>
                <a:cubicBezTo>
                  <a:pt x="32981" y="150139"/>
                  <a:pt x="77279" y="164905"/>
                  <a:pt x="131924" y="164905"/>
                </a:cubicBezTo>
                <a:cubicBezTo>
                  <a:pt x="186569" y="164905"/>
                  <a:pt x="230867" y="150139"/>
                  <a:pt x="230867" y="131924"/>
                </a:cubicBezTo>
              </a:path>
            </a:pathLst>
          </a:custGeom>
          <a:noFill/>
          <a:ln w="21987" cap="rnd">
            <a:solidFill>
              <a:srgbClr val="3D5675"/>
            </a:solidFill>
            <a:prstDash val="solid"/>
            <a:round/>
          </a:ln>
        </p:spPr>
      </p:sp>
      <p:sp>
        <p:nvSpPr>
          <p:cNvPr id="75" name="Text 73"/>
          <p:cNvSpPr/>
          <p:nvPr/>
        </p:nvSpPr>
        <p:spPr>
          <a:xfrm>
            <a:off x="8989053" y="1833189"/>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db-notificaciones</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tabla evento_procesado</a:t>
            </a:r>
            <a:endParaRPr lang="en-US" sz="967" dirty="0"/>
          </a:p>
        </p:txBody>
      </p:sp>
      <p:sp>
        <p:nvSpPr>
          <p:cNvPr id="76" name="Shape 74"/>
          <p:cNvSpPr/>
          <p:nvPr/>
        </p:nvSpPr>
        <p:spPr>
          <a:xfrm>
            <a:off x="8469173" y="2798887"/>
            <a:ext cx="2864358" cy="507401"/>
          </a:xfrm>
          <a:prstGeom prst="roundRect">
            <a:avLst>
              <a:gd name="adj" fmla="val 16219"/>
            </a:avLst>
          </a:prstGeom>
          <a:solidFill>
            <a:srgbClr val="FFFFFF"/>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77" name="Shape 75"/>
          <p:cNvSpPr/>
          <p:nvPr/>
        </p:nvSpPr>
        <p:spPr>
          <a:xfrm>
            <a:off x="8560613" y="2865799"/>
            <a:ext cx="373576" cy="373576"/>
          </a:xfrm>
          <a:prstGeom prst="ellipse">
            <a:avLst/>
          </a:prstGeom>
          <a:solidFill>
            <a:srgbClr val="E8EBEE"/>
          </a:solidFill>
          <a:ln w="12700">
            <a:solidFill>
              <a:srgbClr val="E8EBEE"/>
            </a:solidFill>
            <a:prstDash val="solid"/>
          </a:ln>
        </p:spPr>
      </p:sp>
      <p:sp>
        <p:nvSpPr>
          <p:cNvPr id="78" name="Icono save"/>
          <p:cNvSpPr/>
          <p:nvPr/>
        </p:nvSpPr>
        <p:spPr>
          <a:xfrm>
            <a:off x="8615477" y="2920663"/>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79" name="Text 77"/>
          <p:cNvSpPr/>
          <p:nvPr/>
        </p:nvSpPr>
        <p:spPr>
          <a:xfrm>
            <a:off x="8989053" y="2798887"/>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EventoProcesadoRepository</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Spring Data JPA</a:t>
            </a:r>
            <a:endParaRPr lang="en-US" sz="967" dirty="0"/>
          </a:p>
        </p:txBody>
      </p:sp>
      <p:sp>
        <p:nvSpPr>
          <p:cNvPr id="80" name="Shape 78"/>
          <p:cNvSpPr/>
          <p:nvPr/>
        </p:nvSpPr>
        <p:spPr>
          <a:xfrm>
            <a:off x="8469173" y="3764585"/>
            <a:ext cx="2864358" cy="507401"/>
          </a:xfrm>
          <a:prstGeom prst="roundRect">
            <a:avLst>
              <a:gd name="adj" fmla="val 16219"/>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81" name="Shape 79"/>
          <p:cNvSpPr/>
          <p:nvPr/>
        </p:nvSpPr>
        <p:spPr>
          <a:xfrm>
            <a:off x="8560613" y="3831497"/>
            <a:ext cx="373576" cy="373576"/>
          </a:xfrm>
          <a:prstGeom prst="ellipse">
            <a:avLst/>
          </a:prstGeom>
          <a:solidFill>
            <a:srgbClr val="E8EBEE"/>
          </a:solidFill>
          <a:ln w="12700">
            <a:solidFill>
              <a:srgbClr val="E8EBEE"/>
            </a:solidFill>
            <a:prstDash val="solid"/>
          </a:ln>
        </p:spPr>
      </p:sp>
      <p:sp>
        <p:nvSpPr>
          <p:cNvPr id="82" name="Icono save"/>
          <p:cNvSpPr/>
          <p:nvPr/>
        </p:nvSpPr>
        <p:spPr>
          <a:xfrm>
            <a:off x="8615477" y="3886361"/>
            <a:ext cx="263848" cy="263848"/>
          </a:xfrm>
          <a:custGeom>
            <a:avLst/>
            <a:gdLst/>
            <a:ahLst/>
            <a:cxnLst/>
            <a:rect l="l" t="t" r="r" b="b"/>
            <a:pathLst>
              <a:path w="263848" h="263848">
                <a:moveTo>
                  <a:pt x="167104" y="32981"/>
                </a:moveTo>
                <a:cubicBezTo>
                  <a:pt x="172904" y="33064"/>
                  <a:pt x="178436" y="35435"/>
                  <a:pt x="182495" y="39577"/>
                </a:cubicBezTo>
                <a:lnTo>
                  <a:pt x="224271" y="81353"/>
                </a:lnTo>
                <a:cubicBezTo>
                  <a:pt x="228414" y="85413"/>
                  <a:pt x="230785" y="90945"/>
                  <a:pt x="230867" y="96744"/>
                </a:cubicBezTo>
                <a:lnTo>
                  <a:pt x="230867" y="208880"/>
                </a:lnTo>
                <a:cubicBezTo>
                  <a:pt x="230867" y="221023"/>
                  <a:pt x="221023" y="230867"/>
                  <a:pt x="208880" y="230867"/>
                </a:cubicBezTo>
                <a:lnTo>
                  <a:pt x="54968" y="230867"/>
                </a:lnTo>
                <a:cubicBezTo>
                  <a:pt x="42825" y="230867"/>
                  <a:pt x="32981" y="221023"/>
                  <a:pt x="32981" y="208880"/>
                </a:cubicBezTo>
                <a:lnTo>
                  <a:pt x="32981" y="54968"/>
                </a:lnTo>
                <a:cubicBezTo>
                  <a:pt x="32981" y="42825"/>
                  <a:pt x="42825" y="32981"/>
                  <a:pt x="54968" y="32981"/>
                </a:cubicBezTo>
                <a:close/>
                <a:moveTo>
                  <a:pt x="186893" y="230867"/>
                </a:moveTo>
                <a:lnTo>
                  <a:pt x="186893" y="153912"/>
                </a:lnTo>
                <a:cubicBezTo>
                  <a:pt x="186893" y="147840"/>
                  <a:pt x="181971" y="142918"/>
                  <a:pt x="175899" y="142918"/>
                </a:cubicBezTo>
                <a:lnTo>
                  <a:pt x="87949" y="142918"/>
                </a:lnTo>
                <a:cubicBezTo>
                  <a:pt x="81878" y="142918"/>
                  <a:pt x="76956" y="147840"/>
                  <a:pt x="76956" y="153912"/>
                </a:cubicBezTo>
                <a:lnTo>
                  <a:pt x="76956" y="230867"/>
                </a:lnTo>
                <a:moveTo>
                  <a:pt x="76956" y="32981"/>
                </a:moveTo>
                <a:lnTo>
                  <a:pt x="76956" y="76956"/>
                </a:lnTo>
                <a:cubicBezTo>
                  <a:pt x="76956" y="83027"/>
                  <a:pt x="81878" y="87949"/>
                  <a:pt x="87949" y="87949"/>
                </a:cubicBezTo>
                <a:lnTo>
                  <a:pt x="164905" y="87949"/>
                </a:lnTo>
              </a:path>
            </a:pathLst>
          </a:custGeom>
          <a:noFill/>
          <a:ln w="21987" cap="rnd">
            <a:solidFill>
              <a:srgbClr val="3D5675"/>
            </a:solidFill>
            <a:prstDash val="solid"/>
            <a:round/>
          </a:ln>
        </p:spPr>
      </p:sp>
      <p:sp>
        <p:nvSpPr>
          <p:cNvPr id="83" name="Text 81"/>
          <p:cNvSpPr/>
          <p:nvPr/>
        </p:nvSpPr>
        <p:spPr>
          <a:xfrm>
            <a:off x="8989053" y="3764585"/>
            <a:ext cx="2289614" cy="507401"/>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5C3404"/>
                </a:solidFill>
                <a:latin typeface="Segoe UI" pitchFamily="34" charset="0"/>
                <a:ea typeface="Segoe UI" pitchFamily="34" charset="-122"/>
                <a:cs typeface="Segoe UI" pitchFamily="34" charset="-120"/>
              </a:rPr>
              <a:t>RepositorioEnMemoria</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los avisos, en memoria</a:t>
            </a:r>
            <a:endParaRPr lang="en-US" sz="967" dirty="0"/>
          </a:p>
        </p:txBody>
      </p:sp>
      <p:sp>
        <p:nvSpPr>
          <p:cNvPr id="84" name="Shape 82"/>
          <p:cNvSpPr/>
          <p:nvPr/>
        </p:nvSpPr>
        <p:spPr>
          <a:xfrm>
            <a:off x="2576779" y="4812121"/>
            <a:ext cx="2373325" cy="392826"/>
          </a:xfrm>
          <a:prstGeom prst="roundRect">
            <a:avLst>
              <a:gd name="adj" fmla="val 2095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5" name="Shape 83"/>
          <p:cNvSpPr/>
          <p:nvPr/>
        </p:nvSpPr>
        <p:spPr>
          <a:xfrm>
            <a:off x="2668219" y="4851536"/>
            <a:ext cx="313998" cy="313998"/>
          </a:xfrm>
          <a:prstGeom prst="ellipse">
            <a:avLst/>
          </a:prstGeom>
          <a:solidFill>
            <a:srgbClr val="E3F4FA"/>
          </a:solidFill>
          <a:ln w="12700">
            <a:solidFill>
              <a:srgbClr val="E3F4FA"/>
            </a:solidFill>
            <a:prstDash val="solid"/>
          </a:ln>
        </p:spPr>
      </p:sp>
      <p:sp>
        <p:nvSpPr>
          <p:cNvPr id="86" name="Icono book-open"/>
          <p:cNvSpPr/>
          <p:nvPr/>
        </p:nvSpPr>
        <p:spPr>
          <a:xfrm>
            <a:off x="2723083" y="4906400"/>
            <a:ext cx="204270" cy="204270"/>
          </a:xfrm>
          <a:custGeom>
            <a:avLst/>
            <a:gdLst/>
            <a:ahLst/>
            <a:cxnLst/>
            <a:rect l="l" t="t" r="r" b="b"/>
            <a:pathLst>
              <a:path w="204270" h="204270">
                <a:moveTo>
                  <a:pt x="102135" y="59579"/>
                </a:moveTo>
                <a:lnTo>
                  <a:pt x="102135" y="178736"/>
                </a:lnTo>
                <a:moveTo>
                  <a:pt x="25534" y="153202"/>
                </a:moveTo>
                <a:cubicBezTo>
                  <a:pt x="20833" y="153202"/>
                  <a:pt x="17022" y="149392"/>
                  <a:pt x="17022" y="144691"/>
                </a:cubicBezTo>
                <a:lnTo>
                  <a:pt x="17022" y="34045"/>
                </a:lnTo>
                <a:cubicBezTo>
                  <a:pt x="17022" y="29344"/>
                  <a:pt x="20833" y="25534"/>
                  <a:pt x="25534" y="25534"/>
                </a:cubicBezTo>
                <a:lnTo>
                  <a:pt x="68090" y="25534"/>
                </a:lnTo>
                <a:cubicBezTo>
                  <a:pt x="86892" y="25534"/>
                  <a:pt x="102135" y="40776"/>
                  <a:pt x="102135" y="59579"/>
                </a:cubicBezTo>
                <a:cubicBezTo>
                  <a:pt x="102135" y="40776"/>
                  <a:pt x="117377" y="25534"/>
                  <a:pt x="136180" y="25534"/>
                </a:cubicBezTo>
                <a:lnTo>
                  <a:pt x="178736" y="25534"/>
                </a:lnTo>
                <a:cubicBezTo>
                  <a:pt x="183437" y="25534"/>
                  <a:pt x="187247" y="29344"/>
                  <a:pt x="187247" y="34045"/>
                </a:cubicBezTo>
                <a:lnTo>
                  <a:pt x="187247" y="144691"/>
                </a:lnTo>
                <a:cubicBezTo>
                  <a:pt x="187247" y="149392"/>
                  <a:pt x="183437" y="153202"/>
                  <a:pt x="178736" y="153202"/>
                </a:cubicBezTo>
                <a:lnTo>
                  <a:pt x="127669" y="153202"/>
                </a:lnTo>
                <a:cubicBezTo>
                  <a:pt x="113567" y="153202"/>
                  <a:pt x="102135" y="164634"/>
                  <a:pt x="102135" y="178736"/>
                </a:cubicBezTo>
                <a:cubicBezTo>
                  <a:pt x="102135" y="164634"/>
                  <a:pt x="90703" y="153202"/>
                  <a:pt x="76601" y="153202"/>
                </a:cubicBezTo>
                <a:close/>
              </a:path>
            </a:pathLst>
          </a:custGeom>
          <a:noFill/>
          <a:ln w="17022" cap="rnd">
            <a:solidFill>
              <a:srgbClr val="0B6E8A"/>
            </a:solidFill>
            <a:prstDash val="solid"/>
            <a:round/>
          </a:ln>
        </p:spPr>
      </p:sp>
      <p:sp>
        <p:nvSpPr>
          <p:cNvPr id="87" name="Text 85"/>
          <p:cNvSpPr/>
          <p:nvPr/>
        </p:nvSpPr>
        <p:spPr>
          <a:xfrm>
            <a:off x="3037081"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967" b="1" dirty="0">
                <a:solidFill>
                  <a:srgbClr val="0B1A3C"/>
                </a:solidFill>
                <a:latin typeface="Segoe UI" pitchFamily="34" charset="0"/>
                <a:ea typeface="Segoe UI" pitchFamily="34" charset="-122"/>
                <a:cs typeface="Segoe UI" pitchFamily="34" charset="-120"/>
              </a:rPr>
              <a:t>Swagger y Actuator</a:t>
            </a:r>
            <a:endParaRPr lang="en-US" sz="967"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contrato y salud</a:t>
            </a:r>
            <a:endParaRPr lang="en-US" sz="967" dirty="0"/>
          </a:p>
        </p:txBody>
      </p:sp>
      <p:sp>
        <p:nvSpPr>
          <p:cNvPr id="88" name="Shape 86"/>
          <p:cNvSpPr/>
          <p:nvPr/>
        </p:nvSpPr>
        <p:spPr>
          <a:xfrm>
            <a:off x="5522976" y="4812121"/>
            <a:ext cx="2373325" cy="392826"/>
          </a:xfrm>
          <a:prstGeom prst="roundRect">
            <a:avLst>
              <a:gd name="adj" fmla="val 2095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89" name="Shape 87"/>
          <p:cNvSpPr/>
          <p:nvPr/>
        </p:nvSpPr>
        <p:spPr>
          <a:xfrm>
            <a:off x="5614416" y="4851536"/>
            <a:ext cx="313998" cy="313998"/>
          </a:xfrm>
          <a:prstGeom prst="ellipse">
            <a:avLst/>
          </a:prstGeom>
          <a:solidFill>
            <a:srgbClr val="E3F4FA"/>
          </a:solidFill>
          <a:ln w="12700">
            <a:solidFill>
              <a:srgbClr val="E3F4FA"/>
            </a:solidFill>
            <a:prstDash val="solid"/>
          </a:ln>
        </p:spPr>
      </p:sp>
      <p:sp>
        <p:nvSpPr>
          <p:cNvPr id="90" name="Icono settings"/>
          <p:cNvSpPr/>
          <p:nvPr/>
        </p:nvSpPr>
        <p:spPr>
          <a:xfrm>
            <a:off x="5669280" y="4906400"/>
            <a:ext cx="204270" cy="204270"/>
          </a:xfrm>
          <a:custGeom>
            <a:avLst/>
            <a:gdLst/>
            <a:ahLst/>
            <a:cxnLst/>
            <a:rect l="l" t="t" r="r" b="b"/>
            <a:pathLst>
              <a:path w="204270" h="204270">
                <a:moveTo>
                  <a:pt x="104007" y="17022"/>
                </a:moveTo>
                <a:lnTo>
                  <a:pt x="100262" y="17022"/>
                </a:lnTo>
                <a:cubicBezTo>
                  <a:pt x="90861" y="17022"/>
                  <a:pt x="83240" y="24644"/>
                  <a:pt x="83240" y="34045"/>
                </a:cubicBezTo>
                <a:lnTo>
                  <a:pt x="83240" y="35577"/>
                </a:lnTo>
                <a:cubicBezTo>
                  <a:pt x="83234" y="41652"/>
                  <a:pt x="79990" y="47264"/>
                  <a:pt x="74729" y="50301"/>
                </a:cubicBezTo>
                <a:lnTo>
                  <a:pt x="71069" y="52429"/>
                </a:lnTo>
                <a:cubicBezTo>
                  <a:pt x="65802" y="55470"/>
                  <a:pt x="59313" y="55470"/>
                  <a:pt x="54046" y="52429"/>
                </a:cubicBezTo>
                <a:lnTo>
                  <a:pt x="52770" y="51748"/>
                </a:lnTo>
                <a:cubicBezTo>
                  <a:pt x="44636" y="47057"/>
                  <a:pt x="34240" y="49837"/>
                  <a:pt x="29534" y="57962"/>
                </a:cubicBezTo>
                <a:lnTo>
                  <a:pt x="27662" y="61196"/>
                </a:lnTo>
                <a:cubicBezTo>
                  <a:pt x="22970" y="69329"/>
                  <a:pt x="25750" y="79725"/>
                  <a:pt x="33875" y="84431"/>
                </a:cubicBezTo>
                <a:lnTo>
                  <a:pt x="35151" y="85283"/>
                </a:lnTo>
                <a:cubicBezTo>
                  <a:pt x="40387" y="88305"/>
                  <a:pt x="43626" y="93877"/>
                  <a:pt x="43663" y="99922"/>
                </a:cubicBezTo>
                <a:lnTo>
                  <a:pt x="43663" y="104263"/>
                </a:lnTo>
                <a:cubicBezTo>
                  <a:pt x="43687" y="110368"/>
                  <a:pt x="40439" y="116019"/>
                  <a:pt x="35151" y="119072"/>
                </a:cubicBezTo>
                <a:lnTo>
                  <a:pt x="33875" y="119838"/>
                </a:lnTo>
                <a:cubicBezTo>
                  <a:pt x="25750" y="124544"/>
                  <a:pt x="22970" y="134941"/>
                  <a:pt x="27662" y="143074"/>
                </a:cubicBezTo>
                <a:lnTo>
                  <a:pt x="29534" y="146308"/>
                </a:lnTo>
                <a:cubicBezTo>
                  <a:pt x="34240" y="154433"/>
                  <a:pt x="44636" y="157213"/>
                  <a:pt x="52770" y="152521"/>
                </a:cubicBezTo>
                <a:lnTo>
                  <a:pt x="54046" y="151840"/>
                </a:lnTo>
                <a:cubicBezTo>
                  <a:pt x="59313" y="148800"/>
                  <a:pt x="65802" y="148800"/>
                  <a:pt x="71069" y="151840"/>
                </a:cubicBezTo>
                <a:lnTo>
                  <a:pt x="74729" y="153968"/>
                </a:lnTo>
                <a:cubicBezTo>
                  <a:pt x="79990" y="157006"/>
                  <a:pt x="83234" y="162617"/>
                  <a:pt x="83240" y="168693"/>
                </a:cubicBezTo>
                <a:lnTo>
                  <a:pt x="83240" y="170225"/>
                </a:lnTo>
                <a:cubicBezTo>
                  <a:pt x="83240" y="179626"/>
                  <a:pt x="90861" y="187247"/>
                  <a:pt x="100262" y="187247"/>
                </a:cubicBezTo>
                <a:lnTo>
                  <a:pt x="104007" y="187247"/>
                </a:lnTo>
                <a:cubicBezTo>
                  <a:pt x="113409" y="187247"/>
                  <a:pt x="121030" y="179626"/>
                  <a:pt x="121030" y="170225"/>
                </a:cubicBezTo>
                <a:lnTo>
                  <a:pt x="121030" y="168693"/>
                </a:lnTo>
                <a:cubicBezTo>
                  <a:pt x="121036" y="162617"/>
                  <a:pt x="124280" y="157006"/>
                  <a:pt x="129541" y="153968"/>
                </a:cubicBezTo>
                <a:lnTo>
                  <a:pt x="133201" y="151840"/>
                </a:lnTo>
                <a:cubicBezTo>
                  <a:pt x="138468" y="148800"/>
                  <a:pt x="144957" y="148800"/>
                  <a:pt x="150223" y="151840"/>
                </a:cubicBezTo>
                <a:lnTo>
                  <a:pt x="151500" y="152521"/>
                </a:lnTo>
                <a:cubicBezTo>
                  <a:pt x="159633" y="157213"/>
                  <a:pt x="170030" y="154433"/>
                  <a:pt x="174736" y="146308"/>
                </a:cubicBezTo>
                <a:lnTo>
                  <a:pt x="176608" y="142989"/>
                </a:lnTo>
                <a:cubicBezTo>
                  <a:pt x="181300" y="134855"/>
                  <a:pt x="178520" y="124459"/>
                  <a:pt x="170395" y="119753"/>
                </a:cubicBezTo>
                <a:lnTo>
                  <a:pt x="169118" y="119072"/>
                </a:lnTo>
                <a:cubicBezTo>
                  <a:pt x="163830" y="116019"/>
                  <a:pt x="160583" y="110368"/>
                  <a:pt x="160607" y="104263"/>
                </a:cubicBezTo>
                <a:lnTo>
                  <a:pt x="160607" y="100007"/>
                </a:lnTo>
                <a:cubicBezTo>
                  <a:pt x="160583" y="93901"/>
                  <a:pt x="163830" y="88250"/>
                  <a:pt x="169118" y="85197"/>
                </a:cubicBezTo>
                <a:lnTo>
                  <a:pt x="170395" y="84431"/>
                </a:lnTo>
                <a:cubicBezTo>
                  <a:pt x="178520" y="79725"/>
                  <a:pt x="181300" y="69329"/>
                  <a:pt x="176608" y="61196"/>
                </a:cubicBezTo>
                <a:lnTo>
                  <a:pt x="174736" y="57962"/>
                </a:lnTo>
                <a:cubicBezTo>
                  <a:pt x="170030" y="49837"/>
                  <a:pt x="159633" y="47057"/>
                  <a:pt x="151500" y="51748"/>
                </a:cubicBezTo>
                <a:lnTo>
                  <a:pt x="150223" y="52429"/>
                </a:lnTo>
                <a:cubicBezTo>
                  <a:pt x="144957" y="55470"/>
                  <a:pt x="138468" y="55470"/>
                  <a:pt x="133201" y="52429"/>
                </a:cubicBezTo>
                <a:lnTo>
                  <a:pt x="129541" y="50301"/>
                </a:lnTo>
                <a:cubicBezTo>
                  <a:pt x="124280" y="47264"/>
                  <a:pt x="121036" y="41652"/>
                  <a:pt x="121030" y="35577"/>
                </a:cubicBezTo>
                <a:lnTo>
                  <a:pt x="121030" y="34045"/>
                </a:lnTo>
                <a:cubicBezTo>
                  <a:pt x="121030" y="24644"/>
                  <a:pt x="113409" y="17022"/>
                  <a:pt x="104007" y="17022"/>
                </a:cubicBezTo>
                <a:close/>
                <a:moveTo>
                  <a:pt x="127669" y="102135"/>
                </a:moveTo>
                <a:cubicBezTo>
                  <a:pt x="127669" y="116237"/>
                  <a:pt x="116237" y="127669"/>
                  <a:pt x="102135" y="127669"/>
                </a:cubicBezTo>
                <a:cubicBezTo>
                  <a:pt x="88033" y="127669"/>
                  <a:pt x="76601" y="116237"/>
                  <a:pt x="76601" y="102135"/>
                </a:cubicBezTo>
                <a:cubicBezTo>
                  <a:pt x="76601" y="88033"/>
                  <a:pt x="88033" y="76601"/>
                  <a:pt x="102135" y="76601"/>
                </a:cubicBezTo>
                <a:cubicBezTo>
                  <a:pt x="116237" y="76601"/>
                  <a:pt x="127669" y="88033"/>
                  <a:pt x="127669" y="102135"/>
                </a:cubicBezTo>
                <a:close/>
              </a:path>
            </a:pathLst>
          </a:custGeom>
          <a:noFill/>
          <a:ln w="17022" cap="rnd">
            <a:solidFill>
              <a:srgbClr val="0B6E8A"/>
            </a:solidFill>
            <a:prstDash val="solid"/>
            <a:round/>
          </a:ln>
        </p:spPr>
      </p:sp>
      <p:sp>
        <p:nvSpPr>
          <p:cNvPr id="91" name="Text 89"/>
          <p:cNvSpPr/>
          <p:nvPr/>
        </p:nvSpPr>
        <p:spPr>
          <a:xfrm>
            <a:off x="5983278" y="4812121"/>
            <a:ext cx="1858160" cy="392826"/>
          </a:xfrm>
          <a:prstGeom prst="rect">
            <a:avLst/>
          </a:prstGeom>
          <a:noFill/>
          <a:ln/>
        </p:spPr>
        <p:txBody>
          <a:bodyPr wrap="square" lIns="12700" tIns="25400" rIns="25400" bIns="12700" rtlCol="0" anchor="ctr">
            <a:normAutofit/>
          </a:bodyPr>
          <a:lstStyle/>
          <a:p>
            <a:pPr algn="l" indent="0" marL="0">
              <a:lnSpc>
                <a:spcPct val="95000"/>
              </a:lnSpc>
              <a:buNone/>
            </a:pPr>
            <a:r>
              <a:rPr lang="en-US" sz="889" b="1" dirty="0">
                <a:solidFill>
                  <a:srgbClr val="0B1A3C"/>
                </a:solidFill>
                <a:latin typeface="Segoe UI" pitchFamily="34" charset="0"/>
                <a:ea typeface="Segoe UI" pitchFamily="34" charset="-122"/>
                <a:cs typeface="Segoe UI" pitchFamily="34" charset="-120"/>
              </a:rPr>
              <a:t>ConfiguracionNotificaciones</a:t>
            </a:r>
            <a:endParaRPr lang="en-US" sz="889" dirty="0"/>
          </a:p>
          <a:p>
            <a:pPr algn="l" indent="0" marL="0">
              <a:lnSpc>
                <a:spcPct val="95000"/>
              </a:lnSpc>
              <a:buNone/>
            </a:pPr>
            <a:r>
              <a:rPr lang="en-US" sz="736" dirty="0">
                <a:solidFill>
                  <a:srgbClr val="55627E"/>
                </a:solidFill>
                <a:latin typeface="Segoe UI" pitchFamily="34" charset="0"/>
                <a:ea typeface="Segoe UI" pitchFamily="34" charset="-122"/>
                <a:cs typeface="Segoe UI" pitchFamily="34" charset="-120"/>
              </a:rPr>
              <a:t>@Bean: arma el dominio</a:t>
            </a:r>
            <a:endParaRPr lang="en-US" sz="889" dirty="0"/>
          </a:p>
        </p:txBody>
      </p:sp>
      <p:sp>
        <p:nvSpPr>
          <p:cNvPr id="92" name="Shape 9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93" name="Text 9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94" name="Text 9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ConfiguracionNotificaciones arma el dominio; Swagger y Actuator publican el contrato y la salud.</a:t>
            </a:r>
            <a:endParaRPr lang="en-US" sz="1300" dirty="0"/>
          </a:p>
        </p:txBody>
      </p:sp>
      <p:sp>
        <p:nvSpPr>
          <p:cNvPr id="95" name="Text 9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consulta, capa por capa</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controlador recibe el id</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servicio pide la solicitud por el puerto</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adaptador JPA consulta PostgreSQL</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fila vuelve convertida en objeto del dominio</a:t>
            </a:r>
            <a:endParaRPr lang="en-US" sz="1100" dirty="0"/>
          </a:p>
        </p:txBody>
      </p:sp>
      <p:sp>
        <p:nvSpPr>
          <p:cNvPr id="9" name="Shape 7"/>
          <p:cNvSpPr/>
          <p:nvPr/>
        </p:nvSpPr>
        <p:spPr>
          <a:xfrm>
            <a:off x="1983448" y="3945711"/>
            <a:ext cx="548320" cy="0"/>
          </a:xfrm>
          <a:prstGeom prst="line">
            <a:avLst/>
          </a:prstGeom>
          <a:noFill/>
          <a:ln w="31750">
            <a:solidFill>
              <a:srgbClr val="2E6DB4"/>
            </a:solidFill>
            <a:prstDash val="solid"/>
            <a:tailEnd type="triangle"/>
          </a:ln>
        </p:spPr>
      </p:sp>
      <p:sp>
        <p:nvSpPr>
          <p:cNvPr id="10" name="Text 8"/>
          <p:cNvSpPr/>
          <p:nvPr/>
        </p:nvSpPr>
        <p:spPr>
          <a:xfrm>
            <a:off x="2094502" y="3708015"/>
            <a:ext cx="326212"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GET</a:t>
            </a:r>
            <a:endParaRPr lang="en-US" sz="850" dirty="0"/>
          </a:p>
        </p:txBody>
      </p:sp>
      <p:sp>
        <p:nvSpPr>
          <p:cNvPr id="11" name="Text 9"/>
          <p:cNvSpPr/>
          <p:nvPr/>
        </p:nvSpPr>
        <p:spPr>
          <a:xfrm>
            <a:off x="2093048" y="383598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176728" y="3945711"/>
            <a:ext cx="731093" cy="0"/>
          </a:xfrm>
          <a:prstGeom prst="line">
            <a:avLst/>
          </a:prstGeom>
          <a:noFill/>
          <a:ln w="31750">
            <a:solidFill>
              <a:srgbClr val="55627E"/>
            </a:solidFill>
            <a:prstDash val="sysDot"/>
            <a:tailEnd type="triangle"/>
          </a:ln>
        </p:spPr>
      </p:sp>
      <p:sp>
        <p:nvSpPr>
          <p:cNvPr id="13" name="Text 11"/>
          <p:cNvSpPr/>
          <p:nvPr/>
        </p:nvSpPr>
        <p:spPr>
          <a:xfrm>
            <a:off x="4147939" y="3708015"/>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4" name="Text 12"/>
          <p:cNvSpPr/>
          <p:nvPr/>
        </p:nvSpPr>
        <p:spPr>
          <a:xfrm>
            <a:off x="4286328" y="38359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6644168" y="3945711"/>
            <a:ext cx="913867" cy="0"/>
          </a:xfrm>
          <a:prstGeom prst="line">
            <a:avLst/>
          </a:prstGeom>
          <a:noFill/>
          <a:ln w="31750">
            <a:solidFill>
              <a:srgbClr val="55627E"/>
            </a:solidFill>
            <a:prstDash val="sysDot"/>
            <a:tailEnd type="triangle"/>
          </a:ln>
        </p:spPr>
      </p:sp>
      <p:sp>
        <p:nvSpPr>
          <p:cNvPr id="16" name="Text 14"/>
          <p:cNvSpPr/>
          <p:nvPr/>
        </p:nvSpPr>
        <p:spPr>
          <a:xfrm>
            <a:off x="6640700" y="3708015"/>
            <a:ext cx="920801"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vía contrato</a:t>
            </a:r>
            <a:endParaRPr lang="en-US" sz="850" dirty="0"/>
          </a:p>
        </p:txBody>
      </p:sp>
      <p:sp>
        <p:nvSpPr>
          <p:cNvPr id="17" name="Text 15"/>
          <p:cNvSpPr/>
          <p:nvPr/>
        </p:nvSpPr>
        <p:spPr>
          <a:xfrm>
            <a:off x="6753768" y="38359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8" name="Shape 16"/>
          <p:cNvSpPr/>
          <p:nvPr/>
        </p:nvSpPr>
        <p:spPr>
          <a:xfrm>
            <a:off x="9020221" y="3945711"/>
            <a:ext cx="822480" cy="0"/>
          </a:xfrm>
          <a:prstGeom prst="line">
            <a:avLst/>
          </a:prstGeom>
          <a:noFill/>
          <a:ln w="31750">
            <a:solidFill>
              <a:srgbClr val="55627E"/>
            </a:solidFill>
            <a:prstDash val="sysDot"/>
            <a:tailEnd type="triangle"/>
          </a:ln>
        </p:spPr>
      </p:sp>
      <p:sp>
        <p:nvSpPr>
          <p:cNvPr id="19" name="Text 17"/>
          <p:cNvSpPr/>
          <p:nvPr/>
        </p:nvSpPr>
        <p:spPr>
          <a:xfrm>
            <a:off x="9103191" y="3708015"/>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findById</a:t>
            </a:r>
            <a:endParaRPr lang="en-US" sz="850" dirty="0"/>
          </a:p>
        </p:txBody>
      </p:sp>
      <p:sp>
        <p:nvSpPr>
          <p:cNvPr id="20" name="Text 18"/>
          <p:cNvSpPr/>
          <p:nvPr/>
        </p:nvSpPr>
        <p:spPr>
          <a:xfrm>
            <a:off x="9129821" y="38359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a:off x="10400159" y="4402644"/>
            <a:ext cx="0" cy="859035"/>
          </a:xfrm>
          <a:prstGeom prst="line">
            <a:avLst/>
          </a:prstGeom>
          <a:noFill/>
          <a:ln w="31750">
            <a:solidFill>
              <a:srgbClr val="55627E"/>
            </a:solidFill>
            <a:prstDash val="sysDot"/>
            <a:tailEnd type="triangle"/>
          </a:ln>
        </p:spPr>
      </p:sp>
      <p:sp>
        <p:nvSpPr>
          <p:cNvPr id="22" name="Text 20"/>
          <p:cNvSpPr/>
          <p:nvPr/>
        </p:nvSpPr>
        <p:spPr>
          <a:xfrm>
            <a:off x="9784364" y="4713268"/>
            <a:ext cx="524408" cy="192024"/>
          </a:xfrm>
          <a:prstGeom prst="rect">
            <a:avLst/>
          </a:prstGeom>
          <a:noFill/>
          <a:ln/>
        </p:spPr>
        <p:txBody>
          <a:bodyPr wrap="square" lIns="0" tIns="0" rIns="0" bIns="0" rtlCol="0" anchor="ctr"/>
          <a:lstStyle/>
          <a:p>
            <a:pPr algn="r" indent="0" marL="0">
              <a:buNone/>
            </a:pPr>
            <a:r>
              <a:rPr lang="en-US" sz="850" b="1" dirty="0">
                <a:solidFill>
                  <a:srgbClr val="55627E"/>
                </a:solidFill>
                <a:latin typeface="Segoe UI" pitchFamily="34" charset="0"/>
                <a:ea typeface="Segoe UI" pitchFamily="34" charset="-122"/>
                <a:cs typeface="Segoe UI" pitchFamily="34" charset="-120"/>
              </a:rPr>
              <a:t>SELECT</a:t>
            </a:r>
            <a:endParaRPr lang="en-US" sz="850" dirty="0"/>
          </a:p>
        </p:txBody>
      </p:sp>
      <p:sp>
        <p:nvSpPr>
          <p:cNvPr id="23" name="Text 21"/>
          <p:cNvSpPr/>
          <p:nvPr/>
        </p:nvSpPr>
        <p:spPr>
          <a:xfrm>
            <a:off x="10290431" y="451224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Shape 22"/>
          <p:cNvSpPr/>
          <p:nvPr/>
        </p:nvSpPr>
        <p:spPr>
          <a:xfrm flipV="1">
            <a:off x="10838815" y="4402644"/>
            <a:ext cx="0" cy="859035"/>
          </a:xfrm>
          <a:prstGeom prst="line">
            <a:avLst/>
          </a:prstGeom>
          <a:noFill/>
          <a:ln w="31750">
            <a:solidFill>
              <a:srgbClr val="55627E"/>
            </a:solidFill>
            <a:prstDash val="sysDot"/>
            <a:tailEnd type="triangle"/>
          </a:ln>
        </p:spPr>
      </p:sp>
      <p:sp>
        <p:nvSpPr>
          <p:cNvPr id="25" name="Text 23"/>
          <p:cNvSpPr/>
          <p:nvPr/>
        </p:nvSpPr>
        <p:spPr>
          <a:xfrm>
            <a:off x="10930202" y="4713268"/>
            <a:ext cx="39227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fila</a:t>
            </a:r>
            <a:endParaRPr lang="en-US" sz="850" dirty="0"/>
          </a:p>
        </p:txBody>
      </p:sp>
      <p:sp>
        <p:nvSpPr>
          <p:cNvPr id="26" name="Text 24"/>
          <p:cNvSpPr/>
          <p:nvPr/>
        </p:nvSpPr>
        <p:spPr>
          <a:xfrm>
            <a:off x="10729087" y="493262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7" name="Shape 25"/>
          <p:cNvSpPr/>
          <p:nvPr/>
        </p:nvSpPr>
        <p:spPr>
          <a:xfrm flipH="1">
            <a:off x="9020221" y="4165039"/>
            <a:ext cx="822480" cy="0"/>
          </a:xfrm>
          <a:prstGeom prst="line">
            <a:avLst/>
          </a:prstGeom>
          <a:noFill/>
          <a:ln w="31750">
            <a:solidFill>
              <a:srgbClr val="55627E"/>
            </a:solidFill>
            <a:prstDash val="sysDot"/>
            <a:tailEnd type="triangle"/>
          </a:ln>
        </p:spPr>
      </p:sp>
      <p:sp>
        <p:nvSpPr>
          <p:cNvPr id="28" name="Text 26"/>
          <p:cNvSpPr/>
          <p:nvPr/>
        </p:nvSpPr>
        <p:spPr>
          <a:xfrm>
            <a:off x="9136224" y="4183225"/>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entidad</a:t>
            </a:r>
            <a:endParaRPr lang="en-US" sz="850" dirty="0"/>
          </a:p>
        </p:txBody>
      </p:sp>
      <p:sp>
        <p:nvSpPr>
          <p:cNvPr id="29" name="Text 27"/>
          <p:cNvSpPr/>
          <p:nvPr/>
        </p:nvSpPr>
        <p:spPr>
          <a:xfrm>
            <a:off x="9513645" y="40553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0" name="Shape 28"/>
          <p:cNvSpPr/>
          <p:nvPr/>
        </p:nvSpPr>
        <p:spPr>
          <a:xfrm flipH="1">
            <a:off x="6644168" y="4165039"/>
            <a:ext cx="913867" cy="0"/>
          </a:xfrm>
          <a:prstGeom prst="line">
            <a:avLst/>
          </a:prstGeom>
          <a:noFill/>
          <a:ln w="31750">
            <a:solidFill>
              <a:srgbClr val="55627E"/>
            </a:solidFill>
            <a:prstDash val="sysDot"/>
            <a:tailEnd type="triangle"/>
          </a:ln>
        </p:spPr>
      </p:sp>
      <p:sp>
        <p:nvSpPr>
          <p:cNvPr id="31" name="Text 29"/>
          <p:cNvSpPr/>
          <p:nvPr/>
        </p:nvSpPr>
        <p:spPr>
          <a:xfrm>
            <a:off x="6772831" y="4183225"/>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Optional</a:t>
            </a:r>
            <a:endParaRPr lang="en-US" sz="850" dirty="0"/>
          </a:p>
        </p:txBody>
      </p:sp>
      <p:sp>
        <p:nvSpPr>
          <p:cNvPr id="32" name="Text 30"/>
          <p:cNvSpPr/>
          <p:nvPr/>
        </p:nvSpPr>
        <p:spPr>
          <a:xfrm>
            <a:off x="7228978" y="40553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3" name="Shape 31"/>
          <p:cNvSpPr/>
          <p:nvPr/>
        </p:nvSpPr>
        <p:spPr>
          <a:xfrm flipH="1">
            <a:off x="4176728" y="4165039"/>
            <a:ext cx="731093" cy="0"/>
          </a:xfrm>
          <a:prstGeom prst="line">
            <a:avLst/>
          </a:prstGeom>
          <a:noFill/>
          <a:ln w="31750">
            <a:solidFill>
              <a:srgbClr val="55627E"/>
            </a:solidFill>
            <a:prstDash val="sysDot"/>
            <a:tailEnd type="triangle"/>
          </a:ln>
        </p:spPr>
      </p:sp>
      <p:sp>
        <p:nvSpPr>
          <p:cNvPr id="34" name="Text 32"/>
          <p:cNvSpPr/>
          <p:nvPr/>
        </p:nvSpPr>
        <p:spPr>
          <a:xfrm>
            <a:off x="4180972" y="4183225"/>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Solicitud</a:t>
            </a:r>
            <a:endParaRPr lang="en-US" sz="850" dirty="0"/>
          </a:p>
        </p:txBody>
      </p:sp>
      <p:sp>
        <p:nvSpPr>
          <p:cNvPr id="35" name="Text 33"/>
          <p:cNvSpPr/>
          <p:nvPr/>
        </p:nvSpPr>
        <p:spPr>
          <a:xfrm>
            <a:off x="4578765" y="40553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6" name="Shape 34"/>
          <p:cNvSpPr/>
          <p:nvPr/>
        </p:nvSpPr>
        <p:spPr>
          <a:xfrm flipH="1">
            <a:off x="1983448" y="4165039"/>
            <a:ext cx="548320" cy="0"/>
          </a:xfrm>
          <a:prstGeom prst="line">
            <a:avLst/>
          </a:prstGeom>
          <a:noFill/>
          <a:ln w="22860">
            <a:solidFill>
              <a:srgbClr val="0B6E8A"/>
            </a:solidFill>
            <a:prstDash val="solid"/>
            <a:tailEnd type="arrow"/>
          </a:ln>
        </p:spPr>
      </p:sp>
      <p:sp>
        <p:nvSpPr>
          <p:cNvPr id="37" name="Text 35"/>
          <p:cNvSpPr/>
          <p:nvPr/>
        </p:nvSpPr>
        <p:spPr>
          <a:xfrm>
            <a:off x="2061469" y="4183225"/>
            <a:ext cx="39227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JSON</a:t>
            </a:r>
            <a:endParaRPr lang="en-US" sz="850" dirty="0"/>
          </a:p>
        </p:txBody>
      </p:sp>
      <p:sp>
        <p:nvSpPr>
          <p:cNvPr id="38" name="Text 36"/>
          <p:cNvSpPr/>
          <p:nvPr/>
        </p:nvSpPr>
        <p:spPr>
          <a:xfrm>
            <a:off x="2202712" y="4055311"/>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9" name="Shape 37"/>
          <p:cNvSpPr/>
          <p:nvPr/>
        </p:nvSpPr>
        <p:spPr>
          <a:xfrm>
            <a:off x="795421" y="3708105"/>
            <a:ext cx="118802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86861" y="3845063"/>
            <a:ext cx="420624" cy="420624"/>
          </a:xfrm>
          <a:prstGeom prst="ellipse">
            <a:avLst/>
          </a:prstGeom>
          <a:solidFill>
            <a:srgbClr val="E2E5EA"/>
          </a:solidFill>
          <a:ln w="12700">
            <a:solidFill>
              <a:srgbClr val="E2E5EA"/>
            </a:solidFill>
            <a:prstDash val="solid"/>
          </a:ln>
        </p:spPr>
      </p:sp>
      <p:sp>
        <p:nvSpPr>
          <p:cNvPr id="41" name="Icono monitor"/>
          <p:cNvSpPr/>
          <p:nvPr/>
        </p:nvSpPr>
        <p:spPr>
          <a:xfrm>
            <a:off x="941725" y="389992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42" name="Text 40"/>
          <p:cNvSpPr/>
          <p:nvPr/>
        </p:nvSpPr>
        <p:spPr>
          <a:xfrm>
            <a:off x="1362349" y="3708105"/>
            <a:ext cx="56623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UI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GET por /api</a:t>
            </a:r>
            <a:endParaRPr lang="en-US" sz="1079" dirty="0"/>
          </a:p>
        </p:txBody>
      </p:sp>
      <p:sp>
        <p:nvSpPr>
          <p:cNvPr id="43" name="Text 41"/>
          <p:cNvSpPr/>
          <p:nvPr/>
        </p:nvSpPr>
        <p:spPr>
          <a:xfrm>
            <a:off x="2531768" y="3708105"/>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SolicitudController</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@GetMapping /{id}</a:t>
            </a:r>
            <a:endParaRPr lang="en-US" sz="1079" dirty="0"/>
          </a:p>
        </p:txBody>
      </p:sp>
      <p:sp>
        <p:nvSpPr>
          <p:cNvPr id="44" name="Text 42"/>
          <p:cNvSpPr/>
          <p:nvPr/>
        </p:nvSpPr>
        <p:spPr>
          <a:xfrm>
            <a:off x="4907821" y="3708105"/>
            <a:ext cx="173634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36" b="1" dirty="0">
                <a:solidFill>
                  <a:srgbClr val="0B1A3C"/>
                </a:solidFill>
                <a:latin typeface="Segoe UI" pitchFamily="34" charset="0"/>
                <a:ea typeface="Segoe UI" pitchFamily="34" charset="-122"/>
                <a:cs typeface="Segoe UI" pitchFamily="34" charset="-120"/>
              </a:rPr>
              <a:t>ServicioDeSolicitudes</a:t>
            </a:r>
            <a:endParaRPr lang="en-US" sz="1036" dirty="0"/>
          </a:p>
          <a:p>
            <a:pPr algn="ctr" indent="0" marL="0">
              <a:buNone/>
            </a:pPr>
            <a:r>
              <a:rPr lang="en-US" sz="829" dirty="0">
                <a:solidFill>
                  <a:srgbClr val="55627E"/>
                </a:solidFill>
                <a:latin typeface="Segoe UI" pitchFamily="34" charset="0"/>
                <a:ea typeface="Segoe UI" pitchFamily="34" charset="-122"/>
                <a:cs typeface="Segoe UI" pitchFamily="34" charset="-120"/>
              </a:rPr>
              <a:t>buscar(id)</a:t>
            </a:r>
            <a:endParaRPr lang="en-US" sz="1036" dirty="0"/>
          </a:p>
        </p:txBody>
      </p:sp>
      <p:sp>
        <p:nvSpPr>
          <p:cNvPr id="45" name="Text 43"/>
          <p:cNvSpPr/>
          <p:nvPr/>
        </p:nvSpPr>
        <p:spPr>
          <a:xfrm>
            <a:off x="6004461" y="2245919"/>
            <a:ext cx="2193280" cy="694539"/>
          </a:xfrm>
          <a:prstGeom prst="roundRect">
            <a:avLst>
              <a:gd name="adj" fmla="val 11849"/>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79"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63"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46" name="Text 44"/>
          <p:cNvSpPr/>
          <p:nvPr/>
        </p:nvSpPr>
        <p:spPr>
          <a:xfrm>
            <a:off x="7558034" y="3708105"/>
            <a:ext cx="146218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RepositorioJpa</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adaptador activo</a:t>
            </a:r>
            <a:endParaRPr lang="en-US" sz="1079" dirty="0"/>
          </a:p>
        </p:txBody>
      </p:sp>
      <p:sp>
        <p:nvSpPr>
          <p:cNvPr id="47" name="Text 45"/>
          <p:cNvSpPr/>
          <p:nvPr/>
        </p:nvSpPr>
        <p:spPr>
          <a:xfrm>
            <a:off x="9842701" y="3708105"/>
            <a:ext cx="1553573"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79" b="1" dirty="0">
                <a:solidFill>
                  <a:srgbClr val="0B1A3C"/>
                </a:solidFill>
                <a:latin typeface="Segoe UI" pitchFamily="34" charset="0"/>
                <a:ea typeface="Segoe UI" pitchFamily="34" charset="-122"/>
                <a:cs typeface="Segoe UI" pitchFamily="34" charset="-120"/>
              </a:rPr>
              <a:t>Spring Data JPA</a:t>
            </a:r>
            <a:endParaRPr lang="en-US" sz="1079" dirty="0"/>
          </a:p>
          <a:p>
            <a:pPr algn="ctr" indent="0" marL="0">
              <a:buNone/>
            </a:pPr>
            <a:r>
              <a:rPr lang="en-US" sz="863" dirty="0">
                <a:solidFill>
                  <a:srgbClr val="55627E"/>
                </a:solidFill>
                <a:latin typeface="Segoe UI" pitchFamily="34" charset="0"/>
                <a:ea typeface="Segoe UI" pitchFamily="34" charset="-122"/>
                <a:cs typeface="Segoe UI" pitchFamily="34" charset="-120"/>
              </a:rPr>
              <a:t>SolicitudJpaRepository</a:t>
            </a:r>
            <a:endParaRPr lang="en-US" sz="1079" dirty="0"/>
          </a:p>
        </p:txBody>
      </p:sp>
      <p:sp>
        <p:nvSpPr>
          <p:cNvPr id="48" name="Shape 46"/>
          <p:cNvSpPr/>
          <p:nvPr/>
        </p:nvSpPr>
        <p:spPr>
          <a:xfrm>
            <a:off x="9842701" y="5261679"/>
            <a:ext cx="1553573"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9934141" y="5398636"/>
            <a:ext cx="420624" cy="420624"/>
          </a:xfrm>
          <a:prstGeom prst="ellipse">
            <a:avLst/>
          </a:prstGeom>
          <a:solidFill>
            <a:srgbClr val="E8EBEE"/>
          </a:solidFill>
          <a:ln w="12700">
            <a:solidFill>
              <a:srgbClr val="E8EBEE"/>
            </a:solidFill>
            <a:prstDash val="solid"/>
          </a:ln>
        </p:spPr>
      </p:sp>
      <p:sp>
        <p:nvSpPr>
          <p:cNvPr id="50" name="Icono database"/>
          <p:cNvSpPr/>
          <p:nvPr/>
        </p:nvSpPr>
        <p:spPr>
          <a:xfrm>
            <a:off x="9989005" y="5453500"/>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51" name="Text 49"/>
          <p:cNvSpPr/>
          <p:nvPr/>
        </p:nvSpPr>
        <p:spPr>
          <a:xfrm>
            <a:off x="10409629" y="5261679"/>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PostgreSQL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db-solicitudes</a:t>
            </a:r>
            <a:endParaRPr lang="en-US" sz="1079"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31514" y="3153328"/>
            <a:ext cx="515245" cy="0"/>
          </a:xfrm>
          <a:prstGeom prst="line">
            <a:avLst/>
          </a:prstGeom>
          <a:noFill/>
          <a:ln w="47625">
            <a:solidFill>
              <a:srgbClr val="2BA6CB"/>
            </a:solidFill>
            <a:prstDash val="solid"/>
            <a:tailEnd type="triangle"/>
          </a:ln>
        </p:spPr>
      </p:sp>
      <p:sp>
        <p:nvSpPr>
          <p:cNvPr id="6" name="Text 4"/>
          <p:cNvSpPr/>
          <p:nvPr/>
        </p:nvSpPr>
        <p:spPr>
          <a:xfrm>
            <a:off x="2331859" y="2920594"/>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27883" y="304360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292492" y="3153328"/>
            <a:ext cx="686993" cy="0"/>
          </a:xfrm>
          <a:prstGeom prst="line">
            <a:avLst/>
          </a:prstGeom>
          <a:noFill/>
          <a:ln w="47625">
            <a:solidFill>
              <a:srgbClr val="2BA6CB"/>
            </a:solidFill>
            <a:prstDash val="sysDot"/>
            <a:tailEnd type="triangle"/>
          </a:ln>
        </p:spPr>
      </p:sp>
      <p:sp>
        <p:nvSpPr>
          <p:cNvPr id="9" name="Text 7"/>
          <p:cNvSpPr/>
          <p:nvPr/>
        </p:nvSpPr>
        <p:spPr>
          <a:xfrm>
            <a:off x="4261084" y="2920594"/>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88862" y="304360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11092" y="3153328"/>
            <a:ext cx="858741" cy="0"/>
          </a:xfrm>
          <a:prstGeom prst="line">
            <a:avLst/>
          </a:prstGeom>
          <a:noFill/>
          <a:ln w="31750">
            <a:solidFill>
              <a:srgbClr val="CBD5E3"/>
            </a:solidFill>
            <a:prstDash val="sysDot"/>
            <a:tailEnd type="triangle"/>
          </a:ln>
        </p:spPr>
      </p:sp>
      <p:sp>
        <p:nvSpPr>
          <p:cNvPr id="12" name="Text 10"/>
          <p:cNvSpPr/>
          <p:nvPr/>
        </p:nvSpPr>
        <p:spPr>
          <a:xfrm>
            <a:off x="6603379" y="2920594"/>
            <a:ext cx="87416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7462" y="304360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43818" y="3153328"/>
            <a:ext cx="772867" cy="0"/>
          </a:xfrm>
          <a:prstGeom prst="line">
            <a:avLst/>
          </a:prstGeom>
          <a:noFill/>
          <a:ln w="31750">
            <a:solidFill>
              <a:srgbClr val="CBD5E3"/>
            </a:solidFill>
            <a:prstDash val="sysDot"/>
            <a:tailEnd type="triangle"/>
          </a:ln>
        </p:spPr>
      </p:sp>
      <p:sp>
        <p:nvSpPr>
          <p:cNvPr id="15" name="Text 13"/>
          <p:cNvSpPr/>
          <p:nvPr/>
        </p:nvSpPr>
        <p:spPr>
          <a:xfrm>
            <a:off x="8917527" y="2920594"/>
            <a:ext cx="62545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40188" y="304360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40517" y="3582699"/>
            <a:ext cx="0" cy="807216"/>
          </a:xfrm>
          <a:prstGeom prst="line">
            <a:avLst/>
          </a:prstGeom>
          <a:noFill/>
          <a:ln w="31750">
            <a:solidFill>
              <a:srgbClr val="CBD5E3"/>
            </a:solidFill>
            <a:prstDash val="sysDot"/>
            <a:tailEnd type="triangle"/>
          </a:ln>
        </p:spPr>
      </p:sp>
      <p:sp>
        <p:nvSpPr>
          <p:cNvPr id="18" name="Text 16"/>
          <p:cNvSpPr/>
          <p:nvPr/>
        </p:nvSpPr>
        <p:spPr>
          <a:xfrm>
            <a:off x="9553552" y="3865209"/>
            <a:ext cx="501091"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30789" y="367906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52713" y="3582699"/>
            <a:ext cx="0" cy="807216"/>
          </a:xfrm>
          <a:prstGeom prst="line">
            <a:avLst/>
          </a:prstGeom>
          <a:noFill/>
          <a:ln w="31750">
            <a:solidFill>
              <a:srgbClr val="CBD5E3"/>
            </a:solidFill>
            <a:prstDash val="sysDot"/>
            <a:tailEnd type="triangle"/>
          </a:ln>
        </p:spPr>
      </p:sp>
      <p:sp>
        <p:nvSpPr>
          <p:cNvPr id="21" name="Text 19"/>
          <p:cNvSpPr/>
          <p:nvPr/>
        </p:nvSpPr>
        <p:spPr>
          <a:xfrm>
            <a:off x="10638587" y="3865209"/>
            <a:ext cx="37673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42985" y="407408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43818" y="3359426"/>
            <a:ext cx="772867" cy="0"/>
          </a:xfrm>
          <a:prstGeom prst="line">
            <a:avLst/>
          </a:prstGeom>
          <a:noFill/>
          <a:ln w="31750">
            <a:solidFill>
              <a:srgbClr val="CBD5E3"/>
            </a:solidFill>
            <a:prstDash val="sysDot"/>
            <a:tailEnd type="triangle"/>
          </a:ln>
        </p:spPr>
      </p:sp>
      <p:sp>
        <p:nvSpPr>
          <p:cNvPr id="24" name="Text 22"/>
          <p:cNvSpPr/>
          <p:nvPr/>
        </p:nvSpPr>
        <p:spPr>
          <a:xfrm>
            <a:off x="8948617" y="3367139"/>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300859"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11092" y="3359426"/>
            <a:ext cx="858741" cy="0"/>
          </a:xfrm>
          <a:prstGeom prst="line">
            <a:avLst/>
          </a:prstGeom>
          <a:noFill/>
          <a:ln w="31750">
            <a:solidFill>
              <a:srgbClr val="CBD5E3"/>
            </a:solidFill>
            <a:prstDash val="sysDot"/>
            <a:tailEnd type="triangle"/>
          </a:ln>
        </p:spPr>
      </p:sp>
      <p:sp>
        <p:nvSpPr>
          <p:cNvPr id="27" name="Text 25"/>
          <p:cNvSpPr/>
          <p:nvPr/>
        </p:nvSpPr>
        <p:spPr>
          <a:xfrm>
            <a:off x="6727738" y="3367139"/>
            <a:ext cx="62545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54007"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292492" y="3359426"/>
            <a:ext cx="686993" cy="0"/>
          </a:xfrm>
          <a:prstGeom prst="line">
            <a:avLst/>
          </a:prstGeom>
          <a:noFill/>
          <a:ln w="31750">
            <a:solidFill>
              <a:srgbClr val="CBD5E3"/>
            </a:solidFill>
            <a:prstDash val="sysDot"/>
            <a:tailEnd type="triangle"/>
          </a:ln>
        </p:spPr>
      </p:sp>
      <p:sp>
        <p:nvSpPr>
          <p:cNvPr id="30" name="Text 28"/>
          <p:cNvSpPr/>
          <p:nvPr/>
        </p:nvSpPr>
        <p:spPr>
          <a:xfrm>
            <a:off x="4292174" y="3367139"/>
            <a:ext cx="687629"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3659"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31514" y="3359426"/>
            <a:ext cx="515245" cy="0"/>
          </a:xfrm>
          <a:prstGeom prst="line">
            <a:avLst/>
          </a:prstGeom>
          <a:noFill/>
          <a:ln w="22860">
            <a:solidFill>
              <a:srgbClr val="CBD5E3"/>
            </a:solidFill>
            <a:prstDash val="solid"/>
            <a:tailEnd type="arrow"/>
          </a:ln>
        </p:spPr>
      </p:sp>
      <p:sp>
        <p:nvSpPr>
          <p:cNvPr id="33" name="Text 31"/>
          <p:cNvSpPr/>
          <p:nvPr/>
        </p:nvSpPr>
        <p:spPr>
          <a:xfrm>
            <a:off x="2300770" y="3367139"/>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30932"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115151" y="2930056"/>
            <a:ext cx="1116363"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1206591" y="3046065"/>
            <a:ext cx="420624" cy="420624"/>
          </a:xfrm>
          <a:prstGeom prst="ellipse">
            <a:avLst/>
          </a:prstGeom>
          <a:solidFill>
            <a:srgbClr val="E3F4FA"/>
          </a:solidFill>
          <a:ln w="12700">
            <a:solidFill>
              <a:srgbClr val="E3F4FA"/>
            </a:solidFill>
            <a:prstDash val="solid"/>
          </a:ln>
        </p:spPr>
      </p:sp>
      <p:sp>
        <p:nvSpPr>
          <p:cNvPr id="37" name="Icono monitor"/>
          <p:cNvSpPr/>
          <p:nvPr/>
        </p:nvSpPr>
        <p:spPr>
          <a:xfrm>
            <a:off x="1261455" y="3100929"/>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38" name="Text 36"/>
          <p:cNvSpPr/>
          <p:nvPr/>
        </p:nvSpPr>
        <p:spPr>
          <a:xfrm>
            <a:off x="1682079" y="2930056"/>
            <a:ext cx="494571"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GET por /api</a:t>
            </a:r>
            <a:endParaRPr lang="en-US" sz="1014" dirty="0"/>
          </a:p>
        </p:txBody>
      </p:sp>
      <p:sp>
        <p:nvSpPr>
          <p:cNvPr id="39" name="Text 37"/>
          <p:cNvSpPr/>
          <p:nvPr/>
        </p:nvSpPr>
        <p:spPr>
          <a:xfrm>
            <a:off x="2746758" y="2930056"/>
            <a:ext cx="1545734"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@GetMapping /{id}</a:t>
            </a:r>
            <a:endParaRPr lang="en-US" sz="1014" dirty="0"/>
          </a:p>
        </p:txBody>
      </p:sp>
      <p:sp>
        <p:nvSpPr>
          <p:cNvPr id="40" name="Text 38"/>
          <p:cNvSpPr/>
          <p:nvPr/>
        </p:nvSpPr>
        <p:spPr>
          <a:xfrm>
            <a:off x="4979484" y="2930056"/>
            <a:ext cx="1631608"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ServicioDeSolicitudes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buscar(id)</a:t>
            </a:r>
            <a:endParaRPr lang="en-US" sz="974" dirty="0"/>
          </a:p>
        </p:txBody>
      </p:sp>
      <p:sp>
        <p:nvSpPr>
          <p:cNvPr id="41" name="Text 39"/>
          <p:cNvSpPr/>
          <p:nvPr/>
        </p:nvSpPr>
        <p:spPr>
          <a:xfrm>
            <a:off x="6009974" y="1556070"/>
            <a:ext cx="2060978" cy="652643"/>
          </a:xfrm>
          <a:prstGeom prst="roundRect">
            <a:avLst>
              <a:gd name="adj" fmla="val 12610"/>
            </a:avLst>
          </a:prstGeom>
          <a:solidFill>
            <a:srgbClr val="FFFFFF"/>
          </a:solidFill>
          <a:ln w="12700">
            <a:solidFill>
              <a:srgbClr val="D5DDE8"/>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14" b="1" dirty="0">
                <a:solidFill>
                  <a:srgbClr val="8A95AB"/>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11" dirty="0">
                <a:solidFill>
                  <a:srgbClr val="9AA5B8"/>
                </a:solidFill>
                <a:latin typeface="Segoe UI" pitchFamily="34" charset="0"/>
                <a:ea typeface="Segoe UI" pitchFamily="34" charset="-122"/>
                <a:cs typeface="Segoe UI" pitchFamily="34" charset="-120"/>
              </a:rPr>
              <a:t>contrato: guardar, buscar, todas</a:t>
            </a:r>
            <a:endParaRPr lang="en-US" sz="800" dirty="0"/>
          </a:p>
        </p:txBody>
      </p:sp>
      <p:sp>
        <p:nvSpPr>
          <p:cNvPr id="42" name="Text 40"/>
          <p:cNvSpPr/>
          <p:nvPr/>
        </p:nvSpPr>
        <p:spPr>
          <a:xfrm>
            <a:off x="7469833" y="2930056"/>
            <a:ext cx="1373985" cy="652643"/>
          </a:xfrm>
          <a:prstGeom prst="roundRect">
            <a:avLst>
              <a:gd name="adj" fmla="val 12610"/>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adaptador activo</a:t>
            </a:r>
            <a:endParaRPr lang="en-US" sz="1014" dirty="0"/>
          </a:p>
        </p:txBody>
      </p:sp>
      <p:sp>
        <p:nvSpPr>
          <p:cNvPr id="43" name="Text 41"/>
          <p:cNvSpPr/>
          <p:nvPr/>
        </p:nvSpPr>
        <p:spPr>
          <a:xfrm>
            <a:off x="9616685" y="2930056"/>
            <a:ext cx="1459859" cy="652643"/>
          </a:xfrm>
          <a:prstGeom prst="roundRect">
            <a:avLst>
              <a:gd name="adj" fmla="val 12610"/>
            </a:avLst>
          </a:prstGeom>
          <a:solidFill>
            <a:srgbClr val="FBFCFE"/>
          </a:solidFill>
          <a:ln w="12700">
            <a:solidFill>
              <a:srgbClr val="D5DDE8"/>
            </a:solidFill>
            <a:prstDash val="solid"/>
          </a:ln>
        </p:spPr>
        <p:txBody>
          <a:bodyPr wrap="square" lIns="38100" tIns="38100" rIns="38100" bIns="38100" rtlCol="0" anchor="ctr">
            <a:normAutofit/>
          </a:bodyPr>
          <a:lstStyle/>
          <a:p>
            <a:pPr algn="ctr" indent="0" marL="0">
              <a:buNone/>
            </a:pPr>
            <a:r>
              <a:rPr lang="en-US" sz="1014" b="1" dirty="0">
                <a:solidFill>
                  <a:srgbClr val="8A95AB"/>
                </a:solidFill>
                <a:latin typeface="Segoe UI" pitchFamily="34" charset="0"/>
                <a:ea typeface="Segoe UI" pitchFamily="34" charset="-122"/>
                <a:cs typeface="Segoe UI" pitchFamily="34" charset="-120"/>
              </a:rPr>
              <a:t>Spring Data JPA</a:t>
            </a:r>
            <a:endParaRPr lang="en-US" sz="1014" dirty="0"/>
          </a:p>
          <a:p>
            <a:pPr algn="ctr" indent="0" marL="0">
              <a:buNone/>
            </a:pPr>
            <a:r>
              <a:rPr lang="en-US" sz="811" dirty="0">
                <a:solidFill>
                  <a:srgbClr val="9AA5B8"/>
                </a:solidFill>
                <a:latin typeface="Segoe UI" pitchFamily="34" charset="0"/>
                <a:ea typeface="Segoe UI" pitchFamily="34" charset="-122"/>
                <a:cs typeface="Segoe UI" pitchFamily="34" charset="-120"/>
              </a:rPr>
              <a:t>SolicitudJpaRepository</a:t>
            </a:r>
            <a:endParaRPr lang="en-US" sz="1014" dirty="0"/>
          </a:p>
        </p:txBody>
      </p:sp>
      <p:sp>
        <p:nvSpPr>
          <p:cNvPr id="44" name="Shape 42"/>
          <p:cNvSpPr/>
          <p:nvPr/>
        </p:nvSpPr>
        <p:spPr>
          <a:xfrm>
            <a:off x="9616685" y="4389915"/>
            <a:ext cx="1459859" cy="652643"/>
          </a:xfrm>
          <a:prstGeom prst="roundRect">
            <a:avLst>
              <a:gd name="adj" fmla="val 12610"/>
            </a:avLst>
          </a:prstGeom>
          <a:solidFill>
            <a:srgbClr val="F3F6FA"/>
          </a:solidFill>
          <a:ln w="12700">
            <a:solidFill>
              <a:srgbClr val="D5DDE8"/>
            </a:solidFill>
            <a:prstDash val="solid"/>
          </a:ln>
        </p:spPr>
      </p:sp>
      <p:sp>
        <p:nvSpPr>
          <p:cNvPr id="45" name="Shape 43"/>
          <p:cNvSpPr/>
          <p:nvPr/>
        </p:nvSpPr>
        <p:spPr>
          <a:xfrm>
            <a:off x="9708125" y="4505925"/>
            <a:ext cx="420624" cy="420624"/>
          </a:xfrm>
          <a:prstGeom prst="ellipse">
            <a:avLst/>
          </a:prstGeom>
          <a:solidFill>
            <a:srgbClr val="EEF2F7"/>
          </a:solidFill>
          <a:ln w="12700">
            <a:solidFill>
              <a:srgbClr val="EEF2F7"/>
            </a:solidFill>
            <a:prstDash val="solid"/>
          </a:ln>
        </p:spPr>
      </p:sp>
      <p:sp>
        <p:nvSpPr>
          <p:cNvPr id="46" name="Icono database"/>
          <p:cNvSpPr/>
          <p:nvPr/>
        </p:nvSpPr>
        <p:spPr>
          <a:xfrm>
            <a:off x="9762989" y="456078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7" name="Text 45"/>
          <p:cNvSpPr/>
          <p:nvPr/>
        </p:nvSpPr>
        <p:spPr>
          <a:xfrm>
            <a:off x="10183613" y="4389915"/>
            <a:ext cx="838067"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8A95AB"/>
                </a:solidFill>
                <a:latin typeface="Segoe UI" pitchFamily="34" charset="0"/>
                <a:ea typeface="Segoe UI" pitchFamily="34" charset="-122"/>
                <a:cs typeface="Segoe UI" pitchFamily="34" charset="-120"/>
              </a:rPr>
              <a:t>PostgreSQL</a:t>
            </a:r>
            <a:endParaRPr lang="en-US" sz="1014" dirty="0"/>
          </a:p>
          <a:p>
            <a:pPr algn="l" indent="0" marL="0">
              <a:lnSpc>
                <a:spcPct val="95000"/>
              </a:lnSpc>
              <a:buNone/>
            </a:pPr>
            <a:r>
              <a:rPr lang="en-US" sz="811" dirty="0">
                <a:solidFill>
                  <a:srgbClr val="9AA5B8"/>
                </a:solidFill>
                <a:latin typeface="Segoe UI" pitchFamily="34" charset="0"/>
                <a:ea typeface="Segoe UI" pitchFamily="34" charset="-122"/>
                <a:cs typeface="Segoe UI" pitchFamily="34" charset="-120"/>
              </a:rPr>
              <a:t>db-solicitudes</a:t>
            </a:r>
            <a:endParaRPr lang="en-US" sz="1014" dirty="0"/>
          </a:p>
        </p:txBody>
      </p:sp>
      <p:sp>
        <p:nvSpPr>
          <p:cNvPr id="48" name="Shape 46"/>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9" name="Text 4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50" name="Text 4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pide GET /solicitudes/SOL-100. El id viaja en la ruta; no hay cuerpo.</a:t>
            </a:r>
            <a:endParaRPr lang="en-US" sz="1300" dirty="0"/>
          </a:p>
        </p:txBody>
      </p:sp>
      <p:sp>
        <p:nvSpPr>
          <p:cNvPr id="51" name="Shape 4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2" name="Text 5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3" name="Text 5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no decide reglas: llama al caso de uso.</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31514" y="3153328"/>
            <a:ext cx="515245" cy="0"/>
          </a:xfrm>
          <a:prstGeom prst="line">
            <a:avLst/>
          </a:prstGeom>
          <a:noFill/>
          <a:ln w="31750">
            <a:solidFill>
              <a:srgbClr val="2E6DB4"/>
            </a:solidFill>
            <a:prstDash val="solid"/>
            <a:tailEnd type="triangle"/>
          </a:ln>
        </p:spPr>
      </p:sp>
      <p:sp>
        <p:nvSpPr>
          <p:cNvPr id="6" name="Text 4"/>
          <p:cNvSpPr/>
          <p:nvPr/>
        </p:nvSpPr>
        <p:spPr>
          <a:xfrm>
            <a:off x="2331859" y="292059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27883" y="304360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292492" y="3153328"/>
            <a:ext cx="686993" cy="0"/>
          </a:xfrm>
          <a:prstGeom prst="line">
            <a:avLst/>
          </a:prstGeom>
          <a:noFill/>
          <a:ln w="31750">
            <a:solidFill>
              <a:srgbClr val="55627E"/>
            </a:solidFill>
            <a:prstDash val="sysDot"/>
            <a:tailEnd type="triangle"/>
          </a:ln>
        </p:spPr>
      </p:sp>
      <p:sp>
        <p:nvSpPr>
          <p:cNvPr id="9" name="Text 7"/>
          <p:cNvSpPr/>
          <p:nvPr/>
        </p:nvSpPr>
        <p:spPr>
          <a:xfrm>
            <a:off x="4261084" y="292059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888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11092" y="3153328"/>
            <a:ext cx="858741" cy="0"/>
          </a:xfrm>
          <a:prstGeom prst="line">
            <a:avLst/>
          </a:prstGeom>
          <a:noFill/>
          <a:ln w="47625">
            <a:solidFill>
              <a:srgbClr val="2BA6CB"/>
            </a:solidFill>
            <a:prstDash val="sysDot"/>
            <a:tailEnd type="triangle"/>
          </a:ln>
        </p:spPr>
      </p:sp>
      <p:sp>
        <p:nvSpPr>
          <p:cNvPr id="12" name="Text 10"/>
          <p:cNvSpPr/>
          <p:nvPr/>
        </p:nvSpPr>
        <p:spPr>
          <a:xfrm>
            <a:off x="6603379" y="2920594"/>
            <a:ext cx="87416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7462" y="304360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43818" y="3153328"/>
            <a:ext cx="772867" cy="0"/>
          </a:xfrm>
          <a:prstGeom prst="line">
            <a:avLst/>
          </a:prstGeom>
          <a:noFill/>
          <a:ln w="47625">
            <a:solidFill>
              <a:srgbClr val="2BA6CB"/>
            </a:solidFill>
            <a:prstDash val="sysDot"/>
            <a:tailEnd type="triangle"/>
          </a:ln>
        </p:spPr>
      </p:sp>
      <p:sp>
        <p:nvSpPr>
          <p:cNvPr id="15" name="Text 13"/>
          <p:cNvSpPr/>
          <p:nvPr/>
        </p:nvSpPr>
        <p:spPr>
          <a:xfrm>
            <a:off x="8917527" y="2920594"/>
            <a:ext cx="62545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40188" y="304360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40517" y="3582699"/>
            <a:ext cx="0" cy="807216"/>
          </a:xfrm>
          <a:prstGeom prst="line">
            <a:avLst/>
          </a:prstGeom>
          <a:noFill/>
          <a:ln w="47625">
            <a:solidFill>
              <a:srgbClr val="2BA6CB"/>
            </a:solidFill>
            <a:prstDash val="sysDot"/>
            <a:tailEnd type="triangle"/>
          </a:ln>
        </p:spPr>
      </p:sp>
      <p:sp>
        <p:nvSpPr>
          <p:cNvPr id="18" name="Text 16"/>
          <p:cNvSpPr/>
          <p:nvPr/>
        </p:nvSpPr>
        <p:spPr>
          <a:xfrm>
            <a:off x="9553552" y="3865209"/>
            <a:ext cx="501091"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30789" y="36790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52713" y="3582699"/>
            <a:ext cx="0" cy="807216"/>
          </a:xfrm>
          <a:prstGeom prst="line">
            <a:avLst/>
          </a:prstGeom>
          <a:noFill/>
          <a:ln w="31750">
            <a:solidFill>
              <a:srgbClr val="CBD5E3"/>
            </a:solidFill>
            <a:prstDash val="sysDot"/>
            <a:tailEnd type="triangle"/>
          </a:ln>
        </p:spPr>
      </p:sp>
      <p:sp>
        <p:nvSpPr>
          <p:cNvPr id="21" name="Text 19"/>
          <p:cNvSpPr/>
          <p:nvPr/>
        </p:nvSpPr>
        <p:spPr>
          <a:xfrm>
            <a:off x="10638587" y="3865209"/>
            <a:ext cx="37673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42985" y="407408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43818" y="3359426"/>
            <a:ext cx="772867" cy="0"/>
          </a:xfrm>
          <a:prstGeom prst="line">
            <a:avLst/>
          </a:prstGeom>
          <a:noFill/>
          <a:ln w="31750">
            <a:solidFill>
              <a:srgbClr val="CBD5E3"/>
            </a:solidFill>
            <a:prstDash val="sysDot"/>
            <a:tailEnd type="triangle"/>
          </a:ln>
        </p:spPr>
      </p:sp>
      <p:sp>
        <p:nvSpPr>
          <p:cNvPr id="24" name="Text 22"/>
          <p:cNvSpPr/>
          <p:nvPr/>
        </p:nvSpPr>
        <p:spPr>
          <a:xfrm>
            <a:off x="8948617" y="3367139"/>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300859"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11092" y="3359426"/>
            <a:ext cx="858741" cy="0"/>
          </a:xfrm>
          <a:prstGeom prst="line">
            <a:avLst/>
          </a:prstGeom>
          <a:noFill/>
          <a:ln w="31750">
            <a:solidFill>
              <a:srgbClr val="CBD5E3"/>
            </a:solidFill>
            <a:prstDash val="sysDot"/>
            <a:tailEnd type="triangle"/>
          </a:ln>
        </p:spPr>
      </p:sp>
      <p:sp>
        <p:nvSpPr>
          <p:cNvPr id="27" name="Text 25"/>
          <p:cNvSpPr/>
          <p:nvPr/>
        </p:nvSpPr>
        <p:spPr>
          <a:xfrm>
            <a:off x="6727738" y="3367139"/>
            <a:ext cx="62545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54007"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292492" y="3359426"/>
            <a:ext cx="686993" cy="0"/>
          </a:xfrm>
          <a:prstGeom prst="line">
            <a:avLst/>
          </a:prstGeom>
          <a:noFill/>
          <a:ln w="31750">
            <a:solidFill>
              <a:srgbClr val="CBD5E3"/>
            </a:solidFill>
            <a:prstDash val="sysDot"/>
            <a:tailEnd type="triangle"/>
          </a:ln>
        </p:spPr>
      </p:sp>
      <p:sp>
        <p:nvSpPr>
          <p:cNvPr id="30" name="Text 28"/>
          <p:cNvSpPr/>
          <p:nvPr/>
        </p:nvSpPr>
        <p:spPr>
          <a:xfrm>
            <a:off x="4292174" y="3367139"/>
            <a:ext cx="687629"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3659"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31514" y="3359426"/>
            <a:ext cx="515245" cy="0"/>
          </a:xfrm>
          <a:prstGeom prst="line">
            <a:avLst/>
          </a:prstGeom>
          <a:noFill/>
          <a:ln w="22860">
            <a:solidFill>
              <a:srgbClr val="CBD5E3"/>
            </a:solidFill>
            <a:prstDash val="solid"/>
            <a:tailEnd type="arrow"/>
          </a:ln>
        </p:spPr>
      </p:sp>
      <p:sp>
        <p:nvSpPr>
          <p:cNvPr id="33" name="Text 31"/>
          <p:cNvSpPr/>
          <p:nvPr/>
        </p:nvSpPr>
        <p:spPr>
          <a:xfrm>
            <a:off x="2300770" y="3367139"/>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30932"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115151" y="2930056"/>
            <a:ext cx="1116363"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6591" y="3046065"/>
            <a:ext cx="420624" cy="420624"/>
          </a:xfrm>
          <a:prstGeom prst="ellipse">
            <a:avLst/>
          </a:prstGeom>
          <a:solidFill>
            <a:srgbClr val="E2E5EA"/>
          </a:solidFill>
          <a:ln w="12700">
            <a:solidFill>
              <a:srgbClr val="E2E5EA"/>
            </a:solidFill>
            <a:prstDash val="solid"/>
          </a:ln>
        </p:spPr>
      </p:sp>
      <p:sp>
        <p:nvSpPr>
          <p:cNvPr id="37" name="Icono monitor"/>
          <p:cNvSpPr/>
          <p:nvPr/>
        </p:nvSpPr>
        <p:spPr>
          <a:xfrm>
            <a:off x="1261455" y="3100929"/>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8" name="Text 36"/>
          <p:cNvSpPr/>
          <p:nvPr/>
        </p:nvSpPr>
        <p:spPr>
          <a:xfrm>
            <a:off x="1682079" y="2930056"/>
            <a:ext cx="494571"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GET por /api</a:t>
            </a:r>
            <a:endParaRPr lang="en-US" sz="1014" dirty="0"/>
          </a:p>
        </p:txBody>
      </p:sp>
      <p:sp>
        <p:nvSpPr>
          <p:cNvPr id="39" name="Text 37"/>
          <p:cNvSpPr/>
          <p:nvPr/>
        </p:nvSpPr>
        <p:spPr>
          <a:xfrm>
            <a:off x="2746758" y="2930056"/>
            <a:ext cx="1545734"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@GetMapping /{id}</a:t>
            </a:r>
            <a:endParaRPr lang="en-US" sz="1014" dirty="0"/>
          </a:p>
        </p:txBody>
      </p:sp>
      <p:sp>
        <p:nvSpPr>
          <p:cNvPr id="40" name="Text 38"/>
          <p:cNvSpPr/>
          <p:nvPr/>
        </p:nvSpPr>
        <p:spPr>
          <a:xfrm>
            <a:off x="4979484" y="2930056"/>
            <a:ext cx="1631608"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ServicioDeSolicitudes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buscar(id)</a:t>
            </a:r>
            <a:endParaRPr lang="en-US" sz="974" dirty="0"/>
          </a:p>
        </p:txBody>
      </p:sp>
      <p:sp>
        <p:nvSpPr>
          <p:cNvPr id="41" name="Text 39"/>
          <p:cNvSpPr/>
          <p:nvPr/>
        </p:nvSpPr>
        <p:spPr>
          <a:xfrm>
            <a:off x="6009974" y="1556070"/>
            <a:ext cx="2060978" cy="652643"/>
          </a:xfrm>
          <a:prstGeom prst="roundRect">
            <a:avLst>
              <a:gd name="adj" fmla="val 12610"/>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14"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11"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42" name="Text 40"/>
          <p:cNvSpPr/>
          <p:nvPr/>
        </p:nvSpPr>
        <p:spPr>
          <a:xfrm>
            <a:off x="7469833" y="2930056"/>
            <a:ext cx="1373985"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 activo</a:t>
            </a:r>
            <a:endParaRPr lang="en-US" sz="1014" dirty="0"/>
          </a:p>
        </p:txBody>
      </p:sp>
      <p:sp>
        <p:nvSpPr>
          <p:cNvPr id="43" name="Text 41"/>
          <p:cNvSpPr/>
          <p:nvPr/>
        </p:nvSpPr>
        <p:spPr>
          <a:xfrm>
            <a:off x="9616685" y="2930056"/>
            <a:ext cx="1459859"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Spring Data 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SolicitudJpaRepository</a:t>
            </a:r>
            <a:endParaRPr lang="en-US" sz="1014" dirty="0"/>
          </a:p>
        </p:txBody>
      </p:sp>
      <p:sp>
        <p:nvSpPr>
          <p:cNvPr id="44" name="Shape 42"/>
          <p:cNvSpPr/>
          <p:nvPr/>
        </p:nvSpPr>
        <p:spPr>
          <a:xfrm>
            <a:off x="9616685" y="4389915"/>
            <a:ext cx="1459859"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5" name="Shape 43"/>
          <p:cNvSpPr/>
          <p:nvPr/>
        </p:nvSpPr>
        <p:spPr>
          <a:xfrm>
            <a:off x="9708125" y="4505925"/>
            <a:ext cx="420624" cy="420624"/>
          </a:xfrm>
          <a:prstGeom prst="ellipse">
            <a:avLst/>
          </a:prstGeom>
          <a:solidFill>
            <a:srgbClr val="E3F4FA"/>
          </a:solidFill>
          <a:ln w="12700">
            <a:solidFill>
              <a:srgbClr val="E3F4FA"/>
            </a:solidFill>
            <a:prstDash val="solid"/>
          </a:ln>
        </p:spPr>
      </p:sp>
      <p:sp>
        <p:nvSpPr>
          <p:cNvPr id="46" name="Icono database"/>
          <p:cNvSpPr/>
          <p:nvPr/>
        </p:nvSpPr>
        <p:spPr>
          <a:xfrm>
            <a:off x="9762989" y="456078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47" name="Text 45"/>
          <p:cNvSpPr/>
          <p:nvPr/>
        </p:nvSpPr>
        <p:spPr>
          <a:xfrm>
            <a:off x="10183613" y="4389915"/>
            <a:ext cx="838067"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db-solicitudes</a:t>
            </a:r>
            <a:endParaRPr lang="en-US" sz="1014" dirty="0"/>
          </a:p>
        </p:txBody>
      </p:sp>
      <p:sp>
        <p:nvSpPr>
          <p:cNvPr id="48" name="Shape 46"/>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9" name="Text 4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0" name="Text 4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caso de uso llama buscar(id) a través del contrato. Spring conectó RepositorioJpa.</a:t>
            </a:r>
            <a:endParaRPr lang="en-US" sz="1300" dirty="0"/>
          </a:p>
        </p:txBody>
      </p:sp>
      <p:sp>
        <p:nvSpPr>
          <p:cNvPr id="51" name="Shape 4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2" name="Text 5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3" name="Text 5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RepositorioJpa usa Spring Data JPA, que consulta PostgreSQL.</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31514" y="3153328"/>
            <a:ext cx="515245" cy="0"/>
          </a:xfrm>
          <a:prstGeom prst="line">
            <a:avLst/>
          </a:prstGeom>
          <a:noFill/>
          <a:ln w="31750">
            <a:solidFill>
              <a:srgbClr val="2E6DB4"/>
            </a:solidFill>
            <a:prstDash val="solid"/>
            <a:tailEnd type="triangle"/>
          </a:ln>
        </p:spPr>
      </p:sp>
      <p:sp>
        <p:nvSpPr>
          <p:cNvPr id="6" name="Text 4"/>
          <p:cNvSpPr/>
          <p:nvPr/>
        </p:nvSpPr>
        <p:spPr>
          <a:xfrm>
            <a:off x="2331859" y="292059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27883" y="304360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292492" y="3153328"/>
            <a:ext cx="686993" cy="0"/>
          </a:xfrm>
          <a:prstGeom prst="line">
            <a:avLst/>
          </a:prstGeom>
          <a:noFill/>
          <a:ln w="31750">
            <a:solidFill>
              <a:srgbClr val="55627E"/>
            </a:solidFill>
            <a:prstDash val="sysDot"/>
            <a:tailEnd type="triangle"/>
          </a:ln>
        </p:spPr>
      </p:sp>
      <p:sp>
        <p:nvSpPr>
          <p:cNvPr id="9" name="Text 7"/>
          <p:cNvSpPr/>
          <p:nvPr/>
        </p:nvSpPr>
        <p:spPr>
          <a:xfrm>
            <a:off x="4261084" y="292059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888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11092" y="3153328"/>
            <a:ext cx="858741" cy="0"/>
          </a:xfrm>
          <a:prstGeom prst="line">
            <a:avLst/>
          </a:prstGeom>
          <a:noFill/>
          <a:ln w="31750">
            <a:solidFill>
              <a:srgbClr val="55627E"/>
            </a:solidFill>
            <a:prstDash val="sysDot"/>
            <a:tailEnd type="triangle"/>
          </a:ln>
        </p:spPr>
      </p:sp>
      <p:sp>
        <p:nvSpPr>
          <p:cNvPr id="12" name="Text 10"/>
          <p:cNvSpPr/>
          <p:nvPr/>
        </p:nvSpPr>
        <p:spPr>
          <a:xfrm>
            <a:off x="6603379" y="292059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74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43818" y="3153328"/>
            <a:ext cx="772867" cy="0"/>
          </a:xfrm>
          <a:prstGeom prst="line">
            <a:avLst/>
          </a:prstGeom>
          <a:noFill/>
          <a:ln w="31750">
            <a:solidFill>
              <a:srgbClr val="55627E"/>
            </a:solidFill>
            <a:prstDash val="sysDot"/>
            <a:tailEnd type="triangle"/>
          </a:ln>
        </p:spPr>
      </p:sp>
      <p:sp>
        <p:nvSpPr>
          <p:cNvPr id="15" name="Text 13"/>
          <p:cNvSpPr/>
          <p:nvPr/>
        </p:nvSpPr>
        <p:spPr>
          <a:xfrm>
            <a:off x="8917527" y="292059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40188"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40517" y="3582699"/>
            <a:ext cx="0" cy="807216"/>
          </a:xfrm>
          <a:prstGeom prst="line">
            <a:avLst/>
          </a:prstGeom>
          <a:noFill/>
          <a:ln w="31750">
            <a:solidFill>
              <a:srgbClr val="55627E"/>
            </a:solidFill>
            <a:prstDash val="sysDot"/>
            <a:tailEnd type="triangle"/>
          </a:ln>
        </p:spPr>
      </p:sp>
      <p:sp>
        <p:nvSpPr>
          <p:cNvPr id="18" name="Text 16"/>
          <p:cNvSpPr/>
          <p:nvPr/>
        </p:nvSpPr>
        <p:spPr>
          <a:xfrm>
            <a:off x="9553552" y="3865209"/>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30789" y="36790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52713" y="3582699"/>
            <a:ext cx="0" cy="807216"/>
          </a:xfrm>
          <a:prstGeom prst="line">
            <a:avLst/>
          </a:prstGeom>
          <a:noFill/>
          <a:ln w="47625">
            <a:solidFill>
              <a:srgbClr val="2BA6CB"/>
            </a:solidFill>
            <a:prstDash val="sysDot"/>
            <a:tailEnd type="triangle"/>
          </a:ln>
        </p:spPr>
      </p:sp>
      <p:sp>
        <p:nvSpPr>
          <p:cNvPr id="21" name="Text 19"/>
          <p:cNvSpPr/>
          <p:nvPr/>
        </p:nvSpPr>
        <p:spPr>
          <a:xfrm>
            <a:off x="10638587" y="3865209"/>
            <a:ext cx="376733"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42985" y="407408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43818" y="3359426"/>
            <a:ext cx="772867" cy="0"/>
          </a:xfrm>
          <a:prstGeom prst="line">
            <a:avLst/>
          </a:prstGeom>
          <a:noFill/>
          <a:ln w="47625">
            <a:solidFill>
              <a:srgbClr val="2BA6CB"/>
            </a:solidFill>
            <a:prstDash val="sysDot"/>
            <a:tailEnd type="triangle"/>
          </a:ln>
        </p:spPr>
      </p:sp>
      <p:sp>
        <p:nvSpPr>
          <p:cNvPr id="24" name="Text 22"/>
          <p:cNvSpPr/>
          <p:nvPr/>
        </p:nvSpPr>
        <p:spPr>
          <a:xfrm>
            <a:off x="8948617" y="3367139"/>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300859" y="324969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11092" y="3359426"/>
            <a:ext cx="858741" cy="0"/>
          </a:xfrm>
          <a:prstGeom prst="line">
            <a:avLst/>
          </a:prstGeom>
          <a:noFill/>
          <a:ln w="47625">
            <a:solidFill>
              <a:srgbClr val="2BA6CB"/>
            </a:solidFill>
            <a:prstDash val="sysDot"/>
            <a:tailEnd type="triangle"/>
          </a:ln>
        </p:spPr>
      </p:sp>
      <p:sp>
        <p:nvSpPr>
          <p:cNvPr id="27" name="Text 25"/>
          <p:cNvSpPr/>
          <p:nvPr/>
        </p:nvSpPr>
        <p:spPr>
          <a:xfrm>
            <a:off x="6727738" y="3367139"/>
            <a:ext cx="62545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54007" y="324969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292492" y="3359426"/>
            <a:ext cx="686993" cy="0"/>
          </a:xfrm>
          <a:prstGeom prst="line">
            <a:avLst/>
          </a:prstGeom>
          <a:noFill/>
          <a:ln w="31750">
            <a:solidFill>
              <a:srgbClr val="CBD5E3"/>
            </a:solidFill>
            <a:prstDash val="sysDot"/>
            <a:tailEnd type="triangle"/>
          </a:ln>
        </p:spPr>
      </p:sp>
      <p:sp>
        <p:nvSpPr>
          <p:cNvPr id="30" name="Text 28"/>
          <p:cNvSpPr/>
          <p:nvPr/>
        </p:nvSpPr>
        <p:spPr>
          <a:xfrm>
            <a:off x="4292174" y="3367139"/>
            <a:ext cx="687629"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3659"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31514" y="3359426"/>
            <a:ext cx="515245" cy="0"/>
          </a:xfrm>
          <a:prstGeom prst="line">
            <a:avLst/>
          </a:prstGeom>
          <a:noFill/>
          <a:ln w="22860">
            <a:solidFill>
              <a:srgbClr val="CBD5E3"/>
            </a:solidFill>
            <a:prstDash val="solid"/>
            <a:tailEnd type="arrow"/>
          </a:ln>
        </p:spPr>
      </p:sp>
      <p:sp>
        <p:nvSpPr>
          <p:cNvPr id="33" name="Text 31"/>
          <p:cNvSpPr/>
          <p:nvPr/>
        </p:nvSpPr>
        <p:spPr>
          <a:xfrm>
            <a:off x="2300770" y="3367139"/>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30932"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115151" y="2930056"/>
            <a:ext cx="1116363"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6591" y="3046065"/>
            <a:ext cx="420624" cy="420624"/>
          </a:xfrm>
          <a:prstGeom prst="ellipse">
            <a:avLst/>
          </a:prstGeom>
          <a:solidFill>
            <a:srgbClr val="E2E5EA"/>
          </a:solidFill>
          <a:ln w="12700">
            <a:solidFill>
              <a:srgbClr val="E2E5EA"/>
            </a:solidFill>
            <a:prstDash val="solid"/>
          </a:ln>
        </p:spPr>
      </p:sp>
      <p:sp>
        <p:nvSpPr>
          <p:cNvPr id="37" name="Icono monitor"/>
          <p:cNvSpPr/>
          <p:nvPr/>
        </p:nvSpPr>
        <p:spPr>
          <a:xfrm>
            <a:off x="1261455" y="3100929"/>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8" name="Text 36"/>
          <p:cNvSpPr/>
          <p:nvPr/>
        </p:nvSpPr>
        <p:spPr>
          <a:xfrm>
            <a:off x="1682079" y="2930056"/>
            <a:ext cx="494571"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GET por /api</a:t>
            </a:r>
            <a:endParaRPr lang="en-US" sz="1014" dirty="0"/>
          </a:p>
        </p:txBody>
      </p:sp>
      <p:sp>
        <p:nvSpPr>
          <p:cNvPr id="39" name="Text 37"/>
          <p:cNvSpPr/>
          <p:nvPr/>
        </p:nvSpPr>
        <p:spPr>
          <a:xfrm>
            <a:off x="2746758" y="2930056"/>
            <a:ext cx="1545734"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@GetMapping /{id}</a:t>
            </a:r>
            <a:endParaRPr lang="en-US" sz="1014" dirty="0"/>
          </a:p>
        </p:txBody>
      </p:sp>
      <p:sp>
        <p:nvSpPr>
          <p:cNvPr id="40" name="Text 38"/>
          <p:cNvSpPr/>
          <p:nvPr/>
        </p:nvSpPr>
        <p:spPr>
          <a:xfrm>
            <a:off x="4979484" y="2930056"/>
            <a:ext cx="1631608"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ServicioDeSolicitudes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buscar(id)</a:t>
            </a:r>
            <a:endParaRPr lang="en-US" sz="974" dirty="0"/>
          </a:p>
        </p:txBody>
      </p:sp>
      <p:sp>
        <p:nvSpPr>
          <p:cNvPr id="41" name="Text 39"/>
          <p:cNvSpPr/>
          <p:nvPr/>
        </p:nvSpPr>
        <p:spPr>
          <a:xfrm>
            <a:off x="6009974" y="1556070"/>
            <a:ext cx="2060978" cy="652643"/>
          </a:xfrm>
          <a:prstGeom prst="roundRect">
            <a:avLst>
              <a:gd name="adj" fmla="val 12610"/>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14"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11"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42" name="Text 40"/>
          <p:cNvSpPr/>
          <p:nvPr/>
        </p:nvSpPr>
        <p:spPr>
          <a:xfrm>
            <a:off x="7469833" y="2930056"/>
            <a:ext cx="1373985"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 activo</a:t>
            </a:r>
            <a:endParaRPr lang="en-US" sz="1014" dirty="0"/>
          </a:p>
        </p:txBody>
      </p:sp>
      <p:sp>
        <p:nvSpPr>
          <p:cNvPr id="43" name="Text 41"/>
          <p:cNvSpPr/>
          <p:nvPr/>
        </p:nvSpPr>
        <p:spPr>
          <a:xfrm>
            <a:off x="9616685" y="2930056"/>
            <a:ext cx="1459859" cy="652643"/>
          </a:xfrm>
          <a:prstGeom prst="roundRect">
            <a:avLst>
              <a:gd name="adj" fmla="val 1261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Spring Data 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SolicitudJpaRepository</a:t>
            </a:r>
            <a:endParaRPr lang="en-US" sz="1014" dirty="0"/>
          </a:p>
        </p:txBody>
      </p:sp>
      <p:sp>
        <p:nvSpPr>
          <p:cNvPr id="44" name="Shape 42"/>
          <p:cNvSpPr/>
          <p:nvPr/>
        </p:nvSpPr>
        <p:spPr>
          <a:xfrm>
            <a:off x="9616685" y="4389915"/>
            <a:ext cx="1459859" cy="652643"/>
          </a:xfrm>
          <a:prstGeom prst="roundRect">
            <a:avLst>
              <a:gd name="adj" fmla="val 1261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9708125" y="4505925"/>
            <a:ext cx="420624" cy="420624"/>
          </a:xfrm>
          <a:prstGeom prst="ellipse">
            <a:avLst/>
          </a:prstGeom>
          <a:solidFill>
            <a:srgbClr val="E8EBEE"/>
          </a:solidFill>
          <a:ln w="12700">
            <a:solidFill>
              <a:srgbClr val="E8EBEE"/>
            </a:solidFill>
            <a:prstDash val="solid"/>
          </a:ln>
        </p:spPr>
      </p:sp>
      <p:sp>
        <p:nvSpPr>
          <p:cNvPr id="46" name="Icono database"/>
          <p:cNvSpPr/>
          <p:nvPr/>
        </p:nvSpPr>
        <p:spPr>
          <a:xfrm>
            <a:off x="9762989" y="456078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7" name="Text 45"/>
          <p:cNvSpPr/>
          <p:nvPr/>
        </p:nvSpPr>
        <p:spPr>
          <a:xfrm>
            <a:off x="10183613" y="4389915"/>
            <a:ext cx="838067"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db-solicitudes</a:t>
            </a:r>
            <a:endParaRPr lang="en-US" sz="1014" dirty="0"/>
          </a:p>
        </p:txBody>
      </p:sp>
      <p:sp>
        <p:nvSpPr>
          <p:cNvPr id="48" name="Shape 4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9" name="Text 4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0" name="Text 4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fila vuelve como entidad y el adaptador la convierte en Solicitud del dominio.</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31514" y="3153328"/>
            <a:ext cx="515245" cy="0"/>
          </a:xfrm>
          <a:prstGeom prst="line">
            <a:avLst/>
          </a:prstGeom>
          <a:noFill/>
          <a:ln w="31750">
            <a:solidFill>
              <a:srgbClr val="2E6DB4"/>
            </a:solidFill>
            <a:prstDash val="solid"/>
            <a:tailEnd type="triangle"/>
          </a:ln>
        </p:spPr>
      </p:sp>
      <p:sp>
        <p:nvSpPr>
          <p:cNvPr id="6" name="Text 4"/>
          <p:cNvSpPr/>
          <p:nvPr/>
        </p:nvSpPr>
        <p:spPr>
          <a:xfrm>
            <a:off x="2331859" y="292059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27883" y="304360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292492" y="3153328"/>
            <a:ext cx="686993" cy="0"/>
          </a:xfrm>
          <a:prstGeom prst="line">
            <a:avLst/>
          </a:prstGeom>
          <a:noFill/>
          <a:ln w="31750">
            <a:solidFill>
              <a:srgbClr val="55627E"/>
            </a:solidFill>
            <a:prstDash val="sysDot"/>
            <a:tailEnd type="triangle"/>
          </a:ln>
        </p:spPr>
      </p:sp>
      <p:sp>
        <p:nvSpPr>
          <p:cNvPr id="9" name="Text 7"/>
          <p:cNvSpPr/>
          <p:nvPr/>
        </p:nvSpPr>
        <p:spPr>
          <a:xfrm>
            <a:off x="4261084" y="292059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888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11092" y="3153328"/>
            <a:ext cx="858741" cy="0"/>
          </a:xfrm>
          <a:prstGeom prst="line">
            <a:avLst/>
          </a:prstGeom>
          <a:noFill/>
          <a:ln w="31750">
            <a:solidFill>
              <a:srgbClr val="55627E"/>
            </a:solidFill>
            <a:prstDash val="sysDot"/>
            <a:tailEnd type="triangle"/>
          </a:ln>
        </p:spPr>
      </p:sp>
      <p:sp>
        <p:nvSpPr>
          <p:cNvPr id="12" name="Text 10"/>
          <p:cNvSpPr/>
          <p:nvPr/>
        </p:nvSpPr>
        <p:spPr>
          <a:xfrm>
            <a:off x="6603379" y="292059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74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43818" y="3153328"/>
            <a:ext cx="772867" cy="0"/>
          </a:xfrm>
          <a:prstGeom prst="line">
            <a:avLst/>
          </a:prstGeom>
          <a:noFill/>
          <a:ln w="31750">
            <a:solidFill>
              <a:srgbClr val="55627E"/>
            </a:solidFill>
            <a:prstDash val="sysDot"/>
            <a:tailEnd type="triangle"/>
          </a:ln>
        </p:spPr>
      </p:sp>
      <p:sp>
        <p:nvSpPr>
          <p:cNvPr id="15" name="Text 13"/>
          <p:cNvSpPr/>
          <p:nvPr/>
        </p:nvSpPr>
        <p:spPr>
          <a:xfrm>
            <a:off x="8917527" y="292059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40188"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40517" y="3582699"/>
            <a:ext cx="0" cy="807216"/>
          </a:xfrm>
          <a:prstGeom prst="line">
            <a:avLst/>
          </a:prstGeom>
          <a:noFill/>
          <a:ln w="31750">
            <a:solidFill>
              <a:srgbClr val="55627E"/>
            </a:solidFill>
            <a:prstDash val="sysDot"/>
            <a:tailEnd type="triangle"/>
          </a:ln>
        </p:spPr>
      </p:sp>
      <p:sp>
        <p:nvSpPr>
          <p:cNvPr id="18" name="Text 16"/>
          <p:cNvSpPr/>
          <p:nvPr/>
        </p:nvSpPr>
        <p:spPr>
          <a:xfrm>
            <a:off x="9553552" y="3865209"/>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30789" y="36790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52713" y="3582699"/>
            <a:ext cx="0" cy="807216"/>
          </a:xfrm>
          <a:prstGeom prst="line">
            <a:avLst/>
          </a:prstGeom>
          <a:noFill/>
          <a:ln w="31750">
            <a:solidFill>
              <a:srgbClr val="55627E"/>
            </a:solidFill>
            <a:prstDash val="sysDot"/>
            <a:tailEnd type="triangle"/>
          </a:ln>
        </p:spPr>
      </p:sp>
      <p:sp>
        <p:nvSpPr>
          <p:cNvPr id="21" name="Text 19"/>
          <p:cNvSpPr/>
          <p:nvPr/>
        </p:nvSpPr>
        <p:spPr>
          <a:xfrm>
            <a:off x="10638587" y="3865209"/>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42985" y="407408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43818" y="3359426"/>
            <a:ext cx="772867" cy="0"/>
          </a:xfrm>
          <a:prstGeom prst="line">
            <a:avLst/>
          </a:prstGeom>
          <a:noFill/>
          <a:ln w="31750">
            <a:solidFill>
              <a:srgbClr val="55627E"/>
            </a:solidFill>
            <a:prstDash val="sysDot"/>
            <a:tailEnd type="triangle"/>
          </a:ln>
        </p:spPr>
      </p:sp>
      <p:sp>
        <p:nvSpPr>
          <p:cNvPr id="24" name="Text 22"/>
          <p:cNvSpPr/>
          <p:nvPr/>
        </p:nvSpPr>
        <p:spPr>
          <a:xfrm>
            <a:off x="8948617" y="336713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300859" y="32496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11092" y="3359426"/>
            <a:ext cx="858741" cy="0"/>
          </a:xfrm>
          <a:prstGeom prst="line">
            <a:avLst/>
          </a:prstGeom>
          <a:noFill/>
          <a:ln w="31750">
            <a:solidFill>
              <a:srgbClr val="55627E"/>
            </a:solidFill>
            <a:prstDash val="sysDot"/>
            <a:tailEnd type="triangle"/>
          </a:ln>
        </p:spPr>
      </p:sp>
      <p:sp>
        <p:nvSpPr>
          <p:cNvPr id="27" name="Text 25"/>
          <p:cNvSpPr/>
          <p:nvPr/>
        </p:nvSpPr>
        <p:spPr>
          <a:xfrm>
            <a:off x="6727738" y="336713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54007" y="32496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292492" y="3359426"/>
            <a:ext cx="686993" cy="0"/>
          </a:xfrm>
          <a:prstGeom prst="line">
            <a:avLst/>
          </a:prstGeom>
          <a:noFill/>
          <a:ln w="47625">
            <a:solidFill>
              <a:srgbClr val="2BA6CB"/>
            </a:solidFill>
            <a:prstDash val="sysDot"/>
            <a:tailEnd type="triangle"/>
          </a:ln>
        </p:spPr>
      </p:sp>
      <p:sp>
        <p:nvSpPr>
          <p:cNvPr id="30" name="Text 28"/>
          <p:cNvSpPr/>
          <p:nvPr/>
        </p:nvSpPr>
        <p:spPr>
          <a:xfrm>
            <a:off x="4292174" y="3367139"/>
            <a:ext cx="687629"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3659" y="324969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31514" y="3359426"/>
            <a:ext cx="515245" cy="0"/>
          </a:xfrm>
          <a:prstGeom prst="line">
            <a:avLst/>
          </a:prstGeom>
          <a:noFill/>
          <a:ln w="22860">
            <a:solidFill>
              <a:srgbClr val="CBD5E3"/>
            </a:solidFill>
            <a:prstDash val="solid"/>
            <a:tailEnd type="arrow"/>
          </a:ln>
        </p:spPr>
      </p:sp>
      <p:sp>
        <p:nvSpPr>
          <p:cNvPr id="33" name="Text 31"/>
          <p:cNvSpPr/>
          <p:nvPr/>
        </p:nvSpPr>
        <p:spPr>
          <a:xfrm>
            <a:off x="2300770" y="3367139"/>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30932" y="324969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115151" y="2930056"/>
            <a:ext cx="1116363"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6591" y="3046065"/>
            <a:ext cx="420624" cy="420624"/>
          </a:xfrm>
          <a:prstGeom prst="ellipse">
            <a:avLst/>
          </a:prstGeom>
          <a:solidFill>
            <a:srgbClr val="E2E5EA"/>
          </a:solidFill>
          <a:ln w="12700">
            <a:solidFill>
              <a:srgbClr val="E2E5EA"/>
            </a:solidFill>
            <a:prstDash val="solid"/>
          </a:ln>
        </p:spPr>
      </p:sp>
      <p:sp>
        <p:nvSpPr>
          <p:cNvPr id="37" name="Icono monitor"/>
          <p:cNvSpPr/>
          <p:nvPr/>
        </p:nvSpPr>
        <p:spPr>
          <a:xfrm>
            <a:off x="1261455" y="3100929"/>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38" name="Text 36"/>
          <p:cNvSpPr/>
          <p:nvPr/>
        </p:nvSpPr>
        <p:spPr>
          <a:xfrm>
            <a:off x="1682079" y="2930056"/>
            <a:ext cx="494571"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GET por /api</a:t>
            </a:r>
            <a:endParaRPr lang="en-US" sz="1014" dirty="0"/>
          </a:p>
        </p:txBody>
      </p:sp>
      <p:sp>
        <p:nvSpPr>
          <p:cNvPr id="39" name="Text 37"/>
          <p:cNvSpPr/>
          <p:nvPr/>
        </p:nvSpPr>
        <p:spPr>
          <a:xfrm>
            <a:off x="2746758" y="2930056"/>
            <a:ext cx="1545734"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@GetMapping /{id}</a:t>
            </a:r>
            <a:endParaRPr lang="en-US" sz="1014" dirty="0"/>
          </a:p>
        </p:txBody>
      </p:sp>
      <p:sp>
        <p:nvSpPr>
          <p:cNvPr id="40" name="Text 38"/>
          <p:cNvSpPr/>
          <p:nvPr/>
        </p:nvSpPr>
        <p:spPr>
          <a:xfrm>
            <a:off x="4979484" y="2930056"/>
            <a:ext cx="1631608"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ServicioDeSolicitudes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buscar(id)</a:t>
            </a:r>
            <a:endParaRPr lang="en-US" sz="974" dirty="0"/>
          </a:p>
        </p:txBody>
      </p:sp>
      <p:sp>
        <p:nvSpPr>
          <p:cNvPr id="41" name="Text 39"/>
          <p:cNvSpPr/>
          <p:nvPr/>
        </p:nvSpPr>
        <p:spPr>
          <a:xfrm>
            <a:off x="6009974" y="1556070"/>
            <a:ext cx="2060978" cy="652643"/>
          </a:xfrm>
          <a:prstGeom prst="roundRect">
            <a:avLst>
              <a:gd name="adj" fmla="val 12610"/>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14"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11"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42" name="Text 40"/>
          <p:cNvSpPr/>
          <p:nvPr/>
        </p:nvSpPr>
        <p:spPr>
          <a:xfrm>
            <a:off x="7469833" y="2930056"/>
            <a:ext cx="1373985"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 activo</a:t>
            </a:r>
            <a:endParaRPr lang="en-US" sz="1014" dirty="0"/>
          </a:p>
        </p:txBody>
      </p:sp>
      <p:sp>
        <p:nvSpPr>
          <p:cNvPr id="43" name="Text 41"/>
          <p:cNvSpPr/>
          <p:nvPr/>
        </p:nvSpPr>
        <p:spPr>
          <a:xfrm>
            <a:off x="9616685" y="2930056"/>
            <a:ext cx="1459859" cy="652643"/>
          </a:xfrm>
          <a:prstGeom prst="roundRect">
            <a:avLst>
              <a:gd name="adj" fmla="val 1261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Spring Data 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SolicitudJpaRepository</a:t>
            </a:r>
            <a:endParaRPr lang="en-US" sz="1014" dirty="0"/>
          </a:p>
        </p:txBody>
      </p:sp>
      <p:sp>
        <p:nvSpPr>
          <p:cNvPr id="44" name="Shape 42"/>
          <p:cNvSpPr/>
          <p:nvPr/>
        </p:nvSpPr>
        <p:spPr>
          <a:xfrm>
            <a:off x="9616685" y="4389915"/>
            <a:ext cx="1459859" cy="652643"/>
          </a:xfrm>
          <a:prstGeom prst="roundRect">
            <a:avLst>
              <a:gd name="adj" fmla="val 1261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9708125" y="4505925"/>
            <a:ext cx="420624" cy="420624"/>
          </a:xfrm>
          <a:prstGeom prst="ellipse">
            <a:avLst/>
          </a:prstGeom>
          <a:solidFill>
            <a:srgbClr val="E8EBEE"/>
          </a:solidFill>
          <a:ln w="12700">
            <a:solidFill>
              <a:srgbClr val="E8EBEE"/>
            </a:solidFill>
            <a:prstDash val="solid"/>
          </a:ln>
        </p:spPr>
      </p:sp>
      <p:sp>
        <p:nvSpPr>
          <p:cNvPr id="46" name="Icono database"/>
          <p:cNvSpPr/>
          <p:nvPr/>
        </p:nvSpPr>
        <p:spPr>
          <a:xfrm>
            <a:off x="9762989" y="456078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7" name="Text 45"/>
          <p:cNvSpPr/>
          <p:nvPr/>
        </p:nvSpPr>
        <p:spPr>
          <a:xfrm>
            <a:off x="10183613" y="4389915"/>
            <a:ext cx="838067"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db-solicitudes</a:t>
            </a:r>
            <a:endParaRPr lang="en-US" sz="1014" dirty="0"/>
          </a:p>
        </p:txBody>
      </p:sp>
      <p:sp>
        <p:nvSpPr>
          <p:cNvPr id="48" name="Shape 4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9" name="Text 4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0" name="Text 4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no existe, el servicio lanza SolicitudNoEncontrada y el manejador responde 404.</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Consulta de una solicitud</a:t>
            </a:r>
            <a:endParaRPr lang="en-US" sz="2800" dirty="0"/>
          </a:p>
        </p:txBody>
      </p:sp>
      <p:sp>
        <p:nvSpPr>
          <p:cNvPr id="5" name="Shape 3"/>
          <p:cNvSpPr/>
          <p:nvPr/>
        </p:nvSpPr>
        <p:spPr>
          <a:xfrm>
            <a:off x="2231514" y="3153328"/>
            <a:ext cx="515245" cy="0"/>
          </a:xfrm>
          <a:prstGeom prst="line">
            <a:avLst/>
          </a:prstGeom>
          <a:noFill/>
          <a:ln w="31750">
            <a:solidFill>
              <a:srgbClr val="2E6DB4"/>
            </a:solidFill>
            <a:prstDash val="solid"/>
            <a:tailEnd type="triangle"/>
          </a:ln>
        </p:spPr>
      </p:sp>
      <p:sp>
        <p:nvSpPr>
          <p:cNvPr id="6" name="Text 4"/>
          <p:cNvSpPr/>
          <p:nvPr/>
        </p:nvSpPr>
        <p:spPr>
          <a:xfrm>
            <a:off x="2331859" y="2920594"/>
            <a:ext cx="314554"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GET</a:t>
            </a:r>
            <a:endParaRPr lang="en-US" sz="800" dirty="0"/>
          </a:p>
        </p:txBody>
      </p:sp>
      <p:sp>
        <p:nvSpPr>
          <p:cNvPr id="7" name="Text 5"/>
          <p:cNvSpPr/>
          <p:nvPr/>
        </p:nvSpPr>
        <p:spPr>
          <a:xfrm>
            <a:off x="2327883" y="304360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292492" y="3153328"/>
            <a:ext cx="686993" cy="0"/>
          </a:xfrm>
          <a:prstGeom prst="line">
            <a:avLst/>
          </a:prstGeom>
          <a:noFill/>
          <a:ln w="31750">
            <a:solidFill>
              <a:srgbClr val="55627E"/>
            </a:solidFill>
            <a:prstDash val="sysDot"/>
            <a:tailEnd type="triangle"/>
          </a:ln>
        </p:spPr>
      </p:sp>
      <p:sp>
        <p:nvSpPr>
          <p:cNvPr id="9" name="Text 7"/>
          <p:cNvSpPr/>
          <p:nvPr/>
        </p:nvSpPr>
        <p:spPr>
          <a:xfrm>
            <a:off x="4261084" y="2920594"/>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buscar(id)</a:t>
            </a:r>
            <a:endParaRPr lang="en-US" sz="800" dirty="0"/>
          </a:p>
        </p:txBody>
      </p:sp>
      <p:sp>
        <p:nvSpPr>
          <p:cNvPr id="10" name="Text 8"/>
          <p:cNvSpPr/>
          <p:nvPr/>
        </p:nvSpPr>
        <p:spPr>
          <a:xfrm>
            <a:off x="43888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6611092" y="3153328"/>
            <a:ext cx="858741" cy="0"/>
          </a:xfrm>
          <a:prstGeom prst="line">
            <a:avLst/>
          </a:prstGeom>
          <a:noFill/>
          <a:ln w="31750">
            <a:solidFill>
              <a:srgbClr val="55627E"/>
            </a:solidFill>
            <a:prstDash val="sysDot"/>
            <a:tailEnd type="triangle"/>
          </a:ln>
        </p:spPr>
      </p:sp>
      <p:sp>
        <p:nvSpPr>
          <p:cNvPr id="12" name="Text 10"/>
          <p:cNvSpPr/>
          <p:nvPr/>
        </p:nvSpPr>
        <p:spPr>
          <a:xfrm>
            <a:off x="6603379" y="2920594"/>
            <a:ext cx="87416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vía contrato</a:t>
            </a:r>
            <a:endParaRPr lang="en-US" sz="800" dirty="0"/>
          </a:p>
        </p:txBody>
      </p:sp>
      <p:sp>
        <p:nvSpPr>
          <p:cNvPr id="13" name="Text 11"/>
          <p:cNvSpPr/>
          <p:nvPr/>
        </p:nvSpPr>
        <p:spPr>
          <a:xfrm>
            <a:off x="6707462"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4" name="Shape 12"/>
          <p:cNvSpPr/>
          <p:nvPr/>
        </p:nvSpPr>
        <p:spPr>
          <a:xfrm>
            <a:off x="8843818" y="3153328"/>
            <a:ext cx="772867" cy="0"/>
          </a:xfrm>
          <a:prstGeom prst="line">
            <a:avLst/>
          </a:prstGeom>
          <a:noFill/>
          <a:ln w="31750">
            <a:solidFill>
              <a:srgbClr val="55627E"/>
            </a:solidFill>
            <a:prstDash val="sysDot"/>
            <a:tailEnd type="triangle"/>
          </a:ln>
        </p:spPr>
      </p:sp>
      <p:sp>
        <p:nvSpPr>
          <p:cNvPr id="15" name="Text 13"/>
          <p:cNvSpPr/>
          <p:nvPr/>
        </p:nvSpPr>
        <p:spPr>
          <a:xfrm>
            <a:off x="8917527" y="2920594"/>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findById</a:t>
            </a:r>
            <a:endParaRPr lang="en-US" sz="800" dirty="0"/>
          </a:p>
        </p:txBody>
      </p:sp>
      <p:sp>
        <p:nvSpPr>
          <p:cNvPr id="16" name="Text 14"/>
          <p:cNvSpPr/>
          <p:nvPr/>
        </p:nvSpPr>
        <p:spPr>
          <a:xfrm>
            <a:off x="8940188" y="30436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a:off x="10140517" y="3582699"/>
            <a:ext cx="0" cy="807216"/>
          </a:xfrm>
          <a:prstGeom prst="line">
            <a:avLst/>
          </a:prstGeom>
          <a:noFill/>
          <a:ln w="31750">
            <a:solidFill>
              <a:srgbClr val="55627E"/>
            </a:solidFill>
            <a:prstDash val="sysDot"/>
            <a:tailEnd type="triangle"/>
          </a:ln>
        </p:spPr>
      </p:sp>
      <p:sp>
        <p:nvSpPr>
          <p:cNvPr id="18" name="Text 16"/>
          <p:cNvSpPr/>
          <p:nvPr/>
        </p:nvSpPr>
        <p:spPr>
          <a:xfrm>
            <a:off x="9553552" y="3865209"/>
            <a:ext cx="501091"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SELECT</a:t>
            </a:r>
            <a:endParaRPr lang="en-US" sz="800" dirty="0"/>
          </a:p>
        </p:txBody>
      </p:sp>
      <p:sp>
        <p:nvSpPr>
          <p:cNvPr id="19" name="Text 17"/>
          <p:cNvSpPr/>
          <p:nvPr/>
        </p:nvSpPr>
        <p:spPr>
          <a:xfrm>
            <a:off x="10030789" y="367906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V="1">
            <a:off x="10552713" y="3582699"/>
            <a:ext cx="0" cy="807216"/>
          </a:xfrm>
          <a:prstGeom prst="line">
            <a:avLst/>
          </a:prstGeom>
          <a:noFill/>
          <a:ln w="31750">
            <a:solidFill>
              <a:srgbClr val="55627E"/>
            </a:solidFill>
            <a:prstDash val="sysDot"/>
            <a:tailEnd type="triangle"/>
          </a:ln>
        </p:spPr>
      </p:sp>
      <p:sp>
        <p:nvSpPr>
          <p:cNvPr id="21" name="Text 19"/>
          <p:cNvSpPr/>
          <p:nvPr/>
        </p:nvSpPr>
        <p:spPr>
          <a:xfrm>
            <a:off x="10638587" y="3865209"/>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fila</a:t>
            </a:r>
            <a:endParaRPr lang="en-US" sz="800" dirty="0"/>
          </a:p>
        </p:txBody>
      </p:sp>
      <p:sp>
        <p:nvSpPr>
          <p:cNvPr id="22" name="Text 20"/>
          <p:cNvSpPr/>
          <p:nvPr/>
        </p:nvSpPr>
        <p:spPr>
          <a:xfrm>
            <a:off x="10442985" y="407408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8843818" y="3359426"/>
            <a:ext cx="772867" cy="0"/>
          </a:xfrm>
          <a:prstGeom prst="line">
            <a:avLst/>
          </a:prstGeom>
          <a:noFill/>
          <a:ln w="31750">
            <a:solidFill>
              <a:srgbClr val="55627E"/>
            </a:solidFill>
            <a:prstDash val="sysDot"/>
            <a:tailEnd type="triangle"/>
          </a:ln>
        </p:spPr>
      </p:sp>
      <p:sp>
        <p:nvSpPr>
          <p:cNvPr id="24" name="Text 22"/>
          <p:cNvSpPr/>
          <p:nvPr/>
        </p:nvSpPr>
        <p:spPr>
          <a:xfrm>
            <a:off x="8948617" y="336713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entidad</a:t>
            </a:r>
            <a:endParaRPr lang="en-US" sz="800" dirty="0"/>
          </a:p>
        </p:txBody>
      </p:sp>
      <p:sp>
        <p:nvSpPr>
          <p:cNvPr id="25" name="Text 23"/>
          <p:cNvSpPr/>
          <p:nvPr/>
        </p:nvSpPr>
        <p:spPr>
          <a:xfrm>
            <a:off x="9300859" y="32496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H="1">
            <a:off x="6611092" y="3359426"/>
            <a:ext cx="858741" cy="0"/>
          </a:xfrm>
          <a:prstGeom prst="line">
            <a:avLst/>
          </a:prstGeom>
          <a:noFill/>
          <a:ln w="31750">
            <a:solidFill>
              <a:srgbClr val="55627E"/>
            </a:solidFill>
            <a:prstDash val="sysDot"/>
            <a:tailEnd type="triangle"/>
          </a:ln>
        </p:spPr>
      </p:sp>
      <p:sp>
        <p:nvSpPr>
          <p:cNvPr id="27" name="Text 25"/>
          <p:cNvSpPr/>
          <p:nvPr/>
        </p:nvSpPr>
        <p:spPr>
          <a:xfrm>
            <a:off x="6727738" y="336713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Optional</a:t>
            </a:r>
            <a:endParaRPr lang="en-US" sz="800" dirty="0"/>
          </a:p>
        </p:txBody>
      </p:sp>
      <p:sp>
        <p:nvSpPr>
          <p:cNvPr id="28" name="Text 26"/>
          <p:cNvSpPr/>
          <p:nvPr/>
        </p:nvSpPr>
        <p:spPr>
          <a:xfrm>
            <a:off x="7154007" y="32496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9" name="Shape 27"/>
          <p:cNvSpPr/>
          <p:nvPr/>
        </p:nvSpPr>
        <p:spPr>
          <a:xfrm flipH="1">
            <a:off x="4292492" y="3359426"/>
            <a:ext cx="686993" cy="0"/>
          </a:xfrm>
          <a:prstGeom prst="line">
            <a:avLst/>
          </a:prstGeom>
          <a:noFill/>
          <a:ln w="31750">
            <a:solidFill>
              <a:srgbClr val="55627E"/>
            </a:solidFill>
            <a:prstDash val="sysDot"/>
            <a:tailEnd type="triangle"/>
          </a:ln>
        </p:spPr>
      </p:sp>
      <p:sp>
        <p:nvSpPr>
          <p:cNvPr id="30" name="Text 28"/>
          <p:cNvSpPr/>
          <p:nvPr/>
        </p:nvSpPr>
        <p:spPr>
          <a:xfrm>
            <a:off x="4292174" y="3367139"/>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Solicitud</a:t>
            </a:r>
            <a:endParaRPr lang="en-US" sz="800" dirty="0"/>
          </a:p>
        </p:txBody>
      </p:sp>
      <p:sp>
        <p:nvSpPr>
          <p:cNvPr id="31" name="Text 29"/>
          <p:cNvSpPr/>
          <p:nvPr/>
        </p:nvSpPr>
        <p:spPr>
          <a:xfrm>
            <a:off x="4663659" y="32496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2" name="Shape 30"/>
          <p:cNvSpPr/>
          <p:nvPr/>
        </p:nvSpPr>
        <p:spPr>
          <a:xfrm flipH="1">
            <a:off x="2231514" y="3359426"/>
            <a:ext cx="515245" cy="0"/>
          </a:xfrm>
          <a:prstGeom prst="line">
            <a:avLst/>
          </a:prstGeom>
          <a:noFill/>
          <a:ln w="38735">
            <a:solidFill>
              <a:srgbClr val="2BA6CB"/>
            </a:solidFill>
            <a:prstDash val="solid"/>
            <a:tailEnd type="arrow"/>
          </a:ln>
        </p:spPr>
      </p:sp>
      <p:sp>
        <p:nvSpPr>
          <p:cNvPr id="33" name="Text 31"/>
          <p:cNvSpPr/>
          <p:nvPr/>
        </p:nvSpPr>
        <p:spPr>
          <a:xfrm>
            <a:off x="2300770" y="3367139"/>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JSON</a:t>
            </a:r>
            <a:endParaRPr lang="en-US" sz="800" dirty="0"/>
          </a:p>
        </p:txBody>
      </p:sp>
      <p:sp>
        <p:nvSpPr>
          <p:cNvPr id="34" name="Text 32"/>
          <p:cNvSpPr/>
          <p:nvPr/>
        </p:nvSpPr>
        <p:spPr>
          <a:xfrm>
            <a:off x="2430932" y="324969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115151" y="2930056"/>
            <a:ext cx="1116363" cy="652643"/>
          </a:xfrm>
          <a:prstGeom prst="roundRect">
            <a:avLst>
              <a:gd name="adj" fmla="val 1261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1206591" y="3046065"/>
            <a:ext cx="420624" cy="420624"/>
          </a:xfrm>
          <a:prstGeom prst="ellipse">
            <a:avLst/>
          </a:prstGeom>
          <a:solidFill>
            <a:srgbClr val="E3F4FA"/>
          </a:solidFill>
          <a:ln w="12700">
            <a:solidFill>
              <a:srgbClr val="E3F4FA"/>
            </a:solidFill>
            <a:prstDash val="solid"/>
          </a:ln>
        </p:spPr>
      </p:sp>
      <p:sp>
        <p:nvSpPr>
          <p:cNvPr id="37" name="Icono monitor"/>
          <p:cNvSpPr/>
          <p:nvPr/>
        </p:nvSpPr>
        <p:spPr>
          <a:xfrm>
            <a:off x="1261455" y="3100929"/>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38" name="Text 36"/>
          <p:cNvSpPr/>
          <p:nvPr/>
        </p:nvSpPr>
        <p:spPr>
          <a:xfrm>
            <a:off x="1682079" y="2930056"/>
            <a:ext cx="494571"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UI</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GET por /api</a:t>
            </a:r>
            <a:endParaRPr lang="en-US" sz="1014" dirty="0"/>
          </a:p>
        </p:txBody>
      </p:sp>
      <p:sp>
        <p:nvSpPr>
          <p:cNvPr id="39" name="Text 37"/>
          <p:cNvSpPr/>
          <p:nvPr/>
        </p:nvSpPr>
        <p:spPr>
          <a:xfrm>
            <a:off x="2746758" y="2930056"/>
            <a:ext cx="1545734"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SolicitudController</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@GetMapping /{id}</a:t>
            </a:r>
            <a:endParaRPr lang="en-US" sz="1014" dirty="0"/>
          </a:p>
        </p:txBody>
      </p:sp>
      <p:sp>
        <p:nvSpPr>
          <p:cNvPr id="40" name="Text 38"/>
          <p:cNvSpPr/>
          <p:nvPr/>
        </p:nvSpPr>
        <p:spPr>
          <a:xfrm>
            <a:off x="4979484" y="2930056"/>
            <a:ext cx="1631608"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74" b="1" dirty="0">
                <a:solidFill>
                  <a:srgbClr val="0B1A3C"/>
                </a:solidFill>
                <a:latin typeface="Segoe UI" pitchFamily="34" charset="0"/>
                <a:ea typeface="Segoe UI" pitchFamily="34" charset="-122"/>
                <a:cs typeface="Segoe UI" pitchFamily="34" charset="-120"/>
              </a:rPr>
              <a:t>ServicioDeSolicitudes</a:t>
            </a:r>
            <a:endParaRPr lang="en-US" sz="974" dirty="0"/>
          </a:p>
          <a:p>
            <a:pPr algn="ctr" indent="0" marL="0">
              <a:buNone/>
            </a:pPr>
            <a:r>
              <a:rPr lang="en-US" sz="779" dirty="0">
                <a:solidFill>
                  <a:srgbClr val="55627E"/>
                </a:solidFill>
                <a:latin typeface="Segoe UI" pitchFamily="34" charset="0"/>
                <a:ea typeface="Segoe UI" pitchFamily="34" charset="-122"/>
                <a:cs typeface="Segoe UI" pitchFamily="34" charset="-120"/>
              </a:rPr>
              <a:t>buscar(id)</a:t>
            </a:r>
            <a:endParaRPr lang="en-US" sz="974" dirty="0"/>
          </a:p>
        </p:txBody>
      </p:sp>
      <p:sp>
        <p:nvSpPr>
          <p:cNvPr id="41" name="Text 39"/>
          <p:cNvSpPr/>
          <p:nvPr/>
        </p:nvSpPr>
        <p:spPr>
          <a:xfrm>
            <a:off x="6009974" y="1556070"/>
            <a:ext cx="2060978" cy="652643"/>
          </a:xfrm>
          <a:prstGeom prst="roundRect">
            <a:avLst>
              <a:gd name="adj" fmla="val 12610"/>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14"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11" dirty="0">
                <a:solidFill>
                  <a:srgbClr val="55627E"/>
                </a:solidFill>
                <a:latin typeface="Segoe UI" pitchFamily="34" charset="0"/>
                <a:ea typeface="Segoe UI" pitchFamily="34" charset="-122"/>
                <a:cs typeface="Segoe UI" pitchFamily="34" charset="-120"/>
              </a:rPr>
              <a:t>contrato: guardar, buscar, todas</a:t>
            </a:r>
            <a:endParaRPr lang="en-US" sz="800" dirty="0"/>
          </a:p>
        </p:txBody>
      </p:sp>
      <p:sp>
        <p:nvSpPr>
          <p:cNvPr id="42" name="Text 40"/>
          <p:cNvSpPr/>
          <p:nvPr/>
        </p:nvSpPr>
        <p:spPr>
          <a:xfrm>
            <a:off x="7469833" y="2930056"/>
            <a:ext cx="1373985" cy="652643"/>
          </a:xfrm>
          <a:prstGeom prst="roundRect">
            <a:avLst>
              <a:gd name="adj" fmla="val 1261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RepositorioJpa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adaptador activo</a:t>
            </a:r>
            <a:endParaRPr lang="en-US" sz="1014" dirty="0"/>
          </a:p>
        </p:txBody>
      </p:sp>
      <p:sp>
        <p:nvSpPr>
          <p:cNvPr id="43" name="Text 41"/>
          <p:cNvSpPr/>
          <p:nvPr/>
        </p:nvSpPr>
        <p:spPr>
          <a:xfrm>
            <a:off x="9616685" y="2930056"/>
            <a:ext cx="1459859" cy="652643"/>
          </a:xfrm>
          <a:prstGeom prst="roundRect">
            <a:avLst>
              <a:gd name="adj" fmla="val 12610"/>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1014" b="1" dirty="0">
                <a:solidFill>
                  <a:srgbClr val="0B1A3C"/>
                </a:solidFill>
                <a:latin typeface="Segoe UI" pitchFamily="34" charset="0"/>
                <a:ea typeface="Segoe UI" pitchFamily="34" charset="-122"/>
                <a:cs typeface="Segoe UI" pitchFamily="34" charset="-120"/>
              </a:rPr>
              <a:t>Spring Data JPA</a:t>
            </a:r>
            <a:endParaRPr lang="en-US" sz="1014" dirty="0"/>
          </a:p>
          <a:p>
            <a:pPr algn="ctr" indent="0" marL="0">
              <a:buNone/>
            </a:pPr>
            <a:r>
              <a:rPr lang="en-US" sz="811" dirty="0">
                <a:solidFill>
                  <a:srgbClr val="55627E"/>
                </a:solidFill>
                <a:latin typeface="Segoe UI" pitchFamily="34" charset="0"/>
                <a:ea typeface="Segoe UI" pitchFamily="34" charset="-122"/>
                <a:cs typeface="Segoe UI" pitchFamily="34" charset="-120"/>
              </a:rPr>
              <a:t>SolicitudJpaRepository</a:t>
            </a:r>
            <a:endParaRPr lang="en-US" sz="1014" dirty="0"/>
          </a:p>
        </p:txBody>
      </p:sp>
      <p:sp>
        <p:nvSpPr>
          <p:cNvPr id="44" name="Shape 42"/>
          <p:cNvSpPr/>
          <p:nvPr/>
        </p:nvSpPr>
        <p:spPr>
          <a:xfrm>
            <a:off x="9616685" y="4389915"/>
            <a:ext cx="1459859" cy="652643"/>
          </a:xfrm>
          <a:prstGeom prst="roundRect">
            <a:avLst>
              <a:gd name="adj" fmla="val 1261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9708125" y="4505925"/>
            <a:ext cx="420624" cy="420624"/>
          </a:xfrm>
          <a:prstGeom prst="ellipse">
            <a:avLst/>
          </a:prstGeom>
          <a:solidFill>
            <a:srgbClr val="E8EBEE"/>
          </a:solidFill>
          <a:ln w="12700">
            <a:solidFill>
              <a:srgbClr val="E8EBEE"/>
            </a:solidFill>
            <a:prstDash val="solid"/>
          </a:ln>
        </p:spPr>
      </p:sp>
      <p:sp>
        <p:nvSpPr>
          <p:cNvPr id="46" name="Icono database"/>
          <p:cNvSpPr/>
          <p:nvPr/>
        </p:nvSpPr>
        <p:spPr>
          <a:xfrm>
            <a:off x="9762989" y="4560789"/>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7" name="Text 45"/>
          <p:cNvSpPr/>
          <p:nvPr/>
        </p:nvSpPr>
        <p:spPr>
          <a:xfrm>
            <a:off x="10183613" y="4389915"/>
            <a:ext cx="838067" cy="652643"/>
          </a:xfrm>
          <a:prstGeom prst="rect">
            <a:avLst/>
          </a:prstGeom>
          <a:noFill/>
          <a:ln/>
        </p:spPr>
        <p:txBody>
          <a:bodyPr wrap="square" lIns="12700" tIns="25400" rIns="25400" bIns="12700" rtlCol="0" anchor="ctr">
            <a:normAutofit/>
          </a:bodyPr>
          <a:lstStyle/>
          <a:p>
            <a:pPr algn="l" indent="0" marL="0">
              <a:lnSpc>
                <a:spcPct val="95000"/>
              </a:lnSpc>
              <a:buNone/>
            </a:pPr>
            <a:r>
              <a:rPr lang="en-US" sz="1014" b="1" dirty="0">
                <a:solidFill>
                  <a:srgbClr val="0B1A3C"/>
                </a:solidFill>
                <a:latin typeface="Segoe UI" pitchFamily="34" charset="0"/>
                <a:ea typeface="Segoe UI" pitchFamily="34" charset="-122"/>
                <a:cs typeface="Segoe UI" pitchFamily="34" charset="-120"/>
              </a:rPr>
              <a:t>PostgreSQL</a:t>
            </a:r>
            <a:endParaRPr lang="en-US" sz="1014" dirty="0"/>
          </a:p>
          <a:p>
            <a:pPr algn="l" indent="0" marL="0">
              <a:lnSpc>
                <a:spcPct val="95000"/>
              </a:lnSpc>
              <a:buNone/>
            </a:pPr>
            <a:r>
              <a:rPr lang="en-US" sz="811" dirty="0">
                <a:solidFill>
                  <a:srgbClr val="55627E"/>
                </a:solidFill>
                <a:latin typeface="Segoe UI" pitchFamily="34" charset="0"/>
                <a:ea typeface="Segoe UI" pitchFamily="34" charset="-122"/>
                <a:cs typeface="Segoe UI" pitchFamily="34" charset="-120"/>
              </a:rPr>
              <a:t>db-solicitudes</a:t>
            </a:r>
            <a:endParaRPr lang="en-US" sz="1014" dirty="0"/>
          </a:p>
        </p:txBody>
      </p:sp>
      <p:sp>
        <p:nvSpPr>
          <p:cNvPr id="48" name="Shape 4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9" name="Text 4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0" name="Text 4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Spring escribe la solicitud como JSON con id, tipo y estado.</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Cambiar la pieza sin tocar el negocio</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Hay varios adaptadores para el mismo puerto</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Spring usa el que tiene @Primary</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Hoy: PostgreSQL y publicador con reintentos</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 las pruebas: un repositorio en memoria</a:t>
            </a:r>
            <a:endParaRPr lang="en-US" sz="1100" dirty="0"/>
          </a:p>
        </p:txBody>
      </p:sp>
      <p:sp>
        <p:nvSpPr>
          <p:cNvPr id="9" name="Shape 7"/>
          <p:cNvSpPr/>
          <p:nvPr/>
        </p:nvSpPr>
        <p:spPr>
          <a:xfrm>
            <a:off x="795421" y="2245919"/>
            <a:ext cx="5117653"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868573" y="2300783"/>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11" name="Shape 9"/>
          <p:cNvSpPr/>
          <p:nvPr/>
        </p:nvSpPr>
        <p:spPr>
          <a:xfrm>
            <a:off x="6278621" y="2245919"/>
            <a:ext cx="5117653"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351773" y="2300783"/>
            <a:ext cx="18897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13" name="Shape 11"/>
          <p:cNvSpPr/>
          <p:nvPr/>
        </p:nvSpPr>
        <p:spPr>
          <a:xfrm>
            <a:off x="2714541" y="3415668"/>
            <a:ext cx="1919120" cy="0"/>
          </a:xfrm>
          <a:prstGeom prst="line">
            <a:avLst/>
          </a:prstGeom>
          <a:noFill/>
          <a:ln w="22860">
            <a:solidFill>
              <a:srgbClr val="1F4E8C"/>
            </a:solidFill>
            <a:prstDash val="lgDash"/>
          </a:ln>
        </p:spPr>
      </p:sp>
      <p:sp>
        <p:nvSpPr>
          <p:cNvPr id="14" name="Shape 12"/>
          <p:cNvSpPr/>
          <p:nvPr/>
        </p:nvSpPr>
        <p:spPr>
          <a:xfrm>
            <a:off x="4633661" y="3415668"/>
            <a:ext cx="0" cy="475211"/>
          </a:xfrm>
          <a:prstGeom prst="line">
            <a:avLst/>
          </a:prstGeom>
          <a:noFill/>
          <a:ln w="22860">
            <a:solidFill>
              <a:srgbClr val="1F4E8C"/>
            </a:solidFill>
            <a:prstDash val="lgDash"/>
            <a:tailEnd type="arrow"/>
          </a:ln>
        </p:spPr>
      </p:sp>
      <p:sp>
        <p:nvSpPr>
          <p:cNvPr id="15" name="Text 13"/>
          <p:cNvSpPr/>
          <p:nvPr/>
        </p:nvSpPr>
        <p:spPr>
          <a:xfrm>
            <a:off x="3510995" y="3177972"/>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6" name="Text 14"/>
          <p:cNvSpPr/>
          <p:nvPr/>
        </p:nvSpPr>
        <p:spPr>
          <a:xfrm>
            <a:off x="2824141" y="330594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7" name="Shape 15"/>
          <p:cNvSpPr/>
          <p:nvPr/>
        </p:nvSpPr>
        <p:spPr>
          <a:xfrm>
            <a:off x="2714541" y="5060628"/>
            <a:ext cx="1919120" cy="0"/>
          </a:xfrm>
          <a:prstGeom prst="line">
            <a:avLst/>
          </a:prstGeom>
          <a:noFill/>
          <a:ln w="22860">
            <a:solidFill>
              <a:srgbClr val="1F4E8C"/>
            </a:solidFill>
            <a:prstDash val="lgDash"/>
          </a:ln>
        </p:spPr>
      </p:sp>
      <p:sp>
        <p:nvSpPr>
          <p:cNvPr id="18" name="Shape 16"/>
          <p:cNvSpPr/>
          <p:nvPr/>
        </p:nvSpPr>
        <p:spPr>
          <a:xfrm flipV="1">
            <a:off x="4633661" y="4585417"/>
            <a:ext cx="0" cy="475211"/>
          </a:xfrm>
          <a:prstGeom prst="line">
            <a:avLst/>
          </a:prstGeom>
          <a:noFill/>
          <a:ln w="22860">
            <a:solidFill>
              <a:srgbClr val="1F4E8C"/>
            </a:solidFill>
            <a:prstDash val="lgDash"/>
            <a:tailEnd type="arrow"/>
          </a:ln>
        </p:spPr>
      </p:sp>
      <p:sp>
        <p:nvSpPr>
          <p:cNvPr id="19" name="Text 17"/>
          <p:cNvSpPr/>
          <p:nvPr/>
        </p:nvSpPr>
        <p:spPr>
          <a:xfrm>
            <a:off x="3279766" y="5078815"/>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20" name="Text 18"/>
          <p:cNvSpPr/>
          <p:nvPr/>
        </p:nvSpPr>
        <p:spPr>
          <a:xfrm>
            <a:off x="2824141" y="495090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1" name="Shape 19"/>
          <p:cNvSpPr/>
          <p:nvPr/>
        </p:nvSpPr>
        <p:spPr>
          <a:xfrm>
            <a:off x="8289127" y="3415668"/>
            <a:ext cx="1096640" cy="0"/>
          </a:xfrm>
          <a:prstGeom prst="line">
            <a:avLst/>
          </a:prstGeom>
          <a:noFill/>
          <a:ln w="31750">
            <a:solidFill>
              <a:srgbClr val="55627E"/>
            </a:solidFill>
            <a:prstDash val="sysDot"/>
            <a:tailEnd type="triangle"/>
          </a:ln>
        </p:spPr>
      </p:sp>
      <p:sp>
        <p:nvSpPr>
          <p:cNvPr id="22" name="Text 20"/>
          <p:cNvSpPr/>
          <p:nvPr/>
        </p:nvSpPr>
        <p:spPr>
          <a:xfrm>
            <a:off x="8443112" y="3177972"/>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23" name="Text 21"/>
          <p:cNvSpPr/>
          <p:nvPr/>
        </p:nvSpPr>
        <p:spPr>
          <a:xfrm>
            <a:off x="8398727" y="330594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4" name="Shape 22"/>
          <p:cNvSpPr/>
          <p:nvPr/>
        </p:nvSpPr>
        <p:spPr>
          <a:xfrm flipH="1">
            <a:off x="7466648" y="5060628"/>
            <a:ext cx="365547" cy="0"/>
          </a:xfrm>
          <a:prstGeom prst="line">
            <a:avLst/>
          </a:prstGeom>
          <a:noFill/>
          <a:ln w="22860">
            <a:solidFill>
              <a:srgbClr val="1F4E8C"/>
            </a:solidFill>
            <a:prstDash val="lgDash"/>
          </a:ln>
        </p:spPr>
      </p:sp>
      <p:sp>
        <p:nvSpPr>
          <p:cNvPr id="25" name="Shape 23"/>
          <p:cNvSpPr/>
          <p:nvPr/>
        </p:nvSpPr>
        <p:spPr>
          <a:xfrm flipV="1">
            <a:off x="7466648" y="3762937"/>
            <a:ext cx="0" cy="1297691"/>
          </a:xfrm>
          <a:prstGeom prst="line">
            <a:avLst/>
          </a:prstGeom>
          <a:noFill/>
          <a:ln w="22860">
            <a:solidFill>
              <a:srgbClr val="1F4E8C"/>
            </a:solidFill>
            <a:prstDash val="lgDash"/>
            <a:tailEnd type="arrow"/>
          </a:ln>
        </p:spPr>
      </p:sp>
      <p:sp>
        <p:nvSpPr>
          <p:cNvPr id="26" name="Text 24"/>
          <p:cNvSpPr/>
          <p:nvPr/>
        </p:nvSpPr>
        <p:spPr>
          <a:xfrm>
            <a:off x="7171411" y="4429969"/>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inyecta</a:t>
            </a:r>
            <a:endParaRPr lang="en-US" sz="850" dirty="0"/>
          </a:p>
        </p:txBody>
      </p:sp>
      <p:sp>
        <p:nvSpPr>
          <p:cNvPr id="27" name="Text 25"/>
          <p:cNvSpPr/>
          <p:nvPr/>
        </p:nvSpPr>
        <p:spPr>
          <a:xfrm>
            <a:off x="7539693" y="495090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8" name="Text 26"/>
          <p:cNvSpPr/>
          <p:nvPr/>
        </p:nvSpPr>
        <p:spPr>
          <a:xfrm>
            <a:off x="1069581" y="3068399"/>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60" dirty="0">
                <a:solidFill>
                  <a:srgbClr val="55627E"/>
                </a:solidFill>
                <a:latin typeface="Segoe UI" pitchFamily="34" charset="0"/>
                <a:ea typeface="Segoe UI" pitchFamily="34" charset="-122"/>
                <a:cs typeface="Segoe UI" pitchFamily="34" charset="-120"/>
              </a:rPr>
              <a:t>caso de uso</a:t>
            </a:r>
            <a:endParaRPr lang="en-US" sz="950" dirty="0"/>
          </a:p>
        </p:txBody>
      </p:sp>
      <p:sp>
        <p:nvSpPr>
          <p:cNvPr id="29" name="Shape 27"/>
          <p:cNvSpPr/>
          <p:nvPr/>
        </p:nvSpPr>
        <p:spPr>
          <a:xfrm>
            <a:off x="1069581" y="4713359"/>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1161021" y="4850316"/>
            <a:ext cx="420624" cy="420624"/>
          </a:xfrm>
          <a:prstGeom prst="ellipse">
            <a:avLst/>
          </a:prstGeom>
          <a:solidFill>
            <a:srgbClr val="E2E5EA"/>
          </a:solidFill>
          <a:ln w="12700">
            <a:solidFill>
              <a:srgbClr val="E2E5EA"/>
            </a:solidFill>
            <a:prstDash val="solid"/>
          </a:ln>
        </p:spPr>
      </p:sp>
      <p:sp>
        <p:nvSpPr>
          <p:cNvPr id="31" name="Icono save"/>
          <p:cNvSpPr/>
          <p:nvPr/>
        </p:nvSpPr>
        <p:spPr>
          <a:xfrm>
            <a:off x="1215885" y="4905180"/>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32" name="Text 30"/>
          <p:cNvSpPr/>
          <p:nvPr/>
        </p:nvSpPr>
        <p:spPr>
          <a:xfrm>
            <a:off x="1636509" y="4713359"/>
            <a:ext cx="1023168" cy="694539"/>
          </a:xfrm>
          <a:prstGeom prst="rect">
            <a:avLst/>
          </a:prstGeom>
          <a:noFill/>
          <a:ln/>
        </p:spPr>
        <p:txBody>
          <a:bodyPr wrap="square" lIns="12700" tIns="25400" rIns="25400" bIns="12700" rtlCol="0" anchor="ctr">
            <a:normAutofit/>
          </a:bodyPr>
          <a:lstStyle/>
          <a:p>
            <a:pPr algn="l" indent="0" marL="0">
              <a:lnSpc>
                <a:spcPct val="95000"/>
              </a:lnSpc>
              <a:buNone/>
            </a:pPr>
            <a:r>
              <a:rPr lang="en-US" sz="907" b="1" dirty="0">
                <a:solidFill>
                  <a:srgbClr val="0B1A3C"/>
                </a:solidFill>
                <a:latin typeface="Segoe UI" pitchFamily="34" charset="0"/>
                <a:ea typeface="Segoe UI" pitchFamily="34" charset="-122"/>
                <a:cs typeface="Segoe UI" pitchFamily="34" charset="-120"/>
              </a:rPr>
              <a:t>RepositorioJpa</a:t>
            </a:r>
            <a:endParaRPr lang="en-US" sz="907" dirty="0"/>
          </a:p>
          <a:p>
            <a:pPr algn="l" indent="0" marL="0">
              <a:lnSpc>
                <a:spcPct val="95000"/>
              </a:lnSpc>
              <a:buNone/>
            </a:pPr>
            <a:r>
              <a:rPr lang="en-US" sz="725" dirty="0">
                <a:solidFill>
                  <a:srgbClr val="55627E"/>
                </a:solidFill>
                <a:latin typeface="Segoe UI" pitchFamily="34" charset="0"/>
                <a:ea typeface="Segoe UI" pitchFamily="34" charset="-122"/>
                <a:cs typeface="Segoe UI" pitchFamily="34" charset="-120"/>
              </a:rPr>
              <a:t>adaptador</a:t>
            </a:r>
            <a:endParaRPr lang="en-US" sz="907" dirty="0"/>
          </a:p>
        </p:txBody>
      </p:sp>
      <p:sp>
        <p:nvSpPr>
          <p:cNvPr id="33" name="Text 31"/>
          <p:cNvSpPr/>
          <p:nvPr/>
        </p:nvSpPr>
        <p:spPr>
          <a:xfrm>
            <a:off x="3719794" y="3890879"/>
            <a:ext cx="1827733" cy="694539"/>
          </a:xfrm>
          <a:prstGeom prst="roundRect">
            <a:avLst>
              <a:gd name="adj" fmla="val 11849"/>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60" i="1" dirty="0">
                <a:solidFill>
                  <a:srgbClr val="55627E"/>
                </a:solidFill>
                <a:latin typeface="Segoe UI" pitchFamily="34" charset="0"/>
                <a:ea typeface="Segoe UI" pitchFamily="34" charset="-122"/>
                <a:cs typeface="Segoe UI" pitchFamily="34" charset="-120"/>
              </a:rPr>
              <a:t>«interfaz»</a:t>
            </a:r>
            <a:endParaRPr lang="en-US" sz="76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60" dirty="0"/>
          </a:p>
          <a:p>
            <a:pPr algn="ctr" indent="0" marL="0">
              <a:buNone/>
            </a:pPr>
            <a:r>
              <a:rPr lang="en-US" sz="760" dirty="0">
                <a:solidFill>
                  <a:srgbClr val="55627E"/>
                </a:solidFill>
                <a:latin typeface="Segoe UI" pitchFamily="34" charset="0"/>
                <a:ea typeface="Segoe UI" pitchFamily="34" charset="-122"/>
                <a:cs typeface="Segoe UI" pitchFamily="34" charset="-120"/>
              </a:rPr>
              <a:t>interfaz</a:t>
            </a:r>
            <a:endParaRPr lang="en-US" sz="760" dirty="0"/>
          </a:p>
        </p:txBody>
      </p:sp>
      <p:sp>
        <p:nvSpPr>
          <p:cNvPr id="34" name="Text 32"/>
          <p:cNvSpPr/>
          <p:nvPr/>
        </p:nvSpPr>
        <p:spPr>
          <a:xfrm>
            <a:off x="6644168" y="3068399"/>
            <a:ext cx="164496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60" dirty="0">
                <a:solidFill>
                  <a:srgbClr val="55627E"/>
                </a:solidFill>
                <a:latin typeface="Segoe UI" pitchFamily="34" charset="0"/>
                <a:ea typeface="Segoe UI" pitchFamily="34" charset="-122"/>
                <a:cs typeface="Segoe UI" pitchFamily="34" charset="-120"/>
              </a:rPr>
              <a:t>en ejecución</a:t>
            </a:r>
            <a:endParaRPr lang="en-US" sz="950" dirty="0"/>
          </a:p>
        </p:txBody>
      </p:sp>
      <p:sp>
        <p:nvSpPr>
          <p:cNvPr id="35" name="Shape 33"/>
          <p:cNvSpPr/>
          <p:nvPr/>
        </p:nvSpPr>
        <p:spPr>
          <a:xfrm>
            <a:off x="9385767" y="3068399"/>
            <a:ext cx="173634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477207" y="3205356"/>
            <a:ext cx="420624" cy="420624"/>
          </a:xfrm>
          <a:prstGeom prst="ellipse">
            <a:avLst/>
          </a:prstGeom>
          <a:solidFill>
            <a:srgbClr val="E2E5EA"/>
          </a:solidFill>
          <a:ln w="12700">
            <a:solidFill>
              <a:srgbClr val="E2E5EA"/>
            </a:solidFill>
            <a:prstDash val="solid"/>
          </a:ln>
        </p:spPr>
      </p:sp>
      <p:sp>
        <p:nvSpPr>
          <p:cNvPr id="37" name="Icono save"/>
          <p:cNvSpPr/>
          <p:nvPr/>
        </p:nvSpPr>
        <p:spPr>
          <a:xfrm>
            <a:off x="9532071" y="3260220"/>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38" name="Text 36"/>
          <p:cNvSpPr/>
          <p:nvPr/>
        </p:nvSpPr>
        <p:spPr>
          <a:xfrm>
            <a:off x="9952695" y="3068399"/>
            <a:ext cx="1114555" cy="694539"/>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RepositorioJpa</a:t>
            </a:r>
            <a:endParaRPr lang="en-US" sz="993" dirty="0"/>
          </a:p>
          <a:p>
            <a:pPr algn="l" indent="0" marL="0">
              <a:lnSpc>
                <a:spcPct val="95000"/>
              </a:lnSpc>
              <a:buNone/>
            </a:pPr>
            <a:r>
              <a:rPr lang="en-US" sz="794" dirty="0">
                <a:solidFill>
                  <a:srgbClr val="55627E"/>
                </a:solidFill>
                <a:latin typeface="Segoe UI" pitchFamily="34" charset="0"/>
                <a:ea typeface="Segoe UI" pitchFamily="34" charset="-122"/>
                <a:cs typeface="Segoe UI" pitchFamily="34" charset="-120"/>
              </a:rPr>
              <a:t>@Repository @Primary</a:t>
            </a:r>
            <a:endParaRPr lang="en-US" sz="993" dirty="0"/>
          </a:p>
        </p:txBody>
      </p:sp>
      <p:sp>
        <p:nvSpPr>
          <p:cNvPr id="39" name="Shape 37"/>
          <p:cNvSpPr/>
          <p:nvPr/>
        </p:nvSpPr>
        <p:spPr>
          <a:xfrm>
            <a:off x="7832194" y="4713359"/>
            <a:ext cx="2193280"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7923634" y="4850316"/>
            <a:ext cx="420624" cy="420624"/>
          </a:xfrm>
          <a:prstGeom prst="ellipse">
            <a:avLst/>
          </a:prstGeom>
          <a:solidFill>
            <a:srgbClr val="E2E5EA"/>
          </a:solidFill>
          <a:ln w="12700">
            <a:solidFill>
              <a:srgbClr val="E2E5EA"/>
            </a:solidFill>
            <a:prstDash val="solid"/>
          </a:ln>
        </p:spPr>
      </p:sp>
      <p:sp>
        <p:nvSpPr>
          <p:cNvPr id="41" name="Icono settings"/>
          <p:cNvSpPr/>
          <p:nvPr/>
        </p:nvSpPr>
        <p:spPr>
          <a:xfrm>
            <a:off x="7978498" y="4905180"/>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0B2350"/>
            </a:solidFill>
            <a:prstDash val="solid"/>
            <a:round/>
          </a:ln>
        </p:spPr>
      </p:sp>
      <p:sp>
        <p:nvSpPr>
          <p:cNvPr id="42" name="Text 40"/>
          <p:cNvSpPr/>
          <p:nvPr/>
        </p:nvSpPr>
        <p:spPr>
          <a:xfrm>
            <a:off x="8399122" y="4713359"/>
            <a:ext cx="157148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elige la implementación @Primary</a:t>
            </a:r>
            <a:endParaRPr lang="en-US" sz="1079"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E3F4FA"/>
          </a:solidFill>
          <a:ln w="22225">
            <a:solidFill>
              <a:srgbClr val="2BA6CB"/>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38735">
            <a:solidFill>
              <a:srgbClr val="2BA6CB"/>
            </a:solidFill>
            <a:prstDash val="lgDash"/>
          </a:ln>
        </p:spPr>
      </p:sp>
      <p:sp>
        <p:nvSpPr>
          <p:cNvPr id="10" name="Shape 8"/>
          <p:cNvSpPr/>
          <p:nvPr/>
        </p:nvSpPr>
        <p:spPr>
          <a:xfrm>
            <a:off x="4659408" y="2627154"/>
            <a:ext cx="0" cy="466843"/>
          </a:xfrm>
          <a:prstGeom prst="line">
            <a:avLst/>
          </a:prstGeom>
          <a:noFill/>
          <a:ln w="38735">
            <a:solidFill>
              <a:srgbClr val="2BA6CB"/>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22860">
            <a:solidFill>
              <a:srgbClr val="CBD5E3"/>
            </a:solidFill>
            <a:prstDash val="lgDash"/>
          </a:ln>
        </p:spPr>
      </p:sp>
      <p:sp>
        <p:nvSpPr>
          <p:cNvPr id="14" name="Shape 12"/>
          <p:cNvSpPr/>
          <p:nvPr/>
        </p:nvSpPr>
        <p:spPr>
          <a:xfrm flipV="1">
            <a:off x="4659408" y="3776306"/>
            <a:ext cx="0" cy="466843"/>
          </a:xfrm>
          <a:prstGeom prst="line">
            <a:avLst/>
          </a:prstGeom>
          <a:noFill/>
          <a:ln w="22860">
            <a:solidFill>
              <a:srgbClr val="CBD5E3"/>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31750">
            <a:solidFill>
              <a:srgbClr val="CBD5E3"/>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22860">
            <a:solidFill>
              <a:srgbClr val="CBD5E3"/>
            </a:solidFill>
            <a:prstDash val="lgDash"/>
          </a:ln>
        </p:spPr>
      </p:sp>
      <p:sp>
        <p:nvSpPr>
          <p:cNvPr id="21" name="Shape 19"/>
          <p:cNvSpPr/>
          <p:nvPr/>
        </p:nvSpPr>
        <p:spPr>
          <a:xfrm flipV="1">
            <a:off x="7442509" y="2968309"/>
            <a:ext cx="0" cy="1274840"/>
          </a:xfrm>
          <a:prstGeom prst="line">
            <a:avLst/>
          </a:prstGeom>
          <a:noFill/>
          <a:ln w="22860">
            <a:solidFill>
              <a:srgbClr val="CBD5E3"/>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12700">
            <a:solidFill>
              <a:srgbClr val="D5DDE8"/>
            </a:solidFill>
            <a:prstDash val="solid"/>
          </a:ln>
        </p:spPr>
      </p:sp>
      <p:sp>
        <p:nvSpPr>
          <p:cNvPr id="26" name="Shape 24"/>
          <p:cNvSpPr/>
          <p:nvPr/>
        </p:nvSpPr>
        <p:spPr>
          <a:xfrm>
            <a:off x="1249528" y="4032837"/>
            <a:ext cx="420624" cy="420624"/>
          </a:xfrm>
          <a:prstGeom prst="ellipse">
            <a:avLst/>
          </a:prstGeom>
          <a:solidFill>
            <a:srgbClr val="EEF2F7"/>
          </a:solidFill>
          <a:ln w="12700">
            <a:solidFill>
              <a:srgbClr val="EEF2F7"/>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A9B4C6"/>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8A95AB"/>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9AA5B8"/>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28575">
            <a:solidFill>
              <a:srgbClr val="2BA6CB"/>
            </a:solidFill>
            <a:prstDash val="dash"/>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9AA5B8"/>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12700">
            <a:solidFill>
              <a:srgbClr val="D5DDE8"/>
            </a:solidFill>
            <a:prstDash val="solid"/>
          </a:ln>
        </p:spPr>
      </p:sp>
      <p:sp>
        <p:nvSpPr>
          <p:cNvPr id="32" name="Shape 30"/>
          <p:cNvSpPr/>
          <p:nvPr/>
        </p:nvSpPr>
        <p:spPr>
          <a:xfrm>
            <a:off x="9419276" y="2416842"/>
            <a:ext cx="420624" cy="420624"/>
          </a:xfrm>
          <a:prstGeom prst="ellipse">
            <a:avLst/>
          </a:prstGeom>
          <a:solidFill>
            <a:srgbClr val="EEF2F7"/>
          </a:solidFill>
          <a:ln w="12700">
            <a:solidFill>
              <a:srgbClr val="EEF2F7"/>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A9B4C6"/>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8A95AB"/>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9AA5B8"/>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BFCFE"/>
          </a:solidFill>
          <a:ln w="12700">
            <a:solidFill>
              <a:srgbClr val="D5DDE8"/>
            </a:solidFill>
            <a:prstDash val="solid"/>
          </a:ln>
        </p:spPr>
      </p:sp>
      <p:sp>
        <p:nvSpPr>
          <p:cNvPr id="36" name="Shape 34"/>
          <p:cNvSpPr/>
          <p:nvPr/>
        </p:nvSpPr>
        <p:spPr>
          <a:xfrm>
            <a:off x="7893059" y="4032837"/>
            <a:ext cx="420624" cy="420624"/>
          </a:xfrm>
          <a:prstGeom prst="ellipse">
            <a:avLst/>
          </a:prstGeom>
          <a:solidFill>
            <a:srgbClr val="EEF2F7"/>
          </a:solidFill>
          <a:ln w="12700">
            <a:solidFill>
              <a:srgbClr val="EEF2F7"/>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A9B4C6"/>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1" name="Text 3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solo conoce el contrato que necesita, no la clase que lo cumple.</a:t>
            </a:r>
            <a:endParaRPr lang="en-US" sz="1300" dirty="0"/>
          </a:p>
        </p:txBody>
      </p:sp>
      <p:sp>
        <p:nvSpPr>
          <p:cNvPr id="42" name="Text 4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E3F4FA"/>
          </a:solidFill>
          <a:ln w="22225">
            <a:solidFill>
              <a:srgbClr val="2BA6CB"/>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22860">
            <a:solidFill>
              <a:srgbClr val="1F4E8C"/>
            </a:solidFill>
            <a:prstDash val="lgDash"/>
          </a:ln>
        </p:spPr>
      </p:sp>
      <p:sp>
        <p:nvSpPr>
          <p:cNvPr id="10" name="Shape 8"/>
          <p:cNvSpPr/>
          <p:nvPr/>
        </p:nvSpPr>
        <p:spPr>
          <a:xfrm>
            <a:off x="4659408" y="2627154"/>
            <a:ext cx="0" cy="466843"/>
          </a:xfrm>
          <a:prstGeom prst="line">
            <a:avLst/>
          </a:prstGeom>
          <a:noFill/>
          <a:ln w="22860">
            <a:solidFill>
              <a:srgbClr val="1F4E8C"/>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38735">
            <a:solidFill>
              <a:srgbClr val="2BA6CB"/>
            </a:solidFill>
            <a:prstDash val="lgDash"/>
          </a:ln>
        </p:spPr>
      </p:sp>
      <p:sp>
        <p:nvSpPr>
          <p:cNvPr id="14" name="Shape 12"/>
          <p:cNvSpPr/>
          <p:nvPr/>
        </p:nvSpPr>
        <p:spPr>
          <a:xfrm flipV="1">
            <a:off x="4659408" y="3776306"/>
            <a:ext cx="0" cy="466843"/>
          </a:xfrm>
          <a:prstGeom prst="line">
            <a:avLst/>
          </a:prstGeom>
          <a:noFill/>
          <a:ln w="38735">
            <a:solidFill>
              <a:srgbClr val="2BA6CB"/>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31750">
            <a:solidFill>
              <a:srgbClr val="CBD5E3"/>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22860">
            <a:solidFill>
              <a:srgbClr val="CBD5E3"/>
            </a:solidFill>
            <a:prstDash val="lgDash"/>
          </a:ln>
        </p:spPr>
      </p:sp>
      <p:sp>
        <p:nvSpPr>
          <p:cNvPr id="21" name="Shape 19"/>
          <p:cNvSpPr/>
          <p:nvPr/>
        </p:nvSpPr>
        <p:spPr>
          <a:xfrm flipV="1">
            <a:off x="7442509" y="2968309"/>
            <a:ext cx="0" cy="1274840"/>
          </a:xfrm>
          <a:prstGeom prst="line">
            <a:avLst/>
          </a:prstGeom>
          <a:noFill/>
          <a:ln w="22860">
            <a:solidFill>
              <a:srgbClr val="CBD5E3"/>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6" name="Shape 24"/>
          <p:cNvSpPr/>
          <p:nvPr/>
        </p:nvSpPr>
        <p:spPr>
          <a:xfrm>
            <a:off x="1249528" y="4032837"/>
            <a:ext cx="420624" cy="420624"/>
          </a:xfrm>
          <a:prstGeom prst="ellipse">
            <a:avLst/>
          </a:prstGeom>
          <a:solidFill>
            <a:srgbClr val="E3F4FA"/>
          </a:solidFill>
          <a:ln w="12700">
            <a:solidFill>
              <a:srgbClr val="E3F4FA"/>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6E8A"/>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0B1A3C"/>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55627E"/>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33" b="1" dirty="0">
                <a:solidFill>
                  <a:srgbClr val="8A95AB"/>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9AA5B8"/>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12700">
            <a:solidFill>
              <a:srgbClr val="D5DDE8"/>
            </a:solidFill>
            <a:prstDash val="solid"/>
          </a:ln>
        </p:spPr>
      </p:sp>
      <p:sp>
        <p:nvSpPr>
          <p:cNvPr id="32" name="Shape 30"/>
          <p:cNvSpPr/>
          <p:nvPr/>
        </p:nvSpPr>
        <p:spPr>
          <a:xfrm>
            <a:off x="9419276" y="2416842"/>
            <a:ext cx="420624" cy="420624"/>
          </a:xfrm>
          <a:prstGeom prst="ellipse">
            <a:avLst/>
          </a:prstGeom>
          <a:solidFill>
            <a:srgbClr val="EEF2F7"/>
          </a:solidFill>
          <a:ln w="12700">
            <a:solidFill>
              <a:srgbClr val="EEF2F7"/>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A9B4C6"/>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8A95AB"/>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9AA5B8"/>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BFCFE"/>
          </a:solidFill>
          <a:ln w="12700">
            <a:solidFill>
              <a:srgbClr val="D5DDE8"/>
            </a:solidFill>
            <a:prstDash val="solid"/>
          </a:ln>
        </p:spPr>
      </p:sp>
      <p:sp>
        <p:nvSpPr>
          <p:cNvPr id="36" name="Shape 34"/>
          <p:cNvSpPr/>
          <p:nvPr/>
        </p:nvSpPr>
        <p:spPr>
          <a:xfrm>
            <a:off x="7893059" y="4032837"/>
            <a:ext cx="420624" cy="420624"/>
          </a:xfrm>
          <a:prstGeom prst="ellipse">
            <a:avLst/>
          </a:prstGeom>
          <a:solidFill>
            <a:srgbClr val="EEF2F7"/>
          </a:solidFill>
          <a:ln w="12700">
            <a:solidFill>
              <a:srgbClr val="EEF2F7"/>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A9B4C6"/>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1" name="Text 3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también conoce ese contrato y lo cumple. Los dos dependen del contrato.</a:t>
            </a:r>
            <a:endParaRPr lang="en-US" sz="1300" dirty="0"/>
          </a:p>
        </p:txBody>
      </p:sp>
      <p:sp>
        <p:nvSpPr>
          <p:cNvPr id="42" name="Text 4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E3F4FA"/>
          </a:solidFill>
          <a:ln w="22225">
            <a:solidFill>
              <a:srgbClr val="2BA6CB"/>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22860">
            <a:solidFill>
              <a:srgbClr val="1F4E8C"/>
            </a:solidFill>
            <a:prstDash val="lgDash"/>
          </a:ln>
        </p:spPr>
      </p:sp>
      <p:sp>
        <p:nvSpPr>
          <p:cNvPr id="10" name="Shape 8"/>
          <p:cNvSpPr/>
          <p:nvPr/>
        </p:nvSpPr>
        <p:spPr>
          <a:xfrm>
            <a:off x="4659408" y="2627154"/>
            <a:ext cx="0" cy="466843"/>
          </a:xfrm>
          <a:prstGeom prst="line">
            <a:avLst/>
          </a:prstGeom>
          <a:noFill/>
          <a:ln w="22860">
            <a:solidFill>
              <a:srgbClr val="1F4E8C"/>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22860">
            <a:solidFill>
              <a:srgbClr val="1F4E8C"/>
            </a:solidFill>
            <a:prstDash val="lgDash"/>
          </a:ln>
        </p:spPr>
      </p:sp>
      <p:sp>
        <p:nvSpPr>
          <p:cNvPr id="14" name="Shape 12"/>
          <p:cNvSpPr/>
          <p:nvPr/>
        </p:nvSpPr>
        <p:spPr>
          <a:xfrm flipV="1">
            <a:off x="4659408" y="3776306"/>
            <a:ext cx="0" cy="466843"/>
          </a:xfrm>
          <a:prstGeom prst="line">
            <a:avLst/>
          </a:prstGeom>
          <a:noFill/>
          <a:ln w="22860">
            <a:solidFill>
              <a:srgbClr val="1F4E8C"/>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47625">
            <a:solidFill>
              <a:srgbClr val="2BA6CB"/>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22860">
            <a:solidFill>
              <a:srgbClr val="CBD5E3"/>
            </a:solidFill>
            <a:prstDash val="lgDash"/>
          </a:ln>
        </p:spPr>
      </p:sp>
      <p:sp>
        <p:nvSpPr>
          <p:cNvPr id="21" name="Shape 19"/>
          <p:cNvSpPr/>
          <p:nvPr/>
        </p:nvSpPr>
        <p:spPr>
          <a:xfrm flipV="1">
            <a:off x="7442509" y="2968309"/>
            <a:ext cx="0" cy="1274840"/>
          </a:xfrm>
          <a:prstGeom prst="line">
            <a:avLst/>
          </a:prstGeom>
          <a:noFill/>
          <a:ln w="22860">
            <a:solidFill>
              <a:srgbClr val="CBD5E3"/>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249528" y="4032837"/>
            <a:ext cx="420624" cy="420624"/>
          </a:xfrm>
          <a:prstGeom prst="ellipse">
            <a:avLst/>
          </a:prstGeom>
          <a:solidFill>
            <a:srgbClr val="E2E5EA"/>
          </a:solidFill>
          <a:ln w="12700">
            <a:solidFill>
              <a:srgbClr val="E2E5EA"/>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0B1A3C"/>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55627E"/>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9419276" y="2416842"/>
            <a:ext cx="420624" cy="420624"/>
          </a:xfrm>
          <a:prstGeom prst="ellipse">
            <a:avLst/>
          </a:prstGeom>
          <a:solidFill>
            <a:srgbClr val="E3F4FA"/>
          </a:solidFill>
          <a:ln w="12700">
            <a:solidFill>
              <a:srgbClr val="E3F4FA"/>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6E8A"/>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0B1A3C"/>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55627E"/>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BFCFE"/>
          </a:solidFill>
          <a:ln w="12700">
            <a:solidFill>
              <a:srgbClr val="D5DDE8"/>
            </a:solidFill>
            <a:prstDash val="solid"/>
          </a:ln>
        </p:spPr>
      </p:sp>
      <p:sp>
        <p:nvSpPr>
          <p:cNvPr id="36" name="Shape 34"/>
          <p:cNvSpPr/>
          <p:nvPr/>
        </p:nvSpPr>
        <p:spPr>
          <a:xfrm>
            <a:off x="7893059" y="4032837"/>
            <a:ext cx="420624" cy="420624"/>
          </a:xfrm>
          <a:prstGeom prst="ellipse">
            <a:avLst/>
          </a:prstGeom>
          <a:solidFill>
            <a:srgbClr val="EEF2F7"/>
          </a:solidFill>
          <a:ln w="12700">
            <a:solidFill>
              <a:srgbClr val="EEF2F7"/>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A9B4C6"/>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1" name="Text 3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Cuando la aplicación corre, la llamada sí llega al adaptador.</a:t>
            </a:r>
            <a:endParaRPr lang="en-US" sz="1300" dirty="0"/>
          </a:p>
        </p:txBody>
      </p:sp>
      <p:sp>
        <p:nvSpPr>
          <p:cNvPr id="42" name="Text 4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888755" y="1478003"/>
            <a:ext cx="5027537"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5403" y="1478003"/>
            <a:ext cx="5027537" cy="3591098"/>
          </a:xfrm>
          <a:prstGeom prst="roundRect">
            <a:avLst>
              <a:gd name="adj" fmla="val 3056"/>
            </a:avLst>
          </a:prstGeom>
          <a:solidFill>
            <a:srgbClr val="E3F4FA"/>
          </a:solidFill>
          <a:ln w="22225">
            <a:solidFill>
              <a:srgbClr val="2BA6CB"/>
            </a:solidFill>
            <a:prstDash val="solid"/>
          </a:ln>
        </p:spPr>
      </p:sp>
      <p:sp>
        <p:nvSpPr>
          <p:cNvPr id="8" name="Text 6"/>
          <p:cNvSpPr/>
          <p:nvPr/>
        </p:nvSpPr>
        <p:spPr>
          <a:xfrm>
            <a:off x="6348555" y="1532867"/>
            <a:ext cx="18897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74082" y="2627154"/>
            <a:ext cx="1885327" cy="0"/>
          </a:xfrm>
          <a:prstGeom prst="line">
            <a:avLst/>
          </a:prstGeom>
          <a:noFill/>
          <a:ln w="22860">
            <a:solidFill>
              <a:srgbClr val="1F4E8C"/>
            </a:solidFill>
            <a:prstDash val="lgDash"/>
          </a:ln>
        </p:spPr>
      </p:sp>
      <p:sp>
        <p:nvSpPr>
          <p:cNvPr id="10" name="Shape 8"/>
          <p:cNvSpPr/>
          <p:nvPr/>
        </p:nvSpPr>
        <p:spPr>
          <a:xfrm>
            <a:off x="4659408" y="2627154"/>
            <a:ext cx="0" cy="466843"/>
          </a:xfrm>
          <a:prstGeom prst="line">
            <a:avLst/>
          </a:prstGeom>
          <a:noFill/>
          <a:ln w="22860">
            <a:solidFill>
              <a:srgbClr val="1F4E8C"/>
            </a:solidFill>
            <a:prstDash val="lgDash"/>
            <a:tailEnd type="arrow"/>
          </a:ln>
        </p:spPr>
      </p:sp>
      <p:sp>
        <p:nvSpPr>
          <p:cNvPr id="11" name="Text 9"/>
          <p:cNvSpPr/>
          <p:nvPr/>
        </p:nvSpPr>
        <p:spPr>
          <a:xfrm>
            <a:off x="3553639" y="2390907"/>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79820" y="251742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74082" y="4243149"/>
            <a:ext cx="1885327" cy="0"/>
          </a:xfrm>
          <a:prstGeom prst="line">
            <a:avLst/>
          </a:prstGeom>
          <a:noFill/>
          <a:ln w="22860">
            <a:solidFill>
              <a:srgbClr val="1F4E8C"/>
            </a:solidFill>
            <a:prstDash val="lgDash"/>
          </a:ln>
        </p:spPr>
      </p:sp>
      <p:sp>
        <p:nvSpPr>
          <p:cNvPr id="14" name="Shape 12"/>
          <p:cNvSpPr/>
          <p:nvPr/>
        </p:nvSpPr>
        <p:spPr>
          <a:xfrm flipV="1">
            <a:off x="4659408" y="3776306"/>
            <a:ext cx="0" cy="466843"/>
          </a:xfrm>
          <a:prstGeom prst="line">
            <a:avLst/>
          </a:prstGeom>
          <a:noFill/>
          <a:ln w="22860">
            <a:solidFill>
              <a:srgbClr val="1F4E8C"/>
            </a:solidFill>
            <a:prstDash val="lgDash"/>
            <a:tailEnd type="arrow"/>
          </a:ln>
        </p:spPr>
      </p:sp>
      <p:sp>
        <p:nvSpPr>
          <p:cNvPr id="15" name="Text 13"/>
          <p:cNvSpPr/>
          <p:nvPr/>
        </p:nvSpPr>
        <p:spPr>
          <a:xfrm>
            <a:off x="3322410" y="4258278"/>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79820" y="413342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50507" y="2627154"/>
            <a:ext cx="1077329" cy="0"/>
          </a:xfrm>
          <a:prstGeom prst="line">
            <a:avLst/>
          </a:prstGeom>
          <a:noFill/>
          <a:ln w="31750">
            <a:solidFill>
              <a:srgbClr val="55627E"/>
            </a:solidFill>
            <a:prstDash val="sysDot"/>
            <a:tailEnd type="triangle"/>
          </a:ln>
        </p:spPr>
      </p:sp>
      <p:sp>
        <p:nvSpPr>
          <p:cNvPr id="18" name="Text 16"/>
          <p:cNvSpPr/>
          <p:nvPr/>
        </p:nvSpPr>
        <p:spPr>
          <a:xfrm>
            <a:off x="8394836" y="2390907"/>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56244" y="25174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42509" y="4243149"/>
            <a:ext cx="359110" cy="0"/>
          </a:xfrm>
          <a:prstGeom prst="line">
            <a:avLst/>
          </a:prstGeom>
          <a:noFill/>
          <a:ln w="38735">
            <a:solidFill>
              <a:srgbClr val="2BA6CB"/>
            </a:solidFill>
            <a:prstDash val="lgDash"/>
          </a:ln>
        </p:spPr>
      </p:sp>
      <p:sp>
        <p:nvSpPr>
          <p:cNvPr id="21" name="Shape 19"/>
          <p:cNvSpPr/>
          <p:nvPr/>
        </p:nvSpPr>
        <p:spPr>
          <a:xfrm flipV="1">
            <a:off x="7442509" y="2968309"/>
            <a:ext cx="0" cy="1274840"/>
          </a:xfrm>
          <a:prstGeom prst="line">
            <a:avLst/>
          </a:prstGeom>
          <a:noFill/>
          <a:ln w="38735">
            <a:solidFill>
              <a:srgbClr val="2BA6CB"/>
            </a:solidFill>
            <a:prstDash val="lgDash"/>
            <a:tailEnd type="arrow"/>
          </a:ln>
        </p:spPr>
      </p:sp>
      <p:sp>
        <p:nvSpPr>
          <p:cNvPr id="22" name="Text 20"/>
          <p:cNvSpPr/>
          <p:nvPr/>
        </p:nvSpPr>
        <p:spPr>
          <a:xfrm>
            <a:off x="7147273" y="3620858"/>
            <a:ext cx="590474"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12336" y="413342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58088"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caso de uso</a:t>
            </a:r>
            <a:endParaRPr lang="en-US" sz="933" dirty="0"/>
          </a:p>
        </p:txBody>
      </p:sp>
      <p:sp>
        <p:nvSpPr>
          <p:cNvPr id="25" name="Shape 23"/>
          <p:cNvSpPr/>
          <p:nvPr/>
        </p:nvSpPr>
        <p:spPr>
          <a:xfrm>
            <a:off x="1158088" y="3901994"/>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249528" y="4032837"/>
            <a:ext cx="420624" cy="420624"/>
          </a:xfrm>
          <a:prstGeom prst="ellipse">
            <a:avLst/>
          </a:prstGeom>
          <a:solidFill>
            <a:srgbClr val="E2E5EA"/>
          </a:solidFill>
          <a:ln w="12700">
            <a:solidFill>
              <a:srgbClr val="E2E5EA"/>
            </a:solidFill>
            <a:prstDash val="solid"/>
          </a:ln>
        </p:spPr>
      </p:sp>
      <p:sp>
        <p:nvSpPr>
          <p:cNvPr id="27" name="Icono save"/>
          <p:cNvSpPr/>
          <p:nvPr/>
        </p:nvSpPr>
        <p:spPr>
          <a:xfrm>
            <a:off x="1304392" y="4087701"/>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28" name="Text 26"/>
          <p:cNvSpPr/>
          <p:nvPr/>
        </p:nvSpPr>
        <p:spPr>
          <a:xfrm>
            <a:off x="1725016" y="3901994"/>
            <a:ext cx="994202" cy="682309"/>
          </a:xfrm>
          <a:prstGeom prst="rect">
            <a:avLst/>
          </a:prstGeom>
          <a:noFill/>
          <a:ln/>
        </p:spPr>
        <p:txBody>
          <a:bodyPr wrap="square" lIns="12700" tIns="25400" rIns="25400" bIns="12700" rtlCol="0" anchor="ctr">
            <a:normAutofit/>
          </a:bodyPr>
          <a:lstStyle/>
          <a:p>
            <a:pPr algn="l" indent="0" marL="0">
              <a:lnSpc>
                <a:spcPct val="95000"/>
              </a:lnSpc>
              <a:buNone/>
            </a:pPr>
            <a:r>
              <a:rPr lang="en-US" sz="891" b="1" dirty="0">
                <a:solidFill>
                  <a:srgbClr val="0B1A3C"/>
                </a:solidFill>
                <a:latin typeface="Segoe UI" pitchFamily="34" charset="0"/>
                <a:ea typeface="Segoe UI" pitchFamily="34" charset="-122"/>
                <a:cs typeface="Segoe UI" pitchFamily="34" charset="-120"/>
              </a:rPr>
              <a:t>RepositorioJpa</a:t>
            </a:r>
            <a:endParaRPr lang="en-US" sz="891" dirty="0"/>
          </a:p>
          <a:p>
            <a:pPr algn="l" indent="0" marL="0">
              <a:lnSpc>
                <a:spcPct val="95000"/>
              </a:lnSpc>
              <a:buNone/>
            </a:pPr>
            <a:r>
              <a:rPr lang="en-US" sz="713" dirty="0">
                <a:solidFill>
                  <a:srgbClr val="55627E"/>
                </a:solidFill>
                <a:latin typeface="Segoe UI" pitchFamily="34" charset="0"/>
                <a:ea typeface="Segoe UI" pitchFamily="34" charset="-122"/>
                <a:cs typeface="Segoe UI" pitchFamily="34" charset="-120"/>
              </a:rPr>
              <a:t>adaptador</a:t>
            </a:r>
            <a:endParaRPr lang="en-US" sz="891" dirty="0"/>
          </a:p>
        </p:txBody>
      </p:sp>
      <p:sp>
        <p:nvSpPr>
          <p:cNvPr id="29" name="Text 27"/>
          <p:cNvSpPr/>
          <p:nvPr/>
        </p:nvSpPr>
        <p:spPr>
          <a:xfrm>
            <a:off x="3761634" y="3093997"/>
            <a:ext cx="1795549" cy="682309"/>
          </a:xfrm>
          <a:prstGeom prst="roundRect">
            <a:avLst>
              <a:gd name="adj" fmla="val 12061"/>
            </a:avLst>
          </a:prstGeom>
          <a:solidFill>
            <a:srgbClr val="FFFFFF"/>
          </a:solidFill>
          <a:ln w="12700">
            <a:solidFill>
              <a:srgbClr val="919CB0"/>
            </a:solidFill>
            <a:prstDash val="dash"/>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746" i="1" dirty="0">
                <a:solidFill>
                  <a:srgbClr val="55627E"/>
                </a:solidFill>
                <a:latin typeface="Segoe UI" pitchFamily="34" charset="0"/>
                <a:ea typeface="Segoe UI" pitchFamily="34" charset="-122"/>
                <a:cs typeface="Segoe UI" pitchFamily="34" charset="-120"/>
              </a:rPr>
              <a:t>«interfaz»</a:t>
            </a:r>
            <a:endParaRPr lang="en-US" sz="746" dirty="0"/>
          </a:p>
          <a:p>
            <a:pPr algn="ctr" indent="0" marL="0">
              <a:buNone/>
            </a:pPr>
            <a:r>
              <a:rPr lang="en-US" sz="933" b="1" dirty="0">
                <a:solidFill>
                  <a:srgbClr val="0B1A3C"/>
                </a:solidFill>
                <a:latin typeface="Segoe UI" pitchFamily="34" charset="0"/>
                <a:ea typeface="Segoe UI" pitchFamily="34" charset="-122"/>
                <a:cs typeface="Segoe UI" pitchFamily="34" charset="-120"/>
              </a:rPr>
              <a:t>RepositorioDeSolicitudes</a:t>
            </a:r>
            <a:endParaRPr lang="en-US" sz="746" dirty="0"/>
          </a:p>
          <a:p>
            <a:pPr algn="ctr" indent="0" marL="0">
              <a:buNone/>
            </a:pPr>
            <a:r>
              <a:rPr lang="en-US" sz="746" dirty="0">
                <a:solidFill>
                  <a:srgbClr val="55627E"/>
                </a:solidFill>
                <a:latin typeface="Segoe UI" pitchFamily="34" charset="0"/>
                <a:ea typeface="Segoe UI" pitchFamily="34" charset="-122"/>
                <a:cs typeface="Segoe UI" pitchFamily="34" charset="-120"/>
              </a:rPr>
              <a:t>interfaz</a:t>
            </a:r>
            <a:endParaRPr lang="en-US" sz="746" dirty="0"/>
          </a:p>
        </p:txBody>
      </p:sp>
      <p:sp>
        <p:nvSpPr>
          <p:cNvPr id="30" name="Text 28"/>
          <p:cNvSpPr/>
          <p:nvPr/>
        </p:nvSpPr>
        <p:spPr>
          <a:xfrm>
            <a:off x="6634512" y="2286000"/>
            <a:ext cx="1615994"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33" b="1" dirty="0">
                <a:solidFill>
                  <a:srgbClr val="0B1A3C"/>
                </a:solidFill>
                <a:latin typeface="Segoe UI" pitchFamily="34" charset="0"/>
                <a:ea typeface="Segoe UI" pitchFamily="34" charset="-122"/>
                <a:cs typeface="Segoe UI" pitchFamily="34" charset="-120"/>
              </a:rPr>
              <a:t>ServicioDeSolicitudes</a:t>
            </a:r>
            <a:endParaRPr lang="en-US" sz="933" dirty="0"/>
          </a:p>
          <a:p>
            <a:pPr algn="ctr" indent="0" marL="0">
              <a:buNone/>
            </a:pPr>
            <a:r>
              <a:rPr lang="en-US" sz="746" dirty="0">
                <a:solidFill>
                  <a:srgbClr val="55627E"/>
                </a:solidFill>
                <a:latin typeface="Segoe UI" pitchFamily="34" charset="0"/>
                <a:ea typeface="Segoe UI" pitchFamily="34" charset="-122"/>
                <a:cs typeface="Segoe UI" pitchFamily="34" charset="-120"/>
              </a:rPr>
              <a:t>en ejecución</a:t>
            </a:r>
            <a:endParaRPr lang="en-US" sz="933" dirty="0"/>
          </a:p>
        </p:txBody>
      </p:sp>
      <p:sp>
        <p:nvSpPr>
          <p:cNvPr id="31" name="Shape 29"/>
          <p:cNvSpPr/>
          <p:nvPr/>
        </p:nvSpPr>
        <p:spPr>
          <a:xfrm>
            <a:off x="9327836" y="2286000"/>
            <a:ext cx="1705772"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9419276" y="2416842"/>
            <a:ext cx="420624" cy="420624"/>
          </a:xfrm>
          <a:prstGeom prst="ellipse">
            <a:avLst/>
          </a:prstGeom>
          <a:solidFill>
            <a:srgbClr val="E2E5EA"/>
          </a:solidFill>
          <a:ln w="12700">
            <a:solidFill>
              <a:srgbClr val="E2E5EA"/>
            </a:solidFill>
            <a:prstDash val="solid"/>
          </a:ln>
        </p:spPr>
      </p:sp>
      <p:sp>
        <p:nvSpPr>
          <p:cNvPr id="33" name="Icono save"/>
          <p:cNvSpPr/>
          <p:nvPr/>
        </p:nvSpPr>
        <p:spPr>
          <a:xfrm>
            <a:off x="9474140" y="2471706"/>
            <a:ext cx="310896" cy="310896"/>
          </a:xfrm>
          <a:custGeom>
            <a:avLst/>
            <a:gdLst/>
            <a:ahLst/>
            <a:cxnLst/>
            <a:rect l="l" t="t" r="r" b="b"/>
            <a:pathLst>
              <a:path w="310896" h="310896">
                <a:moveTo>
                  <a:pt x="196901" y="38862"/>
                </a:moveTo>
                <a:cubicBezTo>
                  <a:pt x="203735" y="38959"/>
                  <a:pt x="210253" y="41753"/>
                  <a:pt x="215036" y="46634"/>
                </a:cubicBezTo>
                <a:lnTo>
                  <a:pt x="264262" y="95860"/>
                </a:lnTo>
                <a:cubicBezTo>
                  <a:pt x="269143" y="100643"/>
                  <a:pt x="271937" y="107161"/>
                  <a:pt x="272034" y="113995"/>
                </a:cubicBezTo>
                <a:lnTo>
                  <a:pt x="272034" y="246126"/>
                </a:lnTo>
                <a:cubicBezTo>
                  <a:pt x="272034" y="260435"/>
                  <a:pt x="260435" y="272034"/>
                  <a:pt x="246126" y="272034"/>
                </a:cubicBezTo>
                <a:lnTo>
                  <a:pt x="64770" y="272034"/>
                </a:lnTo>
                <a:cubicBezTo>
                  <a:pt x="50461" y="272034"/>
                  <a:pt x="38862" y="260435"/>
                  <a:pt x="38862" y="246126"/>
                </a:cubicBezTo>
                <a:lnTo>
                  <a:pt x="38862" y="64770"/>
                </a:lnTo>
                <a:cubicBezTo>
                  <a:pt x="38862" y="50461"/>
                  <a:pt x="50461" y="38862"/>
                  <a:pt x="64770" y="38862"/>
                </a:cubicBezTo>
                <a:close/>
                <a:moveTo>
                  <a:pt x="220218" y="272034"/>
                </a:moveTo>
                <a:lnTo>
                  <a:pt x="220218" y="181356"/>
                </a:lnTo>
                <a:cubicBezTo>
                  <a:pt x="220218" y="174202"/>
                  <a:pt x="214418" y="168402"/>
                  <a:pt x="207264" y="168402"/>
                </a:cubicBezTo>
                <a:lnTo>
                  <a:pt x="103632" y="168402"/>
                </a:lnTo>
                <a:cubicBezTo>
                  <a:pt x="96478" y="168402"/>
                  <a:pt x="90678" y="174202"/>
                  <a:pt x="90678" y="181356"/>
                </a:cubicBezTo>
                <a:lnTo>
                  <a:pt x="90678" y="272034"/>
                </a:lnTo>
                <a:moveTo>
                  <a:pt x="90678" y="38862"/>
                </a:moveTo>
                <a:lnTo>
                  <a:pt x="90678" y="90678"/>
                </a:lnTo>
                <a:cubicBezTo>
                  <a:pt x="90678" y="97832"/>
                  <a:pt x="96478" y="103632"/>
                  <a:pt x="103632" y="103632"/>
                </a:cubicBezTo>
                <a:lnTo>
                  <a:pt x="194310" y="103632"/>
                </a:lnTo>
              </a:path>
            </a:pathLst>
          </a:custGeom>
          <a:noFill/>
          <a:ln w="25908" cap="rnd">
            <a:solidFill>
              <a:srgbClr val="0B2350"/>
            </a:solidFill>
            <a:prstDash val="solid"/>
            <a:round/>
          </a:ln>
        </p:spPr>
      </p:sp>
      <p:sp>
        <p:nvSpPr>
          <p:cNvPr id="34" name="Text 32"/>
          <p:cNvSpPr/>
          <p:nvPr/>
        </p:nvSpPr>
        <p:spPr>
          <a:xfrm>
            <a:off x="9894764" y="2286000"/>
            <a:ext cx="1083980" cy="682309"/>
          </a:xfrm>
          <a:prstGeom prst="rect">
            <a:avLst/>
          </a:prstGeom>
          <a:noFill/>
          <a:ln/>
        </p:spPr>
        <p:txBody>
          <a:bodyPr wrap="square" lIns="12700" tIns="25400" rIns="25400" bIns="12700" rtlCol="0" anchor="ctr">
            <a:normAutofit/>
          </a:bodyPr>
          <a:lstStyle/>
          <a:p>
            <a:pPr algn="l" indent="0" marL="0">
              <a:lnSpc>
                <a:spcPct val="95000"/>
              </a:lnSpc>
              <a:buNone/>
            </a:pPr>
            <a:r>
              <a:rPr lang="en-US" sz="976" b="1" dirty="0">
                <a:solidFill>
                  <a:srgbClr val="0B1A3C"/>
                </a:solidFill>
                <a:latin typeface="Segoe UI" pitchFamily="34" charset="0"/>
                <a:ea typeface="Segoe UI" pitchFamily="34" charset="-122"/>
                <a:cs typeface="Segoe UI" pitchFamily="34" charset="-120"/>
              </a:rPr>
              <a:t>RepositorioJpa</a:t>
            </a:r>
            <a:endParaRPr lang="en-US" sz="976" dirty="0"/>
          </a:p>
          <a:p>
            <a:pPr algn="l" indent="0" marL="0">
              <a:lnSpc>
                <a:spcPct val="95000"/>
              </a:lnSpc>
              <a:buNone/>
            </a:pPr>
            <a:r>
              <a:rPr lang="en-US" sz="780" dirty="0">
                <a:solidFill>
                  <a:srgbClr val="55627E"/>
                </a:solidFill>
                <a:latin typeface="Segoe UI" pitchFamily="34" charset="0"/>
                <a:ea typeface="Segoe UI" pitchFamily="34" charset="-122"/>
                <a:cs typeface="Segoe UI" pitchFamily="34" charset="-120"/>
              </a:rPr>
              <a:t>@Repository @Primary</a:t>
            </a:r>
            <a:endParaRPr lang="en-US" sz="976" dirty="0"/>
          </a:p>
        </p:txBody>
      </p:sp>
      <p:sp>
        <p:nvSpPr>
          <p:cNvPr id="35" name="Shape 33"/>
          <p:cNvSpPr/>
          <p:nvPr/>
        </p:nvSpPr>
        <p:spPr>
          <a:xfrm>
            <a:off x="7801619" y="3901994"/>
            <a:ext cx="2154659"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7893059" y="4032837"/>
            <a:ext cx="420624" cy="420624"/>
          </a:xfrm>
          <a:prstGeom prst="ellipse">
            <a:avLst/>
          </a:prstGeom>
          <a:solidFill>
            <a:srgbClr val="E3F4FA"/>
          </a:solidFill>
          <a:ln w="12700">
            <a:solidFill>
              <a:srgbClr val="E3F4FA"/>
            </a:solidFill>
            <a:prstDash val="solid"/>
          </a:ln>
        </p:spPr>
      </p:sp>
      <p:sp>
        <p:nvSpPr>
          <p:cNvPr id="37" name="Icono settings"/>
          <p:cNvSpPr/>
          <p:nvPr/>
        </p:nvSpPr>
        <p:spPr>
          <a:xfrm>
            <a:off x="7947923" y="4087701"/>
            <a:ext cx="310896" cy="310896"/>
          </a:xfrm>
          <a:custGeom>
            <a:avLst/>
            <a:gdLst/>
            <a:ahLst/>
            <a:cxnLst/>
            <a:rect l="l" t="t" r="r" b="b"/>
            <a:pathLst>
              <a:path w="310896" h="310896">
                <a:moveTo>
                  <a:pt x="158298" y="25908"/>
                </a:moveTo>
                <a:lnTo>
                  <a:pt x="152598" y="25908"/>
                </a:lnTo>
                <a:cubicBezTo>
                  <a:pt x="138290" y="25908"/>
                  <a:pt x="126690" y="37507"/>
                  <a:pt x="126690" y="51816"/>
                </a:cubicBezTo>
                <a:lnTo>
                  <a:pt x="126690" y="54148"/>
                </a:lnTo>
                <a:cubicBezTo>
                  <a:pt x="126681" y="63394"/>
                  <a:pt x="121744" y="71935"/>
                  <a:pt x="113736" y="76558"/>
                </a:cubicBezTo>
                <a:lnTo>
                  <a:pt x="108166" y="79797"/>
                </a:lnTo>
                <a:cubicBezTo>
                  <a:pt x="100150" y="84425"/>
                  <a:pt x="90274" y="84425"/>
                  <a:pt x="82258" y="79797"/>
                </a:cubicBezTo>
                <a:lnTo>
                  <a:pt x="80315" y="78760"/>
                </a:lnTo>
                <a:cubicBezTo>
                  <a:pt x="67936" y="71620"/>
                  <a:pt x="52113" y="75851"/>
                  <a:pt x="44950" y="88217"/>
                </a:cubicBezTo>
                <a:lnTo>
                  <a:pt x="42101" y="93139"/>
                </a:lnTo>
                <a:cubicBezTo>
                  <a:pt x="34960" y="105518"/>
                  <a:pt x="39191" y="121341"/>
                  <a:pt x="51557" y="128504"/>
                </a:cubicBezTo>
                <a:lnTo>
                  <a:pt x="53500" y="129799"/>
                </a:lnTo>
                <a:cubicBezTo>
                  <a:pt x="61468" y="134399"/>
                  <a:pt x="66398" y="142880"/>
                  <a:pt x="66454" y="152080"/>
                </a:cubicBezTo>
                <a:lnTo>
                  <a:pt x="66454" y="158687"/>
                </a:lnTo>
                <a:cubicBezTo>
                  <a:pt x="66491" y="167979"/>
                  <a:pt x="61548" y="176580"/>
                  <a:pt x="53500" y="181226"/>
                </a:cubicBezTo>
                <a:lnTo>
                  <a:pt x="51557" y="182392"/>
                </a:lnTo>
                <a:cubicBezTo>
                  <a:pt x="39191" y="189555"/>
                  <a:pt x="34960" y="205378"/>
                  <a:pt x="42101" y="217757"/>
                </a:cubicBezTo>
                <a:lnTo>
                  <a:pt x="44950" y="222679"/>
                </a:lnTo>
                <a:cubicBezTo>
                  <a:pt x="52113" y="235045"/>
                  <a:pt x="67936" y="239276"/>
                  <a:pt x="80315" y="232136"/>
                </a:cubicBezTo>
                <a:lnTo>
                  <a:pt x="82258" y="231099"/>
                </a:lnTo>
                <a:cubicBezTo>
                  <a:pt x="90274" y="226471"/>
                  <a:pt x="100150" y="226471"/>
                  <a:pt x="108166" y="231099"/>
                </a:cubicBezTo>
                <a:lnTo>
                  <a:pt x="113736" y="234338"/>
                </a:lnTo>
                <a:cubicBezTo>
                  <a:pt x="121744" y="238961"/>
                  <a:pt x="126681" y="247502"/>
                  <a:pt x="126690" y="256748"/>
                </a:cubicBezTo>
                <a:lnTo>
                  <a:pt x="126690" y="259080"/>
                </a:lnTo>
                <a:cubicBezTo>
                  <a:pt x="126690" y="273389"/>
                  <a:pt x="138290" y="284988"/>
                  <a:pt x="152598" y="284988"/>
                </a:cubicBezTo>
                <a:lnTo>
                  <a:pt x="158298" y="284988"/>
                </a:lnTo>
                <a:cubicBezTo>
                  <a:pt x="172606" y="284988"/>
                  <a:pt x="184206" y="273389"/>
                  <a:pt x="184206" y="259080"/>
                </a:cubicBezTo>
                <a:lnTo>
                  <a:pt x="184206" y="256748"/>
                </a:lnTo>
                <a:cubicBezTo>
                  <a:pt x="184215" y="247502"/>
                  <a:pt x="189152" y="238961"/>
                  <a:pt x="197160" y="234338"/>
                </a:cubicBezTo>
                <a:lnTo>
                  <a:pt x="202730" y="231099"/>
                </a:lnTo>
                <a:cubicBezTo>
                  <a:pt x="210746" y="226471"/>
                  <a:pt x="220622" y="226471"/>
                  <a:pt x="228638" y="231099"/>
                </a:cubicBezTo>
                <a:lnTo>
                  <a:pt x="230581" y="232136"/>
                </a:lnTo>
                <a:cubicBezTo>
                  <a:pt x="242960" y="239276"/>
                  <a:pt x="258783" y="235045"/>
                  <a:pt x="265946" y="222679"/>
                </a:cubicBezTo>
                <a:lnTo>
                  <a:pt x="268796" y="217627"/>
                </a:lnTo>
                <a:cubicBezTo>
                  <a:pt x="275936" y="205248"/>
                  <a:pt x="271705" y="189425"/>
                  <a:pt x="259339" y="182263"/>
                </a:cubicBezTo>
                <a:lnTo>
                  <a:pt x="257396" y="181226"/>
                </a:lnTo>
                <a:cubicBezTo>
                  <a:pt x="249348" y="176580"/>
                  <a:pt x="244405" y="167979"/>
                  <a:pt x="244442" y="158686"/>
                </a:cubicBezTo>
                <a:lnTo>
                  <a:pt x="244442" y="152209"/>
                </a:lnTo>
                <a:cubicBezTo>
                  <a:pt x="244405" y="142917"/>
                  <a:pt x="249348" y="134316"/>
                  <a:pt x="257396" y="129670"/>
                </a:cubicBezTo>
                <a:lnTo>
                  <a:pt x="259339" y="128504"/>
                </a:lnTo>
                <a:cubicBezTo>
                  <a:pt x="271705" y="121341"/>
                  <a:pt x="275936" y="105518"/>
                  <a:pt x="268796" y="93139"/>
                </a:cubicBezTo>
                <a:lnTo>
                  <a:pt x="265946" y="88217"/>
                </a:lnTo>
                <a:cubicBezTo>
                  <a:pt x="258783" y="75851"/>
                  <a:pt x="242960" y="71620"/>
                  <a:pt x="230581" y="78760"/>
                </a:cubicBezTo>
                <a:lnTo>
                  <a:pt x="228638" y="79797"/>
                </a:lnTo>
                <a:cubicBezTo>
                  <a:pt x="220622" y="84425"/>
                  <a:pt x="210746" y="84425"/>
                  <a:pt x="202730" y="79797"/>
                </a:cubicBezTo>
                <a:lnTo>
                  <a:pt x="197160" y="76558"/>
                </a:lnTo>
                <a:cubicBezTo>
                  <a:pt x="189152" y="71935"/>
                  <a:pt x="184215" y="63394"/>
                  <a:pt x="184206" y="54148"/>
                </a:cubicBezTo>
                <a:lnTo>
                  <a:pt x="184206" y="51816"/>
                </a:lnTo>
                <a:cubicBezTo>
                  <a:pt x="184206" y="37507"/>
                  <a:pt x="172606" y="25908"/>
                  <a:pt x="158298" y="25908"/>
                </a:cubicBezTo>
                <a:close/>
                <a:moveTo>
                  <a:pt x="194310" y="155448"/>
                </a:moveTo>
                <a:cubicBezTo>
                  <a:pt x="194310" y="176911"/>
                  <a:pt x="176911" y="194310"/>
                  <a:pt x="155448" y="194310"/>
                </a:cubicBezTo>
                <a:cubicBezTo>
                  <a:pt x="133985" y="194310"/>
                  <a:pt x="116586" y="176911"/>
                  <a:pt x="116586" y="155448"/>
                </a:cubicBezTo>
                <a:cubicBezTo>
                  <a:pt x="116586" y="133985"/>
                  <a:pt x="133985" y="116586"/>
                  <a:pt x="155448" y="116586"/>
                </a:cubicBezTo>
                <a:cubicBezTo>
                  <a:pt x="176911" y="116586"/>
                  <a:pt x="194310" y="133985"/>
                  <a:pt x="194310" y="155448"/>
                </a:cubicBezTo>
                <a:close/>
              </a:path>
            </a:pathLst>
          </a:custGeom>
          <a:noFill/>
          <a:ln w="25908" cap="rnd">
            <a:solidFill>
              <a:srgbClr val="0B6E8A"/>
            </a:solidFill>
            <a:prstDash val="solid"/>
            <a:round/>
          </a:ln>
        </p:spPr>
      </p:sp>
      <p:sp>
        <p:nvSpPr>
          <p:cNvPr id="38" name="Text 36"/>
          <p:cNvSpPr/>
          <p:nvPr/>
        </p:nvSpPr>
        <p:spPr>
          <a:xfrm>
            <a:off x="8368547" y="3901994"/>
            <a:ext cx="1532867"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Spring</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elige la implementación @Primary</a:t>
            </a:r>
            <a:endParaRPr lang="en-US" sz="1060" dirty="0"/>
          </a:p>
        </p:txBody>
      </p:sp>
      <p:sp>
        <p:nvSpPr>
          <p:cNvPr id="39" name="Shape 3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0" name="Text 3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1" name="Text 3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Spring elige cuál usar: el que está marcado con @Primary, hoy el que guarda en PostgreSQL.</a:t>
            </a:r>
            <a:endParaRPr lang="en-US" sz="1300" dirty="0"/>
          </a:p>
        </p:txBody>
      </p:sp>
      <p:sp>
        <p:nvSpPr>
          <p:cNvPr id="42" name="Text 4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Separamos por responsabilidad</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trámite y los avisos cambian por motivos distintos</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es dueño de su base</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hablan con un contrato: el evento</a:t>
            </a:r>
            <a:endParaRPr lang="en-US" sz="1100" dirty="0"/>
          </a:p>
        </p:txBody>
      </p:sp>
      <p:sp>
        <p:nvSpPr>
          <p:cNvPr id="9" name="Shape 7"/>
          <p:cNvSpPr/>
          <p:nvPr/>
        </p:nvSpPr>
        <p:spPr>
          <a:xfrm>
            <a:off x="795421" y="2245919"/>
            <a:ext cx="4934880"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868573" y="2300783"/>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11" name="Shape 9"/>
          <p:cNvSpPr/>
          <p:nvPr/>
        </p:nvSpPr>
        <p:spPr>
          <a:xfrm>
            <a:off x="6461394" y="2245919"/>
            <a:ext cx="4934880"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534546" y="2300783"/>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13" name="Shape 11"/>
          <p:cNvSpPr/>
          <p:nvPr/>
        </p:nvSpPr>
        <p:spPr>
          <a:xfrm>
            <a:off x="3262861" y="3580164"/>
            <a:ext cx="0" cy="1224581"/>
          </a:xfrm>
          <a:prstGeom prst="line">
            <a:avLst/>
          </a:prstGeom>
          <a:noFill/>
          <a:ln w="31750">
            <a:solidFill>
              <a:srgbClr val="55627E"/>
            </a:solidFill>
            <a:prstDash val="sysDot"/>
            <a:tailEnd type="triangle"/>
          </a:ln>
        </p:spPr>
      </p:sp>
      <p:sp>
        <p:nvSpPr>
          <p:cNvPr id="14" name="Text 12"/>
          <p:cNvSpPr/>
          <p:nvPr/>
        </p:nvSpPr>
        <p:spPr>
          <a:xfrm>
            <a:off x="3354248" y="4073561"/>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5" name="Text 13"/>
          <p:cNvSpPr/>
          <p:nvPr/>
        </p:nvSpPr>
        <p:spPr>
          <a:xfrm>
            <a:off x="3153133" y="368976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8746061" y="3232895"/>
            <a:ext cx="456933" cy="0"/>
          </a:xfrm>
          <a:prstGeom prst="line">
            <a:avLst/>
          </a:prstGeom>
          <a:noFill/>
          <a:ln w="25400">
            <a:solidFill>
              <a:srgbClr val="55627E"/>
            </a:solidFill>
            <a:prstDash val="dash"/>
            <a:tailEnd type="triangle"/>
          </a:ln>
        </p:spPr>
      </p:sp>
      <p:sp>
        <p:nvSpPr>
          <p:cNvPr id="17" name="Text 15"/>
          <p:cNvSpPr/>
          <p:nvPr/>
        </p:nvSpPr>
        <p:spPr>
          <a:xfrm>
            <a:off x="8712323" y="2995199"/>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8" name="Text 16"/>
          <p:cNvSpPr/>
          <p:nvPr/>
        </p:nvSpPr>
        <p:spPr>
          <a:xfrm>
            <a:off x="8855661" y="312316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9" name="Shape 17"/>
          <p:cNvSpPr/>
          <p:nvPr/>
        </p:nvSpPr>
        <p:spPr>
          <a:xfrm>
            <a:off x="7786501" y="3580164"/>
            <a:ext cx="0" cy="1224581"/>
          </a:xfrm>
          <a:prstGeom prst="line">
            <a:avLst/>
          </a:prstGeom>
          <a:noFill/>
          <a:ln w="31750">
            <a:solidFill>
              <a:srgbClr val="55627E"/>
            </a:solidFill>
            <a:prstDash val="sysDot"/>
            <a:tailEnd type="triangle"/>
          </a:ln>
        </p:spPr>
      </p:sp>
      <p:sp>
        <p:nvSpPr>
          <p:cNvPr id="20" name="Text 18"/>
          <p:cNvSpPr/>
          <p:nvPr/>
        </p:nvSpPr>
        <p:spPr>
          <a:xfrm>
            <a:off x="7676773" y="368976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1" name="Shape 19"/>
          <p:cNvSpPr/>
          <p:nvPr/>
        </p:nvSpPr>
        <p:spPr>
          <a:xfrm>
            <a:off x="10162554" y="3580164"/>
            <a:ext cx="0" cy="1224581"/>
          </a:xfrm>
          <a:prstGeom prst="line">
            <a:avLst/>
          </a:prstGeom>
          <a:noFill/>
          <a:ln w="31750">
            <a:solidFill>
              <a:srgbClr val="55627E"/>
            </a:solidFill>
            <a:prstDash val="sysDot"/>
            <a:tailEnd type="triangle"/>
          </a:ln>
        </p:spPr>
      </p:sp>
      <p:sp>
        <p:nvSpPr>
          <p:cNvPr id="22" name="Text 20"/>
          <p:cNvSpPr/>
          <p:nvPr/>
        </p:nvSpPr>
        <p:spPr>
          <a:xfrm>
            <a:off x="10052826" y="368976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Shape 21"/>
          <p:cNvSpPr/>
          <p:nvPr/>
        </p:nvSpPr>
        <p:spPr>
          <a:xfrm>
            <a:off x="1160968" y="2885625"/>
            <a:ext cx="4203786"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1252408" y="3022583"/>
            <a:ext cx="420624" cy="420624"/>
          </a:xfrm>
          <a:prstGeom prst="ellipse">
            <a:avLst/>
          </a:prstGeom>
          <a:solidFill>
            <a:srgbClr val="E2E5EA"/>
          </a:solidFill>
          <a:ln w="12700">
            <a:solidFill>
              <a:srgbClr val="E2E5EA"/>
            </a:solidFill>
            <a:prstDash val="solid"/>
          </a:ln>
        </p:spPr>
      </p:sp>
      <p:sp>
        <p:nvSpPr>
          <p:cNvPr id="25" name="Icono box"/>
          <p:cNvSpPr/>
          <p:nvPr/>
        </p:nvSpPr>
        <p:spPr>
          <a:xfrm>
            <a:off x="1307272" y="3077447"/>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6" name="Text 24"/>
          <p:cNvSpPr/>
          <p:nvPr/>
        </p:nvSpPr>
        <p:spPr>
          <a:xfrm>
            <a:off x="1727896" y="2885625"/>
            <a:ext cx="3581994"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Una aplicación</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trámites y avisos en el mismo proceso</a:t>
            </a:r>
            <a:endParaRPr lang="en-US" sz="1079" dirty="0"/>
          </a:p>
        </p:txBody>
      </p:sp>
      <p:sp>
        <p:nvSpPr>
          <p:cNvPr id="27" name="Shape 25"/>
          <p:cNvSpPr/>
          <p:nvPr/>
        </p:nvSpPr>
        <p:spPr>
          <a:xfrm>
            <a:off x="2257608" y="4804745"/>
            <a:ext cx="2010507"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2349048" y="4941703"/>
            <a:ext cx="420624" cy="420624"/>
          </a:xfrm>
          <a:prstGeom prst="ellipse">
            <a:avLst/>
          </a:prstGeom>
          <a:solidFill>
            <a:srgbClr val="E8EBEE"/>
          </a:solidFill>
          <a:ln w="12700">
            <a:solidFill>
              <a:srgbClr val="E8EBEE"/>
            </a:solidFill>
            <a:prstDash val="solid"/>
          </a:ln>
        </p:spPr>
      </p:sp>
      <p:sp>
        <p:nvSpPr>
          <p:cNvPr id="29" name="Icono database"/>
          <p:cNvSpPr/>
          <p:nvPr/>
        </p:nvSpPr>
        <p:spPr>
          <a:xfrm>
            <a:off x="2403912" y="499656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0" name="Text 28"/>
          <p:cNvSpPr/>
          <p:nvPr/>
        </p:nvSpPr>
        <p:spPr>
          <a:xfrm>
            <a:off x="2824536" y="480474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Una base</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tablas de todos</a:t>
            </a:r>
            <a:endParaRPr lang="en-US" sz="1079" dirty="0"/>
          </a:p>
        </p:txBody>
      </p:sp>
      <p:sp>
        <p:nvSpPr>
          <p:cNvPr id="31" name="Shape 29"/>
          <p:cNvSpPr/>
          <p:nvPr/>
        </p:nvSpPr>
        <p:spPr>
          <a:xfrm>
            <a:off x="6826941" y="2885625"/>
            <a:ext cx="191912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918381" y="3022583"/>
            <a:ext cx="420624" cy="420624"/>
          </a:xfrm>
          <a:prstGeom prst="ellipse">
            <a:avLst/>
          </a:prstGeom>
          <a:solidFill>
            <a:srgbClr val="E2E5EA"/>
          </a:solidFill>
          <a:ln w="12700">
            <a:solidFill>
              <a:srgbClr val="E2E5EA"/>
            </a:solidFill>
            <a:prstDash val="solid"/>
          </a:ln>
        </p:spPr>
      </p:sp>
      <p:sp>
        <p:nvSpPr>
          <p:cNvPr id="33" name="Icono clipboard-list"/>
          <p:cNvSpPr/>
          <p:nvPr/>
        </p:nvSpPr>
        <p:spPr>
          <a:xfrm>
            <a:off x="6973245" y="3077447"/>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2350"/>
            </a:solidFill>
            <a:prstDash val="solid"/>
            <a:round/>
          </a:ln>
        </p:spPr>
      </p:sp>
      <p:sp>
        <p:nvSpPr>
          <p:cNvPr id="34" name="Text 32"/>
          <p:cNvSpPr/>
          <p:nvPr/>
        </p:nvSpPr>
        <p:spPr>
          <a:xfrm>
            <a:off x="7393869" y="288562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el trámite</a:t>
            </a:r>
            <a:endParaRPr lang="en-US" sz="1079" dirty="0"/>
          </a:p>
        </p:txBody>
      </p:sp>
      <p:sp>
        <p:nvSpPr>
          <p:cNvPr id="35" name="Shape 33"/>
          <p:cNvSpPr/>
          <p:nvPr/>
        </p:nvSpPr>
        <p:spPr>
          <a:xfrm>
            <a:off x="9202994" y="2885625"/>
            <a:ext cx="191912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9294434" y="3022583"/>
            <a:ext cx="420624" cy="420624"/>
          </a:xfrm>
          <a:prstGeom prst="ellipse">
            <a:avLst/>
          </a:prstGeom>
          <a:solidFill>
            <a:srgbClr val="E2E5EA"/>
          </a:solidFill>
          <a:ln w="12700">
            <a:solidFill>
              <a:srgbClr val="E2E5EA"/>
            </a:solidFill>
            <a:prstDash val="solid"/>
          </a:ln>
        </p:spPr>
      </p:sp>
      <p:sp>
        <p:nvSpPr>
          <p:cNvPr id="37" name="Icono bell"/>
          <p:cNvSpPr/>
          <p:nvPr/>
        </p:nvSpPr>
        <p:spPr>
          <a:xfrm>
            <a:off x="9349298" y="3077447"/>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38" name="Text 36"/>
          <p:cNvSpPr/>
          <p:nvPr/>
        </p:nvSpPr>
        <p:spPr>
          <a:xfrm>
            <a:off x="9769922" y="288562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notificaciones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los avisos</a:t>
            </a:r>
            <a:endParaRPr lang="en-US" sz="1079" dirty="0"/>
          </a:p>
        </p:txBody>
      </p:sp>
      <p:sp>
        <p:nvSpPr>
          <p:cNvPr id="39" name="Shape 37"/>
          <p:cNvSpPr/>
          <p:nvPr/>
        </p:nvSpPr>
        <p:spPr>
          <a:xfrm>
            <a:off x="6826941" y="4804745"/>
            <a:ext cx="1919120"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6918381" y="4941703"/>
            <a:ext cx="420624" cy="420624"/>
          </a:xfrm>
          <a:prstGeom prst="ellipse">
            <a:avLst/>
          </a:prstGeom>
          <a:solidFill>
            <a:srgbClr val="E8EBEE"/>
          </a:solidFill>
          <a:ln w="12700">
            <a:solidFill>
              <a:srgbClr val="E8EBEE"/>
            </a:solidFill>
            <a:prstDash val="solid"/>
          </a:ln>
        </p:spPr>
      </p:sp>
      <p:sp>
        <p:nvSpPr>
          <p:cNvPr id="41" name="Icono database"/>
          <p:cNvSpPr/>
          <p:nvPr/>
        </p:nvSpPr>
        <p:spPr>
          <a:xfrm>
            <a:off x="6973245" y="499656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2" name="Text 40"/>
          <p:cNvSpPr/>
          <p:nvPr/>
        </p:nvSpPr>
        <p:spPr>
          <a:xfrm>
            <a:off x="7393869" y="480474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db-solicitudes</a:t>
            </a:r>
            <a:endParaRPr lang="en-US" sz="1079" dirty="0"/>
          </a:p>
        </p:txBody>
      </p:sp>
      <p:sp>
        <p:nvSpPr>
          <p:cNvPr id="43" name="Shape 41"/>
          <p:cNvSpPr/>
          <p:nvPr/>
        </p:nvSpPr>
        <p:spPr>
          <a:xfrm>
            <a:off x="9202994" y="4804745"/>
            <a:ext cx="1919120"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9294434" y="4941703"/>
            <a:ext cx="420624" cy="420624"/>
          </a:xfrm>
          <a:prstGeom prst="ellipse">
            <a:avLst/>
          </a:prstGeom>
          <a:solidFill>
            <a:srgbClr val="E8EBEE"/>
          </a:solidFill>
          <a:ln w="12700">
            <a:solidFill>
              <a:srgbClr val="E8EBEE"/>
            </a:solidFill>
            <a:prstDash val="solid"/>
          </a:ln>
        </p:spPr>
      </p:sp>
      <p:sp>
        <p:nvSpPr>
          <p:cNvPr id="45" name="Icono database"/>
          <p:cNvSpPr/>
          <p:nvPr/>
        </p:nvSpPr>
        <p:spPr>
          <a:xfrm>
            <a:off x="9349298" y="499656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6" name="Text 44"/>
          <p:cNvSpPr/>
          <p:nvPr/>
        </p:nvSpPr>
        <p:spPr>
          <a:xfrm>
            <a:off x="9769922" y="4804745"/>
            <a:ext cx="1297328" cy="694539"/>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db-notificaciones</a:t>
            </a:r>
            <a:endParaRPr lang="en-US" sz="993"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servicio-*/…/eventos/SolicitudEnviada.java</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850" i="1" dirty="0">
                <a:solidFill>
                  <a:srgbClr val="8FA2BF"/>
                </a:solidFill>
                <a:latin typeface="Consolas" pitchFamily="34" charset="0"/>
                <a:ea typeface="Consolas" pitchFamily="34" charset="-122"/>
                <a:cs typeface="Consolas" pitchFamily="34" charset="-120"/>
              </a:rPr>
              <a:t>// Copiado en ambos servicios: es el contrato HTTP</a:t>
            </a:r>
            <a:endParaRPr lang="en-US" sz="1850" dirty="0"/>
          </a:p>
          <a:p>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eventoId,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8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850" dirty="0">
                <a:solidFill>
                  <a:srgbClr val="E8EDF8"/>
                </a:solidFill>
                <a:latin typeface="Consolas" pitchFamily="34" charset="0"/>
                <a:ea typeface="Consolas" pitchFamily="34" charset="-122"/>
                <a:cs typeface="Consolas" pitchFamily="34" charset="-120"/>
              </a:rPr>
              <a:t> tipo) {}</a:t>
            </a:r>
            <a:endParaRPr lang="en-US" sz="185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E3F4FA"/>
          </a:solidFill>
          <a:ln w="22225">
            <a:solidFill>
              <a:srgbClr val="2BA6CB"/>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47625">
            <a:solidFill>
              <a:srgbClr val="2BA6CB"/>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25400">
            <a:solidFill>
              <a:srgbClr val="CBD5E3"/>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31750">
            <a:solidFill>
              <a:srgbClr val="CBD5E3"/>
            </a:solidFill>
            <a:prstDash val="sysDot"/>
            <a:tailEnd type="triangle"/>
          </a:ln>
        </p:spPr>
      </p:sp>
      <p:sp>
        <p:nvSpPr>
          <p:cNvPr id="16" name="Text 14"/>
          <p:cNvSpPr/>
          <p:nvPr/>
        </p:nvSpPr>
        <p:spPr>
          <a:xfrm>
            <a:off x="7647003" y="28944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31750">
            <a:solidFill>
              <a:srgbClr val="CBD5E3"/>
            </a:solidFill>
            <a:prstDash val="sysDot"/>
            <a:tailEnd type="triangle"/>
          </a:ln>
        </p:spPr>
      </p:sp>
      <p:sp>
        <p:nvSpPr>
          <p:cNvPr id="18" name="Text 16"/>
          <p:cNvSpPr/>
          <p:nvPr/>
        </p:nvSpPr>
        <p:spPr>
          <a:xfrm>
            <a:off x="9981216" y="28944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0" name="Shape 18"/>
          <p:cNvSpPr/>
          <p:nvPr/>
        </p:nvSpPr>
        <p:spPr>
          <a:xfrm>
            <a:off x="1339305" y="2237287"/>
            <a:ext cx="420624" cy="420624"/>
          </a:xfrm>
          <a:prstGeom prst="ellipse">
            <a:avLst/>
          </a:prstGeom>
          <a:solidFill>
            <a:srgbClr val="E3F4FA"/>
          </a:solidFill>
          <a:ln w="12700">
            <a:solidFill>
              <a:srgbClr val="E3F4F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6E8A"/>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4" name="Shape 22"/>
          <p:cNvSpPr/>
          <p:nvPr/>
        </p:nvSpPr>
        <p:spPr>
          <a:xfrm>
            <a:off x="2416635" y="4122614"/>
            <a:ext cx="420624" cy="420624"/>
          </a:xfrm>
          <a:prstGeom prst="ellipse">
            <a:avLst/>
          </a:prstGeom>
          <a:solidFill>
            <a:srgbClr val="E3F4FA"/>
          </a:solidFill>
          <a:ln w="12700">
            <a:solidFill>
              <a:srgbClr val="E3F4FA"/>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12700">
            <a:solidFill>
              <a:srgbClr val="D5DDE8"/>
            </a:solidFill>
            <a:prstDash val="solid"/>
          </a:ln>
        </p:spPr>
      </p:sp>
      <p:sp>
        <p:nvSpPr>
          <p:cNvPr id="28" name="Shape 26"/>
          <p:cNvSpPr/>
          <p:nvPr/>
        </p:nvSpPr>
        <p:spPr>
          <a:xfrm>
            <a:off x="6905507" y="2237287"/>
            <a:ext cx="420624" cy="420624"/>
          </a:xfrm>
          <a:prstGeom prst="ellipse">
            <a:avLst/>
          </a:prstGeom>
          <a:solidFill>
            <a:srgbClr val="EEF2F7"/>
          </a:solidFill>
          <a:ln w="12700">
            <a:solidFill>
              <a:srgbClr val="EEF2F7"/>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A9B4C6"/>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12700">
            <a:solidFill>
              <a:srgbClr val="D5DDE8"/>
            </a:solidFill>
            <a:prstDash val="solid"/>
          </a:ln>
        </p:spPr>
      </p:sp>
      <p:sp>
        <p:nvSpPr>
          <p:cNvPr id="32" name="Shape 30"/>
          <p:cNvSpPr/>
          <p:nvPr/>
        </p:nvSpPr>
        <p:spPr>
          <a:xfrm>
            <a:off x="9239721" y="2237287"/>
            <a:ext cx="420624" cy="420624"/>
          </a:xfrm>
          <a:prstGeom prst="ellipse">
            <a:avLst/>
          </a:prstGeom>
          <a:solidFill>
            <a:srgbClr val="EEF2F7"/>
          </a:solidFill>
          <a:ln w="12700">
            <a:solidFill>
              <a:srgbClr val="EEF2F7"/>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A9B4C6"/>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9AA5B8"/>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3F6FA"/>
          </a:solidFill>
          <a:ln w="12700">
            <a:solidFill>
              <a:srgbClr val="D5DDE8"/>
            </a:solidFill>
            <a:prstDash val="solid"/>
          </a:ln>
        </p:spPr>
      </p:sp>
      <p:sp>
        <p:nvSpPr>
          <p:cNvPr id="36" name="Shape 34"/>
          <p:cNvSpPr/>
          <p:nvPr/>
        </p:nvSpPr>
        <p:spPr>
          <a:xfrm>
            <a:off x="6905507" y="4122614"/>
            <a:ext cx="420624" cy="420624"/>
          </a:xfrm>
          <a:prstGeom prst="ellipse">
            <a:avLst/>
          </a:prstGeom>
          <a:solidFill>
            <a:srgbClr val="EEF2F7"/>
          </a:solidFill>
          <a:ln w="12700">
            <a:solidFill>
              <a:srgbClr val="EEF2F7"/>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3F6FA"/>
          </a:solidFill>
          <a:ln w="12700">
            <a:solidFill>
              <a:srgbClr val="D5DDE8"/>
            </a:solidFill>
            <a:prstDash val="solid"/>
          </a:ln>
        </p:spPr>
      </p:sp>
      <p:sp>
        <p:nvSpPr>
          <p:cNvPr id="40" name="Shape 38"/>
          <p:cNvSpPr/>
          <p:nvPr/>
        </p:nvSpPr>
        <p:spPr>
          <a:xfrm>
            <a:off x="9239721" y="4122614"/>
            <a:ext cx="420624" cy="420624"/>
          </a:xfrm>
          <a:prstGeom prst="ellipse">
            <a:avLst/>
          </a:prstGeom>
          <a:solidFill>
            <a:srgbClr val="EEF2F7"/>
          </a:solidFill>
          <a:ln w="12700">
            <a:solidFill>
              <a:srgbClr val="EEF2F7"/>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Antes: una sola aplicación hace todo y comparte una base.</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E3F4FA"/>
          </a:solidFill>
          <a:ln w="22225">
            <a:solidFill>
              <a:srgbClr val="2BA6CB"/>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31750">
            <a:solidFill>
              <a:srgbClr val="55627E"/>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25400">
            <a:solidFill>
              <a:srgbClr val="CBD5E3"/>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31750">
            <a:solidFill>
              <a:srgbClr val="CBD5E3"/>
            </a:solidFill>
            <a:prstDash val="sysDot"/>
            <a:tailEnd type="triangle"/>
          </a:ln>
        </p:spPr>
      </p:sp>
      <p:sp>
        <p:nvSpPr>
          <p:cNvPr id="16" name="Text 14"/>
          <p:cNvSpPr/>
          <p:nvPr/>
        </p:nvSpPr>
        <p:spPr>
          <a:xfrm>
            <a:off x="7647003" y="28944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31750">
            <a:solidFill>
              <a:srgbClr val="CBD5E3"/>
            </a:solidFill>
            <a:prstDash val="sysDot"/>
            <a:tailEnd type="triangle"/>
          </a:ln>
        </p:spPr>
      </p:sp>
      <p:sp>
        <p:nvSpPr>
          <p:cNvPr id="18" name="Text 16"/>
          <p:cNvSpPr/>
          <p:nvPr/>
        </p:nvSpPr>
        <p:spPr>
          <a:xfrm>
            <a:off x="9981216" y="2894492"/>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1339305" y="2237287"/>
            <a:ext cx="420624" cy="420624"/>
          </a:xfrm>
          <a:prstGeom prst="ellipse">
            <a:avLst/>
          </a:prstGeom>
          <a:solidFill>
            <a:srgbClr val="E2E5EA"/>
          </a:solidFill>
          <a:ln w="12700">
            <a:solidFill>
              <a:srgbClr val="E2E5E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2416635" y="4122614"/>
            <a:ext cx="420624" cy="420624"/>
          </a:xfrm>
          <a:prstGeom prst="ellipse">
            <a:avLst/>
          </a:prstGeom>
          <a:solidFill>
            <a:srgbClr val="E8EBEE"/>
          </a:solidFill>
          <a:ln w="12700">
            <a:solidFill>
              <a:srgbClr val="E8EBEE"/>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8" name="Shape 26"/>
          <p:cNvSpPr/>
          <p:nvPr/>
        </p:nvSpPr>
        <p:spPr>
          <a:xfrm>
            <a:off x="6905507" y="2237287"/>
            <a:ext cx="420624" cy="420624"/>
          </a:xfrm>
          <a:prstGeom prst="ellipse">
            <a:avLst/>
          </a:prstGeom>
          <a:solidFill>
            <a:srgbClr val="E3F4FA"/>
          </a:solidFill>
          <a:ln w="12700">
            <a:solidFill>
              <a:srgbClr val="E3F4FA"/>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6E8A"/>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9239721" y="2237287"/>
            <a:ext cx="420624" cy="420624"/>
          </a:xfrm>
          <a:prstGeom prst="ellipse">
            <a:avLst/>
          </a:prstGeom>
          <a:solidFill>
            <a:srgbClr val="E3F4FA"/>
          </a:solidFill>
          <a:ln w="12700">
            <a:solidFill>
              <a:srgbClr val="E3F4FA"/>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3F6FA"/>
          </a:solidFill>
          <a:ln w="12700">
            <a:solidFill>
              <a:srgbClr val="D5DDE8"/>
            </a:solidFill>
            <a:prstDash val="solid"/>
          </a:ln>
        </p:spPr>
      </p:sp>
      <p:sp>
        <p:nvSpPr>
          <p:cNvPr id="36" name="Shape 34"/>
          <p:cNvSpPr/>
          <p:nvPr/>
        </p:nvSpPr>
        <p:spPr>
          <a:xfrm>
            <a:off x="6905507" y="4122614"/>
            <a:ext cx="420624" cy="420624"/>
          </a:xfrm>
          <a:prstGeom prst="ellipse">
            <a:avLst/>
          </a:prstGeom>
          <a:solidFill>
            <a:srgbClr val="EEF2F7"/>
          </a:solidFill>
          <a:ln w="12700">
            <a:solidFill>
              <a:srgbClr val="EEF2F7"/>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8A95AB"/>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3F6FA"/>
          </a:solidFill>
          <a:ln w="12700">
            <a:solidFill>
              <a:srgbClr val="D5DDE8"/>
            </a:solidFill>
            <a:prstDash val="solid"/>
          </a:ln>
        </p:spPr>
      </p:sp>
      <p:sp>
        <p:nvSpPr>
          <p:cNvPr id="40" name="Shape 38"/>
          <p:cNvSpPr/>
          <p:nvPr/>
        </p:nvSpPr>
        <p:spPr>
          <a:xfrm>
            <a:off x="9239721" y="4122614"/>
            <a:ext cx="420624" cy="420624"/>
          </a:xfrm>
          <a:prstGeom prst="ellipse">
            <a:avLst/>
          </a:prstGeom>
          <a:solidFill>
            <a:srgbClr val="EEF2F7"/>
          </a:solidFill>
          <a:ln w="12700">
            <a:solidFill>
              <a:srgbClr val="EEF2F7"/>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Separamos por responsabilidad: el trámite y los avisos cambian por motivos distintos.</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31750">
            <a:solidFill>
              <a:srgbClr val="55627E"/>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25400">
            <a:solidFill>
              <a:srgbClr val="CBD5E3"/>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47625">
            <a:solidFill>
              <a:srgbClr val="2BA6CB"/>
            </a:solidFill>
            <a:prstDash val="sysDot"/>
            <a:tailEnd type="triangle"/>
          </a:ln>
        </p:spPr>
      </p:sp>
      <p:sp>
        <p:nvSpPr>
          <p:cNvPr id="16" name="Text 14"/>
          <p:cNvSpPr/>
          <p:nvPr/>
        </p:nvSpPr>
        <p:spPr>
          <a:xfrm>
            <a:off x="7647003" y="28944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47625">
            <a:solidFill>
              <a:srgbClr val="2BA6CB"/>
            </a:solidFill>
            <a:prstDash val="sysDot"/>
            <a:tailEnd type="triangle"/>
          </a:ln>
        </p:spPr>
      </p:sp>
      <p:sp>
        <p:nvSpPr>
          <p:cNvPr id="18" name="Text 16"/>
          <p:cNvSpPr/>
          <p:nvPr/>
        </p:nvSpPr>
        <p:spPr>
          <a:xfrm>
            <a:off x="9981216" y="289449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1339305" y="2237287"/>
            <a:ext cx="420624" cy="420624"/>
          </a:xfrm>
          <a:prstGeom prst="ellipse">
            <a:avLst/>
          </a:prstGeom>
          <a:solidFill>
            <a:srgbClr val="E2E5EA"/>
          </a:solidFill>
          <a:ln w="12700">
            <a:solidFill>
              <a:srgbClr val="E2E5E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2416635" y="4122614"/>
            <a:ext cx="420624" cy="420624"/>
          </a:xfrm>
          <a:prstGeom prst="ellipse">
            <a:avLst/>
          </a:prstGeom>
          <a:solidFill>
            <a:srgbClr val="E8EBEE"/>
          </a:solidFill>
          <a:ln w="12700">
            <a:solidFill>
              <a:srgbClr val="E8EBEE"/>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905507" y="2237287"/>
            <a:ext cx="420624" cy="420624"/>
          </a:xfrm>
          <a:prstGeom prst="ellipse">
            <a:avLst/>
          </a:prstGeom>
          <a:solidFill>
            <a:srgbClr val="E2E5EA"/>
          </a:solidFill>
          <a:ln w="12700">
            <a:solidFill>
              <a:srgbClr val="E2E5EA"/>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2350"/>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9239721" y="2237287"/>
            <a:ext cx="420624" cy="420624"/>
          </a:xfrm>
          <a:prstGeom prst="ellipse">
            <a:avLst/>
          </a:prstGeom>
          <a:solidFill>
            <a:srgbClr val="E2E5EA"/>
          </a:solidFill>
          <a:ln w="12700">
            <a:solidFill>
              <a:srgbClr val="E2E5EA"/>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6905507" y="4122614"/>
            <a:ext cx="420624" cy="420624"/>
          </a:xfrm>
          <a:prstGeom prst="ellipse">
            <a:avLst/>
          </a:prstGeom>
          <a:solidFill>
            <a:srgbClr val="E3F4FA"/>
          </a:solidFill>
          <a:ln w="12700">
            <a:solidFill>
              <a:srgbClr val="E3F4FA"/>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0" name="Shape 38"/>
          <p:cNvSpPr/>
          <p:nvPr/>
        </p:nvSpPr>
        <p:spPr>
          <a:xfrm>
            <a:off x="9239721" y="4122614"/>
            <a:ext cx="420624" cy="420624"/>
          </a:xfrm>
          <a:prstGeom prst="ellipse">
            <a:avLst/>
          </a:prstGeom>
          <a:solidFill>
            <a:srgbClr val="E3F4FA"/>
          </a:solidFill>
          <a:ln w="12700">
            <a:solidFill>
              <a:srgbClr val="E3F4FA"/>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 dueño de su base. Ninguno lee la base del otro.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4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888755" y="1478003"/>
            <a:ext cx="4847983" cy="3591098"/>
          </a:xfrm>
          <a:prstGeom prst="roundRect">
            <a:avLst>
              <a:gd name="adj" fmla="val 3056"/>
            </a:avLst>
          </a:prstGeom>
          <a:solidFill>
            <a:srgbClr val="F4F7FB"/>
          </a:solidFill>
          <a:ln w="12700">
            <a:solidFill>
              <a:srgbClr val="DFE6F0"/>
            </a:solidFill>
            <a:prstDash val="solid"/>
          </a:ln>
        </p:spPr>
      </p:sp>
      <p:sp>
        <p:nvSpPr>
          <p:cNvPr id="6" name="Text 4"/>
          <p:cNvSpPr/>
          <p:nvPr/>
        </p:nvSpPr>
        <p:spPr>
          <a:xfrm>
            <a:off x="961907" y="1532867"/>
            <a:ext cx="23774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4957" y="1478003"/>
            <a:ext cx="4847983" cy="3591098"/>
          </a:xfrm>
          <a:prstGeom prst="roundRect">
            <a:avLst>
              <a:gd name="adj" fmla="val 3056"/>
            </a:avLst>
          </a:prstGeom>
          <a:solidFill>
            <a:srgbClr val="F4F7FB"/>
          </a:solidFill>
          <a:ln w="12700">
            <a:solidFill>
              <a:srgbClr val="DFE6F0"/>
            </a:solidFill>
            <a:prstDash val="solid"/>
          </a:ln>
        </p:spPr>
      </p:sp>
      <p:sp>
        <p:nvSpPr>
          <p:cNvPr id="8" name="Text 6"/>
          <p:cNvSpPr/>
          <p:nvPr/>
        </p:nvSpPr>
        <p:spPr>
          <a:xfrm>
            <a:off x="6528109" y="1532867"/>
            <a:ext cx="24587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12747" y="2788754"/>
            <a:ext cx="0" cy="1203018"/>
          </a:xfrm>
          <a:prstGeom prst="line">
            <a:avLst/>
          </a:prstGeom>
          <a:noFill/>
          <a:ln w="31750">
            <a:solidFill>
              <a:srgbClr val="55627E"/>
            </a:solidFill>
            <a:prstDash val="sysDot"/>
            <a:tailEnd type="triangle"/>
          </a:ln>
        </p:spPr>
      </p:sp>
      <p:sp>
        <p:nvSpPr>
          <p:cNvPr id="10" name="Text 8"/>
          <p:cNvSpPr/>
          <p:nvPr/>
        </p:nvSpPr>
        <p:spPr>
          <a:xfrm>
            <a:off x="3402524" y="3270726"/>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03019"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99394" y="2447599"/>
            <a:ext cx="448887" cy="0"/>
          </a:xfrm>
          <a:prstGeom prst="line">
            <a:avLst/>
          </a:prstGeom>
          <a:noFill/>
          <a:ln w="41275">
            <a:solidFill>
              <a:srgbClr val="2BA6CB"/>
            </a:solidFill>
            <a:prstDash val="dash"/>
            <a:tailEnd type="triangle"/>
          </a:ln>
        </p:spPr>
      </p:sp>
      <p:sp>
        <p:nvSpPr>
          <p:cNvPr id="13" name="Text 11"/>
          <p:cNvSpPr/>
          <p:nvPr/>
        </p:nvSpPr>
        <p:spPr>
          <a:xfrm>
            <a:off x="8661633" y="2211352"/>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805132" y="23378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56731" y="2788754"/>
            <a:ext cx="0" cy="1203018"/>
          </a:xfrm>
          <a:prstGeom prst="line">
            <a:avLst/>
          </a:prstGeom>
          <a:noFill/>
          <a:ln w="31750">
            <a:solidFill>
              <a:srgbClr val="55627E"/>
            </a:solidFill>
            <a:prstDash val="sysDot"/>
            <a:tailEnd type="triangle"/>
          </a:ln>
        </p:spPr>
      </p:sp>
      <p:sp>
        <p:nvSpPr>
          <p:cNvPr id="16" name="Text 14"/>
          <p:cNvSpPr/>
          <p:nvPr/>
        </p:nvSpPr>
        <p:spPr>
          <a:xfrm>
            <a:off x="7647003"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90944" y="2788754"/>
            <a:ext cx="0" cy="1203018"/>
          </a:xfrm>
          <a:prstGeom prst="line">
            <a:avLst/>
          </a:prstGeom>
          <a:noFill/>
          <a:ln w="31750">
            <a:solidFill>
              <a:srgbClr val="55627E"/>
            </a:solidFill>
            <a:prstDash val="sysDot"/>
            <a:tailEnd type="triangle"/>
          </a:ln>
        </p:spPr>
      </p:sp>
      <p:sp>
        <p:nvSpPr>
          <p:cNvPr id="18" name="Text 16"/>
          <p:cNvSpPr/>
          <p:nvPr/>
        </p:nvSpPr>
        <p:spPr>
          <a:xfrm>
            <a:off x="9981216" y="28944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Shape 17"/>
          <p:cNvSpPr/>
          <p:nvPr/>
        </p:nvSpPr>
        <p:spPr>
          <a:xfrm>
            <a:off x="1247865" y="2106445"/>
            <a:ext cx="4129763" cy="682309"/>
          </a:xfrm>
          <a:prstGeom prst="roundRect">
            <a:avLst>
              <a:gd name="adj" fmla="val 1206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1339305" y="2237287"/>
            <a:ext cx="420624" cy="420624"/>
          </a:xfrm>
          <a:prstGeom prst="ellipse">
            <a:avLst/>
          </a:prstGeom>
          <a:solidFill>
            <a:srgbClr val="E2E5EA"/>
          </a:solidFill>
          <a:ln w="12700">
            <a:solidFill>
              <a:srgbClr val="E2E5EA"/>
            </a:solidFill>
            <a:prstDash val="solid"/>
          </a:ln>
        </p:spPr>
      </p:sp>
      <p:sp>
        <p:nvSpPr>
          <p:cNvPr id="21" name="Icono box"/>
          <p:cNvSpPr/>
          <p:nvPr/>
        </p:nvSpPr>
        <p:spPr>
          <a:xfrm>
            <a:off x="1394169" y="2292151"/>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22" name="Text 20"/>
          <p:cNvSpPr/>
          <p:nvPr/>
        </p:nvSpPr>
        <p:spPr>
          <a:xfrm>
            <a:off x="1814793" y="2106445"/>
            <a:ext cx="3507971"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aplicación</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trámites y avisos en el mismo proceso</a:t>
            </a:r>
            <a:endParaRPr lang="en-US" sz="1060" dirty="0"/>
          </a:p>
        </p:txBody>
      </p:sp>
      <p:sp>
        <p:nvSpPr>
          <p:cNvPr id="23" name="Shape 21"/>
          <p:cNvSpPr/>
          <p:nvPr/>
        </p:nvSpPr>
        <p:spPr>
          <a:xfrm>
            <a:off x="2325195" y="3991772"/>
            <a:ext cx="1975104"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2416635" y="4122614"/>
            <a:ext cx="420624" cy="420624"/>
          </a:xfrm>
          <a:prstGeom prst="ellipse">
            <a:avLst/>
          </a:prstGeom>
          <a:solidFill>
            <a:srgbClr val="E8EBEE"/>
          </a:solidFill>
          <a:ln w="12700">
            <a:solidFill>
              <a:srgbClr val="E8EBEE"/>
            </a:solidFill>
            <a:prstDash val="solid"/>
          </a:ln>
        </p:spPr>
      </p:sp>
      <p:sp>
        <p:nvSpPr>
          <p:cNvPr id="25" name="Icono database"/>
          <p:cNvSpPr/>
          <p:nvPr/>
        </p:nvSpPr>
        <p:spPr>
          <a:xfrm>
            <a:off x="2471499"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6" name="Text 24"/>
          <p:cNvSpPr/>
          <p:nvPr/>
        </p:nvSpPr>
        <p:spPr>
          <a:xfrm>
            <a:off x="2892123" y="3991772"/>
            <a:ext cx="1353312"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Una base</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tablas de todos</a:t>
            </a:r>
            <a:endParaRPr lang="en-US" sz="1060" dirty="0"/>
          </a:p>
        </p:txBody>
      </p:sp>
      <p:sp>
        <p:nvSpPr>
          <p:cNvPr id="27" name="Shape 25"/>
          <p:cNvSpPr/>
          <p:nvPr/>
        </p:nvSpPr>
        <p:spPr>
          <a:xfrm>
            <a:off x="6814067"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8" name="Shape 26"/>
          <p:cNvSpPr/>
          <p:nvPr/>
        </p:nvSpPr>
        <p:spPr>
          <a:xfrm>
            <a:off x="6905507" y="2237287"/>
            <a:ext cx="420624" cy="420624"/>
          </a:xfrm>
          <a:prstGeom prst="ellipse">
            <a:avLst/>
          </a:prstGeom>
          <a:solidFill>
            <a:srgbClr val="E3F4FA"/>
          </a:solidFill>
          <a:ln w="12700">
            <a:solidFill>
              <a:srgbClr val="E3F4FA"/>
            </a:solidFill>
            <a:prstDash val="solid"/>
          </a:ln>
        </p:spPr>
      </p:sp>
      <p:sp>
        <p:nvSpPr>
          <p:cNvPr id="29" name="Icono clipboard-list"/>
          <p:cNvSpPr/>
          <p:nvPr/>
        </p:nvSpPr>
        <p:spPr>
          <a:xfrm>
            <a:off x="6960371" y="2292151"/>
            <a:ext cx="310896" cy="310896"/>
          </a:xfrm>
          <a:custGeom>
            <a:avLst/>
            <a:gdLst/>
            <a:ahLst/>
            <a:cxnLst/>
            <a:rect l="l" t="t" r="r" b="b"/>
            <a:pathLst>
              <a:path w="310896" h="310896">
                <a:moveTo>
                  <a:pt x="116586" y="25908"/>
                </a:moveTo>
                <a:lnTo>
                  <a:pt x="194310" y="25908"/>
                </a:lnTo>
                <a:cubicBezTo>
                  <a:pt x="201464" y="25908"/>
                  <a:pt x="207264" y="31708"/>
                  <a:pt x="207264" y="38862"/>
                </a:cubicBezTo>
                <a:lnTo>
                  <a:pt x="207264" y="64770"/>
                </a:lnTo>
                <a:cubicBezTo>
                  <a:pt x="207264" y="71924"/>
                  <a:pt x="201464" y="77724"/>
                  <a:pt x="194310" y="77724"/>
                </a:cubicBezTo>
                <a:lnTo>
                  <a:pt x="116586" y="77724"/>
                </a:lnTo>
                <a:cubicBezTo>
                  <a:pt x="109432" y="77724"/>
                  <a:pt x="103632" y="71924"/>
                  <a:pt x="103632" y="64770"/>
                </a:cubicBezTo>
                <a:lnTo>
                  <a:pt x="103632" y="38862"/>
                </a:lnTo>
                <a:cubicBezTo>
                  <a:pt x="103632" y="31708"/>
                  <a:pt x="109432" y="25908"/>
                  <a:pt x="116586" y="25908"/>
                </a:cubicBezTo>
                <a:close/>
                <a:moveTo>
                  <a:pt x="207264" y="51816"/>
                </a:moveTo>
                <a:lnTo>
                  <a:pt x="233172" y="51816"/>
                </a:lnTo>
                <a:cubicBezTo>
                  <a:pt x="247481" y="51816"/>
                  <a:pt x="259080" y="63415"/>
                  <a:pt x="259080" y="77724"/>
                </a:cubicBezTo>
                <a:lnTo>
                  <a:pt x="259080" y="259080"/>
                </a:lnTo>
                <a:cubicBezTo>
                  <a:pt x="259080" y="273389"/>
                  <a:pt x="247481" y="284988"/>
                  <a:pt x="233172" y="284988"/>
                </a:cubicBezTo>
                <a:lnTo>
                  <a:pt x="77724" y="284988"/>
                </a:lnTo>
                <a:cubicBezTo>
                  <a:pt x="63415" y="284988"/>
                  <a:pt x="51816" y="273389"/>
                  <a:pt x="51816" y="259080"/>
                </a:cubicBezTo>
                <a:lnTo>
                  <a:pt x="51816" y="77724"/>
                </a:lnTo>
                <a:cubicBezTo>
                  <a:pt x="51816" y="63415"/>
                  <a:pt x="63415" y="51816"/>
                  <a:pt x="77724" y="51816"/>
                </a:cubicBezTo>
                <a:lnTo>
                  <a:pt x="103632" y="51816"/>
                </a:lnTo>
                <a:moveTo>
                  <a:pt x="155448" y="142494"/>
                </a:moveTo>
                <a:lnTo>
                  <a:pt x="207264" y="142494"/>
                </a:lnTo>
                <a:moveTo>
                  <a:pt x="155448" y="207264"/>
                </a:moveTo>
                <a:lnTo>
                  <a:pt x="207264" y="207264"/>
                </a:lnTo>
                <a:moveTo>
                  <a:pt x="103632" y="142494"/>
                </a:moveTo>
                <a:lnTo>
                  <a:pt x="103762" y="142494"/>
                </a:lnTo>
                <a:moveTo>
                  <a:pt x="103632" y="207264"/>
                </a:moveTo>
                <a:lnTo>
                  <a:pt x="103762" y="207264"/>
                </a:lnTo>
              </a:path>
            </a:pathLst>
          </a:custGeom>
          <a:noFill/>
          <a:ln w="25908" cap="rnd">
            <a:solidFill>
              <a:srgbClr val="0B6E8A"/>
            </a:solidFill>
            <a:prstDash val="solid"/>
            <a:round/>
          </a:ln>
        </p:spPr>
      </p:sp>
      <p:sp>
        <p:nvSpPr>
          <p:cNvPr id="30" name="Text 28"/>
          <p:cNvSpPr/>
          <p:nvPr/>
        </p:nvSpPr>
        <p:spPr>
          <a:xfrm>
            <a:off x="7380995"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solicitudes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el trámite</a:t>
            </a:r>
            <a:endParaRPr lang="en-US" sz="1060" dirty="0"/>
          </a:p>
        </p:txBody>
      </p:sp>
      <p:sp>
        <p:nvSpPr>
          <p:cNvPr id="31" name="Shape 29"/>
          <p:cNvSpPr/>
          <p:nvPr/>
        </p:nvSpPr>
        <p:spPr>
          <a:xfrm>
            <a:off x="9148281" y="2106445"/>
            <a:ext cx="1885327" cy="682309"/>
          </a:xfrm>
          <a:prstGeom prst="roundRect">
            <a:avLst>
              <a:gd name="adj" fmla="val 1206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9239721" y="2237287"/>
            <a:ext cx="420624" cy="420624"/>
          </a:xfrm>
          <a:prstGeom prst="ellipse">
            <a:avLst/>
          </a:prstGeom>
          <a:solidFill>
            <a:srgbClr val="E3F4FA"/>
          </a:solidFill>
          <a:ln w="12700">
            <a:solidFill>
              <a:srgbClr val="E3F4FA"/>
            </a:solidFill>
            <a:prstDash val="solid"/>
          </a:ln>
        </p:spPr>
      </p:sp>
      <p:sp>
        <p:nvSpPr>
          <p:cNvPr id="33" name="Icono bell"/>
          <p:cNvSpPr/>
          <p:nvPr/>
        </p:nvSpPr>
        <p:spPr>
          <a:xfrm>
            <a:off x="9294585" y="22921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34" name="Text 32"/>
          <p:cNvSpPr/>
          <p:nvPr/>
        </p:nvSpPr>
        <p:spPr>
          <a:xfrm>
            <a:off x="9715209" y="2106445"/>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notificaciones</a:t>
            </a:r>
            <a:endParaRPr lang="en-US" sz="1060" dirty="0"/>
          </a:p>
          <a:p>
            <a:pPr algn="l" indent="0" marL="0">
              <a:lnSpc>
                <a:spcPct val="95000"/>
              </a:lnSpc>
              <a:buNone/>
            </a:pPr>
            <a:r>
              <a:rPr lang="en-US" sz="848" dirty="0">
                <a:solidFill>
                  <a:srgbClr val="55627E"/>
                </a:solidFill>
                <a:latin typeface="Segoe UI" pitchFamily="34" charset="0"/>
                <a:ea typeface="Segoe UI" pitchFamily="34" charset="-122"/>
                <a:cs typeface="Segoe UI" pitchFamily="34" charset="-120"/>
              </a:rPr>
              <a:t>los avisos</a:t>
            </a:r>
            <a:endParaRPr lang="en-US" sz="1060" dirty="0"/>
          </a:p>
        </p:txBody>
      </p:sp>
      <p:sp>
        <p:nvSpPr>
          <p:cNvPr id="35" name="Shape 33"/>
          <p:cNvSpPr/>
          <p:nvPr/>
        </p:nvSpPr>
        <p:spPr>
          <a:xfrm>
            <a:off x="6814067" y="3991772"/>
            <a:ext cx="1885327"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905507" y="4122614"/>
            <a:ext cx="420624" cy="420624"/>
          </a:xfrm>
          <a:prstGeom prst="ellipse">
            <a:avLst/>
          </a:prstGeom>
          <a:solidFill>
            <a:srgbClr val="E8EBEE"/>
          </a:solidFill>
          <a:ln w="12700">
            <a:solidFill>
              <a:srgbClr val="E8EBEE"/>
            </a:solidFill>
            <a:prstDash val="solid"/>
          </a:ln>
        </p:spPr>
      </p:sp>
      <p:sp>
        <p:nvSpPr>
          <p:cNvPr id="37" name="Icono database"/>
          <p:cNvSpPr/>
          <p:nvPr/>
        </p:nvSpPr>
        <p:spPr>
          <a:xfrm>
            <a:off x="6960371"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8" name="Text 36"/>
          <p:cNvSpPr/>
          <p:nvPr/>
        </p:nvSpPr>
        <p:spPr>
          <a:xfrm>
            <a:off x="7380995"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1060" b="1" dirty="0">
                <a:solidFill>
                  <a:srgbClr val="0B1A3C"/>
                </a:solidFill>
                <a:latin typeface="Segoe UI" pitchFamily="34" charset="0"/>
                <a:ea typeface="Segoe UI" pitchFamily="34" charset="-122"/>
                <a:cs typeface="Segoe UI" pitchFamily="34" charset="-120"/>
              </a:rPr>
              <a:t>db-solicitudes</a:t>
            </a:r>
            <a:endParaRPr lang="en-US" sz="1060" dirty="0"/>
          </a:p>
        </p:txBody>
      </p:sp>
      <p:sp>
        <p:nvSpPr>
          <p:cNvPr id="39" name="Shape 37"/>
          <p:cNvSpPr/>
          <p:nvPr/>
        </p:nvSpPr>
        <p:spPr>
          <a:xfrm>
            <a:off x="9148281" y="3991772"/>
            <a:ext cx="1885327" cy="682309"/>
          </a:xfrm>
          <a:prstGeom prst="roundRect">
            <a:avLst>
              <a:gd name="adj" fmla="val 1206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9239721" y="4122614"/>
            <a:ext cx="420624" cy="420624"/>
          </a:xfrm>
          <a:prstGeom prst="ellipse">
            <a:avLst/>
          </a:prstGeom>
          <a:solidFill>
            <a:srgbClr val="E8EBEE"/>
          </a:solidFill>
          <a:ln w="12700">
            <a:solidFill>
              <a:srgbClr val="E8EBEE"/>
            </a:solidFill>
            <a:prstDash val="solid"/>
          </a:ln>
        </p:spPr>
      </p:sp>
      <p:sp>
        <p:nvSpPr>
          <p:cNvPr id="41" name="Icono database"/>
          <p:cNvSpPr/>
          <p:nvPr/>
        </p:nvSpPr>
        <p:spPr>
          <a:xfrm>
            <a:off x="9294585" y="417747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2" name="Text 40"/>
          <p:cNvSpPr/>
          <p:nvPr/>
        </p:nvSpPr>
        <p:spPr>
          <a:xfrm>
            <a:off x="9715209" y="3991772"/>
            <a:ext cx="1263535" cy="682309"/>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db-notificaciones</a:t>
            </a:r>
            <a:endParaRPr lang="en-US" sz="933" dirty="0"/>
          </a:p>
        </p:txBody>
      </p:sp>
      <p:sp>
        <p:nvSpPr>
          <p:cNvPr id="43" name="Shape 41"/>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43"/>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comunican con un contrato: el evento SolicitudEnviada por HTTP.</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Cuándo conviene separar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Separar se decide por el negocio, no por moda.</a:t>
            </a:r>
            <a:endParaRPr lang="en-US" sz="1700" dirty="0"/>
          </a:p>
        </p:txBody>
      </p:sp>
      <p:sp>
        <p:nvSpPr>
          <p:cNvPr id="6" name="Shape 4"/>
          <p:cNvSpPr/>
          <p:nvPr/>
        </p:nvSpPr>
        <p:spPr>
          <a:xfrm>
            <a:off x="61264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8" name="Shape 6"/>
          <p:cNvSpPr/>
          <p:nvPr/>
        </p:nvSpPr>
        <p:spPr>
          <a:xfrm>
            <a:off x="612648" y="2267712"/>
            <a:ext cx="5163160" cy="365760"/>
          </a:xfrm>
          <a:prstGeom prst="rect">
            <a:avLst/>
          </a:prstGeom>
          <a:solidFill>
            <a:srgbClr val="55627E"/>
          </a:solidFill>
          <a:ln w="12700">
            <a:solidFill>
              <a:srgbClr val="55627E"/>
            </a:solidFill>
            <a:prstDash val="solid"/>
          </a:ln>
        </p:spPr>
      </p:sp>
      <p:sp>
        <p:nvSpPr>
          <p:cNvPr id="9" name="Shape 7"/>
          <p:cNvSpPr/>
          <p:nvPr/>
        </p:nvSpPr>
        <p:spPr>
          <a:xfrm>
            <a:off x="841248" y="1874520"/>
            <a:ext cx="603504" cy="603504"/>
          </a:xfrm>
          <a:prstGeom prst="ellipse">
            <a:avLst/>
          </a:prstGeom>
          <a:solidFill>
            <a:srgbClr val="FFFFFF"/>
          </a:solidFill>
          <a:ln w="12700">
            <a:solidFill>
              <a:srgbClr val="FFFFFF"/>
            </a:solidFill>
            <a:prstDash val="solid"/>
          </a:ln>
        </p:spPr>
      </p:sp>
      <p:sp>
        <p:nvSpPr>
          <p:cNvPr id="10" name="Icono box"/>
          <p:cNvSpPr/>
          <p:nvPr/>
        </p:nvSpPr>
        <p:spPr>
          <a:xfrm>
            <a:off x="986089" y="2019361"/>
            <a:ext cx="313822" cy="313822"/>
          </a:xfrm>
          <a:custGeom>
            <a:avLst/>
            <a:gdLst/>
            <a:ahLst/>
            <a:cxnLst/>
            <a:rect l="l" t="t" r="r" b="b"/>
            <a:pathLst>
              <a:path w="313822" h="313822">
                <a:moveTo>
                  <a:pt x="274594" y="104607"/>
                </a:moveTo>
                <a:cubicBezTo>
                  <a:pt x="274585" y="95274"/>
                  <a:pt x="269602" y="86653"/>
                  <a:pt x="261518" y="81986"/>
                </a:cubicBezTo>
                <a:lnTo>
                  <a:pt x="169987" y="29682"/>
                </a:lnTo>
                <a:cubicBezTo>
                  <a:pt x="161896" y="25011"/>
                  <a:pt x="151927" y="25011"/>
                  <a:pt x="143835" y="29682"/>
                </a:cubicBezTo>
                <a:lnTo>
                  <a:pt x="52304" y="81986"/>
                </a:lnTo>
                <a:cubicBezTo>
                  <a:pt x="44221" y="86653"/>
                  <a:pt x="39237" y="95274"/>
                  <a:pt x="39228" y="104607"/>
                </a:cubicBezTo>
                <a:lnTo>
                  <a:pt x="39228" y="209215"/>
                </a:lnTo>
                <a:cubicBezTo>
                  <a:pt x="39237" y="218548"/>
                  <a:pt x="44221" y="227169"/>
                  <a:pt x="52304" y="231836"/>
                </a:cubicBezTo>
                <a:lnTo>
                  <a:pt x="143835" y="284140"/>
                </a:lnTo>
                <a:cubicBezTo>
                  <a:pt x="151927" y="288811"/>
                  <a:pt x="161896" y="288811"/>
                  <a:pt x="169987" y="284140"/>
                </a:cubicBezTo>
                <a:lnTo>
                  <a:pt x="261518" y="231836"/>
                </a:lnTo>
                <a:cubicBezTo>
                  <a:pt x="269602" y="227169"/>
                  <a:pt x="274585" y="218548"/>
                  <a:pt x="274594" y="209215"/>
                </a:cubicBezTo>
                <a:close/>
                <a:moveTo>
                  <a:pt x="43151" y="91531"/>
                </a:moveTo>
                <a:lnTo>
                  <a:pt x="156911" y="156911"/>
                </a:lnTo>
                <a:lnTo>
                  <a:pt x="270672" y="91531"/>
                </a:lnTo>
                <a:moveTo>
                  <a:pt x="156911" y="287670"/>
                </a:moveTo>
                <a:lnTo>
                  <a:pt x="156911" y="156911"/>
                </a:lnTo>
              </a:path>
            </a:pathLst>
          </a:custGeom>
          <a:noFill/>
          <a:ln w="26152" cap="rnd">
            <a:solidFill>
              <a:srgbClr val="55627E"/>
            </a:solidFill>
            <a:prstDash val="solid"/>
            <a:round/>
          </a:ln>
        </p:spPr>
      </p:sp>
      <p:sp>
        <p:nvSpPr>
          <p:cNvPr id="11" name="Text 9"/>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un monolito</a:t>
            </a:r>
            <a:endParaRPr lang="en-US" sz="1900" dirty="0"/>
          </a:p>
        </p:txBody>
      </p:sp>
      <p:sp>
        <p:nvSpPr>
          <p:cNvPr id="12"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13" name="Text 11"/>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partes cambian juntas</a:t>
            </a:r>
            <a:endParaRPr lang="en-US" sz="1500" dirty="0"/>
          </a:p>
        </p:txBody>
      </p:sp>
      <p:sp>
        <p:nvSpPr>
          <p:cNvPr id="14" name="Shape 12"/>
          <p:cNvSpPr/>
          <p:nvPr/>
        </p:nvSpPr>
        <p:spPr>
          <a:xfrm>
            <a:off x="886968" y="3593592"/>
            <a:ext cx="4614520" cy="0"/>
          </a:xfrm>
          <a:prstGeom prst="line">
            <a:avLst/>
          </a:prstGeom>
          <a:noFill/>
          <a:ln w="9525">
            <a:solidFill>
              <a:srgbClr val="DFE6F0"/>
            </a:solidFill>
            <a:prstDash val="solid"/>
          </a:ln>
        </p:spPr>
      </p:sp>
      <p:sp>
        <p:nvSpPr>
          <p:cNvPr id="15"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16" name="Text 14"/>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 publica todo junto</a:t>
            </a:r>
            <a:endParaRPr lang="en-US" sz="1500" dirty="0"/>
          </a:p>
        </p:txBody>
      </p:sp>
      <p:sp>
        <p:nvSpPr>
          <p:cNvPr id="17" name="Shape 15"/>
          <p:cNvSpPr/>
          <p:nvPr/>
        </p:nvSpPr>
        <p:spPr>
          <a:xfrm>
            <a:off x="886968" y="4370832"/>
            <a:ext cx="4614520" cy="0"/>
          </a:xfrm>
          <a:prstGeom prst="line">
            <a:avLst/>
          </a:prstGeom>
          <a:noFill/>
          <a:ln w="9525">
            <a:solidFill>
              <a:srgbClr val="DFE6F0"/>
            </a:solidFill>
            <a:prstDash val="solid"/>
          </a:ln>
        </p:spPr>
      </p:sp>
      <p:sp>
        <p:nvSpPr>
          <p:cNvPr id="18"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19" name="Text 17"/>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carga es pareja</a:t>
            </a:r>
            <a:endParaRPr lang="en-US" sz="1500" dirty="0"/>
          </a:p>
        </p:txBody>
      </p:sp>
      <p:sp>
        <p:nvSpPr>
          <p:cNvPr id="20" name="Shape 18"/>
          <p:cNvSpPr/>
          <p:nvPr/>
        </p:nvSpPr>
        <p:spPr>
          <a:xfrm>
            <a:off x="886968" y="5148072"/>
            <a:ext cx="4614520" cy="0"/>
          </a:xfrm>
          <a:prstGeom prst="line">
            <a:avLst/>
          </a:prstGeom>
          <a:noFill/>
          <a:ln w="9525">
            <a:solidFill>
              <a:srgbClr val="DFE6F0"/>
            </a:solidFill>
            <a:prstDash val="solid"/>
          </a:ln>
        </p:spPr>
      </p:sp>
      <p:sp>
        <p:nvSpPr>
          <p:cNvPr id="21" name="Icono arrow-right"/>
          <p:cNvSpPr/>
          <p:nvPr/>
        </p:nvSpPr>
        <p:spPr>
          <a:xfrm>
            <a:off x="905256" y="537210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2" name="Text 20"/>
          <p:cNvSpPr/>
          <p:nvPr/>
        </p:nvSpPr>
        <p:spPr>
          <a:xfrm>
            <a:off x="139903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pequeño lo mantiene</a:t>
            </a:r>
            <a:endParaRPr lang="en-US" sz="1500" dirty="0"/>
          </a:p>
        </p:txBody>
      </p:sp>
      <p:sp>
        <p:nvSpPr>
          <p:cNvPr id="23" name="Shape 21"/>
          <p:cNvSpPr/>
          <p:nvPr/>
        </p:nvSpPr>
        <p:spPr>
          <a:xfrm>
            <a:off x="6415888" y="1719072"/>
            <a:ext cx="516316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25" name="Shape 23"/>
          <p:cNvSpPr/>
          <p:nvPr/>
        </p:nvSpPr>
        <p:spPr>
          <a:xfrm>
            <a:off x="6415888" y="2267712"/>
            <a:ext cx="5163160" cy="365760"/>
          </a:xfrm>
          <a:prstGeom prst="rect">
            <a:avLst/>
          </a:prstGeom>
          <a:solidFill>
            <a:srgbClr val="0B6E8A"/>
          </a:solidFill>
          <a:ln w="12700">
            <a:solidFill>
              <a:srgbClr val="0B6E8A"/>
            </a:solidFill>
            <a:prstDash val="solid"/>
          </a:ln>
        </p:spPr>
      </p:sp>
      <p:sp>
        <p:nvSpPr>
          <p:cNvPr id="26" name="Shape 24"/>
          <p:cNvSpPr/>
          <p:nvPr/>
        </p:nvSpPr>
        <p:spPr>
          <a:xfrm>
            <a:off x="6644488" y="1874520"/>
            <a:ext cx="603504" cy="603504"/>
          </a:xfrm>
          <a:prstGeom prst="ellipse">
            <a:avLst/>
          </a:prstGeom>
          <a:solidFill>
            <a:srgbClr val="FFFFFF"/>
          </a:solidFill>
          <a:ln w="12700">
            <a:solidFill>
              <a:srgbClr val="FFFFFF"/>
            </a:solidFill>
            <a:prstDash val="solid"/>
          </a:ln>
        </p:spPr>
      </p:sp>
      <p:sp>
        <p:nvSpPr>
          <p:cNvPr id="27" name="Icono boxes"/>
          <p:cNvSpPr/>
          <p:nvPr/>
        </p:nvSpPr>
        <p:spPr>
          <a:xfrm>
            <a:off x="6789329" y="2019361"/>
            <a:ext cx="313822" cy="313822"/>
          </a:xfrm>
          <a:custGeom>
            <a:avLst/>
            <a:gdLst/>
            <a:ahLst/>
            <a:cxnLst/>
            <a:rect l="l" t="t" r="r" b="b"/>
            <a:pathLst>
              <a:path w="313822" h="313822">
                <a:moveTo>
                  <a:pt x="38835" y="168941"/>
                </a:moveTo>
                <a:cubicBezTo>
                  <a:pt x="30983" y="173658"/>
                  <a:pt x="26172" y="182140"/>
                  <a:pt x="26152" y="191301"/>
                </a:cubicBezTo>
                <a:lnTo>
                  <a:pt x="26152" y="233667"/>
                </a:lnTo>
                <a:cubicBezTo>
                  <a:pt x="26172" y="242827"/>
                  <a:pt x="30983" y="251309"/>
                  <a:pt x="38835" y="256027"/>
                </a:cubicBezTo>
                <a:lnTo>
                  <a:pt x="78063" y="279563"/>
                </a:lnTo>
                <a:cubicBezTo>
                  <a:pt x="86352" y="284543"/>
                  <a:pt x="96711" y="284543"/>
                  <a:pt x="105000" y="279563"/>
                </a:cubicBezTo>
                <a:lnTo>
                  <a:pt x="156911" y="248442"/>
                </a:lnTo>
                <a:lnTo>
                  <a:pt x="156911" y="176525"/>
                </a:lnTo>
                <a:lnTo>
                  <a:pt x="91531" y="137297"/>
                </a:lnTo>
                <a:lnTo>
                  <a:pt x="38835" y="168941"/>
                </a:lnTo>
                <a:close/>
                <a:moveTo>
                  <a:pt x="91531" y="215753"/>
                </a:moveTo>
                <a:lnTo>
                  <a:pt x="29552" y="178486"/>
                </a:lnTo>
                <a:moveTo>
                  <a:pt x="91531" y="215753"/>
                </a:moveTo>
                <a:lnTo>
                  <a:pt x="156911" y="176525"/>
                </a:lnTo>
                <a:moveTo>
                  <a:pt x="91531" y="215753"/>
                </a:moveTo>
                <a:lnTo>
                  <a:pt x="91531" y="283355"/>
                </a:lnTo>
                <a:moveTo>
                  <a:pt x="156911" y="176525"/>
                </a:moveTo>
                <a:lnTo>
                  <a:pt x="156911" y="248442"/>
                </a:lnTo>
                <a:lnTo>
                  <a:pt x="208822" y="279563"/>
                </a:lnTo>
                <a:cubicBezTo>
                  <a:pt x="217111" y="284543"/>
                  <a:pt x="227470" y="284543"/>
                  <a:pt x="235759" y="279563"/>
                </a:cubicBezTo>
                <a:lnTo>
                  <a:pt x="274987" y="256027"/>
                </a:lnTo>
                <a:cubicBezTo>
                  <a:pt x="282839" y="251309"/>
                  <a:pt x="287650" y="242827"/>
                  <a:pt x="287670" y="233667"/>
                </a:cubicBezTo>
                <a:lnTo>
                  <a:pt x="287670" y="191301"/>
                </a:lnTo>
                <a:cubicBezTo>
                  <a:pt x="287650" y="182140"/>
                  <a:pt x="282839" y="173658"/>
                  <a:pt x="274987" y="168941"/>
                </a:cubicBezTo>
                <a:lnTo>
                  <a:pt x="222291" y="137297"/>
                </a:lnTo>
                <a:lnTo>
                  <a:pt x="156911" y="176525"/>
                </a:lnTo>
                <a:close/>
                <a:moveTo>
                  <a:pt x="222291" y="215753"/>
                </a:moveTo>
                <a:lnTo>
                  <a:pt x="156911" y="176525"/>
                </a:lnTo>
                <a:moveTo>
                  <a:pt x="222291" y="215753"/>
                </a:moveTo>
                <a:lnTo>
                  <a:pt x="284271" y="178486"/>
                </a:lnTo>
                <a:moveTo>
                  <a:pt x="222291" y="215753"/>
                </a:moveTo>
                <a:lnTo>
                  <a:pt x="222291" y="283355"/>
                </a:lnTo>
                <a:moveTo>
                  <a:pt x="104215" y="57796"/>
                </a:moveTo>
                <a:cubicBezTo>
                  <a:pt x="96363" y="62513"/>
                  <a:pt x="91552" y="70995"/>
                  <a:pt x="91531" y="80155"/>
                </a:cubicBezTo>
                <a:lnTo>
                  <a:pt x="91531" y="137297"/>
                </a:lnTo>
                <a:lnTo>
                  <a:pt x="156911" y="176525"/>
                </a:lnTo>
                <a:lnTo>
                  <a:pt x="222291" y="137297"/>
                </a:lnTo>
                <a:lnTo>
                  <a:pt x="222291" y="80155"/>
                </a:lnTo>
                <a:cubicBezTo>
                  <a:pt x="222271" y="70995"/>
                  <a:pt x="217459" y="62513"/>
                  <a:pt x="209607" y="57796"/>
                </a:cubicBezTo>
                <a:lnTo>
                  <a:pt x="170379" y="34259"/>
                </a:lnTo>
                <a:cubicBezTo>
                  <a:pt x="162091" y="29279"/>
                  <a:pt x="151731" y="29279"/>
                  <a:pt x="143443" y="34259"/>
                </a:cubicBezTo>
                <a:lnTo>
                  <a:pt x="104215" y="57796"/>
                </a:lnTo>
                <a:close/>
                <a:moveTo>
                  <a:pt x="156911" y="104607"/>
                </a:moveTo>
                <a:lnTo>
                  <a:pt x="94931" y="67341"/>
                </a:lnTo>
                <a:moveTo>
                  <a:pt x="156911" y="104607"/>
                </a:moveTo>
                <a:lnTo>
                  <a:pt x="218891" y="67341"/>
                </a:lnTo>
                <a:moveTo>
                  <a:pt x="156911" y="176525"/>
                </a:moveTo>
                <a:lnTo>
                  <a:pt x="156911" y="104607"/>
                </a:lnTo>
              </a:path>
            </a:pathLst>
          </a:custGeom>
          <a:noFill/>
          <a:ln w="26152" cap="rnd">
            <a:solidFill>
              <a:srgbClr val="0B6E8A"/>
            </a:solidFill>
            <a:prstDash val="solid"/>
            <a:round/>
          </a:ln>
        </p:spPr>
      </p:sp>
      <p:sp>
        <p:nvSpPr>
          <p:cNvPr id="28" name="Text 26"/>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Conviene separar</a:t>
            </a:r>
            <a:endParaRPr lang="en-US" sz="1900" dirty="0"/>
          </a:p>
        </p:txBody>
      </p:sp>
      <p:sp>
        <p:nvSpPr>
          <p:cNvPr id="29"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0" name="Text 28"/>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Responsabilidades claramente distintas</a:t>
            </a:r>
            <a:endParaRPr lang="en-US" sz="1500" dirty="0"/>
          </a:p>
        </p:txBody>
      </p:sp>
      <p:sp>
        <p:nvSpPr>
          <p:cNvPr id="31" name="Shape 29"/>
          <p:cNvSpPr/>
          <p:nvPr/>
        </p:nvSpPr>
        <p:spPr>
          <a:xfrm>
            <a:off x="6690208" y="3593592"/>
            <a:ext cx="4614520" cy="0"/>
          </a:xfrm>
          <a:prstGeom prst="line">
            <a:avLst/>
          </a:prstGeom>
          <a:noFill/>
          <a:ln w="9525">
            <a:solidFill>
              <a:srgbClr val="DFE6F0"/>
            </a:solidFill>
            <a:prstDash val="solid"/>
          </a:ln>
        </p:spPr>
      </p:sp>
      <p:sp>
        <p:nvSpPr>
          <p:cNvPr id="32"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3" name="Text 31"/>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salir sola</a:t>
            </a:r>
            <a:endParaRPr lang="en-US" sz="1500" dirty="0"/>
          </a:p>
        </p:txBody>
      </p:sp>
      <p:sp>
        <p:nvSpPr>
          <p:cNvPr id="34" name="Shape 32"/>
          <p:cNvSpPr/>
          <p:nvPr/>
        </p:nvSpPr>
        <p:spPr>
          <a:xfrm>
            <a:off x="6690208" y="4370832"/>
            <a:ext cx="4614520" cy="0"/>
          </a:xfrm>
          <a:prstGeom prst="line">
            <a:avLst/>
          </a:prstGeom>
          <a:noFill/>
          <a:ln w="9525">
            <a:solidFill>
              <a:srgbClr val="DFE6F0"/>
            </a:solidFill>
            <a:prstDash val="solid"/>
          </a:ln>
        </p:spPr>
      </p:sp>
      <p:sp>
        <p:nvSpPr>
          <p:cNvPr id="35"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6" name="Text 34"/>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Una parte necesita más recursos</a:t>
            </a:r>
            <a:endParaRPr lang="en-US" sz="1500" dirty="0"/>
          </a:p>
        </p:txBody>
      </p:sp>
      <p:sp>
        <p:nvSpPr>
          <p:cNvPr id="37" name="Shape 35"/>
          <p:cNvSpPr/>
          <p:nvPr/>
        </p:nvSpPr>
        <p:spPr>
          <a:xfrm>
            <a:off x="6690208" y="5148072"/>
            <a:ext cx="4614520" cy="0"/>
          </a:xfrm>
          <a:prstGeom prst="line">
            <a:avLst/>
          </a:prstGeom>
          <a:noFill/>
          <a:ln w="9525">
            <a:solidFill>
              <a:srgbClr val="DFE6F0"/>
            </a:solidFill>
            <a:prstDash val="solid"/>
          </a:ln>
        </p:spPr>
      </p:sp>
      <p:sp>
        <p:nvSpPr>
          <p:cNvPr id="38" name="Icono circle-check"/>
          <p:cNvSpPr/>
          <p:nvPr/>
        </p:nvSpPr>
        <p:spPr>
          <a:xfrm>
            <a:off x="6708496" y="537210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9" name="Text 37"/>
          <p:cNvSpPr/>
          <p:nvPr/>
        </p:nvSpPr>
        <p:spPr>
          <a:xfrm>
            <a:off x="7202272" y="514807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Un equipo dueño de cada parte</a:t>
            </a:r>
            <a:endParaRPr lang="en-US" sz="1500" dirty="0"/>
          </a:p>
        </p:txBody>
      </p:sp>
      <p:sp>
        <p:nvSpPr>
          <p:cNvPr id="40" name="Text 38"/>
          <p:cNvSpPr/>
          <p:nvPr/>
        </p:nvSpPr>
        <p:spPr>
          <a:xfrm>
            <a:off x="5766664" y="3707892"/>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database"/>
          <p:cNvSpPr/>
          <p:nvPr/>
        </p:nvSpPr>
        <p:spPr>
          <a:xfrm>
            <a:off x="9098280" y="1783080"/>
            <a:ext cx="1371600" cy="1371600"/>
          </a:xfrm>
          <a:custGeom>
            <a:avLst/>
            <a:gdLst/>
            <a:ahLst/>
            <a:cxnLst/>
            <a:rect l="l" t="t" r="r" b="b"/>
            <a:pathLst>
              <a:path w="1371600" h="1371600">
                <a:moveTo>
                  <a:pt x="1200150" y="285750"/>
                </a:moveTo>
                <a:cubicBezTo>
                  <a:pt x="1200150" y="380439"/>
                  <a:pt x="969868" y="457200"/>
                  <a:pt x="685800" y="457200"/>
                </a:cubicBezTo>
                <a:cubicBezTo>
                  <a:pt x="401732" y="457200"/>
                  <a:pt x="171450" y="380439"/>
                  <a:pt x="171450" y="285750"/>
                </a:cubicBezTo>
                <a:cubicBezTo>
                  <a:pt x="171450" y="191061"/>
                  <a:pt x="401732" y="114300"/>
                  <a:pt x="685800" y="114300"/>
                </a:cubicBezTo>
                <a:cubicBezTo>
                  <a:pt x="969868" y="114300"/>
                  <a:pt x="1200150" y="191061"/>
                  <a:pt x="1200150" y="285750"/>
                </a:cubicBezTo>
                <a:close/>
                <a:moveTo>
                  <a:pt x="171450" y="285750"/>
                </a:moveTo>
                <a:lnTo>
                  <a:pt x="171450" y="1085850"/>
                </a:lnTo>
                <a:cubicBezTo>
                  <a:pt x="171450" y="1180539"/>
                  <a:pt x="401732" y="1257300"/>
                  <a:pt x="685800" y="1257300"/>
                </a:cubicBezTo>
                <a:cubicBezTo>
                  <a:pt x="969868" y="1257300"/>
                  <a:pt x="1200150" y="1180539"/>
                  <a:pt x="1200150" y="1085850"/>
                </a:cubicBezTo>
                <a:lnTo>
                  <a:pt x="1200150" y="285750"/>
                </a:lnTo>
                <a:moveTo>
                  <a:pt x="171450" y="685800"/>
                </a:moveTo>
                <a:cubicBezTo>
                  <a:pt x="171450" y="780489"/>
                  <a:pt x="401732" y="857250"/>
                  <a:pt x="685800" y="857250"/>
                </a:cubicBezTo>
                <a:cubicBezTo>
                  <a:pt x="969868" y="857250"/>
                  <a:pt x="1200150" y="780489"/>
                  <a:pt x="1200150" y="685800"/>
                </a:cubicBez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4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374B70"/>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04</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Guardar sin perder datos</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Qué hicimos para que un aviso nunca se pierda ni se duplique.</a:t>
            </a:r>
            <a:endParaRPr lang="en-US" sz="1900" dirty="0"/>
          </a:p>
        </p:txBody>
      </p:sp>
      <p:sp>
        <p:nvSpPr>
          <p:cNvPr id="16" name="Text 14"/>
          <p:cNvSpPr/>
          <p:nvPr/>
        </p:nvSpPr>
        <p:spPr>
          <a:xfrm>
            <a:off x="758952" y="4663440"/>
            <a:ext cx="237744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Modelado y consultas</a:t>
            </a:r>
            <a:endParaRPr lang="en-US" sz="1300" dirty="0"/>
          </a:p>
        </p:txBody>
      </p:sp>
      <p:sp>
        <p:nvSpPr>
          <p:cNvPr id="17" name="Text 15"/>
          <p:cNvSpPr/>
          <p:nvPr/>
        </p:nvSpPr>
        <p:spPr>
          <a:xfrm>
            <a:off x="3264408" y="4663440"/>
            <a:ext cx="35295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Adaptador con base de datos real</a:t>
            </a:r>
            <a:endParaRPr lang="en-US" sz="1300" dirty="0"/>
          </a:p>
        </p:txBody>
      </p:sp>
      <p:sp>
        <p:nvSpPr>
          <p:cNvPr id="18" name="Text 16"/>
          <p:cNvSpPr/>
          <p:nvPr/>
        </p:nvSpPr>
        <p:spPr>
          <a:xfrm>
            <a:off x="6922008" y="466344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El problema de la consistencia</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P4</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4 · Base de datos</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adaptador conectado a una base real</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JPA traduce entre objetos y tablas.</a:t>
            </a:r>
            <a:endParaRPr lang="en-US" sz="3200" dirty="0"/>
          </a:p>
        </p:txBody>
      </p:sp>
      <p:sp>
        <p:nvSpPr>
          <p:cNvPr id="7" name="Icono file-code"/>
          <p:cNvSpPr/>
          <p:nvPr/>
        </p:nvSpPr>
        <p:spPr>
          <a:xfrm>
            <a:off x="628192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8" name="Text 6"/>
          <p:cNvSpPr/>
          <p:nvPr/>
        </p:nvSpPr>
        <p:spPr>
          <a:xfrm>
            <a:off x="6556248" y="1371600"/>
            <a:ext cx="50227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servicio-solicitudes/src/main/resources/application.properties</a:t>
            </a:r>
            <a:endParaRPr lang="en-US" sz="900" dirty="0"/>
          </a:p>
        </p:txBody>
      </p:sp>
      <p:sp>
        <p:nvSpPr>
          <p:cNvPr id="9" name="Text 7"/>
          <p:cNvSpPr/>
          <p:nvPr/>
        </p:nvSpPr>
        <p:spPr>
          <a:xfrm>
            <a:off x="6281928" y="1645920"/>
            <a:ext cx="529711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800" dirty="0">
                <a:solidFill>
                  <a:srgbClr val="7FD3EA"/>
                </a:solidFill>
                <a:latin typeface="Consolas" pitchFamily="34" charset="0"/>
                <a:ea typeface="Consolas" pitchFamily="34" charset="-122"/>
                <a:cs typeface="Consolas" pitchFamily="34" charset="-120"/>
              </a:rPr>
              <a:t>spring.datasource.url</a:t>
            </a:r>
            <a:pPr indent="0" marL="0">
              <a:lnSpc>
                <a:spcPct val="110000"/>
              </a:lnSpc>
              <a:buNone/>
            </a:pPr>
            <a:r>
              <a:rPr lang="en-US" sz="8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800" dirty="0">
                <a:solidFill>
                  <a:srgbClr val="FFB38A"/>
                </a:solidFill>
                <a:latin typeface="Consolas" pitchFamily="34" charset="0"/>
                <a:ea typeface="Consolas" pitchFamily="34" charset="-122"/>
                <a:cs typeface="Consolas" pitchFamily="34" charset="-120"/>
              </a:rPr>
              <a:t>${DB_URL:jdbc:postgresql://localhost:5432/db-solicitudes}</a:t>
            </a:r>
            <a:endParaRPr lang="en-US" sz="800" dirty="0"/>
          </a:p>
          <a:p>
            <a:pPr indent="0" marL="0">
              <a:lnSpc>
                <a:spcPct val="110000"/>
              </a:lnSpc>
              <a:buNone/>
            </a:pPr>
            <a:r>
              <a:rPr lang="en-US" sz="800" dirty="0">
                <a:solidFill>
                  <a:srgbClr val="7FD3EA"/>
                </a:solidFill>
                <a:latin typeface="Consolas" pitchFamily="34" charset="0"/>
                <a:ea typeface="Consolas" pitchFamily="34" charset="-122"/>
                <a:cs typeface="Consolas" pitchFamily="34" charset="-120"/>
              </a:rPr>
              <a:t>spring.sql.init.mode</a:t>
            </a:r>
            <a:pPr indent="0" marL="0">
              <a:lnSpc>
                <a:spcPct val="110000"/>
              </a:lnSpc>
              <a:buNone/>
            </a:pPr>
            <a:r>
              <a:rPr lang="en-US" sz="800" dirty="0">
                <a:solidFill>
                  <a:srgbClr val="E8EDF8"/>
                </a:solidFill>
                <a:latin typeface="Consolas" pitchFamily="34" charset="0"/>
                <a:ea typeface="Consolas" pitchFamily="34" charset="-122"/>
                <a:cs typeface="Consolas" pitchFamily="34" charset="-120"/>
              </a:rPr>
              <a:t>=always</a:t>
            </a:r>
            <a:endParaRPr lang="en-US" sz="800" dirty="0"/>
          </a:p>
          <a:p>
            <a:pPr indent="0" marL="0">
              <a:lnSpc>
                <a:spcPct val="110000"/>
              </a:lnSpc>
              <a:buNone/>
            </a:pPr>
            <a:r>
              <a:rPr lang="en-US" sz="800" dirty="0">
                <a:solidFill>
                  <a:srgbClr val="7FD3EA"/>
                </a:solidFill>
                <a:latin typeface="Consolas" pitchFamily="34" charset="0"/>
                <a:ea typeface="Consolas" pitchFamily="34" charset="-122"/>
                <a:cs typeface="Consolas" pitchFamily="34" charset="-120"/>
              </a:rPr>
              <a:t>spring.jpa.hibernate.ddl-auto</a:t>
            </a:r>
            <a:pPr indent="0" marL="0">
              <a:lnSpc>
                <a:spcPct val="110000"/>
              </a:lnSpc>
              <a:buNone/>
            </a:pPr>
            <a:r>
              <a:rPr lang="en-US" sz="800" dirty="0">
                <a:solidFill>
                  <a:srgbClr val="E8EDF8"/>
                </a:solidFill>
                <a:latin typeface="Consolas" pitchFamily="34" charset="0"/>
                <a:ea typeface="Consolas" pitchFamily="34" charset="-122"/>
                <a:cs typeface="Consolas" pitchFamily="34" charset="-120"/>
              </a:rPr>
              <a:t>=validate</a:t>
            </a:r>
            <a:endParaRPr lang="en-US" sz="800" dirty="0"/>
          </a:p>
        </p:txBody>
      </p:sp>
      <p:sp>
        <p:nvSpPr>
          <p:cNvPr id="10" name="Text 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guarda el trámite y sus eventos</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Notificaciones guarda qué eventos ya recibió</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texto del aviso vive en memoria</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 hay relación directa entre las dos bases</a:t>
            </a:r>
            <a:endParaRPr lang="en-US" sz="1100" dirty="0"/>
          </a:p>
        </p:txBody>
      </p:sp>
      <p:sp>
        <p:nvSpPr>
          <p:cNvPr id="9" name="Shape 7"/>
          <p:cNvSpPr/>
          <p:nvPr/>
        </p:nvSpPr>
        <p:spPr>
          <a:xfrm>
            <a:off x="795421" y="2063145"/>
            <a:ext cx="5117653" cy="3107146"/>
          </a:xfrm>
          <a:prstGeom prst="roundRect">
            <a:avLst>
              <a:gd name="adj" fmla="val 3531"/>
            </a:avLst>
          </a:prstGeom>
          <a:solidFill>
            <a:srgbClr val="F4F7FB"/>
          </a:solidFill>
          <a:ln w="12700">
            <a:solidFill>
              <a:srgbClr val="DFE6F0"/>
            </a:solidFill>
            <a:prstDash val="solid"/>
          </a:ln>
        </p:spPr>
      </p:sp>
      <p:sp>
        <p:nvSpPr>
          <p:cNvPr id="10" name="Text 8"/>
          <p:cNvSpPr/>
          <p:nvPr/>
        </p:nvSpPr>
        <p:spPr>
          <a:xfrm>
            <a:off x="868573" y="2118009"/>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11" name="Shape 9"/>
          <p:cNvSpPr/>
          <p:nvPr/>
        </p:nvSpPr>
        <p:spPr>
          <a:xfrm>
            <a:off x="6278621" y="2063145"/>
            <a:ext cx="5117653" cy="3107146"/>
          </a:xfrm>
          <a:prstGeom prst="roundRect">
            <a:avLst>
              <a:gd name="adj" fmla="val 3531"/>
            </a:avLst>
          </a:prstGeom>
          <a:solidFill>
            <a:srgbClr val="F4F7FB"/>
          </a:solidFill>
          <a:ln w="12700">
            <a:solidFill>
              <a:srgbClr val="DFE6F0"/>
            </a:solidFill>
            <a:prstDash val="solid"/>
          </a:ln>
        </p:spPr>
      </p:sp>
      <p:sp>
        <p:nvSpPr>
          <p:cNvPr id="12" name="Text 10"/>
          <p:cNvSpPr/>
          <p:nvPr/>
        </p:nvSpPr>
        <p:spPr>
          <a:xfrm>
            <a:off x="6351773" y="2118009"/>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13" name="Shape 11"/>
          <p:cNvSpPr/>
          <p:nvPr/>
        </p:nvSpPr>
        <p:spPr>
          <a:xfrm>
            <a:off x="2166221" y="3159785"/>
            <a:ext cx="0" cy="822480"/>
          </a:xfrm>
          <a:prstGeom prst="line">
            <a:avLst/>
          </a:prstGeom>
          <a:noFill/>
          <a:ln w="31750">
            <a:solidFill>
              <a:srgbClr val="55627E"/>
            </a:solidFill>
            <a:prstDash val="sysDot"/>
            <a:tailEnd type="triangle"/>
          </a:ln>
        </p:spPr>
      </p:sp>
      <p:sp>
        <p:nvSpPr>
          <p:cNvPr id="14" name="Text 12"/>
          <p:cNvSpPr/>
          <p:nvPr/>
        </p:nvSpPr>
        <p:spPr>
          <a:xfrm>
            <a:off x="2257608" y="3452132"/>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a:t>
            </a:r>
            <a:endParaRPr lang="en-US" sz="850" dirty="0"/>
          </a:p>
        </p:txBody>
      </p:sp>
      <p:sp>
        <p:nvSpPr>
          <p:cNvPr id="15" name="Text 13"/>
          <p:cNvSpPr/>
          <p:nvPr/>
        </p:nvSpPr>
        <p:spPr>
          <a:xfrm>
            <a:off x="2056493"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542274" y="3159785"/>
            <a:ext cx="0" cy="822480"/>
          </a:xfrm>
          <a:prstGeom prst="line">
            <a:avLst/>
          </a:prstGeom>
          <a:noFill/>
          <a:ln w="31750">
            <a:solidFill>
              <a:srgbClr val="55627E"/>
            </a:solidFill>
            <a:prstDash val="sysDot"/>
            <a:tailEnd type="triangle"/>
          </a:ln>
        </p:spPr>
      </p:sp>
      <p:sp>
        <p:nvSpPr>
          <p:cNvPr id="17" name="Text 15"/>
          <p:cNvSpPr/>
          <p:nvPr/>
        </p:nvSpPr>
        <p:spPr>
          <a:xfrm>
            <a:off x="4633661" y="3452132"/>
            <a:ext cx="656539"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18" name="Text 16"/>
          <p:cNvSpPr/>
          <p:nvPr/>
        </p:nvSpPr>
        <p:spPr>
          <a:xfrm>
            <a:off x="4432546"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9" name="Shape 17"/>
          <p:cNvSpPr/>
          <p:nvPr/>
        </p:nvSpPr>
        <p:spPr>
          <a:xfrm>
            <a:off x="7649421" y="3159785"/>
            <a:ext cx="0" cy="822480"/>
          </a:xfrm>
          <a:prstGeom prst="line">
            <a:avLst/>
          </a:prstGeom>
          <a:noFill/>
          <a:ln w="31750">
            <a:solidFill>
              <a:srgbClr val="55627E"/>
            </a:solidFill>
            <a:prstDash val="sysDot"/>
            <a:tailEnd type="triangle"/>
          </a:ln>
        </p:spPr>
      </p:sp>
      <p:sp>
        <p:nvSpPr>
          <p:cNvPr id="20" name="Text 18"/>
          <p:cNvSpPr/>
          <p:nvPr/>
        </p:nvSpPr>
        <p:spPr>
          <a:xfrm>
            <a:off x="7740807" y="3452132"/>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agrega</a:t>
            </a:r>
            <a:endParaRPr lang="en-US" sz="850" dirty="0"/>
          </a:p>
        </p:txBody>
      </p:sp>
      <p:sp>
        <p:nvSpPr>
          <p:cNvPr id="21" name="Text 19"/>
          <p:cNvSpPr/>
          <p:nvPr/>
        </p:nvSpPr>
        <p:spPr>
          <a:xfrm>
            <a:off x="7539693"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2" name="Shape 20"/>
          <p:cNvSpPr/>
          <p:nvPr/>
        </p:nvSpPr>
        <p:spPr>
          <a:xfrm>
            <a:off x="10025474" y="3159785"/>
            <a:ext cx="0" cy="822480"/>
          </a:xfrm>
          <a:prstGeom prst="line">
            <a:avLst/>
          </a:prstGeom>
          <a:noFill/>
          <a:ln w="31750">
            <a:solidFill>
              <a:srgbClr val="55627E"/>
            </a:solidFill>
            <a:prstDash val="sysDot"/>
            <a:tailEnd type="triangle"/>
          </a:ln>
        </p:spPr>
      </p:sp>
      <p:sp>
        <p:nvSpPr>
          <p:cNvPr id="23" name="Text 21"/>
          <p:cNvSpPr/>
          <p:nvPr/>
        </p:nvSpPr>
        <p:spPr>
          <a:xfrm>
            <a:off x="10116861" y="3452132"/>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 id</a:t>
            </a:r>
            <a:endParaRPr lang="en-US" sz="850" dirty="0"/>
          </a:p>
        </p:txBody>
      </p:sp>
      <p:sp>
        <p:nvSpPr>
          <p:cNvPr id="24" name="Text 22"/>
          <p:cNvSpPr/>
          <p:nvPr/>
        </p:nvSpPr>
        <p:spPr>
          <a:xfrm>
            <a:off x="9915746" y="32693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5" name="Shape 23"/>
          <p:cNvSpPr/>
          <p:nvPr/>
        </p:nvSpPr>
        <p:spPr>
          <a:xfrm>
            <a:off x="1160968" y="2520079"/>
            <a:ext cx="4386560" cy="639707"/>
          </a:xfrm>
          <a:prstGeom prst="roundRect">
            <a:avLst>
              <a:gd name="adj" fmla="val 12865"/>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252408" y="2629620"/>
            <a:ext cx="420624" cy="420624"/>
          </a:xfrm>
          <a:prstGeom prst="ellipse">
            <a:avLst/>
          </a:prstGeom>
          <a:solidFill>
            <a:srgbClr val="E2E5EA"/>
          </a:solidFill>
          <a:ln w="12700">
            <a:solidFill>
              <a:srgbClr val="E2E5EA"/>
            </a:solidFill>
            <a:prstDash val="solid"/>
          </a:ln>
        </p:spPr>
      </p:sp>
      <p:sp>
        <p:nvSpPr>
          <p:cNvPr id="27" name="Icono server"/>
          <p:cNvSpPr/>
          <p:nvPr/>
        </p:nvSpPr>
        <p:spPr>
          <a:xfrm>
            <a:off x="1307272" y="2684484"/>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8" name="Text 26"/>
          <p:cNvSpPr/>
          <p:nvPr/>
        </p:nvSpPr>
        <p:spPr>
          <a:xfrm>
            <a:off x="1727896" y="2520079"/>
            <a:ext cx="3764768" cy="63970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Proceso Java de 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ServicioDeSolicitudes</a:t>
            </a:r>
            <a:endParaRPr lang="en-US" sz="1079" dirty="0"/>
          </a:p>
        </p:txBody>
      </p:sp>
      <p:sp>
        <p:nvSpPr>
          <p:cNvPr id="29" name="Shape 27"/>
          <p:cNvSpPr/>
          <p:nvPr/>
        </p:nvSpPr>
        <p:spPr>
          <a:xfrm>
            <a:off x="1160968" y="3982265"/>
            <a:ext cx="2010507" cy="913867"/>
          </a:xfrm>
          <a:prstGeom prst="roundRect">
            <a:avLst>
              <a:gd name="adj" fmla="val 9005"/>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1252408" y="4228887"/>
            <a:ext cx="420624" cy="420624"/>
          </a:xfrm>
          <a:prstGeom prst="ellipse">
            <a:avLst/>
          </a:prstGeom>
          <a:solidFill>
            <a:srgbClr val="E8EBEE"/>
          </a:solidFill>
          <a:ln w="12700">
            <a:solidFill>
              <a:srgbClr val="E8EBEE"/>
            </a:solidFill>
            <a:prstDash val="solid"/>
          </a:ln>
        </p:spPr>
      </p:sp>
      <p:sp>
        <p:nvSpPr>
          <p:cNvPr id="31" name="Icono database"/>
          <p:cNvSpPr/>
          <p:nvPr/>
        </p:nvSpPr>
        <p:spPr>
          <a:xfrm>
            <a:off x="1307272" y="42837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1727896"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solicitud</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id · tipo · estado</a:t>
            </a:r>
            <a:endParaRPr lang="en-US" sz="1079" dirty="0"/>
          </a:p>
        </p:txBody>
      </p:sp>
      <p:sp>
        <p:nvSpPr>
          <p:cNvPr id="33" name="Shape 31"/>
          <p:cNvSpPr/>
          <p:nvPr/>
        </p:nvSpPr>
        <p:spPr>
          <a:xfrm>
            <a:off x="3537021" y="3982265"/>
            <a:ext cx="2010507" cy="913867"/>
          </a:xfrm>
          <a:prstGeom prst="roundRect">
            <a:avLst>
              <a:gd name="adj" fmla="val 9005"/>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3628461" y="4228887"/>
            <a:ext cx="420624" cy="420624"/>
          </a:xfrm>
          <a:prstGeom prst="ellipse">
            <a:avLst/>
          </a:prstGeom>
          <a:solidFill>
            <a:srgbClr val="E8EBEE"/>
          </a:solidFill>
          <a:ln w="12700">
            <a:solidFill>
              <a:srgbClr val="E8EBEE"/>
            </a:solidFill>
            <a:prstDash val="solid"/>
          </a:ln>
        </p:spPr>
      </p:sp>
      <p:sp>
        <p:nvSpPr>
          <p:cNvPr id="35" name="Icono database"/>
          <p:cNvSpPr/>
          <p:nvPr/>
        </p:nvSpPr>
        <p:spPr>
          <a:xfrm>
            <a:off x="3683325" y="42837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6" name="Text 34"/>
          <p:cNvSpPr/>
          <p:nvPr/>
        </p:nvSpPr>
        <p:spPr>
          <a:xfrm>
            <a:off x="4103949"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evento</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evento_id · procesado</a:t>
            </a:r>
            <a:endParaRPr lang="en-US" sz="1079" dirty="0"/>
          </a:p>
        </p:txBody>
      </p:sp>
      <p:sp>
        <p:nvSpPr>
          <p:cNvPr id="37" name="Shape 35"/>
          <p:cNvSpPr/>
          <p:nvPr/>
        </p:nvSpPr>
        <p:spPr>
          <a:xfrm>
            <a:off x="6644168" y="2520079"/>
            <a:ext cx="4386560" cy="639707"/>
          </a:xfrm>
          <a:prstGeom prst="roundRect">
            <a:avLst>
              <a:gd name="adj" fmla="val 12865"/>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735608" y="2629620"/>
            <a:ext cx="420624" cy="420624"/>
          </a:xfrm>
          <a:prstGeom prst="ellipse">
            <a:avLst/>
          </a:prstGeom>
          <a:solidFill>
            <a:srgbClr val="E2E5EA"/>
          </a:solidFill>
          <a:ln w="12700">
            <a:solidFill>
              <a:srgbClr val="E2E5EA"/>
            </a:solidFill>
            <a:prstDash val="solid"/>
          </a:ln>
        </p:spPr>
      </p:sp>
      <p:sp>
        <p:nvSpPr>
          <p:cNvPr id="39" name="Icono server"/>
          <p:cNvSpPr/>
          <p:nvPr/>
        </p:nvSpPr>
        <p:spPr>
          <a:xfrm>
            <a:off x="6790472" y="2684484"/>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40" name="Text 38"/>
          <p:cNvSpPr/>
          <p:nvPr/>
        </p:nvSpPr>
        <p:spPr>
          <a:xfrm>
            <a:off x="7211096" y="2520079"/>
            <a:ext cx="3764768" cy="63970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Proceso Java de notificaciones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ConsumoIdempotente</a:t>
            </a:r>
            <a:endParaRPr lang="en-US" sz="1079" dirty="0"/>
          </a:p>
        </p:txBody>
      </p:sp>
      <p:sp>
        <p:nvSpPr>
          <p:cNvPr id="41" name="Shape 39"/>
          <p:cNvSpPr/>
          <p:nvPr/>
        </p:nvSpPr>
        <p:spPr>
          <a:xfrm>
            <a:off x="6644168" y="3982265"/>
            <a:ext cx="2010507" cy="913867"/>
          </a:xfrm>
          <a:prstGeom prst="roundRect">
            <a:avLst>
              <a:gd name="adj" fmla="val 9005"/>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42" name="Shape 40"/>
          <p:cNvSpPr/>
          <p:nvPr/>
        </p:nvSpPr>
        <p:spPr>
          <a:xfrm>
            <a:off x="6735608" y="4228887"/>
            <a:ext cx="420624" cy="420624"/>
          </a:xfrm>
          <a:prstGeom prst="ellipse">
            <a:avLst/>
          </a:prstGeom>
          <a:solidFill>
            <a:srgbClr val="E2E5EA"/>
          </a:solidFill>
          <a:ln w="12700">
            <a:solidFill>
              <a:srgbClr val="E2E5EA"/>
            </a:solidFill>
            <a:prstDash val="solid"/>
          </a:ln>
        </p:spPr>
      </p:sp>
      <p:sp>
        <p:nvSpPr>
          <p:cNvPr id="43" name="Icono bell"/>
          <p:cNvSpPr/>
          <p:nvPr/>
        </p:nvSpPr>
        <p:spPr>
          <a:xfrm>
            <a:off x="6790472" y="4283751"/>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44" name="Text 42"/>
          <p:cNvSpPr/>
          <p:nvPr/>
        </p:nvSpPr>
        <p:spPr>
          <a:xfrm>
            <a:off x="7211096"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5C3404"/>
                </a:solidFill>
                <a:latin typeface="Segoe UI" pitchFamily="34" charset="0"/>
                <a:ea typeface="Segoe UI" pitchFamily="34" charset="-122"/>
                <a:cs typeface="Segoe UI" pitchFamily="34" charset="-120"/>
              </a:rPr>
              <a:t>Avisos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lista en memoria</a:t>
            </a:r>
            <a:endParaRPr lang="en-US" sz="1079" dirty="0"/>
          </a:p>
        </p:txBody>
      </p:sp>
      <p:sp>
        <p:nvSpPr>
          <p:cNvPr id="45" name="Shape 43"/>
          <p:cNvSpPr/>
          <p:nvPr/>
        </p:nvSpPr>
        <p:spPr>
          <a:xfrm>
            <a:off x="9020221" y="3982265"/>
            <a:ext cx="2010507" cy="913867"/>
          </a:xfrm>
          <a:prstGeom prst="roundRect">
            <a:avLst>
              <a:gd name="adj" fmla="val 9005"/>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9111661" y="4228887"/>
            <a:ext cx="420624" cy="420624"/>
          </a:xfrm>
          <a:prstGeom prst="ellipse">
            <a:avLst/>
          </a:prstGeom>
          <a:solidFill>
            <a:srgbClr val="E8EBEE"/>
          </a:solidFill>
          <a:ln w="12700">
            <a:solidFill>
              <a:srgbClr val="E8EBEE"/>
            </a:solidFill>
            <a:prstDash val="solid"/>
          </a:ln>
        </p:spPr>
      </p:sp>
      <p:sp>
        <p:nvSpPr>
          <p:cNvPr id="47" name="Icono database"/>
          <p:cNvSpPr/>
          <p:nvPr/>
        </p:nvSpPr>
        <p:spPr>
          <a:xfrm>
            <a:off x="9166525" y="428375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8" name="Text 46"/>
          <p:cNvSpPr/>
          <p:nvPr/>
        </p:nvSpPr>
        <p:spPr>
          <a:xfrm>
            <a:off x="9587149" y="3982265"/>
            <a:ext cx="1388715" cy="913867"/>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evento_procesado</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evento_id</a:t>
            </a:r>
            <a:endParaRPr lang="en-US" sz="1079" dirty="0"/>
          </a:p>
        </p:txBody>
      </p:sp>
      <p:sp>
        <p:nvSpPr>
          <p:cNvPr id="49" name="Shape 47"/>
          <p:cNvSpPr/>
          <p:nvPr/>
        </p:nvSpPr>
        <p:spPr>
          <a:xfrm>
            <a:off x="3902568" y="5444452"/>
            <a:ext cx="4386560" cy="584875"/>
          </a:xfrm>
          <a:prstGeom prst="roundRect">
            <a:avLst>
              <a:gd name="adj" fmla="val 1407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0" name="Shape 48"/>
          <p:cNvSpPr/>
          <p:nvPr/>
        </p:nvSpPr>
        <p:spPr>
          <a:xfrm>
            <a:off x="3994008" y="5529958"/>
            <a:ext cx="413863" cy="413863"/>
          </a:xfrm>
          <a:prstGeom prst="ellipse">
            <a:avLst/>
          </a:prstGeom>
          <a:solidFill>
            <a:srgbClr val="E2E5EA"/>
          </a:solidFill>
          <a:ln w="12700">
            <a:solidFill>
              <a:srgbClr val="E2E5EA"/>
            </a:solidFill>
            <a:prstDash val="solid"/>
          </a:ln>
        </p:spPr>
      </p:sp>
      <p:sp>
        <p:nvSpPr>
          <p:cNvPr id="51" name="Icono split"/>
          <p:cNvSpPr/>
          <p:nvPr/>
        </p:nvSpPr>
        <p:spPr>
          <a:xfrm>
            <a:off x="4048872" y="5584822"/>
            <a:ext cx="304135" cy="304135"/>
          </a:xfrm>
          <a:custGeom>
            <a:avLst/>
            <a:gdLst/>
            <a:ahLst/>
            <a:cxnLst/>
            <a:rect l="l" t="t" r="r" b="b"/>
            <a:pathLst>
              <a:path w="304135" h="304135">
                <a:moveTo>
                  <a:pt x="202757" y="38017"/>
                </a:moveTo>
                <a:lnTo>
                  <a:pt x="266118" y="38017"/>
                </a:lnTo>
                <a:lnTo>
                  <a:pt x="266118" y="101378"/>
                </a:lnTo>
                <a:moveTo>
                  <a:pt x="101378" y="38017"/>
                </a:moveTo>
                <a:lnTo>
                  <a:pt x="38017" y="38017"/>
                </a:lnTo>
                <a:lnTo>
                  <a:pt x="38017" y="101378"/>
                </a:lnTo>
                <a:moveTo>
                  <a:pt x="152067" y="278790"/>
                </a:moveTo>
                <a:lnTo>
                  <a:pt x="152067" y="173610"/>
                </a:lnTo>
                <a:cubicBezTo>
                  <a:pt x="152214" y="159975"/>
                  <a:pt x="146860" y="146856"/>
                  <a:pt x="137215" y="137215"/>
                </a:cubicBezTo>
                <a:lnTo>
                  <a:pt x="38017" y="38017"/>
                </a:lnTo>
                <a:moveTo>
                  <a:pt x="190084" y="114051"/>
                </a:moveTo>
                <a:lnTo>
                  <a:pt x="266118" y="38017"/>
                </a:lnTo>
              </a:path>
            </a:pathLst>
          </a:custGeom>
          <a:noFill/>
          <a:ln w="25345" cap="rnd">
            <a:solidFill>
              <a:srgbClr val="0B2350"/>
            </a:solidFill>
            <a:prstDash val="solid"/>
            <a:round/>
          </a:ln>
        </p:spPr>
      </p:sp>
      <p:sp>
        <p:nvSpPr>
          <p:cNvPr id="52" name="Text 50"/>
          <p:cNvSpPr/>
          <p:nvPr/>
        </p:nvSpPr>
        <p:spPr>
          <a:xfrm>
            <a:off x="4462735" y="5444452"/>
            <a:ext cx="3771529" cy="584875"/>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Sin FK entre bases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el vínculo es el contrato del evento por HTTP</a:t>
            </a:r>
            <a:endParaRPr lang="en-US" sz="1079"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E3F4FA"/>
          </a:solidFill>
          <a:ln w="22225">
            <a:solidFill>
              <a:srgbClr val="2BA6CB"/>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F4F7FB"/>
          </a:solidFill>
          <a:ln w="12700">
            <a:solidFill>
              <a:srgbClr val="DFE6F0"/>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47625">
            <a:solidFill>
              <a:srgbClr val="2BA6CB"/>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31750">
            <a:solidFill>
              <a:srgbClr val="CBD5E3"/>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31750">
            <a:solidFill>
              <a:srgbClr val="CBD5E3"/>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31750">
            <a:solidFill>
              <a:srgbClr val="CBD5E3"/>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2" name="Shape 20"/>
          <p:cNvSpPr/>
          <p:nvPr/>
        </p:nvSpPr>
        <p:spPr>
          <a:xfrm>
            <a:off x="1743304" y="1957913"/>
            <a:ext cx="409285" cy="409285"/>
          </a:xfrm>
          <a:prstGeom prst="ellipse">
            <a:avLst/>
          </a:prstGeom>
          <a:solidFill>
            <a:srgbClr val="E3F4FA"/>
          </a:solidFill>
          <a:ln w="12700">
            <a:solidFill>
              <a:srgbClr val="E3F4F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6E8A"/>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6" name="Shape 24"/>
          <p:cNvSpPr/>
          <p:nvPr/>
        </p:nvSpPr>
        <p:spPr>
          <a:xfrm>
            <a:off x="1743304" y="3392424"/>
            <a:ext cx="420624" cy="420624"/>
          </a:xfrm>
          <a:prstGeom prst="ellipse">
            <a:avLst/>
          </a:prstGeom>
          <a:solidFill>
            <a:srgbClr val="E3F4FA"/>
          </a:solidFill>
          <a:ln w="12700">
            <a:solidFill>
              <a:srgbClr val="E3F4FA"/>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3F6FA"/>
          </a:solidFill>
          <a:ln w="12700">
            <a:solidFill>
              <a:srgbClr val="D5DDE8"/>
            </a:solidFill>
            <a:prstDash val="solid"/>
          </a:ln>
        </p:spPr>
      </p:sp>
      <p:sp>
        <p:nvSpPr>
          <p:cNvPr id="30" name="Shape 28"/>
          <p:cNvSpPr/>
          <p:nvPr/>
        </p:nvSpPr>
        <p:spPr>
          <a:xfrm>
            <a:off x="3883000" y="3392424"/>
            <a:ext cx="420624" cy="420624"/>
          </a:xfrm>
          <a:prstGeom prst="ellipse">
            <a:avLst/>
          </a:prstGeom>
          <a:solidFill>
            <a:srgbClr val="EEF2F7"/>
          </a:solidFill>
          <a:ln w="12700">
            <a:solidFill>
              <a:srgbClr val="EEF2F7"/>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12700">
            <a:solidFill>
              <a:srgbClr val="D5DDE8"/>
            </a:solidFill>
            <a:prstDash val="solid"/>
          </a:ln>
        </p:spPr>
      </p:sp>
      <p:sp>
        <p:nvSpPr>
          <p:cNvPr id="34" name="Shape 32"/>
          <p:cNvSpPr/>
          <p:nvPr/>
        </p:nvSpPr>
        <p:spPr>
          <a:xfrm>
            <a:off x="6681064" y="1957913"/>
            <a:ext cx="409285" cy="409285"/>
          </a:xfrm>
          <a:prstGeom prst="ellipse">
            <a:avLst/>
          </a:prstGeom>
          <a:solidFill>
            <a:srgbClr val="EEF2F7"/>
          </a:solidFill>
          <a:ln w="12700">
            <a:solidFill>
              <a:srgbClr val="EEF2F7"/>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A9B4C6"/>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12700">
            <a:solidFill>
              <a:srgbClr val="A85D08"/>
            </a:solidFill>
            <a:prstDash val="dash"/>
          </a:ln>
        </p:spPr>
      </p:sp>
      <p:sp>
        <p:nvSpPr>
          <p:cNvPr id="38" name="Shape 36"/>
          <p:cNvSpPr/>
          <p:nvPr/>
        </p:nvSpPr>
        <p:spPr>
          <a:xfrm>
            <a:off x="6681064" y="3392424"/>
            <a:ext cx="420624" cy="420624"/>
          </a:xfrm>
          <a:prstGeom prst="ellipse">
            <a:avLst/>
          </a:prstGeom>
          <a:solidFill>
            <a:srgbClr val="EEF2F7"/>
          </a:solidFill>
          <a:ln w="12700">
            <a:solidFill>
              <a:srgbClr val="EEF2F7"/>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A9B4C6"/>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3F6FA"/>
          </a:solidFill>
          <a:ln w="12700">
            <a:solidFill>
              <a:srgbClr val="D5DDE8"/>
            </a:solidFill>
            <a:prstDash val="solid"/>
          </a:ln>
        </p:spPr>
      </p:sp>
      <p:sp>
        <p:nvSpPr>
          <p:cNvPr id="42" name="Shape 40"/>
          <p:cNvSpPr/>
          <p:nvPr/>
        </p:nvSpPr>
        <p:spPr>
          <a:xfrm>
            <a:off x="8820760" y="3392424"/>
            <a:ext cx="420624" cy="420624"/>
          </a:xfrm>
          <a:prstGeom prst="ellipse">
            <a:avLst/>
          </a:prstGeom>
          <a:solidFill>
            <a:srgbClr val="EEF2F7"/>
          </a:solidFill>
          <a:ln w="12700">
            <a:solidFill>
              <a:srgbClr val="EEF2F7"/>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BFCFE"/>
          </a:solidFill>
          <a:ln w="12700">
            <a:solidFill>
              <a:srgbClr val="D5DDE8"/>
            </a:solidFill>
            <a:prstDash val="solid"/>
          </a:ln>
        </p:spPr>
      </p:sp>
      <p:sp>
        <p:nvSpPr>
          <p:cNvPr id="46" name="Shape 44"/>
          <p:cNvSpPr/>
          <p:nvPr/>
        </p:nvSpPr>
        <p:spPr>
          <a:xfrm>
            <a:off x="4212184" y="4579535"/>
            <a:ext cx="383609" cy="383609"/>
          </a:xfrm>
          <a:prstGeom prst="ellipse">
            <a:avLst/>
          </a:prstGeom>
          <a:solidFill>
            <a:srgbClr val="EEF2F7"/>
          </a:solidFill>
          <a:ln w="12700">
            <a:solidFill>
              <a:srgbClr val="EEF2F7"/>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A9B4C6"/>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51" name="Text 4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el trámite en su propia base de datos.</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F4F7FB"/>
          </a:solidFill>
          <a:ln w="12700">
            <a:solidFill>
              <a:srgbClr val="DFE6F0"/>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F4F7FB"/>
          </a:solidFill>
          <a:ln w="12700">
            <a:solidFill>
              <a:srgbClr val="DFE6F0"/>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31750">
            <a:solidFill>
              <a:srgbClr val="55627E"/>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47625">
            <a:solidFill>
              <a:srgbClr val="2BA6CB"/>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31750">
            <a:solidFill>
              <a:srgbClr val="CBD5E3"/>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31750">
            <a:solidFill>
              <a:srgbClr val="CBD5E3"/>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1743304" y="1957913"/>
            <a:ext cx="409285" cy="409285"/>
          </a:xfrm>
          <a:prstGeom prst="ellipse">
            <a:avLst/>
          </a:prstGeom>
          <a:solidFill>
            <a:srgbClr val="E2E5EA"/>
          </a:solidFill>
          <a:ln w="12700">
            <a:solidFill>
              <a:srgbClr val="E2E5E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743304" y="3392424"/>
            <a:ext cx="420624" cy="420624"/>
          </a:xfrm>
          <a:prstGeom prst="ellipse">
            <a:avLst/>
          </a:prstGeom>
          <a:solidFill>
            <a:srgbClr val="E8EBEE"/>
          </a:solidFill>
          <a:ln w="12700">
            <a:solidFill>
              <a:srgbClr val="E8EBEE"/>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0" name="Shape 28"/>
          <p:cNvSpPr/>
          <p:nvPr/>
        </p:nvSpPr>
        <p:spPr>
          <a:xfrm>
            <a:off x="3883000" y="3392424"/>
            <a:ext cx="420624" cy="420624"/>
          </a:xfrm>
          <a:prstGeom prst="ellipse">
            <a:avLst/>
          </a:prstGeom>
          <a:solidFill>
            <a:srgbClr val="E3F4FA"/>
          </a:solidFill>
          <a:ln w="12700">
            <a:solidFill>
              <a:srgbClr val="E3F4FA"/>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12700">
            <a:solidFill>
              <a:srgbClr val="D5DDE8"/>
            </a:solidFill>
            <a:prstDash val="solid"/>
          </a:ln>
        </p:spPr>
      </p:sp>
      <p:sp>
        <p:nvSpPr>
          <p:cNvPr id="34" name="Shape 32"/>
          <p:cNvSpPr/>
          <p:nvPr/>
        </p:nvSpPr>
        <p:spPr>
          <a:xfrm>
            <a:off x="6681064" y="1957913"/>
            <a:ext cx="409285" cy="409285"/>
          </a:xfrm>
          <a:prstGeom prst="ellipse">
            <a:avLst/>
          </a:prstGeom>
          <a:solidFill>
            <a:srgbClr val="EEF2F7"/>
          </a:solidFill>
          <a:ln w="12700">
            <a:solidFill>
              <a:srgbClr val="EEF2F7"/>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A9B4C6"/>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12700">
            <a:solidFill>
              <a:srgbClr val="A85D08"/>
            </a:solidFill>
            <a:prstDash val="dash"/>
          </a:ln>
        </p:spPr>
      </p:sp>
      <p:sp>
        <p:nvSpPr>
          <p:cNvPr id="38" name="Shape 36"/>
          <p:cNvSpPr/>
          <p:nvPr/>
        </p:nvSpPr>
        <p:spPr>
          <a:xfrm>
            <a:off x="6681064" y="3392424"/>
            <a:ext cx="420624" cy="420624"/>
          </a:xfrm>
          <a:prstGeom prst="ellipse">
            <a:avLst/>
          </a:prstGeom>
          <a:solidFill>
            <a:srgbClr val="EEF2F7"/>
          </a:solidFill>
          <a:ln w="12700">
            <a:solidFill>
              <a:srgbClr val="EEF2F7"/>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A9B4C6"/>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3F6FA"/>
          </a:solidFill>
          <a:ln w="12700">
            <a:solidFill>
              <a:srgbClr val="D5DDE8"/>
            </a:solidFill>
            <a:prstDash val="solid"/>
          </a:ln>
        </p:spPr>
      </p:sp>
      <p:sp>
        <p:nvSpPr>
          <p:cNvPr id="42" name="Shape 40"/>
          <p:cNvSpPr/>
          <p:nvPr/>
        </p:nvSpPr>
        <p:spPr>
          <a:xfrm>
            <a:off x="8820760" y="3392424"/>
            <a:ext cx="420624" cy="420624"/>
          </a:xfrm>
          <a:prstGeom prst="ellipse">
            <a:avLst/>
          </a:prstGeom>
          <a:solidFill>
            <a:srgbClr val="EEF2F7"/>
          </a:solidFill>
          <a:ln w="12700">
            <a:solidFill>
              <a:srgbClr val="EEF2F7"/>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8A95AB"/>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9AA5B8"/>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BFCFE"/>
          </a:solidFill>
          <a:ln w="12700">
            <a:solidFill>
              <a:srgbClr val="D5DDE8"/>
            </a:solidFill>
            <a:prstDash val="solid"/>
          </a:ln>
        </p:spPr>
      </p:sp>
      <p:sp>
        <p:nvSpPr>
          <p:cNvPr id="46" name="Shape 44"/>
          <p:cNvSpPr/>
          <p:nvPr/>
        </p:nvSpPr>
        <p:spPr>
          <a:xfrm>
            <a:off x="4212184" y="4579535"/>
            <a:ext cx="383609" cy="383609"/>
          </a:xfrm>
          <a:prstGeom prst="ellipse">
            <a:avLst/>
          </a:prstGeom>
          <a:solidFill>
            <a:srgbClr val="EEF2F7"/>
          </a:solidFill>
          <a:ln w="12700">
            <a:solidFill>
              <a:srgbClr val="EEF2F7"/>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A9B4C6"/>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1" name="Text 4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esa misma base anota el evento pendiente, para no perder la intención de avisar.</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F4F7FB"/>
          </a:solidFill>
          <a:ln w="12700">
            <a:solidFill>
              <a:srgbClr val="DFE6F0"/>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E3F4FA"/>
          </a:solidFill>
          <a:ln w="22225">
            <a:solidFill>
              <a:srgbClr val="2BA6CB"/>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31750">
            <a:solidFill>
              <a:srgbClr val="55627E"/>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31750">
            <a:solidFill>
              <a:srgbClr val="55627E"/>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31750">
            <a:solidFill>
              <a:srgbClr val="CBD5E3"/>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47625">
            <a:solidFill>
              <a:srgbClr val="2BA6CB"/>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1743304" y="1957913"/>
            <a:ext cx="409285" cy="409285"/>
          </a:xfrm>
          <a:prstGeom prst="ellipse">
            <a:avLst/>
          </a:prstGeom>
          <a:solidFill>
            <a:srgbClr val="E2E5EA"/>
          </a:solidFill>
          <a:ln w="12700">
            <a:solidFill>
              <a:srgbClr val="E2E5E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743304" y="3392424"/>
            <a:ext cx="420624" cy="420624"/>
          </a:xfrm>
          <a:prstGeom prst="ellipse">
            <a:avLst/>
          </a:prstGeom>
          <a:solidFill>
            <a:srgbClr val="E8EBEE"/>
          </a:solidFill>
          <a:ln w="12700">
            <a:solidFill>
              <a:srgbClr val="E8EBEE"/>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3883000" y="3392424"/>
            <a:ext cx="420624" cy="420624"/>
          </a:xfrm>
          <a:prstGeom prst="ellipse">
            <a:avLst/>
          </a:prstGeom>
          <a:solidFill>
            <a:srgbClr val="E8EBEE"/>
          </a:solidFill>
          <a:ln w="12700">
            <a:solidFill>
              <a:srgbClr val="E8EBEE"/>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6681064" y="1957913"/>
            <a:ext cx="409285" cy="409285"/>
          </a:xfrm>
          <a:prstGeom prst="ellipse">
            <a:avLst/>
          </a:prstGeom>
          <a:solidFill>
            <a:srgbClr val="E3F4FA"/>
          </a:solidFill>
          <a:ln w="12700">
            <a:solidFill>
              <a:srgbClr val="E3F4FA"/>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6E8A"/>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12700">
            <a:solidFill>
              <a:srgbClr val="A85D08"/>
            </a:solidFill>
            <a:prstDash val="dash"/>
          </a:ln>
        </p:spPr>
      </p:sp>
      <p:sp>
        <p:nvSpPr>
          <p:cNvPr id="38" name="Shape 36"/>
          <p:cNvSpPr/>
          <p:nvPr/>
        </p:nvSpPr>
        <p:spPr>
          <a:xfrm>
            <a:off x="6681064" y="3392424"/>
            <a:ext cx="420624" cy="420624"/>
          </a:xfrm>
          <a:prstGeom prst="ellipse">
            <a:avLst/>
          </a:prstGeom>
          <a:solidFill>
            <a:srgbClr val="EEF2F7"/>
          </a:solidFill>
          <a:ln w="12700">
            <a:solidFill>
              <a:srgbClr val="EEF2F7"/>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A9B4C6"/>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2" name="Shape 40"/>
          <p:cNvSpPr/>
          <p:nvPr/>
        </p:nvSpPr>
        <p:spPr>
          <a:xfrm>
            <a:off x="8820760" y="3392424"/>
            <a:ext cx="420624" cy="420624"/>
          </a:xfrm>
          <a:prstGeom prst="ellipse">
            <a:avLst/>
          </a:prstGeom>
          <a:solidFill>
            <a:srgbClr val="E3F4FA"/>
          </a:solidFill>
          <a:ln w="12700">
            <a:solidFill>
              <a:srgbClr val="E3F4FA"/>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BFCFE"/>
          </a:solidFill>
          <a:ln w="12700">
            <a:solidFill>
              <a:srgbClr val="D5DDE8"/>
            </a:solidFill>
            <a:prstDash val="solid"/>
          </a:ln>
        </p:spPr>
      </p:sp>
      <p:sp>
        <p:nvSpPr>
          <p:cNvPr id="46" name="Shape 44"/>
          <p:cNvSpPr/>
          <p:nvPr/>
        </p:nvSpPr>
        <p:spPr>
          <a:xfrm>
            <a:off x="4212184" y="4579535"/>
            <a:ext cx="383609" cy="383609"/>
          </a:xfrm>
          <a:prstGeom prst="ellipse">
            <a:avLst/>
          </a:prstGeom>
          <a:solidFill>
            <a:srgbClr val="EEF2F7"/>
          </a:solidFill>
          <a:ln w="12700">
            <a:solidFill>
              <a:srgbClr val="EEF2F7"/>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A9B4C6"/>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1" name="Text 4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los números de evento que ya recibió.</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F4F7FB"/>
          </a:solidFill>
          <a:ln w="12700">
            <a:solidFill>
              <a:srgbClr val="DFE6F0"/>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F4F7FB"/>
          </a:solidFill>
          <a:ln w="12700">
            <a:solidFill>
              <a:srgbClr val="DFE6F0"/>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31750">
            <a:solidFill>
              <a:srgbClr val="55627E"/>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31750">
            <a:solidFill>
              <a:srgbClr val="55627E"/>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47625">
            <a:solidFill>
              <a:srgbClr val="2BA6CB"/>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31750">
            <a:solidFill>
              <a:srgbClr val="55627E"/>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1743304" y="1957913"/>
            <a:ext cx="409285" cy="409285"/>
          </a:xfrm>
          <a:prstGeom prst="ellipse">
            <a:avLst/>
          </a:prstGeom>
          <a:solidFill>
            <a:srgbClr val="E2E5EA"/>
          </a:solidFill>
          <a:ln w="12700">
            <a:solidFill>
              <a:srgbClr val="E2E5E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743304" y="3392424"/>
            <a:ext cx="420624" cy="420624"/>
          </a:xfrm>
          <a:prstGeom prst="ellipse">
            <a:avLst/>
          </a:prstGeom>
          <a:solidFill>
            <a:srgbClr val="E8EBEE"/>
          </a:solidFill>
          <a:ln w="12700">
            <a:solidFill>
              <a:srgbClr val="E8EBEE"/>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3883000" y="3392424"/>
            <a:ext cx="420624" cy="420624"/>
          </a:xfrm>
          <a:prstGeom prst="ellipse">
            <a:avLst/>
          </a:prstGeom>
          <a:solidFill>
            <a:srgbClr val="E8EBEE"/>
          </a:solidFill>
          <a:ln w="12700">
            <a:solidFill>
              <a:srgbClr val="E8EBEE"/>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6681064" y="1957913"/>
            <a:ext cx="409285" cy="409285"/>
          </a:xfrm>
          <a:prstGeom prst="ellipse">
            <a:avLst/>
          </a:prstGeom>
          <a:solidFill>
            <a:srgbClr val="E2E5EA"/>
          </a:solidFill>
          <a:ln w="12700">
            <a:solidFill>
              <a:srgbClr val="E2E5EA"/>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28575">
            <a:solidFill>
              <a:srgbClr val="2BA6CB"/>
            </a:solidFill>
            <a:prstDash val="dash"/>
          </a:ln>
          <a:effectLst>
            <a:outerShdw sx="100000" sy="100000" kx="0" ky="0" algn="bl" rotWithShape="0" blurRad="114300" dist="50800" dir="16200000">
              <a:srgbClr val="2BA6CB">
                <a:alpha val="60000"/>
              </a:srgbClr>
            </a:outerShdw>
          </a:effectLst>
        </p:spPr>
      </p:sp>
      <p:sp>
        <p:nvSpPr>
          <p:cNvPr id="38" name="Shape 36"/>
          <p:cNvSpPr/>
          <p:nvPr/>
        </p:nvSpPr>
        <p:spPr>
          <a:xfrm>
            <a:off x="6681064" y="3392424"/>
            <a:ext cx="420624" cy="420624"/>
          </a:xfrm>
          <a:prstGeom prst="ellipse">
            <a:avLst/>
          </a:prstGeom>
          <a:solidFill>
            <a:srgbClr val="E3F4FA"/>
          </a:solidFill>
          <a:ln w="12700">
            <a:solidFill>
              <a:srgbClr val="E3F4FA"/>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6E8A"/>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5C3404"/>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820760" y="3392424"/>
            <a:ext cx="420624" cy="420624"/>
          </a:xfrm>
          <a:prstGeom prst="ellipse">
            <a:avLst/>
          </a:prstGeom>
          <a:solidFill>
            <a:srgbClr val="E8EBEE"/>
          </a:solidFill>
          <a:ln w="12700">
            <a:solidFill>
              <a:srgbClr val="E8EBEE"/>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BFCFE"/>
          </a:solidFill>
          <a:ln w="12700">
            <a:solidFill>
              <a:srgbClr val="D5DDE8"/>
            </a:solidFill>
            <a:prstDash val="solid"/>
          </a:ln>
        </p:spPr>
      </p:sp>
      <p:sp>
        <p:nvSpPr>
          <p:cNvPr id="46" name="Shape 44"/>
          <p:cNvSpPr/>
          <p:nvPr/>
        </p:nvSpPr>
        <p:spPr>
          <a:xfrm>
            <a:off x="4212184" y="4579535"/>
            <a:ext cx="383609" cy="383609"/>
          </a:xfrm>
          <a:prstGeom prst="ellipse">
            <a:avLst/>
          </a:prstGeom>
          <a:solidFill>
            <a:srgbClr val="EEF2F7"/>
          </a:solidFill>
          <a:ln w="12700">
            <a:solidFill>
              <a:srgbClr val="EEF2F7"/>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A9B4C6"/>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1" name="Text 4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texto del aviso vive en memoria: si el servicio se reinicia, se pierde el texto, pero no el registro.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22680" y="1463040"/>
            <a:ext cx="4608576" cy="2798064"/>
          </a:xfrm>
          <a:prstGeom prst="roundRect">
            <a:avLst>
              <a:gd name="adj" fmla="val 3922"/>
            </a:avLst>
          </a:prstGeom>
          <a:solidFill>
            <a:srgbClr val="F4F7FB"/>
          </a:solidFill>
          <a:ln w="12700">
            <a:solidFill>
              <a:srgbClr val="DFE6F0"/>
            </a:solidFill>
            <a:prstDash val="solid"/>
          </a:ln>
        </p:spPr>
      </p:sp>
      <p:sp>
        <p:nvSpPr>
          <p:cNvPr id="6" name="Text 4"/>
          <p:cNvSpPr/>
          <p:nvPr/>
        </p:nvSpPr>
        <p:spPr>
          <a:xfrm>
            <a:off x="1395832" y="1517904"/>
            <a:ext cx="18084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60440" y="1463040"/>
            <a:ext cx="4608576" cy="2798064"/>
          </a:xfrm>
          <a:prstGeom prst="roundRect">
            <a:avLst>
              <a:gd name="adj" fmla="val 3922"/>
            </a:avLst>
          </a:prstGeom>
          <a:solidFill>
            <a:srgbClr val="F4F7FB"/>
          </a:solidFill>
          <a:ln w="12700">
            <a:solidFill>
              <a:srgbClr val="DFE6F0"/>
            </a:solidFill>
            <a:prstDash val="solid"/>
          </a:ln>
        </p:spPr>
      </p:sp>
      <p:sp>
        <p:nvSpPr>
          <p:cNvPr id="8" name="Text 6"/>
          <p:cNvSpPr/>
          <p:nvPr/>
        </p:nvSpPr>
        <p:spPr>
          <a:xfrm>
            <a:off x="6333592" y="1517904"/>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57120" y="2450592"/>
            <a:ext cx="0" cy="740664"/>
          </a:xfrm>
          <a:prstGeom prst="line">
            <a:avLst/>
          </a:prstGeom>
          <a:noFill/>
          <a:ln w="31750">
            <a:solidFill>
              <a:srgbClr val="55627E"/>
            </a:solidFill>
            <a:prstDash val="sysDot"/>
            <a:tailEnd type="triangle"/>
          </a:ln>
        </p:spPr>
      </p:sp>
      <p:sp>
        <p:nvSpPr>
          <p:cNvPr id="10" name="Text 8"/>
          <p:cNvSpPr/>
          <p:nvPr/>
        </p:nvSpPr>
        <p:spPr>
          <a:xfrm>
            <a:off x="263941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4739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696816" y="2450592"/>
            <a:ext cx="0" cy="740664"/>
          </a:xfrm>
          <a:prstGeom prst="line">
            <a:avLst/>
          </a:prstGeom>
          <a:noFill/>
          <a:ln w="31750">
            <a:solidFill>
              <a:srgbClr val="55627E"/>
            </a:solidFill>
            <a:prstDash val="sysDot"/>
            <a:tailEnd type="triangle"/>
          </a:ln>
        </p:spPr>
      </p:sp>
      <p:sp>
        <p:nvSpPr>
          <p:cNvPr id="13" name="Text 11"/>
          <p:cNvSpPr/>
          <p:nvPr/>
        </p:nvSpPr>
        <p:spPr>
          <a:xfrm>
            <a:off x="4779112" y="26983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8708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94880" y="2450592"/>
            <a:ext cx="0" cy="740664"/>
          </a:xfrm>
          <a:prstGeom prst="line">
            <a:avLst/>
          </a:prstGeom>
          <a:noFill/>
          <a:ln w="31750">
            <a:solidFill>
              <a:srgbClr val="55627E"/>
            </a:solidFill>
            <a:prstDash val="sysDot"/>
            <a:tailEnd type="triangle"/>
          </a:ln>
        </p:spPr>
      </p:sp>
      <p:sp>
        <p:nvSpPr>
          <p:cNvPr id="16" name="Text 14"/>
          <p:cNvSpPr/>
          <p:nvPr/>
        </p:nvSpPr>
        <p:spPr>
          <a:xfrm>
            <a:off x="7577176" y="26983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85152"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34576" y="2450592"/>
            <a:ext cx="0" cy="740664"/>
          </a:xfrm>
          <a:prstGeom prst="line">
            <a:avLst/>
          </a:prstGeom>
          <a:noFill/>
          <a:ln w="31750">
            <a:solidFill>
              <a:srgbClr val="55627E"/>
            </a:solidFill>
            <a:prstDash val="sysDot"/>
            <a:tailEnd type="triangle"/>
          </a:ln>
        </p:spPr>
      </p:sp>
      <p:sp>
        <p:nvSpPr>
          <p:cNvPr id="19" name="Text 17"/>
          <p:cNvSpPr/>
          <p:nvPr/>
        </p:nvSpPr>
        <p:spPr>
          <a:xfrm>
            <a:off x="9716872" y="26983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24848" y="25383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Shape 19"/>
          <p:cNvSpPr/>
          <p:nvPr/>
        </p:nvSpPr>
        <p:spPr>
          <a:xfrm>
            <a:off x="165186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1743304" y="1957913"/>
            <a:ext cx="409285" cy="409285"/>
          </a:xfrm>
          <a:prstGeom prst="ellipse">
            <a:avLst/>
          </a:prstGeom>
          <a:solidFill>
            <a:srgbClr val="E2E5EA"/>
          </a:solidFill>
          <a:ln w="12700">
            <a:solidFill>
              <a:srgbClr val="E2E5EA"/>
            </a:solidFill>
            <a:prstDash val="solid"/>
          </a:ln>
        </p:spPr>
      </p:sp>
      <p:sp>
        <p:nvSpPr>
          <p:cNvPr id="23" name="Icono server"/>
          <p:cNvSpPr/>
          <p:nvPr/>
        </p:nvSpPr>
        <p:spPr>
          <a:xfrm>
            <a:off x="179816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24" name="Text 22"/>
          <p:cNvSpPr/>
          <p:nvPr/>
        </p:nvSpPr>
        <p:spPr>
          <a:xfrm>
            <a:off x="220745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72" dirty="0"/>
          </a:p>
        </p:txBody>
      </p:sp>
      <p:sp>
        <p:nvSpPr>
          <p:cNvPr id="25" name="Shape 23"/>
          <p:cNvSpPr/>
          <p:nvPr/>
        </p:nvSpPr>
        <p:spPr>
          <a:xfrm>
            <a:off x="1651864"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1743304" y="3392424"/>
            <a:ext cx="420624" cy="420624"/>
          </a:xfrm>
          <a:prstGeom prst="ellipse">
            <a:avLst/>
          </a:prstGeom>
          <a:solidFill>
            <a:srgbClr val="E8EBEE"/>
          </a:solidFill>
          <a:ln w="12700">
            <a:solidFill>
              <a:srgbClr val="E8EBEE"/>
            </a:solidFill>
            <a:prstDash val="solid"/>
          </a:ln>
        </p:spPr>
      </p:sp>
      <p:sp>
        <p:nvSpPr>
          <p:cNvPr id="27" name="Icono database"/>
          <p:cNvSpPr/>
          <p:nvPr/>
        </p:nvSpPr>
        <p:spPr>
          <a:xfrm>
            <a:off x="1798168"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28" name="Text 26"/>
          <p:cNvSpPr/>
          <p:nvPr/>
        </p:nvSpPr>
        <p:spPr>
          <a:xfrm>
            <a:off x="221879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solicitud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id · tipo · estado</a:t>
            </a:r>
            <a:endParaRPr lang="en-US" sz="972" dirty="0"/>
          </a:p>
        </p:txBody>
      </p:sp>
      <p:sp>
        <p:nvSpPr>
          <p:cNvPr id="29" name="Shape 27"/>
          <p:cNvSpPr/>
          <p:nvPr/>
        </p:nvSpPr>
        <p:spPr>
          <a:xfrm>
            <a:off x="379156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3883000" y="3392424"/>
            <a:ext cx="420624" cy="420624"/>
          </a:xfrm>
          <a:prstGeom prst="ellipse">
            <a:avLst/>
          </a:prstGeom>
          <a:solidFill>
            <a:srgbClr val="E8EBEE"/>
          </a:solidFill>
          <a:ln w="12700">
            <a:solidFill>
              <a:srgbClr val="E8EBEE"/>
            </a:solidFill>
            <a:prstDash val="solid"/>
          </a:ln>
        </p:spPr>
      </p:sp>
      <p:sp>
        <p:nvSpPr>
          <p:cNvPr id="31" name="Icono database"/>
          <p:cNvSpPr/>
          <p:nvPr/>
        </p:nvSpPr>
        <p:spPr>
          <a:xfrm>
            <a:off x="393786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435848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evento</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72" dirty="0"/>
          </a:p>
        </p:txBody>
      </p:sp>
      <p:sp>
        <p:nvSpPr>
          <p:cNvPr id="33" name="Shape 31"/>
          <p:cNvSpPr/>
          <p:nvPr/>
        </p:nvSpPr>
        <p:spPr>
          <a:xfrm>
            <a:off x="6589624" y="1874520"/>
            <a:ext cx="3950208" cy="576072"/>
          </a:xfrm>
          <a:prstGeom prst="roundRect">
            <a:avLst>
              <a:gd name="adj" fmla="val 14286"/>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6681064" y="1957913"/>
            <a:ext cx="409285" cy="409285"/>
          </a:xfrm>
          <a:prstGeom prst="ellipse">
            <a:avLst/>
          </a:prstGeom>
          <a:solidFill>
            <a:srgbClr val="E2E5EA"/>
          </a:solidFill>
          <a:ln w="12700">
            <a:solidFill>
              <a:srgbClr val="E2E5EA"/>
            </a:solidFill>
            <a:prstDash val="solid"/>
          </a:ln>
        </p:spPr>
      </p:sp>
      <p:sp>
        <p:nvSpPr>
          <p:cNvPr id="35" name="Icono server"/>
          <p:cNvSpPr/>
          <p:nvPr/>
        </p:nvSpPr>
        <p:spPr>
          <a:xfrm>
            <a:off x="6735928" y="2012777"/>
            <a:ext cx="299557" cy="299557"/>
          </a:xfrm>
          <a:custGeom>
            <a:avLst/>
            <a:gdLst/>
            <a:ahLst/>
            <a:cxnLst/>
            <a:rect l="l" t="t" r="r" b="b"/>
            <a:pathLst>
              <a:path w="299557" h="299557">
                <a:moveTo>
                  <a:pt x="49926" y="24963"/>
                </a:moveTo>
                <a:lnTo>
                  <a:pt x="249631" y="24963"/>
                </a:lnTo>
                <a:cubicBezTo>
                  <a:pt x="263418" y="24963"/>
                  <a:pt x="274594" y="36139"/>
                  <a:pt x="274594" y="49926"/>
                </a:cubicBezTo>
                <a:lnTo>
                  <a:pt x="274594" y="99852"/>
                </a:lnTo>
                <a:cubicBezTo>
                  <a:pt x="274594" y="113639"/>
                  <a:pt x="263418" y="124816"/>
                  <a:pt x="249631" y="124816"/>
                </a:cubicBezTo>
                <a:lnTo>
                  <a:pt x="49926" y="124816"/>
                </a:lnTo>
                <a:cubicBezTo>
                  <a:pt x="36139" y="124816"/>
                  <a:pt x="24963" y="113639"/>
                  <a:pt x="24963" y="99852"/>
                </a:cubicBezTo>
                <a:lnTo>
                  <a:pt x="24963" y="49926"/>
                </a:lnTo>
                <a:cubicBezTo>
                  <a:pt x="24963" y="36139"/>
                  <a:pt x="36139" y="24963"/>
                  <a:pt x="49926" y="24963"/>
                </a:cubicBezTo>
                <a:close/>
                <a:moveTo>
                  <a:pt x="49926" y="174742"/>
                </a:moveTo>
                <a:lnTo>
                  <a:pt x="249631" y="174742"/>
                </a:lnTo>
                <a:cubicBezTo>
                  <a:pt x="263418" y="174742"/>
                  <a:pt x="274594" y="185918"/>
                  <a:pt x="274594" y="199705"/>
                </a:cubicBezTo>
                <a:lnTo>
                  <a:pt x="274594" y="249631"/>
                </a:lnTo>
                <a:cubicBezTo>
                  <a:pt x="274594" y="263418"/>
                  <a:pt x="263418" y="274594"/>
                  <a:pt x="249631" y="274594"/>
                </a:cubicBezTo>
                <a:lnTo>
                  <a:pt x="49926" y="274594"/>
                </a:lnTo>
                <a:cubicBezTo>
                  <a:pt x="36139" y="274594"/>
                  <a:pt x="24963" y="263418"/>
                  <a:pt x="24963" y="249631"/>
                </a:cubicBezTo>
                <a:lnTo>
                  <a:pt x="24963" y="199705"/>
                </a:lnTo>
                <a:cubicBezTo>
                  <a:pt x="24963" y="185918"/>
                  <a:pt x="36139" y="174742"/>
                  <a:pt x="49926" y="174742"/>
                </a:cubicBezTo>
                <a:close/>
                <a:moveTo>
                  <a:pt x="74889" y="74889"/>
                </a:moveTo>
                <a:lnTo>
                  <a:pt x="75014" y="74889"/>
                </a:lnTo>
                <a:moveTo>
                  <a:pt x="74889" y="224668"/>
                </a:moveTo>
                <a:lnTo>
                  <a:pt x="75014" y="224668"/>
                </a:lnTo>
              </a:path>
            </a:pathLst>
          </a:custGeom>
          <a:noFill/>
          <a:ln w="24963" cap="rnd">
            <a:solidFill>
              <a:srgbClr val="0B2350"/>
            </a:solidFill>
            <a:prstDash val="solid"/>
            <a:round/>
          </a:ln>
        </p:spPr>
      </p:sp>
      <p:sp>
        <p:nvSpPr>
          <p:cNvPr id="36" name="Text 34"/>
          <p:cNvSpPr/>
          <p:nvPr/>
        </p:nvSpPr>
        <p:spPr>
          <a:xfrm>
            <a:off x="7145213" y="1874520"/>
            <a:ext cx="3339755" cy="576072"/>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Proceso Java de notificaciones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ConsumoIdempotente</a:t>
            </a:r>
            <a:endParaRPr lang="en-US" sz="972" dirty="0"/>
          </a:p>
        </p:txBody>
      </p:sp>
      <p:sp>
        <p:nvSpPr>
          <p:cNvPr id="37" name="Shape 35"/>
          <p:cNvSpPr/>
          <p:nvPr/>
        </p:nvSpPr>
        <p:spPr>
          <a:xfrm>
            <a:off x="6589624" y="3191256"/>
            <a:ext cx="1810512" cy="822960"/>
          </a:xfrm>
          <a:prstGeom prst="roundRect">
            <a:avLst>
              <a:gd name="adj" fmla="val 10000"/>
            </a:avLst>
          </a:prstGeom>
          <a:solidFill>
            <a:srgbClr val="FBE7BD"/>
          </a:solidFill>
          <a:ln w="12700">
            <a:solidFill>
              <a:srgbClr val="A85D08"/>
            </a:solidFill>
            <a:prstDash val="dash"/>
          </a:ln>
          <a:effectLst>
            <a:outerShdw sx="100000" sy="100000" kx="0" ky="0" algn="bl" rotWithShape="0" blurRad="76200" dist="19050" dir="5400000">
              <a:srgbClr val="0B1F3A">
                <a:alpha val="14000"/>
              </a:srgbClr>
            </a:outerShdw>
          </a:effectLst>
        </p:spPr>
      </p:sp>
      <p:sp>
        <p:nvSpPr>
          <p:cNvPr id="38" name="Shape 36"/>
          <p:cNvSpPr/>
          <p:nvPr/>
        </p:nvSpPr>
        <p:spPr>
          <a:xfrm>
            <a:off x="6681064" y="3392424"/>
            <a:ext cx="420624" cy="420624"/>
          </a:xfrm>
          <a:prstGeom prst="ellipse">
            <a:avLst/>
          </a:prstGeom>
          <a:solidFill>
            <a:srgbClr val="E2E5EA"/>
          </a:solidFill>
          <a:ln w="12700">
            <a:solidFill>
              <a:srgbClr val="E2E5EA"/>
            </a:solidFill>
            <a:prstDash val="solid"/>
          </a:ln>
        </p:spPr>
      </p:sp>
      <p:sp>
        <p:nvSpPr>
          <p:cNvPr id="39" name="Icono bell"/>
          <p:cNvSpPr/>
          <p:nvPr/>
        </p:nvSpPr>
        <p:spPr>
          <a:xfrm>
            <a:off x="6735928" y="3447288"/>
            <a:ext cx="310896" cy="310896"/>
          </a:xfrm>
          <a:custGeom>
            <a:avLst/>
            <a:gdLst/>
            <a:ahLst/>
            <a:cxnLst/>
            <a:rect l="l" t="t" r="r" b="b"/>
            <a:pathLst>
              <a:path w="310896" h="310896">
                <a:moveTo>
                  <a:pt x="133012" y="272034"/>
                </a:moveTo>
                <a:cubicBezTo>
                  <a:pt x="137640" y="280049"/>
                  <a:pt x="146192" y="284987"/>
                  <a:pt x="155448" y="284987"/>
                </a:cubicBezTo>
                <a:cubicBezTo>
                  <a:pt x="164704" y="284987"/>
                  <a:pt x="173256" y="280049"/>
                  <a:pt x="177884" y="272034"/>
                </a:cubicBezTo>
                <a:moveTo>
                  <a:pt x="42256" y="198533"/>
                </a:moveTo>
                <a:cubicBezTo>
                  <a:pt x="38798" y="202323"/>
                  <a:pt x="37903" y="207796"/>
                  <a:pt x="39972" y="212490"/>
                </a:cubicBezTo>
                <a:cubicBezTo>
                  <a:pt x="42042" y="217184"/>
                  <a:pt x="46686" y="220214"/>
                  <a:pt x="51816" y="220218"/>
                </a:cubicBezTo>
                <a:lnTo>
                  <a:pt x="259080" y="220218"/>
                </a:lnTo>
                <a:cubicBezTo>
                  <a:pt x="264209" y="220220"/>
                  <a:pt x="268857" y="217195"/>
                  <a:pt x="270931" y="212504"/>
                </a:cubicBezTo>
                <a:cubicBezTo>
                  <a:pt x="273006" y="207813"/>
                  <a:pt x="272118" y="202340"/>
                  <a:pt x="268666" y="198546"/>
                </a:cubicBezTo>
                <a:cubicBezTo>
                  <a:pt x="251437" y="180786"/>
                  <a:pt x="233172" y="161912"/>
                  <a:pt x="233172" y="103632"/>
                </a:cubicBezTo>
                <a:cubicBezTo>
                  <a:pt x="233172" y="60706"/>
                  <a:pt x="198374" y="25908"/>
                  <a:pt x="155448" y="25908"/>
                </a:cubicBezTo>
                <a:cubicBezTo>
                  <a:pt x="112522" y="25908"/>
                  <a:pt x="77724" y="60706"/>
                  <a:pt x="77724" y="103632"/>
                </a:cubicBezTo>
                <a:cubicBezTo>
                  <a:pt x="77724" y="161912"/>
                  <a:pt x="59446" y="180786"/>
                  <a:pt x="42256" y="198533"/>
                </a:cubicBezTo>
              </a:path>
            </a:pathLst>
          </a:custGeom>
          <a:noFill/>
          <a:ln w="25908" cap="rnd">
            <a:solidFill>
              <a:srgbClr val="0B2350"/>
            </a:solidFill>
            <a:prstDash val="solid"/>
            <a:round/>
          </a:ln>
        </p:spPr>
      </p:sp>
      <p:sp>
        <p:nvSpPr>
          <p:cNvPr id="40" name="Text 38"/>
          <p:cNvSpPr/>
          <p:nvPr/>
        </p:nvSpPr>
        <p:spPr>
          <a:xfrm>
            <a:off x="7156552"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5C3404"/>
                </a:solidFill>
                <a:latin typeface="Segoe UI" pitchFamily="34" charset="0"/>
                <a:ea typeface="Segoe UI" pitchFamily="34" charset="-122"/>
                <a:cs typeface="Segoe UI" pitchFamily="34" charset="-120"/>
              </a:rPr>
              <a:t>Avisos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lista en memoria</a:t>
            </a:r>
            <a:endParaRPr lang="en-US" sz="972" dirty="0"/>
          </a:p>
        </p:txBody>
      </p:sp>
      <p:sp>
        <p:nvSpPr>
          <p:cNvPr id="41" name="Shape 39"/>
          <p:cNvSpPr/>
          <p:nvPr/>
        </p:nvSpPr>
        <p:spPr>
          <a:xfrm>
            <a:off x="8729320" y="3191256"/>
            <a:ext cx="1810512" cy="822960"/>
          </a:xfrm>
          <a:prstGeom prst="roundRect">
            <a:avLst>
              <a:gd name="adj" fmla="val 10000"/>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820760" y="3392424"/>
            <a:ext cx="420624" cy="420624"/>
          </a:xfrm>
          <a:prstGeom prst="ellipse">
            <a:avLst/>
          </a:prstGeom>
          <a:solidFill>
            <a:srgbClr val="E8EBEE"/>
          </a:solidFill>
          <a:ln w="12700">
            <a:solidFill>
              <a:srgbClr val="E8EBEE"/>
            </a:solidFill>
            <a:prstDash val="solid"/>
          </a:ln>
        </p:spPr>
      </p:sp>
      <p:sp>
        <p:nvSpPr>
          <p:cNvPr id="43" name="Icono database"/>
          <p:cNvSpPr/>
          <p:nvPr/>
        </p:nvSpPr>
        <p:spPr>
          <a:xfrm>
            <a:off x="8875624" y="3447288"/>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44" name="Text 42"/>
          <p:cNvSpPr/>
          <p:nvPr/>
        </p:nvSpPr>
        <p:spPr>
          <a:xfrm>
            <a:off x="9296248" y="3191256"/>
            <a:ext cx="1188720" cy="822960"/>
          </a:xfrm>
          <a:prstGeom prst="rect">
            <a:avLst/>
          </a:prstGeom>
          <a:noFill/>
          <a:ln/>
        </p:spPr>
        <p:txBody>
          <a:bodyPr wrap="square" lIns="12700" tIns="25400" rIns="25400" bIns="12700" rtlCol="0" anchor="ctr">
            <a:normAutofit/>
          </a:bodyPr>
          <a:lstStyle/>
          <a:p>
            <a:pPr algn="l" indent="0" marL="0">
              <a:lnSpc>
                <a:spcPct val="95000"/>
              </a:lnSpc>
              <a:buNone/>
            </a:pPr>
            <a:r>
              <a:rPr lang="en-US" sz="933" b="1" dirty="0">
                <a:solidFill>
                  <a:srgbClr val="0B1A3C"/>
                </a:solidFill>
                <a:latin typeface="Segoe UI" pitchFamily="34" charset="0"/>
                <a:ea typeface="Segoe UI" pitchFamily="34" charset="-122"/>
                <a:cs typeface="Segoe UI" pitchFamily="34" charset="-120"/>
              </a:rPr>
              <a:t>evento_procesado</a:t>
            </a:r>
            <a:endParaRPr lang="en-US" sz="933"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evento_id</a:t>
            </a:r>
            <a:endParaRPr lang="en-US" sz="933" dirty="0"/>
          </a:p>
        </p:txBody>
      </p:sp>
      <p:sp>
        <p:nvSpPr>
          <p:cNvPr id="45" name="Shape 43"/>
          <p:cNvSpPr/>
          <p:nvPr/>
        </p:nvSpPr>
        <p:spPr>
          <a:xfrm>
            <a:off x="4120744" y="4507992"/>
            <a:ext cx="3950208" cy="526694"/>
          </a:xfrm>
          <a:prstGeom prst="roundRect">
            <a:avLst>
              <a:gd name="adj" fmla="val 15625"/>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6" name="Shape 44"/>
          <p:cNvSpPr/>
          <p:nvPr/>
        </p:nvSpPr>
        <p:spPr>
          <a:xfrm>
            <a:off x="4212184" y="4579535"/>
            <a:ext cx="383609" cy="383609"/>
          </a:xfrm>
          <a:prstGeom prst="ellipse">
            <a:avLst/>
          </a:prstGeom>
          <a:solidFill>
            <a:srgbClr val="E3F4FA"/>
          </a:solidFill>
          <a:ln w="12700">
            <a:solidFill>
              <a:srgbClr val="E3F4FA"/>
            </a:solidFill>
            <a:prstDash val="solid"/>
          </a:ln>
        </p:spPr>
      </p:sp>
      <p:sp>
        <p:nvSpPr>
          <p:cNvPr id="47" name="Icono split"/>
          <p:cNvSpPr/>
          <p:nvPr/>
        </p:nvSpPr>
        <p:spPr>
          <a:xfrm>
            <a:off x="4267048" y="4634399"/>
            <a:ext cx="273881" cy="273881"/>
          </a:xfrm>
          <a:custGeom>
            <a:avLst/>
            <a:gdLst/>
            <a:ahLst/>
            <a:cxnLst/>
            <a:rect l="l" t="t" r="r" b="b"/>
            <a:pathLst>
              <a:path w="273881" h="273881">
                <a:moveTo>
                  <a:pt x="182587" y="34235"/>
                </a:moveTo>
                <a:lnTo>
                  <a:pt x="239646" y="34235"/>
                </a:lnTo>
                <a:lnTo>
                  <a:pt x="239646" y="91294"/>
                </a:lnTo>
                <a:moveTo>
                  <a:pt x="91294" y="34235"/>
                </a:moveTo>
                <a:lnTo>
                  <a:pt x="34235" y="34235"/>
                </a:lnTo>
                <a:lnTo>
                  <a:pt x="34235" y="91294"/>
                </a:lnTo>
                <a:moveTo>
                  <a:pt x="136941" y="251058"/>
                </a:moveTo>
                <a:lnTo>
                  <a:pt x="136941" y="156340"/>
                </a:lnTo>
                <a:cubicBezTo>
                  <a:pt x="137072" y="144061"/>
                  <a:pt x="132251" y="132247"/>
                  <a:pt x="123566" y="123566"/>
                </a:cubicBezTo>
                <a:lnTo>
                  <a:pt x="34235" y="34235"/>
                </a:lnTo>
                <a:moveTo>
                  <a:pt x="171176" y="102705"/>
                </a:moveTo>
                <a:lnTo>
                  <a:pt x="239646" y="34235"/>
                </a:lnTo>
              </a:path>
            </a:pathLst>
          </a:custGeom>
          <a:noFill/>
          <a:ln w="22823" cap="rnd">
            <a:solidFill>
              <a:srgbClr val="0B6E8A"/>
            </a:solidFill>
            <a:prstDash val="solid"/>
            <a:round/>
          </a:ln>
        </p:spPr>
      </p:sp>
      <p:sp>
        <p:nvSpPr>
          <p:cNvPr id="48" name="Text 46"/>
          <p:cNvSpPr/>
          <p:nvPr/>
        </p:nvSpPr>
        <p:spPr>
          <a:xfrm>
            <a:off x="4650657" y="4507992"/>
            <a:ext cx="3365431" cy="526694"/>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Sin FK entre bases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72" dirty="0"/>
          </a:p>
        </p:txBody>
      </p:sp>
      <p:sp>
        <p:nvSpPr>
          <p:cNvPr id="49" name="Shape 47"/>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1" name="Text 49"/>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dos bases no están conectadas. Lo que las une es el contrato del evento.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problema de la consistencia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Primero se guarda. Después se avisa.</a:t>
            </a:r>
            <a:endParaRPr lang="en-US" sz="1700" dirty="0"/>
          </a:p>
        </p:txBody>
      </p:sp>
      <p:sp>
        <p:nvSpPr>
          <p:cNvPr id="6" name="Shape 4"/>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719072"/>
            <a:ext cx="5163160" cy="914400"/>
          </a:xfrm>
          <a:prstGeom prst="roundRect">
            <a:avLst>
              <a:gd name="adj" fmla="val 14000"/>
            </a:avLst>
          </a:prstGeom>
          <a:solidFill>
            <a:srgbClr val="AB243E"/>
          </a:solidFill>
          <a:ln w="12700">
            <a:solidFill>
              <a:srgbClr val="AB243E"/>
            </a:solidFill>
            <a:prstDash val="solid"/>
          </a:ln>
        </p:spPr>
      </p:sp>
      <p:sp>
        <p:nvSpPr>
          <p:cNvPr id="8" name="Shape 6"/>
          <p:cNvSpPr/>
          <p:nvPr/>
        </p:nvSpPr>
        <p:spPr>
          <a:xfrm>
            <a:off x="612648" y="2267712"/>
            <a:ext cx="5163160" cy="365760"/>
          </a:xfrm>
          <a:prstGeom prst="rect">
            <a:avLst/>
          </a:prstGeom>
          <a:solidFill>
            <a:srgbClr val="AB243E"/>
          </a:solidFill>
          <a:ln w="12700">
            <a:solidFill>
              <a:srgbClr val="AB243E"/>
            </a:solidFill>
            <a:prstDash val="solid"/>
          </a:ln>
        </p:spPr>
      </p:sp>
      <p:sp>
        <p:nvSpPr>
          <p:cNvPr id="9" name="Shape 7"/>
          <p:cNvSpPr/>
          <p:nvPr/>
        </p:nvSpPr>
        <p:spPr>
          <a:xfrm>
            <a:off x="841248" y="1874520"/>
            <a:ext cx="603504" cy="603504"/>
          </a:xfrm>
          <a:prstGeom prst="ellipse">
            <a:avLst/>
          </a:prstGeom>
          <a:solidFill>
            <a:srgbClr val="FFFFFF"/>
          </a:solidFill>
          <a:ln w="12700">
            <a:solidFill>
              <a:srgbClr val="FFFFFF"/>
            </a:solidFill>
            <a:prstDash val="solid"/>
          </a:ln>
        </p:spPr>
      </p:sp>
      <p:sp>
        <p:nvSpPr>
          <p:cNvPr id="10" name="Icono zap"/>
          <p:cNvSpPr/>
          <p:nvPr/>
        </p:nvSpPr>
        <p:spPr>
          <a:xfrm>
            <a:off x="986089" y="2019361"/>
            <a:ext cx="313822" cy="313822"/>
          </a:xfrm>
          <a:custGeom>
            <a:avLst/>
            <a:gdLst/>
            <a:ahLst/>
            <a:cxnLst/>
            <a:rect l="l" t="t" r="r" b="b"/>
            <a:pathLst>
              <a:path w="313822" h="313822">
                <a:moveTo>
                  <a:pt x="52304" y="183063"/>
                </a:moveTo>
                <a:cubicBezTo>
                  <a:pt x="47253" y="183080"/>
                  <a:pt x="42644" y="180187"/>
                  <a:pt x="40464" y="175631"/>
                </a:cubicBezTo>
                <a:cubicBezTo>
                  <a:pt x="38284" y="171075"/>
                  <a:pt x="38923" y="165671"/>
                  <a:pt x="42104" y="161749"/>
                </a:cubicBezTo>
                <a:lnTo>
                  <a:pt x="171556" y="28375"/>
                </a:lnTo>
                <a:cubicBezTo>
                  <a:pt x="173556" y="26066"/>
                  <a:pt x="176888" y="25450"/>
                  <a:pt x="179581" y="26891"/>
                </a:cubicBezTo>
                <a:cubicBezTo>
                  <a:pt x="182274" y="28331"/>
                  <a:pt x="183611" y="31445"/>
                  <a:pt x="182801" y="34390"/>
                </a:cubicBezTo>
                <a:lnTo>
                  <a:pt x="157696" y="113107"/>
                </a:lnTo>
                <a:cubicBezTo>
                  <a:pt x="156193" y="117129"/>
                  <a:pt x="156760" y="121632"/>
                  <a:pt x="159214" y="125155"/>
                </a:cubicBezTo>
                <a:cubicBezTo>
                  <a:pt x="161667" y="128679"/>
                  <a:pt x="165694" y="130773"/>
                  <a:pt x="169987" y="130759"/>
                </a:cubicBezTo>
                <a:lnTo>
                  <a:pt x="261518" y="130759"/>
                </a:lnTo>
                <a:cubicBezTo>
                  <a:pt x="266569" y="130742"/>
                  <a:pt x="271178" y="133635"/>
                  <a:pt x="273358" y="138191"/>
                </a:cubicBezTo>
                <a:cubicBezTo>
                  <a:pt x="275538" y="142747"/>
                  <a:pt x="274900" y="148151"/>
                  <a:pt x="271718" y="152073"/>
                </a:cubicBezTo>
                <a:lnTo>
                  <a:pt x="142266" y="285447"/>
                </a:lnTo>
                <a:cubicBezTo>
                  <a:pt x="140266" y="287756"/>
                  <a:pt x="136934" y="288372"/>
                  <a:pt x="134241" y="286931"/>
                </a:cubicBezTo>
                <a:cubicBezTo>
                  <a:pt x="131548" y="285491"/>
                  <a:pt x="130211" y="282377"/>
                  <a:pt x="131021" y="279432"/>
                </a:cubicBezTo>
                <a:lnTo>
                  <a:pt x="156126" y="200715"/>
                </a:lnTo>
                <a:cubicBezTo>
                  <a:pt x="157629" y="196694"/>
                  <a:pt x="157062" y="192190"/>
                  <a:pt x="154608" y="188667"/>
                </a:cubicBezTo>
                <a:cubicBezTo>
                  <a:pt x="152155" y="185143"/>
                  <a:pt x="148128" y="183049"/>
                  <a:pt x="143835" y="183063"/>
                </a:cubicBezTo>
                <a:close/>
              </a:path>
            </a:pathLst>
          </a:custGeom>
          <a:noFill/>
          <a:ln w="26152" cap="rnd">
            <a:solidFill>
              <a:srgbClr val="AB243E"/>
            </a:solidFill>
            <a:prstDash val="solid"/>
            <a:round/>
          </a:ln>
        </p:spPr>
      </p:sp>
      <p:sp>
        <p:nvSpPr>
          <p:cNvPr id="11" name="Text 9"/>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Avisar en el mismo momento</a:t>
            </a:r>
            <a:endParaRPr lang="en-US" sz="1900" dirty="0"/>
          </a:p>
        </p:txBody>
      </p:sp>
      <p:sp>
        <p:nvSpPr>
          <p:cNvPr id="12" name="Icono circle-x"/>
          <p:cNvSpPr/>
          <p:nvPr/>
        </p:nvSpPr>
        <p:spPr>
          <a:xfrm>
            <a:off x="90525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205740" y="123444"/>
                </a:moveTo>
                <a:lnTo>
                  <a:pt x="123444" y="205740"/>
                </a:lnTo>
                <a:moveTo>
                  <a:pt x="123444" y="123444"/>
                </a:moveTo>
                <a:lnTo>
                  <a:pt x="205740" y="205740"/>
                </a:lnTo>
              </a:path>
            </a:pathLst>
          </a:custGeom>
          <a:noFill/>
          <a:ln w="27432" cap="rnd">
            <a:solidFill>
              <a:srgbClr val="AB243E"/>
            </a:solidFill>
            <a:prstDash val="solid"/>
            <a:round/>
          </a:ln>
        </p:spPr>
      </p:sp>
      <p:sp>
        <p:nvSpPr>
          <p:cNvPr id="13" name="Text 11"/>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 guarda la solicitud como enviada</a:t>
            </a:r>
            <a:endParaRPr lang="en-US" sz="1500" dirty="0"/>
          </a:p>
        </p:txBody>
      </p:sp>
      <p:sp>
        <p:nvSpPr>
          <p:cNvPr id="14" name="Shape 12"/>
          <p:cNvSpPr/>
          <p:nvPr/>
        </p:nvSpPr>
        <p:spPr>
          <a:xfrm>
            <a:off x="886968" y="3593592"/>
            <a:ext cx="4614520" cy="0"/>
          </a:xfrm>
          <a:prstGeom prst="line">
            <a:avLst/>
          </a:prstGeom>
          <a:noFill/>
          <a:ln w="9525">
            <a:solidFill>
              <a:srgbClr val="DFE6F0"/>
            </a:solidFill>
            <a:prstDash val="solid"/>
          </a:ln>
        </p:spPr>
      </p:sp>
      <p:sp>
        <p:nvSpPr>
          <p:cNvPr id="15" name="Icono circle-x"/>
          <p:cNvSpPr/>
          <p:nvPr/>
        </p:nvSpPr>
        <p:spPr>
          <a:xfrm>
            <a:off x="90525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205740" y="123444"/>
                </a:moveTo>
                <a:lnTo>
                  <a:pt x="123444" y="205740"/>
                </a:lnTo>
                <a:moveTo>
                  <a:pt x="123444" y="123444"/>
                </a:moveTo>
                <a:lnTo>
                  <a:pt x="205740" y="205740"/>
                </a:lnTo>
              </a:path>
            </a:pathLst>
          </a:custGeom>
          <a:noFill/>
          <a:ln w="27432" cap="rnd">
            <a:solidFill>
              <a:srgbClr val="AB243E"/>
            </a:solidFill>
            <a:prstDash val="solid"/>
            <a:round/>
          </a:ln>
        </p:spPr>
      </p:sp>
      <p:sp>
        <p:nvSpPr>
          <p:cNvPr id="16" name="Text 14"/>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Justo ahí, notificaciones está caído</a:t>
            </a:r>
            <a:endParaRPr lang="en-US" sz="1500" dirty="0"/>
          </a:p>
        </p:txBody>
      </p:sp>
      <p:sp>
        <p:nvSpPr>
          <p:cNvPr id="17" name="Shape 15"/>
          <p:cNvSpPr/>
          <p:nvPr/>
        </p:nvSpPr>
        <p:spPr>
          <a:xfrm>
            <a:off x="886968" y="4370832"/>
            <a:ext cx="4614520" cy="0"/>
          </a:xfrm>
          <a:prstGeom prst="line">
            <a:avLst/>
          </a:prstGeom>
          <a:noFill/>
          <a:ln w="9525">
            <a:solidFill>
              <a:srgbClr val="DFE6F0"/>
            </a:solidFill>
            <a:prstDash val="solid"/>
          </a:ln>
        </p:spPr>
      </p:sp>
      <p:sp>
        <p:nvSpPr>
          <p:cNvPr id="18" name="Icono circle-x"/>
          <p:cNvSpPr/>
          <p:nvPr/>
        </p:nvSpPr>
        <p:spPr>
          <a:xfrm>
            <a:off x="90525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205740" y="123444"/>
                </a:moveTo>
                <a:lnTo>
                  <a:pt x="123444" y="205740"/>
                </a:lnTo>
                <a:moveTo>
                  <a:pt x="123444" y="123444"/>
                </a:moveTo>
                <a:lnTo>
                  <a:pt x="205740" y="205740"/>
                </a:lnTo>
              </a:path>
            </a:pathLst>
          </a:custGeom>
          <a:noFill/>
          <a:ln w="27432" cap="rnd">
            <a:solidFill>
              <a:srgbClr val="AB243E"/>
            </a:solidFill>
            <a:prstDash val="solid"/>
            <a:round/>
          </a:ln>
        </p:spPr>
      </p:sp>
      <p:sp>
        <p:nvSpPr>
          <p:cNvPr id="19" name="Text 17"/>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aviso se pierde y nadie se entera</a:t>
            </a:r>
            <a:endParaRPr lang="en-US" sz="1500" dirty="0"/>
          </a:p>
        </p:txBody>
      </p:sp>
      <p:sp>
        <p:nvSpPr>
          <p:cNvPr id="20" name="Shape 18"/>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22" name="Shape 20"/>
          <p:cNvSpPr/>
          <p:nvPr/>
        </p:nvSpPr>
        <p:spPr>
          <a:xfrm>
            <a:off x="6415888" y="2267712"/>
            <a:ext cx="5163160" cy="365760"/>
          </a:xfrm>
          <a:prstGeom prst="rect">
            <a:avLst/>
          </a:prstGeom>
          <a:solidFill>
            <a:srgbClr val="0A6648"/>
          </a:solidFill>
          <a:ln w="12700">
            <a:solidFill>
              <a:srgbClr val="0A6648"/>
            </a:solidFill>
            <a:prstDash val="solid"/>
          </a:ln>
        </p:spPr>
      </p:sp>
      <p:sp>
        <p:nvSpPr>
          <p:cNvPr id="23" name="Shape 21"/>
          <p:cNvSpPr/>
          <p:nvPr/>
        </p:nvSpPr>
        <p:spPr>
          <a:xfrm>
            <a:off x="6644488" y="1874520"/>
            <a:ext cx="603504" cy="603504"/>
          </a:xfrm>
          <a:prstGeom prst="ellipse">
            <a:avLst/>
          </a:prstGeom>
          <a:solidFill>
            <a:srgbClr val="FFFFFF"/>
          </a:solidFill>
          <a:ln w="12700">
            <a:solidFill>
              <a:srgbClr val="FFFFFF"/>
            </a:solidFill>
            <a:prstDash val="solid"/>
          </a:ln>
        </p:spPr>
      </p:sp>
      <p:sp>
        <p:nvSpPr>
          <p:cNvPr id="24" name="Icono inbox"/>
          <p:cNvSpPr/>
          <p:nvPr/>
        </p:nvSpPr>
        <p:spPr>
          <a:xfrm>
            <a:off x="6789329" y="2019361"/>
            <a:ext cx="313822" cy="313822"/>
          </a:xfrm>
          <a:custGeom>
            <a:avLst/>
            <a:gdLst/>
            <a:ahLst/>
            <a:cxnLst/>
            <a:rect l="l" t="t" r="r" b="b"/>
            <a:pathLst>
              <a:path w="313822" h="313822">
                <a:moveTo>
                  <a:pt x="287670" y="156911"/>
                </a:moveTo>
                <a:lnTo>
                  <a:pt x="209215" y="156911"/>
                </a:lnTo>
                <a:lnTo>
                  <a:pt x="183063" y="196139"/>
                </a:lnTo>
                <a:lnTo>
                  <a:pt x="130759" y="196139"/>
                </a:lnTo>
                <a:lnTo>
                  <a:pt x="104607" y="156911"/>
                </a:lnTo>
                <a:lnTo>
                  <a:pt x="26152" y="156911"/>
                </a:lnTo>
                <a:moveTo>
                  <a:pt x="71264" y="66818"/>
                </a:moveTo>
                <a:lnTo>
                  <a:pt x="26152" y="156911"/>
                </a:lnTo>
                <a:lnTo>
                  <a:pt x="26152" y="235367"/>
                </a:lnTo>
                <a:cubicBezTo>
                  <a:pt x="26152" y="249810"/>
                  <a:pt x="37860" y="261518"/>
                  <a:pt x="52304" y="261518"/>
                </a:cubicBezTo>
                <a:lnTo>
                  <a:pt x="261518" y="261518"/>
                </a:lnTo>
                <a:cubicBezTo>
                  <a:pt x="275962" y="261518"/>
                  <a:pt x="287670" y="249810"/>
                  <a:pt x="287670" y="235367"/>
                </a:cubicBezTo>
                <a:lnTo>
                  <a:pt x="287670" y="156911"/>
                </a:lnTo>
                <a:lnTo>
                  <a:pt x="242558" y="66818"/>
                </a:lnTo>
                <a:cubicBezTo>
                  <a:pt x="238142" y="57931"/>
                  <a:pt x="229076" y="52309"/>
                  <a:pt x="219152" y="52304"/>
                </a:cubicBezTo>
                <a:lnTo>
                  <a:pt x="94670" y="52304"/>
                </a:lnTo>
                <a:cubicBezTo>
                  <a:pt x="84746" y="52309"/>
                  <a:pt x="75680" y="57931"/>
                  <a:pt x="71264" y="66818"/>
                </a:cubicBezTo>
                <a:close/>
              </a:path>
            </a:pathLst>
          </a:custGeom>
          <a:noFill/>
          <a:ln w="26152" cap="rnd">
            <a:solidFill>
              <a:srgbClr val="0A6648"/>
            </a:solidFill>
            <a:prstDash val="solid"/>
            <a:round/>
          </a:ln>
        </p:spPr>
      </p:sp>
      <p:sp>
        <p:nvSpPr>
          <p:cNvPr id="25" name="Text 23"/>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Guardar primero, avisar después</a:t>
            </a:r>
            <a:endParaRPr lang="en-US" sz="1900" dirty="0"/>
          </a:p>
        </p:txBody>
      </p:sp>
      <p:sp>
        <p:nvSpPr>
          <p:cNvPr id="26" name="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27" name="Text 25"/>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Solicitud y evento pendiente se guardan juntos</a:t>
            </a:r>
            <a:endParaRPr lang="en-US" sz="1500" dirty="0"/>
          </a:p>
        </p:txBody>
      </p:sp>
      <p:sp>
        <p:nvSpPr>
          <p:cNvPr id="28" name="Shape 26"/>
          <p:cNvSpPr/>
          <p:nvPr/>
        </p:nvSpPr>
        <p:spPr>
          <a:xfrm>
            <a:off x="6690208" y="3593592"/>
            <a:ext cx="4614520" cy="0"/>
          </a:xfrm>
          <a:prstGeom prst="line">
            <a:avLst/>
          </a:prstGeom>
          <a:noFill/>
          <a:ln w="9525">
            <a:solidFill>
              <a:srgbClr val="DFE6F0"/>
            </a:solidFill>
            <a:prstDash val="solid"/>
          </a:ln>
        </p:spPr>
      </p:sp>
      <p:sp>
        <p:nvSpPr>
          <p:cNvPr id="29" name="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30" name="Text 28"/>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está caído, el evento espera</a:t>
            </a:r>
            <a:endParaRPr lang="en-US" sz="1500" dirty="0"/>
          </a:p>
        </p:txBody>
      </p:sp>
      <p:sp>
        <p:nvSpPr>
          <p:cNvPr id="31" name="Shape 29"/>
          <p:cNvSpPr/>
          <p:nvPr/>
        </p:nvSpPr>
        <p:spPr>
          <a:xfrm>
            <a:off x="6690208" y="4370832"/>
            <a:ext cx="4614520" cy="0"/>
          </a:xfrm>
          <a:prstGeom prst="line">
            <a:avLst/>
          </a:prstGeom>
          <a:noFill/>
          <a:ln w="9525">
            <a:solidFill>
              <a:srgbClr val="DFE6F0"/>
            </a:solidFill>
            <a:prstDash val="solid"/>
          </a:ln>
        </p:spPr>
      </p:sp>
      <p:sp>
        <p:nvSpPr>
          <p:cNvPr id="32" name="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33" name="Text 31"/>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aviso llega cuando el servicio vuelve</a:t>
            </a:r>
            <a:endParaRPr lang="en-US" sz="1500" dirty="0"/>
          </a:p>
        </p:txBody>
      </p:sp>
      <p:sp>
        <p:nvSpPr>
          <p:cNvPr id="34" name="Text 32"/>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35" name="Shape 33"/>
          <p:cNvSpPr/>
          <p:nvPr/>
        </p:nvSpPr>
        <p:spPr>
          <a:xfrm>
            <a:off x="0" y="5961888"/>
            <a:ext cx="12191695" cy="475488"/>
          </a:xfrm>
          <a:prstGeom prst="rect">
            <a:avLst/>
          </a:prstGeom>
          <a:solidFill>
            <a:srgbClr val="0B2350"/>
          </a:solidFill>
          <a:ln w="12700">
            <a:solidFill>
              <a:srgbClr val="0B2350"/>
            </a:solidFill>
            <a:prstDash val="solid"/>
          </a:ln>
        </p:spPr>
      </p:sp>
      <p:sp>
        <p:nvSpPr>
          <p:cNvPr id="3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7" name="Text 3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a:t>
            </a:r>
            <a:endParaRPr lang="en-US" sz="14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problema de la consistencia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servicio-solicitudes/…/dominio/ServicioDeSolicitudes.java</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@Transactional</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id)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 = buscar(id).enviar();</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repositorio.guardar(enviada);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registrador.registrar(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UUID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.randomUUID().toString(),</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enviada.id(),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enviada;</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F4F7FB"/>
          </a:solidFill>
          <a:ln w="12700">
            <a:solidFill>
              <a:srgbClr val="DFE6F0"/>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47625">
            <a:solidFill>
              <a:srgbClr val="2BA6CB"/>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31750">
            <a:solidFill>
              <a:srgbClr val="CBD5E3"/>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31750">
            <a:solidFill>
              <a:srgbClr val="CBD5E3"/>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31750">
            <a:solidFill>
              <a:srgbClr val="CBD5E3"/>
            </a:solidFill>
            <a:prstDash val="sysDot"/>
          </a:ln>
        </p:spPr>
      </p:sp>
      <p:sp>
        <p:nvSpPr>
          <p:cNvPr id="17" name="Shape 15"/>
          <p:cNvSpPr/>
          <p:nvPr/>
        </p:nvSpPr>
        <p:spPr>
          <a:xfrm>
            <a:off x="8659280" y="2206155"/>
            <a:ext cx="0" cy="1613702"/>
          </a:xfrm>
          <a:prstGeom prst="line">
            <a:avLst/>
          </a:prstGeom>
          <a:noFill/>
          <a:ln w="31750">
            <a:solidFill>
              <a:srgbClr val="CBD5E3"/>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22860">
            <a:solidFill>
              <a:srgbClr val="CBD5E3"/>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4" name="Shape 22"/>
          <p:cNvSpPr/>
          <p:nvPr/>
        </p:nvSpPr>
        <p:spPr>
          <a:xfrm>
            <a:off x="1396610" y="1995843"/>
            <a:ext cx="420624" cy="420624"/>
          </a:xfrm>
          <a:prstGeom prst="ellipse">
            <a:avLst/>
          </a:prstGeom>
          <a:solidFill>
            <a:srgbClr val="E3F4FA"/>
          </a:solidFill>
          <a:ln w="12700">
            <a:solidFill>
              <a:srgbClr val="E3F4F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93" b="1" dirty="0">
                <a:solidFill>
                  <a:srgbClr val="8A95AB"/>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9AA5B8"/>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93" b="1" dirty="0">
                <a:solidFill>
                  <a:srgbClr val="8A95AB"/>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9AA5B8"/>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3F6FA"/>
          </a:solidFill>
          <a:ln w="12700">
            <a:solidFill>
              <a:srgbClr val="D5DDE8"/>
            </a:solidFill>
            <a:prstDash val="solid"/>
          </a:ln>
        </p:spPr>
      </p:sp>
      <p:sp>
        <p:nvSpPr>
          <p:cNvPr id="30" name="Shape 28"/>
          <p:cNvSpPr/>
          <p:nvPr/>
        </p:nvSpPr>
        <p:spPr>
          <a:xfrm>
            <a:off x="5851100" y="3962543"/>
            <a:ext cx="420624" cy="420624"/>
          </a:xfrm>
          <a:prstGeom prst="ellipse">
            <a:avLst/>
          </a:prstGeom>
          <a:solidFill>
            <a:srgbClr val="EEF2F7"/>
          </a:solidFill>
          <a:ln w="12700">
            <a:solidFill>
              <a:srgbClr val="EEF2F7"/>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3F6FA"/>
          </a:solidFill>
          <a:ln w="12700">
            <a:solidFill>
              <a:srgbClr val="D5DDE8"/>
            </a:solidFill>
            <a:prstDash val="solid"/>
          </a:ln>
        </p:spPr>
      </p:sp>
      <p:sp>
        <p:nvSpPr>
          <p:cNvPr id="34" name="Shape 32"/>
          <p:cNvSpPr/>
          <p:nvPr/>
        </p:nvSpPr>
        <p:spPr>
          <a:xfrm>
            <a:off x="7868227" y="3962543"/>
            <a:ext cx="420624" cy="420624"/>
          </a:xfrm>
          <a:prstGeom prst="ellipse">
            <a:avLst/>
          </a:prstGeom>
          <a:solidFill>
            <a:srgbClr val="EEF2F7"/>
          </a:solidFill>
          <a:ln w="12700">
            <a:solidFill>
              <a:srgbClr val="EEF2F7"/>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Enviar y la interfaz le pide al servicio que envíe la solicitud.</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F4F7FB"/>
          </a:solidFill>
          <a:ln w="12700">
            <a:solidFill>
              <a:srgbClr val="DFE6F0"/>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31750">
            <a:solidFill>
              <a:srgbClr val="2E6DB4"/>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47625">
            <a:solidFill>
              <a:srgbClr val="2BA6CB"/>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31750">
            <a:solidFill>
              <a:srgbClr val="CBD5E3"/>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31750">
            <a:solidFill>
              <a:srgbClr val="CBD5E3"/>
            </a:solidFill>
            <a:prstDash val="sysDot"/>
          </a:ln>
        </p:spPr>
      </p:sp>
      <p:sp>
        <p:nvSpPr>
          <p:cNvPr id="17" name="Shape 15"/>
          <p:cNvSpPr/>
          <p:nvPr/>
        </p:nvSpPr>
        <p:spPr>
          <a:xfrm>
            <a:off x="8659280" y="2206155"/>
            <a:ext cx="0" cy="1613702"/>
          </a:xfrm>
          <a:prstGeom prst="line">
            <a:avLst/>
          </a:prstGeom>
          <a:noFill/>
          <a:ln w="31750">
            <a:solidFill>
              <a:srgbClr val="CBD5E3"/>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22860">
            <a:solidFill>
              <a:srgbClr val="CBD5E3"/>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1396610" y="1995843"/>
            <a:ext cx="420624" cy="420624"/>
          </a:xfrm>
          <a:prstGeom prst="ellipse">
            <a:avLst/>
          </a:prstGeom>
          <a:solidFill>
            <a:srgbClr val="E2E5EA"/>
          </a:solidFill>
          <a:ln w="12700">
            <a:solidFill>
              <a:srgbClr val="E2E5E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93" b="1" dirty="0">
                <a:solidFill>
                  <a:srgbClr val="8A95AB"/>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9AA5B8"/>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3F6FA"/>
          </a:solidFill>
          <a:ln w="12700">
            <a:solidFill>
              <a:srgbClr val="D5DDE8"/>
            </a:solidFill>
            <a:prstDash val="solid"/>
          </a:ln>
        </p:spPr>
      </p:sp>
      <p:sp>
        <p:nvSpPr>
          <p:cNvPr id="30" name="Shape 28"/>
          <p:cNvSpPr/>
          <p:nvPr/>
        </p:nvSpPr>
        <p:spPr>
          <a:xfrm>
            <a:off x="5851100" y="3962543"/>
            <a:ext cx="420624" cy="420624"/>
          </a:xfrm>
          <a:prstGeom prst="ellipse">
            <a:avLst/>
          </a:prstGeom>
          <a:solidFill>
            <a:srgbClr val="EEF2F7"/>
          </a:solidFill>
          <a:ln w="12700">
            <a:solidFill>
              <a:srgbClr val="EEF2F7"/>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3F6FA"/>
          </a:solidFill>
          <a:ln w="12700">
            <a:solidFill>
              <a:srgbClr val="D5DDE8"/>
            </a:solidFill>
            <a:prstDash val="solid"/>
          </a:ln>
        </p:spPr>
      </p:sp>
      <p:sp>
        <p:nvSpPr>
          <p:cNvPr id="34" name="Shape 32"/>
          <p:cNvSpPr/>
          <p:nvPr/>
        </p:nvSpPr>
        <p:spPr>
          <a:xfrm>
            <a:off x="7868227" y="3962543"/>
            <a:ext cx="420624" cy="420624"/>
          </a:xfrm>
          <a:prstGeom prst="ellipse">
            <a:avLst/>
          </a:prstGeom>
          <a:solidFill>
            <a:srgbClr val="EEF2F7"/>
          </a:solidFill>
          <a:ln w="12700">
            <a:solidFill>
              <a:srgbClr val="EEF2F7"/>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recibe el pedido y se lo pasa al servicio de dominio.</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F4F7FB"/>
          </a:solidFill>
          <a:ln w="12700">
            <a:solidFill>
              <a:srgbClr val="DFE6F0"/>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31750">
            <a:solidFill>
              <a:srgbClr val="2E6DB4"/>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31750">
            <a:solidFill>
              <a:srgbClr val="55627E"/>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31750">
            <a:solidFill>
              <a:srgbClr val="CBD5E3"/>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31750">
            <a:solidFill>
              <a:srgbClr val="CBD5E3"/>
            </a:solidFill>
            <a:prstDash val="sysDot"/>
          </a:ln>
        </p:spPr>
      </p:sp>
      <p:sp>
        <p:nvSpPr>
          <p:cNvPr id="17" name="Shape 15"/>
          <p:cNvSpPr/>
          <p:nvPr/>
        </p:nvSpPr>
        <p:spPr>
          <a:xfrm>
            <a:off x="8659280" y="2206155"/>
            <a:ext cx="0" cy="1613702"/>
          </a:xfrm>
          <a:prstGeom prst="line">
            <a:avLst/>
          </a:prstGeom>
          <a:noFill/>
          <a:ln w="31750">
            <a:solidFill>
              <a:srgbClr val="CBD5E3"/>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22860">
            <a:solidFill>
              <a:srgbClr val="CBD5E3"/>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1396610" y="1995843"/>
            <a:ext cx="420624" cy="420624"/>
          </a:xfrm>
          <a:prstGeom prst="ellipse">
            <a:avLst/>
          </a:prstGeom>
          <a:solidFill>
            <a:srgbClr val="E2E5EA"/>
          </a:solidFill>
          <a:ln w="12700">
            <a:solidFill>
              <a:srgbClr val="E2E5E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3F6FA"/>
          </a:solidFill>
          <a:ln w="12700">
            <a:solidFill>
              <a:srgbClr val="D5DDE8"/>
            </a:solidFill>
            <a:prstDash val="solid"/>
          </a:ln>
        </p:spPr>
      </p:sp>
      <p:sp>
        <p:nvSpPr>
          <p:cNvPr id="30" name="Shape 28"/>
          <p:cNvSpPr/>
          <p:nvPr/>
        </p:nvSpPr>
        <p:spPr>
          <a:xfrm>
            <a:off x="5851100" y="3962543"/>
            <a:ext cx="420624" cy="420624"/>
          </a:xfrm>
          <a:prstGeom prst="ellipse">
            <a:avLst/>
          </a:prstGeom>
          <a:solidFill>
            <a:srgbClr val="EEF2F7"/>
          </a:solidFill>
          <a:ln w="12700">
            <a:solidFill>
              <a:srgbClr val="EEF2F7"/>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3F6FA"/>
          </a:solidFill>
          <a:ln w="12700">
            <a:solidFill>
              <a:srgbClr val="D5DDE8"/>
            </a:solidFill>
            <a:prstDash val="solid"/>
          </a:ln>
        </p:spPr>
      </p:sp>
      <p:sp>
        <p:nvSpPr>
          <p:cNvPr id="34" name="Shape 32"/>
          <p:cNvSpPr/>
          <p:nvPr/>
        </p:nvSpPr>
        <p:spPr>
          <a:xfrm>
            <a:off x="7868227" y="3962543"/>
            <a:ext cx="420624" cy="420624"/>
          </a:xfrm>
          <a:prstGeom prst="ellipse">
            <a:avLst/>
          </a:prstGeom>
          <a:solidFill>
            <a:srgbClr val="EEF2F7"/>
          </a:solidFill>
          <a:ln w="12700">
            <a:solidFill>
              <a:srgbClr val="EEF2F7"/>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8A95AB"/>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revisa que la solicitud esté en BORRADOR y la cambia a ENVIADA.</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E3F4FA"/>
          </a:solidFill>
          <a:ln w="22225">
            <a:solidFill>
              <a:srgbClr val="2BA6CB"/>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31750">
            <a:solidFill>
              <a:srgbClr val="2E6DB4"/>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31750">
            <a:solidFill>
              <a:srgbClr val="55627E"/>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47625">
            <a:solidFill>
              <a:srgbClr val="2BA6CB"/>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47625">
            <a:solidFill>
              <a:srgbClr val="2BA6CB"/>
            </a:solidFill>
            <a:prstDash val="sysDot"/>
          </a:ln>
        </p:spPr>
      </p:sp>
      <p:sp>
        <p:nvSpPr>
          <p:cNvPr id="17" name="Shape 15"/>
          <p:cNvSpPr/>
          <p:nvPr/>
        </p:nvSpPr>
        <p:spPr>
          <a:xfrm>
            <a:off x="8659280" y="2206155"/>
            <a:ext cx="0" cy="1613702"/>
          </a:xfrm>
          <a:prstGeom prst="line">
            <a:avLst/>
          </a:prstGeom>
          <a:noFill/>
          <a:ln w="47625">
            <a:solidFill>
              <a:srgbClr val="2BA6CB"/>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22860">
            <a:solidFill>
              <a:srgbClr val="CBD5E3"/>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1396610" y="1995843"/>
            <a:ext cx="420624" cy="420624"/>
          </a:xfrm>
          <a:prstGeom prst="ellipse">
            <a:avLst/>
          </a:prstGeom>
          <a:solidFill>
            <a:srgbClr val="E2E5EA"/>
          </a:solidFill>
          <a:ln w="12700">
            <a:solidFill>
              <a:srgbClr val="E2E5E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2350"/>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0" name="Shape 28"/>
          <p:cNvSpPr/>
          <p:nvPr/>
        </p:nvSpPr>
        <p:spPr>
          <a:xfrm>
            <a:off x="5851100" y="3962543"/>
            <a:ext cx="420624" cy="420624"/>
          </a:xfrm>
          <a:prstGeom prst="ellipse">
            <a:avLst/>
          </a:prstGeom>
          <a:solidFill>
            <a:srgbClr val="E3F4FA"/>
          </a:solidFill>
          <a:ln w="12700">
            <a:solidFill>
              <a:srgbClr val="E3F4FA"/>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7868227" y="3962543"/>
            <a:ext cx="420624" cy="420624"/>
          </a:xfrm>
          <a:prstGeom prst="ellipse">
            <a:avLst/>
          </a:prstGeom>
          <a:solidFill>
            <a:srgbClr val="E3F4FA"/>
          </a:solidFill>
          <a:ln w="12700">
            <a:solidFill>
              <a:srgbClr val="E3F4FA"/>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una sola operación se guardan dos cosas: la solicitud ENVIADA y un evento pendiente.</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3472" y="3147482"/>
            <a:ext cx="4370443" cy="1849034"/>
          </a:xfrm>
          <a:prstGeom prst="roundRect">
            <a:avLst>
              <a:gd name="adj" fmla="val 5934"/>
            </a:avLst>
          </a:prstGeom>
          <a:solidFill>
            <a:srgbClr val="F4F7FB"/>
          </a:solidFill>
          <a:ln w="12700">
            <a:solidFill>
              <a:srgbClr val="DFE6F0"/>
            </a:solidFill>
            <a:prstDash val="dash"/>
          </a:ln>
        </p:spPr>
      </p:sp>
      <p:sp>
        <p:nvSpPr>
          <p:cNvPr id="6" name="Text 4"/>
          <p:cNvSpPr/>
          <p:nvPr/>
        </p:nvSpPr>
        <p:spPr>
          <a:xfrm>
            <a:off x="5496624" y="3202346"/>
            <a:ext cx="27025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49921" y="2105299"/>
            <a:ext cx="756423" cy="0"/>
          </a:xfrm>
          <a:prstGeom prst="line">
            <a:avLst/>
          </a:prstGeom>
          <a:noFill/>
          <a:ln w="31750">
            <a:solidFill>
              <a:srgbClr val="2E6DB4"/>
            </a:solidFill>
            <a:prstDash val="solid"/>
            <a:tailEnd type="triangle"/>
          </a:ln>
        </p:spPr>
      </p:sp>
      <p:sp>
        <p:nvSpPr>
          <p:cNvPr id="8" name="Text 6"/>
          <p:cNvSpPr/>
          <p:nvPr/>
        </p:nvSpPr>
        <p:spPr>
          <a:xfrm>
            <a:off x="2839766" y="1874209"/>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41906" y="1995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87284" y="2206155"/>
            <a:ext cx="756423" cy="0"/>
          </a:xfrm>
          <a:prstGeom prst="line">
            <a:avLst/>
          </a:prstGeom>
          <a:noFill/>
          <a:ln w="31750">
            <a:solidFill>
              <a:srgbClr val="55627E"/>
            </a:solidFill>
            <a:prstDash val="sysDot"/>
            <a:tailEnd type="triangle"/>
          </a:ln>
        </p:spPr>
      </p:sp>
      <p:sp>
        <p:nvSpPr>
          <p:cNvPr id="11" name="Text 9"/>
          <p:cNvSpPr/>
          <p:nvPr/>
        </p:nvSpPr>
        <p:spPr>
          <a:xfrm>
            <a:off x="5090591" y="1975065"/>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79269"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5188" y="2525534"/>
            <a:ext cx="0" cy="1294323"/>
          </a:xfrm>
          <a:prstGeom prst="line">
            <a:avLst/>
          </a:prstGeom>
          <a:noFill/>
          <a:ln w="31750">
            <a:solidFill>
              <a:srgbClr val="55627E"/>
            </a:solidFill>
            <a:prstDash val="sysDot"/>
            <a:tailEnd type="triangle"/>
          </a:ln>
        </p:spPr>
      </p:sp>
      <p:sp>
        <p:nvSpPr>
          <p:cNvPr id="14" name="Text 12"/>
          <p:cNvSpPr/>
          <p:nvPr/>
        </p:nvSpPr>
        <p:spPr>
          <a:xfrm>
            <a:off x="6057871" y="3050866"/>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5460" y="261751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76787" y="2206155"/>
            <a:ext cx="882493" cy="0"/>
          </a:xfrm>
          <a:prstGeom prst="line">
            <a:avLst/>
          </a:prstGeom>
          <a:noFill/>
          <a:ln w="31750">
            <a:solidFill>
              <a:srgbClr val="55627E"/>
            </a:solidFill>
            <a:prstDash val="sysDot"/>
          </a:ln>
        </p:spPr>
      </p:sp>
      <p:sp>
        <p:nvSpPr>
          <p:cNvPr id="17" name="Shape 15"/>
          <p:cNvSpPr/>
          <p:nvPr/>
        </p:nvSpPr>
        <p:spPr>
          <a:xfrm>
            <a:off x="8659280" y="2206155"/>
            <a:ext cx="0" cy="1613702"/>
          </a:xfrm>
          <a:prstGeom prst="line">
            <a:avLst/>
          </a:prstGeom>
          <a:noFill/>
          <a:ln w="31750">
            <a:solidFill>
              <a:srgbClr val="55627E"/>
            </a:solidFill>
            <a:prstDash val="sysDot"/>
            <a:tailEnd type="triangle"/>
          </a:ln>
        </p:spPr>
      </p:sp>
      <p:sp>
        <p:nvSpPr>
          <p:cNvPr id="18" name="Text 16"/>
          <p:cNvSpPr/>
          <p:nvPr/>
        </p:nvSpPr>
        <p:spPr>
          <a:xfrm>
            <a:off x="8743327" y="2891177"/>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8772" y="209642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49921" y="2307012"/>
            <a:ext cx="756423" cy="0"/>
          </a:xfrm>
          <a:prstGeom prst="line">
            <a:avLst/>
          </a:prstGeom>
          <a:noFill/>
          <a:ln w="38735">
            <a:solidFill>
              <a:srgbClr val="2BA6CB"/>
            </a:solidFill>
            <a:prstDash val="solid"/>
            <a:tailEnd type="arrow"/>
          </a:ln>
        </p:spPr>
      </p:sp>
      <p:sp>
        <p:nvSpPr>
          <p:cNvPr id="21" name="Text 19"/>
          <p:cNvSpPr/>
          <p:nvPr/>
        </p:nvSpPr>
        <p:spPr>
          <a:xfrm>
            <a:off x="2870856" y="2311253"/>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094904" y="219728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a:off x="1305170" y="1886777"/>
            <a:ext cx="1344752" cy="638757"/>
          </a:xfrm>
          <a:prstGeom prst="roundRect">
            <a:avLst>
              <a:gd name="adj" fmla="val 1288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4" name="Shape 22"/>
          <p:cNvSpPr/>
          <p:nvPr/>
        </p:nvSpPr>
        <p:spPr>
          <a:xfrm>
            <a:off x="1396610" y="1995843"/>
            <a:ext cx="420624" cy="420624"/>
          </a:xfrm>
          <a:prstGeom prst="ellipse">
            <a:avLst/>
          </a:prstGeom>
          <a:solidFill>
            <a:srgbClr val="E3F4FA"/>
          </a:solidFill>
          <a:ln w="12700">
            <a:solidFill>
              <a:srgbClr val="E3F4FA"/>
            </a:solidFill>
            <a:prstDash val="solid"/>
          </a:ln>
        </p:spPr>
      </p:sp>
      <p:sp>
        <p:nvSpPr>
          <p:cNvPr id="25" name="Icono monitor"/>
          <p:cNvSpPr/>
          <p:nvPr/>
        </p:nvSpPr>
        <p:spPr>
          <a:xfrm>
            <a:off x="1451474" y="2050707"/>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26" name="Text 24"/>
          <p:cNvSpPr/>
          <p:nvPr/>
        </p:nvSpPr>
        <p:spPr>
          <a:xfrm>
            <a:off x="1872098" y="1886777"/>
            <a:ext cx="722960" cy="638757"/>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UI</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botón Enviar</a:t>
            </a:r>
            <a:endParaRPr lang="en-US" sz="993" dirty="0"/>
          </a:p>
        </p:txBody>
      </p:sp>
      <p:sp>
        <p:nvSpPr>
          <p:cNvPr id="27" name="Text 25"/>
          <p:cNvSpPr/>
          <p:nvPr/>
        </p:nvSpPr>
        <p:spPr>
          <a:xfrm>
            <a:off x="3406344" y="1886777"/>
            <a:ext cx="1680940"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SolicitudController</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993" dirty="0"/>
          </a:p>
        </p:txBody>
      </p:sp>
      <p:sp>
        <p:nvSpPr>
          <p:cNvPr id="28" name="Text 26"/>
          <p:cNvSpPr/>
          <p:nvPr/>
        </p:nvSpPr>
        <p:spPr>
          <a:xfrm>
            <a:off x="5843707" y="1886777"/>
            <a:ext cx="1933081" cy="638757"/>
          </a:xfrm>
          <a:prstGeom prst="roundRect">
            <a:avLst>
              <a:gd name="adj" fmla="val 1288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93" b="1" dirty="0">
                <a:solidFill>
                  <a:srgbClr val="0B1A3C"/>
                </a:solidFill>
                <a:latin typeface="Segoe UI" pitchFamily="34" charset="0"/>
                <a:ea typeface="Segoe UI" pitchFamily="34" charset="-122"/>
                <a:cs typeface="Segoe UI" pitchFamily="34" charset="-120"/>
              </a:rPr>
              <a:t>ServicioDeSolicitudes</a:t>
            </a:r>
            <a:endParaRPr lang="en-US" sz="993"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993" dirty="0"/>
          </a:p>
        </p:txBody>
      </p:sp>
      <p:sp>
        <p:nvSpPr>
          <p:cNvPr id="29" name="Shape 27"/>
          <p:cNvSpPr/>
          <p:nvPr/>
        </p:nvSpPr>
        <p:spPr>
          <a:xfrm>
            <a:off x="5759660" y="3819857"/>
            <a:ext cx="1680940" cy="705995"/>
          </a:xfrm>
          <a:prstGeom prst="roundRect">
            <a:avLst>
              <a:gd name="adj" fmla="val 11657"/>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5851100" y="3962543"/>
            <a:ext cx="420624" cy="420624"/>
          </a:xfrm>
          <a:prstGeom prst="ellipse">
            <a:avLst/>
          </a:prstGeom>
          <a:solidFill>
            <a:srgbClr val="E8EBEE"/>
          </a:solidFill>
          <a:ln w="12700">
            <a:solidFill>
              <a:srgbClr val="E8EBEE"/>
            </a:solidFill>
            <a:prstDash val="solid"/>
          </a:ln>
        </p:spPr>
      </p:sp>
      <p:sp>
        <p:nvSpPr>
          <p:cNvPr id="31" name="Icono database"/>
          <p:cNvSpPr/>
          <p:nvPr/>
        </p:nvSpPr>
        <p:spPr>
          <a:xfrm>
            <a:off x="5905964"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2" name="Text 30"/>
          <p:cNvSpPr/>
          <p:nvPr/>
        </p:nvSpPr>
        <p:spPr>
          <a:xfrm>
            <a:off x="6326588" y="3819857"/>
            <a:ext cx="1059148"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solicitud</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SOL-100 → ENVIADA</a:t>
            </a:r>
            <a:endParaRPr lang="en-US" sz="993" dirty="0"/>
          </a:p>
        </p:txBody>
      </p:sp>
      <p:sp>
        <p:nvSpPr>
          <p:cNvPr id="33" name="Shape 31"/>
          <p:cNvSpPr/>
          <p:nvPr/>
        </p:nvSpPr>
        <p:spPr>
          <a:xfrm>
            <a:off x="7776787" y="3819857"/>
            <a:ext cx="1764987" cy="705995"/>
          </a:xfrm>
          <a:prstGeom prst="roundRect">
            <a:avLst>
              <a:gd name="adj" fmla="val 11657"/>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7868227" y="3962543"/>
            <a:ext cx="420624" cy="420624"/>
          </a:xfrm>
          <a:prstGeom prst="ellipse">
            <a:avLst/>
          </a:prstGeom>
          <a:solidFill>
            <a:srgbClr val="E8EBEE"/>
          </a:solidFill>
          <a:ln w="12700">
            <a:solidFill>
              <a:srgbClr val="E8EBEE"/>
            </a:solidFill>
            <a:prstDash val="solid"/>
          </a:ln>
        </p:spPr>
      </p:sp>
      <p:sp>
        <p:nvSpPr>
          <p:cNvPr id="35" name="Icono database"/>
          <p:cNvSpPr/>
          <p:nvPr/>
        </p:nvSpPr>
        <p:spPr>
          <a:xfrm>
            <a:off x="7923091" y="401740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36" name="Text 34"/>
          <p:cNvSpPr/>
          <p:nvPr/>
        </p:nvSpPr>
        <p:spPr>
          <a:xfrm>
            <a:off x="8343715" y="3819857"/>
            <a:ext cx="1143195" cy="705995"/>
          </a:xfrm>
          <a:prstGeom prst="rect">
            <a:avLst/>
          </a:prstGeom>
          <a:noFill/>
          <a:ln/>
        </p:spPr>
        <p:txBody>
          <a:bodyPr wrap="square" lIns="12700" tIns="25400" rIns="25400" bIns="12700" rtlCol="0" anchor="ctr">
            <a:normAutofit/>
          </a:bodyPr>
          <a:lstStyle/>
          <a:p>
            <a:pPr algn="l" indent="0" marL="0">
              <a:lnSpc>
                <a:spcPct val="95000"/>
              </a:lnSpc>
              <a:buNone/>
            </a:pPr>
            <a:r>
              <a:rPr lang="en-US" sz="993" b="1" dirty="0">
                <a:solidFill>
                  <a:srgbClr val="0B1A3C"/>
                </a:solidFill>
                <a:latin typeface="Segoe UI" pitchFamily="34" charset="0"/>
                <a:ea typeface="Segoe UI" pitchFamily="34" charset="-122"/>
                <a:cs typeface="Segoe UI" pitchFamily="34" charset="-120"/>
              </a:rPr>
              <a:t>tabla evento</a:t>
            </a:r>
            <a:endParaRPr lang="en-US" sz="993"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993"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respuesta llega enseguida. El aviso todavía no existe: se entrega después.</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bandeja de salida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mensajero pasa cada 5 segundos.</a:t>
            </a:r>
            <a:endParaRPr lang="en-US" sz="1700" dirty="0"/>
          </a:p>
        </p:txBody>
      </p:sp>
      <p:sp>
        <p:nvSpPr>
          <p:cNvPr id="6" name="Shape 4"/>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806440"/>
            <a:ext cx="438912" cy="438912"/>
          </a:xfrm>
          <a:prstGeom prst="ellipse">
            <a:avLst/>
          </a:prstGeom>
          <a:solidFill>
            <a:srgbClr val="FFFFFF"/>
          </a:solidFill>
          <a:ln w="12700">
            <a:solidFill>
              <a:srgbClr val="FFFFFF"/>
            </a:solidFill>
            <a:prstDash val="solid"/>
          </a:ln>
        </p:spPr>
      </p:sp>
      <p:sp>
        <p:nvSpPr>
          <p:cNvPr id="8" name="Icono mail"/>
          <p:cNvSpPr/>
          <p:nvPr/>
        </p:nvSpPr>
        <p:spPr>
          <a:xfrm>
            <a:off x="900867" y="5911779"/>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9" name="Text 7"/>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0" name="Shape 8"/>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inbox"/>
          <p:cNvSpPr/>
          <p:nvPr/>
        </p:nvSpPr>
        <p:spPr>
          <a:xfrm>
            <a:off x="1650149" y="2112721"/>
            <a:ext cx="666598" cy="666598"/>
          </a:xfrm>
          <a:custGeom>
            <a:avLst/>
            <a:gdLst/>
            <a:ahLst/>
            <a:cxnLst/>
            <a:rect l="l" t="t" r="r" b="b"/>
            <a:pathLst>
              <a:path w="666598" h="666598">
                <a:moveTo>
                  <a:pt x="611048" y="333299"/>
                </a:moveTo>
                <a:lnTo>
                  <a:pt x="444398" y="333299"/>
                </a:lnTo>
                <a:lnTo>
                  <a:pt x="388849" y="416624"/>
                </a:lnTo>
                <a:lnTo>
                  <a:pt x="277749" y="416624"/>
                </a:lnTo>
                <a:lnTo>
                  <a:pt x="222199" y="333299"/>
                </a:lnTo>
                <a:lnTo>
                  <a:pt x="55550" y="333299"/>
                </a:lnTo>
                <a:moveTo>
                  <a:pt x="151373" y="141930"/>
                </a:moveTo>
                <a:lnTo>
                  <a:pt x="55550" y="333299"/>
                </a:lnTo>
                <a:lnTo>
                  <a:pt x="55550" y="499948"/>
                </a:lnTo>
                <a:cubicBezTo>
                  <a:pt x="55550" y="530628"/>
                  <a:pt x="80420" y="555498"/>
                  <a:pt x="111100" y="555498"/>
                </a:cubicBezTo>
                <a:lnTo>
                  <a:pt x="555498" y="555498"/>
                </a:lnTo>
                <a:cubicBezTo>
                  <a:pt x="586177" y="555498"/>
                  <a:pt x="611048" y="530628"/>
                  <a:pt x="611048" y="499948"/>
                </a:cubicBezTo>
                <a:lnTo>
                  <a:pt x="611048" y="333299"/>
                </a:lnTo>
                <a:lnTo>
                  <a:pt x="515224" y="141930"/>
                </a:lnTo>
                <a:cubicBezTo>
                  <a:pt x="505844" y="123052"/>
                  <a:pt x="486587" y="111111"/>
                  <a:pt x="465507" y="111100"/>
                </a:cubicBezTo>
                <a:lnTo>
                  <a:pt x="201090" y="111100"/>
                </a:lnTo>
                <a:cubicBezTo>
                  <a:pt x="180011" y="111111"/>
                  <a:pt x="160754" y="123052"/>
                  <a:pt x="151373" y="141930"/>
                </a:cubicBezTo>
                <a:close/>
              </a:path>
            </a:pathLst>
          </a:custGeom>
          <a:noFill/>
          <a:ln w="48606" cap="rnd">
            <a:solidFill>
              <a:srgbClr val="0B2350"/>
            </a:solidFill>
            <a:prstDash val="solid"/>
            <a:round/>
          </a:ln>
        </p:spPr>
      </p:sp>
      <p:sp>
        <p:nvSpPr>
          <p:cNvPr id="12" name="Text 10"/>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Evento pendiente</a:t>
            </a:r>
            <a:endParaRPr lang="en-US" sz="1800" dirty="0"/>
          </a:p>
        </p:txBody>
      </p:sp>
      <p:sp>
        <p:nvSpPr>
          <p:cNvPr id="14" name="Text 12"/>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Espera en la tabla evento, junto a la solicitud.</a:t>
            </a:r>
            <a:endParaRPr lang="en-US" sz="1400" dirty="0"/>
          </a:p>
        </p:txBody>
      </p:sp>
      <p:sp>
        <p:nvSpPr>
          <p:cNvPr id="15" name="Shape 13"/>
          <p:cNvSpPr/>
          <p:nvPr/>
        </p:nvSpPr>
        <p:spPr>
          <a:xfrm>
            <a:off x="2692108" y="2446020"/>
            <a:ext cx="1324280" cy="0"/>
          </a:xfrm>
          <a:prstGeom prst="line">
            <a:avLst/>
          </a:prstGeom>
          <a:noFill/>
          <a:ln w="38100">
            <a:solidFill>
              <a:srgbClr val="2BA6CB"/>
            </a:solidFill>
            <a:prstDash val="solid"/>
            <a:tailEnd type="triangle"/>
          </a:ln>
        </p:spPr>
      </p:sp>
      <p:sp>
        <p:nvSpPr>
          <p:cNvPr id="16" name="Shape 14"/>
          <p:cNvSpPr/>
          <p:nvPr/>
        </p:nvSpPr>
        <p:spPr>
          <a:xfrm>
            <a:off x="41078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timer"/>
          <p:cNvSpPr/>
          <p:nvPr/>
        </p:nvSpPr>
        <p:spPr>
          <a:xfrm>
            <a:off x="4391749" y="2112721"/>
            <a:ext cx="666598" cy="666598"/>
          </a:xfrm>
          <a:custGeom>
            <a:avLst/>
            <a:gdLst/>
            <a:ahLst/>
            <a:cxnLst/>
            <a:rect l="l" t="t" r="r" b="b"/>
            <a:pathLst>
              <a:path w="666598" h="666598">
                <a:moveTo>
                  <a:pt x="277749" y="55550"/>
                </a:moveTo>
                <a:lnTo>
                  <a:pt x="388849" y="55550"/>
                </a:lnTo>
                <a:moveTo>
                  <a:pt x="333299" y="388849"/>
                </a:moveTo>
                <a:lnTo>
                  <a:pt x="416624" y="305524"/>
                </a:lnTo>
                <a:moveTo>
                  <a:pt x="555498" y="388849"/>
                </a:moveTo>
                <a:cubicBezTo>
                  <a:pt x="555498" y="511566"/>
                  <a:pt x="456016" y="611048"/>
                  <a:pt x="333299" y="611048"/>
                </a:cubicBezTo>
                <a:cubicBezTo>
                  <a:pt x="210582" y="611048"/>
                  <a:pt x="111100" y="511566"/>
                  <a:pt x="111100" y="388849"/>
                </a:cubicBezTo>
                <a:cubicBezTo>
                  <a:pt x="111100" y="266131"/>
                  <a:pt x="210582" y="166649"/>
                  <a:pt x="333299" y="166649"/>
                </a:cubicBezTo>
                <a:cubicBezTo>
                  <a:pt x="456016" y="166649"/>
                  <a:pt x="555498" y="266131"/>
                  <a:pt x="555498" y="388849"/>
                </a:cubicBezTo>
                <a:close/>
              </a:path>
            </a:pathLst>
          </a:custGeom>
          <a:noFill/>
          <a:ln w="48606" cap="rnd">
            <a:solidFill>
              <a:srgbClr val="0B2350"/>
            </a:solidFill>
            <a:prstDash val="solid"/>
            <a:round/>
          </a:ln>
        </p:spPr>
      </p:sp>
      <p:sp>
        <p:nvSpPr>
          <p:cNvPr id="18" name="Text 16"/>
          <p:cNvSpPr/>
          <p:nvPr/>
        </p:nvSpPr>
        <p:spPr>
          <a:xfrm>
            <a:off x="40712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20" name="Text 18"/>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Revisa los pendientes cada 5 segundos.</a:t>
            </a:r>
            <a:endParaRPr lang="en-US" sz="1400" dirty="0"/>
          </a:p>
        </p:txBody>
      </p:sp>
      <p:sp>
        <p:nvSpPr>
          <p:cNvPr id="21" name="Shape 19"/>
          <p:cNvSpPr/>
          <p:nvPr/>
        </p:nvSpPr>
        <p:spPr>
          <a:xfrm>
            <a:off x="5433708" y="2446020"/>
            <a:ext cx="1324280" cy="0"/>
          </a:xfrm>
          <a:prstGeom prst="line">
            <a:avLst/>
          </a:prstGeom>
          <a:noFill/>
          <a:ln w="38100">
            <a:solidFill>
              <a:srgbClr val="2BA6CB"/>
            </a:solidFill>
            <a:prstDash val="solid"/>
            <a:tailEnd type="triangle"/>
          </a:ln>
        </p:spPr>
      </p:sp>
      <p:sp>
        <p:nvSpPr>
          <p:cNvPr id="22" name="Shape 20"/>
          <p:cNvSpPr/>
          <p:nvPr/>
        </p:nvSpPr>
        <p:spPr>
          <a:xfrm>
            <a:off x="68494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3" name="Icono send"/>
          <p:cNvSpPr/>
          <p:nvPr/>
        </p:nvSpPr>
        <p:spPr>
          <a:xfrm>
            <a:off x="7133349" y="2112721"/>
            <a:ext cx="666598" cy="666598"/>
          </a:xfrm>
          <a:custGeom>
            <a:avLst/>
            <a:gdLst/>
            <a:ahLst/>
            <a:cxnLst/>
            <a:rect l="l" t="t" r="r" b="b"/>
            <a:pathLst>
              <a:path w="666598" h="666598">
                <a:moveTo>
                  <a:pt x="403736" y="602326"/>
                </a:moveTo>
                <a:cubicBezTo>
                  <a:pt x="405897" y="607712"/>
                  <a:pt x="411179" y="611186"/>
                  <a:pt x="416980" y="611038"/>
                </a:cubicBezTo>
                <a:cubicBezTo>
                  <a:pt x="422781" y="610889"/>
                  <a:pt x="427879" y="607149"/>
                  <a:pt x="429761" y="601660"/>
                </a:cubicBezTo>
                <a:lnTo>
                  <a:pt x="610298" y="73937"/>
                </a:lnTo>
                <a:cubicBezTo>
                  <a:pt x="612113" y="68913"/>
                  <a:pt x="610859" y="63293"/>
                  <a:pt x="607082" y="59515"/>
                </a:cubicBezTo>
                <a:cubicBezTo>
                  <a:pt x="603305" y="55738"/>
                  <a:pt x="597685" y="54485"/>
                  <a:pt x="592661" y="56300"/>
                </a:cubicBezTo>
                <a:lnTo>
                  <a:pt x="64938" y="236837"/>
                </a:lnTo>
                <a:cubicBezTo>
                  <a:pt x="59448" y="238719"/>
                  <a:pt x="55708" y="243816"/>
                  <a:pt x="55560" y="249617"/>
                </a:cubicBezTo>
                <a:cubicBezTo>
                  <a:pt x="55411" y="255419"/>
                  <a:pt x="58885" y="260701"/>
                  <a:pt x="64271" y="262862"/>
                </a:cubicBezTo>
                <a:lnTo>
                  <a:pt x="284526" y="351186"/>
                </a:lnTo>
                <a:cubicBezTo>
                  <a:pt x="298596" y="356819"/>
                  <a:pt x="309753" y="367956"/>
                  <a:pt x="315412" y="382016"/>
                </a:cubicBezTo>
                <a:close/>
                <a:moveTo>
                  <a:pt x="606993" y="59633"/>
                </a:moveTo>
                <a:lnTo>
                  <a:pt x="303135" y="363462"/>
                </a:lnTo>
              </a:path>
            </a:pathLst>
          </a:custGeom>
          <a:noFill/>
          <a:ln w="48606" cap="rnd">
            <a:solidFill>
              <a:srgbClr val="0B6E8A"/>
            </a:solidFill>
            <a:prstDash val="solid"/>
            <a:round/>
          </a:ln>
        </p:spPr>
      </p:sp>
      <p:sp>
        <p:nvSpPr>
          <p:cNvPr id="24" name="Text 22"/>
          <p:cNvSpPr/>
          <p:nvPr/>
        </p:nvSpPr>
        <p:spPr>
          <a:xfrm>
            <a:off x="68128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Publicador</a:t>
            </a:r>
            <a:endParaRPr lang="en-US" sz="1800" dirty="0"/>
          </a:p>
        </p:txBody>
      </p:sp>
      <p:sp>
        <p:nvSpPr>
          <p:cNvPr id="26" name="Text 24"/>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entrega por HTTP, con hasta 3 intentos.</a:t>
            </a:r>
            <a:endParaRPr lang="en-US" sz="1400" dirty="0"/>
          </a:p>
        </p:txBody>
      </p:sp>
      <p:sp>
        <p:nvSpPr>
          <p:cNvPr id="27" name="Shape 25"/>
          <p:cNvSpPr/>
          <p:nvPr/>
        </p:nvSpPr>
        <p:spPr>
          <a:xfrm>
            <a:off x="8175308" y="2446020"/>
            <a:ext cx="1324280" cy="0"/>
          </a:xfrm>
          <a:prstGeom prst="line">
            <a:avLst/>
          </a:prstGeom>
          <a:noFill/>
          <a:ln w="38100">
            <a:solidFill>
              <a:srgbClr val="2BA6CB"/>
            </a:solidFill>
            <a:prstDash val="solid"/>
            <a:tailEnd type="triangle"/>
          </a:ln>
        </p:spPr>
      </p:sp>
      <p:sp>
        <p:nvSpPr>
          <p:cNvPr id="28" name="Shape 26"/>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bell"/>
          <p:cNvSpPr/>
          <p:nvPr/>
        </p:nvSpPr>
        <p:spPr>
          <a:xfrm>
            <a:off x="98749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0" name="Text 28"/>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32" name="Text 30"/>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33" name="Shape 31"/>
          <p:cNvSpPr/>
          <p:nvPr/>
        </p:nvSpPr>
        <p:spPr>
          <a:xfrm>
            <a:off x="7466648" y="4123944"/>
            <a:ext cx="0" cy="955548"/>
          </a:xfrm>
          <a:prstGeom prst="line">
            <a:avLst/>
          </a:prstGeom>
          <a:noFill/>
          <a:ln w="25400">
            <a:solidFill>
              <a:srgbClr val="8A4B06"/>
            </a:solidFill>
            <a:prstDash val="dash"/>
          </a:ln>
        </p:spPr>
      </p:sp>
      <p:sp>
        <p:nvSpPr>
          <p:cNvPr id="34" name="Shape 32"/>
          <p:cNvSpPr/>
          <p:nvPr/>
        </p:nvSpPr>
        <p:spPr>
          <a:xfrm flipH="1">
            <a:off x="7372807" y="5079492"/>
            <a:ext cx="93840" cy="0"/>
          </a:xfrm>
          <a:prstGeom prst="line">
            <a:avLst/>
          </a:prstGeom>
          <a:noFill/>
          <a:ln w="25400">
            <a:solidFill>
              <a:srgbClr val="8A4B06"/>
            </a:solidFill>
            <a:prstDash val="dash"/>
            <a:tailEnd type="triangle"/>
          </a:ln>
        </p:spPr>
      </p:sp>
      <p:sp>
        <p:nvSpPr>
          <p:cNvPr id="35" name="Text 33"/>
          <p:cNvSpPr/>
          <p:nvPr/>
        </p:nvSpPr>
        <p:spPr>
          <a:xfrm>
            <a:off x="60036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36" name="Shape 34"/>
          <p:cNvSpPr/>
          <p:nvPr/>
        </p:nvSpPr>
        <p:spPr>
          <a:xfrm>
            <a:off x="7372807" y="4645152"/>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7537399" y="4800600"/>
            <a:ext cx="548640" cy="548640"/>
          </a:xfrm>
          <a:prstGeom prst="ellipse">
            <a:avLst/>
          </a:prstGeom>
          <a:solidFill>
            <a:srgbClr val="FFFFFF"/>
          </a:solidFill>
          <a:ln w="12700">
            <a:solidFill>
              <a:srgbClr val="FFFFFF"/>
            </a:solidFill>
            <a:prstDash val="solid"/>
          </a:ln>
        </p:spPr>
      </p:sp>
      <p:sp>
        <p:nvSpPr>
          <p:cNvPr id="38" name="Icono refresh-cw"/>
          <p:cNvSpPr/>
          <p:nvPr/>
        </p:nvSpPr>
        <p:spPr>
          <a:xfrm>
            <a:off x="7669073" y="4932274"/>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39" name="Text 37"/>
          <p:cNvSpPr/>
          <p:nvPr/>
        </p:nvSpPr>
        <p:spPr>
          <a:xfrm>
            <a:off x="8214055"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0" name="Text 38"/>
          <p:cNvSpPr/>
          <p:nvPr/>
        </p:nvSpPr>
        <p:spPr>
          <a:xfrm>
            <a:off x="8214055"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Con el mismo número de evento, se reintenta en el siguiente ciclo.</a:t>
            </a:r>
            <a:endParaRPr lang="en-US" sz="11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bandeja de salida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servicio-solicitudes/…/adaptadores/salida/RelevadorDeEventosPendientes.java</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@Scheduled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(fixedDelay =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5000</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publicarPendientes()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for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EventoEntity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 : eventos.findByProcesadoFalse())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try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publicador.publicar(</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evento.getEventoId().toString(),</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evento.getSolicitudId(), evento.getTipo()));</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evento.setProcesado(true);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eventos.save(evento);</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catch</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RuntimeException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ex) {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se reintenta */</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E3F4FA"/>
          </a:solidFill>
          <a:ln w="22225">
            <a:solidFill>
              <a:srgbClr val="2BA6CB"/>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F4F7FB"/>
          </a:solidFill>
          <a:ln w="12700">
            <a:solidFill>
              <a:srgbClr val="DFE6F0"/>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41275">
            <a:solidFill>
              <a:srgbClr val="2BA6CB"/>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25400">
            <a:solidFill>
              <a:srgbClr val="CBD5E3"/>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31750">
            <a:solidFill>
              <a:srgbClr val="CBD5E3"/>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9AA5B8"/>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22860">
            <a:solidFill>
              <a:srgbClr val="CBD5E3"/>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31750">
            <a:solidFill>
              <a:srgbClr val="CBD5E3"/>
            </a:solidFill>
            <a:prstDash val="sysDot"/>
            <a:tailEnd type="triangle"/>
          </a:ln>
        </p:spPr>
      </p:sp>
      <p:sp>
        <p:nvSpPr>
          <p:cNvPr id="22" name="Text 20"/>
          <p:cNvSpPr/>
          <p:nvPr/>
        </p:nvSpPr>
        <p:spPr>
          <a:xfrm>
            <a:off x="6240062"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31750">
            <a:solidFill>
              <a:srgbClr val="CBD5E3"/>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31750">
            <a:solidFill>
              <a:srgbClr val="CBD5E3"/>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25400">
            <a:solidFill>
              <a:srgbClr val="CBD5E3"/>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4353262" y="2007103"/>
            <a:ext cx="388500" cy="388500"/>
          </a:xfrm>
          <a:prstGeom prst="ellipse">
            <a:avLst/>
          </a:prstGeom>
          <a:solidFill>
            <a:srgbClr val="E3F4FA"/>
          </a:solidFill>
          <a:ln w="12700">
            <a:solidFill>
              <a:srgbClr val="E3F4F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6E8A"/>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E3F4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12700">
            <a:solidFill>
              <a:srgbClr val="D5DDE8"/>
            </a:solidFill>
            <a:prstDash val="solid"/>
          </a:ln>
        </p:spPr>
      </p:sp>
      <p:sp>
        <p:nvSpPr>
          <p:cNvPr id="42" name="Shape 40"/>
          <p:cNvSpPr/>
          <p:nvPr/>
        </p:nvSpPr>
        <p:spPr>
          <a:xfrm>
            <a:off x="2307619" y="3488431"/>
            <a:ext cx="388500" cy="388500"/>
          </a:xfrm>
          <a:prstGeom prst="ellipse">
            <a:avLst/>
          </a:prstGeom>
          <a:solidFill>
            <a:srgbClr val="EEF2F7"/>
          </a:solidFill>
          <a:ln w="12700">
            <a:solidFill>
              <a:srgbClr val="EEF2F7"/>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A9B4C6"/>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8" name="Text 46"/>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espera en la tabla de pendientes.</a:t>
            </a:r>
            <a:endParaRPr lang="en-US" sz="1300" dirty="0"/>
          </a:p>
        </p:txBody>
      </p:sp>
      <p:sp>
        <p:nvSpPr>
          <p:cNvPr id="49" name="Shape 47"/>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1" name="Text 49"/>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revisa si hay pendientes.</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F4F7FB"/>
          </a:solidFill>
          <a:ln w="12700">
            <a:solidFill>
              <a:srgbClr val="DFE6F0"/>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E3F4FA"/>
          </a:solidFill>
          <a:ln w="22225">
            <a:solidFill>
              <a:srgbClr val="2BA6CB"/>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25400">
            <a:solidFill>
              <a:srgbClr val="55627E"/>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41275">
            <a:solidFill>
              <a:srgbClr val="2BA6CB"/>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47625">
            <a:solidFill>
              <a:srgbClr val="2BA6CB"/>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22860">
            <a:solidFill>
              <a:srgbClr val="CBD5E3"/>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31750">
            <a:solidFill>
              <a:srgbClr val="CBD5E3"/>
            </a:solidFill>
            <a:prstDash val="sysDot"/>
            <a:tailEnd type="triangle"/>
          </a:ln>
        </p:spPr>
      </p:sp>
      <p:sp>
        <p:nvSpPr>
          <p:cNvPr id="22" name="Text 20"/>
          <p:cNvSpPr/>
          <p:nvPr/>
        </p:nvSpPr>
        <p:spPr>
          <a:xfrm>
            <a:off x="6240062"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31750">
            <a:solidFill>
              <a:srgbClr val="CBD5E3"/>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31750">
            <a:solidFill>
              <a:srgbClr val="CBD5E3"/>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25400">
            <a:solidFill>
              <a:srgbClr val="CBD5E3"/>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4353262" y="2007103"/>
            <a:ext cx="388500" cy="388500"/>
          </a:xfrm>
          <a:prstGeom prst="ellipse">
            <a:avLst/>
          </a:prstGeom>
          <a:solidFill>
            <a:srgbClr val="E2E5EA"/>
          </a:solidFill>
          <a:ln w="12700">
            <a:solidFill>
              <a:srgbClr val="E2E5E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2350"/>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E3F4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12700">
            <a:solidFill>
              <a:srgbClr val="D5DDE8"/>
            </a:solidFill>
            <a:prstDash val="solid"/>
          </a:ln>
        </p:spPr>
      </p:sp>
      <p:sp>
        <p:nvSpPr>
          <p:cNvPr id="42" name="Shape 40"/>
          <p:cNvSpPr/>
          <p:nvPr/>
        </p:nvSpPr>
        <p:spPr>
          <a:xfrm>
            <a:off x="2307619" y="3488431"/>
            <a:ext cx="388500" cy="388500"/>
          </a:xfrm>
          <a:prstGeom prst="ellipse">
            <a:avLst/>
          </a:prstGeom>
          <a:solidFill>
            <a:srgbClr val="EEF2F7"/>
          </a:solidFill>
          <a:ln w="12700">
            <a:solidFill>
              <a:srgbClr val="EEF2F7"/>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A9B4C6"/>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8" name="Text 46"/>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publicador lo entrega hasta con tres intentos, siempre con el mismo número de evento.</a:t>
            </a:r>
            <a:endParaRPr lang="en-US" sz="1300" dirty="0"/>
          </a:p>
        </p:txBody>
      </p:sp>
      <p:sp>
        <p:nvSpPr>
          <p:cNvPr id="49" name="Shape 47"/>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1" name="Text 49"/>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llega a notificaciones por HTTP.</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F4F7FB"/>
          </a:solidFill>
          <a:ln w="12700">
            <a:solidFill>
              <a:srgbClr val="DFE6F0"/>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F4F7FB"/>
          </a:solidFill>
          <a:ln w="12700">
            <a:solidFill>
              <a:srgbClr val="DFE6F0"/>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25400">
            <a:solidFill>
              <a:srgbClr val="55627E"/>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25400">
            <a:solidFill>
              <a:srgbClr val="55627E"/>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31750">
            <a:solidFill>
              <a:srgbClr val="2E6DB4"/>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22860">
            <a:solidFill>
              <a:srgbClr val="CBD5E3"/>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47625">
            <a:solidFill>
              <a:srgbClr val="2BA6CB"/>
            </a:solidFill>
            <a:prstDash val="sysDot"/>
            <a:tailEnd type="triangle"/>
          </a:ln>
        </p:spPr>
      </p:sp>
      <p:sp>
        <p:nvSpPr>
          <p:cNvPr id="22" name="Text 20"/>
          <p:cNvSpPr/>
          <p:nvPr/>
        </p:nvSpPr>
        <p:spPr>
          <a:xfrm>
            <a:off x="6240062" y="35729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31750">
            <a:solidFill>
              <a:srgbClr val="CBD5E3"/>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47625">
            <a:solidFill>
              <a:srgbClr val="2BA6CB"/>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25400">
            <a:solidFill>
              <a:srgbClr val="CBD5E3"/>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4353262" y="2007103"/>
            <a:ext cx="388500" cy="388500"/>
          </a:xfrm>
          <a:prstGeom prst="ellipse">
            <a:avLst/>
          </a:prstGeom>
          <a:solidFill>
            <a:srgbClr val="E2E5EA"/>
          </a:solidFill>
          <a:ln w="12700">
            <a:solidFill>
              <a:srgbClr val="E2E5E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2350"/>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12700">
            <a:solidFill>
              <a:srgbClr val="D5DDE8"/>
            </a:solidFill>
            <a:prstDash val="solid"/>
          </a:ln>
        </p:spPr>
      </p:sp>
      <p:sp>
        <p:nvSpPr>
          <p:cNvPr id="42" name="Shape 40"/>
          <p:cNvSpPr/>
          <p:nvPr/>
        </p:nvSpPr>
        <p:spPr>
          <a:xfrm>
            <a:off x="2307619" y="3488431"/>
            <a:ext cx="388500" cy="388500"/>
          </a:xfrm>
          <a:prstGeom prst="ellipse">
            <a:avLst/>
          </a:prstGeom>
          <a:solidFill>
            <a:srgbClr val="EEF2F7"/>
          </a:solidFill>
          <a:ln w="12700">
            <a:solidFill>
              <a:srgbClr val="EEF2F7"/>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A9B4C6"/>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46"/>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revisa si ya conoce ese número de evento.</a:t>
            </a:r>
            <a:endParaRPr lang="en-US" sz="1300" dirty="0"/>
          </a:p>
        </p:txBody>
      </p:sp>
      <p:sp>
        <p:nvSpPr>
          <p:cNvPr id="49" name="Shape 47"/>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1" name="Text 49"/>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 nuevo, crea el aviso y anota el número.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F4F7FB"/>
          </a:solidFill>
          <a:ln w="12700">
            <a:solidFill>
              <a:srgbClr val="DFE6F0"/>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F4F7FB"/>
          </a:solidFill>
          <a:ln w="12700">
            <a:solidFill>
              <a:srgbClr val="DFE6F0"/>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25400">
            <a:solidFill>
              <a:srgbClr val="55627E"/>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25400">
            <a:solidFill>
              <a:srgbClr val="55627E"/>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31750">
            <a:solidFill>
              <a:srgbClr val="2E6DB4"/>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38735">
            <a:solidFill>
              <a:srgbClr val="2BA6CB"/>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31750">
            <a:solidFill>
              <a:srgbClr val="55627E"/>
            </a:solidFill>
            <a:prstDash val="sysDot"/>
            <a:tailEnd type="triangle"/>
          </a:ln>
        </p:spPr>
      </p:sp>
      <p:sp>
        <p:nvSpPr>
          <p:cNvPr id="22" name="Text 20"/>
          <p:cNvSpPr/>
          <p:nvPr/>
        </p:nvSpPr>
        <p:spPr>
          <a:xfrm>
            <a:off x="6240062" y="35729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47625">
            <a:solidFill>
              <a:srgbClr val="2BA6CB"/>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31750">
            <a:solidFill>
              <a:srgbClr val="55627E"/>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25400">
            <a:solidFill>
              <a:srgbClr val="CBD5E3"/>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4353262" y="2007103"/>
            <a:ext cx="388500" cy="388500"/>
          </a:xfrm>
          <a:prstGeom prst="ellipse">
            <a:avLst/>
          </a:prstGeom>
          <a:solidFill>
            <a:srgbClr val="E2E5EA"/>
          </a:solidFill>
          <a:ln w="12700">
            <a:solidFill>
              <a:srgbClr val="E2E5E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2350"/>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3F6FA"/>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E3F4FA"/>
          </a:solidFill>
          <a:ln w="12700">
            <a:solidFill>
              <a:srgbClr val="919CB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2" name="Shape 40"/>
          <p:cNvSpPr/>
          <p:nvPr/>
        </p:nvSpPr>
        <p:spPr>
          <a:xfrm>
            <a:off x="2307619" y="3488431"/>
            <a:ext cx="388500" cy="388500"/>
          </a:xfrm>
          <a:prstGeom prst="ellipse">
            <a:avLst/>
          </a:prstGeom>
          <a:solidFill>
            <a:srgbClr val="E3F4FA"/>
          </a:solidFill>
          <a:ln w="12700">
            <a:solidFill>
              <a:srgbClr val="E3F4FA"/>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0B6E8A"/>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8" name="Text 46"/>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ya lo conocía, lo ignora. Así una reentrega no duplica el aviso.</a:t>
            </a:r>
            <a:endParaRPr lang="en-US" sz="1300" dirty="0"/>
          </a:p>
        </p:txBody>
      </p:sp>
      <p:sp>
        <p:nvSpPr>
          <p:cNvPr id="49" name="Shape 47"/>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51" name="Text 49"/>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responde que lo recibió.</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04561" y="1439527"/>
            <a:ext cx="8182574" cy="1340249"/>
          </a:xfrm>
          <a:prstGeom prst="roundRect">
            <a:avLst>
              <a:gd name="adj" fmla="val 8187"/>
            </a:avLst>
          </a:prstGeom>
          <a:solidFill>
            <a:srgbClr val="F4F7FB"/>
          </a:solidFill>
          <a:ln w="12700">
            <a:solidFill>
              <a:srgbClr val="DFE6F0"/>
            </a:solidFill>
            <a:prstDash val="solid"/>
          </a:ln>
        </p:spPr>
      </p:sp>
      <p:sp>
        <p:nvSpPr>
          <p:cNvPr id="6" name="Text 4"/>
          <p:cNvSpPr/>
          <p:nvPr/>
        </p:nvSpPr>
        <p:spPr>
          <a:xfrm>
            <a:off x="2077713" y="1494391"/>
            <a:ext cx="343408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04561" y="2991394"/>
            <a:ext cx="8182574" cy="2116183"/>
          </a:xfrm>
          <a:prstGeom prst="roundRect">
            <a:avLst>
              <a:gd name="adj" fmla="val 5185"/>
            </a:avLst>
          </a:prstGeom>
          <a:solidFill>
            <a:srgbClr val="F4F7FB"/>
          </a:solidFill>
          <a:ln w="12700">
            <a:solidFill>
              <a:srgbClr val="DFE6F0"/>
            </a:solidFill>
            <a:prstDash val="solid"/>
          </a:ln>
        </p:spPr>
      </p:sp>
      <p:sp>
        <p:nvSpPr>
          <p:cNvPr id="8" name="Text 6"/>
          <p:cNvSpPr/>
          <p:nvPr/>
        </p:nvSpPr>
        <p:spPr>
          <a:xfrm>
            <a:off x="2077713" y="3046258"/>
            <a:ext cx="205232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26968" y="2201353"/>
            <a:ext cx="634855" cy="0"/>
          </a:xfrm>
          <a:prstGeom prst="line">
            <a:avLst/>
          </a:prstGeom>
          <a:noFill/>
          <a:ln w="25400">
            <a:solidFill>
              <a:srgbClr val="55627E"/>
            </a:solidFill>
            <a:prstDash val="dash"/>
            <a:tailEnd type="triangle"/>
          </a:ln>
        </p:spPr>
      </p:sp>
      <p:sp>
        <p:nvSpPr>
          <p:cNvPr id="10" name="Text 8"/>
          <p:cNvSpPr/>
          <p:nvPr/>
        </p:nvSpPr>
        <p:spPr>
          <a:xfrm>
            <a:off x="3787118" y="198241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86534"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3690" y="2201353"/>
            <a:ext cx="705394" cy="0"/>
          </a:xfrm>
          <a:prstGeom prst="line">
            <a:avLst/>
          </a:prstGeom>
          <a:noFill/>
          <a:ln w="25400">
            <a:solidFill>
              <a:srgbClr val="55627E"/>
            </a:solidFill>
            <a:prstDash val="dash"/>
            <a:tailEnd type="triangle"/>
          </a:ln>
        </p:spPr>
      </p:sp>
      <p:sp>
        <p:nvSpPr>
          <p:cNvPr id="13" name="Text 11"/>
          <p:cNvSpPr/>
          <p:nvPr/>
        </p:nvSpPr>
        <p:spPr>
          <a:xfrm>
            <a:off x="5884752" y="198241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257" y="20916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8130" y="2469403"/>
            <a:ext cx="0" cy="945228"/>
          </a:xfrm>
          <a:prstGeom prst="line">
            <a:avLst/>
          </a:prstGeom>
          <a:noFill/>
          <a:ln w="47625">
            <a:solidFill>
              <a:srgbClr val="2BA6CB"/>
            </a:solidFill>
            <a:prstDash val="solid"/>
            <a:tailEnd type="triangle"/>
          </a:ln>
        </p:spPr>
      </p:sp>
      <p:sp>
        <p:nvSpPr>
          <p:cNvPr id="16" name="Text 14"/>
          <p:cNvSpPr/>
          <p:nvPr/>
        </p:nvSpPr>
        <p:spPr>
          <a:xfrm>
            <a:off x="6600858" y="2814784"/>
            <a:ext cx="376733" cy="192024"/>
          </a:xfrm>
          <a:prstGeom prst="rect">
            <a:avLst/>
          </a:prstGeom>
          <a:noFill/>
          <a:ln/>
        </p:spPr>
        <p:txBody>
          <a:bodyPr wrap="square" lIns="0" tIns="0" rIns="0" bIns="0" rtlCol="0" anchor="ctr"/>
          <a:lstStyle/>
          <a:p>
            <a:pPr algn="r" indent="0" marL="0">
              <a:buNone/>
            </a:pPr>
            <a:r>
              <a:rPr lang="en-US" sz="800" b="1" dirty="0">
                <a:solidFill>
                  <a:srgbClr val="0B6E8A"/>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8402" y="252896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12445" y="2469403"/>
            <a:ext cx="0" cy="945228"/>
          </a:xfrm>
          <a:prstGeom prst="line">
            <a:avLst/>
          </a:prstGeom>
          <a:noFill/>
          <a:ln w="22860">
            <a:solidFill>
              <a:srgbClr val="0B6E8A"/>
            </a:solidFill>
            <a:prstDash val="solid"/>
            <a:tailEnd type="arrow"/>
          </a:ln>
        </p:spPr>
      </p:sp>
      <p:sp>
        <p:nvSpPr>
          <p:cNvPr id="19" name="Text 17"/>
          <p:cNvSpPr/>
          <p:nvPr/>
        </p:nvSpPr>
        <p:spPr>
          <a:xfrm>
            <a:off x="7682985" y="2814784"/>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502717" y="3135608"/>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4229" y="3682681"/>
            <a:ext cx="634855" cy="0"/>
          </a:xfrm>
          <a:prstGeom prst="line">
            <a:avLst/>
          </a:prstGeom>
          <a:noFill/>
          <a:ln w="31750">
            <a:solidFill>
              <a:srgbClr val="55627E"/>
            </a:solidFill>
            <a:prstDash val="sysDot"/>
            <a:tailEnd type="triangle"/>
          </a:ln>
        </p:spPr>
      </p:sp>
      <p:sp>
        <p:nvSpPr>
          <p:cNvPr id="22" name="Text 20"/>
          <p:cNvSpPr/>
          <p:nvPr/>
        </p:nvSpPr>
        <p:spPr>
          <a:xfrm>
            <a:off x="6240062" y="35729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68046" y="3682681"/>
            <a:ext cx="705394" cy="0"/>
          </a:xfrm>
          <a:prstGeom prst="line">
            <a:avLst/>
          </a:prstGeom>
          <a:noFill/>
          <a:ln w="47625">
            <a:solidFill>
              <a:srgbClr val="2BA6CB"/>
            </a:solidFill>
            <a:prstDash val="sysDot"/>
            <a:tailEnd type="triangle"/>
          </a:ln>
        </p:spPr>
      </p:sp>
      <p:sp>
        <p:nvSpPr>
          <p:cNvPr id="24" name="Text 22"/>
          <p:cNvSpPr/>
          <p:nvPr/>
        </p:nvSpPr>
        <p:spPr>
          <a:xfrm>
            <a:off x="3994556" y="3463747"/>
            <a:ext cx="25237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194418" y="35729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78835" y="4091809"/>
            <a:ext cx="0" cy="310373"/>
          </a:xfrm>
          <a:prstGeom prst="line">
            <a:avLst/>
          </a:prstGeom>
          <a:noFill/>
          <a:ln w="31750">
            <a:solidFill>
              <a:srgbClr val="55627E"/>
            </a:solidFill>
            <a:prstDash val="sysDot"/>
            <a:tailEnd type="triangle"/>
          </a:ln>
        </p:spPr>
      </p:sp>
      <p:sp>
        <p:nvSpPr>
          <p:cNvPr id="27" name="Text 25"/>
          <p:cNvSpPr/>
          <p:nvPr/>
        </p:nvSpPr>
        <p:spPr>
          <a:xfrm>
            <a:off x="5249374" y="4119764"/>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69107" y="41372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41491" y="2201353"/>
            <a:ext cx="634855" cy="0"/>
          </a:xfrm>
          <a:prstGeom prst="line">
            <a:avLst/>
          </a:prstGeom>
          <a:noFill/>
          <a:ln w="41275">
            <a:solidFill>
              <a:srgbClr val="2BA6CB"/>
            </a:solidFill>
            <a:prstDash val="dash"/>
            <a:tailEnd type="triangle"/>
          </a:ln>
        </p:spPr>
      </p:sp>
      <p:sp>
        <p:nvSpPr>
          <p:cNvPr id="30" name="Text 28"/>
          <p:cNvSpPr/>
          <p:nvPr/>
        </p:nvSpPr>
        <p:spPr>
          <a:xfrm>
            <a:off x="8301642" y="1982419"/>
            <a:ext cx="314554"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201058" y="20916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16179" y="1933303"/>
            <a:ext cx="1410789" cy="536100"/>
          </a:xfrm>
          <a:prstGeom prst="roundRect">
            <a:avLst>
              <a:gd name="adj" fmla="val 15351"/>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00" dirty="0"/>
          </a:p>
        </p:txBody>
      </p:sp>
      <p:sp>
        <p:nvSpPr>
          <p:cNvPr id="33" name="Shape 31"/>
          <p:cNvSpPr/>
          <p:nvPr/>
        </p:nvSpPr>
        <p:spPr>
          <a:xfrm>
            <a:off x="4261822" y="1933303"/>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4353262" y="2007103"/>
            <a:ext cx="388500" cy="388500"/>
          </a:xfrm>
          <a:prstGeom prst="ellipse">
            <a:avLst/>
          </a:prstGeom>
          <a:solidFill>
            <a:srgbClr val="E3F4FA"/>
          </a:solidFill>
          <a:ln w="12700">
            <a:solidFill>
              <a:srgbClr val="E3F4FA"/>
            </a:solidFill>
            <a:prstDash val="solid"/>
          </a:ln>
        </p:spPr>
      </p:sp>
      <p:sp>
        <p:nvSpPr>
          <p:cNvPr id="35" name="Icono timer"/>
          <p:cNvSpPr/>
          <p:nvPr/>
        </p:nvSpPr>
        <p:spPr>
          <a:xfrm>
            <a:off x="4408126" y="2061967"/>
            <a:ext cx="278772" cy="278772"/>
          </a:xfrm>
          <a:custGeom>
            <a:avLst/>
            <a:gdLst/>
            <a:ahLst/>
            <a:cxnLst/>
            <a:rect l="l" t="t" r="r" b="b"/>
            <a:pathLst>
              <a:path w="278772" h="278772">
                <a:moveTo>
                  <a:pt x="116155" y="23231"/>
                </a:moveTo>
                <a:lnTo>
                  <a:pt x="162617" y="23231"/>
                </a:lnTo>
                <a:moveTo>
                  <a:pt x="139386" y="162617"/>
                </a:moveTo>
                <a:lnTo>
                  <a:pt x="174232" y="127770"/>
                </a:lnTo>
                <a:moveTo>
                  <a:pt x="232310" y="162617"/>
                </a:moveTo>
                <a:cubicBezTo>
                  <a:pt x="232310" y="213937"/>
                  <a:pt x="190706" y="255541"/>
                  <a:pt x="139386" y="255541"/>
                </a:cubicBezTo>
                <a:cubicBezTo>
                  <a:pt x="88065" y="255541"/>
                  <a:pt x="46462" y="213937"/>
                  <a:pt x="46462" y="162617"/>
                </a:cubicBezTo>
                <a:cubicBezTo>
                  <a:pt x="46462" y="111296"/>
                  <a:pt x="88065" y="69693"/>
                  <a:pt x="139386" y="69693"/>
                </a:cubicBezTo>
                <a:cubicBezTo>
                  <a:pt x="190706" y="69693"/>
                  <a:pt x="232310" y="111296"/>
                  <a:pt x="232310" y="162617"/>
                </a:cubicBezTo>
                <a:close/>
              </a:path>
            </a:pathLst>
          </a:custGeom>
          <a:noFill/>
          <a:ln w="23231" cap="rnd">
            <a:solidFill>
              <a:srgbClr val="0B6E8A"/>
            </a:solidFill>
            <a:prstDash val="solid"/>
            <a:round/>
          </a:ln>
        </p:spPr>
      </p:sp>
      <p:sp>
        <p:nvSpPr>
          <p:cNvPr id="36" name="Text 34"/>
          <p:cNvSpPr/>
          <p:nvPr/>
        </p:nvSpPr>
        <p:spPr>
          <a:xfrm>
            <a:off x="4796626" y="1933303"/>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Relevador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@Scheduled cada 5 s</a:t>
            </a:r>
            <a:endParaRPr lang="en-US" sz="900" dirty="0"/>
          </a:p>
        </p:txBody>
      </p:sp>
      <p:sp>
        <p:nvSpPr>
          <p:cNvPr id="37" name="Text 35"/>
          <p:cNvSpPr/>
          <p:nvPr/>
        </p:nvSpPr>
        <p:spPr>
          <a:xfrm>
            <a:off x="6519084" y="1933303"/>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PublicadorConReintento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00" dirty="0"/>
          </a:p>
        </p:txBody>
      </p:sp>
      <p:sp>
        <p:nvSpPr>
          <p:cNvPr id="38" name="Text 36"/>
          <p:cNvSpPr/>
          <p:nvPr/>
        </p:nvSpPr>
        <p:spPr>
          <a:xfrm>
            <a:off x="8776346" y="1933303"/>
            <a:ext cx="1269710"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procesado = true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900" dirty="0"/>
          </a:p>
        </p:txBody>
      </p:sp>
      <p:sp>
        <p:nvSpPr>
          <p:cNvPr id="39" name="Text 37"/>
          <p:cNvSpPr/>
          <p:nvPr/>
        </p:nvSpPr>
        <p:spPr>
          <a:xfrm>
            <a:off x="6519084" y="3414631"/>
            <a:ext cx="1622407"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EventoController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00" dirty="0"/>
          </a:p>
        </p:txBody>
      </p:sp>
      <p:sp>
        <p:nvSpPr>
          <p:cNvPr id="40" name="Text 38"/>
          <p:cNvSpPr/>
          <p:nvPr/>
        </p:nvSpPr>
        <p:spPr>
          <a:xfrm>
            <a:off x="4473441" y="3273552"/>
            <a:ext cx="1410789" cy="818257"/>
          </a:xfrm>
          <a:prstGeom prst="diamond">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¿eventoId ya consumido?</a:t>
            </a:r>
            <a:endParaRPr lang="en-US" sz="900" dirty="0"/>
          </a:p>
        </p:txBody>
      </p:sp>
      <p:sp>
        <p:nvSpPr>
          <p:cNvPr id="41" name="Shape 39"/>
          <p:cNvSpPr/>
          <p:nvPr/>
        </p:nvSpPr>
        <p:spPr>
          <a:xfrm>
            <a:off x="2216179" y="3414631"/>
            <a:ext cx="1551867" cy="536100"/>
          </a:xfrm>
          <a:prstGeom prst="roundRect">
            <a:avLst>
              <a:gd name="adj" fmla="val 1535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2" name="Shape 40"/>
          <p:cNvSpPr/>
          <p:nvPr/>
        </p:nvSpPr>
        <p:spPr>
          <a:xfrm>
            <a:off x="2307619" y="3488431"/>
            <a:ext cx="388500" cy="388500"/>
          </a:xfrm>
          <a:prstGeom prst="ellipse">
            <a:avLst/>
          </a:prstGeom>
          <a:solidFill>
            <a:srgbClr val="E3F4FA"/>
          </a:solidFill>
          <a:ln w="12700">
            <a:solidFill>
              <a:srgbClr val="E3F4FA"/>
            </a:solidFill>
            <a:prstDash val="solid"/>
          </a:ln>
        </p:spPr>
      </p:sp>
      <p:sp>
        <p:nvSpPr>
          <p:cNvPr id="43" name="Icono ban"/>
          <p:cNvSpPr/>
          <p:nvPr/>
        </p:nvSpPr>
        <p:spPr>
          <a:xfrm>
            <a:off x="2362483" y="3543295"/>
            <a:ext cx="278772" cy="278772"/>
          </a:xfrm>
          <a:custGeom>
            <a:avLst/>
            <a:gdLst/>
            <a:ahLst/>
            <a:cxnLst/>
            <a:rect l="l" t="t" r="r" b="b"/>
            <a:pathLst>
              <a:path w="278772" h="278772">
                <a:moveTo>
                  <a:pt x="255541" y="139386"/>
                </a:moveTo>
                <a:cubicBezTo>
                  <a:pt x="255541" y="203537"/>
                  <a:pt x="203537" y="255541"/>
                  <a:pt x="139386" y="255541"/>
                </a:cubicBezTo>
                <a:cubicBezTo>
                  <a:pt x="75235" y="255541"/>
                  <a:pt x="23231" y="203537"/>
                  <a:pt x="23231" y="139386"/>
                </a:cubicBezTo>
                <a:cubicBezTo>
                  <a:pt x="23231" y="75235"/>
                  <a:pt x="75235" y="23231"/>
                  <a:pt x="139386" y="23231"/>
                </a:cubicBezTo>
                <a:cubicBezTo>
                  <a:pt x="203537" y="23231"/>
                  <a:pt x="255541" y="75235"/>
                  <a:pt x="255541" y="139386"/>
                </a:cubicBezTo>
                <a:close/>
                <a:moveTo>
                  <a:pt x="56916" y="56916"/>
                </a:moveTo>
                <a:lnTo>
                  <a:pt x="221856" y="221856"/>
                </a:lnTo>
              </a:path>
            </a:pathLst>
          </a:custGeom>
          <a:noFill/>
          <a:ln w="23231" cap="rnd">
            <a:solidFill>
              <a:srgbClr val="0B6E8A"/>
            </a:solidFill>
            <a:prstDash val="solid"/>
            <a:round/>
          </a:ln>
        </p:spPr>
      </p:sp>
      <p:sp>
        <p:nvSpPr>
          <p:cNvPr id="44" name="Text 42"/>
          <p:cNvSpPr/>
          <p:nvPr/>
        </p:nvSpPr>
        <p:spPr>
          <a:xfrm>
            <a:off x="2750983" y="3414631"/>
            <a:ext cx="962200" cy="536100"/>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Ignorar</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ya se procesó</a:t>
            </a:r>
            <a:endParaRPr lang="en-US" sz="900" dirty="0"/>
          </a:p>
        </p:txBody>
      </p:sp>
      <p:sp>
        <p:nvSpPr>
          <p:cNvPr id="45" name="Text 43"/>
          <p:cNvSpPr/>
          <p:nvPr/>
        </p:nvSpPr>
        <p:spPr>
          <a:xfrm>
            <a:off x="4261822" y="4402183"/>
            <a:ext cx="1834025" cy="536100"/>
          </a:xfrm>
          <a:prstGeom prst="roundRect">
            <a:avLst>
              <a:gd name="adj" fmla="val 1535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Crear aviso y guardar id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00" dirty="0"/>
          </a:p>
        </p:txBody>
      </p:sp>
      <p:sp>
        <p:nvSpPr>
          <p:cNvPr id="46" name="Shape 44"/>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7" name="Text 45"/>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9</a:t>
            </a:r>
            <a:endParaRPr lang="en-US" sz="1400" dirty="0"/>
          </a:p>
        </p:txBody>
      </p:sp>
      <p:sp>
        <p:nvSpPr>
          <p:cNvPr id="48" name="Text 46"/>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Solo entonces el relevador lo marca como entregado.</a:t>
            </a:r>
            <a:endParaRPr lang="en-US" sz="1300" dirty="0"/>
          </a:p>
        </p:txBody>
      </p:sp>
      <p:sp>
        <p:nvSpPr>
          <p:cNvPr id="49" name="Shape 47"/>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50" name="Text 48"/>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10</a:t>
            </a:r>
            <a:endParaRPr lang="en-US" sz="1400" dirty="0"/>
          </a:p>
        </p:txBody>
      </p:sp>
      <p:sp>
        <p:nvSpPr>
          <p:cNvPr id="51" name="Text 49"/>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esa respuesta se pierde, el evento se vuelve a mandar, y la idempotencia evita el aviso doble.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no multiplica el efecto.</a:t>
            </a:r>
            <a:endParaRPr lang="en-US" sz="1700" dirty="0"/>
          </a:p>
        </p:txBody>
      </p:sp>
      <p:sp>
        <p:nvSpPr>
          <p:cNvPr id="6" name="Shape 4"/>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285232"/>
            <a:ext cx="438912" cy="438912"/>
          </a:xfrm>
          <a:prstGeom prst="ellipse">
            <a:avLst/>
          </a:prstGeom>
          <a:solidFill>
            <a:srgbClr val="FFFFFF"/>
          </a:solidFill>
          <a:ln w="12700">
            <a:solidFill>
              <a:srgbClr val="FFFFFF"/>
            </a:solidFill>
            <a:prstDash val="solid"/>
          </a:ln>
        </p:spPr>
      </p:sp>
      <p:sp>
        <p:nvSpPr>
          <p:cNvPr id="8" name="Icono user-check"/>
          <p:cNvSpPr/>
          <p:nvPr/>
        </p:nvSpPr>
        <p:spPr>
          <a:xfrm>
            <a:off x="900867" y="5390571"/>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9" name="Text 7"/>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0" name="Shape 8"/>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mail"/>
          <p:cNvSpPr/>
          <p:nvPr/>
        </p:nvSpPr>
        <p:spPr>
          <a:xfrm>
            <a:off x="1790875" y="1992843"/>
            <a:ext cx="385145" cy="385145"/>
          </a:xfrm>
          <a:custGeom>
            <a:avLst/>
            <a:gdLst/>
            <a:ahLst/>
            <a:cxnLst/>
            <a:rect l="l" t="t" r="r" b="b"/>
            <a:pathLst>
              <a:path w="385145" h="385145">
                <a:moveTo>
                  <a:pt x="64191" y="64191"/>
                </a:moveTo>
                <a:lnTo>
                  <a:pt x="320954" y="64191"/>
                </a:lnTo>
                <a:cubicBezTo>
                  <a:pt x="338680" y="64191"/>
                  <a:pt x="353050" y="78560"/>
                  <a:pt x="353050" y="96286"/>
                </a:cubicBezTo>
                <a:lnTo>
                  <a:pt x="353050" y="288859"/>
                </a:lnTo>
                <a:cubicBezTo>
                  <a:pt x="353050" y="306585"/>
                  <a:pt x="338680" y="320954"/>
                  <a:pt x="320954" y="320954"/>
                </a:cubicBezTo>
                <a:lnTo>
                  <a:pt x="64191" y="320954"/>
                </a:lnTo>
                <a:cubicBezTo>
                  <a:pt x="46465" y="320954"/>
                  <a:pt x="32095" y="306585"/>
                  <a:pt x="32095" y="288859"/>
                </a:cubicBezTo>
                <a:lnTo>
                  <a:pt x="32095" y="96286"/>
                </a:lnTo>
                <a:cubicBezTo>
                  <a:pt x="32095" y="78560"/>
                  <a:pt x="46465" y="64191"/>
                  <a:pt x="64191" y="64191"/>
                </a:cubicBezTo>
                <a:close/>
                <a:moveTo>
                  <a:pt x="353050" y="112334"/>
                </a:moveTo>
                <a:lnTo>
                  <a:pt x="209102" y="203806"/>
                </a:lnTo>
                <a:cubicBezTo>
                  <a:pt x="198992" y="210140"/>
                  <a:pt x="186153" y="210140"/>
                  <a:pt x="176043" y="203806"/>
                </a:cubicBezTo>
                <a:lnTo>
                  <a:pt x="32095" y="112334"/>
                </a:lnTo>
              </a:path>
            </a:pathLst>
          </a:custGeom>
          <a:noFill/>
          <a:ln w="28084" cap="rnd">
            <a:solidFill>
              <a:srgbClr val="0B2350"/>
            </a:solidFill>
            <a:prstDash val="solid"/>
            <a:round/>
          </a:ln>
        </p:spPr>
      </p:sp>
      <p:sp>
        <p:nvSpPr>
          <p:cNvPr id="12" name="Text 10"/>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14" name="Text 12"/>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número: el eventoId.</a:t>
            </a:r>
            <a:endParaRPr lang="en-US" sz="1400" dirty="0"/>
          </a:p>
        </p:txBody>
      </p:sp>
      <p:sp>
        <p:nvSpPr>
          <p:cNvPr id="15" name="Shape 13"/>
          <p:cNvSpPr/>
          <p:nvPr/>
        </p:nvSpPr>
        <p:spPr>
          <a:xfrm>
            <a:off x="2431504" y="2185416"/>
            <a:ext cx="1845488" cy="0"/>
          </a:xfrm>
          <a:prstGeom prst="line">
            <a:avLst/>
          </a:prstGeom>
          <a:noFill/>
          <a:ln w="38100">
            <a:solidFill>
              <a:srgbClr val="2BA6CB"/>
            </a:solidFill>
            <a:prstDash val="solid"/>
            <a:tailEnd type="triangle"/>
          </a:ln>
        </p:spPr>
      </p:sp>
      <p:sp>
        <p:nvSpPr>
          <p:cNvPr id="16" name="Shape 14"/>
          <p:cNvSpPr/>
          <p:nvPr/>
        </p:nvSpPr>
        <p:spPr>
          <a:xfrm>
            <a:off x="43684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7" name="Icono fingerprint"/>
          <p:cNvSpPr/>
          <p:nvPr/>
        </p:nvSpPr>
        <p:spPr>
          <a:xfrm>
            <a:off x="4532475" y="1992843"/>
            <a:ext cx="385145" cy="385145"/>
          </a:xfrm>
          <a:custGeom>
            <a:avLst/>
            <a:gdLst/>
            <a:ahLst/>
            <a:cxnLst/>
            <a:rect l="l" t="t" r="r" b="b"/>
            <a:pathLst>
              <a:path w="385145" h="385145">
                <a:moveTo>
                  <a:pt x="192573" y="160477"/>
                </a:moveTo>
                <a:cubicBezTo>
                  <a:pt x="174847" y="160477"/>
                  <a:pt x="160477" y="174847"/>
                  <a:pt x="160477" y="192573"/>
                </a:cubicBezTo>
                <a:cubicBezTo>
                  <a:pt x="160477" y="208941"/>
                  <a:pt x="158872" y="232852"/>
                  <a:pt x="156305" y="256764"/>
                </a:cubicBezTo>
                <a:moveTo>
                  <a:pt x="224668" y="210546"/>
                </a:moveTo>
                <a:cubicBezTo>
                  <a:pt x="224668" y="248740"/>
                  <a:pt x="224668" y="312931"/>
                  <a:pt x="208620" y="353050"/>
                </a:cubicBezTo>
                <a:moveTo>
                  <a:pt x="277465" y="337323"/>
                </a:moveTo>
                <a:cubicBezTo>
                  <a:pt x="279391" y="327694"/>
                  <a:pt x="284366" y="300413"/>
                  <a:pt x="285489" y="288859"/>
                </a:cubicBezTo>
                <a:moveTo>
                  <a:pt x="32095" y="192573"/>
                </a:moveTo>
                <a:cubicBezTo>
                  <a:pt x="32095" y="123498"/>
                  <a:pt x="76296" y="62174"/>
                  <a:pt x="141825" y="40331"/>
                </a:cubicBezTo>
                <a:cubicBezTo>
                  <a:pt x="207355" y="18487"/>
                  <a:pt x="279510" y="41027"/>
                  <a:pt x="320954" y="96286"/>
                </a:cubicBezTo>
                <a:moveTo>
                  <a:pt x="32095" y="256764"/>
                </a:moveTo>
                <a:lnTo>
                  <a:pt x="32256" y="256764"/>
                </a:lnTo>
                <a:moveTo>
                  <a:pt x="349840" y="256764"/>
                </a:moveTo>
                <a:cubicBezTo>
                  <a:pt x="353050" y="224668"/>
                  <a:pt x="351943" y="170844"/>
                  <a:pt x="349840" y="160477"/>
                </a:cubicBezTo>
                <a:moveTo>
                  <a:pt x="80239" y="312931"/>
                </a:moveTo>
                <a:cubicBezTo>
                  <a:pt x="88262" y="288859"/>
                  <a:pt x="96286" y="240716"/>
                  <a:pt x="96286" y="192573"/>
                </a:cubicBezTo>
                <a:cubicBezTo>
                  <a:pt x="96270" y="181642"/>
                  <a:pt x="98115" y="170788"/>
                  <a:pt x="101743" y="160477"/>
                </a:cubicBezTo>
                <a:moveTo>
                  <a:pt x="138813" y="353050"/>
                </a:moveTo>
                <a:cubicBezTo>
                  <a:pt x="142183" y="342458"/>
                  <a:pt x="146034" y="331867"/>
                  <a:pt x="147960" y="320954"/>
                </a:cubicBezTo>
                <a:moveTo>
                  <a:pt x="144429" y="109124"/>
                </a:moveTo>
                <a:cubicBezTo>
                  <a:pt x="174230" y="91919"/>
                  <a:pt x="210947" y="91925"/>
                  <a:pt x="240743" y="109140"/>
                </a:cubicBezTo>
                <a:cubicBezTo>
                  <a:pt x="270538" y="126355"/>
                  <a:pt x="288881" y="158162"/>
                  <a:pt x="288859" y="192573"/>
                </a:cubicBezTo>
                <a:lnTo>
                  <a:pt x="288859" y="224668"/>
                </a:lnTo>
              </a:path>
            </a:pathLst>
          </a:custGeom>
          <a:noFill/>
          <a:ln w="28084" cap="rnd">
            <a:solidFill>
              <a:srgbClr val="0B6E8A"/>
            </a:solidFill>
            <a:prstDash val="solid"/>
            <a:round/>
          </a:ln>
        </p:spPr>
      </p:sp>
      <p:sp>
        <p:nvSpPr>
          <p:cNvPr id="18" name="Text 16"/>
          <p:cNvSpPr/>
          <p:nvPr/>
        </p:nvSpPr>
        <p:spPr>
          <a:xfrm>
            <a:off x="43318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0" name="Text 18"/>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el número en la tabla evento_procesado.</a:t>
            </a:r>
            <a:endParaRPr lang="en-US" sz="1400" dirty="0"/>
          </a:p>
        </p:txBody>
      </p:sp>
      <p:sp>
        <p:nvSpPr>
          <p:cNvPr id="21" name="Shape 19"/>
          <p:cNvSpPr/>
          <p:nvPr/>
        </p:nvSpPr>
        <p:spPr>
          <a:xfrm>
            <a:off x="5173104" y="2185416"/>
            <a:ext cx="1845488" cy="0"/>
          </a:xfrm>
          <a:prstGeom prst="line">
            <a:avLst/>
          </a:prstGeom>
          <a:noFill/>
          <a:ln w="38100">
            <a:solidFill>
              <a:srgbClr val="2BA6CB"/>
            </a:solidFill>
            <a:prstDash val="solid"/>
            <a:tailEnd type="triangle"/>
          </a:ln>
        </p:spPr>
      </p:sp>
      <p:sp>
        <p:nvSpPr>
          <p:cNvPr id="22" name="Shape 20"/>
          <p:cNvSpPr/>
          <p:nvPr/>
        </p:nvSpPr>
        <p:spPr>
          <a:xfrm>
            <a:off x="7110032"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3" name="Icono bell"/>
          <p:cNvSpPr/>
          <p:nvPr/>
        </p:nvSpPr>
        <p:spPr>
          <a:xfrm>
            <a:off x="72740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24" name="Text 22"/>
          <p:cNvSpPr/>
          <p:nvPr/>
        </p:nvSpPr>
        <p:spPr>
          <a:xfrm>
            <a:off x="7073456"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26" name="Text 24"/>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27" name="Shape 25"/>
          <p:cNvSpPr/>
          <p:nvPr/>
        </p:nvSpPr>
        <p:spPr>
          <a:xfrm>
            <a:off x="7914704" y="2185416"/>
            <a:ext cx="1845488" cy="0"/>
          </a:xfrm>
          <a:prstGeom prst="line">
            <a:avLst/>
          </a:prstGeom>
          <a:noFill/>
          <a:ln w="38100">
            <a:solidFill>
              <a:srgbClr val="2BA6CB"/>
            </a:solidFill>
            <a:prstDash val="solid"/>
            <a:tailEnd type="triangle"/>
          </a:ln>
        </p:spPr>
      </p:sp>
      <p:sp>
        <p:nvSpPr>
          <p:cNvPr id="28" name="Shape 26"/>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clipboard-check"/>
          <p:cNvSpPr/>
          <p:nvPr/>
        </p:nvSpPr>
        <p:spPr>
          <a:xfrm>
            <a:off x="10015675" y="1992843"/>
            <a:ext cx="385145" cy="385145"/>
          </a:xfrm>
          <a:custGeom>
            <a:avLst/>
            <a:gdLst/>
            <a:ahLst/>
            <a:cxnLst/>
            <a:rect l="l" t="t" r="r" b="b"/>
            <a:pathLst>
              <a:path w="385145" h="385145">
                <a:moveTo>
                  <a:pt x="144429" y="32095"/>
                </a:moveTo>
                <a:lnTo>
                  <a:pt x="240716" y="32095"/>
                </a:lnTo>
                <a:cubicBezTo>
                  <a:pt x="249579" y="32095"/>
                  <a:pt x="256764" y="39280"/>
                  <a:pt x="256764" y="48143"/>
                </a:cubicBezTo>
                <a:lnTo>
                  <a:pt x="256764" y="80239"/>
                </a:lnTo>
                <a:cubicBezTo>
                  <a:pt x="256764" y="89102"/>
                  <a:pt x="249579" y="96286"/>
                  <a:pt x="240716" y="96286"/>
                </a:cubicBezTo>
                <a:lnTo>
                  <a:pt x="144429" y="96286"/>
                </a:lnTo>
                <a:cubicBezTo>
                  <a:pt x="135567" y="96286"/>
                  <a:pt x="128382" y="89102"/>
                  <a:pt x="128382" y="80239"/>
                </a:cubicBezTo>
                <a:lnTo>
                  <a:pt x="128382" y="48143"/>
                </a:lnTo>
                <a:cubicBezTo>
                  <a:pt x="128382" y="39280"/>
                  <a:pt x="135567" y="32095"/>
                  <a:pt x="144429" y="32095"/>
                </a:cubicBezTo>
                <a:close/>
                <a:moveTo>
                  <a:pt x="256764" y="64191"/>
                </a:moveTo>
                <a:lnTo>
                  <a:pt x="288859" y="64191"/>
                </a:lnTo>
                <a:cubicBezTo>
                  <a:pt x="306585" y="64191"/>
                  <a:pt x="320954" y="78560"/>
                  <a:pt x="320954" y="96286"/>
                </a:cubicBezTo>
                <a:lnTo>
                  <a:pt x="320954" y="320954"/>
                </a:lnTo>
                <a:cubicBezTo>
                  <a:pt x="320954" y="338680"/>
                  <a:pt x="306585" y="353050"/>
                  <a:pt x="288859" y="353050"/>
                </a:cubicBezTo>
                <a:lnTo>
                  <a:pt x="96286" y="353050"/>
                </a:lnTo>
                <a:cubicBezTo>
                  <a:pt x="78560" y="353050"/>
                  <a:pt x="64191" y="338680"/>
                  <a:pt x="64191" y="320954"/>
                </a:cubicBezTo>
                <a:lnTo>
                  <a:pt x="64191" y="96286"/>
                </a:lnTo>
                <a:cubicBezTo>
                  <a:pt x="64191" y="78560"/>
                  <a:pt x="78560" y="64191"/>
                  <a:pt x="96286" y="64191"/>
                </a:cubicBezTo>
                <a:lnTo>
                  <a:pt x="128382" y="64191"/>
                </a:lnTo>
                <a:moveTo>
                  <a:pt x="144429" y="224668"/>
                </a:moveTo>
                <a:lnTo>
                  <a:pt x="176525" y="256764"/>
                </a:lnTo>
                <a:lnTo>
                  <a:pt x="240716" y="192573"/>
                </a:lnTo>
              </a:path>
            </a:pathLst>
          </a:custGeom>
          <a:noFill/>
          <a:ln w="28084" cap="rnd">
            <a:solidFill>
              <a:srgbClr val="0A6648"/>
            </a:solidFill>
            <a:prstDash val="solid"/>
            <a:round/>
          </a:ln>
        </p:spPr>
      </p:sp>
      <p:sp>
        <p:nvSpPr>
          <p:cNvPr id="30" name="Text 28"/>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32" name="Text 30"/>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Para reconocerlo si vuelve a llegar.</a:t>
            </a:r>
            <a:endParaRPr lang="en-US" sz="1400" dirty="0"/>
          </a:p>
        </p:txBody>
      </p:sp>
      <p:sp>
        <p:nvSpPr>
          <p:cNvPr id="33" name="Shape 31"/>
          <p:cNvSpPr/>
          <p:nvPr/>
        </p:nvSpPr>
        <p:spPr>
          <a:xfrm>
            <a:off x="4725048" y="3602736"/>
            <a:ext cx="0" cy="955548"/>
          </a:xfrm>
          <a:prstGeom prst="line">
            <a:avLst/>
          </a:prstGeom>
          <a:noFill/>
          <a:ln w="25400">
            <a:solidFill>
              <a:srgbClr val="55627E"/>
            </a:solidFill>
            <a:prstDash val="dash"/>
          </a:ln>
        </p:spPr>
      </p:sp>
      <p:sp>
        <p:nvSpPr>
          <p:cNvPr id="34" name="Shape 32"/>
          <p:cNvSpPr/>
          <p:nvPr/>
        </p:nvSpPr>
        <p:spPr>
          <a:xfrm>
            <a:off x="4725048" y="4558284"/>
            <a:ext cx="457200" cy="0"/>
          </a:xfrm>
          <a:prstGeom prst="line">
            <a:avLst/>
          </a:prstGeom>
          <a:noFill/>
          <a:ln w="25400">
            <a:solidFill>
              <a:srgbClr val="55627E"/>
            </a:solidFill>
            <a:prstDash val="dash"/>
            <a:tailEnd type="triangle"/>
          </a:ln>
        </p:spPr>
      </p:sp>
      <p:sp>
        <p:nvSpPr>
          <p:cNvPr id="35" name="Text 33"/>
          <p:cNvSpPr/>
          <p:nvPr/>
        </p:nvSpPr>
        <p:spPr>
          <a:xfrm>
            <a:off x="32620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36" name="Shape 34"/>
          <p:cNvSpPr/>
          <p:nvPr/>
        </p:nvSpPr>
        <p:spPr>
          <a:xfrm>
            <a:off x="5182248" y="4123944"/>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5346840" y="4279392"/>
            <a:ext cx="548640" cy="548640"/>
          </a:xfrm>
          <a:prstGeom prst="ellipse">
            <a:avLst/>
          </a:prstGeom>
          <a:solidFill>
            <a:srgbClr val="FFFFFF"/>
          </a:solidFill>
          <a:ln w="12700">
            <a:solidFill>
              <a:srgbClr val="FFFFFF"/>
            </a:solidFill>
            <a:prstDash val="solid"/>
          </a:ln>
        </p:spPr>
      </p:sp>
      <p:sp>
        <p:nvSpPr>
          <p:cNvPr id="38" name="Icono ban"/>
          <p:cNvSpPr/>
          <p:nvPr/>
        </p:nvSpPr>
        <p:spPr>
          <a:xfrm>
            <a:off x="5478513" y="4411066"/>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39" name="Text 37"/>
          <p:cNvSpPr/>
          <p:nvPr/>
        </p:nvSpPr>
        <p:spPr>
          <a:xfrm>
            <a:off x="6023496"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0" name="Text 38"/>
          <p:cNvSpPr/>
          <p:nvPr/>
        </p:nvSpPr>
        <p:spPr>
          <a:xfrm>
            <a:off x="6023496"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Avisos duplicados: cero.</a:t>
            </a:r>
            <a:endParaRPr lang="en-US" sz="1150" dirty="0"/>
          </a:p>
        </p:txBody>
      </p:sp>
      <p:sp>
        <p:nvSpPr>
          <p:cNvPr id="41" name="Shape 39"/>
          <p:cNvSpPr/>
          <p:nvPr/>
        </p:nvSpPr>
        <p:spPr>
          <a:xfrm>
            <a:off x="0" y="5961888"/>
            <a:ext cx="12191695" cy="475488"/>
          </a:xfrm>
          <a:prstGeom prst="rect">
            <a:avLst/>
          </a:prstGeom>
          <a:solidFill>
            <a:srgbClr val="0B2350"/>
          </a:solidFill>
          <a:ln w="12700">
            <a:solidFill>
              <a:srgbClr val="0B2350"/>
            </a:solidFill>
            <a:prstDash val="solid"/>
          </a:ln>
        </p:spPr>
      </p:sp>
      <p:sp>
        <p:nvSpPr>
          <p:cNvPr id="42"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3" name="Text 41"/>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Los reintentos nos protegen de perder avisos; la idempotencia, de duplicarlos.</a:t>
            </a:r>
            <a:endParaRPr lang="en-US" sz="14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servicio-notificaciones/…/adaptadores/entrada/ConsumoIdempotente.java</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@Transactional</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alRecibir(</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(procesados.existsById(e.eventoId()))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ya procesado: idempotente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servicio.alRecibirSolicitudEnviada(e);</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procesados.save(</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EventoProcesadoEntity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(e.eventoId()));</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package"/>
          <p:cNvSpPr/>
          <p:nvPr/>
        </p:nvSpPr>
        <p:spPr>
          <a:xfrm>
            <a:off x="9098280" y="1783080"/>
            <a:ext cx="1371600" cy="1371600"/>
          </a:xfrm>
          <a:custGeom>
            <a:avLst/>
            <a:gdLst/>
            <a:ahLst/>
            <a:cxnLst/>
            <a:rect l="l" t="t" r="r" b="b"/>
            <a:pathLst>
              <a:path w="1371600" h="1371600">
                <a:moveTo>
                  <a:pt x="628650" y="1241870"/>
                </a:moveTo>
                <a:cubicBezTo>
                  <a:pt x="664015" y="1262287"/>
                  <a:pt x="707585" y="1262287"/>
                  <a:pt x="742950" y="1241870"/>
                </a:cubicBezTo>
                <a:lnTo>
                  <a:pt x="1143000" y="1013270"/>
                </a:lnTo>
                <a:cubicBezTo>
                  <a:pt x="1178328" y="992873"/>
                  <a:pt x="1200108" y="955194"/>
                  <a:pt x="1200150" y="914400"/>
                </a:cubicBezTo>
                <a:lnTo>
                  <a:pt x="1200150" y="457200"/>
                </a:lnTo>
                <a:cubicBezTo>
                  <a:pt x="1200108" y="416406"/>
                  <a:pt x="1178328" y="378727"/>
                  <a:pt x="1143000" y="358330"/>
                </a:cubicBezTo>
                <a:lnTo>
                  <a:pt x="742950" y="129730"/>
                </a:lnTo>
                <a:cubicBezTo>
                  <a:pt x="707585" y="109313"/>
                  <a:pt x="664015" y="109313"/>
                  <a:pt x="628650" y="129730"/>
                </a:cubicBezTo>
                <a:lnTo>
                  <a:pt x="228600" y="358331"/>
                </a:lnTo>
                <a:cubicBezTo>
                  <a:pt x="193272" y="378727"/>
                  <a:pt x="171492" y="416406"/>
                  <a:pt x="171450" y="457200"/>
                </a:cubicBezTo>
                <a:lnTo>
                  <a:pt x="171450" y="914400"/>
                </a:lnTo>
                <a:cubicBezTo>
                  <a:pt x="171492" y="955194"/>
                  <a:pt x="193272" y="992873"/>
                  <a:pt x="228600" y="1013270"/>
                </a:cubicBezTo>
                <a:close/>
                <a:moveTo>
                  <a:pt x="685800" y="1257300"/>
                </a:moveTo>
                <a:lnTo>
                  <a:pt x="685800" y="685800"/>
                </a:lnTo>
                <a:moveTo>
                  <a:pt x="188595" y="400050"/>
                </a:moveTo>
                <a:lnTo>
                  <a:pt x="628821" y="670598"/>
                </a:lnTo>
                <a:cubicBezTo>
                  <a:pt x="664099" y="690884"/>
                  <a:pt x="707501" y="690884"/>
                  <a:pt x="742779" y="670598"/>
                </a:cubicBezTo>
                <a:lnTo>
                  <a:pt x="1183005" y="400050"/>
                </a:lnTo>
                <a:moveTo>
                  <a:pt x="428625" y="244030"/>
                </a:moveTo>
                <a:lnTo>
                  <a:pt x="942975" y="538353"/>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5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2BA6CB"/>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374B70"/>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05</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Empaquetar y entregar</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hicimos que el sistema corra igual en cualquier computadora y que cada cambio se pruebe solo.</a:t>
            </a:r>
            <a:endParaRPr lang="en-US" sz="1900" dirty="0"/>
          </a:p>
        </p:txBody>
      </p:sp>
      <p:sp>
        <p:nvSpPr>
          <p:cNvPr id="16" name="Text 14"/>
          <p:cNvSpPr/>
          <p:nvPr/>
        </p:nvSpPr>
        <p:spPr>
          <a:xfrm>
            <a:off x="758952" y="4663440"/>
            <a:ext cx="228142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y Dockerfile</a:t>
            </a:r>
            <a:endParaRPr lang="en-US" sz="1300" dirty="0"/>
          </a:p>
        </p:txBody>
      </p:sp>
      <p:sp>
        <p:nvSpPr>
          <p:cNvPr id="17" name="Text 15"/>
          <p:cNvSpPr/>
          <p:nvPr/>
        </p:nvSpPr>
        <p:spPr>
          <a:xfrm>
            <a:off x="3168396"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Compose</a:t>
            </a:r>
            <a:endParaRPr lang="en-US" sz="1300" dirty="0"/>
          </a:p>
        </p:txBody>
      </p:sp>
      <p:sp>
        <p:nvSpPr>
          <p:cNvPr id="18" name="Text 16"/>
          <p:cNvSpPr/>
          <p:nvPr/>
        </p:nvSpPr>
        <p:spPr>
          <a:xfrm>
            <a:off x="5097780" y="466344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Integración y entrega continua</a:t>
            </a:r>
            <a:endParaRPr lang="en-US" sz="1300" dirty="0"/>
          </a:p>
        </p:txBody>
      </p:sp>
      <p:sp>
        <p:nvSpPr>
          <p:cNvPr id="19" name="Text 1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P5</a:t>
            </a:r>
            <a:endParaRPr lang="en-US" sz="1000" dirty="0"/>
          </a:p>
        </p:txBody>
      </p:sp>
      <p:sp>
        <p:nvSpPr>
          <p:cNvPr id="20" name="Text 1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5 · DevOps</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Dockerfile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funciona igual en cualquier computadora.</a:t>
            </a:r>
            <a:endParaRPr lang="en-US" sz="1700" dirty="0"/>
          </a:p>
        </p:txBody>
      </p:sp>
      <p:sp>
        <p:nvSpPr>
          <p:cNvPr id="6" name="Shape 4"/>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806440"/>
            <a:ext cx="438912" cy="438912"/>
          </a:xfrm>
          <a:prstGeom prst="ellipse">
            <a:avLst/>
          </a:prstGeom>
          <a:solidFill>
            <a:srgbClr val="FFFFFF"/>
          </a:solidFill>
          <a:ln w="12700">
            <a:solidFill>
              <a:srgbClr val="FFFFFF"/>
            </a:solidFill>
            <a:prstDash val="solid"/>
          </a:ln>
        </p:spPr>
      </p:sp>
      <p:sp>
        <p:nvSpPr>
          <p:cNvPr id="8" name="Icono chef-hat"/>
          <p:cNvSpPr/>
          <p:nvPr/>
        </p:nvSpPr>
        <p:spPr>
          <a:xfrm>
            <a:off x="900867" y="5911779"/>
            <a:ext cx="228234" cy="228234"/>
          </a:xfrm>
          <a:custGeom>
            <a:avLst/>
            <a:gdLst/>
            <a:ahLst/>
            <a:cxnLst/>
            <a:rect l="l" t="t" r="r" b="b"/>
            <a:pathLst>
              <a:path w="228234" h="228234">
                <a:moveTo>
                  <a:pt x="161666" y="199705"/>
                </a:moveTo>
                <a:cubicBezTo>
                  <a:pt x="166918" y="199705"/>
                  <a:pt x="171176" y="195447"/>
                  <a:pt x="171176" y="190195"/>
                </a:cubicBezTo>
                <a:lnTo>
                  <a:pt x="171176" y="139318"/>
                </a:lnTo>
                <a:cubicBezTo>
                  <a:pt x="171176" y="134972"/>
                  <a:pt x="174181" y="131292"/>
                  <a:pt x="178089" y="129418"/>
                </a:cubicBezTo>
                <a:cubicBezTo>
                  <a:pt x="194797" y="121448"/>
                  <a:pt x="203341" y="102608"/>
                  <a:pt x="198330" y="84789"/>
                </a:cubicBezTo>
                <a:cubicBezTo>
                  <a:pt x="193319" y="66969"/>
                  <a:pt x="176208" y="55343"/>
                  <a:pt x="157795" y="57249"/>
                </a:cubicBezTo>
                <a:cubicBezTo>
                  <a:pt x="150288" y="39798"/>
                  <a:pt x="133114" y="28491"/>
                  <a:pt x="114117" y="28491"/>
                </a:cubicBezTo>
                <a:cubicBezTo>
                  <a:pt x="95120" y="28491"/>
                  <a:pt x="77946" y="39798"/>
                  <a:pt x="70439" y="57249"/>
                </a:cubicBezTo>
                <a:cubicBezTo>
                  <a:pt x="52035" y="55357"/>
                  <a:pt x="34939" y="66980"/>
                  <a:pt x="29930" y="84790"/>
                </a:cubicBezTo>
                <a:cubicBezTo>
                  <a:pt x="24921" y="102600"/>
                  <a:pt x="33453" y="121431"/>
                  <a:pt x="50145" y="129409"/>
                </a:cubicBezTo>
                <a:cubicBezTo>
                  <a:pt x="54053" y="131292"/>
                  <a:pt x="57059" y="134972"/>
                  <a:pt x="57059" y="139308"/>
                </a:cubicBezTo>
                <a:lnTo>
                  <a:pt x="57059" y="190195"/>
                </a:lnTo>
                <a:cubicBezTo>
                  <a:pt x="57059" y="195447"/>
                  <a:pt x="61316" y="199705"/>
                  <a:pt x="66568" y="199705"/>
                </a:cubicBezTo>
                <a:close/>
                <a:moveTo>
                  <a:pt x="57059" y="161666"/>
                </a:moveTo>
                <a:lnTo>
                  <a:pt x="171176" y="161666"/>
                </a:lnTo>
              </a:path>
            </a:pathLst>
          </a:custGeom>
          <a:noFill/>
          <a:ln w="19020" cap="rnd">
            <a:solidFill>
              <a:srgbClr val="0B6E8A"/>
            </a:solidFill>
            <a:prstDash val="solid"/>
            <a:round/>
          </a:ln>
        </p:spPr>
      </p:sp>
      <p:sp>
        <p:nvSpPr>
          <p:cNvPr id="9" name="Text 7"/>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una receta de cocina: con los mismos ingredientes y pasos, sale el mismo plato en cualquier cocina.</a:t>
            </a:r>
            <a:endParaRPr lang="en-US" sz="1450" dirty="0"/>
          </a:p>
        </p:txBody>
      </p:sp>
      <p:sp>
        <p:nvSpPr>
          <p:cNvPr id="10" name="Shape 8"/>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file-code"/>
          <p:cNvSpPr/>
          <p:nvPr/>
        </p:nvSpPr>
        <p:spPr>
          <a:xfrm>
            <a:off x="1588427" y="2480767"/>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2" name="Text 10"/>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4" name="Text 12"/>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5" name="Shape 13"/>
          <p:cNvSpPr/>
          <p:nvPr/>
        </p:nvSpPr>
        <p:spPr>
          <a:xfrm>
            <a:off x="2806408" y="2875788"/>
            <a:ext cx="1095680" cy="0"/>
          </a:xfrm>
          <a:prstGeom prst="line">
            <a:avLst/>
          </a:prstGeom>
          <a:noFill/>
          <a:ln w="38100">
            <a:solidFill>
              <a:srgbClr val="2BA6CB"/>
            </a:solidFill>
            <a:prstDash val="solid"/>
            <a:tailEnd type="triangle"/>
          </a:ln>
        </p:spPr>
      </p:sp>
      <p:sp>
        <p:nvSpPr>
          <p:cNvPr id="16" name="Shape 14"/>
          <p:cNvSpPr/>
          <p:nvPr/>
        </p:nvSpPr>
        <p:spPr>
          <a:xfrm>
            <a:off x="39935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settings"/>
          <p:cNvSpPr/>
          <p:nvPr/>
        </p:nvSpPr>
        <p:spPr>
          <a:xfrm>
            <a:off x="4330027" y="2480767"/>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18" name="Text 16"/>
          <p:cNvSpPr/>
          <p:nvPr/>
        </p:nvSpPr>
        <p:spPr>
          <a:xfrm>
            <a:off x="39569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0" name="Text 18"/>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1" name="Shape 19"/>
          <p:cNvSpPr/>
          <p:nvPr/>
        </p:nvSpPr>
        <p:spPr>
          <a:xfrm>
            <a:off x="5548008" y="2875788"/>
            <a:ext cx="1095680" cy="0"/>
          </a:xfrm>
          <a:prstGeom prst="line">
            <a:avLst/>
          </a:prstGeom>
          <a:noFill/>
          <a:ln w="38100">
            <a:solidFill>
              <a:srgbClr val="2BA6CB"/>
            </a:solidFill>
            <a:prstDash val="solid"/>
            <a:tailEnd type="triangle"/>
          </a:ln>
        </p:spPr>
      </p:sp>
      <p:sp>
        <p:nvSpPr>
          <p:cNvPr id="22" name="Shape 20"/>
          <p:cNvSpPr/>
          <p:nvPr/>
        </p:nvSpPr>
        <p:spPr>
          <a:xfrm>
            <a:off x="6735128" y="2144268"/>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3" name="Icono package"/>
          <p:cNvSpPr/>
          <p:nvPr/>
        </p:nvSpPr>
        <p:spPr>
          <a:xfrm>
            <a:off x="7071627" y="2480767"/>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4" name="Text 22"/>
          <p:cNvSpPr/>
          <p:nvPr/>
        </p:nvSpPr>
        <p:spPr>
          <a:xfrm>
            <a:off x="6698552" y="210769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26" name="Text 24"/>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con un usuario sin privilegios.</a:t>
            </a:r>
            <a:endParaRPr lang="en-US" sz="1400" dirty="0"/>
          </a:p>
        </p:txBody>
      </p:sp>
      <p:sp>
        <p:nvSpPr>
          <p:cNvPr id="27" name="Shape 25"/>
          <p:cNvSpPr/>
          <p:nvPr/>
        </p:nvSpPr>
        <p:spPr>
          <a:xfrm>
            <a:off x="8289608" y="2875788"/>
            <a:ext cx="1095680" cy="0"/>
          </a:xfrm>
          <a:prstGeom prst="line">
            <a:avLst/>
          </a:prstGeom>
          <a:noFill/>
          <a:ln w="38100">
            <a:solidFill>
              <a:srgbClr val="2BA6CB"/>
            </a:solidFill>
            <a:prstDash val="solid"/>
            <a:tailEnd type="triangle"/>
          </a:ln>
        </p:spPr>
      </p:sp>
      <p:sp>
        <p:nvSpPr>
          <p:cNvPr id="28" name="Shape 26"/>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container"/>
          <p:cNvSpPr/>
          <p:nvPr/>
        </p:nvSpPr>
        <p:spPr>
          <a:xfrm>
            <a:off x="9813226" y="2480767"/>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0" name="Text 28"/>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2" name="Text 30"/>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imagen corriendo, igual en cualquier computadora.</a:t>
            </a:r>
            <a:endParaRPr lang="en-US" sz="14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Dockerfile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servicio-solicitudes/Dockerfile</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maven: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3.9</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-eclipse-temurin-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AS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build</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mvn -q clean package -</a:t>
            </a:r>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DskipTests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eclipse-temurin:</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-jre</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COPY</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--from=build /build/target/*.jar app.jar</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useradd -r -u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1001</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appuser1</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USER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appuser1</a:t>
            </a:r>
            <a:endParaRPr lang="en-US" sz="2000" dirty="0"/>
          </a:p>
          <a:p>
            <a:pPr indent="0" marL="0">
              <a:lnSpc>
                <a:spcPct val="110000"/>
              </a:lnSpc>
              <a:buNone/>
            </a:pPr>
            <a:r>
              <a:rPr lang="en-US" sz="2000" dirty="0">
                <a:solidFill>
                  <a:srgbClr val="9FBEE0"/>
                </a:solidFill>
                <a:latin typeface="Consolas" pitchFamily="34" charset="0"/>
                <a:ea typeface="Consolas" pitchFamily="34" charset="-122"/>
                <a:cs typeface="Consolas" pitchFamily="34" charset="-120"/>
              </a:rPr>
              <a:t>ENTRYPOINT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"java"</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"-jar"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"app.jar"</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F4F7FB"/>
          </a:solidFill>
          <a:ln w="12700">
            <a:solidFill>
              <a:srgbClr val="DFE6F0"/>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47625">
            <a:solidFill>
              <a:srgbClr val="2BA6CB"/>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47625">
            <a:solidFill>
              <a:srgbClr val="2BA6CB"/>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31750">
            <a:solidFill>
              <a:srgbClr val="CBD5E3"/>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31750">
            <a:solidFill>
              <a:srgbClr val="CBD5E3"/>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31750">
            <a:solidFill>
              <a:srgbClr val="CBD5E3"/>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31750">
            <a:solidFill>
              <a:srgbClr val="CBD5E3"/>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8" name="Shape 26"/>
          <p:cNvSpPr/>
          <p:nvPr/>
        </p:nvSpPr>
        <p:spPr>
          <a:xfrm>
            <a:off x="5883425" y="1862984"/>
            <a:ext cx="420624" cy="420624"/>
          </a:xfrm>
          <a:prstGeom prst="ellipse">
            <a:avLst/>
          </a:prstGeom>
          <a:solidFill>
            <a:srgbClr val="E3F4FA"/>
          </a:solidFill>
          <a:ln w="12700">
            <a:solidFill>
              <a:srgbClr val="E3F4F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6E8A"/>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12700">
            <a:solidFill>
              <a:srgbClr val="D5DDE8"/>
            </a:solidFill>
            <a:prstDash val="solid"/>
          </a:ln>
        </p:spPr>
      </p:sp>
      <p:sp>
        <p:nvSpPr>
          <p:cNvPr id="32" name="Shape 30"/>
          <p:cNvSpPr/>
          <p:nvPr/>
        </p:nvSpPr>
        <p:spPr>
          <a:xfrm>
            <a:off x="8466254" y="1862984"/>
            <a:ext cx="420624" cy="420624"/>
          </a:xfrm>
          <a:prstGeom prst="ellipse">
            <a:avLst/>
          </a:prstGeom>
          <a:solidFill>
            <a:srgbClr val="EEF2F7"/>
          </a:solidFill>
          <a:ln w="12700">
            <a:solidFill>
              <a:srgbClr val="EEF2F7"/>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A9B4C6"/>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12700">
            <a:solidFill>
              <a:srgbClr val="D5DDE8"/>
            </a:solidFill>
            <a:prstDash val="solid"/>
          </a:ln>
        </p:spPr>
      </p:sp>
      <p:sp>
        <p:nvSpPr>
          <p:cNvPr id="36" name="Shape 34"/>
          <p:cNvSpPr/>
          <p:nvPr/>
        </p:nvSpPr>
        <p:spPr>
          <a:xfrm>
            <a:off x="8466254" y="3458261"/>
            <a:ext cx="420624" cy="420624"/>
          </a:xfrm>
          <a:prstGeom prst="ellipse">
            <a:avLst/>
          </a:prstGeom>
          <a:solidFill>
            <a:srgbClr val="EEF2F7"/>
          </a:solidFill>
          <a:ln w="12700">
            <a:solidFill>
              <a:srgbClr val="EEF2F7"/>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A9B4C6"/>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12700">
            <a:solidFill>
              <a:srgbClr val="D5DDE8"/>
            </a:solidFill>
            <a:prstDash val="solid"/>
          </a:ln>
        </p:spPr>
      </p:sp>
      <p:sp>
        <p:nvSpPr>
          <p:cNvPr id="41" name="Shape 39"/>
          <p:cNvSpPr/>
          <p:nvPr/>
        </p:nvSpPr>
        <p:spPr>
          <a:xfrm>
            <a:off x="8569286" y="4582551"/>
            <a:ext cx="420624" cy="420624"/>
          </a:xfrm>
          <a:prstGeom prst="ellipse">
            <a:avLst/>
          </a:prstGeom>
          <a:solidFill>
            <a:srgbClr val="EEF2F7"/>
          </a:solidFill>
          <a:ln w="12700">
            <a:solidFill>
              <a:srgbClr val="EEF2F7"/>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A9B4C6"/>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6" name="Text 44"/>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primera etapa tiene Maven y Java completo, y compila el programa.</a:t>
            </a:r>
            <a:endParaRPr lang="en-US" sz="1300" dirty="0"/>
          </a:p>
        </p:txBody>
      </p:sp>
      <p:sp>
        <p:nvSpPr>
          <p:cNvPr id="47" name="Shape 45"/>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8" name="Text 46"/>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9" name="Text 47"/>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etapa final solo lleva lo necesario para ejecutarlo, con un usuario sin privilegios.</a:t>
            </a:r>
            <a:endParaRPr lang="en-US" sz="13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F4F7FB"/>
          </a:solidFill>
          <a:ln w="12700">
            <a:solidFill>
              <a:srgbClr val="DFE6F0"/>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31750">
            <a:solidFill>
              <a:srgbClr val="55627E"/>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31750">
            <a:solidFill>
              <a:srgbClr val="55627E"/>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47625">
            <a:solidFill>
              <a:srgbClr val="2BA6CB"/>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31750">
            <a:solidFill>
              <a:srgbClr val="CBD5E3"/>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31750">
            <a:solidFill>
              <a:srgbClr val="CBD5E3"/>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31750">
            <a:solidFill>
              <a:srgbClr val="CBD5E3"/>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5883425" y="1862984"/>
            <a:ext cx="420624" cy="420624"/>
          </a:xfrm>
          <a:prstGeom prst="ellipse">
            <a:avLst/>
          </a:prstGeom>
          <a:solidFill>
            <a:srgbClr val="E2E5EA"/>
          </a:solidFill>
          <a:ln w="12700">
            <a:solidFill>
              <a:srgbClr val="E2E5E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2" name="Shape 30"/>
          <p:cNvSpPr/>
          <p:nvPr/>
        </p:nvSpPr>
        <p:spPr>
          <a:xfrm>
            <a:off x="8466254" y="1862984"/>
            <a:ext cx="420624" cy="420624"/>
          </a:xfrm>
          <a:prstGeom prst="ellipse">
            <a:avLst/>
          </a:prstGeom>
          <a:solidFill>
            <a:srgbClr val="E3F4FA"/>
          </a:solidFill>
          <a:ln w="12700">
            <a:solidFill>
              <a:srgbClr val="E3F4FA"/>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6E8A"/>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12700">
            <a:solidFill>
              <a:srgbClr val="D5DDE8"/>
            </a:solidFill>
            <a:prstDash val="solid"/>
          </a:ln>
        </p:spPr>
      </p:sp>
      <p:sp>
        <p:nvSpPr>
          <p:cNvPr id="36" name="Shape 34"/>
          <p:cNvSpPr/>
          <p:nvPr/>
        </p:nvSpPr>
        <p:spPr>
          <a:xfrm>
            <a:off x="8466254" y="3458261"/>
            <a:ext cx="420624" cy="420624"/>
          </a:xfrm>
          <a:prstGeom prst="ellipse">
            <a:avLst/>
          </a:prstGeom>
          <a:solidFill>
            <a:srgbClr val="EEF2F7"/>
          </a:solidFill>
          <a:ln w="12700">
            <a:solidFill>
              <a:srgbClr val="EEF2F7"/>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A9B4C6"/>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12700">
            <a:solidFill>
              <a:srgbClr val="D5DDE8"/>
            </a:solidFill>
            <a:prstDash val="solid"/>
          </a:ln>
        </p:spPr>
      </p:sp>
      <p:sp>
        <p:nvSpPr>
          <p:cNvPr id="41" name="Shape 39"/>
          <p:cNvSpPr/>
          <p:nvPr/>
        </p:nvSpPr>
        <p:spPr>
          <a:xfrm>
            <a:off x="8569286" y="4582551"/>
            <a:ext cx="420624" cy="420624"/>
          </a:xfrm>
          <a:prstGeom prst="ellipse">
            <a:avLst/>
          </a:prstGeom>
          <a:solidFill>
            <a:srgbClr val="EEF2F7"/>
          </a:solidFill>
          <a:ln w="12700">
            <a:solidFill>
              <a:srgbClr val="EEF2F7"/>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A9B4C6"/>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6" name="Text 44"/>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resultado es una imagen: la misma receta para cualquier computadora.</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F4F7FB"/>
          </a:solidFill>
          <a:ln w="12700">
            <a:solidFill>
              <a:srgbClr val="DFE6F0"/>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31750">
            <a:solidFill>
              <a:srgbClr val="55627E"/>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31750">
            <a:solidFill>
              <a:srgbClr val="55627E"/>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31750">
            <a:solidFill>
              <a:srgbClr val="55627E"/>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47625">
            <a:solidFill>
              <a:srgbClr val="2BA6CB"/>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31750">
            <a:solidFill>
              <a:srgbClr val="CBD5E3"/>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31750">
            <a:solidFill>
              <a:srgbClr val="CBD5E3"/>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5883425" y="1862984"/>
            <a:ext cx="420624" cy="420624"/>
          </a:xfrm>
          <a:prstGeom prst="ellipse">
            <a:avLst/>
          </a:prstGeom>
          <a:solidFill>
            <a:srgbClr val="E2E5EA"/>
          </a:solidFill>
          <a:ln w="12700">
            <a:solidFill>
              <a:srgbClr val="E2E5E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8466254" y="1862984"/>
            <a:ext cx="420624" cy="420624"/>
          </a:xfrm>
          <a:prstGeom prst="ellipse">
            <a:avLst/>
          </a:prstGeom>
          <a:solidFill>
            <a:srgbClr val="E2E5EA"/>
          </a:solidFill>
          <a:ln w="12700">
            <a:solidFill>
              <a:srgbClr val="E2E5EA"/>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8466254" y="3458261"/>
            <a:ext cx="420624" cy="420624"/>
          </a:xfrm>
          <a:prstGeom prst="ellipse">
            <a:avLst/>
          </a:prstGeom>
          <a:solidFill>
            <a:srgbClr val="E3F4FA"/>
          </a:solidFill>
          <a:ln w="12700">
            <a:solidFill>
              <a:srgbClr val="E3F4FA"/>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6E8A"/>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12700">
            <a:solidFill>
              <a:srgbClr val="D5DDE8"/>
            </a:solidFill>
            <a:prstDash val="solid"/>
          </a:ln>
        </p:spPr>
      </p:sp>
      <p:sp>
        <p:nvSpPr>
          <p:cNvPr id="41" name="Shape 39"/>
          <p:cNvSpPr/>
          <p:nvPr/>
        </p:nvSpPr>
        <p:spPr>
          <a:xfrm>
            <a:off x="8569286" y="4582551"/>
            <a:ext cx="420624" cy="420624"/>
          </a:xfrm>
          <a:prstGeom prst="ellipse">
            <a:avLst/>
          </a:prstGeom>
          <a:solidFill>
            <a:srgbClr val="EEF2F7"/>
          </a:solidFill>
          <a:ln w="12700">
            <a:solidFill>
              <a:srgbClr val="EEF2F7"/>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A9B4C6"/>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6" name="Text 44"/>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contenedor es esa imagen corriendo, con su configuración.</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E3F4FA"/>
          </a:solidFill>
          <a:ln w="22225">
            <a:solidFill>
              <a:srgbClr val="2BA6CB"/>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31750">
            <a:solidFill>
              <a:srgbClr val="55627E"/>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31750">
            <a:solidFill>
              <a:srgbClr val="55627E"/>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31750">
            <a:solidFill>
              <a:srgbClr val="55627E"/>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31750">
            <a:solidFill>
              <a:srgbClr val="55627E"/>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47625">
            <a:solidFill>
              <a:srgbClr val="2BA6CB"/>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31750">
            <a:solidFill>
              <a:srgbClr val="CBD5E3"/>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9AA5B8"/>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5883425" y="1862984"/>
            <a:ext cx="420624" cy="420624"/>
          </a:xfrm>
          <a:prstGeom prst="ellipse">
            <a:avLst/>
          </a:prstGeom>
          <a:solidFill>
            <a:srgbClr val="E2E5EA"/>
          </a:solidFill>
          <a:ln w="12700">
            <a:solidFill>
              <a:srgbClr val="E2E5E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8466254" y="1862984"/>
            <a:ext cx="420624" cy="420624"/>
          </a:xfrm>
          <a:prstGeom prst="ellipse">
            <a:avLst/>
          </a:prstGeom>
          <a:solidFill>
            <a:srgbClr val="E2E5EA"/>
          </a:solidFill>
          <a:ln w="12700">
            <a:solidFill>
              <a:srgbClr val="E2E5EA"/>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466254" y="3458261"/>
            <a:ext cx="420624" cy="420624"/>
          </a:xfrm>
          <a:prstGeom prst="ellipse">
            <a:avLst/>
          </a:prstGeom>
          <a:solidFill>
            <a:srgbClr val="E2E5EA"/>
          </a:solidFill>
          <a:ln w="12700">
            <a:solidFill>
              <a:srgbClr val="E2E5EA"/>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12700">
            <a:solidFill>
              <a:srgbClr val="D5DDE8"/>
            </a:solidFill>
            <a:prstDash val="solid"/>
          </a:ln>
        </p:spPr>
      </p:sp>
      <p:sp>
        <p:nvSpPr>
          <p:cNvPr id="41" name="Shape 39"/>
          <p:cNvSpPr/>
          <p:nvPr/>
        </p:nvSpPr>
        <p:spPr>
          <a:xfrm>
            <a:off x="8569286" y="4582551"/>
            <a:ext cx="420624" cy="420624"/>
          </a:xfrm>
          <a:prstGeom prst="ellipse">
            <a:avLst/>
          </a:prstGeom>
          <a:solidFill>
            <a:srgbClr val="EEF2F7"/>
          </a:solidFill>
          <a:ln w="12700">
            <a:solidFill>
              <a:srgbClr val="EEF2F7"/>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A9B4C6"/>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6" name="Text 44"/>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Dentro de la red, solicitudes llama a notificaciones por su nombre, no por localhost.</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56365" y="3121621"/>
            <a:ext cx="5469519" cy="1063518"/>
          </a:xfrm>
          <a:prstGeom prst="roundRect">
            <a:avLst>
              <a:gd name="adj" fmla="val 10317"/>
            </a:avLst>
          </a:prstGeom>
          <a:solidFill>
            <a:srgbClr val="F4F7FB"/>
          </a:solidFill>
          <a:ln w="12700">
            <a:solidFill>
              <a:srgbClr val="DFE6F0"/>
            </a:solidFill>
            <a:prstDash val="solid"/>
          </a:ln>
        </p:spPr>
      </p:sp>
      <p:sp>
        <p:nvSpPr>
          <p:cNvPr id="6" name="Text 4"/>
          <p:cNvSpPr/>
          <p:nvPr/>
        </p:nvSpPr>
        <p:spPr>
          <a:xfrm>
            <a:off x="5029517" y="3176485"/>
            <a:ext cx="197104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588985" y="2073296"/>
            <a:ext cx="531759" cy="0"/>
          </a:xfrm>
          <a:prstGeom prst="line">
            <a:avLst/>
          </a:prstGeom>
          <a:noFill/>
          <a:ln w="31750">
            <a:solidFill>
              <a:srgbClr val="55627E"/>
            </a:solidFill>
            <a:prstDash val="sysDot"/>
            <a:tailEnd type="triangle"/>
          </a:ln>
        </p:spPr>
      </p:sp>
      <p:sp>
        <p:nvSpPr>
          <p:cNvPr id="8" name="Text 6"/>
          <p:cNvSpPr/>
          <p:nvPr/>
        </p:nvSpPr>
        <p:spPr>
          <a:xfrm>
            <a:off x="3573229" y="1849480"/>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61574"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0227" y="2073296"/>
            <a:ext cx="531759" cy="0"/>
          </a:xfrm>
          <a:prstGeom prst="line">
            <a:avLst/>
          </a:prstGeom>
          <a:noFill/>
          <a:ln w="31750">
            <a:solidFill>
              <a:srgbClr val="55627E"/>
            </a:solidFill>
            <a:prstDash val="sysDot"/>
            <a:tailEnd type="triangle"/>
          </a:ln>
        </p:spPr>
      </p:sp>
      <p:sp>
        <p:nvSpPr>
          <p:cNvPr id="11" name="Text 9"/>
          <p:cNvSpPr/>
          <p:nvPr/>
        </p:nvSpPr>
        <p:spPr>
          <a:xfrm>
            <a:off x="5337740" y="1849480"/>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2816"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67089" y="2073296"/>
            <a:ext cx="607724" cy="0"/>
          </a:xfrm>
          <a:prstGeom prst="line">
            <a:avLst/>
          </a:prstGeom>
          <a:noFill/>
          <a:ln w="31750">
            <a:solidFill>
              <a:srgbClr val="55627E"/>
            </a:solidFill>
            <a:prstDash val="sysDot"/>
            <a:tailEnd type="triangle"/>
          </a:ln>
        </p:spPr>
      </p:sp>
      <p:sp>
        <p:nvSpPr>
          <p:cNvPr id="14" name="Text 12"/>
          <p:cNvSpPr/>
          <p:nvPr/>
        </p:nvSpPr>
        <p:spPr>
          <a:xfrm>
            <a:off x="7851496" y="1849480"/>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9679" y="19635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210435" y="2392352"/>
            <a:ext cx="0" cy="957166"/>
          </a:xfrm>
          <a:prstGeom prst="line">
            <a:avLst/>
          </a:prstGeom>
          <a:noFill/>
          <a:ln w="31750">
            <a:solidFill>
              <a:srgbClr val="55627E"/>
            </a:solidFill>
            <a:prstDash val="sysDot"/>
            <a:tailEnd type="triangle"/>
          </a:ln>
        </p:spPr>
      </p:sp>
      <p:sp>
        <p:nvSpPr>
          <p:cNvPr id="17" name="Text 15"/>
          <p:cNvSpPr/>
          <p:nvPr/>
        </p:nvSpPr>
        <p:spPr>
          <a:xfrm>
            <a:off x="9286400" y="2745873"/>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100707" y="24649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9365" y="3668573"/>
            <a:ext cx="1215449" cy="0"/>
          </a:xfrm>
          <a:prstGeom prst="line">
            <a:avLst/>
          </a:prstGeom>
          <a:noFill/>
          <a:ln w="31750">
            <a:solidFill>
              <a:srgbClr val="2E6DB4"/>
            </a:solidFill>
            <a:prstDash val="solid"/>
            <a:tailEnd type="triangle"/>
          </a:ln>
        </p:spPr>
      </p:sp>
      <p:sp>
        <p:nvSpPr>
          <p:cNvPr id="20" name="Text 18"/>
          <p:cNvSpPr/>
          <p:nvPr/>
        </p:nvSpPr>
        <p:spPr>
          <a:xfrm>
            <a:off x="7392185" y="3444756"/>
            <a:ext cx="749808"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82768" y="355884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210435" y="3987628"/>
            <a:ext cx="0" cy="501373"/>
          </a:xfrm>
          <a:prstGeom prst="line">
            <a:avLst/>
          </a:prstGeom>
          <a:noFill/>
          <a:ln w="47625">
            <a:solidFill>
              <a:srgbClr val="2BA6CB"/>
            </a:solidFill>
            <a:prstDash val="solid"/>
            <a:tailEnd type="triangle"/>
          </a:ln>
        </p:spPr>
      </p:sp>
      <p:sp>
        <p:nvSpPr>
          <p:cNvPr id="23" name="Text 21"/>
          <p:cNvSpPr/>
          <p:nvPr/>
        </p:nvSpPr>
        <p:spPr>
          <a:xfrm>
            <a:off x="9286400" y="4113253"/>
            <a:ext cx="1122883"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100707" y="419695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41777" y="1754241"/>
            <a:ext cx="1747207"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0744" y="1754241"/>
            <a:ext cx="1139483"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Shape 25"/>
          <p:cNvSpPr/>
          <p:nvPr/>
        </p:nvSpPr>
        <p:spPr>
          <a:xfrm>
            <a:off x="5791985" y="1754241"/>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5883425" y="1862984"/>
            <a:ext cx="420624" cy="420624"/>
          </a:xfrm>
          <a:prstGeom prst="ellipse">
            <a:avLst/>
          </a:prstGeom>
          <a:solidFill>
            <a:srgbClr val="E2E5EA"/>
          </a:solidFill>
          <a:ln w="12700">
            <a:solidFill>
              <a:srgbClr val="E2E5EA"/>
            </a:solidFill>
            <a:prstDash val="solid"/>
          </a:ln>
        </p:spPr>
      </p:sp>
      <p:sp>
        <p:nvSpPr>
          <p:cNvPr id="29" name="Icono package"/>
          <p:cNvSpPr/>
          <p:nvPr/>
        </p:nvSpPr>
        <p:spPr>
          <a:xfrm>
            <a:off x="5938289"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0" name="Text 28"/>
          <p:cNvSpPr/>
          <p:nvPr/>
        </p:nvSpPr>
        <p:spPr>
          <a:xfrm>
            <a:off x="6358913" y="1754241"/>
            <a:ext cx="1353312"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31" name="Shape 29"/>
          <p:cNvSpPr/>
          <p:nvPr/>
        </p:nvSpPr>
        <p:spPr>
          <a:xfrm>
            <a:off x="8374814" y="1754241"/>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8466254" y="1862984"/>
            <a:ext cx="420624" cy="420624"/>
          </a:xfrm>
          <a:prstGeom prst="ellipse">
            <a:avLst/>
          </a:prstGeom>
          <a:solidFill>
            <a:srgbClr val="E2E5EA"/>
          </a:solidFill>
          <a:ln w="12700">
            <a:solidFill>
              <a:srgbClr val="E2E5EA"/>
            </a:solidFill>
            <a:prstDash val="solid"/>
          </a:ln>
        </p:spPr>
      </p:sp>
      <p:sp>
        <p:nvSpPr>
          <p:cNvPr id="33" name="Icono package"/>
          <p:cNvSpPr/>
          <p:nvPr/>
        </p:nvSpPr>
        <p:spPr>
          <a:xfrm>
            <a:off x="8521118" y="1917848"/>
            <a:ext cx="310896" cy="310896"/>
          </a:xfrm>
          <a:custGeom>
            <a:avLst/>
            <a:gdLst/>
            <a:ahLst/>
            <a:cxnLst/>
            <a:rect l="l" t="t" r="r" b="b"/>
            <a:pathLst>
              <a:path w="310896" h="310896">
                <a:moveTo>
                  <a:pt x="142494" y="281490"/>
                </a:moveTo>
                <a:cubicBezTo>
                  <a:pt x="150510" y="286118"/>
                  <a:pt x="160386" y="286118"/>
                  <a:pt x="168402" y="281490"/>
                </a:cubicBezTo>
                <a:lnTo>
                  <a:pt x="259080" y="229674"/>
                </a:lnTo>
                <a:cubicBezTo>
                  <a:pt x="267088" y="225051"/>
                  <a:pt x="272025" y="216511"/>
                  <a:pt x="272034" y="207264"/>
                </a:cubicBezTo>
                <a:lnTo>
                  <a:pt x="272034" y="103632"/>
                </a:ln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close/>
                <a:moveTo>
                  <a:pt x="155448" y="284988"/>
                </a:moveTo>
                <a:lnTo>
                  <a:pt x="155448" y="155448"/>
                </a:lnTo>
                <a:moveTo>
                  <a:pt x="42748" y="90678"/>
                </a:moveTo>
                <a:lnTo>
                  <a:pt x="142533" y="152002"/>
                </a:lnTo>
                <a:cubicBezTo>
                  <a:pt x="150529" y="156600"/>
                  <a:pt x="160367" y="156600"/>
                  <a:pt x="168363" y="152002"/>
                </a:cubicBezTo>
                <a:lnTo>
                  <a:pt x="268148" y="90678"/>
                </a:lnTo>
                <a:moveTo>
                  <a:pt x="97155" y="55314"/>
                </a:moveTo>
                <a:lnTo>
                  <a:pt x="213741" y="122027"/>
                </a:lnTo>
              </a:path>
            </a:pathLst>
          </a:custGeom>
          <a:noFill/>
          <a:ln w="25908" cap="rnd">
            <a:solidFill>
              <a:srgbClr val="0B2350"/>
            </a:solidFill>
            <a:prstDash val="solid"/>
            <a:round/>
          </a:ln>
        </p:spPr>
      </p:sp>
      <p:sp>
        <p:nvSpPr>
          <p:cNvPr id="34" name="Text 32"/>
          <p:cNvSpPr/>
          <p:nvPr/>
        </p:nvSpPr>
        <p:spPr>
          <a:xfrm>
            <a:off x="8941742" y="1754241"/>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35" name="Shape 33"/>
          <p:cNvSpPr/>
          <p:nvPr/>
        </p:nvSpPr>
        <p:spPr>
          <a:xfrm>
            <a:off x="8374814" y="3349518"/>
            <a:ext cx="1671242"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8466254" y="3458261"/>
            <a:ext cx="420624" cy="420624"/>
          </a:xfrm>
          <a:prstGeom prst="ellipse">
            <a:avLst/>
          </a:prstGeom>
          <a:solidFill>
            <a:srgbClr val="E2E5EA"/>
          </a:solidFill>
          <a:ln w="12700">
            <a:solidFill>
              <a:srgbClr val="E2E5EA"/>
            </a:solidFill>
            <a:prstDash val="solid"/>
          </a:ln>
        </p:spPr>
      </p:sp>
      <p:sp>
        <p:nvSpPr>
          <p:cNvPr id="37" name="Icono container"/>
          <p:cNvSpPr/>
          <p:nvPr/>
        </p:nvSpPr>
        <p:spPr>
          <a:xfrm>
            <a:off x="8521118" y="351312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38" name="Text 36"/>
          <p:cNvSpPr/>
          <p:nvPr/>
        </p:nvSpPr>
        <p:spPr>
          <a:xfrm>
            <a:off x="8941742" y="3349518"/>
            <a:ext cx="1049450" cy="638111"/>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9" name="Text 37"/>
          <p:cNvSpPr/>
          <p:nvPr/>
        </p:nvSpPr>
        <p:spPr>
          <a:xfrm>
            <a:off x="5184261" y="3349518"/>
            <a:ext cx="1975104" cy="638111"/>
          </a:xfrm>
          <a:prstGeom prst="roundRect">
            <a:avLst>
              <a:gd name="adj" fmla="val 12897"/>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40" name="Shape 38"/>
          <p:cNvSpPr/>
          <p:nvPr/>
        </p:nvSpPr>
        <p:spPr>
          <a:xfrm>
            <a:off x="8374814" y="4489001"/>
            <a:ext cx="1671242" cy="607724"/>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1" name="Shape 39"/>
          <p:cNvSpPr/>
          <p:nvPr/>
        </p:nvSpPr>
        <p:spPr>
          <a:xfrm>
            <a:off x="8569286" y="4582551"/>
            <a:ext cx="420624" cy="420624"/>
          </a:xfrm>
          <a:prstGeom prst="ellipse">
            <a:avLst/>
          </a:prstGeom>
          <a:solidFill>
            <a:srgbClr val="E3F4FA"/>
          </a:solidFill>
          <a:ln w="12700">
            <a:solidFill>
              <a:srgbClr val="E3F4FA"/>
            </a:solidFill>
            <a:prstDash val="solid"/>
          </a:ln>
        </p:spPr>
      </p:sp>
      <p:sp>
        <p:nvSpPr>
          <p:cNvPr id="42" name="Icono monitor"/>
          <p:cNvSpPr/>
          <p:nvPr/>
        </p:nvSpPr>
        <p:spPr>
          <a:xfrm>
            <a:off x="8624150" y="4637415"/>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0B6E8A"/>
            </a:solidFill>
            <a:prstDash val="solid"/>
            <a:round/>
          </a:ln>
        </p:spPr>
      </p:sp>
      <p:sp>
        <p:nvSpPr>
          <p:cNvPr id="43" name="Text 41"/>
          <p:cNvSpPr/>
          <p:nvPr/>
        </p:nvSpPr>
        <p:spPr>
          <a:xfrm>
            <a:off x="9044774" y="4489001"/>
            <a:ext cx="946418" cy="607724"/>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Tu equipo</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44" name="Shape 42"/>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5" name="Text 43"/>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6" name="Text 44"/>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Desde tu computadora entras por el puerto publicado.</a:t>
            </a:r>
            <a:endParaRPr lang="en-US" sz="13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Compose: el sistema completo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solo comando levanta todo el sistema.</a:t>
            </a:r>
            <a:endParaRPr lang="en-US" sz="1700" dirty="0"/>
          </a:p>
        </p:txBody>
      </p:sp>
      <p:sp>
        <p:nvSpPr>
          <p:cNvPr id="6" name="Shape 4"/>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7"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8" name="Text 6"/>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9" name="Shape 7"/>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0" name="Shape 8"/>
          <p:cNvSpPr/>
          <p:nvPr/>
        </p:nvSpPr>
        <p:spPr>
          <a:xfrm>
            <a:off x="612648" y="2624328"/>
            <a:ext cx="64008" cy="1581912"/>
          </a:xfrm>
          <a:prstGeom prst="rect">
            <a:avLst/>
          </a:prstGeom>
          <a:solidFill>
            <a:srgbClr val="5B3FC4"/>
          </a:solidFill>
          <a:ln w="12700">
            <a:solidFill>
              <a:srgbClr val="5B3FC4"/>
            </a:solidFill>
            <a:prstDash val="solid"/>
          </a:ln>
        </p:spPr>
      </p:sp>
      <p:sp>
        <p:nvSpPr>
          <p:cNvPr id="11" name="Shape 9"/>
          <p:cNvSpPr/>
          <p:nvPr/>
        </p:nvSpPr>
        <p:spPr>
          <a:xfrm>
            <a:off x="813816" y="2679192"/>
            <a:ext cx="566928" cy="566928"/>
          </a:xfrm>
          <a:prstGeom prst="ellipse">
            <a:avLst/>
          </a:prstGeom>
          <a:solidFill>
            <a:srgbClr val="F1EEFD"/>
          </a:solidFill>
          <a:ln w="12700">
            <a:solidFill>
              <a:srgbClr val="F1EEFD"/>
            </a:solidFill>
            <a:prstDash val="solid"/>
          </a:ln>
        </p:spPr>
      </p:sp>
      <p:sp>
        <p:nvSpPr>
          <p:cNvPr id="12" name="Icono monitor"/>
          <p:cNvSpPr/>
          <p:nvPr/>
        </p:nvSpPr>
        <p:spPr>
          <a:xfrm>
            <a:off x="949879" y="2815255"/>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13" name="Text 11"/>
          <p:cNvSpPr/>
          <p:nvPr/>
        </p:nvSpPr>
        <p:spPr>
          <a:xfrm>
            <a:off x="1527048"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arka-lite-ui</a:t>
            </a:r>
            <a:endParaRPr lang="en-US" sz="1500" dirty="0"/>
          </a:p>
        </p:txBody>
      </p:sp>
      <p:sp>
        <p:nvSpPr>
          <p:cNvPr id="14" name="Text 12"/>
          <p:cNvSpPr/>
          <p:nvPr/>
        </p:nvSpPr>
        <p:spPr>
          <a:xfrm>
            <a:off x="86868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:8088 · la interfaz y su proxy</a:t>
            </a:r>
            <a:endParaRPr lang="en-US" sz="1300" dirty="0"/>
          </a:p>
        </p:txBody>
      </p:sp>
      <p:sp>
        <p:nvSpPr>
          <p:cNvPr id="15" name="Shape 13"/>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3399968" y="2624328"/>
            <a:ext cx="64008" cy="1581912"/>
          </a:xfrm>
          <a:prstGeom prst="rect">
            <a:avLst/>
          </a:prstGeom>
          <a:solidFill>
            <a:srgbClr val="0B2350"/>
          </a:solidFill>
          <a:ln w="12700">
            <a:solidFill>
              <a:srgbClr val="0B2350"/>
            </a:solidFill>
            <a:prstDash val="solid"/>
          </a:ln>
        </p:spPr>
      </p:sp>
      <p:sp>
        <p:nvSpPr>
          <p:cNvPr id="17" name="Shape 15"/>
          <p:cNvSpPr/>
          <p:nvPr/>
        </p:nvSpPr>
        <p:spPr>
          <a:xfrm>
            <a:off x="3601136" y="2679192"/>
            <a:ext cx="566928" cy="566928"/>
          </a:xfrm>
          <a:prstGeom prst="ellipse">
            <a:avLst/>
          </a:prstGeom>
          <a:solidFill>
            <a:srgbClr val="E8EEF8"/>
          </a:solidFill>
          <a:ln w="12700">
            <a:solidFill>
              <a:srgbClr val="E8EEF8"/>
            </a:solidFill>
            <a:prstDash val="solid"/>
          </a:ln>
        </p:spPr>
      </p:sp>
      <p:sp>
        <p:nvSpPr>
          <p:cNvPr id="18" name="Icono clipboard-list"/>
          <p:cNvSpPr/>
          <p:nvPr/>
        </p:nvSpPr>
        <p:spPr>
          <a:xfrm>
            <a:off x="3737199" y="2815255"/>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19" name="Text 17"/>
          <p:cNvSpPr/>
          <p:nvPr/>
        </p:nvSpPr>
        <p:spPr>
          <a:xfrm>
            <a:off x="4314368" y="2679192"/>
            <a:ext cx="1552880" cy="566928"/>
          </a:xfrm>
          <a:prstGeom prst="rect">
            <a:avLst/>
          </a:prstGeom>
          <a:noFill/>
          <a:ln/>
        </p:spPr>
        <p:txBody>
          <a:bodyPr wrap="square" lIns="0" tIns="0" rIns="0" bIns="0" rtlCol="0" anchor="ctr">
            <a:normAutofit/>
          </a:bodyPr>
          <a:lstStyle/>
          <a:p>
            <a:pPr algn="l" indent="0" marL="0">
              <a:buNone/>
            </a:pPr>
            <a:r>
              <a:rPr lang="en-US" sz="1050" b="1" dirty="0">
                <a:solidFill>
                  <a:srgbClr val="0B1A3C"/>
                </a:solidFill>
                <a:latin typeface="Segoe UI Semibold" pitchFamily="34" charset="0"/>
                <a:ea typeface="Segoe UI Semibold" pitchFamily="34" charset="-122"/>
                <a:cs typeface="Segoe UI Semibold" pitchFamily="34" charset="-120"/>
              </a:rPr>
              <a:t>servicio-solicitudes</a:t>
            </a:r>
            <a:endParaRPr lang="en-US" sz="1050" dirty="0"/>
          </a:p>
        </p:txBody>
      </p:sp>
      <p:sp>
        <p:nvSpPr>
          <p:cNvPr id="20" name="Text 18"/>
          <p:cNvSpPr/>
          <p:nvPr/>
        </p:nvSpPr>
        <p:spPr>
          <a:xfrm>
            <a:off x="365600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:8080 · el trámite</a:t>
            </a:r>
            <a:endParaRPr lang="en-US" sz="1300" dirty="0"/>
          </a:p>
        </p:txBody>
      </p:sp>
      <p:sp>
        <p:nvSpPr>
          <p:cNvPr id="21" name="Shape 19"/>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6187288" y="2624328"/>
            <a:ext cx="64008" cy="1581912"/>
          </a:xfrm>
          <a:prstGeom prst="rect">
            <a:avLst/>
          </a:prstGeom>
          <a:solidFill>
            <a:srgbClr val="0B6E8A"/>
          </a:solidFill>
          <a:ln w="12700">
            <a:solidFill>
              <a:srgbClr val="0B6E8A"/>
            </a:solidFill>
            <a:prstDash val="solid"/>
          </a:ln>
        </p:spPr>
      </p:sp>
      <p:sp>
        <p:nvSpPr>
          <p:cNvPr id="23" name="Shape 21"/>
          <p:cNvSpPr/>
          <p:nvPr/>
        </p:nvSpPr>
        <p:spPr>
          <a:xfrm>
            <a:off x="6388456" y="2679192"/>
            <a:ext cx="566928" cy="566928"/>
          </a:xfrm>
          <a:prstGeom prst="ellipse">
            <a:avLst/>
          </a:prstGeom>
          <a:solidFill>
            <a:srgbClr val="E3F4FA"/>
          </a:solidFill>
          <a:ln w="12700">
            <a:solidFill>
              <a:srgbClr val="E3F4FA"/>
            </a:solidFill>
            <a:prstDash val="solid"/>
          </a:ln>
        </p:spPr>
      </p:sp>
      <p:sp>
        <p:nvSpPr>
          <p:cNvPr id="24" name="Icono bell"/>
          <p:cNvSpPr/>
          <p:nvPr/>
        </p:nvSpPr>
        <p:spPr>
          <a:xfrm>
            <a:off x="6524518" y="2815255"/>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25" name="Text 23"/>
          <p:cNvSpPr/>
          <p:nvPr/>
        </p:nvSpPr>
        <p:spPr>
          <a:xfrm>
            <a:off x="7101688" y="2679192"/>
            <a:ext cx="1552880" cy="566928"/>
          </a:xfrm>
          <a:prstGeom prst="rect">
            <a:avLst/>
          </a:prstGeom>
          <a:noFill/>
          <a:ln/>
        </p:spPr>
        <p:txBody>
          <a:bodyPr wrap="square" lIns="0" tIns="0" rIns="0" bIns="0" rtlCol="0" anchor="ctr">
            <a:normAutofit/>
          </a:bodyPr>
          <a:lstStyle/>
          <a:p>
            <a:pPr algn="l" indent="0" marL="0">
              <a:buNone/>
            </a:pPr>
            <a:r>
              <a:rPr lang="en-US" sz="900" b="1" dirty="0">
                <a:solidFill>
                  <a:srgbClr val="0B1A3C"/>
                </a:solidFill>
                <a:latin typeface="Segoe UI Semibold" pitchFamily="34" charset="0"/>
                <a:ea typeface="Segoe UI Semibold" pitchFamily="34" charset="-122"/>
                <a:cs typeface="Segoe UI Semibold" pitchFamily="34" charset="-120"/>
              </a:rPr>
              <a:t>servicio-notificaciones</a:t>
            </a:r>
            <a:endParaRPr lang="en-US" sz="900" dirty="0"/>
          </a:p>
        </p:txBody>
      </p:sp>
      <p:sp>
        <p:nvSpPr>
          <p:cNvPr id="26" name="Text 24"/>
          <p:cNvSpPr/>
          <p:nvPr/>
        </p:nvSpPr>
        <p:spPr>
          <a:xfrm>
            <a:off x="6443320"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:8081 · los avisos</a:t>
            </a:r>
            <a:endParaRPr lang="en-US" sz="1300" dirty="0"/>
          </a:p>
        </p:txBody>
      </p:sp>
      <p:sp>
        <p:nvSpPr>
          <p:cNvPr id="27" name="Shape 25"/>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8974607" y="2624328"/>
            <a:ext cx="64008" cy="1581912"/>
          </a:xfrm>
          <a:prstGeom prst="rect">
            <a:avLst/>
          </a:prstGeom>
          <a:solidFill>
            <a:srgbClr val="55627E"/>
          </a:solidFill>
          <a:ln w="12700">
            <a:solidFill>
              <a:srgbClr val="55627E"/>
            </a:solidFill>
            <a:prstDash val="solid"/>
          </a:ln>
        </p:spPr>
      </p:sp>
      <p:sp>
        <p:nvSpPr>
          <p:cNvPr id="29" name="Shape 27"/>
          <p:cNvSpPr/>
          <p:nvPr/>
        </p:nvSpPr>
        <p:spPr>
          <a:xfrm>
            <a:off x="9175775" y="2679192"/>
            <a:ext cx="566928" cy="566928"/>
          </a:xfrm>
          <a:prstGeom prst="ellipse">
            <a:avLst/>
          </a:prstGeom>
          <a:solidFill>
            <a:srgbClr val="F4F7FB"/>
          </a:solidFill>
          <a:ln w="12700">
            <a:solidFill>
              <a:srgbClr val="F4F7FB"/>
            </a:solidFill>
            <a:prstDash val="solid"/>
          </a:ln>
        </p:spPr>
      </p:sp>
      <p:sp>
        <p:nvSpPr>
          <p:cNvPr id="30" name="Icono database"/>
          <p:cNvSpPr/>
          <p:nvPr/>
        </p:nvSpPr>
        <p:spPr>
          <a:xfrm>
            <a:off x="9311838" y="2815255"/>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1" name="Text 29"/>
          <p:cNvSpPr/>
          <p:nvPr/>
        </p:nvSpPr>
        <p:spPr>
          <a:xfrm>
            <a:off x="9889007" y="267919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db-solicitudes</a:t>
            </a:r>
            <a:endParaRPr lang="en-US" sz="1500" dirty="0"/>
          </a:p>
        </p:txBody>
      </p:sp>
      <p:sp>
        <p:nvSpPr>
          <p:cNvPr id="32" name="Text 30"/>
          <p:cNvSpPr/>
          <p:nvPr/>
        </p:nvSpPr>
        <p:spPr>
          <a:xfrm>
            <a:off x="9230639" y="3355848"/>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solo red interna</a:t>
            </a:r>
            <a:endParaRPr lang="en-US" sz="1300" dirty="0"/>
          </a:p>
        </p:txBody>
      </p:sp>
      <p:sp>
        <p:nvSpPr>
          <p:cNvPr id="33" name="Shape 31"/>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612648" y="4645152"/>
            <a:ext cx="64008" cy="1581912"/>
          </a:xfrm>
          <a:prstGeom prst="rect">
            <a:avLst/>
          </a:prstGeom>
          <a:solidFill>
            <a:srgbClr val="55627E"/>
          </a:solidFill>
          <a:ln w="12700">
            <a:solidFill>
              <a:srgbClr val="55627E"/>
            </a:solidFill>
            <a:prstDash val="solid"/>
          </a:ln>
        </p:spPr>
      </p:sp>
      <p:sp>
        <p:nvSpPr>
          <p:cNvPr id="35" name="Shape 33"/>
          <p:cNvSpPr/>
          <p:nvPr/>
        </p:nvSpPr>
        <p:spPr>
          <a:xfrm>
            <a:off x="813816" y="4700016"/>
            <a:ext cx="566928" cy="566928"/>
          </a:xfrm>
          <a:prstGeom prst="ellipse">
            <a:avLst/>
          </a:prstGeom>
          <a:solidFill>
            <a:srgbClr val="F4F7FB"/>
          </a:solidFill>
          <a:ln w="12700">
            <a:solidFill>
              <a:srgbClr val="F4F7FB"/>
            </a:solidFill>
            <a:prstDash val="solid"/>
          </a:ln>
        </p:spPr>
      </p:sp>
      <p:sp>
        <p:nvSpPr>
          <p:cNvPr id="36" name="Icono database"/>
          <p:cNvSpPr/>
          <p:nvPr/>
        </p:nvSpPr>
        <p:spPr>
          <a:xfrm>
            <a:off x="949879" y="4836079"/>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37" name="Text 35"/>
          <p:cNvSpPr/>
          <p:nvPr/>
        </p:nvSpPr>
        <p:spPr>
          <a:xfrm>
            <a:off x="1527048" y="4700016"/>
            <a:ext cx="1552880" cy="566928"/>
          </a:xfrm>
          <a:prstGeom prst="rect">
            <a:avLst/>
          </a:prstGeom>
          <a:noFill/>
          <a:ln/>
        </p:spPr>
        <p:txBody>
          <a:bodyPr wrap="square" lIns="0" tIns="0" rIns="0" bIns="0" rtlCol="0" anchor="ctr">
            <a:normAutofit/>
          </a:bodyPr>
          <a:lstStyle/>
          <a:p>
            <a:pPr algn="l" indent="0" marL="0">
              <a:buNone/>
            </a:pPr>
            <a:r>
              <a:rPr lang="en-US" sz="1200" b="1" dirty="0">
                <a:solidFill>
                  <a:srgbClr val="0B1A3C"/>
                </a:solidFill>
                <a:latin typeface="Segoe UI Semibold" pitchFamily="34" charset="0"/>
                <a:ea typeface="Segoe UI Semibold" pitchFamily="34" charset="-122"/>
                <a:cs typeface="Segoe UI Semibold" pitchFamily="34" charset="-120"/>
              </a:rPr>
              <a:t>db-notificaciones</a:t>
            </a:r>
            <a:endParaRPr lang="en-US" sz="1200" dirty="0"/>
          </a:p>
        </p:txBody>
      </p:sp>
      <p:sp>
        <p:nvSpPr>
          <p:cNvPr id="38" name="Text 36"/>
          <p:cNvSpPr/>
          <p:nvPr/>
        </p:nvSpPr>
        <p:spPr>
          <a:xfrm>
            <a:off x="86868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PostgreSQL 17 · :5433</a:t>
            </a:r>
            <a:endParaRPr lang="en-US" sz="1300" dirty="0"/>
          </a:p>
        </p:txBody>
      </p:sp>
      <p:sp>
        <p:nvSpPr>
          <p:cNvPr id="39" name="Shape 37"/>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399968" y="4645152"/>
            <a:ext cx="64008" cy="1581912"/>
          </a:xfrm>
          <a:prstGeom prst="rect">
            <a:avLst/>
          </a:prstGeom>
          <a:solidFill>
            <a:srgbClr val="8A4B06"/>
          </a:solidFill>
          <a:ln w="12700">
            <a:solidFill>
              <a:srgbClr val="8A4B06"/>
            </a:solidFill>
            <a:prstDash val="solid"/>
          </a:ln>
        </p:spPr>
      </p:sp>
      <p:sp>
        <p:nvSpPr>
          <p:cNvPr id="41" name="Shape 39"/>
          <p:cNvSpPr/>
          <p:nvPr/>
        </p:nvSpPr>
        <p:spPr>
          <a:xfrm>
            <a:off x="3601136" y="4700016"/>
            <a:ext cx="566928" cy="566928"/>
          </a:xfrm>
          <a:prstGeom prst="ellipse">
            <a:avLst/>
          </a:prstGeom>
          <a:solidFill>
            <a:srgbClr val="FCEFD6"/>
          </a:solidFill>
          <a:ln w="12700">
            <a:solidFill>
              <a:srgbClr val="FCEFD6"/>
            </a:solidFill>
            <a:prstDash val="solid"/>
          </a:ln>
        </p:spPr>
      </p:sp>
      <p:sp>
        <p:nvSpPr>
          <p:cNvPr id="42" name="Icono scan-eye"/>
          <p:cNvSpPr/>
          <p:nvPr/>
        </p:nvSpPr>
        <p:spPr>
          <a:xfrm>
            <a:off x="3737199" y="4836079"/>
            <a:ext cx="294803" cy="294803"/>
          </a:xfrm>
          <a:custGeom>
            <a:avLst/>
            <a:gdLst/>
            <a:ahLst/>
            <a:cxnLst/>
            <a:rect l="l" t="t" r="r" b="b"/>
            <a:pathLst>
              <a:path w="294803" h="294803">
                <a:moveTo>
                  <a:pt x="36850" y="85984"/>
                </a:moveTo>
                <a:lnTo>
                  <a:pt x="36850" y="61417"/>
                </a:lnTo>
                <a:cubicBezTo>
                  <a:pt x="36850" y="47849"/>
                  <a:pt x="47849" y="36850"/>
                  <a:pt x="61417" y="36850"/>
                </a:cubicBezTo>
                <a:lnTo>
                  <a:pt x="85984" y="36850"/>
                </a:lnTo>
                <a:moveTo>
                  <a:pt x="208818" y="36850"/>
                </a:moveTo>
                <a:lnTo>
                  <a:pt x="233385" y="36850"/>
                </a:lnTo>
                <a:cubicBezTo>
                  <a:pt x="246953" y="36850"/>
                  <a:pt x="257952" y="47849"/>
                  <a:pt x="257952" y="61417"/>
                </a:cubicBezTo>
                <a:lnTo>
                  <a:pt x="257952" y="85984"/>
                </a:lnTo>
                <a:moveTo>
                  <a:pt x="257952" y="208818"/>
                </a:moveTo>
                <a:lnTo>
                  <a:pt x="257952" y="233385"/>
                </a:lnTo>
                <a:cubicBezTo>
                  <a:pt x="257952" y="246953"/>
                  <a:pt x="246953" y="257952"/>
                  <a:pt x="233385" y="257952"/>
                </a:cubicBezTo>
                <a:lnTo>
                  <a:pt x="208818" y="257952"/>
                </a:lnTo>
                <a:moveTo>
                  <a:pt x="85984" y="257952"/>
                </a:moveTo>
                <a:lnTo>
                  <a:pt x="61417" y="257952"/>
                </a:lnTo>
                <a:cubicBezTo>
                  <a:pt x="47849" y="257952"/>
                  <a:pt x="36850" y="246953"/>
                  <a:pt x="36850" y="233385"/>
                </a:cubicBezTo>
                <a:lnTo>
                  <a:pt x="36850" y="208818"/>
                </a:lnTo>
                <a:moveTo>
                  <a:pt x="159685" y="147401"/>
                </a:moveTo>
                <a:cubicBezTo>
                  <a:pt x="159685" y="154185"/>
                  <a:pt x="154185" y="159685"/>
                  <a:pt x="147401" y="159685"/>
                </a:cubicBezTo>
                <a:cubicBezTo>
                  <a:pt x="140617" y="159685"/>
                  <a:pt x="135118" y="154185"/>
                  <a:pt x="135118" y="147401"/>
                </a:cubicBezTo>
                <a:cubicBezTo>
                  <a:pt x="135118" y="140617"/>
                  <a:pt x="140617" y="135118"/>
                  <a:pt x="147401" y="135118"/>
                </a:cubicBezTo>
                <a:cubicBezTo>
                  <a:pt x="154185" y="135118"/>
                  <a:pt x="159685" y="140617"/>
                  <a:pt x="159685" y="147401"/>
                </a:cubicBezTo>
                <a:close/>
                <a:moveTo>
                  <a:pt x="232697" y="151455"/>
                </a:moveTo>
                <a:cubicBezTo>
                  <a:pt x="233615" y="148830"/>
                  <a:pt x="233615" y="145972"/>
                  <a:pt x="232697" y="143348"/>
                </a:cubicBezTo>
                <a:cubicBezTo>
                  <a:pt x="218552" y="108686"/>
                  <a:pt x="184838" y="86032"/>
                  <a:pt x="147401" y="86032"/>
                </a:cubicBezTo>
                <a:cubicBezTo>
                  <a:pt x="109965" y="86032"/>
                  <a:pt x="76251" y="108686"/>
                  <a:pt x="62105" y="143348"/>
                </a:cubicBezTo>
                <a:cubicBezTo>
                  <a:pt x="61188" y="145972"/>
                  <a:pt x="61188" y="148830"/>
                  <a:pt x="62105" y="151455"/>
                </a:cubicBezTo>
                <a:cubicBezTo>
                  <a:pt x="76251" y="186116"/>
                  <a:pt x="109965" y="208771"/>
                  <a:pt x="147401" y="208771"/>
                </a:cubicBezTo>
                <a:cubicBezTo>
                  <a:pt x="184838" y="208771"/>
                  <a:pt x="218552" y="186116"/>
                  <a:pt x="232697" y="151455"/>
                </a:cubicBezTo>
              </a:path>
            </a:pathLst>
          </a:custGeom>
          <a:noFill/>
          <a:ln w="24567" cap="rnd">
            <a:solidFill>
              <a:srgbClr val="8A4B06"/>
            </a:solidFill>
            <a:prstDash val="solid"/>
            <a:round/>
          </a:ln>
        </p:spPr>
      </p:sp>
      <p:sp>
        <p:nvSpPr>
          <p:cNvPr id="43" name="Text 41"/>
          <p:cNvSpPr/>
          <p:nvPr/>
        </p:nvSpPr>
        <p:spPr>
          <a:xfrm>
            <a:off x="431436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promtail</a:t>
            </a:r>
            <a:endParaRPr lang="en-US" sz="1500" dirty="0"/>
          </a:p>
        </p:txBody>
      </p:sp>
      <p:sp>
        <p:nvSpPr>
          <p:cNvPr id="44" name="Text 42"/>
          <p:cNvSpPr/>
          <p:nvPr/>
        </p:nvSpPr>
        <p:spPr>
          <a:xfrm>
            <a:off x="365600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recoge los logs</a:t>
            </a:r>
            <a:endParaRPr lang="en-US" sz="1300" dirty="0"/>
          </a:p>
        </p:txBody>
      </p:sp>
      <p:sp>
        <p:nvSpPr>
          <p:cNvPr id="45" name="Shape 43"/>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6187288" y="4645152"/>
            <a:ext cx="64008" cy="1581912"/>
          </a:xfrm>
          <a:prstGeom prst="rect">
            <a:avLst/>
          </a:prstGeom>
          <a:solidFill>
            <a:srgbClr val="8A4B06"/>
          </a:solidFill>
          <a:ln w="12700">
            <a:solidFill>
              <a:srgbClr val="8A4B06"/>
            </a:solidFill>
            <a:prstDash val="solid"/>
          </a:ln>
        </p:spPr>
      </p:sp>
      <p:sp>
        <p:nvSpPr>
          <p:cNvPr id="47" name="Shape 45"/>
          <p:cNvSpPr/>
          <p:nvPr/>
        </p:nvSpPr>
        <p:spPr>
          <a:xfrm>
            <a:off x="6388456" y="4700016"/>
            <a:ext cx="566928" cy="566928"/>
          </a:xfrm>
          <a:prstGeom prst="ellipse">
            <a:avLst/>
          </a:prstGeom>
          <a:solidFill>
            <a:srgbClr val="FCEFD6"/>
          </a:solidFill>
          <a:ln w="12700">
            <a:solidFill>
              <a:srgbClr val="FCEFD6"/>
            </a:solidFill>
            <a:prstDash val="solid"/>
          </a:ln>
        </p:spPr>
      </p:sp>
      <p:sp>
        <p:nvSpPr>
          <p:cNvPr id="48" name="Icono archive"/>
          <p:cNvSpPr/>
          <p:nvPr/>
        </p:nvSpPr>
        <p:spPr>
          <a:xfrm>
            <a:off x="6524518" y="4836079"/>
            <a:ext cx="294803" cy="294803"/>
          </a:xfrm>
          <a:custGeom>
            <a:avLst/>
            <a:gdLst/>
            <a:ahLst/>
            <a:cxnLst/>
            <a:rect l="l" t="t" r="r" b="b"/>
            <a:pathLst>
              <a:path w="294803" h="294803">
                <a:moveTo>
                  <a:pt x="36850" y="36850"/>
                </a:moveTo>
                <a:lnTo>
                  <a:pt x="257952" y="36850"/>
                </a:lnTo>
                <a:cubicBezTo>
                  <a:pt x="264736" y="36850"/>
                  <a:pt x="270236" y="42350"/>
                  <a:pt x="270236" y="49134"/>
                </a:cubicBezTo>
                <a:lnTo>
                  <a:pt x="270236" y="85984"/>
                </a:lnTo>
                <a:cubicBezTo>
                  <a:pt x="270236" y="92768"/>
                  <a:pt x="264736" y="98268"/>
                  <a:pt x="257952" y="98268"/>
                </a:cubicBezTo>
                <a:lnTo>
                  <a:pt x="36850" y="98268"/>
                </a:lnTo>
                <a:cubicBezTo>
                  <a:pt x="30066" y="98268"/>
                  <a:pt x="24567" y="92768"/>
                  <a:pt x="24567" y="85984"/>
                </a:cubicBezTo>
                <a:lnTo>
                  <a:pt x="24567" y="49134"/>
                </a:lnTo>
                <a:cubicBezTo>
                  <a:pt x="24567" y="42350"/>
                  <a:pt x="30066" y="36850"/>
                  <a:pt x="36850" y="36850"/>
                </a:cubicBezTo>
                <a:close/>
                <a:moveTo>
                  <a:pt x="49134" y="98268"/>
                </a:moveTo>
                <a:lnTo>
                  <a:pt x="49134" y="233385"/>
                </a:lnTo>
                <a:cubicBezTo>
                  <a:pt x="49134" y="246953"/>
                  <a:pt x="60133" y="257952"/>
                  <a:pt x="73701" y="257952"/>
                </a:cubicBezTo>
                <a:lnTo>
                  <a:pt x="221102" y="257952"/>
                </a:lnTo>
                <a:cubicBezTo>
                  <a:pt x="234670" y="257952"/>
                  <a:pt x="245669" y="246953"/>
                  <a:pt x="245669" y="233385"/>
                </a:cubicBezTo>
                <a:lnTo>
                  <a:pt x="245669" y="98268"/>
                </a:lnTo>
                <a:moveTo>
                  <a:pt x="122834" y="147401"/>
                </a:moveTo>
                <a:lnTo>
                  <a:pt x="171968" y="147401"/>
                </a:lnTo>
              </a:path>
            </a:pathLst>
          </a:custGeom>
          <a:noFill/>
          <a:ln w="24567" cap="rnd">
            <a:solidFill>
              <a:srgbClr val="8A4B06"/>
            </a:solidFill>
            <a:prstDash val="solid"/>
            <a:round/>
          </a:ln>
        </p:spPr>
      </p:sp>
      <p:sp>
        <p:nvSpPr>
          <p:cNvPr id="49" name="Text 47"/>
          <p:cNvSpPr/>
          <p:nvPr/>
        </p:nvSpPr>
        <p:spPr>
          <a:xfrm>
            <a:off x="7101688"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loki</a:t>
            </a:r>
            <a:endParaRPr lang="en-US" sz="1500" dirty="0"/>
          </a:p>
        </p:txBody>
      </p:sp>
      <p:sp>
        <p:nvSpPr>
          <p:cNvPr id="50" name="Text 48"/>
          <p:cNvSpPr/>
          <p:nvPr/>
        </p:nvSpPr>
        <p:spPr>
          <a:xfrm>
            <a:off x="6443320"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:3100 · guarda los logs</a:t>
            </a:r>
            <a:endParaRPr lang="en-US" sz="1300" dirty="0"/>
          </a:p>
        </p:txBody>
      </p:sp>
      <p:sp>
        <p:nvSpPr>
          <p:cNvPr id="51" name="Shape 49"/>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8974607" y="4645152"/>
            <a:ext cx="64008" cy="1581912"/>
          </a:xfrm>
          <a:prstGeom prst="rect">
            <a:avLst/>
          </a:prstGeom>
          <a:solidFill>
            <a:srgbClr val="8A4B06"/>
          </a:solidFill>
          <a:ln w="12700">
            <a:solidFill>
              <a:srgbClr val="8A4B06"/>
            </a:solidFill>
            <a:prstDash val="solid"/>
          </a:ln>
        </p:spPr>
      </p:sp>
      <p:sp>
        <p:nvSpPr>
          <p:cNvPr id="53" name="Shape 51"/>
          <p:cNvSpPr/>
          <p:nvPr/>
        </p:nvSpPr>
        <p:spPr>
          <a:xfrm>
            <a:off x="9175775" y="4700016"/>
            <a:ext cx="566928" cy="566928"/>
          </a:xfrm>
          <a:prstGeom prst="ellipse">
            <a:avLst/>
          </a:prstGeom>
          <a:solidFill>
            <a:srgbClr val="FCEFD6"/>
          </a:solidFill>
          <a:ln w="12700">
            <a:solidFill>
              <a:srgbClr val="FCEFD6"/>
            </a:solidFill>
            <a:prstDash val="solid"/>
          </a:ln>
        </p:spPr>
      </p:sp>
      <p:sp>
        <p:nvSpPr>
          <p:cNvPr id="54" name="Icono chart-line"/>
          <p:cNvSpPr/>
          <p:nvPr/>
        </p:nvSpPr>
        <p:spPr>
          <a:xfrm>
            <a:off x="9311838" y="483607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5" name="Text 53"/>
          <p:cNvSpPr/>
          <p:nvPr/>
        </p:nvSpPr>
        <p:spPr>
          <a:xfrm>
            <a:off x="9889007" y="470001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grafana</a:t>
            </a:r>
            <a:endParaRPr lang="en-US" sz="1500" dirty="0"/>
          </a:p>
        </p:txBody>
      </p:sp>
      <p:sp>
        <p:nvSpPr>
          <p:cNvPr id="56" name="Text 54"/>
          <p:cNvSpPr/>
          <p:nvPr/>
        </p:nvSpPr>
        <p:spPr>
          <a:xfrm>
            <a:off x="9230639" y="5376672"/>
            <a:ext cx="2192960" cy="85953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:3000 · busca en los logs</a:t>
            </a:r>
            <a:endParaRPr lang="en-US" sz="130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Integración y entrega continua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cambio se prueba solo.</a:t>
            </a:r>
            <a:endParaRPr lang="en-US" sz="1700" dirty="0"/>
          </a:p>
        </p:txBody>
      </p:sp>
      <p:sp>
        <p:nvSpPr>
          <p:cNvPr id="6" name="Shape 4"/>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7"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8" name="Text 6"/>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9" name="Text 7"/>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0" name="Shape 8"/>
          <p:cNvSpPr/>
          <p:nvPr/>
        </p:nvSpPr>
        <p:spPr>
          <a:xfrm>
            <a:off x="1549375" y="4151376"/>
            <a:ext cx="0" cy="109728"/>
          </a:xfrm>
          <a:prstGeom prst="line">
            <a:avLst/>
          </a:prstGeom>
          <a:noFill/>
          <a:ln w="25400">
            <a:solidFill>
              <a:srgbClr val="0B2350"/>
            </a:solidFill>
            <a:prstDash val="solid"/>
          </a:ln>
        </p:spPr>
      </p:sp>
      <p:sp>
        <p:nvSpPr>
          <p:cNvPr id="11" name="Shape 9"/>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2"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13" name="Text 11"/>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14" name="Text 12"/>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trabajo por servicio.</a:t>
            </a:r>
            <a:endParaRPr lang="en-US" sz="1400" dirty="0"/>
          </a:p>
        </p:txBody>
      </p:sp>
      <p:sp>
        <p:nvSpPr>
          <p:cNvPr id="15" name="Shape 13"/>
          <p:cNvSpPr/>
          <p:nvPr/>
        </p:nvSpPr>
        <p:spPr>
          <a:xfrm>
            <a:off x="3349676" y="4151376"/>
            <a:ext cx="0" cy="109728"/>
          </a:xfrm>
          <a:prstGeom prst="line">
            <a:avLst/>
          </a:prstGeom>
          <a:noFill/>
          <a:ln w="25400">
            <a:solidFill>
              <a:srgbClr val="0B325C"/>
            </a:solidFill>
            <a:prstDash val="solid"/>
          </a:ln>
        </p:spPr>
      </p:sp>
      <p:sp>
        <p:nvSpPr>
          <p:cNvPr id="16" name="Shape 14"/>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7"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18" name="Text 16"/>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19" name="Text 17"/>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Todas las pruebas, cada servicio con su base.</a:t>
            </a:r>
            <a:endParaRPr lang="en-US" sz="1400" dirty="0"/>
          </a:p>
        </p:txBody>
      </p:sp>
      <p:sp>
        <p:nvSpPr>
          <p:cNvPr id="20" name="Shape 18"/>
          <p:cNvSpPr/>
          <p:nvPr/>
        </p:nvSpPr>
        <p:spPr>
          <a:xfrm>
            <a:off x="5149977" y="4151376"/>
            <a:ext cx="0" cy="109728"/>
          </a:xfrm>
          <a:prstGeom prst="line">
            <a:avLst/>
          </a:prstGeom>
          <a:noFill/>
          <a:ln w="25400">
            <a:solidFill>
              <a:srgbClr val="0B4167"/>
            </a:solidFill>
            <a:prstDash val="solid"/>
          </a:ln>
        </p:spPr>
      </p:sp>
      <p:sp>
        <p:nvSpPr>
          <p:cNvPr id="21" name="Shape 19"/>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2"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23" name="Text 21"/>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24" name="Text 22"/>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servicio realmente levanta?</a:t>
            </a:r>
            <a:endParaRPr lang="en-US" sz="1400" dirty="0"/>
          </a:p>
        </p:txBody>
      </p:sp>
      <p:sp>
        <p:nvSpPr>
          <p:cNvPr id="25" name="Shape 23"/>
          <p:cNvSpPr/>
          <p:nvPr/>
        </p:nvSpPr>
        <p:spPr>
          <a:xfrm>
            <a:off x="6950278" y="4151376"/>
            <a:ext cx="0" cy="109728"/>
          </a:xfrm>
          <a:prstGeom prst="line">
            <a:avLst/>
          </a:prstGeom>
          <a:noFill/>
          <a:ln w="25400">
            <a:solidFill>
              <a:srgbClr val="0B5073"/>
            </a:solidFill>
            <a:prstDash val="solid"/>
          </a:ln>
        </p:spPr>
      </p:sp>
      <p:sp>
        <p:nvSpPr>
          <p:cNvPr id="26" name="Shape 24"/>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7"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28" name="Text 26"/>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29" name="Text 27"/>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0" name="Shape 28"/>
          <p:cNvSpPr/>
          <p:nvPr/>
        </p:nvSpPr>
        <p:spPr>
          <a:xfrm>
            <a:off x="8750579" y="4151376"/>
            <a:ext cx="0" cy="109728"/>
          </a:xfrm>
          <a:prstGeom prst="line">
            <a:avLst/>
          </a:prstGeom>
          <a:noFill/>
          <a:ln w="25400">
            <a:solidFill>
              <a:srgbClr val="0B5F7E"/>
            </a:solidFill>
            <a:prstDash val="solid"/>
          </a:ln>
        </p:spPr>
      </p:sp>
      <p:sp>
        <p:nvSpPr>
          <p:cNvPr id="31" name="Shape 29"/>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2"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33" name="Text 31"/>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34" name="Text 32"/>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35" name="Shape 33"/>
          <p:cNvSpPr/>
          <p:nvPr/>
        </p:nvSpPr>
        <p:spPr>
          <a:xfrm>
            <a:off x="10550881" y="4151376"/>
            <a:ext cx="0" cy="109728"/>
          </a:xfrm>
          <a:prstGeom prst="line">
            <a:avLst/>
          </a:prstGeom>
          <a:noFill/>
          <a:ln w="25400">
            <a:solidFill>
              <a:srgbClr val="0B6E8A"/>
            </a:solidFill>
            <a:prstDash val="solid"/>
          </a:ln>
        </p:spPr>
      </p:sp>
      <p:sp>
        <p:nvSpPr>
          <p:cNvPr id="36" name="Shape 34"/>
          <p:cNvSpPr/>
          <p:nvPr/>
        </p:nvSpPr>
        <p:spPr>
          <a:xfrm>
            <a:off x="0" y="5961888"/>
            <a:ext cx="12191695" cy="475488"/>
          </a:xfrm>
          <a:prstGeom prst="rect">
            <a:avLst/>
          </a:prstGeom>
          <a:solidFill>
            <a:srgbClr val="0B2350"/>
          </a:solidFill>
          <a:ln w="12700">
            <a:solidFill>
              <a:srgbClr val="0B2350"/>
            </a:solidFill>
            <a:prstDash val="solid"/>
          </a:ln>
        </p:spPr>
      </p:sp>
      <p:sp>
        <p:nvSpPr>
          <p:cNvPr id="37"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8" name="Text 3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que llegue a los demás.</a:t>
            </a:r>
            <a:endParaRPr lang="en-US" sz="14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E3F4FA"/>
          </a:solidFill>
          <a:ln w="22225">
            <a:solidFill>
              <a:srgbClr val="2BA6CB"/>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E3F4FA"/>
          </a:solidFill>
          <a:ln w="22225">
            <a:solidFill>
              <a:srgbClr val="2BA6CB"/>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2BA6CB"/>
            </a:solidFill>
          </a:ln>
        </p:spPr>
        <p:txBody>
          <a:bodyPr wrap="square" lIns="0" tIns="0" rIns="0" bIns="0" rtlCol="0" anchor="ctr"/>
          <a:lstStyle/>
          <a:p>
            <a:pPr algn="ctr" indent="0" marL="0">
              <a:buNone/>
            </a:pPr>
            <a:r>
              <a:rPr lang="en-US" sz="800" b="1" spc="80" kern="0" dirty="0">
                <a:solidFill>
                  <a:srgbClr val="0B6E8A"/>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41275">
            <a:solidFill>
              <a:srgbClr val="2BA6CB"/>
            </a:solidFill>
            <a:prstDash val="dash"/>
            <a:tailEnd type="triangle"/>
          </a:ln>
        </p:spPr>
      </p:sp>
      <p:sp>
        <p:nvSpPr>
          <p:cNvPr id="10" name="Text 8"/>
          <p:cNvSpPr/>
          <p:nvPr/>
        </p:nvSpPr>
        <p:spPr>
          <a:xfrm>
            <a:off x="3585609"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41275">
            <a:solidFill>
              <a:srgbClr val="2BA6CB"/>
            </a:solidFill>
            <a:prstDash val="dash"/>
          </a:ln>
        </p:spPr>
      </p:sp>
      <p:sp>
        <p:nvSpPr>
          <p:cNvPr id="12" name="Shape 10"/>
          <p:cNvSpPr/>
          <p:nvPr/>
        </p:nvSpPr>
        <p:spPr>
          <a:xfrm>
            <a:off x="2677398" y="4169945"/>
            <a:ext cx="1291414" cy="0"/>
          </a:xfrm>
          <a:prstGeom prst="line">
            <a:avLst/>
          </a:prstGeom>
          <a:noFill/>
          <a:ln w="41275">
            <a:solidFill>
              <a:srgbClr val="2BA6CB"/>
            </a:solidFill>
            <a:prstDash val="dash"/>
            <a:tailEnd type="triangle"/>
          </a:ln>
        </p:spPr>
      </p:sp>
      <p:sp>
        <p:nvSpPr>
          <p:cNvPr id="13" name="Text 11"/>
          <p:cNvSpPr/>
          <p:nvPr/>
        </p:nvSpPr>
        <p:spPr>
          <a:xfrm>
            <a:off x="2567670" y="263206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31750">
            <a:solidFill>
              <a:srgbClr val="CBD5E3"/>
            </a:solidFill>
            <a:prstDash val="sysDot"/>
            <a:tailEnd type="triangle"/>
          </a:ln>
        </p:spPr>
      </p:sp>
      <p:sp>
        <p:nvSpPr>
          <p:cNvPr id="15" name="Text 13"/>
          <p:cNvSpPr/>
          <p:nvPr/>
        </p:nvSpPr>
        <p:spPr>
          <a:xfrm>
            <a:off x="5302430"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31750">
            <a:solidFill>
              <a:srgbClr val="CBD5E3"/>
            </a:solidFill>
            <a:prstDash val="sysDot"/>
            <a:tailEnd type="triangle"/>
          </a:ln>
        </p:spPr>
      </p:sp>
      <p:sp>
        <p:nvSpPr>
          <p:cNvPr id="17" name="Text 15"/>
          <p:cNvSpPr/>
          <p:nvPr/>
        </p:nvSpPr>
        <p:spPr>
          <a:xfrm>
            <a:off x="6897706"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31750">
            <a:solidFill>
              <a:srgbClr val="CBD5E3"/>
            </a:solidFill>
            <a:prstDash val="sysDot"/>
            <a:tailEnd type="triangle"/>
          </a:ln>
        </p:spPr>
      </p:sp>
      <p:sp>
        <p:nvSpPr>
          <p:cNvPr id="19" name="Text 17"/>
          <p:cNvSpPr/>
          <p:nvPr/>
        </p:nvSpPr>
        <p:spPr>
          <a:xfrm>
            <a:off x="8568948"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31750">
            <a:solidFill>
              <a:srgbClr val="CBD5E3"/>
            </a:solidFill>
            <a:prstDash val="sysDot"/>
            <a:tailEnd type="triangle"/>
          </a:ln>
        </p:spPr>
      </p:sp>
      <p:sp>
        <p:nvSpPr>
          <p:cNvPr id="21" name="Text 19"/>
          <p:cNvSpPr/>
          <p:nvPr/>
        </p:nvSpPr>
        <p:spPr>
          <a:xfrm>
            <a:off x="5302430"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31750">
            <a:solidFill>
              <a:srgbClr val="CBD5E3"/>
            </a:solidFill>
            <a:prstDash val="sysDot"/>
            <a:tailEnd type="triangle"/>
          </a:ln>
        </p:spPr>
      </p:sp>
      <p:sp>
        <p:nvSpPr>
          <p:cNvPr id="23" name="Text 21"/>
          <p:cNvSpPr/>
          <p:nvPr/>
        </p:nvSpPr>
        <p:spPr>
          <a:xfrm>
            <a:off x="6928092"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5" name="Shape 23"/>
          <p:cNvSpPr/>
          <p:nvPr/>
        </p:nvSpPr>
        <p:spPr>
          <a:xfrm>
            <a:off x="2026526" y="2065835"/>
            <a:ext cx="409944" cy="409944"/>
          </a:xfrm>
          <a:prstGeom prst="ellipse">
            <a:avLst/>
          </a:prstGeom>
          <a:solidFill>
            <a:srgbClr val="E3F4FA"/>
          </a:solidFill>
          <a:ln w="12700">
            <a:solidFill>
              <a:srgbClr val="E3F4F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6E8A"/>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12700">
            <a:solidFill>
              <a:srgbClr val="D5DDE8"/>
            </a:solidFill>
            <a:prstDash val="solid"/>
          </a:ln>
        </p:spPr>
      </p:sp>
      <p:sp>
        <p:nvSpPr>
          <p:cNvPr id="31" name="Shape 29"/>
          <p:cNvSpPr/>
          <p:nvPr/>
        </p:nvSpPr>
        <p:spPr>
          <a:xfrm>
            <a:off x="7250805" y="2065835"/>
            <a:ext cx="409944" cy="409944"/>
          </a:xfrm>
          <a:prstGeom prst="ellipse">
            <a:avLst/>
          </a:prstGeom>
          <a:solidFill>
            <a:srgbClr val="EEF2F7"/>
          </a:solidFill>
          <a:ln w="12700">
            <a:solidFill>
              <a:srgbClr val="EEF2F7"/>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A9B4C6"/>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12700">
            <a:solidFill>
              <a:srgbClr val="55627E"/>
            </a:solidFill>
            <a:prstDash val="dash"/>
          </a:ln>
        </p:spPr>
      </p:sp>
      <p:sp>
        <p:nvSpPr>
          <p:cNvPr id="39" name="Shape 37"/>
          <p:cNvSpPr/>
          <p:nvPr/>
        </p:nvSpPr>
        <p:spPr>
          <a:xfrm>
            <a:off x="1933217" y="4572698"/>
            <a:ext cx="409944" cy="409944"/>
          </a:xfrm>
          <a:prstGeom prst="ellipse">
            <a:avLst/>
          </a:prstGeom>
          <a:solidFill>
            <a:srgbClr val="EEF2F7"/>
          </a:solidFill>
          <a:ln w="12700">
            <a:solidFill>
              <a:srgbClr val="EEF2F7"/>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A9B4C6"/>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4" name="Text 4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push a main o un Pull Request dispara el pipeline.</a:t>
            </a:r>
            <a:endParaRPr lang="en-US" sz="1300" dirty="0"/>
          </a:p>
        </p:txBody>
      </p:sp>
      <p:sp>
        <p:nvSpPr>
          <p:cNvPr id="45" name="Shape 4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6" name="Text 4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7" name="Text 4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crea un trabajo por servicio, cada uno con su base de datos de prueba.</a:t>
            </a:r>
            <a:endParaRPr lang="en-US" sz="13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F4F7FB"/>
          </a:solidFill>
          <a:ln w="12700">
            <a:solidFill>
              <a:srgbClr val="DFE6F0"/>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F4F7FB"/>
          </a:solidFill>
          <a:ln w="12700">
            <a:solidFill>
              <a:srgbClr val="DFE6F0"/>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25400">
            <a:solidFill>
              <a:srgbClr val="55627E"/>
            </a:solidFill>
            <a:prstDash val="dash"/>
            <a:tailEnd type="triangle"/>
          </a:ln>
        </p:spPr>
      </p:sp>
      <p:sp>
        <p:nvSpPr>
          <p:cNvPr id="10" name="Text 8"/>
          <p:cNvSpPr/>
          <p:nvPr/>
        </p:nvSpPr>
        <p:spPr>
          <a:xfrm>
            <a:off x="3585609"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25400">
            <a:solidFill>
              <a:srgbClr val="55627E"/>
            </a:solidFill>
            <a:prstDash val="dash"/>
          </a:ln>
        </p:spPr>
      </p:sp>
      <p:sp>
        <p:nvSpPr>
          <p:cNvPr id="12" name="Shape 10"/>
          <p:cNvSpPr/>
          <p:nvPr/>
        </p:nvSpPr>
        <p:spPr>
          <a:xfrm>
            <a:off x="2677398" y="4169945"/>
            <a:ext cx="1291414" cy="0"/>
          </a:xfrm>
          <a:prstGeom prst="line">
            <a:avLst/>
          </a:prstGeom>
          <a:noFill/>
          <a:ln w="25400">
            <a:solidFill>
              <a:srgbClr val="55627E"/>
            </a:solidFill>
            <a:prstDash val="dash"/>
            <a:tailEnd type="triangle"/>
          </a:ln>
        </p:spPr>
      </p:sp>
      <p:sp>
        <p:nvSpPr>
          <p:cNvPr id="13" name="Text 11"/>
          <p:cNvSpPr/>
          <p:nvPr/>
        </p:nvSpPr>
        <p:spPr>
          <a:xfrm>
            <a:off x="2567670" y="263206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47625">
            <a:solidFill>
              <a:srgbClr val="2BA6CB"/>
            </a:solidFill>
            <a:prstDash val="sysDot"/>
            <a:tailEnd type="triangle"/>
          </a:ln>
        </p:spPr>
      </p:sp>
      <p:sp>
        <p:nvSpPr>
          <p:cNvPr id="15" name="Text 13"/>
          <p:cNvSpPr/>
          <p:nvPr/>
        </p:nvSpPr>
        <p:spPr>
          <a:xfrm>
            <a:off x="5302430"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31750">
            <a:solidFill>
              <a:srgbClr val="CBD5E3"/>
            </a:solidFill>
            <a:prstDash val="sysDot"/>
            <a:tailEnd type="triangle"/>
          </a:ln>
        </p:spPr>
      </p:sp>
      <p:sp>
        <p:nvSpPr>
          <p:cNvPr id="17" name="Text 15"/>
          <p:cNvSpPr/>
          <p:nvPr/>
        </p:nvSpPr>
        <p:spPr>
          <a:xfrm>
            <a:off x="6897706"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31750">
            <a:solidFill>
              <a:srgbClr val="CBD5E3"/>
            </a:solidFill>
            <a:prstDash val="sysDot"/>
            <a:tailEnd type="triangle"/>
          </a:ln>
        </p:spPr>
      </p:sp>
      <p:sp>
        <p:nvSpPr>
          <p:cNvPr id="19" name="Text 17"/>
          <p:cNvSpPr/>
          <p:nvPr/>
        </p:nvSpPr>
        <p:spPr>
          <a:xfrm>
            <a:off x="8568948"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47625">
            <a:solidFill>
              <a:srgbClr val="2BA6CB"/>
            </a:solidFill>
            <a:prstDash val="sysDot"/>
            <a:tailEnd type="triangle"/>
          </a:ln>
        </p:spPr>
      </p:sp>
      <p:sp>
        <p:nvSpPr>
          <p:cNvPr id="21" name="Text 19"/>
          <p:cNvSpPr/>
          <p:nvPr/>
        </p:nvSpPr>
        <p:spPr>
          <a:xfrm>
            <a:off x="5302430" y="40602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31750">
            <a:solidFill>
              <a:srgbClr val="CBD5E3"/>
            </a:solidFill>
            <a:prstDash val="sysDot"/>
            <a:tailEnd type="triangle"/>
          </a:ln>
        </p:spPr>
      </p:sp>
      <p:sp>
        <p:nvSpPr>
          <p:cNvPr id="23" name="Text 21"/>
          <p:cNvSpPr/>
          <p:nvPr/>
        </p:nvSpPr>
        <p:spPr>
          <a:xfrm>
            <a:off x="6928092"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2026526" y="2065835"/>
            <a:ext cx="409944" cy="409944"/>
          </a:xfrm>
          <a:prstGeom prst="ellipse">
            <a:avLst/>
          </a:prstGeom>
          <a:solidFill>
            <a:srgbClr val="E2E5EA"/>
          </a:solidFill>
          <a:ln w="12700">
            <a:solidFill>
              <a:srgbClr val="E2E5E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2350"/>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12700">
            <a:solidFill>
              <a:srgbClr val="D5DDE8"/>
            </a:solidFill>
            <a:prstDash val="solid"/>
          </a:ln>
        </p:spPr>
      </p:sp>
      <p:sp>
        <p:nvSpPr>
          <p:cNvPr id="31" name="Shape 29"/>
          <p:cNvSpPr/>
          <p:nvPr/>
        </p:nvSpPr>
        <p:spPr>
          <a:xfrm>
            <a:off x="7250805" y="2065835"/>
            <a:ext cx="409944" cy="409944"/>
          </a:xfrm>
          <a:prstGeom prst="ellipse">
            <a:avLst/>
          </a:prstGeom>
          <a:solidFill>
            <a:srgbClr val="EEF2F7"/>
          </a:solidFill>
          <a:ln w="12700">
            <a:solidFill>
              <a:srgbClr val="EEF2F7"/>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A9B4C6"/>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12700">
            <a:solidFill>
              <a:srgbClr val="55627E"/>
            </a:solidFill>
            <a:prstDash val="dash"/>
          </a:ln>
        </p:spPr>
      </p:sp>
      <p:sp>
        <p:nvSpPr>
          <p:cNvPr id="39" name="Shape 37"/>
          <p:cNvSpPr/>
          <p:nvPr/>
        </p:nvSpPr>
        <p:spPr>
          <a:xfrm>
            <a:off x="1933217" y="4572698"/>
            <a:ext cx="409944" cy="409944"/>
          </a:xfrm>
          <a:prstGeom prst="ellipse">
            <a:avLst/>
          </a:prstGeom>
          <a:solidFill>
            <a:srgbClr val="EEF2F7"/>
          </a:solidFill>
          <a:ln w="12700">
            <a:solidFill>
              <a:srgbClr val="EEF2F7"/>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A9B4C6"/>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trabajo compila y corre todas las pruebas del servicio.</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F4F7FB"/>
          </a:solidFill>
          <a:ln w="12700">
            <a:solidFill>
              <a:srgbClr val="DFE6F0"/>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F4F7FB"/>
          </a:solidFill>
          <a:ln w="12700">
            <a:solidFill>
              <a:srgbClr val="DFE6F0"/>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25400">
            <a:solidFill>
              <a:srgbClr val="55627E"/>
            </a:solidFill>
            <a:prstDash val="dash"/>
            <a:tailEnd type="triangle"/>
          </a:ln>
        </p:spPr>
      </p:sp>
      <p:sp>
        <p:nvSpPr>
          <p:cNvPr id="10" name="Text 8"/>
          <p:cNvSpPr/>
          <p:nvPr/>
        </p:nvSpPr>
        <p:spPr>
          <a:xfrm>
            <a:off x="3585609"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25400">
            <a:solidFill>
              <a:srgbClr val="55627E"/>
            </a:solidFill>
            <a:prstDash val="dash"/>
          </a:ln>
        </p:spPr>
      </p:sp>
      <p:sp>
        <p:nvSpPr>
          <p:cNvPr id="12" name="Shape 10"/>
          <p:cNvSpPr/>
          <p:nvPr/>
        </p:nvSpPr>
        <p:spPr>
          <a:xfrm>
            <a:off x="2677398" y="4169945"/>
            <a:ext cx="1291414" cy="0"/>
          </a:xfrm>
          <a:prstGeom prst="line">
            <a:avLst/>
          </a:prstGeom>
          <a:noFill/>
          <a:ln w="25400">
            <a:solidFill>
              <a:srgbClr val="55627E"/>
            </a:solidFill>
            <a:prstDash val="dash"/>
            <a:tailEnd type="triangle"/>
          </a:ln>
        </p:spPr>
      </p:sp>
      <p:sp>
        <p:nvSpPr>
          <p:cNvPr id="13" name="Text 11"/>
          <p:cNvSpPr/>
          <p:nvPr/>
        </p:nvSpPr>
        <p:spPr>
          <a:xfrm>
            <a:off x="2567670" y="263206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31750">
            <a:solidFill>
              <a:srgbClr val="55627E"/>
            </a:solidFill>
            <a:prstDash val="sysDot"/>
            <a:tailEnd type="triangle"/>
          </a:ln>
        </p:spPr>
      </p:sp>
      <p:sp>
        <p:nvSpPr>
          <p:cNvPr id="15" name="Text 13"/>
          <p:cNvSpPr/>
          <p:nvPr/>
        </p:nvSpPr>
        <p:spPr>
          <a:xfrm>
            <a:off x="5302430"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47625">
            <a:solidFill>
              <a:srgbClr val="2BA6CB"/>
            </a:solidFill>
            <a:prstDash val="sysDot"/>
            <a:tailEnd type="triangle"/>
          </a:ln>
        </p:spPr>
      </p:sp>
      <p:sp>
        <p:nvSpPr>
          <p:cNvPr id="17" name="Text 15"/>
          <p:cNvSpPr/>
          <p:nvPr/>
        </p:nvSpPr>
        <p:spPr>
          <a:xfrm>
            <a:off x="6897706"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31750">
            <a:solidFill>
              <a:srgbClr val="CBD5E3"/>
            </a:solidFill>
            <a:prstDash val="sysDot"/>
            <a:tailEnd type="triangle"/>
          </a:ln>
        </p:spPr>
      </p:sp>
      <p:sp>
        <p:nvSpPr>
          <p:cNvPr id="19" name="Text 17"/>
          <p:cNvSpPr/>
          <p:nvPr/>
        </p:nvSpPr>
        <p:spPr>
          <a:xfrm>
            <a:off x="8568948" y="216107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31750">
            <a:solidFill>
              <a:srgbClr val="55627E"/>
            </a:solidFill>
            <a:prstDash val="sysDot"/>
            <a:tailEnd type="triangle"/>
          </a:ln>
        </p:spPr>
      </p:sp>
      <p:sp>
        <p:nvSpPr>
          <p:cNvPr id="21" name="Text 19"/>
          <p:cNvSpPr/>
          <p:nvPr/>
        </p:nvSpPr>
        <p:spPr>
          <a:xfrm>
            <a:off x="5302430" y="40602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31750">
            <a:solidFill>
              <a:srgbClr val="CBD5E3"/>
            </a:solidFill>
            <a:prstDash val="sysDot"/>
            <a:tailEnd type="triangle"/>
          </a:ln>
        </p:spPr>
      </p:sp>
      <p:sp>
        <p:nvSpPr>
          <p:cNvPr id="23" name="Text 21"/>
          <p:cNvSpPr/>
          <p:nvPr/>
        </p:nvSpPr>
        <p:spPr>
          <a:xfrm>
            <a:off x="6928092" y="406021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2026526" y="2065835"/>
            <a:ext cx="409944" cy="409944"/>
          </a:xfrm>
          <a:prstGeom prst="ellipse">
            <a:avLst/>
          </a:prstGeom>
          <a:solidFill>
            <a:srgbClr val="E2E5EA"/>
          </a:solidFill>
          <a:ln w="12700">
            <a:solidFill>
              <a:srgbClr val="E2E5E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2350"/>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1" name="Shape 29"/>
          <p:cNvSpPr/>
          <p:nvPr/>
        </p:nvSpPr>
        <p:spPr>
          <a:xfrm>
            <a:off x="7250805" y="2065835"/>
            <a:ext cx="409944" cy="409944"/>
          </a:xfrm>
          <a:prstGeom prst="ellipse">
            <a:avLst/>
          </a:prstGeom>
          <a:solidFill>
            <a:srgbClr val="E3F4FA"/>
          </a:solidFill>
          <a:ln w="12700">
            <a:solidFill>
              <a:srgbClr val="E3F4FA"/>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0B6E8A"/>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12700">
            <a:solidFill>
              <a:srgbClr val="D5DDE8"/>
            </a:solidFill>
            <a:prstDash val="solid"/>
          </a:ln>
        </p:spPr>
        <p:txBody>
          <a:bodyPr wrap="square" lIns="38100" tIns="38100" rIns="38100" bIns="38100" rtlCol="0" anchor="ctr">
            <a:normAutofit/>
          </a:bodyPr>
          <a:lstStyle/>
          <a:p>
            <a:pPr algn="ctr" indent="0" marL="0">
              <a:buNone/>
            </a:pPr>
            <a:r>
              <a:rPr lang="en-US" sz="900" b="1" dirty="0">
                <a:solidFill>
                  <a:srgbClr val="8A95AB"/>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9AA5B8"/>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12700">
            <a:solidFill>
              <a:srgbClr val="55627E"/>
            </a:solidFill>
            <a:prstDash val="dash"/>
          </a:ln>
        </p:spPr>
      </p:sp>
      <p:sp>
        <p:nvSpPr>
          <p:cNvPr id="39" name="Shape 37"/>
          <p:cNvSpPr/>
          <p:nvPr/>
        </p:nvSpPr>
        <p:spPr>
          <a:xfrm>
            <a:off x="1933217" y="4572698"/>
            <a:ext cx="409944" cy="409944"/>
          </a:xfrm>
          <a:prstGeom prst="ellipse">
            <a:avLst/>
          </a:prstGeom>
          <a:solidFill>
            <a:srgbClr val="EEF2F7"/>
          </a:solidFill>
          <a:ln w="12700">
            <a:solidFill>
              <a:srgbClr val="EEF2F7"/>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A9B4C6"/>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solicitudes, además, comprueba que el servicio arranca de verdad.</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F4F7FB"/>
          </a:solidFill>
          <a:ln w="12700">
            <a:solidFill>
              <a:srgbClr val="DFE6F0"/>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F4F7FB"/>
          </a:solidFill>
          <a:ln w="12700">
            <a:solidFill>
              <a:srgbClr val="DFE6F0"/>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25400">
            <a:solidFill>
              <a:srgbClr val="55627E"/>
            </a:solidFill>
            <a:prstDash val="dash"/>
            <a:tailEnd type="triangle"/>
          </a:ln>
        </p:spPr>
      </p:sp>
      <p:sp>
        <p:nvSpPr>
          <p:cNvPr id="10" name="Text 8"/>
          <p:cNvSpPr/>
          <p:nvPr/>
        </p:nvSpPr>
        <p:spPr>
          <a:xfrm>
            <a:off x="3585609"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25400">
            <a:solidFill>
              <a:srgbClr val="55627E"/>
            </a:solidFill>
            <a:prstDash val="dash"/>
          </a:ln>
        </p:spPr>
      </p:sp>
      <p:sp>
        <p:nvSpPr>
          <p:cNvPr id="12" name="Shape 10"/>
          <p:cNvSpPr/>
          <p:nvPr/>
        </p:nvSpPr>
        <p:spPr>
          <a:xfrm>
            <a:off x="2677398" y="4169945"/>
            <a:ext cx="1291414" cy="0"/>
          </a:xfrm>
          <a:prstGeom prst="line">
            <a:avLst/>
          </a:prstGeom>
          <a:noFill/>
          <a:ln w="25400">
            <a:solidFill>
              <a:srgbClr val="55627E"/>
            </a:solidFill>
            <a:prstDash val="dash"/>
            <a:tailEnd type="triangle"/>
          </a:ln>
        </p:spPr>
      </p:sp>
      <p:sp>
        <p:nvSpPr>
          <p:cNvPr id="13" name="Text 11"/>
          <p:cNvSpPr/>
          <p:nvPr/>
        </p:nvSpPr>
        <p:spPr>
          <a:xfrm>
            <a:off x="2567670" y="263206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31750">
            <a:solidFill>
              <a:srgbClr val="55627E"/>
            </a:solidFill>
            <a:prstDash val="sysDot"/>
            <a:tailEnd type="triangle"/>
          </a:ln>
        </p:spPr>
      </p:sp>
      <p:sp>
        <p:nvSpPr>
          <p:cNvPr id="15" name="Text 13"/>
          <p:cNvSpPr/>
          <p:nvPr/>
        </p:nvSpPr>
        <p:spPr>
          <a:xfrm>
            <a:off x="5302430"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31750">
            <a:solidFill>
              <a:srgbClr val="55627E"/>
            </a:solidFill>
            <a:prstDash val="sysDot"/>
            <a:tailEnd type="triangle"/>
          </a:ln>
        </p:spPr>
      </p:sp>
      <p:sp>
        <p:nvSpPr>
          <p:cNvPr id="17" name="Text 15"/>
          <p:cNvSpPr/>
          <p:nvPr/>
        </p:nvSpPr>
        <p:spPr>
          <a:xfrm>
            <a:off x="6897706"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47625">
            <a:solidFill>
              <a:srgbClr val="2BA6CB"/>
            </a:solidFill>
            <a:prstDash val="sysDot"/>
            <a:tailEnd type="triangle"/>
          </a:ln>
        </p:spPr>
      </p:sp>
      <p:sp>
        <p:nvSpPr>
          <p:cNvPr id="19" name="Text 17"/>
          <p:cNvSpPr/>
          <p:nvPr/>
        </p:nvSpPr>
        <p:spPr>
          <a:xfrm>
            <a:off x="8568948" y="21610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31750">
            <a:solidFill>
              <a:srgbClr val="55627E"/>
            </a:solidFill>
            <a:prstDash val="sysDot"/>
            <a:tailEnd type="triangle"/>
          </a:ln>
        </p:spPr>
      </p:sp>
      <p:sp>
        <p:nvSpPr>
          <p:cNvPr id="21" name="Text 19"/>
          <p:cNvSpPr/>
          <p:nvPr/>
        </p:nvSpPr>
        <p:spPr>
          <a:xfrm>
            <a:off x="5302430" y="40602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47625">
            <a:solidFill>
              <a:srgbClr val="2BA6CB"/>
            </a:solidFill>
            <a:prstDash val="sysDot"/>
            <a:tailEnd type="triangle"/>
          </a:ln>
        </p:spPr>
      </p:sp>
      <p:sp>
        <p:nvSpPr>
          <p:cNvPr id="23" name="Text 21"/>
          <p:cNvSpPr/>
          <p:nvPr/>
        </p:nvSpPr>
        <p:spPr>
          <a:xfrm>
            <a:off x="6928092" y="40602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2026526" y="2065835"/>
            <a:ext cx="409944" cy="409944"/>
          </a:xfrm>
          <a:prstGeom prst="ellipse">
            <a:avLst/>
          </a:prstGeom>
          <a:solidFill>
            <a:srgbClr val="E2E5EA"/>
          </a:solidFill>
          <a:ln w="12700">
            <a:solidFill>
              <a:srgbClr val="E2E5E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2350"/>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7250805" y="2065835"/>
            <a:ext cx="409944" cy="409944"/>
          </a:xfrm>
          <a:prstGeom prst="ellipse">
            <a:avLst/>
          </a:prstGeom>
          <a:solidFill>
            <a:srgbClr val="E2E5EA"/>
          </a:solidFill>
          <a:ln w="12700">
            <a:solidFill>
              <a:srgbClr val="E2E5EA"/>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0B2350"/>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12700">
            <a:solidFill>
              <a:srgbClr val="55627E"/>
            </a:solidFill>
            <a:prstDash val="dash"/>
          </a:ln>
        </p:spPr>
      </p:sp>
      <p:sp>
        <p:nvSpPr>
          <p:cNvPr id="39" name="Shape 37"/>
          <p:cNvSpPr/>
          <p:nvPr/>
        </p:nvSpPr>
        <p:spPr>
          <a:xfrm>
            <a:off x="1933217" y="4572698"/>
            <a:ext cx="409944" cy="409944"/>
          </a:xfrm>
          <a:prstGeom prst="ellipse">
            <a:avLst/>
          </a:prstGeom>
          <a:solidFill>
            <a:srgbClr val="EEF2F7"/>
          </a:solidFill>
          <a:ln w="12700">
            <a:solidFill>
              <a:srgbClr val="EEF2F7"/>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A9B4C6"/>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todo pasa, construye la imagen y la publica con el código del commit.</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16881" y="1450379"/>
            <a:ext cx="6684967" cy="1595276"/>
          </a:xfrm>
          <a:prstGeom prst="roundRect">
            <a:avLst>
              <a:gd name="adj" fmla="val 6878"/>
            </a:avLst>
          </a:prstGeom>
          <a:solidFill>
            <a:srgbClr val="F4F7FB"/>
          </a:solidFill>
          <a:ln w="12700">
            <a:solidFill>
              <a:srgbClr val="DFE6F0"/>
            </a:solidFill>
            <a:prstDash val="solid"/>
          </a:ln>
        </p:spPr>
      </p:sp>
      <p:sp>
        <p:nvSpPr>
          <p:cNvPr id="6" name="Text 4"/>
          <p:cNvSpPr/>
          <p:nvPr/>
        </p:nvSpPr>
        <p:spPr>
          <a:xfrm>
            <a:off x="3890033" y="1505243"/>
            <a:ext cx="229616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16881" y="3349518"/>
            <a:ext cx="6684967" cy="1595276"/>
          </a:xfrm>
          <a:prstGeom prst="roundRect">
            <a:avLst>
              <a:gd name="adj" fmla="val 6878"/>
            </a:avLst>
          </a:prstGeom>
          <a:solidFill>
            <a:srgbClr val="F4F7FB"/>
          </a:solidFill>
          <a:ln w="12700">
            <a:solidFill>
              <a:srgbClr val="DFE6F0"/>
            </a:solidFill>
            <a:prstDash val="solid"/>
          </a:ln>
        </p:spPr>
      </p:sp>
      <p:sp>
        <p:nvSpPr>
          <p:cNvPr id="8" name="Text 6"/>
          <p:cNvSpPr/>
          <p:nvPr/>
        </p:nvSpPr>
        <p:spPr>
          <a:xfrm>
            <a:off x="3890033" y="3404382"/>
            <a:ext cx="2540000" cy="219456"/>
          </a:xfrm>
          <a:prstGeom prst="roundRect">
            <a:avLst>
              <a:gd name="adj" fmla="val 50000"/>
            </a:avLst>
          </a:prstGeom>
          <a:solidFill>
            <a:srgbClr val="FFFFFF"/>
          </a:solidFill>
          <a:ln w="9525">
            <a:solidFill>
              <a:srgbClr val="DFE6F0"/>
            </a:solidFill>
          </a:ln>
        </p:spPr>
        <p:txBody>
          <a:bodyPr wrap="square" lIns="0" tIns="0" rIns="0" bIns="0" rtlCol="0" anchor="ctr"/>
          <a:lstStyle/>
          <a:p>
            <a:pPr algn="ctr" indent="0" marL="0">
              <a:buNone/>
            </a:pPr>
            <a:r>
              <a:rPr lang="en-US" sz="800" b="1" spc="8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13019" y="2270807"/>
            <a:ext cx="455793" cy="0"/>
          </a:xfrm>
          <a:prstGeom prst="line">
            <a:avLst/>
          </a:prstGeom>
          <a:noFill/>
          <a:ln w="25400">
            <a:solidFill>
              <a:srgbClr val="55627E"/>
            </a:solidFill>
            <a:prstDash val="dash"/>
            <a:tailEnd type="triangle"/>
          </a:ln>
        </p:spPr>
      </p:sp>
      <p:sp>
        <p:nvSpPr>
          <p:cNvPr id="10" name="Text 8"/>
          <p:cNvSpPr/>
          <p:nvPr/>
        </p:nvSpPr>
        <p:spPr>
          <a:xfrm>
            <a:off x="3585609"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77398" y="2559476"/>
            <a:ext cx="0" cy="1610469"/>
          </a:xfrm>
          <a:prstGeom prst="line">
            <a:avLst/>
          </a:prstGeom>
          <a:noFill/>
          <a:ln w="25400">
            <a:solidFill>
              <a:srgbClr val="55627E"/>
            </a:solidFill>
            <a:prstDash val="dash"/>
          </a:ln>
        </p:spPr>
      </p:sp>
      <p:sp>
        <p:nvSpPr>
          <p:cNvPr id="12" name="Shape 10"/>
          <p:cNvSpPr/>
          <p:nvPr/>
        </p:nvSpPr>
        <p:spPr>
          <a:xfrm>
            <a:off x="2677398" y="4169945"/>
            <a:ext cx="1291414" cy="0"/>
          </a:xfrm>
          <a:prstGeom prst="line">
            <a:avLst/>
          </a:prstGeom>
          <a:noFill/>
          <a:ln w="25400">
            <a:solidFill>
              <a:srgbClr val="55627E"/>
            </a:solidFill>
            <a:prstDash val="dash"/>
            <a:tailEnd type="triangle"/>
          </a:ln>
        </p:spPr>
      </p:sp>
      <p:sp>
        <p:nvSpPr>
          <p:cNvPr id="13" name="Text 11"/>
          <p:cNvSpPr/>
          <p:nvPr/>
        </p:nvSpPr>
        <p:spPr>
          <a:xfrm>
            <a:off x="2567670" y="263206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0227" y="2270807"/>
            <a:ext cx="303862" cy="0"/>
          </a:xfrm>
          <a:prstGeom prst="line">
            <a:avLst/>
          </a:prstGeom>
          <a:noFill/>
          <a:ln w="31750">
            <a:solidFill>
              <a:srgbClr val="55627E"/>
            </a:solidFill>
            <a:prstDash val="sysDot"/>
            <a:tailEnd type="triangle"/>
          </a:ln>
        </p:spPr>
      </p:sp>
      <p:sp>
        <p:nvSpPr>
          <p:cNvPr id="15" name="Text 13"/>
          <p:cNvSpPr/>
          <p:nvPr/>
        </p:nvSpPr>
        <p:spPr>
          <a:xfrm>
            <a:off x="5302430"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5503" y="2270807"/>
            <a:ext cx="303862" cy="0"/>
          </a:xfrm>
          <a:prstGeom prst="line">
            <a:avLst/>
          </a:prstGeom>
          <a:noFill/>
          <a:ln w="31750">
            <a:solidFill>
              <a:srgbClr val="55627E"/>
            </a:solidFill>
            <a:prstDash val="sysDot"/>
            <a:tailEnd type="triangle"/>
          </a:ln>
        </p:spPr>
      </p:sp>
      <p:sp>
        <p:nvSpPr>
          <p:cNvPr id="17" name="Text 15"/>
          <p:cNvSpPr/>
          <p:nvPr/>
        </p:nvSpPr>
        <p:spPr>
          <a:xfrm>
            <a:off x="6897706"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26745" y="2270807"/>
            <a:ext cx="303862" cy="0"/>
          </a:xfrm>
          <a:prstGeom prst="line">
            <a:avLst/>
          </a:prstGeom>
          <a:noFill/>
          <a:ln w="31750">
            <a:solidFill>
              <a:srgbClr val="55627E"/>
            </a:solidFill>
            <a:prstDash val="sysDot"/>
            <a:tailEnd type="triangle"/>
          </a:ln>
        </p:spPr>
      </p:sp>
      <p:sp>
        <p:nvSpPr>
          <p:cNvPr id="19" name="Text 17"/>
          <p:cNvSpPr/>
          <p:nvPr/>
        </p:nvSpPr>
        <p:spPr>
          <a:xfrm>
            <a:off x="8568948" y="21610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0227" y="4169945"/>
            <a:ext cx="303862" cy="0"/>
          </a:xfrm>
          <a:prstGeom prst="line">
            <a:avLst/>
          </a:prstGeom>
          <a:noFill/>
          <a:ln w="31750">
            <a:solidFill>
              <a:srgbClr val="55627E"/>
            </a:solidFill>
            <a:prstDash val="sysDot"/>
            <a:tailEnd type="triangle"/>
          </a:ln>
        </p:spPr>
      </p:sp>
      <p:sp>
        <p:nvSpPr>
          <p:cNvPr id="21" name="Text 19"/>
          <p:cNvSpPr/>
          <p:nvPr/>
        </p:nvSpPr>
        <p:spPr>
          <a:xfrm>
            <a:off x="5302430" y="40602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5503" y="4169945"/>
            <a:ext cx="1975104" cy="0"/>
          </a:xfrm>
          <a:prstGeom prst="line">
            <a:avLst/>
          </a:prstGeom>
          <a:noFill/>
          <a:ln w="31750">
            <a:solidFill>
              <a:srgbClr val="55627E"/>
            </a:solidFill>
            <a:prstDash val="sysDot"/>
            <a:tailEnd type="triangle"/>
          </a:ln>
        </p:spPr>
      </p:sp>
      <p:sp>
        <p:nvSpPr>
          <p:cNvPr id="23" name="Text 21"/>
          <p:cNvSpPr/>
          <p:nvPr/>
        </p:nvSpPr>
        <p:spPr>
          <a:xfrm>
            <a:off x="6928092" y="40602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1841777" y="1982138"/>
            <a:ext cx="1671242" cy="577338"/>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2026526" y="2065835"/>
            <a:ext cx="409944" cy="409944"/>
          </a:xfrm>
          <a:prstGeom prst="ellipse">
            <a:avLst/>
          </a:prstGeom>
          <a:solidFill>
            <a:srgbClr val="E2E5EA"/>
          </a:solidFill>
          <a:ln w="12700">
            <a:solidFill>
              <a:srgbClr val="E2E5EA"/>
            </a:solidFill>
            <a:prstDash val="solid"/>
          </a:ln>
        </p:spPr>
      </p:sp>
      <p:sp>
        <p:nvSpPr>
          <p:cNvPr id="26" name="Icono github"/>
          <p:cNvSpPr/>
          <p:nvPr/>
        </p:nvSpPr>
        <p:spPr>
          <a:xfrm>
            <a:off x="2081390" y="2120699"/>
            <a:ext cx="300216" cy="300216"/>
          </a:xfrm>
          <a:custGeom>
            <a:avLst/>
            <a:gdLst/>
            <a:ahLst/>
            <a:cxnLst/>
            <a:rect l="l" t="t" r="r" b="b"/>
            <a:pathLst>
              <a:path w="300216" h="300216">
                <a:moveTo>
                  <a:pt x="187635" y="275198"/>
                </a:moveTo>
                <a:lnTo>
                  <a:pt x="187635" y="225162"/>
                </a:lnTo>
                <a:cubicBezTo>
                  <a:pt x="189375" y="209492"/>
                  <a:pt x="184882" y="193766"/>
                  <a:pt x="175126" y="181380"/>
                </a:cubicBezTo>
                <a:cubicBezTo>
                  <a:pt x="212653" y="181380"/>
                  <a:pt x="250180" y="156362"/>
                  <a:pt x="250180" y="112581"/>
                </a:cubicBezTo>
                <a:cubicBezTo>
                  <a:pt x="251181" y="96945"/>
                  <a:pt x="246802" y="81559"/>
                  <a:pt x="237671" y="68799"/>
                </a:cubicBezTo>
                <a:cubicBezTo>
                  <a:pt x="241173" y="54414"/>
                  <a:pt x="241173" y="39403"/>
                  <a:pt x="237671" y="25018"/>
                </a:cubicBezTo>
                <a:cubicBezTo>
                  <a:pt x="237671" y="25018"/>
                  <a:pt x="225162" y="25018"/>
                  <a:pt x="200144" y="43781"/>
                </a:cubicBezTo>
                <a:cubicBezTo>
                  <a:pt x="167120" y="37527"/>
                  <a:pt x="133096" y="37527"/>
                  <a:pt x="100072" y="43781"/>
                </a:cubicBezTo>
                <a:cubicBezTo>
                  <a:pt x="75054" y="25018"/>
                  <a:pt x="62545" y="25018"/>
                  <a:pt x="62545" y="25018"/>
                </a:cubicBezTo>
                <a:cubicBezTo>
                  <a:pt x="58792" y="39403"/>
                  <a:pt x="58792" y="54414"/>
                  <a:pt x="62545" y="68799"/>
                </a:cubicBezTo>
                <a:cubicBezTo>
                  <a:pt x="53437" y="81507"/>
                  <a:pt x="49016" y="96980"/>
                  <a:pt x="50036" y="112581"/>
                </a:cubicBezTo>
                <a:cubicBezTo>
                  <a:pt x="50036" y="156362"/>
                  <a:pt x="87563" y="181380"/>
                  <a:pt x="125090" y="181380"/>
                </a:cubicBezTo>
                <a:cubicBezTo>
                  <a:pt x="120211" y="187510"/>
                  <a:pt x="116584" y="194515"/>
                  <a:pt x="114457" y="202020"/>
                </a:cubicBezTo>
                <a:cubicBezTo>
                  <a:pt x="112331" y="209526"/>
                  <a:pt x="111705" y="217406"/>
                  <a:pt x="112581" y="225162"/>
                </a:cubicBezTo>
                <a:lnTo>
                  <a:pt x="112581" y="275198"/>
                </a:lnTo>
                <a:moveTo>
                  <a:pt x="112581" y="225162"/>
                </a:moveTo>
                <a:cubicBezTo>
                  <a:pt x="56165" y="250180"/>
                  <a:pt x="50036" y="200144"/>
                  <a:pt x="25018" y="200144"/>
                </a:cubicBezTo>
              </a:path>
            </a:pathLst>
          </a:custGeom>
          <a:noFill/>
          <a:ln w="25018" cap="rnd">
            <a:solidFill>
              <a:srgbClr val="0B2350"/>
            </a:solidFill>
            <a:prstDash val="solid"/>
            <a:round/>
          </a:ln>
        </p:spPr>
      </p:sp>
      <p:sp>
        <p:nvSpPr>
          <p:cNvPr id="27" name="Text 25"/>
          <p:cNvSpPr/>
          <p:nvPr/>
        </p:nvSpPr>
        <p:spPr>
          <a:xfrm>
            <a:off x="2491333" y="1982138"/>
            <a:ext cx="966822" cy="577338"/>
          </a:xfrm>
          <a:prstGeom prst="rect">
            <a:avLst/>
          </a:prstGeom>
          <a:noFill/>
          <a:ln/>
        </p:spPr>
        <p:txBody>
          <a:bodyPr wrap="square" lIns="12700" tIns="25400" rIns="25400" bIns="12700" rtlCol="0" anchor="ctr">
            <a:normAutofit/>
          </a:bodyPr>
          <a:lstStyle/>
          <a:p>
            <a:pPr algn="l" indent="0" marL="0">
              <a:lnSpc>
                <a:spcPct val="95000"/>
              </a:lnSpc>
              <a:buNone/>
            </a:pPr>
            <a:r>
              <a:rPr lang="en-US" sz="864" b="1" dirty="0">
                <a:solidFill>
                  <a:srgbClr val="0B1A3C"/>
                </a:solidFill>
                <a:latin typeface="Segoe UI" pitchFamily="34" charset="0"/>
                <a:ea typeface="Segoe UI" pitchFamily="34" charset="-122"/>
                <a:cs typeface="Segoe UI" pitchFamily="34" charset="-120"/>
              </a:rPr>
              <a:t>Evento de GitHub</a:t>
            </a:r>
            <a:endParaRPr lang="en-US" sz="864" dirty="0"/>
          </a:p>
          <a:p>
            <a:pPr algn="l" indent="0" marL="0">
              <a:lnSpc>
                <a:spcPct val="95000"/>
              </a:lnSpc>
              <a:buNone/>
            </a:pPr>
            <a:r>
              <a:rPr lang="en-US" sz="768" dirty="0">
                <a:solidFill>
                  <a:srgbClr val="55627E"/>
                </a:solidFill>
                <a:latin typeface="Segoe UI" pitchFamily="34" charset="0"/>
                <a:ea typeface="Segoe UI" pitchFamily="34" charset="-122"/>
                <a:cs typeface="Segoe UI" pitchFamily="34" charset="-120"/>
              </a:rPr>
              <a:t>push a main o Pull Request</a:t>
            </a:r>
            <a:endParaRPr lang="en-US" sz="864" dirty="0"/>
          </a:p>
        </p:txBody>
      </p:sp>
      <p:sp>
        <p:nvSpPr>
          <p:cNvPr id="28" name="Text 26"/>
          <p:cNvSpPr/>
          <p:nvPr/>
        </p:nvSpPr>
        <p:spPr>
          <a:xfrm>
            <a:off x="3968813"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9" name="Text 27"/>
          <p:cNvSpPr/>
          <p:nvPr/>
        </p:nvSpPr>
        <p:spPr>
          <a:xfrm>
            <a:off x="5564089" y="1982138"/>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0" name="Shape 28"/>
          <p:cNvSpPr/>
          <p:nvPr/>
        </p:nvSpPr>
        <p:spPr>
          <a:xfrm>
            <a:off x="7159365" y="1982138"/>
            <a:ext cx="1367380"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7250805" y="2065835"/>
            <a:ext cx="409944" cy="409944"/>
          </a:xfrm>
          <a:prstGeom prst="ellipse">
            <a:avLst/>
          </a:prstGeom>
          <a:solidFill>
            <a:srgbClr val="E2E5EA"/>
          </a:solidFill>
          <a:ln w="12700">
            <a:solidFill>
              <a:srgbClr val="E2E5EA"/>
            </a:solidFill>
            <a:prstDash val="solid"/>
          </a:ln>
        </p:spPr>
      </p:sp>
      <p:sp>
        <p:nvSpPr>
          <p:cNvPr id="32" name="Icono power"/>
          <p:cNvSpPr/>
          <p:nvPr/>
        </p:nvSpPr>
        <p:spPr>
          <a:xfrm>
            <a:off x="7305669" y="2120699"/>
            <a:ext cx="300216" cy="300216"/>
          </a:xfrm>
          <a:custGeom>
            <a:avLst/>
            <a:gdLst/>
            <a:ahLst/>
            <a:cxnLst/>
            <a:rect l="l" t="t" r="r" b="b"/>
            <a:pathLst>
              <a:path w="300216" h="300216">
                <a:moveTo>
                  <a:pt x="150108" y="25018"/>
                </a:moveTo>
                <a:lnTo>
                  <a:pt x="150108" y="150108"/>
                </a:lnTo>
                <a:moveTo>
                  <a:pt x="230165" y="82559"/>
                </a:moveTo>
                <a:cubicBezTo>
                  <a:pt x="274054" y="126464"/>
                  <a:pt x="274120" y="197611"/>
                  <a:pt x="230312" y="241597"/>
                </a:cubicBezTo>
                <a:cubicBezTo>
                  <a:pt x="186504" y="285582"/>
                  <a:pt x="115358" y="285805"/>
                  <a:pt x="71275" y="242095"/>
                </a:cubicBezTo>
                <a:cubicBezTo>
                  <a:pt x="27193" y="198384"/>
                  <a:pt x="26813" y="127239"/>
                  <a:pt x="70426" y="83060"/>
                </a:cubicBezTo>
              </a:path>
            </a:pathLst>
          </a:custGeom>
          <a:noFill/>
          <a:ln w="25018" cap="rnd">
            <a:solidFill>
              <a:srgbClr val="0B2350"/>
            </a:solidFill>
            <a:prstDash val="solid"/>
            <a:round/>
          </a:ln>
        </p:spPr>
      </p:sp>
      <p:sp>
        <p:nvSpPr>
          <p:cNvPr id="33" name="Text 31"/>
          <p:cNvSpPr/>
          <p:nvPr/>
        </p:nvSpPr>
        <p:spPr>
          <a:xfrm>
            <a:off x="7715613" y="1982138"/>
            <a:ext cx="756268"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34" name="Text 32"/>
          <p:cNvSpPr/>
          <p:nvPr/>
        </p:nvSpPr>
        <p:spPr>
          <a:xfrm>
            <a:off x="8830607" y="1982138"/>
            <a:ext cx="1443345"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5" name="Text 33"/>
          <p:cNvSpPr/>
          <p:nvPr/>
        </p:nvSpPr>
        <p:spPr>
          <a:xfrm>
            <a:off x="3968813"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6" name="Text 34"/>
          <p:cNvSpPr/>
          <p:nvPr/>
        </p:nvSpPr>
        <p:spPr>
          <a:xfrm>
            <a:off x="5564089" y="3881276"/>
            <a:ext cx="1291414"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7" name="Text 35"/>
          <p:cNvSpPr/>
          <p:nvPr/>
        </p:nvSpPr>
        <p:spPr>
          <a:xfrm>
            <a:off x="8830607" y="3881276"/>
            <a:ext cx="1443345" cy="577338"/>
          </a:xfrm>
          <a:prstGeom prst="roundRect">
            <a:avLst>
              <a:gd name="adj" fmla="val 14254"/>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8" name="Shape 36"/>
          <p:cNvSpPr/>
          <p:nvPr/>
        </p:nvSpPr>
        <p:spPr>
          <a:xfrm>
            <a:off x="1841777" y="4489001"/>
            <a:ext cx="1671242" cy="577338"/>
          </a:xfrm>
          <a:prstGeom prst="roundRect">
            <a:avLst>
              <a:gd name="adj" fmla="val 14254"/>
            </a:avLst>
          </a:prstGeom>
          <a:solidFill>
            <a:srgbClr val="FFFFFF"/>
          </a:solidFill>
          <a:ln w="28575">
            <a:solidFill>
              <a:srgbClr val="2BA6CB"/>
            </a:solidFill>
            <a:prstDash val="dash"/>
          </a:ln>
        </p:spPr>
      </p:sp>
      <p:sp>
        <p:nvSpPr>
          <p:cNvPr id="39" name="Shape 37"/>
          <p:cNvSpPr/>
          <p:nvPr/>
        </p:nvSpPr>
        <p:spPr>
          <a:xfrm>
            <a:off x="1933217" y="4572698"/>
            <a:ext cx="409944" cy="409944"/>
          </a:xfrm>
          <a:prstGeom prst="ellipse">
            <a:avLst/>
          </a:prstGeom>
          <a:solidFill>
            <a:srgbClr val="E3F4FA"/>
          </a:solidFill>
          <a:ln w="12700">
            <a:solidFill>
              <a:srgbClr val="E3F4FA"/>
            </a:solidFill>
            <a:prstDash val="solid"/>
          </a:ln>
        </p:spPr>
      </p:sp>
      <p:sp>
        <p:nvSpPr>
          <p:cNvPr id="40" name="Icono rocket"/>
          <p:cNvSpPr/>
          <p:nvPr/>
        </p:nvSpPr>
        <p:spPr>
          <a:xfrm>
            <a:off x="1988081" y="4627562"/>
            <a:ext cx="300216" cy="300216"/>
          </a:xfrm>
          <a:custGeom>
            <a:avLst/>
            <a:gdLst/>
            <a:ahLst/>
            <a:cxnLst/>
            <a:rect l="l" t="t" r="r" b="b"/>
            <a:pathLst>
              <a:path w="300216" h="300216">
                <a:moveTo>
                  <a:pt x="56290" y="206398"/>
                </a:moveTo>
                <a:cubicBezTo>
                  <a:pt x="37527" y="222160"/>
                  <a:pt x="31272" y="268943"/>
                  <a:pt x="31272" y="268943"/>
                </a:cubicBezTo>
                <a:cubicBezTo>
                  <a:pt x="31272" y="268943"/>
                  <a:pt x="78056" y="262689"/>
                  <a:pt x="93817" y="243925"/>
                </a:cubicBezTo>
                <a:cubicBezTo>
                  <a:pt x="102699" y="233418"/>
                  <a:pt x="102574" y="217281"/>
                  <a:pt x="92692" y="207524"/>
                </a:cubicBezTo>
                <a:cubicBezTo>
                  <a:pt x="82623" y="197914"/>
                  <a:pt x="66933" y="197429"/>
                  <a:pt x="56290" y="206398"/>
                </a:cubicBezTo>
                <a:close/>
                <a:moveTo>
                  <a:pt x="150108" y="187635"/>
                </a:moveTo>
                <a:lnTo>
                  <a:pt x="112581" y="150108"/>
                </a:lnTo>
                <a:cubicBezTo>
                  <a:pt x="119238" y="132838"/>
                  <a:pt x="127619" y="116284"/>
                  <a:pt x="137599" y="100697"/>
                </a:cubicBezTo>
                <a:cubicBezTo>
                  <a:pt x="167235" y="53313"/>
                  <a:pt x="219310" y="24671"/>
                  <a:pt x="275198" y="25018"/>
                </a:cubicBezTo>
                <a:cubicBezTo>
                  <a:pt x="275198" y="59042"/>
                  <a:pt x="265441" y="118835"/>
                  <a:pt x="200144" y="162617"/>
                </a:cubicBezTo>
                <a:cubicBezTo>
                  <a:pt x="184344" y="172608"/>
                  <a:pt x="167581" y="180989"/>
                  <a:pt x="150108" y="187635"/>
                </a:cubicBezTo>
                <a:close/>
                <a:moveTo>
                  <a:pt x="112581" y="150108"/>
                </a:moveTo>
                <a:lnTo>
                  <a:pt x="50036" y="150108"/>
                </a:lnTo>
                <a:cubicBezTo>
                  <a:pt x="50036" y="150108"/>
                  <a:pt x="56916" y="112206"/>
                  <a:pt x="75054" y="100072"/>
                </a:cubicBezTo>
                <a:cubicBezTo>
                  <a:pt x="95319" y="86562"/>
                  <a:pt x="137599" y="100072"/>
                  <a:pt x="137599" y="100072"/>
                </a:cubicBezTo>
                <a:moveTo>
                  <a:pt x="150108" y="187635"/>
                </a:moveTo>
                <a:lnTo>
                  <a:pt x="150108" y="250180"/>
                </a:lnTo>
                <a:cubicBezTo>
                  <a:pt x="150108" y="250180"/>
                  <a:pt x="188010" y="243300"/>
                  <a:pt x="200144" y="225162"/>
                </a:cubicBezTo>
                <a:cubicBezTo>
                  <a:pt x="213654" y="204897"/>
                  <a:pt x="200144" y="162617"/>
                  <a:pt x="200144" y="162617"/>
                </a:cubicBezTo>
              </a:path>
            </a:pathLst>
          </a:custGeom>
          <a:noFill/>
          <a:ln w="25018" cap="rnd">
            <a:solidFill>
              <a:srgbClr val="0B6E8A"/>
            </a:solidFill>
            <a:prstDash val="solid"/>
            <a:round/>
          </a:ln>
        </p:spPr>
      </p:sp>
      <p:sp>
        <p:nvSpPr>
          <p:cNvPr id="41" name="Text 39"/>
          <p:cNvSpPr/>
          <p:nvPr/>
        </p:nvSpPr>
        <p:spPr>
          <a:xfrm>
            <a:off x="2398025" y="4489001"/>
            <a:ext cx="1060130" cy="577338"/>
          </a:xfrm>
          <a:prstGeom prst="rect">
            <a:avLst/>
          </a:prstGeom>
          <a:noFill/>
          <a:ln/>
        </p:spPr>
        <p:txBody>
          <a:bodyPr wrap="square" lIns="12700" tIns="25400" rIns="25400" bIns="12700" rtlCol="0" anchor="ctr">
            <a:normAutofit/>
          </a:bodyPr>
          <a:lstStyle/>
          <a:p>
            <a:pPr algn="l" indent="0" marL="0">
              <a:lnSpc>
                <a:spcPct val="95000"/>
              </a:lnSpc>
              <a:buNone/>
            </a:pPr>
            <a:r>
              <a:rPr lang="en-US" sz="900" b="1" dirty="0">
                <a:solidFill>
                  <a:srgbClr val="8A95AB"/>
                </a:solidFill>
                <a:latin typeface="Segoe UI" pitchFamily="34" charset="0"/>
                <a:ea typeface="Segoe UI" pitchFamily="34" charset="-122"/>
                <a:cs typeface="Segoe UI" pitchFamily="34" charset="-120"/>
              </a:rPr>
              <a:t>Despliegue</a:t>
            </a:r>
            <a:endParaRPr lang="en-US" sz="900"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42" name="Shape 4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43" name="Text 4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4" name="Text 4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Publicar no es desplegar: lo que corre en el clúster cambia en un paso aparte.</a:t>
            </a:r>
            <a:endParaRPr lang="en-US" sz="13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Leer ci.yml</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Leer ci.yml</a:t>
            </a:r>
            <a:endParaRPr lang="en-US" sz="3200" dirty="0"/>
          </a:p>
        </p:txBody>
      </p:sp>
      <p:sp>
        <p:nvSpPr>
          <p:cNvPr id="7" name="Icono file-code"/>
          <p:cNvSpPr/>
          <p:nvPr/>
        </p:nvSpPr>
        <p:spPr>
          <a:xfrm>
            <a:off x="628192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8" name="Text 6"/>
          <p:cNvSpPr/>
          <p:nvPr/>
        </p:nvSpPr>
        <p:spPr>
          <a:xfrm>
            <a:off x="6556248" y="1371600"/>
            <a:ext cx="502279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.github/workflows/ci.yml</a:t>
            </a:r>
            <a:endParaRPr lang="en-US" sz="900" dirty="0"/>
          </a:p>
        </p:txBody>
      </p:sp>
      <p:sp>
        <p:nvSpPr>
          <p:cNvPr id="9" name="Text 7"/>
          <p:cNvSpPr/>
          <p:nvPr/>
        </p:nvSpPr>
        <p:spPr>
          <a:xfrm>
            <a:off x="6281928" y="1645920"/>
            <a:ext cx="529711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push</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branches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 main ]</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pull_request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jobs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construir-probar-publicar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strategy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matrix</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include</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servicio</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servicio-solicitudes</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base_datos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db-solicitudes</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steps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run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mvn -B verify</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working-directory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 matrix.servicio }</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ship-wheel"/>
          <p:cNvSpPr/>
          <p:nvPr/>
        </p:nvSpPr>
        <p:spPr>
          <a:xfrm>
            <a:off x="9098280" y="1783080"/>
            <a:ext cx="1371600" cy="1371600"/>
          </a:xfrm>
          <a:custGeom>
            <a:avLst/>
            <a:gdLst/>
            <a:ahLst/>
            <a:cxnLst/>
            <a:rect l="l" t="t" r="r" b="b"/>
            <a:pathLst>
              <a:path w="1371600" h="1371600">
                <a:moveTo>
                  <a:pt x="1143000" y="685800"/>
                </a:moveTo>
                <a:cubicBezTo>
                  <a:pt x="1143000" y="938305"/>
                  <a:pt x="938305" y="1143000"/>
                  <a:pt x="685800" y="1143000"/>
                </a:cubicBezTo>
                <a:cubicBezTo>
                  <a:pt x="433295" y="1143000"/>
                  <a:pt x="228600" y="938305"/>
                  <a:pt x="228600" y="685800"/>
                </a:cubicBezTo>
                <a:cubicBezTo>
                  <a:pt x="228600" y="433295"/>
                  <a:pt x="433295" y="228600"/>
                  <a:pt x="685800" y="228600"/>
                </a:cubicBezTo>
                <a:cubicBezTo>
                  <a:pt x="938305" y="228600"/>
                  <a:pt x="1143000" y="433295"/>
                  <a:pt x="1143000" y="685800"/>
                </a:cubicBezTo>
                <a:close/>
                <a:moveTo>
                  <a:pt x="685800" y="114300"/>
                </a:moveTo>
                <a:lnTo>
                  <a:pt x="685800" y="542925"/>
                </a:lnTo>
                <a:moveTo>
                  <a:pt x="1085850" y="285750"/>
                </a:moveTo>
                <a:lnTo>
                  <a:pt x="786956" y="584645"/>
                </a:lnTo>
                <a:moveTo>
                  <a:pt x="1257300" y="685800"/>
                </a:moveTo>
                <a:lnTo>
                  <a:pt x="828675" y="685800"/>
                </a:lnTo>
                <a:moveTo>
                  <a:pt x="1085850" y="1085850"/>
                </a:moveTo>
                <a:lnTo>
                  <a:pt x="786956" y="786956"/>
                </a:lnTo>
                <a:moveTo>
                  <a:pt x="685800" y="828675"/>
                </a:moveTo>
                <a:lnTo>
                  <a:pt x="685800" y="1257300"/>
                </a:lnTo>
                <a:moveTo>
                  <a:pt x="584645" y="786956"/>
                </a:moveTo>
                <a:lnTo>
                  <a:pt x="285750" y="1085850"/>
                </a:lnTo>
                <a:moveTo>
                  <a:pt x="542925" y="685800"/>
                </a:moveTo>
                <a:lnTo>
                  <a:pt x="114300" y="685800"/>
                </a:lnTo>
                <a:moveTo>
                  <a:pt x="584645" y="584645"/>
                </a:moveTo>
                <a:lnTo>
                  <a:pt x="285750" y="285750"/>
                </a:lnTo>
                <a:moveTo>
                  <a:pt x="828675" y="685800"/>
                </a:moveTo>
                <a:cubicBezTo>
                  <a:pt x="828675" y="764708"/>
                  <a:pt x="764708" y="828675"/>
                  <a:pt x="685800" y="828675"/>
                </a:cubicBezTo>
                <a:cubicBezTo>
                  <a:pt x="606892" y="828675"/>
                  <a:pt x="542925" y="764708"/>
                  <a:pt x="542925" y="685800"/>
                </a:cubicBezTo>
                <a:cubicBezTo>
                  <a:pt x="542925" y="606892"/>
                  <a:pt x="606892" y="542925"/>
                  <a:pt x="685800" y="542925"/>
                </a:cubicBezTo>
                <a:cubicBezTo>
                  <a:pt x="764708" y="542925"/>
                  <a:pt x="828675" y="606892"/>
                  <a:pt x="828675" y="685800"/>
                </a:cubicBezTo>
                <a:close/>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6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2BA6CB"/>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2BA6CB"/>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374B70"/>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06</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Desplegar y operar</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Cómo lo llevamos a un clúster, lo mantenemos corriendo y sabemos qué pasa adentro.</a:t>
            </a:r>
            <a:endParaRPr lang="en-US" sz="1900" dirty="0"/>
          </a:p>
        </p:txBody>
      </p:sp>
      <p:sp>
        <p:nvSpPr>
          <p:cNvPr id="16" name="Text 14"/>
          <p:cNvSpPr/>
          <p:nvPr/>
        </p:nvSpPr>
        <p:spPr>
          <a:xfrm>
            <a:off x="758952" y="466344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Fundamentos de Kubernetes</a:t>
            </a:r>
            <a:endParaRPr lang="en-US" sz="1300" dirty="0"/>
          </a:p>
        </p:txBody>
      </p:sp>
      <p:sp>
        <p:nvSpPr>
          <p:cNvPr id="17" name="Text 15"/>
          <p:cNvSpPr/>
          <p:nvPr/>
        </p:nvSpPr>
        <p:spPr>
          <a:xfrm>
            <a:off x="3744468" y="466344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Del contenedor al clúster</a:t>
            </a:r>
            <a:endParaRPr lang="en-US" sz="1300" dirty="0"/>
          </a:p>
        </p:txBody>
      </p:sp>
      <p:sp>
        <p:nvSpPr>
          <p:cNvPr id="18" name="Text 16"/>
          <p:cNvSpPr/>
          <p:nvPr/>
        </p:nvSpPr>
        <p:spPr>
          <a:xfrm>
            <a:off x="6729984"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19" name="Text 17"/>
          <p:cNvSpPr/>
          <p:nvPr/>
        </p:nvSpPr>
        <p:spPr>
          <a:xfrm>
            <a:off x="8659368" y="4663440"/>
            <a:ext cx="199339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Logs y monitoreo</a:t>
            </a:r>
            <a:endParaRPr lang="en-US" sz="1300" dirty="0"/>
          </a:p>
        </p:txBody>
      </p:sp>
      <p:sp>
        <p:nvSpPr>
          <p:cNvPr id="20" name="Text 18"/>
          <p:cNvSpPr/>
          <p:nvPr/>
        </p:nvSpPr>
        <p:spPr>
          <a:xfrm>
            <a:off x="758952" y="516636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Centralización de logs</a:t>
            </a:r>
            <a:endParaRPr lang="en-US" sz="1300" dirty="0"/>
          </a:p>
        </p:txBody>
      </p:sp>
      <p:sp>
        <p:nvSpPr>
          <p:cNvPr id="21" name="Text 19"/>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P6</a:t>
            </a:r>
            <a:endParaRPr lang="en-US" sz="1000" dirty="0"/>
          </a:p>
        </p:txBody>
      </p:sp>
      <p:sp>
        <p:nvSpPr>
          <p:cNvPr id="22" name="Text 20"/>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6 · DevOps</a:t>
            </a:r>
            <a:endParaRPr lang="en-US" sz="13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contenedor al clúster</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Deployment: cuántas copias de cada servicio</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Pod: donde corre el contenedor</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Service: un nombre fijo para encontrarlo</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Secret y disco persistente para las bases</a:t>
            </a:r>
            <a:endParaRPr lang="en-US" sz="1100" dirty="0"/>
          </a:p>
        </p:txBody>
      </p:sp>
      <p:sp>
        <p:nvSpPr>
          <p:cNvPr id="9" name="Shape 7"/>
          <p:cNvSpPr/>
          <p:nvPr/>
        </p:nvSpPr>
        <p:spPr>
          <a:xfrm>
            <a:off x="2988701" y="2684575"/>
            <a:ext cx="731093" cy="0"/>
          </a:xfrm>
          <a:prstGeom prst="line">
            <a:avLst/>
          </a:prstGeom>
          <a:noFill/>
          <a:ln w="31750">
            <a:solidFill>
              <a:srgbClr val="55627E"/>
            </a:solidFill>
            <a:prstDash val="sysDot"/>
            <a:tailEnd type="triangle"/>
          </a:ln>
        </p:spPr>
      </p:sp>
      <p:sp>
        <p:nvSpPr>
          <p:cNvPr id="10" name="Text 8"/>
          <p:cNvSpPr/>
          <p:nvPr/>
        </p:nvSpPr>
        <p:spPr>
          <a:xfrm>
            <a:off x="3158109" y="2446879"/>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a:t>
            </a:r>
            <a:endParaRPr lang="en-US" sz="850" dirty="0"/>
          </a:p>
        </p:txBody>
      </p:sp>
      <p:sp>
        <p:nvSpPr>
          <p:cNvPr id="11" name="Text 9"/>
          <p:cNvSpPr/>
          <p:nvPr/>
        </p:nvSpPr>
        <p:spPr>
          <a:xfrm>
            <a:off x="3098301" y="257484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a:off x="5547528" y="2684575"/>
            <a:ext cx="731093" cy="0"/>
          </a:xfrm>
          <a:prstGeom prst="line">
            <a:avLst/>
          </a:prstGeom>
          <a:noFill/>
          <a:ln w="31750">
            <a:solidFill>
              <a:srgbClr val="55627E"/>
            </a:solidFill>
            <a:prstDash val="sysDot"/>
            <a:tailEnd type="triangle"/>
          </a:ln>
        </p:spPr>
      </p:sp>
      <p:sp>
        <p:nvSpPr>
          <p:cNvPr id="13" name="Text 11"/>
          <p:cNvSpPr/>
          <p:nvPr/>
        </p:nvSpPr>
        <p:spPr>
          <a:xfrm>
            <a:off x="5584805" y="2446879"/>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mantiene</a:t>
            </a:r>
            <a:endParaRPr lang="en-US" sz="850" dirty="0"/>
          </a:p>
        </p:txBody>
      </p:sp>
      <p:sp>
        <p:nvSpPr>
          <p:cNvPr id="14" name="Text 12"/>
          <p:cNvSpPr/>
          <p:nvPr/>
        </p:nvSpPr>
        <p:spPr>
          <a:xfrm>
            <a:off x="5657128" y="257484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flipH="1">
            <a:off x="8471901" y="2684575"/>
            <a:ext cx="731093" cy="0"/>
          </a:xfrm>
          <a:prstGeom prst="line">
            <a:avLst/>
          </a:prstGeom>
          <a:noFill/>
          <a:ln w="31750">
            <a:solidFill>
              <a:srgbClr val="2E6DB4"/>
            </a:solidFill>
            <a:prstDash val="solid"/>
            <a:tailEnd type="triangle"/>
          </a:ln>
        </p:spPr>
      </p:sp>
      <p:sp>
        <p:nvSpPr>
          <p:cNvPr id="16" name="Text 14"/>
          <p:cNvSpPr/>
          <p:nvPr/>
        </p:nvSpPr>
        <p:spPr>
          <a:xfrm>
            <a:off x="8344014" y="2446879"/>
            <a:ext cx="986866"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si está listo</a:t>
            </a:r>
            <a:endParaRPr lang="en-US" sz="850" dirty="0"/>
          </a:p>
        </p:txBody>
      </p:sp>
      <p:sp>
        <p:nvSpPr>
          <p:cNvPr id="17" name="Text 15"/>
          <p:cNvSpPr/>
          <p:nvPr/>
        </p:nvSpPr>
        <p:spPr>
          <a:xfrm>
            <a:off x="8873938" y="25748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flipV="1">
            <a:off x="1983448" y="3708105"/>
            <a:ext cx="0" cy="548320"/>
          </a:xfrm>
          <a:prstGeom prst="line">
            <a:avLst/>
          </a:prstGeom>
          <a:noFill/>
          <a:ln w="22860">
            <a:solidFill>
              <a:srgbClr val="1F4E8C"/>
            </a:solidFill>
            <a:prstDash val="lgDash"/>
          </a:ln>
        </p:spPr>
      </p:sp>
      <p:sp>
        <p:nvSpPr>
          <p:cNvPr id="19" name="Shape 17"/>
          <p:cNvSpPr/>
          <p:nvPr/>
        </p:nvSpPr>
        <p:spPr>
          <a:xfrm>
            <a:off x="1983448" y="3708105"/>
            <a:ext cx="5026266" cy="0"/>
          </a:xfrm>
          <a:prstGeom prst="line">
            <a:avLst/>
          </a:prstGeom>
          <a:noFill/>
          <a:ln w="22860">
            <a:solidFill>
              <a:srgbClr val="1F4E8C"/>
            </a:solidFill>
            <a:prstDash val="lgDash"/>
          </a:ln>
        </p:spPr>
      </p:sp>
      <p:sp>
        <p:nvSpPr>
          <p:cNvPr id="20" name="Shape 18"/>
          <p:cNvSpPr/>
          <p:nvPr/>
        </p:nvSpPr>
        <p:spPr>
          <a:xfrm flipV="1">
            <a:off x="7009714" y="3031844"/>
            <a:ext cx="0" cy="676261"/>
          </a:xfrm>
          <a:prstGeom prst="line">
            <a:avLst/>
          </a:prstGeom>
          <a:noFill/>
          <a:ln w="22860">
            <a:solidFill>
              <a:srgbClr val="1F4E8C"/>
            </a:solidFill>
            <a:prstDash val="lgDash"/>
            <a:tailEnd type="arrow"/>
          </a:ln>
        </p:spPr>
      </p:sp>
      <p:sp>
        <p:nvSpPr>
          <p:cNvPr id="21" name="Text 19"/>
          <p:cNvSpPr/>
          <p:nvPr/>
        </p:nvSpPr>
        <p:spPr>
          <a:xfrm>
            <a:off x="4069213" y="3470409"/>
            <a:ext cx="854735"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DB_PASSWORD</a:t>
            </a:r>
            <a:endParaRPr lang="en-US" sz="850" dirty="0"/>
          </a:p>
        </p:txBody>
      </p:sp>
      <p:sp>
        <p:nvSpPr>
          <p:cNvPr id="22" name="Text 20"/>
          <p:cNvSpPr/>
          <p:nvPr/>
        </p:nvSpPr>
        <p:spPr>
          <a:xfrm>
            <a:off x="1873720" y="3927369"/>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3" name="Shape 21"/>
          <p:cNvSpPr/>
          <p:nvPr/>
        </p:nvSpPr>
        <p:spPr>
          <a:xfrm>
            <a:off x="5730301" y="4603695"/>
            <a:ext cx="548320" cy="0"/>
          </a:xfrm>
          <a:prstGeom prst="line">
            <a:avLst/>
          </a:prstGeom>
          <a:noFill/>
          <a:ln w="22860">
            <a:solidFill>
              <a:srgbClr val="1F4E8C"/>
            </a:solidFill>
            <a:prstDash val="lgDash"/>
            <a:tailEnd type="arrow"/>
          </a:ln>
        </p:spPr>
      </p:sp>
      <p:sp>
        <p:nvSpPr>
          <p:cNvPr id="24" name="Text 22"/>
          <p:cNvSpPr/>
          <p:nvPr/>
        </p:nvSpPr>
        <p:spPr>
          <a:xfrm>
            <a:off x="5709224" y="4365999"/>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volumen</a:t>
            </a:r>
            <a:endParaRPr lang="en-US" sz="850" dirty="0"/>
          </a:p>
        </p:txBody>
      </p:sp>
      <p:sp>
        <p:nvSpPr>
          <p:cNvPr id="25" name="Text 23"/>
          <p:cNvSpPr/>
          <p:nvPr/>
        </p:nvSpPr>
        <p:spPr>
          <a:xfrm>
            <a:off x="5839901" y="449396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1983448" y="4950964"/>
            <a:ext cx="0" cy="767648"/>
          </a:xfrm>
          <a:prstGeom prst="line">
            <a:avLst/>
          </a:prstGeom>
          <a:noFill/>
          <a:ln w="22860">
            <a:solidFill>
              <a:srgbClr val="1F4E8C"/>
            </a:solidFill>
            <a:prstDash val="lgDash"/>
          </a:ln>
        </p:spPr>
      </p:sp>
      <p:sp>
        <p:nvSpPr>
          <p:cNvPr id="27" name="Shape 25"/>
          <p:cNvSpPr/>
          <p:nvPr/>
        </p:nvSpPr>
        <p:spPr>
          <a:xfrm>
            <a:off x="1983448" y="5718612"/>
            <a:ext cx="5391813" cy="0"/>
          </a:xfrm>
          <a:prstGeom prst="line">
            <a:avLst/>
          </a:prstGeom>
          <a:noFill/>
          <a:ln w="22860">
            <a:solidFill>
              <a:srgbClr val="1F4E8C"/>
            </a:solidFill>
            <a:prstDash val="lgDash"/>
          </a:ln>
        </p:spPr>
      </p:sp>
      <p:sp>
        <p:nvSpPr>
          <p:cNvPr id="28" name="Shape 26"/>
          <p:cNvSpPr/>
          <p:nvPr/>
        </p:nvSpPr>
        <p:spPr>
          <a:xfrm flipV="1">
            <a:off x="7375261" y="4950964"/>
            <a:ext cx="0" cy="767648"/>
          </a:xfrm>
          <a:prstGeom prst="line">
            <a:avLst/>
          </a:prstGeom>
          <a:noFill/>
          <a:ln w="22860">
            <a:solidFill>
              <a:srgbClr val="1F4E8C"/>
            </a:solidFill>
            <a:prstDash val="lgDash"/>
            <a:tailEnd type="arrow"/>
          </a:ln>
        </p:spPr>
      </p:sp>
      <p:sp>
        <p:nvSpPr>
          <p:cNvPr id="29" name="Text 27"/>
          <p:cNvSpPr/>
          <p:nvPr/>
        </p:nvSpPr>
        <p:spPr>
          <a:xfrm>
            <a:off x="4053790" y="5736799"/>
            <a:ext cx="1251128"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POSTGRES_PASSWORD</a:t>
            </a:r>
            <a:endParaRPr lang="en-US" sz="850" dirty="0"/>
          </a:p>
        </p:txBody>
      </p:sp>
      <p:sp>
        <p:nvSpPr>
          <p:cNvPr id="30" name="Text 28"/>
          <p:cNvSpPr/>
          <p:nvPr/>
        </p:nvSpPr>
        <p:spPr>
          <a:xfrm>
            <a:off x="1873720" y="506056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1" name="Shape 29"/>
          <p:cNvSpPr/>
          <p:nvPr/>
        </p:nvSpPr>
        <p:spPr>
          <a:xfrm>
            <a:off x="7923581" y="3031844"/>
            <a:ext cx="0" cy="676261"/>
          </a:xfrm>
          <a:prstGeom prst="line">
            <a:avLst/>
          </a:prstGeom>
          <a:noFill/>
          <a:ln w="31750">
            <a:solidFill>
              <a:srgbClr val="2E6DB4"/>
            </a:solidFill>
            <a:prstDash val="solid"/>
          </a:ln>
        </p:spPr>
      </p:sp>
      <p:sp>
        <p:nvSpPr>
          <p:cNvPr id="32" name="Shape 30"/>
          <p:cNvSpPr/>
          <p:nvPr/>
        </p:nvSpPr>
        <p:spPr>
          <a:xfrm>
            <a:off x="7923581" y="3708105"/>
            <a:ext cx="2284667" cy="0"/>
          </a:xfrm>
          <a:prstGeom prst="line">
            <a:avLst/>
          </a:prstGeom>
          <a:noFill/>
          <a:ln w="31750">
            <a:solidFill>
              <a:srgbClr val="2E6DB4"/>
            </a:solidFill>
            <a:prstDash val="solid"/>
          </a:ln>
        </p:spPr>
      </p:sp>
      <p:sp>
        <p:nvSpPr>
          <p:cNvPr id="33" name="Shape 31"/>
          <p:cNvSpPr/>
          <p:nvPr/>
        </p:nvSpPr>
        <p:spPr>
          <a:xfrm>
            <a:off x="10208247" y="3708105"/>
            <a:ext cx="0" cy="548320"/>
          </a:xfrm>
          <a:prstGeom prst="line">
            <a:avLst/>
          </a:prstGeom>
          <a:noFill/>
          <a:ln w="31750">
            <a:solidFill>
              <a:srgbClr val="2E6DB4"/>
            </a:solidFill>
            <a:prstDash val="solid"/>
            <a:tailEnd type="triangle"/>
          </a:ln>
        </p:spPr>
      </p:sp>
      <p:sp>
        <p:nvSpPr>
          <p:cNvPr id="34" name="Text 32"/>
          <p:cNvSpPr/>
          <p:nvPr/>
        </p:nvSpPr>
        <p:spPr>
          <a:xfrm>
            <a:off x="8869775" y="3470409"/>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JDBC</a:t>
            </a:r>
            <a:endParaRPr lang="en-US" sz="850" dirty="0"/>
          </a:p>
        </p:txBody>
      </p:sp>
      <p:sp>
        <p:nvSpPr>
          <p:cNvPr id="35" name="Text 33"/>
          <p:cNvSpPr/>
          <p:nvPr/>
        </p:nvSpPr>
        <p:spPr>
          <a:xfrm>
            <a:off x="7813853" y="314144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6" name="Shape 34"/>
          <p:cNvSpPr/>
          <p:nvPr/>
        </p:nvSpPr>
        <p:spPr>
          <a:xfrm flipH="1">
            <a:off x="8471901" y="4603695"/>
            <a:ext cx="731093" cy="0"/>
          </a:xfrm>
          <a:prstGeom prst="line">
            <a:avLst/>
          </a:prstGeom>
          <a:noFill/>
          <a:ln w="31750">
            <a:solidFill>
              <a:srgbClr val="55627E"/>
            </a:solidFill>
            <a:prstDash val="sysDot"/>
            <a:tailEnd type="triangle"/>
          </a:ln>
        </p:spPr>
      </p:sp>
      <p:sp>
        <p:nvSpPr>
          <p:cNvPr id="37" name="Text 35"/>
          <p:cNvSpPr/>
          <p:nvPr/>
        </p:nvSpPr>
        <p:spPr>
          <a:xfrm>
            <a:off x="8641309" y="4365999"/>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5432</a:t>
            </a:r>
            <a:endParaRPr lang="en-US" sz="850" dirty="0"/>
          </a:p>
        </p:txBody>
      </p:sp>
      <p:sp>
        <p:nvSpPr>
          <p:cNvPr id="38" name="Text 36"/>
          <p:cNvSpPr/>
          <p:nvPr/>
        </p:nvSpPr>
        <p:spPr>
          <a:xfrm>
            <a:off x="8873938" y="449396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9" name="Shape 37"/>
          <p:cNvSpPr/>
          <p:nvPr/>
        </p:nvSpPr>
        <p:spPr>
          <a:xfrm>
            <a:off x="978195" y="2337305"/>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1069635" y="2474263"/>
            <a:ext cx="420624" cy="420624"/>
          </a:xfrm>
          <a:prstGeom prst="ellipse">
            <a:avLst/>
          </a:prstGeom>
          <a:solidFill>
            <a:srgbClr val="E2E5EA"/>
          </a:solidFill>
          <a:ln w="12700">
            <a:solidFill>
              <a:srgbClr val="E2E5EA"/>
            </a:solidFill>
            <a:prstDash val="solid"/>
          </a:ln>
        </p:spPr>
      </p:sp>
      <p:sp>
        <p:nvSpPr>
          <p:cNvPr id="41" name="Icono layers"/>
          <p:cNvSpPr/>
          <p:nvPr/>
        </p:nvSpPr>
        <p:spPr>
          <a:xfrm>
            <a:off x="1124499" y="2529127"/>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42" name="Text 40"/>
          <p:cNvSpPr/>
          <p:nvPr/>
        </p:nvSpPr>
        <p:spPr>
          <a:xfrm>
            <a:off x="1545123" y="233730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Deployment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servicio-solicitudes · 1 réplica</a:t>
            </a:r>
            <a:endParaRPr lang="en-US" sz="1079" dirty="0"/>
          </a:p>
        </p:txBody>
      </p:sp>
      <p:sp>
        <p:nvSpPr>
          <p:cNvPr id="43" name="Shape 41"/>
          <p:cNvSpPr/>
          <p:nvPr/>
        </p:nvSpPr>
        <p:spPr>
          <a:xfrm>
            <a:off x="3719794" y="2337305"/>
            <a:ext cx="182773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3811234" y="2474263"/>
            <a:ext cx="420624" cy="420624"/>
          </a:xfrm>
          <a:prstGeom prst="ellipse">
            <a:avLst/>
          </a:prstGeom>
          <a:solidFill>
            <a:srgbClr val="E2E5EA"/>
          </a:solidFill>
          <a:ln w="12700">
            <a:solidFill>
              <a:srgbClr val="E2E5EA"/>
            </a:solidFill>
            <a:prstDash val="solid"/>
          </a:ln>
        </p:spPr>
      </p:sp>
      <p:sp>
        <p:nvSpPr>
          <p:cNvPr id="45" name="Icono copy"/>
          <p:cNvSpPr/>
          <p:nvPr/>
        </p:nvSpPr>
        <p:spPr>
          <a:xfrm>
            <a:off x="3866098" y="2529127"/>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6" name="Text 44"/>
          <p:cNvSpPr/>
          <p:nvPr/>
        </p:nvSpPr>
        <p:spPr>
          <a:xfrm>
            <a:off x="4286722" y="2337305"/>
            <a:ext cx="120594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ReplicaSet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mantiene la cantidad</a:t>
            </a:r>
            <a:endParaRPr lang="en-US" sz="1079" dirty="0"/>
          </a:p>
        </p:txBody>
      </p:sp>
      <p:sp>
        <p:nvSpPr>
          <p:cNvPr id="47" name="Shape 45"/>
          <p:cNvSpPr/>
          <p:nvPr/>
        </p:nvSpPr>
        <p:spPr>
          <a:xfrm>
            <a:off x="6278621" y="2337305"/>
            <a:ext cx="2193280"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6370061" y="2474263"/>
            <a:ext cx="420624" cy="420624"/>
          </a:xfrm>
          <a:prstGeom prst="ellipse">
            <a:avLst/>
          </a:prstGeom>
          <a:solidFill>
            <a:srgbClr val="E2E5EA"/>
          </a:solidFill>
          <a:ln w="12700">
            <a:solidFill>
              <a:srgbClr val="E2E5EA"/>
            </a:solidFill>
            <a:prstDash val="solid"/>
          </a:ln>
        </p:spPr>
      </p:sp>
      <p:sp>
        <p:nvSpPr>
          <p:cNvPr id="49" name="Icono box"/>
          <p:cNvSpPr/>
          <p:nvPr/>
        </p:nvSpPr>
        <p:spPr>
          <a:xfrm>
            <a:off x="6424925" y="2529127"/>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50" name="Text 48"/>
          <p:cNvSpPr/>
          <p:nvPr/>
        </p:nvSpPr>
        <p:spPr>
          <a:xfrm>
            <a:off x="6845549" y="2337305"/>
            <a:ext cx="157148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Pod</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ejecuta el contenedor</a:t>
            </a:r>
            <a:endParaRPr lang="en-US" sz="1079" dirty="0"/>
          </a:p>
        </p:txBody>
      </p:sp>
      <p:sp>
        <p:nvSpPr>
          <p:cNvPr id="51" name="Shape 49"/>
          <p:cNvSpPr/>
          <p:nvPr/>
        </p:nvSpPr>
        <p:spPr>
          <a:xfrm>
            <a:off x="9202994" y="2337305"/>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9294434" y="2474263"/>
            <a:ext cx="420624" cy="420624"/>
          </a:xfrm>
          <a:prstGeom prst="ellipse">
            <a:avLst/>
          </a:prstGeom>
          <a:solidFill>
            <a:srgbClr val="E2E5EA"/>
          </a:solidFill>
          <a:ln w="12700">
            <a:solidFill>
              <a:srgbClr val="E2E5EA"/>
            </a:solidFill>
            <a:prstDash val="solid"/>
          </a:ln>
        </p:spPr>
      </p:sp>
      <p:sp>
        <p:nvSpPr>
          <p:cNvPr id="53" name="Icono link"/>
          <p:cNvSpPr/>
          <p:nvPr/>
        </p:nvSpPr>
        <p:spPr>
          <a:xfrm>
            <a:off x="9349298" y="2529127"/>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54" name="Text 52"/>
          <p:cNvSpPr/>
          <p:nvPr/>
        </p:nvSpPr>
        <p:spPr>
          <a:xfrm>
            <a:off x="9769922" y="233730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Service</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NodePort · nombre estable</a:t>
            </a:r>
            <a:endParaRPr lang="en-US" sz="1079" dirty="0"/>
          </a:p>
        </p:txBody>
      </p:sp>
      <p:sp>
        <p:nvSpPr>
          <p:cNvPr id="55" name="Shape 53"/>
          <p:cNvSpPr/>
          <p:nvPr/>
        </p:nvSpPr>
        <p:spPr>
          <a:xfrm>
            <a:off x="978195" y="4256425"/>
            <a:ext cx="2010507"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6" name="Shape 54"/>
          <p:cNvSpPr/>
          <p:nvPr/>
        </p:nvSpPr>
        <p:spPr>
          <a:xfrm>
            <a:off x="1069635" y="4393383"/>
            <a:ext cx="420624" cy="420624"/>
          </a:xfrm>
          <a:prstGeom prst="ellipse">
            <a:avLst/>
          </a:prstGeom>
          <a:solidFill>
            <a:srgbClr val="E2E5EA"/>
          </a:solidFill>
          <a:ln w="12700">
            <a:solidFill>
              <a:srgbClr val="E2E5EA"/>
            </a:solidFill>
            <a:prstDash val="solid"/>
          </a:ln>
        </p:spPr>
      </p:sp>
      <p:sp>
        <p:nvSpPr>
          <p:cNvPr id="57" name="Icono key-round"/>
          <p:cNvSpPr/>
          <p:nvPr/>
        </p:nvSpPr>
        <p:spPr>
          <a:xfrm>
            <a:off x="1124499" y="4448247"/>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2350"/>
            </a:solidFill>
            <a:prstDash val="solid"/>
            <a:round/>
          </a:ln>
        </p:spPr>
      </p:sp>
      <p:sp>
        <p:nvSpPr>
          <p:cNvPr id="58" name="Text 56"/>
          <p:cNvSpPr/>
          <p:nvPr/>
        </p:nvSpPr>
        <p:spPr>
          <a:xfrm>
            <a:off x="1545123" y="425642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Secret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arka-postgres</a:t>
            </a:r>
            <a:endParaRPr lang="en-US" sz="1079" dirty="0"/>
          </a:p>
        </p:txBody>
      </p:sp>
      <p:sp>
        <p:nvSpPr>
          <p:cNvPr id="59" name="Shape 57"/>
          <p:cNvSpPr/>
          <p:nvPr/>
        </p:nvSpPr>
        <p:spPr>
          <a:xfrm>
            <a:off x="3719794" y="4256425"/>
            <a:ext cx="2010507"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3811234" y="4393383"/>
            <a:ext cx="420624" cy="420624"/>
          </a:xfrm>
          <a:prstGeom prst="ellipse">
            <a:avLst/>
          </a:prstGeom>
          <a:solidFill>
            <a:srgbClr val="E8EBEE"/>
          </a:solidFill>
          <a:ln w="12700">
            <a:solidFill>
              <a:srgbClr val="E8EBEE"/>
            </a:solidFill>
            <a:prstDash val="solid"/>
          </a:ln>
        </p:spPr>
      </p:sp>
      <p:sp>
        <p:nvSpPr>
          <p:cNvPr id="61" name="Icono hard-drive"/>
          <p:cNvSpPr/>
          <p:nvPr/>
        </p:nvSpPr>
        <p:spPr>
          <a:xfrm>
            <a:off x="3866098" y="4448247"/>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3D5675"/>
            </a:solidFill>
            <a:prstDash val="solid"/>
            <a:round/>
          </a:ln>
        </p:spPr>
      </p:sp>
      <p:sp>
        <p:nvSpPr>
          <p:cNvPr id="62" name="Text 60"/>
          <p:cNvSpPr/>
          <p:nvPr/>
        </p:nvSpPr>
        <p:spPr>
          <a:xfrm>
            <a:off x="4286722" y="425642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PVC</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arka-postgres-data · 1Gi</a:t>
            </a:r>
            <a:endParaRPr lang="en-US" sz="1079" dirty="0"/>
          </a:p>
        </p:txBody>
      </p:sp>
      <p:sp>
        <p:nvSpPr>
          <p:cNvPr id="63" name="Shape 61"/>
          <p:cNvSpPr/>
          <p:nvPr/>
        </p:nvSpPr>
        <p:spPr>
          <a:xfrm>
            <a:off x="6278621" y="4256425"/>
            <a:ext cx="2193280" cy="694539"/>
          </a:xfrm>
          <a:prstGeom prst="roundRect">
            <a:avLst>
              <a:gd name="adj" fmla="val 11849"/>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6370061" y="4393383"/>
            <a:ext cx="420624" cy="420624"/>
          </a:xfrm>
          <a:prstGeom prst="ellipse">
            <a:avLst/>
          </a:prstGeom>
          <a:solidFill>
            <a:srgbClr val="E8EBEE"/>
          </a:solidFill>
          <a:ln w="12700">
            <a:solidFill>
              <a:srgbClr val="E8EBEE"/>
            </a:solidFill>
            <a:prstDash val="solid"/>
          </a:ln>
        </p:spPr>
      </p:sp>
      <p:sp>
        <p:nvSpPr>
          <p:cNvPr id="65" name="Icono database"/>
          <p:cNvSpPr/>
          <p:nvPr/>
        </p:nvSpPr>
        <p:spPr>
          <a:xfrm>
            <a:off x="6424925" y="4448247"/>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66" name="Text 64"/>
          <p:cNvSpPr/>
          <p:nvPr/>
        </p:nvSpPr>
        <p:spPr>
          <a:xfrm>
            <a:off x="6845549" y="4256425"/>
            <a:ext cx="1571488"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Pod db-solicitudes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postgres:17</a:t>
            </a:r>
            <a:endParaRPr lang="en-US" sz="1079" dirty="0"/>
          </a:p>
        </p:txBody>
      </p:sp>
      <p:sp>
        <p:nvSpPr>
          <p:cNvPr id="67" name="Shape 65"/>
          <p:cNvSpPr/>
          <p:nvPr/>
        </p:nvSpPr>
        <p:spPr>
          <a:xfrm>
            <a:off x="9202994" y="4256425"/>
            <a:ext cx="2010507"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8" name="Shape 66"/>
          <p:cNvSpPr/>
          <p:nvPr/>
        </p:nvSpPr>
        <p:spPr>
          <a:xfrm>
            <a:off x="9294434" y="4393383"/>
            <a:ext cx="420624" cy="420624"/>
          </a:xfrm>
          <a:prstGeom prst="ellipse">
            <a:avLst/>
          </a:prstGeom>
          <a:solidFill>
            <a:srgbClr val="E2E5EA"/>
          </a:solidFill>
          <a:ln w="12700">
            <a:solidFill>
              <a:srgbClr val="E2E5EA"/>
            </a:solidFill>
            <a:prstDash val="solid"/>
          </a:ln>
        </p:spPr>
      </p:sp>
      <p:sp>
        <p:nvSpPr>
          <p:cNvPr id="69" name="Icono link"/>
          <p:cNvSpPr/>
          <p:nvPr/>
        </p:nvSpPr>
        <p:spPr>
          <a:xfrm>
            <a:off x="9349298" y="4448247"/>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70" name="Text 68"/>
          <p:cNvSpPr/>
          <p:nvPr/>
        </p:nvSpPr>
        <p:spPr>
          <a:xfrm>
            <a:off x="9769922" y="4256425"/>
            <a:ext cx="1388715"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Service db-solicitudes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5432</a:t>
            </a:r>
            <a:endParaRPr lang="en-US" sz="1079" dirty="0"/>
          </a:p>
        </p:txBody>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contenedor al clúster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despliegue local</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bash construir.sh           </a:t>
            </a:r>
            <a:pPr indent="0" marL="0">
              <a:lnSpc>
                <a:spcPct val="110000"/>
              </a:lnSpc>
              <a:buNone/>
            </a:pPr>
            <a:r>
              <a:rPr lang="en-US" sz="2000" i="1" dirty="0">
                <a:solidFill>
                  <a:srgbClr val="8FA2BF"/>
                </a:solidFill>
                <a:latin typeface="Consolas" pitchFamily="34" charset="0"/>
                <a:ea typeface="Consolas" pitchFamily="34" charset="-122"/>
                <a:cs typeface="Consolas" pitchFamily="34" charset="-120"/>
              </a:rPr>
              <a:t># imágenes de los 3 componentes</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apply -f k8s/</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get pods,svc,pvc</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port-forward svc/arka-lite-ui </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8088</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8080</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47625">
            <a:solidFill>
              <a:srgbClr val="2BA6CB"/>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31750">
            <a:solidFill>
              <a:srgbClr val="CBD5E3"/>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31750">
            <a:solidFill>
              <a:srgbClr val="CBD5E3"/>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22860">
            <a:solidFill>
              <a:srgbClr val="CBD5E3"/>
            </a:solidFill>
            <a:prstDash val="lgDash"/>
          </a:ln>
        </p:spPr>
      </p:sp>
      <p:sp>
        <p:nvSpPr>
          <p:cNvPr id="15" name="Shape 13"/>
          <p:cNvSpPr/>
          <p:nvPr/>
        </p:nvSpPr>
        <p:spPr>
          <a:xfrm>
            <a:off x="2392528" y="2944368"/>
            <a:ext cx="4526280" cy="0"/>
          </a:xfrm>
          <a:prstGeom prst="line">
            <a:avLst/>
          </a:prstGeom>
          <a:noFill/>
          <a:ln w="22860">
            <a:solidFill>
              <a:srgbClr val="CBD5E3"/>
            </a:solidFill>
            <a:prstDash val="lgDash"/>
          </a:ln>
        </p:spPr>
      </p:sp>
      <p:sp>
        <p:nvSpPr>
          <p:cNvPr id="16" name="Shape 14"/>
          <p:cNvSpPr/>
          <p:nvPr/>
        </p:nvSpPr>
        <p:spPr>
          <a:xfrm flipV="1">
            <a:off x="6918808" y="2335378"/>
            <a:ext cx="0" cy="608990"/>
          </a:xfrm>
          <a:prstGeom prst="line">
            <a:avLst/>
          </a:prstGeom>
          <a:noFill/>
          <a:ln w="22860">
            <a:solidFill>
              <a:srgbClr val="CBD5E3"/>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22860">
            <a:solidFill>
              <a:srgbClr val="CBD5E3"/>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22860">
            <a:solidFill>
              <a:srgbClr val="CBD5E3"/>
            </a:solidFill>
            <a:prstDash val="lgDash"/>
          </a:ln>
        </p:spPr>
      </p:sp>
      <p:sp>
        <p:nvSpPr>
          <p:cNvPr id="23" name="Shape 21"/>
          <p:cNvSpPr/>
          <p:nvPr/>
        </p:nvSpPr>
        <p:spPr>
          <a:xfrm>
            <a:off x="2392528" y="4754880"/>
            <a:ext cx="4855464" cy="0"/>
          </a:xfrm>
          <a:prstGeom prst="line">
            <a:avLst/>
          </a:prstGeom>
          <a:noFill/>
          <a:ln w="22860">
            <a:solidFill>
              <a:srgbClr val="CBD5E3"/>
            </a:solidFill>
            <a:prstDash val="lgDash"/>
          </a:ln>
        </p:spPr>
      </p:sp>
      <p:sp>
        <p:nvSpPr>
          <p:cNvPr id="24" name="Shape 22"/>
          <p:cNvSpPr/>
          <p:nvPr/>
        </p:nvSpPr>
        <p:spPr>
          <a:xfrm flipV="1">
            <a:off x="7247992" y="4063594"/>
            <a:ext cx="0" cy="691286"/>
          </a:xfrm>
          <a:prstGeom prst="line">
            <a:avLst/>
          </a:prstGeom>
          <a:noFill/>
          <a:ln w="22860">
            <a:solidFill>
              <a:srgbClr val="CBD5E3"/>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31750">
            <a:solidFill>
              <a:srgbClr val="CBD5E3"/>
            </a:solidFill>
            <a:prstDash val="solid"/>
          </a:ln>
        </p:spPr>
      </p:sp>
      <p:sp>
        <p:nvSpPr>
          <p:cNvPr id="28" name="Shape 26"/>
          <p:cNvSpPr/>
          <p:nvPr/>
        </p:nvSpPr>
        <p:spPr>
          <a:xfrm>
            <a:off x="7741768" y="2944368"/>
            <a:ext cx="2057400" cy="0"/>
          </a:xfrm>
          <a:prstGeom prst="line">
            <a:avLst/>
          </a:prstGeom>
          <a:noFill/>
          <a:ln w="31750">
            <a:solidFill>
              <a:srgbClr val="CBD5E3"/>
            </a:solidFill>
            <a:prstDash val="solid"/>
          </a:ln>
        </p:spPr>
      </p:sp>
      <p:sp>
        <p:nvSpPr>
          <p:cNvPr id="29" name="Shape 27"/>
          <p:cNvSpPr/>
          <p:nvPr/>
        </p:nvSpPr>
        <p:spPr>
          <a:xfrm>
            <a:off x="9799168" y="2944368"/>
            <a:ext cx="0" cy="493776"/>
          </a:xfrm>
          <a:prstGeom prst="line">
            <a:avLst/>
          </a:prstGeom>
          <a:noFill/>
          <a:ln w="31750">
            <a:solidFill>
              <a:srgbClr val="CBD5E3"/>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31750">
            <a:solidFill>
              <a:srgbClr val="CBD5E3"/>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1578712" y="1812341"/>
            <a:ext cx="420624" cy="420624"/>
          </a:xfrm>
          <a:prstGeom prst="ellipse">
            <a:avLst/>
          </a:prstGeom>
          <a:solidFill>
            <a:srgbClr val="E3F4FA"/>
          </a:solidFill>
          <a:ln w="12700">
            <a:solidFill>
              <a:srgbClr val="E3F4F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6E8A"/>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0" name="Shape 38"/>
          <p:cNvSpPr/>
          <p:nvPr/>
        </p:nvSpPr>
        <p:spPr>
          <a:xfrm>
            <a:off x="4047592" y="1812341"/>
            <a:ext cx="420624" cy="420624"/>
          </a:xfrm>
          <a:prstGeom prst="ellipse">
            <a:avLst/>
          </a:prstGeom>
          <a:solidFill>
            <a:srgbClr val="E3F4FA"/>
          </a:solidFill>
          <a:ln w="12700">
            <a:solidFill>
              <a:srgbClr val="E3F4F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6E8A"/>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12700">
            <a:solidFill>
              <a:srgbClr val="D5DDE8"/>
            </a:solidFill>
            <a:prstDash val="solid"/>
          </a:ln>
        </p:spPr>
      </p:sp>
      <p:sp>
        <p:nvSpPr>
          <p:cNvPr id="44" name="Shape 42"/>
          <p:cNvSpPr/>
          <p:nvPr/>
        </p:nvSpPr>
        <p:spPr>
          <a:xfrm>
            <a:off x="6351880" y="1812341"/>
            <a:ext cx="420624" cy="420624"/>
          </a:xfrm>
          <a:prstGeom prst="ellipse">
            <a:avLst/>
          </a:prstGeom>
          <a:solidFill>
            <a:srgbClr val="EEF2F7"/>
          </a:solidFill>
          <a:ln w="12700">
            <a:solidFill>
              <a:srgbClr val="EEF2F7"/>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A9B4C6"/>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12700">
            <a:solidFill>
              <a:srgbClr val="D5DDE8"/>
            </a:solidFill>
            <a:prstDash val="solid"/>
          </a:ln>
        </p:spPr>
      </p:sp>
      <p:sp>
        <p:nvSpPr>
          <p:cNvPr id="48" name="Shape 46"/>
          <p:cNvSpPr/>
          <p:nvPr/>
        </p:nvSpPr>
        <p:spPr>
          <a:xfrm>
            <a:off x="8985352" y="1812341"/>
            <a:ext cx="420624" cy="420624"/>
          </a:xfrm>
          <a:prstGeom prst="ellipse">
            <a:avLst/>
          </a:prstGeom>
          <a:solidFill>
            <a:srgbClr val="EEF2F7"/>
          </a:solidFill>
          <a:ln w="12700">
            <a:solidFill>
              <a:srgbClr val="EEF2F7"/>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BFCFE"/>
          </a:solidFill>
          <a:ln w="12700">
            <a:solidFill>
              <a:srgbClr val="D5DDE8"/>
            </a:solidFill>
            <a:prstDash val="solid"/>
          </a:ln>
        </p:spPr>
      </p:sp>
      <p:sp>
        <p:nvSpPr>
          <p:cNvPr id="52" name="Shape 50"/>
          <p:cNvSpPr/>
          <p:nvPr/>
        </p:nvSpPr>
        <p:spPr>
          <a:xfrm>
            <a:off x="1578712" y="3540557"/>
            <a:ext cx="420624" cy="420624"/>
          </a:xfrm>
          <a:prstGeom prst="ellipse">
            <a:avLst/>
          </a:prstGeom>
          <a:solidFill>
            <a:srgbClr val="EEF2F7"/>
          </a:solidFill>
          <a:ln w="12700">
            <a:solidFill>
              <a:srgbClr val="EEF2F7"/>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A9B4C6"/>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3F6FA"/>
          </a:solidFill>
          <a:ln w="12700">
            <a:solidFill>
              <a:srgbClr val="D5DDE8"/>
            </a:solidFill>
            <a:prstDash val="solid"/>
          </a:ln>
        </p:spPr>
      </p:sp>
      <p:sp>
        <p:nvSpPr>
          <p:cNvPr id="56" name="Shape 54"/>
          <p:cNvSpPr/>
          <p:nvPr/>
        </p:nvSpPr>
        <p:spPr>
          <a:xfrm>
            <a:off x="4047592" y="3540557"/>
            <a:ext cx="420624" cy="420624"/>
          </a:xfrm>
          <a:prstGeom prst="ellipse">
            <a:avLst/>
          </a:prstGeom>
          <a:solidFill>
            <a:srgbClr val="EEF2F7"/>
          </a:solidFill>
          <a:ln w="12700">
            <a:solidFill>
              <a:srgbClr val="EEF2F7"/>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A9B4C6"/>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3F6FA"/>
          </a:solidFill>
          <a:ln w="12700">
            <a:solidFill>
              <a:srgbClr val="D5DDE8"/>
            </a:solidFill>
            <a:prstDash val="solid"/>
          </a:ln>
        </p:spPr>
      </p:sp>
      <p:sp>
        <p:nvSpPr>
          <p:cNvPr id="60" name="Shape 58"/>
          <p:cNvSpPr/>
          <p:nvPr/>
        </p:nvSpPr>
        <p:spPr>
          <a:xfrm>
            <a:off x="6351880" y="3540557"/>
            <a:ext cx="420624" cy="420624"/>
          </a:xfrm>
          <a:prstGeom prst="ellipse">
            <a:avLst/>
          </a:prstGeom>
          <a:solidFill>
            <a:srgbClr val="EEF2F7"/>
          </a:solidFill>
          <a:ln w="12700">
            <a:solidFill>
              <a:srgbClr val="EEF2F7"/>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12700">
            <a:solidFill>
              <a:srgbClr val="D5DDE8"/>
            </a:solidFill>
            <a:prstDash val="solid"/>
          </a:ln>
        </p:spPr>
      </p:sp>
      <p:sp>
        <p:nvSpPr>
          <p:cNvPr id="64" name="Shape 62"/>
          <p:cNvSpPr/>
          <p:nvPr/>
        </p:nvSpPr>
        <p:spPr>
          <a:xfrm>
            <a:off x="8985352" y="3540557"/>
            <a:ext cx="420624" cy="420624"/>
          </a:xfrm>
          <a:prstGeom prst="ellipse">
            <a:avLst/>
          </a:prstGeom>
          <a:solidFill>
            <a:srgbClr val="EEF2F7"/>
          </a:solidFill>
          <a:ln w="12700">
            <a:solidFill>
              <a:srgbClr val="EEF2F7"/>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Declaramos un Deployment: qué imagen usar y cuántas copias queremos.</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Kubernetes mantiene ese número de copias. Si una falta, crea otra.</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31750">
            <a:solidFill>
              <a:srgbClr val="55627E"/>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47625">
            <a:solidFill>
              <a:srgbClr val="2BA6CB"/>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47625">
            <a:solidFill>
              <a:srgbClr val="2BA6CB"/>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22860">
            <a:solidFill>
              <a:srgbClr val="CBD5E3"/>
            </a:solidFill>
            <a:prstDash val="lgDash"/>
          </a:ln>
        </p:spPr>
      </p:sp>
      <p:sp>
        <p:nvSpPr>
          <p:cNvPr id="15" name="Shape 13"/>
          <p:cNvSpPr/>
          <p:nvPr/>
        </p:nvSpPr>
        <p:spPr>
          <a:xfrm>
            <a:off x="2392528" y="2944368"/>
            <a:ext cx="4526280" cy="0"/>
          </a:xfrm>
          <a:prstGeom prst="line">
            <a:avLst/>
          </a:prstGeom>
          <a:noFill/>
          <a:ln w="22860">
            <a:solidFill>
              <a:srgbClr val="CBD5E3"/>
            </a:solidFill>
            <a:prstDash val="lgDash"/>
          </a:ln>
        </p:spPr>
      </p:sp>
      <p:sp>
        <p:nvSpPr>
          <p:cNvPr id="16" name="Shape 14"/>
          <p:cNvSpPr/>
          <p:nvPr/>
        </p:nvSpPr>
        <p:spPr>
          <a:xfrm flipV="1">
            <a:off x="6918808" y="2335378"/>
            <a:ext cx="0" cy="608990"/>
          </a:xfrm>
          <a:prstGeom prst="line">
            <a:avLst/>
          </a:prstGeom>
          <a:noFill/>
          <a:ln w="22860">
            <a:solidFill>
              <a:srgbClr val="CBD5E3"/>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22860">
            <a:solidFill>
              <a:srgbClr val="CBD5E3"/>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22860">
            <a:solidFill>
              <a:srgbClr val="CBD5E3"/>
            </a:solidFill>
            <a:prstDash val="lgDash"/>
          </a:ln>
        </p:spPr>
      </p:sp>
      <p:sp>
        <p:nvSpPr>
          <p:cNvPr id="23" name="Shape 21"/>
          <p:cNvSpPr/>
          <p:nvPr/>
        </p:nvSpPr>
        <p:spPr>
          <a:xfrm>
            <a:off x="2392528" y="4754880"/>
            <a:ext cx="4855464" cy="0"/>
          </a:xfrm>
          <a:prstGeom prst="line">
            <a:avLst/>
          </a:prstGeom>
          <a:noFill/>
          <a:ln w="22860">
            <a:solidFill>
              <a:srgbClr val="CBD5E3"/>
            </a:solidFill>
            <a:prstDash val="lgDash"/>
          </a:ln>
        </p:spPr>
      </p:sp>
      <p:sp>
        <p:nvSpPr>
          <p:cNvPr id="24" name="Shape 22"/>
          <p:cNvSpPr/>
          <p:nvPr/>
        </p:nvSpPr>
        <p:spPr>
          <a:xfrm flipV="1">
            <a:off x="7247992" y="4063594"/>
            <a:ext cx="0" cy="691286"/>
          </a:xfrm>
          <a:prstGeom prst="line">
            <a:avLst/>
          </a:prstGeom>
          <a:noFill/>
          <a:ln w="22860">
            <a:solidFill>
              <a:srgbClr val="CBD5E3"/>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31750">
            <a:solidFill>
              <a:srgbClr val="CBD5E3"/>
            </a:solidFill>
            <a:prstDash val="solid"/>
          </a:ln>
        </p:spPr>
      </p:sp>
      <p:sp>
        <p:nvSpPr>
          <p:cNvPr id="28" name="Shape 26"/>
          <p:cNvSpPr/>
          <p:nvPr/>
        </p:nvSpPr>
        <p:spPr>
          <a:xfrm>
            <a:off x="7741768" y="2944368"/>
            <a:ext cx="2057400" cy="0"/>
          </a:xfrm>
          <a:prstGeom prst="line">
            <a:avLst/>
          </a:prstGeom>
          <a:noFill/>
          <a:ln w="31750">
            <a:solidFill>
              <a:srgbClr val="CBD5E3"/>
            </a:solidFill>
            <a:prstDash val="solid"/>
          </a:ln>
        </p:spPr>
      </p:sp>
      <p:sp>
        <p:nvSpPr>
          <p:cNvPr id="29" name="Shape 27"/>
          <p:cNvSpPr/>
          <p:nvPr/>
        </p:nvSpPr>
        <p:spPr>
          <a:xfrm>
            <a:off x="9799168" y="2944368"/>
            <a:ext cx="0" cy="493776"/>
          </a:xfrm>
          <a:prstGeom prst="line">
            <a:avLst/>
          </a:prstGeom>
          <a:noFill/>
          <a:ln w="31750">
            <a:solidFill>
              <a:srgbClr val="CBD5E3"/>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31750">
            <a:solidFill>
              <a:srgbClr val="CBD5E3"/>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578712" y="1812341"/>
            <a:ext cx="420624" cy="420624"/>
          </a:xfrm>
          <a:prstGeom prst="ellipse">
            <a:avLst/>
          </a:prstGeom>
          <a:solidFill>
            <a:srgbClr val="E2E5EA"/>
          </a:solidFill>
          <a:ln w="12700">
            <a:solidFill>
              <a:srgbClr val="E2E5E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4047592" y="1812341"/>
            <a:ext cx="420624" cy="420624"/>
          </a:xfrm>
          <a:prstGeom prst="ellipse">
            <a:avLst/>
          </a:prstGeom>
          <a:solidFill>
            <a:srgbClr val="E2E5EA"/>
          </a:solidFill>
          <a:ln w="12700">
            <a:solidFill>
              <a:srgbClr val="E2E5E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4" name="Shape 42"/>
          <p:cNvSpPr/>
          <p:nvPr/>
        </p:nvSpPr>
        <p:spPr>
          <a:xfrm>
            <a:off x="6351880" y="1812341"/>
            <a:ext cx="420624" cy="420624"/>
          </a:xfrm>
          <a:prstGeom prst="ellipse">
            <a:avLst/>
          </a:prstGeom>
          <a:solidFill>
            <a:srgbClr val="E3F4FA"/>
          </a:solidFill>
          <a:ln w="12700">
            <a:solidFill>
              <a:srgbClr val="E3F4F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6E8A"/>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8" name="Shape 46"/>
          <p:cNvSpPr/>
          <p:nvPr/>
        </p:nvSpPr>
        <p:spPr>
          <a:xfrm>
            <a:off x="8985352" y="1812341"/>
            <a:ext cx="420624" cy="420624"/>
          </a:xfrm>
          <a:prstGeom prst="ellipse">
            <a:avLst/>
          </a:prstGeom>
          <a:solidFill>
            <a:srgbClr val="E3F4FA"/>
          </a:solidFill>
          <a:ln w="12700">
            <a:solidFill>
              <a:srgbClr val="E3F4FA"/>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6E8A"/>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BFCFE"/>
          </a:solidFill>
          <a:ln w="12700">
            <a:solidFill>
              <a:srgbClr val="D5DDE8"/>
            </a:solidFill>
            <a:prstDash val="solid"/>
          </a:ln>
        </p:spPr>
      </p:sp>
      <p:sp>
        <p:nvSpPr>
          <p:cNvPr id="52" name="Shape 50"/>
          <p:cNvSpPr/>
          <p:nvPr/>
        </p:nvSpPr>
        <p:spPr>
          <a:xfrm>
            <a:off x="1578712" y="3540557"/>
            <a:ext cx="420624" cy="420624"/>
          </a:xfrm>
          <a:prstGeom prst="ellipse">
            <a:avLst/>
          </a:prstGeom>
          <a:solidFill>
            <a:srgbClr val="EEF2F7"/>
          </a:solidFill>
          <a:ln w="12700">
            <a:solidFill>
              <a:srgbClr val="EEF2F7"/>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A9B4C6"/>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3F6FA"/>
          </a:solidFill>
          <a:ln w="12700">
            <a:solidFill>
              <a:srgbClr val="D5DDE8"/>
            </a:solidFill>
            <a:prstDash val="solid"/>
          </a:ln>
        </p:spPr>
      </p:sp>
      <p:sp>
        <p:nvSpPr>
          <p:cNvPr id="56" name="Shape 54"/>
          <p:cNvSpPr/>
          <p:nvPr/>
        </p:nvSpPr>
        <p:spPr>
          <a:xfrm>
            <a:off x="4047592" y="3540557"/>
            <a:ext cx="420624" cy="420624"/>
          </a:xfrm>
          <a:prstGeom prst="ellipse">
            <a:avLst/>
          </a:prstGeom>
          <a:solidFill>
            <a:srgbClr val="EEF2F7"/>
          </a:solidFill>
          <a:ln w="12700">
            <a:solidFill>
              <a:srgbClr val="EEF2F7"/>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A9B4C6"/>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3F6FA"/>
          </a:solidFill>
          <a:ln w="12700">
            <a:solidFill>
              <a:srgbClr val="D5DDE8"/>
            </a:solidFill>
            <a:prstDash val="solid"/>
          </a:ln>
        </p:spPr>
      </p:sp>
      <p:sp>
        <p:nvSpPr>
          <p:cNvPr id="60" name="Shape 58"/>
          <p:cNvSpPr/>
          <p:nvPr/>
        </p:nvSpPr>
        <p:spPr>
          <a:xfrm>
            <a:off x="6351880" y="3540557"/>
            <a:ext cx="420624" cy="420624"/>
          </a:xfrm>
          <a:prstGeom prst="ellipse">
            <a:avLst/>
          </a:prstGeom>
          <a:solidFill>
            <a:srgbClr val="EEF2F7"/>
          </a:solidFill>
          <a:ln w="12700">
            <a:solidFill>
              <a:srgbClr val="EEF2F7"/>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12700">
            <a:solidFill>
              <a:srgbClr val="D5DDE8"/>
            </a:solidFill>
            <a:prstDash val="solid"/>
          </a:ln>
        </p:spPr>
      </p:sp>
      <p:sp>
        <p:nvSpPr>
          <p:cNvPr id="64" name="Shape 62"/>
          <p:cNvSpPr/>
          <p:nvPr/>
        </p:nvSpPr>
        <p:spPr>
          <a:xfrm>
            <a:off x="8985352" y="3540557"/>
            <a:ext cx="420624" cy="420624"/>
          </a:xfrm>
          <a:prstGeom prst="ellipse">
            <a:avLst/>
          </a:prstGeom>
          <a:solidFill>
            <a:srgbClr val="EEF2F7"/>
          </a:solidFill>
          <a:ln w="12700">
            <a:solidFill>
              <a:srgbClr val="EEF2F7"/>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copia corre en un Pod. Antes de arrancar, espera a la base y a notificaciones.</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Service da un nombre fijo y solo manda tráfico a los Pods listos.</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31750">
            <a:solidFill>
              <a:srgbClr val="55627E"/>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31750">
            <a:solidFill>
              <a:srgbClr val="55627E"/>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31750">
            <a:solidFill>
              <a:srgbClr val="2E6DB4"/>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38735">
            <a:solidFill>
              <a:srgbClr val="2BA6CB"/>
            </a:solidFill>
            <a:prstDash val="lgDash"/>
          </a:ln>
        </p:spPr>
      </p:sp>
      <p:sp>
        <p:nvSpPr>
          <p:cNvPr id="15" name="Shape 13"/>
          <p:cNvSpPr/>
          <p:nvPr/>
        </p:nvSpPr>
        <p:spPr>
          <a:xfrm>
            <a:off x="2392528" y="2944368"/>
            <a:ext cx="4526280" cy="0"/>
          </a:xfrm>
          <a:prstGeom prst="line">
            <a:avLst/>
          </a:prstGeom>
          <a:noFill/>
          <a:ln w="38735">
            <a:solidFill>
              <a:srgbClr val="2BA6CB"/>
            </a:solidFill>
            <a:prstDash val="lgDash"/>
          </a:ln>
        </p:spPr>
      </p:sp>
      <p:sp>
        <p:nvSpPr>
          <p:cNvPr id="16" name="Shape 14"/>
          <p:cNvSpPr/>
          <p:nvPr/>
        </p:nvSpPr>
        <p:spPr>
          <a:xfrm flipV="1">
            <a:off x="6918808" y="2335378"/>
            <a:ext cx="0" cy="608990"/>
          </a:xfrm>
          <a:prstGeom prst="line">
            <a:avLst/>
          </a:prstGeom>
          <a:noFill/>
          <a:ln w="38735">
            <a:solidFill>
              <a:srgbClr val="2BA6CB"/>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22860">
            <a:solidFill>
              <a:srgbClr val="CBD5E3"/>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38735">
            <a:solidFill>
              <a:srgbClr val="2BA6CB"/>
            </a:solidFill>
            <a:prstDash val="lgDash"/>
          </a:ln>
        </p:spPr>
      </p:sp>
      <p:sp>
        <p:nvSpPr>
          <p:cNvPr id="23" name="Shape 21"/>
          <p:cNvSpPr/>
          <p:nvPr/>
        </p:nvSpPr>
        <p:spPr>
          <a:xfrm>
            <a:off x="2392528" y="4754880"/>
            <a:ext cx="4855464" cy="0"/>
          </a:xfrm>
          <a:prstGeom prst="line">
            <a:avLst/>
          </a:prstGeom>
          <a:noFill/>
          <a:ln w="38735">
            <a:solidFill>
              <a:srgbClr val="2BA6CB"/>
            </a:solidFill>
            <a:prstDash val="lgDash"/>
          </a:ln>
        </p:spPr>
      </p:sp>
      <p:sp>
        <p:nvSpPr>
          <p:cNvPr id="24" name="Shape 22"/>
          <p:cNvSpPr/>
          <p:nvPr/>
        </p:nvSpPr>
        <p:spPr>
          <a:xfrm flipV="1">
            <a:off x="7247992" y="4063594"/>
            <a:ext cx="0" cy="691286"/>
          </a:xfrm>
          <a:prstGeom prst="line">
            <a:avLst/>
          </a:prstGeom>
          <a:noFill/>
          <a:ln w="38735">
            <a:solidFill>
              <a:srgbClr val="2BA6CB"/>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31750">
            <a:solidFill>
              <a:srgbClr val="CBD5E3"/>
            </a:solidFill>
            <a:prstDash val="solid"/>
          </a:ln>
        </p:spPr>
      </p:sp>
      <p:sp>
        <p:nvSpPr>
          <p:cNvPr id="28" name="Shape 26"/>
          <p:cNvSpPr/>
          <p:nvPr/>
        </p:nvSpPr>
        <p:spPr>
          <a:xfrm>
            <a:off x="7741768" y="2944368"/>
            <a:ext cx="2057400" cy="0"/>
          </a:xfrm>
          <a:prstGeom prst="line">
            <a:avLst/>
          </a:prstGeom>
          <a:noFill/>
          <a:ln w="31750">
            <a:solidFill>
              <a:srgbClr val="CBD5E3"/>
            </a:solidFill>
            <a:prstDash val="solid"/>
          </a:ln>
        </p:spPr>
      </p:sp>
      <p:sp>
        <p:nvSpPr>
          <p:cNvPr id="29" name="Shape 27"/>
          <p:cNvSpPr/>
          <p:nvPr/>
        </p:nvSpPr>
        <p:spPr>
          <a:xfrm>
            <a:off x="9799168" y="2944368"/>
            <a:ext cx="0" cy="493776"/>
          </a:xfrm>
          <a:prstGeom prst="line">
            <a:avLst/>
          </a:prstGeom>
          <a:noFill/>
          <a:ln w="31750">
            <a:solidFill>
              <a:srgbClr val="CBD5E3"/>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31750">
            <a:solidFill>
              <a:srgbClr val="CBD5E3"/>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578712" y="1812341"/>
            <a:ext cx="420624" cy="420624"/>
          </a:xfrm>
          <a:prstGeom prst="ellipse">
            <a:avLst/>
          </a:prstGeom>
          <a:solidFill>
            <a:srgbClr val="E2E5EA"/>
          </a:solidFill>
          <a:ln w="12700">
            <a:solidFill>
              <a:srgbClr val="E2E5E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4047592" y="1812341"/>
            <a:ext cx="420624" cy="420624"/>
          </a:xfrm>
          <a:prstGeom prst="ellipse">
            <a:avLst/>
          </a:prstGeom>
          <a:solidFill>
            <a:srgbClr val="E2E5EA"/>
          </a:solidFill>
          <a:ln w="12700">
            <a:solidFill>
              <a:srgbClr val="E2E5E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6351880" y="1812341"/>
            <a:ext cx="420624" cy="420624"/>
          </a:xfrm>
          <a:prstGeom prst="ellipse">
            <a:avLst/>
          </a:prstGeom>
          <a:solidFill>
            <a:srgbClr val="E2E5EA"/>
          </a:solidFill>
          <a:ln w="12700">
            <a:solidFill>
              <a:srgbClr val="E2E5E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8985352" y="1812341"/>
            <a:ext cx="420624" cy="420624"/>
          </a:xfrm>
          <a:prstGeom prst="ellipse">
            <a:avLst/>
          </a:prstGeom>
          <a:solidFill>
            <a:srgbClr val="E2E5EA"/>
          </a:solidFill>
          <a:ln w="12700">
            <a:solidFill>
              <a:srgbClr val="E2E5EA"/>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2" name="Shape 50"/>
          <p:cNvSpPr/>
          <p:nvPr/>
        </p:nvSpPr>
        <p:spPr>
          <a:xfrm>
            <a:off x="1578712" y="3540557"/>
            <a:ext cx="420624" cy="420624"/>
          </a:xfrm>
          <a:prstGeom prst="ellipse">
            <a:avLst/>
          </a:prstGeom>
          <a:solidFill>
            <a:srgbClr val="E3F4FA"/>
          </a:solidFill>
          <a:ln w="12700">
            <a:solidFill>
              <a:srgbClr val="E3F4FA"/>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6E8A"/>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3F6FA"/>
          </a:solidFill>
          <a:ln w="12700">
            <a:solidFill>
              <a:srgbClr val="D5DDE8"/>
            </a:solidFill>
            <a:prstDash val="solid"/>
          </a:ln>
        </p:spPr>
      </p:sp>
      <p:sp>
        <p:nvSpPr>
          <p:cNvPr id="56" name="Shape 54"/>
          <p:cNvSpPr/>
          <p:nvPr/>
        </p:nvSpPr>
        <p:spPr>
          <a:xfrm>
            <a:off x="4047592" y="3540557"/>
            <a:ext cx="420624" cy="420624"/>
          </a:xfrm>
          <a:prstGeom prst="ellipse">
            <a:avLst/>
          </a:prstGeom>
          <a:solidFill>
            <a:srgbClr val="EEF2F7"/>
          </a:solidFill>
          <a:ln w="12700">
            <a:solidFill>
              <a:srgbClr val="EEF2F7"/>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A9B4C6"/>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3F6FA"/>
          </a:solidFill>
          <a:ln w="12700">
            <a:solidFill>
              <a:srgbClr val="D5DDE8"/>
            </a:solidFill>
            <a:prstDash val="solid"/>
          </a:ln>
        </p:spPr>
      </p:sp>
      <p:sp>
        <p:nvSpPr>
          <p:cNvPr id="60" name="Shape 58"/>
          <p:cNvSpPr/>
          <p:nvPr/>
        </p:nvSpPr>
        <p:spPr>
          <a:xfrm>
            <a:off x="6351880" y="3540557"/>
            <a:ext cx="420624" cy="420624"/>
          </a:xfrm>
          <a:prstGeom prst="ellipse">
            <a:avLst/>
          </a:prstGeom>
          <a:solidFill>
            <a:srgbClr val="EEF2F7"/>
          </a:solidFill>
          <a:ln w="12700">
            <a:solidFill>
              <a:srgbClr val="EEF2F7"/>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A9B4C6"/>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12700">
            <a:solidFill>
              <a:srgbClr val="D5DDE8"/>
            </a:solidFill>
            <a:prstDash val="solid"/>
          </a:ln>
        </p:spPr>
      </p:sp>
      <p:sp>
        <p:nvSpPr>
          <p:cNvPr id="64" name="Shape 62"/>
          <p:cNvSpPr/>
          <p:nvPr/>
        </p:nvSpPr>
        <p:spPr>
          <a:xfrm>
            <a:off x="8985352" y="3540557"/>
            <a:ext cx="420624" cy="420624"/>
          </a:xfrm>
          <a:prstGeom prst="ellipse">
            <a:avLst/>
          </a:prstGeom>
          <a:solidFill>
            <a:srgbClr val="EEF2F7"/>
          </a:solidFill>
          <a:ln w="12700">
            <a:solidFill>
              <a:srgbClr val="EEF2F7"/>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69" name="Text 6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Secret entrega la contraseña de la base sin escribirla en el código.</a:t>
            </a:r>
            <a:endParaRPr lang="en-US" sz="1300" dirty="0"/>
          </a:p>
        </p:txBody>
      </p:sp>
      <p:sp>
        <p:nvSpPr>
          <p:cNvPr id="70" name="Text 6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31750">
            <a:solidFill>
              <a:srgbClr val="55627E"/>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31750">
            <a:solidFill>
              <a:srgbClr val="55627E"/>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31750">
            <a:solidFill>
              <a:srgbClr val="2E6DB4"/>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22860">
            <a:solidFill>
              <a:srgbClr val="1F4E8C"/>
            </a:solidFill>
            <a:prstDash val="lgDash"/>
          </a:ln>
        </p:spPr>
      </p:sp>
      <p:sp>
        <p:nvSpPr>
          <p:cNvPr id="15" name="Shape 13"/>
          <p:cNvSpPr/>
          <p:nvPr/>
        </p:nvSpPr>
        <p:spPr>
          <a:xfrm>
            <a:off x="2392528" y="2944368"/>
            <a:ext cx="4526280" cy="0"/>
          </a:xfrm>
          <a:prstGeom prst="line">
            <a:avLst/>
          </a:prstGeom>
          <a:noFill/>
          <a:ln w="22860">
            <a:solidFill>
              <a:srgbClr val="1F4E8C"/>
            </a:solidFill>
            <a:prstDash val="lgDash"/>
          </a:ln>
        </p:spPr>
      </p:sp>
      <p:sp>
        <p:nvSpPr>
          <p:cNvPr id="16" name="Shape 14"/>
          <p:cNvSpPr/>
          <p:nvPr/>
        </p:nvSpPr>
        <p:spPr>
          <a:xfrm flipV="1">
            <a:off x="6918808" y="2335378"/>
            <a:ext cx="0" cy="608990"/>
          </a:xfrm>
          <a:prstGeom prst="line">
            <a:avLst/>
          </a:prstGeom>
          <a:noFill/>
          <a:ln w="22860">
            <a:solidFill>
              <a:srgbClr val="1F4E8C"/>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38735">
            <a:solidFill>
              <a:srgbClr val="2BA6CB"/>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22860">
            <a:solidFill>
              <a:srgbClr val="1F4E8C"/>
            </a:solidFill>
            <a:prstDash val="lgDash"/>
          </a:ln>
        </p:spPr>
      </p:sp>
      <p:sp>
        <p:nvSpPr>
          <p:cNvPr id="23" name="Shape 21"/>
          <p:cNvSpPr/>
          <p:nvPr/>
        </p:nvSpPr>
        <p:spPr>
          <a:xfrm>
            <a:off x="2392528" y="4754880"/>
            <a:ext cx="4855464" cy="0"/>
          </a:xfrm>
          <a:prstGeom prst="line">
            <a:avLst/>
          </a:prstGeom>
          <a:noFill/>
          <a:ln w="22860">
            <a:solidFill>
              <a:srgbClr val="1F4E8C"/>
            </a:solidFill>
            <a:prstDash val="lgDash"/>
          </a:ln>
        </p:spPr>
      </p:sp>
      <p:sp>
        <p:nvSpPr>
          <p:cNvPr id="24" name="Shape 22"/>
          <p:cNvSpPr/>
          <p:nvPr/>
        </p:nvSpPr>
        <p:spPr>
          <a:xfrm flipV="1">
            <a:off x="7247992" y="4063594"/>
            <a:ext cx="0" cy="691286"/>
          </a:xfrm>
          <a:prstGeom prst="line">
            <a:avLst/>
          </a:prstGeom>
          <a:noFill/>
          <a:ln w="22860">
            <a:solidFill>
              <a:srgbClr val="1F4E8C"/>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31750">
            <a:solidFill>
              <a:srgbClr val="CBD5E3"/>
            </a:solidFill>
            <a:prstDash val="solid"/>
          </a:ln>
        </p:spPr>
      </p:sp>
      <p:sp>
        <p:nvSpPr>
          <p:cNvPr id="28" name="Shape 26"/>
          <p:cNvSpPr/>
          <p:nvPr/>
        </p:nvSpPr>
        <p:spPr>
          <a:xfrm>
            <a:off x="7741768" y="2944368"/>
            <a:ext cx="2057400" cy="0"/>
          </a:xfrm>
          <a:prstGeom prst="line">
            <a:avLst/>
          </a:prstGeom>
          <a:noFill/>
          <a:ln w="31750">
            <a:solidFill>
              <a:srgbClr val="CBD5E3"/>
            </a:solidFill>
            <a:prstDash val="solid"/>
          </a:ln>
        </p:spPr>
      </p:sp>
      <p:sp>
        <p:nvSpPr>
          <p:cNvPr id="29" name="Shape 27"/>
          <p:cNvSpPr/>
          <p:nvPr/>
        </p:nvSpPr>
        <p:spPr>
          <a:xfrm>
            <a:off x="9799168" y="2944368"/>
            <a:ext cx="0" cy="493776"/>
          </a:xfrm>
          <a:prstGeom prst="line">
            <a:avLst/>
          </a:prstGeom>
          <a:noFill/>
          <a:ln w="31750">
            <a:solidFill>
              <a:srgbClr val="CBD5E3"/>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31750">
            <a:solidFill>
              <a:srgbClr val="CBD5E3"/>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9AA5B8"/>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00" b="1" dirty="0">
                <a:solidFill>
                  <a:srgbClr val="CBD5E3"/>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578712" y="1812341"/>
            <a:ext cx="420624" cy="420624"/>
          </a:xfrm>
          <a:prstGeom prst="ellipse">
            <a:avLst/>
          </a:prstGeom>
          <a:solidFill>
            <a:srgbClr val="E2E5EA"/>
          </a:solidFill>
          <a:ln w="12700">
            <a:solidFill>
              <a:srgbClr val="E2E5E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4047592" y="1812341"/>
            <a:ext cx="420624" cy="420624"/>
          </a:xfrm>
          <a:prstGeom prst="ellipse">
            <a:avLst/>
          </a:prstGeom>
          <a:solidFill>
            <a:srgbClr val="E2E5EA"/>
          </a:solidFill>
          <a:ln w="12700">
            <a:solidFill>
              <a:srgbClr val="E2E5E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6351880" y="1812341"/>
            <a:ext cx="420624" cy="420624"/>
          </a:xfrm>
          <a:prstGeom prst="ellipse">
            <a:avLst/>
          </a:prstGeom>
          <a:solidFill>
            <a:srgbClr val="E2E5EA"/>
          </a:solidFill>
          <a:ln w="12700">
            <a:solidFill>
              <a:srgbClr val="E2E5E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8985352" y="1812341"/>
            <a:ext cx="420624" cy="420624"/>
          </a:xfrm>
          <a:prstGeom prst="ellipse">
            <a:avLst/>
          </a:prstGeom>
          <a:solidFill>
            <a:srgbClr val="E2E5EA"/>
          </a:solidFill>
          <a:ln w="12700">
            <a:solidFill>
              <a:srgbClr val="E2E5EA"/>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1578712" y="3540557"/>
            <a:ext cx="420624" cy="420624"/>
          </a:xfrm>
          <a:prstGeom prst="ellipse">
            <a:avLst/>
          </a:prstGeom>
          <a:solidFill>
            <a:srgbClr val="E2E5EA"/>
          </a:solidFill>
          <a:ln w="12700">
            <a:solidFill>
              <a:srgbClr val="E2E5EA"/>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2350"/>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6" name="Shape 54"/>
          <p:cNvSpPr/>
          <p:nvPr/>
        </p:nvSpPr>
        <p:spPr>
          <a:xfrm>
            <a:off x="4047592" y="3540557"/>
            <a:ext cx="420624" cy="420624"/>
          </a:xfrm>
          <a:prstGeom prst="ellipse">
            <a:avLst/>
          </a:prstGeom>
          <a:solidFill>
            <a:srgbClr val="E3F4FA"/>
          </a:solidFill>
          <a:ln w="12700">
            <a:solidFill>
              <a:srgbClr val="E3F4FA"/>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0B6E8A"/>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6351880" y="3540557"/>
            <a:ext cx="420624" cy="420624"/>
          </a:xfrm>
          <a:prstGeom prst="ellipse">
            <a:avLst/>
          </a:prstGeom>
          <a:solidFill>
            <a:srgbClr val="E3F4FA"/>
          </a:solidFill>
          <a:ln w="12700">
            <a:solidFill>
              <a:srgbClr val="E3F4FA"/>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0B6E8A"/>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12700">
            <a:solidFill>
              <a:srgbClr val="D5DDE8"/>
            </a:solidFill>
            <a:prstDash val="solid"/>
          </a:ln>
        </p:spPr>
      </p:sp>
      <p:sp>
        <p:nvSpPr>
          <p:cNvPr id="64" name="Shape 62"/>
          <p:cNvSpPr/>
          <p:nvPr/>
        </p:nvSpPr>
        <p:spPr>
          <a:xfrm>
            <a:off x="8985352" y="3540557"/>
            <a:ext cx="420624" cy="420624"/>
          </a:xfrm>
          <a:prstGeom prst="ellipse">
            <a:avLst/>
          </a:prstGeom>
          <a:solidFill>
            <a:srgbClr val="EEF2F7"/>
          </a:solidFill>
          <a:ln w="12700">
            <a:solidFill>
              <a:srgbClr val="EEF2F7"/>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A9B4C6"/>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8A95AB"/>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9AA5B8"/>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69" name="Text 6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base guarda sus datos en un disco que sobrevive a los reinicios. Aun así, no es un respaldo.</a:t>
            </a:r>
            <a:endParaRPr lang="en-US" sz="1300" dirty="0"/>
          </a:p>
        </p:txBody>
      </p:sp>
      <p:sp>
        <p:nvSpPr>
          <p:cNvPr id="70" name="Text 6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297784" y="2022653"/>
            <a:ext cx="658368" cy="0"/>
          </a:xfrm>
          <a:prstGeom prst="line">
            <a:avLst/>
          </a:prstGeom>
          <a:noFill/>
          <a:ln w="31750">
            <a:solidFill>
              <a:srgbClr val="55627E"/>
            </a:solidFill>
            <a:prstDash val="sysDot"/>
            <a:tailEnd type="triangle"/>
          </a:ln>
        </p:spPr>
      </p:sp>
      <p:sp>
        <p:nvSpPr>
          <p:cNvPr id="6" name="Text 4"/>
          <p:cNvSpPr/>
          <p:nvPr/>
        </p:nvSpPr>
        <p:spPr>
          <a:xfrm>
            <a:off x="3438601" y="1793138"/>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85566"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2072" y="2022653"/>
            <a:ext cx="658368" cy="0"/>
          </a:xfrm>
          <a:prstGeom prst="line">
            <a:avLst/>
          </a:prstGeom>
          <a:noFill/>
          <a:ln w="31750">
            <a:solidFill>
              <a:srgbClr val="55627E"/>
            </a:solidFill>
            <a:prstDash val="sysDot"/>
            <a:tailEnd type="triangle"/>
          </a:ln>
        </p:spPr>
      </p:sp>
      <p:sp>
        <p:nvSpPr>
          <p:cNvPr id="9" name="Text 7"/>
          <p:cNvSpPr/>
          <p:nvPr/>
        </p:nvSpPr>
        <p:spPr>
          <a:xfrm>
            <a:off x="5618531" y="1793138"/>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89854" y="19129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35544" y="2022653"/>
            <a:ext cx="658368" cy="0"/>
          </a:xfrm>
          <a:prstGeom prst="line">
            <a:avLst/>
          </a:prstGeom>
          <a:noFill/>
          <a:ln w="31750">
            <a:solidFill>
              <a:srgbClr val="2E6DB4"/>
            </a:solidFill>
            <a:prstDash val="solid"/>
            <a:tailEnd type="triangle"/>
          </a:ln>
        </p:spPr>
      </p:sp>
      <p:sp>
        <p:nvSpPr>
          <p:cNvPr id="12" name="Text 10"/>
          <p:cNvSpPr/>
          <p:nvPr/>
        </p:nvSpPr>
        <p:spPr>
          <a:xfrm>
            <a:off x="8096555" y="1793138"/>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86673" y="19129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392528" y="2944368"/>
            <a:ext cx="0" cy="493776"/>
          </a:xfrm>
          <a:prstGeom prst="line">
            <a:avLst/>
          </a:prstGeom>
          <a:noFill/>
          <a:ln w="22860">
            <a:solidFill>
              <a:srgbClr val="1F4E8C"/>
            </a:solidFill>
            <a:prstDash val="lgDash"/>
          </a:ln>
        </p:spPr>
      </p:sp>
      <p:sp>
        <p:nvSpPr>
          <p:cNvPr id="15" name="Shape 13"/>
          <p:cNvSpPr/>
          <p:nvPr/>
        </p:nvSpPr>
        <p:spPr>
          <a:xfrm>
            <a:off x="2392528" y="2944368"/>
            <a:ext cx="4526280" cy="0"/>
          </a:xfrm>
          <a:prstGeom prst="line">
            <a:avLst/>
          </a:prstGeom>
          <a:noFill/>
          <a:ln w="22860">
            <a:solidFill>
              <a:srgbClr val="1F4E8C"/>
            </a:solidFill>
            <a:prstDash val="lgDash"/>
          </a:ln>
        </p:spPr>
      </p:sp>
      <p:sp>
        <p:nvSpPr>
          <p:cNvPr id="16" name="Shape 14"/>
          <p:cNvSpPr/>
          <p:nvPr/>
        </p:nvSpPr>
        <p:spPr>
          <a:xfrm flipV="1">
            <a:off x="6918808" y="2335378"/>
            <a:ext cx="0" cy="608990"/>
          </a:xfrm>
          <a:prstGeom prst="line">
            <a:avLst/>
          </a:prstGeom>
          <a:noFill/>
          <a:ln w="22860">
            <a:solidFill>
              <a:srgbClr val="1F4E8C"/>
            </a:solidFill>
            <a:prstDash val="lgDash"/>
            <a:tailEnd type="arrow"/>
          </a:ln>
        </p:spPr>
      </p:sp>
      <p:sp>
        <p:nvSpPr>
          <p:cNvPr id="17" name="Text 15"/>
          <p:cNvSpPr/>
          <p:nvPr/>
        </p:nvSpPr>
        <p:spPr>
          <a:xfrm>
            <a:off x="4249674" y="2714854"/>
            <a:ext cx="811987"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82800" y="313090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6664" y="3750869"/>
            <a:ext cx="493776" cy="0"/>
          </a:xfrm>
          <a:prstGeom prst="line">
            <a:avLst/>
          </a:prstGeom>
          <a:noFill/>
          <a:ln w="22860">
            <a:solidFill>
              <a:srgbClr val="1F4E8C"/>
            </a:solidFill>
            <a:prstDash val="lgDash"/>
            <a:tailEnd type="arrow"/>
          </a:ln>
        </p:spPr>
      </p:sp>
      <p:sp>
        <p:nvSpPr>
          <p:cNvPr id="20" name="Text 18"/>
          <p:cNvSpPr/>
          <p:nvPr/>
        </p:nvSpPr>
        <p:spPr>
          <a:xfrm>
            <a:off x="5731916" y="3521354"/>
            <a:ext cx="563270"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4446" y="364114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392528" y="4063594"/>
            <a:ext cx="0" cy="691286"/>
          </a:xfrm>
          <a:prstGeom prst="line">
            <a:avLst/>
          </a:prstGeom>
          <a:noFill/>
          <a:ln w="22860">
            <a:solidFill>
              <a:srgbClr val="1F4E8C"/>
            </a:solidFill>
            <a:prstDash val="lgDash"/>
          </a:ln>
        </p:spPr>
      </p:sp>
      <p:sp>
        <p:nvSpPr>
          <p:cNvPr id="23" name="Shape 21"/>
          <p:cNvSpPr/>
          <p:nvPr/>
        </p:nvSpPr>
        <p:spPr>
          <a:xfrm>
            <a:off x="2392528" y="4754880"/>
            <a:ext cx="4855464" cy="0"/>
          </a:xfrm>
          <a:prstGeom prst="line">
            <a:avLst/>
          </a:prstGeom>
          <a:noFill/>
          <a:ln w="22860">
            <a:solidFill>
              <a:srgbClr val="1F4E8C"/>
            </a:solidFill>
            <a:prstDash val="lgDash"/>
          </a:ln>
        </p:spPr>
      </p:sp>
      <p:sp>
        <p:nvSpPr>
          <p:cNvPr id="24" name="Shape 22"/>
          <p:cNvSpPr/>
          <p:nvPr/>
        </p:nvSpPr>
        <p:spPr>
          <a:xfrm flipV="1">
            <a:off x="7247992" y="4063594"/>
            <a:ext cx="0" cy="691286"/>
          </a:xfrm>
          <a:prstGeom prst="line">
            <a:avLst/>
          </a:prstGeom>
          <a:noFill/>
          <a:ln w="22860">
            <a:solidFill>
              <a:srgbClr val="1F4E8C"/>
            </a:solidFill>
            <a:prstDash val="lgDash"/>
            <a:tailEnd type="arrow"/>
          </a:ln>
        </p:spPr>
      </p:sp>
      <p:sp>
        <p:nvSpPr>
          <p:cNvPr id="25" name="Text 23"/>
          <p:cNvSpPr/>
          <p:nvPr/>
        </p:nvSpPr>
        <p:spPr>
          <a:xfrm>
            <a:off x="4227728" y="4755794"/>
            <a:ext cx="1185062"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82800" y="4151376"/>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41768" y="2335378"/>
            <a:ext cx="0" cy="608990"/>
          </a:xfrm>
          <a:prstGeom prst="line">
            <a:avLst/>
          </a:prstGeom>
          <a:noFill/>
          <a:ln w="47625">
            <a:solidFill>
              <a:srgbClr val="2BA6CB"/>
            </a:solidFill>
            <a:prstDash val="solid"/>
          </a:ln>
        </p:spPr>
      </p:sp>
      <p:sp>
        <p:nvSpPr>
          <p:cNvPr id="28" name="Shape 26"/>
          <p:cNvSpPr/>
          <p:nvPr/>
        </p:nvSpPr>
        <p:spPr>
          <a:xfrm>
            <a:off x="7741768" y="2944368"/>
            <a:ext cx="2057400" cy="0"/>
          </a:xfrm>
          <a:prstGeom prst="line">
            <a:avLst/>
          </a:prstGeom>
          <a:noFill/>
          <a:ln w="47625">
            <a:solidFill>
              <a:srgbClr val="2BA6CB"/>
            </a:solidFill>
            <a:prstDash val="solid"/>
          </a:ln>
        </p:spPr>
      </p:sp>
      <p:sp>
        <p:nvSpPr>
          <p:cNvPr id="29" name="Shape 27"/>
          <p:cNvSpPr/>
          <p:nvPr/>
        </p:nvSpPr>
        <p:spPr>
          <a:xfrm>
            <a:off x="9799168" y="2944368"/>
            <a:ext cx="0" cy="493776"/>
          </a:xfrm>
          <a:prstGeom prst="line">
            <a:avLst/>
          </a:prstGeom>
          <a:noFill/>
          <a:ln w="47625">
            <a:solidFill>
              <a:srgbClr val="2BA6CB"/>
            </a:solidFill>
            <a:prstDash val="solid"/>
            <a:tailEnd type="triangle"/>
          </a:ln>
        </p:spPr>
      </p:sp>
      <p:sp>
        <p:nvSpPr>
          <p:cNvPr id="30" name="Text 28"/>
          <p:cNvSpPr/>
          <p:nvPr/>
        </p:nvSpPr>
        <p:spPr>
          <a:xfrm>
            <a:off x="8582101" y="2714854"/>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32040" y="242316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35544" y="3750869"/>
            <a:ext cx="658368" cy="0"/>
          </a:xfrm>
          <a:prstGeom prst="line">
            <a:avLst/>
          </a:prstGeom>
          <a:noFill/>
          <a:ln w="47625">
            <a:solidFill>
              <a:srgbClr val="2BA6CB"/>
            </a:solidFill>
            <a:prstDash val="sysDot"/>
            <a:tailEnd type="triangle"/>
          </a:ln>
        </p:spPr>
      </p:sp>
      <p:sp>
        <p:nvSpPr>
          <p:cNvPr id="33" name="Text 31"/>
          <p:cNvSpPr/>
          <p:nvPr/>
        </p:nvSpPr>
        <p:spPr>
          <a:xfrm>
            <a:off x="8376361" y="3521354"/>
            <a:ext cx="376733" cy="192024"/>
          </a:xfrm>
          <a:prstGeom prst="rect">
            <a:avLst/>
          </a:prstGeom>
          <a:noFill/>
          <a:ln/>
        </p:spPr>
        <p:txBody>
          <a:bodyPr wrap="square" lIns="0" tIns="0" rIns="0" bIns="0" rtlCol="0" anchor="ctr"/>
          <a:lstStyle/>
          <a:p>
            <a:pPr algn="ctr" indent="0" marL="0">
              <a:buNone/>
            </a:pPr>
            <a:r>
              <a:rPr lang="en-US" sz="800" b="1" dirty="0">
                <a:solidFill>
                  <a:srgbClr val="0B6E8A"/>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86673" y="364114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148727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578712" y="1812341"/>
            <a:ext cx="420624" cy="420624"/>
          </a:xfrm>
          <a:prstGeom prst="ellipse">
            <a:avLst/>
          </a:prstGeom>
          <a:solidFill>
            <a:srgbClr val="E2E5EA"/>
          </a:solidFill>
          <a:ln w="12700">
            <a:solidFill>
              <a:srgbClr val="E2E5EA"/>
            </a:solidFill>
            <a:prstDash val="solid"/>
          </a:ln>
        </p:spPr>
      </p:sp>
      <p:sp>
        <p:nvSpPr>
          <p:cNvPr id="37" name="Icono layers"/>
          <p:cNvSpPr/>
          <p:nvPr/>
        </p:nvSpPr>
        <p:spPr>
          <a:xfrm>
            <a:off x="1633576" y="1867205"/>
            <a:ext cx="310896" cy="310896"/>
          </a:xfrm>
          <a:custGeom>
            <a:avLst/>
            <a:gdLst/>
            <a:ahLst/>
            <a:cxnLst/>
            <a:rect l="l" t="t" r="r" b="b"/>
            <a:pathLst>
              <a:path w="310896" h="310896">
                <a:moveTo>
                  <a:pt x="166200" y="28240"/>
                </a:moveTo>
                <a:cubicBezTo>
                  <a:pt x="159370" y="25125"/>
                  <a:pt x="151526" y="25125"/>
                  <a:pt x="144696" y="28240"/>
                </a:cubicBezTo>
                <a:lnTo>
                  <a:pt x="33680" y="78760"/>
                </a:lnTo>
                <a:cubicBezTo>
                  <a:pt x="28984" y="80831"/>
                  <a:pt x="25953" y="85480"/>
                  <a:pt x="25953" y="90613"/>
                </a:cubicBezTo>
                <a:cubicBezTo>
                  <a:pt x="25953" y="95746"/>
                  <a:pt x="28984" y="100395"/>
                  <a:pt x="33680" y="102466"/>
                </a:cubicBezTo>
                <a:lnTo>
                  <a:pt x="144826" y="153116"/>
                </a:lnTo>
                <a:cubicBezTo>
                  <a:pt x="151655" y="156231"/>
                  <a:pt x="159500" y="156231"/>
                  <a:pt x="166329" y="153116"/>
                </a:cubicBezTo>
                <a:lnTo>
                  <a:pt x="277475" y="102596"/>
                </a:lnTo>
                <a:cubicBezTo>
                  <a:pt x="282171" y="100525"/>
                  <a:pt x="285202" y="95876"/>
                  <a:pt x="285202" y="90743"/>
                </a:cubicBezTo>
                <a:cubicBezTo>
                  <a:pt x="285202" y="85610"/>
                  <a:pt x="282171" y="80961"/>
                  <a:pt x="277475" y="78890"/>
                </a:cubicBezTo>
                <a:close/>
                <a:moveTo>
                  <a:pt x="25908" y="155448"/>
                </a:moveTo>
                <a:cubicBezTo>
                  <a:pt x="25895" y="160507"/>
                  <a:pt x="28830" y="165111"/>
                  <a:pt x="33421" y="167236"/>
                </a:cubicBezTo>
                <a:lnTo>
                  <a:pt x="144826" y="217886"/>
                </a:lnTo>
                <a:cubicBezTo>
                  <a:pt x="151618" y="220962"/>
                  <a:pt x="159407" y="220962"/>
                  <a:pt x="166200" y="217886"/>
                </a:cubicBezTo>
                <a:lnTo>
                  <a:pt x="277345" y="167366"/>
                </a:lnTo>
                <a:cubicBezTo>
                  <a:pt x="282030" y="165260"/>
                  <a:pt x="285029" y="160585"/>
                  <a:pt x="284988" y="155448"/>
                </a:cubicBezTo>
                <a:moveTo>
                  <a:pt x="25908" y="220218"/>
                </a:moveTo>
                <a:cubicBezTo>
                  <a:pt x="25895" y="225277"/>
                  <a:pt x="28830" y="229881"/>
                  <a:pt x="33421" y="232006"/>
                </a:cubicBezTo>
                <a:lnTo>
                  <a:pt x="144826" y="282656"/>
                </a:lnTo>
                <a:cubicBezTo>
                  <a:pt x="151618" y="285732"/>
                  <a:pt x="159407" y="285732"/>
                  <a:pt x="166200" y="282656"/>
                </a:cubicBezTo>
                <a:lnTo>
                  <a:pt x="277345" y="232136"/>
                </a:lnTo>
                <a:cubicBezTo>
                  <a:pt x="282030" y="230030"/>
                  <a:pt x="285029" y="225355"/>
                  <a:pt x="284988" y="220218"/>
                </a:cubicBezTo>
              </a:path>
            </a:pathLst>
          </a:custGeom>
          <a:noFill/>
          <a:ln w="25908" cap="rnd">
            <a:solidFill>
              <a:srgbClr val="0B2350"/>
            </a:solidFill>
            <a:prstDash val="solid"/>
            <a:round/>
          </a:ln>
        </p:spPr>
      </p:sp>
      <p:sp>
        <p:nvSpPr>
          <p:cNvPr id="38" name="Text 36"/>
          <p:cNvSpPr/>
          <p:nvPr/>
        </p:nvSpPr>
        <p:spPr>
          <a:xfrm>
            <a:off x="205420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Deployment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72" dirty="0"/>
          </a:p>
        </p:txBody>
      </p:sp>
      <p:sp>
        <p:nvSpPr>
          <p:cNvPr id="39" name="Shape 37"/>
          <p:cNvSpPr/>
          <p:nvPr/>
        </p:nvSpPr>
        <p:spPr>
          <a:xfrm>
            <a:off x="3956152" y="1709928"/>
            <a:ext cx="1645920"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4047592" y="1812341"/>
            <a:ext cx="420624" cy="420624"/>
          </a:xfrm>
          <a:prstGeom prst="ellipse">
            <a:avLst/>
          </a:prstGeom>
          <a:solidFill>
            <a:srgbClr val="E2E5EA"/>
          </a:solidFill>
          <a:ln w="12700">
            <a:solidFill>
              <a:srgbClr val="E2E5EA"/>
            </a:solidFill>
            <a:prstDash val="solid"/>
          </a:ln>
        </p:spPr>
      </p:sp>
      <p:sp>
        <p:nvSpPr>
          <p:cNvPr id="41" name="Icono copy"/>
          <p:cNvSpPr/>
          <p:nvPr/>
        </p:nvSpPr>
        <p:spPr>
          <a:xfrm>
            <a:off x="4102456" y="1867205"/>
            <a:ext cx="310896" cy="310896"/>
          </a:xfrm>
          <a:custGeom>
            <a:avLst/>
            <a:gdLst/>
            <a:ahLst/>
            <a:cxnLst/>
            <a:rect l="l" t="t" r="r" b="b"/>
            <a:pathLst>
              <a:path w="310896" h="310896">
                <a:moveTo>
                  <a:pt x="129540" y="103632"/>
                </a:moveTo>
                <a:lnTo>
                  <a:pt x="259080" y="103632"/>
                </a:lnTo>
                <a:cubicBezTo>
                  <a:pt x="273389" y="103632"/>
                  <a:pt x="284988" y="115231"/>
                  <a:pt x="284988" y="129540"/>
                </a:cubicBezTo>
                <a:lnTo>
                  <a:pt x="284988" y="259080"/>
                </a:lnTo>
                <a:cubicBezTo>
                  <a:pt x="284988" y="273389"/>
                  <a:pt x="273389" y="284988"/>
                  <a:pt x="259080" y="284988"/>
                </a:cubicBezTo>
                <a:lnTo>
                  <a:pt x="129540" y="284988"/>
                </a:lnTo>
                <a:cubicBezTo>
                  <a:pt x="115231" y="284988"/>
                  <a:pt x="103632" y="273389"/>
                  <a:pt x="103632" y="259080"/>
                </a:cubicBezTo>
                <a:lnTo>
                  <a:pt x="103632" y="129540"/>
                </a:lnTo>
                <a:cubicBezTo>
                  <a:pt x="103632" y="115231"/>
                  <a:pt x="115231" y="103632"/>
                  <a:pt x="129540" y="103632"/>
                </a:cubicBezTo>
                <a:close/>
                <a:moveTo>
                  <a:pt x="51816" y="207264"/>
                </a:moveTo>
                <a:cubicBezTo>
                  <a:pt x="37567" y="207264"/>
                  <a:pt x="25908" y="195605"/>
                  <a:pt x="25908" y="181356"/>
                </a:cubicBezTo>
                <a:lnTo>
                  <a:pt x="25908" y="51816"/>
                </a:lnTo>
                <a:cubicBezTo>
                  <a:pt x="25908" y="37567"/>
                  <a:pt x="37567" y="25908"/>
                  <a:pt x="51816" y="25908"/>
                </a:cubicBezTo>
                <a:lnTo>
                  <a:pt x="181356" y="25908"/>
                </a:lnTo>
                <a:cubicBezTo>
                  <a:pt x="195605" y="25908"/>
                  <a:pt x="207264" y="37567"/>
                  <a:pt x="207264" y="51816"/>
                </a:cubicBezTo>
              </a:path>
            </a:pathLst>
          </a:custGeom>
          <a:noFill/>
          <a:ln w="25908" cap="rnd">
            <a:solidFill>
              <a:srgbClr val="0B2350"/>
            </a:solidFill>
            <a:prstDash val="solid"/>
            <a:round/>
          </a:ln>
        </p:spPr>
      </p:sp>
      <p:sp>
        <p:nvSpPr>
          <p:cNvPr id="42" name="Text 40"/>
          <p:cNvSpPr/>
          <p:nvPr/>
        </p:nvSpPr>
        <p:spPr>
          <a:xfrm>
            <a:off x="4523080" y="1709928"/>
            <a:ext cx="1024128"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ReplicaSet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72" dirty="0"/>
          </a:p>
        </p:txBody>
      </p:sp>
      <p:sp>
        <p:nvSpPr>
          <p:cNvPr id="43" name="Shape 41"/>
          <p:cNvSpPr/>
          <p:nvPr/>
        </p:nvSpPr>
        <p:spPr>
          <a:xfrm>
            <a:off x="6260440" y="1709928"/>
            <a:ext cx="1975104"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6351880" y="1812341"/>
            <a:ext cx="420624" cy="420624"/>
          </a:xfrm>
          <a:prstGeom prst="ellipse">
            <a:avLst/>
          </a:prstGeom>
          <a:solidFill>
            <a:srgbClr val="E2E5EA"/>
          </a:solidFill>
          <a:ln w="12700">
            <a:solidFill>
              <a:srgbClr val="E2E5EA"/>
            </a:solidFill>
            <a:prstDash val="solid"/>
          </a:ln>
        </p:spPr>
      </p:sp>
      <p:sp>
        <p:nvSpPr>
          <p:cNvPr id="45" name="Icono box"/>
          <p:cNvSpPr/>
          <p:nvPr/>
        </p:nvSpPr>
        <p:spPr>
          <a:xfrm>
            <a:off x="6406744" y="1867205"/>
            <a:ext cx="310896" cy="310896"/>
          </a:xfrm>
          <a:custGeom>
            <a:avLst/>
            <a:gdLst/>
            <a:ahLst/>
            <a:cxnLst/>
            <a:rect l="l" t="t" r="r" b="b"/>
            <a:pathLst>
              <a:path w="310896" h="310896">
                <a:moveTo>
                  <a:pt x="272034" y="103632"/>
                </a:moveTo>
                <a:cubicBezTo>
                  <a:pt x="272025" y="94385"/>
                  <a:pt x="267088" y="85845"/>
                  <a:pt x="259080" y="81222"/>
                </a:cubicBezTo>
                <a:lnTo>
                  <a:pt x="168402" y="29406"/>
                </a:lnTo>
                <a:cubicBezTo>
                  <a:pt x="160386" y="24778"/>
                  <a:pt x="150510" y="24778"/>
                  <a:pt x="142494" y="29406"/>
                </a:cubicBezTo>
                <a:lnTo>
                  <a:pt x="51816" y="81222"/>
                </a:lnTo>
                <a:cubicBezTo>
                  <a:pt x="43808" y="85845"/>
                  <a:pt x="38871" y="94385"/>
                  <a:pt x="38862" y="103632"/>
                </a:cubicBezTo>
                <a:lnTo>
                  <a:pt x="38862" y="207264"/>
                </a:lnTo>
                <a:cubicBezTo>
                  <a:pt x="38871" y="216511"/>
                  <a:pt x="43808" y="225051"/>
                  <a:pt x="51816" y="229674"/>
                </a:cubicBezTo>
                <a:lnTo>
                  <a:pt x="142494" y="281490"/>
                </a:lnTo>
                <a:cubicBezTo>
                  <a:pt x="150510" y="286118"/>
                  <a:pt x="160386" y="286118"/>
                  <a:pt x="168402" y="281490"/>
                </a:cubicBezTo>
                <a:lnTo>
                  <a:pt x="259080" y="229674"/>
                </a:lnTo>
                <a:cubicBezTo>
                  <a:pt x="267088" y="225051"/>
                  <a:pt x="272025" y="216511"/>
                  <a:pt x="272034" y="207264"/>
                </a:cubicBezTo>
                <a:close/>
                <a:moveTo>
                  <a:pt x="42748" y="90678"/>
                </a:moveTo>
                <a:lnTo>
                  <a:pt x="155448" y="155448"/>
                </a:lnTo>
                <a:lnTo>
                  <a:pt x="268148" y="90678"/>
                </a:lnTo>
                <a:moveTo>
                  <a:pt x="155448" y="284988"/>
                </a:moveTo>
                <a:lnTo>
                  <a:pt x="155448" y="155448"/>
                </a:lnTo>
              </a:path>
            </a:pathLst>
          </a:custGeom>
          <a:noFill/>
          <a:ln w="25908" cap="rnd">
            <a:solidFill>
              <a:srgbClr val="0B2350"/>
            </a:solidFill>
            <a:prstDash val="solid"/>
            <a:round/>
          </a:ln>
        </p:spPr>
      </p:sp>
      <p:sp>
        <p:nvSpPr>
          <p:cNvPr id="46" name="Text 44"/>
          <p:cNvSpPr/>
          <p:nvPr/>
        </p:nvSpPr>
        <p:spPr>
          <a:xfrm>
            <a:off x="6827368" y="1709928"/>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72" dirty="0"/>
          </a:p>
        </p:txBody>
      </p:sp>
      <p:sp>
        <p:nvSpPr>
          <p:cNvPr id="47" name="Shape 45"/>
          <p:cNvSpPr/>
          <p:nvPr/>
        </p:nvSpPr>
        <p:spPr>
          <a:xfrm>
            <a:off x="8893912" y="1709928"/>
            <a:ext cx="1810512" cy="625450"/>
          </a:xfrm>
          <a:prstGeom prst="roundRect">
            <a:avLst>
              <a:gd name="adj" fmla="val 13158"/>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8985352" y="1812341"/>
            <a:ext cx="420624" cy="420624"/>
          </a:xfrm>
          <a:prstGeom prst="ellipse">
            <a:avLst/>
          </a:prstGeom>
          <a:solidFill>
            <a:srgbClr val="E2E5EA"/>
          </a:solidFill>
          <a:ln w="12700">
            <a:solidFill>
              <a:srgbClr val="E2E5EA"/>
            </a:solidFill>
            <a:prstDash val="solid"/>
          </a:ln>
        </p:spPr>
      </p:sp>
      <p:sp>
        <p:nvSpPr>
          <p:cNvPr id="49" name="Icono link"/>
          <p:cNvSpPr/>
          <p:nvPr/>
        </p:nvSpPr>
        <p:spPr>
          <a:xfrm>
            <a:off x="9040216" y="1867205"/>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2350"/>
            </a:solidFill>
            <a:prstDash val="solid"/>
            <a:round/>
          </a:ln>
        </p:spPr>
      </p:sp>
      <p:sp>
        <p:nvSpPr>
          <p:cNvPr id="50" name="Text 48"/>
          <p:cNvSpPr/>
          <p:nvPr/>
        </p:nvSpPr>
        <p:spPr>
          <a:xfrm>
            <a:off x="9460840" y="1709928"/>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72" dirty="0"/>
          </a:p>
        </p:txBody>
      </p:sp>
      <p:sp>
        <p:nvSpPr>
          <p:cNvPr id="51" name="Shape 49"/>
          <p:cNvSpPr/>
          <p:nvPr/>
        </p:nvSpPr>
        <p:spPr>
          <a:xfrm>
            <a:off x="1487272" y="3438144"/>
            <a:ext cx="1810512" cy="625450"/>
          </a:xfrm>
          <a:prstGeom prst="roundRect">
            <a:avLst>
              <a:gd name="adj" fmla="val 13158"/>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1578712" y="3540557"/>
            <a:ext cx="420624" cy="420624"/>
          </a:xfrm>
          <a:prstGeom prst="ellipse">
            <a:avLst/>
          </a:prstGeom>
          <a:solidFill>
            <a:srgbClr val="E2E5EA"/>
          </a:solidFill>
          <a:ln w="12700">
            <a:solidFill>
              <a:srgbClr val="E2E5EA"/>
            </a:solidFill>
            <a:prstDash val="solid"/>
          </a:ln>
        </p:spPr>
      </p:sp>
      <p:sp>
        <p:nvSpPr>
          <p:cNvPr id="53" name="Icono key-round"/>
          <p:cNvSpPr/>
          <p:nvPr/>
        </p:nvSpPr>
        <p:spPr>
          <a:xfrm>
            <a:off x="1633576" y="3595421"/>
            <a:ext cx="310896" cy="310896"/>
          </a:xfrm>
          <a:custGeom>
            <a:avLst/>
            <a:gdLst/>
            <a:ahLst/>
            <a:cxnLst/>
            <a:rect l="l" t="t" r="r" b="b"/>
            <a:pathLst>
              <a:path w="310896" h="310896">
                <a:moveTo>
                  <a:pt x="33499" y="225581"/>
                </a:moveTo>
                <a:cubicBezTo>
                  <a:pt x="28640" y="230439"/>
                  <a:pt x="25909" y="237027"/>
                  <a:pt x="25908" y="243898"/>
                </a:cubicBezTo>
                <a:lnTo>
                  <a:pt x="25908" y="272034"/>
                </a:lnTo>
                <a:cubicBezTo>
                  <a:pt x="25908" y="279188"/>
                  <a:pt x="31708" y="284988"/>
                  <a:pt x="38862" y="284988"/>
                </a:cubicBezTo>
                <a:lnTo>
                  <a:pt x="77724" y="284988"/>
                </a:lnTo>
                <a:cubicBezTo>
                  <a:pt x="84878" y="284988"/>
                  <a:pt x="90678" y="279188"/>
                  <a:pt x="90678" y="272034"/>
                </a:cubicBezTo>
                <a:lnTo>
                  <a:pt x="90678" y="259080"/>
                </a:lnTo>
                <a:cubicBezTo>
                  <a:pt x="90678" y="251926"/>
                  <a:pt x="96478" y="246126"/>
                  <a:pt x="103632" y="246126"/>
                </a:cubicBezTo>
                <a:lnTo>
                  <a:pt x="116586" y="246126"/>
                </a:lnTo>
                <a:cubicBezTo>
                  <a:pt x="123740" y="246126"/>
                  <a:pt x="129540" y="240326"/>
                  <a:pt x="129540" y="233172"/>
                </a:cubicBezTo>
                <a:lnTo>
                  <a:pt x="129540" y="220218"/>
                </a:lnTo>
                <a:cubicBezTo>
                  <a:pt x="129540" y="213064"/>
                  <a:pt x="135340" y="207264"/>
                  <a:pt x="142494" y="207264"/>
                </a:cubicBezTo>
                <a:lnTo>
                  <a:pt x="144722" y="207264"/>
                </a:lnTo>
                <a:cubicBezTo>
                  <a:pt x="151593" y="207263"/>
                  <a:pt x="158181" y="204532"/>
                  <a:pt x="163039" y="199673"/>
                </a:cubicBezTo>
                <a:lnTo>
                  <a:pt x="173584" y="189128"/>
                </a:lnTo>
                <a:cubicBezTo>
                  <a:pt x="210661" y="202044"/>
                  <a:pt x="251743" y="187620"/>
                  <a:pt x="272609" y="154361"/>
                </a:cubicBezTo>
                <a:cubicBezTo>
                  <a:pt x="293474" y="121103"/>
                  <a:pt x="288584" y="77837"/>
                  <a:pt x="260821" y="50075"/>
                </a:cubicBezTo>
                <a:cubicBezTo>
                  <a:pt x="233059" y="22312"/>
                  <a:pt x="189793" y="17422"/>
                  <a:pt x="156535" y="38287"/>
                </a:cubicBezTo>
                <a:cubicBezTo>
                  <a:pt x="123276" y="59153"/>
                  <a:pt x="108852" y="100235"/>
                  <a:pt x="121768" y="137312"/>
                </a:cubicBezTo>
                <a:close/>
                <a:moveTo>
                  <a:pt x="220218" y="97155"/>
                </a:moveTo>
                <a:cubicBezTo>
                  <a:pt x="220218" y="100732"/>
                  <a:pt x="217318" y="103632"/>
                  <a:pt x="213741" y="103632"/>
                </a:cubicBezTo>
                <a:cubicBezTo>
                  <a:pt x="210164" y="103632"/>
                  <a:pt x="207264" y="100732"/>
                  <a:pt x="207264" y="97155"/>
                </a:cubicBezTo>
                <a:cubicBezTo>
                  <a:pt x="207264" y="93578"/>
                  <a:pt x="210164" y="90678"/>
                  <a:pt x="213741" y="90678"/>
                </a:cubicBezTo>
                <a:cubicBezTo>
                  <a:pt x="217318" y="90678"/>
                  <a:pt x="220218" y="93578"/>
                  <a:pt x="220218" y="97155"/>
                </a:cubicBezTo>
                <a:close/>
              </a:path>
            </a:pathLst>
          </a:custGeom>
          <a:noFill/>
          <a:ln w="25908" cap="rnd">
            <a:solidFill>
              <a:srgbClr val="0B2350"/>
            </a:solidFill>
            <a:prstDash val="solid"/>
            <a:round/>
          </a:ln>
        </p:spPr>
      </p:sp>
      <p:sp>
        <p:nvSpPr>
          <p:cNvPr id="54" name="Text 52"/>
          <p:cNvSpPr/>
          <p:nvPr/>
        </p:nvSpPr>
        <p:spPr>
          <a:xfrm>
            <a:off x="205420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Secret</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a:t>
            </a:r>
            <a:endParaRPr lang="en-US" sz="972" dirty="0"/>
          </a:p>
        </p:txBody>
      </p:sp>
      <p:sp>
        <p:nvSpPr>
          <p:cNvPr id="55" name="Shape 53"/>
          <p:cNvSpPr/>
          <p:nvPr/>
        </p:nvSpPr>
        <p:spPr>
          <a:xfrm>
            <a:off x="3956152" y="3438144"/>
            <a:ext cx="1810512" cy="625450"/>
          </a:xfrm>
          <a:prstGeom prst="roundRect">
            <a:avLst>
              <a:gd name="adj" fmla="val 1315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56" name="Shape 54"/>
          <p:cNvSpPr/>
          <p:nvPr/>
        </p:nvSpPr>
        <p:spPr>
          <a:xfrm>
            <a:off x="4047592" y="3540557"/>
            <a:ext cx="420624" cy="420624"/>
          </a:xfrm>
          <a:prstGeom prst="ellipse">
            <a:avLst/>
          </a:prstGeom>
          <a:solidFill>
            <a:srgbClr val="E8EBEE"/>
          </a:solidFill>
          <a:ln w="12700">
            <a:solidFill>
              <a:srgbClr val="E8EBEE"/>
            </a:solidFill>
            <a:prstDash val="solid"/>
          </a:ln>
        </p:spPr>
      </p:sp>
      <p:sp>
        <p:nvSpPr>
          <p:cNvPr id="57" name="Icono hard-drive"/>
          <p:cNvSpPr/>
          <p:nvPr/>
        </p:nvSpPr>
        <p:spPr>
          <a:xfrm>
            <a:off x="4102456" y="3595421"/>
            <a:ext cx="310896" cy="310896"/>
          </a:xfrm>
          <a:custGeom>
            <a:avLst/>
            <a:gdLst/>
            <a:ahLst/>
            <a:cxnLst/>
            <a:rect l="l" t="t" r="r" b="b"/>
            <a:pathLst>
              <a:path w="310896" h="310896">
                <a:moveTo>
                  <a:pt x="284988" y="155448"/>
                </a:moveTo>
                <a:lnTo>
                  <a:pt x="25908" y="155448"/>
                </a:lnTo>
                <a:moveTo>
                  <a:pt x="70599" y="66195"/>
                </a:moveTo>
                <a:lnTo>
                  <a:pt x="25908" y="155448"/>
                </a:lnTo>
                <a:lnTo>
                  <a:pt x="25908" y="233172"/>
                </a:lnTo>
                <a:cubicBezTo>
                  <a:pt x="25908" y="247481"/>
                  <a:pt x="37507" y="259080"/>
                  <a:pt x="51816" y="259080"/>
                </a:cubicBezTo>
                <a:lnTo>
                  <a:pt x="259080" y="259080"/>
                </a:lnTo>
                <a:cubicBezTo>
                  <a:pt x="273389" y="259080"/>
                  <a:pt x="284988" y="247481"/>
                  <a:pt x="284988" y="233172"/>
                </a:cubicBezTo>
                <a:lnTo>
                  <a:pt x="284988" y="155448"/>
                </a:lnTo>
                <a:lnTo>
                  <a:pt x="240297" y="66195"/>
                </a:lnTo>
                <a:cubicBezTo>
                  <a:pt x="235922" y="57391"/>
                  <a:pt x="226940" y="51821"/>
                  <a:pt x="217109" y="51816"/>
                </a:cubicBezTo>
                <a:lnTo>
                  <a:pt x="93787" y="51816"/>
                </a:lnTo>
                <a:cubicBezTo>
                  <a:pt x="83956" y="51821"/>
                  <a:pt x="74974" y="57391"/>
                  <a:pt x="70599" y="66195"/>
                </a:cubicBezTo>
                <a:close/>
                <a:moveTo>
                  <a:pt x="77724" y="207264"/>
                </a:moveTo>
                <a:lnTo>
                  <a:pt x="77854" y="207264"/>
                </a:lnTo>
                <a:moveTo>
                  <a:pt x="129540" y="207264"/>
                </a:moveTo>
                <a:lnTo>
                  <a:pt x="129670" y="207264"/>
                </a:lnTo>
              </a:path>
            </a:pathLst>
          </a:custGeom>
          <a:noFill/>
          <a:ln w="25908" cap="rnd">
            <a:solidFill>
              <a:srgbClr val="3D5675"/>
            </a:solidFill>
            <a:prstDash val="solid"/>
            <a:round/>
          </a:ln>
        </p:spPr>
      </p:sp>
      <p:sp>
        <p:nvSpPr>
          <p:cNvPr id="58" name="Text 56"/>
          <p:cNvSpPr/>
          <p:nvPr/>
        </p:nvSpPr>
        <p:spPr>
          <a:xfrm>
            <a:off x="452308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PVC</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72" dirty="0"/>
          </a:p>
        </p:txBody>
      </p:sp>
      <p:sp>
        <p:nvSpPr>
          <p:cNvPr id="59" name="Shape 57"/>
          <p:cNvSpPr/>
          <p:nvPr/>
        </p:nvSpPr>
        <p:spPr>
          <a:xfrm>
            <a:off x="6260440" y="3438144"/>
            <a:ext cx="1975104" cy="625450"/>
          </a:xfrm>
          <a:prstGeom prst="roundRect">
            <a:avLst>
              <a:gd name="adj" fmla="val 13158"/>
            </a:avLst>
          </a:prstGeom>
          <a:solidFill>
            <a:srgbClr val="F3F6FA"/>
          </a:solidFill>
          <a:ln w="12700">
            <a:solidFill>
              <a:srgbClr val="A8B3C1"/>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6351880" y="3540557"/>
            <a:ext cx="420624" cy="420624"/>
          </a:xfrm>
          <a:prstGeom prst="ellipse">
            <a:avLst/>
          </a:prstGeom>
          <a:solidFill>
            <a:srgbClr val="E8EBEE"/>
          </a:solidFill>
          <a:ln w="12700">
            <a:solidFill>
              <a:srgbClr val="E8EBEE"/>
            </a:solidFill>
            <a:prstDash val="solid"/>
          </a:ln>
        </p:spPr>
      </p:sp>
      <p:sp>
        <p:nvSpPr>
          <p:cNvPr id="61" name="Icono database"/>
          <p:cNvSpPr/>
          <p:nvPr/>
        </p:nvSpPr>
        <p:spPr>
          <a:xfrm>
            <a:off x="6406744" y="359542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3D5675"/>
            </a:solidFill>
            <a:prstDash val="solid"/>
            <a:round/>
          </a:ln>
        </p:spPr>
      </p:sp>
      <p:sp>
        <p:nvSpPr>
          <p:cNvPr id="62" name="Text 60"/>
          <p:cNvSpPr/>
          <p:nvPr/>
        </p:nvSpPr>
        <p:spPr>
          <a:xfrm>
            <a:off x="6827368" y="3438144"/>
            <a:ext cx="1353312"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Pod db-solicitudes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postgres:17</a:t>
            </a:r>
            <a:endParaRPr lang="en-US" sz="972" dirty="0"/>
          </a:p>
        </p:txBody>
      </p:sp>
      <p:sp>
        <p:nvSpPr>
          <p:cNvPr id="63" name="Shape 61"/>
          <p:cNvSpPr/>
          <p:nvPr/>
        </p:nvSpPr>
        <p:spPr>
          <a:xfrm>
            <a:off x="8893912" y="3438144"/>
            <a:ext cx="1810512" cy="625450"/>
          </a:xfrm>
          <a:prstGeom prst="roundRect">
            <a:avLst>
              <a:gd name="adj" fmla="val 13158"/>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4" name="Shape 62"/>
          <p:cNvSpPr/>
          <p:nvPr/>
        </p:nvSpPr>
        <p:spPr>
          <a:xfrm>
            <a:off x="8985352" y="3540557"/>
            <a:ext cx="420624" cy="420624"/>
          </a:xfrm>
          <a:prstGeom prst="ellipse">
            <a:avLst/>
          </a:prstGeom>
          <a:solidFill>
            <a:srgbClr val="E3F4FA"/>
          </a:solidFill>
          <a:ln w="12700">
            <a:solidFill>
              <a:srgbClr val="E3F4FA"/>
            </a:solidFill>
            <a:prstDash val="solid"/>
          </a:ln>
        </p:spPr>
      </p:sp>
      <p:sp>
        <p:nvSpPr>
          <p:cNvPr id="65" name="Icono link"/>
          <p:cNvSpPr/>
          <p:nvPr/>
        </p:nvSpPr>
        <p:spPr>
          <a:xfrm>
            <a:off x="9040216" y="3595421"/>
            <a:ext cx="310896" cy="310896"/>
          </a:xfrm>
          <a:custGeom>
            <a:avLst/>
            <a:gdLst/>
            <a:ahLst/>
            <a:cxnLst/>
            <a:rect l="l" t="t" r="r" b="b"/>
            <a:pathLst>
              <a:path w="310896" h="310896">
                <a:moveTo>
                  <a:pt x="129540" y="168402"/>
                </a:moveTo>
                <a:cubicBezTo>
                  <a:pt x="140796" y="183451"/>
                  <a:pt x="158034" y="192868"/>
                  <a:pt x="176779" y="194211"/>
                </a:cubicBezTo>
                <a:cubicBezTo>
                  <a:pt x="195523" y="195553"/>
                  <a:pt x="213927" y="188688"/>
                  <a:pt x="227213" y="175397"/>
                </a:cubicBezTo>
                <a:lnTo>
                  <a:pt x="266075" y="136535"/>
                </a:lnTo>
                <a:cubicBezTo>
                  <a:pt x="290621" y="111121"/>
                  <a:pt x="290270" y="70723"/>
                  <a:pt x="265286" y="45739"/>
                </a:cubicBezTo>
                <a:cubicBezTo>
                  <a:pt x="240302" y="20755"/>
                  <a:pt x="199905" y="20404"/>
                  <a:pt x="174490" y="44950"/>
                </a:cubicBezTo>
                <a:lnTo>
                  <a:pt x="152210" y="67102"/>
                </a:lnTo>
                <a:moveTo>
                  <a:pt x="181356" y="142494"/>
                </a:moveTo>
                <a:cubicBezTo>
                  <a:pt x="170100" y="127445"/>
                  <a:pt x="152862" y="118028"/>
                  <a:pt x="134117" y="116685"/>
                </a:cubicBezTo>
                <a:cubicBezTo>
                  <a:pt x="115373" y="115343"/>
                  <a:pt x="96969" y="122208"/>
                  <a:pt x="83683" y="135499"/>
                </a:cubicBezTo>
                <a:lnTo>
                  <a:pt x="44821" y="174361"/>
                </a:lnTo>
                <a:cubicBezTo>
                  <a:pt x="20275" y="199775"/>
                  <a:pt x="20626" y="240173"/>
                  <a:pt x="45610" y="265157"/>
                </a:cubicBezTo>
                <a:cubicBezTo>
                  <a:pt x="70594" y="290141"/>
                  <a:pt x="110991" y="290492"/>
                  <a:pt x="136406" y="265946"/>
                </a:cubicBezTo>
                <a:lnTo>
                  <a:pt x="158557" y="243794"/>
                </a:lnTo>
              </a:path>
            </a:pathLst>
          </a:custGeom>
          <a:noFill/>
          <a:ln w="25908" cap="rnd">
            <a:solidFill>
              <a:srgbClr val="0B6E8A"/>
            </a:solidFill>
            <a:prstDash val="solid"/>
            <a:round/>
          </a:ln>
        </p:spPr>
      </p:sp>
      <p:sp>
        <p:nvSpPr>
          <p:cNvPr id="66" name="Text 64"/>
          <p:cNvSpPr/>
          <p:nvPr/>
        </p:nvSpPr>
        <p:spPr>
          <a:xfrm>
            <a:off x="9460840" y="3438144"/>
            <a:ext cx="1188720" cy="625450"/>
          </a:xfrm>
          <a:prstGeom prst="rect">
            <a:avLst/>
          </a:prstGeom>
          <a:noFill/>
          <a:ln/>
        </p:spPr>
        <p:txBody>
          <a:bodyPr wrap="square" lIns="12700" tIns="25400" rIns="25400" bIns="12700" rtlCol="0" anchor="ctr">
            <a:normAutofit/>
          </a:bodyPr>
          <a:lstStyle/>
          <a:p>
            <a:pPr algn="l" indent="0" marL="0">
              <a:lnSpc>
                <a:spcPct val="95000"/>
              </a:lnSpc>
              <a:buNone/>
            </a:pPr>
            <a:r>
              <a:rPr lang="en-US" sz="972" b="1" dirty="0">
                <a:solidFill>
                  <a:srgbClr val="0B1A3C"/>
                </a:solidFill>
                <a:latin typeface="Segoe UI" pitchFamily="34" charset="0"/>
                <a:ea typeface="Segoe UI" pitchFamily="34" charset="-122"/>
                <a:cs typeface="Segoe UI" pitchFamily="34" charset="-120"/>
              </a:rPr>
              <a:t>Service db-solicitudes</a:t>
            </a:r>
            <a:endParaRPr lang="en-US" sz="972" dirty="0"/>
          </a:p>
          <a:p>
            <a:pPr algn="l" indent="0" marL="0">
              <a:lnSpc>
                <a:spcPct val="95000"/>
              </a:lnSpc>
              <a:buNone/>
            </a:pPr>
            <a:r>
              <a:rPr lang="en-US" sz="800" dirty="0">
                <a:solidFill>
                  <a:srgbClr val="55627E"/>
                </a:solidFill>
                <a:latin typeface="Segoe UI" pitchFamily="34" charset="0"/>
                <a:ea typeface="Segoe UI" pitchFamily="34" charset="-122"/>
                <a:cs typeface="Segoe UI" pitchFamily="34" charset="-120"/>
              </a:rPr>
              <a:t>5432</a:t>
            </a:r>
            <a:endParaRPr lang="en-US" sz="972" dirty="0"/>
          </a:p>
        </p:txBody>
      </p:sp>
      <p:sp>
        <p:nvSpPr>
          <p:cNvPr id="67" name="Shape 6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69" name="Text 6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aplicación llega a la base por su nombre de Service, no por una dirección fija.</a:t>
            </a:r>
            <a:endParaRPr lang="en-US" sz="1300" dirty="0"/>
          </a:p>
        </p:txBody>
      </p:sp>
      <p:sp>
        <p:nvSpPr>
          <p:cNvPr id="70" name="Text 6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Puesta a punto: arranque y salud</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Arrancar no es lo mismo que estar listo. Si un Pod se ve así, esta es la primera pregunta:</a:t>
            </a:r>
            <a:endParaRPr lang="en-US" sz="1700" dirty="0"/>
          </a:p>
        </p:txBody>
      </p:sp>
      <p:sp>
        <p:nvSpPr>
          <p:cNvPr id="6" name="Shape 4"/>
          <p:cNvSpPr/>
          <p:nvPr/>
        </p:nvSpPr>
        <p:spPr>
          <a:xfrm>
            <a:off x="61264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8A4B06"/>
          </a:solidFill>
          <a:ln w="12700">
            <a:solidFill>
              <a:srgbClr val="8A4B06"/>
            </a:solidFill>
            <a:prstDash val="solid"/>
          </a:ln>
        </p:spPr>
      </p:sp>
      <p:sp>
        <p:nvSpPr>
          <p:cNvPr id="8" name="Shape 6"/>
          <p:cNvSpPr/>
          <p:nvPr/>
        </p:nvSpPr>
        <p:spPr>
          <a:xfrm>
            <a:off x="886968" y="2439162"/>
            <a:ext cx="786384" cy="786384"/>
          </a:xfrm>
          <a:prstGeom prst="ellipse">
            <a:avLst/>
          </a:prstGeom>
          <a:solidFill>
            <a:srgbClr val="FCEFD6"/>
          </a:solidFill>
          <a:ln w="12700">
            <a:solidFill>
              <a:srgbClr val="FCEFD6"/>
            </a:solidFill>
            <a:prstDash val="solid"/>
          </a:ln>
        </p:spPr>
      </p:sp>
      <p:sp>
        <p:nvSpPr>
          <p:cNvPr id="9" name="Icono hourglass"/>
          <p:cNvSpPr/>
          <p:nvPr/>
        </p:nvSpPr>
        <p:spPr>
          <a:xfrm>
            <a:off x="1075700" y="2627894"/>
            <a:ext cx="408920" cy="408920"/>
          </a:xfrm>
          <a:custGeom>
            <a:avLst/>
            <a:gdLst/>
            <a:ahLst/>
            <a:cxnLst/>
            <a:rect l="l" t="t" r="r" b="b"/>
            <a:pathLst>
              <a:path w="408920" h="408920">
                <a:moveTo>
                  <a:pt x="85192" y="374843"/>
                </a:moveTo>
                <a:lnTo>
                  <a:pt x="323728" y="374843"/>
                </a:lnTo>
                <a:moveTo>
                  <a:pt x="85192" y="34077"/>
                </a:moveTo>
                <a:lnTo>
                  <a:pt x="323728" y="34077"/>
                </a:lnTo>
                <a:moveTo>
                  <a:pt x="289651" y="374843"/>
                </a:moveTo>
                <a:lnTo>
                  <a:pt x="289651" y="303759"/>
                </a:lnTo>
                <a:cubicBezTo>
                  <a:pt x="289650" y="294722"/>
                  <a:pt x="286058" y="286056"/>
                  <a:pt x="279667" y="279667"/>
                </a:cubicBezTo>
                <a:lnTo>
                  <a:pt x="204460" y="204460"/>
                </a:lnTo>
                <a:lnTo>
                  <a:pt x="129253" y="279667"/>
                </a:lnTo>
                <a:cubicBezTo>
                  <a:pt x="122862" y="286056"/>
                  <a:pt x="119270" y="294722"/>
                  <a:pt x="119268" y="303759"/>
                </a:cubicBezTo>
                <a:lnTo>
                  <a:pt x="119268" y="374843"/>
                </a:lnTo>
                <a:moveTo>
                  <a:pt x="119268" y="34077"/>
                </a:moveTo>
                <a:lnTo>
                  <a:pt x="119268" y="105161"/>
                </a:lnTo>
                <a:cubicBezTo>
                  <a:pt x="119270" y="114197"/>
                  <a:pt x="122862" y="122864"/>
                  <a:pt x="129253" y="129253"/>
                </a:cubicBezTo>
                <a:lnTo>
                  <a:pt x="204460" y="204460"/>
                </a:lnTo>
                <a:lnTo>
                  <a:pt x="279667" y="129253"/>
                </a:lnTo>
                <a:cubicBezTo>
                  <a:pt x="286058" y="122864"/>
                  <a:pt x="289650" y="114197"/>
                  <a:pt x="289651" y="105161"/>
                </a:cubicBezTo>
                <a:lnTo>
                  <a:pt x="289651" y="34077"/>
                </a:lnTo>
              </a:path>
            </a:pathLst>
          </a:custGeom>
          <a:noFill/>
          <a:ln w="34077" cap="rnd">
            <a:solidFill>
              <a:srgbClr val="8A4B06"/>
            </a:solidFill>
            <a:prstDash val="solid"/>
            <a:round/>
          </a:ln>
        </p:spPr>
      </p:sp>
      <p:sp>
        <p:nvSpPr>
          <p:cNvPr id="10" name="Text 8"/>
          <p:cNvSpPr/>
          <p:nvPr/>
        </p:nvSpPr>
        <p:spPr>
          <a:xfrm>
            <a:off x="192938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Pending</a:t>
            </a:r>
            <a:endParaRPr lang="en-US" sz="2000" dirty="0"/>
          </a:p>
        </p:txBody>
      </p:sp>
      <p:sp>
        <p:nvSpPr>
          <p:cNvPr id="11" name="Text 9"/>
          <p:cNvSpPr/>
          <p:nvPr/>
        </p:nvSpPr>
        <p:spPr>
          <a:xfrm>
            <a:off x="192938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¿Hay recursos o falta el disco?</a:t>
            </a:r>
            <a:endParaRPr lang="en-US" sz="1600" dirty="0"/>
          </a:p>
        </p:txBody>
      </p:sp>
      <p:sp>
        <p:nvSpPr>
          <p:cNvPr id="12" name="Shape 10"/>
          <p:cNvSpPr/>
          <p:nvPr/>
        </p:nvSpPr>
        <p:spPr>
          <a:xfrm>
            <a:off x="6187288" y="1719072"/>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970532"/>
          </a:xfrm>
          <a:prstGeom prst="rect">
            <a:avLst/>
          </a:prstGeom>
          <a:solidFill>
            <a:srgbClr val="AB243E"/>
          </a:solidFill>
          <a:ln w="12700">
            <a:solidFill>
              <a:srgbClr val="AB243E"/>
            </a:solidFill>
            <a:prstDash val="solid"/>
          </a:ln>
        </p:spPr>
      </p:sp>
      <p:sp>
        <p:nvSpPr>
          <p:cNvPr id="14" name="Shape 12"/>
          <p:cNvSpPr/>
          <p:nvPr/>
        </p:nvSpPr>
        <p:spPr>
          <a:xfrm>
            <a:off x="6461608" y="2439162"/>
            <a:ext cx="786384" cy="786384"/>
          </a:xfrm>
          <a:prstGeom prst="ellipse">
            <a:avLst/>
          </a:prstGeom>
          <a:solidFill>
            <a:srgbClr val="F7E3E7"/>
          </a:solidFill>
          <a:ln w="12700">
            <a:solidFill>
              <a:srgbClr val="F7E3E7"/>
            </a:solidFill>
            <a:prstDash val="solid"/>
          </a:ln>
        </p:spPr>
      </p:sp>
      <p:sp>
        <p:nvSpPr>
          <p:cNvPr id="15" name="Icono image-off"/>
          <p:cNvSpPr/>
          <p:nvPr/>
        </p:nvSpPr>
        <p:spPr>
          <a:xfrm>
            <a:off x="6650340" y="2627894"/>
            <a:ext cx="408920" cy="408920"/>
          </a:xfrm>
          <a:custGeom>
            <a:avLst/>
            <a:gdLst/>
            <a:ahLst/>
            <a:cxnLst/>
            <a:rect l="l" t="t" r="r" b="b"/>
            <a:pathLst>
              <a:path w="408920" h="408920">
                <a:moveTo>
                  <a:pt x="34077" y="34077"/>
                </a:moveTo>
                <a:lnTo>
                  <a:pt x="374843" y="374843"/>
                </a:lnTo>
                <a:moveTo>
                  <a:pt x="177369" y="177369"/>
                </a:moveTo>
                <a:cubicBezTo>
                  <a:pt x="164054" y="190684"/>
                  <a:pt x="142466" y="190684"/>
                  <a:pt x="129150" y="177369"/>
                </a:cubicBezTo>
                <a:cubicBezTo>
                  <a:pt x="115835" y="164054"/>
                  <a:pt x="115835" y="142466"/>
                  <a:pt x="129150" y="129150"/>
                </a:cubicBezTo>
                <a:moveTo>
                  <a:pt x="230017" y="230017"/>
                </a:moveTo>
                <a:lnTo>
                  <a:pt x="102230" y="357805"/>
                </a:lnTo>
                <a:moveTo>
                  <a:pt x="306690" y="204460"/>
                </a:moveTo>
                <a:lnTo>
                  <a:pt x="357805" y="255575"/>
                </a:lnTo>
                <a:moveTo>
                  <a:pt x="61168" y="61168"/>
                </a:moveTo>
                <a:cubicBezTo>
                  <a:pt x="54752" y="67518"/>
                  <a:pt x="51134" y="76165"/>
                  <a:pt x="51115" y="85192"/>
                </a:cubicBezTo>
                <a:lnTo>
                  <a:pt x="51115" y="323728"/>
                </a:lnTo>
                <a:cubicBezTo>
                  <a:pt x="51115" y="342548"/>
                  <a:pt x="66372" y="357805"/>
                  <a:pt x="85192" y="357805"/>
                </a:cubicBezTo>
                <a:lnTo>
                  <a:pt x="323728" y="357805"/>
                </a:lnTo>
                <a:cubicBezTo>
                  <a:pt x="333099" y="357805"/>
                  <a:pt x="341652" y="354056"/>
                  <a:pt x="347752" y="347752"/>
                </a:cubicBezTo>
                <a:moveTo>
                  <a:pt x="357805" y="255575"/>
                </a:moveTo>
                <a:lnTo>
                  <a:pt x="357805" y="85192"/>
                </a:lnTo>
                <a:cubicBezTo>
                  <a:pt x="357805" y="66372"/>
                  <a:pt x="342548" y="51115"/>
                  <a:pt x="323728" y="51115"/>
                </a:cubicBezTo>
                <a:lnTo>
                  <a:pt x="153345" y="51115"/>
                </a:lnTo>
              </a:path>
            </a:pathLst>
          </a:custGeom>
          <a:noFill/>
          <a:ln w="34077" cap="rnd">
            <a:solidFill>
              <a:srgbClr val="AB243E"/>
            </a:solidFill>
            <a:prstDash val="solid"/>
            <a:round/>
          </a:ln>
        </p:spPr>
      </p:sp>
      <p:sp>
        <p:nvSpPr>
          <p:cNvPr id="16" name="Text 14"/>
          <p:cNvSpPr/>
          <p:nvPr/>
        </p:nvSpPr>
        <p:spPr>
          <a:xfrm>
            <a:off x="7504024" y="237515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ImagePullBackOff</a:t>
            </a:r>
            <a:endParaRPr lang="en-US" sz="2000" dirty="0"/>
          </a:p>
        </p:txBody>
      </p:sp>
      <p:sp>
        <p:nvSpPr>
          <p:cNvPr id="17" name="Text 15"/>
          <p:cNvSpPr/>
          <p:nvPr/>
        </p:nvSpPr>
        <p:spPr>
          <a:xfrm>
            <a:off x="7504024" y="2850642"/>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¿Existe la imagen en el clúster?</a:t>
            </a:r>
            <a:endParaRPr lang="en-US" sz="1600" dirty="0"/>
          </a:p>
        </p:txBody>
      </p:sp>
      <p:sp>
        <p:nvSpPr>
          <p:cNvPr id="18" name="Shape 16"/>
          <p:cNvSpPr/>
          <p:nvPr/>
        </p:nvSpPr>
        <p:spPr>
          <a:xfrm>
            <a:off x="61264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4256532"/>
            <a:ext cx="64008" cy="1970532"/>
          </a:xfrm>
          <a:prstGeom prst="rect">
            <a:avLst/>
          </a:prstGeom>
          <a:solidFill>
            <a:srgbClr val="AB243E"/>
          </a:solidFill>
          <a:ln w="12700">
            <a:solidFill>
              <a:srgbClr val="AB243E"/>
            </a:solidFill>
            <a:prstDash val="solid"/>
          </a:ln>
        </p:spPr>
      </p:sp>
      <p:sp>
        <p:nvSpPr>
          <p:cNvPr id="20" name="Shape 18"/>
          <p:cNvSpPr/>
          <p:nvPr/>
        </p:nvSpPr>
        <p:spPr>
          <a:xfrm>
            <a:off x="886968" y="4848606"/>
            <a:ext cx="786384" cy="786384"/>
          </a:xfrm>
          <a:prstGeom prst="ellipse">
            <a:avLst/>
          </a:prstGeom>
          <a:solidFill>
            <a:srgbClr val="F7E3E7"/>
          </a:solidFill>
          <a:ln w="12700">
            <a:solidFill>
              <a:srgbClr val="F7E3E7"/>
            </a:solidFill>
            <a:prstDash val="solid"/>
          </a:ln>
        </p:spPr>
      </p:sp>
      <p:sp>
        <p:nvSpPr>
          <p:cNvPr id="21" name="Icono refresh-cw"/>
          <p:cNvSpPr/>
          <p:nvPr/>
        </p:nvSpPr>
        <p:spPr>
          <a:xfrm>
            <a:off x="1075700" y="5037338"/>
            <a:ext cx="408920" cy="408920"/>
          </a:xfrm>
          <a:custGeom>
            <a:avLst/>
            <a:gdLst/>
            <a:ahLst/>
            <a:cxnLst/>
            <a:rect l="l" t="t" r="r" b="b"/>
            <a:pathLst>
              <a:path w="408920" h="408920">
                <a:moveTo>
                  <a:pt x="51115" y="204460"/>
                </a:moveTo>
                <a:cubicBezTo>
                  <a:pt x="51115" y="119770"/>
                  <a:pt x="119770" y="51115"/>
                  <a:pt x="204460" y="51115"/>
                </a:cubicBezTo>
                <a:cubicBezTo>
                  <a:pt x="247329" y="51276"/>
                  <a:pt x="288476" y="68004"/>
                  <a:pt x="319298" y="97800"/>
                </a:cubicBezTo>
                <a:lnTo>
                  <a:pt x="357805" y="136307"/>
                </a:lnTo>
                <a:moveTo>
                  <a:pt x="357805" y="51115"/>
                </a:moveTo>
                <a:lnTo>
                  <a:pt x="357805" y="136307"/>
                </a:lnTo>
                <a:lnTo>
                  <a:pt x="272613" y="136307"/>
                </a:lnTo>
                <a:moveTo>
                  <a:pt x="357805" y="204460"/>
                </a:moveTo>
                <a:cubicBezTo>
                  <a:pt x="357805" y="289150"/>
                  <a:pt x="289150" y="357805"/>
                  <a:pt x="204460" y="357805"/>
                </a:cubicBezTo>
                <a:cubicBezTo>
                  <a:pt x="161591" y="357643"/>
                  <a:pt x="120443" y="340916"/>
                  <a:pt x="89622" y="311120"/>
                </a:cubicBezTo>
                <a:lnTo>
                  <a:pt x="51115" y="272613"/>
                </a:lnTo>
                <a:moveTo>
                  <a:pt x="136307" y="272613"/>
                </a:moveTo>
                <a:lnTo>
                  <a:pt x="51115" y="272613"/>
                </a:lnTo>
                <a:lnTo>
                  <a:pt x="51115" y="357805"/>
                </a:lnTo>
              </a:path>
            </a:pathLst>
          </a:custGeom>
          <a:noFill/>
          <a:ln w="34077" cap="rnd">
            <a:solidFill>
              <a:srgbClr val="AB243E"/>
            </a:solidFill>
            <a:prstDash val="solid"/>
            <a:round/>
          </a:ln>
        </p:spPr>
      </p:sp>
      <p:sp>
        <p:nvSpPr>
          <p:cNvPr id="22" name="Text 20"/>
          <p:cNvSpPr/>
          <p:nvPr/>
        </p:nvSpPr>
        <p:spPr>
          <a:xfrm>
            <a:off x="192938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CrashLoopBackOff</a:t>
            </a:r>
            <a:endParaRPr lang="en-US" sz="2000" dirty="0"/>
          </a:p>
        </p:txBody>
      </p:sp>
      <p:sp>
        <p:nvSpPr>
          <p:cNvPr id="23" name="Text 21"/>
          <p:cNvSpPr/>
          <p:nvPr/>
        </p:nvSpPr>
        <p:spPr>
          <a:xfrm>
            <a:off x="192938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¿Qué dicen los logs del contenedor?</a:t>
            </a:r>
            <a:endParaRPr lang="en-US" sz="1600" dirty="0"/>
          </a:p>
        </p:txBody>
      </p:sp>
      <p:sp>
        <p:nvSpPr>
          <p:cNvPr id="24" name="Shape 22"/>
          <p:cNvSpPr/>
          <p:nvPr/>
        </p:nvSpPr>
        <p:spPr>
          <a:xfrm>
            <a:off x="6187288" y="4128516"/>
            <a:ext cx="539176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4256532"/>
            <a:ext cx="64008" cy="1970532"/>
          </a:xfrm>
          <a:prstGeom prst="rect">
            <a:avLst/>
          </a:prstGeom>
          <a:solidFill>
            <a:srgbClr val="8A4B06"/>
          </a:solidFill>
          <a:ln w="12700">
            <a:solidFill>
              <a:srgbClr val="8A4B06"/>
            </a:solidFill>
            <a:prstDash val="solid"/>
          </a:ln>
        </p:spPr>
      </p:sp>
      <p:sp>
        <p:nvSpPr>
          <p:cNvPr id="26" name="Shape 24"/>
          <p:cNvSpPr/>
          <p:nvPr/>
        </p:nvSpPr>
        <p:spPr>
          <a:xfrm>
            <a:off x="6461608" y="4848606"/>
            <a:ext cx="786384" cy="786384"/>
          </a:xfrm>
          <a:prstGeom prst="ellipse">
            <a:avLst/>
          </a:prstGeom>
          <a:solidFill>
            <a:srgbClr val="FCEFD6"/>
          </a:solidFill>
          <a:ln w="12700">
            <a:solidFill>
              <a:srgbClr val="FCEFD6"/>
            </a:solidFill>
            <a:prstDash val="solid"/>
          </a:ln>
        </p:spPr>
      </p:sp>
      <p:sp>
        <p:nvSpPr>
          <p:cNvPr id="27" name="Icono heart-pulse"/>
          <p:cNvSpPr/>
          <p:nvPr/>
        </p:nvSpPr>
        <p:spPr>
          <a:xfrm>
            <a:off x="6650340" y="5037338"/>
            <a:ext cx="408920" cy="408920"/>
          </a:xfrm>
          <a:custGeom>
            <a:avLst/>
            <a:gdLst/>
            <a:ahLst/>
            <a:cxnLst/>
            <a:rect l="l" t="t" r="r" b="b"/>
            <a:pathLst>
              <a:path w="408920" h="408920">
                <a:moveTo>
                  <a:pt x="323728" y="238536"/>
                </a:moveTo>
                <a:cubicBezTo>
                  <a:pt x="349115" y="213661"/>
                  <a:pt x="374843" y="183843"/>
                  <a:pt x="374843" y="144826"/>
                </a:cubicBezTo>
                <a:cubicBezTo>
                  <a:pt x="374843" y="93071"/>
                  <a:pt x="332887" y="51115"/>
                  <a:pt x="281132" y="51115"/>
                </a:cubicBezTo>
                <a:cubicBezTo>
                  <a:pt x="251145" y="51115"/>
                  <a:pt x="230017" y="59634"/>
                  <a:pt x="204460" y="85192"/>
                </a:cubicBezTo>
                <a:cubicBezTo>
                  <a:pt x="178902" y="59634"/>
                  <a:pt x="157775" y="51115"/>
                  <a:pt x="127787" y="51115"/>
                </a:cubicBezTo>
                <a:cubicBezTo>
                  <a:pt x="76032" y="51115"/>
                  <a:pt x="34077" y="93071"/>
                  <a:pt x="34077" y="144826"/>
                </a:cubicBezTo>
                <a:cubicBezTo>
                  <a:pt x="34077" y="184014"/>
                  <a:pt x="59634" y="213831"/>
                  <a:pt x="85192" y="238536"/>
                </a:cubicBezTo>
                <a:lnTo>
                  <a:pt x="204460" y="357805"/>
                </a:lnTo>
                <a:close/>
                <a:moveTo>
                  <a:pt x="54863" y="204460"/>
                </a:moveTo>
                <a:lnTo>
                  <a:pt x="161864" y="204460"/>
                </a:lnTo>
                <a:lnTo>
                  <a:pt x="170383" y="187422"/>
                </a:lnTo>
                <a:lnTo>
                  <a:pt x="204460" y="264094"/>
                </a:lnTo>
                <a:lnTo>
                  <a:pt x="238536" y="144826"/>
                </a:lnTo>
                <a:lnTo>
                  <a:pt x="264094" y="204460"/>
                </a:lnTo>
                <a:lnTo>
                  <a:pt x="353886" y="204460"/>
                </a:lnTo>
              </a:path>
            </a:pathLst>
          </a:custGeom>
          <a:noFill/>
          <a:ln w="34077" cap="rnd">
            <a:solidFill>
              <a:srgbClr val="8A4B06"/>
            </a:solidFill>
            <a:prstDash val="solid"/>
            <a:round/>
          </a:ln>
        </p:spPr>
      </p:sp>
      <p:sp>
        <p:nvSpPr>
          <p:cNvPr id="28" name="Text 26"/>
          <p:cNvSpPr/>
          <p:nvPr/>
        </p:nvSpPr>
        <p:spPr>
          <a:xfrm>
            <a:off x="7504024" y="478459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Running, sin Ready</a:t>
            </a:r>
            <a:endParaRPr lang="en-US" sz="2000" dirty="0"/>
          </a:p>
        </p:txBody>
      </p:sp>
      <p:sp>
        <p:nvSpPr>
          <p:cNvPr id="29" name="Text 27"/>
          <p:cNvSpPr/>
          <p:nvPr/>
        </p:nvSpPr>
        <p:spPr>
          <a:xfrm>
            <a:off x="7504024" y="5260086"/>
            <a:ext cx="3892144" cy="97612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¿Responde la ruta de salud?</a:t>
            </a:r>
            <a:endParaRPr lang="en-US" sz="1600" dirty="0"/>
          </a:p>
        </p:txBody>
      </p:sp>
      <p:sp>
        <p:nvSpPr>
          <p:cNvPr id="30" name="Text 2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Centralizar los logs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Todos los logs, en un solo lugar.</a:t>
            </a:r>
            <a:endParaRPr lang="en-US" sz="1700" dirty="0"/>
          </a:p>
        </p:txBody>
      </p:sp>
      <p:sp>
        <p:nvSpPr>
          <p:cNvPr id="6" name="Shape 4"/>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7" name="Shape 5"/>
          <p:cNvSpPr/>
          <p:nvPr/>
        </p:nvSpPr>
        <p:spPr>
          <a:xfrm>
            <a:off x="795528" y="5806440"/>
            <a:ext cx="438912" cy="438912"/>
          </a:xfrm>
          <a:prstGeom prst="ellipse">
            <a:avLst/>
          </a:prstGeom>
          <a:solidFill>
            <a:srgbClr val="FFFFFF"/>
          </a:solidFill>
          <a:ln w="12700">
            <a:solidFill>
              <a:srgbClr val="FFFFFF"/>
            </a:solidFill>
            <a:prstDash val="solid"/>
          </a:ln>
        </p:spPr>
      </p:sp>
      <p:sp>
        <p:nvSpPr>
          <p:cNvPr id="8"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9" name="Text 7"/>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todo lo que pasó, para revisarlo después.</a:t>
            </a:r>
            <a:endParaRPr lang="en-US" sz="1450" dirty="0"/>
          </a:p>
        </p:txBody>
      </p:sp>
      <p:sp>
        <p:nvSpPr>
          <p:cNvPr id="10" name="Shape 8"/>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1"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12" name="Text 10"/>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Text 11"/>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14" name="Text 12"/>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Escriben sus logs en JSON, con el traceId.</a:t>
            </a:r>
            <a:endParaRPr lang="en-US" sz="1400" dirty="0"/>
          </a:p>
        </p:txBody>
      </p:sp>
      <p:sp>
        <p:nvSpPr>
          <p:cNvPr id="15" name="Shape 13"/>
          <p:cNvSpPr/>
          <p:nvPr/>
        </p:nvSpPr>
        <p:spPr>
          <a:xfrm>
            <a:off x="2806408" y="2875788"/>
            <a:ext cx="1095680" cy="0"/>
          </a:xfrm>
          <a:prstGeom prst="line">
            <a:avLst/>
          </a:prstGeom>
          <a:noFill/>
          <a:ln w="38100">
            <a:solidFill>
              <a:srgbClr val="2BA6CB"/>
            </a:solidFill>
            <a:prstDash val="solid"/>
            <a:tailEnd type="triangle"/>
          </a:ln>
        </p:spPr>
      </p:sp>
      <p:sp>
        <p:nvSpPr>
          <p:cNvPr id="16" name="Shape 14"/>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17"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18" name="Text 16"/>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9" name="Text 17"/>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0" name="Text 18"/>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todos los contenedores.</a:t>
            </a:r>
            <a:endParaRPr lang="en-US" sz="1400" dirty="0"/>
          </a:p>
        </p:txBody>
      </p:sp>
      <p:sp>
        <p:nvSpPr>
          <p:cNvPr id="21" name="Shape 19"/>
          <p:cNvSpPr/>
          <p:nvPr/>
        </p:nvSpPr>
        <p:spPr>
          <a:xfrm>
            <a:off x="5548008" y="2875788"/>
            <a:ext cx="1095680" cy="0"/>
          </a:xfrm>
          <a:prstGeom prst="line">
            <a:avLst/>
          </a:prstGeom>
          <a:noFill/>
          <a:ln w="38100">
            <a:solidFill>
              <a:srgbClr val="2BA6CB"/>
            </a:solidFill>
            <a:prstDash val="solid"/>
            <a:tailEnd type="triangle"/>
          </a:ln>
        </p:spPr>
      </p:sp>
      <p:sp>
        <p:nvSpPr>
          <p:cNvPr id="22" name="Shape 20"/>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3"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24" name="Text 22"/>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5" name="Text 23"/>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26" name="Text 24"/>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y los ordena por servicio.</a:t>
            </a:r>
            <a:endParaRPr lang="en-US" sz="1400" dirty="0"/>
          </a:p>
        </p:txBody>
      </p:sp>
      <p:sp>
        <p:nvSpPr>
          <p:cNvPr id="27" name="Shape 25"/>
          <p:cNvSpPr/>
          <p:nvPr/>
        </p:nvSpPr>
        <p:spPr>
          <a:xfrm>
            <a:off x="8289608" y="2875788"/>
            <a:ext cx="1095680" cy="0"/>
          </a:xfrm>
          <a:prstGeom prst="line">
            <a:avLst/>
          </a:prstGeom>
          <a:noFill/>
          <a:ln w="38100">
            <a:solidFill>
              <a:srgbClr val="2BA6CB"/>
            </a:solidFill>
            <a:prstDash val="solid"/>
            <a:tailEnd type="triangle"/>
          </a:ln>
        </p:spPr>
      </p:sp>
      <p:sp>
        <p:nvSpPr>
          <p:cNvPr id="28" name="Shape 26"/>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0" name="Text 28"/>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1" name="Text 29"/>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32" name="Text 30"/>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Permite buscarlos en un solo lugar.</a:t>
            </a:r>
            <a:endParaRPr lang="en-US" sz="14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Centralizar los logs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observabilidad/promtail.yaml</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clients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  - url</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http://loki:</a:t>
            </a:r>
            <a:pPr indent="0" marL="0">
              <a:lnSpc>
                <a:spcPct val="110000"/>
              </a:lnSpc>
              <a:buNone/>
            </a:pPr>
            <a:r>
              <a:rPr lang="en-US" sz="2000" dirty="0">
                <a:solidFill>
                  <a:srgbClr val="F2C66D"/>
                </a:solidFill>
                <a:latin typeface="Consolas" pitchFamily="34" charset="0"/>
                <a:ea typeface="Consolas" pitchFamily="34" charset="-122"/>
                <a:cs typeface="Consolas" pitchFamily="34" charset="-120"/>
              </a:rPr>
              <a:t>3100</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/loki/api/v1/push</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scrape_configs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  - job_name</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docker</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    docker_sd_configs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      - host</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unix:///var/run/docker.sock</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31750">
            <a:solidFill>
              <a:srgbClr val="CBD5E3"/>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25400">
            <a:solidFill>
              <a:srgbClr val="CBD5E3"/>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31750">
            <a:solidFill>
              <a:srgbClr val="CBD5E3"/>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31750">
            <a:solidFill>
              <a:srgbClr val="CBD5E3"/>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8" name="Shape 16"/>
          <p:cNvSpPr/>
          <p:nvPr/>
        </p:nvSpPr>
        <p:spPr>
          <a:xfrm>
            <a:off x="978248" y="2990131"/>
            <a:ext cx="420624" cy="420624"/>
          </a:xfrm>
          <a:prstGeom prst="ellipse">
            <a:avLst/>
          </a:prstGeom>
          <a:solidFill>
            <a:srgbClr val="E3F4FA"/>
          </a:solidFill>
          <a:ln w="12700">
            <a:solidFill>
              <a:srgbClr val="E3F4F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6E8A"/>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BFCFE"/>
          </a:solidFill>
          <a:ln w="12700">
            <a:solidFill>
              <a:srgbClr val="D5DDE8"/>
            </a:solidFill>
            <a:prstDash val="solid"/>
          </a:ln>
        </p:spPr>
      </p:sp>
      <p:sp>
        <p:nvSpPr>
          <p:cNvPr id="22" name="Shape 20"/>
          <p:cNvSpPr/>
          <p:nvPr/>
        </p:nvSpPr>
        <p:spPr>
          <a:xfrm>
            <a:off x="3354301" y="2990131"/>
            <a:ext cx="420624" cy="420624"/>
          </a:xfrm>
          <a:prstGeom prst="ellipse">
            <a:avLst/>
          </a:prstGeom>
          <a:solidFill>
            <a:srgbClr val="EEF2F7"/>
          </a:solidFill>
          <a:ln w="12700">
            <a:solidFill>
              <a:srgbClr val="EEF2F7"/>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A9B4C6"/>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12700">
            <a:solidFill>
              <a:srgbClr val="D5DDE8"/>
            </a:solidFill>
            <a:prstDash val="solid"/>
          </a:ln>
        </p:spPr>
      </p:sp>
      <p:sp>
        <p:nvSpPr>
          <p:cNvPr id="26" name="Shape 24"/>
          <p:cNvSpPr/>
          <p:nvPr/>
        </p:nvSpPr>
        <p:spPr>
          <a:xfrm>
            <a:off x="5730354" y="2990131"/>
            <a:ext cx="420624" cy="420624"/>
          </a:xfrm>
          <a:prstGeom prst="ellipse">
            <a:avLst/>
          </a:prstGeom>
          <a:solidFill>
            <a:srgbClr val="EEF2F7"/>
          </a:solidFill>
          <a:ln w="12700">
            <a:solidFill>
              <a:srgbClr val="EEF2F7"/>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A9B4C6"/>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12700">
            <a:solidFill>
              <a:srgbClr val="D5DDE8"/>
            </a:solidFill>
            <a:prstDash val="solid"/>
          </a:ln>
        </p:spPr>
      </p:sp>
      <p:sp>
        <p:nvSpPr>
          <p:cNvPr id="30" name="Shape 28"/>
          <p:cNvSpPr/>
          <p:nvPr/>
        </p:nvSpPr>
        <p:spPr>
          <a:xfrm>
            <a:off x="8106407" y="2990131"/>
            <a:ext cx="420624" cy="420624"/>
          </a:xfrm>
          <a:prstGeom prst="ellipse">
            <a:avLst/>
          </a:prstGeom>
          <a:solidFill>
            <a:srgbClr val="EEF2F7"/>
          </a:solidFill>
          <a:ln w="12700">
            <a:solidFill>
              <a:srgbClr val="EEF2F7"/>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A9B4C6"/>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12700">
            <a:solidFill>
              <a:srgbClr val="D5DDE8"/>
            </a:solidFill>
            <a:prstDash val="solid"/>
          </a:ln>
        </p:spPr>
      </p:sp>
      <p:sp>
        <p:nvSpPr>
          <p:cNvPr id="34" name="Shape 32"/>
          <p:cNvSpPr/>
          <p:nvPr/>
        </p:nvSpPr>
        <p:spPr>
          <a:xfrm>
            <a:off x="10025527" y="2990131"/>
            <a:ext cx="420624" cy="420624"/>
          </a:xfrm>
          <a:prstGeom prst="ellipse">
            <a:avLst/>
          </a:prstGeom>
          <a:solidFill>
            <a:srgbClr val="EEF2F7"/>
          </a:solidFill>
          <a:ln w="12700">
            <a:solidFill>
              <a:srgbClr val="EEF2F7"/>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escribe sus logs en formato JSON.</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47625">
            <a:solidFill>
              <a:srgbClr val="2BA6CB"/>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25400">
            <a:solidFill>
              <a:srgbClr val="CBD5E3"/>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31750">
            <a:solidFill>
              <a:srgbClr val="CBD5E3"/>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31750">
            <a:solidFill>
              <a:srgbClr val="CBD5E3"/>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978248" y="2990131"/>
            <a:ext cx="420624" cy="420624"/>
          </a:xfrm>
          <a:prstGeom prst="ellipse">
            <a:avLst/>
          </a:prstGeom>
          <a:solidFill>
            <a:srgbClr val="E2E5EA"/>
          </a:solidFill>
          <a:ln w="12700">
            <a:solidFill>
              <a:srgbClr val="E2E5E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2" name="Shape 20"/>
          <p:cNvSpPr/>
          <p:nvPr/>
        </p:nvSpPr>
        <p:spPr>
          <a:xfrm>
            <a:off x="3354301" y="2990131"/>
            <a:ext cx="420624" cy="420624"/>
          </a:xfrm>
          <a:prstGeom prst="ellipse">
            <a:avLst/>
          </a:prstGeom>
          <a:solidFill>
            <a:srgbClr val="E3F4FA"/>
          </a:solidFill>
          <a:ln w="12700">
            <a:solidFill>
              <a:srgbClr val="E3F4F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6E8A"/>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12700">
            <a:solidFill>
              <a:srgbClr val="D5DDE8"/>
            </a:solidFill>
            <a:prstDash val="solid"/>
          </a:ln>
        </p:spPr>
      </p:sp>
      <p:sp>
        <p:nvSpPr>
          <p:cNvPr id="26" name="Shape 24"/>
          <p:cNvSpPr/>
          <p:nvPr/>
        </p:nvSpPr>
        <p:spPr>
          <a:xfrm>
            <a:off x="5730354" y="2990131"/>
            <a:ext cx="420624" cy="420624"/>
          </a:xfrm>
          <a:prstGeom prst="ellipse">
            <a:avLst/>
          </a:prstGeom>
          <a:solidFill>
            <a:srgbClr val="EEF2F7"/>
          </a:solidFill>
          <a:ln w="12700">
            <a:solidFill>
              <a:srgbClr val="EEF2F7"/>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A9B4C6"/>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12700">
            <a:solidFill>
              <a:srgbClr val="D5DDE8"/>
            </a:solidFill>
            <a:prstDash val="solid"/>
          </a:ln>
        </p:spPr>
      </p:sp>
      <p:sp>
        <p:nvSpPr>
          <p:cNvPr id="30" name="Shape 28"/>
          <p:cNvSpPr/>
          <p:nvPr/>
        </p:nvSpPr>
        <p:spPr>
          <a:xfrm>
            <a:off x="8106407" y="2990131"/>
            <a:ext cx="420624" cy="420624"/>
          </a:xfrm>
          <a:prstGeom prst="ellipse">
            <a:avLst/>
          </a:prstGeom>
          <a:solidFill>
            <a:srgbClr val="EEF2F7"/>
          </a:solidFill>
          <a:ln w="12700">
            <a:solidFill>
              <a:srgbClr val="EEF2F7"/>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A9B4C6"/>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12700">
            <a:solidFill>
              <a:srgbClr val="D5DDE8"/>
            </a:solidFill>
            <a:prstDash val="solid"/>
          </a:ln>
        </p:spPr>
      </p:sp>
      <p:sp>
        <p:nvSpPr>
          <p:cNvPr id="34" name="Shape 32"/>
          <p:cNvSpPr/>
          <p:nvPr/>
        </p:nvSpPr>
        <p:spPr>
          <a:xfrm>
            <a:off x="10025527" y="2990131"/>
            <a:ext cx="420624" cy="420624"/>
          </a:xfrm>
          <a:prstGeom prst="ellipse">
            <a:avLst/>
          </a:prstGeom>
          <a:solidFill>
            <a:srgbClr val="EEF2F7"/>
          </a:solidFill>
          <a:ln w="12700">
            <a:solidFill>
              <a:srgbClr val="EEF2F7"/>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Docker guarda lo que escribe cada contenedor.</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31750">
            <a:solidFill>
              <a:srgbClr val="55627E"/>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41275">
            <a:solidFill>
              <a:srgbClr val="2BA6CB"/>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31750">
            <a:solidFill>
              <a:srgbClr val="CBD5E3"/>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31750">
            <a:solidFill>
              <a:srgbClr val="CBD5E3"/>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978248" y="2990131"/>
            <a:ext cx="420624" cy="420624"/>
          </a:xfrm>
          <a:prstGeom prst="ellipse">
            <a:avLst/>
          </a:prstGeom>
          <a:solidFill>
            <a:srgbClr val="E2E5EA"/>
          </a:solidFill>
          <a:ln w="12700">
            <a:solidFill>
              <a:srgbClr val="E2E5E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354301" y="2990131"/>
            <a:ext cx="420624" cy="420624"/>
          </a:xfrm>
          <a:prstGeom prst="ellipse">
            <a:avLst/>
          </a:prstGeom>
          <a:solidFill>
            <a:srgbClr val="E2E5EA"/>
          </a:solidFill>
          <a:ln w="12700">
            <a:solidFill>
              <a:srgbClr val="E2E5E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26" name="Shape 24"/>
          <p:cNvSpPr/>
          <p:nvPr/>
        </p:nvSpPr>
        <p:spPr>
          <a:xfrm>
            <a:off x="5730354" y="2990131"/>
            <a:ext cx="420624" cy="420624"/>
          </a:xfrm>
          <a:prstGeom prst="ellipse">
            <a:avLst/>
          </a:prstGeom>
          <a:solidFill>
            <a:srgbClr val="E3F4FA"/>
          </a:solidFill>
          <a:ln w="12700">
            <a:solidFill>
              <a:srgbClr val="E3F4FA"/>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0B6E8A"/>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12700">
            <a:solidFill>
              <a:srgbClr val="D5DDE8"/>
            </a:solidFill>
            <a:prstDash val="solid"/>
          </a:ln>
        </p:spPr>
      </p:sp>
      <p:sp>
        <p:nvSpPr>
          <p:cNvPr id="30" name="Shape 28"/>
          <p:cNvSpPr/>
          <p:nvPr/>
        </p:nvSpPr>
        <p:spPr>
          <a:xfrm>
            <a:off x="8106407" y="2990131"/>
            <a:ext cx="420624" cy="420624"/>
          </a:xfrm>
          <a:prstGeom prst="ellipse">
            <a:avLst/>
          </a:prstGeom>
          <a:solidFill>
            <a:srgbClr val="EEF2F7"/>
          </a:solidFill>
          <a:ln w="12700">
            <a:solidFill>
              <a:srgbClr val="EEF2F7"/>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A9B4C6"/>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12700">
            <a:solidFill>
              <a:srgbClr val="D5DDE8"/>
            </a:solidFill>
            <a:prstDash val="solid"/>
          </a:ln>
        </p:spPr>
      </p:sp>
      <p:sp>
        <p:nvSpPr>
          <p:cNvPr id="34" name="Shape 32"/>
          <p:cNvSpPr/>
          <p:nvPr/>
        </p:nvSpPr>
        <p:spPr>
          <a:xfrm>
            <a:off x="10025527" y="2990131"/>
            <a:ext cx="420624" cy="420624"/>
          </a:xfrm>
          <a:prstGeom prst="ellipse">
            <a:avLst/>
          </a:prstGeom>
          <a:solidFill>
            <a:srgbClr val="EEF2F7"/>
          </a:solidFill>
          <a:ln w="12700">
            <a:solidFill>
              <a:srgbClr val="EEF2F7"/>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Promtail recoge esos logs de todos los contenedores.</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31750">
            <a:solidFill>
              <a:srgbClr val="55627E"/>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25400">
            <a:solidFill>
              <a:srgbClr val="55627E"/>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47625">
            <a:solidFill>
              <a:srgbClr val="2BA6CB"/>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31750">
            <a:solidFill>
              <a:srgbClr val="CBD5E3"/>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978248" y="2990131"/>
            <a:ext cx="420624" cy="420624"/>
          </a:xfrm>
          <a:prstGeom prst="ellipse">
            <a:avLst/>
          </a:prstGeom>
          <a:solidFill>
            <a:srgbClr val="E2E5EA"/>
          </a:solidFill>
          <a:ln w="12700">
            <a:solidFill>
              <a:srgbClr val="E2E5E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354301" y="2990131"/>
            <a:ext cx="420624" cy="420624"/>
          </a:xfrm>
          <a:prstGeom prst="ellipse">
            <a:avLst/>
          </a:prstGeom>
          <a:solidFill>
            <a:srgbClr val="E2E5EA"/>
          </a:solidFill>
          <a:ln w="12700">
            <a:solidFill>
              <a:srgbClr val="E2E5E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5730354" y="2990131"/>
            <a:ext cx="420624" cy="420624"/>
          </a:xfrm>
          <a:prstGeom prst="ellipse">
            <a:avLst/>
          </a:prstGeom>
          <a:solidFill>
            <a:srgbClr val="E2E5EA"/>
          </a:solidFill>
          <a:ln w="12700">
            <a:solidFill>
              <a:srgbClr val="E2E5EA"/>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0B2350"/>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0" name="Shape 28"/>
          <p:cNvSpPr/>
          <p:nvPr/>
        </p:nvSpPr>
        <p:spPr>
          <a:xfrm>
            <a:off x="8106407" y="2990131"/>
            <a:ext cx="420624" cy="420624"/>
          </a:xfrm>
          <a:prstGeom prst="ellipse">
            <a:avLst/>
          </a:prstGeom>
          <a:solidFill>
            <a:srgbClr val="E3F4FA"/>
          </a:solidFill>
          <a:ln w="12700">
            <a:solidFill>
              <a:srgbClr val="E3F4FA"/>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0B6E8A"/>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12700">
            <a:solidFill>
              <a:srgbClr val="D5DDE8"/>
            </a:solidFill>
            <a:prstDash val="solid"/>
          </a:ln>
        </p:spPr>
      </p:sp>
      <p:sp>
        <p:nvSpPr>
          <p:cNvPr id="34" name="Shape 32"/>
          <p:cNvSpPr/>
          <p:nvPr/>
        </p:nvSpPr>
        <p:spPr>
          <a:xfrm>
            <a:off x="10025527" y="2990131"/>
            <a:ext cx="420624" cy="420624"/>
          </a:xfrm>
          <a:prstGeom prst="ellipse">
            <a:avLst/>
          </a:prstGeom>
          <a:solidFill>
            <a:srgbClr val="EEF2F7"/>
          </a:solidFill>
          <a:ln w="12700">
            <a:solidFill>
              <a:srgbClr val="EEF2F7"/>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Loki los guarda y permite buscarlos.</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200443"/>
            <a:ext cx="548320" cy="0"/>
          </a:xfrm>
          <a:prstGeom prst="line">
            <a:avLst/>
          </a:prstGeom>
          <a:noFill/>
          <a:ln w="31750">
            <a:solidFill>
              <a:srgbClr val="55627E"/>
            </a:solidFill>
            <a:prstDash val="sysDot"/>
            <a:tailEnd type="triangle"/>
          </a:ln>
        </p:spPr>
      </p:sp>
      <p:sp>
        <p:nvSpPr>
          <p:cNvPr id="6" name="Text 4"/>
          <p:cNvSpPr/>
          <p:nvPr/>
        </p:nvSpPr>
        <p:spPr>
          <a:xfrm>
            <a:off x="2726497"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200443"/>
            <a:ext cx="548320" cy="0"/>
          </a:xfrm>
          <a:prstGeom prst="line">
            <a:avLst/>
          </a:prstGeom>
          <a:noFill/>
          <a:ln w="25400">
            <a:solidFill>
              <a:srgbClr val="55627E"/>
            </a:solidFill>
            <a:prstDash val="dash"/>
            <a:tailEnd type="triangle"/>
          </a:ln>
        </p:spPr>
      </p:sp>
      <p:sp>
        <p:nvSpPr>
          <p:cNvPr id="9" name="Text 7"/>
          <p:cNvSpPr/>
          <p:nvPr/>
        </p:nvSpPr>
        <p:spPr>
          <a:xfrm>
            <a:off x="5201648" y="2962747"/>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200443"/>
            <a:ext cx="548320" cy="0"/>
          </a:xfrm>
          <a:prstGeom prst="line">
            <a:avLst/>
          </a:prstGeom>
          <a:noFill/>
          <a:ln w="31750">
            <a:solidFill>
              <a:srgbClr val="2E6DB4"/>
            </a:solidFill>
            <a:prstDash val="solid"/>
            <a:tailEnd type="triangle"/>
          </a:ln>
        </p:spPr>
      </p:sp>
      <p:sp>
        <p:nvSpPr>
          <p:cNvPr id="12" name="Text 10"/>
          <p:cNvSpPr/>
          <p:nvPr/>
        </p:nvSpPr>
        <p:spPr>
          <a:xfrm>
            <a:off x="7544669" y="2962747"/>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9071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200443"/>
            <a:ext cx="456933" cy="0"/>
          </a:xfrm>
          <a:prstGeom prst="line">
            <a:avLst/>
          </a:prstGeom>
          <a:noFill/>
          <a:ln w="47625">
            <a:solidFill>
              <a:srgbClr val="2BA6CB"/>
            </a:solidFill>
            <a:prstDash val="solid"/>
            <a:tailEnd type="triangle"/>
          </a:ln>
        </p:spPr>
      </p:sp>
      <p:sp>
        <p:nvSpPr>
          <p:cNvPr id="15" name="Text 13"/>
          <p:cNvSpPr/>
          <p:nvPr/>
        </p:nvSpPr>
        <p:spPr>
          <a:xfrm>
            <a:off x="9377351" y="2962747"/>
            <a:ext cx="656539"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17" name="Shape 15"/>
          <p:cNvSpPr/>
          <p:nvPr/>
        </p:nvSpPr>
        <p:spPr>
          <a:xfrm>
            <a:off x="886808"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978248" y="2990131"/>
            <a:ext cx="420624" cy="420624"/>
          </a:xfrm>
          <a:prstGeom prst="ellipse">
            <a:avLst/>
          </a:prstGeom>
          <a:solidFill>
            <a:srgbClr val="E2E5EA"/>
          </a:solidFill>
          <a:ln w="12700">
            <a:solidFill>
              <a:srgbClr val="E2E5EA"/>
            </a:solidFill>
            <a:prstDash val="solid"/>
          </a:ln>
        </p:spPr>
      </p:sp>
      <p:sp>
        <p:nvSpPr>
          <p:cNvPr id="19" name="Icono server"/>
          <p:cNvSpPr/>
          <p:nvPr/>
        </p:nvSpPr>
        <p:spPr>
          <a:xfrm>
            <a:off x="1033112" y="3044995"/>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20" name="Text 18"/>
          <p:cNvSpPr/>
          <p:nvPr/>
        </p:nvSpPr>
        <p:spPr>
          <a:xfrm>
            <a:off x="1453736"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Aplicación Spring</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logs ECS en la consola</a:t>
            </a:r>
            <a:endParaRPr lang="en-US" sz="1079" dirty="0"/>
          </a:p>
        </p:txBody>
      </p:sp>
      <p:sp>
        <p:nvSpPr>
          <p:cNvPr id="21" name="Shape 19"/>
          <p:cNvSpPr/>
          <p:nvPr/>
        </p:nvSpPr>
        <p:spPr>
          <a:xfrm>
            <a:off x="3262861" y="2816619"/>
            <a:ext cx="1827733" cy="767648"/>
          </a:xfrm>
          <a:prstGeom prst="roundRect">
            <a:avLst>
              <a:gd name="adj" fmla="val 10721"/>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354301" y="2990131"/>
            <a:ext cx="420624" cy="420624"/>
          </a:xfrm>
          <a:prstGeom prst="ellipse">
            <a:avLst/>
          </a:prstGeom>
          <a:solidFill>
            <a:srgbClr val="E2E5EA"/>
          </a:solidFill>
          <a:ln w="12700">
            <a:solidFill>
              <a:srgbClr val="E2E5EA"/>
            </a:solidFill>
            <a:prstDash val="solid"/>
          </a:ln>
        </p:spPr>
      </p:sp>
      <p:sp>
        <p:nvSpPr>
          <p:cNvPr id="23" name="Icono container"/>
          <p:cNvSpPr/>
          <p:nvPr/>
        </p:nvSpPr>
        <p:spPr>
          <a:xfrm>
            <a:off x="3409165" y="3044995"/>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0B2350"/>
            </a:solidFill>
            <a:prstDash val="solid"/>
            <a:round/>
          </a:ln>
        </p:spPr>
      </p:sp>
      <p:sp>
        <p:nvSpPr>
          <p:cNvPr id="24" name="Text 22"/>
          <p:cNvSpPr/>
          <p:nvPr/>
        </p:nvSpPr>
        <p:spPr>
          <a:xfrm>
            <a:off x="3829789"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Salida del contenedor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 la conserva</a:t>
            </a:r>
            <a:endParaRPr lang="en-US" sz="1079" dirty="0"/>
          </a:p>
        </p:txBody>
      </p:sp>
      <p:sp>
        <p:nvSpPr>
          <p:cNvPr id="25" name="Shape 23"/>
          <p:cNvSpPr/>
          <p:nvPr/>
        </p:nvSpPr>
        <p:spPr>
          <a:xfrm>
            <a:off x="5638914" y="2816619"/>
            <a:ext cx="1827733"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5730354" y="2990131"/>
            <a:ext cx="420624" cy="420624"/>
          </a:xfrm>
          <a:prstGeom prst="ellipse">
            <a:avLst/>
          </a:prstGeom>
          <a:solidFill>
            <a:srgbClr val="E2E5EA"/>
          </a:solidFill>
          <a:ln w="12700">
            <a:solidFill>
              <a:srgbClr val="E2E5EA"/>
            </a:solidFill>
            <a:prstDash val="solid"/>
          </a:ln>
        </p:spPr>
      </p:sp>
      <p:sp>
        <p:nvSpPr>
          <p:cNvPr id="27" name="Icono scan-eye"/>
          <p:cNvSpPr/>
          <p:nvPr/>
        </p:nvSpPr>
        <p:spPr>
          <a:xfrm>
            <a:off x="5785218" y="3044995"/>
            <a:ext cx="310896" cy="310896"/>
          </a:xfrm>
          <a:custGeom>
            <a:avLst/>
            <a:gdLst/>
            <a:ahLst/>
            <a:cxnLst/>
            <a:rect l="l" t="t" r="r" b="b"/>
            <a:pathLst>
              <a:path w="310896" h="310896">
                <a:moveTo>
                  <a:pt x="38862" y="90678"/>
                </a:moveTo>
                <a:lnTo>
                  <a:pt x="38862" y="64770"/>
                </a:lnTo>
                <a:cubicBezTo>
                  <a:pt x="38862" y="50461"/>
                  <a:pt x="50461" y="38862"/>
                  <a:pt x="64770" y="38862"/>
                </a:cubicBezTo>
                <a:lnTo>
                  <a:pt x="90678" y="38862"/>
                </a:lnTo>
                <a:moveTo>
                  <a:pt x="220218" y="38862"/>
                </a:moveTo>
                <a:lnTo>
                  <a:pt x="246126" y="38862"/>
                </a:lnTo>
                <a:cubicBezTo>
                  <a:pt x="260435" y="38862"/>
                  <a:pt x="272034" y="50461"/>
                  <a:pt x="272034" y="64770"/>
                </a:cubicBezTo>
                <a:lnTo>
                  <a:pt x="272034" y="90678"/>
                </a:lnTo>
                <a:moveTo>
                  <a:pt x="272034" y="220218"/>
                </a:moveTo>
                <a:lnTo>
                  <a:pt x="272034" y="246126"/>
                </a:lnTo>
                <a:cubicBezTo>
                  <a:pt x="272034" y="260435"/>
                  <a:pt x="260435" y="272034"/>
                  <a:pt x="246126" y="272034"/>
                </a:cubicBezTo>
                <a:lnTo>
                  <a:pt x="220218" y="272034"/>
                </a:lnTo>
                <a:moveTo>
                  <a:pt x="90678" y="272034"/>
                </a:moveTo>
                <a:lnTo>
                  <a:pt x="64770" y="272034"/>
                </a:lnTo>
                <a:cubicBezTo>
                  <a:pt x="50461" y="272034"/>
                  <a:pt x="38862" y="260435"/>
                  <a:pt x="38862" y="246126"/>
                </a:cubicBezTo>
                <a:lnTo>
                  <a:pt x="38862" y="220218"/>
                </a:lnTo>
                <a:moveTo>
                  <a:pt x="168402" y="155448"/>
                </a:moveTo>
                <a:cubicBezTo>
                  <a:pt x="168402" y="162602"/>
                  <a:pt x="162602" y="168402"/>
                  <a:pt x="155448" y="168402"/>
                </a:cubicBezTo>
                <a:cubicBezTo>
                  <a:pt x="148294" y="168402"/>
                  <a:pt x="142494" y="162602"/>
                  <a:pt x="142494" y="155448"/>
                </a:cubicBezTo>
                <a:cubicBezTo>
                  <a:pt x="142494" y="148294"/>
                  <a:pt x="148294" y="142494"/>
                  <a:pt x="155448" y="142494"/>
                </a:cubicBezTo>
                <a:cubicBezTo>
                  <a:pt x="162602" y="142494"/>
                  <a:pt x="168402" y="148294"/>
                  <a:pt x="168402" y="155448"/>
                </a:cubicBezTo>
                <a:close/>
                <a:moveTo>
                  <a:pt x="245401" y="159723"/>
                </a:moveTo>
                <a:cubicBezTo>
                  <a:pt x="246368" y="156955"/>
                  <a:pt x="246368" y="153941"/>
                  <a:pt x="245401" y="151173"/>
                </a:cubicBezTo>
                <a:cubicBezTo>
                  <a:pt x="230483" y="114620"/>
                  <a:pt x="194928" y="90728"/>
                  <a:pt x="155448" y="90728"/>
                </a:cubicBezTo>
                <a:cubicBezTo>
                  <a:pt x="115968" y="90728"/>
                  <a:pt x="80413" y="114620"/>
                  <a:pt x="65495" y="151173"/>
                </a:cubicBezTo>
                <a:cubicBezTo>
                  <a:pt x="64528" y="153941"/>
                  <a:pt x="64528" y="156955"/>
                  <a:pt x="65495" y="159723"/>
                </a:cubicBezTo>
                <a:cubicBezTo>
                  <a:pt x="80413" y="196276"/>
                  <a:pt x="115968" y="220168"/>
                  <a:pt x="155448" y="220168"/>
                </a:cubicBezTo>
                <a:cubicBezTo>
                  <a:pt x="194928" y="220168"/>
                  <a:pt x="230483" y="196276"/>
                  <a:pt x="245401" y="159723"/>
                </a:cubicBezTo>
              </a:path>
            </a:pathLst>
          </a:custGeom>
          <a:noFill/>
          <a:ln w="25908" cap="rnd">
            <a:solidFill>
              <a:srgbClr val="0B2350"/>
            </a:solidFill>
            <a:prstDash val="solid"/>
            <a:round/>
          </a:ln>
        </p:spPr>
      </p:sp>
      <p:sp>
        <p:nvSpPr>
          <p:cNvPr id="28" name="Text 26"/>
          <p:cNvSpPr/>
          <p:nvPr/>
        </p:nvSpPr>
        <p:spPr>
          <a:xfrm>
            <a:off x="6205842" y="2816619"/>
            <a:ext cx="1205941"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Promtail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docker_sd_configs</a:t>
            </a:r>
            <a:endParaRPr lang="en-US" sz="1079" dirty="0"/>
          </a:p>
        </p:txBody>
      </p:sp>
      <p:sp>
        <p:nvSpPr>
          <p:cNvPr id="29" name="Shape 27"/>
          <p:cNvSpPr/>
          <p:nvPr/>
        </p:nvSpPr>
        <p:spPr>
          <a:xfrm>
            <a:off x="8014967" y="2816619"/>
            <a:ext cx="146218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8106407" y="2990131"/>
            <a:ext cx="420624" cy="420624"/>
          </a:xfrm>
          <a:prstGeom prst="ellipse">
            <a:avLst/>
          </a:prstGeom>
          <a:solidFill>
            <a:srgbClr val="E2E5EA"/>
          </a:solidFill>
          <a:ln w="12700">
            <a:solidFill>
              <a:srgbClr val="E2E5EA"/>
            </a:solidFill>
            <a:prstDash val="solid"/>
          </a:ln>
        </p:spPr>
      </p:sp>
      <p:sp>
        <p:nvSpPr>
          <p:cNvPr id="31" name="Icono archive"/>
          <p:cNvSpPr/>
          <p:nvPr/>
        </p:nvSpPr>
        <p:spPr>
          <a:xfrm>
            <a:off x="8161271" y="3044995"/>
            <a:ext cx="310896" cy="310896"/>
          </a:xfrm>
          <a:custGeom>
            <a:avLst/>
            <a:gdLst/>
            <a:ahLst/>
            <a:cxnLst/>
            <a:rect l="l" t="t" r="r" b="b"/>
            <a:pathLst>
              <a:path w="310896" h="310896">
                <a:moveTo>
                  <a:pt x="38862" y="38862"/>
                </a:moveTo>
                <a:lnTo>
                  <a:pt x="272034" y="38862"/>
                </a:lnTo>
                <a:cubicBezTo>
                  <a:pt x="279188" y="38862"/>
                  <a:pt x="284988" y="44662"/>
                  <a:pt x="284988" y="51816"/>
                </a:cubicBezTo>
                <a:lnTo>
                  <a:pt x="284988" y="90678"/>
                </a:lnTo>
                <a:cubicBezTo>
                  <a:pt x="284988" y="97832"/>
                  <a:pt x="279188" y="103632"/>
                  <a:pt x="272034" y="103632"/>
                </a:cubicBezTo>
                <a:lnTo>
                  <a:pt x="38862" y="103632"/>
                </a:lnTo>
                <a:cubicBezTo>
                  <a:pt x="31708" y="103632"/>
                  <a:pt x="25908" y="97832"/>
                  <a:pt x="25908" y="90678"/>
                </a:cubicBezTo>
                <a:lnTo>
                  <a:pt x="25908" y="51816"/>
                </a:lnTo>
                <a:cubicBezTo>
                  <a:pt x="25908" y="44662"/>
                  <a:pt x="31708" y="38862"/>
                  <a:pt x="38862" y="38862"/>
                </a:cubicBezTo>
                <a:close/>
                <a:moveTo>
                  <a:pt x="51816" y="103632"/>
                </a:moveTo>
                <a:lnTo>
                  <a:pt x="51816" y="246126"/>
                </a:lnTo>
                <a:cubicBezTo>
                  <a:pt x="51816" y="260435"/>
                  <a:pt x="63415" y="272034"/>
                  <a:pt x="77724" y="272034"/>
                </a:cubicBezTo>
                <a:lnTo>
                  <a:pt x="233172" y="272034"/>
                </a:lnTo>
                <a:cubicBezTo>
                  <a:pt x="247481" y="272034"/>
                  <a:pt x="259080" y="260435"/>
                  <a:pt x="259080" y="246126"/>
                </a:cubicBezTo>
                <a:lnTo>
                  <a:pt x="259080" y="103632"/>
                </a:lnTo>
                <a:moveTo>
                  <a:pt x="129540" y="155448"/>
                </a:moveTo>
                <a:lnTo>
                  <a:pt x="181356" y="155448"/>
                </a:lnTo>
              </a:path>
            </a:pathLst>
          </a:custGeom>
          <a:noFill/>
          <a:ln w="25908" cap="rnd">
            <a:solidFill>
              <a:srgbClr val="0B2350"/>
            </a:solidFill>
            <a:prstDash val="solid"/>
            <a:round/>
          </a:ln>
        </p:spPr>
      </p:sp>
      <p:sp>
        <p:nvSpPr>
          <p:cNvPr id="32" name="Text 30"/>
          <p:cNvSpPr/>
          <p:nvPr/>
        </p:nvSpPr>
        <p:spPr>
          <a:xfrm>
            <a:off x="858189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Loki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:3100</a:t>
            </a:r>
            <a:endParaRPr lang="en-US" sz="1079" dirty="0"/>
          </a:p>
        </p:txBody>
      </p:sp>
      <p:sp>
        <p:nvSpPr>
          <p:cNvPr id="33" name="Shape 31"/>
          <p:cNvSpPr/>
          <p:nvPr/>
        </p:nvSpPr>
        <p:spPr>
          <a:xfrm>
            <a:off x="9934087" y="2816619"/>
            <a:ext cx="1462187"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4" name="Shape 32"/>
          <p:cNvSpPr/>
          <p:nvPr/>
        </p:nvSpPr>
        <p:spPr>
          <a:xfrm>
            <a:off x="10025527" y="2990131"/>
            <a:ext cx="420624" cy="420624"/>
          </a:xfrm>
          <a:prstGeom prst="ellipse">
            <a:avLst/>
          </a:prstGeom>
          <a:solidFill>
            <a:srgbClr val="E3F4FA"/>
          </a:solidFill>
          <a:ln w="12700">
            <a:solidFill>
              <a:srgbClr val="E3F4FA"/>
            </a:solidFill>
            <a:prstDash val="solid"/>
          </a:ln>
        </p:spPr>
      </p:sp>
      <p:sp>
        <p:nvSpPr>
          <p:cNvPr id="35" name="Icono chart-line"/>
          <p:cNvSpPr/>
          <p:nvPr/>
        </p:nvSpPr>
        <p:spPr>
          <a:xfrm>
            <a:off x="10080391"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0B6E8A"/>
            </a:solidFill>
            <a:prstDash val="solid"/>
            <a:round/>
          </a:ln>
        </p:spPr>
      </p:sp>
      <p:sp>
        <p:nvSpPr>
          <p:cNvPr id="36" name="Text 34"/>
          <p:cNvSpPr/>
          <p:nvPr/>
        </p:nvSpPr>
        <p:spPr>
          <a:xfrm>
            <a:off x="10501015" y="2816619"/>
            <a:ext cx="84039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fuente Loki: a mano</a:t>
            </a:r>
            <a:endParaRPr lang="en-US" sz="1079" dirty="0"/>
          </a:p>
        </p:txBody>
      </p:sp>
      <p:sp>
        <p:nvSpPr>
          <p:cNvPr id="37" name="Shape 3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9" name="Text 3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muestra los logs y deja filtrarlos, por ejemplo, por número de evento.</a:t>
            </a:r>
            <a:endParaRPr lang="en-US" sz="13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registran hoy los logs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Momento, nivel y servicio</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Número de evento y de solicitud dentro del mensaje</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traza viaja entre servicios por el RestClient</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Campos de destino y duración: propuesta</a:t>
            </a:r>
            <a:endParaRPr lang="en-US" sz="11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3655466"/>
                <a:gridCol w="2016809"/>
                <a:gridCol w="5294124"/>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Campo</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Hoy</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Dónde</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@timestamp, log.level, logger</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Registrado</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Formato ECS de Spring Boot</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service</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Registrado</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Etiqueta que agrega Promtail</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eventoId e id de solicitud</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Dentro del texto</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PublicadorConReintento, ConsumoIdempotente</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Destino, intento y duración</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Propuesto</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Hoy van en el texto o no se registran</a:t>
                      </a:r>
                      <a:endParaRPr lang="en-US" sz="1400" dirty="0">
                        <a:latin typeface="Segoe UI" charset="0"/>
                        <a:ea typeface="Segoe UI" charset="0"/>
                        <a:cs typeface="Segoe UI" charset="0"/>
                      </a:endParaRPr>
                    </a:p>
                  </a:txBody>
                  <a:tcPr marL="101600" marR="101600" marT="76200" marB="762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y monitoreo</a:t>
            </a:r>
            <a:endParaRPr lang="en-US" sz="2800" dirty="0"/>
          </a:p>
        </p:txBody>
      </p:sp>
      <p:sp>
        <p:nvSpPr>
          <p:cNvPr id="5" name="Shape 3"/>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6" name="Shape 4"/>
          <p:cNvSpPr/>
          <p:nvPr/>
        </p:nvSpPr>
        <p:spPr>
          <a:xfrm>
            <a:off x="5020056" y="1446290"/>
            <a:ext cx="79358" cy="79358"/>
          </a:xfrm>
          <a:prstGeom prst="ellipse">
            <a:avLst/>
          </a:prstGeom>
          <a:solidFill>
            <a:srgbClr val="E5484D"/>
          </a:solidFill>
          <a:ln w="12700">
            <a:solidFill>
              <a:srgbClr val="E5484D"/>
            </a:solidFill>
            <a:prstDash val="solid"/>
          </a:ln>
        </p:spPr>
      </p:sp>
      <p:sp>
        <p:nvSpPr>
          <p:cNvPr id="7" name="Shape 5"/>
          <p:cNvSpPr/>
          <p:nvPr/>
        </p:nvSpPr>
        <p:spPr>
          <a:xfrm>
            <a:off x="5125088" y="1446290"/>
            <a:ext cx="79358" cy="79358"/>
          </a:xfrm>
          <a:prstGeom prst="ellipse">
            <a:avLst/>
          </a:prstGeom>
          <a:solidFill>
            <a:srgbClr val="F5A524"/>
          </a:solidFill>
          <a:ln w="12700">
            <a:solidFill>
              <a:srgbClr val="F5A524"/>
            </a:solidFill>
            <a:prstDash val="solid"/>
          </a:ln>
        </p:spPr>
      </p:sp>
      <p:sp>
        <p:nvSpPr>
          <p:cNvPr id="8" name="Shape 6"/>
          <p:cNvSpPr/>
          <p:nvPr/>
        </p:nvSpPr>
        <p:spPr>
          <a:xfrm>
            <a:off x="5230121" y="1446290"/>
            <a:ext cx="79358" cy="79358"/>
          </a:xfrm>
          <a:prstGeom prst="ellipse">
            <a:avLst/>
          </a:prstGeom>
          <a:solidFill>
            <a:srgbClr val="30A46C"/>
          </a:solidFill>
          <a:ln w="12700">
            <a:solidFill>
              <a:srgbClr val="30A46C"/>
            </a:solidFill>
            <a:prstDash val="solid"/>
          </a:ln>
        </p:spPr>
      </p:sp>
      <p:sp>
        <p:nvSpPr>
          <p:cNvPr id="9" name="Text 7"/>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10" name="Image 0" descr="La pestaña Salud de la UI">    </p:cNvPr>
          <p:cNvPicPr>
            <a:picLocks noChangeAspect="1"/>
          </p:cNvPicPr>
          <p:nvPr/>
        </p:nvPicPr>
        <p:blipFill>
          <a:blip r:embed="rId1"/>
          <a:stretch>
            <a:fillRect/>
          </a:stretch>
        </p:blipFill>
        <p:spPr>
          <a:xfrm>
            <a:off x="4910328" y="1605005"/>
            <a:ext cx="6668719" cy="4167950"/>
          </a:xfrm>
          <a:prstGeom prst="rect">
            <a:avLst/>
          </a:prstGeom>
        </p:spPr>
      </p:pic>
      <p:sp>
        <p:nvSpPr>
          <p:cNvPr id="11" name="Shape 8"/>
          <p:cNvSpPr/>
          <p:nvPr/>
        </p:nvSpPr>
        <p:spPr>
          <a:xfrm>
            <a:off x="612648" y="1426464"/>
            <a:ext cx="73152" cy="822960"/>
          </a:xfrm>
          <a:prstGeom prst="rect">
            <a:avLst/>
          </a:prstGeom>
          <a:solidFill>
            <a:srgbClr val="2BA6CB"/>
          </a:solidFill>
          <a:ln w="12700">
            <a:solidFill>
              <a:srgbClr val="2BA6CB"/>
            </a:solidFill>
            <a:prstDash val="solid"/>
          </a:ln>
        </p:spPr>
      </p:sp>
      <p:sp>
        <p:nvSpPr>
          <p:cNvPr id="12" name="Text 9"/>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Cada servicio responde: ¿estás bien?</a:t>
            </a:r>
            <a:endParaRPr lang="en-US" sz="2400" dirty="0"/>
          </a:p>
        </p:txBody>
      </p:sp>
      <p:sp>
        <p:nvSpPr>
          <p:cNvPr id="13" name="Shape 10"/>
          <p:cNvSpPr/>
          <p:nvPr/>
        </p:nvSpPr>
        <p:spPr>
          <a:xfrm>
            <a:off x="612648" y="2816352"/>
            <a:ext cx="420624" cy="420624"/>
          </a:xfrm>
          <a:prstGeom prst="ellipse">
            <a:avLst/>
          </a:prstGeom>
          <a:solidFill>
            <a:srgbClr val="E3F4FA"/>
          </a:solidFill>
          <a:ln w="12700">
            <a:solidFill>
              <a:srgbClr val="E3F4FA"/>
            </a:solidFill>
            <a:prstDash val="solid"/>
          </a:ln>
        </p:spPr>
      </p:sp>
      <p:sp>
        <p:nvSpPr>
          <p:cNvPr id="14" name="Icono heart-pulse"/>
          <p:cNvSpPr/>
          <p:nvPr/>
        </p:nvSpPr>
        <p:spPr>
          <a:xfrm>
            <a:off x="713598" y="2917302"/>
            <a:ext cx="218724" cy="218724"/>
          </a:xfrm>
          <a:custGeom>
            <a:avLst/>
            <a:gdLst/>
            <a:ahLst/>
            <a:cxnLst/>
            <a:rect l="l" t="t" r="r" b="b"/>
            <a:pathLst>
              <a:path w="218724" h="218724">
                <a:moveTo>
                  <a:pt x="173157" y="127589"/>
                </a:moveTo>
                <a:cubicBezTo>
                  <a:pt x="186736" y="114284"/>
                  <a:pt x="200497" y="98335"/>
                  <a:pt x="200497" y="77465"/>
                </a:cubicBezTo>
                <a:cubicBezTo>
                  <a:pt x="200497" y="49782"/>
                  <a:pt x="178056" y="27341"/>
                  <a:pt x="150373" y="27341"/>
                </a:cubicBezTo>
                <a:cubicBezTo>
                  <a:pt x="134333" y="27341"/>
                  <a:pt x="123033" y="31897"/>
                  <a:pt x="109362" y="45568"/>
                </a:cubicBezTo>
                <a:cubicBezTo>
                  <a:pt x="95692" y="31897"/>
                  <a:pt x="84391" y="27341"/>
                  <a:pt x="68351" y="27341"/>
                </a:cubicBezTo>
                <a:cubicBezTo>
                  <a:pt x="40668" y="27341"/>
                  <a:pt x="18227" y="49782"/>
                  <a:pt x="18227" y="77465"/>
                </a:cubicBezTo>
                <a:cubicBezTo>
                  <a:pt x="18227" y="98426"/>
                  <a:pt x="31897" y="114375"/>
                  <a:pt x="45568" y="127589"/>
                </a:cubicBezTo>
                <a:lnTo>
                  <a:pt x="109362" y="191384"/>
                </a:lnTo>
                <a:close/>
                <a:moveTo>
                  <a:pt x="29346" y="109362"/>
                </a:moveTo>
                <a:lnTo>
                  <a:pt x="86578" y="109362"/>
                </a:lnTo>
                <a:lnTo>
                  <a:pt x="91135" y="100249"/>
                </a:lnTo>
                <a:lnTo>
                  <a:pt x="109362" y="141260"/>
                </a:lnTo>
                <a:lnTo>
                  <a:pt x="127589" y="77465"/>
                </a:lnTo>
                <a:lnTo>
                  <a:pt x="141260" y="109362"/>
                </a:lnTo>
                <a:lnTo>
                  <a:pt x="189288" y="109362"/>
                </a:lnTo>
              </a:path>
            </a:pathLst>
          </a:custGeom>
          <a:noFill/>
          <a:ln w="18227" cap="rnd">
            <a:solidFill>
              <a:srgbClr val="0B6E8A"/>
            </a:solidFill>
            <a:prstDash val="solid"/>
            <a:round/>
          </a:ln>
        </p:spPr>
      </p:sp>
      <p:sp>
        <p:nvSpPr>
          <p:cNvPr id="15" name="Text 12"/>
          <p:cNvSpPr/>
          <p:nvPr/>
        </p:nvSpPr>
        <p:spPr>
          <a:xfrm>
            <a:off x="1161288" y="2697480"/>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Actuator expone la salud de cada servicio</a:t>
            </a:r>
            <a:endParaRPr lang="en-US" sz="1350" dirty="0"/>
          </a:p>
        </p:txBody>
      </p:sp>
      <p:sp>
        <p:nvSpPr>
          <p:cNvPr id="16" name="Shape 13"/>
          <p:cNvSpPr/>
          <p:nvPr/>
        </p:nvSpPr>
        <p:spPr>
          <a:xfrm>
            <a:off x="612648" y="3474720"/>
            <a:ext cx="420624" cy="420624"/>
          </a:xfrm>
          <a:prstGeom prst="ellipse">
            <a:avLst/>
          </a:prstGeom>
          <a:solidFill>
            <a:srgbClr val="E3F4FA"/>
          </a:solidFill>
          <a:ln w="12700">
            <a:solidFill>
              <a:srgbClr val="E3F4FA"/>
            </a:solidFill>
            <a:prstDash val="solid"/>
          </a:ln>
        </p:spPr>
      </p:sp>
      <p:sp>
        <p:nvSpPr>
          <p:cNvPr id="17" name="Icono database"/>
          <p:cNvSpPr/>
          <p:nvPr/>
        </p:nvSpPr>
        <p:spPr>
          <a:xfrm>
            <a:off x="713598" y="3575670"/>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0B6E8A"/>
            </a:solidFill>
            <a:prstDash val="solid"/>
            <a:round/>
          </a:ln>
        </p:spPr>
      </p:sp>
      <p:sp>
        <p:nvSpPr>
          <p:cNvPr id="18" name="Text 15"/>
          <p:cNvSpPr/>
          <p:nvPr/>
        </p:nvSpPr>
        <p:spPr>
          <a:xfrm>
            <a:off x="1161288" y="3355848"/>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Revisa, por ejemplo, la conexión con la base</a:t>
            </a:r>
            <a:endParaRPr lang="en-US" sz="1350" dirty="0"/>
          </a:p>
        </p:txBody>
      </p:sp>
      <p:sp>
        <p:nvSpPr>
          <p:cNvPr id="19" name="Shape 16"/>
          <p:cNvSpPr/>
          <p:nvPr/>
        </p:nvSpPr>
        <p:spPr>
          <a:xfrm>
            <a:off x="612648" y="4133088"/>
            <a:ext cx="420624" cy="420624"/>
          </a:xfrm>
          <a:prstGeom prst="ellipse">
            <a:avLst/>
          </a:prstGeom>
          <a:solidFill>
            <a:srgbClr val="E3F4FA"/>
          </a:solidFill>
          <a:ln w="12700">
            <a:solidFill>
              <a:srgbClr val="E3F4FA"/>
            </a:solidFill>
            <a:prstDash val="solid"/>
          </a:ln>
        </p:spPr>
      </p:sp>
      <p:sp>
        <p:nvSpPr>
          <p:cNvPr id="20" name="Icono ship-wheel"/>
          <p:cNvSpPr/>
          <p:nvPr/>
        </p:nvSpPr>
        <p:spPr>
          <a:xfrm>
            <a:off x="713598" y="4234038"/>
            <a:ext cx="218724" cy="218724"/>
          </a:xfrm>
          <a:custGeom>
            <a:avLst/>
            <a:gdLst/>
            <a:ahLst/>
            <a:cxnLst/>
            <a:rect l="l" t="t" r="r" b="b"/>
            <a:pathLst>
              <a:path w="218724" h="218724">
                <a:moveTo>
                  <a:pt x="182270" y="109362"/>
                </a:moveTo>
                <a:cubicBezTo>
                  <a:pt x="182270" y="149628"/>
                  <a:pt x="149628" y="182270"/>
                  <a:pt x="109362" y="182270"/>
                </a:cubicBezTo>
                <a:cubicBezTo>
                  <a:pt x="69096" y="182270"/>
                  <a:pt x="36454" y="149628"/>
                  <a:pt x="36454" y="109362"/>
                </a:cubicBezTo>
                <a:cubicBezTo>
                  <a:pt x="36454" y="69096"/>
                  <a:pt x="69096" y="36454"/>
                  <a:pt x="109362" y="36454"/>
                </a:cubicBezTo>
                <a:cubicBezTo>
                  <a:pt x="149628" y="36454"/>
                  <a:pt x="182270" y="69096"/>
                  <a:pt x="182270" y="109362"/>
                </a:cubicBezTo>
                <a:close/>
                <a:moveTo>
                  <a:pt x="109362" y="18227"/>
                </a:moveTo>
                <a:lnTo>
                  <a:pt x="109362" y="86578"/>
                </a:lnTo>
                <a:moveTo>
                  <a:pt x="173157" y="45568"/>
                </a:moveTo>
                <a:lnTo>
                  <a:pt x="125493" y="93231"/>
                </a:lnTo>
                <a:moveTo>
                  <a:pt x="200497" y="109362"/>
                </a:moveTo>
                <a:lnTo>
                  <a:pt x="132146" y="109362"/>
                </a:lnTo>
                <a:moveTo>
                  <a:pt x="173157" y="173157"/>
                </a:moveTo>
                <a:lnTo>
                  <a:pt x="125493" y="125493"/>
                </a:lnTo>
                <a:moveTo>
                  <a:pt x="109362" y="132146"/>
                </a:moveTo>
                <a:lnTo>
                  <a:pt x="109362" y="200497"/>
                </a:lnTo>
                <a:moveTo>
                  <a:pt x="93231" y="125493"/>
                </a:moveTo>
                <a:lnTo>
                  <a:pt x="45568" y="173157"/>
                </a:lnTo>
                <a:moveTo>
                  <a:pt x="86578" y="109362"/>
                </a:moveTo>
                <a:lnTo>
                  <a:pt x="18227" y="109362"/>
                </a:lnTo>
                <a:moveTo>
                  <a:pt x="93231" y="93231"/>
                </a:moveTo>
                <a:lnTo>
                  <a:pt x="45568" y="45568"/>
                </a:lnTo>
                <a:moveTo>
                  <a:pt x="132146" y="109362"/>
                </a:moveTo>
                <a:cubicBezTo>
                  <a:pt x="132146" y="121945"/>
                  <a:pt x="121945" y="132146"/>
                  <a:pt x="109362" y="132146"/>
                </a:cubicBezTo>
                <a:cubicBezTo>
                  <a:pt x="96779" y="132146"/>
                  <a:pt x="86578" y="121945"/>
                  <a:pt x="86578" y="109362"/>
                </a:cubicBezTo>
                <a:cubicBezTo>
                  <a:pt x="86578" y="96779"/>
                  <a:pt x="96779" y="86578"/>
                  <a:pt x="109362" y="86578"/>
                </a:cubicBezTo>
                <a:cubicBezTo>
                  <a:pt x="121945" y="86578"/>
                  <a:pt x="132146" y="96779"/>
                  <a:pt x="132146" y="109362"/>
                </a:cubicBezTo>
                <a:close/>
              </a:path>
            </a:pathLst>
          </a:custGeom>
          <a:noFill/>
          <a:ln w="18227" cap="rnd">
            <a:solidFill>
              <a:srgbClr val="0B6E8A"/>
            </a:solidFill>
            <a:prstDash val="solid"/>
            <a:round/>
          </a:ln>
        </p:spPr>
      </p:sp>
      <p:sp>
        <p:nvSpPr>
          <p:cNvPr id="21" name="Text 18"/>
          <p:cNvSpPr/>
          <p:nvPr/>
        </p:nvSpPr>
        <p:spPr>
          <a:xfrm>
            <a:off x="1161288" y="4014216"/>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Kubernetes y la UI la consultan</a:t>
            </a:r>
            <a:endParaRPr lang="en-US" sz="1350" dirty="0"/>
          </a:p>
        </p:txBody>
      </p:sp>
      <p:sp>
        <p:nvSpPr>
          <p:cNvPr id="22" name="Shape 19"/>
          <p:cNvSpPr/>
          <p:nvPr/>
        </p:nvSpPr>
        <p:spPr>
          <a:xfrm>
            <a:off x="612648" y="4791456"/>
            <a:ext cx="420624" cy="420624"/>
          </a:xfrm>
          <a:prstGeom prst="ellipse">
            <a:avLst/>
          </a:prstGeom>
          <a:solidFill>
            <a:srgbClr val="E3F4FA"/>
          </a:solidFill>
          <a:ln w="12700">
            <a:solidFill>
              <a:srgbClr val="E3F4FA"/>
            </a:solidFill>
            <a:prstDash val="solid"/>
          </a:ln>
        </p:spPr>
      </p:sp>
      <p:sp>
        <p:nvSpPr>
          <p:cNvPr id="23" name="Icono triangle-alert"/>
          <p:cNvSpPr/>
          <p:nvPr/>
        </p:nvSpPr>
        <p:spPr>
          <a:xfrm>
            <a:off x="713598" y="4892406"/>
            <a:ext cx="218724" cy="218724"/>
          </a:xfrm>
          <a:custGeom>
            <a:avLst/>
            <a:gdLst/>
            <a:ahLst/>
            <a:cxnLst/>
            <a:rect l="l" t="t" r="r" b="b"/>
            <a:pathLst>
              <a:path w="218724" h="218724">
                <a:moveTo>
                  <a:pt x="198037" y="164043"/>
                </a:moveTo>
                <a:lnTo>
                  <a:pt x="125129" y="36454"/>
                </a:lnTo>
                <a:cubicBezTo>
                  <a:pt x="121892" y="30743"/>
                  <a:pt x="115835" y="27214"/>
                  <a:pt x="109271" y="27214"/>
                </a:cubicBezTo>
                <a:cubicBezTo>
                  <a:pt x="102707" y="27214"/>
                  <a:pt x="96650" y="30743"/>
                  <a:pt x="93414" y="36454"/>
                </a:cubicBezTo>
                <a:lnTo>
                  <a:pt x="20505" y="164043"/>
                </a:lnTo>
                <a:cubicBezTo>
                  <a:pt x="17234" y="169708"/>
                  <a:pt x="17250" y="176691"/>
                  <a:pt x="20546" y="182342"/>
                </a:cubicBezTo>
                <a:cubicBezTo>
                  <a:pt x="23842" y="187992"/>
                  <a:pt x="29913" y="191443"/>
                  <a:pt x="36454" y="191384"/>
                </a:cubicBezTo>
                <a:lnTo>
                  <a:pt x="182270" y="191384"/>
                </a:lnTo>
                <a:cubicBezTo>
                  <a:pt x="188779" y="191377"/>
                  <a:pt x="194790" y="187901"/>
                  <a:pt x="198041" y="182262"/>
                </a:cubicBezTo>
                <a:cubicBezTo>
                  <a:pt x="201293" y="176624"/>
                  <a:pt x="201291" y="169680"/>
                  <a:pt x="198037" y="164043"/>
                </a:cubicBezTo>
                <a:moveTo>
                  <a:pt x="109362" y="82022"/>
                </a:moveTo>
                <a:lnTo>
                  <a:pt x="109362" y="118476"/>
                </a:lnTo>
                <a:moveTo>
                  <a:pt x="109362" y="154930"/>
                </a:moveTo>
                <a:lnTo>
                  <a:pt x="109453" y="154930"/>
                </a:lnTo>
              </a:path>
            </a:pathLst>
          </a:custGeom>
          <a:noFill/>
          <a:ln w="18227" cap="rnd">
            <a:solidFill>
              <a:srgbClr val="0B6E8A"/>
            </a:solidFill>
            <a:prstDash val="solid"/>
            <a:round/>
          </a:ln>
        </p:spPr>
      </p:sp>
      <p:sp>
        <p:nvSpPr>
          <p:cNvPr id="24" name="Text 21"/>
          <p:cNvSpPr/>
          <p:nvPr/>
        </p:nvSpPr>
        <p:spPr>
          <a:xfrm>
            <a:off x="1161288" y="4672584"/>
            <a:ext cx="3383280" cy="658368"/>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UP no garantiza que todos los avisos llegaron</a:t>
            </a:r>
            <a:endParaRPr lang="en-US" sz="1350" dirty="0"/>
          </a:p>
        </p:txBody>
      </p:sp>
      <p:sp>
        <p:nvSpPr>
          <p:cNvPr id="25" name="Text 2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31750">
            <a:solidFill>
              <a:srgbClr val="CBD5E3"/>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31750">
            <a:solidFill>
              <a:srgbClr val="CBD5E3"/>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31750">
            <a:solidFill>
              <a:srgbClr val="CBD5E3"/>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5" name="Shape 13"/>
          <p:cNvSpPr/>
          <p:nvPr/>
        </p:nvSpPr>
        <p:spPr>
          <a:xfrm>
            <a:off x="1069635" y="2990131"/>
            <a:ext cx="420624" cy="420624"/>
          </a:xfrm>
          <a:prstGeom prst="ellipse">
            <a:avLst/>
          </a:prstGeom>
          <a:solidFill>
            <a:srgbClr val="E3F4FA"/>
          </a:solidFill>
          <a:ln w="12700">
            <a:solidFill>
              <a:srgbClr val="E3F4F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6E8A"/>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12700">
            <a:solidFill>
              <a:srgbClr val="D5DDE8"/>
            </a:solidFill>
            <a:prstDash val="solid"/>
          </a:ln>
        </p:spPr>
      </p:sp>
      <p:sp>
        <p:nvSpPr>
          <p:cNvPr id="19" name="Shape 17"/>
          <p:cNvSpPr/>
          <p:nvPr/>
        </p:nvSpPr>
        <p:spPr>
          <a:xfrm>
            <a:off x="3719848" y="2990131"/>
            <a:ext cx="420624" cy="420624"/>
          </a:xfrm>
          <a:prstGeom prst="ellipse">
            <a:avLst/>
          </a:prstGeom>
          <a:solidFill>
            <a:srgbClr val="EEF2F7"/>
          </a:solidFill>
          <a:ln w="12700">
            <a:solidFill>
              <a:srgbClr val="EEF2F7"/>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A9B4C6"/>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12700">
            <a:solidFill>
              <a:srgbClr val="55627E"/>
            </a:solidFill>
            <a:prstDash val="dash"/>
          </a:ln>
        </p:spPr>
      </p:sp>
      <p:sp>
        <p:nvSpPr>
          <p:cNvPr id="23" name="Shape 21"/>
          <p:cNvSpPr/>
          <p:nvPr/>
        </p:nvSpPr>
        <p:spPr>
          <a:xfrm>
            <a:off x="6735608" y="2990131"/>
            <a:ext cx="420624" cy="420624"/>
          </a:xfrm>
          <a:prstGeom prst="ellipse">
            <a:avLst/>
          </a:prstGeom>
          <a:solidFill>
            <a:srgbClr val="EEF2F7"/>
          </a:solidFill>
          <a:ln w="12700">
            <a:solidFill>
              <a:srgbClr val="EEF2F7"/>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A9B4C6"/>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12700">
            <a:solidFill>
              <a:srgbClr val="55627E"/>
            </a:solidFill>
            <a:prstDash val="dash"/>
          </a:ln>
        </p:spPr>
      </p:sp>
      <p:sp>
        <p:nvSpPr>
          <p:cNvPr id="27" name="Shape 25"/>
          <p:cNvSpPr/>
          <p:nvPr/>
        </p:nvSpPr>
        <p:spPr>
          <a:xfrm>
            <a:off x="9385821" y="2990131"/>
            <a:ext cx="420624" cy="420624"/>
          </a:xfrm>
          <a:prstGeom prst="ellipse">
            <a:avLst/>
          </a:prstGeom>
          <a:solidFill>
            <a:srgbClr val="EEF2F7"/>
          </a:solidFill>
          <a:ln w="12700">
            <a:solidFill>
              <a:srgbClr val="EEF2F7"/>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mide cosas como cuántas peticiones recibe.</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47625">
            <a:solidFill>
              <a:srgbClr val="2BA6CB"/>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31750">
            <a:solidFill>
              <a:srgbClr val="CBD5E3"/>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31750">
            <a:solidFill>
              <a:srgbClr val="CBD5E3"/>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1069635" y="2990131"/>
            <a:ext cx="420624" cy="420624"/>
          </a:xfrm>
          <a:prstGeom prst="ellipse">
            <a:avLst/>
          </a:prstGeom>
          <a:solidFill>
            <a:srgbClr val="E2E5EA"/>
          </a:solidFill>
          <a:ln w="12700">
            <a:solidFill>
              <a:srgbClr val="E2E5E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2350"/>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19" name="Shape 17"/>
          <p:cNvSpPr/>
          <p:nvPr/>
        </p:nvSpPr>
        <p:spPr>
          <a:xfrm>
            <a:off x="3719848" y="2990131"/>
            <a:ext cx="420624" cy="420624"/>
          </a:xfrm>
          <a:prstGeom prst="ellipse">
            <a:avLst/>
          </a:prstGeom>
          <a:solidFill>
            <a:srgbClr val="E3F4FA"/>
          </a:solidFill>
          <a:ln w="12700">
            <a:solidFill>
              <a:srgbClr val="E3F4FA"/>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0B6E8A"/>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12700">
            <a:solidFill>
              <a:srgbClr val="55627E"/>
            </a:solidFill>
            <a:prstDash val="dash"/>
          </a:ln>
        </p:spPr>
      </p:sp>
      <p:sp>
        <p:nvSpPr>
          <p:cNvPr id="23" name="Shape 21"/>
          <p:cNvSpPr/>
          <p:nvPr/>
        </p:nvSpPr>
        <p:spPr>
          <a:xfrm>
            <a:off x="6735608" y="2990131"/>
            <a:ext cx="420624" cy="420624"/>
          </a:xfrm>
          <a:prstGeom prst="ellipse">
            <a:avLst/>
          </a:prstGeom>
          <a:solidFill>
            <a:srgbClr val="EEF2F7"/>
          </a:solidFill>
          <a:ln w="12700">
            <a:solidFill>
              <a:srgbClr val="EEF2F7"/>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A9B4C6"/>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12700">
            <a:solidFill>
              <a:srgbClr val="55627E"/>
            </a:solidFill>
            <a:prstDash val="dash"/>
          </a:ln>
        </p:spPr>
      </p:sp>
      <p:sp>
        <p:nvSpPr>
          <p:cNvPr id="27" name="Shape 25"/>
          <p:cNvSpPr/>
          <p:nvPr/>
        </p:nvSpPr>
        <p:spPr>
          <a:xfrm>
            <a:off x="9385821" y="2990131"/>
            <a:ext cx="420624" cy="420624"/>
          </a:xfrm>
          <a:prstGeom prst="ellipse">
            <a:avLst/>
          </a:prstGeom>
          <a:solidFill>
            <a:srgbClr val="EEF2F7"/>
          </a:solidFill>
          <a:ln w="12700">
            <a:solidFill>
              <a:srgbClr val="EEF2F7"/>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Actuator expone esas mediciones y también la salud del servicio.</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31750">
            <a:solidFill>
              <a:srgbClr val="55627E"/>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47625">
            <a:solidFill>
              <a:srgbClr val="2BA6CB"/>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31750">
            <a:solidFill>
              <a:srgbClr val="CBD5E3"/>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1069635" y="2990131"/>
            <a:ext cx="420624" cy="420624"/>
          </a:xfrm>
          <a:prstGeom prst="ellipse">
            <a:avLst/>
          </a:prstGeom>
          <a:solidFill>
            <a:srgbClr val="E2E5EA"/>
          </a:solidFill>
          <a:ln w="12700">
            <a:solidFill>
              <a:srgbClr val="E2E5E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2350"/>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3719848" y="2990131"/>
            <a:ext cx="420624" cy="420624"/>
          </a:xfrm>
          <a:prstGeom prst="ellipse">
            <a:avLst/>
          </a:prstGeom>
          <a:solidFill>
            <a:srgbClr val="E2E5EA"/>
          </a:solidFill>
          <a:ln w="12700">
            <a:solidFill>
              <a:srgbClr val="E2E5EA"/>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0B2350"/>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28575">
            <a:solidFill>
              <a:srgbClr val="2BA6CB"/>
            </a:solidFill>
            <a:prstDash val="dash"/>
          </a:ln>
        </p:spPr>
      </p:sp>
      <p:sp>
        <p:nvSpPr>
          <p:cNvPr id="23" name="Shape 21"/>
          <p:cNvSpPr/>
          <p:nvPr/>
        </p:nvSpPr>
        <p:spPr>
          <a:xfrm>
            <a:off x="6735608" y="2990131"/>
            <a:ext cx="420624" cy="420624"/>
          </a:xfrm>
          <a:prstGeom prst="ellipse">
            <a:avLst/>
          </a:prstGeom>
          <a:solidFill>
            <a:srgbClr val="E3F4FA"/>
          </a:solidFill>
          <a:ln w="12700">
            <a:solidFill>
              <a:srgbClr val="E3F4FA"/>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0B6E8A"/>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12700">
            <a:solidFill>
              <a:srgbClr val="55627E"/>
            </a:solidFill>
            <a:prstDash val="dash"/>
          </a:ln>
        </p:spPr>
      </p:sp>
      <p:sp>
        <p:nvSpPr>
          <p:cNvPr id="27" name="Shape 25"/>
          <p:cNvSpPr/>
          <p:nvPr/>
        </p:nvSpPr>
        <p:spPr>
          <a:xfrm>
            <a:off x="9385821" y="2990131"/>
            <a:ext cx="420624" cy="420624"/>
          </a:xfrm>
          <a:prstGeom prst="ellipse">
            <a:avLst/>
          </a:prstGeom>
          <a:solidFill>
            <a:srgbClr val="EEF2F7"/>
          </a:solidFill>
          <a:ln w="12700">
            <a:solidFill>
              <a:srgbClr val="EEF2F7"/>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A9B4C6"/>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servidor Prometheus las guardaría en el tiempo. Hoy queda pendiente.</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4 DE 4</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200443"/>
            <a:ext cx="639707" cy="0"/>
          </a:xfrm>
          <a:prstGeom prst="line">
            <a:avLst/>
          </a:prstGeom>
          <a:noFill/>
          <a:ln w="31750">
            <a:solidFill>
              <a:srgbClr val="55627E"/>
            </a:solidFill>
            <a:prstDash val="sysDot"/>
            <a:tailEnd type="triangle"/>
          </a:ln>
        </p:spPr>
      </p:sp>
      <p:sp>
        <p:nvSpPr>
          <p:cNvPr id="6" name="Text 4"/>
          <p:cNvSpPr/>
          <p:nvPr/>
        </p:nvSpPr>
        <p:spPr>
          <a:xfrm>
            <a:off x="3046350" y="296274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907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200443"/>
            <a:ext cx="822480" cy="0"/>
          </a:xfrm>
          <a:prstGeom prst="line">
            <a:avLst/>
          </a:prstGeom>
          <a:noFill/>
          <a:ln w="31750">
            <a:solidFill>
              <a:srgbClr val="2E6DB4"/>
            </a:solidFill>
            <a:prstDash val="solid"/>
            <a:tailEnd type="triangle"/>
          </a:ln>
        </p:spPr>
      </p:sp>
      <p:sp>
        <p:nvSpPr>
          <p:cNvPr id="9" name="Text 7"/>
          <p:cNvSpPr/>
          <p:nvPr/>
        </p:nvSpPr>
        <p:spPr>
          <a:xfrm>
            <a:off x="5970723" y="2962747"/>
            <a:ext cx="52440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9071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200443"/>
            <a:ext cx="639707" cy="0"/>
          </a:xfrm>
          <a:prstGeom prst="line">
            <a:avLst/>
          </a:prstGeom>
          <a:noFill/>
          <a:ln w="47625">
            <a:solidFill>
              <a:srgbClr val="2BA6CB"/>
            </a:solidFill>
            <a:prstDash val="solid"/>
            <a:tailEnd type="triangle"/>
          </a:ln>
        </p:spPr>
      </p:sp>
      <p:sp>
        <p:nvSpPr>
          <p:cNvPr id="12" name="Text 10"/>
          <p:cNvSpPr/>
          <p:nvPr/>
        </p:nvSpPr>
        <p:spPr>
          <a:xfrm>
            <a:off x="8646258" y="2962747"/>
            <a:ext cx="656539"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907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a:off x="978195" y="2816619"/>
            <a:ext cx="2010507"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1069635" y="2990131"/>
            <a:ext cx="420624" cy="420624"/>
          </a:xfrm>
          <a:prstGeom prst="ellipse">
            <a:avLst/>
          </a:prstGeom>
          <a:solidFill>
            <a:srgbClr val="E2E5EA"/>
          </a:solidFill>
          <a:ln w="12700">
            <a:solidFill>
              <a:srgbClr val="E2E5EA"/>
            </a:solidFill>
            <a:prstDash val="solid"/>
          </a:ln>
        </p:spPr>
      </p:sp>
      <p:sp>
        <p:nvSpPr>
          <p:cNvPr id="16" name="Icono gauge"/>
          <p:cNvSpPr/>
          <p:nvPr/>
        </p:nvSpPr>
        <p:spPr>
          <a:xfrm>
            <a:off x="1124499" y="3044995"/>
            <a:ext cx="310896" cy="310896"/>
          </a:xfrm>
          <a:custGeom>
            <a:avLst/>
            <a:gdLst/>
            <a:ahLst/>
            <a:cxnLst/>
            <a:rect l="l" t="t" r="r" b="b"/>
            <a:pathLst>
              <a:path w="310896" h="310896">
                <a:moveTo>
                  <a:pt x="155448" y="181356"/>
                </a:moveTo>
                <a:lnTo>
                  <a:pt x="207264" y="129540"/>
                </a:lnTo>
                <a:moveTo>
                  <a:pt x="43266" y="246126"/>
                </a:moveTo>
                <a:cubicBezTo>
                  <a:pt x="11830" y="191684"/>
                  <a:pt x="24022" y="122529"/>
                  <a:pt x="72180" y="82118"/>
                </a:cubicBezTo>
                <a:cubicBezTo>
                  <a:pt x="120338" y="41708"/>
                  <a:pt x="190558" y="41708"/>
                  <a:pt x="238716" y="82118"/>
                </a:cubicBezTo>
                <a:cubicBezTo>
                  <a:pt x="286874" y="122529"/>
                  <a:pt x="299066" y="191684"/>
                  <a:pt x="267630" y="246126"/>
                </a:cubicBezTo>
              </a:path>
            </a:pathLst>
          </a:custGeom>
          <a:noFill/>
          <a:ln w="25908" cap="rnd">
            <a:solidFill>
              <a:srgbClr val="0B2350"/>
            </a:solidFill>
            <a:prstDash val="solid"/>
            <a:round/>
          </a:ln>
        </p:spPr>
      </p:sp>
      <p:sp>
        <p:nvSpPr>
          <p:cNvPr id="17" name="Text 15"/>
          <p:cNvSpPr/>
          <p:nvPr/>
        </p:nvSpPr>
        <p:spPr>
          <a:xfrm>
            <a:off x="1545123"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Micrometer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mediciones dentro de la app</a:t>
            </a:r>
            <a:endParaRPr lang="en-US" sz="1079" dirty="0"/>
          </a:p>
        </p:txBody>
      </p:sp>
      <p:sp>
        <p:nvSpPr>
          <p:cNvPr id="18" name="Shape 16"/>
          <p:cNvSpPr/>
          <p:nvPr/>
        </p:nvSpPr>
        <p:spPr>
          <a:xfrm>
            <a:off x="3628408" y="2816619"/>
            <a:ext cx="2193280" cy="767648"/>
          </a:xfrm>
          <a:prstGeom prst="roundRect">
            <a:avLst>
              <a:gd name="adj" fmla="val 1072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3719848" y="2990131"/>
            <a:ext cx="420624" cy="420624"/>
          </a:xfrm>
          <a:prstGeom prst="ellipse">
            <a:avLst/>
          </a:prstGeom>
          <a:solidFill>
            <a:srgbClr val="E2E5EA"/>
          </a:solidFill>
          <a:ln w="12700">
            <a:solidFill>
              <a:srgbClr val="E2E5EA"/>
            </a:solidFill>
            <a:prstDash val="solid"/>
          </a:ln>
        </p:spPr>
      </p:sp>
      <p:sp>
        <p:nvSpPr>
          <p:cNvPr id="20" name="Icono heart-pulse"/>
          <p:cNvSpPr/>
          <p:nvPr/>
        </p:nvSpPr>
        <p:spPr>
          <a:xfrm>
            <a:off x="3774712" y="3044995"/>
            <a:ext cx="310896" cy="310896"/>
          </a:xfrm>
          <a:custGeom>
            <a:avLst/>
            <a:gdLst/>
            <a:ahLst/>
            <a:cxnLst/>
            <a:rect l="l" t="t" r="r" b="b"/>
            <a:pathLst>
              <a:path w="310896" h="310896">
                <a:moveTo>
                  <a:pt x="246126" y="181356"/>
                </a:moveTo>
                <a:cubicBezTo>
                  <a:pt x="265427" y="162443"/>
                  <a:pt x="284988" y="139774"/>
                  <a:pt x="284988" y="110109"/>
                </a:cubicBezTo>
                <a:cubicBezTo>
                  <a:pt x="284988" y="70760"/>
                  <a:pt x="253090" y="38862"/>
                  <a:pt x="213741" y="38862"/>
                </a:cubicBezTo>
                <a:cubicBezTo>
                  <a:pt x="190942" y="38862"/>
                  <a:pt x="174879" y="45339"/>
                  <a:pt x="155448" y="64770"/>
                </a:cubicBezTo>
                <a:cubicBezTo>
                  <a:pt x="136017" y="45339"/>
                  <a:pt x="119954" y="38862"/>
                  <a:pt x="97155" y="38862"/>
                </a:cubicBezTo>
                <a:cubicBezTo>
                  <a:pt x="57806" y="38862"/>
                  <a:pt x="25908" y="70760"/>
                  <a:pt x="25908" y="110109"/>
                </a:cubicBezTo>
                <a:cubicBezTo>
                  <a:pt x="25908" y="139903"/>
                  <a:pt x="45339" y="162573"/>
                  <a:pt x="64770" y="181356"/>
                </a:cubicBezTo>
                <a:lnTo>
                  <a:pt x="155448" y="272034"/>
                </a:lnTo>
                <a:close/>
                <a:moveTo>
                  <a:pt x="41712" y="155448"/>
                </a:moveTo>
                <a:lnTo>
                  <a:pt x="123063" y="155448"/>
                </a:lnTo>
                <a:lnTo>
                  <a:pt x="129540" y="142494"/>
                </a:lnTo>
                <a:lnTo>
                  <a:pt x="155448" y="200787"/>
                </a:lnTo>
                <a:lnTo>
                  <a:pt x="181356" y="110109"/>
                </a:lnTo>
                <a:lnTo>
                  <a:pt x="200787" y="155448"/>
                </a:lnTo>
                <a:lnTo>
                  <a:pt x="269055" y="155448"/>
                </a:lnTo>
              </a:path>
            </a:pathLst>
          </a:custGeom>
          <a:noFill/>
          <a:ln w="25908" cap="rnd">
            <a:solidFill>
              <a:srgbClr val="0B2350"/>
            </a:solidFill>
            <a:prstDash val="solid"/>
            <a:round/>
          </a:ln>
        </p:spPr>
      </p:sp>
      <p:sp>
        <p:nvSpPr>
          <p:cNvPr id="21" name="Text 19"/>
          <p:cNvSpPr/>
          <p:nvPr/>
        </p:nvSpPr>
        <p:spPr>
          <a:xfrm>
            <a:off x="4195336" y="2816619"/>
            <a:ext cx="1571488"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Actuator</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/actuator/prometheus · /health</a:t>
            </a:r>
            <a:endParaRPr lang="en-US" sz="1079" dirty="0"/>
          </a:p>
        </p:txBody>
      </p:sp>
      <p:sp>
        <p:nvSpPr>
          <p:cNvPr id="22" name="Shape 20"/>
          <p:cNvSpPr/>
          <p:nvPr/>
        </p:nvSpPr>
        <p:spPr>
          <a:xfrm>
            <a:off x="6644168" y="2816619"/>
            <a:ext cx="2010507" cy="767648"/>
          </a:xfrm>
          <a:prstGeom prst="roundRect">
            <a:avLst>
              <a:gd name="adj" fmla="val 10721"/>
            </a:avLst>
          </a:prstGeom>
          <a:solidFill>
            <a:srgbClr val="FFFFFF"/>
          </a:solidFill>
          <a:ln w="12700">
            <a:solidFill>
              <a:srgbClr val="55627E"/>
            </a:solidFill>
            <a:prstDash val="dash"/>
          </a:ln>
        </p:spPr>
      </p:sp>
      <p:sp>
        <p:nvSpPr>
          <p:cNvPr id="23" name="Shape 21"/>
          <p:cNvSpPr/>
          <p:nvPr/>
        </p:nvSpPr>
        <p:spPr>
          <a:xfrm>
            <a:off x="6735608" y="2990131"/>
            <a:ext cx="420624" cy="420624"/>
          </a:xfrm>
          <a:prstGeom prst="ellipse">
            <a:avLst/>
          </a:prstGeom>
          <a:solidFill>
            <a:srgbClr val="E2E5EA"/>
          </a:solidFill>
          <a:ln w="12700">
            <a:solidFill>
              <a:srgbClr val="E2E5EA"/>
            </a:solidFill>
            <a:prstDash val="solid"/>
          </a:ln>
        </p:spPr>
      </p:sp>
      <p:sp>
        <p:nvSpPr>
          <p:cNvPr id="24" name="Icono activity"/>
          <p:cNvSpPr/>
          <p:nvPr/>
        </p:nvSpPr>
        <p:spPr>
          <a:xfrm>
            <a:off x="6790472" y="3044995"/>
            <a:ext cx="310896" cy="310896"/>
          </a:xfrm>
          <a:custGeom>
            <a:avLst/>
            <a:gdLst/>
            <a:ahLst/>
            <a:cxnLst/>
            <a:rect l="l" t="t" r="r" b="b"/>
            <a:pathLst>
              <a:path w="310896" h="310896">
                <a:moveTo>
                  <a:pt x="284988" y="155448"/>
                </a:moveTo>
                <a:lnTo>
                  <a:pt x="252862" y="155448"/>
                </a:lnTo>
                <a:cubicBezTo>
                  <a:pt x="241227" y="155423"/>
                  <a:pt x="231002" y="163158"/>
                  <a:pt x="227861" y="174361"/>
                </a:cubicBezTo>
                <a:lnTo>
                  <a:pt x="197419" y="282656"/>
                </a:lnTo>
                <a:cubicBezTo>
                  <a:pt x="197016" y="284038"/>
                  <a:pt x="195749" y="284988"/>
                  <a:pt x="194310" y="284988"/>
                </a:cubicBezTo>
                <a:cubicBezTo>
                  <a:pt x="192871" y="284988"/>
                  <a:pt x="191604" y="284038"/>
                  <a:pt x="191201" y="282656"/>
                </a:cubicBezTo>
                <a:lnTo>
                  <a:pt x="119695" y="28240"/>
                </a:lnTo>
                <a:cubicBezTo>
                  <a:pt x="119292" y="26858"/>
                  <a:pt x="118025" y="25908"/>
                  <a:pt x="116586" y="25908"/>
                </a:cubicBezTo>
                <a:cubicBezTo>
                  <a:pt x="115147" y="25908"/>
                  <a:pt x="113880" y="26858"/>
                  <a:pt x="113477" y="28240"/>
                </a:cubicBezTo>
                <a:lnTo>
                  <a:pt x="83035" y="136535"/>
                </a:lnTo>
                <a:cubicBezTo>
                  <a:pt x="79907" y="147692"/>
                  <a:pt x="69751" y="155415"/>
                  <a:pt x="58163" y="155448"/>
                </a:cubicBezTo>
                <a:lnTo>
                  <a:pt x="25908" y="155448"/>
                </a:lnTo>
              </a:path>
            </a:pathLst>
          </a:custGeom>
          <a:noFill/>
          <a:ln w="25908" cap="rnd">
            <a:solidFill>
              <a:srgbClr val="0B2350"/>
            </a:solidFill>
            <a:prstDash val="solid"/>
            <a:round/>
          </a:ln>
        </p:spPr>
      </p:sp>
      <p:sp>
        <p:nvSpPr>
          <p:cNvPr id="25" name="Text 23"/>
          <p:cNvSpPr/>
          <p:nvPr/>
        </p:nvSpPr>
        <p:spPr>
          <a:xfrm>
            <a:off x="7211096"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Prometheus</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no está en Compose</a:t>
            </a:r>
            <a:endParaRPr lang="en-US" sz="1079" dirty="0"/>
          </a:p>
        </p:txBody>
      </p:sp>
      <p:sp>
        <p:nvSpPr>
          <p:cNvPr id="26" name="Shape 24"/>
          <p:cNvSpPr/>
          <p:nvPr/>
        </p:nvSpPr>
        <p:spPr>
          <a:xfrm>
            <a:off x="9294381" y="2816619"/>
            <a:ext cx="2010507" cy="767648"/>
          </a:xfrm>
          <a:prstGeom prst="roundRect">
            <a:avLst>
              <a:gd name="adj" fmla="val 10721"/>
            </a:avLst>
          </a:prstGeom>
          <a:solidFill>
            <a:srgbClr val="FFFFFF"/>
          </a:solidFill>
          <a:ln w="28575">
            <a:solidFill>
              <a:srgbClr val="2BA6CB"/>
            </a:solidFill>
            <a:prstDash val="dash"/>
          </a:ln>
        </p:spPr>
      </p:sp>
      <p:sp>
        <p:nvSpPr>
          <p:cNvPr id="27" name="Shape 25"/>
          <p:cNvSpPr/>
          <p:nvPr/>
        </p:nvSpPr>
        <p:spPr>
          <a:xfrm>
            <a:off x="9385821" y="2990131"/>
            <a:ext cx="420624" cy="420624"/>
          </a:xfrm>
          <a:prstGeom prst="ellipse">
            <a:avLst/>
          </a:prstGeom>
          <a:solidFill>
            <a:srgbClr val="E3F4FA"/>
          </a:solidFill>
          <a:ln w="12700">
            <a:solidFill>
              <a:srgbClr val="E3F4FA"/>
            </a:solidFill>
            <a:prstDash val="solid"/>
          </a:ln>
        </p:spPr>
      </p:sp>
      <p:sp>
        <p:nvSpPr>
          <p:cNvPr id="28" name="Icono chart-line"/>
          <p:cNvSpPr/>
          <p:nvPr/>
        </p:nvSpPr>
        <p:spPr>
          <a:xfrm>
            <a:off x="9440685" y="3044995"/>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0B6E8A"/>
            </a:solidFill>
            <a:prstDash val="solid"/>
            <a:round/>
          </a:ln>
        </p:spPr>
      </p:sp>
      <p:sp>
        <p:nvSpPr>
          <p:cNvPr id="29" name="Text 27"/>
          <p:cNvSpPr/>
          <p:nvPr/>
        </p:nvSpPr>
        <p:spPr>
          <a:xfrm>
            <a:off x="9861309" y="2816619"/>
            <a:ext cx="1388715" cy="767648"/>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Grafana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fuente Prometheus pendiente</a:t>
            </a:r>
            <a:endParaRPr lang="en-US" sz="1079"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las mostraría en gráficos. También queda pendiente.</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0B2350"/>
        </a:solidFill>
      </p:bgPr>
    </p:bg>
    <p:spTree>
      <p:nvGrpSpPr>
        <p:cNvPr id="1" name=""/>
        <p:cNvGrpSpPr/>
        <p:nvPr/>
      </p:nvGrpSpPr>
      <p:grpSpPr>
        <a:xfrm>
          <a:off x="0" y="0"/>
          <a:ext cx="0" cy="0"/>
          <a:chOff x="0" y="0"/>
          <a:chExt cx="0" cy="0"/>
        </a:xfrm>
      </p:grpSpPr>
      <p:sp>
        <p:nvSpPr>
          <p:cNvPr id="2" name="Shape 0"/>
          <p:cNvSpPr/>
          <p:nvPr/>
        </p:nvSpPr>
        <p:spPr>
          <a:xfrm>
            <a:off x="8001000" y="685800"/>
            <a:ext cx="3566160" cy="3566160"/>
          </a:xfrm>
          <a:prstGeom prst="ellipse">
            <a:avLst/>
          </a:prstGeom>
          <a:solidFill>
            <a:srgbClr val="1A305B"/>
          </a:solidFill>
          <a:ln w="19050">
            <a:solidFill>
              <a:srgbClr val="16517B"/>
            </a:solidFill>
            <a:prstDash val="solid"/>
          </a:ln>
        </p:spPr>
      </p:sp>
      <p:sp>
        <p:nvSpPr>
          <p:cNvPr id="3" name="Shape 1"/>
          <p:cNvSpPr/>
          <p:nvPr/>
        </p:nvSpPr>
        <p:spPr>
          <a:xfrm>
            <a:off x="8549640" y="1234440"/>
            <a:ext cx="2468880" cy="2468880"/>
          </a:xfrm>
          <a:prstGeom prst="ellipse">
            <a:avLst/>
          </a:prstGeom>
          <a:solidFill>
            <a:srgbClr val="103864"/>
          </a:solidFill>
          <a:ln w="12700">
            <a:solidFill>
              <a:srgbClr val="1B658E"/>
            </a:solidFill>
            <a:prstDash val="solid"/>
          </a:ln>
        </p:spPr>
      </p:sp>
      <p:sp>
        <p:nvSpPr>
          <p:cNvPr id="4" name="Icono monitor"/>
          <p:cNvSpPr/>
          <p:nvPr/>
        </p:nvSpPr>
        <p:spPr>
          <a:xfrm>
            <a:off x="9098280" y="1783080"/>
            <a:ext cx="1371600" cy="1371600"/>
          </a:xfrm>
          <a:custGeom>
            <a:avLst/>
            <a:gdLst/>
            <a:ahLst/>
            <a:cxnLst/>
            <a:rect l="l" t="t" r="r" b="b"/>
            <a:pathLst>
              <a:path w="1371600" h="1371600">
                <a:moveTo>
                  <a:pt x="228600" y="171450"/>
                </a:moveTo>
                <a:lnTo>
                  <a:pt x="1143000" y="171450"/>
                </a:lnTo>
                <a:cubicBezTo>
                  <a:pt x="1206126" y="171450"/>
                  <a:pt x="1257300" y="222624"/>
                  <a:pt x="1257300" y="285750"/>
                </a:cubicBezTo>
                <a:lnTo>
                  <a:pt x="1257300" y="857250"/>
                </a:lnTo>
                <a:cubicBezTo>
                  <a:pt x="1257300" y="920376"/>
                  <a:pt x="1206126" y="971550"/>
                  <a:pt x="1143000" y="971550"/>
                </a:cubicBezTo>
                <a:lnTo>
                  <a:pt x="228600" y="971550"/>
                </a:lnTo>
                <a:cubicBezTo>
                  <a:pt x="165474" y="971550"/>
                  <a:pt x="114300" y="920376"/>
                  <a:pt x="114300" y="857250"/>
                </a:cubicBezTo>
                <a:lnTo>
                  <a:pt x="114300" y="285750"/>
                </a:lnTo>
                <a:cubicBezTo>
                  <a:pt x="114300" y="222624"/>
                  <a:pt x="165474" y="171450"/>
                  <a:pt x="228600" y="171450"/>
                </a:cubicBezTo>
                <a:close/>
                <a:moveTo>
                  <a:pt x="457200" y="1200150"/>
                </a:moveTo>
                <a:lnTo>
                  <a:pt x="914400" y="1200150"/>
                </a:lnTo>
                <a:moveTo>
                  <a:pt x="685800" y="971550"/>
                </a:moveTo>
                <a:lnTo>
                  <a:pt x="685800" y="1200150"/>
                </a:lnTo>
              </a:path>
            </a:pathLst>
          </a:custGeom>
          <a:noFill/>
          <a:ln w="85725" cap="rnd">
            <a:solidFill>
              <a:srgbClr val="2BA6CB"/>
            </a:solidFill>
            <a:prstDash val="solid"/>
            <a:round/>
          </a:ln>
        </p:spPr>
      </p:sp>
      <p:sp>
        <p:nvSpPr>
          <p:cNvPr id="5" name="Text 3"/>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7 DE 7</a:t>
            </a:r>
            <a:endParaRPr lang="en-US" sz="1200" dirty="0"/>
          </a:p>
        </p:txBody>
      </p:sp>
      <p:sp>
        <p:nvSpPr>
          <p:cNvPr id="6" name="Shape 4"/>
          <p:cNvSpPr/>
          <p:nvPr/>
        </p:nvSpPr>
        <p:spPr>
          <a:xfrm>
            <a:off x="758952" y="932688"/>
            <a:ext cx="310896" cy="73152"/>
          </a:xfrm>
          <a:prstGeom prst="roundRect">
            <a:avLst>
              <a:gd name="adj" fmla="val 50000"/>
            </a:avLst>
          </a:prstGeom>
          <a:solidFill>
            <a:srgbClr val="2BA6CB"/>
          </a:solidFill>
          <a:ln w="12700">
            <a:solidFill>
              <a:srgbClr val="0B2350"/>
            </a:solidFill>
            <a:prstDash val="solid"/>
          </a:ln>
        </p:spPr>
      </p:sp>
      <p:sp>
        <p:nvSpPr>
          <p:cNvPr id="7" name="Shape 5"/>
          <p:cNvSpPr/>
          <p:nvPr/>
        </p:nvSpPr>
        <p:spPr>
          <a:xfrm>
            <a:off x="1143000" y="932688"/>
            <a:ext cx="310896" cy="73152"/>
          </a:xfrm>
          <a:prstGeom prst="roundRect">
            <a:avLst>
              <a:gd name="adj" fmla="val 50000"/>
            </a:avLst>
          </a:prstGeom>
          <a:solidFill>
            <a:srgbClr val="2BA6CB"/>
          </a:solidFill>
          <a:ln w="12700">
            <a:solidFill>
              <a:srgbClr val="0B2350"/>
            </a:solidFill>
            <a:prstDash val="solid"/>
          </a:ln>
        </p:spPr>
      </p:sp>
      <p:sp>
        <p:nvSpPr>
          <p:cNvPr id="8" name="Shape 6"/>
          <p:cNvSpPr/>
          <p:nvPr/>
        </p:nvSpPr>
        <p:spPr>
          <a:xfrm>
            <a:off x="1527048" y="932688"/>
            <a:ext cx="310896" cy="73152"/>
          </a:xfrm>
          <a:prstGeom prst="roundRect">
            <a:avLst>
              <a:gd name="adj" fmla="val 50000"/>
            </a:avLst>
          </a:prstGeom>
          <a:solidFill>
            <a:srgbClr val="2BA6CB"/>
          </a:solidFill>
          <a:ln w="12700">
            <a:solidFill>
              <a:srgbClr val="0B2350"/>
            </a:solidFill>
            <a:prstDash val="solid"/>
          </a:ln>
        </p:spPr>
      </p:sp>
      <p:sp>
        <p:nvSpPr>
          <p:cNvPr id="9" name="Shape 7"/>
          <p:cNvSpPr/>
          <p:nvPr/>
        </p:nvSpPr>
        <p:spPr>
          <a:xfrm>
            <a:off x="1911096" y="932688"/>
            <a:ext cx="310896" cy="73152"/>
          </a:xfrm>
          <a:prstGeom prst="roundRect">
            <a:avLst>
              <a:gd name="adj" fmla="val 50000"/>
            </a:avLst>
          </a:prstGeom>
          <a:solidFill>
            <a:srgbClr val="2BA6CB"/>
          </a:solidFill>
          <a:ln w="12700">
            <a:solidFill>
              <a:srgbClr val="0B2350"/>
            </a:solidFill>
            <a:prstDash val="solid"/>
          </a:ln>
        </p:spPr>
      </p:sp>
      <p:sp>
        <p:nvSpPr>
          <p:cNvPr id="10" name="Shape 8"/>
          <p:cNvSpPr/>
          <p:nvPr/>
        </p:nvSpPr>
        <p:spPr>
          <a:xfrm>
            <a:off x="2295144" y="932688"/>
            <a:ext cx="310896" cy="73152"/>
          </a:xfrm>
          <a:prstGeom prst="roundRect">
            <a:avLst>
              <a:gd name="adj" fmla="val 50000"/>
            </a:avLst>
          </a:prstGeom>
          <a:solidFill>
            <a:srgbClr val="2BA6CB"/>
          </a:solidFill>
          <a:ln w="12700">
            <a:solidFill>
              <a:srgbClr val="0B2350"/>
            </a:solidFill>
            <a:prstDash val="solid"/>
          </a:ln>
        </p:spPr>
      </p:sp>
      <p:sp>
        <p:nvSpPr>
          <p:cNvPr id="11" name="Shape 9"/>
          <p:cNvSpPr/>
          <p:nvPr/>
        </p:nvSpPr>
        <p:spPr>
          <a:xfrm>
            <a:off x="2679192" y="932688"/>
            <a:ext cx="310896" cy="73152"/>
          </a:xfrm>
          <a:prstGeom prst="roundRect">
            <a:avLst>
              <a:gd name="adj" fmla="val 50000"/>
            </a:avLst>
          </a:prstGeom>
          <a:solidFill>
            <a:srgbClr val="2BA6CB"/>
          </a:solidFill>
          <a:ln w="12700">
            <a:solidFill>
              <a:srgbClr val="0B2350"/>
            </a:solidFill>
            <a:prstDash val="solid"/>
          </a:ln>
        </p:spPr>
      </p:sp>
      <p:sp>
        <p:nvSpPr>
          <p:cNvPr id="12" name="Shape 10"/>
          <p:cNvSpPr/>
          <p:nvPr/>
        </p:nvSpPr>
        <p:spPr>
          <a:xfrm>
            <a:off x="3063240" y="932688"/>
            <a:ext cx="310896" cy="73152"/>
          </a:xfrm>
          <a:prstGeom prst="roundRect">
            <a:avLst>
              <a:gd name="adj" fmla="val 50000"/>
            </a:avLst>
          </a:prstGeom>
          <a:solidFill>
            <a:srgbClr val="2BA6CB"/>
          </a:solidFill>
          <a:ln w="12700">
            <a:solidFill>
              <a:srgbClr val="0B2350"/>
            </a:solidFill>
            <a:prstDash val="solid"/>
          </a:ln>
        </p:spPr>
      </p:sp>
      <p:sp>
        <p:nvSpPr>
          <p:cNvPr id="13" name="Text 11"/>
          <p:cNvSpPr/>
          <p:nvPr/>
        </p:nvSpPr>
        <p:spPr>
          <a:xfrm>
            <a:off x="566928" y="960120"/>
            <a:ext cx="4572000" cy="1920240"/>
          </a:xfrm>
          <a:prstGeom prst="rect">
            <a:avLst/>
          </a:prstGeom>
          <a:noFill/>
          <a:ln/>
        </p:spPr>
        <p:txBody>
          <a:bodyPr wrap="square" lIns="0" tIns="0" rIns="0" bIns="0" rtlCol="0" anchor="ctr"/>
          <a:lstStyle/>
          <a:p>
            <a:pPr indent="0" marL="0">
              <a:buNone/>
            </a:pPr>
            <a:r>
              <a:rPr lang="en-US" sz="14000" b="1" dirty="0">
                <a:solidFill>
                  <a:srgbClr val="2B4067"/>
                </a:solidFill>
                <a:latin typeface="Segoe UI Semibold" pitchFamily="34" charset="0"/>
                <a:ea typeface="Segoe UI Semibold" pitchFamily="34" charset="-122"/>
                <a:cs typeface="Segoe UI Semibold" pitchFamily="34" charset="-120"/>
              </a:rPr>
              <a:t>07</a:t>
            </a:r>
            <a:endParaRPr lang="en-US" sz="14000" dirty="0"/>
          </a:p>
        </p:txBody>
      </p:sp>
      <p:sp>
        <p:nvSpPr>
          <p:cNvPr id="14" name="Text 12"/>
          <p:cNvSpPr/>
          <p:nvPr/>
        </p:nvSpPr>
        <p:spPr>
          <a:xfrm>
            <a:off x="758952" y="2788920"/>
            <a:ext cx="722376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Ensamblaje: la UI</a:t>
            </a:r>
            <a:endParaRPr lang="en-US" sz="4400" dirty="0"/>
          </a:p>
        </p:txBody>
      </p:sp>
      <p:sp>
        <p:nvSpPr>
          <p:cNvPr id="15" name="Text 13"/>
          <p:cNvSpPr/>
          <p:nvPr/>
        </p:nvSpPr>
        <p:spPr>
          <a:xfrm>
            <a:off x="758952" y="3611880"/>
            <a:ext cx="7132320" cy="868680"/>
          </a:xfrm>
          <a:prstGeom prst="rect">
            <a:avLst/>
          </a:prstGeom>
          <a:noFill/>
          <a:ln/>
        </p:spPr>
        <p:txBody>
          <a:bodyPr wrap="square" lIns="0" tIns="0" rIns="0" bIns="0" rtlCol="0" anchor="t">
            <a:normAutofit/>
          </a:bodyPr>
          <a:lstStyle/>
          <a:p>
            <a:pPr indent="0" marL="0">
              <a:buNone/>
            </a:pPr>
            <a:r>
              <a:rPr lang="en-US" sz="1900" dirty="0">
                <a:solidFill>
                  <a:srgbClr val="9FBEE0"/>
                </a:solidFill>
                <a:latin typeface="Segoe UI" pitchFamily="34" charset="0"/>
                <a:ea typeface="Segoe UI" pitchFamily="34" charset="-122"/>
                <a:cs typeface="Segoe UI" pitchFamily="34" charset="-120"/>
              </a:rPr>
              <a:t>La interfaz que junta los dos servicios y permite comprobar, en vivo, todo lo anterior.</a:t>
            </a:r>
            <a:endParaRPr lang="en-US" sz="1900" dirty="0"/>
          </a:p>
        </p:txBody>
      </p:sp>
      <p:sp>
        <p:nvSpPr>
          <p:cNvPr id="16" name="Text 14"/>
          <p:cNvSpPr/>
          <p:nvPr/>
        </p:nvSpPr>
        <p:spPr>
          <a:xfrm>
            <a:off x="758952" y="466344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Ensamblaje del sistema</a:t>
            </a:r>
            <a:endParaRPr lang="en-US" sz="1300" dirty="0"/>
          </a:p>
        </p:txBody>
      </p:sp>
      <p:sp>
        <p:nvSpPr>
          <p:cNvPr id="17" name="Text 15"/>
          <p:cNvSpPr/>
          <p:nvPr/>
        </p:nvSpPr>
        <p:spPr>
          <a:xfrm>
            <a:off x="3456432" y="466344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18" name="Text 16"/>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P7</a:t>
            </a:r>
            <a:endParaRPr lang="en-US" sz="1000" dirty="0"/>
          </a:p>
        </p:txBody>
      </p:sp>
      <p:sp>
        <p:nvSpPr>
          <p:cNvPr id="19" name="Text 17"/>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7 · Desarrollo</a:t>
            </a:r>
            <a:endParaRPr lang="en-US" sz="13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la UI consume los dos servicios</a:t>
            </a:r>
            <a:endParaRPr lang="en-US" sz="2800" dirty="0"/>
          </a:p>
        </p:txBody>
      </p:sp>
      <p:sp>
        <p:nvSpPr>
          <p:cNvPr id="5" name="Text 3"/>
          <p:cNvSpPr/>
          <p:nvPr/>
        </p:nvSpPr>
        <p:spPr>
          <a:xfrm>
            <a:off x="612648"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navegador solo conoce /api</a:t>
            </a:r>
            <a:endParaRPr lang="en-US" sz="1100" dirty="0"/>
          </a:p>
        </p:txBody>
      </p:sp>
      <p:sp>
        <p:nvSpPr>
          <p:cNvPr id="6" name="Text 4"/>
          <p:cNvSpPr/>
          <p:nvPr/>
        </p:nvSpPr>
        <p:spPr>
          <a:xfrm>
            <a:off x="3386252"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nginx reenvía cada ruta al servicio que corresponde</a:t>
            </a:r>
            <a:endParaRPr lang="en-US" sz="1100" dirty="0"/>
          </a:p>
        </p:txBody>
      </p:sp>
      <p:sp>
        <p:nvSpPr>
          <p:cNvPr id="7" name="Text 5"/>
          <p:cNvSpPr/>
          <p:nvPr/>
        </p:nvSpPr>
        <p:spPr>
          <a:xfrm>
            <a:off x="6159856"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registra cada petición que hace</a:t>
            </a:r>
            <a:endParaRPr lang="en-US" sz="1100" dirty="0"/>
          </a:p>
        </p:txBody>
      </p:sp>
      <p:sp>
        <p:nvSpPr>
          <p:cNvPr id="8" name="Text 6"/>
          <p:cNvSpPr/>
          <p:nvPr/>
        </p:nvSpPr>
        <p:spPr>
          <a:xfrm>
            <a:off x="8933459" y="1298448"/>
            <a:ext cx="2645588" cy="384048"/>
          </a:xfrm>
          <a:prstGeom prst="roundRect">
            <a:avLst>
              <a:gd name="adj" fmla="val 19048"/>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 POST tarda, no lo repite sola</a:t>
            </a:r>
            <a:endParaRPr lang="en-US" sz="1100" dirty="0"/>
          </a:p>
        </p:txBody>
      </p:sp>
      <p:sp>
        <p:nvSpPr>
          <p:cNvPr id="9" name="Shape 7"/>
          <p:cNvSpPr/>
          <p:nvPr/>
        </p:nvSpPr>
        <p:spPr>
          <a:xfrm>
            <a:off x="2531768" y="3050121"/>
            <a:ext cx="639707" cy="0"/>
          </a:xfrm>
          <a:prstGeom prst="line">
            <a:avLst/>
          </a:prstGeom>
          <a:noFill/>
          <a:ln w="31750">
            <a:solidFill>
              <a:srgbClr val="55627E"/>
            </a:solidFill>
            <a:prstDash val="sysDot"/>
            <a:tailEnd type="triangle"/>
          </a:ln>
        </p:spPr>
      </p:sp>
      <p:sp>
        <p:nvSpPr>
          <p:cNvPr id="10" name="Text 8"/>
          <p:cNvSpPr/>
          <p:nvPr/>
        </p:nvSpPr>
        <p:spPr>
          <a:xfrm>
            <a:off x="2655482" y="28124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11" name="Text 9"/>
          <p:cNvSpPr/>
          <p:nvPr/>
        </p:nvSpPr>
        <p:spPr>
          <a:xfrm>
            <a:off x="2641368" y="29403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725048" y="3050121"/>
            <a:ext cx="639707" cy="0"/>
          </a:xfrm>
          <a:prstGeom prst="line">
            <a:avLst/>
          </a:prstGeom>
          <a:noFill/>
          <a:ln w="31750">
            <a:solidFill>
              <a:srgbClr val="55627E"/>
            </a:solidFill>
            <a:prstDash val="sysDot"/>
            <a:tailEnd type="triangle"/>
          </a:ln>
        </p:spPr>
      </p:sp>
      <p:sp>
        <p:nvSpPr>
          <p:cNvPr id="13" name="Text 11"/>
          <p:cNvSpPr/>
          <p:nvPr/>
        </p:nvSpPr>
        <p:spPr>
          <a:xfrm>
            <a:off x="4782697" y="28124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4" name="Text 12"/>
          <p:cNvSpPr/>
          <p:nvPr/>
        </p:nvSpPr>
        <p:spPr>
          <a:xfrm>
            <a:off x="4834648" y="29403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6918328" y="2940457"/>
            <a:ext cx="639707" cy="0"/>
          </a:xfrm>
          <a:prstGeom prst="line">
            <a:avLst/>
          </a:prstGeom>
          <a:noFill/>
          <a:ln w="31750">
            <a:solidFill>
              <a:srgbClr val="55627E"/>
            </a:solidFill>
            <a:prstDash val="sysDot"/>
            <a:tailEnd type="triangle"/>
          </a:ln>
        </p:spPr>
      </p:sp>
      <p:sp>
        <p:nvSpPr>
          <p:cNvPr id="16" name="Text 14"/>
          <p:cNvSpPr/>
          <p:nvPr/>
        </p:nvSpPr>
        <p:spPr>
          <a:xfrm>
            <a:off x="7009009" y="27027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7" name="Text 15"/>
          <p:cNvSpPr/>
          <p:nvPr/>
        </p:nvSpPr>
        <p:spPr>
          <a:xfrm>
            <a:off x="7027928" y="28307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8" name="Shape 16"/>
          <p:cNvSpPr/>
          <p:nvPr/>
        </p:nvSpPr>
        <p:spPr>
          <a:xfrm>
            <a:off x="8115493" y="3397391"/>
            <a:ext cx="0" cy="1407355"/>
          </a:xfrm>
          <a:prstGeom prst="line">
            <a:avLst/>
          </a:prstGeom>
          <a:noFill/>
          <a:ln w="31750">
            <a:solidFill>
              <a:srgbClr val="2E6DB4"/>
            </a:solidFill>
            <a:prstDash val="solid"/>
            <a:tailEnd type="triangle"/>
          </a:ln>
        </p:spPr>
      </p:sp>
      <p:sp>
        <p:nvSpPr>
          <p:cNvPr id="19" name="Text 17"/>
          <p:cNvSpPr/>
          <p:nvPr/>
        </p:nvSpPr>
        <p:spPr>
          <a:xfrm>
            <a:off x="8206879" y="3982175"/>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20" name="Text 18"/>
          <p:cNvSpPr/>
          <p:nvPr/>
        </p:nvSpPr>
        <p:spPr>
          <a:xfrm>
            <a:off x="8005765" y="35069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a:off x="9111607" y="5042351"/>
            <a:ext cx="639707" cy="0"/>
          </a:xfrm>
          <a:prstGeom prst="line">
            <a:avLst/>
          </a:prstGeom>
          <a:noFill/>
          <a:ln w="31750">
            <a:solidFill>
              <a:srgbClr val="2E6DB4"/>
            </a:solidFill>
            <a:prstDash val="solid"/>
            <a:tailEnd type="triangle"/>
          </a:ln>
        </p:spPr>
      </p:sp>
      <p:sp>
        <p:nvSpPr>
          <p:cNvPr id="22" name="Text 20"/>
          <p:cNvSpPr/>
          <p:nvPr/>
        </p:nvSpPr>
        <p:spPr>
          <a:xfrm>
            <a:off x="9202289" y="4804655"/>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23" name="Text 21"/>
          <p:cNvSpPr/>
          <p:nvPr/>
        </p:nvSpPr>
        <p:spPr>
          <a:xfrm>
            <a:off x="9221207" y="49326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flipH="1">
            <a:off x="9111607" y="5261679"/>
            <a:ext cx="639707" cy="0"/>
          </a:xfrm>
          <a:prstGeom prst="line">
            <a:avLst/>
          </a:prstGeom>
          <a:noFill/>
          <a:ln w="22860">
            <a:solidFill>
              <a:srgbClr val="0B6E8A"/>
            </a:solidFill>
            <a:prstDash val="solid"/>
            <a:tailEnd type="arrow"/>
          </a:ln>
        </p:spPr>
      </p:sp>
      <p:sp>
        <p:nvSpPr>
          <p:cNvPr id="25" name="Text 23"/>
          <p:cNvSpPr/>
          <p:nvPr/>
        </p:nvSpPr>
        <p:spPr>
          <a:xfrm>
            <a:off x="9169256" y="52798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6" name="Text 24"/>
          <p:cNvSpPr/>
          <p:nvPr/>
        </p:nvSpPr>
        <p:spPr>
          <a:xfrm>
            <a:off x="9422258" y="5151951"/>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V="1">
            <a:off x="8554149" y="3397391"/>
            <a:ext cx="0" cy="1407355"/>
          </a:xfrm>
          <a:prstGeom prst="line">
            <a:avLst/>
          </a:prstGeom>
          <a:noFill/>
          <a:ln w="22860">
            <a:solidFill>
              <a:srgbClr val="0B6E8A"/>
            </a:solidFill>
            <a:prstDash val="solid"/>
            <a:tailEnd type="arrow"/>
          </a:ln>
        </p:spPr>
      </p:sp>
      <p:sp>
        <p:nvSpPr>
          <p:cNvPr id="28" name="Text 26"/>
          <p:cNvSpPr/>
          <p:nvPr/>
        </p:nvSpPr>
        <p:spPr>
          <a:xfrm>
            <a:off x="8645535" y="39821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9" name="Text 27"/>
          <p:cNvSpPr/>
          <p:nvPr/>
        </p:nvSpPr>
        <p:spPr>
          <a:xfrm>
            <a:off x="8444421" y="447568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0" name="Shape 28"/>
          <p:cNvSpPr/>
          <p:nvPr/>
        </p:nvSpPr>
        <p:spPr>
          <a:xfrm>
            <a:off x="9111607" y="3050121"/>
            <a:ext cx="639707" cy="0"/>
          </a:xfrm>
          <a:prstGeom prst="line">
            <a:avLst/>
          </a:prstGeom>
          <a:noFill/>
          <a:ln w="31750">
            <a:solidFill>
              <a:srgbClr val="55627E"/>
            </a:solidFill>
            <a:prstDash val="sysDot"/>
            <a:tailEnd type="triangle"/>
          </a:ln>
        </p:spPr>
      </p:sp>
      <p:sp>
        <p:nvSpPr>
          <p:cNvPr id="31" name="Text 29"/>
          <p:cNvSpPr/>
          <p:nvPr/>
        </p:nvSpPr>
        <p:spPr>
          <a:xfrm>
            <a:off x="9103191" y="2812425"/>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32" name="Text 30"/>
          <p:cNvSpPr/>
          <p:nvPr/>
        </p:nvSpPr>
        <p:spPr>
          <a:xfrm>
            <a:off x="9221207" y="29403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3" name="Shape 31"/>
          <p:cNvSpPr/>
          <p:nvPr/>
        </p:nvSpPr>
        <p:spPr>
          <a:xfrm flipH="1">
            <a:off x="6918328" y="3159785"/>
            <a:ext cx="639707" cy="0"/>
          </a:xfrm>
          <a:prstGeom prst="line">
            <a:avLst/>
          </a:prstGeom>
          <a:noFill/>
          <a:ln w="31750">
            <a:solidFill>
              <a:srgbClr val="55627E"/>
            </a:solidFill>
            <a:prstDash val="sysDot"/>
            <a:tailEnd type="triangle"/>
          </a:ln>
        </p:spPr>
      </p:sp>
      <p:sp>
        <p:nvSpPr>
          <p:cNvPr id="34" name="Text 32"/>
          <p:cNvSpPr/>
          <p:nvPr/>
        </p:nvSpPr>
        <p:spPr>
          <a:xfrm>
            <a:off x="6876879" y="3177972"/>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5" name="Text 33"/>
          <p:cNvSpPr/>
          <p:nvPr/>
        </p:nvSpPr>
        <p:spPr>
          <a:xfrm>
            <a:off x="7228978" y="30500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6" name="Shape 34"/>
          <p:cNvSpPr/>
          <p:nvPr/>
        </p:nvSpPr>
        <p:spPr>
          <a:xfrm>
            <a:off x="6141541" y="3397391"/>
            <a:ext cx="0" cy="1407355"/>
          </a:xfrm>
          <a:prstGeom prst="line">
            <a:avLst/>
          </a:prstGeom>
          <a:noFill/>
          <a:ln w="31750">
            <a:solidFill>
              <a:srgbClr val="55627E"/>
            </a:solidFill>
            <a:prstDash val="sysDot"/>
            <a:tailEnd type="triangle"/>
          </a:ln>
        </p:spPr>
      </p:sp>
      <p:sp>
        <p:nvSpPr>
          <p:cNvPr id="37" name="Text 35"/>
          <p:cNvSpPr/>
          <p:nvPr/>
        </p:nvSpPr>
        <p:spPr>
          <a:xfrm>
            <a:off x="6232928" y="3982175"/>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8" name="Text 36"/>
          <p:cNvSpPr/>
          <p:nvPr/>
        </p:nvSpPr>
        <p:spPr>
          <a:xfrm>
            <a:off x="6031813" y="350699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9" name="Shape 37"/>
          <p:cNvSpPr/>
          <p:nvPr/>
        </p:nvSpPr>
        <p:spPr>
          <a:xfrm>
            <a:off x="978195" y="27028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1200447" y="2839809"/>
            <a:ext cx="420624" cy="420624"/>
          </a:xfrm>
          <a:prstGeom prst="ellipse">
            <a:avLst/>
          </a:prstGeom>
          <a:solidFill>
            <a:srgbClr val="E2E5EA"/>
          </a:solidFill>
          <a:ln w="12700">
            <a:solidFill>
              <a:srgbClr val="E2E5EA"/>
            </a:solidFill>
            <a:prstDash val="solid"/>
          </a:ln>
        </p:spPr>
      </p:sp>
      <p:sp>
        <p:nvSpPr>
          <p:cNvPr id="41" name="Icono user"/>
          <p:cNvSpPr/>
          <p:nvPr/>
        </p:nvSpPr>
        <p:spPr>
          <a:xfrm>
            <a:off x="1255311" y="28946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42" name="Text 40"/>
          <p:cNvSpPr/>
          <p:nvPr/>
        </p:nvSpPr>
        <p:spPr>
          <a:xfrm>
            <a:off x="1675935" y="27028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43" name="Shape 41"/>
          <p:cNvSpPr/>
          <p:nvPr/>
        </p:nvSpPr>
        <p:spPr>
          <a:xfrm>
            <a:off x="317147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3262914" y="2839809"/>
            <a:ext cx="420624" cy="420624"/>
          </a:xfrm>
          <a:prstGeom prst="ellipse">
            <a:avLst/>
          </a:prstGeom>
          <a:solidFill>
            <a:srgbClr val="E2E5EA"/>
          </a:solidFill>
          <a:ln w="12700">
            <a:solidFill>
              <a:srgbClr val="E2E5EA"/>
            </a:solidFill>
            <a:prstDash val="solid"/>
          </a:ln>
        </p:spPr>
      </p:sp>
      <p:sp>
        <p:nvSpPr>
          <p:cNvPr id="45" name="Icono mouse-pointer-click"/>
          <p:cNvSpPr/>
          <p:nvPr/>
        </p:nvSpPr>
        <p:spPr>
          <a:xfrm>
            <a:off x="3317778" y="28946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6" name="Text 44"/>
          <p:cNvSpPr/>
          <p:nvPr/>
        </p:nvSpPr>
        <p:spPr>
          <a:xfrm>
            <a:off x="373840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7" name="Shape 45"/>
          <p:cNvSpPr/>
          <p:nvPr/>
        </p:nvSpPr>
        <p:spPr>
          <a:xfrm>
            <a:off x="536475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5456194" y="2839809"/>
            <a:ext cx="420624" cy="420624"/>
          </a:xfrm>
          <a:prstGeom prst="ellipse">
            <a:avLst/>
          </a:prstGeom>
          <a:solidFill>
            <a:srgbClr val="E2E5EA"/>
          </a:solidFill>
          <a:ln w="12700">
            <a:solidFill>
              <a:srgbClr val="E2E5EA"/>
            </a:solidFill>
            <a:prstDash val="solid"/>
          </a:ln>
        </p:spPr>
      </p:sp>
      <p:sp>
        <p:nvSpPr>
          <p:cNvPr id="49" name="Icono app-window"/>
          <p:cNvSpPr/>
          <p:nvPr/>
        </p:nvSpPr>
        <p:spPr>
          <a:xfrm>
            <a:off x="5511058" y="28946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50" name="Text 48"/>
          <p:cNvSpPr/>
          <p:nvPr/>
        </p:nvSpPr>
        <p:spPr>
          <a:xfrm>
            <a:off x="593168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51" name="Shape 49"/>
          <p:cNvSpPr/>
          <p:nvPr/>
        </p:nvSpPr>
        <p:spPr>
          <a:xfrm>
            <a:off x="755803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7649474" y="2839809"/>
            <a:ext cx="420624" cy="420624"/>
          </a:xfrm>
          <a:prstGeom prst="ellipse">
            <a:avLst/>
          </a:prstGeom>
          <a:solidFill>
            <a:srgbClr val="E2E5EA"/>
          </a:solidFill>
          <a:ln w="12700">
            <a:solidFill>
              <a:srgbClr val="E2E5EA"/>
            </a:solidFill>
            <a:prstDash val="solid"/>
          </a:ln>
        </p:spPr>
      </p:sp>
      <p:sp>
        <p:nvSpPr>
          <p:cNvPr id="53" name="Icono globe"/>
          <p:cNvSpPr/>
          <p:nvPr/>
        </p:nvSpPr>
        <p:spPr>
          <a:xfrm>
            <a:off x="7704338" y="28946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2350"/>
            </a:solidFill>
            <a:prstDash val="solid"/>
            <a:round/>
          </a:ln>
        </p:spPr>
      </p:sp>
      <p:sp>
        <p:nvSpPr>
          <p:cNvPr id="54" name="Text 52"/>
          <p:cNvSpPr/>
          <p:nvPr/>
        </p:nvSpPr>
        <p:spPr>
          <a:xfrm>
            <a:off x="812496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5" name="Shape 53"/>
          <p:cNvSpPr/>
          <p:nvPr/>
        </p:nvSpPr>
        <p:spPr>
          <a:xfrm>
            <a:off x="9751314" y="27028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6" name="Shape 54"/>
          <p:cNvSpPr/>
          <p:nvPr/>
        </p:nvSpPr>
        <p:spPr>
          <a:xfrm>
            <a:off x="9842754" y="2839809"/>
            <a:ext cx="420624" cy="420624"/>
          </a:xfrm>
          <a:prstGeom prst="ellipse">
            <a:avLst/>
          </a:prstGeom>
          <a:solidFill>
            <a:srgbClr val="E2E5EA"/>
          </a:solidFill>
          <a:ln w="12700">
            <a:solidFill>
              <a:srgbClr val="E2E5EA"/>
            </a:solidFill>
            <a:prstDash val="solid"/>
          </a:ln>
        </p:spPr>
      </p:sp>
      <p:sp>
        <p:nvSpPr>
          <p:cNvPr id="57" name="Icono list-todo"/>
          <p:cNvSpPr/>
          <p:nvPr/>
        </p:nvSpPr>
        <p:spPr>
          <a:xfrm>
            <a:off x="9897618" y="28946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0B2350"/>
            </a:solidFill>
            <a:prstDash val="solid"/>
            <a:round/>
          </a:ln>
        </p:spPr>
      </p:sp>
      <p:sp>
        <p:nvSpPr>
          <p:cNvPr id="58" name="Text 56"/>
          <p:cNvSpPr/>
          <p:nvPr/>
        </p:nvSpPr>
        <p:spPr>
          <a:xfrm>
            <a:off x="10318242" y="27028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solo peticiones de la UI</a:t>
            </a:r>
            <a:endParaRPr lang="en-US" sz="1079" dirty="0"/>
          </a:p>
        </p:txBody>
      </p:sp>
      <p:sp>
        <p:nvSpPr>
          <p:cNvPr id="59" name="Shape 57"/>
          <p:cNvSpPr/>
          <p:nvPr/>
        </p:nvSpPr>
        <p:spPr>
          <a:xfrm>
            <a:off x="5364754" y="48047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5456194" y="4941703"/>
            <a:ext cx="420624" cy="420624"/>
          </a:xfrm>
          <a:prstGeom prst="ellipse">
            <a:avLst/>
          </a:prstGeom>
          <a:solidFill>
            <a:srgbClr val="E2E5EA"/>
          </a:solidFill>
          <a:ln w="12700">
            <a:solidFill>
              <a:srgbClr val="E2E5EA"/>
            </a:solidFill>
            <a:prstDash val="solid"/>
          </a:ln>
        </p:spPr>
      </p:sp>
      <p:sp>
        <p:nvSpPr>
          <p:cNvPr id="61" name="Icono app-window"/>
          <p:cNvSpPr/>
          <p:nvPr/>
        </p:nvSpPr>
        <p:spPr>
          <a:xfrm>
            <a:off x="5511058" y="49965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62" name="Text 60"/>
          <p:cNvSpPr/>
          <p:nvPr/>
        </p:nvSpPr>
        <p:spPr>
          <a:xfrm>
            <a:off x="5931682" y="48047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 actualiza</a:t>
            </a:r>
            <a:endParaRPr lang="en-US" sz="1079" dirty="0"/>
          </a:p>
        </p:txBody>
      </p:sp>
      <p:sp>
        <p:nvSpPr>
          <p:cNvPr id="63" name="Shape 61"/>
          <p:cNvSpPr/>
          <p:nvPr/>
        </p:nvSpPr>
        <p:spPr>
          <a:xfrm>
            <a:off x="7558034" y="4804745"/>
            <a:ext cx="1553573"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7649474" y="4941703"/>
            <a:ext cx="420624" cy="420624"/>
          </a:xfrm>
          <a:prstGeom prst="ellipse">
            <a:avLst/>
          </a:prstGeom>
          <a:solidFill>
            <a:srgbClr val="E2E5EA"/>
          </a:solidFill>
          <a:ln w="12700">
            <a:solidFill>
              <a:srgbClr val="E2E5EA"/>
            </a:solidFill>
            <a:prstDash val="solid"/>
          </a:ln>
        </p:spPr>
      </p:sp>
      <p:sp>
        <p:nvSpPr>
          <p:cNvPr id="65" name="Icono network"/>
          <p:cNvSpPr/>
          <p:nvPr/>
        </p:nvSpPr>
        <p:spPr>
          <a:xfrm>
            <a:off x="7704338" y="49965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2350"/>
            </a:solidFill>
            <a:prstDash val="solid"/>
            <a:round/>
          </a:ln>
        </p:spPr>
      </p:sp>
      <p:sp>
        <p:nvSpPr>
          <p:cNvPr id="66" name="Text 64"/>
          <p:cNvSpPr/>
          <p:nvPr/>
        </p:nvSpPr>
        <p:spPr>
          <a:xfrm>
            <a:off x="8124962" y="48047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7" name="Shape 65"/>
          <p:cNvSpPr/>
          <p:nvPr/>
        </p:nvSpPr>
        <p:spPr>
          <a:xfrm>
            <a:off x="9751314" y="48047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8" name="Shape 66"/>
          <p:cNvSpPr/>
          <p:nvPr/>
        </p:nvSpPr>
        <p:spPr>
          <a:xfrm>
            <a:off x="9842754" y="4941703"/>
            <a:ext cx="420624" cy="420624"/>
          </a:xfrm>
          <a:prstGeom prst="ellipse">
            <a:avLst/>
          </a:prstGeom>
          <a:solidFill>
            <a:srgbClr val="E2E5EA"/>
          </a:solidFill>
          <a:ln w="12700">
            <a:solidFill>
              <a:srgbClr val="E2E5EA"/>
            </a:solidFill>
            <a:prstDash val="solid"/>
          </a:ln>
        </p:spPr>
      </p:sp>
      <p:sp>
        <p:nvSpPr>
          <p:cNvPr id="69" name="Icono server"/>
          <p:cNvSpPr/>
          <p:nvPr/>
        </p:nvSpPr>
        <p:spPr>
          <a:xfrm>
            <a:off x="9897618" y="49965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70" name="Text 68"/>
          <p:cNvSpPr/>
          <p:nvPr/>
        </p:nvSpPr>
        <p:spPr>
          <a:xfrm>
            <a:off x="10318242" y="48047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la UI consume los dos servicios · el código</a:t>
            </a:r>
            <a:endParaRPr lang="en-US" sz="2800" dirty="0"/>
          </a:p>
        </p:txBody>
      </p:sp>
      <p:sp>
        <p:nvSpPr>
          <p:cNvPr id="5" name="Icono file-code"/>
          <p:cNvSpPr/>
          <p:nvPr/>
        </p:nvSpPr>
        <p:spPr>
          <a:xfrm>
            <a:off x="612648" y="1380744"/>
            <a:ext cx="201168" cy="201168"/>
          </a:xfrm>
          <a:custGeom>
            <a:avLst/>
            <a:gdLst/>
            <a:ahLst/>
            <a:cxnLst/>
            <a:rect l="l" t="t" r="r" b="b"/>
            <a:pathLst>
              <a:path w="201168" h="201168">
                <a:moveTo>
                  <a:pt x="83820" y="104775"/>
                </a:moveTo>
                <a:lnTo>
                  <a:pt x="67056" y="125730"/>
                </a:lnTo>
                <a:lnTo>
                  <a:pt x="83820" y="146685"/>
                </a:lnTo>
                <a:moveTo>
                  <a:pt x="117348" y="104775"/>
                </a:moveTo>
                <a:lnTo>
                  <a:pt x="134112" y="125730"/>
                </a:lnTo>
                <a:lnTo>
                  <a:pt x="117348" y="146685"/>
                </a:lnTo>
                <a:moveTo>
                  <a:pt x="117348" y="16764"/>
                </a:moveTo>
                <a:lnTo>
                  <a:pt x="117348" y="50292"/>
                </a:lnTo>
                <a:cubicBezTo>
                  <a:pt x="117348" y="59551"/>
                  <a:pt x="124853" y="67056"/>
                  <a:pt x="134112" y="67056"/>
                </a:cubicBezTo>
                <a:lnTo>
                  <a:pt x="167640" y="67056"/>
                </a:lnTo>
                <a:moveTo>
                  <a:pt x="125730" y="16764"/>
                </a:moveTo>
                <a:lnTo>
                  <a:pt x="50292" y="16764"/>
                </a:lnTo>
                <a:cubicBezTo>
                  <a:pt x="41033" y="16764"/>
                  <a:pt x="33528" y="24269"/>
                  <a:pt x="33528" y="33528"/>
                </a:cubicBezTo>
                <a:lnTo>
                  <a:pt x="33528" y="167640"/>
                </a:lnTo>
                <a:cubicBezTo>
                  <a:pt x="33528" y="176899"/>
                  <a:pt x="41033" y="184404"/>
                  <a:pt x="50292" y="184404"/>
                </a:cubicBezTo>
                <a:lnTo>
                  <a:pt x="150876" y="184404"/>
                </a:lnTo>
                <a:cubicBezTo>
                  <a:pt x="160135" y="184404"/>
                  <a:pt x="167640" y="176899"/>
                  <a:pt x="167640" y="167640"/>
                </a:cubicBezTo>
                <a:lnTo>
                  <a:pt x="167640" y="58674"/>
                </a:lnTo>
                <a:close/>
              </a:path>
            </a:pathLst>
          </a:custGeom>
          <a:noFill/>
          <a:ln w="16764" cap="rnd">
            <a:solidFill>
              <a:srgbClr val="0B6E8A"/>
            </a:solidFill>
            <a:prstDash val="solid"/>
            <a:round/>
          </a:ln>
        </p:spPr>
      </p:sp>
      <p:sp>
        <p:nvSpPr>
          <p:cNvPr id="6" name="Text 4"/>
          <p:cNvSpPr/>
          <p:nvPr/>
        </p:nvSpPr>
        <p:spPr>
          <a:xfrm>
            <a:off x="886968" y="1371600"/>
            <a:ext cx="10692079"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arka-lite-ui/despliegue/nginx.conf.template</a:t>
            </a:r>
            <a:endParaRPr lang="en-US" sz="900" dirty="0"/>
          </a:p>
        </p:txBody>
      </p:sp>
      <p:sp>
        <p:nvSpPr>
          <p:cNvPr id="7" name="Text 5"/>
          <p:cNvSpPr/>
          <p:nvPr/>
        </p:nvSpPr>
        <p:spPr>
          <a:xfrm>
            <a:off x="612648" y="1645920"/>
            <a:ext cx="10966399" cy="4617720"/>
          </a:xfrm>
          <a:prstGeom prst="roundRect">
            <a:avLst>
              <a:gd name="adj" fmla="val 1980"/>
            </a:avLst>
          </a:prstGeom>
          <a:solidFill>
            <a:srgbClr val="0B1F3A"/>
          </a:solidFill>
          <a:ln>
            <a:solidFill>
              <a:srgbClr val="0B1F3A"/>
            </a:solidFill>
          </a:ln>
          <a:effectLst>
            <a:outerShdw sx="100000" sy="100000" kx="0" ky="0" algn="bl" rotWithShape="0" blurRad="76200" dist="19050" dir="5400000">
              <a:srgbClr val="0B1F3A">
                <a:alpha val="14000"/>
              </a:srgbClr>
            </a:outerShdw>
          </a:effectLst>
        </p:spPr>
        <p:txBody>
          <a:bodyPr wrap="square" lIns="152400" tIns="152400" rIns="152400" bIns="152400" rtlCol="0" anchor="t"/>
          <a:lstStyle/>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location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/api/solicitudes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proxy_pass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${ARKA_SOLICITUDES_ORIGEN}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/solicitudes;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a:p>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location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 /api/notificaciones {</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7FD3EA"/>
                </a:solidFill>
                <a:latin typeface="Consolas" pitchFamily="34" charset="0"/>
                <a:ea typeface="Consolas" pitchFamily="34" charset="-122"/>
                <a:cs typeface="Consolas" pitchFamily="34" charset="-120"/>
              </a:rPr>
              <a:t>proxy_pass</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2000" dirty="0">
                <a:solidFill>
                  <a:srgbClr val="FFB38A"/>
                </a:solidFill>
                <a:latin typeface="Consolas" pitchFamily="34" charset="0"/>
                <a:ea typeface="Consolas" pitchFamily="34" charset="-122"/>
                <a:cs typeface="Consolas" pitchFamily="34" charset="-120"/>
              </a:rPr>
              <a:t>${ARKA_NOTIFICACIONES_ORIGEN}</a:t>
            </a:r>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/notificaciones;</a:t>
            </a:r>
            <a:endParaRPr lang="en-US" sz="2000" dirty="0"/>
          </a:p>
          <a:p>
            <a:pPr indent="0" marL="0">
              <a:lnSpc>
                <a:spcPct val="110000"/>
              </a:lnSpc>
              <a:buNone/>
            </a:pPr>
            <a:r>
              <a:rPr lang="en-US" sz="2000" dirty="0">
                <a:solidFill>
                  <a:srgbClr val="E8EDF8"/>
                </a:solidFill>
                <a:latin typeface="Consolas" pitchFamily="34" charset="0"/>
                <a:ea typeface="Consolas" pitchFamily="34" charset="-122"/>
                <a:cs typeface="Consolas" pitchFamily="34" charset="-120"/>
              </a:rPr>
              <a:t>}</a:t>
            </a:r>
            <a:endParaRPr lang="en-US" sz="2000" dirty="0"/>
          </a:p>
        </p:txBody>
      </p:sp>
      <p:sp>
        <p:nvSpPr>
          <p:cNvPr id="8"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1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47625">
            <a:solidFill>
              <a:srgbClr val="2BA6CB"/>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47625">
            <a:solidFill>
              <a:srgbClr val="2BA6CB"/>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31750">
            <a:solidFill>
              <a:srgbClr val="CBD5E3"/>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31750">
            <a:solidFill>
              <a:srgbClr val="CBD5E3"/>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31750">
            <a:solidFill>
              <a:srgbClr val="CBD5E3"/>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22860">
            <a:solidFill>
              <a:srgbClr val="CBD5E3"/>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22860">
            <a:solidFill>
              <a:srgbClr val="CBD5E3"/>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31750">
            <a:solidFill>
              <a:srgbClr val="CBD5E3"/>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31750">
            <a:solidFill>
              <a:srgbClr val="CBD5E3"/>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31750">
            <a:solidFill>
              <a:srgbClr val="CBD5E3"/>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36" name="Shape 34"/>
          <p:cNvSpPr/>
          <p:nvPr/>
        </p:nvSpPr>
        <p:spPr>
          <a:xfrm>
            <a:off x="1200447" y="2039709"/>
            <a:ext cx="420624" cy="420624"/>
          </a:xfrm>
          <a:prstGeom prst="ellipse">
            <a:avLst/>
          </a:prstGeom>
          <a:solidFill>
            <a:srgbClr val="E3F4FA"/>
          </a:solidFill>
          <a:ln w="12700">
            <a:solidFill>
              <a:srgbClr val="E3F4F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6E8A"/>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0" name="Shape 38"/>
          <p:cNvSpPr/>
          <p:nvPr/>
        </p:nvSpPr>
        <p:spPr>
          <a:xfrm>
            <a:off x="3262914" y="2039709"/>
            <a:ext cx="420624" cy="420624"/>
          </a:xfrm>
          <a:prstGeom prst="ellipse">
            <a:avLst/>
          </a:prstGeom>
          <a:solidFill>
            <a:srgbClr val="E3F4FA"/>
          </a:solidFill>
          <a:ln w="12700">
            <a:solidFill>
              <a:srgbClr val="E3F4F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6E8A"/>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4" name="Shape 42"/>
          <p:cNvSpPr/>
          <p:nvPr/>
        </p:nvSpPr>
        <p:spPr>
          <a:xfrm>
            <a:off x="5456194" y="2039709"/>
            <a:ext cx="420624" cy="420624"/>
          </a:xfrm>
          <a:prstGeom prst="ellipse">
            <a:avLst/>
          </a:prstGeom>
          <a:solidFill>
            <a:srgbClr val="E3F4FA"/>
          </a:solidFill>
          <a:ln w="12700">
            <a:solidFill>
              <a:srgbClr val="E3F4F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6E8A"/>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12700">
            <a:solidFill>
              <a:srgbClr val="D5DDE8"/>
            </a:solidFill>
            <a:prstDash val="solid"/>
          </a:ln>
        </p:spPr>
      </p:sp>
      <p:sp>
        <p:nvSpPr>
          <p:cNvPr id="48" name="Shape 46"/>
          <p:cNvSpPr/>
          <p:nvPr/>
        </p:nvSpPr>
        <p:spPr>
          <a:xfrm>
            <a:off x="7649474" y="2039709"/>
            <a:ext cx="420624" cy="420624"/>
          </a:xfrm>
          <a:prstGeom prst="ellipse">
            <a:avLst/>
          </a:prstGeom>
          <a:solidFill>
            <a:srgbClr val="EEF2F7"/>
          </a:solidFill>
          <a:ln w="12700">
            <a:solidFill>
              <a:srgbClr val="EEF2F7"/>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A9B4C6"/>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12700">
            <a:solidFill>
              <a:srgbClr val="D5DDE8"/>
            </a:solidFill>
            <a:prstDash val="solid"/>
          </a:ln>
        </p:spPr>
      </p:sp>
      <p:sp>
        <p:nvSpPr>
          <p:cNvPr id="52" name="Shape 50"/>
          <p:cNvSpPr/>
          <p:nvPr/>
        </p:nvSpPr>
        <p:spPr>
          <a:xfrm>
            <a:off x="9842754" y="2039709"/>
            <a:ext cx="420624" cy="420624"/>
          </a:xfrm>
          <a:prstGeom prst="ellipse">
            <a:avLst/>
          </a:prstGeom>
          <a:solidFill>
            <a:srgbClr val="EEF2F7"/>
          </a:solidFill>
          <a:ln w="12700">
            <a:solidFill>
              <a:srgbClr val="EEF2F7"/>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A9B4C6"/>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12700">
            <a:solidFill>
              <a:srgbClr val="D5DDE8"/>
            </a:solidFill>
            <a:prstDash val="solid"/>
          </a:ln>
        </p:spPr>
      </p:sp>
      <p:sp>
        <p:nvSpPr>
          <p:cNvPr id="56" name="Shape 54"/>
          <p:cNvSpPr/>
          <p:nvPr/>
        </p:nvSpPr>
        <p:spPr>
          <a:xfrm>
            <a:off x="5456194" y="4141603"/>
            <a:ext cx="420624" cy="420624"/>
          </a:xfrm>
          <a:prstGeom prst="ellipse">
            <a:avLst/>
          </a:prstGeom>
          <a:solidFill>
            <a:srgbClr val="EEF2F7"/>
          </a:solidFill>
          <a:ln w="12700">
            <a:solidFill>
              <a:srgbClr val="EEF2F7"/>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A9B4C6"/>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BFCFE"/>
          </a:solidFill>
          <a:ln w="12700">
            <a:solidFill>
              <a:srgbClr val="D5DDE8"/>
            </a:solidFill>
            <a:prstDash val="solid"/>
          </a:ln>
        </p:spPr>
      </p:sp>
      <p:sp>
        <p:nvSpPr>
          <p:cNvPr id="60" name="Shape 58"/>
          <p:cNvSpPr/>
          <p:nvPr/>
        </p:nvSpPr>
        <p:spPr>
          <a:xfrm>
            <a:off x="7649474" y="4141603"/>
            <a:ext cx="420624" cy="420624"/>
          </a:xfrm>
          <a:prstGeom prst="ellipse">
            <a:avLst/>
          </a:prstGeom>
          <a:solidFill>
            <a:srgbClr val="EEF2F7"/>
          </a:solidFill>
          <a:ln w="12700">
            <a:solidFill>
              <a:srgbClr val="EEF2F7"/>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A9B4C6"/>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12700">
            <a:solidFill>
              <a:srgbClr val="D5DDE8"/>
            </a:solidFill>
            <a:prstDash val="solid"/>
          </a:ln>
        </p:spPr>
      </p:sp>
      <p:sp>
        <p:nvSpPr>
          <p:cNvPr id="64" name="Shape 62"/>
          <p:cNvSpPr/>
          <p:nvPr/>
        </p:nvSpPr>
        <p:spPr>
          <a:xfrm>
            <a:off x="9842754" y="4141603"/>
            <a:ext cx="420624" cy="420624"/>
          </a:xfrm>
          <a:prstGeom prst="ellipse">
            <a:avLst/>
          </a:prstGeom>
          <a:solidFill>
            <a:srgbClr val="EEF2F7"/>
          </a:solidFill>
          <a:ln w="12700">
            <a:solidFill>
              <a:srgbClr val="EEF2F7"/>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A9B4C6"/>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un botón en la pantalla.</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la acción cambia datos, la interfaz pide confirmarla antes de enviarla.</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2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31750">
            <a:solidFill>
              <a:srgbClr val="55627E"/>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31750">
            <a:solidFill>
              <a:srgbClr val="55627E"/>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47625">
            <a:solidFill>
              <a:srgbClr val="2BA6CB"/>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47625">
            <a:solidFill>
              <a:srgbClr val="2BA6CB"/>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31750">
            <a:solidFill>
              <a:srgbClr val="CBD5E3"/>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22860">
            <a:solidFill>
              <a:srgbClr val="CBD5E3"/>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22860">
            <a:solidFill>
              <a:srgbClr val="CBD5E3"/>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31750">
            <a:solidFill>
              <a:srgbClr val="CBD5E3"/>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31750">
            <a:solidFill>
              <a:srgbClr val="CBD5E3"/>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31750">
            <a:solidFill>
              <a:srgbClr val="CBD5E3"/>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0447" y="2039709"/>
            <a:ext cx="420624" cy="420624"/>
          </a:xfrm>
          <a:prstGeom prst="ellipse">
            <a:avLst/>
          </a:prstGeom>
          <a:solidFill>
            <a:srgbClr val="E2E5EA"/>
          </a:solidFill>
          <a:ln w="12700">
            <a:solidFill>
              <a:srgbClr val="E2E5E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262914" y="2039709"/>
            <a:ext cx="420624" cy="420624"/>
          </a:xfrm>
          <a:prstGeom prst="ellipse">
            <a:avLst/>
          </a:prstGeom>
          <a:solidFill>
            <a:srgbClr val="E2E5EA"/>
          </a:solidFill>
          <a:ln w="12700">
            <a:solidFill>
              <a:srgbClr val="E2E5E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5456194" y="2039709"/>
            <a:ext cx="420624" cy="420624"/>
          </a:xfrm>
          <a:prstGeom prst="ellipse">
            <a:avLst/>
          </a:prstGeom>
          <a:solidFill>
            <a:srgbClr val="E2E5EA"/>
          </a:solidFill>
          <a:ln w="12700">
            <a:solidFill>
              <a:srgbClr val="E2E5E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8" name="Shape 46"/>
          <p:cNvSpPr/>
          <p:nvPr/>
        </p:nvSpPr>
        <p:spPr>
          <a:xfrm>
            <a:off x="7649474" y="2039709"/>
            <a:ext cx="420624" cy="420624"/>
          </a:xfrm>
          <a:prstGeom prst="ellipse">
            <a:avLst/>
          </a:prstGeom>
          <a:solidFill>
            <a:srgbClr val="E3F4FA"/>
          </a:solidFill>
          <a:ln w="12700">
            <a:solidFill>
              <a:srgbClr val="E3F4F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6E8A"/>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12700">
            <a:solidFill>
              <a:srgbClr val="D5DDE8"/>
            </a:solidFill>
            <a:prstDash val="solid"/>
          </a:ln>
        </p:spPr>
      </p:sp>
      <p:sp>
        <p:nvSpPr>
          <p:cNvPr id="52" name="Shape 50"/>
          <p:cNvSpPr/>
          <p:nvPr/>
        </p:nvSpPr>
        <p:spPr>
          <a:xfrm>
            <a:off x="9842754" y="2039709"/>
            <a:ext cx="420624" cy="420624"/>
          </a:xfrm>
          <a:prstGeom prst="ellipse">
            <a:avLst/>
          </a:prstGeom>
          <a:solidFill>
            <a:srgbClr val="EEF2F7"/>
          </a:solidFill>
          <a:ln w="12700">
            <a:solidFill>
              <a:srgbClr val="EEF2F7"/>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A9B4C6"/>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12700">
            <a:solidFill>
              <a:srgbClr val="D5DDE8"/>
            </a:solidFill>
            <a:prstDash val="solid"/>
          </a:ln>
        </p:spPr>
      </p:sp>
      <p:sp>
        <p:nvSpPr>
          <p:cNvPr id="56" name="Shape 54"/>
          <p:cNvSpPr/>
          <p:nvPr/>
        </p:nvSpPr>
        <p:spPr>
          <a:xfrm>
            <a:off x="5456194" y="4141603"/>
            <a:ext cx="420624" cy="420624"/>
          </a:xfrm>
          <a:prstGeom prst="ellipse">
            <a:avLst/>
          </a:prstGeom>
          <a:solidFill>
            <a:srgbClr val="EEF2F7"/>
          </a:solidFill>
          <a:ln w="12700">
            <a:solidFill>
              <a:srgbClr val="EEF2F7"/>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A9B4C6"/>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7649474" y="4141603"/>
            <a:ext cx="420624" cy="420624"/>
          </a:xfrm>
          <a:prstGeom prst="ellipse">
            <a:avLst/>
          </a:prstGeom>
          <a:solidFill>
            <a:srgbClr val="E3F4FA"/>
          </a:solidFill>
          <a:ln w="12700">
            <a:solidFill>
              <a:srgbClr val="E3F4FA"/>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6E8A"/>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12700">
            <a:solidFill>
              <a:srgbClr val="D5DDE8"/>
            </a:solidFill>
            <a:prstDash val="solid"/>
          </a:ln>
        </p:spPr>
      </p:sp>
      <p:sp>
        <p:nvSpPr>
          <p:cNvPr id="64" name="Shape 62"/>
          <p:cNvSpPr/>
          <p:nvPr/>
        </p:nvSpPr>
        <p:spPr>
          <a:xfrm>
            <a:off x="9842754" y="4141603"/>
            <a:ext cx="420624" cy="420624"/>
          </a:xfrm>
          <a:prstGeom prst="ellipse">
            <a:avLst/>
          </a:prstGeom>
          <a:solidFill>
            <a:srgbClr val="EEF2F7"/>
          </a:solidFill>
          <a:ln w="12700">
            <a:solidFill>
              <a:srgbClr val="EEF2F7"/>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A9B4C6"/>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cliente HTTP mide el tiempo y, si tarda más de 10 segundos, no lo repite solo.</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navegador llama a /api y nginx lo pasa al servicio que corresponde.</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3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31750">
            <a:solidFill>
              <a:srgbClr val="55627E"/>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31750">
            <a:solidFill>
              <a:srgbClr val="55627E"/>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31750">
            <a:solidFill>
              <a:srgbClr val="55627E"/>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31750">
            <a:solidFill>
              <a:srgbClr val="2E6DB4"/>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47625">
            <a:solidFill>
              <a:srgbClr val="2BA6CB"/>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38735">
            <a:solidFill>
              <a:srgbClr val="2BA6CB"/>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38735">
            <a:solidFill>
              <a:srgbClr val="2BA6CB"/>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31750">
            <a:solidFill>
              <a:srgbClr val="CBD5E3"/>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31750">
            <a:solidFill>
              <a:srgbClr val="CBD5E3"/>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31750">
            <a:solidFill>
              <a:srgbClr val="CBD5E3"/>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0447" y="2039709"/>
            <a:ext cx="420624" cy="420624"/>
          </a:xfrm>
          <a:prstGeom prst="ellipse">
            <a:avLst/>
          </a:prstGeom>
          <a:solidFill>
            <a:srgbClr val="E2E5EA"/>
          </a:solidFill>
          <a:ln w="12700">
            <a:solidFill>
              <a:srgbClr val="E2E5E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262914" y="2039709"/>
            <a:ext cx="420624" cy="420624"/>
          </a:xfrm>
          <a:prstGeom prst="ellipse">
            <a:avLst/>
          </a:prstGeom>
          <a:solidFill>
            <a:srgbClr val="E2E5EA"/>
          </a:solidFill>
          <a:ln w="12700">
            <a:solidFill>
              <a:srgbClr val="E2E5E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5456194" y="2039709"/>
            <a:ext cx="420624" cy="420624"/>
          </a:xfrm>
          <a:prstGeom prst="ellipse">
            <a:avLst/>
          </a:prstGeom>
          <a:solidFill>
            <a:srgbClr val="E2E5EA"/>
          </a:solidFill>
          <a:ln w="12700">
            <a:solidFill>
              <a:srgbClr val="E2E5E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48" name="Shape 46"/>
          <p:cNvSpPr/>
          <p:nvPr/>
        </p:nvSpPr>
        <p:spPr>
          <a:xfrm>
            <a:off x="7649474" y="2039709"/>
            <a:ext cx="420624" cy="420624"/>
          </a:xfrm>
          <a:prstGeom prst="ellipse">
            <a:avLst/>
          </a:prstGeom>
          <a:solidFill>
            <a:srgbClr val="E3F4FA"/>
          </a:solidFill>
          <a:ln w="12700">
            <a:solidFill>
              <a:srgbClr val="E3F4F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6E8A"/>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12700">
            <a:solidFill>
              <a:srgbClr val="D5DDE8"/>
            </a:solidFill>
            <a:prstDash val="solid"/>
          </a:ln>
        </p:spPr>
      </p:sp>
      <p:sp>
        <p:nvSpPr>
          <p:cNvPr id="52" name="Shape 50"/>
          <p:cNvSpPr/>
          <p:nvPr/>
        </p:nvSpPr>
        <p:spPr>
          <a:xfrm>
            <a:off x="9842754" y="2039709"/>
            <a:ext cx="420624" cy="420624"/>
          </a:xfrm>
          <a:prstGeom prst="ellipse">
            <a:avLst/>
          </a:prstGeom>
          <a:solidFill>
            <a:srgbClr val="EEF2F7"/>
          </a:solidFill>
          <a:ln w="12700">
            <a:solidFill>
              <a:srgbClr val="EEF2F7"/>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A9B4C6"/>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12700">
            <a:solidFill>
              <a:srgbClr val="D5DDE8"/>
            </a:solidFill>
            <a:prstDash val="solid"/>
          </a:ln>
        </p:spPr>
      </p:sp>
      <p:sp>
        <p:nvSpPr>
          <p:cNvPr id="56" name="Shape 54"/>
          <p:cNvSpPr/>
          <p:nvPr/>
        </p:nvSpPr>
        <p:spPr>
          <a:xfrm>
            <a:off x="5456194" y="4141603"/>
            <a:ext cx="420624" cy="420624"/>
          </a:xfrm>
          <a:prstGeom prst="ellipse">
            <a:avLst/>
          </a:prstGeom>
          <a:solidFill>
            <a:srgbClr val="EEF2F7"/>
          </a:solidFill>
          <a:ln w="12700">
            <a:solidFill>
              <a:srgbClr val="EEF2F7"/>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A9B4C6"/>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0" name="Shape 58"/>
          <p:cNvSpPr/>
          <p:nvPr/>
        </p:nvSpPr>
        <p:spPr>
          <a:xfrm>
            <a:off x="7649474" y="4141603"/>
            <a:ext cx="420624" cy="420624"/>
          </a:xfrm>
          <a:prstGeom prst="ellipse">
            <a:avLst/>
          </a:prstGeom>
          <a:solidFill>
            <a:srgbClr val="E3F4FA"/>
          </a:solidFill>
          <a:ln w="12700">
            <a:solidFill>
              <a:srgbClr val="E3F4FA"/>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6E8A"/>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64" name="Shape 62"/>
          <p:cNvSpPr/>
          <p:nvPr/>
        </p:nvSpPr>
        <p:spPr>
          <a:xfrm>
            <a:off x="9842754" y="4141603"/>
            <a:ext cx="420624" cy="420624"/>
          </a:xfrm>
          <a:prstGeom prst="ellipse">
            <a:avLst/>
          </a:prstGeom>
          <a:solidFill>
            <a:srgbClr val="E3F4FA"/>
          </a:solidFill>
          <a:ln w="12700">
            <a:solidFill>
              <a:srgbClr val="E3F4FA"/>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6E8A"/>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69" name="Text 67"/>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nginx llega al servicio por su nombre interno.</a:t>
            </a:r>
            <a:endParaRPr lang="en-US" sz="1300" dirty="0"/>
          </a:p>
        </p:txBody>
      </p:sp>
      <p:sp>
        <p:nvSpPr>
          <p:cNvPr id="70" name="Shape 68"/>
          <p:cNvSpPr/>
          <p:nvPr/>
        </p:nvSpPr>
        <p:spPr>
          <a:xfrm>
            <a:off x="6159856" y="5376672"/>
            <a:ext cx="5419192"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71" name="Text 69"/>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72" name="Text 70"/>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Vuelve la respuesta con su código: 200, 201, 404, 409 o un error si el servicio no responde.</a:t>
            </a:r>
            <a:endParaRPr lang="en-US" sz="13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4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31750">
            <a:solidFill>
              <a:srgbClr val="55627E"/>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31750">
            <a:solidFill>
              <a:srgbClr val="55627E"/>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31750">
            <a:solidFill>
              <a:srgbClr val="55627E"/>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31750">
            <a:solidFill>
              <a:srgbClr val="2E6DB4"/>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31750">
            <a:solidFill>
              <a:srgbClr val="2E6DB4"/>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22860">
            <a:solidFill>
              <a:srgbClr val="0B6E8A"/>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22860">
            <a:solidFill>
              <a:srgbClr val="0B6E8A"/>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47625">
            <a:solidFill>
              <a:srgbClr val="2BA6CB"/>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31750">
            <a:solidFill>
              <a:srgbClr val="CBD5E3"/>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9AA5B8"/>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31750">
            <a:solidFill>
              <a:srgbClr val="CBD5E3"/>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9AA5B8"/>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FFFFFF"/>
          </a:solidFill>
          <a:ln w="12700">
            <a:solidFill>
              <a:srgbClr val="CBD5E3"/>
            </a:solidFill>
          </a:ln>
        </p:spPr>
        <p:txBody>
          <a:bodyPr wrap="square" lIns="0" tIns="0" rIns="0" bIns="0" rtlCol="0" anchor="ctr"/>
          <a:lstStyle/>
          <a:p>
            <a:pPr algn="ctr" indent="0" marL="0">
              <a:buNone/>
            </a:pPr>
            <a:r>
              <a:rPr lang="en-US" sz="850" b="1" dirty="0">
                <a:solidFill>
                  <a:srgbClr val="CBD5E3"/>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0447" y="2039709"/>
            <a:ext cx="420624" cy="420624"/>
          </a:xfrm>
          <a:prstGeom prst="ellipse">
            <a:avLst/>
          </a:prstGeom>
          <a:solidFill>
            <a:srgbClr val="E2E5EA"/>
          </a:solidFill>
          <a:ln w="12700">
            <a:solidFill>
              <a:srgbClr val="E2E5E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262914" y="2039709"/>
            <a:ext cx="420624" cy="420624"/>
          </a:xfrm>
          <a:prstGeom prst="ellipse">
            <a:avLst/>
          </a:prstGeom>
          <a:solidFill>
            <a:srgbClr val="E2E5EA"/>
          </a:solidFill>
          <a:ln w="12700">
            <a:solidFill>
              <a:srgbClr val="E2E5E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5456194" y="2039709"/>
            <a:ext cx="420624" cy="420624"/>
          </a:xfrm>
          <a:prstGeom prst="ellipse">
            <a:avLst/>
          </a:prstGeom>
          <a:solidFill>
            <a:srgbClr val="E2E5EA"/>
          </a:solidFill>
          <a:ln w="12700">
            <a:solidFill>
              <a:srgbClr val="E2E5E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7649474" y="2039709"/>
            <a:ext cx="420624" cy="420624"/>
          </a:xfrm>
          <a:prstGeom prst="ellipse">
            <a:avLst/>
          </a:prstGeom>
          <a:solidFill>
            <a:srgbClr val="E2E5EA"/>
          </a:solidFill>
          <a:ln w="12700">
            <a:solidFill>
              <a:srgbClr val="E2E5E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2350"/>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2" name="Shape 50"/>
          <p:cNvSpPr/>
          <p:nvPr/>
        </p:nvSpPr>
        <p:spPr>
          <a:xfrm>
            <a:off x="9842754" y="2039709"/>
            <a:ext cx="420624" cy="420624"/>
          </a:xfrm>
          <a:prstGeom prst="ellipse">
            <a:avLst/>
          </a:prstGeom>
          <a:solidFill>
            <a:srgbClr val="E3F4FA"/>
          </a:solidFill>
          <a:ln w="12700">
            <a:solidFill>
              <a:srgbClr val="E3F4FA"/>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0B6E8A"/>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12700">
            <a:solidFill>
              <a:srgbClr val="D5DDE8"/>
            </a:solidFill>
            <a:prstDash val="solid"/>
          </a:ln>
        </p:spPr>
      </p:sp>
      <p:sp>
        <p:nvSpPr>
          <p:cNvPr id="56" name="Shape 54"/>
          <p:cNvSpPr/>
          <p:nvPr/>
        </p:nvSpPr>
        <p:spPr>
          <a:xfrm>
            <a:off x="5456194" y="4141603"/>
            <a:ext cx="420624" cy="420624"/>
          </a:xfrm>
          <a:prstGeom prst="ellipse">
            <a:avLst/>
          </a:prstGeom>
          <a:solidFill>
            <a:srgbClr val="EEF2F7"/>
          </a:solidFill>
          <a:ln w="12700">
            <a:solidFill>
              <a:srgbClr val="EEF2F7"/>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A9B4C6"/>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8A95AB"/>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9AA5B8"/>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7649474" y="4141603"/>
            <a:ext cx="420624" cy="420624"/>
          </a:xfrm>
          <a:prstGeom prst="ellipse">
            <a:avLst/>
          </a:prstGeom>
          <a:solidFill>
            <a:srgbClr val="E2E5EA"/>
          </a:solidFill>
          <a:ln w="12700">
            <a:solidFill>
              <a:srgbClr val="E2E5EA"/>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2350"/>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842754" y="4141603"/>
            <a:ext cx="420624" cy="420624"/>
          </a:xfrm>
          <a:prstGeom prst="ellipse">
            <a:avLst/>
          </a:prstGeom>
          <a:solidFill>
            <a:srgbClr val="E2E5EA"/>
          </a:solidFill>
          <a:ln w="12700">
            <a:solidFill>
              <a:srgbClr val="E2E5EA"/>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69" name="Text 6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petición queda registrada con su método, ruta, código y duración.</a:t>
            </a:r>
            <a:endParaRPr lang="en-US" sz="1300" dirty="0"/>
          </a:p>
        </p:txBody>
      </p:sp>
      <p:sp>
        <p:nvSpPr>
          <p:cNvPr id="70" name="Text 6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5 DE 5</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50021"/>
            <a:ext cx="639707" cy="0"/>
          </a:xfrm>
          <a:prstGeom prst="line">
            <a:avLst/>
          </a:prstGeom>
          <a:noFill/>
          <a:ln w="31750">
            <a:solidFill>
              <a:srgbClr val="55627E"/>
            </a:solidFill>
            <a:prstDash val="sysDot"/>
            <a:tailEnd type="triangle"/>
          </a:ln>
        </p:spPr>
      </p:sp>
      <p:sp>
        <p:nvSpPr>
          <p:cNvPr id="6" name="Text 4"/>
          <p:cNvSpPr/>
          <p:nvPr/>
        </p:nvSpPr>
        <p:spPr>
          <a:xfrm>
            <a:off x="2655482" y="2012325"/>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50021"/>
            <a:ext cx="639707" cy="0"/>
          </a:xfrm>
          <a:prstGeom prst="line">
            <a:avLst/>
          </a:prstGeom>
          <a:noFill/>
          <a:ln w="31750">
            <a:solidFill>
              <a:srgbClr val="55627E"/>
            </a:solidFill>
            <a:prstDash val="sysDot"/>
            <a:tailEnd type="triangle"/>
          </a:ln>
        </p:spPr>
      </p:sp>
      <p:sp>
        <p:nvSpPr>
          <p:cNvPr id="9" name="Text 7"/>
          <p:cNvSpPr/>
          <p:nvPr/>
        </p:nvSpPr>
        <p:spPr>
          <a:xfrm>
            <a:off x="4782697" y="201232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40357"/>
            <a:ext cx="639707" cy="0"/>
          </a:xfrm>
          <a:prstGeom prst="line">
            <a:avLst/>
          </a:prstGeom>
          <a:noFill/>
          <a:ln w="31750">
            <a:solidFill>
              <a:srgbClr val="55627E"/>
            </a:solidFill>
            <a:prstDash val="sysDot"/>
            <a:tailEnd type="triangle"/>
          </a:ln>
        </p:spPr>
      </p:sp>
      <p:sp>
        <p:nvSpPr>
          <p:cNvPr id="12" name="Text 10"/>
          <p:cNvSpPr/>
          <p:nvPr/>
        </p:nvSpPr>
        <p:spPr>
          <a:xfrm>
            <a:off x="7009009" y="190266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3062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97291"/>
            <a:ext cx="0" cy="1407355"/>
          </a:xfrm>
          <a:prstGeom prst="line">
            <a:avLst/>
          </a:prstGeom>
          <a:noFill/>
          <a:ln w="31750">
            <a:solidFill>
              <a:srgbClr val="2E6DB4"/>
            </a:solidFill>
            <a:prstDash val="solid"/>
            <a:tailEnd type="triangle"/>
          </a:ln>
        </p:spPr>
      </p:sp>
      <p:sp>
        <p:nvSpPr>
          <p:cNvPr id="15" name="Text 13"/>
          <p:cNvSpPr/>
          <p:nvPr/>
        </p:nvSpPr>
        <p:spPr>
          <a:xfrm>
            <a:off x="8206879" y="3182075"/>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7068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42251"/>
            <a:ext cx="639707" cy="0"/>
          </a:xfrm>
          <a:prstGeom prst="line">
            <a:avLst/>
          </a:prstGeom>
          <a:noFill/>
          <a:ln w="31750">
            <a:solidFill>
              <a:srgbClr val="2E6DB4"/>
            </a:solidFill>
            <a:prstDash val="solid"/>
            <a:tailEnd type="triangle"/>
          </a:ln>
        </p:spPr>
      </p:sp>
      <p:sp>
        <p:nvSpPr>
          <p:cNvPr id="18" name="Text 16"/>
          <p:cNvSpPr/>
          <p:nvPr/>
        </p:nvSpPr>
        <p:spPr>
          <a:xfrm>
            <a:off x="9202289" y="4004555"/>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3252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61579"/>
            <a:ext cx="639707" cy="0"/>
          </a:xfrm>
          <a:prstGeom prst="line">
            <a:avLst/>
          </a:prstGeom>
          <a:noFill/>
          <a:ln w="22860">
            <a:solidFill>
              <a:srgbClr val="0B6E8A"/>
            </a:solidFill>
            <a:prstDash val="solid"/>
            <a:tailEnd type="arrow"/>
          </a:ln>
        </p:spPr>
      </p:sp>
      <p:sp>
        <p:nvSpPr>
          <p:cNvPr id="21" name="Text 19"/>
          <p:cNvSpPr/>
          <p:nvPr/>
        </p:nvSpPr>
        <p:spPr>
          <a:xfrm>
            <a:off x="9169256" y="4479765"/>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51851"/>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97291"/>
            <a:ext cx="0" cy="1407355"/>
          </a:xfrm>
          <a:prstGeom prst="line">
            <a:avLst/>
          </a:prstGeom>
          <a:noFill/>
          <a:ln w="22860">
            <a:solidFill>
              <a:srgbClr val="0B6E8A"/>
            </a:solidFill>
            <a:prstDash val="solid"/>
            <a:tailEnd type="arrow"/>
          </a:ln>
        </p:spPr>
      </p:sp>
      <p:sp>
        <p:nvSpPr>
          <p:cNvPr id="24" name="Text 22"/>
          <p:cNvSpPr/>
          <p:nvPr/>
        </p:nvSpPr>
        <p:spPr>
          <a:xfrm>
            <a:off x="8645535" y="3182075"/>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7558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50021"/>
            <a:ext cx="639707" cy="0"/>
          </a:xfrm>
          <a:prstGeom prst="line">
            <a:avLst/>
          </a:prstGeom>
          <a:noFill/>
          <a:ln w="31750">
            <a:solidFill>
              <a:srgbClr val="55627E"/>
            </a:solidFill>
            <a:prstDash val="sysDot"/>
            <a:tailEnd type="triangle"/>
          </a:ln>
        </p:spPr>
      </p:sp>
      <p:sp>
        <p:nvSpPr>
          <p:cNvPr id="27" name="Text 25"/>
          <p:cNvSpPr/>
          <p:nvPr/>
        </p:nvSpPr>
        <p:spPr>
          <a:xfrm>
            <a:off x="9103191" y="2012325"/>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402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9685"/>
            <a:ext cx="639707" cy="0"/>
          </a:xfrm>
          <a:prstGeom prst="line">
            <a:avLst/>
          </a:prstGeom>
          <a:noFill/>
          <a:ln w="47625">
            <a:solidFill>
              <a:srgbClr val="2BA6CB"/>
            </a:solidFill>
            <a:prstDash val="sysDot"/>
            <a:tailEnd type="triangle"/>
          </a:ln>
        </p:spPr>
      </p:sp>
      <p:sp>
        <p:nvSpPr>
          <p:cNvPr id="30" name="Text 28"/>
          <p:cNvSpPr/>
          <p:nvPr/>
        </p:nvSpPr>
        <p:spPr>
          <a:xfrm>
            <a:off x="6876879" y="2377872"/>
            <a:ext cx="722605"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99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97291"/>
            <a:ext cx="0" cy="1407355"/>
          </a:xfrm>
          <a:prstGeom prst="line">
            <a:avLst/>
          </a:prstGeom>
          <a:noFill/>
          <a:ln w="47625">
            <a:solidFill>
              <a:srgbClr val="2BA6CB"/>
            </a:solidFill>
            <a:prstDash val="sysDot"/>
            <a:tailEnd type="triangle"/>
          </a:ln>
        </p:spPr>
      </p:sp>
      <p:sp>
        <p:nvSpPr>
          <p:cNvPr id="33" name="Text 31"/>
          <p:cNvSpPr/>
          <p:nvPr/>
        </p:nvSpPr>
        <p:spPr>
          <a:xfrm>
            <a:off x="6232928" y="3182075"/>
            <a:ext cx="722605"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70689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5" name="Shape 33"/>
          <p:cNvSpPr/>
          <p:nvPr/>
        </p:nvSpPr>
        <p:spPr>
          <a:xfrm>
            <a:off x="978195" y="1902752"/>
            <a:ext cx="1553573" cy="694539"/>
          </a:xfrm>
          <a:prstGeom prst="roundRect">
            <a:avLst>
              <a:gd name="adj" fmla="val 5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1200447" y="2039709"/>
            <a:ext cx="420624" cy="420624"/>
          </a:xfrm>
          <a:prstGeom prst="ellipse">
            <a:avLst/>
          </a:prstGeom>
          <a:solidFill>
            <a:srgbClr val="E2E5EA"/>
          </a:solidFill>
          <a:ln w="12700">
            <a:solidFill>
              <a:srgbClr val="E2E5EA"/>
            </a:solidFill>
            <a:prstDash val="solid"/>
          </a:ln>
        </p:spPr>
      </p:sp>
      <p:sp>
        <p:nvSpPr>
          <p:cNvPr id="37" name="Icono user"/>
          <p:cNvSpPr/>
          <p:nvPr/>
        </p:nvSpPr>
        <p:spPr>
          <a:xfrm>
            <a:off x="1255311" y="2094573"/>
            <a:ext cx="310896" cy="310896"/>
          </a:xfrm>
          <a:custGeom>
            <a:avLst/>
            <a:gdLst/>
            <a:ahLst/>
            <a:cxnLst/>
            <a:rect l="l" t="t" r="r" b="b"/>
            <a:pathLst>
              <a:path w="310896" h="310896">
                <a:moveTo>
                  <a:pt x="246126" y="272034"/>
                </a:moveTo>
                <a:lnTo>
                  <a:pt x="246126" y="246126"/>
                </a:lnTo>
                <a:cubicBezTo>
                  <a:pt x="246126" y="217509"/>
                  <a:pt x="222927" y="194310"/>
                  <a:pt x="194310" y="194310"/>
                </a:cubicBezTo>
                <a:lnTo>
                  <a:pt x="116586" y="194310"/>
                </a:lnTo>
                <a:cubicBezTo>
                  <a:pt x="87969" y="194310"/>
                  <a:pt x="64770" y="217509"/>
                  <a:pt x="64770" y="246126"/>
                </a:cubicBezTo>
                <a:lnTo>
                  <a:pt x="64770" y="272034"/>
                </a:lnTo>
                <a:moveTo>
                  <a:pt x="207264" y="90678"/>
                </a:moveTo>
                <a:cubicBezTo>
                  <a:pt x="207264" y="119295"/>
                  <a:pt x="184065" y="142494"/>
                  <a:pt x="155448" y="142494"/>
                </a:cubicBezTo>
                <a:cubicBezTo>
                  <a:pt x="126831" y="142494"/>
                  <a:pt x="103632" y="119295"/>
                  <a:pt x="103632" y="90678"/>
                </a:cubicBezTo>
                <a:cubicBezTo>
                  <a:pt x="103632" y="62061"/>
                  <a:pt x="126831" y="38862"/>
                  <a:pt x="155448" y="38862"/>
                </a:cubicBezTo>
                <a:cubicBezTo>
                  <a:pt x="184065" y="38862"/>
                  <a:pt x="207264" y="62061"/>
                  <a:pt x="207264" y="90678"/>
                </a:cubicBezTo>
                <a:close/>
              </a:path>
            </a:pathLst>
          </a:custGeom>
          <a:noFill/>
          <a:ln w="25908" cap="rnd">
            <a:solidFill>
              <a:srgbClr val="0B2350"/>
            </a:solidFill>
            <a:prstDash val="solid"/>
            <a:round/>
          </a:ln>
        </p:spPr>
      </p:sp>
      <p:sp>
        <p:nvSpPr>
          <p:cNvPr id="38" name="Text 36"/>
          <p:cNvSpPr/>
          <p:nvPr/>
        </p:nvSpPr>
        <p:spPr>
          <a:xfrm>
            <a:off x="1675935" y="1902752"/>
            <a:ext cx="800969"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Persona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pulsa un control</a:t>
            </a:r>
            <a:endParaRPr lang="en-US" sz="1079" dirty="0"/>
          </a:p>
        </p:txBody>
      </p:sp>
      <p:sp>
        <p:nvSpPr>
          <p:cNvPr id="39" name="Shape 37"/>
          <p:cNvSpPr/>
          <p:nvPr/>
        </p:nvSpPr>
        <p:spPr>
          <a:xfrm>
            <a:off x="317147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3262914" y="2039709"/>
            <a:ext cx="420624" cy="420624"/>
          </a:xfrm>
          <a:prstGeom prst="ellipse">
            <a:avLst/>
          </a:prstGeom>
          <a:solidFill>
            <a:srgbClr val="E2E5EA"/>
          </a:solidFill>
          <a:ln w="12700">
            <a:solidFill>
              <a:srgbClr val="E2E5EA"/>
            </a:solidFill>
            <a:prstDash val="solid"/>
          </a:ln>
        </p:spPr>
      </p:sp>
      <p:sp>
        <p:nvSpPr>
          <p:cNvPr id="41" name="Icono mouse-pointer-click"/>
          <p:cNvSpPr/>
          <p:nvPr/>
        </p:nvSpPr>
        <p:spPr>
          <a:xfrm>
            <a:off x="3317778" y="2094573"/>
            <a:ext cx="310896" cy="310896"/>
          </a:xfrm>
          <a:custGeom>
            <a:avLst/>
            <a:gdLst/>
            <a:ahLst/>
            <a:cxnLst/>
            <a:rect l="l" t="t" r="r" b="b"/>
            <a:pathLst>
              <a:path w="310896" h="310896">
                <a:moveTo>
                  <a:pt x="181356" y="53111"/>
                </a:moveTo>
                <a:lnTo>
                  <a:pt x="155448" y="77724"/>
                </a:lnTo>
                <a:moveTo>
                  <a:pt x="66065" y="103632"/>
                </a:moveTo>
                <a:lnTo>
                  <a:pt x="28499" y="93269"/>
                </a:lnTo>
                <a:moveTo>
                  <a:pt x="77724" y="155448"/>
                </a:moveTo>
                <a:lnTo>
                  <a:pt x="53111" y="181356"/>
                </a:lnTo>
                <a:moveTo>
                  <a:pt x="93269" y="28499"/>
                </a:moveTo>
                <a:lnTo>
                  <a:pt x="103632" y="66065"/>
                </a:lnTo>
                <a:moveTo>
                  <a:pt x="117065" y="125524"/>
                </a:moveTo>
                <a:cubicBezTo>
                  <a:pt x="116038" y="123104"/>
                  <a:pt x="116582" y="120301"/>
                  <a:pt x="118442" y="118442"/>
                </a:cubicBezTo>
                <a:cubicBezTo>
                  <a:pt x="120301" y="116582"/>
                  <a:pt x="123104" y="116038"/>
                  <a:pt x="125524" y="117065"/>
                </a:cubicBezTo>
                <a:lnTo>
                  <a:pt x="268018" y="175358"/>
                </a:lnTo>
                <a:cubicBezTo>
                  <a:pt x="270620" y="176426"/>
                  <a:pt x="272236" y="179050"/>
                  <a:pt x="272017" y="181854"/>
                </a:cubicBezTo>
                <a:cubicBezTo>
                  <a:pt x="271799" y="184658"/>
                  <a:pt x="269796" y="187000"/>
                  <a:pt x="267060" y="187652"/>
                </a:cubicBezTo>
                <a:lnTo>
                  <a:pt x="210723" y="201137"/>
                </a:lnTo>
                <a:cubicBezTo>
                  <a:pt x="205980" y="202269"/>
                  <a:pt x="202276" y="205969"/>
                  <a:pt x="201137" y="210710"/>
                </a:cubicBezTo>
                <a:lnTo>
                  <a:pt x="187665" y="267060"/>
                </a:lnTo>
                <a:cubicBezTo>
                  <a:pt x="187020" y="269805"/>
                  <a:pt x="184674" y="271818"/>
                  <a:pt x="181862" y="272038"/>
                </a:cubicBezTo>
                <a:cubicBezTo>
                  <a:pt x="179050" y="272257"/>
                  <a:pt x="176420" y="270631"/>
                  <a:pt x="175358" y="268018"/>
                </a:cubicBezTo>
                <a:close/>
              </a:path>
            </a:pathLst>
          </a:custGeom>
          <a:noFill/>
          <a:ln w="25908" cap="rnd">
            <a:solidFill>
              <a:srgbClr val="0B2350"/>
            </a:solidFill>
            <a:prstDash val="solid"/>
            <a:round/>
          </a:ln>
        </p:spPr>
      </p:sp>
      <p:sp>
        <p:nvSpPr>
          <p:cNvPr id="42" name="Text 40"/>
          <p:cNvSpPr/>
          <p:nvPr/>
        </p:nvSpPr>
        <p:spPr>
          <a:xfrm>
            <a:off x="373840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Control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botón de la pantalla</a:t>
            </a:r>
            <a:endParaRPr lang="en-US" sz="1079" dirty="0"/>
          </a:p>
        </p:txBody>
      </p:sp>
      <p:sp>
        <p:nvSpPr>
          <p:cNvPr id="43" name="Shape 41"/>
          <p:cNvSpPr/>
          <p:nvPr/>
        </p:nvSpPr>
        <p:spPr>
          <a:xfrm>
            <a:off x="536475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5456194" y="2039709"/>
            <a:ext cx="420624" cy="420624"/>
          </a:xfrm>
          <a:prstGeom prst="ellipse">
            <a:avLst/>
          </a:prstGeom>
          <a:solidFill>
            <a:srgbClr val="E2E5EA"/>
          </a:solidFill>
          <a:ln w="12700">
            <a:solidFill>
              <a:srgbClr val="E2E5EA"/>
            </a:solidFill>
            <a:prstDash val="solid"/>
          </a:ln>
        </p:spPr>
      </p:sp>
      <p:sp>
        <p:nvSpPr>
          <p:cNvPr id="45" name="Icono app-window"/>
          <p:cNvSpPr/>
          <p:nvPr/>
        </p:nvSpPr>
        <p:spPr>
          <a:xfrm>
            <a:off x="5511058" y="2094573"/>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2350"/>
            </a:solidFill>
            <a:prstDash val="solid"/>
            <a:round/>
          </a:ln>
        </p:spPr>
      </p:sp>
      <p:sp>
        <p:nvSpPr>
          <p:cNvPr id="46" name="Text 44"/>
          <p:cNvSpPr/>
          <p:nvPr/>
        </p:nvSpPr>
        <p:spPr>
          <a:xfrm>
            <a:off x="593168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Acción React</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estado de la vista</a:t>
            </a:r>
            <a:endParaRPr lang="en-US" sz="1079" dirty="0"/>
          </a:p>
        </p:txBody>
      </p:sp>
      <p:sp>
        <p:nvSpPr>
          <p:cNvPr id="47" name="Shape 45"/>
          <p:cNvSpPr/>
          <p:nvPr/>
        </p:nvSpPr>
        <p:spPr>
          <a:xfrm>
            <a:off x="755803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7649474" y="2039709"/>
            <a:ext cx="420624" cy="420624"/>
          </a:xfrm>
          <a:prstGeom prst="ellipse">
            <a:avLst/>
          </a:prstGeom>
          <a:solidFill>
            <a:srgbClr val="E2E5EA"/>
          </a:solidFill>
          <a:ln w="12700">
            <a:solidFill>
              <a:srgbClr val="E2E5EA"/>
            </a:solidFill>
            <a:prstDash val="solid"/>
          </a:ln>
        </p:spPr>
      </p:sp>
      <p:sp>
        <p:nvSpPr>
          <p:cNvPr id="49" name="Icono globe"/>
          <p:cNvSpPr/>
          <p:nvPr/>
        </p:nvSpPr>
        <p:spPr>
          <a:xfrm>
            <a:off x="7704338" y="2094573"/>
            <a:ext cx="310896" cy="310896"/>
          </a:xfrm>
          <a:custGeom>
            <a:avLst/>
            <a:gdLst/>
            <a:ahLst/>
            <a:cxnLst/>
            <a:rect l="l" t="t" r="r" b="b"/>
            <a:pathLst>
              <a:path w="310896" h="310896">
                <a:moveTo>
                  <a:pt x="284988" y="155448"/>
                </a:moveTo>
                <a:cubicBezTo>
                  <a:pt x="284988" y="226991"/>
                  <a:pt x="226991" y="284988"/>
                  <a:pt x="155448" y="284988"/>
                </a:cubicBezTo>
                <a:cubicBezTo>
                  <a:pt x="83905" y="284988"/>
                  <a:pt x="25908" y="226991"/>
                  <a:pt x="25908" y="155448"/>
                </a:cubicBezTo>
                <a:cubicBezTo>
                  <a:pt x="25908" y="83905"/>
                  <a:pt x="83905" y="25908"/>
                  <a:pt x="155448" y="25908"/>
                </a:cubicBezTo>
                <a:cubicBezTo>
                  <a:pt x="226991" y="25908"/>
                  <a:pt x="284988" y="83905"/>
                  <a:pt x="284988" y="155448"/>
                </a:cubicBezTo>
                <a:close/>
                <a:moveTo>
                  <a:pt x="155448" y="25908"/>
                </a:moveTo>
                <a:cubicBezTo>
                  <a:pt x="86360" y="98450"/>
                  <a:pt x="86360" y="212446"/>
                  <a:pt x="155448" y="284988"/>
                </a:cubicBezTo>
                <a:cubicBezTo>
                  <a:pt x="224536" y="212446"/>
                  <a:pt x="224536" y="98450"/>
                  <a:pt x="155448" y="25908"/>
                </a:cubicBezTo>
                <a:moveTo>
                  <a:pt x="25908" y="155448"/>
                </a:moveTo>
                <a:lnTo>
                  <a:pt x="284988" y="155448"/>
                </a:lnTo>
              </a:path>
            </a:pathLst>
          </a:custGeom>
          <a:noFill/>
          <a:ln w="25908" cap="rnd">
            <a:solidFill>
              <a:srgbClr val="0B2350"/>
            </a:solidFill>
            <a:prstDash val="solid"/>
            <a:round/>
          </a:ln>
        </p:spPr>
      </p:sp>
      <p:sp>
        <p:nvSpPr>
          <p:cNvPr id="50" name="Text 48"/>
          <p:cNvSpPr/>
          <p:nvPr/>
        </p:nvSpPr>
        <p:spPr>
          <a:xfrm>
            <a:off x="812496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Cliente HTTP</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fetch con límite de 10 s</a:t>
            </a:r>
            <a:endParaRPr lang="en-US" sz="1079" dirty="0"/>
          </a:p>
        </p:txBody>
      </p:sp>
      <p:sp>
        <p:nvSpPr>
          <p:cNvPr id="51" name="Shape 49"/>
          <p:cNvSpPr/>
          <p:nvPr/>
        </p:nvSpPr>
        <p:spPr>
          <a:xfrm>
            <a:off x="9751314" y="1902752"/>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9842754" y="2039709"/>
            <a:ext cx="420624" cy="420624"/>
          </a:xfrm>
          <a:prstGeom prst="ellipse">
            <a:avLst/>
          </a:prstGeom>
          <a:solidFill>
            <a:srgbClr val="E2E5EA"/>
          </a:solidFill>
          <a:ln w="12700">
            <a:solidFill>
              <a:srgbClr val="E2E5EA"/>
            </a:solidFill>
            <a:prstDash val="solid"/>
          </a:ln>
        </p:spPr>
      </p:sp>
      <p:sp>
        <p:nvSpPr>
          <p:cNvPr id="53" name="Icono list-todo"/>
          <p:cNvSpPr/>
          <p:nvPr/>
        </p:nvSpPr>
        <p:spPr>
          <a:xfrm>
            <a:off x="9897618" y="2094573"/>
            <a:ext cx="310896" cy="310896"/>
          </a:xfrm>
          <a:custGeom>
            <a:avLst/>
            <a:gdLst/>
            <a:ahLst/>
            <a:cxnLst/>
            <a:rect l="l" t="t" r="r" b="b"/>
            <a:pathLst>
              <a:path w="310896" h="310896">
                <a:moveTo>
                  <a:pt x="51816" y="64770"/>
                </a:moveTo>
                <a:lnTo>
                  <a:pt x="103632" y="64770"/>
                </a:lnTo>
                <a:cubicBezTo>
                  <a:pt x="110786" y="64770"/>
                  <a:pt x="116586" y="70570"/>
                  <a:pt x="116586" y="77724"/>
                </a:cubicBezTo>
                <a:lnTo>
                  <a:pt x="116586" y="129540"/>
                </a:lnTo>
                <a:cubicBezTo>
                  <a:pt x="116586" y="136694"/>
                  <a:pt x="110786" y="142494"/>
                  <a:pt x="103632" y="142494"/>
                </a:cubicBezTo>
                <a:lnTo>
                  <a:pt x="51816" y="142494"/>
                </a:lnTo>
                <a:cubicBezTo>
                  <a:pt x="44662" y="142494"/>
                  <a:pt x="38862" y="136694"/>
                  <a:pt x="38862" y="129540"/>
                </a:cubicBezTo>
                <a:lnTo>
                  <a:pt x="38862" y="77724"/>
                </a:lnTo>
                <a:cubicBezTo>
                  <a:pt x="38862" y="70570"/>
                  <a:pt x="44662" y="64770"/>
                  <a:pt x="51816" y="64770"/>
                </a:cubicBezTo>
                <a:close/>
                <a:moveTo>
                  <a:pt x="38862" y="220218"/>
                </a:moveTo>
                <a:lnTo>
                  <a:pt x="64770" y="246126"/>
                </a:lnTo>
                <a:lnTo>
                  <a:pt x="116586" y="194310"/>
                </a:lnTo>
                <a:moveTo>
                  <a:pt x="168402" y="77724"/>
                </a:moveTo>
                <a:lnTo>
                  <a:pt x="272034" y="77724"/>
                </a:lnTo>
                <a:moveTo>
                  <a:pt x="168402" y="155448"/>
                </a:moveTo>
                <a:lnTo>
                  <a:pt x="272034" y="155448"/>
                </a:lnTo>
                <a:moveTo>
                  <a:pt x="168402" y="233172"/>
                </a:moveTo>
                <a:lnTo>
                  <a:pt x="272034" y="233172"/>
                </a:lnTo>
              </a:path>
            </a:pathLst>
          </a:custGeom>
          <a:noFill/>
          <a:ln w="25908" cap="rnd">
            <a:solidFill>
              <a:srgbClr val="0B2350"/>
            </a:solidFill>
            <a:prstDash val="solid"/>
            <a:round/>
          </a:ln>
        </p:spPr>
      </p:sp>
      <p:sp>
        <p:nvSpPr>
          <p:cNvPr id="54" name="Text 52"/>
          <p:cNvSpPr/>
          <p:nvPr/>
        </p:nvSpPr>
        <p:spPr>
          <a:xfrm>
            <a:off x="10318242" y="1902752"/>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Historial</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solo peticiones de la UI</a:t>
            </a:r>
            <a:endParaRPr lang="en-US" sz="1079" dirty="0"/>
          </a:p>
        </p:txBody>
      </p:sp>
      <p:sp>
        <p:nvSpPr>
          <p:cNvPr id="55" name="Shape 53"/>
          <p:cNvSpPr/>
          <p:nvPr/>
        </p:nvSpPr>
        <p:spPr>
          <a:xfrm>
            <a:off x="5364754" y="4004645"/>
            <a:ext cx="1553573" cy="694539"/>
          </a:xfrm>
          <a:prstGeom prst="roundRect">
            <a:avLst>
              <a:gd name="adj" fmla="val 11849"/>
            </a:avLst>
          </a:prstGeom>
          <a:solidFill>
            <a:srgbClr val="FFFFFF"/>
          </a:solidFill>
          <a:ln w="28575">
            <a:solidFill>
              <a:srgbClr val="2BA6CB"/>
            </a:solidFill>
            <a:prstDash val="solid"/>
          </a:ln>
          <a:effectLst>
            <a:outerShdw sx="100000" sy="100000" kx="0" ky="0" algn="bl" rotWithShape="0" blurRad="114300" dist="50800" dir="16200000">
              <a:srgbClr val="2BA6CB">
                <a:alpha val="60000"/>
              </a:srgbClr>
            </a:outerShdw>
          </a:effectLst>
        </p:spPr>
      </p:sp>
      <p:sp>
        <p:nvSpPr>
          <p:cNvPr id="56" name="Shape 54"/>
          <p:cNvSpPr/>
          <p:nvPr/>
        </p:nvSpPr>
        <p:spPr>
          <a:xfrm>
            <a:off x="5456194" y="4141603"/>
            <a:ext cx="420624" cy="420624"/>
          </a:xfrm>
          <a:prstGeom prst="ellipse">
            <a:avLst/>
          </a:prstGeom>
          <a:solidFill>
            <a:srgbClr val="E3F4FA"/>
          </a:solidFill>
          <a:ln w="12700">
            <a:solidFill>
              <a:srgbClr val="E3F4FA"/>
            </a:solidFill>
            <a:prstDash val="solid"/>
          </a:ln>
        </p:spPr>
      </p:sp>
      <p:sp>
        <p:nvSpPr>
          <p:cNvPr id="57" name="Icono app-window"/>
          <p:cNvSpPr/>
          <p:nvPr/>
        </p:nvSpPr>
        <p:spPr>
          <a:xfrm>
            <a:off x="5511058" y="4196467"/>
            <a:ext cx="310896" cy="310896"/>
          </a:xfrm>
          <a:custGeom>
            <a:avLst/>
            <a:gdLst/>
            <a:ahLst/>
            <a:cxnLst/>
            <a:rect l="l" t="t" r="r" b="b"/>
            <a:pathLst>
              <a:path w="310896" h="310896">
                <a:moveTo>
                  <a:pt x="51816" y="51816"/>
                </a:moveTo>
                <a:lnTo>
                  <a:pt x="259080" y="51816"/>
                </a:lnTo>
                <a:cubicBezTo>
                  <a:pt x="273389" y="51816"/>
                  <a:pt x="284988" y="63415"/>
                  <a:pt x="284988" y="77724"/>
                </a:cubicBezTo>
                <a:lnTo>
                  <a:pt x="284988" y="233172"/>
                </a:lnTo>
                <a:cubicBezTo>
                  <a:pt x="284988" y="247481"/>
                  <a:pt x="273389" y="259080"/>
                  <a:pt x="259080" y="259080"/>
                </a:cubicBezTo>
                <a:lnTo>
                  <a:pt x="51816" y="259080"/>
                </a:lnTo>
                <a:cubicBezTo>
                  <a:pt x="37507" y="259080"/>
                  <a:pt x="25908" y="247481"/>
                  <a:pt x="25908" y="233172"/>
                </a:cubicBezTo>
                <a:lnTo>
                  <a:pt x="25908" y="77724"/>
                </a:lnTo>
                <a:cubicBezTo>
                  <a:pt x="25908" y="63415"/>
                  <a:pt x="37507" y="51816"/>
                  <a:pt x="51816" y="51816"/>
                </a:cubicBezTo>
                <a:close/>
                <a:moveTo>
                  <a:pt x="129540" y="51816"/>
                </a:moveTo>
                <a:lnTo>
                  <a:pt x="129540" y="103632"/>
                </a:lnTo>
                <a:moveTo>
                  <a:pt x="25908" y="103632"/>
                </a:moveTo>
                <a:lnTo>
                  <a:pt x="284988" y="103632"/>
                </a:lnTo>
                <a:moveTo>
                  <a:pt x="77724" y="51816"/>
                </a:moveTo>
                <a:lnTo>
                  <a:pt x="77724" y="103632"/>
                </a:lnTo>
              </a:path>
            </a:pathLst>
          </a:custGeom>
          <a:noFill/>
          <a:ln w="25908" cap="rnd">
            <a:solidFill>
              <a:srgbClr val="0B6E8A"/>
            </a:solidFill>
            <a:prstDash val="solid"/>
            <a:round/>
          </a:ln>
        </p:spPr>
      </p:sp>
      <p:sp>
        <p:nvSpPr>
          <p:cNvPr id="58" name="Text 56"/>
          <p:cNvSpPr/>
          <p:nvPr/>
        </p:nvSpPr>
        <p:spPr>
          <a:xfrm>
            <a:off x="593168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Pantalla</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se actualiza</a:t>
            </a:r>
            <a:endParaRPr lang="en-US" sz="1079" dirty="0"/>
          </a:p>
        </p:txBody>
      </p:sp>
      <p:sp>
        <p:nvSpPr>
          <p:cNvPr id="59" name="Shape 57"/>
          <p:cNvSpPr/>
          <p:nvPr/>
        </p:nvSpPr>
        <p:spPr>
          <a:xfrm>
            <a:off x="7558034" y="4004645"/>
            <a:ext cx="1553573" cy="694539"/>
          </a:xfrm>
          <a:prstGeom prst="roundRect">
            <a:avLst>
              <a:gd name="adj" fmla="val 11849"/>
            </a:avLst>
          </a:prstGeom>
          <a:solidFill>
            <a:srgbClr val="FBFCFE"/>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7649474" y="4141603"/>
            <a:ext cx="420624" cy="420624"/>
          </a:xfrm>
          <a:prstGeom prst="ellipse">
            <a:avLst/>
          </a:prstGeom>
          <a:solidFill>
            <a:srgbClr val="E2E5EA"/>
          </a:solidFill>
          <a:ln w="12700">
            <a:solidFill>
              <a:srgbClr val="E2E5EA"/>
            </a:solidFill>
            <a:prstDash val="solid"/>
          </a:ln>
        </p:spPr>
      </p:sp>
      <p:sp>
        <p:nvSpPr>
          <p:cNvPr id="61" name="Icono network"/>
          <p:cNvSpPr/>
          <p:nvPr/>
        </p:nvSpPr>
        <p:spPr>
          <a:xfrm>
            <a:off x="7704338" y="4196467"/>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0B2350"/>
            </a:solidFill>
            <a:prstDash val="solid"/>
            <a:round/>
          </a:ln>
        </p:spPr>
      </p:sp>
      <p:sp>
        <p:nvSpPr>
          <p:cNvPr id="62" name="Text 60"/>
          <p:cNvSpPr/>
          <p:nvPr/>
        </p:nvSpPr>
        <p:spPr>
          <a:xfrm>
            <a:off x="812496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Proxy /api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nginx o Vite</a:t>
            </a:r>
            <a:endParaRPr lang="en-US" sz="1079" dirty="0"/>
          </a:p>
        </p:txBody>
      </p:sp>
      <p:sp>
        <p:nvSpPr>
          <p:cNvPr id="63" name="Shape 61"/>
          <p:cNvSpPr/>
          <p:nvPr/>
        </p:nvSpPr>
        <p:spPr>
          <a:xfrm>
            <a:off x="9751314" y="4004645"/>
            <a:ext cx="1553573" cy="694539"/>
          </a:xfrm>
          <a:prstGeom prst="roundRect">
            <a:avLst>
              <a:gd name="adj" fmla="val 11849"/>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64" name="Shape 62"/>
          <p:cNvSpPr/>
          <p:nvPr/>
        </p:nvSpPr>
        <p:spPr>
          <a:xfrm>
            <a:off x="9842754" y="4141603"/>
            <a:ext cx="420624" cy="420624"/>
          </a:xfrm>
          <a:prstGeom prst="ellipse">
            <a:avLst/>
          </a:prstGeom>
          <a:solidFill>
            <a:srgbClr val="E2E5EA"/>
          </a:solidFill>
          <a:ln w="12700">
            <a:solidFill>
              <a:srgbClr val="E2E5EA"/>
            </a:solidFill>
            <a:prstDash val="solid"/>
          </a:ln>
        </p:spPr>
      </p:sp>
      <p:sp>
        <p:nvSpPr>
          <p:cNvPr id="65" name="Icono server"/>
          <p:cNvSpPr/>
          <p:nvPr/>
        </p:nvSpPr>
        <p:spPr>
          <a:xfrm>
            <a:off x="9897618" y="4196467"/>
            <a:ext cx="310896" cy="310896"/>
          </a:xfrm>
          <a:custGeom>
            <a:avLst/>
            <a:gdLst/>
            <a:ahLst/>
            <a:cxnLst/>
            <a:rect l="l" t="t" r="r" b="b"/>
            <a:pathLst>
              <a:path w="310896" h="310896">
                <a:moveTo>
                  <a:pt x="51816" y="25908"/>
                </a:moveTo>
                <a:lnTo>
                  <a:pt x="259080" y="25908"/>
                </a:lnTo>
                <a:cubicBezTo>
                  <a:pt x="273389" y="25908"/>
                  <a:pt x="284988" y="37507"/>
                  <a:pt x="284988" y="51816"/>
                </a:cubicBezTo>
                <a:lnTo>
                  <a:pt x="284988" y="103632"/>
                </a:lnTo>
                <a:cubicBezTo>
                  <a:pt x="284988" y="117941"/>
                  <a:pt x="273389" y="129540"/>
                  <a:pt x="259080" y="129540"/>
                </a:cubicBezTo>
                <a:lnTo>
                  <a:pt x="51816" y="129540"/>
                </a:lnTo>
                <a:cubicBezTo>
                  <a:pt x="37507" y="129540"/>
                  <a:pt x="25908" y="117941"/>
                  <a:pt x="25908" y="103632"/>
                </a:cubicBezTo>
                <a:lnTo>
                  <a:pt x="25908" y="51816"/>
                </a:lnTo>
                <a:cubicBezTo>
                  <a:pt x="25908" y="37507"/>
                  <a:pt x="37507" y="25908"/>
                  <a:pt x="51816" y="25908"/>
                </a:cubicBezTo>
                <a:close/>
                <a:moveTo>
                  <a:pt x="51816" y="181356"/>
                </a:moveTo>
                <a:lnTo>
                  <a:pt x="259080" y="181356"/>
                </a:lnTo>
                <a:cubicBezTo>
                  <a:pt x="273389" y="181356"/>
                  <a:pt x="284988" y="192955"/>
                  <a:pt x="284988" y="207264"/>
                </a:cubicBezTo>
                <a:lnTo>
                  <a:pt x="284988" y="259080"/>
                </a:lnTo>
                <a:cubicBezTo>
                  <a:pt x="284988" y="273389"/>
                  <a:pt x="273389" y="284988"/>
                  <a:pt x="259080" y="284988"/>
                </a:cubicBezTo>
                <a:lnTo>
                  <a:pt x="51816" y="284988"/>
                </a:lnTo>
                <a:cubicBezTo>
                  <a:pt x="37507" y="284988"/>
                  <a:pt x="25908" y="273389"/>
                  <a:pt x="25908" y="259080"/>
                </a:cubicBezTo>
                <a:lnTo>
                  <a:pt x="25908" y="207264"/>
                </a:lnTo>
                <a:cubicBezTo>
                  <a:pt x="25908" y="192955"/>
                  <a:pt x="37507" y="181356"/>
                  <a:pt x="51816" y="181356"/>
                </a:cubicBezTo>
                <a:close/>
                <a:moveTo>
                  <a:pt x="77724" y="77724"/>
                </a:moveTo>
                <a:lnTo>
                  <a:pt x="77854" y="77724"/>
                </a:lnTo>
                <a:moveTo>
                  <a:pt x="77724" y="233172"/>
                </a:moveTo>
                <a:lnTo>
                  <a:pt x="77854" y="233172"/>
                </a:lnTo>
              </a:path>
            </a:pathLst>
          </a:custGeom>
          <a:noFill/>
          <a:ln w="25908" cap="rnd">
            <a:solidFill>
              <a:srgbClr val="0B2350"/>
            </a:solidFill>
            <a:prstDash val="solid"/>
            <a:round/>
          </a:ln>
        </p:spPr>
      </p:sp>
      <p:sp>
        <p:nvSpPr>
          <p:cNvPr id="66" name="Text 64"/>
          <p:cNvSpPr/>
          <p:nvPr/>
        </p:nvSpPr>
        <p:spPr>
          <a:xfrm>
            <a:off x="10318242" y="4004645"/>
            <a:ext cx="931781" cy="694539"/>
          </a:xfrm>
          <a:prstGeom prst="rect">
            <a:avLst/>
          </a:prstGeom>
          <a:noFill/>
          <a:ln/>
        </p:spPr>
        <p:txBody>
          <a:bodyPr wrap="square" lIns="12700" tIns="25400" rIns="25400" bIns="12700" rtlCol="0" anchor="ctr">
            <a:normAutofit/>
          </a:bodyPr>
          <a:lstStyle/>
          <a:p>
            <a:pPr algn="l" indent="0" marL="0">
              <a:lnSpc>
                <a:spcPct val="95000"/>
              </a:lnSpc>
              <a:buNone/>
            </a:pPr>
            <a:r>
              <a:rPr lang="en-US" sz="1079" b="1" dirty="0">
                <a:solidFill>
                  <a:srgbClr val="0B1A3C"/>
                </a:solidFill>
                <a:latin typeface="Segoe UI" pitchFamily="34" charset="0"/>
                <a:ea typeface="Segoe UI" pitchFamily="34" charset="-122"/>
                <a:cs typeface="Segoe UI" pitchFamily="34" charset="-120"/>
              </a:rPr>
              <a:t>API</a:t>
            </a:r>
            <a:endParaRPr lang="en-US" sz="1079" dirty="0"/>
          </a:p>
          <a:p>
            <a:pPr algn="l" indent="0" marL="0">
              <a:lnSpc>
                <a:spcPct val="95000"/>
              </a:lnSpc>
              <a:buNone/>
            </a:pPr>
            <a:r>
              <a:rPr lang="en-US" sz="863" dirty="0">
                <a:solidFill>
                  <a:srgbClr val="55627E"/>
                </a:solidFill>
                <a:latin typeface="Segoe UI" pitchFamily="34" charset="0"/>
                <a:ea typeface="Segoe UI" pitchFamily="34" charset="-122"/>
                <a:cs typeface="Segoe UI" pitchFamily="34" charset="-120"/>
              </a:rPr>
              <a:t>solicitudes o notificaciones</a:t>
            </a:r>
            <a:endParaRPr lang="en-US" sz="1079" dirty="0"/>
          </a:p>
        </p:txBody>
      </p:sp>
      <p:sp>
        <p:nvSpPr>
          <p:cNvPr id="67" name="Shape 65"/>
          <p:cNvSpPr/>
          <p:nvPr/>
        </p:nvSpPr>
        <p:spPr>
          <a:xfrm>
            <a:off x="612648" y="5376672"/>
            <a:ext cx="10966399" cy="914400"/>
          </a:xfrm>
          <a:prstGeom prst="roundRect">
            <a:avLst>
              <a:gd name="adj" fmla="val 10000"/>
            </a:avLst>
          </a:prstGeom>
          <a:solidFill>
            <a:srgbClr val="E3F4FA"/>
          </a:solidFill>
          <a:ln w="12700">
            <a:solidFill>
              <a:srgbClr val="2BA6CB"/>
            </a:solidFill>
            <a:prstDash val="solid"/>
          </a:ln>
          <a:effectLst>
            <a:outerShdw sx="100000" sy="100000" kx="0" ky="0" algn="bl" rotWithShape="0" blurRad="76200" dist="19050" dir="5400000">
              <a:srgbClr val="0B1F3A">
                <a:alpha val="14000"/>
              </a:srgbClr>
            </a:outerShdw>
          </a:effectLst>
        </p:spPr>
      </p:sp>
      <p:sp>
        <p:nvSpPr>
          <p:cNvPr id="68" name="Text 66"/>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69" name="Text 67"/>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pantalla muestra el resultado con un mensaje claro.</a:t>
            </a:r>
            <a:endParaRPr lang="en-US" sz="1300" dirty="0"/>
          </a:p>
        </p:txBody>
      </p:sp>
      <p:sp>
        <p:nvSpPr>
          <p:cNvPr id="70" name="Text 6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interfaz simple, con ayuda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Cuatro pestañas: usar, seguir, validar y entender.</a:t>
            </a:r>
            <a:endParaRPr lang="en-US" sz="1700" dirty="0"/>
          </a:p>
        </p:txBody>
      </p:sp>
      <p:sp>
        <p:nvSpPr>
          <p:cNvPr id="6" name="Shape 4"/>
          <p:cNvSpPr/>
          <p:nvPr/>
        </p:nvSpPr>
        <p:spPr>
          <a:xfrm>
            <a:off x="61264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7" name="Shape 5"/>
          <p:cNvSpPr/>
          <p:nvPr/>
        </p:nvSpPr>
        <p:spPr>
          <a:xfrm>
            <a:off x="722376" y="1816730"/>
            <a:ext cx="74615" cy="74615"/>
          </a:xfrm>
          <a:prstGeom prst="ellipse">
            <a:avLst/>
          </a:prstGeom>
          <a:solidFill>
            <a:srgbClr val="E5484D"/>
          </a:solidFill>
          <a:ln w="12700">
            <a:solidFill>
              <a:srgbClr val="E5484D"/>
            </a:solidFill>
            <a:prstDash val="solid"/>
          </a:ln>
        </p:spPr>
      </p:sp>
      <p:sp>
        <p:nvSpPr>
          <p:cNvPr id="8" name="Shape 6"/>
          <p:cNvSpPr/>
          <p:nvPr/>
        </p:nvSpPr>
        <p:spPr>
          <a:xfrm>
            <a:off x="821131" y="1816730"/>
            <a:ext cx="74615" cy="74615"/>
          </a:xfrm>
          <a:prstGeom prst="ellipse">
            <a:avLst/>
          </a:prstGeom>
          <a:solidFill>
            <a:srgbClr val="F5A524"/>
          </a:solidFill>
          <a:ln w="12700">
            <a:solidFill>
              <a:srgbClr val="F5A524"/>
            </a:solidFill>
            <a:prstDash val="solid"/>
          </a:ln>
        </p:spPr>
      </p:sp>
      <p:sp>
        <p:nvSpPr>
          <p:cNvPr id="9" name="Shape 7"/>
          <p:cNvSpPr/>
          <p:nvPr/>
        </p:nvSpPr>
        <p:spPr>
          <a:xfrm>
            <a:off x="919886" y="1816730"/>
            <a:ext cx="74615" cy="74615"/>
          </a:xfrm>
          <a:prstGeom prst="ellipse">
            <a:avLst/>
          </a:prstGeom>
          <a:solidFill>
            <a:srgbClr val="30A46C"/>
          </a:solidFill>
          <a:ln w="12700">
            <a:solidFill>
              <a:srgbClr val="30A46C"/>
            </a:solidFill>
            <a:prstDash val="solid"/>
          </a:ln>
        </p:spPr>
      </p:sp>
      <p:sp>
        <p:nvSpPr>
          <p:cNvPr id="10" name="Text 8"/>
          <p:cNvSpPr/>
          <p:nvPr/>
        </p:nvSpPr>
        <p:spPr>
          <a:xfrm>
            <a:off x="112471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localhost:8088/#/solicitudes</a:t>
            </a:r>
            <a:endParaRPr lang="en-US" sz="700" dirty="0"/>
          </a:p>
        </p:txBody>
      </p:sp>
      <p:pic>
        <p:nvPicPr>
          <p:cNvPr id="11" name="Image 0" descr="Solicitudes">    </p:cNvPr>
          <p:cNvPicPr>
            <a:picLocks noChangeAspect="1"/>
          </p:cNvPicPr>
          <p:nvPr/>
        </p:nvPicPr>
        <p:blipFill>
          <a:blip r:embed="rId1"/>
          <a:stretch>
            <a:fillRect/>
          </a:stretch>
        </p:blipFill>
        <p:spPr>
          <a:xfrm>
            <a:off x="612648" y="1965960"/>
            <a:ext cx="2877386" cy="1798366"/>
          </a:xfrm>
          <a:prstGeom prst="rect">
            <a:avLst/>
          </a:prstGeom>
        </p:spPr>
      </p:pic>
      <p:sp>
        <p:nvSpPr>
          <p:cNvPr id="12" name="Text 9"/>
          <p:cNvSpPr/>
          <p:nvPr/>
        </p:nvSpPr>
        <p:spPr>
          <a:xfrm>
            <a:off x="3727778"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1</a:t>
            </a:r>
            <a:endParaRPr lang="en-US" sz="1300" dirty="0"/>
          </a:p>
        </p:txBody>
      </p:sp>
      <p:sp>
        <p:nvSpPr>
          <p:cNvPr id="13" name="Text 10"/>
          <p:cNvSpPr/>
          <p:nvPr/>
        </p:nvSpPr>
        <p:spPr>
          <a:xfrm>
            <a:off x="4184978"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Solicitudes</a:t>
            </a:r>
            <a:endParaRPr lang="en-US" sz="2000" dirty="0"/>
          </a:p>
        </p:txBody>
      </p:sp>
      <p:sp>
        <p:nvSpPr>
          <p:cNvPr id="14" name="Text 11"/>
          <p:cNvSpPr/>
          <p:nvPr/>
        </p:nvSpPr>
        <p:spPr>
          <a:xfrm>
            <a:off x="3727778"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Crear, ver las tuyas y decidir.</a:t>
            </a:r>
            <a:endParaRPr lang="en-US" sz="1400" dirty="0"/>
          </a:p>
        </p:txBody>
      </p:sp>
      <p:sp>
        <p:nvSpPr>
          <p:cNvPr id="15" name="Shape 12"/>
          <p:cNvSpPr/>
          <p:nvPr/>
        </p:nvSpPr>
        <p:spPr>
          <a:xfrm>
            <a:off x="6278728" y="1746504"/>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6" name="Shape 13"/>
          <p:cNvSpPr/>
          <p:nvPr/>
        </p:nvSpPr>
        <p:spPr>
          <a:xfrm>
            <a:off x="6388456" y="1816730"/>
            <a:ext cx="74615" cy="74615"/>
          </a:xfrm>
          <a:prstGeom prst="ellipse">
            <a:avLst/>
          </a:prstGeom>
          <a:solidFill>
            <a:srgbClr val="E5484D"/>
          </a:solidFill>
          <a:ln w="12700">
            <a:solidFill>
              <a:srgbClr val="E5484D"/>
            </a:solidFill>
            <a:prstDash val="solid"/>
          </a:ln>
        </p:spPr>
      </p:sp>
      <p:sp>
        <p:nvSpPr>
          <p:cNvPr id="17" name="Shape 14"/>
          <p:cNvSpPr/>
          <p:nvPr/>
        </p:nvSpPr>
        <p:spPr>
          <a:xfrm>
            <a:off x="6487211" y="1816730"/>
            <a:ext cx="74615" cy="74615"/>
          </a:xfrm>
          <a:prstGeom prst="ellipse">
            <a:avLst/>
          </a:prstGeom>
          <a:solidFill>
            <a:srgbClr val="F5A524"/>
          </a:solidFill>
          <a:ln w="12700">
            <a:solidFill>
              <a:srgbClr val="F5A524"/>
            </a:solidFill>
            <a:prstDash val="solid"/>
          </a:ln>
        </p:spPr>
      </p:sp>
      <p:sp>
        <p:nvSpPr>
          <p:cNvPr id="18" name="Shape 15"/>
          <p:cNvSpPr/>
          <p:nvPr/>
        </p:nvSpPr>
        <p:spPr>
          <a:xfrm>
            <a:off x="6585966" y="1816730"/>
            <a:ext cx="74615" cy="74615"/>
          </a:xfrm>
          <a:prstGeom prst="ellipse">
            <a:avLst/>
          </a:prstGeom>
          <a:solidFill>
            <a:srgbClr val="30A46C"/>
          </a:solidFill>
          <a:ln w="12700">
            <a:solidFill>
              <a:srgbClr val="30A46C"/>
            </a:solidFill>
            <a:prstDash val="solid"/>
          </a:ln>
        </p:spPr>
      </p:sp>
      <p:sp>
        <p:nvSpPr>
          <p:cNvPr id="19" name="Text 16"/>
          <p:cNvSpPr/>
          <p:nvPr/>
        </p:nvSpPr>
        <p:spPr>
          <a:xfrm>
            <a:off x="6790792" y="1781617"/>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localhost:8088/#/enviadas</a:t>
            </a:r>
            <a:endParaRPr lang="en-US" sz="700" dirty="0"/>
          </a:p>
        </p:txBody>
      </p:sp>
      <p:pic>
        <p:nvPicPr>
          <p:cNvPr id="20" name="Image 1" descr="Enviadas">    </p:cNvPr>
          <p:cNvPicPr>
            <a:picLocks noChangeAspect="1"/>
          </p:cNvPicPr>
          <p:nvPr/>
        </p:nvPicPr>
        <p:blipFill>
          <a:blip r:embed="rId2"/>
          <a:stretch>
            <a:fillRect/>
          </a:stretch>
        </p:blipFill>
        <p:spPr>
          <a:xfrm>
            <a:off x="6278728" y="1965960"/>
            <a:ext cx="2877386" cy="1798366"/>
          </a:xfrm>
          <a:prstGeom prst="rect">
            <a:avLst/>
          </a:prstGeom>
        </p:spPr>
      </p:pic>
      <p:sp>
        <p:nvSpPr>
          <p:cNvPr id="21" name="Text 17"/>
          <p:cNvSpPr/>
          <p:nvPr/>
        </p:nvSpPr>
        <p:spPr>
          <a:xfrm>
            <a:off x="9393857" y="2130552"/>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2</a:t>
            </a:r>
            <a:endParaRPr lang="en-US" sz="1300" dirty="0"/>
          </a:p>
        </p:txBody>
      </p:sp>
      <p:sp>
        <p:nvSpPr>
          <p:cNvPr id="22" name="Text 18"/>
          <p:cNvSpPr/>
          <p:nvPr/>
        </p:nvSpPr>
        <p:spPr>
          <a:xfrm>
            <a:off x="9851057" y="2093976"/>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Enviadas</a:t>
            </a:r>
            <a:endParaRPr lang="en-US" sz="2000" dirty="0"/>
          </a:p>
        </p:txBody>
      </p:sp>
      <p:sp>
        <p:nvSpPr>
          <p:cNvPr id="23" name="Text 19"/>
          <p:cNvSpPr/>
          <p:nvPr/>
        </p:nvSpPr>
        <p:spPr>
          <a:xfrm>
            <a:off x="9393857" y="2624328"/>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El recorrido de cada evento y Reentregar.</a:t>
            </a:r>
            <a:endParaRPr lang="en-US" sz="1400" dirty="0"/>
          </a:p>
        </p:txBody>
      </p:sp>
      <p:sp>
        <p:nvSpPr>
          <p:cNvPr id="24" name="Shape 20"/>
          <p:cNvSpPr/>
          <p:nvPr/>
        </p:nvSpPr>
        <p:spPr>
          <a:xfrm>
            <a:off x="61264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25" name="Shape 21"/>
          <p:cNvSpPr/>
          <p:nvPr/>
        </p:nvSpPr>
        <p:spPr>
          <a:xfrm>
            <a:off x="722376" y="3974714"/>
            <a:ext cx="74615" cy="74615"/>
          </a:xfrm>
          <a:prstGeom prst="ellipse">
            <a:avLst/>
          </a:prstGeom>
          <a:solidFill>
            <a:srgbClr val="E5484D"/>
          </a:solidFill>
          <a:ln w="12700">
            <a:solidFill>
              <a:srgbClr val="E5484D"/>
            </a:solidFill>
            <a:prstDash val="solid"/>
          </a:ln>
        </p:spPr>
      </p:sp>
      <p:sp>
        <p:nvSpPr>
          <p:cNvPr id="26" name="Shape 22"/>
          <p:cNvSpPr/>
          <p:nvPr/>
        </p:nvSpPr>
        <p:spPr>
          <a:xfrm>
            <a:off x="821131" y="3974714"/>
            <a:ext cx="74615" cy="74615"/>
          </a:xfrm>
          <a:prstGeom prst="ellipse">
            <a:avLst/>
          </a:prstGeom>
          <a:solidFill>
            <a:srgbClr val="F5A524"/>
          </a:solidFill>
          <a:ln w="12700">
            <a:solidFill>
              <a:srgbClr val="F5A524"/>
            </a:solidFill>
            <a:prstDash val="solid"/>
          </a:ln>
        </p:spPr>
      </p:sp>
      <p:sp>
        <p:nvSpPr>
          <p:cNvPr id="27" name="Shape 23"/>
          <p:cNvSpPr/>
          <p:nvPr/>
        </p:nvSpPr>
        <p:spPr>
          <a:xfrm>
            <a:off x="919886" y="3974714"/>
            <a:ext cx="74615" cy="74615"/>
          </a:xfrm>
          <a:prstGeom prst="ellipse">
            <a:avLst/>
          </a:prstGeom>
          <a:solidFill>
            <a:srgbClr val="30A46C"/>
          </a:solidFill>
          <a:ln w="12700">
            <a:solidFill>
              <a:srgbClr val="30A46C"/>
            </a:solidFill>
            <a:prstDash val="solid"/>
          </a:ln>
        </p:spPr>
      </p:sp>
      <p:sp>
        <p:nvSpPr>
          <p:cNvPr id="28" name="Text 24"/>
          <p:cNvSpPr/>
          <p:nvPr/>
        </p:nvSpPr>
        <p:spPr>
          <a:xfrm>
            <a:off x="112471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localhost:8088/#/salud</a:t>
            </a:r>
            <a:endParaRPr lang="en-US" sz="700" dirty="0"/>
          </a:p>
        </p:txBody>
      </p:sp>
      <p:pic>
        <p:nvPicPr>
          <p:cNvPr id="29" name="Image 2" descr="Salud">    </p:cNvPr>
          <p:cNvPicPr>
            <a:picLocks noChangeAspect="1"/>
          </p:cNvPicPr>
          <p:nvPr/>
        </p:nvPicPr>
        <p:blipFill>
          <a:blip r:embed="rId3"/>
          <a:stretch>
            <a:fillRect/>
          </a:stretch>
        </p:blipFill>
        <p:spPr>
          <a:xfrm>
            <a:off x="612648" y="4123944"/>
            <a:ext cx="2877386" cy="1798366"/>
          </a:xfrm>
          <a:prstGeom prst="rect">
            <a:avLst/>
          </a:prstGeom>
        </p:spPr>
      </p:pic>
      <p:sp>
        <p:nvSpPr>
          <p:cNvPr id="30" name="Text 25"/>
          <p:cNvSpPr/>
          <p:nvPr/>
        </p:nvSpPr>
        <p:spPr>
          <a:xfrm>
            <a:off x="3727778"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3</a:t>
            </a:r>
            <a:endParaRPr lang="en-US" sz="1300" dirty="0"/>
          </a:p>
        </p:txBody>
      </p:sp>
      <p:sp>
        <p:nvSpPr>
          <p:cNvPr id="31" name="Text 26"/>
          <p:cNvSpPr/>
          <p:nvPr/>
        </p:nvSpPr>
        <p:spPr>
          <a:xfrm>
            <a:off x="4184978"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Salud</a:t>
            </a:r>
            <a:endParaRPr lang="en-US" sz="2000" dirty="0"/>
          </a:p>
        </p:txBody>
      </p:sp>
      <p:sp>
        <p:nvSpPr>
          <p:cNvPr id="32" name="Text 27"/>
          <p:cNvSpPr/>
          <p:nvPr/>
        </p:nvSpPr>
        <p:spPr>
          <a:xfrm>
            <a:off x="3727778"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Los dos servicios, Swagger y Grafana.</a:t>
            </a:r>
            <a:endParaRPr lang="en-US" sz="1400" dirty="0"/>
          </a:p>
        </p:txBody>
      </p:sp>
      <p:sp>
        <p:nvSpPr>
          <p:cNvPr id="33" name="Shape 28"/>
          <p:cNvSpPr/>
          <p:nvPr/>
        </p:nvSpPr>
        <p:spPr>
          <a:xfrm>
            <a:off x="6278728" y="3904488"/>
            <a:ext cx="2877386" cy="2017822"/>
          </a:xfrm>
          <a:prstGeom prst="roundRect">
            <a:avLst>
              <a:gd name="adj" fmla="val 4532"/>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34" name="Shape 29"/>
          <p:cNvSpPr/>
          <p:nvPr/>
        </p:nvSpPr>
        <p:spPr>
          <a:xfrm>
            <a:off x="6388456" y="3974714"/>
            <a:ext cx="74615" cy="74615"/>
          </a:xfrm>
          <a:prstGeom prst="ellipse">
            <a:avLst/>
          </a:prstGeom>
          <a:solidFill>
            <a:srgbClr val="E5484D"/>
          </a:solidFill>
          <a:ln w="12700">
            <a:solidFill>
              <a:srgbClr val="E5484D"/>
            </a:solidFill>
            <a:prstDash val="solid"/>
          </a:ln>
        </p:spPr>
      </p:sp>
      <p:sp>
        <p:nvSpPr>
          <p:cNvPr id="35" name="Shape 30"/>
          <p:cNvSpPr/>
          <p:nvPr/>
        </p:nvSpPr>
        <p:spPr>
          <a:xfrm>
            <a:off x="6487211" y="3974714"/>
            <a:ext cx="74615" cy="74615"/>
          </a:xfrm>
          <a:prstGeom prst="ellipse">
            <a:avLst/>
          </a:prstGeom>
          <a:solidFill>
            <a:srgbClr val="F5A524"/>
          </a:solidFill>
          <a:ln w="12700">
            <a:solidFill>
              <a:srgbClr val="F5A524"/>
            </a:solidFill>
            <a:prstDash val="solid"/>
          </a:ln>
        </p:spPr>
      </p:sp>
      <p:sp>
        <p:nvSpPr>
          <p:cNvPr id="36" name="Shape 31"/>
          <p:cNvSpPr/>
          <p:nvPr/>
        </p:nvSpPr>
        <p:spPr>
          <a:xfrm>
            <a:off x="6585966" y="3974714"/>
            <a:ext cx="74615" cy="74615"/>
          </a:xfrm>
          <a:prstGeom prst="ellipse">
            <a:avLst/>
          </a:prstGeom>
          <a:solidFill>
            <a:srgbClr val="30A46C"/>
          </a:solidFill>
          <a:ln w="12700">
            <a:solidFill>
              <a:srgbClr val="30A46C"/>
            </a:solidFill>
            <a:prstDash val="solid"/>
          </a:ln>
        </p:spPr>
      </p:sp>
      <p:sp>
        <p:nvSpPr>
          <p:cNvPr id="37" name="Text 32"/>
          <p:cNvSpPr/>
          <p:nvPr/>
        </p:nvSpPr>
        <p:spPr>
          <a:xfrm>
            <a:off x="6790792" y="3939601"/>
            <a:ext cx="1582562" cy="149230"/>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localhost:8088/#/ayuda</a:t>
            </a:r>
            <a:endParaRPr lang="en-US" sz="700" dirty="0"/>
          </a:p>
        </p:txBody>
      </p:sp>
      <p:pic>
        <p:nvPicPr>
          <p:cNvPr id="38" name="Image 3" descr="Ayuda">    </p:cNvPr>
          <p:cNvPicPr>
            <a:picLocks noChangeAspect="1"/>
          </p:cNvPicPr>
          <p:nvPr/>
        </p:nvPicPr>
        <p:blipFill>
          <a:blip r:embed="rId4"/>
          <a:stretch>
            <a:fillRect/>
          </a:stretch>
        </p:blipFill>
        <p:spPr>
          <a:xfrm>
            <a:off x="6278728" y="4123944"/>
            <a:ext cx="2877386" cy="1798366"/>
          </a:xfrm>
          <a:prstGeom prst="rect">
            <a:avLst/>
          </a:prstGeom>
        </p:spPr>
      </p:pic>
      <p:sp>
        <p:nvSpPr>
          <p:cNvPr id="39" name="Text 33"/>
          <p:cNvSpPr/>
          <p:nvPr/>
        </p:nvSpPr>
        <p:spPr>
          <a:xfrm>
            <a:off x="9393857" y="4288536"/>
            <a:ext cx="365760" cy="36576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4</a:t>
            </a:r>
            <a:endParaRPr lang="en-US" sz="1300" dirty="0"/>
          </a:p>
        </p:txBody>
      </p:sp>
      <p:sp>
        <p:nvSpPr>
          <p:cNvPr id="40" name="Text 34"/>
          <p:cNvSpPr/>
          <p:nvPr/>
        </p:nvSpPr>
        <p:spPr>
          <a:xfrm>
            <a:off x="9851057" y="4251960"/>
            <a:ext cx="1691414" cy="438912"/>
          </a:xfrm>
          <a:prstGeom prst="rect">
            <a:avLst/>
          </a:prstGeom>
          <a:noFill/>
          <a:ln/>
        </p:spPr>
        <p:txBody>
          <a:bodyPr wrap="square" lIns="0" tIns="0" rIns="0" bIns="0" rtlCol="0" anchor="ctr">
            <a:normAutofit/>
          </a:bodyPr>
          <a:lstStyle/>
          <a:p>
            <a:pPr algn="l" indent="0" marL="0">
              <a:buNone/>
            </a:pPr>
            <a:r>
              <a:rPr lang="en-US" sz="2000" b="1" dirty="0">
                <a:solidFill>
                  <a:srgbClr val="0B2350"/>
                </a:solidFill>
                <a:latin typeface="Segoe UI Semibold" pitchFamily="34" charset="0"/>
                <a:ea typeface="Segoe UI Semibold" pitchFamily="34" charset="-122"/>
                <a:cs typeface="Segoe UI Semibold" pitchFamily="34" charset="-120"/>
              </a:rPr>
              <a:t>Ayuda</a:t>
            </a:r>
            <a:endParaRPr lang="en-US" sz="2000" dirty="0"/>
          </a:p>
        </p:txBody>
      </p:sp>
      <p:sp>
        <p:nvSpPr>
          <p:cNvPr id="41" name="Text 35"/>
          <p:cNvSpPr/>
          <p:nvPr/>
        </p:nvSpPr>
        <p:spPr>
          <a:xfrm>
            <a:off x="9393857" y="4782312"/>
            <a:ext cx="2148614" cy="1008911"/>
          </a:xfrm>
          <a:prstGeom prst="rect">
            <a:avLst/>
          </a:prstGeom>
          <a:noFill/>
          <a:ln/>
        </p:spPr>
        <p:txBody>
          <a:bodyPr wrap="square" lIns="0" tIns="0" rIns="0" bIns="0" rtlCol="0" anchor="t">
            <a:normAutofit/>
          </a:bodyPr>
          <a:lstStyle/>
          <a:p>
            <a:pPr algn="l" indent="0" marL="0">
              <a:buNone/>
            </a:pPr>
            <a:r>
              <a:rPr lang="en-US" sz="1400" dirty="0">
                <a:solidFill>
                  <a:srgbClr val="55627E"/>
                </a:solidFill>
                <a:latin typeface="Segoe UI" pitchFamily="34" charset="0"/>
                <a:ea typeface="Segoe UI" pitchFamily="34" charset="-122"/>
                <a:cs typeface="Segoe UI" pitchFamily="34" charset="-120"/>
              </a:rPr>
              <a:t>Diagramas paso a paso de cómo funciona.</a:t>
            </a:r>
            <a:endParaRPr lang="en-US" sz="1400" dirty="0"/>
          </a:p>
        </p:txBody>
      </p:sp>
      <p:sp>
        <p:nvSpPr>
          <p:cNvPr id="42" name="Shape 36"/>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38"/>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Cualquier persona puede usarla, y quien quiera entenderla tiene la explicación a un clic.</a:t>
            </a:r>
            <a:endParaRPr lang="en-US" sz="1400" dirty="0"/>
          </a:p>
        </p:txBody>
      </p:sp>
      <p:sp>
        <p:nvSpPr>
          <p:cNvPr id="45"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Demostración en vivo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lo que contamos, funcionando.</a:t>
            </a:r>
            <a:endParaRPr lang="en-US" sz="1700" dirty="0"/>
          </a:p>
        </p:txBody>
      </p:sp>
      <p:sp>
        <p:nvSpPr>
          <p:cNvPr id="6" name="Shape 4"/>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7" name="Icono heart-pulse"/>
          <p:cNvSpPr/>
          <p:nvPr/>
        </p:nvSpPr>
        <p:spPr>
          <a:xfrm>
            <a:off x="1588427" y="2901391"/>
            <a:ext cx="790042" cy="790042"/>
          </a:xfrm>
          <a:custGeom>
            <a:avLst/>
            <a:gdLst/>
            <a:ahLst/>
            <a:cxnLst/>
            <a:rect l="l" t="t" r="r" b="b"/>
            <a:pathLst>
              <a:path w="790042" h="790042">
                <a:moveTo>
                  <a:pt x="625450" y="460858"/>
                </a:moveTo>
                <a:cubicBezTo>
                  <a:pt x="674498" y="412797"/>
                  <a:pt x="724205" y="355190"/>
                  <a:pt x="724205" y="279806"/>
                </a:cubicBezTo>
                <a:cubicBezTo>
                  <a:pt x="724205" y="179815"/>
                  <a:pt x="643145" y="98755"/>
                  <a:pt x="543154" y="98755"/>
                </a:cubicBezTo>
                <a:cubicBezTo>
                  <a:pt x="485217" y="98755"/>
                  <a:pt x="444398" y="115214"/>
                  <a:pt x="395021" y="164592"/>
                </a:cubicBezTo>
                <a:cubicBezTo>
                  <a:pt x="345643" y="115214"/>
                  <a:pt x="304824" y="98755"/>
                  <a:pt x="246888" y="98755"/>
                </a:cubicBezTo>
                <a:cubicBezTo>
                  <a:pt x="146896" y="98755"/>
                  <a:pt x="65837" y="179815"/>
                  <a:pt x="65837" y="279806"/>
                </a:cubicBezTo>
                <a:cubicBezTo>
                  <a:pt x="65837" y="355519"/>
                  <a:pt x="115214" y="413126"/>
                  <a:pt x="164592" y="460858"/>
                </a:cubicBezTo>
                <a:lnTo>
                  <a:pt x="395021" y="691286"/>
                </a:lnTo>
                <a:close/>
                <a:moveTo>
                  <a:pt x="105997" y="395021"/>
                </a:moveTo>
                <a:lnTo>
                  <a:pt x="312725" y="395021"/>
                </a:lnTo>
                <a:lnTo>
                  <a:pt x="329184" y="362102"/>
                </a:lnTo>
                <a:lnTo>
                  <a:pt x="395021" y="510235"/>
                </a:lnTo>
                <a:lnTo>
                  <a:pt x="460858" y="279806"/>
                </a:lnTo>
                <a:lnTo>
                  <a:pt x="510235" y="395021"/>
                </a:lnTo>
                <a:lnTo>
                  <a:pt x="683715" y="395021"/>
                </a:lnTo>
              </a:path>
            </a:pathLst>
          </a:custGeom>
          <a:noFill/>
          <a:ln w="57607" cap="rnd">
            <a:solidFill>
              <a:srgbClr val="0B2350"/>
            </a:solidFill>
            <a:prstDash val="solid"/>
            <a:round/>
          </a:ln>
        </p:spPr>
      </p:sp>
      <p:sp>
        <p:nvSpPr>
          <p:cNvPr id="8" name="Text 6"/>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9" name="Text 7"/>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Ver la salud</a:t>
            </a:r>
            <a:endParaRPr lang="en-US" sz="1800" dirty="0"/>
          </a:p>
        </p:txBody>
      </p:sp>
      <p:sp>
        <p:nvSpPr>
          <p:cNvPr id="10" name="Text 8"/>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dos servicios en verde.</a:t>
            </a:r>
            <a:endParaRPr lang="en-US" sz="1400" dirty="0"/>
          </a:p>
        </p:txBody>
      </p:sp>
      <p:sp>
        <p:nvSpPr>
          <p:cNvPr id="11" name="Shape 9"/>
          <p:cNvSpPr/>
          <p:nvPr/>
        </p:nvSpPr>
        <p:spPr>
          <a:xfrm>
            <a:off x="2806408" y="3296412"/>
            <a:ext cx="1095680" cy="0"/>
          </a:xfrm>
          <a:prstGeom prst="line">
            <a:avLst/>
          </a:prstGeom>
          <a:noFill/>
          <a:ln w="38100">
            <a:solidFill>
              <a:srgbClr val="2BA6CB"/>
            </a:solidFill>
            <a:prstDash val="solid"/>
            <a:tailEnd type="triangle"/>
          </a:ln>
        </p:spPr>
      </p:sp>
      <p:sp>
        <p:nvSpPr>
          <p:cNvPr id="12" name="Shape 10"/>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3" name="Icono file-plus"/>
          <p:cNvSpPr/>
          <p:nvPr/>
        </p:nvSpPr>
        <p:spPr>
          <a:xfrm>
            <a:off x="4330027" y="2901391"/>
            <a:ext cx="790042" cy="790042"/>
          </a:xfrm>
          <a:custGeom>
            <a:avLst/>
            <a:gdLst/>
            <a:ahLst/>
            <a:cxnLst/>
            <a:rect l="l" t="t" r="r" b="b"/>
            <a:pathLst>
              <a:path w="790042" h="790042">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moveTo>
                  <a:pt x="460858" y="65837"/>
                </a:moveTo>
                <a:lnTo>
                  <a:pt x="460858" y="197510"/>
                </a:lnTo>
                <a:cubicBezTo>
                  <a:pt x="460858" y="233871"/>
                  <a:pt x="490334" y="263347"/>
                  <a:pt x="526694" y="263347"/>
                </a:cubicBezTo>
                <a:lnTo>
                  <a:pt x="658368" y="263347"/>
                </a:lnTo>
                <a:moveTo>
                  <a:pt x="296266" y="493776"/>
                </a:moveTo>
                <a:lnTo>
                  <a:pt x="493776" y="493776"/>
                </a:lnTo>
                <a:moveTo>
                  <a:pt x="395021" y="592531"/>
                </a:moveTo>
                <a:lnTo>
                  <a:pt x="395021" y="395021"/>
                </a:lnTo>
              </a:path>
            </a:pathLst>
          </a:custGeom>
          <a:noFill/>
          <a:ln w="57607" cap="rnd">
            <a:solidFill>
              <a:srgbClr val="0B2350"/>
            </a:solidFill>
            <a:prstDash val="solid"/>
            <a:round/>
          </a:ln>
        </p:spPr>
      </p:sp>
      <p:sp>
        <p:nvSpPr>
          <p:cNvPr id="14" name="Text 12"/>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5" name="Text 13"/>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a:t>
            </a:r>
            <a:endParaRPr lang="en-US" sz="1800" dirty="0"/>
          </a:p>
        </p:txBody>
      </p:sp>
      <p:sp>
        <p:nvSpPr>
          <p:cNvPr id="16" name="Text 14"/>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solicitud nueva: DEMO-01.</a:t>
            </a:r>
            <a:endParaRPr lang="en-US" sz="1400" dirty="0"/>
          </a:p>
        </p:txBody>
      </p:sp>
      <p:sp>
        <p:nvSpPr>
          <p:cNvPr id="17" name="Shape 15"/>
          <p:cNvSpPr/>
          <p:nvPr/>
        </p:nvSpPr>
        <p:spPr>
          <a:xfrm>
            <a:off x="5548008" y="3296412"/>
            <a:ext cx="1095680" cy="0"/>
          </a:xfrm>
          <a:prstGeom prst="line">
            <a:avLst/>
          </a:prstGeom>
          <a:noFill/>
          <a:ln w="38100">
            <a:solidFill>
              <a:srgbClr val="2BA6CB"/>
            </a:solidFill>
            <a:prstDash val="solid"/>
            <a:tailEnd type="triangle"/>
          </a:ln>
        </p:spPr>
      </p:sp>
      <p:sp>
        <p:nvSpPr>
          <p:cNvPr id="18" name="Shape 16"/>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7071627" y="2901391"/>
            <a:ext cx="790042" cy="790042"/>
          </a:xfrm>
          <a:custGeom>
            <a:avLst/>
            <a:gdLst/>
            <a:ahLst/>
            <a:cxnLst/>
            <a:rect l="l" t="t" r="r" b="b"/>
            <a:pathLst>
              <a:path w="790042" h="790042">
                <a:moveTo>
                  <a:pt x="478502" y="713868"/>
                </a:moveTo>
                <a:cubicBezTo>
                  <a:pt x="481063" y="720252"/>
                  <a:pt x="487323" y="724369"/>
                  <a:pt x="494199" y="724193"/>
                </a:cubicBezTo>
                <a:cubicBezTo>
                  <a:pt x="501074" y="724017"/>
                  <a:pt x="507115" y="719584"/>
                  <a:pt x="509346" y="713078"/>
                </a:cubicBezTo>
                <a:lnTo>
                  <a:pt x="723316" y="87629"/>
                </a:lnTo>
                <a:cubicBezTo>
                  <a:pt x="725467" y="81674"/>
                  <a:pt x="723981" y="75013"/>
                  <a:pt x="719505" y="70537"/>
                </a:cubicBezTo>
                <a:cubicBezTo>
                  <a:pt x="715028" y="66060"/>
                  <a:pt x="708367" y="64575"/>
                  <a:pt x="702413" y="66726"/>
                </a:cubicBezTo>
                <a:lnTo>
                  <a:pt x="76963" y="280695"/>
                </a:lnTo>
                <a:cubicBezTo>
                  <a:pt x="70457" y="282926"/>
                  <a:pt x="66025" y="288967"/>
                  <a:pt x="65849" y="295843"/>
                </a:cubicBezTo>
                <a:cubicBezTo>
                  <a:pt x="65673" y="302718"/>
                  <a:pt x="69790" y="308979"/>
                  <a:pt x="76173" y="311540"/>
                </a:cubicBezTo>
                <a:lnTo>
                  <a:pt x="337216" y="416220"/>
                </a:lnTo>
                <a:cubicBezTo>
                  <a:pt x="353891" y="422897"/>
                  <a:pt x="367115" y="436096"/>
                  <a:pt x="373821" y="452760"/>
                </a:cubicBezTo>
                <a:close/>
                <a:moveTo>
                  <a:pt x="719399" y="70676"/>
                </a:moveTo>
                <a:lnTo>
                  <a:pt x="359271" y="430770"/>
                </a:lnTo>
              </a:path>
            </a:pathLst>
          </a:custGeom>
          <a:noFill/>
          <a:ln w="57607" cap="rnd">
            <a:solidFill>
              <a:srgbClr val="0B6E8A"/>
            </a:solidFill>
            <a:prstDash val="solid"/>
            <a:round/>
          </a:ln>
        </p:spPr>
      </p:sp>
      <p:sp>
        <p:nvSpPr>
          <p:cNvPr id="20" name="Text 18"/>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1" name="Text 19"/>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Y ver llegar el evento y el aviso.</a:t>
            </a:r>
            <a:endParaRPr lang="en-US" sz="1400" dirty="0"/>
          </a:p>
        </p:txBody>
      </p:sp>
      <p:sp>
        <p:nvSpPr>
          <p:cNvPr id="23" name="Shape 21"/>
          <p:cNvSpPr/>
          <p:nvPr/>
        </p:nvSpPr>
        <p:spPr>
          <a:xfrm>
            <a:off x="8289608" y="3296412"/>
            <a:ext cx="1095680" cy="0"/>
          </a:xfrm>
          <a:prstGeom prst="line">
            <a:avLst/>
          </a:prstGeom>
          <a:noFill/>
          <a:ln w="38100">
            <a:solidFill>
              <a:srgbClr val="2BA6CB"/>
            </a:solidFill>
            <a:prstDash val="solid"/>
            <a:tailEnd type="triangle"/>
          </a:ln>
        </p:spPr>
      </p:sp>
      <p:sp>
        <p:nvSpPr>
          <p:cNvPr id="24" name="Shape 22"/>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5" name="Icono repeat"/>
          <p:cNvSpPr/>
          <p:nvPr/>
        </p:nvSpPr>
        <p:spPr>
          <a:xfrm>
            <a:off x="9813226" y="2901391"/>
            <a:ext cx="790042" cy="790042"/>
          </a:xfrm>
          <a:custGeom>
            <a:avLst/>
            <a:gdLst/>
            <a:ahLst/>
            <a:cxnLst/>
            <a:rect l="l" t="t" r="r" b="b"/>
            <a:pathLst>
              <a:path w="790042" h="790042">
                <a:moveTo>
                  <a:pt x="559613" y="65837"/>
                </a:moveTo>
                <a:lnTo>
                  <a:pt x="691286" y="197510"/>
                </a:lnTo>
                <a:lnTo>
                  <a:pt x="559613" y="329184"/>
                </a:lnTo>
                <a:moveTo>
                  <a:pt x="98755" y="362102"/>
                </a:moveTo>
                <a:lnTo>
                  <a:pt x="98755" y="329184"/>
                </a:lnTo>
                <a:cubicBezTo>
                  <a:pt x="98755" y="256463"/>
                  <a:pt x="157707" y="197510"/>
                  <a:pt x="230429" y="197510"/>
                </a:cubicBezTo>
                <a:lnTo>
                  <a:pt x="691286" y="197510"/>
                </a:lnTo>
                <a:moveTo>
                  <a:pt x="230429" y="724205"/>
                </a:moveTo>
                <a:lnTo>
                  <a:pt x="98755" y="592531"/>
                </a:lnTo>
                <a:lnTo>
                  <a:pt x="230429" y="460858"/>
                </a:lnTo>
                <a:moveTo>
                  <a:pt x="691286" y="427939"/>
                </a:moveTo>
                <a:lnTo>
                  <a:pt x="691286" y="460858"/>
                </a:lnTo>
                <a:cubicBezTo>
                  <a:pt x="691286" y="533579"/>
                  <a:pt x="632334" y="592531"/>
                  <a:pt x="559613" y="592531"/>
                </a:cubicBezTo>
                <a:lnTo>
                  <a:pt x="98755" y="592531"/>
                </a:lnTo>
              </a:path>
            </a:pathLst>
          </a:custGeom>
          <a:noFill/>
          <a:ln w="57607" cap="rnd">
            <a:solidFill>
              <a:srgbClr val="0A6648"/>
            </a:solidFill>
            <a:prstDash val="solid"/>
            <a:round/>
          </a:ln>
        </p:spPr>
      </p:sp>
      <p:sp>
        <p:nvSpPr>
          <p:cNvPr id="26" name="Text 24"/>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7" name="Text 25"/>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Reentregar</a:t>
            </a:r>
            <a:endParaRPr lang="en-US" sz="1800" dirty="0"/>
          </a:p>
        </p:txBody>
      </p:sp>
      <p:sp>
        <p:nvSpPr>
          <p:cNvPr id="28" name="Text 26"/>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aviso no se duplica.</a:t>
            </a:r>
            <a:endParaRPr lang="en-US" sz="1400" dirty="0"/>
          </a:p>
        </p:txBody>
      </p:sp>
      <p:sp>
        <p:nvSpPr>
          <p:cNvPr id="29" name="Text 2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aprendimos, en ARKA-Lite</a:t>
            </a:r>
            <a:endParaRPr lang="en-US" sz="2800" dirty="0"/>
          </a:p>
        </p:txBody>
      </p:sp>
      <p:sp>
        <p:nvSpPr>
          <p:cNvPr id="5" name="Shape 3"/>
          <p:cNvSpPr/>
          <p:nvPr/>
        </p:nvSpPr>
        <p:spPr>
          <a:xfrm>
            <a:off x="612648"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612648" y="1499616"/>
            <a:ext cx="64008" cy="1283208"/>
          </a:xfrm>
          <a:prstGeom prst="rect">
            <a:avLst/>
          </a:prstGeom>
          <a:solidFill>
            <a:srgbClr val="0B2350"/>
          </a:solidFill>
          <a:ln w="12700">
            <a:solidFill>
              <a:srgbClr val="0B2350"/>
            </a:solidFill>
            <a:prstDash val="solid"/>
          </a:ln>
        </p:spPr>
      </p:sp>
      <p:sp>
        <p:nvSpPr>
          <p:cNvPr id="7" name="Shape 5"/>
          <p:cNvSpPr/>
          <p:nvPr/>
        </p:nvSpPr>
        <p:spPr>
          <a:xfrm>
            <a:off x="813816" y="1554480"/>
            <a:ext cx="566928" cy="566928"/>
          </a:xfrm>
          <a:prstGeom prst="ellipse">
            <a:avLst/>
          </a:prstGeom>
          <a:solidFill>
            <a:srgbClr val="E8EEF8"/>
          </a:solidFill>
          <a:ln w="12700">
            <a:solidFill>
              <a:srgbClr val="E8EEF8"/>
            </a:solidFill>
            <a:prstDash val="solid"/>
          </a:ln>
        </p:spPr>
      </p:sp>
      <p:sp>
        <p:nvSpPr>
          <p:cNvPr id="8" name="Icono code"/>
          <p:cNvSpPr/>
          <p:nvPr/>
        </p:nvSpPr>
        <p:spPr>
          <a:xfrm>
            <a:off x="949879" y="1690543"/>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0B2350"/>
            </a:solidFill>
            <a:prstDash val="solid"/>
            <a:round/>
          </a:ln>
        </p:spPr>
      </p:sp>
      <p:sp>
        <p:nvSpPr>
          <p:cNvPr id="9" name="Text 7"/>
          <p:cNvSpPr/>
          <p:nvPr/>
        </p:nvSpPr>
        <p:spPr>
          <a:xfrm>
            <a:off x="1527048"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Spring Boot y endpoints REST</a:t>
            </a:r>
            <a:endParaRPr lang="en-US" sz="1500" dirty="0"/>
          </a:p>
        </p:txBody>
      </p:sp>
      <p:sp>
        <p:nvSpPr>
          <p:cNvPr id="10" name="Text 8"/>
          <p:cNvSpPr/>
          <p:nvPr/>
        </p:nvSpPr>
        <p:spPr>
          <a:xfrm>
            <a:off x="868680"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Los controladores de los dos servicios</a:t>
            </a:r>
            <a:endParaRPr lang="en-US" sz="1300" dirty="0"/>
          </a:p>
        </p:txBody>
      </p:sp>
      <p:sp>
        <p:nvSpPr>
          <p:cNvPr id="11" name="Shape 9"/>
          <p:cNvSpPr/>
          <p:nvPr/>
        </p:nvSpPr>
        <p:spPr>
          <a:xfrm>
            <a:off x="3399968"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3399968" y="1499616"/>
            <a:ext cx="64008" cy="1283208"/>
          </a:xfrm>
          <a:prstGeom prst="rect">
            <a:avLst/>
          </a:prstGeom>
          <a:solidFill>
            <a:srgbClr val="0B2350"/>
          </a:solidFill>
          <a:ln w="12700">
            <a:solidFill>
              <a:srgbClr val="0B2350"/>
            </a:solidFill>
            <a:prstDash val="solid"/>
          </a:ln>
        </p:spPr>
      </p:sp>
      <p:sp>
        <p:nvSpPr>
          <p:cNvPr id="13" name="Shape 11"/>
          <p:cNvSpPr/>
          <p:nvPr/>
        </p:nvSpPr>
        <p:spPr>
          <a:xfrm>
            <a:off x="3601136" y="1554480"/>
            <a:ext cx="566928" cy="566928"/>
          </a:xfrm>
          <a:prstGeom prst="ellipse">
            <a:avLst/>
          </a:prstGeom>
          <a:solidFill>
            <a:srgbClr val="E8EEF8"/>
          </a:solidFill>
          <a:ln w="12700">
            <a:solidFill>
              <a:srgbClr val="E8EEF8"/>
            </a:solidFill>
            <a:prstDash val="solid"/>
          </a:ln>
        </p:spPr>
      </p:sp>
      <p:sp>
        <p:nvSpPr>
          <p:cNvPr id="14" name="Icono shield-alert"/>
          <p:cNvSpPr/>
          <p:nvPr/>
        </p:nvSpPr>
        <p:spPr>
          <a:xfrm>
            <a:off x="3737199" y="1690543"/>
            <a:ext cx="294803" cy="294803"/>
          </a:xfrm>
          <a:custGeom>
            <a:avLst/>
            <a:gdLst/>
            <a:ahLst/>
            <a:cxnLst/>
            <a:rect l="l" t="t" r="r" b="b"/>
            <a:pathLst>
              <a:path w="294803" h="294803">
                <a:moveTo>
                  <a:pt x="245669" y="159685"/>
                </a:moveTo>
                <a:cubicBezTo>
                  <a:pt x="245669" y="221102"/>
                  <a:pt x="202677" y="251811"/>
                  <a:pt x="151578" y="269622"/>
                </a:cubicBezTo>
                <a:cubicBezTo>
                  <a:pt x="148902" y="270528"/>
                  <a:pt x="145995" y="270485"/>
                  <a:pt x="143348" y="269499"/>
                </a:cubicBezTo>
                <a:cubicBezTo>
                  <a:pt x="92126" y="251811"/>
                  <a:pt x="49134" y="221102"/>
                  <a:pt x="49134" y="159685"/>
                </a:cubicBezTo>
                <a:lnTo>
                  <a:pt x="49134" y="73701"/>
                </a:lnTo>
                <a:cubicBezTo>
                  <a:pt x="49134" y="66917"/>
                  <a:pt x="54633" y="61417"/>
                  <a:pt x="61417" y="61417"/>
                </a:cubicBezTo>
                <a:cubicBezTo>
                  <a:pt x="85984" y="61417"/>
                  <a:pt x="116693" y="46677"/>
                  <a:pt x="138066" y="28006"/>
                </a:cubicBezTo>
                <a:cubicBezTo>
                  <a:pt x="143442" y="23413"/>
                  <a:pt x="151361" y="23413"/>
                  <a:pt x="156737" y="28006"/>
                </a:cubicBezTo>
                <a:cubicBezTo>
                  <a:pt x="178233" y="46800"/>
                  <a:pt x="208818" y="61417"/>
                  <a:pt x="233385" y="61417"/>
                </a:cubicBezTo>
                <a:cubicBezTo>
                  <a:pt x="240169" y="61417"/>
                  <a:pt x="245669" y="66917"/>
                  <a:pt x="245669" y="73701"/>
                </a:cubicBezTo>
                <a:close/>
                <a:moveTo>
                  <a:pt x="147401" y="98268"/>
                </a:moveTo>
                <a:lnTo>
                  <a:pt x="147401" y="147401"/>
                </a:lnTo>
                <a:moveTo>
                  <a:pt x="147401" y="196535"/>
                </a:moveTo>
                <a:lnTo>
                  <a:pt x="147524" y="196535"/>
                </a:lnTo>
              </a:path>
            </a:pathLst>
          </a:custGeom>
          <a:noFill/>
          <a:ln w="24567" cap="rnd">
            <a:solidFill>
              <a:srgbClr val="0B2350"/>
            </a:solidFill>
            <a:prstDash val="solid"/>
            <a:round/>
          </a:ln>
        </p:spPr>
      </p:sp>
      <p:sp>
        <p:nvSpPr>
          <p:cNvPr id="15" name="Text 13"/>
          <p:cNvSpPr/>
          <p:nvPr/>
        </p:nvSpPr>
        <p:spPr>
          <a:xfrm>
            <a:off x="4314368"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Manejo global de errores</a:t>
            </a:r>
            <a:endParaRPr lang="en-US" sz="1500" dirty="0"/>
          </a:p>
        </p:txBody>
      </p:sp>
      <p:sp>
        <p:nvSpPr>
          <p:cNvPr id="16" name="Text 14"/>
          <p:cNvSpPr/>
          <p:nvPr/>
        </p:nvSpPr>
        <p:spPr>
          <a:xfrm>
            <a:off x="3656000"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404, 409 y 400 desde un solo lugar</a:t>
            </a:r>
            <a:endParaRPr lang="en-US" sz="1300" dirty="0"/>
          </a:p>
        </p:txBody>
      </p:sp>
      <p:sp>
        <p:nvSpPr>
          <p:cNvPr id="17" name="Shape 15"/>
          <p:cNvSpPr/>
          <p:nvPr/>
        </p:nvSpPr>
        <p:spPr>
          <a:xfrm>
            <a:off x="6187288"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87288" y="1499616"/>
            <a:ext cx="64008" cy="1283208"/>
          </a:xfrm>
          <a:prstGeom prst="rect">
            <a:avLst/>
          </a:prstGeom>
          <a:solidFill>
            <a:srgbClr val="0B2350"/>
          </a:solidFill>
          <a:ln w="12700">
            <a:solidFill>
              <a:srgbClr val="0B2350"/>
            </a:solidFill>
            <a:prstDash val="solid"/>
          </a:ln>
        </p:spPr>
      </p:sp>
      <p:sp>
        <p:nvSpPr>
          <p:cNvPr id="19" name="Shape 17"/>
          <p:cNvSpPr/>
          <p:nvPr/>
        </p:nvSpPr>
        <p:spPr>
          <a:xfrm>
            <a:off x="6388456" y="1554480"/>
            <a:ext cx="566928" cy="566928"/>
          </a:xfrm>
          <a:prstGeom prst="ellipse">
            <a:avLst/>
          </a:prstGeom>
          <a:solidFill>
            <a:srgbClr val="E8EEF8"/>
          </a:solidFill>
          <a:ln w="12700">
            <a:solidFill>
              <a:srgbClr val="E8EEF8"/>
            </a:solidFill>
            <a:prstDash val="solid"/>
          </a:ln>
        </p:spPr>
      </p:sp>
      <p:sp>
        <p:nvSpPr>
          <p:cNvPr id="20" name="Icono git-branch"/>
          <p:cNvSpPr/>
          <p:nvPr/>
        </p:nvSpPr>
        <p:spPr>
          <a:xfrm>
            <a:off x="6524518" y="1690543"/>
            <a:ext cx="294803" cy="294803"/>
          </a:xfrm>
          <a:custGeom>
            <a:avLst/>
            <a:gdLst/>
            <a:ahLst/>
            <a:cxnLst/>
            <a:rect l="l" t="t" r="r" b="b"/>
            <a:pathLst>
              <a:path w="294803" h="294803">
                <a:moveTo>
                  <a:pt x="73701" y="36850"/>
                </a:moveTo>
                <a:lnTo>
                  <a:pt x="73701" y="184252"/>
                </a:lnTo>
                <a:moveTo>
                  <a:pt x="257952" y="73701"/>
                </a:moveTo>
                <a:cubicBezTo>
                  <a:pt x="257952" y="94053"/>
                  <a:pt x="241454" y="110551"/>
                  <a:pt x="221102" y="110551"/>
                </a:cubicBezTo>
                <a:cubicBezTo>
                  <a:pt x="200750" y="110551"/>
                  <a:pt x="184252" y="94053"/>
                  <a:pt x="184252" y="73701"/>
                </a:cubicBezTo>
                <a:cubicBezTo>
                  <a:pt x="184252" y="53349"/>
                  <a:pt x="200750" y="36850"/>
                  <a:pt x="221102" y="36850"/>
                </a:cubicBezTo>
                <a:cubicBezTo>
                  <a:pt x="241454" y="36850"/>
                  <a:pt x="257952" y="53349"/>
                  <a:pt x="257952" y="73701"/>
                </a:cubicBezTo>
                <a:close/>
                <a:moveTo>
                  <a:pt x="110551" y="221102"/>
                </a:moveTo>
                <a:cubicBezTo>
                  <a:pt x="110551" y="241454"/>
                  <a:pt x="94053" y="257952"/>
                  <a:pt x="73701" y="257952"/>
                </a:cubicBezTo>
                <a:cubicBezTo>
                  <a:pt x="53349" y="257952"/>
                  <a:pt x="36850" y="241454"/>
                  <a:pt x="36850" y="221102"/>
                </a:cubicBezTo>
                <a:cubicBezTo>
                  <a:pt x="36850" y="200750"/>
                  <a:pt x="53349" y="184252"/>
                  <a:pt x="73701" y="184252"/>
                </a:cubicBezTo>
                <a:cubicBezTo>
                  <a:pt x="94053" y="184252"/>
                  <a:pt x="110551" y="200750"/>
                  <a:pt x="110551" y="221102"/>
                </a:cubicBezTo>
                <a:close/>
                <a:moveTo>
                  <a:pt x="221102" y="110551"/>
                </a:moveTo>
                <a:cubicBezTo>
                  <a:pt x="221102" y="171607"/>
                  <a:pt x="171607" y="221102"/>
                  <a:pt x="110551" y="221102"/>
                </a:cubicBezTo>
              </a:path>
            </a:pathLst>
          </a:custGeom>
          <a:noFill/>
          <a:ln w="24567" cap="rnd">
            <a:solidFill>
              <a:srgbClr val="0B2350"/>
            </a:solidFill>
            <a:prstDash val="solid"/>
            <a:round/>
          </a:ln>
        </p:spPr>
      </p:sp>
      <p:sp>
        <p:nvSpPr>
          <p:cNvPr id="21" name="Text 19"/>
          <p:cNvSpPr/>
          <p:nvPr/>
        </p:nvSpPr>
        <p:spPr>
          <a:xfrm>
            <a:off x="7101688"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Git, Swagger y pruebas</a:t>
            </a:r>
            <a:endParaRPr lang="en-US" sz="1500" dirty="0"/>
          </a:p>
        </p:txBody>
      </p:sp>
      <p:sp>
        <p:nvSpPr>
          <p:cNvPr id="22" name="Text 20"/>
          <p:cNvSpPr/>
          <p:nvPr/>
        </p:nvSpPr>
        <p:spPr>
          <a:xfrm>
            <a:off x="6443320"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Pull Requests, contratos, JUnit y MockMvc</a:t>
            </a:r>
            <a:endParaRPr lang="en-US" sz="1300" dirty="0"/>
          </a:p>
        </p:txBody>
      </p:sp>
      <p:sp>
        <p:nvSpPr>
          <p:cNvPr id="23" name="Shape 21"/>
          <p:cNvSpPr/>
          <p:nvPr/>
        </p:nvSpPr>
        <p:spPr>
          <a:xfrm>
            <a:off x="8974607" y="137160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8974607" y="1499616"/>
            <a:ext cx="64008" cy="1283208"/>
          </a:xfrm>
          <a:prstGeom prst="rect">
            <a:avLst/>
          </a:prstGeom>
          <a:solidFill>
            <a:srgbClr val="0B2350"/>
          </a:solidFill>
          <a:ln w="12700">
            <a:solidFill>
              <a:srgbClr val="0B2350"/>
            </a:solidFill>
            <a:prstDash val="solid"/>
          </a:ln>
        </p:spPr>
      </p:sp>
      <p:sp>
        <p:nvSpPr>
          <p:cNvPr id="25" name="Shape 23"/>
          <p:cNvSpPr/>
          <p:nvPr/>
        </p:nvSpPr>
        <p:spPr>
          <a:xfrm>
            <a:off x="9175775" y="1554480"/>
            <a:ext cx="566928" cy="566928"/>
          </a:xfrm>
          <a:prstGeom prst="ellipse">
            <a:avLst/>
          </a:prstGeom>
          <a:solidFill>
            <a:srgbClr val="E8EEF8"/>
          </a:solidFill>
          <a:ln w="12700">
            <a:solidFill>
              <a:srgbClr val="E8EEF8"/>
            </a:solidFill>
            <a:prstDash val="solid"/>
          </a:ln>
        </p:spPr>
      </p:sp>
      <p:sp>
        <p:nvSpPr>
          <p:cNvPr id="26" name="Icono plug"/>
          <p:cNvSpPr/>
          <p:nvPr/>
        </p:nvSpPr>
        <p:spPr>
          <a:xfrm>
            <a:off x="9311838" y="1690543"/>
            <a:ext cx="294803" cy="294803"/>
          </a:xfrm>
          <a:custGeom>
            <a:avLst/>
            <a:gdLst/>
            <a:ahLst/>
            <a:cxnLst/>
            <a:rect l="l" t="t" r="r" b="b"/>
            <a:pathLst>
              <a:path w="294803" h="294803">
                <a:moveTo>
                  <a:pt x="147401" y="270236"/>
                </a:moveTo>
                <a:lnTo>
                  <a:pt x="147401" y="208818"/>
                </a:lnTo>
                <a:moveTo>
                  <a:pt x="110551" y="98268"/>
                </a:moveTo>
                <a:lnTo>
                  <a:pt x="110551" y="24567"/>
                </a:lnTo>
                <a:moveTo>
                  <a:pt x="184252" y="98268"/>
                </a:moveTo>
                <a:lnTo>
                  <a:pt x="184252" y="24567"/>
                </a:lnTo>
                <a:moveTo>
                  <a:pt x="221102" y="98268"/>
                </a:moveTo>
                <a:lnTo>
                  <a:pt x="221102" y="159685"/>
                </a:lnTo>
                <a:cubicBezTo>
                  <a:pt x="221102" y="186821"/>
                  <a:pt x="199104" y="208818"/>
                  <a:pt x="171968" y="208818"/>
                </a:cubicBezTo>
                <a:lnTo>
                  <a:pt x="122834" y="208818"/>
                </a:lnTo>
                <a:cubicBezTo>
                  <a:pt x="95699" y="208818"/>
                  <a:pt x="73701" y="186821"/>
                  <a:pt x="73701" y="159685"/>
                </a:cubicBezTo>
                <a:lnTo>
                  <a:pt x="73701" y="98268"/>
                </a:lnTo>
                <a:close/>
              </a:path>
            </a:pathLst>
          </a:custGeom>
          <a:noFill/>
          <a:ln w="24567" cap="rnd">
            <a:solidFill>
              <a:srgbClr val="0B2350"/>
            </a:solidFill>
            <a:prstDash val="solid"/>
            <a:round/>
          </a:ln>
        </p:spPr>
      </p:sp>
      <p:sp>
        <p:nvSpPr>
          <p:cNvPr id="27" name="Text 25"/>
          <p:cNvSpPr/>
          <p:nvPr/>
        </p:nvSpPr>
        <p:spPr>
          <a:xfrm>
            <a:off x="9889007" y="155448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Puertos y adaptadores</a:t>
            </a:r>
            <a:endParaRPr lang="en-US" sz="1500" dirty="0"/>
          </a:p>
        </p:txBody>
      </p:sp>
      <p:sp>
        <p:nvSpPr>
          <p:cNvPr id="28" name="Text 26"/>
          <p:cNvSpPr/>
          <p:nvPr/>
        </p:nvSpPr>
        <p:spPr>
          <a:xfrm>
            <a:off x="9230639" y="223113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dominio/ y adaptadores/, con @Primary</a:t>
            </a:r>
            <a:endParaRPr lang="en-US" sz="1300" dirty="0"/>
          </a:p>
        </p:txBody>
      </p:sp>
      <p:sp>
        <p:nvSpPr>
          <p:cNvPr id="29" name="Shape 27"/>
          <p:cNvSpPr/>
          <p:nvPr/>
        </p:nvSpPr>
        <p:spPr>
          <a:xfrm>
            <a:off x="612648"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612648" y="3221736"/>
            <a:ext cx="64008" cy="1283208"/>
          </a:xfrm>
          <a:prstGeom prst="rect">
            <a:avLst/>
          </a:prstGeom>
          <a:solidFill>
            <a:srgbClr val="0B2350"/>
          </a:solidFill>
          <a:ln w="12700">
            <a:solidFill>
              <a:srgbClr val="0B2350"/>
            </a:solidFill>
            <a:prstDash val="solid"/>
          </a:ln>
        </p:spPr>
      </p:sp>
      <p:sp>
        <p:nvSpPr>
          <p:cNvPr id="31" name="Shape 29"/>
          <p:cNvSpPr/>
          <p:nvPr/>
        </p:nvSpPr>
        <p:spPr>
          <a:xfrm>
            <a:off x="813816" y="3276600"/>
            <a:ext cx="566928" cy="566928"/>
          </a:xfrm>
          <a:prstGeom prst="ellipse">
            <a:avLst/>
          </a:prstGeom>
          <a:solidFill>
            <a:srgbClr val="E8EEF8"/>
          </a:solidFill>
          <a:ln w="12700">
            <a:solidFill>
              <a:srgbClr val="E8EEF8"/>
            </a:solidFill>
            <a:prstDash val="solid"/>
          </a:ln>
        </p:spPr>
      </p:sp>
      <p:sp>
        <p:nvSpPr>
          <p:cNvPr id="32" name="Icono boxes"/>
          <p:cNvSpPr/>
          <p:nvPr/>
        </p:nvSpPr>
        <p:spPr>
          <a:xfrm>
            <a:off x="949879" y="3412663"/>
            <a:ext cx="294803" cy="294803"/>
          </a:xfrm>
          <a:custGeom>
            <a:avLst/>
            <a:gdLst/>
            <a:ahLst/>
            <a:cxnLst/>
            <a:rect l="l" t="t" r="r" b="b"/>
            <a:pathLst>
              <a:path w="294803" h="294803">
                <a:moveTo>
                  <a:pt x="36482" y="158702"/>
                </a:moveTo>
                <a:cubicBezTo>
                  <a:pt x="29106" y="163134"/>
                  <a:pt x="24586" y="171102"/>
                  <a:pt x="24567" y="179707"/>
                </a:cubicBezTo>
                <a:lnTo>
                  <a:pt x="24567" y="219505"/>
                </a:lnTo>
                <a:cubicBezTo>
                  <a:pt x="24586" y="228110"/>
                  <a:pt x="29106" y="236078"/>
                  <a:pt x="36482" y="240510"/>
                </a:cubicBezTo>
                <a:lnTo>
                  <a:pt x="73332" y="262620"/>
                </a:lnTo>
                <a:cubicBezTo>
                  <a:pt x="81118" y="267298"/>
                  <a:pt x="90850" y="267298"/>
                  <a:pt x="98636" y="262620"/>
                </a:cubicBezTo>
                <a:lnTo>
                  <a:pt x="147401" y="233385"/>
                </a:lnTo>
                <a:lnTo>
                  <a:pt x="147401" y="165826"/>
                </a:lnTo>
                <a:lnTo>
                  <a:pt x="85984" y="128976"/>
                </a:lnTo>
                <a:lnTo>
                  <a:pt x="36482" y="158702"/>
                </a:lnTo>
                <a:close/>
                <a:moveTo>
                  <a:pt x="85984" y="202677"/>
                </a:moveTo>
                <a:lnTo>
                  <a:pt x="27761" y="167669"/>
                </a:lnTo>
                <a:moveTo>
                  <a:pt x="85984" y="202677"/>
                </a:moveTo>
                <a:lnTo>
                  <a:pt x="147401" y="165826"/>
                </a:lnTo>
                <a:moveTo>
                  <a:pt x="85984" y="202677"/>
                </a:moveTo>
                <a:lnTo>
                  <a:pt x="85984" y="266182"/>
                </a:lnTo>
                <a:moveTo>
                  <a:pt x="147401" y="165826"/>
                </a:moveTo>
                <a:lnTo>
                  <a:pt x="147401" y="233385"/>
                </a:lnTo>
                <a:lnTo>
                  <a:pt x="196167" y="262620"/>
                </a:lnTo>
                <a:cubicBezTo>
                  <a:pt x="203953" y="267298"/>
                  <a:pt x="213684" y="267298"/>
                  <a:pt x="221470" y="262620"/>
                </a:cubicBezTo>
                <a:lnTo>
                  <a:pt x="258321" y="240510"/>
                </a:lnTo>
                <a:cubicBezTo>
                  <a:pt x="265697" y="236078"/>
                  <a:pt x="270217" y="228110"/>
                  <a:pt x="270236" y="219505"/>
                </a:cubicBezTo>
                <a:lnTo>
                  <a:pt x="270236" y="179707"/>
                </a:lnTo>
                <a:cubicBezTo>
                  <a:pt x="270217" y="171102"/>
                  <a:pt x="265697" y="163134"/>
                  <a:pt x="258321" y="158702"/>
                </a:cubicBezTo>
                <a:lnTo>
                  <a:pt x="208818" y="128976"/>
                </a:lnTo>
                <a:lnTo>
                  <a:pt x="147401" y="165826"/>
                </a:lnTo>
                <a:close/>
                <a:moveTo>
                  <a:pt x="208818" y="202677"/>
                </a:moveTo>
                <a:lnTo>
                  <a:pt x="147401" y="165826"/>
                </a:lnTo>
                <a:moveTo>
                  <a:pt x="208818" y="202677"/>
                </a:moveTo>
                <a:lnTo>
                  <a:pt x="267042" y="167669"/>
                </a:lnTo>
                <a:moveTo>
                  <a:pt x="208818" y="202677"/>
                </a:moveTo>
                <a:lnTo>
                  <a:pt x="208818" y="266182"/>
                </a:lnTo>
                <a:moveTo>
                  <a:pt x="97899" y="54293"/>
                </a:moveTo>
                <a:cubicBezTo>
                  <a:pt x="90523" y="58724"/>
                  <a:pt x="86003" y="66692"/>
                  <a:pt x="85984" y="75297"/>
                </a:cubicBezTo>
                <a:lnTo>
                  <a:pt x="85984" y="128976"/>
                </a:lnTo>
                <a:lnTo>
                  <a:pt x="147401" y="165826"/>
                </a:lnTo>
                <a:lnTo>
                  <a:pt x="208818" y="128976"/>
                </a:lnTo>
                <a:lnTo>
                  <a:pt x="208818" y="75297"/>
                </a:lnTo>
                <a:cubicBezTo>
                  <a:pt x="208800" y="66692"/>
                  <a:pt x="204280" y="58724"/>
                  <a:pt x="196904" y="54293"/>
                </a:cubicBezTo>
                <a:lnTo>
                  <a:pt x="160053" y="32183"/>
                </a:lnTo>
                <a:cubicBezTo>
                  <a:pt x="152267" y="27505"/>
                  <a:pt x="142535" y="27505"/>
                  <a:pt x="134749" y="32183"/>
                </a:cubicBezTo>
                <a:lnTo>
                  <a:pt x="97899" y="54293"/>
                </a:lnTo>
                <a:close/>
                <a:moveTo>
                  <a:pt x="147401" y="98268"/>
                </a:moveTo>
                <a:lnTo>
                  <a:pt x="89178" y="63260"/>
                </a:lnTo>
                <a:moveTo>
                  <a:pt x="147401" y="98268"/>
                </a:moveTo>
                <a:lnTo>
                  <a:pt x="205625" y="63260"/>
                </a:lnTo>
                <a:moveTo>
                  <a:pt x="147401" y="165826"/>
                </a:moveTo>
                <a:lnTo>
                  <a:pt x="147401" y="98268"/>
                </a:lnTo>
              </a:path>
            </a:pathLst>
          </a:custGeom>
          <a:noFill/>
          <a:ln w="24567" cap="rnd">
            <a:solidFill>
              <a:srgbClr val="0B2350"/>
            </a:solidFill>
            <a:prstDash val="solid"/>
            <a:round/>
          </a:ln>
        </p:spPr>
      </p:sp>
      <p:sp>
        <p:nvSpPr>
          <p:cNvPr id="33" name="Text 31"/>
          <p:cNvSpPr/>
          <p:nvPr/>
        </p:nvSpPr>
        <p:spPr>
          <a:xfrm>
            <a:off x="1527048" y="327660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1500" dirty="0"/>
          </a:p>
        </p:txBody>
      </p:sp>
      <p:sp>
        <p:nvSpPr>
          <p:cNvPr id="34" name="Text 32"/>
          <p:cNvSpPr/>
          <p:nvPr/>
        </p:nvSpPr>
        <p:spPr>
          <a:xfrm>
            <a:off x="868680"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Dos servicios, cada uno con su base</a:t>
            </a:r>
            <a:endParaRPr lang="en-US" sz="1300" dirty="0"/>
          </a:p>
        </p:txBody>
      </p:sp>
      <p:sp>
        <p:nvSpPr>
          <p:cNvPr id="35" name="Shape 33"/>
          <p:cNvSpPr/>
          <p:nvPr/>
        </p:nvSpPr>
        <p:spPr>
          <a:xfrm>
            <a:off x="3399968"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3399968" y="3221736"/>
            <a:ext cx="64008" cy="1283208"/>
          </a:xfrm>
          <a:prstGeom prst="rect">
            <a:avLst/>
          </a:prstGeom>
          <a:solidFill>
            <a:srgbClr val="5B3FC4"/>
          </a:solidFill>
          <a:ln w="12700">
            <a:solidFill>
              <a:srgbClr val="5B3FC4"/>
            </a:solidFill>
            <a:prstDash val="solid"/>
          </a:ln>
        </p:spPr>
      </p:sp>
      <p:sp>
        <p:nvSpPr>
          <p:cNvPr id="37" name="Shape 35"/>
          <p:cNvSpPr/>
          <p:nvPr/>
        </p:nvSpPr>
        <p:spPr>
          <a:xfrm>
            <a:off x="3601136" y="3276600"/>
            <a:ext cx="566928" cy="566928"/>
          </a:xfrm>
          <a:prstGeom prst="ellipse">
            <a:avLst/>
          </a:prstGeom>
          <a:solidFill>
            <a:srgbClr val="F1EEFD"/>
          </a:solidFill>
          <a:ln w="12700">
            <a:solidFill>
              <a:srgbClr val="F1EEFD"/>
            </a:solidFill>
            <a:prstDash val="solid"/>
          </a:ln>
        </p:spPr>
      </p:sp>
      <p:sp>
        <p:nvSpPr>
          <p:cNvPr id="38" name="Icono database"/>
          <p:cNvSpPr/>
          <p:nvPr/>
        </p:nvSpPr>
        <p:spPr>
          <a:xfrm>
            <a:off x="3737199" y="3412663"/>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B3FC4"/>
            </a:solidFill>
            <a:prstDash val="solid"/>
            <a:round/>
          </a:ln>
        </p:spPr>
      </p:sp>
      <p:sp>
        <p:nvSpPr>
          <p:cNvPr id="39" name="Text 37"/>
          <p:cNvSpPr/>
          <p:nvPr/>
        </p:nvSpPr>
        <p:spPr>
          <a:xfrm>
            <a:off x="4314368" y="327660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Base de datos y consistencia</a:t>
            </a:r>
            <a:endParaRPr lang="en-US" sz="1500" dirty="0"/>
          </a:p>
        </p:txBody>
      </p:sp>
      <p:sp>
        <p:nvSpPr>
          <p:cNvPr id="40" name="Text 38"/>
          <p:cNvSpPr/>
          <p:nvPr/>
        </p:nvSpPr>
        <p:spPr>
          <a:xfrm>
            <a:off x="3656000"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JPA, bandeja de salida e idempotencia</a:t>
            </a:r>
            <a:endParaRPr lang="en-US" sz="1300" dirty="0"/>
          </a:p>
        </p:txBody>
      </p:sp>
      <p:sp>
        <p:nvSpPr>
          <p:cNvPr id="41" name="Shape 39"/>
          <p:cNvSpPr/>
          <p:nvPr/>
        </p:nvSpPr>
        <p:spPr>
          <a:xfrm>
            <a:off x="6187288"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6187288" y="3221736"/>
            <a:ext cx="64008" cy="1283208"/>
          </a:xfrm>
          <a:prstGeom prst="rect">
            <a:avLst/>
          </a:prstGeom>
          <a:solidFill>
            <a:srgbClr val="0A6648"/>
          </a:solidFill>
          <a:ln w="12700">
            <a:solidFill>
              <a:srgbClr val="0A6648"/>
            </a:solidFill>
            <a:prstDash val="solid"/>
          </a:ln>
        </p:spPr>
      </p:sp>
      <p:sp>
        <p:nvSpPr>
          <p:cNvPr id="43" name="Shape 41"/>
          <p:cNvSpPr/>
          <p:nvPr/>
        </p:nvSpPr>
        <p:spPr>
          <a:xfrm>
            <a:off x="6388456" y="3276600"/>
            <a:ext cx="566928" cy="566928"/>
          </a:xfrm>
          <a:prstGeom prst="ellipse">
            <a:avLst/>
          </a:prstGeom>
          <a:solidFill>
            <a:srgbClr val="E1F1EA"/>
          </a:solidFill>
          <a:ln w="12700">
            <a:solidFill>
              <a:srgbClr val="E1F1EA"/>
            </a:solidFill>
            <a:prstDash val="solid"/>
          </a:ln>
        </p:spPr>
      </p:sp>
      <p:sp>
        <p:nvSpPr>
          <p:cNvPr id="44" name="Icono container"/>
          <p:cNvSpPr/>
          <p:nvPr/>
        </p:nvSpPr>
        <p:spPr>
          <a:xfrm>
            <a:off x="6524518" y="3412663"/>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A6648"/>
            </a:solidFill>
            <a:prstDash val="solid"/>
            <a:round/>
          </a:ln>
        </p:spPr>
      </p:sp>
      <p:sp>
        <p:nvSpPr>
          <p:cNvPr id="45" name="Text 43"/>
          <p:cNvSpPr/>
          <p:nvPr/>
        </p:nvSpPr>
        <p:spPr>
          <a:xfrm>
            <a:off x="7101688" y="327660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 y Compose</a:t>
            </a:r>
            <a:endParaRPr lang="en-US" sz="1500" dirty="0"/>
          </a:p>
        </p:txBody>
      </p:sp>
      <p:sp>
        <p:nvSpPr>
          <p:cNvPr id="46" name="Text 44"/>
          <p:cNvSpPr/>
          <p:nvPr/>
        </p:nvSpPr>
        <p:spPr>
          <a:xfrm>
            <a:off x="6443320"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Dockerfile en dos etapas y compose.yaml</a:t>
            </a:r>
            <a:endParaRPr lang="en-US" sz="1300" dirty="0"/>
          </a:p>
        </p:txBody>
      </p:sp>
      <p:sp>
        <p:nvSpPr>
          <p:cNvPr id="47" name="Shape 45"/>
          <p:cNvSpPr/>
          <p:nvPr/>
        </p:nvSpPr>
        <p:spPr>
          <a:xfrm>
            <a:off x="8974607" y="309372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8974607" y="3221736"/>
            <a:ext cx="64008" cy="1283208"/>
          </a:xfrm>
          <a:prstGeom prst="rect">
            <a:avLst/>
          </a:prstGeom>
          <a:solidFill>
            <a:srgbClr val="0A6648"/>
          </a:solidFill>
          <a:ln w="12700">
            <a:solidFill>
              <a:srgbClr val="0A6648"/>
            </a:solidFill>
            <a:prstDash val="solid"/>
          </a:ln>
        </p:spPr>
      </p:sp>
      <p:sp>
        <p:nvSpPr>
          <p:cNvPr id="49" name="Shape 47"/>
          <p:cNvSpPr/>
          <p:nvPr/>
        </p:nvSpPr>
        <p:spPr>
          <a:xfrm>
            <a:off x="9175775" y="3276600"/>
            <a:ext cx="566928" cy="566928"/>
          </a:xfrm>
          <a:prstGeom prst="ellipse">
            <a:avLst/>
          </a:prstGeom>
          <a:solidFill>
            <a:srgbClr val="E1F1EA"/>
          </a:solidFill>
          <a:ln w="12700">
            <a:solidFill>
              <a:srgbClr val="E1F1EA"/>
            </a:solidFill>
            <a:prstDash val="solid"/>
          </a:ln>
        </p:spPr>
      </p:sp>
      <p:sp>
        <p:nvSpPr>
          <p:cNvPr id="50" name="Icono workflow"/>
          <p:cNvSpPr/>
          <p:nvPr/>
        </p:nvSpPr>
        <p:spPr>
          <a:xfrm>
            <a:off x="9311838" y="3412663"/>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51" name="Text 49"/>
          <p:cNvSpPr/>
          <p:nvPr/>
        </p:nvSpPr>
        <p:spPr>
          <a:xfrm>
            <a:off x="9889007" y="3276600"/>
            <a:ext cx="1552880" cy="566928"/>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Semibold" pitchFamily="34" charset="0"/>
                <a:ea typeface="Segoe UI Semibold" pitchFamily="34" charset="-122"/>
                <a:cs typeface="Segoe UI Semibold" pitchFamily="34" charset="-120"/>
              </a:rPr>
              <a:t>Integración y entrega continua</a:t>
            </a:r>
            <a:endParaRPr lang="en-US" sz="1300" dirty="0"/>
          </a:p>
        </p:txBody>
      </p:sp>
      <p:sp>
        <p:nvSpPr>
          <p:cNvPr id="52" name="Text 50"/>
          <p:cNvSpPr/>
          <p:nvPr/>
        </p:nvSpPr>
        <p:spPr>
          <a:xfrm>
            <a:off x="9230639" y="395325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pipeline de GitHub Actions</a:t>
            </a:r>
            <a:endParaRPr lang="en-US" sz="1300" dirty="0"/>
          </a:p>
        </p:txBody>
      </p:sp>
      <p:sp>
        <p:nvSpPr>
          <p:cNvPr id="53" name="Shape 51"/>
          <p:cNvSpPr/>
          <p:nvPr/>
        </p:nvSpPr>
        <p:spPr>
          <a:xfrm>
            <a:off x="612648" y="481584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Shape 52"/>
          <p:cNvSpPr/>
          <p:nvPr/>
        </p:nvSpPr>
        <p:spPr>
          <a:xfrm>
            <a:off x="612648" y="4943856"/>
            <a:ext cx="64008" cy="1283208"/>
          </a:xfrm>
          <a:prstGeom prst="rect">
            <a:avLst/>
          </a:prstGeom>
          <a:solidFill>
            <a:srgbClr val="0A6648"/>
          </a:solidFill>
          <a:ln w="12700">
            <a:solidFill>
              <a:srgbClr val="0A6648"/>
            </a:solidFill>
            <a:prstDash val="solid"/>
          </a:ln>
        </p:spPr>
      </p:sp>
      <p:sp>
        <p:nvSpPr>
          <p:cNvPr id="55" name="Shape 53"/>
          <p:cNvSpPr/>
          <p:nvPr/>
        </p:nvSpPr>
        <p:spPr>
          <a:xfrm>
            <a:off x="813816" y="4998720"/>
            <a:ext cx="566928" cy="566928"/>
          </a:xfrm>
          <a:prstGeom prst="ellipse">
            <a:avLst/>
          </a:prstGeom>
          <a:solidFill>
            <a:srgbClr val="E1F1EA"/>
          </a:solidFill>
          <a:ln w="12700">
            <a:solidFill>
              <a:srgbClr val="E1F1EA"/>
            </a:solidFill>
            <a:prstDash val="solid"/>
          </a:ln>
        </p:spPr>
      </p:sp>
      <p:sp>
        <p:nvSpPr>
          <p:cNvPr id="56" name="Icono ship-wheel"/>
          <p:cNvSpPr/>
          <p:nvPr/>
        </p:nvSpPr>
        <p:spPr>
          <a:xfrm>
            <a:off x="949879" y="5134783"/>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57" name="Text 55"/>
          <p:cNvSpPr/>
          <p:nvPr/>
        </p:nvSpPr>
        <p:spPr>
          <a:xfrm>
            <a:off x="1527048" y="499872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58" name="Text 56"/>
          <p:cNvSpPr/>
          <p:nvPr/>
        </p:nvSpPr>
        <p:spPr>
          <a:xfrm>
            <a:off x="868680" y="567537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Deployments, Services, Secret y disco</a:t>
            </a:r>
            <a:endParaRPr lang="en-US" sz="1300" dirty="0"/>
          </a:p>
        </p:txBody>
      </p:sp>
      <p:sp>
        <p:nvSpPr>
          <p:cNvPr id="59" name="Shape 57"/>
          <p:cNvSpPr/>
          <p:nvPr/>
        </p:nvSpPr>
        <p:spPr>
          <a:xfrm>
            <a:off x="3399968" y="481584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0" name="Shape 58"/>
          <p:cNvSpPr/>
          <p:nvPr/>
        </p:nvSpPr>
        <p:spPr>
          <a:xfrm>
            <a:off x="3399968" y="4943856"/>
            <a:ext cx="64008" cy="1283208"/>
          </a:xfrm>
          <a:prstGeom prst="rect">
            <a:avLst/>
          </a:prstGeom>
          <a:solidFill>
            <a:srgbClr val="0A6648"/>
          </a:solidFill>
          <a:ln w="12700">
            <a:solidFill>
              <a:srgbClr val="0A6648"/>
            </a:solidFill>
            <a:prstDash val="solid"/>
          </a:ln>
        </p:spPr>
      </p:sp>
      <p:sp>
        <p:nvSpPr>
          <p:cNvPr id="61" name="Shape 59"/>
          <p:cNvSpPr/>
          <p:nvPr/>
        </p:nvSpPr>
        <p:spPr>
          <a:xfrm>
            <a:off x="3601136" y="4998720"/>
            <a:ext cx="566928" cy="566928"/>
          </a:xfrm>
          <a:prstGeom prst="ellipse">
            <a:avLst/>
          </a:prstGeom>
          <a:solidFill>
            <a:srgbClr val="E1F1EA"/>
          </a:solidFill>
          <a:ln w="12700">
            <a:solidFill>
              <a:srgbClr val="E1F1EA"/>
            </a:solidFill>
            <a:prstDash val="solid"/>
          </a:ln>
        </p:spPr>
      </p:sp>
      <p:sp>
        <p:nvSpPr>
          <p:cNvPr id="62" name="Icono chart-line"/>
          <p:cNvSpPr/>
          <p:nvPr/>
        </p:nvSpPr>
        <p:spPr>
          <a:xfrm>
            <a:off x="3737199" y="5134783"/>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0A6648"/>
            </a:solidFill>
            <a:prstDash val="solid"/>
            <a:round/>
          </a:ln>
        </p:spPr>
      </p:sp>
      <p:sp>
        <p:nvSpPr>
          <p:cNvPr id="63" name="Text 61"/>
          <p:cNvSpPr/>
          <p:nvPr/>
        </p:nvSpPr>
        <p:spPr>
          <a:xfrm>
            <a:off x="4314368" y="499872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Logs y monitoreo</a:t>
            </a:r>
            <a:endParaRPr lang="en-US" sz="1500" dirty="0"/>
          </a:p>
        </p:txBody>
      </p:sp>
      <p:sp>
        <p:nvSpPr>
          <p:cNvPr id="64" name="Text 62"/>
          <p:cNvSpPr/>
          <p:nvPr/>
        </p:nvSpPr>
        <p:spPr>
          <a:xfrm>
            <a:off x="3656000" y="567537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Promtail, Loki, Grafana y Actuator</a:t>
            </a:r>
            <a:endParaRPr lang="en-US" sz="1300" dirty="0"/>
          </a:p>
        </p:txBody>
      </p:sp>
      <p:sp>
        <p:nvSpPr>
          <p:cNvPr id="65" name="Shape 63"/>
          <p:cNvSpPr/>
          <p:nvPr/>
        </p:nvSpPr>
        <p:spPr>
          <a:xfrm>
            <a:off x="6187288" y="4815840"/>
            <a:ext cx="2604440"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6187288" y="4943856"/>
            <a:ext cx="64008" cy="1283208"/>
          </a:xfrm>
          <a:prstGeom prst="rect">
            <a:avLst/>
          </a:prstGeom>
          <a:solidFill>
            <a:srgbClr val="0B2350"/>
          </a:solidFill>
          <a:ln w="12700">
            <a:solidFill>
              <a:srgbClr val="0B2350"/>
            </a:solidFill>
            <a:prstDash val="solid"/>
          </a:ln>
        </p:spPr>
      </p:sp>
      <p:sp>
        <p:nvSpPr>
          <p:cNvPr id="67" name="Shape 65"/>
          <p:cNvSpPr/>
          <p:nvPr/>
        </p:nvSpPr>
        <p:spPr>
          <a:xfrm>
            <a:off x="6388456" y="4998720"/>
            <a:ext cx="566928" cy="566928"/>
          </a:xfrm>
          <a:prstGeom prst="ellipse">
            <a:avLst/>
          </a:prstGeom>
          <a:solidFill>
            <a:srgbClr val="E8EEF8"/>
          </a:solidFill>
          <a:ln w="12700">
            <a:solidFill>
              <a:srgbClr val="E8EEF8"/>
            </a:solidFill>
            <a:prstDash val="solid"/>
          </a:ln>
        </p:spPr>
      </p:sp>
      <p:sp>
        <p:nvSpPr>
          <p:cNvPr id="68" name="Icono monitor"/>
          <p:cNvSpPr/>
          <p:nvPr/>
        </p:nvSpPr>
        <p:spPr>
          <a:xfrm>
            <a:off x="6524518" y="5134783"/>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0B2350"/>
            </a:solidFill>
            <a:prstDash val="solid"/>
            <a:round/>
          </a:ln>
        </p:spPr>
      </p:sp>
      <p:sp>
        <p:nvSpPr>
          <p:cNvPr id="69" name="Text 67"/>
          <p:cNvSpPr/>
          <p:nvPr/>
        </p:nvSpPr>
        <p:spPr>
          <a:xfrm>
            <a:off x="7101688" y="4998720"/>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Ensamblaje del sistema</a:t>
            </a:r>
            <a:endParaRPr lang="en-US" sz="1500" dirty="0"/>
          </a:p>
        </p:txBody>
      </p:sp>
      <p:sp>
        <p:nvSpPr>
          <p:cNvPr id="70" name="Text 68"/>
          <p:cNvSpPr/>
          <p:nvPr/>
        </p:nvSpPr>
        <p:spPr>
          <a:xfrm>
            <a:off x="6443320" y="5675376"/>
            <a:ext cx="2192960" cy="560832"/>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interfaz: cuatro pestañas</a:t>
            </a:r>
            <a:endParaRPr lang="en-US" sz="1300" dirty="0"/>
          </a:p>
        </p:txBody>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le falta</a:t>
            </a:r>
            <a:endParaRPr lang="en-US" sz="2800" dirty="0"/>
          </a:p>
        </p:txBody>
      </p:sp>
      <p:sp>
        <p:nvSpPr>
          <p:cNvPr id="5" name="Shape 3"/>
          <p:cNvSpPr/>
          <p:nvPr/>
        </p:nvSpPr>
        <p:spPr>
          <a:xfrm>
            <a:off x="612648" y="1481328"/>
            <a:ext cx="73152" cy="914400"/>
          </a:xfrm>
          <a:prstGeom prst="rect">
            <a:avLst/>
          </a:prstGeom>
          <a:solidFill>
            <a:srgbClr val="2BA6CB"/>
          </a:solidFill>
          <a:ln w="12700">
            <a:solidFill>
              <a:srgbClr val="2BA6CB"/>
            </a:solidFill>
            <a:prstDash val="solid"/>
          </a:ln>
        </p:spPr>
      </p:sp>
      <p:sp>
        <p:nvSpPr>
          <p:cNvPr id="6" name="Text 4"/>
          <p:cNvSpPr/>
          <p:nvPr/>
        </p:nvSpPr>
        <p:spPr>
          <a:xfrm>
            <a:off x="868680" y="1417320"/>
            <a:ext cx="5001768"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Un laboratorio sólido, todavía no un producto.</a:t>
            </a:r>
            <a:endParaRPr lang="en-US" sz="3200" dirty="0"/>
          </a:p>
        </p:txBody>
      </p:sp>
      <p:sp>
        <p:nvSpPr>
          <p:cNvPr id="7" name="Shape 5"/>
          <p:cNvSpPr/>
          <p:nvPr/>
        </p:nvSpPr>
        <p:spPr>
          <a:xfrm>
            <a:off x="6281928" y="1417320"/>
            <a:ext cx="5297119" cy="891540"/>
          </a:xfrm>
          <a:prstGeom prst="roundRect">
            <a:avLst>
              <a:gd name="adj" fmla="val 12308"/>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8" name="Shape 6"/>
          <p:cNvSpPr/>
          <p:nvPr/>
        </p:nvSpPr>
        <p:spPr>
          <a:xfrm>
            <a:off x="6437376" y="1579626"/>
            <a:ext cx="566928" cy="566928"/>
          </a:xfrm>
          <a:prstGeom prst="ellipse">
            <a:avLst/>
          </a:prstGeom>
          <a:solidFill>
            <a:srgbClr val="0B2350"/>
          </a:solidFill>
          <a:ln w="12700">
            <a:solidFill>
              <a:srgbClr val="0B2350"/>
            </a:solidFill>
            <a:prstDash val="solid"/>
          </a:ln>
        </p:spPr>
      </p:sp>
      <p:sp>
        <p:nvSpPr>
          <p:cNvPr id="9" name="Icono cpu"/>
          <p:cNvSpPr/>
          <p:nvPr/>
        </p:nvSpPr>
        <p:spPr>
          <a:xfrm>
            <a:off x="6573439" y="1715689"/>
            <a:ext cx="294803" cy="294803"/>
          </a:xfrm>
          <a:custGeom>
            <a:avLst/>
            <a:gdLst/>
            <a:ahLst/>
            <a:cxnLst/>
            <a:rect l="l" t="t" r="r" b="b"/>
            <a:pathLst>
              <a:path w="294803" h="294803">
                <a:moveTo>
                  <a:pt x="73701" y="49134"/>
                </a:moveTo>
                <a:lnTo>
                  <a:pt x="221102" y="49134"/>
                </a:lnTo>
                <a:cubicBezTo>
                  <a:pt x="234670" y="49134"/>
                  <a:pt x="245669" y="60133"/>
                  <a:pt x="245669" y="73701"/>
                </a:cubicBezTo>
                <a:lnTo>
                  <a:pt x="245669" y="221102"/>
                </a:lnTo>
                <a:cubicBezTo>
                  <a:pt x="245669" y="234670"/>
                  <a:pt x="234670" y="245669"/>
                  <a:pt x="221102" y="245669"/>
                </a:cubicBezTo>
                <a:lnTo>
                  <a:pt x="73701" y="245669"/>
                </a:lnTo>
                <a:cubicBezTo>
                  <a:pt x="60133" y="245669"/>
                  <a:pt x="49134" y="234670"/>
                  <a:pt x="49134" y="221102"/>
                </a:cubicBezTo>
                <a:lnTo>
                  <a:pt x="49134" y="73701"/>
                </a:lnTo>
                <a:cubicBezTo>
                  <a:pt x="49134" y="60133"/>
                  <a:pt x="60133" y="49134"/>
                  <a:pt x="73701" y="49134"/>
                </a:cubicBezTo>
                <a:close/>
                <a:moveTo>
                  <a:pt x="122834" y="110551"/>
                </a:moveTo>
                <a:lnTo>
                  <a:pt x="171968" y="110551"/>
                </a:lnTo>
                <a:cubicBezTo>
                  <a:pt x="178752" y="110551"/>
                  <a:pt x="184252" y="116050"/>
                  <a:pt x="184252" y="122834"/>
                </a:cubicBezTo>
                <a:lnTo>
                  <a:pt x="184252" y="171968"/>
                </a:lnTo>
                <a:cubicBezTo>
                  <a:pt x="184252" y="178752"/>
                  <a:pt x="178752" y="184252"/>
                  <a:pt x="171968" y="184252"/>
                </a:cubicBezTo>
                <a:lnTo>
                  <a:pt x="122834" y="184252"/>
                </a:lnTo>
                <a:cubicBezTo>
                  <a:pt x="116050" y="184252"/>
                  <a:pt x="110551" y="178752"/>
                  <a:pt x="110551" y="171968"/>
                </a:cubicBezTo>
                <a:lnTo>
                  <a:pt x="110551" y="122834"/>
                </a:lnTo>
                <a:cubicBezTo>
                  <a:pt x="110551" y="116050"/>
                  <a:pt x="116050" y="110551"/>
                  <a:pt x="122834" y="110551"/>
                </a:cubicBezTo>
                <a:close/>
                <a:moveTo>
                  <a:pt x="184252" y="24567"/>
                </a:moveTo>
                <a:lnTo>
                  <a:pt x="184252" y="49134"/>
                </a:lnTo>
                <a:moveTo>
                  <a:pt x="184252" y="245669"/>
                </a:moveTo>
                <a:lnTo>
                  <a:pt x="184252" y="270236"/>
                </a:lnTo>
                <a:moveTo>
                  <a:pt x="24567" y="184252"/>
                </a:moveTo>
                <a:lnTo>
                  <a:pt x="49134" y="184252"/>
                </a:lnTo>
                <a:moveTo>
                  <a:pt x="24567" y="110551"/>
                </a:moveTo>
                <a:lnTo>
                  <a:pt x="49134" y="110551"/>
                </a:lnTo>
                <a:moveTo>
                  <a:pt x="245669" y="184252"/>
                </a:moveTo>
                <a:lnTo>
                  <a:pt x="270236" y="184252"/>
                </a:lnTo>
                <a:moveTo>
                  <a:pt x="245669" y="110551"/>
                </a:moveTo>
                <a:lnTo>
                  <a:pt x="270236" y="110551"/>
                </a:lnTo>
                <a:moveTo>
                  <a:pt x="110551" y="24567"/>
                </a:moveTo>
                <a:lnTo>
                  <a:pt x="110551" y="49134"/>
                </a:lnTo>
                <a:moveTo>
                  <a:pt x="110551" y="245669"/>
                </a:moveTo>
                <a:lnTo>
                  <a:pt x="110551" y="270236"/>
                </a:lnTo>
              </a:path>
            </a:pathLst>
          </a:custGeom>
          <a:noFill/>
          <a:ln w="24567" cap="rnd">
            <a:solidFill>
              <a:srgbClr val="FFFFFF"/>
            </a:solidFill>
            <a:prstDash val="solid"/>
            <a:round/>
          </a:ln>
        </p:spPr>
      </p:sp>
      <p:sp>
        <p:nvSpPr>
          <p:cNvPr id="10" name="Text 8"/>
          <p:cNvSpPr/>
          <p:nvPr/>
        </p:nvSpPr>
        <p:spPr>
          <a:xfrm>
            <a:off x="7150608" y="1417320"/>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texto de los avisos vive en memoria</a:t>
            </a:r>
            <a:endParaRPr lang="en-US" sz="1600" dirty="0"/>
          </a:p>
        </p:txBody>
      </p:sp>
      <p:sp>
        <p:nvSpPr>
          <p:cNvPr id="11" name="Shape 9"/>
          <p:cNvSpPr/>
          <p:nvPr/>
        </p:nvSpPr>
        <p:spPr>
          <a:xfrm>
            <a:off x="6281928" y="2455164"/>
            <a:ext cx="5297119" cy="891540"/>
          </a:xfrm>
          <a:prstGeom prst="roundRect">
            <a:avLst>
              <a:gd name="adj" fmla="val 12308"/>
            </a:avLst>
          </a:prstGeom>
          <a:solidFill>
            <a:srgbClr val="E3F4FA"/>
          </a:solidFill>
          <a:ln w="15875">
            <a:solidFill>
              <a:srgbClr val="2BA6CB"/>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6437376" y="2617470"/>
            <a:ext cx="566928" cy="566928"/>
          </a:xfrm>
          <a:prstGeom prst="ellipse">
            <a:avLst/>
          </a:prstGeom>
          <a:solidFill>
            <a:srgbClr val="0B6E8A"/>
          </a:solidFill>
          <a:ln w="12700">
            <a:solidFill>
              <a:srgbClr val="0B6E8A"/>
            </a:solidFill>
            <a:prstDash val="solid"/>
          </a:ln>
        </p:spPr>
      </p:sp>
      <p:sp>
        <p:nvSpPr>
          <p:cNvPr id="13" name="Icono lock"/>
          <p:cNvSpPr/>
          <p:nvPr/>
        </p:nvSpPr>
        <p:spPr>
          <a:xfrm>
            <a:off x="6573439" y="2753533"/>
            <a:ext cx="294803" cy="294803"/>
          </a:xfrm>
          <a:custGeom>
            <a:avLst/>
            <a:gdLst/>
            <a:ahLst/>
            <a:cxnLst/>
            <a:rect l="l" t="t" r="r" b="b"/>
            <a:pathLst>
              <a:path w="294803" h="294803">
                <a:moveTo>
                  <a:pt x="61417" y="135118"/>
                </a:moveTo>
                <a:lnTo>
                  <a:pt x="233385" y="135118"/>
                </a:lnTo>
                <a:cubicBezTo>
                  <a:pt x="246953" y="135118"/>
                  <a:pt x="257952" y="146117"/>
                  <a:pt x="257952" y="159685"/>
                </a:cubicBezTo>
                <a:lnTo>
                  <a:pt x="257952" y="245669"/>
                </a:lnTo>
                <a:cubicBezTo>
                  <a:pt x="257952" y="259237"/>
                  <a:pt x="246953" y="270236"/>
                  <a:pt x="233385" y="270236"/>
                </a:cubicBezTo>
                <a:lnTo>
                  <a:pt x="61417" y="270236"/>
                </a:lnTo>
                <a:cubicBezTo>
                  <a:pt x="47849" y="270236"/>
                  <a:pt x="36850" y="259237"/>
                  <a:pt x="36850" y="245669"/>
                </a:cubicBezTo>
                <a:lnTo>
                  <a:pt x="36850" y="159685"/>
                </a:lnTo>
                <a:cubicBezTo>
                  <a:pt x="36850" y="146117"/>
                  <a:pt x="47849" y="135118"/>
                  <a:pt x="61417" y="135118"/>
                </a:cubicBezTo>
                <a:close/>
                <a:moveTo>
                  <a:pt x="85984" y="135118"/>
                </a:moveTo>
                <a:lnTo>
                  <a:pt x="85984" y="85984"/>
                </a:lnTo>
                <a:cubicBezTo>
                  <a:pt x="85984" y="52064"/>
                  <a:pt x="113481" y="24567"/>
                  <a:pt x="147401" y="24567"/>
                </a:cubicBezTo>
                <a:cubicBezTo>
                  <a:pt x="181321" y="24567"/>
                  <a:pt x="208818" y="52064"/>
                  <a:pt x="208818" y="85984"/>
                </a:cubicBezTo>
                <a:lnTo>
                  <a:pt x="208818" y="135118"/>
                </a:lnTo>
              </a:path>
            </a:pathLst>
          </a:custGeom>
          <a:noFill/>
          <a:ln w="24567" cap="rnd">
            <a:solidFill>
              <a:srgbClr val="FFFFFF"/>
            </a:solidFill>
            <a:prstDash val="solid"/>
            <a:round/>
          </a:ln>
        </p:spPr>
      </p:sp>
      <p:sp>
        <p:nvSpPr>
          <p:cNvPr id="14" name="Text 12"/>
          <p:cNvSpPr/>
          <p:nvPr/>
        </p:nvSpPr>
        <p:spPr>
          <a:xfrm>
            <a:off x="7150608" y="2455164"/>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 hay inicio de sesión: es un laboratorio</a:t>
            </a:r>
            <a:endParaRPr lang="en-US" sz="1600" dirty="0"/>
          </a:p>
        </p:txBody>
      </p:sp>
      <p:sp>
        <p:nvSpPr>
          <p:cNvPr id="15" name="Shape 13"/>
          <p:cNvSpPr/>
          <p:nvPr/>
        </p:nvSpPr>
        <p:spPr>
          <a:xfrm>
            <a:off x="6281928" y="3493008"/>
            <a:ext cx="5297119" cy="891540"/>
          </a:xfrm>
          <a:prstGeom prst="roundRect">
            <a:avLst>
              <a:gd name="adj" fmla="val 12308"/>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437376" y="3655314"/>
            <a:ext cx="566928" cy="566928"/>
          </a:xfrm>
          <a:prstGeom prst="ellipse">
            <a:avLst/>
          </a:prstGeom>
          <a:solidFill>
            <a:srgbClr val="0B6E8A"/>
          </a:solidFill>
          <a:ln w="12700">
            <a:solidFill>
              <a:srgbClr val="0B6E8A"/>
            </a:solidFill>
            <a:prstDash val="solid"/>
          </a:ln>
        </p:spPr>
      </p:sp>
      <p:sp>
        <p:nvSpPr>
          <p:cNvPr id="17" name="Icono activity"/>
          <p:cNvSpPr/>
          <p:nvPr/>
        </p:nvSpPr>
        <p:spPr>
          <a:xfrm>
            <a:off x="6573439" y="3791377"/>
            <a:ext cx="294803" cy="294803"/>
          </a:xfrm>
          <a:custGeom>
            <a:avLst/>
            <a:gdLst/>
            <a:ahLst/>
            <a:cxnLst/>
            <a:rect l="l" t="t" r="r" b="b"/>
            <a:pathLst>
              <a:path w="294803" h="294803">
                <a:moveTo>
                  <a:pt x="270236" y="147401"/>
                </a:moveTo>
                <a:lnTo>
                  <a:pt x="239773" y="147401"/>
                </a:lnTo>
                <a:cubicBezTo>
                  <a:pt x="228740" y="147378"/>
                  <a:pt x="219045" y="154712"/>
                  <a:pt x="216066" y="165335"/>
                </a:cubicBezTo>
                <a:lnTo>
                  <a:pt x="187200" y="268025"/>
                </a:lnTo>
                <a:cubicBezTo>
                  <a:pt x="186817" y="269335"/>
                  <a:pt x="185616" y="270236"/>
                  <a:pt x="184252" y="270236"/>
                </a:cubicBezTo>
                <a:cubicBezTo>
                  <a:pt x="182887" y="270236"/>
                  <a:pt x="181686" y="269335"/>
                  <a:pt x="181304" y="268025"/>
                </a:cubicBezTo>
                <a:lnTo>
                  <a:pt x="113499" y="26778"/>
                </a:lnTo>
                <a:cubicBezTo>
                  <a:pt x="113117" y="25468"/>
                  <a:pt x="111916" y="24567"/>
                  <a:pt x="110551" y="24567"/>
                </a:cubicBezTo>
                <a:cubicBezTo>
                  <a:pt x="109186" y="24567"/>
                  <a:pt x="107985" y="25468"/>
                  <a:pt x="107603" y="26778"/>
                </a:cubicBezTo>
                <a:lnTo>
                  <a:pt x="78737" y="129467"/>
                </a:lnTo>
                <a:cubicBezTo>
                  <a:pt x="75770" y="140047"/>
                  <a:pt x="66140" y="147370"/>
                  <a:pt x="55153" y="147401"/>
                </a:cubicBezTo>
                <a:lnTo>
                  <a:pt x="24567" y="147401"/>
                </a:lnTo>
              </a:path>
            </a:pathLst>
          </a:custGeom>
          <a:noFill/>
          <a:ln w="24567" cap="rnd">
            <a:solidFill>
              <a:srgbClr val="FFFFFF"/>
            </a:solidFill>
            <a:prstDash val="solid"/>
            <a:round/>
          </a:ln>
        </p:spPr>
      </p:sp>
      <p:sp>
        <p:nvSpPr>
          <p:cNvPr id="18" name="Text 16"/>
          <p:cNvSpPr/>
          <p:nvPr/>
        </p:nvSpPr>
        <p:spPr>
          <a:xfrm>
            <a:off x="7150608" y="3493008"/>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Sin mensajería dedicada ni métricas históricas</a:t>
            </a:r>
            <a:endParaRPr lang="en-US" sz="1600" dirty="0"/>
          </a:p>
        </p:txBody>
      </p:sp>
      <p:sp>
        <p:nvSpPr>
          <p:cNvPr id="19" name="Shape 17"/>
          <p:cNvSpPr/>
          <p:nvPr/>
        </p:nvSpPr>
        <p:spPr>
          <a:xfrm>
            <a:off x="6281928" y="4530852"/>
            <a:ext cx="5297119" cy="891540"/>
          </a:xfrm>
          <a:prstGeom prst="roundRect">
            <a:avLst>
              <a:gd name="adj" fmla="val 12308"/>
            </a:avLst>
          </a:prstGeom>
          <a:solidFill>
            <a:srgbClr val="FFFFFF"/>
          </a:solidFill>
          <a:ln w="15875">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437376" y="4693158"/>
            <a:ext cx="566928" cy="566928"/>
          </a:xfrm>
          <a:prstGeom prst="ellipse">
            <a:avLst/>
          </a:prstGeom>
          <a:solidFill>
            <a:srgbClr val="0A6648"/>
          </a:solidFill>
          <a:ln w="12700">
            <a:solidFill>
              <a:srgbClr val="0A6648"/>
            </a:solidFill>
            <a:prstDash val="solid"/>
          </a:ln>
        </p:spPr>
      </p:sp>
      <p:sp>
        <p:nvSpPr>
          <p:cNvPr id="21" name="Icono rocket"/>
          <p:cNvSpPr/>
          <p:nvPr/>
        </p:nvSpPr>
        <p:spPr>
          <a:xfrm>
            <a:off x="6573439" y="4829221"/>
            <a:ext cx="294803" cy="294803"/>
          </a:xfrm>
          <a:custGeom>
            <a:avLst/>
            <a:gdLst/>
            <a:ahLst/>
            <a:cxnLst/>
            <a:rect l="l" t="t" r="r" b="b"/>
            <a:pathLst>
              <a:path w="294803" h="294803">
                <a:moveTo>
                  <a:pt x="55275" y="202677"/>
                </a:moveTo>
                <a:cubicBezTo>
                  <a:pt x="36850" y="218154"/>
                  <a:pt x="30709" y="264094"/>
                  <a:pt x="30709" y="264094"/>
                </a:cubicBezTo>
                <a:cubicBezTo>
                  <a:pt x="30709" y="264094"/>
                  <a:pt x="76649" y="257952"/>
                  <a:pt x="92126" y="239527"/>
                </a:cubicBezTo>
                <a:cubicBezTo>
                  <a:pt x="100847" y="229209"/>
                  <a:pt x="100724" y="213363"/>
                  <a:pt x="91020" y="203782"/>
                </a:cubicBezTo>
                <a:cubicBezTo>
                  <a:pt x="81133" y="194346"/>
                  <a:pt x="65727" y="193869"/>
                  <a:pt x="55275" y="202677"/>
                </a:cubicBezTo>
                <a:close/>
                <a:moveTo>
                  <a:pt x="147401" y="184252"/>
                </a:moveTo>
                <a:lnTo>
                  <a:pt x="110551" y="147401"/>
                </a:lnTo>
                <a:cubicBezTo>
                  <a:pt x="117088" y="130443"/>
                  <a:pt x="125318" y="114188"/>
                  <a:pt x="135118" y="98882"/>
                </a:cubicBezTo>
                <a:cubicBezTo>
                  <a:pt x="164219" y="52351"/>
                  <a:pt x="215356" y="24226"/>
                  <a:pt x="270236" y="24567"/>
                </a:cubicBezTo>
                <a:cubicBezTo>
                  <a:pt x="270236" y="57978"/>
                  <a:pt x="260655" y="116693"/>
                  <a:pt x="196535" y="159685"/>
                </a:cubicBezTo>
                <a:cubicBezTo>
                  <a:pt x="181020" y="169496"/>
                  <a:pt x="164559" y="177726"/>
                  <a:pt x="147401" y="184252"/>
                </a:cubicBezTo>
                <a:close/>
                <a:moveTo>
                  <a:pt x="110551" y="147401"/>
                </a:moveTo>
                <a:lnTo>
                  <a:pt x="49134" y="147401"/>
                </a:lnTo>
                <a:cubicBezTo>
                  <a:pt x="49134" y="147401"/>
                  <a:pt x="55890" y="110182"/>
                  <a:pt x="73701" y="98268"/>
                </a:cubicBezTo>
                <a:cubicBezTo>
                  <a:pt x="93600" y="85001"/>
                  <a:pt x="135118" y="98268"/>
                  <a:pt x="135118" y="98268"/>
                </a:cubicBezTo>
                <a:moveTo>
                  <a:pt x="147401" y="184252"/>
                </a:moveTo>
                <a:lnTo>
                  <a:pt x="147401" y="245669"/>
                </a:lnTo>
                <a:cubicBezTo>
                  <a:pt x="147401" y="245669"/>
                  <a:pt x="184620" y="238913"/>
                  <a:pt x="196535" y="221102"/>
                </a:cubicBezTo>
                <a:cubicBezTo>
                  <a:pt x="209801" y="201203"/>
                  <a:pt x="196535" y="159685"/>
                  <a:pt x="196535" y="159685"/>
                </a:cubicBezTo>
              </a:path>
            </a:pathLst>
          </a:custGeom>
          <a:noFill/>
          <a:ln w="24567" cap="rnd">
            <a:solidFill>
              <a:srgbClr val="FFFFFF"/>
            </a:solidFill>
            <a:prstDash val="solid"/>
            <a:round/>
          </a:ln>
        </p:spPr>
      </p:sp>
      <p:sp>
        <p:nvSpPr>
          <p:cNvPr id="22" name="Text 20"/>
          <p:cNvSpPr/>
          <p:nvPr/>
        </p:nvSpPr>
        <p:spPr>
          <a:xfrm>
            <a:off x="7150608" y="4530852"/>
            <a:ext cx="429127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pipeline publica, pero no despliega solo</a:t>
            </a:r>
            <a:endParaRPr lang="en-US" sz="1600" dirty="0"/>
          </a:p>
        </p:txBody>
      </p:sp>
      <p:sp>
        <p:nvSpPr>
          <p:cNvPr id="23" name="Text 21"/>
          <p:cNvSpPr/>
          <p:nvPr/>
        </p:nvSpPr>
        <p:spPr>
          <a:xfrm>
            <a:off x="612648" y="5495544"/>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Guardar el aviso en la base, junto con su número de evento</a:t>
            </a:r>
            <a:endParaRPr lang="en-US" sz="950" dirty="0"/>
          </a:p>
        </p:txBody>
      </p:sp>
      <p:sp>
        <p:nvSpPr>
          <p:cNvPr id="24" name="Text 22"/>
          <p:cNvSpPr/>
          <p:nvPr/>
        </p:nvSpPr>
        <p:spPr>
          <a:xfrm>
            <a:off x="5221224" y="5495544"/>
            <a:ext cx="3955694"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Autenticación y contraseñas fuera del repositorio</a:t>
            </a:r>
            <a:endParaRPr lang="en-US" sz="950" dirty="0"/>
          </a:p>
        </p:txBody>
      </p:sp>
      <p:sp>
        <p:nvSpPr>
          <p:cNvPr id="25" name="Shape 23"/>
          <p:cNvSpPr/>
          <p:nvPr/>
        </p:nvSpPr>
        <p:spPr>
          <a:xfrm>
            <a:off x="0" y="5961888"/>
            <a:ext cx="12191695" cy="475488"/>
          </a:xfrm>
          <a:prstGeom prst="rect">
            <a:avLst/>
          </a:prstGeom>
          <a:solidFill>
            <a:srgbClr val="0B2350"/>
          </a:solidFill>
          <a:ln w="12700">
            <a:solidFill>
              <a:srgbClr val="0B2350"/>
            </a:solidFill>
            <a:prstDash val="solid"/>
          </a:ln>
        </p:spPr>
      </p:sp>
      <p:sp>
        <p:nvSpPr>
          <p:cNvPr id="2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27" name="Text 2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Siguientes pasos: guardar el aviso en la base, agregar autenticación y sacar las contraseñas del repositorio.</a:t>
            </a:r>
            <a:endParaRPr lang="en-US" sz="14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138160" y="-1280160"/>
            <a:ext cx="5669280" cy="5669280"/>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Icono sparkles"/>
          <p:cNvSpPr/>
          <p:nvPr/>
        </p:nvSpPr>
        <p:spPr>
          <a:xfrm>
            <a:off x="9692640" y="822960"/>
            <a:ext cx="1737360" cy="1737360"/>
          </a:xfrm>
          <a:custGeom>
            <a:avLst/>
            <a:gdLst/>
            <a:ahLst/>
            <a:cxnLst/>
            <a:rect l="l" t="t" r="r" b="b"/>
            <a:pathLst>
              <a:path w="1737360" h="1737360">
                <a:moveTo>
                  <a:pt x="719339" y="1122045"/>
                </a:moveTo>
                <a:cubicBezTo>
                  <a:pt x="706177" y="1071024"/>
                  <a:pt x="666336" y="1031183"/>
                  <a:pt x="615315" y="1018021"/>
                </a:cubicBezTo>
                <a:lnTo>
                  <a:pt x="171202" y="903500"/>
                </a:lnTo>
                <a:cubicBezTo>
                  <a:pt x="155634" y="899081"/>
                  <a:pt x="144890" y="884864"/>
                  <a:pt x="144890" y="868680"/>
                </a:cubicBezTo>
                <a:cubicBezTo>
                  <a:pt x="144890" y="852496"/>
                  <a:pt x="155634" y="838279"/>
                  <a:pt x="171202" y="833860"/>
                </a:cubicBezTo>
                <a:lnTo>
                  <a:pt x="615315" y="719267"/>
                </a:lnTo>
                <a:cubicBezTo>
                  <a:pt x="666317" y="706118"/>
                  <a:pt x="706154" y="666308"/>
                  <a:pt x="719339" y="615315"/>
                </a:cubicBezTo>
                <a:lnTo>
                  <a:pt x="833860" y="171202"/>
                </a:lnTo>
                <a:cubicBezTo>
                  <a:pt x="838235" y="155570"/>
                  <a:pt x="852483" y="144762"/>
                  <a:pt x="868716" y="144762"/>
                </a:cubicBezTo>
                <a:cubicBezTo>
                  <a:pt x="884949" y="144762"/>
                  <a:pt x="899197" y="155570"/>
                  <a:pt x="903572" y="171202"/>
                </a:cubicBezTo>
                <a:lnTo>
                  <a:pt x="1018021" y="615315"/>
                </a:lnTo>
                <a:cubicBezTo>
                  <a:pt x="1031183" y="666336"/>
                  <a:pt x="1071024" y="706177"/>
                  <a:pt x="1122045" y="719339"/>
                </a:cubicBezTo>
                <a:lnTo>
                  <a:pt x="1566158" y="833788"/>
                </a:lnTo>
                <a:cubicBezTo>
                  <a:pt x="1581855" y="838118"/>
                  <a:pt x="1592728" y="852397"/>
                  <a:pt x="1592728" y="868680"/>
                </a:cubicBezTo>
                <a:cubicBezTo>
                  <a:pt x="1592728" y="884963"/>
                  <a:pt x="1581855" y="899242"/>
                  <a:pt x="1566158" y="903572"/>
                </a:cubicBezTo>
                <a:lnTo>
                  <a:pt x="1122045" y="1018021"/>
                </a:lnTo>
                <a:cubicBezTo>
                  <a:pt x="1071024" y="1031183"/>
                  <a:pt x="1031183" y="1071024"/>
                  <a:pt x="1018021" y="1122045"/>
                </a:cubicBezTo>
                <a:lnTo>
                  <a:pt x="903500" y="1566158"/>
                </a:lnTo>
                <a:cubicBezTo>
                  <a:pt x="899125" y="1581790"/>
                  <a:pt x="884877" y="1592598"/>
                  <a:pt x="868644" y="1592598"/>
                </a:cubicBezTo>
                <a:cubicBezTo>
                  <a:pt x="852411" y="1592598"/>
                  <a:pt x="838163" y="1581790"/>
                  <a:pt x="833788" y="1566158"/>
                </a:cubicBezTo>
                <a:close/>
                <a:moveTo>
                  <a:pt x="1447800" y="217170"/>
                </a:moveTo>
                <a:lnTo>
                  <a:pt x="1447800" y="506730"/>
                </a:lnTo>
                <a:moveTo>
                  <a:pt x="1592580" y="361950"/>
                </a:moveTo>
                <a:lnTo>
                  <a:pt x="1303020" y="361950"/>
                </a:lnTo>
                <a:moveTo>
                  <a:pt x="289560" y="1230630"/>
                </a:moveTo>
                <a:lnTo>
                  <a:pt x="289560" y="1375410"/>
                </a:lnTo>
                <a:moveTo>
                  <a:pt x="361950" y="1303020"/>
                </a:moveTo>
                <a:lnTo>
                  <a:pt x="217170" y="1303020"/>
                </a:lnTo>
              </a:path>
            </a:pathLst>
          </a:custGeom>
          <a:noFill/>
          <a:ln w="90487" cap="rnd">
            <a:solidFill>
              <a:srgbClr val="2BA6CB"/>
            </a:solidFill>
            <a:prstDash val="solid"/>
            <a:roun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2103120"/>
            <a:ext cx="82296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9" name="Text 7"/>
          <p:cNvSpPr/>
          <p:nvPr/>
        </p:nvSpPr>
        <p:spPr>
          <a:xfrm>
            <a:off x="758952" y="3474720"/>
            <a:ext cx="82296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
        <p:nvSpPr>
          <p:cNvPr id="10" name="Text 8"/>
          <p:cNvSpPr/>
          <p:nvPr/>
        </p:nvSpPr>
        <p:spPr>
          <a:xfrm>
            <a:off x="758952"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P1</a:t>
            </a:r>
            <a:endParaRPr lang="en-US" sz="1300" dirty="0"/>
          </a:p>
        </p:txBody>
      </p:sp>
      <p:sp>
        <p:nvSpPr>
          <p:cNvPr id="11" name="Text 9"/>
          <p:cNvSpPr/>
          <p:nvPr/>
        </p:nvSpPr>
        <p:spPr>
          <a:xfrm>
            <a:off x="649224"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
        <p:nvSpPr>
          <p:cNvPr id="12" name="Text 10"/>
          <p:cNvSpPr/>
          <p:nvPr/>
        </p:nvSpPr>
        <p:spPr>
          <a:xfrm>
            <a:off x="1545336"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P2</a:t>
            </a:r>
            <a:endParaRPr lang="en-US" sz="1300" dirty="0"/>
          </a:p>
        </p:txBody>
      </p:sp>
      <p:sp>
        <p:nvSpPr>
          <p:cNvPr id="13" name="Text 11"/>
          <p:cNvSpPr/>
          <p:nvPr/>
        </p:nvSpPr>
        <p:spPr>
          <a:xfrm>
            <a:off x="1435608"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
        <p:nvSpPr>
          <p:cNvPr id="14" name="Text 12"/>
          <p:cNvSpPr/>
          <p:nvPr/>
        </p:nvSpPr>
        <p:spPr>
          <a:xfrm>
            <a:off x="2331720"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P3</a:t>
            </a:r>
            <a:endParaRPr lang="en-US" sz="1300" dirty="0"/>
          </a:p>
        </p:txBody>
      </p:sp>
      <p:sp>
        <p:nvSpPr>
          <p:cNvPr id="15" name="Text 13"/>
          <p:cNvSpPr/>
          <p:nvPr/>
        </p:nvSpPr>
        <p:spPr>
          <a:xfrm>
            <a:off x="2221992"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
        <p:nvSpPr>
          <p:cNvPr id="16" name="Text 14"/>
          <p:cNvSpPr/>
          <p:nvPr/>
        </p:nvSpPr>
        <p:spPr>
          <a:xfrm>
            <a:off x="3118104" y="5074920"/>
            <a:ext cx="603504" cy="603504"/>
          </a:xfrm>
          <a:prstGeom prst="ellipse">
            <a:avLst/>
          </a:prstGeom>
          <a:solidFill>
            <a:srgbClr val="7A63E0"/>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P4</a:t>
            </a:r>
            <a:endParaRPr lang="en-US" sz="1300" dirty="0"/>
          </a:p>
        </p:txBody>
      </p:sp>
      <p:sp>
        <p:nvSpPr>
          <p:cNvPr id="17" name="Text 15"/>
          <p:cNvSpPr/>
          <p:nvPr/>
        </p:nvSpPr>
        <p:spPr>
          <a:xfrm>
            <a:off x="3008376"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BD</a:t>
            </a:r>
            <a:endParaRPr lang="en-US" sz="850" dirty="0"/>
          </a:p>
        </p:txBody>
      </p:sp>
      <p:sp>
        <p:nvSpPr>
          <p:cNvPr id="18" name="Text 16"/>
          <p:cNvSpPr/>
          <p:nvPr/>
        </p:nvSpPr>
        <p:spPr>
          <a:xfrm>
            <a:off x="3904488" y="5074920"/>
            <a:ext cx="603504" cy="603504"/>
          </a:xfrm>
          <a:prstGeom prst="ellipse">
            <a:avLst/>
          </a:prstGeom>
          <a:solidFill>
            <a:srgbClr val="1F9A6E"/>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P5</a:t>
            </a:r>
            <a:endParaRPr lang="en-US" sz="1300" dirty="0"/>
          </a:p>
        </p:txBody>
      </p:sp>
      <p:sp>
        <p:nvSpPr>
          <p:cNvPr id="19" name="Text 17"/>
          <p:cNvSpPr/>
          <p:nvPr/>
        </p:nvSpPr>
        <p:spPr>
          <a:xfrm>
            <a:off x="3794760"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DevOps</a:t>
            </a:r>
            <a:endParaRPr lang="en-US" sz="850" dirty="0"/>
          </a:p>
        </p:txBody>
      </p:sp>
      <p:sp>
        <p:nvSpPr>
          <p:cNvPr id="20" name="Text 18"/>
          <p:cNvSpPr/>
          <p:nvPr/>
        </p:nvSpPr>
        <p:spPr>
          <a:xfrm>
            <a:off x="4690872" y="5074920"/>
            <a:ext cx="603504" cy="603504"/>
          </a:xfrm>
          <a:prstGeom prst="ellipse">
            <a:avLst/>
          </a:prstGeom>
          <a:solidFill>
            <a:srgbClr val="1F9A6E"/>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P6</a:t>
            </a:r>
            <a:endParaRPr lang="en-US" sz="1300" dirty="0"/>
          </a:p>
        </p:txBody>
      </p:sp>
      <p:sp>
        <p:nvSpPr>
          <p:cNvPr id="21" name="Text 19"/>
          <p:cNvSpPr/>
          <p:nvPr/>
        </p:nvSpPr>
        <p:spPr>
          <a:xfrm>
            <a:off x="4581144"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DevOps</a:t>
            </a:r>
            <a:endParaRPr lang="en-US" sz="850" dirty="0"/>
          </a:p>
        </p:txBody>
      </p:sp>
      <p:sp>
        <p:nvSpPr>
          <p:cNvPr id="22" name="Text 20"/>
          <p:cNvSpPr/>
          <p:nvPr/>
        </p:nvSpPr>
        <p:spPr>
          <a:xfrm>
            <a:off x="5477256" y="5074920"/>
            <a:ext cx="603504" cy="603504"/>
          </a:xfrm>
          <a:prstGeom prst="ellipse">
            <a:avLst/>
          </a:prstGeom>
          <a:solidFill>
            <a:srgbClr val="3B74C4"/>
          </a:solidFill>
          <a:ln w="25400">
            <a:solidFill>
              <a:srgbClr val="FFFFFF"/>
            </a:solid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P7</a:t>
            </a:r>
            <a:endParaRPr lang="en-US" sz="1300" dirty="0"/>
          </a:p>
        </p:txBody>
      </p:sp>
      <p:sp>
        <p:nvSpPr>
          <p:cNvPr id="23" name="Text 21"/>
          <p:cNvSpPr/>
          <p:nvPr/>
        </p:nvSpPr>
        <p:spPr>
          <a:xfrm>
            <a:off x="5367528" y="5724144"/>
            <a:ext cx="822960" cy="219456"/>
          </a:xfrm>
          <a:prstGeom prst="rect">
            <a:avLst/>
          </a:prstGeom>
          <a:noFill/>
          <a:ln/>
        </p:spPr>
        <p:txBody>
          <a:bodyPr wrap="square" lIns="0" tIns="0" rIns="0" bIns="0" rtlCol="0" anchor="ctr"/>
          <a:lstStyle/>
          <a:p>
            <a:pPr algn="ctr" indent="0" marL="0">
              <a:buNone/>
            </a:pPr>
            <a:r>
              <a:rPr lang="en-US" sz="850" dirty="0">
                <a:solidFill>
                  <a:srgbClr val="9FBEE0"/>
                </a:solidFill>
                <a:latin typeface="Segoe UI" pitchFamily="34" charset="0"/>
                <a:ea typeface="Segoe UI" pitchFamily="34" charset="-122"/>
                <a:cs typeface="Segoe UI" pitchFamily="34" charset="-120"/>
              </a:rPr>
              <a:t>Desarrollo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139</Slides>
  <Notes>139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139</vt:i4>
      </vt:variant>
    </vt:vector>
  </HeadingPairs>
  <TitlesOfParts>
    <vt:vector size="1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técnico</dc:title>
  <dc:subject>Proyecto final de Upskilling Backend Java</dc:subject>
  <dc:creator>Equipo arka-litos</dc:creator>
  <cp:lastModifiedBy>Equipo arka-litos</cp:lastModifiedBy>
  <cp:revision>1</cp:revision>
  <dcterms:created xsi:type="dcterms:W3CDTF">2026-10-27T11:23:38Z</dcterms:created>
  <dcterms:modified xsi:type="dcterms:W3CDTF">2026-10-27T11:23:38Z</dcterms:modified>
</cp:coreProperties>
</file>