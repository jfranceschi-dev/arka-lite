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Orquestador
LO QUE SE LLEVA EL STAFF
En 40 minutos, prácticas que pueden aplicar en sus propios sistemas, no solo teoría.
QUÉ DECIR (▶ CLIC = hacer clic)
“Buenos días a todos. Somos el equipo arka-litos, del curso Upskilling Backend Java, y hoy les presentamos ARKA-Lite, nuestro proyecto final.”
“Somos un equipo de tres áreas, las mismas que tienen ustedes: desarrollo, base de datos e infraestructura, y cada parte la presenta quien la construyó. A mí, que vengo de desarrollo y conozco el negocio de punta a punta, me toca abrir, conectar las partes y cerrar.”
“El título lo resume: empezamos escribiendo un endpoint, una sola operación en Java, y terminamos con un sistema completo corriendo en un clúster de Kubernetes, con sus bases de datos, su pipeline y su monitoreo.”
“El equipo anterior ya les explicó los fundamentos y la arquitectura. Nosotros les vamos a contar el proyecto desde la práctica, con diagramas y una demostración en vivo, y nos vamos a enfocar en lo que les puede servir en su día a día: cómo se cuidan los datos, cómo se hablan los sistemas y cómo se despliega y se opera todo.”
QUÉ HACER (no se dice)
• Antes de empezar, abrir la UI (http://localhost:8088, o el puerto 8088 del Codespace) y comprobar que los dos servicios aparecen en verde. Guía del Codespace: docs/operaciones/codespaces.md.
• Tener abiertas en otras pestañas Grafana (http://localhost:3000) y la carpeta k8s/ del repositorio, por si preguntan.
• Cada diagrama se arma con clics: en el texto, ▶ CLIC marca el momento de hacer clic.
SI HAY TIEMPO, SE PUEDE AGREGAR
“ARKA-Lite nació como el laboratorio del curso: cada tema que veíamos lo aplicábamos al mismo sistema. Por eso creció por capas: primero un endpoint, después la base de datos, la comunicación entre servicios, los contenedores, el pipeline y la observabilidad.”
“Todo lo que van a ver está en un solo repositorio, con su documentación, y se levanta con un solo comando. Si a alguien le interesa revisarlo después, con gusto se lo compartimos.”
“Trabajamos como trabajaría un equipo real: cada cambio en una rama, revisado por otra persona y probado por el pipeline antes de entrar. Mezclar áreas nos obligó a ponernos de acuerdo en contratos claros: qué expone cada servicio, qué guarda cada base y cómo se despliega cada pieza.”
PARA PASAR
“Este es el recorrido.”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Orquestador
LO QUE SE LLEVA EL STAFF
Saber desde el inicio dónde vamos a profundizar y qué se van a llevar.
QUÉ DECIR (▶ CLIC = hacer clic)
“Todos los equipos presentamos las mismas secciones, pero cada uno profundiza en algunas para no repetirnos. El equipo anterior se enfocó en los fundamentos y en la arquitectura hexagonal, así que esas dos partes las vamos a ver rápido, en vista general.”
“▶ CLIC Donde vamos a fondo es en tres temas que tocan directo el trabajo de ustedes: la base de datos, cómo se comunican los servicios sin perder información, y DevOps, con Docker, Kubernetes y el pipeline. ▶ CLIC Después, una mirada general a la observabilidad, ▶ CLIC y cerramos con una demostración en vivo: vamos a tumbar un servicio a propósito para que vean cómo se comporta el sistema.”
“Al final de cada parte les dejamos lo que aprendimos y cómo se puede aplicar en cualquier proyecto, también en los que usan procedimientos almacenados.”
SI HAY TIEMPO, SE PUEDE AGREGAR
“Las partes generales son cortas a propósito: el equipo anterior ya las explicó. El tiempo lo dedicamos a lo que más valor les deja: los datos, la comunicación entre sistemas y la operación.”
“Al final juntamos lo que pueden aplicar desde mañana, aunque sus sistemas usen procedimientos almacenados.”
PARA PASAR
“Empecemos por los fundamentos, y por lo primero: el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Orquestador
LO QUE SE LLEVA EL STAFF
Pensar primero en el qué y después en el cómo: las reglas claras hacen el código simple.
QUÉ DECIR (▶ CLIC = hacer clic)
“Antes de entrar a la tecnología, el aprendizaje más importante de los fundamentos: primero pensamos en el qué y después en el cómo. ¿Qué tiene que pasar, quién lo hace y qué no se puede permitir? Este es el negocio, en una lámina. Alguien registra una solicitud, por ejemplo una incidencia o un pedido de cambio: qué necesita y de qué tipo.”
“▶ CLIC Cuando está lista, la envía. ▶ CLIC En ese momento, el sistema le avisa a quien debe atenderla. ▶ CLIC Y esa persona la aprueba o la rechaza: es la decisión final.”
“▶ CLIC Igual de importante es lo que no se permite: enviar dos veces la misma solicitud, o aprobar una que todavía nadie ha enviado. El sistema no lo hace y explica por qué. Esas son las reglas del negocio, y con ellas claras, el código salió simple: un servicio para las solicitudes y otro para los avisos.”
SI HAY TIEMPO, SE PUEDE AGREGAR
“Antes de escribir una línea de código nos hicimos tres preguntas: qué tiene que pasar, quién hace cada paso y qué no se puede permitir. Las respuestas se volvieron las reglas del sistema.”
“Por dentro, esos pasos son cuatro estados: borrador, enviada, aprobada y rechazada. La base de datos también los cuida: la columna estado solo acepta esos cuatro valores.”
“Al arrancar, el sistema siempre registra dos solicitudes de ejemplo: INC-001, una incidencia en borrador, y CAM-002, un cambio que se envía. El pipeline usa CAM-002 para comprobar que el servicio arrancó de verdad.”
SI PREGUNTAN
¿Por qué los avisos van en otro servicio?
RESPUESTA CORTA
Porque cambian por motivos distintos, y así el trámite sigue funcionando aunque el servicio de avisos esté caído.
PARA PASAR
“Con el qué claro, el cómo: código que se pueda cambiar sin miedo. Le paso la palabra a mi compañero.”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2
LO QUE SE LLEVA EL STAFF
Cuando cambia una regla, se toca un solo lugar y una prueba confirma que nada se rompió.
QUÉ DECIR (▶ CLIC = hacer clic)
“Gracias. Con el qué claro, viene el cómo. El equipo anterior ya cubrió los fundamentos, así que nos quedamos con seis prácticas que nos sirvieron y que se pueden usar en cualquier lenguaje, sea Java, C#, Python o PL/SQL. Primera: cada pieza hace una sola tarea; la que recibe la petición no decide, y la que decide no guarda.”
“▶ CLIC Segunda: las piezas se conectan desde afuera, así se pueden cambiar o probar por separado. ▶ CLIC Tercera: las reglas del negocio viven en un solo lugar, no repetidas en la pantalla y en la base. ▶ CLIC Cuarta: los errores responden siempre igual: un 400 si faltan datos, un 404 si algo no existe, un 409 si la regla no lo permite.”
“▶ CLIC Quinta: los nombres son los del negocio, así el código se lee como el proceso. ▶ CLIC Y sexta: cada regla tiene una prueba automática que avisa si un cambio rompió algo. El resultado: cuando cambia una regla, se toca un solo lugar.”
SI HAY TIEMPO, SE PUEDE AGREGAR
“Un ejemplo concreto: el controlador de solicitudes no decide nada; solo convierte el JSON y llama al servicio. Si mañana cambia la regla de envío, se toca la clase Solicitud y su prueba, nada más.”
“Lo de las piezas que se conectan desde afuera tiene un nombre: inyección de dependencias. En ARKA-Lite todo llega por el constructor, y por eso en las pruebas cambiamos la base real por una en memoria sin tocar el negocio.”
SI PREGUNTAN
¿Esto no hace el código más largo?
RESPUESTA CORTA
Un poco más de piezas, pero cada una es corta y se entiende sola. El costo se recupera en el primer cambio.
PARA PASAR
“Y como somos varios trabajando sobre el mismo código, también necesitamos orden.”
PARA LEER MÁS
docs/desarrollo/flujo-de-trabajo.md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servicio-solicitudes/…/dominio/ServicioDeSolicitudes.java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2
LO QUE SE LLEVA EL STAFF
Nada llega a la rama principal sin revisión, pruebas y documentación.
QUÉ DECIR (▶ CLIC = hacer clic)
“Muy rápido, cómo trabajamos en equipo. Cada tarea se hace en una rama corta, y cada commit dice qué cambió: una funcionalidad, una prueba, la documentación.”
“▶ CLIC El cambio entra a la rama principal solo por un Pull Request: otra persona lo revisa, las pruebas tienen que pasar y la documentación se actualiza en ese mismo cambio. La documentación de la API, además, la genera Swagger desde el código, así que nunca queda vieja.”
SI HAY TIEMPO, SE PUEDE AGREGAR
“Usamos un formato común para los mensajes de commit: el tipo, dos puntos y qué hace el cambio, por ejemplo: fix: impedir el envío de una solicitud aprobada. Con eso, el historial se lee como una bitácora.”
“Nadie sube directo a main, ni siquiera quien orquesta. Eso nos protegió más de una vez de romper algo que otro compañero estaba usando.”
PARA PASAR
“Esto es lo que nos llevamos de los fundamentos.”
PARA LEER MÁS
docs/desarrollo/git.md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2
LO QUE SE LLEVA EL STAFF
Cuatro hábitos que bajan el costo de mantener cualquier sistema.
QUÉ DECIR (▶ CLIC = hacer clic)
“Lo que nos llevamos a cualquier proyecto. ▶ CLIC Primero el qué, después el cómo: con las reglas del negocio claras, la tecnología se elige mejor y el código sale más simple. ▶ CLIC Separar responsabilidades se paga desde el primer cambio.”
“▶ CLIC Las reglas no deben depender de la herramienta: si mañana cambia la base o el framework, las reglas siguen iguales. ▶ CLIC Y ningún cambio entra sin revisión, pruebas y documentación.”
SI HAY TIEMPO, SE PUEDE AGREGAR
“Si tuviéramos que elegir una sola práctica para empezar en un sistema existente, sería poner las reglas del negocio en un solo lugar con su prueba. Es la que más rápido devuelve la inversión.”
PARA PASAR
“Con esa base, veamos el sistema completo desde arriba.”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Cada capa se puede cambiar sin romper las otras.
QUÉ DECIR (▶ CLIC = hacer clic)
“Gracias. ARKA-Lite no es una aplicación grande: son piezas pequeñas, cada una con una responsabilidad. Arriba está la experiencia: la persona usa la interfaz, y la interfaz no guarda nada, solo les pasa las peticiones a los servicios.”
“▶ CLIC En el medio, los dos microservicios: solicitudes lleva el trámite y sus estados; notificaciones crea los avisos. ▶ CLIC Debajo, cada uno con su propia base PostgreSQL; ninguno lee la base del otro. ▶ CLIC Y abajo, la plataforma: dónde corre, cómo se prueba cada cambio y dónde se ven los logs.”
SI HAY TIEMPO, SE PUEDE AGREGAR
“La interfaz es delgada a propósito: no guarda nada ni toma decisiones. Si mañana se cambia por otra, los servicios no se enteran.”
“La plataforma es la misma para los dos servicios: el mismo Compose, el mismo pipeline y el mismo lugar para los logs. Eso baja mucho el costo de tener dos servicios en lugar de uno.”
SI PREGUNTAN
¿Por qué no comparten una sola base de datos?
RESPUESTA CORTA
Para que cada servicio sea dueño de sus datos y pueda cambiar sin romper al otro.
PARA PASAR
“Ahora veamos cómo trabajan juntas esas piezas en la práctica.”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Los sistemas se comunican con mensajes claros, no compartiendo tablas.
QUÉ DECIR (▶ CLIC = hacer clic)
“Ahora, cómo trabajan juntas en la práctica. Sigamos los números. ▶ CLIC Uno: la persona usa la interfaz. ▶ CLIC Dos: cuando crea, envía o decide una solicitud, la interfaz se lo pide al servicio de solicitudes. ▶ CLIC Tres: solicitudes lo guarda en su propia base.”
“▶ CLIC Cuatro, el paso más importante: cuando una solicitud se envía, solicitudes le avisa a notificaciones. Fíjense en que esa flecha no es una pieza del sistema: es un dato que viaja, un mensaje pequeño con el número del evento, la solicitud y su tipo.”
“▶ CLIC Cinco: notificaciones crea el aviso y anota que ya recibió ese evento. ▶ CLIC Seis: la interfaz le consulta a notificaciones para mostrar los avisos.”
“▶ CLIC Y lo que no hay también dice mucho: ninguna flecha une las dos bases. Si un servicio necesita algo del otro, se lo pide; nunca entra a su base.”
SI HAY TIEMPO, SE PUEDE AGREGAR
“El mensaje que viaja entre servicios lleva solo tres datos: el número del evento, el identificador de la solicitud y su tipo. Mientras más pequeño el mensaje, más fácil es que los dos lados se pongan de acuerdo.”
“Ese contrato está copiado en los dos servicios. Si un día cambia, se cambia en los dos al mismo tiempo: es lo único que comparten.”
SI PREGUNTAN
¿Qué pasa si notificaciones está caído en el paso cuatro?
RESPUESTA CORTA
Solicitudes sigue funcionando y el aviso espera guardado. Lo vemos en la parte de interconexión y en la demostración.
PARA PASAR
“¿Y cómo está ordenado cada servicio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QUÉ DECIR (▶ CLIC = hacer clic)
“Para el equipo técnico, el mismo sistema con todo el detalle. Los números de las flechas siguen el orden de los pasos de abajo: la petición entra por nginx, el dominio guarda la solicitud y el evento en una transacción, el relevador lo entrega y notificaciones lo consume de forma idempotente.”
“Abajo, la entrega continua y la observabilidad: los logs de todos los contenedores llegan a Grafana con su traceId.”
PARA PASAR
“Veamos cómo se organiza el código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Cambiar la base o la forma de avisar sin tocar las reglas del negocio.
QUÉ DECIR (▶ CLIC = hacer clic)
“Como explicó el equipo anterior, la arquitectura hexagonal es una forma de ordenar el código por dentro. No cambia cómo se despliega: por fuera, cada servicio sigue siendo una aplicación en su contenedor. Al centro van las reglas del negocio y los contratos que necesitan, como guardar una solicitud o avisar que se envió.”
“▶ CLIC Por un lado entra la web. ▶ CLIC Por el otro salen la base de datos y las llamadas a otros servicios, conectadas como enchufes. Fíjense en la última: una versión en memoria que reemplaza a la base en las pruebas. Gracias a eso probamos todas las reglas sin levantar PostgreSQL.”
SI HAY TIEMPO, SE PUEDE AGREGAR
“En solicitudes hay tres contratos hacia afuera: guardar solicitudes, anotar eventos y publicarlos. Cada uno puede tener más de una implementación, y Spring usa la que está marcada como principal.”
“Dejamos a propósito implementaciones alternativas, por ejemplo un publicador simple sin reintentos, para mostrar que se puede cambiar una por otra sin tocar las reglas.”
SI PREGUNTAN
¿Esto se parece a llamar un procedimiento almacenado?
RESPUESTA CORTA
En que quien llama solo conoce el nombre y los parámetros, no cómo está hecho por dentro. La diferencia es que aquí el negocio define el contrato y la base se adapta a él.
PARA PASAR
“Esto es lo que nos dejó la arquitectura.”
PARA LEER MÁS
docs/arquitectura/componentes-java.md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servicio-solicitudes/…/config/ConfiguracionDominio.java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QUÉ DECIR (▶ CLIC = hacer clic)
“Separar no es gratis: agrega red entre servicios, una base por servicio y fallos parciales, cuando uno está arriba y el otro caído. Conviene un monolito cuando las partes cambian juntas y las mantiene un equipo pequeño.”
“▶ CLIC Conviene separar cuando las responsabilidades son distintas. En ARKA-Lite el trámite y los avisos cambian por motivos distintos, así que los separamos y los unimos con un contrato: el evento SolicitudEnviada, copiado en los dos proyectos.”
PARA PASAR
“Esto es lo que aprendimos de la 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servicio-*/…/eventos/SolicitudEnviada.java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Sistemas que cambian por separado, unidos por acuerdos claros.
QUÉ DECIR (▶ CLIC = hacer clic)
“Cuatro aprendizajes de arquitectura. ▶ CLIC Cada servicio es dueño de sus datos. ▶ CLIC Entre servicios no se comparten tablas, se comparten mensajes.”
“▶ CLIC Hexagonal ordena el código por dentro, pero no cambia el despliegue. ▶ CLIC Y separar en microservicios tiene un costo real, así que se hace cuando el negocio lo justifica, no por moda.”
SI HAY TIEMPO, SE PUEDE AGREGAR
“Lo más difícil de los microservicios no fue el código, fueron las fronteras: decidir qué dato es de quién. Una vez claro eso, lo demás se ordenó solo.”
PARA PASAR
“Y aquí empieza la parte en la que vamos a fondo: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Cada base cambia a su ritmo, sin coordinar despliegues con otros equipos.
QUÉ DECIR (▶ CLIC = hacer clic)
“Gracias. Como les contó mi compañero de arquitectura, el sistema tiene dos bases de datos, una para cada microservicio: db-solicitudes y db-notificaciones. ▶ CLIC Las dos están montadas en PostgreSQL, versión diecisiete.”
“¿Por qué dos y no una? Porque cada servicio es dueño de sus datos. Solicitudes guarda las solicitudes y los avisos que tiene pendientes; notificaciones guarda qué avisos ya recibió. Si mañana una cambia su estructura, la otra ni se entera.”
“▶ CLIC Eso tiene una consecuencia que para quienes trabajamos con bases de datos pesa mucho: no hay ningún JOIN entre las dos bases, ni llaves foráneas que crucen. Si un servicio necesita algo del otro, se lo pregunta por HTTP.”
“▶ CLIC Y cada base corre en su propio contenedor. En Kubernetes, además, tiene su disco persistente: los datos sobreviven aunque el contenedor se reinicie.”
SI HAY TIEMPO, SE PUEDE AGREGAR
“En nuestra computadora, la base de notificaciones se publica en el puerto 5433 para consultarla con cualquier herramienta; la de solicitudes solo se ve dentro de la red de Docker. Lo que no se publica, no se alcanza desde afuera.”
“En Kubernetes, cada base tiene su disco persistente: si el contenedor se reinicia, los datos siguen ahí. Solo se perderían si se borra el disco.”
SI PREGUNTAN
¿Y si necesito un reporte que junte datos de las dos?
RESPUESTA CORTA
Se arma fuera de los servicios, por ejemplo con una réplica o un proceso de reportes que lea de ambas. Lo que no se hace es que un servicio lea la base del otro.
SI PREGUNTAN
¿No es más difícil administrar dos bases?
RESPUESTA CORTA
Son dos bases pequeñas con una sola responsabilidad cada una. Se respaldan y se monitorean como cualquier PostgreSQL, y la caída de una no tumba a la otra.
PARA PASAR
“Veamos qué hay dentro de cada una.”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Un modelo pequeño, con reglas que también cuida la base: CHECK, llaves e índices.
QUÉ DECIR (▶ CLIC = hacer clic)
“Veamos qué hay adentro. En la base de solicitudes, la tabla solicitud guarda el trámite: su identificador como llave primaria, el tipo y el estado. Y el estado tiene un CHECK que solo admite los cuatro valores válidos. Aunque alguien escriba directo en la tabla, la base no acepta un estado inventado.”
“▶ CLIC Al lado está la tabla evento, que funciona como bandeja de salida: cada fila es un aviso que hay que entregar. Tiene una llave foránea a la solicitud, un número único de evento, que es un UUID, y una columna procesado: mientras está en falso, el aviso sigue pendiente.”
“▶ CLIC En la base de notificaciones hay una sola tabla importante: evento_procesado, la lista de eventos que ya se recibieron. Su llave primaria es justamente ese número de evento.”
“▶ CLIC Y fíjense en la flecha: lo único que pasa de una base a la otra es el evento_id, y no viaja por la base, viaja por HTTP. Esa es la frontera entre los dos servicios.”
SI HAY TIEMPO, SE PUEDE AGREGAR
“La tabla evento tiene un índice parcial: solo indexa las filas pendientes. Como el relevador busca pendientes cada cinco segundos, el índice se mantiene pequeño aunque la tabla acumule años de eventos ya entregados.”
“Las tablas se crean con un archivo schema.sql que corre en cada arranque y se puede ejecutar mil veces sin romper nada. También actualiza bases viejas, agregando lo que les falte.”
SI PREGUNTAN
¿Dónde se guarda el texto de cada aviso?
RESPUESTA CORTA
En este proyecto, en la memoria del servicio de notificaciones; en la base solo queda qué eventos se procesaron. En producción sería una tabla más.
SI PREGUNTAN
¿Por qué un UUID y no un número secuencial?
RESPUESTA CORTA
Porque lo genera la aplicación sin consultar a la base y no se repite entre servicios. Así el mismo número sirve para reintentar sin duplicar.
PARA PASAR
“Ahora, la gran diferencia con muchas aplicaciones que manejamos hoy: dónde vive la regla del negocio.”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QUÉ DECIR (▶ CLIC = hacer clic)
“No usamos Flyway ni Liquibase, así que nos pusimos una regla: el archivo schema.sql corre en cada arranque y todo lo que tiene es idempotente. ▶ CLIC Además, Hibernate valida que las entidades coincidan con las tablas; si no coinciden, el servicio no arranca.”
“▶ CLIC La base también cuida reglas con un CHECK, ▶ CLIC y un índice parcial indexa solo los eventos pendientes, que son los que el relevador busca cada cinco segundos.”
SI PREGUNTAN
¿Cuándo conviene pasar a Flyway o Liquibase?
RESPUESTA CORTA
Cuando haya muchos ambientes o cambios que no se puedan escribir de forma idempotente.
PARA PASAR
“Ahora, dónde vive la regla del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servicio-solicitudes/src/main/resources/schema.sql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Reglas que se prueban en segundos y una base que sigue cuidando los datos.
QUÉ DECIR (▶ CLIC = hacer clic)
“Esta es la gran diferencia con muchas de las aplicaciones que gestionamos hoy, y no es la base de datos: es dónde vive la regla del negocio. Arriba, el enfoque que conocemos: la persona pulsa enviar, la aplicación solo pasa parámetros con un EXEC, y el procedimiento almacenado decide y guarda. La regla vive en la base.”
“▶ CLIC Abajo, ARKA-Lite: la regla vive en el servicio Java, junto con su prueba. Cuando decide que sí, Hibernate, que es el ORM, escribe el UPDATE y el INSERT. La base sigue guardando y cuidando llaves, restricciones e índices. Lo único que se movió es la decisión.”
SI HAY TIEMPO, SE PUEDE AGREGAR
“No estamos diciendo que los procedimientos estén mal: son la herramienta correcta para procesos masivos y reportes. Lo que cambia es dónde ponemos las reglas que más cambian y que más necesitamos probar.”
“Una ventaja que no se ve a primera vista: con la regla en el código, cada cambio pasa por revisión, pruebas automáticas y pipeline, igual que cualquier otra línea del sistema.”
SI PREGUNTAN
¿Y el rendimiento? ¿El SQL que genera Hibernate es bueno?
RESPUESTA CORTA
Para guardar y buscar por llave, sí. Para consultas complejas se puede escribir SQL propio; además, los índices y las restricciones siguen siendo trabajo de la base.
SI PREGUNTAN
¿Hay que migrar todos los procedimientos?
RESPUESTA CORTA
No. Se puede empezar por las reglas que más cambian; los reportes y los procesos masivos pueden seguir en la base.
PARA PASAR
“Veámoslo con una regla real, escrita de las dos formas.”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La misma regla, más fácil de probar y de cambiar, sin que la base pierda su papel.
QUÉ DECIR (▶ CLIC = hacer clic)
“Tomemos una regla real del negocio: solo se puede enviar una solicitud que está en borrador. A la izquierda, cómo la escribiríamos hoy: un procedimiento que consulta el estado, lanza un error si no está en borrador y hace el UPDATE. La regla y el dato viven juntos en la base, y para probarla hace falta una base con datos.”
“▶ CLIC A la derecha, la misma regla en ARKA-Lite: el método enviar de la clase Solicitud. Si el estado no es borrador, lanza un error; si lo es, devuelve la solicitud enviada. No hay SQL: el UPDATE lo escribe Hibernate cuando el servicio guarda, siempre con parámetros.”
“¿Qué ganamos? Esa regla se prueba en milisegundos, sin base de datos, y si cambia, se cambia en un solo lugar junto con su prueba. ¿Qué no perdemos? La base sigue cuidando lo suyo: la llave primaria, el CHECK de los estados y los índices.”
SI HAY TIEMPO, SE PUEDE AGREGAR
“La prueba de esa regla es así de simple: se crea una solicitud ya enviada, se intenta enviarla otra vez y se verifica que el sistema lo rechaza. Corre en milisegundos y no necesita ninguna base.”
“Para probar lo mismo en el procedimiento habría que preparar datos en una base, ejecutarlo y revisar el resultado. Funciona, pero es más lento y más difícil de repetir en cada cambio.”
SI PREGUNTAN
¿Y si la regla necesita consultar muchos datos?
RESPUESTA CORTA
Para decidir, el servicio pide solo lo que necesita por llave. Si es un cálculo sobre millones de filas, ese trabajo puede seguir en la base, como una consulta o un procedimiento bien delimitado.
PARA PASAR
“Mi compañero de desarrollo les va a mostrar cómo hace Hibernate esa traducción.”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4 (8 personas) · Desarrollo 3 (7 personas)
LO QUE SE LLEVA EL STAFF
El SQL de todos los días sale solo y siempre con parámetros: menos código y menos riesgo de inyección.
QUÉ DECIR (▶ CLIC = hacer clic)
“Gracias. Esta es la traducción, lado a lado. A la izquierda, una clase Java: SolicitudEntity. Con la anotación arroba Entity le decimos a Hibernate que esta clase representa una tabla, y con arroba Table, cuál: la tabla solicitud. ▶ CLIC Cada campo de la clase corresponde a una columna, y arroba Id marca la llave primaria.”
“Con eso, Hibernate ya sabe todo. Abajo ven qué pasa cuando el código llama a un método. ▶ CLIC Guardar una solicitud nueva se convierte en un INSERT. ▶ CLIC Buscar por identificador, en un SELECT con su WHERE. ▶ CLIC Y guardar una que ya existe, por ejemplo cuando se envía, en un UPDATE.”
“Fíjense en los signos de interrogación: los valores viajan siempre como parámetros, nunca pegados al texto del SQL. Es lo mismo que hacemos con los parámetros de un procedimiento, y es lo que nos protege de la inyección SQL.”
“Nosotros no escribimos ninguna de esas consultas. Lo que sí cuidamos fue el diseño de las tablas, porque el ORM confía en que la base esté bien hecha.”
SI HAY TIEMPO, SE PUEDE AGREGAR
“El repositorio de Spring Data no tiene ni una consulta escrita: hereda de JpaRepository, y con eso ya trae guardar, buscar por llave, listar y borrar.”
“Cuando el código guarda una solicitud que ya existe, Hibernate primero la busca por su llave y después decide si hace un INSERT o un UPDATE. Por eso las llaves bien definidas importan: el ORM las usa todo el tiempo.”
SI PREGUNTAN
¿Se puede ver el SQL que genera?
RESPUESTA CORTA
Sí: con spring.jpa.show-sql=true se imprime en el log. Es lo primero que conviene activar para revisar el rendimiento.
SI PREGUNTAN
¿Y las consultas complejas?
RESPUESTA CORTA
Se pueden escribir a mano, en JPQL o en SQL nativo, con la anotación @Query. El ORM no lo impide.
PARA PASAR
“Ahora sigamos un dato completo, desde la pantalla hasta la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servicio-solicitudes/…/adaptadores/persistencia/SolicitudEntity.java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4 (8 personas) · Desarrollo 3 (7 personas)
LO QUE SE LLEVA EL STAFF
Cada pieza hace una sola traducción; si algo falla, se sabe en qué punto.
QUÉ DECIR (▶ CLIC = hacer clic)
“Ahora sigamos un dato de punta a punta. La persona llena el formulario y la pantalla manda un JSON: identificador SOL-100, tipo Consulta. ▶ CLIC El controlador recibe ese JSON y lo convierte en un objeto de Java.”
“▶ CLIC Ese objeto pasa por las reglas del negocio, que revisan, por ejemplo, que el identificador no exista. Hasta aquí no hay ni una línea de SQL. ▶ CLIC Cuando las reglas dicen que sí, Hibernate lo traduce a un INSERT con sus parámetros. ▶ CLIC El driver toma una conexión del pool, y PostgreSQL guarda la fila y confirma con un COMMIT.”
“Y de regreso, el mismo camino al revés: la fila se vuelve objeto, el objeto se vuelve JSON y la pantalla muestra la solicitud creada, con un 201.”
SI HAY TIEMPO, SE PUEDE AGREGAR
“Entre el controlador y la base hay dos objetos distintos a propósito: la Solicitud del negocio, que no sabe nada de tablas, y la SolicitudEntity, que es el reflejo de la tabla. Un adaptador traduce entre los dos.”
“Si el identificador ya existe, el viaje se corta en las reglas: no se toca la base y la persona recibe un 409 con el motivo.”
PARA PASAR
“Para hablar con la base, la aplicación necesita su dirección, su usuario y su clave. Le devuelvo la palabra a mi compañero de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Las claves fuera del código: rotarlas o cambiar de servidor no requiere recompilar.
QUÉ DECIR (▶ CLIC = hacer clic)
“Gracias. Esta es la pregunta que siempre nos hacen: ¿dónde está la cadena de conexión? Empecemos por el centro: el servicio, al arrancar, lee su archivo de configuración, y ese archivo no tiene la dirección ni la clave. Solo tiene marcadores: DB_URL, DB_USER y DB_PASSWORD.”
“¿Quién llena esos marcadores? El ambiente donde corre. ▶ CLIC En Docker Compose, las variables se definen para cada servicio en el archivo compose.yaml. ▶ CLIC En Kubernetes, la dirección y el usuario van en el Deployment, ▶ CLIC y la clave se guarda aparte, en un Secret: un objeto del clúster hecho para datos sensibles, que el contenedor recibe como variable al arrancar.”
“▶ CLIC Con esos valores, el servicio abre su pool de conexiones contra la base.”
“▶ CLIC ¿Y la imagen Docker? No lleva ni dirección ni clave. Es la misma imagen en desarrollo, en pruebas y en producción. Cambiar de servidor de base de datos o rotar una clave no obliga a recompilar ni a tocar el código.”
SI HAY TIEMPO, SE PUEDE AGREGAR
“Un detalle honesto: el archivo de configuración trae un valor por defecto para trabajar en la computadora de cada uno. En un ambiente real nunca se usa, porque ahí siempre llegan las variables.”
“En el pipeline, la clave de la base de pruebas cambia en cada ejecución: se arma con el número de la corrida. Ni siquiera la base temporal tiene una clave fija.”
SI PREGUNTAN
¿El Secret no está en el repositorio?
RESPUESTA CORTA
En este laboratorio sí, con una clave de ejemplo, para que cualquiera lo levante. En un ambiente real el Secret se crea aparte, o lo alimenta un gestor de secretos, y nunca se versiona.
SI PREGUNTAN
¿Y si no usamos Kubernetes?
RESPUESTA CORTA
La misma idea funciona con variables de entorno del servidor o con un gestor de secretos. Lo importante es que la clave no viva en el código ni en el paquete que se despliega.
SI PREGUNTAN
¿Quién puede ver la clave en Kubernetes?
RESPUESTA CORTA
Quien tenga permiso de leer Secrets en ese espacio del clúster; ese acceso se controla con roles.
PARA PASAR
“Con la conexión resuelta, veamos qué pasa cuando se guarda: la transacción.”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servicio-solicitudes/src/main/resources/application.properties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Lo que cambia junto se guarda junto: nunca quedan datos a medias.
QUÉ DECIR (▶ CLIC = hacer clic)
“Para quienes administran bases de datos, esto es terreno conocido, solo que configurado desde la aplicación. Cuando llega una petición, el pool de conexiones, HikariCP, le presta una de sus conexiones abiertas; por defecto mantiene hasta diez y las reutiliza.”
“▶ CLIC Cuando un método lleva la anotación Transactional, empieza una transacción: es el BEGIN de siempre. ▶ CLIC Al enviar una solicitud, primero se actualiza su estado a enviada, ▶ CLIC y en la misma transacción se anota el aviso pendiente en la tabla evento. ▶ CLIC Al final, el COMMIT guarda las dos cosas juntas.”
“▶ CLIC Y si algo falla en el medio, se hace ROLLBACK de todo: no queda una solicitud enviada sin su aviso, ni un aviso sin su solicitud. Esa garantía es la base de lo que les va a explicar mi compañero de interconexión.”
SI HAY TIEMPO, SE PUEDE AGREGAR
“Abrir una conexión nueva a PostgreSQL toma su tiempo; con muchas peticiones, eso se nota. Por eso el pool las mantiene abiertas y las presta: es la diferencia entre responder rápido y saturar la base.”
“La transacción envuelve todo el método enviar: si el INSERT del evento fallara, por ejemplo por una restricción, el UPDATE de la solicitud también se deshace.”
SI PREGUNTAN
¿Cuántas conexiones abre cada servicio?
RESPUESTA CORTA
Las que define el pool; por defecto HikariCP mantiene hasta 10 y las reutiliza entre peticiones.
SI PREGUNTAN
¿Esto reemplaza las transacciones dentro de un procedimiento?
RESPUESTA CORTA
Es el mismo concepto: BEGIN, COMMIT y ROLLBACK. Solo que la transacción la abre la aplicación, alrededor del método que hace el trabajo.
PARA PASAR
“Esto es lo que nos dejó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El conocimiento de base de datos del staff sigue siendo clave, ahora junto al código.
QUÉ DECIR (▶ CLIC = hacer clic)
“Cuatro aprendizajes de datos, sobre todo para quienes venimos de los procedimientos almacenados. ▶ CLIC Primero: el ORM no elimina el trabajo de base de datos. Escribe el SQL rutinario, pero las llaves, las restricciones, los índices y las transacciones siguen siendo diseño de base.”
“▶ CLIC Segundo: la cadena de conexión no vive en el código; vive en el ambiente. ▶ CLIC Tercero: la transacción local sigue siendo la herramienta más confiable que tenemos. ▶ CLIC Y cuarto: el esquema también es código: versionado, repetible y validado al arrancar.”
SI HAY TIEMPO, SE PUEDE AGREGAR
“Para quien trabaja en base de datos, el rol no desaparece: pasa de escribir cada consulta a diseñar el modelo, cuidar índices y restricciones, y revisar el SQL que genera el ORM.”
PARA PASAR
“Esa transacción local es justo la base de la siguiente parte: cómo se avisan los servicios sin perder ni duplicar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Cada conexión tiene un porqué: cambiar una dirección o seguir un error no obliga a tocar todo.
QUÉ DECIR (▶ CLIC = hacer clic)
“Gracias. Ya vimos que los servicios no comparten base. Entonces, ¿cómo se hablan? Esta tabla lo resume, fila por fila. Primero, el navegador solo conoce la interfaz, nunca las direcciones internas.”
“▶ CLIC La interfaz tampoco llama directo a los servicios: nginx, su servidor web, recibe todo lo que empieza con /api y lo reenvía al servicio que corresponde. Si un servicio cambia de dirección, la pantalla ni se entera.”
“▶ CLIC Entre servicios, solicitudes le manda el evento a notificaciones con un POST en JSON. Pero no en el momento en que la persona envía, sino después, desde un proceso que llamamos el relevador. En un momento vemos por qué.”
“▶ CLIC Nadie usa direcciones IP: cada pieza encuentra a la otra por su nombre. ▶ CLIC Y en cada llamada viaja un traceId, un número que nos deja seguir el recorrido completo en los logs.”
SI HAY TIEMPO, SE PUEDE AGREGAR
“nginx espera menos que la interfaz, nueve segundos contra diez, para que el proxy responda con un error claro antes de que el navegador corte la petición.”
“La llamada entre servicios usa un cliente HTTP preparado para pasar el traceId. Con un cliente cualquiera, el seguimiento entre servicios se rompería; por eso es una regla del equipo.”
SI PREGUNTAN
¿Por qué no se llaman directamente por localhost?
RESPUESTA CORTA
Porque dentro de un contenedor localhost es el mismo contenedor; por eso cada servicio se busca por su nombre.
SI PREGUNTAN
¿Por qué HTTP y no una cola de mensajes como RabbitMQ o Kafka?
RESPUESTA CORTA
Para el laboratorio, HTTP con Outbox da la garantía que necesitamos sin otra pieza que operar. Si el volumen crece, el mismo diseño se puede pasar a una cola sin tocar las reglas.
PARA PASAR
“Hay dos formas de hablarse, y usamos las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servicio-solicitudes/…/adaptadores/salida/PublicadorConReintento.java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La caída de un sistema secundario no detiene a quien está atendiendo al usuario.
QUÉ DECIR (▶ CLIC = hacer clic)
“Hay dos formas de comunicarse. La síncrona es como una llamada telefónica: la interfaz llama y espera a que el proceso se complete. La respuesta es inmediata, y por eso la usamos para crear, aprobar o rechazar: la persona necesita saber el resultado en ese momento. El costo es que, si el servicio se cae, la persona ve el error.”
“▶ CLIC La asíncrona es como un correo: el servicio de solicitudes envía el evento a notificaciones y continúa con su proceso, sin esperar. La respuesta puede demorar unos segundos, pero si notificaciones se cae, el evento no se pierde: espera hasta que el servicio vuelva.”
“La regla que aprendimos: lo que la persona necesita ver, síncrono; lo que puede esperar, asíncrono. Y esto pasa también en sus sistemas de hoy: un procedimiento que llama a otro sistema y espera su respuesta falla si el otro está caído.”
SI HAY TIEMPO, SE PUEDE AGREGAR
“Un ejemplo de la vida diaria: cuando pagamos con tarjeta, la aprobación es síncrona, porque necesitamos saber si pasó; el correo con el comprobante es asíncrono, porque puede llegar un minuto después.”
“La pregunta que nos hacemos en cada caso es: si el otro sistema está caído, ¿la persona tiene que enterarse? Si la respuesta es no, va asíncrono.”
SI PREGUNTAN
¿Por qué no hacerlo todo asíncrono?
RESPUESTA CORTA
Porque quien crea o aprueba una solicitud necesita saber en ese momento si se pudo. Lo asíncrono es para lo que puede esperar.
PARA PASAR
“¿Y cómo logramos que el evento espere sin perderse? Con el patrón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Ningún aviso se pierde, aunque el otro sistema esté caído. Y se puede aplicar también con procedimientos y un job.
QUÉ DECIR (▶ CLIC = hacer clic)
“Pensemos en el problema. Si al enviar una solicitud llamáramos directamente a notificaciones y justo estuviera caído, la solicitud quedaría enviada y nadie se enteraría. Por eso usamos el patrón Outbox, o bandeja de salida, que se apoya en la transacción que vimos en la parte de datos.”
“Al enviar, en una sola transacción se guardan la solicitud como enviada y su aviso pendiente. O se guardan las dos cosas, o ninguna, y la persona recibe su respuesta enseguida. ▶ CLIC El aviso queda esperando en la tabla evento, como una carta en la bandeja de salida.”
“▶ CLIC Después, un proceso que llamamos el relevador revisa la bandeja cada cinco segundos y entrega los pendientes, con hasta tres intentos. ▶ CLIC Si notificaciones lo recibe, la fila se marca como procesada. ▶ CLIC Si falla, la fila sigue pendiente, con el mismo número de evento, y se reintenta en el siguiente ciclo.”
“Esto se puede aplicar hoy mismo en un sistema con procedimientos almacenados: en lugar de llamar a otro sistema dentro del procedimiento, se anota el aviso en una tabla de pendientes y un job lo entrega.”
SI HAY TIEMPO, SE PUEDE AGREGAR
“El relevador hace hasta tres intentos por ciclo, esperando un poco más entre cada uno. Si los tres fallan, no pasa nada grave: la fila sigue pendiente y el siguiente ciclo, cinco segundos después, vuelve a intentar.”
“El número del evento se genera una sola vez, al guardar. Por eso cada reintento manda exactamente el mismo número, y del otro lado se puede reconocer como repetido.”
“En un sistema con procedimientos se traduce así: una tabla de pendientes con una columna procesado, un INSERT dentro de la misma transacción del procedimiento y un job que recorre los pendientes.”
SI PREGUNTAN
¿Que el envío responda bien significa que el aviso ya existe?
RESPUESTA CORTA
No. Significa que la solicitud y el evento quedaron guardados; el aviso llega después.
SI PREGUNTAN
¿Qué pasa si se cae solicitudes con avisos pendientes?
RESPUESTA CORTA
Nada se pierde: están en la base. Cuando el servicio vuelve, el relevador los encuentra y los entrega.
PARA PASAR
“Pero si se reintenta, ¿no puede llegar el aviso dos veces?”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servicio-solicitudes/…/dominio/ServicioDeSolicitudes.java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Se puede reintentar sin miedo: un pago, un correo o un aviso nunca se duplica.
QUÉ DECIR (▶ CLIC = hacer clic)
“Sí, puede llegar dos veces. Imaginen que notificaciones recibió el evento y creó el aviso, pero la respuesta se perdió en la red. El relevador cree que falló y lo vuelve a mandar. Para eso está la idempotencia: repetir la misma operación no multiplica su efecto.”
“Así funciona: llega el evento con su número. ▶ CLIC Notificaciones busca ese número en la tabla evento_procesado. ▶ CLIC Si es nuevo, crea el aviso ▶ CLIC y anota el número, en la misma transacción. ▶ CLIC Si ya estaba, lo ignora: no se crea otro aviso. Como un portero con lista de invitados.”
“Los dos patrones se complementan: el Outbox evita perder y la idempotencia evita duplicar. Y sirve en cualquier sistema: todo proceso que se reintenta, un pago, un correo, un registro, debería tener una tabla de procesados con una llave única.”
QUÉ HACER (no se dice)
• Mostrar: En la UI, pestaña Enviadas: Reentregar un evento ya consumido. Debe verse: El diálogo “El aviso no se duplicó” y Avisos duplicados en 0.
SI HAY TIEMPO, SE PUEDE AGREGAR
“Lo probamos a propósito: la interfaz tiene un botón para reentregar un evento ya consumido, y el contador de avisos duplicados se mantiene en cero.”
“La idempotencia no es solo para mensajes: un pago, un registro de asistencia o una importación de archivos deberían poder reintentarse sin duplicar. La receta es la misma: un número único por operación y una tabla que lo recuerde.”
SI PREGUNTAN
¿Qué resuelve el Outbox y qué resuelve la idempotencia?
RESPUESTA CORTA
El Outbox evita perder el evento; la idempotencia evita duplicar su efecto.
SI PREGUNTAN
¿Y si llegan dos entregas al mismo tiempo?
RESPUESTA CORTA
La llave primaria de evento_procesado lo impide: solo una de las dos transacciones puede anotar el número; la otra falla y su reintento lo encuentra ya procesado.
PARA PASAR
“Esto es lo que aprendimos de la interconexión.”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servicio-notificaciones/…/adaptadores/entrada/ConsumoIdempotente.java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Cero avisos perdidos y cero duplicados, con patrones que sirven en cualquier tecnología.
QUÉ DECIR (▶ CLIC = hacer clic)
“Cuatro aprendizajes. ▶ CLIC Síncrono para lo que la persona necesita ver, asíncrono para lo que puede esperar. ▶ CLIC Guardar primero y avisar después: una transacción local y una bandeja de salida son más confiables que coordinar dos sistemas al mismo tiempo.”
“▶ CLIC Todo reintento necesita idempotencia del otro lado. ▶ CLIC Y entre dos servicios, lo único compartido es el contrato del mensaje; si cambia, cambia en los dos lados.”
SI HAY TIEMPO, SE PUEDE AGREGAR
“Juntos, Outbox e idempotencia logran lo que en la industria se llama entrega al menos una vez con efecto exactamente una vez. Es la base de muchos sistemas de pagos y de notificaciones.”
PARA PASAR
“Hasta aquí, el código y los datos. Ahora, ¿cómo llevamos todo esto a cualquier ambiente? Le paso la palabra a infraestructura.”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El mismo paquete del laptop al servidor, y un sistema que se cuida solo.
QUÉ DECIR (▶ CLIC = hacer clic)
“Gracias. Docker y Kubernetes muchas veces se presentan como si uno reemplazara al otro, y no es así: no compiten, se complementan. Docker resuelve el clásico “en mi máquina funciona”: empaqueta la aplicación con Java y todo lo que necesita en una imagen, un paquete que no cambia y que corre igual en una laptop o en un servidor.”
“▶ CLIC Kubernetes empieza donde termina Docker. No empaqueta nada: toma esas imágenes y las administra. Decide dónde corre cada contenedor, lo vigila y, si uno se cae, levanta otro.”
“Piénsenlo como el transporte de carga: Docker es el contenedor estándar y Kubernetes es el puerto que los acomoda y reemplaza el que se daña. En nuestra computadora, Docker Compose levanta los ocho contenedores del sistema con un solo comando; en el clúster, esas mismas imágenes las administra Kubernetes, sin recompilar nada.”
SI HAY TIEMPO, SE PUEDE AGREGAR
“La imagen de cada servicio se construye en dos etapas: una con Maven para compilar y otra solo con Java para correr. Así la imagen final es más liviana y no lleva herramientas de compilación.”
“Además, el contenedor corre con un usuario sin privilegios: si alguien comprometiera la aplicación, no sería administrador del contenedor.”
SI PREGUNTAN
¿Docker es una máquina virtual?
RESPUESTA CORTA
No. Es más liviano: comparte el sistema operativo y solo aísla la aplicación y lo que necesita.
SI PREGUNTAN
¿Necesitamos Kubernetes para todo?
RESPUESTA CORTA
No. Para un sistema pequeño basta Docker Compose en un servidor. Kubernetes vale la pena cuando hay varios servicios, varias copias o hay que recuperarse solo.
PARA PASAR
“Primero, cómo cada cambio se convierte en una imagen: el pipeline.”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QUÉ DECIR (▶ CLIC = hacer clic)
“El Dockerfile es la receta. ▶ CLIC La primera etapa trae Maven y compila. ▶ CLIC La segunda solo lleva Java y el JAR, así la imagen final es más liviana.”
“▶ CLIC Y corre con un usuario sin privilegios: si alguien comprometiera el proceso, no sería administrador del contenedor.”
PARA PASAR
“Un contenedor solo no es el sistema. Necesitamos levantarlos todos juntos.”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servicio-solicitudes/Dockerfile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Una persona nueva levanta el sistema completo en minutos, no en un día.
QUÉ DECIR (▶ CLIC = hacer clic)
“Con Docker, cada servicio viaja con su receta, y con Docker Compose levantamos el sistema completo con un solo comando: los dos servicios, sus dos bases, la interfaz y las herramientas de logs. Ocho contenedores en total.”
“Dentro de la red de Compose, cada servicio encuentra al otro por su nombre, no por localhost. Y la configuración, como la cadena de conexión que vimos en la parte de datos, entra por variables de entorno. Así la misma imagen sirve en nuestra computadora y en el clúster, sin recompilar.”
“Para alguien que llega nuevo al equipo, esto es la diferencia entre un día configurando su máquina y cinco minutos.”
QUÉ HACER (no se dice)
• Mostrar: docker compose ps Debe verse: La UI, los servicios y las bases arriba y sanos.
SI PREGUNTAN
Dentro de un contenedor, ¿a dónde lleva localhost?
RESPUESTA CORTA
Al mismo contenedor, no a otro servicio. Por eso usamos el nombre del servicio.
PARA PASAR
“Ahora, cómo cada cambio se convierte en una imagen: el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 error se detecta antes de llegar a main, y cada imagen se rastrea hasta su commit.
QUÉ DECIR (▶ CLIC = hacer clic)
“Así funciona el pipeline, desde el momento del push. Primero, algo que sorprende: un push a una rama de trabajo, por sí solo, no dispara nada. El pipeline arranca cuando se abre o se actualiza un Pull Request hacia main. Ahí corre la integración continua, el CI: un servidor de GitHub compila cada servicio, corre todas sus pruebas contra un PostgreSQL temporal, arranca el servicio de verdad hasta ver sus datos iniciales y construye la imagen Docker. El resultado queda en el mismo Pull Request: verde o rojo.”
“▶ CLIC Cuando el Pull Request se aprueba y se fusiona a main, corre otra vez el mismo CI, y después viene el CD, la entrega continua: la imagen se publica en el registro de GitHub, etiquetada con el código del commit, lista para desplegar.”
“Y una distinción que vale la pena: CD puede ser entrega continua, que es dejar la imagen lista, o despliegue continuo, que es instalarla sola en el ambiente. Nosotros llegamos a la entrega; el despliegue en Kubernetes es un paso aparte, con kubectl apply. Automatizarlo es el siguiente paso natural, con una aprobación de por medio.”
SI HAY TIEMPO, SE PUEDE AGREGAR
“El pipeline prueba los dos servicios en paralelo, cada uno con su propia base temporal, y tiene un trabajo aparte para la interfaz: valida, prueba, construye y comprueba que el archivo de Compose es válido.”
“La imagen de la interfaz solo se publica cuando el cambio llega a main; la de los servicios hoy también se publica desde el Pull Request. Es un ajuste que ya tenemos identificado.”
“Cada imagen lleva como etiqueta el código del commit. Si algo falla en un ambiente, sabemos exactamente qué versión está corriendo y podemos volver a la anterior.”
SI PREGUNTAN
¿Por qué no se despliega solo?
RESPUESTA CORTA
Porque es un laboratorio con un clúster local. En un ambiente real se agrega un paso de despliegue con aprobación, o una herramienta que aplica en el clúster lo que está en main.
SI PREGUNTAN
¿Las pruebas usan la base real?
RESPUESTA CORTA
No: GitHub crea un PostgreSQL temporal para cada ejecución, con una clave distinta cada vez, y lo descarta al terminar.
PARA PASAR
“Y para probar o mostrar todo esto sin instalar nada, usamos Codespaces.”
PARA LEER MÁS
docs/automatizacion/ci-yaml-paso-a-paso.md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.github/workflows/ci.yml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Cualquiera del equipo prueba o muestra el sistema desde un navegador, sin instalar nada.
QUÉ DECIR (▶ CLIC = hacer clic)
“Una pieza que nos resolvió la demostración: GitHub Codespaces. Desde una rama del repositorio se crea una máquina en la nube lista para trabajar. ▶ CLIC La configuración vive en el mismo repositorio, en la carpeta .devcontainer: pide cuatro núcleos y Docker adentro.”
“▶ CLIC Al crearla, un script construye las imágenes y levanta los ocho contenedores, igual que en nuestra computadora. ▶ CLIC Cada puerto queda publicado por https y privado para la cuenta que lo abrió: la interfaz, Grafana y los dos Swagger. ▶ CLIC Y la demostración se hace desde el navegador.”
“El valor: cualquiera del equipo puede probar o mostrar el sistema sin instalar nada y sin depender de la red de la oficina. Lo verificamos con la prueba de humo completa: siete de siete.”
SI HAY TIEMPO, SE PUEDE AGREGAR
“La máquina publica cuatro puertos: la interfaz, Grafana y los dos Swagger. Un script escribe la dirección pública de cada puerto para que los enlaces de la interfaz también funcionen en la nube.”
“Un Codespace sin uso se detiene solo a los treinta minutos, y se borra al terminar. Para el día de la presentación lo arrancamos quince minutos antes.”
SI PREGUNTAN
¿Cuánto cuesta?
RESPUESTA CORTA
GitHub lo cobra por horas de núcleo: esta máquina de 4 núcleos consume 4 por cada hora encendida. Se detiene al terminar y deja de consumir.
PARA PASAR
“Ahora, el clúster: qué piezas de Kubernetes usamos. Le paso la palabra a mi compañero.”
PARA LEER MÁS
docs/operaciones/codespaces.md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El estado del sistema queda escrito y versionado, no en la memoria de alguien.
QUÉ DECIR (▶ CLIC = hacer clic)
“Gracias. En Kubernetes no damos órdenes paso a paso: describimos en archivos YAML cómo queremos que esté el sistema, y Kubernetes lo mantiene así. Arriba, el acceso: un Service le da a cada componente un nombre fijo, para que los demás lo encuentren aunque el contenedor cambie.”
“▶ CLIC Luego, el cómputo: un Deployment por componente, cinco en total, que dice cuántas copias queremos. Antes de arrancar, cada servicio espera a que su base responda, y una prueba de salud evita mandarle tráfico antes de tiempo.”
“▶ CLIC La configuración: la clave de la base en un Secret, como vimos en la parte de datos, y el resto en variables de entorno. ▶ CLIC Y los datos: cada base tiene su disco persistente, que sobrevive aunque el Pod se recree. Todo se aplica con un solo comando: kubectl apply sobre la carpeta k8s.”
SI HAY TIEMPO, SE PUEDE AGREGAR
“Antes de arrancar cada servicio, un contenedor previo espera a que su base responda. Sin eso, el servicio arrancaría, no encontraría la base y se reiniciaría una y otra vez.”
“La prueba de salud le dice a Kubernetes cuándo el servicio está listo para recibir tráfico. Arrancar no es lo mismo que estar listo, y esa diferencia evita errores en los primeros segundos.”
SI PREGUNTAN
¿Por qué la base corre como un Deployment y no como un servicio administrado?
RESPUESTA CORTA
Porque es un ambiente de laboratorio. En producción conviene una base administrada o un StatefulSet con respaldos.
PARA PASAR
“¿Y qué pasa cuando algo se cae?”
PARA LEER MÁS
docs/operaciones/kubernetes-local.md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despliegue local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sistema que se recupera solo, sin que nadie se despierte a las tres de la mañana.
QUÉ DECIR (▶ CLIC = hacer clic)
“Kubernetes funciona como un termostato: no le decimos qué hacer paso a paso, le decimos el estado que queremos, por ejemplo una copia de cada servicio, y él lo mantiene. Veamos qué pasa si se cae el Pod de solicitudes.”
“▶ CLIC En el mismo instante, el Deployment detecta que falta una copia. ▶ CLIC En un segundo, crea un Pod nuevo con la misma imagen. ▶ CLIC El Pod nuevo espera a que su base y notificaciones respondan, ▶ CLIC y solo cuando su prueba de salud contesta, vuelve a recibir tráfico.”
“▶ CLIC Nadie intervino. Y como los avisos pendientes están en la base, no en memoria, nada se pierde mientras tanto. Aquí se juntan las tres partes que vimos a fondo: la base guarda, el Outbox espera y Kubernetes repara.”
QUÉ HACER (no se dice)
• Mostrar: kubectl delete pod -l app=servicio-solicitudes y luego kubectl get pods -w. Debe verse: Aparece un Pod nuevo que vuelve a estar Ready.
SI HAY TIEMPO, SE PUEDE AGREGAR
“Se demuestra en un minuto: se borra el Pod con kubectl delete y, mirando la lista de Pods, aparece uno nuevo que en unos segundos vuelve a estar listo.”
“Si lo que se cae es la base, pasa lo mismo: su Pod se recrea y los datos siguen en el disco persistente.”
SI PREGUNTAN
¿Y si se cae la base?
RESPUESTA CORTA
Su Pod también se recrea y los datos siguen en el disco persistente; los servicios esperan a que vuelva.
PARA PASAR
“Esto es lo que aprendimos de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Despliegues repetibles y un sistema que se repara solo.
QUÉ DECIR (▶ CLIC = hacer clic)
“Cuatro aprendizajes de DevOps. ▶ CLIC Docker y Kubernetes no compiten: uno empaqueta y el otro ejecuta y cuida. ▶ CLIC La imagen es el entregable: lo que prueba el pipeline es exactamente lo que se despliega.”
“▶ CLIC Configurar por variables y no por código, empezando por la cadena de conexión. ▶ CLIC Y declarar el estado que queremos, y probar que el servicio arranca, no solo que compila.”
SI HAY TIEMPO, SE PUEDE AGREGAR
“Lo que más valor nos dio de DevOps fue que todo quedó escrito: la receta de cada imagen, el archivo de Compose, los manifiestos de Kubernetes y el pipeline. Nada depende de la memoria de una persona.”
PARA PASAR
“Ya está desplegado. ¿Cómo sabemos qué pasa adentro?”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2
LO QUE SE LLEVA EL STAFF
Diagnosticar un error entre sistemas en minutos, con una sola búsqueda.
QUÉ DECIR (▶ CLIC = hacer clic)
“La observabilidad la vemos de forma general. Con varios servicios, cada uno tiene sus logs, y si algo falla no queremos entrar contenedor por contenedor. Cada servicio escribe sus logs en JSON, con un formato estándar. ▶ CLIC Promtail los recoge de todos los contenedores, ▶ CLIC Loki los guarda etiquetados por servicio ▶ CLIC y Grafana nos deja buscarlos en un solo lugar.”
“Como cada llamada lleva su traceId, con una sola búsqueda vemos el viaje completo de un evento: cuándo lo publicó el relevador y cuándo lo consumió notificaciones. Y cada servicio expone su salud, que la interfaz muestra en verde o en rojo; lo van a ver en la demostración.”
QUÉ HACER (no se dice)
• Mostrar: Grafana › Explore › Loki: {service="servicio-notificaciones"} |= "evento". Debe verse: Las líneas “Consume evento” y “aviso creado” con el número del evento.
SI HAY TIEMPO, SE PUEDE AGREGAR
“Para buscar en Grafana basta una consulta como: los logs del servicio de notificaciones que contengan la palabra evento. En segundos aparecen las líneas con el número del evento.”
“Los logs salen en un formato estándar, ECS, sin tocar el código del negocio: es una línea de configuración de Spring Boot.”
PARA PASAR
“Esto es lo que aprendimos de observar el sistema.”
PARA LEER MÁS
docs/operaciones/observabilidad.md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2
QUÉ DECIR (▶ CLIC = hacer clic)
“Cada servicio expone su salud con Spring Boot Actuator: por dentro revisa, por ejemplo, que pueda hablar con su base. La interfaz la muestra en la pestaña Salud.”
“Pero ojo: que un servicio diga UP solo significa que responde. No garantiza que todos los avisos llegaron. Para eso miramos los eventos pendientes y los logs.”
SI PREGUNTAN
Si todo está UP y falta un aviso, ¿qué miramos?
RESPUESTA CORTA
Si el evento sigue pendiente en Enviadas, y los logs del relevador y de notificaciones.
PARA PASAR
“Esto es lo que aprendimos de la observabilidad.”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2
LO QUE SE LLEVA EL STAFF
Saber qué pasa adentro sin adivinar.
QUÉ DECIR (▶ CLIC = hacer clic)
“Tres aprendizajes. ▶ CLIC Los logs estructurados se configuran desde el día uno; después es mucho más caro. ▶ CLIC En un sistema distribuido hace falta un identificador que cruce los servicios. ▶ CLIC Y salud no es lo mismo que correcto: un servicio puede estar arriba y tener avisos pendientes; hay que medir el resultado, no solo el proceso.”
SI HAY TIEMPO, SE PUEDE AGREGAR
“Si tuvieran que empezar por una sola cosa, sería un identificador por operación que viaje entre sistemas y aparezca en cada log. Con eso, diagnosticar deja de ser adivinar.”
PARA PASAR
“Y ahora sí, veamos todo esto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4 (8 personas) · Desarrollo 3 (7 personas)
LO QUE SE LLEVA EL STAFF
Ver lo invisible: la bandeja de salida, los reintentos y la idempotencia, en pantalla.
QUÉ DECIR (▶ CLIC = hacer clic)
“Gracias. Todo lo que les contamos se puede ver funcionando, y para eso construimos esta interfaz. No es el entregable del proyecto: es la forma de ejemplificar cada parte en vivo. En Solicitudes se ve el negocio: crear, enviar, aprobar o rechazar, con sus mensajes de error claros.”
“▶ CLIC En Enviadas se ve la interconexión: la bandeja de salida, qué eventos están pendientes, cuáles se entregaron y un botón para reentregar a propósito. ▶ CLIC En Salud, si cada servicio está arriba, con enlaces a Swagger y a Grafana. ▶ CLIC Y en Ayuda, diagramas de cómo funciona.”
“Hagamos la prueba más interesante: tumbar un servicio a propósito.”
QUÉ HACER (no se dice)
• Cambiar al navegador con la UI: http://localhost:8088 o el puerto 8088 del Codespace. Los comandos docker compose de la siguiente lámina se escriben en esa misma computadora o en la terminal del Codespace. Si el sistema no está disponible, seguir con las capturas de esta lámina y de la siguiente.
SI HAY TIEMPO, SE PUEDE AGREGAR
“La interfaz es una aplicación React servida por nginx, que a la vez hace de proxy hacia los servicios. Tiene sus propias pruebas automáticas y corre en el mismo Compose que todo lo demás.”
“La pestaña Ayuda tiene diagramas paso a paso de cada flujo; la usamos para explicar el sistema a quien no lo conoce.”
PARA PASAR
“Vamos a detener el servicio de notificaciones.”
PARA LEER MÁS
arka-lite-ui/README.md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4 (8 personas) · Desarrollo 3 (7 personas)
LO QUE SE LLEVA EL STAFF
Ver con sus propios ojos que una caída no hace perder ni duplicar información.
QUÉ DECIR (▶ CLIC = hacer clic)
“Detenemos notificaciones a propósito; en Salud aparece en rojo. ▶ CLIC Ahora enviamos una solicitud. La respuesta es buena: la solicitud queda enviada y su evento queda guardado. La persona no ve ningún error, porque enviar no depende del otro servicio. Eso es lo asíncrono.”
“▶ CLIC Mientras tanto, el relevador intenta entregar el evento cada cinco segundos y falla, pero no lo pierde. ▶ CLIC La pantalla de Enviadas lo muestra: notificaciones no responde, y hay un evento en camino.”
“▶ CLIC Levantamos notificaciones, y en el siguiente ciclo el evento se entrega con el mismo número: aparece exactamente un aviso. Eso es el Outbox. ▶ CLIC Y para cerrar, reentregamos ese mismo evento a propósito: notificaciones lo reconoce y no crea otro aviso. Cero perdidos y cero duplicados, en vivo.”
QUÉ HACER (no se dice)
• Antes: docker compose stop servicio-notificaciones. Mostrar Salud en rojo (DOWN).
• Crear y enviar DEMO-01; mostrar en Enviadas el aviso amarillo “Notificaciones no responde” y “1 en camino”. No hace falta recargar: la pantalla se actualiza sola.
• docker compose start servicio-notificaciones y esperar unos segundos: el evento pasa a entregado y aparece 1 aviso.
• En Enviadas, pulsar Reentregar sobre ese evento: aparece “El aviso no se duplicó” y Avisos duplicados sigue en 0.
• Los clics de la lámina acompañan lo que pasa en la UI; si la demostración en vivo falla, contarla con la lámina.
• Mostrar: Detener notificaciones, enviar DEMO-01, mirar Enviadas, volver a iniciar notificaciones y reentregar el evento. Debe verse: Evento en camino mientras está caído; al volver, entregado y 1 aviso; al reentregar, 0 duplicados.
SI HAY TIEMPO, SE PUEDE AGREGAR
“Si la red de la sala falla, la demostración se puede contar con esta misma lámina: cada clic muestra lo que se vería en la pantalla.”
“Si una operación que cambia datos tarda demasiado, la interfaz no la repite sola, porque el cambio pudo haberse guardado aunque la respuesta no llegara.”
SI PREGUNTAN
¿Cuánto tiempo puede esperar un evento pendiente?
RESPUESTA CORTA
Indefinidamente: está en la base. Se entrega en el primer ciclo después de que notificaciones vuelve.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4 (8 personas) · Desarrollo 3 (7 personas)
QUÉ DECIR (▶ CLIC = hacer clic)
“Esta tabla resume cómo se comporta el sistema ante cada falla que probamos. Notificaciones caído: el evento espera. ▶ CLIC Un evento repetido: se ignora. ▶ CLIC Una acción que no corresponde, como enviar dos veces: un 409 con el motivo.”
“▶ CLIC Datos que faltan o un identificador repetido: un 400 o un 409 antes de guardar. ▶ CLIC Y si una operación tarda o se corta, la interfaz no la repite sola, porque el cambio pudo haberse guardado.”
QUÉ HACER (no se dice)
• Mostrar: En Solicitudes, enviar dos veces la misma solicitud. Debe verse: El diálogo con el 409.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4 (8 personas) · Desarrollo 3 (7 personas)
LO QUE SE LLEVA EL STAFF
Una herramienta que explica el sistema a cualquiera, también a quien llegue nuevo al equipo.
QUÉ DECIR (▶ CLIC = hacer clic)
“Tres aprendizajes de la demostración. ▶ CLIC Hay que diseñar para la falla, no solo para el camino feliz. ▶ CLIC Lo asíncrono hay que hacerlo visible: sin la pestaña Enviadas, un evento pendiente sería invisible. ▶ CLIC Y mostrarlo en vivo explica más que cualquier lámina; esta misma interfaz sirve para capacitar a quien llegue al equipo.”
SI HAY TIEMPO, SE PUEDE AGREGAR
“La demostración también nos sirvió como prueba: cada falla que mostramos la provocamos antes, a propósito, varias veces.”
PARA PASAR
“Para cerrar, el valor que deja todo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Cinco pilares que cualquier equipo puede adoptar.
QUÉ DECIR (▶ CLIC = hacer clic)
“Gracias. Si tuviéramos que resumir el valor en una lámina, sería esta. Datos consistentes: ante una caída, no se pierde ni se duplica un aviso. ▶ CLIC Conexión segura: la cadena de conexión y las claves viven fuera del código.”
“▶ CLIC Reproducibilidad: un comando y la misma imagen en cualquier ambiente. ▶ CLIC Calidad: pruebas automáticas en cada cambio, antes de integrarlo. ▶ CLIC Y trazabilidad: logs en un solo lugar e imágenes rastreables hasta su commit.”
SI HAY TIEMPO, SE PUEDE AGREGAR
“Si alguien pregunta por números: cero avisos perdidos o duplicados en las pruebas de caída, un comando para levantar los ocho contenedores y una imagen rastreable por cada commit.”
PARA PASAR
“Y lo más importante: qué pueden aplicar ustedes desde mañana.”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Cinco prácticas concretas que se pueden empezar a aplicar sin cambiar de tecnología.
QUÉ DECIR (▶ CLIC = hacer clic)
“Esta es la lámina que más nos importa que se lleven. Nada de esto exige reescribir sus sistemas; todo funciona también con procedimientos almacenados. Primero: saquen la cadena de conexión del código; usen variables de entorno o un gestor de secretos.”
“▶ CLIC Segundo: si un procedimiento tiene que avisarle a otro sistema, no lo llamen ahí mismo. Anoten el aviso en una tabla de pendientes, en la misma transacción, y que un job lo entregue. Ese es el Outbox. ▶ CLIC Tercero: todo lo que se reintenta, un pago, un correo, un registro, debe ser idempotente: una tabla de procesados con llave única.”
“▶ CLIC Cuarto: un mismo identificador en todos los logs, para seguir una operación de un sistema a otro. ▶ CLIC Y quinto: el mismo paquete en todos los ambientes, para que lo que se prueba sea lo que se despliega.”
SI HAY TIEMPO, SE PUEDE AGREGAR
“El orden que recomendamos: primero la cadena de conexión, porque es un cambio pequeño que baja un riesgo real; después la tabla de pendientes en el proceso que más falla hoy; y luego la idempotencia en lo que se reintenta.”
“Ninguna de estas prácticas exige Java, microservicios ni Kubernetes. Son decisiones de diseño que se pueden tomar en el sistema que ya tienen.”
SI PREGUNTAN
¿Por dónde empezamos?
RESPUESTA CORTA
Por la cadena de conexión: es el cambio más pequeño y baja un riesgo real de seguridad. Después, la tabla de pendientes en el proceso que más falle hoy.
PARA PASAR
“Si nos llevamos solo tres ideas, que sean 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Tres ideas para recordar al salir de la sala.
QUÉ DECIR (▶ CLIC = hacer clic)
“Tres ideas para cerrar. ▶ CLIC Diseñar para la falla: en un sistema distribuido algo siempre va a fallar, y la diferencia está en cómo reacciona. ▶ CLIC Automatizar la confianza: pruebas, pipeline e infraestructura declarada para cambiar rápido sin miedo. ▶ CLIC Y hacer visible el sistema: lo que no se ve no se puede diagnosticar ni explicar.”
SI HAY TIEMPO, SE PUEDE AGREGAR
“Si se llevan una sola frase: diseñen pensando en qué pasa cuando algo falla, no solo cuando todo sale bien. Y antes de pensar en el cómo, tengan claro el qué.”
PARA PASAR
“Gracias por su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QUÉ DECIR (▶ CLIC = hacer clic)
“Empezamos con un endpoint y terminamos con dos microservicios con sus bases de datos, empaquetados, desplegados, observados y documentados, que saben comportarse cuando algo falla.”
“Muchas gracias por acompañarnos, de parte de todo el equipo arka-litos. Con gusto respondemos sus preguntas.”
QUÉ HACER (no se dice)
• Quien orquesta recibe las preguntas y se las pasa a quien presentó esa parte.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slideLayout" Target="../slideLayouts/slideLayout1.xm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hip-wheel"/>
          <p:cNvSpPr/>
          <p:nvPr/>
        </p:nvSpPr>
        <p:spPr>
          <a:xfrm>
            <a:off x="8430768" y="2871216"/>
            <a:ext cx="603504" cy="603504"/>
          </a:xfrm>
          <a:custGeom>
            <a:avLst/>
            <a:gdLst/>
            <a:ahLst/>
            <a:cxnLst/>
            <a:rect l="l" t="t" r="r" b="b"/>
            <a:pathLst>
              <a:path w="603504" h="603504">
                <a:moveTo>
                  <a:pt x="502920" y="301752"/>
                </a:moveTo>
                <a:cubicBezTo>
                  <a:pt x="502920" y="412854"/>
                  <a:pt x="412854" y="502920"/>
                  <a:pt x="301752" y="502920"/>
                </a:cubicBezTo>
                <a:cubicBezTo>
                  <a:pt x="190650" y="502920"/>
                  <a:pt x="100584" y="412854"/>
                  <a:pt x="100584" y="301752"/>
                </a:cubicBezTo>
                <a:cubicBezTo>
                  <a:pt x="100584" y="190650"/>
                  <a:pt x="190650" y="100584"/>
                  <a:pt x="301752" y="100584"/>
                </a:cubicBezTo>
                <a:cubicBezTo>
                  <a:pt x="412854" y="100584"/>
                  <a:pt x="502920" y="190650"/>
                  <a:pt x="502920" y="301752"/>
                </a:cubicBezTo>
                <a:close/>
                <a:moveTo>
                  <a:pt x="301752" y="50292"/>
                </a:moveTo>
                <a:lnTo>
                  <a:pt x="301752" y="238887"/>
                </a:lnTo>
                <a:moveTo>
                  <a:pt x="477774" y="125730"/>
                </a:moveTo>
                <a:lnTo>
                  <a:pt x="346260" y="257244"/>
                </a:lnTo>
                <a:moveTo>
                  <a:pt x="553212" y="301752"/>
                </a:moveTo>
                <a:lnTo>
                  <a:pt x="364617" y="301752"/>
                </a:lnTo>
                <a:moveTo>
                  <a:pt x="477774" y="477774"/>
                </a:moveTo>
                <a:lnTo>
                  <a:pt x="346260" y="346260"/>
                </a:lnTo>
                <a:moveTo>
                  <a:pt x="301752" y="364617"/>
                </a:moveTo>
                <a:lnTo>
                  <a:pt x="301752" y="553212"/>
                </a:lnTo>
                <a:moveTo>
                  <a:pt x="257244" y="346260"/>
                </a:moveTo>
                <a:lnTo>
                  <a:pt x="125730" y="477774"/>
                </a:lnTo>
                <a:moveTo>
                  <a:pt x="238887" y="301752"/>
                </a:moveTo>
                <a:lnTo>
                  <a:pt x="50292" y="301752"/>
                </a:lnTo>
                <a:moveTo>
                  <a:pt x="257244" y="257244"/>
                </a:moveTo>
                <a:lnTo>
                  <a:pt x="125730" y="125730"/>
                </a:lnTo>
                <a:moveTo>
                  <a:pt x="364617" y="301752"/>
                </a:moveTo>
                <a:cubicBezTo>
                  <a:pt x="364617" y="336471"/>
                  <a:pt x="336471" y="364617"/>
                  <a:pt x="301752" y="364617"/>
                </a:cubicBezTo>
                <a:cubicBezTo>
                  <a:pt x="267033" y="364617"/>
                  <a:pt x="238887" y="336471"/>
                  <a:pt x="238887" y="301752"/>
                </a:cubicBezTo>
                <a:cubicBezTo>
                  <a:pt x="238887" y="267033"/>
                  <a:pt x="267033" y="238887"/>
                  <a:pt x="301752" y="238887"/>
                </a:cubicBezTo>
                <a:cubicBezTo>
                  <a:pt x="336471" y="238887"/>
                  <a:pt x="364617" y="267033"/>
                  <a:pt x="364617" y="301752"/>
                </a:cubicBezTo>
                <a:close/>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1371600"/>
            <a:ext cx="5669280" cy="274320"/>
          </a:xfrm>
          <a:prstGeom prst="rect">
            <a:avLst/>
          </a:prstGeom>
          <a:noFill/>
          <a:ln/>
        </p:spPr>
        <p:txBody>
          <a:bodyPr wrap="square" lIns="0" tIns="0" rIns="0" bIns="0" rtlCol="0" anchor="ctr">
            <a:normAutofit/>
          </a:bodyP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EQUIPO ARKA-LITOS · UPSKILLING BACKEND JAVA</a:t>
            </a:r>
            <a:endParaRPr lang="en-US" sz="1200" dirty="0"/>
          </a:p>
        </p:txBody>
      </p:sp>
      <p:sp>
        <p:nvSpPr>
          <p:cNvPr id="49" name="Text 47"/>
          <p:cNvSpPr/>
          <p:nvPr/>
        </p:nvSpPr>
        <p:spPr>
          <a:xfrm>
            <a:off x="758952" y="1719072"/>
            <a:ext cx="5486400" cy="1783080"/>
          </a:xfrm>
          <a:prstGeom prst="rect">
            <a:avLst/>
          </a:prstGeom>
          <a:noFill/>
          <a:ln/>
        </p:spPr>
        <p:txBody>
          <a:bodyPr wrap="square" lIns="0" tIns="0" rIns="0" bIns="0" rtlCol="0" anchor="t">
            <a:normAutofit/>
          </a:bodyPr>
          <a:lstStyle/>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Del endpoint</a:t>
            </a:r>
            <a:endParaRPr lang="en-US" sz="5400" dirty="0"/>
          </a:p>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al clúster</a:t>
            </a:r>
            <a:endParaRPr lang="en-US" sz="5400" dirty="0"/>
          </a:p>
        </p:txBody>
      </p:sp>
      <p:sp>
        <p:nvSpPr>
          <p:cNvPr id="50" name="Text 48"/>
          <p:cNvSpPr/>
          <p:nvPr/>
        </p:nvSpPr>
        <p:spPr>
          <a:xfrm>
            <a:off x="758952" y="3584448"/>
            <a:ext cx="4480560" cy="731520"/>
          </a:xfrm>
          <a:prstGeom prst="rect">
            <a:avLst/>
          </a:prstGeom>
          <a:noFill/>
          <a:ln/>
        </p:spPr>
        <p:txBody>
          <a:bodyPr wrap="square" lIns="0" tIns="0" rIns="0" bIns="0" rtlCol="0" anchor="t"/>
          <a:lstStyle/>
          <a:p>
            <a:pPr indent="0" marL="0">
              <a:buNone/>
            </a:pPr>
            <a:r>
              <a:rPr lang="en-US" sz="1700" dirty="0">
                <a:solidFill>
                  <a:srgbClr val="9FBEE0"/>
                </a:solidFill>
                <a:latin typeface="Segoe UI" pitchFamily="34" charset="0"/>
                <a:ea typeface="Segoe UI" pitchFamily="34" charset="-122"/>
                <a:cs typeface="Segoe UI" pitchFamily="34" charset="-120"/>
              </a:rPr>
              <a:t>Cómo construimos dos microservicios con sus datos, su plataforma y su operación.</a:t>
            </a:r>
            <a:endParaRPr lang="en-US" sz="1700" dirty="0"/>
          </a:p>
        </p:txBody>
      </p:sp>
      <p:sp>
        <p:nvSpPr>
          <p:cNvPr id="51" name="Shape 49"/>
          <p:cNvSpPr/>
          <p:nvPr/>
        </p:nvSpPr>
        <p:spPr>
          <a:xfrm>
            <a:off x="758952" y="4498848"/>
            <a:ext cx="1225296" cy="914400"/>
          </a:xfrm>
          <a:prstGeom prst="roundRect">
            <a:avLst>
              <a:gd name="adj" fmla="val 10000"/>
            </a:avLst>
          </a:prstGeom>
          <a:solidFill>
            <a:srgbClr val="1C2F48"/>
          </a:solidFill>
          <a:ln w="9525">
            <a:solidFill>
              <a:srgbClr val="164E6D"/>
            </a:solidFill>
            <a:prstDash val="solid"/>
          </a:ln>
        </p:spPr>
      </p:sp>
      <p:sp>
        <p:nvSpPr>
          <p:cNvPr id="52" name="Shape 50"/>
          <p:cNvSpPr/>
          <p:nvPr/>
        </p:nvSpPr>
        <p:spPr>
          <a:xfrm>
            <a:off x="758952" y="4590288"/>
            <a:ext cx="45720" cy="731520"/>
          </a:xfrm>
          <a:prstGeom prst="rect">
            <a:avLst/>
          </a:prstGeom>
          <a:solidFill>
            <a:srgbClr val="2BA6CB"/>
          </a:solidFill>
          <a:ln w="12700">
            <a:solidFill>
              <a:srgbClr val="2BA6CB"/>
            </a:solidFill>
            <a:prstDash val="solid"/>
          </a:ln>
        </p:spPr>
      </p:sp>
      <p:sp>
        <p:nvSpPr>
          <p:cNvPr id="53" name="Text 51"/>
          <p:cNvSpPr/>
          <p:nvPr/>
        </p:nvSpPr>
        <p:spPr>
          <a:xfrm>
            <a:off x="905256"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4" name="Text 52"/>
          <p:cNvSpPr/>
          <p:nvPr/>
        </p:nvSpPr>
        <p:spPr>
          <a:xfrm>
            <a:off x="905256"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microservicios</a:t>
            </a:r>
            <a:endParaRPr lang="en-US" sz="1000" dirty="0"/>
          </a:p>
        </p:txBody>
      </p:sp>
      <p:sp>
        <p:nvSpPr>
          <p:cNvPr id="55" name="Shape 53"/>
          <p:cNvSpPr/>
          <p:nvPr/>
        </p:nvSpPr>
        <p:spPr>
          <a:xfrm>
            <a:off x="2075688" y="4498848"/>
            <a:ext cx="1225296" cy="914400"/>
          </a:xfrm>
          <a:prstGeom prst="roundRect">
            <a:avLst>
              <a:gd name="adj" fmla="val 10000"/>
            </a:avLst>
          </a:prstGeom>
          <a:solidFill>
            <a:srgbClr val="1C2F48"/>
          </a:solidFill>
          <a:ln w="9525">
            <a:solidFill>
              <a:srgbClr val="164E6D"/>
            </a:solidFill>
            <a:prstDash val="solid"/>
          </a:ln>
        </p:spPr>
      </p:sp>
      <p:sp>
        <p:nvSpPr>
          <p:cNvPr id="56" name="Shape 54"/>
          <p:cNvSpPr/>
          <p:nvPr/>
        </p:nvSpPr>
        <p:spPr>
          <a:xfrm>
            <a:off x="2075688" y="4590288"/>
            <a:ext cx="45720" cy="731520"/>
          </a:xfrm>
          <a:prstGeom prst="rect">
            <a:avLst/>
          </a:prstGeom>
          <a:solidFill>
            <a:srgbClr val="2BA6CB"/>
          </a:solidFill>
          <a:ln w="12700">
            <a:solidFill>
              <a:srgbClr val="2BA6CB"/>
            </a:solidFill>
            <a:prstDash val="solid"/>
          </a:ln>
        </p:spPr>
      </p:sp>
      <p:sp>
        <p:nvSpPr>
          <p:cNvPr id="57" name="Text 55"/>
          <p:cNvSpPr/>
          <p:nvPr/>
        </p:nvSpPr>
        <p:spPr>
          <a:xfrm>
            <a:off x="2221992"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8" name="Text 56"/>
          <p:cNvSpPr/>
          <p:nvPr/>
        </p:nvSpPr>
        <p:spPr>
          <a:xfrm>
            <a:off x="2221992"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bases PostgreSQL</a:t>
            </a:r>
            <a:endParaRPr lang="en-US" sz="1000" dirty="0"/>
          </a:p>
        </p:txBody>
      </p:sp>
      <p:sp>
        <p:nvSpPr>
          <p:cNvPr id="59" name="Shape 57"/>
          <p:cNvSpPr/>
          <p:nvPr/>
        </p:nvSpPr>
        <p:spPr>
          <a:xfrm>
            <a:off x="3392424" y="4498848"/>
            <a:ext cx="1225296" cy="914400"/>
          </a:xfrm>
          <a:prstGeom prst="roundRect">
            <a:avLst>
              <a:gd name="adj" fmla="val 10000"/>
            </a:avLst>
          </a:prstGeom>
          <a:solidFill>
            <a:srgbClr val="1C2F48"/>
          </a:solidFill>
          <a:ln w="9525">
            <a:solidFill>
              <a:srgbClr val="164E6D"/>
            </a:solidFill>
            <a:prstDash val="solid"/>
          </a:ln>
        </p:spPr>
      </p:sp>
      <p:sp>
        <p:nvSpPr>
          <p:cNvPr id="60" name="Shape 58"/>
          <p:cNvSpPr/>
          <p:nvPr/>
        </p:nvSpPr>
        <p:spPr>
          <a:xfrm>
            <a:off x="3392424" y="4590288"/>
            <a:ext cx="45720" cy="731520"/>
          </a:xfrm>
          <a:prstGeom prst="rect">
            <a:avLst/>
          </a:prstGeom>
          <a:solidFill>
            <a:srgbClr val="2BA6CB"/>
          </a:solidFill>
          <a:ln w="12700">
            <a:solidFill>
              <a:srgbClr val="2BA6CB"/>
            </a:solidFill>
            <a:prstDash val="solid"/>
          </a:ln>
        </p:spPr>
      </p:sp>
      <p:sp>
        <p:nvSpPr>
          <p:cNvPr id="61" name="Text 59"/>
          <p:cNvSpPr/>
          <p:nvPr/>
        </p:nvSpPr>
        <p:spPr>
          <a:xfrm>
            <a:off x="3538728"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1</a:t>
            </a:r>
            <a:endParaRPr lang="en-US" sz="2600" dirty="0"/>
          </a:p>
        </p:txBody>
      </p:sp>
      <p:sp>
        <p:nvSpPr>
          <p:cNvPr id="62" name="Text 60"/>
          <p:cNvSpPr/>
          <p:nvPr/>
        </p:nvSpPr>
        <p:spPr>
          <a:xfrm>
            <a:off x="3538728"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comando levanta todo</a:t>
            </a:r>
            <a:endParaRPr lang="en-US" sz="1000" dirty="0"/>
          </a:p>
        </p:txBody>
      </p:sp>
      <p:sp>
        <p:nvSpPr>
          <p:cNvPr id="63" name="Shape 61"/>
          <p:cNvSpPr/>
          <p:nvPr/>
        </p:nvSpPr>
        <p:spPr>
          <a:xfrm>
            <a:off x="4709160" y="4498848"/>
            <a:ext cx="1225296" cy="914400"/>
          </a:xfrm>
          <a:prstGeom prst="roundRect">
            <a:avLst>
              <a:gd name="adj" fmla="val 10000"/>
            </a:avLst>
          </a:prstGeom>
          <a:solidFill>
            <a:srgbClr val="1C2F48"/>
          </a:solidFill>
          <a:ln w="9525">
            <a:solidFill>
              <a:srgbClr val="164E6D"/>
            </a:solidFill>
            <a:prstDash val="solid"/>
          </a:ln>
        </p:spPr>
      </p:sp>
      <p:sp>
        <p:nvSpPr>
          <p:cNvPr id="64" name="Shape 62"/>
          <p:cNvSpPr/>
          <p:nvPr/>
        </p:nvSpPr>
        <p:spPr>
          <a:xfrm>
            <a:off x="4709160" y="4590288"/>
            <a:ext cx="45720" cy="731520"/>
          </a:xfrm>
          <a:prstGeom prst="rect">
            <a:avLst/>
          </a:prstGeom>
          <a:solidFill>
            <a:srgbClr val="2BA6CB"/>
          </a:solidFill>
          <a:ln w="12700">
            <a:solidFill>
              <a:srgbClr val="2BA6CB"/>
            </a:solidFill>
            <a:prstDash val="solid"/>
          </a:ln>
        </p:spPr>
      </p:sp>
      <p:sp>
        <p:nvSpPr>
          <p:cNvPr id="65" name="Text 63"/>
          <p:cNvSpPr/>
          <p:nvPr/>
        </p:nvSpPr>
        <p:spPr>
          <a:xfrm>
            <a:off x="4855464"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0</a:t>
            </a:r>
            <a:endParaRPr lang="en-US" sz="2600" dirty="0"/>
          </a:p>
        </p:txBody>
      </p:sp>
      <p:sp>
        <p:nvSpPr>
          <p:cNvPr id="66" name="Text 64"/>
          <p:cNvSpPr/>
          <p:nvPr/>
        </p:nvSpPr>
        <p:spPr>
          <a:xfrm>
            <a:off x="4855464" y="4974336"/>
            <a:ext cx="1024128" cy="384048"/>
          </a:xfrm>
          <a:prstGeom prst="rect">
            <a:avLst/>
          </a:prstGeom>
          <a:noFill/>
          <a:ln/>
        </p:spPr>
        <p:txBody>
          <a:bodyPr wrap="square" lIns="0" tIns="0" rIns="0" bIns="0" rtlCol="0" anchor="t"/>
          <a:lstStyle/>
          <a:p>
            <a:pPr indent="0" marL="0">
              <a:buNone/>
            </a:pPr>
            <a:r>
              <a:rPr lang="en-US" sz="950" dirty="0">
                <a:solidFill>
                  <a:srgbClr val="9FBEE0"/>
                </a:solidFill>
                <a:latin typeface="Segoe UI" pitchFamily="34" charset="0"/>
                <a:ea typeface="Segoe UI" pitchFamily="34" charset="-122"/>
                <a:cs typeface="Segoe UI" pitchFamily="34" charset="-120"/>
              </a:rPr>
              <a:t>avisos perdidos o duplicados</a:t>
            </a:r>
            <a:endParaRPr lang="en-US" sz="950" dirty="0"/>
          </a:p>
        </p:txBody>
      </p:sp>
      <p:sp>
        <p:nvSpPr>
          <p:cNvPr id="67" name="Text 65"/>
          <p:cNvSpPr/>
          <p:nvPr/>
        </p:nvSpPr>
        <p:spPr>
          <a:xfrm>
            <a:off x="758952" y="5742432"/>
            <a:ext cx="3840480" cy="329184"/>
          </a:xfrm>
          <a:prstGeom prst="roundRect">
            <a:avLst>
              <a:gd name="adj" fmla="val 50000"/>
            </a:avLst>
          </a:prstGeom>
          <a:solidFill>
            <a:srgbClr val="113A57"/>
          </a:solidFill>
          <a:ln w="12700">
            <a:solidFill>
              <a:srgbClr val="2BA6CB"/>
            </a:solidFill>
          </a:ln>
        </p:spPr>
        <p:txBody>
          <a:bodyPr wrap="square" lIns="0" tIns="0" rIns="0" bIns="0" rtlCol="0" anchor="ctr"/>
          <a:lstStyle/>
          <a:p>
            <a:pPr algn="ctr" indent="0" marL="0">
              <a:buNone/>
            </a:pPr>
            <a:r>
              <a:rPr lang="en-US" sz="1000" b="1" spc="100" kern="0" dirty="0">
                <a:solidFill>
                  <a:srgbClr val="2BA6CB"/>
                </a:solidFill>
                <a:latin typeface="Segoe UI" pitchFamily="34" charset="0"/>
                <a:ea typeface="Segoe UI" pitchFamily="34" charset="-122"/>
                <a:cs typeface="Segoe UI" pitchFamily="34" charset="-120"/>
              </a:rPr>
              <a:t>VERSIÓN TÉCNICO · STAFF DE TECNOLOGÍA</a:t>
            </a:r>
            <a:endParaRPr lang="en-US" sz="1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vamos a ver</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Las mismas secciones que todos los equipos; nosotros vamos a fondo en datos, interconexión y DevOps.</a:t>
            </a:r>
            <a:endParaRPr lang="en-US" sz="1650" dirty="0"/>
          </a:p>
        </p:txBody>
      </p:sp>
      <p:sp>
        <p:nvSpPr>
          <p:cNvPr id="6" name="Shape 4"/>
          <p:cNvSpPr/>
          <p:nvPr/>
        </p:nvSpPr>
        <p:spPr>
          <a:xfrm>
            <a:off x="1395962" y="3145536"/>
            <a:ext cx="9399771" cy="0"/>
          </a:xfrm>
          <a:prstGeom prst="line">
            <a:avLst/>
          </a:prstGeom>
          <a:noFill/>
          <a:ln w="50800">
            <a:solidFill>
              <a:srgbClr val="75C5DD"/>
            </a:solidFill>
            <a:prstDash val="solid"/>
          </a:ln>
        </p:spPr>
      </p:sp>
      <p:sp>
        <p:nvSpPr>
          <p:cNvPr id="7" name="Shape 5"/>
          <p:cNvSpPr/>
          <p:nvPr/>
        </p:nvSpPr>
        <p:spPr>
          <a:xfrm>
            <a:off x="1021515"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8" name="Icono code"/>
          <p:cNvSpPr/>
          <p:nvPr/>
        </p:nvSpPr>
        <p:spPr>
          <a:xfrm>
            <a:off x="1208739" y="2958313"/>
            <a:ext cx="374447" cy="374447"/>
          </a:xfrm>
          <a:custGeom>
            <a:avLst/>
            <a:gdLst/>
            <a:ahLst/>
            <a:cxnLst/>
            <a:rect l="l" t="t" r="r" b="b"/>
            <a:pathLst>
              <a:path w="374447" h="374447">
                <a:moveTo>
                  <a:pt x="249631" y="280835"/>
                </a:moveTo>
                <a:lnTo>
                  <a:pt x="343243" y="187223"/>
                </a:lnTo>
                <a:lnTo>
                  <a:pt x="249631" y="93612"/>
                </a:lnTo>
                <a:moveTo>
                  <a:pt x="124816" y="93612"/>
                </a:moveTo>
                <a:lnTo>
                  <a:pt x="31204" y="187223"/>
                </a:lnTo>
                <a:lnTo>
                  <a:pt x="124816" y="280835"/>
                </a:lnTo>
              </a:path>
            </a:pathLst>
          </a:custGeom>
          <a:noFill/>
          <a:ln w="31204" cap="rnd">
            <a:solidFill>
              <a:srgbClr val="FFFFFF"/>
            </a:solidFill>
            <a:prstDash val="solid"/>
            <a:round/>
          </a:ln>
        </p:spPr>
      </p:sp>
      <p:sp>
        <p:nvSpPr>
          <p:cNvPr id="9" name="Text 7"/>
          <p:cNvSpPr/>
          <p:nvPr/>
        </p:nvSpPr>
        <p:spPr>
          <a:xfrm>
            <a:off x="1515785"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1</a:t>
            </a:r>
            <a:endParaRPr lang="en-US" sz="1150" dirty="0"/>
          </a:p>
        </p:txBody>
      </p:sp>
      <p:sp>
        <p:nvSpPr>
          <p:cNvPr id="10" name="Text 8"/>
          <p:cNvSpPr/>
          <p:nvPr/>
        </p:nvSpPr>
        <p:spPr>
          <a:xfrm>
            <a:off x="649224"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Fundamentos</a:t>
            </a:r>
            <a:endParaRPr lang="en-US" sz="1500" dirty="0"/>
          </a:p>
        </p:txBody>
      </p:sp>
      <p:sp>
        <p:nvSpPr>
          <p:cNvPr id="11" name="Text 9"/>
          <p:cNvSpPr/>
          <p:nvPr/>
        </p:nvSpPr>
        <p:spPr>
          <a:xfrm>
            <a:off x="707876"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2" name="Text 10"/>
          <p:cNvSpPr/>
          <p:nvPr/>
        </p:nvSpPr>
        <p:spPr>
          <a:xfrm>
            <a:off x="667512"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Primero el qué · Código mantenible · Git y documentación</a:t>
            </a:r>
            <a:endParaRPr lang="en-US" sz="1150" dirty="0"/>
          </a:p>
        </p:txBody>
      </p:sp>
      <p:sp>
        <p:nvSpPr>
          <p:cNvPr id="13" name="Shape 11"/>
          <p:cNvSpPr/>
          <p:nvPr/>
        </p:nvSpPr>
        <p:spPr>
          <a:xfrm>
            <a:off x="2588144"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network"/>
          <p:cNvSpPr/>
          <p:nvPr/>
        </p:nvSpPr>
        <p:spPr>
          <a:xfrm>
            <a:off x="2775367" y="2958313"/>
            <a:ext cx="374447" cy="374447"/>
          </a:xfrm>
          <a:custGeom>
            <a:avLst/>
            <a:gdLst/>
            <a:ahLst/>
            <a:cxnLst/>
            <a:rect l="l" t="t" r="r" b="b"/>
            <a:pathLst>
              <a:path w="374447" h="374447">
                <a:moveTo>
                  <a:pt x="265233" y="249631"/>
                </a:moveTo>
                <a:lnTo>
                  <a:pt x="327641" y="249631"/>
                </a:lnTo>
                <a:cubicBezTo>
                  <a:pt x="336258" y="249631"/>
                  <a:pt x="343243" y="256616"/>
                  <a:pt x="343243" y="265233"/>
                </a:cubicBezTo>
                <a:lnTo>
                  <a:pt x="343243" y="327641"/>
                </a:lnTo>
                <a:cubicBezTo>
                  <a:pt x="343243" y="336258"/>
                  <a:pt x="336258" y="343243"/>
                  <a:pt x="327641" y="343243"/>
                </a:cubicBezTo>
                <a:lnTo>
                  <a:pt x="265233" y="343243"/>
                </a:lnTo>
                <a:cubicBezTo>
                  <a:pt x="256616" y="343243"/>
                  <a:pt x="249631" y="336258"/>
                  <a:pt x="249631" y="327641"/>
                </a:cubicBezTo>
                <a:lnTo>
                  <a:pt x="249631" y="265233"/>
                </a:lnTo>
                <a:cubicBezTo>
                  <a:pt x="249631" y="256616"/>
                  <a:pt x="256616" y="249631"/>
                  <a:pt x="265233" y="249631"/>
                </a:cubicBezTo>
                <a:close/>
                <a:moveTo>
                  <a:pt x="46806" y="249631"/>
                </a:moveTo>
                <a:lnTo>
                  <a:pt x="109214" y="249631"/>
                </a:lnTo>
                <a:cubicBezTo>
                  <a:pt x="117830" y="249631"/>
                  <a:pt x="124816" y="256616"/>
                  <a:pt x="124816" y="265233"/>
                </a:cubicBezTo>
                <a:lnTo>
                  <a:pt x="124816" y="327641"/>
                </a:lnTo>
                <a:cubicBezTo>
                  <a:pt x="124816" y="336258"/>
                  <a:pt x="117830" y="343243"/>
                  <a:pt x="109214" y="343243"/>
                </a:cubicBezTo>
                <a:lnTo>
                  <a:pt x="46806" y="343243"/>
                </a:lnTo>
                <a:cubicBezTo>
                  <a:pt x="38189" y="343243"/>
                  <a:pt x="31204" y="336258"/>
                  <a:pt x="31204" y="327641"/>
                </a:cubicBezTo>
                <a:lnTo>
                  <a:pt x="31204" y="265233"/>
                </a:lnTo>
                <a:cubicBezTo>
                  <a:pt x="31204" y="256616"/>
                  <a:pt x="38189" y="249631"/>
                  <a:pt x="46806" y="249631"/>
                </a:cubicBezTo>
                <a:close/>
                <a:moveTo>
                  <a:pt x="156020" y="31204"/>
                </a:moveTo>
                <a:lnTo>
                  <a:pt x="218427" y="31204"/>
                </a:lnTo>
                <a:cubicBezTo>
                  <a:pt x="227044" y="31204"/>
                  <a:pt x="234029" y="38189"/>
                  <a:pt x="234029" y="46806"/>
                </a:cubicBezTo>
                <a:lnTo>
                  <a:pt x="234029" y="109214"/>
                </a:lnTo>
                <a:cubicBezTo>
                  <a:pt x="234029" y="117830"/>
                  <a:pt x="227044" y="124816"/>
                  <a:pt x="218427" y="124816"/>
                </a:cubicBezTo>
                <a:lnTo>
                  <a:pt x="156020" y="124816"/>
                </a:lnTo>
                <a:cubicBezTo>
                  <a:pt x="147403" y="124816"/>
                  <a:pt x="140418" y="117830"/>
                  <a:pt x="140418" y="109214"/>
                </a:cubicBezTo>
                <a:lnTo>
                  <a:pt x="140418" y="46806"/>
                </a:lnTo>
                <a:cubicBezTo>
                  <a:pt x="140418" y="38189"/>
                  <a:pt x="147403" y="31204"/>
                  <a:pt x="156020" y="31204"/>
                </a:cubicBezTo>
                <a:close/>
                <a:moveTo>
                  <a:pt x="78010" y="249631"/>
                </a:moveTo>
                <a:lnTo>
                  <a:pt x="78010" y="202825"/>
                </a:lnTo>
                <a:cubicBezTo>
                  <a:pt x="78010" y="194209"/>
                  <a:pt x="84995" y="187223"/>
                  <a:pt x="93612" y="187223"/>
                </a:cubicBezTo>
                <a:lnTo>
                  <a:pt x="280835" y="187223"/>
                </a:lnTo>
                <a:cubicBezTo>
                  <a:pt x="289452" y="187223"/>
                  <a:pt x="296437" y="194209"/>
                  <a:pt x="296437" y="202825"/>
                </a:cubicBezTo>
                <a:lnTo>
                  <a:pt x="296437" y="249631"/>
                </a:lnTo>
                <a:moveTo>
                  <a:pt x="187223" y="187223"/>
                </a:moveTo>
                <a:lnTo>
                  <a:pt x="187223" y="124816"/>
                </a:lnTo>
              </a:path>
            </a:pathLst>
          </a:custGeom>
          <a:noFill/>
          <a:ln w="31204" cap="rnd">
            <a:solidFill>
              <a:srgbClr val="FFFFFF"/>
            </a:solidFill>
            <a:prstDash val="solid"/>
            <a:round/>
          </a:ln>
        </p:spPr>
      </p:sp>
      <p:sp>
        <p:nvSpPr>
          <p:cNvPr id="15" name="Text 13"/>
          <p:cNvSpPr/>
          <p:nvPr/>
        </p:nvSpPr>
        <p:spPr>
          <a:xfrm>
            <a:off x="3082414"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2</a:t>
            </a:r>
            <a:endParaRPr lang="en-US" sz="1150" dirty="0"/>
          </a:p>
        </p:txBody>
      </p:sp>
      <p:sp>
        <p:nvSpPr>
          <p:cNvPr id="16" name="Text 14"/>
          <p:cNvSpPr/>
          <p:nvPr/>
        </p:nvSpPr>
        <p:spPr>
          <a:xfrm>
            <a:off x="2215852"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Arquitectura</a:t>
            </a:r>
            <a:endParaRPr lang="en-US" sz="1500" dirty="0"/>
          </a:p>
        </p:txBody>
      </p:sp>
      <p:sp>
        <p:nvSpPr>
          <p:cNvPr id="17" name="Text 15"/>
          <p:cNvSpPr/>
          <p:nvPr/>
        </p:nvSpPr>
        <p:spPr>
          <a:xfrm>
            <a:off x="2274505"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8" name="Text 16"/>
          <p:cNvSpPr/>
          <p:nvPr/>
        </p:nvSpPr>
        <p:spPr>
          <a:xfrm>
            <a:off x="2234140"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Microservicios · Una base por servicio · Hexagonal en una frase</a:t>
            </a:r>
            <a:endParaRPr lang="en-US" sz="1150" dirty="0"/>
          </a:p>
        </p:txBody>
      </p:sp>
      <p:sp>
        <p:nvSpPr>
          <p:cNvPr id="19" name="[p1] Forma"/>
          <p:cNvSpPr/>
          <p:nvPr/>
        </p:nvSpPr>
        <p:spPr>
          <a:xfrm>
            <a:off x="4049159"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0" name="[p1] Icono database"/>
          <p:cNvSpPr/>
          <p:nvPr/>
        </p:nvSpPr>
        <p:spPr>
          <a:xfrm>
            <a:off x="4289189" y="2905506"/>
            <a:ext cx="480060" cy="480060"/>
          </a:xfrm>
          <a:custGeom>
            <a:avLst/>
            <a:gdLst/>
            <a:ahLst/>
            <a:cxnLst/>
            <a:rect l="l" t="t" r="r" b="b"/>
            <a:pathLst>
              <a:path w="480060" h="480060">
                <a:moveTo>
                  <a:pt x="420053" y="100013"/>
                </a:moveTo>
                <a:cubicBezTo>
                  <a:pt x="420053" y="133154"/>
                  <a:pt x="339454" y="160020"/>
                  <a:pt x="240030" y="160020"/>
                </a:cubicBezTo>
                <a:cubicBezTo>
                  <a:pt x="140606" y="160020"/>
                  <a:pt x="60008" y="133154"/>
                  <a:pt x="60008" y="100013"/>
                </a:cubicBezTo>
                <a:cubicBezTo>
                  <a:pt x="60008" y="66871"/>
                  <a:pt x="140606" y="40005"/>
                  <a:pt x="240030" y="40005"/>
                </a:cubicBezTo>
                <a:cubicBezTo>
                  <a:pt x="339454" y="40005"/>
                  <a:pt x="420053" y="66871"/>
                  <a:pt x="420053" y="100013"/>
                </a:cubicBezTo>
                <a:close/>
                <a:moveTo>
                  <a:pt x="60008" y="100013"/>
                </a:moveTo>
                <a:lnTo>
                  <a:pt x="60008" y="380048"/>
                </a:lnTo>
                <a:cubicBezTo>
                  <a:pt x="60008" y="413189"/>
                  <a:pt x="140606" y="440055"/>
                  <a:pt x="240030" y="440055"/>
                </a:cubicBezTo>
                <a:cubicBezTo>
                  <a:pt x="339454" y="440055"/>
                  <a:pt x="420053" y="413189"/>
                  <a:pt x="420053" y="380048"/>
                </a:cubicBezTo>
                <a:lnTo>
                  <a:pt x="420053" y="100013"/>
                </a:lnTo>
                <a:moveTo>
                  <a:pt x="60008" y="240030"/>
                </a:moveTo>
                <a:cubicBezTo>
                  <a:pt x="60008" y="273171"/>
                  <a:pt x="140606" y="300038"/>
                  <a:pt x="240030" y="300038"/>
                </a:cubicBezTo>
                <a:cubicBezTo>
                  <a:pt x="339454" y="300038"/>
                  <a:pt x="420053" y="273171"/>
                  <a:pt x="420053" y="240030"/>
                </a:cubicBezTo>
              </a:path>
            </a:pathLst>
          </a:custGeom>
          <a:noFill/>
          <a:ln w="40005" cap="rnd">
            <a:solidFill>
              <a:srgbClr val="FFFFFF"/>
            </a:solidFill>
            <a:prstDash val="solid"/>
            <a:round/>
          </a:ln>
        </p:spPr>
      </p:sp>
      <p:sp>
        <p:nvSpPr>
          <p:cNvPr id="21" name="[p1] Forma"/>
          <p:cNvSpPr/>
          <p:nvPr/>
        </p:nvSpPr>
        <p:spPr>
          <a:xfrm>
            <a:off x="4682838"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3</a:t>
            </a:r>
            <a:endParaRPr lang="en-US" sz="1150" dirty="0"/>
          </a:p>
        </p:txBody>
      </p:sp>
      <p:sp>
        <p:nvSpPr>
          <p:cNvPr id="22" name="[p1] Forma"/>
          <p:cNvSpPr/>
          <p:nvPr/>
        </p:nvSpPr>
        <p:spPr>
          <a:xfrm>
            <a:off x="3782481"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Base de datos</a:t>
            </a:r>
            <a:endParaRPr lang="en-US" sz="1500" dirty="0"/>
          </a:p>
        </p:txBody>
      </p:sp>
      <p:sp>
        <p:nvSpPr>
          <p:cNvPr id="23" name="[p1] Forma"/>
          <p:cNvSpPr/>
          <p:nvPr/>
        </p:nvSpPr>
        <p:spPr>
          <a:xfrm>
            <a:off x="4074305"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24" name="[p1] Forma"/>
          <p:cNvSpPr/>
          <p:nvPr/>
        </p:nvSpPr>
        <p:spPr>
          <a:xfrm>
            <a:off x="3800769"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Modelo de datos · ORM con JPA · Cadena de conexión</a:t>
            </a:r>
            <a:endParaRPr lang="en-US" sz="1150" dirty="0"/>
          </a:p>
        </p:txBody>
      </p:sp>
      <p:sp>
        <p:nvSpPr>
          <p:cNvPr id="25" name="[p1] Forma"/>
          <p:cNvSpPr/>
          <p:nvPr/>
        </p:nvSpPr>
        <p:spPr>
          <a:xfrm>
            <a:off x="5615788"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6" name="[p1] Icono waypoints"/>
          <p:cNvSpPr/>
          <p:nvPr/>
        </p:nvSpPr>
        <p:spPr>
          <a:xfrm>
            <a:off x="5855818" y="2905506"/>
            <a:ext cx="480060" cy="480060"/>
          </a:xfrm>
          <a:custGeom>
            <a:avLst/>
            <a:gdLst/>
            <a:ahLst/>
            <a:cxnLst/>
            <a:rect l="l" t="t" r="r" b="b"/>
            <a:pathLst>
              <a:path w="480060" h="480060">
                <a:moveTo>
                  <a:pt x="290036" y="90011"/>
                </a:moveTo>
                <a:cubicBezTo>
                  <a:pt x="290036" y="117629"/>
                  <a:pt x="267648" y="140018"/>
                  <a:pt x="240030" y="140018"/>
                </a:cubicBezTo>
                <a:cubicBezTo>
                  <a:pt x="212412" y="140018"/>
                  <a:pt x="190024" y="117629"/>
                  <a:pt x="190024" y="90011"/>
                </a:cubicBezTo>
                <a:cubicBezTo>
                  <a:pt x="190024" y="62394"/>
                  <a:pt x="212412" y="40005"/>
                  <a:pt x="240030" y="40005"/>
                </a:cubicBezTo>
                <a:cubicBezTo>
                  <a:pt x="267648" y="40005"/>
                  <a:pt x="290036" y="62394"/>
                  <a:pt x="290036" y="90011"/>
                </a:cubicBezTo>
                <a:close/>
                <a:moveTo>
                  <a:pt x="204026" y="126016"/>
                </a:moveTo>
                <a:lnTo>
                  <a:pt x="126016" y="204026"/>
                </a:lnTo>
                <a:moveTo>
                  <a:pt x="140018" y="240030"/>
                </a:moveTo>
                <a:cubicBezTo>
                  <a:pt x="140018" y="267648"/>
                  <a:pt x="117629" y="290036"/>
                  <a:pt x="90011" y="290036"/>
                </a:cubicBezTo>
                <a:cubicBezTo>
                  <a:pt x="62394" y="290036"/>
                  <a:pt x="40005" y="267648"/>
                  <a:pt x="40005" y="240030"/>
                </a:cubicBezTo>
                <a:cubicBezTo>
                  <a:pt x="40005" y="212412"/>
                  <a:pt x="62394" y="190024"/>
                  <a:pt x="90011" y="190024"/>
                </a:cubicBezTo>
                <a:cubicBezTo>
                  <a:pt x="117629" y="190024"/>
                  <a:pt x="140018" y="212412"/>
                  <a:pt x="140018" y="240030"/>
                </a:cubicBezTo>
                <a:close/>
                <a:moveTo>
                  <a:pt x="140018" y="240030"/>
                </a:moveTo>
                <a:lnTo>
                  <a:pt x="340043" y="240030"/>
                </a:lnTo>
                <a:moveTo>
                  <a:pt x="440055" y="240030"/>
                </a:moveTo>
                <a:cubicBezTo>
                  <a:pt x="440055" y="267648"/>
                  <a:pt x="417666" y="290036"/>
                  <a:pt x="390049" y="290036"/>
                </a:cubicBezTo>
                <a:cubicBezTo>
                  <a:pt x="362431" y="290036"/>
                  <a:pt x="340043" y="267648"/>
                  <a:pt x="340043" y="240030"/>
                </a:cubicBezTo>
                <a:cubicBezTo>
                  <a:pt x="340043" y="212412"/>
                  <a:pt x="362431" y="190024"/>
                  <a:pt x="390049" y="190024"/>
                </a:cubicBezTo>
                <a:cubicBezTo>
                  <a:pt x="417666" y="190024"/>
                  <a:pt x="440055" y="212412"/>
                  <a:pt x="440055" y="240030"/>
                </a:cubicBezTo>
                <a:close/>
                <a:moveTo>
                  <a:pt x="276035" y="354044"/>
                </a:moveTo>
                <a:lnTo>
                  <a:pt x="354044" y="276035"/>
                </a:lnTo>
                <a:moveTo>
                  <a:pt x="290036" y="390049"/>
                </a:moveTo>
                <a:cubicBezTo>
                  <a:pt x="290036" y="417666"/>
                  <a:pt x="267648" y="440055"/>
                  <a:pt x="240030" y="440055"/>
                </a:cubicBezTo>
                <a:cubicBezTo>
                  <a:pt x="212412" y="440055"/>
                  <a:pt x="190024" y="417666"/>
                  <a:pt x="190024" y="390049"/>
                </a:cubicBezTo>
                <a:cubicBezTo>
                  <a:pt x="190024" y="362431"/>
                  <a:pt x="212412" y="340043"/>
                  <a:pt x="240030" y="340043"/>
                </a:cubicBezTo>
                <a:cubicBezTo>
                  <a:pt x="267648" y="340043"/>
                  <a:pt x="290036" y="362431"/>
                  <a:pt x="290036" y="390049"/>
                </a:cubicBezTo>
                <a:close/>
              </a:path>
            </a:pathLst>
          </a:custGeom>
          <a:noFill/>
          <a:ln w="40005" cap="rnd">
            <a:solidFill>
              <a:srgbClr val="FFFFFF"/>
            </a:solidFill>
            <a:prstDash val="solid"/>
            <a:round/>
          </a:ln>
        </p:spPr>
      </p:sp>
      <p:sp>
        <p:nvSpPr>
          <p:cNvPr id="27" name="[p1] Forma"/>
          <p:cNvSpPr/>
          <p:nvPr/>
        </p:nvSpPr>
        <p:spPr>
          <a:xfrm>
            <a:off x="6249467"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4</a:t>
            </a:r>
            <a:endParaRPr lang="en-US" sz="1150" dirty="0"/>
          </a:p>
        </p:txBody>
      </p:sp>
      <p:sp>
        <p:nvSpPr>
          <p:cNvPr id="28" name="[p1] Forma"/>
          <p:cNvSpPr/>
          <p:nvPr/>
        </p:nvSpPr>
        <p:spPr>
          <a:xfrm>
            <a:off x="5349109"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Interconexión de servicios</a:t>
            </a:r>
            <a:endParaRPr lang="en-US" sz="1500" dirty="0"/>
          </a:p>
        </p:txBody>
      </p:sp>
      <p:sp>
        <p:nvSpPr>
          <p:cNvPr id="29" name="[p1] Forma"/>
          <p:cNvSpPr/>
          <p:nvPr/>
        </p:nvSpPr>
        <p:spPr>
          <a:xfrm>
            <a:off x="5640934"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0" name="[p1] Forma"/>
          <p:cNvSpPr/>
          <p:nvPr/>
        </p:nvSpPr>
        <p:spPr>
          <a:xfrm>
            <a:off x="5367397"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Síncrono y asíncrono · Patrón Outbox · Idempotencia</a:t>
            </a:r>
            <a:endParaRPr lang="en-US" sz="1150" dirty="0"/>
          </a:p>
        </p:txBody>
      </p:sp>
      <p:sp>
        <p:nvSpPr>
          <p:cNvPr id="31" name="[p1] Forma"/>
          <p:cNvSpPr/>
          <p:nvPr/>
        </p:nvSpPr>
        <p:spPr>
          <a:xfrm>
            <a:off x="7182416"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32" name="[p1] Icono container"/>
          <p:cNvSpPr/>
          <p:nvPr/>
        </p:nvSpPr>
        <p:spPr>
          <a:xfrm>
            <a:off x="7422446" y="2905506"/>
            <a:ext cx="480060" cy="480060"/>
          </a:xfrm>
          <a:custGeom>
            <a:avLst/>
            <a:gdLst/>
            <a:ahLst/>
            <a:cxnLst/>
            <a:rect l="l" t="t" r="r" b="b"/>
            <a:pathLst>
              <a:path w="480060" h="480060">
                <a:moveTo>
                  <a:pt x="440055" y="154019"/>
                </a:moveTo>
                <a:cubicBezTo>
                  <a:pt x="440055" y="142018"/>
                  <a:pt x="432054" y="130016"/>
                  <a:pt x="424053" y="124016"/>
                </a:cubicBezTo>
                <a:lnTo>
                  <a:pt x="298037" y="46006"/>
                </a:lnTo>
                <a:cubicBezTo>
                  <a:pt x="287495" y="40013"/>
                  <a:pt x="274576" y="40013"/>
                  <a:pt x="264033" y="46006"/>
                </a:cubicBezTo>
                <a:lnTo>
                  <a:pt x="58007" y="166021"/>
                </a:lnTo>
                <a:cubicBezTo>
                  <a:pt x="48006" y="170021"/>
                  <a:pt x="40005" y="182023"/>
                  <a:pt x="40005" y="194024"/>
                </a:cubicBezTo>
                <a:lnTo>
                  <a:pt x="40005" y="326041"/>
                </a:lnTo>
                <a:cubicBezTo>
                  <a:pt x="40005" y="336042"/>
                  <a:pt x="48006" y="350044"/>
                  <a:pt x="56007" y="356045"/>
                </a:cubicBezTo>
                <a:lnTo>
                  <a:pt x="182023" y="434054"/>
                </a:lnTo>
                <a:cubicBezTo>
                  <a:pt x="192565" y="440047"/>
                  <a:pt x="205484" y="440047"/>
                  <a:pt x="216027" y="434054"/>
                </a:cubicBezTo>
                <a:lnTo>
                  <a:pt x="422053" y="314039"/>
                </a:lnTo>
                <a:cubicBezTo>
                  <a:pt x="432054" y="308039"/>
                  <a:pt x="440055" y="294037"/>
                  <a:pt x="440055" y="284036"/>
                </a:cubicBezTo>
                <a:close/>
                <a:moveTo>
                  <a:pt x="200025" y="438055"/>
                </a:moveTo>
                <a:lnTo>
                  <a:pt x="200025" y="280035"/>
                </a:lnTo>
                <a:lnTo>
                  <a:pt x="42005" y="182023"/>
                </a:lnTo>
                <a:moveTo>
                  <a:pt x="200025" y="280035"/>
                </a:moveTo>
                <a:lnTo>
                  <a:pt x="438055" y="142018"/>
                </a:lnTo>
                <a:moveTo>
                  <a:pt x="280035" y="396050"/>
                </a:moveTo>
                <a:lnTo>
                  <a:pt x="280035" y="234029"/>
                </a:lnTo>
                <a:moveTo>
                  <a:pt x="360045" y="350044"/>
                </a:moveTo>
                <a:lnTo>
                  <a:pt x="360045" y="188024"/>
                </a:lnTo>
              </a:path>
            </a:pathLst>
          </a:custGeom>
          <a:noFill/>
          <a:ln w="40005" cap="rnd">
            <a:solidFill>
              <a:srgbClr val="FFFFFF"/>
            </a:solidFill>
            <a:prstDash val="solid"/>
            <a:round/>
          </a:ln>
        </p:spPr>
      </p:sp>
      <p:sp>
        <p:nvSpPr>
          <p:cNvPr id="33" name="[p1] Forma"/>
          <p:cNvSpPr/>
          <p:nvPr/>
        </p:nvSpPr>
        <p:spPr>
          <a:xfrm>
            <a:off x="7816095"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5</a:t>
            </a:r>
            <a:endParaRPr lang="en-US" sz="1150" dirty="0"/>
          </a:p>
        </p:txBody>
      </p:sp>
      <p:sp>
        <p:nvSpPr>
          <p:cNvPr id="34" name="[p1] Forma"/>
          <p:cNvSpPr/>
          <p:nvPr/>
        </p:nvSpPr>
        <p:spPr>
          <a:xfrm>
            <a:off x="6915738"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DevOps: Docker y Kubernetes</a:t>
            </a:r>
            <a:endParaRPr lang="en-US" sz="1400" dirty="0"/>
          </a:p>
        </p:txBody>
      </p:sp>
      <p:sp>
        <p:nvSpPr>
          <p:cNvPr id="35" name="[p1] Forma"/>
          <p:cNvSpPr/>
          <p:nvPr/>
        </p:nvSpPr>
        <p:spPr>
          <a:xfrm>
            <a:off x="7207562"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6" name="[p1] Forma"/>
          <p:cNvSpPr/>
          <p:nvPr/>
        </p:nvSpPr>
        <p:spPr>
          <a:xfrm>
            <a:off x="6934026"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Docker y Compose · Kubernetes · CI/CD con GitHub Actions</a:t>
            </a:r>
            <a:endParaRPr lang="en-US" sz="1150" dirty="0"/>
          </a:p>
        </p:txBody>
      </p:sp>
      <p:sp>
        <p:nvSpPr>
          <p:cNvPr id="37" name="[p2] Forma"/>
          <p:cNvSpPr/>
          <p:nvPr/>
        </p:nvSpPr>
        <p:spPr>
          <a:xfrm>
            <a:off x="8854658"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38" name="[p2] Icono chart-line"/>
          <p:cNvSpPr/>
          <p:nvPr/>
        </p:nvSpPr>
        <p:spPr>
          <a:xfrm>
            <a:off x="9041881" y="2958313"/>
            <a:ext cx="374447" cy="374447"/>
          </a:xfrm>
          <a:custGeom>
            <a:avLst/>
            <a:gdLst/>
            <a:ahLst/>
            <a:cxnLst/>
            <a:rect l="l" t="t" r="r" b="b"/>
            <a:pathLst>
              <a:path w="374447" h="374447">
                <a:moveTo>
                  <a:pt x="46806" y="46806"/>
                </a:moveTo>
                <a:lnTo>
                  <a:pt x="46806" y="296437"/>
                </a:lnTo>
                <a:cubicBezTo>
                  <a:pt x="46806" y="313670"/>
                  <a:pt x="60776" y="327641"/>
                  <a:pt x="78010" y="327641"/>
                </a:cubicBezTo>
                <a:lnTo>
                  <a:pt x="327641" y="327641"/>
                </a:lnTo>
                <a:moveTo>
                  <a:pt x="296437" y="140418"/>
                </a:moveTo>
                <a:lnTo>
                  <a:pt x="218427" y="218427"/>
                </a:lnTo>
                <a:lnTo>
                  <a:pt x="156020" y="156020"/>
                </a:lnTo>
                <a:lnTo>
                  <a:pt x="109214" y="202825"/>
                </a:lnTo>
              </a:path>
            </a:pathLst>
          </a:custGeom>
          <a:noFill/>
          <a:ln w="31204" cap="rnd">
            <a:solidFill>
              <a:srgbClr val="FFFFFF"/>
            </a:solidFill>
            <a:prstDash val="solid"/>
            <a:round/>
          </a:ln>
        </p:spPr>
      </p:sp>
      <p:sp>
        <p:nvSpPr>
          <p:cNvPr id="39" name="[p2] Forma"/>
          <p:cNvSpPr/>
          <p:nvPr/>
        </p:nvSpPr>
        <p:spPr>
          <a:xfrm>
            <a:off x="9348927"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6</a:t>
            </a:r>
            <a:endParaRPr lang="en-US" sz="1150" dirty="0"/>
          </a:p>
        </p:txBody>
      </p:sp>
      <p:sp>
        <p:nvSpPr>
          <p:cNvPr id="40" name="[p2] Forma"/>
          <p:cNvSpPr/>
          <p:nvPr/>
        </p:nvSpPr>
        <p:spPr>
          <a:xfrm>
            <a:off x="8482366"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Observabilidad</a:t>
            </a:r>
            <a:endParaRPr lang="en-US" sz="1400" dirty="0"/>
          </a:p>
        </p:txBody>
      </p:sp>
      <p:sp>
        <p:nvSpPr>
          <p:cNvPr id="41" name="[p2] Forma"/>
          <p:cNvSpPr/>
          <p:nvPr/>
        </p:nvSpPr>
        <p:spPr>
          <a:xfrm>
            <a:off x="8541019"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42" name="[p2] Forma"/>
          <p:cNvSpPr/>
          <p:nvPr/>
        </p:nvSpPr>
        <p:spPr>
          <a:xfrm>
            <a:off x="8500654"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Logs centralizados · Trazas · Salud con Actuator</a:t>
            </a:r>
            <a:endParaRPr lang="en-US" sz="1150" dirty="0"/>
          </a:p>
        </p:txBody>
      </p:sp>
      <p:sp>
        <p:nvSpPr>
          <p:cNvPr id="43" name="[p3] Forma"/>
          <p:cNvSpPr/>
          <p:nvPr/>
        </p:nvSpPr>
        <p:spPr>
          <a:xfrm>
            <a:off x="10421286" y="2771089"/>
            <a:ext cx="748894" cy="748894"/>
          </a:xfrm>
          <a:prstGeom prst="ellipse">
            <a:avLst/>
          </a:prstGeom>
          <a:solidFill>
            <a:srgbClr val="5B3FC4"/>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44" name="[p3] Icono monitor"/>
          <p:cNvSpPr/>
          <p:nvPr/>
        </p:nvSpPr>
        <p:spPr>
          <a:xfrm>
            <a:off x="10608510" y="2958313"/>
            <a:ext cx="374447" cy="374447"/>
          </a:xfrm>
          <a:custGeom>
            <a:avLst/>
            <a:gdLst/>
            <a:ahLst/>
            <a:cxnLst/>
            <a:rect l="l" t="t" r="r" b="b"/>
            <a:pathLst>
              <a:path w="374447" h="374447">
                <a:moveTo>
                  <a:pt x="62408" y="46806"/>
                </a:moveTo>
                <a:lnTo>
                  <a:pt x="312039" y="46806"/>
                </a:lnTo>
                <a:cubicBezTo>
                  <a:pt x="329272" y="46806"/>
                  <a:pt x="343243" y="60776"/>
                  <a:pt x="343243" y="78010"/>
                </a:cubicBezTo>
                <a:lnTo>
                  <a:pt x="343243" y="234029"/>
                </a:lnTo>
                <a:cubicBezTo>
                  <a:pt x="343243" y="251263"/>
                  <a:pt x="329272" y="265233"/>
                  <a:pt x="312039" y="265233"/>
                </a:cubicBezTo>
                <a:lnTo>
                  <a:pt x="62408" y="265233"/>
                </a:lnTo>
                <a:cubicBezTo>
                  <a:pt x="45174" y="265233"/>
                  <a:pt x="31204" y="251263"/>
                  <a:pt x="31204" y="234029"/>
                </a:cubicBezTo>
                <a:lnTo>
                  <a:pt x="31204" y="78010"/>
                </a:lnTo>
                <a:cubicBezTo>
                  <a:pt x="31204" y="60776"/>
                  <a:pt x="45174" y="46806"/>
                  <a:pt x="62408" y="46806"/>
                </a:cubicBezTo>
                <a:close/>
                <a:moveTo>
                  <a:pt x="124816" y="327641"/>
                </a:moveTo>
                <a:lnTo>
                  <a:pt x="249631" y="327641"/>
                </a:lnTo>
                <a:moveTo>
                  <a:pt x="187223" y="265233"/>
                </a:moveTo>
                <a:lnTo>
                  <a:pt x="187223" y="327641"/>
                </a:lnTo>
              </a:path>
            </a:pathLst>
          </a:custGeom>
          <a:noFill/>
          <a:ln w="31204" cap="rnd">
            <a:solidFill>
              <a:srgbClr val="FFFFFF"/>
            </a:solidFill>
            <a:prstDash val="solid"/>
            <a:round/>
          </a:ln>
        </p:spPr>
      </p:sp>
      <p:sp>
        <p:nvSpPr>
          <p:cNvPr id="45" name="[p3] Forma"/>
          <p:cNvSpPr/>
          <p:nvPr/>
        </p:nvSpPr>
        <p:spPr>
          <a:xfrm>
            <a:off x="10915556"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7</a:t>
            </a:r>
            <a:endParaRPr lang="en-US" sz="1150" dirty="0"/>
          </a:p>
        </p:txBody>
      </p:sp>
      <p:sp>
        <p:nvSpPr>
          <p:cNvPr id="46" name="[p3] Forma"/>
          <p:cNvSpPr/>
          <p:nvPr/>
        </p:nvSpPr>
        <p:spPr>
          <a:xfrm>
            <a:off x="10048995"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Demostración con la UI</a:t>
            </a:r>
            <a:endParaRPr lang="en-US" sz="1500" dirty="0"/>
          </a:p>
        </p:txBody>
      </p:sp>
      <p:sp>
        <p:nvSpPr>
          <p:cNvPr id="47" name="[p3] Forma"/>
          <p:cNvSpPr/>
          <p:nvPr/>
        </p:nvSpPr>
        <p:spPr>
          <a:xfrm>
            <a:off x="10340819" y="4393692"/>
            <a:ext cx="909828" cy="274320"/>
          </a:xfrm>
          <a:prstGeom prst="roundRect">
            <a:avLst>
              <a:gd name="adj" fmla="val 50000"/>
            </a:avLst>
          </a:prstGeom>
          <a:solidFill>
            <a:srgbClr val="5B3FC4"/>
          </a:solidFill>
          <a:ln w="12700">
            <a:solidFill>
              <a:srgbClr val="5B3FC4"/>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EN VIVO</a:t>
            </a:r>
            <a:endParaRPr lang="en-US" sz="950" dirty="0"/>
          </a:p>
        </p:txBody>
      </p:sp>
      <p:sp>
        <p:nvSpPr>
          <p:cNvPr id="48" name="[p3] Forma"/>
          <p:cNvSpPr/>
          <p:nvPr/>
        </p:nvSpPr>
        <p:spPr>
          <a:xfrm>
            <a:off x="10067283"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Crear y enviar · Una caída en vivo · Reentregar</a:t>
            </a:r>
            <a:endParaRPr lang="en-US" sz="115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00"/>
                                        <p:tgtEl>
                                          <p:spTgt spid="3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00"/>
                                        <p:tgtEl>
                                          <p:spTgt spid="3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00"/>
                                        <p:tgtEl>
                                          <p:spTgt spid="3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400"/>
                                        <p:tgtEl>
                                          <p:spTgt spid="36"/>
                                        </p:tgtEl>
                                      </p:cBhvr>
                                    </p:animEffect>
                                  </p:childTnLst>
                                </p:cTn>
                              </p:par>
                            </p:childTnLst>
                          </p:cTn>
                        </p:par>
                      </p:childTnLst>
                    </p:cTn>
                  </p:par>
                  <p:par>
                    <p:cTn id="77" fill="hold">
                      <p:stCondLst>
                        <p:cond delay="indefinite"/>
                      </p:stCondLst>
                      <p:childTnLst>
                        <p:par>
                          <p:cTn id="7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4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4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00"/>
                                        <p:tgtEl>
                                          <p:spTgt spid="4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4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400"/>
                                        <p:tgtEl>
                                          <p:spTgt spid="42"/>
                                        </p:tgtEl>
                                      </p:cBhvr>
                                    </p:animEffect>
                                  </p:childTnLst>
                                </p:cTn>
                              </p:par>
                            </p:childTnLst>
                          </p:cTn>
                        </p:par>
                      </p:childTnLst>
                    </p:cTn>
                  </p:par>
                  <p:par>
                    <p:cTn id="97" fill="hold">
                      <p:stCondLst>
                        <p:cond delay="indefinite"/>
                      </p:stCondLst>
                      <p:childTnLst>
                        <p:par>
                          <p:cTn id="9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Primero el qué: el negocio en una lámina</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Antes de escribir código, entendimos qué tiene que pasar, quién lo hace y qué no se permite.</a:t>
            </a:r>
            <a:endParaRPr lang="en-US" sz="1700" dirty="0"/>
          </a:p>
        </p:txBody>
      </p:sp>
      <p:sp>
        <p:nvSpPr>
          <p:cNvPr id="13" name="Shape 11"/>
          <p:cNvSpPr/>
          <p:nvPr/>
        </p:nvSpPr>
        <p:spPr>
          <a:xfrm>
            <a:off x="1251928" y="1828800"/>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1588427" y="2165299"/>
            <a:ext cx="790042" cy="790042"/>
          </a:xfrm>
          <a:custGeom>
            <a:avLst/>
            <a:gdLst/>
            <a:ahLst/>
            <a:cxnLst/>
            <a:rect l="l" t="t" r="r" b="b"/>
            <a:pathLst>
              <a:path w="790042" h="790042">
                <a:moveTo>
                  <a:pt x="625450" y="691286"/>
                </a:moveTo>
                <a:lnTo>
                  <a:pt x="625450" y="625450"/>
                </a:lnTo>
                <a:cubicBezTo>
                  <a:pt x="625450" y="552728"/>
                  <a:pt x="566497" y="493776"/>
                  <a:pt x="493776" y="493776"/>
                </a:cubicBezTo>
                <a:lnTo>
                  <a:pt x="296266" y="493776"/>
                </a:lnTo>
                <a:cubicBezTo>
                  <a:pt x="223544" y="493776"/>
                  <a:pt x="164592" y="552728"/>
                  <a:pt x="164592" y="625450"/>
                </a:cubicBezTo>
                <a:lnTo>
                  <a:pt x="164592" y="691286"/>
                </a:lnTo>
                <a:moveTo>
                  <a:pt x="526694" y="230429"/>
                </a:moveTo>
                <a:cubicBezTo>
                  <a:pt x="526694" y="303150"/>
                  <a:pt x="467742" y="362102"/>
                  <a:pt x="395021" y="362102"/>
                </a:cubicBezTo>
                <a:cubicBezTo>
                  <a:pt x="322299" y="362102"/>
                  <a:pt x="263347" y="303150"/>
                  <a:pt x="263347" y="230429"/>
                </a:cubicBezTo>
                <a:cubicBezTo>
                  <a:pt x="263347" y="157707"/>
                  <a:pt x="322299" y="98755"/>
                  <a:pt x="395021" y="98755"/>
                </a:cubicBezTo>
                <a:cubicBezTo>
                  <a:pt x="467742" y="98755"/>
                  <a:pt x="526694" y="157707"/>
                  <a:pt x="526694" y="230429"/>
                </a:cubicBezTo>
                <a:close/>
              </a:path>
            </a:pathLst>
          </a:custGeom>
          <a:noFill/>
          <a:ln w="57607" cap="rnd">
            <a:solidFill>
              <a:srgbClr val="5B3FC4"/>
            </a:solidFill>
            <a:prstDash val="solid"/>
            <a:round/>
          </a:ln>
        </p:spPr>
      </p:sp>
      <p:sp>
        <p:nvSpPr>
          <p:cNvPr id="15" name="Text 13"/>
          <p:cNvSpPr/>
          <p:nvPr/>
        </p:nvSpPr>
        <p:spPr>
          <a:xfrm>
            <a:off x="1215352" y="1792224"/>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Quien solicita</a:t>
            </a:r>
            <a:endParaRPr lang="en-US" sz="1800" dirty="0"/>
          </a:p>
        </p:txBody>
      </p:sp>
      <p:sp>
        <p:nvSpPr>
          <p:cNvPr id="17" name="Text 15"/>
          <p:cNvSpPr/>
          <p:nvPr/>
        </p:nvSpPr>
        <p:spPr>
          <a:xfrm>
            <a:off x="7223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Registra qué necesita y de qué tipo.</a:t>
            </a:r>
            <a:endParaRPr lang="en-US" sz="1400" dirty="0"/>
          </a:p>
        </p:txBody>
      </p:sp>
      <p:sp>
        <p:nvSpPr>
          <p:cNvPr id="18" name="[p1] Forma"/>
          <p:cNvSpPr/>
          <p:nvPr/>
        </p:nvSpPr>
        <p:spPr>
          <a:xfrm>
            <a:off x="2806408" y="2560320"/>
            <a:ext cx="1095680" cy="0"/>
          </a:xfrm>
          <a:prstGeom prst="line">
            <a:avLst/>
          </a:prstGeom>
          <a:noFill/>
          <a:ln w="38100">
            <a:solidFill>
              <a:srgbClr val="2BA6CB"/>
            </a:solidFill>
            <a:prstDash val="solid"/>
            <a:tailEnd type="triangle"/>
          </a:ln>
        </p:spPr>
      </p:sp>
      <p:sp>
        <p:nvSpPr>
          <p:cNvPr id="19" name="[p1] Forma"/>
          <p:cNvSpPr/>
          <p:nvPr/>
        </p:nvSpPr>
        <p:spPr>
          <a:xfrm>
            <a:off x="3993528" y="1828800"/>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nd"/>
          <p:cNvSpPr/>
          <p:nvPr/>
        </p:nvSpPr>
        <p:spPr>
          <a:xfrm>
            <a:off x="4330027" y="2165299"/>
            <a:ext cx="790042" cy="790042"/>
          </a:xfrm>
          <a:custGeom>
            <a:avLst/>
            <a:gdLst/>
            <a:ahLst/>
            <a:cxnLst/>
            <a:rect l="l" t="t" r="r" b="b"/>
            <a:pathLst>
              <a:path w="790042" h="790042">
                <a:moveTo>
                  <a:pt x="478502" y="713868"/>
                </a:moveTo>
                <a:cubicBezTo>
                  <a:pt x="481063" y="720252"/>
                  <a:pt x="487323" y="724369"/>
                  <a:pt x="494199" y="724193"/>
                </a:cubicBezTo>
                <a:cubicBezTo>
                  <a:pt x="501074" y="724017"/>
                  <a:pt x="507115" y="719584"/>
                  <a:pt x="509346" y="713078"/>
                </a:cubicBezTo>
                <a:lnTo>
                  <a:pt x="723316" y="87629"/>
                </a:lnTo>
                <a:cubicBezTo>
                  <a:pt x="725467" y="81674"/>
                  <a:pt x="723981" y="75013"/>
                  <a:pt x="719505" y="70537"/>
                </a:cubicBezTo>
                <a:cubicBezTo>
                  <a:pt x="715028" y="66060"/>
                  <a:pt x="708367" y="64575"/>
                  <a:pt x="702413" y="66726"/>
                </a:cubicBezTo>
                <a:lnTo>
                  <a:pt x="76963" y="280695"/>
                </a:lnTo>
                <a:cubicBezTo>
                  <a:pt x="70457" y="282926"/>
                  <a:pt x="66025" y="288967"/>
                  <a:pt x="65849" y="295843"/>
                </a:cubicBezTo>
                <a:cubicBezTo>
                  <a:pt x="65673" y="302718"/>
                  <a:pt x="69790" y="308979"/>
                  <a:pt x="76173" y="311540"/>
                </a:cubicBezTo>
                <a:lnTo>
                  <a:pt x="337216" y="416220"/>
                </a:lnTo>
                <a:cubicBezTo>
                  <a:pt x="353891" y="422897"/>
                  <a:pt x="367115" y="436096"/>
                  <a:pt x="373821" y="452760"/>
                </a:cubicBezTo>
                <a:close/>
                <a:moveTo>
                  <a:pt x="719399" y="70676"/>
                </a:moveTo>
                <a:lnTo>
                  <a:pt x="359271" y="430770"/>
                </a:lnTo>
              </a:path>
            </a:pathLst>
          </a:custGeom>
          <a:noFill/>
          <a:ln w="57607" cap="rnd">
            <a:solidFill>
              <a:srgbClr val="0B2350"/>
            </a:solidFill>
            <a:prstDash val="solid"/>
            <a:round/>
          </a:ln>
        </p:spPr>
      </p:sp>
      <p:sp>
        <p:nvSpPr>
          <p:cNvPr id="21" name="[p1] Forma"/>
          <p:cNvSpPr/>
          <p:nvPr/>
        </p:nvSpPr>
        <p:spPr>
          <a:xfrm>
            <a:off x="39569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envía</a:t>
            </a:r>
            <a:endParaRPr lang="en-US" sz="1800" dirty="0"/>
          </a:p>
        </p:txBody>
      </p:sp>
      <p:sp>
        <p:nvSpPr>
          <p:cNvPr id="23" name="[p1] Forma"/>
          <p:cNvSpPr/>
          <p:nvPr/>
        </p:nvSpPr>
        <p:spPr>
          <a:xfrm>
            <a:off x="34639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Cuando está lista.</a:t>
            </a:r>
            <a:endParaRPr lang="en-US" sz="1400" dirty="0"/>
          </a:p>
        </p:txBody>
      </p:sp>
      <p:sp>
        <p:nvSpPr>
          <p:cNvPr id="24" name="[p2] Forma"/>
          <p:cNvSpPr/>
          <p:nvPr/>
        </p:nvSpPr>
        <p:spPr>
          <a:xfrm>
            <a:off x="5548008" y="2560320"/>
            <a:ext cx="1095680" cy="0"/>
          </a:xfrm>
          <a:prstGeom prst="line">
            <a:avLst/>
          </a:prstGeom>
          <a:noFill/>
          <a:ln w="38100">
            <a:solidFill>
              <a:srgbClr val="2BA6CB"/>
            </a:solidFill>
            <a:prstDash val="solid"/>
            <a:tailEnd type="triangle"/>
          </a:ln>
        </p:spPr>
      </p:sp>
      <p:sp>
        <p:nvSpPr>
          <p:cNvPr id="25" name="[p2] Forma"/>
          <p:cNvSpPr/>
          <p:nvPr/>
        </p:nvSpPr>
        <p:spPr>
          <a:xfrm>
            <a:off x="6735128" y="1828800"/>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bell"/>
          <p:cNvSpPr/>
          <p:nvPr/>
        </p:nvSpPr>
        <p:spPr>
          <a:xfrm>
            <a:off x="7071627" y="2165299"/>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7" name="[p2] Forma"/>
          <p:cNvSpPr/>
          <p:nvPr/>
        </p:nvSpPr>
        <p:spPr>
          <a:xfrm>
            <a:off x="6698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sistema avisa</a:t>
            </a:r>
            <a:endParaRPr lang="en-US" sz="1800" dirty="0"/>
          </a:p>
        </p:txBody>
      </p:sp>
      <p:sp>
        <p:nvSpPr>
          <p:cNvPr id="29" name="[p2] Forma"/>
          <p:cNvSpPr/>
          <p:nvPr/>
        </p:nvSpPr>
        <p:spPr>
          <a:xfrm>
            <a:off x="62055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 quien debe atenderla.</a:t>
            </a:r>
            <a:endParaRPr lang="en-US" sz="1400" dirty="0"/>
          </a:p>
        </p:txBody>
      </p:sp>
      <p:sp>
        <p:nvSpPr>
          <p:cNvPr id="30" name="[p3] Forma"/>
          <p:cNvSpPr/>
          <p:nvPr/>
        </p:nvSpPr>
        <p:spPr>
          <a:xfrm>
            <a:off x="8289608" y="2560320"/>
            <a:ext cx="1095680" cy="0"/>
          </a:xfrm>
          <a:prstGeom prst="line">
            <a:avLst/>
          </a:prstGeom>
          <a:noFill/>
          <a:ln w="38100">
            <a:solidFill>
              <a:srgbClr val="2BA6CB"/>
            </a:solidFill>
            <a:prstDash val="solid"/>
            <a:tailEnd type="triangle"/>
          </a:ln>
        </p:spPr>
      </p:sp>
      <p:sp>
        <p:nvSpPr>
          <p:cNvPr id="31" name="[p3] Forma"/>
          <p:cNvSpPr/>
          <p:nvPr/>
        </p:nvSpPr>
        <p:spPr>
          <a:xfrm>
            <a:off x="9476727" y="1828800"/>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ircle-check"/>
          <p:cNvSpPr/>
          <p:nvPr/>
        </p:nvSpPr>
        <p:spPr>
          <a:xfrm>
            <a:off x="9813226" y="2165299"/>
            <a:ext cx="790042" cy="790042"/>
          </a:xfrm>
          <a:custGeom>
            <a:avLst/>
            <a:gdLst/>
            <a:ahLst/>
            <a:cxnLst/>
            <a:rect l="l" t="t" r="r" b="b"/>
            <a:pathLst>
              <a:path w="790042" h="790042">
                <a:moveTo>
                  <a:pt x="724205" y="395021"/>
                </a:moveTo>
                <a:cubicBezTo>
                  <a:pt x="724205" y="576824"/>
                  <a:pt x="576824" y="724205"/>
                  <a:pt x="395021" y="724205"/>
                </a:cubicBezTo>
                <a:cubicBezTo>
                  <a:pt x="213217" y="724205"/>
                  <a:pt x="65837" y="576824"/>
                  <a:pt x="65837" y="395021"/>
                </a:cubicBezTo>
                <a:cubicBezTo>
                  <a:pt x="65837" y="213217"/>
                  <a:pt x="213217" y="65837"/>
                  <a:pt x="395021" y="65837"/>
                </a:cubicBezTo>
                <a:cubicBezTo>
                  <a:pt x="576824" y="65837"/>
                  <a:pt x="724205" y="213217"/>
                  <a:pt x="724205" y="395021"/>
                </a:cubicBezTo>
                <a:close/>
                <a:moveTo>
                  <a:pt x="296266" y="395021"/>
                </a:moveTo>
                <a:lnTo>
                  <a:pt x="362102" y="460858"/>
                </a:lnTo>
                <a:lnTo>
                  <a:pt x="493776" y="329184"/>
                </a:lnTo>
              </a:path>
            </a:pathLst>
          </a:custGeom>
          <a:noFill/>
          <a:ln w="57607" cap="rnd">
            <a:solidFill>
              <a:srgbClr val="0A6648"/>
            </a:solidFill>
            <a:prstDash val="solid"/>
            <a:round/>
          </a:ln>
        </p:spPr>
      </p:sp>
      <p:sp>
        <p:nvSpPr>
          <p:cNvPr id="33" name="[p3] Forma"/>
          <p:cNvSpPr/>
          <p:nvPr/>
        </p:nvSpPr>
        <p:spPr>
          <a:xfrm>
            <a:off x="94401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Alguien decide</a:t>
            </a:r>
            <a:endParaRPr lang="en-US" sz="1800" dirty="0"/>
          </a:p>
        </p:txBody>
      </p:sp>
      <p:sp>
        <p:nvSpPr>
          <p:cNvPr id="35" name="[p3] Forma"/>
          <p:cNvSpPr/>
          <p:nvPr/>
        </p:nvSpPr>
        <p:spPr>
          <a:xfrm>
            <a:off x="8947175"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aprueba o la rechaza.</a:t>
            </a:r>
            <a:endParaRPr lang="en-US" sz="1400" dirty="0"/>
          </a:p>
        </p:txBody>
      </p:sp>
      <p:sp>
        <p:nvSpPr>
          <p:cNvPr id="36" name="[p4] Forma"/>
          <p:cNvSpPr/>
          <p:nvPr/>
        </p:nvSpPr>
        <p:spPr>
          <a:xfrm>
            <a:off x="4725048" y="4352544"/>
            <a:ext cx="0" cy="1568196"/>
          </a:xfrm>
          <a:prstGeom prst="line">
            <a:avLst/>
          </a:prstGeom>
          <a:noFill/>
          <a:ln w="25400">
            <a:solidFill>
              <a:srgbClr val="AB243E"/>
            </a:solidFill>
            <a:prstDash val="dash"/>
          </a:ln>
        </p:spPr>
      </p:sp>
      <p:sp>
        <p:nvSpPr>
          <p:cNvPr id="37" name="[p4] Forma"/>
          <p:cNvSpPr/>
          <p:nvPr/>
        </p:nvSpPr>
        <p:spPr>
          <a:xfrm>
            <a:off x="4725048" y="5920740"/>
            <a:ext cx="457200" cy="0"/>
          </a:xfrm>
          <a:prstGeom prst="line">
            <a:avLst/>
          </a:prstGeom>
          <a:noFill/>
          <a:ln w="25400">
            <a:solidFill>
              <a:srgbClr val="AB243E"/>
            </a:solidFill>
            <a:prstDash val="dash"/>
            <a:tailEnd type="triangle"/>
          </a:ln>
        </p:spPr>
      </p:sp>
      <p:sp>
        <p:nvSpPr>
          <p:cNvPr id="38" name="[p4] Forma"/>
          <p:cNvSpPr/>
          <p:nvPr/>
        </p:nvSpPr>
        <p:spPr>
          <a:xfrm>
            <a:off x="3262008" y="5591556"/>
            <a:ext cx="1371600" cy="274320"/>
          </a:xfrm>
          <a:prstGeom prst="rect">
            <a:avLst/>
          </a:prstGeom>
          <a:noFill/>
          <a:ln/>
        </p:spPr>
        <p:txBody>
          <a:bodyPr wrap="square" lIns="0" tIns="0" rIns="0" bIns="0" rtlCol="0" anchor="t">
            <a:normAutofit/>
          </a:bodyPr>
          <a:lstStyle/>
          <a:p>
            <a:pPr algn="r" indent="0" marL="0">
              <a:buNone/>
            </a:pPr>
            <a:r>
              <a:rPr lang="en-US" sz="950" b="1" dirty="0">
                <a:solidFill>
                  <a:srgbClr val="AB243E"/>
                </a:solidFill>
                <a:latin typeface="Segoe UI" pitchFamily="34" charset="0"/>
                <a:ea typeface="Segoe UI" pitchFamily="34" charset="-122"/>
                <a:cs typeface="Segoe UI" pitchFamily="34" charset="-120"/>
              </a:rPr>
              <a:t>si se salta un paso</a:t>
            </a:r>
            <a:endParaRPr lang="en-US" sz="950" dirty="0"/>
          </a:p>
        </p:txBody>
      </p:sp>
      <p:sp>
        <p:nvSpPr>
          <p:cNvPr id="39" name="[p4] Forma"/>
          <p:cNvSpPr/>
          <p:nvPr/>
        </p:nvSpPr>
        <p:spPr>
          <a:xfrm>
            <a:off x="5182248"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0" name="[p4] Forma"/>
          <p:cNvSpPr/>
          <p:nvPr/>
        </p:nvSpPr>
        <p:spPr>
          <a:xfrm>
            <a:off x="5346840" y="5641848"/>
            <a:ext cx="548640" cy="548640"/>
          </a:xfrm>
          <a:prstGeom prst="ellipse">
            <a:avLst/>
          </a:prstGeom>
          <a:solidFill>
            <a:srgbClr val="FFFFFF"/>
          </a:solidFill>
          <a:ln w="12700">
            <a:solidFill>
              <a:srgbClr val="FFFFFF"/>
            </a:solidFill>
            <a:prstDash val="solid"/>
          </a:ln>
        </p:spPr>
      </p:sp>
      <p:sp>
        <p:nvSpPr>
          <p:cNvPr id="41" name="[p4] Icono ban"/>
          <p:cNvSpPr/>
          <p:nvPr/>
        </p:nvSpPr>
        <p:spPr>
          <a:xfrm>
            <a:off x="5478513" y="5773522"/>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AB243E"/>
            </a:solidFill>
            <a:prstDash val="solid"/>
            <a:round/>
          </a:ln>
        </p:spPr>
      </p:sp>
      <p:sp>
        <p:nvSpPr>
          <p:cNvPr id="42" name="[p4] Forma"/>
          <p:cNvSpPr/>
          <p:nvPr/>
        </p:nvSpPr>
        <p:spPr>
          <a:xfrm>
            <a:off x="6023496"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No se permite</a:t>
            </a:r>
            <a:endParaRPr lang="en-US" sz="1450" dirty="0"/>
          </a:p>
        </p:txBody>
      </p:sp>
      <p:sp>
        <p:nvSpPr>
          <p:cNvPr id="43" name="[p4] Forma"/>
          <p:cNvSpPr/>
          <p:nvPr/>
        </p:nvSpPr>
        <p:spPr>
          <a:xfrm>
            <a:off x="6023496"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Enviar dos veces o decidir sobre un borrador: el sistema explica por qué.</a:t>
            </a:r>
            <a:endParaRPr lang="en-US" sz="11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00"/>
                                        <p:tgtEl>
                                          <p:spTgt spid="4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Después, el cómo: seis prácticas que hacen que un cambio toque un solo lugar, en cualquier lenguaje.</a:t>
            </a:r>
            <a:endParaRPr lang="en-US" sz="1650" dirty="0"/>
          </a:p>
        </p:txBody>
      </p:sp>
      <p:sp>
        <p:nvSpPr>
          <p:cNvPr id="13" name="Shape 11"/>
          <p:cNvSpPr/>
          <p:nvPr/>
        </p:nvSpPr>
        <p:spPr>
          <a:xfrm>
            <a:off x="612648"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13816" y="1901952"/>
            <a:ext cx="676656" cy="676656"/>
          </a:xfrm>
          <a:prstGeom prst="ellipse">
            <a:avLst/>
          </a:prstGeom>
          <a:solidFill>
            <a:srgbClr val="E8EEF8"/>
          </a:solidFill>
          <a:ln w="12700">
            <a:solidFill>
              <a:srgbClr val="E8EEF8"/>
            </a:solidFill>
            <a:prstDash val="solid"/>
          </a:ln>
        </p:spPr>
      </p:sp>
      <p:sp>
        <p:nvSpPr>
          <p:cNvPr id="16" name="Icono layers"/>
          <p:cNvSpPr/>
          <p:nvPr/>
        </p:nvSpPr>
        <p:spPr>
          <a:xfrm>
            <a:off x="976213" y="2064349"/>
            <a:ext cx="351861" cy="351861"/>
          </a:xfrm>
          <a:custGeom>
            <a:avLst/>
            <a:gdLst/>
            <a:ahLst/>
            <a:cxnLst/>
            <a:rect l="l" t="t" r="r" b="b"/>
            <a:pathLst>
              <a:path w="351861" h="351861">
                <a:moveTo>
                  <a:pt x="188099" y="31961"/>
                </a:moveTo>
                <a:cubicBezTo>
                  <a:pt x="180370" y="28435"/>
                  <a:pt x="171491" y="28435"/>
                  <a:pt x="163762" y="31961"/>
                </a:cubicBezTo>
                <a:lnTo>
                  <a:pt x="38118" y="89138"/>
                </a:lnTo>
                <a:cubicBezTo>
                  <a:pt x="32803" y="91482"/>
                  <a:pt x="29372" y="96743"/>
                  <a:pt x="29372" y="102553"/>
                </a:cubicBezTo>
                <a:cubicBezTo>
                  <a:pt x="29372" y="108362"/>
                  <a:pt x="32803" y="113624"/>
                  <a:pt x="38118" y="115968"/>
                </a:cubicBezTo>
                <a:lnTo>
                  <a:pt x="163909" y="173292"/>
                </a:lnTo>
                <a:cubicBezTo>
                  <a:pt x="171638" y="176817"/>
                  <a:pt x="180516" y="176817"/>
                  <a:pt x="188246" y="173292"/>
                </a:cubicBezTo>
                <a:lnTo>
                  <a:pt x="314036" y="116114"/>
                </a:lnTo>
                <a:cubicBezTo>
                  <a:pt x="319352" y="113770"/>
                  <a:pt x="322782" y="108509"/>
                  <a:pt x="322782" y="102699"/>
                </a:cubicBezTo>
                <a:cubicBezTo>
                  <a:pt x="322782" y="96890"/>
                  <a:pt x="319352" y="91629"/>
                  <a:pt x="314036" y="89285"/>
                </a:cubicBezTo>
                <a:close/>
                <a:moveTo>
                  <a:pt x="29322" y="175931"/>
                </a:moveTo>
                <a:cubicBezTo>
                  <a:pt x="29308" y="181657"/>
                  <a:pt x="32628" y="186867"/>
                  <a:pt x="37825" y="189272"/>
                </a:cubicBezTo>
                <a:lnTo>
                  <a:pt x="163909" y="246596"/>
                </a:lnTo>
                <a:cubicBezTo>
                  <a:pt x="171596" y="250077"/>
                  <a:pt x="180411" y="250077"/>
                  <a:pt x="188099" y="246596"/>
                </a:cubicBezTo>
                <a:lnTo>
                  <a:pt x="313889" y="189419"/>
                </a:lnTo>
                <a:cubicBezTo>
                  <a:pt x="319192" y="187035"/>
                  <a:pt x="322585" y="181744"/>
                  <a:pt x="322539" y="175931"/>
                </a:cubicBezTo>
                <a:moveTo>
                  <a:pt x="29322" y="249235"/>
                </a:moveTo>
                <a:cubicBezTo>
                  <a:pt x="29308" y="254961"/>
                  <a:pt x="32628" y="260171"/>
                  <a:pt x="37825" y="262576"/>
                </a:cubicBezTo>
                <a:lnTo>
                  <a:pt x="163909" y="319900"/>
                </a:lnTo>
                <a:cubicBezTo>
                  <a:pt x="171596" y="323382"/>
                  <a:pt x="180411" y="323382"/>
                  <a:pt x="188099" y="319900"/>
                </a:cubicBezTo>
                <a:lnTo>
                  <a:pt x="313889" y="262723"/>
                </a:lnTo>
                <a:cubicBezTo>
                  <a:pt x="319192" y="260340"/>
                  <a:pt x="322585" y="255048"/>
                  <a:pt x="322539" y="249235"/>
                </a:cubicBezTo>
              </a:path>
            </a:pathLst>
          </a:custGeom>
          <a:noFill/>
          <a:ln w="29322" cap="rnd">
            <a:solidFill>
              <a:srgbClr val="0B2350"/>
            </a:solidFill>
            <a:prstDash val="solid"/>
            <a:round/>
          </a:ln>
        </p:spPr>
      </p:sp>
      <p:sp>
        <p:nvSpPr>
          <p:cNvPr id="17" name="Text 15"/>
          <p:cNvSpPr/>
          <p:nvPr/>
        </p:nvSpPr>
        <p:spPr>
          <a:xfrm>
            <a:off x="1636776"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2350"/>
                </a:solidFill>
                <a:latin typeface="Segoe UI Semibold" pitchFamily="34" charset="0"/>
                <a:ea typeface="Segoe UI Semibold" pitchFamily="34" charset="-122"/>
                <a:cs typeface="Segoe UI Semibold" pitchFamily="34" charset="-120"/>
              </a:rPr>
              <a:t>Una tarea por pieza</a:t>
            </a:r>
            <a:endParaRPr lang="en-US" sz="1800" dirty="0"/>
          </a:p>
        </p:txBody>
      </p:sp>
      <p:sp>
        <p:nvSpPr>
          <p:cNvPr id="18" name="Text 16"/>
          <p:cNvSpPr/>
          <p:nvPr/>
        </p:nvSpPr>
        <p:spPr>
          <a:xfrm>
            <a:off x="868680"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Quien recibe la petición no decide; quien decide no guarda.</a:t>
            </a:r>
            <a:endParaRPr lang="en-US" sz="1600" dirty="0"/>
          </a:p>
        </p:txBody>
      </p:sp>
      <p:sp>
        <p:nvSpPr>
          <p:cNvPr id="19" name="[p1] Forma"/>
          <p:cNvSpPr/>
          <p:nvPr/>
        </p:nvSpPr>
        <p:spPr>
          <a:xfrm>
            <a:off x="4329074"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4329074" y="1847088"/>
            <a:ext cx="64008" cy="1970532"/>
          </a:xfrm>
          <a:prstGeom prst="rect">
            <a:avLst/>
          </a:prstGeom>
          <a:solidFill>
            <a:srgbClr val="0B6E8A"/>
          </a:solidFill>
          <a:ln w="12700">
            <a:solidFill>
              <a:srgbClr val="0B6E8A"/>
            </a:solidFill>
            <a:prstDash val="solid"/>
          </a:ln>
        </p:spPr>
      </p:sp>
      <p:sp>
        <p:nvSpPr>
          <p:cNvPr id="21" name="[p1] Forma"/>
          <p:cNvSpPr/>
          <p:nvPr/>
        </p:nvSpPr>
        <p:spPr>
          <a:xfrm>
            <a:off x="4530242" y="1901952"/>
            <a:ext cx="676656" cy="676656"/>
          </a:xfrm>
          <a:prstGeom prst="ellipse">
            <a:avLst/>
          </a:prstGeom>
          <a:solidFill>
            <a:srgbClr val="E3F4FA"/>
          </a:solidFill>
          <a:ln w="12700">
            <a:solidFill>
              <a:srgbClr val="E3F4FA"/>
            </a:solidFill>
            <a:prstDash val="solid"/>
          </a:ln>
        </p:spPr>
      </p:sp>
      <p:sp>
        <p:nvSpPr>
          <p:cNvPr id="22" name="[p1] Icono plug"/>
          <p:cNvSpPr/>
          <p:nvPr/>
        </p:nvSpPr>
        <p:spPr>
          <a:xfrm>
            <a:off x="4692640" y="2064349"/>
            <a:ext cx="351861" cy="351861"/>
          </a:xfrm>
          <a:custGeom>
            <a:avLst/>
            <a:gdLst/>
            <a:ahLst/>
            <a:cxnLst/>
            <a:rect l="l" t="t" r="r" b="b"/>
            <a:pathLst>
              <a:path w="351861" h="351861">
                <a:moveTo>
                  <a:pt x="175931" y="322539"/>
                </a:moveTo>
                <a:lnTo>
                  <a:pt x="175931" y="249235"/>
                </a:lnTo>
                <a:moveTo>
                  <a:pt x="131948" y="117287"/>
                </a:moveTo>
                <a:lnTo>
                  <a:pt x="131948" y="29322"/>
                </a:lnTo>
                <a:moveTo>
                  <a:pt x="219913" y="117287"/>
                </a:moveTo>
                <a:lnTo>
                  <a:pt x="219913" y="29322"/>
                </a:lnTo>
                <a:moveTo>
                  <a:pt x="263896" y="117287"/>
                </a:moveTo>
                <a:lnTo>
                  <a:pt x="263896" y="190591"/>
                </a:lnTo>
                <a:cubicBezTo>
                  <a:pt x="263896" y="222979"/>
                  <a:pt x="237640" y="249235"/>
                  <a:pt x="205252" y="249235"/>
                </a:cubicBezTo>
                <a:lnTo>
                  <a:pt x="146609" y="249235"/>
                </a:lnTo>
                <a:cubicBezTo>
                  <a:pt x="114221" y="249235"/>
                  <a:pt x="87965" y="222979"/>
                  <a:pt x="87965" y="190591"/>
                </a:cubicBezTo>
                <a:lnTo>
                  <a:pt x="87965" y="117287"/>
                </a:lnTo>
                <a:close/>
              </a:path>
            </a:pathLst>
          </a:custGeom>
          <a:noFill/>
          <a:ln w="29322" cap="rnd">
            <a:solidFill>
              <a:srgbClr val="0B6E8A"/>
            </a:solidFill>
            <a:prstDash val="solid"/>
            <a:round/>
          </a:ln>
        </p:spPr>
      </p:sp>
      <p:sp>
        <p:nvSpPr>
          <p:cNvPr id="23" name="[p1] Forma"/>
          <p:cNvSpPr/>
          <p:nvPr/>
        </p:nvSpPr>
        <p:spPr>
          <a:xfrm>
            <a:off x="5353202"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6E8A"/>
                </a:solidFill>
                <a:latin typeface="Segoe UI Semibold" pitchFamily="34" charset="0"/>
                <a:ea typeface="Segoe UI Semibold" pitchFamily="34" charset="-122"/>
                <a:cs typeface="Segoe UI Semibold" pitchFamily="34" charset="-120"/>
              </a:rPr>
              <a:t>Piezas que se conectan</a:t>
            </a:r>
            <a:endParaRPr lang="en-US" sz="1800" dirty="0"/>
          </a:p>
        </p:txBody>
      </p:sp>
      <p:sp>
        <p:nvSpPr>
          <p:cNvPr id="24" name="[p1] Forma"/>
          <p:cNvSpPr/>
          <p:nvPr/>
        </p:nvSpPr>
        <p:spPr>
          <a:xfrm>
            <a:off x="4585106"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Cada pieza recibe lo que necesita: se cambia o se prueba sola.</a:t>
            </a:r>
            <a:endParaRPr lang="en-US" sz="1600" dirty="0"/>
          </a:p>
        </p:txBody>
      </p:sp>
      <p:sp>
        <p:nvSpPr>
          <p:cNvPr id="25" name="[p2] Forma"/>
          <p:cNvSpPr/>
          <p:nvPr/>
        </p:nvSpPr>
        <p:spPr>
          <a:xfrm>
            <a:off x="8045501"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8045501" y="1847088"/>
            <a:ext cx="64008" cy="1970532"/>
          </a:xfrm>
          <a:prstGeom prst="rect">
            <a:avLst/>
          </a:prstGeom>
          <a:solidFill>
            <a:srgbClr val="5B3FC4"/>
          </a:solidFill>
          <a:ln w="12700">
            <a:solidFill>
              <a:srgbClr val="5B3FC4"/>
            </a:solidFill>
            <a:prstDash val="solid"/>
          </a:ln>
        </p:spPr>
      </p:sp>
      <p:sp>
        <p:nvSpPr>
          <p:cNvPr id="27" name="[p2] Forma"/>
          <p:cNvSpPr/>
          <p:nvPr/>
        </p:nvSpPr>
        <p:spPr>
          <a:xfrm>
            <a:off x="8246669" y="1901952"/>
            <a:ext cx="676656" cy="676656"/>
          </a:xfrm>
          <a:prstGeom prst="ellipse">
            <a:avLst/>
          </a:prstGeom>
          <a:solidFill>
            <a:srgbClr val="F1EEFD"/>
          </a:solidFill>
          <a:ln w="12700">
            <a:solidFill>
              <a:srgbClr val="F1EEFD"/>
            </a:solidFill>
            <a:prstDash val="solid"/>
          </a:ln>
        </p:spPr>
      </p:sp>
      <p:sp>
        <p:nvSpPr>
          <p:cNvPr id="28" name="[p2] Icono puzzle"/>
          <p:cNvSpPr/>
          <p:nvPr/>
        </p:nvSpPr>
        <p:spPr>
          <a:xfrm>
            <a:off x="8409066" y="2064349"/>
            <a:ext cx="351861" cy="351861"/>
          </a:xfrm>
          <a:custGeom>
            <a:avLst/>
            <a:gdLst/>
            <a:ahLst/>
            <a:cxnLst/>
            <a:rect l="l" t="t" r="r" b="b"/>
            <a:pathLst>
              <a:path w="351861" h="351861">
                <a:moveTo>
                  <a:pt x="225631" y="64361"/>
                </a:moveTo>
                <a:cubicBezTo>
                  <a:pt x="229384" y="68118"/>
                  <a:pt x="234874" y="69552"/>
                  <a:pt x="239984" y="68110"/>
                </a:cubicBezTo>
                <a:cubicBezTo>
                  <a:pt x="245094" y="66668"/>
                  <a:pt x="249025" y="62576"/>
                  <a:pt x="250261" y="57412"/>
                </a:cubicBezTo>
                <a:cubicBezTo>
                  <a:pt x="254473" y="39882"/>
                  <a:pt x="270808" y="28017"/>
                  <a:pt x="288781" y="29435"/>
                </a:cubicBezTo>
                <a:cubicBezTo>
                  <a:pt x="306754" y="30852"/>
                  <a:pt x="321028" y="45130"/>
                  <a:pt x="322439" y="63104"/>
                </a:cubicBezTo>
                <a:cubicBezTo>
                  <a:pt x="323851" y="81078"/>
                  <a:pt x="311981" y="97409"/>
                  <a:pt x="294449" y="101615"/>
                </a:cubicBezTo>
                <a:cubicBezTo>
                  <a:pt x="289285" y="102850"/>
                  <a:pt x="285193" y="106782"/>
                  <a:pt x="283751" y="111892"/>
                </a:cubicBezTo>
                <a:cubicBezTo>
                  <a:pt x="282310" y="117002"/>
                  <a:pt x="283743" y="122492"/>
                  <a:pt x="287500" y="126245"/>
                </a:cubicBezTo>
                <a:lnTo>
                  <a:pt x="312174" y="150904"/>
                </a:lnTo>
                <a:cubicBezTo>
                  <a:pt x="318812" y="157542"/>
                  <a:pt x="322541" y="166544"/>
                  <a:pt x="322541" y="175931"/>
                </a:cubicBezTo>
                <a:cubicBezTo>
                  <a:pt x="322541" y="185317"/>
                  <a:pt x="318812" y="194319"/>
                  <a:pt x="312174" y="200957"/>
                </a:cubicBezTo>
                <a:lnTo>
                  <a:pt x="287500" y="225631"/>
                </a:lnTo>
                <a:cubicBezTo>
                  <a:pt x="283747" y="229387"/>
                  <a:pt x="278257" y="230821"/>
                  <a:pt x="273147" y="229379"/>
                </a:cubicBezTo>
                <a:cubicBezTo>
                  <a:pt x="268037" y="227938"/>
                  <a:pt x="264105" y="223846"/>
                  <a:pt x="262870" y="218682"/>
                </a:cubicBezTo>
                <a:cubicBezTo>
                  <a:pt x="258658" y="201151"/>
                  <a:pt x="242323" y="189287"/>
                  <a:pt x="224350" y="190704"/>
                </a:cubicBezTo>
                <a:cubicBezTo>
                  <a:pt x="206376" y="192122"/>
                  <a:pt x="192103" y="206400"/>
                  <a:pt x="190692" y="224374"/>
                </a:cubicBezTo>
                <a:cubicBezTo>
                  <a:pt x="189280" y="242348"/>
                  <a:pt x="201150" y="258679"/>
                  <a:pt x="218682" y="262884"/>
                </a:cubicBezTo>
                <a:cubicBezTo>
                  <a:pt x="223846" y="264120"/>
                  <a:pt x="227938" y="268051"/>
                  <a:pt x="229379" y="273161"/>
                </a:cubicBezTo>
                <a:cubicBezTo>
                  <a:pt x="230821" y="278272"/>
                  <a:pt x="229387" y="283762"/>
                  <a:pt x="225631" y="287515"/>
                </a:cubicBezTo>
                <a:lnTo>
                  <a:pt x="200957" y="312174"/>
                </a:lnTo>
                <a:cubicBezTo>
                  <a:pt x="194319" y="318812"/>
                  <a:pt x="185317" y="322541"/>
                  <a:pt x="175931" y="322541"/>
                </a:cubicBezTo>
                <a:cubicBezTo>
                  <a:pt x="166544" y="322541"/>
                  <a:pt x="157542" y="318812"/>
                  <a:pt x="150904" y="312174"/>
                </a:cubicBezTo>
                <a:lnTo>
                  <a:pt x="126230" y="287500"/>
                </a:lnTo>
                <a:cubicBezTo>
                  <a:pt x="122478" y="283743"/>
                  <a:pt x="116987" y="282310"/>
                  <a:pt x="111877" y="283751"/>
                </a:cubicBezTo>
                <a:cubicBezTo>
                  <a:pt x="106767" y="285193"/>
                  <a:pt x="102836" y="289285"/>
                  <a:pt x="101600" y="294449"/>
                </a:cubicBezTo>
                <a:cubicBezTo>
                  <a:pt x="97389" y="311979"/>
                  <a:pt x="81053" y="323844"/>
                  <a:pt x="63080" y="322426"/>
                </a:cubicBezTo>
                <a:cubicBezTo>
                  <a:pt x="45107" y="321009"/>
                  <a:pt x="30833" y="306731"/>
                  <a:pt x="29422" y="288757"/>
                </a:cubicBezTo>
                <a:cubicBezTo>
                  <a:pt x="28010" y="270783"/>
                  <a:pt x="39880" y="254452"/>
                  <a:pt x="57412" y="250247"/>
                </a:cubicBezTo>
                <a:cubicBezTo>
                  <a:pt x="62576" y="249011"/>
                  <a:pt x="66668" y="245080"/>
                  <a:pt x="68110" y="239969"/>
                </a:cubicBezTo>
                <a:cubicBezTo>
                  <a:pt x="69552" y="234859"/>
                  <a:pt x="68118" y="229369"/>
                  <a:pt x="64361" y="225616"/>
                </a:cubicBezTo>
                <a:lnTo>
                  <a:pt x="39687" y="200957"/>
                </a:lnTo>
                <a:cubicBezTo>
                  <a:pt x="33049" y="194319"/>
                  <a:pt x="29320" y="185317"/>
                  <a:pt x="29320" y="175931"/>
                </a:cubicBezTo>
                <a:cubicBezTo>
                  <a:pt x="29320" y="166544"/>
                  <a:pt x="33049" y="157542"/>
                  <a:pt x="39687" y="150904"/>
                </a:cubicBezTo>
                <a:lnTo>
                  <a:pt x="64361" y="126230"/>
                </a:lnTo>
                <a:cubicBezTo>
                  <a:pt x="68114" y="122474"/>
                  <a:pt x="73604" y="121040"/>
                  <a:pt x="78714" y="122482"/>
                </a:cubicBezTo>
                <a:cubicBezTo>
                  <a:pt x="83824" y="123924"/>
                  <a:pt x="87756" y="128016"/>
                  <a:pt x="88992" y="133179"/>
                </a:cubicBezTo>
                <a:cubicBezTo>
                  <a:pt x="93203" y="150710"/>
                  <a:pt x="109538" y="162574"/>
                  <a:pt x="127511" y="161157"/>
                </a:cubicBezTo>
                <a:cubicBezTo>
                  <a:pt x="145485" y="159739"/>
                  <a:pt x="159758" y="145461"/>
                  <a:pt x="161170" y="127487"/>
                </a:cubicBezTo>
                <a:cubicBezTo>
                  <a:pt x="162581" y="109514"/>
                  <a:pt x="150711" y="93182"/>
                  <a:pt x="133179" y="88977"/>
                </a:cubicBezTo>
                <a:cubicBezTo>
                  <a:pt x="128016" y="87741"/>
                  <a:pt x="123924" y="83810"/>
                  <a:pt x="122482" y="78700"/>
                </a:cubicBezTo>
                <a:cubicBezTo>
                  <a:pt x="121040" y="73590"/>
                  <a:pt x="122474" y="68099"/>
                  <a:pt x="126230" y="64347"/>
                </a:cubicBezTo>
                <a:lnTo>
                  <a:pt x="150904" y="39687"/>
                </a:lnTo>
                <a:cubicBezTo>
                  <a:pt x="157542" y="33049"/>
                  <a:pt x="166544" y="29320"/>
                  <a:pt x="175931" y="29320"/>
                </a:cubicBezTo>
                <a:cubicBezTo>
                  <a:pt x="185317" y="29320"/>
                  <a:pt x="194319" y="33049"/>
                  <a:pt x="200957" y="39687"/>
                </a:cubicBezTo>
                <a:close/>
              </a:path>
            </a:pathLst>
          </a:custGeom>
          <a:noFill/>
          <a:ln w="29322" cap="rnd">
            <a:solidFill>
              <a:srgbClr val="5B3FC4"/>
            </a:solidFill>
            <a:prstDash val="solid"/>
            <a:round/>
          </a:ln>
        </p:spPr>
      </p:sp>
      <p:sp>
        <p:nvSpPr>
          <p:cNvPr id="29" name="[p2] Forma"/>
          <p:cNvSpPr/>
          <p:nvPr/>
        </p:nvSpPr>
        <p:spPr>
          <a:xfrm>
            <a:off x="9069629"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5B3FC4"/>
                </a:solidFill>
                <a:latin typeface="Segoe UI Semibold" pitchFamily="34" charset="0"/>
                <a:ea typeface="Segoe UI Semibold" pitchFamily="34" charset="-122"/>
                <a:cs typeface="Segoe UI Semibold" pitchFamily="34" charset="-120"/>
              </a:rPr>
              <a:t>Reglas en un solo lugar</a:t>
            </a:r>
            <a:endParaRPr lang="en-US" sz="1800" dirty="0"/>
          </a:p>
        </p:txBody>
      </p:sp>
      <p:sp>
        <p:nvSpPr>
          <p:cNvPr id="30" name="[p2] Forma"/>
          <p:cNvSpPr/>
          <p:nvPr/>
        </p:nvSpPr>
        <p:spPr>
          <a:xfrm>
            <a:off x="8301533"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El negocio vive junto, lejos de la pantalla y de la base.</a:t>
            </a:r>
            <a:endParaRPr lang="en-US" sz="1600" dirty="0"/>
          </a:p>
        </p:txBody>
      </p:sp>
      <p:sp>
        <p:nvSpPr>
          <p:cNvPr id="31" name="[p3] Forma"/>
          <p:cNvSpPr/>
          <p:nvPr/>
        </p:nvSpPr>
        <p:spPr>
          <a:xfrm>
            <a:off x="612648"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2648" y="4256532"/>
            <a:ext cx="64008" cy="1970532"/>
          </a:xfrm>
          <a:prstGeom prst="rect">
            <a:avLst/>
          </a:prstGeom>
          <a:solidFill>
            <a:srgbClr val="AB243E"/>
          </a:solidFill>
          <a:ln w="12700">
            <a:solidFill>
              <a:srgbClr val="AB243E"/>
            </a:solidFill>
            <a:prstDash val="solid"/>
          </a:ln>
        </p:spPr>
      </p:sp>
      <p:sp>
        <p:nvSpPr>
          <p:cNvPr id="33" name="[p3] Forma"/>
          <p:cNvSpPr/>
          <p:nvPr/>
        </p:nvSpPr>
        <p:spPr>
          <a:xfrm>
            <a:off x="813816" y="4311396"/>
            <a:ext cx="676656" cy="676656"/>
          </a:xfrm>
          <a:prstGeom prst="ellipse">
            <a:avLst/>
          </a:prstGeom>
          <a:solidFill>
            <a:srgbClr val="F7E3E7"/>
          </a:solidFill>
          <a:ln w="12700">
            <a:solidFill>
              <a:srgbClr val="F7E3E7"/>
            </a:solidFill>
            <a:prstDash val="solid"/>
          </a:ln>
        </p:spPr>
      </p:sp>
      <p:sp>
        <p:nvSpPr>
          <p:cNvPr id="34" name="[p3] Icono shield-alert"/>
          <p:cNvSpPr/>
          <p:nvPr/>
        </p:nvSpPr>
        <p:spPr>
          <a:xfrm>
            <a:off x="976213" y="4473793"/>
            <a:ext cx="351861" cy="351861"/>
          </a:xfrm>
          <a:custGeom>
            <a:avLst/>
            <a:gdLst/>
            <a:ahLst/>
            <a:cxnLst/>
            <a:rect l="l" t="t" r="r" b="b"/>
            <a:pathLst>
              <a:path w="351861" h="351861">
                <a:moveTo>
                  <a:pt x="293218" y="190591"/>
                </a:moveTo>
                <a:cubicBezTo>
                  <a:pt x="293218" y="263896"/>
                  <a:pt x="241905" y="300548"/>
                  <a:pt x="180915" y="321806"/>
                </a:cubicBezTo>
                <a:cubicBezTo>
                  <a:pt x="177722" y="322889"/>
                  <a:pt x="174252" y="322837"/>
                  <a:pt x="171092" y="321660"/>
                </a:cubicBezTo>
                <a:cubicBezTo>
                  <a:pt x="109957" y="300548"/>
                  <a:pt x="58644" y="263896"/>
                  <a:pt x="58644" y="190591"/>
                </a:cubicBezTo>
                <a:lnTo>
                  <a:pt x="58644" y="87965"/>
                </a:lnTo>
                <a:cubicBezTo>
                  <a:pt x="58644" y="79868"/>
                  <a:pt x="65207" y="73304"/>
                  <a:pt x="73304" y="73304"/>
                </a:cubicBezTo>
                <a:cubicBezTo>
                  <a:pt x="102626" y="73304"/>
                  <a:pt x="139278" y="55711"/>
                  <a:pt x="164788" y="33427"/>
                </a:cubicBezTo>
                <a:cubicBezTo>
                  <a:pt x="171205" y="27945"/>
                  <a:pt x="180656" y="27945"/>
                  <a:pt x="187073" y="33427"/>
                </a:cubicBezTo>
                <a:cubicBezTo>
                  <a:pt x="212729" y="55858"/>
                  <a:pt x="249235" y="73304"/>
                  <a:pt x="278557" y="73304"/>
                </a:cubicBezTo>
                <a:cubicBezTo>
                  <a:pt x="286654" y="73304"/>
                  <a:pt x="293218" y="79868"/>
                  <a:pt x="293218" y="87965"/>
                </a:cubicBezTo>
                <a:close/>
                <a:moveTo>
                  <a:pt x="175931" y="117287"/>
                </a:moveTo>
                <a:lnTo>
                  <a:pt x="175931" y="175931"/>
                </a:lnTo>
                <a:moveTo>
                  <a:pt x="175931" y="234574"/>
                </a:moveTo>
                <a:lnTo>
                  <a:pt x="176077" y="234574"/>
                </a:lnTo>
              </a:path>
            </a:pathLst>
          </a:custGeom>
          <a:noFill/>
          <a:ln w="29322" cap="rnd">
            <a:solidFill>
              <a:srgbClr val="AB243E"/>
            </a:solidFill>
            <a:prstDash val="solid"/>
            <a:round/>
          </a:ln>
        </p:spPr>
      </p:sp>
      <p:sp>
        <p:nvSpPr>
          <p:cNvPr id="35" name="[p3] Forma"/>
          <p:cNvSpPr/>
          <p:nvPr/>
        </p:nvSpPr>
        <p:spPr>
          <a:xfrm>
            <a:off x="1636776"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AB243E"/>
                </a:solidFill>
                <a:latin typeface="Segoe UI Semibold" pitchFamily="34" charset="0"/>
                <a:ea typeface="Segoe UI Semibold" pitchFamily="34" charset="-122"/>
                <a:cs typeface="Segoe UI Semibold" pitchFamily="34" charset="-120"/>
              </a:rPr>
              <a:t>Errores con respuesta clara</a:t>
            </a:r>
            <a:endParaRPr lang="en-US" sz="1800" dirty="0"/>
          </a:p>
        </p:txBody>
      </p:sp>
      <p:sp>
        <p:nvSpPr>
          <p:cNvPr id="36" name="[p3] Forma"/>
          <p:cNvSpPr/>
          <p:nvPr/>
        </p:nvSpPr>
        <p:spPr>
          <a:xfrm>
            <a:off x="868680"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Siempre el mismo formato: 400, 404 o 409 con su motivo.</a:t>
            </a:r>
            <a:endParaRPr lang="en-US" sz="1600" dirty="0"/>
          </a:p>
        </p:txBody>
      </p:sp>
      <p:sp>
        <p:nvSpPr>
          <p:cNvPr id="37" name="[p4] Forma"/>
          <p:cNvSpPr/>
          <p:nvPr/>
        </p:nvSpPr>
        <p:spPr>
          <a:xfrm>
            <a:off x="4329074"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4] Forma"/>
          <p:cNvSpPr/>
          <p:nvPr/>
        </p:nvSpPr>
        <p:spPr>
          <a:xfrm>
            <a:off x="4329074" y="4256532"/>
            <a:ext cx="64008" cy="1970532"/>
          </a:xfrm>
          <a:prstGeom prst="rect">
            <a:avLst/>
          </a:prstGeom>
          <a:solidFill>
            <a:srgbClr val="8A4B06"/>
          </a:solidFill>
          <a:ln w="12700">
            <a:solidFill>
              <a:srgbClr val="8A4B06"/>
            </a:solidFill>
            <a:prstDash val="solid"/>
          </a:ln>
        </p:spPr>
      </p:sp>
      <p:sp>
        <p:nvSpPr>
          <p:cNvPr id="39" name="[p4] Forma"/>
          <p:cNvSpPr/>
          <p:nvPr/>
        </p:nvSpPr>
        <p:spPr>
          <a:xfrm>
            <a:off x="4530242" y="4311396"/>
            <a:ext cx="676656" cy="676656"/>
          </a:xfrm>
          <a:prstGeom prst="ellipse">
            <a:avLst/>
          </a:prstGeom>
          <a:solidFill>
            <a:srgbClr val="FCEFD6"/>
          </a:solidFill>
          <a:ln w="12700">
            <a:solidFill>
              <a:srgbClr val="FCEFD6"/>
            </a:solidFill>
            <a:prstDash val="solid"/>
          </a:ln>
        </p:spPr>
      </p:sp>
      <p:sp>
        <p:nvSpPr>
          <p:cNvPr id="40" name="[p4] Icono book-open"/>
          <p:cNvSpPr/>
          <p:nvPr/>
        </p:nvSpPr>
        <p:spPr>
          <a:xfrm>
            <a:off x="4692640" y="4473793"/>
            <a:ext cx="351861" cy="351861"/>
          </a:xfrm>
          <a:custGeom>
            <a:avLst/>
            <a:gdLst/>
            <a:ahLst/>
            <a:cxnLst/>
            <a:rect l="l" t="t" r="r" b="b"/>
            <a:pathLst>
              <a:path w="351861" h="351861">
                <a:moveTo>
                  <a:pt x="175931" y="102626"/>
                </a:moveTo>
                <a:lnTo>
                  <a:pt x="175931" y="307878"/>
                </a:lnTo>
                <a:moveTo>
                  <a:pt x="43983" y="263896"/>
                </a:moveTo>
                <a:cubicBezTo>
                  <a:pt x="35886" y="263896"/>
                  <a:pt x="29322" y="257332"/>
                  <a:pt x="29322" y="249235"/>
                </a:cubicBezTo>
                <a:lnTo>
                  <a:pt x="29322" y="58644"/>
                </a:lnTo>
                <a:cubicBezTo>
                  <a:pt x="29322" y="50547"/>
                  <a:pt x="35886" y="43983"/>
                  <a:pt x="43983" y="43983"/>
                </a:cubicBezTo>
                <a:lnTo>
                  <a:pt x="117287" y="43983"/>
                </a:lnTo>
                <a:cubicBezTo>
                  <a:pt x="149675" y="43983"/>
                  <a:pt x="175931" y="70238"/>
                  <a:pt x="175931" y="102626"/>
                </a:cubicBezTo>
                <a:cubicBezTo>
                  <a:pt x="175931" y="70238"/>
                  <a:pt x="202186" y="43983"/>
                  <a:pt x="234574" y="43983"/>
                </a:cubicBezTo>
                <a:lnTo>
                  <a:pt x="307878" y="43983"/>
                </a:lnTo>
                <a:cubicBezTo>
                  <a:pt x="315975" y="43983"/>
                  <a:pt x="322539" y="50547"/>
                  <a:pt x="322539" y="58644"/>
                </a:cubicBezTo>
                <a:lnTo>
                  <a:pt x="322539" y="249235"/>
                </a:lnTo>
                <a:cubicBezTo>
                  <a:pt x="322539" y="257332"/>
                  <a:pt x="315975" y="263896"/>
                  <a:pt x="307878" y="263896"/>
                </a:cubicBezTo>
                <a:lnTo>
                  <a:pt x="219913" y="263896"/>
                </a:lnTo>
                <a:cubicBezTo>
                  <a:pt x="195622" y="263896"/>
                  <a:pt x="175931" y="283588"/>
                  <a:pt x="175931" y="307878"/>
                </a:cubicBezTo>
                <a:cubicBezTo>
                  <a:pt x="175931" y="283588"/>
                  <a:pt x="156239" y="263896"/>
                  <a:pt x="131948" y="263896"/>
                </a:cubicBezTo>
                <a:close/>
              </a:path>
            </a:pathLst>
          </a:custGeom>
          <a:noFill/>
          <a:ln w="29322" cap="rnd">
            <a:solidFill>
              <a:srgbClr val="8A4B06"/>
            </a:solidFill>
            <a:prstDash val="solid"/>
            <a:round/>
          </a:ln>
        </p:spPr>
      </p:sp>
      <p:sp>
        <p:nvSpPr>
          <p:cNvPr id="41" name="[p4] Forma"/>
          <p:cNvSpPr/>
          <p:nvPr/>
        </p:nvSpPr>
        <p:spPr>
          <a:xfrm>
            <a:off x="5353202"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Nombres del negocio</a:t>
            </a:r>
            <a:endParaRPr lang="en-US" sz="1800" dirty="0"/>
          </a:p>
        </p:txBody>
      </p:sp>
      <p:sp>
        <p:nvSpPr>
          <p:cNvPr id="42" name="[p4] Forma"/>
          <p:cNvSpPr/>
          <p:nvPr/>
        </p:nvSpPr>
        <p:spPr>
          <a:xfrm>
            <a:off x="4585106"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Solicitud, enviar, aprobar: el código se lee como el proceso.</a:t>
            </a:r>
            <a:endParaRPr lang="en-US" sz="1600" dirty="0"/>
          </a:p>
        </p:txBody>
      </p:sp>
      <p:sp>
        <p:nvSpPr>
          <p:cNvPr id="43" name="[p5] Forma"/>
          <p:cNvSpPr/>
          <p:nvPr/>
        </p:nvSpPr>
        <p:spPr>
          <a:xfrm>
            <a:off x="8045501"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4" name="[p5] Forma"/>
          <p:cNvSpPr/>
          <p:nvPr/>
        </p:nvSpPr>
        <p:spPr>
          <a:xfrm>
            <a:off x="8045501" y="4256532"/>
            <a:ext cx="64008" cy="1970532"/>
          </a:xfrm>
          <a:prstGeom prst="rect">
            <a:avLst/>
          </a:prstGeom>
          <a:solidFill>
            <a:srgbClr val="0A6648"/>
          </a:solidFill>
          <a:ln w="12700">
            <a:solidFill>
              <a:srgbClr val="0A6648"/>
            </a:solidFill>
            <a:prstDash val="solid"/>
          </a:ln>
        </p:spPr>
      </p:sp>
      <p:sp>
        <p:nvSpPr>
          <p:cNvPr id="45" name="[p5] Forma"/>
          <p:cNvSpPr/>
          <p:nvPr/>
        </p:nvSpPr>
        <p:spPr>
          <a:xfrm>
            <a:off x="8246669" y="4311396"/>
            <a:ext cx="676656" cy="676656"/>
          </a:xfrm>
          <a:prstGeom prst="ellipse">
            <a:avLst/>
          </a:prstGeom>
          <a:solidFill>
            <a:srgbClr val="E1F1EA"/>
          </a:solidFill>
          <a:ln w="12700">
            <a:solidFill>
              <a:srgbClr val="E1F1EA"/>
            </a:solidFill>
            <a:prstDash val="solid"/>
          </a:ln>
        </p:spPr>
      </p:sp>
      <p:sp>
        <p:nvSpPr>
          <p:cNvPr id="46" name="[p5] Icono flask-conical"/>
          <p:cNvSpPr/>
          <p:nvPr/>
        </p:nvSpPr>
        <p:spPr>
          <a:xfrm>
            <a:off x="8409066" y="4473793"/>
            <a:ext cx="351861" cy="351861"/>
          </a:xfrm>
          <a:custGeom>
            <a:avLst/>
            <a:gdLst/>
            <a:ahLst/>
            <a:cxnLst/>
            <a:rect l="l" t="t" r="r" b="b"/>
            <a:pathLst>
              <a:path w="351861" h="351861">
                <a:moveTo>
                  <a:pt x="205252" y="29322"/>
                </a:moveTo>
                <a:lnTo>
                  <a:pt x="205252" y="117287"/>
                </a:lnTo>
                <a:cubicBezTo>
                  <a:pt x="205250" y="122206"/>
                  <a:pt x="206485" y="127046"/>
                  <a:pt x="208844" y="131361"/>
                </a:cubicBezTo>
                <a:lnTo>
                  <a:pt x="289626" y="279143"/>
                </a:lnTo>
                <a:cubicBezTo>
                  <a:pt x="294597" y="288229"/>
                  <a:pt x="294406" y="299263"/>
                  <a:pt x="289124" y="308172"/>
                </a:cubicBezTo>
                <a:cubicBezTo>
                  <a:pt x="283842" y="317080"/>
                  <a:pt x="274253" y="322542"/>
                  <a:pt x="263896" y="322539"/>
                </a:cubicBezTo>
                <a:lnTo>
                  <a:pt x="87965" y="322539"/>
                </a:lnTo>
                <a:cubicBezTo>
                  <a:pt x="77608" y="322542"/>
                  <a:pt x="68019" y="317080"/>
                  <a:pt x="62737" y="308172"/>
                </a:cubicBezTo>
                <a:cubicBezTo>
                  <a:pt x="57455" y="299263"/>
                  <a:pt x="57264" y="288229"/>
                  <a:pt x="62235" y="279143"/>
                </a:cubicBezTo>
                <a:lnTo>
                  <a:pt x="143017" y="131361"/>
                </a:lnTo>
                <a:cubicBezTo>
                  <a:pt x="145376" y="127046"/>
                  <a:pt x="146611" y="122206"/>
                  <a:pt x="146609" y="117287"/>
                </a:cubicBezTo>
                <a:lnTo>
                  <a:pt x="146609" y="29322"/>
                </a:lnTo>
                <a:moveTo>
                  <a:pt x="94607" y="219913"/>
                </a:moveTo>
                <a:lnTo>
                  <a:pt x="257254" y="219913"/>
                </a:lnTo>
                <a:moveTo>
                  <a:pt x="124617" y="29322"/>
                </a:moveTo>
                <a:lnTo>
                  <a:pt x="227244" y="29322"/>
                </a:lnTo>
              </a:path>
            </a:pathLst>
          </a:custGeom>
          <a:noFill/>
          <a:ln w="29322" cap="rnd">
            <a:solidFill>
              <a:srgbClr val="0A6648"/>
            </a:solidFill>
            <a:prstDash val="solid"/>
            <a:round/>
          </a:ln>
        </p:spPr>
      </p:sp>
      <p:sp>
        <p:nvSpPr>
          <p:cNvPr id="47" name="[p5] Forma"/>
          <p:cNvSpPr/>
          <p:nvPr/>
        </p:nvSpPr>
        <p:spPr>
          <a:xfrm>
            <a:off x="9069629"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A6648"/>
                </a:solidFill>
                <a:latin typeface="Segoe UI Semibold" pitchFamily="34" charset="0"/>
                <a:ea typeface="Segoe UI Semibold" pitchFamily="34" charset="-122"/>
                <a:cs typeface="Segoe UI Semibold" pitchFamily="34" charset="-120"/>
              </a:rPr>
              <a:t>Cada regla con su prueba</a:t>
            </a:r>
            <a:endParaRPr lang="en-US" sz="1800" dirty="0"/>
          </a:p>
        </p:txBody>
      </p:sp>
      <p:sp>
        <p:nvSpPr>
          <p:cNvPr id="48" name="[p5] Forma"/>
          <p:cNvSpPr/>
          <p:nvPr/>
        </p:nvSpPr>
        <p:spPr>
          <a:xfrm>
            <a:off x="8301533"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Una prueba automática avisa si un cambio rompió algo.</a:t>
            </a:r>
            <a:endParaRPr lang="en-US" sz="16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childTnLst>
                          </p:cTn>
                        </p:par>
                      </p:childTnLst>
                    </p:cTn>
                  </p:par>
                  <p:par>
                    <p:cTn id="101" fill="hold">
                      <p:stCondLst>
                        <p:cond delay="indefinite"/>
                      </p:stCondLst>
                      <p:childTnLst>
                        <p:par>
                          <p:cTn id="10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400"/>
                                        <p:tgtEl>
                                          <p:spTgt spid="4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fade">
                                      <p:cBhvr>
                                        <p:cTn id="88" dur="400"/>
                                        <p:tgtEl>
                                          <p:spTgt spid="4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400"/>
                                        <p:tgtEl>
                                          <p:spTgt spid="45"/>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fade">
                                      <p:cBhvr>
                                        <p:cTn id="94" dur="400"/>
                                        <p:tgtEl>
                                          <p:spTgt spid="4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7"/>
                                        </p:tgtEl>
                                        <p:attrNameLst>
                                          <p:attrName>style.visibility</p:attrName>
                                        </p:attrNameLst>
                                      </p:cBhvr>
                                      <p:to>
                                        <p:strVal val="visible"/>
                                      </p:to>
                                    </p:set>
                                    <p:animEffect transition="in" filter="fade">
                                      <p:cBhvr>
                                        <p:cTn id="97" dur="400"/>
                                        <p:tgtEl>
                                          <p:spTgt spid="4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8"/>
                                        </p:tgtEl>
                                        <p:attrNameLst>
                                          <p:attrName>style.visibility</p:attrName>
                                        </p:attrNameLst>
                                      </p:cBhvr>
                                      <p:to>
                                        <p:strVal val="visible"/>
                                      </p:to>
                                    </p:set>
                                    <p:animEffect transition="in" filter="fade">
                                      <p:cBhvr>
                                        <p:cTn id="100"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servicio-solicitudes/…/dominio/ServicioDeSolicitudes.java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class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sin anotaciones de Spring</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final</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RepositorioDeSolicitudes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repositorio;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interfaces,</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final</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PublicadorDeEventos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publicador;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no clases concretas</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final</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RegistradorDeEventosSalientes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registrador;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RepositorioDeSolicitudes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repositorio,</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PublicadorDeEventos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publicador,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RegistradorDeEventosSalientes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registrador)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this.repositorio = repositorio;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todo llega por el constructor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this.publicador = publicador;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this.registrador = registrador;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a:t>
            </a:r>
            <a:endParaRPr lang="en-US" sz="165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Trabajo en equipo: Git y documentación</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cambio entra revisado, probado y documentado.</a:t>
            </a:r>
            <a:endParaRPr lang="en-US" sz="1700" dirty="0"/>
          </a:p>
        </p:txBody>
      </p:sp>
      <p:sp>
        <p:nvSpPr>
          <p:cNvPr id="13" name="Shape 11"/>
          <p:cNvSpPr/>
          <p:nvPr/>
        </p:nvSpPr>
        <p:spPr>
          <a:xfrm>
            <a:off x="978408" y="5349240"/>
            <a:ext cx="10234879" cy="0"/>
          </a:xfrm>
          <a:prstGeom prst="line">
            <a:avLst/>
          </a:prstGeom>
          <a:noFill/>
          <a:ln w="76200">
            <a:solidFill>
              <a:srgbClr val="0B2350"/>
            </a:solidFill>
            <a:prstDash val="solid"/>
          </a:ln>
        </p:spPr>
      </p:sp>
      <p:sp>
        <p:nvSpPr>
          <p:cNvPr id="14" name="Text 12"/>
          <p:cNvSpPr/>
          <p:nvPr/>
        </p:nvSpPr>
        <p:spPr>
          <a:xfrm>
            <a:off x="886968" y="5550408"/>
            <a:ext cx="1463040" cy="365760"/>
          </a:xfrm>
          <a:prstGeom prst="roundRect">
            <a:avLst>
              <a:gd name="adj" fmla="val 50000"/>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main</a:t>
            </a:r>
            <a:endParaRPr lang="en-US" sz="1400" dirty="0"/>
          </a:p>
        </p:txBody>
      </p:sp>
      <p:sp>
        <p:nvSpPr>
          <p:cNvPr id="15" name="Shape 13"/>
          <p:cNvSpPr/>
          <p:nvPr/>
        </p:nvSpPr>
        <p:spPr>
          <a:xfrm flipV="1">
            <a:off x="2075688" y="2816352"/>
            <a:ext cx="640080" cy="2532888"/>
          </a:xfrm>
          <a:prstGeom prst="line">
            <a:avLst/>
          </a:prstGeom>
          <a:noFill/>
          <a:ln w="63500">
            <a:solidFill>
              <a:srgbClr val="2BA6CB"/>
            </a:solidFill>
            <a:prstDash val="solid"/>
          </a:ln>
        </p:spPr>
      </p:sp>
      <p:sp>
        <p:nvSpPr>
          <p:cNvPr id="16" name="Shape 14"/>
          <p:cNvSpPr/>
          <p:nvPr/>
        </p:nvSpPr>
        <p:spPr>
          <a:xfrm>
            <a:off x="2715768" y="2816352"/>
            <a:ext cx="6394399" cy="0"/>
          </a:xfrm>
          <a:prstGeom prst="line">
            <a:avLst/>
          </a:prstGeom>
          <a:noFill/>
          <a:ln w="63500">
            <a:solidFill>
              <a:srgbClr val="2BA6CB"/>
            </a:solidFill>
            <a:prstDash val="solid"/>
          </a:ln>
        </p:spPr>
      </p:sp>
      <p:sp>
        <p:nvSpPr>
          <p:cNvPr id="17" name="[p1] Forma"/>
          <p:cNvSpPr/>
          <p:nvPr/>
        </p:nvSpPr>
        <p:spPr>
          <a:xfrm>
            <a:off x="9110167" y="2816352"/>
            <a:ext cx="640080" cy="2532888"/>
          </a:xfrm>
          <a:prstGeom prst="line">
            <a:avLst/>
          </a:prstGeom>
          <a:noFill/>
          <a:ln w="63500">
            <a:solidFill>
              <a:srgbClr val="0A6648"/>
            </a:solidFill>
            <a:prstDash val="solid"/>
            <a:tailEnd type="triangle"/>
          </a:ln>
        </p:spPr>
      </p:sp>
      <p:sp>
        <p:nvSpPr>
          <p:cNvPr id="18" name="Text 16"/>
          <p:cNvSpPr/>
          <p:nvPr/>
        </p:nvSpPr>
        <p:spPr>
          <a:xfrm>
            <a:off x="2761488" y="2103120"/>
            <a:ext cx="4206240" cy="365760"/>
          </a:xfrm>
          <a:prstGeom prst="roundRect">
            <a:avLst>
              <a:gd name="adj" fmla="val 50000"/>
            </a:avLst>
          </a:prstGeom>
          <a:solidFill>
            <a:srgbClr val="E3F4FA"/>
          </a:solidFill>
          <a:ln w="12700">
            <a:solidFill>
              <a:srgbClr val="2BA6CB"/>
            </a:solidFill>
          </a:ln>
        </p:spPr>
        <p:txBody>
          <a:bodyPr wrap="square" lIns="101600" tIns="101600" rIns="101600" bIns="101600" rtlCol="0" anchor="ctr">
            <a:normAutofit/>
          </a:bodyPr>
          <a:lstStyle/>
          <a:p>
            <a:pPr indent="0" marL="0">
              <a:buNone/>
            </a:pPr>
            <a:r>
              <a:rPr lang="en-US" sz="1300" b="1" dirty="0">
                <a:solidFill>
                  <a:srgbClr val="0B6E8A"/>
                </a:solidFill>
                <a:latin typeface="Consolas" pitchFamily="34" charset="0"/>
                <a:ea typeface="Consolas" pitchFamily="34" charset="-122"/>
                <a:cs typeface="Consolas" pitchFamily="34" charset="-120"/>
              </a:rPr>
              <a:t>feat/crear-solicitud-por-post</a:t>
            </a:r>
            <a:endParaRPr lang="en-US" sz="1300" dirty="0"/>
          </a:p>
        </p:txBody>
      </p:sp>
      <p:sp>
        <p:nvSpPr>
          <p:cNvPr id="19" name="Icono git-branch"/>
          <p:cNvSpPr/>
          <p:nvPr/>
        </p:nvSpPr>
        <p:spPr>
          <a:xfrm>
            <a:off x="2029968" y="2084832"/>
            <a:ext cx="365760" cy="365760"/>
          </a:xfrm>
          <a:custGeom>
            <a:avLst/>
            <a:gdLst/>
            <a:ahLst/>
            <a:cxnLst/>
            <a:rect l="l" t="t" r="r" b="b"/>
            <a:pathLst>
              <a:path w="365760" h="365760">
                <a:moveTo>
                  <a:pt x="91440" y="45720"/>
                </a:moveTo>
                <a:lnTo>
                  <a:pt x="91440" y="228600"/>
                </a:lnTo>
                <a:moveTo>
                  <a:pt x="320040" y="91440"/>
                </a:moveTo>
                <a:cubicBezTo>
                  <a:pt x="320040" y="116690"/>
                  <a:pt x="299570" y="137160"/>
                  <a:pt x="274320" y="137160"/>
                </a:cubicBezTo>
                <a:cubicBezTo>
                  <a:pt x="249070" y="137160"/>
                  <a:pt x="228600" y="116690"/>
                  <a:pt x="228600" y="91440"/>
                </a:cubicBezTo>
                <a:cubicBezTo>
                  <a:pt x="228600" y="66190"/>
                  <a:pt x="249070" y="45720"/>
                  <a:pt x="274320" y="45720"/>
                </a:cubicBezTo>
                <a:cubicBezTo>
                  <a:pt x="299570" y="45720"/>
                  <a:pt x="320040" y="66190"/>
                  <a:pt x="320040" y="91440"/>
                </a:cubicBezTo>
                <a:close/>
                <a:moveTo>
                  <a:pt x="137160" y="274320"/>
                </a:moveTo>
                <a:cubicBezTo>
                  <a:pt x="137160" y="299570"/>
                  <a:pt x="116690" y="320040"/>
                  <a:pt x="91440" y="320040"/>
                </a:cubicBezTo>
                <a:cubicBezTo>
                  <a:pt x="66190" y="320040"/>
                  <a:pt x="45720" y="299570"/>
                  <a:pt x="45720" y="274320"/>
                </a:cubicBezTo>
                <a:cubicBezTo>
                  <a:pt x="45720" y="249070"/>
                  <a:pt x="66190" y="228600"/>
                  <a:pt x="91440" y="228600"/>
                </a:cubicBezTo>
                <a:cubicBezTo>
                  <a:pt x="116690" y="228600"/>
                  <a:pt x="137160" y="249070"/>
                  <a:pt x="137160" y="274320"/>
                </a:cubicBezTo>
                <a:close/>
                <a:moveTo>
                  <a:pt x="274320" y="137160"/>
                </a:moveTo>
                <a:cubicBezTo>
                  <a:pt x="274320" y="212911"/>
                  <a:pt x="212911" y="274320"/>
                  <a:pt x="137160" y="274320"/>
                </a:cubicBezTo>
              </a:path>
            </a:pathLst>
          </a:custGeom>
          <a:noFill/>
          <a:ln w="30480" cap="rnd">
            <a:solidFill>
              <a:srgbClr val="0B6E8A"/>
            </a:solidFill>
            <a:prstDash val="solid"/>
            <a:round/>
          </a:ln>
        </p:spPr>
      </p:sp>
      <p:sp>
        <p:nvSpPr>
          <p:cNvPr id="20" name="Shape 18"/>
          <p:cNvSpPr/>
          <p:nvPr/>
        </p:nvSpPr>
        <p:spPr>
          <a:xfrm>
            <a:off x="3598621"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1" name="Text 19"/>
          <p:cNvSpPr/>
          <p:nvPr/>
        </p:nvSpPr>
        <p:spPr>
          <a:xfrm>
            <a:off x="2761488"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feat: crear solicitud</a:t>
            </a:r>
            <a:endParaRPr lang="en-US" sz="1150" dirty="0"/>
          </a:p>
        </p:txBody>
      </p:sp>
      <p:sp>
        <p:nvSpPr>
          <p:cNvPr id="22" name="Shape 20"/>
          <p:cNvSpPr/>
          <p:nvPr/>
        </p:nvSpPr>
        <p:spPr>
          <a:xfrm>
            <a:off x="5730088"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3" name="Text 21"/>
          <p:cNvSpPr/>
          <p:nvPr/>
        </p:nvSpPr>
        <p:spPr>
          <a:xfrm>
            <a:off x="4892954"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test: 409 si ya existe</a:t>
            </a:r>
            <a:endParaRPr lang="en-US" sz="1150" dirty="0"/>
          </a:p>
        </p:txBody>
      </p:sp>
      <p:sp>
        <p:nvSpPr>
          <p:cNvPr id="24" name="Shape 22"/>
          <p:cNvSpPr/>
          <p:nvPr/>
        </p:nvSpPr>
        <p:spPr>
          <a:xfrm>
            <a:off x="7861554"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5" name="Text 23"/>
          <p:cNvSpPr/>
          <p:nvPr/>
        </p:nvSpPr>
        <p:spPr>
          <a:xfrm>
            <a:off x="7024421"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docs: el nuevo POST</a:t>
            </a:r>
            <a:endParaRPr lang="en-US" sz="1150" dirty="0"/>
          </a:p>
        </p:txBody>
      </p:sp>
      <p:sp>
        <p:nvSpPr>
          <p:cNvPr id="26" name="Shape 24"/>
          <p:cNvSpPr/>
          <p:nvPr/>
        </p:nvSpPr>
        <p:spPr>
          <a:xfrm>
            <a:off x="1280160" y="5193792"/>
            <a:ext cx="310896" cy="310896"/>
          </a:xfrm>
          <a:prstGeom prst="ellipse">
            <a:avLst/>
          </a:prstGeom>
          <a:solidFill>
            <a:srgbClr val="0B2350"/>
          </a:solidFill>
          <a:ln w="25400">
            <a:solidFill>
              <a:srgbClr val="FFFFFF"/>
            </a:solidFill>
            <a:prstDash val="solid"/>
          </a:ln>
        </p:spPr>
      </p:sp>
      <p:sp>
        <p:nvSpPr>
          <p:cNvPr id="27" name="Shape 25"/>
          <p:cNvSpPr/>
          <p:nvPr/>
        </p:nvSpPr>
        <p:spPr>
          <a:xfrm>
            <a:off x="1920240" y="5193792"/>
            <a:ext cx="310896" cy="310896"/>
          </a:xfrm>
          <a:prstGeom prst="ellipse">
            <a:avLst/>
          </a:prstGeom>
          <a:solidFill>
            <a:srgbClr val="0B2350"/>
          </a:solidFill>
          <a:ln w="25400">
            <a:solidFill>
              <a:srgbClr val="FFFFFF"/>
            </a:solidFill>
            <a:prstDash val="solid"/>
          </a:ln>
        </p:spPr>
      </p:sp>
      <p:sp>
        <p:nvSpPr>
          <p:cNvPr id="28" name="Shape 26"/>
          <p:cNvSpPr/>
          <p:nvPr/>
        </p:nvSpPr>
        <p:spPr>
          <a:xfrm>
            <a:off x="9594799" y="5193792"/>
            <a:ext cx="310896" cy="310896"/>
          </a:xfrm>
          <a:prstGeom prst="ellipse">
            <a:avLst/>
          </a:prstGeom>
          <a:solidFill>
            <a:srgbClr val="0B2350"/>
          </a:solidFill>
          <a:ln w="25400">
            <a:solidFill>
              <a:srgbClr val="FFFFFF"/>
            </a:solidFill>
            <a:prstDash val="solid"/>
          </a:ln>
        </p:spPr>
      </p:sp>
      <p:sp>
        <p:nvSpPr>
          <p:cNvPr id="29" name="Shape 27"/>
          <p:cNvSpPr/>
          <p:nvPr/>
        </p:nvSpPr>
        <p:spPr>
          <a:xfrm>
            <a:off x="10600639" y="5193792"/>
            <a:ext cx="310896" cy="310896"/>
          </a:xfrm>
          <a:prstGeom prst="ellipse">
            <a:avLst/>
          </a:prstGeom>
          <a:solidFill>
            <a:srgbClr val="0B2350"/>
          </a:solidFill>
          <a:ln w="25400">
            <a:solidFill>
              <a:srgbClr val="FFFFFF"/>
            </a:solidFill>
            <a:prstDash val="solid"/>
          </a:ln>
        </p:spPr>
      </p:sp>
      <p:sp>
        <p:nvSpPr>
          <p:cNvPr id="30" name="[p1] Forma"/>
          <p:cNvSpPr/>
          <p:nvPr/>
        </p:nvSpPr>
        <p:spPr>
          <a:xfrm>
            <a:off x="6275527" y="4142232"/>
            <a:ext cx="3154680" cy="749808"/>
          </a:xfrm>
          <a:prstGeom prst="roundRect">
            <a:avLst>
              <a:gd name="adj" fmla="val 17073"/>
            </a:avLst>
          </a:prstGeom>
          <a:solidFill>
            <a:srgbClr val="E1F1EA"/>
          </a:solidFill>
          <a:ln w="12700">
            <a:solidFill>
              <a:srgbClr val="85B3A4"/>
            </a:solidFill>
            <a:prstDash val="solid"/>
          </a:ln>
          <a:effectLst>
            <a:outerShdw sx="100000" sy="100000" kx="0" ky="0" algn="bl" rotWithShape="0" blurRad="76200" dist="19050" dir="5400000">
              <a:srgbClr val="0B1F3A">
                <a:alpha val="14000"/>
              </a:srgbClr>
            </a:outerShdw>
          </a:effectLst>
        </p:spPr>
      </p:sp>
      <p:sp>
        <p:nvSpPr>
          <p:cNvPr id="31" name="[p1] Icono git-pull-request"/>
          <p:cNvSpPr/>
          <p:nvPr/>
        </p:nvSpPr>
        <p:spPr>
          <a:xfrm>
            <a:off x="6421831" y="4325112"/>
            <a:ext cx="384048" cy="384048"/>
          </a:xfrm>
          <a:custGeom>
            <a:avLst/>
            <a:gdLst/>
            <a:ahLst/>
            <a:cxnLst/>
            <a:rect l="l" t="t" r="r" b="b"/>
            <a:pathLst>
              <a:path w="384048" h="384048">
                <a:moveTo>
                  <a:pt x="336042" y="288036"/>
                </a:moveTo>
                <a:cubicBezTo>
                  <a:pt x="336042" y="314549"/>
                  <a:pt x="314549" y="336042"/>
                  <a:pt x="288036" y="336042"/>
                </a:cubicBezTo>
                <a:cubicBezTo>
                  <a:pt x="261523" y="336042"/>
                  <a:pt x="240030" y="314549"/>
                  <a:pt x="240030" y="288036"/>
                </a:cubicBezTo>
                <a:cubicBezTo>
                  <a:pt x="240030" y="261523"/>
                  <a:pt x="261523" y="240030"/>
                  <a:pt x="288036" y="240030"/>
                </a:cubicBezTo>
                <a:cubicBezTo>
                  <a:pt x="314549" y="240030"/>
                  <a:pt x="336042" y="261523"/>
                  <a:pt x="336042" y="288036"/>
                </a:cubicBezTo>
                <a:close/>
                <a:moveTo>
                  <a:pt x="144018" y="96012"/>
                </a:moveTo>
                <a:cubicBezTo>
                  <a:pt x="144018" y="122525"/>
                  <a:pt x="122525" y="144018"/>
                  <a:pt x="96012" y="144018"/>
                </a:cubicBezTo>
                <a:cubicBezTo>
                  <a:pt x="69499" y="144018"/>
                  <a:pt x="48006" y="122525"/>
                  <a:pt x="48006" y="96012"/>
                </a:cubicBezTo>
                <a:cubicBezTo>
                  <a:pt x="48006" y="69499"/>
                  <a:pt x="69499" y="48006"/>
                  <a:pt x="96012" y="48006"/>
                </a:cubicBezTo>
                <a:cubicBezTo>
                  <a:pt x="122525" y="48006"/>
                  <a:pt x="144018" y="69499"/>
                  <a:pt x="144018" y="96012"/>
                </a:cubicBezTo>
                <a:close/>
                <a:moveTo>
                  <a:pt x="208026" y="96012"/>
                </a:moveTo>
                <a:lnTo>
                  <a:pt x="256032" y="96012"/>
                </a:lnTo>
                <a:cubicBezTo>
                  <a:pt x="273707" y="96012"/>
                  <a:pt x="288036" y="110341"/>
                  <a:pt x="288036" y="128016"/>
                </a:cubicBezTo>
                <a:lnTo>
                  <a:pt x="288036" y="240030"/>
                </a:lnTo>
                <a:moveTo>
                  <a:pt x="96012" y="144018"/>
                </a:moveTo>
                <a:lnTo>
                  <a:pt x="96012" y="336042"/>
                </a:lnTo>
              </a:path>
            </a:pathLst>
          </a:custGeom>
          <a:noFill/>
          <a:ln w="32004" cap="rnd">
            <a:solidFill>
              <a:srgbClr val="0A6648"/>
            </a:solidFill>
            <a:prstDash val="solid"/>
            <a:round/>
          </a:ln>
        </p:spPr>
      </p:sp>
      <p:sp>
        <p:nvSpPr>
          <p:cNvPr id="32" name="[p1] Forma"/>
          <p:cNvSpPr/>
          <p:nvPr/>
        </p:nvSpPr>
        <p:spPr>
          <a:xfrm>
            <a:off x="6915607" y="4197096"/>
            <a:ext cx="2423160" cy="640080"/>
          </a:xfrm>
          <a:prstGeom prst="rect">
            <a:avLst/>
          </a:prstGeom>
          <a:noFill/>
          <a:ln/>
        </p:spPr>
        <p:txBody>
          <a:bodyPr wrap="square" lIns="0" tIns="0" rIns="0" bIns="0" rtlCol="0" anchor="ctr">
            <a:normAutofit/>
          </a:bodyPr>
          <a:lstStyle/>
          <a:p>
            <a:pPr algn="l" indent="0" marL="0">
              <a:buNone/>
            </a:pPr>
            <a:r>
              <a:rPr lang="en-US" sz="1250" b="1" dirty="0">
                <a:solidFill>
                  <a:srgbClr val="0A6648"/>
                </a:solidFill>
                <a:latin typeface="Segoe UI" pitchFamily="34" charset="0"/>
                <a:ea typeface="Segoe UI" pitchFamily="34" charset="-122"/>
                <a:cs typeface="Segoe UI" pitchFamily="34" charset="-120"/>
              </a:rPr>
              <a:t>Pull Request: revisión, pruebas en verde y documentación</a:t>
            </a:r>
            <a:endParaRPr lang="en-US" sz="1250" dirty="0"/>
          </a:p>
        </p:txBody>
      </p:sp>
      <p:sp>
        <p:nvSpPr>
          <p:cNvPr id="33" name="Text 3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7"/>
                                        </p:tgtEl>
                                        <p:attrNameLst>
                                          <p:attrName>style.visibility</p:attrName>
                                        </p:attrNameLst>
                                      </p:cBhvr>
                                      <p:to>
                                        <p:strVal val="visible"/>
                                      </p:to>
                                    </p:set>
                                    <p:animEffect transition="in" filter="fade">
                                      <p:cBhvr>
                                        <p:cTn id="5" dur="400"/>
                                        <p:tgtEl>
                                          <p:spTgt spid="1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0"/>
                                        </p:tgtEl>
                                        <p:attrNameLst>
                                          <p:attrName>style.visibility</p:attrName>
                                        </p:attrNameLst>
                                      </p:cBhvr>
                                      <p:to>
                                        <p:strVal val="visible"/>
                                      </p:to>
                                    </p:set>
                                    <p:animEffect transition="in" filter="fade">
                                      <p:cBhvr>
                                        <p:cTn id="8" dur="400"/>
                                        <p:tgtEl>
                                          <p:spTgt spid="3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400"/>
                                        <p:tgtEl>
                                          <p:spTgt spid="3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2"/>
                                        </p:tgtEl>
                                        <p:attrNameLst>
                                          <p:attrName>style.visibility</p:attrName>
                                        </p:attrNameLst>
                                      </p:cBhvr>
                                      <p:to>
                                        <p:strVal val="visible"/>
                                      </p:to>
                                    </p:set>
                                    <p:animEffect transition="in" filter="fade">
                                      <p:cBhvr>
                                        <p:cTn id="14"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30" grpId="0" animBg="1"/>
      <p:bldP spid="31" grpId="0" animBg="1"/>
      <p:bldP spid="3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Fundamentos: lo que nos llevamos a cualquier proyecto</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de"/>
          <p:cNvSpPr/>
          <p:nvPr/>
        </p:nvSpPr>
        <p:spPr>
          <a:xfrm>
            <a:off x="1058144" y="1817096"/>
            <a:ext cx="370881" cy="370881"/>
          </a:xfrm>
          <a:custGeom>
            <a:avLst/>
            <a:gdLst/>
            <a:ahLst/>
            <a:cxnLst/>
            <a:rect l="l" t="t" r="r" b="b"/>
            <a:pathLst>
              <a:path w="370881" h="370881">
                <a:moveTo>
                  <a:pt x="247254" y="278160"/>
                </a:moveTo>
                <a:lnTo>
                  <a:pt x="339974" y="185440"/>
                </a:lnTo>
                <a:lnTo>
                  <a:pt x="247254" y="92720"/>
                </a:lnTo>
                <a:moveTo>
                  <a:pt x="123627" y="92720"/>
                </a:moveTo>
                <a:lnTo>
                  <a:pt x="30907" y="185440"/>
                </a:lnTo>
                <a:lnTo>
                  <a:pt x="123627" y="278160"/>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6</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prácticas que sirven en cualquier lenguaje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respuestas claras: 201, 400, 404 y 409</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rget"/>
          <p:cNvSpPr/>
          <p:nvPr/>
        </p:nvSpPr>
        <p:spPr>
          <a:xfrm>
            <a:off x="4258544" y="1740515"/>
            <a:ext cx="370881" cy="370881"/>
          </a:xfrm>
          <a:custGeom>
            <a:avLst/>
            <a:gdLst/>
            <a:ahLst/>
            <a:cxnLst/>
            <a:rect l="l" t="t" r="r" b="b"/>
            <a:pathLst>
              <a:path w="370881" h="370881">
                <a:moveTo>
                  <a:pt x="339974" y="185440"/>
                </a:moveTo>
                <a:cubicBezTo>
                  <a:pt x="339974" y="270787"/>
                  <a:pt x="270787" y="339974"/>
                  <a:pt x="185440" y="339974"/>
                </a:cubicBezTo>
                <a:cubicBezTo>
                  <a:pt x="100094" y="339974"/>
                  <a:pt x="30907" y="270787"/>
                  <a:pt x="30907" y="185440"/>
                </a:cubicBezTo>
                <a:cubicBezTo>
                  <a:pt x="30907" y="100094"/>
                  <a:pt x="100094" y="30907"/>
                  <a:pt x="185440" y="30907"/>
                </a:cubicBezTo>
                <a:cubicBezTo>
                  <a:pt x="270787" y="30907"/>
                  <a:pt x="339974" y="100094"/>
                  <a:pt x="339974" y="185440"/>
                </a:cubicBezTo>
                <a:close/>
                <a:moveTo>
                  <a:pt x="278160" y="185440"/>
                </a:moveTo>
                <a:cubicBezTo>
                  <a:pt x="278160" y="236648"/>
                  <a:pt x="236648" y="278160"/>
                  <a:pt x="185440" y="278160"/>
                </a:cubicBezTo>
                <a:cubicBezTo>
                  <a:pt x="134232" y="278160"/>
                  <a:pt x="92720" y="236648"/>
                  <a:pt x="92720" y="185440"/>
                </a:cubicBezTo>
                <a:cubicBezTo>
                  <a:pt x="92720" y="134232"/>
                  <a:pt x="134232" y="92720"/>
                  <a:pt x="185440" y="92720"/>
                </a:cubicBezTo>
                <a:cubicBezTo>
                  <a:pt x="236648" y="92720"/>
                  <a:pt x="278160" y="134232"/>
                  <a:pt x="278160" y="185440"/>
                </a:cubicBezTo>
                <a:close/>
                <a:moveTo>
                  <a:pt x="216347" y="185440"/>
                </a:moveTo>
                <a:cubicBezTo>
                  <a:pt x="216347" y="202510"/>
                  <a:pt x="202510" y="216347"/>
                  <a:pt x="185440" y="216347"/>
                </a:cubicBezTo>
                <a:cubicBezTo>
                  <a:pt x="168371" y="216347"/>
                  <a:pt x="154534" y="202510"/>
                  <a:pt x="154534" y="185440"/>
                </a:cubicBezTo>
                <a:cubicBezTo>
                  <a:pt x="154534" y="168371"/>
                  <a:pt x="168371" y="154534"/>
                  <a:pt x="185440" y="154534"/>
                </a:cubicBezTo>
                <a:cubicBezTo>
                  <a:pt x="202510" y="154534"/>
                  <a:pt x="216347" y="168371"/>
                  <a:pt x="216347" y="185440"/>
                </a:cubicBezTo>
                <a:close/>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Primero el qué, después el cómo</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Qué tiene que pasar, quién lo hace y qué no se permite.</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claras antes de elegir la tecnología.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layers"/>
          <p:cNvSpPr/>
          <p:nvPr/>
        </p:nvSpPr>
        <p:spPr>
          <a:xfrm>
            <a:off x="4258544" y="3032105"/>
            <a:ext cx="370881" cy="370881"/>
          </a:xfrm>
          <a:custGeom>
            <a:avLst/>
            <a:gdLst/>
            <a:ahLst/>
            <a:cxnLst/>
            <a:rect l="l" t="t" r="r" b="b"/>
            <a:pathLst>
              <a:path w="370881" h="370881">
                <a:moveTo>
                  <a:pt x="198267" y="33688"/>
                </a:moveTo>
                <a:cubicBezTo>
                  <a:pt x="190120" y="29972"/>
                  <a:pt x="180761" y="29972"/>
                  <a:pt x="172614" y="33688"/>
                </a:cubicBezTo>
                <a:lnTo>
                  <a:pt x="40179" y="93956"/>
                </a:lnTo>
                <a:cubicBezTo>
                  <a:pt x="34576" y="96427"/>
                  <a:pt x="30960" y="101973"/>
                  <a:pt x="30960" y="108096"/>
                </a:cubicBezTo>
                <a:cubicBezTo>
                  <a:pt x="30960" y="114220"/>
                  <a:pt x="34576" y="119766"/>
                  <a:pt x="40179" y="122236"/>
                </a:cubicBezTo>
                <a:lnTo>
                  <a:pt x="172769" y="182659"/>
                </a:lnTo>
                <a:cubicBezTo>
                  <a:pt x="180916" y="186375"/>
                  <a:pt x="190274" y="186375"/>
                  <a:pt x="198421" y="182659"/>
                </a:cubicBezTo>
                <a:lnTo>
                  <a:pt x="331011" y="122391"/>
                </a:lnTo>
                <a:cubicBezTo>
                  <a:pt x="336614" y="119920"/>
                  <a:pt x="340230" y="114374"/>
                  <a:pt x="340230" y="108251"/>
                </a:cubicBezTo>
                <a:cubicBezTo>
                  <a:pt x="340230" y="102127"/>
                  <a:pt x="336614" y="96581"/>
                  <a:pt x="331011" y="94111"/>
                </a:cubicBezTo>
                <a:close/>
                <a:moveTo>
                  <a:pt x="30907" y="185440"/>
                </a:moveTo>
                <a:cubicBezTo>
                  <a:pt x="30892" y="191476"/>
                  <a:pt x="34392" y="196968"/>
                  <a:pt x="39870" y="199503"/>
                </a:cubicBezTo>
                <a:lnTo>
                  <a:pt x="172769" y="259926"/>
                </a:lnTo>
                <a:cubicBezTo>
                  <a:pt x="180872" y="263595"/>
                  <a:pt x="190163" y="263595"/>
                  <a:pt x="198267" y="259926"/>
                </a:cubicBezTo>
                <a:lnTo>
                  <a:pt x="330856" y="199657"/>
                </a:lnTo>
                <a:cubicBezTo>
                  <a:pt x="336446" y="197145"/>
                  <a:pt x="340022" y="191568"/>
                  <a:pt x="339974" y="185440"/>
                </a:cubicBezTo>
                <a:moveTo>
                  <a:pt x="30907" y="262707"/>
                </a:moveTo>
                <a:cubicBezTo>
                  <a:pt x="30892" y="268743"/>
                  <a:pt x="34392" y="274235"/>
                  <a:pt x="39870" y="276770"/>
                </a:cubicBezTo>
                <a:lnTo>
                  <a:pt x="172769" y="337192"/>
                </a:lnTo>
                <a:cubicBezTo>
                  <a:pt x="180872" y="340862"/>
                  <a:pt x="190163" y="340862"/>
                  <a:pt x="198267" y="337192"/>
                </a:cubicBezTo>
                <a:lnTo>
                  <a:pt x="330856" y="276924"/>
                </a:lnTo>
                <a:cubicBezTo>
                  <a:pt x="336446" y="274412"/>
                  <a:pt x="340022" y="268835"/>
                  <a:pt x="339974" y="262707"/>
                </a:cubicBez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Separar responsabilidades paga pronto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Pantalla, reglas y datos en piezas distintas.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cambio de regla toca un solo lugar.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hield-check"/>
          <p:cNvSpPr/>
          <p:nvPr/>
        </p:nvSpPr>
        <p:spPr>
          <a:xfrm>
            <a:off x="4258544" y="4323695"/>
            <a:ext cx="370881" cy="370881"/>
          </a:xfrm>
          <a:custGeom>
            <a:avLst/>
            <a:gdLst/>
            <a:ahLst/>
            <a:cxnLst/>
            <a:rect l="l" t="t" r="r" b="b"/>
            <a:pathLst>
              <a:path w="370881" h="370881">
                <a:moveTo>
                  <a:pt x="309067" y="200894"/>
                </a:moveTo>
                <a:cubicBezTo>
                  <a:pt x="309067" y="278160"/>
                  <a:pt x="254980" y="316794"/>
                  <a:pt x="190694" y="339201"/>
                </a:cubicBezTo>
                <a:cubicBezTo>
                  <a:pt x="187328" y="340342"/>
                  <a:pt x="183671" y="340287"/>
                  <a:pt x="180341" y="339047"/>
                </a:cubicBezTo>
                <a:cubicBezTo>
                  <a:pt x="115900" y="316794"/>
                  <a:pt x="61813" y="278160"/>
                  <a:pt x="61813" y="200894"/>
                </a:cubicBezTo>
                <a:lnTo>
                  <a:pt x="61813" y="92720"/>
                </a:lnTo>
                <a:cubicBezTo>
                  <a:pt x="61813" y="84186"/>
                  <a:pt x="68732" y="77267"/>
                  <a:pt x="77267" y="77267"/>
                </a:cubicBezTo>
                <a:cubicBezTo>
                  <a:pt x="108174" y="77267"/>
                  <a:pt x="146807" y="58723"/>
                  <a:pt x="173696" y="35234"/>
                </a:cubicBezTo>
                <a:cubicBezTo>
                  <a:pt x="180459" y="29455"/>
                  <a:pt x="190421" y="29455"/>
                  <a:pt x="197185" y="35234"/>
                </a:cubicBezTo>
                <a:cubicBezTo>
                  <a:pt x="224228" y="58877"/>
                  <a:pt x="262707" y="77267"/>
                  <a:pt x="293614" y="77267"/>
                </a:cubicBezTo>
                <a:cubicBezTo>
                  <a:pt x="302148" y="77267"/>
                  <a:pt x="309067" y="84186"/>
                  <a:pt x="309067" y="92720"/>
                </a:cubicBezTo>
                <a:close/>
                <a:moveTo>
                  <a:pt x="139080" y="185440"/>
                </a:moveTo>
                <a:lnTo>
                  <a:pt x="169987" y="216347"/>
                </a:lnTo>
                <a:lnTo>
                  <a:pt x="231800" y="154534"/>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Las reglas no dependen de la herramienta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El negocio no sabe si detrás hay una base, una web o un framework.</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Se prueba rápido y sobrevive a un cambio de tecnología.</a:t>
            </a:r>
            <a:endParaRPr lang="en-US" sz="130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git-pull-request"/>
          <p:cNvSpPr/>
          <p:nvPr/>
        </p:nvSpPr>
        <p:spPr>
          <a:xfrm>
            <a:off x="4258544" y="5615285"/>
            <a:ext cx="370881" cy="370881"/>
          </a:xfrm>
          <a:custGeom>
            <a:avLst/>
            <a:gdLst/>
            <a:ahLst/>
            <a:cxnLst/>
            <a:rect l="l" t="t" r="r" b="b"/>
            <a:pathLst>
              <a:path w="370881" h="370881">
                <a:moveTo>
                  <a:pt x="324521" y="278160"/>
                </a:moveTo>
                <a:cubicBezTo>
                  <a:pt x="324521" y="303764"/>
                  <a:pt x="303764" y="324521"/>
                  <a:pt x="278160" y="324521"/>
                </a:cubicBezTo>
                <a:cubicBezTo>
                  <a:pt x="252557" y="324521"/>
                  <a:pt x="231800" y="303764"/>
                  <a:pt x="231800" y="278160"/>
                </a:cubicBezTo>
                <a:cubicBezTo>
                  <a:pt x="231800" y="252557"/>
                  <a:pt x="252557" y="231800"/>
                  <a:pt x="278160" y="231800"/>
                </a:cubicBezTo>
                <a:cubicBezTo>
                  <a:pt x="303764" y="231800"/>
                  <a:pt x="324521" y="252557"/>
                  <a:pt x="324521" y="278160"/>
                </a:cubicBezTo>
                <a:close/>
                <a:moveTo>
                  <a:pt x="139080" y="92720"/>
                </a:moveTo>
                <a:cubicBezTo>
                  <a:pt x="139080" y="118324"/>
                  <a:pt x="118324" y="139080"/>
                  <a:pt x="92720" y="139080"/>
                </a:cubicBezTo>
                <a:cubicBezTo>
                  <a:pt x="67116" y="139080"/>
                  <a:pt x="46360" y="118324"/>
                  <a:pt x="46360" y="92720"/>
                </a:cubicBezTo>
                <a:cubicBezTo>
                  <a:pt x="46360" y="67116"/>
                  <a:pt x="67116" y="46360"/>
                  <a:pt x="92720" y="46360"/>
                </a:cubicBezTo>
                <a:cubicBezTo>
                  <a:pt x="118324" y="46360"/>
                  <a:pt x="139080" y="67116"/>
                  <a:pt x="139080" y="92720"/>
                </a:cubicBezTo>
                <a:close/>
                <a:moveTo>
                  <a:pt x="200894" y="92720"/>
                </a:moveTo>
                <a:lnTo>
                  <a:pt x="247254" y="92720"/>
                </a:lnTo>
                <a:cubicBezTo>
                  <a:pt x="264323" y="92720"/>
                  <a:pt x="278160" y="106558"/>
                  <a:pt x="278160" y="123627"/>
                </a:cubicBezTo>
                <a:lnTo>
                  <a:pt x="278160" y="231800"/>
                </a:lnTo>
                <a:moveTo>
                  <a:pt x="92720" y="139080"/>
                </a:moveTo>
                <a:lnTo>
                  <a:pt x="92720" y="324521"/>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Todo cambio entra revisado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Ramas cortas, revisión, pruebas y documentación juntas.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sorpresas en producción.</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sistema de un vistazo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capa tiene una sola responsabilidad.</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EXPERIENCIA</a:t>
            </a:r>
            <a:endParaRPr lang="en-US" sz="1186"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user"/>
          <p:cNvSpPr/>
          <p:nvPr/>
        </p:nvSpPr>
        <p:spPr>
          <a:xfrm>
            <a:off x="2678095" y="2075734"/>
            <a:ext cx="294803" cy="294803"/>
          </a:xfrm>
          <a:custGeom>
            <a:avLst/>
            <a:gdLst/>
            <a:ahLst/>
            <a:cxnLst/>
            <a:rect l="l" t="t" r="r" b="b"/>
            <a:pathLst>
              <a:path w="294803" h="294803">
                <a:moveTo>
                  <a:pt x="233385" y="257952"/>
                </a:moveTo>
                <a:lnTo>
                  <a:pt x="233385" y="233385"/>
                </a:lnTo>
                <a:cubicBezTo>
                  <a:pt x="233385" y="206250"/>
                  <a:pt x="211387" y="184252"/>
                  <a:pt x="184252" y="184252"/>
                </a:cubicBezTo>
                <a:lnTo>
                  <a:pt x="110551" y="184252"/>
                </a:lnTo>
                <a:cubicBezTo>
                  <a:pt x="83415" y="184252"/>
                  <a:pt x="61417" y="206250"/>
                  <a:pt x="61417" y="233385"/>
                </a:cubicBezTo>
                <a:lnTo>
                  <a:pt x="61417" y="257952"/>
                </a:lnTo>
                <a:moveTo>
                  <a:pt x="196535" y="85984"/>
                </a:moveTo>
                <a:cubicBezTo>
                  <a:pt x="196535" y="113120"/>
                  <a:pt x="174537" y="135118"/>
                  <a:pt x="147401" y="135118"/>
                </a:cubicBezTo>
                <a:cubicBezTo>
                  <a:pt x="120265" y="135118"/>
                  <a:pt x="98268" y="113120"/>
                  <a:pt x="98268" y="85984"/>
                </a:cubicBezTo>
                <a:cubicBezTo>
                  <a:pt x="98268" y="58848"/>
                  <a:pt x="120265" y="36850"/>
                  <a:pt x="147401" y="36850"/>
                </a:cubicBezTo>
                <a:cubicBezTo>
                  <a:pt x="174537" y="36850"/>
                  <a:pt x="196535" y="58848"/>
                  <a:pt x="196535" y="85984"/>
                </a:cubicBezTo>
                <a:close/>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Persona</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Usa el navegador</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monitor"/>
          <p:cNvSpPr/>
          <p:nvPr/>
        </p:nvSpPr>
        <p:spPr>
          <a:xfrm>
            <a:off x="7283470" y="2075734"/>
            <a:ext cx="294803" cy="294803"/>
          </a:xfrm>
          <a:custGeom>
            <a:avLst/>
            <a:gdLst/>
            <a:ahLst/>
            <a:cxnLst/>
            <a:rect l="l" t="t" r="r" b="b"/>
            <a:pathLst>
              <a:path w="294803" h="294803">
                <a:moveTo>
                  <a:pt x="49134" y="36850"/>
                </a:moveTo>
                <a:lnTo>
                  <a:pt x="245669" y="36850"/>
                </a:lnTo>
                <a:cubicBezTo>
                  <a:pt x="259237" y="36850"/>
                  <a:pt x="270236" y="47849"/>
                  <a:pt x="270236" y="61417"/>
                </a:cubicBezTo>
                <a:lnTo>
                  <a:pt x="270236" y="184252"/>
                </a:lnTo>
                <a:cubicBezTo>
                  <a:pt x="270236" y="197820"/>
                  <a:pt x="259237" y="208818"/>
                  <a:pt x="245669" y="208818"/>
                </a:cubicBezTo>
                <a:lnTo>
                  <a:pt x="49134" y="208818"/>
                </a:lnTo>
                <a:cubicBezTo>
                  <a:pt x="35566" y="208818"/>
                  <a:pt x="24567" y="197820"/>
                  <a:pt x="24567" y="184252"/>
                </a:cubicBezTo>
                <a:lnTo>
                  <a:pt x="24567" y="61417"/>
                </a:lnTo>
                <a:cubicBezTo>
                  <a:pt x="24567" y="47849"/>
                  <a:pt x="35566" y="36850"/>
                  <a:pt x="49134" y="36850"/>
                </a:cubicBezTo>
                <a:close/>
                <a:moveTo>
                  <a:pt x="98268" y="257952"/>
                </a:moveTo>
                <a:lnTo>
                  <a:pt x="196535" y="257952"/>
                </a:lnTo>
                <a:moveTo>
                  <a:pt x="147401" y="208818"/>
                </a:moveTo>
                <a:lnTo>
                  <a:pt x="147401" y="257952"/>
                </a:lnTo>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arka-lite-ui</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pantalla · reenvía /api</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SERVICIOS</a:t>
            </a:r>
            <a:endParaRPr lang="en-US" sz="1300" dirty="0"/>
          </a:p>
        </p:txBody>
      </p:sp>
      <p:sp>
        <p:nvSpPr>
          <p:cNvPr id="28" name="[p1] Forma"/>
          <p:cNvSpPr/>
          <p:nvPr/>
        </p:nvSpPr>
        <p:spPr>
          <a:xfrm>
            <a:off x="2395728" y="3019806"/>
            <a:ext cx="4440784"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clipboard-list"/>
          <p:cNvSpPr/>
          <p:nvPr/>
        </p:nvSpPr>
        <p:spPr>
          <a:xfrm>
            <a:off x="2678095" y="3285028"/>
            <a:ext cx="294803" cy="294803"/>
          </a:xfrm>
          <a:custGeom>
            <a:avLst/>
            <a:gdLst/>
            <a:ahLst/>
            <a:cxnLst/>
            <a:rect l="l" t="t" r="r" b="b"/>
            <a:pathLst>
              <a:path w="294803" h="294803">
                <a:moveTo>
                  <a:pt x="110551" y="24567"/>
                </a:moveTo>
                <a:lnTo>
                  <a:pt x="184252" y="24567"/>
                </a:lnTo>
                <a:cubicBezTo>
                  <a:pt x="191036" y="24567"/>
                  <a:pt x="196535" y="30066"/>
                  <a:pt x="196535" y="36850"/>
                </a:cubicBezTo>
                <a:lnTo>
                  <a:pt x="196535" y="61417"/>
                </a:lnTo>
                <a:cubicBezTo>
                  <a:pt x="196535" y="68201"/>
                  <a:pt x="191036" y="73701"/>
                  <a:pt x="184252" y="73701"/>
                </a:cubicBezTo>
                <a:lnTo>
                  <a:pt x="110551" y="73701"/>
                </a:lnTo>
                <a:cubicBezTo>
                  <a:pt x="103767" y="73701"/>
                  <a:pt x="98268" y="68201"/>
                  <a:pt x="98268" y="61417"/>
                </a:cubicBezTo>
                <a:lnTo>
                  <a:pt x="98268" y="36850"/>
                </a:lnTo>
                <a:cubicBezTo>
                  <a:pt x="98268" y="30066"/>
                  <a:pt x="103767" y="24567"/>
                  <a:pt x="110551" y="24567"/>
                </a:cubicBezTo>
                <a:close/>
                <a:moveTo>
                  <a:pt x="196535" y="49134"/>
                </a:moveTo>
                <a:lnTo>
                  <a:pt x="221102" y="49134"/>
                </a:lnTo>
                <a:cubicBezTo>
                  <a:pt x="234670" y="49134"/>
                  <a:pt x="245669" y="60133"/>
                  <a:pt x="245669" y="73701"/>
                </a:cubicBezTo>
                <a:lnTo>
                  <a:pt x="245669" y="245669"/>
                </a:lnTo>
                <a:cubicBezTo>
                  <a:pt x="245669" y="259237"/>
                  <a:pt x="234670" y="270236"/>
                  <a:pt x="221102" y="270236"/>
                </a:cubicBezTo>
                <a:lnTo>
                  <a:pt x="73701" y="270236"/>
                </a:lnTo>
                <a:cubicBezTo>
                  <a:pt x="60133" y="270236"/>
                  <a:pt x="49134" y="259237"/>
                  <a:pt x="49134" y="245669"/>
                </a:cubicBezTo>
                <a:lnTo>
                  <a:pt x="49134" y="73701"/>
                </a:lnTo>
                <a:cubicBezTo>
                  <a:pt x="49134" y="60133"/>
                  <a:pt x="60133" y="49134"/>
                  <a:pt x="73701" y="49134"/>
                </a:cubicBezTo>
                <a:lnTo>
                  <a:pt x="98268" y="49134"/>
                </a:lnTo>
                <a:moveTo>
                  <a:pt x="147401" y="135118"/>
                </a:moveTo>
                <a:lnTo>
                  <a:pt x="196535" y="135118"/>
                </a:lnTo>
                <a:moveTo>
                  <a:pt x="147401" y="196535"/>
                </a:moveTo>
                <a:lnTo>
                  <a:pt x="196535" y="196535"/>
                </a:lnTo>
                <a:moveTo>
                  <a:pt x="98268" y="135118"/>
                </a:moveTo>
                <a:lnTo>
                  <a:pt x="98390" y="135118"/>
                </a:lnTo>
                <a:moveTo>
                  <a:pt x="98268" y="196535"/>
                </a:moveTo>
                <a:lnTo>
                  <a:pt x="98390" y="196535"/>
                </a:lnTo>
              </a:path>
            </a:pathLst>
          </a:custGeom>
          <a:noFill/>
          <a:ln w="24567" cap="rnd">
            <a:solidFill>
              <a:srgbClr val="0B2350"/>
            </a:solidFill>
            <a:prstDash val="solid"/>
            <a:round/>
          </a:ln>
        </p:spPr>
      </p:sp>
      <p:sp>
        <p:nvSpPr>
          <p:cNvPr id="31" name="[p1] Forma"/>
          <p:cNvSpPr/>
          <p:nvPr/>
        </p:nvSpPr>
        <p:spPr>
          <a:xfrm>
            <a:off x="3255264"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servicio-solicitudes</a:t>
            </a:r>
            <a:endParaRPr lang="en-US" sz="1500" dirty="0"/>
          </a:p>
        </p:txBody>
      </p:sp>
      <p:sp>
        <p:nvSpPr>
          <p:cNvPr id="32" name="[p1] Forma"/>
          <p:cNvSpPr/>
          <p:nvPr/>
        </p:nvSpPr>
        <p:spPr>
          <a:xfrm>
            <a:off x="3255264"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El trámite y sus estados</a:t>
            </a:r>
            <a:endParaRPr lang="en-US" sz="1200" dirty="0"/>
          </a:p>
        </p:txBody>
      </p:sp>
      <p:sp>
        <p:nvSpPr>
          <p:cNvPr id="33" name="[p1] Forma"/>
          <p:cNvSpPr/>
          <p:nvPr/>
        </p:nvSpPr>
        <p:spPr>
          <a:xfrm>
            <a:off x="7001104" y="3019806"/>
            <a:ext cx="4440784" cy="825246"/>
          </a:xfrm>
          <a:prstGeom prst="roundRect">
            <a:avLst>
              <a:gd name="adj" fmla="val 1551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7147408" y="3148965"/>
            <a:ext cx="566928" cy="566928"/>
          </a:xfrm>
          <a:prstGeom prst="ellipse">
            <a:avLst/>
          </a:prstGeom>
          <a:solidFill>
            <a:srgbClr val="E3F4FA"/>
          </a:solidFill>
          <a:ln w="12700">
            <a:solidFill>
              <a:srgbClr val="E3F4FA"/>
            </a:solidFill>
            <a:prstDash val="solid"/>
          </a:ln>
        </p:spPr>
      </p:sp>
      <p:sp>
        <p:nvSpPr>
          <p:cNvPr id="35" name="[p1] Icono bell"/>
          <p:cNvSpPr/>
          <p:nvPr/>
        </p:nvSpPr>
        <p:spPr>
          <a:xfrm>
            <a:off x="7283470" y="3285028"/>
            <a:ext cx="294803" cy="294803"/>
          </a:xfrm>
          <a:custGeom>
            <a:avLst/>
            <a:gdLst/>
            <a:ahLst/>
            <a:cxnLst/>
            <a:rect l="l" t="t" r="r" b="b"/>
            <a:pathLst>
              <a:path w="294803" h="294803">
                <a:moveTo>
                  <a:pt x="126126" y="257952"/>
                </a:moveTo>
                <a:cubicBezTo>
                  <a:pt x="130515" y="265553"/>
                  <a:pt x="138625" y="270235"/>
                  <a:pt x="147401" y="270235"/>
                </a:cubicBezTo>
                <a:cubicBezTo>
                  <a:pt x="156178" y="270235"/>
                  <a:pt x="164288" y="265553"/>
                  <a:pt x="168676" y="257952"/>
                </a:cubicBezTo>
                <a:moveTo>
                  <a:pt x="40069" y="188256"/>
                </a:moveTo>
                <a:cubicBezTo>
                  <a:pt x="36790" y="191849"/>
                  <a:pt x="35941" y="197039"/>
                  <a:pt x="37903" y="201490"/>
                </a:cubicBezTo>
                <a:cubicBezTo>
                  <a:pt x="39865" y="205941"/>
                  <a:pt x="44269" y="208815"/>
                  <a:pt x="49134" y="208818"/>
                </a:cubicBezTo>
                <a:lnTo>
                  <a:pt x="245669" y="208818"/>
                </a:lnTo>
                <a:cubicBezTo>
                  <a:pt x="250533" y="208820"/>
                  <a:pt x="254939" y="205952"/>
                  <a:pt x="256907" y="201504"/>
                </a:cubicBezTo>
                <a:cubicBezTo>
                  <a:pt x="258874" y="197056"/>
                  <a:pt x="258032" y="191866"/>
                  <a:pt x="254759" y="188268"/>
                </a:cubicBezTo>
                <a:cubicBezTo>
                  <a:pt x="238422" y="171428"/>
                  <a:pt x="221102" y="153531"/>
                  <a:pt x="221102" y="98268"/>
                </a:cubicBezTo>
                <a:cubicBezTo>
                  <a:pt x="221102" y="57564"/>
                  <a:pt x="188105" y="24567"/>
                  <a:pt x="147401" y="24567"/>
                </a:cubicBezTo>
                <a:cubicBezTo>
                  <a:pt x="106698" y="24567"/>
                  <a:pt x="73701" y="57564"/>
                  <a:pt x="73701" y="98268"/>
                </a:cubicBezTo>
                <a:cubicBezTo>
                  <a:pt x="73701" y="153531"/>
                  <a:pt x="56369" y="171428"/>
                  <a:pt x="40069" y="188256"/>
                </a:cubicBezTo>
              </a:path>
            </a:pathLst>
          </a:custGeom>
          <a:noFill/>
          <a:ln w="24567" cap="rnd">
            <a:solidFill>
              <a:srgbClr val="0B6E8A"/>
            </a:solidFill>
            <a:prstDash val="solid"/>
            <a:round/>
          </a:ln>
        </p:spPr>
      </p:sp>
      <p:sp>
        <p:nvSpPr>
          <p:cNvPr id="36" name="[p1] Forma"/>
          <p:cNvSpPr/>
          <p:nvPr/>
        </p:nvSpPr>
        <p:spPr>
          <a:xfrm>
            <a:off x="7860640"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servicio-notificaciones</a:t>
            </a:r>
            <a:endParaRPr lang="en-US" sz="1500" dirty="0"/>
          </a:p>
        </p:txBody>
      </p:sp>
      <p:sp>
        <p:nvSpPr>
          <p:cNvPr id="37" name="[p1] Forma"/>
          <p:cNvSpPr/>
          <p:nvPr/>
        </p:nvSpPr>
        <p:spPr>
          <a:xfrm>
            <a:off x="7860640"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Los avisos, sin duplicados</a:t>
            </a:r>
            <a:endParaRPr lang="en-US" sz="1200" dirty="0"/>
          </a:p>
        </p:txBody>
      </p:sp>
      <p:sp>
        <p:nvSpPr>
          <p:cNvPr id="38" name="[p2] Forma"/>
          <p:cNvSpPr/>
          <p:nvPr/>
        </p:nvSpPr>
        <p:spPr>
          <a:xfrm>
            <a:off x="1412748" y="3918204"/>
            <a:ext cx="0" cy="237744"/>
          </a:xfrm>
          <a:prstGeom prst="line">
            <a:avLst/>
          </a:prstGeom>
          <a:noFill/>
          <a:ln w="31750">
            <a:solidFill>
              <a:srgbClr val="0B2350"/>
            </a:solidFill>
            <a:prstDash val="solid"/>
            <a:tailEnd type="triangle"/>
          </a:ln>
        </p:spPr>
      </p:sp>
      <p:sp>
        <p:nvSpPr>
          <p:cNvPr id="39" name="[p2] Forma"/>
          <p:cNvSpPr/>
          <p:nvPr/>
        </p:nvSpPr>
        <p:spPr>
          <a:xfrm>
            <a:off x="612648" y="4137660"/>
            <a:ext cx="10966399" cy="1008126"/>
          </a:xfrm>
          <a:prstGeom prst="roundRect">
            <a:avLst>
              <a:gd name="adj" fmla="val 10884"/>
            </a:avLst>
          </a:prstGeom>
          <a:solidFill>
            <a:srgbClr val="F7F9FC"/>
          </a:solidFill>
          <a:ln w="12700">
            <a:solidFill>
              <a:srgbClr val="CCD0D8"/>
            </a:solidFill>
            <a:prstDash val="solid"/>
          </a:ln>
        </p:spPr>
      </p:sp>
      <p:sp>
        <p:nvSpPr>
          <p:cNvPr id="40" name="[p2] Forma"/>
          <p:cNvSpPr/>
          <p:nvPr/>
        </p:nvSpPr>
        <p:spPr>
          <a:xfrm>
            <a:off x="612648" y="4137660"/>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41" name="[p2] Forma"/>
          <p:cNvSpPr/>
          <p:nvPr/>
        </p:nvSpPr>
        <p:spPr>
          <a:xfrm>
            <a:off x="2395728"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2" name="[p2] Forma"/>
          <p:cNvSpPr/>
          <p:nvPr/>
        </p:nvSpPr>
        <p:spPr>
          <a:xfrm>
            <a:off x="2542032" y="4358259"/>
            <a:ext cx="566928" cy="566928"/>
          </a:xfrm>
          <a:prstGeom prst="ellipse">
            <a:avLst/>
          </a:prstGeom>
          <a:solidFill>
            <a:srgbClr val="F4F7FB"/>
          </a:solidFill>
          <a:ln w="12700">
            <a:solidFill>
              <a:srgbClr val="F4F7FB"/>
            </a:solidFill>
            <a:prstDash val="solid"/>
          </a:ln>
        </p:spPr>
      </p:sp>
      <p:sp>
        <p:nvSpPr>
          <p:cNvPr id="43" name="[p2] Icono database"/>
          <p:cNvSpPr/>
          <p:nvPr/>
        </p:nvSpPr>
        <p:spPr>
          <a:xfrm>
            <a:off x="2678095"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4"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db-solicitudes</a:t>
            </a:r>
            <a:endParaRPr lang="en-US" sz="1500" dirty="0"/>
          </a:p>
        </p:txBody>
      </p:sp>
      <p:sp>
        <p:nvSpPr>
          <p:cNvPr id="45"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solicitud y evento</a:t>
            </a:r>
            <a:endParaRPr lang="en-US" sz="1200" dirty="0"/>
          </a:p>
        </p:txBody>
      </p:sp>
      <p:sp>
        <p:nvSpPr>
          <p:cNvPr id="46" name="[p2] Forma"/>
          <p:cNvSpPr/>
          <p:nvPr/>
        </p:nvSpPr>
        <p:spPr>
          <a:xfrm>
            <a:off x="7001104"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7147408" y="4358259"/>
            <a:ext cx="566928" cy="566928"/>
          </a:xfrm>
          <a:prstGeom prst="ellipse">
            <a:avLst/>
          </a:prstGeom>
          <a:solidFill>
            <a:srgbClr val="F4F7FB"/>
          </a:solidFill>
          <a:ln w="12700">
            <a:solidFill>
              <a:srgbClr val="F4F7FB"/>
            </a:solidFill>
            <a:prstDash val="solid"/>
          </a:ln>
        </p:spPr>
      </p:sp>
      <p:sp>
        <p:nvSpPr>
          <p:cNvPr id="48" name="[p2] Icono database"/>
          <p:cNvSpPr/>
          <p:nvPr/>
        </p:nvSpPr>
        <p:spPr>
          <a:xfrm>
            <a:off x="7283470"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9"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db-notificaciones</a:t>
            </a:r>
            <a:endParaRPr lang="en-US" sz="1500" dirty="0"/>
          </a:p>
        </p:txBody>
      </p:sp>
      <p:sp>
        <p:nvSpPr>
          <p:cNvPr id="50"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evento_procesado</a:t>
            </a:r>
            <a:endParaRPr lang="en-US" sz="1200" dirty="0"/>
          </a:p>
        </p:txBody>
      </p:sp>
      <p:sp>
        <p:nvSpPr>
          <p:cNvPr id="51" name="[p3] Forma"/>
          <p:cNvSpPr/>
          <p:nvPr/>
        </p:nvSpPr>
        <p:spPr>
          <a:xfrm>
            <a:off x="1412748" y="5127498"/>
            <a:ext cx="0" cy="237744"/>
          </a:xfrm>
          <a:prstGeom prst="line">
            <a:avLst/>
          </a:prstGeom>
          <a:noFill/>
          <a:ln w="31750">
            <a:solidFill>
              <a:srgbClr val="0B2350"/>
            </a:solidFill>
            <a:prstDash val="solid"/>
            <a:tailEnd type="triangle"/>
          </a:ln>
        </p:spPr>
      </p:sp>
      <p:sp>
        <p:nvSpPr>
          <p:cNvPr id="52" name="[p3] Forma"/>
          <p:cNvSpPr/>
          <p:nvPr/>
        </p:nvSpPr>
        <p:spPr>
          <a:xfrm>
            <a:off x="612648" y="5346954"/>
            <a:ext cx="10966399" cy="1008126"/>
          </a:xfrm>
          <a:prstGeom prst="roundRect">
            <a:avLst>
              <a:gd name="adj" fmla="val 10884"/>
            </a:avLst>
          </a:prstGeom>
          <a:solidFill>
            <a:srgbClr val="E9F5EF"/>
          </a:solidFill>
          <a:ln w="12700">
            <a:solidFill>
              <a:srgbClr val="B6D1C8"/>
            </a:solidFill>
            <a:prstDash val="solid"/>
          </a:ln>
        </p:spPr>
      </p:sp>
      <p:sp>
        <p:nvSpPr>
          <p:cNvPr id="53" name="[p3] Forma"/>
          <p:cNvSpPr/>
          <p:nvPr/>
        </p:nvSpPr>
        <p:spPr>
          <a:xfrm>
            <a:off x="612648" y="5346954"/>
            <a:ext cx="1600200" cy="1008126"/>
          </a:xfrm>
          <a:prstGeom prst="roundRect">
            <a:avLst>
              <a:gd name="adj" fmla="val 10884"/>
            </a:avLst>
          </a:prstGeom>
          <a:solidFill>
            <a:srgbClr val="0A6648"/>
          </a:solidFill>
          <a:ln>
            <a:solidFill>
              <a:srgbClr val="0A6648"/>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PLATAFORMA</a:t>
            </a:r>
            <a:endParaRPr lang="en-US" sz="1300" dirty="0"/>
          </a:p>
        </p:txBody>
      </p:sp>
      <p:sp>
        <p:nvSpPr>
          <p:cNvPr id="54" name="[p3] Forma"/>
          <p:cNvSpPr/>
          <p:nvPr/>
        </p:nvSpPr>
        <p:spPr>
          <a:xfrm>
            <a:off x="239572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55" name="[p3] Forma"/>
          <p:cNvSpPr/>
          <p:nvPr/>
        </p:nvSpPr>
        <p:spPr>
          <a:xfrm>
            <a:off x="2542032" y="5567553"/>
            <a:ext cx="566928" cy="566928"/>
          </a:xfrm>
          <a:prstGeom prst="ellipse">
            <a:avLst/>
          </a:prstGeom>
          <a:solidFill>
            <a:srgbClr val="E1F1EA"/>
          </a:solidFill>
          <a:ln w="12700">
            <a:solidFill>
              <a:srgbClr val="E1F1EA"/>
            </a:solidFill>
            <a:prstDash val="solid"/>
          </a:ln>
        </p:spPr>
      </p:sp>
      <p:sp>
        <p:nvSpPr>
          <p:cNvPr id="56" name="[p3] Icono ship-wheel"/>
          <p:cNvSpPr/>
          <p:nvPr/>
        </p:nvSpPr>
        <p:spPr>
          <a:xfrm>
            <a:off x="2678095" y="5703616"/>
            <a:ext cx="294803" cy="294803"/>
          </a:xfrm>
          <a:custGeom>
            <a:avLst/>
            <a:gdLst/>
            <a:ahLst/>
            <a:cxnLst/>
            <a:rect l="l" t="t" r="r" b="b"/>
            <a:pathLst>
              <a:path w="294803" h="294803">
                <a:moveTo>
                  <a:pt x="245669" y="147401"/>
                </a:moveTo>
                <a:cubicBezTo>
                  <a:pt x="245669" y="201673"/>
                  <a:pt x="201673" y="245669"/>
                  <a:pt x="147401" y="245669"/>
                </a:cubicBezTo>
                <a:cubicBezTo>
                  <a:pt x="93130" y="245669"/>
                  <a:pt x="49134" y="201673"/>
                  <a:pt x="49134" y="147401"/>
                </a:cubicBezTo>
                <a:cubicBezTo>
                  <a:pt x="49134" y="93130"/>
                  <a:pt x="93130" y="49134"/>
                  <a:pt x="147401" y="49134"/>
                </a:cubicBezTo>
                <a:cubicBezTo>
                  <a:pt x="201673" y="49134"/>
                  <a:pt x="245669" y="93130"/>
                  <a:pt x="245669" y="147401"/>
                </a:cubicBezTo>
                <a:close/>
                <a:moveTo>
                  <a:pt x="147401" y="24567"/>
                </a:moveTo>
                <a:lnTo>
                  <a:pt x="147401" y="116693"/>
                </a:lnTo>
                <a:moveTo>
                  <a:pt x="233385" y="61417"/>
                </a:moveTo>
                <a:lnTo>
                  <a:pt x="169143" y="125660"/>
                </a:lnTo>
                <a:moveTo>
                  <a:pt x="270236" y="147401"/>
                </a:moveTo>
                <a:lnTo>
                  <a:pt x="178110" y="147401"/>
                </a:lnTo>
                <a:moveTo>
                  <a:pt x="233385" y="233385"/>
                </a:moveTo>
                <a:lnTo>
                  <a:pt x="169143" y="169143"/>
                </a:lnTo>
                <a:moveTo>
                  <a:pt x="147401" y="178110"/>
                </a:moveTo>
                <a:lnTo>
                  <a:pt x="147401" y="270236"/>
                </a:lnTo>
                <a:moveTo>
                  <a:pt x="125660" y="169143"/>
                </a:moveTo>
                <a:lnTo>
                  <a:pt x="61417" y="233385"/>
                </a:lnTo>
                <a:moveTo>
                  <a:pt x="116693" y="147401"/>
                </a:moveTo>
                <a:lnTo>
                  <a:pt x="24567" y="147401"/>
                </a:lnTo>
                <a:moveTo>
                  <a:pt x="125660" y="125660"/>
                </a:moveTo>
                <a:lnTo>
                  <a:pt x="61417" y="61417"/>
                </a:lnTo>
                <a:moveTo>
                  <a:pt x="178110" y="147401"/>
                </a:moveTo>
                <a:cubicBezTo>
                  <a:pt x="178110" y="164361"/>
                  <a:pt x="164361" y="178110"/>
                  <a:pt x="147401" y="178110"/>
                </a:cubicBezTo>
                <a:cubicBezTo>
                  <a:pt x="130441" y="178110"/>
                  <a:pt x="116693" y="164361"/>
                  <a:pt x="116693" y="147401"/>
                </a:cubicBezTo>
                <a:cubicBezTo>
                  <a:pt x="116693" y="130441"/>
                  <a:pt x="130441" y="116693"/>
                  <a:pt x="147401" y="116693"/>
                </a:cubicBezTo>
                <a:cubicBezTo>
                  <a:pt x="164361" y="116693"/>
                  <a:pt x="178110" y="130441"/>
                  <a:pt x="178110" y="147401"/>
                </a:cubicBezTo>
                <a:close/>
              </a:path>
            </a:pathLst>
          </a:custGeom>
          <a:noFill/>
          <a:ln w="24567" cap="rnd">
            <a:solidFill>
              <a:srgbClr val="0A6648"/>
            </a:solidFill>
            <a:prstDash val="solid"/>
            <a:round/>
          </a:ln>
        </p:spPr>
      </p:sp>
      <p:sp>
        <p:nvSpPr>
          <p:cNvPr id="57" name="[p3] Forma"/>
          <p:cNvSpPr/>
          <p:nvPr/>
        </p:nvSpPr>
        <p:spPr>
          <a:xfrm>
            <a:off x="3255264" y="5474970"/>
            <a:ext cx="1954682" cy="394335"/>
          </a:xfrm>
          <a:prstGeom prst="rect">
            <a:avLst/>
          </a:prstGeom>
          <a:noFill/>
          <a:ln/>
        </p:spPr>
        <p:txBody>
          <a:bodyPr wrap="square" lIns="0" tIns="0" rIns="0" bIns="0" rtlCol="0" anchor="b">
            <a:normAutofit/>
          </a:bodyPr>
          <a:lstStyle/>
          <a:p>
            <a:pPr algn="l" indent="0" marL="0">
              <a:buNone/>
            </a:pPr>
            <a:r>
              <a:rPr lang="en-US" sz="1300" b="1" dirty="0">
                <a:solidFill>
                  <a:srgbClr val="0A6648"/>
                </a:solidFill>
                <a:latin typeface="Segoe UI Semibold" pitchFamily="34" charset="0"/>
                <a:ea typeface="Segoe UI Semibold" pitchFamily="34" charset="-122"/>
                <a:cs typeface="Segoe UI Semibold" pitchFamily="34" charset="-120"/>
              </a:rPr>
              <a:t>Compose o Kubernetes</a:t>
            </a:r>
            <a:endParaRPr lang="en-US" sz="1300" dirty="0"/>
          </a:p>
        </p:txBody>
      </p:sp>
      <p:sp>
        <p:nvSpPr>
          <p:cNvPr id="58" name="[p3] Forma"/>
          <p:cNvSpPr/>
          <p:nvPr/>
        </p:nvSpPr>
        <p:spPr>
          <a:xfrm>
            <a:off x="325526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Dónde corre</a:t>
            </a:r>
            <a:endParaRPr lang="en-US" sz="1200" dirty="0"/>
          </a:p>
        </p:txBody>
      </p:sp>
      <p:sp>
        <p:nvSpPr>
          <p:cNvPr id="59" name="[p3] Forma"/>
          <p:cNvSpPr/>
          <p:nvPr/>
        </p:nvSpPr>
        <p:spPr>
          <a:xfrm>
            <a:off x="546597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5612282" y="5567553"/>
            <a:ext cx="566928" cy="566928"/>
          </a:xfrm>
          <a:prstGeom prst="ellipse">
            <a:avLst/>
          </a:prstGeom>
          <a:solidFill>
            <a:srgbClr val="E1F1EA"/>
          </a:solidFill>
          <a:ln w="12700">
            <a:solidFill>
              <a:srgbClr val="E1F1EA"/>
            </a:solidFill>
            <a:prstDash val="solid"/>
          </a:ln>
        </p:spPr>
      </p:sp>
      <p:sp>
        <p:nvSpPr>
          <p:cNvPr id="61" name="[p3] Icono workflow"/>
          <p:cNvSpPr/>
          <p:nvPr/>
        </p:nvSpPr>
        <p:spPr>
          <a:xfrm>
            <a:off x="5748345" y="5703616"/>
            <a:ext cx="294803" cy="294803"/>
          </a:xfrm>
          <a:custGeom>
            <a:avLst/>
            <a:gdLst/>
            <a:ahLst/>
            <a:cxnLst/>
            <a:rect l="l" t="t" r="r" b="b"/>
            <a:pathLst>
              <a:path w="294803" h="294803">
                <a:moveTo>
                  <a:pt x="61417" y="36850"/>
                </a:moveTo>
                <a:lnTo>
                  <a:pt x="110551" y="36850"/>
                </a:lnTo>
                <a:cubicBezTo>
                  <a:pt x="124119" y="36850"/>
                  <a:pt x="135118" y="47849"/>
                  <a:pt x="135118" y="61417"/>
                </a:cubicBezTo>
                <a:lnTo>
                  <a:pt x="135118" y="110551"/>
                </a:lnTo>
                <a:cubicBezTo>
                  <a:pt x="135118" y="124119"/>
                  <a:pt x="124119" y="135118"/>
                  <a:pt x="110551" y="135118"/>
                </a:cubicBezTo>
                <a:lnTo>
                  <a:pt x="61417" y="135118"/>
                </a:lnTo>
                <a:cubicBezTo>
                  <a:pt x="47849" y="135118"/>
                  <a:pt x="36850" y="124119"/>
                  <a:pt x="36850" y="110551"/>
                </a:cubicBezTo>
                <a:lnTo>
                  <a:pt x="36850" y="61417"/>
                </a:lnTo>
                <a:cubicBezTo>
                  <a:pt x="36850" y="47849"/>
                  <a:pt x="47849" y="36850"/>
                  <a:pt x="61417" y="36850"/>
                </a:cubicBezTo>
                <a:close/>
                <a:moveTo>
                  <a:pt x="85984" y="135118"/>
                </a:moveTo>
                <a:lnTo>
                  <a:pt x="85984" y="184252"/>
                </a:lnTo>
                <a:cubicBezTo>
                  <a:pt x="85984" y="197820"/>
                  <a:pt x="96983" y="208818"/>
                  <a:pt x="110551" y="208818"/>
                </a:cubicBezTo>
                <a:lnTo>
                  <a:pt x="159685" y="208818"/>
                </a:lnTo>
                <a:moveTo>
                  <a:pt x="184252" y="159685"/>
                </a:moveTo>
                <a:lnTo>
                  <a:pt x="233385" y="159685"/>
                </a:lnTo>
                <a:cubicBezTo>
                  <a:pt x="246953" y="159685"/>
                  <a:pt x="257952" y="170684"/>
                  <a:pt x="257952" y="184252"/>
                </a:cubicBezTo>
                <a:lnTo>
                  <a:pt x="257952" y="233385"/>
                </a:lnTo>
                <a:cubicBezTo>
                  <a:pt x="257952" y="246953"/>
                  <a:pt x="246953" y="257952"/>
                  <a:pt x="233385" y="257952"/>
                </a:cubicBezTo>
                <a:lnTo>
                  <a:pt x="184252" y="257952"/>
                </a:lnTo>
                <a:cubicBezTo>
                  <a:pt x="170684" y="257952"/>
                  <a:pt x="159685" y="246953"/>
                  <a:pt x="159685" y="233385"/>
                </a:cubicBezTo>
                <a:lnTo>
                  <a:pt x="159685" y="184252"/>
                </a:lnTo>
                <a:cubicBezTo>
                  <a:pt x="159685" y="170684"/>
                  <a:pt x="170684" y="159685"/>
                  <a:pt x="184252" y="159685"/>
                </a:cubicBezTo>
                <a:close/>
              </a:path>
            </a:pathLst>
          </a:custGeom>
          <a:noFill/>
          <a:ln w="24567" cap="rnd">
            <a:solidFill>
              <a:srgbClr val="0A6648"/>
            </a:solidFill>
            <a:prstDash val="solid"/>
            <a:round/>
          </a:ln>
        </p:spPr>
      </p:sp>
      <p:sp>
        <p:nvSpPr>
          <p:cNvPr id="62" name="[p3] Forma"/>
          <p:cNvSpPr/>
          <p:nvPr/>
        </p:nvSpPr>
        <p:spPr>
          <a:xfrm>
            <a:off x="6325514"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GitHub Actions</a:t>
            </a:r>
            <a:endParaRPr lang="en-US" sz="1500" dirty="0"/>
          </a:p>
        </p:txBody>
      </p:sp>
      <p:sp>
        <p:nvSpPr>
          <p:cNvPr id="63" name="[p3] Forma"/>
          <p:cNvSpPr/>
          <p:nvPr/>
        </p:nvSpPr>
        <p:spPr>
          <a:xfrm>
            <a:off x="632551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Prueba y publica</a:t>
            </a:r>
            <a:endParaRPr lang="en-US" sz="1200" dirty="0"/>
          </a:p>
        </p:txBody>
      </p:sp>
      <p:sp>
        <p:nvSpPr>
          <p:cNvPr id="64" name="[p3] Forma"/>
          <p:cNvSpPr/>
          <p:nvPr/>
        </p:nvSpPr>
        <p:spPr>
          <a:xfrm>
            <a:off x="8536229" y="5438394"/>
            <a:ext cx="2905658"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65" name="[p3] Forma"/>
          <p:cNvSpPr/>
          <p:nvPr/>
        </p:nvSpPr>
        <p:spPr>
          <a:xfrm>
            <a:off x="8682533" y="5567553"/>
            <a:ext cx="566928" cy="566928"/>
          </a:xfrm>
          <a:prstGeom prst="ellipse">
            <a:avLst/>
          </a:prstGeom>
          <a:solidFill>
            <a:srgbClr val="FCEFD6"/>
          </a:solidFill>
          <a:ln w="12700">
            <a:solidFill>
              <a:srgbClr val="FCEFD6"/>
            </a:solidFill>
            <a:prstDash val="solid"/>
          </a:ln>
        </p:spPr>
      </p:sp>
      <p:sp>
        <p:nvSpPr>
          <p:cNvPr id="66" name="[p3] Icono chart-line"/>
          <p:cNvSpPr/>
          <p:nvPr/>
        </p:nvSpPr>
        <p:spPr>
          <a:xfrm>
            <a:off x="8818596" y="5703616"/>
            <a:ext cx="294803" cy="294803"/>
          </a:xfrm>
          <a:custGeom>
            <a:avLst/>
            <a:gdLst/>
            <a:ahLst/>
            <a:cxnLst/>
            <a:rect l="l" t="t" r="r" b="b"/>
            <a:pathLst>
              <a:path w="294803" h="294803">
                <a:moveTo>
                  <a:pt x="36850" y="36850"/>
                </a:moveTo>
                <a:lnTo>
                  <a:pt x="36850" y="233385"/>
                </a:lnTo>
                <a:cubicBezTo>
                  <a:pt x="36850" y="246953"/>
                  <a:pt x="47849" y="257952"/>
                  <a:pt x="61417" y="257952"/>
                </a:cubicBezTo>
                <a:lnTo>
                  <a:pt x="257952" y="257952"/>
                </a:lnTo>
                <a:moveTo>
                  <a:pt x="233385" y="110551"/>
                </a:moveTo>
                <a:lnTo>
                  <a:pt x="171968" y="171968"/>
                </a:lnTo>
                <a:lnTo>
                  <a:pt x="122834" y="122834"/>
                </a:lnTo>
                <a:lnTo>
                  <a:pt x="85984" y="159685"/>
                </a:lnTo>
              </a:path>
            </a:pathLst>
          </a:custGeom>
          <a:noFill/>
          <a:ln w="24567" cap="rnd">
            <a:solidFill>
              <a:srgbClr val="8A4B06"/>
            </a:solidFill>
            <a:prstDash val="solid"/>
            <a:round/>
          </a:ln>
        </p:spPr>
      </p:sp>
      <p:sp>
        <p:nvSpPr>
          <p:cNvPr id="67" name="[p3] Forma"/>
          <p:cNvSpPr/>
          <p:nvPr/>
        </p:nvSpPr>
        <p:spPr>
          <a:xfrm>
            <a:off x="9395765"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Loki y Grafana</a:t>
            </a:r>
            <a:endParaRPr lang="en-US" sz="1500" dirty="0"/>
          </a:p>
        </p:txBody>
      </p:sp>
      <p:sp>
        <p:nvSpPr>
          <p:cNvPr id="68" name="[p3] Forma"/>
          <p:cNvSpPr/>
          <p:nvPr/>
        </p:nvSpPr>
        <p:spPr>
          <a:xfrm>
            <a:off x="9395765"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Logs en un solo lugar</a:t>
            </a:r>
            <a:endParaRPr lang="en-US" sz="12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childTnLst>
                          </p:cTn>
                        </p:par>
                      </p:childTnLst>
                    </p:cTn>
                  </p:par>
                  <p:par>
                    <p:cTn id="83" fill="hold">
                      <p:stCondLst>
                        <p:cond delay="indefinite"/>
                      </p:stCondLst>
                      <p:childTnLst>
                        <p:par>
                          <p:cTn id="84"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childTnLst>
                          </p:cTn>
                        </p:par>
                      </p:childTnLst>
                    </p:cTn>
                  </p:par>
                  <p:par>
                    <p:cTn id="139" fill="hold">
                      <p:stCondLst>
                        <p:cond delay="indefinite"/>
                      </p:stCondLst>
                      <p:childTnLst>
                        <p:par>
                          <p:cTn id="140"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fade">
                                      <p:cBhvr>
                                        <p:cTn id="87" dur="400"/>
                                        <p:tgtEl>
                                          <p:spTgt spid="5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400"/>
                                        <p:tgtEl>
                                          <p:spTgt spid="5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3"/>
                                        </p:tgtEl>
                                        <p:attrNameLst>
                                          <p:attrName>style.visibility</p:attrName>
                                        </p:attrNameLst>
                                      </p:cBhvr>
                                      <p:to>
                                        <p:strVal val="visible"/>
                                      </p:to>
                                    </p:set>
                                    <p:animEffect transition="in" filter="fade">
                                      <p:cBhvr>
                                        <p:cTn id="93" dur="400"/>
                                        <p:tgtEl>
                                          <p:spTgt spid="5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4"/>
                                        </p:tgtEl>
                                        <p:attrNameLst>
                                          <p:attrName>style.visibility</p:attrName>
                                        </p:attrNameLst>
                                      </p:cBhvr>
                                      <p:to>
                                        <p:strVal val="visible"/>
                                      </p:to>
                                    </p:set>
                                    <p:animEffect transition="in" filter="fade">
                                      <p:cBhvr>
                                        <p:cTn id="96" dur="400"/>
                                        <p:tgtEl>
                                          <p:spTgt spid="5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5"/>
                                        </p:tgtEl>
                                        <p:attrNameLst>
                                          <p:attrName>style.visibility</p:attrName>
                                        </p:attrNameLst>
                                      </p:cBhvr>
                                      <p:to>
                                        <p:strVal val="visible"/>
                                      </p:to>
                                    </p:set>
                                    <p:animEffect transition="in" filter="fade">
                                      <p:cBhvr>
                                        <p:cTn id="99" dur="400"/>
                                        <p:tgtEl>
                                          <p:spTgt spid="5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4"/>
                                        </p:tgtEl>
                                        <p:attrNameLst>
                                          <p:attrName>style.visibility</p:attrName>
                                        </p:attrNameLst>
                                      </p:cBhvr>
                                      <p:to>
                                        <p:strVal val="visible"/>
                                      </p:to>
                                    </p:set>
                                    <p:animEffect transition="in" filter="fade">
                                      <p:cBhvr>
                                        <p:cTn id="126" dur="400"/>
                                        <p:tgtEl>
                                          <p:spTgt spid="64"/>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5"/>
                                        </p:tgtEl>
                                        <p:attrNameLst>
                                          <p:attrName>style.visibility</p:attrName>
                                        </p:attrNameLst>
                                      </p:cBhvr>
                                      <p:to>
                                        <p:strVal val="visible"/>
                                      </p:to>
                                    </p:set>
                                    <p:animEffect transition="in" filter="fade">
                                      <p:cBhvr>
                                        <p:cTn id="129" dur="400"/>
                                        <p:tgtEl>
                                          <p:spTgt spid="65"/>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6"/>
                                        </p:tgtEl>
                                        <p:attrNameLst>
                                          <p:attrName>style.visibility</p:attrName>
                                        </p:attrNameLst>
                                      </p:cBhvr>
                                      <p:to>
                                        <p:strVal val="visible"/>
                                      </p:to>
                                    </p:set>
                                    <p:animEffect transition="in" filter="fade">
                                      <p:cBhvr>
                                        <p:cTn id="132" dur="400"/>
                                        <p:tgtEl>
                                          <p:spTgt spid="66"/>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7"/>
                                        </p:tgtEl>
                                        <p:attrNameLst>
                                          <p:attrName>style.visibility</p:attrName>
                                        </p:attrNameLst>
                                      </p:cBhvr>
                                      <p:to>
                                        <p:strVal val="visible"/>
                                      </p:to>
                                    </p:set>
                                    <p:animEffect transition="in" filter="fade">
                                      <p:cBhvr>
                                        <p:cTn id="135" dur="400"/>
                                        <p:tgtEl>
                                          <p:spTgt spid="67"/>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8"/>
                                        </p:tgtEl>
                                        <p:attrNameLst>
                                          <p:attrName>style.visibility</p:attrName>
                                        </p:attrNameLst>
                                      </p:cBhvr>
                                      <p:to>
                                        <p:strVal val="visible"/>
                                      </p:to>
                                    </p:set>
                                    <p:animEffect transition="in" filter="fade">
                                      <p:cBhvr>
                                        <p:cTn id="138"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en la práctica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Seis conexiones, y ninguna une las dos bases.</a:t>
            </a:r>
            <a:endParaRPr lang="en-US" sz="1700" dirty="0"/>
          </a:p>
        </p:txBody>
      </p:sp>
      <p:sp>
        <p:nvSpPr>
          <p:cNvPr id="13" name="Shape 11"/>
          <p:cNvSpPr/>
          <p:nvPr/>
        </p:nvSpPr>
        <p:spPr>
          <a:xfrm>
            <a:off x="745236" y="3305556"/>
            <a:ext cx="868680" cy="868680"/>
          </a:xfrm>
          <a:prstGeom prst="ellipse">
            <a:avLst/>
          </a:prstGeom>
          <a:solidFill>
            <a:srgbClr val="F1EEFD"/>
          </a:solidFill>
          <a:ln w="2540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941832" y="3502152"/>
            <a:ext cx="475488" cy="475488"/>
          </a:xfrm>
          <a:custGeom>
            <a:avLst/>
            <a:gdLst/>
            <a:ahLst/>
            <a:cxnLst/>
            <a:rect l="l" t="t" r="r" b="b"/>
            <a:pathLst>
              <a:path w="475488" h="475488">
                <a:moveTo>
                  <a:pt x="376428" y="416052"/>
                </a:moveTo>
                <a:lnTo>
                  <a:pt x="376428" y="376428"/>
                </a:lnTo>
                <a:cubicBezTo>
                  <a:pt x="376428" y="332661"/>
                  <a:pt x="340947" y="297180"/>
                  <a:pt x="297180" y="297180"/>
                </a:cubicBezTo>
                <a:lnTo>
                  <a:pt x="178308" y="297180"/>
                </a:lnTo>
                <a:cubicBezTo>
                  <a:pt x="134541" y="297180"/>
                  <a:pt x="99060" y="332661"/>
                  <a:pt x="99060" y="376428"/>
                </a:cubicBezTo>
                <a:lnTo>
                  <a:pt x="99060" y="416052"/>
                </a:lnTo>
                <a:moveTo>
                  <a:pt x="316992" y="138684"/>
                </a:moveTo>
                <a:cubicBezTo>
                  <a:pt x="316992" y="182451"/>
                  <a:pt x="281511" y="217932"/>
                  <a:pt x="237744" y="217932"/>
                </a:cubicBezTo>
                <a:cubicBezTo>
                  <a:pt x="193977" y="217932"/>
                  <a:pt x="158496" y="182451"/>
                  <a:pt x="158496" y="138684"/>
                </a:cubicBezTo>
                <a:cubicBezTo>
                  <a:pt x="158496" y="94917"/>
                  <a:pt x="193977" y="59436"/>
                  <a:pt x="237744" y="59436"/>
                </a:cubicBezTo>
                <a:cubicBezTo>
                  <a:pt x="281511" y="59436"/>
                  <a:pt x="316992" y="94917"/>
                  <a:pt x="316992" y="138684"/>
                </a:cubicBezTo>
                <a:close/>
              </a:path>
            </a:pathLst>
          </a:custGeom>
          <a:noFill/>
          <a:ln w="34671" cap="rnd">
            <a:solidFill>
              <a:srgbClr val="5B3FC4"/>
            </a:solidFill>
            <a:prstDash val="solid"/>
            <a:round/>
          </a:ln>
        </p:spPr>
      </p:sp>
      <p:sp>
        <p:nvSpPr>
          <p:cNvPr id="15" name="Text 13"/>
          <p:cNvSpPr/>
          <p:nvPr/>
        </p:nvSpPr>
        <p:spPr>
          <a:xfrm>
            <a:off x="612648" y="4229100"/>
            <a:ext cx="1133856" cy="274320"/>
          </a:xfrm>
          <a:prstGeom prst="rect">
            <a:avLst/>
          </a:prstGeom>
          <a:noFill/>
          <a:ln/>
        </p:spPr>
        <p:txBody>
          <a:bodyPr wrap="square" lIns="0" tIns="0" rIns="0" bIns="0" rtlCol="0" anchor="t">
            <a:normAutofit/>
          </a:bodyPr>
          <a:lstStyle/>
          <a:p>
            <a:pPr algn="ctr" indent="0" marL="0">
              <a:buNone/>
            </a:pPr>
            <a:r>
              <a:rPr lang="en-US" sz="1300" b="1" dirty="0">
                <a:solidFill>
                  <a:srgbClr val="0B1A3C"/>
                </a:solidFill>
                <a:latin typeface="Segoe UI Semibold" pitchFamily="34" charset="0"/>
                <a:ea typeface="Segoe UI Semibold" pitchFamily="34" charset="-122"/>
                <a:cs typeface="Segoe UI Semibold" pitchFamily="34" charset="-120"/>
              </a:rPr>
              <a:t>Persona</a:t>
            </a:r>
            <a:endParaRPr lang="en-US" sz="1300" dirty="0"/>
          </a:p>
        </p:txBody>
      </p:sp>
      <p:sp>
        <p:nvSpPr>
          <p:cNvPr id="16" name="Text 14"/>
          <p:cNvSpPr/>
          <p:nvPr/>
        </p:nvSpPr>
        <p:spPr>
          <a:xfrm>
            <a:off x="539496" y="4485132"/>
            <a:ext cx="1280160" cy="256032"/>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En el navegador</a:t>
            </a:r>
            <a:endParaRPr lang="en-US" sz="1050" dirty="0"/>
          </a:p>
        </p:txBody>
      </p:sp>
      <p:sp>
        <p:nvSpPr>
          <p:cNvPr id="17" name="Shape 15"/>
          <p:cNvSpPr/>
          <p:nvPr/>
        </p:nvSpPr>
        <p:spPr>
          <a:xfrm>
            <a:off x="2212848" y="3191256"/>
            <a:ext cx="2148840" cy="1097280"/>
          </a:xfrm>
          <a:prstGeom prst="roundRect">
            <a:avLst>
              <a:gd name="adj" fmla="val 11667"/>
            </a:avLst>
          </a:prstGeom>
          <a:solidFill>
            <a:srgbClr val="FFFFFF"/>
          </a:solidFill>
          <a:ln w="12700">
            <a:solidFill>
              <a:srgbClr val="AD9FE2"/>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2212848" y="3300984"/>
            <a:ext cx="73152" cy="877824"/>
          </a:xfrm>
          <a:prstGeom prst="rect">
            <a:avLst/>
          </a:prstGeom>
          <a:solidFill>
            <a:srgbClr val="5B3FC4"/>
          </a:solidFill>
          <a:ln w="12700">
            <a:solidFill>
              <a:srgbClr val="5B3FC4"/>
            </a:solidFill>
            <a:prstDash val="solid"/>
          </a:ln>
        </p:spPr>
      </p:sp>
      <p:sp>
        <p:nvSpPr>
          <p:cNvPr id="19" name="Shape 17"/>
          <p:cNvSpPr/>
          <p:nvPr/>
        </p:nvSpPr>
        <p:spPr>
          <a:xfrm>
            <a:off x="2414016" y="3419856"/>
            <a:ext cx="640080" cy="640080"/>
          </a:xfrm>
          <a:prstGeom prst="ellipse">
            <a:avLst/>
          </a:prstGeom>
          <a:solidFill>
            <a:srgbClr val="F1EEFD"/>
          </a:solidFill>
          <a:ln w="12700">
            <a:solidFill>
              <a:srgbClr val="F1EEFD"/>
            </a:solidFill>
            <a:prstDash val="solid"/>
          </a:ln>
        </p:spPr>
      </p:sp>
      <p:sp>
        <p:nvSpPr>
          <p:cNvPr id="20" name="Icono monitor"/>
          <p:cNvSpPr/>
          <p:nvPr/>
        </p:nvSpPr>
        <p:spPr>
          <a:xfrm>
            <a:off x="2567635" y="3573475"/>
            <a:ext cx="332842" cy="332842"/>
          </a:xfrm>
          <a:custGeom>
            <a:avLst/>
            <a:gdLst/>
            <a:ahLst/>
            <a:cxnLst/>
            <a:rect l="l" t="t" r="r" b="b"/>
            <a:pathLst>
              <a:path w="332842" h="332842">
                <a:moveTo>
                  <a:pt x="55474" y="41605"/>
                </a:moveTo>
                <a:lnTo>
                  <a:pt x="277368" y="41605"/>
                </a:lnTo>
                <a:cubicBezTo>
                  <a:pt x="292687" y="41605"/>
                  <a:pt x="305105" y="54023"/>
                  <a:pt x="305105" y="69342"/>
                </a:cubicBezTo>
                <a:lnTo>
                  <a:pt x="305105" y="208026"/>
                </a:lnTo>
                <a:cubicBezTo>
                  <a:pt x="305105" y="223345"/>
                  <a:pt x="292687" y="235763"/>
                  <a:pt x="277368" y="235763"/>
                </a:cubicBezTo>
                <a:lnTo>
                  <a:pt x="55474" y="235763"/>
                </a:lnTo>
                <a:cubicBezTo>
                  <a:pt x="40155" y="235763"/>
                  <a:pt x="27737" y="223345"/>
                  <a:pt x="27737" y="208026"/>
                </a:cubicBezTo>
                <a:lnTo>
                  <a:pt x="27737" y="69342"/>
                </a:lnTo>
                <a:cubicBezTo>
                  <a:pt x="27737" y="54023"/>
                  <a:pt x="40155" y="41605"/>
                  <a:pt x="55474" y="41605"/>
                </a:cubicBezTo>
                <a:close/>
                <a:moveTo>
                  <a:pt x="110947" y="291236"/>
                </a:moveTo>
                <a:lnTo>
                  <a:pt x="221894" y="291236"/>
                </a:lnTo>
                <a:moveTo>
                  <a:pt x="166421" y="235763"/>
                </a:moveTo>
                <a:lnTo>
                  <a:pt x="166421" y="291236"/>
                </a:lnTo>
              </a:path>
            </a:pathLst>
          </a:custGeom>
          <a:noFill/>
          <a:ln w="27737" cap="rnd">
            <a:solidFill>
              <a:srgbClr val="5B3FC4"/>
            </a:solidFill>
            <a:prstDash val="solid"/>
            <a:round/>
          </a:ln>
        </p:spPr>
      </p:sp>
      <p:sp>
        <p:nvSpPr>
          <p:cNvPr id="21" name="Text 19"/>
          <p:cNvSpPr/>
          <p:nvPr/>
        </p:nvSpPr>
        <p:spPr>
          <a:xfrm>
            <a:off x="3200400" y="3300984"/>
            <a:ext cx="1051560" cy="475488"/>
          </a:xfrm>
          <a:prstGeom prst="rect">
            <a:avLst/>
          </a:prstGeom>
          <a:noFill/>
          <a:ln/>
        </p:spPr>
        <p:txBody>
          <a:bodyPr wrap="square" lIns="0" tIns="0" rIns="0" bIns="0" rtlCol="0" anchor="b">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La UI</a:t>
            </a:r>
            <a:endParaRPr lang="en-US" sz="1600" dirty="0"/>
          </a:p>
        </p:txBody>
      </p:sp>
      <p:sp>
        <p:nvSpPr>
          <p:cNvPr id="22" name="Text 20"/>
          <p:cNvSpPr/>
          <p:nvPr/>
        </p:nvSpPr>
        <p:spPr>
          <a:xfrm>
            <a:off x="3200400" y="3758184"/>
            <a:ext cx="10515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arka-lite-ui · :8088</a:t>
            </a:r>
            <a:endParaRPr lang="en-US" sz="1250" dirty="0"/>
          </a:p>
        </p:txBody>
      </p:sp>
      <p:sp>
        <p:nvSpPr>
          <p:cNvPr id="23" name="Shape 21"/>
          <p:cNvSpPr/>
          <p:nvPr/>
        </p:nvSpPr>
        <p:spPr>
          <a:xfrm>
            <a:off x="5504688" y="1901952"/>
            <a:ext cx="2606040" cy="1097280"/>
          </a:xfrm>
          <a:prstGeom prst="roundRect">
            <a:avLst>
              <a:gd name="adj" fmla="val 11667"/>
            </a:avLst>
          </a:prstGeom>
          <a:solidFill>
            <a:srgbClr val="FFFFFF"/>
          </a:solidFill>
          <a:ln w="12700">
            <a:solidFill>
              <a:srgbClr val="8591A8"/>
            </a:solidFill>
            <a:prstDash val="solid"/>
          </a:ln>
          <a:effectLst>
            <a:outerShdw sx="100000" sy="100000" kx="0" ky="0" algn="bl" rotWithShape="0" blurRad="76200" dist="19050" dir="5400000">
              <a:srgbClr val="0B1F3A">
                <a:alpha val="14000"/>
              </a:srgbClr>
            </a:outerShdw>
          </a:effectLst>
        </p:spPr>
      </p:sp>
      <p:sp>
        <p:nvSpPr>
          <p:cNvPr id="24" name="Shape 22"/>
          <p:cNvSpPr/>
          <p:nvPr/>
        </p:nvSpPr>
        <p:spPr>
          <a:xfrm>
            <a:off x="5504688" y="2011680"/>
            <a:ext cx="73152" cy="877824"/>
          </a:xfrm>
          <a:prstGeom prst="rect">
            <a:avLst/>
          </a:prstGeom>
          <a:solidFill>
            <a:srgbClr val="0B2350"/>
          </a:solidFill>
          <a:ln w="12700">
            <a:solidFill>
              <a:srgbClr val="0B2350"/>
            </a:solidFill>
            <a:prstDash val="solid"/>
          </a:ln>
        </p:spPr>
      </p:sp>
      <p:sp>
        <p:nvSpPr>
          <p:cNvPr id="25" name="Shape 23"/>
          <p:cNvSpPr/>
          <p:nvPr/>
        </p:nvSpPr>
        <p:spPr>
          <a:xfrm>
            <a:off x="5705856" y="2130552"/>
            <a:ext cx="640080" cy="640080"/>
          </a:xfrm>
          <a:prstGeom prst="ellipse">
            <a:avLst/>
          </a:prstGeom>
          <a:solidFill>
            <a:srgbClr val="E8EEF8"/>
          </a:solidFill>
          <a:ln w="12700">
            <a:solidFill>
              <a:srgbClr val="E8EEF8"/>
            </a:solidFill>
            <a:prstDash val="solid"/>
          </a:ln>
        </p:spPr>
      </p:sp>
      <p:sp>
        <p:nvSpPr>
          <p:cNvPr id="26" name="Icono clipboard-list"/>
          <p:cNvSpPr/>
          <p:nvPr/>
        </p:nvSpPr>
        <p:spPr>
          <a:xfrm>
            <a:off x="5859475" y="2284171"/>
            <a:ext cx="332842" cy="332842"/>
          </a:xfrm>
          <a:custGeom>
            <a:avLst/>
            <a:gdLst/>
            <a:ahLst/>
            <a:cxnLst/>
            <a:rect l="l" t="t" r="r" b="b"/>
            <a:pathLst>
              <a:path w="332842" h="332842">
                <a:moveTo>
                  <a:pt x="124816" y="27737"/>
                </a:moveTo>
                <a:lnTo>
                  <a:pt x="208026" y="27737"/>
                </a:lnTo>
                <a:cubicBezTo>
                  <a:pt x="215685" y="27737"/>
                  <a:pt x="221894" y="33946"/>
                  <a:pt x="221894" y="41605"/>
                </a:cubicBezTo>
                <a:lnTo>
                  <a:pt x="221894" y="69342"/>
                </a:lnTo>
                <a:cubicBezTo>
                  <a:pt x="221894" y="77001"/>
                  <a:pt x="215685" y="83210"/>
                  <a:pt x="208026" y="83210"/>
                </a:cubicBezTo>
                <a:lnTo>
                  <a:pt x="124816" y="83210"/>
                </a:lnTo>
                <a:cubicBezTo>
                  <a:pt x="117156" y="83210"/>
                  <a:pt x="110947" y="77001"/>
                  <a:pt x="110947" y="69342"/>
                </a:cubicBezTo>
                <a:lnTo>
                  <a:pt x="110947" y="41605"/>
                </a:lnTo>
                <a:cubicBezTo>
                  <a:pt x="110947" y="33946"/>
                  <a:pt x="117156" y="27737"/>
                  <a:pt x="124816" y="27737"/>
                </a:cubicBezTo>
                <a:close/>
                <a:moveTo>
                  <a:pt x="221894" y="55474"/>
                </a:moveTo>
                <a:lnTo>
                  <a:pt x="249631" y="55474"/>
                </a:lnTo>
                <a:cubicBezTo>
                  <a:pt x="264950" y="55474"/>
                  <a:pt x="277368" y="67892"/>
                  <a:pt x="277368" y="83210"/>
                </a:cubicBezTo>
                <a:lnTo>
                  <a:pt x="277368" y="277368"/>
                </a:lnTo>
                <a:cubicBezTo>
                  <a:pt x="277368" y="292687"/>
                  <a:pt x="264950" y="305105"/>
                  <a:pt x="249631" y="305105"/>
                </a:cubicBezTo>
                <a:lnTo>
                  <a:pt x="83210" y="305105"/>
                </a:lnTo>
                <a:cubicBezTo>
                  <a:pt x="67892" y="305105"/>
                  <a:pt x="55474" y="292687"/>
                  <a:pt x="55474" y="277368"/>
                </a:cubicBezTo>
                <a:lnTo>
                  <a:pt x="55474" y="83210"/>
                </a:lnTo>
                <a:cubicBezTo>
                  <a:pt x="55474" y="67892"/>
                  <a:pt x="67892" y="55474"/>
                  <a:pt x="83210" y="55474"/>
                </a:cubicBezTo>
                <a:lnTo>
                  <a:pt x="110947" y="55474"/>
                </a:lnTo>
                <a:moveTo>
                  <a:pt x="166421" y="152552"/>
                </a:moveTo>
                <a:lnTo>
                  <a:pt x="221894" y="152552"/>
                </a:lnTo>
                <a:moveTo>
                  <a:pt x="166421" y="221894"/>
                </a:moveTo>
                <a:lnTo>
                  <a:pt x="221894" y="221894"/>
                </a:lnTo>
                <a:moveTo>
                  <a:pt x="110947" y="152552"/>
                </a:moveTo>
                <a:lnTo>
                  <a:pt x="111086" y="152552"/>
                </a:lnTo>
                <a:moveTo>
                  <a:pt x="110947" y="221894"/>
                </a:moveTo>
                <a:lnTo>
                  <a:pt x="111086" y="221894"/>
                </a:lnTo>
              </a:path>
            </a:pathLst>
          </a:custGeom>
          <a:noFill/>
          <a:ln w="27737" cap="rnd">
            <a:solidFill>
              <a:srgbClr val="0B2350"/>
            </a:solidFill>
            <a:prstDash val="solid"/>
            <a:round/>
          </a:ln>
        </p:spPr>
      </p:sp>
      <p:sp>
        <p:nvSpPr>
          <p:cNvPr id="27" name="Text 25"/>
          <p:cNvSpPr/>
          <p:nvPr/>
        </p:nvSpPr>
        <p:spPr>
          <a:xfrm>
            <a:off x="6492240" y="2011680"/>
            <a:ext cx="1508760" cy="47548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Solicitudes</a:t>
            </a:r>
            <a:endParaRPr lang="en-US" sz="1600" dirty="0"/>
          </a:p>
        </p:txBody>
      </p:sp>
      <p:sp>
        <p:nvSpPr>
          <p:cNvPr id="28" name="Text 26"/>
          <p:cNvSpPr/>
          <p:nvPr/>
        </p:nvSpPr>
        <p:spPr>
          <a:xfrm>
            <a:off x="6492240" y="2468880"/>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El trámite y sus estados · :8080</a:t>
            </a:r>
            <a:endParaRPr lang="en-US" sz="1250" dirty="0"/>
          </a:p>
        </p:txBody>
      </p:sp>
      <p:sp>
        <p:nvSpPr>
          <p:cNvPr id="29" name="Shape 27"/>
          <p:cNvSpPr/>
          <p:nvPr/>
        </p:nvSpPr>
        <p:spPr>
          <a:xfrm>
            <a:off x="5504688" y="4480560"/>
            <a:ext cx="2606040" cy="1097280"/>
          </a:xfrm>
          <a:prstGeom prst="roundRect">
            <a:avLst>
              <a:gd name="adj" fmla="val 11667"/>
            </a:avLst>
          </a:prstGeom>
          <a:solidFill>
            <a:srgbClr val="FFFFFF"/>
          </a:solidFill>
          <a:ln w="12700">
            <a:solidFill>
              <a:srgbClr val="85B7C5"/>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5504688" y="4590288"/>
            <a:ext cx="73152" cy="877824"/>
          </a:xfrm>
          <a:prstGeom prst="rect">
            <a:avLst/>
          </a:prstGeom>
          <a:solidFill>
            <a:srgbClr val="0B6E8A"/>
          </a:solidFill>
          <a:ln w="12700">
            <a:solidFill>
              <a:srgbClr val="0B6E8A"/>
            </a:solidFill>
            <a:prstDash val="solid"/>
          </a:ln>
        </p:spPr>
      </p:sp>
      <p:sp>
        <p:nvSpPr>
          <p:cNvPr id="31" name="Shape 29"/>
          <p:cNvSpPr/>
          <p:nvPr/>
        </p:nvSpPr>
        <p:spPr>
          <a:xfrm>
            <a:off x="5705856" y="4709160"/>
            <a:ext cx="640080" cy="640080"/>
          </a:xfrm>
          <a:prstGeom prst="ellipse">
            <a:avLst/>
          </a:prstGeom>
          <a:solidFill>
            <a:srgbClr val="E3F4FA"/>
          </a:solidFill>
          <a:ln w="12700">
            <a:solidFill>
              <a:srgbClr val="E3F4FA"/>
            </a:solidFill>
            <a:prstDash val="solid"/>
          </a:ln>
        </p:spPr>
      </p:sp>
      <p:sp>
        <p:nvSpPr>
          <p:cNvPr id="32" name="Icono bell"/>
          <p:cNvSpPr/>
          <p:nvPr/>
        </p:nvSpPr>
        <p:spPr>
          <a:xfrm>
            <a:off x="5859475" y="4862779"/>
            <a:ext cx="332842" cy="332842"/>
          </a:xfrm>
          <a:custGeom>
            <a:avLst/>
            <a:gdLst/>
            <a:ahLst/>
            <a:cxnLst/>
            <a:rect l="l" t="t" r="r" b="b"/>
            <a:pathLst>
              <a:path w="332842" h="332842">
                <a:moveTo>
                  <a:pt x="142401" y="291236"/>
                </a:moveTo>
                <a:cubicBezTo>
                  <a:pt x="147356" y="299818"/>
                  <a:pt x="156512" y="305104"/>
                  <a:pt x="166421" y="305104"/>
                </a:cubicBezTo>
                <a:cubicBezTo>
                  <a:pt x="176330" y="305104"/>
                  <a:pt x="185486" y="299818"/>
                  <a:pt x="190441" y="291236"/>
                </a:cubicBezTo>
                <a:moveTo>
                  <a:pt x="45239" y="212547"/>
                </a:moveTo>
                <a:cubicBezTo>
                  <a:pt x="41537" y="216604"/>
                  <a:pt x="40578" y="222464"/>
                  <a:pt x="42794" y="227489"/>
                </a:cubicBezTo>
                <a:cubicBezTo>
                  <a:pt x="45009" y="232514"/>
                  <a:pt x="49982" y="235759"/>
                  <a:pt x="55474" y="235763"/>
                </a:cubicBezTo>
                <a:lnTo>
                  <a:pt x="277368" y="235763"/>
                </a:lnTo>
                <a:cubicBezTo>
                  <a:pt x="282859" y="235765"/>
                  <a:pt x="287835" y="232526"/>
                  <a:pt x="290056" y="227504"/>
                </a:cubicBezTo>
                <a:cubicBezTo>
                  <a:pt x="292277" y="222482"/>
                  <a:pt x="291326" y="216623"/>
                  <a:pt x="287631" y="212561"/>
                </a:cubicBezTo>
                <a:cubicBezTo>
                  <a:pt x="269186" y="193547"/>
                  <a:pt x="249631" y="173341"/>
                  <a:pt x="249631" y="110947"/>
                </a:cubicBezTo>
                <a:cubicBezTo>
                  <a:pt x="249631" y="64991"/>
                  <a:pt x="212377" y="27737"/>
                  <a:pt x="166421" y="27737"/>
                </a:cubicBezTo>
                <a:cubicBezTo>
                  <a:pt x="120465" y="27737"/>
                  <a:pt x="83210" y="64991"/>
                  <a:pt x="83210" y="110947"/>
                </a:cubicBezTo>
                <a:cubicBezTo>
                  <a:pt x="83210" y="173341"/>
                  <a:pt x="63642" y="193547"/>
                  <a:pt x="45239" y="212547"/>
                </a:cubicBezTo>
              </a:path>
            </a:pathLst>
          </a:custGeom>
          <a:noFill/>
          <a:ln w="27737" cap="rnd">
            <a:solidFill>
              <a:srgbClr val="0B6E8A"/>
            </a:solidFill>
            <a:prstDash val="solid"/>
            <a:round/>
          </a:ln>
        </p:spPr>
      </p:sp>
      <p:sp>
        <p:nvSpPr>
          <p:cNvPr id="33" name="Text 31"/>
          <p:cNvSpPr/>
          <p:nvPr/>
        </p:nvSpPr>
        <p:spPr>
          <a:xfrm>
            <a:off x="6492240" y="4590288"/>
            <a:ext cx="1508760" cy="475488"/>
          </a:xfrm>
          <a:prstGeom prst="rect">
            <a:avLst/>
          </a:prstGeom>
          <a:noFill/>
          <a:ln/>
        </p:spPr>
        <p:txBody>
          <a:bodyPr wrap="square" lIns="0" tIns="0" rIns="0" bIns="0" rtlCol="0" anchor="b">
            <a:normAutofit/>
          </a:bodyPr>
          <a:lstStyle/>
          <a:p>
            <a:pPr algn="l" indent="0" marL="0">
              <a:buNone/>
            </a:pPr>
            <a:r>
              <a:rPr lang="en-US" sz="1450" b="1" dirty="0">
                <a:solidFill>
                  <a:srgbClr val="0B6E8A"/>
                </a:solidFill>
                <a:latin typeface="Segoe UI Semibold" pitchFamily="34" charset="0"/>
                <a:ea typeface="Segoe UI Semibold" pitchFamily="34" charset="-122"/>
                <a:cs typeface="Segoe UI Semibold" pitchFamily="34" charset="-120"/>
              </a:rPr>
              <a:t>Notificaciones</a:t>
            </a:r>
            <a:endParaRPr lang="en-US" sz="1450" dirty="0"/>
          </a:p>
        </p:txBody>
      </p:sp>
      <p:sp>
        <p:nvSpPr>
          <p:cNvPr id="34" name="Text 32"/>
          <p:cNvSpPr/>
          <p:nvPr/>
        </p:nvSpPr>
        <p:spPr>
          <a:xfrm>
            <a:off x="6492240" y="5047488"/>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Los avisos · :8081</a:t>
            </a:r>
            <a:endParaRPr lang="en-US" sz="1250" dirty="0"/>
          </a:p>
        </p:txBody>
      </p:sp>
      <p:sp>
        <p:nvSpPr>
          <p:cNvPr id="35" name="Shape 33"/>
          <p:cNvSpPr/>
          <p:nvPr/>
        </p:nvSpPr>
        <p:spPr>
          <a:xfrm>
            <a:off x="9390888" y="1901952"/>
            <a:ext cx="2188159" cy="109728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36" name="Text 34"/>
          <p:cNvSpPr/>
          <p:nvPr/>
        </p:nvSpPr>
        <p:spPr>
          <a:xfrm>
            <a:off x="9482328" y="2275027"/>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37" name="Text 35"/>
          <p:cNvSpPr/>
          <p:nvPr/>
        </p:nvSpPr>
        <p:spPr>
          <a:xfrm>
            <a:off x="9482328" y="2604211"/>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38" name="Shape 36"/>
          <p:cNvSpPr/>
          <p:nvPr/>
        </p:nvSpPr>
        <p:spPr>
          <a:xfrm>
            <a:off x="9390888" y="4480560"/>
            <a:ext cx="2188159" cy="1097280"/>
          </a:xfrm>
          <a:prstGeom prst="can">
            <a:avLst/>
          </a:prstGeom>
          <a:solidFill>
            <a:srgbClr val="E3F4FA"/>
          </a:solidFill>
          <a:ln w="25400">
            <a:solidFill>
              <a:srgbClr val="0B6E8A"/>
            </a:solidFill>
            <a:prstDash val="solid"/>
          </a:ln>
          <a:effectLst>
            <a:outerShdw sx="100000" sy="100000" kx="0" ky="0" algn="bl" rotWithShape="0" blurRad="76200" dist="19050" dir="5400000">
              <a:srgbClr val="0B1F3A">
                <a:alpha val="14000"/>
              </a:srgbClr>
            </a:outerShdw>
          </a:effectLst>
        </p:spPr>
      </p:sp>
      <p:sp>
        <p:nvSpPr>
          <p:cNvPr id="39" name="Text 37"/>
          <p:cNvSpPr/>
          <p:nvPr/>
        </p:nvSpPr>
        <p:spPr>
          <a:xfrm>
            <a:off x="9482328" y="4853635"/>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6E8A"/>
                </a:solidFill>
                <a:latin typeface="Consolas" pitchFamily="34" charset="0"/>
                <a:ea typeface="Consolas" pitchFamily="34" charset="-122"/>
                <a:cs typeface="Consolas" pitchFamily="34" charset="-120"/>
              </a:rPr>
              <a:t>db-notificaciones</a:t>
            </a:r>
            <a:endParaRPr lang="en-US" sz="1500" dirty="0"/>
          </a:p>
        </p:txBody>
      </p:sp>
      <p:sp>
        <p:nvSpPr>
          <p:cNvPr id="40" name="Text 38"/>
          <p:cNvSpPr/>
          <p:nvPr/>
        </p:nvSpPr>
        <p:spPr>
          <a:xfrm>
            <a:off x="9482328" y="5182819"/>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1" name="[p1] Forma"/>
          <p:cNvSpPr/>
          <p:nvPr/>
        </p:nvSpPr>
        <p:spPr>
          <a:xfrm>
            <a:off x="1668780" y="3739896"/>
            <a:ext cx="489204" cy="0"/>
          </a:xfrm>
          <a:prstGeom prst="line">
            <a:avLst/>
          </a:prstGeom>
          <a:noFill/>
          <a:ln w="31750">
            <a:solidFill>
              <a:srgbClr val="30446A"/>
            </a:solidFill>
            <a:prstDash val="solid"/>
            <a:tailEnd type="triangle"/>
          </a:ln>
        </p:spPr>
      </p:sp>
      <p:sp>
        <p:nvSpPr>
          <p:cNvPr id="42" name="[p1] Forma"/>
          <p:cNvSpPr/>
          <p:nvPr/>
        </p:nvSpPr>
        <p:spPr>
          <a:xfrm>
            <a:off x="1739646" y="3566160"/>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1</a:t>
            </a:r>
            <a:endParaRPr lang="en-US" sz="1250" dirty="0"/>
          </a:p>
        </p:txBody>
      </p:sp>
      <p:sp>
        <p:nvSpPr>
          <p:cNvPr id="43" name="[p1] Forma"/>
          <p:cNvSpPr/>
          <p:nvPr/>
        </p:nvSpPr>
        <p:spPr>
          <a:xfrm>
            <a:off x="1613916" y="3172968"/>
            <a:ext cx="598932" cy="32918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usa</a:t>
            </a:r>
            <a:endParaRPr lang="en-US" sz="1300" dirty="0"/>
          </a:p>
        </p:txBody>
      </p:sp>
      <p:sp>
        <p:nvSpPr>
          <p:cNvPr id="44" name="[p2] Forma"/>
          <p:cNvSpPr/>
          <p:nvPr/>
        </p:nvSpPr>
        <p:spPr>
          <a:xfrm>
            <a:off x="4398264" y="3483864"/>
            <a:ext cx="603504" cy="0"/>
          </a:xfrm>
          <a:prstGeom prst="line">
            <a:avLst/>
          </a:prstGeom>
          <a:noFill/>
          <a:ln w="31750">
            <a:solidFill>
              <a:srgbClr val="30446A"/>
            </a:solidFill>
            <a:prstDash val="solid"/>
          </a:ln>
        </p:spPr>
      </p:sp>
      <p:sp>
        <p:nvSpPr>
          <p:cNvPr id="45" name="[p2] Forma"/>
          <p:cNvSpPr/>
          <p:nvPr/>
        </p:nvSpPr>
        <p:spPr>
          <a:xfrm flipV="1">
            <a:off x="5001768" y="2450592"/>
            <a:ext cx="0" cy="1033272"/>
          </a:xfrm>
          <a:prstGeom prst="line">
            <a:avLst/>
          </a:prstGeom>
          <a:noFill/>
          <a:ln w="31750">
            <a:solidFill>
              <a:srgbClr val="30446A"/>
            </a:solidFill>
            <a:prstDash val="solid"/>
          </a:ln>
        </p:spPr>
      </p:sp>
      <p:sp>
        <p:nvSpPr>
          <p:cNvPr id="46" name="[p2] Forma"/>
          <p:cNvSpPr/>
          <p:nvPr/>
        </p:nvSpPr>
        <p:spPr>
          <a:xfrm>
            <a:off x="5001768" y="2450592"/>
            <a:ext cx="448056" cy="0"/>
          </a:xfrm>
          <a:prstGeom prst="line">
            <a:avLst/>
          </a:prstGeom>
          <a:noFill/>
          <a:ln w="31750">
            <a:solidFill>
              <a:srgbClr val="30446A"/>
            </a:solidFill>
            <a:prstDash val="solid"/>
            <a:tailEnd type="triangle"/>
          </a:ln>
        </p:spPr>
      </p:sp>
      <p:sp>
        <p:nvSpPr>
          <p:cNvPr id="47" name="[p2] Forma"/>
          <p:cNvSpPr/>
          <p:nvPr/>
        </p:nvSpPr>
        <p:spPr>
          <a:xfrm>
            <a:off x="4828032" y="27934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2</a:t>
            </a:r>
            <a:endParaRPr lang="en-US" sz="1250" dirty="0"/>
          </a:p>
        </p:txBody>
      </p:sp>
      <p:sp>
        <p:nvSpPr>
          <p:cNvPr id="48" name="[p2] Forma"/>
          <p:cNvSpPr/>
          <p:nvPr/>
        </p:nvSpPr>
        <p:spPr>
          <a:xfrm>
            <a:off x="2212848" y="2404872"/>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crea, envía y decide</a:t>
            </a:r>
            <a:endParaRPr lang="en-US" sz="1300" dirty="0"/>
          </a:p>
        </p:txBody>
      </p:sp>
      <p:sp>
        <p:nvSpPr>
          <p:cNvPr id="49" name="[p6] Forma"/>
          <p:cNvSpPr/>
          <p:nvPr/>
        </p:nvSpPr>
        <p:spPr>
          <a:xfrm>
            <a:off x="4398264" y="3995928"/>
            <a:ext cx="603504" cy="0"/>
          </a:xfrm>
          <a:prstGeom prst="line">
            <a:avLst/>
          </a:prstGeom>
          <a:noFill/>
          <a:ln w="31750">
            <a:solidFill>
              <a:srgbClr val="30446A"/>
            </a:solidFill>
            <a:prstDash val="solid"/>
          </a:ln>
        </p:spPr>
      </p:sp>
      <p:sp>
        <p:nvSpPr>
          <p:cNvPr id="50" name="[p6] Forma"/>
          <p:cNvSpPr/>
          <p:nvPr/>
        </p:nvSpPr>
        <p:spPr>
          <a:xfrm>
            <a:off x="5001768" y="3995928"/>
            <a:ext cx="0" cy="1033272"/>
          </a:xfrm>
          <a:prstGeom prst="line">
            <a:avLst/>
          </a:prstGeom>
          <a:noFill/>
          <a:ln w="31750">
            <a:solidFill>
              <a:srgbClr val="30446A"/>
            </a:solidFill>
            <a:prstDash val="solid"/>
          </a:ln>
        </p:spPr>
      </p:sp>
      <p:sp>
        <p:nvSpPr>
          <p:cNvPr id="51" name="[p6] Forma"/>
          <p:cNvSpPr/>
          <p:nvPr/>
        </p:nvSpPr>
        <p:spPr>
          <a:xfrm>
            <a:off x="5001768" y="5029200"/>
            <a:ext cx="448056" cy="0"/>
          </a:xfrm>
          <a:prstGeom prst="line">
            <a:avLst/>
          </a:prstGeom>
          <a:noFill/>
          <a:ln w="31750">
            <a:solidFill>
              <a:srgbClr val="30446A"/>
            </a:solidFill>
            <a:prstDash val="solid"/>
            <a:tailEnd type="triangle"/>
          </a:ln>
        </p:spPr>
      </p:sp>
      <p:sp>
        <p:nvSpPr>
          <p:cNvPr id="52" name="[p6] Forma"/>
          <p:cNvSpPr/>
          <p:nvPr/>
        </p:nvSpPr>
        <p:spPr>
          <a:xfrm>
            <a:off x="4828032" y="4338828"/>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6</a:t>
            </a:r>
            <a:endParaRPr lang="en-US" sz="1250" dirty="0"/>
          </a:p>
        </p:txBody>
      </p:sp>
      <p:sp>
        <p:nvSpPr>
          <p:cNvPr id="53" name="[p6] Forma"/>
          <p:cNvSpPr/>
          <p:nvPr/>
        </p:nvSpPr>
        <p:spPr>
          <a:xfrm>
            <a:off x="2212848" y="4617720"/>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consulta los avisos</a:t>
            </a:r>
            <a:endParaRPr lang="en-US" sz="1300" dirty="0"/>
          </a:p>
        </p:txBody>
      </p:sp>
      <p:sp>
        <p:nvSpPr>
          <p:cNvPr id="54" name="[p3] Forma"/>
          <p:cNvSpPr/>
          <p:nvPr/>
        </p:nvSpPr>
        <p:spPr>
          <a:xfrm>
            <a:off x="8165592" y="2450592"/>
            <a:ext cx="1170432" cy="0"/>
          </a:xfrm>
          <a:prstGeom prst="line">
            <a:avLst/>
          </a:prstGeom>
          <a:noFill/>
          <a:ln w="31750">
            <a:solidFill>
              <a:srgbClr val="30446A"/>
            </a:solidFill>
            <a:prstDash val="solid"/>
            <a:tailEnd type="triangle"/>
          </a:ln>
        </p:spPr>
      </p:sp>
      <p:sp>
        <p:nvSpPr>
          <p:cNvPr id="55" name="[p3] Forma"/>
          <p:cNvSpPr/>
          <p:nvPr/>
        </p:nvSpPr>
        <p:spPr>
          <a:xfrm>
            <a:off x="8577072" y="227685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3</a:t>
            </a:r>
            <a:endParaRPr lang="en-US" sz="1250" dirty="0"/>
          </a:p>
        </p:txBody>
      </p:sp>
      <p:sp>
        <p:nvSpPr>
          <p:cNvPr id="56" name="[p3] Forma"/>
          <p:cNvSpPr/>
          <p:nvPr/>
        </p:nvSpPr>
        <p:spPr>
          <a:xfrm>
            <a:off x="8156448" y="1737360"/>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guarda</a:t>
            </a:r>
            <a:endParaRPr lang="en-US" sz="1300" dirty="0"/>
          </a:p>
        </p:txBody>
      </p:sp>
      <p:sp>
        <p:nvSpPr>
          <p:cNvPr id="57" name="[p5] Forma"/>
          <p:cNvSpPr/>
          <p:nvPr/>
        </p:nvSpPr>
        <p:spPr>
          <a:xfrm>
            <a:off x="8165592" y="5029200"/>
            <a:ext cx="1170432" cy="0"/>
          </a:xfrm>
          <a:prstGeom prst="line">
            <a:avLst/>
          </a:prstGeom>
          <a:noFill/>
          <a:ln w="31750">
            <a:solidFill>
              <a:srgbClr val="30446A"/>
            </a:solidFill>
            <a:prstDash val="solid"/>
            <a:tailEnd type="triangle"/>
          </a:ln>
        </p:spPr>
      </p:sp>
      <p:sp>
        <p:nvSpPr>
          <p:cNvPr id="58" name="[p5] Forma"/>
          <p:cNvSpPr/>
          <p:nvPr/>
        </p:nvSpPr>
        <p:spPr>
          <a:xfrm>
            <a:off x="8577072" y="485546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5</a:t>
            </a:r>
            <a:endParaRPr lang="en-US" sz="1250" dirty="0"/>
          </a:p>
        </p:txBody>
      </p:sp>
      <p:sp>
        <p:nvSpPr>
          <p:cNvPr id="59" name="[p5] Forma"/>
          <p:cNvSpPr/>
          <p:nvPr/>
        </p:nvSpPr>
        <p:spPr>
          <a:xfrm>
            <a:off x="8156448" y="4315968"/>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anota lo recibido</a:t>
            </a:r>
            <a:endParaRPr lang="en-US" sz="1300" dirty="0"/>
          </a:p>
        </p:txBody>
      </p:sp>
      <p:sp>
        <p:nvSpPr>
          <p:cNvPr id="60" name="[p4] Forma"/>
          <p:cNvSpPr/>
          <p:nvPr/>
        </p:nvSpPr>
        <p:spPr>
          <a:xfrm>
            <a:off x="6807708" y="3054096"/>
            <a:ext cx="0" cy="1371600"/>
          </a:xfrm>
          <a:prstGeom prst="line">
            <a:avLst/>
          </a:prstGeom>
          <a:noFill/>
          <a:ln w="38100">
            <a:solidFill>
              <a:srgbClr val="0B6E8A"/>
            </a:solidFill>
            <a:prstDash val="dash"/>
            <a:tailEnd type="triangle"/>
          </a:ln>
        </p:spPr>
      </p:sp>
      <p:sp>
        <p:nvSpPr>
          <p:cNvPr id="61" name="[p4] Forma"/>
          <p:cNvSpPr/>
          <p:nvPr/>
        </p:nvSpPr>
        <p:spPr>
          <a:xfrm>
            <a:off x="6633972" y="3566160"/>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4</a:t>
            </a:r>
            <a:endParaRPr lang="en-US" sz="1250" dirty="0"/>
          </a:p>
        </p:txBody>
      </p:sp>
      <p:sp>
        <p:nvSpPr>
          <p:cNvPr id="62" name="[p4] Forma"/>
          <p:cNvSpPr/>
          <p:nvPr/>
        </p:nvSpPr>
        <p:spPr>
          <a:xfrm>
            <a:off x="5276088" y="3575304"/>
            <a:ext cx="1303020" cy="329184"/>
          </a:xfrm>
          <a:prstGeom prst="rect">
            <a:avLst/>
          </a:prstGeom>
          <a:noFill/>
          <a:ln/>
        </p:spPr>
        <p:txBody>
          <a:bodyPr wrap="square" lIns="0" tIns="0" rIns="0" bIns="0" rtlCol="0" anchor="ctr">
            <a:normAutofit/>
          </a:bodyPr>
          <a:lstStyle/>
          <a:p>
            <a:pPr algn="r" indent="0" marL="0">
              <a:buNone/>
            </a:pPr>
            <a:r>
              <a:rPr lang="en-US" sz="1300" b="1" dirty="0">
                <a:solidFill>
                  <a:srgbClr val="0B6E8A"/>
                </a:solidFill>
                <a:latin typeface="Segoe UI" pitchFamily="34" charset="0"/>
                <a:ea typeface="Segoe UI" pitchFamily="34" charset="-122"/>
                <a:cs typeface="Segoe UI" pitchFamily="34" charset="-120"/>
              </a:rPr>
              <a:t>avisa después</a:t>
            </a:r>
            <a:endParaRPr lang="en-US" sz="1300" dirty="0"/>
          </a:p>
        </p:txBody>
      </p:sp>
      <p:sp>
        <p:nvSpPr>
          <p:cNvPr id="63" name="[p4] Forma"/>
          <p:cNvSpPr/>
          <p:nvPr/>
        </p:nvSpPr>
        <p:spPr>
          <a:xfrm>
            <a:off x="7173468" y="3364992"/>
            <a:ext cx="2880360" cy="749808"/>
          </a:xfrm>
          <a:prstGeom prst="roundRect">
            <a:avLst>
              <a:gd name="adj" fmla="val 14634"/>
            </a:avLst>
          </a:prstGeom>
          <a:solidFill>
            <a:srgbClr val="E3F4FA"/>
          </a:solidFill>
          <a:ln w="15875">
            <a:solidFill>
              <a:srgbClr val="2BA6CB"/>
            </a:solidFill>
            <a:prstDash val="dash"/>
          </a:ln>
        </p:spPr>
      </p:sp>
      <p:sp>
        <p:nvSpPr>
          <p:cNvPr id="64" name="[p4] Icono mail"/>
          <p:cNvSpPr/>
          <p:nvPr/>
        </p:nvSpPr>
        <p:spPr>
          <a:xfrm>
            <a:off x="7319772" y="3557016"/>
            <a:ext cx="365760" cy="365760"/>
          </a:xfrm>
          <a:custGeom>
            <a:avLst/>
            <a:gdLst/>
            <a:ahLst/>
            <a:cxnLst/>
            <a:rect l="l" t="t" r="r" b="b"/>
            <a:pathLst>
              <a:path w="365760" h="365760">
                <a:moveTo>
                  <a:pt x="60960" y="60960"/>
                </a:moveTo>
                <a:lnTo>
                  <a:pt x="304800" y="60960"/>
                </a:lnTo>
                <a:cubicBezTo>
                  <a:pt x="321634" y="60960"/>
                  <a:pt x="335280" y="74606"/>
                  <a:pt x="335280" y="91440"/>
                </a:cubicBezTo>
                <a:lnTo>
                  <a:pt x="335280" y="274320"/>
                </a:lnTo>
                <a:cubicBezTo>
                  <a:pt x="335280" y="291154"/>
                  <a:pt x="321634" y="304800"/>
                  <a:pt x="304800" y="304800"/>
                </a:cubicBezTo>
                <a:lnTo>
                  <a:pt x="60960" y="304800"/>
                </a:lnTo>
                <a:cubicBezTo>
                  <a:pt x="44126" y="304800"/>
                  <a:pt x="30480" y="291154"/>
                  <a:pt x="30480" y="274320"/>
                </a:cubicBezTo>
                <a:lnTo>
                  <a:pt x="30480" y="91440"/>
                </a:lnTo>
                <a:cubicBezTo>
                  <a:pt x="30480" y="74606"/>
                  <a:pt x="44126" y="60960"/>
                  <a:pt x="60960" y="60960"/>
                </a:cubicBezTo>
                <a:close/>
                <a:moveTo>
                  <a:pt x="335280" y="106680"/>
                </a:moveTo>
                <a:lnTo>
                  <a:pt x="198577" y="193548"/>
                </a:lnTo>
                <a:cubicBezTo>
                  <a:pt x="188977" y="199563"/>
                  <a:pt x="176783" y="199563"/>
                  <a:pt x="167183" y="193548"/>
                </a:cubicBezTo>
                <a:lnTo>
                  <a:pt x="30480" y="106680"/>
                </a:lnTo>
              </a:path>
            </a:pathLst>
          </a:custGeom>
          <a:noFill/>
          <a:ln w="30480" cap="rnd">
            <a:solidFill>
              <a:srgbClr val="0B6E8A"/>
            </a:solidFill>
            <a:prstDash val="solid"/>
            <a:round/>
          </a:ln>
        </p:spPr>
      </p:sp>
      <p:sp>
        <p:nvSpPr>
          <p:cNvPr id="65" name="[p4] Forma"/>
          <p:cNvSpPr/>
          <p:nvPr/>
        </p:nvSpPr>
        <p:spPr>
          <a:xfrm>
            <a:off x="7795260" y="3438144"/>
            <a:ext cx="2148840" cy="219456"/>
          </a:xfrm>
          <a:prstGeom prst="rect">
            <a:avLst/>
          </a:prstGeom>
          <a:noFill/>
          <a:ln/>
        </p:spPr>
        <p:txBody>
          <a:bodyPr wrap="square" lIns="0" tIns="0" rIns="0" bIns="0" rtlCol="0" anchor="t">
            <a:normAutofit/>
          </a:bodyPr>
          <a:lstStyle/>
          <a:p>
            <a:pPr algn="l" indent="0" marL="0">
              <a:buNone/>
            </a:pPr>
            <a:r>
              <a:rPr lang="en-US" sz="950" b="1" dirty="0">
                <a:solidFill>
                  <a:srgbClr val="0B6E8A"/>
                </a:solidFill>
                <a:latin typeface="Segoe UI" pitchFamily="34" charset="0"/>
                <a:ea typeface="Segoe UI" pitchFamily="34" charset="-122"/>
                <a:cs typeface="Segoe UI" pitchFamily="34" charset="-120"/>
              </a:rPr>
              <a:t>EL DATO QUE VIAJA</a:t>
            </a:r>
            <a:endParaRPr lang="en-US" sz="950" dirty="0"/>
          </a:p>
        </p:txBody>
      </p:sp>
      <p:sp>
        <p:nvSpPr>
          <p:cNvPr id="66" name="[p4] Forma"/>
          <p:cNvSpPr/>
          <p:nvPr/>
        </p:nvSpPr>
        <p:spPr>
          <a:xfrm>
            <a:off x="7795260" y="3639312"/>
            <a:ext cx="2148840" cy="420624"/>
          </a:xfrm>
          <a:prstGeom prst="rect">
            <a:avLst/>
          </a:prstGeom>
          <a:noFill/>
          <a:ln/>
        </p:spPr>
        <p:txBody>
          <a:bodyPr wrap="square" lIns="0" tIns="0" rIns="0" bIns="0" rtlCol="0" anchor="ctr">
            <a:normAutofit/>
          </a:bodyPr>
          <a:lstStyle/>
          <a:p>
            <a:pPr algn="l" indent="0" marL="0">
              <a:buNone/>
            </a:pPr>
            <a:r>
              <a:rPr lang="en-US" sz="1200" dirty="0">
                <a:solidFill>
                  <a:srgbClr val="0B1A3C"/>
                </a:solidFill>
                <a:latin typeface="Segoe UI" pitchFamily="34" charset="0"/>
                <a:ea typeface="Segoe UI" pitchFamily="34" charset="-122"/>
                <a:cs typeface="Segoe UI" pitchFamily="34" charset="-120"/>
              </a:rPr>
              <a:t>SolicitudEnviada: eventoId, id y tipo</a:t>
            </a:r>
            <a:endParaRPr lang="en-US" sz="1200" dirty="0"/>
          </a:p>
        </p:txBody>
      </p:sp>
      <p:sp>
        <p:nvSpPr>
          <p:cNvPr id="67" name="[p7] Forma"/>
          <p:cNvSpPr/>
          <p:nvPr/>
        </p:nvSpPr>
        <p:spPr>
          <a:xfrm>
            <a:off x="10484968" y="3072384"/>
            <a:ext cx="0" cy="1335024"/>
          </a:xfrm>
          <a:prstGeom prst="line">
            <a:avLst/>
          </a:prstGeom>
          <a:noFill/>
          <a:ln w="25400">
            <a:solidFill>
              <a:srgbClr val="DFE6F0"/>
            </a:solidFill>
            <a:prstDash val="sysDot"/>
          </a:ln>
        </p:spPr>
      </p:sp>
      <p:sp>
        <p:nvSpPr>
          <p:cNvPr id="68" name="[p7] Forma"/>
          <p:cNvSpPr/>
          <p:nvPr/>
        </p:nvSpPr>
        <p:spPr>
          <a:xfrm>
            <a:off x="10247224" y="3502152"/>
            <a:ext cx="475488" cy="475488"/>
          </a:xfrm>
          <a:prstGeom prst="ellipse">
            <a:avLst/>
          </a:prstGeom>
          <a:solidFill>
            <a:srgbClr val="F7E3E7"/>
          </a:solidFill>
          <a:ln w="12700">
            <a:solidFill>
              <a:srgbClr val="F7E3E7"/>
            </a:solidFill>
            <a:prstDash val="solid"/>
          </a:ln>
        </p:spPr>
      </p:sp>
      <p:sp>
        <p:nvSpPr>
          <p:cNvPr id="69" name="[p7] Icono ban"/>
          <p:cNvSpPr/>
          <p:nvPr/>
        </p:nvSpPr>
        <p:spPr>
          <a:xfrm>
            <a:off x="10361341" y="3616269"/>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50481" y="50481"/>
                </a:moveTo>
                <a:lnTo>
                  <a:pt x="196773" y="196773"/>
                </a:lnTo>
              </a:path>
            </a:pathLst>
          </a:custGeom>
          <a:noFill/>
          <a:ln w="20604" cap="rnd">
            <a:solidFill>
              <a:srgbClr val="AB243E"/>
            </a:solidFill>
            <a:prstDash val="solid"/>
            <a:round/>
          </a:ln>
        </p:spPr>
      </p:sp>
      <p:sp>
        <p:nvSpPr>
          <p:cNvPr id="70" name="[p7] Forma"/>
          <p:cNvSpPr/>
          <p:nvPr/>
        </p:nvSpPr>
        <p:spPr>
          <a:xfrm>
            <a:off x="612648" y="5897880"/>
            <a:ext cx="10966399" cy="457200"/>
          </a:xfrm>
          <a:prstGeom prst="roundRect">
            <a:avLst>
              <a:gd name="adj" fmla="val 20000"/>
            </a:avLst>
          </a:prstGeom>
          <a:solidFill>
            <a:srgbClr val="F4F7FB"/>
          </a:solidFill>
          <a:ln w="9525">
            <a:solidFill>
              <a:srgbClr val="DFE6F0"/>
            </a:solidFill>
            <a:prstDash val="solid"/>
          </a:ln>
        </p:spPr>
      </p:sp>
      <p:sp>
        <p:nvSpPr>
          <p:cNvPr id="71" name="[p7] Icono shield-check"/>
          <p:cNvSpPr/>
          <p:nvPr/>
        </p:nvSpPr>
        <p:spPr>
          <a:xfrm>
            <a:off x="795528" y="5989320"/>
            <a:ext cx="274320" cy="274320"/>
          </a:xfrm>
          <a:custGeom>
            <a:avLst/>
            <a:gdLst/>
            <a:ahLst/>
            <a:cxnLst/>
            <a:rect l="l" t="t" r="r" b="b"/>
            <a:pathLst>
              <a:path w="274320" h="274320">
                <a:moveTo>
                  <a:pt x="228600" y="148590"/>
                </a:moveTo>
                <a:cubicBezTo>
                  <a:pt x="228600" y="205740"/>
                  <a:pt x="188595" y="234315"/>
                  <a:pt x="141046" y="250888"/>
                </a:cubicBezTo>
                <a:cubicBezTo>
                  <a:pt x="138556" y="251732"/>
                  <a:pt x="135852" y="251692"/>
                  <a:pt x="133388" y="250774"/>
                </a:cubicBezTo>
                <a:cubicBezTo>
                  <a:pt x="85725" y="234315"/>
                  <a:pt x="45720" y="205740"/>
                  <a:pt x="45720" y="148590"/>
                </a:cubicBezTo>
                <a:lnTo>
                  <a:pt x="45720" y="68580"/>
                </a:lnTo>
                <a:cubicBezTo>
                  <a:pt x="45720" y="62267"/>
                  <a:pt x="50837" y="57150"/>
                  <a:pt x="57150" y="57150"/>
                </a:cubicBezTo>
                <a:cubicBezTo>
                  <a:pt x="80010" y="57150"/>
                  <a:pt x="108585" y="43434"/>
                  <a:pt x="128473" y="26060"/>
                </a:cubicBezTo>
                <a:cubicBezTo>
                  <a:pt x="133476" y="21786"/>
                  <a:pt x="140844" y="21786"/>
                  <a:pt x="145847" y="26060"/>
                </a:cubicBezTo>
                <a:cubicBezTo>
                  <a:pt x="165849" y="43548"/>
                  <a:pt x="194310" y="57150"/>
                  <a:pt x="217170" y="57150"/>
                </a:cubicBezTo>
                <a:cubicBezTo>
                  <a:pt x="223483" y="57150"/>
                  <a:pt x="228600" y="62267"/>
                  <a:pt x="228600" y="68580"/>
                </a:cubicBezTo>
                <a:close/>
                <a:moveTo>
                  <a:pt x="102870" y="137160"/>
                </a:moveTo>
                <a:lnTo>
                  <a:pt x="125730" y="160020"/>
                </a:lnTo>
                <a:lnTo>
                  <a:pt x="171450" y="114300"/>
                </a:lnTo>
              </a:path>
            </a:pathLst>
          </a:custGeom>
          <a:noFill/>
          <a:ln w="22860" cap="rnd">
            <a:solidFill>
              <a:srgbClr val="0A6648"/>
            </a:solidFill>
            <a:prstDash val="solid"/>
            <a:round/>
          </a:ln>
        </p:spPr>
      </p:sp>
      <p:sp>
        <p:nvSpPr>
          <p:cNvPr id="72" name="[p7] Forma"/>
          <p:cNvSpPr/>
          <p:nvPr/>
        </p:nvSpPr>
        <p:spPr>
          <a:xfrm>
            <a:off x="1207008" y="5897880"/>
            <a:ext cx="10189159" cy="457200"/>
          </a:xfrm>
          <a:prstGeom prst="rect">
            <a:avLst/>
          </a:prstGeom>
          <a:noFill/>
          <a:ln/>
        </p:spPr>
        <p:txBody>
          <a:bodyPr wrap="square" lIns="0" tIns="0" rIns="0" bIns="0" rtlCol="0" anchor="ctr">
            <a:normAutofit/>
          </a:bodyPr>
          <a:lstStyle/>
          <a:p>
            <a:pPr algn="l" indent="0" marL="0">
              <a:buNone/>
            </a:pPr>
            <a:r>
              <a:rPr lang="en-US" sz="1400" b="1" dirty="0">
                <a:solidFill>
                  <a:srgbClr val="0B1A3C"/>
                </a:solidFill>
                <a:latin typeface="Segoe UI" pitchFamily="34" charset="0"/>
                <a:ea typeface="Segoe UI" pitchFamily="34" charset="-122"/>
                <a:cs typeface="Segoe UI" pitchFamily="34" charset="-120"/>
              </a:rPr>
              <a:t>Ninguna flecha une las dos bases: cada servicio es dueño de sus datos.</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1"/>
                                        </p:tgtEl>
                                        <p:attrNameLst>
                                          <p:attrName>style.visibility</p:attrName>
                                        </p:attrNameLst>
                                      </p:cBhvr>
                                      <p:to>
                                        <p:strVal val="visible"/>
                                      </p:to>
                                    </p:set>
                                    <p:animEffect transition="in" filter="fade">
                                      <p:cBhvr>
                                        <p:cTn id="5" dur="400"/>
                                        <p:tgtEl>
                                          <p:spTgt spid="4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2"/>
                                        </p:tgtEl>
                                        <p:attrNameLst>
                                          <p:attrName>style.visibility</p:attrName>
                                        </p:attrNameLst>
                                      </p:cBhvr>
                                      <p:to>
                                        <p:strVal val="visible"/>
                                      </p:to>
                                    </p:set>
                                    <p:animEffect transition="in" filter="fade">
                                      <p:cBhvr>
                                        <p:cTn id="8" dur="400"/>
                                        <p:tgtEl>
                                          <p:spTgt spid="4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400"/>
                                        <p:tgtEl>
                                          <p:spTgt spid="43"/>
                                        </p:tgtEl>
                                      </p:cBhvr>
                                    </p:animEffect>
                                  </p:childTnLst>
                                </p:cTn>
                              </p:par>
                            </p:childTnLst>
                          </p:cTn>
                        </p:par>
                      </p:childTnLst>
                    </p:cTn>
                  </p:par>
                  <p:par>
                    <p:cTn id="29" fill="hold">
                      <p:stCondLst>
                        <p:cond delay="indefinite"/>
                      </p:stCondLst>
                      <p:childTnLst>
                        <p:par>
                          <p:cTn id="30"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400"/>
                                        <p:tgtEl>
                                          <p:spTgt spid="4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fade">
                                      <p:cBhvr>
                                        <p:cTn id="19" dur="400"/>
                                        <p:tgtEl>
                                          <p:spTgt spid="4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6"/>
                                        </p:tgtEl>
                                        <p:attrNameLst>
                                          <p:attrName>style.visibility</p:attrName>
                                        </p:attrNameLst>
                                      </p:cBhvr>
                                      <p:to>
                                        <p:strVal val="visible"/>
                                      </p:to>
                                    </p:set>
                                    <p:animEffect transition="in" filter="fade">
                                      <p:cBhvr>
                                        <p:cTn id="22" dur="400"/>
                                        <p:tgtEl>
                                          <p:spTgt spid="4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animEffect transition="in" filter="fade">
                                      <p:cBhvr>
                                        <p:cTn id="25" dur="400"/>
                                        <p:tgtEl>
                                          <p:spTgt spid="4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8"/>
                                        </p:tgtEl>
                                        <p:attrNameLst>
                                          <p:attrName>style.visibility</p:attrName>
                                        </p:attrNameLst>
                                      </p:cBhvr>
                                      <p:to>
                                        <p:strVal val="visible"/>
                                      </p:to>
                                    </p:set>
                                    <p:animEffect transition="in" filter="fade">
                                      <p:cBhvr>
                                        <p:cTn id="28" dur="400"/>
                                        <p:tgtEl>
                                          <p:spTgt spid="48"/>
                                        </p:tgtEl>
                                      </p:cBhvr>
                                    </p:animEffect>
                                  </p:childTnLst>
                                </p:cTn>
                              </p:par>
                            </p:childTnLst>
                          </p:cTn>
                        </p:par>
                      </p:childTnLst>
                    </p:cTn>
                  </p:par>
                  <p:par>
                    <p:cTn id="40" fill="hold">
                      <p:stCondLst>
                        <p:cond delay="indefinite"/>
                      </p:stCondLst>
                      <p:childTnLst>
                        <p:par>
                          <p:cTn id="41"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400"/>
                                        <p:tgtEl>
                                          <p:spTgt spid="5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fade">
                                      <p:cBhvr>
                                        <p:cTn id="36" dur="400"/>
                                        <p:tgtEl>
                                          <p:spTgt spid="5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400"/>
                                        <p:tgtEl>
                                          <p:spTgt spid="56"/>
                                        </p:tgtEl>
                                      </p:cBhvr>
                                    </p:animEffect>
                                  </p:childTnLst>
                                </p:cTn>
                              </p:par>
                            </p:childTnLst>
                          </p:cTn>
                        </p:par>
                      </p:childTnLst>
                    </p:cTn>
                  </p:par>
                  <p:par>
                    <p:cTn id="63" fill="hold">
                      <p:stCondLst>
                        <p:cond delay="indefinite"/>
                      </p:stCondLst>
                      <p:childTnLst>
                        <p:par>
                          <p:cTn id="64"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60"/>
                                        </p:tgtEl>
                                        <p:attrNameLst>
                                          <p:attrName>style.visibility</p:attrName>
                                        </p:attrNameLst>
                                      </p:cBhvr>
                                      <p:to>
                                        <p:strVal val="visible"/>
                                      </p:to>
                                    </p:set>
                                    <p:animEffect transition="in" filter="fade">
                                      <p:cBhvr>
                                        <p:cTn id="44" dur="400"/>
                                        <p:tgtEl>
                                          <p:spTgt spid="6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1"/>
                                        </p:tgtEl>
                                        <p:attrNameLst>
                                          <p:attrName>style.visibility</p:attrName>
                                        </p:attrNameLst>
                                      </p:cBhvr>
                                      <p:to>
                                        <p:strVal val="visible"/>
                                      </p:to>
                                    </p:set>
                                    <p:animEffect transition="in" filter="fade">
                                      <p:cBhvr>
                                        <p:cTn id="47" dur="400"/>
                                        <p:tgtEl>
                                          <p:spTgt spid="6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2"/>
                                        </p:tgtEl>
                                        <p:attrNameLst>
                                          <p:attrName>style.visibility</p:attrName>
                                        </p:attrNameLst>
                                      </p:cBhvr>
                                      <p:to>
                                        <p:strVal val="visible"/>
                                      </p:to>
                                    </p:set>
                                    <p:animEffect transition="in" filter="fade">
                                      <p:cBhvr>
                                        <p:cTn id="50" dur="400"/>
                                        <p:tgtEl>
                                          <p:spTgt spid="6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3"/>
                                        </p:tgtEl>
                                        <p:attrNameLst>
                                          <p:attrName>style.visibility</p:attrName>
                                        </p:attrNameLst>
                                      </p:cBhvr>
                                      <p:to>
                                        <p:strVal val="visible"/>
                                      </p:to>
                                    </p:set>
                                    <p:animEffect transition="in" filter="fade">
                                      <p:cBhvr>
                                        <p:cTn id="53" dur="400"/>
                                        <p:tgtEl>
                                          <p:spTgt spid="6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4"/>
                                        </p:tgtEl>
                                        <p:attrNameLst>
                                          <p:attrName>style.visibility</p:attrName>
                                        </p:attrNameLst>
                                      </p:cBhvr>
                                      <p:to>
                                        <p:strVal val="visible"/>
                                      </p:to>
                                    </p:set>
                                    <p:animEffect transition="in" filter="fade">
                                      <p:cBhvr>
                                        <p:cTn id="56" dur="400"/>
                                        <p:tgtEl>
                                          <p:spTgt spid="6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5"/>
                                        </p:tgtEl>
                                        <p:attrNameLst>
                                          <p:attrName>style.visibility</p:attrName>
                                        </p:attrNameLst>
                                      </p:cBhvr>
                                      <p:to>
                                        <p:strVal val="visible"/>
                                      </p:to>
                                    </p:set>
                                    <p:animEffect transition="in" filter="fade">
                                      <p:cBhvr>
                                        <p:cTn id="59" dur="400"/>
                                        <p:tgtEl>
                                          <p:spTgt spid="6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6"/>
                                        </p:tgtEl>
                                        <p:attrNameLst>
                                          <p:attrName>style.visibility</p:attrName>
                                        </p:attrNameLst>
                                      </p:cBhvr>
                                      <p:to>
                                        <p:strVal val="visible"/>
                                      </p:to>
                                    </p:set>
                                    <p:animEffect transition="in" filter="fade">
                                      <p:cBhvr>
                                        <p:cTn id="62" dur="400"/>
                                        <p:tgtEl>
                                          <p:spTgt spid="66"/>
                                        </p:tgtEl>
                                      </p:cBhvr>
                                    </p:animEffect>
                                  </p:childTnLst>
                                </p:cTn>
                              </p:par>
                            </p:childTnLst>
                          </p:cTn>
                        </p:par>
                      </p:childTnLst>
                    </p:cTn>
                  </p:par>
                  <p:par>
                    <p:cTn id="74" fill="hold">
                      <p:stCondLst>
                        <p:cond delay="indefinite"/>
                      </p:stCondLst>
                      <p:childTnLst>
                        <p:par>
                          <p:cTn id="75"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57"/>
                                        </p:tgtEl>
                                        <p:attrNameLst>
                                          <p:attrName>style.visibility</p:attrName>
                                        </p:attrNameLst>
                                      </p:cBhvr>
                                      <p:to>
                                        <p:strVal val="visible"/>
                                      </p:to>
                                    </p:set>
                                    <p:animEffect transition="in" filter="fade">
                                      <p:cBhvr>
                                        <p:cTn id="67" dur="400"/>
                                        <p:tgtEl>
                                          <p:spTgt spid="5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400"/>
                                        <p:tgtEl>
                                          <p:spTgt spid="5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9"/>
                                        </p:tgtEl>
                                        <p:attrNameLst>
                                          <p:attrName>style.visibility</p:attrName>
                                        </p:attrNameLst>
                                      </p:cBhvr>
                                      <p:to>
                                        <p:strVal val="visible"/>
                                      </p:to>
                                    </p:set>
                                    <p:animEffect transition="in" filter="fade">
                                      <p:cBhvr>
                                        <p:cTn id="73" dur="400"/>
                                        <p:tgtEl>
                                          <p:spTgt spid="59"/>
                                        </p:tgtEl>
                                      </p:cBhvr>
                                    </p:animEffect>
                                  </p:childTnLst>
                                </p:cTn>
                              </p:par>
                            </p:childTnLst>
                          </p:cTn>
                        </p:par>
                      </p:childTnLst>
                    </p:cTn>
                  </p:par>
                  <p:par>
                    <p:cTn id="91" fill="hold">
                      <p:stCondLst>
                        <p:cond delay="indefinite"/>
                      </p:stCondLst>
                      <p:childTnLst>
                        <p:par>
                          <p:cTn id="92"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400"/>
                                        <p:tgtEl>
                                          <p:spTgt spid="53"/>
                                        </p:tgtEl>
                                      </p:cBhvr>
                                    </p:animEffect>
                                  </p:childTnLst>
                                </p:cTn>
                              </p:par>
                            </p:childTnLst>
                          </p:cTn>
                        </p:par>
                      </p:childTnLst>
                    </p:cTn>
                  </p:par>
                  <p:par>
                    <p:cTn id="111" fill="hold">
                      <p:stCondLst>
                        <p:cond delay="indefinite"/>
                      </p:stCondLst>
                      <p:childTnLst>
                        <p:par>
                          <p:cTn id="112"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67"/>
                                        </p:tgtEl>
                                        <p:attrNameLst>
                                          <p:attrName>style.visibility</p:attrName>
                                        </p:attrNameLst>
                                      </p:cBhvr>
                                      <p:to>
                                        <p:strVal val="visible"/>
                                      </p:to>
                                    </p:set>
                                    <p:animEffect transition="in" filter="fade">
                                      <p:cBhvr>
                                        <p:cTn id="95" dur="400"/>
                                        <p:tgtEl>
                                          <p:spTgt spid="6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68"/>
                                        </p:tgtEl>
                                        <p:attrNameLst>
                                          <p:attrName>style.visibility</p:attrName>
                                        </p:attrNameLst>
                                      </p:cBhvr>
                                      <p:to>
                                        <p:strVal val="visible"/>
                                      </p:to>
                                    </p:set>
                                    <p:animEffect transition="in" filter="fade">
                                      <p:cBhvr>
                                        <p:cTn id="98" dur="400"/>
                                        <p:tgtEl>
                                          <p:spTgt spid="6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9"/>
                                        </p:tgtEl>
                                        <p:attrNameLst>
                                          <p:attrName>style.visibility</p:attrName>
                                        </p:attrNameLst>
                                      </p:cBhvr>
                                      <p:to>
                                        <p:strVal val="visible"/>
                                      </p:to>
                                    </p:set>
                                    <p:animEffect transition="in" filter="fade">
                                      <p:cBhvr>
                                        <p:cTn id="101" dur="400"/>
                                        <p:tgtEl>
                                          <p:spTgt spid="6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0"/>
                                        </p:tgtEl>
                                        <p:attrNameLst>
                                          <p:attrName>style.visibility</p:attrName>
                                        </p:attrNameLst>
                                      </p:cBhvr>
                                      <p:to>
                                        <p:strVal val="visible"/>
                                      </p:to>
                                    </p:set>
                                    <p:animEffect transition="in" filter="fade">
                                      <p:cBhvr>
                                        <p:cTn id="104" dur="400"/>
                                        <p:tgtEl>
                                          <p:spTgt spid="7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71"/>
                                        </p:tgtEl>
                                        <p:attrNameLst>
                                          <p:attrName>style.visibility</p:attrName>
                                        </p:attrNameLst>
                                      </p:cBhvr>
                                      <p:to>
                                        <p:strVal val="visible"/>
                                      </p:to>
                                    </p:set>
                                    <p:animEffect transition="in" filter="fade">
                                      <p:cBhvr>
                                        <p:cTn id="107" dur="400"/>
                                        <p:tgtEl>
                                          <p:spTgt spid="7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2"/>
                                        </p:tgtEl>
                                        <p:attrNameLst>
                                          <p:attrName>style.visibility</p:attrName>
                                        </p:attrNameLst>
                                      </p:cBhvr>
                                      <p:to>
                                        <p:strVal val="visible"/>
                                      </p:to>
                                    </p:set>
                                    <p:animEffect transition="in" filter="fade">
                                      <p:cBhvr>
                                        <p:cTn id="11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arquitectura completa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2980030" y="1293419"/>
            <a:ext cx="7504481" cy="2585466"/>
          </a:xfrm>
          <a:prstGeom prst="roundRect">
            <a:avLst>
              <a:gd name="adj" fmla="val 4244"/>
            </a:avLst>
          </a:prstGeom>
          <a:solidFill>
            <a:srgbClr val="F7F9FC"/>
          </a:solidFill>
          <a:ln w="12700">
            <a:solidFill>
              <a:srgbClr val="C7D2E2"/>
            </a:solidFill>
            <a:prstDash val="dash"/>
          </a:ln>
        </p:spPr>
      </p:sp>
      <p:sp>
        <p:nvSpPr>
          <p:cNvPr id="13" name="Text 11"/>
          <p:cNvSpPr/>
          <p:nvPr/>
        </p:nvSpPr>
        <p:spPr>
          <a:xfrm>
            <a:off x="3053182" y="1348283"/>
            <a:ext cx="3434080" cy="219456"/>
          </a:xfrm>
          <a:prstGeom prst="roundRect">
            <a:avLst>
              <a:gd name="adj" fmla="val 50000"/>
            </a:avLst>
          </a:prstGeom>
          <a:solidFill>
            <a:srgbClr val="FFFFFF"/>
          </a:solidFill>
          <a:ln w="9525">
            <a:solidFill>
              <a:srgbClr val="C7D2E2"/>
            </a:solidFill>
          </a:ln>
        </p:spPr>
        <p:txBody>
          <a:bodyPr wrap="square" lIns="0" tIns="0" rIns="0" bIns="0" rtlCol="0" anchor="ctr"/>
          <a:lstStyle/>
          <a:p>
            <a:pPr algn="ctr" indent="0" marL="0">
              <a:buNone/>
            </a:pPr>
            <a:r>
              <a:rPr lang="en-US" sz="800" b="1" spc="80" kern="0" dirty="0">
                <a:solidFill>
                  <a:srgbClr val="55627E"/>
                </a:solidFill>
                <a:latin typeface="Segoe UI" pitchFamily="34" charset="0"/>
                <a:ea typeface="Segoe UI" pitchFamily="34" charset="-122"/>
                <a:cs typeface="Segoe UI" pitchFamily="34" charset="-120"/>
              </a:rPr>
              <a:t>PLATAFORMA · DOCKER COMPOSE O KUBERNETES</a:t>
            </a:r>
            <a:endParaRPr lang="en-US" sz="800" dirty="0"/>
          </a:p>
        </p:txBody>
      </p:sp>
      <p:sp>
        <p:nvSpPr>
          <p:cNvPr id="14" name="Shape 12"/>
          <p:cNvSpPr/>
          <p:nvPr/>
        </p:nvSpPr>
        <p:spPr>
          <a:xfrm>
            <a:off x="3086100" y="1598371"/>
            <a:ext cx="1325880" cy="2200961"/>
          </a:xfrm>
          <a:prstGeom prst="roundRect">
            <a:avLst>
              <a:gd name="adj" fmla="val 8276"/>
            </a:avLst>
          </a:prstGeom>
          <a:solidFill>
            <a:srgbClr val="F1EEFD"/>
          </a:solidFill>
          <a:ln w="12700">
            <a:solidFill>
              <a:srgbClr val="C9BEF4"/>
            </a:solidFill>
            <a:prstDash val="solid"/>
          </a:ln>
        </p:spPr>
      </p:sp>
      <p:sp>
        <p:nvSpPr>
          <p:cNvPr id="15" name="Text 13"/>
          <p:cNvSpPr/>
          <p:nvPr/>
        </p:nvSpPr>
        <p:spPr>
          <a:xfrm>
            <a:off x="3159252" y="1653235"/>
            <a:ext cx="1143000" cy="219456"/>
          </a:xfrm>
          <a:prstGeom prst="roundRect">
            <a:avLst>
              <a:gd name="adj" fmla="val 50000"/>
            </a:avLst>
          </a:prstGeom>
          <a:solidFill>
            <a:srgbClr val="FFFFFF"/>
          </a:solidFill>
          <a:ln w="9525">
            <a:solidFill>
              <a:srgbClr val="C9BEF4"/>
            </a:solidFill>
          </a:ln>
        </p:spPr>
        <p:txBody>
          <a:bodyPr wrap="square" lIns="0" tIns="0" rIns="0" bIns="0" rtlCol="0" anchor="ctr"/>
          <a:lstStyle/>
          <a:p>
            <a:pPr algn="ctr" indent="0" marL="0">
              <a:buNone/>
            </a:pPr>
            <a:r>
              <a:rPr lang="en-US" sz="650" b="1" spc="80" kern="0" dirty="0">
                <a:solidFill>
                  <a:srgbClr val="5B3FC4"/>
                </a:solidFill>
                <a:latin typeface="Segoe UI" pitchFamily="34" charset="0"/>
                <a:ea typeface="Segoe UI" pitchFamily="34" charset="-122"/>
                <a:cs typeface="Segoe UI" pitchFamily="34" charset="-120"/>
              </a:rPr>
              <a:t>INTERFAZ WEB · :8088</a:t>
            </a:r>
            <a:endParaRPr lang="en-US" sz="650" dirty="0"/>
          </a:p>
        </p:txBody>
      </p:sp>
      <p:sp>
        <p:nvSpPr>
          <p:cNvPr id="16" name="Shape 14"/>
          <p:cNvSpPr/>
          <p:nvPr/>
        </p:nvSpPr>
        <p:spPr>
          <a:xfrm>
            <a:off x="4610862" y="1598371"/>
            <a:ext cx="3977640" cy="981151"/>
          </a:xfrm>
          <a:prstGeom prst="roundRect">
            <a:avLst>
              <a:gd name="adj" fmla="val 11184"/>
            </a:avLst>
          </a:prstGeom>
          <a:solidFill>
            <a:srgbClr val="EAF0FA"/>
          </a:solidFill>
          <a:ln w="12700">
            <a:solidFill>
              <a:srgbClr val="AFC4E6"/>
            </a:solidFill>
            <a:prstDash val="solid"/>
          </a:ln>
        </p:spPr>
      </p:sp>
      <p:sp>
        <p:nvSpPr>
          <p:cNvPr id="17" name="Text 15"/>
          <p:cNvSpPr/>
          <p:nvPr/>
        </p:nvSpPr>
        <p:spPr>
          <a:xfrm>
            <a:off x="4684014" y="1653235"/>
            <a:ext cx="1727200" cy="219456"/>
          </a:xfrm>
          <a:prstGeom prst="roundRect">
            <a:avLst>
              <a:gd name="adj" fmla="val 50000"/>
            </a:avLst>
          </a:prstGeom>
          <a:solidFill>
            <a:srgbClr val="FFFFFF"/>
          </a:solidFill>
          <a:ln w="9525">
            <a:solidFill>
              <a:srgbClr val="AFC4E6"/>
            </a:solidFill>
          </a:ln>
        </p:spPr>
        <p:txBody>
          <a:bodyPr wrap="square" lIns="0" tIns="0" rIns="0" bIns="0" rtlCol="0" anchor="ctr"/>
          <a:lstStyle/>
          <a:p>
            <a:pPr algn="ctr" indent="0" marL="0">
              <a:buNone/>
            </a:pPr>
            <a:r>
              <a:rPr lang="en-US" sz="800" b="1" spc="80" kern="0" dirty="0">
                <a:solidFill>
                  <a:srgbClr val="1F4E8C"/>
                </a:solidFill>
                <a:latin typeface="Segoe UI" pitchFamily="34" charset="0"/>
                <a:ea typeface="Segoe UI" pitchFamily="34" charset="-122"/>
                <a:cs typeface="Segoe UI" pitchFamily="34" charset="-120"/>
              </a:rPr>
              <a:t>SOLICITUDES · :8080</a:t>
            </a:r>
            <a:endParaRPr lang="en-US" sz="800" dirty="0"/>
          </a:p>
        </p:txBody>
      </p:sp>
      <p:sp>
        <p:nvSpPr>
          <p:cNvPr id="18" name="Shape 16"/>
          <p:cNvSpPr/>
          <p:nvPr/>
        </p:nvSpPr>
        <p:spPr>
          <a:xfrm>
            <a:off x="4610862" y="2778404"/>
            <a:ext cx="3977640" cy="1020928"/>
          </a:xfrm>
          <a:prstGeom prst="roundRect">
            <a:avLst>
              <a:gd name="adj" fmla="val 10748"/>
            </a:avLst>
          </a:prstGeom>
          <a:solidFill>
            <a:srgbClr val="E5F5FA"/>
          </a:solidFill>
          <a:ln w="12700">
            <a:solidFill>
              <a:srgbClr val="9DD7E8"/>
            </a:solidFill>
            <a:prstDash val="solid"/>
          </a:ln>
        </p:spPr>
      </p:sp>
      <p:sp>
        <p:nvSpPr>
          <p:cNvPr id="19" name="Text 17"/>
          <p:cNvSpPr/>
          <p:nvPr/>
        </p:nvSpPr>
        <p:spPr>
          <a:xfrm>
            <a:off x="4684014" y="2833268"/>
            <a:ext cx="1971040" cy="219456"/>
          </a:xfrm>
          <a:prstGeom prst="roundRect">
            <a:avLst>
              <a:gd name="adj" fmla="val 50000"/>
            </a:avLst>
          </a:prstGeom>
          <a:solidFill>
            <a:srgbClr val="FFFFFF"/>
          </a:solidFill>
          <a:ln w="9525">
            <a:solidFill>
              <a:srgbClr val="9DD7E8"/>
            </a:solidFill>
          </a:ln>
        </p:spPr>
        <p:txBody>
          <a:bodyPr wrap="square" lIns="0" tIns="0" rIns="0" bIns="0" rtlCol="0" anchor="ctr"/>
          <a:lstStyle/>
          <a:p>
            <a:pPr algn="ctr" indent="0" marL="0">
              <a:buNone/>
            </a:pPr>
            <a:r>
              <a:rPr lang="en-US" sz="800" b="1" spc="80" kern="0" dirty="0">
                <a:solidFill>
                  <a:srgbClr val="0B6E8A"/>
                </a:solidFill>
                <a:latin typeface="Segoe UI" pitchFamily="34" charset="0"/>
                <a:ea typeface="Segoe UI" pitchFamily="34" charset="-122"/>
                <a:cs typeface="Segoe UI" pitchFamily="34" charset="-120"/>
              </a:rPr>
              <a:t>NOTIFICACIONES · :8081</a:t>
            </a:r>
            <a:endParaRPr lang="en-US" sz="800" dirty="0"/>
          </a:p>
        </p:txBody>
      </p:sp>
      <p:sp>
        <p:nvSpPr>
          <p:cNvPr id="20" name="Shape 18"/>
          <p:cNvSpPr/>
          <p:nvPr/>
        </p:nvSpPr>
        <p:spPr>
          <a:xfrm>
            <a:off x="2980030" y="4024732"/>
            <a:ext cx="3977640" cy="914857"/>
          </a:xfrm>
          <a:prstGeom prst="roundRect">
            <a:avLst>
              <a:gd name="adj" fmla="val 11994"/>
            </a:avLst>
          </a:prstGeom>
          <a:solidFill>
            <a:srgbClr val="E6F4EE"/>
          </a:solidFill>
          <a:ln w="12700">
            <a:solidFill>
              <a:srgbClr val="A9D8C3"/>
            </a:solidFill>
            <a:prstDash val="solid"/>
          </a:ln>
        </p:spPr>
      </p:sp>
      <p:sp>
        <p:nvSpPr>
          <p:cNvPr id="21" name="Text 19"/>
          <p:cNvSpPr/>
          <p:nvPr/>
        </p:nvSpPr>
        <p:spPr>
          <a:xfrm>
            <a:off x="3053182" y="4079596"/>
            <a:ext cx="1483360" cy="219456"/>
          </a:xfrm>
          <a:prstGeom prst="roundRect">
            <a:avLst>
              <a:gd name="adj" fmla="val 50000"/>
            </a:avLst>
          </a:prstGeom>
          <a:solidFill>
            <a:srgbClr val="FFFFFF"/>
          </a:solidFill>
          <a:ln w="9525">
            <a:solidFill>
              <a:srgbClr val="A9D8C3"/>
            </a:solidFill>
          </a:ln>
        </p:spPr>
        <p:txBody>
          <a:bodyPr wrap="square" lIns="0" tIns="0" rIns="0" bIns="0" rtlCol="0" anchor="ctr"/>
          <a:lstStyle/>
          <a:p>
            <a:pPr algn="ctr" indent="0" marL="0">
              <a:buNone/>
            </a:pPr>
            <a:r>
              <a:rPr lang="en-US" sz="800" b="1" spc="80" kern="0" dirty="0">
                <a:solidFill>
                  <a:srgbClr val="0A6648"/>
                </a:solidFill>
                <a:latin typeface="Segoe UI" pitchFamily="34" charset="0"/>
                <a:ea typeface="Segoe UI" pitchFamily="34" charset="-122"/>
                <a:cs typeface="Segoe UI" pitchFamily="34" charset="-120"/>
              </a:rPr>
              <a:t>ENTREGA CONTINUA</a:t>
            </a:r>
            <a:endParaRPr lang="en-US" sz="800" dirty="0"/>
          </a:p>
        </p:txBody>
      </p:sp>
      <p:sp>
        <p:nvSpPr>
          <p:cNvPr id="22" name="Shape 20"/>
          <p:cNvSpPr/>
          <p:nvPr/>
        </p:nvSpPr>
        <p:spPr>
          <a:xfrm>
            <a:off x="7090258" y="4024732"/>
            <a:ext cx="3394253" cy="914857"/>
          </a:xfrm>
          <a:prstGeom prst="roundRect">
            <a:avLst>
              <a:gd name="adj" fmla="val 11994"/>
            </a:avLst>
          </a:prstGeom>
          <a:solidFill>
            <a:srgbClr val="FCF2E2"/>
          </a:solidFill>
          <a:ln w="12700">
            <a:solidFill>
              <a:srgbClr val="EDCC93"/>
            </a:solidFill>
            <a:prstDash val="solid"/>
          </a:ln>
        </p:spPr>
      </p:sp>
      <p:sp>
        <p:nvSpPr>
          <p:cNvPr id="23" name="Text 21"/>
          <p:cNvSpPr/>
          <p:nvPr/>
        </p:nvSpPr>
        <p:spPr>
          <a:xfrm>
            <a:off x="7163410" y="4079596"/>
            <a:ext cx="1320800" cy="219456"/>
          </a:xfrm>
          <a:prstGeom prst="roundRect">
            <a:avLst>
              <a:gd name="adj" fmla="val 50000"/>
            </a:avLst>
          </a:prstGeom>
          <a:solidFill>
            <a:srgbClr val="FFFFFF"/>
          </a:solidFill>
          <a:ln w="9525">
            <a:solidFill>
              <a:srgbClr val="EDCC93"/>
            </a:solidFill>
          </a:ln>
        </p:spPr>
        <p:txBody>
          <a:bodyPr wrap="square" lIns="0" tIns="0" rIns="0" bIns="0" rtlCol="0" anchor="ctr"/>
          <a:lstStyle/>
          <a:p>
            <a:pPr algn="ctr" indent="0" marL="0">
              <a:buNone/>
            </a:pPr>
            <a:r>
              <a:rPr lang="en-US" sz="800" b="1" spc="80" kern="0" dirty="0">
                <a:solidFill>
                  <a:srgbClr val="8A4B06"/>
                </a:solidFill>
                <a:latin typeface="Segoe UI" pitchFamily="34" charset="0"/>
                <a:ea typeface="Segoe UI" pitchFamily="34" charset="-122"/>
                <a:cs typeface="Segoe UI" pitchFamily="34" charset="-120"/>
              </a:rPr>
              <a:t>OBSERVABILIDAD</a:t>
            </a:r>
            <a:endParaRPr lang="en-US" sz="800" dirty="0"/>
          </a:p>
        </p:txBody>
      </p:sp>
      <p:sp>
        <p:nvSpPr>
          <p:cNvPr id="24" name="Shape 22"/>
          <p:cNvSpPr/>
          <p:nvPr/>
        </p:nvSpPr>
        <p:spPr>
          <a:xfrm>
            <a:off x="2847442" y="2115464"/>
            <a:ext cx="344729" cy="0"/>
          </a:xfrm>
          <a:prstGeom prst="line">
            <a:avLst/>
          </a:prstGeom>
          <a:noFill/>
          <a:ln w="31750">
            <a:solidFill>
              <a:srgbClr val="2E6DB4"/>
            </a:solidFill>
            <a:prstDash val="solid"/>
            <a:tailEnd type="triangle"/>
          </a:ln>
        </p:spPr>
      </p:sp>
      <p:sp>
        <p:nvSpPr>
          <p:cNvPr id="25" name="Text 23"/>
          <p:cNvSpPr/>
          <p:nvPr/>
        </p:nvSpPr>
        <p:spPr>
          <a:xfrm>
            <a:off x="2896819" y="2005736"/>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26" name="Shape 24"/>
          <p:cNvSpPr/>
          <p:nvPr/>
        </p:nvSpPr>
        <p:spPr>
          <a:xfrm>
            <a:off x="3377794" y="2314346"/>
            <a:ext cx="0" cy="702716"/>
          </a:xfrm>
          <a:prstGeom prst="line">
            <a:avLst/>
          </a:prstGeom>
          <a:noFill/>
          <a:ln w="31750">
            <a:solidFill>
              <a:srgbClr val="2E6DB4"/>
            </a:solidFill>
            <a:prstDash val="solid"/>
            <a:tailEnd type="triangle"/>
          </a:ln>
        </p:spPr>
      </p:sp>
      <p:sp>
        <p:nvSpPr>
          <p:cNvPr id="27" name="Text 25"/>
          <p:cNvSpPr/>
          <p:nvPr/>
        </p:nvSpPr>
        <p:spPr>
          <a:xfrm>
            <a:off x="3268066" y="2363724"/>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28" name="Shape 26"/>
          <p:cNvSpPr/>
          <p:nvPr/>
        </p:nvSpPr>
        <p:spPr>
          <a:xfrm>
            <a:off x="4305910" y="3149651"/>
            <a:ext cx="212141" cy="0"/>
          </a:xfrm>
          <a:prstGeom prst="line">
            <a:avLst/>
          </a:prstGeom>
          <a:noFill/>
          <a:ln w="31750">
            <a:solidFill>
              <a:srgbClr val="2E6DB4"/>
            </a:solidFill>
            <a:prstDash val="solid"/>
          </a:ln>
        </p:spPr>
      </p:sp>
      <p:sp>
        <p:nvSpPr>
          <p:cNvPr id="29" name="Shape 27"/>
          <p:cNvSpPr/>
          <p:nvPr/>
        </p:nvSpPr>
        <p:spPr>
          <a:xfrm flipV="1">
            <a:off x="4518050" y="2115464"/>
            <a:ext cx="0" cy="1034186"/>
          </a:xfrm>
          <a:prstGeom prst="line">
            <a:avLst/>
          </a:prstGeom>
          <a:noFill/>
          <a:ln w="31750">
            <a:solidFill>
              <a:srgbClr val="2E6DB4"/>
            </a:solidFill>
            <a:prstDash val="solid"/>
          </a:ln>
        </p:spPr>
      </p:sp>
      <p:sp>
        <p:nvSpPr>
          <p:cNvPr id="30" name="Shape 28"/>
          <p:cNvSpPr/>
          <p:nvPr/>
        </p:nvSpPr>
        <p:spPr>
          <a:xfrm>
            <a:off x="4518050" y="2115464"/>
            <a:ext cx="212141" cy="0"/>
          </a:xfrm>
          <a:prstGeom prst="line">
            <a:avLst/>
          </a:prstGeom>
          <a:noFill/>
          <a:ln w="31750">
            <a:solidFill>
              <a:srgbClr val="2E6DB4"/>
            </a:solidFill>
            <a:prstDash val="solid"/>
            <a:tailEnd type="triangle"/>
          </a:ln>
        </p:spPr>
      </p:sp>
      <p:sp>
        <p:nvSpPr>
          <p:cNvPr id="31" name="Text 29"/>
          <p:cNvSpPr/>
          <p:nvPr/>
        </p:nvSpPr>
        <p:spPr>
          <a:xfrm>
            <a:off x="3328873" y="2503627"/>
            <a:ext cx="1122883" cy="192024"/>
          </a:xfrm>
          <a:prstGeom prst="rect">
            <a:avLst/>
          </a:prstGeom>
          <a:noFill/>
          <a:ln/>
        </p:spPr>
        <p:txBody>
          <a:bodyPr wrap="square" lIns="0" tIns="0" rIns="0" bIns="0" rtlCol="0" anchor="ctr"/>
          <a:lstStyle/>
          <a:p>
            <a:pPr algn="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32" name="Text 30"/>
          <p:cNvSpPr/>
          <p:nvPr/>
        </p:nvSpPr>
        <p:spPr>
          <a:xfrm>
            <a:off x="4302252" y="303992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33" name="Shape 31"/>
          <p:cNvSpPr/>
          <p:nvPr/>
        </p:nvSpPr>
        <p:spPr>
          <a:xfrm>
            <a:off x="4305910" y="3249092"/>
            <a:ext cx="424282" cy="0"/>
          </a:xfrm>
          <a:prstGeom prst="line">
            <a:avLst/>
          </a:prstGeom>
          <a:noFill/>
          <a:ln w="31750">
            <a:solidFill>
              <a:srgbClr val="2E6DB4"/>
            </a:solidFill>
            <a:prstDash val="solid"/>
            <a:tailEnd type="triangle"/>
          </a:ln>
        </p:spPr>
      </p:sp>
      <p:sp>
        <p:nvSpPr>
          <p:cNvPr id="34" name="Text 32"/>
          <p:cNvSpPr/>
          <p:nvPr/>
        </p:nvSpPr>
        <p:spPr>
          <a:xfrm>
            <a:off x="4355287" y="3139364"/>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35" name="Shape 33"/>
          <p:cNvSpPr/>
          <p:nvPr/>
        </p:nvSpPr>
        <p:spPr>
          <a:xfrm>
            <a:off x="5857189" y="2115464"/>
            <a:ext cx="198882" cy="0"/>
          </a:xfrm>
          <a:prstGeom prst="line">
            <a:avLst/>
          </a:prstGeom>
          <a:noFill/>
          <a:ln w="31750">
            <a:solidFill>
              <a:srgbClr val="55627E"/>
            </a:solidFill>
            <a:prstDash val="sysDot"/>
            <a:tailEnd type="triangle"/>
          </a:ln>
        </p:spPr>
      </p:sp>
      <p:sp>
        <p:nvSpPr>
          <p:cNvPr id="36" name="Text 34"/>
          <p:cNvSpPr/>
          <p:nvPr/>
        </p:nvSpPr>
        <p:spPr>
          <a:xfrm>
            <a:off x="5846902" y="200573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37" name="Shape 35"/>
          <p:cNvSpPr/>
          <p:nvPr/>
        </p:nvSpPr>
        <p:spPr>
          <a:xfrm flipV="1">
            <a:off x="6586423" y="1744218"/>
            <a:ext cx="0" cy="172364"/>
          </a:xfrm>
          <a:prstGeom prst="line">
            <a:avLst/>
          </a:prstGeom>
          <a:noFill/>
          <a:ln w="31750">
            <a:solidFill>
              <a:srgbClr val="55627E"/>
            </a:solidFill>
            <a:prstDash val="sysDot"/>
          </a:ln>
        </p:spPr>
      </p:sp>
      <p:sp>
        <p:nvSpPr>
          <p:cNvPr id="38" name="Shape 36"/>
          <p:cNvSpPr/>
          <p:nvPr/>
        </p:nvSpPr>
        <p:spPr>
          <a:xfrm>
            <a:off x="6586423" y="1744218"/>
            <a:ext cx="3023006" cy="0"/>
          </a:xfrm>
          <a:prstGeom prst="line">
            <a:avLst/>
          </a:prstGeom>
          <a:noFill/>
          <a:ln w="31750">
            <a:solidFill>
              <a:srgbClr val="55627E"/>
            </a:solidFill>
            <a:prstDash val="sysDot"/>
          </a:ln>
        </p:spPr>
      </p:sp>
      <p:sp>
        <p:nvSpPr>
          <p:cNvPr id="39" name="Shape 37"/>
          <p:cNvSpPr/>
          <p:nvPr/>
        </p:nvSpPr>
        <p:spPr>
          <a:xfrm>
            <a:off x="9609430" y="1744218"/>
            <a:ext cx="0" cy="172364"/>
          </a:xfrm>
          <a:prstGeom prst="line">
            <a:avLst/>
          </a:prstGeom>
          <a:noFill/>
          <a:ln w="31750">
            <a:solidFill>
              <a:srgbClr val="55627E"/>
            </a:solidFill>
            <a:prstDash val="sysDot"/>
            <a:tailEnd type="triangle"/>
          </a:ln>
        </p:spPr>
      </p:sp>
      <p:sp>
        <p:nvSpPr>
          <p:cNvPr id="40" name="Text 38"/>
          <p:cNvSpPr/>
          <p:nvPr/>
        </p:nvSpPr>
        <p:spPr>
          <a:xfrm>
            <a:off x="6883603" y="1529105"/>
            <a:ext cx="242864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solicitud + evento en una transacción</a:t>
            </a:r>
            <a:endParaRPr lang="en-US" sz="800" dirty="0"/>
          </a:p>
        </p:txBody>
      </p:sp>
      <p:sp>
        <p:nvSpPr>
          <p:cNvPr id="41" name="Text 39"/>
          <p:cNvSpPr/>
          <p:nvPr/>
        </p:nvSpPr>
        <p:spPr>
          <a:xfrm>
            <a:off x="6476695" y="17206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42" name="Shape 40"/>
          <p:cNvSpPr/>
          <p:nvPr/>
        </p:nvSpPr>
        <p:spPr>
          <a:xfrm>
            <a:off x="8469173" y="2115464"/>
            <a:ext cx="371246" cy="0"/>
          </a:xfrm>
          <a:prstGeom prst="line">
            <a:avLst/>
          </a:prstGeom>
          <a:noFill/>
          <a:ln w="31750">
            <a:solidFill>
              <a:srgbClr val="55627E"/>
            </a:solidFill>
            <a:prstDash val="sysDot"/>
            <a:tailEnd type="triangle"/>
          </a:ln>
        </p:spPr>
      </p:sp>
      <p:sp>
        <p:nvSpPr>
          <p:cNvPr id="43" name="Text 41"/>
          <p:cNvSpPr/>
          <p:nvPr/>
        </p:nvSpPr>
        <p:spPr>
          <a:xfrm>
            <a:off x="8518550" y="200573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44" name="Shape 42"/>
          <p:cNvSpPr/>
          <p:nvPr/>
        </p:nvSpPr>
        <p:spPr>
          <a:xfrm>
            <a:off x="7899044" y="2314346"/>
            <a:ext cx="0" cy="364617"/>
          </a:xfrm>
          <a:prstGeom prst="line">
            <a:avLst/>
          </a:prstGeom>
          <a:noFill/>
          <a:ln w="25400">
            <a:solidFill>
              <a:srgbClr val="55627E"/>
            </a:solidFill>
            <a:prstDash val="dash"/>
          </a:ln>
        </p:spPr>
      </p:sp>
      <p:sp>
        <p:nvSpPr>
          <p:cNvPr id="45" name="Shape 43"/>
          <p:cNvSpPr/>
          <p:nvPr/>
        </p:nvSpPr>
        <p:spPr>
          <a:xfrm flipH="1">
            <a:off x="5293690" y="2678963"/>
            <a:ext cx="2605354" cy="0"/>
          </a:xfrm>
          <a:prstGeom prst="line">
            <a:avLst/>
          </a:prstGeom>
          <a:noFill/>
          <a:ln w="25400">
            <a:solidFill>
              <a:srgbClr val="55627E"/>
            </a:solidFill>
            <a:prstDash val="dash"/>
          </a:ln>
        </p:spPr>
      </p:sp>
      <p:sp>
        <p:nvSpPr>
          <p:cNvPr id="46" name="Shape 44"/>
          <p:cNvSpPr/>
          <p:nvPr/>
        </p:nvSpPr>
        <p:spPr>
          <a:xfrm>
            <a:off x="5293690" y="2678963"/>
            <a:ext cx="0" cy="404393"/>
          </a:xfrm>
          <a:prstGeom prst="line">
            <a:avLst/>
          </a:prstGeom>
          <a:noFill/>
          <a:ln w="25400">
            <a:solidFill>
              <a:srgbClr val="55627E"/>
            </a:solidFill>
            <a:prstDash val="dash"/>
            <a:tailEnd type="triangle"/>
          </a:ln>
        </p:spPr>
      </p:sp>
      <p:sp>
        <p:nvSpPr>
          <p:cNvPr id="47" name="Text 45"/>
          <p:cNvSpPr/>
          <p:nvPr/>
        </p:nvSpPr>
        <p:spPr>
          <a:xfrm>
            <a:off x="5755119" y="2463851"/>
            <a:ext cx="168249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evento por HTTP + traceId</a:t>
            </a:r>
            <a:endParaRPr lang="en-US" sz="800" dirty="0"/>
          </a:p>
        </p:txBody>
      </p:sp>
      <p:sp>
        <p:nvSpPr>
          <p:cNvPr id="48" name="Text 46"/>
          <p:cNvSpPr/>
          <p:nvPr/>
        </p:nvSpPr>
        <p:spPr>
          <a:xfrm>
            <a:off x="7789316" y="2363724"/>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49" name="Shape 47"/>
          <p:cNvSpPr/>
          <p:nvPr/>
        </p:nvSpPr>
        <p:spPr>
          <a:xfrm>
            <a:off x="5857189" y="3282239"/>
            <a:ext cx="198882" cy="0"/>
          </a:xfrm>
          <a:prstGeom prst="line">
            <a:avLst/>
          </a:prstGeom>
          <a:noFill/>
          <a:ln w="31750">
            <a:solidFill>
              <a:srgbClr val="55627E"/>
            </a:solidFill>
            <a:prstDash val="sysDot"/>
            <a:tailEnd type="triangle"/>
          </a:ln>
        </p:spPr>
      </p:sp>
      <p:sp>
        <p:nvSpPr>
          <p:cNvPr id="50" name="Text 48"/>
          <p:cNvSpPr/>
          <p:nvPr/>
        </p:nvSpPr>
        <p:spPr>
          <a:xfrm>
            <a:off x="5846902" y="317251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51" name="Shape 49"/>
          <p:cNvSpPr/>
          <p:nvPr/>
        </p:nvSpPr>
        <p:spPr>
          <a:xfrm>
            <a:off x="7116775" y="3282239"/>
            <a:ext cx="212141" cy="0"/>
          </a:xfrm>
          <a:prstGeom prst="line">
            <a:avLst/>
          </a:prstGeom>
          <a:noFill/>
          <a:ln w="31750">
            <a:solidFill>
              <a:srgbClr val="55627E"/>
            </a:solidFill>
            <a:prstDash val="sysDot"/>
            <a:tailEnd type="triangle"/>
          </a:ln>
        </p:spPr>
      </p:sp>
      <p:sp>
        <p:nvSpPr>
          <p:cNvPr id="52" name="Text 50"/>
          <p:cNvSpPr/>
          <p:nvPr/>
        </p:nvSpPr>
        <p:spPr>
          <a:xfrm>
            <a:off x="7113118" y="317251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53" name="Shape 51"/>
          <p:cNvSpPr/>
          <p:nvPr/>
        </p:nvSpPr>
        <p:spPr>
          <a:xfrm>
            <a:off x="6586423" y="3481121"/>
            <a:ext cx="0" cy="172364"/>
          </a:xfrm>
          <a:prstGeom prst="line">
            <a:avLst/>
          </a:prstGeom>
          <a:noFill/>
          <a:ln w="31750">
            <a:solidFill>
              <a:srgbClr val="55627E"/>
            </a:solidFill>
            <a:prstDash val="sysDot"/>
          </a:ln>
        </p:spPr>
      </p:sp>
      <p:sp>
        <p:nvSpPr>
          <p:cNvPr id="54" name="Shape 52"/>
          <p:cNvSpPr/>
          <p:nvPr/>
        </p:nvSpPr>
        <p:spPr>
          <a:xfrm>
            <a:off x="6586423" y="3653485"/>
            <a:ext cx="2108149" cy="0"/>
          </a:xfrm>
          <a:prstGeom prst="line">
            <a:avLst/>
          </a:prstGeom>
          <a:noFill/>
          <a:ln w="31750">
            <a:solidFill>
              <a:srgbClr val="55627E"/>
            </a:solidFill>
            <a:prstDash val="sysDot"/>
          </a:ln>
        </p:spPr>
      </p:sp>
      <p:sp>
        <p:nvSpPr>
          <p:cNvPr id="55" name="Shape 53"/>
          <p:cNvSpPr/>
          <p:nvPr/>
        </p:nvSpPr>
        <p:spPr>
          <a:xfrm flipV="1">
            <a:off x="8694572" y="3149651"/>
            <a:ext cx="0" cy="503834"/>
          </a:xfrm>
          <a:prstGeom prst="line">
            <a:avLst/>
          </a:prstGeom>
          <a:noFill/>
          <a:ln w="31750">
            <a:solidFill>
              <a:srgbClr val="55627E"/>
            </a:solidFill>
            <a:prstDash val="sysDot"/>
          </a:ln>
        </p:spPr>
      </p:sp>
      <p:sp>
        <p:nvSpPr>
          <p:cNvPr id="56" name="Shape 54"/>
          <p:cNvSpPr/>
          <p:nvPr/>
        </p:nvSpPr>
        <p:spPr>
          <a:xfrm>
            <a:off x="8694572" y="3149651"/>
            <a:ext cx="145847" cy="0"/>
          </a:xfrm>
          <a:prstGeom prst="line">
            <a:avLst/>
          </a:prstGeom>
          <a:noFill/>
          <a:ln w="31750">
            <a:solidFill>
              <a:srgbClr val="55627E"/>
            </a:solidFill>
            <a:prstDash val="sysDot"/>
            <a:tailEnd type="triangle"/>
          </a:ln>
        </p:spPr>
      </p:sp>
      <p:sp>
        <p:nvSpPr>
          <p:cNvPr id="57" name="Text 55"/>
          <p:cNvSpPr/>
          <p:nvPr/>
        </p:nvSpPr>
        <p:spPr>
          <a:xfrm>
            <a:off x="7047967" y="3438373"/>
            <a:ext cx="118506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anota el eventoId</a:t>
            </a:r>
            <a:endParaRPr lang="en-US" sz="800" dirty="0"/>
          </a:p>
        </p:txBody>
      </p:sp>
      <p:sp>
        <p:nvSpPr>
          <p:cNvPr id="58" name="Text 56"/>
          <p:cNvSpPr/>
          <p:nvPr/>
        </p:nvSpPr>
        <p:spPr>
          <a:xfrm>
            <a:off x="6476695" y="345757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59" name="Shape 57"/>
          <p:cNvSpPr/>
          <p:nvPr/>
        </p:nvSpPr>
        <p:spPr>
          <a:xfrm>
            <a:off x="2847442" y="4528566"/>
            <a:ext cx="265176" cy="0"/>
          </a:xfrm>
          <a:prstGeom prst="line">
            <a:avLst/>
          </a:prstGeom>
          <a:noFill/>
          <a:ln w="31750">
            <a:solidFill>
              <a:srgbClr val="2E6DB4"/>
            </a:solidFill>
            <a:prstDash val="solid"/>
            <a:tailEnd type="triangle"/>
          </a:ln>
        </p:spPr>
      </p:sp>
      <p:sp>
        <p:nvSpPr>
          <p:cNvPr id="60" name="Text 58"/>
          <p:cNvSpPr/>
          <p:nvPr/>
        </p:nvSpPr>
        <p:spPr>
          <a:xfrm>
            <a:off x="2870302" y="4418838"/>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61" name="Shape 59"/>
          <p:cNvSpPr/>
          <p:nvPr/>
        </p:nvSpPr>
        <p:spPr>
          <a:xfrm>
            <a:off x="4226357" y="4528566"/>
            <a:ext cx="198882" cy="0"/>
          </a:xfrm>
          <a:prstGeom prst="line">
            <a:avLst/>
          </a:prstGeom>
          <a:noFill/>
          <a:ln w="31750">
            <a:solidFill>
              <a:srgbClr val="55627E"/>
            </a:solidFill>
            <a:prstDash val="sysDot"/>
            <a:tailEnd type="triangle"/>
          </a:ln>
        </p:spPr>
      </p:sp>
      <p:sp>
        <p:nvSpPr>
          <p:cNvPr id="62" name="Text 60"/>
          <p:cNvSpPr/>
          <p:nvPr/>
        </p:nvSpPr>
        <p:spPr>
          <a:xfrm>
            <a:off x="4216070"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63" name="Shape 61"/>
          <p:cNvSpPr/>
          <p:nvPr/>
        </p:nvSpPr>
        <p:spPr>
          <a:xfrm>
            <a:off x="5552237" y="4528566"/>
            <a:ext cx="198882" cy="0"/>
          </a:xfrm>
          <a:prstGeom prst="line">
            <a:avLst/>
          </a:prstGeom>
          <a:noFill/>
          <a:ln w="31750">
            <a:solidFill>
              <a:srgbClr val="55627E"/>
            </a:solidFill>
            <a:prstDash val="sysDot"/>
            <a:tailEnd type="triangle"/>
          </a:ln>
        </p:spPr>
      </p:sp>
      <p:sp>
        <p:nvSpPr>
          <p:cNvPr id="64" name="Text 62"/>
          <p:cNvSpPr/>
          <p:nvPr/>
        </p:nvSpPr>
        <p:spPr>
          <a:xfrm>
            <a:off x="5541950"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65" name="Shape 63"/>
          <p:cNvSpPr/>
          <p:nvPr/>
        </p:nvSpPr>
        <p:spPr>
          <a:xfrm>
            <a:off x="9277960" y="3799332"/>
            <a:ext cx="0" cy="152476"/>
          </a:xfrm>
          <a:prstGeom prst="line">
            <a:avLst/>
          </a:prstGeom>
          <a:noFill/>
          <a:ln w="25400">
            <a:solidFill>
              <a:srgbClr val="55627E"/>
            </a:solidFill>
            <a:prstDash val="dash"/>
          </a:ln>
        </p:spPr>
      </p:sp>
      <p:sp>
        <p:nvSpPr>
          <p:cNvPr id="66" name="Shape 64"/>
          <p:cNvSpPr/>
          <p:nvPr/>
        </p:nvSpPr>
        <p:spPr>
          <a:xfrm flipH="1">
            <a:off x="8190738" y="3951808"/>
            <a:ext cx="1087222" cy="0"/>
          </a:xfrm>
          <a:prstGeom prst="line">
            <a:avLst/>
          </a:prstGeom>
          <a:noFill/>
          <a:ln w="25400">
            <a:solidFill>
              <a:srgbClr val="55627E"/>
            </a:solidFill>
            <a:prstDash val="dash"/>
          </a:ln>
        </p:spPr>
      </p:sp>
      <p:sp>
        <p:nvSpPr>
          <p:cNvPr id="67" name="Shape 65"/>
          <p:cNvSpPr/>
          <p:nvPr/>
        </p:nvSpPr>
        <p:spPr>
          <a:xfrm>
            <a:off x="8190738" y="3951808"/>
            <a:ext cx="0" cy="364617"/>
          </a:xfrm>
          <a:prstGeom prst="line">
            <a:avLst/>
          </a:prstGeom>
          <a:noFill/>
          <a:ln w="25400">
            <a:solidFill>
              <a:srgbClr val="55627E"/>
            </a:solidFill>
            <a:prstDash val="dash"/>
            <a:tailEnd type="triangle"/>
          </a:ln>
        </p:spPr>
      </p:sp>
      <p:sp>
        <p:nvSpPr>
          <p:cNvPr id="68" name="Text 66"/>
          <p:cNvSpPr/>
          <p:nvPr/>
        </p:nvSpPr>
        <p:spPr>
          <a:xfrm>
            <a:off x="8545982" y="392231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logs</a:t>
            </a:r>
            <a:endParaRPr lang="en-US" sz="800" dirty="0"/>
          </a:p>
        </p:txBody>
      </p:sp>
      <p:sp>
        <p:nvSpPr>
          <p:cNvPr id="69" name="Text 67"/>
          <p:cNvSpPr/>
          <p:nvPr/>
        </p:nvSpPr>
        <p:spPr>
          <a:xfrm>
            <a:off x="9168232" y="376584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70" name="Shape 68"/>
          <p:cNvSpPr/>
          <p:nvPr/>
        </p:nvSpPr>
        <p:spPr>
          <a:xfrm>
            <a:off x="8217256" y="4528566"/>
            <a:ext cx="212141" cy="0"/>
          </a:xfrm>
          <a:prstGeom prst="line">
            <a:avLst/>
          </a:prstGeom>
          <a:noFill/>
          <a:ln w="31750">
            <a:solidFill>
              <a:srgbClr val="55627E"/>
            </a:solidFill>
            <a:prstDash val="sysDot"/>
            <a:tailEnd type="triangle"/>
          </a:ln>
        </p:spPr>
      </p:sp>
      <p:sp>
        <p:nvSpPr>
          <p:cNvPr id="71" name="Text 69"/>
          <p:cNvSpPr/>
          <p:nvPr/>
        </p:nvSpPr>
        <p:spPr>
          <a:xfrm>
            <a:off x="8213598"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72" name="Shape 70"/>
          <p:cNvSpPr/>
          <p:nvPr/>
        </p:nvSpPr>
        <p:spPr>
          <a:xfrm>
            <a:off x="9277960" y="4528566"/>
            <a:ext cx="212141" cy="0"/>
          </a:xfrm>
          <a:prstGeom prst="line">
            <a:avLst/>
          </a:prstGeom>
          <a:noFill/>
          <a:ln w="31750">
            <a:solidFill>
              <a:srgbClr val="55627E"/>
            </a:solidFill>
            <a:prstDash val="sysDot"/>
            <a:tailEnd type="triangle"/>
          </a:ln>
        </p:spPr>
      </p:sp>
      <p:sp>
        <p:nvSpPr>
          <p:cNvPr id="73" name="Text 71"/>
          <p:cNvSpPr/>
          <p:nvPr/>
        </p:nvSpPr>
        <p:spPr>
          <a:xfrm>
            <a:off x="9274302"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74" name="Text 72"/>
          <p:cNvSpPr/>
          <p:nvPr/>
        </p:nvSpPr>
        <p:spPr>
          <a:xfrm>
            <a:off x="1720444" y="1916582"/>
            <a:ext cx="1126998" cy="397764"/>
          </a:xfrm>
          <a:prstGeom prst="roundRect">
            <a:avLst>
              <a:gd name="adj" fmla="val 5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Persona</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usa el navegador</a:t>
            </a:r>
            <a:endParaRPr lang="en-US" sz="900" dirty="0"/>
          </a:p>
        </p:txBody>
      </p:sp>
      <p:sp>
        <p:nvSpPr>
          <p:cNvPr id="75" name="Shape 73"/>
          <p:cNvSpPr/>
          <p:nvPr/>
        </p:nvSpPr>
        <p:spPr>
          <a:xfrm>
            <a:off x="3192170" y="1916582"/>
            <a:ext cx="1113739" cy="397764"/>
          </a:xfrm>
          <a:prstGeom prst="roundRect">
            <a:avLst>
              <a:gd name="adj" fmla="val 2069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76" name="Shape 74"/>
          <p:cNvSpPr/>
          <p:nvPr/>
        </p:nvSpPr>
        <p:spPr>
          <a:xfrm>
            <a:off x="3283610" y="1957182"/>
            <a:ext cx="316565" cy="316565"/>
          </a:xfrm>
          <a:prstGeom prst="ellipse">
            <a:avLst/>
          </a:prstGeom>
          <a:solidFill>
            <a:srgbClr val="EBE8F8"/>
          </a:solidFill>
          <a:ln w="12700">
            <a:solidFill>
              <a:srgbClr val="EBE8F8"/>
            </a:solidFill>
            <a:prstDash val="solid"/>
          </a:ln>
        </p:spPr>
      </p:sp>
      <p:sp>
        <p:nvSpPr>
          <p:cNvPr id="77" name="Icono app-window"/>
          <p:cNvSpPr/>
          <p:nvPr/>
        </p:nvSpPr>
        <p:spPr>
          <a:xfrm>
            <a:off x="3338474" y="2012046"/>
            <a:ext cx="206837" cy="206837"/>
          </a:xfrm>
          <a:custGeom>
            <a:avLst/>
            <a:gdLst/>
            <a:ahLst/>
            <a:cxnLst/>
            <a:rect l="l" t="t" r="r" b="b"/>
            <a:pathLst>
              <a:path w="206837" h="206837">
                <a:moveTo>
                  <a:pt x="34473" y="34473"/>
                </a:moveTo>
                <a:lnTo>
                  <a:pt x="172364" y="34473"/>
                </a:lnTo>
                <a:cubicBezTo>
                  <a:pt x="181884" y="34473"/>
                  <a:pt x="189601" y="42190"/>
                  <a:pt x="189601" y="51709"/>
                </a:cubicBezTo>
                <a:lnTo>
                  <a:pt x="189601" y="155128"/>
                </a:lnTo>
                <a:cubicBezTo>
                  <a:pt x="189601" y="164647"/>
                  <a:pt x="181884" y="172364"/>
                  <a:pt x="172364" y="172364"/>
                </a:cubicBezTo>
                <a:lnTo>
                  <a:pt x="34473" y="172364"/>
                </a:lnTo>
                <a:cubicBezTo>
                  <a:pt x="24953" y="172364"/>
                  <a:pt x="17236" y="164647"/>
                  <a:pt x="17236" y="155128"/>
                </a:cubicBezTo>
                <a:lnTo>
                  <a:pt x="17236" y="51709"/>
                </a:lnTo>
                <a:cubicBezTo>
                  <a:pt x="17236" y="42190"/>
                  <a:pt x="24953" y="34473"/>
                  <a:pt x="34473" y="34473"/>
                </a:cubicBezTo>
                <a:close/>
                <a:moveTo>
                  <a:pt x="86182" y="34473"/>
                </a:moveTo>
                <a:lnTo>
                  <a:pt x="86182" y="68946"/>
                </a:lnTo>
                <a:moveTo>
                  <a:pt x="17236" y="68946"/>
                </a:moveTo>
                <a:lnTo>
                  <a:pt x="189601" y="68946"/>
                </a:lnTo>
                <a:moveTo>
                  <a:pt x="51709" y="34473"/>
                </a:moveTo>
                <a:lnTo>
                  <a:pt x="51709" y="68946"/>
                </a:lnTo>
              </a:path>
            </a:pathLst>
          </a:custGeom>
          <a:noFill/>
          <a:ln w="17236" cap="rnd">
            <a:solidFill>
              <a:srgbClr val="5B3FC4"/>
            </a:solidFill>
            <a:prstDash val="solid"/>
            <a:round/>
          </a:ln>
        </p:spPr>
      </p:sp>
      <p:sp>
        <p:nvSpPr>
          <p:cNvPr id="78" name="Text 76"/>
          <p:cNvSpPr/>
          <p:nvPr/>
        </p:nvSpPr>
        <p:spPr>
          <a:xfrm>
            <a:off x="3655040" y="1916582"/>
            <a:ext cx="596006" cy="397764"/>
          </a:xfrm>
          <a:prstGeom prst="rect">
            <a:avLst/>
          </a:prstGeom>
          <a:noFill/>
          <a:ln/>
        </p:spPr>
        <p:txBody>
          <a:bodyPr wrap="square" lIns="12700" tIns="25400" rIns="25400" bIns="12700" rtlCol="0" anchor="ctr">
            <a:normAutofit/>
          </a:bodyPr>
          <a:lstStyle/>
          <a:p>
            <a:pPr algn="l" indent="0" marL="0">
              <a:lnSpc>
                <a:spcPct val="95000"/>
              </a:lnSpc>
              <a:buNone/>
            </a:pPr>
            <a:r>
              <a:rPr lang="en-US" sz="864" b="1" dirty="0">
                <a:solidFill>
                  <a:srgbClr val="0B1A3C"/>
                </a:solidFill>
                <a:latin typeface="Segoe UI" pitchFamily="34" charset="0"/>
                <a:ea typeface="Segoe UI" pitchFamily="34" charset="-122"/>
                <a:cs typeface="Segoe UI" pitchFamily="34" charset="-120"/>
              </a:rPr>
              <a:t>React</a:t>
            </a:r>
            <a:endParaRPr lang="en-US" sz="864" dirty="0"/>
          </a:p>
          <a:p>
            <a:pPr algn="l" indent="0" marL="0">
              <a:lnSpc>
                <a:spcPct val="95000"/>
              </a:lnSpc>
              <a:buNone/>
            </a:pPr>
            <a:r>
              <a:rPr lang="en-US" sz="768" dirty="0">
                <a:solidFill>
                  <a:srgbClr val="55627E"/>
                </a:solidFill>
                <a:latin typeface="Segoe UI" pitchFamily="34" charset="0"/>
                <a:ea typeface="Segoe UI" pitchFamily="34" charset="-122"/>
                <a:cs typeface="Segoe UI" pitchFamily="34" charset="-120"/>
              </a:rPr>
              <a:t>4 pestañas</a:t>
            </a:r>
            <a:endParaRPr lang="en-US" sz="864" dirty="0"/>
          </a:p>
        </p:txBody>
      </p:sp>
      <p:sp>
        <p:nvSpPr>
          <p:cNvPr id="79" name="Text 77"/>
          <p:cNvSpPr/>
          <p:nvPr/>
        </p:nvSpPr>
        <p:spPr>
          <a:xfrm>
            <a:off x="3192170" y="3017063"/>
            <a:ext cx="1113739" cy="397764"/>
          </a:xfrm>
          <a:prstGeom prst="roundRect">
            <a:avLst>
              <a:gd name="adj" fmla="val 2069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nginx</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proxy de /api</a:t>
            </a:r>
            <a:endParaRPr lang="en-US" sz="900" dirty="0"/>
          </a:p>
        </p:txBody>
      </p:sp>
      <p:sp>
        <p:nvSpPr>
          <p:cNvPr id="80" name="Text 78"/>
          <p:cNvSpPr/>
          <p:nvPr/>
        </p:nvSpPr>
        <p:spPr>
          <a:xfrm>
            <a:off x="4730191" y="1916582"/>
            <a:ext cx="1126998" cy="397764"/>
          </a:xfrm>
          <a:prstGeom prst="roundRect">
            <a:avLst>
              <a:gd name="adj" fmla="val 20690"/>
            </a:avLst>
          </a:prstGeom>
          <a:solidFill>
            <a:srgbClr val="FFFFFF"/>
          </a:solidFill>
          <a:ln w="12700">
            <a:solidFill>
              <a:srgbClr val="9AAFCB"/>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API REST</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Swagger · Actuator</a:t>
            </a:r>
            <a:endParaRPr lang="en-US" sz="900" dirty="0"/>
          </a:p>
        </p:txBody>
      </p:sp>
      <p:sp>
        <p:nvSpPr>
          <p:cNvPr id="81" name="Text 79"/>
          <p:cNvSpPr/>
          <p:nvPr/>
        </p:nvSpPr>
        <p:spPr>
          <a:xfrm>
            <a:off x="6056071" y="1916582"/>
            <a:ext cx="1060704" cy="397764"/>
          </a:xfrm>
          <a:prstGeom prst="roundRect">
            <a:avLst>
              <a:gd name="adj" fmla="val 20690"/>
            </a:avLst>
          </a:prstGeom>
          <a:solidFill>
            <a:srgbClr val="FFFFFF"/>
          </a:solidFill>
          <a:ln w="12700">
            <a:solidFill>
              <a:srgbClr val="9AAFCB"/>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Dominio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reglas de estado</a:t>
            </a:r>
            <a:endParaRPr lang="en-US" sz="900" dirty="0"/>
          </a:p>
        </p:txBody>
      </p:sp>
      <p:sp>
        <p:nvSpPr>
          <p:cNvPr id="82" name="Text 80"/>
          <p:cNvSpPr/>
          <p:nvPr/>
        </p:nvSpPr>
        <p:spPr>
          <a:xfrm>
            <a:off x="7328916" y="1916582"/>
            <a:ext cx="1140257" cy="397764"/>
          </a:xfrm>
          <a:prstGeom prst="roundRect">
            <a:avLst>
              <a:gd name="adj" fmla="val 20690"/>
            </a:avLst>
          </a:prstGeom>
          <a:solidFill>
            <a:srgbClr val="FFFFFF"/>
          </a:solidFill>
          <a:ln w="12700">
            <a:solidFill>
              <a:srgbClr val="9AAFCB"/>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792" b="1" dirty="0">
                <a:solidFill>
                  <a:srgbClr val="0B1A3C"/>
                </a:solidFill>
                <a:latin typeface="Segoe UI" pitchFamily="34" charset="0"/>
                <a:ea typeface="Segoe UI" pitchFamily="34" charset="-122"/>
                <a:cs typeface="Segoe UI" pitchFamily="34" charset="-120"/>
              </a:rPr>
              <a:t>Relevador</a:t>
            </a:r>
            <a:endParaRPr lang="en-US" sz="792" dirty="0"/>
          </a:p>
          <a:p>
            <a:pPr algn="ctr" indent="0" marL="0">
              <a:buNone/>
            </a:pPr>
            <a:r>
              <a:rPr lang="en-US" sz="704" dirty="0">
                <a:solidFill>
                  <a:srgbClr val="55627E"/>
                </a:solidFill>
                <a:latin typeface="Segoe UI" pitchFamily="34" charset="0"/>
                <a:ea typeface="Segoe UI" pitchFamily="34" charset="-122"/>
                <a:cs typeface="Segoe UI" pitchFamily="34" charset="-120"/>
              </a:rPr>
              <a:t>cada 5 s · 3 intentos</a:t>
            </a:r>
            <a:endParaRPr lang="en-US" sz="792" dirty="0"/>
          </a:p>
        </p:txBody>
      </p:sp>
      <p:sp>
        <p:nvSpPr>
          <p:cNvPr id="83" name="Shape 81"/>
          <p:cNvSpPr/>
          <p:nvPr/>
        </p:nvSpPr>
        <p:spPr>
          <a:xfrm>
            <a:off x="8840419" y="1916582"/>
            <a:ext cx="1538021" cy="397764"/>
          </a:xfrm>
          <a:prstGeom prst="roundRect">
            <a:avLst>
              <a:gd name="adj" fmla="val 20690"/>
            </a:avLst>
          </a:prstGeom>
          <a:solidFill>
            <a:srgbClr val="F3F6FA"/>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84" name="Shape 82"/>
          <p:cNvSpPr/>
          <p:nvPr/>
        </p:nvSpPr>
        <p:spPr>
          <a:xfrm>
            <a:off x="8931859" y="1957182"/>
            <a:ext cx="316565" cy="316565"/>
          </a:xfrm>
          <a:prstGeom prst="ellipse">
            <a:avLst/>
          </a:prstGeom>
          <a:solidFill>
            <a:srgbClr val="EBECF0"/>
          </a:solidFill>
          <a:ln w="12700">
            <a:solidFill>
              <a:srgbClr val="EBECF0"/>
            </a:solidFill>
            <a:prstDash val="solid"/>
          </a:ln>
        </p:spPr>
      </p:sp>
      <p:sp>
        <p:nvSpPr>
          <p:cNvPr id="85" name="Icono database"/>
          <p:cNvSpPr/>
          <p:nvPr/>
        </p:nvSpPr>
        <p:spPr>
          <a:xfrm>
            <a:off x="8986723" y="2012046"/>
            <a:ext cx="206837" cy="206837"/>
          </a:xfrm>
          <a:custGeom>
            <a:avLst/>
            <a:gdLst/>
            <a:ahLst/>
            <a:cxnLst/>
            <a:rect l="l" t="t" r="r" b="b"/>
            <a:pathLst>
              <a:path w="206837" h="206837">
                <a:moveTo>
                  <a:pt x="180983" y="43091"/>
                </a:moveTo>
                <a:cubicBezTo>
                  <a:pt x="180983" y="57370"/>
                  <a:pt x="146256" y="68946"/>
                  <a:pt x="103419" y="68946"/>
                </a:cubicBezTo>
                <a:cubicBezTo>
                  <a:pt x="60581" y="68946"/>
                  <a:pt x="25855" y="57370"/>
                  <a:pt x="25855" y="43091"/>
                </a:cubicBezTo>
                <a:cubicBezTo>
                  <a:pt x="25855" y="28812"/>
                  <a:pt x="60581" y="17236"/>
                  <a:pt x="103419" y="17236"/>
                </a:cubicBezTo>
                <a:cubicBezTo>
                  <a:pt x="146256" y="17236"/>
                  <a:pt x="180983" y="28812"/>
                  <a:pt x="180983" y="43091"/>
                </a:cubicBezTo>
                <a:close/>
                <a:moveTo>
                  <a:pt x="25855" y="43091"/>
                </a:moveTo>
                <a:lnTo>
                  <a:pt x="25855" y="163746"/>
                </a:lnTo>
                <a:cubicBezTo>
                  <a:pt x="25855" y="178025"/>
                  <a:pt x="60581" y="189601"/>
                  <a:pt x="103419" y="189601"/>
                </a:cubicBezTo>
                <a:cubicBezTo>
                  <a:pt x="146256" y="189601"/>
                  <a:pt x="180983" y="178025"/>
                  <a:pt x="180983" y="163746"/>
                </a:cubicBezTo>
                <a:lnTo>
                  <a:pt x="180983" y="43091"/>
                </a:lnTo>
                <a:moveTo>
                  <a:pt x="25855" y="103419"/>
                </a:moveTo>
                <a:cubicBezTo>
                  <a:pt x="25855" y="117698"/>
                  <a:pt x="60581" y="129273"/>
                  <a:pt x="103419" y="129273"/>
                </a:cubicBezTo>
                <a:cubicBezTo>
                  <a:pt x="146256" y="129273"/>
                  <a:pt x="180983" y="117698"/>
                  <a:pt x="180983" y="103419"/>
                </a:cubicBezTo>
              </a:path>
            </a:pathLst>
          </a:custGeom>
          <a:noFill/>
          <a:ln w="17236" cap="rnd">
            <a:solidFill>
              <a:srgbClr val="55627E"/>
            </a:solidFill>
            <a:prstDash val="solid"/>
            <a:round/>
          </a:ln>
        </p:spPr>
      </p:sp>
      <p:sp>
        <p:nvSpPr>
          <p:cNvPr id="86" name="Text 84"/>
          <p:cNvSpPr/>
          <p:nvPr/>
        </p:nvSpPr>
        <p:spPr>
          <a:xfrm>
            <a:off x="9303288" y="1916582"/>
            <a:ext cx="1020288" cy="397764"/>
          </a:xfrm>
          <a:prstGeom prst="rect">
            <a:avLst/>
          </a:prstGeom>
          <a:noFill/>
          <a:ln/>
        </p:spPr>
        <p:txBody>
          <a:bodyPr wrap="square" lIns="12700" tIns="25400" rIns="25400" bIns="12700" rtlCol="0" anchor="ctr">
            <a:normAutofit/>
          </a:bodyPr>
          <a:lstStyle/>
          <a:p>
            <a:pPr algn="l" indent="0" marL="0">
              <a:lnSpc>
                <a:spcPct val="95000"/>
              </a:lnSpc>
              <a:buNone/>
            </a:pPr>
            <a:r>
              <a:rPr lang="en-US" sz="864" b="1" dirty="0">
                <a:solidFill>
                  <a:srgbClr val="0B1A3C"/>
                </a:solidFill>
                <a:latin typeface="Segoe UI" pitchFamily="34" charset="0"/>
                <a:ea typeface="Segoe UI" pitchFamily="34" charset="-122"/>
                <a:cs typeface="Segoe UI" pitchFamily="34" charset="-120"/>
              </a:rPr>
              <a:t>db-solicitudes</a:t>
            </a:r>
            <a:endParaRPr lang="en-US" sz="864" dirty="0"/>
          </a:p>
          <a:p>
            <a:pPr algn="l" indent="0" marL="0">
              <a:lnSpc>
                <a:spcPct val="95000"/>
              </a:lnSpc>
              <a:buNone/>
            </a:pPr>
            <a:r>
              <a:rPr lang="en-US" sz="768" dirty="0">
                <a:solidFill>
                  <a:srgbClr val="55627E"/>
                </a:solidFill>
                <a:latin typeface="Segoe UI" pitchFamily="34" charset="0"/>
                <a:ea typeface="Segoe UI" pitchFamily="34" charset="-122"/>
                <a:cs typeface="Segoe UI" pitchFamily="34" charset="-120"/>
              </a:rPr>
              <a:t>solicitud · evento</a:t>
            </a:r>
            <a:endParaRPr lang="en-US" sz="864" dirty="0"/>
          </a:p>
        </p:txBody>
      </p:sp>
      <p:sp>
        <p:nvSpPr>
          <p:cNvPr id="87" name="Text 85"/>
          <p:cNvSpPr/>
          <p:nvPr/>
        </p:nvSpPr>
        <p:spPr>
          <a:xfrm>
            <a:off x="4730191" y="3083357"/>
            <a:ext cx="1126998" cy="397764"/>
          </a:xfrm>
          <a:prstGeom prst="roundRect">
            <a:avLst>
              <a:gd name="adj" fmla="val 20690"/>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API REST</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Swagger · Actuator</a:t>
            </a:r>
            <a:endParaRPr lang="en-US" sz="900" dirty="0"/>
          </a:p>
        </p:txBody>
      </p:sp>
      <p:sp>
        <p:nvSpPr>
          <p:cNvPr id="88" name="Text 86"/>
          <p:cNvSpPr/>
          <p:nvPr/>
        </p:nvSpPr>
        <p:spPr>
          <a:xfrm>
            <a:off x="6056071" y="3083357"/>
            <a:ext cx="1060704" cy="397764"/>
          </a:xfrm>
          <a:prstGeom prst="roundRect">
            <a:avLst>
              <a:gd name="adj" fmla="val 20690"/>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720" b="1" dirty="0">
                <a:solidFill>
                  <a:srgbClr val="0B1A3C"/>
                </a:solidFill>
                <a:latin typeface="Segoe UI" pitchFamily="34" charset="0"/>
                <a:ea typeface="Segoe UI" pitchFamily="34" charset="-122"/>
                <a:cs typeface="Segoe UI" pitchFamily="34" charset="-120"/>
              </a:rPr>
              <a:t>Consumo idempotente</a:t>
            </a:r>
            <a:endParaRPr lang="en-US" sz="720" dirty="0"/>
          </a:p>
          <a:p>
            <a:pPr algn="ctr" indent="0" marL="0">
              <a:buNone/>
            </a:pPr>
            <a:r>
              <a:rPr lang="en-US" sz="650" dirty="0">
                <a:solidFill>
                  <a:srgbClr val="55627E"/>
                </a:solidFill>
                <a:latin typeface="Segoe UI" pitchFamily="34" charset="0"/>
                <a:ea typeface="Segoe UI" pitchFamily="34" charset="-122"/>
                <a:cs typeface="Segoe UI" pitchFamily="34" charset="-120"/>
              </a:rPr>
              <a:t>¿ya llegó?</a:t>
            </a:r>
            <a:endParaRPr lang="en-US" sz="720" dirty="0"/>
          </a:p>
        </p:txBody>
      </p:sp>
      <p:sp>
        <p:nvSpPr>
          <p:cNvPr id="89" name="Shape 87"/>
          <p:cNvSpPr/>
          <p:nvPr/>
        </p:nvSpPr>
        <p:spPr>
          <a:xfrm>
            <a:off x="7328916" y="3083357"/>
            <a:ext cx="1140257" cy="397764"/>
          </a:xfrm>
          <a:prstGeom prst="roundRect">
            <a:avLst>
              <a:gd name="adj" fmla="val 20690"/>
            </a:avLst>
          </a:prstGeom>
          <a:solidFill>
            <a:srgbClr val="FBE7BD"/>
          </a:solidFill>
          <a:ln w="12700">
            <a:solidFill>
              <a:srgbClr val="A85D08"/>
            </a:solidFill>
            <a:prstDash val="dash"/>
          </a:ln>
          <a:effectLst>
            <a:outerShdw sx="100000" sy="100000" kx="0" ky="0" algn="bl" rotWithShape="0" blurRad="76200" dist="19050" dir="5400000">
              <a:srgbClr val="0B1F3A">
                <a:alpha val="14000"/>
              </a:srgbClr>
            </a:outerShdw>
          </a:effectLst>
        </p:spPr>
      </p:sp>
      <p:sp>
        <p:nvSpPr>
          <p:cNvPr id="90" name="Shape 88"/>
          <p:cNvSpPr/>
          <p:nvPr/>
        </p:nvSpPr>
        <p:spPr>
          <a:xfrm>
            <a:off x="7420356" y="3123956"/>
            <a:ext cx="316565" cy="316565"/>
          </a:xfrm>
          <a:prstGeom prst="ellipse">
            <a:avLst/>
          </a:prstGeom>
          <a:solidFill>
            <a:srgbClr val="E2EEF1"/>
          </a:solidFill>
          <a:ln w="12700">
            <a:solidFill>
              <a:srgbClr val="E2EEF1"/>
            </a:solidFill>
            <a:prstDash val="solid"/>
          </a:ln>
        </p:spPr>
      </p:sp>
      <p:sp>
        <p:nvSpPr>
          <p:cNvPr id="91" name="Icono bell"/>
          <p:cNvSpPr/>
          <p:nvPr/>
        </p:nvSpPr>
        <p:spPr>
          <a:xfrm>
            <a:off x="7475220" y="3178820"/>
            <a:ext cx="206837" cy="206837"/>
          </a:xfrm>
          <a:custGeom>
            <a:avLst/>
            <a:gdLst/>
            <a:ahLst/>
            <a:cxnLst/>
            <a:rect l="l" t="t" r="r" b="b"/>
            <a:pathLst>
              <a:path w="206837" h="206837">
                <a:moveTo>
                  <a:pt x="88492" y="180983"/>
                </a:moveTo>
                <a:cubicBezTo>
                  <a:pt x="91571" y="186315"/>
                  <a:pt x="97261" y="189600"/>
                  <a:pt x="103419" y="189600"/>
                </a:cubicBezTo>
                <a:cubicBezTo>
                  <a:pt x="109576" y="189600"/>
                  <a:pt x="115266" y="186315"/>
                  <a:pt x="118345" y="180983"/>
                </a:cubicBezTo>
                <a:moveTo>
                  <a:pt x="28113" y="132083"/>
                </a:moveTo>
                <a:cubicBezTo>
                  <a:pt x="25812" y="134604"/>
                  <a:pt x="25217" y="138245"/>
                  <a:pt x="26593" y="141368"/>
                </a:cubicBezTo>
                <a:cubicBezTo>
                  <a:pt x="27970" y="144491"/>
                  <a:pt x="31060" y="146507"/>
                  <a:pt x="34473" y="146510"/>
                </a:cubicBezTo>
                <a:lnTo>
                  <a:pt x="172364" y="146510"/>
                </a:lnTo>
                <a:cubicBezTo>
                  <a:pt x="175777" y="146511"/>
                  <a:pt x="178869" y="144499"/>
                  <a:pt x="180249" y="141378"/>
                </a:cubicBezTo>
                <a:cubicBezTo>
                  <a:pt x="181630" y="138257"/>
                  <a:pt x="181038" y="134615"/>
                  <a:pt x="178742" y="132091"/>
                </a:cubicBezTo>
                <a:cubicBezTo>
                  <a:pt x="167280" y="120276"/>
                  <a:pt x="155128" y="107719"/>
                  <a:pt x="155128" y="68946"/>
                </a:cubicBezTo>
                <a:cubicBezTo>
                  <a:pt x="155128" y="40387"/>
                  <a:pt x="131977" y="17236"/>
                  <a:pt x="103419" y="17236"/>
                </a:cubicBezTo>
                <a:cubicBezTo>
                  <a:pt x="74860" y="17236"/>
                  <a:pt x="51709" y="40387"/>
                  <a:pt x="51709" y="68946"/>
                </a:cubicBezTo>
                <a:cubicBezTo>
                  <a:pt x="51709" y="107719"/>
                  <a:pt x="39549" y="120276"/>
                  <a:pt x="28113" y="132083"/>
                </a:cubicBezTo>
              </a:path>
            </a:pathLst>
          </a:custGeom>
          <a:noFill/>
          <a:ln w="17236" cap="rnd">
            <a:solidFill>
              <a:srgbClr val="0B6E8A"/>
            </a:solidFill>
            <a:prstDash val="solid"/>
            <a:round/>
          </a:ln>
        </p:spPr>
      </p:sp>
      <p:sp>
        <p:nvSpPr>
          <p:cNvPr id="92" name="Text 90"/>
          <p:cNvSpPr/>
          <p:nvPr/>
        </p:nvSpPr>
        <p:spPr>
          <a:xfrm>
            <a:off x="7791785" y="3083357"/>
            <a:ext cx="622524" cy="397764"/>
          </a:xfrm>
          <a:prstGeom prst="rect">
            <a:avLst/>
          </a:prstGeom>
          <a:noFill/>
          <a:ln/>
        </p:spPr>
        <p:txBody>
          <a:bodyPr wrap="square" lIns="12700" tIns="25400" rIns="25400" bIns="12700" rtlCol="0" anchor="ctr">
            <a:normAutofit/>
          </a:bodyPr>
          <a:lstStyle/>
          <a:p>
            <a:pPr algn="l" indent="0" marL="0">
              <a:lnSpc>
                <a:spcPct val="95000"/>
              </a:lnSpc>
              <a:buNone/>
            </a:pPr>
            <a:r>
              <a:rPr lang="en-US" sz="900" b="1" dirty="0">
                <a:solidFill>
                  <a:srgbClr val="5C3404"/>
                </a:solidFill>
                <a:latin typeface="Segoe UI" pitchFamily="34" charset="0"/>
                <a:ea typeface="Segoe UI" pitchFamily="34" charset="-122"/>
                <a:cs typeface="Segoe UI" pitchFamily="34" charset="-120"/>
              </a:rPr>
              <a:t>Avisos</a:t>
            </a:r>
            <a:endParaRPr lang="en-US" sz="900" dirty="0"/>
          </a:p>
          <a:p>
            <a:pPr algn="l" indent="0" marL="0">
              <a:lnSpc>
                <a:spcPct val="95000"/>
              </a:lnSpc>
              <a:buNone/>
            </a:pPr>
            <a:r>
              <a:rPr lang="en-US" sz="800" dirty="0">
                <a:solidFill>
                  <a:srgbClr val="55627E"/>
                </a:solidFill>
                <a:latin typeface="Segoe UI" pitchFamily="34" charset="0"/>
                <a:ea typeface="Segoe UI" pitchFamily="34" charset="-122"/>
                <a:cs typeface="Segoe UI" pitchFamily="34" charset="-120"/>
              </a:rPr>
              <a:t>en memoria</a:t>
            </a:r>
            <a:endParaRPr lang="en-US" sz="900" dirty="0"/>
          </a:p>
        </p:txBody>
      </p:sp>
      <p:sp>
        <p:nvSpPr>
          <p:cNvPr id="93" name="Text 91"/>
          <p:cNvSpPr/>
          <p:nvPr/>
        </p:nvSpPr>
        <p:spPr>
          <a:xfrm>
            <a:off x="8840419" y="2950769"/>
            <a:ext cx="1538021" cy="397764"/>
          </a:xfrm>
          <a:prstGeom prst="roundRect">
            <a:avLst>
              <a:gd name="adj" fmla="val 20690"/>
            </a:avLst>
          </a:prstGeom>
          <a:solidFill>
            <a:srgbClr val="F3F6FA"/>
          </a:solidFill>
          <a:ln w="12700">
            <a:solidFill>
              <a:srgbClr val="B3B8C5"/>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db-notificaciones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evento_procesado</a:t>
            </a:r>
            <a:endParaRPr lang="en-US" sz="900" dirty="0"/>
          </a:p>
        </p:txBody>
      </p:sp>
      <p:sp>
        <p:nvSpPr>
          <p:cNvPr id="94" name="Text 92"/>
          <p:cNvSpPr/>
          <p:nvPr/>
        </p:nvSpPr>
        <p:spPr>
          <a:xfrm>
            <a:off x="8840419" y="3441344"/>
            <a:ext cx="1538021" cy="357988"/>
          </a:xfrm>
          <a:prstGeom prst="roundRect">
            <a:avLst>
              <a:gd name="adj" fmla="val 22988"/>
            </a:avLst>
          </a:prstGeom>
          <a:solidFill>
            <a:srgbClr val="FBFCFE"/>
          </a:solidFill>
          <a:ln w="12700">
            <a:solidFill>
              <a:srgbClr val="B3B8C5"/>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720" b="1" dirty="0">
                <a:solidFill>
                  <a:srgbClr val="0B1A3C"/>
                </a:solidFill>
                <a:latin typeface="Segoe UI" pitchFamily="34" charset="0"/>
                <a:ea typeface="Segoe UI" pitchFamily="34" charset="-122"/>
                <a:cs typeface="Segoe UI" pitchFamily="34" charset="-120"/>
              </a:rPr>
              <a:t>Salida de los contenedores</a:t>
            </a:r>
            <a:endParaRPr lang="en-US" sz="720" dirty="0"/>
          </a:p>
          <a:p>
            <a:pPr algn="ctr" indent="0" marL="0">
              <a:buNone/>
            </a:pPr>
            <a:r>
              <a:rPr lang="en-US" sz="650" dirty="0">
                <a:solidFill>
                  <a:srgbClr val="55627E"/>
                </a:solidFill>
                <a:latin typeface="Segoe UI" pitchFamily="34" charset="0"/>
                <a:ea typeface="Segoe UI" pitchFamily="34" charset="-122"/>
                <a:cs typeface="Segoe UI" pitchFamily="34" charset="-120"/>
              </a:rPr>
              <a:t>logs JSON con traceId</a:t>
            </a:r>
            <a:endParaRPr lang="en-US" sz="720" dirty="0"/>
          </a:p>
        </p:txBody>
      </p:sp>
      <p:sp>
        <p:nvSpPr>
          <p:cNvPr id="95" name="Text 93"/>
          <p:cNvSpPr/>
          <p:nvPr/>
        </p:nvSpPr>
        <p:spPr>
          <a:xfrm>
            <a:off x="1720444" y="4316425"/>
            <a:ext cx="1126998" cy="424282"/>
          </a:xfrm>
          <a:prstGeom prst="roundRect">
            <a:avLst>
              <a:gd name="adj" fmla="val 5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Equipo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desarrolla y opera</a:t>
            </a:r>
            <a:endParaRPr lang="en-US" sz="900" dirty="0"/>
          </a:p>
        </p:txBody>
      </p:sp>
      <p:sp>
        <p:nvSpPr>
          <p:cNvPr id="96" name="Text 94"/>
          <p:cNvSpPr/>
          <p:nvPr/>
        </p:nvSpPr>
        <p:spPr>
          <a:xfrm>
            <a:off x="3112618" y="4316425"/>
            <a:ext cx="1113739" cy="424282"/>
          </a:xfrm>
          <a:prstGeom prst="roundRect">
            <a:avLst>
              <a:gd name="adj" fmla="val 19397"/>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28" b="1" dirty="0">
                <a:solidFill>
                  <a:srgbClr val="0B1A3C"/>
                </a:solidFill>
                <a:latin typeface="Segoe UI" pitchFamily="34" charset="0"/>
                <a:ea typeface="Segoe UI" pitchFamily="34" charset="-122"/>
                <a:cs typeface="Segoe UI" pitchFamily="34" charset="-120"/>
              </a:rPr>
              <a:t>GitHub</a:t>
            </a:r>
            <a:endParaRPr lang="en-US" sz="828" dirty="0"/>
          </a:p>
          <a:p>
            <a:pPr algn="ctr" indent="0" marL="0">
              <a:buNone/>
            </a:pPr>
            <a:r>
              <a:rPr lang="en-US" sz="736" dirty="0">
                <a:solidFill>
                  <a:srgbClr val="55627E"/>
                </a:solidFill>
                <a:latin typeface="Segoe UI" pitchFamily="34" charset="0"/>
                <a:ea typeface="Segoe UI" pitchFamily="34" charset="-122"/>
                <a:cs typeface="Segoe UI" pitchFamily="34" charset="-120"/>
              </a:rPr>
              <a:t>ramas y Pull Requests</a:t>
            </a:r>
            <a:endParaRPr lang="en-US" sz="828" dirty="0"/>
          </a:p>
        </p:txBody>
      </p:sp>
      <p:sp>
        <p:nvSpPr>
          <p:cNvPr id="97" name="Text 95"/>
          <p:cNvSpPr/>
          <p:nvPr/>
        </p:nvSpPr>
        <p:spPr>
          <a:xfrm>
            <a:off x="4425239" y="4316425"/>
            <a:ext cx="1126998" cy="424282"/>
          </a:xfrm>
          <a:prstGeom prst="roundRect">
            <a:avLst>
              <a:gd name="adj" fmla="val 19397"/>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28" b="1" dirty="0">
                <a:solidFill>
                  <a:srgbClr val="0B1A3C"/>
                </a:solidFill>
                <a:latin typeface="Segoe UI" pitchFamily="34" charset="0"/>
                <a:ea typeface="Segoe UI" pitchFamily="34" charset="-122"/>
                <a:cs typeface="Segoe UI" pitchFamily="34" charset="-120"/>
              </a:rPr>
              <a:t>GitHub Actions</a:t>
            </a:r>
            <a:endParaRPr lang="en-US" sz="828" dirty="0"/>
          </a:p>
          <a:p>
            <a:pPr algn="ctr" indent="0" marL="0">
              <a:buNone/>
            </a:pPr>
            <a:r>
              <a:rPr lang="en-US" sz="736" dirty="0">
                <a:solidFill>
                  <a:srgbClr val="55627E"/>
                </a:solidFill>
                <a:latin typeface="Segoe UI" pitchFamily="34" charset="0"/>
                <a:ea typeface="Segoe UI" pitchFamily="34" charset="-122"/>
                <a:cs typeface="Segoe UI" pitchFamily="34" charset="-120"/>
              </a:rPr>
              <a:t>compila, prueba y construye</a:t>
            </a:r>
            <a:endParaRPr lang="en-US" sz="828" dirty="0"/>
          </a:p>
        </p:txBody>
      </p:sp>
      <p:sp>
        <p:nvSpPr>
          <p:cNvPr id="98" name="Text 96"/>
          <p:cNvSpPr/>
          <p:nvPr/>
        </p:nvSpPr>
        <p:spPr>
          <a:xfrm>
            <a:off x="5751119" y="4316425"/>
            <a:ext cx="1126998" cy="424282"/>
          </a:xfrm>
          <a:prstGeom prst="roundRect">
            <a:avLst>
              <a:gd name="adj" fmla="val 19397"/>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64" b="1" dirty="0">
                <a:solidFill>
                  <a:srgbClr val="0B1A3C"/>
                </a:solidFill>
                <a:latin typeface="Segoe UI" pitchFamily="34" charset="0"/>
                <a:ea typeface="Segoe UI" pitchFamily="34" charset="-122"/>
                <a:cs typeface="Segoe UI" pitchFamily="34" charset="-120"/>
              </a:rPr>
              <a:t>GHCR</a:t>
            </a:r>
            <a:endParaRPr lang="en-US" sz="864" dirty="0"/>
          </a:p>
          <a:p>
            <a:pPr algn="ctr" indent="0" marL="0">
              <a:buNone/>
            </a:pPr>
            <a:r>
              <a:rPr lang="en-US" sz="768" dirty="0">
                <a:solidFill>
                  <a:srgbClr val="55627E"/>
                </a:solidFill>
                <a:latin typeface="Segoe UI" pitchFamily="34" charset="0"/>
                <a:ea typeface="Segoe UI" pitchFamily="34" charset="-122"/>
                <a:cs typeface="Segoe UI" pitchFamily="34" charset="-120"/>
              </a:rPr>
              <a:t>imágenes por commit</a:t>
            </a:r>
            <a:endParaRPr lang="en-US" sz="864" dirty="0"/>
          </a:p>
        </p:txBody>
      </p:sp>
      <p:sp>
        <p:nvSpPr>
          <p:cNvPr id="99" name="Text 97"/>
          <p:cNvSpPr/>
          <p:nvPr/>
        </p:nvSpPr>
        <p:spPr>
          <a:xfrm>
            <a:off x="7262622" y="4316425"/>
            <a:ext cx="954634" cy="424282"/>
          </a:xfrm>
          <a:prstGeom prst="roundRect">
            <a:avLst>
              <a:gd name="adj" fmla="val 19397"/>
            </a:avLst>
          </a:prstGeom>
          <a:solidFill>
            <a:srgbClr val="FFFFFF"/>
          </a:solidFill>
          <a:ln w="12700">
            <a:solidFill>
              <a:srgbClr val="CAAE8F"/>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Promtail</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recoge los logs</a:t>
            </a:r>
            <a:endParaRPr lang="en-US" sz="900" dirty="0"/>
          </a:p>
        </p:txBody>
      </p:sp>
      <p:sp>
        <p:nvSpPr>
          <p:cNvPr id="100" name="Text 98"/>
          <p:cNvSpPr/>
          <p:nvPr/>
        </p:nvSpPr>
        <p:spPr>
          <a:xfrm>
            <a:off x="8429396" y="4316425"/>
            <a:ext cx="848563" cy="424282"/>
          </a:xfrm>
          <a:prstGeom prst="roundRect">
            <a:avLst>
              <a:gd name="adj" fmla="val 19397"/>
            </a:avLst>
          </a:prstGeom>
          <a:solidFill>
            <a:srgbClr val="FFFFFF"/>
          </a:solidFill>
          <a:ln w="12700">
            <a:solidFill>
              <a:srgbClr val="CAAE8F"/>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Loki</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los guarda</a:t>
            </a:r>
            <a:endParaRPr lang="en-US" sz="900" dirty="0"/>
          </a:p>
        </p:txBody>
      </p:sp>
      <p:sp>
        <p:nvSpPr>
          <p:cNvPr id="101" name="Text 99"/>
          <p:cNvSpPr/>
          <p:nvPr/>
        </p:nvSpPr>
        <p:spPr>
          <a:xfrm>
            <a:off x="9490100" y="4316425"/>
            <a:ext cx="928116" cy="424282"/>
          </a:xfrm>
          <a:prstGeom prst="roundRect">
            <a:avLst>
              <a:gd name="adj" fmla="val 19397"/>
            </a:avLst>
          </a:prstGeom>
          <a:solidFill>
            <a:srgbClr val="FFFFFF"/>
          </a:solidFill>
          <a:ln w="12700">
            <a:solidFill>
              <a:srgbClr val="CAAE8F"/>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28" b="1" dirty="0">
                <a:solidFill>
                  <a:srgbClr val="0B1A3C"/>
                </a:solidFill>
                <a:latin typeface="Segoe UI" pitchFamily="34" charset="0"/>
                <a:ea typeface="Segoe UI" pitchFamily="34" charset="-122"/>
                <a:cs typeface="Segoe UI" pitchFamily="34" charset="-120"/>
              </a:rPr>
              <a:t>Grafana</a:t>
            </a:r>
            <a:endParaRPr lang="en-US" sz="828" dirty="0"/>
          </a:p>
          <a:p>
            <a:pPr algn="ctr" indent="0" marL="0">
              <a:buNone/>
            </a:pPr>
            <a:r>
              <a:rPr lang="en-US" sz="736" dirty="0">
                <a:solidFill>
                  <a:srgbClr val="55627E"/>
                </a:solidFill>
                <a:latin typeface="Segoe UI" pitchFamily="34" charset="0"/>
                <a:ea typeface="Segoe UI" pitchFamily="34" charset="-122"/>
                <a:cs typeface="Segoe UI" pitchFamily="34" charset="-120"/>
              </a:rPr>
              <a:t>busca por traceId</a:t>
            </a:r>
            <a:endParaRPr lang="en-US" sz="828" dirty="0"/>
          </a:p>
        </p:txBody>
      </p:sp>
      <p:sp>
        <p:nvSpPr>
          <p:cNvPr id="102" name="Shape 100"/>
          <p:cNvSpPr/>
          <p:nvPr/>
        </p:nvSpPr>
        <p:spPr>
          <a:xfrm>
            <a:off x="612648" y="5129784"/>
            <a:ext cx="2645588" cy="566928"/>
          </a:xfrm>
          <a:prstGeom prst="roundRect">
            <a:avLst>
              <a:gd name="adj" fmla="val 12903"/>
            </a:avLst>
          </a:prstGeom>
          <a:solidFill>
            <a:srgbClr val="E3F4FA"/>
          </a:solidFill>
          <a:ln w="9525">
            <a:solidFill>
              <a:srgbClr val="80CAE0"/>
            </a:solidFill>
            <a:prstDash val="solid"/>
          </a:ln>
        </p:spPr>
      </p:sp>
      <p:sp>
        <p:nvSpPr>
          <p:cNvPr id="103" name="Text 101"/>
          <p:cNvSpPr/>
          <p:nvPr/>
        </p:nvSpPr>
        <p:spPr>
          <a:xfrm>
            <a:off x="704088"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1</a:t>
            </a:r>
            <a:endParaRPr lang="en-US" sz="1100" dirty="0"/>
          </a:p>
        </p:txBody>
      </p:sp>
      <p:sp>
        <p:nvSpPr>
          <p:cNvPr id="104" name="Text 102"/>
          <p:cNvSpPr/>
          <p:nvPr/>
        </p:nvSpPr>
        <p:spPr>
          <a:xfrm>
            <a:off x="1088136"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La persona usa la interfaz en su navegador: React muestra las cuatro pestañas.</a:t>
            </a:r>
            <a:endParaRPr lang="en-US" sz="1050" dirty="0"/>
          </a:p>
        </p:txBody>
      </p:sp>
      <p:sp>
        <p:nvSpPr>
          <p:cNvPr id="105" name="Shape 103"/>
          <p:cNvSpPr/>
          <p:nvPr/>
        </p:nvSpPr>
        <p:spPr>
          <a:xfrm>
            <a:off x="3386252" y="5129784"/>
            <a:ext cx="2645588" cy="566928"/>
          </a:xfrm>
          <a:prstGeom prst="roundRect">
            <a:avLst>
              <a:gd name="adj" fmla="val 12903"/>
            </a:avLst>
          </a:prstGeom>
          <a:solidFill>
            <a:srgbClr val="E3F4FA"/>
          </a:solidFill>
          <a:ln w="9525">
            <a:solidFill>
              <a:srgbClr val="80CAE0"/>
            </a:solidFill>
            <a:prstDash val="solid"/>
          </a:ln>
        </p:spPr>
      </p:sp>
      <p:sp>
        <p:nvSpPr>
          <p:cNvPr id="106" name="Text 104"/>
          <p:cNvSpPr/>
          <p:nvPr/>
        </p:nvSpPr>
        <p:spPr>
          <a:xfrm>
            <a:off x="3477692"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2</a:t>
            </a:r>
            <a:endParaRPr lang="en-US" sz="1100" dirty="0"/>
          </a:p>
        </p:txBody>
      </p:sp>
      <p:sp>
        <p:nvSpPr>
          <p:cNvPr id="107" name="Text 105"/>
          <p:cNvSpPr/>
          <p:nvPr/>
        </p:nvSpPr>
        <p:spPr>
          <a:xfrm>
            <a:off x="3861740"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nginx recibe /api y reenvía cada ruta al servicio que corresponde.</a:t>
            </a:r>
            <a:endParaRPr lang="en-US" sz="1050" dirty="0"/>
          </a:p>
        </p:txBody>
      </p:sp>
      <p:sp>
        <p:nvSpPr>
          <p:cNvPr id="108" name="Shape 106"/>
          <p:cNvSpPr/>
          <p:nvPr/>
        </p:nvSpPr>
        <p:spPr>
          <a:xfrm>
            <a:off x="6159856" y="5129784"/>
            <a:ext cx="2645588" cy="566928"/>
          </a:xfrm>
          <a:prstGeom prst="roundRect">
            <a:avLst>
              <a:gd name="adj" fmla="val 12903"/>
            </a:avLst>
          </a:prstGeom>
          <a:solidFill>
            <a:srgbClr val="E3F4FA"/>
          </a:solidFill>
          <a:ln w="9525">
            <a:solidFill>
              <a:srgbClr val="80CAE0"/>
            </a:solidFill>
            <a:prstDash val="solid"/>
          </a:ln>
        </p:spPr>
      </p:sp>
      <p:sp>
        <p:nvSpPr>
          <p:cNvPr id="109" name="Text 107"/>
          <p:cNvSpPr/>
          <p:nvPr/>
        </p:nvSpPr>
        <p:spPr>
          <a:xfrm>
            <a:off x="6251296"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3</a:t>
            </a:r>
            <a:endParaRPr lang="en-US" sz="1100" dirty="0"/>
          </a:p>
        </p:txBody>
      </p:sp>
      <p:sp>
        <p:nvSpPr>
          <p:cNvPr id="110" name="Text 108"/>
          <p:cNvSpPr/>
          <p:nvPr/>
        </p:nvSpPr>
        <p:spPr>
          <a:xfrm>
            <a:off x="6635344"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La API de solicitudes recibe la petición y el dominio aplica las reglas.</a:t>
            </a:r>
            <a:endParaRPr lang="en-US" sz="1050" dirty="0"/>
          </a:p>
        </p:txBody>
      </p:sp>
      <p:sp>
        <p:nvSpPr>
          <p:cNvPr id="111" name="Shape 109"/>
          <p:cNvSpPr/>
          <p:nvPr/>
        </p:nvSpPr>
        <p:spPr>
          <a:xfrm>
            <a:off x="8933459" y="5129784"/>
            <a:ext cx="2645588" cy="566928"/>
          </a:xfrm>
          <a:prstGeom prst="roundRect">
            <a:avLst>
              <a:gd name="adj" fmla="val 12903"/>
            </a:avLst>
          </a:prstGeom>
          <a:solidFill>
            <a:srgbClr val="E3F4FA"/>
          </a:solidFill>
          <a:ln w="9525">
            <a:solidFill>
              <a:srgbClr val="80CAE0"/>
            </a:solidFill>
            <a:prstDash val="solid"/>
          </a:ln>
        </p:spPr>
      </p:sp>
      <p:sp>
        <p:nvSpPr>
          <p:cNvPr id="112" name="Text 110"/>
          <p:cNvSpPr/>
          <p:nvPr/>
        </p:nvSpPr>
        <p:spPr>
          <a:xfrm>
            <a:off x="9024899"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4</a:t>
            </a:r>
            <a:endParaRPr lang="en-US" sz="1100" dirty="0"/>
          </a:p>
        </p:txBody>
      </p:sp>
      <p:sp>
        <p:nvSpPr>
          <p:cNvPr id="113" name="Text 111"/>
          <p:cNvSpPr/>
          <p:nvPr/>
        </p:nvSpPr>
        <p:spPr>
          <a:xfrm>
            <a:off x="9408947"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En una sola transacción se guardan la solicitud y su evento pendiente.</a:t>
            </a:r>
            <a:endParaRPr lang="en-US" sz="1050" dirty="0"/>
          </a:p>
        </p:txBody>
      </p:sp>
      <p:sp>
        <p:nvSpPr>
          <p:cNvPr id="114" name="Shape 112"/>
          <p:cNvSpPr/>
          <p:nvPr/>
        </p:nvSpPr>
        <p:spPr>
          <a:xfrm>
            <a:off x="612648" y="5788152"/>
            <a:ext cx="2645588" cy="566928"/>
          </a:xfrm>
          <a:prstGeom prst="roundRect">
            <a:avLst>
              <a:gd name="adj" fmla="val 12903"/>
            </a:avLst>
          </a:prstGeom>
          <a:solidFill>
            <a:srgbClr val="E3F4FA"/>
          </a:solidFill>
          <a:ln w="9525">
            <a:solidFill>
              <a:srgbClr val="80CAE0"/>
            </a:solidFill>
            <a:prstDash val="solid"/>
          </a:ln>
        </p:spPr>
      </p:sp>
      <p:sp>
        <p:nvSpPr>
          <p:cNvPr id="115" name="Text 113"/>
          <p:cNvSpPr/>
          <p:nvPr/>
        </p:nvSpPr>
        <p:spPr>
          <a:xfrm>
            <a:off x="704088"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5</a:t>
            </a:r>
            <a:endParaRPr lang="en-US" sz="1100" dirty="0"/>
          </a:p>
        </p:txBody>
      </p:sp>
      <p:sp>
        <p:nvSpPr>
          <p:cNvPr id="116" name="Text 114"/>
          <p:cNvSpPr/>
          <p:nvPr/>
        </p:nvSpPr>
        <p:spPr>
          <a:xfrm>
            <a:off x="1088136" y="5815584"/>
            <a:ext cx="2096948" cy="512064"/>
          </a:xfrm>
          <a:prstGeom prst="rect">
            <a:avLst/>
          </a:prstGeom>
          <a:noFill/>
          <a:ln/>
        </p:spPr>
        <p:txBody>
          <a:bodyPr wrap="square" lIns="0" tIns="0" rIns="0" bIns="0" rtlCol="0" anchor="ctr">
            <a:normAutofit/>
          </a:bodyPr>
          <a:lstStyle/>
          <a:p>
            <a:pPr indent="0" marL="0">
              <a:buNone/>
            </a:pPr>
            <a:r>
              <a:rPr lang="en-US" sz="950" dirty="0">
                <a:solidFill>
                  <a:srgbClr val="0B1A3C"/>
                </a:solidFill>
                <a:latin typeface="Segoe UI" pitchFamily="34" charset="0"/>
                <a:ea typeface="Segoe UI" pitchFamily="34" charset="-122"/>
                <a:cs typeface="Segoe UI" pitchFamily="34" charset="-120"/>
              </a:rPr>
              <a:t>Cada 5 segundos, el relevador lee los pendientes y los entrega por HTTP, con el traceId.</a:t>
            </a:r>
            <a:endParaRPr lang="en-US" sz="950" dirty="0"/>
          </a:p>
        </p:txBody>
      </p:sp>
      <p:sp>
        <p:nvSpPr>
          <p:cNvPr id="117" name="Shape 115"/>
          <p:cNvSpPr/>
          <p:nvPr/>
        </p:nvSpPr>
        <p:spPr>
          <a:xfrm>
            <a:off x="3386252" y="5788152"/>
            <a:ext cx="2645588" cy="566928"/>
          </a:xfrm>
          <a:prstGeom prst="roundRect">
            <a:avLst>
              <a:gd name="adj" fmla="val 12903"/>
            </a:avLst>
          </a:prstGeom>
          <a:solidFill>
            <a:srgbClr val="E3F4FA"/>
          </a:solidFill>
          <a:ln w="9525">
            <a:solidFill>
              <a:srgbClr val="80CAE0"/>
            </a:solidFill>
            <a:prstDash val="solid"/>
          </a:ln>
        </p:spPr>
      </p:sp>
      <p:sp>
        <p:nvSpPr>
          <p:cNvPr id="118" name="Text 116"/>
          <p:cNvSpPr/>
          <p:nvPr/>
        </p:nvSpPr>
        <p:spPr>
          <a:xfrm>
            <a:off x="3477692"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6</a:t>
            </a:r>
            <a:endParaRPr lang="en-US" sz="1100" dirty="0"/>
          </a:p>
        </p:txBody>
      </p:sp>
      <p:sp>
        <p:nvSpPr>
          <p:cNvPr id="119" name="Text 117"/>
          <p:cNvSpPr/>
          <p:nvPr/>
        </p:nvSpPr>
        <p:spPr>
          <a:xfrm>
            <a:off x="3861740" y="5815584"/>
            <a:ext cx="2096948" cy="512064"/>
          </a:xfrm>
          <a:prstGeom prst="rect">
            <a:avLst/>
          </a:prstGeom>
          <a:noFill/>
          <a:ln/>
        </p:spPr>
        <p:txBody>
          <a:bodyPr wrap="square" lIns="0" tIns="0" rIns="0" bIns="0" rtlCol="0" anchor="ctr">
            <a:normAutofit/>
          </a:bodyPr>
          <a:lstStyle/>
          <a:p>
            <a:pPr indent="0" marL="0">
              <a:buNone/>
            </a:pPr>
            <a:r>
              <a:rPr lang="en-US" sz="950" dirty="0">
                <a:solidFill>
                  <a:srgbClr val="0B1A3C"/>
                </a:solidFill>
                <a:latin typeface="Segoe UI" pitchFamily="34" charset="0"/>
                <a:ea typeface="Segoe UI" pitchFamily="34" charset="-122"/>
                <a:cs typeface="Segoe UI" pitchFamily="34" charset="-120"/>
              </a:rPr>
              <a:t>Notificaciones revisa si el evento ya llegó; si es nuevo, crea el aviso y anota su número.</a:t>
            </a:r>
            <a:endParaRPr lang="en-US" sz="950" dirty="0"/>
          </a:p>
        </p:txBody>
      </p:sp>
      <p:sp>
        <p:nvSpPr>
          <p:cNvPr id="120" name="Shape 118"/>
          <p:cNvSpPr/>
          <p:nvPr/>
        </p:nvSpPr>
        <p:spPr>
          <a:xfrm>
            <a:off x="6159856" y="5788152"/>
            <a:ext cx="2645588" cy="566928"/>
          </a:xfrm>
          <a:prstGeom prst="roundRect">
            <a:avLst>
              <a:gd name="adj" fmla="val 12903"/>
            </a:avLst>
          </a:prstGeom>
          <a:solidFill>
            <a:srgbClr val="E3F4FA"/>
          </a:solidFill>
          <a:ln w="9525">
            <a:solidFill>
              <a:srgbClr val="80CAE0"/>
            </a:solidFill>
            <a:prstDash val="solid"/>
          </a:ln>
        </p:spPr>
      </p:sp>
      <p:sp>
        <p:nvSpPr>
          <p:cNvPr id="121" name="Text 119"/>
          <p:cNvSpPr/>
          <p:nvPr/>
        </p:nvSpPr>
        <p:spPr>
          <a:xfrm>
            <a:off x="6251296"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7</a:t>
            </a:r>
            <a:endParaRPr lang="en-US" sz="1100" dirty="0"/>
          </a:p>
        </p:txBody>
      </p:sp>
      <p:sp>
        <p:nvSpPr>
          <p:cNvPr id="122" name="Text 120"/>
          <p:cNvSpPr/>
          <p:nvPr/>
        </p:nvSpPr>
        <p:spPr>
          <a:xfrm>
            <a:off x="6635344" y="5815584"/>
            <a:ext cx="2096948" cy="512064"/>
          </a:xfrm>
          <a:prstGeom prst="rect">
            <a:avLst/>
          </a:prstGeom>
          <a:noFill/>
          <a:ln/>
        </p:spPr>
        <p:txBody>
          <a:bodyPr wrap="square" lIns="0" tIns="0" rIns="0" bIns="0" rtlCol="0" anchor="ctr">
            <a:normAutofit/>
          </a:bodyPr>
          <a:lstStyle/>
          <a:p>
            <a:pPr indent="0" marL="0">
              <a:buNone/>
            </a:pPr>
            <a:r>
              <a:rPr lang="en-US" sz="1000" dirty="0">
                <a:solidFill>
                  <a:srgbClr val="0B1A3C"/>
                </a:solidFill>
                <a:latin typeface="Segoe UI" pitchFamily="34" charset="0"/>
                <a:ea typeface="Segoe UI" pitchFamily="34" charset="-122"/>
                <a:cs typeface="Segoe UI" pitchFamily="34" charset="-120"/>
              </a:rPr>
              <a:t>Cada cambio en GitHub pasa por GitHub Actions, que prueba y publica las imágenes en GHCR.</a:t>
            </a:r>
            <a:endParaRPr lang="en-US" sz="1000" dirty="0"/>
          </a:p>
        </p:txBody>
      </p:sp>
      <p:sp>
        <p:nvSpPr>
          <p:cNvPr id="123" name="Shape 121"/>
          <p:cNvSpPr/>
          <p:nvPr/>
        </p:nvSpPr>
        <p:spPr>
          <a:xfrm>
            <a:off x="8933459" y="5788152"/>
            <a:ext cx="2645588" cy="566928"/>
          </a:xfrm>
          <a:prstGeom prst="roundRect">
            <a:avLst>
              <a:gd name="adj" fmla="val 12903"/>
            </a:avLst>
          </a:prstGeom>
          <a:solidFill>
            <a:srgbClr val="E3F4FA"/>
          </a:solidFill>
          <a:ln w="9525">
            <a:solidFill>
              <a:srgbClr val="80CAE0"/>
            </a:solidFill>
            <a:prstDash val="solid"/>
          </a:ln>
        </p:spPr>
      </p:sp>
      <p:sp>
        <p:nvSpPr>
          <p:cNvPr id="124" name="Text 122"/>
          <p:cNvSpPr/>
          <p:nvPr/>
        </p:nvSpPr>
        <p:spPr>
          <a:xfrm>
            <a:off x="9024899"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8</a:t>
            </a:r>
            <a:endParaRPr lang="en-US" sz="1100" dirty="0"/>
          </a:p>
        </p:txBody>
      </p:sp>
      <p:sp>
        <p:nvSpPr>
          <p:cNvPr id="125" name="Text 123"/>
          <p:cNvSpPr/>
          <p:nvPr/>
        </p:nvSpPr>
        <p:spPr>
          <a:xfrm>
            <a:off x="9408947" y="5815584"/>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Los logs de todos los contenedores llegan a Grafana a través de Promtail y Loki.</a:t>
            </a:r>
            <a:endParaRPr lang="en-US" sz="1050" dirty="0"/>
          </a:p>
        </p:txBody>
      </p:sp>
      <p:sp>
        <p:nvSpPr>
          <p:cNvPr id="126" name="Text 12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cada servicio: hexagonal</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Una forma de ordenar el código por dentro; no cambia cómo se despliega.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ug"/>
          <p:cNvSpPr/>
          <p:nvPr/>
        </p:nvSpPr>
        <p:spPr>
          <a:xfrm>
            <a:off x="900867" y="5911779"/>
            <a:ext cx="228234" cy="228234"/>
          </a:xfrm>
          <a:custGeom>
            <a:avLst/>
            <a:gdLst/>
            <a:ahLst/>
            <a:cxnLst/>
            <a:rect l="l" t="t" r="r" b="b"/>
            <a:pathLst>
              <a:path w="228234" h="228234">
                <a:moveTo>
                  <a:pt x="114117" y="209215"/>
                </a:moveTo>
                <a:lnTo>
                  <a:pt x="114117" y="161666"/>
                </a:lnTo>
                <a:moveTo>
                  <a:pt x="85588" y="76078"/>
                </a:moveTo>
                <a:lnTo>
                  <a:pt x="85588" y="19020"/>
                </a:lnTo>
                <a:moveTo>
                  <a:pt x="142646" y="76078"/>
                </a:moveTo>
                <a:lnTo>
                  <a:pt x="142646" y="19020"/>
                </a:lnTo>
                <a:moveTo>
                  <a:pt x="171176" y="76078"/>
                </a:moveTo>
                <a:lnTo>
                  <a:pt x="171176" y="123627"/>
                </a:lnTo>
                <a:cubicBezTo>
                  <a:pt x="171176" y="144635"/>
                  <a:pt x="154145" y="161666"/>
                  <a:pt x="133137" y="161666"/>
                </a:cubicBezTo>
                <a:lnTo>
                  <a:pt x="95098" y="161666"/>
                </a:lnTo>
                <a:cubicBezTo>
                  <a:pt x="74089" y="161666"/>
                  <a:pt x="57059" y="144635"/>
                  <a:pt x="57059" y="123627"/>
                </a:cubicBezTo>
                <a:lnTo>
                  <a:pt x="57059" y="76078"/>
                </a:ln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enchufe: el aparato funciona con cualquier toma que cumpla la norma, sin saber de qué planta viene la electricidad.</a:t>
            </a:r>
            <a:endParaRPr lang="en-US" sz="1450" dirty="0"/>
          </a:p>
        </p:txBody>
      </p:sp>
      <p:sp>
        <p:nvSpPr>
          <p:cNvPr id="17" name="Text 15"/>
          <p:cNvSpPr/>
          <p:nvPr/>
        </p:nvSpPr>
        <p:spPr>
          <a:xfrm>
            <a:off x="612648" y="1719072"/>
            <a:ext cx="228600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ENTRADA</a:t>
            </a:r>
            <a:endParaRPr lang="en-US" sz="1100" dirty="0"/>
          </a:p>
        </p:txBody>
      </p:sp>
      <p:sp>
        <p:nvSpPr>
          <p:cNvPr id="18" name="Text 16"/>
          <p:cNvSpPr/>
          <p:nvPr/>
        </p:nvSpPr>
        <p:spPr>
          <a:xfrm>
            <a:off x="3310128" y="1719072"/>
            <a:ext cx="2599639"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DOMINIO</a:t>
            </a:r>
            <a:endParaRPr lang="en-US" sz="1100" dirty="0"/>
          </a:p>
        </p:txBody>
      </p:sp>
      <p:sp>
        <p:nvSpPr>
          <p:cNvPr id="19" name="Text 17"/>
          <p:cNvSpPr/>
          <p:nvPr/>
        </p:nvSpPr>
        <p:spPr>
          <a:xfrm>
            <a:off x="6092647" y="1719072"/>
            <a:ext cx="260604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PUERTOS</a:t>
            </a:r>
            <a:endParaRPr lang="en-US" sz="1100" dirty="0"/>
          </a:p>
        </p:txBody>
      </p:sp>
      <p:sp>
        <p:nvSpPr>
          <p:cNvPr id="20" name="Text 18"/>
          <p:cNvSpPr/>
          <p:nvPr/>
        </p:nvSpPr>
        <p:spPr>
          <a:xfrm>
            <a:off x="9110167" y="1719072"/>
            <a:ext cx="246888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SALIDA</a:t>
            </a:r>
            <a:endParaRPr lang="en-US" sz="1100" dirty="0"/>
          </a:p>
        </p:txBody>
      </p:sp>
      <p:sp>
        <p:nvSpPr>
          <p:cNvPr id="21" name="Shape 19"/>
          <p:cNvSpPr/>
          <p:nvPr/>
        </p:nvSpPr>
        <p:spPr>
          <a:xfrm>
            <a:off x="3200400" y="2568623"/>
            <a:ext cx="2819095" cy="2507138"/>
          </a:xfrm>
          <a:prstGeom prst="hexagon">
            <a:avLst/>
          </a:prstGeom>
          <a:solidFill>
            <a:srgbClr val="E3F4FA"/>
          </a:solidFill>
          <a:ln w="19050">
            <a:solidFill>
              <a:srgbClr val="2BA6CB"/>
            </a:solidFill>
            <a:prstDash val="dash"/>
          </a:ln>
        </p:spPr>
      </p:sp>
      <p:sp>
        <p:nvSpPr>
          <p:cNvPr id="22" name="Shape 20"/>
          <p:cNvSpPr/>
          <p:nvPr/>
        </p:nvSpPr>
        <p:spPr>
          <a:xfrm>
            <a:off x="3310128" y="2678351"/>
            <a:ext cx="2599639" cy="2287682"/>
          </a:xfrm>
          <a:prstGeom prst="hexagon">
            <a:avLst/>
          </a:prstGeom>
          <a:solidFill>
            <a:srgbClr val="0B2350"/>
          </a:solidFill>
          <a:ln w="12700">
            <a:solidFill>
              <a:srgbClr val="0B2350"/>
            </a:solidFill>
            <a:prstDash val="solid"/>
          </a:ln>
          <a:effectLst>
            <a:outerShdw sx="100000" sy="100000" kx="0" ky="0" algn="bl" rotWithShape="0" blurRad="76200" dist="19050" dir="5400000">
              <a:srgbClr val="0B1F3A">
                <a:alpha val="14000"/>
              </a:srgbClr>
            </a:outerShdw>
          </a:effectLst>
        </p:spPr>
      </p:sp>
      <p:sp>
        <p:nvSpPr>
          <p:cNvPr id="23" name="Icono puzzle"/>
          <p:cNvSpPr/>
          <p:nvPr/>
        </p:nvSpPr>
        <p:spPr>
          <a:xfrm>
            <a:off x="4266795" y="3090134"/>
            <a:ext cx="686305" cy="686305"/>
          </a:xfrm>
          <a:custGeom>
            <a:avLst/>
            <a:gdLst/>
            <a:ahLst/>
            <a:cxnLst/>
            <a:rect l="l" t="t" r="r" b="b"/>
            <a:pathLst>
              <a:path w="686305" h="686305">
                <a:moveTo>
                  <a:pt x="440093" y="125537"/>
                </a:moveTo>
                <a:cubicBezTo>
                  <a:pt x="447412" y="132863"/>
                  <a:pt x="458121" y="135660"/>
                  <a:pt x="468089" y="132848"/>
                </a:cubicBezTo>
                <a:cubicBezTo>
                  <a:pt x="478056" y="130036"/>
                  <a:pt x="485724" y="122054"/>
                  <a:pt x="488134" y="111982"/>
                </a:cubicBezTo>
                <a:cubicBezTo>
                  <a:pt x="496349" y="77789"/>
                  <a:pt x="528210" y="54648"/>
                  <a:pt x="563267" y="57412"/>
                </a:cubicBezTo>
                <a:cubicBezTo>
                  <a:pt x="598324" y="60177"/>
                  <a:pt x="626164" y="88027"/>
                  <a:pt x="628917" y="123084"/>
                </a:cubicBezTo>
                <a:cubicBezTo>
                  <a:pt x="631670" y="158142"/>
                  <a:pt x="608518" y="189996"/>
                  <a:pt x="574323" y="198199"/>
                </a:cubicBezTo>
                <a:cubicBezTo>
                  <a:pt x="564251" y="200610"/>
                  <a:pt x="556269" y="208277"/>
                  <a:pt x="553457" y="218245"/>
                </a:cubicBezTo>
                <a:cubicBezTo>
                  <a:pt x="550645" y="228212"/>
                  <a:pt x="553441" y="238921"/>
                  <a:pt x="560768" y="246240"/>
                </a:cubicBezTo>
                <a:lnTo>
                  <a:pt x="608895" y="294339"/>
                </a:lnTo>
                <a:cubicBezTo>
                  <a:pt x="621842" y="307285"/>
                  <a:pt x="629115" y="324844"/>
                  <a:pt x="629115" y="343152"/>
                </a:cubicBezTo>
                <a:cubicBezTo>
                  <a:pt x="629115" y="361461"/>
                  <a:pt x="621842" y="379020"/>
                  <a:pt x="608895" y="391966"/>
                </a:cubicBezTo>
                <a:lnTo>
                  <a:pt x="560768" y="440093"/>
                </a:lnTo>
                <a:cubicBezTo>
                  <a:pt x="553449" y="447420"/>
                  <a:pt x="542740" y="450216"/>
                  <a:pt x="532773" y="447404"/>
                </a:cubicBezTo>
                <a:cubicBezTo>
                  <a:pt x="522805" y="444592"/>
                  <a:pt x="515137" y="436610"/>
                  <a:pt x="512727" y="426538"/>
                </a:cubicBezTo>
                <a:cubicBezTo>
                  <a:pt x="504513" y="392345"/>
                  <a:pt x="472651" y="369204"/>
                  <a:pt x="437594" y="371969"/>
                </a:cubicBezTo>
                <a:cubicBezTo>
                  <a:pt x="402537" y="374733"/>
                  <a:pt x="374697" y="402583"/>
                  <a:pt x="371944" y="437641"/>
                </a:cubicBezTo>
                <a:cubicBezTo>
                  <a:pt x="369191" y="472699"/>
                  <a:pt x="392343" y="504553"/>
                  <a:pt x="426538" y="512755"/>
                </a:cubicBezTo>
                <a:cubicBezTo>
                  <a:pt x="436610" y="515166"/>
                  <a:pt x="444592" y="522834"/>
                  <a:pt x="447404" y="532801"/>
                </a:cubicBezTo>
                <a:cubicBezTo>
                  <a:pt x="450216" y="542768"/>
                  <a:pt x="447420" y="553477"/>
                  <a:pt x="440093" y="560797"/>
                </a:cubicBezTo>
                <a:lnTo>
                  <a:pt x="391966" y="608895"/>
                </a:lnTo>
                <a:cubicBezTo>
                  <a:pt x="379020" y="621842"/>
                  <a:pt x="361461" y="629115"/>
                  <a:pt x="343152" y="629115"/>
                </a:cubicBezTo>
                <a:cubicBezTo>
                  <a:pt x="324844" y="629115"/>
                  <a:pt x="307285" y="621842"/>
                  <a:pt x="294339" y="608895"/>
                </a:cubicBezTo>
                <a:lnTo>
                  <a:pt x="246212" y="560768"/>
                </a:lnTo>
                <a:cubicBezTo>
                  <a:pt x="238892" y="553441"/>
                  <a:pt x="228184" y="550645"/>
                  <a:pt x="218216" y="553457"/>
                </a:cubicBezTo>
                <a:cubicBezTo>
                  <a:pt x="208249" y="556269"/>
                  <a:pt x="200581" y="564251"/>
                  <a:pt x="198170" y="574323"/>
                </a:cubicBezTo>
                <a:cubicBezTo>
                  <a:pt x="189956" y="608516"/>
                  <a:pt x="158095" y="631657"/>
                  <a:pt x="123038" y="628892"/>
                </a:cubicBezTo>
                <a:cubicBezTo>
                  <a:pt x="87981" y="626128"/>
                  <a:pt x="60140" y="598278"/>
                  <a:pt x="57387" y="563220"/>
                </a:cubicBezTo>
                <a:cubicBezTo>
                  <a:pt x="54634" y="528162"/>
                  <a:pt x="77786" y="496309"/>
                  <a:pt x="111982" y="488106"/>
                </a:cubicBezTo>
                <a:cubicBezTo>
                  <a:pt x="122054" y="485695"/>
                  <a:pt x="130036" y="478027"/>
                  <a:pt x="132848" y="468060"/>
                </a:cubicBezTo>
                <a:cubicBezTo>
                  <a:pt x="135660" y="458093"/>
                  <a:pt x="132863" y="447384"/>
                  <a:pt x="125537" y="440064"/>
                </a:cubicBezTo>
                <a:lnTo>
                  <a:pt x="77409" y="391966"/>
                </a:lnTo>
                <a:cubicBezTo>
                  <a:pt x="64463" y="379020"/>
                  <a:pt x="57190" y="361461"/>
                  <a:pt x="57190" y="343152"/>
                </a:cubicBezTo>
                <a:cubicBezTo>
                  <a:pt x="57190" y="324844"/>
                  <a:pt x="64463" y="307285"/>
                  <a:pt x="77409" y="294339"/>
                </a:cubicBezTo>
                <a:lnTo>
                  <a:pt x="125537" y="246212"/>
                </a:lnTo>
                <a:cubicBezTo>
                  <a:pt x="132856" y="238885"/>
                  <a:pt x="143565" y="236088"/>
                  <a:pt x="153532" y="238900"/>
                </a:cubicBezTo>
                <a:cubicBezTo>
                  <a:pt x="163500" y="241713"/>
                  <a:pt x="171167" y="249694"/>
                  <a:pt x="173578" y="259766"/>
                </a:cubicBezTo>
                <a:cubicBezTo>
                  <a:pt x="181792" y="293959"/>
                  <a:pt x="213654" y="317101"/>
                  <a:pt x="248711" y="314336"/>
                </a:cubicBezTo>
                <a:cubicBezTo>
                  <a:pt x="283768" y="311571"/>
                  <a:pt x="311608" y="283722"/>
                  <a:pt x="314361" y="248664"/>
                </a:cubicBezTo>
                <a:cubicBezTo>
                  <a:pt x="317114" y="213606"/>
                  <a:pt x="293962" y="181752"/>
                  <a:pt x="259766" y="173549"/>
                </a:cubicBezTo>
                <a:cubicBezTo>
                  <a:pt x="249694" y="171139"/>
                  <a:pt x="241713" y="163471"/>
                  <a:pt x="238900" y="153504"/>
                </a:cubicBezTo>
                <a:cubicBezTo>
                  <a:pt x="236088" y="143536"/>
                  <a:pt x="238885" y="132827"/>
                  <a:pt x="246212" y="125508"/>
                </a:cubicBezTo>
                <a:lnTo>
                  <a:pt x="294339" y="77409"/>
                </a:lnTo>
                <a:cubicBezTo>
                  <a:pt x="307285" y="64463"/>
                  <a:pt x="324844" y="57190"/>
                  <a:pt x="343152" y="57190"/>
                </a:cubicBezTo>
                <a:cubicBezTo>
                  <a:pt x="361461" y="57190"/>
                  <a:pt x="379020" y="64463"/>
                  <a:pt x="391966" y="77409"/>
                </a:cubicBezTo>
                <a:close/>
              </a:path>
            </a:pathLst>
          </a:custGeom>
          <a:noFill/>
          <a:ln w="50043" cap="rnd">
            <a:solidFill>
              <a:srgbClr val="2BA6CB"/>
            </a:solidFill>
            <a:prstDash val="solid"/>
            <a:round/>
          </a:ln>
        </p:spPr>
      </p:sp>
      <p:sp>
        <p:nvSpPr>
          <p:cNvPr id="24" name="Text 22"/>
          <p:cNvSpPr/>
          <p:nvPr/>
        </p:nvSpPr>
        <p:spPr>
          <a:xfrm>
            <a:off x="3584448" y="3849590"/>
            <a:ext cx="2050999" cy="457200"/>
          </a:xfrm>
          <a:prstGeom prst="rect">
            <a:avLst/>
          </a:prstGeom>
          <a:noFill/>
          <a:ln/>
        </p:spPr>
        <p:txBody>
          <a:bodyPr wrap="square" lIns="0" tIns="0" rIns="0" bIns="0" rtlCol="0" anchor="t">
            <a:normAutofit/>
          </a:bodyP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Reglas del negocio</a:t>
            </a:r>
            <a:endParaRPr lang="en-US" sz="1550" dirty="0"/>
          </a:p>
        </p:txBody>
      </p:sp>
      <p:sp>
        <p:nvSpPr>
          <p:cNvPr id="25" name="Text 23"/>
          <p:cNvSpPr/>
          <p:nvPr/>
        </p:nvSpPr>
        <p:spPr>
          <a:xfrm>
            <a:off x="3830056" y="4325078"/>
            <a:ext cx="1559784" cy="503795"/>
          </a:xfrm>
          <a:prstGeom prst="rect">
            <a:avLst/>
          </a:prstGeom>
          <a:noFill/>
          <a:ln/>
        </p:spPr>
        <p:txBody>
          <a:bodyPr wrap="square" lIns="0" tIns="0" rIns="0" bIns="0" rtlCol="0" anchor="t">
            <a:normAutofit/>
          </a:bodyPr>
          <a:lstStyle/>
          <a:p>
            <a:pPr algn="ctr" indent="0" marL="0">
              <a:buNone/>
            </a:pPr>
            <a:r>
              <a:rPr lang="en-US" sz="1200" dirty="0">
                <a:solidFill>
                  <a:srgbClr val="9FBEE0"/>
                </a:solidFill>
                <a:latin typeface="Segoe UI" pitchFamily="34" charset="0"/>
                <a:ea typeface="Segoe UI" pitchFamily="34" charset="-122"/>
                <a:cs typeface="Segoe UI" pitchFamily="34" charset="-120"/>
              </a:rPr>
              <a:t>La solicitud y sus estados</a:t>
            </a:r>
            <a:endParaRPr lang="en-US" sz="1200" dirty="0"/>
          </a:p>
        </p:txBody>
      </p:sp>
      <p:sp>
        <p:nvSpPr>
          <p:cNvPr id="26" name="[p1] Forma"/>
          <p:cNvSpPr/>
          <p:nvPr/>
        </p:nvSpPr>
        <p:spPr>
          <a:xfrm>
            <a:off x="612648" y="2834640"/>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740664" y="3054096"/>
            <a:ext cx="475488" cy="475488"/>
          </a:xfrm>
          <a:prstGeom prst="ellipse">
            <a:avLst/>
          </a:prstGeom>
          <a:solidFill>
            <a:srgbClr val="F1EEFD"/>
          </a:solidFill>
          <a:ln w="12700">
            <a:solidFill>
              <a:srgbClr val="F1EEFD"/>
            </a:solidFill>
            <a:prstDash val="solid"/>
          </a:ln>
        </p:spPr>
      </p:sp>
      <p:sp>
        <p:nvSpPr>
          <p:cNvPr id="28" name="[p1] Icono globe"/>
          <p:cNvSpPr/>
          <p:nvPr/>
        </p:nvSpPr>
        <p:spPr>
          <a:xfrm>
            <a:off x="854781" y="3168213"/>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123627" y="20604"/>
                </a:moveTo>
                <a:cubicBezTo>
                  <a:pt x="68682" y="78297"/>
                  <a:pt x="68682" y="168957"/>
                  <a:pt x="123627" y="226649"/>
                </a:cubicBezTo>
                <a:cubicBezTo>
                  <a:pt x="178572" y="168957"/>
                  <a:pt x="178572" y="78297"/>
                  <a:pt x="123627" y="20604"/>
                </a:cubicBezTo>
                <a:moveTo>
                  <a:pt x="20604" y="123627"/>
                </a:moveTo>
                <a:lnTo>
                  <a:pt x="226649" y="123627"/>
                </a:lnTo>
              </a:path>
            </a:pathLst>
          </a:custGeom>
          <a:noFill/>
          <a:ln w="20604" cap="rnd">
            <a:solidFill>
              <a:srgbClr val="5B3FC4"/>
            </a:solidFill>
            <a:prstDash val="solid"/>
            <a:round/>
          </a:ln>
        </p:spPr>
      </p:sp>
      <p:sp>
        <p:nvSpPr>
          <p:cNvPr id="29" name="[p1] Forma"/>
          <p:cNvSpPr/>
          <p:nvPr/>
        </p:nvSpPr>
        <p:spPr>
          <a:xfrm>
            <a:off x="1325880" y="2907792"/>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API REST</a:t>
            </a:r>
            <a:endParaRPr lang="en-US" sz="1350" dirty="0"/>
          </a:p>
        </p:txBody>
      </p:sp>
      <p:sp>
        <p:nvSpPr>
          <p:cNvPr id="30" name="[p1] Forma"/>
          <p:cNvSpPr/>
          <p:nvPr/>
        </p:nvSpPr>
        <p:spPr>
          <a:xfrm>
            <a:off x="1325880" y="3310128"/>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web entra aquí</a:t>
            </a:r>
            <a:endParaRPr lang="en-US" sz="1100" dirty="0"/>
          </a:p>
        </p:txBody>
      </p:sp>
      <p:sp>
        <p:nvSpPr>
          <p:cNvPr id="31" name="[p1] Forma"/>
          <p:cNvSpPr/>
          <p:nvPr/>
        </p:nvSpPr>
        <p:spPr>
          <a:xfrm>
            <a:off x="612648" y="3895344"/>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740664" y="4114800"/>
            <a:ext cx="475488" cy="475488"/>
          </a:xfrm>
          <a:prstGeom prst="ellipse">
            <a:avLst/>
          </a:prstGeom>
          <a:solidFill>
            <a:srgbClr val="F1EEFD"/>
          </a:solidFill>
          <a:ln w="12700">
            <a:solidFill>
              <a:srgbClr val="F1EEFD"/>
            </a:solidFill>
            <a:prstDash val="solid"/>
          </a:ln>
        </p:spPr>
      </p:sp>
      <p:sp>
        <p:nvSpPr>
          <p:cNvPr id="33" name="[p1] Icono shield-alert"/>
          <p:cNvSpPr/>
          <p:nvPr/>
        </p:nvSpPr>
        <p:spPr>
          <a:xfrm>
            <a:off x="854781" y="4228917"/>
            <a:ext cx="247254" cy="247254"/>
          </a:xfrm>
          <a:custGeom>
            <a:avLst/>
            <a:gdLst/>
            <a:ahLst/>
            <a:cxnLst/>
            <a:rect l="l" t="t" r="r" b="b"/>
            <a:pathLst>
              <a:path w="247254" h="247254">
                <a:moveTo>
                  <a:pt x="206045" y="133929"/>
                </a:moveTo>
                <a:cubicBezTo>
                  <a:pt x="206045" y="185440"/>
                  <a:pt x="169987" y="211196"/>
                  <a:pt x="127130" y="226134"/>
                </a:cubicBezTo>
                <a:cubicBezTo>
                  <a:pt x="124885" y="226895"/>
                  <a:pt x="122448" y="226858"/>
                  <a:pt x="120227" y="226031"/>
                </a:cubicBezTo>
                <a:cubicBezTo>
                  <a:pt x="77267" y="211196"/>
                  <a:pt x="41209" y="185440"/>
                  <a:pt x="41209" y="133929"/>
                </a:cubicBezTo>
                <a:lnTo>
                  <a:pt x="41209" y="61813"/>
                </a:lnTo>
                <a:cubicBezTo>
                  <a:pt x="41209" y="56124"/>
                  <a:pt x="45821" y="51511"/>
                  <a:pt x="51511" y="51511"/>
                </a:cubicBezTo>
                <a:cubicBezTo>
                  <a:pt x="72116" y="51511"/>
                  <a:pt x="97871" y="39149"/>
                  <a:pt x="115797" y="23489"/>
                </a:cubicBezTo>
                <a:cubicBezTo>
                  <a:pt x="120306" y="19637"/>
                  <a:pt x="126948" y="19637"/>
                  <a:pt x="131457" y="23489"/>
                </a:cubicBezTo>
                <a:cubicBezTo>
                  <a:pt x="149486" y="39252"/>
                  <a:pt x="175138" y="51511"/>
                  <a:pt x="195743" y="51511"/>
                </a:cubicBezTo>
                <a:cubicBezTo>
                  <a:pt x="201432" y="51511"/>
                  <a:pt x="206045" y="56124"/>
                  <a:pt x="206045" y="61813"/>
                </a:cubicBezTo>
                <a:close/>
                <a:moveTo>
                  <a:pt x="123627" y="82418"/>
                </a:moveTo>
                <a:lnTo>
                  <a:pt x="123627" y="123627"/>
                </a:lnTo>
                <a:moveTo>
                  <a:pt x="123627" y="164836"/>
                </a:moveTo>
                <a:lnTo>
                  <a:pt x="123730" y="164836"/>
                </a:lnTo>
              </a:path>
            </a:pathLst>
          </a:custGeom>
          <a:noFill/>
          <a:ln w="20604" cap="rnd">
            <a:solidFill>
              <a:srgbClr val="5B3FC4"/>
            </a:solidFill>
            <a:prstDash val="solid"/>
            <a:round/>
          </a:ln>
        </p:spPr>
      </p:sp>
      <p:sp>
        <p:nvSpPr>
          <p:cNvPr id="34" name="[p1] Forma"/>
          <p:cNvSpPr/>
          <p:nvPr/>
        </p:nvSpPr>
        <p:spPr>
          <a:xfrm>
            <a:off x="1325880" y="3968496"/>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Errores claros</a:t>
            </a:r>
            <a:endParaRPr lang="en-US" sz="1350" dirty="0"/>
          </a:p>
        </p:txBody>
      </p:sp>
      <p:sp>
        <p:nvSpPr>
          <p:cNvPr id="35" name="[p1] Forma"/>
          <p:cNvSpPr/>
          <p:nvPr/>
        </p:nvSpPr>
        <p:spPr>
          <a:xfrm>
            <a:off x="1325880" y="4370832"/>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400 · 404 · 409</a:t>
            </a:r>
            <a:endParaRPr lang="en-US" sz="1100" dirty="0"/>
          </a:p>
        </p:txBody>
      </p:sp>
      <p:sp>
        <p:nvSpPr>
          <p:cNvPr id="36" name="[p1] Forma"/>
          <p:cNvSpPr/>
          <p:nvPr/>
        </p:nvSpPr>
        <p:spPr>
          <a:xfrm>
            <a:off x="2953512" y="3291840"/>
            <a:ext cx="210312" cy="72816"/>
          </a:xfrm>
          <a:prstGeom prst="line">
            <a:avLst/>
          </a:prstGeom>
          <a:noFill/>
          <a:ln w="28575">
            <a:solidFill>
              <a:srgbClr val="2E6DB4"/>
            </a:solidFill>
            <a:prstDash val="solid"/>
            <a:tailEnd type="triangle"/>
          </a:ln>
        </p:spPr>
      </p:sp>
      <p:sp>
        <p:nvSpPr>
          <p:cNvPr id="37" name="[p1] Forma"/>
          <p:cNvSpPr/>
          <p:nvPr/>
        </p:nvSpPr>
        <p:spPr>
          <a:xfrm flipV="1">
            <a:off x="2953512" y="4279728"/>
            <a:ext cx="210312" cy="72816"/>
          </a:xfrm>
          <a:prstGeom prst="line">
            <a:avLst/>
          </a:prstGeom>
          <a:noFill/>
          <a:ln w="28575">
            <a:solidFill>
              <a:srgbClr val="2E6DB4"/>
            </a:solidFill>
            <a:prstDash val="solid"/>
            <a:tailEnd type="triangle"/>
          </a:ln>
        </p:spPr>
      </p:sp>
      <p:sp>
        <p:nvSpPr>
          <p:cNvPr id="38" name="Shape 36"/>
          <p:cNvSpPr/>
          <p:nvPr/>
        </p:nvSpPr>
        <p:spPr>
          <a:xfrm>
            <a:off x="6092647" y="2825496"/>
            <a:ext cx="2606040" cy="566928"/>
          </a:xfrm>
          <a:prstGeom prst="roundRect">
            <a:avLst>
              <a:gd name="adj" fmla="val 12903"/>
            </a:avLst>
          </a:prstGeom>
          <a:solidFill>
            <a:srgbClr val="FFFFFF"/>
          </a:solidFill>
          <a:ln w="19050">
            <a:solidFill>
              <a:srgbClr val="2BA6CB"/>
            </a:solidFill>
            <a:prstDash val="dash"/>
          </a:ln>
        </p:spPr>
      </p:sp>
      <p:sp>
        <p:nvSpPr>
          <p:cNvPr id="39" name="Text 37"/>
          <p:cNvSpPr/>
          <p:nvPr/>
        </p:nvSpPr>
        <p:spPr>
          <a:xfrm>
            <a:off x="6165799" y="2825496"/>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Guardar solicitudes</a:t>
            </a:r>
            <a:endParaRPr lang="en-US" sz="850" dirty="0"/>
          </a:p>
        </p:txBody>
      </p:sp>
      <p:sp>
        <p:nvSpPr>
          <p:cNvPr id="40" name="Shape 38"/>
          <p:cNvSpPr/>
          <p:nvPr/>
        </p:nvSpPr>
        <p:spPr>
          <a:xfrm>
            <a:off x="5772607" y="3108960"/>
            <a:ext cx="301752" cy="0"/>
          </a:xfrm>
          <a:prstGeom prst="line">
            <a:avLst/>
          </a:prstGeom>
          <a:noFill/>
          <a:ln w="19050">
            <a:solidFill>
              <a:srgbClr val="2BA6CB"/>
            </a:solidFill>
            <a:prstDash val="solid"/>
            <a:tailEnd type="triangle"/>
          </a:ln>
        </p:spPr>
      </p:sp>
      <p:sp>
        <p:nvSpPr>
          <p:cNvPr id="41" name="Shape 39"/>
          <p:cNvSpPr/>
          <p:nvPr/>
        </p:nvSpPr>
        <p:spPr>
          <a:xfrm>
            <a:off x="6092647" y="3538728"/>
            <a:ext cx="2606040" cy="566928"/>
          </a:xfrm>
          <a:prstGeom prst="roundRect">
            <a:avLst>
              <a:gd name="adj" fmla="val 12903"/>
            </a:avLst>
          </a:prstGeom>
          <a:solidFill>
            <a:srgbClr val="FFFFFF"/>
          </a:solidFill>
          <a:ln w="19050">
            <a:solidFill>
              <a:srgbClr val="2BA6CB"/>
            </a:solidFill>
            <a:prstDash val="dash"/>
          </a:ln>
        </p:spPr>
      </p:sp>
      <p:sp>
        <p:nvSpPr>
          <p:cNvPr id="42" name="Text 40"/>
          <p:cNvSpPr/>
          <p:nvPr/>
        </p:nvSpPr>
        <p:spPr>
          <a:xfrm>
            <a:off x="6165799" y="3538728"/>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Anotar el evento</a:t>
            </a:r>
            <a:endParaRPr lang="en-US" sz="850" dirty="0"/>
          </a:p>
        </p:txBody>
      </p:sp>
      <p:sp>
        <p:nvSpPr>
          <p:cNvPr id="43" name="Shape 41"/>
          <p:cNvSpPr/>
          <p:nvPr/>
        </p:nvSpPr>
        <p:spPr>
          <a:xfrm>
            <a:off x="5772607" y="3822192"/>
            <a:ext cx="301752" cy="0"/>
          </a:xfrm>
          <a:prstGeom prst="line">
            <a:avLst/>
          </a:prstGeom>
          <a:noFill/>
          <a:ln w="19050">
            <a:solidFill>
              <a:srgbClr val="2BA6CB"/>
            </a:solidFill>
            <a:prstDash val="solid"/>
            <a:tailEnd type="triangle"/>
          </a:ln>
        </p:spPr>
      </p:sp>
      <p:sp>
        <p:nvSpPr>
          <p:cNvPr id="44" name="Shape 42"/>
          <p:cNvSpPr/>
          <p:nvPr/>
        </p:nvSpPr>
        <p:spPr>
          <a:xfrm>
            <a:off x="6092647" y="4251960"/>
            <a:ext cx="2606040" cy="566928"/>
          </a:xfrm>
          <a:prstGeom prst="roundRect">
            <a:avLst>
              <a:gd name="adj" fmla="val 12903"/>
            </a:avLst>
          </a:prstGeom>
          <a:solidFill>
            <a:srgbClr val="FFFFFF"/>
          </a:solidFill>
          <a:ln w="19050">
            <a:solidFill>
              <a:srgbClr val="2BA6CB"/>
            </a:solidFill>
            <a:prstDash val="dash"/>
          </a:ln>
        </p:spPr>
      </p:sp>
      <p:sp>
        <p:nvSpPr>
          <p:cNvPr id="45" name="Text 43"/>
          <p:cNvSpPr/>
          <p:nvPr/>
        </p:nvSpPr>
        <p:spPr>
          <a:xfrm>
            <a:off x="6165799" y="4251960"/>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Avisar a otros</a:t>
            </a:r>
            <a:endParaRPr lang="en-US" sz="850" dirty="0"/>
          </a:p>
        </p:txBody>
      </p:sp>
      <p:sp>
        <p:nvSpPr>
          <p:cNvPr id="46" name="Shape 44"/>
          <p:cNvSpPr/>
          <p:nvPr/>
        </p:nvSpPr>
        <p:spPr>
          <a:xfrm>
            <a:off x="5772607" y="4535424"/>
            <a:ext cx="301752" cy="0"/>
          </a:xfrm>
          <a:prstGeom prst="line">
            <a:avLst/>
          </a:prstGeom>
          <a:noFill/>
          <a:ln w="19050">
            <a:solidFill>
              <a:srgbClr val="2BA6CB"/>
            </a:solidFill>
            <a:prstDash val="solid"/>
            <a:tailEnd type="triangle"/>
          </a:ln>
        </p:spPr>
      </p:sp>
      <p:sp>
        <p:nvSpPr>
          <p:cNvPr id="47" name="[p2] Forma"/>
          <p:cNvSpPr/>
          <p:nvPr/>
        </p:nvSpPr>
        <p:spPr>
          <a:xfrm>
            <a:off x="9110167" y="2130552"/>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8" name="[p2] Forma"/>
          <p:cNvSpPr/>
          <p:nvPr/>
        </p:nvSpPr>
        <p:spPr>
          <a:xfrm>
            <a:off x="9238183" y="2260854"/>
            <a:ext cx="475488" cy="475488"/>
          </a:xfrm>
          <a:prstGeom prst="ellipse">
            <a:avLst/>
          </a:prstGeom>
          <a:solidFill>
            <a:srgbClr val="E8EEF8"/>
          </a:solidFill>
          <a:ln w="12700">
            <a:solidFill>
              <a:srgbClr val="E8EEF8"/>
            </a:solidFill>
            <a:prstDash val="solid"/>
          </a:ln>
        </p:spPr>
      </p:sp>
      <p:sp>
        <p:nvSpPr>
          <p:cNvPr id="49" name="[p2] Icono database"/>
          <p:cNvSpPr/>
          <p:nvPr/>
        </p:nvSpPr>
        <p:spPr>
          <a:xfrm>
            <a:off x="9352300" y="2374971"/>
            <a:ext cx="247254" cy="247254"/>
          </a:xfrm>
          <a:custGeom>
            <a:avLst/>
            <a:gdLst/>
            <a:ahLst/>
            <a:cxnLst/>
            <a:rect l="l" t="t" r="r" b="b"/>
            <a:pathLst>
              <a:path w="247254" h="247254">
                <a:moveTo>
                  <a:pt x="216347" y="51511"/>
                </a:moveTo>
                <a:cubicBezTo>
                  <a:pt x="216347" y="68581"/>
                  <a:pt x="174835" y="82418"/>
                  <a:pt x="123627" y="82418"/>
                </a:cubicBezTo>
                <a:cubicBezTo>
                  <a:pt x="72419" y="82418"/>
                  <a:pt x="30907" y="68581"/>
                  <a:pt x="30907" y="51511"/>
                </a:cubicBezTo>
                <a:cubicBezTo>
                  <a:pt x="30907" y="34442"/>
                  <a:pt x="72419" y="20604"/>
                  <a:pt x="123627" y="20604"/>
                </a:cubicBezTo>
                <a:cubicBezTo>
                  <a:pt x="174835" y="20604"/>
                  <a:pt x="216347" y="34442"/>
                  <a:pt x="216347" y="51511"/>
                </a:cubicBezTo>
                <a:close/>
                <a:moveTo>
                  <a:pt x="30907" y="51511"/>
                </a:moveTo>
                <a:lnTo>
                  <a:pt x="30907" y="195743"/>
                </a:lnTo>
                <a:cubicBezTo>
                  <a:pt x="30907" y="212812"/>
                  <a:pt x="72419" y="226649"/>
                  <a:pt x="123627" y="226649"/>
                </a:cubicBezTo>
                <a:cubicBezTo>
                  <a:pt x="174835" y="226649"/>
                  <a:pt x="216347" y="212812"/>
                  <a:pt x="216347" y="195743"/>
                </a:cubicBezTo>
                <a:lnTo>
                  <a:pt x="216347" y="51511"/>
                </a:lnTo>
                <a:moveTo>
                  <a:pt x="30907" y="123627"/>
                </a:moveTo>
                <a:cubicBezTo>
                  <a:pt x="30907" y="140696"/>
                  <a:pt x="72419" y="154534"/>
                  <a:pt x="123627" y="154534"/>
                </a:cubicBezTo>
                <a:cubicBezTo>
                  <a:pt x="174835" y="154534"/>
                  <a:pt x="216347" y="140696"/>
                  <a:pt x="216347" y="123627"/>
                </a:cubicBezTo>
              </a:path>
            </a:pathLst>
          </a:custGeom>
          <a:noFill/>
          <a:ln w="20604" cap="rnd">
            <a:solidFill>
              <a:srgbClr val="0B2350"/>
            </a:solidFill>
            <a:prstDash val="solid"/>
            <a:round/>
          </a:ln>
        </p:spPr>
      </p:sp>
      <p:sp>
        <p:nvSpPr>
          <p:cNvPr id="50" name="[p2] Forma"/>
          <p:cNvSpPr/>
          <p:nvPr/>
        </p:nvSpPr>
        <p:spPr>
          <a:xfrm>
            <a:off x="9823399" y="2203704"/>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2350"/>
                </a:solidFill>
                <a:latin typeface="Segoe UI Semibold" pitchFamily="34" charset="0"/>
                <a:ea typeface="Segoe UI Semibold" pitchFamily="34" charset="-122"/>
                <a:cs typeface="Segoe UI Semibold" pitchFamily="34" charset="-120"/>
              </a:rPr>
              <a:t>PostgreSQL</a:t>
            </a:r>
            <a:endParaRPr lang="en-US" sz="1350" dirty="0"/>
          </a:p>
        </p:txBody>
      </p:sp>
      <p:sp>
        <p:nvSpPr>
          <p:cNvPr id="51" name="[p2] Forma"/>
          <p:cNvSpPr/>
          <p:nvPr/>
        </p:nvSpPr>
        <p:spPr>
          <a:xfrm>
            <a:off x="9823399" y="2516886"/>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Con el ORM</a:t>
            </a:r>
            <a:endParaRPr lang="en-US" sz="1100" dirty="0"/>
          </a:p>
        </p:txBody>
      </p:sp>
      <p:sp>
        <p:nvSpPr>
          <p:cNvPr id="52" name="[p2] Forma"/>
          <p:cNvSpPr/>
          <p:nvPr/>
        </p:nvSpPr>
        <p:spPr>
          <a:xfrm>
            <a:off x="9110167" y="3012948"/>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53" name="[p2] Forma"/>
          <p:cNvSpPr/>
          <p:nvPr/>
        </p:nvSpPr>
        <p:spPr>
          <a:xfrm>
            <a:off x="9238183" y="3143250"/>
            <a:ext cx="475488" cy="475488"/>
          </a:xfrm>
          <a:prstGeom prst="ellipse">
            <a:avLst/>
          </a:prstGeom>
          <a:solidFill>
            <a:srgbClr val="E8EEF8"/>
          </a:solidFill>
          <a:ln w="12700">
            <a:solidFill>
              <a:srgbClr val="E8EEF8"/>
            </a:solidFill>
            <a:prstDash val="solid"/>
          </a:ln>
        </p:spPr>
      </p:sp>
      <p:sp>
        <p:nvSpPr>
          <p:cNvPr id="54" name="[p2] Icono inbox"/>
          <p:cNvSpPr/>
          <p:nvPr/>
        </p:nvSpPr>
        <p:spPr>
          <a:xfrm>
            <a:off x="9352300" y="3257367"/>
            <a:ext cx="247254" cy="247254"/>
          </a:xfrm>
          <a:custGeom>
            <a:avLst/>
            <a:gdLst/>
            <a:ahLst/>
            <a:cxnLst/>
            <a:rect l="l" t="t" r="r" b="b"/>
            <a:pathLst>
              <a:path w="247254" h="247254">
                <a:moveTo>
                  <a:pt x="226649" y="123627"/>
                </a:moveTo>
                <a:lnTo>
                  <a:pt x="164836" y="123627"/>
                </a:lnTo>
                <a:lnTo>
                  <a:pt x="144231" y="154534"/>
                </a:lnTo>
                <a:lnTo>
                  <a:pt x="103022" y="154534"/>
                </a:lnTo>
                <a:lnTo>
                  <a:pt x="82418" y="123627"/>
                </a:lnTo>
                <a:lnTo>
                  <a:pt x="20604" y="123627"/>
                </a:lnTo>
                <a:moveTo>
                  <a:pt x="56147" y="52644"/>
                </a:moveTo>
                <a:lnTo>
                  <a:pt x="20604" y="123627"/>
                </a:lnTo>
                <a:lnTo>
                  <a:pt x="20604" y="185440"/>
                </a:lnTo>
                <a:cubicBezTo>
                  <a:pt x="20604" y="196820"/>
                  <a:pt x="29829" y="206045"/>
                  <a:pt x="41209" y="206045"/>
                </a:cubicBezTo>
                <a:lnTo>
                  <a:pt x="206045" y="206045"/>
                </a:lnTo>
                <a:cubicBezTo>
                  <a:pt x="217424" y="206045"/>
                  <a:pt x="226649" y="196820"/>
                  <a:pt x="226649" y="185440"/>
                </a:cubicBezTo>
                <a:lnTo>
                  <a:pt x="226649" y="123627"/>
                </a:lnTo>
                <a:lnTo>
                  <a:pt x="191107" y="52644"/>
                </a:lnTo>
                <a:cubicBezTo>
                  <a:pt x="187627" y="45642"/>
                  <a:pt x="180484" y="41213"/>
                  <a:pt x="172666" y="41209"/>
                </a:cubicBezTo>
                <a:lnTo>
                  <a:pt x="74588" y="41209"/>
                </a:lnTo>
                <a:cubicBezTo>
                  <a:pt x="66769" y="41213"/>
                  <a:pt x="59627" y="45642"/>
                  <a:pt x="56147" y="52644"/>
                </a:cubicBezTo>
                <a:close/>
              </a:path>
            </a:pathLst>
          </a:custGeom>
          <a:noFill/>
          <a:ln w="20604" cap="rnd">
            <a:solidFill>
              <a:srgbClr val="0B2350"/>
            </a:solidFill>
            <a:prstDash val="solid"/>
            <a:round/>
          </a:ln>
        </p:spPr>
      </p:sp>
      <p:sp>
        <p:nvSpPr>
          <p:cNvPr id="55" name="[p2] Forma"/>
          <p:cNvSpPr/>
          <p:nvPr/>
        </p:nvSpPr>
        <p:spPr>
          <a:xfrm>
            <a:off x="9823399" y="3086100"/>
            <a:ext cx="1682496" cy="331470"/>
          </a:xfrm>
          <a:prstGeom prst="rect">
            <a:avLst/>
          </a:prstGeom>
          <a:noFill/>
          <a:ln/>
        </p:spPr>
        <p:txBody>
          <a:bodyPr wrap="square" lIns="0" tIns="0" rIns="0" bIns="0" rtlCol="0" anchor="b">
            <a:normAutofit/>
          </a:bodyPr>
          <a:lstStyle/>
          <a:p>
            <a:pPr algn="l" indent="0" marL="0">
              <a:buNone/>
            </a:pPr>
            <a:r>
              <a:rPr lang="en-US" sz="1300" b="1" dirty="0">
                <a:solidFill>
                  <a:srgbClr val="0B2350"/>
                </a:solidFill>
                <a:latin typeface="Segoe UI Semibold" pitchFamily="34" charset="0"/>
                <a:ea typeface="Segoe UI Semibold" pitchFamily="34" charset="-122"/>
                <a:cs typeface="Segoe UI Semibold" pitchFamily="34" charset="-120"/>
              </a:rPr>
              <a:t>Bandeja de salida</a:t>
            </a:r>
            <a:endParaRPr lang="en-US" sz="1300" dirty="0"/>
          </a:p>
        </p:txBody>
      </p:sp>
      <p:sp>
        <p:nvSpPr>
          <p:cNvPr id="56" name="[p2] Forma"/>
          <p:cNvSpPr/>
          <p:nvPr/>
        </p:nvSpPr>
        <p:spPr>
          <a:xfrm>
            <a:off x="9823399" y="3399282"/>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Tabla evento</a:t>
            </a:r>
            <a:endParaRPr lang="en-US" sz="1100" dirty="0"/>
          </a:p>
        </p:txBody>
      </p:sp>
      <p:sp>
        <p:nvSpPr>
          <p:cNvPr id="57" name="[p2] Forma"/>
          <p:cNvSpPr/>
          <p:nvPr/>
        </p:nvSpPr>
        <p:spPr>
          <a:xfrm>
            <a:off x="9110167" y="3895344"/>
            <a:ext cx="2468880" cy="736092"/>
          </a:xfrm>
          <a:prstGeom prst="roundRect">
            <a:avLst>
              <a:gd name="adj" fmla="val 17391"/>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9238183" y="4025646"/>
            <a:ext cx="475488" cy="475488"/>
          </a:xfrm>
          <a:prstGeom prst="ellipse">
            <a:avLst/>
          </a:prstGeom>
          <a:solidFill>
            <a:srgbClr val="E3F4FA"/>
          </a:solidFill>
          <a:ln w="12700">
            <a:solidFill>
              <a:srgbClr val="E3F4FA"/>
            </a:solidFill>
            <a:prstDash val="solid"/>
          </a:ln>
        </p:spPr>
      </p:sp>
      <p:sp>
        <p:nvSpPr>
          <p:cNvPr id="59" name="[p2] Icono send"/>
          <p:cNvSpPr/>
          <p:nvPr/>
        </p:nvSpPr>
        <p:spPr>
          <a:xfrm>
            <a:off x="9352300" y="4139763"/>
            <a:ext cx="247254" cy="247254"/>
          </a:xfrm>
          <a:custGeom>
            <a:avLst/>
            <a:gdLst/>
            <a:ahLst/>
            <a:cxnLst/>
            <a:rect l="l" t="t" r="r" b="b"/>
            <a:pathLst>
              <a:path w="247254" h="247254">
                <a:moveTo>
                  <a:pt x="149753" y="223414"/>
                </a:moveTo>
                <a:cubicBezTo>
                  <a:pt x="150555" y="225412"/>
                  <a:pt x="152514" y="226701"/>
                  <a:pt x="154666" y="226646"/>
                </a:cubicBezTo>
                <a:cubicBezTo>
                  <a:pt x="156818" y="226590"/>
                  <a:pt x="158708" y="225203"/>
                  <a:pt x="159407" y="223167"/>
                </a:cubicBezTo>
                <a:lnTo>
                  <a:pt x="226371" y="27425"/>
                </a:lnTo>
                <a:cubicBezTo>
                  <a:pt x="227044" y="25561"/>
                  <a:pt x="226579" y="23476"/>
                  <a:pt x="225178" y="22075"/>
                </a:cubicBezTo>
                <a:cubicBezTo>
                  <a:pt x="223777" y="20674"/>
                  <a:pt x="221693" y="20210"/>
                  <a:pt x="219829" y="20883"/>
                </a:cubicBezTo>
                <a:lnTo>
                  <a:pt x="24087" y="87847"/>
                </a:lnTo>
                <a:cubicBezTo>
                  <a:pt x="22051" y="88545"/>
                  <a:pt x="20663" y="90436"/>
                  <a:pt x="20608" y="92588"/>
                </a:cubicBezTo>
                <a:cubicBezTo>
                  <a:pt x="20553" y="94740"/>
                  <a:pt x="21842" y="96699"/>
                  <a:pt x="23839" y="97500"/>
                </a:cubicBezTo>
                <a:lnTo>
                  <a:pt x="105536" y="130262"/>
                </a:lnTo>
                <a:cubicBezTo>
                  <a:pt x="110755" y="132351"/>
                  <a:pt x="114893" y="136482"/>
                  <a:pt x="116992" y="141697"/>
                </a:cubicBezTo>
                <a:close/>
                <a:moveTo>
                  <a:pt x="225145" y="22119"/>
                </a:moveTo>
                <a:lnTo>
                  <a:pt x="112439" y="134815"/>
                </a:lnTo>
              </a:path>
            </a:pathLst>
          </a:custGeom>
          <a:noFill/>
          <a:ln w="20604" cap="rnd">
            <a:solidFill>
              <a:srgbClr val="0B6E8A"/>
            </a:solidFill>
            <a:prstDash val="solid"/>
            <a:round/>
          </a:ln>
        </p:spPr>
      </p:sp>
      <p:sp>
        <p:nvSpPr>
          <p:cNvPr id="60" name="[p2] Forma"/>
          <p:cNvSpPr/>
          <p:nvPr/>
        </p:nvSpPr>
        <p:spPr>
          <a:xfrm>
            <a:off x="9823399" y="3968496"/>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HTTP</a:t>
            </a:r>
            <a:endParaRPr lang="en-US" sz="1350" dirty="0"/>
          </a:p>
        </p:txBody>
      </p:sp>
      <p:sp>
        <p:nvSpPr>
          <p:cNvPr id="61" name="[p2] Forma"/>
          <p:cNvSpPr/>
          <p:nvPr/>
        </p:nvSpPr>
        <p:spPr>
          <a:xfrm>
            <a:off x="9823399" y="4281678"/>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Hacia notificaciones</a:t>
            </a:r>
            <a:endParaRPr lang="en-US" sz="1100" dirty="0"/>
          </a:p>
        </p:txBody>
      </p:sp>
      <p:sp>
        <p:nvSpPr>
          <p:cNvPr id="62" name="[p2] Forma"/>
          <p:cNvSpPr/>
          <p:nvPr/>
        </p:nvSpPr>
        <p:spPr>
          <a:xfrm>
            <a:off x="9110167" y="4777740"/>
            <a:ext cx="2468880" cy="736092"/>
          </a:xfrm>
          <a:prstGeom prst="roundRect">
            <a:avLst>
              <a:gd name="adj" fmla="val 17391"/>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63" name="[p2] Forma"/>
          <p:cNvSpPr/>
          <p:nvPr/>
        </p:nvSpPr>
        <p:spPr>
          <a:xfrm>
            <a:off x="9238183" y="4908042"/>
            <a:ext cx="475488" cy="475488"/>
          </a:xfrm>
          <a:prstGeom prst="ellipse">
            <a:avLst/>
          </a:prstGeom>
          <a:solidFill>
            <a:srgbClr val="F4F7FB"/>
          </a:solidFill>
          <a:ln w="12700">
            <a:solidFill>
              <a:srgbClr val="F4F7FB"/>
            </a:solidFill>
            <a:prstDash val="solid"/>
          </a:ln>
        </p:spPr>
      </p:sp>
      <p:sp>
        <p:nvSpPr>
          <p:cNvPr id="64" name="[p2] Icono flask-conical"/>
          <p:cNvSpPr/>
          <p:nvPr/>
        </p:nvSpPr>
        <p:spPr>
          <a:xfrm>
            <a:off x="9352300" y="5022159"/>
            <a:ext cx="247254" cy="247254"/>
          </a:xfrm>
          <a:custGeom>
            <a:avLst/>
            <a:gdLst/>
            <a:ahLst/>
            <a:cxnLst/>
            <a:rect l="l" t="t" r="r" b="b"/>
            <a:pathLst>
              <a:path w="247254" h="247254">
                <a:moveTo>
                  <a:pt x="144231" y="20604"/>
                </a:moveTo>
                <a:lnTo>
                  <a:pt x="144231" y="82418"/>
                </a:lnTo>
                <a:cubicBezTo>
                  <a:pt x="144230" y="85874"/>
                  <a:pt x="145098" y="89275"/>
                  <a:pt x="146755" y="92308"/>
                </a:cubicBezTo>
                <a:lnTo>
                  <a:pt x="203521" y="196155"/>
                </a:lnTo>
                <a:cubicBezTo>
                  <a:pt x="207014" y="202539"/>
                  <a:pt x="206880" y="210293"/>
                  <a:pt x="203169" y="216553"/>
                </a:cubicBezTo>
                <a:cubicBezTo>
                  <a:pt x="199457" y="222813"/>
                  <a:pt x="192718" y="226651"/>
                  <a:pt x="185440" y="226649"/>
                </a:cubicBezTo>
                <a:lnTo>
                  <a:pt x="61813" y="226649"/>
                </a:lnTo>
                <a:cubicBezTo>
                  <a:pt x="54536" y="226651"/>
                  <a:pt x="47797" y="222813"/>
                  <a:pt x="44085" y="216553"/>
                </a:cubicBezTo>
                <a:cubicBezTo>
                  <a:pt x="40374" y="210293"/>
                  <a:pt x="40240" y="202539"/>
                  <a:pt x="43733" y="196155"/>
                </a:cubicBezTo>
                <a:lnTo>
                  <a:pt x="100498" y="92308"/>
                </a:lnTo>
                <a:cubicBezTo>
                  <a:pt x="102156" y="89275"/>
                  <a:pt x="103024" y="85874"/>
                  <a:pt x="103022" y="82418"/>
                </a:cubicBezTo>
                <a:lnTo>
                  <a:pt x="103022" y="20604"/>
                </a:lnTo>
                <a:moveTo>
                  <a:pt x="66480" y="154534"/>
                </a:moveTo>
                <a:lnTo>
                  <a:pt x="180773" y="154534"/>
                </a:lnTo>
                <a:moveTo>
                  <a:pt x="87569" y="20604"/>
                </a:moveTo>
                <a:lnTo>
                  <a:pt x="159685" y="20604"/>
                </a:lnTo>
              </a:path>
            </a:pathLst>
          </a:custGeom>
          <a:noFill/>
          <a:ln w="20604" cap="rnd">
            <a:solidFill>
              <a:srgbClr val="55627E"/>
            </a:solidFill>
            <a:prstDash val="solid"/>
            <a:round/>
          </a:ln>
        </p:spPr>
      </p:sp>
      <p:sp>
        <p:nvSpPr>
          <p:cNvPr id="65" name="[p2] Forma"/>
          <p:cNvSpPr/>
          <p:nvPr/>
        </p:nvSpPr>
        <p:spPr>
          <a:xfrm>
            <a:off x="9823399" y="4850892"/>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55627E"/>
                </a:solidFill>
                <a:latin typeface="Segoe UI Semibold" pitchFamily="34" charset="0"/>
                <a:ea typeface="Segoe UI Semibold" pitchFamily="34" charset="-122"/>
                <a:cs typeface="Segoe UI Semibold" pitchFamily="34" charset="-120"/>
              </a:rPr>
              <a:t>En memoria</a:t>
            </a:r>
            <a:endParaRPr lang="en-US" sz="1350" dirty="0"/>
          </a:p>
        </p:txBody>
      </p:sp>
      <p:sp>
        <p:nvSpPr>
          <p:cNvPr id="66" name="[p2] Forma"/>
          <p:cNvSpPr/>
          <p:nvPr/>
        </p:nvSpPr>
        <p:spPr>
          <a:xfrm>
            <a:off x="9823399" y="5164074"/>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Para las pruebas</a:t>
            </a:r>
            <a:endParaRPr lang="en-US" sz="1100" dirty="0"/>
          </a:p>
        </p:txBody>
      </p:sp>
      <p:sp>
        <p:nvSpPr>
          <p:cNvPr id="67" name="[p2] Forma"/>
          <p:cNvSpPr/>
          <p:nvPr/>
        </p:nvSpPr>
        <p:spPr>
          <a:xfrm flipH="1">
            <a:off x="8753551" y="2498598"/>
            <a:ext cx="301752" cy="418338"/>
          </a:xfrm>
          <a:prstGeom prst="line">
            <a:avLst/>
          </a:prstGeom>
          <a:noFill/>
          <a:ln w="19050">
            <a:solidFill>
              <a:srgbClr val="55627E"/>
            </a:solidFill>
            <a:prstDash val="dash"/>
            <a:tailEnd type="triangle"/>
          </a:ln>
        </p:spPr>
      </p:sp>
      <p:sp>
        <p:nvSpPr>
          <p:cNvPr id="68" name="[p2] Forma"/>
          <p:cNvSpPr/>
          <p:nvPr/>
        </p:nvSpPr>
        <p:spPr>
          <a:xfrm flipH="1">
            <a:off x="8753551" y="3380994"/>
            <a:ext cx="301752" cy="0"/>
          </a:xfrm>
          <a:prstGeom prst="line">
            <a:avLst/>
          </a:prstGeom>
          <a:noFill/>
          <a:ln w="19050">
            <a:solidFill>
              <a:srgbClr val="55627E"/>
            </a:solidFill>
            <a:prstDash val="dash"/>
            <a:tailEnd type="triangle"/>
          </a:ln>
        </p:spPr>
      </p:sp>
      <p:sp>
        <p:nvSpPr>
          <p:cNvPr id="69" name="[p2] Forma"/>
          <p:cNvSpPr/>
          <p:nvPr/>
        </p:nvSpPr>
        <p:spPr>
          <a:xfrm flipH="1">
            <a:off x="8753551" y="4263390"/>
            <a:ext cx="301752" cy="0"/>
          </a:xfrm>
          <a:prstGeom prst="line">
            <a:avLst/>
          </a:prstGeom>
          <a:noFill/>
          <a:ln w="19050">
            <a:solidFill>
              <a:srgbClr val="55627E"/>
            </a:solidFill>
            <a:prstDash val="dash"/>
            <a:tailEnd type="triangle"/>
          </a:ln>
        </p:spPr>
      </p:sp>
      <p:sp>
        <p:nvSpPr>
          <p:cNvPr id="70" name="[p2] Forma"/>
          <p:cNvSpPr/>
          <p:nvPr/>
        </p:nvSpPr>
        <p:spPr>
          <a:xfrm flipH="1" flipV="1">
            <a:off x="8753551" y="4727448"/>
            <a:ext cx="301752" cy="418338"/>
          </a:xfrm>
          <a:prstGeom prst="line">
            <a:avLst/>
          </a:prstGeom>
          <a:noFill/>
          <a:ln w="19050">
            <a:solidFill>
              <a:srgbClr val="55627E"/>
            </a:solidFill>
            <a:prstDash val="dash"/>
            <a:tailEnd type="triangle"/>
          </a:ln>
        </p:spPr>
      </p:sp>
      <p:sp>
        <p:nvSpPr>
          <p:cNvPr id="71" name="Text 6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childTnLst>
                          </p:cTn>
                        </p:par>
                      </p:childTnLst>
                    </p:cTn>
                  </p:par>
                  <p:par>
                    <p:cTn id="113" fill="hold">
                      <p:stCondLst>
                        <p:cond delay="indefinite"/>
                      </p:stCondLst>
                      <p:childTnLst>
                        <p:par>
                          <p:cTn id="114"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47"/>
                                        </p:tgtEl>
                                        <p:attrNameLst>
                                          <p:attrName>style.visibility</p:attrName>
                                        </p:attrNameLst>
                                      </p:cBhvr>
                                      <p:to>
                                        <p:strVal val="visible"/>
                                      </p:to>
                                    </p:set>
                                    <p:animEffect transition="in" filter="fade">
                                      <p:cBhvr>
                                        <p:cTn id="43" dur="400"/>
                                        <p:tgtEl>
                                          <p:spTgt spid="4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48"/>
                                        </p:tgtEl>
                                        <p:attrNameLst>
                                          <p:attrName>style.visibility</p:attrName>
                                        </p:attrNameLst>
                                      </p:cBhvr>
                                      <p:to>
                                        <p:strVal val="visible"/>
                                      </p:to>
                                    </p:set>
                                    <p:animEffect transition="in" filter="fade">
                                      <p:cBhvr>
                                        <p:cTn id="46" dur="400"/>
                                        <p:tgtEl>
                                          <p:spTgt spid="4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400"/>
                                        <p:tgtEl>
                                          <p:spTgt spid="4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50"/>
                                        </p:tgtEl>
                                        <p:attrNameLst>
                                          <p:attrName>style.visibility</p:attrName>
                                        </p:attrNameLst>
                                      </p:cBhvr>
                                      <p:to>
                                        <p:strVal val="visible"/>
                                      </p:to>
                                    </p:set>
                                    <p:animEffect transition="in" filter="fade">
                                      <p:cBhvr>
                                        <p:cTn id="52" dur="400"/>
                                        <p:tgtEl>
                                          <p:spTgt spid="5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51"/>
                                        </p:tgtEl>
                                        <p:attrNameLst>
                                          <p:attrName>style.visibility</p:attrName>
                                        </p:attrNameLst>
                                      </p:cBhvr>
                                      <p:to>
                                        <p:strVal val="visible"/>
                                      </p:to>
                                    </p:set>
                                    <p:animEffect transition="in" filter="fade">
                                      <p:cBhvr>
                                        <p:cTn id="55" dur="400"/>
                                        <p:tgtEl>
                                          <p:spTgt spid="5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400"/>
                                        <p:tgtEl>
                                          <p:spTgt spid="5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3"/>
                                        </p:tgtEl>
                                        <p:attrNameLst>
                                          <p:attrName>style.visibility</p:attrName>
                                        </p:attrNameLst>
                                      </p:cBhvr>
                                      <p:to>
                                        <p:strVal val="visible"/>
                                      </p:to>
                                    </p:set>
                                    <p:animEffect transition="in" filter="fade">
                                      <p:cBhvr>
                                        <p:cTn id="61" dur="400"/>
                                        <p:tgtEl>
                                          <p:spTgt spid="5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54"/>
                                        </p:tgtEl>
                                        <p:attrNameLst>
                                          <p:attrName>style.visibility</p:attrName>
                                        </p:attrNameLst>
                                      </p:cBhvr>
                                      <p:to>
                                        <p:strVal val="visible"/>
                                      </p:to>
                                    </p:set>
                                    <p:animEffect transition="in" filter="fade">
                                      <p:cBhvr>
                                        <p:cTn id="64" dur="400"/>
                                        <p:tgtEl>
                                          <p:spTgt spid="5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5"/>
                                        </p:tgtEl>
                                        <p:attrNameLst>
                                          <p:attrName>style.visibility</p:attrName>
                                        </p:attrNameLst>
                                      </p:cBhvr>
                                      <p:to>
                                        <p:strVal val="visible"/>
                                      </p:to>
                                    </p:set>
                                    <p:animEffect transition="in" filter="fade">
                                      <p:cBhvr>
                                        <p:cTn id="67" dur="400"/>
                                        <p:tgtEl>
                                          <p:spTgt spid="5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6"/>
                                        </p:tgtEl>
                                        <p:attrNameLst>
                                          <p:attrName>style.visibility</p:attrName>
                                        </p:attrNameLst>
                                      </p:cBhvr>
                                      <p:to>
                                        <p:strVal val="visible"/>
                                      </p:to>
                                    </p:set>
                                    <p:animEffect transition="in" filter="fade">
                                      <p:cBhvr>
                                        <p:cTn id="70" dur="400"/>
                                        <p:tgtEl>
                                          <p:spTgt spid="5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7"/>
                                        </p:tgtEl>
                                        <p:attrNameLst>
                                          <p:attrName>style.visibility</p:attrName>
                                        </p:attrNameLst>
                                      </p:cBhvr>
                                      <p:to>
                                        <p:strVal val="visible"/>
                                      </p:to>
                                    </p:set>
                                    <p:animEffect transition="in" filter="fade">
                                      <p:cBhvr>
                                        <p:cTn id="73" dur="400"/>
                                        <p:tgtEl>
                                          <p:spTgt spid="5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8"/>
                                        </p:tgtEl>
                                        <p:attrNameLst>
                                          <p:attrName>style.visibility</p:attrName>
                                        </p:attrNameLst>
                                      </p:cBhvr>
                                      <p:to>
                                        <p:strVal val="visible"/>
                                      </p:to>
                                    </p:set>
                                    <p:animEffect transition="in" filter="fade">
                                      <p:cBhvr>
                                        <p:cTn id="76" dur="400"/>
                                        <p:tgtEl>
                                          <p:spTgt spid="5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9"/>
                                        </p:tgtEl>
                                        <p:attrNameLst>
                                          <p:attrName>style.visibility</p:attrName>
                                        </p:attrNameLst>
                                      </p:cBhvr>
                                      <p:to>
                                        <p:strVal val="visible"/>
                                      </p:to>
                                    </p:set>
                                    <p:animEffect transition="in" filter="fade">
                                      <p:cBhvr>
                                        <p:cTn id="79" dur="400"/>
                                        <p:tgtEl>
                                          <p:spTgt spid="5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60"/>
                                        </p:tgtEl>
                                        <p:attrNameLst>
                                          <p:attrName>style.visibility</p:attrName>
                                        </p:attrNameLst>
                                      </p:cBhvr>
                                      <p:to>
                                        <p:strVal val="visible"/>
                                      </p:to>
                                    </p:set>
                                    <p:animEffect transition="in" filter="fade">
                                      <p:cBhvr>
                                        <p:cTn id="82" dur="400"/>
                                        <p:tgtEl>
                                          <p:spTgt spid="6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4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4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4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400"/>
                                        <p:tgtEl>
                                          <p:spTgt spid="6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5"/>
                                        </p:tgtEl>
                                        <p:attrNameLst>
                                          <p:attrName>style.visibility</p:attrName>
                                        </p:attrNameLst>
                                      </p:cBhvr>
                                      <p:to>
                                        <p:strVal val="visible"/>
                                      </p:to>
                                    </p:set>
                                    <p:animEffect transition="in" filter="fade">
                                      <p:cBhvr>
                                        <p:cTn id="97" dur="400"/>
                                        <p:tgtEl>
                                          <p:spTgt spid="65"/>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6"/>
                                        </p:tgtEl>
                                        <p:attrNameLst>
                                          <p:attrName>style.visibility</p:attrName>
                                        </p:attrNameLst>
                                      </p:cBhvr>
                                      <p:to>
                                        <p:strVal val="visible"/>
                                      </p:to>
                                    </p:set>
                                    <p:animEffect transition="in" filter="fade">
                                      <p:cBhvr>
                                        <p:cTn id="100" dur="400"/>
                                        <p:tgtEl>
                                          <p:spTgt spid="66"/>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7"/>
                                        </p:tgtEl>
                                        <p:attrNameLst>
                                          <p:attrName>style.visibility</p:attrName>
                                        </p:attrNameLst>
                                      </p:cBhvr>
                                      <p:to>
                                        <p:strVal val="visible"/>
                                      </p:to>
                                    </p:set>
                                    <p:animEffect transition="in" filter="fade">
                                      <p:cBhvr>
                                        <p:cTn id="103" dur="400"/>
                                        <p:tgtEl>
                                          <p:spTgt spid="67"/>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8"/>
                                        </p:tgtEl>
                                        <p:attrNameLst>
                                          <p:attrName>style.visibility</p:attrName>
                                        </p:attrNameLst>
                                      </p:cBhvr>
                                      <p:to>
                                        <p:strVal val="visible"/>
                                      </p:to>
                                    </p:set>
                                    <p:animEffect transition="in" filter="fade">
                                      <p:cBhvr>
                                        <p:cTn id="106" dur="400"/>
                                        <p:tgtEl>
                                          <p:spTgt spid="6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animEffect transition="in" filter="fade">
                                      <p:cBhvr>
                                        <p:cTn id="109" dur="400"/>
                                        <p:tgtEl>
                                          <p:spTgt spid="69"/>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cada servicio: hexagonal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servicio-solicitudes/…/config/ConfiguracionDominio.java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600" dirty="0">
                <a:solidFill>
                  <a:srgbClr val="FFB38A"/>
                </a:solidFill>
                <a:latin typeface="Consolas" pitchFamily="34" charset="0"/>
                <a:ea typeface="Consolas" pitchFamily="34" charset="-122"/>
                <a:cs typeface="Consolas" pitchFamily="34" charset="-120"/>
              </a:rPr>
              <a:t>@Bean</a:t>
            </a:r>
            <a:endParaRPr lang="en-US" sz="1600" dirty="0"/>
          </a:p>
          <a:p>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servicioDeSolicitudes(</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RepositorioDeSolicitudes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repositorio,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RepositorioJpa (@Primary)</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PublicadorDeEventos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publicador,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PublicadorConReintento (@Primary)</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RegistradorDeEventosSalientes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registrador) {</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(repositorio, publicador, registrador);</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endParaRPr lang="en-US" sz="16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¿Monolito o microservicios?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Separar se decide por el negocio, no por moda.</a:t>
            </a:r>
            <a:endParaRPr lang="en-US" sz="1700" dirty="0"/>
          </a:p>
        </p:txBody>
      </p:sp>
      <p:sp>
        <p:nvSpPr>
          <p:cNvPr id="13" name="Shape 11"/>
          <p:cNvSpPr/>
          <p:nvPr/>
        </p:nvSpPr>
        <p:spPr>
          <a:xfrm>
            <a:off x="612648" y="1719072"/>
            <a:ext cx="516316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5163160" cy="914400"/>
          </a:xfrm>
          <a:prstGeom prst="roundRect">
            <a:avLst>
              <a:gd name="adj" fmla="val 14000"/>
            </a:avLst>
          </a:prstGeom>
          <a:solidFill>
            <a:srgbClr val="55627E"/>
          </a:solidFill>
          <a:ln w="12700">
            <a:solidFill>
              <a:srgbClr val="55627E"/>
            </a:solidFill>
            <a:prstDash val="solid"/>
          </a:ln>
        </p:spPr>
      </p:sp>
      <p:sp>
        <p:nvSpPr>
          <p:cNvPr id="15" name="Shape 13"/>
          <p:cNvSpPr/>
          <p:nvPr/>
        </p:nvSpPr>
        <p:spPr>
          <a:xfrm>
            <a:off x="612648" y="2267712"/>
            <a:ext cx="5163160" cy="365760"/>
          </a:xfrm>
          <a:prstGeom prst="rect">
            <a:avLst/>
          </a:prstGeom>
          <a:solidFill>
            <a:srgbClr val="55627E"/>
          </a:solidFill>
          <a:ln w="12700">
            <a:solidFill>
              <a:srgbClr val="55627E"/>
            </a:solidFill>
            <a:prstDash val="solid"/>
          </a:ln>
        </p:spPr>
      </p:sp>
      <p:sp>
        <p:nvSpPr>
          <p:cNvPr id="16" name="Shape 14"/>
          <p:cNvSpPr/>
          <p:nvPr/>
        </p:nvSpPr>
        <p:spPr>
          <a:xfrm>
            <a:off x="841248" y="1874520"/>
            <a:ext cx="603504" cy="603504"/>
          </a:xfrm>
          <a:prstGeom prst="ellipse">
            <a:avLst/>
          </a:prstGeom>
          <a:solidFill>
            <a:srgbClr val="FFFFFF"/>
          </a:solidFill>
          <a:ln w="12700">
            <a:solidFill>
              <a:srgbClr val="FFFFFF"/>
            </a:solidFill>
            <a:prstDash val="solid"/>
          </a:ln>
        </p:spPr>
      </p:sp>
      <p:sp>
        <p:nvSpPr>
          <p:cNvPr id="17" name="Icono box"/>
          <p:cNvSpPr/>
          <p:nvPr/>
        </p:nvSpPr>
        <p:spPr>
          <a:xfrm>
            <a:off x="986089" y="2019361"/>
            <a:ext cx="313822" cy="313822"/>
          </a:xfrm>
          <a:custGeom>
            <a:avLst/>
            <a:gdLst/>
            <a:ahLst/>
            <a:cxnLst/>
            <a:rect l="l" t="t" r="r" b="b"/>
            <a:pathLst>
              <a:path w="313822" h="313822">
                <a:moveTo>
                  <a:pt x="274594" y="104607"/>
                </a:moveTo>
                <a:cubicBezTo>
                  <a:pt x="274585" y="95274"/>
                  <a:pt x="269602" y="86653"/>
                  <a:pt x="261518" y="81986"/>
                </a:cubicBezTo>
                <a:lnTo>
                  <a:pt x="169987" y="29682"/>
                </a:lnTo>
                <a:cubicBezTo>
                  <a:pt x="161896" y="25011"/>
                  <a:pt x="151927" y="25011"/>
                  <a:pt x="143835" y="29682"/>
                </a:cubicBezTo>
                <a:lnTo>
                  <a:pt x="52304" y="81986"/>
                </a:lnTo>
                <a:cubicBezTo>
                  <a:pt x="44221" y="86653"/>
                  <a:pt x="39237" y="95274"/>
                  <a:pt x="39228" y="104607"/>
                </a:cubicBezTo>
                <a:lnTo>
                  <a:pt x="39228" y="209215"/>
                </a:lnTo>
                <a:cubicBezTo>
                  <a:pt x="39237" y="218548"/>
                  <a:pt x="44221" y="227169"/>
                  <a:pt x="52304" y="231836"/>
                </a:cubicBezTo>
                <a:lnTo>
                  <a:pt x="143835" y="284140"/>
                </a:lnTo>
                <a:cubicBezTo>
                  <a:pt x="151927" y="288811"/>
                  <a:pt x="161896" y="288811"/>
                  <a:pt x="169987" y="284140"/>
                </a:cubicBezTo>
                <a:lnTo>
                  <a:pt x="261518" y="231836"/>
                </a:lnTo>
                <a:cubicBezTo>
                  <a:pt x="269602" y="227169"/>
                  <a:pt x="274585" y="218548"/>
                  <a:pt x="274594" y="209215"/>
                </a:cubicBezTo>
                <a:close/>
                <a:moveTo>
                  <a:pt x="43151" y="91531"/>
                </a:moveTo>
                <a:lnTo>
                  <a:pt x="156911" y="156911"/>
                </a:lnTo>
                <a:lnTo>
                  <a:pt x="270672" y="91531"/>
                </a:lnTo>
                <a:moveTo>
                  <a:pt x="156911" y="287670"/>
                </a:moveTo>
                <a:lnTo>
                  <a:pt x="156911" y="156911"/>
                </a:lnTo>
              </a:path>
            </a:pathLst>
          </a:custGeom>
          <a:noFill/>
          <a:ln w="26152" cap="rnd">
            <a:solidFill>
              <a:srgbClr val="55627E"/>
            </a:solidFill>
            <a:prstDash val="solid"/>
            <a:round/>
          </a:ln>
        </p:spPr>
      </p:sp>
      <p:sp>
        <p:nvSpPr>
          <p:cNvPr id="18" name="Text 16"/>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Conviene un monolito</a:t>
            </a:r>
            <a:endParaRPr lang="en-US" sz="1900" dirty="0"/>
          </a:p>
        </p:txBody>
      </p:sp>
      <p:sp>
        <p:nvSpPr>
          <p:cNvPr id="19"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0" name="Text 18"/>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Las partes cambian juntas</a:t>
            </a:r>
            <a:endParaRPr lang="en-US" sz="1500" dirty="0"/>
          </a:p>
        </p:txBody>
      </p:sp>
      <p:sp>
        <p:nvSpPr>
          <p:cNvPr id="21" name="Shape 19"/>
          <p:cNvSpPr/>
          <p:nvPr/>
        </p:nvSpPr>
        <p:spPr>
          <a:xfrm>
            <a:off x="886968" y="3593592"/>
            <a:ext cx="4614520" cy="0"/>
          </a:xfrm>
          <a:prstGeom prst="line">
            <a:avLst/>
          </a:prstGeom>
          <a:noFill/>
          <a:ln w="9525">
            <a:solidFill>
              <a:srgbClr val="DFE6F0"/>
            </a:solidFill>
            <a:prstDash val="solid"/>
          </a:ln>
        </p:spPr>
      </p:sp>
      <p:sp>
        <p:nvSpPr>
          <p:cNvPr id="22"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3" name="Text 21"/>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 publica todo junto</a:t>
            </a:r>
            <a:endParaRPr lang="en-US" sz="1500" dirty="0"/>
          </a:p>
        </p:txBody>
      </p:sp>
      <p:sp>
        <p:nvSpPr>
          <p:cNvPr id="24" name="Shape 22"/>
          <p:cNvSpPr/>
          <p:nvPr/>
        </p:nvSpPr>
        <p:spPr>
          <a:xfrm>
            <a:off x="886968" y="4370832"/>
            <a:ext cx="4614520" cy="0"/>
          </a:xfrm>
          <a:prstGeom prst="line">
            <a:avLst/>
          </a:prstGeom>
          <a:noFill/>
          <a:ln w="9525">
            <a:solidFill>
              <a:srgbClr val="DFE6F0"/>
            </a:solidFill>
            <a:prstDash val="solid"/>
          </a:ln>
        </p:spPr>
      </p:sp>
      <p:sp>
        <p:nvSpPr>
          <p:cNvPr id="25"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6" name="Text 24"/>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carga es pareja</a:t>
            </a:r>
            <a:endParaRPr lang="en-US" sz="1500" dirty="0"/>
          </a:p>
        </p:txBody>
      </p:sp>
      <p:sp>
        <p:nvSpPr>
          <p:cNvPr id="27" name="Shape 25"/>
          <p:cNvSpPr/>
          <p:nvPr/>
        </p:nvSpPr>
        <p:spPr>
          <a:xfrm>
            <a:off x="886968" y="5148072"/>
            <a:ext cx="4614520" cy="0"/>
          </a:xfrm>
          <a:prstGeom prst="line">
            <a:avLst/>
          </a:prstGeom>
          <a:noFill/>
          <a:ln w="9525">
            <a:solidFill>
              <a:srgbClr val="DFE6F0"/>
            </a:solidFill>
            <a:prstDash val="solid"/>
          </a:ln>
        </p:spPr>
      </p:sp>
      <p:sp>
        <p:nvSpPr>
          <p:cNvPr id="28" name="Icono arrow-right"/>
          <p:cNvSpPr/>
          <p:nvPr/>
        </p:nvSpPr>
        <p:spPr>
          <a:xfrm>
            <a:off x="905256" y="537210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9" name="Text 27"/>
          <p:cNvSpPr/>
          <p:nvPr/>
        </p:nvSpPr>
        <p:spPr>
          <a:xfrm>
            <a:off x="1399032" y="514807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 equipo pequeño lo mantiene</a:t>
            </a:r>
            <a:endParaRPr lang="en-US" sz="1500" dirty="0"/>
          </a:p>
        </p:txBody>
      </p:sp>
      <p:sp>
        <p:nvSpPr>
          <p:cNvPr id="30" name="[p1] Forma"/>
          <p:cNvSpPr/>
          <p:nvPr/>
        </p:nvSpPr>
        <p:spPr>
          <a:xfrm>
            <a:off x="6415888" y="1719072"/>
            <a:ext cx="516316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2"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3"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4" name="[p1] Icono boxes"/>
          <p:cNvSpPr/>
          <p:nvPr/>
        </p:nvSpPr>
        <p:spPr>
          <a:xfrm>
            <a:off x="6789329" y="2019361"/>
            <a:ext cx="313822" cy="313822"/>
          </a:xfrm>
          <a:custGeom>
            <a:avLst/>
            <a:gdLst/>
            <a:ahLst/>
            <a:cxnLst/>
            <a:rect l="l" t="t" r="r" b="b"/>
            <a:pathLst>
              <a:path w="313822" h="313822">
                <a:moveTo>
                  <a:pt x="38835" y="168941"/>
                </a:moveTo>
                <a:cubicBezTo>
                  <a:pt x="30983" y="173658"/>
                  <a:pt x="26172" y="182140"/>
                  <a:pt x="26152" y="191301"/>
                </a:cubicBezTo>
                <a:lnTo>
                  <a:pt x="26152" y="233667"/>
                </a:lnTo>
                <a:cubicBezTo>
                  <a:pt x="26172" y="242827"/>
                  <a:pt x="30983" y="251309"/>
                  <a:pt x="38835" y="256027"/>
                </a:cubicBezTo>
                <a:lnTo>
                  <a:pt x="78063" y="279563"/>
                </a:lnTo>
                <a:cubicBezTo>
                  <a:pt x="86352" y="284543"/>
                  <a:pt x="96711" y="284543"/>
                  <a:pt x="105000" y="279563"/>
                </a:cubicBezTo>
                <a:lnTo>
                  <a:pt x="156911" y="248442"/>
                </a:lnTo>
                <a:lnTo>
                  <a:pt x="156911" y="176525"/>
                </a:lnTo>
                <a:lnTo>
                  <a:pt x="91531" y="137297"/>
                </a:lnTo>
                <a:lnTo>
                  <a:pt x="38835" y="168941"/>
                </a:lnTo>
                <a:close/>
                <a:moveTo>
                  <a:pt x="91531" y="215753"/>
                </a:moveTo>
                <a:lnTo>
                  <a:pt x="29552" y="178486"/>
                </a:lnTo>
                <a:moveTo>
                  <a:pt x="91531" y="215753"/>
                </a:moveTo>
                <a:lnTo>
                  <a:pt x="156911" y="176525"/>
                </a:lnTo>
                <a:moveTo>
                  <a:pt x="91531" y="215753"/>
                </a:moveTo>
                <a:lnTo>
                  <a:pt x="91531" y="283355"/>
                </a:lnTo>
                <a:moveTo>
                  <a:pt x="156911" y="176525"/>
                </a:moveTo>
                <a:lnTo>
                  <a:pt x="156911" y="248442"/>
                </a:lnTo>
                <a:lnTo>
                  <a:pt x="208822" y="279563"/>
                </a:lnTo>
                <a:cubicBezTo>
                  <a:pt x="217111" y="284543"/>
                  <a:pt x="227470" y="284543"/>
                  <a:pt x="235759" y="279563"/>
                </a:cubicBezTo>
                <a:lnTo>
                  <a:pt x="274987" y="256027"/>
                </a:lnTo>
                <a:cubicBezTo>
                  <a:pt x="282839" y="251309"/>
                  <a:pt x="287650" y="242827"/>
                  <a:pt x="287670" y="233667"/>
                </a:cubicBezTo>
                <a:lnTo>
                  <a:pt x="287670" y="191301"/>
                </a:lnTo>
                <a:cubicBezTo>
                  <a:pt x="287650" y="182140"/>
                  <a:pt x="282839" y="173658"/>
                  <a:pt x="274987" y="168941"/>
                </a:cubicBezTo>
                <a:lnTo>
                  <a:pt x="222291" y="137297"/>
                </a:lnTo>
                <a:lnTo>
                  <a:pt x="156911" y="176525"/>
                </a:lnTo>
                <a:close/>
                <a:moveTo>
                  <a:pt x="222291" y="215753"/>
                </a:moveTo>
                <a:lnTo>
                  <a:pt x="156911" y="176525"/>
                </a:lnTo>
                <a:moveTo>
                  <a:pt x="222291" y="215753"/>
                </a:moveTo>
                <a:lnTo>
                  <a:pt x="284271" y="178486"/>
                </a:lnTo>
                <a:moveTo>
                  <a:pt x="222291" y="215753"/>
                </a:moveTo>
                <a:lnTo>
                  <a:pt x="222291" y="283355"/>
                </a:lnTo>
                <a:moveTo>
                  <a:pt x="104215" y="57796"/>
                </a:moveTo>
                <a:cubicBezTo>
                  <a:pt x="96363" y="62513"/>
                  <a:pt x="91552" y="70995"/>
                  <a:pt x="91531" y="80155"/>
                </a:cubicBezTo>
                <a:lnTo>
                  <a:pt x="91531" y="137297"/>
                </a:lnTo>
                <a:lnTo>
                  <a:pt x="156911" y="176525"/>
                </a:lnTo>
                <a:lnTo>
                  <a:pt x="222291" y="137297"/>
                </a:lnTo>
                <a:lnTo>
                  <a:pt x="222291" y="80155"/>
                </a:lnTo>
                <a:cubicBezTo>
                  <a:pt x="222271" y="70995"/>
                  <a:pt x="217459" y="62513"/>
                  <a:pt x="209607" y="57796"/>
                </a:cubicBezTo>
                <a:lnTo>
                  <a:pt x="170379" y="34259"/>
                </a:lnTo>
                <a:cubicBezTo>
                  <a:pt x="162091" y="29279"/>
                  <a:pt x="151731" y="29279"/>
                  <a:pt x="143443" y="34259"/>
                </a:cubicBezTo>
                <a:lnTo>
                  <a:pt x="104215" y="57796"/>
                </a:lnTo>
                <a:close/>
                <a:moveTo>
                  <a:pt x="156911" y="104607"/>
                </a:moveTo>
                <a:lnTo>
                  <a:pt x="94931" y="67341"/>
                </a:lnTo>
                <a:moveTo>
                  <a:pt x="156911" y="104607"/>
                </a:moveTo>
                <a:lnTo>
                  <a:pt x="218891" y="67341"/>
                </a:lnTo>
                <a:moveTo>
                  <a:pt x="156911" y="176525"/>
                </a:moveTo>
                <a:lnTo>
                  <a:pt x="156911" y="104607"/>
                </a:lnTo>
              </a:path>
            </a:pathLst>
          </a:custGeom>
          <a:noFill/>
          <a:ln w="26152" cap="rnd">
            <a:solidFill>
              <a:srgbClr val="0B6E8A"/>
            </a:solidFill>
            <a:prstDash val="solid"/>
            <a:round/>
          </a:ln>
        </p:spPr>
      </p:sp>
      <p:sp>
        <p:nvSpPr>
          <p:cNvPr id="35"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Conviene separar</a:t>
            </a:r>
            <a:endParaRPr lang="en-US" sz="1900" dirty="0"/>
          </a:p>
        </p:txBody>
      </p:sp>
      <p:sp>
        <p:nvSpPr>
          <p:cNvPr id="36"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7"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Responsabilidades claramente distintas</a:t>
            </a:r>
            <a:endParaRPr lang="en-US" sz="1500" dirty="0"/>
          </a:p>
        </p:txBody>
      </p:sp>
      <p:sp>
        <p:nvSpPr>
          <p:cNvPr id="38" name="[p1] Forma"/>
          <p:cNvSpPr/>
          <p:nvPr/>
        </p:nvSpPr>
        <p:spPr>
          <a:xfrm>
            <a:off x="6690208" y="3593592"/>
            <a:ext cx="4614520" cy="0"/>
          </a:xfrm>
          <a:prstGeom prst="line">
            <a:avLst/>
          </a:prstGeom>
          <a:noFill/>
          <a:ln w="9525">
            <a:solidFill>
              <a:srgbClr val="DFE6F0"/>
            </a:solidFill>
            <a:prstDash val="solid"/>
          </a:ln>
        </p:spPr>
      </p:sp>
      <p:sp>
        <p:nvSpPr>
          <p:cNvPr id="39"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0"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Una parte necesita salir sola</a:t>
            </a:r>
            <a:endParaRPr lang="en-US" sz="1500" dirty="0"/>
          </a:p>
        </p:txBody>
      </p:sp>
      <p:sp>
        <p:nvSpPr>
          <p:cNvPr id="41" name="[p1] Forma"/>
          <p:cNvSpPr/>
          <p:nvPr/>
        </p:nvSpPr>
        <p:spPr>
          <a:xfrm>
            <a:off x="6690208" y="4370832"/>
            <a:ext cx="4614520" cy="0"/>
          </a:xfrm>
          <a:prstGeom prst="line">
            <a:avLst/>
          </a:prstGeom>
          <a:noFill/>
          <a:ln w="9525">
            <a:solidFill>
              <a:srgbClr val="DFE6F0"/>
            </a:solidFill>
            <a:prstDash val="solid"/>
          </a:ln>
        </p:spPr>
      </p:sp>
      <p:sp>
        <p:nvSpPr>
          <p:cNvPr id="42"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3"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Una parte necesita más recursos</a:t>
            </a:r>
            <a:endParaRPr lang="en-US" sz="1500" dirty="0"/>
          </a:p>
        </p:txBody>
      </p:sp>
      <p:sp>
        <p:nvSpPr>
          <p:cNvPr id="44" name="[p1] Forma"/>
          <p:cNvSpPr/>
          <p:nvPr/>
        </p:nvSpPr>
        <p:spPr>
          <a:xfrm>
            <a:off x="6690208" y="5148072"/>
            <a:ext cx="4614520" cy="0"/>
          </a:xfrm>
          <a:prstGeom prst="line">
            <a:avLst/>
          </a:prstGeom>
          <a:noFill/>
          <a:ln w="9525">
            <a:solidFill>
              <a:srgbClr val="DFE6F0"/>
            </a:solidFill>
            <a:prstDash val="solid"/>
          </a:ln>
        </p:spPr>
      </p:sp>
      <p:sp>
        <p:nvSpPr>
          <p:cNvPr id="45" name="[p1] Icono circle-check"/>
          <p:cNvSpPr/>
          <p:nvPr/>
        </p:nvSpPr>
        <p:spPr>
          <a:xfrm>
            <a:off x="6708496" y="537210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6" name="[p1] Forma"/>
          <p:cNvSpPr/>
          <p:nvPr/>
        </p:nvSpPr>
        <p:spPr>
          <a:xfrm>
            <a:off x="7202272" y="514807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 equipo dueño de cada parte</a:t>
            </a:r>
            <a:endParaRPr lang="en-US" sz="1500" dirty="0"/>
          </a:p>
        </p:txBody>
      </p:sp>
      <p:sp>
        <p:nvSpPr>
          <p:cNvPr id="47" name="[p1] Forma"/>
          <p:cNvSpPr/>
          <p:nvPr/>
        </p:nvSpPr>
        <p:spPr>
          <a:xfrm>
            <a:off x="5766664" y="3707892"/>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0"/>
                                        </p:tgtEl>
                                        <p:attrNameLst>
                                          <p:attrName>style.visibility</p:attrName>
                                        </p:attrNameLst>
                                      </p:cBhvr>
                                      <p:to>
                                        <p:strVal val="visible"/>
                                      </p:to>
                                    </p:set>
                                    <p:animEffect transition="in" filter="fade">
                                      <p:cBhvr>
                                        <p:cTn id="5" dur="400"/>
                                        <p:tgtEl>
                                          <p:spTgt spid="3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1"/>
                                        </p:tgtEl>
                                        <p:attrNameLst>
                                          <p:attrName>style.visibility</p:attrName>
                                        </p:attrNameLst>
                                      </p:cBhvr>
                                      <p:to>
                                        <p:strVal val="visible"/>
                                      </p:to>
                                    </p:set>
                                    <p:animEffect transition="in" filter="fade">
                                      <p:cBhvr>
                                        <p:cTn id="8" dur="400"/>
                                        <p:tgtEl>
                                          <p:spTgt spid="3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400"/>
                                        <p:tgtEl>
                                          <p:spTgt spid="3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3"/>
                                        </p:tgtEl>
                                        <p:attrNameLst>
                                          <p:attrName>style.visibility</p:attrName>
                                        </p:attrNameLst>
                                      </p:cBhvr>
                                      <p:to>
                                        <p:strVal val="visible"/>
                                      </p:to>
                                    </p:set>
                                    <p:animEffect transition="in" filter="fade">
                                      <p:cBhvr>
                                        <p:cTn id="14" dur="400"/>
                                        <p:tgtEl>
                                          <p:spTgt spid="3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fade">
                                      <p:cBhvr>
                                        <p:cTn id="20" dur="400"/>
                                        <p:tgtEl>
                                          <p:spTgt spid="3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6"/>
                                        </p:tgtEl>
                                        <p:attrNameLst>
                                          <p:attrName>style.visibility</p:attrName>
                                        </p:attrNameLst>
                                      </p:cBhvr>
                                      <p:to>
                                        <p:strVal val="visible"/>
                                      </p:to>
                                    </p:set>
                                    <p:animEffect transition="in" filter="fade">
                                      <p:cBhvr>
                                        <p:cTn id="23" dur="400"/>
                                        <p:tgtEl>
                                          <p:spTgt spid="3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7"/>
                                        </p:tgtEl>
                                        <p:attrNameLst>
                                          <p:attrName>style.visibility</p:attrName>
                                        </p:attrNameLst>
                                      </p:cBhvr>
                                      <p:to>
                                        <p:strVal val="visible"/>
                                      </p:to>
                                    </p:set>
                                    <p:animEffect transition="in" filter="fade">
                                      <p:cBhvr>
                                        <p:cTn id="26" dur="400"/>
                                        <p:tgtEl>
                                          <p:spTgt spid="37"/>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8"/>
                                        </p:tgtEl>
                                        <p:attrNameLst>
                                          <p:attrName>style.visibility</p:attrName>
                                        </p:attrNameLst>
                                      </p:cBhvr>
                                      <p:to>
                                        <p:strVal val="visible"/>
                                      </p:to>
                                    </p:set>
                                    <p:animEffect transition="in" filter="fade">
                                      <p:cBhvr>
                                        <p:cTn id="29" dur="400"/>
                                        <p:tgtEl>
                                          <p:spTgt spid="3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animEffect transition="in" filter="fade">
                                      <p:cBhvr>
                                        <p:cTn id="35" dur="400"/>
                                        <p:tgtEl>
                                          <p:spTgt spid="4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1"/>
                                        </p:tgtEl>
                                        <p:attrNameLst>
                                          <p:attrName>style.visibility</p:attrName>
                                        </p:attrNameLst>
                                      </p:cBhvr>
                                      <p:to>
                                        <p:strVal val="visible"/>
                                      </p:to>
                                    </p:set>
                                    <p:animEffect transition="in" filter="fade">
                                      <p:cBhvr>
                                        <p:cTn id="38" dur="400"/>
                                        <p:tgtEl>
                                          <p:spTgt spid="4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2"/>
                                        </p:tgtEl>
                                        <p:attrNameLst>
                                          <p:attrName>style.visibility</p:attrName>
                                        </p:attrNameLst>
                                      </p:cBhvr>
                                      <p:to>
                                        <p:strVal val="visible"/>
                                      </p:to>
                                    </p:set>
                                    <p:animEffect transition="in" filter="fade">
                                      <p:cBhvr>
                                        <p:cTn id="41" dur="400"/>
                                        <p:tgtEl>
                                          <p:spTgt spid="4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3"/>
                                        </p:tgtEl>
                                        <p:attrNameLst>
                                          <p:attrName>style.visibility</p:attrName>
                                        </p:attrNameLst>
                                      </p:cBhvr>
                                      <p:to>
                                        <p:strVal val="visible"/>
                                      </p:to>
                                    </p:set>
                                    <p:animEffect transition="in" filter="fade">
                                      <p:cBhvr>
                                        <p:cTn id="44" dur="400"/>
                                        <p:tgtEl>
                                          <p:spTgt spid="4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4"/>
                                        </p:tgtEl>
                                        <p:attrNameLst>
                                          <p:attrName>style.visibility</p:attrName>
                                        </p:attrNameLst>
                                      </p:cBhvr>
                                      <p:to>
                                        <p:strVal val="visible"/>
                                      </p:to>
                                    </p:set>
                                    <p:animEffect transition="in" filter="fade">
                                      <p:cBhvr>
                                        <p:cTn id="47" dur="400"/>
                                        <p:tgtEl>
                                          <p:spTgt spid="4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5"/>
                                        </p:tgtEl>
                                        <p:attrNameLst>
                                          <p:attrName>style.visibility</p:attrName>
                                        </p:attrNameLst>
                                      </p:cBhvr>
                                      <p:to>
                                        <p:strVal val="visible"/>
                                      </p:to>
                                    </p:set>
                                    <p:animEffect transition="in" filter="fade">
                                      <p:cBhvr>
                                        <p:cTn id="50" dur="400"/>
                                        <p:tgtEl>
                                          <p:spTgt spid="4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6"/>
                                        </p:tgtEl>
                                        <p:attrNameLst>
                                          <p:attrName>style.visibility</p:attrName>
                                        </p:attrNameLst>
                                      </p:cBhvr>
                                      <p:to>
                                        <p:strVal val="visible"/>
                                      </p:to>
                                    </p:set>
                                    <p:animEffect transition="in" filter="fade">
                                      <p:cBhvr>
                                        <p:cTn id="53" dur="400"/>
                                        <p:tgtEl>
                                          <p:spTgt spid="4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7"/>
                                        </p:tgtEl>
                                        <p:attrNameLst>
                                          <p:attrName>style.visibility</p:attrName>
                                        </p:attrNameLst>
                                      </p:cBhvr>
                                      <p:to>
                                        <p:strVal val="visible"/>
                                      </p:to>
                                    </p:set>
                                    <p:animEffect transition="in" filter="fade">
                                      <p:cBhvr>
                                        <p:cTn id="5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¿Monolito o microservicios?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servicio-*/…/eventos/SolicitudEnviada.java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850" i="1" dirty="0">
                <a:solidFill>
                  <a:srgbClr val="8FA2BF"/>
                </a:solidFill>
                <a:latin typeface="Consolas" pitchFamily="34" charset="0"/>
                <a:ea typeface="Consolas" pitchFamily="34" charset="-122"/>
                <a:cs typeface="Consolas" pitchFamily="34" charset="-120"/>
              </a:rPr>
              <a:t>// Copiado en ambos servicios: es el contrato HTTP</a:t>
            </a:r>
            <a:endParaRPr lang="en-US" sz="1850" dirty="0"/>
          </a:p>
          <a:p>
            <a:pPr indent="0" marL="0">
              <a:lnSpc>
                <a:spcPct val="110000"/>
              </a:lnSpc>
              <a:buNone/>
            </a:pPr>
            <a:r>
              <a:rPr lang="en-US" sz="18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850" dirty="0">
                <a:solidFill>
                  <a:srgbClr val="7FD3EA"/>
                </a:solidFill>
                <a:latin typeface="Consolas" pitchFamily="34" charset="0"/>
                <a:ea typeface="Consolas" pitchFamily="34" charset="-122"/>
                <a:cs typeface="Consolas" pitchFamily="34" charset="-120"/>
              </a:rPr>
              <a:t>record</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SolicitudEnviada</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eventoId, </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id, </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tipo) {}</a:t>
            </a:r>
            <a:endParaRPr lang="en-US" sz="185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Arquitectura: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network"/>
          <p:cNvSpPr/>
          <p:nvPr/>
        </p:nvSpPr>
        <p:spPr>
          <a:xfrm>
            <a:off x="1058144" y="1817096"/>
            <a:ext cx="370881" cy="370881"/>
          </a:xfrm>
          <a:custGeom>
            <a:avLst/>
            <a:gdLst/>
            <a:ahLst/>
            <a:cxnLst/>
            <a:rect l="l" t="t" r="r" b="b"/>
            <a:pathLst>
              <a:path w="370881" h="370881">
                <a:moveTo>
                  <a:pt x="262707" y="247254"/>
                </a:moveTo>
                <a:lnTo>
                  <a:pt x="324521" y="247254"/>
                </a:lnTo>
                <a:cubicBezTo>
                  <a:pt x="333055" y="247254"/>
                  <a:pt x="339974" y="254172"/>
                  <a:pt x="339974" y="262707"/>
                </a:cubicBezTo>
                <a:lnTo>
                  <a:pt x="339974" y="324521"/>
                </a:lnTo>
                <a:cubicBezTo>
                  <a:pt x="339974" y="333055"/>
                  <a:pt x="333055" y="339974"/>
                  <a:pt x="324521" y="339974"/>
                </a:cubicBezTo>
                <a:lnTo>
                  <a:pt x="262707" y="339974"/>
                </a:lnTo>
                <a:cubicBezTo>
                  <a:pt x="254172" y="339974"/>
                  <a:pt x="247254" y="333055"/>
                  <a:pt x="247254" y="324521"/>
                </a:cubicBezTo>
                <a:lnTo>
                  <a:pt x="247254" y="262707"/>
                </a:lnTo>
                <a:cubicBezTo>
                  <a:pt x="247254" y="254172"/>
                  <a:pt x="254172" y="247254"/>
                  <a:pt x="262707" y="247254"/>
                </a:cubicBezTo>
                <a:close/>
                <a:moveTo>
                  <a:pt x="46360" y="247254"/>
                </a:moveTo>
                <a:lnTo>
                  <a:pt x="108174" y="247254"/>
                </a:lnTo>
                <a:cubicBezTo>
                  <a:pt x="116708" y="247254"/>
                  <a:pt x="123627" y="254172"/>
                  <a:pt x="123627" y="262707"/>
                </a:cubicBezTo>
                <a:lnTo>
                  <a:pt x="123627" y="324521"/>
                </a:lnTo>
                <a:cubicBezTo>
                  <a:pt x="123627" y="333055"/>
                  <a:pt x="116708" y="339974"/>
                  <a:pt x="108174" y="339974"/>
                </a:cubicBezTo>
                <a:lnTo>
                  <a:pt x="46360" y="339974"/>
                </a:lnTo>
                <a:cubicBezTo>
                  <a:pt x="37825" y="339974"/>
                  <a:pt x="30907" y="333055"/>
                  <a:pt x="30907" y="324521"/>
                </a:cubicBezTo>
                <a:lnTo>
                  <a:pt x="30907" y="262707"/>
                </a:lnTo>
                <a:cubicBezTo>
                  <a:pt x="30907" y="254172"/>
                  <a:pt x="37825" y="247254"/>
                  <a:pt x="46360" y="247254"/>
                </a:cubicBezTo>
                <a:close/>
                <a:moveTo>
                  <a:pt x="154534" y="30907"/>
                </a:moveTo>
                <a:lnTo>
                  <a:pt x="216347" y="30907"/>
                </a:lnTo>
                <a:cubicBezTo>
                  <a:pt x="224882" y="30907"/>
                  <a:pt x="231800" y="37825"/>
                  <a:pt x="231800" y="46360"/>
                </a:cubicBezTo>
                <a:lnTo>
                  <a:pt x="231800" y="108174"/>
                </a:lnTo>
                <a:cubicBezTo>
                  <a:pt x="231800" y="116708"/>
                  <a:pt x="224882" y="123627"/>
                  <a:pt x="216347" y="123627"/>
                </a:cubicBezTo>
                <a:lnTo>
                  <a:pt x="154534" y="123627"/>
                </a:lnTo>
                <a:cubicBezTo>
                  <a:pt x="145999" y="123627"/>
                  <a:pt x="139080" y="116708"/>
                  <a:pt x="139080" y="108174"/>
                </a:cubicBezTo>
                <a:lnTo>
                  <a:pt x="139080" y="46360"/>
                </a:lnTo>
                <a:cubicBezTo>
                  <a:pt x="139080" y="37825"/>
                  <a:pt x="145999" y="30907"/>
                  <a:pt x="154534" y="30907"/>
                </a:cubicBezTo>
                <a:close/>
                <a:moveTo>
                  <a:pt x="77267" y="247254"/>
                </a:moveTo>
                <a:lnTo>
                  <a:pt x="77267" y="200894"/>
                </a:lnTo>
                <a:cubicBezTo>
                  <a:pt x="77267" y="192359"/>
                  <a:pt x="84186" y="185440"/>
                  <a:pt x="92720" y="185440"/>
                </a:cubicBezTo>
                <a:lnTo>
                  <a:pt x="278160" y="185440"/>
                </a:lnTo>
                <a:cubicBezTo>
                  <a:pt x="286695" y="185440"/>
                  <a:pt x="293614" y="192359"/>
                  <a:pt x="293614" y="200894"/>
                </a:cubicBezTo>
                <a:lnTo>
                  <a:pt x="293614" y="247254"/>
                </a:lnTo>
                <a:moveTo>
                  <a:pt x="185440" y="185440"/>
                </a:moveTo>
                <a:lnTo>
                  <a:pt x="185440" y="123627"/>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2</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servicios, cada uno con su base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compartidas entre servicios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database"/>
          <p:cNvSpPr/>
          <p:nvPr/>
        </p:nvSpPr>
        <p:spPr>
          <a:xfrm>
            <a:off x="4258544" y="1740515"/>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Cada servicio, dueño de sus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Nadie lee ni escribe en la base del otro.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Cada uno cambia sin romper al otro.</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send"/>
          <p:cNvSpPr/>
          <p:nvPr/>
        </p:nvSpPr>
        <p:spPr>
          <a:xfrm>
            <a:off x="4258544" y="303210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Entre servicios viajan datos</a:t>
            </a:r>
            <a:endParaRPr lang="en-US" sz="155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evento pequeño con su número: SolicitudEnviada.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acuerdo claro y fácil de revisar.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hexagon"/>
          <p:cNvSpPr/>
          <p:nvPr/>
        </p:nvSpPr>
        <p:spPr>
          <a:xfrm>
            <a:off x="4258544" y="4323695"/>
            <a:ext cx="370881" cy="370881"/>
          </a:xfrm>
          <a:custGeom>
            <a:avLst/>
            <a:gdLst/>
            <a:ahLst/>
            <a:cxnLst/>
            <a:rect l="l" t="t" r="r" b="b"/>
            <a:pathLst>
              <a:path w="370881" h="370881">
                <a:moveTo>
                  <a:pt x="324521" y="247254"/>
                </a:move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lnTo>
                  <a:pt x="169987" y="335802"/>
                </a:lnTo>
                <a:cubicBezTo>
                  <a:pt x="179550" y="341322"/>
                  <a:pt x="191331" y="341322"/>
                  <a:pt x="200894" y="335802"/>
                </a:cubicBezTo>
                <a:lnTo>
                  <a:pt x="309067" y="273988"/>
                </a:lnTo>
                <a:cubicBezTo>
                  <a:pt x="318620" y="268473"/>
                  <a:pt x="324509" y="258284"/>
                  <a:pt x="324521" y="247254"/>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Hexagonal ordena por dentro</a:t>
            </a:r>
            <a:endParaRPr lang="en-US" sz="16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No cambia el despliegue: un contenedor por servicio.</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la base o la web sin tocar las reglas.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cale"/>
          <p:cNvSpPr/>
          <p:nvPr/>
        </p:nvSpPr>
        <p:spPr>
          <a:xfrm>
            <a:off x="4258544" y="5615285"/>
            <a:ext cx="370881" cy="370881"/>
          </a:xfrm>
          <a:custGeom>
            <a:avLst/>
            <a:gdLst/>
            <a:ahLst/>
            <a:cxnLst/>
            <a:rect l="l" t="t" r="r" b="b"/>
            <a:pathLst>
              <a:path w="370881" h="370881">
                <a:moveTo>
                  <a:pt x="247254" y="247254"/>
                </a:moveTo>
                <a:lnTo>
                  <a:pt x="293614" y="123627"/>
                </a:lnTo>
                <a:lnTo>
                  <a:pt x="339974" y="247254"/>
                </a:lnTo>
                <a:cubicBezTo>
                  <a:pt x="326529" y="257298"/>
                  <a:pt x="310303" y="262707"/>
                  <a:pt x="293614" y="262707"/>
                </a:cubicBezTo>
                <a:cubicBezTo>
                  <a:pt x="276924" y="262707"/>
                  <a:pt x="260698" y="257298"/>
                  <a:pt x="247254" y="247254"/>
                </a:cubicBezTo>
                <a:close/>
                <a:moveTo>
                  <a:pt x="30907" y="247254"/>
                </a:moveTo>
                <a:lnTo>
                  <a:pt x="77267" y="123627"/>
                </a:lnTo>
                <a:lnTo>
                  <a:pt x="123627" y="247254"/>
                </a:lnTo>
                <a:cubicBezTo>
                  <a:pt x="110182" y="257298"/>
                  <a:pt x="93956" y="262707"/>
                  <a:pt x="77267" y="262707"/>
                </a:cubicBezTo>
                <a:cubicBezTo>
                  <a:pt x="60577" y="262707"/>
                  <a:pt x="44351" y="257298"/>
                  <a:pt x="30907" y="247254"/>
                </a:cubicBezTo>
                <a:close/>
                <a:moveTo>
                  <a:pt x="108174" y="324521"/>
                </a:moveTo>
                <a:lnTo>
                  <a:pt x="262707" y="324521"/>
                </a:lnTo>
                <a:moveTo>
                  <a:pt x="185440" y="46360"/>
                </a:moveTo>
                <a:lnTo>
                  <a:pt x="185440" y="324521"/>
                </a:lnTo>
                <a:moveTo>
                  <a:pt x="46360" y="108174"/>
                </a:moveTo>
                <a:lnTo>
                  <a:pt x="77267" y="108174"/>
                </a:lnTo>
                <a:cubicBezTo>
                  <a:pt x="108174" y="108174"/>
                  <a:pt x="154534" y="92720"/>
                  <a:pt x="185440" y="77267"/>
                </a:cubicBezTo>
                <a:cubicBezTo>
                  <a:pt x="216347" y="92720"/>
                  <a:pt x="262707" y="108174"/>
                  <a:pt x="293614" y="108174"/>
                </a:cubicBezTo>
                <a:lnTo>
                  <a:pt x="324521" y="108174"/>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Separar tiene un costo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Más red, dos bases y fallas parciales.</a:t>
            </a:r>
            <a:endParaRPr lang="en-US" sz="12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Separar solo cuando el negocio lo pide.</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Dos bases, una por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microservicio tiene su propia base, y las dos corren en PostgreSQL.</a:t>
            </a:r>
            <a:endParaRPr lang="en-US" sz="1700" dirty="0"/>
          </a:p>
        </p:txBody>
      </p:sp>
      <p:sp>
        <p:nvSpPr>
          <p:cNvPr id="13" name="Shape 11"/>
          <p:cNvSpPr/>
          <p:nvPr/>
        </p:nvSpPr>
        <p:spPr>
          <a:xfrm>
            <a:off x="612648"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740664" y="2482596"/>
            <a:ext cx="2320976" cy="64008"/>
          </a:xfrm>
          <a:prstGeom prst="rect">
            <a:avLst/>
          </a:prstGeom>
          <a:solidFill>
            <a:srgbClr val="0B2350"/>
          </a:solidFill>
          <a:ln w="12700">
            <a:solidFill>
              <a:srgbClr val="0B2350"/>
            </a:solidFill>
            <a:prstDash val="solid"/>
          </a:ln>
        </p:spPr>
      </p:sp>
      <p:sp>
        <p:nvSpPr>
          <p:cNvPr id="15" name="Shape 13"/>
          <p:cNvSpPr/>
          <p:nvPr/>
        </p:nvSpPr>
        <p:spPr>
          <a:xfrm>
            <a:off x="2403272" y="2720340"/>
            <a:ext cx="566928" cy="566928"/>
          </a:xfrm>
          <a:prstGeom prst="ellipse">
            <a:avLst/>
          </a:prstGeom>
          <a:solidFill>
            <a:srgbClr val="E8EEF8"/>
          </a:solidFill>
          <a:ln w="12700">
            <a:solidFill>
              <a:srgbClr val="E8EEF8"/>
            </a:solidFill>
            <a:prstDash val="solid"/>
          </a:ln>
        </p:spPr>
      </p:sp>
      <p:sp>
        <p:nvSpPr>
          <p:cNvPr id="16" name="Icono database"/>
          <p:cNvSpPr/>
          <p:nvPr/>
        </p:nvSpPr>
        <p:spPr>
          <a:xfrm>
            <a:off x="2539335" y="2856403"/>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0B2350"/>
            </a:solidFill>
            <a:prstDash val="solid"/>
            <a:round/>
          </a:ln>
        </p:spPr>
      </p:sp>
      <p:sp>
        <p:nvSpPr>
          <p:cNvPr id="17" name="Text 15"/>
          <p:cNvSpPr/>
          <p:nvPr/>
        </p:nvSpPr>
        <p:spPr>
          <a:xfrm>
            <a:off x="868680"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2350"/>
                </a:solidFill>
                <a:latin typeface="Segoe UI Semibold" pitchFamily="34" charset="0"/>
                <a:ea typeface="Segoe UI Semibold" pitchFamily="34" charset="-122"/>
                <a:cs typeface="Segoe UI Semibold" pitchFamily="34" charset="-120"/>
              </a:rPr>
              <a:t>2</a:t>
            </a:r>
            <a:endParaRPr lang="en-US" sz="5600" dirty="0"/>
          </a:p>
        </p:txBody>
      </p:sp>
      <p:sp>
        <p:nvSpPr>
          <p:cNvPr id="18" name="Text 16"/>
          <p:cNvSpPr/>
          <p:nvPr/>
        </p:nvSpPr>
        <p:spPr>
          <a:xfrm>
            <a:off x="868680"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bases de datos</a:t>
            </a:r>
            <a:endParaRPr lang="en-US" sz="1800" dirty="0"/>
          </a:p>
        </p:txBody>
      </p:sp>
      <p:sp>
        <p:nvSpPr>
          <p:cNvPr id="19" name="Text 17"/>
          <p:cNvSpPr/>
          <p:nvPr/>
        </p:nvSpPr>
        <p:spPr>
          <a:xfrm>
            <a:off x="868680"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db-solicitudes y db-notificaciones: una por servicio.</a:t>
            </a:r>
            <a:endParaRPr lang="en-US" sz="1500" dirty="0"/>
          </a:p>
        </p:txBody>
      </p:sp>
      <p:sp>
        <p:nvSpPr>
          <p:cNvPr id="20" name="[p1] Forma"/>
          <p:cNvSpPr/>
          <p:nvPr/>
        </p:nvSpPr>
        <p:spPr>
          <a:xfrm>
            <a:off x="3409112"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3537128" y="2482596"/>
            <a:ext cx="2320976" cy="64008"/>
          </a:xfrm>
          <a:prstGeom prst="rect">
            <a:avLst/>
          </a:prstGeom>
          <a:solidFill>
            <a:srgbClr val="0B6E8A"/>
          </a:solidFill>
          <a:ln w="12700">
            <a:solidFill>
              <a:srgbClr val="0B6E8A"/>
            </a:solidFill>
            <a:prstDash val="solid"/>
          </a:ln>
        </p:spPr>
      </p:sp>
      <p:sp>
        <p:nvSpPr>
          <p:cNvPr id="22" name="[p1] Forma"/>
          <p:cNvSpPr/>
          <p:nvPr/>
        </p:nvSpPr>
        <p:spPr>
          <a:xfrm>
            <a:off x="5199736" y="2720340"/>
            <a:ext cx="566928" cy="566928"/>
          </a:xfrm>
          <a:prstGeom prst="ellipse">
            <a:avLst/>
          </a:prstGeom>
          <a:solidFill>
            <a:srgbClr val="E3F4FA"/>
          </a:solidFill>
          <a:ln w="12700">
            <a:solidFill>
              <a:srgbClr val="E3F4FA"/>
            </a:solidFill>
            <a:prstDash val="solid"/>
          </a:ln>
        </p:spPr>
      </p:sp>
      <p:sp>
        <p:nvSpPr>
          <p:cNvPr id="23" name="[p1] Icono server"/>
          <p:cNvSpPr/>
          <p:nvPr/>
        </p:nvSpPr>
        <p:spPr>
          <a:xfrm>
            <a:off x="5335798" y="2856403"/>
            <a:ext cx="294803" cy="294803"/>
          </a:xfrm>
          <a:custGeom>
            <a:avLst/>
            <a:gdLst/>
            <a:ahLst/>
            <a:cxnLst/>
            <a:rect l="l" t="t" r="r" b="b"/>
            <a:pathLst>
              <a:path w="294803" h="294803">
                <a:moveTo>
                  <a:pt x="49134" y="24567"/>
                </a:moveTo>
                <a:lnTo>
                  <a:pt x="245669" y="24567"/>
                </a:lnTo>
                <a:cubicBezTo>
                  <a:pt x="259237" y="24567"/>
                  <a:pt x="270236" y="35566"/>
                  <a:pt x="270236" y="49134"/>
                </a:cubicBezTo>
                <a:lnTo>
                  <a:pt x="270236" y="98268"/>
                </a:lnTo>
                <a:cubicBezTo>
                  <a:pt x="270236" y="111835"/>
                  <a:pt x="259237" y="122834"/>
                  <a:pt x="245669" y="122834"/>
                </a:cubicBezTo>
                <a:lnTo>
                  <a:pt x="49134" y="122834"/>
                </a:lnTo>
                <a:cubicBezTo>
                  <a:pt x="35566" y="122834"/>
                  <a:pt x="24567" y="111835"/>
                  <a:pt x="24567" y="98268"/>
                </a:cubicBezTo>
                <a:lnTo>
                  <a:pt x="24567" y="49134"/>
                </a:lnTo>
                <a:cubicBezTo>
                  <a:pt x="24567" y="35566"/>
                  <a:pt x="35566" y="24567"/>
                  <a:pt x="49134" y="24567"/>
                </a:cubicBezTo>
                <a:close/>
                <a:moveTo>
                  <a:pt x="49134" y="171968"/>
                </a:moveTo>
                <a:lnTo>
                  <a:pt x="245669" y="171968"/>
                </a:lnTo>
                <a:cubicBezTo>
                  <a:pt x="259237" y="171968"/>
                  <a:pt x="270236" y="182967"/>
                  <a:pt x="270236" y="196535"/>
                </a:cubicBezTo>
                <a:lnTo>
                  <a:pt x="270236" y="245669"/>
                </a:lnTo>
                <a:cubicBezTo>
                  <a:pt x="270236" y="259237"/>
                  <a:pt x="259237" y="270236"/>
                  <a:pt x="245669" y="270236"/>
                </a:cubicBezTo>
                <a:lnTo>
                  <a:pt x="49134" y="270236"/>
                </a:lnTo>
                <a:cubicBezTo>
                  <a:pt x="35566" y="270236"/>
                  <a:pt x="24567" y="259237"/>
                  <a:pt x="24567" y="245669"/>
                </a:cubicBezTo>
                <a:lnTo>
                  <a:pt x="24567" y="196535"/>
                </a:lnTo>
                <a:cubicBezTo>
                  <a:pt x="24567" y="182967"/>
                  <a:pt x="35566" y="171968"/>
                  <a:pt x="49134" y="171968"/>
                </a:cubicBezTo>
                <a:close/>
                <a:moveTo>
                  <a:pt x="73701" y="73701"/>
                </a:moveTo>
                <a:lnTo>
                  <a:pt x="73823" y="73701"/>
                </a:lnTo>
                <a:moveTo>
                  <a:pt x="73701" y="221102"/>
                </a:moveTo>
                <a:lnTo>
                  <a:pt x="73823" y="221102"/>
                </a:lnTo>
              </a:path>
            </a:pathLst>
          </a:custGeom>
          <a:noFill/>
          <a:ln w="24567" cap="rnd">
            <a:solidFill>
              <a:srgbClr val="0B6E8A"/>
            </a:solidFill>
            <a:prstDash val="solid"/>
            <a:round/>
          </a:ln>
        </p:spPr>
      </p:sp>
      <p:sp>
        <p:nvSpPr>
          <p:cNvPr id="24" name="[p1] Forma"/>
          <p:cNvSpPr/>
          <p:nvPr/>
        </p:nvSpPr>
        <p:spPr>
          <a:xfrm>
            <a:off x="3665144"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6E8A"/>
                </a:solidFill>
                <a:latin typeface="Segoe UI Semibold" pitchFamily="34" charset="0"/>
                <a:ea typeface="Segoe UI Semibold" pitchFamily="34" charset="-122"/>
                <a:cs typeface="Segoe UI Semibold" pitchFamily="34" charset="-120"/>
              </a:rPr>
              <a:t>17</a:t>
            </a:r>
            <a:endParaRPr lang="en-US" sz="5600" dirty="0"/>
          </a:p>
        </p:txBody>
      </p:sp>
      <p:sp>
        <p:nvSpPr>
          <p:cNvPr id="25" name="[p1] Forma"/>
          <p:cNvSpPr/>
          <p:nvPr/>
        </p:nvSpPr>
        <p:spPr>
          <a:xfrm>
            <a:off x="3665144"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26" name="[p1] Forma"/>
          <p:cNvSpPr/>
          <p:nvPr/>
        </p:nvSpPr>
        <p:spPr>
          <a:xfrm>
            <a:off x="3665144"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El mismo motor y la misma versión en las dos.</a:t>
            </a:r>
            <a:endParaRPr lang="en-US" sz="1500" dirty="0"/>
          </a:p>
        </p:txBody>
      </p:sp>
      <p:sp>
        <p:nvSpPr>
          <p:cNvPr id="27" name="[p2] Forma"/>
          <p:cNvSpPr/>
          <p:nvPr/>
        </p:nvSpPr>
        <p:spPr>
          <a:xfrm>
            <a:off x="6205576"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8" name="[p2] Forma"/>
          <p:cNvSpPr/>
          <p:nvPr/>
        </p:nvSpPr>
        <p:spPr>
          <a:xfrm>
            <a:off x="6333592" y="2482596"/>
            <a:ext cx="2320976" cy="64008"/>
          </a:xfrm>
          <a:prstGeom prst="rect">
            <a:avLst/>
          </a:prstGeom>
          <a:solidFill>
            <a:srgbClr val="AB243E"/>
          </a:solidFill>
          <a:ln w="12700">
            <a:solidFill>
              <a:srgbClr val="AB243E"/>
            </a:solidFill>
            <a:prstDash val="solid"/>
          </a:ln>
        </p:spPr>
      </p:sp>
      <p:sp>
        <p:nvSpPr>
          <p:cNvPr id="29" name="[p2] Forma"/>
          <p:cNvSpPr/>
          <p:nvPr/>
        </p:nvSpPr>
        <p:spPr>
          <a:xfrm>
            <a:off x="7996199" y="2720340"/>
            <a:ext cx="566928" cy="566928"/>
          </a:xfrm>
          <a:prstGeom prst="ellipse">
            <a:avLst/>
          </a:prstGeom>
          <a:solidFill>
            <a:srgbClr val="F7E3E7"/>
          </a:solidFill>
          <a:ln w="12700">
            <a:solidFill>
              <a:srgbClr val="F7E3E7"/>
            </a:solidFill>
            <a:prstDash val="solid"/>
          </a:ln>
        </p:spPr>
      </p:sp>
      <p:sp>
        <p:nvSpPr>
          <p:cNvPr id="30" name="[p2] Icono ban"/>
          <p:cNvSpPr/>
          <p:nvPr/>
        </p:nvSpPr>
        <p:spPr>
          <a:xfrm>
            <a:off x="8132262" y="2856403"/>
            <a:ext cx="294803" cy="294803"/>
          </a:xfrm>
          <a:custGeom>
            <a:avLst/>
            <a:gdLst/>
            <a:ahLst/>
            <a:cxnLst/>
            <a:rect l="l" t="t" r="r" b="b"/>
            <a:pathLst>
              <a:path w="294803" h="294803">
                <a:moveTo>
                  <a:pt x="270236" y="147401"/>
                </a:moveTo>
                <a:cubicBezTo>
                  <a:pt x="270236" y="215241"/>
                  <a:pt x="215241" y="270236"/>
                  <a:pt x="147401" y="270236"/>
                </a:cubicBezTo>
                <a:cubicBezTo>
                  <a:pt x="79562" y="270236"/>
                  <a:pt x="24567" y="215241"/>
                  <a:pt x="24567" y="147401"/>
                </a:cubicBezTo>
                <a:cubicBezTo>
                  <a:pt x="24567" y="79562"/>
                  <a:pt x="79562" y="24567"/>
                  <a:pt x="147401" y="24567"/>
                </a:cubicBezTo>
                <a:cubicBezTo>
                  <a:pt x="215241" y="24567"/>
                  <a:pt x="270236" y="79562"/>
                  <a:pt x="270236" y="147401"/>
                </a:cubicBezTo>
                <a:close/>
                <a:moveTo>
                  <a:pt x="60189" y="60189"/>
                </a:moveTo>
                <a:lnTo>
                  <a:pt x="234614" y="234614"/>
                </a:lnTo>
              </a:path>
            </a:pathLst>
          </a:custGeom>
          <a:noFill/>
          <a:ln w="24567" cap="rnd">
            <a:solidFill>
              <a:srgbClr val="AB243E"/>
            </a:solidFill>
            <a:prstDash val="solid"/>
            <a:round/>
          </a:ln>
        </p:spPr>
      </p:sp>
      <p:sp>
        <p:nvSpPr>
          <p:cNvPr id="31" name="[p2] Forma"/>
          <p:cNvSpPr/>
          <p:nvPr/>
        </p:nvSpPr>
        <p:spPr>
          <a:xfrm>
            <a:off x="6461608"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AB243E"/>
                </a:solidFill>
                <a:latin typeface="Segoe UI Semibold" pitchFamily="34" charset="0"/>
                <a:ea typeface="Segoe UI Semibold" pitchFamily="34" charset="-122"/>
                <a:cs typeface="Segoe UI Semibold" pitchFamily="34" charset="-120"/>
              </a:rPr>
              <a:t>0</a:t>
            </a:r>
            <a:endParaRPr lang="en-US" sz="5600" dirty="0"/>
          </a:p>
        </p:txBody>
      </p:sp>
      <p:sp>
        <p:nvSpPr>
          <p:cNvPr id="32" name="[p2] Forma"/>
          <p:cNvSpPr/>
          <p:nvPr/>
        </p:nvSpPr>
        <p:spPr>
          <a:xfrm>
            <a:off x="6461608"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JOIN entre bases</a:t>
            </a:r>
            <a:endParaRPr lang="en-US" sz="1800" dirty="0"/>
          </a:p>
        </p:txBody>
      </p:sp>
      <p:sp>
        <p:nvSpPr>
          <p:cNvPr id="33" name="[p2] Forma"/>
          <p:cNvSpPr/>
          <p:nvPr/>
        </p:nvSpPr>
        <p:spPr>
          <a:xfrm>
            <a:off x="6461608"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Ni consultas ni llaves foráneas que crucen de una a otra.</a:t>
            </a:r>
            <a:endParaRPr lang="en-US" sz="1500" dirty="0"/>
          </a:p>
        </p:txBody>
      </p:sp>
      <p:sp>
        <p:nvSpPr>
          <p:cNvPr id="34" name="[p3] Forma"/>
          <p:cNvSpPr/>
          <p:nvPr/>
        </p:nvSpPr>
        <p:spPr>
          <a:xfrm>
            <a:off x="9002039"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3] Forma"/>
          <p:cNvSpPr/>
          <p:nvPr/>
        </p:nvSpPr>
        <p:spPr>
          <a:xfrm>
            <a:off x="9130055" y="2482596"/>
            <a:ext cx="2320976" cy="64008"/>
          </a:xfrm>
          <a:prstGeom prst="rect">
            <a:avLst/>
          </a:prstGeom>
          <a:solidFill>
            <a:srgbClr val="0A6648"/>
          </a:solidFill>
          <a:ln w="12700">
            <a:solidFill>
              <a:srgbClr val="0A6648"/>
            </a:solidFill>
            <a:prstDash val="solid"/>
          </a:ln>
        </p:spPr>
      </p:sp>
      <p:sp>
        <p:nvSpPr>
          <p:cNvPr id="36" name="[p3] Forma"/>
          <p:cNvSpPr/>
          <p:nvPr/>
        </p:nvSpPr>
        <p:spPr>
          <a:xfrm>
            <a:off x="10792663" y="2720340"/>
            <a:ext cx="566928" cy="566928"/>
          </a:xfrm>
          <a:prstGeom prst="ellipse">
            <a:avLst/>
          </a:prstGeom>
          <a:solidFill>
            <a:srgbClr val="E1F1EA"/>
          </a:solidFill>
          <a:ln w="12700">
            <a:solidFill>
              <a:srgbClr val="E1F1EA"/>
            </a:solidFill>
            <a:prstDash val="solid"/>
          </a:ln>
        </p:spPr>
      </p:sp>
      <p:sp>
        <p:nvSpPr>
          <p:cNvPr id="37" name="[p3] Icono hard-drive"/>
          <p:cNvSpPr/>
          <p:nvPr/>
        </p:nvSpPr>
        <p:spPr>
          <a:xfrm>
            <a:off x="10928726" y="2856403"/>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0A6648"/>
            </a:solidFill>
            <a:prstDash val="solid"/>
            <a:round/>
          </a:ln>
        </p:spPr>
      </p:sp>
      <p:sp>
        <p:nvSpPr>
          <p:cNvPr id="38" name="[p3] Forma"/>
          <p:cNvSpPr/>
          <p:nvPr/>
        </p:nvSpPr>
        <p:spPr>
          <a:xfrm>
            <a:off x="9258071"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A6648"/>
                </a:solidFill>
                <a:latin typeface="Segoe UI Semibold" pitchFamily="34" charset="0"/>
                <a:ea typeface="Segoe UI Semibold" pitchFamily="34" charset="-122"/>
                <a:cs typeface="Segoe UI Semibold" pitchFamily="34" charset="-120"/>
              </a:rPr>
              <a:t>1</a:t>
            </a:r>
            <a:endParaRPr lang="en-US" sz="5600" dirty="0"/>
          </a:p>
        </p:txBody>
      </p:sp>
      <p:sp>
        <p:nvSpPr>
          <p:cNvPr id="39" name="[p3] Forma"/>
          <p:cNvSpPr/>
          <p:nvPr/>
        </p:nvSpPr>
        <p:spPr>
          <a:xfrm>
            <a:off x="9258071"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disco por base</a:t>
            </a:r>
            <a:endParaRPr lang="en-US" sz="1800" dirty="0"/>
          </a:p>
        </p:txBody>
      </p:sp>
      <p:sp>
        <p:nvSpPr>
          <p:cNvPr id="40" name="[p3] Forma"/>
          <p:cNvSpPr/>
          <p:nvPr/>
        </p:nvSpPr>
        <p:spPr>
          <a:xfrm>
            <a:off x="9258071"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En Kubernetes, los datos sobreviven aunque el contenedor se reinicie.</a:t>
            </a:r>
            <a:endParaRPr lang="en-US" sz="15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childTnLst>
                          </p:cTn>
                        </p:par>
                      </p:childTnLst>
                    </p:cTn>
                  </p:par>
                  <p:par>
                    <p:cTn id="47" fill="hold">
                      <p:stCondLst>
                        <p:cond delay="indefinite"/>
                      </p:stCondLst>
                      <p:childTnLst>
                        <p:par>
                          <p:cTn id="48"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childTnLst>
                          </p:cTn>
                        </p:par>
                      </p:childTnLst>
                    </p:cTn>
                  </p:par>
                  <p:par>
                    <p:cTn id="70" fill="hold">
                      <p:stCondLst>
                        <p:cond delay="indefinite"/>
                      </p:stCondLst>
                      <p:childTnLst>
                        <p:par>
                          <p:cTn id="71"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00"/>
                                        <p:tgtEl>
                                          <p:spTgt spid="3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fade">
                                      <p:cBhvr>
                                        <p:cTn id="54" dur="400"/>
                                        <p:tgtEl>
                                          <p:spTgt spid="3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estructura de las bases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Tres tablas en dos bases, y una sola cosa cruza la frontera: el número del evento.</a:t>
            </a:r>
            <a:endParaRPr lang="en-US" sz="1700" dirty="0"/>
          </a:p>
        </p:txBody>
      </p:sp>
      <p:sp>
        <p:nvSpPr>
          <p:cNvPr id="13" name="Shape 11"/>
          <p:cNvSpPr/>
          <p:nvPr/>
        </p:nvSpPr>
        <p:spPr>
          <a:xfrm>
            <a:off x="612648" y="1755648"/>
            <a:ext cx="6152693" cy="4041648"/>
          </a:xfrm>
          <a:prstGeom prst="roundRect">
            <a:avLst>
              <a:gd name="adj" fmla="val 3167"/>
            </a:avLst>
          </a:prstGeom>
          <a:solidFill>
            <a:srgbClr val="F0F4FA"/>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55648"/>
            <a:ext cx="6152693" cy="749808"/>
          </a:xfrm>
          <a:prstGeom prst="roundRect">
            <a:avLst>
              <a:gd name="adj" fmla="val 17073"/>
            </a:avLst>
          </a:prstGeom>
          <a:solidFill>
            <a:srgbClr val="0B2350"/>
          </a:solidFill>
          <a:ln w="12700">
            <a:solidFill>
              <a:srgbClr val="0B2350"/>
            </a:solidFill>
            <a:prstDash val="solid"/>
          </a:ln>
        </p:spPr>
      </p:sp>
      <p:sp>
        <p:nvSpPr>
          <p:cNvPr id="15" name="Shape 13"/>
          <p:cNvSpPr/>
          <p:nvPr/>
        </p:nvSpPr>
        <p:spPr>
          <a:xfrm>
            <a:off x="612648" y="2212848"/>
            <a:ext cx="6152693" cy="292608"/>
          </a:xfrm>
          <a:prstGeom prst="rect">
            <a:avLst/>
          </a:prstGeom>
          <a:solidFill>
            <a:srgbClr val="0B2350"/>
          </a:solidFill>
          <a:ln w="12700">
            <a:solidFill>
              <a:srgbClr val="0B2350"/>
            </a:solidFill>
            <a:prstDash val="solid"/>
          </a:ln>
        </p:spPr>
      </p:sp>
      <p:sp>
        <p:nvSpPr>
          <p:cNvPr id="16" name="Icono database"/>
          <p:cNvSpPr/>
          <p:nvPr/>
        </p:nvSpPr>
        <p:spPr>
          <a:xfrm>
            <a:off x="832104"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17" name="Text 15"/>
          <p:cNvSpPr/>
          <p:nvPr/>
        </p:nvSpPr>
        <p:spPr>
          <a:xfrm>
            <a:off x="1362456" y="1828800"/>
            <a:ext cx="5238293"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Segoe UI Semibold" pitchFamily="34" charset="0"/>
                <a:ea typeface="Segoe UI Semibold" pitchFamily="34" charset="-122"/>
                <a:cs typeface="Segoe UI Semibold" pitchFamily="34" charset="-120"/>
              </a:rPr>
              <a:t>db-solicitudes</a:t>
            </a:r>
            <a:endParaRPr lang="en-US" sz="1800" dirty="0"/>
          </a:p>
        </p:txBody>
      </p:sp>
      <p:sp>
        <p:nvSpPr>
          <p:cNvPr id="18" name="Text 16"/>
          <p:cNvSpPr/>
          <p:nvPr/>
        </p:nvSpPr>
        <p:spPr>
          <a:xfrm>
            <a:off x="1362456" y="2176272"/>
            <a:ext cx="5238293"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schema.sql</a:t>
            </a:r>
            <a:endParaRPr lang="en-US" sz="1150" dirty="0"/>
          </a:p>
        </p:txBody>
      </p:sp>
      <p:sp>
        <p:nvSpPr>
          <p:cNvPr id="19" name="Shape 17"/>
          <p:cNvSpPr/>
          <p:nvPr/>
        </p:nvSpPr>
        <p:spPr>
          <a:xfrm>
            <a:off x="841248"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841248" y="2715768"/>
            <a:ext cx="2733446" cy="512064"/>
          </a:xfrm>
          <a:prstGeom prst="roundRect">
            <a:avLst>
              <a:gd name="adj" fmla="val 25000"/>
            </a:avLst>
          </a:prstGeom>
          <a:solidFill>
            <a:srgbClr val="E8EEF8"/>
          </a:solidFill>
          <a:ln w="12700">
            <a:solidFill>
              <a:srgbClr val="E8EEF8"/>
            </a:solidFill>
            <a:prstDash val="solid"/>
          </a:ln>
        </p:spPr>
      </p:sp>
      <p:sp>
        <p:nvSpPr>
          <p:cNvPr id="21" name="Shape 19"/>
          <p:cNvSpPr/>
          <p:nvPr/>
        </p:nvSpPr>
        <p:spPr>
          <a:xfrm>
            <a:off x="841248" y="3044952"/>
            <a:ext cx="2733446" cy="182880"/>
          </a:xfrm>
          <a:prstGeom prst="rect">
            <a:avLst/>
          </a:prstGeom>
          <a:solidFill>
            <a:srgbClr val="E8EEF8"/>
          </a:solidFill>
          <a:ln w="12700">
            <a:solidFill>
              <a:srgbClr val="E8EEF8"/>
            </a:solidFill>
            <a:prstDash val="solid"/>
          </a:ln>
        </p:spPr>
      </p:sp>
      <p:sp>
        <p:nvSpPr>
          <p:cNvPr id="22" name="Icono table"/>
          <p:cNvSpPr/>
          <p:nvPr/>
        </p:nvSpPr>
        <p:spPr>
          <a:xfrm>
            <a:off x="987552"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23" name="Text 21"/>
          <p:cNvSpPr/>
          <p:nvPr/>
        </p:nvSpPr>
        <p:spPr>
          <a:xfrm>
            <a:off x="1353312"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solicitud</a:t>
            </a:r>
            <a:endParaRPr lang="en-US" sz="1500" dirty="0"/>
          </a:p>
        </p:txBody>
      </p:sp>
      <p:sp>
        <p:nvSpPr>
          <p:cNvPr id="24" name="Icono key-round"/>
          <p:cNvSpPr/>
          <p:nvPr/>
        </p:nvSpPr>
        <p:spPr>
          <a:xfrm>
            <a:off x="996696"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25" name="Text 23"/>
          <p:cNvSpPr/>
          <p:nvPr/>
        </p:nvSpPr>
        <p:spPr>
          <a:xfrm>
            <a:off x="1280160"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VARCHAR(20)</a:t>
            </a:r>
            <a:endParaRPr lang="en-US" sz="1400" dirty="0"/>
          </a:p>
        </p:txBody>
      </p:sp>
      <p:sp>
        <p:nvSpPr>
          <p:cNvPr id="26" name="Shape 24"/>
          <p:cNvSpPr/>
          <p:nvPr/>
        </p:nvSpPr>
        <p:spPr>
          <a:xfrm>
            <a:off x="978408" y="3710635"/>
            <a:ext cx="2459126" cy="0"/>
          </a:xfrm>
          <a:prstGeom prst="line">
            <a:avLst/>
          </a:prstGeom>
          <a:noFill/>
          <a:ln w="9525">
            <a:solidFill>
              <a:srgbClr val="DFE6F0"/>
            </a:solidFill>
            <a:prstDash val="solid"/>
          </a:ln>
        </p:spPr>
      </p:sp>
      <p:sp>
        <p:nvSpPr>
          <p:cNvPr id="27" name="Icono hash"/>
          <p:cNvSpPr/>
          <p:nvPr/>
        </p:nvSpPr>
        <p:spPr>
          <a:xfrm>
            <a:off x="996696"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28" name="Text 26"/>
          <p:cNvSpPr/>
          <p:nvPr/>
        </p:nvSpPr>
        <p:spPr>
          <a:xfrm>
            <a:off x="1280160" y="3710635"/>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VARCHAR(20)</a:t>
            </a:r>
            <a:endParaRPr lang="en-US" sz="1400" dirty="0"/>
          </a:p>
        </p:txBody>
      </p:sp>
      <p:sp>
        <p:nvSpPr>
          <p:cNvPr id="29" name="Shape 27"/>
          <p:cNvSpPr/>
          <p:nvPr/>
        </p:nvSpPr>
        <p:spPr>
          <a:xfrm>
            <a:off x="978408" y="4156862"/>
            <a:ext cx="2459126" cy="0"/>
          </a:xfrm>
          <a:prstGeom prst="line">
            <a:avLst/>
          </a:prstGeom>
          <a:noFill/>
          <a:ln w="9525">
            <a:solidFill>
              <a:srgbClr val="DFE6F0"/>
            </a:solidFill>
            <a:prstDash val="solid"/>
          </a:ln>
        </p:spPr>
      </p:sp>
      <p:sp>
        <p:nvSpPr>
          <p:cNvPr id="30" name="Icono hash"/>
          <p:cNvSpPr/>
          <p:nvPr/>
        </p:nvSpPr>
        <p:spPr>
          <a:xfrm>
            <a:off x="996696"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31" name="Text 29"/>
          <p:cNvSpPr/>
          <p:nvPr/>
        </p:nvSpPr>
        <p:spPr>
          <a:xfrm>
            <a:off x="1280160" y="4156862"/>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estado</a:t>
            </a:r>
            <a:pPr indent="0" marL="0">
              <a:buNone/>
            </a:pPr>
            <a:r>
              <a:rPr lang="en-US" sz="1300" dirty="0">
                <a:solidFill>
                  <a:srgbClr val="55627E"/>
                </a:solidFill>
                <a:latin typeface="Segoe UI" pitchFamily="34" charset="0"/>
                <a:ea typeface="Segoe UI" pitchFamily="34" charset="-122"/>
                <a:cs typeface="Segoe UI" pitchFamily="34" charset="-120"/>
              </a:rPr>
              <a:t>  CHECK: 4 estados</a:t>
            </a:r>
            <a:endParaRPr lang="en-US" sz="1300" dirty="0"/>
          </a:p>
        </p:txBody>
      </p:sp>
      <p:sp>
        <p:nvSpPr>
          <p:cNvPr id="32" name="[p1] Forma"/>
          <p:cNvSpPr/>
          <p:nvPr/>
        </p:nvSpPr>
        <p:spPr>
          <a:xfrm>
            <a:off x="3803294"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1] Forma"/>
          <p:cNvSpPr/>
          <p:nvPr/>
        </p:nvSpPr>
        <p:spPr>
          <a:xfrm>
            <a:off x="3803294" y="2715768"/>
            <a:ext cx="2733446" cy="512064"/>
          </a:xfrm>
          <a:prstGeom prst="roundRect">
            <a:avLst>
              <a:gd name="adj" fmla="val 25000"/>
            </a:avLst>
          </a:prstGeom>
          <a:solidFill>
            <a:srgbClr val="E8EEF8"/>
          </a:solidFill>
          <a:ln w="12700">
            <a:solidFill>
              <a:srgbClr val="E8EEF8"/>
            </a:solidFill>
            <a:prstDash val="solid"/>
          </a:ln>
        </p:spPr>
      </p:sp>
      <p:sp>
        <p:nvSpPr>
          <p:cNvPr id="34" name="[p1] Forma"/>
          <p:cNvSpPr/>
          <p:nvPr/>
        </p:nvSpPr>
        <p:spPr>
          <a:xfrm>
            <a:off x="3803294" y="3044952"/>
            <a:ext cx="2733446" cy="182880"/>
          </a:xfrm>
          <a:prstGeom prst="rect">
            <a:avLst/>
          </a:prstGeom>
          <a:solidFill>
            <a:srgbClr val="E8EEF8"/>
          </a:solidFill>
          <a:ln w="12700">
            <a:solidFill>
              <a:srgbClr val="E8EEF8"/>
            </a:solidFill>
            <a:prstDash val="solid"/>
          </a:ln>
        </p:spPr>
      </p:sp>
      <p:sp>
        <p:nvSpPr>
          <p:cNvPr id="35" name="[p1] Icono table"/>
          <p:cNvSpPr/>
          <p:nvPr/>
        </p:nvSpPr>
        <p:spPr>
          <a:xfrm>
            <a:off x="3949598"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36" name="[p1] Forma"/>
          <p:cNvSpPr/>
          <p:nvPr/>
        </p:nvSpPr>
        <p:spPr>
          <a:xfrm>
            <a:off x="4315358"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evento</a:t>
            </a:r>
            <a:endParaRPr lang="en-US" sz="1500" dirty="0"/>
          </a:p>
        </p:txBody>
      </p:sp>
      <p:sp>
        <p:nvSpPr>
          <p:cNvPr id="37" name="[p1] Icono key-round"/>
          <p:cNvSpPr/>
          <p:nvPr/>
        </p:nvSpPr>
        <p:spPr>
          <a:xfrm>
            <a:off x="3958742"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38" name="[p1] Forma"/>
          <p:cNvSpPr/>
          <p:nvPr/>
        </p:nvSpPr>
        <p:spPr>
          <a:xfrm>
            <a:off x="4242206"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BIGSERIAL</a:t>
            </a:r>
            <a:endParaRPr lang="en-US" sz="1400" dirty="0"/>
          </a:p>
        </p:txBody>
      </p:sp>
      <p:sp>
        <p:nvSpPr>
          <p:cNvPr id="39" name="[p1] Forma"/>
          <p:cNvSpPr/>
          <p:nvPr/>
        </p:nvSpPr>
        <p:spPr>
          <a:xfrm>
            <a:off x="3940454" y="3710635"/>
            <a:ext cx="2459126" cy="0"/>
          </a:xfrm>
          <a:prstGeom prst="line">
            <a:avLst/>
          </a:prstGeom>
          <a:noFill/>
          <a:ln w="9525">
            <a:solidFill>
              <a:srgbClr val="DFE6F0"/>
            </a:solidFill>
            <a:prstDash val="solid"/>
          </a:ln>
        </p:spPr>
      </p:sp>
      <p:sp>
        <p:nvSpPr>
          <p:cNvPr id="40" name="[p1] Icono key-round"/>
          <p:cNvSpPr/>
          <p:nvPr/>
        </p:nvSpPr>
        <p:spPr>
          <a:xfrm>
            <a:off x="3958742" y="3820363"/>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41" name="[p1] Forma"/>
          <p:cNvSpPr/>
          <p:nvPr/>
        </p:nvSpPr>
        <p:spPr>
          <a:xfrm>
            <a:off x="4242206" y="3710635"/>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solicitud_id</a:t>
            </a:r>
            <a:pPr indent="0" marL="0">
              <a:buNone/>
            </a:pPr>
            <a:r>
              <a:rPr lang="en-US" sz="1300" dirty="0">
                <a:solidFill>
                  <a:srgbClr val="55627E"/>
                </a:solidFill>
                <a:latin typeface="Segoe UI" pitchFamily="34" charset="0"/>
                <a:ea typeface="Segoe UI" pitchFamily="34" charset="-122"/>
                <a:cs typeface="Segoe UI" pitchFamily="34" charset="-120"/>
              </a:rPr>
              <a:t>  FK a solicitud</a:t>
            </a:r>
            <a:endParaRPr lang="en-US" sz="1300" dirty="0"/>
          </a:p>
        </p:txBody>
      </p:sp>
      <p:sp>
        <p:nvSpPr>
          <p:cNvPr id="42" name="[p1] Forma"/>
          <p:cNvSpPr/>
          <p:nvPr/>
        </p:nvSpPr>
        <p:spPr>
          <a:xfrm>
            <a:off x="3940454" y="4156862"/>
            <a:ext cx="2459126" cy="0"/>
          </a:xfrm>
          <a:prstGeom prst="line">
            <a:avLst/>
          </a:prstGeom>
          <a:noFill/>
          <a:ln w="9525">
            <a:solidFill>
              <a:srgbClr val="DFE6F0"/>
            </a:solidFill>
            <a:prstDash val="solid"/>
          </a:ln>
        </p:spPr>
      </p:sp>
      <p:sp>
        <p:nvSpPr>
          <p:cNvPr id="43" name="[p1] Icono hash"/>
          <p:cNvSpPr/>
          <p:nvPr/>
        </p:nvSpPr>
        <p:spPr>
          <a:xfrm>
            <a:off x="3958742"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4" name="[p1] Forma"/>
          <p:cNvSpPr/>
          <p:nvPr/>
        </p:nvSpPr>
        <p:spPr>
          <a:xfrm>
            <a:off x="4242206" y="4156862"/>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SolicitudEnviada</a:t>
            </a:r>
            <a:endParaRPr lang="en-US" sz="1400" dirty="0"/>
          </a:p>
        </p:txBody>
      </p:sp>
      <p:sp>
        <p:nvSpPr>
          <p:cNvPr id="45" name="[p1] Forma"/>
          <p:cNvSpPr/>
          <p:nvPr/>
        </p:nvSpPr>
        <p:spPr>
          <a:xfrm>
            <a:off x="3940454" y="4603090"/>
            <a:ext cx="2459126" cy="0"/>
          </a:xfrm>
          <a:prstGeom prst="line">
            <a:avLst/>
          </a:prstGeom>
          <a:noFill/>
          <a:ln w="9525">
            <a:solidFill>
              <a:srgbClr val="DFE6F0"/>
            </a:solidFill>
            <a:prstDash val="solid"/>
          </a:ln>
        </p:spPr>
      </p:sp>
      <p:sp>
        <p:nvSpPr>
          <p:cNvPr id="46" name="[p1] Icono hash"/>
          <p:cNvSpPr/>
          <p:nvPr/>
        </p:nvSpPr>
        <p:spPr>
          <a:xfrm>
            <a:off x="3958742" y="4712818"/>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7" name="[p1] Forma"/>
          <p:cNvSpPr/>
          <p:nvPr/>
        </p:nvSpPr>
        <p:spPr>
          <a:xfrm>
            <a:off x="4242206" y="4603090"/>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UUID</a:t>
            </a:r>
            <a:endParaRPr lang="en-US" sz="1400" dirty="0"/>
          </a:p>
        </p:txBody>
      </p:sp>
      <p:sp>
        <p:nvSpPr>
          <p:cNvPr id="48" name="[p1] Forma"/>
          <p:cNvSpPr/>
          <p:nvPr/>
        </p:nvSpPr>
        <p:spPr>
          <a:xfrm>
            <a:off x="3940454" y="5049317"/>
            <a:ext cx="2459126" cy="0"/>
          </a:xfrm>
          <a:prstGeom prst="line">
            <a:avLst/>
          </a:prstGeom>
          <a:noFill/>
          <a:ln w="9525">
            <a:solidFill>
              <a:srgbClr val="DFE6F0"/>
            </a:solidFill>
            <a:prstDash val="solid"/>
          </a:ln>
        </p:spPr>
      </p:sp>
      <p:sp>
        <p:nvSpPr>
          <p:cNvPr id="49" name="[p1] Icono hash"/>
          <p:cNvSpPr/>
          <p:nvPr/>
        </p:nvSpPr>
        <p:spPr>
          <a:xfrm>
            <a:off x="3958742" y="5159045"/>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50" name="[p1] Forma"/>
          <p:cNvSpPr/>
          <p:nvPr/>
        </p:nvSpPr>
        <p:spPr>
          <a:xfrm>
            <a:off x="4242206" y="5049317"/>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procesado</a:t>
            </a:r>
            <a:pPr indent="0" marL="0">
              <a:buNone/>
            </a:pPr>
            <a:r>
              <a:rPr lang="en-US" sz="1300" dirty="0">
                <a:solidFill>
                  <a:srgbClr val="55627E"/>
                </a:solidFill>
                <a:latin typeface="Segoe UI" pitchFamily="34" charset="0"/>
                <a:ea typeface="Segoe UI" pitchFamily="34" charset="-122"/>
                <a:cs typeface="Segoe UI" pitchFamily="34" charset="-120"/>
              </a:rPr>
              <a:t>  false = pendiente</a:t>
            </a:r>
            <a:endParaRPr lang="en-US" sz="1300" dirty="0"/>
          </a:p>
        </p:txBody>
      </p:sp>
      <p:sp>
        <p:nvSpPr>
          <p:cNvPr id="51" name="[p2] Forma"/>
          <p:cNvSpPr/>
          <p:nvPr/>
        </p:nvSpPr>
        <p:spPr>
          <a:xfrm>
            <a:off x="8502701" y="1755648"/>
            <a:ext cx="3076346" cy="4041648"/>
          </a:xfrm>
          <a:prstGeom prst="roundRect">
            <a:avLst>
              <a:gd name="adj" fmla="val 4161"/>
            </a:avLst>
          </a:prstGeom>
          <a:solidFill>
            <a:srgbClr val="EDF8FC"/>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8502701" y="1755648"/>
            <a:ext cx="3076346" cy="749808"/>
          </a:xfrm>
          <a:prstGeom prst="roundRect">
            <a:avLst>
              <a:gd name="adj" fmla="val 17073"/>
            </a:avLst>
          </a:prstGeom>
          <a:solidFill>
            <a:srgbClr val="0B6E8A"/>
          </a:solidFill>
          <a:ln w="12700">
            <a:solidFill>
              <a:srgbClr val="0B6E8A"/>
            </a:solidFill>
            <a:prstDash val="solid"/>
          </a:ln>
        </p:spPr>
      </p:sp>
      <p:sp>
        <p:nvSpPr>
          <p:cNvPr id="53" name="[p2] Forma"/>
          <p:cNvSpPr/>
          <p:nvPr/>
        </p:nvSpPr>
        <p:spPr>
          <a:xfrm>
            <a:off x="8502701" y="2212848"/>
            <a:ext cx="3076346" cy="292608"/>
          </a:xfrm>
          <a:prstGeom prst="rect">
            <a:avLst/>
          </a:prstGeom>
          <a:solidFill>
            <a:srgbClr val="0B6E8A"/>
          </a:solidFill>
          <a:ln w="12700">
            <a:solidFill>
              <a:srgbClr val="0B6E8A"/>
            </a:solidFill>
            <a:prstDash val="solid"/>
          </a:ln>
        </p:spPr>
      </p:sp>
      <p:sp>
        <p:nvSpPr>
          <p:cNvPr id="54" name="[p2] Icono database"/>
          <p:cNvSpPr/>
          <p:nvPr/>
        </p:nvSpPr>
        <p:spPr>
          <a:xfrm>
            <a:off x="8722157"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55" name="[p2] Forma"/>
          <p:cNvSpPr/>
          <p:nvPr/>
        </p:nvSpPr>
        <p:spPr>
          <a:xfrm>
            <a:off x="9252509" y="1828800"/>
            <a:ext cx="2161946" cy="365760"/>
          </a:xfrm>
          <a:prstGeom prst="rect">
            <a:avLst/>
          </a:prstGeom>
          <a:noFill/>
          <a:ln/>
        </p:spPr>
        <p:txBody>
          <a:bodyPr wrap="square" lIns="0" tIns="0" rIns="0" bIns="0" rtlCol="0" anchor="ctr">
            <a:normAutofit/>
          </a:bodyPr>
          <a:lstStyle/>
          <a:p>
            <a:pPr algn="l" indent="0" marL="0">
              <a:buNone/>
            </a:pPr>
            <a:r>
              <a:rPr lang="en-US" sz="1700" b="1" dirty="0">
                <a:solidFill>
                  <a:srgbClr val="FFFFFF"/>
                </a:solidFill>
                <a:latin typeface="Segoe UI Semibold" pitchFamily="34" charset="0"/>
                <a:ea typeface="Segoe UI Semibold" pitchFamily="34" charset="-122"/>
                <a:cs typeface="Segoe UI Semibold" pitchFamily="34" charset="-120"/>
              </a:rPr>
              <a:t>db-notificaciones</a:t>
            </a:r>
            <a:endParaRPr lang="en-US" sz="1700" dirty="0"/>
          </a:p>
        </p:txBody>
      </p:sp>
      <p:sp>
        <p:nvSpPr>
          <p:cNvPr id="56" name="[p2] Forma"/>
          <p:cNvSpPr/>
          <p:nvPr/>
        </p:nvSpPr>
        <p:spPr>
          <a:xfrm>
            <a:off x="9252509" y="2176272"/>
            <a:ext cx="2161946"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Hibernate</a:t>
            </a:r>
            <a:endParaRPr lang="en-US" sz="1150" dirty="0"/>
          </a:p>
        </p:txBody>
      </p:sp>
      <p:sp>
        <p:nvSpPr>
          <p:cNvPr id="57" name="[p2] Forma"/>
          <p:cNvSpPr/>
          <p:nvPr/>
        </p:nvSpPr>
        <p:spPr>
          <a:xfrm>
            <a:off x="8731301" y="2715768"/>
            <a:ext cx="2619146" cy="2852928"/>
          </a:xfrm>
          <a:prstGeom prst="roundRect">
            <a:avLst>
              <a:gd name="adj" fmla="val 488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8731301" y="2715768"/>
            <a:ext cx="2619146" cy="512064"/>
          </a:xfrm>
          <a:prstGeom prst="roundRect">
            <a:avLst>
              <a:gd name="adj" fmla="val 25000"/>
            </a:avLst>
          </a:prstGeom>
          <a:solidFill>
            <a:srgbClr val="E3F4FA"/>
          </a:solidFill>
          <a:ln w="12700">
            <a:solidFill>
              <a:srgbClr val="E3F4FA"/>
            </a:solidFill>
            <a:prstDash val="solid"/>
          </a:ln>
        </p:spPr>
      </p:sp>
      <p:sp>
        <p:nvSpPr>
          <p:cNvPr id="59" name="[p2] Forma"/>
          <p:cNvSpPr/>
          <p:nvPr/>
        </p:nvSpPr>
        <p:spPr>
          <a:xfrm>
            <a:off x="8731301" y="3044952"/>
            <a:ext cx="2619146" cy="182880"/>
          </a:xfrm>
          <a:prstGeom prst="rect">
            <a:avLst/>
          </a:prstGeom>
          <a:solidFill>
            <a:srgbClr val="E3F4FA"/>
          </a:solidFill>
          <a:ln w="12700">
            <a:solidFill>
              <a:srgbClr val="E3F4FA"/>
            </a:solidFill>
            <a:prstDash val="solid"/>
          </a:ln>
        </p:spPr>
      </p:sp>
      <p:sp>
        <p:nvSpPr>
          <p:cNvPr id="60" name="[p2] Icono table"/>
          <p:cNvSpPr/>
          <p:nvPr/>
        </p:nvSpPr>
        <p:spPr>
          <a:xfrm>
            <a:off x="8877605"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6E8A"/>
            </a:solidFill>
            <a:prstDash val="solid"/>
            <a:round/>
          </a:ln>
        </p:spPr>
      </p:sp>
      <p:sp>
        <p:nvSpPr>
          <p:cNvPr id="61" name="[p2] Forma"/>
          <p:cNvSpPr/>
          <p:nvPr/>
        </p:nvSpPr>
        <p:spPr>
          <a:xfrm>
            <a:off x="9243365" y="2770632"/>
            <a:ext cx="1979066" cy="402336"/>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Consolas" pitchFamily="34" charset="0"/>
                <a:ea typeface="Consolas" pitchFamily="34" charset="-122"/>
                <a:cs typeface="Consolas" pitchFamily="34" charset="-120"/>
              </a:rPr>
              <a:t>evento_procesado</a:t>
            </a:r>
            <a:endParaRPr lang="en-US" sz="1500" dirty="0"/>
          </a:p>
        </p:txBody>
      </p:sp>
      <p:sp>
        <p:nvSpPr>
          <p:cNvPr id="62" name="[p2] Icono key-round"/>
          <p:cNvSpPr/>
          <p:nvPr/>
        </p:nvSpPr>
        <p:spPr>
          <a:xfrm>
            <a:off x="8886749"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63" name="[p2] Forma"/>
          <p:cNvSpPr/>
          <p:nvPr/>
        </p:nvSpPr>
        <p:spPr>
          <a:xfrm>
            <a:off x="9170213" y="3264408"/>
            <a:ext cx="20887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PK</a:t>
            </a:r>
            <a:endParaRPr lang="en-US" sz="1400" dirty="0"/>
          </a:p>
        </p:txBody>
      </p:sp>
      <p:sp>
        <p:nvSpPr>
          <p:cNvPr id="64" name="[p2] Forma"/>
          <p:cNvSpPr/>
          <p:nvPr/>
        </p:nvSpPr>
        <p:spPr>
          <a:xfrm>
            <a:off x="8868461" y="3710635"/>
            <a:ext cx="2344826" cy="0"/>
          </a:xfrm>
          <a:prstGeom prst="line">
            <a:avLst/>
          </a:prstGeom>
          <a:noFill/>
          <a:ln w="9525">
            <a:solidFill>
              <a:srgbClr val="DFE6F0"/>
            </a:solidFill>
            <a:prstDash val="solid"/>
          </a:ln>
        </p:spPr>
      </p:sp>
      <p:sp>
        <p:nvSpPr>
          <p:cNvPr id="65" name="[p2] Icono hash"/>
          <p:cNvSpPr/>
          <p:nvPr/>
        </p:nvSpPr>
        <p:spPr>
          <a:xfrm>
            <a:off x="8886749"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66" name="[p2] Forma"/>
          <p:cNvSpPr/>
          <p:nvPr/>
        </p:nvSpPr>
        <p:spPr>
          <a:xfrm>
            <a:off x="9170213" y="3710635"/>
            <a:ext cx="2088794" cy="446227"/>
          </a:xfrm>
          <a:prstGeom prst="rect">
            <a:avLst/>
          </a:prstGeom>
          <a:noFill/>
          <a:ln/>
        </p:spPr>
        <p:txBody>
          <a:bodyPr wrap="square" lIns="0" tIns="0" rIns="0" bIns="0" rtlCol="0" anchor="ctr">
            <a:normAutofit/>
          </a:bodyPr>
          <a:lstStyle/>
          <a:p>
            <a:pPr indent="0" marL="0">
              <a:buNone/>
            </a:pPr>
            <a:r>
              <a:rPr lang="en-US" sz="1350" b="1" dirty="0">
                <a:solidFill>
                  <a:srgbClr val="0B1A3C"/>
                </a:solidFill>
                <a:latin typeface="Consolas" pitchFamily="34" charset="0"/>
                <a:ea typeface="Consolas" pitchFamily="34" charset="-122"/>
                <a:cs typeface="Consolas" pitchFamily="34" charset="-120"/>
              </a:rPr>
              <a:t>uno por evento recibido</a:t>
            </a:r>
            <a:endParaRPr lang="en-US" sz="1350" dirty="0"/>
          </a:p>
        </p:txBody>
      </p:sp>
      <p:sp>
        <p:nvSpPr>
          <p:cNvPr id="67" name="[p3] Forma"/>
          <p:cNvSpPr/>
          <p:nvPr/>
        </p:nvSpPr>
        <p:spPr>
          <a:xfrm>
            <a:off x="6838493" y="4142232"/>
            <a:ext cx="1591056" cy="0"/>
          </a:xfrm>
          <a:prstGeom prst="line">
            <a:avLst/>
          </a:prstGeom>
          <a:noFill/>
          <a:ln w="31750">
            <a:solidFill>
              <a:srgbClr val="0B6E8A"/>
            </a:solidFill>
            <a:prstDash val="dash"/>
            <a:tailEnd type="triangle"/>
          </a:ln>
        </p:spPr>
      </p:sp>
      <p:sp>
        <p:nvSpPr>
          <p:cNvPr id="68" name="[p3] Forma"/>
          <p:cNvSpPr/>
          <p:nvPr/>
        </p:nvSpPr>
        <p:spPr>
          <a:xfrm>
            <a:off x="6838493" y="3575304"/>
            <a:ext cx="1591056" cy="512064"/>
          </a:xfrm>
          <a:prstGeom prst="rect">
            <a:avLst/>
          </a:prstGeom>
          <a:noFill/>
          <a:ln/>
        </p:spPr>
        <p:txBody>
          <a:bodyPr wrap="square" lIns="0" tIns="0" rIns="0" bIns="0" rtlCol="0" anchor="b">
            <a:normAutofit/>
          </a:bodyPr>
          <a:lstStyle/>
          <a:p>
            <a:pPr algn="ctr" indent="0" marL="0">
              <a:buNone/>
            </a:pPr>
            <a:r>
              <a:rPr lang="en-US" sz="1200" b="1" dirty="0">
                <a:solidFill>
                  <a:srgbClr val="0B6E8A"/>
                </a:solidFill>
                <a:latin typeface="Segoe UI" pitchFamily="34" charset="0"/>
                <a:ea typeface="Segoe UI" pitchFamily="34" charset="-122"/>
                <a:cs typeface="Segoe UI" pitchFamily="34" charset="-120"/>
              </a:rPr>
              <a:t>evento_id por HTTP</a:t>
            </a:r>
            <a:endParaRPr lang="en-US" sz="1200" dirty="0"/>
          </a:p>
        </p:txBody>
      </p:sp>
      <p:sp>
        <p:nvSpPr>
          <p:cNvPr id="69" name="[p3] Forma"/>
          <p:cNvSpPr/>
          <p:nvPr/>
        </p:nvSpPr>
        <p:spPr>
          <a:xfrm>
            <a:off x="6838493" y="4215384"/>
            <a:ext cx="1591056" cy="457200"/>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sin llaves foráneas entre bases</a:t>
            </a:r>
            <a:endParaRPr lang="en-US" sz="1050" dirty="0"/>
          </a:p>
        </p:txBody>
      </p:sp>
      <p:sp>
        <p:nvSpPr>
          <p:cNvPr id="70" name="Shape 68"/>
          <p:cNvSpPr/>
          <p:nvPr/>
        </p:nvSpPr>
        <p:spPr>
          <a:xfrm>
            <a:off x="0" y="5961888"/>
            <a:ext cx="12191695" cy="475488"/>
          </a:xfrm>
          <a:prstGeom prst="rect">
            <a:avLst/>
          </a:prstGeom>
          <a:solidFill>
            <a:srgbClr val="0B2350"/>
          </a:solidFill>
          <a:ln w="12700">
            <a:solidFill>
              <a:srgbClr val="0B2350"/>
            </a:solidFill>
            <a:prstDash val="solid"/>
          </a:ln>
        </p:spPr>
      </p:sp>
      <p:sp>
        <p:nvSpPr>
          <p:cNvPr id="71"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72" name="Text 70"/>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Cada servicio cambia su esquema sin coordinarse con el otro; solo el número del evento es compartido.</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stCondLst>
                      <p:childTnLst>
                        <p:par>
                          <p:cTn id="6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400"/>
                                        <p:tgtEl>
                                          <p:spTgt spid="3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400"/>
                                        <p:tgtEl>
                                          <p:spTgt spid="3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400"/>
                                        <p:tgtEl>
                                          <p:spTgt spid="3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400"/>
                                        <p:tgtEl>
                                          <p:spTgt spid="3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400"/>
                                        <p:tgtEl>
                                          <p:spTgt spid="3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400"/>
                                        <p:tgtEl>
                                          <p:spTgt spid="3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400"/>
                                        <p:tgtEl>
                                          <p:spTgt spid="4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400"/>
                                        <p:tgtEl>
                                          <p:spTgt spid="4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400"/>
                                        <p:tgtEl>
                                          <p:spTgt spid="4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400"/>
                                        <p:tgtEl>
                                          <p:spTgt spid="4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400"/>
                                        <p:tgtEl>
                                          <p:spTgt spid="4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400"/>
                                        <p:tgtEl>
                                          <p:spTgt spid="4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8"/>
                                        </p:tgtEl>
                                        <p:attrNameLst>
                                          <p:attrName>style.visibility</p:attrName>
                                        </p:attrNameLst>
                                      </p:cBhvr>
                                      <p:to>
                                        <p:strVal val="visible"/>
                                      </p:to>
                                    </p:set>
                                    <p:animEffect transition="in" filter="fade">
                                      <p:cBhvr>
                                        <p:cTn id="53" dur="400"/>
                                        <p:tgtEl>
                                          <p:spTgt spid="4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9"/>
                                        </p:tgtEl>
                                        <p:attrNameLst>
                                          <p:attrName>style.visibility</p:attrName>
                                        </p:attrNameLst>
                                      </p:cBhvr>
                                      <p:to>
                                        <p:strVal val="visible"/>
                                      </p:to>
                                    </p:set>
                                    <p:animEffect transition="in" filter="fade">
                                      <p:cBhvr>
                                        <p:cTn id="56" dur="400"/>
                                        <p:tgtEl>
                                          <p:spTgt spid="4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0"/>
                                        </p:tgtEl>
                                        <p:attrNameLst>
                                          <p:attrName>style.visibility</p:attrName>
                                        </p:attrNameLst>
                                      </p:cBhvr>
                                      <p:to>
                                        <p:strVal val="visible"/>
                                      </p:to>
                                    </p:set>
                                    <p:animEffect transition="in" filter="fade">
                                      <p:cBhvr>
                                        <p:cTn id="59" dur="400"/>
                                        <p:tgtEl>
                                          <p:spTgt spid="50"/>
                                        </p:tgtEl>
                                      </p:cBhvr>
                                    </p:animEffect>
                                  </p:childTnLst>
                                </p:cTn>
                              </p:par>
                            </p:childTnLst>
                          </p:cTn>
                        </p:par>
                      </p:childTnLst>
                    </p:cTn>
                  </p:par>
                  <p:par>
                    <p:cTn id="110" fill="hold">
                      <p:stCondLst>
                        <p:cond delay="indefinite"/>
                      </p:stCondLst>
                      <p:childTnLst>
                        <p:par>
                          <p:cTn id="11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51"/>
                                        </p:tgtEl>
                                        <p:attrNameLst>
                                          <p:attrName>style.visibility</p:attrName>
                                        </p:attrNameLst>
                                      </p:cBhvr>
                                      <p:to>
                                        <p:strVal val="visible"/>
                                      </p:to>
                                    </p:set>
                                    <p:animEffect transition="in" filter="fade">
                                      <p:cBhvr>
                                        <p:cTn id="64" dur="400"/>
                                        <p:tgtEl>
                                          <p:spTgt spid="5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2"/>
                                        </p:tgtEl>
                                        <p:attrNameLst>
                                          <p:attrName>style.visibility</p:attrName>
                                        </p:attrNameLst>
                                      </p:cBhvr>
                                      <p:to>
                                        <p:strVal val="visible"/>
                                      </p:to>
                                    </p:set>
                                    <p:animEffect transition="in" filter="fade">
                                      <p:cBhvr>
                                        <p:cTn id="67" dur="400"/>
                                        <p:tgtEl>
                                          <p:spTgt spid="5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3"/>
                                        </p:tgtEl>
                                        <p:attrNameLst>
                                          <p:attrName>style.visibility</p:attrName>
                                        </p:attrNameLst>
                                      </p:cBhvr>
                                      <p:to>
                                        <p:strVal val="visible"/>
                                      </p:to>
                                    </p:set>
                                    <p:animEffect transition="in" filter="fade">
                                      <p:cBhvr>
                                        <p:cTn id="70" dur="400"/>
                                        <p:tgtEl>
                                          <p:spTgt spid="5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4"/>
                                        </p:tgtEl>
                                        <p:attrNameLst>
                                          <p:attrName>style.visibility</p:attrName>
                                        </p:attrNameLst>
                                      </p:cBhvr>
                                      <p:to>
                                        <p:strVal val="visible"/>
                                      </p:to>
                                    </p:set>
                                    <p:animEffect transition="in" filter="fade">
                                      <p:cBhvr>
                                        <p:cTn id="73" dur="400"/>
                                        <p:tgtEl>
                                          <p:spTgt spid="5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5"/>
                                        </p:tgtEl>
                                        <p:attrNameLst>
                                          <p:attrName>style.visibility</p:attrName>
                                        </p:attrNameLst>
                                      </p:cBhvr>
                                      <p:to>
                                        <p:strVal val="visible"/>
                                      </p:to>
                                    </p:set>
                                    <p:animEffect transition="in" filter="fade">
                                      <p:cBhvr>
                                        <p:cTn id="76" dur="400"/>
                                        <p:tgtEl>
                                          <p:spTgt spid="5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6"/>
                                        </p:tgtEl>
                                        <p:attrNameLst>
                                          <p:attrName>style.visibility</p:attrName>
                                        </p:attrNameLst>
                                      </p:cBhvr>
                                      <p:to>
                                        <p:strVal val="visible"/>
                                      </p:to>
                                    </p:set>
                                    <p:animEffect transition="in" filter="fade">
                                      <p:cBhvr>
                                        <p:cTn id="79" dur="400"/>
                                        <p:tgtEl>
                                          <p:spTgt spid="5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7"/>
                                        </p:tgtEl>
                                        <p:attrNameLst>
                                          <p:attrName>style.visibility</p:attrName>
                                        </p:attrNameLst>
                                      </p:cBhvr>
                                      <p:to>
                                        <p:strVal val="visible"/>
                                      </p:to>
                                    </p:set>
                                    <p:animEffect transition="in" filter="fade">
                                      <p:cBhvr>
                                        <p:cTn id="82" dur="400"/>
                                        <p:tgtEl>
                                          <p:spTgt spid="5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4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9"/>
                                        </p:tgtEl>
                                        <p:attrNameLst>
                                          <p:attrName>style.visibility</p:attrName>
                                        </p:attrNameLst>
                                      </p:cBhvr>
                                      <p:to>
                                        <p:strVal val="visible"/>
                                      </p:to>
                                    </p:set>
                                    <p:animEffect transition="in" filter="fade">
                                      <p:cBhvr>
                                        <p:cTn id="88" dur="400"/>
                                        <p:tgtEl>
                                          <p:spTgt spid="5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0"/>
                                        </p:tgtEl>
                                        <p:attrNameLst>
                                          <p:attrName>style.visibility</p:attrName>
                                        </p:attrNameLst>
                                      </p:cBhvr>
                                      <p:to>
                                        <p:strVal val="visible"/>
                                      </p:to>
                                    </p:set>
                                    <p:animEffect transition="in" filter="fade">
                                      <p:cBhvr>
                                        <p:cTn id="91" dur="400"/>
                                        <p:tgtEl>
                                          <p:spTgt spid="6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1"/>
                                        </p:tgtEl>
                                        <p:attrNameLst>
                                          <p:attrName>style.visibility</p:attrName>
                                        </p:attrNameLst>
                                      </p:cBhvr>
                                      <p:to>
                                        <p:strVal val="visible"/>
                                      </p:to>
                                    </p:set>
                                    <p:animEffect transition="in" filter="fade">
                                      <p:cBhvr>
                                        <p:cTn id="94" dur="400"/>
                                        <p:tgtEl>
                                          <p:spTgt spid="6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2"/>
                                        </p:tgtEl>
                                        <p:attrNameLst>
                                          <p:attrName>style.visibility</p:attrName>
                                        </p:attrNameLst>
                                      </p:cBhvr>
                                      <p:to>
                                        <p:strVal val="visible"/>
                                      </p:to>
                                    </p:set>
                                    <p:animEffect transition="in" filter="fade">
                                      <p:cBhvr>
                                        <p:cTn id="97" dur="400"/>
                                        <p:tgtEl>
                                          <p:spTgt spid="6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3"/>
                                        </p:tgtEl>
                                        <p:attrNameLst>
                                          <p:attrName>style.visibility</p:attrName>
                                        </p:attrNameLst>
                                      </p:cBhvr>
                                      <p:to>
                                        <p:strVal val="visible"/>
                                      </p:to>
                                    </p:set>
                                    <p:animEffect transition="in" filter="fade">
                                      <p:cBhvr>
                                        <p:cTn id="100" dur="400"/>
                                        <p:tgtEl>
                                          <p:spTgt spid="6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4"/>
                                        </p:tgtEl>
                                        <p:attrNameLst>
                                          <p:attrName>style.visibility</p:attrName>
                                        </p:attrNameLst>
                                      </p:cBhvr>
                                      <p:to>
                                        <p:strVal val="visible"/>
                                      </p:to>
                                    </p:set>
                                    <p:animEffect transition="in" filter="fade">
                                      <p:cBhvr>
                                        <p:cTn id="103" dur="400"/>
                                        <p:tgtEl>
                                          <p:spTgt spid="6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5"/>
                                        </p:tgtEl>
                                        <p:attrNameLst>
                                          <p:attrName>style.visibility</p:attrName>
                                        </p:attrNameLst>
                                      </p:cBhvr>
                                      <p:to>
                                        <p:strVal val="visible"/>
                                      </p:to>
                                    </p:set>
                                    <p:animEffect transition="in" filter="fade">
                                      <p:cBhvr>
                                        <p:cTn id="106" dur="400"/>
                                        <p:tgtEl>
                                          <p:spTgt spid="65"/>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6"/>
                                        </p:tgtEl>
                                        <p:attrNameLst>
                                          <p:attrName>style.visibility</p:attrName>
                                        </p:attrNameLst>
                                      </p:cBhvr>
                                      <p:to>
                                        <p:strVal val="visible"/>
                                      </p:to>
                                    </p:set>
                                    <p:animEffect transition="in" filter="fade">
                                      <p:cBhvr>
                                        <p:cTn id="109" dur="400"/>
                                        <p:tgtEl>
                                          <p:spTgt spid="66"/>
                                        </p:tgtEl>
                                      </p:cBhvr>
                                    </p:animEffect>
                                  </p:childTnLst>
                                </p:cTn>
                              </p:par>
                            </p:childTnLst>
                          </p:cTn>
                        </p:par>
                      </p:childTnLst>
                    </p:cTn>
                  </p:par>
                  <p:par>
                    <p:cTn id="121" fill="hold">
                      <p:stCondLst>
                        <p:cond delay="indefinite"/>
                      </p:stCondLst>
                      <p:childTnLst>
                        <p:par>
                          <p:cTn id="122" fill="hold">
                            <p:stCondLst>
                              <p:cond delay="0"/>
                            </p:stCondLst>
                            <p:childTnLst>
                              <p:par>
                                <p:cTn id="112" presetID="10" presetClass="entr" presetSubtype="0" fill="hold" grpId="0" nodeType="clickEffect">
                                  <p:stCondLst>
                                    <p:cond delay="0"/>
                                  </p:stCondLst>
                                  <p:childTnLst>
                                    <p:set>
                                      <p:cBhvr>
                                        <p:cTn id="113" dur="1" fill="hold">
                                          <p:stCondLst>
                                            <p:cond delay="0"/>
                                          </p:stCondLst>
                                        </p:cTn>
                                        <p:tgtEl>
                                          <p:spTgt spid="67"/>
                                        </p:tgtEl>
                                        <p:attrNameLst>
                                          <p:attrName>style.visibility</p:attrName>
                                        </p:attrNameLst>
                                      </p:cBhvr>
                                      <p:to>
                                        <p:strVal val="visible"/>
                                      </p:to>
                                    </p:set>
                                    <p:animEffect transition="in" filter="fade">
                                      <p:cBhvr>
                                        <p:cTn id="114" dur="400"/>
                                        <p:tgtEl>
                                          <p:spTgt spid="67"/>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animEffect transition="in" filter="fade">
                                      <p:cBhvr>
                                        <p:cTn id="117" dur="400"/>
                                        <p:tgtEl>
                                          <p:spTgt spid="68"/>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9"/>
                                        </p:tgtEl>
                                        <p:attrNameLst>
                                          <p:attrName>style.visibility</p:attrName>
                                        </p:attrNameLst>
                                      </p:cBhvr>
                                      <p:to>
                                        <p:strVal val="visible"/>
                                      </p:to>
                                    </p:set>
                                    <p:animEffect transition="in" filter="fade">
                                      <p:cBhvr>
                                        <p:cTn id="120" dur="4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 esquema que se cuida solo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Sin herramientas de migración, pero sin sorpresas al arrancar.</a:t>
            </a:r>
            <a:endParaRPr lang="en-US" sz="1700" dirty="0"/>
          </a:p>
        </p:txBody>
      </p:sp>
      <p:sp>
        <p:nvSpPr>
          <p:cNvPr id="13" name="Shape 11"/>
          <p:cNvSpPr/>
          <p:nvPr/>
        </p:nvSpPr>
        <p:spPr>
          <a:xfrm>
            <a:off x="612648" y="1719072"/>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86968" y="2439162"/>
            <a:ext cx="786384" cy="786384"/>
          </a:xfrm>
          <a:prstGeom prst="ellipse">
            <a:avLst/>
          </a:prstGeom>
          <a:solidFill>
            <a:srgbClr val="E8EEF8"/>
          </a:solidFill>
          <a:ln w="12700">
            <a:solidFill>
              <a:srgbClr val="E8EEF8"/>
            </a:solidFill>
            <a:prstDash val="solid"/>
          </a:ln>
        </p:spPr>
      </p:sp>
      <p:sp>
        <p:nvSpPr>
          <p:cNvPr id="16" name="Icono repeat"/>
          <p:cNvSpPr/>
          <p:nvPr/>
        </p:nvSpPr>
        <p:spPr>
          <a:xfrm>
            <a:off x="1075700" y="2627894"/>
            <a:ext cx="408920" cy="408920"/>
          </a:xfrm>
          <a:custGeom>
            <a:avLst/>
            <a:gdLst/>
            <a:ahLst/>
            <a:cxnLst/>
            <a:rect l="l" t="t" r="r" b="b"/>
            <a:pathLst>
              <a:path w="408920" h="408920">
                <a:moveTo>
                  <a:pt x="289651" y="34077"/>
                </a:moveTo>
                <a:lnTo>
                  <a:pt x="357805" y="102230"/>
                </a:lnTo>
                <a:lnTo>
                  <a:pt x="289651" y="170383"/>
                </a:lnTo>
                <a:moveTo>
                  <a:pt x="51115" y="187422"/>
                </a:moveTo>
                <a:lnTo>
                  <a:pt x="51115" y="170383"/>
                </a:lnTo>
                <a:cubicBezTo>
                  <a:pt x="51115" y="132743"/>
                  <a:pt x="81628" y="102230"/>
                  <a:pt x="119268" y="102230"/>
                </a:cubicBezTo>
                <a:lnTo>
                  <a:pt x="357805" y="102230"/>
                </a:lnTo>
                <a:moveTo>
                  <a:pt x="119268" y="374843"/>
                </a:moveTo>
                <a:lnTo>
                  <a:pt x="51115" y="306690"/>
                </a:lnTo>
                <a:lnTo>
                  <a:pt x="119268" y="238536"/>
                </a:lnTo>
                <a:moveTo>
                  <a:pt x="357805" y="221498"/>
                </a:moveTo>
                <a:lnTo>
                  <a:pt x="357805" y="238536"/>
                </a:lnTo>
                <a:cubicBezTo>
                  <a:pt x="357805" y="276176"/>
                  <a:pt x="327291" y="306690"/>
                  <a:pt x="289651" y="306690"/>
                </a:cubicBezTo>
                <a:lnTo>
                  <a:pt x="51115" y="306690"/>
                </a:lnTo>
              </a:path>
            </a:pathLst>
          </a:custGeom>
          <a:noFill/>
          <a:ln w="34077" cap="rnd">
            <a:solidFill>
              <a:srgbClr val="0B2350"/>
            </a:solidFill>
            <a:prstDash val="solid"/>
            <a:round/>
          </a:ln>
        </p:spPr>
      </p:sp>
      <p:sp>
        <p:nvSpPr>
          <p:cNvPr id="17" name="Text 15"/>
          <p:cNvSpPr/>
          <p:nvPr/>
        </p:nvSpPr>
        <p:spPr>
          <a:xfrm>
            <a:off x="1929384" y="2375154"/>
            <a:ext cx="3892144" cy="420624"/>
          </a:xfrm>
          <a:prstGeom prst="rect">
            <a:avLst/>
          </a:prstGeom>
          <a:noFill/>
          <a:ln/>
        </p:spPr>
        <p:txBody>
          <a:bodyPr wrap="square" lIns="0" tIns="0" rIns="0" bIns="0" rtlCol="0" anchor="b">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schema.sql idempotente</a:t>
            </a:r>
            <a:endParaRPr lang="en-US" sz="2000" dirty="0"/>
          </a:p>
        </p:txBody>
      </p:sp>
      <p:sp>
        <p:nvSpPr>
          <p:cNvPr id="18" name="Text 16"/>
          <p:cNvSpPr/>
          <p:nvPr/>
        </p:nvSpPr>
        <p:spPr>
          <a:xfrm>
            <a:off x="1929384" y="2850642"/>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CREATE y ALTER … IF NOT EXISTS: se puede correr mil veces y también actualiza bases viejas.</a:t>
            </a:r>
            <a:endParaRPr lang="en-US" sz="1600" dirty="0"/>
          </a:p>
        </p:txBody>
      </p:sp>
      <p:sp>
        <p:nvSpPr>
          <p:cNvPr id="19" name="[p1] Forma"/>
          <p:cNvSpPr/>
          <p:nvPr/>
        </p:nvSpPr>
        <p:spPr>
          <a:xfrm>
            <a:off x="6187288" y="1719072"/>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87288" y="1847088"/>
            <a:ext cx="64008" cy="1970532"/>
          </a:xfrm>
          <a:prstGeom prst="rect">
            <a:avLst/>
          </a:prstGeom>
          <a:solidFill>
            <a:srgbClr val="0B6E8A"/>
          </a:solidFill>
          <a:ln w="12700">
            <a:solidFill>
              <a:srgbClr val="0B6E8A"/>
            </a:solidFill>
            <a:prstDash val="solid"/>
          </a:ln>
        </p:spPr>
      </p:sp>
      <p:sp>
        <p:nvSpPr>
          <p:cNvPr id="21" name="[p1] Forma"/>
          <p:cNvSpPr/>
          <p:nvPr/>
        </p:nvSpPr>
        <p:spPr>
          <a:xfrm>
            <a:off x="6461608" y="2439162"/>
            <a:ext cx="786384" cy="786384"/>
          </a:xfrm>
          <a:prstGeom prst="ellipse">
            <a:avLst/>
          </a:prstGeom>
          <a:solidFill>
            <a:srgbClr val="E3F4FA"/>
          </a:solidFill>
          <a:ln w="12700">
            <a:solidFill>
              <a:srgbClr val="E3F4FA"/>
            </a:solidFill>
            <a:prstDash val="solid"/>
          </a:ln>
        </p:spPr>
      </p:sp>
      <p:sp>
        <p:nvSpPr>
          <p:cNvPr id="22" name="[p1] Icono list-checks"/>
          <p:cNvSpPr/>
          <p:nvPr/>
        </p:nvSpPr>
        <p:spPr>
          <a:xfrm>
            <a:off x="6650340" y="2627894"/>
            <a:ext cx="408920" cy="408920"/>
          </a:xfrm>
          <a:custGeom>
            <a:avLst/>
            <a:gdLst/>
            <a:ahLst/>
            <a:cxnLst/>
            <a:rect l="l" t="t" r="r" b="b"/>
            <a:pathLst>
              <a:path w="408920" h="408920">
                <a:moveTo>
                  <a:pt x="51115" y="289651"/>
                </a:moveTo>
                <a:lnTo>
                  <a:pt x="85192" y="323728"/>
                </a:lnTo>
                <a:lnTo>
                  <a:pt x="153345" y="255575"/>
                </a:lnTo>
                <a:moveTo>
                  <a:pt x="51115" y="119268"/>
                </a:moveTo>
                <a:lnTo>
                  <a:pt x="85192" y="153345"/>
                </a:lnTo>
                <a:lnTo>
                  <a:pt x="153345" y="85192"/>
                </a:lnTo>
                <a:moveTo>
                  <a:pt x="221498" y="102230"/>
                </a:moveTo>
                <a:lnTo>
                  <a:pt x="357805" y="102230"/>
                </a:lnTo>
                <a:moveTo>
                  <a:pt x="221498" y="204460"/>
                </a:moveTo>
                <a:lnTo>
                  <a:pt x="357805" y="204460"/>
                </a:lnTo>
                <a:moveTo>
                  <a:pt x="221498" y="306690"/>
                </a:moveTo>
                <a:lnTo>
                  <a:pt x="357805" y="306690"/>
                </a:lnTo>
              </a:path>
            </a:pathLst>
          </a:custGeom>
          <a:noFill/>
          <a:ln w="34077" cap="rnd">
            <a:solidFill>
              <a:srgbClr val="0B6E8A"/>
            </a:solidFill>
            <a:prstDash val="solid"/>
            <a:round/>
          </a:ln>
        </p:spPr>
      </p:sp>
      <p:sp>
        <p:nvSpPr>
          <p:cNvPr id="23" name="[p1] Forma"/>
          <p:cNvSpPr/>
          <p:nvPr/>
        </p:nvSpPr>
        <p:spPr>
          <a:xfrm>
            <a:off x="7504024" y="2375154"/>
            <a:ext cx="3892144" cy="420624"/>
          </a:xfrm>
          <a:prstGeom prst="rect">
            <a:avLst/>
          </a:prstGeom>
          <a:noFill/>
          <a:ln/>
        </p:spPr>
        <p:txBody>
          <a:bodyPr wrap="square" lIns="0" tIns="0" rIns="0" bIns="0" rtlCol="0" anchor="b">
            <a:normAutofit/>
          </a:bodyPr>
          <a:lstStyle/>
          <a:p>
            <a:pPr algn="l" indent="0" marL="0">
              <a:buNone/>
            </a:pPr>
            <a:r>
              <a:rPr lang="en-US" sz="2000" b="1" dirty="0">
                <a:solidFill>
                  <a:srgbClr val="0B6E8A"/>
                </a:solidFill>
                <a:latin typeface="Segoe UI Semibold" pitchFamily="34" charset="0"/>
                <a:ea typeface="Segoe UI Semibold" pitchFamily="34" charset="-122"/>
                <a:cs typeface="Segoe UI Semibold" pitchFamily="34" charset="-120"/>
              </a:rPr>
              <a:t>Hibernate valida</a:t>
            </a:r>
            <a:endParaRPr lang="en-US" sz="2000" dirty="0"/>
          </a:p>
        </p:txBody>
      </p:sp>
      <p:sp>
        <p:nvSpPr>
          <p:cNvPr id="24" name="[p1] Forma"/>
          <p:cNvSpPr/>
          <p:nvPr/>
        </p:nvSpPr>
        <p:spPr>
          <a:xfrm>
            <a:off x="7504024" y="2850642"/>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ddl-auto=validate: si una entidad no coincide con la tabla, el servicio no arranca.</a:t>
            </a:r>
            <a:endParaRPr lang="en-US" sz="1600" dirty="0"/>
          </a:p>
        </p:txBody>
      </p:sp>
      <p:sp>
        <p:nvSpPr>
          <p:cNvPr id="25" name="[p2] Forma"/>
          <p:cNvSpPr/>
          <p:nvPr/>
        </p:nvSpPr>
        <p:spPr>
          <a:xfrm>
            <a:off x="612648" y="4128516"/>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612648" y="4256532"/>
            <a:ext cx="64008" cy="1970532"/>
          </a:xfrm>
          <a:prstGeom prst="rect">
            <a:avLst/>
          </a:prstGeom>
          <a:solidFill>
            <a:srgbClr val="0A6648"/>
          </a:solidFill>
          <a:ln w="12700">
            <a:solidFill>
              <a:srgbClr val="0A6648"/>
            </a:solidFill>
            <a:prstDash val="solid"/>
          </a:ln>
        </p:spPr>
      </p:sp>
      <p:sp>
        <p:nvSpPr>
          <p:cNvPr id="27" name="[p2] Forma"/>
          <p:cNvSpPr/>
          <p:nvPr/>
        </p:nvSpPr>
        <p:spPr>
          <a:xfrm>
            <a:off x="886968" y="4848606"/>
            <a:ext cx="786384" cy="786384"/>
          </a:xfrm>
          <a:prstGeom prst="ellipse">
            <a:avLst/>
          </a:prstGeom>
          <a:solidFill>
            <a:srgbClr val="E1F1EA"/>
          </a:solidFill>
          <a:ln w="12700">
            <a:solidFill>
              <a:srgbClr val="E1F1EA"/>
            </a:solidFill>
            <a:prstDash val="solid"/>
          </a:ln>
        </p:spPr>
      </p:sp>
      <p:sp>
        <p:nvSpPr>
          <p:cNvPr id="28" name="[p2] Icono shield-check"/>
          <p:cNvSpPr/>
          <p:nvPr/>
        </p:nvSpPr>
        <p:spPr>
          <a:xfrm>
            <a:off x="1075700" y="5037338"/>
            <a:ext cx="408920" cy="408920"/>
          </a:xfrm>
          <a:custGeom>
            <a:avLst/>
            <a:gdLst/>
            <a:ahLst/>
            <a:cxnLst/>
            <a:rect l="l" t="t" r="r" b="b"/>
            <a:pathLst>
              <a:path w="408920" h="408920">
                <a:moveTo>
                  <a:pt x="340766" y="221498"/>
                </a:moveTo>
                <a:cubicBezTo>
                  <a:pt x="340766" y="306690"/>
                  <a:pt x="281132" y="349286"/>
                  <a:pt x="210253" y="373991"/>
                </a:cubicBezTo>
                <a:cubicBezTo>
                  <a:pt x="206541" y="375249"/>
                  <a:pt x="202510" y="375189"/>
                  <a:pt x="198837" y="373821"/>
                </a:cubicBezTo>
                <a:cubicBezTo>
                  <a:pt x="127787" y="349286"/>
                  <a:pt x="68153" y="306690"/>
                  <a:pt x="68153" y="221498"/>
                </a:cubicBezTo>
                <a:lnTo>
                  <a:pt x="68153" y="102230"/>
                </a:lnTo>
                <a:cubicBezTo>
                  <a:pt x="68153" y="92820"/>
                  <a:pt x="75782" y="85192"/>
                  <a:pt x="85192" y="85192"/>
                </a:cubicBezTo>
                <a:cubicBezTo>
                  <a:pt x="119268" y="85192"/>
                  <a:pt x="161864" y="64746"/>
                  <a:pt x="191511" y="38847"/>
                </a:cubicBezTo>
                <a:cubicBezTo>
                  <a:pt x="198968" y="32476"/>
                  <a:pt x="209952" y="32476"/>
                  <a:pt x="217409" y="38847"/>
                </a:cubicBezTo>
                <a:cubicBezTo>
                  <a:pt x="247226" y="64916"/>
                  <a:pt x="289651" y="85192"/>
                  <a:pt x="323728" y="85192"/>
                </a:cubicBezTo>
                <a:cubicBezTo>
                  <a:pt x="333138" y="85192"/>
                  <a:pt x="340766" y="92820"/>
                  <a:pt x="340766" y="102230"/>
                </a:cubicBezTo>
                <a:close/>
                <a:moveTo>
                  <a:pt x="153345" y="204460"/>
                </a:moveTo>
                <a:lnTo>
                  <a:pt x="187422" y="238536"/>
                </a:lnTo>
                <a:lnTo>
                  <a:pt x="255575" y="170383"/>
                </a:lnTo>
              </a:path>
            </a:pathLst>
          </a:custGeom>
          <a:noFill/>
          <a:ln w="34077" cap="rnd">
            <a:solidFill>
              <a:srgbClr val="0A6648"/>
            </a:solidFill>
            <a:prstDash val="solid"/>
            <a:round/>
          </a:ln>
        </p:spPr>
      </p:sp>
      <p:sp>
        <p:nvSpPr>
          <p:cNvPr id="29" name="[p2] Forma"/>
          <p:cNvSpPr/>
          <p:nvPr/>
        </p:nvSpPr>
        <p:spPr>
          <a:xfrm>
            <a:off x="1929384" y="4784598"/>
            <a:ext cx="3892144" cy="420624"/>
          </a:xfrm>
          <a:prstGeom prst="rect">
            <a:avLst/>
          </a:prstGeom>
          <a:noFill/>
          <a:ln/>
        </p:spPr>
        <p:txBody>
          <a:bodyPr wrap="square" lIns="0" tIns="0" rIns="0" bIns="0" rtlCol="0" anchor="b">
            <a:normAutofit/>
          </a:bodyPr>
          <a:lstStyle/>
          <a:p>
            <a:pPr algn="l" indent="0" marL="0">
              <a:buNone/>
            </a:pPr>
            <a:r>
              <a:rPr lang="en-US" sz="1900" b="1" dirty="0">
                <a:solidFill>
                  <a:srgbClr val="0A6648"/>
                </a:solidFill>
                <a:latin typeface="Segoe UI Semibold" pitchFamily="34" charset="0"/>
                <a:ea typeface="Segoe UI Semibold" pitchFamily="34" charset="-122"/>
                <a:cs typeface="Segoe UI Semibold" pitchFamily="34" charset="-120"/>
              </a:rPr>
              <a:t>La base también cuida reglas</a:t>
            </a:r>
            <a:endParaRPr lang="en-US" sz="1900" dirty="0"/>
          </a:p>
        </p:txBody>
      </p:sp>
      <p:sp>
        <p:nvSpPr>
          <p:cNvPr id="30" name="[p2] Forma"/>
          <p:cNvSpPr/>
          <p:nvPr/>
        </p:nvSpPr>
        <p:spPr>
          <a:xfrm>
            <a:off x="1929384" y="5260086"/>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 CHECK solo admite BORRADOR, ENVIADA, APROBADA o RECHAZADA.</a:t>
            </a:r>
            <a:endParaRPr lang="en-US" sz="1600" dirty="0"/>
          </a:p>
        </p:txBody>
      </p:sp>
      <p:sp>
        <p:nvSpPr>
          <p:cNvPr id="31" name="[p3] Forma"/>
          <p:cNvSpPr/>
          <p:nvPr/>
        </p:nvSpPr>
        <p:spPr>
          <a:xfrm>
            <a:off x="6187288" y="4128516"/>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87288" y="4256532"/>
            <a:ext cx="64008" cy="1970532"/>
          </a:xfrm>
          <a:prstGeom prst="rect">
            <a:avLst/>
          </a:prstGeom>
          <a:solidFill>
            <a:srgbClr val="8A4B06"/>
          </a:solidFill>
          <a:ln w="12700">
            <a:solidFill>
              <a:srgbClr val="8A4B06"/>
            </a:solidFill>
            <a:prstDash val="solid"/>
          </a:ln>
        </p:spPr>
      </p:sp>
      <p:sp>
        <p:nvSpPr>
          <p:cNvPr id="33" name="[p3] Forma"/>
          <p:cNvSpPr/>
          <p:nvPr/>
        </p:nvSpPr>
        <p:spPr>
          <a:xfrm>
            <a:off x="6461608" y="4848606"/>
            <a:ext cx="786384" cy="786384"/>
          </a:xfrm>
          <a:prstGeom prst="ellipse">
            <a:avLst/>
          </a:prstGeom>
          <a:solidFill>
            <a:srgbClr val="FCEFD6"/>
          </a:solidFill>
          <a:ln w="12700">
            <a:solidFill>
              <a:srgbClr val="FCEFD6"/>
            </a:solidFill>
            <a:prstDash val="solid"/>
          </a:ln>
        </p:spPr>
      </p:sp>
      <p:sp>
        <p:nvSpPr>
          <p:cNvPr id="34" name="[p3] Icono gauge"/>
          <p:cNvSpPr/>
          <p:nvPr/>
        </p:nvSpPr>
        <p:spPr>
          <a:xfrm>
            <a:off x="6650340" y="5037338"/>
            <a:ext cx="408920" cy="408920"/>
          </a:xfrm>
          <a:custGeom>
            <a:avLst/>
            <a:gdLst/>
            <a:ahLst/>
            <a:cxnLst/>
            <a:rect l="l" t="t" r="r" b="b"/>
            <a:pathLst>
              <a:path w="408920" h="408920">
                <a:moveTo>
                  <a:pt x="204460" y="238536"/>
                </a:moveTo>
                <a:lnTo>
                  <a:pt x="272613" y="170383"/>
                </a:lnTo>
                <a:moveTo>
                  <a:pt x="56908" y="323728"/>
                </a:moveTo>
                <a:cubicBezTo>
                  <a:pt x="15560" y="252120"/>
                  <a:pt x="31596" y="161162"/>
                  <a:pt x="94937" y="108010"/>
                </a:cubicBezTo>
                <a:cubicBezTo>
                  <a:pt x="158279" y="54858"/>
                  <a:pt x="250640" y="54858"/>
                  <a:pt x="313982" y="108010"/>
                </a:cubicBezTo>
                <a:cubicBezTo>
                  <a:pt x="377324" y="161162"/>
                  <a:pt x="393359" y="252120"/>
                  <a:pt x="352012" y="323728"/>
                </a:cubicBezTo>
              </a:path>
            </a:pathLst>
          </a:custGeom>
          <a:noFill/>
          <a:ln w="34077" cap="rnd">
            <a:solidFill>
              <a:srgbClr val="8A4B06"/>
            </a:solidFill>
            <a:prstDash val="solid"/>
            <a:round/>
          </a:ln>
        </p:spPr>
      </p:sp>
      <p:sp>
        <p:nvSpPr>
          <p:cNvPr id="35" name="[p3] Forma"/>
          <p:cNvSpPr/>
          <p:nvPr/>
        </p:nvSpPr>
        <p:spPr>
          <a:xfrm>
            <a:off x="7504024" y="4784598"/>
            <a:ext cx="3892144" cy="420624"/>
          </a:xfrm>
          <a:prstGeom prst="rect">
            <a:avLst/>
          </a:prstGeom>
          <a:noFill/>
          <a:ln/>
        </p:spPr>
        <p:txBody>
          <a:bodyPr wrap="square" lIns="0" tIns="0" rIns="0" bIns="0" rtlCol="0" anchor="b">
            <a:normAutofit/>
          </a:bodyPr>
          <a:lstStyle/>
          <a:p>
            <a:pPr algn="l" indent="0" marL="0">
              <a:buNone/>
            </a:pPr>
            <a:r>
              <a:rPr lang="en-US" sz="2000" b="1" dirty="0">
                <a:solidFill>
                  <a:srgbClr val="8A4B06"/>
                </a:solidFill>
                <a:latin typeface="Segoe UI Semibold" pitchFamily="34" charset="0"/>
                <a:ea typeface="Segoe UI Semibold" pitchFamily="34" charset="-122"/>
                <a:cs typeface="Segoe UI Semibold" pitchFamily="34" charset="-120"/>
              </a:rPr>
              <a:t>Índice parcial</a:t>
            </a:r>
            <a:endParaRPr lang="en-US" sz="2000" dirty="0"/>
          </a:p>
        </p:txBody>
      </p:sp>
      <p:sp>
        <p:nvSpPr>
          <p:cNvPr id="36" name="[p3] Forma"/>
          <p:cNvSpPr/>
          <p:nvPr/>
        </p:nvSpPr>
        <p:spPr>
          <a:xfrm>
            <a:off x="7504024" y="5260086"/>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idx_evento_pendiente solo indexa las filas con procesado = false.</a:t>
            </a:r>
            <a:endParaRPr lang="en-US" sz="1600" dirty="0"/>
          </a:p>
        </p:txBody>
      </p:sp>
      <p:sp>
        <p:nvSpPr>
          <p:cNvPr id="37" name="Text 3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 esquema que se cuida solo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servicio-solicitudes/src/main/resources/schema.sql</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ADD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COLUMN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EXISTS</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evento_id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UUID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NULL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DEFAULT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gen_random_uuid();</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ADD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COLUMN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EXISTS</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BOOLEAN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NULL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DEFAULT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TRUE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COLUMN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SET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DEFAULT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FALSE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CREATE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INDEX</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EXISTS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idx_evento_pendiente</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ON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(procesado)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 =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FALSE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Del procedimiento almacenado al ORM</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diferencia no es la base de datos: es dónde vive la regla del negocio.</a:t>
            </a:r>
            <a:endParaRPr lang="en-US" sz="1700" dirty="0"/>
          </a:p>
        </p:txBody>
      </p:sp>
      <p:sp>
        <p:nvSpPr>
          <p:cNvPr id="13" name="Shape 11"/>
          <p:cNvSpPr/>
          <p:nvPr/>
        </p:nvSpPr>
        <p:spPr>
          <a:xfrm>
            <a:off x="612648" y="1719072"/>
            <a:ext cx="10966399" cy="1897380"/>
          </a:xfrm>
          <a:prstGeom prst="roundRect">
            <a:avLst>
              <a:gd name="adj" fmla="val 6747"/>
            </a:avLst>
          </a:prstGeom>
          <a:solidFill>
            <a:srgbClr val="F8FAFC"/>
          </a:solidFill>
          <a:ln w="12700">
            <a:solidFill>
              <a:srgbClr val="C4C8D2"/>
            </a:solidFill>
            <a:prstDash val="solid"/>
          </a:ln>
        </p:spPr>
      </p:sp>
      <p:sp>
        <p:nvSpPr>
          <p:cNvPr id="14" name="Text 12"/>
          <p:cNvSpPr/>
          <p:nvPr/>
        </p:nvSpPr>
        <p:spPr>
          <a:xfrm>
            <a:off x="612648" y="1719072"/>
            <a:ext cx="1874520" cy="1897380"/>
          </a:xfrm>
          <a:prstGeom prst="roundRect">
            <a:avLst>
              <a:gd name="adj" fmla="val 6829"/>
            </a:avLst>
          </a:prstGeom>
          <a:solidFill>
            <a:srgbClr val="55627E"/>
          </a:solidFill>
          <a:ln>
            <a:solidFill>
              <a:srgbClr val="55627E"/>
            </a:solidFill>
          </a:ln>
        </p:spPr>
        <p:txBody>
          <a:bodyPr wrap="square" lIns="101600" tIns="101600" rIns="101600" bIns="101600" rtlCol="0" anchor="ct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Hoy: procedimientos almacenados</a:t>
            </a:r>
            <a:endParaRPr lang="en-US" sz="1550" dirty="0"/>
          </a:p>
        </p:txBody>
      </p:sp>
      <p:sp>
        <p:nvSpPr>
          <p:cNvPr id="15" name="Shape 13"/>
          <p:cNvSpPr/>
          <p:nvPr/>
        </p:nvSpPr>
        <p:spPr>
          <a:xfrm>
            <a:off x="2761488"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3575761" y="2263140"/>
            <a:ext cx="457200" cy="457200"/>
          </a:xfrm>
          <a:prstGeom prst="ellipse">
            <a:avLst/>
          </a:prstGeom>
          <a:solidFill>
            <a:srgbClr val="F4F7FB"/>
          </a:solidFill>
          <a:ln w="12700">
            <a:solidFill>
              <a:srgbClr val="F4F7FB"/>
            </a:solidFill>
            <a:prstDash val="solid"/>
          </a:ln>
        </p:spPr>
      </p:sp>
      <p:sp>
        <p:nvSpPr>
          <p:cNvPr id="17" name="Icono monitor"/>
          <p:cNvSpPr/>
          <p:nvPr/>
        </p:nvSpPr>
        <p:spPr>
          <a:xfrm>
            <a:off x="3685489" y="237286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55627E"/>
            </a:solidFill>
            <a:prstDash val="solid"/>
            <a:round/>
          </a:ln>
        </p:spPr>
      </p:sp>
      <p:sp>
        <p:nvSpPr>
          <p:cNvPr id="18" name="Text 16"/>
          <p:cNvSpPr/>
          <p:nvPr/>
        </p:nvSpPr>
        <p:spPr>
          <a:xfrm>
            <a:off x="2834640"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Pantalla</a:t>
            </a:r>
            <a:endParaRPr lang="en-US" sz="1400" dirty="0"/>
          </a:p>
        </p:txBody>
      </p:sp>
      <p:sp>
        <p:nvSpPr>
          <p:cNvPr id="19" name="Text 17"/>
          <p:cNvSpPr/>
          <p:nvPr/>
        </p:nvSpPr>
        <p:spPr>
          <a:xfrm>
            <a:off x="2852928" y="3049524"/>
            <a:ext cx="1902866"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La persona pulsa Enviar.</a:t>
            </a:r>
            <a:endParaRPr lang="en-US" sz="1150" dirty="0"/>
          </a:p>
        </p:txBody>
      </p:sp>
      <p:sp>
        <p:nvSpPr>
          <p:cNvPr id="20" name="Shape 18"/>
          <p:cNvSpPr/>
          <p:nvPr/>
        </p:nvSpPr>
        <p:spPr>
          <a:xfrm>
            <a:off x="4920386" y="2811780"/>
            <a:ext cx="1042416" cy="0"/>
          </a:xfrm>
          <a:prstGeom prst="line">
            <a:avLst/>
          </a:prstGeom>
          <a:noFill/>
          <a:ln w="31750">
            <a:solidFill>
              <a:srgbClr val="55627E"/>
            </a:solidFill>
            <a:prstDash val="solid"/>
            <a:tailEnd type="triangle"/>
          </a:ln>
        </p:spPr>
      </p:sp>
      <p:sp>
        <p:nvSpPr>
          <p:cNvPr id="21" name="Text 19"/>
          <p:cNvSpPr/>
          <p:nvPr/>
        </p:nvSpPr>
        <p:spPr>
          <a:xfrm>
            <a:off x="4883810"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clic</a:t>
            </a:r>
            <a:endParaRPr lang="en-US" sz="1150" dirty="0"/>
          </a:p>
        </p:txBody>
      </p:sp>
      <p:sp>
        <p:nvSpPr>
          <p:cNvPr id="22" name="Shape 20"/>
          <p:cNvSpPr/>
          <p:nvPr/>
        </p:nvSpPr>
        <p:spPr>
          <a:xfrm>
            <a:off x="6035954"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6850228" y="2263140"/>
            <a:ext cx="457200" cy="457200"/>
          </a:xfrm>
          <a:prstGeom prst="ellipse">
            <a:avLst/>
          </a:prstGeom>
          <a:solidFill>
            <a:srgbClr val="F4F7FB"/>
          </a:solidFill>
          <a:ln w="12700">
            <a:solidFill>
              <a:srgbClr val="F4F7FB"/>
            </a:solidFill>
            <a:prstDash val="solid"/>
          </a:ln>
        </p:spPr>
      </p:sp>
      <p:sp>
        <p:nvSpPr>
          <p:cNvPr id="24" name="Icono server"/>
          <p:cNvSpPr/>
          <p:nvPr/>
        </p:nvSpPr>
        <p:spPr>
          <a:xfrm>
            <a:off x="6959956" y="2372868"/>
            <a:ext cx="237744" cy="237744"/>
          </a:xfrm>
          <a:custGeom>
            <a:avLst/>
            <a:gdLst/>
            <a:ahLst/>
            <a:cxnLst/>
            <a:rect l="l" t="t" r="r" b="b"/>
            <a:pathLst>
              <a:path w="237744" h="237744">
                <a:moveTo>
                  <a:pt x="39624" y="19812"/>
                </a:moveTo>
                <a:lnTo>
                  <a:pt x="198120" y="19812"/>
                </a:lnTo>
                <a:cubicBezTo>
                  <a:pt x="209062" y="19812"/>
                  <a:pt x="217932" y="28682"/>
                  <a:pt x="217932" y="39624"/>
                </a:cubicBezTo>
                <a:lnTo>
                  <a:pt x="217932" y="79248"/>
                </a:lnTo>
                <a:cubicBezTo>
                  <a:pt x="217932" y="90190"/>
                  <a:pt x="209062" y="99060"/>
                  <a:pt x="198120" y="99060"/>
                </a:cubicBezTo>
                <a:lnTo>
                  <a:pt x="39624" y="99060"/>
                </a:lnTo>
                <a:cubicBezTo>
                  <a:pt x="28682" y="99060"/>
                  <a:pt x="19812" y="90190"/>
                  <a:pt x="19812" y="79248"/>
                </a:cubicBezTo>
                <a:lnTo>
                  <a:pt x="19812" y="39624"/>
                </a:lnTo>
                <a:cubicBezTo>
                  <a:pt x="19812" y="28682"/>
                  <a:pt x="28682" y="19812"/>
                  <a:pt x="39624" y="19812"/>
                </a:cubicBezTo>
                <a:close/>
                <a:moveTo>
                  <a:pt x="39624" y="138684"/>
                </a:moveTo>
                <a:lnTo>
                  <a:pt x="198120" y="138684"/>
                </a:lnTo>
                <a:cubicBezTo>
                  <a:pt x="209062" y="138684"/>
                  <a:pt x="217932" y="147554"/>
                  <a:pt x="217932" y="158496"/>
                </a:cubicBezTo>
                <a:lnTo>
                  <a:pt x="217932" y="198120"/>
                </a:lnTo>
                <a:cubicBezTo>
                  <a:pt x="217932" y="209062"/>
                  <a:pt x="209062" y="217932"/>
                  <a:pt x="198120" y="217932"/>
                </a:cubicBezTo>
                <a:lnTo>
                  <a:pt x="39624" y="217932"/>
                </a:lnTo>
                <a:cubicBezTo>
                  <a:pt x="28682" y="217932"/>
                  <a:pt x="19812" y="209062"/>
                  <a:pt x="19812" y="198120"/>
                </a:cubicBezTo>
                <a:lnTo>
                  <a:pt x="19812" y="158496"/>
                </a:lnTo>
                <a:cubicBezTo>
                  <a:pt x="19812" y="147554"/>
                  <a:pt x="28682" y="138684"/>
                  <a:pt x="39624" y="138684"/>
                </a:cubicBezTo>
                <a:close/>
                <a:moveTo>
                  <a:pt x="59436" y="59436"/>
                </a:moveTo>
                <a:lnTo>
                  <a:pt x="59535" y="59436"/>
                </a:lnTo>
                <a:moveTo>
                  <a:pt x="59436" y="178308"/>
                </a:moveTo>
                <a:lnTo>
                  <a:pt x="59535" y="178308"/>
                </a:lnTo>
              </a:path>
            </a:pathLst>
          </a:custGeom>
          <a:noFill/>
          <a:ln w="19812" cap="rnd">
            <a:solidFill>
              <a:srgbClr val="55627E"/>
            </a:solidFill>
            <a:prstDash val="solid"/>
            <a:round/>
          </a:ln>
        </p:spPr>
      </p:sp>
      <p:sp>
        <p:nvSpPr>
          <p:cNvPr id="25" name="Text 23"/>
          <p:cNvSpPr/>
          <p:nvPr/>
        </p:nvSpPr>
        <p:spPr>
          <a:xfrm>
            <a:off x="6109106"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Aplicación</a:t>
            </a:r>
            <a:endParaRPr lang="en-US" sz="1400" dirty="0"/>
          </a:p>
        </p:txBody>
      </p:sp>
      <p:sp>
        <p:nvSpPr>
          <p:cNvPr id="26" name="Text 24"/>
          <p:cNvSpPr/>
          <p:nvPr/>
        </p:nvSpPr>
        <p:spPr>
          <a:xfrm>
            <a:off x="6127394"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Solo pasa los parámetros.</a:t>
            </a:r>
            <a:endParaRPr lang="en-US" sz="1100" dirty="0"/>
          </a:p>
        </p:txBody>
      </p:sp>
      <p:sp>
        <p:nvSpPr>
          <p:cNvPr id="27" name="Shape 25"/>
          <p:cNvSpPr/>
          <p:nvPr/>
        </p:nvSpPr>
        <p:spPr>
          <a:xfrm>
            <a:off x="8194853" y="2811780"/>
            <a:ext cx="1042416" cy="0"/>
          </a:xfrm>
          <a:prstGeom prst="line">
            <a:avLst/>
          </a:prstGeom>
          <a:noFill/>
          <a:ln w="31750">
            <a:solidFill>
              <a:srgbClr val="55627E"/>
            </a:solidFill>
            <a:prstDash val="solid"/>
            <a:tailEnd type="triangle"/>
          </a:ln>
        </p:spPr>
      </p:sp>
      <p:sp>
        <p:nvSpPr>
          <p:cNvPr id="28" name="Text 26"/>
          <p:cNvSpPr/>
          <p:nvPr/>
        </p:nvSpPr>
        <p:spPr>
          <a:xfrm>
            <a:off x="8158277"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EXEC sp_enviar @id</a:t>
            </a:r>
            <a:endParaRPr lang="en-US" sz="1150" dirty="0"/>
          </a:p>
        </p:txBody>
      </p:sp>
      <p:sp>
        <p:nvSpPr>
          <p:cNvPr id="29" name="Shape 27"/>
          <p:cNvSpPr/>
          <p:nvPr/>
        </p:nvSpPr>
        <p:spPr>
          <a:xfrm>
            <a:off x="9310421" y="2171700"/>
            <a:ext cx="2085746" cy="1280160"/>
          </a:xfrm>
          <a:prstGeom prst="roundRect">
            <a:avLst>
              <a:gd name="adj" fmla="val 10000"/>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9310421" y="2171700"/>
            <a:ext cx="2085746" cy="1280160"/>
          </a:xfrm>
          <a:prstGeom prst="roundRect">
            <a:avLst>
              <a:gd name="adj" fmla="val 10000"/>
            </a:avLst>
          </a:prstGeom>
          <a:solidFill>
            <a:srgbClr val="FCEFD6">
              <a:alpha val="0"/>
            </a:srgbClr>
          </a:solidFill>
          <a:ln w="31750">
            <a:solidFill>
              <a:srgbClr val="8A4B06"/>
            </a:solidFill>
            <a:prstDash val="solid"/>
          </a:ln>
        </p:spPr>
      </p:sp>
      <p:sp>
        <p:nvSpPr>
          <p:cNvPr id="31" name="Text 29"/>
          <p:cNvSpPr/>
          <p:nvPr/>
        </p:nvSpPr>
        <p:spPr>
          <a:xfrm>
            <a:off x="9393174" y="184251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32" name="Shape 30"/>
          <p:cNvSpPr/>
          <p:nvPr/>
        </p:nvSpPr>
        <p:spPr>
          <a:xfrm>
            <a:off x="10124694" y="2263140"/>
            <a:ext cx="457200" cy="457200"/>
          </a:xfrm>
          <a:prstGeom prst="ellipse">
            <a:avLst/>
          </a:prstGeom>
          <a:solidFill>
            <a:srgbClr val="FFFFFF"/>
          </a:solidFill>
          <a:ln w="12700">
            <a:solidFill>
              <a:srgbClr val="FFFFFF"/>
            </a:solidFill>
            <a:prstDash val="solid"/>
          </a:ln>
        </p:spPr>
      </p:sp>
      <p:sp>
        <p:nvSpPr>
          <p:cNvPr id="33" name="Icono database"/>
          <p:cNvSpPr/>
          <p:nvPr/>
        </p:nvSpPr>
        <p:spPr>
          <a:xfrm>
            <a:off x="10234422" y="237286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8A4B06"/>
            </a:solidFill>
            <a:prstDash val="solid"/>
            <a:round/>
          </a:ln>
        </p:spPr>
      </p:sp>
      <p:sp>
        <p:nvSpPr>
          <p:cNvPr id="34" name="Text 32"/>
          <p:cNvSpPr/>
          <p:nvPr/>
        </p:nvSpPr>
        <p:spPr>
          <a:xfrm>
            <a:off x="9383573"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8A4B06"/>
                </a:solidFill>
                <a:latin typeface="Segoe UI Semibold" pitchFamily="34" charset="0"/>
                <a:ea typeface="Segoe UI Semibold" pitchFamily="34" charset="-122"/>
                <a:cs typeface="Segoe UI Semibold" pitchFamily="34" charset="-120"/>
              </a:rPr>
              <a:t>Base de datos</a:t>
            </a:r>
            <a:endParaRPr lang="en-US" sz="1400" dirty="0"/>
          </a:p>
        </p:txBody>
      </p:sp>
      <p:sp>
        <p:nvSpPr>
          <p:cNvPr id="35" name="Text 33"/>
          <p:cNvSpPr/>
          <p:nvPr/>
        </p:nvSpPr>
        <p:spPr>
          <a:xfrm>
            <a:off x="9401861"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procedimiento decide y guarda.</a:t>
            </a:r>
            <a:endParaRPr lang="en-US" sz="1100" dirty="0"/>
          </a:p>
        </p:txBody>
      </p:sp>
      <p:sp>
        <p:nvSpPr>
          <p:cNvPr id="36" name="[p1] Forma"/>
          <p:cNvSpPr/>
          <p:nvPr/>
        </p:nvSpPr>
        <p:spPr>
          <a:xfrm>
            <a:off x="612648" y="3936492"/>
            <a:ext cx="10966399" cy="1897380"/>
          </a:xfrm>
          <a:prstGeom prst="roundRect">
            <a:avLst>
              <a:gd name="adj" fmla="val 6747"/>
            </a:avLst>
          </a:prstGeom>
          <a:solidFill>
            <a:srgbClr val="EDF8FC"/>
          </a:solidFill>
          <a:ln w="12700">
            <a:solidFill>
              <a:srgbClr val="AACCD6"/>
            </a:solidFill>
            <a:prstDash val="solid"/>
          </a:ln>
        </p:spPr>
      </p:sp>
      <p:sp>
        <p:nvSpPr>
          <p:cNvPr id="37" name="[p1] Forma"/>
          <p:cNvSpPr/>
          <p:nvPr/>
        </p:nvSpPr>
        <p:spPr>
          <a:xfrm>
            <a:off x="612648" y="3936492"/>
            <a:ext cx="1874520" cy="1897380"/>
          </a:xfrm>
          <a:prstGeom prst="roundRect">
            <a:avLst>
              <a:gd name="adj" fmla="val 6829"/>
            </a:avLst>
          </a:prstGeom>
          <a:solidFill>
            <a:srgbClr val="0B6E8A"/>
          </a:solidFill>
          <a:ln>
            <a:solidFill>
              <a:srgbClr val="0B6E8A"/>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un ORM</a:t>
            </a:r>
            <a:endParaRPr lang="en-US" sz="1600" dirty="0"/>
          </a:p>
        </p:txBody>
      </p:sp>
      <p:sp>
        <p:nvSpPr>
          <p:cNvPr id="38" name="[p1] Forma"/>
          <p:cNvSpPr/>
          <p:nvPr/>
        </p:nvSpPr>
        <p:spPr>
          <a:xfrm>
            <a:off x="27614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3166453" y="4480560"/>
            <a:ext cx="457200" cy="457200"/>
          </a:xfrm>
          <a:prstGeom prst="ellipse">
            <a:avLst/>
          </a:prstGeom>
          <a:solidFill>
            <a:srgbClr val="E3F4FA"/>
          </a:solidFill>
          <a:ln w="12700">
            <a:solidFill>
              <a:srgbClr val="E3F4FA"/>
            </a:solidFill>
            <a:prstDash val="solid"/>
          </a:ln>
        </p:spPr>
      </p:sp>
      <p:sp>
        <p:nvSpPr>
          <p:cNvPr id="40" name="[p1] Icono monitor"/>
          <p:cNvSpPr/>
          <p:nvPr/>
        </p:nvSpPr>
        <p:spPr>
          <a:xfrm>
            <a:off x="3276181" y="459028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0B6E8A"/>
            </a:solidFill>
            <a:prstDash val="solid"/>
            <a:round/>
          </a:ln>
        </p:spPr>
      </p:sp>
      <p:sp>
        <p:nvSpPr>
          <p:cNvPr id="41" name="[p1] Forma"/>
          <p:cNvSpPr/>
          <p:nvPr/>
        </p:nvSpPr>
        <p:spPr>
          <a:xfrm>
            <a:off x="28346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Pantalla</a:t>
            </a:r>
            <a:endParaRPr lang="en-US" sz="1400" dirty="0"/>
          </a:p>
        </p:txBody>
      </p:sp>
      <p:sp>
        <p:nvSpPr>
          <p:cNvPr id="42" name="[p1] Forma"/>
          <p:cNvSpPr/>
          <p:nvPr/>
        </p:nvSpPr>
        <p:spPr>
          <a:xfrm>
            <a:off x="28529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persona pulsa Enviar.</a:t>
            </a:r>
            <a:endParaRPr lang="en-US" sz="1100" dirty="0"/>
          </a:p>
        </p:txBody>
      </p:sp>
      <p:sp>
        <p:nvSpPr>
          <p:cNvPr id="43" name="[p1] Forma"/>
          <p:cNvSpPr/>
          <p:nvPr/>
        </p:nvSpPr>
        <p:spPr>
          <a:xfrm>
            <a:off x="4101770" y="5029200"/>
            <a:ext cx="1042416" cy="0"/>
          </a:xfrm>
          <a:prstGeom prst="line">
            <a:avLst/>
          </a:prstGeom>
          <a:noFill/>
          <a:ln w="31750">
            <a:solidFill>
              <a:srgbClr val="0B6E8A"/>
            </a:solidFill>
            <a:prstDash val="solid"/>
            <a:tailEnd type="triangle"/>
          </a:ln>
        </p:spPr>
      </p:sp>
      <p:sp>
        <p:nvSpPr>
          <p:cNvPr id="44" name="[p1] Forma"/>
          <p:cNvSpPr/>
          <p:nvPr/>
        </p:nvSpPr>
        <p:spPr>
          <a:xfrm>
            <a:off x="406519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POST /enviar</a:t>
            </a:r>
            <a:endParaRPr lang="en-US" sz="1150" dirty="0"/>
          </a:p>
        </p:txBody>
      </p:sp>
      <p:sp>
        <p:nvSpPr>
          <p:cNvPr id="45" name="[p1] Forma"/>
          <p:cNvSpPr/>
          <p:nvPr/>
        </p:nvSpPr>
        <p:spPr>
          <a:xfrm>
            <a:off x="5217338" y="4389120"/>
            <a:ext cx="1267130" cy="1280160"/>
          </a:xfrm>
          <a:prstGeom prst="roundRect">
            <a:avLst>
              <a:gd name="adj" fmla="val 10103"/>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46" name="[p1] Forma"/>
          <p:cNvSpPr/>
          <p:nvPr/>
        </p:nvSpPr>
        <p:spPr>
          <a:xfrm>
            <a:off x="5217338" y="4389120"/>
            <a:ext cx="1267130" cy="1280160"/>
          </a:xfrm>
          <a:prstGeom prst="roundRect">
            <a:avLst>
              <a:gd name="adj" fmla="val 10103"/>
            </a:avLst>
          </a:prstGeom>
          <a:solidFill>
            <a:srgbClr val="FCEFD6">
              <a:alpha val="0"/>
            </a:srgbClr>
          </a:solidFill>
          <a:ln w="31750">
            <a:solidFill>
              <a:srgbClr val="8A4B06"/>
            </a:solidFill>
            <a:prstDash val="solid"/>
          </a:ln>
        </p:spPr>
      </p:sp>
      <p:sp>
        <p:nvSpPr>
          <p:cNvPr id="47" name="[p1] Forma"/>
          <p:cNvSpPr/>
          <p:nvPr/>
        </p:nvSpPr>
        <p:spPr>
          <a:xfrm>
            <a:off x="4890783" y="405993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48" name="[p1] Forma"/>
          <p:cNvSpPr/>
          <p:nvPr/>
        </p:nvSpPr>
        <p:spPr>
          <a:xfrm>
            <a:off x="5622303" y="4480560"/>
            <a:ext cx="457200" cy="457200"/>
          </a:xfrm>
          <a:prstGeom prst="ellipse">
            <a:avLst/>
          </a:prstGeom>
          <a:solidFill>
            <a:srgbClr val="FFFFFF"/>
          </a:solidFill>
          <a:ln w="12700">
            <a:solidFill>
              <a:srgbClr val="FFFFFF"/>
            </a:solidFill>
            <a:prstDash val="solid"/>
          </a:ln>
        </p:spPr>
      </p:sp>
      <p:sp>
        <p:nvSpPr>
          <p:cNvPr id="49" name="[p1] Icono code"/>
          <p:cNvSpPr/>
          <p:nvPr/>
        </p:nvSpPr>
        <p:spPr>
          <a:xfrm>
            <a:off x="5732031" y="4590288"/>
            <a:ext cx="237744" cy="237744"/>
          </a:xfrm>
          <a:custGeom>
            <a:avLst/>
            <a:gdLst/>
            <a:ahLst/>
            <a:cxnLst/>
            <a:rect l="l" t="t" r="r" b="b"/>
            <a:pathLst>
              <a:path w="237744" h="237744">
                <a:moveTo>
                  <a:pt x="158496" y="178308"/>
                </a:moveTo>
                <a:lnTo>
                  <a:pt x="217932" y="118872"/>
                </a:lnTo>
                <a:lnTo>
                  <a:pt x="158496" y="59436"/>
                </a:lnTo>
                <a:moveTo>
                  <a:pt x="79248" y="59436"/>
                </a:moveTo>
                <a:lnTo>
                  <a:pt x="19812" y="118872"/>
                </a:lnTo>
                <a:lnTo>
                  <a:pt x="79248" y="178308"/>
                </a:lnTo>
              </a:path>
            </a:pathLst>
          </a:custGeom>
          <a:noFill/>
          <a:ln w="19812" cap="rnd">
            <a:solidFill>
              <a:srgbClr val="8A4B06"/>
            </a:solidFill>
            <a:prstDash val="solid"/>
            <a:round/>
          </a:ln>
        </p:spPr>
      </p:sp>
      <p:sp>
        <p:nvSpPr>
          <p:cNvPr id="50" name="[p1] Forma"/>
          <p:cNvSpPr/>
          <p:nvPr/>
        </p:nvSpPr>
        <p:spPr>
          <a:xfrm>
            <a:off x="5290490" y="4974336"/>
            <a:ext cx="1120826" cy="292608"/>
          </a:xfrm>
          <a:prstGeom prst="rect">
            <a:avLst/>
          </a:prstGeom>
          <a:noFill/>
          <a:ln/>
        </p:spPr>
        <p:txBody>
          <a:bodyPr wrap="square" lIns="0" tIns="0" rIns="0" bIns="0" rtlCol="0" anchor="ctr">
            <a:normAutofit/>
          </a:bodyPr>
          <a:lstStyle/>
          <a:p>
            <a:pPr algn="ctr" indent="0" marL="0">
              <a:buNone/>
            </a:pPr>
            <a:r>
              <a:rPr lang="en-US" sz="1150" b="1" dirty="0">
                <a:solidFill>
                  <a:srgbClr val="8A4B06"/>
                </a:solidFill>
                <a:latin typeface="Segoe UI Semibold" pitchFamily="34" charset="0"/>
                <a:ea typeface="Segoe UI Semibold" pitchFamily="34" charset="-122"/>
                <a:cs typeface="Segoe UI Semibold" pitchFamily="34" charset="-120"/>
              </a:rPr>
              <a:t>Servicio Java</a:t>
            </a:r>
            <a:endParaRPr lang="en-US" sz="1150" dirty="0"/>
          </a:p>
        </p:txBody>
      </p:sp>
      <p:sp>
        <p:nvSpPr>
          <p:cNvPr id="51" name="[p1] Forma"/>
          <p:cNvSpPr/>
          <p:nvPr/>
        </p:nvSpPr>
        <p:spPr>
          <a:xfrm>
            <a:off x="530877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Decide, con su prueba.</a:t>
            </a:r>
            <a:endParaRPr lang="en-US" sz="1100" dirty="0"/>
          </a:p>
        </p:txBody>
      </p:sp>
      <p:sp>
        <p:nvSpPr>
          <p:cNvPr id="52" name="[p1] Forma"/>
          <p:cNvSpPr/>
          <p:nvPr/>
        </p:nvSpPr>
        <p:spPr>
          <a:xfrm>
            <a:off x="6557620" y="5029200"/>
            <a:ext cx="1042416" cy="0"/>
          </a:xfrm>
          <a:prstGeom prst="line">
            <a:avLst/>
          </a:prstGeom>
          <a:noFill/>
          <a:ln w="31750">
            <a:solidFill>
              <a:srgbClr val="0B6E8A"/>
            </a:solidFill>
            <a:prstDash val="solid"/>
            <a:tailEnd type="triangle"/>
          </a:ln>
        </p:spPr>
      </p:sp>
      <p:sp>
        <p:nvSpPr>
          <p:cNvPr id="53" name="[p1] Forma"/>
          <p:cNvSpPr/>
          <p:nvPr/>
        </p:nvSpPr>
        <p:spPr>
          <a:xfrm>
            <a:off x="652104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save(…)</a:t>
            </a:r>
            <a:endParaRPr lang="en-US" sz="1150" dirty="0"/>
          </a:p>
        </p:txBody>
      </p:sp>
      <p:sp>
        <p:nvSpPr>
          <p:cNvPr id="54" name="[p1] Forma"/>
          <p:cNvSpPr/>
          <p:nvPr/>
        </p:nvSpPr>
        <p:spPr>
          <a:xfrm>
            <a:off x="76731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5" name="[p1] Forma"/>
          <p:cNvSpPr/>
          <p:nvPr/>
        </p:nvSpPr>
        <p:spPr>
          <a:xfrm>
            <a:off x="8078153" y="4480560"/>
            <a:ext cx="457200" cy="457200"/>
          </a:xfrm>
          <a:prstGeom prst="ellipse">
            <a:avLst/>
          </a:prstGeom>
          <a:solidFill>
            <a:srgbClr val="E3F4FA"/>
          </a:solidFill>
          <a:ln w="12700">
            <a:solidFill>
              <a:srgbClr val="E3F4FA"/>
            </a:solidFill>
            <a:prstDash val="solid"/>
          </a:ln>
        </p:spPr>
      </p:sp>
      <p:sp>
        <p:nvSpPr>
          <p:cNvPr id="56" name="[p1] Icono table"/>
          <p:cNvSpPr/>
          <p:nvPr/>
        </p:nvSpPr>
        <p:spPr>
          <a:xfrm>
            <a:off x="8187881" y="4590288"/>
            <a:ext cx="237744" cy="237744"/>
          </a:xfrm>
          <a:custGeom>
            <a:avLst/>
            <a:gdLst/>
            <a:ahLst/>
            <a:cxnLst/>
            <a:rect l="l" t="t" r="r" b="b"/>
            <a:pathLst>
              <a:path w="237744" h="237744">
                <a:moveTo>
                  <a:pt x="118872" y="29718"/>
                </a:moveTo>
                <a:lnTo>
                  <a:pt x="118872" y="208026"/>
                </a:lnTo>
                <a:moveTo>
                  <a:pt x="49530" y="29718"/>
                </a:moveTo>
                <a:lnTo>
                  <a:pt x="188214" y="29718"/>
                </a:lnTo>
                <a:cubicBezTo>
                  <a:pt x="199156" y="29718"/>
                  <a:pt x="208026" y="38588"/>
                  <a:pt x="208026" y="49530"/>
                </a:cubicBezTo>
                <a:lnTo>
                  <a:pt x="208026" y="188214"/>
                </a:lnTo>
                <a:cubicBezTo>
                  <a:pt x="208026" y="199156"/>
                  <a:pt x="199156" y="208026"/>
                  <a:pt x="188214" y="208026"/>
                </a:cubicBezTo>
                <a:lnTo>
                  <a:pt x="49530" y="208026"/>
                </a:lnTo>
                <a:cubicBezTo>
                  <a:pt x="38588" y="208026"/>
                  <a:pt x="29718" y="199156"/>
                  <a:pt x="29718" y="188214"/>
                </a:cubicBezTo>
                <a:lnTo>
                  <a:pt x="29718" y="49530"/>
                </a:lnTo>
                <a:cubicBezTo>
                  <a:pt x="29718" y="38588"/>
                  <a:pt x="38588" y="29718"/>
                  <a:pt x="49530" y="29718"/>
                </a:cubicBezTo>
                <a:close/>
                <a:moveTo>
                  <a:pt x="29718" y="89154"/>
                </a:moveTo>
                <a:lnTo>
                  <a:pt x="208026" y="89154"/>
                </a:lnTo>
                <a:moveTo>
                  <a:pt x="29718" y="148590"/>
                </a:moveTo>
                <a:lnTo>
                  <a:pt x="208026" y="148590"/>
                </a:lnTo>
              </a:path>
            </a:pathLst>
          </a:custGeom>
          <a:noFill/>
          <a:ln w="19812" cap="rnd">
            <a:solidFill>
              <a:srgbClr val="0B6E8A"/>
            </a:solidFill>
            <a:prstDash val="solid"/>
            <a:round/>
          </a:ln>
        </p:spPr>
      </p:sp>
      <p:sp>
        <p:nvSpPr>
          <p:cNvPr id="57" name="[p1] Forma"/>
          <p:cNvSpPr/>
          <p:nvPr/>
        </p:nvSpPr>
        <p:spPr>
          <a:xfrm>
            <a:off x="77463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Hibernate</a:t>
            </a:r>
            <a:endParaRPr lang="en-US" sz="1400" dirty="0"/>
          </a:p>
        </p:txBody>
      </p:sp>
      <p:sp>
        <p:nvSpPr>
          <p:cNvPr id="58" name="[p1] Forma"/>
          <p:cNvSpPr/>
          <p:nvPr/>
        </p:nvSpPr>
        <p:spPr>
          <a:xfrm>
            <a:off x="77646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Escribe el SQL.</a:t>
            </a:r>
            <a:endParaRPr lang="en-US" sz="1100" dirty="0"/>
          </a:p>
        </p:txBody>
      </p:sp>
      <p:sp>
        <p:nvSpPr>
          <p:cNvPr id="59" name="[p1] Forma"/>
          <p:cNvSpPr/>
          <p:nvPr/>
        </p:nvSpPr>
        <p:spPr>
          <a:xfrm>
            <a:off x="9013469" y="5029200"/>
            <a:ext cx="1042416" cy="0"/>
          </a:xfrm>
          <a:prstGeom prst="line">
            <a:avLst/>
          </a:prstGeom>
          <a:noFill/>
          <a:ln w="31750">
            <a:solidFill>
              <a:srgbClr val="0B6E8A"/>
            </a:solidFill>
            <a:prstDash val="solid"/>
            <a:tailEnd type="triangle"/>
          </a:ln>
        </p:spPr>
      </p:sp>
      <p:sp>
        <p:nvSpPr>
          <p:cNvPr id="60" name="[p1] Forma"/>
          <p:cNvSpPr/>
          <p:nvPr/>
        </p:nvSpPr>
        <p:spPr>
          <a:xfrm>
            <a:off x="8976893"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UPDATE + INSERT</a:t>
            </a:r>
            <a:endParaRPr lang="en-US" sz="1150" dirty="0"/>
          </a:p>
        </p:txBody>
      </p:sp>
      <p:sp>
        <p:nvSpPr>
          <p:cNvPr id="61" name="[p1] Forma"/>
          <p:cNvSpPr/>
          <p:nvPr/>
        </p:nvSpPr>
        <p:spPr>
          <a:xfrm>
            <a:off x="10129037"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62" name="[p1] Forma"/>
          <p:cNvSpPr/>
          <p:nvPr/>
        </p:nvSpPr>
        <p:spPr>
          <a:xfrm>
            <a:off x="10534002" y="4480560"/>
            <a:ext cx="457200" cy="457200"/>
          </a:xfrm>
          <a:prstGeom prst="ellipse">
            <a:avLst/>
          </a:prstGeom>
          <a:solidFill>
            <a:srgbClr val="E3F4FA"/>
          </a:solidFill>
          <a:ln w="12700">
            <a:solidFill>
              <a:srgbClr val="E3F4FA"/>
            </a:solidFill>
            <a:prstDash val="solid"/>
          </a:ln>
        </p:spPr>
      </p:sp>
      <p:sp>
        <p:nvSpPr>
          <p:cNvPr id="63" name="[p1] Icono database"/>
          <p:cNvSpPr/>
          <p:nvPr/>
        </p:nvSpPr>
        <p:spPr>
          <a:xfrm>
            <a:off x="10643730" y="459028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0B6E8A"/>
            </a:solidFill>
            <a:prstDash val="solid"/>
            <a:round/>
          </a:ln>
        </p:spPr>
      </p:sp>
      <p:sp>
        <p:nvSpPr>
          <p:cNvPr id="64" name="[p1] Forma"/>
          <p:cNvSpPr/>
          <p:nvPr/>
        </p:nvSpPr>
        <p:spPr>
          <a:xfrm>
            <a:off x="10202189"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PostgreSQL</a:t>
            </a:r>
            <a:endParaRPr lang="en-US" sz="1400" dirty="0"/>
          </a:p>
        </p:txBody>
      </p:sp>
      <p:sp>
        <p:nvSpPr>
          <p:cNvPr id="65" name="[p1] Forma"/>
          <p:cNvSpPr/>
          <p:nvPr/>
        </p:nvSpPr>
        <p:spPr>
          <a:xfrm>
            <a:off x="10220477" y="5266944"/>
            <a:ext cx="1084250"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Guarda y cuida llaves e índices.</a:t>
            </a:r>
            <a:endParaRPr lang="en-US" sz="900" dirty="0"/>
          </a:p>
        </p:txBody>
      </p:sp>
      <p:sp>
        <p:nvSpPr>
          <p:cNvPr id="66" name="Shape 64"/>
          <p:cNvSpPr/>
          <p:nvPr/>
        </p:nvSpPr>
        <p:spPr>
          <a:xfrm>
            <a:off x="0" y="5961888"/>
            <a:ext cx="12191695" cy="475488"/>
          </a:xfrm>
          <a:prstGeom prst="rect">
            <a:avLst/>
          </a:prstGeom>
          <a:solidFill>
            <a:srgbClr val="0B2350"/>
          </a:solidFill>
          <a:ln w="12700">
            <a:solidFill>
              <a:srgbClr val="0B2350"/>
            </a:solidFill>
            <a:prstDash val="solid"/>
          </a:ln>
        </p:spPr>
      </p:sp>
      <p:sp>
        <p:nvSpPr>
          <p:cNvPr id="67"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68" name="Text 66"/>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No es todo o nada: las reglas van al código y los reportes o consultas pesadas pueden seguir en SQL.</a:t>
            </a:r>
            <a:endParaRPr lang="en-US" sz="14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stCondLst>
                      <p:childTnLst>
                        <p:par>
                          <p:cTn id="9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400"/>
                                        <p:tgtEl>
                                          <p:spTgt spid="3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400"/>
                                        <p:tgtEl>
                                          <p:spTgt spid="3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00"/>
                                        <p:tgtEl>
                                          <p:spTgt spid="3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400"/>
                                        <p:tgtEl>
                                          <p:spTgt spid="3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400"/>
                                        <p:tgtEl>
                                          <p:spTgt spid="4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400"/>
                                        <p:tgtEl>
                                          <p:spTgt spid="4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400"/>
                                        <p:tgtEl>
                                          <p:spTgt spid="4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400"/>
                                        <p:tgtEl>
                                          <p:spTgt spid="4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400"/>
                                        <p:tgtEl>
                                          <p:spTgt spid="4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400"/>
                                        <p:tgtEl>
                                          <p:spTgt spid="4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400"/>
                                        <p:tgtEl>
                                          <p:spTgt spid="4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400"/>
                                        <p:tgtEl>
                                          <p:spTgt spid="4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400"/>
                                        <p:tgtEl>
                                          <p:spTgt spid="5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400"/>
                                        <p:tgtEl>
                                          <p:spTgt spid="5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animEffect transition="in" filter="fade">
                                      <p:cBhvr>
                                        <p:cTn id="53" dur="400"/>
                                        <p:tgtEl>
                                          <p:spTgt spid="5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400"/>
                                        <p:tgtEl>
                                          <p:spTgt spid="5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animEffect transition="in" filter="fade">
                                      <p:cBhvr>
                                        <p:cTn id="59" dur="400"/>
                                        <p:tgtEl>
                                          <p:spTgt spid="5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5"/>
                                        </p:tgtEl>
                                        <p:attrNameLst>
                                          <p:attrName>style.visibility</p:attrName>
                                        </p:attrNameLst>
                                      </p:cBhvr>
                                      <p:to>
                                        <p:strVal val="visible"/>
                                      </p:to>
                                    </p:set>
                                    <p:animEffect transition="in" filter="fade">
                                      <p:cBhvr>
                                        <p:cTn id="62" dur="400"/>
                                        <p:tgtEl>
                                          <p:spTgt spid="5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fade">
                                      <p:cBhvr>
                                        <p:cTn id="65" dur="400"/>
                                        <p:tgtEl>
                                          <p:spTgt spid="5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fade">
                                      <p:cBhvr>
                                        <p:cTn id="68" dur="400"/>
                                        <p:tgtEl>
                                          <p:spTgt spid="5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58"/>
                                        </p:tgtEl>
                                        <p:attrNameLst>
                                          <p:attrName>style.visibility</p:attrName>
                                        </p:attrNameLst>
                                      </p:cBhvr>
                                      <p:to>
                                        <p:strVal val="visible"/>
                                      </p:to>
                                    </p:set>
                                    <p:animEffect transition="in" filter="fade">
                                      <p:cBhvr>
                                        <p:cTn id="71" dur="400"/>
                                        <p:tgtEl>
                                          <p:spTgt spid="5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59"/>
                                        </p:tgtEl>
                                        <p:attrNameLst>
                                          <p:attrName>style.visibility</p:attrName>
                                        </p:attrNameLst>
                                      </p:cBhvr>
                                      <p:to>
                                        <p:strVal val="visible"/>
                                      </p:to>
                                    </p:set>
                                    <p:animEffect transition="in" filter="fade">
                                      <p:cBhvr>
                                        <p:cTn id="74" dur="400"/>
                                        <p:tgtEl>
                                          <p:spTgt spid="5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60"/>
                                        </p:tgtEl>
                                        <p:attrNameLst>
                                          <p:attrName>style.visibility</p:attrName>
                                        </p:attrNameLst>
                                      </p:cBhvr>
                                      <p:to>
                                        <p:strVal val="visible"/>
                                      </p:to>
                                    </p:set>
                                    <p:animEffect transition="in" filter="fade">
                                      <p:cBhvr>
                                        <p:cTn id="77" dur="400"/>
                                        <p:tgtEl>
                                          <p:spTgt spid="6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1"/>
                                        </p:tgtEl>
                                        <p:attrNameLst>
                                          <p:attrName>style.visibility</p:attrName>
                                        </p:attrNameLst>
                                      </p:cBhvr>
                                      <p:to>
                                        <p:strVal val="visible"/>
                                      </p:to>
                                    </p:set>
                                    <p:animEffect transition="in" filter="fade">
                                      <p:cBhvr>
                                        <p:cTn id="80" dur="400"/>
                                        <p:tgtEl>
                                          <p:spTgt spid="6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62"/>
                                        </p:tgtEl>
                                        <p:attrNameLst>
                                          <p:attrName>style.visibility</p:attrName>
                                        </p:attrNameLst>
                                      </p:cBhvr>
                                      <p:to>
                                        <p:strVal val="visible"/>
                                      </p:to>
                                    </p:set>
                                    <p:animEffect transition="in" filter="fade">
                                      <p:cBhvr>
                                        <p:cTn id="83" dur="400"/>
                                        <p:tgtEl>
                                          <p:spTgt spid="6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3"/>
                                        </p:tgtEl>
                                        <p:attrNameLst>
                                          <p:attrName>style.visibility</p:attrName>
                                        </p:attrNameLst>
                                      </p:cBhvr>
                                      <p:to>
                                        <p:strVal val="visible"/>
                                      </p:to>
                                    </p:set>
                                    <p:animEffect transition="in" filter="fade">
                                      <p:cBhvr>
                                        <p:cTn id="86" dur="400"/>
                                        <p:tgtEl>
                                          <p:spTgt spid="63"/>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4"/>
                                        </p:tgtEl>
                                        <p:attrNameLst>
                                          <p:attrName>style.visibility</p:attrName>
                                        </p:attrNameLst>
                                      </p:cBhvr>
                                      <p:to>
                                        <p:strVal val="visible"/>
                                      </p:to>
                                    </p:set>
                                    <p:animEffect transition="in" filter="fade">
                                      <p:cBhvr>
                                        <p:cTn id="89" dur="400"/>
                                        <p:tgtEl>
                                          <p:spTgt spid="64"/>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65"/>
                                        </p:tgtEl>
                                        <p:attrNameLst>
                                          <p:attrName>style.visibility</p:attrName>
                                        </p:attrNameLst>
                                      </p:cBhvr>
                                      <p:to>
                                        <p:strVal val="visible"/>
                                      </p:to>
                                    </p:set>
                                    <p:animEffect transition="in" filter="fade">
                                      <p:cBhvr>
                                        <p:cTn id="92"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misma regla, escrita de las dos formas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Regla del negocio: solo se puede enviar una solicitud que está en borrador.</a:t>
            </a:r>
            <a:endParaRPr lang="en-US" sz="1700" dirty="0"/>
          </a:p>
        </p:txBody>
      </p:sp>
      <p:sp>
        <p:nvSpPr>
          <p:cNvPr id="13" name="Shape 11"/>
          <p:cNvSpPr/>
          <p:nvPr/>
        </p:nvSpPr>
        <p:spPr>
          <a:xfrm>
            <a:off x="6126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5254600" cy="566928"/>
          </a:xfrm>
          <a:prstGeom prst="roundRect">
            <a:avLst>
              <a:gd name="adj" fmla="val 22581"/>
            </a:avLst>
          </a:prstGeom>
          <a:solidFill>
            <a:srgbClr val="55627E"/>
          </a:solidFill>
          <a:ln w="12700">
            <a:solidFill>
              <a:srgbClr val="55627E"/>
            </a:solidFill>
            <a:prstDash val="solid"/>
          </a:ln>
        </p:spPr>
      </p:sp>
      <p:sp>
        <p:nvSpPr>
          <p:cNvPr id="15" name="Shape 13"/>
          <p:cNvSpPr/>
          <p:nvPr/>
        </p:nvSpPr>
        <p:spPr>
          <a:xfrm>
            <a:off x="612648" y="2103120"/>
            <a:ext cx="5254600" cy="182880"/>
          </a:xfrm>
          <a:prstGeom prst="rect">
            <a:avLst/>
          </a:prstGeom>
          <a:solidFill>
            <a:srgbClr val="55627E"/>
          </a:solidFill>
          <a:ln w="12700">
            <a:solidFill>
              <a:srgbClr val="55627E"/>
            </a:solidFill>
            <a:prstDash val="solid"/>
          </a:ln>
        </p:spPr>
      </p:sp>
      <p:sp>
        <p:nvSpPr>
          <p:cNvPr id="16" name="Shape 14"/>
          <p:cNvSpPr/>
          <p:nvPr/>
        </p:nvSpPr>
        <p:spPr>
          <a:xfrm>
            <a:off x="758952" y="1792224"/>
            <a:ext cx="420624" cy="420624"/>
          </a:xfrm>
          <a:prstGeom prst="ellipse">
            <a:avLst/>
          </a:prstGeom>
          <a:solidFill>
            <a:srgbClr val="FFFFFF"/>
          </a:solidFill>
          <a:ln w="12700">
            <a:solidFill>
              <a:srgbClr val="FFFFFF"/>
            </a:solidFill>
            <a:prstDash val="solid"/>
          </a:ln>
        </p:spPr>
      </p:sp>
      <p:sp>
        <p:nvSpPr>
          <p:cNvPr id="17" name="Icono database"/>
          <p:cNvSpPr/>
          <p:nvPr/>
        </p:nvSpPr>
        <p:spPr>
          <a:xfrm>
            <a:off x="859902" y="1893174"/>
            <a:ext cx="218724" cy="218724"/>
          </a:xfrm>
          <a:custGeom>
            <a:avLst/>
            <a:gdLst/>
            <a:ahLst/>
            <a:cxnLst/>
            <a:rect l="l" t="t" r="r" b="b"/>
            <a:pathLst>
              <a:path w="218724" h="218724">
                <a:moveTo>
                  <a:pt x="191384" y="45568"/>
                </a:moveTo>
                <a:cubicBezTo>
                  <a:pt x="191384" y="60667"/>
                  <a:pt x="154662" y="72908"/>
                  <a:pt x="109362" y="72908"/>
                </a:cubicBezTo>
                <a:cubicBezTo>
                  <a:pt x="64063" y="72908"/>
                  <a:pt x="27341" y="60667"/>
                  <a:pt x="27341" y="45568"/>
                </a:cubicBezTo>
                <a:cubicBezTo>
                  <a:pt x="27341" y="30468"/>
                  <a:pt x="64063" y="18227"/>
                  <a:pt x="109362" y="18227"/>
                </a:cubicBezTo>
                <a:cubicBezTo>
                  <a:pt x="154662" y="18227"/>
                  <a:pt x="191384" y="30468"/>
                  <a:pt x="191384" y="45568"/>
                </a:cubicBezTo>
                <a:close/>
                <a:moveTo>
                  <a:pt x="27341" y="45568"/>
                </a:moveTo>
                <a:lnTo>
                  <a:pt x="27341" y="173157"/>
                </a:lnTo>
                <a:cubicBezTo>
                  <a:pt x="27341" y="188257"/>
                  <a:pt x="64063" y="200497"/>
                  <a:pt x="109362" y="200497"/>
                </a:cubicBezTo>
                <a:cubicBezTo>
                  <a:pt x="154662" y="200497"/>
                  <a:pt x="191384" y="188257"/>
                  <a:pt x="191384" y="173157"/>
                </a:cubicBezTo>
                <a:lnTo>
                  <a:pt x="191384" y="45568"/>
                </a:lnTo>
                <a:moveTo>
                  <a:pt x="27341" y="109362"/>
                </a:moveTo>
                <a:cubicBezTo>
                  <a:pt x="27341" y="124462"/>
                  <a:pt x="64063" y="136703"/>
                  <a:pt x="109362" y="136703"/>
                </a:cubicBezTo>
                <a:cubicBezTo>
                  <a:pt x="154662" y="136703"/>
                  <a:pt x="191384" y="124462"/>
                  <a:pt x="191384" y="109362"/>
                </a:cubicBezTo>
              </a:path>
            </a:pathLst>
          </a:custGeom>
          <a:noFill/>
          <a:ln w="18227" cap="rnd">
            <a:solidFill>
              <a:srgbClr val="55627E"/>
            </a:solidFill>
            <a:prstDash val="solid"/>
            <a:round/>
          </a:ln>
        </p:spPr>
      </p:sp>
      <p:sp>
        <p:nvSpPr>
          <p:cNvPr id="18" name="Text 16"/>
          <p:cNvSpPr/>
          <p:nvPr/>
        </p:nvSpPr>
        <p:spPr>
          <a:xfrm>
            <a:off x="12893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Hoy: en un procedimiento</a:t>
            </a:r>
            <a:endParaRPr lang="en-US" sz="1600" dirty="0"/>
          </a:p>
        </p:txBody>
      </p:sp>
      <p:sp>
        <p:nvSpPr>
          <p:cNvPr id="19" name="Text 17"/>
          <p:cNvSpPr/>
          <p:nvPr/>
        </p:nvSpPr>
        <p:spPr>
          <a:xfrm>
            <a:off x="7772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CREATE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PROCEDURE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sp_enviar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VARCHAR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20</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AS</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BEGIN</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SELECT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FROM</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&lt;&gt;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'BORRADOR'</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50001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'Solo se envía en BORRADOR'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UPDATE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'ENVIADA'</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END</a:t>
            </a:r>
            <a:endParaRPr lang="en-US" sz="1250" dirty="0"/>
          </a:p>
        </p:txBody>
      </p:sp>
      <p:sp>
        <p:nvSpPr>
          <p:cNvPr id="20" name="Icono arrow-right"/>
          <p:cNvSpPr/>
          <p:nvPr/>
        </p:nvSpPr>
        <p:spPr>
          <a:xfrm>
            <a:off x="832104" y="528523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1" name="Text 19"/>
          <p:cNvSpPr/>
          <p:nvPr/>
        </p:nvSpPr>
        <p:spPr>
          <a:xfrm>
            <a:off x="12161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y el dato viven juntos en la base</a:t>
            </a:r>
            <a:endParaRPr lang="en-US" sz="1400" dirty="0"/>
          </a:p>
        </p:txBody>
      </p:sp>
      <p:sp>
        <p:nvSpPr>
          <p:cNvPr id="22" name="Icono arrow-right"/>
          <p:cNvSpPr/>
          <p:nvPr/>
        </p:nvSpPr>
        <p:spPr>
          <a:xfrm>
            <a:off x="832104" y="565099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3" name="Text 21"/>
          <p:cNvSpPr/>
          <p:nvPr/>
        </p:nvSpPr>
        <p:spPr>
          <a:xfrm>
            <a:off x="12161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Probarla exige una base con datos</a:t>
            </a:r>
            <a:endParaRPr lang="en-US" sz="1400" dirty="0"/>
          </a:p>
        </p:txBody>
      </p:sp>
      <p:sp>
        <p:nvSpPr>
          <p:cNvPr id="24" name="Icono arrow-right"/>
          <p:cNvSpPr/>
          <p:nvPr/>
        </p:nvSpPr>
        <p:spPr>
          <a:xfrm>
            <a:off x="832104" y="601675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5" name="Text 23"/>
          <p:cNvSpPr/>
          <p:nvPr/>
        </p:nvSpPr>
        <p:spPr>
          <a:xfrm>
            <a:off x="12161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Cambiarla es desplegar en la base</a:t>
            </a:r>
            <a:endParaRPr lang="en-US" sz="1400" dirty="0"/>
          </a:p>
        </p:txBody>
      </p:sp>
      <p:sp>
        <p:nvSpPr>
          <p:cNvPr id="26" name="[p1] Forma"/>
          <p:cNvSpPr/>
          <p:nvPr/>
        </p:nvSpPr>
        <p:spPr>
          <a:xfrm>
            <a:off x="63244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324448" y="1719072"/>
            <a:ext cx="5254600" cy="566928"/>
          </a:xfrm>
          <a:prstGeom prst="roundRect">
            <a:avLst>
              <a:gd name="adj" fmla="val 22581"/>
            </a:avLst>
          </a:prstGeom>
          <a:solidFill>
            <a:srgbClr val="0B6E8A"/>
          </a:solidFill>
          <a:ln w="12700">
            <a:solidFill>
              <a:srgbClr val="0B6E8A"/>
            </a:solidFill>
            <a:prstDash val="solid"/>
          </a:ln>
        </p:spPr>
      </p:sp>
      <p:sp>
        <p:nvSpPr>
          <p:cNvPr id="28" name="[p1] Forma"/>
          <p:cNvSpPr/>
          <p:nvPr/>
        </p:nvSpPr>
        <p:spPr>
          <a:xfrm>
            <a:off x="6324448" y="2103120"/>
            <a:ext cx="5254600" cy="182880"/>
          </a:xfrm>
          <a:prstGeom prst="rect">
            <a:avLst/>
          </a:prstGeom>
          <a:solidFill>
            <a:srgbClr val="0B6E8A"/>
          </a:solidFill>
          <a:ln w="12700">
            <a:solidFill>
              <a:srgbClr val="0B6E8A"/>
            </a:solidFill>
            <a:prstDash val="solid"/>
          </a:ln>
        </p:spPr>
      </p:sp>
      <p:sp>
        <p:nvSpPr>
          <p:cNvPr id="29" name="[p1] Forma"/>
          <p:cNvSpPr/>
          <p:nvPr/>
        </p:nvSpPr>
        <p:spPr>
          <a:xfrm>
            <a:off x="6470752" y="1792224"/>
            <a:ext cx="420624" cy="420624"/>
          </a:xfrm>
          <a:prstGeom prst="ellipse">
            <a:avLst/>
          </a:prstGeom>
          <a:solidFill>
            <a:srgbClr val="FFFFFF"/>
          </a:solidFill>
          <a:ln w="12700">
            <a:solidFill>
              <a:srgbClr val="FFFFFF"/>
            </a:solidFill>
            <a:prstDash val="solid"/>
          </a:ln>
        </p:spPr>
      </p:sp>
      <p:sp>
        <p:nvSpPr>
          <p:cNvPr id="30" name="[p1] Icono code"/>
          <p:cNvSpPr/>
          <p:nvPr/>
        </p:nvSpPr>
        <p:spPr>
          <a:xfrm>
            <a:off x="6571701" y="1893174"/>
            <a:ext cx="218724" cy="218724"/>
          </a:xfrm>
          <a:custGeom>
            <a:avLst/>
            <a:gdLst/>
            <a:ahLst/>
            <a:cxnLst/>
            <a:rect l="l" t="t" r="r" b="b"/>
            <a:pathLst>
              <a:path w="218724" h="218724">
                <a:moveTo>
                  <a:pt x="145816" y="164043"/>
                </a:moveTo>
                <a:lnTo>
                  <a:pt x="200497" y="109362"/>
                </a:lnTo>
                <a:lnTo>
                  <a:pt x="145816" y="54681"/>
                </a:lnTo>
                <a:moveTo>
                  <a:pt x="72908" y="54681"/>
                </a:moveTo>
                <a:lnTo>
                  <a:pt x="18227" y="109362"/>
                </a:lnTo>
                <a:lnTo>
                  <a:pt x="72908" y="164043"/>
                </a:lnTo>
              </a:path>
            </a:pathLst>
          </a:custGeom>
          <a:noFill/>
          <a:ln w="18227" cap="rnd">
            <a:solidFill>
              <a:srgbClr val="0B6E8A"/>
            </a:solidFill>
            <a:prstDash val="solid"/>
            <a:round/>
          </a:ln>
        </p:spPr>
      </p:sp>
      <p:sp>
        <p:nvSpPr>
          <p:cNvPr id="31" name="[p1] Forma"/>
          <p:cNvSpPr/>
          <p:nvPr/>
        </p:nvSpPr>
        <p:spPr>
          <a:xfrm>
            <a:off x="70011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en el código</a:t>
            </a:r>
            <a:endParaRPr lang="en-US" sz="1600" dirty="0"/>
          </a:p>
        </p:txBody>
      </p:sp>
      <p:sp>
        <p:nvSpPr>
          <p:cNvPr id="32" name="[p1] Forma"/>
          <p:cNvSpPr/>
          <p:nvPr/>
        </p:nvSpPr>
        <p:spPr>
          <a:xfrm>
            <a:off x="64890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enviar() {</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TransicionNoPermitida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F2C66D"/>
                </a:solidFill>
                <a:latin typeface="Consolas" pitchFamily="34" charset="0"/>
                <a:ea typeface="Consolas" pitchFamily="34" charset="-122"/>
                <a:cs typeface="Consolas" pitchFamily="34" charset="-120"/>
              </a:rPr>
              <a:t>"solo se puede enviar en 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(id, tipo,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ENVIADA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Hibernate escribe el SQL:</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UPDATE solicitud SET estado = ? WHERE id = ?</a:t>
            </a:r>
            <a:endParaRPr lang="en-US" sz="1200" dirty="0"/>
          </a:p>
        </p:txBody>
      </p:sp>
      <p:sp>
        <p:nvSpPr>
          <p:cNvPr id="33" name="[p1] Icono circle-check"/>
          <p:cNvSpPr/>
          <p:nvPr/>
        </p:nvSpPr>
        <p:spPr>
          <a:xfrm>
            <a:off x="6543904" y="528523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4" name="[p1] Forma"/>
          <p:cNvSpPr/>
          <p:nvPr/>
        </p:nvSpPr>
        <p:spPr>
          <a:xfrm>
            <a:off x="69279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vive en el código, con su prueba</a:t>
            </a:r>
            <a:endParaRPr lang="en-US" sz="1400" dirty="0"/>
          </a:p>
        </p:txBody>
      </p:sp>
      <p:sp>
        <p:nvSpPr>
          <p:cNvPr id="35" name="[p1] Icono circle-check"/>
          <p:cNvSpPr/>
          <p:nvPr/>
        </p:nvSpPr>
        <p:spPr>
          <a:xfrm>
            <a:off x="6543904" y="565099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6" name="[p1] Forma"/>
          <p:cNvSpPr/>
          <p:nvPr/>
        </p:nvSpPr>
        <p:spPr>
          <a:xfrm>
            <a:off x="69279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 prueba en milisegundos, sin base</a:t>
            </a:r>
            <a:endParaRPr lang="en-US" sz="1400" dirty="0"/>
          </a:p>
        </p:txBody>
      </p:sp>
      <p:sp>
        <p:nvSpPr>
          <p:cNvPr id="37" name="[p1] Icono circle-check"/>
          <p:cNvSpPr/>
          <p:nvPr/>
        </p:nvSpPr>
        <p:spPr>
          <a:xfrm>
            <a:off x="6543904" y="601675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8" name="[p1] Forma"/>
          <p:cNvSpPr/>
          <p:nvPr/>
        </p:nvSpPr>
        <p:spPr>
          <a:xfrm>
            <a:off x="69279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base sigue cuidando llaves, CHECK e índices</a:t>
            </a:r>
            <a:endParaRPr lang="en-US" sz="14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8"/>
                                        </p:tgtEl>
                                        <p:attrNameLst>
                                          <p:attrName>style.visibility</p:attrName>
                                        </p:attrNameLst>
                                      </p:cBhvr>
                                      <p:to>
                                        <p:strVal val="visible"/>
                                      </p:to>
                                    </p:set>
                                    <p:animEffect transition="in" filter="fade">
                                      <p:cBhvr>
                                        <p:cTn id="41"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ORM por dentro: una clase es una tabla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Hibernate lee la clase, sabe a qué columna va cada campo y escribe el SQL.</a:t>
            </a:r>
            <a:endParaRPr lang="en-US" sz="1700" dirty="0"/>
          </a:p>
        </p:txBody>
      </p:sp>
      <p:sp>
        <p:nvSpPr>
          <p:cNvPr id="13" name="Shape 11"/>
          <p:cNvSpPr/>
          <p:nvPr/>
        </p:nvSpPr>
        <p:spPr>
          <a:xfrm>
            <a:off x="612648"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4160520" cy="731520"/>
          </a:xfrm>
          <a:prstGeom prst="roundRect">
            <a:avLst>
              <a:gd name="adj" fmla="val 17500"/>
            </a:avLst>
          </a:prstGeom>
          <a:solidFill>
            <a:srgbClr val="0B2350"/>
          </a:solidFill>
          <a:ln w="12700">
            <a:solidFill>
              <a:srgbClr val="0B2350"/>
            </a:solidFill>
            <a:prstDash val="solid"/>
          </a:ln>
        </p:spPr>
      </p:sp>
      <p:sp>
        <p:nvSpPr>
          <p:cNvPr id="15" name="Shape 13"/>
          <p:cNvSpPr/>
          <p:nvPr/>
        </p:nvSpPr>
        <p:spPr>
          <a:xfrm>
            <a:off x="612648" y="2267712"/>
            <a:ext cx="4160520" cy="182880"/>
          </a:xfrm>
          <a:prstGeom prst="rect">
            <a:avLst/>
          </a:prstGeom>
          <a:solidFill>
            <a:srgbClr val="0B2350"/>
          </a:solidFill>
          <a:ln w="12700">
            <a:solidFill>
              <a:srgbClr val="0B2350"/>
            </a:solidFill>
            <a:prstDash val="solid"/>
          </a:ln>
        </p:spPr>
      </p:sp>
      <p:sp>
        <p:nvSpPr>
          <p:cNvPr id="16" name="Icono code"/>
          <p:cNvSpPr/>
          <p:nvPr/>
        </p:nvSpPr>
        <p:spPr>
          <a:xfrm>
            <a:off x="813816" y="1901952"/>
            <a:ext cx="365760" cy="365760"/>
          </a:xfrm>
          <a:custGeom>
            <a:avLst/>
            <a:gdLst/>
            <a:ahLst/>
            <a:cxnLst/>
            <a:rect l="l" t="t" r="r" b="b"/>
            <a:pathLst>
              <a:path w="365760" h="365760">
                <a:moveTo>
                  <a:pt x="243840" y="274320"/>
                </a:moveTo>
                <a:lnTo>
                  <a:pt x="335280" y="182880"/>
                </a:lnTo>
                <a:lnTo>
                  <a:pt x="243840" y="91440"/>
                </a:lnTo>
                <a:moveTo>
                  <a:pt x="121920" y="91440"/>
                </a:moveTo>
                <a:lnTo>
                  <a:pt x="30480" y="182880"/>
                </a:lnTo>
                <a:lnTo>
                  <a:pt x="121920" y="274320"/>
                </a:lnTo>
              </a:path>
            </a:pathLst>
          </a:custGeom>
          <a:noFill/>
          <a:ln w="30480" cap="rnd">
            <a:solidFill>
              <a:srgbClr val="FFFFFF"/>
            </a:solidFill>
            <a:prstDash val="solid"/>
            <a:round/>
          </a:ln>
        </p:spPr>
      </p:sp>
      <p:sp>
        <p:nvSpPr>
          <p:cNvPr id="17" name="Text 15"/>
          <p:cNvSpPr/>
          <p:nvPr/>
        </p:nvSpPr>
        <p:spPr>
          <a:xfrm>
            <a:off x="1325880"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SolicitudEntity</a:t>
            </a:r>
            <a:endParaRPr lang="en-US" sz="1800" dirty="0"/>
          </a:p>
        </p:txBody>
      </p:sp>
      <p:sp>
        <p:nvSpPr>
          <p:cNvPr id="18" name="Text 16"/>
          <p:cNvSpPr/>
          <p:nvPr/>
        </p:nvSpPr>
        <p:spPr>
          <a:xfrm>
            <a:off x="1325880"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Clase Java · @Entity · @Table("solicitud")</a:t>
            </a:r>
            <a:endParaRPr lang="en-US" sz="1100" dirty="0"/>
          </a:p>
        </p:txBody>
      </p:sp>
      <p:sp>
        <p:nvSpPr>
          <p:cNvPr id="19" name="Shape 17"/>
          <p:cNvSpPr/>
          <p:nvPr/>
        </p:nvSpPr>
        <p:spPr>
          <a:xfrm>
            <a:off x="7418527"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7418527" y="1719072"/>
            <a:ext cx="4160520" cy="731520"/>
          </a:xfrm>
          <a:prstGeom prst="roundRect">
            <a:avLst>
              <a:gd name="adj" fmla="val 17500"/>
            </a:avLst>
          </a:prstGeom>
          <a:solidFill>
            <a:srgbClr val="0B6E8A"/>
          </a:solidFill>
          <a:ln w="12700">
            <a:solidFill>
              <a:srgbClr val="0B6E8A"/>
            </a:solidFill>
            <a:prstDash val="solid"/>
          </a:ln>
        </p:spPr>
      </p:sp>
      <p:sp>
        <p:nvSpPr>
          <p:cNvPr id="21" name="Shape 19"/>
          <p:cNvSpPr/>
          <p:nvPr/>
        </p:nvSpPr>
        <p:spPr>
          <a:xfrm>
            <a:off x="7418527" y="2267712"/>
            <a:ext cx="4160520" cy="182880"/>
          </a:xfrm>
          <a:prstGeom prst="rect">
            <a:avLst/>
          </a:prstGeom>
          <a:solidFill>
            <a:srgbClr val="0B6E8A"/>
          </a:solidFill>
          <a:ln w="12700">
            <a:solidFill>
              <a:srgbClr val="0B6E8A"/>
            </a:solidFill>
            <a:prstDash val="solid"/>
          </a:ln>
        </p:spPr>
      </p:sp>
      <p:sp>
        <p:nvSpPr>
          <p:cNvPr id="22" name="Icono table"/>
          <p:cNvSpPr/>
          <p:nvPr/>
        </p:nvSpPr>
        <p:spPr>
          <a:xfrm>
            <a:off x="7619695" y="1901952"/>
            <a:ext cx="365760" cy="365760"/>
          </a:xfrm>
          <a:custGeom>
            <a:avLst/>
            <a:gdLst/>
            <a:ahLst/>
            <a:cxnLst/>
            <a:rect l="l" t="t" r="r" b="b"/>
            <a:pathLst>
              <a:path w="365760" h="365760">
                <a:moveTo>
                  <a:pt x="182880" y="45720"/>
                </a:moveTo>
                <a:lnTo>
                  <a:pt x="182880" y="320040"/>
                </a:lnTo>
                <a:moveTo>
                  <a:pt x="76200" y="45720"/>
                </a:moveTo>
                <a:lnTo>
                  <a:pt x="289560" y="45720"/>
                </a:lnTo>
                <a:cubicBezTo>
                  <a:pt x="306394" y="45720"/>
                  <a:pt x="320040" y="59366"/>
                  <a:pt x="320040" y="76200"/>
                </a:cubicBezTo>
                <a:lnTo>
                  <a:pt x="320040" y="289560"/>
                </a:lnTo>
                <a:cubicBezTo>
                  <a:pt x="320040" y="306394"/>
                  <a:pt x="306394" y="320040"/>
                  <a:pt x="289560" y="320040"/>
                </a:cubicBezTo>
                <a:lnTo>
                  <a:pt x="76200" y="320040"/>
                </a:lnTo>
                <a:cubicBezTo>
                  <a:pt x="59366" y="320040"/>
                  <a:pt x="45720" y="306394"/>
                  <a:pt x="45720" y="289560"/>
                </a:cubicBezTo>
                <a:lnTo>
                  <a:pt x="45720" y="76200"/>
                </a:lnTo>
                <a:cubicBezTo>
                  <a:pt x="45720" y="59366"/>
                  <a:pt x="59366" y="45720"/>
                  <a:pt x="76200" y="45720"/>
                </a:cubicBezTo>
                <a:close/>
                <a:moveTo>
                  <a:pt x="45720" y="137160"/>
                </a:moveTo>
                <a:lnTo>
                  <a:pt x="320040" y="137160"/>
                </a:lnTo>
                <a:moveTo>
                  <a:pt x="45720" y="228600"/>
                </a:moveTo>
                <a:lnTo>
                  <a:pt x="320040" y="228600"/>
                </a:lnTo>
              </a:path>
            </a:pathLst>
          </a:custGeom>
          <a:noFill/>
          <a:ln w="30480" cap="rnd">
            <a:solidFill>
              <a:srgbClr val="FFFFFF"/>
            </a:solidFill>
            <a:prstDash val="solid"/>
            <a:round/>
          </a:ln>
        </p:spPr>
      </p:sp>
      <p:sp>
        <p:nvSpPr>
          <p:cNvPr id="23" name="Text 21"/>
          <p:cNvSpPr/>
          <p:nvPr/>
        </p:nvSpPr>
        <p:spPr>
          <a:xfrm>
            <a:off x="8131759"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a:t>
            </a:r>
            <a:endParaRPr lang="en-US" sz="1800" dirty="0"/>
          </a:p>
        </p:txBody>
      </p:sp>
      <p:sp>
        <p:nvSpPr>
          <p:cNvPr id="24" name="Text 22"/>
          <p:cNvSpPr/>
          <p:nvPr/>
        </p:nvSpPr>
        <p:spPr>
          <a:xfrm>
            <a:off x="8131759"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Tabla en PostgreSQL</a:t>
            </a:r>
            <a:endParaRPr lang="en-US" sz="1100" dirty="0"/>
          </a:p>
        </p:txBody>
      </p:sp>
      <p:sp>
        <p:nvSpPr>
          <p:cNvPr id="25" name="[p1] Forma"/>
          <p:cNvSpPr/>
          <p:nvPr/>
        </p:nvSpPr>
        <p:spPr>
          <a:xfrm>
            <a:off x="886968" y="25146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@Id String id</a:t>
            </a:r>
            <a:endParaRPr lang="en-US" sz="1500" dirty="0"/>
          </a:p>
        </p:txBody>
      </p:sp>
      <p:sp>
        <p:nvSpPr>
          <p:cNvPr id="26" name="[p1] Icono key-round"/>
          <p:cNvSpPr/>
          <p:nvPr/>
        </p:nvSpPr>
        <p:spPr>
          <a:xfrm>
            <a:off x="7637983" y="2633472"/>
            <a:ext cx="219456" cy="219456"/>
          </a:xfrm>
          <a:custGeom>
            <a:avLst/>
            <a:gdLst/>
            <a:ahLst/>
            <a:cxnLst/>
            <a:rect l="l" t="t" r="r" b="b"/>
            <a:pathLst>
              <a:path w="219456" h="219456">
                <a:moveTo>
                  <a:pt x="23646" y="159234"/>
                </a:moveTo>
                <a:cubicBezTo>
                  <a:pt x="20216" y="162662"/>
                  <a:pt x="18289" y="167313"/>
                  <a:pt x="18288" y="172163"/>
                </a:cubicBezTo>
                <a:lnTo>
                  <a:pt x="18288" y="192024"/>
                </a:lnTo>
                <a:cubicBezTo>
                  <a:pt x="18288" y="197074"/>
                  <a:pt x="22382" y="201168"/>
                  <a:pt x="27432" y="201168"/>
                </a:cubicBezTo>
                <a:lnTo>
                  <a:pt x="54864" y="201168"/>
                </a:lnTo>
                <a:cubicBezTo>
                  <a:pt x="59914" y="201168"/>
                  <a:pt x="64008" y="197074"/>
                  <a:pt x="64008" y="192024"/>
                </a:cubicBezTo>
                <a:lnTo>
                  <a:pt x="64008" y="182880"/>
                </a:lnTo>
                <a:cubicBezTo>
                  <a:pt x="64008" y="177830"/>
                  <a:pt x="68102" y="173736"/>
                  <a:pt x="73152" y="173736"/>
                </a:cubicBezTo>
                <a:lnTo>
                  <a:pt x="82296" y="173736"/>
                </a:lnTo>
                <a:cubicBezTo>
                  <a:pt x="87346" y="173736"/>
                  <a:pt x="91440" y="169642"/>
                  <a:pt x="91440" y="164592"/>
                </a:cubicBezTo>
                <a:lnTo>
                  <a:pt x="91440" y="155448"/>
                </a:lnTo>
                <a:cubicBezTo>
                  <a:pt x="91440" y="150398"/>
                  <a:pt x="95534" y="146304"/>
                  <a:pt x="100584" y="146304"/>
                </a:cubicBezTo>
                <a:lnTo>
                  <a:pt x="102157" y="146304"/>
                </a:lnTo>
                <a:cubicBezTo>
                  <a:pt x="107007" y="146303"/>
                  <a:pt x="111658" y="144376"/>
                  <a:pt x="115086" y="140946"/>
                </a:cubicBezTo>
                <a:lnTo>
                  <a:pt x="122530" y="133502"/>
                </a:lnTo>
                <a:cubicBezTo>
                  <a:pt x="148702" y="142619"/>
                  <a:pt x="177701" y="132438"/>
                  <a:pt x="192430" y="108961"/>
                </a:cubicBezTo>
                <a:cubicBezTo>
                  <a:pt x="207158" y="85484"/>
                  <a:pt x="203706" y="54944"/>
                  <a:pt x="184109" y="35347"/>
                </a:cubicBezTo>
                <a:cubicBezTo>
                  <a:pt x="164512" y="15750"/>
                  <a:pt x="133972" y="12298"/>
                  <a:pt x="110495" y="27026"/>
                </a:cubicBezTo>
                <a:cubicBezTo>
                  <a:pt x="87018" y="41755"/>
                  <a:pt x="76837" y="70754"/>
                  <a:pt x="85954" y="96926"/>
                </a:cubicBezTo>
                <a:close/>
                <a:moveTo>
                  <a:pt x="155448" y="68580"/>
                </a:moveTo>
                <a:cubicBezTo>
                  <a:pt x="155448" y="71105"/>
                  <a:pt x="153401" y="73152"/>
                  <a:pt x="150876" y="73152"/>
                </a:cubicBezTo>
                <a:cubicBezTo>
                  <a:pt x="148351" y="73152"/>
                  <a:pt x="146304" y="71105"/>
                  <a:pt x="146304" y="68580"/>
                </a:cubicBezTo>
                <a:cubicBezTo>
                  <a:pt x="146304" y="66055"/>
                  <a:pt x="148351" y="64008"/>
                  <a:pt x="150876" y="64008"/>
                </a:cubicBezTo>
                <a:cubicBezTo>
                  <a:pt x="153401" y="64008"/>
                  <a:pt x="155448" y="66055"/>
                  <a:pt x="155448" y="68580"/>
                </a:cubicBezTo>
                <a:close/>
              </a:path>
            </a:pathLst>
          </a:custGeom>
          <a:noFill/>
          <a:ln w="18288" cap="rnd">
            <a:solidFill>
              <a:srgbClr val="A85D08"/>
            </a:solidFill>
            <a:prstDash val="solid"/>
            <a:round/>
          </a:ln>
        </p:spPr>
      </p:sp>
      <p:sp>
        <p:nvSpPr>
          <p:cNvPr id="27" name="[p1] Forma"/>
          <p:cNvSpPr/>
          <p:nvPr/>
        </p:nvSpPr>
        <p:spPr>
          <a:xfrm>
            <a:off x="7967167" y="25146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id</a:t>
            </a:r>
            <a:pPr indent="0" marL="0">
              <a:buNone/>
            </a:pPr>
            <a:r>
              <a:rPr lang="en-US" sz="1500" dirty="0">
                <a:solidFill>
                  <a:srgbClr val="55627E"/>
                </a:solidFill>
                <a:latin typeface="Segoe UI" pitchFamily="34" charset="0"/>
                <a:ea typeface="Segoe UI" pitchFamily="34" charset="-122"/>
                <a:cs typeface="Segoe UI" pitchFamily="34" charset="-120"/>
              </a:rPr>
              <a:t>   VARCHAR(20) · PK</a:t>
            </a:r>
            <a:endParaRPr lang="en-US" sz="1500" dirty="0"/>
          </a:p>
        </p:txBody>
      </p:sp>
      <p:sp>
        <p:nvSpPr>
          <p:cNvPr id="28" name="[p1] Forma"/>
          <p:cNvSpPr/>
          <p:nvPr/>
        </p:nvSpPr>
        <p:spPr>
          <a:xfrm>
            <a:off x="4864608" y="2743200"/>
            <a:ext cx="2462479" cy="0"/>
          </a:xfrm>
          <a:prstGeom prst="line">
            <a:avLst/>
          </a:prstGeom>
          <a:noFill/>
          <a:ln w="28575">
            <a:solidFill>
              <a:srgbClr val="2BA6CB"/>
            </a:solidFill>
            <a:prstDash val="solid"/>
            <a:headEnd type="triangle"/>
            <a:tailEnd type="triangle"/>
          </a:ln>
        </p:spPr>
      </p:sp>
      <p:sp>
        <p:nvSpPr>
          <p:cNvPr id="29" name="[p1] Forma"/>
          <p:cNvSpPr/>
          <p:nvPr/>
        </p:nvSpPr>
        <p:spPr>
          <a:xfrm>
            <a:off x="795528" y="2971800"/>
            <a:ext cx="3794760" cy="0"/>
          </a:xfrm>
          <a:prstGeom prst="line">
            <a:avLst/>
          </a:prstGeom>
          <a:noFill/>
          <a:ln w="9525">
            <a:solidFill>
              <a:srgbClr val="DFE6F0"/>
            </a:solidFill>
            <a:prstDash val="solid"/>
          </a:ln>
        </p:spPr>
      </p:sp>
      <p:sp>
        <p:nvSpPr>
          <p:cNvPr id="30" name="[p1] Forma"/>
          <p:cNvSpPr/>
          <p:nvPr/>
        </p:nvSpPr>
        <p:spPr>
          <a:xfrm>
            <a:off x="7601407" y="2971800"/>
            <a:ext cx="3794760" cy="0"/>
          </a:xfrm>
          <a:prstGeom prst="line">
            <a:avLst/>
          </a:prstGeom>
          <a:noFill/>
          <a:ln w="9525">
            <a:solidFill>
              <a:srgbClr val="DFE6F0"/>
            </a:solidFill>
            <a:prstDash val="solid"/>
          </a:ln>
        </p:spPr>
      </p:sp>
      <p:sp>
        <p:nvSpPr>
          <p:cNvPr id="31" name="[p1] Forma"/>
          <p:cNvSpPr/>
          <p:nvPr/>
        </p:nvSpPr>
        <p:spPr>
          <a:xfrm>
            <a:off x="886968" y="29718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tipo</a:t>
            </a:r>
            <a:endParaRPr lang="en-US" sz="1500" dirty="0"/>
          </a:p>
        </p:txBody>
      </p:sp>
      <p:sp>
        <p:nvSpPr>
          <p:cNvPr id="32" name="[p1] Icono hash"/>
          <p:cNvSpPr/>
          <p:nvPr/>
        </p:nvSpPr>
        <p:spPr>
          <a:xfrm>
            <a:off x="7637983" y="30906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3" name="[p1] Forma"/>
          <p:cNvSpPr/>
          <p:nvPr/>
        </p:nvSpPr>
        <p:spPr>
          <a:xfrm>
            <a:off x="7967167" y="29718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tipo</a:t>
            </a:r>
            <a:pPr indent="0" marL="0">
              <a:buNone/>
            </a:pPr>
            <a:r>
              <a:rPr lang="en-US" sz="1500" dirty="0">
                <a:solidFill>
                  <a:srgbClr val="55627E"/>
                </a:solidFill>
                <a:latin typeface="Segoe UI" pitchFamily="34" charset="0"/>
                <a:ea typeface="Segoe UI" pitchFamily="34" charset="-122"/>
                <a:cs typeface="Segoe UI" pitchFamily="34" charset="-120"/>
              </a:rPr>
              <a:t>   VARCHAR(20)</a:t>
            </a:r>
            <a:endParaRPr lang="en-US" sz="1500" dirty="0"/>
          </a:p>
        </p:txBody>
      </p:sp>
      <p:sp>
        <p:nvSpPr>
          <p:cNvPr id="34" name="[p1] Forma"/>
          <p:cNvSpPr/>
          <p:nvPr/>
        </p:nvSpPr>
        <p:spPr>
          <a:xfrm>
            <a:off x="4864608" y="3200400"/>
            <a:ext cx="2462479" cy="0"/>
          </a:xfrm>
          <a:prstGeom prst="line">
            <a:avLst/>
          </a:prstGeom>
          <a:noFill/>
          <a:ln w="28575">
            <a:solidFill>
              <a:srgbClr val="2BA6CB"/>
            </a:solidFill>
            <a:prstDash val="solid"/>
            <a:headEnd type="triangle"/>
            <a:tailEnd type="triangle"/>
          </a:ln>
        </p:spPr>
      </p:sp>
      <p:sp>
        <p:nvSpPr>
          <p:cNvPr id="35" name="[p1] Forma"/>
          <p:cNvSpPr/>
          <p:nvPr/>
        </p:nvSpPr>
        <p:spPr>
          <a:xfrm>
            <a:off x="795528" y="3429000"/>
            <a:ext cx="3794760" cy="0"/>
          </a:xfrm>
          <a:prstGeom prst="line">
            <a:avLst/>
          </a:prstGeom>
          <a:noFill/>
          <a:ln w="9525">
            <a:solidFill>
              <a:srgbClr val="DFE6F0"/>
            </a:solidFill>
            <a:prstDash val="solid"/>
          </a:ln>
        </p:spPr>
      </p:sp>
      <p:sp>
        <p:nvSpPr>
          <p:cNvPr id="36" name="[p1] Forma"/>
          <p:cNvSpPr/>
          <p:nvPr/>
        </p:nvSpPr>
        <p:spPr>
          <a:xfrm>
            <a:off x="7601407" y="3429000"/>
            <a:ext cx="3794760" cy="0"/>
          </a:xfrm>
          <a:prstGeom prst="line">
            <a:avLst/>
          </a:prstGeom>
          <a:noFill/>
          <a:ln w="9525">
            <a:solidFill>
              <a:srgbClr val="DFE6F0"/>
            </a:solidFill>
            <a:prstDash val="solid"/>
          </a:ln>
        </p:spPr>
      </p:sp>
      <p:sp>
        <p:nvSpPr>
          <p:cNvPr id="37" name="[p1] Forma"/>
          <p:cNvSpPr/>
          <p:nvPr/>
        </p:nvSpPr>
        <p:spPr>
          <a:xfrm>
            <a:off x="886968" y="34290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estado</a:t>
            </a:r>
            <a:endParaRPr lang="en-US" sz="1500" dirty="0"/>
          </a:p>
        </p:txBody>
      </p:sp>
      <p:sp>
        <p:nvSpPr>
          <p:cNvPr id="38" name="[p1] Icono hash"/>
          <p:cNvSpPr/>
          <p:nvPr/>
        </p:nvSpPr>
        <p:spPr>
          <a:xfrm>
            <a:off x="7637983" y="35478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9" name="[p1] Forma"/>
          <p:cNvSpPr/>
          <p:nvPr/>
        </p:nvSpPr>
        <p:spPr>
          <a:xfrm>
            <a:off x="7967167" y="34290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estado</a:t>
            </a:r>
            <a:pPr indent="0" marL="0">
              <a:buNone/>
            </a:pPr>
            <a:r>
              <a:rPr lang="en-US" sz="1500" dirty="0">
                <a:solidFill>
                  <a:srgbClr val="55627E"/>
                </a:solidFill>
                <a:latin typeface="Segoe UI" pitchFamily="34" charset="0"/>
                <a:ea typeface="Segoe UI" pitchFamily="34" charset="-122"/>
                <a:cs typeface="Segoe UI" pitchFamily="34" charset="-120"/>
              </a:rPr>
              <a:t>   VARCHAR(20) · CHECK</a:t>
            </a:r>
            <a:endParaRPr lang="en-US" sz="1500" dirty="0"/>
          </a:p>
        </p:txBody>
      </p:sp>
      <p:sp>
        <p:nvSpPr>
          <p:cNvPr id="40" name="[p1] Forma"/>
          <p:cNvSpPr/>
          <p:nvPr/>
        </p:nvSpPr>
        <p:spPr>
          <a:xfrm>
            <a:off x="4864608" y="3657600"/>
            <a:ext cx="2462479" cy="0"/>
          </a:xfrm>
          <a:prstGeom prst="line">
            <a:avLst/>
          </a:prstGeom>
          <a:noFill/>
          <a:ln w="28575">
            <a:solidFill>
              <a:srgbClr val="2BA6CB"/>
            </a:solidFill>
            <a:prstDash val="solid"/>
            <a:headEnd type="triangle"/>
            <a:tailEnd type="triangle"/>
          </a:ln>
        </p:spPr>
      </p:sp>
      <p:sp>
        <p:nvSpPr>
          <p:cNvPr id="41" name="[p1] Forma"/>
          <p:cNvSpPr/>
          <p:nvPr/>
        </p:nvSpPr>
        <p:spPr>
          <a:xfrm>
            <a:off x="5044288" y="1737360"/>
            <a:ext cx="2103120" cy="676656"/>
          </a:xfrm>
          <a:prstGeom prst="roundRect">
            <a:avLst>
              <a:gd name="adj" fmla="val 16216"/>
            </a:avLst>
          </a:prstGeom>
          <a:solidFill>
            <a:srgbClr val="E3F4FA"/>
          </a:solidFill>
          <a:ln w="12700">
            <a:solidFill>
              <a:srgbClr val="2BA6CB"/>
            </a:solidFill>
          </a:ln>
        </p:spPr>
        <p:txBody>
          <a:bodyPr wrap="square" lIns="0" tIns="0" rIns="0" bIns="0" rtlCol="0" anchor="ctr"/>
          <a:lstStyle/>
          <a:p>
            <a:pPr algn="ctr" indent="0" marL="0">
              <a:buNone/>
            </a:pPr>
            <a:r>
              <a:rPr lang="en-US" sz="1600" b="1" dirty="0">
                <a:solidFill>
                  <a:srgbClr val="0B6E8A"/>
                </a:solidFill>
                <a:latin typeface="Segoe UI Semibold" pitchFamily="34" charset="0"/>
                <a:ea typeface="Segoe UI Semibold" pitchFamily="34" charset="-122"/>
                <a:cs typeface="Segoe UI Semibold" pitchFamily="34" charset="-120"/>
              </a:rPr>
              <a:t>Hibernate</a:t>
            </a:r>
            <a:endParaRPr lang="en-US" sz="1600" dirty="0"/>
          </a:p>
          <a:p>
            <a:pPr algn="ctr" indent="0" marL="0">
              <a:buNone/>
            </a:pPr>
            <a:r>
              <a:rPr lang="en-US" sz="1100" dirty="0">
                <a:solidFill>
                  <a:srgbClr val="55627E"/>
                </a:solidFill>
                <a:latin typeface="Segoe UI" pitchFamily="34" charset="0"/>
                <a:ea typeface="Segoe UI" pitchFamily="34" charset="-122"/>
                <a:cs typeface="Segoe UI" pitchFamily="34" charset="-120"/>
              </a:rPr>
              <a:t>traduce en los dos sentidos</a:t>
            </a:r>
            <a:endParaRPr lang="en-US" sz="1600" dirty="0"/>
          </a:p>
        </p:txBody>
      </p:sp>
      <p:sp>
        <p:nvSpPr>
          <p:cNvPr id="42" name="[p2] Forma"/>
          <p:cNvSpPr/>
          <p:nvPr/>
        </p:nvSpPr>
        <p:spPr>
          <a:xfrm>
            <a:off x="612648" y="4224528"/>
            <a:ext cx="10966399" cy="274320"/>
          </a:xfrm>
          <a:prstGeom prst="rect">
            <a:avLst/>
          </a:prstGeom>
          <a:noFill/>
          <a:ln/>
        </p:spPr>
        <p:txBody>
          <a:bodyPr wrap="square" lIns="0" tIns="0" rIns="0" bIns="0" rtlCol="0" anchor="t">
            <a:normAutofit/>
          </a:bodyPr>
          <a:lstStyle/>
          <a:p>
            <a:pPr algn="l" indent="0" marL="0">
              <a:buNone/>
            </a:pPr>
            <a:r>
              <a:rPr lang="en-US" sz="1100" b="1" dirty="0">
                <a:solidFill>
                  <a:srgbClr val="0B6E8A"/>
                </a:solidFill>
                <a:latin typeface="Segoe UI" pitchFamily="34" charset="0"/>
                <a:ea typeface="Segoe UI" pitchFamily="34" charset="-122"/>
                <a:cs typeface="Segoe UI" pitchFamily="34" charset="-120"/>
              </a:rPr>
              <a:t>LO QUE ESCRIBE EL CÓDIGO  →  EL SQL QUE HIBERNATE ENVÍA A POSTGRESQL</a:t>
            </a:r>
            <a:endParaRPr lang="en-US" sz="1100" dirty="0"/>
          </a:p>
        </p:txBody>
      </p:sp>
      <p:sp>
        <p:nvSpPr>
          <p:cNvPr id="43" name="[p2] Forma"/>
          <p:cNvSpPr/>
          <p:nvPr/>
        </p:nvSpPr>
        <p:spPr>
          <a:xfrm>
            <a:off x="612648" y="4590288"/>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jpa.save(nueva)</a:t>
            </a:r>
            <a:endParaRPr lang="en-US" sz="1400" dirty="0"/>
          </a:p>
        </p:txBody>
      </p:sp>
      <p:sp>
        <p:nvSpPr>
          <p:cNvPr id="44" name="[p2] Forma"/>
          <p:cNvSpPr/>
          <p:nvPr/>
        </p:nvSpPr>
        <p:spPr>
          <a:xfrm>
            <a:off x="3950208" y="4846320"/>
            <a:ext cx="457200" cy="0"/>
          </a:xfrm>
          <a:prstGeom prst="line">
            <a:avLst/>
          </a:prstGeom>
          <a:noFill/>
          <a:ln w="31750">
            <a:solidFill>
              <a:srgbClr val="0B6E8A"/>
            </a:solidFill>
            <a:prstDash val="solid"/>
            <a:tailEnd type="triangle"/>
          </a:ln>
        </p:spPr>
      </p:sp>
      <p:sp>
        <p:nvSpPr>
          <p:cNvPr id="45" name="[p2] Forma"/>
          <p:cNvSpPr/>
          <p:nvPr/>
        </p:nvSpPr>
        <p:spPr>
          <a:xfrm>
            <a:off x="4498848" y="4590288"/>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INSERT INTO solicitud (id, tipo, estado) VALUES (?, ?, ?)</a:t>
            </a:r>
            <a:endParaRPr lang="en-US" sz="1400" dirty="0"/>
          </a:p>
        </p:txBody>
      </p:sp>
      <p:sp>
        <p:nvSpPr>
          <p:cNvPr id="46" name="[p3] Forma"/>
          <p:cNvSpPr/>
          <p:nvPr/>
        </p:nvSpPr>
        <p:spPr>
          <a:xfrm>
            <a:off x="612648" y="5212080"/>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jpa.findById("CAM-002")</a:t>
            </a:r>
            <a:endParaRPr lang="en-US" sz="1400" dirty="0"/>
          </a:p>
        </p:txBody>
      </p:sp>
      <p:sp>
        <p:nvSpPr>
          <p:cNvPr id="47" name="[p3] Forma"/>
          <p:cNvSpPr/>
          <p:nvPr/>
        </p:nvSpPr>
        <p:spPr>
          <a:xfrm>
            <a:off x="3950208" y="5468112"/>
            <a:ext cx="457200" cy="0"/>
          </a:xfrm>
          <a:prstGeom prst="line">
            <a:avLst/>
          </a:prstGeom>
          <a:noFill/>
          <a:ln w="31750">
            <a:solidFill>
              <a:srgbClr val="0B6E8A"/>
            </a:solidFill>
            <a:prstDash val="solid"/>
            <a:tailEnd type="triangle"/>
          </a:ln>
        </p:spPr>
      </p:sp>
      <p:sp>
        <p:nvSpPr>
          <p:cNvPr id="48" name="[p3] Forma"/>
          <p:cNvSpPr/>
          <p:nvPr/>
        </p:nvSpPr>
        <p:spPr>
          <a:xfrm>
            <a:off x="4498848" y="5212080"/>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SELECT id, tipo, estado FROM solicitud WHERE id = ?</a:t>
            </a:r>
            <a:endParaRPr lang="en-US" sz="1400" dirty="0"/>
          </a:p>
        </p:txBody>
      </p:sp>
      <p:sp>
        <p:nvSpPr>
          <p:cNvPr id="49" name="[p4] Forma"/>
          <p:cNvSpPr/>
          <p:nvPr/>
        </p:nvSpPr>
        <p:spPr>
          <a:xfrm>
            <a:off x="612648" y="5833872"/>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jpa.save(enviada)</a:t>
            </a:r>
            <a:endParaRPr lang="en-US" sz="1400" dirty="0"/>
          </a:p>
        </p:txBody>
      </p:sp>
      <p:sp>
        <p:nvSpPr>
          <p:cNvPr id="50" name="[p4] Forma"/>
          <p:cNvSpPr/>
          <p:nvPr/>
        </p:nvSpPr>
        <p:spPr>
          <a:xfrm>
            <a:off x="3950208" y="6089904"/>
            <a:ext cx="457200" cy="0"/>
          </a:xfrm>
          <a:prstGeom prst="line">
            <a:avLst/>
          </a:prstGeom>
          <a:noFill/>
          <a:ln w="31750">
            <a:solidFill>
              <a:srgbClr val="0B6E8A"/>
            </a:solidFill>
            <a:prstDash val="solid"/>
            <a:tailEnd type="triangle"/>
          </a:ln>
        </p:spPr>
      </p:sp>
      <p:sp>
        <p:nvSpPr>
          <p:cNvPr id="51" name="[p4] Forma"/>
          <p:cNvSpPr/>
          <p:nvPr/>
        </p:nvSpPr>
        <p:spPr>
          <a:xfrm>
            <a:off x="4498848" y="5833872"/>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UPDATE solicitud SET tipo = ?, estado = ? WHERE id = ?</a:t>
            </a:r>
            <a:endParaRPr lang="en-US" sz="14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childTnLst>
                          </p:cTn>
                        </p:par>
                      </p:childTnLst>
                    </p:cTn>
                  </p:par>
                  <p:par>
                    <p:cTn id="68" fill="hold">
                      <p:stCondLst>
                        <p:cond delay="indefinite"/>
                      </p:stCondLst>
                      <p:childTnLst>
                        <p:par>
                          <p:cTn id="69"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childTnLst>
                          </p:cTn>
                        </p:par>
                      </p:childTnLst>
                    </p:cTn>
                  </p:par>
                  <p:par>
                    <p:cTn id="79" fill="hold">
                      <p:stCondLst>
                        <p:cond delay="indefinite"/>
                      </p:stCondLst>
                      <p:childTnLst>
                        <p:par>
                          <p:cTn id="80"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46"/>
                                        </p:tgtEl>
                                        <p:attrNameLst>
                                          <p:attrName>style.visibility</p:attrName>
                                        </p:attrNameLst>
                                      </p:cBhvr>
                                      <p:to>
                                        <p:strVal val="visible"/>
                                      </p:to>
                                    </p:set>
                                    <p:animEffect transition="in" filter="fade">
                                      <p:cBhvr>
                                        <p:cTn id="72" dur="400"/>
                                        <p:tgtEl>
                                          <p:spTgt spid="46"/>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7"/>
                                        </p:tgtEl>
                                        <p:attrNameLst>
                                          <p:attrName>style.visibility</p:attrName>
                                        </p:attrNameLst>
                                      </p:cBhvr>
                                      <p:to>
                                        <p:strVal val="visible"/>
                                      </p:to>
                                    </p:set>
                                    <p:animEffect transition="in" filter="fade">
                                      <p:cBhvr>
                                        <p:cTn id="75" dur="400"/>
                                        <p:tgtEl>
                                          <p:spTgt spid="47"/>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8"/>
                                        </p:tgtEl>
                                        <p:attrNameLst>
                                          <p:attrName>style.visibility</p:attrName>
                                        </p:attrNameLst>
                                      </p:cBhvr>
                                      <p:to>
                                        <p:strVal val="visible"/>
                                      </p:to>
                                    </p:set>
                                    <p:animEffect transition="in" filter="fade">
                                      <p:cBhvr>
                                        <p:cTn id="78" dur="400"/>
                                        <p:tgtEl>
                                          <p:spTgt spid="48"/>
                                        </p:tgtEl>
                                      </p:cBhvr>
                                    </p:animEffect>
                                  </p:childTnLst>
                                </p:cTn>
                              </p:par>
                            </p:childTnLst>
                          </p:cTn>
                        </p:par>
                      </p:childTnLst>
                    </p:cTn>
                  </p:par>
                  <p:par>
                    <p:cTn id="90" fill="hold">
                      <p:stCondLst>
                        <p:cond delay="indefinite"/>
                      </p:stCondLst>
                      <p:childTnLst>
                        <p:par>
                          <p:cTn id="91"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9"/>
                                        </p:tgtEl>
                                        <p:attrNameLst>
                                          <p:attrName>style.visibility</p:attrName>
                                        </p:attrNameLst>
                                      </p:cBhvr>
                                      <p:to>
                                        <p:strVal val="visible"/>
                                      </p:to>
                                    </p:set>
                                    <p:animEffect transition="in" filter="fade">
                                      <p:cBhvr>
                                        <p:cTn id="83" dur="400"/>
                                        <p:tgtEl>
                                          <p:spTgt spid="4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50"/>
                                        </p:tgtEl>
                                        <p:attrNameLst>
                                          <p:attrName>style.visibility</p:attrName>
                                        </p:attrNameLst>
                                      </p:cBhvr>
                                      <p:to>
                                        <p:strVal val="visible"/>
                                      </p:to>
                                    </p:set>
                                    <p:animEffect transition="in" filter="fade">
                                      <p:cBhvr>
                                        <p:cTn id="86" dur="400"/>
                                        <p:tgtEl>
                                          <p:spTgt spid="5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51"/>
                                        </p:tgtEl>
                                        <p:attrNameLst>
                                          <p:attrName>style.visibility</p:attrName>
                                        </p:attrNameLst>
                                      </p:cBhvr>
                                      <p:to>
                                        <p:strVal val="visible"/>
                                      </p:to>
                                    </p:set>
                                    <p:animEffect transition="in" filter="fade">
                                      <p:cBhvr>
                                        <p:cTn id="89"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ORM por dentro: una clase es una tabla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servicio-solicitudes/…/adaptadores/persistencia/SolicitudEntity.java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@Entity</a:t>
            </a:r>
            <a:endParaRPr lang="en-US" sz="2000" dirty="0"/>
          </a:p>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(name =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"solicitud"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esta clase = la tabla solicitud</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class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SolicitudEntity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@Id</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id;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columna id (PK)</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tipo;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columna tipo</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estado;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columna estado</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Sin SQL escrito: Spring Data genera SELECT, INSERT y UPDATE</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interface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SolicitudJpaRepository</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extends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JpaRepository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&lt;</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SolicitudEntity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&gt; {}</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viaje de un dato: de la pantalla a la fila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mismo dato cambia de forma en el camino: JSON, objeto, SQL y fila.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traductor: el código habla Java, la base habla SQL, y el ORM traduce en los dos sentidos.</a:t>
            </a:r>
            <a:endParaRPr lang="en-US" sz="1450" dirty="0"/>
          </a:p>
        </p:txBody>
      </p:sp>
      <p:sp>
        <p:nvSpPr>
          <p:cNvPr id="17" name="Shape 15"/>
          <p:cNvSpPr/>
          <p:nvPr/>
        </p:nvSpPr>
        <p:spPr>
          <a:xfrm>
            <a:off x="1024128" y="2190628"/>
            <a:ext cx="1370320" cy="137032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8" name="Icono monitor"/>
          <p:cNvSpPr/>
          <p:nvPr/>
        </p:nvSpPr>
        <p:spPr>
          <a:xfrm>
            <a:off x="1339302" y="250580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5B3FC4"/>
            </a:solidFill>
            <a:prstDash val="solid"/>
            <a:round/>
          </a:ln>
        </p:spPr>
      </p:sp>
      <p:sp>
        <p:nvSpPr>
          <p:cNvPr id="19" name="Text 17"/>
          <p:cNvSpPr/>
          <p:nvPr/>
        </p:nvSpPr>
        <p:spPr>
          <a:xfrm>
            <a:off x="987552" y="2154052"/>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Pantalla</a:t>
            </a:r>
            <a:endParaRPr lang="en-US" sz="1800" dirty="0"/>
          </a:p>
        </p:txBody>
      </p:sp>
      <p:sp>
        <p:nvSpPr>
          <p:cNvPr id="21" name="Text 19"/>
          <p:cNvSpPr/>
          <p:nvPr/>
        </p:nvSpPr>
        <p:spPr>
          <a:xfrm>
            <a:off x="72237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Manda JSON: SOL-100, tipo Consulta.</a:t>
            </a:r>
            <a:endParaRPr lang="en-US" sz="1400" dirty="0"/>
          </a:p>
        </p:txBody>
      </p:sp>
      <p:sp>
        <p:nvSpPr>
          <p:cNvPr id="22" name="[p1] Forma"/>
          <p:cNvSpPr/>
          <p:nvPr/>
        </p:nvSpPr>
        <p:spPr>
          <a:xfrm>
            <a:off x="2485888" y="2875788"/>
            <a:ext cx="640080" cy="0"/>
          </a:xfrm>
          <a:prstGeom prst="line">
            <a:avLst/>
          </a:prstGeom>
          <a:noFill/>
          <a:ln w="38100">
            <a:solidFill>
              <a:srgbClr val="2BA6CB"/>
            </a:solidFill>
            <a:prstDash val="solid"/>
            <a:tailEnd type="triangle"/>
          </a:ln>
        </p:spPr>
      </p:sp>
      <p:sp>
        <p:nvSpPr>
          <p:cNvPr id="23" name="[p1] Forma"/>
          <p:cNvSpPr/>
          <p:nvPr/>
        </p:nvSpPr>
        <p:spPr>
          <a:xfrm>
            <a:off x="321740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code"/>
          <p:cNvSpPr/>
          <p:nvPr/>
        </p:nvSpPr>
        <p:spPr>
          <a:xfrm>
            <a:off x="3532581" y="2505802"/>
            <a:ext cx="739973" cy="739973"/>
          </a:xfrm>
          <a:custGeom>
            <a:avLst/>
            <a:gdLst/>
            <a:ahLst/>
            <a:cxnLst/>
            <a:rect l="l" t="t" r="r" b="b"/>
            <a:pathLst>
              <a:path w="739973" h="739973">
                <a:moveTo>
                  <a:pt x="493315" y="554980"/>
                </a:moveTo>
                <a:lnTo>
                  <a:pt x="678308" y="369986"/>
                </a:lnTo>
                <a:lnTo>
                  <a:pt x="493315" y="184993"/>
                </a:lnTo>
                <a:moveTo>
                  <a:pt x="246658" y="184993"/>
                </a:moveTo>
                <a:lnTo>
                  <a:pt x="61664" y="369986"/>
                </a:lnTo>
                <a:lnTo>
                  <a:pt x="246658" y="554980"/>
                </a:lnTo>
              </a:path>
            </a:pathLst>
          </a:custGeom>
          <a:noFill/>
          <a:ln w="53956" cap="rnd">
            <a:solidFill>
              <a:srgbClr val="0B2350"/>
            </a:solidFill>
            <a:prstDash val="solid"/>
            <a:round/>
          </a:ln>
        </p:spPr>
      </p:sp>
      <p:sp>
        <p:nvSpPr>
          <p:cNvPr id="25" name="[p1] Forma"/>
          <p:cNvSpPr/>
          <p:nvPr/>
        </p:nvSpPr>
        <p:spPr>
          <a:xfrm>
            <a:off x="318083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285164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Controlador</a:t>
            </a:r>
            <a:endParaRPr lang="en-US" sz="1800" dirty="0"/>
          </a:p>
        </p:txBody>
      </p:sp>
      <p:sp>
        <p:nvSpPr>
          <p:cNvPr id="27" name="[p1] Forma"/>
          <p:cNvSpPr/>
          <p:nvPr/>
        </p:nvSpPr>
        <p:spPr>
          <a:xfrm>
            <a:off x="291565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Convierte el JSON en un objeto.</a:t>
            </a:r>
            <a:endParaRPr lang="en-US" sz="1400" dirty="0"/>
          </a:p>
        </p:txBody>
      </p:sp>
      <p:sp>
        <p:nvSpPr>
          <p:cNvPr id="28" name="[p2] Forma"/>
          <p:cNvSpPr/>
          <p:nvPr/>
        </p:nvSpPr>
        <p:spPr>
          <a:xfrm>
            <a:off x="4679168" y="2875788"/>
            <a:ext cx="640080" cy="0"/>
          </a:xfrm>
          <a:prstGeom prst="line">
            <a:avLst/>
          </a:prstGeom>
          <a:noFill/>
          <a:ln w="38100">
            <a:solidFill>
              <a:srgbClr val="2BA6CB"/>
            </a:solidFill>
            <a:prstDash val="solid"/>
            <a:tailEnd type="triangle"/>
          </a:ln>
        </p:spPr>
      </p:sp>
      <p:sp>
        <p:nvSpPr>
          <p:cNvPr id="29" name="[p2] Forma"/>
          <p:cNvSpPr/>
          <p:nvPr/>
        </p:nvSpPr>
        <p:spPr>
          <a:xfrm>
            <a:off x="541068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2] Icono puzzle"/>
          <p:cNvSpPr/>
          <p:nvPr/>
        </p:nvSpPr>
        <p:spPr>
          <a:xfrm>
            <a:off x="5725861" y="2505802"/>
            <a:ext cx="739973" cy="739973"/>
          </a:xfrm>
          <a:custGeom>
            <a:avLst/>
            <a:gdLst/>
            <a:ahLst/>
            <a:cxnLst/>
            <a:rect l="l" t="t" r="r" b="b"/>
            <a:pathLst>
              <a:path w="739973" h="739973">
                <a:moveTo>
                  <a:pt x="474508" y="135353"/>
                </a:moveTo>
                <a:cubicBezTo>
                  <a:pt x="482399" y="143253"/>
                  <a:pt x="493946" y="146269"/>
                  <a:pt x="504692" y="143236"/>
                </a:cubicBezTo>
                <a:cubicBezTo>
                  <a:pt x="515439" y="140204"/>
                  <a:pt x="523707" y="131599"/>
                  <a:pt x="526306" y="120739"/>
                </a:cubicBezTo>
                <a:cubicBezTo>
                  <a:pt x="535162" y="83872"/>
                  <a:pt x="569515" y="58921"/>
                  <a:pt x="607314" y="61902"/>
                </a:cubicBezTo>
                <a:cubicBezTo>
                  <a:pt x="645112" y="64883"/>
                  <a:pt x="675129" y="94910"/>
                  <a:pt x="678098" y="132709"/>
                </a:cubicBezTo>
                <a:cubicBezTo>
                  <a:pt x="681066" y="170509"/>
                  <a:pt x="656104" y="204854"/>
                  <a:pt x="619234" y="213698"/>
                </a:cubicBezTo>
                <a:cubicBezTo>
                  <a:pt x="608374" y="216297"/>
                  <a:pt x="599768" y="224564"/>
                  <a:pt x="596736" y="235311"/>
                </a:cubicBezTo>
                <a:cubicBezTo>
                  <a:pt x="593704" y="246058"/>
                  <a:pt x="596720" y="257604"/>
                  <a:pt x="604619" y="265496"/>
                </a:cubicBezTo>
                <a:lnTo>
                  <a:pt x="656510" y="317356"/>
                </a:lnTo>
                <a:cubicBezTo>
                  <a:pt x="670469" y="331314"/>
                  <a:pt x="678311" y="350246"/>
                  <a:pt x="678311" y="369986"/>
                </a:cubicBezTo>
                <a:cubicBezTo>
                  <a:pt x="678311" y="389727"/>
                  <a:pt x="670469" y="408659"/>
                  <a:pt x="656510" y="422617"/>
                </a:cubicBezTo>
                <a:lnTo>
                  <a:pt x="604619" y="474508"/>
                </a:lnTo>
                <a:cubicBezTo>
                  <a:pt x="596728" y="482407"/>
                  <a:pt x="585181" y="485423"/>
                  <a:pt x="574434" y="482391"/>
                </a:cubicBezTo>
                <a:cubicBezTo>
                  <a:pt x="563688" y="479358"/>
                  <a:pt x="555420" y="470753"/>
                  <a:pt x="552821" y="459893"/>
                </a:cubicBezTo>
                <a:cubicBezTo>
                  <a:pt x="543965" y="423026"/>
                  <a:pt x="509612" y="398075"/>
                  <a:pt x="471813" y="401056"/>
                </a:cubicBezTo>
                <a:cubicBezTo>
                  <a:pt x="434015" y="404037"/>
                  <a:pt x="403998" y="434064"/>
                  <a:pt x="401029" y="471864"/>
                </a:cubicBezTo>
                <a:cubicBezTo>
                  <a:pt x="398061" y="509663"/>
                  <a:pt x="423023" y="544008"/>
                  <a:pt x="459893" y="552852"/>
                </a:cubicBezTo>
                <a:cubicBezTo>
                  <a:pt x="470753" y="555451"/>
                  <a:pt x="479358" y="563719"/>
                  <a:pt x="482391" y="574465"/>
                </a:cubicBezTo>
                <a:cubicBezTo>
                  <a:pt x="485423" y="585212"/>
                  <a:pt x="482407" y="596758"/>
                  <a:pt x="474508" y="604650"/>
                </a:cubicBezTo>
                <a:lnTo>
                  <a:pt x="422617" y="656510"/>
                </a:lnTo>
                <a:cubicBezTo>
                  <a:pt x="408659" y="670469"/>
                  <a:pt x="389727" y="678311"/>
                  <a:pt x="369986" y="678311"/>
                </a:cubicBezTo>
                <a:cubicBezTo>
                  <a:pt x="350246" y="678311"/>
                  <a:pt x="331314" y="670469"/>
                  <a:pt x="317356" y="656510"/>
                </a:cubicBezTo>
                <a:lnTo>
                  <a:pt x="265465" y="604619"/>
                </a:lnTo>
                <a:cubicBezTo>
                  <a:pt x="257573" y="596720"/>
                  <a:pt x="246027" y="593704"/>
                  <a:pt x="235280" y="596736"/>
                </a:cubicBezTo>
                <a:cubicBezTo>
                  <a:pt x="224534" y="599768"/>
                  <a:pt x="216266" y="608374"/>
                  <a:pt x="213667" y="619234"/>
                </a:cubicBezTo>
                <a:cubicBezTo>
                  <a:pt x="204811" y="656101"/>
                  <a:pt x="170457" y="681052"/>
                  <a:pt x="132659" y="678071"/>
                </a:cubicBezTo>
                <a:cubicBezTo>
                  <a:pt x="94861" y="675090"/>
                  <a:pt x="64843" y="645063"/>
                  <a:pt x="61875" y="607263"/>
                </a:cubicBezTo>
                <a:cubicBezTo>
                  <a:pt x="58907" y="569464"/>
                  <a:pt x="83869" y="535119"/>
                  <a:pt x="120739" y="526275"/>
                </a:cubicBezTo>
                <a:cubicBezTo>
                  <a:pt x="131599" y="523676"/>
                  <a:pt x="140204" y="515408"/>
                  <a:pt x="143236" y="504662"/>
                </a:cubicBezTo>
                <a:cubicBezTo>
                  <a:pt x="146269" y="493915"/>
                  <a:pt x="143253" y="482368"/>
                  <a:pt x="135353" y="474477"/>
                </a:cubicBezTo>
                <a:lnTo>
                  <a:pt x="83463" y="422617"/>
                </a:lnTo>
                <a:cubicBezTo>
                  <a:pt x="69504" y="408659"/>
                  <a:pt x="61662" y="389727"/>
                  <a:pt x="61662" y="369986"/>
                </a:cubicBezTo>
                <a:cubicBezTo>
                  <a:pt x="61662" y="350246"/>
                  <a:pt x="69504" y="331314"/>
                  <a:pt x="83463" y="317356"/>
                </a:cubicBezTo>
                <a:lnTo>
                  <a:pt x="135353" y="265465"/>
                </a:lnTo>
                <a:cubicBezTo>
                  <a:pt x="143245" y="257565"/>
                  <a:pt x="154791" y="254550"/>
                  <a:pt x="165538" y="257582"/>
                </a:cubicBezTo>
                <a:cubicBezTo>
                  <a:pt x="176285" y="260614"/>
                  <a:pt x="184552" y="269220"/>
                  <a:pt x="187151" y="280080"/>
                </a:cubicBezTo>
                <a:cubicBezTo>
                  <a:pt x="196008" y="316946"/>
                  <a:pt x="230361" y="341897"/>
                  <a:pt x="268159" y="338917"/>
                </a:cubicBezTo>
                <a:cubicBezTo>
                  <a:pt x="305958" y="335936"/>
                  <a:pt x="335975" y="305908"/>
                  <a:pt x="338943" y="268109"/>
                </a:cubicBezTo>
                <a:cubicBezTo>
                  <a:pt x="341912" y="230310"/>
                  <a:pt x="316949" y="195965"/>
                  <a:pt x="280080" y="187121"/>
                </a:cubicBezTo>
                <a:cubicBezTo>
                  <a:pt x="269220" y="184522"/>
                  <a:pt x="260614" y="176254"/>
                  <a:pt x="257582" y="165507"/>
                </a:cubicBezTo>
                <a:cubicBezTo>
                  <a:pt x="254550" y="154761"/>
                  <a:pt x="257565" y="143214"/>
                  <a:pt x="265465" y="135323"/>
                </a:cubicBezTo>
                <a:lnTo>
                  <a:pt x="317356" y="83463"/>
                </a:lnTo>
                <a:cubicBezTo>
                  <a:pt x="331314" y="69504"/>
                  <a:pt x="350246" y="61662"/>
                  <a:pt x="369986" y="61662"/>
                </a:cubicBezTo>
                <a:cubicBezTo>
                  <a:pt x="389727" y="61662"/>
                  <a:pt x="408659" y="69504"/>
                  <a:pt x="422617" y="83463"/>
                </a:cubicBezTo>
                <a:close/>
              </a:path>
            </a:pathLst>
          </a:custGeom>
          <a:noFill/>
          <a:ln w="53956" cap="rnd">
            <a:solidFill>
              <a:srgbClr val="0B2350"/>
            </a:solidFill>
            <a:prstDash val="solid"/>
            <a:round/>
          </a:ln>
        </p:spPr>
      </p:sp>
      <p:sp>
        <p:nvSpPr>
          <p:cNvPr id="31" name="[p2] Forma"/>
          <p:cNvSpPr/>
          <p:nvPr/>
        </p:nvSpPr>
        <p:spPr>
          <a:xfrm>
            <a:off x="537411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504492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Reglas</a:t>
            </a:r>
            <a:endParaRPr lang="en-US" sz="1800" dirty="0"/>
          </a:p>
        </p:txBody>
      </p:sp>
      <p:sp>
        <p:nvSpPr>
          <p:cNvPr id="33" name="[p2] Forma"/>
          <p:cNvSpPr/>
          <p:nvPr/>
        </p:nvSpPr>
        <p:spPr>
          <a:xfrm>
            <a:off x="510893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Revisa que el id no exista. Sin SQL.</a:t>
            </a:r>
            <a:endParaRPr lang="en-US" sz="1400" dirty="0"/>
          </a:p>
        </p:txBody>
      </p:sp>
      <p:sp>
        <p:nvSpPr>
          <p:cNvPr id="34" name="[p3] Forma"/>
          <p:cNvSpPr/>
          <p:nvPr/>
        </p:nvSpPr>
        <p:spPr>
          <a:xfrm>
            <a:off x="6872448" y="2875788"/>
            <a:ext cx="640080" cy="0"/>
          </a:xfrm>
          <a:prstGeom prst="line">
            <a:avLst/>
          </a:prstGeom>
          <a:noFill/>
          <a:ln w="38100">
            <a:solidFill>
              <a:srgbClr val="2BA6CB"/>
            </a:solidFill>
            <a:prstDash val="solid"/>
            <a:tailEnd type="triangle"/>
          </a:ln>
        </p:spPr>
      </p:sp>
      <p:sp>
        <p:nvSpPr>
          <p:cNvPr id="35" name="[p3] Forma"/>
          <p:cNvSpPr/>
          <p:nvPr/>
        </p:nvSpPr>
        <p:spPr>
          <a:xfrm>
            <a:off x="760396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3] Icono table"/>
          <p:cNvSpPr/>
          <p:nvPr/>
        </p:nvSpPr>
        <p:spPr>
          <a:xfrm>
            <a:off x="7919141" y="2505802"/>
            <a:ext cx="739973" cy="739973"/>
          </a:xfrm>
          <a:custGeom>
            <a:avLst/>
            <a:gdLst/>
            <a:ahLst/>
            <a:cxnLst/>
            <a:rect l="l" t="t" r="r" b="b"/>
            <a:pathLst>
              <a:path w="739973" h="739973">
                <a:moveTo>
                  <a:pt x="369986" y="92497"/>
                </a:moveTo>
                <a:lnTo>
                  <a:pt x="369986" y="647476"/>
                </a:lnTo>
                <a:moveTo>
                  <a:pt x="154161" y="92497"/>
                </a:moveTo>
                <a:lnTo>
                  <a:pt x="585812" y="92497"/>
                </a:lnTo>
                <a:cubicBezTo>
                  <a:pt x="619868" y="92497"/>
                  <a:pt x="647476" y="120105"/>
                  <a:pt x="647476" y="154161"/>
                </a:cubicBezTo>
                <a:lnTo>
                  <a:pt x="647476" y="585812"/>
                </a:lnTo>
                <a:cubicBezTo>
                  <a:pt x="647476" y="619868"/>
                  <a:pt x="619868" y="647476"/>
                  <a:pt x="585812" y="647476"/>
                </a:cubicBezTo>
                <a:lnTo>
                  <a:pt x="154161" y="647476"/>
                </a:lnTo>
                <a:cubicBezTo>
                  <a:pt x="120105" y="647476"/>
                  <a:pt x="92497" y="619868"/>
                  <a:pt x="92497" y="585812"/>
                </a:cubicBezTo>
                <a:lnTo>
                  <a:pt x="92497" y="154161"/>
                </a:lnTo>
                <a:cubicBezTo>
                  <a:pt x="92497" y="120105"/>
                  <a:pt x="120105" y="92497"/>
                  <a:pt x="154161" y="92497"/>
                </a:cubicBezTo>
                <a:close/>
                <a:moveTo>
                  <a:pt x="92497" y="277490"/>
                </a:moveTo>
                <a:lnTo>
                  <a:pt x="647476" y="277490"/>
                </a:lnTo>
                <a:moveTo>
                  <a:pt x="92497" y="462483"/>
                </a:moveTo>
                <a:lnTo>
                  <a:pt x="647476" y="462483"/>
                </a:lnTo>
              </a:path>
            </a:pathLst>
          </a:custGeom>
          <a:noFill/>
          <a:ln w="53956" cap="rnd">
            <a:solidFill>
              <a:srgbClr val="0B6E8A"/>
            </a:solidFill>
            <a:prstDash val="solid"/>
            <a:round/>
          </a:ln>
        </p:spPr>
      </p:sp>
      <p:sp>
        <p:nvSpPr>
          <p:cNvPr id="37" name="[p3] Forma"/>
          <p:cNvSpPr/>
          <p:nvPr/>
        </p:nvSpPr>
        <p:spPr>
          <a:xfrm>
            <a:off x="756739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723820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Hibernate</a:t>
            </a:r>
            <a:endParaRPr lang="en-US" sz="1800" dirty="0"/>
          </a:p>
        </p:txBody>
      </p:sp>
      <p:sp>
        <p:nvSpPr>
          <p:cNvPr id="39" name="[p3] Forma"/>
          <p:cNvSpPr/>
          <p:nvPr/>
        </p:nvSpPr>
        <p:spPr>
          <a:xfrm>
            <a:off x="730221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Objeto → INSERT con parámetros.</a:t>
            </a:r>
            <a:endParaRPr lang="en-US" sz="1400" dirty="0"/>
          </a:p>
        </p:txBody>
      </p:sp>
      <p:sp>
        <p:nvSpPr>
          <p:cNvPr id="40" name="[p4] Forma"/>
          <p:cNvSpPr/>
          <p:nvPr/>
        </p:nvSpPr>
        <p:spPr>
          <a:xfrm>
            <a:off x="9065727" y="2875788"/>
            <a:ext cx="640080" cy="0"/>
          </a:xfrm>
          <a:prstGeom prst="line">
            <a:avLst/>
          </a:prstGeom>
          <a:noFill/>
          <a:ln w="38100">
            <a:solidFill>
              <a:srgbClr val="2BA6CB"/>
            </a:solidFill>
            <a:prstDash val="solid"/>
            <a:tailEnd type="triangle"/>
          </a:ln>
        </p:spPr>
      </p:sp>
      <p:sp>
        <p:nvSpPr>
          <p:cNvPr id="41" name="[p4] Forma"/>
          <p:cNvSpPr/>
          <p:nvPr/>
        </p:nvSpPr>
        <p:spPr>
          <a:xfrm>
            <a:off x="9797247" y="219062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2" name="[p4] Icono database"/>
          <p:cNvSpPr/>
          <p:nvPr/>
        </p:nvSpPr>
        <p:spPr>
          <a:xfrm>
            <a:off x="10112421" y="2505802"/>
            <a:ext cx="739973" cy="739973"/>
          </a:xfrm>
          <a:custGeom>
            <a:avLst/>
            <a:gdLst/>
            <a:ahLst/>
            <a:cxnLst/>
            <a:rect l="l" t="t" r="r" b="b"/>
            <a:pathLst>
              <a:path w="739973" h="739973">
                <a:moveTo>
                  <a:pt x="647476" y="154161"/>
                </a:moveTo>
                <a:cubicBezTo>
                  <a:pt x="647476" y="205245"/>
                  <a:pt x="523240" y="246658"/>
                  <a:pt x="369986" y="246658"/>
                </a:cubicBezTo>
                <a:cubicBezTo>
                  <a:pt x="216733" y="246658"/>
                  <a:pt x="92497" y="205245"/>
                  <a:pt x="92497" y="154161"/>
                </a:cubicBezTo>
                <a:cubicBezTo>
                  <a:pt x="92497" y="103077"/>
                  <a:pt x="216733" y="61664"/>
                  <a:pt x="369986" y="61664"/>
                </a:cubicBezTo>
                <a:cubicBezTo>
                  <a:pt x="523240" y="61664"/>
                  <a:pt x="647476" y="103077"/>
                  <a:pt x="647476" y="154161"/>
                </a:cubicBezTo>
                <a:close/>
                <a:moveTo>
                  <a:pt x="92497" y="154161"/>
                </a:moveTo>
                <a:lnTo>
                  <a:pt x="92497" y="585812"/>
                </a:lnTo>
                <a:cubicBezTo>
                  <a:pt x="92497" y="636896"/>
                  <a:pt x="216733" y="678308"/>
                  <a:pt x="369986" y="678308"/>
                </a:cubicBezTo>
                <a:cubicBezTo>
                  <a:pt x="523240" y="678308"/>
                  <a:pt x="647476" y="636896"/>
                  <a:pt x="647476" y="585812"/>
                </a:cubicBezTo>
                <a:lnTo>
                  <a:pt x="647476" y="154161"/>
                </a:lnTo>
                <a:moveTo>
                  <a:pt x="92497" y="369986"/>
                </a:moveTo>
                <a:cubicBezTo>
                  <a:pt x="92497" y="421071"/>
                  <a:pt x="216733" y="462483"/>
                  <a:pt x="369986" y="462483"/>
                </a:cubicBezTo>
                <a:cubicBezTo>
                  <a:pt x="523240" y="462483"/>
                  <a:pt x="647476" y="421071"/>
                  <a:pt x="647476" y="369986"/>
                </a:cubicBezTo>
              </a:path>
            </a:pathLst>
          </a:custGeom>
          <a:noFill/>
          <a:ln w="53956" cap="rnd">
            <a:solidFill>
              <a:srgbClr val="0A6648"/>
            </a:solidFill>
            <a:prstDash val="solid"/>
            <a:round/>
          </a:ln>
        </p:spPr>
      </p:sp>
      <p:sp>
        <p:nvSpPr>
          <p:cNvPr id="43" name="[p4] Forma"/>
          <p:cNvSpPr/>
          <p:nvPr/>
        </p:nvSpPr>
        <p:spPr>
          <a:xfrm>
            <a:off x="9760671" y="215405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4" name="[p4] Forma"/>
          <p:cNvSpPr/>
          <p:nvPr/>
        </p:nvSpPr>
        <p:spPr>
          <a:xfrm>
            <a:off x="9431487"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45" name="[p4] Forma"/>
          <p:cNvSpPr/>
          <p:nvPr/>
        </p:nvSpPr>
        <p:spPr>
          <a:xfrm>
            <a:off x="9495495"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Guarda la fila y hace COMMIT.</a:t>
            </a:r>
            <a:endParaRPr lang="en-US" sz="14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Ni en el código ni en la imagen: la pone el ambiente donde corre la aplicación.</a:t>
            </a:r>
            <a:endParaRPr lang="en-US" sz="1700" dirty="0"/>
          </a:p>
        </p:txBody>
      </p:sp>
      <p:sp>
        <p:nvSpPr>
          <p:cNvPr id="13" name="Shape 11"/>
          <p:cNvSpPr/>
          <p:nvPr/>
        </p:nvSpPr>
        <p:spPr>
          <a:xfrm>
            <a:off x="4818888" y="2253996"/>
            <a:ext cx="3246120" cy="2240280"/>
          </a:xfrm>
          <a:prstGeom prst="roundRect">
            <a:avLst>
              <a:gd name="adj" fmla="val 571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4818888" y="2253996"/>
            <a:ext cx="3246120" cy="566928"/>
          </a:xfrm>
          <a:prstGeom prst="roundRect">
            <a:avLst>
              <a:gd name="adj" fmla="val 22581"/>
            </a:avLst>
          </a:prstGeom>
          <a:solidFill>
            <a:srgbClr val="0B2350"/>
          </a:solidFill>
          <a:ln w="12700">
            <a:solidFill>
              <a:srgbClr val="0B2350"/>
            </a:solidFill>
            <a:prstDash val="solid"/>
          </a:ln>
        </p:spPr>
      </p:sp>
      <p:sp>
        <p:nvSpPr>
          <p:cNvPr id="15" name="Shape 13"/>
          <p:cNvSpPr/>
          <p:nvPr/>
        </p:nvSpPr>
        <p:spPr>
          <a:xfrm>
            <a:off x="4818888" y="2638044"/>
            <a:ext cx="3246120" cy="182880"/>
          </a:xfrm>
          <a:prstGeom prst="rect">
            <a:avLst/>
          </a:prstGeom>
          <a:solidFill>
            <a:srgbClr val="0B2350"/>
          </a:solidFill>
          <a:ln w="12700">
            <a:solidFill>
              <a:srgbClr val="0B2350"/>
            </a:solidFill>
            <a:prstDash val="solid"/>
          </a:ln>
        </p:spPr>
      </p:sp>
      <p:sp>
        <p:nvSpPr>
          <p:cNvPr id="16" name="Icono file-code"/>
          <p:cNvSpPr/>
          <p:nvPr/>
        </p:nvSpPr>
        <p:spPr>
          <a:xfrm>
            <a:off x="4983480" y="2372868"/>
            <a:ext cx="329184" cy="329184"/>
          </a:xfrm>
          <a:custGeom>
            <a:avLst/>
            <a:gdLst/>
            <a:ahLst/>
            <a:cxnLst/>
            <a:rect l="l" t="t" r="r" b="b"/>
            <a:pathLst>
              <a:path w="329184" h="329184">
                <a:moveTo>
                  <a:pt x="137160" y="171450"/>
                </a:moveTo>
                <a:lnTo>
                  <a:pt x="109728" y="205740"/>
                </a:lnTo>
                <a:lnTo>
                  <a:pt x="137160" y="240030"/>
                </a:lnTo>
                <a:moveTo>
                  <a:pt x="192024" y="171450"/>
                </a:moveTo>
                <a:lnTo>
                  <a:pt x="219456" y="205740"/>
                </a:lnTo>
                <a:lnTo>
                  <a:pt x="192024" y="240030"/>
                </a:lnTo>
                <a:moveTo>
                  <a:pt x="192024" y="27432"/>
                </a:moveTo>
                <a:lnTo>
                  <a:pt x="192024" y="82296"/>
                </a:lnTo>
                <a:cubicBezTo>
                  <a:pt x="192024" y="97446"/>
                  <a:pt x="204306" y="109728"/>
                  <a:pt x="219456" y="109728"/>
                </a:cubicBezTo>
                <a:lnTo>
                  <a:pt x="274320" y="109728"/>
                </a:lnTo>
                <a:moveTo>
                  <a:pt x="205740" y="27432"/>
                </a:moveTo>
                <a:lnTo>
                  <a:pt x="82296" y="27432"/>
                </a:lnTo>
                <a:cubicBezTo>
                  <a:pt x="67146" y="27432"/>
                  <a:pt x="54864" y="39714"/>
                  <a:pt x="54864" y="54864"/>
                </a:cubicBezTo>
                <a:lnTo>
                  <a:pt x="54864" y="274320"/>
                </a:lnTo>
                <a:cubicBezTo>
                  <a:pt x="54864" y="289470"/>
                  <a:pt x="67146" y="301752"/>
                  <a:pt x="82296" y="301752"/>
                </a:cubicBezTo>
                <a:lnTo>
                  <a:pt x="246888" y="301752"/>
                </a:lnTo>
                <a:cubicBezTo>
                  <a:pt x="262038" y="301752"/>
                  <a:pt x="274320" y="289470"/>
                  <a:pt x="274320" y="274320"/>
                </a:cubicBezTo>
                <a:lnTo>
                  <a:pt x="274320" y="96012"/>
                </a:lnTo>
                <a:close/>
              </a:path>
            </a:pathLst>
          </a:custGeom>
          <a:noFill/>
          <a:ln w="27432" cap="rnd">
            <a:solidFill>
              <a:srgbClr val="FFFFFF"/>
            </a:solidFill>
            <a:prstDash val="solid"/>
            <a:round/>
          </a:ln>
        </p:spPr>
      </p:sp>
      <p:sp>
        <p:nvSpPr>
          <p:cNvPr id="17" name="Text 15"/>
          <p:cNvSpPr/>
          <p:nvPr/>
        </p:nvSpPr>
        <p:spPr>
          <a:xfrm>
            <a:off x="5422392" y="2299716"/>
            <a:ext cx="2514600" cy="475488"/>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Segoe UI Semibold" pitchFamily="34" charset="0"/>
                <a:ea typeface="Segoe UI Semibold" pitchFamily="34" charset="-122"/>
                <a:cs typeface="Segoe UI Semibold" pitchFamily="34" charset="-120"/>
              </a:rPr>
              <a:t>El servicio al arrancar</a:t>
            </a:r>
            <a:endParaRPr lang="en-US" sz="1500" dirty="0"/>
          </a:p>
        </p:txBody>
      </p:sp>
      <p:sp>
        <p:nvSpPr>
          <p:cNvPr id="18" name="Text 16"/>
          <p:cNvSpPr/>
          <p:nvPr/>
        </p:nvSpPr>
        <p:spPr>
          <a:xfrm>
            <a:off x="5001768" y="2912364"/>
            <a:ext cx="2880360" cy="457200"/>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application.properties solo tiene marcadores.</a:t>
            </a:r>
            <a:endParaRPr lang="en-US" sz="1200" dirty="0"/>
          </a:p>
        </p:txBody>
      </p:sp>
      <p:sp>
        <p:nvSpPr>
          <p:cNvPr id="19" name="Text 17"/>
          <p:cNvSpPr/>
          <p:nvPr/>
        </p:nvSpPr>
        <p:spPr>
          <a:xfrm>
            <a:off x="4983480" y="3406140"/>
            <a:ext cx="2916936" cy="941832"/>
          </a:xfrm>
          <a:prstGeom prst="roundRect">
            <a:avLst>
              <a:gd name="adj" fmla="val 7767"/>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150" dirty="0">
                <a:solidFill>
                  <a:srgbClr val="2BA6CB"/>
                </a:solidFill>
                <a:latin typeface="Consolas" pitchFamily="34" charset="0"/>
                <a:ea typeface="Consolas" pitchFamily="34" charset="-122"/>
                <a:cs typeface="Consolas" pitchFamily="34" charset="-120"/>
              </a:rPr>
              <a:t>url=${DB_URL}</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username=${DB_USER}</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password=${DB_PASSWORD}</a:t>
            </a:r>
            <a:endParaRPr lang="en-US" sz="1150" dirty="0"/>
          </a:p>
        </p:txBody>
      </p:sp>
      <p:sp>
        <p:nvSpPr>
          <p:cNvPr id="20" name="[p1] Forma"/>
          <p:cNvSpPr/>
          <p:nvPr/>
        </p:nvSpPr>
        <p:spPr>
          <a:xfrm>
            <a:off x="612648" y="171907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612648" y="1810512"/>
            <a:ext cx="64008" cy="810768"/>
          </a:xfrm>
          <a:prstGeom prst="rect">
            <a:avLst/>
          </a:prstGeom>
          <a:solidFill>
            <a:srgbClr val="0B6E8A"/>
          </a:solidFill>
          <a:ln w="12700">
            <a:solidFill>
              <a:srgbClr val="0B6E8A"/>
            </a:solidFill>
            <a:prstDash val="solid"/>
          </a:ln>
        </p:spPr>
      </p:sp>
      <p:sp>
        <p:nvSpPr>
          <p:cNvPr id="22" name="[p1] Forma"/>
          <p:cNvSpPr/>
          <p:nvPr/>
        </p:nvSpPr>
        <p:spPr>
          <a:xfrm>
            <a:off x="777240" y="1810512"/>
            <a:ext cx="457200" cy="457200"/>
          </a:xfrm>
          <a:prstGeom prst="ellipse">
            <a:avLst/>
          </a:prstGeom>
          <a:solidFill>
            <a:srgbClr val="E3F4FA"/>
          </a:solidFill>
          <a:ln w="12700">
            <a:solidFill>
              <a:srgbClr val="E3F4FA"/>
            </a:solidFill>
            <a:prstDash val="solid"/>
          </a:ln>
        </p:spPr>
      </p:sp>
      <p:sp>
        <p:nvSpPr>
          <p:cNvPr id="23" name="[p1] Icono container"/>
          <p:cNvSpPr/>
          <p:nvPr/>
        </p:nvSpPr>
        <p:spPr>
          <a:xfrm>
            <a:off x="886968" y="1920240"/>
            <a:ext cx="237744" cy="237744"/>
          </a:xfrm>
          <a:custGeom>
            <a:avLst/>
            <a:gdLst/>
            <a:ahLst/>
            <a:cxnLst/>
            <a:rect l="l" t="t" r="r" b="b"/>
            <a:pathLst>
              <a:path w="237744" h="237744">
                <a:moveTo>
                  <a:pt x="217932" y="76276"/>
                </a:moveTo>
                <a:cubicBezTo>
                  <a:pt x="217932" y="70333"/>
                  <a:pt x="213970" y="64389"/>
                  <a:pt x="210007" y="61417"/>
                </a:cubicBezTo>
                <a:lnTo>
                  <a:pt x="147599" y="22784"/>
                </a:lnTo>
                <a:cubicBezTo>
                  <a:pt x="142378" y="19816"/>
                  <a:pt x="135980" y="19816"/>
                  <a:pt x="130759" y="22784"/>
                </a:cubicBezTo>
                <a:lnTo>
                  <a:pt x="28727" y="82220"/>
                </a:lnTo>
                <a:cubicBezTo>
                  <a:pt x="23774" y="84201"/>
                  <a:pt x="19812" y="90145"/>
                  <a:pt x="19812" y="96088"/>
                </a:cubicBezTo>
                <a:lnTo>
                  <a:pt x="19812" y="161468"/>
                </a:lnTo>
                <a:cubicBezTo>
                  <a:pt x="19812" y="166421"/>
                  <a:pt x="23774" y="173355"/>
                  <a:pt x="27737" y="176327"/>
                </a:cubicBezTo>
                <a:lnTo>
                  <a:pt x="90145" y="214960"/>
                </a:lnTo>
                <a:cubicBezTo>
                  <a:pt x="95366" y="217928"/>
                  <a:pt x="101764" y="217928"/>
                  <a:pt x="106985" y="214960"/>
                </a:cubicBezTo>
                <a:lnTo>
                  <a:pt x="209017" y="155524"/>
                </a:lnTo>
                <a:cubicBezTo>
                  <a:pt x="213970" y="152552"/>
                  <a:pt x="217932" y="145618"/>
                  <a:pt x="217932" y="140665"/>
                </a:cubicBezTo>
                <a:close/>
                <a:moveTo>
                  <a:pt x="99060" y="216941"/>
                </a:moveTo>
                <a:lnTo>
                  <a:pt x="99060" y="138684"/>
                </a:lnTo>
                <a:lnTo>
                  <a:pt x="20803" y="90145"/>
                </a:lnTo>
                <a:moveTo>
                  <a:pt x="99060" y="138684"/>
                </a:moveTo>
                <a:lnTo>
                  <a:pt x="216941" y="70333"/>
                </a:lnTo>
                <a:moveTo>
                  <a:pt x="138684" y="196139"/>
                </a:moveTo>
                <a:lnTo>
                  <a:pt x="138684" y="115900"/>
                </a:lnTo>
                <a:moveTo>
                  <a:pt x="178308" y="173355"/>
                </a:moveTo>
                <a:lnTo>
                  <a:pt x="178308" y="93116"/>
                </a:lnTo>
              </a:path>
            </a:pathLst>
          </a:custGeom>
          <a:noFill/>
          <a:ln w="19812" cap="rnd">
            <a:solidFill>
              <a:srgbClr val="0B6E8A"/>
            </a:solidFill>
            <a:prstDash val="solid"/>
            <a:round/>
          </a:ln>
        </p:spPr>
      </p:sp>
      <p:sp>
        <p:nvSpPr>
          <p:cNvPr id="24" name="[p1] Forma"/>
          <p:cNvSpPr/>
          <p:nvPr/>
        </p:nvSpPr>
        <p:spPr>
          <a:xfrm>
            <a:off x="1344168" y="177393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Docker Compose</a:t>
            </a:r>
            <a:endParaRPr lang="en-US" sz="1350" dirty="0"/>
          </a:p>
        </p:txBody>
      </p:sp>
      <p:sp>
        <p:nvSpPr>
          <p:cNvPr id="25" name="[p1] Forma"/>
          <p:cNvSpPr/>
          <p:nvPr/>
        </p:nvSpPr>
        <p:spPr>
          <a:xfrm>
            <a:off x="1344168" y="204825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compose.yaml, en cada servicio</a:t>
            </a:r>
            <a:endParaRPr lang="en-US" sz="1100" dirty="0"/>
          </a:p>
        </p:txBody>
      </p:sp>
      <p:sp>
        <p:nvSpPr>
          <p:cNvPr id="26" name="[p1] Forma"/>
          <p:cNvSpPr/>
          <p:nvPr/>
        </p:nvSpPr>
        <p:spPr>
          <a:xfrm>
            <a:off x="777240" y="232867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db-solicitudes:5432</a:t>
            </a:r>
            <a:endParaRPr lang="en-US" sz="1100" dirty="0"/>
          </a:p>
        </p:txBody>
      </p:sp>
      <p:sp>
        <p:nvSpPr>
          <p:cNvPr id="27" name="[p1] Forma"/>
          <p:cNvSpPr/>
          <p:nvPr/>
        </p:nvSpPr>
        <p:spPr>
          <a:xfrm>
            <a:off x="4096512" y="2215896"/>
            <a:ext cx="649224" cy="598170"/>
          </a:xfrm>
          <a:prstGeom prst="line">
            <a:avLst/>
          </a:prstGeom>
          <a:noFill/>
          <a:ln w="28575">
            <a:solidFill>
              <a:srgbClr val="0B6E8A"/>
            </a:solidFill>
            <a:prstDash val="solid"/>
            <a:tailEnd type="triangle"/>
          </a:ln>
        </p:spPr>
      </p:sp>
      <p:sp>
        <p:nvSpPr>
          <p:cNvPr id="28" name="[p2] Forma"/>
          <p:cNvSpPr/>
          <p:nvPr/>
        </p:nvSpPr>
        <p:spPr>
          <a:xfrm>
            <a:off x="612648" y="287731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2968752"/>
            <a:ext cx="64008" cy="810768"/>
          </a:xfrm>
          <a:prstGeom prst="rect">
            <a:avLst/>
          </a:prstGeom>
          <a:solidFill>
            <a:srgbClr val="0A6648"/>
          </a:solidFill>
          <a:ln w="12700">
            <a:solidFill>
              <a:srgbClr val="0A6648"/>
            </a:solidFill>
            <a:prstDash val="solid"/>
          </a:ln>
        </p:spPr>
      </p:sp>
      <p:sp>
        <p:nvSpPr>
          <p:cNvPr id="30" name="[p2] Forma"/>
          <p:cNvSpPr/>
          <p:nvPr/>
        </p:nvSpPr>
        <p:spPr>
          <a:xfrm>
            <a:off x="777240" y="2968752"/>
            <a:ext cx="457200" cy="457200"/>
          </a:xfrm>
          <a:prstGeom prst="ellipse">
            <a:avLst/>
          </a:prstGeom>
          <a:solidFill>
            <a:srgbClr val="E1F1EA"/>
          </a:solidFill>
          <a:ln w="12700">
            <a:solidFill>
              <a:srgbClr val="E1F1EA"/>
            </a:solidFill>
            <a:prstDash val="solid"/>
          </a:ln>
        </p:spPr>
      </p:sp>
      <p:sp>
        <p:nvSpPr>
          <p:cNvPr id="31" name="[p2] Icono ship-wheel"/>
          <p:cNvSpPr/>
          <p:nvPr/>
        </p:nvSpPr>
        <p:spPr>
          <a:xfrm>
            <a:off x="886968" y="3078480"/>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32" name="[p2] Forma"/>
          <p:cNvSpPr/>
          <p:nvPr/>
        </p:nvSpPr>
        <p:spPr>
          <a:xfrm>
            <a:off x="1344168" y="293217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A6648"/>
                </a:solidFill>
                <a:latin typeface="Segoe UI Semibold" pitchFamily="34" charset="0"/>
                <a:ea typeface="Segoe UI Semibold" pitchFamily="34" charset="-122"/>
                <a:cs typeface="Segoe UI Semibold" pitchFamily="34" charset="-120"/>
              </a:rPr>
              <a:t>Kubernetes · Deployment</a:t>
            </a:r>
            <a:endParaRPr lang="en-US" sz="1350" dirty="0"/>
          </a:p>
        </p:txBody>
      </p:sp>
      <p:sp>
        <p:nvSpPr>
          <p:cNvPr id="33" name="[p2] Forma"/>
          <p:cNvSpPr/>
          <p:nvPr/>
        </p:nvSpPr>
        <p:spPr>
          <a:xfrm>
            <a:off x="1344168" y="320649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dirección y el usuario</a:t>
            </a:r>
            <a:endParaRPr lang="en-US" sz="1100" dirty="0"/>
          </a:p>
        </p:txBody>
      </p:sp>
      <p:sp>
        <p:nvSpPr>
          <p:cNvPr id="34" name="[p2] Forma"/>
          <p:cNvSpPr/>
          <p:nvPr/>
        </p:nvSpPr>
        <p:spPr>
          <a:xfrm>
            <a:off x="777240" y="348691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DB_USER</a:t>
            </a:r>
            <a:endParaRPr lang="en-US" sz="1100" dirty="0"/>
          </a:p>
        </p:txBody>
      </p:sp>
      <p:sp>
        <p:nvSpPr>
          <p:cNvPr id="35" name="[p2] Forma"/>
          <p:cNvSpPr/>
          <p:nvPr/>
        </p:nvSpPr>
        <p:spPr>
          <a:xfrm>
            <a:off x="4096512" y="3374136"/>
            <a:ext cx="649224" cy="0"/>
          </a:xfrm>
          <a:prstGeom prst="line">
            <a:avLst/>
          </a:prstGeom>
          <a:noFill/>
          <a:ln w="28575">
            <a:solidFill>
              <a:srgbClr val="0A6648"/>
            </a:solidFill>
            <a:prstDash val="solid"/>
            <a:tailEnd type="triangle"/>
          </a:ln>
        </p:spPr>
      </p:sp>
      <p:sp>
        <p:nvSpPr>
          <p:cNvPr id="36" name="[p3] Forma"/>
          <p:cNvSpPr/>
          <p:nvPr/>
        </p:nvSpPr>
        <p:spPr>
          <a:xfrm>
            <a:off x="612648" y="403555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7" name="[p3] Forma"/>
          <p:cNvSpPr/>
          <p:nvPr/>
        </p:nvSpPr>
        <p:spPr>
          <a:xfrm>
            <a:off x="612648" y="4126992"/>
            <a:ext cx="64008" cy="810768"/>
          </a:xfrm>
          <a:prstGeom prst="rect">
            <a:avLst/>
          </a:prstGeom>
          <a:solidFill>
            <a:srgbClr val="8A4B06"/>
          </a:solidFill>
          <a:ln w="12700">
            <a:solidFill>
              <a:srgbClr val="8A4B06"/>
            </a:solidFill>
            <a:prstDash val="solid"/>
          </a:ln>
        </p:spPr>
      </p:sp>
      <p:sp>
        <p:nvSpPr>
          <p:cNvPr id="38" name="[p3] Forma"/>
          <p:cNvSpPr/>
          <p:nvPr/>
        </p:nvSpPr>
        <p:spPr>
          <a:xfrm>
            <a:off x="777240" y="4126992"/>
            <a:ext cx="457200" cy="457200"/>
          </a:xfrm>
          <a:prstGeom prst="ellipse">
            <a:avLst/>
          </a:prstGeom>
          <a:solidFill>
            <a:srgbClr val="FCEFD6"/>
          </a:solidFill>
          <a:ln w="12700">
            <a:solidFill>
              <a:srgbClr val="FCEFD6"/>
            </a:solidFill>
            <a:prstDash val="solid"/>
          </a:ln>
        </p:spPr>
      </p:sp>
      <p:sp>
        <p:nvSpPr>
          <p:cNvPr id="39" name="[p3] Icono key-round"/>
          <p:cNvSpPr/>
          <p:nvPr/>
        </p:nvSpPr>
        <p:spPr>
          <a:xfrm>
            <a:off x="886968" y="4236720"/>
            <a:ext cx="237744" cy="237744"/>
          </a:xfrm>
          <a:custGeom>
            <a:avLst/>
            <a:gdLst/>
            <a:ahLst/>
            <a:cxnLst/>
            <a:rect l="l" t="t" r="r" b="b"/>
            <a:pathLst>
              <a:path w="237744" h="237744">
                <a:moveTo>
                  <a:pt x="25617" y="172503"/>
                </a:moveTo>
                <a:cubicBezTo>
                  <a:pt x="21901" y="176218"/>
                  <a:pt x="19813" y="181256"/>
                  <a:pt x="19812" y="186510"/>
                </a:cubicBezTo>
                <a:lnTo>
                  <a:pt x="19812" y="208026"/>
                </a:lnTo>
                <a:cubicBezTo>
                  <a:pt x="19812" y="213497"/>
                  <a:pt x="24247" y="217932"/>
                  <a:pt x="29718" y="217932"/>
                </a:cubicBezTo>
                <a:lnTo>
                  <a:pt x="59436" y="217932"/>
                </a:lnTo>
                <a:cubicBezTo>
                  <a:pt x="64907" y="217932"/>
                  <a:pt x="69342" y="213497"/>
                  <a:pt x="69342" y="208026"/>
                </a:cubicBezTo>
                <a:lnTo>
                  <a:pt x="69342" y="198120"/>
                </a:lnTo>
                <a:cubicBezTo>
                  <a:pt x="69342" y="192649"/>
                  <a:pt x="73777" y="188214"/>
                  <a:pt x="79248" y="188214"/>
                </a:cubicBezTo>
                <a:lnTo>
                  <a:pt x="89154" y="188214"/>
                </a:lnTo>
                <a:cubicBezTo>
                  <a:pt x="94625" y="188214"/>
                  <a:pt x="99060" y="183779"/>
                  <a:pt x="99060" y="178308"/>
                </a:cubicBezTo>
                <a:lnTo>
                  <a:pt x="99060" y="168402"/>
                </a:lnTo>
                <a:cubicBezTo>
                  <a:pt x="99060" y="162931"/>
                  <a:pt x="103495" y="158496"/>
                  <a:pt x="108966" y="158496"/>
                </a:cubicBezTo>
                <a:lnTo>
                  <a:pt x="110670" y="158496"/>
                </a:lnTo>
                <a:cubicBezTo>
                  <a:pt x="115924" y="158495"/>
                  <a:pt x="120962" y="156407"/>
                  <a:pt x="124677" y="152691"/>
                </a:cubicBezTo>
                <a:lnTo>
                  <a:pt x="132740" y="144628"/>
                </a:lnTo>
                <a:cubicBezTo>
                  <a:pt x="161093" y="154504"/>
                  <a:pt x="192509" y="143474"/>
                  <a:pt x="208465" y="118041"/>
                </a:cubicBezTo>
                <a:cubicBezTo>
                  <a:pt x="224421" y="92608"/>
                  <a:pt x="220682" y="59523"/>
                  <a:pt x="199452" y="38292"/>
                </a:cubicBezTo>
                <a:cubicBezTo>
                  <a:pt x="178221" y="17062"/>
                  <a:pt x="145136" y="13323"/>
                  <a:pt x="119703" y="29279"/>
                </a:cubicBezTo>
                <a:cubicBezTo>
                  <a:pt x="94270" y="45235"/>
                  <a:pt x="83240" y="76651"/>
                  <a:pt x="93116" y="105004"/>
                </a:cubicBezTo>
                <a:close/>
                <a:moveTo>
                  <a:pt x="168402" y="74295"/>
                </a:moveTo>
                <a:cubicBezTo>
                  <a:pt x="168402" y="77030"/>
                  <a:pt x="166184" y="79248"/>
                  <a:pt x="163449" y="79248"/>
                </a:cubicBezTo>
                <a:cubicBezTo>
                  <a:pt x="160714" y="79248"/>
                  <a:pt x="158496" y="77030"/>
                  <a:pt x="158496" y="74295"/>
                </a:cubicBezTo>
                <a:cubicBezTo>
                  <a:pt x="158496" y="71560"/>
                  <a:pt x="160714" y="69342"/>
                  <a:pt x="163449" y="69342"/>
                </a:cubicBezTo>
                <a:cubicBezTo>
                  <a:pt x="166184" y="69342"/>
                  <a:pt x="168402" y="71560"/>
                  <a:pt x="168402" y="74295"/>
                </a:cubicBezTo>
                <a:close/>
              </a:path>
            </a:pathLst>
          </a:custGeom>
          <a:noFill/>
          <a:ln w="19812" cap="rnd">
            <a:solidFill>
              <a:srgbClr val="8A4B06"/>
            </a:solidFill>
            <a:prstDash val="solid"/>
            <a:round/>
          </a:ln>
        </p:spPr>
      </p:sp>
      <p:sp>
        <p:nvSpPr>
          <p:cNvPr id="40" name="[p3] Forma"/>
          <p:cNvSpPr/>
          <p:nvPr/>
        </p:nvSpPr>
        <p:spPr>
          <a:xfrm>
            <a:off x="1344168" y="409041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8A4B06"/>
                </a:solidFill>
                <a:latin typeface="Segoe UI Semibold" pitchFamily="34" charset="0"/>
                <a:ea typeface="Segoe UI Semibold" pitchFamily="34" charset="-122"/>
                <a:cs typeface="Segoe UI Semibold" pitchFamily="34" charset="-120"/>
              </a:rPr>
              <a:t>Kubernetes · Secret</a:t>
            </a:r>
            <a:endParaRPr lang="en-US" sz="1350" dirty="0"/>
          </a:p>
        </p:txBody>
      </p:sp>
      <p:sp>
        <p:nvSpPr>
          <p:cNvPr id="41" name="[p3] Forma"/>
          <p:cNvSpPr/>
          <p:nvPr/>
        </p:nvSpPr>
        <p:spPr>
          <a:xfrm>
            <a:off x="1344168" y="436473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clave, guardada aparte</a:t>
            </a:r>
            <a:endParaRPr lang="en-US" sz="1100" dirty="0"/>
          </a:p>
        </p:txBody>
      </p:sp>
      <p:sp>
        <p:nvSpPr>
          <p:cNvPr id="42" name="[p3] Forma"/>
          <p:cNvSpPr/>
          <p:nvPr/>
        </p:nvSpPr>
        <p:spPr>
          <a:xfrm>
            <a:off x="777240" y="464515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DB_PASSWORD ← Secret arka-postgres</a:t>
            </a:r>
            <a:endParaRPr lang="en-US" sz="1100" dirty="0"/>
          </a:p>
        </p:txBody>
      </p:sp>
      <p:sp>
        <p:nvSpPr>
          <p:cNvPr id="43" name="[p3] Forma"/>
          <p:cNvSpPr/>
          <p:nvPr/>
        </p:nvSpPr>
        <p:spPr>
          <a:xfrm flipV="1">
            <a:off x="4096512" y="3934206"/>
            <a:ext cx="649224" cy="598170"/>
          </a:xfrm>
          <a:prstGeom prst="line">
            <a:avLst/>
          </a:prstGeom>
          <a:noFill/>
          <a:ln w="28575">
            <a:solidFill>
              <a:srgbClr val="8A4B06"/>
            </a:solidFill>
            <a:prstDash val="solid"/>
            <a:tailEnd type="triangle"/>
          </a:ln>
        </p:spPr>
      </p:sp>
      <p:sp>
        <p:nvSpPr>
          <p:cNvPr id="44" name="[p4] Forma"/>
          <p:cNvSpPr/>
          <p:nvPr/>
        </p:nvSpPr>
        <p:spPr>
          <a:xfrm>
            <a:off x="9208008" y="2688336"/>
            <a:ext cx="2371039" cy="137160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45" name="[p4] Forma"/>
          <p:cNvSpPr/>
          <p:nvPr/>
        </p:nvSpPr>
        <p:spPr>
          <a:xfrm>
            <a:off x="9299448" y="3127248"/>
            <a:ext cx="2188159" cy="365760"/>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46" name="[p4] Forma"/>
          <p:cNvSpPr/>
          <p:nvPr/>
        </p:nvSpPr>
        <p:spPr>
          <a:xfrm>
            <a:off x="9299448" y="3493008"/>
            <a:ext cx="218815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7" name="[p4] Forma"/>
          <p:cNvSpPr/>
          <p:nvPr/>
        </p:nvSpPr>
        <p:spPr>
          <a:xfrm>
            <a:off x="8138160" y="3374136"/>
            <a:ext cx="996696" cy="0"/>
          </a:xfrm>
          <a:prstGeom prst="line">
            <a:avLst/>
          </a:prstGeom>
          <a:noFill/>
          <a:ln w="31750">
            <a:solidFill>
              <a:srgbClr val="0B2350"/>
            </a:solidFill>
            <a:prstDash val="solid"/>
            <a:tailEnd type="triangle"/>
          </a:ln>
        </p:spPr>
      </p:sp>
      <p:sp>
        <p:nvSpPr>
          <p:cNvPr id="48" name="[p4] Forma"/>
          <p:cNvSpPr/>
          <p:nvPr/>
        </p:nvSpPr>
        <p:spPr>
          <a:xfrm>
            <a:off x="8110728" y="2825496"/>
            <a:ext cx="1051560" cy="475488"/>
          </a:xfrm>
          <a:prstGeom prst="rect">
            <a:avLst/>
          </a:prstGeom>
          <a:noFill/>
          <a:ln/>
        </p:spPr>
        <p:txBody>
          <a:bodyPr wrap="square" lIns="0" tIns="0" rIns="0" bIns="0" rtlCol="0" anchor="b">
            <a:normAutofit/>
          </a:bodyPr>
          <a:lstStyle/>
          <a:p>
            <a:pPr algn="ctr" indent="0" marL="0">
              <a:buNone/>
            </a:pPr>
            <a:r>
              <a:rPr lang="en-US" sz="1150" b="1" dirty="0">
                <a:solidFill>
                  <a:srgbClr val="0B2350"/>
                </a:solidFill>
                <a:latin typeface="Segoe UI" pitchFamily="34" charset="0"/>
                <a:ea typeface="Segoe UI" pitchFamily="34" charset="-122"/>
                <a:cs typeface="Segoe UI" pitchFamily="34" charset="-120"/>
              </a:rPr>
              <a:t>pool de conexiones</a:t>
            </a:r>
            <a:endParaRPr lang="en-US" sz="1150" dirty="0"/>
          </a:p>
        </p:txBody>
      </p:sp>
      <p:sp>
        <p:nvSpPr>
          <p:cNvPr id="49" name="[p5] Forma"/>
          <p:cNvSpPr/>
          <p:nvPr/>
        </p:nvSpPr>
        <p:spPr>
          <a:xfrm>
            <a:off x="4818888" y="5230368"/>
            <a:ext cx="6760159" cy="603504"/>
          </a:xfrm>
          <a:prstGeom prst="roundRect">
            <a:avLst>
              <a:gd name="adj" fmla="val 21212"/>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50" name="[p5] Forma"/>
          <p:cNvSpPr/>
          <p:nvPr/>
        </p:nvSpPr>
        <p:spPr>
          <a:xfrm>
            <a:off x="4965192" y="5321808"/>
            <a:ext cx="420624" cy="420624"/>
          </a:xfrm>
          <a:prstGeom prst="ellipse">
            <a:avLst/>
          </a:prstGeom>
          <a:solidFill>
            <a:srgbClr val="FFFFFF"/>
          </a:solidFill>
          <a:ln w="12700">
            <a:solidFill>
              <a:srgbClr val="FFFFFF"/>
            </a:solidFill>
            <a:prstDash val="solid"/>
          </a:ln>
        </p:spPr>
      </p:sp>
      <p:sp>
        <p:nvSpPr>
          <p:cNvPr id="51" name="[p5] Icono ban"/>
          <p:cNvSpPr/>
          <p:nvPr/>
        </p:nvSpPr>
        <p:spPr>
          <a:xfrm>
            <a:off x="5066142" y="5422758"/>
            <a:ext cx="218724" cy="218724"/>
          </a:xfrm>
          <a:custGeom>
            <a:avLst/>
            <a:gdLst/>
            <a:ahLst/>
            <a:cxnLst/>
            <a:rect l="l" t="t" r="r" b="b"/>
            <a:pathLst>
              <a:path w="218724" h="218724">
                <a:moveTo>
                  <a:pt x="200497" y="109362"/>
                </a:moveTo>
                <a:cubicBezTo>
                  <a:pt x="200497" y="159695"/>
                  <a:pt x="159695" y="200497"/>
                  <a:pt x="109362" y="200497"/>
                </a:cubicBezTo>
                <a:cubicBezTo>
                  <a:pt x="59030" y="200497"/>
                  <a:pt x="18227" y="159695"/>
                  <a:pt x="18227" y="109362"/>
                </a:cubicBezTo>
                <a:cubicBezTo>
                  <a:pt x="18227" y="59030"/>
                  <a:pt x="59030" y="18227"/>
                  <a:pt x="109362" y="18227"/>
                </a:cubicBezTo>
                <a:cubicBezTo>
                  <a:pt x="159695" y="18227"/>
                  <a:pt x="200497" y="59030"/>
                  <a:pt x="200497" y="109362"/>
                </a:cubicBezTo>
                <a:close/>
                <a:moveTo>
                  <a:pt x="44656" y="44656"/>
                </a:moveTo>
                <a:lnTo>
                  <a:pt x="174068" y="174068"/>
                </a:lnTo>
              </a:path>
            </a:pathLst>
          </a:custGeom>
          <a:noFill/>
          <a:ln w="18227" cap="rnd">
            <a:solidFill>
              <a:srgbClr val="AB243E"/>
            </a:solidFill>
            <a:prstDash val="solid"/>
            <a:round/>
          </a:ln>
        </p:spPr>
      </p:sp>
      <p:sp>
        <p:nvSpPr>
          <p:cNvPr id="52" name="[p5] Forma"/>
          <p:cNvSpPr/>
          <p:nvPr/>
        </p:nvSpPr>
        <p:spPr>
          <a:xfrm>
            <a:off x="5504688" y="5230368"/>
            <a:ext cx="5937199" cy="603504"/>
          </a:xfrm>
          <a:prstGeom prst="rect">
            <a:avLst/>
          </a:prstGeom>
          <a:noFill/>
          <a:ln/>
        </p:spPr>
        <p:txBody>
          <a:bodyPr wrap="square" lIns="0" tIns="0" rIns="0" bIns="0" rtlCol="0" anchor="ctr">
            <a:normAutofit/>
          </a:bodyPr>
          <a:lstStyle/>
          <a:p>
            <a:pPr indent="0" marL="0">
              <a:buNone/>
            </a:pPr>
            <a:r>
              <a:rPr lang="en-US" sz="1300" b="1" dirty="0">
                <a:solidFill>
                  <a:srgbClr val="AB243E"/>
                </a:solidFill>
                <a:latin typeface="Segoe UI" pitchFamily="34" charset="0"/>
                <a:ea typeface="Segoe UI" pitchFamily="34" charset="-122"/>
                <a:cs typeface="Segoe UI" pitchFamily="34" charset="-120"/>
              </a:rPr>
              <a:t>La imagen Docker:  </a:t>
            </a:r>
            <a:pPr indent="0" marL="0">
              <a:buNone/>
            </a:pPr>
            <a:r>
              <a:rPr lang="en-US" sz="1300" dirty="0">
                <a:solidFill>
                  <a:srgbClr val="0B1A3C"/>
                </a:solidFill>
                <a:latin typeface="Segoe UI" pitchFamily="34" charset="0"/>
                <a:ea typeface="Segoe UI" pitchFamily="34" charset="-122"/>
                <a:cs typeface="Segoe UI" pitchFamily="34" charset="-120"/>
              </a:rPr>
              <a:t>no lleva ni dirección ni clave. La misma imagen sirve en cualquier ambiente.</a:t>
            </a:r>
            <a:endParaRPr lang="en-US" sz="1300" dirty="0"/>
          </a:p>
        </p:txBody>
      </p:sp>
      <p:sp>
        <p:nvSpPr>
          <p:cNvPr id="53" name="Shape 51"/>
          <p:cNvSpPr/>
          <p:nvPr/>
        </p:nvSpPr>
        <p:spPr>
          <a:xfrm>
            <a:off x="0" y="5961888"/>
            <a:ext cx="12191695" cy="475488"/>
          </a:xfrm>
          <a:prstGeom prst="rect">
            <a:avLst/>
          </a:prstGeom>
          <a:solidFill>
            <a:srgbClr val="0B2350"/>
          </a:solidFill>
          <a:ln w="12700">
            <a:solidFill>
              <a:srgbClr val="0B2350"/>
            </a:solidFill>
            <a:prstDash val="solid"/>
          </a:ln>
        </p:spPr>
      </p:sp>
      <p:sp>
        <p:nvSpPr>
          <p:cNvPr id="54"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5" name="Text 53"/>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Cambiar de servidor o rotar una clave no obliga a recompilar ni a tocar el código.</a:t>
            </a:r>
            <a:endParaRPr lang="en-US" sz="1400" dirty="0"/>
          </a:p>
        </p:txBody>
      </p:sp>
      <p:sp>
        <p:nvSpPr>
          <p:cNvPr id="56" name="Text 5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53" fill="hold">
                      <p:stCondLst>
                        <p:cond delay="indefinite"/>
                      </p:stCondLst>
                      <p:childTnLst>
                        <p:par>
                          <p:cTn id="54"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par>
                    <p:cTn id="79" fill="hold">
                      <p:stCondLst>
                        <p:cond delay="indefinite"/>
                      </p:stCondLst>
                      <p:childTnLst>
                        <p:par>
                          <p:cTn id="80"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fade">
                                      <p:cBhvr>
                                        <p:cTn id="72" dur="400"/>
                                        <p:tgtEl>
                                          <p:spTgt spid="4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2"/>
                                        </p:tgtEl>
                                        <p:attrNameLst>
                                          <p:attrName>style.visibility</p:attrName>
                                        </p:attrNameLst>
                                      </p:cBhvr>
                                      <p:to>
                                        <p:strVal val="visible"/>
                                      </p:to>
                                    </p:set>
                                    <p:animEffect transition="in" filter="fade">
                                      <p:cBhvr>
                                        <p:cTn id="75" dur="400"/>
                                        <p:tgtEl>
                                          <p:spTgt spid="42"/>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400"/>
                                        <p:tgtEl>
                                          <p:spTgt spid="43"/>
                                        </p:tgtEl>
                                      </p:cBhvr>
                                    </p:animEffect>
                                  </p:childTnLst>
                                </p:cTn>
                              </p:par>
                            </p:childTnLst>
                          </p:cTn>
                        </p:par>
                      </p:childTnLst>
                    </p:cTn>
                  </p:par>
                  <p:par>
                    <p:cTn id="96" fill="hold">
                      <p:stCondLst>
                        <p:cond delay="indefinite"/>
                      </p:stCondLst>
                      <p:childTnLst>
                        <p:par>
                          <p:cTn id="97"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00"/>
                                        <p:tgtEl>
                                          <p:spTgt spid="4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00"/>
                                        <p:tgtEl>
                                          <p:spTgt spid="4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8"/>
                                        </p:tgtEl>
                                        <p:attrNameLst>
                                          <p:attrName>style.visibility</p:attrName>
                                        </p:attrNameLst>
                                      </p:cBhvr>
                                      <p:to>
                                        <p:strVal val="visible"/>
                                      </p:to>
                                    </p:set>
                                    <p:animEffect transition="in" filter="fade">
                                      <p:cBhvr>
                                        <p:cTn id="95" dur="400"/>
                                        <p:tgtEl>
                                          <p:spTgt spid="48"/>
                                        </p:tgtEl>
                                      </p:cBhvr>
                                    </p:animEffect>
                                  </p:childTnLst>
                                </p:cTn>
                              </p:par>
                            </p:childTnLst>
                          </p:cTn>
                        </p:par>
                      </p:childTnLst>
                    </p:cTn>
                  </p:par>
                  <p:par>
                    <p:cTn id="110" fill="hold">
                      <p:stCondLst>
                        <p:cond delay="indefinite"/>
                      </p:stCondLst>
                      <p:childTnLst>
                        <p:par>
                          <p:cTn id="111"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fade">
                                      <p:cBhvr>
                                        <p:cTn id="100" dur="400"/>
                                        <p:tgtEl>
                                          <p:spTgt spid="49"/>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fade">
                                      <p:cBhvr>
                                        <p:cTn id="103" dur="400"/>
                                        <p:tgtEl>
                                          <p:spTgt spid="5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fade">
                                      <p:cBhvr>
                                        <p:cTn id="106" dur="400"/>
                                        <p:tgtEl>
                                          <p:spTgt spid="51"/>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fade">
                                      <p:cBhvr>
                                        <p:cTn id="109"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servicio-solicitudes/src/main/resources/application.properties</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750" i="1" dirty="0">
                <a:solidFill>
                  <a:srgbClr val="8FA2BF"/>
                </a:solidFill>
                <a:latin typeface="Consolas" pitchFamily="34" charset="0"/>
                <a:ea typeface="Consolas" pitchFamily="34" charset="-122"/>
                <a:cs typeface="Consolas" pitchFamily="34" charset="-120"/>
              </a:rPr>
              <a:t># Conexión: el ambiente da los valores; después de : va el valor local</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spring.datasource.url</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750" dirty="0">
                <a:solidFill>
                  <a:srgbClr val="FFB38A"/>
                </a:solidFill>
                <a:latin typeface="Consolas" pitchFamily="34" charset="0"/>
                <a:ea typeface="Consolas" pitchFamily="34" charset="-122"/>
                <a:cs typeface="Consolas" pitchFamily="34" charset="-120"/>
              </a:rPr>
              <a:t>${DB_URL:jdbc:postgresql://localhost:5432/db-solicitudes}</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spring.datasource.username</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750" dirty="0">
                <a:solidFill>
                  <a:srgbClr val="FFB38A"/>
                </a:solidFill>
                <a:latin typeface="Consolas" pitchFamily="34" charset="0"/>
                <a:ea typeface="Consolas" pitchFamily="34" charset="-122"/>
                <a:cs typeface="Consolas" pitchFamily="34" charset="-120"/>
              </a:rPr>
              <a:t>${DB_USER:arka}</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spring.datasource.password</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750" dirty="0">
                <a:solidFill>
                  <a:srgbClr val="FFB38A"/>
                </a:solidFill>
                <a:latin typeface="Consolas" pitchFamily="34" charset="0"/>
                <a:ea typeface="Consolas" pitchFamily="34" charset="-122"/>
                <a:cs typeface="Consolas" pitchFamily="34" charset="-120"/>
              </a:rPr>
              <a:t>${DB_PASSWORD:arka}</a:t>
            </a:r>
            <a:endParaRPr lang="en-US" sz="1750" dirty="0"/>
          </a:p>
          <a:p>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 </a:t>
            </a:r>
            <a:endParaRPr lang="en-US" sz="1750" dirty="0"/>
          </a:p>
          <a:p>
            <a:pPr indent="0" marL="0">
              <a:lnSpc>
                <a:spcPct val="110000"/>
              </a:lnSpc>
              <a:buNone/>
            </a:pPr>
            <a:r>
              <a:rPr lang="en-US" sz="1750" i="1" dirty="0">
                <a:solidFill>
                  <a:srgbClr val="8FA2BF"/>
                </a:solidFill>
                <a:latin typeface="Consolas" pitchFamily="34" charset="0"/>
                <a:ea typeface="Consolas" pitchFamily="34" charset="-122"/>
                <a:cs typeface="Consolas" pitchFamily="34" charset="-120"/>
              </a:rPr>
              <a:t># Esquema: schema.sql en cada arranque y Hibernate solo valida</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spring.sql.init.mode</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=always</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spring.jpa.hibernate.ddl-auto</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=validate</a:t>
            </a:r>
            <a:endParaRPr lang="en-US" sz="175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Una transacción: todo o nada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500" dirty="0">
                <a:solidFill>
                  <a:srgbClr val="55627E"/>
                </a:solidFill>
                <a:latin typeface="Segoe UI" pitchFamily="34" charset="0"/>
                <a:ea typeface="Segoe UI" pitchFamily="34" charset="-122"/>
                <a:cs typeface="Segoe UI" pitchFamily="34" charset="-120"/>
              </a:rPr>
              <a:t>@Transactional es el BEGIN … COMMIT de siempre: la solicitud y su aviso se guardan juntos o no se guarda nada.</a:t>
            </a:r>
            <a:endParaRPr lang="en-US" sz="1500" dirty="0"/>
          </a:p>
        </p:txBody>
      </p:sp>
      <p:sp>
        <p:nvSpPr>
          <p:cNvPr id="13" name="Shape 11"/>
          <p:cNvSpPr/>
          <p:nvPr/>
        </p:nvSpPr>
        <p:spPr>
          <a:xfrm>
            <a:off x="1024128" y="1828800"/>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14" name="Icono cable"/>
          <p:cNvSpPr/>
          <p:nvPr/>
        </p:nvSpPr>
        <p:spPr>
          <a:xfrm>
            <a:off x="1339302" y="2143974"/>
            <a:ext cx="739973" cy="739973"/>
          </a:xfrm>
          <a:custGeom>
            <a:avLst/>
            <a:gdLst/>
            <a:ahLst/>
            <a:cxnLst/>
            <a:rect l="l" t="t" r="r" b="b"/>
            <a:pathLst>
              <a:path w="739973" h="739973">
                <a:moveTo>
                  <a:pt x="524147" y="647476"/>
                </a:moveTo>
                <a:lnTo>
                  <a:pt x="524147" y="585812"/>
                </a:lnTo>
                <a:cubicBezTo>
                  <a:pt x="507119" y="585812"/>
                  <a:pt x="493315" y="572008"/>
                  <a:pt x="493315" y="554980"/>
                </a:cubicBezTo>
                <a:lnTo>
                  <a:pt x="493315" y="524147"/>
                </a:lnTo>
                <a:cubicBezTo>
                  <a:pt x="493315" y="490091"/>
                  <a:pt x="520923" y="462483"/>
                  <a:pt x="554980" y="462483"/>
                </a:cubicBezTo>
                <a:lnTo>
                  <a:pt x="616644" y="462483"/>
                </a:lnTo>
                <a:cubicBezTo>
                  <a:pt x="650700" y="462483"/>
                  <a:pt x="678308" y="490091"/>
                  <a:pt x="678308" y="524147"/>
                </a:cubicBezTo>
                <a:lnTo>
                  <a:pt x="678308" y="554980"/>
                </a:lnTo>
                <a:cubicBezTo>
                  <a:pt x="678308" y="572008"/>
                  <a:pt x="664504" y="585812"/>
                  <a:pt x="647476" y="585812"/>
                </a:cubicBezTo>
                <a:moveTo>
                  <a:pt x="585812" y="462483"/>
                </a:moveTo>
                <a:lnTo>
                  <a:pt x="585812" y="200409"/>
                </a:lnTo>
                <a:cubicBezTo>
                  <a:pt x="585812" y="140811"/>
                  <a:pt x="537498" y="92497"/>
                  <a:pt x="477899" y="92497"/>
                </a:cubicBezTo>
                <a:cubicBezTo>
                  <a:pt x="418301" y="92497"/>
                  <a:pt x="369986" y="140811"/>
                  <a:pt x="369986" y="200409"/>
                </a:cubicBezTo>
                <a:lnTo>
                  <a:pt x="369986" y="539563"/>
                </a:lnTo>
                <a:cubicBezTo>
                  <a:pt x="369986" y="599162"/>
                  <a:pt x="321672" y="647476"/>
                  <a:pt x="262074" y="647476"/>
                </a:cubicBezTo>
                <a:cubicBezTo>
                  <a:pt x="202475" y="647476"/>
                  <a:pt x="154161" y="599162"/>
                  <a:pt x="154161" y="539563"/>
                </a:cubicBezTo>
                <a:lnTo>
                  <a:pt x="154161" y="277490"/>
                </a:lnTo>
                <a:moveTo>
                  <a:pt x="647476" y="647476"/>
                </a:moveTo>
                <a:lnTo>
                  <a:pt x="647476" y="585812"/>
                </a:lnTo>
                <a:lnTo>
                  <a:pt x="524147" y="585812"/>
                </a:lnTo>
                <a:moveTo>
                  <a:pt x="92497" y="154161"/>
                </a:moveTo>
                <a:lnTo>
                  <a:pt x="215825" y="154161"/>
                </a:lnTo>
                <a:lnTo>
                  <a:pt x="215825" y="92497"/>
                </a:lnTo>
                <a:moveTo>
                  <a:pt x="215825" y="154161"/>
                </a:moveTo>
                <a:cubicBezTo>
                  <a:pt x="232854" y="154161"/>
                  <a:pt x="246658" y="167965"/>
                  <a:pt x="246658" y="184993"/>
                </a:cubicBezTo>
                <a:lnTo>
                  <a:pt x="246658" y="215825"/>
                </a:lnTo>
                <a:cubicBezTo>
                  <a:pt x="246658" y="249882"/>
                  <a:pt x="219049" y="277490"/>
                  <a:pt x="184993" y="277490"/>
                </a:cubicBezTo>
                <a:lnTo>
                  <a:pt x="123329" y="277490"/>
                </a:lnTo>
                <a:cubicBezTo>
                  <a:pt x="89272" y="277490"/>
                  <a:pt x="61664" y="249882"/>
                  <a:pt x="61664" y="215825"/>
                </a:cubicBezTo>
                <a:lnTo>
                  <a:pt x="61664" y="184993"/>
                </a:lnTo>
                <a:cubicBezTo>
                  <a:pt x="61664" y="167965"/>
                  <a:pt x="75468" y="154161"/>
                  <a:pt x="92497" y="154161"/>
                </a:cubicBezTo>
                <a:lnTo>
                  <a:pt x="92497" y="92497"/>
                </a:lnTo>
              </a:path>
            </a:pathLst>
          </a:custGeom>
          <a:noFill/>
          <a:ln w="53956" cap="rnd">
            <a:solidFill>
              <a:srgbClr val="0B6E8A"/>
            </a:solidFill>
            <a:prstDash val="solid"/>
            <a:round/>
          </a:ln>
        </p:spPr>
      </p:sp>
      <p:sp>
        <p:nvSpPr>
          <p:cNvPr id="15" name="Text 13"/>
          <p:cNvSpPr/>
          <p:nvPr/>
        </p:nvSpPr>
        <p:spPr>
          <a:xfrm>
            <a:off x="987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Pool</a:t>
            </a:r>
            <a:endParaRPr lang="en-US" sz="1800" dirty="0"/>
          </a:p>
        </p:txBody>
      </p:sp>
      <p:sp>
        <p:nvSpPr>
          <p:cNvPr id="17" name="Text 15"/>
          <p:cNvSpPr/>
          <p:nvPr/>
        </p:nvSpPr>
        <p:spPr>
          <a:xfrm>
            <a:off x="72237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HikariCP presta una de sus conexiones.</a:t>
            </a:r>
            <a:endParaRPr lang="en-US" sz="1400" dirty="0"/>
          </a:p>
        </p:txBody>
      </p:sp>
      <p:sp>
        <p:nvSpPr>
          <p:cNvPr id="18" name="[p1] Forma"/>
          <p:cNvSpPr/>
          <p:nvPr/>
        </p:nvSpPr>
        <p:spPr>
          <a:xfrm>
            <a:off x="2485888" y="2513960"/>
            <a:ext cx="640080" cy="0"/>
          </a:xfrm>
          <a:prstGeom prst="line">
            <a:avLst/>
          </a:prstGeom>
          <a:noFill/>
          <a:ln w="38100">
            <a:solidFill>
              <a:srgbClr val="2BA6CB"/>
            </a:solidFill>
            <a:prstDash val="solid"/>
            <a:tailEnd type="triangle"/>
          </a:ln>
        </p:spPr>
      </p:sp>
      <p:sp>
        <p:nvSpPr>
          <p:cNvPr id="19" name="[p1] Forma"/>
          <p:cNvSpPr/>
          <p:nvPr/>
        </p:nvSpPr>
        <p:spPr>
          <a:xfrm>
            <a:off x="321740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play"/>
          <p:cNvSpPr/>
          <p:nvPr/>
        </p:nvSpPr>
        <p:spPr>
          <a:xfrm>
            <a:off x="3532581" y="2143974"/>
            <a:ext cx="739973" cy="739973"/>
          </a:xfrm>
          <a:custGeom>
            <a:avLst/>
            <a:gdLst/>
            <a:ahLst/>
            <a:cxnLst/>
            <a:rect l="l" t="t" r="r" b="b"/>
            <a:pathLst>
              <a:path w="739973" h="739973">
                <a:moveTo>
                  <a:pt x="184993" y="92497"/>
                </a:moveTo>
                <a:lnTo>
                  <a:pt x="616644" y="369986"/>
                </a:lnTo>
                <a:lnTo>
                  <a:pt x="184993" y="647476"/>
                </a:lnTo>
                <a:lnTo>
                  <a:pt x="184993" y="92497"/>
                </a:lnTo>
                <a:close/>
              </a:path>
            </a:pathLst>
          </a:custGeom>
          <a:noFill/>
          <a:ln w="53956" cap="rnd">
            <a:solidFill>
              <a:srgbClr val="0B2350"/>
            </a:solidFill>
            <a:prstDash val="solid"/>
            <a:round/>
          </a:ln>
        </p:spPr>
      </p:sp>
      <p:sp>
        <p:nvSpPr>
          <p:cNvPr id="21" name="[p1] Forma"/>
          <p:cNvSpPr/>
          <p:nvPr/>
        </p:nvSpPr>
        <p:spPr>
          <a:xfrm>
            <a:off x="318083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BEGIN</a:t>
            </a:r>
            <a:endParaRPr lang="en-US" sz="1800" dirty="0"/>
          </a:p>
        </p:txBody>
      </p:sp>
      <p:sp>
        <p:nvSpPr>
          <p:cNvPr id="23" name="[p1] Forma"/>
          <p:cNvSpPr/>
          <p:nvPr/>
        </p:nvSpPr>
        <p:spPr>
          <a:xfrm>
            <a:off x="291565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Empieza la transacción.</a:t>
            </a:r>
            <a:endParaRPr lang="en-US" sz="1400" dirty="0"/>
          </a:p>
        </p:txBody>
      </p:sp>
      <p:sp>
        <p:nvSpPr>
          <p:cNvPr id="24" name="[p2] Forma"/>
          <p:cNvSpPr/>
          <p:nvPr/>
        </p:nvSpPr>
        <p:spPr>
          <a:xfrm>
            <a:off x="4679168" y="2513960"/>
            <a:ext cx="640080" cy="0"/>
          </a:xfrm>
          <a:prstGeom prst="line">
            <a:avLst/>
          </a:prstGeom>
          <a:noFill/>
          <a:ln w="38100">
            <a:solidFill>
              <a:srgbClr val="2BA6CB"/>
            </a:solidFill>
            <a:prstDash val="solid"/>
            <a:tailEnd type="triangle"/>
          </a:ln>
        </p:spPr>
      </p:sp>
      <p:sp>
        <p:nvSpPr>
          <p:cNvPr id="25" name="[p2] Forma"/>
          <p:cNvSpPr/>
          <p:nvPr/>
        </p:nvSpPr>
        <p:spPr>
          <a:xfrm>
            <a:off x="541068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6" name="[p2] Icono clipboard-list"/>
          <p:cNvSpPr/>
          <p:nvPr/>
        </p:nvSpPr>
        <p:spPr>
          <a:xfrm>
            <a:off x="5725861" y="2143974"/>
            <a:ext cx="739973" cy="739973"/>
          </a:xfrm>
          <a:custGeom>
            <a:avLst/>
            <a:gdLst/>
            <a:ahLst/>
            <a:cxnLst/>
            <a:rect l="l" t="t" r="r" b="b"/>
            <a:pathLst>
              <a:path w="739973" h="739973">
                <a:moveTo>
                  <a:pt x="277490" y="61664"/>
                </a:moveTo>
                <a:lnTo>
                  <a:pt x="462483" y="61664"/>
                </a:lnTo>
                <a:cubicBezTo>
                  <a:pt x="479511" y="61664"/>
                  <a:pt x="493315" y="75468"/>
                  <a:pt x="493315" y="92497"/>
                </a:cubicBezTo>
                <a:lnTo>
                  <a:pt x="493315" y="154161"/>
                </a:lnTo>
                <a:cubicBezTo>
                  <a:pt x="493315" y="171189"/>
                  <a:pt x="479511" y="184993"/>
                  <a:pt x="462483" y="184993"/>
                </a:cubicBezTo>
                <a:lnTo>
                  <a:pt x="277490" y="184993"/>
                </a:lnTo>
                <a:cubicBezTo>
                  <a:pt x="260462" y="184993"/>
                  <a:pt x="246658" y="171189"/>
                  <a:pt x="246658" y="154161"/>
                </a:cubicBezTo>
                <a:lnTo>
                  <a:pt x="246658" y="92497"/>
                </a:lnTo>
                <a:cubicBezTo>
                  <a:pt x="246658" y="75468"/>
                  <a:pt x="260462" y="61664"/>
                  <a:pt x="277490" y="61664"/>
                </a:cubicBezTo>
                <a:close/>
                <a:moveTo>
                  <a:pt x="493315" y="123329"/>
                </a:moveTo>
                <a:lnTo>
                  <a:pt x="554980" y="123329"/>
                </a:lnTo>
                <a:cubicBezTo>
                  <a:pt x="589036" y="123329"/>
                  <a:pt x="616644" y="150937"/>
                  <a:pt x="616644" y="184993"/>
                </a:cubicBezTo>
                <a:lnTo>
                  <a:pt x="616644" y="616644"/>
                </a:lnTo>
                <a:cubicBezTo>
                  <a:pt x="616644" y="650700"/>
                  <a:pt x="589036" y="678308"/>
                  <a:pt x="554980" y="678308"/>
                </a:cubicBezTo>
                <a:lnTo>
                  <a:pt x="184993" y="678308"/>
                </a:lnTo>
                <a:cubicBezTo>
                  <a:pt x="150937" y="678308"/>
                  <a:pt x="123329" y="650700"/>
                  <a:pt x="123329" y="616644"/>
                </a:cubicBezTo>
                <a:lnTo>
                  <a:pt x="123329" y="184993"/>
                </a:lnTo>
                <a:cubicBezTo>
                  <a:pt x="123329" y="150937"/>
                  <a:pt x="150937" y="123329"/>
                  <a:pt x="184993" y="123329"/>
                </a:cubicBezTo>
                <a:lnTo>
                  <a:pt x="246658" y="123329"/>
                </a:lnTo>
                <a:moveTo>
                  <a:pt x="369986" y="339154"/>
                </a:moveTo>
                <a:lnTo>
                  <a:pt x="493315" y="339154"/>
                </a:lnTo>
                <a:moveTo>
                  <a:pt x="369986" y="493315"/>
                </a:moveTo>
                <a:lnTo>
                  <a:pt x="493315" y="493315"/>
                </a:lnTo>
                <a:moveTo>
                  <a:pt x="246658" y="339154"/>
                </a:moveTo>
                <a:lnTo>
                  <a:pt x="246966" y="339154"/>
                </a:lnTo>
                <a:moveTo>
                  <a:pt x="246658" y="493315"/>
                </a:moveTo>
                <a:lnTo>
                  <a:pt x="246966" y="493315"/>
                </a:lnTo>
              </a:path>
            </a:pathLst>
          </a:custGeom>
          <a:noFill/>
          <a:ln w="53956" cap="rnd">
            <a:solidFill>
              <a:srgbClr val="0B2350"/>
            </a:solidFill>
            <a:prstDash val="solid"/>
            <a:round/>
          </a:ln>
        </p:spPr>
      </p:sp>
      <p:sp>
        <p:nvSpPr>
          <p:cNvPr id="27" name="[p2] Forma"/>
          <p:cNvSpPr/>
          <p:nvPr/>
        </p:nvSpPr>
        <p:spPr>
          <a:xfrm>
            <a:off x="537411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UPDATE</a:t>
            </a:r>
            <a:endParaRPr lang="en-US" sz="1800" dirty="0"/>
          </a:p>
        </p:txBody>
      </p:sp>
      <p:sp>
        <p:nvSpPr>
          <p:cNvPr id="29" name="[p2] Forma"/>
          <p:cNvSpPr/>
          <p:nvPr/>
        </p:nvSpPr>
        <p:spPr>
          <a:xfrm>
            <a:off x="510893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solicitud pasa a ENVIADA.</a:t>
            </a:r>
            <a:endParaRPr lang="en-US" sz="1400" dirty="0"/>
          </a:p>
        </p:txBody>
      </p:sp>
      <p:sp>
        <p:nvSpPr>
          <p:cNvPr id="30" name="[p3] Forma"/>
          <p:cNvSpPr/>
          <p:nvPr/>
        </p:nvSpPr>
        <p:spPr>
          <a:xfrm>
            <a:off x="6872448" y="2513960"/>
            <a:ext cx="640080" cy="0"/>
          </a:xfrm>
          <a:prstGeom prst="line">
            <a:avLst/>
          </a:prstGeom>
          <a:noFill/>
          <a:ln w="38100">
            <a:solidFill>
              <a:srgbClr val="2BA6CB"/>
            </a:solidFill>
            <a:prstDash val="solid"/>
            <a:tailEnd type="triangle"/>
          </a:ln>
        </p:spPr>
      </p:sp>
      <p:sp>
        <p:nvSpPr>
          <p:cNvPr id="31" name="[p3] Forma"/>
          <p:cNvSpPr/>
          <p:nvPr/>
        </p:nvSpPr>
        <p:spPr>
          <a:xfrm>
            <a:off x="760396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2" name="[p3] Icono inbox"/>
          <p:cNvSpPr/>
          <p:nvPr/>
        </p:nvSpPr>
        <p:spPr>
          <a:xfrm>
            <a:off x="7919141" y="2143974"/>
            <a:ext cx="739973" cy="739973"/>
          </a:xfrm>
          <a:custGeom>
            <a:avLst/>
            <a:gdLst/>
            <a:ahLst/>
            <a:cxnLst/>
            <a:rect l="l" t="t" r="r" b="b"/>
            <a:pathLst>
              <a:path w="739973" h="739973">
                <a:moveTo>
                  <a:pt x="678308" y="369986"/>
                </a:moveTo>
                <a:lnTo>
                  <a:pt x="493315" y="369986"/>
                </a:lnTo>
                <a:lnTo>
                  <a:pt x="431651" y="462483"/>
                </a:lnTo>
                <a:lnTo>
                  <a:pt x="308322" y="462483"/>
                </a:lnTo>
                <a:lnTo>
                  <a:pt x="246658" y="369986"/>
                </a:lnTo>
                <a:lnTo>
                  <a:pt x="61664" y="369986"/>
                </a:lnTo>
                <a:moveTo>
                  <a:pt x="168035" y="157553"/>
                </a:moveTo>
                <a:lnTo>
                  <a:pt x="61664" y="369986"/>
                </a:lnTo>
                <a:lnTo>
                  <a:pt x="61664" y="554980"/>
                </a:lnTo>
                <a:cubicBezTo>
                  <a:pt x="61664" y="589036"/>
                  <a:pt x="89272" y="616644"/>
                  <a:pt x="123329" y="616644"/>
                </a:cubicBezTo>
                <a:lnTo>
                  <a:pt x="616644" y="616644"/>
                </a:lnTo>
                <a:cubicBezTo>
                  <a:pt x="650700" y="616644"/>
                  <a:pt x="678308" y="589036"/>
                  <a:pt x="678308" y="554980"/>
                </a:cubicBezTo>
                <a:lnTo>
                  <a:pt x="678308" y="369986"/>
                </a:lnTo>
                <a:lnTo>
                  <a:pt x="571937" y="157553"/>
                </a:lnTo>
                <a:cubicBezTo>
                  <a:pt x="561524" y="136597"/>
                  <a:pt x="540148" y="123341"/>
                  <a:pt x="516748" y="123329"/>
                </a:cubicBezTo>
                <a:lnTo>
                  <a:pt x="223225" y="123329"/>
                </a:lnTo>
                <a:cubicBezTo>
                  <a:pt x="199825" y="123341"/>
                  <a:pt x="178448" y="136597"/>
                  <a:pt x="168035" y="157553"/>
                </a:cubicBezTo>
                <a:close/>
              </a:path>
            </a:pathLst>
          </a:custGeom>
          <a:noFill/>
          <a:ln w="53956" cap="rnd">
            <a:solidFill>
              <a:srgbClr val="0B2350"/>
            </a:solidFill>
            <a:prstDash val="solid"/>
            <a:round/>
          </a:ln>
        </p:spPr>
      </p:sp>
      <p:sp>
        <p:nvSpPr>
          <p:cNvPr id="33" name="[p3] Forma"/>
          <p:cNvSpPr/>
          <p:nvPr/>
        </p:nvSpPr>
        <p:spPr>
          <a:xfrm>
            <a:off x="756739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INSERT</a:t>
            </a:r>
            <a:endParaRPr lang="en-US" sz="1800" dirty="0"/>
          </a:p>
        </p:txBody>
      </p:sp>
      <p:sp>
        <p:nvSpPr>
          <p:cNvPr id="35" name="[p3] Forma"/>
          <p:cNvSpPr/>
          <p:nvPr/>
        </p:nvSpPr>
        <p:spPr>
          <a:xfrm>
            <a:off x="730221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aviso queda pendiente en evento.</a:t>
            </a:r>
            <a:endParaRPr lang="en-US" sz="1400" dirty="0"/>
          </a:p>
        </p:txBody>
      </p:sp>
      <p:sp>
        <p:nvSpPr>
          <p:cNvPr id="36" name="[p4] Forma"/>
          <p:cNvSpPr/>
          <p:nvPr/>
        </p:nvSpPr>
        <p:spPr>
          <a:xfrm>
            <a:off x="9065727" y="2513960"/>
            <a:ext cx="640080" cy="0"/>
          </a:xfrm>
          <a:prstGeom prst="line">
            <a:avLst/>
          </a:prstGeom>
          <a:noFill/>
          <a:ln w="38100">
            <a:solidFill>
              <a:srgbClr val="2BA6CB"/>
            </a:solidFill>
            <a:prstDash val="solid"/>
            <a:tailEnd type="triangle"/>
          </a:ln>
        </p:spPr>
      </p:sp>
      <p:sp>
        <p:nvSpPr>
          <p:cNvPr id="37" name="[p4] Forma"/>
          <p:cNvSpPr/>
          <p:nvPr/>
        </p:nvSpPr>
        <p:spPr>
          <a:xfrm>
            <a:off x="9797247" y="1828800"/>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circle-check"/>
          <p:cNvSpPr/>
          <p:nvPr/>
        </p:nvSpPr>
        <p:spPr>
          <a:xfrm>
            <a:off x="10112421" y="2143974"/>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277490" y="369986"/>
                </a:moveTo>
                <a:lnTo>
                  <a:pt x="339154" y="431651"/>
                </a:lnTo>
                <a:lnTo>
                  <a:pt x="462483" y="308322"/>
                </a:lnTo>
              </a:path>
            </a:pathLst>
          </a:custGeom>
          <a:noFill/>
          <a:ln w="53956" cap="rnd">
            <a:solidFill>
              <a:srgbClr val="0A6648"/>
            </a:solidFill>
            <a:prstDash val="solid"/>
            <a:round/>
          </a:ln>
        </p:spPr>
      </p:sp>
      <p:sp>
        <p:nvSpPr>
          <p:cNvPr id="39" name="[p4] Forma"/>
          <p:cNvSpPr/>
          <p:nvPr/>
        </p:nvSpPr>
        <p:spPr>
          <a:xfrm>
            <a:off x="976067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COMMIT</a:t>
            </a:r>
            <a:endParaRPr lang="en-US" sz="1800" dirty="0"/>
          </a:p>
        </p:txBody>
      </p:sp>
      <p:sp>
        <p:nvSpPr>
          <p:cNvPr id="41" name="[p4] Forma"/>
          <p:cNvSpPr/>
          <p:nvPr/>
        </p:nvSpPr>
        <p:spPr>
          <a:xfrm>
            <a:off x="9495495"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Las dos cosas quedan guardadas.</a:t>
            </a:r>
            <a:endParaRPr lang="en-US" sz="1400" dirty="0"/>
          </a:p>
        </p:txBody>
      </p:sp>
      <p:sp>
        <p:nvSpPr>
          <p:cNvPr id="42" name="[p5] Forma"/>
          <p:cNvSpPr/>
          <p:nvPr/>
        </p:nvSpPr>
        <p:spPr>
          <a:xfrm>
            <a:off x="8289127" y="4259824"/>
            <a:ext cx="0" cy="1660916"/>
          </a:xfrm>
          <a:prstGeom prst="line">
            <a:avLst/>
          </a:prstGeom>
          <a:noFill/>
          <a:ln w="25400">
            <a:solidFill>
              <a:srgbClr val="AB243E"/>
            </a:solidFill>
            <a:prstDash val="dash"/>
          </a:ln>
        </p:spPr>
      </p:sp>
      <p:sp>
        <p:nvSpPr>
          <p:cNvPr id="43" name="[p5] Forma"/>
          <p:cNvSpPr/>
          <p:nvPr/>
        </p:nvSpPr>
        <p:spPr>
          <a:xfrm flipH="1">
            <a:off x="7372807" y="5920740"/>
            <a:ext cx="916320" cy="0"/>
          </a:xfrm>
          <a:prstGeom prst="line">
            <a:avLst/>
          </a:prstGeom>
          <a:noFill/>
          <a:ln w="25400">
            <a:solidFill>
              <a:srgbClr val="AB243E"/>
            </a:solidFill>
            <a:prstDash val="dash"/>
            <a:tailEnd type="triangle"/>
          </a:ln>
        </p:spPr>
      </p:sp>
      <p:sp>
        <p:nvSpPr>
          <p:cNvPr id="44" name="[p5] Forma"/>
          <p:cNvSpPr/>
          <p:nvPr/>
        </p:nvSpPr>
        <p:spPr>
          <a:xfrm>
            <a:off x="6826087" y="5591556"/>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AB243E"/>
                </a:solidFill>
                <a:latin typeface="Segoe UI" pitchFamily="34" charset="0"/>
                <a:ea typeface="Segoe UI" pitchFamily="34" charset="-122"/>
                <a:cs typeface="Segoe UI" pitchFamily="34" charset="-120"/>
              </a:rPr>
              <a:t>si algo falla</a:t>
            </a:r>
            <a:endParaRPr lang="en-US" sz="1100" dirty="0"/>
          </a:p>
        </p:txBody>
      </p:sp>
      <p:sp>
        <p:nvSpPr>
          <p:cNvPr id="45" name="[p5] Forma"/>
          <p:cNvSpPr/>
          <p:nvPr/>
        </p:nvSpPr>
        <p:spPr>
          <a:xfrm>
            <a:off x="7372807"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6" name="[p5] Forma"/>
          <p:cNvSpPr/>
          <p:nvPr/>
        </p:nvSpPr>
        <p:spPr>
          <a:xfrm>
            <a:off x="7537399" y="5641848"/>
            <a:ext cx="548640" cy="548640"/>
          </a:xfrm>
          <a:prstGeom prst="ellipse">
            <a:avLst/>
          </a:prstGeom>
          <a:solidFill>
            <a:srgbClr val="FFFFFF"/>
          </a:solidFill>
          <a:ln w="12700">
            <a:solidFill>
              <a:srgbClr val="FFFFFF"/>
            </a:solidFill>
            <a:prstDash val="solid"/>
          </a:ln>
        </p:spPr>
      </p:sp>
      <p:sp>
        <p:nvSpPr>
          <p:cNvPr id="47" name="[p5] Icono rotate-ccw"/>
          <p:cNvSpPr/>
          <p:nvPr/>
        </p:nvSpPr>
        <p:spPr>
          <a:xfrm>
            <a:off x="7669073" y="5773522"/>
            <a:ext cx="285293" cy="285293"/>
          </a:xfrm>
          <a:custGeom>
            <a:avLst/>
            <a:gdLst/>
            <a:ahLst/>
            <a:cxnLst/>
            <a:rect l="l" t="t" r="r" b="b"/>
            <a:pathLst>
              <a:path w="285293" h="285293">
                <a:moveTo>
                  <a:pt x="35662" y="142646"/>
                </a:moveTo>
                <a:cubicBezTo>
                  <a:pt x="35662" y="201732"/>
                  <a:pt x="83560" y="249631"/>
                  <a:pt x="142646" y="249631"/>
                </a:cubicBezTo>
                <a:cubicBezTo>
                  <a:pt x="201732" y="249631"/>
                  <a:pt x="249631" y="201732"/>
                  <a:pt x="249631" y="142646"/>
                </a:cubicBezTo>
                <a:cubicBezTo>
                  <a:pt x="249631" y="83560"/>
                  <a:pt x="201732" y="35662"/>
                  <a:pt x="142646" y="35662"/>
                </a:cubicBezTo>
                <a:cubicBezTo>
                  <a:pt x="112738" y="35774"/>
                  <a:pt x="84030" y="47444"/>
                  <a:pt x="62527" y="68233"/>
                </a:cubicBezTo>
                <a:lnTo>
                  <a:pt x="35662" y="95098"/>
                </a:lnTo>
                <a:moveTo>
                  <a:pt x="35662" y="35662"/>
                </a:moveTo>
                <a:lnTo>
                  <a:pt x="35662" y="95098"/>
                </a:lnTo>
                <a:lnTo>
                  <a:pt x="95098" y="95098"/>
                </a:lnTo>
              </a:path>
            </a:pathLst>
          </a:custGeom>
          <a:noFill/>
          <a:ln w="23774" cap="rnd">
            <a:solidFill>
              <a:srgbClr val="AB243E"/>
            </a:solidFill>
            <a:prstDash val="solid"/>
            <a:round/>
          </a:ln>
        </p:spPr>
      </p:sp>
      <p:sp>
        <p:nvSpPr>
          <p:cNvPr id="48" name="[p5] Forma"/>
          <p:cNvSpPr/>
          <p:nvPr/>
        </p:nvSpPr>
        <p:spPr>
          <a:xfrm>
            <a:off x="8214055"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ROLLBACK</a:t>
            </a:r>
            <a:endParaRPr lang="en-US" sz="1450" dirty="0"/>
          </a:p>
        </p:txBody>
      </p:sp>
      <p:sp>
        <p:nvSpPr>
          <p:cNvPr id="49" name="[p5] Forma"/>
          <p:cNvSpPr/>
          <p:nvPr/>
        </p:nvSpPr>
        <p:spPr>
          <a:xfrm>
            <a:off x="8214055"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queda nada a medias: ni la solicitud ni el aviso.</a:t>
            </a:r>
            <a:endParaRPr lang="en-US" sz="1150" dirty="0"/>
          </a:p>
        </p:txBody>
      </p:sp>
      <p:sp>
        <p:nvSpPr>
          <p:cNvPr id="50" name="Text 4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par>
                    <p:cTn id="107" fill="hold">
                      <p:stCondLst>
                        <p:cond delay="indefinite"/>
                      </p:stCondLst>
                      <p:childTnLst>
                        <p:par>
                          <p:cTn id="108"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3"/>
                                        </p:tgtEl>
                                        <p:attrNameLst>
                                          <p:attrName>style.visibility</p:attrName>
                                        </p:attrNameLst>
                                      </p:cBhvr>
                                      <p:to>
                                        <p:strVal val="visible"/>
                                      </p:to>
                                    </p:set>
                                    <p:animEffect transition="in" filter="fade">
                                      <p:cBhvr>
                                        <p:cTn id="88" dur="400"/>
                                        <p:tgtEl>
                                          <p:spTgt spid="4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4"/>
                                        </p:tgtEl>
                                        <p:attrNameLst>
                                          <p:attrName>style.visibility</p:attrName>
                                        </p:attrNameLst>
                                      </p:cBhvr>
                                      <p:to>
                                        <p:strVal val="visible"/>
                                      </p:to>
                                    </p:set>
                                    <p:animEffect transition="in" filter="fade">
                                      <p:cBhvr>
                                        <p:cTn id="91" dur="400"/>
                                        <p:tgtEl>
                                          <p:spTgt spid="4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5"/>
                                        </p:tgtEl>
                                        <p:attrNameLst>
                                          <p:attrName>style.visibility</p:attrName>
                                        </p:attrNameLst>
                                      </p:cBhvr>
                                      <p:to>
                                        <p:strVal val="visible"/>
                                      </p:to>
                                    </p:set>
                                    <p:animEffect transition="in" filter="fade">
                                      <p:cBhvr>
                                        <p:cTn id="94" dur="400"/>
                                        <p:tgtEl>
                                          <p:spTgt spid="4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6"/>
                                        </p:tgtEl>
                                        <p:attrNameLst>
                                          <p:attrName>style.visibility</p:attrName>
                                        </p:attrNameLst>
                                      </p:cBhvr>
                                      <p:to>
                                        <p:strVal val="visible"/>
                                      </p:to>
                                    </p:set>
                                    <p:animEffect transition="in" filter="fade">
                                      <p:cBhvr>
                                        <p:cTn id="97" dur="400"/>
                                        <p:tgtEl>
                                          <p:spTgt spid="4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7"/>
                                        </p:tgtEl>
                                        <p:attrNameLst>
                                          <p:attrName>style.visibility</p:attrName>
                                        </p:attrNameLst>
                                      </p:cBhvr>
                                      <p:to>
                                        <p:strVal val="visible"/>
                                      </p:to>
                                    </p:set>
                                    <p:animEffect transition="in" filter="fade">
                                      <p:cBhvr>
                                        <p:cTn id="100" dur="400"/>
                                        <p:tgtEl>
                                          <p:spTgt spid="47"/>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8"/>
                                        </p:tgtEl>
                                        <p:attrNameLst>
                                          <p:attrName>style.visibility</p:attrName>
                                        </p:attrNameLst>
                                      </p:cBhvr>
                                      <p:to>
                                        <p:strVal val="visible"/>
                                      </p:to>
                                    </p:set>
                                    <p:animEffect transition="in" filter="fade">
                                      <p:cBhvr>
                                        <p:cTn id="103" dur="400"/>
                                        <p:tgtEl>
                                          <p:spTgt spid="48"/>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9"/>
                                        </p:tgtEl>
                                        <p:attrNameLst>
                                          <p:attrName>style.visibility</p:attrName>
                                        </p:attrNameLst>
                                      </p:cBhvr>
                                      <p:to>
                                        <p:strVal val="visible"/>
                                      </p:to>
                                    </p:set>
                                    <p:animEffect transition="in" filter="fade">
                                      <p:cBhvr>
                                        <p:cTn id="106"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Base de datos: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database"/>
          <p:cNvSpPr/>
          <p:nvPr/>
        </p:nvSpPr>
        <p:spPr>
          <a:xfrm>
            <a:off x="1058144" y="1817096"/>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3</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en dos bases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consultas que crucen de una base a otra</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ble"/>
          <p:cNvSpPr/>
          <p:nvPr/>
        </p:nvSpPr>
        <p:spPr>
          <a:xfrm>
            <a:off x="4258544" y="1740515"/>
            <a:ext cx="370881" cy="370881"/>
          </a:xfrm>
          <a:custGeom>
            <a:avLst/>
            <a:gdLst/>
            <a:ahLst/>
            <a:cxnLst/>
            <a:rect l="l" t="t" r="r" b="b"/>
            <a:pathLst>
              <a:path w="370881" h="370881">
                <a:moveTo>
                  <a:pt x="185440" y="46360"/>
                </a:moveTo>
                <a:lnTo>
                  <a:pt x="185440" y="324521"/>
                </a:lnTo>
                <a:moveTo>
                  <a:pt x="77267" y="46360"/>
                </a:moveTo>
                <a:lnTo>
                  <a:pt x="293614" y="46360"/>
                </a:lnTo>
                <a:cubicBezTo>
                  <a:pt x="310683" y="46360"/>
                  <a:pt x="324521" y="60197"/>
                  <a:pt x="324521" y="77267"/>
                </a:cubicBezTo>
                <a:lnTo>
                  <a:pt x="324521" y="293614"/>
                </a:lnTo>
                <a:cubicBezTo>
                  <a:pt x="324521" y="310683"/>
                  <a:pt x="310683" y="324521"/>
                  <a:pt x="293614" y="324521"/>
                </a:cubicBezTo>
                <a:lnTo>
                  <a:pt x="77267" y="324521"/>
                </a:lnTo>
                <a:cubicBezTo>
                  <a:pt x="60197" y="324521"/>
                  <a:pt x="46360" y="310683"/>
                  <a:pt x="46360" y="293614"/>
                </a:cubicBezTo>
                <a:lnTo>
                  <a:pt x="46360" y="77267"/>
                </a:lnTo>
                <a:cubicBezTo>
                  <a:pt x="46360" y="60197"/>
                  <a:pt x="60197" y="46360"/>
                  <a:pt x="77267" y="46360"/>
                </a:cubicBezTo>
                <a:close/>
                <a:moveTo>
                  <a:pt x="46360" y="139080"/>
                </a:moveTo>
                <a:lnTo>
                  <a:pt x="324521" y="139080"/>
                </a:lnTo>
                <a:moveTo>
                  <a:pt x="46360" y="231800"/>
                </a:moveTo>
                <a:lnTo>
                  <a:pt x="324521" y="231800"/>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ORM no elimina el trabajo de base de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Escribe el SQL rutinario; índices, CHECK y transacciones siguen siendo diseño.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probadas en código y una base que se cuida sola.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key-round"/>
          <p:cNvSpPr/>
          <p:nvPr/>
        </p:nvSpPr>
        <p:spPr>
          <a:xfrm>
            <a:off x="4258544" y="3032105"/>
            <a:ext cx="370881" cy="370881"/>
          </a:xfrm>
          <a:custGeom>
            <a:avLst/>
            <a:gdLst/>
            <a:ahLst/>
            <a:cxnLst/>
            <a:rect l="l" t="t" r="r" b="b"/>
            <a:pathLst>
              <a:path w="370881" h="370881">
                <a:moveTo>
                  <a:pt x="39962" y="269105"/>
                </a:moveTo>
                <a:cubicBezTo>
                  <a:pt x="34166" y="274900"/>
                  <a:pt x="30908" y="282760"/>
                  <a:pt x="30907" y="290956"/>
                </a:cubicBezTo>
                <a:lnTo>
                  <a:pt x="30907" y="324521"/>
                </a:lnTo>
                <a:cubicBezTo>
                  <a:pt x="30907" y="333055"/>
                  <a:pt x="37825" y="339974"/>
                  <a:pt x="46360" y="339974"/>
                </a:cubicBezTo>
                <a:lnTo>
                  <a:pt x="92720" y="339974"/>
                </a:lnTo>
                <a:cubicBezTo>
                  <a:pt x="101255" y="339974"/>
                  <a:pt x="108174" y="333055"/>
                  <a:pt x="108174" y="324521"/>
                </a:cubicBezTo>
                <a:lnTo>
                  <a:pt x="108174" y="309067"/>
                </a:lnTo>
                <a:cubicBezTo>
                  <a:pt x="108174" y="300533"/>
                  <a:pt x="115092" y="293614"/>
                  <a:pt x="123627" y="293614"/>
                </a:cubicBezTo>
                <a:lnTo>
                  <a:pt x="139080" y="293614"/>
                </a:lnTo>
                <a:cubicBezTo>
                  <a:pt x="147615" y="293614"/>
                  <a:pt x="154534" y="286695"/>
                  <a:pt x="154534" y="278160"/>
                </a:cubicBezTo>
                <a:lnTo>
                  <a:pt x="154534" y="262707"/>
                </a:lnTo>
                <a:cubicBezTo>
                  <a:pt x="154534" y="254172"/>
                  <a:pt x="161452" y="247254"/>
                  <a:pt x="169987" y="247254"/>
                </a:cubicBezTo>
                <a:lnTo>
                  <a:pt x="172645" y="247254"/>
                </a:lnTo>
                <a:cubicBezTo>
                  <a:pt x="180841" y="247252"/>
                  <a:pt x="188701" y="243995"/>
                  <a:pt x="194496" y="238198"/>
                </a:cubicBezTo>
                <a:lnTo>
                  <a:pt x="207075" y="225619"/>
                </a:lnTo>
                <a:cubicBezTo>
                  <a:pt x="251306" y="241027"/>
                  <a:pt x="300315" y="223820"/>
                  <a:pt x="325206" y="184144"/>
                </a:cubicBezTo>
                <a:cubicBezTo>
                  <a:pt x="350097" y="144468"/>
                  <a:pt x="344264" y="92855"/>
                  <a:pt x="311145" y="59736"/>
                </a:cubicBezTo>
                <a:cubicBezTo>
                  <a:pt x="278025" y="26617"/>
                  <a:pt x="226412" y="20783"/>
                  <a:pt x="186736" y="45675"/>
                </a:cubicBezTo>
                <a:cubicBezTo>
                  <a:pt x="147061" y="70566"/>
                  <a:pt x="129854" y="119575"/>
                  <a:pt x="145262" y="163806"/>
                </a:cubicBezTo>
                <a:close/>
                <a:moveTo>
                  <a:pt x="262707" y="115900"/>
                </a:moveTo>
                <a:cubicBezTo>
                  <a:pt x="262707" y="120168"/>
                  <a:pt x="259248" y="123627"/>
                  <a:pt x="254980" y="123627"/>
                </a:cubicBezTo>
                <a:cubicBezTo>
                  <a:pt x="250713" y="123627"/>
                  <a:pt x="247254" y="120168"/>
                  <a:pt x="247254" y="115900"/>
                </a:cubicBezTo>
                <a:cubicBezTo>
                  <a:pt x="247254" y="111633"/>
                  <a:pt x="250713" y="108174"/>
                  <a:pt x="254980" y="108174"/>
                </a:cubicBezTo>
                <a:cubicBezTo>
                  <a:pt x="259248" y="108174"/>
                  <a:pt x="262707" y="111633"/>
                  <a:pt x="262707" y="115900"/>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cadena de conexión no vive en el código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Variables en Compose y un Secret en Kubernetes.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de servidor o de clave sin recompilar.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repeat"/>
          <p:cNvSpPr/>
          <p:nvPr/>
        </p:nvSpPr>
        <p:spPr>
          <a:xfrm>
            <a:off x="4258544" y="4323695"/>
            <a:ext cx="370881" cy="370881"/>
          </a:xfrm>
          <a:custGeom>
            <a:avLst/>
            <a:gdLst/>
            <a:ahLst/>
            <a:cxnLst/>
            <a:rect l="l" t="t" r="r" b="b"/>
            <a:pathLst>
              <a:path w="370881" h="370881">
                <a:moveTo>
                  <a:pt x="262707" y="30907"/>
                </a:moveTo>
                <a:lnTo>
                  <a:pt x="324521" y="92720"/>
                </a:lnTo>
                <a:lnTo>
                  <a:pt x="262707" y="154534"/>
                </a:lnTo>
                <a:moveTo>
                  <a:pt x="46360" y="169987"/>
                </a:moveTo>
                <a:lnTo>
                  <a:pt x="46360" y="154534"/>
                </a:lnTo>
                <a:cubicBezTo>
                  <a:pt x="46360" y="120395"/>
                  <a:pt x="74035" y="92720"/>
                  <a:pt x="108174" y="92720"/>
                </a:cubicBezTo>
                <a:lnTo>
                  <a:pt x="324521" y="92720"/>
                </a:lnTo>
                <a:moveTo>
                  <a:pt x="108174" y="339974"/>
                </a:moveTo>
                <a:lnTo>
                  <a:pt x="46360" y="278160"/>
                </a:lnTo>
                <a:lnTo>
                  <a:pt x="108174" y="216347"/>
                </a:lnTo>
                <a:moveTo>
                  <a:pt x="324521" y="200894"/>
                </a:moveTo>
                <a:lnTo>
                  <a:pt x="324521" y="216347"/>
                </a:lnTo>
                <a:cubicBezTo>
                  <a:pt x="324521" y="250486"/>
                  <a:pt x="296846" y="278160"/>
                  <a:pt x="262707" y="278160"/>
                </a:cubicBezTo>
                <a:lnTo>
                  <a:pt x="46360" y="278160"/>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transacción local es la más confiable</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cambia junto se guarda en el mismo COMMIT.</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Nunca quedan datos a medias.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code"/>
          <p:cNvSpPr/>
          <p:nvPr/>
        </p:nvSpPr>
        <p:spPr>
          <a:xfrm>
            <a:off x="4258544" y="5615285"/>
            <a:ext cx="370881" cy="370881"/>
          </a:xfrm>
          <a:custGeom>
            <a:avLst/>
            <a:gdLst/>
            <a:ahLst/>
            <a:cxnLst/>
            <a:rect l="l" t="t" r="r" b="b"/>
            <a:pathLst>
              <a:path w="370881" h="370881">
                <a:moveTo>
                  <a:pt x="154534" y="193167"/>
                </a:moveTo>
                <a:lnTo>
                  <a:pt x="123627" y="231800"/>
                </a:lnTo>
                <a:lnTo>
                  <a:pt x="154534" y="270434"/>
                </a:lnTo>
                <a:moveTo>
                  <a:pt x="216347" y="193167"/>
                </a:moveTo>
                <a:lnTo>
                  <a:pt x="247254" y="231800"/>
                </a:lnTo>
                <a:lnTo>
                  <a:pt x="216347" y="270434"/>
                </a:lnTo>
                <a:moveTo>
                  <a:pt x="216347" y="30907"/>
                </a:moveTo>
                <a:lnTo>
                  <a:pt x="216347" y="92720"/>
                </a:lnTo>
                <a:cubicBezTo>
                  <a:pt x="216347" y="109789"/>
                  <a:pt x="230184" y="123627"/>
                  <a:pt x="247254" y="123627"/>
                </a:cubicBezTo>
                <a:lnTo>
                  <a:pt x="309067" y="123627"/>
                </a:lnTo>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El esquema también es código</a:t>
            </a:r>
            <a:endParaRPr lang="en-US" sz="155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schema.sql versionado, idempotente y validado al arrancar.</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Despliegues repetibles y errores visibles al inicio.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Quién habla con quién, y cómo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viaja por HTTP con JSON, y cada pieza encuentra a la otra por su nombre.</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CONEXIÓN</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HABLA</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POR QUÉ ASÍ</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5B3FC4"/>
          </a:solidFill>
          <a:ln w="12700">
            <a:solidFill>
              <a:srgbClr val="5B3FC4"/>
            </a:solidFill>
            <a:prstDash val="solid"/>
          </a:ln>
        </p:spPr>
      </p:sp>
      <p:sp>
        <p:nvSpPr>
          <p:cNvPr id="19" name="Shape 17"/>
          <p:cNvSpPr/>
          <p:nvPr/>
        </p:nvSpPr>
        <p:spPr>
          <a:xfrm>
            <a:off x="772668" y="2376526"/>
            <a:ext cx="512064" cy="512064"/>
          </a:xfrm>
          <a:prstGeom prst="ellipse">
            <a:avLst/>
          </a:prstGeom>
          <a:solidFill>
            <a:srgbClr val="F1EEFD"/>
          </a:solidFill>
          <a:ln w="12700">
            <a:solidFill>
              <a:srgbClr val="F1EEFD"/>
            </a:solidFill>
            <a:prstDash val="solid"/>
          </a:ln>
        </p:spPr>
      </p:sp>
      <p:sp>
        <p:nvSpPr>
          <p:cNvPr id="20" name="Icono monitor"/>
          <p:cNvSpPr/>
          <p:nvPr/>
        </p:nvSpPr>
        <p:spPr>
          <a:xfrm>
            <a:off x="895563" y="2499421"/>
            <a:ext cx="266273" cy="266273"/>
          </a:xfrm>
          <a:custGeom>
            <a:avLst/>
            <a:gdLst/>
            <a:ahLst/>
            <a:cxnLst/>
            <a:rect l="l" t="t" r="r" b="b"/>
            <a:pathLst>
              <a:path w="266273" h="266273">
                <a:moveTo>
                  <a:pt x="44379" y="33284"/>
                </a:moveTo>
                <a:lnTo>
                  <a:pt x="221894" y="33284"/>
                </a:lnTo>
                <a:cubicBezTo>
                  <a:pt x="234149" y="33284"/>
                  <a:pt x="244084" y="43219"/>
                  <a:pt x="244084" y="55474"/>
                </a:cubicBezTo>
                <a:lnTo>
                  <a:pt x="244084" y="166421"/>
                </a:lnTo>
                <a:cubicBezTo>
                  <a:pt x="244084" y="178676"/>
                  <a:pt x="234149" y="188610"/>
                  <a:pt x="221894" y="188610"/>
                </a:cubicBezTo>
                <a:lnTo>
                  <a:pt x="44379" y="188610"/>
                </a:lnTo>
                <a:cubicBezTo>
                  <a:pt x="32124" y="188610"/>
                  <a:pt x="22189" y="178676"/>
                  <a:pt x="22189" y="166421"/>
                </a:cubicBezTo>
                <a:lnTo>
                  <a:pt x="22189" y="55474"/>
                </a:lnTo>
                <a:cubicBezTo>
                  <a:pt x="22189" y="43219"/>
                  <a:pt x="32124" y="33284"/>
                  <a:pt x="44379" y="33284"/>
                </a:cubicBezTo>
                <a:close/>
                <a:moveTo>
                  <a:pt x="88758" y="232989"/>
                </a:moveTo>
                <a:lnTo>
                  <a:pt x="177516" y="232989"/>
                </a:lnTo>
                <a:moveTo>
                  <a:pt x="133137" y="188610"/>
                </a:moveTo>
                <a:lnTo>
                  <a:pt x="133137" y="232989"/>
                </a:lnTo>
              </a:path>
            </a:pathLst>
          </a:custGeom>
          <a:noFill/>
          <a:ln w="22189" cap="rnd">
            <a:solidFill>
              <a:srgbClr val="5B3FC4"/>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Navegador → UI</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HTTP a localhost:8088; nginx sirve la página</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navegador nunca conoce las direcciones internas</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5B3FC4"/>
          </a:solidFill>
          <a:ln w="12700">
            <a:solidFill>
              <a:srgbClr val="5B3FC4"/>
            </a:solidFill>
            <a:prstDash val="solid"/>
          </a:ln>
        </p:spPr>
      </p:sp>
      <p:sp>
        <p:nvSpPr>
          <p:cNvPr id="28" name="[p1] Forma"/>
          <p:cNvSpPr/>
          <p:nvPr/>
        </p:nvSpPr>
        <p:spPr>
          <a:xfrm>
            <a:off x="772668" y="3215945"/>
            <a:ext cx="512064" cy="512064"/>
          </a:xfrm>
          <a:prstGeom prst="ellipse">
            <a:avLst/>
          </a:prstGeom>
          <a:solidFill>
            <a:srgbClr val="F1EEFD"/>
          </a:solidFill>
          <a:ln w="12700">
            <a:solidFill>
              <a:srgbClr val="F1EEFD"/>
            </a:solidFill>
            <a:prstDash val="solid"/>
          </a:ln>
        </p:spPr>
      </p:sp>
      <p:sp>
        <p:nvSpPr>
          <p:cNvPr id="29" name="[p1] Icono route"/>
          <p:cNvSpPr/>
          <p:nvPr/>
        </p:nvSpPr>
        <p:spPr>
          <a:xfrm>
            <a:off x="895563" y="3338840"/>
            <a:ext cx="266273" cy="266273"/>
          </a:xfrm>
          <a:custGeom>
            <a:avLst/>
            <a:gdLst/>
            <a:ahLst/>
            <a:cxnLst/>
            <a:rect l="l" t="t" r="r" b="b"/>
            <a:pathLst>
              <a:path w="266273" h="266273">
                <a:moveTo>
                  <a:pt x="99852" y="210800"/>
                </a:moveTo>
                <a:cubicBezTo>
                  <a:pt x="99852" y="229182"/>
                  <a:pt x="84951" y="244084"/>
                  <a:pt x="66568" y="244084"/>
                </a:cubicBezTo>
                <a:cubicBezTo>
                  <a:pt x="48186" y="244084"/>
                  <a:pt x="33284" y="229182"/>
                  <a:pt x="33284" y="210800"/>
                </a:cubicBezTo>
                <a:cubicBezTo>
                  <a:pt x="33284" y="192417"/>
                  <a:pt x="48186" y="177516"/>
                  <a:pt x="66568" y="177516"/>
                </a:cubicBezTo>
                <a:cubicBezTo>
                  <a:pt x="84951" y="177516"/>
                  <a:pt x="99852" y="192417"/>
                  <a:pt x="99852" y="210800"/>
                </a:cubicBezTo>
                <a:close/>
                <a:moveTo>
                  <a:pt x="99852" y="210800"/>
                </a:moveTo>
                <a:lnTo>
                  <a:pt x="194158" y="210800"/>
                </a:lnTo>
                <a:cubicBezTo>
                  <a:pt x="215604" y="210800"/>
                  <a:pt x="232989" y="193414"/>
                  <a:pt x="232989" y="171968"/>
                </a:cubicBezTo>
                <a:cubicBezTo>
                  <a:pt x="232989" y="150522"/>
                  <a:pt x="215604" y="133137"/>
                  <a:pt x="194158" y="133137"/>
                </a:cubicBezTo>
                <a:lnTo>
                  <a:pt x="72116" y="133137"/>
                </a:lnTo>
                <a:cubicBezTo>
                  <a:pt x="50670" y="133137"/>
                  <a:pt x="33284" y="115751"/>
                  <a:pt x="33284" y="94305"/>
                </a:cubicBezTo>
                <a:cubicBezTo>
                  <a:pt x="33284" y="72859"/>
                  <a:pt x="50670" y="55474"/>
                  <a:pt x="72116" y="55474"/>
                </a:cubicBezTo>
                <a:lnTo>
                  <a:pt x="166421" y="55474"/>
                </a:lnTo>
                <a:moveTo>
                  <a:pt x="232989" y="55474"/>
                </a:moveTo>
                <a:cubicBezTo>
                  <a:pt x="232989" y="73856"/>
                  <a:pt x="218087" y="88758"/>
                  <a:pt x="199705" y="88758"/>
                </a:cubicBezTo>
                <a:cubicBezTo>
                  <a:pt x="181323" y="88758"/>
                  <a:pt x="166421" y="73856"/>
                  <a:pt x="166421" y="55474"/>
                </a:cubicBezTo>
                <a:cubicBezTo>
                  <a:pt x="166421" y="37091"/>
                  <a:pt x="181323" y="22189"/>
                  <a:pt x="199705" y="22189"/>
                </a:cubicBezTo>
                <a:cubicBezTo>
                  <a:pt x="218087" y="22189"/>
                  <a:pt x="232989" y="37091"/>
                  <a:pt x="232989" y="55474"/>
                </a:cubicBezTo>
                <a:close/>
              </a:path>
            </a:pathLst>
          </a:custGeom>
          <a:noFill/>
          <a:ln w="22189" cap="rnd">
            <a:solidFill>
              <a:srgbClr val="5B3FC4"/>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UI → servicios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nginx reenvía /api/solicitudes y /api/notificaciones</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una dirección no obliga a tocar la UI</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7"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8" name="[p2] Icono send"/>
          <p:cNvSpPr/>
          <p:nvPr/>
        </p:nvSpPr>
        <p:spPr>
          <a:xfrm>
            <a:off x="895563" y="4178259"/>
            <a:ext cx="266273" cy="266273"/>
          </a:xfrm>
          <a:custGeom>
            <a:avLst/>
            <a:gdLst/>
            <a:ahLst/>
            <a:cxnLst/>
            <a:rect l="l" t="t" r="r" b="b"/>
            <a:pathLst>
              <a:path w="266273" h="266273">
                <a:moveTo>
                  <a:pt x="161273" y="240600"/>
                </a:moveTo>
                <a:cubicBezTo>
                  <a:pt x="162136" y="242751"/>
                  <a:pt x="164246" y="244139"/>
                  <a:pt x="166563" y="244080"/>
                </a:cubicBezTo>
                <a:cubicBezTo>
                  <a:pt x="168881" y="244021"/>
                  <a:pt x="170917" y="242527"/>
                  <a:pt x="171669" y="240334"/>
                </a:cubicBezTo>
                <a:lnTo>
                  <a:pt x="243784" y="29534"/>
                </a:lnTo>
                <a:cubicBezTo>
                  <a:pt x="244509" y="27527"/>
                  <a:pt x="244009" y="25282"/>
                  <a:pt x="242500" y="23774"/>
                </a:cubicBezTo>
                <a:cubicBezTo>
                  <a:pt x="240991" y="22265"/>
                  <a:pt x="238746" y="21764"/>
                  <a:pt x="236739" y="22489"/>
                </a:cubicBezTo>
                <a:lnTo>
                  <a:pt x="25939" y="94605"/>
                </a:lnTo>
                <a:cubicBezTo>
                  <a:pt x="23747" y="95357"/>
                  <a:pt x="22253" y="97393"/>
                  <a:pt x="22193" y="99710"/>
                </a:cubicBezTo>
                <a:cubicBezTo>
                  <a:pt x="22134" y="102027"/>
                  <a:pt x="23522" y="104137"/>
                  <a:pt x="25673" y="105000"/>
                </a:cubicBezTo>
                <a:lnTo>
                  <a:pt x="113654" y="140282"/>
                </a:lnTo>
                <a:cubicBezTo>
                  <a:pt x="119275" y="142532"/>
                  <a:pt x="123731" y="146981"/>
                  <a:pt x="125992" y="152597"/>
                </a:cubicBezTo>
                <a:close/>
                <a:moveTo>
                  <a:pt x="242464" y="23820"/>
                </a:moveTo>
                <a:lnTo>
                  <a:pt x="121088" y="145186"/>
                </a:lnTo>
              </a:path>
            </a:pathLst>
          </a:custGeom>
          <a:noFill/>
          <a:ln w="22189" cap="rnd">
            <a:solidFill>
              <a:srgbClr val="0B6E8A"/>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solicitudes → notificaciones</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POST del evento SolicitudEnviada en JSON, desde el relevador</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 notificaciones cae, solicitudes sigue funcionando</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0A6648"/>
          </a:solidFill>
          <a:ln w="12700">
            <a:solidFill>
              <a:srgbClr val="0A6648"/>
            </a:solidFill>
            <a:prstDash val="solid"/>
          </a:ln>
        </p:spPr>
      </p:sp>
      <p:sp>
        <p:nvSpPr>
          <p:cNvPr id="46" name="[p3] Forma"/>
          <p:cNvSpPr/>
          <p:nvPr/>
        </p:nvSpPr>
        <p:spPr>
          <a:xfrm>
            <a:off x="772668" y="4894783"/>
            <a:ext cx="512064" cy="512064"/>
          </a:xfrm>
          <a:prstGeom prst="ellipse">
            <a:avLst/>
          </a:prstGeom>
          <a:solidFill>
            <a:srgbClr val="E1F1EA"/>
          </a:solidFill>
          <a:ln w="12700">
            <a:solidFill>
              <a:srgbClr val="E1F1EA"/>
            </a:solidFill>
            <a:prstDash val="solid"/>
          </a:ln>
        </p:spPr>
      </p:sp>
      <p:sp>
        <p:nvSpPr>
          <p:cNvPr id="47" name="[p3] Icono network"/>
          <p:cNvSpPr/>
          <p:nvPr/>
        </p:nvSpPr>
        <p:spPr>
          <a:xfrm>
            <a:off x="895563" y="5017679"/>
            <a:ext cx="266273" cy="266273"/>
          </a:xfrm>
          <a:custGeom>
            <a:avLst/>
            <a:gdLst/>
            <a:ahLst/>
            <a:cxnLst/>
            <a:rect l="l" t="t" r="r" b="b"/>
            <a:pathLst>
              <a:path w="266273" h="266273">
                <a:moveTo>
                  <a:pt x="188610" y="177516"/>
                </a:moveTo>
                <a:lnTo>
                  <a:pt x="232989" y="177516"/>
                </a:lnTo>
                <a:cubicBezTo>
                  <a:pt x="239117" y="177516"/>
                  <a:pt x="244084" y="182483"/>
                  <a:pt x="244084" y="188610"/>
                </a:cubicBezTo>
                <a:lnTo>
                  <a:pt x="244084" y="232989"/>
                </a:lnTo>
                <a:cubicBezTo>
                  <a:pt x="244084" y="239117"/>
                  <a:pt x="239117" y="244084"/>
                  <a:pt x="232989" y="244084"/>
                </a:cubicBezTo>
                <a:lnTo>
                  <a:pt x="188610" y="244084"/>
                </a:lnTo>
                <a:cubicBezTo>
                  <a:pt x="182483" y="244084"/>
                  <a:pt x="177516" y="239117"/>
                  <a:pt x="177516" y="232989"/>
                </a:cubicBezTo>
                <a:lnTo>
                  <a:pt x="177516" y="188610"/>
                </a:lnTo>
                <a:cubicBezTo>
                  <a:pt x="177516" y="182483"/>
                  <a:pt x="182483" y="177516"/>
                  <a:pt x="188610" y="177516"/>
                </a:cubicBezTo>
                <a:close/>
                <a:moveTo>
                  <a:pt x="33284" y="177516"/>
                </a:moveTo>
                <a:lnTo>
                  <a:pt x="77663" y="177516"/>
                </a:lnTo>
                <a:cubicBezTo>
                  <a:pt x="83790" y="177516"/>
                  <a:pt x="88758" y="182483"/>
                  <a:pt x="88758" y="188610"/>
                </a:cubicBezTo>
                <a:lnTo>
                  <a:pt x="88758" y="232989"/>
                </a:lnTo>
                <a:cubicBezTo>
                  <a:pt x="88758" y="239117"/>
                  <a:pt x="83790" y="244084"/>
                  <a:pt x="77663" y="244084"/>
                </a:cubicBezTo>
                <a:lnTo>
                  <a:pt x="33284" y="244084"/>
                </a:lnTo>
                <a:cubicBezTo>
                  <a:pt x="27157" y="244084"/>
                  <a:pt x="22189" y="239117"/>
                  <a:pt x="22189" y="232989"/>
                </a:cubicBezTo>
                <a:lnTo>
                  <a:pt x="22189" y="188610"/>
                </a:lnTo>
                <a:cubicBezTo>
                  <a:pt x="22189" y="182483"/>
                  <a:pt x="27157" y="177516"/>
                  <a:pt x="33284" y="177516"/>
                </a:cubicBezTo>
                <a:close/>
                <a:moveTo>
                  <a:pt x="110947" y="22189"/>
                </a:moveTo>
                <a:lnTo>
                  <a:pt x="155326" y="22189"/>
                </a:lnTo>
                <a:cubicBezTo>
                  <a:pt x="161454" y="22189"/>
                  <a:pt x="166421" y="27157"/>
                  <a:pt x="166421" y="33284"/>
                </a:cubicBezTo>
                <a:lnTo>
                  <a:pt x="166421" y="77663"/>
                </a:lnTo>
                <a:cubicBezTo>
                  <a:pt x="166421" y="83790"/>
                  <a:pt x="161454" y="88758"/>
                  <a:pt x="155326" y="88758"/>
                </a:cubicBezTo>
                <a:lnTo>
                  <a:pt x="110947" y="88758"/>
                </a:lnTo>
                <a:cubicBezTo>
                  <a:pt x="104820" y="88758"/>
                  <a:pt x="99852" y="83790"/>
                  <a:pt x="99852" y="77663"/>
                </a:cubicBezTo>
                <a:lnTo>
                  <a:pt x="99852" y="33284"/>
                </a:lnTo>
                <a:cubicBezTo>
                  <a:pt x="99852" y="27157"/>
                  <a:pt x="104820" y="22189"/>
                  <a:pt x="110947" y="22189"/>
                </a:cubicBezTo>
                <a:close/>
                <a:moveTo>
                  <a:pt x="55474" y="177516"/>
                </a:moveTo>
                <a:lnTo>
                  <a:pt x="55474" y="144231"/>
                </a:lnTo>
                <a:cubicBezTo>
                  <a:pt x="55474" y="138104"/>
                  <a:pt x="60441" y="133137"/>
                  <a:pt x="66568" y="133137"/>
                </a:cubicBezTo>
                <a:lnTo>
                  <a:pt x="199705" y="133137"/>
                </a:lnTo>
                <a:cubicBezTo>
                  <a:pt x="205832" y="133137"/>
                  <a:pt x="210800" y="138104"/>
                  <a:pt x="210800" y="144231"/>
                </a:cubicBezTo>
                <a:lnTo>
                  <a:pt x="210800" y="177516"/>
                </a:lnTo>
                <a:moveTo>
                  <a:pt x="133137" y="133137"/>
                </a:moveTo>
                <a:lnTo>
                  <a:pt x="133137" y="88758"/>
                </a:lnTo>
              </a:path>
            </a:pathLst>
          </a:custGeom>
          <a:noFill/>
          <a:ln w="22189" cap="rnd">
            <a:solidFill>
              <a:srgbClr val="0A6648"/>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Cómo se encuentran</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Por nombre: la red de Compose o un Service de Kubernetes</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Sin IPs fijas: funciona igual en cualquier ambiente</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8A4B06"/>
          </a:solidFill>
          <a:ln w="12700">
            <a:solidFill>
              <a:srgbClr val="8A4B06"/>
            </a:solidFill>
            <a:prstDash val="solid"/>
          </a:ln>
        </p:spPr>
      </p:sp>
      <p:sp>
        <p:nvSpPr>
          <p:cNvPr id="55" name="[p4] Forma"/>
          <p:cNvSpPr/>
          <p:nvPr/>
        </p:nvSpPr>
        <p:spPr>
          <a:xfrm>
            <a:off x="772668" y="5734202"/>
            <a:ext cx="512064" cy="512064"/>
          </a:xfrm>
          <a:prstGeom prst="ellipse">
            <a:avLst/>
          </a:prstGeom>
          <a:solidFill>
            <a:srgbClr val="FCEFD6"/>
          </a:solidFill>
          <a:ln w="12700">
            <a:solidFill>
              <a:srgbClr val="FCEFD6"/>
            </a:solidFill>
            <a:prstDash val="solid"/>
          </a:ln>
        </p:spPr>
      </p:sp>
      <p:sp>
        <p:nvSpPr>
          <p:cNvPr id="56"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8A4B06"/>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Seguimiento</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traceId viaja en la cabecera de cada llamada HTTP</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sola búsqueda en Grafana sigue todo el recorrido</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Quién habla con quién, y cómo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servicio-solicitudes/…/adaptadores/salida/PublicadorConReintento.java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6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PublicadorConReintento</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FFB38A"/>
                </a:solidFill>
                <a:latin typeface="Consolas" pitchFamily="34" charset="0"/>
                <a:ea typeface="Consolas" pitchFamily="34" charset="-122"/>
                <a:cs typeface="Consolas" pitchFamily="34" charset="-120"/>
              </a:rPr>
              <a:t>@Value</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600" dirty="0">
                <a:solidFill>
                  <a:srgbClr val="F2C66D"/>
                </a:solidFill>
                <a:latin typeface="Consolas" pitchFamily="34" charset="0"/>
                <a:ea typeface="Consolas" pitchFamily="34" charset="-122"/>
                <a:cs typeface="Consolas" pitchFamily="34" charset="-120"/>
              </a:rPr>
              <a:t>"${notificaciones.url}"</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url,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NOTIFICACIONES_URL</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RestClient</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restClientTrazada) {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propaga el traceId</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this.url = url;</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this.rest = restClientTrazada;</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endParaRPr lang="en-US" sz="1600" dirty="0"/>
          </a:p>
          <a:p>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en publicar(evento): hasta 3 intentos</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rest.post()</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.uri(url)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http://servicio-notificaciones:8080/eventos/solicitud-enviada</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.body(evento)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{"eventoId": "…", "id": "…", "tipo": "…"}</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.retrieve()</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.toBodilessEntity();</a:t>
            </a:r>
            <a:endParaRPr lang="en-US" sz="16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Síncrono o asíncrono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Lo que la persona necesita ver se responde ya; lo que puede esperar se avisa después.</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Síncrono es una llamada: me quedo en la línea hasta que me responden. Asíncrono es un correo: lo envío y sigo con lo mío.</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2350"/>
          </a:solidFill>
          <a:ln w="12700">
            <a:solidFill>
              <a:srgbClr val="0B2350"/>
            </a:solidFill>
            <a:prstDash val="solid"/>
          </a:ln>
        </p:spPr>
      </p:sp>
      <p:sp>
        <p:nvSpPr>
          <p:cNvPr id="19" name="Shape 17"/>
          <p:cNvSpPr/>
          <p:nvPr/>
        </p:nvSpPr>
        <p:spPr>
          <a:xfrm>
            <a:off x="612648" y="2267712"/>
            <a:ext cx="5163160" cy="365760"/>
          </a:xfrm>
          <a:prstGeom prst="rect">
            <a:avLst/>
          </a:prstGeom>
          <a:solidFill>
            <a:srgbClr val="0B2350"/>
          </a:solidFill>
          <a:ln w="12700">
            <a:solidFill>
              <a:srgbClr val="0B2350"/>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arrow-right"/>
          <p:cNvSpPr/>
          <p:nvPr/>
        </p:nvSpPr>
        <p:spPr>
          <a:xfrm>
            <a:off x="986089" y="2019361"/>
            <a:ext cx="313822" cy="313822"/>
          </a:xfrm>
          <a:custGeom>
            <a:avLst/>
            <a:gdLst/>
            <a:ahLst/>
            <a:cxnLst/>
            <a:rect l="l" t="t" r="r" b="b"/>
            <a:pathLst>
              <a:path w="313822" h="313822">
                <a:moveTo>
                  <a:pt x="65380" y="156911"/>
                </a:moveTo>
                <a:lnTo>
                  <a:pt x="248442" y="156911"/>
                </a:lnTo>
                <a:moveTo>
                  <a:pt x="156911" y="65380"/>
                </a:moveTo>
                <a:lnTo>
                  <a:pt x="248442" y="156911"/>
                </a:lnTo>
                <a:lnTo>
                  <a:pt x="156911" y="248442"/>
                </a:lnTo>
              </a:path>
            </a:pathLst>
          </a:custGeom>
          <a:noFill/>
          <a:ln w="26152" cap="rnd">
            <a:solidFill>
              <a:srgbClr val="0B2350"/>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Síncrono</a:t>
            </a:r>
            <a:endParaRPr lang="en-US" sz="1900" dirty="0"/>
          </a:p>
        </p:txBody>
      </p:sp>
      <p:sp>
        <p:nvSpPr>
          <p:cNvPr id="23"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4" name="Text 22"/>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UI llama y espera que se complete el proceso.</a:t>
            </a:r>
            <a:endParaRPr lang="en-US" sz="1500" dirty="0"/>
          </a:p>
        </p:txBody>
      </p:sp>
      <p:sp>
        <p:nvSpPr>
          <p:cNvPr id="25" name="Shape 23"/>
          <p:cNvSpPr/>
          <p:nvPr/>
        </p:nvSpPr>
        <p:spPr>
          <a:xfrm>
            <a:off x="886968" y="3593592"/>
            <a:ext cx="4614520" cy="0"/>
          </a:xfrm>
          <a:prstGeom prst="line">
            <a:avLst/>
          </a:prstGeom>
          <a:noFill/>
          <a:ln w="9525">
            <a:solidFill>
              <a:srgbClr val="DFE6F0"/>
            </a:solidFill>
            <a:prstDash val="solid"/>
          </a:ln>
        </p:spPr>
      </p:sp>
      <p:sp>
        <p:nvSpPr>
          <p:cNvPr id="26"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7" name="Text 25"/>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inmediata</a:t>
            </a:r>
            <a:endParaRPr lang="en-US" sz="1500" dirty="0"/>
          </a:p>
        </p:txBody>
      </p:sp>
      <p:sp>
        <p:nvSpPr>
          <p:cNvPr id="28" name="Shape 26"/>
          <p:cNvSpPr/>
          <p:nvPr/>
        </p:nvSpPr>
        <p:spPr>
          <a:xfrm>
            <a:off x="886968" y="4370832"/>
            <a:ext cx="4614520" cy="0"/>
          </a:xfrm>
          <a:prstGeom prst="line">
            <a:avLst/>
          </a:prstGeom>
          <a:noFill/>
          <a:ln w="9525">
            <a:solidFill>
              <a:srgbClr val="DFE6F0"/>
            </a:solidFill>
            <a:prstDash val="solid"/>
          </a:ln>
        </p:spPr>
      </p:sp>
      <p:sp>
        <p:nvSpPr>
          <p:cNvPr id="29"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30" name="Text 28"/>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el servicio se cae, la persona ve error</a:t>
            </a:r>
            <a:endParaRPr lang="en-US" sz="1500" dirty="0"/>
          </a:p>
        </p:txBody>
      </p:sp>
      <p:sp>
        <p:nvSpPr>
          <p:cNvPr id="31"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3"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4"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5" name="[p1] Icono mail"/>
          <p:cNvSpPr/>
          <p:nvPr/>
        </p:nvSpPr>
        <p:spPr>
          <a:xfrm>
            <a:off x="6789329" y="2019361"/>
            <a:ext cx="313822" cy="313822"/>
          </a:xfrm>
          <a:custGeom>
            <a:avLst/>
            <a:gdLst/>
            <a:ahLst/>
            <a:cxnLst/>
            <a:rect l="l" t="t" r="r" b="b"/>
            <a:pathLst>
              <a:path w="313822" h="313822">
                <a:moveTo>
                  <a:pt x="52304" y="52304"/>
                </a:moveTo>
                <a:lnTo>
                  <a:pt x="261518" y="52304"/>
                </a:lnTo>
                <a:cubicBezTo>
                  <a:pt x="275962" y="52304"/>
                  <a:pt x="287670" y="64012"/>
                  <a:pt x="287670" y="78456"/>
                </a:cubicBezTo>
                <a:lnTo>
                  <a:pt x="287670" y="235367"/>
                </a:lnTo>
                <a:cubicBezTo>
                  <a:pt x="287670" y="249810"/>
                  <a:pt x="275962" y="261518"/>
                  <a:pt x="261518" y="261518"/>
                </a:cubicBezTo>
                <a:lnTo>
                  <a:pt x="52304" y="261518"/>
                </a:lnTo>
                <a:cubicBezTo>
                  <a:pt x="37860" y="261518"/>
                  <a:pt x="26152" y="249810"/>
                  <a:pt x="26152" y="235367"/>
                </a:cubicBezTo>
                <a:lnTo>
                  <a:pt x="26152" y="78456"/>
                </a:lnTo>
                <a:cubicBezTo>
                  <a:pt x="26152" y="64012"/>
                  <a:pt x="37860" y="52304"/>
                  <a:pt x="52304" y="52304"/>
                </a:cubicBezTo>
                <a:close/>
                <a:moveTo>
                  <a:pt x="287670" y="91531"/>
                </a:moveTo>
                <a:lnTo>
                  <a:pt x="170379" y="166064"/>
                </a:lnTo>
                <a:cubicBezTo>
                  <a:pt x="162142" y="171225"/>
                  <a:pt x="151680" y="171225"/>
                  <a:pt x="143443" y="166064"/>
                </a:cubicBezTo>
                <a:lnTo>
                  <a:pt x="26152" y="91531"/>
                </a:lnTo>
              </a:path>
            </a:pathLst>
          </a:custGeom>
          <a:noFill/>
          <a:ln w="26152" cap="rnd">
            <a:solidFill>
              <a:srgbClr val="0B6E8A"/>
            </a:solidFill>
            <a:prstDash val="solid"/>
            <a:round/>
          </a:ln>
        </p:spPr>
      </p:sp>
      <p:sp>
        <p:nvSpPr>
          <p:cNvPr id="36"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Asíncrono</a:t>
            </a:r>
            <a:endParaRPr lang="en-US" sz="1900" dirty="0"/>
          </a:p>
        </p:txBody>
      </p:sp>
      <p:sp>
        <p:nvSpPr>
          <p:cNvPr id="37"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8"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Servicio solicitudes envía evento a servicio notificaciones y continúa con su proceso</a:t>
            </a:r>
            <a:endParaRPr lang="en-US" sz="1500" dirty="0"/>
          </a:p>
        </p:txBody>
      </p:sp>
      <p:sp>
        <p:nvSpPr>
          <p:cNvPr id="39" name="[p1] Forma"/>
          <p:cNvSpPr/>
          <p:nvPr/>
        </p:nvSpPr>
        <p:spPr>
          <a:xfrm>
            <a:off x="6690208" y="3593592"/>
            <a:ext cx="4614520" cy="0"/>
          </a:xfrm>
          <a:prstGeom prst="line">
            <a:avLst/>
          </a:prstGeom>
          <a:noFill/>
          <a:ln w="9525">
            <a:solidFill>
              <a:srgbClr val="DFE6F0"/>
            </a:solidFill>
            <a:prstDash val="solid"/>
          </a:ln>
        </p:spPr>
      </p:sp>
      <p:sp>
        <p:nvSpPr>
          <p:cNvPr id="40"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1"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puede demorar</a:t>
            </a:r>
            <a:endParaRPr lang="en-US" sz="1500" dirty="0"/>
          </a:p>
        </p:txBody>
      </p:sp>
      <p:sp>
        <p:nvSpPr>
          <p:cNvPr id="42" name="[p1] Forma"/>
          <p:cNvSpPr/>
          <p:nvPr/>
        </p:nvSpPr>
        <p:spPr>
          <a:xfrm>
            <a:off x="6690208" y="4370832"/>
            <a:ext cx="4614520" cy="0"/>
          </a:xfrm>
          <a:prstGeom prst="line">
            <a:avLst/>
          </a:prstGeom>
          <a:noFill/>
          <a:ln w="9525">
            <a:solidFill>
              <a:srgbClr val="DFE6F0"/>
            </a:solidFill>
            <a:prstDash val="solid"/>
          </a:ln>
        </p:spPr>
      </p:sp>
      <p:sp>
        <p:nvSpPr>
          <p:cNvPr id="43"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4"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notificaciones se cae, el evento espera</a:t>
            </a:r>
            <a:endParaRPr lang="en-US" sz="1500" dirty="0"/>
          </a:p>
        </p:txBody>
      </p:sp>
      <p:sp>
        <p:nvSpPr>
          <p:cNvPr id="45" name="[p1] Forma"/>
          <p:cNvSpPr/>
          <p:nvPr/>
        </p:nvSpPr>
        <p:spPr>
          <a:xfrm>
            <a:off x="5766664" y="3287268"/>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1"/>
                                        </p:tgtEl>
                                        <p:attrNameLst>
                                          <p:attrName>style.visibility</p:attrName>
                                        </p:attrNameLst>
                                      </p:cBhvr>
                                      <p:to>
                                        <p:strVal val="visible"/>
                                      </p:to>
                                    </p:set>
                                    <p:animEffect transition="in" filter="fade">
                                      <p:cBhvr>
                                        <p:cTn id="5" dur="400"/>
                                        <p:tgtEl>
                                          <p:spTgt spid="3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2"/>
                                        </p:tgtEl>
                                        <p:attrNameLst>
                                          <p:attrName>style.visibility</p:attrName>
                                        </p:attrNameLst>
                                      </p:cBhvr>
                                      <p:to>
                                        <p:strVal val="visible"/>
                                      </p:to>
                                    </p:set>
                                    <p:animEffect transition="in" filter="fade">
                                      <p:cBhvr>
                                        <p:cTn id="8" dur="400"/>
                                        <p:tgtEl>
                                          <p:spTgt spid="3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fade">
                                      <p:cBhvr>
                                        <p:cTn id="11" dur="400"/>
                                        <p:tgtEl>
                                          <p:spTgt spid="3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40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00"/>
                                        <p:tgtEl>
                                          <p:spTgt spid="3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animEffect transition="in" filter="fade">
                                      <p:cBhvr>
                                        <p:cTn id="35" dur="400"/>
                                        <p:tgtEl>
                                          <p:spTgt spid="4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400"/>
                                        <p:tgtEl>
                                          <p:spTgt spid="4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400"/>
                                        <p:tgtEl>
                                          <p:spTgt spid="4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5"/>
                                        </p:tgtEl>
                                        <p:attrNameLst>
                                          <p:attrName>style.visibility</p:attrName>
                                        </p:attrNameLst>
                                      </p:cBhvr>
                                      <p:to>
                                        <p:strVal val="visible"/>
                                      </p:to>
                                    </p:set>
                                    <p:animEffect transition="in" filter="fade">
                                      <p:cBhvr>
                                        <p:cTn id="47"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solicitud y su evento se guardan en la misma transacción; el relevador avisa después.</a:t>
            </a:r>
            <a:endParaRPr lang="en-US" sz="1700" dirty="0"/>
          </a:p>
        </p:txBody>
      </p:sp>
      <p:sp>
        <p:nvSpPr>
          <p:cNvPr id="13" name="Shape 11"/>
          <p:cNvSpPr/>
          <p:nvPr/>
        </p:nvSpPr>
        <p:spPr>
          <a:xfrm>
            <a:off x="612648" y="5175504"/>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285232"/>
            <a:ext cx="438912" cy="438912"/>
          </a:xfrm>
          <a:prstGeom prst="ellipse">
            <a:avLst/>
          </a:prstGeom>
          <a:solidFill>
            <a:srgbClr val="FFFFFF"/>
          </a:solidFill>
          <a:ln w="12700">
            <a:solidFill>
              <a:srgbClr val="FFFFFF"/>
            </a:solidFill>
            <a:prstDash val="solid"/>
          </a:ln>
        </p:spPr>
      </p:sp>
      <p:sp>
        <p:nvSpPr>
          <p:cNvPr id="15" name="Icono mail"/>
          <p:cNvSpPr/>
          <p:nvPr/>
        </p:nvSpPr>
        <p:spPr>
          <a:xfrm>
            <a:off x="900867" y="5390571"/>
            <a:ext cx="228234" cy="228234"/>
          </a:xfrm>
          <a:custGeom>
            <a:avLst/>
            <a:gdLst/>
            <a:ahLst/>
            <a:cxnLst/>
            <a:rect l="l" t="t" r="r" b="b"/>
            <a:pathLst>
              <a:path w="228234" h="228234">
                <a:moveTo>
                  <a:pt x="38039" y="38039"/>
                </a:moveTo>
                <a:lnTo>
                  <a:pt x="190195" y="38039"/>
                </a:lnTo>
                <a:cubicBezTo>
                  <a:pt x="200699" y="38039"/>
                  <a:pt x="209215" y="46554"/>
                  <a:pt x="209215" y="57059"/>
                </a:cubicBezTo>
                <a:lnTo>
                  <a:pt x="209215" y="171176"/>
                </a:lnTo>
                <a:cubicBezTo>
                  <a:pt x="209215" y="181680"/>
                  <a:pt x="200699" y="190195"/>
                  <a:pt x="190195" y="190195"/>
                </a:cubicBezTo>
                <a:lnTo>
                  <a:pt x="38039" y="190195"/>
                </a:lnTo>
                <a:cubicBezTo>
                  <a:pt x="27535" y="190195"/>
                  <a:pt x="19020" y="181680"/>
                  <a:pt x="19020" y="171176"/>
                </a:cubicBezTo>
                <a:lnTo>
                  <a:pt x="19020" y="57059"/>
                </a:lnTo>
                <a:cubicBezTo>
                  <a:pt x="19020" y="46554"/>
                  <a:pt x="27535" y="38039"/>
                  <a:pt x="38039" y="38039"/>
                </a:cubicBezTo>
                <a:close/>
                <a:moveTo>
                  <a:pt x="209215" y="66568"/>
                </a:moveTo>
                <a:lnTo>
                  <a:pt x="123912" y="120774"/>
                </a:lnTo>
                <a:cubicBezTo>
                  <a:pt x="117921" y="124527"/>
                  <a:pt x="110313" y="124527"/>
                  <a:pt x="104322" y="120774"/>
                </a:cubicBezTo>
                <a:lnTo>
                  <a:pt x="19020" y="66568"/>
                </a:lnTo>
              </a:path>
            </a:pathLst>
          </a:custGeom>
          <a:noFill/>
          <a:ln w="19020" cap="rnd">
            <a:solidFill>
              <a:srgbClr val="0B6E8A"/>
            </a:solidFill>
            <a:prstDash val="solid"/>
            <a:round/>
          </a:ln>
        </p:spPr>
      </p:sp>
      <p:sp>
        <p:nvSpPr>
          <p:cNvPr id="16" name="Text 14"/>
          <p:cNvSpPr/>
          <p:nvPr/>
        </p:nvSpPr>
        <p:spPr>
          <a:xfrm>
            <a:off x="1399032" y="5248656"/>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dejar una carta en la bandeja de salida: aunque el mensajero no pase hoy, la carta no se pierde.</a:t>
            </a:r>
            <a:endParaRPr lang="en-US" sz="1450" dirty="0"/>
          </a:p>
        </p:txBody>
      </p:sp>
      <p:sp>
        <p:nvSpPr>
          <p:cNvPr id="17" name="Shape 15"/>
          <p:cNvSpPr/>
          <p:nvPr/>
        </p:nvSpPr>
        <p:spPr>
          <a:xfrm>
            <a:off x="16268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nd"/>
          <p:cNvSpPr/>
          <p:nvPr/>
        </p:nvSpPr>
        <p:spPr>
          <a:xfrm>
            <a:off x="1790875" y="1992843"/>
            <a:ext cx="385145" cy="385145"/>
          </a:xfrm>
          <a:custGeom>
            <a:avLst/>
            <a:gdLst/>
            <a:ahLst/>
            <a:cxnLst/>
            <a:rect l="l" t="t" r="r" b="b"/>
            <a:pathLst>
              <a:path w="385145" h="385145">
                <a:moveTo>
                  <a:pt x="233270" y="348011"/>
                </a:moveTo>
                <a:cubicBezTo>
                  <a:pt x="234518" y="351123"/>
                  <a:pt x="237570" y="353130"/>
                  <a:pt x="240922" y="353044"/>
                </a:cubicBezTo>
                <a:cubicBezTo>
                  <a:pt x="244274" y="352958"/>
                  <a:pt x="247219" y="350797"/>
                  <a:pt x="248306" y="347626"/>
                </a:cubicBezTo>
                <a:lnTo>
                  <a:pt x="352617" y="42719"/>
                </a:lnTo>
                <a:cubicBezTo>
                  <a:pt x="353665" y="39816"/>
                  <a:pt x="352941" y="36569"/>
                  <a:pt x="350759" y="34387"/>
                </a:cubicBezTo>
                <a:cubicBezTo>
                  <a:pt x="348576" y="32204"/>
                  <a:pt x="345329" y="31480"/>
                  <a:pt x="342426" y="32529"/>
                </a:cubicBezTo>
                <a:lnTo>
                  <a:pt x="37520" y="136839"/>
                </a:lnTo>
                <a:cubicBezTo>
                  <a:pt x="34348" y="137927"/>
                  <a:pt x="32187" y="140872"/>
                  <a:pt x="32101" y="144223"/>
                </a:cubicBezTo>
                <a:cubicBezTo>
                  <a:pt x="32015" y="147575"/>
                  <a:pt x="34023" y="150627"/>
                  <a:pt x="37134" y="151876"/>
                </a:cubicBezTo>
                <a:lnTo>
                  <a:pt x="164393" y="202907"/>
                </a:lnTo>
                <a:cubicBezTo>
                  <a:pt x="172522" y="206162"/>
                  <a:pt x="178969" y="212597"/>
                  <a:pt x="182238" y="220720"/>
                </a:cubicBezTo>
                <a:close/>
                <a:moveTo>
                  <a:pt x="350707" y="34454"/>
                </a:moveTo>
                <a:lnTo>
                  <a:pt x="175145" y="210000"/>
                </a:lnTo>
              </a:path>
            </a:pathLst>
          </a:custGeom>
          <a:noFill/>
          <a:ln w="28084" cap="rnd">
            <a:solidFill>
              <a:srgbClr val="0B2350"/>
            </a:solidFill>
            <a:prstDash val="solid"/>
            <a:round/>
          </a:ln>
        </p:spPr>
      </p:sp>
      <p:sp>
        <p:nvSpPr>
          <p:cNvPr id="19" name="Text 17"/>
          <p:cNvSpPr/>
          <p:nvPr/>
        </p:nvSpPr>
        <p:spPr>
          <a:xfrm>
            <a:off x="15902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Enviar</a:t>
            </a:r>
            <a:endParaRPr lang="en-US" sz="1800" dirty="0"/>
          </a:p>
        </p:txBody>
      </p:sp>
      <p:sp>
        <p:nvSpPr>
          <p:cNvPr id="21" name="Text 19"/>
          <p:cNvSpPr/>
          <p:nvPr/>
        </p:nvSpPr>
        <p:spPr>
          <a:xfrm>
            <a:off x="7223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Solicitud ENVIADA + evento pendiente, en una transacción.</a:t>
            </a:r>
            <a:endParaRPr lang="en-US" sz="1400" dirty="0"/>
          </a:p>
        </p:txBody>
      </p:sp>
      <p:sp>
        <p:nvSpPr>
          <p:cNvPr id="22" name="[p1] Forma"/>
          <p:cNvSpPr/>
          <p:nvPr/>
        </p:nvSpPr>
        <p:spPr>
          <a:xfrm>
            <a:off x="2431504" y="2185416"/>
            <a:ext cx="1845488" cy="0"/>
          </a:xfrm>
          <a:prstGeom prst="line">
            <a:avLst/>
          </a:prstGeom>
          <a:noFill/>
          <a:ln w="38100">
            <a:solidFill>
              <a:srgbClr val="2BA6CB"/>
            </a:solidFill>
            <a:prstDash val="solid"/>
            <a:tailEnd type="triangle"/>
          </a:ln>
        </p:spPr>
      </p:sp>
      <p:sp>
        <p:nvSpPr>
          <p:cNvPr id="23" name="[p1] Forma"/>
          <p:cNvSpPr/>
          <p:nvPr/>
        </p:nvSpPr>
        <p:spPr>
          <a:xfrm>
            <a:off x="43684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inbox"/>
          <p:cNvSpPr/>
          <p:nvPr/>
        </p:nvSpPr>
        <p:spPr>
          <a:xfrm>
            <a:off x="4532475" y="1992843"/>
            <a:ext cx="385145" cy="385145"/>
          </a:xfrm>
          <a:custGeom>
            <a:avLst/>
            <a:gdLst/>
            <a:ahLst/>
            <a:cxnLst/>
            <a:rect l="l" t="t" r="r" b="b"/>
            <a:pathLst>
              <a:path w="385145" h="385145">
                <a:moveTo>
                  <a:pt x="353050" y="192573"/>
                </a:moveTo>
                <a:lnTo>
                  <a:pt x="256764" y="192573"/>
                </a:lnTo>
                <a:lnTo>
                  <a:pt x="224668" y="240716"/>
                </a:lnTo>
                <a:lnTo>
                  <a:pt x="160477" y="240716"/>
                </a:lnTo>
                <a:lnTo>
                  <a:pt x="128382" y="192573"/>
                </a:lnTo>
                <a:lnTo>
                  <a:pt x="32095" y="192573"/>
                </a:lnTo>
                <a:moveTo>
                  <a:pt x="87460" y="82004"/>
                </a:moveTo>
                <a:lnTo>
                  <a:pt x="32095" y="192573"/>
                </a:lnTo>
                <a:lnTo>
                  <a:pt x="32095" y="288859"/>
                </a:lnTo>
                <a:cubicBezTo>
                  <a:pt x="32095" y="306585"/>
                  <a:pt x="46465" y="320954"/>
                  <a:pt x="64191" y="320954"/>
                </a:cubicBezTo>
                <a:lnTo>
                  <a:pt x="320954" y="320954"/>
                </a:lnTo>
                <a:cubicBezTo>
                  <a:pt x="338680" y="320954"/>
                  <a:pt x="353050" y="306585"/>
                  <a:pt x="353050" y="288859"/>
                </a:cubicBezTo>
                <a:lnTo>
                  <a:pt x="353050" y="192573"/>
                </a:lnTo>
                <a:lnTo>
                  <a:pt x="297685" y="82004"/>
                </a:lnTo>
                <a:cubicBezTo>
                  <a:pt x="292265" y="71097"/>
                  <a:pt x="281139" y="64197"/>
                  <a:pt x="268960" y="64191"/>
                </a:cubicBezTo>
                <a:lnTo>
                  <a:pt x="116185" y="64191"/>
                </a:lnTo>
                <a:cubicBezTo>
                  <a:pt x="104006" y="64197"/>
                  <a:pt x="92880" y="71097"/>
                  <a:pt x="87460" y="82004"/>
                </a:cubicBezTo>
                <a:close/>
              </a:path>
            </a:pathLst>
          </a:custGeom>
          <a:noFill/>
          <a:ln w="28084" cap="rnd">
            <a:solidFill>
              <a:srgbClr val="0B2350"/>
            </a:solidFill>
            <a:prstDash val="solid"/>
            <a:round/>
          </a:ln>
        </p:spPr>
      </p:sp>
      <p:sp>
        <p:nvSpPr>
          <p:cNvPr id="25" name="[p1] Forma"/>
          <p:cNvSpPr/>
          <p:nvPr/>
        </p:nvSpPr>
        <p:spPr>
          <a:xfrm>
            <a:off x="43318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Bandeja de salida</a:t>
            </a:r>
            <a:endParaRPr lang="en-US" sz="1800" dirty="0"/>
          </a:p>
        </p:txBody>
      </p:sp>
      <p:sp>
        <p:nvSpPr>
          <p:cNvPr id="27" name="[p1] Forma"/>
          <p:cNvSpPr/>
          <p:nvPr/>
        </p:nvSpPr>
        <p:spPr>
          <a:xfrm>
            <a:off x="34639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evento espera en la tabla evento.</a:t>
            </a:r>
            <a:endParaRPr lang="en-US" sz="1400" dirty="0"/>
          </a:p>
        </p:txBody>
      </p:sp>
      <p:sp>
        <p:nvSpPr>
          <p:cNvPr id="28" name="[p2] Forma"/>
          <p:cNvSpPr/>
          <p:nvPr/>
        </p:nvSpPr>
        <p:spPr>
          <a:xfrm>
            <a:off x="5173104" y="2185416"/>
            <a:ext cx="1845488" cy="0"/>
          </a:xfrm>
          <a:prstGeom prst="line">
            <a:avLst/>
          </a:prstGeom>
          <a:noFill/>
          <a:ln w="38100">
            <a:solidFill>
              <a:srgbClr val="2BA6CB"/>
            </a:solidFill>
            <a:prstDash val="solid"/>
            <a:tailEnd type="triangle"/>
          </a:ln>
        </p:spPr>
      </p:sp>
      <p:sp>
        <p:nvSpPr>
          <p:cNvPr id="29" name="[p2] Forma"/>
          <p:cNvSpPr/>
          <p:nvPr/>
        </p:nvSpPr>
        <p:spPr>
          <a:xfrm>
            <a:off x="7110032" y="1828800"/>
            <a:ext cx="713232" cy="713232"/>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timer"/>
          <p:cNvSpPr/>
          <p:nvPr/>
        </p:nvSpPr>
        <p:spPr>
          <a:xfrm>
            <a:off x="7274075" y="1992843"/>
            <a:ext cx="385145" cy="385145"/>
          </a:xfrm>
          <a:custGeom>
            <a:avLst/>
            <a:gdLst/>
            <a:ahLst/>
            <a:cxnLst/>
            <a:rect l="l" t="t" r="r" b="b"/>
            <a:pathLst>
              <a:path w="385145" h="385145">
                <a:moveTo>
                  <a:pt x="160477" y="32095"/>
                </a:moveTo>
                <a:lnTo>
                  <a:pt x="224668" y="32095"/>
                </a:lnTo>
                <a:moveTo>
                  <a:pt x="192573" y="224668"/>
                </a:moveTo>
                <a:lnTo>
                  <a:pt x="240716" y="176525"/>
                </a:lnTo>
                <a:moveTo>
                  <a:pt x="320954" y="224668"/>
                </a:moveTo>
                <a:cubicBezTo>
                  <a:pt x="320954" y="295571"/>
                  <a:pt x="263476" y="353050"/>
                  <a:pt x="192573" y="353050"/>
                </a:cubicBezTo>
                <a:cubicBezTo>
                  <a:pt x="121669" y="353050"/>
                  <a:pt x="64191" y="295571"/>
                  <a:pt x="64191" y="224668"/>
                </a:cubicBezTo>
                <a:cubicBezTo>
                  <a:pt x="64191" y="153765"/>
                  <a:pt x="121669" y="96286"/>
                  <a:pt x="192573" y="96286"/>
                </a:cubicBezTo>
                <a:cubicBezTo>
                  <a:pt x="263476" y="96286"/>
                  <a:pt x="320954" y="153765"/>
                  <a:pt x="320954" y="224668"/>
                </a:cubicBezTo>
                <a:close/>
              </a:path>
            </a:pathLst>
          </a:custGeom>
          <a:noFill/>
          <a:ln w="28084" cap="rnd">
            <a:solidFill>
              <a:srgbClr val="0B6E8A"/>
            </a:solidFill>
            <a:prstDash val="solid"/>
            <a:round/>
          </a:ln>
        </p:spPr>
      </p:sp>
      <p:sp>
        <p:nvSpPr>
          <p:cNvPr id="31" name="[p2] Forma"/>
          <p:cNvSpPr/>
          <p:nvPr/>
        </p:nvSpPr>
        <p:spPr>
          <a:xfrm>
            <a:off x="7073456"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Relevador</a:t>
            </a:r>
            <a:endParaRPr lang="en-US" sz="1800" dirty="0"/>
          </a:p>
        </p:txBody>
      </p:sp>
      <p:sp>
        <p:nvSpPr>
          <p:cNvPr id="33" name="[p2] Forma"/>
          <p:cNvSpPr/>
          <p:nvPr/>
        </p:nvSpPr>
        <p:spPr>
          <a:xfrm>
            <a:off x="62055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Cada 5 s entrega los pendientes, hasta 3 intentos.</a:t>
            </a:r>
            <a:endParaRPr lang="en-US" sz="1400" dirty="0"/>
          </a:p>
        </p:txBody>
      </p:sp>
      <p:sp>
        <p:nvSpPr>
          <p:cNvPr id="34" name="[p3] Forma"/>
          <p:cNvSpPr/>
          <p:nvPr/>
        </p:nvSpPr>
        <p:spPr>
          <a:xfrm>
            <a:off x="7914704" y="2185416"/>
            <a:ext cx="1845488" cy="0"/>
          </a:xfrm>
          <a:prstGeom prst="line">
            <a:avLst/>
          </a:prstGeom>
          <a:noFill/>
          <a:ln w="38100">
            <a:solidFill>
              <a:srgbClr val="2BA6CB"/>
            </a:solidFill>
            <a:prstDash val="solid"/>
            <a:tailEnd type="triangle"/>
          </a:ln>
        </p:spPr>
      </p:sp>
      <p:sp>
        <p:nvSpPr>
          <p:cNvPr id="35" name="[p3] Forma"/>
          <p:cNvSpPr/>
          <p:nvPr/>
        </p:nvSpPr>
        <p:spPr>
          <a:xfrm>
            <a:off x="9851631" y="1828800"/>
            <a:ext cx="713232" cy="713232"/>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bell"/>
          <p:cNvSpPr/>
          <p:nvPr/>
        </p:nvSpPr>
        <p:spPr>
          <a:xfrm>
            <a:off x="10015675" y="1992843"/>
            <a:ext cx="385145" cy="385145"/>
          </a:xfrm>
          <a:custGeom>
            <a:avLst/>
            <a:gdLst/>
            <a:ahLst/>
            <a:cxnLst/>
            <a:rect l="l" t="t" r="r" b="b"/>
            <a:pathLst>
              <a:path w="385145" h="385145">
                <a:moveTo>
                  <a:pt x="164778" y="337002"/>
                </a:moveTo>
                <a:cubicBezTo>
                  <a:pt x="170512" y="346932"/>
                  <a:pt x="181107" y="353048"/>
                  <a:pt x="192573" y="353048"/>
                </a:cubicBezTo>
                <a:cubicBezTo>
                  <a:pt x="204039" y="353048"/>
                  <a:pt x="214634" y="346932"/>
                  <a:pt x="220367" y="337002"/>
                </a:cubicBezTo>
                <a:moveTo>
                  <a:pt x="52348" y="245947"/>
                </a:moveTo>
                <a:cubicBezTo>
                  <a:pt x="48064" y="250642"/>
                  <a:pt x="46955" y="257422"/>
                  <a:pt x="49519" y="263237"/>
                </a:cubicBezTo>
                <a:cubicBezTo>
                  <a:pt x="52082" y="269052"/>
                  <a:pt x="57836" y="272807"/>
                  <a:pt x="64191" y="272811"/>
                </a:cubicBezTo>
                <a:lnTo>
                  <a:pt x="320954" y="272811"/>
                </a:lnTo>
                <a:cubicBezTo>
                  <a:pt x="327309" y="272814"/>
                  <a:pt x="333066" y="269066"/>
                  <a:pt x="335636" y="263255"/>
                </a:cubicBezTo>
                <a:cubicBezTo>
                  <a:pt x="338207" y="257444"/>
                  <a:pt x="337106" y="250663"/>
                  <a:pt x="332830" y="245963"/>
                </a:cubicBezTo>
                <a:cubicBezTo>
                  <a:pt x="311486" y="223962"/>
                  <a:pt x="288859" y="200580"/>
                  <a:pt x="288859" y="128382"/>
                </a:cubicBezTo>
                <a:cubicBezTo>
                  <a:pt x="288859" y="75204"/>
                  <a:pt x="245750" y="32095"/>
                  <a:pt x="192573" y="32095"/>
                </a:cubicBezTo>
                <a:cubicBezTo>
                  <a:pt x="139395" y="32095"/>
                  <a:pt x="96286" y="75204"/>
                  <a:pt x="96286" y="128382"/>
                </a:cubicBezTo>
                <a:cubicBezTo>
                  <a:pt x="96286" y="200580"/>
                  <a:pt x="73643" y="223962"/>
                  <a:pt x="52348" y="245947"/>
                </a:cubicBezTo>
              </a:path>
            </a:pathLst>
          </a:custGeom>
          <a:noFill/>
          <a:ln w="28084" cap="rnd">
            <a:solidFill>
              <a:srgbClr val="0A6648"/>
            </a:solidFill>
            <a:prstDash val="solid"/>
            <a:round/>
          </a:ln>
        </p:spPr>
      </p:sp>
      <p:sp>
        <p:nvSpPr>
          <p:cNvPr id="37" name="[p3] Forma"/>
          <p:cNvSpPr/>
          <p:nvPr/>
        </p:nvSpPr>
        <p:spPr>
          <a:xfrm>
            <a:off x="9815055"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39" name="[p3] Forma"/>
          <p:cNvSpPr/>
          <p:nvPr/>
        </p:nvSpPr>
        <p:spPr>
          <a:xfrm>
            <a:off x="8947175"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 recibe y el evento queda procesado.</a:t>
            </a:r>
            <a:endParaRPr lang="en-US" sz="1400" dirty="0"/>
          </a:p>
        </p:txBody>
      </p:sp>
      <p:sp>
        <p:nvSpPr>
          <p:cNvPr id="40" name="[p4] Forma"/>
          <p:cNvSpPr/>
          <p:nvPr/>
        </p:nvSpPr>
        <p:spPr>
          <a:xfrm>
            <a:off x="7466648" y="3602736"/>
            <a:ext cx="0" cy="955548"/>
          </a:xfrm>
          <a:prstGeom prst="line">
            <a:avLst/>
          </a:prstGeom>
          <a:noFill/>
          <a:ln w="25400">
            <a:solidFill>
              <a:srgbClr val="8A4B06"/>
            </a:solidFill>
            <a:prstDash val="dash"/>
          </a:ln>
        </p:spPr>
      </p:sp>
      <p:sp>
        <p:nvSpPr>
          <p:cNvPr id="41" name="[p4] Forma"/>
          <p:cNvSpPr/>
          <p:nvPr/>
        </p:nvSpPr>
        <p:spPr>
          <a:xfrm flipH="1">
            <a:off x="7372807" y="4558284"/>
            <a:ext cx="93840" cy="0"/>
          </a:xfrm>
          <a:prstGeom prst="line">
            <a:avLst/>
          </a:prstGeom>
          <a:noFill/>
          <a:ln w="25400">
            <a:solidFill>
              <a:srgbClr val="8A4B06"/>
            </a:solidFill>
            <a:prstDash val="dash"/>
            <a:tailEnd type="triangle"/>
          </a:ln>
        </p:spPr>
      </p:sp>
      <p:sp>
        <p:nvSpPr>
          <p:cNvPr id="42" name="[p4] Forma"/>
          <p:cNvSpPr/>
          <p:nvPr/>
        </p:nvSpPr>
        <p:spPr>
          <a:xfrm>
            <a:off x="6003608" y="4229100"/>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8A4B06"/>
                </a:solidFill>
                <a:latin typeface="Segoe UI" pitchFamily="34" charset="0"/>
                <a:ea typeface="Segoe UI" pitchFamily="34" charset="-122"/>
                <a:cs typeface="Segoe UI" pitchFamily="34" charset="-120"/>
              </a:rPr>
              <a:t>si falla</a:t>
            </a:r>
            <a:endParaRPr lang="en-US" sz="1100" dirty="0"/>
          </a:p>
        </p:txBody>
      </p:sp>
      <p:sp>
        <p:nvSpPr>
          <p:cNvPr id="43" name="[p4] Forma"/>
          <p:cNvSpPr/>
          <p:nvPr/>
        </p:nvSpPr>
        <p:spPr>
          <a:xfrm>
            <a:off x="7372807" y="4123944"/>
            <a:ext cx="4206240" cy="868680"/>
          </a:xfrm>
          <a:prstGeom prst="roundRect">
            <a:avLst>
              <a:gd name="adj" fmla="val 14737"/>
            </a:avLst>
          </a:prstGeom>
          <a:solidFill>
            <a:srgbClr val="FCEFD6"/>
          </a:solidFill>
          <a:ln w="12700">
            <a:solidFill>
              <a:srgbClr val="C5A583"/>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7537399" y="4279392"/>
            <a:ext cx="548640" cy="548640"/>
          </a:xfrm>
          <a:prstGeom prst="ellipse">
            <a:avLst/>
          </a:prstGeom>
          <a:solidFill>
            <a:srgbClr val="FFFFFF"/>
          </a:solidFill>
          <a:ln w="12700">
            <a:solidFill>
              <a:srgbClr val="FFFFFF"/>
            </a:solidFill>
            <a:prstDash val="solid"/>
          </a:ln>
        </p:spPr>
      </p:sp>
      <p:sp>
        <p:nvSpPr>
          <p:cNvPr id="45" name="[p4] Icono refresh-cw"/>
          <p:cNvSpPr/>
          <p:nvPr/>
        </p:nvSpPr>
        <p:spPr>
          <a:xfrm>
            <a:off x="7669073" y="4411066"/>
            <a:ext cx="285293" cy="285293"/>
          </a:xfrm>
          <a:custGeom>
            <a:avLst/>
            <a:gdLst/>
            <a:ahLst/>
            <a:cxnLst/>
            <a:rect l="l" t="t" r="r" b="b"/>
            <a:pathLst>
              <a:path w="285293" h="285293">
                <a:moveTo>
                  <a:pt x="35662" y="142646"/>
                </a:moveTo>
                <a:cubicBezTo>
                  <a:pt x="35662" y="83560"/>
                  <a:pt x="83560" y="35662"/>
                  <a:pt x="142646" y="35662"/>
                </a:cubicBezTo>
                <a:cubicBezTo>
                  <a:pt x="172555" y="35774"/>
                  <a:pt x="201263" y="47444"/>
                  <a:pt x="222766" y="68233"/>
                </a:cubicBezTo>
                <a:lnTo>
                  <a:pt x="249631" y="95098"/>
                </a:lnTo>
                <a:moveTo>
                  <a:pt x="249631" y="35662"/>
                </a:moveTo>
                <a:lnTo>
                  <a:pt x="249631" y="95098"/>
                </a:lnTo>
                <a:lnTo>
                  <a:pt x="190195" y="95098"/>
                </a:lnTo>
                <a:moveTo>
                  <a:pt x="249631" y="142646"/>
                </a:moveTo>
                <a:cubicBezTo>
                  <a:pt x="249631" y="201732"/>
                  <a:pt x="201732" y="249631"/>
                  <a:pt x="142646" y="249631"/>
                </a:cubicBezTo>
                <a:cubicBezTo>
                  <a:pt x="112738" y="249519"/>
                  <a:pt x="84030" y="237848"/>
                  <a:pt x="62527" y="217060"/>
                </a:cubicBezTo>
                <a:lnTo>
                  <a:pt x="35662" y="190195"/>
                </a:lnTo>
                <a:moveTo>
                  <a:pt x="95098" y="190195"/>
                </a:moveTo>
                <a:lnTo>
                  <a:pt x="35662" y="190195"/>
                </a:lnTo>
                <a:lnTo>
                  <a:pt x="35662" y="249631"/>
                </a:lnTo>
              </a:path>
            </a:pathLst>
          </a:custGeom>
          <a:noFill/>
          <a:ln w="23774" cap="rnd">
            <a:solidFill>
              <a:srgbClr val="8A4B06"/>
            </a:solidFill>
            <a:prstDash val="solid"/>
            <a:round/>
          </a:ln>
        </p:spPr>
      </p:sp>
      <p:sp>
        <p:nvSpPr>
          <p:cNvPr id="46" name="[p4] Forma"/>
          <p:cNvSpPr/>
          <p:nvPr/>
        </p:nvSpPr>
        <p:spPr>
          <a:xfrm>
            <a:off x="8214055" y="4233672"/>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8A4B06"/>
                </a:solidFill>
                <a:latin typeface="Segoe UI Semibold" pitchFamily="34" charset="0"/>
                <a:ea typeface="Segoe UI Semibold" pitchFamily="34" charset="-122"/>
                <a:cs typeface="Segoe UI Semibold" pitchFamily="34" charset="-120"/>
              </a:rPr>
              <a:t>Sigue pendiente</a:t>
            </a:r>
            <a:endParaRPr lang="en-US" sz="1450" dirty="0"/>
          </a:p>
        </p:txBody>
      </p:sp>
      <p:sp>
        <p:nvSpPr>
          <p:cNvPr id="47" name="[p4] Forma"/>
          <p:cNvSpPr/>
          <p:nvPr/>
        </p:nvSpPr>
        <p:spPr>
          <a:xfrm>
            <a:off x="8214055" y="4562856"/>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Mismo eventoId; se reintenta en el siguiente ciclo.</a:t>
            </a:r>
            <a:endParaRPr lang="en-US" sz="1150" dirty="0"/>
          </a:p>
        </p:txBody>
      </p:sp>
      <p:sp>
        <p:nvSpPr>
          <p:cNvPr id="48" name="Shape 46"/>
          <p:cNvSpPr/>
          <p:nvPr/>
        </p:nvSpPr>
        <p:spPr>
          <a:xfrm>
            <a:off x="0" y="5961888"/>
            <a:ext cx="12191695" cy="475488"/>
          </a:xfrm>
          <a:prstGeom prst="rect">
            <a:avLst/>
          </a:prstGeom>
          <a:solidFill>
            <a:srgbClr val="0B2350"/>
          </a:solidFill>
          <a:ln w="12700">
            <a:solidFill>
              <a:srgbClr val="0B2350"/>
            </a:solidFill>
            <a:prstDash val="solid"/>
          </a:ln>
        </p:spPr>
      </p:sp>
      <p:sp>
        <p:nvSpPr>
          <p:cNvPr id="49"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0" name="Text 48"/>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 notificaciones está caído, ningún aviso se pierde: queda pendiente hasta que vuelve.</a:t>
            </a:r>
            <a:endParaRPr lang="en-US" sz="14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servicio-solicitudes/…/dominio/ServicioDeSolicitudes.java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@Transactional</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enviar(</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id)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enviada = buscar(id).enviar();</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repositorio.guardar(enviada);</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registrador.registrar(</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UUID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.randomUUID().toString(),</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enviada.id(),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"SolicitudEnviada"</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enviada;</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Idempotencia: el mismo evento, un solo aviso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Repetir la entrega no multiplica el efecto.</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user-check"/>
          <p:cNvSpPr/>
          <p:nvPr/>
        </p:nvSpPr>
        <p:spPr>
          <a:xfrm>
            <a:off x="900867" y="5911779"/>
            <a:ext cx="228234" cy="228234"/>
          </a:xfrm>
          <a:custGeom>
            <a:avLst/>
            <a:gdLst/>
            <a:ahLst/>
            <a:cxnLst/>
            <a:rect l="l" t="t" r="r" b="b"/>
            <a:pathLst>
              <a:path w="228234" h="228234">
                <a:moveTo>
                  <a:pt x="152156" y="199705"/>
                </a:moveTo>
                <a:lnTo>
                  <a:pt x="152156" y="180685"/>
                </a:lnTo>
                <a:cubicBezTo>
                  <a:pt x="152156" y="159677"/>
                  <a:pt x="135126" y="142646"/>
                  <a:pt x="114117" y="142646"/>
                </a:cubicBezTo>
                <a:lnTo>
                  <a:pt x="57059" y="142646"/>
                </a:lnTo>
                <a:cubicBezTo>
                  <a:pt x="36050" y="142646"/>
                  <a:pt x="19020" y="159677"/>
                  <a:pt x="19020" y="180685"/>
                </a:cubicBezTo>
                <a:lnTo>
                  <a:pt x="19020" y="199705"/>
                </a:lnTo>
                <a:moveTo>
                  <a:pt x="123627" y="66568"/>
                </a:moveTo>
                <a:cubicBezTo>
                  <a:pt x="123627" y="87577"/>
                  <a:pt x="106596" y="104607"/>
                  <a:pt x="85588" y="104607"/>
                </a:cubicBezTo>
                <a:cubicBezTo>
                  <a:pt x="64579" y="104607"/>
                  <a:pt x="47549" y="87577"/>
                  <a:pt x="47549" y="66568"/>
                </a:cubicBezTo>
                <a:cubicBezTo>
                  <a:pt x="47549" y="45560"/>
                  <a:pt x="64579" y="28529"/>
                  <a:pt x="85588" y="28529"/>
                </a:cubicBezTo>
                <a:cubicBezTo>
                  <a:pt x="106596" y="28529"/>
                  <a:pt x="123627" y="45560"/>
                  <a:pt x="123627" y="66568"/>
                </a:cubicBezTo>
                <a:close/>
                <a:moveTo>
                  <a:pt x="152156" y="104607"/>
                </a:moveTo>
                <a:lnTo>
                  <a:pt x="171176" y="123627"/>
                </a:lnTo>
                <a:lnTo>
                  <a:pt x="209215" y="85588"/>
                </a:lnTo>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portero con lista de invitados: si alguien ya entró, no lo vuelve a anotar.</a:t>
            </a:r>
            <a:endParaRPr lang="en-US" sz="1450" dirty="0"/>
          </a:p>
        </p:txBody>
      </p:sp>
      <p:sp>
        <p:nvSpPr>
          <p:cNvPr id="17" name="Shape 15"/>
          <p:cNvSpPr/>
          <p:nvPr/>
        </p:nvSpPr>
        <p:spPr>
          <a:xfrm>
            <a:off x="1366228" y="1828800"/>
            <a:ext cx="1234440" cy="12344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mail"/>
          <p:cNvSpPr/>
          <p:nvPr/>
        </p:nvSpPr>
        <p:spPr>
          <a:xfrm>
            <a:off x="1650149" y="2112721"/>
            <a:ext cx="666598" cy="666598"/>
          </a:xfrm>
          <a:custGeom>
            <a:avLst/>
            <a:gdLst/>
            <a:ahLst/>
            <a:cxnLst/>
            <a:rect l="l" t="t" r="r" b="b"/>
            <a:pathLst>
              <a:path w="666598" h="666598">
                <a:moveTo>
                  <a:pt x="111100" y="111100"/>
                </a:moveTo>
                <a:lnTo>
                  <a:pt x="555498" y="111100"/>
                </a:lnTo>
                <a:cubicBezTo>
                  <a:pt x="586177" y="111100"/>
                  <a:pt x="611048" y="135970"/>
                  <a:pt x="611048" y="166649"/>
                </a:cubicBezTo>
                <a:lnTo>
                  <a:pt x="611048" y="499948"/>
                </a:lnTo>
                <a:cubicBezTo>
                  <a:pt x="611048" y="530628"/>
                  <a:pt x="586177" y="555498"/>
                  <a:pt x="555498" y="555498"/>
                </a:cubicBezTo>
                <a:lnTo>
                  <a:pt x="111100" y="555498"/>
                </a:lnTo>
                <a:cubicBezTo>
                  <a:pt x="80420" y="555498"/>
                  <a:pt x="55550" y="530628"/>
                  <a:pt x="55550" y="499948"/>
                </a:cubicBezTo>
                <a:lnTo>
                  <a:pt x="55550" y="166649"/>
                </a:lnTo>
                <a:cubicBezTo>
                  <a:pt x="55550" y="135970"/>
                  <a:pt x="80420" y="111100"/>
                  <a:pt x="111100" y="111100"/>
                </a:cubicBezTo>
                <a:close/>
                <a:moveTo>
                  <a:pt x="611048" y="194424"/>
                </a:moveTo>
                <a:lnTo>
                  <a:pt x="361907" y="352741"/>
                </a:lnTo>
                <a:cubicBezTo>
                  <a:pt x="344410" y="363703"/>
                  <a:pt x="322188" y="363703"/>
                  <a:pt x="304691" y="352741"/>
                </a:cubicBezTo>
                <a:lnTo>
                  <a:pt x="55550" y="194424"/>
                </a:lnTo>
              </a:path>
            </a:pathLst>
          </a:custGeom>
          <a:noFill/>
          <a:ln w="48606" cap="rnd">
            <a:solidFill>
              <a:srgbClr val="0B2350"/>
            </a:solidFill>
            <a:prstDash val="solid"/>
            <a:round/>
          </a:ln>
        </p:spPr>
      </p:sp>
      <p:sp>
        <p:nvSpPr>
          <p:cNvPr id="19" name="Text 17"/>
          <p:cNvSpPr/>
          <p:nvPr/>
        </p:nvSpPr>
        <p:spPr>
          <a:xfrm>
            <a:off x="13296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Llega el evento</a:t>
            </a:r>
            <a:endParaRPr lang="en-US" sz="1800" dirty="0"/>
          </a:p>
        </p:txBody>
      </p:sp>
      <p:sp>
        <p:nvSpPr>
          <p:cNvPr id="21" name="Text 19"/>
          <p:cNvSpPr/>
          <p:nvPr/>
        </p:nvSpPr>
        <p:spPr>
          <a:xfrm>
            <a:off x="7223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Trae su eventoId.</a:t>
            </a:r>
            <a:endParaRPr lang="en-US" sz="1400" dirty="0"/>
          </a:p>
        </p:txBody>
      </p:sp>
      <p:sp>
        <p:nvSpPr>
          <p:cNvPr id="22" name="[p1] Forma"/>
          <p:cNvSpPr/>
          <p:nvPr/>
        </p:nvSpPr>
        <p:spPr>
          <a:xfrm>
            <a:off x="2692108" y="2446020"/>
            <a:ext cx="1324280" cy="0"/>
          </a:xfrm>
          <a:prstGeom prst="line">
            <a:avLst/>
          </a:prstGeom>
          <a:noFill/>
          <a:ln w="38100">
            <a:solidFill>
              <a:srgbClr val="2BA6CB"/>
            </a:solidFill>
            <a:prstDash val="solid"/>
            <a:tailEnd type="triangle"/>
          </a:ln>
        </p:spPr>
      </p:sp>
      <p:sp>
        <p:nvSpPr>
          <p:cNvPr id="23" name="[p1] Forma"/>
          <p:cNvSpPr/>
          <p:nvPr/>
        </p:nvSpPr>
        <p:spPr>
          <a:xfrm>
            <a:off x="4107828" y="1828800"/>
            <a:ext cx="1234440" cy="12344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4" name="[p1] Icono fingerprint"/>
          <p:cNvSpPr/>
          <p:nvPr/>
        </p:nvSpPr>
        <p:spPr>
          <a:xfrm>
            <a:off x="4391749" y="2112721"/>
            <a:ext cx="666598" cy="666598"/>
          </a:xfrm>
          <a:custGeom>
            <a:avLst/>
            <a:gdLst/>
            <a:ahLst/>
            <a:cxnLst/>
            <a:rect l="l" t="t" r="r" b="b"/>
            <a:pathLst>
              <a:path w="666598" h="666598">
                <a:moveTo>
                  <a:pt x="333299" y="277749"/>
                </a:moveTo>
                <a:cubicBezTo>
                  <a:pt x="302619" y="277749"/>
                  <a:pt x="277749" y="302619"/>
                  <a:pt x="277749" y="333299"/>
                </a:cubicBezTo>
                <a:cubicBezTo>
                  <a:pt x="277749" y="361629"/>
                  <a:pt x="274972" y="403014"/>
                  <a:pt x="270528" y="444398"/>
                </a:cubicBezTo>
                <a:moveTo>
                  <a:pt x="388849" y="364407"/>
                </a:moveTo>
                <a:cubicBezTo>
                  <a:pt x="388849" y="430511"/>
                  <a:pt x="388849" y="541611"/>
                  <a:pt x="361074" y="611048"/>
                </a:cubicBezTo>
                <a:moveTo>
                  <a:pt x="480228" y="583828"/>
                </a:moveTo>
                <a:cubicBezTo>
                  <a:pt x="483561" y="567163"/>
                  <a:pt x="492171" y="519946"/>
                  <a:pt x="494115" y="499948"/>
                </a:cubicBezTo>
                <a:moveTo>
                  <a:pt x="55550" y="333299"/>
                </a:moveTo>
                <a:cubicBezTo>
                  <a:pt x="55550" y="213747"/>
                  <a:pt x="132050" y="107609"/>
                  <a:pt x="245467" y="69803"/>
                </a:cubicBezTo>
                <a:cubicBezTo>
                  <a:pt x="358883" y="31997"/>
                  <a:pt x="483767" y="71008"/>
                  <a:pt x="555498" y="166649"/>
                </a:cubicBezTo>
                <a:moveTo>
                  <a:pt x="55550" y="444398"/>
                </a:moveTo>
                <a:lnTo>
                  <a:pt x="55828" y="444398"/>
                </a:lnTo>
                <a:moveTo>
                  <a:pt x="605493" y="444398"/>
                </a:moveTo>
                <a:cubicBezTo>
                  <a:pt x="611048" y="388849"/>
                  <a:pt x="609131" y="295692"/>
                  <a:pt x="605493" y="277749"/>
                </a:cubicBezTo>
                <a:moveTo>
                  <a:pt x="138875" y="541611"/>
                </a:moveTo>
                <a:cubicBezTo>
                  <a:pt x="152762" y="499948"/>
                  <a:pt x="166649" y="416624"/>
                  <a:pt x="166649" y="333299"/>
                </a:cubicBezTo>
                <a:cubicBezTo>
                  <a:pt x="166621" y="314380"/>
                  <a:pt x="169815" y="295595"/>
                  <a:pt x="176093" y="277749"/>
                </a:cubicBezTo>
                <a:moveTo>
                  <a:pt x="240253" y="611048"/>
                </a:moveTo>
                <a:cubicBezTo>
                  <a:pt x="246086" y="592716"/>
                  <a:pt x="252752" y="574385"/>
                  <a:pt x="256085" y="555498"/>
                </a:cubicBezTo>
                <a:moveTo>
                  <a:pt x="249974" y="188869"/>
                </a:moveTo>
                <a:cubicBezTo>
                  <a:pt x="301552" y="159091"/>
                  <a:pt x="365101" y="159101"/>
                  <a:pt x="416670" y="188896"/>
                </a:cubicBezTo>
                <a:cubicBezTo>
                  <a:pt x="468238" y="218691"/>
                  <a:pt x="499986" y="273742"/>
                  <a:pt x="499948" y="333299"/>
                </a:cubicBezTo>
                <a:lnTo>
                  <a:pt x="499948" y="388849"/>
                </a:lnTo>
              </a:path>
            </a:pathLst>
          </a:custGeom>
          <a:noFill/>
          <a:ln w="48606" cap="rnd">
            <a:solidFill>
              <a:srgbClr val="0B6E8A"/>
            </a:solidFill>
            <a:prstDash val="solid"/>
            <a:round/>
          </a:ln>
        </p:spPr>
      </p:sp>
      <p:sp>
        <p:nvSpPr>
          <p:cNvPr id="25" name="[p1] Forma"/>
          <p:cNvSpPr/>
          <p:nvPr/>
        </p:nvSpPr>
        <p:spPr>
          <a:xfrm>
            <a:off x="40712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¿Ya lo recibimos?</a:t>
            </a:r>
            <a:endParaRPr lang="en-US" sz="1800" dirty="0"/>
          </a:p>
        </p:txBody>
      </p:sp>
      <p:sp>
        <p:nvSpPr>
          <p:cNvPr id="27" name="[p1] Forma"/>
          <p:cNvSpPr/>
          <p:nvPr/>
        </p:nvSpPr>
        <p:spPr>
          <a:xfrm>
            <a:off x="34639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 busca en evento_procesado.</a:t>
            </a:r>
            <a:endParaRPr lang="en-US" sz="1400" dirty="0"/>
          </a:p>
        </p:txBody>
      </p:sp>
      <p:sp>
        <p:nvSpPr>
          <p:cNvPr id="28" name="[p2] Forma"/>
          <p:cNvSpPr/>
          <p:nvPr/>
        </p:nvSpPr>
        <p:spPr>
          <a:xfrm>
            <a:off x="5433708" y="2446020"/>
            <a:ext cx="1324280" cy="0"/>
          </a:xfrm>
          <a:prstGeom prst="line">
            <a:avLst/>
          </a:prstGeom>
          <a:noFill/>
          <a:ln w="38100">
            <a:solidFill>
              <a:srgbClr val="2BA6CB"/>
            </a:solidFill>
            <a:prstDash val="solid"/>
            <a:tailEnd type="triangle"/>
          </a:ln>
        </p:spPr>
      </p:sp>
      <p:sp>
        <p:nvSpPr>
          <p:cNvPr id="29" name="[p2] Forma"/>
          <p:cNvSpPr/>
          <p:nvPr/>
        </p:nvSpPr>
        <p:spPr>
          <a:xfrm>
            <a:off x="6849428"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0" name="[p2] Icono bell"/>
          <p:cNvSpPr/>
          <p:nvPr/>
        </p:nvSpPr>
        <p:spPr>
          <a:xfrm>
            <a:off x="7133349" y="2112721"/>
            <a:ext cx="666598" cy="666598"/>
          </a:xfrm>
          <a:custGeom>
            <a:avLst/>
            <a:gdLst/>
            <a:ahLst/>
            <a:cxnLst/>
            <a:rect l="l" t="t" r="r" b="b"/>
            <a:pathLst>
              <a:path w="666598" h="666598">
                <a:moveTo>
                  <a:pt x="285193" y="583273"/>
                </a:moveTo>
                <a:cubicBezTo>
                  <a:pt x="295116" y="600459"/>
                  <a:pt x="313454" y="611045"/>
                  <a:pt x="333299" y="611045"/>
                </a:cubicBezTo>
                <a:cubicBezTo>
                  <a:pt x="353144" y="611045"/>
                  <a:pt x="371482" y="600459"/>
                  <a:pt x="381405" y="583273"/>
                </a:cubicBezTo>
                <a:moveTo>
                  <a:pt x="90602" y="425678"/>
                </a:moveTo>
                <a:cubicBezTo>
                  <a:pt x="83188" y="433804"/>
                  <a:pt x="81268" y="445538"/>
                  <a:pt x="85705" y="455603"/>
                </a:cubicBezTo>
                <a:cubicBezTo>
                  <a:pt x="90142" y="465667"/>
                  <a:pt x="100100" y="472165"/>
                  <a:pt x="111100" y="472173"/>
                </a:cubicBezTo>
                <a:lnTo>
                  <a:pt x="555498" y="472173"/>
                </a:lnTo>
                <a:cubicBezTo>
                  <a:pt x="566496" y="472177"/>
                  <a:pt x="576460" y="465692"/>
                  <a:pt x="580909" y="455634"/>
                </a:cubicBezTo>
                <a:cubicBezTo>
                  <a:pt x="585358" y="445576"/>
                  <a:pt x="583453" y="433840"/>
                  <a:pt x="576051" y="425706"/>
                </a:cubicBezTo>
                <a:cubicBezTo>
                  <a:pt x="539111" y="387627"/>
                  <a:pt x="499948" y="347158"/>
                  <a:pt x="499948" y="222199"/>
                </a:cubicBezTo>
                <a:cubicBezTo>
                  <a:pt x="499948" y="130161"/>
                  <a:pt x="425337" y="55550"/>
                  <a:pt x="333299" y="55550"/>
                </a:cubicBezTo>
                <a:cubicBezTo>
                  <a:pt x="241261" y="55550"/>
                  <a:pt x="166649" y="130161"/>
                  <a:pt x="166649" y="222199"/>
                </a:cubicBezTo>
                <a:cubicBezTo>
                  <a:pt x="166649" y="347158"/>
                  <a:pt x="127459" y="387627"/>
                  <a:pt x="90602" y="425678"/>
                </a:cubicBezTo>
              </a:path>
            </a:pathLst>
          </a:custGeom>
          <a:noFill/>
          <a:ln w="48606" cap="rnd">
            <a:solidFill>
              <a:srgbClr val="0A6648"/>
            </a:solidFill>
            <a:prstDash val="solid"/>
            <a:round/>
          </a:ln>
        </p:spPr>
      </p:sp>
      <p:sp>
        <p:nvSpPr>
          <p:cNvPr id="31" name="[p2] Forma"/>
          <p:cNvSpPr/>
          <p:nvPr/>
        </p:nvSpPr>
        <p:spPr>
          <a:xfrm>
            <a:off x="6812852"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Crear el aviso</a:t>
            </a:r>
            <a:endParaRPr lang="en-US" sz="1800" dirty="0"/>
          </a:p>
        </p:txBody>
      </p:sp>
      <p:sp>
        <p:nvSpPr>
          <p:cNvPr id="33" name="[p2] Forma"/>
          <p:cNvSpPr/>
          <p:nvPr/>
        </p:nvSpPr>
        <p:spPr>
          <a:xfrm>
            <a:off x="62055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Solo si el número es nuevo.</a:t>
            </a:r>
            <a:endParaRPr lang="en-US" sz="1400" dirty="0"/>
          </a:p>
        </p:txBody>
      </p:sp>
      <p:sp>
        <p:nvSpPr>
          <p:cNvPr id="34" name="[p3] Forma"/>
          <p:cNvSpPr/>
          <p:nvPr/>
        </p:nvSpPr>
        <p:spPr>
          <a:xfrm>
            <a:off x="8175308" y="2446020"/>
            <a:ext cx="1324280" cy="0"/>
          </a:xfrm>
          <a:prstGeom prst="line">
            <a:avLst/>
          </a:prstGeom>
          <a:noFill/>
          <a:ln w="38100">
            <a:solidFill>
              <a:srgbClr val="2BA6CB"/>
            </a:solidFill>
            <a:prstDash val="solid"/>
            <a:tailEnd type="triangle"/>
          </a:ln>
        </p:spPr>
      </p:sp>
      <p:sp>
        <p:nvSpPr>
          <p:cNvPr id="35" name="[p3] Forma"/>
          <p:cNvSpPr/>
          <p:nvPr/>
        </p:nvSpPr>
        <p:spPr>
          <a:xfrm>
            <a:off x="9591027"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lipboard-check"/>
          <p:cNvSpPr/>
          <p:nvPr/>
        </p:nvSpPr>
        <p:spPr>
          <a:xfrm>
            <a:off x="9874949" y="2112721"/>
            <a:ext cx="666598" cy="666598"/>
          </a:xfrm>
          <a:custGeom>
            <a:avLst/>
            <a:gdLst/>
            <a:ahLst/>
            <a:cxnLst/>
            <a:rect l="l" t="t" r="r" b="b"/>
            <a:pathLst>
              <a:path w="666598" h="666598">
                <a:moveTo>
                  <a:pt x="249974" y="55550"/>
                </a:moveTo>
                <a:lnTo>
                  <a:pt x="416624" y="55550"/>
                </a:lnTo>
                <a:cubicBezTo>
                  <a:pt x="431963" y="55550"/>
                  <a:pt x="444398" y="67985"/>
                  <a:pt x="444398" y="83325"/>
                </a:cubicBezTo>
                <a:lnTo>
                  <a:pt x="444398" y="138875"/>
                </a:lnTo>
                <a:cubicBezTo>
                  <a:pt x="444398" y="154214"/>
                  <a:pt x="431963" y="166649"/>
                  <a:pt x="416624" y="166649"/>
                </a:cubicBezTo>
                <a:lnTo>
                  <a:pt x="249974" y="166649"/>
                </a:lnTo>
                <a:cubicBezTo>
                  <a:pt x="234634" y="166649"/>
                  <a:pt x="222199" y="154214"/>
                  <a:pt x="222199" y="138875"/>
                </a:cubicBezTo>
                <a:lnTo>
                  <a:pt x="222199" y="83325"/>
                </a:lnTo>
                <a:cubicBezTo>
                  <a:pt x="222199" y="67985"/>
                  <a:pt x="234634" y="55550"/>
                  <a:pt x="249974" y="55550"/>
                </a:cubicBezTo>
                <a:close/>
                <a:moveTo>
                  <a:pt x="444398" y="111100"/>
                </a:moveTo>
                <a:lnTo>
                  <a:pt x="499948" y="111100"/>
                </a:lnTo>
                <a:cubicBezTo>
                  <a:pt x="530628" y="111100"/>
                  <a:pt x="555498" y="135970"/>
                  <a:pt x="555498" y="166649"/>
                </a:cubicBezTo>
                <a:lnTo>
                  <a:pt x="555498" y="555498"/>
                </a:lnTo>
                <a:cubicBezTo>
                  <a:pt x="555498" y="586177"/>
                  <a:pt x="530628" y="611048"/>
                  <a:pt x="499948" y="611048"/>
                </a:cubicBezTo>
                <a:lnTo>
                  <a:pt x="166649" y="611048"/>
                </a:lnTo>
                <a:cubicBezTo>
                  <a:pt x="135970" y="611048"/>
                  <a:pt x="111100" y="586177"/>
                  <a:pt x="111100" y="555498"/>
                </a:cubicBezTo>
                <a:lnTo>
                  <a:pt x="111100" y="166649"/>
                </a:lnTo>
                <a:cubicBezTo>
                  <a:pt x="111100" y="135970"/>
                  <a:pt x="135970" y="111100"/>
                  <a:pt x="166649" y="111100"/>
                </a:cubicBezTo>
                <a:lnTo>
                  <a:pt x="222199" y="111100"/>
                </a:lnTo>
                <a:moveTo>
                  <a:pt x="249974" y="388849"/>
                </a:moveTo>
                <a:lnTo>
                  <a:pt x="305524" y="444398"/>
                </a:lnTo>
                <a:lnTo>
                  <a:pt x="416624" y="333299"/>
                </a:lnTo>
              </a:path>
            </a:pathLst>
          </a:custGeom>
          <a:noFill/>
          <a:ln w="48606" cap="rnd">
            <a:solidFill>
              <a:srgbClr val="0A6648"/>
            </a:solidFill>
            <a:prstDash val="solid"/>
            <a:round/>
          </a:ln>
        </p:spPr>
      </p:sp>
      <p:sp>
        <p:nvSpPr>
          <p:cNvPr id="37" name="[p3] Forma"/>
          <p:cNvSpPr/>
          <p:nvPr/>
        </p:nvSpPr>
        <p:spPr>
          <a:xfrm>
            <a:off x="95544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Anotar el número</a:t>
            </a:r>
            <a:endParaRPr lang="en-US" sz="1800" dirty="0"/>
          </a:p>
        </p:txBody>
      </p:sp>
      <p:sp>
        <p:nvSpPr>
          <p:cNvPr id="39" name="[p3] Forma"/>
          <p:cNvSpPr/>
          <p:nvPr/>
        </p:nvSpPr>
        <p:spPr>
          <a:xfrm>
            <a:off x="8947175"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la misma transacción.</a:t>
            </a:r>
            <a:endParaRPr lang="en-US" sz="1400" dirty="0"/>
          </a:p>
        </p:txBody>
      </p:sp>
      <p:sp>
        <p:nvSpPr>
          <p:cNvPr id="40" name="[p4] Forma"/>
          <p:cNvSpPr/>
          <p:nvPr/>
        </p:nvSpPr>
        <p:spPr>
          <a:xfrm>
            <a:off x="4725048" y="4123944"/>
            <a:ext cx="0" cy="955548"/>
          </a:xfrm>
          <a:prstGeom prst="line">
            <a:avLst/>
          </a:prstGeom>
          <a:noFill/>
          <a:ln w="25400">
            <a:solidFill>
              <a:srgbClr val="55627E"/>
            </a:solidFill>
            <a:prstDash val="dash"/>
          </a:ln>
        </p:spPr>
      </p:sp>
      <p:sp>
        <p:nvSpPr>
          <p:cNvPr id="41" name="[p4] Forma"/>
          <p:cNvSpPr/>
          <p:nvPr/>
        </p:nvSpPr>
        <p:spPr>
          <a:xfrm>
            <a:off x="4725048" y="5079492"/>
            <a:ext cx="457200" cy="0"/>
          </a:xfrm>
          <a:prstGeom prst="line">
            <a:avLst/>
          </a:prstGeom>
          <a:noFill/>
          <a:ln w="25400">
            <a:solidFill>
              <a:srgbClr val="55627E"/>
            </a:solidFill>
            <a:prstDash val="dash"/>
            <a:tailEnd type="triangle"/>
          </a:ln>
        </p:spPr>
      </p:sp>
      <p:sp>
        <p:nvSpPr>
          <p:cNvPr id="42" name="[p4] Forma"/>
          <p:cNvSpPr/>
          <p:nvPr/>
        </p:nvSpPr>
        <p:spPr>
          <a:xfrm>
            <a:off x="3262008" y="4750308"/>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55627E"/>
                </a:solidFill>
                <a:latin typeface="Segoe UI" pitchFamily="34" charset="0"/>
                <a:ea typeface="Segoe UI" pitchFamily="34" charset="-122"/>
                <a:cs typeface="Segoe UI" pitchFamily="34" charset="-120"/>
              </a:rPr>
              <a:t>ya estaba</a:t>
            </a:r>
            <a:endParaRPr lang="en-US" sz="1100" dirty="0"/>
          </a:p>
        </p:txBody>
      </p:sp>
      <p:sp>
        <p:nvSpPr>
          <p:cNvPr id="43" name="[p4] Forma"/>
          <p:cNvSpPr/>
          <p:nvPr/>
        </p:nvSpPr>
        <p:spPr>
          <a:xfrm>
            <a:off x="5182248" y="4645152"/>
            <a:ext cx="4206240" cy="868680"/>
          </a:xfrm>
          <a:prstGeom prst="roundRect">
            <a:avLst>
              <a:gd name="adj" fmla="val 14737"/>
            </a:avLst>
          </a:prstGeom>
          <a:solidFill>
            <a:srgbClr val="F4F7FB"/>
          </a:solidFill>
          <a:ln w="12700">
            <a:solidFill>
              <a:srgbClr val="AAB1BF"/>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5346840" y="4800600"/>
            <a:ext cx="548640" cy="548640"/>
          </a:xfrm>
          <a:prstGeom prst="ellipse">
            <a:avLst/>
          </a:prstGeom>
          <a:solidFill>
            <a:srgbClr val="FFFFFF"/>
          </a:solidFill>
          <a:ln w="12700">
            <a:solidFill>
              <a:srgbClr val="FFFFFF"/>
            </a:solidFill>
            <a:prstDash val="solid"/>
          </a:ln>
        </p:spPr>
      </p:sp>
      <p:sp>
        <p:nvSpPr>
          <p:cNvPr id="45" name="[p4] Icono ban"/>
          <p:cNvSpPr/>
          <p:nvPr/>
        </p:nvSpPr>
        <p:spPr>
          <a:xfrm>
            <a:off x="5478513" y="4932274"/>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55627E"/>
            </a:solidFill>
            <a:prstDash val="solid"/>
            <a:round/>
          </a:ln>
        </p:spPr>
      </p:sp>
      <p:sp>
        <p:nvSpPr>
          <p:cNvPr id="46" name="[p4] Forma"/>
          <p:cNvSpPr/>
          <p:nvPr/>
        </p:nvSpPr>
        <p:spPr>
          <a:xfrm>
            <a:off x="6023496" y="4754880"/>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55627E"/>
                </a:solidFill>
                <a:latin typeface="Segoe UI Semibold" pitchFamily="34" charset="0"/>
                <a:ea typeface="Segoe UI Semibold" pitchFamily="34" charset="-122"/>
                <a:cs typeface="Segoe UI Semibold" pitchFamily="34" charset="-120"/>
              </a:rPr>
              <a:t>Ignorarlo</a:t>
            </a:r>
            <a:endParaRPr lang="en-US" sz="1450" dirty="0"/>
          </a:p>
        </p:txBody>
      </p:sp>
      <p:sp>
        <p:nvSpPr>
          <p:cNvPr id="47" name="[p4] Forma"/>
          <p:cNvSpPr/>
          <p:nvPr/>
        </p:nvSpPr>
        <p:spPr>
          <a:xfrm>
            <a:off x="6023496" y="5084064"/>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se crea otro aviso. Duplicados: cero.</a:t>
            </a:r>
            <a:endParaRPr lang="en-US" sz="11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Idempotencia: el mismo evento, un solo aviso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servicio-notificaciones/…/adaptadores/entrada/ConsumoIdempotente.java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@Transactional</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void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alRecibir(</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SolicitudEnviada</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(procesados.existsById(e.eventoId()))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ya procesado: idempotente</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servicio.alRecibirSolicitudEnviada(e);</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procesados.save(</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EventoProcesadoEntity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(e.eventoId()));</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35</a:t>
            </a:fld>
            <a:endParaRPr lang="en-US"/>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Interconexión: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waypoints"/>
          <p:cNvSpPr/>
          <p:nvPr/>
        </p:nvSpPr>
        <p:spPr>
          <a:xfrm>
            <a:off x="1058144" y="1817096"/>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duplicados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send"/>
          <p:cNvSpPr/>
          <p:nvPr/>
        </p:nvSpPr>
        <p:spPr>
          <a:xfrm>
            <a:off x="4258544" y="174051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Síncrono para ver, asíncrono para avisar</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UI espera la respuesta; el evento se entrega después.</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Una caída parcial no detiene a quien usa el sistema.</a:t>
            </a:r>
            <a:endParaRPr lang="en-US" sz="130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inbox"/>
          <p:cNvSpPr/>
          <p:nvPr/>
        </p:nvSpPr>
        <p:spPr>
          <a:xfrm>
            <a:off x="4258544" y="3032105"/>
            <a:ext cx="370881" cy="370881"/>
          </a:xfrm>
          <a:custGeom>
            <a:avLst/>
            <a:gdLst/>
            <a:ahLst/>
            <a:cxnLst/>
            <a:rect l="l" t="t" r="r" b="b"/>
            <a:pathLst>
              <a:path w="370881" h="370881">
                <a:moveTo>
                  <a:pt x="339974" y="185440"/>
                </a:moveTo>
                <a:lnTo>
                  <a:pt x="247254" y="185440"/>
                </a:lnTo>
                <a:lnTo>
                  <a:pt x="216347" y="231800"/>
                </a:lnTo>
                <a:lnTo>
                  <a:pt x="154534" y="231800"/>
                </a:lnTo>
                <a:lnTo>
                  <a:pt x="123627" y="185440"/>
                </a:lnTo>
                <a:lnTo>
                  <a:pt x="30907" y="185440"/>
                </a:lnTo>
                <a:moveTo>
                  <a:pt x="84221" y="78967"/>
                </a:moveTo>
                <a:lnTo>
                  <a:pt x="30907" y="185440"/>
                </a:lnTo>
                <a:lnTo>
                  <a:pt x="30907" y="278160"/>
                </a:lnTo>
                <a:cubicBezTo>
                  <a:pt x="30907" y="295230"/>
                  <a:pt x="44744" y="309067"/>
                  <a:pt x="61813" y="309067"/>
                </a:cubicBezTo>
                <a:lnTo>
                  <a:pt x="309067" y="309067"/>
                </a:lnTo>
                <a:cubicBezTo>
                  <a:pt x="326137" y="309067"/>
                  <a:pt x="339974" y="295230"/>
                  <a:pt x="339974" y="278160"/>
                </a:cubicBezTo>
                <a:lnTo>
                  <a:pt x="339974" y="185440"/>
                </a:lnTo>
                <a:lnTo>
                  <a:pt x="286660" y="78967"/>
                </a:lnTo>
                <a:cubicBezTo>
                  <a:pt x="281441" y="68464"/>
                  <a:pt x="270727" y="61820"/>
                  <a:pt x="258998" y="61813"/>
                </a:cubicBezTo>
                <a:lnTo>
                  <a:pt x="111882" y="61813"/>
                </a:lnTo>
                <a:cubicBezTo>
                  <a:pt x="100154" y="61820"/>
                  <a:pt x="89440" y="68464"/>
                  <a:pt x="84221" y="78967"/>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primero, avisar después</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 y evento en la misma transacción; el relevador entrega.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servicio caído no hace perder información.</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fingerprint"/>
          <p:cNvSpPr/>
          <p:nvPr/>
        </p:nvSpPr>
        <p:spPr>
          <a:xfrm>
            <a:off x="4258544" y="4323695"/>
            <a:ext cx="370881" cy="370881"/>
          </a:xfrm>
          <a:custGeom>
            <a:avLst/>
            <a:gdLst/>
            <a:ahLst/>
            <a:cxnLst/>
            <a:rect l="l" t="t" r="r" b="b"/>
            <a:pathLst>
              <a:path w="370881" h="370881">
                <a:moveTo>
                  <a:pt x="185440" y="154534"/>
                </a:moveTo>
                <a:cubicBezTo>
                  <a:pt x="168371" y="154534"/>
                  <a:pt x="154534" y="168371"/>
                  <a:pt x="154534" y="185440"/>
                </a:cubicBezTo>
                <a:cubicBezTo>
                  <a:pt x="154534" y="201203"/>
                  <a:pt x="152988" y="224228"/>
                  <a:pt x="150516" y="247254"/>
                </a:cubicBezTo>
                <a:moveTo>
                  <a:pt x="216347" y="202748"/>
                </a:moveTo>
                <a:cubicBezTo>
                  <a:pt x="216347" y="239527"/>
                  <a:pt x="216347" y="301341"/>
                  <a:pt x="200894" y="339974"/>
                </a:cubicBezTo>
                <a:moveTo>
                  <a:pt x="267189" y="324830"/>
                </a:moveTo>
                <a:cubicBezTo>
                  <a:pt x="269043" y="315558"/>
                  <a:pt x="273834" y="289287"/>
                  <a:pt x="274915" y="278160"/>
                </a:cubicBezTo>
                <a:moveTo>
                  <a:pt x="30907" y="185440"/>
                </a:moveTo>
                <a:cubicBezTo>
                  <a:pt x="30907" y="118924"/>
                  <a:pt x="73470" y="59871"/>
                  <a:pt x="136573" y="38837"/>
                </a:cubicBezTo>
                <a:cubicBezTo>
                  <a:pt x="199675" y="17803"/>
                  <a:pt x="269158" y="39507"/>
                  <a:pt x="309067" y="92720"/>
                </a:cubicBezTo>
                <a:moveTo>
                  <a:pt x="30907" y="247254"/>
                </a:moveTo>
                <a:lnTo>
                  <a:pt x="31061" y="247254"/>
                </a:lnTo>
                <a:moveTo>
                  <a:pt x="336883" y="247254"/>
                </a:moveTo>
                <a:cubicBezTo>
                  <a:pt x="339974" y="216347"/>
                  <a:pt x="338908" y="164516"/>
                  <a:pt x="336883" y="154534"/>
                </a:cubicBezTo>
                <a:moveTo>
                  <a:pt x="77267" y="301341"/>
                </a:moveTo>
                <a:cubicBezTo>
                  <a:pt x="84993" y="278160"/>
                  <a:pt x="92720" y="231800"/>
                  <a:pt x="92720" y="185440"/>
                </a:cubicBezTo>
                <a:cubicBezTo>
                  <a:pt x="92705" y="174915"/>
                  <a:pt x="94481" y="164463"/>
                  <a:pt x="97974" y="154534"/>
                </a:cubicBezTo>
                <a:moveTo>
                  <a:pt x="133672" y="339974"/>
                </a:moveTo>
                <a:cubicBezTo>
                  <a:pt x="136917" y="329775"/>
                  <a:pt x="140626" y="319575"/>
                  <a:pt x="142480" y="309067"/>
                </a:cubicBezTo>
                <a:moveTo>
                  <a:pt x="139080" y="105083"/>
                </a:moveTo>
                <a:cubicBezTo>
                  <a:pt x="167777" y="88515"/>
                  <a:pt x="203135" y="88520"/>
                  <a:pt x="231826" y="105098"/>
                </a:cubicBezTo>
                <a:cubicBezTo>
                  <a:pt x="260518" y="121675"/>
                  <a:pt x="278182" y="152304"/>
                  <a:pt x="278160" y="185440"/>
                </a:cubicBezTo>
                <a:lnTo>
                  <a:pt x="278160" y="216347"/>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Todo reintento necesita idempotencia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número de evento fijo y la lista de los ya recibidos.</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Reintentar sin miedo a duplicar.</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json"/>
          <p:cNvSpPr/>
          <p:nvPr/>
        </p:nvSpPr>
        <p:spPr>
          <a:xfrm>
            <a:off x="4258544" y="5615285"/>
            <a:ext cx="370881" cy="370881"/>
          </a:xfrm>
          <a:custGeom>
            <a:avLst/>
            <a:gdLst/>
            <a:ahLst/>
            <a:cxnLst/>
            <a:rect l="l" t="t" r="r" b="b"/>
            <a:pathLst>
              <a:path w="370881" h="370881">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moveTo>
                  <a:pt x="216347" y="30907"/>
                </a:moveTo>
                <a:lnTo>
                  <a:pt x="216347" y="92720"/>
                </a:lnTo>
                <a:cubicBezTo>
                  <a:pt x="216347" y="109789"/>
                  <a:pt x="230184" y="123627"/>
                  <a:pt x="247254" y="123627"/>
                </a:cubicBezTo>
                <a:lnTo>
                  <a:pt x="309067" y="123627"/>
                </a:lnTo>
                <a:moveTo>
                  <a:pt x="154534" y="185440"/>
                </a:moveTo>
                <a:cubicBezTo>
                  <a:pt x="145999" y="185440"/>
                  <a:pt x="139080" y="192359"/>
                  <a:pt x="139080" y="200894"/>
                </a:cubicBezTo>
                <a:lnTo>
                  <a:pt x="139080" y="216347"/>
                </a:lnTo>
                <a:cubicBezTo>
                  <a:pt x="139080" y="224882"/>
                  <a:pt x="132162" y="231800"/>
                  <a:pt x="123627" y="231800"/>
                </a:cubicBezTo>
                <a:cubicBezTo>
                  <a:pt x="132162" y="231800"/>
                  <a:pt x="139080" y="238719"/>
                  <a:pt x="139080" y="247254"/>
                </a:cubicBezTo>
                <a:lnTo>
                  <a:pt x="139080" y="262707"/>
                </a:lnTo>
                <a:cubicBezTo>
                  <a:pt x="139080" y="271242"/>
                  <a:pt x="145999" y="278160"/>
                  <a:pt x="154534" y="278160"/>
                </a:cubicBezTo>
                <a:moveTo>
                  <a:pt x="216347" y="278160"/>
                </a:moveTo>
                <a:cubicBezTo>
                  <a:pt x="224882" y="278160"/>
                  <a:pt x="231800" y="271242"/>
                  <a:pt x="231800" y="262707"/>
                </a:cubicBezTo>
                <a:lnTo>
                  <a:pt x="231800" y="247254"/>
                </a:lnTo>
                <a:cubicBezTo>
                  <a:pt x="231800" y="238719"/>
                  <a:pt x="238719" y="231800"/>
                  <a:pt x="247254" y="231800"/>
                </a:cubicBezTo>
                <a:cubicBezTo>
                  <a:pt x="238719" y="231800"/>
                  <a:pt x="231800" y="224882"/>
                  <a:pt x="231800" y="216347"/>
                </a:cubicBezTo>
                <a:lnTo>
                  <a:pt x="231800" y="200894"/>
                </a:lnTo>
                <a:cubicBezTo>
                  <a:pt x="231800" y="192359"/>
                  <a:pt x="224882" y="185440"/>
                  <a:pt x="216347" y="185440"/>
                </a:cubicBez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contrato es lo único compartido</a:t>
            </a:r>
            <a:endParaRPr lang="en-US" sz="15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SolicitudEnviada: eventoId, id y tipo, igual en los dos lados.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Equipos independientes con un acuerdo claro.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y Kubernetes: no compiten, se complementan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Docker construye la caja; Kubernetes la pone a correr y la cuida.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ship-wheel"/>
          <p:cNvSpPr/>
          <p:nvPr/>
        </p:nvSpPr>
        <p:spPr>
          <a:xfrm>
            <a:off x="900867" y="5911779"/>
            <a:ext cx="228234" cy="228234"/>
          </a:xfrm>
          <a:custGeom>
            <a:avLst/>
            <a:gdLst/>
            <a:ahLst/>
            <a:cxnLst/>
            <a:rect l="l" t="t" r="r" b="b"/>
            <a:pathLst>
              <a:path w="228234" h="228234">
                <a:moveTo>
                  <a:pt x="190195" y="114117"/>
                </a:moveTo>
                <a:cubicBezTo>
                  <a:pt x="190195" y="156134"/>
                  <a:pt x="156134" y="190195"/>
                  <a:pt x="114117" y="190195"/>
                </a:cubicBezTo>
                <a:cubicBezTo>
                  <a:pt x="72100" y="190195"/>
                  <a:pt x="38039" y="156134"/>
                  <a:pt x="38039" y="114117"/>
                </a:cubicBezTo>
                <a:cubicBezTo>
                  <a:pt x="38039" y="72100"/>
                  <a:pt x="72100" y="38039"/>
                  <a:pt x="114117" y="38039"/>
                </a:cubicBezTo>
                <a:cubicBezTo>
                  <a:pt x="156134" y="38039"/>
                  <a:pt x="190195" y="72100"/>
                  <a:pt x="190195" y="114117"/>
                </a:cubicBezTo>
                <a:close/>
                <a:moveTo>
                  <a:pt x="114117" y="19020"/>
                </a:moveTo>
                <a:lnTo>
                  <a:pt x="114117" y="90343"/>
                </a:lnTo>
                <a:moveTo>
                  <a:pt x="180685" y="47549"/>
                </a:moveTo>
                <a:lnTo>
                  <a:pt x="130949" y="97285"/>
                </a:lnTo>
                <a:moveTo>
                  <a:pt x="209215" y="114117"/>
                </a:moveTo>
                <a:lnTo>
                  <a:pt x="137892" y="114117"/>
                </a:lnTo>
                <a:moveTo>
                  <a:pt x="180685" y="180685"/>
                </a:moveTo>
                <a:lnTo>
                  <a:pt x="130949" y="130949"/>
                </a:lnTo>
                <a:moveTo>
                  <a:pt x="114117" y="137892"/>
                </a:moveTo>
                <a:lnTo>
                  <a:pt x="114117" y="209215"/>
                </a:lnTo>
                <a:moveTo>
                  <a:pt x="97285" y="130949"/>
                </a:moveTo>
                <a:lnTo>
                  <a:pt x="47549" y="180685"/>
                </a:lnTo>
                <a:moveTo>
                  <a:pt x="90343" y="114117"/>
                </a:moveTo>
                <a:lnTo>
                  <a:pt x="19020" y="114117"/>
                </a:lnTo>
                <a:moveTo>
                  <a:pt x="97285" y="97285"/>
                </a:moveTo>
                <a:lnTo>
                  <a:pt x="47549" y="47549"/>
                </a:lnTo>
                <a:moveTo>
                  <a:pt x="137892" y="114117"/>
                </a:moveTo>
                <a:cubicBezTo>
                  <a:pt x="137892" y="127247"/>
                  <a:pt x="127247" y="137892"/>
                  <a:pt x="114117" y="137892"/>
                </a:cubicBezTo>
                <a:cubicBezTo>
                  <a:pt x="100987" y="137892"/>
                  <a:pt x="90343" y="127247"/>
                  <a:pt x="90343" y="114117"/>
                </a:cubicBezTo>
                <a:cubicBezTo>
                  <a:pt x="90343" y="100987"/>
                  <a:pt x="100987" y="90343"/>
                  <a:pt x="114117" y="90343"/>
                </a:cubicBezTo>
                <a:cubicBezTo>
                  <a:pt x="127247" y="90343"/>
                  <a:pt x="137892" y="100987"/>
                  <a:pt x="137892" y="11411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el transporte de carga: Docker es el contenedor estándar y Kubernetes, el puerto que los acomoda, los vigila y reemplaza el que se daña.</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6E8A"/>
          </a:solidFill>
          <a:ln w="12700">
            <a:solidFill>
              <a:srgbClr val="0B6E8A"/>
            </a:solidFill>
            <a:prstDash val="solid"/>
          </a:ln>
        </p:spPr>
      </p:sp>
      <p:sp>
        <p:nvSpPr>
          <p:cNvPr id="19" name="Shape 17"/>
          <p:cNvSpPr/>
          <p:nvPr/>
        </p:nvSpPr>
        <p:spPr>
          <a:xfrm>
            <a:off x="612648" y="2267712"/>
            <a:ext cx="5163160" cy="365760"/>
          </a:xfrm>
          <a:prstGeom prst="rect">
            <a:avLst/>
          </a:prstGeom>
          <a:solidFill>
            <a:srgbClr val="0B6E8A"/>
          </a:solidFill>
          <a:ln w="12700">
            <a:solidFill>
              <a:srgbClr val="0B6E8A"/>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container"/>
          <p:cNvSpPr/>
          <p:nvPr/>
        </p:nvSpPr>
        <p:spPr>
          <a:xfrm>
            <a:off x="986089" y="2019361"/>
            <a:ext cx="313822" cy="313822"/>
          </a:xfrm>
          <a:custGeom>
            <a:avLst/>
            <a:gdLst/>
            <a:ahLst/>
            <a:cxnLst/>
            <a:rect l="l" t="t" r="r" b="b"/>
            <a:pathLst>
              <a:path w="313822" h="313822">
                <a:moveTo>
                  <a:pt x="287670" y="100685"/>
                </a:moveTo>
                <a:cubicBezTo>
                  <a:pt x="287670" y="92839"/>
                  <a:pt x="282440" y="84993"/>
                  <a:pt x="277210" y="81071"/>
                </a:cubicBezTo>
                <a:lnTo>
                  <a:pt x="194831" y="30075"/>
                </a:lnTo>
                <a:cubicBezTo>
                  <a:pt x="187939" y="26157"/>
                  <a:pt x="179494" y="26157"/>
                  <a:pt x="172602" y="30075"/>
                </a:cubicBezTo>
                <a:lnTo>
                  <a:pt x="37920" y="108530"/>
                </a:lnTo>
                <a:cubicBezTo>
                  <a:pt x="31382" y="111145"/>
                  <a:pt x="26152" y="118991"/>
                  <a:pt x="26152" y="126836"/>
                </a:cubicBezTo>
                <a:lnTo>
                  <a:pt x="26152" y="213137"/>
                </a:lnTo>
                <a:cubicBezTo>
                  <a:pt x="26152" y="219675"/>
                  <a:pt x="31382" y="228829"/>
                  <a:pt x="36613" y="232751"/>
                </a:cubicBezTo>
                <a:lnTo>
                  <a:pt x="118991" y="283747"/>
                </a:lnTo>
                <a:cubicBezTo>
                  <a:pt x="125883" y="287665"/>
                  <a:pt x="134328" y="287665"/>
                  <a:pt x="141220" y="283747"/>
                </a:cubicBezTo>
                <a:lnTo>
                  <a:pt x="275902" y="205292"/>
                </a:lnTo>
                <a:cubicBezTo>
                  <a:pt x="282440" y="201369"/>
                  <a:pt x="287670" y="192216"/>
                  <a:pt x="287670" y="185678"/>
                </a:cubicBezTo>
                <a:close/>
                <a:moveTo>
                  <a:pt x="130759" y="286363"/>
                </a:moveTo>
                <a:lnTo>
                  <a:pt x="130759" y="183063"/>
                </a:lnTo>
                <a:lnTo>
                  <a:pt x="27459" y="118991"/>
                </a:lnTo>
                <a:moveTo>
                  <a:pt x="130759" y="183063"/>
                </a:moveTo>
                <a:lnTo>
                  <a:pt x="286363" y="92839"/>
                </a:lnTo>
                <a:moveTo>
                  <a:pt x="183063" y="258903"/>
                </a:moveTo>
                <a:lnTo>
                  <a:pt x="183063" y="152988"/>
                </a:lnTo>
                <a:moveTo>
                  <a:pt x="235367" y="228829"/>
                </a:moveTo>
                <a:lnTo>
                  <a:pt x="235367" y="122914"/>
                </a:lnTo>
              </a:path>
            </a:pathLst>
          </a:custGeom>
          <a:noFill/>
          <a:ln w="26152" cap="rnd">
            <a:solidFill>
              <a:srgbClr val="0B6E8A"/>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Docker: empaqueta</a:t>
            </a:r>
            <a:endParaRPr lang="en-US" sz="1900" dirty="0"/>
          </a:p>
        </p:txBody>
      </p:sp>
      <p:sp>
        <p:nvSpPr>
          <p:cNvPr id="23" name="Icono circle-check"/>
          <p:cNvSpPr/>
          <p:nvPr/>
        </p:nvSpPr>
        <p:spPr>
          <a:xfrm>
            <a:off x="90525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4" name="Text 22"/>
          <p:cNvSpPr/>
          <p:nvPr/>
        </p:nvSpPr>
        <p:spPr>
          <a:xfrm>
            <a:off x="139903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Mete la app con Java y todo lo que usa</a:t>
            </a:r>
            <a:endParaRPr lang="en-US" sz="1500" dirty="0"/>
          </a:p>
        </p:txBody>
      </p:sp>
      <p:sp>
        <p:nvSpPr>
          <p:cNvPr id="25" name="Shape 23"/>
          <p:cNvSpPr/>
          <p:nvPr/>
        </p:nvSpPr>
        <p:spPr>
          <a:xfrm>
            <a:off x="886968" y="3479292"/>
            <a:ext cx="4614520" cy="0"/>
          </a:xfrm>
          <a:prstGeom prst="line">
            <a:avLst/>
          </a:prstGeom>
          <a:noFill/>
          <a:ln w="9525">
            <a:solidFill>
              <a:srgbClr val="DFE6F0"/>
            </a:solidFill>
            <a:prstDash val="solid"/>
          </a:ln>
        </p:spPr>
      </p:sp>
      <p:sp>
        <p:nvSpPr>
          <p:cNvPr id="26" name="Icono circle-check"/>
          <p:cNvSpPr/>
          <p:nvPr/>
        </p:nvSpPr>
        <p:spPr>
          <a:xfrm>
            <a:off x="90525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7" name="Text 25"/>
          <p:cNvSpPr/>
          <p:nvPr/>
        </p:nvSpPr>
        <p:spPr>
          <a:xfrm>
            <a:off x="139903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Crea una imagen que no cambia</a:t>
            </a:r>
            <a:endParaRPr lang="en-US" sz="1500" dirty="0"/>
          </a:p>
        </p:txBody>
      </p:sp>
      <p:sp>
        <p:nvSpPr>
          <p:cNvPr id="28" name="Shape 26"/>
          <p:cNvSpPr/>
          <p:nvPr/>
        </p:nvSpPr>
        <p:spPr>
          <a:xfrm>
            <a:off x="886968" y="4142232"/>
            <a:ext cx="4614520" cy="0"/>
          </a:xfrm>
          <a:prstGeom prst="line">
            <a:avLst/>
          </a:prstGeom>
          <a:noFill/>
          <a:ln w="9525">
            <a:solidFill>
              <a:srgbClr val="DFE6F0"/>
            </a:solidFill>
            <a:prstDash val="solid"/>
          </a:ln>
        </p:spPr>
      </p:sp>
      <p:sp>
        <p:nvSpPr>
          <p:cNvPr id="29" name="Icono circle-check"/>
          <p:cNvSpPr/>
          <p:nvPr/>
        </p:nvSpPr>
        <p:spPr>
          <a:xfrm>
            <a:off x="90525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0" name="Text 28"/>
          <p:cNvSpPr/>
          <p:nvPr/>
        </p:nvSpPr>
        <p:spPr>
          <a:xfrm>
            <a:off x="139903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Corre igual en una laptop o en un servidor</a:t>
            </a:r>
            <a:endParaRPr lang="en-US" sz="1500" dirty="0"/>
          </a:p>
        </p:txBody>
      </p:sp>
      <p:sp>
        <p:nvSpPr>
          <p:cNvPr id="31" name="Shape 29"/>
          <p:cNvSpPr/>
          <p:nvPr/>
        </p:nvSpPr>
        <p:spPr>
          <a:xfrm>
            <a:off x="886968" y="4805172"/>
            <a:ext cx="4614520" cy="0"/>
          </a:xfrm>
          <a:prstGeom prst="line">
            <a:avLst/>
          </a:prstGeom>
          <a:noFill/>
          <a:ln w="9525">
            <a:solidFill>
              <a:srgbClr val="DFE6F0"/>
            </a:solidFill>
            <a:prstDash val="solid"/>
          </a:ln>
        </p:spPr>
      </p:sp>
      <p:sp>
        <p:nvSpPr>
          <p:cNvPr id="32" name="Icono circle-check"/>
          <p:cNvSpPr/>
          <p:nvPr/>
        </p:nvSpPr>
        <p:spPr>
          <a:xfrm>
            <a:off x="90525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3" name="Text 31"/>
          <p:cNvSpPr/>
          <p:nvPr/>
        </p:nvSpPr>
        <p:spPr>
          <a:xfrm>
            <a:off x="139903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Compose levanta varias cajas juntas</a:t>
            </a:r>
            <a:endParaRPr lang="en-US" sz="1500" dirty="0"/>
          </a:p>
        </p:txBody>
      </p:sp>
      <p:sp>
        <p:nvSpPr>
          <p:cNvPr id="34"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1] Forma"/>
          <p:cNvSpPr/>
          <p:nvPr/>
        </p:nvSpPr>
        <p:spPr>
          <a:xfrm>
            <a:off x="6415888" y="1719072"/>
            <a:ext cx="5163160" cy="914400"/>
          </a:xfrm>
          <a:prstGeom prst="roundRect">
            <a:avLst>
              <a:gd name="adj" fmla="val 14000"/>
            </a:avLst>
          </a:prstGeom>
          <a:solidFill>
            <a:srgbClr val="0A6648"/>
          </a:solidFill>
          <a:ln w="12700">
            <a:solidFill>
              <a:srgbClr val="0A6648"/>
            </a:solidFill>
            <a:prstDash val="solid"/>
          </a:ln>
        </p:spPr>
      </p:sp>
      <p:sp>
        <p:nvSpPr>
          <p:cNvPr id="36" name="[p1] Forma"/>
          <p:cNvSpPr/>
          <p:nvPr/>
        </p:nvSpPr>
        <p:spPr>
          <a:xfrm>
            <a:off x="6415888" y="2267712"/>
            <a:ext cx="5163160" cy="365760"/>
          </a:xfrm>
          <a:prstGeom prst="rect">
            <a:avLst/>
          </a:prstGeom>
          <a:solidFill>
            <a:srgbClr val="0A6648"/>
          </a:solidFill>
          <a:ln w="12700">
            <a:solidFill>
              <a:srgbClr val="0A6648"/>
            </a:solidFill>
            <a:prstDash val="solid"/>
          </a:ln>
        </p:spPr>
      </p:sp>
      <p:sp>
        <p:nvSpPr>
          <p:cNvPr id="37"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8" name="[p1] Icono ship-wheel"/>
          <p:cNvSpPr/>
          <p:nvPr/>
        </p:nvSpPr>
        <p:spPr>
          <a:xfrm>
            <a:off x="6789329" y="2019361"/>
            <a:ext cx="313822" cy="313822"/>
          </a:xfrm>
          <a:custGeom>
            <a:avLst/>
            <a:gdLst/>
            <a:ahLst/>
            <a:cxnLst/>
            <a:rect l="l" t="t" r="r" b="b"/>
            <a:pathLst>
              <a:path w="313822" h="313822">
                <a:moveTo>
                  <a:pt x="261518" y="156911"/>
                </a:moveTo>
                <a:cubicBezTo>
                  <a:pt x="261518" y="214684"/>
                  <a:pt x="214684" y="261518"/>
                  <a:pt x="156911" y="261518"/>
                </a:cubicBezTo>
                <a:cubicBezTo>
                  <a:pt x="99138" y="261518"/>
                  <a:pt x="52304" y="214684"/>
                  <a:pt x="52304" y="156911"/>
                </a:cubicBezTo>
                <a:cubicBezTo>
                  <a:pt x="52304" y="99138"/>
                  <a:pt x="99138" y="52304"/>
                  <a:pt x="156911" y="52304"/>
                </a:cubicBezTo>
                <a:cubicBezTo>
                  <a:pt x="214684" y="52304"/>
                  <a:pt x="261518" y="99138"/>
                  <a:pt x="261518" y="156911"/>
                </a:cubicBezTo>
                <a:close/>
                <a:moveTo>
                  <a:pt x="156911" y="26152"/>
                </a:moveTo>
                <a:lnTo>
                  <a:pt x="156911" y="124221"/>
                </a:lnTo>
                <a:moveTo>
                  <a:pt x="248442" y="65380"/>
                </a:moveTo>
                <a:lnTo>
                  <a:pt x="180055" y="133767"/>
                </a:lnTo>
                <a:moveTo>
                  <a:pt x="287670" y="156911"/>
                </a:moveTo>
                <a:lnTo>
                  <a:pt x="189601" y="156911"/>
                </a:lnTo>
                <a:moveTo>
                  <a:pt x="248442" y="248442"/>
                </a:moveTo>
                <a:lnTo>
                  <a:pt x="180055" y="180055"/>
                </a:lnTo>
                <a:moveTo>
                  <a:pt x="156911" y="189601"/>
                </a:moveTo>
                <a:lnTo>
                  <a:pt x="156911" y="287670"/>
                </a:lnTo>
                <a:moveTo>
                  <a:pt x="133767" y="180055"/>
                </a:moveTo>
                <a:lnTo>
                  <a:pt x="65380" y="248442"/>
                </a:lnTo>
                <a:moveTo>
                  <a:pt x="124221" y="156911"/>
                </a:moveTo>
                <a:lnTo>
                  <a:pt x="26152" y="156911"/>
                </a:lnTo>
                <a:moveTo>
                  <a:pt x="133767" y="133767"/>
                </a:moveTo>
                <a:lnTo>
                  <a:pt x="65380" y="65380"/>
                </a:lnTo>
                <a:moveTo>
                  <a:pt x="189601" y="156911"/>
                </a:moveTo>
                <a:cubicBezTo>
                  <a:pt x="189601" y="174965"/>
                  <a:pt x="174965" y="189601"/>
                  <a:pt x="156911" y="189601"/>
                </a:cubicBezTo>
                <a:cubicBezTo>
                  <a:pt x="138857" y="189601"/>
                  <a:pt x="124221" y="174965"/>
                  <a:pt x="124221" y="156911"/>
                </a:cubicBezTo>
                <a:cubicBezTo>
                  <a:pt x="124221" y="138857"/>
                  <a:pt x="138857" y="124221"/>
                  <a:pt x="156911" y="124221"/>
                </a:cubicBezTo>
                <a:cubicBezTo>
                  <a:pt x="174965" y="124221"/>
                  <a:pt x="189601" y="138857"/>
                  <a:pt x="189601" y="156911"/>
                </a:cubicBezTo>
                <a:close/>
              </a:path>
            </a:pathLst>
          </a:custGeom>
          <a:noFill/>
          <a:ln w="26152" cap="rnd">
            <a:solidFill>
              <a:srgbClr val="0A6648"/>
            </a:solidFill>
            <a:prstDash val="solid"/>
            <a:round/>
          </a:ln>
        </p:spPr>
      </p:sp>
      <p:sp>
        <p:nvSpPr>
          <p:cNvPr id="39"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Kubernetes: administra</a:t>
            </a:r>
            <a:endParaRPr lang="en-US" sz="1900" dirty="0"/>
          </a:p>
        </p:txBody>
      </p:sp>
      <p:sp>
        <p:nvSpPr>
          <p:cNvPr id="40" name="[p1] Icono circle-check"/>
          <p:cNvSpPr/>
          <p:nvPr/>
        </p:nvSpPr>
        <p:spPr>
          <a:xfrm>
            <a:off x="670849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1" name="[p1] Forma"/>
          <p:cNvSpPr/>
          <p:nvPr/>
        </p:nvSpPr>
        <p:spPr>
          <a:xfrm>
            <a:off x="720227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Decide dónde corre cada caja</a:t>
            </a:r>
            <a:endParaRPr lang="en-US" sz="1500" dirty="0"/>
          </a:p>
        </p:txBody>
      </p:sp>
      <p:sp>
        <p:nvSpPr>
          <p:cNvPr id="42" name="[p1] Forma"/>
          <p:cNvSpPr/>
          <p:nvPr/>
        </p:nvSpPr>
        <p:spPr>
          <a:xfrm>
            <a:off x="6690208" y="3479292"/>
            <a:ext cx="4614520" cy="0"/>
          </a:xfrm>
          <a:prstGeom prst="line">
            <a:avLst/>
          </a:prstGeom>
          <a:noFill/>
          <a:ln w="9525">
            <a:solidFill>
              <a:srgbClr val="DFE6F0"/>
            </a:solidFill>
            <a:prstDash val="solid"/>
          </a:ln>
        </p:spPr>
      </p:sp>
      <p:sp>
        <p:nvSpPr>
          <p:cNvPr id="43" name="[p1] Icono circle-check"/>
          <p:cNvSpPr/>
          <p:nvPr/>
        </p:nvSpPr>
        <p:spPr>
          <a:xfrm>
            <a:off x="670849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4" name="[p1] Forma"/>
          <p:cNvSpPr/>
          <p:nvPr/>
        </p:nvSpPr>
        <p:spPr>
          <a:xfrm>
            <a:off x="720227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una se cae, levanta otra</a:t>
            </a:r>
            <a:endParaRPr lang="en-US" sz="1500" dirty="0"/>
          </a:p>
        </p:txBody>
      </p:sp>
      <p:sp>
        <p:nvSpPr>
          <p:cNvPr id="45" name="[p1] Forma"/>
          <p:cNvSpPr/>
          <p:nvPr/>
        </p:nvSpPr>
        <p:spPr>
          <a:xfrm>
            <a:off x="6690208" y="4142232"/>
            <a:ext cx="4614520" cy="0"/>
          </a:xfrm>
          <a:prstGeom prst="line">
            <a:avLst/>
          </a:prstGeom>
          <a:noFill/>
          <a:ln w="9525">
            <a:solidFill>
              <a:srgbClr val="DFE6F0"/>
            </a:solidFill>
            <a:prstDash val="solid"/>
          </a:ln>
        </p:spPr>
      </p:sp>
      <p:sp>
        <p:nvSpPr>
          <p:cNvPr id="46" name="[p1] Icono circle-check"/>
          <p:cNvSpPr/>
          <p:nvPr/>
        </p:nvSpPr>
        <p:spPr>
          <a:xfrm>
            <a:off x="670849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7" name="[p1] Forma"/>
          <p:cNvSpPr/>
          <p:nvPr/>
        </p:nvSpPr>
        <p:spPr>
          <a:xfrm>
            <a:off x="720227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Le da a cada servicio un nombre fijo</a:t>
            </a:r>
            <a:endParaRPr lang="en-US" sz="1500" dirty="0"/>
          </a:p>
        </p:txBody>
      </p:sp>
      <p:sp>
        <p:nvSpPr>
          <p:cNvPr id="48" name="[p1] Forma"/>
          <p:cNvSpPr/>
          <p:nvPr/>
        </p:nvSpPr>
        <p:spPr>
          <a:xfrm>
            <a:off x="6690208" y="4805172"/>
            <a:ext cx="4614520" cy="0"/>
          </a:xfrm>
          <a:prstGeom prst="line">
            <a:avLst/>
          </a:prstGeom>
          <a:noFill/>
          <a:ln w="9525">
            <a:solidFill>
              <a:srgbClr val="DFE6F0"/>
            </a:solidFill>
            <a:prstDash val="solid"/>
          </a:ln>
        </p:spPr>
      </p:sp>
      <p:sp>
        <p:nvSpPr>
          <p:cNvPr id="49" name="[p1] Icono circle-check"/>
          <p:cNvSpPr/>
          <p:nvPr/>
        </p:nvSpPr>
        <p:spPr>
          <a:xfrm>
            <a:off x="670849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50" name="[p1] Forma"/>
          <p:cNvSpPr/>
          <p:nvPr/>
        </p:nvSpPr>
        <p:spPr>
          <a:xfrm>
            <a:off x="720227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Puede correr más copias si hay carga</a:t>
            </a:r>
            <a:endParaRPr lang="en-US" sz="1500" dirty="0"/>
          </a:p>
        </p:txBody>
      </p:sp>
      <p:sp>
        <p:nvSpPr>
          <p:cNvPr id="51" name="[p1] Forma"/>
          <p:cNvSpPr/>
          <p:nvPr/>
        </p:nvSpPr>
        <p:spPr>
          <a:xfrm>
            <a:off x="5766664" y="3287268"/>
            <a:ext cx="658368" cy="658368"/>
          </a:xfrm>
          <a:prstGeom prst="ellipse">
            <a:avLst/>
          </a:prstGeom>
          <a:solidFill>
            <a:srgbClr val="2BA6CB"/>
          </a:solidFill>
          <a:ln w="38100">
            <a:solidFill>
              <a:srgbClr val="FFFFFF"/>
            </a:solidFill>
          </a:ln>
          <a:effectLst>
            <a:outerShdw sx="100000" sy="100000" kx="0" ky="0" algn="bl" rotWithShape="0" blurRad="114300" dist="50800" dir="16200000">
              <a:srgbClr val="2BA6CB">
                <a:alpha val="60000"/>
              </a:srgbClr>
            </a:outerShdw>
          </a:effectLst>
        </p:spPr>
        <p:txBody>
          <a:bodyPr wrap="square" lIns="0" tIns="0" rIns="0" bIns="0" rtlCol="0" anchor="ctr"/>
          <a:lstStyle/>
          <a:p>
            <a:pPr algn="ctr" indent="0" marL="0">
              <a:buNone/>
            </a:pPr>
            <a:r>
              <a:rPr lang="en-US" sz="2800" b="1" dirty="0">
                <a:solidFill>
                  <a:srgbClr val="0B1F3A"/>
                </a:solidFill>
                <a:latin typeface="Segoe UI Semibold" pitchFamily="34" charset="0"/>
                <a:ea typeface="Segoe UI Semibold" pitchFamily="34" charset="-122"/>
                <a:cs typeface="Segoe UI Semibold" pitchFamily="34" charset="-120"/>
              </a:rPr>
              <a:t>+</a:t>
            </a:r>
            <a:endParaRPr lang="en-US" sz="28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4"/>
                                        </p:tgtEl>
                                        <p:attrNameLst>
                                          <p:attrName>style.visibility</p:attrName>
                                        </p:attrNameLst>
                                      </p:cBhvr>
                                      <p:to>
                                        <p:strVal val="visible"/>
                                      </p:to>
                                    </p:set>
                                    <p:animEffect transition="in" filter="fade">
                                      <p:cBhvr>
                                        <p:cTn id="5" dur="400"/>
                                        <p:tgtEl>
                                          <p:spTgt spid="3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400"/>
                                        <p:tgtEl>
                                          <p:spTgt spid="3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400"/>
                                        <p:tgtEl>
                                          <p:spTgt spid="3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7"/>
                                        </p:tgtEl>
                                        <p:attrNameLst>
                                          <p:attrName>style.visibility</p:attrName>
                                        </p:attrNameLst>
                                      </p:cBhvr>
                                      <p:to>
                                        <p:strVal val="visible"/>
                                      </p:to>
                                    </p:set>
                                    <p:animEffect transition="in" filter="fade">
                                      <p:cBhvr>
                                        <p:cTn id="14" dur="400"/>
                                        <p:tgtEl>
                                          <p:spTgt spid="3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fade">
                                      <p:cBhvr>
                                        <p:cTn id="20" dur="400"/>
                                        <p:tgtEl>
                                          <p:spTgt spid="3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animEffect transition="in" filter="fade">
                                      <p:cBhvr>
                                        <p:cTn id="23" dur="400"/>
                                        <p:tgtEl>
                                          <p:spTgt spid="4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fade">
                                      <p:cBhvr>
                                        <p:cTn id="26" dur="400"/>
                                        <p:tgtEl>
                                          <p:spTgt spid="4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400"/>
                                        <p:tgtEl>
                                          <p:spTgt spid="4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400"/>
                                        <p:tgtEl>
                                          <p:spTgt spid="4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5"/>
                                        </p:tgtEl>
                                        <p:attrNameLst>
                                          <p:attrName>style.visibility</p:attrName>
                                        </p:attrNameLst>
                                      </p:cBhvr>
                                      <p:to>
                                        <p:strVal val="visible"/>
                                      </p:to>
                                    </p:set>
                                    <p:animEffect transition="in" filter="fade">
                                      <p:cBhvr>
                                        <p:cTn id="38" dur="400"/>
                                        <p:tgtEl>
                                          <p:spTgt spid="4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4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4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4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400"/>
                                        <p:tgtEl>
                                          <p:spTgt spid="5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1"/>
                                        </p:tgtEl>
                                        <p:attrNameLst>
                                          <p:attrName>style.visibility</p:attrName>
                                        </p:attrNameLst>
                                      </p:cBhvr>
                                      <p:to>
                                        <p:strVal val="visible"/>
                                      </p:to>
                                    </p:set>
                                    <p:animEffect transition="in" filter="fade">
                                      <p:cBhvr>
                                        <p:cTn id="56"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código a contenedor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Una receta que da el mismo resultado en cualquier computadora.</a:t>
            </a:r>
            <a:endParaRPr lang="en-US" sz="1700" dirty="0"/>
          </a:p>
        </p:txBody>
      </p:sp>
      <p:sp>
        <p:nvSpPr>
          <p:cNvPr id="13" name="Shape 11"/>
          <p:cNvSpPr/>
          <p:nvPr/>
        </p:nvSpPr>
        <p:spPr>
          <a:xfrm>
            <a:off x="12519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file-code"/>
          <p:cNvSpPr/>
          <p:nvPr/>
        </p:nvSpPr>
        <p:spPr>
          <a:xfrm>
            <a:off x="1588427" y="2901391"/>
            <a:ext cx="790042" cy="790042"/>
          </a:xfrm>
          <a:custGeom>
            <a:avLst/>
            <a:gdLst/>
            <a:ahLst/>
            <a:cxnLst/>
            <a:rect l="l" t="t" r="r" b="b"/>
            <a:pathLst>
              <a:path w="790042" h="790042">
                <a:moveTo>
                  <a:pt x="329184" y="411480"/>
                </a:moveTo>
                <a:lnTo>
                  <a:pt x="263347" y="493776"/>
                </a:lnTo>
                <a:lnTo>
                  <a:pt x="329184" y="576072"/>
                </a:lnTo>
                <a:moveTo>
                  <a:pt x="460858" y="411480"/>
                </a:moveTo>
                <a:lnTo>
                  <a:pt x="526694" y="493776"/>
                </a:lnTo>
                <a:lnTo>
                  <a:pt x="460858" y="576072"/>
                </a:lnTo>
                <a:moveTo>
                  <a:pt x="460858" y="65837"/>
                </a:moveTo>
                <a:lnTo>
                  <a:pt x="460858" y="197510"/>
                </a:lnTo>
                <a:cubicBezTo>
                  <a:pt x="460858" y="233871"/>
                  <a:pt x="490334" y="263347"/>
                  <a:pt x="526694" y="263347"/>
                </a:cubicBezTo>
                <a:lnTo>
                  <a:pt x="658368" y="263347"/>
                </a:lnTo>
                <a:moveTo>
                  <a:pt x="493776" y="65837"/>
                </a:moveTo>
                <a:lnTo>
                  <a:pt x="197510" y="65837"/>
                </a:lnTo>
                <a:cubicBezTo>
                  <a:pt x="161150" y="65837"/>
                  <a:pt x="131674" y="95313"/>
                  <a:pt x="131674" y="131674"/>
                </a:cubicBezTo>
                <a:lnTo>
                  <a:pt x="131674" y="658368"/>
                </a:lnTo>
                <a:cubicBezTo>
                  <a:pt x="131674" y="694729"/>
                  <a:pt x="161150" y="724205"/>
                  <a:pt x="197510" y="724205"/>
                </a:cubicBezTo>
                <a:lnTo>
                  <a:pt x="592531" y="724205"/>
                </a:lnTo>
                <a:cubicBezTo>
                  <a:pt x="628892" y="724205"/>
                  <a:pt x="658368" y="694729"/>
                  <a:pt x="658368" y="658368"/>
                </a:cubicBezTo>
                <a:lnTo>
                  <a:pt x="658368" y="230429"/>
                </a:lnTo>
                <a:close/>
              </a:path>
            </a:pathLst>
          </a:custGeom>
          <a:noFill/>
          <a:ln w="57607" cap="rnd">
            <a:solidFill>
              <a:srgbClr val="0B2350"/>
            </a:solidFill>
            <a:prstDash val="solid"/>
            <a:round/>
          </a:ln>
        </p:spPr>
      </p:sp>
      <p:sp>
        <p:nvSpPr>
          <p:cNvPr id="15" name="Text 13"/>
          <p:cNvSpPr/>
          <p:nvPr/>
        </p:nvSpPr>
        <p:spPr>
          <a:xfrm>
            <a:off x="12153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Dockerfile</a:t>
            </a:r>
            <a:endParaRPr lang="en-US" sz="1800" dirty="0"/>
          </a:p>
        </p:txBody>
      </p:sp>
      <p:sp>
        <p:nvSpPr>
          <p:cNvPr id="17" name="Text 15"/>
          <p:cNvSpPr/>
          <p:nvPr/>
        </p:nvSpPr>
        <p:spPr>
          <a:xfrm>
            <a:off x="7223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receta: qué instalar y qué copiar.</a:t>
            </a:r>
            <a:endParaRPr lang="en-US" sz="1400" dirty="0"/>
          </a:p>
        </p:txBody>
      </p:sp>
      <p:sp>
        <p:nvSpPr>
          <p:cNvPr id="18" name="[p1] Forma"/>
          <p:cNvSpPr/>
          <p:nvPr/>
        </p:nvSpPr>
        <p:spPr>
          <a:xfrm>
            <a:off x="2806408" y="3296412"/>
            <a:ext cx="1095680" cy="0"/>
          </a:xfrm>
          <a:prstGeom prst="line">
            <a:avLst/>
          </a:prstGeom>
          <a:noFill/>
          <a:ln w="38100">
            <a:solidFill>
              <a:srgbClr val="2BA6CB"/>
            </a:solidFill>
            <a:prstDash val="solid"/>
            <a:tailEnd type="triangle"/>
          </a:ln>
        </p:spPr>
      </p:sp>
      <p:sp>
        <p:nvSpPr>
          <p:cNvPr id="19" name="[p1] Forma"/>
          <p:cNvSpPr/>
          <p:nvPr/>
        </p:nvSpPr>
        <p:spPr>
          <a:xfrm>
            <a:off x="39935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ttings"/>
          <p:cNvSpPr/>
          <p:nvPr/>
        </p:nvSpPr>
        <p:spPr>
          <a:xfrm>
            <a:off x="4330027" y="2901391"/>
            <a:ext cx="790042" cy="790042"/>
          </a:xfrm>
          <a:custGeom>
            <a:avLst/>
            <a:gdLst/>
            <a:ahLst/>
            <a:cxnLst/>
            <a:rect l="l" t="t" r="r" b="b"/>
            <a:pathLst>
              <a:path w="790042" h="790042">
                <a:moveTo>
                  <a:pt x="402263" y="65837"/>
                </a:moveTo>
                <a:lnTo>
                  <a:pt x="387779" y="65837"/>
                </a:lnTo>
                <a:cubicBezTo>
                  <a:pt x="351418" y="65837"/>
                  <a:pt x="321942" y="95313"/>
                  <a:pt x="321942" y="131674"/>
                </a:cubicBezTo>
                <a:lnTo>
                  <a:pt x="321942" y="137599"/>
                </a:lnTo>
                <a:cubicBezTo>
                  <a:pt x="321918" y="161096"/>
                  <a:pt x="309373" y="182799"/>
                  <a:pt x="289024" y="194548"/>
                </a:cubicBezTo>
                <a:lnTo>
                  <a:pt x="274869" y="202777"/>
                </a:lnTo>
                <a:cubicBezTo>
                  <a:pt x="254499" y="214538"/>
                  <a:pt x="229402" y="214538"/>
                  <a:pt x="209032" y="202777"/>
                </a:cubicBezTo>
                <a:lnTo>
                  <a:pt x="204094" y="200144"/>
                </a:lnTo>
                <a:cubicBezTo>
                  <a:pt x="172638" y="181998"/>
                  <a:pt x="132428" y="192750"/>
                  <a:pt x="114227" y="224174"/>
                </a:cubicBezTo>
                <a:lnTo>
                  <a:pt x="106985" y="236683"/>
                </a:lnTo>
                <a:cubicBezTo>
                  <a:pt x="88839" y="268140"/>
                  <a:pt x="99591" y="308349"/>
                  <a:pt x="131015" y="326551"/>
                </a:cubicBezTo>
                <a:lnTo>
                  <a:pt x="135953" y="329842"/>
                </a:lnTo>
                <a:cubicBezTo>
                  <a:pt x="156201" y="341532"/>
                  <a:pt x="168730" y="363083"/>
                  <a:pt x="168871" y="386462"/>
                </a:cubicBezTo>
                <a:lnTo>
                  <a:pt x="168871" y="403250"/>
                </a:lnTo>
                <a:cubicBezTo>
                  <a:pt x="168965" y="426865"/>
                  <a:pt x="156404" y="448721"/>
                  <a:pt x="135953" y="460528"/>
                </a:cubicBezTo>
                <a:lnTo>
                  <a:pt x="131015" y="463491"/>
                </a:lnTo>
                <a:cubicBezTo>
                  <a:pt x="99591" y="481693"/>
                  <a:pt x="88839" y="521902"/>
                  <a:pt x="106985" y="553358"/>
                </a:cubicBezTo>
                <a:lnTo>
                  <a:pt x="114227" y="565867"/>
                </a:lnTo>
                <a:cubicBezTo>
                  <a:pt x="132428" y="597292"/>
                  <a:pt x="172638" y="608043"/>
                  <a:pt x="204094" y="589898"/>
                </a:cubicBezTo>
                <a:lnTo>
                  <a:pt x="209032" y="587264"/>
                </a:lnTo>
                <a:cubicBezTo>
                  <a:pt x="229402" y="575504"/>
                  <a:pt x="254499" y="575504"/>
                  <a:pt x="274869" y="587264"/>
                </a:cubicBezTo>
                <a:lnTo>
                  <a:pt x="289024" y="595494"/>
                </a:lnTo>
                <a:cubicBezTo>
                  <a:pt x="309373" y="607242"/>
                  <a:pt x="321918" y="628946"/>
                  <a:pt x="321942" y="652443"/>
                </a:cubicBezTo>
                <a:lnTo>
                  <a:pt x="321942" y="658368"/>
                </a:lnTo>
                <a:cubicBezTo>
                  <a:pt x="321942" y="694729"/>
                  <a:pt x="351418" y="724205"/>
                  <a:pt x="387779" y="724205"/>
                </a:cubicBezTo>
                <a:lnTo>
                  <a:pt x="402263" y="724205"/>
                </a:lnTo>
                <a:cubicBezTo>
                  <a:pt x="438624" y="724205"/>
                  <a:pt x="468100" y="694729"/>
                  <a:pt x="468100" y="658368"/>
                </a:cubicBezTo>
                <a:lnTo>
                  <a:pt x="468100" y="652443"/>
                </a:lnTo>
                <a:cubicBezTo>
                  <a:pt x="468124" y="628946"/>
                  <a:pt x="480669" y="607242"/>
                  <a:pt x="501018" y="595494"/>
                </a:cubicBezTo>
                <a:lnTo>
                  <a:pt x="515173" y="587264"/>
                </a:lnTo>
                <a:cubicBezTo>
                  <a:pt x="535543" y="575504"/>
                  <a:pt x="560640" y="575504"/>
                  <a:pt x="581010" y="587264"/>
                </a:cubicBezTo>
                <a:lnTo>
                  <a:pt x="585948" y="589898"/>
                </a:lnTo>
                <a:cubicBezTo>
                  <a:pt x="617404" y="608043"/>
                  <a:pt x="657613" y="597292"/>
                  <a:pt x="675815" y="565867"/>
                </a:cubicBezTo>
                <a:lnTo>
                  <a:pt x="683057" y="553029"/>
                </a:lnTo>
                <a:cubicBezTo>
                  <a:pt x="701203" y="521573"/>
                  <a:pt x="690451" y="481363"/>
                  <a:pt x="659026" y="463162"/>
                </a:cubicBezTo>
                <a:lnTo>
                  <a:pt x="654089" y="460528"/>
                </a:lnTo>
                <a:cubicBezTo>
                  <a:pt x="633637" y="448721"/>
                  <a:pt x="621076" y="426865"/>
                  <a:pt x="621170" y="403250"/>
                </a:cubicBezTo>
                <a:lnTo>
                  <a:pt x="621170" y="386791"/>
                </a:lnTo>
                <a:cubicBezTo>
                  <a:pt x="621076" y="363177"/>
                  <a:pt x="633637" y="341320"/>
                  <a:pt x="654089" y="329513"/>
                </a:cubicBezTo>
                <a:lnTo>
                  <a:pt x="659026" y="326551"/>
                </a:lnTo>
                <a:cubicBezTo>
                  <a:pt x="690451" y="308349"/>
                  <a:pt x="701203" y="268140"/>
                  <a:pt x="683057" y="236683"/>
                </a:cubicBezTo>
                <a:lnTo>
                  <a:pt x="675815" y="224174"/>
                </a:lnTo>
                <a:cubicBezTo>
                  <a:pt x="657613" y="192750"/>
                  <a:pt x="617404" y="181998"/>
                  <a:pt x="585948" y="200144"/>
                </a:cubicBezTo>
                <a:lnTo>
                  <a:pt x="581010" y="202777"/>
                </a:lnTo>
                <a:cubicBezTo>
                  <a:pt x="560640" y="214538"/>
                  <a:pt x="535543" y="214538"/>
                  <a:pt x="515173" y="202777"/>
                </a:cubicBezTo>
                <a:lnTo>
                  <a:pt x="501018" y="194548"/>
                </a:lnTo>
                <a:cubicBezTo>
                  <a:pt x="480669" y="182799"/>
                  <a:pt x="468124" y="161096"/>
                  <a:pt x="468100" y="137599"/>
                </a:cubicBezTo>
                <a:lnTo>
                  <a:pt x="468100" y="131674"/>
                </a:lnTo>
                <a:cubicBezTo>
                  <a:pt x="468100" y="95313"/>
                  <a:pt x="438624" y="65837"/>
                  <a:pt x="402263" y="65837"/>
                </a:cubicBezTo>
                <a:close/>
                <a:moveTo>
                  <a:pt x="493776" y="395021"/>
                </a:moveTo>
                <a:cubicBezTo>
                  <a:pt x="493776" y="449562"/>
                  <a:pt x="449562" y="493776"/>
                  <a:pt x="395021" y="493776"/>
                </a:cubicBezTo>
                <a:cubicBezTo>
                  <a:pt x="340480" y="493776"/>
                  <a:pt x="296266" y="449562"/>
                  <a:pt x="296266" y="395021"/>
                </a:cubicBezTo>
                <a:cubicBezTo>
                  <a:pt x="296266" y="340480"/>
                  <a:pt x="340480" y="296266"/>
                  <a:pt x="395021" y="296266"/>
                </a:cubicBezTo>
                <a:cubicBezTo>
                  <a:pt x="449562" y="296266"/>
                  <a:pt x="493776" y="340480"/>
                  <a:pt x="493776" y="395021"/>
                </a:cubicBezTo>
                <a:close/>
              </a:path>
            </a:pathLst>
          </a:custGeom>
          <a:noFill/>
          <a:ln w="57607" cap="rnd">
            <a:solidFill>
              <a:srgbClr val="0B2350"/>
            </a:solidFill>
            <a:prstDash val="solid"/>
            <a:round/>
          </a:ln>
        </p:spPr>
      </p:sp>
      <p:sp>
        <p:nvSpPr>
          <p:cNvPr id="21" name="[p1] Forma"/>
          <p:cNvSpPr/>
          <p:nvPr/>
        </p:nvSpPr>
        <p:spPr>
          <a:xfrm>
            <a:off x="39569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Etapa build</a:t>
            </a:r>
            <a:endParaRPr lang="en-US" sz="1800" dirty="0"/>
          </a:p>
        </p:txBody>
      </p:sp>
      <p:sp>
        <p:nvSpPr>
          <p:cNvPr id="23" name="[p1] Forma"/>
          <p:cNvSpPr/>
          <p:nvPr/>
        </p:nvSpPr>
        <p:spPr>
          <a:xfrm>
            <a:off x="34639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Compila el JAR con Maven.</a:t>
            </a:r>
            <a:endParaRPr lang="en-US" sz="1400" dirty="0"/>
          </a:p>
        </p:txBody>
      </p:sp>
      <p:sp>
        <p:nvSpPr>
          <p:cNvPr id="24" name="[p2] Forma"/>
          <p:cNvSpPr/>
          <p:nvPr/>
        </p:nvSpPr>
        <p:spPr>
          <a:xfrm>
            <a:off x="5548008" y="3296412"/>
            <a:ext cx="1095680" cy="0"/>
          </a:xfrm>
          <a:prstGeom prst="line">
            <a:avLst/>
          </a:prstGeom>
          <a:noFill/>
          <a:ln w="38100">
            <a:solidFill>
              <a:srgbClr val="2BA6CB"/>
            </a:solidFill>
            <a:prstDash val="solid"/>
            <a:tailEnd type="triangle"/>
          </a:ln>
        </p:spPr>
      </p:sp>
      <p:sp>
        <p:nvSpPr>
          <p:cNvPr id="25" name="[p2] Forma"/>
          <p:cNvSpPr/>
          <p:nvPr/>
        </p:nvSpPr>
        <p:spPr>
          <a:xfrm>
            <a:off x="6735128" y="2564892"/>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package"/>
          <p:cNvSpPr/>
          <p:nvPr/>
        </p:nvSpPr>
        <p:spPr>
          <a:xfrm>
            <a:off x="7071627" y="2901391"/>
            <a:ext cx="790042" cy="790042"/>
          </a:xfrm>
          <a:custGeom>
            <a:avLst/>
            <a:gdLst/>
            <a:ahLst/>
            <a:cxnLst/>
            <a:rect l="l" t="t" r="r" b="b"/>
            <a:pathLst>
              <a:path w="790042" h="790042">
                <a:moveTo>
                  <a:pt x="362102" y="715317"/>
                </a:moveTo>
                <a:cubicBezTo>
                  <a:pt x="382472" y="727077"/>
                  <a:pt x="407569" y="727077"/>
                  <a:pt x="427939" y="715317"/>
                </a:cubicBezTo>
                <a:lnTo>
                  <a:pt x="658368" y="583643"/>
                </a:lnTo>
                <a:cubicBezTo>
                  <a:pt x="678717" y="571895"/>
                  <a:pt x="691262" y="550192"/>
                  <a:pt x="691286" y="526694"/>
                </a:cubicBezTo>
                <a:lnTo>
                  <a:pt x="691286" y="263347"/>
                </a:lnTo>
                <a:cubicBezTo>
                  <a:pt x="691262" y="239850"/>
                  <a:pt x="678717" y="218147"/>
                  <a:pt x="658368" y="206398"/>
                </a:cubicBezTo>
                <a:lnTo>
                  <a:pt x="427939" y="74725"/>
                </a:lnTo>
                <a:cubicBezTo>
                  <a:pt x="407569" y="62964"/>
                  <a:pt x="382472" y="62964"/>
                  <a:pt x="362102" y="74725"/>
                </a:cubicBezTo>
                <a:lnTo>
                  <a:pt x="131674" y="206398"/>
                </a:lnTo>
                <a:cubicBezTo>
                  <a:pt x="111324" y="218147"/>
                  <a:pt x="98779" y="239850"/>
                  <a:pt x="98755" y="263347"/>
                </a:cubicBezTo>
                <a:lnTo>
                  <a:pt x="98755" y="526694"/>
                </a:lnTo>
                <a:cubicBezTo>
                  <a:pt x="98779" y="550192"/>
                  <a:pt x="111324" y="571895"/>
                  <a:pt x="131674" y="583643"/>
                </a:cubicBezTo>
                <a:close/>
                <a:moveTo>
                  <a:pt x="395021" y="724205"/>
                </a:moveTo>
                <a:lnTo>
                  <a:pt x="395021" y="395021"/>
                </a:lnTo>
                <a:moveTo>
                  <a:pt x="108631" y="230429"/>
                </a:moveTo>
                <a:lnTo>
                  <a:pt x="362201" y="386265"/>
                </a:lnTo>
                <a:cubicBezTo>
                  <a:pt x="382521" y="397949"/>
                  <a:pt x="407521" y="397949"/>
                  <a:pt x="427840" y="386265"/>
                </a:cubicBezTo>
                <a:lnTo>
                  <a:pt x="681411" y="230429"/>
                </a:lnTo>
                <a:moveTo>
                  <a:pt x="246888" y="140562"/>
                </a:moveTo>
                <a:lnTo>
                  <a:pt x="543154" y="310091"/>
                </a:lnTo>
              </a:path>
            </a:pathLst>
          </a:custGeom>
          <a:noFill/>
          <a:ln w="57607" cap="rnd">
            <a:solidFill>
              <a:srgbClr val="0B6E8A"/>
            </a:solidFill>
            <a:prstDash val="solid"/>
            <a:round/>
          </a:ln>
        </p:spPr>
      </p:sp>
      <p:sp>
        <p:nvSpPr>
          <p:cNvPr id="27" name="[p2] Forma"/>
          <p:cNvSpPr/>
          <p:nvPr/>
        </p:nvSpPr>
        <p:spPr>
          <a:xfrm>
            <a:off x="6698552" y="2528316"/>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Imagen</a:t>
            </a:r>
            <a:endParaRPr lang="en-US" sz="1800" dirty="0"/>
          </a:p>
        </p:txBody>
      </p:sp>
      <p:sp>
        <p:nvSpPr>
          <p:cNvPr id="29" name="[p2] Forma"/>
          <p:cNvSpPr/>
          <p:nvPr/>
        </p:nvSpPr>
        <p:spPr>
          <a:xfrm>
            <a:off x="62055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Solo Java y el JAR: más liviana.</a:t>
            </a:r>
            <a:endParaRPr lang="en-US" sz="1400" dirty="0"/>
          </a:p>
        </p:txBody>
      </p:sp>
      <p:sp>
        <p:nvSpPr>
          <p:cNvPr id="30" name="[p3] Forma"/>
          <p:cNvSpPr/>
          <p:nvPr/>
        </p:nvSpPr>
        <p:spPr>
          <a:xfrm>
            <a:off x="8289608" y="3296412"/>
            <a:ext cx="1095680" cy="0"/>
          </a:xfrm>
          <a:prstGeom prst="line">
            <a:avLst/>
          </a:prstGeom>
          <a:noFill/>
          <a:ln w="38100">
            <a:solidFill>
              <a:srgbClr val="2BA6CB"/>
            </a:solidFill>
            <a:prstDash val="solid"/>
            <a:tailEnd type="triangle"/>
          </a:ln>
        </p:spPr>
      </p:sp>
      <p:sp>
        <p:nvSpPr>
          <p:cNvPr id="31" name="[p3] Forma"/>
          <p:cNvSpPr/>
          <p:nvPr/>
        </p:nvSpPr>
        <p:spPr>
          <a:xfrm>
            <a:off x="9476727" y="2564892"/>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ontainer"/>
          <p:cNvSpPr/>
          <p:nvPr/>
        </p:nvSpPr>
        <p:spPr>
          <a:xfrm>
            <a:off x="9813226" y="2901391"/>
            <a:ext cx="790042" cy="790042"/>
          </a:xfrm>
          <a:custGeom>
            <a:avLst/>
            <a:gdLst/>
            <a:ahLst/>
            <a:cxnLst/>
            <a:rect l="l" t="t" r="r" b="b"/>
            <a:pathLst>
              <a:path w="790042" h="790042">
                <a:moveTo>
                  <a:pt x="724205" y="253472"/>
                </a:moveTo>
                <a:cubicBezTo>
                  <a:pt x="724205" y="233721"/>
                  <a:pt x="711037" y="213970"/>
                  <a:pt x="697870" y="204094"/>
                </a:cubicBezTo>
                <a:lnTo>
                  <a:pt x="490484" y="75712"/>
                </a:lnTo>
                <a:cubicBezTo>
                  <a:pt x="473134" y="65850"/>
                  <a:pt x="451873" y="65850"/>
                  <a:pt x="434523" y="75712"/>
                </a:cubicBezTo>
                <a:lnTo>
                  <a:pt x="95463" y="273223"/>
                </a:lnTo>
                <a:cubicBezTo>
                  <a:pt x="79004" y="279806"/>
                  <a:pt x="65837" y="299557"/>
                  <a:pt x="65837" y="319308"/>
                </a:cubicBezTo>
                <a:lnTo>
                  <a:pt x="65837" y="536570"/>
                </a:lnTo>
                <a:cubicBezTo>
                  <a:pt x="65837" y="553029"/>
                  <a:pt x="79004" y="576072"/>
                  <a:pt x="92172" y="585948"/>
                </a:cubicBezTo>
                <a:lnTo>
                  <a:pt x="299557" y="714329"/>
                </a:lnTo>
                <a:cubicBezTo>
                  <a:pt x="316908" y="724192"/>
                  <a:pt x="338169" y="724192"/>
                  <a:pt x="355519" y="714329"/>
                </a:cubicBezTo>
                <a:lnTo>
                  <a:pt x="694578" y="516819"/>
                </a:lnTo>
                <a:cubicBezTo>
                  <a:pt x="711037" y="506943"/>
                  <a:pt x="724205" y="483900"/>
                  <a:pt x="724205" y="467441"/>
                </a:cubicBezTo>
                <a:close/>
                <a:moveTo>
                  <a:pt x="329184" y="720913"/>
                </a:moveTo>
                <a:lnTo>
                  <a:pt x="329184" y="460858"/>
                </a:lnTo>
                <a:lnTo>
                  <a:pt x="69129" y="299557"/>
                </a:lnTo>
                <a:moveTo>
                  <a:pt x="329184" y="460858"/>
                </a:moveTo>
                <a:lnTo>
                  <a:pt x="720913" y="233721"/>
                </a:lnTo>
                <a:moveTo>
                  <a:pt x="460858" y="651784"/>
                </a:moveTo>
                <a:lnTo>
                  <a:pt x="460858" y="385145"/>
                </a:lnTo>
                <a:moveTo>
                  <a:pt x="592531" y="576072"/>
                </a:moveTo>
                <a:lnTo>
                  <a:pt x="592531" y="309433"/>
                </a:lnTo>
              </a:path>
            </a:pathLst>
          </a:custGeom>
          <a:noFill/>
          <a:ln w="57607" cap="rnd">
            <a:solidFill>
              <a:srgbClr val="0A6648"/>
            </a:solidFill>
            <a:prstDash val="solid"/>
            <a:round/>
          </a:ln>
        </p:spPr>
      </p:sp>
      <p:sp>
        <p:nvSpPr>
          <p:cNvPr id="33" name="[p3] Forma"/>
          <p:cNvSpPr/>
          <p:nvPr/>
        </p:nvSpPr>
        <p:spPr>
          <a:xfrm>
            <a:off x="9440151" y="2528316"/>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Contenedor</a:t>
            </a:r>
            <a:endParaRPr lang="en-US" sz="1800" dirty="0"/>
          </a:p>
        </p:txBody>
      </p:sp>
      <p:sp>
        <p:nvSpPr>
          <p:cNvPr id="35" name="[p3] Forma"/>
          <p:cNvSpPr/>
          <p:nvPr/>
        </p:nvSpPr>
        <p:spPr>
          <a:xfrm>
            <a:off x="8947175"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Corre con un usuario sin privilegios.</a:t>
            </a:r>
            <a:endParaRPr lang="en-US" sz="14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código a contenedor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servicio-solicitudes/Dockerfile</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FROM</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maven:</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3.9</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-eclipse-temurin-</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26</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AS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build</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mvn -q clean package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DskipTests</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FROM</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eclipse-temurin:</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26</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-jre</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COPY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--from=build /build/target/*.jar app.jar</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useradd -r -u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1001</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appuser1</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USER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appuser1</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ENTRYPOINT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"java"</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"-jar"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"app.jar"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39</a:t>
            </a:fld>
            <a:endParaRPr lang="en-US"/>
          </a:p>
        </p:txBody>
      </p:sp>
    </p:spTree>
  </p:cSld>
  <p:clrMapOvr>
    <a:masterClrMapping/>
  </p:clrMapOvr>
  <p:transition spd="med">
    <p:fade/>
  </p:transition>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 el sistema con un comando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Ocho contenedores, una red y la configuración por variables de entorno.</a:t>
            </a:r>
            <a:endParaRPr lang="en-US" sz="1700" dirty="0"/>
          </a:p>
        </p:txBody>
      </p:sp>
      <p:sp>
        <p:nvSpPr>
          <p:cNvPr id="13" name="Shape 11"/>
          <p:cNvSpPr/>
          <p:nvPr/>
        </p:nvSpPr>
        <p:spPr>
          <a:xfrm>
            <a:off x="612648" y="1719072"/>
            <a:ext cx="10966399" cy="566928"/>
          </a:xfrm>
          <a:prstGeom prst="roundRect">
            <a:avLst>
              <a:gd name="adj" fmla="val 16129"/>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4" name="Icono terminal"/>
          <p:cNvSpPr/>
          <p:nvPr/>
        </p:nvSpPr>
        <p:spPr>
          <a:xfrm>
            <a:off x="813816" y="1856232"/>
            <a:ext cx="292608" cy="292608"/>
          </a:xfrm>
          <a:custGeom>
            <a:avLst/>
            <a:gdLst/>
            <a:ahLst/>
            <a:cxnLst/>
            <a:rect l="l" t="t" r="r" b="b"/>
            <a:pathLst>
              <a:path w="292608" h="292608">
                <a:moveTo>
                  <a:pt x="48768" y="207264"/>
                </a:moveTo>
                <a:lnTo>
                  <a:pt x="121920" y="134112"/>
                </a:lnTo>
                <a:lnTo>
                  <a:pt x="48768" y="60960"/>
                </a:lnTo>
                <a:moveTo>
                  <a:pt x="146304" y="231648"/>
                </a:moveTo>
                <a:lnTo>
                  <a:pt x="243840" y="231648"/>
                </a:lnTo>
              </a:path>
            </a:pathLst>
          </a:custGeom>
          <a:noFill/>
          <a:ln w="24384" cap="rnd">
            <a:solidFill>
              <a:srgbClr val="2BA6CB"/>
            </a:solidFill>
            <a:prstDash val="solid"/>
            <a:round/>
          </a:ln>
        </p:spPr>
      </p:sp>
      <p:sp>
        <p:nvSpPr>
          <p:cNvPr id="15" name="Text 13"/>
          <p:cNvSpPr/>
          <p:nvPr/>
        </p:nvSpPr>
        <p:spPr>
          <a:xfrm>
            <a:off x="1252728" y="1719072"/>
            <a:ext cx="10143439" cy="566928"/>
          </a:xfrm>
          <a:prstGeom prst="rect">
            <a:avLst/>
          </a:prstGeom>
          <a:noFill/>
          <a:ln/>
        </p:spPr>
        <p:txBody>
          <a:bodyPr wrap="square" lIns="0" tIns="0" rIns="0" bIns="0" rtlCol="0" anchor="ctr"/>
          <a:lstStyle/>
          <a:p>
            <a:pPr indent="0" marL="0">
              <a:buNone/>
            </a:pPr>
            <a:r>
              <a:rPr lang="en-US" sz="1800" b="1" dirty="0">
                <a:solidFill>
                  <a:srgbClr val="2BA6CB"/>
                </a:solidFill>
                <a:latin typeface="Consolas" pitchFamily="34" charset="0"/>
                <a:ea typeface="Consolas" pitchFamily="34" charset="-122"/>
                <a:cs typeface="Consolas" pitchFamily="34" charset="-120"/>
              </a:rPr>
              <a:t>$ </a:t>
            </a:r>
            <a:pPr indent="0" marL="0">
              <a:buNone/>
            </a:pPr>
            <a:r>
              <a:rPr lang="en-US" sz="1800" b="1" dirty="0">
                <a:solidFill>
                  <a:srgbClr val="FFFFFF"/>
                </a:solidFill>
                <a:latin typeface="Consolas" pitchFamily="34" charset="0"/>
                <a:ea typeface="Consolas" pitchFamily="34" charset="-122"/>
                <a:cs typeface="Consolas" pitchFamily="34" charset="-120"/>
              </a:rPr>
              <a:t>docker compose up --build -d</a:t>
            </a:r>
            <a:endParaRPr lang="en-US" sz="1800" dirty="0"/>
          </a:p>
        </p:txBody>
      </p:sp>
      <p:sp>
        <p:nvSpPr>
          <p:cNvPr id="16" name="Shape 14"/>
          <p:cNvSpPr/>
          <p:nvPr/>
        </p:nvSpPr>
        <p:spPr>
          <a:xfrm>
            <a:off x="61264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7" name="Shape 15"/>
          <p:cNvSpPr/>
          <p:nvPr/>
        </p:nvSpPr>
        <p:spPr>
          <a:xfrm>
            <a:off x="612648" y="2624328"/>
            <a:ext cx="64008" cy="1581912"/>
          </a:xfrm>
          <a:prstGeom prst="rect">
            <a:avLst/>
          </a:prstGeom>
          <a:solidFill>
            <a:srgbClr val="5B3FC4"/>
          </a:solidFill>
          <a:ln w="12700">
            <a:solidFill>
              <a:srgbClr val="5B3FC4"/>
            </a:solidFill>
            <a:prstDash val="solid"/>
          </a:ln>
        </p:spPr>
      </p:sp>
      <p:sp>
        <p:nvSpPr>
          <p:cNvPr id="18" name="Shape 16"/>
          <p:cNvSpPr/>
          <p:nvPr/>
        </p:nvSpPr>
        <p:spPr>
          <a:xfrm>
            <a:off x="813816" y="2679192"/>
            <a:ext cx="676656" cy="676656"/>
          </a:xfrm>
          <a:prstGeom prst="ellipse">
            <a:avLst/>
          </a:prstGeom>
          <a:solidFill>
            <a:srgbClr val="F1EEFD"/>
          </a:solidFill>
          <a:ln w="12700">
            <a:solidFill>
              <a:srgbClr val="F1EEFD"/>
            </a:solidFill>
            <a:prstDash val="solid"/>
          </a:ln>
        </p:spPr>
      </p:sp>
      <p:sp>
        <p:nvSpPr>
          <p:cNvPr id="19" name="Icono monitor"/>
          <p:cNvSpPr/>
          <p:nvPr/>
        </p:nvSpPr>
        <p:spPr>
          <a:xfrm>
            <a:off x="976213" y="2841589"/>
            <a:ext cx="351861" cy="351861"/>
          </a:xfrm>
          <a:custGeom>
            <a:avLst/>
            <a:gdLst/>
            <a:ahLst/>
            <a:cxnLst/>
            <a:rect l="l" t="t" r="r" b="b"/>
            <a:pathLst>
              <a:path w="351861" h="351861">
                <a:moveTo>
                  <a:pt x="58644" y="43983"/>
                </a:moveTo>
                <a:lnTo>
                  <a:pt x="293218" y="43983"/>
                </a:lnTo>
                <a:cubicBezTo>
                  <a:pt x="309412" y="43983"/>
                  <a:pt x="322539" y="57110"/>
                  <a:pt x="322539" y="73304"/>
                </a:cubicBezTo>
                <a:lnTo>
                  <a:pt x="322539" y="219913"/>
                </a:lnTo>
                <a:cubicBezTo>
                  <a:pt x="322539" y="236107"/>
                  <a:pt x="309412" y="249235"/>
                  <a:pt x="293218" y="249235"/>
                </a:cubicBezTo>
                <a:lnTo>
                  <a:pt x="58644" y="249235"/>
                </a:lnTo>
                <a:cubicBezTo>
                  <a:pt x="42450" y="249235"/>
                  <a:pt x="29322" y="236107"/>
                  <a:pt x="29322" y="219913"/>
                </a:cubicBezTo>
                <a:lnTo>
                  <a:pt x="29322" y="73304"/>
                </a:lnTo>
                <a:cubicBezTo>
                  <a:pt x="29322" y="57110"/>
                  <a:pt x="42450" y="43983"/>
                  <a:pt x="58644" y="43983"/>
                </a:cubicBezTo>
                <a:close/>
                <a:moveTo>
                  <a:pt x="117287" y="307878"/>
                </a:moveTo>
                <a:lnTo>
                  <a:pt x="234574" y="307878"/>
                </a:lnTo>
                <a:moveTo>
                  <a:pt x="175931" y="249235"/>
                </a:moveTo>
                <a:lnTo>
                  <a:pt x="175931" y="307878"/>
                </a:lnTo>
              </a:path>
            </a:pathLst>
          </a:custGeom>
          <a:noFill/>
          <a:ln w="29322" cap="rnd">
            <a:solidFill>
              <a:srgbClr val="5B3FC4"/>
            </a:solidFill>
            <a:prstDash val="solid"/>
            <a:round/>
          </a:ln>
        </p:spPr>
      </p:sp>
      <p:sp>
        <p:nvSpPr>
          <p:cNvPr id="20" name="Text 18"/>
          <p:cNvSpPr/>
          <p:nvPr/>
        </p:nvSpPr>
        <p:spPr>
          <a:xfrm>
            <a:off x="1636776" y="2679192"/>
            <a:ext cx="1443152" cy="676656"/>
          </a:xfrm>
          <a:prstGeom prst="rect">
            <a:avLst/>
          </a:prstGeom>
          <a:noFill/>
          <a:ln/>
        </p:spPr>
        <p:txBody>
          <a:bodyPr wrap="square" lIns="0" tIns="0" rIns="0" bIns="0" rtlCol="0" anchor="ctr">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arka-lite-ui</a:t>
            </a:r>
            <a:endParaRPr lang="en-US" sz="1600" dirty="0"/>
          </a:p>
        </p:txBody>
      </p:sp>
      <p:sp>
        <p:nvSpPr>
          <p:cNvPr id="21" name="Text 19"/>
          <p:cNvSpPr/>
          <p:nvPr/>
        </p:nvSpPr>
        <p:spPr>
          <a:xfrm>
            <a:off x="86868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:8088 · la interfaz y su proxy</a:t>
            </a:r>
            <a:endParaRPr lang="en-US" sz="1600" dirty="0"/>
          </a:p>
        </p:txBody>
      </p:sp>
      <p:sp>
        <p:nvSpPr>
          <p:cNvPr id="22" name="Shape 20"/>
          <p:cNvSpPr/>
          <p:nvPr/>
        </p:nvSpPr>
        <p:spPr>
          <a:xfrm>
            <a:off x="339996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3399968" y="2624328"/>
            <a:ext cx="64008" cy="1581912"/>
          </a:xfrm>
          <a:prstGeom prst="rect">
            <a:avLst/>
          </a:prstGeom>
          <a:solidFill>
            <a:srgbClr val="0B2350"/>
          </a:solidFill>
          <a:ln w="12700">
            <a:solidFill>
              <a:srgbClr val="0B2350"/>
            </a:solidFill>
            <a:prstDash val="solid"/>
          </a:ln>
        </p:spPr>
      </p:sp>
      <p:sp>
        <p:nvSpPr>
          <p:cNvPr id="24" name="Shape 22"/>
          <p:cNvSpPr/>
          <p:nvPr/>
        </p:nvSpPr>
        <p:spPr>
          <a:xfrm>
            <a:off x="3601136" y="2679192"/>
            <a:ext cx="676656" cy="676656"/>
          </a:xfrm>
          <a:prstGeom prst="ellipse">
            <a:avLst/>
          </a:prstGeom>
          <a:solidFill>
            <a:srgbClr val="E8EEF8"/>
          </a:solidFill>
          <a:ln w="12700">
            <a:solidFill>
              <a:srgbClr val="E8EEF8"/>
            </a:solidFill>
            <a:prstDash val="solid"/>
          </a:ln>
        </p:spPr>
      </p:sp>
      <p:sp>
        <p:nvSpPr>
          <p:cNvPr id="25" name="Icono clipboard-list"/>
          <p:cNvSpPr/>
          <p:nvPr/>
        </p:nvSpPr>
        <p:spPr>
          <a:xfrm>
            <a:off x="3763533" y="2841589"/>
            <a:ext cx="351861" cy="351861"/>
          </a:xfrm>
          <a:custGeom>
            <a:avLst/>
            <a:gdLst/>
            <a:ahLst/>
            <a:cxnLst/>
            <a:rect l="l" t="t" r="r" b="b"/>
            <a:pathLst>
              <a:path w="351861" h="351861">
                <a:moveTo>
                  <a:pt x="131948" y="29322"/>
                </a:moveTo>
                <a:lnTo>
                  <a:pt x="219913" y="29322"/>
                </a:lnTo>
                <a:cubicBezTo>
                  <a:pt x="228010" y="29322"/>
                  <a:pt x="234574" y="35886"/>
                  <a:pt x="234574" y="43983"/>
                </a:cubicBezTo>
                <a:lnTo>
                  <a:pt x="234574" y="73304"/>
                </a:lnTo>
                <a:cubicBezTo>
                  <a:pt x="234574" y="81401"/>
                  <a:pt x="228010" y="87965"/>
                  <a:pt x="219913" y="87965"/>
                </a:cubicBezTo>
                <a:lnTo>
                  <a:pt x="131948" y="87965"/>
                </a:lnTo>
                <a:cubicBezTo>
                  <a:pt x="123851" y="87965"/>
                  <a:pt x="117287" y="81401"/>
                  <a:pt x="117287" y="73304"/>
                </a:cubicBezTo>
                <a:lnTo>
                  <a:pt x="117287" y="43983"/>
                </a:lnTo>
                <a:cubicBezTo>
                  <a:pt x="117287" y="35886"/>
                  <a:pt x="123851" y="29322"/>
                  <a:pt x="131948" y="29322"/>
                </a:cubicBezTo>
                <a:close/>
                <a:moveTo>
                  <a:pt x="234574" y="58644"/>
                </a:moveTo>
                <a:lnTo>
                  <a:pt x="263896" y="58644"/>
                </a:lnTo>
                <a:cubicBezTo>
                  <a:pt x="280090" y="58644"/>
                  <a:pt x="293218" y="71771"/>
                  <a:pt x="293218" y="87965"/>
                </a:cubicBezTo>
                <a:lnTo>
                  <a:pt x="293218" y="293218"/>
                </a:lnTo>
                <a:cubicBezTo>
                  <a:pt x="293218" y="309412"/>
                  <a:pt x="280090" y="322539"/>
                  <a:pt x="263896" y="322539"/>
                </a:cubicBezTo>
                <a:lnTo>
                  <a:pt x="87965" y="322539"/>
                </a:lnTo>
                <a:cubicBezTo>
                  <a:pt x="71771" y="322539"/>
                  <a:pt x="58644" y="309412"/>
                  <a:pt x="58644" y="293218"/>
                </a:cubicBezTo>
                <a:lnTo>
                  <a:pt x="58644" y="87965"/>
                </a:lnTo>
                <a:cubicBezTo>
                  <a:pt x="58644" y="71771"/>
                  <a:pt x="71771" y="58644"/>
                  <a:pt x="87965" y="58644"/>
                </a:cubicBezTo>
                <a:lnTo>
                  <a:pt x="117287" y="58644"/>
                </a:lnTo>
                <a:moveTo>
                  <a:pt x="175931" y="161270"/>
                </a:moveTo>
                <a:lnTo>
                  <a:pt x="234574" y="161270"/>
                </a:lnTo>
                <a:moveTo>
                  <a:pt x="175931" y="234574"/>
                </a:moveTo>
                <a:lnTo>
                  <a:pt x="234574" y="234574"/>
                </a:lnTo>
                <a:moveTo>
                  <a:pt x="117287" y="161270"/>
                </a:moveTo>
                <a:lnTo>
                  <a:pt x="117434" y="161270"/>
                </a:lnTo>
                <a:moveTo>
                  <a:pt x="117287" y="234574"/>
                </a:moveTo>
                <a:lnTo>
                  <a:pt x="117434" y="234574"/>
                </a:lnTo>
              </a:path>
            </a:pathLst>
          </a:custGeom>
          <a:noFill/>
          <a:ln w="29322" cap="rnd">
            <a:solidFill>
              <a:srgbClr val="0B2350"/>
            </a:solidFill>
            <a:prstDash val="solid"/>
            <a:round/>
          </a:ln>
        </p:spPr>
      </p:sp>
      <p:sp>
        <p:nvSpPr>
          <p:cNvPr id="26" name="Text 24"/>
          <p:cNvSpPr/>
          <p:nvPr/>
        </p:nvSpPr>
        <p:spPr>
          <a:xfrm>
            <a:off x="4424096" y="2679192"/>
            <a:ext cx="1443152" cy="676656"/>
          </a:xfrm>
          <a:prstGeom prst="rect">
            <a:avLst/>
          </a:prstGeom>
          <a:noFill/>
          <a:ln/>
        </p:spPr>
        <p:txBody>
          <a:bodyPr wrap="square" lIns="0" tIns="0" rIns="0" bIns="0" rtlCol="0" anchor="ctr">
            <a:normAutofit/>
          </a:bodyPr>
          <a:lstStyle/>
          <a:p>
            <a:pPr algn="l" indent="0" marL="0">
              <a:buNone/>
            </a:pPr>
            <a:r>
              <a:rPr lang="en-US" sz="950" b="1" dirty="0">
                <a:solidFill>
                  <a:srgbClr val="0B2350"/>
                </a:solidFill>
                <a:latin typeface="Segoe UI Semibold" pitchFamily="34" charset="0"/>
                <a:ea typeface="Segoe UI Semibold" pitchFamily="34" charset="-122"/>
                <a:cs typeface="Segoe UI Semibold" pitchFamily="34" charset="-120"/>
              </a:rPr>
              <a:t>servicio-solicitudes</a:t>
            </a:r>
            <a:endParaRPr lang="en-US" sz="950" dirty="0"/>
          </a:p>
        </p:txBody>
      </p:sp>
      <p:sp>
        <p:nvSpPr>
          <p:cNvPr id="27" name="Text 25"/>
          <p:cNvSpPr/>
          <p:nvPr/>
        </p:nvSpPr>
        <p:spPr>
          <a:xfrm>
            <a:off x="365600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:8080 · el trámite</a:t>
            </a:r>
            <a:endParaRPr lang="en-US" sz="1600" dirty="0"/>
          </a:p>
        </p:txBody>
      </p:sp>
      <p:sp>
        <p:nvSpPr>
          <p:cNvPr id="28" name="Shape 26"/>
          <p:cNvSpPr/>
          <p:nvPr/>
        </p:nvSpPr>
        <p:spPr>
          <a:xfrm>
            <a:off x="618728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Shape 27"/>
          <p:cNvSpPr/>
          <p:nvPr/>
        </p:nvSpPr>
        <p:spPr>
          <a:xfrm>
            <a:off x="6187288" y="2624328"/>
            <a:ext cx="64008" cy="1581912"/>
          </a:xfrm>
          <a:prstGeom prst="rect">
            <a:avLst/>
          </a:prstGeom>
          <a:solidFill>
            <a:srgbClr val="0B6E8A"/>
          </a:solidFill>
          <a:ln w="12700">
            <a:solidFill>
              <a:srgbClr val="0B6E8A"/>
            </a:solidFill>
            <a:prstDash val="solid"/>
          </a:ln>
        </p:spPr>
      </p:sp>
      <p:sp>
        <p:nvSpPr>
          <p:cNvPr id="30" name="Shape 28"/>
          <p:cNvSpPr/>
          <p:nvPr/>
        </p:nvSpPr>
        <p:spPr>
          <a:xfrm>
            <a:off x="6388456" y="2679192"/>
            <a:ext cx="676656" cy="676656"/>
          </a:xfrm>
          <a:prstGeom prst="ellipse">
            <a:avLst/>
          </a:prstGeom>
          <a:solidFill>
            <a:srgbClr val="E3F4FA"/>
          </a:solidFill>
          <a:ln w="12700">
            <a:solidFill>
              <a:srgbClr val="E3F4FA"/>
            </a:solidFill>
            <a:prstDash val="solid"/>
          </a:ln>
        </p:spPr>
      </p:sp>
      <p:sp>
        <p:nvSpPr>
          <p:cNvPr id="31" name="Icono bell"/>
          <p:cNvSpPr/>
          <p:nvPr/>
        </p:nvSpPr>
        <p:spPr>
          <a:xfrm>
            <a:off x="6550853" y="2841589"/>
            <a:ext cx="351861" cy="351861"/>
          </a:xfrm>
          <a:custGeom>
            <a:avLst/>
            <a:gdLst/>
            <a:ahLst/>
            <a:cxnLst/>
            <a:rect l="l" t="t" r="r" b="b"/>
            <a:pathLst>
              <a:path w="351861" h="351861">
                <a:moveTo>
                  <a:pt x="150538" y="307878"/>
                </a:moveTo>
                <a:cubicBezTo>
                  <a:pt x="155776" y="316950"/>
                  <a:pt x="165455" y="322538"/>
                  <a:pt x="175931" y="322538"/>
                </a:cubicBezTo>
                <a:cubicBezTo>
                  <a:pt x="186406" y="322538"/>
                  <a:pt x="196085" y="316950"/>
                  <a:pt x="201323" y="307878"/>
                </a:cubicBezTo>
                <a:moveTo>
                  <a:pt x="47824" y="224693"/>
                </a:moveTo>
                <a:cubicBezTo>
                  <a:pt x="43911" y="228982"/>
                  <a:pt x="42897" y="235176"/>
                  <a:pt x="45239" y="240488"/>
                </a:cubicBezTo>
                <a:cubicBezTo>
                  <a:pt x="47581" y="245801"/>
                  <a:pt x="52838" y="249231"/>
                  <a:pt x="58644" y="249235"/>
                </a:cubicBezTo>
                <a:lnTo>
                  <a:pt x="293218" y="249235"/>
                </a:lnTo>
                <a:cubicBezTo>
                  <a:pt x="299023" y="249237"/>
                  <a:pt x="304282" y="245814"/>
                  <a:pt x="306631" y="240505"/>
                </a:cubicBezTo>
                <a:cubicBezTo>
                  <a:pt x="308979" y="235196"/>
                  <a:pt x="307974" y="229001"/>
                  <a:pt x="304067" y="224707"/>
                </a:cubicBezTo>
                <a:cubicBezTo>
                  <a:pt x="284568" y="204607"/>
                  <a:pt x="263896" y="183246"/>
                  <a:pt x="263896" y="117287"/>
                </a:cubicBezTo>
                <a:cubicBezTo>
                  <a:pt x="263896" y="68705"/>
                  <a:pt x="224512" y="29322"/>
                  <a:pt x="175931" y="29322"/>
                </a:cubicBezTo>
                <a:cubicBezTo>
                  <a:pt x="127349" y="29322"/>
                  <a:pt x="87965" y="68705"/>
                  <a:pt x="87965" y="117287"/>
                </a:cubicBezTo>
                <a:cubicBezTo>
                  <a:pt x="87965" y="183246"/>
                  <a:pt x="67279" y="204607"/>
                  <a:pt x="47824" y="224693"/>
                </a:cubicBezTo>
              </a:path>
            </a:pathLst>
          </a:custGeom>
          <a:noFill/>
          <a:ln w="29322" cap="rnd">
            <a:solidFill>
              <a:srgbClr val="0B6E8A"/>
            </a:solidFill>
            <a:prstDash val="solid"/>
            <a:round/>
          </a:ln>
        </p:spPr>
      </p:sp>
      <p:sp>
        <p:nvSpPr>
          <p:cNvPr id="32" name="Text 30"/>
          <p:cNvSpPr/>
          <p:nvPr/>
        </p:nvSpPr>
        <p:spPr>
          <a:xfrm>
            <a:off x="7211416" y="2679192"/>
            <a:ext cx="1443152" cy="676656"/>
          </a:xfrm>
          <a:prstGeom prst="rect">
            <a:avLst/>
          </a:prstGeom>
          <a:noFill/>
          <a:ln/>
        </p:spPr>
        <p:txBody>
          <a:bodyPr wrap="square" lIns="0" tIns="0" rIns="0" bIns="0" rtlCol="0" anchor="ctr">
            <a:normAutofit/>
          </a:bodyPr>
          <a:lstStyle/>
          <a:p>
            <a:pPr algn="l" indent="0" marL="0">
              <a:buNone/>
            </a:pPr>
            <a:r>
              <a:rPr lang="en-US" sz="850" b="1" dirty="0">
                <a:solidFill>
                  <a:srgbClr val="0B6E8A"/>
                </a:solidFill>
                <a:latin typeface="Segoe UI Semibold" pitchFamily="34" charset="0"/>
                <a:ea typeface="Segoe UI Semibold" pitchFamily="34" charset="-122"/>
                <a:cs typeface="Segoe UI Semibold" pitchFamily="34" charset="-120"/>
              </a:rPr>
              <a:t>servicio-notificaciones</a:t>
            </a:r>
            <a:endParaRPr lang="en-US" sz="850" dirty="0"/>
          </a:p>
        </p:txBody>
      </p:sp>
      <p:sp>
        <p:nvSpPr>
          <p:cNvPr id="33" name="Text 31"/>
          <p:cNvSpPr/>
          <p:nvPr/>
        </p:nvSpPr>
        <p:spPr>
          <a:xfrm>
            <a:off x="644332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:8081 · los avisos</a:t>
            </a:r>
            <a:endParaRPr lang="en-US" sz="1600" dirty="0"/>
          </a:p>
        </p:txBody>
      </p:sp>
      <p:sp>
        <p:nvSpPr>
          <p:cNvPr id="34" name="Shape 32"/>
          <p:cNvSpPr/>
          <p:nvPr/>
        </p:nvSpPr>
        <p:spPr>
          <a:xfrm>
            <a:off x="8974607"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Shape 33"/>
          <p:cNvSpPr/>
          <p:nvPr/>
        </p:nvSpPr>
        <p:spPr>
          <a:xfrm>
            <a:off x="8974607" y="2624328"/>
            <a:ext cx="64008" cy="1581912"/>
          </a:xfrm>
          <a:prstGeom prst="rect">
            <a:avLst/>
          </a:prstGeom>
          <a:solidFill>
            <a:srgbClr val="55627E"/>
          </a:solidFill>
          <a:ln w="12700">
            <a:solidFill>
              <a:srgbClr val="55627E"/>
            </a:solidFill>
            <a:prstDash val="solid"/>
          </a:ln>
        </p:spPr>
      </p:sp>
      <p:sp>
        <p:nvSpPr>
          <p:cNvPr id="36" name="Shape 34"/>
          <p:cNvSpPr/>
          <p:nvPr/>
        </p:nvSpPr>
        <p:spPr>
          <a:xfrm>
            <a:off x="9175775" y="2679192"/>
            <a:ext cx="676656" cy="676656"/>
          </a:xfrm>
          <a:prstGeom prst="ellipse">
            <a:avLst/>
          </a:prstGeom>
          <a:solidFill>
            <a:srgbClr val="F4F7FB"/>
          </a:solidFill>
          <a:ln w="12700">
            <a:solidFill>
              <a:srgbClr val="F4F7FB"/>
            </a:solidFill>
            <a:prstDash val="solid"/>
          </a:ln>
        </p:spPr>
      </p:sp>
      <p:sp>
        <p:nvSpPr>
          <p:cNvPr id="37" name="Icono database"/>
          <p:cNvSpPr/>
          <p:nvPr/>
        </p:nvSpPr>
        <p:spPr>
          <a:xfrm>
            <a:off x="9338173" y="2841589"/>
            <a:ext cx="351861" cy="351861"/>
          </a:xfrm>
          <a:custGeom>
            <a:avLst/>
            <a:gdLst/>
            <a:ahLst/>
            <a:cxnLst/>
            <a:rect l="l" t="t" r="r" b="b"/>
            <a:pathLst>
              <a:path w="351861" h="351861">
                <a:moveTo>
                  <a:pt x="307878" y="73304"/>
                </a:moveTo>
                <a:cubicBezTo>
                  <a:pt x="307878" y="97595"/>
                  <a:pt x="248803" y="117287"/>
                  <a:pt x="175931" y="117287"/>
                </a:cubicBezTo>
                <a:cubicBezTo>
                  <a:pt x="103058" y="117287"/>
                  <a:pt x="43983" y="97595"/>
                  <a:pt x="43983" y="73304"/>
                </a:cubicBezTo>
                <a:cubicBezTo>
                  <a:pt x="43983" y="49013"/>
                  <a:pt x="103058" y="29322"/>
                  <a:pt x="175931" y="29322"/>
                </a:cubicBezTo>
                <a:cubicBezTo>
                  <a:pt x="248803" y="29322"/>
                  <a:pt x="307878" y="49013"/>
                  <a:pt x="307878" y="73304"/>
                </a:cubicBezTo>
                <a:close/>
                <a:moveTo>
                  <a:pt x="43983" y="73304"/>
                </a:moveTo>
                <a:lnTo>
                  <a:pt x="43983" y="278557"/>
                </a:lnTo>
                <a:cubicBezTo>
                  <a:pt x="43983" y="302848"/>
                  <a:pt x="103058" y="322539"/>
                  <a:pt x="175931" y="322539"/>
                </a:cubicBezTo>
                <a:cubicBezTo>
                  <a:pt x="248803" y="322539"/>
                  <a:pt x="307878" y="302848"/>
                  <a:pt x="307878" y="278557"/>
                </a:cubicBezTo>
                <a:lnTo>
                  <a:pt x="307878" y="73304"/>
                </a:lnTo>
                <a:moveTo>
                  <a:pt x="43983" y="175931"/>
                </a:moveTo>
                <a:cubicBezTo>
                  <a:pt x="43983" y="200222"/>
                  <a:pt x="103058" y="219913"/>
                  <a:pt x="175931" y="219913"/>
                </a:cubicBezTo>
                <a:cubicBezTo>
                  <a:pt x="248803" y="219913"/>
                  <a:pt x="307878" y="200222"/>
                  <a:pt x="307878" y="175931"/>
                </a:cubicBezTo>
              </a:path>
            </a:pathLst>
          </a:custGeom>
          <a:noFill/>
          <a:ln w="29322" cap="rnd">
            <a:solidFill>
              <a:srgbClr val="55627E"/>
            </a:solidFill>
            <a:prstDash val="solid"/>
            <a:round/>
          </a:ln>
        </p:spPr>
      </p:sp>
      <p:sp>
        <p:nvSpPr>
          <p:cNvPr id="38" name="Text 36"/>
          <p:cNvSpPr/>
          <p:nvPr/>
        </p:nvSpPr>
        <p:spPr>
          <a:xfrm>
            <a:off x="9998735" y="2679192"/>
            <a:ext cx="1443152" cy="676656"/>
          </a:xfrm>
          <a:prstGeom prst="rect">
            <a:avLst/>
          </a:prstGeom>
          <a:noFill/>
          <a:ln/>
        </p:spPr>
        <p:txBody>
          <a:bodyPr wrap="square" lIns="0" tIns="0" rIns="0" bIns="0" rtlCol="0" anchor="ctr">
            <a:normAutofit/>
          </a:bodyPr>
          <a:lstStyle/>
          <a:p>
            <a:pPr algn="l" indent="0" marL="0">
              <a:buNone/>
            </a:pPr>
            <a:r>
              <a:rPr lang="en-US" sz="1350" b="1" dirty="0">
                <a:solidFill>
                  <a:srgbClr val="55627E"/>
                </a:solidFill>
                <a:latin typeface="Segoe UI Semibold" pitchFamily="34" charset="0"/>
                <a:ea typeface="Segoe UI Semibold" pitchFamily="34" charset="-122"/>
                <a:cs typeface="Segoe UI Semibold" pitchFamily="34" charset="-120"/>
              </a:rPr>
              <a:t>db-solicitudes</a:t>
            </a:r>
            <a:endParaRPr lang="en-US" sz="1350" dirty="0"/>
          </a:p>
        </p:txBody>
      </p:sp>
      <p:sp>
        <p:nvSpPr>
          <p:cNvPr id="39" name="Text 37"/>
          <p:cNvSpPr/>
          <p:nvPr/>
        </p:nvSpPr>
        <p:spPr>
          <a:xfrm>
            <a:off x="9230639"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PostgreSQL 17 · solo red interna</a:t>
            </a:r>
            <a:endParaRPr lang="en-US" sz="1600" dirty="0"/>
          </a:p>
        </p:txBody>
      </p:sp>
      <p:sp>
        <p:nvSpPr>
          <p:cNvPr id="40" name="Shape 38"/>
          <p:cNvSpPr/>
          <p:nvPr/>
        </p:nvSpPr>
        <p:spPr>
          <a:xfrm>
            <a:off x="61264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1" name="Shape 39"/>
          <p:cNvSpPr/>
          <p:nvPr/>
        </p:nvSpPr>
        <p:spPr>
          <a:xfrm>
            <a:off x="612648" y="4645152"/>
            <a:ext cx="64008" cy="1581912"/>
          </a:xfrm>
          <a:prstGeom prst="rect">
            <a:avLst/>
          </a:prstGeom>
          <a:solidFill>
            <a:srgbClr val="55627E"/>
          </a:solidFill>
          <a:ln w="12700">
            <a:solidFill>
              <a:srgbClr val="55627E"/>
            </a:solidFill>
            <a:prstDash val="solid"/>
          </a:ln>
        </p:spPr>
      </p:sp>
      <p:sp>
        <p:nvSpPr>
          <p:cNvPr id="42" name="Shape 40"/>
          <p:cNvSpPr/>
          <p:nvPr/>
        </p:nvSpPr>
        <p:spPr>
          <a:xfrm>
            <a:off x="813816" y="4700016"/>
            <a:ext cx="676656" cy="676656"/>
          </a:xfrm>
          <a:prstGeom prst="ellipse">
            <a:avLst/>
          </a:prstGeom>
          <a:solidFill>
            <a:srgbClr val="F4F7FB"/>
          </a:solidFill>
          <a:ln w="12700">
            <a:solidFill>
              <a:srgbClr val="F4F7FB"/>
            </a:solidFill>
            <a:prstDash val="solid"/>
          </a:ln>
        </p:spPr>
      </p:sp>
      <p:sp>
        <p:nvSpPr>
          <p:cNvPr id="43" name="Icono database"/>
          <p:cNvSpPr/>
          <p:nvPr/>
        </p:nvSpPr>
        <p:spPr>
          <a:xfrm>
            <a:off x="976213" y="4862413"/>
            <a:ext cx="351861" cy="351861"/>
          </a:xfrm>
          <a:custGeom>
            <a:avLst/>
            <a:gdLst/>
            <a:ahLst/>
            <a:cxnLst/>
            <a:rect l="l" t="t" r="r" b="b"/>
            <a:pathLst>
              <a:path w="351861" h="351861">
                <a:moveTo>
                  <a:pt x="307878" y="73304"/>
                </a:moveTo>
                <a:cubicBezTo>
                  <a:pt x="307878" y="97595"/>
                  <a:pt x="248803" y="117287"/>
                  <a:pt x="175931" y="117287"/>
                </a:cubicBezTo>
                <a:cubicBezTo>
                  <a:pt x="103058" y="117287"/>
                  <a:pt x="43983" y="97595"/>
                  <a:pt x="43983" y="73304"/>
                </a:cubicBezTo>
                <a:cubicBezTo>
                  <a:pt x="43983" y="49013"/>
                  <a:pt x="103058" y="29322"/>
                  <a:pt x="175931" y="29322"/>
                </a:cubicBezTo>
                <a:cubicBezTo>
                  <a:pt x="248803" y="29322"/>
                  <a:pt x="307878" y="49013"/>
                  <a:pt x="307878" y="73304"/>
                </a:cubicBezTo>
                <a:close/>
                <a:moveTo>
                  <a:pt x="43983" y="73304"/>
                </a:moveTo>
                <a:lnTo>
                  <a:pt x="43983" y="278557"/>
                </a:lnTo>
                <a:cubicBezTo>
                  <a:pt x="43983" y="302848"/>
                  <a:pt x="103058" y="322539"/>
                  <a:pt x="175931" y="322539"/>
                </a:cubicBezTo>
                <a:cubicBezTo>
                  <a:pt x="248803" y="322539"/>
                  <a:pt x="307878" y="302848"/>
                  <a:pt x="307878" y="278557"/>
                </a:cubicBezTo>
                <a:lnTo>
                  <a:pt x="307878" y="73304"/>
                </a:lnTo>
                <a:moveTo>
                  <a:pt x="43983" y="175931"/>
                </a:moveTo>
                <a:cubicBezTo>
                  <a:pt x="43983" y="200222"/>
                  <a:pt x="103058" y="219913"/>
                  <a:pt x="175931" y="219913"/>
                </a:cubicBezTo>
                <a:cubicBezTo>
                  <a:pt x="248803" y="219913"/>
                  <a:pt x="307878" y="200222"/>
                  <a:pt x="307878" y="175931"/>
                </a:cubicBezTo>
              </a:path>
            </a:pathLst>
          </a:custGeom>
          <a:noFill/>
          <a:ln w="29322" cap="rnd">
            <a:solidFill>
              <a:srgbClr val="55627E"/>
            </a:solidFill>
            <a:prstDash val="solid"/>
            <a:round/>
          </a:ln>
        </p:spPr>
      </p:sp>
      <p:sp>
        <p:nvSpPr>
          <p:cNvPr id="44" name="Text 42"/>
          <p:cNvSpPr/>
          <p:nvPr/>
        </p:nvSpPr>
        <p:spPr>
          <a:xfrm>
            <a:off x="1636776" y="4700016"/>
            <a:ext cx="1443152" cy="676656"/>
          </a:xfrm>
          <a:prstGeom prst="rect">
            <a:avLst/>
          </a:prstGeom>
          <a:noFill/>
          <a:ln/>
        </p:spPr>
        <p:txBody>
          <a:bodyPr wrap="square" lIns="0" tIns="0" rIns="0" bIns="0" rtlCol="0" anchor="ctr">
            <a:normAutofit/>
          </a:bodyPr>
          <a:lstStyle/>
          <a:p>
            <a:pPr algn="l" indent="0" marL="0">
              <a:buNone/>
            </a:pPr>
            <a:r>
              <a:rPr lang="en-US" sz="1150" b="1" dirty="0">
                <a:solidFill>
                  <a:srgbClr val="55627E"/>
                </a:solidFill>
                <a:latin typeface="Segoe UI Semibold" pitchFamily="34" charset="0"/>
                <a:ea typeface="Segoe UI Semibold" pitchFamily="34" charset="-122"/>
                <a:cs typeface="Segoe UI Semibold" pitchFamily="34" charset="-120"/>
              </a:rPr>
              <a:t>db-notificaciones</a:t>
            </a:r>
            <a:endParaRPr lang="en-US" sz="1150" dirty="0"/>
          </a:p>
        </p:txBody>
      </p:sp>
      <p:sp>
        <p:nvSpPr>
          <p:cNvPr id="45" name="Text 43"/>
          <p:cNvSpPr/>
          <p:nvPr/>
        </p:nvSpPr>
        <p:spPr>
          <a:xfrm>
            <a:off x="86868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PostgreSQL 17 · :5433</a:t>
            </a:r>
            <a:endParaRPr lang="en-US" sz="1600" dirty="0"/>
          </a:p>
        </p:txBody>
      </p:sp>
      <p:sp>
        <p:nvSpPr>
          <p:cNvPr id="46" name="Shape 44"/>
          <p:cNvSpPr/>
          <p:nvPr/>
        </p:nvSpPr>
        <p:spPr>
          <a:xfrm>
            <a:off x="339996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Shape 45"/>
          <p:cNvSpPr/>
          <p:nvPr/>
        </p:nvSpPr>
        <p:spPr>
          <a:xfrm>
            <a:off x="3399968" y="4645152"/>
            <a:ext cx="64008" cy="1581912"/>
          </a:xfrm>
          <a:prstGeom prst="rect">
            <a:avLst/>
          </a:prstGeom>
          <a:solidFill>
            <a:srgbClr val="8A4B06"/>
          </a:solidFill>
          <a:ln w="12700">
            <a:solidFill>
              <a:srgbClr val="8A4B06"/>
            </a:solidFill>
            <a:prstDash val="solid"/>
          </a:ln>
        </p:spPr>
      </p:sp>
      <p:sp>
        <p:nvSpPr>
          <p:cNvPr id="48" name="Shape 46"/>
          <p:cNvSpPr/>
          <p:nvPr/>
        </p:nvSpPr>
        <p:spPr>
          <a:xfrm>
            <a:off x="3601136" y="4700016"/>
            <a:ext cx="676656" cy="676656"/>
          </a:xfrm>
          <a:prstGeom prst="ellipse">
            <a:avLst/>
          </a:prstGeom>
          <a:solidFill>
            <a:srgbClr val="FCEFD6"/>
          </a:solidFill>
          <a:ln w="12700">
            <a:solidFill>
              <a:srgbClr val="FCEFD6"/>
            </a:solidFill>
            <a:prstDash val="solid"/>
          </a:ln>
        </p:spPr>
      </p:sp>
      <p:sp>
        <p:nvSpPr>
          <p:cNvPr id="49" name="Icono scan-eye"/>
          <p:cNvSpPr/>
          <p:nvPr/>
        </p:nvSpPr>
        <p:spPr>
          <a:xfrm>
            <a:off x="3763533" y="4862413"/>
            <a:ext cx="351861" cy="351861"/>
          </a:xfrm>
          <a:custGeom>
            <a:avLst/>
            <a:gdLst/>
            <a:ahLst/>
            <a:cxnLst/>
            <a:rect l="l" t="t" r="r" b="b"/>
            <a:pathLst>
              <a:path w="351861" h="351861">
                <a:moveTo>
                  <a:pt x="43983" y="102626"/>
                </a:moveTo>
                <a:lnTo>
                  <a:pt x="43983" y="73304"/>
                </a:lnTo>
                <a:cubicBezTo>
                  <a:pt x="43983" y="57110"/>
                  <a:pt x="57110" y="43983"/>
                  <a:pt x="73304" y="43983"/>
                </a:cubicBezTo>
                <a:lnTo>
                  <a:pt x="102626" y="43983"/>
                </a:lnTo>
                <a:moveTo>
                  <a:pt x="249235" y="43983"/>
                </a:moveTo>
                <a:lnTo>
                  <a:pt x="278557" y="43983"/>
                </a:lnTo>
                <a:cubicBezTo>
                  <a:pt x="294751" y="43983"/>
                  <a:pt x="307878" y="57110"/>
                  <a:pt x="307878" y="73304"/>
                </a:cubicBezTo>
                <a:lnTo>
                  <a:pt x="307878" y="102626"/>
                </a:lnTo>
                <a:moveTo>
                  <a:pt x="307878" y="249235"/>
                </a:moveTo>
                <a:lnTo>
                  <a:pt x="307878" y="278557"/>
                </a:lnTo>
                <a:cubicBezTo>
                  <a:pt x="307878" y="294751"/>
                  <a:pt x="294751" y="307878"/>
                  <a:pt x="278557" y="307878"/>
                </a:cubicBezTo>
                <a:lnTo>
                  <a:pt x="249235" y="307878"/>
                </a:lnTo>
                <a:moveTo>
                  <a:pt x="102626" y="307878"/>
                </a:moveTo>
                <a:lnTo>
                  <a:pt x="73304" y="307878"/>
                </a:lnTo>
                <a:cubicBezTo>
                  <a:pt x="57110" y="307878"/>
                  <a:pt x="43983" y="294751"/>
                  <a:pt x="43983" y="278557"/>
                </a:cubicBezTo>
                <a:lnTo>
                  <a:pt x="43983" y="249235"/>
                </a:lnTo>
                <a:moveTo>
                  <a:pt x="190591" y="175931"/>
                </a:moveTo>
                <a:cubicBezTo>
                  <a:pt x="190591" y="184028"/>
                  <a:pt x="184028" y="190591"/>
                  <a:pt x="175931" y="190591"/>
                </a:cubicBezTo>
                <a:cubicBezTo>
                  <a:pt x="167834" y="190591"/>
                  <a:pt x="161270" y="184028"/>
                  <a:pt x="161270" y="175931"/>
                </a:cubicBezTo>
                <a:cubicBezTo>
                  <a:pt x="161270" y="167834"/>
                  <a:pt x="167834" y="161270"/>
                  <a:pt x="175931" y="161270"/>
                </a:cubicBezTo>
                <a:cubicBezTo>
                  <a:pt x="184028" y="161270"/>
                  <a:pt x="190591" y="167834"/>
                  <a:pt x="190591" y="175931"/>
                </a:cubicBezTo>
                <a:close/>
                <a:moveTo>
                  <a:pt x="277736" y="180769"/>
                </a:moveTo>
                <a:cubicBezTo>
                  <a:pt x="278831" y="177636"/>
                  <a:pt x="278831" y="174225"/>
                  <a:pt x="277736" y="171092"/>
                </a:cubicBezTo>
                <a:cubicBezTo>
                  <a:pt x="260852" y="129722"/>
                  <a:pt x="220613" y="102683"/>
                  <a:pt x="175931" y="102683"/>
                </a:cubicBezTo>
                <a:cubicBezTo>
                  <a:pt x="131248" y="102683"/>
                  <a:pt x="91009" y="129722"/>
                  <a:pt x="74125" y="171092"/>
                </a:cubicBezTo>
                <a:cubicBezTo>
                  <a:pt x="73030" y="174225"/>
                  <a:pt x="73030" y="177636"/>
                  <a:pt x="74125" y="180769"/>
                </a:cubicBezTo>
                <a:cubicBezTo>
                  <a:pt x="91009" y="222139"/>
                  <a:pt x="131248" y="249178"/>
                  <a:pt x="175931" y="249178"/>
                </a:cubicBezTo>
                <a:cubicBezTo>
                  <a:pt x="220613" y="249178"/>
                  <a:pt x="260852" y="222139"/>
                  <a:pt x="277736" y="180769"/>
                </a:cubicBezTo>
              </a:path>
            </a:pathLst>
          </a:custGeom>
          <a:noFill/>
          <a:ln w="29322" cap="rnd">
            <a:solidFill>
              <a:srgbClr val="8A4B06"/>
            </a:solidFill>
            <a:prstDash val="solid"/>
            <a:round/>
          </a:ln>
        </p:spPr>
      </p:sp>
      <p:sp>
        <p:nvSpPr>
          <p:cNvPr id="50" name="Text 48"/>
          <p:cNvSpPr/>
          <p:nvPr/>
        </p:nvSpPr>
        <p:spPr>
          <a:xfrm>
            <a:off x="4424096"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promtail</a:t>
            </a:r>
            <a:endParaRPr lang="en-US" sz="1800" dirty="0"/>
          </a:p>
        </p:txBody>
      </p:sp>
      <p:sp>
        <p:nvSpPr>
          <p:cNvPr id="51" name="Text 49"/>
          <p:cNvSpPr/>
          <p:nvPr/>
        </p:nvSpPr>
        <p:spPr>
          <a:xfrm>
            <a:off x="365600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recoge los logs</a:t>
            </a:r>
            <a:endParaRPr lang="en-US" sz="1600" dirty="0"/>
          </a:p>
        </p:txBody>
      </p:sp>
      <p:sp>
        <p:nvSpPr>
          <p:cNvPr id="52" name="Shape 50"/>
          <p:cNvSpPr/>
          <p:nvPr/>
        </p:nvSpPr>
        <p:spPr>
          <a:xfrm>
            <a:off x="618728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3" name="Shape 51"/>
          <p:cNvSpPr/>
          <p:nvPr/>
        </p:nvSpPr>
        <p:spPr>
          <a:xfrm>
            <a:off x="6187288" y="4645152"/>
            <a:ext cx="64008" cy="1581912"/>
          </a:xfrm>
          <a:prstGeom prst="rect">
            <a:avLst/>
          </a:prstGeom>
          <a:solidFill>
            <a:srgbClr val="8A4B06"/>
          </a:solidFill>
          <a:ln w="12700">
            <a:solidFill>
              <a:srgbClr val="8A4B06"/>
            </a:solidFill>
            <a:prstDash val="solid"/>
          </a:ln>
        </p:spPr>
      </p:sp>
      <p:sp>
        <p:nvSpPr>
          <p:cNvPr id="54" name="Shape 52"/>
          <p:cNvSpPr/>
          <p:nvPr/>
        </p:nvSpPr>
        <p:spPr>
          <a:xfrm>
            <a:off x="6388456" y="4700016"/>
            <a:ext cx="676656" cy="676656"/>
          </a:xfrm>
          <a:prstGeom prst="ellipse">
            <a:avLst/>
          </a:prstGeom>
          <a:solidFill>
            <a:srgbClr val="FCEFD6"/>
          </a:solidFill>
          <a:ln w="12700">
            <a:solidFill>
              <a:srgbClr val="FCEFD6"/>
            </a:solidFill>
            <a:prstDash val="solid"/>
          </a:ln>
        </p:spPr>
      </p:sp>
      <p:sp>
        <p:nvSpPr>
          <p:cNvPr id="55" name="Icono archive"/>
          <p:cNvSpPr/>
          <p:nvPr/>
        </p:nvSpPr>
        <p:spPr>
          <a:xfrm>
            <a:off x="6550853" y="4862413"/>
            <a:ext cx="351861" cy="351861"/>
          </a:xfrm>
          <a:custGeom>
            <a:avLst/>
            <a:gdLst/>
            <a:ahLst/>
            <a:cxnLst/>
            <a:rect l="l" t="t" r="r" b="b"/>
            <a:pathLst>
              <a:path w="351861" h="351861">
                <a:moveTo>
                  <a:pt x="43983" y="43983"/>
                </a:moveTo>
                <a:lnTo>
                  <a:pt x="307878" y="43983"/>
                </a:lnTo>
                <a:cubicBezTo>
                  <a:pt x="315975" y="43983"/>
                  <a:pt x="322539" y="50547"/>
                  <a:pt x="322539" y="58644"/>
                </a:cubicBezTo>
                <a:lnTo>
                  <a:pt x="322539" y="102626"/>
                </a:lnTo>
                <a:cubicBezTo>
                  <a:pt x="322539" y="110723"/>
                  <a:pt x="315975" y="117287"/>
                  <a:pt x="307878" y="117287"/>
                </a:cubicBezTo>
                <a:lnTo>
                  <a:pt x="43983" y="117287"/>
                </a:lnTo>
                <a:cubicBezTo>
                  <a:pt x="35886" y="117287"/>
                  <a:pt x="29322" y="110723"/>
                  <a:pt x="29322" y="102626"/>
                </a:cubicBezTo>
                <a:lnTo>
                  <a:pt x="29322" y="58644"/>
                </a:lnTo>
                <a:cubicBezTo>
                  <a:pt x="29322" y="50547"/>
                  <a:pt x="35886" y="43983"/>
                  <a:pt x="43983" y="43983"/>
                </a:cubicBezTo>
                <a:close/>
                <a:moveTo>
                  <a:pt x="58644" y="117287"/>
                </a:moveTo>
                <a:lnTo>
                  <a:pt x="58644" y="278557"/>
                </a:lnTo>
                <a:cubicBezTo>
                  <a:pt x="58644" y="294751"/>
                  <a:pt x="71771" y="307878"/>
                  <a:pt x="87965" y="307878"/>
                </a:cubicBezTo>
                <a:lnTo>
                  <a:pt x="263896" y="307878"/>
                </a:lnTo>
                <a:cubicBezTo>
                  <a:pt x="280090" y="307878"/>
                  <a:pt x="293218" y="294751"/>
                  <a:pt x="293218" y="278557"/>
                </a:cubicBezTo>
                <a:lnTo>
                  <a:pt x="293218" y="117287"/>
                </a:lnTo>
                <a:moveTo>
                  <a:pt x="146609" y="175931"/>
                </a:moveTo>
                <a:lnTo>
                  <a:pt x="205252" y="175931"/>
                </a:lnTo>
              </a:path>
            </a:pathLst>
          </a:custGeom>
          <a:noFill/>
          <a:ln w="29322" cap="rnd">
            <a:solidFill>
              <a:srgbClr val="8A4B06"/>
            </a:solidFill>
            <a:prstDash val="solid"/>
            <a:round/>
          </a:ln>
        </p:spPr>
      </p:sp>
      <p:sp>
        <p:nvSpPr>
          <p:cNvPr id="56" name="Text 54"/>
          <p:cNvSpPr/>
          <p:nvPr/>
        </p:nvSpPr>
        <p:spPr>
          <a:xfrm>
            <a:off x="7211416"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loki</a:t>
            </a:r>
            <a:endParaRPr lang="en-US" sz="1800" dirty="0"/>
          </a:p>
        </p:txBody>
      </p:sp>
      <p:sp>
        <p:nvSpPr>
          <p:cNvPr id="57" name="Text 55"/>
          <p:cNvSpPr/>
          <p:nvPr/>
        </p:nvSpPr>
        <p:spPr>
          <a:xfrm>
            <a:off x="644332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:3100 · guarda los logs</a:t>
            </a:r>
            <a:endParaRPr lang="en-US" sz="1600" dirty="0"/>
          </a:p>
        </p:txBody>
      </p:sp>
      <p:sp>
        <p:nvSpPr>
          <p:cNvPr id="58" name="Shape 56"/>
          <p:cNvSpPr/>
          <p:nvPr/>
        </p:nvSpPr>
        <p:spPr>
          <a:xfrm>
            <a:off x="8974607"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9" name="Shape 57"/>
          <p:cNvSpPr/>
          <p:nvPr/>
        </p:nvSpPr>
        <p:spPr>
          <a:xfrm>
            <a:off x="8974607" y="4645152"/>
            <a:ext cx="64008" cy="1581912"/>
          </a:xfrm>
          <a:prstGeom prst="rect">
            <a:avLst/>
          </a:prstGeom>
          <a:solidFill>
            <a:srgbClr val="8A4B06"/>
          </a:solidFill>
          <a:ln w="12700">
            <a:solidFill>
              <a:srgbClr val="8A4B06"/>
            </a:solidFill>
            <a:prstDash val="solid"/>
          </a:ln>
        </p:spPr>
      </p:sp>
      <p:sp>
        <p:nvSpPr>
          <p:cNvPr id="60" name="Shape 58"/>
          <p:cNvSpPr/>
          <p:nvPr/>
        </p:nvSpPr>
        <p:spPr>
          <a:xfrm>
            <a:off x="9175775" y="4700016"/>
            <a:ext cx="676656" cy="676656"/>
          </a:xfrm>
          <a:prstGeom prst="ellipse">
            <a:avLst/>
          </a:prstGeom>
          <a:solidFill>
            <a:srgbClr val="FCEFD6"/>
          </a:solidFill>
          <a:ln w="12700">
            <a:solidFill>
              <a:srgbClr val="FCEFD6"/>
            </a:solidFill>
            <a:prstDash val="solid"/>
          </a:ln>
        </p:spPr>
      </p:sp>
      <p:sp>
        <p:nvSpPr>
          <p:cNvPr id="61" name="Icono chart-line"/>
          <p:cNvSpPr/>
          <p:nvPr/>
        </p:nvSpPr>
        <p:spPr>
          <a:xfrm>
            <a:off x="9338173" y="4862413"/>
            <a:ext cx="351861" cy="351861"/>
          </a:xfrm>
          <a:custGeom>
            <a:avLst/>
            <a:gdLst/>
            <a:ahLst/>
            <a:cxnLst/>
            <a:rect l="l" t="t" r="r" b="b"/>
            <a:pathLst>
              <a:path w="351861" h="351861">
                <a:moveTo>
                  <a:pt x="43983" y="43983"/>
                </a:moveTo>
                <a:lnTo>
                  <a:pt x="43983" y="278557"/>
                </a:lnTo>
                <a:cubicBezTo>
                  <a:pt x="43983" y="294751"/>
                  <a:pt x="57110" y="307878"/>
                  <a:pt x="73304" y="307878"/>
                </a:cubicBezTo>
                <a:lnTo>
                  <a:pt x="307878" y="307878"/>
                </a:lnTo>
                <a:moveTo>
                  <a:pt x="278557" y="131948"/>
                </a:moveTo>
                <a:lnTo>
                  <a:pt x="205252" y="205252"/>
                </a:lnTo>
                <a:lnTo>
                  <a:pt x="146609" y="146609"/>
                </a:lnTo>
                <a:lnTo>
                  <a:pt x="102626" y="190591"/>
                </a:lnTo>
              </a:path>
            </a:pathLst>
          </a:custGeom>
          <a:noFill/>
          <a:ln w="29322" cap="rnd">
            <a:solidFill>
              <a:srgbClr val="8A4B06"/>
            </a:solidFill>
            <a:prstDash val="solid"/>
            <a:round/>
          </a:ln>
        </p:spPr>
      </p:sp>
      <p:sp>
        <p:nvSpPr>
          <p:cNvPr id="62" name="Text 60"/>
          <p:cNvSpPr/>
          <p:nvPr/>
        </p:nvSpPr>
        <p:spPr>
          <a:xfrm>
            <a:off x="9998735"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grafana</a:t>
            </a:r>
            <a:endParaRPr lang="en-US" sz="1800" dirty="0"/>
          </a:p>
        </p:txBody>
      </p:sp>
      <p:sp>
        <p:nvSpPr>
          <p:cNvPr id="63" name="Text 61"/>
          <p:cNvSpPr/>
          <p:nvPr/>
        </p:nvSpPr>
        <p:spPr>
          <a:xfrm>
            <a:off x="9230639"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:3000 · busca en los logs</a:t>
            </a:r>
            <a:endParaRPr lang="en-US" sz="1600" dirty="0"/>
          </a:p>
        </p:txBody>
      </p:sp>
      <p:sp>
        <p:nvSpPr>
          <p:cNvPr id="64" name="Text 6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40</a:t>
            </a:fld>
            <a:endParaRPr lang="en-US"/>
          </a:p>
        </p:txBody>
      </p:sp>
    </p:spTree>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del push a la imagen publicada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CI comprueba cada cambio; CD deja la imagen lista para desplegar.</a:t>
            </a:r>
            <a:endParaRPr lang="en-US" sz="1700" dirty="0"/>
          </a:p>
        </p:txBody>
      </p:sp>
      <p:sp>
        <p:nvSpPr>
          <p:cNvPr id="13" name="Shape 11"/>
          <p:cNvSpPr/>
          <p:nvPr/>
        </p:nvSpPr>
        <p:spPr>
          <a:xfrm>
            <a:off x="612648" y="1719072"/>
            <a:ext cx="10966399" cy="1897380"/>
          </a:xfrm>
          <a:prstGeom prst="roundRect">
            <a:avLst>
              <a:gd name="adj" fmla="val 6747"/>
            </a:avLst>
          </a:prstGeom>
          <a:solidFill>
            <a:srgbClr val="F0F4FA"/>
          </a:solidFill>
          <a:ln w="12700">
            <a:solidFill>
              <a:srgbClr val="AAB2C2"/>
            </a:solidFill>
            <a:prstDash val="solid"/>
          </a:ln>
        </p:spPr>
      </p:sp>
      <p:sp>
        <p:nvSpPr>
          <p:cNvPr id="14" name="Text 12"/>
          <p:cNvSpPr/>
          <p:nvPr/>
        </p:nvSpPr>
        <p:spPr>
          <a:xfrm>
            <a:off x="612648" y="1719072"/>
            <a:ext cx="1874520" cy="1897380"/>
          </a:xfrm>
          <a:prstGeom prst="roundRect">
            <a:avLst>
              <a:gd name="adj" fmla="val 6829"/>
            </a:avLst>
          </a:prstGeom>
          <a:solidFill>
            <a:srgbClr val="0B2350"/>
          </a:solidFill>
          <a:ln>
            <a:solidFill>
              <a:srgbClr val="0B2350"/>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Pull Request hacia main</a:t>
            </a:r>
            <a:endParaRPr lang="en-US" sz="1600" dirty="0"/>
          </a:p>
        </p:txBody>
      </p:sp>
      <p:sp>
        <p:nvSpPr>
          <p:cNvPr id="15" name="Shape 13"/>
          <p:cNvSpPr/>
          <p:nvPr/>
        </p:nvSpPr>
        <p:spPr>
          <a:xfrm>
            <a:off x="4634728" y="2080260"/>
            <a:ext cx="4888200" cy="0"/>
          </a:xfrm>
          <a:prstGeom prst="line">
            <a:avLst/>
          </a:prstGeom>
          <a:noFill/>
          <a:ln w="25400">
            <a:solidFill>
              <a:srgbClr val="0B6E8A"/>
            </a:solidFill>
            <a:prstDash val="solid"/>
          </a:ln>
        </p:spPr>
      </p:sp>
      <p:sp>
        <p:nvSpPr>
          <p:cNvPr id="16" name="Shape 14"/>
          <p:cNvSpPr/>
          <p:nvPr/>
        </p:nvSpPr>
        <p:spPr>
          <a:xfrm>
            <a:off x="4634728" y="2080260"/>
            <a:ext cx="0" cy="73152"/>
          </a:xfrm>
          <a:prstGeom prst="line">
            <a:avLst/>
          </a:prstGeom>
          <a:noFill/>
          <a:ln w="25400">
            <a:solidFill>
              <a:srgbClr val="0B6E8A"/>
            </a:solidFill>
            <a:prstDash val="solid"/>
          </a:ln>
        </p:spPr>
      </p:sp>
      <p:sp>
        <p:nvSpPr>
          <p:cNvPr id="17" name="Shape 15"/>
          <p:cNvSpPr/>
          <p:nvPr/>
        </p:nvSpPr>
        <p:spPr>
          <a:xfrm>
            <a:off x="9522927" y="2080260"/>
            <a:ext cx="0" cy="73152"/>
          </a:xfrm>
          <a:prstGeom prst="line">
            <a:avLst/>
          </a:prstGeom>
          <a:noFill/>
          <a:ln w="25400">
            <a:solidFill>
              <a:srgbClr val="0B6E8A"/>
            </a:solidFill>
            <a:prstDash val="solid"/>
          </a:ln>
        </p:spPr>
      </p:sp>
      <p:sp>
        <p:nvSpPr>
          <p:cNvPr id="18" name="Text 16"/>
          <p:cNvSpPr/>
          <p:nvPr/>
        </p:nvSpPr>
        <p:spPr>
          <a:xfrm>
            <a:off x="5924398" y="1751076"/>
            <a:ext cx="2308860"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 · integración continua</a:t>
            </a:r>
            <a:endParaRPr lang="en-US" sz="1000" dirty="0"/>
          </a:p>
        </p:txBody>
      </p:sp>
      <p:sp>
        <p:nvSpPr>
          <p:cNvPr id="19" name="Shape 17"/>
          <p:cNvSpPr/>
          <p:nvPr/>
        </p:nvSpPr>
        <p:spPr>
          <a:xfrm>
            <a:off x="2761488"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3176900" y="2263140"/>
            <a:ext cx="457200" cy="457200"/>
          </a:xfrm>
          <a:prstGeom prst="ellipse">
            <a:avLst/>
          </a:prstGeom>
          <a:solidFill>
            <a:srgbClr val="E8EEF8"/>
          </a:solidFill>
          <a:ln w="12700">
            <a:solidFill>
              <a:srgbClr val="E8EEF8"/>
            </a:solidFill>
            <a:prstDash val="solid"/>
          </a:ln>
        </p:spPr>
      </p:sp>
      <p:sp>
        <p:nvSpPr>
          <p:cNvPr id="21" name="Icono git-pull-request"/>
          <p:cNvSpPr/>
          <p:nvPr/>
        </p:nvSpPr>
        <p:spPr>
          <a:xfrm>
            <a:off x="3286628" y="237286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128778" y="59436"/>
                </a:moveTo>
                <a:lnTo>
                  <a:pt x="158496" y="59436"/>
                </a:lnTo>
                <a:cubicBezTo>
                  <a:pt x="169438" y="59436"/>
                  <a:pt x="178308" y="68306"/>
                  <a:pt x="178308" y="79248"/>
                </a:cubicBezTo>
                <a:lnTo>
                  <a:pt x="178308" y="148590"/>
                </a:lnTo>
                <a:moveTo>
                  <a:pt x="59436" y="89154"/>
                </a:moveTo>
                <a:lnTo>
                  <a:pt x="59436" y="208026"/>
                </a:lnTo>
              </a:path>
            </a:pathLst>
          </a:custGeom>
          <a:noFill/>
          <a:ln w="19812" cap="rnd">
            <a:solidFill>
              <a:srgbClr val="0B2350"/>
            </a:solidFill>
            <a:prstDash val="solid"/>
            <a:round/>
          </a:ln>
        </p:spPr>
      </p:sp>
      <p:sp>
        <p:nvSpPr>
          <p:cNvPr id="22" name="Text 20"/>
          <p:cNvSpPr/>
          <p:nvPr/>
        </p:nvSpPr>
        <p:spPr>
          <a:xfrm>
            <a:off x="2834640" y="2756916"/>
            <a:ext cx="1141720" cy="292608"/>
          </a:xfrm>
          <a:prstGeom prst="rect">
            <a:avLst/>
          </a:prstGeom>
          <a:noFill/>
          <a:ln/>
        </p:spPr>
        <p:txBody>
          <a:bodyPr wrap="square" lIns="0" tIns="0" rIns="0" bIns="0" rtlCol="0" anchor="ctr">
            <a:normAutofit/>
          </a:bodyPr>
          <a:lstStyle/>
          <a:p>
            <a:pPr algn="ctr" indent="0" marL="0">
              <a:buNone/>
            </a:pPr>
            <a:r>
              <a:rPr lang="en-US" sz="1350" b="1" dirty="0">
                <a:solidFill>
                  <a:srgbClr val="0B2350"/>
                </a:solidFill>
                <a:latin typeface="Segoe UI Semibold" pitchFamily="34" charset="0"/>
                <a:ea typeface="Segoe UI Semibold" pitchFamily="34" charset="-122"/>
                <a:cs typeface="Segoe UI Semibold" pitchFamily="34" charset="-120"/>
              </a:rPr>
              <a:t>Abres el PR</a:t>
            </a:r>
            <a:endParaRPr lang="en-US" sz="1350" dirty="0"/>
          </a:p>
        </p:txBody>
      </p:sp>
      <p:sp>
        <p:nvSpPr>
          <p:cNvPr id="23" name="Text 21"/>
          <p:cNvSpPr/>
          <p:nvPr/>
        </p:nvSpPr>
        <p:spPr>
          <a:xfrm>
            <a:off x="2852928"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Desde tu rama feat/…</a:t>
            </a:r>
            <a:endParaRPr lang="en-US" sz="1100" dirty="0"/>
          </a:p>
        </p:txBody>
      </p:sp>
      <p:sp>
        <p:nvSpPr>
          <p:cNvPr id="24" name="Shape 22"/>
          <p:cNvSpPr/>
          <p:nvPr/>
        </p:nvSpPr>
        <p:spPr>
          <a:xfrm>
            <a:off x="4122664" y="2811780"/>
            <a:ext cx="402336" cy="0"/>
          </a:xfrm>
          <a:prstGeom prst="line">
            <a:avLst/>
          </a:prstGeom>
          <a:noFill/>
          <a:ln w="31750">
            <a:solidFill>
              <a:srgbClr val="0B2350"/>
            </a:solidFill>
            <a:prstDash val="solid"/>
            <a:tailEnd type="triangle"/>
          </a:ln>
        </p:spPr>
      </p:sp>
      <p:sp>
        <p:nvSpPr>
          <p:cNvPr id="25" name="Shape 23"/>
          <p:cNvSpPr/>
          <p:nvPr/>
        </p:nvSpPr>
        <p:spPr>
          <a:xfrm>
            <a:off x="4598152"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6" name="Shape 24"/>
          <p:cNvSpPr/>
          <p:nvPr/>
        </p:nvSpPr>
        <p:spPr>
          <a:xfrm>
            <a:off x="5013564" y="2263140"/>
            <a:ext cx="457200" cy="457200"/>
          </a:xfrm>
          <a:prstGeom prst="ellipse">
            <a:avLst/>
          </a:prstGeom>
          <a:solidFill>
            <a:srgbClr val="E8EEF8"/>
          </a:solidFill>
          <a:ln w="12700">
            <a:solidFill>
              <a:srgbClr val="E8EEF8"/>
            </a:solidFill>
            <a:prstDash val="solid"/>
          </a:ln>
        </p:spPr>
      </p:sp>
      <p:sp>
        <p:nvSpPr>
          <p:cNvPr id="27" name="Icono flask-conical"/>
          <p:cNvSpPr/>
          <p:nvPr/>
        </p:nvSpPr>
        <p:spPr>
          <a:xfrm>
            <a:off x="5123292" y="237286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B2350"/>
            </a:solidFill>
            <a:prstDash val="solid"/>
            <a:round/>
          </a:ln>
        </p:spPr>
      </p:sp>
      <p:sp>
        <p:nvSpPr>
          <p:cNvPr id="28" name="Text 26"/>
          <p:cNvSpPr/>
          <p:nvPr/>
        </p:nvSpPr>
        <p:spPr>
          <a:xfrm>
            <a:off x="4671304" y="2756916"/>
            <a:ext cx="1141720" cy="292608"/>
          </a:xfrm>
          <a:prstGeom prst="rect">
            <a:avLst/>
          </a:prstGeom>
          <a:noFill/>
          <a:ln/>
        </p:spPr>
        <p:txBody>
          <a:bodyPr wrap="square" lIns="0" tIns="0" rIns="0" bIns="0" rtlCol="0" anchor="ctr">
            <a:normAutofit/>
          </a:bodyPr>
          <a:lstStyle/>
          <a:p>
            <a:pPr algn="ctr" indent="0" marL="0">
              <a:buNone/>
            </a:pPr>
            <a:r>
              <a:rPr lang="en-US" sz="950" b="1" dirty="0">
                <a:solidFill>
                  <a:srgbClr val="0B2350"/>
                </a:solidFill>
                <a:latin typeface="Segoe UI Semibold" pitchFamily="34" charset="0"/>
                <a:ea typeface="Segoe UI Semibold" pitchFamily="34" charset="-122"/>
                <a:cs typeface="Segoe UI Semibold" pitchFamily="34" charset="-120"/>
              </a:rPr>
              <a:t>Compila y prueba</a:t>
            </a:r>
            <a:endParaRPr lang="en-US" sz="950" dirty="0"/>
          </a:p>
        </p:txBody>
      </p:sp>
      <p:sp>
        <p:nvSpPr>
          <p:cNvPr id="29" name="Text 27"/>
          <p:cNvSpPr/>
          <p:nvPr/>
        </p:nvSpPr>
        <p:spPr>
          <a:xfrm>
            <a:off x="4689592" y="3049524"/>
            <a:ext cx="1105144" cy="347472"/>
          </a:xfrm>
          <a:prstGeom prst="rect">
            <a:avLst/>
          </a:prstGeom>
          <a:noFill/>
          <a:ln/>
        </p:spPr>
        <p:txBody>
          <a:bodyPr wrap="square" lIns="0" tIns="0" rIns="0" bIns="0" rtlCol="0" anchor="t">
            <a:normAutofit/>
          </a:bodyPr>
          <a:lstStyle/>
          <a:p>
            <a:pPr algn="ctr" indent="0" marL="0">
              <a:buNone/>
            </a:pPr>
            <a:r>
              <a:rPr lang="en-US" sz="850" dirty="0">
                <a:solidFill>
                  <a:srgbClr val="0B1A3C"/>
                </a:solidFill>
                <a:latin typeface="Segoe UI" pitchFamily="34" charset="0"/>
                <a:ea typeface="Segoe UI" pitchFamily="34" charset="-122"/>
                <a:cs typeface="Segoe UI" pitchFamily="34" charset="-120"/>
              </a:rPr>
              <a:t>mvn verify con PostgreSQL temporal</a:t>
            </a:r>
            <a:endParaRPr lang="en-US" sz="850" dirty="0"/>
          </a:p>
        </p:txBody>
      </p:sp>
      <p:sp>
        <p:nvSpPr>
          <p:cNvPr id="30" name="Shape 28"/>
          <p:cNvSpPr/>
          <p:nvPr/>
        </p:nvSpPr>
        <p:spPr>
          <a:xfrm>
            <a:off x="5959328" y="2811780"/>
            <a:ext cx="402336" cy="0"/>
          </a:xfrm>
          <a:prstGeom prst="line">
            <a:avLst/>
          </a:prstGeom>
          <a:noFill/>
          <a:ln w="31750">
            <a:solidFill>
              <a:srgbClr val="0B2350"/>
            </a:solidFill>
            <a:prstDash val="solid"/>
            <a:tailEnd type="triangle"/>
          </a:ln>
        </p:spPr>
      </p:sp>
      <p:sp>
        <p:nvSpPr>
          <p:cNvPr id="31" name="Shape 29"/>
          <p:cNvSpPr/>
          <p:nvPr/>
        </p:nvSpPr>
        <p:spPr>
          <a:xfrm>
            <a:off x="6434816"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2" name="Shape 30"/>
          <p:cNvSpPr/>
          <p:nvPr/>
        </p:nvSpPr>
        <p:spPr>
          <a:xfrm>
            <a:off x="6850228" y="2263140"/>
            <a:ext cx="457200" cy="457200"/>
          </a:xfrm>
          <a:prstGeom prst="ellipse">
            <a:avLst/>
          </a:prstGeom>
          <a:solidFill>
            <a:srgbClr val="E8EEF8"/>
          </a:solidFill>
          <a:ln w="12700">
            <a:solidFill>
              <a:srgbClr val="E8EEF8"/>
            </a:solidFill>
            <a:prstDash val="solid"/>
          </a:ln>
        </p:spPr>
      </p:sp>
      <p:sp>
        <p:nvSpPr>
          <p:cNvPr id="33" name="Icono power"/>
          <p:cNvSpPr/>
          <p:nvPr/>
        </p:nvSpPr>
        <p:spPr>
          <a:xfrm>
            <a:off x="6959956" y="2372868"/>
            <a:ext cx="237744" cy="237744"/>
          </a:xfrm>
          <a:custGeom>
            <a:avLst/>
            <a:gdLst/>
            <a:ahLst/>
            <a:cxnLst/>
            <a:rect l="l" t="t" r="r" b="b"/>
            <a:pathLst>
              <a:path w="237744" h="237744">
                <a:moveTo>
                  <a:pt x="118872" y="19812"/>
                </a:moveTo>
                <a:lnTo>
                  <a:pt x="118872" y="118872"/>
                </a:lnTo>
                <a:moveTo>
                  <a:pt x="182270" y="65380"/>
                </a:moveTo>
                <a:cubicBezTo>
                  <a:pt x="217026" y="100148"/>
                  <a:pt x="217078" y="156490"/>
                  <a:pt x="182386" y="191323"/>
                </a:cubicBezTo>
                <a:cubicBezTo>
                  <a:pt x="147695" y="226156"/>
                  <a:pt x="91353" y="226332"/>
                  <a:pt x="56444" y="191717"/>
                </a:cubicBezTo>
                <a:cubicBezTo>
                  <a:pt x="21534" y="157103"/>
                  <a:pt x="21233" y="100762"/>
                  <a:pt x="55771" y="65776"/>
                </a:cubicBezTo>
              </a:path>
            </a:pathLst>
          </a:custGeom>
          <a:noFill/>
          <a:ln w="19812" cap="rnd">
            <a:solidFill>
              <a:srgbClr val="0B2350"/>
            </a:solidFill>
            <a:prstDash val="solid"/>
            <a:round/>
          </a:ln>
        </p:spPr>
      </p:sp>
      <p:sp>
        <p:nvSpPr>
          <p:cNvPr id="34" name="Text 32"/>
          <p:cNvSpPr/>
          <p:nvPr/>
        </p:nvSpPr>
        <p:spPr>
          <a:xfrm>
            <a:off x="6507968" y="2756916"/>
            <a:ext cx="1141720" cy="292608"/>
          </a:xfrm>
          <a:prstGeom prst="rect">
            <a:avLst/>
          </a:prstGeom>
          <a:noFill/>
          <a:ln/>
        </p:spPr>
        <p:txBody>
          <a:bodyPr wrap="square" lIns="0" tIns="0" rIns="0" bIns="0" rtlCol="0" anchor="ctr">
            <a:normAutofit/>
          </a:bodyPr>
          <a:lstStyle/>
          <a:p>
            <a:pPr algn="ctr" indent="0" marL="0">
              <a:buNone/>
            </a:pPr>
            <a:r>
              <a:rPr lang="en-US" sz="1400" b="1" dirty="0">
                <a:solidFill>
                  <a:srgbClr val="0B2350"/>
                </a:solidFill>
                <a:latin typeface="Segoe UI Semibold" pitchFamily="34" charset="0"/>
                <a:ea typeface="Segoe UI Semibold" pitchFamily="34" charset="-122"/>
                <a:cs typeface="Segoe UI Semibold" pitchFamily="34" charset="-120"/>
              </a:rPr>
              <a:t>Arranca</a:t>
            </a:r>
            <a:endParaRPr lang="en-US" sz="1400" dirty="0"/>
          </a:p>
        </p:txBody>
      </p:sp>
      <p:sp>
        <p:nvSpPr>
          <p:cNvPr id="35" name="Text 33"/>
          <p:cNvSpPr/>
          <p:nvPr/>
        </p:nvSpPr>
        <p:spPr>
          <a:xfrm>
            <a:off x="6526256" y="3049524"/>
            <a:ext cx="1105144"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El servicio responde de verdad</a:t>
            </a:r>
            <a:endParaRPr lang="en-US" sz="900" dirty="0"/>
          </a:p>
        </p:txBody>
      </p:sp>
      <p:sp>
        <p:nvSpPr>
          <p:cNvPr id="36" name="Shape 34"/>
          <p:cNvSpPr/>
          <p:nvPr/>
        </p:nvSpPr>
        <p:spPr>
          <a:xfrm>
            <a:off x="7795992" y="2811780"/>
            <a:ext cx="402336" cy="0"/>
          </a:xfrm>
          <a:prstGeom prst="line">
            <a:avLst/>
          </a:prstGeom>
          <a:noFill/>
          <a:ln w="31750">
            <a:solidFill>
              <a:srgbClr val="0B2350"/>
            </a:solidFill>
            <a:prstDash val="solid"/>
            <a:tailEnd type="triangle"/>
          </a:ln>
        </p:spPr>
      </p:sp>
      <p:sp>
        <p:nvSpPr>
          <p:cNvPr id="37" name="Shape 35"/>
          <p:cNvSpPr/>
          <p:nvPr/>
        </p:nvSpPr>
        <p:spPr>
          <a:xfrm>
            <a:off x="8271480"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8" name="Shape 36"/>
          <p:cNvSpPr/>
          <p:nvPr/>
        </p:nvSpPr>
        <p:spPr>
          <a:xfrm>
            <a:off x="8686891" y="2263140"/>
            <a:ext cx="457200" cy="457200"/>
          </a:xfrm>
          <a:prstGeom prst="ellipse">
            <a:avLst/>
          </a:prstGeom>
          <a:solidFill>
            <a:srgbClr val="E8EEF8"/>
          </a:solidFill>
          <a:ln w="12700">
            <a:solidFill>
              <a:srgbClr val="E8EEF8"/>
            </a:solidFill>
            <a:prstDash val="solid"/>
          </a:ln>
        </p:spPr>
      </p:sp>
      <p:sp>
        <p:nvSpPr>
          <p:cNvPr id="39" name="Icono package"/>
          <p:cNvSpPr/>
          <p:nvPr/>
        </p:nvSpPr>
        <p:spPr>
          <a:xfrm>
            <a:off x="8796619" y="2372868"/>
            <a:ext cx="237744" cy="237744"/>
          </a:xfrm>
          <a:custGeom>
            <a:avLst/>
            <a:gdLst/>
            <a:ahLst/>
            <a:cxnLst/>
            <a:rect l="l" t="t" r="r" b="b"/>
            <a:pathLst>
              <a:path w="237744" h="237744">
                <a:moveTo>
                  <a:pt x="108966" y="215257"/>
                </a:moveTo>
                <a:cubicBezTo>
                  <a:pt x="115096" y="218796"/>
                  <a:pt x="122648" y="218796"/>
                  <a:pt x="128778" y="215257"/>
                </a:cubicBezTo>
                <a:lnTo>
                  <a:pt x="198120" y="175633"/>
                </a:lnTo>
                <a:cubicBezTo>
                  <a:pt x="204244" y="172098"/>
                  <a:pt x="208019" y="165567"/>
                  <a:pt x="208026" y="158496"/>
                </a:cubicBezTo>
                <a:lnTo>
                  <a:pt x="208026" y="79248"/>
                </a:lnTo>
                <a:cubicBezTo>
                  <a:pt x="208019" y="72177"/>
                  <a:pt x="204244" y="65646"/>
                  <a:pt x="198120" y="62111"/>
                </a:cubicBezTo>
                <a:lnTo>
                  <a:pt x="128778" y="22487"/>
                </a:lnTo>
                <a:cubicBezTo>
                  <a:pt x="122648" y="18948"/>
                  <a:pt x="115096" y="18948"/>
                  <a:pt x="108966" y="22487"/>
                </a:cubicBezTo>
                <a:lnTo>
                  <a:pt x="39624" y="62111"/>
                </a:lnTo>
                <a:cubicBezTo>
                  <a:pt x="33500" y="65646"/>
                  <a:pt x="29725" y="72177"/>
                  <a:pt x="29718" y="79248"/>
                </a:cubicBezTo>
                <a:lnTo>
                  <a:pt x="29718" y="158496"/>
                </a:lnTo>
                <a:cubicBezTo>
                  <a:pt x="29725" y="165567"/>
                  <a:pt x="33500" y="172098"/>
                  <a:pt x="39624" y="175633"/>
                </a:cubicBezTo>
                <a:close/>
                <a:moveTo>
                  <a:pt x="118872" y="217932"/>
                </a:moveTo>
                <a:lnTo>
                  <a:pt x="118872" y="118872"/>
                </a:lnTo>
                <a:moveTo>
                  <a:pt x="32690" y="69342"/>
                </a:moveTo>
                <a:lnTo>
                  <a:pt x="108996" y="116237"/>
                </a:lnTo>
                <a:cubicBezTo>
                  <a:pt x="115110" y="119753"/>
                  <a:pt x="122634" y="119753"/>
                  <a:pt x="128748" y="116237"/>
                </a:cubicBezTo>
                <a:lnTo>
                  <a:pt x="205054" y="69342"/>
                </a:lnTo>
                <a:moveTo>
                  <a:pt x="74295" y="42299"/>
                </a:moveTo>
                <a:lnTo>
                  <a:pt x="163449" y="93315"/>
                </a:lnTo>
              </a:path>
            </a:pathLst>
          </a:custGeom>
          <a:noFill/>
          <a:ln w="19812" cap="rnd">
            <a:solidFill>
              <a:srgbClr val="0B2350"/>
            </a:solidFill>
            <a:prstDash val="solid"/>
            <a:round/>
          </a:ln>
        </p:spPr>
      </p:sp>
      <p:sp>
        <p:nvSpPr>
          <p:cNvPr id="40" name="Text 38"/>
          <p:cNvSpPr/>
          <p:nvPr/>
        </p:nvSpPr>
        <p:spPr>
          <a:xfrm>
            <a:off x="8344632" y="2756916"/>
            <a:ext cx="1141720" cy="292608"/>
          </a:xfrm>
          <a:prstGeom prst="rect">
            <a:avLst/>
          </a:prstGeom>
          <a:noFill/>
          <a:ln/>
        </p:spPr>
        <p:txBody>
          <a:bodyPr wrap="square" lIns="0" tIns="0" rIns="0" bIns="0" rtlCol="0" anchor="ctr">
            <a:normAutofit/>
          </a:bodyPr>
          <a:lstStyle/>
          <a:p>
            <a:pPr algn="ctr" indent="0" marL="0">
              <a:buNone/>
            </a:pPr>
            <a:r>
              <a:rPr lang="en-US" sz="900" b="1" dirty="0">
                <a:solidFill>
                  <a:srgbClr val="0B2350"/>
                </a:solidFill>
                <a:latin typeface="Segoe UI Semibold" pitchFamily="34" charset="0"/>
                <a:ea typeface="Segoe UI Semibold" pitchFamily="34" charset="-122"/>
                <a:cs typeface="Segoe UI Semibold" pitchFamily="34" charset="-120"/>
              </a:rPr>
              <a:t>Construye la imagen</a:t>
            </a:r>
            <a:endParaRPr lang="en-US" sz="900" dirty="0"/>
          </a:p>
        </p:txBody>
      </p:sp>
      <p:sp>
        <p:nvSpPr>
          <p:cNvPr id="41" name="Text 39"/>
          <p:cNvSpPr/>
          <p:nvPr/>
        </p:nvSpPr>
        <p:spPr>
          <a:xfrm>
            <a:off x="8362920" y="3049524"/>
            <a:ext cx="1105144"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docker build</a:t>
            </a:r>
            <a:endParaRPr lang="en-US" sz="1150" dirty="0"/>
          </a:p>
        </p:txBody>
      </p:sp>
      <p:sp>
        <p:nvSpPr>
          <p:cNvPr id="42" name="Shape 40"/>
          <p:cNvSpPr/>
          <p:nvPr/>
        </p:nvSpPr>
        <p:spPr>
          <a:xfrm>
            <a:off x="9632655" y="2811780"/>
            <a:ext cx="402336" cy="0"/>
          </a:xfrm>
          <a:prstGeom prst="line">
            <a:avLst/>
          </a:prstGeom>
          <a:noFill/>
          <a:ln w="31750">
            <a:solidFill>
              <a:srgbClr val="0B2350"/>
            </a:solidFill>
            <a:prstDash val="solid"/>
            <a:tailEnd type="triangle"/>
          </a:ln>
        </p:spPr>
      </p:sp>
      <p:sp>
        <p:nvSpPr>
          <p:cNvPr id="43" name="Shape 41"/>
          <p:cNvSpPr/>
          <p:nvPr/>
        </p:nvSpPr>
        <p:spPr>
          <a:xfrm>
            <a:off x="10108143"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4" name="Shape 42"/>
          <p:cNvSpPr/>
          <p:nvPr/>
        </p:nvSpPr>
        <p:spPr>
          <a:xfrm>
            <a:off x="10523555" y="2263140"/>
            <a:ext cx="457200" cy="457200"/>
          </a:xfrm>
          <a:prstGeom prst="ellipse">
            <a:avLst/>
          </a:prstGeom>
          <a:solidFill>
            <a:srgbClr val="E8EEF8"/>
          </a:solidFill>
          <a:ln w="12700">
            <a:solidFill>
              <a:srgbClr val="E8EEF8"/>
            </a:solidFill>
            <a:prstDash val="solid"/>
          </a:ln>
        </p:spPr>
      </p:sp>
      <p:sp>
        <p:nvSpPr>
          <p:cNvPr id="45" name="Icono circle-check"/>
          <p:cNvSpPr/>
          <p:nvPr/>
        </p:nvSpPr>
        <p:spPr>
          <a:xfrm>
            <a:off x="10633283" y="2372868"/>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89154" y="118872"/>
                </a:moveTo>
                <a:lnTo>
                  <a:pt x="108966" y="138684"/>
                </a:lnTo>
                <a:lnTo>
                  <a:pt x="148590" y="99060"/>
                </a:lnTo>
              </a:path>
            </a:pathLst>
          </a:custGeom>
          <a:noFill/>
          <a:ln w="19812" cap="rnd">
            <a:solidFill>
              <a:srgbClr val="0B2350"/>
            </a:solidFill>
            <a:prstDash val="solid"/>
            <a:round/>
          </a:ln>
        </p:spPr>
      </p:sp>
      <p:sp>
        <p:nvSpPr>
          <p:cNvPr id="46" name="Text 44"/>
          <p:cNvSpPr/>
          <p:nvPr/>
        </p:nvSpPr>
        <p:spPr>
          <a:xfrm>
            <a:off x="10181295" y="2756916"/>
            <a:ext cx="1141720" cy="292608"/>
          </a:xfrm>
          <a:prstGeom prst="rect">
            <a:avLst/>
          </a:prstGeom>
          <a:noFill/>
          <a:ln/>
        </p:spPr>
        <p:txBody>
          <a:bodyPr wrap="square" lIns="0" tIns="0" rIns="0" bIns="0" rtlCol="0" anchor="ctr">
            <a:normAutofit/>
          </a:bodyPr>
          <a:lstStyle/>
          <a:p>
            <a:pPr algn="ctr" indent="0" marL="0">
              <a:buNone/>
            </a:pPr>
            <a:r>
              <a:rPr lang="en-US" sz="1250" b="1" dirty="0">
                <a:solidFill>
                  <a:srgbClr val="0B2350"/>
                </a:solidFill>
                <a:latin typeface="Segoe UI Semibold" pitchFamily="34" charset="0"/>
                <a:ea typeface="Segoe UI Semibold" pitchFamily="34" charset="-122"/>
                <a:cs typeface="Segoe UI Semibold" pitchFamily="34" charset="-120"/>
              </a:rPr>
              <a:t>Verde o rojo</a:t>
            </a:r>
            <a:endParaRPr lang="en-US" sz="1250" dirty="0"/>
          </a:p>
        </p:txBody>
      </p:sp>
      <p:sp>
        <p:nvSpPr>
          <p:cNvPr id="47" name="Text 45"/>
          <p:cNvSpPr/>
          <p:nvPr/>
        </p:nvSpPr>
        <p:spPr>
          <a:xfrm>
            <a:off x="10199583"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resultado queda en el PR</a:t>
            </a:r>
            <a:endParaRPr lang="en-US" sz="1100" dirty="0"/>
          </a:p>
        </p:txBody>
      </p:sp>
      <p:sp>
        <p:nvSpPr>
          <p:cNvPr id="48" name="[p1] Forma"/>
          <p:cNvSpPr/>
          <p:nvPr/>
        </p:nvSpPr>
        <p:spPr>
          <a:xfrm>
            <a:off x="612648" y="3936492"/>
            <a:ext cx="10966399" cy="1897380"/>
          </a:xfrm>
          <a:prstGeom prst="roundRect">
            <a:avLst>
              <a:gd name="adj" fmla="val 6747"/>
            </a:avLst>
          </a:prstGeom>
          <a:solidFill>
            <a:srgbClr val="ECF6F1"/>
          </a:solidFill>
          <a:ln w="12700">
            <a:solidFill>
              <a:srgbClr val="A9C9BF"/>
            </a:solidFill>
            <a:prstDash val="solid"/>
          </a:ln>
        </p:spPr>
      </p:sp>
      <p:sp>
        <p:nvSpPr>
          <p:cNvPr id="49" name="[p1] Forma"/>
          <p:cNvSpPr/>
          <p:nvPr/>
        </p:nvSpPr>
        <p:spPr>
          <a:xfrm>
            <a:off x="612648" y="3936492"/>
            <a:ext cx="1874520" cy="1897380"/>
          </a:xfrm>
          <a:prstGeom prst="roundRect">
            <a:avLst>
              <a:gd name="adj" fmla="val 6829"/>
            </a:avLst>
          </a:prstGeom>
          <a:solidFill>
            <a:srgbClr val="0A6648"/>
          </a:solidFill>
          <a:ln>
            <a:solidFill>
              <a:srgbClr val="0A6648"/>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Fusión a main</a:t>
            </a:r>
            <a:endParaRPr lang="en-US" sz="1600" dirty="0"/>
          </a:p>
        </p:txBody>
      </p:sp>
      <p:sp>
        <p:nvSpPr>
          <p:cNvPr id="50" name="[p1] Forma"/>
          <p:cNvSpPr/>
          <p:nvPr/>
        </p:nvSpPr>
        <p:spPr>
          <a:xfrm>
            <a:off x="5093894" y="4297680"/>
            <a:ext cx="1674038" cy="0"/>
          </a:xfrm>
          <a:prstGeom prst="line">
            <a:avLst/>
          </a:prstGeom>
          <a:noFill/>
          <a:ln w="25400">
            <a:solidFill>
              <a:srgbClr val="0B6E8A"/>
            </a:solidFill>
            <a:prstDash val="solid"/>
          </a:ln>
        </p:spPr>
      </p:sp>
      <p:sp>
        <p:nvSpPr>
          <p:cNvPr id="51" name="[p1] Forma"/>
          <p:cNvSpPr/>
          <p:nvPr/>
        </p:nvSpPr>
        <p:spPr>
          <a:xfrm>
            <a:off x="5093894" y="4297680"/>
            <a:ext cx="0" cy="73152"/>
          </a:xfrm>
          <a:prstGeom prst="line">
            <a:avLst/>
          </a:prstGeom>
          <a:noFill/>
          <a:ln w="25400">
            <a:solidFill>
              <a:srgbClr val="0B6E8A"/>
            </a:solidFill>
            <a:prstDash val="solid"/>
          </a:ln>
        </p:spPr>
      </p:sp>
      <p:sp>
        <p:nvSpPr>
          <p:cNvPr id="52" name="[p1] Forma"/>
          <p:cNvSpPr/>
          <p:nvPr/>
        </p:nvSpPr>
        <p:spPr>
          <a:xfrm>
            <a:off x="6767932" y="4297680"/>
            <a:ext cx="0" cy="73152"/>
          </a:xfrm>
          <a:prstGeom prst="line">
            <a:avLst/>
          </a:prstGeom>
          <a:noFill/>
          <a:ln w="25400">
            <a:solidFill>
              <a:srgbClr val="0B6E8A"/>
            </a:solidFill>
            <a:prstDash val="solid"/>
          </a:ln>
        </p:spPr>
      </p:sp>
      <p:sp>
        <p:nvSpPr>
          <p:cNvPr id="53" name="[p1] Forma"/>
          <p:cNvSpPr/>
          <p:nvPr/>
        </p:nvSpPr>
        <p:spPr>
          <a:xfrm>
            <a:off x="5670309" y="3968496"/>
            <a:ext cx="521208"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a:t>
            </a:r>
            <a:endParaRPr lang="en-US" sz="1000" dirty="0"/>
          </a:p>
        </p:txBody>
      </p:sp>
      <p:sp>
        <p:nvSpPr>
          <p:cNvPr id="54" name="[p1] Forma"/>
          <p:cNvSpPr/>
          <p:nvPr/>
        </p:nvSpPr>
        <p:spPr>
          <a:xfrm>
            <a:off x="7389724" y="4297680"/>
            <a:ext cx="1674038" cy="0"/>
          </a:xfrm>
          <a:prstGeom prst="line">
            <a:avLst/>
          </a:prstGeom>
          <a:noFill/>
          <a:ln w="25400">
            <a:solidFill>
              <a:srgbClr val="0A6648"/>
            </a:solidFill>
            <a:prstDash val="solid"/>
          </a:ln>
        </p:spPr>
      </p:sp>
      <p:sp>
        <p:nvSpPr>
          <p:cNvPr id="55" name="[p1] Forma"/>
          <p:cNvSpPr/>
          <p:nvPr/>
        </p:nvSpPr>
        <p:spPr>
          <a:xfrm>
            <a:off x="7389724" y="4297680"/>
            <a:ext cx="0" cy="73152"/>
          </a:xfrm>
          <a:prstGeom prst="line">
            <a:avLst/>
          </a:prstGeom>
          <a:noFill/>
          <a:ln w="25400">
            <a:solidFill>
              <a:srgbClr val="0A6648"/>
            </a:solidFill>
            <a:prstDash val="solid"/>
          </a:ln>
        </p:spPr>
      </p:sp>
      <p:sp>
        <p:nvSpPr>
          <p:cNvPr id="56" name="[p1] Forma"/>
          <p:cNvSpPr/>
          <p:nvPr/>
        </p:nvSpPr>
        <p:spPr>
          <a:xfrm>
            <a:off x="9063761" y="4297680"/>
            <a:ext cx="0" cy="73152"/>
          </a:xfrm>
          <a:prstGeom prst="line">
            <a:avLst/>
          </a:prstGeom>
          <a:noFill/>
          <a:ln w="25400">
            <a:solidFill>
              <a:srgbClr val="0A6648"/>
            </a:solidFill>
            <a:prstDash val="solid"/>
          </a:ln>
        </p:spPr>
      </p:sp>
      <p:sp>
        <p:nvSpPr>
          <p:cNvPr id="57" name="[p1] Forma"/>
          <p:cNvSpPr/>
          <p:nvPr/>
        </p:nvSpPr>
        <p:spPr>
          <a:xfrm>
            <a:off x="7227760" y="3968496"/>
            <a:ext cx="1997964" cy="274320"/>
          </a:xfrm>
          <a:prstGeom prst="roundRect">
            <a:avLst>
              <a:gd name="adj" fmla="val 50000"/>
            </a:avLst>
          </a:prstGeom>
          <a:solidFill>
            <a:srgbClr val="0A6648"/>
          </a:solidFill>
          <a:ln>
            <a:solidFill>
              <a:srgbClr val="0A6648"/>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CD · entrega continua</a:t>
            </a:r>
            <a:endParaRPr lang="en-US" sz="1000" dirty="0"/>
          </a:p>
        </p:txBody>
      </p:sp>
      <p:sp>
        <p:nvSpPr>
          <p:cNvPr id="58" name="[p1] Forma"/>
          <p:cNvSpPr/>
          <p:nvPr/>
        </p:nvSpPr>
        <p:spPr>
          <a:xfrm>
            <a:off x="9685553" y="4297680"/>
            <a:ext cx="1674038" cy="0"/>
          </a:xfrm>
          <a:prstGeom prst="line">
            <a:avLst/>
          </a:prstGeom>
          <a:noFill/>
          <a:ln w="25400">
            <a:solidFill>
              <a:srgbClr val="8A4B06"/>
            </a:solidFill>
            <a:prstDash val="solid"/>
          </a:ln>
        </p:spPr>
      </p:sp>
      <p:sp>
        <p:nvSpPr>
          <p:cNvPr id="59" name="[p1] Forma"/>
          <p:cNvSpPr/>
          <p:nvPr/>
        </p:nvSpPr>
        <p:spPr>
          <a:xfrm>
            <a:off x="9685553" y="4297680"/>
            <a:ext cx="0" cy="73152"/>
          </a:xfrm>
          <a:prstGeom prst="line">
            <a:avLst/>
          </a:prstGeom>
          <a:noFill/>
          <a:ln w="25400">
            <a:solidFill>
              <a:srgbClr val="8A4B06"/>
            </a:solidFill>
            <a:prstDash val="solid"/>
          </a:ln>
        </p:spPr>
      </p:sp>
      <p:sp>
        <p:nvSpPr>
          <p:cNvPr id="60" name="[p1] Forma"/>
          <p:cNvSpPr/>
          <p:nvPr/>
        </p:nvSpPr>
        <p:spPr>
          <a:xfrm>
            <a:off x="11359591" y="4297680"/>
            <a:ext cx="0" cy="73152"/>
          </a:xfrm>
          <a:prstGeom prst="line">
            <a:avLst/>
          </a:prstGeom>
          <a:noFill/>
          <a:ln w="25400">
            <a:solidFill>
              <a:srgbClr val="8A4B06"/>
            </a:solidFill>
            <a:prstDash val="solid"/>
          </a:ln>
        </p:spPr>
      </p:sp>
      <p:sp>
        <p:nvSpPr>
          <p:cNvPr id="61" name="[p1] Forma"/>
          <p:cNvSpPr/>
          <p:nvPr/>
        </p:nvSpPr>
        <p:spPr>
          <a:xfrm>
            <a:off x="9912210" y="3968496"/>
            <a:ext cx="1220724"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Hoy, a mano</a:t>
            </a:r>
            <a:endParaRPr lang="en-US" sz="1000" dirty="0"/>
          </a:p>
        </p:txBody>
      </p:sp>
      <p:sp>
        <p:nvSpPr>
          <p:cNvPr id="62" name="[p1] Forma"/>
          <p:cNvSpPr/>
          <p:nvPr/>
        </p:nvSpPr>
        <p:spPr>
          <a:xfrm>
            <a:off x="276148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3" name="[p1] Forma"/>
          <p:cNvSpPr/>
          <p:nvPr/>
        </p:nvSpPr>
        <p:spPr>
          <a:xfrm>
            <a:off x="3406483" y="4480560"/>
            <a:ext cx="457200" cy="457200"/>
          </a:xfrm>
          <a:prstGeom prst="ellipse">
            <a:avLst/>
          </a:prstGeom>
          <a:solidFill>
            <a:srgbClr val="E1F1EA"/>
          </a:solidFill>
          <a:ln w="12700">
            <a:solidFill>
              <a:srgbClr val="E1F1EA"/>
            </a:solidFill>
            <a:prstDash val="solid"/>
          </a:ln>
        </p:spPr>
      </p:sp>
      <p:sp>
        <p:nvSpPr>
          <p:cNvPr id="64" name="[p1] Icono git-merge"/>
          <p:cNvSpPr/>
          <p:nvPr/>
        </p:nvSpPr>
        <p:spPr>
          <a:xfrm>
            <a:off x="3516211" y="459028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59436" y="208026"/>
                </a:moveTo>
                <a:lnTo>
                  <a:pt x="59436" y="89154"/>
                </a:lnTo>
                <a:cubicBezTo>
                  <a:pt x="59436" y="138392"/>
                  <a:pt x="99352" y="178308"/>
                  <a:pt x="148590" y="178308"/>
                </a:cubicBezTo>
              </a:path>
            </a:pathLst>
          </a:custGeom>
          <a:noFill/>
          <a:ln w="19812" cap="rnd">
            <a:solidFill>
              <a:srgbClr val="0A6648"/>
            </a:solidFill>
            <a:prstDash val="solid"/>
            <a:round/>
          </a:ln>
        </p:spPr>
      </p:sp>
      <p:sp>
        <p:nvSpPr>
          <p:cNvPr id="65" name="[p1] Forma"/>
          <p:cNvSpPr/>
          <p:nvPr/>
        </p:nvSpPr>
        <p:spPr>
          <a:xfrm>
            <a:off x="283464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Fusionas a main</a:t>
            </a:r>
            <a:endParaRPr lang="en-US" sz="1400" dirty="0"/>
          </a:p>
        </p:txBody>
      </p:sp>
      <p:sp>
        <p:nvSpPr>
          <p:cNvPr id="66" name="[p1] Forma"/>
          <p:cNvSpPr/>
          <p:nvPr/>
        </p:nvSpPr>
        <p:spPr>
          <a:xfrm>
            <a:off x="285292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Después de la revisión</a:t>
            </a:r>
            <a:endParaRPr lang="en-US" sz="1100" dirty="0"/>
          </a:p>
        </p:txBody>
      </p:sp>
      <p:sp>
        <p:nvSpPr>
          <p:cNvPr id="67" name="[p1] Forma"/>
          <p:cNvSpPr/>
          <p:nvPr/>
        </p:nvSpPr>
        <p:spPr>
          <a:xfrm>
            <a:off x="4581830" y="5029200"/>
            <a:ext cx="402336" cy="0"/>
          </a:xfrm>
          <a:prstGeom prst="line">
            <a:avLst/>
          </a:prstGeom>
          <a:noFill/>
          <a:ln w="31750">
            <a:solidFill>
              <a:srgbClr val="0A6648"/>
            </a:solidFill>
            <a:prstDash val="solid"/>
            <a:tailEnd type="triangle"/>
          </a:ln>
        </p:spPr>
      </p:sp>
      <p:sp>
        <p:nvSpPr>
          <p:cNvPr id="68" name="[p1] Forma"/>
          <p:cNvSpPr/>
          <p:nvPr/>
        </p:nvSpPr>
        <p:spPr>
          <a:xfrm>
            <a:off x="505731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9" name="[p1] Forma"/>
          <p:cNvSpPr/>
          <p:nvPr/>
        </p:nvSpPr>
        <p:spPr>
          <a:xfrm>
            <a:off x="5702313" y="4480560"/>
            <a:ext cx="457200" cy="457200"/>
          </a:xfrm>
          <a:prstGeom prst="ellipse">
            <a:avLst/>
          </a:prstGeom>
          <a:solidFill>
            <a:srgbClr val="E1F1EA"/>
          </a:solidFill>
          <a:ln w="12700">
            <a:solidFill>
              <a:srgbClr val="E1F1EA"/>
            </a:solidFill>
            <a:prstDash val="solid"/>
          </a:ln>
        </p:spPr>
      </p:sp>
      <p:sp>
        <p:nvSpPr>
          <p:cNvPr id="70" name="[p1] Icono flask-conical"/>
          <p:cNvSpPr/>
          <p:nvPr/>
        </p:nvSpPr>
        <p:spPr>
          <a:xfrm>
            <a:off x="5812041" y="459028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A6648"/>
            </a:solidFill>
            <a:prstDash val="solid"/>
            <a:round/>
          </a:ln>
        </p:spPr>
      </p:sp>
      <p:sp>
        <p:nvSpPr>
          <p:cNvPr id="71" name="[p1] Forma"/>
          <p:cNvSpPr/>
          <p:nvPr/>
        </p:nvSpPr>
        <p:spPr>
          <a:xfrm>
            <a:off x="513047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El mismo CI</a:t>
            </a:r>
            <a:endParaRPr lang="en-US" sz="1400" dirty="0"/>
          </a:p>
        </p:txBody>
      </p:sp>
      <p:sp>
        <p:nvSpPr>
          <p:cNvPr id="72" name="[p1] Forma"/>
          <p:cNvSpPr/>
          <p:nvPr/>
        </p:nvSpPr>
        <p:spPr>
          <a:xfrm>
            <a:off x="514875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Compila, prueba y arranca</a:t>
            </a:r>
            <a:endParaRPr lang="en-US" sz="1100" dirty="0"/>
          </a:p>
        </p:txBody>
      </p:sp>
      <p:sp>
        <p:nvSpPr>
          <p:cNvPr id="73" name="[p1] Forma"/>
          <p:cNvSpPr/>
          <p:nvPr/>
        </p:nvSpPr>
        <p:spPr>
          <a:xfrm>
            <a:off x="6877660" y="5029200"/>
            <a:ext cx="402336" cy="0"/>
          </a:xfrm>
          <a:prstGeom prst="line">
            <a:avLst/>
          </a:prstGeom>
          <a:noFill/>
          <a:ln w="31750">
            <a:solidFill>
              <a:srgbClr val="0A6648"/>
            </a:solidFill>
            <a:prstDash val="solid"/>
            <a:tailEnd type="triangle"/>
          </a:ln>
        </p:spPr>
      </p:sp>
      <p:sp>
        <p:nvSpPr>
          <p:cNvPr id="74" name="[p1] Forma"/>
          <p:cNvSpPr/>
          <p:nvPr/>
        </p:nvSpPr>
        <p:spPr>
          <a:xfrm>
            <a:off x="735314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75" name="[p1] Forma"/>
          <p:cNvSpPr/>
          <p:nvPr/>
        </p:nvSpPr>
        <p:spPr>
          <a:xfrm>
            <a:off x="7998142" y="4480560"/>
            <a:ext cx="457200" cy="457200"/>
          </a:xfrm>
          <a:prstGeom prst="ellipse">
            <a:avLst/>
          </a:prstGeom>
          <a:solidFill>
            <a:srgbClr val="E1F1EA"/>
          </a:solidFill>
          <a:ln w="12700">
            <a:solidFill>
              <a:srgbClr val="E1F1EA"/>
            </a:solidFill>
            <a:prstDash val="solid"/>
          </a:ln>
        </p:spPr>
      </p:sp>
      <p:sp>
        <p:nvSpPr>
          <p:cNvPr id="76" name="[p1] Icono cloud-upload"/>
          <p:cNvSpPr/>
          <p:nvPr/>
        </p:nvSpPr>
        <p:spPr>
          <a:xfrm>
            <a:off x="8107870" y="4590288"/>
            <a:ext cx="237744" cy="237744"/>
          </a:xfrm>
          <a:custGeom>
            <a:avLst/>
            <a:gdLst/>
            <a:ahLst/>
            <a:cxnLst/>
            <a:rect l="l" t="t" r="r" b="b"/>
            <a:pathLst>
              <a:path w="237744" h="237744">
                <a:moveTo>
                  <a:pt x="118872" y="128778"/>
                </a:moveTo>
                <a:lnTo>
                  <a:pt x="118872" y="208026"/>
                </a:lnTo>
                <a:moveTo>
                  <a:pt x="39624" y="147589"/>
                </a:moveTo>
                <a:cubicBezTo>
                  <a:pt x="19465" y="126993"/>
                  <a:pt x="14147" y="96074"/>
                  <a:pt x="26267" y="69925"/>
                </a:cubicBezTo>
                <a:cubicBezTo>
                  <a:pt x="38388" y="43777"/>
                  <a:pt x="65418" y="27852"/>
                  <a:pt x="94164" y="29924"/>
                </a:cubicBezTo>
                <a:cubicBezTo>
                  <a:pt x="122910" y="31995"/>
                  <a:pt x="147378" y="51632"/>
                  <a:pt x="155623" y="79248"/>
                </a:cubicBezTo>
                <a:lnTo>
                  <a:pt x="173355" y="79248"/>
                </a:lnTo>
                <a:cubicBezTo>
                  <a:pt x="192992" y="79246"/>
                  <a:pt x="210318" y="92094"/>
                  <a:pt x="216018" y="110886"/>
                </a:cubicBezTo>
                <a:cubicBezTo>
                  <a:pt x="221718" y="129678"/>
                  <a:pt x="214449" y="149986"/>
                  <a:pt x="198120" y="160893"/>
                </a:cubicBezTo>
                <a:moveTo>
                  <a:pt x="79248" y="168402"/>
                </a:moveTo>
                <a:lnTo>
                  <a:pt x="118872" y="128778"/>
                </a:lnTo>
                <a:lnTo>
                  <a:pt x="158496" y="168402"/>
                </a:lnTo>
              </a:path>
            </a:pathLst>
          </a:custGeom>
          <a:noFill/>
          <a:ln w="19812" cap="rnd">
            <a:solidFill>
              <a:srgbClr val="0A6648"/>
            </a:solidFill>
            <a:prstDash val="solid"/>
            <a:round/>
          </a:ln>
        </p:spPr>
      </p:sp>
      <p:sp>
        <p:nvSpPr>
          <p:cNvPr id="77" name="[p1] Forma"/>
          <p:cNvSpPr/>
          <p:nvPr/>
        </p:nvSpPr>
        <p:spPr>
          <a:xfrm>
            <a:off x="742630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Publica en GHCR</a:t>
            </a:r>
            <a:endParaRPr lang="en-US" sz="1400" dirty="0"/>
          </a:p>
        </p:txBody>
      </p:sp>
      <p:sp>
        <p:nvSpPr>
          <p:cNvPr id="78" name="[p1] Forma"/>
          <p:cNvSpPr/>
          <p:nvPr/>
        </p:nvSpPr>
        <p:spPr>
          <a:xfrm>
            <a:off x="744458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imagen, con el SHA del commit</a:t>
            </a:r>
            <a:endParaRPr lang="en-US" sz="1100" dirty="0"/>
          </a:p>
        </p:txBody>
      </p:sp>
      <p:sp>
        <p:nvSpPr>
          <p:cNvPr id="79" name="[p1] Forma"/>
          <p:cNvSpPr/>
          <p:nvPr/>
        </p:nvSpPr>
        <p:spPr>
          <a:xfrm>
            <a:off x="9173489" y="5029200"/>
            <a:ext cx="402336" cy="0"/>
          </a:xfrm>
          <a:prstGeom prst="line">
            <a:avLst/>
          </a:prstGeom>
          <a:noFill/>
          <a:ln w="31750">
            <a:solidFill>
              <a:srgbClr val="0A6648"/>
            </a:solidFill>
            <a:prstDash val="solid"/>
            <a:tailEnd type="triangle"/>
          </a:ln>
        </p:spPr>
      </p:sp>
      <p:sp>
        <p:nvSpPr>
          <p:cNvPr id="80" name="[p1] Forma"/>
          <p:cNvSpPr/>
          <p:nvPr/>
        </p:nvSpPr>
        <p:spPr>
          <a:xfrm>
            <a:off x="9648977"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81" name="[p1] Forma"/>
          <p:cNvSpPr/>
          <p:nvPr/>
        </p:nvSpPr>
        <p:spPr>
          <a:xfrm>
            <a:off x="10293972" y="4480560"/>
            <a:ext cx="457200" cy="457200"/>
          </a:xfrm>
          <a:prstGeom prst="ellipse">
            <a:avLst/>
          </a:prstGeom>
          <a:solidFill>
            <a:srgbClr val="E1F1EA"/>
          </a:solidFill>
          <a:ln w="12700">
            <a:solidFill>
              <a:srgbClr val="E1F1EA"/>
            </a:solidFill>
            <a:prstDash val="solid"/>
          </a:ln>
        </p:spPr>
      </p:sp>
      <p:sp>
        <p:nvSpPr>
          <p:cNvPr id="82" name="[p1] Icono ship-wheel"/>
          <p:cNvSpPr/>
          <p:nvPr/>
        </p:nvSpPr>
        <p:spPr>
          <a:xfrm>
            <a:off x="10403700" y="4590288"/>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83" name="[p1] Forma"/>
          <p:cNvSpPr/>
          <p:nvPr/>
        </p:nvSpPr>
        <p:spPr>
          <a:xfrm>
            <a:off x="9722129"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Despliegue</a:t>
            </a:r>
            <a:endParaRPr lang="en-US" sz="1400" dirty="0"/>
          </a:p>
        </p:txBody>
      </p:sp>
      <p:sp>
        <p:nvSpPr>
          <p:cNvPr id="84" name="[p1] Forma"/>
          <p:cNvSpPr/>
          <p:nvPr/>
        </p:nvSpPr>
        <p:spPr>
          <a:xfrm>
            <a:off x="9740417"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kubectl apply -f k8s/ · manual</a:t>
            </a:r>
            <a:endParaRPr lang="en-US" sz="1100" dirty="0"/>
          </a:p>
        </p:txBody>
      </p:sp>
      <p:sp>
        <p:nvSpPr>
          <p:cNvPr id="85" name="Shape 83"/>
          <p:cNvSpPr/>
          <p:nvPr/>
        </p:nvSpPr>
        <p:spPr>
          <a:xfrm>
            <a:off x="0" y="5961888"/>
            <a:ext cx="12191695" cy="475488"/>
          </a:xfrm>
          <a:prstGeom prst="rect">
            <a:avLst/>
          </a:prstGeom>
          <a:solidFill>
            <a:srgbClr val="0B2350"/>
          </a:solidFill>
          <a:ln w="12700">
            <a:solidFill>
              <a:srgbClr val="0B2350"/>
            </a:solidFill>
            <a:prstDash val="solid"/>
          </a:ln>
        </p:spPr>
      </p:sp>
      <p:sp>
        <p:nvSpPr>
          <p:cNvPr id="86"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87" name="Text 8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Un cambio roto se detecta en el Pull Request, en minutos, antes de llegar a main.</a:t>
            </a:r>
            <a:endParaRPr lang="en-US" sz="1400" dirty="0"/>
          </a:p>
        </p:txBody>
      </p:sp>
      <p:sp>
        <p:nvSpPr>
          <p:cNvPr id="88" name="Text 8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4" fill="hold">
                      <p:stCondLst>
                        <p:cond delay="indefinite"/>
                      </p:stCondLst>
                      <p:childTnLst>
                        <p:par>
                          <p:cTn id="11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8"/>
                                        </p:tgtEl>
                                        <p:attrNameLst>
                                          <p:attrName>style.visibility</p:attrName>
                                        </p:attrNameLst>
                                      </p:cBhvr>
                                      <p:to>
                                        <p:strVal val="visible"/>
                                      </p:to>
                                    </p:set>
                                    <p:animEffect transition="in" filter="fade">
                                      <p:cBhvr>
                                        <p:cTn id="5" dur="400"/>
                                        <p:tgtEl>
                                          <p:spTgt spid="4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9"/>
                                        </p:tgtEl>
                                        <p:attrNameLst>
                                          <p:attrName>style.visibility</p:attrName>
                                        </p:attrNameLst>
                                      </p:cBhvr>
                                      <p:to>
                                        <p:strVal val="visible"/>
                                      </p:to>
                                    </p:set>
                                    <p:animEffect transition="in" filter="fade">
                                      <p:cBhvr>
                                        <p:cTn id="8" dur="400"/>
                                        <p:tgtEl>
                                          <p:spTgt spid="4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400"/>
                                        <p:tgtEl>
                                          <p:spTgt spid="5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51"/>
                                        </p:tgtEl>
                                        <p:attrNameLst>
                                          <p:attrName>style.visibility</p:attrName>
                                        </p:attrNameLst>
                                      </p:cBhvr>
                                      <p:to>
                                        <p:strVal val="visible"/>
                                      </p:to>
                                    </p:set>
                                    <p:animEffect transition="in" filter="fade">
                                      <p:cBhvr>
                                        <p:cTn id="14" dur="400"/>
                                        <p:tgtEl>
                                          <p:spTgt spid="5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fade">
                                      <p:cBhvr>
                                        <p:cTn id="17" dur="400"/>
                                        <p:tgtEl>
                                          <p:spTgt spid="5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3"/>
                                        </p:tgtEl>
                                        <p:attrNameLst>
                                          <p:attrName>style.visibility</p:attrName>
                                        </p:attrNameLst>
                                      </p:cBhvr>
                                      <p:to>
                                        <p:strVal val="visible"/>
                                      </p:to>
                                    </p:set>
                                    <p:animEffect transition="in" filter="fade">
                                      <p:cBhvr>
                                        <p:cTn id="20" dur="400"/>
                                        <p:tgtEl>
                                          <p:spTgt spid="5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4"/>
                                        </p:tgtEl>
                                        <p:attrNameLst>
                                          <p:attrName>style.visibility</p:attrName>
                                        </p:attrNameLst>
                                      </p:cBhvr>
                                      <p:to>
                                        <p:strVal val="visible"/>
                                      </p:to>
                                    </p:set>
                                    <p:animEffect transition="in" filter="fade">
                                      <p:cBhvr>
                                        <p:cTn id="23" dur="400"/>
                                        <p:tgtEl>
                                          <p:spTgt spid="5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55"/>
                                        </p:tgtEl>
                                        <p:attrNameLst>
                                          <p:attrName>style.visibility</p:attrName>
                                        </p:attrNameLst>
                                      </p:cBhvr>
                                      <p:to>
                                        <p:strVal val="visible"/>
                                      </p:to>
                                    </p:set>
                                    <p:animEffect transition="in" filter="fade">
                                      <p:cBhvr>
                                        <p:cTn id="26" dur="400"/>
                                        <p:tgtEl>
                                          <p:spTgt spid="5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56"/>
                                        </p:tgtEl>
                                        <p:attrNameLst>
                                          <p:attrName>style.visibility</p:attrName>
                                        </p:attrNameLst>
                                      </p:cBhvr>
                                      <p:to>
                                        <p:strVal val="visible"/>
                                      </p:to>
                                    </p:set>
                                    <p:animEffect transition="in" filter="fade">
                                      <p:cBhvr>
                                        <p:cTn id="29" dur="400"/>
                                        <p:tgtEl>
                                          <p:spTgt spid="5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57"/>
                                        </p:tgtEl>
                                        <p:attrNameLst>
                                          <p:attrName>style.visibility</p:attrName>
                                        </p:attrNameLst>
                                      </p:cBhvr>
                                      <p:to>
                                        <p:strVal val="visible"/>
                                      </p:to>
                                    </p:set>
                                    <p:animEffect transition="in" filter="fade">
                                      <p:cBhvr>
                                        <p:cTn id="32" dur="400"/>
                                        <p:tgtEl>
                                          <p:spTgt spid="5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8"/>
                                        </p:tgtEl>
                                        <p:attrNameLst>
                                          <p:attrName>style.visibility</p:attrName>
                                        </p:attrNameLst>
                                      </p:cBhvr>
                                      <p:to>
                                        <p:strVal val="visible"/>
                                      </p:to>
                                    </p:set>
                                    <p:animEffect transition="in" filter="fade">
                                      <p:cBhvr>
                                        <p:cTn id="35" dur="400"/>
                                        <p:tgtEl>
                                          <p:spTgt spid="5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59"/>
                                        </p:tgtEl>
                                        <p:attrNameLst>
                                          <p:attrName>style.visibility</p:attrName>
                                        </p:attrNameLst>
                                      </p:cBhvr>
                                      <p:to>
                                        <p:strVal val="visible"/>
                                      </p:to>
                                    </p:set>
                                    <p:animEffect transition="in" filter="fade">
                                      <p:cBhvr>
                                        <p:cTn id="38" dur="400"/>
                                        <p:tgtEl>
                                          <p:spTgt spid="5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animEffect transition="in" filter="fade">
                                      <p:cBhvr>
                                        <p:cTn id="41" dur="400"/>
                                        <p:tgtEl>
                                          <p:spTgt spid="6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61"/>
                                        </p:tgtEl>
                                        <p:attrNameLst>
                                          <p:attrName>style.visibility</p:attrName>
                                        </p:attrNameLst>
                                      </p:cBhvr>
                                      <p:to>
                                        <p:strVal val="visible"/>
                                      </p:to>
                                    </p:set>
                                    <p:animEffect transition="in" filter="fade">
                                      <p:cBhvr>
                                        <p:cTn id="44" dur="400"/>
                                        <p:tgtEl>
                                          <p:spTgt spid="6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2"/>
                                        </p:tgtEl>
                                        <p:attrNameLst>
                                          <p:attrName>style.visibility</p:attrName>
                                        </p:attrNameLst>
                                      </p:cBhvr>
                                      <p:to>
                                        <p:strVal val="visible"/>
                                      </p:to>
                                    </p:set>
                                    <p:animEffect transition="in" filter="fade">
                                      <p:cBhvr>
                                        <p:cTn id="47" dur="400"/>
                                        <p:tgtEl>
                                          <p:spTgt spid="6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3"/>
                                        </p:tgtEl>
                                        <p:attrNameLst>
                                          <p:attrName>style.visibility</p:attrName>
                                        </p:attrNameLst>
                                      </p:cBhvr>
                                      <p:to>
                                        <p:strVal val="visible"/>
                                      </p:to>
                                    </p:set>
                                    <p:animEffect transition="in" filter="fade">
                                      <p:cBhvr>
                                        <p:cTn id="50" dur="400"/>
                                        <p:tgtEl>
                                          <p:spTgt spid="6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4"/>
                                        </p:tgtEl>
                                        <p:attrNameLst>
                                          <p:attrName>style.visibility</p:attrName>
                                        </p:attrNameLst>
                                      </p:cBhvr>
                                      <p:to>
                                        <p:strVal val="visible"/>
                                      </p:to>
                                    </p:set>
                                    <p:animEffect transition="in" filter="fade">
                                      <p:cBhvr>
                                        <p:cTn id="53" dur="400"/>
                                        <p:tgtEl>
                                          <p:spTgt spid="6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5"/>
                                        </p:tgtEl>
                                        <p:attrNameLst>
                                          <p:attrName>style.visibility</p:attrName>
                                        </p:attrNameLst>
                                      </p:cBhvr>
                                      <p:to>
                                        <p:strVal val="visible"/>
                                      </p:to>
                                    </p:set>
                                    <p:animEffect transition="in" filter="fade">
                                      <p:cBhvr>
                                        <p:cTn id="56" dur="400"/>
                                        <p:tgtEl>
                                          <p:spTgt spid="6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6"/>
                                        </p:tgtEl>
                                        <p:attrNameLst>
                                          <p:attrName>style.visibility</p:attrName>
                                        </p:attrNameLst>
                                      </p:cBhvr>
                                      <p:to>
                                        <p:strVal val="visible"/>
                                      </p:to>
                                    </p:set>
                                    <p:animEffect transition="in" filter="fade">
                                      <p:cBhvr>
                                        <p:cTn id="59" dur="400"/>
                                        <p:tgtEl>
                                          <p:spTgt spid="6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7"/>
                                        </p:tgtEl>
                                        <p:attrNameLst>
                                          <p:attrName>style.visibility</p:attrName>
                                        </p:attrNameLst>
                                      </p:cBhvr>
                                      <p:to>
                                        <p:strVal val="visible"/>
                                      </p:to>
                                    </p:set>
                                    <p:animEffect transition="in" filter="fade">
                                      <p:cBhvr>
                                        <p:cTn id="62" dur="400"/>
                                        <p:tgtEl>
                                          <p:spTgt spid="67"/>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68"/>
                                        </p:tgtEl>
                                        <p:attrNameLst>
                                          <p:attrName>style.visibility</p:attrName>
                                        </p:attrNameLst>
                                      </p:cBhvr>
                                      <p:to>
                                        <p:strVal val="visible"/>
                                      </p:to>
                                    </p:set>
                                    <p:animEffect transition="in" filter="fade">
                                      <p:cBhvr>
                                        <p:cTn id="65" dur="400"/>
                                        <p:tgtEl>
                                          <p:spTgt spid="68"/>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9"/>
                                        </p:tgtEl>
                                        <p:attrNameLst>
                                          <p:attrName>style.visibility</p:attrName>
                                        </p:attrNameLst>
                                      </p:cBhvr>
                                      <p:to>
                                        <p:strVal val="visible"/>
                                      </p:to>
                                    </p:set>
                                    <p:animEffect transition="in" filter="fade">
                                      <p:cBhvr>
                                        <p:cTn id="68" dur="400"/>
                                        <p:tgtEl>
                                          <p:spTgt spid="69"/>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70"/>
                                        </p:tgtEl>
                                        <p:attrNameLst>
                                          <p:attrName>style.visibility</p:attrName>
                                        </p:attrNameLst>
                                      </p:cBhvr>
                                      <p:to>
                                        <p:strVal val="visible"/>
                                      </p:to>
                                    </p:set>
                                    <p:animEffect transition="in" filter="fade">
                                      <p:cBhvr>
                                        <p:cTn id="71" dur="400"/>
                                        <p:tgtEl>
                                          <p:spTgt spid="70"/>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71"/>
                                        </p:tgtEl>
                                        <p:attrNameLst>
                                          <p:attrName>style.visibility</p:attrName>
                                        </p:attrNameLst>
                                      </p:cBhvr>
                                      <p:to>
                                        <p:strVal val="visible"/>
                                      </p:to>
                                    </p:set>
                                    <p:animEffect transition="in" filter="fade">
                                      <p:cBhvr>
                                        <p:cTn id="74" dur="400"/>
                                        <p:tgtEl>
                                          <p:spTgt spid="71"/>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72"/>
                                        </p:tgtEl>
                                        <p:attrNameLst>
                                          <p:attrName>style.visibility</p:attrName>
                                        </p:attrNameLst>
                                      </p:cBhvr>
                                      <p:to>
                                        <p:strVal val="visible"/>
                                      </p:to>
                                    </p:set>
                                    <p:animEffect transition="in" filter="fade">
                                      <p:cBhvr>
                                        <p:cTn id="77" dur="400"/>
                                        <p:tgtEl>
                                          <p:spTgt spid="72"/>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73"/>
                                        </p:tgtEl>
                                        <p:attrNameLst>
                                          <p:attrName>style.visibility</p:attrName>
                                        </p:attrNameLst>
                                      </p:cBhvr>
                                      <p:to>
                                        <p:strVal val="visible"/>
                                      </p:to>
                                    </p:set>
                                    <p:animEffect transition="in" filter="fade">
                                      <p:cBhvr>
                                        <p:cTn id="80" dur="400"/>
                                        <p:tgtEl>
                                          <p:spTgt spid="73"/>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74"/>
                                        </p:tgtEl>
                                        <p:attrNameLst>
                                          <p:attrName>style.visibility</p:attrName>
                                        </p:attrNameLst>
                                      </p:cBhvr>
                                      <p:to>
                                        <p:strVal val="visible"/>
                                      </p:to>
                                    </p:set>
                                    <p:animEffect transition="in" filter="fade">
                                      <p:cBhvr>
                                        <p:cTn id="83" dur="400"/>
                                        <p:tgtEl>
                                          <p:spTgt spid="7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75"/>
                                        </p:tgtEl>
                                        <p:attrNameLst>
                                          <p:attrName>style.visibility</p:attrName>
                                        </p:attrNameLst>
                                      </p:cBhvr>
                                      <p:to>
                                        <p:strVal val="visible"/>
                                      </p:to>
                                    </p:set>
                                    <p:animEffect transition="in" filter="fade">
                                      <p:cBhvr>
                                        <p:cTn id="86" dur="400"/>
                                        <p:tgtEl>
                                          <p:spTgt spid="7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76"/>
                                        </p:tgtEl>
                                        <p:attrNameLst>
                                          <p:attrName>style.visibility</p:attrName>
                                        </p:attrNameLst>
                                      </p:cBhvr>
                                      <p:to>
                                        <p:strVal val="visible"/>
                                      </p:to>
                                    </p:set>
                                    <p:animEffect transition="in" filter="fade">
                                      <p:cBhvr>
                                        <p:cTn id="89" dur="400"/>
                                        <p:tgtEl>
                                          <p:spTgt spid="7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77"/>
                                        </p:tgtEl>
                                        <p:attrNameLst>
                                          <p:attrName>style.visibility</p:attrName>
                                        </p:attrNameLst>
                                      </p:cBhvr>
                                      <p:to>
                                        <p:strVal val="visible"/>
                                      </p:to>
                                    </p:set>
                                    <p:animEffect transition="in" filter="fade">
                                      <p:cBhvr>
                                        <p:cTn id="92" dur="400"/>
                                        <p:tgtEl>
                                          <p:spTgt spid="7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78"/>
                                        </p:tgtEl>
                                        <p:attrNameLst>
                                          <p:attrName>style.visibility</p:attrName>
                                        </p:attrNameLst>
                                      </p:cBhvr>
                                      <p:to>
                                        <p:strVal val="visible"/>
                                      </p:to>
                                    </p:set>
                                    <p:animEffect transition="in" filter="fade">
                                      <p:cBhvr>
                                        <p:cTn id="95" dur="400"/>
                                        <p:tgtEl>
                                          <p:spTgt spid="78"/>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79"/>
                                        </p:tgtEl>
                                        <p:attrNameLst>
                                          <p:attrName>style.visibility</p:attrName>
                                        </p:attrNameLst>
                                      </p:cBhvr>
                                      <p:to>
                                        <p:strVal val="visible"/>
                                      </p:to>
                                    </p:set>
                                    <p:animEffect transition="in" filter="fade">
                                      <p:cBhvr>
                                        <p:cTn id="98" dur="400"/>
                                        <p:tgtEl>
                                          <p:spTgt spid="79"/>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80"/>
                                        </p:tgtEl>
                                        <p:attrNameLst>
                                          <p:attrName>style.visibility</p:attrName>
                                        </p:attrNameLst>
                                      </p:cBhvr>
                                      <p:to>
                                        <p:strVal val="visible"/>
                                      </p:to>
                                    </p:set>
                                    <p:animEffect transition="in" filter="fade">
                                      <p:cBhvr>
                                        <p:cTn id="101" dur="400"/>
                                        <p:tgtEl>
                                          <p:spTgt spid="80"/>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81"/>
                                        </p:tgtEl>
                                        <p:attrNameLst>
                                          <p:attrName>style.visibility</p:attrName>
                                        </p:attrNameLst>
                                      </p:cBhvr>
                                      <p:to>
                                        <p:strVal val="visible"/>
                                      </p:to>
                                    </p:set>
                                    <p:animEffect transition="in" filter="fade">
                                      <p:cBhvr>
                                        <p:cTn id="104" dur="400"/>
                                        <p:tgtEl>
                                          <p:spTgt spid="81"/>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82"/>
                                        </p:tgtEl>
                                        <p:attrNameLst>
                                          <p:attrName>style.visibility</p:attrName>
                                        </p:attrNameLst>
                                      </p:cBhvr>
                                      <p:to>
                                        <p:strVal val="visible"/>
                                      </p:to>
                                    </p:set>
                                    <p:animEffect transition="in" filter="fade">
                                      <p:cBhvr>
                                        <p:cTn id="107" dur="400"/>
                                        <p:tgtEl>
                                          <p:spTgt spid="82"/>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400"/>
                                        <p:tgtEl>
                                          <p:spTgt spid="83"/>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84"/>
                                        </p:tgtEl>
                                        <p:attrNameLst>
                                          <p:attrName>style.visibility</p:attrName>
                                        </p:attrNameLst>
                                      </p:cBhvr>
                                      <p:to>
                                        <p:strVal val="visible"/>
                                      </p:to>
                                    </p:set>
                                    <p:animEffect transition="in" filter="fade">
                                      <p:cBhvr>
                                        <p:cTn id="113" dur="4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del push a la imagen publicada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.github/workflows/ci.yml</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on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push</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branches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 main ]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fusión a main</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pull_request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cada PR</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jobs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construir-probar-publicar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services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postgres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 image: postgres:</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17</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steps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 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mvn -B verify</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 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java -jar …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espera ver CAM-002</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 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docker build … &amp;&amp; docker push ghcr.io/…:</a:t>
            </a:r>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 github.sha }</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42</a:t>
            </a:fld>
            <a:endParaRPr lang="en-US"/>
          </a:p>
        </p:txBody>
      </p:sp>
    </p:spTree>
  </p:cSld>
  <p:clrMapOvr>
    <a:masterClrMapping/>
  </p:clrMapOvr>
  <p:transition spd="med">
    <p:fade/>
  </p:transition>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Sin instalar nada: GitHub Codespaces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sistema completo, levantado en la nube desde una rama: así hacemos la demostración.</a:t>
            </a:r>
            <a:endParaRPr lang="en-US" sz="1700" dirty="0"/>
          </a:p>
        </p:txBody>
      </p:sp>
      <p:sp>
        <p:nvSpPr>
          <p:cNvPr id="13" name="Shape 11"/>
          <p:cNvSpPr/>
          <p:nvPr/>
        </p:nvSpPr>
        <p:spPr>
          <a:xfrm>
            <a:off x="102412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git-branch"/>
          <p:cNvSpPr/>
          <p:nvPr/>
        </p:nvSpPr>
        <p:spPr>
          <a:xfrm>
            <a:off x="1339302" y="2665822"/>
            <a:ext cx="739973" cy="739973"/>
          </a:xfrm>
          <a:custGeom>
            <a:avLst/>
            <a:gdLst/>
            <a:ahLst/>
            <a:cxnLst/>
            <a:rect l="l" t="t" r="r" b="b"/>
            <a:pathLst>
              <a:path w="739973" h="739973">
                <a:moveTo>
                  <a:pt x="184993" y="92497"/>
                </a:moveTo>
                <a:lnTo>
                  <a:pt x="184993" y="462483"/>
                </a:lnTo>
                <a:moveTo>
                  <a:pt x="647476" y="184993"/>
                </a:moveTo>
                <a:cubicBezTo>
                  <a:pt x="647476" y="236078"/>
                  <a:pt x="606064" y="277490"/>
                  <a:pt x="554980" y="277490"/>
                </a:cubicBezTo>
                <a:cubicBezTo>
                  <a:pt x="503895" y="277490"/>
                  <a:pt x="462483" y="236078"/>
                  <a:pt x="462483" y="184993"/>
                </a:cubicBezTo>
                <a:cubicBezTo>
                  <a:pt x="462483" y="133909"/>
                  <a:pt x="503895" y="92497"/>
                  <a:pt x="554980" y="92497"/>
                </a:cubicBezTo>
                <a:cubicBezTo>
                  <a:pt x="606064" y="92497"/>
                  <a:pt x="647476" y="133909"/>
                  <a:pt x="647476" y="184993"/>
                </a:cubicBezTo>
                <a:close/>
                <a:moveTo>
                  <a:pt x="277490" y="554980"/>
                </a:moveTo>
                <a:cubicBezTo>
                  <a:pt x="277490" y="606064"/>
                  <a:pt x="236078" y="647476"/>
                  <a:pt x="184993" y="647476"/>
                </a:cubicBezTo>
                <a:cubicBezTo>
                  <a:pt x="133909" y="647476"/>
                  <a:pt x="92497" y="606064"/>
                  <a:pt x="92497" y="554980"/>
                </a:cubicBezTo>
                <a:cubicBezTo>
                  <a:pt x="92497" y="503895"/>
                  <a:pt x="133909" y="462483"/>
                  <a:pt x="184993" y="462483"/>
                </a:cubicBezTo>
                <a:cubicBezTo>
                  <a:pt x="236078" y="462483"/>
                  <a:pt x="277490" y="503895"/>
                  <a:pt x="277490" y="554980"/>
                </a:cubicBezTo>
                <a:close/>
                <a:moveTo>
                  <a:pt x="554980" y="277490"/>
                </a:moveTo>
                <a:cubicBezTo>
                  <a:pt x="554980" y="430743"/>
                  <a:pt x="430743" y="554980"/>
                  <a:pt x="277490" y="554980"/>
                </a:cubicBezTo>
              </a:path>
            </a:pathLst>
          </a:custGeom>
          <a:noFill/>
          <a:ln w="53956" cap="rnd">
            <a:solidFill>
              <a:srgbClr val="0B2350"/>
            </a:solidFill>
            <a:prstDash val="solid"/>
            <a:round/>
          </a:ln>
        </p:spPr>
      </p:sp>
      <p:sp>
        <p:nvSpPr>
          <p:cNvPr id="15" name="Text 13"/>
          <p:cNvSpPr/>
          <p:nvPr/>
        </p:nvSpPr>
        <p:spPr>
          <a:xfrm>
            <a:off x="98755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Una rama</a:t>
            </a:r>
            <a:endParaRPr lang="en-US" sz="1800" dirty="0"/>
          </a:p>
        </p:txBody>
      </p:sp>
      <p:sp>
        <p:nvSpPr>
          <p:cNvPr id="17" name="Text 15"/>
          <p:cNvSpPr/>
          <p:nvPr/>
        </p:nvSpPr>
        <p:spPr>
          <a:xfrm>
            <a:off x="72237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Code › Codespaces › Crear.</a:t>
            </a:r>
            <a:endParaRPr lang="en-US" sz="1400" dirty="0"/>
          </a:p>
        </p:txBody>
      </p:sp>
      <p:sp>
        <p:nvSpPr>
          <p:cNvPr id="18" name="[p1] Forma"/>
          <p:cNvSpPr/>
          <p:nvPr/>
        </p:nvSpPr>
        <p:spPr>
          <a:xfrm>
            <a:off x="2485888" y="3035808"/>
            <a:ext cx="640080" cy="0"/>
          </a:xfrm>
          <a:prstGeom prst="line">
            <a:avLst/>
          </a:prstGeom>
          <a:noFill/>
          <a:ln w="38100">
            <a:solidFill>
              <a:srgbClr val="2BA6CB"/>
            </a:solidFill>
            <a:prstDash val="solid"/>
            <a:tailEnd type="triangle"/>
          </a:ln>
        </p:spPr>
      </p:sp>
      <p:sp>
        <p:nvSpPr>
          <p:cNvPr id="19" name="[p1] Forma"/>
          <p:cNvSpPr/>
          <p:nvPr/>
        </p:nvSpPr>
        <p:spPr>
          <a:xfrm>
            <a:off x="321740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cloud"/>
          <p:cNvSpPr/>
          <p:nvPr/>
        </p:nvSpPr>
        <p:spPr>
          <a:xfrm>
            <a:off x="3532581" y="2665822"/>
            <a:ext cx="739973" cy="739973"/>
          </a:xfrm>
          <a:custGeom>
            <a:avLst/>
            <a:gdLst/>
            <a:ahLst/>
            <a:cxnLst/>
            <a:rect l="l" t="t" r="r" b="b"/>
            <a:pathLst>
              <a:path w="739973" h="739973">
                <a:moveTo>
                  <a:pt x="539563" y="585812"/>
                </a:moveTo>
                <a:lnTo>
                  <a:pt x="277490" y="585812"/>
                </a:lnTo>
                <a:cubicBezTo>
                  <a:pt x="166361" y="585783"/>
                  <a:pt x="73420" y="501375"/>
                  <a:pt x="62722" y="390762"/>
                </a:cubicBezTo>
                <a:cubicBezTo>
                  <a:pt x="52024" y="280150"/>
                  <a:pt x="127068" y="179495"/>
                  <a:pt x="236132" y="158172"/>
                </a:cubicBezTo>
                <a:cubicBezTo>
                  <a:pt x="345195" y="136848"/>
                  <a:pt x="452623" y="201826"/>
                  <a:pt x="484374" y="308322"/>
                </a:cubicBezTo>
                <a:lnTo>
                  <a:pt x="539563" y="308322"/>
                </a:lnTo>
                <a:cubicBezTo>
                  <a:pt x="616190" y="308322"/>
                  <a:pt x="678308" y="370440"/>
                  <a:pt x="678308" y="447067"/>
                </a:cubicBezTo>
                <a:cubicBezTo>
                  <a:pt x="678308" y="523694"/>
                  <a:pt x="616190" y="585812"/>
                  <a:pt x="539563" y="585812"/>
                </a:cubicBezTo>
                <a:close/>
              </a:path>
            </a:pathLst>
          </a:custGeom>
          <a:noFill/>
          <a:ln w="53956" cap="rnd">
            <a:solidFill>
              <a:srgbClr val="0B2350"/>
            </a:solidFill>
            <a:prstDash val="solid"/>
            <a:round/>
          </a:ln>
        </p:spPr>
      </p:sp>
      <p:sp>
        <p:nvSpPr>
          <p:cNvPr id="21" name="[p1] Forma"/>
          <p:cNvSpPr/>
          <p:nvPr/>
        </p:nvSpPr>
        <p:spPr>
          <a:xfrm>
            <a:off x="318083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848984"/>
            <a:ext cx="2101840" cy="420624"/>
          </a:xfrm>
          <a:prstGeom prst="rect">
            <a:avLst/>
          </a:prstGeom>
          <a:noFill/>
          <a:ln/>
        </p:spPr>
        <p:txBody>
          <a:bodyPr wrap="square" lIns="0" tIns="0" rIns="0" bIns="0" rtlCol="0" anchor="t">
            <a:normAutofit/>
          </a:bodyPr>
          <a:lstStyle/>
          <a:p>
            <a:pPr algn="ctr" indent="0" marL="0">
              <a:buNone/>
            </a:pPr>
            <a:r>
              <a:rPr lang="en-US" sz="1550" b="1" dirty="0">
                <a:solidFill>
                  <a:srgbClr val="0B1A3C"/>
                </a:solidFill>
                <a:latin typeface="Segoe UI Semibold" pitchFamily="34" charset="0"/>
                <a:ea typeface="Segoe UI Semibold" pitchFamily="34" charset="-122"/>
                <a:cs typeface="Segoe UI Semibold" pitchFamily="34" charset="-120"/>
              </a:rPr>
              <a:t>Máquina en la nube</a:t>
            </a:r>
            <a:endParaRPr lang="en-US" sz="1550" dirty="0"/>
          </a:p>
        </p:txBody>
      </p:sp>
      <p:sp>
        <p:nvSpPr>
          <p:cNvPr id="23" name="[p1] Forma"/>
          <p:cNvSpPr/>
          <p:nvPr/>
        </p:nvSpPr>
        <p:spPr>
          <a:xfrm>
            <a:off x="291565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4 núcleos y Docker adentro.</a:t>
            </a:r>
            <a:endParaRPr lang="en-US" sz="1400" dirty="0"/>
          </a:p>
        </p:txBody>
      </p:sp>
      <p:sp>
        <p:nvSpPr>
          <p:cNvPr id="24" name="[p2] Forma"/>
          <p:cNvSpPr/>
          <p:nvPr/>
        </p:nvSpPr>
        <p:spPr>
          <a:xfrm>
            <a:off x="4679168" y="3035808"/>
            <a:ext cx="640080" cy="0"/>
          </a:xfrm>
          <a:prstGeom prst="line">
            <a:avLst/>
          </a:prstGeom>
          <a:noFill/>
          <a:ln w="38100">
            <a:solidFill>
              <a:srgbClr val="2BA6CB"/>
            </a:solidFill>
            <a:prstDash val="solid"/>
            <a:tailEnd type="triangle"/>
          </a:ln>
        </p:spPr>
      </p:sp>
      <p:sp>
        <p:nvSpPr>
          <p:cNvPr id="25" name="[p2] Forma"/>
          <p:cNvSpPr/>
          <p:nvPr/>
        </p:nvSpPr>
        <p:spPr>
          <a:xfrm>
            <a:off x="541068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container"/>
          <p:cNvSpPr/>
          <p:nvPr/>
        </p:nvSpPr>
        <p:spPr>
          <a:xfrm>
            <a:off x="5725861" y="2665822"/>
            <a:ext cx="739973" cy="739973"/>
          </a:xfrm>
          <a:custGeom>
            <a:avLst/>
            <a:gdLst/>
            <a:ahLst/>
            <a:cxnLst/>
            <a:rect l="l" t="t" r="r" b="b"/>
            <a:pathLst>
              <a:path w="739973" h="739973">
                <a:moveTo>
                  <a:pt x="678308" y="237408"/>
                </a:moveTo>
                <a:cubicBezTo>
                  <a:pt x="678308" y="218909"/>
                  <a:pt x="665975" y="200409"/>
                  <a:pt x="653643" y="191160"/>
                </a:cubicBezTo>
                <a:lnTo>
                  <a:pt x="459400" y="70914"/>
                </a:lnTo>
                <a:cubicBezTo>
                  <a:pt x="443149" y="61676"/>
                  <a:pt x="423236" y="61676"/>
                  <a:pt x="406985" y="70914"/>
                </a:cubicBezTo>
                <a:lnTo>
                  <a:pt x="89413" y="255907"/>
                </a:lnTo>
                <a:cubicBezTo>
                  <a:pt x="73997" y="262074"/>
                  <a:pt x="61664" y="280573"/>
                  <a:pt x="61664" y="299072"/>
                </a:cubicBezTo>
                <a:lnTo>
                  <a:pt x="61664" y="502565"/>
                </a:lnTo>
                <a:cubicBezTo>
                  <a:pt x="61664" y="517981"/>
                  <a:pt x="73997" y="539563"/>
                  <a:pt x="86330" y="548813"/>
                </a:cubicBezTo>
                <a:lnTo>
                  <a:pt x="280573" y="669059"/>
                </a:lnTo>
                <a:cubicBezTo>
                  <a:pt x="296824" y="678296"/>
                  <a:pt x="316737" y="678296"/>
                  <a:pt x="332988" y="669059"/>
                </a:cubicBezTo>
                <a:lnTo>
                  <a:pt x="650559" y="484065"/>
                </a:lnTo>
                <a:cubicBezTo>
                  <a:pt x="665975" y="474816"/>
                  <a:pt x="678308" y="453233"/>
                  <a:pt x="678308" y="437817"/>
                </a:cubicBezTo>
                <a:close/>
                <a:moveTo>
                  <a:pt x="308322" y="675225"/>
                </a:moveTo>
                <a:lnTo>
                  <a:pt x="308322" y="431651"/>
                </a:lnTo>
                <a:lnTo>
                  <a:pt x="64748" y="280573"/>
                </a:lnTo>
                <a:moveTo>
                  <a:pt x="308322" y="431651"/>
                </a:moveTo>
                <a:lnTo>
                  <a:pt x="675225" y="218909"/>
                </a:lnTo>
                <a:moveTo>
                  <a:pt x="431651" y="610477"/>
                </a:moveTo>
                <a:lnTo>
                  <a:pt x="431651" y="360737"/>
                </a:lnTo>
                <a:moveTo>
                  <a:pt x="554980" y="539563"/>
                </a:moveTo>
                <a:lnTo>
                  <a:pt x="554980" y="289823"/>
                </a:lnTo>
              </a:path>
            </a:pathLst>
          </a:custGeom>
          <a:noFill/>
          <a:ln w="53956" cap="rnd">
            <a:solidFill>
              <a:srgbClr val="0B6E8A"/>
            </a:solidFill>
            <a:prstDash val="solid"/>
            <a:round/>
          </a:ln>
        </p:spPr>
      </p:sp>
      <p:sp>
        <p:nvSpPr>
          <p:cNvPr id="27" name="[p2] Forma"/>
          <p:cNvSpPr/>
          <p:nvPr/>
        </p:nvSpPr>
        <p:spPr>
          <a:xfrm>
            <a:off x="537411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levantar.sh</a:t>
            </a:r>
            <a:endParaRPr lang="en-US" sz="1800" dirty="0"/>
          </a:p>
        </p:txBody>
      </p:sp>
      <p:sp>
        <p:nvSpPr>
          <p:cNvPr id="29" name="[p2] Forma"/>
          <p:cNvSpPr/>
          <p:nvPr/>
        </p:nvSpPr>
        <p:spPr>
          <a:xfrm>
            <a:off x="510893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Construye y levanta los 8 contenedores.</a:t>
            </a:r>
            <a:endParaRPr lang="en-US" sz="1400" dirty="0"/>
          </a:p>
        </p:txBody>
      </p:sp>
      <p:sp>
        <p:nvSpPr>
          <p:cNvPr id="30" name="[p3] Forma"/>
          <p:cNvSpPr/>
          <p:nvPr/>
        </p:nvSpPr>
        <p:spPr>
          <a:xfrm>
            <a:off x="6872448" y="3035808"/>
            <a:ext cx="640080" cy="0"/>
          </a:xfrm>
          <a:prstGeom prst="line">
            <a:avLst/>
          </a:prstGeom>
          <a:noFill/>
          <a:ln w="38100">
            <a:solidFill>
              <a:srgbClr val="2BA6CB"/>
            </a:solidFill>
            <a:prstDash val="solid"/>
            <a:tailEnd type="triangle"/>
          </a:ln>
        </p:spPr>
      </p:sp>
      <p:sp>
        <p:nvSpPr>
          <p:cNvPr id="31" name="[p3] Forma"/>
          <p:cNvSpPr/>
          <p:nvPr/>
        </p:nvSpPr>
        <p:spPr>
          <a:xfrm>
            <a:off x="760396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2" name="[p3] Icono globe"/>
          <p:cNvSpPr/>
          <p:nvPr/>
        </p:nvSpPr>
        <p:spPr>
          <a:xfrm>
            <a:off x="7919141" y="2665822"/>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369986" y="61664"/>
                </a:moveTo>
                <a:cubicBezTo>
                  <a:pt x="205548" y="234325"/>
                  <a:pt x="205548" y="505648"/>
                  <a:pt x="369986" y="678308"/>
                </a:cubicBezTo>
                <a:cubicBezTo>
                  <a:pt x="534425" y="505648"/>
                  <a:pt x="534425" y="234325"/>
                  <a:pt x="369986" y="61664"/>
                </a:cubicBezTo>
                <a:moveTo>
                  <a:pt x="61664" y="369986"/>
                </a:moveTo>
                <a:lnTo>
                  <a:pt x="678308" y="369986"/>
                </a:lnTo>
              </a:path>
            </a:pathLst>
          </a:custGeom>
          <a:noFill/>
          <a:ln w="53956" cap="rnd">
            <a:solidFill>
              <a:srgbClr val="0B6E8A"/>
            </a:solidFill>
            <a:prstDash val="solid"/>
            <a:round/>
          </a:ln>
        </p:spPr>
      </p:sp>
      <p:sp>
        <p:nvSpPr>
          <p:cNvPr id="33" name="[p3] Forma"/>
          <p:cNvSpPr/>
          <p:nvPr/>
        </p:nvSpPr>
        <p:spPr>
          <a:xfrm>
            <a:off x="756739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Puertos https</a:t>
            </a:r>
            <a:endParaRPr lang="en-US" sz="1800" dirty="0"/>
          </a:p>
        </p:txBody>
      </p:sp>
      <p:sp>
        <p:nvSpPr>
          <p:cNvPr id="35" name="[p3] Forma"/>
          <p:cNvSpPr/>
          <p:nvPr/>
        </p:nvSpPr>
        <p:spPr>
          <a:xfrm>
            <a:off x="730221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UI, Grafana y Swagger, privados.</a:t>
            </a:r>
            <a:endParaRPr lang="en-US" sz="1400" dirty="0"/>
          </a:p>
        </p:txBody>
      </p:sp>
      <p:sp>
        <p:nvSpPr>
          <p:cNvPr id="36" name="[p4] Forma"/>
          <p:cNvSpPr/>
          <p:nvPr/>
        </p:nvSpPr>
        <p:spPr>
          <a:xfrm>
            <a:off x="9065727" y="3035808"/>
            <a:ext cx="640080" cy="0"/>
          </a:xfrm>
          <a:prstGeom prst="line">
            <a:avLst/>
          </a:prstGeom>
          <a:noFill/>
          <a:ln w="38100">
            <a:solidFill>
              <a:srgbClr val="2BA6CB"/>
            </a:solidFill>
            <a:prstDash val="solid"/>
            <a:tailEnd type="triangle"/>
          </a:ln>
        </p:spPr>
      </p:sp>
      <p:sp>
        <p:nvSpPr>
          <p:cNvPr id="37" name="[p4] Forma"/>
          <p:cNvSpPr/>
          <p:nvPr/>
        </p:nvSpPr>
        <p:spPr>
          <a:xfrm>
            <a:off x="9797247" y="235064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monitor"/>
          <p:cNvSpPr/>
          <p:nvPr/>
        </p:nvSpPr>
        <p:spPr>
          <a:xfrm>
            <a:off x="10112421" y="266582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0A6648"/>
            </a:solidFill>
            <a:prstDash val="solid"/>
            <a:round/>
          </a:ln>
        </p:spPr>
      </p:sp>
      <p:sp>
        <p:nvSpPr>
          <p:cNvPr id="39" name="[p4] Forma"/>
          <p:cNvSpPr/>
          <p:nvPr/>
        </p:nvSpPr>
        <p:spPr>
          <a:xfrm>
            <a:off x="9760671" y="231407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Demo</a:t>
            </a:r>
            <a:endParaRPr lang="en-US" sz="1800" dirty="0"/>
          </a:p>
        </p:txBody>
      </p:sp>
      <p:sp>
        <p:nvSpPr>
          <p:cNvPr id="41" name="[p4] Forma"/>
          <p:cNvSpPr/>
          <p:nvPr/>
        </p:nvSpPr>
        <p:spPr>
          <a:xfrm>
            <a:off x="9495495"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Desde el navegador.</a:t>
            </a:r>
            <a:endParaRPr lang="en-US" sz="1400" dirty="0"/>
          </a:p>
        </p:txBody>
      </p:sp>
      <p:sp>
        <p:nvSpPr>
          <p:cNvPr id="42" name="Shape 40"/>
          <p:cNvSpPr/>
          <p:nvPr/>
        </p:nvSpPr>
        <p:spPr>
          <a:xfrm>
            <a:off x="0" y="5961888"/>
            <a:ext cx="12191695" cy="475488"/>
          </a:xfrm>
          <a:prstGeom prst="rect">
            <a:avLst/>
          </a:prstGeom>
          <a:solidFill>
            <a:srgbClr val="0B2350"/>
          </a:solidFill>
          <a:ln w="12700">
            <a:solidFill>
              <a:srgbClr val="0B2350"/>
            </a:solidFill>
            <a:prstDash val="solid"/>
          </a:ln>
        </p:spPr>
      </p:sp>
      <p:sp>
        <p:nvSpPr>
          <p:cNvPr id="43"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44" name="Text 42"/>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Probar o mostrar el sistema no depende de la computadora de nadie ni de la red de la oficina.</a:t>
            </a:r>
            <a:endParaRPr lang="en-US" sz="1400" dirty="0"/>
          </a:p>
        </p:txBody>
      </p:sp>
      <p:sp>
        <p:nvSpPr>
          <p:cNvPr id="45" name="Text 4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Los recursos de Kubernetes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Describimos el estado que queremos; Kubernetes lo mantiene.</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ACCESO</a:t>
            </a:r>
            <a:endParaRPr lang="en-US" sz="1300"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network"/>
          <p:cNvSpPr/>
          <p:nvPr/>
        </p:nvSpPr>
        <p:spPr>
          <a:xfrm>
            <a:off x="2678095" y="2075734"/>
            <a:ext cx="294803" cy="294803"/>
          </a:xfrm>
          <a:custGeom>
            <a:avLst/>
            <a:gdLst/>
            <a:ahLst/>
            <a:cxnLst/>
            <a:rect l="l" t="t" r="r" b="b"/>
            <a:pathLst>
              <a:path w="294803" h="294803">
                <a:moveTo>
                  <a:pt x="208818" y="196535"/>
                </a:moveTo>
                <a:lnTo>
                  <a:pt x="257952" y="196535"/>
                </a:lnTo>
                <a:cubicBezTo>
                  <a:pt x="264736" y="196535"/>
                  <a:pt x="270236" y="202035"/>
                  <a:pt x="270236" y="208818"/>
                </a:cubicBezTo>
                <a:lnTo>
                  <a:pt x="270236" y="257952"/>
                </a:lnTo>
                <a:cubicBezTo>
                  <a:pt x="270236" y="264736"/>
                  <a:pt x="264736" y="270236"/>
                  <a:pt x="257952" y="270236"/>
                </a:cubicBezTo>
                <a:lnTo>
                  <a:pt x="208818" y="270236"/>
                </a:lnTo>
                <a:cubicBezTo>
                  <a:pt x="202035" y="270236"/>
                  <a:pt x="196535" y="264736"/>
                  <a:pt x="196535" y="257952"/>
                </a:cubicBezTo>
                <a:lnTo>
                  <a:pt x="196535" y="208818"/>
                </a:lnTo>
                <a:cubicBezTo>
                  <a:pt x="196535" y="202035"/>
                  <a:pt x="202035" y="196535"/>
                  <a:pt x="208818" y="196535"/>
                </a:cubicBezTo>
                <a:close/>
                <a:moveTo>
                  <a:pt x="36850" y="196535"/>
                </a:moveTo>
                <a:lnTo>
                  <a:pt x="85984" y="196535"/>
                </a:lnTo>
                <a:cubicBezTo>
                  <a:pt x="92768" y="196535"/>
                  <a:pt x="98268" y="202035"/>
                  <a:pt x="98268" y="208818"/>
                </a:cubicBezTo>
                <a:lnTo>
                  <a:pt x="98268" y="257952"/>
                </a:lnTo>
                <a:cubicBezTo>
                  <a:pt x="98268" y="264736"/>
                  <a:pt x="92768" y="270236"/>
                  <a:pt x="85984" y="270236"/>
                </a:cubicBezTo>
                <a:lnTo>
                  <a:pt x="36850" y="270236"/>
                </a:lnTo>
                <a:cubicBezTo>
                  <a:pt x="30066" y="270236"/>
                  <a:pt x="24567" y="264736"/>
                  <a:pt x="24567" y="257952"/>
                </a:cubicBezTo>
                <a:lnTo>
                  <a:pt x="24567" y="208818"/>
                </a:lnTo>
                <a:cubicBezTo>
                  <a:pt x="24567" y="202035"/>
                  <a:pt x="30066" y="196535"/>
                  <a:pt x="36850" y="196535"/>
                </a:cubicBezTo>
                <a:close/>
                <a:moveTo>
                  <a:pt x="122834" y="24567"/>
                </a:moveTo>
                <a:lnTo>
                  <a:pt x="171968" y="24567"/>
                </a:lnTo>
                <a:cubicBezTo>
                  <a:pt x="178752" y="24567"/>
                  <a:pt x="184252" y="30066"/>
                  <a:pt x="184252" y="36850"/>
                </a:cubicBezTo>
                <a:lnTo>
                  <a:pt x="184252" y="85984"/>
                </a:lnTo>
                <a:cubicBezTo>
                  <a:pt x="184252" y="92768"/>
                  <a:pt x="178752" y="98268"/>
                  <a:pt x="171968" y="98268"/>
                </a:cubicBezTo>
                <a:lnTo>
                  <a:pt x="122834" y="98268"/>
                </a:lnTo>
                <a:cubicBezTo>
                  <a:pt x="116050" y="98268"/>
                  <a:pt x="110551" y="92768"/>
                  <a:pt x="110551" y="85984"/>
                </a:cubicBezTo>
                <a:lnTo>
                  <a:pt x="110551" y="36850"/>
                </a:lnTo>
                <a:cubicBezTo>
                  <a:pt x="110551" y="30066"/>
                  <a:pt x="116050" y="24567"/>
                  <a:pt x="122834" y="24567"/>
                </a:cubicBezTo>
                <a:close/>
                <a:moveTo>
                  <a:pt x="61417" y="196535"/>
                </a:moveTo>
                <a:lnTo>
                  <a:pt x="61417" y="159685"/>
                </a:lnTo>
                <a:cubicBezTo>
                  <a:pt x="61417" y="152901"/>
                  <a:pt x="66917" y="147401"/>
                  <a:pt x="73701" y="147401"/>
                </a:cubicBezTo>
                <a:lnTo>
                  <a:pt x="221102" y="147401"/>
                </a:lnTo>
                <a:cubicBezTo>
                  <a:pt x="227886" y="147401"/>
                  <a:pt x="233385" y="152901"/>
                  <a:pt x="233385" y="159685"/>
                </a:cubicBezTo>
                <a:lnTo>
                  <a:pt x="233385" y="196535"/>
                </a:lnTo>
                <a:moveTo>
                  <a:pt x="147401" y="147401"/>
                </a:moveTo>
                <a:lnTo>
                  <a:pt x="147401" y="98268"/>
                </a:lnTo>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Service</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nombre fijo por componente</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route"/>
          <p:cNvSpPr/>
          <p:nvPr/>
        </p:nvSpPr>
        <p:spPr>
          <a:xfrm>
            <a:off x="7283470" y="2075734"/>
            <a:ext cx="294803" cy="294803"/>
          </a:xfrm>
          <a:custGeom>
            <a:avLst/>
            <a:gdLst/>
            <a:ahLst/>
            <a:cxnLst/>
            <a:rect l="l" t="t" r="r" b="b"/>
            <a:pathLst>
              <a:path w="294803" h="294803">
                <a:moveTo>
                  <a:pt x="110551" y="233385"/>
                </a:moveTo>
                <a:cubicBezTo>
                  <a:pt x="110551" y="253737"/>
                  <a:pt x="94053" y="270236"/>
                  <a:pt x="73701" y="270236"/>
                </a:cubicBezTo>
                <a:cubicBezTo>
                  <a:pt x="53349" y="270236"/>
                  <a:pt x="36850" y="253737"/>
                  <a:pt x="36850" y="233385"/>
                </a:cubicBezTo>
                <a:cubicBezTo>
                  <a:pt x="36850" y="213033"/>
                  <a:pt x="53349" y="196535"/>
                  <a:pt x="73701" y="196535"/>
                </a:cubicBezTo>
                <a:cubicBezTo>
                  <a:pt x="94053" y="196535"/>
                  <a:pt x="110551" y="213033"/>
                  <a:pt x="110551" y="233385"/>
                </a:cubicBezTo>
                <a:close/>
                <a:moveTo>
                  <a:pt x="110551" y="233385"/>
                </a:moveTo>
                <a:lnTo>
                  <a:pt x="214960" y="233385"/>
                </a:lnTo>
                <a:cubicBezTo>
                  <a:pt x="238704" y="233385"/>
                  <a:pt x="257952" y="214137"/>
                  <a:pt x="257952" y="190393"/>
                </a:cubicBezTo>
                <a:cubicBezTo>
                  <a:pt x="257952" y="166649"/>
                  <a:pt x="238704" y="147401"/>
                  <a:pt x="214960" y="147401"/>
                </a:cubicBezTo>
                <a:lnTo>
                  <a:pt x="79842" y="147401"/>
                </a:lnTo>
                <a:cubicBezTo>
                  <a:pt x="56099" y="147401"/>
                  <a:pt x="36850" y="128153"/>
                  <a:pt x="36850" y="104409"/>
                </a:cubicBezTo>
                <a:cubicBezTo>
                  <a:pt x="36850" y="80665"/>
                  <a:pt x="56099" y="61417"/>
                  <a:pt x="79842" y="61417"/>
                </a:cubicBezTo>
                <a:lnTo>
                  <a:pt x="184252" y="61417"/>
                </a:lnTo>
                <a:moveTo>
                  <a:pt x="257952" y="61417"/>
                </a:moveTo>
                <a:cubicBezTo>
                  <a:pt x="257952" y="81769"/>
                  <a:pt x="241454" y="98268"/>
                  <a:pt x="221102" y="98268"/>
                </a:cubicBezTo>
                <a:cubicBezTo>
                  <a:pt x="200750" y="98268"/>
                  <a:pt x="184252" y="81769"/>
                  <a:pt x="184252" y="61417"/>
                </a:cubicBezTo>
                <a:cubicBezTo>
                  <a:pt x="184252" y="41065"/>
                  <a:pt x="200750" y="24567"/>
                  <a:pt x="221102" y="24567"/>
                </a:cubicBezTo>
                <a:cubicBezTo>
                  <a:pt x="241454" y="24567"/>
                  <a:pt x="257952" y="41065"/>
                  <a:pt x="257952" y="61417"/>
                </a:cubicBezTo>
                <a:close/>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port-forward</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UI en localhost:8088</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CÓMPUTO</a:t>
            </a:r>
            <a:endParaRPr lang="en-US" sz="1300" dirty="0"/>
          </a:p>
        </p:txBody>
      </p:sp>
      <p:sp>
        <p:nvSpPr>
          <p:cNvPr id="28" name="[p1] Forma"/>
          <p:cNvSpPr/>
          <p:nvPr/>
        </p:nvSpPr>
        <p:spPr>
          <a:xfrm>
            <a:off x="239572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layers"/>
          <p:cNvSpPr/>
          <p:nvPr/>
        </p:nvSpPr>
        <p:spPr>
          <a:xfrm>
            <a:off x="2678095" y="3285028"/>
            <a:ext cx="294803" cy="294803"/>
          </a:xfrm>
          <a:custGeom>
            <a:avLst/>
            <a:gdLst/>
            <a:ahLst/>
            <a:cxnLst/>
            <a:rect l="l" t="t" r="r" b="b"/>
            <a:pathLst>
              <a:path w="294803" h="294803">
                <a:moveTo>
                  <a:pt x="157597" y="26778"/>
                </a:moveTo>
                <a:cubicBezTo>
                  <a:pt x="151121" y="23824"/>
                  <a:pt x="143682" y="23824"/>
                  <a:pt x="137206" y="26778"/>
                </a:cubicBezTo>
                <a:lnTo>
                  <a:pt x="31937" y="74683"/>
                </a:lnTo>
                <a:cubicBezTo>
                  <a:pt x="27483" y="76647"/>
                  <a:pt x="24609" y="81055"/>
                  <a:pt x="24609" y="85923"/>
                </a:cubicBezTo>
                <a:cubicBezTo>
                  <a:pt x="24609" y="90790"/>
                  <a:pt x="27483" y="95198"/>
                  <a:pt x="31937" y="97162"/>
                </a:cubicBezTo>
                <a:lnTo>
                  <a:pt x="137329" y="145190"/>
                </a:lnTo>
                <a:cubicBezTo>
                  <a:pt x="143805" y="148144"/>
                  <a:pt x="151243" y="148144"/>
                  <a:pt x="157719" y="145190"/>
                </a:cubicBezTo>
                <a:lnTo>
                  <a:pt x="263111" y="97285"/>
                </a:lnTo>
                <a:cubicBezTo>
                  <a:pt x="267565" y="95321"/>
                  <a:pt x="270439" y="90913"/>
                  <a:pt x="270439" y="86045"/>
                </a:cubicBezTo>
                <a:cubicBezTo>
                  <a:pt x="270439" y="81178"/>
                  <a:pt x="267565" y="76770"/>
                  <a:pt x="263111" y="74806"/>
                </a:cubicBezTo>
                <a:close/>
                <a:moveTo>
                  <a:pt x="24567" y="147401"/>
                </a:moveTo>
                <a:cubicBezTo>
                  <a:pt x="24555" y="152199"/>
                  <a:pt x="27337" y="156564"/>
                  <a:pt x="31691" y="158579"/>
                </a:cubicBezTo>
                <a:lnTo>
                  <a:pt x="137329" y="206607"/>
                </a:lnTo>
                <a:cubicBezTo>
                  <a:pt x="143770" y="209524"/>
                  <a:pt x="151155" y="209524"/>
                  <a:pt x="157597" y="206607"/>
                </a:cubicBezTo>
                <a:lnTo>
                  <a:pt x="262988" y="158702"/>
                </a:lnTo>
                <a:cubicBezTo>
                  <a:pt x="267431" y="156705"/>
                  <a:pt x="270274" y="152272"/>
                  <a:pt x="270236" y="147401"/>
                </a:cubicBezTo>
                <a:moveTo>
                  <a:pt x="24567" y="208818"/>
                </a:moveTo>
                <a:cubicBezTo>
                  <a:pt x="24555" y="213616"/>
                  <a:pt x="27337" y="217981"/>
                  <a:pt x="31691" y="219996"/>
                </a:cubicBezTo>
                <a:lnTo>
                  <a:pt x="137329" y="268025"/>
                </a:lnTo>
                <a:cubicBezTo>
                  <a:pt x="143770" y="270941"/>
                  <a:pt x="151155" y="270941"/>
                  <a:pt x="157597" y="268025"/>
                </a:cubicBezTo>
                <a:lnTo>
                  <a:pt x="262988" y="220119"/>
                </a:lnTo>
                <a:cubicBezTo>
                  <a:pt x="267431" y="218122"/>
                  <a:pt x="270274" y="213689"/>
                  <a:pt x="270236" y="208818"/>
                </a:cubicBezTo>
              </a:path>
            </a:pathLst>
          </a:custGeom>
          <a:noFill/>
          <a:ln w="24567" cap="rnd">
            <a:solidFill>
              <a:srgbClr val="0B2350"/>
            </a:solidFill>
            <a:prstDash val="solid"/>
            <a:round/>
          </a:ln>
        </p:spPr>
      </p:sp>
      <p:sp>
        <p:nvSpPr>
          <p:cNvPr id="31" name="[p1] Forma"/>
          <p:cNvSpPr/>
          <p:nvPr/>
        </p:nvSpPr>
        <p:spPr>
          <a:xfrm>
            <a:off x="325526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5 Deployments</a:t>
            </a:r>
            <a:endParaRPr lang="en-US" sz="1500" dirty="0"/>
          </a:p>
        </p:txBody>
      </p:sp>
      <p:sp>
        <p:nvSpPr>
          <p:cNvPr id="32" name="[p1] Forma"/>
          <p:cNvSpPr/>
          <p:nvPr/>
        </p:nvSpPr>
        <p:spPr>
          <a:xfrm>
            <a:off x="3255264" y="3469005"/>
            <a:ext cx="1954682" cy="321183"/>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UI, 2 servicios y 2 bases</a:t>
            </a:r>
            <a:endParaRPr lang="en-US" sz="1150" dirty="0"/>
          </a:p>
        </p:txBody>
      </p:sp>
      <p:sp>
        <p:nvSpPr>
          <p:cNvPr id="33" name="[p1] Forma"/>
          <p:cNvSpPr/>
          <p:nvPr/>
        </p:nvSpPr>
        <p:spPr>
          <a:xfrm>
            <a:off x="546597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5612282" y="3148965"/>
            <a:ext cx="566928" cy="566928"/>
          </a:xfrm>
          <a:prstGeom prst="ellipse">
            <a:avLst/>
          </a:prstGeom>
          <a:solidFill>
            <a:srgbClr val="E8EEF8"/>
          </a:solidFill>
          <a:ln w="12700">
            <a:solidFill>
              <a:srgbClr val="E8EEF8"/>
            </a:solidFill>
            <a:prstDash val="solid"/>
          </a:ln>
        </p:spPr>
      </p:sp>
      <p:sp>
        <p:nvSpPr>
          <p:cNvPr id="35" name="[p1] Icono hourglass"/>
          <p:cNvSpPr/>
          <p:nvPr/>
        </p:nvSpPr>
        <p:spPr>
          <a:xfrm>
            <a:off x="5748345" y="3285028"/>
            <a:ext cx="294803" cy="294803"/>
          </a:xfrm>
          <a:custGeom>
            <a:avLst/>
            <a:gdLst/>
            <a:ahLst/>
            <a:cxnLst/>
            <a:rect l="l" t="t" r="r" b="b"/>
            <a:pathLst>
              <a:path w="294803" h="294803">
                <a:moveTo>
                  <a:pt x="61417" y="270236"/>
                </a:moveTo>
                <a:lnTo>
                  <a:pt x="233385" y="270236"/>
                </a:lnTo>
                <a:moveTo>
                  <a:pt x="61417" y="24567"/>
                </a:moveTo>
                <a:lnTo>
                  <a:pt x="233385" y="24567"/>
                </a:lnTo>
                <a:moveTo>
                  <a:pt x="208818" y="270236"/>
                </a:moveTo>
                <a:lnTo>
                  <a:pt x="208818" y="218989"/>
                </a:lnTo>
                <a:cubicBezTo>
                  <a:pt x="208817" y="212474"/>
                  <a:pt x="206228" y="206226"/>
                  <a:pt x="201620" y="201620"/>
                </a:cubicBezTo>
                <a:lnTo>
                  <a:pt x="147401" y="147401"/>
                </a:lnTo>
                <a:lnTo>
                  <a:pt x="93182" y="201620"/>
                </a:lnTo>
                <a:cubicBezTo>
                  <a:pt x="88575" y="206226"/>
                  <a:pt x="85985" y="212474"/>
                  <a:pt x="85984" y="218989"/>
                </a:cubicBezTo>
                <a:lnTo>
                  <a:pt x="85984" y="270236"/>
                </a:lnTo>
                <a:moveTo>
                  <a:pt x="85984" y="24567"/>
                </a:moveTo>
                <a:lnTo>
                  <a:pt x="85984" y="75813"/>
                </a:lnTo>
                <a:cubicBezTo>
                  <a:pt x="85985" y="82328"/>
                  <a:pt x="88575" y="88576"/>
                  <a:pt x="93182" y="93182"/>
                </a:cubicBezTo>
                <a:lnTo>
                  <a:pt x="147401" y="147401"/>
                </a:lnTo>
                <a:lnTo>
                  <a:pt x="201620" y="93182"/>
                </a:lnTo>
                <a:cubicBezTo>
                  <a:pt x="206228" y="88576"/>
                  <a:pt x="208817" y="82328"/>
                  <a:pt x="208818" y="75813"/>
                </a:cubicBezTo>
                <a:lnTo>
                  <a:pt x="208818" y="24567"/>
                </a:lnTo>
              </a:path>
            </a:pathLst>
          </a:custGeom>
          <a:noFill/>
          <a:ln w="24567" cap="rnd">
            <a:solidFill>
              <a:srgbClr val="0B2350"/>
            </a:solidFill>
            <a:prstDash val="solid"/>
            <a:round/>
          </a:ln>
        </p:spPr>
      </p:sp>
      <p:sp>
        <p:nvSpPr>
          <p:cNvPr id="36" name="[p1] Forma"/>
          <p:cNvSpPr/>
          <p:nvPr/>
        </p:nvSpPr>
        <p:spPr>
          <a:xfrm>
            <a:off x="632551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initContainers</a:t>
            </a:r>
            <a:endParaRPr lang="en-US" sz="1500" dirty="0"/>
          </a:p>
        </p:txBody>
      </p:sp>
      <p:sp>
        <p:nvSpPr>
          <p:cNvPr id="37" name="[p1] Forma"/>
          <p:cNvSpPr/>
          <p:nvPr/>
        </p:nvSpPr>
        <p:spPr>
          <a:xfrm>
            <a:off x="6325514"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Esperan a la base y al otro servicio</a:t>
            </a:r>
            <a:endParaRPr lang="en-US" sz="1000" dirty="0"/>
          </a:p>
        </p:txBody>
      </p:sp>
      <p:sp>
        <p:nvSpPr>
          <p:cNvPr id="38" name="[p1] Forma"/>
          <p:cNvSpPr/>
          <p:nvPr/>
        </p:nvSpPr>
        <p:spPr>
          <a:xfrm>
            <a:off x="8536229" y="3019806"/>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8682533" y="3148965"/>
            <a:ext cx="566928" cy="566928"/>
          </a:xfrm>
          <a:prstGeom prst="ellipse">
            <a:avLst/>
          </a:prstGeom>
          <a:solidFill>
            <a:srgbClr val="E1F1EA"/>
          </a:solidFill>
          <a:ln w="12700">
            <a:solidFill>
              <a:srgbClr val="E1F1EA"/>
            </a:solidFill>
            <a:prstDash val="solid"/>
          </a:ln>
        </p:spPr>
      </p:sp>
      <p:sp>
        <p:nvSpPr>
          <p:cNvPr id="40" name="[p1] Icono heart-pulse"/>
          <p:cNvSpPr/>
          <p:nvPr/>
        </p:nvSpPr>
        <p:spPr>
          <a:xfrm>
            <a:off x="8818596" y="3285028"/>
            <a:ext cx="294803" cy="294803"/>
          </a:xfrm>
          <a:custGeom>
            <a:avLst/>
            <a:gdLst/>
            <a:ahLst/>
            <a:cxnLst/>
            <a:rect l="l" t="t" r="r" b="b"/>
            <a:pathLst>
              <a:path w="294803" h="294803">
                <a:moveTo>
                  <a:pt x="233385" y="171968"/>
                </a:moveTo>
                <a:cubicBezTo>
                  <a:pt x="251688" y="154034"/>
                  <a:pt x="270236" y="132538"/>
                  <a:pt x="270236" y="104409"/>
                </a:cubicBezTo>
                <a:cubicBezTo>
                  <a:pt x="270236" y="67097"/>
                  <a:pt x="239989" y="36850"/>
                  <a:pt x="202677" y="36850"/>
                </a:cubicBezTo>
                <a:cubicBezTo>
                  <a:pt x="181058" y="36850"/>
                  <a:pt x="165826" y="42992"/>
                  <a:pt x="147401" y="61417"/>
                </a:cubicBezTo>
                <a:cubicBezTo>
                  <a:pt x="128976" y="42992"/>
                  <a:pt x="113745" y="36850"/>
                  <a:pt x="92126" y="36850"/>
                </a:cubicBezTo>
                <a:cubicBezTo>
                  <a:pt x="54814" y="36850"/>
                  <a:pt x="24567" y="67097"/>
                  <a:pt x="24567" y="104409"/>
                </a:cubicBezTo>
                <a:cubicBezTo>
                  <a:pt x="24567" y="132661"/>
                  <a:pt x="42992" y="154157"/>
                  <a:pt x="61417" y="171968"/>
                </a:cubicBezTo>
                <a:lnTo>
                  <a:pt x="147401" y="257952"/>
                </a:lnTo>
                <a:close/>
                <a:moveTo>
                  <a:pt x="39553" y="147401"/>
                </a:moveTo>
                <a:lnTo>
                  <a:pt x="116693" y="147401"/>
                </a:lnTo>
                <a:lnTo>
                  <a:pt x="122834" y="135118"/>
                </a:lnTo>
                <a:lnTo>
                  <a:pt x="147401" y="190393"/>
                </a:lnTo>
                <a:lnTo>
                  <a:pt x="171968" y="104409"/>
                </a:lnTo>
                <a:lnTo>
                  <a:pt x="190393" y="147401"/>
                </a:lnTo>
                <a:lnTo>
                  <a:pt x="255127" y="147401"/>
                </a:lnTo>
              </a:path>
            </a:pathLst>
          </a:custGeom>
          <a:noFill/>
          <a:ln w="24567" cap="rnd">
            <a:solidFill>
              <a:srgbClr val="0A6648"/>
            </a:solidFill>
            <a:prstDash val="solid"/>
            <a:round/>
          </a:ln>
        </p:spPr>
      </p:sp>
      <p:sp>
        <p:nvSpPr>
          <p:cNvPr id="41" name="[p1] Forma"/>
          <p:cNvSpPr/>
          <p:nvPr/>
        </p:nvSpPr>
        <p:spPr>
          <a:xfrm>
            <a:off x="9395765"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readinessProbe</a:t>
            </a:r>
            <a:endParaRPr lang="en-US" sz="1500" dirty="0"/>
          </a:p>
        </p:txBody>
      </p:sp>
      <p:sp>
        <p:nvSpPr>
          <p:cNvPr id="42" name="[p1] Forma"/>
          <p:cNvSpPr/>
          <p:nvPr/>
        </p:nvSpPr>
        <p:spPr>
          <a:xfrm>
            <a:off x="9395765"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Sin tráfico hasta estar listo</a:t>
            </a:r>
            <a:endParaRPr lang="en-US" sz="1000" dirty="0"/>
          </a:p>
        </p:txBody>
      </p:sp>
      <p:sp>
        <p:nvSpPr>
          <p:cNvPr id="43" name="[p2] Forma"/>
          <p:cNvSpPr/>
          <p:nvPr/>
        </p:nvSpPr>
        <p:spPr>
          <a:xfrm>
            <a:off x="1412748" y="3918204"/>
            <a:ext cx="0" cy="237744"/>
          </a:xfrm>
          <a:prstGeom prst="line">
            <a:avLst/>
          </a:prstGeom>
          <a:noFill/>
          <a:ln w="31750">
            <a:solidFill>
              <a:srgbClr val="0B2350"/>
            </a:solidFill>
            <a:prstDash val="solid"/>
            <a:tailEnd type="triangle"/>
          </a:ln>
        </p:spPr>
      </p:sp>
      <p:sp>
        <p:nvSpPr>
          <p:cNvPr id="44" name="[p2] Forma"/>
          <p:cNvSpPr/>
          <p:nvPr/>
        </p:nvSpPr>
        <p:spPr>
          <a:xfrm>
            <a:off x="612648" y="4137660"/>
            <a:ext cx="10966399" cy="1008126"/>
          </a:xfrm>
          <a:prstGeom prst="roundRect">
            <a:avLst>
              <a:gd name="adj" fmla="val 10884"/>
            </a:avLst>
          </a:prstGeom>
          <a:solidFill>
            <a:srgbClr val="FDF3E0"/>
          </a:solidFill>
          <a:ln w="12700">
            <a:solidFill>
              <a:srgbClr val="DCC9B4"/>
            </a:solidFill>
            <a:prstDash val="solid"/>
          </a:ln>
        </p:spPr>
      </p:sp>
      <p:sp>
        <p:nvSpPr>
          <p:cNvPr id="45" name="[p2] Forma"/>
          <p:cNvSpPr/>
          <p:nvPr/>
        </p:nvSpPr>
        <p:spPr>
          <a:xfrm>
            <a:off x="612648" y="4137660"/>
            <a:ext cx="1600200" cy="1008126"/>
          </a:xfrm>
          <a:prstGeom prst="roundRect">
            <a:avLst>
              <a:gd name="adj" fmla="val 10884"/>
            </a:avLst>
          </a:prstGeom>
          <a:solidFill>
            <a:srgbClr val="8A4B06"/>
          </a:solidFill>
          <a:ln>
            <a:solidFill>
              <a:srgbClr val="8A4B06"/>
            </a:solidFill>
          </a:ln>
        </p:spPr>
        <p:txBody>
          <a:bodyPr wrap="square" lIns="0" tIns="76200" rIns="76200" bIns="0" rtlCol="0" anchor="ctr"/>
          <a:lstStyle/>
          <a:p>
            <a:pPr algn="ctr" indent="0" marL="0">
              <a:buNone/>
            </a:pPr>
            <a:r>
              <a:rPr lang="en-US" sz="1004" b="1" spc="100" kern="0" dirty="0">
                <a:solidFill>
                  <a:srgbClr val="FFFFFF"/>
                </a:solidFill>
                <a:latin typeface="Segoe UI" pitchFamily="34" charset="0"/>
                <a:ea typeface="Segoe UI" pitchFamily="34" charset="-122"/>
                <a:cs typeface="Segoe UI" pitchFamily="34" charset="-120"/>
              </a:rPr>
              <a:t>CONFIGURACIÓN</a:t>
            </a:r>
            <a:endParaRPr lang="en-US" sz="1004" dirty="0"/>
          </a:p>
        </p:txBody>
      </p:sp>
      <p:sp>
        <p:nvSpPr>
          <p:cNvPr id="46" name="[p2] Forma"/>
          <p:cNvSpPr/>
          <p:nvPr/>
        </p:nvSpPr>
        <p:spPr>
          <a:xfrm>
            <a:off x="2395728"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2542032" y="4358259"/>
            <a:ext cx="566928" cy="566928"/>
          </a:xfrm>
          <a:prstGeom prst="ellipse">
            <a:avLst/>
          </a:prstGeom>
          <a:solidFill>
            <a:srgbClr val="FCEFD6"/>
          </a:solidFill>
          <a:ln w="12700">
            <a:solidFill>
              <a:srgbClr val="FCEFD6"/>
            </a:solidFill>
            <a:prstDash val="solid"/>
          </a:ln>
        </p:spPr>
      </p:sp>
      <p:sp>
        <p:nvSpPr>
          <p:cNvPr id="48" name="[p2] Icono key-round"/>
          <p:cNvSpPr/>
          <p:nvPr/>
        </p:nvSpPr>
        <p:spPr>
          <a:xfrm>
            <a:off x="2678095" y="4494322"/>
            <a:ext cx="294803" cy="294803"/>
          </a:xfrm>
          <a:custGeom>
            <a:avLst/>
            <a:gdLst/>
            <a:ahLst/>
            <a:cxnLst/>
            <a:rect l="l" t="t" r="r" b="b"/>
            <a:pathLst>
              <a:path w="294803" h="294803">
                <a:moveTo>
                  <a:pt x="31765" y="213904"/>
                </a:moveTo>
                <a:cubicBezTo>
                  <a:pt x="27157" y="218510"/>
                  <a:pt x="24568" y="224758"/>
                  <a:pt x="24567" y="231273"/>
                </a:cubicBezTo>
                <a:lnTo>
                  <a:pt x="24567" y="257952"/>
                </a:lnTo>
                <a:cubicBezTo>
                  <a:pt x="24567" y="264736"/>
                  <a:pt x="30066" y="270236"/>
                  <a:pt x="36850" y="270236"/>
                </a:cubicBezTo>
                <a:lnTo>
                  <a:pt x="73701" y="270236"/>
                </a:lnTo>
                <a:cubicBezTo>
                  <a:pt x="80485" y="270236"/>
                  <a:pt x="85984" y="264736"/>
                  <a:pt x="85984" y="257952"/>
                </a:cubicBezTo>
                <a:lnTo>
                  <a:pt x="85984" y="245669"/>
                </a:lnTo>
                <a:cubicBezTo>
                  <a:pt x="85984" y="238885"/>
                  <a:pt x="91484" y="233385"/>
                  <a:pt x="98268" y="233385"/>
                </a:cubicBezTo>
                <a:lnTo>
                  <a:pt x="110551" y="233385"/>
                </a:lnTo>
                <a:cubicBezTo>
                  <a:pt x="117335" y="233385"/>
                  <a:pt x="122834" y="227886"/>
                  <a:pt x="122834" y="221102"/>
                </a:cubicBezTo>
                <a:lnTo>
                  <a:pt x="122834" y="208818"/>
                </a:lnTo>
                <a:cubicBezTo>
                  <a:pt x="122834" y="202035"/>
                  <a:pt x="128334" y="196535"/>
                  <a:pt x="135118" y="196535"/>
                </a:cubicBezTo>
                <a:lnTo>
                  <a:pt x="137231" y="196535"/>
                </a:lnTo>
                <a:cubicBezTo>
                  <a:pt x="143746" y="196534"/>
                  <a:pt x="149993" y="193944"/>
                  <a:pt x="154599" y="189337"/>
                </a:cubicBezTo>
                <a:lnTo>
                  <a:pt x="164598" y="179338"/>
                </a:lnTo>
                <a:cubicBezTo>
                  <a:pt x="199756" y="191585"/>
                  <a:pt x="238712" y="177908"/>
                  <a:pt x="258497" y="146371"/>
                </a:cubicBezTo>
                <a:cubicBezTo>
                  <a:pt x="278283" y="114834"/>
                  <a:pt x="273646" y="73808"/>
                  <a:pt x="247320" y="47482"/>
                </a:cubicBezTo>
                <a:cubicBezTo>
                  <a:pt x="220995" y="21157"/>
                  <a:pt x="179969" y="16520"/>
                  <a:pt x="148432" y="36305"/>
                </a:cubicBezTo>
                <a:cubicBezTo>
                  <a:pt x="116894" y="56091"/>
                  <a:pt x="103217" y="95047"/>
                  <a:pt x="115464" y="130204"/>
                </a:cubicBezTo>
                <a:close/>
                <a:moveTo>
                  <a:pt x="208818" y="92126"/>
                </a:moveTo>
                <a:cubicBezTo>
                  <a:pt x="208818" y="95518"/>
                  <a:pt x="206069" y="98268"/>
                  <a:pt x="202677" y="98268"/>
                </a:cubicBezTo>
                <a:cubicBezTo>
                  <a:pt x="199285" y="98268"/>
                  <a:pt x="196535" y="95518"/>
                  <a:pt x="196535" y="92126"/>
                </a:cubicBezTo>
                <a:cubicBezTo>
                  <a:pt x="196535" y="88734"/>
                  <a:pt x="199285" y="85984"/>
                  <a:pt x="202677" y="85984"/>
                </a:cubicBezTo>
                <a:cubicBezTo>
                  <a:pt x="206069" y="85984"/>
                  <a:pt x="208818" y="88734"/>
                  <a:pt x="208818" y="92126"/>
                </a:cubicBezTo>
                <a:close/>
              </a:path>
            </a:pathLst>
          </a:custGeom>
          <a:noFill/>
          <a:ln w="24567" cap="rnd">
            <a:solidFill>
              <a:srgbClr val="8A4B06"/>
            </a:solidFill>
            <a:prstDash val="solid"/>
            <a:round/>
          </a:ln>
        </p:spPr>
      </p:sp>
      <p:sp>
        <p:nvSpPr>
          <p:cNvPr id="49"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Secret arka-postgres</a:t>
            </a:r>
            <a:endParaRPr lang="en-US" sz="1500" dirty="0"/>
          </a:p>
        </p:txBody>
      </p:sp>
      <p:sp>
        <p:nvSpPr>
          <p:cNvPr id="50"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clave de las bases</a:t>
            </a:r>
            <a:endParaRPr lang="en-US" sz="1200" dirty="0"/>
          </a:p>
        </p:txBody>
      </p:sp>
      <p:sp>
        <p:nvSpPr>
          <p:cNvPr id="51" name="[p2] Forma"/>
          <p:cNvSpPr/>
          <p:nvPr/>
        </p:nvSpPr>
        <p:spPr>
          <a:xfrm>
            <a:off x="7001104"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7147408" y="4358259"/>
            <a:ext cx="566928" cy="566928"/>
          </a:xfrm>
          <a:prstGeom prst="ellipse">
            <a:avLst/>
          </a:prstGeom>
          <a:solidFill>
            <a:srgbClr val="FCEFD6"/>
          </a:solidFill>
          <a:ln w="12700">
            <a:solidFill>
              <a:srgbClr val="FCEFD6"/>
            </a:solidFill>
            <a:prstDash val="solid"/>
          </a:ln>
        </p:spPr>
      </p:sp>
      <p:sp>
        <p:nvSpPr>
          <p:cNvPr id="53" name="[p2] Icono settings"/>
          <p:cNvSpPr/>
          <p:nvPr/>
        </p:nvSpPr>
        <p:spPr>
          <a:xfrm>
            <a:off x="7283470" y="4494322"/>
            <a:ext cx="294803" cy="294803"/>
          </a:xfrm>
          <a:custGeom>
            <a:avLst/>
            <a:gdLst/>
            <a:ahLst/>
            <a:cxnLst/>
            <a:rect l="l" t="t" r="r" b="b"/>
            <a:pathLst>
              <a:path w="294803" h="294803">
                <a:moveTo>
                  <a:pt x="150104" y="24567"/>
                </a:moveTo>
                <a:lnTo>
                  <a:pt x="144699" y="24567"/>
                </a:lnTo>
                <a:cubicBezTo>
                  <a:pt x="131131" y="24567"/>
                  <a:pt x="120132" y="35566"/>
                  <a:pt x="120132" y="49134"/>
                </a:cubicBezTo>
                <a:lnTo>
                  <a:pt x="120132" y="51345"/>
                </a:lnTo>
                <a:cubicBezTo>
                  <a:pt x="120123" y="60113"/>
                  <a:pt x="115442" y="68211"/>
                  <a:pt x="107849" y="72595"/>
                </a:cubicBezTo>
                <a:lnTo>
                  <a:pt x="102567" y="75666"/>
                </a:lnTo>
                <a:cubicBezTo>
                  <a:pt x="94966" y="80054"/>
                  <a:pt x="85601" y="80054"/>
                  <a:pt x="78000" y="75666"/>
                </a:cubicBezTo>
                <a:lnTo>
                  <a:pt x="76157" y="74683"/>
                </a:lnTo>
                <a:cubicBezTo>
                  <a:pt x="64419" y="67912"/>
                  <a:pt x="49415" y="71924"/>
                  <a:pt x="42624" y="83650"/>
                </a:cubicBezTo>
                <a:lnTo>
                  <a:pt x="39921" y="88318"/>
                </a:lnTo>
                <a:cubicBezTo>
                  <a:pt x="33150" y="100056"/>
                  <a:pt x="37162" y="115060"/>
                  <a:pt x="48888" y="121852"/>
                </a:cubicBezTo>
                <a:lnTo>
                  <a:pt x="50731" y="123080"/>
                </a:lnTo>
                <a:cubicBezTo>
                  <a:pt x="58286" y="127442"/>
                  <a:pt x="62961" y="135484"/>
                  <a:pt x="63014" y="144208"/>
                </a:cubicBezTo>
                <a:lnTo>
                  <a:pt x="63014" y="150472"/>
                </a:lnTo>
                <a:cubicBezTo>
                  <a:pt x="63049" y="159284"/>
                  <a:pt x="58362" y="167439"/>
                  <a:pt x="50731" y="171845"/>
                </a:cubicBezTo>
                <a:lnTo>
                  <a:pt x="48888" y="172951"/>
                </a:lnTo>
                <a:cubicBezTo>
                  <a:pt x="37162" y="179743"/>
                  <a:pt x="33150" y="194747"/>
                  <a:pt x="39921" y="206485"/>
                </a:cubicBezTo>
                <a:lnTo>
                  <a:pt x="42624" y="211152"/>
                </a:lnTo>
                <a:cubicBezTo>
                  <a:pt x="49415" y="222878"/>
                  <a:pt x="64419" y="226890"/>
                  <a:pt x="76157" y="220119"/>
                </a:cubicBezTo>
                <a:lnTo>
                  <a:pt x="78000" y="219137"/>
                </a:lnTo>
                <a:cubicBezTo>
                  <a:pt x="85601" y="214748"/>
                  <a:pt x="94966" y="214748"/>
                  <a:pt x="102567" y="219137"/>
                </a:cubicBezTo>
                <a:lnTo>
                  <a:pt x="107849" y="222207"/>
                </a:lnTo>
                <a:cubicBezTo>
                  <a:pt x="115442" y="226591"/>
                  <a:pt x="120123" y="234690"/>
                  <a:pt x="120132" y="243458"/>
                </a:cubicBezTo>
                <a:lnTo>
                  <a:pt x="120132" y="245669"/>
                </a:lnTo>
                <a:cubicBezTo>
                  <a:pt x="120132" y="259237"/>
                  <a:pt x="131131" y="270236"/>
                  <a:pt x="144699" y="270236"/>
                </a:cubicBezTo>
                <a:lnTo>
                  <a:pt x="150104" y="270236"/>
                </a:lnTo>
                <a:cubicBezTo>
                  <a:pt x="163672" y="270236"/>
                  <a:pt x="174671" y="259237"/>
                  <a:pt x="174671" y="245669"/>
                </a:cubicBezTo>
                <a:lnTo>
                  <a:pt x="174671" y="243458"/>
                </a:lnTo>
                <a:cubicBezTo>
                  <a:pt x="174680" y="234690"/>
                  <a:pt x="179361" y="226591"/>
                  <a:pt x="186954" y="222207"/>
                </a:cubicBezTo>
                <a:lnTo>
                  <a:pt x="192236" y="219137"/>
                </a:lnTo>
                <a:cubicBezTo>
                  <a:pt x="199837" y="214748"/>
                  <a:pt x="209202" y="214748"/>
                  <a:pt x="216803" y="219137"/>
                </a:cubicBezTo>
                <a:lnTo>
                  <a:pt x="218645" y="220119"/>
                </a:lnTo>
                <a:cubicBezTo>
                  <a:pt x="230383" y="226890"/>
                  <a:pt x="245387" y="222878"/>
                  <a:pt x="252179" y="211152"/>
                </a:cubicBezTo>
                <a:lnTo>
                  <a:pt x="254881" y="206362"/>
                </a:lnTo>
                <a:cubicBezTo>
                  <a:pt x="261652" y="194624"/>
                  <a:pt x="257640" y="179620"/>
                  <a:pt x="245914" y="172828"/>
                </a:cubicBezTo>
                <a:lnTo>
                  <a:pt x="244072" y="171845"/>
                </a:lnTo>
                <a:cubicBezTo>
                  <a:pt x="236441" y="167439"/>
                  <a:pt x="231754" y="159284"/>
                  <a:pt x="231789" y="150472"/>
                </a:cubicBezTo>
                <a:lnTo>
                  <a:pt x="231789" y="144330"/>
                </a:lnTo>
                <a:cubicBezTo>
                  <a:pt x="231754" y="135519"/>
                  <a:pt x="236441" y="127363"/>
                  <a:pt x="244072" y="122957"/>
                </a:cubicBezTo>
                <a:lnTo>
                  <a:pt x="245914" y="121852"/>
                </a:lnTo>
                <a:cubicBezTo>
                  <a:pt x="257640" y="115060"/>
                  <a:pt x="261652" y="100056"/>
                  <a:pt x="254881" y="88318"/>
                </a:cubicBezTo>
                <a:lnTo>
                  <a:pt x="252179" y="83650"/>
                </a:lnTo>
                <a:cubicBezTo>
                  <a:pt x="245387" y="71924"/>
                  <a:pt x="230383" y="67912"/>
                  <a:pt x="218645" y="74683"/>
                </a:cubicBezTo>
                <a:lnTo>
                  <a:pt x="216803" y="75666"/>
                </a:lnTo>
                <a:cubicBezTo>
                  <a:pt x="209202" y="80054"/>
                  <a:pt x="199837" y="80054"/>
                  <a:pt x="192236" y="75666"/>
                </a:cubicBezTo>
                <a:lnTo>
                  <a:pt x="186954" y="72595"/>
                </a:lnTo>
                <a:cubicBezTo>
                  <a:pt x="179361" y="68211"/>
                  <a:pt x="174680" y="60113"/>
                  <a:pt x="174671" y="51345"/>
                </a:cubicBezTo>
                <a:lnTo>
                  <a:pt x="174671" y="49134"/>
                </a:lnTo>
                <a:cubicBezTo>
                  <a:pt x="174671" y="35566"/>
                  <a:pt x="163672" y="24567"/>
                  <a:pt x="150104" y="24567"/>
                </a:cubicBezTo>
                <a:close/>
                <a:moveTo>
                  <a:pt x="184252" y="147401"/>
                </a:moveTo>
                <a:cubicBezTo>
                  <a:pt x="184252" y="167753"/>
                  <a:pt x="167753" y="184252"/>
                  <a:pt x="147401" y="184252"/>
                </a:cubicBezTo>
                <a:cubicBezTo>
                  <a:pt x="127049" y="184252"/>
                  <a:pt x="110551" y="167753"/>
                  <a:pt x="110551" y="147401"/>
                </a:cubicBezTo>
                <a:cubicBezTo>
                  <a:pt x="110551" y="127049"/>
                  <a:pt x="127049" y="110551"/>
                  <a:pt x="147401" y="110551"/>
                </a:cubicBezTo>
                <a:cubicBezTo>
                  <a:pt x="167753" y="110551"/>
                  <a:pt x="184252" y="127049"/>
                  <a:pt x="184252" y="147401"/>
                </a:cubicBezTo>
                <a:close/>
              </a:path>
            </a:pathLst>
          </a:custGeom>
          <a:noFill/>
          <a:ln w="24567" cap="rnd">
            <a:solidFill>
              <a:srgbClr val="8A4B06"/>
            </a:solidFill>
            <a:prstDash val="solid"/>
            <a:round/>
          </a:ln>
        </p:spPr>
      </p:sp>
      <p:sp>
        <p:nvSpPr>
          <p:cNvPr id="54"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Variables de entorno</a:t>
            </a:r>
            <a:endParaRPr lang="en-US" sz="1500" dirty="0"/>
          </a:p>
        </p:txBody>
      </p:sp>
      <p:sp>
        <p:nvSpPr>
          <p:cNvPr id="55"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DB_URL, NOTIFICACIONES_URL</a:t>
            </a:r>
            <a:endParaRPr lang="en-US" sz="1200" dirty="0"/>
          </a:p>
        </p:txBody>
      </p:sp>
      <p:sp>
        <p:nvSpPr>
          <p:cNvPr id="56" name="[p3] Forma"/>
          <p:cNvSpPr/>
          <p:nvPr/>
        </p:nvSpPr>
        <p:spPr>
          <a:xfrm>
            <a:off x="1412748" y="5127498"/>
            <a:ext cx="0" cy="237744"/>
          </a:xfrm>
          <a:prstGeom prst="line">
            <a:avLst/>
          </a:prstGeom>
          <a:noFill/>
          <a:ln w="31750">
            <a:solidFill>
              <a:srgbClr val="0B2350"/>
            </a:solidFill>
            <a:prstDash val="solid"/>
            <a:tailEnd type="triangle"/>
          </a:ln>
        </p:spPr>
      </p:sp>
      <p:sp>
        <p:nvSpPr>
          <p:cNvPr id="57" name="[p3] Forma"/>
          <p:cNvSpPr/>
          <p:nvPr/>
        </p:nvSpPr>
        <p:spPr>
          <a:xfrm>
            <a:off x="612648" y="5346954"/>
            <a:ext cx="10966399" cy="1008126"/>
          </a:xfrm>
          <a:prstGeom prst="roundRect">
            <a:avLst>
              <a:gd name="adj" fmla="val 10884"/>
            </a:avLst>
          </a:prstGeom>
          <a:solidFill>
            <a:srgbClr val="F7F9FC"/>
          </a:solidFill>
          <a:ln w="12700">
            <a:solidFill>
              <a:srgbClr val="CCD0D8"/>
            </a:solidFill>
            <a:prstDash val="solid"/>
          </a:ln>
        </p:spPr>
      </p:sp>
      <p:sp>
        <p:nvSpPr>
          <p:cNvPr id="58" name="[p3] Forma"/>
          <p:cNvSpPr/>
          <p:nvPr/>
        </p:nvSpPr>
        <p:spPr>
          <a:xfrm>
            <a:off x="612648" y="5346954"/>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59" name="[p3] Forma"/>
          <p:cNvSpPr/>
          <p:nvPr/>
        </p:nvSpPr>
        <p:spPr>
          <a:xfrm>
            <a:off x="2395728" y="5438394"/>
            <a:ext cx="9046159"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2542032" y="5567553"/>
            <a:ext cx="566928" cy="566928"/>
          </a:xfrm>
          <a:prstGeom prst="ellipse">
            <a:avLst/>
          </a:prstGeom>
          <a:solidFill>
            <a:srgbClr val="F4F7FB"/>
          </a:solidFill>
          <a:ln w="12700">
            <a:solidFill>
              <a:srgbClr val="F4F7FB"/>
            </a:solidFill>
            <a:prstDash val="solid"/>
          </a:ln>
        </p:spPr>
      </p:sp>
      <p:sp>
        <p:nvSpPr>
          <p:cNvPr id="61" name="[p3] Icono hard-drive"/>
          <p:cNvSpPr/>
          <p:nvPr/>
        </p:nvSpPr>
        <p:spPr>
          <a:xfrm>
            <a:off x="2678095" y="5703616"/>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55627E"/>
            </a:solidFill>
            <a:prstDash val="solid"/>
            <a:round/>
          </a:ln>
        </p:spPr>
      </p:sp>
      <p:sp>
        <p:nvSpPr>
          <p:cNvPr id="62" name="[p3] Forma"/>
          <p:cNvSpPr/>
          <p:nvPr/>
        </p:nvSpPr>
        <p:spPr>
          <a:xfrm>
            <a:off x="3255264" y="5474970"/>
            <a:ext cx="8095183"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PersistentVolumeClaim</a:t>
            </a:r>
            <a:endParaRPr lang="en-US" sz="1500" dirty="0"/>
          </a:p>
        </p:txBody>
      </p:sp>
      <p:sp>
        <p:nvSpPr>
          <p:cNvPr id="63" name="[p3] Forma"/>
          <p:cNvSpPr/>
          <p:nvPr/>
        </p:nvSpPr>
        <p:spPr>
          <a:xfrm>
            <a:off x="3255264" y="5887593"/>
            <a:ext cx="8095183"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disco por base: sobrevive al Pod</a:t>
            </a:r>
            <a:endParaRPr lang="en-US" sz="1200" dirty="0"/>
          </a:p>
        </p:txBody>
      </p:sp>
      <p:sp>
        <p:nvSpPr>
          <p:cNvPr id="64" name="Text 6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2"/>
                                        </p:tgtEl>
                                        <p:attrNameLst>
                                          <p:attrName>style.visibility</p:attrName>
                                        </p:attrNameLst>
                                      </p:cBhvr>
                                      <p:to>
                                        <p:strVal val="visible"/>
                                      </p:to>
                                    </p:set>
                                    <p:animEffect transition="in" filter="fade">
                                      <p:cBhvr>
                                        <p:cTn id="56" dur="400"/>
                                        <p:tgtEl>
                                          <p:spTgt spid="42"/>
                                        </p:tgtEl>
                                      </p:cBhvr>
                                    </p:animEffect>
                                  </p:childTnLst>
                                </p:cTn>
                              </p:par>
                            </p:childTnLst>
                          </p:cTn>
                        </p:par>
                      </p:childTnLst>
                    </p:cTn>
                  </p:par>
                  <p:par>
                    <p:cTn id="98" fill="hold">
                      <p:stCondLst>
                        <p:cond delay="indefinite"/>
                      </p:stCondLst>
                      <p:childTnLst>
                        <p:par>
                          <p:cTn id="99"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1"/>
                                        </p:tgtEl>
                                        <p:attrNameLst>
                                          <p:attrName>style.visibility</p:attrName>
                                        </p:attrNameLst>
                                      </p:cBhvr>
                                      <p:to>
                                        <p:strVal val="visible"/>
                                      </p:to>
                                    </p:set>
                                    <p:animEffect transition="in" filter="fade">
                                      <p:cBhvr>
                                        <p:cTn id="85" dur="400"/>
                                        <p:tgtEl>
                                          <p:spTgt spid="5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2"/>
                                        </p:tgtEl>
                                        <p:attrNameLst>
                                          <p:attrName>style.visibility</p:attrName>
                                        </p:attrNameLst>
                                      </p:cBhvr>
                                      <p:to>
                                        <p:strVal val="visible"/>
                                      </p:to>
                                    </p:set>
                                    <p:animEffect transition="in" filter="fade">
                                      <p:cBhvr>
                                        <p:cTn id="88" dur="400"/>
                                        <p:tgtEl>
                                          <p:spTgt spid="5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animEffect transition="in" filter="fade">
                                      <p:cBhvr>
                                        <p:cTn id="91" dur="400"/>
                                        <p:tgtEl>
                                          <p:spTgt spid="5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54"/>
                                        </p:tgtEl>
                                        <p:attrNameLst>
                                          <p:attrName>style.visibility</p:attrName>
                                        </p:attrNameLst>
                                      </p:cBhvr>
                                      <p:to>
                                        <p:strVal val="visible"/>
                                      </p:to>
                                    </p:set>
                                    <p:animEffect transition="in" filter="fade">
                                      <p:cBhvr>
                                        <p:cTn id="94" dur="400"/>
                                        <p:tgtEl>
                                          <p:spTgt spid="5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55"/>
                                        </p:tgtEl>
                                        <p:attrNameLst>
                                          <p:attrName>style.visibility</p:attrName>
                                        </p:attrNameLst>
                                      </p:cBhvr>
                                      <p:to>
                                        <p:strVal val="visible"/>
                                      </p:to>
                                    </p:set>
                                    <p:animEffect transition="in" filter="fade">
                                      <p:cBhvr>
                                        <p:cTn id="97" dur="400"/>
                                        <p:tgtEl>
                                          <p:spTgt spid="55"/>
                                        </p:tgtEl>
                                      </p:cBhvr>
                                    </p:animEffect>
                                  </p:childTnLst>
                                </p:cTn>
                              </p:par>
                            </p:childTnLst>
                          </p:cTn>
                        </p:par>
                      </p:childTnLst>
                    </p:cTn>
                  </p:par>
                  <p:par>
                    <p:cTn id="124" fill="hold">
                      <p:stCondLst>
                        <p:cond delay="indefinite"/>
                      </p:stCondLst>
                      <p:childTnLst>
                        <p:par>
                          <p:cTn id="125"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Los recursos de Kubernetes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despliegue local</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bash construir.sh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imágenes de los 3 componentes</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apply -f k8s/</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get pods,svc,pvc</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port-forward svc/arka-lite-ui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8088</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8080</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45</a:t>
            </a:fld>
            <a:endParaRPr lang="en-US"/>
          </a:p>
        </p:txBody>
      </p:sp>
    </p:spTree>
  </p:cSld>
  <p:clrMapOvr>
    <a:masterClrMapping/>
  </p:clrMapOvr>
  <p:transition spd="med">
    <p:fade/>
  </p:transition>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Pod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Kubernetes vuelve solo al estado que declaramos.</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650" b="1" dirty="0">
                <a:solidFill>
                  <a:srgbClr val="AB243E"/>
                </a:solidFill>
                <a:latin typeface="Segoe UI" pitchFamily="34" charset="0"/>
                <a:ea typeface="Segoe UI" pitchFamily="34" charset="-122"/>
                <a:cs typeface="Segoe UI" pitchFamily="34" charset="-120"/>
              </a:rPr>
              <a:t>Se cae el Pod de solicitudes</a:t>
            </a:r>
            <a:pPr indent="0" marL="0">
              <a:buNone/>
            </a:pPr>
            <a:r>
              <a:rPr lang="en-US" sz="1650" dirty="0">
                <a:solidFill>
                  <a:srgbClr val="0B1A3C"/>
                </a:solidFill>
                <a:latin typeface="Segoe UI" pitchFamily="34" charset="0"/>
                <a:ea typeface="Segoe UI" pitchFamily="34" charset="-122"/>
                <a:cs typeface="Segoe UI" pitchFamily="34" charset="-120"/>
              </a:rPr>
              <a:t>   Un error, un nodo reiniciado o un kubectl delete.</a:t>
            </a:r>
            <a:endParaRPr lang="en-US" sz="165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650" b="1" dirty="0">
                <a:solidFill>
                  <a:srgbClr val="0A6648"/>
                </a:solidFill>
                <a:latin typeface="Segoe UI" pitchFamily="34" charset="0"/>
                <a:ea typeface="Segoe UI" pitchFamily="34" charset="-122"/>
                <a:cs typeface="Segoe UI" pitchFamily="34" charset="-120"/>
              </a:rPr>
              <a:t>Sin intervención manual</a:t>
            </a:r>
            <a:pPr indent="0" marL="0">
              <a:buNone/>
            </a:pPr>
            <a:r>
              <a:rPr lang="en-US" sz="1650" dirty="0">
                <a:solidFill>
                  <a:srgbClr val="0B1A3C"/>
                </a:solidFill>
                <a:latin typeface="Segoe UI" pitchFamily="34" charset="0"/>
                <a:ea typeface="Segoe UI" pitchFamily="34" charset="-122"/>
                <a:cs typeface="Segoe UI" pitchFamily="34" charset="-120"/>
              </a:rPr>
              <a:t>   Los eventos pendientes siguen en la base y se entregan.</a:t>
            </a:r>
            <a:endParaRPr lang="en-US" sz="16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1] Icono radar"/>
          <p:cNvSpPr/>
          <p:nvPr/>
        </p:nvSpPr>
        <p:spPr>
          <a:xfrm>
            <a:off x="1756706" y="3375263"/>
            <a:ext cx="453484" cy="453484"/>
          </a:xfrm>
          <a:custGeom>
            <a:avLst/>
            <a:gdLst/>
            <a:ahLst/>
            <a:cxnLst/>
            <a:rect l="l" t="t" r="r" b="b"/>
            <a:pathLst>
              <a:path w="453484" h="453484">
                <a:moveTo>
                  <a:pt x="360331" y="93153"/>
                </a:moveTo>
                <a:cubicBezTo>
                  <a:pt x="299835" y="32592"/>
                  <a:pt x="206183" y="20266"/>
                  <a:pt x="132077" y="63110"/>
                </a:cubicBezTo>
                <a:moveTo>
                  <a:pt x="75581" y="113371"/>
                </a:moveTo>
                <a:lnTo>
                  <a:pt x="75770" y="113371"/>
                </a:lnTo>
                <a:moveTo>
                  <a:pt x="43270" y="181771"/>
                </a:moveTo>
                <a:cubicBezTo>
                  <a:pt x="23827" y="260966"/>
                  <a:pt x="57384" y="343699"/>
                  <a:pt x="126500" y="386973"/>
                </a:cubicBezTo>
                <a:cubicBezTo>
                  <a:pt x="195616" y="430248"/>
                  <a:pt x="284697" y="424300"/>
                  <a:pt x="347446" y="372220"/>
                </a:cubicBezTo>
                <a:cubicBezTo>
                  <a:pt x="410196" y="320141"/>
                  <a:pt x="432455" y="233681"/>
                  <a:pt x="402656" y="157775"/>
                </a:cubicBezTo>
                <a:moveTo>
                  <a:pt x="306857" y="146626"/>
                </a:moveTo>
                <a:cubicBezTo>
                  <a:pt x="277231" y="116827"/>
                  <a:pt x="233552" y="105859"/>
                  <a:pt x="193362" y="118127"/>
                </a:cubicBezTo>
                <a:cubicBezTo>
                  <a:pt x="153172" y="130395"/>
                  <a:pt x="123064" y="163886"/>
                  <a:pt x="115129" y="205150"/>
                </a:cubicBezTo>
                <a:cubicBezTo>
                  <a:pt x="107194" y="246415"/>
                  <a:pt x="122733" y="288684"/>
                  <a:pt x="155507" y="314982"/>
                </a:cubicBezTo>
                <a:moveTo>
                  <a:pt x="226742" y="340113"/>
                </a:moveTo>
                <a:lnTo>
                  <a:pt x="226931" y="340113"/>
                </a:lnTo>
                <a:moveTo>
                  <a:pt x="339924" y="220318"/>
                </a:moveTo>
                <a:cubicBezTo>
                  <a:pt x="342009" y="256788"/>
                  <a:pt x="326394" y="292028"/>
                  <a:pt x="297977" y="314982"/>
                </a:cubicBezTo>
                <a:moveTo>
                  <a:pt x="264532" y="226742"/>
                </a:moveTo>
                <a:cubicBezTo>
                  <a:pt x="264532" y="247613"/>
                  <a:pt x="247613" y="264532"/>
                  <a:pt x="226742" y="264532"/>
                </a:cubicBezTo>
                <a:cubicBezTo>
                  <a:pt x="205871" y="264532"/>
                  <a:pt x="188952" y="247613"/>
                  <a:pt x="188952" y="226742"/>
                </a:cubicBezTo>
                <a:cubicBezTo>
                  <a:pt x="188952" y="205871"/>
                  <a:pt x="205871" y="188952"/>
                  <a:pt x="226742" y="188952"/>
                </a:cubicBezTo>
                <a:cubicBezTo>
                  <a:pt x="247613" y="188952"/>
                  <a:pt x="264532" y="205871"/>
                  <a:pt x="264532" y="226742"/>
                </a:cubicBezTo>
                <a:close/>
                <a:moveTo>
                  <a:pt x="253384" y="200100"/>
                </a:moveTo>
                <a:lnTo>
                  <a:pt x="360331" y="93153"/>
                </a:lnTo>
              </a:path>
            </a:pathLst>
          </a:custGeom>
          <a:noFill/>
          <a:ln w="33067" cap="rnd">
            <a:solidFill>
              <a:srgbClr val="8A4B06"/>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Detecta</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Falta 1 de 1 copias.</a:t>
            </a:r>
            <a:endParaRPr lang="en-US" sz="1300" dirty="0"/>
          </a:p>
        </p:txBody>
      </p:sp>
      <p:sp>
        <p:nvSpPr>
          <p:cNvPr id="34" name="[p2] Forma"/>
          <p:cNvSpPr/>
          <p:nvPr/>
        </p:nvSpPr>
        <p:spPr>
          <a:xfrm>
            <a:off x="43135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+1 s</a:t>
            </a:r>
            <a:endParaRPr lang="en-US" sz="1100" dirty="0"/>
          </a:p>
        </p:txBody>
      </p:sp>
      <p:sp>
        <p:nvSpPr>
          <p:cNvPr id="35" name="[p2] Forma"/>
          <p:cNvSpPr/>
          <p:nvPr/>
        </p:nvSpPr>
        <p:spPr>
          <a:xfrm>
            <a:off x="43051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2] Icono rotate-ccw"/>
          <p:cNvSpPr/>
          <p:nvPr/>
        </p:nvSpPr>
        <p:spPr>
          <a:xfrm>
            <a:off x="4498306" y="3375263"/>
            <a:ext cx="453484" cy="453484"/>
          </a:xfrm>
          <a:custGeom>
            <a:avLst/>
            <a:gdLst/>
            <a:ahLst/>
            <a:cxnLst/>
            <a:rect l="l" t="t" r="r" b="b"/>
            <a:pathLst>
              <a:path w="453484" h="453484">
                <a:moveTo>
                  <a:pt x="56685" y="226742"/>
                </a:moveTo>
                <a:cubicBezTo>
                  <a:pt x="56685" y="320662"/>
                  <a:pt x="132822" y="396798"/>
                  <a:pt x="226742" y="396798"/>
                </a:cubicBezTo>
                <a:cubicBezTo>
                  <a:pt x="320662" y="396798"/>
                  <a:pt x="396798" y="320662"/>
                  <a:pt x="396798" y="226742"/>
                </a:cubicBezTo>
                <a:cubicBezTo>
                  <a:pt x="396798" y="132822"/>
                  <a:pt x="320662" y="56685"/>
                  <a:pt x="226742" y="56685"/>
                </a:cubicBezTo>
                <a:cubicBezTo>
                  <a:pt x="179201" y="56864"/>
                  <a:pt x="133569" y="75415"/>
                  <a:pt x="99389" y="108458"/>
                </a:cubicBezTo>
                <a:lnTo>
                  <a:pt x="56685" y="151161"/>
                </a:lnTo>
                <a:moveTo>
                  <a:pt x="56685" y="56685"/>
                </a:moveTo>
                <a:lnTo>
                  <a:pt x="56685" y="151161"/>
                </a:lnTo>
                <a:lnTo>
                  <a:pt x="151161" y="151161"/>
                </a:lnTo>
              </a:path>
            </a:pathLst>
          </a:custGeom>
          <a:noFill/>
          <a:ln w="33067" cap="rnd">
            <a:solidFill>
              <a:srgbClr val="0B6E8A"/>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Recrea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Un Pod nuevo con la misma imagen.</a:t>
            </a:r>
            <a:endParaRPr lang="en-US" sz="1300" dirty="0"/>
          </a:p>
        </p:txBody>
      </p:sp>
      <p:sp>
        <p:nvSpPr>
          <p:cNvPr id="40" name="[p3] Forma"/>
          <p:cNvSpPr/>
          <p:nvPr/>
        </p:nvSpPr>
        <p:spPr>
          <a:xfrm>
            <a:off x="6826568"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+segundos</a:t>
            </a:r>
            <a:endParaRPr lang="en-US" sz="1100" dirty="0"/>
          </a:p>
        </p:txBody>
      </p:sp>
      <p:sp>
        <p:nvSpPr>
          <p:cNvPr id="41" name="[p3] Forma"/>
          <p:cNvSpPr/>
          <p:nvPr/>
        </p:nvSpPr>
        <p:spPr>
          <a:xfrm>
            <a:off x="70467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2" name="[p3] Icono hourglass"/>
          <p:cNvSpPr/>
          <p:nvPr/>
        </p:nvSpPr>
        <p:spPr>
          <a:xfrm>
            <a:off x="7239906" y="3375263"/>
            <a:ext cx="453484" cy="453484"/>
          </a:xfrm>
          <a:custGeom>
            <a:avLst/>
            <a:gdLst/>
            <a:ahLst/>
            <a:cxnLst/>
            <a:rect l="l" t="t" r="r" b="b"/>
            <a:pathLst>
              <a:path w="453484" h="453484">
                <a:moveTo>
                  <a:pt x="94476" y="415694"/>
                </a:moveTo>
                <a:lnTo>
                  <a:pt x="359008" y="415694"/>
                </a:lnTo>
                <a:moveTo>
                  <a:pt x="94476" y="37790"/>
                </a:moveTo>
                <a:lnTo>
                  <a:pt x="359008" y="37790"/>
                </a:lnTo>
                <a:moveTo>
                  <a:pt x="321218" y="415694"/>
                </a:moveTo>
                <a:lnTo>
                  <a:pt x="321218" y="336863"/>
                </a:lnTo>
                <a:cubicBezTo>
                  <a:pt x="321216" y="326841"/>
                  <a:pt x="317233" y="317231"/>
                  <a:pt x="310145" y="310145"/>
                </a:cubicBezTo>
                <a:lnTo>
                  <a:pt x="226742" y="226742"/>
                </a:lnTo>
                <a:lnTo>
                  <a:pt x="143339" y="310145"/>
                </a:lnTo>
                <a:cubicBezTo>
                  <a:pt x="136251" y="317231"/>
                  <a:pt x="132268" y="326841"/>
                  <a:pt x="132266" y="336863"/>
                </a:cubicBezTo>
                <a:lnTo>
                  <a:pt x="132266" y="415694"/>
                </a:lnTo>
                <a:moveTo>
                  <a:pt x="132266" y="37790"/>
                </a:moveTo>
                <a:lnTo>
                  <a:pt x="132266" y="116621"/>
                </a:lnTo>
                <a:cubicBezTo>
                  <a:pt x="132268" y="126643"/>
                  <a:pt x="136251" y="136253"/>
                  <a:pt x="143339" y="143339"/>
                </a:cubicBezTo>
                <a:lnTo>
                  <a:pt x="226742" y="226742"/>
                </a:lnTo>
                <a:lnTo>
                  <a:pt x="310145" y="143339"/>
                </a:lnTo>
                <a:cubicBezTo>
                  <a:pt x="317233" y="136253"/>
                  <a:pt x="321216" y="126643"/>
                  <a:pt x="321218" y="116621"/>
                </a:cubicBezTo>
                <a:lnTo>
                  <a:pt x="321218" y="37790"/>
                </a:lnTo>
              </a:path>
            </a:pathLst>
          </a:custGeom>
          <a:noFill/>
          <a:ln w="33067" cap="rnd">
            <a:solidFill>
              <a:srgbClr val="0B6E8A"/>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Espera</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initContainers: base y notificaciones.</a:t>
            </a:r>
            <a:endParaRPr lang="en-US" sz="1300" dirty="0"/>
          </a:p>
        </p:txBody>
      </p:sp>
      <p:sp>
        <p:nvSpPr>
          <p:cNvPr id="46" name="[p4] Forma"/>
          <p:cNvSpPr/>
          <p:nvPr/>
        </p:nvSpPr>
        <p:spPr>
          <a:xfrm>
            <a:off x="9751047" y="2724912"/>
            <a:ext cx="9144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Ready</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heart-pulse"/>
          <p:cNvSpPr/>
          <p:nvPr/>
        </p:nvSpPr>
        <p:spPr>
          <a:xfrm>
            <a:off x="9981505" y="3375263"/>
            <a:ext cx="453484" cy="453484"/>
          </a:xfrm>
          <a:custGeom>
            <a:avLst/>
            <a:gdLst/>
            <a:ahLst/>
            <a:cxnLst/>
            <a:rect l="l" t="t" r="r" b="b"/>
            <a:pathLst>
              <a:path w="453484" h="453484">
                <a:moveTo>
                  <a:pt x="359008" y="264532"/>
                </a:moveTo>
                <a:cubicBezTo>
                  <a:pt x="387162" y="236945"/>
                  <a:pt x="415694" y="203879"/>
                  <a:pt x="415694" y="160609"/>
                </a:cubicBezTo>
                <a:cubicBezTo>
                  <a:pt x="415694" y="103214"/>
                  <a:pt x="369165" y="56685"/>
                  <a:pt x="311770" y="56685"/>
                </a:cubicBezTo>
                <a:cubicBezTo>
                  <a:pt x="278515" y="56685"/>
                  <a:pt x="255085" y="66133"/>
                  <a:pt x="226742" y="94476"/>
                </a:cubicBezTo>
                <a:cubicBezTo>
                  <a:pt x="198399" y="66133"/>
                  <a:pt x="174969" y="56685"/>
                  <a:pt x="141714" y="56685"/>
                </a:cubicBezTo>
                <a:cubicBezTo>
                  <a:pt x="84318" y="56685"/>
                  <a:pt x="37790" y="103214"/>
                  <a:pt x="37790" y="160609"/>
                </a:cubicBezTo>
                <a:cubicBezTo>
                  <a:pt x="37790" y="204068"/>
                  <a:pt x="66133" y="237134"/>
                  <a:pt x="94476" y="264532"/>
                </a:cubicBezTo>
                <a:lnTo>
                  <a:pt x="226742" y="396798"/>
                </a:lnTo>
                <a:close/>
                <a:moveTo>
                  <a:pt x="60842" y="226742"/>
                </a:moveTo>
                <a:lnTo>
                  <a:pt x="179504" y="226742"/>
                </a:lnTo>
                <a:lnTo>
                  <a:pt x="188952" y="207847"/>
                </a:lnTo>
                <a:lnTo>
                  <a:pt x="226742" y="292875"/>
                </a:lnTo>
                <a:lnTo>
                  <a:pt x="264532" y="160609"/>
                </a:lnTo>
                <a:lnTo>
                  <a:pt x="292875" y="226742"/>
                </a:lnTo>
                <a:lnTo>
                  <a:pt x="392453" y="226742"/>
                </a:ln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Listo</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readinessProbe responde.</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DevOps: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ntainer"/>
          <p:cNvSpPr/>
          <p:nvPr/>
        </p:nvSpPr>
        <p:spPr>
          <a:xfrm>
            <a:off x="1058144" y="1817096"/>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imagen por commit, rastreable</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container"/>
          <p:cNvSpPr/>
          <p:nvPr/>
        </p:nvSpPr>
        <p:spPr>
          <a:xfrm>
            <a:off x="4258544" y="1740515"/>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Docker y Kubernetes se complementan</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Uno empaqueta; el otro ejecuta y cuida.</a:t>
            </a:r>
            <a:endParaRPr lang="en-US" sz="120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mismo paquete, de la laptop al clúster.</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package"/>
          <p:cNvSpPr/>
          <p:nvPr/>
        </p:nvSpPr>
        <p:spPr>
          <a:xfrm>
            <a:off x="4258544" y="3032105"/>
            <a:ext cx="370881" cy="370881"/>
          </a:xfrm>
          <a:custGeom>
            <a:avLst/>
            <a:gdLst/>
            <a:ahLst/>
            <a:cxnLst/>
            <a:rect l="l" t="t" r="r" b="b"/>
            <a:pathLst>
              <a:path w="370881" h="370881">
                <a:moveTo>
                  <a:pt x="169987" y="335802"/>
                </a:moveTo>
                <a:cubicBezTo>
                  <a:pt x="179550" y="341322"/>
                  <a:pt x="191331" y="341322"/>
                  <a:pt x="200894" y="335802"/>
                </a:cubicBezTo>
                <a:lnTo>
                  <a:pt x="309067" y="273988"/>
                </a:lnTo>
                <a:cubicBezTo>
                  <a:pt x="318620" y="268473"/>
                  <a:pt x="324509" y="258284"/>
                  <a:pt x="324521" y="247254"/>
                </a:cubicBez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close/>
                <a:moveTo>
                  <a:pt x="185440" y="339974"/>
                </a:moveTo>
                <a:lnTo>
                  <a:pt x="185440" y="185440"/>
                </a:lnTo>
                <a:moveTo>
                  <a:pt x="50996" y="108174"/>
                </a:moveTo>
                <a:lnTo>
                  <a:pt x="170033" y="181330"/>
                </a:lnTo>
                <a:cubicBezTo>
                  <a:pt x="179572" y="186815"/>
                  <a:pt x="191308" y="186815"/>
                  <a:pt x="200847" y="181330"/>
                </a:cubicBezTo>
                <a:lnTo>
                  <a:pt x="319885" y="108174"/>
                </a:lnTo>
                <a:moveTo>
                  <a:pt x="115900" y="65986"/>
                </a:moveTo>
                <a:lnTo>
                  <a:pt x="254980" y="145571"/>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La imagen es el entregable</a:t>
            </a:r>
            <a:endParaRPr lang="en-US" sz="17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prueba el pipeline es lo que se despliega.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Sin sorpresas entre ambientes.</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ettings"/>
          <p:cNvSpPr/>
          <p:nvPr/>
        </p:nvSpPr>
        <p:spPr>
          <a:xfrm>
            <a:off x="4258544" y="4323695"/>
            <a:ext cx="370881" cy="370881"/>
          </a:xfrm>
          <a:custGeom>
            <a:avLst/>
            <a:gdLst/>
            <a:ahLst/>
            <a:cxnLst/>
            <a:rect l="l" t="t" r="r" b="b"/>
            <a:pathLst>
              <a:path w="370881" h="370881">
                <a:moveTo>
                  <a:pt x="188840" y="30907"/>
                </a:moveTo>
                <a:lnTo>
                  <a:pt x="182041" y="30907"/>
                </a:lnTo>
                <a:cubicBezTo>
                  <a:pt x="164971" y="30907"/>
                  <a:pt x="151134" y="44744"/>
                  <a:pt x="151134" y="61813"/>
                </a:cubicBezTo>
                <a:lnTo>
                  <a:pt x="151134" y="64595"/>
                </a:lnTo>
                <a:cubicBezTo>
                  <a:pt x="151123" y="75626"/>
                  <a:pt x="145233" y="85814"/>
                  <a:pt x="135681" y="91329"/>
                </a:cubicBezTo>
                <a:lnTo>
                  <a:pt x="129036" y="95193"/>
                </a:lnTo>
                <a:cubicBezTo>
                  <a:pt x="119473" y="100714"/>
                  <a:pt x="107691" y="100714"/>
                  <a:pt x="98129" y="95193"/>
                </a:cubicBezTo>
                <a:lnTo>
                  <a:pt x="95811" y="93956"/>
                </a:lnTo>
                <a:cubicBezTo>
                  <a:pt x="81044" y="85438"/>
                  <a:pt x="62168" y="90485"/>
                  <a:pt x="53623" y="105237"/>
                </a:cubicBezTo>
                <a:lnTo>
                  <a:pt x="50223" y="111110"/>
                </a:lnTo>
                <a:cubicBezTo>
                  <a:pt x="41705" y="125877"/>
                  <a:pt x="46752" y="144753"/>
                  <a:pt x="61504" y="153297"/>
                </a:cubicBezTo>
                <a:lnTo>
                  <a:pt x="63822" y="154843"/>
                </a:lnTo>
                <a:cubicBezTo>
                  <a:pt x="73328" y="160330"/>
                  <a:pt x="79209" y="170447"/>
                  <a:pt x="79276" y="181422"/>
                </a:cubicBezTo>
                <a:lnTo>
                  <a:pt x="79276" y="189304"/>
                </a:lnTo>
                <a:cubicBezTo>
                  <a:pt x="79320" y="200389"/>
                  <a:pt x="73423" y="210650"/>
                  <a:pt x="63822" y="216193"/>
                </a:cubicBezTo>
                <a:lnTo>
                  <a:pt x="61504" y="217583"/>
                </a:lnTo>
                <a:cubicBezTo>
                  <a:pt x="46752" y="226128"/>
                  <a:pt x="41705" y="245004"/>
                  <a:pt x="50223" y="259771"/>
                </a:cubicBezTo>
                <a:lnTo>
                  <a:pt x="53623" y="265643"/>
                </a:lnTo>
                <a:cubicBezTo>
                  <a:pt x="62168" y="280395"/>
                  <a:pt x="81044" y="285443"/>
                  <a:pt x="95811" y="276924"/>
                </a:cubicBezTo>
                <a:lnTo>
                  <a:pt x="98129" y="275688"/>
                </a:lnTo>
                <a:cubicBezTo>
                  <a:pt x="107691" y="270167"/>
                  <a:pt x="119473" y="270167"/>
                  <a:pt x="129036" y="275688"/>
                </a:cubicBezTo>
                <a:lnTo>
                  <a:pt x="135681" y="279551"/>
                </a:lnTo>
                <a:cubicBezTo>
                  <a:pt x="145233" y="285067"/>
                  <a:pt x="151123" y="295255"/>
                  <a:pt x="151134" y="306286"/>
                </a:cubicBezTo>
                <a:lnTo>
                  <a:pt x="151134" y="309067"/>
                </a:lnTo>
                <a:cubicBezTo>
                  <a:pt x="151134" y="326137"/>
                  <a:pt x="164971" y="339974"/>
                  <a:pt x="182041" y="339974"/>
                </a:cubicBezTo>
                <a:lnTo>
                  <a:pt x="188840" y="339974"/>
                </a:lnTo>
                <a:cubicBezTo>
                  <a:pt x="205909" y="339974"/>
                  <a:pt x="219747" y="326137"/>
                  <a:pt x="219747" y="309067"/>
                </a:cubicBezTo>
                <a:lnTo>
                  <a:pt x="219747" y="306286"/>
                </a:lnTo>
                <a:cubicBezTo>
                  <a:pt x="219758" y="295255"/>
                  <a:pt x="225647" y="285067"/>
                  <a:pt x="235200" y="279551"/>
                </a:cubicBezTo>
                <a:lnTo>
                  <a:pt x="241845" y="275688"/>
                </a:lnTo>
                <a:cubicBezTo>
                  <a:pt x="251408" y="270167"/>
                  <a:pt x="263189" y="270167"/>
                  <a:pt x="272752" y="275688"/>
                </a:cubicBezTo>
                <a:lnTo>
                  <a:pt x="275070" y="276924"/>
                </a:lnTo>
                <a:cubicBezTo>
                  <a:pt x="289837" y="285443"/>
                  <a:pt x="308713" y="280395"/>
                  <a:pt x="317257" y="265643"/>
                </a:cubicBezTo>
                <a:lnTo>
                  <a:pt x="320657" y="259616"/>
                </a:lnTo>
                <a:cubicBezTo>
                  <a:pt x="329176" y="244849"/>
                  <a:pt x="324128" y="225973"/>
                  <a:pt x="309376" y="217429"/>
                </a:cubicBezTo>
                <a:lnTo>
                  <a:pt x="307058" y="216193"/>
                </a:lnTo>
                <a:cubicBezTo>
                  <a:pt x="297458" y="210650"/>
                  <a:pt x="291561" y="200389"/>
                  <a:pt x="291605" y="189304"/>
                </a:cubicBezTo>
                <a:lnTo>
                  <a:pt x="291605" y="181577"/>
                </a:lnTo>
                <a:cubicBezTo>
                  <a:pt x="291561" y="170491"/>
                  <a:pt x="297458" y="160231"/>
                  <a:pt x="307058" y="154688"/>
                </a:cubicBezTo>
                <a:lnTo>
                  <a:pt x="309376" y="153297"/>
                </a:lnTo>
                <a:cubicBezTo>
                  <a:pt x="324128" y="144753"/>
                  <a:pt x="329176" y="125877"/>
                  <a:pt x="320657" y="111110"/>
                </a:cubicBezTo>
                <a:lnTo>
                  <a:pt x="317257" y="105237"/>
                </a:lnTo>
                <a:cubicBezTo>
                  <a:pt x="308713" y="90485"/>
                  <a:pt x="289837" y="85438"/>
                  <a:pt x="275070" y="93956"/>
                </a:cubicBezTo>
                <a:lnTo>
                  <a:pt x="272752" y="95193"/>
                </a:lnTo>
                <a:cubicBezTo>
                  <a:pt x="263189" y="100714"/>
                  <a:pt x="251408" y="100714"/>
                  <a:pt x="241845" y="95193"/>
                </a:cubicBezTo>
                <a:lnTo>
                  <a:pt x="235200" y="91329"/>
                </a:lnTo>
                <a:cubicBezTo>
                  <a:pt x="225647" y="85814"/>
                  <a:pt x="219758" y="75626"/>
                  <a:pt x="219747" y="64595"/>
                </a:cubicBezTo>
                <a:lnTo>
                  <a:pt x="219747" y="61813"/>
                </a:lnTo>
                <a:cubicBezTo>
                  <a:pt x="219747" y="44744"/>
                  <a:pt x="205909" y="30907"/>
                  <a:pt x="188840" y="30907"/>
                </a:cubicBezTo>
                <a:close/>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Configurar por variables</a:t>
            </a:r>
            <a:endParaRPr lang="en-US" sz="17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cadena de conexión y las direcciones vienen del ambiente.</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solo artefacto para todos los ambientes.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hip-wheel"/>
          <p:cNvSpPr/>
          <p:nvPr/>
        </p:nvSpPr>
        <p:spPr>
          <a:xfrm>
            <a:off x="4258544" y="5615285"/>
            <a:ext cx="370881" cy="370881"/>
          </a:xfrm>
          <a:custGeom>
            <a:avLst/>
            <a:gdLst/>
            <a:ahLst/>
            <a:cxnLst/>
            <a:rect l="l" t="t" r="r" b="b"/>
            <a:pathLst>
              <a:path w="370881" h="370881">
                <a:moveTo>
                  <a:pt x="309067" y="185440"/>
                </a:moveTo>
                <a:cubicBezTo>
                  <a:pt x="309067" y="253718"/>
                  <a:pt x="253718" y="309067"/>
                  <a:pt x="185440" y="309067"/>
                </a:cubicBezTo>
                <a:cubicBezTo>
                  <a:pt x="117163" y="309067"/>
                  <a:pt x="61813" y="253718"/>
                  <a:pt x="61813" y="185440"/>
                </a:cubicBezTo>
                <a:cubicBezTo>
                  <a:pt x="61813" y="117163"/>
                  <a:pt x="117163" y="61813"/>
                  <a:pt x="185440" y="61813"/>
                </a:cubicBezTo>
                <a:cubicBezTo>
                  <a:pt x="253718" y="61813"/>
                  <a:pt x="309067" y="117163"/>
                  <a:pt x="309067" y="185440"/>
                </a:cubicBezTo>
                <a:close/>
                <a:moveTo>
                  <a:pt x="185440" y="30907"/>
                </a:moveTo>
                <a:lnTo>
                  <a:pt x="185440" y="146807"/>
                </a:lnTo>
                <a:moveTo>
                  <a:pt x="293614" y="77267"/>
                </a:moveTo>
                <a:lnTo>
                  <a:pt x="212793" y="158088"/>
                </a:lnTo>
                <a:moveTo>
                  <a:pt x="339974" y="185440"/>
                </a:moveTo>
                <a:lnTo>
                  <a:pt x="224074" y="185440"/>
                </a:lnTo>
                <a:moveTo>
                  <a:pt x="293614" y="293614"/>
                </a:moveTo>
                <a:lnTo>
                  <a:pt x="212793" y="212793"/>
                </a:lnTo>
                <a:moveTo>
                  <a:pt x="185440" y="224074"/>
                </a:moveTo>
                <a:lnTo>
                  <a:pt x="185440" y="339974"/>
                </a:lnTo>
                <a:moveTo>
                  <a:pt x="158088" y="212793"/>
                </a:moveTo>
                <a:lnTo>
                  <a:pt x="77267" y="293614"/>
                </a:lnTo>
                <a:moveTo>
                  <a:pt x="146807" y="185440"/>
                </a:moveTo>
                <a:lnTo>
                  <a:pt x="30907" y="185440"/>
                </a:lnTo>
                <a:moveTo>
                  <a:pt x="158088" y="158088"/>
                </a:moveTo>
                <a:lnTo>
                  <a:pt x="77267" y="77267"/>
                </a:lnTo>
                <a:moveTo>
                  <a:pt x="224074" y="185440"/>
                </a:moveTo>
                <a:cubicBezTo>
                  <a:pt x="224074" y="206777"/>
                  <a:pt x="206777" y="224074"/>
                  <a:pt x="185440" y="224074"/>
                </a:cubicBezTo>
                <a:cubicBezTo>
                  <a:pt x="164104" y="224074"/>
                  <a:pt x="146807" y="206777"/>
                  <a:pt x="146807" y="185440"/>
                </a:cubicBezTo>
                <a:cubicBezTo>
                  <a:pt x="146807" y="164104"/>
                  <a:pt x="164104" y="146807"/>
                  <a:pt x="185440" y="146807"/>
                </a:cubicBezTo>
                <a:cubicBezTo>
                  <a:pt x="206777" y="146807"/>
                  <a:pt x="224074" y="164104"/>
                  <a:pt x="224074" y="185440"/>
                </a:cubicBez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Declarar el estado deseado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Deployments, pruebas de salud y un pipeline que arranca el servicio.</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El clúster se repara solo y los errores aparecen antes.</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Todos los logs, en un solo lugar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Seguir un evento de un servicio a otro sin entrar a ningún contenedor.</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ane"/>
          <p:cNvSpPr/>
          <p:nvPr/>
        </p:nvSpPr>
        <p:spPr>
          <a:xfrm>
            <a:off x="900867" y="5911779"/>
            <a:ext cx="228234" cy="228234"/>
          </a:xfrm>
          <a:custGeom>
            <a:avLst/>
            <a:gdLst/>
            <a:ahLst/>
            <a:cxnLst/>
            <a:rect l="l" t="t" r="r" b="b"/>
            <a:pathLst>
              <a:path w="228234" h="228234">
                <a:moveTo>
                  <a:pt x="169274" y="182587"/>
                </a:moveTo>
                <a:lnTo>
                  <a:pt x="152156" y="104607"/>
                </a:lnTo>
                <a:lnTo>
                  <a:pt x="185440" y="71323"/>
                </a:lnTo>
                <a:cubicBezTo>
                  <a:pt x="199705" y="57059"/>
                  <a:pt x="204460" y="38039"/>
                  <a:pt x="199705" y="28529"/>
                </a:cubicBezTo>
                <a:cubicBezTo>
                  <a:pt x="190195" y="23774"/>
                  <a:pt x="171176" y="28529"/>
                  <a:pt x="156911" y="42794"/>
                </a:cubicBezTo>
                <a:lnTo>
                  <a:pt x="123627" y="76078"/>
                </a:lnTo>
                <a:lnTo>
                  <a:pt x="45647" y="58961"/>
                </a:lnTo>
                <a:cubicBezTo>
                  <a:pt x="40892" y="58010"/>
                  <a:pt x="37088" y="59911"/>
                  <a:pt x="35186" y="63715"/>
                </a:cubicBezTo>
                <a:lnTo>
                  <a:pt x="32333" y="68470"/>
                </a:lnTo>
                <a:cubicBezTo>
                  <a:pt x="30431" y="73225"/>
                  <a:pt x="31382" y="77980"/>
                  <a:pt x="35186" y="80833"/>
                </a:cubicBezTo>
                <a:lnTo>
                  <a:pt x="85588" y="114117"/>
                </a:lnTo>
                <a:lnTo>
                  <a:pt x="66568" y="142646"/>
                </a:lnTo>
                <a:lnTo>
                  <a:pt x="38039" y="142646"/>
                </a:lnTo>
                <a:lnTo>
                  <a:pt x="28529" y="152156"/>
                </a:lnTo>
                <a:lnTo>
                  <a:pt x="57059" y="171176"/>
                </a:lnTo>
                <a:lnTo>
                  <a:pt x="76078" y="199705"/>
                </a:lnTo>
                <a:lnTo>
                  <a:pt x="85588" y="190195"/>
                </a:lnTo>
                <a:lnTo>
                  <a:pt x="85588" y="161666"/>
                </a:lnTo>
                <a:lnTo>
                  <a:pt x="114117" y="142646"/>
                </a:lnTo>
                <a:lnTo>
                  <a:pt x="147401" y="193048"/>
                </a:lnTo>
                <a:cubicBezTo>
                  <a:pt x="150254" y="196852"/>
                  <a:pt x="155009" y="197803"/>
                  <a:pt x="159764" y="195901"/>
                </a:cubicBezTo>
                <a:lnTo>
                  <a:pt x="164519" y="193999"/>
                </a:lnTo>
                <a:cubicBezTo>
                  <a:pt x="168323" y="191146"/>
                  <a:pt x="170225" y="187342"/>
                  <a:pt x="169274" y="18258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la caja negra de un avión: registra lo que pasó, para revisarlo después.</a:t>
            </a:r>
            <a:endParaRPr lang="en-US" sz="1450" dirty="0"/>
          </a:p>
        </p:txBody>
      </p:sp>
      <p:sp>
        <p:nvSpPr>
          <p:cNvPr id="17" name="Shape 15"/>
          <p:cNvSpPr/>
          <p:nvPr/>
        </p:nvSpPr>
        <p:spPr>
          <a:xfrm>
            <a:off x="1251928" y="2144268"/>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rver"/>
          <p:cNvSpPr/>
          <p:nvPr/>
        </p:nvSpPr>
        <p:spPr>
          <a:xfrm>
            <a:off x="1588427" y="2480767"/>
            <a:ext cx="790042" cy="790042"/>
          </a:xfrm>
          <a:custGeom>
            <a:avLst/>
            <a:gdLst/>
            <a:ahLst/>
            <a:cxnLst/>
            <a:rect l="l" t="t" r="r" b="b"/>
            <a:pathLst>
              <a:path w="790042" h="790042">
                <a:moveTo>
                  <a:pt x="131674" y="65837"/>
                </a:moveTo>
                <a:lnTo>
                  <a:pt x="658368" y="65837"/>
                </a:lnTo>
                <a:cubicBezTo>
                  <a:pt x="694729" y="65837"/>
                  <a:pt x="724205" y="95313"/>
                  <a:pt x="724205" y="131674"/>
                </a:cubicBezTo>
                <a:lnTo>
                  <a:pt x="724205" y="263347"/>
                </a:lnTo>
                <a:cubicBezTo>
                  <a:pt x="724205" y="299708"/>
                  <a:pt x="694729" y="329184"/>
                  <a:pt x="658368" y="329184"/>
                </a:cubicBezTo>
                <a:lnTo>
                  <a:pt x="131674" y="329184"/>
                </a:lnTo>
                <a:cubicBezTo>
                  <a:pt x="95313" y="329184"/>
                  <a:pt x="65837" y="299708"/>
                  <a:pt x="65837" y="263347"/>
                </a:cubicBezTo>
                <a:lnTo>
                  <a:pt x="65837" y="131674"/>
                </a:lnTo>
                <a:cubicBezTo>
                  <a:pt x="65837" y="95313"/>
                  <a:pt x="95313" y="65837"/>
                  <a:pt x="131674" y="65837"/>
                </a:cubicBezTo>
                <a:close/>
                <a:moveTo>
                  <a:pt x="131674" y="460858"/>
                </a:moveTo>
                <a:lnTo>
                  <a:pt x="658368" y="460858"/>
                </a:lnTo>
                <a:cubicBezTo>
                  <a:pt x="694729" y="460858"/>
                  <a:pt x="724205" y="490334"/>
                  <a:pt x="724205" y="526694"/>
                </a:cubicBezTo>
                <a:lnTo>
                  <a:pt x="724205" y="658368"/>
                </a:lnTo>
                <a:cubicBezTo>
                  <a:pt x="724205" y="694729"/>
                  <a:pt x="694729" y="724205"/>
                  <a:pt x="658368" y="724205"/>
                </a:cubicBezTo>
                <a:lnTo>
                  <a:pt x="131674" y="724205"/>
                </a:lnTo>
                <a:cubicBezTo>
                  <a:pt x="95313" y="724205"/>
                  <a:pt x="65837" y="694729"/>
                  <a:pt x="65837" y="658368"/>
                </a:cubicBezTo>
                <a:lnTo>
                  <a:pt x="65837" y="526694"/>
                </a:lnTo>
                <a:cubicBezTo>
                  <a:pt x="65837" y="490334"/>
                  <a:pt x="95313" y="460858"/>
                  <a:pt x="131674" y="460858"/>
                </a:cubicBezTo>
                <a:close/>
                <a:moveTo>
                  <a:pt x="197510" y="197510"/>
                </a:moveTo>
                <a:lnTo>
                  <a:pt x="197840" y="197510"/>
                </a:lnTo>
                <a:moveTo>
                  <a:pt x="197510" y="592531"/>
                </a:moveTo>
                <a:lnTo>
                  <a:pt x="197840" y="592531"/>
                </a:lnTo>
              </a:path>
            </a:pathLst>
          </a:custGeom>
          <a:noFill/>
          <a:ln w="57607" cap="rnd">
            <a:solidFill>
              <a:srgbClr val="0B2350"/>
            </a:solidFill>
            <a:prstDash val="solid"/>
            <a:round/>
          </a:ln>
        </p:spPr>
      </p:sp>
      <p:sp>
        <p:nvSpPr>
          <p:cNvPr id="19" name="Text 17"/>
          <p:cNvSpPr/>
          <p:nvPr/>
        </p:nvSpPr>
        <p:spPr>
          <a:xfrm>
            <a:off x="1215352" y="21076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Servicios</a:t>
            </a:r>
            <a:endParaRPr lang="en-US" sz="1800" dirty="0"/>
          </a:p>
        </p:txBody>
      </p:sp>
      <p:sp>
        <p:nvSpPr>
          <p:cNvPr id="21" name="Text 19"/>
          <p:cNvSpPr/>
          <p:nvPr/>
        </p:nvSpPr>
        <p:spPr>
          <a:xfrm>
            <a:off x="7223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Logs JSON con traceId y eventoId.</a:t>
            </a:r>
            <a:endParaRPr lang="en-US" sz="1400" dirty="0"/>
          </a:p>
        </p:txBody>
      </p:sp>
      <p:sp>
        <p:nvSpPr>
          <p:cNvPr id="22" name="[p1] Forma"/>
          <p:cNvSpPr/>
          <p:nvPr/>
        </p:nvSpPr>
        <p:spPr>
          <a:xfrm>
            <a:off x="2806408" y="2875788"/>
            <a:ext cx="1095680" cy="0"/>
          </a:xfrm>
          <a:prstGeom prst="line">
            <a:avLst/>
          </a:prstGeom>
          <a:noFill/>
          <a:ln w="38100">
            <a:solidFill>
              <a:srgbClr val="2BA6CB"/>
            </a:solidFill>
            <a:prstDash val="solid"/>
            <a:tailEnd type="triangle"/>
          </a:ln>
        </p:spPr>
      </p:sp>
      <p:sp>
        <p:nvSpPr>
          <p:cNvPr id="23" name="[p1] Forma"/>
          <p:cNvSpPr/>
          <p:nvPr/>
        </p:nvSpPr>
        <p:spPr>
          <a:xfrm>
            <a:off x="39935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24" name="[p1] Icono scan-eye"/>
          <p:cNvSpPr/>
          <p:nvPr/>
        </p:nvSpPr>
        <p:spPr>
          <a:xfrm>
            <a:off x="4330027" y="2480767"/>
            <a:ext cx="790042" cy="790042"/>
          </a:xfrm>
          <a:custGeom>
            <a:avLst/>
            <a:gdLst/>
            <a:ahLst/>
            <a:cxnLst/>
            <a:rect l="l" t="t" r="r" b="b"/>
            <a:pathLst>
              <a:path w="790042" h="790042">
                <a:moveTo>
                  <a:pt x="98755" y="230429"/>
                </a:moveTo>
                <a:lnTo>
                  <a:pt x="98755" y="164592"/>
                </a:lnTo>
                <a:cubicBezTo>
                  <a:pt x="98755" y="128231"/>
                  <a:pt x="128231" y="98755"/>
                  <a:pt x="164592" y="98755"/>
                </a:cubicBezTo>
                <a:lnTo>
                  <a:pt x="230429" y="98755"/>
                </a:lnTo>
                <a:moveTo>
                  <a:pt x="559613" y="98755"/>
                </a:moveTo>
                <a:lnTo>
                  <a:pt x="625450" y="98755"/>
                </a:lnTo>
                <a:cubicBezTo>
                  <a:pt x="661810" y="98755"/>
                  <a:pt x="691286" y="128231"/>
                  <a:pt x="691286" y="164592"/>
                </a:cubicBezTo>
                <a:lnTo>
                  <a:pt x="691286" y="230429"/>
                </a:lnTo>
                <a:moveTo>
                  <a:pt x="691286" y="559613"/>
                </a:moveTo>
                <a:lnTo>
                  <a:pt x="691286" y="625450"/>
                </a:lnTo>
                <a:cubicBezTo>
                  <a:pt x="691286" y="661810"/>
                  <a:pt x="661810" y="691286"/>
                  <a:pt x="625450" y="691286"/>
                </a:cubicBezTo>
                <a:lnTo>
                  <a:pt x="559613" y="691286"/>
                </a:lnTo>
                <a:moveTo>
                  <a:pt x="230429" y="691286"/>
                </a:moveTo>
                <a:lnTo>
                  <a:pt x="164592" y="691286"/>
                </a:lnTo>
                <a:cubicBezTo>
                  <a:pt x="128231" y="691286"/>
                  <a:pt x="98755" y="661810"/>
                  <a:pt x="98755" y="625450"/>
                </a:cubicBezTo>
                <a:lnTo>
                  <a:pt x="98755" y="559613"/>
                </a:lnTo>
                <a:moveTo>
                  <a:pt x="427939" y="395021"/>
                </a:moveTo>
                <a:cubicBezTo>
                  <a:pt x="427939" y="413201"/>
                  <a:pt x="413201" y="427939"/>
                  <a:pt x="395021" y="427939"/>
                </a:cubicBezTo>
                <a:cubicBezTo>
                  <a:pt x="376840" y="427939"/>
                  <a:pt x="362102" y="413201"/>
                  <a:pt x="362102" y="395021"/>
                </a:cubicBezTo>
                <a:cubicBezTo>
                  <a:pt x="362102" y="376840"/>
                  <a:pt x="376840" y="362102"/>
                  <a:pt x="395021" y="362102"/>
                </a:cubicBezTo>
                <a:cubicBezTo>
                  <a:pt x="413201" y="362102"/>
                  <a:pt x="427939" y="376840"/>
                  <a:pt x="427939" y="395021"/>
                </a:cubicBezTo>
                <a:close/>
                <a:moveTo>
                  <a:pt x="623606" y="405884"/>
                </a:moveTo>
                <a:cubicBezTo>
                  <a:pt x="626065" y="398851"/>
                  <a:pt x="626065" y="391191"/>
                  <a:pt x="623606" y="384158"/>
                </a:cubicBezTo>
                <a:cubicBezTo>
                  <a:pt x="585698" y="291269"/>
                  <a:pt x="495347" y="230556"/>
                  <a:pt x="395021" y="230556"/>
                </a:cubicBezTo>
                <a:cubicBezTo>
                  <a:pt x="294694" y="230556"/>
                  <a:pt x="204344" y="291269"/>
                  <a:pt x="166435" y="384158"/>
                </a:cubicBezTo>
                <a:cubicBezTo>
                  <a:pt x="163977" y="391191"/>
                  <a:pt x="163977" y="398851"/>
                  <a:pt x="166435" y="405884"/>
                </a:cubicBezTo>
                <a:cubicBezTo>
                  <a:pt x="204344" y="498773"/>
                  <a:pt x="294694" y="559485"/>
                  <a:pt x="395021" y="559485"/>
                </a:cubicBezTo>
                <a:cubicBezTo>
                  <a:pt x="495347" y="559485"/>
                  <a:pt x="585698" y="498773"/>
                  <a:pt x="623606" y="405884"/>
                </a:cubicBezTo>
              </a:path>
            </a:pathLst>
          </a:custGeom>
          <a:noFill/>
          <a:ln w="57607" cap="rnd">
            <a:solidFill>
              <a:srgbClr val="8A4B06"/>
            </a:solidFill>
            <a:prstDash val="solid"/>
            <a:round/>
          </a:ln>
        </p:spPr>
      </p:sp>
      <p:sp>
        <p:nvSpPr>
          <p:cNvPr id="25" name="[p1] Forma"/>
          <p:cNvSpPr/>
          <p:nvPr/>
        </p:nvSpPr>
        <p:spPr>
          <a:xfrm>
            <a:off x="39569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Promtail</a:t>
            </a:r>
            <a:endParaRPr lang="en-US" sz="1800" dirty="0"/>
          </a:p>
        </p:txBody>
      </p:sp>
      <p:sp>
        <p:nvSpPr>
          <p:cNvPr id="27" name="[p1] Forma"/>
          <p:cNvSpPr/>
          <p:nvPr/>
        </p:nvSpPr>
        <p:spPr>
          <a:xfrm>
            <a:off x="34639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recoge de cada contenedor.</a:t>
            </a:r>
            <a:endParaRPr lang="en-US" sz="1400" dirty="0"/>
          </a:p>
        </p:txBody>
      </p:sp>
      <p:sp>
        <p:nvSpPr>
          <p:cNvPr id="28" name="[p2] Forma"/>
          <p:cNvSpPr/>
          <p:nvPr/>
        </p:nvSpPr>
        <p:spPr>
          <a:xfrm>
            <a:off x="5548008" y="2875788"/>
            <a:ext cx="1095680" cy="0"/>
          </a:xfrm>
          <a:prstGeom prst="line">
            <a:avLst/>
          </a:prstGeom>
          <a:noFill/>
          <a:ln w="38100">
            <a:solidFill>
              <a:srgbClr val="2BA6CB"/>
            </a:solidFill>
            <a:prstDash val="solid"/>
            <a:tailEnd type="triangle"/>
          </a:ln>
        </p:spPr>
      </p:sp>
      <p:sp>
        <p:nvSpPr>
          <p:cNvPr id="29" name="[p2] Forma"/>
          <p:cNvSpPr/>
          <p:nvPr/>
        </p:nvSpPr>
        <p:spPr>
          <a:xfrm>
            <a:off x="67351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2] Icono archive"/>
          <p:cNvSpPr/>
          <p:nvPr/>
        </p:nvSpPr>
        <p:spPr>
          <a:xfrm>
            <a:off x="7071627" y="2480767"/>
            <a:ext cx="790042" cy="790042"/>
          </a:xfrm>
          <a:custGeom>
            <a:avLst/>
            <a:gdLst/>
            <a:ahLst/>
            <a:cxnLst/>
            <a:rect l="l" t="t" r="r" b="b"/>
            <a:pathLst>
              <a:path w="790042" h="790042">
                <a:moveTo>
                  <a:pt x="98755" y="98755"/>
                </a:moveTo>
                <a:lnTo>
                  <a:pt x="691286" y="98755"/>
                </a:lnTo>
                <a:cubicBezTo>
                  <a:pt x="709467" y="98755"/>
                  <a:pt x="724205" y="113493"/>
                  <a:pt x="724205" y="131674"/>
                </a:cubicBezTo>
                <a:lnTo>
                  <a:pt x="724205" y="230429"/>
                </a:lnTo>
                <a:cubicBezTo>
                  <a:pt x="724205" y="248609"/>
                  <a:pt x="709467" y="263347"/>
                  <a:pt x="691286" y="263347"/>
                </a:cubicBezTo>
                <a:lnTo>
                  <a:pt x="98755" y="263347"/>
                </a:lnTo>
                <a:cubicBezTo>
                  <a:pt x="80575" y="263347"/>
                  <a:pt x="65837" y="248609"/>
                  <a:pt x="65837" y="230429"/>
                </a:cubicBezTo>
                <a:lnTo>
                  <a:pt x="65837" y="131674"/>
                </a:lnTo>
                <a:cubicBezTo>
                  <a:pt x="65837" y="113493"/>
                  <a:pt x="80575" y="98755"/>
                  <a:pt x="98755" y="98755"/>
                </a:cubicBezTo>
                <a:close/>
                <a:moveTo>
                  <a:pt x="131674" y="263347"/>
                </a:moveTo>
                <a:lnTo>
                  <a:pt x="131674" y="625450"/>
                </a:lnTo>
                <a:cubicBezTo>
                  <a:pt x="131674" y="661810"/>
                  <a:pt x="161150" y="691286"/>
                  <a:pt x="197510" y="691286"/>
                </a:cubicBezTo>
                <a:lnTo>
                  <a:pt x="592531" y="691286"/>
                </a:lnTo>
                <a:cubicBezTo>
                  <a:pt x="628892" y="691286"/>
                  <a:pt x="658368" y="661810"/>
                  <a:pt x="658368" y="625450"/>
                </a:cubicBezTo>
                <a:lnTo>
                  <a:pt x="658368" y="263347"/>
                </a:lnTo>
                <a:moveTo>
                  <a:pt x="329184" y="395021"/>
                </a:moveTo>
                <a:lnTo>
                  <a:pt x="460858" y="395021"/>
                </a:lnTo>
              </a:path>
            </a:pathLst>
          </a:custGeom>
          <a:noFill/>
          <a:ln w="57607" cap="rnd">
            <a:solidFill>
              <a:srgbClr val="8A4B06"/>
            </a:solidFill>
            <a:prstDash val="solid"/>
            <a:round/>
          </a:ln>
        </p:spPr>
      </p:sp>
      <p:sp>
        <p:nvSpPr>
          <p:cNvPr id="31" name="[p2] Forma"/>
          <p:cNvSpPr/>
          <p:nvPr/>
        </p:nvSpPr>
        <p:spPr>
          <a:xfrm>
            <a:off x="66985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Loki</a:t>
            </a:r>
            <a:endParaRPr lang="en-US" sz="1800" dirty="0"/>
          </a:p>
        </p:txBody>
      </p:sp>
      <p:sp>
        <p:nvSpPr>
          <p:cNvPr id="33" name="[p2] Forma"/>
          <p:cNvSpPr/>
          <p:nvPr/>
        </p:nvSpPr>
        <p:spPr>
          <a:xfrm>
            <a:off x="62055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guarda, etiquetados por servicio.</a:t>
            </a:r>
            <a:endParaRPr lang="en-US" sz="1400" dirty="0"/>
          </a:p>
        </p:txBody>
      </p:sp>
      <p:sp>
        <p:nvSpPr>
          <p:cNvPr id="34" name="[p3] Forma"/>
          <p:cNvSpPr/>
          <p:nvPr/>
        </p:nvSpPr>
        <p:spPr>
          <a:xfrm>
            <a:off x="8289608" y="2875788"/>
            <a:ext cx="1095680" cy="0"/>
          </a:xfrm>
          <a:prstGeom prst="line">
            <a:avLst/>
          </a:prstGeom>
          <a:noFill/>
          <a:ln w="38100">
            <a:solidFill>
              <a:srgbClr val="2BA6CB"/>
            </a:solidFill>
            <a:prstDash val="solid"/>
            <a:tailEnd type="triangle"/>
          </a:ln>
        </p:spPr>
      </p:sp>
      <p:sp>
        <p:nvSpPr>
          <p:cNvPr id="35" name="[p3] Forma"/>
          <p:cNvSpPr/>
          <p:nvPr/>
        </p:nvSpPr>
        <p:spPr>
          <a:xfrm>
            <a:off x="9476727" y="2144268"/>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hart-line"/>
          <p:cNvSpPr/>
          <p:nvPr/>
        </p:nvSpPr>
        <p:spPr>
          <a:xfrm>
            <a:off x="9813226" y="2480767"/>
            <a:ext cx="790042" cy="790042"/>
          </a:xfrm>
          <a:custGeom>
            <a:avLst/>
            <a:gdLst/>
            <a:ahLst/>
            <a:cxnLst/>
            <a:rect l="l" t="t" r="r" b="b"/>
            <a:pathLst>
              <a:path w="790042" h="790042">
                <a:moveTo>
                  <a:pt x="98755" y="98755"/>
                </a:moveTo>
                <a:lnTo>
                  <a:pt x="98755" y="625450"/>
                </a:lnTo>
                <a:cubicBezTo>
                  <a:pt x="98755" y="661810"/>
                  <a:pt x="128231" y="691286"/>
                  <a:pt x="164592" y="691286"/>
                </a:cubicBezTo>
                <a:lnTo>
                  <a:pt x="691286" y="691286"/>
                </a:lnTo>
                <a:moveTo>
                  <a:pt x="625450" y="296266"/>
                </a:moveTo>
                <a:lnTo>
                  <a:pt x="460858" y="460858"/>
                </a:lnTo>
                <a:lnTo>
                  <a:pt x="329184" y="329184"/>
                </a:lnTo>
                <a:lnTo>
                  <a:pt x="230429" y="427939"/>
                </a:lnTo>
              </a:path>
            </a:pathLst>
          </a:custGeom>
          <a:noFill/>
          <a:ln w="57607" cap="rnd">
            <a:solidFill>
              <a:srgbClr val="0A6648"/>
            </a:solidFill>
            <a:prstDash val="solid"/>
            <a:round/>
          </a:ln>
        </p:spPr>
      </p:sp>
      <p:sp>
        <p:nvSpPr>
          <p:cNvPr id="37" name="[p3] Forma"/>
          <p:cNvSpPr/>
          <p:nvPr/>
        </p:nvSpPr>
        <p:spPr>
          <a:xfrm>
            <a:off x="9440151" y="210769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Grafana</a:t>
            </a:r>
            <a:endParaRPr lang="en-US" sz="1800" dirty="0"/>
          </a:p>
        </p:txBody>
      </p:sp>
      <p:sp>
        <p:nvSpPr>
          <p:cNvPr id="39" name="[p3] Forma"/>
          <p:cNvSpPr/>
          <p:nvPr/>
        </p:nvSpPr>
        <p:spPr>
          <a:xfrm>
            <a:off x="8947175"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Una búsqueda para todo el sistema.</a:t>
            </a:r>
            <a:endParaRPr lang="en-US" sz="1400" dirty="0"/>
          </a:p>
        </p:txBody>
      </p:sp>
      <p:sp>
        <p:nvSpPr>
          <p:cNvPr id="40" name="Text 3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Salud de cada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4910328" y="1371600"/>
            <a:ext cx="6668719" cy="4401355"/>
          </a:xfrm>
          <a:prstGeom prst="roundRect">
            <a:avLst>
              <a:gd name="adj" fmla="val 2078"/>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13" name="Shape 11"/>
          <p:cNvSpPr/>
          <p:nvPr/>
        </p:nvSpPr>
        <p:spPr>
          <a:xfrm>
            <a:off x="5020056" y="1446290"/>
            <a:ext cx="79358" cy="79358"/>
          </a:xfrm>
          <a:prstGeom prst="ellipse">
            <a:avLst/>
          </a:prstGeom>
          <a:solidFill>
            <a:srgbClr val="E5484D"/>
          </a:solidFill>
          <a:ln w="12700">
            <a:solidFill>
              <a:srgbClr val="E5484D"/>
            </a:solidFill>
            <a:prstDash val="solid"/>
          </a:ln>
        </p:spPr>
      </p:sp>
      <p:sp>
        <p:nvSpPr>
          <p:cNvPr id="14" name="Shape 12"/>
          <p:cNvSpPr/>
          <p:nvPr/>
        </p:nvSpPr>
        <p:spPr>
          <a:xfrm>
            <a:off x="5125088" y="1446290"/>
            <a:ext cx="79358" cy="79358"/>
          </a:xfrm>
          <a:prstGeom prst="ellipse">
            <a:avLst/>
          </a:prstGeom>
          <a:solidFill>
            <a:srgbClr val="F5A524"/>
          </a:solidFill>
          <a:ln w="12700">
            <a:solidFill>
              <a:srgbClr val="F5A524"/>
            </a:solidFill>
            <a:prstDash val="solid"/>
          </a:ln>
        </p:spPr>
      </p:sp>
      <p:sp>
        <p:nvSpPr>
          <p:cNvPr id="15" name="Shape 13"/>
          <p:cNvSpPr/>
          <p:nvPr/>
        </p:nvSpPr>
        <p:spPr>
          <a:xfrm>
            <a:off x="5230121" y="1446290"/>
            <a:ext cx="79358" cy="79358"/>
          </a:xfrm>
          <a:prstGeom prst="ellipse">
            <a:avLst/>
          </a:prstGeom>
          <a:solidFill>
            <a:srgbClr val="30A46C"/>
          </a:solidFill>
          <a:ln w="12700">
            <a:solidFill>
              <a:srgbClr val="30A46C"/>
            </a:solidFill>
            <a:prstDash val="solid"/>
          </a:ln>
        </p:spPr>
      </p:sp>
      <p:sp>
        <p:nvSpPr>
          <p:cNvPr id="16" name="Text 14"/>
          <p:cNvSpPr/>
          <p:nvPr/>
        </p:nvSpPr>
        <p:spPr>
          <a:xfrm>
            <a:off x="5443316" y="1408945"/>
            <a:ext cx="3667796" cy="158716"/>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localhost:8088/#/salud</a:t>
            </a:r>
            <a:endParaRPr lang="en-US" sz="700" dirty="0"/>
          </a:p>
        </p:txBody>
      </p:sp>
      <p:pic>
        <p:nvPicPr>
          <p:cNvPr id="17" name="Image 0" descr="La pestaña Salud de la UI">    </p:cNvPr>
          <p:cNvPicPr>
            <a:picLocks noChangeAspect="1"/>
          </p:cNvPicPr>
          <p:nvPr/>
        </p:nvPicPr>
        <p:blipFill>
          <a:blip r:embed="rId1"/>
          <a:stretch>
            <a:fillRect/>
          </a:stretch>
        </p:blipFill>
        <p:spPr>
          <a:xfrm>
            <a:off x="4910328" y="1605005"/>
            <a:ext cx="6668719" cy="4167950"/>
          </a:xfrm>
          <a:prstGeom prst="rect">
            <a:avLst/>
          </a:prstGeom>
        </p:spPr>
      </p:pic>
      <p:sp>
        <p:nvSpPr>
          <p:cNvPr id="18" name="Shape 15"/>
          <p:cNvSpPr/>
          <p:nvPr/>
        </p:nvSpPr>
        <p:spPr>
          <a:xfrm>
            <a:off x="612648" y="1426464"/>
            <a:ext cx="73152" cy="822960"/>
          </a:xfrm>
          <a:prstGeom prst="rect">
            <a:avLst/>
          </a:prstGeom>
          <a:solidFill>
            <a:srgbClr val="2BA6CB"/>
          </a:solidFill>
          <a:ln w="12700">
            <a:solidFill>
              <a:srgbClr val="2BA6CB"/>
            </a:solidFill>
            <a:prstDash val="solid"/>
          </a:ln>
        </p:spPr>
      </p:sp>
      <p:sp>
        <p:nvSpPr>
          <p:cNvPr id="19" name="Text 16"/>
          <p:cNvSpPr/>
          <p:nvPr/>
        </p:nvSpPr>
        <p:spPr>
          <a:xfrm>
            <a:off x="850392" y="1371600"/>
            <a:ext cx="3694176" cy="1143000"/>
          </a:xfrm>
          <a:prstGeom prst="rect">
            <a:avLst/>
          </a:prstGeom>
          <a:noFill/>
          <a:ln/>
        </p:spPr>
        <p:txBody>
          <a:bodyPr wrap="square" lIns="0" tIns="0" rIns="0" bIns="0" rtlCol="0" anchor="t">
            <a:normAutofit/>
          </a:bodyPr>
          <a:lstStyle/>
          <a:p>
            <a:pPr indent="0" marL="0">
              <a:buNone/>
            </a:pPr>
            <a:r>
              <a:rPr lang="en-US" sz="2400" b="1" dirty="0">
                <a:solidFill>
                  <a:srgbClr val="0B2350"/>
                </a:solidFill>
                <a:latin typeface="Segoe UI Semibold" pitchFamily="34" charset="0"/>
                <a:ea typeface="Segoe UI Semibold" pitchFamily="34" charset="-122"/>
                <a:cs typeface="Segoe UI Semibold" pitchFamily="34" charset="-120"/>
              </a:rPr>
              <a:t>Cada servicio responde: ¿estás bien?</a:t>
            </a:r>
            <a:endParaRPr lang="en-US" sz="2400" dirty="0"/>
          </a:p>
        </p:txBody>
      </p:sp>
      <p:sp>
        <p:nvSpPr>
          <p:cNvPr id="20" name="Shape 17"/>
          <p:cNvSpPr/>
          <p:nvPr/>
        </p:nvSpPr>
        <p:spPr>
          <a:xfrm>
            <a:off x="612648" y="2816352"/>
            <a:ext cx="420624" cy="420624"/>
          </a:xfrm>
          <a:prstGeom prst="ellipse">
            <a:avLst/>
          </a:prstGeom>
          <a:solidFill>
            <a:srgbClr val="E3F4FA"/>
          </a:solidFill>
          <a:ln w="12700">
            <a:solidFill>
              <a:srgbClr val="E3F4FA"/>
            </a:solidFill>
            <a:prstDash val="solid"/>
          </a:ln>
        </p:spPr>
      </p:sp>
      <p:sp>
        <p:nvSpPr>
          <p:cNvPr id="21" name="Icono heart-pulse"/>
          <p:cNvSpPr/>
          <p:nvPr/>
        </p:nvSpPr>
        <p:spPr>
          <a:xfrm>
            <a:off x="713598" y="2917302"/>
            <a:ext cx="218724" cy="218724"/>
          </a:xfrm>
          <a:custGeom>
            <a:avLst/>
            <a:gdLst/>
            <a:ahLst/>
            <a:cxnLst/>
            <a:rect l="l" t="t" r="r" b="b"/>
            <a:pathLst>
              <a:path w="218724" h="218724">
                <a:moveTo>
                  <a:pt x="173157" y="127589"/>
                </a:moveTo>
                <a:cubicBezTo>
                  <a:pt x="186736" y="114284"/>
                  <a:pt x="200497" y="98335"/>
                  <a:pt x="200497" y="77465"/>
                </a:cubicBezTo>
                <a:cubicBezTo>
                  <a:pt x="200497" y="49782"/>
                  <a:pt x="178056" y="27341"/>
                  <a:pt x="150373" y="27341"/>
                </a:cubicBezTo>
                <a:cubicBezTo>
                  <a:pt x="134333" y="27341"/>
                  <a:pt x="123033" y="31897"/>
                  <a:pt x="109362" y="45568"/>
                </a:cubicBezTo>
                <a:cubicBezTo>
                  <a:pt x="95692" y="31897"/>
                  <a:pt x="84391" y="27341"/>
                  <a:pt x="68351" y="27341"/>
                </a:cubicBezTo>
                <a:cubicBezTo>
                  <a:pt x="40668" y="27341"/>
                  <a:pt x="18227" y="49782"/>
                  <a:pt x="18227" y="77465"/>
                </a:cubicBezTo>
                <a:cubicBezTo>
                  <a:pt x="18227" y="98426"/>
                  <a:pt x="31897" y="114375"/>
                  <a:pt x="45568" y="127589"/>
                </a:cubicBezTo>
                <a:lnTo>
                  <a:pt x="109362" y="191384"/>
                </a:lnTo>
                <a:close/>
                <a:moveTo>
                  <a:pt x="29346" y="109362"/>
                </a:moveTo>
                <a:lnTo>
                  <a:pt x="86578" y="109362"/>
                </a:lnTo>
                <a:lnTo>
                  <a:pt x="91135" y="100249"/>
                </a:lnTo>
                <a:lnTo>
                  <a:pt x="109362" y="141260"/>
                </a:lnTo>
                <a:lnTo>
                  <a:pt x="127589" y="77465"/>
                </a:lnTo>
                <a:lnTo>
                  <a:pt x="141260" y="109362"/>
                </a:lnTo>
                <a:lnTo>
                  <a:pt x="189288" y="109362"/>
                </a:lnTo>
              </a:path>
            </a:pathLst>
          </a:custGeom>
          <a:noFill/>
          <a:ln w="18227" cap="rnd">
            <a:solidFill>
              <a:srgbClr val="0B6E8A"/>
            </a:solidFill>
            <a:prstDash val="solid"/>
            <a:round/>
          </a:ln>
        </p:spPr>
      </p:sp>
      <p:sp>
        <p:nvSpPr>
          <p:cNvPr id="22" name="Text 19"/>
          <p:cNvSpPr/>
          <p:nvPr/>
        </p:nvSpPr>
        <p:spPr>
          <a:xfrm>
            <a:off x="1161288" y="2697480"/>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Actuator expone health, info y métricas</a:t>
            </a:r>
            <a:endParaRPr lang="en-US" sz="1350" dirty="0"/>
          </a:p>
        </p:txBody>
      </p:sp>
      <p:sp>
        <p:nvSpPr>
          <p:cNvPr id="23" name="Shape 20"/>
          <p:cNvSpPr/>
          <p:nvPr/>
        </p:nvSpPr>
        <p:spPr>
          <a:xfrm>
            <a:off x="612648" y="3474720"/>
            <a:ext cx="420624" cy="420624"/>
          </a:xfrm>
          <a:prstGeom prst="ellipse">
            <a:avLst/>
          </a:prstGeom>
          <a:solidFill>
            <a:srgbClr val="E3F4FA"/>
          </a:solidFill>
          <a:ln w="12700">
            <a:solidFill>
              <a:srgbClr val="E3F4FA"/>
            </a:solidFill>
            <a:prstDash val="solid"/>
          </a:ln>
        </p:spPr>
      </p:sp>
      <p:sp>
        <p:nvSpPr>
          <p:cNvPr id="24" name="Icono database"/>
          <p:cNvSpPr/>
          <p:nvPr/>
        </p:nvSpPr>
        <p:spPr>
          <a:xfrm>
            <a:off x="713598" y="3575670"/>
            <a:ext cx="218724" cy="218724"/>
          </a:xfrm>
          <a:custGeom>
            <a:avLst/>
            <a:gdLst/>
            <a:ahLst/>
            <a:cxnLst/>
            <a:rect l="l" t="t" r="r" b="b"/>
            <a:pathLst>
              <a:path w="218724" h="218724">
                <a:moveTo>
                  <a:pt x="191384" y="45568"/>
                </a:moveTo>
                <a:cubicBezTo>
                  <a:pt x="191384" y="60667"/>
                  <a:pt x="154662" y="72908"/>
                  <a:pt x="109362" y="72908"/>
                </a:cubicBezTo>
                <a:cubicBezTo>
                  <a:pt x="64063" y="72908"/>
                  <a:pt x="27341" y="60667"/>
                  <a:pt x="27341" y="45568"/>
                </a:cubicBezTo>
                <a:cubicBezTo>
                  <a:pt x="27341" y="30468"/>
                  <a:pt x="64063" y="18227"/>
                  <a:pt x="109362" y="18227"/>
                </a:cubicBezTo>
                <a:cubicBezTo>
                  <a:pt x="154662" y="18227"/>
                  <a:pt x="191384" y="30468"/>
                  <a:pt x="191384" y="45568"/>
                </a:cubicBezTo>
                <a:close/>
                <a:moveTo>
                  <a:pt x="27341" y="45568"/>
                </a:moveTo>
                <a:lnTo>
                  <a:pt x="27341" y="173157"/>
                </a:lnTo>
                <a:cubicBezTo>
                  <a:pt x="27341" y="188257"/>
                  <a:pt x="64063" y="200497"/>
                  <a:pt x="109362" y="200497"/>
                </a:cubicBezTo>
                <a:cubicBezTo>
                  <a:pt x="154662" y="200497"/>
                  <a:pt x="191384" y="188257"/>
                  <a:pt x="191384" y="173157"/>
                </a:cubicBezTo>
                <a:lnTo>
                  <a:pt x="191384" y="45568"/>
                </a:lnTo>
                <a:moveTo>
                  <a:pt x="27341" y="109362"/>
                </a:moveTo>
                <a:cubicBezTo>
                  <a:pt x="27341" y="124462"/>
                  <a:pt x="64063" y="136703"/>
                  <a:pt x="109362" y="136703"/>
                </a:cubicBezTo>
                <a:cubicBezTo>
                  <a:pt x="154662" y="136703"/>
                  <a:pt x="191384" y="124462"/>
                  <a:pt x="191384" y="109362"/>
                </a:cubicBezTo>
              </a:path>
            </a:pathLst>
          </a:custGeom>
          <a:noFill/>
          <a:ln w="18227" cap="rnd">
            <a:solidFill>
              <a:srgbClr val="0B6E8A"/>
            </a:solidFill>
            <a:prstDash val="solid"/>
            <a:round/>
          </a:ln>
        </p:spPr>
      </p:sp>
      <p:sp>
        <p:nvSpPr>
          <p:cNvPr id="25" name="Text 22"/>
          <p:cNvSpPr/>
          <p:nvPr/>
        </p:nvSpPr>
        <p:spPr>
          <a:xfrm>
            <a:off x="1161288" y="3355848"/>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La salud revisa la conexión con la base</a:t>
            </a:r>
            <a:endParaRPr lang="en-US" sz="1350" dirty="0"/>
          </a:p>
        </p:txBody>
      </p:sp>
      <p:sp>
        <p:nvSpPr>
          <p:cNvPr id="26" name="Shape 23"/>
          <p:cNvSpPr/>
          <p:nvPr/>
        </p:nvSpPr>
        <p:spPr>
          <a:xfrm>
            <a:off x="612648" y="4133088"/>
            <a:ext cx="420624" cy="420624"/>
          </a:xfrm>
          <a:prstGeom prst="ellipse">
            <a:avLst/>
          </a:prstGeom>
          <a:solidFill>
            <a:srgbClr val="E3F4FA"/>
          </a:solidFill>
          <a:ln w="12700">
            <a:solidFill>
              <a:srgbClr val="E3F4FA"/>
            </a:solidFill>
            <a:prstDash val="solid"/>
          </a:ln>
        </p:spPr>
      </p:sp>
      <p:sp>
        <p:nvSpPr>
          <p:cNvPr id="27" name="Icono ship-wheel"/>
          <p:cNvSpPr/>
          <p:nvPr/>
        </p:nvSpPr>
        <p:spPr>
          <a:xfrm>
            <a:off x="713598" y="4234038"/>
            <a:ext cx="218724" cy="218724"/>
          </a:xfrm>
          <a:custGeom>
            <a:avLst/>
            <a:gdLst/>
            <a:ahLst/>
            <a:cxnLst/>
            <a:rect l="l" t="t" r="r" b="b"/>
            <a:pathLst>
              <a:path w="218724" h="218724">
                <a:moveTo>
                  <a:pt x="182270" y="109362"/>
                </a:moveTo>
                <a:cubicBezTo>
                  <a:pt x="182270" y="149628"/>
                  <a:pt x="149628" y="182270"/>
                  <a:pt x="109362" y="182270"/>
                </a:cubicBezTo>
                <a:cubicBezTo>
                  <a:pt x="69096" y="182270"/>
                  <a:pt x="36454" y="149628"/>
                  <a:pt x="36454" y="109362"/>
                </a:cubicBezTo>
                <a:cubicBezTo>
                  <a:pt x="36454" y="69096"/>
                  <a:pt x="69096" y="36454"/>
                  <a:pt x="109362" y="36454"/>
                </a:cubicBezTo>
                <a:cubicBezTo>
                  <a:pt x="149628" y="36454"/>
                  <a:pt x="182270" y="69096"/>
                  <a:pt x="182270" y="109362"/>
                </a:cubicBezTo>
                <a:close/>
                <a:moveTo>
                  <a:pt x="109362" y="18227"/>
                </a:moveTo>
                <a:lnTo>
                  <a:pt x="109362" y="86578"/>
                </a:lnTo>
                <a:moveTo>
                  <a:pt x="173157" y="45568"/>
                </a:moveTo>
                <a:lnTo>
                  <a:pt x="125493" y="93231"/>
                </a:lnTo>
                <a:moveTo>
                  <a:pt x="200497" y="109362"/>
                </a:moveTo>
                <a:lnTo>
                  <a:pt x="132146" y="109362"/>
                </a:lnTo>
                <a:moveTo>
                  <a:pt x="173157" y="173157"/>
                </a:moveTo>
                <a:lnTo>
                  <a:pt x="125493" y="125493"/>
                </a:lnTo>
                <a:moveTo>
                  <a:pt x="109362" y="132146"/>
                </a:moveTo>
                <a:lnTo>
                  <a:pt x="109362" y="200497"/>
                </a:lnTo>
                <a:moveTo>
                  <a:pt x="93231" y="125493"/>
                </a:moveTo>
                <a:lnTo>
                  <a:pt x="45568" y="173157"/>
                </a:lnTo>
                <a:moveTo>
                  <a:pt x="86578" y="109362"/>
                </a:moveTo>
                <a:lnTo>
                  <a:pt x="18227" y="109362"/>
                </a:lnTo>
                <a:moveTo>
                  <a:pt x="93231" y="93231"/>
                </a:moveTo>
                <a:lnTo>
                  <a:pt x="45568" y="45568"/>
                </a:lnTo>
                <a:moveTo>
                  <a:pt x="132146" y="109362"/>
                </a:moveTo>
                <a:cubicBezTo>
                  <a:pt x="132146" y="121945"/>
                  <a:pt x="121945" y="132146"/>
                  <a:pt x="109362" y="132146"/>
                </a:cubicBezTo>
                <a:cubicBezTo>
                  <a:pt x="96779" y="132146"/>
                  <a:pt x="86578" y="121945"/>
                  <a:pt x="86578" y="109362"/>
                </a:cubicBezTo>
                <a:cubicBezTo>
                  <a:pt x="86578" y="96779"/>
                  <a:pt x="96779" y="86578"/>
                  <a:pt x="109362" y="86578"/>
                </a:cubicBezTo>
                <a:cubicBezTo>
                  <a:pt x="121945" y="86578"/>
                  <a:pt x="132146" y="96779"/>
                  <a:pt x="132146" y="109362"/>
                </a:cubicBezTo>
                <a:close/>
              </a:path>
            </a:pathLst>
          </a:custGeom>
          <a:noFill/>
          <a:ln w="18227" cap="rnd">
            <a:solidFill>
              <a:srgbClr val="0B6E8A"/>
            </a:solidFill>
            <a:prstDash val="solid"/>
            <a:round/>
          </a:ln>
        </p:spPr>
      </p:sp>
      <p:sp>
        <p:nvSpPr>
          <p:cNvPr id="28" name="Text 25"/>
          <p:cNvSpPr/>
          <p:nvPr/>
        </p:nvSpPr>
        <p:spPr>
          <a:xfrm>
            <a:off x="1161288" y="4014216"/>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Kubernetes y la UI la consultan</a:t>
            </a:r>
            <a:endParaRPr lang="en-US" sz="1350" dirty="0"/>
          </a:p>
        </p:txBody>
      </p:sp>
      <p:sp>
        <p:nvSpPr>
          <p:cNvPr id="29" name="Shape 26"/>
          <p:cNvSpPr/>
          <p:nvPr/>
        </p:nvSpPr>
        <p:spPr>
          <a:xfrm>
            <a:off x="612648" y="4791456"/>
            <a:ext cx="420624" cy="420624"/>
          </a:xfrm>
          <a:prstGeom prst="ellipse">
            <a:avLst/>
          </a:prstGeom>
          <a:solidFill>
            <a:srgbClr val="E3F4FA"/>
          </a:solidFill>
          <a:ln w="12700">
            <a:solidFill>
              <a:srgbClr val="E3F4FA"/>
            </a:solidFill>
            <a:prstDash val="solid"/>
          </a:ln>
        </p:spPr>
      </p:sp>
      <p:sp>
        <p:nvSpPr>
          <p:cNvPr id="30" name="Icono triangle-alert"/>
          <p:cNvSpPr/>
          <p:nvPr/>
        </p:nvSpPr>
        <p:spPr>
          <a:xfrm>
            <a:off x="713598" y="4892406"/>
            <a:ext cx="218724" cy="218724"/>
          </a:xfrm>
          <a:custGeom>
            <a:avLst/>
            <a:gdLst/>
            <a:ahLst/>
            <a:cxnLst/>
            <a:rect l="l" t="t" r="r" b="b"/>
            <a:pathLst>
              <a:path w="218724" h="218724">
                <a:moveTo>
                  <a:pt x="198037" y="164043"/>
                </a:moveTo>
                <a:lnTo>
                  <a:pt x="125129" y="36454"/>
                </a:lnTo>
                <a:cubicBezTo>
                  <a:pt x="121892" y="30743"/>
                  <a:pt x="115835" y="27214"/>
                  <a:pt x="109271" y="27214"/>
                </a:cubicBezTo>
                <a:cubicBezTo>
                  <a:pt x="102707" y="27214"/>
                  <a:pt x="96650" y="30743"/>
                  <a:pt x="93414" y="36454"/>
                </a:cubicBezTo>
                <a:lnTo>
                  <a:pt x="20505" y="164043"/>
                </a:lnTo>
                <a:cubicBezTo>
                  <a:pt x="17234" y="169708"/>
                  <a:pt x="17250" y="176691"/>
                  <a:pt x="20546" y="182342"/>
                </a:cubicBezTo>
                <a:cubicBezTo>
                  <a:pt x="23842" y="187992"/>
                  <a:pt x="29913" y="191443"/>
                  <a:pt x="36454" y="191384"/>
                </a:cubicBezTo>
                <a:lnTo>
                  <a:pt x="182270" y="191384"/>
                </a:lnTo>
                <a:cubicBezTo>
                  <a:pt x="188779" y="191377"/>
                  <a:pt x="194790" y="187901"/>
                  <a:pt x="198041" y="182262"/>
                </a:cubicBezTo>
                <a:cubicBezTo>
                  <a:pt x="201293" y="176624"/>
                  <a:pt x="201291" y="169680"/>
                  <a:pt x="198037" y="164043"/>
                </a:cubicBezTo>
                <a:moveTo>
                  <a:pt x="109362" y="82022"/>
                </a:moveTo>
                <a:lnTo>
                  <a:pt x="109362" y="118476"/>
                </a:lnTo>
                <a:moveTo>
                  <a:pt x="109362" y="154930"/>
                </a:moveTo>
                <a:lnTo>
                  <a:pt x="109453" y="154930"/>
                </a:lnTo>
              </a:path>
            </a:pathLst>
          </a:custGeom>
          <a:noFill/>
          <a:ln w="18227" cap="rnd">
            <a:solidFill>
              <a:srgbClr val="0B6E8A"/>
            </a:solidFill>
            <a:prstDash val="solid"/>
            <a:round/>
          </a:ln>
        </p:spPr>
      </p:sp>
      <p:sp>
        <p:nvSpPr>
          <p:cNvPr id="31" name="Text 28"/>
          <p:cNvSpPr/>
          <p:nvPr/>
        </p:nvSpPr>
        <p:spPr>
          <a:xfrm>
            <a:off x="1161288" y="4672584"/>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UP no garantiza que todos los avisos llegaron</a:t>
            </a:r>
            <a:endParaRPr lang="en-US" sz="1350" dirty="0"/>
          </a:p>
        </p:txBody>
      </p:sp>
      <p:sp>
        <p:nvSpPr>
          <p:cNvPr id="32"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49</a:t>
            </a:fld>
            <a:endParaRPr lang="en-US"/>
          </a:p>
        </p:txBody>
      </p:sp>
    </p:spTree>
  </p:cSld>
  <p:clrMapOvr>
    <a:masterClrMapping/>
  </p:clrMapOvr>
  <p:transition spd="med">
    <p:fade/>
  </p:transition>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Observabilidad: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hart-line"/>
          <p:cNvSpPr/>
          <p:nvPr/>
        </p:nvSpPr>
        <p:spPr>
          <a:xfrm>
            <a:off x="1058144" y="1817096"/>
            <a:ext cx="370881" cy="370881"/>
          </a:xfrm>
          <a:custGeom>
            <a:avLst/>
            <a:gdLst/>
            <a:ahLst/>
            <a:cxnLst/>
            <a:rect l="l" t="t" r="r" b="b"/>
            <a:pathLst>
              <a:path w="370881" h="370881">
                <a:moveTo>
                  <a:pt x="46360" y="46360"/>
                </a:moveTo>
                <a:lnTo>
                  <a:pt x="46360" y="293614"/>
                </a:lnTo>
                <a:cubicBezTo>
                  <a:pt x="46360" y="310683"/>
                  <a:pt x="60197" y="324521"/>
                  <a:pt x="77267" y="324521"/>
                </a:cubicBezTo>
                <a:lnTo>
                  <a:pt x="324521" y="324521"/>
                </a:lnTo>
                <a:moveTo>
                  <a:pt x="293614" y="139080"/>
                </a:moveTo>
                <a:lnTo>
                  <a:pt x="216347" y="216347"/>
                </a:lnTo>
                <a:lnTo>
                  <a:pt x="154534" y="154534"/>
                </a:lnTo>
                <a:lnTo>
                  <a:pt x="108174" y="200894"/>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lugar para buscar todos los logs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8</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contenedores observados</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braces"/>
          <p:cNvSpPr/>
          <p:nvPr/>
        </p:nvSpPr>
        <p:spPr>
          <a:xfrm>
            <a:off x="4258544" y="1955780"/>
            <a:ext cx="370881" cy="370881"/>
          </a:xfrm>
          <a:custGeom>
            <a:avLst/>
            <a:gdLst/>
            <a:ahLst/>
            <a:cxnLst/>
            <a:rect l="l" t="t" r="r" b="b"/>
            <a:pathLst>
              <a:path w="370881" h="370881">
                <a:moveTo>
                  <a:pt x="123627" y="46360"/>
                </a:moveTo>
                <a:lnTo>
                  <a:pt x="108174" y="46360"/>
                </a:lnTo>
                <a:cubicBezTo>
                  <a:pt x="91104" y="46360"/>
                  <a:pt x="77267" y="60197"/>
                  <a:pt x="77267" y="77267"/>
                </a:cubicBezTo>
                <a:lnTo>
                  <a:pt x="77267" y="154534"/>
                </a:lnTo>
                <a:cubicBezTo>
                  <a:pt x="77267" y="171603"/>
                  <a:pt x="63429" y="185440"/>
                  <a:pt x="46360" y="185440"/>
                </a:cubicBezTo>
                <a:cubicBezTo>
                  <a:pt x="63429" y="185440"/>
                  <a:pt x="77267" y="199278"/>
                  <a:pt x="77267" y="216347"/>
                </a:cubicBezTo>
                <a:lnTo>
                  <a:pt x="77267" y="293614"/>
                </a:lnTo>
                <a:cubicBezTo>
                  <a:pt x="77267" y="310613"/>
                  <a:pt x="91175" y="324521"/>
                  <a:pt x="108174" y="324521"/>
                </a:cubicBezTo>
                <a:lnTo>
                  <a:pt x="123627" y="324521"/>
                </a:lnTo>
                <a:moveTo>
                  <a:pt x="247254" y="324521"/>
                </a:moveTo>
                <a:lnTo>
                  <a:pt x="262707" y="324521"/>
                </a:lnTo>
                <a:cubicBezTo>
                  <a:pt x="279776" y="324521"/>
                  <a:pt x="293614" y="310683"/>
                  <a:pt x="293614" y="293614"/>
                </a:cubicBezTo>
                <a:lnTo>
                  <a:pt x="293614" y="216347"/>
                </a:lnTo>
                <a:cubicBezTo>
                  <a:pt x="293614" y="199348"/>
                  <a:pt x="307522" y="185440"/>
                  <a:pt x="324521" y="185440"/>
                </a:cubicBezTo>
                <a:cubicBezTo>
                  <a:pt x="307451" y="185440"/>
                  <a:pt x="293614" y="171603"/>
                  <a:pt x="293614" y="154534"/>
                </a:cubicBezTo>
                <a:lnTo>
                  <a:pt x="293614" y="77267"/>
                </a:lnTo>
                <a:cubicBezTo>
                  <a:pt x="293614" y="60197"/>
                  <a:pt x="279776" y="46360"/>
                  <a:pt x="262707" y="46360"/>
                </a:cubicBezTo>
                <a:lnTo>
                  <a:pt x="247254" y="463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Logs estructurados desde el día uno</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JSON con formato estándar, sin cambiar el código de negocio.</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Buscar por campo en lugar de leer texto.</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waypoints"/>
          <p:cNvSpPr/>
          <p:nvPr/>
        </p:nvSpPr>
        <p:spPr>
          <a:xfrm>
            <a:off x="4258544" y="3677900"/>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Un identificador que cruce servicios</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El traceId viaja en cada llamada y el eventoId en cada log.</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un fallo entre servicios en minutos.</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activity"/>
          <p:cNvSpPr/>
          <p:nvPr/>
        </p:nvSpPr>
        <p:spPr>
          <a:xfrm>
            <a:off x="4258544" y="5400020"/>
            <a:ext cx="370881" cy="370881"/>
          </a:xfrm>
          <a:custGeom>
            <a:avLst/>
            <a:gdLst/>
            <a:ahLst/>
            <a:cxnLst/>
            <a:rect l="l" t="t" r="r" b="b"/>
            <a:pathLst>
              <a:path w="370881" h="370881">
                <a:moveTo>
                  <a:pt x="339974" y="185440"/>
                </a:moveTo>
                <a:lnTo>
                  <a:pt x="301650" y="185440"/>
                </a:lnTo>
                <a:cubicBezTo>
                  <a:pt x="287770" y="185411"/>
                  <a:pt x="275572" y="194638"/>
                  <a:pt x="271825" y="208002"/>
                </a:cubicBezTo>
                <a:lnTo>
                  <a:pt x="235509" y="337192"/>
                </a:lnTo>
                <a:cubicBezTo>
                  <a:pt x="235028" y="338841"/>
                  <a:pt x="233517" y="339974"/>
                  <a:pt x="231800" y="339974"/>
                </a:cubicBezTo>
                <a:cubicBezTo>
                  <a:pt x="230083" y="339974"/>
                  <a:pt x="228572" y="338841"/>
                  <a:pt x="228092" y="337192"/>
                </a:cubicBezTo>
                <a:lnTo>
                  <a:pt x="142789" y="33688"/>
                </a:lnTo>
                <a:cubicBezTo>
                  <a:pt x="142308" y="32040"/>
                  <a:pt x="140797" y="30907"/>
                  <a:pt x="139080" y="30907"/>
                </a:cubicBezTo>
                <a:cubicBezTo>
                  <a:pt x="137363" y="30907"/>
                  <a:pt x="135852" y="32040"/>
                  <a:pt x="135371" y="33688"/>
                </a:cubicBezTo>
                <a:lnTo>
                  <a:pt x="99056" y="162878"/>
                </a:lnTo>
                <a:cubicBezTo>
                  <a:pt x="95324" y="176188"/>
                  <a:pt x="83208" y="185401"/>
                  <a:pt x="69386" y="185440"/>
                </a:cubicBezTo>
                <a:lnTo>
                  <a:pt x="30907" y="185440"/>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Salud no es lo mismo que correcto</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UP dice que responde; los pendientes dicen si entrega.</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Medir el resultado del negocio, no solo el proceso.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UI: lo que contamos, en vivo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forma de ver funcionando cada parte de la presentación.</a:t>
            </a:r>
            <a:endParaRPr lang="en-US" sz="1700" dirty="0"/>
          </a:p>
        </p:txBody>
      </p:sp>
      <p:sp>
        <p:nvSpPr>
          <p:cNvPr id="13" name="Shape 11"/>
          <p:cNvSpPr/>
          <p:nvPr/>
        </p:nvSpPr>
        <p:spPr>
          <a:xfrm>
            <a:off x="61264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14" name="Shape 12"/>
          <p:cNvSpPr/>
          <p:nvPr/>
        </p:nvSpPr>
        <p:spPr>
          <a:xfrm>
            <a:off x="722376" y="1816730"/>
            <a:ext cx="74615" cy="74615"/>
          </a:xfrm>
          <a:prstGeom prst="ellipse">
            <a:avLst/>
          </a:prstGeom>
          <a:solidFill>
            <a:srgbClr val="E5484D"/>
          </a:solidFill>
          <a:ln w="12700">
            <a:solidFill>
              <a:srgbClr val="E5484D"/>
            </a:solidFill>
            <a:prstDash val="solid"/>
          </a:ln>
        </p:spPr>
      </p:sp>
      <p:sp>
        <p:nvSpPr>
          <p:cNvPr id="15" name="Shape 13"/>
          <p:cNvSpPr/>
          <p:nvPr/>
        </p:nvSpPr>
        <p:spPr>
          <a:xfrm>
            <a:off x="821131" y="1816730"/>
            <a:ext cx="74615" cy="74615"/>
          </a:xfrm>
          <a:prstGeom prst="ellipse">
            <a:avLst/>
          </a:prstGeom>
          <a:solidFill>
            <a:srgbClr val="F5A524"/>
          </a:solidFill>
          <a:ln w="12700">
            <a:solidFill>
              <a:srgbClr val="F5A524"/>
            </a:solidFill>
            <a:prstDash val="solid"/>
          </a:ln>
        </p:spPr>
      </p:sp>
      <p:sp>
        <p:nvSpPr>
          <p:cNvPr id="16" name="Shape 14"/>
          <p:cNvSpPr/>
          <p:nvPr/>
        </p:nvSpPr>
        <p:spPr>
          <a:xfrm>
            <a:off x="919886" y="1816730"/>
            <a:ext cx="74615" cy="74615"/>
          </a:xfrm>
          <a:prstGeom prst="ellipse">
            <a:avLst/>
          </a:prstGeom>
          <a:solidFill>
            <a:srgbClr val="30A46C"/>
          </a:solidFill>
          <a:ln w="12700">
            <a:solidFill>
              <a:srgbClr val="30A46C"/>
            </a:solidFill>
            <a:prstDash val="solid"/>
          </a:ln>
        </p:spPr>
      </p:sp>
      <p:sp>
        <p:nvSpPr>
          <p:cNvPr id="17" name="Text 15"/>
          <p:cNvSpPr/>
          <p:nvPr/>
        </p:nvSpPr>
        <p:spPr>
          <a:xfrm>
            <a:off x="112471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localhost:8088/#/solicitudes</a:t>
            </a:r>
            <a:endParaRPr lang="en-US" sz="700" dirty="0"/>
          </a:p>
        </p:txBody>
      </p:sp>
      <p:pic>
        <p:nvPicPr>
          <p:cNvPr id="18" name="Image 0" descr="Solicitudes">    </p:cNvPr>
          <p:cNvPicPr>
            <a:picLocks noChangeAspect="1"/>
          </p:cNvPicPr>
          <p:nvPr/>
        </p:nvPicPr>
        <p:blipFill>
          <a:blip r:embed="rId1"/>
          <a:stretch>
            <a:fillRect/>
          </a:stretch>
        </p:blipFill>
        <p:spPr>
          <a:xfrm>
            <a:off x="612648" y="1965960"/>
            <a:ext cx="2877386" cy="1798366"/>
          </a:xfrm>
          <a:prstGeom prst="rect">
            <a:avLst/>
          </a:prstGeom>
        </p:spPr>
      </p:pic>
      <p:sp>
        <p:nvSpPr>
          <p:cNvPr id="19" name="Text 16"/>
          <p:cNvSpPr/>
          <p:nvPr/>
        </p:nvSpPr>
        <p:spPr>
          <a:xfrm>
            <a:off x="3727778"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20" name="Text 17"/>
          <p:cNvSpPr/>
          <p:nvPr/>
        </p:nvSpPr>
        <p:spPr>
          <a:xfrm>
            <a:off x="4184978"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Solicitudes</a:t>
            </a:r>
            <a:endParaRPr lang="en-US" sz="2000" dirty="0"/>
          </a:p>
        </p:txBody>
      </p:sp>
      <p:sp>
        <p:nvSpPr>
          <p:cNvPr id="21" name="Text 18"/>
          <p:cNvSpPr/>
          <p:nvPr/>
        </p:nvSpPr>
        <p:spPr>
          <a:xfrm>
            <a:off x="3727778"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El negocio: estados y errores 400, 404 y 409.</a:t>
            </a:r>
            <a:endParaRPr lang="en-US" sz="1400" dirty="0"/>
          </a:p>
        </p:txBody>
      </p:sp>
      <p:sp>
        <p:nvSpPr>
          <p:cNvPr id="22" name="[p1] Forma"/>
          <p:cNvSpPr/>
          <p:nvPr/>
        </p:nvSpPr>
        <p:spPr>
          <a:xfrm>
            <a:off x="627872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23" name="[p1] Forma"/>
          <p:cNvSpPr/>
          <p:nvPr/>
        </p:nvSpPr>
        <p:spPr>
          <a:xfrm>
            <a:off x="6388456" y="1816730"/>
            <a:ext cx="74615" cy="74615"/>
          </a:xfrm>
          <a:prstGeom prst="ellipse">
            <a:avLst/>
          </a:prstGeom>
          <a:solidFill>
            <a:srgbClr val="E5484D"/>
          </a:solidFill>
          <a:ln w="12700">
            <a:solidFill>
              <a:srgbClr val="E5484D"/>
            </a:solidFill>
            <a:prstDash val="solid"/>
          </a:ln>
        </p:spPr>
      </p:sp>
      <p:sp>
        <p:nvSpPr>
          <p:cNvPr id="24" name="[p1] Forma"/>
          <p:cNvSpPr/>
          <p:nvPr/>
        </p:nvSpPr>
        <p:spPr>
          <a:xfrm>
            <a:off x="6487211" y="1816730"/>
            <a:ext cx="74615" cy="74615"/>
          </a:xfrm>
          <a:prstGeom prst="ellipse">
            <a:avLst/>
          </a:prstGeom>
          <a:solidFill>
            <a:srgbClr val="F5A524"/>
          </a:solidFill>
          <a:ln w="12700">
            <a:solidFill>
              <a:srgbClr val="F5A524"/>
            </a:solidFill>
            <a:prstDash val="solid"/>
          </a:ln>
        </p:spPr>
      </p:sp>
      <p:sp>
        <p:nvSpPr>
          <p:cNvPr id="25" name="[p1] Forma"/>
          <p:cNvSpPr/>
          <p:nvPr/>
        </p:nvSpPr>
        <p:spPr>
          <a:xfrm>
            <a:off x="6585966" y="1816730"/>
            <a:ext cx="74615" cy="74615"/>
          </a:xfrm>
          <a:prstGeom prst="ellipse">
            <a:avLst/>
          </a:prstGeom>
          <a:solidFill>
            <a:srgbClr val="30A46C"/>
          </a:solidFill>
          <a:ln w="12700">
            <a:solidFill>
              <a:srgbClr val="30A46C"/>
            </a:solidFill>
            <a:prstDash val="solid"/>
          </a:ln>
        </p:spPr>
      </p:sp>
      <p:sp>
        <p:nvSpPr>
          <p:cNvPr id="26" name="[p1] Forma"/>
          <p:cNvSpPr/>
          <p:nvPr/>
        </p:nvSpPr>
        <p:spPr>
          <a:xfrm>
            <a:off x="679079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localhost:8088/#/enviadas</a:t>
            </a:r>
            <a:endParaRPr lang="en-US" sz="700" dirty="0"/>
          </a:p>
        </p:txBody>
      </p:sp>
      <p:pic>
        <p:nvPicPr>
          <p:cNvPr id="27" name="[p1] Forma" descr="Enviadas">    </p:cNvPr>
          <p:cNvPicPr>
            <a:picLocks noChangeAspect="1"/>
          </p:cNvPicPr>
          <p:nvPr/>
        </p:nvPicPr>
        <p:blipFill>
          <a:blip r:embed="rId2"/>
          <a:stretch>
            <a:fillRect/>
          </a:stretch>
        </p:blipFill>
        <p:spPr>
          <a:xfrm>
            <a:off x="6278728" y="1965960"/>
            <a:ext cx="2877386" cy="1798366"/>
          </a:xfrm>
          <a:prstGeom prst="rect">
            <a:avLst/>
          </a:prstGeom>
        </p:spPr>
      </p:pic>
      <p:sp>
        <p:nvSpPr>
          <p:cNvPr id="28" name="[p1] Forma"/>
          <p:cNvSpPr/>
          <p:nvPr/>
        </p:nvSpPr>
        <p:spPr>
          <a:xfrm>
            <a:off x="9393857"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29" name="[p1] Forma"/>
          <p:cNvSpPr/>
          <p:nvPr/>
        </p:nvSpPr>
        <p:spPr>
          <a:xfrm>
            <a:off x="9851057"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Enviadas</a:t>
            </a:r>
            <a:endParaRPr lang="en-US" sz="2000" dirty="0"/>
          </a:p>
        </p:txBody>
      </p:sp>
      <p:sp>
        <p:nvSpPr>
          <p:cNvPr id="30" name="[p1] Forma"/>
          <p:cNvSpPr/>
          <p:nvPr/>
        </p:nvSpPr>
        <p:spPr>
          <a:xfrm>
            <a:off x="9393857"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interconexión: pendientes, entregados y Reentregar.</a:t>
            </a:r>
            <a:endParaRPr lang="en-US" sz="1400" dirty="0"/>
          </a:p>
        </p:txBody>
      </p:sp>
      <p:sp>
        <p:nvSpPr>
          <p:cNvPr id="31" name="[p2] Forma"/>
          <p:cNvSpPr/>
          <p:nvPr/>
        </p:nvSpPr>
        <p:spPr>
          <a:xfrm>
            <a:off x="61264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32" name="[p2] Forma"/>
          <p:cNvSpPr/>
          <p:nvPr/>
        </p:nvSpPr>
        <p:spPr>
          <a:xfrm>
            <a:off x="722376" y="3974714"/>
            <a:ext cx="74615" cy="74615"/>
          </a:xfrm>
          <a:prstGeom prst="ellipse">
            <a:avLst/>
          </a:prstGeom>
          <a:solidFill>
            <a:srgbClr val="E5484D"/>
          </a:solidFill>
          <a:ln w="12700">
            <a:solidFill>
              <a:srgbClr val="E5484D"/>
            </a:solidFill>
            <a:prstDash val="solid"/>
          </a:ln>
        </p:spPr>
      </p:sp>
      <p:sp>
        <p:nvSpPr>
          <p:cNvPr id="33" name="[p2] Forma"/>
          <p:cNvSpPr/>
          <p:nvPr/>
        </p:nvSpPr>
        <p:spPr>
          <a:xfrm>
            <a:off x="821131" y="3974714"/>
            <a:ext cx="74615" cy="74615"/>
          </a:xfrm>
          <a:prstGeom prst="ellipse">
            <a:avLst/>
          </a:prstGeom>
          <a:solidFill>
            <a:srgbClr val="F5A524"/>
          </a:solidFill>
          <a:ln w="12700">
            <a:solidFill>
              <a:srgbClr val="F5A524"/>
            </a:solidFill>
            <a:prstDash val="solid"/>
          </a:ln>
        </p:spPr>
      </p:sp>
      <p:sp>
        <p:nvSpPr>
          <p:cNvPr id="34" name="[p2] Forma"/>
          <p:cNvSpPr/>
          <p:nvPr/>
        </p:nvSpPr>
        <p:spPr>
          <a:xfrm>
            <a:off x="919886" y="3974714"/>
            <a:ext cx="74615" cy="74615"/>
          </a:xfrm>
          <a:prstGeom prst="ellipse">
            <a:avLst/>
          </a:prstGeom>
          <a:solidFill>
            <a:srgbClr val="30A46C"/>
          </a:solidFill>
          <a:ln w="12700">
            <a:solidFill>
              <a:srgbClr val="30A46C"/>
            </a:solidFill>
            <a:prstDash val="solid"/>
          </a:ln>
        </p:spPr>
      </p:sp>
      <p:sp>
        <p:nvSpPr>
          <p:cNvPr id="35" name="[p2] Forma"/>
          <p:cNvSpPr/>
          <p:nvPr/>
        </p:nvSpPr>
        <p:spPr>
          <a:xfrm>
            <a:off x="112471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localhost:8088/#/salud</a:t>
            </a:r>
            <a:endParaRPr lang="en-US" sz="700" dirty="0"/>
          </a:p>
        </p:txBody>
      </p:sp>
      <p:pic>
        <p:nvPicPr>
          <p:cNvPr id="36" name="[p2] Forma" descr="Salud">    </p:cNvPr>
          <p:cNvPicPr>
            <a:picLocks noChangeAspect="1"/>
          </p:cNvPicPr>
          <p:nvPr/>
        </p:nvPicPr>
        <p:blipFill>
          <a:blip r:embed="rId3"/>
          <a:stretch>
            <a:fillRect/>
          </a:stretch>
        </p:blipFill>
        <p:spPr>
          <a:xfrm>
            <a:off x="612648" y="4123944"/>
            <a:ext cx="2877386" cy="1798366"/>
          </a:xfrm>
          <a:prstGeom prst="rect">
            <a:avLst/>
          </a:prstGeom>
        </p:spPr>
      </p:pic>
      <p:sp>
        <p:nvSpPr>
          <p:cNvPr id="37" name="[p2] Forma"/>
          <p:cNvSpPr/>
          <p:nvPr/>
        </p:nvSpPr>
        <p:spPr>
          <a:xfrm>
            <a:off x="3727778"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38" name="[p2] Forma"/>
          <p:cNvSpPr/>
          <p:nvPr/>
        </p:nvSpPr>
        <p:spPr>
          <a:xfrm>
            <a:off x="4184978"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Salud</a:t>
            </a:r>
            <a:endParaRPr lang="en-US" sz="2000" dirty="0"/>
          </a:p>
        </p:txBody>
      </p:sp>
      <p:sp>
        <p:nvSpPr>
          <p:cNvPr id="39" name="[p2] Forma"/>
          <p:cNvSpPr/>
          <p:nvPr/>
        </p:nvSpPr>
        <p:spPr>
          <a:xfrm>
            <a:off x="3727778"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observabilidad: UP o DOWN, Swagger y Grafana.</a:t>
            </a:r>
            <a:endParaRPr lang="en-US" sz="1400" dirty="0"/>
          </a:p>
        </p:txBody>
      </p:sp>
      <p:sp>
        <p:nvSpPr>
          <p:cNvPr id="40" name="[p3] Forma"/>
          <p:cNvSpPr/>
          <p:nvPr/>
        </p:nvSpPr>
        <p:spPr>
          <a:xfrm>
            <a:off x="627872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41" name="[p3] Forma"/>
          <p:cNvSpPr/>
          <p:nvPr/>
        </p:nvSpPr>
        <p:spPr>
          <a:xfrm>
            <a:off x="6388456" y="3974714"/>
            <a:ext cx="74615" cy="74615"/>
          </a:xfrm>
          <a:prstGeom prst="ellipse">
            <a:avLst/>
          </a:prstGeom>
          <a:solidFill>
            <a:srgbClr val="E5484D"/>
          </a:solidFill>
          <a:ln w="12700">
            <a:solidFill>
              <a:srgbClr val="E5484D"/>
            </a:solidFill>
            <a:prstDash val="solid"/>
          </a:ln>
        </p:spPr>
      </p:sp>
      <p:sp>
        <p:nvSpPr>
          <p:cNvPr id="42" name="[p3] Forma"/>
          <p:cNvSpPr/>
          <p:nvPr/>
        </p:nvSpPr>
        <p:spPr>
          <a:xfrm>
            <a:off x="6487211" y="3974714"/>
            <a:ext cx="74615" cy="74615"/>
          </a:xfrm>
          <a:prstGeom prst="ellipse">
            <a:avLst/>
          </a:prstGeom>
          <a:solidFill>
            <a:srgbClr val="F5A524"/>
          </a:solidFill>
          <a:ln w="12700">
            <a:solidFill>
              <a:srgbClr val="F5A524"/>
            </a:solidFill>
            <a:prstDash val="solid"/>
          </a:ln>
        </p:spPr>
      </p:sp>
      <p:sp>
        <p:nvSpPr>
          <p:cNvPr id="43" name="[p3] Forma"/>
          <p:cNvSpPr/>
          <p:nvPr/>
        </p:nvSpPr>
        <p:spPr>
          <a:xfrm>
            <a:off x="6585966" y="3974714"/>
            <a:ext cx="74615" cy="74615"/>
          </a:xfrm>
          <a:prstGeom prst="ellipse">
            <a:avLst/>
          </a:prstGeom>
          <a:solidFill>
            <a:srgbClr val="30A46C"/>
          </a:solidFill>
          <a:ln w="12700">
            <a:solidFill>
              <a:srgbClr val="30A46C"/>
            </a:solidFill>
            <a:prstDash val="solid"/>
          </a:ln>
        </p:spPr>
      </p:sp>
      <p:sp>
        <p:nvSpPr>
          <p:cNvPr id="44" name="[p3] Forma"/>
          <p:cNvSpPr/>
          <p:nvPr/>
        </p:nvSpPr>
        <p:spPr>
          <a:xfrm>
            <a:off x="679079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localhost:8088/#/ayuda</a:t>
            </a:r>
            <a:endParaRPr lang="en-US" sz="700" dirty="0"/>
          </a:p>
        </p:txBody>
      </p:sp>
      <p:pic>
        <p:nvPicPr>
          <p:cNvPr id="45" name="[p3] Forma" descr="Ayuda">    </p:cNvPr>
          <p:cNvPicPr>
            <a:picLocks noChangeAspect="1"/>
          </p:cNvPicPr>
          <p:nvPr/>
        </p:nvPicPr>
        <p:blipFill>
          <a:blip r:embed="rId4"/>
          <a:stretch>
            <a:fillRect/>
          </a:stretch>
        </p:blipFill>
        <p:spPr>
          <a:xfrm>
            <a:off x="6278728" y="4123944"/>
            <a:ext cx="2877386" cy="1798366"/>
          </a:xfrm>
          <a:prstGeom prst="rect">
            <a:avLst/>
          </a:prstGeom>
        </p:spPr>
      </p:pic>
      <p:sp>
        <p:nvSpPr>
          <p:cNvPr id="46" name="[p3] Forma"/>
          <p:cNvSpPr/>
          <p:nvPr/>
        </p:nvSpPr>
        <p:spPr>
          <a:xfrm>
            <a:off x="9393857"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47" name="[p3] Forma"/>
          <p:cNvSpPr/>
          <p:nvPr/>
        </p:nvSpPr>
        <p:spPr>
          <a:xfrm>
            <a:off x="9851057"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Ayuda</a:t>
            </a:r>
            <a:endParaRPr lang="en-US" sz="2000" dirty="0"/>
          </a:p>
        </p:txBody>
      </p:sp>
      <p:sp>
        <p:nvSpPr>
          <p:cNvPr id="48" name="[p3] Forma"/>
          <p:cNvSpPr/>
          <p:nvPr/>
        </p:nvSpPr>
        <p:spPr>
          <a:xfrm>
            <a:off x="9393857"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Diagramas paso a paso.</a:t>
            </a:r>
            <a:endParaRPr lang="en-US" sz="1400" dirty="0"/>
          </a:p>
        </p:txBody>
      </p:sp>
      <p:sp>
        <p:nvSpPr>
          <p:cNvPr id="49" name="Shape 43"/>
          <p:cNvSpPr/>
          <p:nvPr/>
        </p:nvSpPr>
        <p:spPr>
          <a:xfrm>
            <a:off x="0" y="5961888"/>
            <a:ext cx="12191695" cy="475488"/>
          </a:xfrm>
          <a:prstGeom prst="rect">
            <a:avLst/>
          </a:prstGeom>
          <a:solidFill>
            <a:srgbClr val="0B2350"/>
          </a:solidFill>
          <a:ln w="12700">
            <a:solidFill>
              <a:srgbClr val="0B2350"/>
            </a:solidFill>
            <a:prstDash val="solid"/>
          </a:ln>
        </p:spPr>
      </p:sp>
      <p:sp>
        <p:nvSpPr>
          <p:cNvPr id="50"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1" name="Text 4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Hace visible lo que normalmente no se ve: la bandeja de salida, los reintentos y la idempotencia.</a:t>
            </a:r>
            <a:endParaRPr lang="en-US" sz="1400" dirty="0"/>
          </a:p>
        </p:txBody>
      </p:sp>
      <p:sp>
        <p:nvSpPr>
          <p:cNvPr id="52"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400"/>
                                        <p:tgtEl>
                                          <p:spTgt spid="30"/>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animEffect transition="in" filter="fade">
                                      <p:cBhvr>
                                        <p:cTn id="49" dur="400"/>
                                        <p:tgtEl>
                                          <p:spTgt spid="3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fade">
                                      <p:cBhvr>
                                        <p:cTn id="52" dur="400"/>
                                        <p:tgtEl>
                                          <p:spTgt spid="3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400"/>
                                        <p:tgtEl>
                                          <p:spTgt spid="39"/>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40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400"/>
                                        <p:tgtEl>
                                          <p:spTgt spid="4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2"/>
                                        </p:tgtEl>
                                        <p:attrNameLst>
                                          <p:attrName>style.visibility</p:attrName>
                                        </p:attrNameLst>
                                      </p:cBhvr>
                                      <p:to>
                                        <p:strVal val="visible"/>
                                      </p:to>
                                    </p:set>
                                    <p:animEffect transition="in" filter="fade">
                                      <p:cBhvr>
                                        <p:cTn id="69" dur="400"/>
                                        <p:tgtEl>
                                          <p:spTgt spid="4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3"/>
                                        </p:tgtEl>
                                        <p:attrNameLst>
                                          <p:attrName>style.visibility</p:attrName>
                                        </p:attrNameLst>
                                      </p:cBhvr>
                                      <p:to>
                                        <p:strVal val="visible"/>
                                      </p:to>
                                    </p:set>
                                    <p:animEffect transition="in" filter="fade">
                                      <p:cBhvr>
                                        <p:cTn id="72" dur="400"/>
                                        <p:tgtEl>
                                          <p:spTgt spid="4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4"/>
                                        </p:tgtEl>
                                        <p:attrNameLst>
                                          <p:attrName>style.visibility</p:attrName>
                                        </p:attrNameLst>
                                      </p:cBhvr>
                                      <p:to>
                                        <p:strVal val="visible"/>
                                      </p:to>
                                    </p:set>
                                    <p:animEffect transition="in" filter="fade">
                                      <p:cBhvr>
                                        <p:cTn id="75" dur="400"/>
                                        <p:tgtEl>
                                          <p:spTgt spid="4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5"/>
                                        </p:tgtEl>
                                        <p:attrNameLst>
                                          <p:attrName>style.visibility</p:attrName>
                                        </p:attrNameLst>
                                      </p:cBhvr>
                                      <p:to>
                                        <p:strVal val="visible"/>
                                      </p:to>
                                    </p:set>
                                    <p:animEffect transition="in" filter="fade">
                                      <p:cBhvr>
                                        <p:cTn id="78" dur="400"/>
                                        <p:tgtEl>
                                          <p:spTgt spid="4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6"/>
                                        </p:tgtEl>
                                        <p:attrNameLst>
                                          <p:attrName>style.visibility</p:attrName>
                                        </p:attrNameLst>
                                      </p:cBhvr>
                                      <p:to>
                                        <p:strVal val="visible"/>
                                      </p:to>
                                    </p:set>
                                    <p:animEffect transition="in" filter="fade">
                                      <p:cBhvr>
                                        <p:cTn id="81" dur="400"/>
                                        <p:tgtEl>
                                          <p:spTgt spid="4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7"/>
                                        </p:tgtEl>
                                        <p:attrNameLst>
                                          <p:attrName>style.visibility</p:attrName>
                                        </p:attrNameLst>
                                      </p:cBhvr>
                                      <p:to>
                                        <p:strVal val="visible"/>
                                      </p:to>
                                    </p:set>
                                    <p:animEffect transition="in" filter="fade">
                                      <p:cBhvr>
                                        <p:cTn id="84" dur="400"/>
                                        <p:tgtEl>
                                          <p:spTgt spid="4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8"/>
                                        </p:tgtEl>
                                        <p:attrNameLst>
                                          <p:attrName>style.visibility</p:attrName>
                                        </p:attrNameLst>
                                      </p:cBhvr>
                                      <p:to>
                                        <p:strVal val="visible"/>
                                      </p:to>
                                    </p:set>
                                    <p:animEffect transition="in" filter="fade">
                                      <p:cBhvr>
                                        <p:cTn id="87"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 vivo: si notificaciones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persona no se entera; el aviso llega cuando el servicio vuelve, una sola vez.</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700" b="1" dirty="0">
                <a:solidFill>
                  <a:srgbClr val="AB243E"/>
                </a:solidFill>
                <a:latin typeface="Segoe UI" pitchFamily="34" charset="0"/>
                <a:ea typeface="Segoe UI" pitchFamily="34" charset="-122"/>
                <a:cs typeface="Segoe UI" pitchFamily="34" charset="-120"/>
              </a:rPr>
              <a:t>notificaciones está caído</a:t>
            </a:r>
            <a:pPr indent="0" marL="0">
              <a:buNone/>
            </a:pPr>
            <a:r>
              <a:rPr lang="en-US" sz="1700" dirty="0">
                <a:solidFill>
                  <a:srgbClr val="0B1A3C"/>
                </a:solidFill>
                <a:latin typeface="Segoe UI" pitchFamily="34" charset="0"/>
                <a:ea typeface="Segoe UI" pitchFamily="34" charset="-122"/>
                <a:cs typeface="Segoe UI" pitchFamily="34" charset="-120"/>
              </a:rPr>
              <a:t>   docker compose stop servicio-notificaciones</a:t>
            </a:r>
            <a:endParaRPr lang="en-US" sz="17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700" b="1" dirty="0">
                <a:solidFill>
                  <a:srgbClr val="0A6648"/>
                </a:solidFill>
                <a:latin typeface="Segoe UI" pitchFamily="34" charset="0"/>
                <a:ea typeface="Segoe UI" pitchFamily="34" charset="-122"/>
                <a:cs typeface="Segoe UI" pitchFamily="34" charset="-120"/>
              </a:rPr>
              <a:t>1 aviso, 0 perdidos</a:t>
            </a:r>
            <a:pPr indent="0" marL="0">
              <a:buNone/>
            </a:pPr>
            <a:r>
              <a:rPr lang="en-US" sz="1700" dirty="0">
                <a:solidFill>
                  <a:srgbClr val="0B1A3C"/>
                </a:solidFill>
                <a:latin typeface="Segoe UI" pitchFamily="34" charset="0"/>
                <a:ea typeface="Segoe UI" pitchFamily="34" charset="-122"/>
                <a:cs typeface="Segoe UI" pitchFamily="34" charset="-120"/>
              </a:rPr>
              <a:t>   Sin intervención y, al reentregar, sin duplicados.</a:t>
            </a:r>
            <a:endParaRPr lang="en-US" sz="170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send"/>
          <p:cNvSpPr/>
          <p:nvPr/>
        </p:nvSpPr>
        <p:spPr>
          <a:xfrm>
            <a:off x="1756706" y="3375263"/>
            <a:ext cx="453484" cy="453484"/>
          </a:xfrm>
          <a:custGeom>
            <a:avLst/>
            <a:gdLst/>
            <a:ahLst/>
            <a:cxnLst/>
            <a:rect l="l" t="t" r="r" b="b"/>
            <a:pathLst>
              <a:path w="453484" h="453484">
                <a:moveTo>
                  <a:pt x="274660" y="409760"/>
                </a:moveTo>
                <a:cubicBezTo>
                  <a:pt x="276130" y="413424"/>
                  <a:pt x="279724" y="415788"/>
                  <a:pt x="283670" y="415687"/>
                </a:cubicBezTo>
                <a:cubicBezTo>
                  <a:pt x="287617" y="415586"/>
                  <a:pt x="291084" y="413041"/>
                  <a:pt x="292365" y="409307"/>
                </a:cubicBezTo>
                <a:lnTo>
                  <a:pt x="415183" y="50299"/>
                </a:lnTo>
                <a:cubicBezTo>
                  <a:pt x="416418" y="46881"/>
                  <a:pt x="415565" y="43058"/>
                  <a:pt x="412996" y="40488"/>
                </a:cubicBezTo>
                <a:cubicBezTo>
                  <a:pt x="410426" y="37919"/>
                  <a:pt x="406603" y="37066"/>
                  <a:pt x="403185" y="38300"/>
                </a:cubicBezTo>
                <a:lnTo>
                  <a:pt x="44177" y="161119"/>
                </a:lnTo>
                <a:cubicBezTo>
                  <a:pt x="40443" y="162400"/>
                  <a:pt x="37898" y="165867"/>
                  <a:pt x="37797" y="169814"/>
                </a:cubicBezTo>
                <a:cubicBezTo>
                  <a:pt x="37696" y="173760"/>
                  <a:pt x="40060" y="177354"/>
                  <a:pt x="43723" y="178824"/>
                </a:cubicBezTo>
                <a:lnTo>
                  <a:pt x="193562" y="238910"/>
                </a:lnTo>
                <a:cubicBezTo>
                  <a:pt x="203134" y="242743"/>
                  <a:pt x="210724" y="250319"/>
                  <a:pt x="214573" y="259884"/>
                </a:cubicBezTo>
                <a:close/>
                <a:moveTo>
                  <a:pt x="412935" y="40568"/>
                </a:moveTo>
                <a:lnTo>
                  <a:pt x="206222" y="247262"/>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Enviar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Responde bien: solicitud ENVIADA y evento guardado.</a:t>
            </a:r>
            <a:endParaRPr lang="en-US" sz="1300" dirty="0"/>
          </a:p>
        </p:txBody>
      </p:sp>
      <p:sp>
        <p:nvSpPr>
          <p:cNvPr id="34" name="[p2] Forma"/>
          <p:cNvSpPr/>
          <p:nvPr/>
        </p:nvSpPr>
        <p:spPr>
          <a:xfrm>
            <a:off x="41306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cada 5 s</a:t>
            </a:r>
            <a:endParaRPr lang="en-US" sz="1100" dirty="0"/>
          </a:p>
        </p:txBody>
      </p:sp>
      <p:sp>
        <p:nvSpPr>
          <p:cNvPr id="35" name="[p2] Forma"/>
          <p:cNvSpPr/>
          <p:nvPr/>
        </p:nvSpPr>
        <p:spPr>
          <a:xfrm>
            <a:off x="43051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6" name="[p2] Icono refresh-cw"/>
          <p:cNvSpPr/>
          <p:nvPr/>
        </p:nvSpPr>
        <p:spPr>
          <a:xfrm>
            <a:off x="4498306"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8A4B06"/>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Reintenta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3 intentos por ciclo; el evento sigue pendiente.</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la UI</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“Notificaciones no responde” y 1 en camino.</a:t>
            </a:r>
            <a:endParaRPr lang="en-US" sz="1300" dirty="0"/>
          </a:p>
        </p:txBody>
      </p:sp>
      <p:sp>
        <p:nvSpPr>
          <p:cNvPr id="46" name="[p4] Forma"/>
          <p:cNvSpPr/>
          <p:nvPr/>
        </p:nvSpPr>
        <p:spPr>
          <a:xfrm>
            <a:off x="9568167"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al volver</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bell"/>
          <p:cNvSpPr/>
          <p:nvPr/>
        </p:nvSpPr>
        <p:spPr>
          <a:xfrm>
            <a:off x="9981505" y="3375263"/>
            <a:ext cx="453484" cy="453484"/>
          </a:xfrm>
          <a:custGeom>
            <a:avLst/>
            <a:gdLst/>
            <a:ahLst/>
            <a:cxnLst/>
            <a:rect l="l" t="t" r="r" b="b"/>
            <a:pathLst>
              <a:path w="453484" h="453484">
                <a:moveTo>
                  <a:pt x="194016" y="396798"/>
                </a:moveTo>
                <a:cubicBezTo>
                  <a:pt x="200766" y="408490"/>
                  <a:pt x="213241" y="415692"/>
                  <a:pt x="226742" y="415692"/>
                </a:cubicBezTo>
                <a:cubicBezTo>
                  <a:pt x="240242" y="415692"/>
                  <a:pt x="252718" y="408490"/>
                  <a:pt x="259468" y="396798"/>
                </a:cubicBezTo>
                <a:moveTo>
                  <a:pt x="61636" y="289587"/>
                </a:moveTo>
                <a:cubicBezTo>
                  <a:pt x="56593" y="295115"/>
                  <a:pt x="55286" y="303098"/>
                  <a:pt x="58305" y="309945"/>
                </a:cubicBezTo>
                <a:cubicBezTo>
                  <a:pt x="61323" y="316792"/>
                  <a:pt x="68098" y="321212"/>
                  <a:pt x="75581" y="321218"/>
                </a:cubicBezTo>
                <a:lnTo>
                  <a:pt x="377903" y="321218"/>
                </a:lnTo>
                <a:cubicBezTo>
                  <a:pt x="385385" y="321220"/>
                  <a:pt x="392164" y="316808"/>
                  <a:pt x="395190" y="309966"/>
                </a:cubicBezTo>
                <a:cubicBezTo>
                  <a:pt x="398217" y="303124"/>
                  <a:pt x="396921" y="295140"/>
                  <a:pt x="391886" y="289606"/>
                </a:cubicBezTo>
                <a:cubicBezTo>
                  <a:pt x="366755" y="263701"/>
                  <a:pt x="340113" y="236171"/>
                  <a:pt x="340113" y="151161"/>
                </a:cubicBezTo>
                <a:cubicBezTo>
                  <a:pt x="340113" y="88548"/>
                  <a:pt x="289355" y="37790"/>
                  <a:pt x="226742" y="37790"/>
                </a:cubicBezTo>
                <a:cubicBezTo>
                  <a:pt x="164129" y="37790"/>
                  <a:pt x="113371" y="88548"/>
                  <a:pt x="113371" y="151161"/>
                </a:cubicBezTo>
                <a:cubicBezTo>
                  <a:pt x="113371" y="236171"/>
                  <a:pt x="86710" y="263701"/>
                  <a:pt x="61636" y="289587"/>
                </a:cubicBez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Entrega</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Mismo eventoId: se crea el aviso.</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se comporta cuando algo falla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falla tiene una reacción prevista y algo visible en la UI.</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FALLA</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REACCIONA EL SISTEMA</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SE VE EN LA UI</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AB243E"/>
          </a:solidFill>
          <a:ln w="12700">
            <a:solidFill>
              <a:srgbClr val="AB243E"/>
            </a:solidFill>
            <a:prstDash val="solid"/>
          </a:ln>
        </p:spPr>
      </p:sp>
      <p:sp>
        <p:nvSpPr>
          <p:cNvPr id="19" name="Shape 17"/>
          <p:cNvSpPr/>
          <p:nvPr/>
        </p:nvSpPr>
        <p:spPr>
          <a:xfrm>
            <a:off x="772668" y="2376526"/>
            <a:ext cx="512064" cy="512064"/>
          </a:xfrm>
          <a:prstGeom prst="ellipse">
            <a:avLst/>
          </a:prstGeom>
          <a:solidFill>
            <a:srgbClr val="F7E3E7"/>
          </a:solidFill>
          <a:ln w="12700">
            <a:solidFill>
              <a:srgbClr val="F7E3E7"/>
            </a:solidFill>
            <a:prstDash val="solid"/>
          </a:ln>
        </p:spPr>
      </p:sp>
      <p:sp>
        <p:nvSpPr>
          <p:cNvPr id="20" name="Icono siren"/>
          <p:cNvSpPr/>
          <p:nvPr/>
        </p:nvSpPr>
        <p:spPr>
          <a:xfrm>
            <a:off x="895563" y="2499421"/>
            <a:ext cx="266273" cy="266273"/>
          </a:xfrm>
          <a:custGeom>
            <a:avLst/>
            <a:gdLst/>
            <a:ahLst/>
            <a:cxnLst/>
            <a:rect l="l" t="t" r="r" b="b"/>
            <a:pathLst>
              <a:path w="266273" h="266273">
                <a:moveTo>
                  <a:pt x="77663" y="199705"/>
                </a:moveTo>
                <a:lnTo>
                  <a:pt x="77663" y="133137"/>
                </a:lnTo>
                <a:cubicBezTo>
                  <a:pt x="77663" y="102499"/>
                  <a:pt x="102499" y="77663"/>
                  <a:pt x="133137" y="77663"/>
                </a:cubicBezTo>
                <a:cubicBezTo>
                  <a:pt x="163774" y="77663"/>
                  <a:pt x="188610" y="102499"/>
                  <a:pt x="188610" y="133137"/>
                </a:cubicBezTo>
                <a:lnTo>
                  <a:pt x="188610" y="199705"/>
                </a:lnTo>
                <a:moveTo>
                  <a:pt x="55474" y="232989"/>
                </a:moveTo>
                <a:cubicBezTo>
                  <a:pt x="55474" y="239117"/>
                  <a:pt x="60441" y="244084"/>
                  <a:pt x="66568" y="244084"/>
                </a:cubicBezTo>
                <a:lnTo>
                  <a:pt x="199705" y="244084"/>
                </a:lnTo>
                <a:cubicBezTo>
                  <a:pt x="205832" y="244084"/>
                  <a:pt x="210800" y="239117"/>
                  <a:pt x="210800" y="232989"/>
                </a:cubicBezTo>
                <a:lnTo>
                  <a:pt x="210800" y="221894"/>
                </a:lnTo>
                <a:cubicBezTo>
                  <a:pt x="210800" y="209640"/>
                  <a:pt x="200865" y="199705"/>
                  <a:pt x="188610" y="199705"/>
                </a:cubicBezTo>
                <a:lnTo>
                  <a:pt x="77663" y="199705"/>
                </a:lnTo>
                <a:cubicBezTo>
                  <a:pt x="65408" y="199705"/>
                  <a:pt x="55474" y="209640"/>
                  <a:pt x="55474" y="221894"/>
                </a:cubicBezTo>
                <a:close/>
                <a:moveTo>
                  <a:pt x="232989" y="133137"/>
                </a:moveTo>
                <a:lnTo>
                  <a:pt x="244084" y="133137"/>
                </a:lnTo>
                <a:moveTo>
                  <a:pt x="205252" y="49926"/>
                </a:moveTo>
                <a:lnTo>
                  <a:pt x="199705" y="55474"/>
                </a:lnTo>
                <a:moveTo>
                  <a:pt x="22189" y="133137"/>
                </a:moveTo>
                <a:lnTo>
                  <a:pt x="33284" y="133137"/>
                </a:lnTo>
                <a:moveTo>
                  <a:pt x="133137" y="22189"/>
                </a:moveTo>
                <a:lnTo>
                  <a:pt x="133137" y="33284"/>
                </a:lnTo>
                <a:moveTo>
                  <a:pt x="54686" y="54686"/>
                </a:moveTo>
                <a:lnTo>
                  <a:pt x="62530" y="62530"/>
                </a:lnTo>
                <a:moveTo>
                  <a:pt x="133137" y="133137"/>
                </a:moveTo>
                <a:lnTo>
                  <a:pt x="133137" y="199705"/>
                </a:lnTo>
              </a:path>
            </a:pathLst>
          </a:custGeom>
          <a:noFill/>
          <a:ln w="22189" cap="rnd">
            <a:solidFill>
              <a:srgbClr val="AB243E"/>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AB243E"/>
                </a:solidFill>
                <a:latin typeface="Segoe UI Semibold" pitchFamily="34" charset="0"/>
                <a:ea typeface="Segoe UI Semibold" pitchFamily="34" charset="-122"/>
                <a:cs typeface="Segoe UI Semibold" pitchFamily="34" charset="-120"/>
              </a:rPr>
              <a:t>notificaciones está caído</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evento queda pendiente y se reintenta cada 5 s</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 “Notificaciones no responde” · 1 en camino</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8"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9" name="[p1] Icono copy"/>
          <p:cNvSpPr/>
          <p:nvPr/>
        </p:nvSpPr>
        <p:spPr>
          <a:xfrm>
            <a:off x="895563" y="3338840"/>
            <a:ext cx="266273" cy="266273"/>
          </a:xfrm>
          <a:custGeom>
            <a:avLst/>
            <a:gdLst/>
            <a:ahLst/>
            <a:cxnLst/>
            <a:rect l="l" t="t" r="r" b="b"/>
            <a:pathLst>
              <a:path w="266273" h="266273">
                <a:moveTo>
                  <a:pt x="110947" y="88758"/>
                </a:moveTo>
                <a:lnTo>
                  <a:pt x="221894" y="88758"/>
                </a:lnTo>
                <a:cubicBezTo>
                  <a:pt x="234149" y="88758"/>
                  <a:pt x="244084" y="98692"/>
                  <a:pt x="244084" y="110947"/>
                </a:cubicBezTo>
                <a:lnTo>
                  <a:pt x="244084" y="221894"/>
                </a:lnTo>
                <a:cubicBezTo>
                  <a:pt x="244084" y="234149"/>
                  <a:pt x="234149" y="244084"/>
                  <a:pt x="221894" y="244084"/>
                </a:cubicBezTo>
                <a:lnTo>
                  <a:pt x="110947" y="244084"/>
                </a:lnTo>
                <a:cubicBezTo>
                  <a:pt x="98692" y="244084"/>
                  <a:pt x="88758" y="234149"/>
                  <a:pt x="88758" y="221894"/>
                </a:cubicBezTo>
                <a:lnTo>
                  <a:pt x="88758" y="110947"/>
                </a:lnTo>
                <a:cubicBezTo>
                  <a:pt x="88758" y="98692"/>
                  <a:pt x="98692" y="88758"/>
                  <a:pt x="110947" y="88758"/>
                </a:cubicBezTo>
                <a:close/>
                <a:moveTo>
                  <a:pt x="44379" y="177516"/>
                </a:moveTo>
                <a:cubicBezTo>
                  <a:pt x="32175" y="177516"/>
                  <a:pt x="22189" y="167530"/>
                  <a:pt x="22189" y="155326"/>
                </a:cubicBezTo>
                <a:lnTo>
                  <a:pt x="22189" y="44379"/>
                </a:lnTo>
                <a:cubicBezTo>
                  <a:pt x="22189" y="32175"/>
                  <a:pt x="32175" y="22189"/>
                  <a:pt x="44379" y="22189"/>
                </a:cubicBezTo>
                <a:lnTo>
                  <a:pt x="155326" y="22189"/>
                </a:lnTo>
                <a:cubicBezTo>
                  <a:pt x="167530" y="22189"/>
                  <a:pt x="177516" y="32175"/>
                  <a:pt x="177516" y="44379"/>
                </a:cubicBezTo>
              </a:path>
            </a:pathLst>
          </a:custGeom>
          <a:noFill/>
          <a:ln w="22189" cap="rnd">
            <a:solidFill>
              <a:srgbClr val="8A4B06"/>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El evento llega dos veces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ConsumoIdempotente lo reconoce y lo ignora</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aviso no se duplicó” · 0 duplicados</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AB243E"/>
          </a:solidFill>
          <a:ln w="12700">
            <a:solidFill>
              <a:srgbClr val="AB243E"/>
            </a:solidFill>
            <a:prstDash val="solid"/>
          </a:ln>
        </p:spPr>
      </p:sp>
      <p:sp>
        <p:nvSpPr>
          <p:cNvPr id="37" name="[p2] Forma"/>
          <p:cNvSpPr/>
          <p:nvPr/>
        </p:nvSpPr>
        <p:spPr>
          <a:xfrm>
            <a:off x="772668" y="4055364"/>
            <a:ext cx="512064" cy="512064"/>
          </a:xfrm>
          <a:prstGeom prst="ellipse">
            <a:avLst/>
          </a:prstGeom>
          <a:solidFill>
            <a:srgbClr val="F7E3E7"/>
          </a:solidFill>
          <a:ln w="12700">
            <a:solidFill>
              <a:srgbClr val="F7E3E7"/>
            </a:solidFill>
            <a:prstDash val="solid"/>
          </a:ln>
        </p:spPr>
      </p:sp>
      <p:sp>
        <p:nvSpPr>
          <p:cNvPr id="38" name="[p2] Icono ban"/>
          <p:cNvSpPr/>
          <p:nvPr/>
        </p:nvSpPr>
        <p:spPr>
          <a:xfrm>
            <a:off x="895563" y="4178259"/>
            <a:ext cx="266273" cy="266273"/>
          </a:xfrm>
          <a:custGeom>
            <a:avLst/>
            <a:gdLst/>
            <a:ahLst/>
            <a:cxnLst/>
            <a:rect l="l" t="t" r="r" b="b"/>
            <a:pathLst>
              <a:path w="266273" h="266273">
                <a:moveTo>
                  <a:pt x="244084" y="133137"/>
                </a:moveTo>
                <a:cubicBezTo>
                  <a:pt x="244084" y="194411"/>
                  <a:pt x="194411" y="244084"/>
                  <a:pt x="133137" y="244084"/>
                </a:cubicBezTo>
                <a:cubicBezTo>
                  <a:pt x="71862" y="244084"/>
                  <a:pt x="22189" y="194411"/>
                  <a:pt x="22189" y="133137"/>
                </a:cubicBezTo>
                <a:cubicBezTo>
                  <a:pt x="22189" y="71862"/>
                  <a:pt x="71862" y="22189"/>
                  <a:pt x="133137" y="22189"/>
                </a:cubicBezTo>
                <a:cubicBezTo>
                  <a:pt x="194411" y="22189"/>
                  <a:pt x="244084" y="71862"/>
                  <a:pt x="244084" y="133137"/>
                </a:cubicBezTo>
                <a:close/>
                <a:moveTo>
                  <a:pt x="54364" y="54364"/>
                </a:moveTo>
                <a:lnTo>
                  <a:pt x="211909" y="211909"/>
                </a:lnTo>
              </a:path>
            </a:pathLst>
          </a:custGeom>
          <a:noFill/>
          <a:ln w="22189" cap="rnd">
            <a:solidFill>
              <a:srgbClr val="AB243E"/>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AB243E"/>
                </a:solidFill>
                <a:latin typeface="Segoe UI Semibold" pitchFamily="34" charset="0"/>
                <a:ea typeface="Segoe UI Semibold" pitchFamily="34" charset="-122"/>
                <a:cs typeface="Segoe UI Semibold" pitchFamily="34" charset="-120"/>
              </a:rPr>
              <a:t>Enviar dos veces o aprobar un borrador</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dominio rechaza la transición: 409</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Diálogo con el motivo del 409</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8A4B06"/>
          </a:solidFill>
          <a:ln w="12700">
            <a:solidFill>
              <a:srgbClr val="8A4B06"/>
            </a:solidFill>
            <a:prstDash val="solid"/>
          </a:ln>
        </p:spPr>
      </p:sp>
      <p:sp>
        <p:nvSpPr>
          <p:cNvPr id="46" name="[p3] Forma"/>
          <p:cNvSpPr/>
          <p:nvPr/>
        </p:nvSpPr>
        <p:spPr>
          <a:xfrm>
            <a:off x="772668" y="4894783"/>
            <a:ext cx="512064" cy="512064"/>
          </a:xfrm>
          <a:prstGeom prst="ellipse">
            <a:avLst/>
          </a:prstGeom>
          <a:solidFill>
            <a:srgbClr val="FCEFD6"/>
          </a:solidFill>
          <a:ln w="12700">
            <a:solidFill>
              <a:srgbClr val="FCEFD6"/>
            </a:solidFill>
            <a:prstDash val="solid"/>
          </a:ln>
        </p:spPr>
      </p:sp>
      <p:sp>
        <p:nvSpPr>
          <p:cNvPr id="47" name="[p3] Icono triangle-alert"/>
          <p:cNvSpPr/>
          <p:nvPr/>
        </p:nvSpPr>
        <p:spPr>
          <a:xfrm>
            <a:off x="895563" y="5017679"/>
            <a:ext cx="266273" cy="266273"/>
          </a:xfrm>
          <a:custGeom>
            <a:avLst/>
            <a:gdLst/>
            <a:ahLst/>
            <a:cxnLst/>
            <a:rect l="l" t="t" r="r" b="b"/>
            <a:pathLst>
              <a:path w="266273" h="266273">
                <a:moveTo>
                  <a:pt x="241088" y="199705"/>
                </a:moveTo>
                <a:lnTo>
                  <a:pt x="152331" y="44379"/>
                </a:lnTo>
                <a:cubicBezTo>
                  <a:pt x="148391" y="37427"/>
                  <a:pt x="141017" y="33130"/>
                  <a:pt x="133026" y="33130"/>
                </a:cubicBezTo>
                <a:cubicBezTo>
                  <a:pt x="125035" y="33130"/>
                  <a:pt x="117661" y="37427"/>
                  <a:pt x="113721" y="44379"/>
                </a:cubicBezTo>
                <a:lnTo>
                  <a:pt x="24963" y="199705"/>
                </a:lnTo>
                <a:cubicBezTo>
                  <a:pt x="20981" y="206601"/>
                  <a:pt x="21000" y="215103"/>
                  <a:pt x="25012" y="221981"/>
                </a:cubicBezTo>
                <a:cubicBezTo>
                  <a:pt x="29025" y="228860"/>
                  <a:pt x="36416" y="233061"/>
                  <a:pt x="44379" y="232989"/>
                </a:cubicBezTo>
                <a:lnTo>
                  <a:pt x="221894" y="232989"/>
                </a:lnTo>
                <a:cubicBezTo>
                  <a:pt x="229818" y="232981"/>
                  <a:pt x="237136" y="228749"/>
                  <a:pt x="241094" y="221885"/>
                </a:cubicBezTo>
                <a:cubicBezTo>
                  <a:pt x="245052" y="215021"/>
                  <a:pt x="245050" y="206567"/>
                  <a:pt x="241088" y="199705"/>
                </a:cubicBezTo>
                <a:moveTo>
                  <a:pt x="133137" y="99852"/>
                </a:moveTo>
                <a:lnTo>
                  <a:pt x="133137" y="144231"/>
                </a:lnTo>
                <a:moveTo>
                  <a:pt x="133137" y="188610"/>
                </a:moveTo>
                <a:lnTo>
                  <a:pt x="133248" y="188610"/>
                </a:lnTo>
              </a:path>
            </a:pathLst>
          </a:custGeom>
          <a:noFill/>
          <a:ln w="22189" cap="rnd">
            <a:solidFill>
              <a:srgbClr val="8A4B06"/>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Faltan datos o el id ya existe</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 valida antes de guardar: 400 o 409</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Diálogo “Faltan datos” o “Ese identificador ya existe”</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55627E"/>
          </a:solidFill>
          <a:ln w="12700">
            <a:solidFill>
              <a:srgbClr val="55627E"/>
            </a:solidFill>
            <a:prstDash val="solid"/>
          </a:ln>
        </p:spPr>
      </p:sp>
      <p:sp>
        <p:nvSpPr>
          <p:cNvPr id="55" name="[p4] Forma"/>
          <p:cNvSpPr/>
          <p:nvPr/>
        </p:nvSpPr>
        <p:spPr>
          <a:xfrm>
            <a:off x="772668" y="5734202"/>
            <a:ext cx="512064" cy="512064"/>
          </a:xfrm>
          <a:prstGeom prst="ellipse">
            <a:avLst/>
          </a:prstGeom>
          <a:solidFill>
            <a:srgbClr val="F4F7FB"/>
          </a:solidFill>
          <a:ln w="12700">
            <a:solidFill>
              <a:srgbClr val="F4F7FB"/>
            </a:solidFill>
            <a:prstDash val="solid"/>
          </a:ln>
        </p:spPr>
      </p:sp>
      <p:sp>
        <p:nvSpPr>
          <p:cNvPr id="56" name="[p4] Icono timer"/>
          <p:cNvSpPr/>
          <p:nvPr/>
        </p:nvSpPr>
        <p:spPr>
          <a:xfrm>
            <a:off x="895563" y="5857098"/>
            <a:ext cx="266273" cy="266273"/>
          </a:xfrm>
          <a:custGeom>
            <a:avLst/>
            <a:gdLst/>
            <a:ahLst/>
            <a:cxnLst/>
            <a:rect l="l" t="t" r="r" b="b"/>
            <a:pathLst>
              <a:path w="266273" h="266273">
                <a:moveTo>
                  <a:pt x="110947" y="22189"/>
                </a:moveTo>
                <a:lnTo>
                  <a:pt x="155326" y="22189"/>
                </a:lnTo>
                <a:moveTo>
                  <a:pt x="133137" y="155326"/>
                </a:moveTo>
                <a:lnTo>
                  <a:pt x="166421" y="122042"/>
                </a:lnTo>
                <a:moveTo>
                  <a:pt x="221894" y="155326"/>
                </a:moveTo>
                <a:cubicBezTo>
                  <a:pt x="221894" y="204346"/>
                  <a:pt x="182156" y="244084"/>
                  <a:pt x="133137" y="244084"/>
                </a:cubicBezTo>
                <a:cubicBezTo>
                  <a:pt x="84117" y="244084"/>
                  <a:pt x="44379" y="204346"/>
                  <a:pt x="44379" y="155326"/>
                </a:cubicBezTo>
                <a:cubicBezTo>
                  <a:pt x="44379" y="106307"/>
                  <a:pt x="84117" y="66568"/>
                  <a:pt x="133137" y="66568"/>
                </a:cubicBezTo>
                <a:cubicBezTo>
                  <a:pt x="182156" y="66568"/>
                  <a:pt x="221894" y="106307"/>
                  <a:pt x="221894" y="155326"/>
                </a:cubicBezTo>
                <a:close/>
              </a:path>
            </a:pathLst>
          </a:custGeom>
          <a:noFill/>
          <a:ln w="22189" cap="rnd">
            <a:solidFill>
              <a:srgbClr val="55627E"/>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Un POST tarda o se corta</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UI no lo repite sola: pudo haberse guardado</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 de tiempo agotado, sin reintento automático</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Demostración: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monitor"/>
          <p:cNvSpPr/>
          <p:nvPr/>
        </p:nvSpPr>
        <p:spPr>
          <a:xfrm>
            <a:off x="1058144" y="1817096"/>
            <a:ext cx="370881" cy="370881"/>
          </a:xfrm>
          <a:custGeom>
            <a:avLst/>
            <a:gdLst/>
            <a:ahLst/>
            <a:cxnLst/>
            <a:rect l="l" t="t" r="r" b="b"/>
            <a:pathLst>
              <a:path w="370881" h="370881">
                <a:moveTo>
                  <a:pt x="61813" y="46360"/>
                </a:moveTo>
                <a:lnTo>
                  <a:pt x="309067" y="46360"/>
                </a:lnTo>
                <a:cubicBezTo>
                  <a:pt x="326137" y="46360"/>
                  <a:pt x="339974" y="60197"/>
                  <a:pt x="339974" y="77267"/>
                </a:cubicBezTo>
                <a:lnTo>
                  <a:pt x="339974" y="231800"/>
                </a:lnTo>
                <a:cubicBezTo>
                  <a:pt x="339974" y="248870"/>
                  <a:pt x="326137" y="262707"/>
                  <a:pt x="309067" y="262707"/>
                </a:cubicBezTo>
                <a:lnTo>
                  <a:pt x="61813" y="262707"/>
                </a:lnTo>
                <a:cubicBezTo>
                  <a:pt x="44744" y="262707"/>
                  <a:pt x="30907" y="248870"/>
                  <a:pt x="30907" y="231800"/>
                </a:cubicBezTo>
                <a:lnTo>
                  <a:pt x="30907" y="77267"/>
                </a:lnTo>
                <a:cubicBezTo>
                  <a:pt x="30907" y="60197"/>
                  <a:pt x="44744" y="46360"/>
                  <a:pt x="61813" y="46360"/>
                </a:cubicBezTo>
                <a:close/>
                <a:moveTo>
                  <a:pt x="123627" y="324521"/>
                </a:moveTo>
                <a:lnTo>
                  <a:pt x="247254" y="324521"/>
                </a:lnTo>
                <a:moveTo>
                  <a:pt x="185440" y="262707"/>
                </a:moveTo>
                <a:lnTo>
                  <a:pt x="185440" y="324521"/>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5</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fallas con reacción prevista</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pantallas para ver el sistema por dentro</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Cada falla probada tiene una reacción y un mensaje.</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incidentes y menos llamadas a soporte.</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eye"/>
          <p:cNvSpPr/>
          <p:nvPr/>
        </p:nvSpPr>
        <p:spPr>
          <a:xfrm>
            <a:off x="4258544" y="367790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lo asíncrono</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Pendientes, entregados y consumidos en una pantalla.</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Explicar el sistema sin abrir el código.</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lightbulb"/>
          <p:cNvSpPr/>
          <p:nvPr/>
        </p:nvSpPr>
        <p:spPr>
          <a:xfrm>
            <a:off x="4258544" y="5400020"/>
            <a:ext cx="370881" cy="370881"/>
          </a:xfrm>
          <a:custGeom>
            <a:avLst/>
            <a:gdLst/>
            <a:ahLst/>
            <a:cxnLst/>
            <a:rect l="l" t="t" r="r" b="b"/>
            <a:pathLst>
              <a:path w="370881" h="370881">
                <a:moveTo>
                  <a:pt x="231800" y="216347"/>
                </a:moveTo>
                <a:cubicBezTo>
                  <a:pt x="234891" y="200894"/>
                  <a:pt x="242618" y="190076"/>
                  <a:pt x="254980" y="177714"/>
                </a:cubicBezTo>
                <a:cubicBezTo>
                  <a:pt x="270434" y="163806"/>
                  <a:pt x="278160" y="143716"/>
                  <a:pt x="278160" y="123627"/>
                </a:cubicBezTo>
                <a:cubicBezTo>
                  <a:pt x="278160" y="72419"/>
                  <a:pt x="236648" y="30907"/>
                  <a:pt x="185440" y="30907"/>
                </a:cubicBezTo>
                <a:cubicBezTo>
                  <a:pt x="134232" y="30907"/>
                  <a:pt x="92720" y="72419"/>
                  <a:pt x="92720" y="123627"/>
                </a:cubicBezTo>
                <a:cubicBezTo>
                  <a:pt x="92720" y="139080"/>
                  <a:pt x="95811" y="157624"/>
                  <a:pt x="115900" y="177714"/>
                </a:cubicBezTo>
                <a:cubicBezTo>
                  <a:pt x="126718" y="188531"/>
                  <a:pt x="135990" y="200894"/>
                  <a:pt x="139080" y="216347"/>
                </a:cubicBezTo>
                <a:moveTo>
                  <a:pt x="139080" y="278160"/>
                </a:moveTo>
                <a:lnTo>
                  <a:pt x="231800" y="278160"/>
                </a:lnTo>
                <a:moveTo>
                  <a:pt x="154534" y="339974"/>
                </a:moveTo>
                <a:lnTo>
                  <a:pt x="216347" y="339974"/>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Mostrar en vivo explica más</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Botones para provocar fallas y ver la reacción.</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Material de capacitación para quien llegue al equipo.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valor agregado</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Prácticas que un equipo de tecnología puede reutilizar, en cualquier lenguaje.</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PILAR</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CONSTRUIMOS</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VALOR PARA EL EQUIPO</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0A6648"/>
          </a:solidFill>
          <a:ln w="12700">
            <a:solidFill>
              <a:srgbClr val="0A6648"/>
            </a:solidFill>
            <a:prstDash val="solid"/>
          </a:ln>
        </p:spPr>
      </p:sp>
      <p:sp>
        <p:nvSpPr>
          <p:cNvPr id="12" name="Shape 10"/>
          <p:cNvSpPr/>
          <p:nvPr/>
        </p:nvSpPr>
        <p:spPr>
          <a:xfrm>
            <a:off x="772668" y="2376526"/>
            <a:ext cx="512064" cy="512064"/>
          </a:xfrm>
          <a:prstGeom prst="ellipse">
            <a:avLst/>
          </a:prstGeom>
          <a:solidFill>
            <a:srgbClr val="E1F1EA"/>
          </a:solidFill>
          <a:ln w="12700">
            <a:solidFill>
              <a:srgbClr val="E1F1EA"/>
            </a:solidFill>
            <a:prstDash val="solid"/>
          </a:ln>
        </p:spPr>
      </p:sp>
      <p:sp>
        <p:nvSpPr>
          <p:cNvPr id="13" name="Icono shield-check"/>
          <p:cNvSpPr/>
          <p:nvPr/>
        </p:nvSpPr>
        <p:spPr>
          <a:xfrm>
            <a:off x="895563" y="2499421"/>
            <a:ext cx="266273" cy="266273"/>
          </a:xfrm>
          <a:custGeom>
            <a:avLst/>
            <a:gdLst/>
            <a:ahLst/>
            <a:cxnLst/>
            <a:rect l="l" t="t" r="r" b="b"/>
            <a:pathLst>
              <a:path w="266273" h="266273">
                <a:moveTo>
                  <a:pt x="221894" y="144231"/>
                </a:moveTo>
                <a:cubicBezTo>
                  <a:pt x="221894" y="199705"/>
                  <a:pt x="183063" y="227442"/>
                  <a:pt x="136909" y="243529"/>
                </a:cubicBezTo>
                <a:cubicBezTo>
                  <a:pt x="134492" y="244348"/>
                  <a:pt x="131867" y="244309"/>
                  <a:pt x="129475" y="243418"/>
                </a:cubicBezTo>
                <a:cubicBezTo>
                  <a:pt x="83210" y="227442"/>
                  <a:pt x="44379" y="199705"/>
                  <a:pt x="44379" y="144231"/>
                </a:cubicBezTo>
                <a:lnTo>
                  <a:pt x="44379" y="66568"/>
                </a:lnTo>
                <a:cubicBezTo>
                  <a:pt x="44379" y="60441"/>
                  <a:pt x="49346" y="55474"/>
                  <a:pt x="55474" y="55474"/>
                </a:cubicBezTo>
                <a:cubicBezTo>
                  <a:pt x="77663" y="55474"/>
                  <a:pt x="105400" y="42160"/>
                  <a:pt x="124705" y="25296"/>
                </a:cubicBezTo>
                <a:cubicBezTo>
                  <a:pt x="129561" y="21147"/>
                  <a:pt x="136713" y="21147"/>
                  <a:pt x="141569" y="25296"/>
                </a:cubicBezTo>
                <a:cubicBezTo>
                  <a:pt x="160984" y="42271"/>
                  <a:pt x="188610" y="55474"/>
                  <a:pt x="210800" y="55474"/>
                </a:cubicBezTo>
                <a:cubicBezTo>
                  <a:pt x="216927" y="55474"/>
                  <a:pt x="221894" y="60441"/>
                  <a:pt x="221894" y="66568"/>
                </a:cubicBezTo>
                <a:close/>
                <a:moveTo>
                  <a:pt x="99852" y="133137"/>
                </a:moveTo>
                <a:lnTo>
                  <a:pt x="122042" y="155326"/>
                </a:lnTo>
                <a:lnTo>
                  <a:pt x="166421" y="110947"/>
                </a:lnTo>
              </a:path>
            </a:pathLst>
          </a:custGeom>
          <a:noFill/>
          <a:ln w="22189" cap="rnd">
            <a:solidFill>
              <a:srgbClr val="0A6648"/>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Datos consistentes</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Transacción local, Outbox e idempotencia</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0 avisos perdidos o duplicados ante caídas</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1"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2" name="[p1] Icono key-round"/>
          <p:cNvSpPr/>
          <p:nvPr/>
        </p:nvSpPr>
        <p:spPr>
          <a:xfrm>
            <a:off x="895563" y="3338840"/>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Conexión segura</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Cadena de conexión y claves fuera del código</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de servidor o de clave sin recompilar</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container"/>
          <p:cNvSpPr/>
          <p:nvPr/>
        </p:nvSpPr>
        <p:spPr>
          <a:xfrm>
            <a:off x="895563" y="4178259"/>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Reproducibilidad</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Docker, Compose y Kubernetes</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1 comando y la misma imagen en todo ambiente</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0B2350"/>
          </a:solidFill>
          <a:ln w="12700">
            <a:solidFill>
              <a:srgbClr val="0B2350"/>
            </a:solidFill>
            <a:prstDash val="solid"/>
          </a:ln>
        </p:spPr>
      </p:sp>
      <p:sp>
        <p:nvSpPr>
          <p:cNvPr id="39" name="[p3] Forma"/>
          <p:cNvSpPr/>
          <p:nvPr/>
        </p:nvSpPr>
        <p:spPr>
          <a:xfrm>
            <a:off x="772668" y="4894783"/>
            <a:ext cx="512064" cy="512064"/>
          </a:xfrm>
          <a:prstGeom prst="ellipse">
            <a:avLst/>
          </a:prstGeom>
          <a:solidFill>
            <a:srgbClr val="E8EEF8"/>
          </a:solidFill>
          <a:ln w="12700">
            <a:solidFill>
              <a:srgbClr val="E8EEF8"/>
            </a:solidFill>
            <a:prstDash val="solid"/>
          </a:ln>
        </p:spPr>
      </p:sp>
      <p:sp>
        <p:nvSpPr>
          <p:cNvPr id="40" name="[p3] Icono flask-conical"/>
          <p:cNvSpPr/>
          <p:nvPr/>
        </p:nvSpPr>
        <p:spPr>
          <a:xfrm>
            <a:off x="895563" y="5017679"/>
            <a:ext cx="266273" cy="266273"/>
          </a:xfrm>
          <a:custGeom>
            <a:avLst/>
            <a:gdLst/>
            <a:ahLst/>
            <a:cxnLst/>
            <a:rect l="l" t="t" r="r" b="b"/>
            <a:pathLst>
              <a:path w="266273" h="266273">
                <a:moveTo>
                  <a:pt x="155326" y="22189"/>
                </a:moveTo>
                <a:lnTo>
                  <a:pt x="155326" y="88758"/>
                </a:lnTo>
                <a:cubicBezTo>
                  <a:pt x="155325" y="92480"/>
                  <a:pt x="156259" y="96143"/>
                  <a:pt x="158044" y="99409"/>
                </a:cubicBezTo>
                <a:lnTo>
                  <a:pt x="219176" y="211243"/>
                </a:lnTo>
                <a:cubicBezTo>
                  <a:pt x="222938" y="218119"/>
                  <a:pt x="222794" y="226469"/>
                  <a:pt x="218797" y="233211"/>
                </a:cubicBezTo>
                <a:cubicBezTo>
                  <a:pt x="214800" y="239953"/>
                  <a:pt x="207543" y="244086"/>
                  <a:pt x="199705" y="244084"/>
                </a:cubicBezTo>
                <a:lnTo>
                  <a:pt x="66568" y="244084"/>
                </a:lnTo>
                <a:cubicBezTo>
                  <a:pt x="58731" y="244086"/>
                  <a:pt x="51474" y="239953"/>
                  <a:pt x="47476" y="233211"/>
                </a:cubicBezTo>
                <a:cubicBezTo>
                  <a:pt x="43479" y="226469"/>
                  <a:pt x="43335" y="218119"/>
                  <a:pt x="47097" y="211243"/>
                </a:cubicBezTo>
                <a:lnTo>
                  <a:pt x="108229" y="99409"/>
                </a:lnTo>
                <a:cubicBezTo>
                  <a:pt x="110014" y="96143"/>
                  <a:pt x="110949" y="92480"/>
                  <a:pt x="110947" y="88758"/>
                </a:cubicBezTo>
                <a:lnTo>
                  <a:pt x="110947" y="22189"/>
                </a:lnTo>
                <a:moveTo>
                  <a:pt x="71594" y="166421"/>
                </a:moveTo>
                <a:lnTo>
                  <a:pt x="194679" y="166421"/>
                </a:lnTo>
                <a:moveTo>
                  <a:pt x="94305" y="22189"/>
                </a:moveTo>
                <a:lnTo>
                  <a:pt x="171968" y="22189"/>
                </a:lnTo>
              </a:path>
            </a:pathLst>
          </a:custGeom>
          <a:noFill/>
          <a:ln w="22189" cap="rnd">
            <a:solidFill>
              <a:srgbClr val="0B2350"/>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Calidad</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Pruebas automáticas y pipeline en cada cambio</a:t>
            </a:r>
            <a:endParaRPr lang="en-US" sz="14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Errores detectados en minutos, antes de integrar</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5B3FC4"/>
          </a:solidFill>
          <a:ln w="12700">
            <a:solidFill>
              <a:srgbClr val="5B3FC4"/>
            </a:solidFill>
            <a:prstDash val="solid"/>
          </a:ln>
        </p:spPr>
      </p:sp>
      <p:sp>
        <p:nvSpPr>
          <p:cNvPr id="48" name="[p4] Forma"/>
          <p:cNvSpPr/>
          <p:nvPr/>
        </p:nvSpPr>
        <p:spPr>
          <a:xfrm>
            <a:off x="772668" y="5734202"/>
            <a:ext cx="512064" cy="512064"/>
          </a:xfrm>
          <a:prstGeom prst="ellipse">
            <a:avLst/>
          </a:prstGeom>
          <a:solidFill>
            <a:srgbClr val="F1EEFD"/>
          </a:solidFill>
          <a:ln w="12700">
            <a:solidFill>
              <a:srgbClr val="F1EEFD"/>
            </a:solidFill>
            <a:prstDash val="solid"/>
          </a:ln>
        </p:spPr>
      </p:sp>
      <p:sp>
        <p:nvSpPr>
          <p:cNvPr id="49"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Trazabilidad</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Logs centralizados, traceId e imagen por commit</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Diagnóstico en minutos y versiones rastreables</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pueden aplicar desde mañana</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No hace falta reescribir nada: estas prácticas funcionan también con procedimientos almacenados.</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PRÁCTICA</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VE EN SUS SISTEMAS DE HOY</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EVITA</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8A4B06"/>
          </a:solidFill>
          <a:ln w="12700">
            <a:solidFill>
              <a:srgbClr val="8A4B06"/>
            </a:solidFill>
            <a:prstDash val="solid"/>
          </a:ln>
        </p:spPr>
      </p:sp>
      <p:sp>
        <p:nvSpPr>
          <p:cNvPr id="12" name="Shape 10"/>
          <p:cNvSpPr/>
          <p:nvPr/>
        </p:nvSpPr>
        <p:spPr>
          <a:xfrm>
            <a:off x="772668" y="2376526"/>
            <a:ext cx="512064" cy="512064"/>
          </a:xfrm>
          <a:prstGeom prst="ellipse">
            <a:avLst/>
          </a:prstGeom>
          <a:solidFill>
            <a:srgbClr val="FCEFD6"/>
          </a:solidFill>
          <a:ln w="12700">
            <a:solidFill>
              <a:srgbClr val="FCEFD6"/>
            </a:solidFill>
            <a:prstDash val="solid"/>
          </a:ln>
        </p:spPr>
      </p:sp>
      <p:sp>
        <p:nvSpPr>
          <p:cNvPr id="13" name="Icono key-round"/>
          <p:cNvSpPr/>
          <p:nvPr/>
        </p:nvSpPr>
        <p:spPr>
          <a:xfrm>
            <a:off x="895563" y="2499421"/>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Cadena de conexión fuera del código</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Variables de entorno o un gestor de secretos en el servidor</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Claves en el repositorio y recompilar por cambiar de servidor</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1"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2" name="[p1] Icono inbox"/>
          <p:cNvSpPr/>
          <p:nvPr/>
        </p:nvSpPr>
        <p:spPr>
          <a:xfrm>
            <a:off x="895563" y="3338840"/>
            <a:ext cx="266273" cy="266273"/>
          </a:xfrm>
          <a:custGeom>
            <a:avLst/>
            <a:gdLst/>
            <a:ahLst/>
            <a:cxnLst/>
            <a:rect l="l" t="t" r="r" b="b"/>
            <a:pathLst>
              <a:path w="266273" h="266273">
                <a:moveTo>
                  <a:pt x="244084" y="133137"/>
                </a:moveTo>
                <a:lnTo>
                  <a:pt x="177516" y="133137"/>
                </a:lnTo>
                <a:lnTo>
                  <a:pt x="155326" y="166421"/>
                </a:lnTo>
                <a:lnTo>
                  <a:pt x="110947" y="166421"/>
                </a:lnTo>
                <a:lnTo>
                  <a:pt x="88758" y="133137"/>
                </a:lnTo>
                <a:lnTo>
                  <a:pt x="22189" y="133137"/>
                </a:lnTo>
                <a:moveTo>
                  <a:pt x="60466" y="56694"/>
                </a:moveTo>
                <a:lnTo>
                  <a:pt x="22189" y="133137"/>
                </a:lnTo>
                <a:lnTo>
                  <a:pt x="22189" y="199705"/>
                </a:lnTo>
                <a:cubicBezTo>
                  <a:pt x="22189" y="211960"/>
                  <a:pt x="32124" y="221894"/>
                  <a:pt x="44379" y="221894"/>
                </a:cubicBezTo>
                <a:lnTo>
                  <a:pt x="221894" y="221894"/>
                </a:lnTo>
                <a:cubicBezTo>
                  <a:pt x="234149" y="221894"/>
                  <a:pt x="244084" y="211960"/>
                  <a:pt x="244084" y="199705"/>
                </a:cubicBezTo>
                <a:lnTo>
                  <a:pt x="244084" y="133137"/>
                </a:lnTo>
                <a:lnTo>
                  <a:pt x="205807" y="56694"/>
                </a:lnTo>
                <a:cubicBezTo>
                  <a:pt x="202060" y="49153"/>
                  <a:pt x="194368" y="44383"/>
                  <a:pt x="185948" y="44379"/>
                </a:cubicBezTo>
                <a:lnTo>
                  <a:pt x="80326" y="44379"/>
                </a:lnTo>
                <a:cubicBezTo>
                  <a:pt x="71906" y="44383"/>
                  <a:pt x="64213" y="49153"/>
                  <a:pt x="60466" y="56694"/>
                </a:cubicBezTo>
                <a:close/>
              </a:path>
            </a:pathLst>
          </a:custGeom>
          <a:noFill/>
          <a:ln w="22189" cap="rnd">
            <a:solidFill>
              <a:srgbClr val="0B2350"/>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y avisar en la misma transacción</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pendientes que llena el procedimiento y un job que la entrega</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Avisos perdidos cuando el otro sistema está caído</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fingerprint"/>
          <p:cNvSpPr/>
          <p:nvPr/>
        </p:nvSpPr>
        <p:spPr>
          <a:xfrm>
            <a:off x="895563" y="4178259"/>
            <a:ext cx="266273" cy="266273"/>
          </a:xfrm>
          <a:custGeom>
            <a:avLst/>
            <a:gdLst/>
            <a:ahLst/>
            <a:cxnLst/>
            <a:rect l="l" t="t" r="r" b="b"/>
            <a:pathLst>
              <a:path w="266273" h="266273">
                <a:moveTo>
                  <a:pt x="133137" y="110947"/>
                </a:moveTo>
                <a:cubicBezTo>
                  <a:pt x="120882" y="110947"/>
                  <a:pt x="110947" y="120882"/>
                  <a:pt x="110947" y="133137"/>
                </a:cubicBezTo>
                <a:cubicBezTo>
                  <a:pt x="110947" y="144453"/>
                  <a:pt x="109838" y="160984"/>
                  <a:pt x="108063" y="177516"/>
                </a:cubicBezTo>
                <a:moveTo>
                  <a:pt x="155326" y="145563"/>
                </a:moveTo>
                <a:cubicBezTo>
                  <a:pt x="155326" y="171968"/>
                  <a:pt x="155326" y="216347"/>
                  <a:pt x="144231" y="244084"/>
                </a:cubicBezTo>
                <a:moveTo>
                  <a:pt x="191828" y="233211"/>
                </a:moveTo>
                <a:cubicBezTo>
                  <a:pt x="193159" y="226554"/>
                  <a:pt x="196598" y="207693"/>
                  <a:pt x="197375" y="199705"/>
                </a:cubicBezTo>
                <a:moveTo>
                  <a:pt x="22189" y="133137"/>
                </a:moveTo>
                <a:cubicBezTo>
                  <a:pt x="22189" y="85382"/>
                  <a:pt x="52748" y="42984"/>
                  <a:pt x="98052" y="27883"/>
                </a:cubicBezTo>
                <a:cubicBezTo>
                  <a:pt x="143356" y="12781"/>
                  <a:pt x="193241" y="28364"/>
                  <a:pt x="221894" y="66568"/>
                </a:cubicBezTo>
                <a:moveTo>
                  <a:pt x="22189" y="177516"/>
                </a:moveTo>
                <a:lnTo>
                  <a:pt x="22300" y="177516"/>
                </a:lnTo>
                <a:moveTo>
                  <a:pt x="241865" y="177516"/>
                </a:moveTo>
                <a:cubicBezTo>
                  <a:pt x="244084" y="155326"/>
                  <a:pt x="243318" y="118114"/>
                  <a:pt x="241865" y="110947"/>
                </a:cubicBezTo>
                <a:moveTo>
                  <a:pt x="55474" y="216347"/>
                </a:moveTo>
                <a:cubicBezTo>
                  <a:pt x="61021" y="199705"/>
                  <a:pt x="66568" y="166421"/>
                  <a:pt x="66568" y="133137"/>
                </a:cubicBezTo>
                <a:cubicBezTo>
                  <a:pt x="66557" y="125580"/>
                  <a:pt x="67833" y="118076"/>
                  <a:pt x="70341" y="110947"/>
                </a:cubicBezTo>
                <a:moveTo>
                  <a:pt x="95969" y="244084"/>
                </a:moveTo>
                <a:cubicBezTo>
                  <a:pt x="98299" y="236761"/>
                  <a:pt x="100962" y="229439"/>
                  <a:pt x="102293" y="221894"/>
                </a:cubicBezTo>
                <a:moveTo>
                  <a:pt x="99852" y="75444"/>
                </a:moveTo>
                <a:cubicBezTo>
                  <a:pt x="120455" y="63549"/>
                  <a:pt x="145840" y="63553"/>
                  <a:pt x="166439" y="75455"/>
                </a:cubicBezTo>
                <a:cubicBezTo>
                  <a:pt x="187038" y="87356"/>
                  <a:pt x="199720" y="109346"/>
                  <a:pt x="199705" y="133137"/>
                </a:cubicBezTo>
                <a:lnTo>
                  <a:pt x="199705" y="155326"/>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Idempotencia en lo que se reintenta</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procesados con llave única por número de operación</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Pagos, correos o registros duplicados</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5B3FC4"/>
          </a:solidFill>
          <a:ln w="12700">
            <a:solidFill>
              <a:srgbClr val="5B3FC4"/>
            </a:solidFill>
            <a:prstDash val="solid"/>
          </a:ln>
        </p:spPr>
      </p:sp>
      <p:sp>
        <p:nvSpPr>
          <p:cNvPr id="39" name="[p3] Forma"/>
          <p:cNvSpPr/>
          <p:nvPr/>
        </p:nvSpPr>
        <p:spPr>
          <a:xfrm>
            <a:off x="772668" y="4894783"/>
            <a:ext cx="512064" cy="512064"/>
          </a:xfrm>
          <a:prstGeom prst="ellipse">
            <a:avLst/>
          </a:prstGeom>
          <a:solidFill>
            <a:srgbClr val="F1EEFD"/>
          </a:solidFill>
          <a:ln w="12700">
            <a:solidFill>
              <a:srgbClr val="F1EEFD"/>
            </a:solidFill>
            <a:prstDash val="solid"/>
          </a:ln>
        </p:spPr>
      </p:sp>
      <p:sp>
        <p:nvSpPr>
          <p:cNvPr id="40" name="[p3] Icono waypoints"/>
          <p:cNvSpPr/>
          <p:nvPr/>
        </p:nvSpPr>
        <p:spPr>
          <a:xfrm>
            <a:off x="895563" y="5017679"/>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Un identificador que cruce sistemas</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300" dirty="0">
                <a:solidFill>
                  <a:srgbClr val="0B1A3C"/>
                </a:solidFill>
                <a:latin typeface="Segoe UI" pitchFamily="34" charset="0"/>
                <a:ea typeface="Segoe UI" pitchFamily="34" charset="-122"/>
                <a:cs typeface="Segoe UI" pitchFamily="34" charset="-120"/>
              </a:rPr>
              <a:t>El mismo número en el log de la aplicación, del procedimiento y del otro sistema</a:t>
            </a:r>
            <a:endParaRPr lang="en-US" sz="13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Horas buscando un error entre sistemas</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0A6648"/>
          </a:solidFill>
          <a:ln w="12700">
            <a:solidFill>
              <a:srgbClr val="0A6648"/>
            </a:solidFill>
            <a:prstDash val="solid"/>
          </a:ln>
        </p:spPr>
      </p:sp>
      <p:sp>
        <p:nvSpPr>
          <p:cNvPr id="48" name="[p4] Forma"/>
          <p:cNvSpPr/>
          <p:nvPr/>
        </p:nvSpPr>
        <p:spPr>
          <a:xfrm>
            <a:off x="772668" y="5734202"/>
            <a:ext cx="512064" cy="512064"/>
          </a:xfrm>
          <a:prstGeom prst="ellipse">
            <a:avLst/>
          </a:prstGeom>
          <a:solidFill>
            <a:srgbClr val="E1F1EA"/>
          </a:solidFill>
          <a:ln w="12700">
            <a:solidFill>
              <a:srgbClr val="E1F1EA"/>
            </a:solidFill>
            <a:prstDash val="solid"/>
          </a:ln>
        </p:spPr>
      </p:sp>
      <p:sp>
        <p:nvSpPr>
          <p:cNvPr id="49" name="[p4] Icono container"/>
          <p:cNvSpPr/>
          <p:nvPr/>
        </p:nvSpPr>
        <p:spPr>
          <a:xfrm>
            <a:off x="895563" y="5857098"/>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A6648"/>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El mismo paquete en todos los ambientes</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Contenedores para aplicaciones y bases de prueba</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clásico “en mi máquina funciona”</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nos llevamos</a:t>
            </a:r>
            <a:endParaRPr lang="en-US" sz="2800" dirty="0"/>
          </a:p>
        </p:txBody>
      </p:sp>
      <p:sp>
        <p:nvSpPr>
          <p:cNvPr id="5" name="Shape 3"/>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6" name="Shape 4"/>
          <p:cNvSpPr/>
          <p:nvPr/>
        </p:nvSpPr>
        <p:spPr>
          <a:xfrm>
            <a:off x="886968" y="1645920"/>
            <a:ext cx="713232" cy="713232"/>
          </a:xfrm>
          <a:prstGeom prst="ellipse">
            <a:avLst/>
          </a:prstGeom>
          <a:solidFill>
            <a:srgbClr val="2BA6CB"/>
          </a:solidFill>
          <a:ln w="12700">
            <a:solidFill>
              <a:srgbClr val="2BA6CB"/>
            </a:solidFill>
            <a:prstDash val="solid"/>
          </a:ln>
        </p:spPr>
      </p:sp>
      <p:sp>
        <p:nvSpPr>
          <p:cNvPr id="7" name="Icono graduation-cap"/>
          <p:cNvSpPr/>
          <p:nvPr/>
        </p:nvSpPr>
        <p:spPr>
          <a:xfrm>
            <a:off x="1058144" y="1817096"/>
            <a:ext cx="370881" cy="370881"/>
          </a:xfrm>
          <a:custGeom>
            <a:avLst/>
            <a:gdLst/>
            <a:ahLst/>
            <a:cxnLst/>
            <a:rect l="l" t="t" r="r" b="b"/>
            <a:pathLst>
              <a:path w="370881" h="370881">
                <a:moveTo>
                  <a:pt x="331011" y="168782"/>
                </a:moveTo>
                <a:cubicBezTo>
                  <a:pt x="336666" y="166287"/>
                  <a:pt x="340290" y="160663"/>
                  <a:pt x="340226" y="154483"/>
                </a:cubicBezTo>
                <a:cubicBezTo>
                  <a:pt x="340162" y="148303"/>
                  <a:pt x="336422" y="142755"/>
                  <a:pt x="330717" y="140378"/>
                </a:cubicBezTo>
                <a:lnTo>
                  <a:pt x="198267" y="80048"/>
                </a:lnTo>
                <a:cubicBezTo>
                  <a:pt x="190120" y="76332"/>
                  <a:pt x="180761" y="76332"/>
                  <a:pt x="172614" y="80048"/>
                </a:cubicBezTo>
                <a:lnTo>
                  <a:pt x="40179" y="140317"/>
                </a:lnTo>
                <a:cubicBezTo>
                  <a:pt x="34557" y="142779"/>
                  <a:pt x="30925" y="148334"/>
                  <a:pt x="30925" y="154472"/>
                </a:cubicBezTo>
                <a:cubicBezTo>
                  <a:pt x="30925" y="160609"/>
                  <a:pt x="34557" y="166165"/>
                  <a:pt x="40179" y="168627"/>
                </a:cubicBezTo>
                <a:lnTo>
                  <a:pt x="172614" y="229019"/>
                </a:lnTo>
                <a:cubicBezTo>
                  <a:pt x="180761" y="232735"/>
                  <a:pt x="190120" y="232735"/>
                  <a:pt x="198267" y="229019"/>
                </a:cubicBezTo>
                <a:close/>
                <a:moveTo>
                  <a:pt x="339974" y="154534"/>
                </a:moveTo>
                <a:lnTo>
                  <a:pt x="339974" y="247254"/>
                </a:lnTo>
                <a:moveTo>
                  <a:pt x="92720" y="193167"/>
                </a:moveTo>
                <a:lnTo>
                  <a:pt x="92720" y="247254"/>
                </a:lnTo>
                <a:cubicBezTo>
                  <a:pt x="92720" y="272858"/>
                  <a:pt x="134232" y="293614"/>
                  <a:pt x="185440" y="293614"/>
                </a:cubicBezTo>
                <a:cubicBezTo>
                  <a:pt x="236648" y="293614"/>
                  <a:pt x="278160" y="272858"/>
                  <a:pt x="278160" y="247254"/>
                </a:cubicBezTo>
                <a:lnTo>
                  <a:pt x="278160" y="193167"/>
                </a:lnTo>
              </a:path>
            </a:pathLst>
          </a:custGeom>
          <a:noFill/>
          <a:ln w="30907" cap="rnd">
            <a:solidFill>
              <a:srgbClr val="0B1F3A"/>
            </a:solidFill>
            <a:prstDash val="solid"/>
            <a:round/>
          </a:ln>
        </p:spPr>
      </p:sp>
      <p:sp>
        <p:nvSpPr>
          <p:cNvPr id="8" name="Text 6"/>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9" name="Text 7"/>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0" name="Text 8"/>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 o duplicados</a:t>
            </a:r>
            <a:endParaRPr lang="en-US" sz="1300" dirty="0"/>
          </a:p>
        </p:txBody>
      </p:sp>
      <p:sp>
        <p:nvSpPr>
          <p:cNvPr id="11" name="Shape 9"/>
          <p:cNvSpPr/>
          <p:nvPr/>
        </p:nvSpPr>
        <p:spPr>
          <a:xfrm>
            <a:off x="886968" y="4489704"/>
            <a:ext cx="2423160" cy="0"/>
          </a:xfrm>
          <a:prstGeom prst="line">
            <a:avLst/>
          </a:prstGeom>
          <a:noFill/>
          <a:ln w="9525">
            <a:solidFill>
              <a:srgbClr val="3C4C61"/>
            </a:solidFill>
            <a:prstDash val="solid"/>
          </a:ln>
        </p:spPr>
      </p:sp>
      <p:sp>
        <p:nvSpPr>
          <p:cNvPr id="12" name="Text 10"/>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3" name="Text 11"/>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4"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5"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16"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17"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18"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Guardar primero, reintentar e ignorar duplicados.</a:t>
            </a:r>
            <a:endParaRPr lang="en-US" sz="1300" dirty="0"/>
          </a:p>
        </p:txBody>
      </p:sp>
      <p:sp>
        <p:nvSpPr>
          <p:cNvPr id="19"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0"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1"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2"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Sistemas que se recuperan solos.</a:t>
            </a:r>
            <a:endParaRPr lang="en-US" sz="1350" dirty="0"/>
          </a:p>
        </p:txBody>
      </p:sp>
      <p:sp>
        <p:nvSpPr>
          <p:cNvPr id="23"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4"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25" name="[p2] Icono workflow"/>
          <p:cNvSpPr/>
          <p:nvPr/>
        </p:nvSpPr>
        <p:spPr>
          <a:xfrm>
            <a:off x="4258544" y="3677900"/>
            <a:ext cx="370881" cy="370881"/>
          </a:xfrm>
          <a:custGeom>
            <a:avLst/>
            <a:gdLst/>
            <a:ahLst/>
            <a:cxnLst/>
            <a:rect l="l" t="t" r="r" b="b"/>
            <a:pathLst>
              <a:path w="370881" h="370881">
                <a:moveTo>
                  <a:pt x="77267" y="46360"/>
                </a:moveTo>
                <a:lnTo>
                  <a:pt x="139080" y="46360"/>
                </a:lnTo>
                <a:cubicBezTo>
                  <a:pt x="156150" y="46360"/>
                  <a:pt x="169987" y="60197"/>
                  <a:pt x="169987" y="77267"/>
                </a:cubicBezTo>
                <a:lnTo>
                  <a:pt x="169987" y="139080"/>
                </a:lnTo>
                <a:cubicBezTo>
                  <a:pt x="169987" y="156150"/>
                  <a:pt x="156150" y="169987"/>
                  <a:pt x="139080" y="169987"/>
                </a:cubicBezTo>
                <a:lnTo>
                  <a:pt x="77267" y="169987"/>
                </a:lnTo>
                <a:cubicBezTo>
                  <a:pt x="60197" y="169987"/>
                  <a:pt x="46360" y="156150"/>
                  <a:pt x="46360" y="139080"/>
                </a:cubicBezTo>
                <a:lnTo>
                  <a:pt x="46360" y="77267"/>
                </a:lnTo>
                <a:cubicBezTo>
                  <a:pt x="46360" y="60197"/>
                  <a:pt x="60197" y="46360"/>
                  <a:pt x="77267" y="46360"/>
                </a:cubicBezTo>
                <a:close/>
                <a:moveTo>
                  <a:pt x="108174" y="169987"/>
                </a:moveTo>
                <a:lnTo>
                  <a:pt x="108174" y="231800"/>
                </a:lnTo>
                <a:cubicBezTo>
                  <a:pt x="108174" y="248870"/>
                  <a:pt x="122011" y="262707"/>
                  <a:pt x="139080" y="262707"/>
                </a:cubicBezTo>
                <a:lnTo>
                  <a:pt x="200894" y="262707"/>
                </a:lnTo>
                <a:moveTo>
                  <a:pt x="231800" y="200894"/>
                </a:moveTo>
                <a:lnTo>
                  <a:pt x="293614" y="200894"/>
                </a:lnTo>
                <a:cubicBezTo>
                  <a:pt x="310683" y="200894"/>
                  <a:pt x="324521" y="214731"/>
                  <a:pt x="324521" y="231800"/>
                </a:cubicBezTo>
                <a:lnTo>
                  <a:pt x="324521" y="293614"/>
                </a:lnTo>
                <a:cubicBezTo>
                  <a:pt x="324521" y="310683"/>
                  <a:pt x="310683" y="324521"/>
                  <a:pt x="293614" y="324521"/>
                </a:cubicBezTo>
                <a:lnTo>
                  <a:pt x="231800" y="324521"/>
                </a:lnTo>
                <a:cubicBezTo>
                  <a:pt x="214731" y="324521"/>
                  <a:pt x="200894" y="310683"/>
                  <a:pt x="200894" y="293614"/>
                </a:cubicBezTo>
                <a:lnTo>
                  <a:pt x="200894" y="231800"/>
                </a:lnTo>
                <a:cubicBezTo>
                  <a:pt x="200894" y="214731"/>
                  <a:pt x="214731" y="200894"/>
                  <a:pt x="231800" y="200894"/>
                </a:cubicBezTo>
                <a:close/>
              </a:path>
            </a:pathLst>
          </a:custGeom>
          <a:noFill/>
          <a:ln w="30907" cap="rnd">
            <a:solidFill>
              <a:srgbClr val="0B2350"/>
            </a:solidFill>
            <a:prstDash val="solid"/>
            <a:round/>
          </a:ln>
        </p:spPr>
      </p:sp>
      <p:sp>
        <p:nvSpPr>
          <p:cNvPr id="26"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Automatizar la confianza</a:t>
            </a:r>
            <a:endParaRPr lang="en-US" sz="1700" dirty="0"/>
          </a:p>
        </p:txBody>
      </p:sp>
      <p:sp>
        <p:nvSpPr>
          <p:cNvPr id="27"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Pruebas, pipeline, imágenes y estado declarado.</a:t>
            </a:r>
            <a:endParaRPr lang="en-US" sz="1300" dirty="0"/>
          </a:p>
        </p:txBody>
      </p:sp>
      <p:sp>
        <p:nvSpPr>
          <p:cNvPr id="28"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29"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0"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1"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rápido sin miedo a romper.</a:t>
            </a:r>
            <a:endParaRPr lang="en-US" sz="1350" dirty="0"/>
          </a:p>
        </p:txBody>
      </p:sp>
      <p:sp>
        <p:nvSpPr>
          <p:cNvPr id="32"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34" name="[p3] Icono eye"/>
          <p:cNvSpPr/>
          <p:nvPr/>
        </p:nvSpPr>
        <p:spPr>
          <a:xfrm>
            <a:off x="4258544" y="540002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5"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el sistema</a:t>
            </a:r>
            <a:endParaRPr lang="en-US" sz="1700" dirty="0"/>
          </a:p>
        </p:txBody>
      </p:sp>
      <p:sp>
        <p:nvSpPr>
          <p:cNvPr id="36"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Logs, trazas, salud, Swagger y la UI.</a:t>
            </a:r>
            <a:endParaRPr lang="en-US" sz="1300" dirty="0"/>
          </a:p>
        </p:txBody>
      </p:sp>
      <p:sp>
        <p:nvSpPr>
          <p:cNvPr id="37"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38"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9"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0"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y explicar en minutos.</a:t>
            </a:r>
            <a:endParaRPr lang="en-US" sz="135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4"/>
                                        </p:tgtEl>
                                        <p:attrNameLst>
                                          <p:attrName>style.visibility</p:attrName>
                                        </p:attrNameLst>
                                      </p:cBhvr>
                                      <p:to>
                                        <p:strVal val="visible"/>
                                      </p:to>
                                    </p:set>
                                    <p:animEffect transition="in" filter="fade">
                                      <p:cBhvr>
                                        <p:cTn id="5" dur="400"/>
                                        <p:tgtEl>
                                          <p:spTgt spid="1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5"/>
                                        </p:tgtEl>
                                        <p:attrNameLst>
                                          <p:attrName>style.visibility</p:attrName>
                                        </p:attrNameLst>
                                      </p:cBhvr>
                                      <p:to>
                                        <p:strVal val="visible"/>
                                      </p:to>
                                    </p:set>
                                    <p:animEffect transition="in" filter="fade">
                                      <p:cBhvr>
                                        <p:cTn id="8" dur="400"/>
                                        <p:tgtEl>
                                          <p:spTgt spid="1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00"/>
                                        <p:tgtEl>
                                          <p:spTgt spid="1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400"/>
                                        <p:tgtEl>
                                          <p:spTgt spid="1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400"/>
                                        <p:tgtEl>
                                          <p:spTgt spid="1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00"/>
                                        <p:tgtEl>
                                          <p:spTgt spid="2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400"/>
                                        <p:tgtEl>
                                          <p:spTgt spid="2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00"/>
                                        <p:tgtEl>
                                          <p:spTgt spid="2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400"/>
                                        <p:tgtEl>
                                          <p:spTgt spid="31"/>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400"/>
                                        <p:tgtEl>
                                          <p:spTgt spid="3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00"/>
                                        <p:tgtEl>
                                          <p:spTgt spid="3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400"/>
                                        <p:tgtEl>
                                          <p:spTgt spid="3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400"/>
                                        <p:tgtEl>
                                          <p:spTgt spid="3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400"/>
                                        <p:tgtEl>
                                          <p:spTgt spid="3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8"/>
                                        </p:tgtEl>
                                        <p:attrNameLst>
                                          <p:attrName>style.visibility</p:attrName>
                                        </p:attrNameLst>
                                      </p:cBhvr>
                                      <p:to>
                                        <p:strVal val="visible"/>
                                      </p:to>
                                    </p:set>
                                    <p:animEffect transition="in" filter="fade">
                                      <p:cBhvr>
                                        <p:cTn id="81" dur="400"/>
                                        <p:tgtEl>
                                          <p:spTgt spid="3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400"/>
                                        <p:tgtEl>
                                          <p:spTgt spid="3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fade">
                                      <p:cBhvr>
                                        <p:cTn id="8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parkles"/>
          <p:cNvSpPr/>
          <p:nvPr/>
        </p:nvSpPr>
        <p:spPr>
          <a:xfrm>
            <a:off x="8430768" y="2871216"/>
            <a:ext cx="603504" cy="603504"/>
          </a:xfrm>
          <a:custGeom>
            <a:avLst/>
            <a:gdLst/>
            <a:ahLst/>
            <a:cxnLst/>
            <a:rect l="l" t="t" r="r" b="b"/>
            <a:pathLst>
              <a:path w="603504" h="603504">
                <a:moveTo>
                  <a:pt x="249876" y="389763"/>
                </a:moveTo>
                <a:cubicBezTo>
                  <a:pt x="245304" y="372040"/>
                  <a:pt x="231464" y="358200"/>
                  <a:pt x="213741" y="353628"/>
                </a:cubicBezTo>
                <a:lnTo>
                  <a:pt x="59470" y="313847"/>
                </a:lnTo>
                <a:cubicBezTo>
                  <a:pt x="54062" y="312312"/>
                  <a:pt x="50330" y="307374"/>
                  <a:pt x="50330" y="301752"/>
                </a:cubicBezTo>
                <a:cubicBezTo>
                  <a:pt x="50330" y="296130"/>
                  <a:pt x="54062" y="291192"/>
                  <a:pt x="59470" y="289657"/>
                </a:cubicBezTo>
                <a:lnTo>
                  <a:pt x="213741" y="249851"/>
                </a:lnTo>
                <a:cubicBezTo>
                  <a:pt x="231457" y="245283"/>
                  <a:pt x="245296" y="231454"/>
                  <a:pt x="249876" y="213741"/>
                </a:cubicBezTo>
                <a:lnTo>
                  <a:pt x="289657" y="59470"/>
                </a:lnTo>
                <a:cubicBezTo>
                  <a:pt x="291176" y="54040"/>
                  <a:pt x="296126" y="50286"/>
                  <a:pt x="301765" y="50286"/>
                </a:cubicBezTo>
                <a:cubicBezTo>
                  <a:pt x="307403" y="50286"/>
                  <a:pt x="312353" y="54040"/>
                  <a:pt x="313872" y="59470"/>
                </a:cubicBezTo>
                <a:lnTo>
                  <a:pt x="353628" y="213741"/>
                </a:lnTo>
                <a:cubicBezTo>
                  <a:pt x="358200" y="231464"/>
                  <a:pt x="372040" y="245304"/>
                  <a:pt x="389763" y="249876"/>
                </a:cubicBezTo>
                <a:lnTo>
                  <a:pt x="544034" y="289632"/>
                </a:lnTo>
                <a:cubicBezTo>
                  <a:pt x="549486" y="291136"/>
                  <a:pt x="553264" y="296096"/>
                  <a:pt x="553264" y="301752"/>
                </a:cubicBezTo>
                <a:cubicBezTo>
                  <a:pt x="553264" y="307408"/>
                  <a:pt x="549486" y="312368"/>
                  <a:pt x="544034" y="313872"/>
                </a:cubicBezTo>
                <a:lnTo>
                  <a:pt x="389763" y="353628"/>
                </a:lnTo>
                <a:cubicBezTo>
                  <a:pt x="372040" y="358200"/>
                  <a:pt x="358200" y="372040"/>
                  <a:pt x="353628" y="389763"/>
                </a:cubicBezTo>
                <a:lnTo>
                  <a:pt x="313847" y="544034"/>
                </a:lnTo>
                <a:cubicBezTo>
                  <a:pt x="312328" y="549464"/>
                  <a:pt x="307378" y="553218"/>
                  <a:pt x="301739" y="553218"/>
                </a:cubicBezTo>
                <a:cubicBezTo>
                  <a:pt x="296101" y="553218"/>
                  <a:pt x="291151" y="549464"/>
                  <a:pt x="289632" y="544034"/>
                </a:cubicBezTo>
                <a:close/>
                <a:moveTo>
                  <a:pt x="502920" y="75438"/>
                </a:moveTo>
                <a:lnTo>
                  <a:pt x="502920" y="176022"/>
                </a:lnTo>
                <a:moveTo>
                  <a:pt x="553212" y="125730"/>
                </a:moveTo>
                <a:lnTo>
                  <a:pt x="452628" y="125730"/>
                </a:lnTo>
                <a:moveTo>
                  <a:pt x="100584" y="427482"/>
                </a:moveTo>
                <a:lnTo>
                  <a:pt x="100584" y="477774"/>
                </a:lnTo>
                <a:moveTo>
                  <a:pt x="125730" y="452628"/>
                </a:moveTo>
                <a:lnTo>
                  <a:pt x="75438" y="452628"/>
                </a:lnTo>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¿Preguntas?</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2011680"/>
            <a:ext cx="5486400" cy="1280160"/>
          </a:xfrm>
          <a:prstGeom prst="rect">
            <a:avLst/>
          </a:prstGeom>
          <a:noFill/>
          <a:ln/>
        </p:spPr>
        <p:txBody>
          <a:bodyPr wrap="square" lIns="0" tIns="0" rIns="0" bIns="0" rtlCol="0" anchor="ctr"/>
          <a:lstStyle/>
          <a:p>
            <a:pPr indent="0" marL="0">
              <a:buNone/>
            </a:pPr>
            <a:r>
              <a:rPr lang="en-US" sz="7200" b="1" dirty="0">
                <a:solidFill>
                  <a:srgbClr val="FFFFFF"/>
                </a:solidFill>
                <a:latin typeface="Segoe UI Semibold" pitchFamily="34" charset="0"/>
                <a:ea typeface="Segoe UI Semibold" pitchFamily="34" charset="-122"/>
                <a:cs typeface="Segoe UI Semibold" pitchFamily="34" charset="-120"/>
              </a:rPr>
              <a:t>Gracias</a:t>
            </a:r>
            <a:endParaRPr lang="en-US" sz="7200" dirty="0"/>
          </a:p>
        </p:txBody>
      </p:sp>
      <p:sp>
        <p:nvSpPr>
          <p:cNvPr id="49" name="Shape 47"/>
          <p:cNvSpPr/>
          <p:nvPr/>
        </p:nvSpPr>
        <p:spPr>
          <a:xfrm>
            <a:off x="758952" y="3429000"/>
            <a:ext cx="822960" cy="54864"/>
          </a:xfrm>
          <a:prstGeom prst="rect">
            <a:avLst/>
          </a:prstGeom>
          <a:solidFill>
            <a:srgbClr val="2BA6CB"/>
          </a:solidFill>
          <a:ln w="12700">
            <a:solidFill>
              <a:srgbClr val="2BA6CB"/>
            </a:solidFill>
            <a:prstDash val="solid"/>
          </a:ln>
        </p:spPr>
      </p:sp>
      <p:sp>
        <p:nvSpPr>
          <p:cNvPr id="50" name="Text 48"/>
          <p:cNvSpPr/>
          <p:nvPr/>
        </p:nvSpPr>
        <p:spPr>
          <a:xfrm>
            <a:off x="758952" y="3657600"/>
            <a:ext cx="5120640" cy="1280160"/>
          </a:xfrm>
          <a:prstGeom prst="rect">
            <a:avLst/>
          </a:prstGeom>
          <a:noFill/>
          <a:ln/>
        </p:spPr>
        <p:txBody>
          <a:bodyPr wrap="square" lIns="0" tIns="0" rIns="0" bIns="0" rtlCol="0" anchor="t"/>
          <a:lstStyle/>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Equipo arka-litos</a:t>
            </a:r>
            <a:endParaRPr lang="en-US" sz="2000" dirty="0"/>
          </a:p>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Proyecto final · Upskilling Backend Java</a:t>
            </a:r>
            <a:endParaRPr lang="en-US" sz="2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ARKA-Lite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ARKA-Lite · Recorrido técnico</dc:title>
  <dc:subject>Proyecto final de Upskilling Backend Java</dc:subject>
  <dc:creator>Upskilling Backend Java</dc:creator>
  <cp:lastModifiedBy>Upskilling Backend Java</cp:lastModifiedBy>
  <cp:revision>1</cp:revision>
  <dcterms:created xsi:type="dcterms:W3CDTF">2026-10-29T09:58:04Z</dcterms:created>
  <dcterms:modified xsi:type="dcterms:W3CDTF">2026-10-29T09:58:04Z</dcterms:modified>
</cp:coreProperties>
</file>