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PRESENTA: Desarrollo 1 · orquesta
LO QUE SE LLEVA EL STAFF
En 40 minutos, prácticas que pueden aplicar en sus propios sistemas, no solo teoría.
QUÉ DECIR (▶ CLIC = hacer clic)
“Buenos días a todos. Somos el equipo arka-litos, del curso Upskilling Backend Java, y hoy les presentamos ARKA-Lite, nuestro proyecto final.”
“Somos un equipo de tres áreas, las mismas que tienen ustedes: desarrollo, base de datos e infraestructura, y cada parte la presenta quien la construyó. A mí, que vengo de desarrollo y conozco el negocio de punta a punta, me toca abrir, conectar las partes y cerrar.”
“El título lo resume: empezamos escribiendo un endpoint, una sola operación en Java, y terminamos con un sistema completo corriendo en un clúster de Kubernetes, con sus bases de datos, su pipeline y su monitoreo.”
“El equipo anterior ya les explicó los fundamentos y la arquitectura. Nosotros les vamos a contar el proyecto desde la práctica, con diagramas y una demostración en vivo, y nos vamos a enfocar en lo que les puede servir en su día a día: cómo se cuidan los datos, cómo se hablan los sistemas y cómo se despliega y se opera todo.”
QUÉ HACER (no se dice)
• Antes de empezar, abrir la UI (http://localhost:8088, o el puerto 8088 del Codespace) y comprobar que los dos servicios aparecen en verde. Guía del Codespace: docs/operaciones/codespaces.md.
• Tener abiertas en otras pestañas Grafana (http://localhost:3000) y la carpeta k8s/ del repositorio, por si preguntan.
• Cada diagrama se arma con clics: en el texto, ▶ CLIC marca el momento de hacer clic.
SI HAY TIEMPO, SE PUEDE AGREGAR
“ARKA-Lite nació como el laboratorio del curso: cada tema que veíamos lo aplicábamos al mismo sistema. Por eso creció por capas: primero un endpoint, después la base de datos, la comunicación entre servicios, los contenedores, el pipeline y la observabilidad.”
“Todo lo que van a ver está en un solo repositorio, con su documentación, y se levanta con un solo comando. Si a alguien le interesa revisarlo después, con gusto se lo compartimos.”
“Trabajamos como trabajaría un equipo real: cada cambio en una rama, revisado por otra persona y probado por el pipeline antes de entrar. Mezclar áreas nos obligó a ponernos de acuerdo en contratos claros: qué expone cada servicio, qué guarda cada base y cómo se despliega cada pieza.”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PRESENTA: Desarrollo 1 · orquesta
LO QUE SE LLEVA EL STAFF
Saber desde el inicio dónde vamos a profundizar y qué se van a llevar.
QUÉ DECIR (▶ CLIC = hacer clic)
“Todos los equipos presentamos las mismas secciones, pero cada uno profundiza en algunas para no repetirnos. El equipo anterior se enfocó en los fundamentos y en la arquitectura hexagonal, así que esas dos partes las vamos a ver rápido, en vista general.”
“▶ CLIC Donde vamos a fondo es en tres temas que tocan directo el trabajo de ustedes: la base de datos, cómo se comunican los servicios sin perder información, y DevOps, con Docker, Kubernetes y el pipeline. ▶ CLIC Después, una mirada general a la observabilidad, ▶ CLIC y cerramos con una demostración en vivo: vamos a tumbar un servicio a propósito para que vean cómo se comporta el sistema.”
“Al final de cada parte les dejamos lo que aprendimos y cómo se puede aplicar en cualquier proyecto, también en los que usan procedimientos almacenados.”
SI HAY TIEMPO, SE PUEDE AGREGAR
“Las partes generales son cortas a propósito: el equipo anterior ya las explicó. El tiempo lo dedicamos a lo que más valor les deja: los datos, la comunicación entre sistemas y la operación.”
“Al final juntamos lo que pueden aplicar desde mañana, aunque sus sistemas usen procedimientos almacenados.”
PARA PASAR
“Empecemos por los fundamentos, y por lo primero: el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Pensar primero en el qué y después en el cómo: las reglas claras hacen el código simple.
QUÉ DECIR (▶ CLIC = hacer clic)
“Antes de entrar a la tecnología, el aprendizaje más importante de los fundamentos: primero pensamos en el qué y después en el cómo. ¿Qué tiene que pasar, quién lo hace y qué no se puede permitir? Este es el negocio, en una lámina. Alguien registra una solicitud, por ejemplo una incidencia o un pedido de cambio: qué necesita y de qué tipo.”
“▶ CLIC Cuando está lista, la envía. ▶ CLIC En ese momento, el sistema le avisa a quien debe atenderla. ▶ CLIC Y esa persona la aprueba o la rechaza: es la decisión final.”
“▶ CLIC Igual de importante es lo que no se permite: enviar dos veces la misma solicitud, o aprobar una que todavía nadie ha enviado. El sistema no lo hace y explica por qué. Esas son las reglas del negocio, y con ellas claras, el código salió simple: un servicio para las solicitudes y otro para los avisos.”
SI HAY TIEMPO, SE PUEDE AGREGAR
“Antes de escribir una línea de código nos hicimos tres preguntas: qué tiene que pasar, quién hace cada paso y qué no se puede permitir. Las respuestas se volvieron las reglas del sistema.”
“Por dentro, esos pasos son cuatro estados: borrador, enviada, aprobada y rechazada. La base de datos también los cuida: la columna estado solo acepta esos cuatro valores.”
“Al arrancar, el sistema siempre registra dos solicitudes de ejemplo: INC-001, una incidencia en borrador, y CAM-002, un cambio que se envía. El pipeline usa CAM-002 para comprobar que el servicio arrancó de verdad.”
SI PREGUNTAN
¿Por qué los avisos van en otro servicio?
RESPUESTA CORTA
Porque cambian por motivos distintos, y así el trámite sigue funcionando aunque el servicio de avisos esté caído.
PARA PASAR
“Con el qué claro, el cómo: código que se pueda cambiar sin miedo.”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Cuando cambia una regla, se toca un solo lugar y una prueba confirma que nada se rompió.
QUÉ DECIR (▶ CLIC = hacer clic)
“Con el qué claro, viene el cómo. El equipo anterior ya cubrió los fundamentos, así que nos quedamos con seis prácticas que nos sirvieron y que se pueden usar en cualquier lenguaje, sea Java, C#, Python o PL/SQL. Primera: cada pieza hace una sola tarea; la que recibe la petición no decide, y la que decide no guarda.”
“▶ CLIC Segunda: las piezas se conectan desde afuera, así se pueden cambiar o probar por separado. ▶ CLIC Tercera: las reglas del negocio viven en un solo lugar, no repetidas en la pantalla y en la base. ▶ CLIC Cuarta: los errores responden siempre igual: un 400 si faltan datos, un 404 si algo no existe, un 409 si la regla no lo permite.”
“▶ CLIC Quinta: los nombres son los del negocio, así el código se lee como el proceso. ▶ CLIC Y sexta: cada regla tiene una prueba automática que avisa si un cambio rompió algo. El resultado: cuando cambia una regla, se toca un solo lugar.”
SI HAY TIEMPO, SE PUEDE AGREGAR
“Un ejemplo concreto: el controlador de solicitudes no decide nada; solo convierte el JSON y llama al servicio. Si mañana cambia la regla de envío, se toca la clase Solicitud y su prueba, nada más.”
“Lo de las piezas que se conectan desde afuera tiene un nombre: inyección de dependencias. En ARKA-Lite todo llega por el constructor, y por eso en las pruebas cambiamos la base real por una en memoria sin tocar el negocio.”
SI PREGUNTAN
¿Esto no hace el código más largo?
RESPUESTA CORTA
Un poco más de piezas, pero cada una es corta y se entiende sola. El costo se recupera en el primer cambio.
PARA PASAR
“Y como somos varios trabajando sobre el mismo código, también necesitamos orden.”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Nada llega a la rama principal sin revisión, pruebas y documentación.
QUÉ DECIR (▶ CLIC = hacer clic)
“Muy rápido, cómo trabajamos en equipo. Cada tarea se hace en una rama corta, y cada commit dice qué cambió: una funcionalidad, una prueba, la documentación.”
“▶ CLIC El cambio entra a la rama principal solo por un Pull Request: otra persona lo revisa, las pruebas tienen que pasar y la documentación se actualiza en ese mismo cambio. La documentación de la API, además, la genera Swagger desde el código, así que nunca queda vieja.”
SI HAY TIEMPO, SE PUEDE AGREGAR
“Usamos un formato común para los mensajes de commit: el tipo, dos puntos y qué hace el cambio, por ejemplo: fix: impedir el envío de una solicitud aprobada. Con eso, el historial se lee como una bitácora.”
“Nadie sube directo a main, ni siquiera quien orquesta. Eso nos protegió más de una vez de romper algo que otro compañero estaba usando.”
PARA PASAR
“Esto es lo que nos llevamos de los fundamentos.”
PARA LEER MÁS
docs/desarrollo/git.md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Cuatro hábitos que bajan el costo de mantener cualquier sistema.
QUÉ DECIR (▶ CLIC = hacer clic)
“Lo que nos llevamos a cualquier proyecto. ▶ CLIC Primero el qué, después el cómo: con las reglas del negocio claras, la tecnología se elige mejor y el código sale más simple. ▶ CLIC Separar responsabilidades se paga desde el primer cambio.”
“▶ CLIC Las reglas no deben depender de la herramienta: si mañana cambia la base o el framework, las reglas siguen iguales. ▶ CLIC Y ningún cambio entra sin revisión, pruebas y documentación.”
SI HAY TIEMPO, SE PUEDE AGREGAR
“Si tuviéramos que elegir una sola práctica para empezar en un sistema existente, sería poner las reglas del negocio en un solo lugar con su prueba. Es la que más rápido devuelve la inversión.”
PARA PASAR
“Con esa base, veamos el sistema completo desde arriba.”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Cada capa se puede cambiar sin romper las otras.
QUÉ DECIR (▶ CLIC = hacer clic)
“Gracias. ARKA-Lite no es una aplicación grande: son piezas pequeñas, cada una con una responsabilidad. Arriba está la experiencia: la persona usa la interfaz, y la interfaz no guarda nada, solo les pasa las peticiones a los servicios.”
“▶ CLIC En el medio, los dos microservicios: solicitudes lleva el trámite y sus estados; notificaciones crea los avisos. ▶ CLIC Debajo, cada uno con su propia base PostgreSQL; ninguno lee la base del otro. ▶ CLIC Y abajo, la plataforma: dónde corre, cómo se prueba cada cambio y dónde se ven los logs.”
SI HAY TIEMPO, SE PUEDE AGREGAR
“La interfaz es delgada a propósito: no guarda nada ni toma decisiones. Si mañana se cambia por otra, los servicios no se enteran.”
“La plataforma es la misma para los dos servicios: el mismo Compose, el mismo pipeline y el mismo lugar para los logs. Eso baja mucho el costo de tener dos servicios en lugar de uno.”
SI PREGUNTAN
¿Por qué no comparten una sola base de datos?
RESPUESTA CORTA
Para que cada servicio sea dueño de sus datos y pueda cambiar sin romper al otro.
PARA PASAR
“Ahora veamos cómo trabajan juntas esas piezas en la práctica.”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Los sistemas se comunican con mensajes claros, no compartiendo tablas.
QUÉ DECIR (▶ CLIC = hacer clic)
“Ahora, cómo trabajan juntas en la práctica. Sigamos los números. ▶ CLIC Uno: la persona usa la interfaz. ▶ CLIC Dos: cuando crea, envía o decide una solicitud, la interfaz se lo pide al servicio de solicitudes. ▶ CLIC Tres: solicitudes lo guarda en su propia base.”
“▶ CLIC Cuatro, el paso más importante: cuando una solicitud se envía, solicitudes le avisa a notificaciones. Fíjense en que esa flecha no es una pieza del sistema: es un dato que viaja, un mensaje pequeño con el número del evento, la solicitud y su tipo.”
“▶ CLIC Cinco: notificaciones crea el aviso y anota que ya recibió ese evento. ▶ CLIC Seis: la interfaz le consulta a notificaciones para mostrar los avisos.”
“▶ CLIC Y lo que no hay también dice mucho: ninguna flecha une las dos bases. Si un servicio necesita algo del otro, se lo pide; nunca entra a su base.”
SI HAY TIEMPO, SE PUEDE AGREGAR
“El mensaje que viaja entre servicios lleva solo tres datos: el número del evento, el identificador de la solicitud y su tipo. Mientras más pequeño el mensaje, más fácil es que los dos lados se pongan de acuerdo.”
“Ese contrato está copiado en los dos servicios. Si un día cambia, se cambia en los dos al mismo tiempo: es lo único que comparten.”
SI PREGUNTAN
¿Qué pasa si notificaciones está caído en el paso cuatro?
RESPUESTA CORTA
Solicitudes sigue funcionando y el aviso espera guardado. Lo vemos en la parte de interconexión y en la demostración.
PARA PASAR
“¿Y cómo está ordenado cada servicio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Cambiar la base o la forma de avisar sin tocar las reglas del negocio.
QUÉ DECIR (▶ CLIC = hacer clic)
“Como explicó el equipo anterior, la arquitectura hexagonal es una forma de ordenar el código por dentro. No cambia cómo se despliega: por fuera, cada servicio sigue siendo una aplicación en su contenedor. Al centro van las reglas del negocio y los contratos que necesitan, como guardar una solicitud o avisar que se envió.”
“▶ CLIC Por un lado entra la web. ▶ CLIC Por el otro salen la base de datos y las llamadas a otros servicios, conectadas como enchufes. Fíjense en la última: una versión en memoria que reemplaza a la base en las pruebas. Gracias a eso probamos todas las reglas sin levantar PostgreSQL.”
SI HAY TIEMPO, SE PUEDE AGREGAR
“En solicitudes hay tres contratos hacia afuera: guardar solicitudes, anotar eventos y publicarlos. Cada uno puede tener más de una implementación, y Spring usa la que está marcada como principal.”
“Dejamos a propósito implementaciones alternativas, por ejemplo un publicador simple sin reintentos, para mostrar que se puede cambiar una por otra sin tocar las reglas.”
SI PREGUNTAN
¿Esto se parece a llamar un procedimiento almacenado?
RESPUESTA CORTA
En que quien llama solo conoce el nombre y los parámetros, no cómo está hecho por dentro. La diferencia es que aquí el negocio define el contrato y la base se adapta a él.
PARA PASAR
“Esto es lo que nos dejó la arquitectura.”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Sistemas que cambian por separado, unidos por acuerdos claros.
QUÉ DECIR (▶ CLIC = hacer clic)
“Cuatro aprendizajes de arquitectura. ▶ CLIC Cada servicio es dueño de sus datos. ▶ CLIC Entre servicios no se comparten tablas, se comparten mensajes.”
“▶ CLIC Hexagonal ordena el código por dentro, pero no cambia el despliegue. ▶ CLIC Y separar en microservicios tiene un costo real, así que se hace cuando el negocio lo justifica, no por moda.”
SI HAY TIEMPO, SE PUEDE AGREGAR
“Lo más difícil de los microservicios no fue el código, fueron las fronteras: decidir qué dato es de quién. Una vez claro eso, lo demás se ordenó solo.”
PARA PASAR
“Y aquí empieza la parte en la que vamos a fondo: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Cada base cambia a su ritmo, sin coordinar despliegues con otros equipos.
QUÉ DECIR (▶ CLIC = hacer clic)
“Gracias. Como les contó mi compañero de arquitectura, el sistema tiene dos bases de datos, una para cada microservicio: db-solicitudes y db-notificaciones. ▶ CLIC Las dos están montadas en PostgreSQL, versión diecisiete.”
“¿Por qué dos y no una? Porque cada servicio es dueño de sus datos. Solicitudes guarda las solicitudes y los avisos que tiene pendientes; notificaciones guarda qué avisos ya recibió. Si mañana una cambia su estructura, la otra ni se entera.”
“▶ CLIC Eso tiene una consecuencia que para quienes trabajamos con bases de datos pesa mucho: no hay ningún JOIN entre las dos bases, ni llaves foráneas que crucen. Si un servicio necesita algo del otro, se lo pregunta por HTTP.”
“▶ CLIC Y cada base corre en su propio contenedor. En Kubernetes, además, tiene su disco persistente: los datos sobreviven aunque el contenedor se reinicie.”
SI HAY TIEMPO, SE PUEDE AGREGAR
“En nuestra computadora, la base de notificaciones se publica en el puerto 5433 para consultarla con cualquier herramienta; la de solicitudes solo se ve dentro de la red de Docker. Lo que no se publica, no se alcanza desde afuera.”
“En Kubernetes, cada base tiene su disco persistente: si el contenedor se reinicia, los datos siguen ahí. Solo se perderían si se borra el disco.”
SI PREGUNTAN
¿Y si necesito un reporte que junte datos de las dos?
RESPUESTA CORTA
Se arma fuera de los servicios, por ejemplo con una réplica o un proceso de reportes que lea de ambas. Lo que no se hace es que un servicio lea la base del otro.
SI PREGUNTAN
¿No es más difícil administrar dos bases?
RESPUESTA CORTA
Son dos bases pequeñas con una sola responsabilidad cada una. Se respaldan y se monitorean como cualquier PostgreSQL, y la caída de una no tumba a la otra.
PARA PASAR
“Veamos qué hay dentro de cada una.”
PARA LEER MÁS
docs/inicio/bases-de-datos-locales.md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Un modelo pequeño, con reglas que también cuida la base: CHECK, llaves e índices.
QUÉ DECIR (▶ CLIC = hacer clic)
“Veamos qué hay adentro. En la base de solicitudes, la tabla solicitud guarda el trámite: su identificador como llave primaria, el tipo y el estado. Y el estado tiene un CHECK que solo admite los cuatro valores válidos. Aunque alguien escriba directo en la tabla, la base no acepta un estado inventado.”
“▶ CLIC Al lado está la tabla evento, que funciona como bandeja de salida: cada fila es un aviso que hay que entregar. Tiene una llave foránea a la solicitud, un número único de evento, que es un UUID, y una columna procesado: mientras está en falso, el aviso sigue pendiente.”
“▶ CLIC En la base de notificaciones hay una sola tabla importante: evento_procesado, la lista de eventos que ya se recibieron. Su llave primaria es justamente ese número de evento.”
“▶ CLIC Y fíjense en la flecha: lo único que pasa de una base a la otra es el evento_id, y no viaja por la base, viaja por HTTP. Esa es la frontera entre los dos servicios.”
SI HAY TIEMPO, SE PUEDE AGREGAR
“La tabla evento tiene un índice parcial: solo indexa las filas pendientes. Como el relevador busca pendientes cada cinco segundos, el índice se mantiene pequeño aunque la tabla acumule años de eventos ya entregados.”
“Las tablas se crean con un archivo schema.sql que corre en cada arranque y se puede ejecutar mil veces sin romper nada. También actualiza bases viejas, agregando lo que les falte.”
SI PREGUNTAN
¿Dónde se guarda el texto de cada aviso?
RESPUESTA CORTA
En este proyecto, en la memoria del servicio de notificaciones; en la base solo queda qué eventos se procesaron. En producción sería una tabla más.
SI PREGUNTAN
¿Por qué un UUID y no un número secuencial?
RESPUESTA CORTA
Porque lo genera la aplicación sin consultar a la base y no se repite entre servicios. Así el mismo número sirve para reintentar sin duplicar.
PARA PASAR
“Ahora, la gran diferencia con muchas aplicaciones que manejamos hoy: dónde vive la regla del negocio.”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Reglas que se prueban en segundos y una base que sigue cuidando los datos.
QUÉ DECIR (▶ CLIC = hacer clic)
“Esta es la gran diferencia con muchas de las aplicaciones que gestionamos hoy, y no es la base de datos: es dónde vive la regla del negocio. Arriba, el enfoque que conocemos: la persona pulsa enviar, la aplicación solo pasa parámetros con un EXEC, y el procedimiento almacenado decide y guarda. La regla vive en la base.”
“▶ CLIC Abajo, ARKA-Lite: la regla vive en el servicio Java, junto con su prueba. Cuando decide que sí, Hibernate, que es el ORM, escribe el UPDATE y el INSERT. La base sigue guardando y cuidando llaves, restricciones e índices. Lo único que se movió es la decisión.”
SI HAY TIEMPO, SE PUEDE AGREGAR
“No estamos diciendo que los procedimientos estén mal: son la herramienta correcta para procesos masivos y reportes. Lo que cambia es dónde ponemos las reglas que más cambian y que más necesitamos probar.”
“Una ventaja que no se ve a primera vista: con la regla en el código, cada cambio pasa por revisión, pruebas automáticas y pipeline, igual que cualquier otra línea del sistema.”
SI PREGUNTAN
¿Y el rendimiento? ¿El SQL que genera Hibernate es bueno?
RESPUESTA CORTA
Para guardar y buscar por llave, sí. Para consultas complejas se puede escribir SQL propio; además, los índices y las restricciones siguen siendo trabajo de la base.
SI PREGUNTAN
¿Hay que migrar todos los procedimientos?
RESPUESTA CORTA
No. Se puede empezar por las reglas que más cambian; los reportes y los procesos masivos pueden seguir en la base.
PARA PASAR
“Mi compañero de desarrollo se los muestra con una regla real, escrita de las dos formas.”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La misma regla, más fácil de probar y de cambiar, sin que la base pierda su papel.
QUÉ DECIR (▶ CLIC = hacer clic)
“Gracias. Tomemos una regla real del negocio: solo se puede enviar una solicitud que está en borrador. A la izquierda, cómo la escribiríamos hoy: un procedimiento que consulta el estado, lanza un error si no está en borrador y hace el UPDATE. La regla y el dato viven juntos en la base, y para probarla hace falta una base con datos.”
“▶ CLIC A la derecha, la misma regla en ARKA-Lite: el método enviar de la clase Solicitud. Si el estado no es borrador, lanza un error; si lo es, devuelve la solicitud enviada. No hay SQL: el UPDATE lo escribe Hibernate cuando el servicio guarda, siempre con parámetros.”
“¿Qué ganamos? Esa regla se prueba en milisegundos, sin base de datos, y si cambia, se cambia en un solo lugar junto con su prueba. ¿Qué no perdemos? La base sigue cuidando lo suyo: la llave primaria, el CHECK de los estados y los índices.”
SI HAY TIEMPO, SE PUEDE AGREGAR
“La prueba de esa regla es así de simple: se crea una solicitud ya enviada, se intenta enviarla otra vez y se verifica que el sistema lo rechaza. Corre en milisegundos y no necesita ninguna base.”
“Para probar lo mismo en el procedimiento habría que preparar datos en una base, ejecutarlo y revisar el resultado. Funciona, pero es más lento y más difícil de repetir en cada cambio.”
SI PREGUNTAN
¿Y si la regla necesita consultar muchos datos?
RESPUESTA CORTA
Para decidir, el servicio pide solo lo que necesita por llave. Si es un cálculo sobre millones de filas, ese trabajo puede seguir en la base, como una consulta o un procedimiento bien delimitado.
PARA PASAR
“Ahora veamos cómo hace Hibernate esa traducción.”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El SQL de todos los días sale solo y siempre con parámetros: menos código y menos riesgo de inyección.
QUÉ DECIR (▶ CLIC = hacer clic)
“Esta es la traducción, lado a lado. A la izquierda, una clase Java: SolicitudEntity. Con la anotación arroba Entity le decimos a Hibernate que esta clase representa una tabla, y con arroba Table, cuál: la tabla solicitud. ▶ CLIC Cada campo de la clase corresponde a una columna, y arroba Id marca la llave primaria.”
“Con eso, Hibernate ya sabe todo. Abajo ven qué pasa cuando el código llama a un método. ▶ CLIC Guardar una solicitud nueva se convierte en un INSERT. ▶ CLIC Buscar por identificador, en un SELECT con su WHERE. ▶ CLIC Y guardar una que ya existe, por ejemplo cuando se envía, en un UPDATE.”
“Fíjense en los signos de interrogación: los valores viajan siempre como parámetros, nunca pegados al texto del SQL. Es lo mismo que hacemos con los parámetros de un procedimiento, y es lo que nos protege de la inyección SQL.”
“Nosotros no escribimos ninguna de esas consultas. Lo que sí cuidamos fue el diseño de las tablas, porque el ORM confía en que la base esté bien hecha.”
SI HAY TIEMPO, SE PUEDE AGREGAR
“El repositorio de Spring Data no tiene ni una consulta escrita: hereda de JpaRepository, y con eso ya trae guardar, buscar por llave, listar y borrar.”
“Cuando el código guarda una solicitud que ya existe, Hibernate primero la busca por su llave y después decide si hace un INSERT o un UPDATE. Por eso las llaves bien definidas importan: el ORM las usa todo el tiempo.”
SI PREGUNTAN
¿Se puede ver el SQL que genera?
RESPUESTA CORTA
Sí: con spring.jpa.show-sql=true se imprime en el log. Es lo primero que conviene activar para revisar el rendimiento.
SI PREGUNTAN
¿Y las consultas complejas?
RESPUESTA CORTA
Se pueden escribir a mano, en JPQL o en SQL nativo, con la anotación @Query. El ORM no lo impide.
PARA PASAR
“Ahora sigamos un dato completo, desde la pantalla hasta la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Cada pieza hace una sola traducción; si algo falla, se sabe en qué punto.
QUÉ DECIR (▶ CLIC = hacer clic)
“Ahora sigamos un dato de punta a punta. La persona llena el formulario y la pantalla manda un JSON: identificador SOL-100, tipo Consulta. ▶ CLIC El controlador recibe ese JSON y lo convierte en un objeto de Java.”
“▶ CLIC Ese objeto pasa por las reglas del negocio, que revisan, por ejemplo, que el identificador no exista. Hasta aquí no hay ni una línea de SQL. ▶ CLIC Cuando las reglas dicen que sí, Hibernate lo traduce a un INSERT con sus parámetros. ▶ CLIC El driver toma una conexión del pool, y PostgreSQL guarda la fila y confirma con un COMMIT.”
“Y de regreso, el mismo camino al revés: la fila se vuelve objeto, el objeto se vuelve JSON y la pantalla muestra la solicitud creada, con un 201.”
SI HAY TIEMPO, SE PUEDE AGREGAR
“Entre el controlador y la base hay dos objetos distintos a propósito: la Solicitud del negocio, que no sabe nada de tablas, y la SolicitudEntity, que es el reflejo de la tabla. Un adaptador traduce entre los dos.”
“Si el identificador ya existe, el viaje se corta en las reglas: no se toca la base y la persona recibe un 409 con el motivo.”
PARA PASAR
“Para hablar con la base, la aplicación necesita su dirección, su usuario y su clave. ¿Dónde están?”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Las claves fuera del código: rotarlas o cambiar de servidor no requiere recompilar.
QUÉ DECIR (▶ CLIC = hacer clic)
“Esta es la pregunta que siempre nos hacen: ¿dónde está la cadena de conexión? Empecemos por el centro: el servicio, al arrancar, lee su archivo de configuración, y ese archivo no tiene la dirección ni la clave. Solo tiene marcadores: DB_URL, DB_USER y DB_PASSWORD.”
“¿Quién llena esos marcadores? El ambiente donde corre. ▶ CLIC En Docker Compose, las variables se definen para cada servicio en el archivo compose.yaml. ▶ CLIC En Kubernetes, la dirección y el usuario van en el Deployment, ▶ CLIC y la clave se guarda aparte, en un Secret: un objeto del clúster hecho para datos sensibles, que el contenedor recibe como variable al arrancar.”
“▶ CLIC Con esos valores, el servicio abre su pool de conexiones contra la base.”
“▶ CLIC ¿Y la imagen Docker? No lleva ni dirección ni clave. Es la misma imagen en desarrollo, en pruebas y en producción. Cambiar de servidor de base de datos o rotar una clave no obliga a recompilar ni a tocar el código.”
SI HAY TIEMPO, SE PUEDE AGREGAR
“Un detalle honesto: el archivo de configuración trae un valor por defecto para trabajar en la computadora de cada uno. En un ambiente real nunca se usa, porque ahí siempre llegan las variables.”
“En el pipeline, la clave de la base de pruebas cambia en cada ejecución: se arma con el número de la corrida. Ni siquiera la base temporal tiene una clave fija.”
SI PREGUNTAN
¿El Secret no está en el repositorio?
RESPUESTA CORTA
En este laboratorio sí, con una clave de ejemplo, para que cualquiera lo levante. En un ambiente real el Secret se crea aparte, o lo alimenta un gestor de secretos, y nunca se versiona.
SI PREGUNTAN
¿Y si no usamos Kubernetes?
RESPUESTA CORTA
La misma idea funciona con variables de entorno del servidor o con un gestor de secretos. Lo importante es que la clave no viva en el código ni en el paquete que se despliega.
SI PREGUNTAN
¿Quién puede ver la clave en Kubernetes?
RESPUESTA CORTA
Quien tenga permiso de leer Secrets en ese espacio del clúster; ese acceso se controla con roles.
PARA PASAR
“Con la conexión resuelta, mi compañero de base de datos les cuenta qué pasa cuando se guarda: la transacción.”
PARA LEER MÁS
docs/inicio/bases-de-datos-locales.md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Lo que cambia junto se guarda junto: nunca quedan datos a medias.
QUÉ DECIR (▶ CLIC = hacer clic)
“Gracias. Para quienes administran bases de datos, esto es terreno conocido, solo que configurado desde la aplicación. Cuando llega una petición, el pool de conexiones, HikariCP, le presta una de sus conexiones abiertas; por defecto mantiene hasta diez y las reutiliza.”
“▶ CLIC Cuando un método lleva la anotación Transactional, empieza una transacción: es el BEGIN de siempre. ▶ CLIC Al enviar una solicitud, primero se actualiza su estado a enviada, ▶ CLIC y en la misma transacción se anota el aviso pendiente en la tabla evento. ▶ CLIC Al final, el COMMIT guarda las dos cosas juntas.”
“▶ CLIC Y si algo falla en el medio, se hace ROLLBACK de todo: no queda una solicitud enviada sin su aviso, ni un aviso sin su solicitud. Esa garantía es la base de lo que les va a explicar mi compañero de interconexión.”
SI HAY TIEMPO, SE PUEDE AGREGAR
“Abrir una conexión nueva a PostgreSQL toma su tiempo; con muchas peticiones, eso se nota. Por eso el pool las mantiene abiertas y las presta: es la diferencia entre responder rápido y saturar la base.”
“La transacción envuelve todo el método enviar: si el INSERT del evento fallara, por ejemplo por una restricción, el UPDATE de la solicitud también se deshace.”
SI PREGUNTAN
¿Cuántas conexiones abre cada servicio?
RESPUESTA CORTA
Las que define el pool; por defecto HikariCP mantiene hasta 10 y las reutiliza entre peticiones.
SI PREGUNTAN
¿Esto reemplaza las transacciones dentro de un procedimiento?
RESPUESTA CORTA
Es el mismo concepto: BEGIN, COMMIT y ROLLBACK. Solo que la transacción la abre la aplicación, alrededor del método que hace el trabajo.
PARA PASAR
“Esto es lo que nos dejó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El conocimiento de base de datos del staff sigue siendo clave, ahora junto al código.
QUÉ DECIR (▶ CLIC = hacer clic)
“Cuatro aprendizajes de datos, sobre todo para quienes venimos de los procedimientos almacenados. ▶ CLIC Primero: el ORM no elimina el trabajo de base de datos. Escribe el SQL rutinario, pero las llaves, las restricciones, los índices y las transacciones siguen siendo diseño de base.”
“▶ CLIC Segundo: la cadena de conexión no vive en el código; vive en el ambiente. ▶ CLIC Tercero: la transacción local sigue siendo la herramienta más confiable que tenemos. ▶ CLIC Y cuarto: el esquema también es código: versionado, repetible y validado al arrancar.”
SI HAY TIEMPO, SE PUEDE AGREGAR
“Para quien trabaja en base de datos, el rol no desaparece: pasa de escribir cada consulta a diseñar el modelo, cuidar índices y restricciones, y revisar el SQL que genera el ORM.”
PARA PASAR
“Esa transacción local es justo la base de la siguiente parte: cómo se avisan los servicios sin perder ni duplicar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Cada conexión tiene un porqué: cambiar una dirección o seguir un error no obliga a tocar todo.
QUÉ DECIR (▶ CLIC = hacer clic)
“Gracias. Ya vimos que los servicios no comparten base. Entonces, ¿cómo se hablan? Esta tabla lo resume, fila por fila. Primero, el navegador solo conoce la interfaz, nunca las direcciones internas.”
“▶ CLIC La interfaz tampoco llama directo a los servicios: nginx, su servidor web, recibe todo lo que empieza con /api y lo reenvía al servicio que corresponde. Si un servicio cambia de dirección, la pantalla ni se entera.”
“▶ CLIC Entre servicios, solicitudes le manda el evento a notificaciones con un POST en JSON. Pero no en el momento en que la persona envía, sino después, desde un proceso que llamamos el relevador. En un momento vemos por qué.”
“▶ CLIC Nadie usa direcciones IP: cada pieza encuentra a la otra por su nombre. ▶ CLIC Y en cada llamada viaja un traceId, un número que nos deja seguir el recorrido completo en los logs.”
SI HAY TIEMPO, SE PUEDE AGREGAR
“nginx espera menos que la interfaz, nueve segundos contra diez, para que el proxy responda con un error claro antes de que el navegador corte la petición.”
“La llamada entre servicios usa un cliente HTTP preparado para pasar el traceId. Con un cliente cualquiera, el seguimiento entre servicios se rompería; por eso es una regla del equipo.”
SI PREGUNTAN
¿Por qué no se llaman directamente por localhost?
RESPUESTA CORTA
Porque dentro de un contenedor localhost es el mismo contenedor; por eso cada servicio se busca por su nombre.
SI PREGUNTAN
¿Por qué HTTP y no una cola de mensajes como RabbitMQ o Kafka?
RESPUESTA CORTA
Para el laboratorio, HTTP con Outbox da la garantía que necesitamos sin otra pieza que operar. Si el volumen crece, el mismo diseño se puede pasar a una cola sin tocar las reglas.
PARA PASAR
“Hay dos formas de hablarse, y usamos las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La caída de un sistema secundario no detiene a quien está atendiendo al usuario.
QUÉ DECIR (▶ CLIC = hacer clic)
“Hay dos formas de comunicarse. La síncrona es como una llamada telefónica: la interfaz llama y espera a que el proceso se complete. La respuesta es inmediata, y por eso la usamos para crear, aprobar o rechazar: la persona necesita saber el resultado en ese momento. El costo es que, si el servicio se cae, la persona ve el error.”
“▶ CLIC La asíncrona es como un correo: el servicio de solicitudes envía el evento a notificaciones y continúa con su proceso, sin esperar. La respuesta puede demorar unos segundos, pero si notificaciones se cae, el evento no se pierde: espera hasta que el servicio vuelva.”
“La regla que aprendimos: lo que la persona necesita ver, síncrono; lo que puede esperar, asíncrono. Y esto pasa también en sus sistemas de hoy: un procedimiento que llama a otro sistema y espera su respuesta falla si el otro está caído.”
SI HAY TIEMPO, SE PUEDE AGREGAR
“Un ejemplo de la vida diaria: cuando pagamos con tarjeta, la aprobación es síncrona, porque necesitamos saber si pasó; el correo con el comprobante es asíncrono, porque puede llegar un minuto después.”
“La pregunta que nos hacemos en cada caso es: si el otro sistema está caído, ¿la persona tiene que enterarse? Si la respuesta es no, va asíncrono.”
SI PREGUNTAN
¿Por qué no hacerlo todo asíncrono?
RESPUESTA CORTA
Porque quien crea o aprueba una solicitud necesita saber en ese momento si se pudo. Lo asíncrono es para lo que puede esperar.
PARA PASAR
“¿Y cómo logramos que el evento espere sin perderse? Con el patrón Outbox.”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Ningún aviso se pierde, aunque el otro sistema esté caído. Y se puede aplicar también con procedimientos y un job.
QUÉ DECIR (▶ CLIC = hacer clic)
“Pensemos en el problema. Si al enviar una solicitud llamáramos directamente a notificaciones y justo estuviera caído, la solicitud quedaría enviada y nadie se enteraría. Por eso usamos el patrón Outbox, o bandeja de salida, que se apoya en la transacción que vimos en la parte de datos.”
“Al enviar, en una sola transacción se guardan la solicitud como enviada y su aviso pendiente. O se guardan las dos cosas, o ninguna, y la persona recibe su respuesta enseguida. ▶ CLIC El aviso queda esperando en la tabla evento, como una carta en la bandeja de salida.”
“▶ CLIC Después, un proceso que llamamos el relevador revisa la bandeja cada cinco segundos y entrega los pendientes, con hasta tres intentos. ▶ CLIC Si notificaciones lo recibe, la fila se marca como procesada. ▶ CLIC Si falla, la fila sigue pendiente, con el mismo número de evento, y se reintenta en el siguiente ciclo.”
“Esto se puede aplicar hoy mismo en un sistema con procedimientos almacenados: en lugar de llamar a otro sistema dentro del procedimiento, se anota el aviso en una tabla de pendientes y un job lo entrega.”
SI HAY TIEMPO, SE PUEDE AGREGAR
“El relevador hace hasta tres intentos por ciclo, esperando un poco más entre cada uno. Si los tres fallan, no pasa nada grave: la fila sigue pendiente y el siguiente ciclo, cinco segundos después, vuelve a intentar.”
“El número del evento se genera una sola vez, al guardar. Por eso cada reintento manda exactamente el mismo número, y del otro lado se puede reconocer como repetido.”
“En un sistema con procedimientos se traduce así: una tabla de pendientes con una columna procesado, un INSERT dentro de la misma transacción del procedimiento y un job que recorre los pendientes.”
SI PREGUNTAN
¿Que el envío responda bien significa que el aviso ya existe?
RESPUESTA CORTA
No. Significa que la solicitud y el evento quedaron guardados; el aviso llega después.
SI PREGUNTAN
¿Qué pasa si se cae solicitudes con avisos pendientes?
RESPUESTA CORTA
Nada se pierde: están en la base. Cuando el servicio vuelve, el relevador los encuentra y los entrega.
PARA PASAR
“Pero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Se puede reintentar sin miedo: un pago, un correo o un aviso nunca se duplica.
QUÉ DECIR (▶ CLIC = hacer clic)
“Sí, puede llegar dos veces. Imaginen que notificaciones recibió el evento y creó el aviso, pero la respuesta se perdió en la red. El relevador cree que falló y lo vuelve a mandar. Para eso está la idempotencia: repetir la misma operación no multiplica su efecto.”
“Así funciona: llega el evento con su número. ▶ CLIC Notificaciones busca ese número en la tabla evento_procesado. ▶ CLIC Si es nuevo, crea el aviso ▶ CLIC y anota el número, en la misma transacción. ▶ CLIC Si ya estaba, lo ignora: no se crea otro aviso. Como un portero con lista de invitados.”
“Los dos patrones se complementan: el Outbox evita perder y la idempotencia evita duplicar. Y sirve en cualquier sistema: todo proceso que se reintenta, un pago, un correo, un registro, debería tener una tabla de procesados con una llave única.”
QUÉ HACER (no se dice)
• Mostrar: En la UI, pestaña Enviadas: Reentregar un evento ya consumido. Debe verse: El diálogo “El aviso no se duplicó” y Avisos duplicados en 0.
SI HAY TIEMPO, SE PUEDE AGREGAR
“Lo probamos a propósito: la interfaz tiene un botón para reentregar un evento ya consumido, y el contador de avisos duplicados se mantiene en cero.”
“La idempotencia no es solo para mensajes: un pago, un registro de asistencia o una importación de archivos deberían poder reintentarse sin duplicar. La receta es la misma: un número único por operación y una tabla que lo recuerde.”
SI PREGUNTAN
¿Qué resuelve el Outbox y qué resuelve la idempotencia?
RESPUESTA CORTA
El Outbox evita perder el evento; la idempotencia evita duplicar su efecto.
SI PREGUNTAN
¿Y si llegan dos entregas al mismo tiempo?
RESPUESTA CORTA
La llave primaria de evento_procesado lo impide: solo una de las dos transacciones puede anotar el número; la otra falla y su reintento lo encuentra ya procesado.
PARA PASAR
“Esto es lo que aprendimos de la interconexión.”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Cero avisos perdidos y cero duplicados, con patrones que sirven en cualquier tecnología.
QUÉ DECIR (▶ CLIC = hacer clic)
“Cuatro aprendizajes. ▶ CLIC Síncrono para lo que la persona necesita ver, asíncrono para lo que puede esperar. ▶ CLIC Guardar primero y avisar después: una transacción local y una bandeja de salida son más confiables que coordinar dos sistemas al mismo tiempo.”
“▶ CLIC Todo reintento necesita idempotencia del otro lado. ▶ CLIC Y entre dos servicios, lo único compartido es el contrato del mensaje; si cambia, cambia en los dos lados.”
SI HAY TIEMPO, SE PUEDE AGREGAR
“Juntos, Outbox e idempotencia logran lo que en la industria se llama entrega al menos una vez con efecto exactamente una vez. Es la base de muchos sistemas de pagos y de notificaciones.”
PARA PASAR
“Hasta aquí, el código y los datos. Ahora, ¿cómo llevamos todo esto a cualquier ambiente? Le paso la palabra a infraestructura.”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Un camino único y automático del código a producción: menos pasos manuales y menos errores.
QUÉ DECIR (▶ CLIC = hacer clic)
“Gracias. DevOps no es una herramienta ni un puesto: es una forma de trabajar en la que desarrollo y operación dejan de ser dos mundos separados. Todo cambio recorre el mismo camino, de forma automática y repetible. Empieza en el código, en una rama con su Pull Request.”
“▶ CLIC Se construye, ▶ CLIC y se prueba solo, en cada cambio. ▶ CLIC Se empaqueta en una imagen Docker ▶ CLIC que se publica en un registro. ▶ CLIC Esa imagen se despliega y se opera en Kubernetes, ▶ CLIC y lo que pasa adentro se observa con los logs en un solo lugar. Lo que aprendemos al observar vuelve al código, y el ciclo empieza otra vez.”
“En las próximas láminas recorremos ese camino con ARKA-Lite, pieza por pieza: primero Docker y Kubernetes, después el pipeline, y al final cómo se opera.”
SI HAY TIEMPO, SE PUEDE AGREGAR
“En ARKA-Lite, cada paso del camino tiene su herramienta: Git y GitHub para el código, Maven para construir, las pruebas automáticas, Docker para empaquetar, GHCR para publicar, Kubernetes para operar y Loki con Grafana para observar.”
“Lo que más se nota en el día a día es que nadie hace pasos a mano: no se copian archivos a un servidor ni se corren pruebas de memoria. Si un paso falla, el camino se detiene y se sabe dónde.”
SI PREGUNTAN
¿DevOps es un equipo aparte?
RESPUESTA CORTA
Es una práctica. Puede haber personas que la impulsen, pero funciona cuando desarrollo e infraestructura comparten el mismo camino y las mismas herramientas.
PARA PASAR
“Empecemos por las dos herramientas que más se nombran: Docker y Kubernetes.”
PARA LEER MÁS
docs/operaciones/infraestructura-y-entrega.md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El mismo paquete del laptop al servidor, y un sistema que se cuida solo.
QUÉ DECIR (▶ CLIC = hacer clic)
“Docker y Kubernetes muchas veces se presentan como si uno reemplazara al otro, y no es así: no compiten, se complementan. Docker resuelve el clásico “en mi máquina funciona”: empaqueta la aplicación con Java y todo lo que necesita en una imagen, un paquete que no cambia y que corre igual en una laptop o en un servidor.”
“▶ CLIC Kubernetes empieza donde termina Docker. No empaqueta nada: toma esas imágenes y las administra. Decide dónde corre cada contenedor, lo vigila y, si uno se cae, levanta otro.”
“Piénsenlo como el transporte de carga: Docker es el contenedor estándar y Kubernetes es el puerto que los acomoda y reemplaza el que se daña. En nuestra computadora, Docker Compose levanta los ocho contenedores del sistema con un solo comando; en el clúster, esas mismas imágenes las administra Kubernetes, sin recompilar nada.”
SI HAY TIEMPO, SE PUEDE AGREGAR
“La imagen de cada servicio se construye en dos etapas: una con Maven para compilar y otra solo con Java para correr. Así la imagen final es más liviana y no lleva herramientas de compilación.”
“Además, el contenedor corre con un usuario sin privilegios: si alguien comprometiera la aplicación, no sería administrador del contenedor.”
SI PREGUNTAN
¿Docker es una máquina virtual?
RESPUESTA CORTA
No. Es más liviano: comparte el sistema operativo y solo aísla la aplicación y lo que necesita.
SI PREGUNTAN
¿Necesitamos Kubernetes para todo?
RESPUESTA CORTA
No. Para un sistema pequeño basta Docker Compose en un servidor. Kubernetes vale la pena cuando hay varios servicios, varias copias o hay que recuperarse solo.
PARA PASAR
“Veamos cómo nace un contenedor.”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La receta queda escrita: cualquiera construye la misma imagen, en cualquier computadora.
QUÉ DECIR (▶ CLIC = hacer clic)
“Así nace un contenedor. Todo empieza en el Dockerfile, que es la receta: qué se instala y qué se copia. ▶ CLIC En una primera etapa, Maven compila el código y produce el archivo JAR, que es la aplicación lista para correr.”
“▶ CLIC En la segunda etapa se arma la imagen final, solo con Java y ese JAR: más liviana y sin herramientas de compilación. Una imagen es un paquete que no cambia: la misma que probamos es la que se despliega.”
“▶ CLIC Cuando la imagen corre, se llama contenedor. El nuestro corre con un usuario sin privilegios: si alguien comprometiera la aplicación, no sería administrador del contenedor.”
SI HAY TIEMPO, SE PUEDE AGREGAR
“La primera etapa descarga las dependencias de Maven en una capa aparte. Mientras el pom.xml no cambie, esa capa se reutiliza y las siguientes construcciones tardan mucho menos.”
“Separar la compilación de la imagen final también es seguridad: la imagen que corre no lleva Maven ni el código fuente, solo lo necesario para ejecutar.”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Una persona nueva levanta el sistema completo en minutos, no en un día.
QUÉ DECIR (▶ CLIC = hacer clic)
“Con Docker, cada servicio viaja con su receta, y con Docker Compose levantamos el sistema completo con un solo comando: los dos servicios, sus dos bases, la interfaz y las herramientas de logs. Ocho contenedores en total.”
“Dentro de la red de Compose, cada servicio encuentra al otro por su nombre, no por localhost. Y la configuración, como la cadena de conexión que vimos en la parte de datos, entra por variables de entorno. Así la misma imagen sirve en nuestra computadora y en el clúster, sin recompilar.”
“Para alguien que llega nuevo al equipo, esto es la diferencia entre un día configurando su máquina y cinco minutos.”
QUÉ HACER (no se dice)
• Mostrar: docker compose ps Debe verse: La UI, los servicios y las bases arriba y sanos.
SI HAY TIEMPO, SE PUEDE AGREGAR
“Compose arranca las piezas en orden: primero las bases, y cada servicio espera a que su base esté sana antes de arrancar.”
“La base de solicitudes no se publica hacia afuera; solo la ven los contenedores de la misma red. La de notificaciones sí, en el puerto 5433, para poder consultarla con cualquier herramienta.”
SI PREGUNTAN
Dentro de un contenedor, ¿a dónde lleva localhost?
RESPUESTA CORTA
Al mismo contenedor, no a otro servicio. Por eso usamos el nombre del servicio.
PARA PASAR
“Y ese mismo comando también corre en la nube: Codespaces.”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Cualquiera del equipo prueba o muestra el sistema desde un navegador, sin instalar nada.
QUÉ DECIR (▶ CLIC = hacer clic)
“Una pieza que nos resolvió la demostración: GitHub Codespaces. Desde una rama del repositorio se crea una máquina en la nube lista para trabajar. ▶ CLIC La configuración vive en el mismo repositorio, en la carpeta .devcontainer: pide cuatro núcleos y Docker adentro.”
“▶ CLIC Al crearla, un script construye las imágenes y levanta los ocho contenedores, igual que en nuestra computadora. ▶ CLIC Cada puerto queda publicado por https y privado para la cuenta que lo abrió: la interfaz, Grafana y los dos Swagger. ▶ CLIC Y la demostración se hace desde el navegador.”
“El valor: cualquiera del equipo puede probar o mostrar el sistema sin instalar nada y sin depender de la red de la oficina. Lo verificamos con la prueba de humo completa: siete de siete.”
SI HAY TIEMPO, SE PUEDE AGREGAR
“La máquina publica cuatro puertos: la interfaz, Grafana y los dos Swagger. Un script escribe la dirección pública de cada puerto para que los enlaces de la interfaz también funcionen en la nube.”
“Un Codespace sin uso se detiene solo a los treinta minutos, y se borra al terminar. Para el día de la presentación lo arrancamos quince minutos antes.”
SI PREGUNTAN
¿Cuánto cuesta?
RESPUESTA CORTA
GitHub lo cobra por horas de núcleo: esta máquina de 4 núcleos consume 4 por cada hora encendida. Se detiene al terminar y deja de consumir.
PARA PASAR
“¿Y quién construye y publica las imágenes en cada cambio? El pipeline.”
PARA LEER MÁS
docs/operaciones/codespaces.md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Un error se detecta antes de llegar a main, y cada imagen se rastrea hasta su commit.
QUÉ DECIR (▶ CLIC = hacer clic)
“Así funciona el pipeline, desde el momento del push. Primero, algo que sorprende: un push a una rama de trabajo, por sí solo, no dispara nada. El pipeline arranca cuando se abre o se actualiza un Pull Request hacia main. Ahí corre la integración continua, el CI: un servidor de GitHub compila cada servicio, corre todas sus pruebas contra un PostgreSQL temporal, arranca el servicio de verdad hasta ver sus datos iniciales y construye la imagen Docker. El resultado queda en el mismo Pull Request: verde o rojo.”
“▶ CLIC Cuando el Pull Request se aprueba y se fusiona a main, corre otra vez el mismo CI, y después viene el CD, la entrega continua: la imagen se publica en el registro de GitHub, etiquetada con el código del commit, lista para desplegar.”
“Y una distinción que vale la pena: CD puede ser entrega continua, que es dejar la imagen lista, o despliegue continuo, que es instalarla sola en el ambiente. Nosotros llegamos a la entrega; el despliegue en Kubernetes es un paso aparte, con kubectl apply. Automatizarlo es el siguiente paso natural, con una aprobación de por medio.”
SI HAY TIEMPO, SE PUEDE AGREGAR
“El pipeline prueba los dos servicios en paralelo, cada uno con su propia base temporal, y tiene un trabajo aparte para la interfaz: valida, prueba, construye y comprueba que el archivo de Compose es válido.”
“La imagen de la interfaz solo se publica cuando el cambio llega a main; la de los servicios hoy también se publica desde el Pull Request. Es un ajuste que ya tenemos identificado.”
“Cada imagen lleva como etiqueta el código del commit. Si algo falla en un ambiente, sabemos exactamente qué versión está corriendo y podemos volver a la anterior.”
SI PREGUNTAN
¿Por qué no se despliega solo?
RESPUESTA CORTA
Porque es un laboratorio con un clúster local. En un ambiente real se agrega un paso de despliegue con aprobación, o una herramienta que aplica en el clúster lo que está en main.
SI PREGUNTAN
¿Las pruebas usan la base real?
RESPUESTA CORTA
No: GitHub crea un PostgreSQL temporal para cada ejecución, con una clave distinta cada vez, y lo descarta al terminar.
PARA PASAR
“La imagen ya está publicada. Ahora, dónde corre: Kubernetes. Le paso la palabra a mi compañero.”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El clúster se mantiene solo como lo describimos, sin intervención manual.
QUÉ DECIR (▶ CLIC = hacer clic)
“Gracias. Para entender Kubernetes hay que cambiar el chip: no le damos órdenes paso a paso, le decimos cómo queremos que esté el sistema. Eso se escribe en un archivo YAML, un manifiesto: qué imagen usar, cuántas copias de cada servicio y qué variables recibe.”
“▶ CLIC Con kubectl apply, ese archivo se le entrega al clúster. ▶ CLIC El Deployment lee el manifiesto y crea los Pods, que son donde corren los contenedores. ▶ CLIC El Service les da un nombre fijo, para que los demás los encuentren aunque un Pod se reemplace.”
“▶ CLIC Y lo más importante: Kubernetes compara todo el tiempo lo que hay con lo que pedimos. Si falta algo, lo crea; si sobra, lo quita. A eso se le llama ciclo de control, y es lo que hace que el sistema se repare solo.”
SI HAY TIEMPO, SE PUEDE AGREGAR
“Todos los manifiestos de ARKA-Lite están en la carpeta k8s del repositorio: cinco archivos, uno por componente, con su Deployment, su Service y, en las bases, su disco persistente.”
“Como el estado deseado está en archivos versionados, reconstruir el sistema completo en otro clúster es volver a aplicar esos archivos.”
SI PREGUNTAN
¿Qué pasa si alguien cambia algo a mano en el clúster?
RESPUESTA CORTA
El ciclo de control lo devuelve a lo que dice el manifiesto. Por eso los cambios se hacen en el archivo, versionado en el repositorio, y no a mano.
PARA PASAR
“Veamos las piezas que usamos en ARKA-Lite.”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El estado del sistema queda escrito y versionado, no en la memoria de alguien.
QUÉ DECIR (▶ CLIC = hacer clic)
“Estas son las piezas que usamos en ARKA-Lite. Arriba, el acceso: un Service le da a cada componente un nombre fijo, para que los demás lo encuentren aunque el contenedor cambie.”
“▶ CLIC Luego, el cómputo: un Deployment por componente, cinco en total, que dice cuántas copias queremos. Antes de arrancar, cada servicio espera a que su base responda, y una prueba de salud evita mandarle tráfico antes de tiempo.”
“▶ CLIC La configuración: la clave de la base en un Secret, como vimos en la parte de datos, y el resto en variables de entorno. ▶ CLIC Y los datos: cada base tiene su disco persistente, que sobrevive aunque el Pod se recree. Todo se aplica con un solo comando: kubectl apply sobre la carpeta k8s.”
SI HAY TIEMPO, SE PUEDE AGREGAR
“Antes de arrancar cada servicio, un contenedor previo espera a que su base responda. Sin eso, el servicio arrancaría, no encontraría la base y se reiniciaría una y otra vez.”
“La prueba de salud le dice a Kubernetes cuándo el servicio está listo para recibir tráfico. Arrancar no es lo mismo que estar listo, y esa diferencia evita errores en los primeros segundos.”
SI PREGUNTAN
¿Por qué la base corre como un Deployment y no como un servicio administrado?
RESPUESTA CORTA
Porque es un ambiente de laboratorio. En producción conviene una base administrada o un StatefulSet con respaldos.
PARA PASAR
“¿Y qué pasa cuando algo se cae?”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Un sistema que se recupera solo, sin que nadie se despierte a las tres de la mañana.
QUÉ DECIR (▶ CLIC = hacer clic)
“Ya vimos que Kubernetes compara todo el tiempo lo que hay con lo que pedimos. Veamos qué pasa cuando se cae el Pod de solicitudes, por un error, porque se reinició el servidor o porque alguien lo borró.”
“▶ CLIC En el mismo instante, el Deployment detecta que falta una copia. ▶ CLIC En un segundo, crea un Pod nuevo con la misma imagen. ▶ CLIC El Pod nuevo espera a que su base y notificaciones respondan, ▶ CLIC y solo cuando su prueba de salud contesta, vuelve a recibir tráfico.”
“▶ CLIC Nadie intervino. Y como los avisos pendientes están en la base, no en memoria, nada se pierde mientras tanto. Aquí se juntan las tres partes que vimos a fondo: la base guarda, el Outbox espera y Kubernetes repara.”
QUÉ HACER (no se dice)
• Mostrar: kubectl delete pod -l app=servicio-solicitudes y luego kubectl get pods -w. Debe verse: Aparece un Pod nuevo que vuelve a estar Ready.
SI HAY TIEMPO, SE PUEDE AGREGAR
“Se demuestra en un minuto: se borra el Pod con kubectl delete y, mirando la lista de Pods, aparece uno nuevo que en unos segundos vuelve a estar listo.”
“Si lo que se cae es la base, pasa lo mismo: su Pod se recrea y los datos siguen en el disco persistente.”
SI PREGUNTAN
¿Y si se cae la base?
RESPUESTA CORTA
Su Pod también se recrea y los datos siguen en el disco persistente; los servicios esperan a que vuelva.
PARA PASAR
“Esto es lo que aprendimos de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Despliegues repetibles y un sistema que se repara solo.
QUÉ DECIR (▶ CLIC = hacer clic)
“Cuatro aprendizajes de DevOps. ▶ CLIC Docker y Kubernetes no compiten: uno empaqueta y el otro ejecuta y cuida. ▶ CLIC La imagen es el entregable: lo que prueba el pipeline es exactamente lo que se despliega.”
“▶ CLIC Configurar por variables y no por código, empezando por la cadena de conexión. ▶ CLIC Y declarar el estado que queremos, y probar que el servicio arranca, no solo que compila.”
SI HAY TIEMPO, SE PUEDE AGREGAR
“Lo que más valor nos dio de DevOps fue que todo quedó escrito: la receta de cada imagen, el archivo de Compose, los manifiestos de Kubernetes y el pipeline. Nada depende de la memoria de una persona.”
PARA PASAR
“Ya está desplegado. ¿Cómo sabemos qué pasa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PRESENTA: Infraestructura 2
LO QUE SE LLEVA EL STAFF
Diagnosticar un error entre sistemas en minutos, con una sola búsqueda.
QUÉ DECIR (▶ CLIC = hacer clic)
“La observabilidad la vemos de forma general. Con varios servicios, cada uno tiene sus logs, y si algo falla no queremos entrar contenedor por contenedor. Cada servicio escribe sus logs en JSON, con un formato estándar. ▶ CLIC Promtail los recoge de todos los contenedores, ▶ CLIC Loki los guarda etiquetados por servicio ▶ CLIC y Grafana nos deja buscarlos en un solo lugar.”
“Como cada llamada lleva su traceId, con una sola búsqueda vemos el viaje completo de un evento: cuándo lo publicó el relevador y cuándo lo consumió notificaciones. Y cada servicio expone su salud, que la interfaz muestra en verde o en rojo; lo van a ver en la demostración.”
QUÉ HACER (no se dice)
• Mostrar: Grafana › Explore › Loki: {service="servicio-notificaciones"} |= "evento". Debe verse: Las líneas “Consume evento” y “aviso creado” con el número del evento.
SI HAY TIEMPO, SE PUEDE AGREGAR
“Para buscar en Grafana basta una consulta como: los logs del servicio de notificaciones que contengan la palabra evento. En segundos aparecen las líneas con el número del evento.”
“Los logs salen en un formato estándar, ECS, sin tocar el código del negocio: es una línea de configuración de Spring Boot.”
PARA PASAR
“Esto es lo que aprendimos de observar el sistema.”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PRESENTA: Infraestructura 2
LO QUE SE LLEVA EL STAFF
Saber qué pasa adentro sin adivinar.
QUÉ DECIR (▶ CLIC = hacer clic)
“Tres aprendizajes. ▶ CLIC Los logs estructurados se configuran desde el día uno; después es mucho más caro. ▶ CLIC En un sistema distribuido hace falta un identificador que cruce los servicios. ▶ CLIC Y salud no es lo mismo que correcto: un servicio puede estar arriba y tener avisos pendientes; hay que medir el resultado, no solo el proceso.”
SI HAY TIEMPO, SE PUEDE AGREGAR
“Si tuvieran que empezar por una sola cosa, sería un identificador por operación que viaje entre sistemas y aparezca en cada log. Con eso, diagnosticar deja de ser adivinar.”
PARA PASAR
“Y ahora sí, veamos todo esto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Demostración con la UI
PRESENTA: Desarrollo 2
LO QUE SE LLEVA EL STAFF
Ver lo invisible: la bandeja de salida, los reintentos y la idempotencia, en pantalla.
QUÉ DECIR (▶ CLIC = hacer clic)
“Gracias. Todo lo que les contamos se puede ver funcionando, y para eso construimos esta interfaz. No es el entregable del proyecto: es la forma de ejemplificar cada parte en vivo. En Solicitudes se ve el negocio: crear, enviar, aprobar o rechazar, con sus mensajes de error claros.”
“▶ CLIC En Enviadas se ve la interconexión: la bandeja de salida, qué eventos están pendientes, cuáles se entregaron y un botón para reentregar a propósito. ▶ CLIC En Salud, si cada servicio está arriba, con enlaces a Swagger y a Grafana. ▶ CLIC Y en Ayuda, diagramas de cómo funciona.”
“Hagamos la prueba más interesante: tumbar un servicio a propósito.”
QUÉ HACER (no se dice)
• Cambiar al navegador con la UI: http://localhost:8088 o el puerto 8088 del Codespace. Los comandos docker compose de la siguiente lámina se escriben en esa misma computadora o en la terminal del Codespace. Si el sistema no está disponible, seguir con las capturas de esta lámina y de la siguiente.
SI HAY TIEMPO, SE PUEDE AGREGAR
“La interfaz es una aplicación React servida por nginx, que a la vez hace de proxy hacia los servicios. Tiene sus propias pruebas automáticas y corre en el mismo Compose que todo lo demás.”
“La pestaña Ayuda tiene diagramas paso a paso de cada flujo; la usamos para explicar el sistema a quien no lo conoce.”
PARA PASAR
“Vamos a detener el servicio de notificaciones.”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Demostración con la UI
PRESENTA: Desarrollo 2
LO QUE SE LLEVA EL STAFF
Ver con sus propios ojos que una caída no hace perder ni duplicar información.
QUÉ DECIR (▶ CLIC = hacer clic)
“Detenemos notificaciones a propósito; en Salud aparece en rojo. ▶ CLIC Ahora enviamos una solicitud. La respuesta es buena: la solicitud queda enviada y su evento queda guardado. La persona no ve ningún error, porque enviar no depende del otro servicio. Eso es lo asíncrono.”
“▶ CLIC Mientras tanto, el relevador intenta entregar el evento cada cinco segundos y falla, pero no lo pierde. ▶ CLIC La pantalla de Enviadas lo muestra: notificaciones no responde, y hay un evento en camino.”
“▶ CLIC Levantamos notificaciones, y en el siguiente ciclo el evento se entrega con el mismo número: aparece exactamente un aviso. Eso es el Outbox. ▶ CLIC Y para cerrar, reentregamos ese mismo evento a propósito: notificaciones lo reconoce y no crea otro aviso. Cero perdidos y cero duplicados, en vivo.”
QUÉ HACER (no se dice)
• Antes: docker compose stop servicio-notificaciones. Mostrar Salud en rojo (DOWN).
• Crear y enviar DEMO-01; mostrar en Enviadas el aviso amarillo “Notificaciones no responde” y “1 en camino”. No hace falta recargar: la pantalla se actualiza sola.
• docker compose start servicio-notificaciones y esperar unos segundos: el evento pasa a entregado y aparece 1 aviso.
• En Enviadas, pulsar Reentregar sobre ese evento: aparece “El aviso no se duplicó” y Avisos duplicados sigue en 0.
• Los clics de la lámina acompañan lo que pasa en la UI; si la demostración en vivo falla, contarla con la lámina.
• Mostrar: Detener notificaciones, enviar DEMO-01, mirar Enviadas, volver a iniciar notificaciones y reentregar el evento. Debe verse: Evento en camino mientras está caído; al volver, entregado y 1 aviso; al reentregar, 0 duplicados.
SI HAY TIEMPO, SE PUEDE AGREGAR
“Si la red de la sala falla, la demostración se puede contar con esta misma lámina: cada clic muestra lo que se vería en la pantalla.”
“Si una operación que cambia datos tarda demasiado, la interfaz no la repite sola, porque el cambio pudo haberse guardado aunque la respuesta no llegara.”
SI PREGUNTAN
¿Cuánto tiempo puede esperar un evento pendiente?
RESPUESTA CORTA
Indefinidamente: está en la base. Se entrega en el primer ciclo después de que notificaciones vuelve.
PARA PASAR
“Esto es lo que aprendimos de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Demostración con la UI
PRESENTA: Desarrollo 2
LO QUE SE LLEVA EL STAFF
Una herramienta que explica el sistema a cualquiera, también a quien llegue nuevo al equipo.
QUÉ DECIR (▶ CLIC = hacer clic)
“Tres aprendizajes de la demostración. ▶ CLIC Hay que diseñar para la falla, no solo para el camino feliz. ▶ CLIC Lo asíncrono hay que hacerlo visible: sin la pestaña Enviadas, un evento pendiente sería invisible. ▶ CLIC Y mostrarlo en vivo explica más que cualquier lámina; esta misma interfaz sirve para capacitar a quien llegue al equipo.”
SI HAY TIEMPO, SE PUEDE AGREGAR
“La demostración también nos sirvió como prueba: cada falla que mostramos la provocamos antes, a propósito, varias veces.”
PARA PASAR
“Para cerrar, el valor que deja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Cinco pilares que cualquier equipo puede adoptar.
QUÉ DECIR (▶ CLIC = hacer clic)
“Gracias. Si tuviéramos que resumir el valor en una lámina, sería esta. Datos consistentes: ante una caída, no se pierde ni se duplica un aviso. ▶ CLIC Conexión segura: la cadena de conexión y las claves viven fuera del código.”
“▶ CLIC Reproducibilidad: un comando y la misma imagen en cualquier ambiente. ▶ CLIC Calidad: pruebas automáticas en cada cambio, antes de integrarlo. ▶ CLIC Y trazabilidad: logs en un solo lugar e imágenes rastreables hasta su commit.”
SI HAY TIEMPO, SE PUEDE AGREGAR
“Si alguien pregunta por números: cero avisos perdidos o duplicados en las pruebas de caída, un comando para levantar los ocho contenedores y una imagen rastreable por cada commit.”
PARA PASAR
“Y lo más importante: qué pueden aplicar ustedes desde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Cinco prácticas concretas que se pueden empezar a aplicar sin cambiar de tecnología.
QUÉ DECIR (▶ CLIC = hacer clic)
“Esta es la lámina que más nos importa que se lleven. Nada de esto exige reescribir sus sistemas; todo funciona también con procedimientos almacenados. Primero: saquen la cadena de conexión del código; usen variables de entorno o un gestor de secretos.”
“▶ CLIC Segundo: si un procedimiento tiene que avisarle a otro sistema, no lo llamen ahí mismo. Anoten el aviso en una tabla de pendientes, en la misma transacción, y que un job lo entregue. Ese es el Outbox. ▶ CLIC Tercero: todo lo que se reintenta, un pago, un correo, un registro, debe ser idempotente: una tabla de procesados con llave única.”
“▶ CLIC Cuarto: un mismo identificador en todos los logs, para seguir una operación de un sistema a otro. ▶ CLIC Y quinto: el mismo paquete en todos los ambientes, para que lo que se prueba sea lo que se despliega.”
SI HAY TIEMPO, SE PUEDE AGREGAR
“El orden que recomendamos: primero la cadena de conexión, porque es un cambio pequeño que baja un riesgo real; después la tabla de pendientes en el proceso que más falla hoy; y luego la idempotencia en lo que se reintenta.”
“Ninguna de estas prácticas exige Java, microservicios ni Kubernetes. Son decisiones de diseño que se pueden tomar en el sistema que ya tienen.”
SI PREGUNTAN
¿Por dónde empezamos?
RESPUESTA CORTA
Por la cadena de conexión: es el cambio más pequeño y baja un riesgo real de seguridad. Después, la tabla de pendientes en el proceso que más falle hoy.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Tres ideas para recordar al salir de la sala.
QUÉ DECIR (▶ CLIC = hacer clic)
“Tres ideas para cerrar. ▶ CLIC Diseñar para la falla: en un sistema distribuido algo siempre va a fallar, y la diferencia está en cómo reacciona. ▶ CLIC Automatizar la confianza: pruebas, pipeline e infraestructura declarada para cambiar rápido sin miedo. ▶ CLIC Y hacer visible el sistema: lo que no se ve no se puede diagnosticar ni explicar.”
SI HAY TIEMPO, SE PUEDE AGREGAR
“Si se llevan una sola frase: diseñen pensando en qué pasa cuando algo falla, no solo cuando todo sale bien. Y antes de pensar en el cómo, tengan claro el qué.”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QUÉ DECIR (▶ CLIC = hacer clic)
“Empezamos con un endpoint y terminamos con dos microservicios con sus bases de datos, empaquetados, desplegados, observados y documentados, que saben comportarse cuando algo falla.”
“Muchas gracias por acompañarnos, de parte de todo el equipo arka-litos. Con gusto respondemos sus preguntas.”
QUÉ HACER (no se dice)
• Quien orquesta recibe las preguntas y se las pasa a quien presentó esa parte.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121328" y="1926884"/>
            <a:ext cx="321362" cy="667315"/>
          </a:xfrm>
          <a:prstGeom prst="line">
            <a:avLst/>
          </a:prstGeom>
          <a:noFill/>
          <a:ln w="12700">
            <a:solidFill>
              <a:srgbClr val="2BA6CB">
                <a:alpha val="40000"/>
              </a:srgbClr>
            </a:solidFill>
            <a:prstDash val="solid"/>
          </a:ln>
        </p:spPr>
      </p:sp>
      <p:sp>
        <p:nvSpPr>
          <p:cNvPr id="7" name="Shape 5"/>
          <p:cNvSpPr/>
          <p:nvPr/>
        </p:nvSpPr>
        <p:spPr>
          <a:xfrm flipV="1">
            <a:off x="9606165" y="3037351"/>
            <a:ext cx="722094" cy="164813"/>
          </a:xfrm>
          <a:prstGeom prst="line">
            <a:avLst/>
          </a:prstGeom>
          <a:noFill/>
          <a:ln w="12700">
            <a:solidFill>
              <a:srgbClr val="2BA6CB">
                <a:alpha val="40000"/>
              </a:srgbClr>
            </a:solidFill>
            <a:prstDash val="solid"/>
          </a:ln>
        </p:spPr>
      </p:sp>
      <p:sp>
        <p:nvSpPr>
          <p:cNvPr id="8" name="Shape 6"/>
          <p:cNvSpPr/>
          <p:nvPr/>
        </p:nvSpPr>
        <p:spPr>
          <a:xfrm>
            <a:off x="9433129" y="3960285"/>
            <a:ext cx="579074" cy="461796"/>
          </a:xfrm>
          <a:prstGeom prst="line">
            <a:avLst/>
          </a:prstGeom>
          <a:noFill/>
          <a:ln w="12700">
            <a:solidFill>
              <a:srgbClr val="2BA6CB">
                <a:alpha val="40000"/>
              </a:srgbClr>
            </a:solidFill>
            <a:prstDash val="solid"/>
          </a:ln>
        </p:spPr>
      </p:sp>
      <p:sp>
        <p:nvSpPr>
          <p:cNvPr id="9" name="Shape 7"/>
          <p:cNvSpPr/>
          <p:nvPr/>
        </p:nvSpPr>
        <p:spPr>
          <a:xfrm>
            <a:off x="8732520" y="4297680"/>
            <a:ext cx="0" cy="740664"/>
          </a:xfrm>
          <a:prstGeom prst="line">
            <a:avLst/>
          </a:prstGeom>
          <a:noFill/>
          <a:ln w="12700">
            <a:solidFill>
              <a:srgbClr val="2BA6CB">
                <a:alpha val="40000"/>
              </a:srgbClr>
            </a:solidFill>
            <a:prstDash val="solid"/>
          </a:ln>
        </p:spPr>
      </p:sp>
      <p:sp>
        <p:nvSpPr>
          <p:cNvPr id="10" name="Shape 8"/>
          <p:cNvSpPr/>
          <p:nvPr/>
        </p:nvSpPr>
        <p:spPr>
          <a:xfrm flipH="1">
            <a:off x="7452837" y="3960285"/>
            <a:ext cx="579074" cy="461796"/>
          </a:xfrm>
          <a:prstGeom prst="line">
            <a:avLst/>
          </a:prstGeom>
          <a:noFill/>
          <a:ln w="12700">
            <a:solidFill>
              <a:srgbClr val="2BA6CB">
                <a:alpha val="40000"/>
              </a:srgbClr>
            </a:solidFill>
            <a:prstDash val="solid"/>
          </a:ln>
        </p:spPr>
      </p:sp>
      <p:sp>
        <p:nvSpPr>
          <p:cNvPr id="11" name="Shape 9"/>
          <p:cNvSpPr/>
          <p:nvPr/>
        </p:nvSpPr>
        <p:spPr>
          <a:xfrm flipH="1" flipV="1">
            <a:off x="7136781" y="3037351"/>
            <a:ext cx="722094" cy="164813"/>
          </a:xfrm>
          <a:prstGeom prst="line">
            <a:avLst/>
          </a:prstGeom>
          <a:noFill/>
          <a:ln w="12700">
            <a:solidFill>
              <a:srgbClr val="2BA6CB">
                <a:alpha val="40000"/>
              </a:srgbClr>
            </a:solidFill>
            <a:prstDash val="solid"/>
          </a:ln>
        </p:spPr>
      </p:sp>
      <p:sp>
        <p:nvSpPr>
          <p:cNvPr id="12" name="Shape 10"/>
          <p:cNvSpPr/>
          <p:nvPr/>
        </p:nvSpPr>
        <p:spPr>
          <a:xfrm flipH="1" flipV="1">
            <a:off x="8022350" y="1926884"/>
            <a:ext cx="321362" cy="667315"/>
          </a:xfrm>
          <a:prstGeom prst="line">
            <a:avLst/>
          </a:prstGeom>
          <a:noFill/>
          <a:ln w="12700">
            <a:solidFill>
              <a:srgbClr val="2BA6CB">
                <a:alpha val="40000"/>
              </a:srgbClr>
            </a:solidFill>
            <a:prstDash val="solid"/>
          </a:ln>
        </p:spPr>
      </p:sp>
      <p:sp>
        <p:nvSpPr>
          <p:cNvPr id="13" name="Shape 11"/>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4" name="Shape 12"/>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5" name="Icono ship-wheel"/>
          <p:cNvSpPr/>
          <p:nvPr/>
        </p:nvSpPr>
        <p:spPr>
          <a:xfrm>
            <a:off x="8430768" y="2871216"/>
            <a:ext cx="603504" cy="603504"/>
          </a:xfrm>
          <a:custGeom>
            <a:avLst/>
            <a:gdLst/>
            <a:ahLst/>
            <a:cxnLst/>
            <a:rect l="l" t="t" r="r" b="b"/>
            <a:pathLst>
              <a:path w="603504" h="603504">
                <a:moveTo>
                  <a:pt x="502920" y="301752"/>
                </a:moveTo>
                <a:cubicBezTo>
                  <a:pt x="502920" y="412854"/>
                  <a:pt x="412854" y="502920"/>
                  <a:pt x="301752" y="502920"/>
                </a:cubicBezTo>
                <a:cubicBezTo>
                  <a:pt x="190650" y="502920"/>
                  <a:pt x="100584" y="412854"/>
                  <a:pt x="100584" y="301752"/>
                </a:cubicBezTo>
                <a:cubicBezTo>
                  <a:pt x="100584" y="190650"/>
                  <a:pt x="190650" y="100584"/>
                  <a:pt x="301752" y="100584"/>
                </a:cubicBezTo>
                <a:cubicBezTo>
                  <a:pt x="412854" y="100584"/>
                  <a:pt x="502920" y="190650"/>
                  <a:pt x="502920" y="301752"/>
                </a:cubicBezTo>
                <a:close/>
                <a:moveTo>
                  <a:pt x="301752" y="50292"/>
                </a:moveTo>
                <a:lnTo>
                  <a:pt x="301752" y="238887"/>
                </a:lnTo>
                <a:moveTo>
                  <a:pt x="477774" y="125730"/>
                </a:moveTo>
                <a:lnTo>
                  <a:pt x="346260" y="257244"/>
                </a:lnTo>
                <a:moveTo>
                  <a:pt x="553212" y="301752"/>
                </a:moveTo>
                <a:lnTo>
                  <a:pt x="364617" y="301752"/>
                </a:lnTo>
                <a:moveTo>
                  <a:pt x="477774" y="477774"/>
                </a:moveTo>
                <a:lnTo>
                  <a:pt x="346260" y="346260"/>
                </a:lnTo>
                <a:moveTo>
                  <a:pt x="301752" y="364617"/>
                </a:moveTo>
                <a:lnTo>
                  <a:pt x="301752" y="553212"/>
                </a:lnTo>
                <a:moveTo>
                  <a:pt x="257244" y="346260"/>
                </a:moveTo>
                <a:lnTo>
                  <a:pt x="125730" y="477774"/>
                </a:lnTo>
                <a:moveTo>
                  <a:pt x="238887" y="301752"/>
                </a:moveTo>
                <a:lnTo>
                  <a:pt x="50292" y="301752"/>
                </a:lnTo>
                <a:moveTo>
                  <a:pt x="257244" y="257244"/>
                </a:moveTo>
                <a:lnTo>
                  <a:pt x="125730" y="125730"/>
                </a:lnTo>
                <a:moveTo>
                  <a:pt x="364617" y="301752"/>
                </a:moveTo>
                <a:cubicBezTo>
                  <a:pt x="364617" y="336471"/>
                  <a:pt x="336471" y="364617"/>
                  <a:pt x="301752" y="364617"/>
                </a:cubicBezTo>
                <a:cubicBezTo>
                  <a:pt x="267033" y="364617"/>
                  <a:pt x="238887" y="336471"/>
                  <a:pt x="238887" y="301752"/>
                </a:cubicBezTo>
                <a:cubicBezTo>
                  <a:pt x="238887" y="267033"/>
                  <a:pt x="267033" y="238887"/>
                  <a:pt x="301752" y="238887"/>
                </a:cubicBezTo>
                <a:cubicBezTo>
                  <a:pt x="336471" y="238887"/>
                  <a:pt x="364617" y="267033"/>
                  <a:pt x="364617" y="301752"/>
                </a:cubicBezTo>
                <a:close/>
              </a:path>
            </a:pathLst>
          </a:custGeom>
          <a:noFill/>
          <a:ln w="37719" cap="rnd">
            <a:solidFill>
              <a:srgbClr val="2BA6CB"/>
            </a:solidFill>
            <a:prstDash val="solid"/>
            <a:round/>
          </a:ln>
        </p:spPr>
      </p:sp>
      <p:sp>
        <p:nvSpPr>
          <p:cNvPr id="16" name="Text 14"/>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17" name="Shape 15"/>
          <p:cNvSpPr/>
          <p:nvPr/>
        </p:nvSpPr>
        <p:spPr>
          <a:xfrm>
            <a:off x="9283766"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8" name="Icono code"/>
          <p:cNvSpPr/>
          <p:nvPr/>
        </p:nvSpPr>
        <p:spPr>
          <a:xfrm>
            <a:off x="9430070" y="1474851"/>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19" name="Text 17"/>
          <p:cNvSpPr/>
          <p:nvPr/>
        </p:nvSpPr>
        <p:spPr>
          <a:xfrm>
            <a:off x="9704390"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0" name="Text 18"/>
          <p:cNvSpPr/>
          <p:nvPr/>
        </p:nvSpPr>
        <p:spPr>
          <a:xfrm>
            <a:off x="9978710" y="1483995"/>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1" name="Shape 19"/>
          <p:cNvSpPr/>
          <p:nvPr/>
        </p:nvSpPr>
        <p:spPr>
          <a:xfrm>
            <a:off x="10347437"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2" name="Icono network"/>
          <p:cNvSpPr/>
          <p:nvPr/>
        </p:nvSpPr>
        <p:spPr>
          <a:xfrm>
            <a:off x="10493741" y="2808653"/>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3" name="Text 21"/>
          <p:cNvSpPr/>
          <p:nvPr/>
        </p:nvSpPr>
        <p:spPr>
          <a:xfrm>
            <a:off x="10768061"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4" name="Text 22"/>
          <p:cNvSpPr/>
          <p:nvPr/>
        </p:nvSpPr>
        <p:spPr>
          <a:xfrm>
            <a:off x="11042381" y="2817797"/>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5" name="Shape 23"/>
          <p:cNvSpPr/>
          <p:nvPr/>
        </p:nvSpPr>
        <p:spPr>
          <a:xfrm>
            <a:off x="9967817"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6" name="Icono database"/>
          <p:cNvSpPr/>
          <p:nvPr/>
        </p:nvSpPr>
        <p:spPr>
          <a:xfrm>
            <a:off x="10114121" y="4471876"/>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7" name="Text 25"/>
          <p:cNvSpPr/>
          <p:nvPr/>
        </p:nvSpPr>
        <p:spPr>
          <a:xfrm>
            <a:off x="10388441"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8" name="Text 26"/>
          <p:cNvSpPr/>
          <p:nvPr/>
        </p:nvSpPr>
        <p:spPr>
          <a:xfrm>
            <a:off x="10662761" y="4481020"/>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29" name="Shape 27"/>
          <p:cNvSpPr/>
          <p:nvPr/>
        </p:nvSpPr>
        <p:spPr>
          <a:xfrm>
            <a:off x="8430768" y="50657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0" name="Icono waypoints"/>
          <p:cNvSpPr/>
          <p:nvPr/>
        </p:nvSpPr>
        <p:spPr>
          <a:xfrm>
            <a:off x="8577072" y="5212080"/>
            <a:ext cx="310896" cy="310896"/>
          </a:xfrm>
          <a:custGeom>
            <a:avLst/>
            <a:gdLst/>
            <a:ahLst/>
            <a:cxnLst/>
            <a:rect l="l" t="t" r="r" b="b"/>
            <a:pathLst>
              <a:path w="310896" h="310896">
                <a:moveTo>
                  <a:pt x="187833" y="58293"/>
                </a:moveTo>
                <a:cubicBezTo>
                  <a:pt x="187833" y="76179"/>
                  <a:pt x="173334" y="90678"/>
                  <a:pt x="155448" y="90678"/>
                </a:cubicBezTo>
                <a:cubicBezTo>
                  <a:pt x="137562" y="90678"/>
                  <a:pt x="123063" y="76179"/>
                  <a:pt x="123063" y="58293"/>
                </a:cubicBezTo>
                <a:cubicBezTo>
                  <a:pt x="123063" y="40407"/>
                  <a:pt x="137562" y="25908"/>
                  <a:pt x="155448" y="25908"/>
                </a:cubicBezTo>
                <a:cubicBezTo>
                  <a:pt x="173334" y="25908"/>
                  <a:pt x="187833" y="40407"/>
                  <a:pt x="187833" y="58293"/>
                </a:cubicBezTo>
                <a:close/>
                <a:moveTo>
                  <a:pt x="132131" y="81610"/>
                </a:moveTo>
                <a:lnTo>
                  <a:pt x="81610" y="132131"/>
                </a:lnTo>
                <a:moveTo>
                  <a:pt x="90678" y="155448"/>
                </a:moveTo>
                <a:cubicBezTo>
                  <a:pt x="90678" y="173334"/>
                  <a:pt x="76179" y="187833"/>
                  <a:pt x="58293" y="187833"/>
                </a:cubicBezTo>
                <a:cubicBezTo>
                  <a:pt x="40407" y="187833"/>
                  <a:pt x="25908" y="173334"/>
                  <a:pt x="25908" y="155448"/>
                </a:cubicBezTo>
                <a:cubicBezTo>
                  <a:pt x="25908" y="137562"/>
                  <a:pt x="40407" y="123063"/>
                  <a:pt x="58293" y="123063"/>
                </a:cubicBezTo>
                <a:cubicBezTo>
                  <a:pt x="76179" y="123063"/>
                  <a:pt x="90678" y="137562"/>
                  <a:pt x="90678" y="155448"/>
                </a:cubicBezTo>
                <a:close/>
                <a:moveTo>
                  <a:pt x="90678" y="155448"/>
                </a:moveTo>
                <a:lnTo>
                  <a:pt x="220218" y="155448"/>
                </a:lnTo>
                <a:moveTo>
                  <a:pt x="284988" y="155448"/>
                </a:moveTo>
                <a:cubicBezTo>
                  <a:pt x="284988" y="173334"/>
                  <a:pt x="270489" y="187833"/>
                  <a:pt x="252603" y="187833"/>
                </a:cubicBezTo>
                <a:cubicBezTo>
                  <a:pt x="234717" y="187833"/>
                  <a:pt x="220218" y="173334"/>
                  <a:pt x="220218" y="155448"/>
                </a:cubicBezTo>
                <a:cubicBezTo>
                  <a:pt x="220218" y="137562"/>
                  <a:pt x="234717" y="123063"/>
                  <a:pt x="252603" y="123063"/>
                </a:cubicBezTo>
                <a:cubicBezTo>
                  <a:pt x="270489" y="123063"/>
                  <a:pt x="284988" y="137562"/>
                  <a:pt x="284988" y="155448"/>
                </a:cubicBezTo>
                <a:close/>
                <a:moveTo>
                  <a:pt x="178765" y="229286"/>
                </a:moveTo>
                <a:lnTo>
                  <a:pt x="229286" y="178765"/>
                </a:lnTo>
                <a:moveTo>
                  <a:pt x="187833" y="252603"/>
                </a:moveTo>
                <a:cubicBezTo>
                  <a:pt x="187833" y="270489"/>
                  <a:pt x="173334" y="284988"/>
                  <a:pt x="155448" y="284988"/>
                </a:cubicBezTo>
                <a:cubicBezTo>
                  <a:pt x="137562" y="284988"/>
                  <a:pt x="123063" y="270489"/>
                  <a:pt x="123063" y="252603"/>
                </a:cubicBezTo>
                <a:cubicBezTo>
                  <a:pt x="123063" y="234717"/>
                  <a:pt x="137562" y="220218"/>
                  <a:pt x="155448" y="220218"/>
                </a:cubicBezTo>
                <a:cubicBezTo>
                  <a:pt x="173334" y="220218"/>
                  <a:pt x="187833" y="234717"/>
                  <a:pt x="187833" y="252603"/>
                </a:cubicBezTo>
                <a:close/>
              </a:path>
            </a:pathLst>
          </a:custGeom>
          <a:noFill/>
          <a:ln w="25908" cap="rnd">
            <a:solidFill>
              <a:srgbClr val="2BA6CB"/>
            </a:solidFill>
            <a:prstDash val="solid"/>
            <a:round/>
          </a:ln>
        </p:spPr>
      </p:sp>
      <p:sp>
        <p:nvSpPr>
          <p:cNvPr id="31" name="Text 29"/>
          <p:cNvSpPr/>
          <p:nvPr/>
        </p:nvSpPr>
        <p:spPr>
          <a:xfrm>
            <a:off x="8851392" y="49926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2" name="Text 30"/>
          <p:cNvSpPr/>
          <p:nvPr/>
        </p:nvSpPr>
        <p:spPr>
          <a:xfrm>
            <a:off x="9125712" y="52212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Interconexión</a:t>
            </a:r>
            <a:endParaRPr lang="en-US" sz="1050" dirty="0"/>
          </a:p>
        </p:txBody>
      </p:sp>
      <p:sp>
        <p:nvSpPr>
          <p:cNvPr id="33" name="Shape 31"/>
          <p:cNvSpPr/>
          <p:nvPr/>
        </p:nvSpPr>
        <p:spPr>
          <a:xfrm>
            <a:off x="6893719"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4" name="Icono container"/>
          <p:cNvSpPr/>
          <p:nvPr/>
        </p:nvSpPr>
        <p:spPr>
          <a:xfrm>
            <a:off x="7040023" y="4471876"/>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5" name="Text 33"/>
          <p:cNvSpPr/>
          <p:nvPr/>
        </p:nvSpPr>
        <p:spPr>
          <a:xfrm>
            <a:off x="7314343"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6" name="Text 34"/>
          <p:cNvSpPr/>
          <p:nvPr/>
        </p:nvSpPr>
        <p:spPr>
          <a:xfrm>
            <a:off x="5659279" y="4481020"/>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DevOps</a:t>
            </a:r>
            <a:endParaRPr lang="en-US" sz="1050" dirty="0"/>
          </a:p>
        </p:txBody>
      </p:sp>
      <p:sp>
        <p:nvSpPr>
          <p:cNvPr id="37" name="Shape 35"/>
          <p:cNvSpPr/>
          <p:nvPr/>
        </p:nvSpPr>
        <p:spPr>
          <a:xfrm>
            <a:off x="6514099"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8" name="Icono chart-line"/>
          <p:cNvSpPr/>
          <p:nvPr/>
        </p:nvSpPr>
        <p:spPr>
          <a:xfrm>
            <a:off x="6660403" y="2808653"/>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39" name="Text 37"/>
          <p:cNvSpPr/>
          <p:nvPr/>
        </p:nvSpPr>
        <p:spPr>
          <a:xfrm>
            <a:off x="6934723"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0" name="Text 38"/>
          <p:cNvSpPr/>
          <p:nvPr/>
        </p:nvSpPr>
        <p:spPr>
          <a:xfrm>
            <a:off x="5279659" y="2817797"/>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1" name="Shape 39"/>
          <p:cNvSpPr/>
          <p:nvPr/>
        </p:nvSpPr>
        <p:spPr>
          <a:xfrm>
            <a:off x="7577770"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2" name="Icono monitor"/>
          <p:cNvSpPr/>
          <p:nvPr/>
        </p:nvSpPr>
        <p:spPr>
          <a:xfrm>
            <a:off x="7724074" y="1474851"/>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2BA6CB"/>
            </a:solidFill>
            <a:prstDash val="solid"/>
            <a:round/>
          </a:ln>
        </p:spPr>
      </p:sp>
      <p:sp>
        <p:nvSpPr>
          <p:cNvPr id="43" name="Text 41"/>
          <p:cNvSpPr/>
          <p:nvPr/>
        </p:nvSpPr>
        <p:spPr>
          <a:xfrm>
            <a:off x="7998394"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4" name="Text 42"/>
          <p:cNvSpPr/>
          <p:nvPr/>
        </p:nvSpPr>
        <p:spPr>
          <a:xfrm>
            <a:off x="6343330" y="1483995"/>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Demostración</a:t>
            </a:r>
            <a:endParaRPr lang="en-US" sz="1050" dirty="0"/>
          </a:p>
        </p:txBody>
      </p:sp>
      <p:sp>
        <p:nvSpPr>
          <p:cNvPr id="45" name="Shape 43"/>
          <p:cNvSpPr/>
          <p:nvPr/>
        </p:nvSpPr>
        <p:spPr>
          <a:xfrm>
            <a:off x="758952" y="530352"/>
            <a:ext cx="329184" cy="329184"/>
          </a:xfrm>
          <a:prstGeom prst="ellipse">
            <a:avLst/>
          </a:prstGeom>
          <a:solidFill>
            <a:srgbClr val="2BA6CB"/>
          </a:solidFill>
          <a:ln w="12700">
            <a:solidFill>
              <a:srgbClr val="2BA6CB"/>
            </a:solidFill>
            <a:prstDash val="solid"/>
          </a:ln>
        </p:spPr>
      </p:sp>
      <p:sp>
        <p:nvSpPr>
          <p:cNvPr id="46" name="Text 4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47" name="Text 4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48" name="Text 46"/>
          <p:cNvSpPr/>
          <p:nvPr/>
        </p:nvSpPr>
        <p:spPr>
          <a:xfrm>
            <a:off x="758952" y="1371600"/>
            <a:ext cx="5669280" cy="274320"/>
          </a:xfrm>
          <a:prstGeom prst="rect">
            <a:avLst/>
          </a:prstGeom>
          <a:noFill/>
          <a:ln/>
        </p:spPr>
        <p:txBody>
          <a:bodyPr wrap="square" lIns="0" tIns="0" rIns="0" bIns="0" rtlCol="0" anchor="ctr">
            <a:normAutofit/>
          </a:bodyP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EQUIPO ARKA-LITOS · UPSKILLING BACKEND JAVA</a:t>
            </a:r>
            <a:endParaRPr lang="en-US" sz="1200" dirty="0"/>
          </a:p>
        </p:txBody>
      </p:sp>
      <p:sp>
        <p:nvSpPr>
          <p:cNvPr id="49" name="Text 47"/>
          <p:cNvSpPr/>
          <p:nvPr/>
        </p:nvSpPr>
        <p:spPr>
          <a:xfrm>
            <a:off x="758952" y="1719072"/>
            <a:ext cx="548640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50" name="Text 48"/>
          <p:cNvSpPr/>
          <p:nvPr/>
        </p:nvSpPr>
        <p:spPr>
          <a:xfrm>
            <a:off x="758952" y="3584448"/>
            <a:ext cx="4480560" cy="731520"/>
          </a:xfrm>
          <a:prstGeom prst="rect">
            <a:avLst/>
          </a:prstGeom>
          <a:noFill/>
          <a:ln/>
        </p:spPr>
        <p:txBody>
          <a:bodyPr wrap="square" lIns="0" tIns="0" rIns="0" bIns="0" rtlCol="0" anchor="t"/>
          <a:lstStyle/>
          <a:p>
            <a:pPr indent="0" marL="0">
              <a:buNone/>
            </a:pPr>
            <a:r>
              <a:rPr lang="en-US" sz="1700" dirty="0">
                <a:solidFill>
                  <a:srgbClr val="9FBEE0"/>
                </a:solidFill>
                <a:latin typeface="Segoe UI" pitchFamily="34" charset="0"/>
                <a:ea typeface="Segoe UI" pitchFamily="34" charset="-122"/>
                <a:cs typeface="Segoe UI" pitchFamily="34" charset="-120"/>
              </a:rPr>
              <a:t>Cómo construimos dos microservicios con sus datos, su plataforma y su operación.</a:t>
            </a:r>
            <a:endParaRPr lang="en-US" sz="1700" dirty="0"/>
          </a:p>
        </p:txBody>
      </p:sp>
      <p:sp>
        <p:nvSpPr>
          <p:cNvPr id="51" name="Shape 49"/>
          <p:cNvSpPr/>
          <p:nvPr/>
        </p:nvSpPr>
        <p:spPr>
          <a:xfrm>
            <a:off x="758952" y="4498848"/>
            <a:ext cx="1225296" cy="914400"/>
          </a:xfrm>
          <a:prstGeom prst="roundRect">
            <a:avLst>
              <a:gd name="adj" fmla="val 10000"/>
            </a:avLst>
          </a:prstGeom>
          <a:solidFill>
            <a:srgbClr val="1C2F48"/>
          </a:solidFill>
          <a:ln w="9525">
            <a:solidFill>
              <a:srgbClr val="164E6D"/>
            </a:solidFill>
            <a:prstDash val="solid"/>
          </a:ln>
        </p:spPr>
      </p:sp>
      <p:sp>
        <p:nvSpPr>
          <p:cNvPr id="52" name="Shape 50"/>
          <p:cNvSpPr/>
          <p:nvPr/>
        </p:nvSpPr>
        <p:spPr>
          <a:xfrm>
            <a:off x="758952" y="4590288"/>
            <a:ext cx="45720" cy="731520"/>
          </a:xfrm>
          <a:prstGeom prst="rect">
            <a:avLst/>
          </a:prstGeom>
          <a:solidFill>
            <a:srgbClr val="2BA6CB"/>
          </a:solidFill>
          <a:ln w="12700">
            <a:solidFill>
              <a:srgbClr val="2BA6CB"/>
            </a:solidFill>
            <a:prstDash val="solid"/>
          </a:ln>
        </p:spPr>
      </p:sp>
      <p:sp>
        <p:nvSpPr>
          <p:cNvPr id="53" name="Text 51"/>
          <p:cNvSpPr/>
          <p:nvPr/>
        </p:nvSpPr>
        <p:spPr>
          <a:xfrm>
            <a:off x="905256"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4" name="Text 52"/>
          <p:cNvSpPr/>
          <p:nvPr/>
        </p:nvSpPr>
        <p:spPr>
          <a:xfrm>
            <a:off x="905256"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microservicios</a:t>
            </a:r>
            <a:endParaRPr lang="en-US" sz="1000" dirty="0"/>
          </a:p>
        </p:txBody>
      </p:sp>
      <p:sp>
        <p:nvSpPr>
          <p:cNvPr id="55" name="Shape 53"/>
          <p:cNvSpPr/>
          <p:nvPr/>
        </p:nvSpPr>
        <p:spPr>
          <a:xfrm>
            <a:off x="2075688" y="4498848"/>
            <a:ext cx="1225296" cy="914400"/>
          </a:xfrm>
          <a:prstGeom prst="roundRect">
            <a:avLst>
              <a:gd name="adj" fmla="val 10000"/>
            </a:avLst>
          </a:prstGeom>
          <a:solidFill>
            <a:srgbClr val="1C2F48"/>
          </a:solidFill>
          <a:ln w="9525">
            <a:solidFill>
              <a:srgbClr val="164E6D"/>
            </a:solidFill>
            <a:prstDash val="solid"/>
          </a:ln>
        </p:spPr>
      </p:sp>
      <p:sp>
        <p:nvSpPr>
          <p:cNvPr id="56" name="Shape 54"/>
          <p:cNvSpPr/>
          <p:nvPr/>
        </p:nvSpPr>
        <p:spPr>
          <a:xfrm>
            <a:off x="2075688" y="4590288"/>
            <a:ext cx="45720" cy="731520"/>
          </a:xfrm>
          <a:prstGeom prst="rect">
            <a:avLst/>
          </a:prstGeom>
          <a:solidFill>
            <a:srgbClr val="2BA6CB"/>
          </a:solidFill>
          <a:ln w="12700">
            <a:solidFill>
              <a:srgbClr val="2BA6CB"/>
            </a:solidFill>
            <a:prstDash val="solid"/>
          </a:ln>
        </p:spPr>
      </p:sp>
      <p:sp>
        <p:nvSpPr>
          <p:cNvPr id="57" name="Text 55"/>
          <p:cNvSpPr/>
          <p:nvPr/>
        </p:nvSpPr>
        <p:spPr>
          <a:xfrm>
            <a:off x="2221992"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8" name="Text 56"/>
          <p:cNvSpPr/>
          <p:nvPr/>
        </p:nvSpPr>
        <p:spPr>
          <a:xfrm>
            <a:off x="2221992"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bases PostgreSQL</a:t>
            </a:r>
            <a:endParaRPr lang="en-US" sz="1000" dirty="0"/>
          </a:p>
        </p:txBody>
      </p:sp>
      <p:sp>
        <p:nvSpPr>
          <p:cNvPr id="59" name="Shape 57"/>
          <p:cNvSpPr/>
          <p:nvPr/>
        </p:nvSpPr>
        <p:spPr>
          <a:xfrm>
            <a:off x="3392424" y="4498848"/>
            <a:ext cx="1225296" cy="914400"/>
          </a:xfrm>
          <a:prstGeom prst="roundRect">
            <a:avLst>
              <a:gd name="adj" fmla="val 10000"/>
            </a:avLst>
          </a:prstGeom>
          <a:solidFill>
            <a:srgbClr val="1C2F48"/>
          </a:solidFill>
          <a:ln w="9525">
            <a:solidFill>
              <a:srgbClr val="164E6D"/>
            </a:solidFill>
            <a:prstDash val="solid"/>
          </a:ln>
        </p:spPr>
      </p:sp>
      <p:sp>
        <p:nvSpPr>
          <p:cNvPr id="60" name="Shape 58"/>
          <p:cNvSpPr/>
          <p:nvPr/>
        </p:nvSpPr>
        <p:spPr>
          <a:xfrm>
            <a:off x="3392424" y="4590288"/>
            <a:ext cx="45720" cy="731520"/>
          </a:xfrm>
          <a:prstGeom prst="rect">
            <a:avLst/>
          </a:prstGeom>
          <a:solidFill>
            <a:srgbClr val="2BA6CB"/>
          </a:solidFill>
          <a:ln w="12700">
            <a:solidFill>
              <a:srgbClr val="2BA6CB"/>
            </a:solidFill>
            <a:prstDash val="solid"/>
          </a:ln>
        </p:spPr>
      </p:sp>
      <p:sp>
        <p:nvSpPr>
          <p:cNvPr id="61" name="Text 59"/>
          <p:cNvSpPr/>
          <p:nvPr/>
        </p:nvSpPr>
        <p:spPr>
          <a:xfrm>
            <a:off x="3538728"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1</a:t>
            </a:r>
            <a:endParaRPr lang="en-US" sz="2600" dirty="0"/>
          </a:p>
        </p:txBody>
      </p:sp>
      <p:sp>
        <p:nvSpPr>
          <p:cNvPr id="62" name="Text 60"/>
          <p:cNvSpPr/>
          <p:nvPr/>
        </p:nvSpPr>
        <p:spPr>
          <a:xfrm>
            <a:off x="3538728"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comando levanta todo</a:t>
            </a:r>
            <a:endParaRPr lang="en-US" sz="1000" dirty="0"/>
          </a:p>
        </p:txBody>
      </p:sp>
      <p:sp>
        <p:nvSpPr>
          <p:cNvPr id="63" name="Shape 61"/>
          <p:cNvSpPr/>
          <p:nvPr/>
        </p:nvSpPr>
        <p:spPr>
          <a:xfrm>
            <a:off x="4709160" y="4498848"/>
            <a:ext cx="1225296" cy="914400"/>
          </a:xfrm>
          <a:prstGeom prst="roundRect">
            <a:avLst>
              <a:gd name="adj" fmla="val 10000"/>
            </a:avLst>
          </a:prstGeom>
          <a:solidFill>
            <a:srgbClr val="1C2F48"/>
          </a:solidFill>
          <a:ln w="9525">
            <a:solidFill>
              <a:srgbClr val="164E6D"/>
            </a:solidFill>
            <a:prstDash val="solid"/>
          </a:ln>
        </p:spPr>
      </p:sp>
      <p:sp>
        <p:nvSpPr>
          <p:cNvPr id="64" name="Shape 62"/>
          <p:cNvSpPr/>
          <p:nvPr/>
        </p:nvSpPr>
        <p:spPr>
          <a:xfrm>
            <a:off x="4709160" y="4590288"/>
            <a:ext cx="45720" cy="731520"/>
          </a:xfrm>
          <a:prstGeom prst="rect">
            <a:avLst/>
          </a:prstGeom>
          <a:solidFill>
            <a:srgbClr val="2BA6CB"/>
          </a:solidFill>
          <a:ln w="12700">
            <a:solidFill>
              <a:srgbClr val="2BA6CB"/>
            </a:solidFill>
            <a:prstDash val="solid"/>
          </a:ln>
        </p:spPr>
      </p:sp>
      <p:sp>
        <p:nvSpPr>
          <p:cNvPr id="65" name="Text 63"/>
          <p:cNvSpPr/>
          <p:nvPr/>
        </p:nvSpPr>
        <p:spPr>
          <a:xfrm>
            <a:off x="4855464"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0</a:t>
            </a:r>
            <a:endParaRPr lang="en-US" sz="2600" dirty="0"/>
          </a:p>
        </p:txBody>
      </p:sp>
      <p:sp>
        <p:nvSpPr>
          <p:cNvPr id="66" name="Text 64"/>
          <p:cNvSpPr/>
          <p:nvPr/>
        </p:nvSpPr>
        <p:spPr>
          <a:xfrm>
            <a:off x="4855464" y="4974336"/>
            <a:ext cx="1024128" cy="384048"/>
          </a:xfrm>
          <a:prstGeom prst="rect">
            <a:avLst/>
          </a:prstGeom>
          <a:noFill/>
          <a:ln/>
        </p:spPr>
        <p:txBody>
          <a:bodyPr wrap="square" lIns="0" tIns="0" rIns="0" bIns="0" rtlCol="0" anchor="t"/>
          <a:lstStyle/>
          <a:p>
            <a:pPr indent="0" marL="0">
              <a:buNone/>
            </a:pPr>
            <a:r>
              <a:rPr lang="en-US" sz="950" dirty="0">
                <a:solidFill>
                  <a:srgbClr val="9FBEE0"/>
                </a:solidFill>
                <a:latin typeface="Segoe UI" pitchFamily="34" charset="0"/>
                <a:ea typeface="Segoe UI" pitchFamily="34" charset="-122"/>
                <a:cs typeface="Segoe UI" pitchFamily="34" charset="-120"/>
              </a:rPr>
              <a:t>avisos perdidos o duplicados</a:t>
            </a:r>
            <a:endParaRPr lang="en-US" sz="950" dirty="0"/>
          </a:p>
        </p:txBody>
      </p:sp>
      <p:sp>
        <p:nvSpPr>
          <p:cNvPr id="67" name="Text 65"/>
          <p:cNvSpPr/>
          <p:nvPr/>
        </p:nvSpPr>
        <p:spPr>
          <a:xfrm>
            <a:off x="758952" y="5742432"/>
            <a:ext cx="4023360" cy="329184"/>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000" b="1" spc="100" kern="0" dirty="0">
                <a:solidFill>
                  <a:srgbClr val="2BA6CB"/>
                </a:solidFill>
                <a:latin typeface="Segoe UI" pitchFamily="34" charset="0"/>
                <a:ea typeface="Segoe UI" pitchFamily="34" charset="-122"/>
                <a:cs typeface="Segoe UI" pitchFamily="34" charset="-120"/>
              </a:rPr>
              <a:t>VERSIÓN EJECUTIVO · STAFF DE TECNOLOGÍA</a:t>
            </a:r>
            <a:endParaRPr lang="en-US" sz="1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vamos a ver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Las mismas secciones que todos los equipos; nosotros vamos a fondo en datos, interconexión y DevOps.</a:t>
            </a:r>
            <a:endParaRPr lang="en-US" sz="1650" dirty="0"/>
          </a:p>
        </p:txBody>
      </p:sp>
      <p:sp>
        <p:nvSpPr>
          <p:cNvPr id="6" name="Shape 4"/>
          <p:cNvSpPr/>
          <p:nvPr/>
        </p:nvSpPr>
        <p:spPr>
          <a:xfrm>
            <a:off x="1395962" y="3145536"/>
            <a:ext cx="9399771" cy="0"/>
          </a:xfrm>
          <a:prstGeom prst="line">
            <a:avLst/>
          </a:prstGeom>
          <a:noFill/>
          <a:ln w="50800">
            <a:solidFill>
              <a:srgbClr val="75C5DD"/>
            </a:solidFill>
            <a:prstDash val="solid"/>
          </a:ln>
        </p:spPr>
      </p:sp>
      <p:sp>
        <p:nvSpPr>
          <p:cNvPr id="7" name="Shape 5"/>
          <p:cNvSpPr/>
          <p:nvPr/>
        </p:nvSpPr>
        <p:spPr>
          <a:xfrm>
            <a:off x="1021515"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code"/>
          <p:cNvSpPr/>
          <p:nvPr/>
        </p:nvSpPr>
        <p:spPr>
          <a:xfrm>
            <a:off x="1208739" y="2958313"/>
            <a:ext cx="374447" cy="374447"/>
          </a:xfrm>
          <a:custGeom>
            <a:avLst/>
            <a:gdLst/>
            <a:ahLst/>
            <a:cxnLst/>
            <a:rect l="l" t="t" r="r" b="b"/>
            <a:pathLst>
              <a:path w="374447" h="374447">
                <a:moveTo>
                  <a:pt x="249631" y="280835"/>
                </a:moveTo>
                <a:lnTo>
                  <a:pt x="343243" y="187223"/>
                </a:lnTo>
                <a:lnTo>
                  <a:pt x="249631" y="93612"/>
                </a:lnTo>
                <a:moveTo>
                  <a:pt x="124816" y="93612"/>
                </a:moveTo>
                <a:lnTo>
                  <a:pt x="31204" y="187223"/>
                </a:lnTo>
                <a:lnTo>
                  <a:pt x="124816" y="280835"/>
                </a:lnTo>
              </a:path>
            </a:pathLst>
          </a:custGeom>
          <a:noFill/>
          <a:ln w="31204" cap="rnd">
            <a:solidFill>
              <a:srgbClr val="FFFFFF"/>
            </a:solidFill>
            <a:prstDash val="solid"/>
            <a:round/>
          </a:ln>
        </p:spPr>
      </p:sp>
      <p:sp>
        <p:nvSpPr>
          <p:cNvPr id="9" name="Text 7"/>
          <p:cNvSpPr/>
          <p:nvPr/>
        </p:nvSpPr>
        <p:spPr>
          <a:xfrm>
            <a:off x="1515785"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1</a:t>
            </a:r>
            <a:endParaRPr lang="en-US" sz="1150" dirty="0"/>
          </a:p>
        </p:txBody>
      </p:sp>
      <p:sp>
        <p:nvSpPr>
          <p:cNvPr id="10" name="Text 8"/>
          <p:cNvSpPr/>
          <p:nvPr/>
        </p:nvSpPr>
        <p:spPr>
          <a:xfrm>
            <a:off x="649224"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Fundamentos</a:t>
            </a:r>
            <a:endParaRPr lang="en-US" sz="1500" dirty="0"/>
          </a:p>
        </p:txBody>
      </p:sp>
      <p:sp>
        <p:nvSpPr>
          <p:cNvPr id="11" name="Text 9"/>
          <p:cNvSpPr/>
          <p:nvPr/>
        </p:nvSpPr>
        <p:spPr>
          <a:xfrm>
            <a:off x="707876"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12" name="Text 10"/>
          <p:cNvSpPr/>
          <p:nvPr/>
        </p:nvSpPr>
        <p:spPr>
          <a:xfrm>
            <a:off x="667512"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Primero el qué · Código mantenible · Git y documentación</a:t>
            </a:r>
            <a:endParaRPr lang="en-US" sz="1150" dirty="0"/>
          </a:p>
        </p:txBody>
      </p:sp>
      <p:sp>
        <p:nvSpPr>
          <p:cNvPr id="13" name="Shape 11"/>
          <p:cNvSpPr/>
          <p:nvPr/>
        </p:nvSpPr>
        <p:spPr>
          <a:xfrm>
            <a:off x="2588144"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4" name="Icono network"/>
          <p:cNvSpPr/>
          <p:nvPr/>
        </p:nvSpPr>
        <p:spPr>
          <a:xfrm>
            <a:off x="2775367" y="2958313"/>
            <a:ext cx="374447" cy="374447"/>
          </a:xfrm>
          <a:custGeom>
            <a:avLst/>
            <a:gdLst/>
            <a:ahLst/>
            <a:cxnLst/>
            <a:rect l="l" t="t" r="r" b="b"/>
            <a:pathLst>
              <a:path w="374447" h="374447">
                <a:moveTo>
                  <a:pt x="265233" y="249631"/>
                </a:moveTo>
                <a:lnTo>
                  <a:pt x="327641" y="249631"/>
                </a:lnTo>
                <a:cubicBezTo>
                  <a:pt x="336258" y="249631"/>
                  <a:pt x="343243" y="256616"/>
                  <a:pt x="343243" y="265233"/>
                </a:cubicBezTo>
                <a:lnTo>
                  <a:pt x="343243" y="327641"/>
                </a:lnTo>
                <a:cubicBezTo>
                  <a:pt x="343243" y="336258"/>
                  <a:pt x="336258" y="343243"/>
                  <a:pt x="327641" y="343243"/>
                </a:cubicBezTo>
                <a:lnTo>
                  <a:pt x="265233" y="343243"/>
                </a:lnTo>
                <a:cubicBezTo>
                  <a:pt x="256616" y="343243"/>
                  <a:pt x="249631" y="336258"/>
                  <a:pt x="249631" y="327641"/>
                </a:cubicBezTo>
                <a:lnTo>
                  <a:pt x="249631" y="265233"/>
                </a:lnTo>
                <a:cubicBezTo>
                  <a:pt x="249631" y="256616"/>
                  <a:pt x="256616" y="249631"/>
                  <a:pt x="265233" y="249631"/>
                </a:cubicBezTo>
                <a:close/>
                <a:moveTo>
                  <a:pt x="46806" y="249631"/>
                </a:moveTo>
                <a:lnTo>
                  <a:pt x="109214" y="249631"/>
                </a:lnTo>
                <a:cubicBezTo>
                  <a:pt x="117830" y="249631"/>
                  <a:pt x="124816" y="256616"/>
                  <a:pt x="124816" y="265233"/>
                </a:cubicBezTo>
                <a:lnTo>
                  <a:pt x="124816" y="327641"/>
                </a:lnTo>
                <a:cubicBezTo>
                  <a:pt x="124816" y="336258"/>
                  <a:pt x="117830" y="343243"/>
                  <a:pt x="109214" y="343243"/>
                </a:cubicBezTo>
                <a:lnTo>
                  <a:pt x="46806" y="343243"/>
                </a:lnTo>
                <a:cubicBezTo>
                  <a:pt x="38189" y="343243"/>
                  <a:pt x="31204" y="336258"/>
                  <a:pt x="31204" y="327641"/>
                </a:cubicBezTo>
                <a:lnTo>
                  <a:pt x="31204" y="265233"/>
                </a:lnTo>
                <a:cubicBezTo>
                  <a:pt x="31204" y="256616"/>
                  <a:pt x="38189" y="249631"/>
                  <a:pt x="46806" y="249631"/>
                </a:cubicBezTo>
                <a:close/>
                <a:moveTo>
                  <a:pt x="156020" y="31204"/>
                </a:moveTo>
                <a:lnTo>
                  <a:pt x="218427" y="31204"/>
                </a:lnTo>
                <a:cubicBezTo>
                  <a:pt x="227044" y="31204"/>
                  <a:pt x="234029" y="38189"/>
                  <a:pt x="234029" y="46806"/>
                </a:cubicBezTo>
                <a:lnTo>
                  <a:pt x="234029" y="109214"/>
                </a:lnTo>
                <a:cubicBezTo>
                  <a:pt x="234029" y="117830"/>
                  <a:pt x="227044" y="124816"/>
                  <a:pt x="218427" y="124816"/>
                </a:cubicBezTo>
                <a:lnTo>
                  <a:pt x="156020" y="124816"/>
                </a:lnTo>
                <a:cubicBezTo>
                  <a:pt x="147403" y="124816"/>
                  <a:pt x="140418" y="117830"/>
                  <a:pt x="140418" y="109214"/>
                </a:cubicBezTo>
                <a:lnTo>
                  <a:pt x="140418" y="46806"/>
                </a:lnTo>
                <a:cubicBezTo>
                  <a:pt x="140418" y="38189"/>
                  <a:pt x="147403" y="31204"/>
                  <a:pt x="156020" y="31204"/>
                </a:cubicBezTo>
                <a:close/>
                <a:moveTo>
                  <a:pt x="78010" y="249631"/>
                </a:moveTo>
                <a:lnTo>
                  <a:pt x="78010" y="202825"/>
                </a:lnTo>
                <a:cubicBezTo>
                  <a:pt x="78010" y="194209"/>
                  <a:pt x="84995" y="187223"/>
                  <a:pt x="93612" y="187223"/>
                </a:cubicBezTo>
                <a:lnTo>
                  <a:pt x="280835" y="187223"/>
                </a:lnTo>
                <a:cubicBezTo>
                  <a:pt x="289452" y="187223"/>
                  <a:pt x="296437" y="194209"/>
                  <a:pt x="296437" y="202825"/>
                </a:cubicBezTo>
                <a:lnTo>
                  <a:pt x="296437" y="249631"/>
                </a:lnTo>
                <a:moveTo>
                  <a:pt x="187223" y="187223"/>
                </a:moveTo>
                <a:lnTo>
                  <a:pt x="187223" y="124816"/>
                </a:lnTo>
              </a:path>
            </a:pathLst>
          </a:custGeom>
          <a:noFill/>
          <a:ln w="31204" cap="rnd">
            <a:solidFill>
              <a:srgbClr val="FFFFFF"/>
            </a:solidFill>
            <a:prstDash val="solid"/>
            <a:round/>
          </a:ln>
        </p:spPr>
      </p:sp>
      <p:sp>
        <p:nvSpPr>
          <p:cNvPr id="15" name="Text 13"/>
          <p:cNvSpPr/>
          <p:nvPr/>
        </p:nvSpPr>
        <p:spPr>
          <a:xfrm>
            <a:off x="3082414"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2</a:t>
            </a:r>
            <a:endParaRPr lang="en-US" sz="1150" dirty="0"/>
          </a:p>
        </p:txBody>
      </p:sp>
      <p:sp>
        <p:nvSpPr>
          <p:cNvPr id="16" name="Text 14"/>
          <p:cNvSpPr/>
          <p:nvPr/>
        </p:nvSpPr>
        <p:spPr>
          <a:xfrm>
            <a:off x="2215852"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a:t>
            </a:r>
            <a:endParaRPr lang="en-US" sz="1500" dirty="0"/>
          </a:p>
        </p:txBody>
      </p:sp>
      <p:sp>
        <p:nvSpPr>
          <p:cNvPr id="17" name="Text 15"/>
          <p:cNvSpPr/>
          <p:nvPr/>
        </p:nvSpPr>
        <p:spPr>
          <a:xfrm>
            <a:off x="2274505"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18" name="Text 16"/>
          <p:cNvSpPr/>
          <p:nvPr/>
        </p:nvSpPr>
        <p:spPr>
          <a:xfrm>
            <a:off x="2234140"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Microservicios · Una base por servicio · Hexagonal en una frase</a:t>
            </a:r>
            <a:endParaRPr lang="en-US" sz="1150" dirty="0"/>
          </a:p>
        </p:txBody>
      </p:sp>
      <p:sp>
        <p:nvSpPr>
          <p:cNvPr id="19" name="[p1] Forma"/>
          <p:cNvSpPr/>
          <p:nvPr/>
        </p:nvSpPr>
        <p:spPr>
          <a:xfrm>
            <a:off x="4049159"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20" name="[p1] Icono database"/>
          <p:cNvSpPr/>
          <p:nvPr/>
        </p:nvSpPr>
        <p:spPr>
          <a:xfrm>
            <a:off x="4289189" y="2905506"/>
            <a:ext cx="480060" cy="480060"/>
          </a:xfrm>
          <a:custGeom>
            <a:avLst/>
            <a:gdLst/>
            <a:ahLst/>
            <a:cxnLst/>
            <a:rect l="l" t="t" r="r" b="b"/>
            <a:pathLst>
              <a:path w="480060" h="480060">
                <a:moveTo>
                  <a:pt x="420053" y="100013"/>
                </a:moveTo>
                <a:cubicBezTo>
                  <a:pt x="420053" y="133154"/>
                  <a:pt x="339454" y="160020"/>
                  <a:pt x="240030" y="160020"/>
                </a:cubicBezTo>
                <a:cubicBezTo>
                  <a:pt x="140606" y="160020"/>
                  <a:pt x="60008" y="133154"/>
                  <a:pt x="60008" y="100013"/>
                </a:cubicBezTo>
                <a:cubicBezTo>
                  <a:pt x="60008" y="66871"/>
                  <a:pt x="140606" y="40005"/>
                  <a:pt x="240030" y="40005"/>
                </a:cubicBezTo>
                <a:cubicBezTo>
                  <a:pt x="339454" y="40005"/>
                  <a:pt x="420053" y="66871"/>
                  <a:pt x="420053" y="100013"/>
                </a:cubicBezTo>
                <a:close/>
                <a:moveTo>
                  <a:pt x="60008" y="100013"/>
                </a:moveTo>
                <a:lnTo>
                  <a:pt x="60008" y="380048"/>
                </a:lnTo>
                <a:cubicBezTo>
                  <a:pt x="60008" y="413189"/>
                  <a:pt x="140606" y="440055"/>
                  <a:pt x="240030" y="440055"/>
                </a:cubicBezTo>
                <a:cubicBezTo>
                  <a:pt x="339454" y="440055"/>
                  <a:pt x="420053" y="413189"/>
                  <a:pt x="420053" y="380048"/>
                </a:cubicBezTo>
                <a:lnTo>
                  <a:pt x="420053" y="100013"/>
                </a:lnTo>
                <a:moveTo>
                  <a:pt x="60008" y="240030"/>
                </a:moveTo>
                <a:cubicBezTo>
                  <a:pt x="60008" y="273171"/>
                  <a:pt x="140606" y="300038"/>
                  <a:pt x="240030" y="300038"/>
                </a:cubicBezTo>
                <a:cubicBezTo>
                  <a:pt x="339454" y="300038"/>
                  <a:pt x="420053" y="273171"/>
                  <a:pt x="420053" y="240030"/>
                </a:cubicBezTo>
              </a:path>
            </a:pathLst>
          </a:custGeom>
          <a:noFill/>
          <a:ln w="40005" cap="rnd">
            <a:solidFill>
              <a:srgbClr val="FFFFFF"/>
            </a:solidFill>
            <a:prstDash val="solid"/>
            <a:round/>
          </a:ln>
        </p:spPr>
      </p:sp>
      <p:sp>
        <p:nvSpPr>
          <p:cNvPr id="21" name="[p1] Forma"/>
          <p:cNvSpPr/>
          <p:nvPr/>
        </p:nvSpPr>
        <p:spPr>
          <a:xfrm>
            <a:off x="4682838"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3</a:t>
            </a:r>
            <a:endParaRPr lang="en-US" sz="1150" dirty="0"/>
          </a:p>
        </p:txBody>
      </p:sp>
      <p:sp>
        <p:nvSpPr>
          <p:cNvPr id="22" name="[p1] Forma"/>
          <p:cNvSpPr/>
          <p:nvPr/>
        </p:nvSpPr>
        <p:spPr>
          <a:xfrm>
            <a:off x="3782481"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Base de datos</a:t>
            </a:r>
            <a:endParaRPr lang="en-US" sz="1500" dirty="0"/>
          </a:p>
        </p:txBody>
      </p:sp>
      <p:sp>
        <p:nvSpPr>
          <p:cNvPr id="23" name="[p1] Forma"/>
          <p:cNvSpPr/>
          <p:nvPr/>
        </p:nvSpPr>
        <p:spPr>
          <a:xfrm>
            <a:off x="4074305"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24" name="[p1] Forma"/>
          <p:cNvSpPr/>
          <p:nvPr/>
        </p:nvSpPr>
        <p:spPr>
          <a:xfrm>
            <a:off x="3800769"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Modelo de datos · ORM con JPA · Cadena de conexión</a:t>
            </a:r>
            <a:endParaRPr lang="en-US" sz="1150" dirty="0"/>
          </a:p>
        </p:txBody>
      </p:sp>
      <p:sp>
        <p:nvSpPr>
          <p:cNvPr id="25" name="[p1] Forma"/>
          <p:cNvSpPr/>
          <p:nvPr/>
        </p:nvSpPr>
        <p:spPr>
          <a:xfrm>
            <a:off x="5615788"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26" name="[p1] Icono waypoints"/>
          <p:cNvSpPr/>
          <p:nvPr/>
        </p:nvSpPr>
        <p:spPr>
          <a:xfrm>
            <a:off x="5855818" y="2905506"/>
            <a:ext cx="480060" cy="480060"/>
          </a:xfrm>
          <a:custGeom>
            <a:avLst/>
            <a:gdLst/>
            <a:ahLst/>
            <a:cxnLst/>
            <a:rect l="l" t="t" r="r" b="b"/>
            <a:pathLst>
              <a:path w="480060" h="480060">
                <a:moveTo>
                  <a:pt x="290036" y="90011"/>
                </a:moveTo>
                <a:cubicBezTo>
                  <a:pt x="290036" y="117629"/>
                  <a:pt x="267648" y="140018"/>
                  <a:pt x="240030" y="140018"/>
                </a:cubicBezTo>
                <a:cubicBezTo>
                  <a:pt x="212412" y="140018"/>
                  <a:pt x="190024" y="117629"/>
                  <a:pt x="190024" y="90011"/>
                </a:cubicBezTo>
                <a:cubicBezTo>
                  <a:pt x="190024" y="62394"/>
                  <a:pt x="212412" y="40005"/>
                  <a:pt x="240030" y="40005"/>
                </a:cubicBezTo>
                <a:cubicBezTo>
                  <a:pt x="267648" y="40005"/>
                  <a:pt x="290036" y="62394"/>
                  <a:pt x="290036" y="90011"/>
                </a:cubicBezTo>
                <a:close/>
                <a:moveTo>
                  <a:pt x="204026" y="126016"/>
                </a:moveTo>
                <a:lnTo>
                  <a:pt x="126016" y="204026"/>
                </a:lnTo>
                <a:moveTo>
                  <a:pt x="140018" y="240030"/>
                </a:moveTo>
                <a:cubicBezTo>
                  <a:pt x="140018" y="267648"/>
                  <a:pt x="117629" y="290036"/>
                  <a:pt x="90011" y="290036"/>
                </a:cubicBezTo>
                <a:cubicBezTo>
                  <a:pt x="62394" y="290036"/>
                  <a:pt x="40005" y="267648"/>
                  <a:pt x="40005" y="240030"/>
                </a:cubicBezTo>
                <a:cubicBezTo>
                  <a:pt x="40005" y="212412"/>
                  <a:pt x="62394" y="190024"/>
                  <a:pt x="90011" y="190024"/>
                </a:cubicBezTo>
                <a:cubicBezTo>
                  <a:pt x="117629" y="190024"/>
                  <a:pt x="140018" y="212412"/>
                  <a:pt x="140018" y="240030"/>
                </a:cubicBezTo>
                <a:close/>
                <a:moveTo>
                  <a:pt x="140018" y="240030"/>
                </a:moveTo>
                <a:lnTo>
                  <a:pt x="340043" y="240030"/>
                </a:lnTo>
                <a:moveTo>
                  <a:pt x="440055" y="240030"/>
                </a:moveTo>
                <a:cubicBezTo>
                  <a:pt x="440055" y="267648"/>
                  <a:pt x="417666" y="290036"/>
                  <a:pt x="390049" y="290036"/>
                </a:cubicBezTo>
                <a:cubicBezTo>
                  <a:pt x="362431" y="290036"/>
                  <a:pt x="340043" y="267648"/>
                  <a:pt x="340043" y="240030"/>
                </a:cubicBezTo>
                <a:cubicBezTo>
                  <a:pt x="340043" y="212412"/>
                  <a:pt x="362431" y="190024"/>
                  <a:pt x="390049" y="190024"/>
                </a:cubicBezTo>
                <a:cubicBezTo>
                  <a:pt x="417666" y="190024"/>
                  <a:pt x="440055" y="212412"/>
                  <a:pt x="440055" y="240030"/>
                </a:cubicBezTo>
                <a:close/>
                <a:moveTo>
                  <a:pt x="276035" y="354044"/>
                </a:moveTo>
                <a:lnTo>
                  <a:pt x="354044" y="276035"/>
                </a:lnTo>
                <a:moveTo>
                  <a:pt x="290036" y="390049"/>
                </a:moveTo>
                <a:cubicBezTo>
                  <a:pt x="290036" y="417666"/>
                  <a:pt x="267648" y="440055"/>
                  <a:pt x="240030" y="440055"/>
                </a:cubicBezTo>
                <a:cubicBezTo>
                  <a:pt x="212412" y="440055"/>
                  <a:pt x="190024" y="417666"/>
                  <a:pt x="190024" y="390049"/>
                </a:cubicBezTo>
                <a:cubicBezTo>
                  <a:pt x="190024" y="362431"/>
                  <a:pt x="212412" y="340043"/>
                  <a:pt x="240030" y="340043"/>
                </a:cubicBezTo>
                <a:cubicBezTo>
                  <a:pt x="267648" y="340043"/>
                  <a:pt x="290036" y="362431"/>
                  <a:pt x="290036" y="390049"/>
                </a:cubicBezTo>
                <a:close/>
              </a:path>
            </a:pathLst>
          </a:custGeom>
          <a:noFill/>
          <a:ln w="40005" cap="rnd">
            <a:solidFill>
              <a:srgbClr val="FFFFFF"/>
            </a:solidFill>
            <a:prstDash val="solid"/>
            <a:round/>
          </a:ln>
        </p:spPr>
      </p:sp>
      <p:sp>
        <p:nvSpPr>
          <p:cNvPr id="27" name="[p1] Forma"/>
          <p:cNvSpPr/>
          <p:nvPr/>
        </p:nvSpPr>
        <p:spPr>
          <a:xfrm>
            <a:off x="6249467"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4</a:t>
            </a:r>
            <a:endParaRPr lang="en-US" sz="1150" dirty="0"/>
          </a:p>
        </p:txBody>
      </p:sp>
      <p:sp>
        <p:nvSpPr>
          <p:cNvPr id="28" name="[p1] Forma"/>
          <p:cNvSpPr/>
          <p:nvPr/>
        </p:nvSpPr>
        <p:spPr>
          <a:xfrm>
            <a:off x="5349109"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Interconexión de servicios</a:t>
            </a:r>
            <a:endParaRPr lang="en-US" sz="1500" dirty="0"/>
          </a:p>
        </p:txBody>
      </p:sp>
      <p:sp>
        <p:nvSpPr>
          <p:cNvPr id="29" name="[p1] Forma"/>
          <p:cNvSpPr/>
          <p:nvPr/>
        </p:nvSpPr>
        <p:spPr>
          <a:xfrm>
            <a:off x="5640934"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30" name="[p1] Forma"/>
          <p:cNvSpPr/>
          <p:nvPr/>
        </p:nvSpPr>
        <p:spPr>
          <a:xfrm>
            <a:off x="5367397"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Síncrono y asíncrono · Patrón Outbox · Idempotencia</a:t>
            </a:r>
            <a:endParaRPr lang="en-US" sz="1150" dirty="0"/>
          </a:p>
        </p:txBody>
      </p:sp>
      <p:sp>
        <p:nvSpPr>
          <p:cNvPr id="31" name="[p1] Forma"/>
          <p:cNvSpPr/>
          <p:nvPr/>
        </p:nvSpPr>
        <p:spPr>
          <a:xfrm>
            <a:off x="7182416"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32" name="[p1] Icono container"/>
          <p:cNvSpPr/>
          <p:nvPr/>
        </p:nvSpPr>
        <p:spPr>
          <a:xfrm>
            <a:off x="7422446" y="2905506"/>
            <a:ext cx="480060" cy="480060"/>
          </a:xfrm>
          <a:custGeom>
            <a:avLst/>
            <a:gdLst/>
            <a:ahLst/>
            <a:cxnLst/>
            <a:rect l="l" t="t" r="r" b="b"/>
            <a:pathLst>
              <a:path w="480060" h="480060">
                <a:moveTo>
                  <a:pt x="440055" y="154019"/>
                </a:moveTo>
                <a:cubicBezTo>
                  <a:pt x="440055" y="142018"/>
                  <a:pt x="432054" y="130016"/>
                  <a:pt x="424053" y="124016"/>
                </a:cubicBezTo>
                <a:lnTo>
                  <a:pt x="298037" y="46006"/>
                </a:lnTo>
                <a:cubicBezTo>
                  <a:pt x="287495" y="40013"/>
                  <a:pt x="274576" y="40013"/>
                  <a:pt x="264033" y="46006"/>
                </a:cubicBezTo>
                <a:lnTo>
                  <a:pt x="58007" y="166021"/>
                </a:lnTo>
                <a:cubicBezTo>
                  <a:pt x="48006" y="170021"/>
                  <a:pt x="40005" y="182023"/>
                  <a:pt x="40005" y="194024"/>
                </a:cubicBezTo>
                <a:lnTo>
                  <a:pt x="40005" y="326041"/>
                </a:lnTo>
                <a:cubicBezTo>
                  <a:pt x="40005" y="336042"/>
                  <a:pt x="48006" y="350044"/>
                  <a:pt x="56007" y="356045"/>
                </a:cubicBezTo>
                <a:lnTo>
                  <a:pt x="182023" y="434054"/>
                </a:lnTo>
                <a:cubicBezTo>
                  <a:pt x="192565" y="440047"/>
                  <a:pt x="205484" y="440047"/>
                  <a:pt x="216027" y="434054"/>
                </a:cubicBezTo>
                <a:lnTo>
                  <a:pt x="422053" y="314039"/>
                </a:lnTo>
                <a:cubicBezTo>
                  <a:pt x="432054" y="308039"/>
                  <a:pt x="440055" y="294037"/>
                  <a:pt x="440055" y="284036"/>
                </a:cubicBezTo>
                <a:close/>
                <a:moveTo>
                  <a:pt x="200025" y="438055"/>
                </a:moveTo>
                <a:lnTo>
                  <a:pt x="200025" y="280035"/>
                </a:lnTo>
                <a:lnTo>
                  <a:pt x="42005" y="182023"/>
                </a:lnTo>
                <a:moveTo>
                  <a:pt x="200025" y="280035"/>
                </a:moveTo>
                <a:lnTo>
                  <a:pt x="438055" y="142018"/>
                </a:lnTo>
                <a:moveTo>
                  <a:pt x="280035" y="396050"/>
                </a:moveTo>
                <a:lnTo>
                  <a:pt x="280035" y="234029"/>
                </a:lnTo>
                <a:moveTo>
                  <a:pt x="360045" y="350044"/>
                </a:moveTo>
                <a:lnTo>
                  <a:pt x="360045" y="188024"/>
                </a:lnTo>
              </a:path>
            </a:pathLst>
          </a:custGeom>
          <a:noFill/>
          <a:ln w="40005" cap="rnd">
            <a:solidFill>
              <a:srgbClr val="FFFFFF"/>
            </a:solidFill>
            <a:prstDash val="solid"/>
            <a:round/>
          </a:ln>
        </p:spPr>
      </p:sp>
      <p:sp>
        <p:nvSpPr>
          <p:cNvPr id="33" name="[p1] Forma"/>
          <p:cNvSpPr/>
          <p:nvPr/>
        </p:nvSpPr>
        <p:spPr>
          <a:xfrm>
            <a:off x="7816095"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5</a:t>
            </a:r>
            <a:endParaRPr lang="en-US" sz="1150" dirty="0"/>
          </a:p>
        </p:txBody>
      </p:sp>
      <p:sp>
        <p:nvSpPr>
          <p:cNvPr id="34" name="[p1] Forma"/>
          <p:cNvSpPr/>
          <p:nvPr/>
        </p:nvSpPr>
        <p:spPr>
          <a:xfrm>
            <a:off x="6915738" y="3753612"/>
            <a:ext cx="1493476"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DevOps: Docker y Kubernetes</a:t>
            </a:r>
            <a:endParaRPr lang="en-US" sz="1400" dirty="0"/>
          </a:p>
        </p:txBody>
      </p:sp>
      <p:sp>
        <p:nvSpPr>
          <p:cNvPr id="35" name="[p1] Forma"/>
          <p:cNvSpPr/>
          <p:nvPr/>
        </p:nvSpPr>
        <p:spPr>
          <a:xfrm>
            <a:off x="7207562"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36" name="[p1] Forma"/>
          <p:cNvSpPr/>
          <p:nvPr/>
        </p:nvSpPr>
        <p:spPr>
          <a:xfrm>
            <a:off x="6934026"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Docker y Compose · Kubernetes · CI/CD con GitHub Actions</a:t>
            </a:r>
            <a:endParaRPr lang="en-US" sz="1150" dirty="0"/>
          </a:p>
        </p:txBody>
      </p:sp>
      <p:sp>
        <p:nvSpPr>
          <p:cNvPr id="37" name="[p2] Forma"/>
          <p:cNvSpPr/>
          <p:nvPr/>
        </p:nvSpPr>
        <p:spPr>
          <a:xfrm>
            <a:off x="8854658"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p2] Icono chart-line"/>
          <p:cNvSpPr/>
          <p:nvPr/>
        </p:nvSpPr>
        <p:spPr>
          <a:xfrm>
            <a:off x="9041881" y="2958313"/>
            <a:ext cx="374447" cy="374447"/>
          </a:xfrm>
          <a:custGeom>
            <a:avLst/>
            <a:gdLst/>
            <a:ahLst/>
            <a:cxnLst/>
            <a:rect l="l" t="t" r="r" b="b"/>
            <a:pathLst>
              <a:path w="374447" h="374447">
                <a:moveTo>
                  <a:pt x="46806" y="46806"/>
                </a:moveTo>
                <a:lnTo>
                  <a:pt x="46806" y="296437"/>
                </a:lnTo>
                <a:cubicBezTo>
                  <a:pt x="46806" y="313670"/>
                  <a:pt x="60776" y="327641"/>
                  <a:pt x="78010" y="327641"/>
                </a:cubicBezTo>
                <a:lnTo>
                  <a:pt x="327641" y="327641"/>
                </a:lnTo>
                <a:moveTo>
                  <a:pt x="296437" y="140418"/>
                </a:moveTo>
                <a:lnTo>
                  <a:pt x="218427" y="218427"/>
                </a:lnTo>
                <a:lnTo>
                  <a:pt x="156020" y="156020"/>
                </a:lnTo>
                <a:lnTo>
                  <a:pt x="109214" y="202825"/>
                </a:lnTo>
              </a:path>
            </a:pathLst>
          </a:custGeom>
          <a:noFill/>
          <a:ln w="31204" cap="rnd">
            <a:solidFill>
              <a:srgbClr val="FFFFFF"/>
            </a:solidFill>
            <a:prstDash val="solid"/>
            <a:round/>
          </a:ln>
        </p:spPr>
      </p:sp>
      <p:sp>
        <p:nvSpPr>
          <p:cNvPr id="39" name="[p2] Forma"/>
          <p:cNvSpPr/>
          <p:nvPr/>
        </p:nvSpPr>
        <p:spPr>
          <a:xfrm>
            <a:off x="9348927"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6</a:t>
            </a:r>
            <a:endParaRPr lang="en-US" sz="1150" dirty="0"/>
          </a:p>
        </p:txBody>
      </p:sp>
      <p:sp>
        <p:nvSpPr>
          <p:cNvPr id="40" name="[p2] Forma"/>
          <p:cNvSpPr/>
          <p:nvPr/>
        </p:nvSpPr>
        <p:spPr>
          <a:xfrm>
            <a:off x="8482366" y="3753612"/>
            <a:ext cx="1493476"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Observabilidad</a:t>
            </a:r>
            <a:endParaRPr lang="en-US" sz="1400" dirty="0"/>
          </a:p>
        </p:txBody>
      </p:sp>
      <p:sp>
        <p:nvSpPr>
          <p:cNvPr id="41" name="[p2] Forma"/>
          <p:cNvSpPr/>
          <p:nvPr/>
        </p:nvSpPr>
        <p:spPr>
          <a:xfrm>
            <a:off x="8541019"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42" name="[p2] Forma"/>
          <p:cNvSpPr/>
          <p:nvPr/>
        </p:nvSpPr>
        <p:spPr>
          <a:xfrm>
            <a:off x="8500654"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Logs centralizados · Trazas · Salud con Actuator</a:t>
            </a:r>
            <a:endParaRPr lang="en-US" sz="1150" dirty="0"/>
          </a:p>
        </p:txBody>
      </p:sp>
      <p:sp>
        <p:nvSpPr>
          <p:cNvPr id="43" name="[p3] Forma"/>
          <p:cNvSpPr/>
          <p:nvPr/>
        </p:nvSpPr>
        <p:spPr>
          <a:xfrm>
            <a:off x="10421286" y="2771089"/>
            <a:ext cx="748894" cy="748894"/>
          </a:xfrm>
          <a:prstGeom prst="ellipse">
            <a:avLst/>
          </a:prstGeom>
          <a:solidFill>
            <a:srgbClr val="5B3FC4"/>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4" name="[p3] Icono monitor"/>
          <p:cNvSpPr/>
          <p:nvPr/>
        </p:nvSpPr>
        <p:spPr>
          <a:xfrm>
            <a:off x="10608510" y="2958313"/>
            <a:ext cx="374447" cy="374447"/>
          </a:xfrm>
          <a:custGeom>
            <a:avLst/>
            <a:gdLst/>
            <a:ahLst/>
            <a:cxnLst/>
            <a:rect l="l" t="t" r="r" b="b"/>
            <a:pathLst>
              <a:path w="374447" h="374447">
                <a:moveTo>
                  <a:pt x="62408" y="46806"/>
                </a:moveTo>
                <a:lnTo>
                  <a:pt x="312039" y="46806"/>
                </a:lnTo>
                <a:cubicBezTo>
                  <a:pt x="329272" y="46806"/>
                  <a:pt x="343243" y="60776"/>
                  <a:pt x="343243" y="78010"/>
                </a:cubicBezTo>
                <a:lnTo>
                  <a:pt x="343243" y="234029"/>
                </a:lnTo>
                <a:cubicBezTo>
                  <a:pt x="343243" y="251263"/>
                  <a:pt x="329272" y="265233"/>
                  <a:pt x="312039" y="265233"/>
                </a:cubicBezTo>
                <a:lnTo>
                  <a:pt x="62408" y="265233"/>
                </a:lnTo>
                <a:cubicBezTo>
                  <a:pt x="45174" y="265233"/>
                  <a:pt x="31204" y="251263"/>
                  <a:pt x="31204" y="234029"/>
                </a:cubicBezTo>
                <a:lnTo>
                  <a:pt x="31204" y="78010"/>
                </a:lnTo>
                <a:cubicBezTo>
                  <a:pt x="31204" y="60776"/>
                  <a:pt x="45174" y="46806"/>
                  <a:pt x="62408" y="46806"/>
                </a:cubicBezTo>
                <a:close/>
                <a:moveTo>
                  <a:pt x="124816" y="327641"/>
                </a:moveTo>
                <a:lnTo>
                  <a:pt x="249631" y="327641"/>
                </a:lnTo>
                <a:moveTo>
                  <a:pt x="187223" y="265233"/>
                </a:moveTo>
                <a:lnTo>
                  <a:pt x="187223" y="327641"/>
                </a:lnTo>
              </a:path>
            </a:pathLst>
          </a:custGeom>
          <a:noFill/>
          <a:ln w="31204" cap="rnd">
            <a:solidFill>
              <a:srgbClr val="FFFFFF"/>
            </a:solidFill>
            <a:prstDash val="solid"/>
            <a:round/>
          </a:ln>
        </p:spPr>
      </p:sp>
      <p:sp>
        <p:nvSpPr>
          <p:cNvPr id="45" name="[p3] Forma"/>
          <p:cNvSpPr/>
          <p:nvPr/>
        </p:nvSpPr>
        <p:spPr>
          <a:xfrm>
            <a:off x="10915556"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7</a:t>
            </a:r>
            <a:endParaRPr lang="en-US" sz="1150" dirty="0"/>
          </a:p>
        </p:txBody>
      </p:sp>
      <p:sp>
        <p:nvSpPr>
          <p:cNvPr id="46" name="[p3] Forma"/>
          <p:cNvSpPr/>
          <p:nvPr/>
        </p:nvSpPr>
        <p:spPr>
          <a:xfrm>
            <a:off x="10048995"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Demostración con la UI</a:t>
            </a:r>
            <a:endParaRPr lang="en-US" sz="1500" dirty="0"/>
          </a:p>
        </p:txBody>
      </p:sp>
      <p:sp>
        <p:nvSpPr>
          <p:cNvPr id="47" name="[p3] Forma"/>
          <p:cNvSpPr/>
          <p:nvPr/>
        </p:nvSpPr>
        <p:spPr>
          <a:xfrm>
            <a:off x="10340819" y="4393692"/>
            <a:ext cx="909828" cy="274320"/>
          </a:xfrm>
          <a:prstGeom prst="roundRect">
            <a:avLst>
              <a:gd name="adj" fmla="val 50000"/>
            </a:avLst>
          </a:prstGeom>
          <a:solidFill>
            <a:srgbClr val="5B3FC4"/>
          </a:solidFill>
          <a:ln w="12700">
            <a:solidFill>
              <a:srgbClr val="5B3FC4"/>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EN VIVO</a:t>
            </a:r>
            <a:endParaRPr lang="en-US" sz="950" dirty="0"/>
          </a:p>
        </p:txBody>
      </p:sp>
      <p:sp>
        <p:nvSpPr>
          <p:cNvPr id="48" name="[p3] Forma"/>
          <p:cNvSpPr/>
          <p:nvPr/>
        </p:nvSpPr>
        <p:spPr>
          <a:xfrm>
            <a:off x="10067283"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Crear y enviar · Una caída en vivo · Reentregar</a:t>
            </a:r>
            <a:endParaRPr lang="en-US" sz="11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00"/>
                                        <p:tgtEl>
                                          <p:spTgt spid="3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00"/>
                                        <p:tgtEl>
                                          <p:spTgt spid="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400"/>
                                        <p:tgtEl>
                                          <p:spTgt spid="3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4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400"/>
                                        <p:tgtEl>
                                          <p:spTgt spid="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400"/>
                                        <p:tgtEl>
                                          <p:spTgt spid="36"/>
                                        </p:tgtEl>
                                      </p:cBhvr>
                                    </p:animEffect>
                                  </p:childTnLst>
                                </p:cTn>
                              </p:par>
                            </p:childTnLst>
                          </p:cTn>
                        </p:par>
                      </p:childTnLst>
                    </p:cTn>
                  </p:par>
                  <p:par>
                    <p:cTn id="77" fill="hold">
                      <p:stCondLst>
                        <p:cond delay="indefinite"/>
                      </p:stCondLst>
                      <p:childTnLst>
                        <p:par>
                          <p:cTn id="7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400"/>
                                        <p:tgtEl>
                                          <p:spTgt spid="3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4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400"/>
                                        <p:tgtEl>
                                          <p:spTgt spid="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400"/>
                                        <p:tgtEl>
                                          <p:spTgt spid="4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400"/>
                                        <p:tgtEl>
                                          <p:spTgt spid="4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400"/>
                                        <p:tgtEl>
                                          <p:spTgt spid="42"/>
                                        </p:tgtEl>
                                      </p:cBhvr>
                                    </p:animEffect>
                                  </p:childTnLst>
                                </p:cTn>
                              </p:par>
                            </p:childTnLst>
                          </p:cTn>
                        </p:par>
                      </p:childTnLst>
                    </p:cTn>
                  </p:par>
                  <p:par>
                    <p:cTn id="97" fill="hold">
                      <p:stCondLst>
                        <p:cond delay="indefinite"/>
                      </p:stCondLst>
                      <p:childTnLst>
                        <p:par>
                          <p:cTn id="9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400"/>
                                        <p:tgtEl>
                                          <p:spTgt spid="4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fade">
                                      <p:cBhvr>
                                        <p:cTn id="93" dur="400"/>
                                        <p:tgtEl>
                                          <p:spTgt spid="4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Primero el qué: el negocio en una lámina</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Antes de escribir código, entendimos qué tiene que pasar, quién lo hace y qué no se permite.</a:t>
            </a:r>
            <a:endParaRPr lang="en-US" sz="1700" dirty="0"/>
          </a:p>
        </p:txBody>
      </p:sp>
      <p:sp>
        <p:nvSpPr>
          <p:cNvPr id="13" name="Shape 11"/>
          <p:cNvSpPr/>
          <p:nvPr/>
        </p:nvSpPr>
        <p:spPr>
          <a:xfrm>
            <a:off x="1251928" y="1828800"/>
            <a:ext cx="1463040" cy="146304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14" name="Icono user"/>
          <p:cNvSpPr/>
          <p:nvPr/>
        </p:nvSpPr>
        <p:spPr>
          <a:xfrm>
            <a:off x="1588427" y="2165299"/>
            <a:ext cx="790042" cy="790042"/>
          </a:xfrm>
          <a:custGeom>
            <a:avLst/>
            <a:gdLst/>
            <a:ahLst/>
            <a:cxnLst/>
            <a:rect l="l" t="t" r="r" b="b"/>
            <a:pathLst>
              <a:path w="790042" h="790042">
                <a:moveTo>
                  <a:pt x="625450" y="691286"/>
                </a:moveTo>
                <a:lnTo>
                  <a:pt x="625450" y="625450"/>
                </a:lnTo>
                <a:cubicBezTo>
                  <a:pt x="625450" y="552728"/>
                  <a:pt x="566497" y="493776"/>
                  <a:pt x="493776" y="493776"/>
                </a:cubicBezTo>
                <a:lnTo>
                  <a:pt x="296266" y="493776"/>
                </a:lnTo>
                <a:cubicBezTo>
                  <a:pt x="223544" y="493776"/>
                  <a:pt x="164592" y="552728"/>
                  <a:pt x="164592" y="625450"/>
                </a:cubicBezTo>
                <a:lnTo>
                  <a:pt x="164592" y="691286"/>
                </a:lnTo>
                <a:moveTo>
                  <a:pt x="526694" y="230429"/>
                </a:moveTo>
                <a:cubicBezTo>
                  <a:pt x="526694" y="303150"/>
                  <a:pt x="467742" y="362102"/>
                  <a:pt x="395021" y="362102"/>
                </a:cubicBezTo>
                <a:cubicBezTo>
                  <a:pt x="322299" y="362102"/>
                  <a:pt x="263347" y="303150"/>
                  <a:pt x="263347" y="230429"/>
                </a:cubicBezTo>
                <a:cubicBezTo>
                  <a:pt x="263347" y="157707"/>
                  <a:pt x="322299" y="98755"/>
                  <a:pt x="395021" y="98755"/>
                </a:cubicBezTo>
                <a:cubicBezTo>
                  <a:pt x="467742" y="98755"/>
                  <a:pt x="526694" y="157707"/>
                  <a:pt x="526694" y="230429"/>
                </a:cubicBezTo>
                <a:close/>
              </a:path>
            </a:pathLst>
          </a:custGeom>
          <a:noFill/>
          <a:ln w="57607" cap="rnd">
            <a:solidFill>
              <a:srgbClr val="5B3FC4"/>
            </a:solidFill>
            <a:prstDash val="solid"/>
            <a:round/>
          </a:ln>
        </p:spPr>
      </p:sp>
      <p:sp>
        <p:nvSpPr>
          <p:cNvPr id="15" name="Text 13"/>
          <p:cNvSpPr/>
          <p:nvPr/>
        </p:nvSpPr>
        <p:spPr>
          <a:xfrm>
            <a:off x="1215352" y="1792224"/>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Quien solicita</a:t>
            </a:r>
            <a:endParaRPr lang="en-US" sz="1800" dirty="0"/>
          </a:p>
        </p:txBody>
      </p:sp>
      <p:sp>
        <p:nvSpPr>
          <p:cNvPr id="17" name="Text 15"/>
          <p:cNvSpPr/>
          <p:nvPr/>
        </p:nvSpPr>
        <p:spPr>
          <a:xfrm>
            <a:off x="7223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Registra qué necesita y de qué tipo.</a:t>
            </a:r>
            <a:endParaRPr lang="en-US" sz="1400" dirty="0"/>
          </a:p>
        </p:txBody>
      </p:sp>
      <p:sp>
        <p:nvSpPr>
          <p:cNvPr id="18" name="[p1] Forma"/>
          <p:cNvSpPr/>
          <p:nvPr/>
        </p:nvSpPr>
        <p:spPr>
          <a:xfrm>
            <a:off x="2806408" y="2560320"/>
            <a:ext cx="1095680" cy="0"/>
          </a:xfrm>
          <a:prstGeom prst="line">
            <a:avLst/>
          </a:prstGeom>
          <a:noFill/>
          <a:ln w="38100">
            <a:solidFill>
              <a:srgbClr val="2BA6CB"/>
            </a:solidFill>
            <a:prstDash val="solid"/>
            <a:tailEnd type="triangle"/>
          </a:ln>
        </p:spPr>
      </p:sp>
      <p:sp>
        <p:nvSpPr>
          <p:cNvPr id="19" name="[p1] Forma"/>
          <p:cNvSpPr/>
          <p:nvPr/>
        </p:nvSpPr>
        <p:spPr>
          <a:xfrm>
            <a:off x="3993528" y="1828800"/>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send"/>
          <p:cNvSpPr/>
          <p:nvPr/>
        </p:nvSpPr>
        <p:spPr>
          <a:xfrm>
            <a:off x="4330027" y="2165299"/>
            <a:ext cx="790042" cy="790042"/>
          </a:xfrm>
          <a:custGeom>
            <a:avLst/>
            <a:gdLst/>
            <a:ahLst/>
            <a:cxnLst/>
            <a:rect l="l" t="t" r="r" b="b"/>
            <a:pathLst>
              <a:path w="790042" h="790042">
                <a:moveTo>
                  <a:pt x="478502" y="713868"/>
                </a:moveTo>
                <a:cubicBezTo>
                  <a:pt x="481063" y="720252"/>
                  <a:pt x="487323" y="724369"/>
                  <a:pt x="494199" y="724193"/>
                </a:cubicBezTo>
                <a:cubicBezTo>
                  <a:pt x="501074" y="724017"/>
                  <a:pt x="507115" y="719584"/>
                  <a:pt x="509346" y="713078"/>
                </a:cubicBezTo>
                <a:lnTo>
                  <a:pt x="723316" y="87629"/>
                </a:lnTo>
                <a:cubicBezTo>
                  <a:pt x="725467" y="81674"/>
                  <a:pt x="723981" y="75013"/>
                  <a:pt x="719505" y="70537"/>
                </a:cubicBezTo>
                <a:cubicBezTo>
                  <a:pt x="715028" y="66060"/>
                  <a:pt x="708367" y="64575"/>
                  <a:pt x="702413" y="66726"/>
                </a:cubicBezTo>
                <a:lnTo>
                  <a:pt x="76963" y="280695"/>
                </a:lnTo>
                <a:cubicBezTo>
                  <a:pt x="70457" y="282926"/>
                  <a:pt x="66025" y="288967"/>
                  <a:pt x="65849" y="295843"/>
                </a:cubicBezTo>
                <a:cubicBezTo>
                  <a:pt x="65673" y="302718"/>
                  <a:pt x="69790" y="308979"/>
                  <a:pt x="76173" y="311540"/>
                </a:cubicBezTo>
                <a:lnTo>
                  <a:pt x="337216" y="416220"/>
                </a:lnTo>
                <a:cubicBezTo>
                  <a:pt x="353891" y="422897"/>
                  <a:pt x="367115" y="436096"/>
                  <a:pt x="373821" y="452760"/>
                </a:cubicBezTo>
                <a:close/>
                <a:moveTo>
                  <a:pt x="719399" y="70676"/>
                </a:moveTo>
                <a:lnTo>
                  <a:pt x="359271" y="430770"/>
                </a:lnTo>
              </a:path>
            </a:pathLst>
          </a:custGeom>
          <a:noFill/>
          <a:ln w="57607" cap="rnd">
            <a:solidFill>
              <a:srgbClr val="0B2350"/>
            </a:solidFill>
            <a:prstDash val="solid"/>
            <a:round/>
          </a:ln>
        </p:spPr>
      </p:sp>
      <p:sp>
        <p:nvSpPr>
          <p:cNvPr id="21" name="[p1] Forma"/>
          <p:cNvSpPr/>
          <p:nvPr/>
        </p:nvSpPr>
        <p:spPr>
          <a:xfrm>
            <a:off x="39569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33999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 envía</a:t>
            </a:r>
            <a:endParaRPr lang="en-US" sz="1800" dirty="0"/>
          </a:p>
        </p:txBody>
      </p:sp>
      <p:sp>
        <p:nvSpPr>
          <p:cNvPr id="23" name="[p1] Forma"/>
          <p:cNvSpPr/>
          <p:nvPr/>
        </p:nvSpPr>
        <p:spPr>
          <a:xfrm>
            <a:off x="34639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Cuando está lista.</a:t>
            </a:r>
            <a:endParaRPr lang="en-US" sz="1400" dirty="0"/>
          </a:p>
        </p:txBody>
      </p:sp>
      <p:sp>
        <p:nvSpPr>
          <p:cNvPr id="24" name="[p2] Forma"/>
          <p:cNvSpPr/>
          <p:nvPr/>
        </p:nvSpPr>
        <p:spPr>
          <a:xfrm>
            <a:off x="5548008" y="2560320"/>
            <a:ext cx="1095680" cy="0"/>
          </a:xfrm>
          <a:prstGeom prst="line">
            <a:avLst/>
          </a:prstGeom>
          <a:noFill/>
          <a:ln w="38100">
            <a:solidFill>
              <a:srgbClr val="2BA6CB"/>
            </a:solidFill>
            <a:prstDash val="solid"/>
            <a:tailEnd type="triangle"/>
          </a:ln>
        </p:spPr>
      </p:sp>
      <p:sp>
        <p:nvSpPr>
          <p:cNvPr id="25" name="[p2] Forma"/>
          <p:cNvSpPr/>
          <p:nvPr/>
        </p:nvSpPr>
        <p:spPr>
          <a:xfrm>
            <a:off x="6735128" y="1828800"/>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6" name="[p2] Icono bell"/>
          <p:cNvSpPr/>
          <p:nvPr/>
        </p:nvSpPr>
        <p:spPr>
          <a:xfrm>
            <a:off x="7071627" y="2165299"/>
            <a:ext cx="790042" cy="790042"/>
          </a:xfrm>
          <a:custGeom>
            <a:avLst/>
            <a:gdLst/>
            <a:ahLst/>
            <a:cxnLst/>
            <a:rect l="l" t="t" r="r" b="b"/>
            <a:pathLst>
              <a:path w="790042" h="790042">
                <a:moveTo>
                  <a:pt x="338006" y="691286"/>
                </a:moveTo>
                <a:cubicBezTo>
                  <a:pt x="349767" y="711655"/>
                  <a:pt x="371501" y="724202"/>
                  <a:pt x="395021" y="724202"/>
                </a:cubicBezTo>
                <a:cubicBezTo>
                  <a:pt x="418541" y="724202"/>
                  <a:pt x="440274" y="711655"/>
                  <a:pt x="452035" y="691286"/>
                </a:cubicBezTo>
                <a:moveTo>
                  <a:pt x="107380" y="504507"/>
                </a:moveTo>
                <a:cubicBezTo>
                  <a:pt x="98594" y="514138"/>
                  <a:pt x="96318" y="528045"/>
                  <a:pt x="101577" y="539974"/>
                </a:cubicBezTo>
                <a:cubicBezTo>
                  <a:pt x="106835" y="551902"/>
                  <a:pt x="118638" y="559603"/>
                  <a:pt x="131674" y="559613"/>
                </a:cubicBezTo>
                <a:lnTo>
                  <a:pt x="658368" y="559613"/>
                </a:lnTo>
                <a:cubicBezTo>
                  <a:pt x="671402" y="559617"/>
                  <a:pt x="683212" y="551931"/>
                  <a:pt x="688485" y="540010"/>
                </a:cubicBezTo>
                <a:cubicBezTo>
                  <a:pt x="693757" y="528090"/>
                  <a:pt x="691500" y="514181"/>
                  <a:pt x="682728" y="504540"/>
                </a:cubicBezTo>
                <a:cubicBezTo>
                  <a:pt x="638946" y="459409"/>
                  <a:pt x="592531" y="411447"/>
                  <a:pt x="592531" y="263347"/>
                </a:cubicBezTo>
                <a:cubicBezTo>
                  <a:pt x="592531" y="154265"/>
                  <a:pt x="504103" y="65837"/>
                  <a:pt x="395021" y="65837"/>
                </a:cubicBezTo>
                <a:cubicBezTo>
                  <a:pt x="285939" y="65837"/>
                  <a:pt x="197510" y="154265"/>
                  <a:pt x="197510" y="263347"/>
                </a:cubicBezTo>
                <a:cubicBezTo>
                  <a:pt x="197510" y="411447"/>
                  <a:pt x="151063" y="459409"/>
                  <a:pt x="107380" y="504507"/>
                </a:cubicBezTo>
              </a:path>
            </a:pathLst>
          </a:custGeom>
          <a:noFill/>
          <a:ln w="57607" cap="rnd">
            <a:solidFill>
              <a:srgbClr val="0B6E8A"/>
            </a:solidFill>
            <a:prstDash val="solid"/>
            <a:round/>
          </a:ln>
        </p:spPr>
      </p:sp>
      <p:sp>
        <p:nvSpPr>
          <p:cNvPr id="27" name="[p2] Forma"/>
          <p:cNvSpPr/>
          <p:nvPr/>
        </p:nvSpPr>
        <p:spPr>
          <a:xfrm>
            <a:off x="66985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61415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El sistema avisa</a:t>
            </a:r>
            <a:endParaRPr lang="en-US" sz="1800" dirty="0"/>
          </a:p>
        </p:txBody>
      </p:sp>
      <p:sp>
        <p:nvSpPr>
          <p:cNvPr id="29" name="[p2] Forma"/>
          <p:cNvSpPr/>
          <p:nvPr/>
        </p:nvSpPr>
        <p:spPr>
          <a:xfrm>
            <a:off x="62055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 quien debe atenderla.</a:t>
            </a:r>
            <a:endParaRPr lang="en-US" sz="1400" dirty="0"/>
          </a:p>
        </p:txBody>
      </p:sp>
      <p:sp>
        <p:nvSpPr>
          <p:cNvPr id="30" name="[p3] Forma"/>
          <p:cNvSpPr/>
          <p:nvPr/>
        </p:nvSpPr>
        <p:spPr>
          <a:xfrm>
            <a:off x="8289608" y="2560320"/>
            <a:ext cx="1095680" cy="0"/>
          </a:xfrm>
          <a:prstGeom prst="line">
            <a:avLst/>
          </a:prstGeom>
          <a:noFill/>
          <a:ln w="38100">
            <a:solidFill>
              <a:srgbClr val="2BA6CB"/>
            </a:solidFill>
            <a:prstDash val="solid"/>
            <a:tailEnd type="triangle"/>
          </a:ln>
        </p:spPr>
      </p:sp>
      <p:sp>
        <p:nvSpPr>
          <p:cNvPr id="31" name="[p3] Forma"/>
          <p:cNvSpPr/>
          <p:nvPr/>
        </p:nvSpPr>
        <p:spPr>
          <a:xfrm>
            <a:off x="9476727" y="1828800"/>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2" name="[p3] Icono circle-check"/>
          <p:cNvSpPr/>
          <p:nvPr/>
        </p:nvSpPr>
        <p:spPr>
          <a:xfrm>
            <a:off x="9813226" y="2165299"/>
            <a:ext cx="790042" cy="790042"/>
          </a:xfrm>
          <a:custGeom>
            <a:avLst/>
            <a:gdLst/>
            <a:ahLst/>
            <a:cxnLst/>
            <a:rect l="l" t="t" r="r" b="b"/>
            <a:pathLst>
              <a:path w="790042" h="790042">
                <a:moveTo>
                  <a:pt x="724205" y="395021"/>
                </a:moveTo>
                <a:cubicBezTo>
                  <a:pt x="724205" y="576824"/>
                  <a:pt x="576824" y="724205"/>
                  <a:pt x="395021" y="724205"/>
                </a:cubicBezTo>
                <a:cubicBezTo>
                  <a:pt x="213217" y="724205"/>
                  <a:pt x="65837" y="576824"/>
                  <a:pt x="65837" y="395021"/>
                </a:cubicBezTo>
                <a:cubicBezTo>
                  <a:pt x="65837" y="213217"/>
                  <a:pt x="213217" y="65837"/>
                  <a:pt x="395021" y="65837"/>
                </a:cubicBezTo>
                <a:cubicBezTo>
                  <a:pt x="576824" y="65837"/>
                  <a:pt x="724205" y="213217"/>
                  <a:pt x="724205" y="395021"/>
                </a:cubicBezTo>
                <a:close/>
                <a:moveTo>
                  <a:pt x="296266" y="395021"/>
                </a:moveTo>
                <a:lnTo>
                  <a:pt x="362102" y="460858"/>
                </a:lnTo>
                <a:lnTo>
                  <a:pt x="493776" y="329184"/>
                </a:lnTo>
              </a:path>
            </a:pathLst>
          </a:custGeom>
          <a:noFill/>
          <a:ln w="57607" cap="rnd">
            <a:solidFill>
              <a:srgbClr val="0A6648"/>
            </a:solidFill>
            <a:prstDash val="solid"/>
            <a:round/>
          </a:ln>
        </p:spPr>
      </p:sp>
      <p:sp>
        <p:nvSpPr>
          <p:cNvPr id="33" name="[p3] Forma"/>
          <p:cNvSpPr/>
          <p:nvPr/>
        </p:nvSpPr>
        <p:spPr>
          <a:xfrm>
            <a:off x="94401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8883167"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Alguien decide</a:t>
            </a:r>
            <a:endParaRPr lang="en-US" sz="1800" dirty="0"/>
          </a:p>
        </p:txBody>
      </p:sp>
      <p:sp>
        <p:nvSpPr>
          <p:cNvPr id="35" name="[p3] Forma"/>
          <p:cNvSpPr/>
          <p:nvPr/>
        </p:nvSpPr>
        <p:spPr>
          <a:xfrm>
            <a:off x="8947175"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aprueba o la rechaza.</a:t>
            </a:r>
            <a:endParaRPr lang="en-US" sz="1400" dirty="0"/>
          </a:p>
        </p:txBody>
      </p:sp>
      <p:sp>
        <p:nvSpPr>
          <p:cNvPr id="36" name="[p4] Forma"/>
          <p:cNvSpPr/>
          <p:nvPr/>
        </p:nvSpPr>
        <p:spPr>
          <a:xfrm>
            <a:off x="4725048" y="4352544"/>
            <a:ext cx="0" cy="1568196"/>
          </a:xfrm>
          <a:prstGeom prst="line">
            <a:avLst/>
          </a:prstGeom>
          <a:noFill/>
          <a:ln w="25400">
            <a:solidFill>
              <a:srgbClr val="AB243E"/>
            </a:solidFill>
            <a:prstDash val="dash"/>
          </a:ln>
        </p:spPr>
      </p:sp>
      <p:sp>
        <p:nvSpPr>
          <p:cNvPr id="37" name="[p4] Forma"/>
          <p:cNvSpPr/>
          <p:nvPr/>
        </p:nvSpPr>
        <p:spPr>
          <a:xfrm>
            <a:off x="4725048" y="5920740"/>
            <a:ext cx="457200" cy="0"/>
          </a:xfrm>
          <a:prstGeom prst="line">
            <a:avLst/>
          </a:prstGeom>
          <a:noFill/>
          <a:ln w="25400">
            <a:solidFill>
              <a:srgbClr val="AB243E"/>
            </a:solidFill>
            <a:prstDash val="dash"/>
            <a:tailEnd type="triangle"/>
          </a:ln>
        </p:spPr>
      </p:sp>
      <p:sp>
        <p:nvSpPr>
          <p:cNvPr id="38" name="[p4] Forma"/>
          <p:cNvSpPr/>
          <p:nvPr/>
        </p:nvSpPr>
        <p:spPr>
          <a:xfrm>
            <a:off x="3262008" y="5591556"/>
            <a:ext cx="1371600" cy="274320"/>
          </a:xfrm>
          <a:prstGeom prst="rect">
            <a:avLst/>
          </a:prstGeom>
          <a:noFill/>
          <a:ln/>
        </p:spPr>
        <p:txBody>
          <a:bodyPr wrap="square" lIns="0" tIns="0" rIns="0" bIns="0" rtlCol="0" anchor="t">
            <a:normAutofit/>
          </a:bodyPr>
          <a:lstStyle/>
          <a:p>
            <a:pPr algn="r" indent="0" marL="0">
              <a:buNone/>
            </a:pPr>
            <a:r>
              <a:rPr lang="en-US" sz="950" b="1" dirty="0">
                <a:solidFill>
                  <a:srgbClr val="AB243E"/>
                </a:solidFill>
                <a:latin typeface="Segoe UI" pitchFamily="34" charset="0"/>
                <a:ea typeface="Segoe UI" pitchFamily="34" charset="-122"/>
                <a:cs typeface="Segoe UI" pitchFamily="34" charset="-120"/>
              </a:rPr>
              <a:t>si se salta un paso</a:t>
            </a:r>
            <a:endParaRPr lang="en-US" sz="950" dirty="0"/>
          </a:p>
        </p:txBody>
      </p:sp>
      <p:sp>
        <p:nvSpPr>
          <p:cNvPr id="39" name="[p4] Forma"/>
          <p:cNvSpPr/>
          <p:nvPr/>
        </p:nvSpPr>
        <p:spPr>
          <a:xfrm>
            <a:off x="5182248" y="5486400"/>
            <a:ext cx="4206240" cy="868680"/>
          </a:xfrm>
          <a:prstGeom prst="roundRect">
            <a:avLst>
              <a:gd name="adj" fmla="val 14737"/>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40" name="[p4] Forma"/>
          <p:cNvSpPr/>
          <p:nvPr/>
        </p:nvSpPr>
        <p:spPr>
          <a:xfrm>
            <a:off x="5346840" y="5641848"/>
            <a:ext cx="548640" cy="548640"/>
          </a:xfrm>
          <a:prstGeom prst="ellipse">
            <a:avLst/>
          </a:prstGeom>
          <a:solidFill>
            <a:srgbClr val="FFFFFF"/>
          </a:solidFill>
          <a:ln w="12700">
            <a:solidFill>
              <a:srgbClr val="FFFFFF"/>
            </a:solidFill>
            <a:prstDash val="solid"/>
          </a:ln>
        </p:spPr>
      </p:sp>
      <p:sp>
        <p:nvSpPr>
          <p:cNvPr id="41" name="[p4] Icono ban"/>
          <p:cNvSpPr/>
          <p:nvPr/>
        </p:nvSpPr>
        <p:spPr>
          <a:xfrm>
            <a:off x="5478513" y="5773522"/>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AB243E"/>
            </a:solidFill>
            <a:prstDash val="solid"/>
            <a:round/>
          </a:ln>
        </p:spPr>
      </p:sp>
      <p:sp>
        <p:nvSpPr>
          <p:cNvPr id="42" name="[p4] Forma"/>
          <p:cNvSpPr/>
          <p:nvPr/>
        </p:nvSpPr>
        <p:spPr>
          <a:xfrm>
            <a:off x="6023496" y="5596128"/>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AB243E"/>
                </a:solidFill>
                <a:latin typeface="Segoe UI Semibold" pitchFamily="34" charset="0"/>
                <a:ea typeface="Segoe UI Semibold" pitchFamily="34" charset="-122"/>
                <a:cs typeface="Segoe UI Semibold" pitchFamily="34" charset="-120"/>
              </a:rPr>
              <a:t>No se permite</a:t>
            </a:r>
            <a:endParaRPr lang="en-US" sz="1450" dirty="0"/>
          </a:p>
        </p:txBody>
      </p:sp>
      <p:sp>
        <p:nvSpPr>
          <p:cNvPr id="43" name="[p4] Forma"/>
          <p:cNvSpPr/>
          <p:nvPr/>
        </p:nvSpPr>
        <p:spPr>
          <a:xfrm>
            <a:off x="6023496" y="5925312"/>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Enviar dos veces o decidir sobre un borrador: el sistema explica por qué.</a:t>
            </a:r>
            <a:endParaRPr lang="en-US" sz="115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400"/>
                                        <p:tgtEl>
                                          <p:spTgt spid="4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Código mantenible: buenas prácticas</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Después, el cómo: seis prácticas que hacen que un cambio toque un solo lugar, en cualquier lenguaje.</a:t>
            </a:r>
            <a:endParaRPr lang="en-US" sz="1650" dirty="0"/>
          </a:p>
        </p:txBody>
      </p:sp>
      <p:sp>
        <p:nvSpPr>
          <p:cNvPr id="13" name="Shape 11"/>
          <p:cNvSpPr/>
          <p:nvPr/>
        </p:nvSpPr>
        <p:spPr>
          <a:xfrm>
            <a:off x="612648"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47088"/>
            <a:ext cx="64008" cy="1970532"/>
          </a:xfrm>
          <a:prstGeom prst="rect">
            <a:avLst/>
          </a:prstGeom>
          <a:solidFill>
            <a:srgbClr val="0B2350"/>
          </a:solidFill>
          <a:ln w="12700">
            <a:solidFill>
              <a:srgbClr val="0B2350"/>
            </a:solidFill>
            <a:prstDash val="solid"/>
          </a:ln>
        </p:spPr>
      </p:sp>
      <p:sp>
        <p:nvSpPr>
          <p:cNvPr id="15" name="Shape 13"/>
          <p:cNvSpPr/>
          <p:nvPr/>
        </p:nvSpPr>
        <p:spPr>
          <a:xfrm>
            <a:off x="813816" y="1901952"/>
            <a:ext cx="676656" cy="676656"/>
          </a:xfrm>
          <a:prstGeom prst="ellipse">
            <a:avLst/>
          </a:prstGeom>
          <a:solidFill>
            <a:srgbClr val="E8EEF8"/>
          </a:solidFill>
          <a:ln w="12700">
            <a:solidFill>
              <a:srgbClr val="E8EEF8"/>
            </a:solidFill>
            <a:prstDash val="solid"/>
          </a:ln>
        </p:spPr>
      </p:sp>
      <p:sp>
        <p:nvSpPr>
          <p:cNvPr id="16" name="Icono layers"/>
          <p:cNvSpPr/>
          <p:nvPr/>
        </p:nvSpPr>
        <p:spPr>
          <a:xfrm>
            <a:off x="976213" y="2064349"/>
            <a:ext cx="351861" cy="351861"/>
          </a:xfrm>
          <a:custGeom>
            <a:avLst/>
            <a:gdLst/>
            <a:ahLst/>
            <a:cxnLst/>
            <a:rect l="l" t="t" r="r" b="b"/>
            <a:pathLst>
              <a:path w="351861" h="351861">
                <a:moveTo>
                  <a:pt x="188099" y="31961"/>
                </a:moveTo>
                <a:cubicBezTo>
                  <a:pt x="180370" y="28435"/>
                  <a:pt x="171491" y="28435"/>
                  <a:pt x="163762" y="31961"/>
                </a:cubicBezTo>
                <a:lnTo>
                  <a:pt x="38118" y="89138"/>
                </a:lnTo>
                <a:cubicBezTo>
                  <a:pt x="32803" y="91482"/>
                  <a:pt x="29372" y="96743"/>
                  <a:pt x="29372" y="102553"/>
                </a:cubicBezTo>
                <a:cubicBezTo>
                  <a:pt x="29372" y="108362"/>
                  <a:pt x="32803" y="113624"/>
                  <a:pt x="38118" y="115968"/>
                </a:cubicBezTo>
                <a:lnTo>
                  <a:pt x="163909" y="173292"/>
                </a:lnTo>
                <a:cubicBezTo>
                  <a:pt x="171638" y="176817"/>
                  <a:pt x="180516" y="176817"/>
                  <a:pt x="188246" y="173292"/>
                </a:cubicBezTo>
                <a:lnTo>
                  <a:pt x="314036" y="116114"/>
                </a:lnTo>
                <a:cubicBezTo>
                  <a:pt x="319352" y="113770"/>
                  <a:pt x="322782" y="108509"/>
                  <a:pt x="322782" y="102699"/>
                </a:cubicBezTo>
                <a:cubicBezTo>
                  <a:pt x="322782" y="96890"/>
                  <a:pt x="319352" y="91629"/>
                  <a:pt x="314036" y="89285"/>
                </a:cubicBezTo>
                <a:close/>
                <a:moveTo>
                  <a:pt x="29322" y="175931"/>
                </a:moveTo>
                <a:cubicBezTo>
                  <a:pt x="29308" y="181657"/>
                  <a:pt x="32628" y="186867"/>
                  <a:pt x="37825" y="189272"/>
                </a:cubicBezTo>
                <a:lnTo>
                  <a:pt x="163909" y="246596"/>
                </a:lnTo>
                <a:cubicBezTo>
                  <a:pt x="171596" y="250077"/>
                  <a:pt x="180411" y="250077"/>
                  <a:pt x="188099" y="246596"/>
                </a:cubicBezTo>
                <a:lnTo>
                  <a:pt x="313889" y="189419"/>
                </a:lnTo>
                <a:cubicBezTo>
                  <a:pt x="319192" y="187035"/>
                  <a:pt x="322585" y="181744"/>
                  <a:pt x="322539" y="175931"/>
                </a:cubicBezTo>
                <a:moveTo>
                  <a:pt x="29322" y="249235"/>
                </a:moveTo>
                <a:cubicBezTo>
                  <a:pt x="29308" y="254961"/>
                  <a:pt x="32628" y="260171"/>
                  <a:pt x="37825" y="262576"/>
                </a:cubicBezTo>
                <a:lnTo>
                  <a:pt x="163909" y="319900"/>
                </a:lnTo>
                <a:cubicBezTo>
                  <a:pt x="171596" y="323382"/>
                  <a:pt x="180411" y="323382"/>
                  <a:pt x="188099" y="319900"/>
                </a:cubicBezTo>
                <a:lnTo>
                  <a:pt x="313889" y="262723"/>
                </a:lnTo>
                <a:cubicBezTo>
                  <a:pt x="319192" y="260340"/>
                  <a:pt x="322585" y="255048"/>
                  <a:pt x="322539" y="249235"/>
                </a:cubicBezTo>
              </a:path>
            </a:pathLst>
          </a:custGeom>
          <a:noFill/>
          <a:ln w="29322" cap="rnd">
            <a:solidFill>
              <a:srgbClr val="0B2350"/>
            </a:solidFill>
            <a:prstDash val="solid"/>
            <a:round/>
          </a:ln>
        </p:spPr>
      </p:sp>
      <p:sp>
        <p:nvSpPr>
          <p:cNvPr id="17" name="Text 15"/>
          <p:cNvSpPr/>
          <p:nvPr/>
        </p:nvSpPr>
        <p:spPr>
          <a:xfrm>
            <a:off x="1636776"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B2350"/>
                </a:solidFill>
                <a:latin typeface="Segoe UI Semibold" pitchFamily="34" charset="0"/>
                <a:ea typeface="Segoe UI Semibold" pitchFamily="34" charset="-122"/>
                <a:cs typeface="Segoe UI Semibold" pitchFamily="34" charset="-120"/>
              </a:rPr>
              <a:t>Una tarea por pieza</a:t>
            </a:r>
            <a:endParaRPr lang="en-US" sz="1800" dirty="0"/>
          </a:p>
        </p:txBody>
      </p:sp>
      <p:sp>
        <p:nvSpPr>
          <p:cNvPr id="18" name="Text 16"/>
          <p:cNvSpPr/>
          <p:nvPr/>
        </p:nvSpPr>
        <p:spPr>
          <a:xfrm>
            <a:off x="868680"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Quien recibe la petición no decide; quien decide no guarda.</a:t>
            </a:r>
            <a:endParaRPr lang="en-US" sz="1600" dirty="0"/>
          </a:p>
        </p:txBody>
      </p:sp>
      <p:sp>
        <p:nvSpPr>
          <p:cNvPr id="19" name="[p1] Forma"/>
          <p:cNvSpPr/>
          <p:nvPr/>
        </p:nvSpPr>
        <p:spPr>
          <a:xfrm>
            <a:off x="4329074"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4329074" y="1847088"/>
            <a:ext cx="64008" cy="1970532"/>
          </a:xfrm>
          <a:prstGeom prst="rect">
            <a:avLst/>
          </a:prstGeom>
          <a:solidFill>
            <a:srgbClr val="0B6E8A"/>
          </a:solidFill>
          <a:ln w="12700">
            <a:solidFill>
              <a:srgbClr val="0B6E8A"/>
            </a:solidFill>
            <a:prstDash val="solid"/>
          </a:ln>
        </p:spPr>
      </p:sp>
      <p:sp>
        <p:nvSpPr>
          <p:cNvPr id="21" name="[p1] Forma"/>
          <p:cNvSpPr/>
          <p:nvPr/>
        </p:nvSpPr>
        <p:spPr>
          <a:xfrm>
            <a:off x="4530242" y="1901952"/>
            <a:ext cx="676656" cy="676656"/>
          </a:xfrm>
          <a:prstGeom prst="ellipse">
            <a:avLst/>
          </a:prstGeom>
          <a:solidFill>
            <a:srgbClr val="E3F4FA"/>
          </a:solidFill>
          <a:ln w="12700">
            <a:solidFill>
              <a:srgbClr val="E3F4FA"/>
            </a:solidFill>
            <a:prstDash val="solid"/>
          </a:ln>
        </p:spPr>
      </p:sp>
      <p:sp>
        <p:nvSpPr>
          <p:cNvPr id="22" name="[p1] Icono plug"/>
          <p:cNvSpPr/>
          <p:nvPr/>
        </p:nvSpPr>
        <p:spPr>
          <a:xfrm>
            <a:off x="4692640" y="2064349"/>
            <a:ext cx="351861" cy="351861"/>
          </a:xfrm>
          <a:custGeom>
            <a:avLst/>
            <a:gdLst/>
            <a:ahLst/>
            <a:cxnLst/>
            <a:rect l="l" t="t" r="r" b="b"/>
            <a:pathLst>
              <a:path w="351861" h="351861">
                <a:moveTo>
                  <a:pt x="175931" y="322539"/>
                </a:moveTo>
                <a:lnTo>
                  <a:pt x="175931" y="249235"/>
                </a:lnTo>
                <a:moveTo>
                  <a:pt x="131948" y="117287"/>
                </a:moveTo>
                <a:lnTo>
                  <a:pt x="131948" y="29322"/>
                </a:lnTo>
                <a:moveTo>
                  <a:pt x="219913" y="117287"/>
                </a:moveTo>
                <a:lnTo>
                  <a:pt x="219913" y="29322"/>
                </a:lnTo>
                <a:moveTo>
                  <a:pt x="263896" y="117287"/>
                </a:moveTo>
                <a:lnTo>
                  <a:pt x="263896" y="190591"/>
                </a:lnTo>
                <a:cubicBezTo>
                  <a:pt x="263896" y="222979"/>
                  <a:pt x="237640" y="249235"/>
                  <a:pt x="205252" y="249235"/>
                </a:cubicBezTo>
                <a:lnTo>
                  <a:pt x="146609" y="249235"/>
                </a:lnTo>
                <a:cubicBezTo>
                  <a:pt x="114221" y="249235"/>
                  <a:pt x="87965" y="222979"/>
                  <a:pt x="87965" y="190591"/>
                </a:cubicBezTo>
                <a:lnTo>
                  <a:pt x="87965" y="117287"/>
                </a:lnTo>
                <a:close/>
              </a:path>
            </a:pathLst>
          </a:custGeom>
          <a:noFill/>
          <a:ln w="29322" cap="rnd">
            <a:solidFill>
              <a:srgbClr val="0B6E8A"/>
            </a:solidFill>
            <a:prstDash val="solid"/>
            <a:round/>
          </a:ln>
        </p:spPr>
      </p:sp>
      <p:sp>
        <p:nvSpPr>
          <p:cNvPr id="23" name="[p1] Forma"/>
          <p:cNvSpPr/>
          <p:nvPr/>
        </p:nvSpPr>
        <p:spPr>
          <a:xfrm>
            <a:off x="5353202"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B6E8A"/>
                </a:solidFill>
                <a:latin typeface="Segoe UI Semibold" pitchFamily="34" charset="0"/>
                <a:ea typeface="Segoe UI Semibold" pitchFamily="34" charset="-122"/>
                <a:cs typeface="Segoe UI Semibold" pitchFamily="34" charset="-120"/>
              </a:rPr>
              <a:t>Piezas que se conectan</a:t>
            </a:r>
            <a:endParaRPr lang="en-US" sz="1800" dirty="0"/>
          </a:p>
        </p:txBody>
      </p:sp>
      <p:sp>
        <p:nvSpPr>
          <p:cNvPr id="24" name="[p1] Forma"/>
          <p:cNvSpPr/>
          <p:nvPr/>
        </p:nvSpPr>
        <p:spPr>
          <a:xfrm>
            <a:off x="4585106"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Cada pieza recibe lo que necesita: se cambia o se prueba sola.</a:t>
            </a:r>
            <a:endParaRPr lang="en-US" sz="1600" dirty="0"/>
          </a:p>
        </p:txBody>
      </p:sp>
      <p:sp>
        <p:nvSpPr>
          <p:cNvPr id="25" name="[p2] Forma"/>
          <p:cNvSpPr/>
          <p:nvPr/>
        </p:nvSpPr>
        <p:spPr>
          <a:xfrm>
            <a:off x="8045501"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6" name="[p2] Forma"/>
          <p:cNvSpPr/>
          <p:nvPr/>
        </p:nvSpPr>
        <p:spPr>
          <a:xfrm>
            <a:off x="8045501" y="1847088"/>
            <a:ext cx="64008" cy="1970532"/>
          </a:xfrm>
          <a:prstGeom prst="rect">
            <a:avLst/>
          </a:prstGeom>
          <a:solidFill>
            <a:srgbClr val="5B3FC4"/>
          </a:solidFill>
          <a:ln w="12700">
            <a:solidFill>
              <a:srgbClr val="5B3FC4"/>
            </a:solidFill>
            <a:prstDash val="solid"/>
          </a:ln>
        </p:spPr>
      </p:sp>
      <p:sp>
        <p:nvSpPr>
          <p:cNvPr id="27" name="[p2] Forma"/>
          <p:cNvSpPr/>
          <p:nvPr/>
        </p:nvSpPr>
        <p:spPr>
          <a:xfrm>
            <a:off x="8246669" y="1901952"/>
            <a:ext cx="676656" cy="676656"/>
          </a:xfrm>
          <a:prstGeom prst="ellipse">
            <a:avLst/>
          </a:prstGeom>
          <a:solidFill>
            <a:srgbClr val="F1EEFD"/>
          </a:solidFill>
          <a:ln w="12700">
            <a:solidFill>
              <a:srgbClr val="F1EEFD"/>
            </a:solidFill>
            <a:prstDash val="solid"/>
          </a:ln>
        </p:spPr>
      </p:sp>
      <p:sp>
        <p:nvSpPr>
          <p:cNvPr id="28" name="[p2] Icono puzzle"/>
          <p:cNvSpPr/>
          <p:nvPr/>
        </p:nvSpPr>
        <p:spPr>
          <a:xfrm>
            <a:off x="8409066" y="2064349"/>
            <a:ext cx="351861" cy="351861"/>
          </a:xfrm>
          <a:custGeom>
            <a:avLst/>
            <a:gdLst/>
            <a:ahLst/>
            <a:cxnLst/>
            <a:rect l="l" t="t" r="r" b="b"/>
            <a:pathLst>
              <a:path w="351861" h="351861">
                <a:moveTo>
                  <a:pt x="225631" y="64361"/>
                </a:moveTo>
                <a:cubicBezTo>
                  <a:pt x="229384" y="68118"/>
                  <a:pt x="234874" y="69552"/>
                  <a:pt x="239984" y="68110"/>
                </a:cubicBezTo>
                <a:cubicBezTo>
                  <a:pt x="245094" y="66668"/>
                  <a:pt x="249025" y="62576"/>
                  <a:pt x="250261" y="57412"/>
                </a:cubicBezTo>
                <a:cubicBezTo>
                  <a:pt x="254473" y="39882"/>
                  <a:pt x="270808" y="28017"/>
                  <a:pt x="288781" y="29435"/>
                </a:cubicBezTo>
                <a:cubicBezTo>
                  <a:pt x="306754" y="30852"/>
                  <a:pt x="321028" y="45130"/>
                  <a:pt x="322439" y="63104"/>
                </a:cubicBezTo>
                <a:cubicBezTo>
                  <a:pt x="323851" y="81078"/>
                  <a:pt x="311981" y="97409"/>
                  <a:pt x="294449" y="101615"/>
                </a:cubicBezTo>
                <a:cubicBezTo>
                  <a:pt x="289285" y="102850"/>
                  <a:pt x="285193" y="106782"/>
                  <a:pt x="283751" y="111892"/>
                </a:cubicBezTo>
                <a:cubicBezTo>
                  <a:pt x="282310" y="117002"/>
                  <a:pt x="283743" y="122492"/>
                  <a:pt x="287500" y="126245"/>
                </a:cubicBezTo>
                <a:lnTo>
                  <a:pt x="312174" y="150904"/>
                </a:lnTo>
                <a:cubicBezTo>
                  <a:pt x="318812" y="157542"/>
                  <a:pt x="322541" y="166544"/>
                  <a:pt x="322541" y="175931"/>
                </a:cubicBezTo>
                <a:cubicBezTo>
                  <a:pt x="322541" y="185317"/>
                  <a:pt x="318812" y="194319"/>
                  <a:pt x="312174" y="200957"/>
                </a:cubicBezTo>
                <a:lnTo>
                  <a:pt x="287500" y="225631"/>
                </a:lnTo>
                <a:cubicBezTo>
                  <a:pt x="283747" y="229387"/>
                  <a:pt x="278257" y="230821"/>
                  <a:pt x="273147" y="229379"/>
                </a:cubicBezTo>
                <a:cubicBezTo>
                  <a:pt x="268037" y="227938"/>
                  <a:pt x="264105" y="223846"/>
                  <a:pt x="262870" y="218682"/>
                </a:cubicBezTo>
                <a:cubicBezTo>
                  <a:pt x="258658" y="201151"/>
                  <a:pt x="242323" y="189287"/>
                  <a:pt x="224350" y="190704"/>
                </a:cubicBezTo>
                <a:cubicBezTo>
                  <a:pt x="206376" y="192122"/>
                  <a:pt x="192103" y="206400"/>
                  <a:pt x="190692" y="224374"/>
                </a:cubicBezTo>
                <a:cubicBezTo>
                  <a:pt x="189280" y="242348"/>
                  <a:pt x="201150" y="258679"/>
                  <a:pt x="218682" y="262884"/>
                </a:cubicBezTo>
                <a:cubicBezTo>
                  <a:pt x="223846" y="264120"/>
                  <a:pt x="227938" y="268051"/>
                  <a:pt x="229379" y="273161"/>
                </a:cubicBezTo>
                <a:cubicBezTo>
                  <a:pt x="230821" y="278272"/>
                  <a:pt x="229387" y="283762"/>
                  <a:pt x="225631" y="287515"/>
                </a:cubicBezTo>
                <a:lnTo>
                  <a:pt x="200957" y="312174"/>
                </a:lnTo>
                <a:cubicBezTo>
                  <a:pt x="194319" y="318812"/>
                  <a:pt x="185317" y="322541"/>
                  <a:pt x="175931" y="322541"/>
                </a:cubicBezTo>
                <a:cubicBezTo>
                  <a:pt x="166544" y="322541"/>
                  <a:pt x="157542" y="318812"/>
                  <a:pt x="150904" y="312174"/>
                </a:cubicBezTo>
                <a:lnTo>
                  <a:pt x="126230" y="287500"/>
                </a:lnTo>
                <a:cubicBezTo>
                  <a:pt x="122478" y="283743"/>
                  <a:pt x="116987" y="282310"/>
                  <a:pt x="111877" y="283751"/>
                </a:cubicBezTo>
                <a:cubicBezTo>
                  <a:pt x="106767" y="285193"/>
                  <a:pt x="102836" y="289285"/>
                  <a:pt x="101600" y="294449"/>
                </a:cubicBezTo>
                <a:cubicBezTo>
                  <a:pt x="97389" y="311979"/>
                  <a:pt x="81053" y="323844"/>
                  <a:pt x="63080" y="322426"/>
                </a:cubicBezTo>
                <a:cubicBezTo>
                  <a:pt x="45107" y="321009"/>
                  <a:pt x="30833" y="306731"/>
                  <a:pt x="29422" y="288757"/>
                </a:cubicBezTo>
                <a:cubicBezTo>
                  <a:pt x="28010" y="270783"/>
                  <a:pt x="39880" y="254452"/>
                  <a:pt x="57412" y="250247"/>
                </a:cubicBezTo>
                <a:cubicBezTo>
                  <a:pt x="62576" y="249011"/>
                  <a:pt x="66668" y="245080"/>
                  <a:pt x="68110" y="239969"/>
                </a:cubicBezTo>
                <a:cubicBezTo>
                  <a:pt x="69552" y="234859"/>
                  <a:pt x="68118" y="229369"/>
                  <a:pt x="64361" y="225616"/>
                </a:cubicBezTo>
                <a:lnTo>
                  <a:pt x="39687" y="200957"/>
                </a:lnTo>
                <a:cubicBezTo>
                  <a:pt x="33049" y="194319"/>
                  <a:pt x="29320" y="185317"/>
                  <a:pt x="29320" y="175931"/>
                </a:cubicBezTo>
                <a:cubicBezTo>
                  <a:pt x="29320" y="166544"/>
                  <a:pt x="33049" y="157542"/>
                  <a:pt x="39687" y="150904"/>
                </a:cubicBezTo>
                <a:lnTo>
                  <a:pt x="64361" y="126230"/>
                </a:lnTo>
                <a:cubicBezTo>
                  <a:pt x="68114" y="122474"/>
                  <a:pt x="73604" y="121040"/>
                  <a:pt x="78714" y="122482"/>
                </a:cubicBezTo>
                <a:cubicBezTo>
                  <a:pt x="83824" y="123924"/>
                  <a:pt x="87756" y="128016"/>
                  <a:pt x="88992" y="133179"/>
                </a:cubicBezTo>
                <a:cubicBezTo>
                  <a:pt x="93203" y="150710"/>
                  <a:pt x="109538" y="162574"/>
                  <a:pt x="127511" y="161157"/>
                </a:cubicBezTo>
                <a:cubicBezTo>
                  <a:pt x="145485" y="159739"/>
                  <a:pt x="159758" y="145461"/>
                  <a:pt x="161170" y="127487"/>
                </a:cubicBezTo>
                <a:cubicBezTo>
                  <a:pt x="162581" y="109514"/>
                  <a:pt x="150711" y="93182"/>
                  <a:pt x="133179" y="88977"/>
                </a:cubicBezTo>
                <a:cubicBezTo>
                  <a:pt x="128016" y="87741"/>
                  <a:pt x="123924" y="83810"/>
                  <a:pt x="122482" y="78700"/>
                </a:cubicBezTo>
                <a:cubicBezTo>
                  <a:pt x="121040" y="73590"/>
                  <a:pt x="122474" y="68099"/>
                  <a:pt x="126230" y="64347"/>
                </a:cubicBezTo>
                <a:lnTo>
                  <a:pt x="150904" y="39687"/>
                </a:lnTo>
                <a:cubicBezTo>
                  <a:pt x="157542" y="33049"/>
                  <a:pt x="166544" y="29320"/>
                  <a:pt x="175931" y="29320"/>
                </a:cubicBezTo>
                <a:cubicBezTo>
                  <a:pt x="185317" y="29320"/>
                  <a:pt x="194319" y="33049"/>
                  <a:pt x="200957" y="39687"/>
                </a:cubicBezTo>
                <a:close/>
              </a:path>
            </a:pathLst>
          </a:custGeom>
          <a:noFill/>
          <a:ln w="29322" cap="rnd">
            <a:solidFill>
              <a:srgbClr val="5B3FC4"/>
            </a:solidFill>
            <a:prstDash val="solid"/>
            <a:round/>
          </a:ln>
        </p:spPr>
      </p:sp>
      <p:sp>
        <p:nvSpPr>
          <p:cNvPr id="29" name="[p2] Forma"/>
          <p:cNvSpPr/>
          <p:nvPr/>
        </p:nvSpPr>
        <p:spPr>
          <a:xfrm>
            <a:off x="9069629"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5B3FC4"/>
                </a:solidFill>
                <a:latin typeface="Segoe UI Semibold" pitchFamily="34" charset="0"/>
                <a:ea typeface="Segoe UI Semibold" pitchFamily="34" charset="-122"/>
                <a:cs typeface="Segoe UI Semibold" pitchFamily="34" charset="-120"/>
              </a:rPr>
              <a:t>Reglas en un solo lugar</a:t>
            </a:r>
            <a:endParaRPr lang="en-US" sz="1800" dirty="0"/>
          </a:p>
        </p:txBody>
      </p:sp>
      <p:sp>
        <p:nvSpPr>
          <p:cNvPr id="30" name="[p2] Forma"/>
          <p:cNvSpPr/>
          <p:nvPr/>
        </p:nvSpPr>
        <p:spPr>
          <a:xfrm>
            <a:off x="8301533"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negocio vive junto, lejos de la pantalla y de la base.</a:t>
            </a:r>
            <a:endParaRPr lang="en-US" sz="1600" dirty="0"/>
          </a:p>
        </p:txBody>
      </p:sp>
      <p:sp>
        <p:nvSpPr>
          <p:cNvPr id="31" name="[p3] Forma"/>
          <p:cNvSpPr/>
          <p:nvPr/>
        </p:nvSpPr>
        <p:spPr>
          <a:xfrm>
            <a:off x="612648"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p3] Forma"/>
          <p:cNvSpPr/>
          <p:nvPr/>
        </p:nvSpPr>
        <p:spPr>
          <a:xfrm>
            <a:off x="612648" y="4256532"/>
            <a:ext cx="64008" cy="1970532"/>
          </a:xfrm>
          <a:prstGeom prst="rect">
            <a:avLst/>
          </a:prstGeom>
          <a:solidFill>
            <a:srgbClr val="AB243E"/>
          </a:solidFill>
          <a:ln w="12700">
            <a:solidFill>
              <a:srgbClr val="AB243E"/>
            </a:solidFill>
            <a:prstDash val="solid"/>
          </a:ln>
        </p:spPr>
      </p:sp>
      <p:sp>
        <p:nvSpPr>
          <p:cNvPr id="33" name="[p3] Forma"/>
          <p:cNvSpPr/>
          <p:nvPr/>
        </p:nvSpPr>
        <p:spPr>
          <a:xfrm>
            <a:off x="813816" y="4311396"/>
            <a:ext cx="676656" cy="676656"/>
          </a:xfrm>
          <a:prstGeom prst="ellipse">
            <a:avLst/>
          </a:prstGeom>
          <a:solidFill>
            <a:srgbClr val="F7E3E7"/>
          </a:solidFill>
          <a:ln w="12700">
            <a:solidFill>
              <a:srgbClr val="F7E3E7"/>
            </a:solidFill>
            <a:prstDash val="solid"/>
          </a:ln>
        </p:spPr>
      </p:sp>
      <p:sp>
        <p:nvSpPr>
          <p:cNvPr id="34" name="[p3] Icono shield-alert"/>
          <p:cNvSpPr/>
          <p:nvPr/>
        </p:nvSpPr>
        <p:spPr>
          <a:xfrm>
            <a:off x="976213" y="4473793"/>
            <a:ext cx="351861" cy="351861"/>
          </a:xfrm>
          <a:custGeom>
            <a:avLst/>
            <a:gdLst/>
            <a:ahLst/>
            <a:cxnLst/>
            <a:rect l="l" t="t" r="r" b="b"/>
            <a:pathLst>
              <a:path w="351861" h="351861">
                <a:moveTo>
                  <a:pt x="293218" y="190591"/>
                </a:moveTo>
                <a:cubicBezTo>
                  <a:pt x="293218" y="263896"/>
                  <a:pt x="241905" y="300548"/>
                  <a:pt x="180915" y="321806"/>
                </a:cubicBezTo>
                <a:cubicBezTo>
                  <a:pt x="177722" y="322889"/>
                  <a:pt x="174252" y="322837"/>
                  <a:pt x="171092" y="321660"/>
                </a:cubicBezTo>
                <a:cubicBezTo>
                  <a:pt x="109957" y="300548"/>
                  <a:pt x="58644" y="263896"/>
                  <a:pt x="58644" y="190591"/>
                </a:cubicBezTo>
                <a:lnTo>
                  <a:pt x="58644" y="87965"/>
                </a:lnTo>
                <a:cubicBezTo>
                  <a:pt x="58644" y="79868"/>
                  <a:pt x="65207" y="73304"/>
                  <a:pt x="73304" y="73304"/>
                </a:cubicBezTo>
                <a:cubicBezTo>
                  <a:pt x="102626" y="73304"/>
                  <a:pt x="139278" y="55711"/>
                  <a:pt x="164788" y="33427"/>
                </a:cubicBezTo>
                <a:cubicBezTo>
                  <a:pt x="171205" y="27945"/>
                  <a:pt x="180656" y="27945"/>
                  <a:pt x="187073" y="33427"/>
                </a:cubicBezTo>
                <a:cubicBezTo>
                  <a:pt x="212729" y="55858"/>
                  <a:pt x="249235" y="73304"/>
                  <a:pt x="278557" y="73304"/>
                </a:cubicBezTo>
                <a:cubicBezTo>
                  <a:pt x="286654" y="73304"/>
                  <a:pt x="293218" y="79868"/>
                  <a:pt x="293218" y="87965"/>
                </a:cubicBezTo>
                <a:close/>
                <a:moveTo>
                  <a:pt x="175931" y="117287"/>
                </a:moveTo>
                <a:lnTo>
                  <a:pt x="175931" y="175931"/>
                </a:lnTo>
                <a:moveTo>
                  <a:pt x="175931" y="234574"/>
                </a:moveTo>
                <a:lnTo>
                  <a:pt x="176077" y="234574"/>
                </a:lnTo>
              </a:path>
            </a:pathLst>
          </a:custGeom>
          <a:noFill/>
          <a:ln w="29322" cap="rnd">
            <a:solidFill>
              <a:srgbClr val="AB243E"/>
            </a:solidFill>
            <a:prstDash val="solid"/>
            <a:round/>
          </a:ln>
        </p:spPr>
      </p:sp>
      <p:sp>
        <p:nvSpPr>
          <p:cNvPr id="35" name="[p3] Forma"/>
          <p:cNvSpPr/>
          <p:nvPr/>
        </p:nvSpPr>
        <p:spPr>
          <a:xfrm>
            <a:off x="1636776"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AB243E"/>
                </a:solidFill>
                <a:latin typeface="Segoe UI Semibold" pitchFamily="34" charset="0"/>
                <a:ea typeface="Segoe UI Semibold" pitchFamily="34" charset="-122"/>
                <a:cs typeface="Segoe UI Semibold" pitchFamily="34" charset="-120"/>
              </a:rPr>
              <a:t>Errores con respuesta clara</a:t>
            </a:r>
            <a:endParaRPr lang="en-US" sz="1800" dirty="0"/>
          </a:p>
        </p:txBody>
      </p:sp>
      <p:sp>
        <p:nvSpPr>
          <p:cNvPr id="36" name="[p3] Forma"/>
          <p:cNvSpPr/>
          <p:nvPr/>
        </p:nvSpPr>
        <p:spPr>
          <a:xfrm>
            <a:off x="868680"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Siempre el mismo formato: 400, 404 o 409 con su motivo.</a:t>
            </a:r>
            <a:endParaRPr lang="en-US" sz="1600" dirty="0"/>
          </a:p>
        </p:txBody>
      </p:sp>
      <p:sp>
        <p:nvSpPr>
          <p:cNvPr id="37" name="[p4] Forma"/>
          <p:cNvSpPr/>
          <p:nvPr/>
        </p:nvSpPr>
        <p:spPr>
          <a:xfrm>
            <a:off x="4329074"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4] Forma"/>
          <p:cNvSpPr/>
          <p:nvPr/>
        </p:nvSpPr>
        <p:spPr>
          <a:xfrm>
            <a:off x="4329074" y="4256532"/>
            <a:ext cx="64008" cy="1970532"/>
          </a:xfrm>
          <a:prstGeom prst="rect">
            <a:avLst/>
          </a:prstGeom>
          <a:solidFill>
            <a:srgbClr val="8A4B06"/>
          </a:solidFill>
          <a:ln w="12700">
            <a:solidFill>
              <a:srgbClr val="8A4B06"/>
            </a:solidFill>
            <a:prstDash val="solid"/>
          </a:ln>
        </p:spPr>
      </p:sp>
      <p:sp>
        <p:nvSpPr>
          <p:cNvPr id="39" name="[p4] Forma"/>
          <p:cNvSpPr/>
          <p:nvPr/>
        </p:nvSpPr>
        <p:spPr>
          <a:xfrm>
            <a:off x="4530242" y="4311396"/>
            <a:ext cx="676656" cy="676656"/>
          </a:xfrm>
          <a:prstGeom prst="ellipse">
            <a:avLst/>
          </a:prstGeom>
          <a:solidFill>
            <a:srgbClr val="FCEFD6"/>
          </a:solidFill>
          <a:ln w="12700">
            <a:solidFill>
              <a:srgbClr val="FCEFD6"/>
            </a:solidFill>
            <a:prstDash val="solid"/>
          </a:ln>
        </p:spPr>
      </p:sp>
      <p:sp>
        <p:nvSpPr>
          <p:cNvPr id="40" name="[p4] Icono book-open"/>
          <p:cNvSpPr/>
          <p:nvPr/>
        </p:nvSpPr>
        <p:spPr>
          <a:xfrm>
            <a:off x="4692640" y="4473793"/>
            <a:ext cx="351861" cy="351861"/>
          </a:xfrm>
          <a:custGeom>
            <a:avLst/>
            <a:gdLst/>
            <a:ahLst/>
            <a:cxnLst/>
            <a:rect l="l" t="t" r="r" b="b"/>
            <a:pathLst>
              <a:path w="351861" h="351861">
                <a:moveTo>
                  <a:pt x="175931" y="102626"/>
                </a:moveTo>
                <a:lnTo>
                  <a:pt x="175931" y="307878"/>
                </a:lnTo>
                <a:moveTo>
                  <a:pt x="43983" y="263896"/>
                </a:moveTo>
                <a:cubicBezTo>
                  <a:pt x="35886" y="263896"/>
                  <a:pt x="29322" y="257332"/>
                  <a:pt x="29322" y="249235"/>
                </a:cubicBezTo>
                <a:lnTo>
                  <a:pt x="29322" y="58644"/>
                </a:lnTo>
                <a:cubicBezTo>
                  <a:pt x="29322" y="50547"/>
                  <a:pt x="35886" y="43983"/>
                  <a:pt x="43983" y="43983"/>
                </a:cubicBezTo>
                <a:lnTo>
                  <a:pt x="117287" y="43983"/>
                </a:lnTo>
                <a:cubicBezTo>
                  <a:pt x="149675" y="43983"/>
                  <a:pt x="175931" y="70238"/>
                  <a:pt x="175931" y="102626"/>
                </a:cubicBezTo>
                <a:cubicBezTo>
                  <a:pt x="175931" y="70238"/>
                  <a:pt x="202186" y="43983"/>
                  <a:pt x="234574" y="43983"/>
                </a:cubicBezTo>
                <a:lnTo>
                  <a:pt x="307878" y="43983"/>
                </a:lnTo>
                <a:cubicBezTo>
                  <a:pt x="315975" y="43983"/>
                  <a:pt x="322539" y="50547"/>
                  <a:pt x="322539" y="58644"/>
                </a:cubicBezTo>
                <a:lnTo>
                  <a:pt x="322539" y="249235"/>
                </a:lnTo>
                <a:cubicBezTo>
                  <a:pt x="322539" y="257332"/>
                  <a:pt x="315975" y="263896"/>
                  <a:pt x="307878" y="263896"/>
                </a:cubicBezTo>
                <a:lnTo>
                  <a:pt x="219913" y="263896"/>
                </a:lnTo>
                <a:cubicBezTo>
                  <a:pt x="195622" y="263896"/>
                  <a:pt x="175931" y="283588"/>
                  <a:pt x="175931" y="307878"/>
                </a:cubicBezTo>
                <a:cubicBezTo>
                  <a:pt x="175931" y="283588"/>
                  <a:pt x="156239" y="263896"/>
                  <a:pt x="131948" y="263896"/>
                </a:cubicBezTo>
                <a:close/>
              </a:path>
            </a:pathLst>
          </a:custGeom>
          <a:noFill/>
          <a:ln w="29322" cap="rnd">
            <a:solidFill>
              <a:srgbClr val="8A4B06"/>
            </a:solidFill>
            <a:prstDash val="solid"/>
            <a:round/>
          </a:ln>
        </p:spPr>
      </p:sp>
      <p:sp>
        <p:nvSpPr>
          <p:cNvPr id="41" name="[p4] Forma"/>
          <p:cNvSpPr/>
          <p:nvPr/>
        </p:nvSpPr>
        <p:spPr>
          <a:xfrm>
            <a:off x="5353202"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Nombres del negocio</a:t>
            </a:r>
            <a:endParaRPr lang="en-US" sz="1800" dirty="0"/>
          </a:p>
        </p:txBody>
      </p:sp>
      <p:sp>
        <p:nvSpPr>
          <p:cNvPr id="42" name="[p4] Forma"/>
          <p:cNvSpPr/>
          <p:nvPr/>
        </p:nvSpPr>
        <p:spPr>
          <a:xfrm>
            <a:off x="4585106"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Solicitud, enviar, aprobar: el código se lee como el proceso.</a:t>
            </a:r>
            <a:endParaRPr lang="en-US" sz="1600" dirty="0"/>
          </a:p>
        </p:txBody>
      </p:sp>
      <p:sp>
        <p:nvSpPr>
          <p:cNvPr id="43" name="[p5] Forma"/>
          <p:cNvSpPr/>
          <p:nvPr/>
        </p:nvSpPr>
        <p:spPr>
          <a:xfrm>
            <a:off x="8045501"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4" name="[p5] Forma"/>
          <p:cNvSpPr/>
          <p:nvPr/>
        </p:nvSpPr>
        <p:spPr>
          <a:xfrm>
            <a:off x="8045501" y="4256532"/>
            <a:ext cx="64008" cy="1970532"/>
          </a:xfrm>
          <a:prstGeom prst="rect">
            <a:avLst/>
          </a:prstGeom>
          <a:solidFill>
            <a:srgbClr val="0A6648"/>
          </a:solidFill>
          <a:ln w="12700">
            <a:solidFill>
              <a:srgbClr val="0A6648"/>
            </a:solidFill>
            <a:prstDash val="solid"/>
          </a:ln>
        </p:spPr>
      </p:sp>
      <p:sp>
        <p:nvSpPr>
          <p:cNvPr id="45" name="[p5] Forma"/>
          <p:cNvSpPr/>
          <p:nvPr/>
        </p:nvSpPr>
        <p:spPr>
          <a:xfrm>
            <a:off x="8246669" y="4311396"/>
            <a:ext cx="676656" cy="676656"/>
          </a:xfrm>
          <a:prstGeom prst="ellipse">
            <a:avLst/>
          </a:prstGeom>
          <a:solidFill>
            <a:srgbClr val="E1F1EA"/>
          </a:solidFill>
          <a:ln w="12700">
            <a:solidFill>
              <a:srgbClr val="E1F1EA"/>
            </a:solidFill>
            <a:prstDash val="solid"/>
          </a:ln>
        </p:spPr>
      </p:sp>
      <p:sp>
        <p:nvSpPr>
          <p:cNvPr id="46" name="[p5] Icono flask-conical"/>
          <p:cNvSpPr/>
          <p:nvPr/>
        </p:nvSpPr>
        <p:spPr>
          <a:xfrm>
            <a:off x="8409066" y="4473793"/>
            <a:ext cx="351861" cy="351861"/>
          </a:xfrm>
          <a:custGeom>
            <a:avLst/>
            <a:gdLst/>
            <a:ahLst/>
            <a:cxnLst/>
            <a:rect l="l" t="t" r="r" b="b"/>
            <a:pathLst>
              <a:path w="351861" h="351861">
                <a:moveTo>
                  <a:pt x="205252" y="29322"/>
                </a:moveTo>
                <a:lnTo>
                  <a:pt x="205252" y="117287"/>
                </a:lnTo>
                <a:cubicBezTo>
                  <a:pt x="205250" y="122206"/>
                  <a:pt x="206485" y="127046"/>
                  <a:pt x="208844" y="131361"/>
                </a:cubicBezTo>
                <a:lnTo>
                  <a:pt x="289626" y="279143"/>
                </a:lnTo>
                <a:cubicBezTo>
                  <a:pt x="294597" y="288229"/>
                  <a:pt x="294406" y="299263"/>
                  <a:pt x="289124" y="308172"/>
                </a:cubicBezTo>
                <a:cubicBezTo>
                  <a:pt x="283842" y="317080"/>
                  <a:pt x="274253" y="322542"/>
                  <a:pt x="263896" y="322539"/>
                </a:cubicBezTo>
                <a:lnTo>
                  <a:pt x="87965" y="322539"/>
                </a:lnTo>
                <a:cubicBezTo>
                  <a:pt x="77608" y="322542"/>
                  <a:pt x="68019" y="317080"/>
                  <a:pt x="62737" y="308172"/>
                </a:cubicBezTo>
                <a:cubicBezTo>
                  <a:pt x="57455" y="299263"/>
                  <a:pt x="57264" y="288229"/>
                  <a:pt x="62235" y="279143"/>
                </a:cubicBezTo>
                <a:lnTo>
                  <a:pt x="143017" y="131361"/>
                </a:lnTo>
                <a:cubicBezTo>
                  <a:pt x="145376" y="127046"/>
                  <a:pt x="146611" y="122206"/>
                  <a:pt x="146609" y="117287"/>
                </a:cubicBezTo>
                <a:lnTo>
                  <a:pt x="146609" y="29322"/>
                </a:lnTo>
                <a:moveTo>
                  <a:pt x="94607" y="219913"/>
                </a:moveTo>
                <a:lnTo>
                  <a:pt x="257254" y="219913"/>
                </a:lnTo>
                <a:moveTo>
                  <a:pt x="124617" y="29322"/>
                </a:moveTo>
                <a:lnTo>
                  <a:pt x="227244" y="29322"/>
                </a:lnTo>
              </a:path>
            </a:pathLst>
          </a:custGeom>
          <a:noFill/>
          <a:ln w="29322" cap="rnd">
            <a:solidFill>
              <a:srgbClr val="0A6648"/>
            </a:solidFill>
            <a:prstDash val="solid"/>
            <a:round/>
          </a:ln>
        </p:spPr>
      </p:sp>
      <p:sp>
        <p:nvSpPr>
          <p:cNvPr id="47" name="[p5] Forma"/>
          <p:cNvSpPr/>
          <p:nvPr/>
        </p:nvSpPr>
        <p:spPr>
          <a:xfrm>
            <a:off x="9069629"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A6648"/>
                </a:solidFill>
                <a:latin typeface="Segoe UI Semibold" pitchFamily="34" charset="0"/>
                <a:ea typeface="Segoe UI Semibold" pitchFamily="34" charset="-122"/>
                <a:cs typeface="Segoe UI Semibold" pitchFamily="34" charset="-120"/>
              </a:rPr>
              <a:t>Cada regla con su prueba</a:t>
            </a:r>
            <a:endParaRPr lang="en-US" sz="1800" dirty="0"/>
          </a:p>
        </p:txBody>
      </p:sp>
      <p:sp>
        <p:nvSpPr>
          <p:cNvPr id="48" name="[p5] Forma"/>
          <p:cNvSpPr/>
          <p:nvPr/>
        </p:nvSpPr>
        <p:spPr>
          <a:xfrm>
            <a:off x="8301533"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Una prueba automática avisa si un cambio rompió algo.</a:t>
            </a:r>
            <a:endParaRPr lang="en-US" sz="16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4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4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0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400"/>
                                        <p:tgtEl>
                                          <p:spTgt spid="3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400"/>
                                        <p:tgtEl>
                                          <p:spTgt spid="3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400"/>
                                        <p:tgtEl>
                                          <p:spTgt spid="4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400"/>
                                        <p:tgtEl>
                                          <p:spTgt spid="4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fade">
                                      <p:cBhvr>
                                        <p:cTn id="80" dur="400"/>
                                        <p:tgtEl>
                                          <p:spTgt spid="42"/>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400"/>
                                        <p:tgtEl>
                                          <p:spTgt spid="4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fade">
                                      <p:cBhvr>
                                        <p:cTn id="88" dur="400"/>
                                        <p:tgtEl>
                                          <p:spTgt spid="4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400"/>
                                        <p:tgtEl>
                                          <p:spTgt spid="4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400"/>
                                        <p:tgtEl>
                                          <p:spTgt spid="46"/>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400"/>
                                        <p:tgtEl>
                                          <p:spTgt spid="4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Trabajo en equipo: Git y documentación</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cambio entra revisado, probado y documentado.</a:t>
            </a:r>
            <a:endParaRPr lang="en-US" sz="1700" dirty="0"/>
          </a:p>
        </p:txBody>
      </p:sp>
      <p:sp>
        <p:nvSpPr>
          <p:cNvPr id="13" name="Shape 11"/>
          <p:cNvSpPr/>
          <p:nvPr/>
        </p:nvSpPr>
        <p:spPr>
          <a:xfrm>
            <a:off x="978408" y="5349240"/>
            <a:ext cx="10234879" cy="0"/>
          </a:xfrm>
          <a:prstGeom prst="line">
            <a:avLst/>
          </a:prstGeom>
          <a:noFill/>
          <a:ln w="76200">
            <a:solidFill>
              <a:srgbClr val="0B2350"/>
            </a:solidFill>
            <a:prstDash val="solid"/>
          </a:ln>
        </p:spPr>
      </p:sp>
      <p:sp>
        <p:nvSpPr>
          <p:cNvPr id="14" name="Text 12"/>
          <p:cNvSpPr/>
          <p:nvPr/>
        </p:nvSpPr>
        <p:spPr>
          <a:xfrm>
            <a:off x="886968" y="5550408"/>
            <a:ext cx="1463040" cy="365760"/>
          </a:xfrm>
          <a:prstGeom prst="roundRect">
            <a:avLst>
              <a:gd name="adj" fmla="val 50000"/>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main</a:t>
            </a:r>
            <a:endParaRPr lang="en-US" sz="1400" dirty="0"/>
          </a:p>
        </p:txBody>
      </p:sp>
      <p:sp>
        <p:nvSpPr>
          <p:cNvPr id="15" name="Shape 13"/>
          <p:cNvSpPr/>
          <p:nvPr/>
        </p:nvSpPr>
        <p:spPr>
          <a:xfrm flipV="1">
            <a:off x="2075688" y="2816352"/>
            <a:ext cx="640080" cy="2532888"/>
          </a:xfrm>
          <a:prstGeom prst="line">
            <a:avLst/>
          </a:prstGeom>
          <a:noFill/>
          <a:ln w="63500">
            <a:solidFill>
              <a:srgbClr val="2BA6CB"/>
            </a:solidFill>
            <a:prstDash val="solid"/>
          </a:ln>
        </p:spPr>
      </p:sp>
      <p:sp>
        <p:nvSpPr>
          <p:cNvPr id="16" name="Shape 14"/>
          <p:cNvSpPr/>
          <p:nvPr/>
        </p:nvSpPr>
        <p:spPr>
          <a:xfrm>
            <a:off x="2715768" y="2816352"/>
            <a:ext cx="6394399" cy="0"/>
          </a:xfrm>
          <a:prstGeom prst="line">
            <a:avLst/>
          </a:prstGeom>
          <a:noFill/>
          <a:ln w="63500">
            <a:solidFill>
              <a:srgbClr val="2BA6CB"/>
            </a:solidFill>
            <a:prstDash val="solid"/>
          </a:ln>
        </p:spPr>
      </p:sp>
      <p:sp>
        <p:nvSpPr>
          <p:cNvPr id="17" name="[p1] Forma"/>
          <p:cNvSpPr/>
          <p:nvPr/>
        </p:nvSpPr>
        <p:spPr>
          <a:xfrm>
            <a:off x="9110167" y="2816352"/>
            <a:ext cx="640080" cy="2532888"/>
          </a:xfrm>
          <a:prstGeom prst="line">
            <a:avLst/>
          </a:prstGeom>
          <a:noFill/>
          <a:ln w="63500">
            <a:solidFill>
              <a:srgbClr val="0A6648"/>
            </a:solidFill>
            <a:prstDash val="solid"/>
            <a:tailEnd type="triangle"/>
          </a:ln>
        </p:spPr>
      </p:sp>
      <p:sp>
        <p:nvSpPr>
          <p:cNvPr id="18" name="Text 16"/>
          <p:cNvSpPr/>
          <p:nvPr/>
        </p:nvSpPr>
        <p:spPr>
          <a:xfrm>
            <a:off x="2761488" y="2103120"/>
            <a:ext cx="4206240" cy="365760"/>
          </a:xfrm>
          <a:prstGeom prst="roundRect">
            <a:avLst>
              <a:gd name="adj" fmla="val 50000"/>
            </a:avLst>
          </a:prstGeom>
          <a:solidFill>
            <a:srgbClr val="E3F4FA"/>
          </a:solidFill>
          <a:ln w="12700">
            <a:solidFill>
              <a:srgbClr val="2BA6CB"/>
            </a:solidFill>
          </a:ln>
        </p:spPr>
        <p:txBody>
          <a:bodyPr wrap="square" lIns="101600" tIns="101600" rIns="101600" bIns="101600" rtlCol="0" anchor="ctr">
            <a:normAutofit/>
          </a:bodyPr>
          <a:lstStyle/>
          <a:p>
            <a:pPr indent="0" marL="0">
              <a:buNone/>
            </a:pPr>
            <a:r>
              <a:rPr lang="en-US" sz="1300" b="1" dirty="0">
                <a:solidFill>
                  <a:srgbClr val="0B6E8A"/>
                </a:solidFill>
                <a:latin typeface="Consolas" pitchFamily="34" charset="0"/>
                <a:ea typeface="Consolas" pitchFamily="34" charset="-122"/>
                <a:cs typeface="Consolas" pitchFamily="34" charset="-120"/>
              </a:rPr>
              <a:t>feat/crear-solicitud-por-post</a:t>
            </a:r>
            <a:endParaRPr lang="en-US" sz="1300" dirty="0"/>
          </a:p>
        </p:txBody>
      </p:sp>
      <p:sp>
        <p:nvSpPr>
          <p:cNvPr id="19" name="Icono git-branch"/>
          <p:cNvSpPr/>
          <p:nvPr/>
        </p:nvSpPr>
        <p:spPr>
          <a:xfrm>
            <a:off x="2029968" y="2084832"/>
            <a:ext cx="365760" cy="365760"/>
          </a:xfrm>
          <a:custGeom>
            <a:avLst/>
            <a:gdLst/>
            <a:ahLst/>
            <a:cxnLst/>
            <a:rect l="l" t="t" r="r" b="b"/>
            <a:pathLst>
              <a:path w="365760" h="365760">
                <a:moveTo>
                  <a:pt x="91440" y="45720"/>
                </a:moveTo>
                <a:lnTo>
                  <a:pt x="91440" y="228600"/>
                </a:lnTo>
                <a:moveTo>
                  <a:pt x="320040" y="91440"/>
                </a:moveTo>
                <a:cubicBezTo>
                  <a:pt x="320040" y="116690"/>
                  <a:pt x="299570" y="137160"/>
                  <a:pt x="274320" y="137160"/>
                </a:cubicBezTo>
                <a:cubicBezTo>
                  <a:pt x="249070" y="137160"/>
                  <a:pt x="228600" y="116690"/>
                  <a:pt x="228600" y="91440"/>
                </a:cubicBezTo>
                <a:cubicBezTo>
                  <a:pt x="228600" y="66190"/>
                  <a:pt x="249070" y="45720"/>
                  <a:pt x="274320" y="45720"/>
                </a:cubicBezTo>
                <a:cubicBezTo>
                  <a:pt x="299570" y="45720"/>
                  <a:pt x="320040" y="66190"/>
                  <a:pt x="320040" y="91440"/>
                </a:cubicBezTo>
                <a:close/>
                <a:moveTo>
                  <a:pt x="137160" y="274320"/>
                </a:moveTo>
                <a:cubicBezTo>
                  <a:pt x="137160" y="299570"/>
                  <a:pt x="116690" y="320040"/>
                  <a:pt x="91440" y="320040"/>
                </a:cubicBezTo>
                <a:cubicBezTo>
                  <a:pt x="66190" y="320040"/>
                  <a:pt x="45720" y="299570"/>
                  <a:pt x="45720" y="274320"/>
                </a:cubicBezTo>
                <a:cubicBezTo>
                  <a:pt x="45720" y="249070"/>
                  <a:pt x="66190" y="228600"/>
                  <a:pt x="91440" y="228600"/>
                </a:cubicBezTo>
                <a:cubicBezTo>
                  <a:pt x="116690" y="228600"/>
                  <a:pt x="137160" y="249070"/>
                  <a:pt x="137160" y="274320"/>
                </a:cubicBezTo>
                <a:close/>
                <a:moveTo>
                  <a:pt x="274320" y="137160"/>
                </a:moveTo>
                <a:cubicBezTo>
                  <a:pt x="274320" y="212911"/>
                  <a:pt x="212911" y="274320"/>
                  <a:pt x="137160" y="274320"/>
                </a:cubicBezTo>
              </a:path>
            </a:pathLst>
          </a:custGeom>
          <a:noFill/>
          <a:ln w="30480" cap="rnd">
            <a:solidFill>
              <a:srgbClr val="0B6E8A"/>
            </a:solidFill>
            <a:prstDash val="solid"/>
            <a:round/>
          </a:ln>
        </p:spPr>
      </p:sp>
      <p:sp>
        <p:nvSpPr>
          <p:cNvPr id="20" name="Shape 18"/>
          <p:cNvSpPr/>
          <p:nvPr/>
        </p:nvSpPr>
        <p:spPr>
          <a:xfrm>
            <a:off x="3598621"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1" name="Text 19"/>
          <p:cNvSpPr/>
          <p:nvPr/>
        </p:nvSpPr>
        <p:spPr>
          <a:xfrm>
            <a:off x="2761488"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feat: crear solicitud</a:t>
            </a:r>
            <a:endParaRPr lang="en-US" sz="1150" dirty="0"/>
          </a:p>
        </p:txBody>
      </p:sp>
      <p:sp>
        <p:nvSpPr>
          <p:cNvPr id="22" name="Shape 20"/>
          <p:cNvSpPr/>
          <p:nvPr/>
        </p:nvSpPr>
        <p:spPr>
          <a:xfrm>
            <a:off x="5730088"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3" name="Text 21"/>
          <p:cNvSpPr/>
          <p:nvPr/>
        </p:nvSpPr>
        <p:spPr>
          <a:xfrm>
            <a:off x="4892954"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test: 409 si ya existe</a:t>
            </a:r>
            <a:endParaRPr lang="en-US" sz="1150" dirty="0"/>
          </a:p>
        </p:txBody>
      </p:sp>
      <p:sp>
        <p:nvSpPr>
          <p:cNvPr id="24" name="Shape 22"/>
          <p:cNvSpPr/>
          <p:nvPr/>
        </p:nvSpPr>
        <p:spPr>
          <a:xfrm>
            <a:off x="7861554"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5" name="Text 23"/>
          <p:cNvSpPr/>
          <p:nvPr/>
        </p:nvSpPr>
        <p:spPr>
          <a:xfrm>
            <a:off x="7024421"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docs: el nuevo POST</a:t>
            </a:r>
            <a:endParaRPr lang="en-US" sz="1150" dirty="0"/>
          </a:p>
        </p:txBody>
      </p:sp>
      <p:sp>
        <p:nvSpPr>
          <p:cNvPr id="26" name="Shape 24"/>
          <p:cNvSpPr/>
          <p:nvPr/>
        </p:nvSpPr>
        <p:spPr>
          <a:xfrm>
            <a:off x="1280160" y="5193792"/>
            <a:ext cx="310896" cy="310896"/>
          </a:xfrm>
          <a:prstGeom prst="ellipse">
            <a:avLst/>
          </a:prstGeom>
          <a:solidFill>
            <a:srgbClr val="0B2350"/>
          </a:solidFill>
          <a:ln w="25400">
            <a:solidFill>
              <a:srgbClr val="FFFFFF"/>
            </a:solidFill>
            <a:prstDash val="solid"/>
          </a:ln>
        </p:spPr>
      </p:sp>
      <p:sp>
        <p:nvSpPr>
          <p:cNvPr id="27" name="Shape 25"/>
          <p:cNvSpPr/>
          <p:nvPr/>
        </p:nvSpPr>
        <p:spPr>
          <a:xfrm>
            <a:off x="1920240" y="5193792"/>
            <a:ext cx="310896" cy="310896"/>
          </a:xfrm>
          <a:prstGeom prst="ellipse">
            <a:avLst/>
          </a:prstGeom>
          <a:solidFill>
            <a:srgbClr val="0B2350"/>
          </a:solidFill>
          <a:ln w="25400">
            <a:solidFill>
              <a:srgbClr val="FFFFFF"/>
            </a:solidFill>
            <a:prstDash val="solid"/>
          </a:ln>
        </p:spPr>
      </p:sp>
      <p:sp>
        <p:nvSpPr>
          <p:cNvPr id="28" name="Shape 26"/>
          <p:cNvSpPr/>
          <p:nvPr/>
        </p:nvSpPr>
        <p:spPr>
          <a:xfrm>
            <a:off x="9594799" y="5193792"/>
            <a:ext cx="310896" cy="310896"/>
          </a:xfrm>
          <a:prstGeom prst="ellipse">
            <a:avLst/>
          </a:prstGeom>
          <a:solidFill>
            <a:srgbClr val="0B2350"/>
          </a:solidFill>
          <a:ln w="25400">
            <a:solidFill>
              <a:srgbClr val="FFFFFF"/>
            </a:solidFill>
            <a:prstDash val="solid"/>
          </a:ln>
        </p:spPr>
      </p:sp>
      <p:sp>
        <p:nvSpPr>
          <p:cNvPr id="29" name="Shape 27"/>
          <p:cNvSpPr/>
          <p:nvPr/>
        </p:nvSpPr>
        <p:spPr>
          <a:xfrm>
            <a:off x="10600639" y="5193792"/>
            <a:ext cx="310896" cy="310896"/>
          </a:xfrm>
          <a:prstGeom prst="ellipse">
            <a:avLst/>
          </a:prstGeom>
          <a:solidFill>
            <a:srgbClr val="0B2350"/>
          </a:solidFill>
          <a:ln w="25400">
            <a:solidFill>
              <a:srgbClr val="FFFFFF"/>
            </a:solidFill>
            <a:prstDash val="solid"/>
          </a:ln>
        </p:spPr>
      </p:sp>
      <p:sp>
        <p:nvSpPr>
          <p:cNvPr id="30" name="[p1] Forma"/>
          <p:cNvSpPr/>
          <p:nvPr/>
        </p:nvSpPr>
        <p:spPr>
          <a:xfrm>
            <a:off x="6275527" y="4142232"/>
            <a:ext cx="3154680" cy="749808"/>
          </a:xfrm>
          <a:prstGeom prst="roundRect">
            <a:avLst>
              <a:gd name="adj" fmla="val 17073"/>
            </a:avLst>
          </a:prstGeom>
          <a:solidFill>
            <a:srgbClr val="E1F1EA"/>
          </a:solidFill>
          <a:ln w="12700">
            <a:solidFill>
              <a:srgbClr val="85B3A4"/>
            </a:solidFill>
            <a:prstDash val="solid"/>
          </a:ln>
          <a:effectLst>
            <a:outerShdw sx="100000" sy="100000" kx="0" ky="0" algn="bl" rotWithShape="0" blurRad="76200" dist="19050" dir="5400000">
              <a:srgbClr val="0B1F3A">
                <a:alpha val="14000"/>
              </a:srgbClr>
            </a:outerShdw>
          </a:effectLst>
        </p:spPr>
      </p:sp>
      <p:sp>
        <p:nvSpPr>
          <p:cNvPr id="31" name="[p1] Icono git-pull-request"/>
          <p:cNvSpPr/>
          <p:nvPr/>
        </p:nvSpPr>
        <p:spPr>
          <a:xfrm>
            <a:off x="6421831" y="4325112"/>
            <a:ext cx="384048" cy="384048"/>
          </a:xfrm>
          <a:custGeom>
            <a:avLst/>
            <a:gdLst/>
            <a:ahLst/>
            <a:cxnLst/>
            <a:rect l="l" t="t" r="r" b="b"/>
            <a:pathLst>
              <a:path w="384048" h="384048">
                <a:moveTo>
                  <a:pt x="336042" y="288036"/>
                </a:moveTo>
                <a:cubicBezTo>
                  <a:pt x="336042" y="314549"/>
                  <a:pt x="314549" y="336042"/>
                  <a:pt x="288036" y="336042"/>
                </a:cubicBezTo>
                <a:cubicBezTo>
                  <a:pt x="261523" y="336042"/>
                  <a:pt x="240030" y="314549"/>
                  <a:pt x="240030" y="288036"/>
                </a:cubicBezTo>
                <a:cubicBezTo>
                  <a:pt x="240030" y="261523"/>
                  <a:pt x="261523" y="240030"/>
                  <a:pt x="288036" y="240030"/>
                </a:cubicBezTo>
                <a:cubicBezTo>
                  <a:pt x="314549" y="240030"/>
                  <a:pt x="336042" y="261523"/>
                  <a:pt x="336042" y="288036"/>
                </a:cubicBezTo>
                <a:close/>
                <a:moveTo>
                  <a:pt x="144018" y="96012"/>
                </a:moveTo>
                <a:cubicBezTo>
                  <a:pt x="144018" y="122525"/>
                  <a:pt x="122525" y="144018"/>
                  <a:pt x="96012" y="144018"/>
                </a:cubicBezTo>
                <a:cubicBezTo>
                  <a:pt x="69499" y="144018"/>
                  <a:pt x="48006" y="122525"/>
                  <a:pt x="48006" y="96012"/>
                </a:cubicBezTo>
                <a:cubicBezTo>
                  <a:pt x="48006" y="69499"/>
                  <a:pt x="69499" y="48006"/>
                  <a:pt x="96012" y="48006"/>
                </a:cubicBezTo>
                <a:cubicBezTo>
                  <a:pt x="122525" y="48006"/>
                  <a:pt x="144018" y="69499"/>
                  <a:pt x="144018" y="96012"/>
                </a:cubicBezTo>
                <a:close/>
                <a:moveTo>
                  <a:pt x="208026" y="96012"/>
                </a:moveTo>
                <a:lnTo>
                  <a:pt x="256032" y="96012"/>
                </a:lnTo>
                <a:cubicBezTo>
                  <a:pt x="273707" y="96012"/>
                  <a:pt x="288036" y="110341"/>
                  <a:pt x="288036" y="128016"/>
                </a:cubicBezTo>
                <a:lnTo>
                  <a:pt x="288036" y="240030"/>
                </a:lnTo>
                <a:moveTo>
                  <a:pt x="96012" y="144018"/>
                </a:moveTo>
                <a:lnTo>
                  <a:pt x="96012" y="336042"/>
                </a:lnTo>
              </a:path>
            </a:pathLst>
          </a:custGeom>
          <a:noFill/>
          <a:ln w="32004" cap="rnd">
            <a:solidFill>
              <a:srgbClr val="0A6648"/>
            </a:solidFill>
            <a:prstDash val="solid"/>
            <a:round/>
          </a:ln>
        </p:spPr>
      </p:sp>
      <p:sp>
        <p:nvSpPr>
          <p:cNvPr id="32" name="[p1] Forma"/>
          <p:cNvSpPr/>
          <p:nvPr/>
        </p:nvSpPr>
        <p:spPr>
          <a:xfrm>
            <a:off x="6915607" y="4197096"/>
            <a:ext cx="2423160" cy="640080"/>
          </a:xfrm>
          <a:prstGeom prst="rect">
            <a:avLst/>
          </a:prstGeom>
          <a:noFill/>
          <a:ln/>
        </p:spPr>
        <p:txBody>
          <a:bodyPr wrap="square" lIns="0" tIns="0" rIns="0" bIns="0" rtlCol="0" anchor="ctr">
            <a:normAutofit/>
          </a:bodyPr>
          <a:lstStyle/>
          <a:p>
            <a:pPr algn="l" indent="0" marL="0">
              <a:buNone/>
            </a:pPr>
            <a:r>
              <a:rPr lang="en-US" sz="1250" b="1" dirty="0">
                <a:solidFill>
                  <a:srgbClr val="0A6648"/>
                </a:solidFill>
                <a:latin typeface="Segoe UI" pitchFamily="34" charset="0"/>
                <a:ea typeface="Segoe UI" pitchFamily="34" charset="-122"/>
                <a:cs typeface="Segoe UI" pitchFamily="34" charset="-120"/>
              </a:rPr>
              <a:t>Pull Request: revisión, pruebas en verde y documentación</a:t>
            </a:r>
            <a:endParaRPr lang="en-US" sz="125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0"/>
                                        </p:tgtEl>
                                        <p:attrNameLst>
                                          <p:attrName>style.visibility</p:attrName>
                                        </p:attrNameLst>
                                      </p:cBhvr>
                                      <p:to>
                                        <p:strVal val="visible"/>
                                      </p:to>
                                    </p:set>
                                    <p:animEffect transition="in" filter="fade">
                                      <p:cBhvr>
                                        <p:cTn id="8" dur="400"/>
                                        <p:tgtEl>
                                          <p:spTgt spid="3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400"/>
                                        <p:tgtEl>
                                          <p:spTgt spid="3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0"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Fundamentos: lo que nos llevamos a cualquier proyecto</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code"/>
          <p:cNvSpPr/>
          <p:nvPr/>
        </p:nvSpPr>
        <p:spPr>
          <a:xfrm>
            <a:off x="1058144" y="1817096"/>
            <a:ext cx="370881" cy="370881"/>
          </a:xfrm>
          <a:custGeom>
            <a:avLst/>
            <a:gdLst/>
            <a:ahLst/>
            <a:cxnLst/>
            <a:rect l="l" t="t" r="r" b="b"/>
            <a:pathLst>
              <a:path w="370881" h="370881">
                <a:moveTo>
                  <a:pt x="247254" y="278160"/>
                </a:moveTo>
                <a:lnTo>
                  <a:pt x="339974" y="185440"/>
                </a:lnTo>
                <a:lnTo>
                  <a:pt x="247254" y="92720"/>
                </a:lnTo>
                <a:moveTo>
                  <a:pt x="123627" y="92720"/>
                </a:moveTo>
                <a:lnTo>
                  <a:pt x="30907" y="185440"/>
                </a:lnTo>
                <a:lnTo>
                  <a:pt x="123627" y="278160"/>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prácticas que sirven en cualquier lenguaje</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4</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respuestas claras: 201, 400, 404 y 409</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target"/>
          <p:cNvSpPr/>
          <p:nvPr/>
        </p:nvSpPr>
        <p:spPr>
          <a:xfrm>
            <a:off x="4258544" y="1740515"/>
            <a:ext cx="370881" cy="370881"/>
          </a:xfrm>
          <a:custGeom>
            <a:avLst/>
            <a:gdLst/>
            <a:ahLst/>
            <a:cxnLst/>
            <a:rect l="l" t="t" r="r" b="b"/>
            <a:pathLst>
              <a:path w="370881" h="370881">
                <a:moveTo>
                  <a:pt x="339974" y="185440"/>
                </a:moveTo>
                <a:cubicBezTo>
                  <a:pt x="339974" y="270787"/>
                  <a:pt x="270787" y="339974"/>
                  <a:pt x="185440" y="339974"/>
                </a:cubicBezTo>
                <a:cubicBezTo>
                  <a:pt x="100094" y="339974"/>
                  <a:pt x="30907" y="270787"/>
                  <a:pt x="30907" y="185440"/>
                </a:cubicBezTo>
                <a:cubicBezTo>
                  <a:pt x="30907" y="100094"/>
                  <a:pt x="100094" y="30907"/>
                  <a:pt x="185440" y="30907"/>
                </a:cubicBezTo>
                <a:cubicBezTo>
                  <a:pt x="270787" y="30907"/>
                  <a:pt x="339974" y="100094"/>
                  <a:pt x="339974" y="185440"/>
                </a:cubicBezTo>
                <a:close/>
                <a:moveTo>
                  <a:pt x="278160" y="185440"/>
                </a:moveTo>
                <a:cubicBezTo>
                  <a:pt x="278160" y="236648"/>
                  <a:pt x="236648" y="278160"/>
                  <a:pt x="185440" y="278160"/>
                </a:cubicBezTo>
                <a:cubicBezTo>
                  <a:pt x="134232" y="278160"/>
                  <a:pt x="92720" y="236648"/>
                  <a:pt x="92720" y="185440"/>
                </a:cubicBezTo>
                <a:cubicBezTo>
                  <a:pt x="92720" y="134232"/>
                  <a:pt x="134232" y="92720"/>
                  <a:pt x="185440" y="92720"/>
                </a:cubicBezTo>
                <a:cubicBezTo>
                  <a:pt x="236648" y="92720"/>
                  <a:pt x="278160" y="134232"/>
                  <a:pt x="278160" y="185440"/>
                </a:cubicBezTo>
                <a:close/>
                <a:moveTo>
                  <a:pt x="216347" y="185440"/>
                </a:moveTo>
                <a:cubicBezTo>
                  <a:pt x="216347" y="202510"/>
                  <a:pt x="202510" y="216347"/>
                  <a:pt x="185440" y="216347"/>
                </a:cubicBezTo>
                <a:cubicBezTo>
                  <a:pt x="168371" y="216347"/>
                  <a:pt x="154534" y="202510"/>
                  <a:pt x="154534" y="185440"/>
                </a:cubicBezTo>
                <a:cubicBezTo>
                  <a:pt x="154534" y="168371"/>
                  <a:pt x="168371" y="154534"/>
                  <a:pt x="185440" y="154534"/>
                </a:cubicBezTo>
                <a:cubicBezTo>
                  <a:pt x="202510" y="154534"/>
                  <a:pt x="216347" y="168371"/>
                  <a:pt x="216347" y="185440"/>
                </a:cubicBezTo>
                <a:close/>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Primero el qué, después el cómo</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Qué tiene que pasar, quién lo hace y qué no se permite.</a:t>
            </a:r>
            <a:endParaRPr lang="en-US" sz="115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Reglas claras antes de elegir la tecnología.</a:t>
            </a:r>
            <a:endParaRPr lang="en-US" sz="135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layers"/>
          <p:cNvSpPr/>
          <p:nvPr/>
        </p:nvSpPr>
        <p:spPr>
          <a:xfrm>
            <a:off x="4258544" y="3032105"/>
            <a:ext cx="370881" cy="370881"/>
          </a:xfrm>
          <a:custGeom>
            <a:avLst/>
            <a:gdLst/>
            <a:ahLst/>
            <a:cxnLst/>
            <a:rect l="l" t="t" r="r" b="b"/>
            <a:pathLst>
              <a:path w="370881" h="370881">
                <a:moveTo>
                  <a:pt x="198267" y="33688"/>
                </a:moveTo>
                <a:cubicBezTo>
                  <a:pt x="190120" y="29972"/>
                  <a:pt x="180761" y="29972"/>
                  <a:pt x="172614" y="33688"/>
                </a:cubicBezTo>
                <a:lnTo>
                  <a:pt x="40179" y="93956"/>
                </a:lnTo>
                <a:cubicBezTo>
                  <a:pt x="34576" y="96427"/>
                  <a:pt x="30960" y="101973"/>
                  <a:pt x="30960" y="108096"/>
                </a:cubicBezTo>
                <a:cubicBezTo>
                  <a:pt x="30960" y="114220"/>
                  <a:pt x="34576" y="119766"/>
                  <a:pt x="40179" y="122236"/>
                </a:cubicBezTo>
                <a:lnTo>
                  <a:pt x="172769" y="182659"/>
                </a:lnTo>
                <a:cubicBezTo>
                  <a:pt x="180916" y="186375"/>
                  <a:pt x="190274" y="186375"/>
                  <a:pt x="198421" y="182659"/>
                </a:cubicBezTo>
                <a:lnTo>
                  <a:pt x="331011" y="122391"/>
                </a:lnTo>
                <a:cubicBezTo>
                  <a:pt x="336614" y="119920"/>
                  <a:pt x="340230" y="114374"/>
                  <a:pt x="340230" y="108251"/>
                </a:cubicBezTo>
                <a:cubicBezTo>
                  <a:pt x="340230" y="102127"/>
                  <a:pt x="336614" y="96581"/>
                  <a:pt x="331011" y="94111"/>
                </a:cubicBezTo>
                <a:close/>
                <a:moveTo>
                  <a:pt x="30907" y="185440"/>
                </a:moveTo>
                <a:cubicBezTo>
                  <a:pt x="30892" y="191476"/>
                  <a:pt x="34392" y="196968"/>
                  <a:pt x="39870" y="199503"/>
                </a:cubicBezTo>
                <a:lnTo>
                  <a:pt x="172769" y="259926"/>
                </a:lnTo>
                <a:cubicBezTo>
                  <a:pt x="180872" y="263595"/>
                  <a:pt x="190163" y="263595"/>
                  <a:pt x="198267" y="259926"/>
                </a:cubicBezTo>
                <a:lnTo>
                  <a:pt x="330856" y="199657"/>
                </a:lnTo>
                <a:cubicBezTo>
                  <a:pt x="336446" y="197145"/>
                  <a:pt x="340022" y="191568"/>
                  <a:pt x="339974" y="185440"/>
                </a:cubicBezTo>
                <a:moveTo>
                  <a:pt x="30907" y="262707"/>
                </a:moveTo>
                <a:cubicBezTo>
                  <a:pt x="30892" y="268743"/>
                  <a:pt x="34392" y="274235"/>
                  <a:pt x="39870" y="276770"/>
                </a:cubicBezTo>
                <a:lnTo>
                  <a:pt x="172769" y="337192"/>
                </a:lnTo>
                <a:cubicBezTo>
                  <a:pt x="180872" y="340862"/>
                  <a:pt x="190163" y="340862"/>
                  <a:pt x="198267" y="337192"/>
                </a:cubicBezTo>
                <a:lnTo>
                  <a:pt x="330856" y="276924"/>
                </a:lnTo>
                <a:cubicBezTo>
                  <a:pt x="336446" y="274412"/>
                  <a:pt x="340022" y="268835"/>
                  <a:pt x="339974" y="262707"/>
                </a:cubicBezTo>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Separar responsabilidades paga pronto</a:t>
            </a:r>
            <a:endParaRPr lang="en-US" sz="150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Pantalla, reglas y datos en piezas distintas.</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cambio de regla toca un solo lugar.</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shield-check"/>
          <p:cNvSpPr/>
          <p:nvPr/>
        </p:nvSpPr>
        <p:spPr>
          <a:xfrm>
            <a:off x="4258544" y="4323695"/>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39080" y="185440"/>
                </a:moveTo>
                <a:lnTo>
                  <a:pt x="169987" y="216347"/>
                </a:lnTo>
                <a:lnTo>
                  <a:pt x="231800" y="154534"/>
                </a:lnTo>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Las reglas no dependen de la herramienta</a:t>
            </a:r>
            <a:endParaRPr lang="en-US" sz="15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El negocio no sabe si detrás hay una base, una web o un framework.</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Se prueba rápido y sobrevive a un cambio de tecnología.</a:t>
            </a:r>
            <a:endParaRPr lang="en-US" sz="130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git-pull-request"/>
          <p:cNvSpPr/>
          <p:nvPr/>
        </p:nvSpPr>
        <p:spPr>
          <a:xfrm>
            <a:off x="4258544" y="5615285"/>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Todo cambio entra revisado</a:t>
            </a:r>
            <a:endParaRPr lang="en-US" sz="170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Ramas cortas, revisión, pruebas y documentación juntas.</a:t>
            </a:r>
            <a:endParaRPr lang="en-US" sz="11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sorpresas en producción.</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3" name="Shape 11"/>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4" name="Text 12"/>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5" name="Shape 13"/>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2542032" y="1939671"/>
            <a:ext cx="566928" cy="566928"/>
          </a:xfrm>
          <a:prstGeom prst="ellipse">
            <a:avLst/>
          </a:prstGeom>
          <a:solidFill>
            <a:srgbClr val="F1EEFD"/>
          </a:solidFill>
          <a:ln w="12700">
            <a:solidFill>
              <a:srgbClr val="F1EEFD"/>
            </a:solidFill>
            <a:prstDash val="solid"/>
          </a:ln>
        </p:spPr>
      </p:sp>
      <p:sp>
        <p:nvSpPr>
          <p:cNvPr id="17"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8" name="Text 16"/>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19" name="Text 17"/>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0" name="Shape 18"/>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7147408" y="1939671"/>
            <a:ext cx="566928" cy="566928"/>
          </a:xfrm>
          <a:prstGeom prst="ellipse">
            <a:avLst/>
          </a:prstGeom>
          <a:solidFill>
            <a:srgbClr val="F1EEFD"/>
          </a:solidFill>
          <a:ln w="12700">
            <a:solidFill>
              <a:srgbClr val="F1EEFD"/>
            </a:solidFill>
            <a:prstDash val="solid"/>
          </a:ln>
        </p:spPr>
      </p:sp>
      <p:sp>
        <p:nvSpPr>
          <p:cNvPr id="22"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3" name="Text 21"/>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4" name="Text 22"/>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pantalla · reenvía /api</a:t>
            </a:r>
            <a:endParaRPr lang="en-US" sz="1200" dirty="0"/>
          </a:p>
        </p:txBody>
      </p:sp>
      <p:sp>
        <p:nvSpPr>
          <p:cNvPr id="25" name="[p1] Forma"/>
          <p:cNvSpPr/>
          <p:nvPr/>
        </p:nvSpPr>
        <p:spPr>
          <a:xfrm>
            <a:off x="1412748" y="2708910"/>
            <a:ext cx="0" cy="237744"/>
          </a:xfrm>
          <a:prstGeom prst="line">
            <a:avLst/>
          </a:prstGeom>
          <a:noFill/>
          <a:ln w="31750">
            <a:solidFill>
              <a:srgbClr val="0B2350"/>
            </a:solidFill>
            <a:prstDash val="solid"/>
            <a:tailEnd type="triangle"/>
          </a:ln>
        </p:spPr>
      </p:sp>
      <p:sp>
        <p:nvSpPr>
          <p:cNvPr id="26" name="[p1] Forma"/>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7" name="[p1] Forma"/>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8" name="[p1] Forma"/>
          <p:cNvSpPr/>
          <p:nvPr/>
        </p:nvSpPr>
        <p:spPr>
          <a:xfrm>
            <a:off x="2395728" y="3019806"/>
            <a:ext cx="4440784"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9" name="[p1] Forma"/>
          <p:cNvSpPr/>
          <p:nvPr/>
        </p:nvSpPr>
        <p:spPr>
          <a:xfrm>
            <a:off x="2542032" y="3148965"/>
            <a:ext cx="566928" cy="566928"/>
          </a:xfrm>
          <a:prstGeom prst="ellipse">
            <a:avLst/>
          </a:prstGeom>
          <a:solidFill>
            <a:srgbClr val="E8EEF8"/>
          </a:solidFill>
          <a:ln w="12700">
            <a:solidFill>
              <a:srgbClr val="E8EEF8"/>
            </a:solidFill>
            <a:prstDash val="solid"/>
          </a:ln>
        </p:spPr>
      </p:sp>
      <p:sp>
        <p:nvSpPr>
          <p:cNvPr id="30" name="[p1] 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1" name="[p1] Forma"/>
          <p:cNvSpPr/>
          <p:nvPr/>
        </p:nvSpPr>
        <p:spPr>
          <a:xfrm>
            <a:off x="3255264" y="3056382"/>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servicio-solicitudes</a:t>
            </a:r>
            <a:endParaRPr lang="en-US" sz="1500" dirty="0"/>
          </a:p>
        </p:txBody>
      </p:sp>
      <p:sp>
        <p:nvSpPr>
          <p:cNvPr id="32" name="[p1] Forma"/>
          <p:cNvSpPr/>
          <p:nvPr/>
        </p:nvSpPr>
        <p:spPr>
          <a:xfrm>
            <a:off x="3255264" y="3469005"/>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3" name="[p1] Forma"/>
          <p:cNvSpPr/>
          <p:nvPr/>
        </p:nvSpPr>
        <p:spPr>
          <a:xfrm>
            <a:off x="7001104" y="3019806"/>
            <a:ext cx="4440784"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4" name="[p1] Forma"/>
          <p:cNvSpPr/>
          <p:nvPr/>
        </p:nvSpPr>
        <p:spPr>
          <a:xfrm>
            <a:off x="7147408" y="3148965"/>
            <a:ext cx="566928" cy="566928"/>
          </a:xfrm>
          <a:prstGeom prst="ellipse">
            <a:avLst/>
          </a:prstGeom>
          <a:solidFill>
            <a:srgbClr val="E3F4FA"/>
          </a:solidFill>
          <a:ln w="12700">
            <a:solidFill>
              <a:srgbClr val="E3F4FA"/>
            </a:solidFill>
            <a:prstDash val="solid"/>
          </a:ln>
        </p:spPr>
      </p:sp>
      <p:sp>
        <p:nvSpPr>
          <p:cNvPr id="35" name="[p1] Icono bell"/>
          <p:cNvSpPr/>
          <p:nvPr/>
        </p:nvSpPr>
        <p:spPr>
          <a:xfrm>
            <a:off x="7283470"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36" name="[p1] Forma"/>
          <p:cNvSpPr/>
          <p:nvPr/>
        </p:nvSpPr>
        <p:spPr>
          <a:xfrm>
            <a:off x="7860640" y="3056382"/>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servicio-notificaciones</a:t>
            </a:r>
            <a:endParaRPr lang="en-US" sz="1500" dirty="0"/>
          </a:p>
        </p:txBody>
      </p:sp>
      <p:sp>
        <p:nvSpPr>
          <p:cNvPr id="37" name="[p1] Forma"/>
          <p:cNvSpPr/>
          <p:nvPr/>
        </p:nvSpPr>
        <p:spPr>
          <a:xfrm>
            <a:off x="7860640" y="3469005"/>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Los avisos, sin duplicados</a:t>
            </a:r>
            <a:endParaRPr lang="en-US" sz="1200" dirty="0"/>
          </a:p>
        </p:txBody>
      </p:sp>
      <p:sp>
        <p:nvSpPr>
          <p:cNvPr id="38" name="[p2] Forma"/>
          <p:cNvSpPr/>
          <p:nvPr/>
        </p:nvSpPr>
        <p:spPr>
          <a:xfrm>
            <a:off x="1412748" y="3918204"/>
            <a:ext cx="0" cy="237744"/>
          </a:xfrm>
          <a:prstGeom prst="line">
            <a:avLst/>
          </a:prstGeom>
          <a:noFill/>
          <a:ln w="31750">
            <a:solidFill>
              <a:srgbClr val="0B2350"/>
            </a:solidFill>
            <a:prstDash val="solid"/>
            <a:tailEnd type="triangle"/>
          </a:ln>
        </p:spPr>
      </p:sp>
      <p:sp>
        <p:nvSpPr>
          <p:cNvPr id="39" name="[p2] Forma"/>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0" name="[p2] Forma"/>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1" name="[p2] Forma"/>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2" name="[p2] Forma"/>
          <p:cNvSpPr/>
          <p:nvPr/>
        </p:nvSpPr>
        <p:spPr>
          <a:xfrm>
            <a:off x="2542032" y="4358259"/>
            <a:ext cx="566928" cy="566928"/>
          </a:xfrm>
          <a:prstGeom prst="ellipse">
            <a:avLst/>
          </a:prstGeom>
          <a:solidFill>
            <a:srgbClr val="F4F7FB"/>
          </a:solidFill>
          <a:ln w="12700">
            <a:solidFill>
              <a:srgbClr val="F4F7FB"/>
            </a:solidFill>
            <a:prstDash val="solid"/>
          </a:ln>
        </p:spPr>
      </p:sp>
      <p:sp>
        <p:nvSpPr>
          <p:cNvPr id="43" name="[p2] 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4" name="[p2] Forma"/>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45" name="[p2] Forma"/>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46" name="[p2] Forma"/>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7" name="[p2] Forma"/>
          <p:cNvSpPr/>
          <p:nvPr/>
        </p:nvSpPr>
        <p:spPr>
          <a:xfrm>
            <a:off x="7147408" y="4358259"/>
            <a:ext cx="566928" cy="566928"/>
          </a:xfrm>
          <a:prstGeom prst="ellipse">
            <a:avLst/>
          </a:prstGeom>
          <a:solidFill>
            <a:srgbClr val="F4F7FB"/>
          </a:solidFill>
          <a:ln w="12700">
            <a:solidFill>
              <a:srgbClr val="F4F7FB"/>
            </a:solidFill>
            <a:prstDash val="solid"/>
          </a:ln>
        </p:spPr>
      </p:sp>
      <p:sp>
        <p:nvSpPr>
          <p:cNvPr id="48" name="[p2] 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9" name="[p2] Forma"/>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0" name="[p2] Forma"/>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1" name="[p3] Forma"/>
          <p:cNvSpPr/>
          <p:nvPr/>
        </p:nvSpPr>
        <p:spPr>
          <a:xfrm>
            <a:off x="1412748" y="5127498"/>
            <a:ext cx="0" cy="237744"/>
          </a:xfrm>
          <a:prstGeom prst="line">
            <a:avLst/>
          </a:prstGeom>
          <a:noFill/>
          <a:ln w="31750">
            <a:solidFill>
              <a:srgbClr val="0B2350"/>
            </a:solidFill>
            <a:prstDash val="solid"/>
            <a:tailEnd type="triangle"/>
          </a:ln>
        </p:spPr>
      </p:sp>
      <p:sp>
        <p:nvSpPr>
          <p:cNvPr id="52" name="[p3] Forma"/>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3" name="[p3] Forma"/>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54" name="[p3] Forma"/>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55" name="[p3] Forma"/>
          <p:cNvSpPr/>
          <p:nvPr/>
        </p:nvSpPr>
        <p:spPr>
          <a:xfrm>
            <a:off x="2542032" y="5567553"/>
            <a:ext cx="566928" cy="566928"/>
          </a:xfrm>
          <a:prstGeom prst="ellipse">
            <a:avLst/>
          </a:prstGeom>
          <a:solidFill>
            <a:srgbClr val="E1F1EA"/>
          </a:solidFill>
          <a:ln w="12700">
            <a:solidFill>
              <a:srgbClr val="E1F1EA"/>
            </a:solidFill>
            <a:prstDash val="solid"/>
          </a:ln>
        </p:spPr>
      </p:sp>
      <p:sp>
        <p:nvSpPr>
          <p:cNvPr id="56" name="[p3] 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57" name="[p3] Forma"/>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58" name="[p3] Forma"/>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59" name="[p3] Forma"/>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0" name="[p3] Forma"/>
          <p:cNvSpPr/>
          <p:nvPr/>
        </p:nvSpPr>
        <p:spPr>
          <a:xfrm>
            <a:off x="5612282" y="5567553"/>
            <a:ext cx="566928" cy="566928"/>
          </a:xfrm>
          <a:prstGeom prst="ellipse">
            <a:avLst/>
          </a:prstGeom>
          <a:solidFill>
            <a:srgbClr val="E1F1EA"/>
          </a:solidFill>
          <a:ln w="12700">
            <a:solidFill>
              <a:srgbClr val="E1F1EA"/>
            </a:solidFill>
            <a:prstDash val="solid"/>
          </a:ln>
        </p:spPr>
      </p:sp>
      <p:sp>
        <p:nvSpPr>
          <p:cNvPr id="61" name="[p3] 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2" name="[p3] Forma"/>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3" name="[p3] Forma"/>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64" name="[p3] Forma"/>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65" name="[p3] Forma"/>
          <p:cNvSpPr/>
          <p:nvPr/>
        </p:nvSpPr>
        <p:spPr>
          <a:xfrm>
            <a:off x="8682533" y="5567553"/>
            <a:ext cx="566928" cy="566928"/>
          </a:xfrm>
          <a:prstGeom prst="ellipse">
            <a:avLst/>
          </a:prstGeom>
          <a:solidFill>
            <a:srgbClr val="FCEFD6"/>
          </a:solidFill>
          <a:ln w="12700">
            <a:solidFill>
              <a:srgbClr val="FCEFD6"/>
            </a:solidFill>
            <a:prstDash val="solid"/>
          </a:ln>
        </p:spPr>
      </p:sp>
      <p:sp>
        <p:nvSpPr>
          <p:cNvPr id="66" name="[p3] 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67" name="[p3] Forma"/>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68" name="[p3] Forma"/>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69" name="Text 6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00"/>
                                        <p:tgtEl>
                                          <p:spTgt spid="37"/>
                                        </p:tgtEl>
                                      </p:cBhvr>
                                    </p:animEffect>
                                  </p:childTnLst>
                                </p:cTn>
                              </p:par>
                            </p:childTnLst>
                          </p:cTn>
                        </p:par>
                      </p:childTnLst>
                    </p:cTn>
                  </p:par>
                  <p:par>
                    <p:cTn id="83" fill="hold">
                      <p:stCondLst>
                        <p:cond delay="indefinite"/>
                      </p:stCondLst>
                      <p:childTnLst>
                        <p:par>
                          <p:cTn id="84"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4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4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400"/>
                                        <p:tgtEl>
                                          <p:spTgt spid="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4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4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4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4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4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400"/>
                                        <p:tgtEl>
                                          <p:spTgt spid="50"/>
                                        </p:tgtEl>
                                      </p:cBhvr>
                                    </p:animEffect>
                                  </p:childTnLst>
                                </p:cTn>
                              </p:par>
                            </p:childTnLst>
                          </p:cTn>
                        </p:par>
                      </p:childTnLst>
                    </p:cTn>
                  </p:par>
                  <p:par>
                    <p:cTn id="139" fill="hold">
                      <p:stCondLst>
                        <p:cond delay="indefinite"/>
                      </p:stCondLst>
                      <p:childTnLst>
                        <p:par>
                          <p:cTn id="140"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400"/>
                                        <p:tgtEl>
                                          <p:spTgt spid="5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4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4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4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4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4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4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400"/>
                                        <p:tgtEl>
                                          <p:spTgt spid="5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9"/>
                                        </p:tgtEl>
                                        <p:attrNameLst>
                                          <p:attrName>style.visibility</p:attrName>
                                        </p:attrNameLst>
                                      </p:cBhvr>
                                      <p:to>
                                        <p:strVal val="visible"/>
                                      </p:to>
                                    </p:set>
                                    <p:animEffect transition="in" filter="fade">
                                      <p:cBhvr>
                                        <p:cTn id="111" dur="400"/>
                                        <p:tgtEl>
                                          <p:spTgt spid="5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0"/>
                                        </p:tgtEl>
                                        <p:attrNameLst>
                                          <p:attrName>style.visibility</p:attrName>
                                        </p:attrNameLst>
                                      </p:cBhvr>
                                      <p:to>
                                        <p:strVal val="visible"/>
                                      </p:to>
                                    </p:set>
                                    <p:animEffect transition="in" filter="fade">
                                      <p:cBhvr>
                                        <p:cTn id="114" dur="400"/>
                                        <p:tgtEl>
                                          <p:spTgt spid="6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1"/>
                                        </p:tgtEl>
                                        <p:attrNameLst>
                                          <p:attrName>style.visibility</p:attrName>
                                        </p:attrNameLst>
                                      </p:cBhvr>
                                      <p:to>
                                        <p:strVal val="visible"/>
                                      </p:to>
                                    </p:set>
                                    <p:animEffect transition="in" filter="fade">
                                      <p:cBhvr>
                                        <p:cTn id="117" dur="400"/>
                                        <p:tgtEl>
                                          <p:spTgt spid="6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2"/>
                                        </p:tgtEl>
                                        <p:attrNameLst>
                                          <p:attrName>style.visibility</p:attrName>
                                        </p:attrNameLst>
                                      </p:cBhvr>
                                      <p:to>
                                        <p:strVal val="visible"/>
                                      </p:to>
                                    </p:set>
                                    <p:animEffect transition="in" filter="fade">
                                      <p:cBhvr>
                                        <p:cTn id="120" dur="400"/>
                                        <p:tgtEl>
                                          <p:spTgt spid="6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fade">
                                      <p:cBhvr>
                                        <p:cTn id="123" dur="400"/>
                                        <p:tgtEl>
                                          <p:spTgt spid="63"/>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4"/>
                                        </p:tgtEl>
                                        <p:attrNameLst>
                                          <p:attrName>style.visibility</p:attrName>
                                        </p:attrNameLst>
                                      </p:cBhvr>
                                      <p:to>
                                        <p:strVal val="visible"/>
                                      </p:to>
                                    </p:set>
                                    <p:animEffect transition="in" filter="fade">
                                      <p:cBhvr>
                                        <p:cTn id="126" dur="400"/>
                                        <p:tgtEl>
                                          <p:spTgt spid="6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5"/>
                                        </p:tgtEl>
                                        <p:attrNameLst>
                                          <p:attrName>style.visibility</p:attrName>
                                        </p:attrNameLst>
                                      </p:cBhvr>
                                      <p:to>
                                        <p:strVal val="visible"/>
                                      </p:to>
                                    </p:set>
                                    <p:animEffect transition="in" filter="fade">
                                      <p:cBhvr>
                                        <p:cTn id="129" dur="400"/>
                                        <p:tgtEl>
                                          <p:spTgt spid="65"/>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4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7"/>
                                        </p:tgtEl>
                                        <p:attrNameLst>
                                          <p:attrName>style.visibility</p:attrName>
                                        </p:attrNameLst>
                                      </p:cBhvr>
                                      <p:to>
                                        <p:strVal val="visible"/>
                                      </p:to>
                                    </p:set>
                                    <p:animEffect transition="in" filter="fade">
                                      <p:cBhvr>
                                        <p:cTn id="135" dur="400"/>
                                        <p:tgtEl>
                                          <p:spTgt spid="6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8"/>
                                        </p:tgtEl>
                                        <p:attrNameLst>
                                          <p:attrName>style.visibility</p:attrName>
                                        </p:attrNameLst>
                                      </p:cBhvr>
                                      <p:to>
                                        <p:strVal val="visible"/>
                                      </p:to>
                                    </p:set>
                                    <p:animEffect transition="in" filter="fade">
                                      <p:cBhvr>
                                        <p:cTn id="138"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en la práctica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Seis conexiones, y ninguna une las dos bases.</a:t>
            </a:r>
            <a:endParaRPr lang="en-US" sz="1700" dirty="0"/>
          </a:p>
        </p:txBody>
      </p:sp>
      <p:sp>
        <p:nvSpPr>
          <p:cNvPr id="13" name="Shape 11"/>
          <p:cNvSpPr/>
          <p:nvPr/>
        </p:nvSpPr>
        <p:spPr>
          <a:xfrm>
            <a:off x="745236" y="3305556"/>
            <a:ext cx="868680" cy="868680"/>
          </a:xfrm>
          <a:prstGeom prst="ellipse">
            <a:avLst/>
          </a:prstGeom>
          <a:solidFill>
            <a:srgbClr val="F1EEFD"/>
          </a:solidFill>
          <a:ln w="25400">
            <a:solidFill>
              <a:srgbClr val="5B3FC4"/>
            </a:solidFill>
            <a:prstDash val="solid"/>
          </a:ln>
          <a:effectLst>
            <a:outerShdw sx="100000" sy="100000" kx="0" ky="0" algn="bl" rotWithShape="0" blurRad="76200" dist="19050" dir="5400000">
              <a:srgbClr val="0B1F3A">
                <a:alpha val="14000"/>
              </a:srgbClr>
            </a:outerShdw>
          </a:effectLst>
        </p:spPr>
      </p:sp>
      <p:sp>
        <p:nvSpPr>
          <p:cNvPr id="14" name="Icono user"/>
          <p:cNvSpPr/>
          <p:nvPr/>
        </p:nvSpPr>
        <p:spPr>
          <a:xfrm>
            <a:off x="941832" y="3502152"/>
            <a:ext cx="475488" cy="475488"/>
          </a:xfrm>
          <a:custGeom>
            <a:avLst/>
            <a:gdLst/>
            <a:ahLst/>
            <a:cxnLst/>
            <a:rect l="l" t="t" r="r" b="b"/>
            <a:pathLst>
              <a:path w="475488" h="475488">
                <a:moveTo>
                  <a:pt x="376428" y="416052"/>
                </a:moveTo>
                <a:lnTo>
                  <a:pt x="376428" y="376428"/>
                </a:lnTo>
                <a:cubicBezTo>
                  <a:pt x="376428" y="332661"/>
                  <a:pt x="340947" y="297180"/>
                  <a:pt x="297180" y="297180"/>
                </a:cubicBezTo>
                <a:lnTo>
                  <a:pt x="178308" y="297180"/>
                </a:lnTo>
                <a:cubicBezTo>
                  <a:pt x="134541" y="297180"/>
                  <a:pt x="99060" y="332661"/>
                  <a:pt x="99060" y="376428"/>
                </a:cubicBezTo>
                <a:lnTo>
                  <a:pt x="99060" y="416052"/>
                </a:lnTo>
                <a:moveTo>
                  <a:pt x="316992" y="138684"/>
                </a:moveTo>
                <a:cubicBezTo>
                  <a:pt x="316992" y="182451"/>
                  <a:pt x="281511" y="217932"/>
                  <a:pt x="237744" y="217932"/>
                </a:cubicBezTo>
                <a:cubicBezTo>
                  <a:pt x="193977" y="217932"/>
                  <a:pt x="158496" y="182451"/>
                  <a:pt x="158496" y="138684"/>
                </a:cubicBezTo>
                <a:cubicBezTo>
                  <a:pt x="158496" y="94917"/>
                  <a:pt x="193977" y="59436"/>
                  <a:pt x="237744" y="59436"/>
                </a:cubicBezTo>
                <a:cubicBezTo>
                  <a:pt x="281511" y="59436"/>
                  <a:pt x="316992" y="94917"/>
                  <a:pt x="316992" y="138684"/>
                </a:cubicBezTo>
                <a:close/>
              </a:path>
            </a:pathLst>
          </a:custGeom>
          <a:noFill/>
          <a:ln w="34671" cap="rnd">
            <a:solidFill>
              <a:srgbClr val="5B3FC4"/>
            </a:solidFill>
            <a:prstDash val="solid"/>
            <a:round/>
          </a:ln>
        </p:spPr>
      </p:sp>
      <p:sp>
        <p:nvSpPr>
          <p:cNvPr id="15" name="Text 13"/>
          <p:cNvSpPr/>
          <p:nvPr/>
        </p:nvSpPr>
        <p:spPr>
          <a:xfrm>
            <a:off x="612648" y="4229100"/>
            <a:ext cx="1133856" cy="274320"/>
          </a:xfrm>
          <a:prstGeom prst="rect">
            <a:avLst/>
          </a:prstGeom>
          <a:noFill/>
          <a:ln/>
        </p:spPr>
        <p:txBody>
          <a:bodyPr wrap="square" lIns="0" tIns="0" rIns="0" bIns="0" rtlCol="0" anchor="t">
            <a:normAutofit/>
          </a:bodyPr>
          <a:lstStyle/>
          <a:p>
            <a:pPr algn="ctr" indent="0" marL="0">
              <a:buNone/>
            </a:pPr>
            <a:r>
              <a:rPr lang="en-US" sz="1300" b="1" dirty="0">
                <a:solidFill>
                  <a:srgbClr val="0B1A3C"/>
                </a:solidFill>
                <a:latin typeface="Segoe UI Semibold" pitchFamily="34" charset="0"/>
                <a:ea typeface="Segoe UI Semibold" pitchFamily="34" charset="-122"/>
                <a:cs typeface="Segoe UI Semibold" pitchFamily="34" charset="-120"/>
              </a:rPr>
              <a:t>Persona</a:t>
            </a:r>
            <a:endParaRPr lang="en-US" sz="1300" dirty="0"/>
          </a:p>
        </p:txBody>
      </p:sp>
      <p:sp>
        <p:nvSpPr>
          <p:cNvPr id="16" name="Text 14"/>
          <p:cNvSpPr/>
          <p:nvPr/>
        </p:nvSpPr>
        <p:spPr>
          <a:xfrm>
            <a:off x="539496" y="4485132"/>
            <a:ext cx="1280160" cy="256032"/>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 el navegador</a:t>
            </a:r>
            <a:endParaRPr lang="en-US" sz="1050" dirty="0"/>
          </a:p>
        </p:txBody>
      </p:sp>
      <p:sp>
        <p:nvSpPr>
          <p:cNvPr id="17" name="Shape 15"/>
          <p:cNvSpPr/>
          <p:nvPr/>
        </p:nvSpPr>
        <p:spPr>
          <a:xfrm>
            <a:off x="2212848" y="3191256"/>
            <a:ext cx="2148840" cy="1097280"/>
          </a:xfrm>
          <a:prstGeom prst="roundRect">
            <a:avLst>
              <a:gd name="adj" fmla="val 11667"/>
            </a:avLst>
          </a:prstGeom>
          <a:solidFill>
            <a:srgbClr val="FFFFFF"/>
          </a:solidFill>
          <a:ln w="12700">
            <a:solidFill>
              <a:srgbClr val="AD9FE2"/>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2212848" y="3300984"/>
            <a:ext cx="73152" cy="877824"/>
          </a:xfrm>
          <a:prstGeom prst="rect">
            <a:avLst/>
          </a:prstGeom>
          <a:solidFill>
            <a:srgbClr val="5B3FC4"/>
          </a:solidFill>
          <a:ln w="12700">
            <a:solidFill>
              <a:srgbClr val="5B3FC4"/>
            </a:solidFill>
            <a:prstDash val="solid"/>
          </a:ln>
        </p:spPr>
      </p:sp>
      <p:sp>
        <p:nvSpPr>
          <p:cNvPr id="19" name="Shape 17"/>
          <p:cNvSpPr/>
          <p:nvPr/>
        </p:nvSpPr>
        <p:spPr>
          <a:xfrm>
            <a:off x="2414016" y="3419856"/>
            <a:ext cx="640080" cy="640080"/>
          </a:xfrm>
          <a:prstGeom prst="ellipse">
            <a:avLst/>
          </a:prstGeom>
          <a:solidFill>
            <a:srgbClr val="F1EEFD"/>
          </a:solidFill>
          <a:ln w="12700">
            <a:solidFill>
              <a:srgbClr val="F1EEFD"/>
            </a:solidFill>
            <a:prstDash val="solid"/>
          </a:ln>
        </p:spPr>
      </p:sp>
      <p:sp>
        <p:nvSpPr>
          <p:cNvPr id="20" name="Icono monitor"/>
          <p:cNvSpPr/>
          <p:nvPr/>
        </p:nvSpPr>
        <p:spPr>
          <a:xfrm>
            <a:off x="2567635" y="3573475"/>
            <a:ext cx="332842" cy="332842"/>
          </a:xfrm>
          <a:custGeom>
            <a:avLst/>
            <a:gdLst/>
            <a:ahLst/>
            <a:cxnLst/>
            <a:rect l="l" t="t" r="r" b="b"/>
            <a:pathLst>
              <a:path w="332842" h="332842">
                <a:moveTo>
                  <a:pt x="55474" y="41605"/>
                </a:moveTo>
                <a:lnTo>
                  <a:pt x="277368" y="41605"/>
                </a:lnTo>
                <a:cubicBezTo>
                  <a:pt x="292687" y="41605"/>
                  <a:pt x="305105" y="54023"/>
                  <a:pt x="305105" y="69342"/>
                </a:cubicBezTo>
                <a:lnTo>
                  <a:pt x="305105" y="208026"/>
                </a:lnTo>
                <a:cubicBezTo>
                  <a:pt x="305105" y="223345"/>
                  <a:pt x="292687" y="235763"/>
                  <a:pt x="277368" y="235763"/>
                </a:cubicBezTo>
                <a:lnTo>
                  <a:pt x="55474" y="235763"/>
                </a:lnTo>
                <a:cubicBezTo>
                  <a:pt x="40155" y="235763"/>
                  <a:pt x="27737" y="223345"/>
                  <a:pt x="27737" y="208026"/>
                </a:cubicBezTo>
                <a:lnTo>
                  <a:pt x="27737" y="69342"/>
                </a:lnTo>
                <a:cubicBezTo>
                  <a:pt x="27737" y="54023"/>
                  <a:pt x="40155" y="41605"/>
                  <a:pt x="55474" y="41605"/>
                </a:cubicBezTo>
                <a:close/>
                <a:moveTo>
                  <a:pt x="110947" y="291236"/>
                </a:moveTo>
                <a:lnTo>
                  <a:pt x="221894" y="291236"/>
                </a:lnTo>
                <a:moveTo>
                  <a:pt x="166421" y="235763"/>
                </a:moveTo>
                <a:lnTo>
                  <a:pt x="166421" y="291236"/>
                </a:lnTo>
              </a:path>
            </a:pathLst>
          </a:custGeom>
          <a:noFill/>
          <a:ln w="27737" cap="rnd">
            <a:solidFill>
              <a:srgbClr val="5B3FC4"/>
            </a:solidFill>
            <a:prstDash val="solid"/>
            <a:round/>
          </a:ln>
        </p:spPr>
      </p:sp>
      <p:sp>
        <p:nvSpPr>
          <p:cNvPr id="21" name="Text 19"/>
          <p:cNvSpPr/>
          <p:nvPr/>
        </p:nvSpPr>
        <p:spPr>
          <a:xfrm>
            <a:off x="3200400" y="3300984"/>
            <a:ext cx="1051560" cy="475488"/>
          </a:xfrm>
          <a:prstGeom prst="rect">
            <a:avLst/>
          </a:prstGeom>
          <a:noFill/>
          <a:ln/>
        </p:spPr>
        <p:txBody>
          <a:bodyPr wrap="square" lIns="0" tIns="0" rIns="0" bIns="0" rtlCol="0" anchor="b">
            <a:normAutofit/>
          </a:bodyPr>
          <a:lstStyle/>
          <a:p>
            <a:pPr algn="l" indent="0" marL="0">
              <a:buNone/>
            </a:pPr>
            <a:r>
              <a:rPr lang="en-US" sz="1600" b="1" dirty="0">
                <a:solidFill>
                  <a:srgbClr val="5B3FC4"/>
                </a:solidFill>
                <a:latin typeface="Segoe UI Semibold" pitchFamily="34" charset="0"/>
                <a:ea typeface="Segoe UI Semibold" pitchFamily="34" charset="-122"/>
                <a:cs typeface="Segoe UI Semibold" pitchFamily="34" charset="-120"/>
              </a:rPr>
              <a:t>La UI</a:t>
            </a:r>
            <a:endParaRPr lang="en-US" sz="1600" dirty="0"/>
          </a:p>
        </p:txBody>
      </p:sp>
      <p:sp>
        <p:nvSpPr>
          <p:cNvPr id="22" name="Text 20"/>
          <p:cNvSpPr/>
          <p:nvPr/>
        </p:nvSpPr>
        <p:spPr>
          <a:xfrm>
            <a:off x="3200400" y="3758184"/>
            <a:ext cx="10515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arka-lite-ui · :8088</a:t>
            </a:r>
            <a:endParaRPr lang="en-US" sz="1250" dirty="0"/>
          </a:p>
        </p:txBody>
      </p:sp>
      <p:sp>
        <p:nvSpPr>
          <p:cNvPr id="23" name="Shape 21"/>
          <p:cNvSpPr/>
          <p:nvPr/>
        </p:nvSpPr>
        <p:spPr>
          <a:xfrm>
            <a:off x="5504688" y="1901952"/>
            <a:ext cx="2606040" cy="1097280"/>
          </a:xfrm>
          <a:prstGeom prst="roundRect">
            <a:avLst>
              <a:gd name="adj" fmla="val 11667"/>
            </a:avLst>
          </a:prstGeom>
          <a:solidFill>
            <a:srgbClr val="FFFFFF"/>
          </a:solidFill>
          <a:ln w="12700">
            <a:solidFill>
              <a:srgbClr val="8591A8"/>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5504688" y="2011680"/>
            <a:ext cx="73152" cy="877824"/>
          </a:xfrm>
          <a:prstGeom prst="rect">
            <a:avLst/>
          </a:prstGeom>
          <a:solidFill>
            <a:srgbClr val="0B2350"/>
          </a:solidFill>
          <a:ln w="12700">
            <a:solidFill>
              <a:srgbClr val="0B2350"/>
            </a:solidFill>
            <a:prstDash val="solid"/>
          </a:ln>
        </p:spPr>
      </p:sp>
      <p:sp>
        <p:nvSpPr>
          <p:cNvPr id="25" name="Shape 23"/>
          <p:cNvSpPr/>
          <p:nvPr/>
        </p:nvSpPr>
        <p:spPr>
          <a:xfrm>
            <a:off x="5705856" y="2130552"/>
            <a:ext cx="640080" cy="640080"/>
          </a:xfrm>
          <a:prstGeom prst="ellipse">
            <a:avLst/>
          </a:prstGeom>
          <a:solidFill>
            <a:srgbClr val="E8EEF8"/>
          </a:solidFill>
          <a:ln w="12700">
            <a:solidFill>
              <a:srgbClr val="E8EEF8"/>
            </a:solidFill>
            <a:prstDash val="solid"/>
          </a:ln>
        </p:spPr>
      </p:sp>
      <p:sp>
        <p:nvSpPr>
          <p:cNvPr id="26" name="Icono clipboard-list"/>
          <p:cNvSpPr/>
          <p:nvPr/>
        </p:nvSpPr>
        <p:spPr>
          <a:xfrm>
            <a:off x="5859475" y="2284171"/>
            <a:ext cx="332842" cy="332842"/>
          </a:xfrm>
          <a:custGeom>
            <a:avLst/>
            <a:gdLst/>
            <a:ahLst/>
            <a:cxnLst/>
            <a:rect l="l" t="t" r="r" b="b"/>
            <a:pathLst>
              <a:path w="332842" h="332842">
                <a:moveTo>
                  <a:pt x="124816" y="27737"/>
                </a:moveTo>
                <a:lnTo>
                  <a:pt x="208026" y="27737"/>
                </a:lnTo>
                <a:cubicBezTo>
                  <a:pt x="215685" y="27737"/>
                  <a:pt x="221894" y="33946"/>
                  <a:pt x="221894" y="41605"/>
                </a:cubicBezTo>
                <a:lnTo>
                  <a:pt x="221894" y="69342"/>
                </a:lnTo>
                <a:cubicBezTo>
                  <a:pt x="221894" y="77001"/>
                  <a:pt x="215685" y="83210"/>
                  <a:pt x="208026" y="83210"/>
                </a:cubicBezTo>
                <a:lnTo>
                  <a:pt x="124816" y="83210"/>
                </a:lnTo>
                <a:cubicBezTo>
                  <a:pt x="117156" y="83210"/>
                  <a:pt x="110947" y="77001"/>
                  <a:pt x="110947" y="69342"/>
                </a:cubicBezTo>
                <a:lnTo>
                  <a:pt x="110947" y="41605"/>
                </a:lnTo>
                <a:cubicBezTo>
                  <a:pt x="110947" y="33946"/>
                  <a:pt x="117156" y="27737"/>
                  <a:pt x="124816" y="27737"/>
                </a:cubicBezTo>
                <a:close/>
                <a:moveTo>
                  <a:pt x="221894" y="55474"/>
                </a:moveTo>
                <a:lnTo>
                  <a:pt x="249631" y="55474"/>
                </a:lnTo>
                <a:cubicBezTo>
                  <a:pt x="264950" y="55474"/>
                  <a:pt x="277368" y="67892"/>
                  <a:pt x="277368" y="83210"/>
                </a:cubicBezTo>
                <a:lnTo>
                  <a:pt x="277368" y="277368"/>
                </a:lnTo>
                <a:cubicBezTo>
                  <a:pt x="277368" y="292687"/>
                  <a:pt x="264950" y="305105"/>
                  <a:pt x="249631" y="305105"/>
                </a:cubicBezTo>
                <a:lnTo>
                  <a:pt x="83210" y="305105"/>
                </a:lnTo>
                <a:cubicBezTo>
                  <a:pt x="67892" y="305105"/>
                  <a:pt x="55474" y="292687"/>
                  <a:pt x="55474" y="277368"/>
                </a:cubicBezTo>
                <a:lnTo>
                  <a:pt x="55474" y="83210"/>
                </a:lnTo>
                <a:cubicBezTo>
                  <a:pt x="55474" y="67892"/>
                  <a:pt x="67892" y="55474"/>
                  <a:pt x="83210" y="55474"/>
                </a:cubicBezTo>
                <a:lnTo>
                  <a:pt x="110947" y="55474"/>
                </a:lnTo>
                <a:moveTo>
                  <a:pt x="166421" y="152552"/>
                </a:moveTo>
                <a:lnTo>
                  <a:pt x="221894" y="152552"/>
                </a:lnTo>
                <a:moveTo>
                  <a:pt x="166421" y="221894"/>
                </a:moveTo>
                <a:lnTo>
                  <a:pt x="221894" y="221894"/>
                </a:lnTo>
                <a:moveTo>
                  <a:pt x="110947" y="152552"/>
                </a:moveTo>
                <a:lnTo>
                  <a:pt x="111086" y="152552"/>
                </a:lnTo>
                <a:moveTo>
                  <a:pt x="110947" y="221894"/>
                </a:moveTo>
                <a:lnTo>
                  <a:pt x="111086" y="221894"/>
                </a:lnTo>
              </a:path>
            </a:pathLst>
          </a:custGeom>
          <a:noFill/>
          <a:ln w="27737" cap="rnd">
            <a:solidFill>
              <a:srgbClr val="0B2350"/>
            </a:solidFill>
            <a:prstDash val="solid"/>
            <a:round/>
          </a:ln>
        </p:spPr>
      </p:sp>
      <p:sp>
        <p:nvSpPr>
          <p:cNvPr id="27" name="Text 25"/>
          <p:cNvSpPr/>
          <p:nvPr/>
        </p:nvSpPr>
        <p:spPr>
          <a:xfrm>
            <a:off x="6492240" y="2011680"/>
            <a:ext cx="1508760" cy="47548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Solicitudes</a:t>
            </a:r>
            <a:endParaRPr lang="en-US" sz="1600" dirty="0"/>
          </a:p>
        </p:txBody>
      </p:sp>
      <p:sp>
        <p:nvSpPr>
          <p:cNvPr id="28" name="Text 26"/>
          <p:cNvSpPr/>
          <p:nvPr/>
        </p:nvSpPr>
        <p:spPr>
          <a:xfrm>
            <a:off x="6492240" y="2468880"/>
            <a:ext cx="15087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El trámite y sus estados · :8080</a:t>
            </a:r>
            <a:endParaRPr lang="en-US" sz="1250" dirty="0"/>
          </a:p>
        </p:txBody>
      </p:sp>
      <p:sp>
        <p:nvSpPr>
          <p:cNvPr id="29" name="Shape 27"/>
          <p:cNvSpPr/>
          <p:nvPr/>
        </p:nvSpPr>
        <p:spPr>
          <a:xfrm>
            <a:off x="5504688" y="4480560"/>
            <a:ext cx="2606040" cy="1097280"/>
          </a:xfrm>
          <a:prstGeom prst="roundRect">
            <a:avLst>
              <a:gd name="adj" fmla="val 11667"/>
            </a:avLst>
          </a:prstGeom>
          <a:solidFill>
            <a:srgbClr val="FFFFFF"/>
          </a:solidFill>
          <a:ln w="12700">
            <a:solidFill>
              <a:srgbClr val="85B7C5"/>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5504688" y="4590288"/>
            <a:ext cx="73152" cy="877824"/>
          </a:xfrm>
          <a:prstGeom prst="rect">
            <a:avLst/>
          </a:prstGeom>
          <a:solidFill>
            <a:srgbClr val="0B6E8A"/>
          </a:solidFill>
          <a:ln w="12700">
            <a:solidFill>
              <a:srgbClr val="0B6E8A"/>
            </a:solidFill>
            <a:prstDash val="solid"/>
          </a:ln>
        </p:spPr>
      </p:sp>
      <p:sp>
        <p:nvSpPr>
          <p:cNvPr id="31" name="Shape 29"/>
          <p:cNvSpPr/>
          <p:nvPr/>
        </p:nvSpPr>
        <p:spPr>
          <a:xfrm>
            <a:off x="5705856" y="4709160"/>
            <a:ext cx="640080" cy="640080"/>
          </a:xfrm>
          <a:prstGeom prst="ellipse">
            <a:avLst/>
          </a:prstGeom>
          <a:solidFill>
            <a:srgbClr val="E3F4FA"/>
          </a:solidFill>
          <a:ln w="12700">
            <a:solidFill>
              <a:srgbClr val="E3F4FA"/>
            </a:solidFill>
            <a:prstDash val="solid"/>
          </a:ln>
        </p:spPr>
      </p:sp>
      <p:sp>
        <p:nvSpPr>
          <p:cNvPr id="32" name="Icono bell"/>
          <p:cNvSpPr/>
          <p:nvPr/>
        </p:nvSpPr>
        <p:spPr>
          <a:xfrm>
            <a:off x="5859475" y="4862779"/>
            <a:ext cx="332842" cy="332842"/>
          </a:xfrm>
          <a:custGeom>
            <a:avLst/>
            <a:gdLst/>
            <a:ahLst/>
            <a:cxnLst/>
            <a:rect l="l" t="t" r="r" b="b"/>
            <a:pathLst>
              <a:path w="332842" h="332842">
                <a:moveTo>
                  <a:pt x="142401" y="291236"/>
                </a:moveTo>
                <a:cubicBezTo>
                  <a:pt x="147356" y="299818"/>
                  <a:pt x="156512" y="305104"/>
                  <a:pt x="166421" y="305104"/>
                </a:cubicBezTo>
                <a:cubicBezTo>
                  <a:pt x="176330" y="305104"/>
                  <a:pt x="185486" y="299818"/>
                  <a:pt x="190441" y="291236"/>
                </a:cubicBezTo>
                <a:moveTo>
                  <a:pt x="45239" y="212547"/>
                </a:moveTo>
                <a:cubicBezTo>
                  <a:pt x="41537" y="216604"/>
                  <a:pt x="40578" y="222464"/>
                  <a:pt x="42794" y="227489"/>
                </a:cubicBezTo>
                <a:cubicBezTo>
                  <a:pt x="45009" y="232514"/>
                  <a:pt x="49982" y="235759"/>
                  <a:pt x="55474" y="235763"/>
                </a:cubicBezTo>
                <a:lnTo>
                  <a:pt x="277368" y="235763"/>
                </a:lnTo>
                <a:cubicBezTo>
                  <a:pt x="282859" y="235765"/>
                  <a:pt x="287835" y="232526"/>
                  <a:pt x="290056" y="227504"/>
                </a:cubicBezTo>
                <a:cubicBezTo>
                  <a:pt x="292277" y="222482"/>
                  <a:pt x="291326" y="216623"/>
                  <a:pt x="287631" y="212561"/>
                </a:cubicBezTo>
                <a:cubicBezTo>
                  <a:pt x="269186" y="193547"/>
                  <a:pt x="249631" y="173341"/>
                  <a:pt x="249631" y="110947"/>
                </a:cubicBezTo>
                <a:cubicBezTo>
                  <a:pt x="249631" y="64991"/>
                  <a:pt x="212377" y="27737"/>
                  <a:pt x="166421" y="27737"/>
                </a:cubicBezTo>
                <a:cubicBezTo>
                  <a:pt x="120465" y="27737"/>
                  <a:pt x="83210" y="64991"/>
                  <a:pt x="83210" y="110947"/>
                </a:cubicBezTo>
                <a:cubicBezTo>
                  <a:pt x="83210" y="173341"/>
                  <a:pt x="63642" y="193547"/>
                  <a:pt x="45239" y="212547"/>
                </a:cubicBezTo>
              </a:path>
            </a:pathLst>
          </a:custGeom>
          <a:noFill/>
          <a:ln w="27737" cap="rnd">
            <a:solidFill>
              <a:srgbClr val="0B6E8A"/>
            </a:solidFill>
            <a:prstDash val="solid"/>
            <a:round/>
          </a:ln>
        </p:spPr>
      </p:sp>
      <p:sp>
        <p:nvSpPr>
          <p:cNvPr id="33" name="Text 31"/>
          <p:cNvSpPr/>
          <p:nvPr/>
        </p:nvSpPr>
        <p:spPr>
          <a:xfrm>
            <a:off x="6492240" y="4590288"/>
            <a:ext cx="1508760" cy="475488"/>
          </a:xfrm>
          <a:prstGeom prst="rect">
            <a:avLst/>
          </a:prstGeom>
          <a:noFill/>
          <a:ln/>
        </p:spPr>
        <p:txBody>
          <a:bodyPr wrap="square" lIns="0" tIns="0" rIns="0" bIns="0" rtlCol="0" anchor="b">
            <a:normAutofit/>
          </a:bodyPr>
          <a:lstStyle/>
          <a:p>
            <a:pPr algn="l" indent="0" marL="0">
              <a:buNone/>
            </a:pPr>
            <a:r>
              <a:rPr lang="en-US" sz="1450" b="1" dirty="0">
                <a:solidFill>
                  <a:srgbClr val="0B6E8A"/>
                </a:solidFill>
                <a:latin typeface="Segoe UI Semibold" pitchFamily="34" charset="0"/>
                <a:ea typeface="Segoe UI Semibold" pitchFamily="34" charset="-122"/>
                <a:cs typeface="Segoe UI Semibold" pitchFamily="34" charset="-120"/>
              </a:rPr>
              <a:t>Notificaciones</a:t>
            </a:r>
            <a:endParaRPr lang="en-US" sz="1450" dirty="0"/>
          </a:p>
        </p:txBody>
      </p:sp>
      <p:sp>
        <p:nvSpPr>
          <p:cNvPr id="34" name="Text 32"/>
          <p:cNvSpPr/>
          <p:nvPr/>
        </p:nvSpPr>
        <p:spPr>
          <a:xfrm>
            <a:off x="6492240" y="5047488"/>
            <a:ext cx="15087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Los avisos · :8081</a:t>
            </a:r>
            <a:endParaRPr lang="en-US" sz="1250" dirty="0"/>
          </a:p>
        </p:txBody>
      </p:sp>
      <p:sp>
        <p:nvSpPr>
          <p:cNvPr id="35" name="Shape 33"/>
          <p:cNvSpPr/>
          <p:nvPr/>
        </p:nvSpPr>
        <p:spPr>
          <a:xfrm>
            <a:off x="9390888" y="1901952"/>
            <a:ext cx="2188159" cy="1097280"/>
          </a:xfrm>
          <a:prstGeom prst="can">
            <a:avLst/>
          </a:prstGeom>
          <a:solidFill>
            <a:srgbClr val="E8EEF8"/>
          </a:solidFill>
          <a:ln w="25400">
            <a:solidFill>
              <a:srgbClr val="0B2350"/>
            </a:solidFill>
            <a:prstDash val="solid"/>
          </a:ln>
          <a:effectLst>
            <a:outerShdw sx="100000" sy="100000" kx="0" ky="0" algn="bl" rotWithShape="0" blurRad="76200" dist="19050" dir="5400000">
              <a:srgbClr val="0B1F3A">
                <a:alpha val="14000"/>
              </a:srgbClr>
            </a:outerShdw>
          </a:effectLst>
        </p:spPr>
      </p:sp>
      <p:sp>
        <p:nvSpPr>
          <p:cNvPr id="36" name="Text 34"/>
          <p:cNvSpPr/>
          <p:nvPr/>
        </p:nvSpPr>
        <p:spPr>
          <a:xfrm>
            <a:off x="9482328" y="2275027"/>
            <a:ext cx="2005279" cy="329184"/>
          </a:xfrm>
          <a:prstGeom prst="rect">
            <a:avLst/>
          </a:prstGeom>
          <a:noFill/>
          <a:ln/>
        </p:spPr>
        <p:txBody>
          <a:bodyPr wrap="square" lIns="0" tIns="0" rIns="0" bIns="0" rtlCol="0" anchor="ctr">
            <a:normAutofit/>
          </a:bodyPr>
          <a:lstStyle/>
          <a:p>
            <a:pPr algn="ctr" indent="0" marL="0">
              <a:buNone/>
            </a:pPr>
            <a:r>
              <a:rPr lang="en-US" sz="1500" b="1" dirty="0">
                <a:solidFill>
                  <a:srgbClr val="0B2350"/>
                </a:solidFill>
                <a:latin typeface="Consolas" pitchFamily="34" charset="0"/>
                <a:ea typeface="Consolas" pitchFamily="34" charset="-122"/>
                <a:cs typeface="Consolas" pitchFamily="34" charset="-120"/>
              </a:rPr>
              <a:t>db-solicitudes</a:t>
            </a:r>
            <a:endParaRPr lang="en-US" sz="1500" dirty="0"/>
          </a:p>
        </p:txBody>
      </p:sp>
      <p:sp>
        <p:nvSpPr>
          <p:cNvPr id="37" name="Text 35"/>
          <p:cNvSpPr/>
          <p:nvPr/>
        </p:nvSpPr>
        <p:spPr>
          <a:xfrm>
            <a:off x="9482328" y="2604211"/>
            <a:ext cx="200527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38" name="Shape 36"/>
          <p:cNvSpPr/>
          <p:nvPr/>
        </p:nvSpPr>
        <p:spPr>
          <a:xfrm>
            <a:off x="9390888" y="4480560"/>
            <a:ext cx="2188159" cy="1097280"/>
          </a:xfrm>
          <a:prstGeom prst="can">
            <a:avLst/>
          </a:prstGeom>
          <a:solidFill>
            <a:srgbClr val="E3F4FA"/>
          </a:solidFill>
          <a:ln w="25400">
            <a:solidFill>
              <a:srgbClr val="0B6E8A"/>
            </a:solidFill>
            <a:prstDash val="solid"/>
          </a:ln>
          <a:effectLst>
            <a:outerShdw sx="100000" sy="100000" kx="0" ky="0" algn="bl" rotWithShape="0" blurRad="76200" dist="19050" dir="5400000">
              <a:srgbClr val="0B1F3A">
                <a:alpha val="14000"/>
              </a:srgbClr>
            </a:outerShdw>
          </a:effectLst>
        </p:spPr>
      </p:sp>
      <p:sp>
        <p:nvSpPr>
          <p:cNvPr id="39" name="Text 37"/>
          <p:cNvSpPr/>
          <p:nvPr/>
        </p:nvSpPr>
        <p:spPr>
          <a:xfrm>
            <a:off x="9482328" y="4853635"/>
            <a:ext cx="2005279" cy="329184"/>
          </a:xfrm>
          <a:prstGeom prst="rect">
            <a:avLst/>
          </a:prstGeom>
          <a:noFill/>
          <a:ln/>
        </p:spPr>
        <p:txBody>
          <a:bodyPr wrap="square" lIns="0" tIns="0" rIns="0" bIns="0" rtlCol="0" anchor="ctr">
            <a:normAutofit/>
          </a:bodyPr>
          <a:lstStyle/>
          <a:p>
            <a:pPr algn="ctr" indent="0" marL="0">
              <a:buNone/>
            </a:pPr>
            <a:r>
              <a:rPr lang="en-US" sz="1500" b="1" dirty="0">
                <a:solidFill>
                  <a:srgbClr val="0B6E8A"/>
                </a:solidFill>
                <a:latin typeface="Consolas" pitchFamily="34" charset="0"/>
                <a:ea typeface="Consolas" pitchFamily="34" charset="-122"/>
                <a:cs typeface="Consolas" pitchFamily="34" charset="-120"/>
              </a:rPr>
              <a:t>db-notificaciones</a:t>
            </a:r>
            <a:endParaRPr lang="en-US" sz="1500" dirty="0"/>
          </a:p>
        </p:txBody>
      </p:sp>
      <p:sp>
        <p:nvSpPr>
          <p:cNvPr id="40" name="Text 38"/>
          <p:cNvSpPr/>
          <p:nvPr/>
        </p:nvSpPr>
        <p:spPr>
          <a:xfrm>
            <a:off x="9482328" y="5182819"/>
            <a:ext cx="200527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41" name="[p1] Forma"/>
          <p:cNvSpPr/>
          <p:nvPr/>
        </p:nvSpPr>
        <p:spPr>
          <a:xfrm>
            <a:off x="1668780" y="3739896"/>
            <a:ext cx="489204" cy="0"/>
          </a:xfrm>
          <a:prstGeom prst="line">
            <a:avLst/>
          </a:prstGeom>
          <a:noFill/>
          <a:ln w="31750">
            <a:solidFill>
              <a:srgbClr val="30446A"/>
            </a:solidFill>
            <a:prstDash val="solid"/>
            <a:tailEnd type="triangle"/>
          </a:ln>
        </p:spPr>
      </p:sp>
      <p:sp>
        <p:nvSpPr>
          <p:cNvPr id="42" name="[p1] Forma"/>
          <p:cNvSpPr/>
          <p:nvPr/>
        </p:nvSpPr>
        <p:spPr>
          <a:xfrm>
            <a:off x="1739646" y="3566160"/>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1</a:t>
            </a:r>
            <a:endParaRPr lang="en-US" sz="1250" dirty="0"/>
          </a:p>
        </p:txBody>
      </p:sp>
      <p:sp>
        <p:nvSpPr>
          <p:cNvPr id="43" name="[p1] Forma"/>
          <p:cNvSpPr/>
          <p:nvPr/>
        </p:nvSpPr>
        <p:spPr>
          <a:xfrm>
            <a:off x="1613916" y="3172968"/>
            <a:ext cx="598932" cy="32918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usa</a:t>
            </a:r>
            <a:endParaRPr lang="en-US" sz="1300" dirty="0"/>
          </a:p>
        </p:txBody>
      </p:sp>
      <p:sp>
        <p:nvSpPr>
          <p:cNvPr id="44" name="[p2] Forma"/>
          <p:cNvSpPr/>
          <p:nvPr/>
        </p:nvSpPr>
        <p:spPr>
          <a:xfrm>
            <a:off x="4398264" y="3483864"/>
            <a:ext cx="603504" cy="0"/>
          </a:xfrm>
          <a:prstGeom prst="line">
            <a:avLst/>
          </a:prstGeom>
          <a:noFill/>
          <a:ln w="31750">
            <a:solidFill>
              <a:srgbClr val="30446A"/>
            </a:solidFill>
            <a:prstDash val="solid"/>
          </a:ln>
        </p:spPr>
      </p:sp>
      <p:sp>
        <p:nvSpPr>
          <p:cNvPr id="45" name="[p2] Forma"/>
          <p:cNvSpPr/>
          <p:nvPr/>
        </p:nvSpPr>
        <p:spPr>
          <a:xfrm flipV="1">
            <a:off x="5001768" y="2450592"/>
            <a:ext cx="0" cy="1033272"/>
          </a:xfrm>
          <a:prstGeom prst="line">
            <a:avLst/>
          </a:prstGeom>
          <a:noFill/>
          <a:ln w="31750">
            <a:solidFill>
              <a:srgbClr val="30446A"/>
            </a:solidFill>
            <a:prstDash val="solid"/>
          </a:ln>
        </p:spPr>
      </p:sp>
      <p:sp>
        <p:nvSpPr>
          <p:cNvPr id="46" name="[p2] Forma"/>
          <p:cNvSpPr/>
          <p:nvPr/>
        </p:nvSpPr>
        <p:spPr>
          <a:xfrm>
            <a:off x="5001768" y="2450592"/>
            <a:ext cx="448056" cy="0"/>
          </a:xfrm>
          <a:prstGeom prst="line">
            <a:avLst/>
          </a:prstGeom>
          <a:noFill/>
          <a:ln w="31750">
            <a:solidFill>
              <a:srgbClr val="30446A"/>
            </a:solidFill>
            <a:prstDash val="solid"/>
            <a:tailEnd type="triangle"/>
          </a:ln>
        </p:spPr>
      </p:sp>
      <p:sp>
        <p:nvSpPr>
          <p:cNvPr id="47" name="[p2] Forma"/>
          <p:cNvSpPr/>
          <p:nvPr/>
        </p:nvSpPr>
        <p:spPr>
          <a:xfrm>
            <a:off x="4828032" y="27934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2</a:t>
            </a:r>
            <a:endParaRPr lang="en-US" sz="1250" dirty="0"/>
          </a:p>
        </p:txBody>
      </p:sp>
      <p:sp>
        <p:nvSpPr>
          <p:cNvPr id="48" name="[p2] Forma"/>
          <p:cNvSpPr/>
          <p:nvPr/>
        </p:nvSpPr>
        <p:spPr>
          <a:xfrm>
            <a:off x="2212848" y="2404872"/>
            <a:ext cx="2514600" cy="457200"/>
          </a:xfrm>
          <a:prstGeom prst="rect">
            <a:avLst/>
          </a:prstGeom>
          <a:noFill/>
          <a:ln/>
        </p:spPr>
        <p:txBody>
          <a:bodyPr wrap="square" lIns="0" tIns="0" rIns="0" bIns="0" rtlCol="0" anchor="ctr">
            <a:normAutofit/>
          </a:bodyPr>
          <a:lstStyle/>
          <a:p>
            <a:pPr algn="r" indent="0" marL="0">
              <a:buNone/>
            </a:pPr>
            <a:r>
              <a:rPr lang="en-US" sz="1300" b="1" dirty="0">
                <a:solidFill>
                  <a:srgbClr val="0B2350"/>
                </a:solidFill>
                <a:latin typeface="Segoe UI" pitchFamily="34" charset="0"/>
                <a:ea typeface="Segoe UI" pitchFamily="34" charset="-122"/>
                <a:cs typeface="Segoe UI" pitchFamily="34" charset="-120"/>
              </a:rPr>
              <a:t>crea, envía y decide</a:t>
            </a:r>
            <a:endParaRPr lang="en-US" sz="1300" dirty="0"/>
          </a:p>
        </p:txBody>
      </p:sp>
      <p:sp>
        <p:nvSpPr>
          <p:cNvPr id="49" name="[p6] Forma"/>
          <p:cNvSpPr/>
          <p:nvPr/>
        </p:nvSpPr>
        <p:spPr>
          <a:xfrm>
            <a:off x="4398264" y="3995928"/>
            <a:ext cx="603504" cy="0"/>
          </a:xfrm>
          <a:prstGeom prst="line">
            <a:avLst/>
          </a:prstGeom>
          <a:noFill/>
          <a:ln w="31750">
            <a:solidFill>
              <a:srgbClr val="30446A"/>
            </a:solidFill>
            <a:prstDash val="solid"/>
          </a:ln>
        </p:spPr>
      </p:sp>
      <p:sp>
        <p:nvSpPr>
          <p:cNvPr id="50" name="[p6] Forma"/>
          <p:cNvSpPr/>
          <p:nvPr/>
        </p:nvSpPr>
        <p:spPr>
          <a:xfrm>
            <a:off x="5001768" y="3995928"/>
            <a:ext cx="0" cy="1033272"/>
          </a:xfrm>
          <a:prstGeom prst="line">
            <a:avLst/>
          </a:prstGeom>
          <a:noFill/>
          <a:ln w="31750">
            <a:solidFill>
              <a:srgbClr val="30446A"/>
            </a:solidFill>
            <a:prstDash val="solid"/>
          </a:ln>
        </p:spPr>
      </p:sp>
      <p:sp>
        <p:nvSpPr>
          <p:cNvPr id="51" name="[p6] Forma"/>
          <p:cNvSpPr/>
          <p:nvPr/>
        </p:nvSpPr>
        <p:spPr>
          <a:xfrm>
            <a:off x="5001768" y="5029200"/>
            <a:ext cx="448056" cy="0"/>
          </a:xfrm>
          <a:prstGeom prst="line">
            <a:avLst/>
          </a:prstGeom>
          <a:noFill/>
          <a:ln w="31750">
            <a:solidFill>
              <a:srgbClr val="30446A"/>
            </a:solidFill>
            <a:prstDash val="solid"/>
            <a:tailEnd type="triangle"/>
          </a:ln>
        </p:spPr>
      </p:sp>
      <p:sp>
        <p:nvSpPr>
          <p:cNvPr id="52" name="[p6] Forma"/>
          <p:cNvSpPr/>
          <p:nvPr/>
        </p:nvSpPr>
        <p:spPr>
          <a:xfrm>
            <a:off x="4828032" y="4338828"/>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6</a:t>
            </a:r>
            <a:endParaRPr lang="en-US" sz="1250" dirty="0"/>
          </a:p>
        </p:txBody>
      </p:sp>
      <p:sp>
        <p:nvSpPr>
          <p:cNvPr id="53" name="[p6] Forma"/>
          <p:cNvSpPr/>
          <p:nvPr/>
        </p:nvSpPr>
        <p:spPr>
          <a:xfrm>
            <a:off x="2212848" y="4617720"/>
            <a:ext cx="2514600" cy="457200"/>
          </a:xfrm>
          <a:prstGeom prst="rect">
            <a:avLst/>
          </a:prstGeom>
          <a:noFill/>
          <a:ln/>
        </p:spPr>
        <p:txBody>
          <a:bodyPr wrap="square" lIns="0" tIns="0" rIns="0" bIns="0" rtlCol="0" anchor="ctr">
            <a:normAutofit/>
          </a:bodyPr>
          <a:lstStyle/>
          <a:p>
            <a:pPr algn="r" indent="0" marL="0">
              <a:buNone/>
            </a:pPr>
            <a:r>
              <a:rPr lang="en-US" sz="1300" b="1" dirty="0">
                <a:solidFill>
                  <a:srgbClr val="0B2350"/>
                </a:solidFill>
                <a:latin typeface="Segoe UI" pitchFamily="34" charset="0"/>
                <a:ea typeface="Segoe UI" pitchFamily="34" charset="-122"/>
                <a:cs typeface="Segoe UI" pitchFamily="34" charset="-120"/>
              </a:rPr>
              <a:t>consulta los avisos</a:t>
            </a:r>
            <a:endParaRPr lang="en-US" sz="1300" dirty="0"/>
          </a:p>
        </p:txBody>
      </p:sp>
      <p:sp>
        <p:nvSpPr>
          <p:cNvPr id="54" name="[p3] Forma"/>
          <p:cNvSpPr/>
          <p:nvPr/>
        </p:nvSpPr>
        <p:spPr>
          <a:xfrm>
            <a:off x="8165592" y="2450592"/>
            <a:ext cx="1170432" cy="0"/>
          </a:xfrm>
          <a:prstGeom prst="line">
            <a:avLst/>
          </a:prstGeom>
          <a:noFill/>
          <a:ln w="31750">
            <a:solidFill>
              <a:srgbClr val="30446A"/>
            </a:solidFill>
            <a:prstDash val="solid"/>
            <a:tailEnd type="triangle"/>
          </a:ln>
        </p:spPr>
      </p:sp>
      <p:sp>
        <p:nvSpPr>
          <p:cNvPr id="55" name="[p3] Forma"/>
          <p:cNvSpPr/>
          <p:nvPr/>
        </p:nvSpPr>
        <p:spPr>
          <a:xfrm>
            <a:off x="8577072" y="227685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3</a:t>
            </a:r>
            <a:endParaRPr lang="en-US" sz="1250" dirty="0"/>
          </a:p>
        </p:txBody>
      </p:sp>
      <p:sp>
        <p:nvSpPr>
          <p:cNvPr id="56" name="[p3] Forma"/>
          <p:cNvSpPr/>
          <p:nvPr/>
        </p:nvSpPr>
        <p:spPr>
          <a:xfrm>
            <a:off x="8156448" y="1737360"/>
            <a:ext cx="1188720" cy="51206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guarda</a:t>
            </a:r>
            <a:endParaRPr lang="en-US" sz="1300" dirty="0"/>
          </a:p>
        </p:txBody>
      </p:sp>
      <p:sp>
        <p:nvSpPr>
          <p:cNvPr id="57" name="[p5] Forma"/>
          <p:cNvSpPr/>
          <p:nvPr/>
        </p:nvSpPr>
        <p:spPr>
          <a:xfrm>
            <a:off x="8165592" y="5029200"/>
            <a:ext cx="1170432" cy="0"/>
          </a:xfrm>
          <a:prstGeom prst="line">
            <a:avLst/>
          </a:prstGeom>
          <a:noFill/>
          <a:ln w="31750">
            <a:solidFill>
              <a:srgbClr val="30446A"/>
            </a:solidFill>
            <a:prstDash val="solid"/>
            <a:tailEnd type="triangle"/>
          </a:ln>
        </p:spPr>
      </p:sp>
      <p:sp>
        <p:nvSpPr>
          <p:cNvPr id="58" name="[p5] Forma"/>
          <p:cNvSpPr/>
          <p:nvPr/>
        </p:nvSpPr>
        <p:spPr>
          <a:xfrm>
            <a:off x="8577072" y="485546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5</a:t>
            </a:r>
            <a:endParaRPr lang="en-US" sz="1250" dirty="0"/>
          </a:p>
        </p:txBody>
      </p:sp>
      <p:sp>
        <p:nvSpPr>
          <p:cNvPr id="59" name="[p5] Forma"/>
          <p:cNvSpPr/>
          <p:nvPr/>
        </p:nvSpPr>
        <p:spPr>
          <a:xfrm>
            <a:off x="8156448" y="4315968"/>
            <a:ext cx="1188720" cy="51206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anota lo recibido</a:t>
            </a:r>
            <a:endParaRPr lang="en-US" sz="1300" dirty="0"/>
          </a:p>
        </p:txBody>
      </p:sp>
      <p:sp>
        <p:nvSpPr>
          <p:cNvPr id="60" name="[p4] Forma"/>
          <p:cNvSpPr/>
          <p:nvPr/>
        </p:nvSpPr>
        <p:spPr>
          <a:xfrm>
            <a:off x="6807708" y="3054096"/>
            <a:ext cx="0" cy="1371600"/>
          </a:xfrm>
          <a:prstGeom prst="line">
            <a:avLst/>
          </a:prstGeom>
          <a:noFill/>
          <a:ln w="38100">
            <a:solidFill>
              <a:srgbClr val="0B6E8A"/>
            </a:solidFill>
            <a:prstDash val="dash"/>
            <a:tailEnd type="triangle"/>
          </a:ln>
        </p:spPr>
      </p:sp>
      <p:sp>
        <p:nvSpPr>
          <p:cNvPr id="61" name="[p4] Forma"/>
          <p:cNvSpPr/>
          <p:nvPr/>
        </p:nvSpPr>
        <p:spPr>
          <a:xfrm>
            <a:off x="6633972" y="3566160"/>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4</a:t>
            </a:r>
            <a:endParaRPr lang="en-US" sz="1250" dirty="0"/>
          </a:p>
        </p:txBody>
      </p:sp>
      <p:sp>
        <p:nvSpPr>
          <p:cNvPr id="62" name="[p4] Forma"/>
          <p:cNvSpPr/>
          <p:nvPr/>
        </p:nvSpPr>
        <p:spPr>
          <a:xfrm>
            <a:off x="5276088" y="3575304"/>
            <a:ext cx="1303020" cy="329184"/>
          </a:xfrm>
          <a:prstGeom prst="rect">
            <a:avLst/>
          </a:prstGeom>
          <a:noFill/>
          <a:ln/>
        </p:spPr>
        <p:txBody>
          <a:bodyPr wrap="square" lIns="0" tIns="0" rIns="0" bIns="0" rtlCol="0" anchor="ctr">
            <a:normAutofit/>
          </a:bodyPr>
          <a:lstStyle/>
          <a:p>
            <a:pPr algn="r" indent="0" marL="0">
              <a:buNone/>
            </a:pPr>
            <a:r>
              <a:rPr lang="en-US" sz="1300" b="1" dirty="0">
                <a:solidFill>
                  <a:srgbClr val="0B6E8A"/>
                </a:solidFill>
                <a:latin typeface="Segoe UI" pitchFamily="34" charset="0"/>
                <a:ea typeface="Segoe UI" pitchFamily="34" charset="-122"/>
                <a:cs typeface="Segoe UI" pitchFamily="34" charset="-120"/>
              </a:rPr>
              <a:t>avisa después</a:t>
            </a:r>
            <a:endParaRPr lang="en-US" sz="1300" dirty="0"/>
          </a:p>
        </p:txBody>
      </p:sp>
      <p:sp>
        <p:nvSpPr>
          <p:cNvPr id="63" name="[p4] Forma"/>
          <p:cNvSpPr/>
          <p:nvPr/>
        </p:nvSpPr>
        <p:spPr>
          <a:xfrm>
            <a:off x="7173468" y="3364992"/>
            <a:ext cx="2880360" cy="749808"/>
          </a:xfrm>
          <a:prstGeom prst="roundRect">
            <a:avLst>
              <a:gd name="adj" fmla="val 14634"/>
            </a:avLst>
          </a:prstGeom>
          <a:solidFill>
            <a:srgbClr val="E3F4FA"/>
          </a:solidFill>
          <a:ln w="15875">
            <a:solidFill>
              <a:srgbClr val="2BA6CB"/>
            </a:solidFill>
            <a:prstDash val="dash"/>
          </a:ln>
        </p:spPr>
      </p:sp>
      <p:sp>
        <p:nvSpPr>
          <p:cNvPr id="64" name="[p4] Icono mail"/>
          <p:cNvSpPr/>
          <p:nvPr/>
        </p:nvSpPr>
        <p:spPr>
          <a:xfrm>
            <a:off x="7319772" y="3557016"/>
            <a:ext cx="365760" cy="365760"/>
          </a:xfrm>
          <a:custGeom>
            <a:avLst/>
            <a:gdLst/>
            <a:ahLst/>
            <a:cxnLst/>
            <a:rect l="l" t="t" r="r" b="b"/>
            <a:pathLst>
              <a:path w="365760" h="365760">
                <a:moveTo>
                  <a:pt x="60960" y="60960"/>
                </a:moveTo>
                <a:lnTo>
                  <a:pt x="304800" y="60960"/>
                </a:lnTo>
                <a:cubicBezTo>
                  <a:pt x="321634" y="60960"/>
                  <a:pt x="335280" y="74606"/>
                  <a:pt x="335280" y="91440"/>
                </a:cubicBezTo>
                <a:lnTo>
                  <a:pt x="335280" y="274320"/>
                </a:lnTo>
                <a:cubicBezTo>
                  <a:pt x="335280" y="291154"/>
                  <a:pt x="321634" y="304800"/>
                  <a:pt x="304800" y="304800"/>
                </a:cubicBezTo>
                <a:lnTo>
                  <a:pt x="60960" y="304800"/>
                </a:lnTo>
                <a:cubicBezTo>
                  <a:pt x="44126" y="304800"/>
                  <a:pt x="30480" y="291154"/>
                  <a:pt x="30480" y="274320"/>
                </a:cubicBezTo>
                <a:lnTo>
                  <a:pt x="30480" y="91440"/>
                </a:lnTo>
                <a:cubicBezTo>
                  <a:pt x="30480" y="74606"/>
                  <a:pt x="44126" y="60960"/>
                  <a:pt x="60960" y="60960"/>
                </a:cubicBezTo>
                <a:close/>
                <a:moveTo>
                  <a:pt x="335280" y="106680"/>
                </a:moveTo>
                <a:lnTo>
                  <a:pt x="198577" y="193548"/>
                </a:lnTo>
                <a:cubicBezTo>
                  <a:pt x="188977" y="199563"/>
                  <a:pt x="176783" y="199563"/>
                  <a:pt x="167183" y="193548"/>
                </a:cubicBezTo>
                <a:lnTo>
                  <a:pt x="30480" y="106680"/>
                </a:lnTo>
              </a:path>
            </a:pathLst>
          </a:custGeom>
          <a:noFill/>
          <a:ln w="30480" cap="rnd">
            <a:solidFill>
              <a:srgbClr val="0B6E8A"/>
            </a:solidFill>
            <a:prstDash val="solid"/>
            <a:round/>
          </a:ln>
        </p:spPr>
      </p:sp>
      <p:sp>
        <p:nvSpPr>
          <p:cNvPr id="65" name="[p4] Forma"/>
          <p:cNvSpPr/>
          <p:nvPr/>
        </p:nvSpPr>
        <p:spPr>
          <a:xfrm>
            <a:off x="7795260" y="3438144"/>
            <a:ext cx="2148840" cy="219456"/>
          </a:xfrm>
          <a:prstGeom prst="rect">
            <a:avLst/>
          </a:prstGeom>
          <a:noFill/>
          <a:ln/>
        </p:spPr>
        <p:txBody>
          <a:bodyPr wrap="square" lIns="0" tIns="0" rIns="0" bIns="0" rtlCol="0" anchor="t">
            <a:normAutofit/>
          </a:bodyPr>
          <a:lstStyle/>
          <a:p>
            <a:pPr algn="l" indent="0" marL="0">
              <a:buNone/>
            </a:pPr>
            <a:r>
              <a:rPr lang="en-US" sz="950" b="1" dirty="0">
                <a:solidFill>
                  <a:srgbClr val="0B6E8A"/>
                </a:solidFill>
                <a:latin typeface="Segoe UI" pitchFamily="34" charset="0"/>
                <a:ea typeface="Segoe UI" pitchFamily="34" charset="-122"/>
                <a:cs typeface="Segoe UI" pitchFamily="34" charset="-120"/>
              </a:rPr>
              <a:t>EL DATO QUE VIAJA</a:t>
            </a:r>
            <a:endParaRPr lang="en-US" sz="950" dirty="0"/>
          </a:p>
        </p:txBody>
      </p:sp>
      <p:sp>
        <p:nvSpPr>
          <p:cNvPr id="66" name="[p4] Forma"/>
          <p:cNvSpPr/>
          <p:nvPr/>
        </p:nvSpPr>
        <p:spPr>
          <a:xfrm>
            <a:off x="7795260" y="3639312"/>
            <a:ext cx="2148840" cy="420624"/>
          </a:xfrm>
          <a:prstGeom prst="rect">
            <a:avLst/>
          </a:prstGeom>
          <a:noFill/>
          <a:ln/>
        </p:spPr>
        <p:txBody>
          <a:bodyPr wrap="square" lIns="0" tIns="0" rIns="0" bIns="0" rtlCol="0" anchor="ctr">
            <a:normAutofit/>
          </a:bodyPr>
          <a:lstStyle/>
          <a:p>
            <a:pPr algn="l" indent="0" marL="0">
              <a:buNone/>
            </a:pPr>
            <a:r>
              <a:rPr lang="en-US" sz="1200" dirty="0">
                <a:solidFill>
                  <a:srgbClr val="0B1A3C"/>
                </a:solidFill>
                <a:latin typeface="Segoe UI" pitchFamily="34" charset="0"/>
                <a:ea typeface="Segoe UI" pitchFamily="34" charset="-122"/>
                <a:cs typeface="Segoe UI" pitchFamily="34" charset="-120"/>
              </a:rPr>
              <a:t>SolicitudEnviada: eventoId, id y tipo</a:t>
            </a:r>
            <a:endParaRPr lang="en-US" sz="1200" dirty="0"/>
          </a:p>
        </p:txBody>
      </p:sp>
      <p:sp>
        <p:nvSpPr>
          <p:cNvPr id="67" name="[p7] Forma"/>
          <p:cNvSpPr/>
          <p:nvPr/>
        </p:nvSpPr>
        <p:spPr>
          <a:xfrm>
            <a:off x="10484968" y="3072384"/>
            <a:ext cx="0" cy="1335024"/>
          </a:xfrm>
          <a:prstGeom prst="line">
            <a:avLst/>
          </a:prstGeom>
          <a:noFill/>
          <a:ln w="25400">
            <a:solidFill>
              <a:srgbClr val="DFE6F0"/>
            </a:solidFill>
            <a:prstDash val="sysDot"/>
          </a:ln>
        </p:spPr>
      </p:sp>
      <p:sp>
        <p:nvSpPr>
          <p:cNvPr id="68" name="[p7] Forma"/>
          <p:cNvSpPr/>
          <p:nvPr/>
        </p:nvSpPr>
        <p:spPr>
          <a:xfrm>
            <a:off x="10247224" y="3502152"/>
            <a:ext cx="475488" cy="475488"/>
          </a:xfrm>
          <a:prstGeom prst="ellipse">
            <a:avLst/>
          </a:prstGeom>
          <a:solidFill>
            <a:srgbClr val="F7E3E7"/>
          </a:solidFill>
          <a:ln w="12700">
            <a:solidFill>
              <a:srgbClr val="F7E3E7"/>
            </a:solidFill>
            <a:prstDash val="solid"/>
          </a:ln>
        </p:spPr>
      </p:sp>
      <p:sp>
        <p:nvSpPr>
          <p:cNvPr id="69" name="[p7] Icono ban"/>
          <p:cNvSpPr/>
          <p:nvPr/>
        </p:nvSpPr>
        <p:spPr>
          <a:xfrm>
            <a:off x="10361341" y="3616269"/>
            <a:ext cx="247254" cy="247254"/>
          </a:xfrm>
          <a:custGeom>
            <a:avLst/>
            <a:gdLst/>
            <a:ahLst/>
            <a:cxnLst/>
            <a:rect l="l" t="t" r="r" b="b"/>
            <a:pathLst>
              <a:path w="247254" h="247254">
                <a:moveTo>
                  <a:pt x="226649" y="123627"/>
                </a:moveTo>
                <a:cubicBezTo>
                  <a:pt x="226649" y="180525"/>
                  <a:pt x="180525" y="226649"/>
                  <a:pt x="123627" y="226649"/>
                </a:cubicBezTo>
                <a:cubicBezTo>
                  <a:pt x="66729" y="226649"/>
                  <a:pt x="20604" y="180525"/>
                  <a:pt x="20604" y="123627"/>
                </a:cubicBezTo>
                <a:cubicBezTo>
                  <a:pt x="20604" y="66729"/>
                  <a:pt x="66729" y="20604"/>
                  <a:pt x="123627" y="20604"/>
                </a:cubicBezTo>
                <a:cubicBezTo>
                  <a:pt x="180525" y="20604"/>
                  <a:pt x="226649" y="66729"/>
                  <a:pt x="226649" y="123627"/>
                </a:cubicBezTo>
                <a:close/>
                <a:moveTo>
                  <a:pt x="50481" y="50481"/>
                </a:moveTo>
                <a:lnTo>
                  <a:pt x="196773" y="196773"/>
                </a:lnTo>
              </a:path>
            </a:pathLst>
          </a:custGeom>
          <a:noFill/>
          <a:ln w="20604" cap="rnd">
            <a:solidFill>
              <a:srgbClr val="AB243E"/>
            </a:solidFill>
            <a:prstDash val="solid"/>
            <a:round/>
          </a:ln>
        </p:spPr>
      </p:sp>
      <p:sp>
        <p:nvSpPr>
          <p:cNvPr id="70" name="[p7] Forma"/>
          <p:cNvSpPr/>
          <p:nvPr/>
        </p:nvSpPr>
        <p:spPr>
          <a:xfrm>
            <a:off x="612648" y="5897880"/>
            <a:ext cx="10966399" cy="457200"/>
          </a:xfrm>
          <a:prstGeom prst="roundRect">
            <a:avLst>
              <a:gd name="adj" fmla="val 20000"/>
            </a:avLst>
          </a:prstGeom>
          <a:solidFill>
            <a:srgbClr val="F4F7FB"/>
          </a:solidFill>
          <a:ln w="9525">
            <a:solidFill>
              <a:srgbClr val="DFE6F0"/>
            </a:solidFill>
            <a:prstDash val="solid"/>
          </a:ln>
        </p:spPr>
      </p:sp>
      <p:sp>
        <p:nvSpPr>
          <p:cNvPr id="71" name="[p7] Icono shield-check"/>
          <p:cNvSpPr/>
          <p:nvPr/>
        </p:nvSpPr>
        <p:spPr>
          <a:xfrm>
            <a:off x="795528" y="5989320"/>
            <a:ext cx="274320" cy="274320"/>
          </a:xfrm>
          <a:custGeom>
            <a:avLst/>
            <a:gdLst/>
            <a:ahLst/>
            <a:cxnLst/>
            <a:rect l="l" t="t" r="r" b="b"/>
            <a:pathLst>
              <a:path w="274320" h="274320">
                <a:moveTo>
                  <a:pt x="228600" y="148590"/>
                </a:moveTo>
                <a:cubicBezTo>
                  <a:pt x="228600" y="205740"/>
                  <a:pt x="188595" y="234315"/>
                  <a:pt x="141046" y="250888"/>
                </a:cubicBezTo>
                <a:cubicBezTo>
                  <a:pt x="138556" y="251732"/>
                  <a:pt x="135852" y="251692"/>
                  <a:pt x="133388" y="250774"/>
                </a:cubicBezTo>
                <a:cubicBezTo>
                  <a:pt x="85725" y="234315"/>
                  <a:pt x="45720" y="205740"/>
                  <a:pt x="45720" y="148590"/>
                </a:cubicBezTo>
                <a:lnTo>
                  <a:pt x="45720" y="68580"/>
                </a:lnTo>
                <a:cubicBezTo>
                  <a:pt x="45720" y="62267"/>
                  <a:pt x="50837" y="57150"/>
                  <a:pt x="57150" y="57150"/>
                </a:cubicBezTo>
                <a:cubicBezTo>
                  <a:pt x="80010" y="57150"/>
                  <a:pt x="108585" y="43434"/>
                  <a:pt x="128473" y="26060"/>
                </a:cubicBezTo>
                <a:cubicBezTo>
                  <a:pt x="133476" y="21786"/>
                  <a:pt x="140844" y="21786"/>
                  <a:pt x="145847" y="26060"/>
                </a:cubicBezTo>
                <a:cubicBezTo>
                  <a:pt x="165849" y="43548"/>
                  <a:pt x="194310" y="57150"/>
                  <a:pt x="217170" y="57150"/>
                </a:cubicBezTo>
                <a:cubicBezTo>
                  <a:pt x="223483" y="57150"/>
                  <a:pt x="228600" y="62267"/>
                  <a:pt x="228600" y="68580"/>
                </a:cubicBezTo>
                <a:close/>
                <a:moveTo>
                  <a:pt x="102870" y="137160"/>
                </a:moveTo>
                <a:lnTo>
                  <a:pt x="125730" y="160020"/>
                </a:lnTo>
                <a:lnTo>
                  <a:pt x="171450" y="114300"/>
                </a:lnTo>
              </a:path>
            </a:pathLst>
          </a:custGeom>
          <a:noFill/>
          <a:ln w="22860" cap="rnd">
            <a:solidFill>
              <a:srgbClr val="0A6648"/>
            </a:solidFill>
            <a:prstDash val="solid"/>
            <a:round/>
          </a:ln>
        </p:spPr>
      </p:sp>
      <p:sp>
        <p:nvSpPr>
          <p:cNvPr id="72" name="[p7] Forma"/>
          <p:cNvSpPr/>
          <p:nvPr/>
        </p:nvSpPr>
        <p:spPr>
          <a:xfrm>
            <a:off x="1207008" y="5897880"/>
            <a:ext cx="10189159" cy="457200"/>
          </a:xfrm>
          <a:prstGeom prst="rect">
            <a:avLst/>
          </a:prstGeom>
          <a:noFill/>
          <a:ln/>
        </p:spPr>
        <p:txBody>
          <a:bodyPr wrap="square" lIns="0" tIns="0" rIns="0" bIns="0" rtlCol="0" anchor="ctr">
            <a:normAutofit/>
          </a:bodyPr>
          <a:lstStyle/>
          <a:p>
            <a:pPr algn="l" indent="0" marL="0">
              <a:buNone/>
            </a:pPr>
            <a:r>
              <a:rPr lang="en-US" sz="1400" b="1" dirty="0">
                <a:solidFill>
                  <a:srgbClr val="0B1A3C"/>
                </a:solidFill>
                <a:latin typeface="Segoe UI" pitchFamily="34" charset="0"/>
                <a:ea typeface="Segoe UI" pitchFamily="34" charset="-122"/>
                <a:cs typeface="Segoe UI" pitchFamily="34" charset="-120"/>
              </a:rPr>
              <a:t>Ninguna flecha une las dos bases: cada servicio es dueño de sus datos.</a:t>
            </a:r>
            <a:endParaRPr lang="en-US" sz="14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1"/>
                                        </p:tgtEl>
                                        <p:attrNameLst>
                                          <p:attrName>style.visibility</p:attrName>
                                        </p:attrNameLst>
                                      </p:cBhvr>
                                      <p:to>
                                        <p:strVal val="visible"/>
                                      </p:to>
                                    </p:set>
                                    <p:animEffect transition="in" filter="fade">
                                      <p:cBhvr>
                                        <p:cTn id="5" dur="400"/>
                                        <p:tgtEl>
                                          <p:spTgt spid="4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2"/>
                                        </p:tgtEl>
                                        <p:attrNameLst>
                                          <p:attrName>style.visibility</p:attrName>
                                        </p:attrNameLst>
                                      </p:cBhvr>
                                      <p:to>
                                        <p:strVal val="visible"/>
                                      </p:to>
                                    </p:set>
                                    <p:animEffect transition="in" filter="fade">
                                      <p:cBhvr>
                                        <p:cTn id="8" dur="400"/>
                                        <p:tgtEl>
                                          <p:spTgt spid="4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par>
                    <p:cTn id="29" fill="hold">
                      <p:stCondLst>
                        <p:cond delay="indefinite"/>
                      </p:stCondLst>
                      <p:childTnLst>
                        <p:par>
                          <p:cTn id="30"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40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400"/>
                                        <p:tgtEl>
                                          <p:spTgt spid="4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400"/>
                                        <p:tgtEl>
                                          <p:spTgt spid="4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400"/>
                                        <p:tgtEl>
                                          <p:spTgt spid="4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400"/>
                                        <p:tgtEl>
                                          <p:spTgt spid="48"/>
                                        </p:tgtEl>
                                      </p:cBhvr>
                                    </p:animEffect>
                                  </p:childTnLst>
                                </p:cTn>
                              </p:par>
                            </p:childTnLst>
                          </p:cTn>
                        </p:par>
                      </p:childTnLst>
                    </p:cTn>
                  </p:par>
                  <p:par>
                    <p:cTn id="40" fill="hold">
                      <p:stCondLst>
                        <p:cond delay="indefinite"/>
                      </p:stCondLst>
                      <p:childTnLst>
                        <p:par>
                          <p:cTn id="41"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400"/>
                                        <p:tgtEl>
                                          <p:spTgt spid="5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400"/>
                                        <p:tgtEl>
                                          <p:spTgt spid="5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400"/>
                                        <p:tgtEl>
                                          <p:spTgt spid="56"/>
                                        </p:tgtEl>
                                      </p:cBhvr>
                                    </p:animEffect>
                                  </p:childTnLst>
                                </p:cTn>
                              </p:par>
                            </p:childTnLst>
                          </p:cTn>
                        </p:par>
                      </p:childTnLst>
                    </p:cTn>
                  </p:par>
                  <p:par>
                    <p:cTn id="63" fill="hold">
                      <p:stCondLst>
                        <p:cond delay="indefinite"/>
                      </p:stCondLst>
                      <p:childTnLst>
                        <p:par>
                          <p:cTn id="64"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400"/>
                                        <p:tgtEl>
                                          <p:spTgt spid="6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fade">
                                      <p:cBhvr>
                                        <p:cTn id="47" dur="400"/>
                                        <p:tgtEl>
                                          <p:spTgt spid="6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fade">
                                      <p:cBhvr>
                                        <p:cTn id="50" dur="400"/>
                                        <p:tgtEl>
                                          <p:spTgt spid="6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fade">
                                      <p:cBhvr>
                                        <p:cTn id="53" dur="400"/>
                                        <p:tgtEl>
                                          <p:spTgt spid="6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400"/>
                                        <p:tgtEl>
                                          <p:spTgt spid="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animEffect transition="in" filter="fade">
                                      <p:cBhvr>
                                        <p:cTn id="59" dur="400"/>
                                        <p:tgtEl>
                                          <p:spTgt spid="6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400"/>
                                        <p:tgtEl>
                                          <p:spTgt spid="66"/>
                                        </p:tgtEl>
                                      </p:cBhvr>
                                    </p:animEffect>
                                  </p:childTnLst>
                                </p:cTn>
                              </p:par>
                            </p:childTnLst>
                          </p:cTn>
                        </p:par>
                      </p:childTnLst>
                    </p:cTn>
                  </p:par>
                  <p:par>
                    <p:cTn id="74" fill="hold">
                      <p:stCondLst>
                        <p:cond delay="indefinite"/>
                      </p:stCondLst>
                      <p:childTnLst>
                        <p:par>
                          <p:cTn id="75"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400"/>
                                        <p:tgtEl>
                                          <p:spTgt spid="5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8"/>
                                        </p:tgtEl>
                                        <p:attrNameLst>
                                          <p:attrName>style.visibility</p:attrName>
                                        </p:attrNameLst>
                                      </p:cBhvr>
                                      <p:to>
                                        <p:strVal val="visible"/>
                                      </p:to>
                                    </p:set>
                                    <p:animEffect transition="in" filter="fade">
                                      <p:cBhvr>
                                        <p:cTn id="70" dur="400"/>
                                        <p:tgtEl>
                                          <p:spTgt spid="5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9"/>
                                        </p:tgtEl>
                                        <p:attrNameLst>
                                          <p:attrName>style.visibility</p:attrName>
                                        </p:attrNameLst>
                                      </p:cBhvr>
                                      <p:to>
                                        <p:strVal val="visible"/>
                                      </p:to>
                                    </p:set>
                                    <p:animEffect transition="in" filter="fade">
                                      <p:cBhvr>
                                        <p:cTn id="73" dur="400"/>
                                        <p:tgtEl>
                                          <p:spTgt spid="59"/>
                                        </p:tgtEl>
                                      </p:cBhvr>
                                    </p:animEffect>
                                  </p:childTnLst>
                                </p:cTn>
                              </p:par>
                            </p:childTnLst>
                          </p:cTn>
                        </p:par>
                      </p:childTnLst>
                    </p:cTn>
                  </p:par>
                  <p:par>
                    <p:cTn id="91" fill="hold">
                      <p:stCondLst>
                        <p:cond delay="indefinite"/>
                      </p:stCondLst>
                      <p:childTnLst>
                        <p:par>
                          <p:cTn id="92"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400"/>
                                        <p:tgtEl>
                                          <p:spTgt spid="4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400"/>
                                        <p:tgtEl>
                                          <p:spTgt spid="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400"/>
                                        <p:tgtEl>
                                          <p:spTgt spid="5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400"/>
                                        <p:tgtEl>
                                          <p:spTgt spid="5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fade">
                                      <p:cBhvr>
                                        <p:cTn id="90" dur="400"/>
                                        <p:tgtEl>
                                          <p:spTgt spid="53"/>
                                        </p:tgtEl>
                                      </p:cBhvr>
                                    </p:animEffect>
                                  </p:childTnLst>
                                </p:cTn>
                              </p:par>
                            </p:childTnLst>
                          </p:cTn>
                        </p:par>
                      </p:childTnLst>
                    </p:cTn>
                  </p:par>
                  <p:par>
                    <p:cTn id="111" fill="hold">
                      <p:stCondLst>
                        <p:cond delay="indefinite"/>
                      </p:stCondLst>
                      <p:childTnLst>
                        <p:par>
                          <p:cTn id="11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67"/>
                                        </p:tgtEl>
                                        <p:attrNameLst>
                                          <p:attrName>style.visibility</p:attrName>
                                        </p:attrNameLst>
                                      </p:cBhvr>
                                      <p:to>
                                        <p:strVal val="visible"/>
                                      </p:to>
                                    </p:set>
                                    <p:animEffect transition="in" filter="fade">
                                      <p:cBhvr>
                                        <p:cTn id="95" dur="400"/>
                                        <p:tgtEl>
                                          <p:spTgt spid="6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8"/>
                                        </p:tgtEl>
                                        <p:attrNameLst>
                                          <p:attrName>style.visibility</p:attrName>
                                        </p:attrNameLst>
                                      </p:cBhvr>
                                      <p:to>
                                        <p:strVal val="visible"/>
                                      </p:to>
                                    </p:set>
                                    <p:animEffect transition="in" filter="fade">
                                      <p:cBhvr>
                                        <p:cTn id="98" dur="400"/>
                                        <p:tgtEl>
                                          <p:spTgt spid="6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9"/>
                                        </p:tgtEl>
                                        <p:attrNameLst>
                                          <p:attrName>style.visibility</p:attrName>
                                        </p:attrNameLst>
                                      </p:cBhvr>
                                      <p:to>
                                        <p:strVal val="visible"/>
                                      </p:to>
                                    </p:set>
                                    <p:animEffect transition="in" filter="fade">
                                      <p:cBhvr>
                                        <p:cTn id="101" dur="400"/>
                                        <p:tgtEl>
                                          <p:spTgt spid="6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0"/>
                                        </p:tgtEl>
                                        <p:attrNameLst>
                                          <p:attrName>style.visibility</p:attrName>
                                        </p:attrNameLst>
                                      </p:cBhvr>
                                      <p:to>
                                        <p:strVal val="visible"/>
                                      </p:to>
                                    </p:set>
                                    <p:animEffect transition="in" filter="fade">
                                      <p:cBhvr>
                                        <p:cTn id="104" dur="400"/>
                                        <p:tgtEl>
                                          <p:spTgt spid="7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1"/>
                                        </p:tgtEl>
                                        <p:attrNameLst>
                                          <p:attrName>style.visibility</p:attrName>
                                        </p:attrNameLst>
                                      </p:cBhvr>
                                      <p:to>
                                        <p:strVal val="visible"/>
                                      </p:to>
                                    </p:set>
                                    <p:animEffect transition="in" filter="fade">
                                      <p:cBhvr>
                                        <p:cTn id="107" dur="400"/>
                                        <p:tgtEl>
                                          <p:spTgt spid="7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72"/>
                                        </p:tgtEl>
                                        <p:attrNameLst>
                                          <p:attrName>style.visibility</p:attrName>
                                        </p:attrNameLst>
                                      </p:cBhvr>
                                      <p:to>
                                        <p:strVal val="visible"/>
                                      </p:to>
                                    </p:set>
                                    <p:animEffect transition="in" filter="fade">
                                      <p:cBhvr>
                                        <p:cTn id="110"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cada servicio: hexagonal</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forma de ordenar el código por dentro; no cambia cómo se despliega.</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plug"/>
          <p:cNvSpPr/>
          <p:nvPr/>
        </p:nvSpPr>
        <p:spPr>
          <a:xfrm>
            <a:off x="900867" y="5911779"/>
            <a:ext cx="228234" cy="228234"/>
          </a:xfrm>
          <a:custGeom>
            <a:avLst/>
            <a:gdLst/>
            <a:ahLst/>
            <a:cxnLst/>
            <a:rect l="l" t="t" r="r" b="b"/>
            <a:pathLst>
              <a:path w="228234" h="228234">
                <a:moveTo>
                  <a:pt x="114117" y="209215"/>
                </a:moveTo>
                <a:lnTo>
                  <a:pt x="114117" y="161666"/>
                </a:lnTo>
                <a:moveTo>
                  <a:pt x="85588" y="76078"/>
                </a:moveTo>
                <a:lnTo>
                  <a:pt x="85588" y="19020"/>
                </a:lnTo>
                <a:moveTo>
                  <a:pt x="142646" y="76078"/>
                </a:moveTo>
                <a:lnTo>
                  <a:pt x="142646" y="19020"/>
                </a:lnTo>
                <a:moveTo>
                  <a:pt x="171176" y="76078"/>
                </a:moveTo>
                <a:lnTo>
                  <a:pt x="171176" y="123627"/>
                </a:lnTo>
                <a:cubicBezTo>
                  <a:pt x="171176" y="144635"/>
                  <a:pt x="154145" y="161666"/>
                  <a:pt x="133137" y="161666"/>
                </a:cubicBezTo>
                <a:lnTo>
                  <a:pt x="95098" y="161666"/>
                </a:lnTo>
                <a:cubicBezTo>
                  <a:pt x="74089" y="161666"/>
                  <a:pt x="57059" y="144635"/>
                  <a:pt x="57059" y="123627"/>
                </a:cubicBezTo>
                <a:lnTo>
                  <a:pt x="57059" y="76078"/>
                </a:ln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enchufe: el aparato funciona con cualquier toma que cumpla la norma, sin saber de qué planta viene la electricidad.</a:t>
            </a:r>
            <a:endParaRPr lang="en-US" sz="1450" dirty="0"/>
          </a:p>
        </p:txBody>
      </p:sp>
      <p:sp>
        <p:nvSpPr>
          <p:cNvPr id="17" name="Text 15"/>
          <p:cNvSpPr/>
          <p:nvPr/>
        </p:nvSpPr>
        <p:spPr>
          <a:xfrm>
            <a:off x="612648" y="1719072"/>
            <a:ext cx="228600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ENTRADA</a:t>
            </a:r>
            <a:endParaRPr lang="en-US" sz="1100" dirty="0"/>
          </a:p>
        </p:txBody>
      </p:sp>
      <p:sp>
        <p:nvSpPr>
          <p:cNvPr id="18" name="Text 16"/>
          <p:cNvSpPr/>
          <p:nvPr/>
        </p:nvSpPr>
        <p:spPr>
          <a:xfrm>
            <a:off x="3310128" y="1719072"/>
            <a:ext cx="2599639"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DOMINIO</a:t>
            </a:r>
            <a:endParaRPr lang="en-US" sz="1100" dirty="0"/>
          </a:p>
        </p:txBody>
      </p:sp>
      <p:sp>
        <p:nvSpPr>
          <p:cNvPr id="19" name="Text 17"/>
          <p:cNvSpPr/>
          <p:nvPr/>
        </p:nvSpPr>
        <p:spPr>
          <a:xfrm>
            <a:off x="6092647" y="1719072"/>
            <a:ext cx="260604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PUERTOS</a:t>
            </a:r>
            <a:endParaRPr lang="en-US" sz="1100" dirty="0"/>
          </a:p>
        </p:txBody>
      </p:sp>
      <p:sp>
        <p:nvSpPr>
          <p:cNvPr id="20" name="Text 18"/>
          <p:cNvSpPr/>
          <p:nvPr/>
        </p:nvSpPr>
        <p:spPr>
          <a:xfrm>
            <a:off x="9110167" y="1719072"/>
            <a:ext cx="246888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SALIDA</a:t>
            </a:r>
            <a:endParaRPr lang="en-US" sz="1100" dirty="0"/>
          </a:p>
        </p:txBody>
      </p:sp>
      <p:sp>
        <p:nvSpPr>
          <p:cNvPr id="21" name="Shape 19"/>
          <p:cNvSpPr/>
          <p:nvPr/>
        </p:nvSpPr>
        <p:spPr>
          <a:xfrm>
            <a:off x="3200400" y="2568623"/>
            <a:ext cx="2819095" cy="2507138"/>
          </a:xfrm>
          <a:prstGeom prst="hexagon">
            <a:avLst/>
          </a:prstGeom>
          <a:solidFill>
            <a:srgbClr val="E3F4FA"/>
          </a:solidFill>
          <a:ln w="19050">
            <a:solidFill>
              <a:srgbClr val="2BA6CB"/>
            </a:solidFill>
            <a:prstDash val="dash"/>
          </a:ln>
        </p:spPr>
      </p:sp>
      <p:sp>
        <p:nvSpPr>
          <p:cNvPr id="22" name="Shape 20"/>
          <p:cNvSpPr/>
          <p:nvPr/>
        </p:nvSpPr>
        <p:spPr>
          <a:xfrm>
            <a:off x="3310128" y="2678351"/>
            <a:ext cx="2599639" cy="2287682"/>
          </a:xfrm>
          <a:prstGeom prst="hexagon">
            <a:avLst/>
          </a:prstGeom>
          <a:solidFill>
            <a:srgbClr val="0B2350"/>
          </a:solidFill>
          <a:ln w="12700">
            <a:solidFill>
              <a:srgbClr val="0B2350"/>
            </a:solidFill>
            <a:prstDash val="solid"/>
          </a:ln>
          <a:effectLst>
            <a:outerShdw sx="100000" sy="100000" kx="0" ky="0" algn="bl" rotWithShape="0" blurRad="76200" dist="19050" dir="5400000">
              <a:srgbClr val="0B1F3A">
                <a:alpha val="14000"/>
              </a:srgbClr>
            </a:outerShdw>
          </a:effectLst>
        </p:spPr>
      </p:sp>
      <p:sp>
        <p:nvSpPr>
          <p:cNvPr id="23" name="Icono puzzle"/>
          <p:cNvSpPr/>
          <p:nvPr/>
        </p:nvSpPr>
        <p:spPr>
          <a:xfrm>
            <a:off x="4266795" y="3090134"/>
            <a:ext cx="686305" cy="686305"/>
          </a:xfrm>
          <a:custGeom>
            <a:avLst/>
            <a:gdLst/>
            <a:ahLst/>
            <a:cxnLst/>
            <a:rect l="l" t="t" r="r" b="b"/>
            <a:pathLst>
              <a:path w="686305" h="686305">
                <a:moveTo>
                  <a:pt x="440093" y="125537"/>
                </a:moveTo>
                <a:cubicBezTo>
                  <a:pt x="447412" y="132863"/>
                  <a:pt x="458121" y="135660"/>
                  <a:pt x="468089" y="132848"/>
                </a:cubicBezTo>
                <a:cubicBezTo>
                  <a:pt x="478056" y="130036"/>
                  <a:pt x="485724" y="122054"/>
                  <a:pt x="488134" y="111982"/>
                </a:cubicBezTo>
                <a:cubicBezTo>
                  <a:pt x="496349" y="77789"/>
                  <a:pt x="528210" y="54648"/>
                  <a:pt x="563267" y="57412"/>
                </a:cubicBezTo>
                <a:cubicBezTo>
                  <a:pt x="598324" y="60177"/>
                  <a:pt x="626164" y="88027"/>
                  <a:pt x="628917" y="123084"/>
                </a:cubicBezTo>
                <a:cubicBezTo>
                  <a:pt x="631670" y="158142"/>
                  <a:pt x="608518" y="189996"/>
                  <a:pt x="574323" y="198199"/>
                </a:cubicBezTo>
                <a:cubicBezTo>
                  <a:pt x="564251" y="200610"/>
                  <a:pt x="556269" y="208277"/>
                  <a:pt x="553457" y="218245"/>
                </a:cubicBezTo>
                <a:cubicBezTo>
                  <a:pt x="550645" y="228212"/>
                  <a:pt x="553441" y="238921"/>
                  <a:pt x="560768" y="246240"/>
                </a:cubicBezTo>
                <a:lnTo>
                  <a:pt x="608895" y="294339"/>
                </a:lnTo>
                <a:cubicBezTo>
                  <a:pt x="621842" y="307285"/>
                  <a:pt x="629115" y="324844"/>
                  <a:pt x="629115" y="343152"/>
                </a:cubicBezTo>
                <a:cubicBezTo>
                  <a:pt x="629115" y="361461"/>
                  <a:pt x="621842" y="379020"/>
                  <a:pt x="608895" y="391966"/>
                </a:cubicBezTo>
                <a:lnTo>
                  <a:pt x="560768" y="440093"/>
                </a:lnTo>
                <a:cubicBezTo>
                  <a:pt x="553449" y="447420"/>
                  <a:pt x="542740" y="450216"/>
                  <a:pt x="532773" y="447404"/>
                </a:cubicBezTo>
                <a:cubicBezTo>
                  <a:pt x="522805" y="444592"/>
                  <a:pt x="515137" y="436610"/>
                  <a:pt x="512727" y="426538"/>
                </a:cubicBezTo>
                <a:cubicBezTo>
                  <a:pt x="504513" y="392345"/>
                  <a:pt x="472651" y="369204"/>
                  <a:pt x="437594" y="371969"/>
                </a:cubicBezTo>
                <a:cubicBezTo>
                  <a:pt x="402537" y="374733"/>
                  <a:pt x="374697" y="402583"/>
                  <a:pt x="371944" y="437641"/>
                </a:cubicBezTo>
                <a:cubicBezTo>
                  <a:pt x="369191" y="472699"/>
                  <a:pt x="392343" y="504553"/>
                  <a:pt x="426538" y="512755"/>
                </a:cubicBezTo>
                <a:cubicBezTo>
                  <a:pt x="436610" y="515166"/>
                  <a:pt x="444592" y="522834"/>
                  <a:pt x="447404" y="532801"/>
                </a:cubicBezTo>
                <a:cubicBezTo>
                  <a:pt x="450216" y="542768"/>
                  <a:pt x="447420" y="553477"/>
                  <a:pt x="440093" y="560797"/>
                </a:cubicBezTo>
                <a:lnTo>
                  <a:pt x="391966" y="608895"/>
                </a:lnTo>
                <a:cubicBezTo>
                  <a:pt x="379020" y="621842"/>
                  <a:pt x="361461" y="629115"/>
                  <a:pt x="343152" y="629115"/>
                </a:cubicBezTo>
                <a:cubicBezTo>
                  <a:pt x="324844" y="629115"/>
                  <a:pt x="307285" y="621842"/>
                  <a:pt x="294339" y="608895"/>
                </a:cubicBezTo>
                <a:lnTo>
                  <a:pt x="246212" y="560768"/>
                </a:lnTo>
                <a:cubicBezTo>
                  <a:pt x="238892" y="553441"/>
                  <a:pt x="228184" y="550645"/>
                  <a:pt x="218216" y="553457"/>
                </a:cubicBezTo>
                <a:cubicBezTo>
                  <a:pt x="208249" y="556269"/>
                  <a:pt x="200581" y="564251"/>
                  <a:pt x="198170" y="574323"/>
                </a:cubicBezTo>
                <a:cubicBezTo>
                  <a:pt x="189956" y="608516"/>
                  <a:pt x="158095" y="631657"/>
                  <a:pt x="123038" y="628892"/>
                </a:cubicBezTo>
                <a:cubicBezTo>
                  <a:pt x="87981" y="626128"/>
                  <a:pt x="60140" y="598278"/>
                  <a:pt x="57387" y="563220"/>
                </a:cubicBezTo>
                <a:cubicBezTo>
                  <a:pt x="54634" y="528162"/>
                  <a:pt x="77786" y="496309"/>
                  <a:pt x="111982" y="488106"/>
                </a:cubicBezTo>
                <a:cubicBezTo>
                  <a:pt x="122054" y="485695"/>
                  <a:pt x="130036" y="478027"/>
                  <a:pt x="132848" y="468060"/>
                </a:cubicBezTo>
                <a:cubicBezTo>
                  <a:pt x="135660" y="458093"/>
                  <a:pt x="132863" y="447384"/>
                  <a:pt x="125537" y="440064"/>
                </a:cubicBezTo>
                <a:lnTo>
                  <a:pt x="77409" y="391966"/>
                </a:lnTo>
                <a:cubicBezTo>
                  <a:pt x="64463" y="379020"/>
                  <a:pt x="57190" y="361461"/>
                  <a:pt x="57190" y="343152"/>
                </a:cubicBezTo>
                <a:cubicBezTo>
                  <a:pt x="57190" y="324844"/>
                  <a:pt x="64463" y="307285"/>
                  <a:pt x="77409" y="294339"/>
                </a:cubicBezTo>
                <a:lnTo>
                  <a:pt x="125537" y="246212"/>
                </a:lnTo>
                <a:cubicBezTo>
                  <a:pt x="132856" y="238885"/>
                  <a:pt x="143565" y="236088"/>
                  <a:pt x="153532" y="238900"/>
                </a:cubicBezTo>
                <a:cubicBezTo>
                  <a:pt x="163500" y="241713"/>
                  <a:pt x="171167" y="249694"/>
                  <a:pt x="173578" y="259766"/>
                </a:cubicBezTo>
                <a:cubicBezTo>
                  <a:pt x="181792" y="293959"/>
                  <a:pt x="213654" y="317101"/>
                  <a:pt x="248711" y="314336"/>
                </a:cubicBezTo>
                <a:cubicBezTo>
                  <a:pt x="283768" y="311571"/>
                  <a:pt x="311608" y="283722"/>
                  <a:pt x="314361" y="248664"/>
                </a:cubicBezTo>
                <a:cubicBezTo>
                  <a:pt x="317114" y="213606"/>
                  <a:pt x="293962" y="181752"/>
                  <a:pt x="259766" y="173549"/>
                </a:cubicBezTo>
                <a:cubicBezTo>
                  <a:pt x="249694" y="171139"/>
                  <a:pt x="241713" y="163471"/>
                  <a:pt x="238900" y="153504"/>
                </a:cubicBezTo>
                <a:cubicBezTo>
                  <a:pt x="236088" y="143536"/>
                  <a:pt x="238885" y="132827"/>
                  <a:pt x="246212" y="125508"/>
                </a:cubicBezTo>
                <a:lnTo>
                  <a:pt x="294339" y="77409"/>
                </a:lnTo>
                <a:cubicBezTo>
                  <a:pt x="307285" y="64463"/>
                  <a:pt x="324844" y="57190"/>
                  <a:pt x="343152" y="57190"/>
                </a:cubicBezTo>
                <a:cubicBezTo>
                  <a:pt x="361461" y="57190"/>
                  <a:pt x="379020" y="64463"/>
                  <a:pt x="391966" y="77409"/>
                </a:cubicBezTo>
                <a:close/>
              </a:path>
            </a:pathLst>
          </a:custGeom>
          <a:noFill/>
          <a:ln w="50043" cap="rnd">
            <a:solidFill>
              <a:srgbClr val="2BA6CB"/>
            </a:solidFill>
            <a:prstDash val="solid"/>
            <a:round/>
          </a:ln>
        </p:spPr>
      </p:sp>
      <p:sp>
        <p:nvSpPr>
          <p:cNvPr id="24" name="Text 22"/>
          <p:cNvSpPr/>
          <p:nvPr/>
        </p:nvSpPr>
        <p:spPr>
          <a:xfrm>
            <a:off x="3584448" y="3849590"/>
            <a:ext cx="2050999" cy="457200"/>
          </a:xfrm>
          <a:prstGeom prst="rect">
            <a:avLst/>
          </a:prstGeom>
          <a:noFill/>
          <a:ln/>
        </p:spPr>
        <p:txBody>
          <a:bodyPr wrap="square" lIns="0" tIns="0" rIns="0" bIns="0" rtlCol="0" anchor="t">
            <a:normAutofit/>
          </a:bodyPr>
          <a:lstStyle/>
          <a:p>
            <a:pPr algn="ctr" indent="0" marL="0">
              <a:buNone/>
            </a:pPr>
            <a:r>
              <a:rPr lang="en-US" sz="1550" b="1" dirty="0">
                <a:solidFill>
                  <a:srgbClr val="FFFFFF"/>
                </a:solidFill>
                <a:latin typeface="Segoe UI Semibold" pitchFamily="34" charset="0"/>
                <a:ea typeface="Segoe UI Semibold" pitchFamily="34" charset="-122"/>
                <a:cs typeface="Segoe UI Semibold" pitchFamily="34" charset="-120"/>
              </a:rPr>
              <a:t>Reglas del negocio</a:t>
            </a:r>
            <a:endParaRPr lang="en-US" sz="1550" dirty="0"/>
          </a:p>
        </p:txBody>
      </p:sp>
      <p:sp>
        <p:nvSpPr>
          <p:cNvPr id="25" name="Text 23"/>
          <p:cNvSpPr/>
          <p:nvPr/>
        </p:nvSpPr>
        <p:spPr>
          <a:xfrm>
            <a:off x="3830056" y="4325078"/>
            <a:ext cx="1559784" cy="503795"/>
          </a:xfrm>
          <a:prstGeom prst="rect">
            <a:avLst/>
          </a:prstGeom>
          <a:noFill/>
          <a:ln/>
        </p:spPr>
        <p:txBody>
          <a:bodyPr wrap="square" lIns="0" tIns="0" rIns="0" bIns="0" rtlCol="0" anchor="t">
            <a:normAutofit/>
          </a:bodyPr>
          <a:lstStyle/>
          <a:p>
            <a:pPr algn="ctr" indent="0" marL="0">
              <a:buNone/>
            </a:pPr>
            <a:r>
              <a:rPr lang="en-US" sz="1200" dirty="0">
                <a:solidFill>
                  <a:srgbClr val="9FBEE0"/>
                </a:solidFill>
                <a:latin typeface="Segoe UI" pitchFamily="34" charset="0"/>
                <a:ea typeface="Segoe UI" pitchFamily="34" charset="-122"/>
                <a:cs typeface="Segoe UI" pitchFamily="34" charset="-120"/>
              </a:rPr>
              <a:t>La solicitud y sus estados</a:t>
            </a:r>
            <a:endParaRPr lang="en-US" sz="1200" dirty="0"/>
          </a:p>
        </p:txBody>
      </p:sp>
      <p:sp>
        <p:nvSpPr>
          <p:cNvPr id="26" name="[p1] Forma"/>
          <p:cNvSpPr/>
          <p:nvPr/>
        </p:nvSpPr>
        <p:spPr>
          <a:xfrm>
            <a:off x="612648" y="2834640"/>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27" name="[p1] Forma"/>
          <p:cNvSpPr/>
          <p:nvPr/>
        </p:nvSpPr>
        <p:spPr>
          <a:xfrm>
            <a:off x="740664" y="3054096"/>
            <a:ext cx="475488" cy="475488"/>
          </a:xfrm>
          <a:prstGeom prst="ellipse">
            <a:avLst/>
          </a:prstGeom>
          <a:solidFill>
            <a:srgbClr val="F1EEFD"/>
          </a:solidFill>
          <a:ln w="12700">
            <a:solidFill>
              <a:srgbClr val="F1EEFD"/>
            </a:solidFill>
            <a:prstDash val="solid"/>
          </a:ln>
        </p:spPr>
      </p:sp>
      <p:sp>
        <p:nvSpPr>
          <p:cNvPr id="28" name="[p1] Icono globe"/>
          <p:cNvSpPr/>
          <p:nvPr/>
        </p:nvSpPr>
        <p:spPr>
          <a:xfrm>
            <a:off x="854781" y="3168213"/>
            <a:ext cx="247254" cy="247254"/>
          </a:xfrm>
          <a:custGeom>
            <a:avLst/>
            <a:gdLst/>
            <a:ahLst/>
            <a:cxnLst/>
            <a:rect l="l" t="t" r="r" b="b"/>
            <a:pathLst>
              <a:path w="247254" h="247254">
                <a:moveTo>
                  <a:pt x="226649" y="123627"/>
                </a:moveTo>
                <a:cubicBezTo>
                  <a:pt x="226649" y="180525"/>
                  <a:pt x="180525" y="226649"/>
                  <a:pt x="123627" y="226649"/>
                </a:cubicBezTo>
                <a:cubicBezTo>
                  <a:pt x="66729" y="226649"/>
                  <a:pt x="20604" y="180525"/>
                  <a:pt x="20604" y="123627"/>
                </a:cubicBezTo>
                <a:cubicBezTo>
                  <a:pt x="20604" y="66729"/>
                  <a:pt x="66729" y="20604"/>
                  <a:pt x="123627" y="20604"/>
                </a:cubicBezTo>
                <a:cubicBezTo>
                  <a:pt x="180525" y="20604"/>
                  <a:pt x="226649" y="66729"/>
                  <a:pt x="226649" y="123627"/>
                </a:cubicBezTo>
                <a:close/>
                <a:moveTo>
                  <a:pt x="123627" y="20604"/>
                </a:moveTo>
                <a:cubicBezTo>
                  <a:pt x="68682" y="78297"/>
                  <a:pt x="68682" y="168957"/>
                  <a:pt x="123627" y="226649"/>
                </a:cubicBezTo>
                <a:cubicBezTo>
                  <a:pt x="178572" y="168957"/>
                  <a:pt x="178572" y="78297"/>
                  <a:pt x="123627" y="20604"/>
                </a:cubicBezTo>
                <a:moveTo>
                  <a:pt x="20604" y="123627"/>
                </a:moveTo>
                <a:lnTo>
                  <a:pt x="226649" y="123627"/>
                </a:lnTo>
              </a:path>
            </a:pathLst>
          </a:custGeom>
          <a:noFill/>
          <a:ln w="20604" cap="rnd">
            <a:solidFill>
              <a:srgbClr val="5B3FC4"/>
            </a:solidFill>
            <a:prstDash val="solid"/>
            <a:round/>
          </a:ln>
        </p:spPr>
      </p:sp>
      <p:sp>
        <p:nvSpPr>
          <p:cNvPr id="29" name="[p1] Forma"/>
          <p:cNvSpPr/>
          <p:nvPr/>
        </p:nvSpPr>
        <p:spPr>
          <a:xfrm>
            <a:off x="1325880" y="2907792"/>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API REST</a:t>
            </a:r>
            <a:endParaRPr lang="en-US" sz="1350" dirty="0"/>
          </a:p>
        </p:txBody>
      </p:sp>
      <p:sp>
        <p:nvSpPr>
          <p:cNvPr id="30" name="[p1] Forma"/>
          <p:cNvSpPr/>
          <p:nvPr/>
        </p:nvSpPr>
        <p:spPr>
          <a:xfrm>
            <a:off x="1325880" y="3310128"/>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web entra aquí</a:t>
            </a:r>
            <a:endParaRPr lang="en-US" sz="1100" dirty="0"/>
          </a:p>
        </p:txBody>
      </p:sp>
      <p:sp>
        <p:nvSpPr>
          <p:cNvPr id="31" name="[p1] Forma"/>
          <p:cNvSpPr/>
          <p:nvPr/>
        </p:nvSpPr>
        <p:spPr>
          <a:xfrm>
            <a:off x="612648" y="3895344"/>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32" name="[p1] Forma"/>
          <p:cNvSpPr/>
          <p:nvPr/>
        </p:nvSpPr>
        <p:spPr>
          <a:xfrm>
            <a:off x="740664" y="4114800"/>
            <a:ext cx="475488" cy="475488"/>
          </a:xfrm>
          <a:prstGeom prst="ellipse">
            <a:avLst/>
          </a:prstGeom>
          <a:solidFill>
            <a:srgbClr val="F1EEFD"/>
          </a:solidFill>
          <a:ln w="12700">
            <a:solidFill>
              <a:srgbClr val="F1EEFD"/>
            </a:solidFill>
            <a:prstDash val="solid"/>
          </a:ln>
        </p:spPr>
      </p:sp>
      <p:sp>
        <p:nvSpPr>
          <p:cNvPr id="33" name="[p1] Icono shield-alert"/>
          <p:cNvSpPr/>
          <p:nvPr/>
        </p:nvSpPr>
        <p:spPr>
          <a:xfrm>
            <a:off x="854781" y="4228917"/>
            <a:ext cx="247254" cy="247254"/>
          </a:xfrm>
          <a:custGeom>
            <a:avLst/>
            <a:gdLst/>
            <a:ahLst/>
            <a:cxnLst/>
            <a:rect l="l" t="t" r="r" b="b"/>
            <a:pathLst>
              <a:path w="247254" h="247254">
                <a:moveTo>
                  <a:pt x="206045" y="133929"/>
                </a:moveTo>
                <a:cubicBezTo>
                  <a:pt x="206045" y="185440"/>
                  <a:pt x="169987" y="211196"/>
                  <a:pt x="127130" y="226134"/>
                </a:cubicBezTo>
                <a:cubicBezTo>
                  <a:pt x="124885" y="226895"/>
                  <a:pt x="122448" y="226858"/>
                  <a:pt x="120227" y="226031"/>
                </a:cubicBezTo>
                <a:cubicBezTo>
                  <a:pt x="77267" y="211196"/>
                  <a:pt x="41209" y="185440"/>
                  <a:pt x="41209" y="133929"/>
                </a:cubicBezTo>
                <a:lnTo>
                  <a:pt x="41209" y="61813"/>
                </a:lnTo>
                <a:cubicBezTo>
                  <a:pt x="41209" y="56124"/>
                  <a:pt x="45821" y="51511"/>
                  <a:pt x="51511" y="51511"/>
                </a:cubicBezTo>
                <a:cubicBezTo>
                  <a:pt x="72116" y="51511"/>
                  <a:pt x="97871" y="39149"/>
                  <a:pt x="115797" y="23489"/>
                </a:cubicBezTo>
                <a:cubicBezTo>
                  <a:pt x="120306" y="19637"/>
                  <a:pt x="126948" y="19637"/>
                  <a:pt x="131457" y="23489"/>
                </a:cubicBezTo>
                <a:cubicBezTo>
                  <a:pt x="149486" y="39252"/>
                  <a:pt x="175138" y="51511"/>
                  <a:pt x="195743" y="51511"/>
                </a:cubicBezTo>
                <a:cubicBezTo>
                  <a:pt x="201432" y="51511"/>
                  <a:pt x="206045" y="56124"/>
                  <a:pt x="206045" y="61813"/>
                </a:cubicBezTo>
                <a:close/>
                <a:moveTo>
                  <a:pt x="123627" y="82418"/>
                </a:moveTo>
                <a:lnTo>
                  <a:pt x="123627" y="123627"/>
                </a:lnTo>
                <a:moveTo>
                  <a:pt x="123627" y="164836"/>
                </a:moveTo>
                <a:lnTo>
                  <a:pt x="123730" y="164836"/>
                </a:lnTo>
              </a:path>
            </a:pathLst>
          </a:custGeom>
          <a:noFill/>
          <a:ln w="20604" cap="rnd">
            <a:solidFill>
              <a:srgbClr val="5B3FC4"/>
            </a:solidFill>
            <a:prstDash val="solid"/>
            <a:round/>
          </a:ln>
        </p:spPr>
      </p:sp>
      <p:sp>
        <p:nvSpPr>
          <p:cNvPr id="34" name="[p1] Forma"/>
          <p:cNvSpPr/>
          <p:nvPr/>
        </p:nvSpPr>
        <p:spPr>
          <a:xfrm>
            <a:off x="1325880" y="3968496"/>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Errores claros</a:t>
            </a:r>
            <a:endParaRPr lang="en-US" sz="1350" dirty="0"/>
          </a:p>
        </p:txBody>
      </p:sp>
      <p:sp>
        <p:nvSpPr>
          <p:cNvPr id="35" name="[p1] Forma"/>
          <p:cNvSpPr/>
          <p:nvPr/>
        </p:nvSpPr>
        <p:spPr>
          <a:xfrm>
            <a:off x="1325880" y="4370832"/>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400 · 404 · 409</a:t>
            </a:r>
            <a:endParaRPr lang="en-US" sz="1100" dirty="0"/>
          </a:p>
        </p:txBody>
      </p:sp>
      <p:sp>
        <p:nvSpPr>
          <p:cNvPr id="36" name="[p1] Forma"/>
          <p:cNvSpPr/>
          <p:nvPr/>
        </p:nvSpPr>
        <p:spPr>
          <a:xfrm>
            <a:off x="2953512" y="3291840"/>
            <a:ext cx="210312" cy="72816"/>
          </a:xfrm>
          <a:prstGeom prst="line">
            <a:avLst/>
          </a:prstGeom>
          <a:noFill/>
          <a:ln w="28575">
            <a:solidFill>
              <a:srgbClr val="2E6DB4"/>
            </a:solidFill>
            <a:prstDash val="solid"/>
            <a:tailEnd type="triangle"/>
          </a:ln>
        </p:spPr>
      </p:sp>
      <p:sp>
        <p:nvSpPr>
          <p:cNvPr id="37" name="[p1] Forma"/>
          <p:cNvSpPr/>
          <p:nvPr/>
        </p:nvSpPr>
        <p:spPr>
          <a:xfrm flipV="1">
            <a:off x="2953512" y="4279728"/>
            <a:ext cx="210312" cy="72816"/>
          </a:xfrm>
          <a:prstGeom prst="line">
            <a:avLst/>
          </a:prstGeom>
          <a:noFill/>
          <a:ln w="28575">
            <a:solidFill>
              <a:srgbClr val="2E6DB4"/>
            </a:solidFill>
            <a:prstDash val="solid"/>
            <a:tailEnd type="triangle"/>
          </a:ln>
        </p:spPr>
      </p:sp>
      <p:sp>
        <p:nvSpPr>
          <p:cNvPr id="38" name="Shape 36"/>
          <p:cNvSpPr/>
          <p:nvPr/>
        </p:nvSpPr>
        <p:spPr>
          <a:xfrm>
            <a:off x="6092647" y="2825496"/>
            <a:ext cx="2606040" cy="566928"/>
          </a:xfrm>
          <a:prstGeom prst="roundRect">
            <a:avLst>
              <a:gd name="adj" fmla="val 12903"/>
            </a:avLst>
          </a:prstGeom>
          <a:solidFill>
            <a:srgbClr val="FFFFFF"/>
          </a:solidFill>
          <a:ln w="19050">
            <a:solidFill>
              <a:srgbClr val="2BA6CB"/>
            </a:solidFill>
            <a:prstDash val="dash"/>
          </a:ln>
        </p:spPr>
      </p:sp>
      <p:sp>
        <p:nvSpPr>
          <p:cNvPr id="39" name="Text 37"/>
          <p:cNvSpPr/>
          <p:nvPr/>
        </p:nvSpPr>
        <p:spPr>
          <a:xfrm>
            <a:off x="6165799" y="2825496"/>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Guardar solicitudes</a:t>
            </a:r>
            <a:endParaRPr lang="en-US" sz="850" dirty="0"/>
          </a:p>
        </p:txBody>
      </p:sp>
      <p:sp>
        <p:nvSpPr>
          <p:cNvPr id="40" name="Shape 38"/>
          <p:cNvSpPr/>
          <p:nvPr/>
        </p:nvSpPr>
        <p:spPr>
          <a:xfrm>
            <a:off x="5772607" y="3108960"/>
            <a:ext cx="301752" cy="0"/>
          </a:xfrm>
          <a:prstGeom prst="line">
            <a:avLst/>
          </a:prstGeom>
          <a:noFill/>
          <a:ln w="19050">
            <a:solidFill>
              <a:srgbClr val="2BA6CB"/>
            </a:solidFill>
            <a:prstDash val="solid"/>
            <a:tailEnd type="triangle"/>
          </a:ln>
        </p:spPr>
      </p:sp>
      <p:sp>
        <p:nvSpPr>
          <p:cNvPr id="41" name="Shape 39"/>
          <p:cNvSpPr/>
          <p:nvPr/>
        </p:nvSpPr>
        <p:spPr>
          <a:xfrm>
            <a:off x="6092647" y="3538728"/>
            <a:ext cx="2606040" cy="566928"/>
          </a:xfrm>
          <a:prstGeom prst="roundRect">
            <a:avLst>
              <a:gd name="adj" fmla="val 12903"/>
            </a:avLst>
          </a:prstGeom>
          <a:solidFill>
            <a:srgbClr val="FFFFFF"/>
          </a:solidFill>
          <a:ln w="19050">
            <a:solidFill>
              <a:srgbClr val="2BA6CB"/>
            </a:solidFill>
            <a:prstDash val="dash"/>
          </a:ln>
        </p:spPr>
      </p:sp>
      <p:sp>
        <p:nvSpPr>
          <p:cNvPr id="42" name="Text 40"/>
          <p:cNvSpPr/>
          <p:nvPr/>
        </p:nvSpPr>
        <p:spPr>
          <a:xfrm>
            <a:off x="6165799" y="3538728"/>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Anotar el evento</a:t>
            </a:r>
            <a:endParaRPr lang="en-US" sz="850" dirty="0"/>
          </a:p>
        </p:txBody>
      </p:sp>
      <p:sp>
        <p:nvSpPr>
          <p:cNvPr id="43" name="Shape 41"/>
          <p:cNvSpPr/>
          <p:nvPr/>
        </p:nvSpPr>
        <p:spPr>
          <a:xfrm>
            <a:off x="5772607" y="3822192"/>
            <a:ext cx="301752" cy="0"/>
          </a:xfrm>
          <a:prstGeom prst="line">
            <a:avLst/>
          </a:prstGeom>
          <a:noFill/>
          <a:ln w="19050">
            <a:solidFill>
              <a:srgbClr val="2BA6CB"/>
            </a:solidFill>
            <a:prstDash val="solid"/>
            <a:tailEnd type="triangle"/>
          </a:ln>
        </p:spPr>
      </p:sp>
      <p:sp>
        <p:nvSpPr>
          <p:cNvPr id="44" name="Shape 42"/>
          <p:cNvSpPr/>
          <p:nvPr/>
        </p:nvSpPr>
        <p:spPr>
          <a:xfrm>
            <a:off x="6092647" y="4251960"/>
            <a:ext cx="2606040" cy="566928"/>
          </a:xfrm>
          <a:prstGeom prst="roundRect">
            <a:avLst>
              <a:gd name="adj" fmla="val 12903"/>
            </a:avLst>
          </a:prstGeom>
          <a:solidFill>
            <a:srgbClr val="FFFFFF"/>
          </a:solidFill>
          <a:ln w="19050">
            <a:solidFill>
              <a:srgbClr val="2BA6CB"/>
            </a:solidFill>
            <a:prstDash val="dash"/>
          </a:ln>
        </p:spPr>
      </p:sp>
      <p:sp>
        <p:nvSpPr>
          <p:cNvPr id="45" name="Text 43"/>
          <p:cNvSpPr/>
          <p:nvPr/>
        </p:nvSpPr>
        <p:spPr>
          <a:xfrm>
            <a:off x="6165799" y="4251960"/>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Avisar a otros</a:t>
            </a:r>
            <a:endParaRPr lang="en-US" sz="850" dirty="0"/>
          </a:p>
        </p:txBody>
      </p:sp>
      <p:sp>
        <p:nvSpPr>
          <p:cNvPr id="46" name="Shape 44"/>
          <p:cNvSpPr/>
          <p:nvPr/>
        </p:nvSpPr>
        <p:spPr>
          <a:xfrm>
            <a:off x="5772607" y="4535424"/>
            <a:ext cx="301752" cy="0"/>
          </a:xfrm>
          <a:prstGeom prst="line">
            <a:avLst/>
          </a:prstGeom>
          <a:noFill/>
          <a:ln w="19050">
            <a:solidFill>
              <a:srgbClr val="2BA6CB"/>
            </a:solidFill>
            <a:prstDash val="solid"/>
            <a:tailEnd type="triangle"/>
          </a:ln>
        </p:spPr>
      </p:sp>
      <p:sp>
        <p:nvSpPr>
          <p:cNvPr id="47" name="[p2] Forma"/>
          <p:cNvSpPr/>
          <p:nvPr/>
        </p:nvSpPr>
        <p:spPr>
          <a:xfrm>
            <a:off x="9110167" y="2130552"/>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p2] Forma"/>
          <p:cNvSpPr/>
          <p:nvPr/>
        </p:nvSpPr>
        <p:spPr>
          <a:xfrm>
            <a:off x="9238183" y="2260854"/>
            <a:ext cx="475488" cy="475488"/>
          </a:xfrm>
          <a:prstGeom prst="ellipse">
            <a:avLst/>
          </a:prstGeom>
          <a:solidFill>
            <a:srgbClr val="E8EEF8"/>
          </a:solidFill>
          <a:ln w="12700">
            <a:solidFill>
              <a:srgbClr val="E8EEF8"/>
            </a:solidFill>
            <a:prstDash val="solid"/>
          </a:ln>
        </p:spPr>
      </p:sp>
      <p:sp>
        <p:nvSpPr>
          <p:cNvPr id="49" name="[p2] Icono database"/>
          <p:cNvSpPr/>
          <p:nvPr/>
        </p:nvSpPr>
        <p:spPr>
          <a:xfrm>
            <a:off x="9352300" y="2374971"/>
            <a:ext cx="247254" cy="247254"/>
          </a:xfrm>
          <a:custGeom>
            <a:avLst/>
            <a:gdLst/>
            <a:ahLst/>
            <a:cxnLst/>
            <a:rect l="l" t="t" r="r" b="b"/>
            <a:pathLst>
              <a:path w="247254" h="247254">
                <a:moveTo>
                  <a:pt x="216347" y="51511"/>
                </a:moveTo>
                <a:cubicBezTo>
                  <a:pt x="216347" y="68581"/>
                  <a:pt x="174835" y="82418"/>
                  <a:pt x="123627" y="82418"/>
                </a:cubicBezTo>
                <a:cubicBezTo>
                  <a:pt x="72419" y="82418"/>
                  <a:pt x="30907" y="68581"/>
                  <a:pt x="30907" y="51511"/>
                </a:cubicBezTo>
                <a:cubicBezTo>
                  <a:pt x="30907" y="34442"/>
                  <a:pt x="72419" y="20604"/>
                  <a:pt x="123627" y="20604"/>
                </a:cubicBezTo>
                <a:cubicBezTo>
                  <a:pt x="174835" y="20604"/>
                  <a:pt x="216347" y="34442"/>
                  <a:pt x="216347" y="51511"/>
                </a:cubicBezTo>
                <a:close/>
                <a:moveTo>
                  <a:pt x="30907" y="51511"/>
                </a:moveTo>
                <a:lnTo>
                  <a:pt x="30907" y="195743"/>
                </a:lnTo>
                <a:cubicBezTo>
                  <a:pt x="30907" y="212812"/>
                  <a:pt x="72419" y="226649"/>
                  <a:pt x="123627" y="226649"/>
                </a:cubicBezTo>
                <a:cubicBezTo>
                  <a:pt x="174835" y="226649"/>
                  <a:pt x="216347" y="212812"/>
                  <a:pt x="216347" y="195743"/>
                </a:cubicBezTo>
                <a:lnTo>
                  <a:pt x="216347" y="51511"/>
                </a:lnTo>
                <a:moveTo>
                  <a:pt x="30907" y="123627"/>
                </a:moveTo>
                <a:cubicBezTo>
                  <a:pt x="30907" y="140696"/>
                  <a:pt x="72419" y="154534"/>
                  <a:pt x="123627" y="154534"/>
                </a:cubicBezTo>
                <a:cubicBezTo>
                  <a:pt x="174835" y="154534"/>
                  <a:pt x="216347" y="140696"/>
                  <a:pt x="216347" y="123627"/>
                </a:cubicBezTo>
              </a:path>
            </a:pathLst>
          </a:custGeom>
          <a:noFill/>
          <a:ln w="20604" cap="rnd">
            <a:solidFill>
              <a:srgbClr val="0B2350"/>
            </a:solidFill>
            <a:prstDash val="solid"/>
            <a:round/>
          </a:ln>
        </p:spPr>
      </p:sp>
      <p:sp>
        <p:nvSpPr>
          <p:cNvPr id="50" name="[p2] Forma"/>
          <p:cNvSpPr/>
          <p:nvPr/>
        </p:nvSpPr>
        <p:spPr>
          <a:xfrm>
            <a:off x="9823399" y="2203704"/>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2350"/>
                </a:solidFill>
                <a:latin typeface="Segoe UI Semibold" pitchFamily="34" charset="0"/>
                <a:ea typeface="Segoe UI Semibold" pitchFamily="34" charset="-122"/>
                <a:cs typeface="Segoe UI Semibold" pitchFamily="34" charset="-120"/>
              </a:rPr>
              <a:t>PostgreSQL</a:t>
            </a:r>
            <a:endParaRPr lang="en-US" sz="1350" dirty="0"/>
          </a:p>
        </p:txBody>
      </p:sp>
      <p:sp>
        <p:nvSpPr>
          <p:cNvPr id="51" name="[p2] Forma"/>
          <p:cNvSpPr/>
          <p:nvPr/>
        </p:nvSpPr>
        <p:spPr>
          <a:xfrm>
            <a:off x="9823399" y="2516886"/>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Con el ORM</a:t>
            </a:r>
            <a:endParaRPr lang="en-US" sz="1100" dirty="0"/>
          </a:p>
        </p:txBody>
      </p:sp>
      <p:sp>
        <p:nvSpPr>
          <p:cNvPr id="52" name="[p2] Forma"/>
          <p:cNvSpPr/>
          <p:nvPr/>
        </p:nvSpPr>
        <p:spPr>
          <a:xfrm>
            <a:off x="9110167" y="3012948"/>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3" name="[p2] Forma"/>
          <p:cNvSpPr/>
          <p:nvPr/>
        </p:nvSpPr>
        <p:spPr>
          <a:xfrm>
            <a:off x="9238183" y="3143250"/>
            <a:ext cx="475488" cy="475488"/>
          </a:xfrm>
          <a:prstGeom prst="ellipse">
            <a:avLst/>
          </a:prstGeom>
          <a:solidFill>
            <a:srgbClr val="E8EEF8"/>
          </a:solidFill>
          <a:ln w="12700">
            <a:solidFill>
              <a:srgbClr val="E8EEF8"/>
            </a:solidFill>
            <a:prstDash val="solid"/>
          </a:ln>
        </p:spPr>
      </p:sp>
      <p:sp>
        <p:nvSpPr>
          <p:cNvPr id="54" name="[p2] Icono inbox"/>
          <p:cNvSpPr/>
          <p:nvPr/>
        </p:nvSpPr>
        <p:spPr>
          <a:xfrm>
            <a:off x="9352300" y="3257367"/>
            <a:ext cx="247254" cy="247254"/>
          </a:xfrm>
          <a:custGeom>
            <a:avLst/>
            <a:gdLst/>
            <a:ahLst/>
            <a:cxnLst/>
            <a:rect l="l" t="t" r="r" b="b"/>
            <a:pathLst>
              <a:path w="247254" h="247254">
                <a:moveTo>
                  <a:pt x="226649" y="123627"/>
                </a:moveTo>
                <a:lnTo>
                  <a:pt x="164836" y="123627"/>
                </a:lnTo>
                <a:lnTo>
                  <a:pt x="144231" y="154534"/>
                </a:lnTo>
                <a:lnTo>
                  <a:pt x="103022" y="154534"/>
                </a:lnTo>
                <a:lnTo>
                  <a:pt x="82418" y="123627"/>
                </a:lnTo>
                <a:lnTo>
                  <a:pt x="20604" y="123627"/>
                </a:lnTo>
                <a:moveTo>
                  <a:pt x="56147" y="52644"/>
                </a:moveTo>
                <a:lnTo>
                  <a:pt x="20604" y="123627"/>
                </a:lnTo>
                <a:lnTo>
                  <a:pt x="20604" y="185440"/>
                </a:lnTo>
                <a:cubicBezTo>
                  <a:pt x="20604" y="196820"/>
                  <a:pt x="29829" y="206045"/>
                  <a:pt x="41209" y="206045"/>
                </a:cubicBezTo>
                <a:lnTo>
                  <a:pt x="206045" y="206045"/>
                </a:lnTo>
                <a:cubicBezTo>
                  <a:pt x="217424" y="206045"/>
                  <a:pt x="226649" y="196820"/>
                  <a:pt x="226649" y="185440"/>
                </a:cubicBezTo>
                <a:lnTo>
                  <a:pt x="226649" y="123627"/>
                </a:lnTo>
                <a:lnTo>
                  <a:pt x="191107" y="52644"/>
                </a:lnTo>
                <a:cubicBezTo>
                  <a:pt x="187627" y="45642"/>
                  <a:pt x="180484" y="41213"/>
                  <a:pt x="172666" y="41209"/>
                </a:cubicBezTo>
                <a:lnTo>
                  <a:pt x="74588" y="41209"/>
                </a:lnTo>
                <a:cubicBezTo>
                  <a:pt x="66769" y="41213"/>
                  <a:pt x="59627" y="45642"/>
                  <a:pt x="56147" y="52644"/>
                </a:cubicBezTo>
                <a:close/>
              </a:path>
            </a:pathLst>
          </a:custGeom>
          <a:noFill/>
          <a:ln w="20604" cap="rnd">
            <a:solidFill>
              <a:srgbClr val="0B2350"/>
            </a:solidFill>
            <a:prstDash val="solid"/>
            <a:round/>
          </a:ln>
        </p:spPr>
      </p:sp>
      <p:sp>
        <p:nvSpPr>
          <p:cNvPr id="55" name="[p2] Forma"/>
          <p:cNvSpPr/>
          <p:nvPr/>
        </p:nvSpPr>
        <p:spPr>
          <a:xfrm>
            <a:off x="9823399" y="3086100"/>
            <a:ext cx="1682496" cy="331470"/>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Bandeja de salida</a:t>
            </a:r>
            <a:endParaRPr lang="en-US" sz="1300" dirty="0"/>
          </a:p>
        </p:txBody>
      </p:sp>
      <p:sp>
        <p:nvSpPr>
          <p:cNvPr id="56" name="[p2] Forma"/>
          <p:cNvSpPr/>
          <p:nvPr/>
        </p:nvSpPr>
        <p:spPr>
          <a:xfrm>
            <a:off x="9823399" y="3399282"/>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Tabla evento</a:t>
            </a:r>
            <a:endParaRPr lang="en-US" sz="1100" dirty="0"/>
          </a:p>
        </p:txBody>
      </p:sp>
      <p:sp>
        <p:nvSpPr>
          <p:cNvPr id="57" name="[p2] Forma"/>
          <p:cNvSpPr/>
          <p:nvPr/>
        </p:nvSpPr>
        <p:spPr>
          <a:xfrm>
            <a:off x="9110167" y="3895344"/>
            <a:ext cx="2468880" cy="736092"/>
          </a:xfrm>
          <a:prstGeom prst="roundRect">
            <a:avLst>
              <a:gd name="adj" fmla="val 17391"/>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8" name="[p2] Forma"/>
          <p:cNvSpPr/>
          <p:nvPr/>
        </p:nvSpPr>
        <p:spPr>
          <a:xfrm>
            <a:off x="9238183" y="4025646"/>
            <a:ext cx="475488" cy="475488"/>
          </a:xfrm>
          <a:prstGeom prst="ellipse">
            <a:avLst/>
          </a:prstGeom>
          <a:solidFill>
            <a:srgbClr val="E3F4FA"/>
          </a:solidFill>
          <a:ln w="12700">
            <a:solidFill>
              <a:srgbClr val="E3F4FA"/>
            </a:solidFill>
            <a:prstDash val="solid"/>
          </a:ln>
        </p:spPr>
      </p:sp>
      <p:sp>
        <p:nvSpPr>
          <p:cNvPr id="59" name="[p2] Icono send"/>
          <p:cNvSpPr/>
          <p:nvPr/>
        </p:nvSpPr>
        <p:spPr>
          <a:xfrm>
            <a:off x="9352300" y="4139763"/>
            <a:ext cx="247254" cy="247254"/>
          </a:xfrm>
          <a:custGeom>
            <a:avLst/>
            <a:gdLst/>
            <a:ahLst/>
            <a:cxnLst/>
            <a:rect l="l" t="t" r="r" b="b"/>
            <a:pathLst>
              <a:path w="247254" h="247254">
                <a:moveTo>
                  <a:pt x="149753" y="223414"/>
                </a:moveTo>
                <a:cubicBezTo>
                  <a:pt x="150555" y="225412"/>
                  <a:pt x="152514" y="226701"/>
                  <a:pt x="154666" y="226646"/>
                </a:cubicBezTo>
                <a:cubicBezTo>
                  <a:pt x="156818" y="226590"/>
                  <a:pt x="158708" y="225203"/>
                  <a:pt x="159407" y="223167"/>
                </a:cubicBezTo>
                <a:lnTo>
                  <a:pt x="226371" y="27425"/>
                </a:lnTo>
                <a:cubicBezTo>
                  <a:pt x="227044" y="25561"/>
                  <a:pt x="226579" y="23476"/>
                  <a:pt x="225178" y="22075"/>
                </a:cubicBezTo>
                <a:cubicBezTo>
                  <a:pt x="223777" y="20674"/>
                  <a:pt x="221693" y="20210"/>
                  <a:pt x="219829" y="20883"/>
                </a:cubicBezTo>
                <a:lnTo>
                  <a:pt x="24087" y="87847"/>
                </a:lnTo>
                <a:cubicBezTo>
                  <a:pt x="22051" y="88545"/>
                  <a:pt x="20663" y="90436"/>
                  <a:pt x="20608" y="92588"/>
                </a:cubicBezTo>
                <a:cubicBezTo>
                  <a:pt x="20553" y="94740"/>
                  <a:pt x="21842" y="96699"/>
                  <a:pt x="23839" y="97500"/>
                </a:cubicBezTo>
                <a:lnTo>
                  <a:pt x="105536" y="130262"/>
                </a:lnTo>
                <a:cubicBezTo>
                  <a:pt x="110755" y="132351"/>
                  <a:pt x="114893" y="136482"/>
                  <a:pt x="116992" y="141697"/>
                </a:cubicBezTo>
                <a:close/>
                <a:moveTo>
                  <a:pt x="225145" y="22119"/>
                </a:moveTo>
                <a:lnTo>
                  <a:pt x="112439" y="134815"/>
                </a:lnTo>
              </a:path>
            </a:pathLst>
          </a:custGeom>
          <a:noFill/>
          <a:ln w="20604" cap="rnd">
            <a:solidFill>
              <a:srgbClr val="0B6E8A"/>
            </a:solidFill>
            <a:prstDash val="solid"/>
            <a:round/>
          </a:ln>
        </p:spPr>
      </p:sp>
      <p:sp>
        <p:nvSpPr>
          <p:cNvPr id="60" name="[p2] Forma"/>
          <p:cNvSpPr/>
          <p:nvPr/>
        </p:nvSpPr>
        <p:spPr>
          <a:xfrm>
            <a:off x="9823399" y="3968496"/>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6E8A"/>
                </a:solidFill>
                <a:latin typeface="Segoe UI Semibold" pitchFamily="34" charset="0"/>
                <a:ea typeface="Segoe UI Semibold" pitchFamily="34" charset="-122"/>
                <a:cs typeface="Segoe UI Semibold" pitchFamily="34" charset="-120"/>
              </a:rPr>
              <a:t>HTTP</a:t>
            </a:r>
            <a:endParaRPr lang="en-US" sz="1350" dirty="0"/>
          </a:p>
        </p:txBody>
      </p:sp>
      <p:sp>
        <p:nvSpPr>
          <p:cNvPr id="61" name="[p2] Forma"/>
          <p:cNvSpPr/>
          <p:nvPr/>
        </p:nvSpPr>
        <p:spPr>
          <a:xfrm>
            <a:off x="9823399" y="4281678"/>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Hacia notificaciones</a:t>
            </a:r>
            <a:endParaRPr lang="en-US" sz="1100" dirty="0"/>
          </a:p>
        </p:txBody>
      </p:sp>
      <p:sp>
        <p:nvSpPr>
          <p:cNvPr id="62" name="[p2] Forma"/>
          <p:cNvSpPr/>
          <p:nvPr/>
        </p:nvSpPr>
        <p:spPr>
          <a:xfrm>
            <a:off x="9110167" y="4777740"/>
            <a:ext cx="2468880" cy="736092"/>
          </a:xfrm>
          <a:prstGeom prst="roundRect">
            <a:avLst>
              <a:gd name="adj" fmla="val 17391"/>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3" name="[p2] Forma"/>
          <p:cNvSpPr/>
          <p:nvPr/>
        </p:nvSpPr>
        <p:spPr>
          <a:xfrm>
            <a:off x="9238183" y="4908042"/>
            <a:ext cx="475488" cy="475488"/>
          </a:xfrm>
          <a:prstGeom prst="ellipse">
            <a:avLst/>
          </a:prstGeom>
          <a:solidFill>
            <a:srgbClr val="F4F7FB"/>
          </a:solidFill>
          <a:ln w="12700">
            <a:solidFill>
              <a:srgbClr val="F4F7FB"/>
            </a:solidFill>
            <a:prstDash val="solid"/>
          </a:ln>
        </p:spPr>
      </p:sp>
      <p:sp>
        <p:nvSpPr>
          <p:cNvPr id="64" name="[p2] Icono flask-conical"/>
          <p:cNvSpPr/>
          <p:nvPr/>
        </p:nvSpPr>
        <p:spPr>
          <a:xfrm>
            <a:off x="9352300" y="5022159"/>
            <a:ext cx="247254" cy="247254"/>
          </a:xfrm>
          <a:custGeom>
            <a:avLst/>
            <a:gdLst/>
            <a:ahLst/>
            <a:cxnLst/>
            <a:rect l="l" t="t" r="r" b="b"/>
            <a:pathLst>
              <a:path w="247254" h="247254">
                <a:moveTo>
                  <a:pt x="144231" y="20604"/>
                </a:moveTo>
                <a:lnTo>
                  <a:pt x="144231" y="82418"/>
                </a:lnTo>
                <a:cubicBezTo>
                  <a:pt x="144230" y="85874"/>
                  <a:pt x="145098" y="89275"/>
                  <a:pt x="146755" y="92308"/>
                </a:cubicBezTo>
                <a:lnTo>
                  <a:pt x="203521" y="196155"/>
                </a:lnTo>
                <a:cubicBezTo>
                  <a:pt x="207014" y="202539"/>
                  <a:pt x="206880" y="210293"/>
                  <a:pt x="203169" y="216553"/>
                </a:cubicBezTo>
                <a:cubicBezTo>
                  <a:pt x="199457" y="222813"/>
                  <a:pt x="192718" y="226651"/>
                  <a:pt x="185440" y="226649"/>
                </a:cubicBezTo>
                <a:lnTo>
                  <a:pt x="61813" y="226649"/>
                </a:lnTo>
                <a:cubicBezTo>
                  <a:pt x="54536" y="226651"/>
                  <a:pt x="47797" y="222813"/>
                  <a:pt x="44085" y="216553"/>
                </a:cubicBezTo>
                <a:cubicBezTo>
                  <a:pt x="40374" y="210293"/>
                  <a:pt x="40240" y="202539"/>
                  <a:pt x="43733" y="196155"/>
                </a:cubicBezTo>
                <a:lnTo>
                  <a:pt x="100498" y="92308"/>
                </a:lnTo>
                <a:cubicBezTo>
                  <a:pt x="102156" y="89275"/>
                  <a:pt x="103024" y="85874"/>
                  <a:pt x="103022" y="82418"/>
                </a:cubicBezTo>
                <a:lnTo>
                  <a:pt x="103022" y="20604"/>
                </a:lnTo>
                <a:moveTo>
                  <a:pt x="66480" y="154534"/>
                </a:moveTo>
                <a:lnTo>
                  <a:pt x="180773" y="154534"/>
                </a:lnTo>
                <a:moveTo>
                  <a:pt x="87569" y="20604"/>
                </a:moveTo>
                <a:lnTo>
                  <a:pt x="159685" y="20604"/>
                </a:lnTo>
              </a:path>
            </a:pathLst>
          </a:custGeom>
          <a:noFill/>
          <a:ln w="20604" cap="rnd">
            <a:solidFill>
              <a:srgbClr val="55627E"/>
            </a:solidFill>
            <a:prstDash val="solid"/>
            <a:round/>
          </a:ln>
        </p:spPr>
      </p:sp>
      <p:sp>
        <p:nvSpPr>
          <p:cNvPr id="65" name="[p2] Forma"/>
          <p:cNvSpPr/>
          <p:nvPr/>
        </p:nvSpPr>
        <p:spPr>
          <a:xfrm>
            <a:off x="9823399" y="4850892"/>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55627E"/>
                </a:solidFill>
                <a:latin typeface="Segoe UI Semibold" pitchFamily="34" charset="0"/>
                <a:ea typeface="Segoe UI Semibold" pitchFamily="34" charset="-122"/>
                <a:cs typeface="Segoe UI Semibold" pitchFamily="34" charset="-120"/>
              </a:rPr>
              <a:t>En memoria</a:t>
            </a:r>
            <a:endParaRPr lang="en-US" sz="1350" dirty="0"/>
          </a:p>
        </p:txBody>
      </p:sp>
      <p:sp>
        <p:nvSpPr>
          <p:cNvPr id="66" name="[p2] Forma"/>
          <p:cNvSpPr/>
          <p:nvPr/>
        </p:nvSpPr>
        <p:spPr>
          <a:xfrm>
            <a:off x="9823399" y="5164074"/>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Para las pruebas</a:t>
            </a:r>
            <a:endParaRPr lang="en-US" sz="1100" dirty="0"/>
          </a:p>
        </p:txBody>
      </p:sp>
      <p:sp>
        <p:nvSpPr>
          <p:cNvPr id="67" name="[p2] Forma"/>
          <p:cNvSpPr/>
          <p:nvPr/>
        </p:nvSpPr>
        <p:spPr>
          <a:xfrm flipH="1">
            <a:off x="8753551" y="2498598"/>
            <a:ext cx="301752" cy="418338"/>
          </a:xfrm>
          <a:prstGeom prst="line">
            <a:avLst/>
          </a:prstGeom>
          <a:noFill/>
          <a:ln w="19050">
            <a:solidFill>
              <a:srgbClr val="55627E"/>
            </a:solidFill>
            <a:prstDash val="dash"/>
            <a:tailEnd type="triangle"/>
          </a:ln>
        </p:spPr>
      </p:sp>
      <p:sp>
        <p:nvSpPr>
          <p:cNvPr id="68" name="[p2] Forma"/>
          <p:cNvSpPr/>
          <p:nvPr/>
        </p:nvSpPr>
        <p:spPr>
          <a:xfrm flipH="1">
            <a:off x="8753551" y="3380994"/>
            <a:ext cx="301752" cy="0"/>
          </a:xfrm>
          <a:prstGeom prst="line">
            <a:avLst/>
          </a:prstGeom>
          <a:noFill/>
          <a:ln w="19050">
            <a:solidFill>
              <a:srgbClr val="55627E"/>
            </a:solidFill>
            <a:prstDash val="dash"/>
            <a:tailEnd type="triangle"/>
          </a:ln>
        </p:spPr>
      </p:sp>
      <p:sp>
        <p:nvSpPr>
          <p:cNvPr id="69" name="[p2] Forma"/>
          <p:cNvSpPr/>
          <p:nvPr/>
        </p:nvSpPr>
        <p:spPr>
          <a:xfrm flipH="1">
            <a:off x="8753551" y="4263390"/>
            <a:ext cx="301752" cy="0"/>
          </a:xfrm>
          <a:prstGeom prst="line">
            <a:avLst/>
          </a:prstGeom>
          <a:noFill/>
          <a:ln w="19050">
            <a:solidFill>
              <a:srgbClr val="55627E"/>
            </a:solidFill>
            <a:prstDash val="dash"/>
            <a:tailEnd type="triangle"/>
          </a:ln>
        </p:spPr>
      </p:sp>
      <p:sp>
        <p:nvSpPr>
          <p:cNvPr id="70" name="[p2] Forma"/>
          <p:cNvSpPr/>
          <p:nvPr/>
        </p:nvSpPr>
        <p:spPr>
          <a:xfrm flipH="1" flipV="1">
            <a:off x="8753551" y="4727448"/>
            <a:ext cx="301752" cy="418338"/>
          </a:xfrm>
          <a:prstGeom prst="line">
            <a:avLst/>
          </a:prstGeom>
          <a:noFill/>
          <a:ln w="19050">
            <a:solidFill>
              <a:srgbClr val="55627E"/>
            </a:solidFill>
            <a:prstDash val="dash"/>
            <a:tailEnd type="triangle"/>
          </a:ln>
        </p:spPr>
      </p:sp>
      <p:sp>
        <p:nvSpPr>
          <p:cNvPr id="71" name="Text 6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00"/>
                                        <p:tgtEl>
                                          <p:spTgt spid="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400"/>
                                        <p:tgtEl>
                                          <p:spTgt spid="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400"/>
                                        <p:tgtEl>
                                          <p:spTgt spid="37"/>
                                        </p:tgtEl>
                                      </p:cBhvr>
                                    </p:animEffect>
                                  </p:childTnLst>
                                </p:cTn>
                              </p:par>
                            </p:childTnLst>
                          </p:cTn>
                        </p:par>
                      </p:childTnLst>
                    </p:cTn>
                  </p:par>
                  <p:par>
                    <p:cTn id="113" fill="hold">
                      <p:stCondLst>
                        <p:cond delay="indefinite"/>
                      </p:stCondLst>
                      <p:childTnLst>
                        <p:par>
                          <p:cTn id="114"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400"/>
                                        <p:tgtEl>
                                          <p:spTgt spid="4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400"/>
                                        <p:tgtEl>
                                          <p:spTgt spid="4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400"/>
                                        <p:tgtEl>
                                          <p:spTgt spid="4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400"/>
                                        <p:tgtEl>
                                          <p:spTgt spid="5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fade">
                                      <p:cBhvr>
                                        <p:cTn id="55" dur="400"/>
                                        <p:tgtEl>
                                          <p:spTgt spid="5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fade">
                                      <p:cBhvr>
                                        <p:cTn id="58" dur="400"/>
                                        <p:tgtEl>
                                          <p:spTgt spid="5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400"/>
                                        <p:tgtEl>
                                          <p:spTgt spid="5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fade">
                                      <p:cBhvr>
                                        <p:cTn id="64" dur="400"/>
                                        <p:tgtEl>
                                          <p:spTgt spid="5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400"/>
                                        <p:tgtEl>
                                          <p:spTgt spid="5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6"/>
                                        </p:tgtEl>
                                        <p:attrNameLst>
                                          <p:attrName>style.visibility</p:attrName>
                                        </p:attrNameLst>
                                      </p:cBhvr>
                                      <p:to>
                                        <p:strVal val="visible"/>
                                      </p:to>
                                    </p:set>
                                    <p:animEffect transition="in" filter="fade">
                                      <p:cBhvr>
                                        <p:cTn id="70" dur="400"/>
                                        <p:tgtEl>
                                          <p:spTgt spid="5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7"/>
                                        </p:tgtEl>
                                        <p:attrNameLst>
                                          <p:attrName>style.visibility</p:attrName>
                                        </p:attrNameLst>
                                      </p:cBhvr>
                                      <p:to>
                                        <p:strVal val="visible"/>
                                      </p:to>
                                    </p:set>
                                    <p:animEffect transition="in" filter="fade">
                                      <p:cBhvr>
                                        <p:cTn id="73" dur="400"/>
                                        <p:tgtEl>
                                          <p:spTgt spid="5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8"/>
                                        </p:tgtEl>
                                        <p:attrNameLst>
                                          <p:attrName>style.visibility</p:attrName>
                                        </p:attrNameLst>
                                      </p:cBhvr>
                                      <p:to>
                                        <p:strVal val="visible"/>
                                      </p:to>
                                    </p:set>
                                    <p:animEffect transition="in" filter="fade">
                                      <p:cBhvr>
                                        <p:cTn id="76" dur="400"/>
                                        <p:tgtEl>
                                          <p:spTgt spid="5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fade">
                                      <p:cBhvr>
                                        <p:cTn id="79" dur="400"/>
                                        <p:tgtEl>
                                          <p:spTgt spid="5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60"/>
                                        </p:tgtEl>
                                        <p:attrNameLst>
                                          <p:attrName>style.visibility</p:attrName>
                                        </p:attrNameLst>
                                      </p:cBhvr>
                                      <p:to>
                                        <p:strVal val="visible"/>
                                      </p:to>
                                    </p:set>
                                    <p:animEffect transition="in" filter="fade">
                                      <p:cBhvr>
                                        <p:cTn id="82" dur="400"/>
                                        <p:tgtEl>
                                          <p:spTgt spid="6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400"/>
                                        <p:tgtEl>
                                          <p:spTgt spid="6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2"/>
                                        </p:tgtEl>
                                        <p:attrNameLst>
                                          <p:attrName>style.visibility</p:attrName>
                                        </p:attrNameLst>
                                      </p:cBhvr>
                                      <p:to>
                                        <p:strVal val="visible"/>
                                      </p:to>
                                    </p:set>
                                    <p:animEffect transition="in" filter="fade">
                                      <p:cBhvr>
                                        <p:cTn id="88" dur="400"/>
                                        <p:tgtEl>
                                          <p:spTgt spid="6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3"/>
                                        </p:tgtEl>
                                        <p:attrNameLst>
                                          <p:attrName>style.visibility</p:attrName>
                                        </p:attrNameLst>
                                      </p:cBhvr>
                                      <p:to>
                                        <p:strVal val="visible"/>
                                      </p:to>
                                    </p:set>
                                    <p:animEffect transition="in" filter="fade">
                                      <p:cBhvr>
                                        <p:cTn id="91" dur="400"/>
                                        <p:tgtEl>
                                          <p:spTgt spid="6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400"/>
                                        <p:tgtEl>
                                          <p:spTgt spid="6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5"/>
                                        </p:tgtEl>
                                        <p:attrNameLst>
                                          <p:attrName>style.visibility</p:attrName>
                                        </p:attrNameLst>
                                      </p:cBhvr>
                                      <p:to>
                                        <p:strVal val="visible"/>
                                      </p:to>
                                    </p:set>
                                    <p:animEffect transition="in" filter="fade">
                                      <p:cBhvr>
                                        <p:cTn id="97" dur="400"/>
                                        <p:tgtEl>
                                          <p:spTgt spid="6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6"/>
                                        </p:tgtEl>
                                        <p:attrNameLst>
                                          <p:attrName>style.visibility</p:attrName>
                                        </p:attrNameLst>
                                      </p:cBhvr>
                                      <p:to>
                                        <p:strVal val="visible"/>
                                      </p:to>
                                    </p:set>
                                    <p:animEffect transition="in" filter="fade">
                                      <p:cBhvr>
                                        <p:cTn id="100" dur="400"/>
                                        <p:tgtEl>
                                          <p:spTgt spid="6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7"/>
                                        </p:tgtEl>
                                        <p:attrNameLst>
                                          <p:attrName>style.visibility</p:attrName>
                                        </p:attrNameLst>
                                      </p:cBhvr>
                                      <p:to>
                                        <p:strVal val="visible"/>
                                      </p:to>
                                    </p:set>
                                    <p:animEffect transition="in" filter="fade">
                                      <p:cBhvr>
                                        <p:cTn id="103" dur="400"/>
                                        <p:tgtEl>
                                          <p:spTgt spid="6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8"/>
                                        </p:tgtEl>
                                        <p:attrNameLst>
                                          <p:attrName>style.visibility</p:attrName>
                                        </p:attrNameLst>
                                      </p:cBhvr>
                                      <p:to>
                                        <p:strVal val="visible"/>
                                      </p:to>
                                    </p:set>
                                    <p:animEffect transition="in" filter="fade">
                                      <p:cBhvr>
                                        <p:cTn id="106" dur="400"/>
                                        <p:tgtEl>
                                          <p:spTgt spid="6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9"/>
                                        </p:tgtEl>
                                        <p:attrNameLst>
                                          <p:attrName>style.visibility</p:attrName>
                                        </p:attrNameLst>
                                      </p:cBhvr>
                                      <p:to>
                                        <p:strVal val="visible"/>
                                      </p:to>
                                    </p:set>
                                    <p:animEffect transition="in" filter="fade">
                                      <p:cBhvr>
                                        <p:cTn id="109" dur="400"/>
                                        <p:tgtEl>
                                          <p:spTgt spid="6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0"/>
                                        </p:tgtEl>
                                        <p:attrNameLst>
                                          <p:attrName>style.visibility</p:attrName>
                                        </p:attrNameLst>
                                      </p:cBhvr>
                                      <p:to>
                                        <p:strVal val="visible"/>
                                      </p:to>
                                    </p:set>
                                    <p:animEffect transition="in" filter="fade">
                                      <p:cBhvr>
                                        <p:cTn id="11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Arquitectura: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network"/>
          <p:cNvSpPr/>
          <p:nvPr/>
        </p:nvSpPr>
        <p:spPr>
          <a:xfrm>
            <a:off x="1058144" y="1817096"/>
            <a:ext cx="370881" cy="370881"/>
          </a:xfrm>
          <a:custGeom>
            <a:avLst/>
            <a:gdLst/>
            <a:ahLst/>
            <a:cxnLst/>
            <a:rect l="l" t="t" r="r" b="b"/>
            <a:pathLst>
              <a:path w="370881" h="370881">
                <a:moveTo>
                  <a:pt x="262707" y="247254"/>
                </a:moveTo>
                <a:lnTo>
                  <a:pt x="324521" y="247254"/>
                </a:lnTo>
                <a:cubicBezTo>
                  <a:pt x="333055" y="247254"/>
                  <a:pt x="339974" y="254172"/>
                  <a:pt x="339974" y="262707"/>
                </a:cubicBezTo>
                <a:lnTo>
                  <a:pt x="339974" y="324521"/>
                </a:lnTo>
                <a:cubicBezTo>
                  <a:pt x="339974" y="333055"/>
                  <a:pt x="333055" y="339974"/>
                  <a:pt x="324521" y="339974"/>
                </a:cubicBezTo>
                <a:lnTo>
                  <a:pt x="262707" y="339974"/>
                </a:lnTo>
                <a:cubicBezTo>
                  <a:pt x="254172" y="339974"/>
                  <a:pt x="247254" y="333055"/>
                  <a:pt x="247254" y="324521"/>
                </a:cubicBezTo>
                <a:lnTo>
                  <a:pt x="247254" y="262707"/>
                </a:lnTo>
                <a:cubicBezTo>
                  <a:pt x="247254" y="254172"/>
                  <a:pt x="254172" y="247254"/>
                  <a:pt x="262707" y="247254"/>
                </a:cubicBezTo>
                <a:close/>
                <a:moveTo>
                  <a:pt x="46360" y="247254"/>
                </a:moveTo>
                <a:lnTo>
                  <a:pt x="108174" y="247254"/>
                </a:lnTo>
                <a:cubicBezTo>
                  <a:pt x="116708" y="247254"/>
                  <a:pt x="123627" y="254172"/>
                  <a:pt x="123627" y="262707"/>
                </a:cubicBezTo>
                <a:lnTo>
                  <a:pt x="123627" y="324521"/>
                </a:lnTo>
                <a:cubicBezTo>
                  <a:pt x="123627" y="333055"/>
                  <a:pt x="116708" y="339974"/>
                  <a:pt x="108174" y="339974"/>
                </a:cubicBezTo>
                <a:lnTo>
                  <a:pt x="46360" y="339974"/>
                </a:lnTo>
                <a:cubicBezTo>
                  <a:pt x="37825" y="339974"/>
                  <a:pt x="30907" y="333055"/>
                  <a:pt x="30907" y="324521"/>
                </a:cubicBezTo>
                <a:lnTo>
                  <a:pt x="30907" y="262707"/>
                </a:lnTo>
                <a:cubicBezTo>
                  <a:pt x="30907" y="254172"/>
                  <a:pt x="37825" y="247254"/>
                  <a:pt x="46360" y="247254"/>
                </a:cubicBezTo>
                <a:close/>
                <a:moveTo>
                  <a:pt x="154534" y="30907"/>
                </a:moveTo>
                <a:lnTo>
                  <a:pt x="216347" y="30907"/>
                </a:lnTo>
                <a:cubicBezTo>
                  <a:pt x="224882" y="30907"/>
                  <a:pt x="231800" y="37825"/>
                  <a:pt x="231800" y="46360"/>
                </a:cubicBezTo>
                <a:lnTo>
                  <a:pt x="231800" y="108174"/>
                </a:lnTo>
                <a:cubicBezTo>
                  <a:pt x="231800" y="116708"/>
                  <a:pt x="224882" y="123627"/>
                  <a:pt x="216347" y="123627"/>
                </a:cubicBezTo>
                <a:lnTo>
                  <a:pt x="154534" y="123627"/>
                </a:lnTo>
                <a:cubicBezTo>
                  <a:pt x="145999" y="123627"/>
                  <a:pt x="139080" y="116708"/>
                  <a:pt x="139080" y="108174"/>
                </a:cubicBezTo>
                <a:lnTo>
                  <a:pt x="139080" y="46360"/>
                </a:lnTo>
                <a:cubicBezTo>
                  <a:pt x="139080" y="37825"/>
                  <a:pt x="145999" y="30907"/>
                  <a:pt x="154534" y="30907"/>
                </a:cubicBezTo>
                <a:close/>
                <a:moveTo>
                  <a:pt x="77267" y="247254"/>
                </a:moveTo>
                <a:lnTo>
                  <a:pt x="77267" y="200894"/>
                </a:lnTo>
                <a:cubicBezTo>
                  <a:pt x="77267" y="192359"/>
                  <a:pt x="84186" y="185440"/>
                  <a:pt x="92720" y="185440"/>
                </a:cubicBezTo>
                <a:lnTo>
                  <a:pt x="278160" y="185440"/>
                </a:lnTo>
                <a:cubicBezTo>
                  <a:pt x="286695" y="185440"/>
                  <a:pt x="293614" y="192359"/>
                  <a:pt x="293614" y="200894"/>
                </a:cubicBezTo>
                <a:lnTo>
                  <a:pt x="293614" y="247254"/>
                </a:lnTo>
                <a:moveTo>
                  <a:pt x="185440" y="185440"/>
                </a:moveTo>
                <a:lnTo>
                  <a:pt x="185440" y="123627"/>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servicios, cada uno con su base</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tablas compartidas entre servicios</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database"/>
          <p:cNvSpPr/>
          <p:nvPr/>
        </p:nvSpPr>
        <p:spPr>
          <a:xfrm>
            <a:off x="4258544" y="1740515"/>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Cada servicio, dueño de sus datos</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Nadie lee ni escribe en la base del otro.</a:t>
            </a:r>
            <a:endParaRPr lang="en-US" sz="115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Cada uno cambia sin romper al otro.</a:t>
            </a:r>
            <a:endParaRPr lang="en-US" sz="135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send"/>
          <p:cNvSpPr/>
          <p:nvPr/>
        </p:nvSpPr>
        <p:spPr>
          <a:xfrm>
            <a:off x="4258544" y="3032105"/>
            <a:ext cx="370881" cy="370881"/>
          </a:xfrm>
          <a:custGeom>
            <a:avLst/>
            <a:gdLst/>
            <a:ahLst/>
            <a:cxnLst/>
            <a:rect l="l" t="t" r="r" b="b"/>
            <a:pathLst>
              <a:path w="370881" h="370881">
                <a:moveTo>
                  <a:pt x="224630" y="335122"/>
                </a:moveTo>
                <a:cubicBezTo>
                  <a:pt x="225832" y="338118"/>
                  <a:pt x="228771" y="340051"/>
                  <a:pt x="231999" y="339968"/>
                </a:cubicBezTo>
                <a:cubicBezTo>
                  <a:pt x="235227" y="339886"/>
                  <a:pt x="238062" y="337805"/>
                  <a:pt x="239110" y="334751"/>
                </a:cubicBezTo>
                <a:lnTo>
                  <a:pt x="339557" y="41137"/>
                </a:lnTo>
                <a:cubicBezTo>
                  <a:pt x="340566" y="38342"/>
                  <a:pt x="339869" y="35215"/>
                  <a:pt x="337768" y="33113"/>
                </a:cubicBezTo>
                <a:cubicBezTo>
                  <a:pt x="335666" y="31012"/>
                  <a:pt x="332539" y="30314"/>
                  <a:pt x="329744" y="31324"/>
                </a:cubicBezTo>
                <a:lnTo>
                  <a:pt x="36130" y="131771"/>
                </a:lnTo>
                <a:cubicBezTo>
                  <a:pt x="33076" y="132818"/>
                  <a:pt x="30995" y="135654"/>
                  <a:pt x="30912" y="138882"/>
                </a:cubicBezTo>
                <a:cubicBezTo>
                  <a:pt x="30830" y="142109"/>
                  <a:pt x="32763" y="145048"/>
                  <a:pt x="35759" y="146251"/>
                </a:cubicBezTo>
                <a:lnTo>
                  <a:pt x="158304" y="195392"/>
                </a:lnTo>
                <a:cubicBezTo>
                  <a:pt x="166132" y="198526"/>
                  <a:pt x="172340" y="204723"/>
                  <a:pt x="175488" y="212546"/>
                </a:cubicBezTo>
                <a:close/>
                <a:moveTo>
                  <a:pt x="337718" y="33178"/>
                </a:moveTo>
                <a:lnTo>
                  <a:pt x="168658" y="202223"/>
                </a:lnTo>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Entre servicios viajan datos</a:t>
            </a:r>
            <a:endParaRPr lang="en-US" sz="155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evento pequeño con su número: SolicitudEnviada.</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acuerdo claro y fácil de revisar.</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hexagon"/>
          <p:cNvSpPr/>
          <p:nvPr/>
        </p:nvSpPr>
        <p:spPr>
          <a:xfrm>
            <a:off x="4258544" y="4323695"/>
            <a:ext cx="370881" cy="370881"/>
          </a:xfrm>
          <a:custGeom>
            <a:avLst/>
            <a:gdLst/>
            <a:ahLst/>
            <a:cxnLst/>
            <a:rect l="l" t="t" r="r" b="b"/>
            <a:pathLst>
              <a:path w="370881" h="370881">
                <a:moveTo>
                  <a:pt x="324521" y="247254"/>
                </a:move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lnTo>
                  <a:pt x="169987" y="335802"/>
                </a:lnTo>
                <a:cubicBezTo>
                  <a:pt x="179550" y="341322"/>
                  <a:pt x="191331" y="341322"/>
                  <a:pt x="200894" y="335802"/>
                </a:cubicBezTo>
                <a:lnTo>
                  <a:pt x="309067" y="273988"/>
                </a:lnTo>
                <a:cubicBezTo>
                  <a:pt x="318620" y="268473"/>
                  <a:pt x="324509" y="258284"/>
                  <a:pt x="324521" y="247254"/>
                </a:cubicBezTo>
                <a:close/>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Hexagonal ordena por dentro</a:t>
            </a:r>
            <a:endParaRPr lang="en-US" sz="16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No cambia el despliegue: un contenedor por servicio.</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la base o la web sin tocar las reglas.</a:t>
            </a:r>
            <a:endParaRPr lang="en-US" sz="135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scale"/>
          <p:cNvSpPr/>
          <p:nvPr/>
        </p:nvSpPr>
        <p:spPr>
          <a:xfrm>
            <a:off x="4258544" y="5615285"/>
            <a:ext cx="370881" cy="370881"/>
          </a:xfrm>
          <a:custGeom>
            <a:avLst/>
            <a:gdLst/>
            <a:ahLst/>
            <a:cxnLst/>
            <a:rect l="l" t="t" r="r" b="b"/>
            <a:pathLst>
              <a:path w="370881" h="370881">
                <a:moveTo>
                  <a:pt x="247254" y="247254"/>
                </a:moveTo>
                <a:lnTo>
                  <a:pt x="293614" y="123627"/>
                </a:lnTo>
                <a:lnTo>
                  <a:pt x="339974" y="247254"/>
                </a:lnTo>
                <a:cubicBezTo>
                  <a:pt x="326529" y="257298"/>
                  <a:pt x="310303" y="262707"/>
                  <a:pt x="293614" y="262707"/>
                </a:cubicBezTo>
                <a:cubicBezTo>
                  <a:pt x="276924" y="262707"/>
                  <a:pt x="260698" y="257298"/>
                  <a:pt x="247254" y="247254"/>
                </a:cubicBezTo>
                <a:close/>
                <a:moveTo>
                  <a:pt x="30907" y="247254"/>
                </a:moveTo>
                <a:lnTo>
                  <a:pt x="77267" y="123627"/>
                </a:lnTo>
                <a:lnTo>
                  <a:pt x="123627" y="247254"/>
                </a:lnTo>
                <a:cubicBezTo>
                  <a:pt x="110182" y="257298"/>
                  <a:pt x="93956" y="262707"/>
                  <a:pt x="77267" y="262707"/>
                </a:cubicBezTo>
                <a:cubicBezTo>
                  <a:pt x="60577" y="262707"/>
                  <a:pt x="44351" y="257298"/>
                  <a:pt x="30907" y="247254"/>
                </a:cubicBezTo>
                <a:close/>
                <a:moveTo>
                  <a:pt x="108174" y="324521"/>
                </a:moveTo>
                <a:lnTo>
                  <a:pt x="262707" y="324521"/>
                </a:lnTo>
                <a:moveTo>
                  <a:pt x="185440" y="46360"/>
                </a:moveTo>
                <a:lnTo>
                  <a:pt x="185440" y="324521"/>
                </a:lnTo>
                <a:moveTo>
                  <a:pt x="46360" y="108174"/>
                </a:moveTo>
                <a:lnTo>
                  <a:pt x="77267" y="108174"/>
                </a:lnTo>
                <a:cubicBezTo>
                  <a:pt x="108174" y="108174"/>
                  <a:pt x="154534" y="92720"/>
                  <a:pt x="185440" y="77267"/>
                </a:cubicBezTo>
                <a:cubicBezTo>
                  <a:pt x="216347" y="92720"/>
                  <a:pt x="262707" y="108174"/>
                  <a:pt x="293614" y="108174"/>
                </a:cubicBezTo>
                <a:lnTo>
                  <a:pt x="324521" y="108174"/>
                </a:lnTo>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Separar tiene un costo</a:t>
            </a:r>
            <a:endParaRPr lang="en-US" sz="170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Más red, dos bases y fallas parciales.</a:t>
            </a:r>
            <a:endParaRPr lang="en-US" sz="12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Separar solo cuando el negocio lo pide.</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Dos bases, una por servicio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microservicio tiene su propia base, y las dos corren en PostgreSQL.</a:t>
            </a:r>
            <a:endParaRPr lang="en-US" sz="1700" dirty="0"/>
          </a:p>
        </p:txBody>
      </p:sp>
      <p:sp>
        <p:nvSpPr>
          <p:cNvPr id="13" name="Shape 11"/>
          <p:cNvSpPr/>
          <p:nvPr/>
        </p:nvSpPr>
        <p:spPr>
          <a:xfrm>
            <a:off x="612648"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740664" y="2482596"/>
            <a:ext cx="2320976" cy="64008"/>
          </a:xfrm>
          <a:prstGeom prst="rect">
            <a:avLst/>
          </a:prstGeom>
          <a:solidFill>
            <a:srgbClr val="0B2350"/>
          </a:solidFill>
          <a:ln w="12700">
            <a:solidFill>
              <a:srgbClr val="0B2350"/>
            </a:solidFill>
            <a:prstDash val="solid"/>
          </a:ln>
        </p:spPr>
      </p:sp>
      <p:sp>
        <p:nvSpPr>
          <p:cNvPr id="15" name="Shape 13"/>
          <p:cNvSpPr/>
          <p:nvPr/>
        </p:nvSpPr>
        <p:spPr>
          <a:xfrm>
            <a:off x="2403272" y="2720340"/>
            <a:ext cx="566928" cy="566928"/>
          </a:xfrm>
          <a:prstGeom prst="ellipse">
            <a:avLst/>
          </a:prstGeom>
          <a:solidFill>
            <a:srgbClr val="E8EEF8"/>
          </a:solidFill>
          <a:ln w="12700">
            <a:solidFill>
              <a:srgbClr val="E8EEF8"/>
            </a:solidFill>
            <a:prstDash val="solid"/>
          </a:ln>
        </p:spPr>
      </p:sp>
      <p:sp>
        <p:nvSpPr>
          <p:cNvPr id="16" name="Icono database"/>
          <p:cNvSpPr/>
          <p:nvPr/>
        </p:nvSpPr>
        <p:spPr>
          <a:xfrm>
            <a:off x="2539335" y="2856403"/>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0B2350"/>
            </a:solidFill>
            <a:prstDash val="solid"/>
            <a:round/>
          </a:ln>
        </p:spPr>
      </p:sp>
      <p:sp>
        <p:nvSpPr>
          <p:cNvPr id="17" name="Text 15"/>
          <p:cNvSpPr/>
          <p:nvPr/>
        </p:nvSpPr>
        <p:spPr>
          <a:xfrm>
            <a:off x="868680"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B2350"/>
                </a:solidFill>
                <a:latin typeface="Segoe UI Semibold" pitchFamily="34" charset="0"/>
                <a:ea typeface="Segoe UI Semibold" pitchFamily="34" charset="-122"/>
                <a:cs typeface="Segoe UI Semibold" pitchFamily="34" charset="-120"/>
              </a:rPr>
              <a:t>2</a:t>
            </a:r>
            <a:endParaRPr lang="en-US" sz="5600" dirty="0"/>
          </a:p>
        </p:txBody>
      </p:sp>
      <p:sp>
        <p:nvSpPr>
          <p:cNvPr id="18" name="Text 16"/>
          <p:cNvSpPr/>
          <p:nvPr/>
        </p:nvSpPr>
        <p:spPr>
          <a:xfrm>
            <a:off x="868680"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bases de datos</a:t>
            </a:r>
            <a:endParaRPr lang="en-US" sz="1800" dirty="0"/>
          </a:p>
        </p:txBody>
      </p:sp>
      <p:sp>
        <p:nvSpPr>
          <p:cNvPr id="19" name="Text 17"/>
          <p:cNvSpPr/>
          <p:nvPr/>
        </p:nvSpPr>
        <p:spPr>
          <a:xfrm>
            <a:off x="868680"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db-solicitudes y db-notificaciones: una por servicio.</a:t>
            </a:r>
            <a:endParaRPr lang="en-US" sz="1500" dirty="0"/>
          </a:p>
        </p:txBody>
      </p:sp>
      <p:sp>
        <p:nvSpPr>
          <p:cNvPr id="20" name="[p1] Forma"/>
          <p:cNvSpPr/>
          <p:nvPr/>
        </p:nvSpPr>
        <p:spPr>
          <a:xfrm>
            <a:off x="3409112"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3537128" y="2482596"/>
            <a:ext cx="2320976" cy="64008"/>
          </a:xfrm>
          <a:prstGeom prst="rect">
            <a:avLst/>
          </a:prstGeom>
          <a:solidFill>
            <a:srgbClr val="0B6E8A"/>
          </a:solidFill>
          <a:ln w="12700">
            <a:solidFill>
              <a:srgbClr val="0B6E8A"/>
            </a:solidFill>
            <a:prstDash val="solid"/>
          </a:ln>
        </p:spPr>
      </p:sp>
      <p:sp>
        <p:nvSpPr>
          <p:cNvPr id="22" name="[p1] Forma"/>
          <p:cNvSpPr/>
          <p:nvPr/>
        </p:nvSpPr>
        <p:spPr>
          <a:xfrm>
            <a:off x="5199736" y="2720340"/>
            <a:ext cx="566928" cy="566928"/>
          </a:xfrm>
          <a:prstGeom prst="ellipse">
            <a:avLst/>
          </a:prstGeom>
          <a:solidFill>
            <a:srgbClr val="E3F4FA"/>
          </a:solidFill>
          <a:ln w="12700">
            <a:solidFill>
              <a:srgbClr val="E3F4FA"/>
            </a:solidFill>
            <a:prstDash val="solid"/>
          </a:ln>
        </p:spPr>
      </p:sp>
      <p:sp>
        <p:nvSpPr>
          <p:cNvPr id="23" name="[p1] Icono server"/>
          <p:cNvSpPr/>
          <p:nvPr/>
        </p:nvSpPr>
        <p:spPr>
          <a:xfrm>
            <a:off x="5335798" y="2856403"/>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6E8A"/>
            </a:solidFill>
            <a:prstDash val="solid"/>
            <a:round/>
          </a:ln>
        </p:spPr>
      </p:sp>
      <p:sp>
        <p:nvSpPr>
          <p:cNvPr id="24" name="[p1] Forma"/>
          <p:cNvSpPr/>
          <p:nvPr/>
        </p:nvSpPr>
        <p:spPr>
          <a:xfrm>
            <a:off x="3665144"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B6E8A"/>
                </a:solidFill>
                <a:latin typeface="Segoe UI Semibold" pitchFamily="34" charset="0"/>
                <a:ea typeface="Segoe UI Semibold" pitchFamily="34" charset="-122"/>
                <a:cs typeface="Segoe UI Semibold" pitchFamily="34" charset="-120"/>
              </a:rPr>
              <a:t>17</a:t>
            </a:r>
            <a:endParaRPr lang="en-US" sz="5600" dirty="0"/>
          </a:p>
        </p:txBody>
      </p:sp>
      <p:sp>
        <p:nvSpPr>
          <p:cNvPr id="25" name="[p1] Forma"/>
          <p:cNvSpPr/>
          <p:nvPr/>
        </p:nvSpPr>
        <p:spPr>
          <a:xfrm>
            <a:off x="3665144"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26" name="[p1] Forma"/>
          <p:cNvSpPr/>
          <p:nvPr/>
        </p:nvSpPr>
        <p:spPr>
          <a:xfrm>
            <a:off x="3665144"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mismo motor y la misma versión en las dos.</a:t>
            </a:r>
            <a:endParaRPr lang="en-US" sz="1500" dirty="0"/>
          </a:p>
        </p:txBody>
      </p:sp>
      <p:sp>
        <p:nvSpPr>
          <p:cNvPr id="27" name="[p2] Forma"/>
          <p:cNvSpPr/>
          <p:nvPr/>
        </p:nvSpPr>
        <p:spPr>
          <a:xfrm>
            <a:off x="6205576"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p2] Forma"/>
          <p:cNvSpPr/>
          <p:nvPr/>
        </p:nvSpPr>
        <p:spPr>
          <a:xfrm>
            <a:off x="6333592" y="2482596"/>
            <a:ext cx="2320976" cy="64008"/>
          </a:xfrm>
          <a:prstGeom prst="rect">
            <a:avLst/>
          </a:prstGeom>
          <a:solidFill>
            <a:srgbClr val="AB243E"/>
          </a:solidFill>
          <a:ln w="12700">
            <a:solidFill>
              <a:srgbClr val="AB243E"/>
            </a:solidFill>
            <a:prstDash val="solid"/>
          </a:ln>
        </p:spPr>
      </p:sp>
      <p:sp>
        <p:nvSpPr>
          <p:cNvPr id="29" name="[p2] Forma"/>
          <p:cNvSpPr/>
          <p:nvPr/>
        </p:nvSpPr>
        <p:spPr>
          <a:xfrm>
            <a:off x="7996199" y="2720340"/>
            <a:ext cx="566928" cy="566928"/>
          </a:xfrm>
          <a:prstGeom prst="ellipse">
            <a:avLst/>
          </a:prstGeom>
          <a:solidFill>
            <a:srgbClr val="F7E3E7"/>
          </a:solidFill>
          <a:ln w="12700">
            <a:solidFill>
              <a:srgbClr val="F7E3E7"/>
            </a:solidFill>
            <a:prstDash val="solid"/>
          </a:ln>
        </p:spPr>
      </p:sp>
      <p:sp>
        <p:nvSpPr>
          <p:cNvPr id="30" name="[p2] Icono ban"/>
          <p:cNvSpPr/>
          <p:nvPr/>
        </p:nvSpPr>
        <p:spPr>
          <a:xfrm>
            <a:off x="8132262" y="2856403"/>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1" name="[p2] Forma"/>
          <p:cNvSpPr/>
          <p:nvPr/>
        </p:nvSpPr>
        <p:spPr>
          <a:xfrm>
            <a:off x="6461608"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0</a:t>
            </a:r>
            <a:endParaRPr lang="en-US" sz="5600" dirty="0"/>
          </a:p>
        </p:txBody>
      </p:sp>
      <p:sp>
        <p:nvSpPr>
          <p:cNvPr id="32" name="[p2] Forma"/>
          <p:cNvSpPr/>
          <p:nvPr/>
        </p:nvSpPr>
        <p:spPr>
          <a:xfrm>
            <a:off x="6461608"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JOIN entre bases</a:t>
            </a:r>
            <a:endParaRPr lang="en-US" sz="1800" dirty="0"/>
          </a:p>
        </p:txBody>
      </p:sp>
      <p:sp>
        <p:nvSpPr>
          <p:cNvPr id="33" name="[p2] Forma"/>
          <p:cNvSpPr/>
          <p:nvPr/>
        </p:nvSpPr>
        <p:spPr>
          <a:xfrm>
            <a:off x="6461608"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Ni consultas ni llaves foráneas que crucen de una a otra.</a:t>
            </a:r>
            <a:endParaRPr lang="en-US" sz="1500" dirty="0"/>
          </a:p>
        </p:txBody>
      </p:sp>
      <p:sp>
        <p:nvSpPr>
          <p:cNvPr id="34" name="[p3] Forma"/>
          <p:cNvSpPr/>
          <p:nvPr/>
        </p:nvSpPr>
        <p:spPr>
          <a:xfrm>
            <a:off x="9002039"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p3] Forma"/>
          <p:cNvSpPr/>
          <p:nvPr/>
        </p:nvSpPr>
        <p:spPr>
          <a:xfrm>
            <a:off x="9130055" y="2482596"/>
            <a:ext cx="2320976" cy="64008"/>
          </a:xfrm>
          <a:prstGeom prst="rect">
            <a:avLst/>
          </a:prstGeom>
          <a:solidFill>
            <a:srgbClr val="0A6648"/>
          </a:solidFill>
          <a:ln w="12700">
            <a:solidFill>
              <a:srgbClr val="0A6648"/>
            </a:solidFill>
            <a:prstDash val="solid"/>
          </a:ln>
        </p:spPr>
      </p:sp>
      <p:sp>
        <p:nvSpPr>
          <p:cNvPr id="36" name="[p3] Forma"/>
          <p:cNvSpPr/>
          <p:nvPr/>
        </p:nvSpPr>
        <p:spPr>
          <a:xfrm>
            <a:off x="10792663" y="2720340"/>
            <a:ext cx="566928" cy="566928"/>
          </a:xfrm>
          <a:prstGeom prst="ellipse">
            <a:avLst/>
          </a:prstGeom>
          <a:solidFill>
            <a:srgbClr val="E1F1EA"/>
          </a:solidFill>
          <a:ln w="12700">
            <a:solidFill>
              <a:srgbClr val="E1F1EA"/>
            </a:solidFill>
            <a:prstDash val="solid"/>
          </a:ln>
        </p:spPr>
      </p:sp>
      <p:sp>
        <p:nvSpPr>
          <p:cNvPr id="37" name="[p3] Icono hard-drive"/>
          <p:cNvSpPr/>
          <p:nvPr/>
        </p:nvSpPr>
        <p:spPr>
          <a:xfrm>
            <a:off x="10928726" y="2856403"/>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0A6648"/>
            </a:solidFill>
            <a:prstDash val="solid"/>
            <a:round/>
          </a:ln>
        </p:spPr>
      </p:sp>
      <p:sp>
        <p:nvSpPr>
          <p:cNvPr id="38" name="[p3] Forma"/>
          <p:cNvSpPr/>
          <p:nvPr/>
        </p:nvSpPr>
        <p:spPr>
          <a:xfrm>
            <a:off x="9258071"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1</a:t>
            </a:r>
            <a:endParaRPr lang="en-US" sz="5600" dirty="0"/>
          </a:p>
        </p:txBody>
      </p:sp>
      <p:sp>
        <p:nvSpPr>
          <p:cNvPr id="39" name="[p3] Forma"/>
          <p:cNvSpPr/>
          <p:nvPr/>
        </p:nvSpPr>
        <p:spPr>
          <a:xfrm>
            <a:off x="9258071"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disco por base</a:t>
            </a:r>
            <a:endParaRPr lang="en-US" sz="1800" dirty="0"/>
          </a:p>
        </p:txBody>
      </p:sp>
      <p:sp>
        <p:nvSpPr>
          <p:cNvPr id="40" name="[p3] Forma"/>
          <p:cNvSpPr/>
          <p:nvPr/>
        </p:nvSpPr>
        <p:spPr>
          <a:xfrm>
            <a:off x="9258071"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En Kubernetes, los datos sobreviven aunque el contenedor se reinicie.</a:t>
            </a:r>
            <a:endParaRPr lang="en-US" sz="15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4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4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4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400"/>
                                        <p:tgtEl>
                                          <p:spTgt spid="3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400"/>
                                        <p:tgtEl>
                                          <p:spTgt spid="3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400"/>
                                        <p:tgtEl>
                                          <p:spTgt spid="3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estructura de las bases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Tres tablas en dos bases, y una sola cosa cruza la frontera: el número del evento.</a:t>
            </a:r>
            <a:endParaRPr lang="en-US" sz="1700" dirty="0"/>
          </a:p>
        </p:txBody>
      </p:sp>
      <p:sp>
        <p:nvSpPr>
          <p:cNvPr id="13" name="Shape 11"/>
          <p:cNvSpPr/>
          <p:nvPr/>
        </p:nvSpPr>
        <p:spPr>
          <a:xfrm>
            <a:off x="612648" y="1755648"/>
            <a:ext cx="6152693" cy="4041648"/>
          </a:xfrm>
          <a:prstGeom prst="roundRect">
            <a:avLst>
              <a:gd name="adj" fmla="val 3167"/>
            </a:avLst>
          </a:prstGeom>
          <a:solidFill>
            <a:srgbClr val="F0F4FA"/>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755648"/>
            <a:ext cx="6152693" cy="749808"/>
          </a:xfrm>
          <a:prstGeom prst="roundRect">
            <a:avLst>
              <a:gd name="adj" fmla="val 17073"/>
            </a:avLst>
          </a:prstGeom>
          <a:solidFill>
            <a:srgbClr val="0B2350"/>
          </a:solidFill>
          <a:ln w="12700">
            <a:solidFill>
              <a:srgbClr val="0B2350"/>
            </a:solidFill>
            <a:prstDash val="solid"/>
          </a:ln>
        </p:spPr>
      </p:sp>
      <p:sp>
        <p:nvSpPr>
          <p:cNvPr id="15" name="Shape 13"/>
          <p:cNvSpPr/>
          <p:nvPr/>
        </p:nvSpPr>
        <p:spPr>
          <a:xfrm>
            <a:off x="612648" y="2212848"/>
            <a:ext cx="6152693" cy="292608"/>
          </a:xfrm>
          <a:prstGeom prst="rect">
            <a:avLst/>
          </a:prstGeom>
          <a:solidFill>
            <a:srgbClr val="0B2350"/>
          </a:solidFill>
          <a:ln w="12700">
            <a:solidFill>
              <a:srgbClr val="0B2350"/>
            </a:solidFill>
            <a:prstDash val="solid"/>
          </a:ln>
        </p:spPr>
      </p:sp>
      <p:sp>
        <p:nvSpPr>
          <p:cNvPr id="16" name="Icono database"/>
          <p:cNvSpPr/>
          <p:nvPr/>
        </p:nvSpPr>
        <p:spPr>
          <a:xfrm>
            <a:off x="832104" y="1938528"/>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17" name="Text 15"/>
          <p:cNvSpPr/>
          <p:nvPr/>
        </p:nvSpPr>
        <p:spPr>
          <a:xfrm>
            <a:off x="1362456" y="1828800"/>
            <a:ext cx="5238293"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Segoe UI Semibold" pitchFamily="34" charset="0"/>
                <a:ea typeface="Segoe UI Semibold" pitchFamily="34" charset="-122"/>
                <a:cs typeface="Segoe UI Semibold" pitchFamily="34" charset="-120"/>
              </a:rPr>
              <a:t>db-solicitudes</a:t>
            </a:r>
            <a:endParaRPr lang="en-US" sz="1800" dirty="0"/>
          </a:p>
        </p:txBody>
      </p:sp>
      <p:sp>
        <p:nvSpPr>
          <p:cNvPr id="18" name="Text 16"/>
          <p:cNvSpPr/>
          <p:nvPr/>
        </p:nvSpPr>
        <p:spPr>
          <a:xfrm>
            <a:off x="1362456" y="2176272"/>
            <a:ext cx="5238293"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schema.sql</a:t>
            </a:r>
            <a:endParaRPr lang="en-US" sz="1150" dirty="0"/>
          </a:p>
        </p:txBody>
      </p:sp>
      <p:sp>
        <p:nvSpPr>
          <p:cNvPr id="19" name="Shape 17"/>
          <p:cNvSpPr/>
          <p:nvPr/>
        </p:nvSpPr>
        <p:spPr>
          <a:xfrm>
            <a:off x="841248" y="2715768"/>
            <a:ext cx="2733446" cy="2852928"/>
          </a:xfrm>
          <a:prstGeom prst="roundRect">
            <a:avLst>
              <a:gd name="adj" fmla="val 46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841248" y="2715768"/>
            <a:ext cx="2733446" cy="512064"/>
          </a:xfrm>
          <a:prstGeom prst="roundRect">
            <a:avLst>
              <a:gd name="adj" fmla="val 25000"/>
            </a:avLst>
          </a:prstGeom>
          <a:solidFill>
            <a:srgbClr val="E8EEF8"/>
          </a:solidFill>
          <a:ln w="12700">
            <a:solidFill>
              <a:srgbClr val="E8EEF8"/>
            </a:solidFill>
            <a:prstDash val="solid"/>
          </a:ln>
        </p:spPr>
      </p:sp>
      <p:sp>
        <p:nvSpPr>
          <p:cNvPr id="21" name="Shape 19"/>
          <p:cNvSpPr/>
          <p:nvPr/>
        </p:nvSpPr>
        <p:spPr>
          <a:xfrm>
            <a:off x="841248" y="3044952"/>
            <a:ext cx="2733446" cy="182880"/>
          </a:xfrm>
          <a:prstGeom prst="rect">
            <a:avLst/>
          </a:prstGeom>
          <a:solidFill>
            <a:srgbClr val="E8EEF8"/>
          </a:solidFill>
          <a:ln w="12700">
            <a:solidFill>
              <a:srgbClr val="E8EEF8"/>
            </a:solidFill>
            <a:prstDash val="solid"/>
          </a:ln>
        </p:spPr>
      </p:sp>
      <p:sp>
        <p:nvSpPr>
          <p:cNvPr id="22" name="Icono table"/>
          <p:cNvSpPr/>
          <p:nvPr/>
        </p:nvSpPr>
        <p:spPr>
          <a:xfrm>
            <a:off x="987552"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23" name="Text 21"/>
          <p:cNvSpPr/>
          <p:nvPr/>
        </p:nvSpPr>
        <p:spPr>
          <a:xfrm>
            <a:off x="1353312" y="2770632"/>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solicitud</a:t>
            </a:r>
            <a:endParaRPr lang="en-US" sz="1500" dirty="0"/>
          </a:p>
        </p:txBody>
      </p:sp>
      <p:sp>
        <p:nvSpPr>
          <p:cNvPr id="24" name="Icono key-round"/>
          <p:cNvSpPr/>
          <p:nvPr/>
        </p:nvSpPr>
        <p:spPr>
          <a:xfrm>
            <a:off x="996696"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25" name="Text 23"/>
          <p:cNvSpPr/>
          <p:nvPr/>
        </p:nvSpPr>
        <p:spPr>
          <a:xfrm>
            <a:off x="1280160" y="3264408"/>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 · VARCHAR(20)</a:t>
            </a:r>
            <a:endParaRPr lang="en-US" sz="1400" dirty="0"/>
          </a:p>
        </p:txBody>
      </p:sp>
      <p:sp>
        <p:nvSpPr>
          <p:cNvPr id="26" name="Shape 24"/>
          <p:cNvSpPr/>
          <p:nvPr/>
        </p:nvSpPr>
        <p:spPr>
          <a:xfrm>
            <a:off x="978408" y="3710635"/>
            <a:ext cx="2459126" cy="0"/>
          </a:xfrm>
          <a:prstGeom prst="line">
            <a:avLst/>
          </a:prstGeom>
          <a:noFill/>
          <a:ln w="9525">
            <a:solidFill>
              <a:srgbClr val="DFE6F0"/>
            </a:solidFill>
            <a:prstDash val="solid"/>
          </a:ln>
        </p:spPr>
      </p:sp>
      <p:sp>
        <p:nvSpPr>
          <p:cNvPr id="27" name="Icono hash"/>
          <p:cNvSpPr/>
          <p:nvPr/>
        </p:nvSpPr>
        <p:spPr>
          <a:xfrm>
            <a:off x="996696" y="3820363"/>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28" name="Text 26"/>
          <p:cNvSpPr/>
          <p:nvPr/>
        </p:nvSpPr>
        <p:spPr>
          <a:xfrm>
            <a:off x="1280160" y="3710635"/>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pPr indent="0" marL="0">
              <a:buNone/>
            </a:pPr>
            <a:r>
              <a:rPr lang="en-US" sz="1400" dirty="0">
                <a:solidFill>
                  <a:srgbClr val="55627E"/>
                </a:solidFill>
                <a:latin typeface="Segoe UI" pitchFamily="34" charset="0"/>
                <a:ea typeface="Segoe UI" pitchFamily="34" charset="-122"/>
                <a:cs typeface="Segoe UI" pitchFamily="34" charset="-120"/>
              </a:rPr>
              <a:t>  VARCHAR(20)</a:t>
            </a:r>
            <a:endParaRPr lang="en-US" sz="1400" dirty="0"/>
          </a:p>
        </p:txBody>
      </p:sp>
      <p:sp>
        <p:nvSpPr>
          <p:cNvPr id="29" name="Shape 27"/>
          <p:cNvSpPr/>
          <p:nvPr/>
        </p:nvSpPr>
        <p:spPr>
          <a:xfrm>
            <a:off x="978408" y="4156862"/>
            <a:ext cx="2459126" cy="0"/>
          </a:xfrm>
          <a:prstGeom prst="line">
            <a:avLst/>
          </a:prstGeom>
          <a:noFill/>
          <a:ln w="9525">
            <a:solidFill>
              <a:srgbClr val="DFE6F0"/>
            </a:solidFill>
            <a:prstDash val="solid"/>
          </a:ln>
        </p:spPr>
      </p:sp>
      <p:sp>
        <p:nvSpPr>
          <p:cNvPr id="30" name="Icono hash"/>
          <p:cNvSpPr/>
          <p:nvPr/>
        </p:nvSpPr>
        <p:spPr>
          <a:xfrm>
            <a:off x="996696" y="426659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31" name="Text 29"/>
          <p:cNvSpPr/>
          <p:nvPr/>
        </p:nvSpPr>
        <p:spPr>
          <a:xfrm>
            <a:off x="1280160" y="4156862"/>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estado</a:t>
            </a:r>
            <a:pPr indent="0" marL="0">
              <a:buNone/>
            </a:pPr>
            <a:r>
              <a:rPr lang="en-US" sz="1300" dirty="0">
                <a:solidFill>
                  <a:srgbClr val="55627E"/>
                </a:solidFill>
                <a:latin typeface="Segoe UI" pitchFamily="34" charset="0"/>
                <a:ea typeface="Segoe UI" pitchFamily="34" charset="-122"/>
                <a:cs typeface="Segoe UI" pitchFamily="34" charset="-120"/>
              </a:rPr>
              <a:t>  CHECK: 4 estados</a:t>
            </a:r>
            <a:endParaRPr lang="en-US" sz="1300" dirty="0"/>
          </a:p>
        </p:txBody>
      </p:sp>
      <p:sp>
        <p:nvSpPr>
          <p:cNvPr id="32" name="[p1] Forma"/>
          <p:cNvSpPr/>
          <p:nvPr/>
        </p:nvSpPr>
        <p:spPr>
          <a:xfrm>
            <a:off x="3803294" y="2715768"/>
            <a:ext cx="2733446" cy="2852928"/>
          </a:xfrm>
          <a:prstGeom prst="roundRect">
            <a:avLst>
              <a:gd name="adj" fmla="val 46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p1] Forma"/>
          <p:cNvSpPr/>
          <p:nvPr/>
        </p:nvSpPr>
        <p:spPr>
          <a:xfrm>
            <a:off x="3803294" y="2715768"/>
            <a:ext cx="2733446" cy="512064"/>
          </a:xfrm>
          <a:prstGeom prst="roundRect">
            <a:avLst>
              <a:gd name="adj" fmla="val 25000"/>
            </a:avLst>
          </a:prstGeom>
          <a:solidFill>
            <a:srgbClr val="E8EEF8"/>
          </a:solidFill>
          <a:ln w="12700">
            <a:solidFill>
              <a:srgbClr val="E8EEF8"/>
            </a:solidFill>
            <a:prstDash val="solid"/>
          </a:ln>
        </p:spPr>
      </p:sp>
      <p:sp>
        <p:nvSpPr>
          <p:cNvPr id="34" name="[p1] Forma"/>
          <p:cNvSpPr/>
          <p:nvPr/>
        </p:nvSpPr>
        <p:spPr>
          <a:xfrm>
            <a:off x="3803294" y="3044952"/>
            <a:ext cx="2733446" cy="182880"/>
          </a:xfrm>
          <a:prstGeom prst="rect">
            <a:avLst/>
          </a:prstGeom>
          <a:solidFill>
            <a:srgbClr val="E8EEF8"/>
          </a:solidFill>
          <a:ln w="12700">
            <a:solidFill>
              <a:srgbClr val="E8EEF8"/>
            </a:solidFill>
            <a:prstDash val="solid"/>
          </a:ln>
        </p:spPr>
      </p:sp>
      <p:sp>
        <p:nvSpPr>
          <p:cNvPr id="35" name="[p1] Icono table"/>
          <p:cNvSpPr/>
          <p:nvPr/>
        </p:nvSpPr>
        <p:spPr>
          <a:xfrm>
            <a:off x="3949598"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36" name="[p1] Forma"/>
          <p:cNvSpPr/>
          <p:nvPr/>
        </p:nvSpPr>
        <p:spPr>
          <a:xfrm>
            <a:off x="4315358" y="2770632"/>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evento</a:t>
            </a:r>
            <a:endParaRPr lang="en-US" sz="1500" dirty="0"/>
          </a:p>
        </p:txBody>
      </p:sp>
      <p:sp>
        <p:nvSpPr>
          <p:cNvPr id="37" name="[p1] Icono key-round"/>
          <p:cNvSpPr/>
          <p:nvPr/>
        </p:nvSpPr>
        <p:spPr>
          <a:xfrm>
            <a:off x="3958742"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38" name="[p1] Forma"/>
          <p:cNvSpPr/>
          <p:nvPr/>
        </p:nvSpPr>
        <p:spPr>
          <a:xfrm>
            <a:off x="4242206" y="3264408"/>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 · BIGSERIAL</a:t>
            </a:r>
            <a:endParaRPr lang="en-US" sz="1400" dirty="0"/>
          </a:p>
        </p:txBody>
      </p:sp>
      <p:sp>
        <p:nvSpPr>
          <p:cNvPr id="39" name="[p1] Forma"/>
          <p:cNvSpPr/>
          <p:nvPr/>
        </p:nvSpPr>
        <p:spPr>
          <a:xfrm>
            <a:off x="3940454" y="3710635"/>
            <a:ext cx="2459126" cy="0"/>
          </a:xfrm>
          <a:prstGeom prst="line">
            <a:avLst/>
          </a:prstGeom>
          <a:noFill/>
          <a:ln w="9525">
            <a:solidFill>
              <a:srgbClr val="DFE6F0"/>
            </a:solidFill>
            <a:prstDash val="solid"/>
          </a:ln>
        </p:spPr>
      </p:sp>
      <p:sp>
        <p:nvSpPr>
          <p:cNvPr id="40" name="[p1] Icono key-round"/>
          <p:cNvSpPr/>
          <p:nvPr/>
        </p:nvSpPr>
        <p:spPr>
          <a:xfrm>
            <a:off x="3958742" y="3820363"/>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41" name="[p1] Forma"/>
          <p:cNvSpPr/>
          <p:nvPr/>
        </p:nvSpPr>
        <p:spPr>
          <a:xfrm>
            <a:off x="4242206" y="3710635"/>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solicitud_id</a:t>
            </a:r>
            <a:pPr indent="0" marL="0">
              <a:buNone/>
            </a:pPr>
            <a:r>
              <a:rPr lang="en-US" sz="1300" dirty="0">
                <a:solidFill>
                  <a:srgbClr val="55627E"/>
                </a:solidFill>
                <a:latin typeface="Segoe UI" pitchFamily="34" charset="0"/>
                <a:ea typeface="Segoe UI" pitchFamily="34" charset="-122"/>
                <a:cs typeface="Segoe UI" pitchFamily="34" charset="-120"/>
              </a:rPr>
              <a:t>  FK a solicitud</a:t>
            </a:r>
            <a:endParaRPr lang="en-US" sz="1300" dirty="0"/>
          </a:p>
        </p:txBody>
      </p:sp>
      <p:sp>
        <p:nvSpPr>
          <p:cNvPr id="42" name="[p1] Forma"/>
          <p:cNvSpPr/>
          <p:nvPr/>
        </p:nvSpPr>
        <p:spPr>
          <a:xfrm>
            <a:off x="3940454" y="4156862"/>
            <a:ext cx="2459126" cy="0"/>
          </a:xfrm>
          <a:prstGeom prst="line">
            <a:avLst/>
          </a:prstGeom>
          <a:noFill/>
          <a:ln w="9525">
            <a:solidFill>
              <a:srgbClr val="DFE6F0"/>
            </a:solidFill>
            <a:prstDash val="solid"/>
          </a:ln>
        </p:spPr>
      </p:sp>
      <p:sp>
        <p:nvSpPr>
          <p:cNvPr id="43" name="[p1] Icono hash"/>
          <p:cNvSpPr/>
          <p:nvPr/>
        </p:nvSpPr>
        <p:spPr>
          <a:xfrm>
            <a:off x="3958742" y="426659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4" name="[p1] Forma"/>
          <p:cNvSpPr/>
          <p:nvPr/>
        </p:nvSpPr>
        <p:spPr>
          <a:xfrm>
            <a:off x="4242206" y="4156862"/>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pPr indent="0" marL="0">
              <a:buNone/>
            </a:pPr>
            <a:r>
              <a:rPr lang="en-US" sz="1400" dirty="0">
                <a:solidFill>
                  <a:srgbClr val="55627E"/>
                </a:solidFill>
                <a:latin typeface="Segoe UI" pitchFamily="34" charset="0"/>
                <a:ea typeface="Segoe UI" pitchFamily="34" charset="-122"/>
                <a:cs typeface="Segoe UI" pitchFamily="34" charset="-120"/>
              </a:rPr>
              <a:t>  SolicitudEnviada</a:t>
            </a:r>
            <a:endParaRPr lang="en-US" sz="1400" dirty="0"/>
          </a:p>
        </p:txBody>
      </p:sp>
      <p:sp>
        <p:nvSpPr>
          <p:cNvPr id="45" name="[p1] Forma"/>
          <p:cNvSpPr/>
          <p:nvPr/>
        </p:nvSpPr>
        <p:spPr>
          <a:xfrm>
            <a:off x="3940454" y="4603090"/>
            <a:ext cx="2459126" cy="0"/>
          </a:xfrm>
          <a:prstGeom prst="line">
            <a:avLst/>
          </a:prstGeom>
          <a:noFill/>
          <a:ln w="9525">
            <a:solidFill>
              <a:srgbClr val="DFE6F0"/>
            </a:solidFill>
            <a:prstDash val="solid"/>
          </a:ln>
        </p:spPr>
      </p:sp>
      <p:sp>
        <p:nvSpPr>
          <p:cNvPr id="46" name="[p1] Icono hash"/>
          <p:cNvSpPr/>
          <p:nvPr/>
        </p:nvSpPr>
        <p:spPr>
          <a:xfrm>
            <a:off x="3958742" y="471281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7" name="[p1] Forma"/>
          <p:cNvSpPr/>
          <p:nvPr/>
        </p:nvSpPr>
        <p:spPr>
          <a:xfrm>
            <a:off x="4242206" y="4603090"/>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UUID</a:t>
            </a:r>
            <a:endParaRPr lang="en-US" sz="1400" dirty="0"/>
          </a:p>
        </p:txBody>
      </p:sp>
      <p:sp>
        <p:nvSpPr>
          <p:cNvPr id="48" name="[p1] Forma"/>
          <p:cNvSpPr/>
          <p:nvPr/>
        </p:nvSpPr>
        <p:spPr>
          <a:xfrm>
            <a:off x="3940454" y="5049317"/>
            <a:ext cx="2459126" cy="0"/>
          </a:xfrm>
          <a:prstGeom prst="line">
            <a:avLst/>
          </a:prstGeom>
          <a:noFill/>
          <a:ln w="9525">
            <a:solidFill>
              <a:srgbClr val="DFE6F0"/>
            </a:solidFill>
            <a:prstDash val="solid"/>
          </a:ln>
        </p:spPr>
      </p:sp>
      <p:sp>
        <p:nvSpPr>
          <p:cNvPr id="49" name="[p1] Icono hash"/>
          <p:cNvSpPr/>
          <p:nvPr/>
        </p:nvSpPr>
        <p:spPr>
          <a:xfrm>
            <a:off x="3958742" y="5159045"/>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50" name="[p1] Forma"/>
          <p:cNvSpPr/>
          <p:nvPr/>
        </p:nvSpPr>
        <p:spPr>
          <a:xfrm>
            <a:off x="4242206" y="5049317"/>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procesado</a:t>
            </a:r>
            <a:pPr indent="0" marL="0">
              <a:buNone/>
            </a:pPr>
            <a:r>
              <a:rPr lang="en-US" sz="1300" dirty="0">
                <a:solidFill>
                  <a:srgbClr val="55627E"/>
                </a:solidFill>
                <a:latin typeface="Segoe UI" pitchFamily="34" charset="0"/>
                <a:ea typeface="Segoe UI" pitchFamily="34" charset="-122"/>
                <a:cs typeface="Segoe UI" pitchFamily="34" charset="-120"/>
              </a:rPr>
              <a:t>  false = pendiente</a:t>
            </a:r>
            <a:endParaRPr lang="en-US" sz="1300" dirty="0"/>
          </a:p>
        </p:txBody>
      </p:sp>
      <p:sp>
        <p:nvSpPr>
          <p:cNvPr id="51" name="[p2] Forma"/>
          <p:cNvSpPr/>
          <p:nvPr/>
        </p:nvSpPr>
        <p:spPr>
          <a:xfrm>
            <a:off x="8502701" y="1755648"/>
            <a:ext cx="3076346" cy="4041648"/>
          </a:xfrm>
          <a:prstGeom prst="roundRect">
            <a:avLst>
              <a:gd name="adj" fmla="val 4161"/>
            </a:avLst>
          </a:prstGeom>
          <a:solidFill>
            <a:srgbClr val="EDF8FC"/>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2" name="[p2] Forma"/>
          <p:cNvSpPr/>
          <p:nvPr/>
        </p:nvSpPr>
        <p:spPr>
          <a:xfrm>
            <a:off x="8502701" y="1755648"/>
            <a:ext cx="3076346" cy="749808"/>
          </a:xfrm>
          <a:prstGeom prst="roundRect">
            <a:avLst>
              <a:gd name="adj" fmla="val 17073"/>
            </a:avLst>
          </a:prstGeom>
          <a:solidFill>
            <a:srgbClr val="0B6E8A"/>
          </a:solidFill>
          <a:ln w="12700">
            <a:solidFill>
              <a:srgbClr val="0B6E8A"/>
            </a:solidFill>
            <a:prstDash val="solid"/>
          </a:ln>
        </p:spPr>
      </p:sp>
      <p:sp>
        <p:nvSpPr>
          <p:cNvPr id="53" name="[p2] Forma"/>
          <p:cNvSpPr/>
          <p:nvPr/>
        </p:nvSpPr>
        <p:spPr>
          <a:xfrm>
            <a:off x="8502701" y="2212848"/>
            <a:ext cx="3076346" cy="292608"/>
          </a:xfrm>
          <a:prstGeom prst="rect">
            <a:avLst/>
          </a:prstGeom>
          <a:solidFill>
            <a:srgbClr val="0B6E8A"/>
          </a:solidFill>
          <a:ln w="12700">
            <a:solidFill>
              <a:srgbClr val="0B6E8A"/>
            </a:solidFill>
            <a:prstDash val="solid"/>
          </a:ln>
        </p:spPr>
      </p:sp>
      <p:sp>
        <p:nvSpPr>
          <p:cNvPr id="54" name="[p2] Icono database"/>
          <p:cNvSpPr/>
          <p:nvPr/>
        </p:nvSpPr>
        <p:spPr>
          <a:xfrm>
            <a:off x="8722157" y="1938528"/>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55" name="[p2] Forma"/>
          <p:cNvSpPr/>
          <p:nvPr/>
        </p:nvSpPr>
        <p:spPr>
          <a:xfrm>
            <a:off x="9252509" y="1828800"/>
            <a:ext cx="2161946" cy="36576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Segoe UI Semibold" pitchFamily="34" charset="0"/>
                <a:ea typeface="Segoe UI Semibold" pitchFamily="34" charset="-122"/>
                <a:cs typeface="Segoe UI Semibold" pitchFamily="34" charset="-120"/>
              </a:rPr>
              <a:t>db-notificaciones</a:t>
            </a:r>
            <a:endParaRPr lang="en-US" sz="1700" dirty="0"/>
          </a:p>
        </p:txBody>
      </p:sp>
      <p:sp>
        <p:nvSpPr>
          <p:cNvPr id="56" name="[p2] Forma"/>
          <p:cNvSpPr/>
          <p:nvPr/>
        </p:nvSpPr>
        <p:spPr>
          <a:xfrm>
            <a:off x="9252509" y="2176272"/>
            <a:ext cx="2161946"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Hibernate</a:t>
            </a:r>
            <a:endParaRPr lang="en-US" sz="1150" dirty="0"/>
          </a:p>
        </p:txBody>
      </p:sp>
      <p:sp>
        <p:nvSpPr>
          <p:cNvPr id="57" name="[p2] Forma"/>
          <p:cNvSpPr/>
          <p:nvPr/>
        </p:nvSpPr>
        <p:spPr>
          <a:xfrm>
            <a:off x="8731301" y="2715768"/>
            <a:ext cx="2619146" cy="2852928"/>
          </a:xfrm>
          <a:prstGeom prst="roundRect">
            <a:avLst>
              <a:gd name="adj" fmla="val 488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8" name="[p2] Forma"/>
          <p:cNvSpPr/>
          <p:nvPr/>
        </p:nvSpPr>
        <p:spPr>
          <a:xfrm>
            <a:off x="8731301" y="2715768"/>
            <a:ext cx="2619146" cy="512064"/>
          </a:xfrm>
          <a:prstGeom prst="roundRect">
            <a:avLst>
              <a:gd name="adj" fmla="val 25000"/>
            </a:avLst>
          </a:prstGeom>
          <a:solidFill>
            <a:srgbClr val="E3F4FA"/>
          </a:solidFill>
          <a:ln w="12700">
            <a:solidFill>
              <a:srgbClr val="E3F4FA"/>
            </a:solidFill>
            <a:prstDash val="solid"/>
          </a:ln>
        </p:spPr>
      </p:sp>
      <p:sp>
        <p:nvSpPr>
          <p:cNvPr id="59" name="[p2] Forma"/>
          <p:cNvSpPr/>
          <p:nvPr/>
        </p:nvSpPr>
        <p:spPr>
          <a:xfrm>
            <a:off x="8731301" y="3044952"/>
            <a:ext cx="2619146" cy="182880"/>
          </a:xfrm>
          <a:prstGeom prst="rect">
            <a:avLst/>
          </a:prstGeom>
          <a:solidFill>
            <a:srgbClr val="E3F4FA"/>
          </a:solidFill>
          <a:ln w="12700">
            <a:solidFill>
              <a:srgbClr val="E3F4FA"/>
            </a:solidFill>
            <a:prstDash val="solid"/>
          </a:ln>
        </p:spPr>
      </p:sp>
      <p:sp>
        <p:nvSpPr>
          <p:cNvPr id="60" name="[p2] Icono table"/>
          <p:cNvSpPr/>
          <p:nvPr/>
        </p:nvSpPr>
        <p:spPr>
          <a:xfrm>
            <a:off x="8877605"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6E8A"/>
            </a:solidFill>
            <a:prstDash val="solid"/>
            <a:round/>
          </a:ln>
        </p:spPr>
      </p:sp>
      <p:sp>
        <p:nvSpPr>
          <p:cNvPr id="61" name="[p2] Forma"/>
          <p:cNvSpPr/>
          <p:nvPr/>
        </p:nvSpPr>
        <p:spPr>
          <a:xfrm>
            <a:off x="9243365" y="2770632"/>
            <a:ext cx="1979066" cy="402336"/>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Consolas" pitchFamily="34" charset="0"/>
                <a:ea typeface="Consolas" pitchFamily="34" charset="-122"/>
                <a:cs typeface="Consolas" pitchFamily="34" charset="-120"/>
              </a:rPr>
              <a:t>evento_procesado</a:t>
            </a:r>
            <a:endParaRPr lang="en-US" sz="1500" dirty="0"/>
          </a:p>
        </p:txBody>
      </p:sp>
      <p:sp>
        <p:nvSpPr>
          <p:cNvPr id="62" name="[p2] Icono key-round"/>
          <p:cNvSpPr/>
          <p:nvPr/>
        </p:nvSpPr>
        <p:spPr>
          <a:xfrm>
            <a:off x="8886749"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63" name="[p2] Forma"/>
          <p:cNvSpPr/>
          <p:nvPr/>
        </p:nvSpPr>
        <p:spPr>
          <a:xfrm>
            <a:off x="9170213" y="3264408"/>
            <a:ext cx="20887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64" name="[p2] Forma"/>
          <p:cNvSpPr/>
          <p:nvPr/>
        </p:nvSpPr>
        <p:spPr>
          <a:xfrm>
            <a:off x="8868461" y="3710635"/>
            <a:ext cx="2344826" cy="0"/>
          </a:xfrm>
          <a:prstGeom prst="line">
            <a:avLst/>
          </a:prstGeom>
          <a:noFill/>
          <a:ln w="9525">
            <a:solidFill>
              <a:srgbClr val="DFE6F0"/>
            </a:solidFill>
            <a:prstDash val="solid"/>
          </a:ln>
        </p:spPr>
      </p:sp>
      <p:sp>
        <p:nvSpPr>
          <p:cNvPr id="65" name="[p2] Icono hash"/>
          <p:cNvSpPr/>
          <p:nvPr/>
        </p:nvSpPr>
        <p:spPr>
          <a:xfrm>
            <a:off x="8886749" y="3820363"/>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66" name="[p2] Forma"/>
          <p:cNvSpPr/>
          <p:nvPr/>
        </p:nvSpPr>
        <p:spPr>
          <a:xfrm>
            <a:off x="9170213" y="3710635"/>
            <a:ext cx="2088794" cy="446227"/>
          </a:xfrm>
          <a:prstGeom prst="rect">
            <a:avLst/>
          </a:prstGeom>
          <a:noFill/>
          <a:ln/>
        </p:spPr>
        <p:txBody>
          <a:bodyPr wrap="square" lIns="0" tIns="0" rIns="0" bIns="0" rtlCol="0" anchor="ctr">
            <a:normAutofit/>
          </a:bodyPr>
          <a:lstStyle/>
          <a:p>
            <a:pPr indent="0" marL="0">
              <a:buNone/>
            </a:pPr>
            <a:r>
              <a:rPr lang="en-US" sz="1350" b="1" dirty="0">
                <a:solidFill>
                  <a:srgbClr val="0B1A3C"/>
                </a:solidFill>
                <a:latin typeface="Consolas" pitchFamily="34" charset="0"/>
                <a:ea typeface="Consolas" pitchFamily="34" charset="-122"/>
                <a:cs typeface="Consolas" pitchFamily="34" charset="-120"/>
              </a:rPr>
              <a:t>uno por evento recibido</a:t>
            </a:r>
            <a:endParaRPr lang="en-US" sz="1350" dirty="0"/>
          </a:p>
        </p:txBody>
      </p:sp>
      <p:sp>
        <p:nvSpPr>
          <p:cNvPr id="67" name="[p3] Forma"/>
          <p:cNvSpPr/>
          <p:nvPr/>
        </p:nvSpPr>
        <p:spPr>
          <a:xfrm>
            <a:off x="6838493" y="4142232"/>
            <a:ext cx="1591056" cy="0"/>
          </a:xfrm>
          <a:prstGeom prst="line">
            <a:avLst/>
          </a:prstGeom>
          <a:noFill/>
          <a:ln w="31750">
            <a:solidFill>
              <a:srgbClr val="0B6E8A"/>
            </a:solidFill>
            <a:prstDash val="dash"/>
            <a:tailEnd type="triangle"/>
          </a:ln>
        </p:spPr>
      </p:sp>
      <p:sp>
        <p:nvSpPr>
          <p:cNvPr id="68" name="[p3] Forma"/>
          <p:cNvSpPr/>
          <p:nvPr/>
        </p:nvSpPr>
        <p:spPr>
          <a:xfrm>
            <a:off x="6838493" y="3575304"/>
            <a:ext cx="1591056" cy="512064"/>
          </a:xfrm>
          <a:prstGeom prst="rect">
            <a:avLst/>
          </a:prstGeom>
          <a:noFill/>
          <a:ln/>
        </p:spPr>
        <p:txBody>
          <a:bodyPr wrap="square" lIns="0" tIns="0" rIns="0" bIns="0" rtlCol="0" anchor="b">
            <a:normAutofit/>
          </a:bodyPr>
          <a:lstStyle/>
          <a:p>
            <a:pPr algn="ctr" indent="0" marL="0">
              <a:buNone/>
            </a:pPr>
            <a:r>
              <a:rPr lang="en-US" sz="1200" b="1" dirty="0">
                <a:solidFill>
                  <a:srgbClr val="0B6E8A"/>
                </a:solidFill>
                <a:latin typeface="Segoe UI" pitchFamily="34" charset="0"/>
                <a:ea typeface="Segoe UI" pitchFamily="34" charset="-122"/>
                <a:cs typeface="Segoe UI" pitchFamily="34" charset="-120"/>
              </a:rPr>
              <a:t>evento_id por HTTP</a:t>
            </a:r>
            <a:endParaRPr lang="en-US" sz="1200" dirty="0"/>
          </a:p>
        </p:txBody>
      </p:sp>
      <p:sp>
        <p:nvSpPr>
          <p:cNvPr id="69" name="[p3] Forma"/>
          <p:cNvSpPr/>
          <p:nvPr/>
        </p:nvSpPr>
        <p:spPr>
          <a:xfrm>
            <a:off x="6838493" y="4215384"/>
            <a:ext cx="1591056" cy="45720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sin llaves foráneas entre bases</a:t>
            </a:r>
            <a:endParaRPr lang="en-US" sz="1050" dirty="0"/>
          </a:p>
        </p:txBody>
      </p:sp>
      <p:sp>
        <p:nvSpPr>
          <p:cNvPr id="70" name="Shape 68"/>
          <p:cNvSpPr/>
          <p:nvPr/>
        </p:nvSpPr>
        <p:spPr>
          <a:xfrm>
            <a:off x="0" y="5961888"/>
            <a:ext cx="12191695" cy="475488"/>
          </a:xfrm>
          <a:prstGeom prst="rect">
            <a:avLst/>
          </a:prstGeom>
          <a:solidFill>
            <a:srgbClr val="0B2350"/>
          </a:solidFill>
          <a:ln w="12700">
            <a:solidFill>
              <a:srgbClr val="0B2350"/>
            </a:solidFill>
            <a:prstDash val="solid"/>
          </a:ln>
        </p:spPr>
      </p:sp>
      <p:sp>
        <p:nvSpPr>
          <p:cNvPr id="7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72" name="Text 70"/>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Cada servicio cambia su esquema sin coordinarse con el otro; solo el número del evento es compartido.</a:t>
            </a:r>
            <a:endParaRPr lang="en-US" sz="14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400"/>
                                        <p:tgtEl>
                                          <p:spTgt spid="3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3"/>
                                        </p:tgtEl>
                                        <p:attrNameLst>
                                          <p:attrName>style.visibility</p:attrName>
                                        </p:attrNameLst>
                                      </p:cBhvr>
                                      <p:to>
                                        <p:strVal val="visible"/>
                                      </p:to>
                                    </p:set>
                                    <p:animEffect transition="in" filter="fade">
                                      <p:cBhvr>
                                        <p:cTn id="8" dur="400"/>
                                        <p:tgtEl>
                                          <p:spTgt spid="3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400"/>
                                        <p:tgtEl>
                                          <p:spTgt spid="3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400"/>
                                        <p:tgtEl>
                                          <p:spTgt spid="3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400"/>
                                        <p:tgtEl>
                                          <p:spTgt spid="3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400"/>
                                        <p:tgtEl>
                                          <p:spTgt spid="3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400"/>
                                        <p:tgtEl>
                                          <p:spTgt spid="3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400"/>
                                        <p:tgtEl>
                                          <p:spTgt spid="4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400"/>
                                        <p:tgtEl>
                                          <p:spTgt spid="4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400"/>
                                        <p:tgtEl>
                                          <p:spTgt spid="4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400"/>
                                        <p:tgtEl>
                                          <p:spTgt spid="4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400"/>
                                        <p:tgtEl>
                                          <p:spTgt spid="4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400"/>
                                        <p:tgtEl>
                                          <p:spTgt spid="4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400"/>
                                        <p:tgtEl>
                                          <p:spTgt spid="4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400"/>
                                        <p:tgtEl>
                                          <p:spTgt spid="4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400"/>
                                        <p:tgtEl>
                                          <p:spTgt spid="4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400"/>
                                        <p:tgtEl>
                                          <p:spTgt spid="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fade">
                                      <p:cBhvr>
                                        <p:cTn id="59" dur="400"/>
                                        <p:tgtEl>
                                          <p:spTgt spid="50"/>
                                        </p:tgtEl>
                                      </p:cBhvr>
                                    </p:animEffect>
                                  </p:childTnLst>
                                </p:cTn>
                              </p:par>
                            </p:childTnLst>
                          </p:cTn>
                        </p:par>
                      </p:childTnLst>
                    </p:cTn>
                  </p:par>
                  <p:par>
                    <p:cTn id="110" fill="hold">
                      <p:stCondLst>
                        <p:cond delay="indefinite"/>
                      </p:stCondLst>
                      <p:childTnLst>
                        <p:par>
                          <p:cTn id="11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fade">
                                      <p:cBhvr>
                                        <p:cTn id="64" dur="400"/>
                                        <p:tgtEl>
                                          <p:spTgt spid="5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400"/>
                                        <p:tgtEl>
                                          <p:spTgt spid="5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400"/>
                                        <p:tgtEl>
                                          <p:spTgt spid="5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400"/>
                                        <p:tgtEl>
                                          <p:spTgt spid="5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animEffect transition="in" filter="fade">
                                      <p:cBhvr>
                                        <p:cTn id="76" dur="400"/>
                                        <p:tgtEl>
                                          <p:spTgt spid="5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6"/>
                                        </p:tgtEl>
                                        <p:attrNameLst>
                                          <p:attrName>style.visibility</p:attrName>
                                        </p:attrNameLst>
                                      </p:cBhvr>
                                      <p:to>
                                        <p:strVal val="visible"/>
                                      </p:to>
                                    </p:set>
                                    <p:animEffect transition="in" filter="fade">
                                      <p:cBhvr>
                                        <p:cTn id="79" dur="400"/>
                                        <p:tgtEl>
                                          <p:spTgt spid="5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fade">
                                      <p:cBhvr>
                                        <p:cTn id="82" dur="400"/>
                                        <p:tgtEl>
                                          <p:spTgt spid="5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400"/>
                                        <p:tgtEl>
                                          <p:spTgt spid="5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fade">
                                      <p:cBhvr>
                                        <p:cTn id="88" dur="400"/>
                                        <p:tgtEl>
                                          <p:spTgt spid="5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400"/>
                                        <p:tgtEl>
                                          <p:spTgt spid="6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1"/>
                                        </p:tgtEl>
                                        <p:attrNameLst>
                                          <p:attrName>style.visibility</p:attrName>
                                        </p:attrNameLst>
                                      </p:cBhvr>
                                      <p:to>
                                        <p:strVal val="visible"/>
                                      </p:to>
                                    </p:set>
                                    <p:animEffect transition="in" filter="fade">
                                      <p:cBhvr>
                                        <p:cTn id="94" dur="400"/>
                                        <p:tgtEl>
                                          <p:spTgt spid="6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2"/>
                                        </p:tgtEl>
                                        <p:attrNameLst>
                                          <p:attrName>style.visibility</p:attrName>
                                        </p:attrNameLst>
                                      </p:cBhvr>
                                      <p:to>
                                        <p:strVal val="visible"/>
                                      </p:to>
                                    </p:set>
                                    <p:animEffect transition="in" filter="fade">
                                      <p:cBhvr>
                                        <p:cTn id="97" dur="400"/>
                                        <p:tgtEl>
                                          <p:spTgt spid="6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3"/>
                                        </p:tgtEl>
                                        <p:attrNameLst>
                                          <p:attrName>style.visibility</p:attrName>
                                        </p:attrNameLst>
                                      </p:cBhvr>
                                      <p:to>
                                        <p:strVal val="visible"/>
                                      </p:to>
                                    </p:set>
                                    <p:animEffect transition="in" filter="fade">
                                      <p:cBhvr>
                                        <p:cTn id="100" dur="400"/>
                                        <p:tgtEl>
                                          <p:spTgt spid="6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4"/>
                                        </p:tgtEl>
                                        <p:attrNameLst>
                                          <p:attrName>style.visibility</p:attrName>
                                        </p:attrNameLst>
                                      </p:cBhvr>
                                      <p:to>
                                        <p:strVal val="visible"/>
                                      </p:to>
                                    </p:set>
                                    <p:animEffect transition="in" filter="fade">
                                      <p:cBhvr>
                                        <p:cTn id="103" dur="400"/>
                                        <p:tgtEl>
                                          <p:spTgt spid="6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5"/>
                                        </p:tgtEl>
                                        <p:attrNameLst>
                                          <p:attrName>style.visibility</p:attrName>
                                        </p:attrNameLst>
                                      </p:cBhvr>
                                      <p:to>
                                        <p:strVal val="visible"/>
                                      </p:to>
                                    </p:set>
                                    <p:animEffect transition="in" filter="fade">
                                      <p:cBhvr>
                                        <p:cTn id="106" dur="400"/>
                                        <p:tgtEl>
                                          <p:spTgt spid="6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6"/>
                                        </p:tgtEl>
                                        <p:attrNameLst>
                                          <p:attrName>style.visibility</p:attrName>
                                        </p:attrNameLst>
                                      </p:cBhvr>
                                      <p:to>
                                        <p:strVal val="visible"/>
                                      </p:to>
                                    </p:set>
                                    <p:animEffect transition="in" filter="fade">
                                      <p:cBhvr>
                                        <p:cTn id="109" dur="400"/>
                                        <p:tgtEl>
                                          <p:spTgt spid="66"/>
                                        </p:tgtEl>
                                      </p:cBhvr>
                                    </p:animEffect>
                                  </p:childTnLst>
                                </p:cTn>
                              </p:par>
                            </p:childTnLst>
                          </p:cTn>
                        </p:par>
                      </p:childTnLst>
                    </p:cTn>
                  </p:par>
                  <p:par>
                    <p:cTn id="121" fill="hold">
                      <p:stCondLst>
                        <p:cond delay="indefinite"/>
                      </p:stCondLst>
                      <p:childTnLst>
                        <p:par>
                          <p:cTn id="122"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67"/>
                                        </p:tgtEl>
                                        <p:attrNameLst>
                                          <p:attrName>style.visibility</p:attrName>
                                        </p:attrNameLst>
                                      </p:cBhvr>
                                      <p:to>
                                        <p:strVal val="visible"/>
                                      </p:to>
                                    </p:set>
                                    <p:animEffect transition="in" filter="fade">
                                      <p:cBhvr>
                                        <p:cTn id="114" dur="400"/>
                                        <p:tgtEl>
                                          <p:spTgt spid="6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8"/>
                                        </p:tgtEl>
                                        <p:attrNameLst>
                                          <p:attrName>style.visibility</p:attrName>
                                        </p:attrNameLst>
                                      </p:cBhvr>
                                      <p:to>
                                        <p:strVal val="visible"/>
                                      </p:to>
                                    </p:set>
                                    <p:animEffect transition="in" filter="fade">
                                      <p:cBhvr>
                                        <p:cTn id="117" dur="400"/>
                                        <p:tgtEl>
                                          <p:spTgt spid="68"/>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9"/>
                                        </p:tgtEl>
                                        <p:attrNameLst>
                                          <p:attrName>style.visibility</p:attrName>
                                        </p:attrNameLst>
                                      </p:cBhvr>
                                      <p:to>
                                        <p:strVal val="visible"/>
                                      </p:to>
                                    </p:set>
                                    <p:animEffect transition="in" filter="fade">
                                      <p:cBhvr>
                                        <p:cTn id="120"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diferencia no es la base de datos: es dónde vive la regla del negocio.</a:t>
            </a:r>
            <a:endParaRPr lang="en-US" sz="1700" dirty="0"/>
          </a:p>
        </p:txBody>
      </p:sp>
      <p:sp>
        <p:nvSpPr>
          <p:cNvPr id="13" name="Shape 11"/>
          <p:cNvSpPr/>
          <p:nvPr/>
        </p:nvSpPr>
        <p:spPr>
          <a:xfrm>
            <a:off x="612648" y="1719072"/>
            <a:ext cx="10966399" cy="1897380"/>
          </a:xfrm>
          <a:prstGeom prst="roundRect">
            <a:avLst>
              <a:gd name="adj" fmla="val 6747"/>
            </a:avLst>
          </a:prstGeom>
          <a:solidFill>
            <a:srgbClr val="F8FAFC"/>
          </a:solidFill>
          <a:ln w="12700">
            <a:solidFill>
              <a:srgbClr val="C4C8D2"/>
            </a:solidFill>
            <a:prstDash val="solid"/>
          </a:ln>
        </p:spPr>
      </p:sp>
      <p:sp>
        <p:nvSpPr>
          <p:cNvPr id="14" name="Text 12"/>
          <p:cNvSpPr/>
          <p:nvPr/>
        </p:nvSpPr>
        <p:spPr>
          <a:xfrm>
            <a:off x="612648" y="1719072"/>
            <a:ext cx="1874520" cy="1897380"/>
          </a:xfrm>
          <a:prstGeom prst="roundRect">
            <a:avLst>
              <a:gd name="adj" fmla="val 6829"/>
            </a:avLst>
          </a:prstGeom>
          <a:solidFill>
            <a:srgbClr val="55627E"/>
          </a:solidFill>
          <a:ln>
            <a:solidFill>
              <a:srgbClr val="55627E"/>
            </a:solidFill>
          </a:ln>
        </p:spPr>
        <p:txBody>
          <a:bodyPr wrap="square" lIns="101600" tIns="101600" rIns="101600" bIns="101600" rtlCol="0" anchor="ctr"/>
          <a:lstStyle/>
          <a:p>
            <a:pPr algn="ctr" indent="0" marL="0">
              <a:buNone/>
            </a:pPr>
            <a:r>
              <a:rPr lang="en-US" sz="1550" b="1" dirty="0">
                <a:solidFill>
                  <a:srgbClr val="FFFFFF"/>
                </a:solidFill>
                <a:latin typeface="Segoe UI Semibold" pitchFamily="34" charset="0"/>
                <a:ea typeface="Segoe UI Semibold" pitchFamily="34" charset="-122"/>
                <a:cs typeface="Segoe UI Semibold" pitchFamily="34" charset="-120"/>
              </a:rPr>
              <a:t>Hoy: procedimientos almacenados</a:t>
            </a:r>
            <a:endParaRPr lang="en-US" sz="1550" dirty="0"/>
          </a:p>
        </p:txBody>
      </p:sp>
      <p:sp>
        <p:nvSpPr>
          <p:cNvPr id="15" name="Shape 13"/>
          <p:cNvSpPr/>
          <p:nvPr/>
        </p:nvSpPr>
        <p:spPr>
          <a:xfrm>
            <a:off x="2761488" y="2171700"/>
            <a:ext cx="2085746" cy="1280160"/>
          </a:xfrm>
          <a:prstGeom prst="roundRect">
            <a:avLst>
              <a:gd name="adj" fmla="val 10000"/>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3575761" y="2263140"/>
            <a:ext cx="457200" cy="457200"/>
          </a:xfrm>
          <a:prstGeom prst="ellipse">
            <a:avLst/>
          </a:prstGeom>
          <a:solidFill>
            <a:srgbClr val="F4F7FB"/>
          </a:solidFill>
          <a:ln w="12700">
            <a:solidFill>
              <a:srgbClr val="F4F7FB"/>
            </a:solidFill>
            <a:prstDash val="solid"/>
          </a:ln>
        </p:spPr>
      </p:sp>
      <p:sp>
        <p:nvSpPr>
          <p:cNvPr id="17" name="Icono monitor"/>
          <p:cNvSpPr/>
          <p:nvPr/>
        </p:nvSpPr>
        <p:spPr>
          <a:xfrm>
            <a:off x="3685489" y="2372868"/>
            <a:ext cx="237744" cy="237744"/>
          </a:xfrm>
          <a:custGeom>
            <a:avLst/>
            <a:gdLst/>
            <a:ahLst/>
            <a:cxnLst/>
            <a:rect l="l" t="t" r="r" b="b"/>
            <a:pathLst>
              <a:path w="237744" h="237744">
                <a:moveTo>
                  <a:pt x="39624" y="29718"/>
                </a:moveTo>
                <a:lnTo>
                  <a:pt x="198120" y="29718"/>
                </a:lnTo>
                <a:cubicBezTo>
                  <a:pt x="209062" y="29718"/>
                  <a:pt x="217932" y="38588"/>
                  <a:pt x="217932" y="49530"/>
                </a:cubicBezTo>
                <a:lnTo>
                  <a:pt x="217932" y="148590"/>
                </a:lnTo>
                <a:cubicBezTo>
                  <a:pt x="217932" y="159532"/>
                  <a:pt x="209062" y="168402"/>
                  <a:pt x="198120" y="168402"/>
                </a:cubicBezTo>
                <a:lnTo>
                  <a:pt x="39624" y="168402"/>
                </a:lnTo>
                <a:cubicBezTo>
                  <a:pt x="28682" y="168402"/>
                  <a:pt x="19812" y="159532"/>
                  <a:pt x="19812" y="148590"/>
                </a:cubicBezTo>
                <a:lnTo>
                  <a:pt x="19812" y="49530"/>
                </a:lnTo>
                <a:cubicBezTo>
                  <a:pt x="19812" y="38588"/>
                  <a:pt x="28682" y="29718"/>
                  <a:pt x="39624" y="29718"/>
                </a:cubicBezTo>
                <a:close/>
                <a:moveTo>
                  <a:pt x="79248" y="208026"/>
                </a:moveTo>
                <a:lnTo>
                  <a:pt x="158496" y="208026"/>
                </a:lnTo>
                <a:moveTo>
                  <a:pt x="118872" y="168402"/>
                </a:moveTo>
                <a:lnTo>
                  <a:pt x="118872" y="208026"/>
                </a:lnTo>
              </a:path>
            </a:pathLst>
          </a:custGeom>
          <a:noFill/>
          <a:ln w="19812" cap="rnd">
            <a:solidFill>
              <a:srgbClr val="55627E"/>
            </a:solidFill>
            <a:prstDash val="solid"/>
            <a:round/>
          </a:ln>
        </p:spPr>
      </p:sp>
      <p:sp>
        <p:nvSpPr>
          <p:cNvPr id="18" name="Text 16"/>
          <p:cNvSpPr/>
          <p:nvPr/>
        </p:nvSpPr>
        <p:spPr>
          <a:xfrm>
            <a:off x="2834640"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55627E"/>
                </a:solidFill>
                <a:latin typeface="Segoe UI Semibold" pitchFamily="34" charset="0"/>
                <a:ea typeface="Segoe UI Semibold" pitchFamily="34" charset="-122"/>
                <a:cs typeface="Segoe UI Semibold" pitchFamily="34" charset="-120"/>
              </a:rPr>
              <a:t>Pantalla</a:t>
            </a:r>
            <a:endParaRPr lang="en-US" sz="1400" dirty="0"/>
          </a:p>
        </p:txBody>
      </p:sp>
      <p:sp>
        <p:nvSpPr>
          <p:cNvPr id="19" name="Text 17"/>
          <p:cNvSpPr/>
          <p:nvPr/>
        </p:nvSpPr>
        <p:spPr>
          <a:xfrm>
            <a:off x="2852928" y="3049524"/>
            <a:ext cx="1902866" cy="347472"/>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Segoe UI" pitchFamily="34" charset="0"/>
                <a:ea typeface="Segoe UI" pitchFamily="34" charset="-122"/>
                <a:cs typeface="Segoe UI" pitchFamily="34" charset="-120"/>
              </a:rPr>
              <a:t>La persona pulsa Enviar.</a:t>
            </a:r>
            <a:endParaRPr lang="en-US" sz="1150" dirty="0"/>
          </a:p>
        </p:txBody>
      </p:sp>
      <p:sp>
        <p:nvSpPr>
          <p:cNvPr id="20" name="Shape 18"/>
          <p:cNvSpPr/>
          <p:nvPr/>
        </p:nvSpPr>
        <p:spPr>
          <a:xfrm>
            <a:off x="4920386" y="2811780"/>
            <a:ext cx="1042416" cy="0"/>
          </a:xfrm>
          <a:prstGeom prst="line">
            <a:avLst/>
          </a:prstGeom>
          <a:noFill/>
          <a:ln w="31750">
            <a:solidFill>
              <a:srgbClr val="55627E"/>
            </a:solidFill>
            <a:prstDash val="solid"/>
            <a:tailEnd type="triangle"/>
          </a:ln>
        </p:spPr>
      </p:sp>
      <p:sp>
        <p:nvSpPr>
          <p:cNvPr id="21" name="Text 19"/>
          <p:cNvSpPr/>
          <p:nvPr/>
        </p:nvSpPr>
        <p:spPr>
          <a:xfrm>
            <a:off x="4883810" y="2244852"/>
            <a:ext cx="1115568" cy="512064"/>
          </a:xfrm>
          <a:prstGeom prst="rect">
            <a:avLst/>
          </a:prstGeom>
          <a:noFill/>
          <a:ln/>
        </p:spPr>
        <p:txBody>
          <a:bodyPr wrap="square" lIns="0" tIns="0" rIns="0" bIns="0" rtlCol="0" anchor="b"/>
          <a:lstStyle/>
          <a:p>
            <a:pPr algn="ctr" indent="0" marL="0">
              <a:buNone/>
            </a:pPr>
            <a:r>
              <a:rPr lang="en-US" sz="1150" b="1" dirty="0">
                <a:solidFill>
                  <a:srgbClr val="55627E"/>
                </a:solidFill>
                <a:latin typeface="Consolas" pitchFamily="34" charset="0"/>
                <a:ea typeface="Consolas" pitchFamily="34" charset="-122"/>
                <a:cs typeface="Consolas" pitchFamily="34" charset="-120"/>
              </a:rPr>
              <a:t>clic</a:t>
            </a:r>
            <a:endParaRPr lang="en-US" sz="1150" dirty="0"/>
          </a:p>
        </p:txBody>
      </p:sp>
      <p:sp>
        <p:nvSpPr>
          <p:cNvPr id="22" name="Shape 20"/>
          <p:cNvSpPr/>
          <p:nvPr/>
        </p:nvSpPr>
        <p:spPr>
          <a:xfrm>
            <a:off x="6035954" y="2171700"/>
            <a:ext cx="2085746" cy="1280160"/>
          </a:xfrm>
          <a:prstGeom prst="roundRect">
            <a:avLst>
              <a:gd name="adj" fmla="val 10000"/>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6850228" y="2263140"/>
            <a:ext cx="457200" cy="457200"/>
          </a:xfrm>
          <a:prstGeom prst="ellipse">
            <a:avLst/>
          </a:prstGeom>
          <a:solidFill>
            <a:srgbClr val="F4F7FB"/>
          </a:solidFill>
          <a:ln w="12700">
            <a:solidFill>
              <a:srgbClr val="F4F7FB"/>
            </a:solidFill>
            <a:prstDash val="solid"/>
          </a:ln>
        </p:spPr>
      </p:sp>
      <p:sp>
        <p:nvSpPr>
          <p:cNvPr id="24" name="Icono server"/>
          <p:cNvSpPr/>
          <p:nvPr/>
        </p:nvSpPr>
        <p:spPr>
          <a:xfrm>
            <a:off x="6959956" y="2372868"/>
            <a:ext cx="237744" cy="237744"/>
          </a:xfrm>
          <a:custGeom>
            <a:avLst/>
            <a:gdLst/>
            <a:ahLst/>
            <a:cxnLst/>
            <a:rect l="l" t="t" r="r" b="b"/>
            <a:pathLst>
              <a:path w="237744" h="237744">
                <a:moveTo>
                  <a:pt x="39624" y="19812"/>
                </a:moveTo>
                <a:lnTo>
                  <a:pt x="198120" y="19812"/>
                </a:lnTo>
                <a:cubicBezTo>
                  <a:pt x="209062" y="19812"/>
                  <a:pt x="217932" y="28682"/>
                  <a:pt x="217932" y="39624"/>
                </a:cubicBezTo>
                <a:lnTo>
                  <a:pt x="217932" y="79248"/>
                </a:lnTo>
                <a:cubicBezTo>
                  <a:pt x="217932" y="90190"/>
                  <a:pt x="209062" y="99060"/>
                  <a:pt x="198120" y="99060"/>
                </a:cubicBezTo>
                <a:lnTo>
                  <a:pt x="39624" y="99060"/>
                </a:lnTo>
                <a:cubicBezTo>
                  <a:pt x="28682" y="99060"/>
                  <a:pt x="19812" y="90190"/>
                  <a:pt x="19812" y="79248"/>
                </a:cubicBezTo>
                <a:lnTo>
                  <a:pt x="19812" y="39624"/>
                </a:lnTo>
                <a:cubicBezTo>
                  <a:pt x="19812" y="28682"/>
                  <a:pt x="28682" y="19812"/>
                  <a:pt x="39624" y="19812"/>
                </a:cubicBezTo>
                <a:close/>
                <a:moveTo>
                  <a:pt x="39624" y="138684"/>
                </a:moveTo>
                <a:lnTo>
                  <a:pt x="198120" y="138684"/>
                </a:lnTo>
                <a:cubicBezTo>
                  <a:pt x="209062" y="138684"/>
                  <a:pt x="217932" y="147554"/>
                  <a:pt x="217932" y="158496"/>
                </a:cubicBezTo>
                <a:lnTo>
                  <a:pt x="217932" y="198120"/>
                </a:lnTo>
                <a:cubicBezTo>
                  <a:pt x="217932" y="209062"/>
                  <a:pt x="209062" y="217932"/>
                  <a:pt x="198120" y="217932"/>
                </a:cubicBezTo>
                <a:lnTo>
                  <a:pt x="39624" y="217932"/>
                </a:lnTo>
                <a:cubicBezTo>
                  <a:pt x="28682" y="217932"/>
                  <a:pt x="19812" y="209062"/>
                  <a:pt x="19812" y="198120"/>
                </a:cubicBezTo>
                <a:lnTo>
                  <a:pt x="19812" y="158496"/>
                </a:lnTo>
                <a:cubicBezTo>
                  <a:pt x="19812" y="147554"/>
                  <a:pt x="28682" y="138684"/>
                  <a:pt x="39624" y="138684"/>
                </a:cubicBezTo>
                <a:close/>
                <a:moveTo>
                  <a:pt x="59436" y="59436"/>
                </a:moveTo>
                <a:lnTo>
                  <a:pt x="59535" y="59436"/>
                </a:lnTo>
                <a:moveTo>
                  <a:pt x="59436" y="178308"/>
                </a:moveTo>
                <a:lnTo>
                  <a:pt x="59535" y="178308"/>
                </a:lnTo>
              </a:path>
            </a:pathLst>
          </a:custGeom>
          <a:noFill/>
          <a:ln w="19812" cap="rnd">
            <a:solidFill>
              <a:srgbClr val="55627E"/>
            </a:solidFill>
            <a:prstDash val="solid"/>
            <a:round/>
          </a:ln>
        </p:spPr>
      </p:sp>
      <p:sp>
        <p:nvSpPr>
          <p:cNvPr id="25" name="Text 23"/>
          <p:cNvSpPr/>
          <p:nvPr/>
        </p:nvSpPr>
        <p:spPr>
          <a:xfrm>
            <a:off x="6109106"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55627E"/>
                </a:solidFill>
                <a:latin typeface="Segoe UI Semibold" pitchFamily="34" charset="0"/>
                <a:ea typeface="Segoe UI Semibold" pitchFamily="34" charset="-122"/>
                <a:cs typeface="Segoe UI Semibold" pitchFamily="34" charset="-120"/>
              </a:rPr>
              <a:t>Aplicación</a:t>
            </a:r>
            <a:endParaRPr lang="en-US" sz="1400" dirty="0"/>
          </a:p>
        </p:txBody>
      </p:sp>
      <p:sp>
        <p:nvSpPr>
          <p:cNvPr id="26" name="Text 24"/>
          <p:cNvSpPr/>
          <p:nvPr/>
        </p:nvSpPr>
        <p:spPr>
          <a:xfrm>
            <a:off x="6127394" y="3049524"/>
            <a:ext cx="1902866"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Solo pasa los parámetros.</a:t>
            </a:r>
            <a:endParaRPr lang="en-US" sz="1100" dirty="0"/>
          </a:p>
        </p:txBody>
      </p:sp>
      <p:sp>
        <p:nvSpPr>
          <p:cNvPr id="27" name="Shape 25"/>
          <p:cNvSpPr/>
          <p:nvPr/>
        </p:nvSpPr>
        <p:spPr>
          <a:xfrm>
            <a:off x="8194853" y="2811780"/>
            <a:ext cx="1042416" cy="0"/>
          </a:xfrm>
          <a:prstGeom prst="line">
            <a:avLst/>
          </a:prstGeom>
          <a:noFill/>
          <a:ln w="31750">
            <a:solidFill>
              <a:srgbClr val="55627E"/>
            </a:solidFill>
            <a:prstDash val="solid"/>
            <a:tailEnd type="triangle"/>
          </a:ln>
        </p:spPr>
      </p:sp>
      <p:sp>
        <p:nvSpPr>
          <p:cNvPr id="28" name="Text 26"/>
          <p:cNvSpPr/>
          <p:nvPr/>
        </p:nvSpPr>
        <p:spPr>
          <a:xfrm>
            <a:off x="8158277" y="2244852"/>
            <a:ext cx="1115568" cy="512064"/>
          </a:xfrm>
          <a:prstGeom prst="rect">
            <a:avLst/>
          </a:prstGeom>
          <a:noFill/>
          <a:ln/>
        </p:spPr>
        <p:txBody>
          <a:bodyPr wrap="square" lIns="0" tIns="0" rIns="0" bIns="0" rtlCol="0" anchor="b"/>
          <a:lstStyle/>
          <a:p>
            <a:pPr algn="ctr" indent="0" marL="0">
              <a:buNone/>
            </a:pPr>
            <a:r>
              <a:rPr lang="en-US" sz="1150" b="1" dirty="0">
                <a:solidFill>
                  <a:srgbClr val="55627E"/>
                </a:solidFill>
                <a:latin typeface="Consolas" pitchFamily="34" charset="0"/>
                <a:ea typeface="Consolas" pitchFamily="34" charset="-122"/>
                <a:cs typeface="Consolas" pitchFamily="34" charset="-120"/>
              </a:rPr>
              <a:t>EXEC sp_enviar @id</a:t>
            </a:r>
            <a:endParaRPr lang="en-US" sz="1150" dirty="0"/>
          </a:p>
        </p:txBody>
      </p:sp>
      <p:sp>
        <p:nvSpPr>
          <p:cNvPr id="29" name="Shape 27"/>
          <p:cNvSpPr/>
          <p:nvPr/>
        </p:nvSpPr>
        <p:spPr>
          <a:xfrm>
            <a:off x="9310421" y="2171700"/>
            <a:ext cx="2085746" cy="1280160"/>
          </a:xfrm>
          <a:prstGeom prst="roundRect">
            <a:avLst>
              <a:gd name="adj" fmla="val 10000"/>
            </a:avLst>
          </a:prstGeom>
          <a:solidFill>
            <a:srgbClr val="FCEFD6"/>
          </a:solidFill>
          <a:ln w="12700">
            <a:solidFill>
              <a:srgbClr val="8A4B06"/>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9310421" y="2171700"/>
            <a:ext cx="2085746" cy="1280160"/>
          </a:xfrm>
          <a:prstGeom prst="roundRect">
            <a:avLst>
              <a:gd name="adj" fmla="val 10000"/>
            </a:avLst>
          </a:prstGeom>
          <a:solidFill>
            <a:srgbClr val="FCEFD6">
              <a:alpha val="0"/>
            </a:srgbClr>
          </a:solidFill>
          <a:ln w="31750">
            <a:solidFill>
              <a:srgbClr val="8A4B06"/>
            </a:solidFill>
            <a:prstDash val="solid"/>
          </a:ln>
        </p:spPr>
      </p:sp>
      <p:sp>
        <p:nvSpPr>
          <p:cNvPr id="31" name="Text 29"/>
          <p:cNvSpPr/>
          <p:nvPr/>
        </p:nvSpPr>
        <p:spPr>
          <a:xfrm>
            <a:off x="9393174" y="1842516"/>
            <a:ext cx="1920240"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AQUÍ VIVE LA REGLA</a:t>
            </a:r>
            <a:endParaRPr lang="en-US" sz="950" dirty="0"/>
          </a:p>
        </p:txBody>
      </p:sp>
      <p:sp>
        <p:nvSpPr>
          <p:cNvPr id="32" name="Shape 30"/>
          <p:cNvSpPr/>
          <p:nvPr/>
        </p:nvSpPr>
        <p:spPr>
          <a:xfrm>
            <a:off x="10124694" y="2263140"/>
            <a:ext cx="457200" cy="457200"/>
          </a:xfrm>
          <a:prstGeom prst="ellipse">
            <a:avLst/>
          </a:prstGeom>
          <a:solidFill>
            <a:srgbClr val="FFFFFF"/>
          </a:solidFill>
          <a:ln w="12700">
            <a:solidFill>
              <a:srgbClr val="FFFFFF"/>
            </a:solidFill>
            <a:prstDash val="solid"/>
          </a:ln>
        </p:spPr>
      </p:sp>
      <p:sp>
        <p:nvSpPr>
          <p:cNvPr id="33" name="Icono database"/>
          <p:cNvSpPr/>
          <p:nvPr/>
        </p:nvSpPr>
        <p:spPr>
          <a:xfrm>
            <a:off x="10234422" y="2372868"/>
            <a:ext cx="237744" cy="237744"/>
          </a:xfrm>
          <a:custGeom>
            <a:avLst/>
            <a:gdLst/>
            <a:ahLst/>
            <a:cxnLst/>
            <a:rect l="l" t="t" r="r" b="b"/>
            <a:pathLst>
              <a:path w="237744" h="237744">
                <a:moveTo>
                  <a:pt x="208026" y="49530"/>
                </a:moveTo>
                <a:cubicBezTo>
                  <a:pt x="208026" y="65943"/>
                  <a:pt x="168110" y="79248"/>
                  <a:pt x="118872" y="79248"/>
                </a:cubicBezTo>
                <a:cubicBezTo>
                  <a:pt x="69634" y="79248"/>
                  <a:pt x="29718" y="65943"/>
                  <a:pt x="29718" y="49530"/>
                </a:cubicBezTo>
                <a:cubicBezTo>
                  <a:pt x="29718" y="33117"/>
                  <a:pt x="69634" y="19812"/>
                  <a:pt x="118872" y="19812"/>
                </a:cubicBezTo>
                <a:cubicBezTo>
                  <a:pt x="168110" y="19812"/>
                  <a:pt x="208026" y="33117"/>
                  <a:pt x="208026" y="49530"/>
                </a:cubicBezTo>
                <a:close/>
                <a:moveTo>
                  <a:pt x="29718" y="49530"/>
                </a:moveTo>
                <a:lnTo>
                  <a:pt x="29718" y="188214"/>
                </a:lnTo>
                <a:cubicBezTo>
                  <a:pt x="29718" y="204627"/>
                  <a:pt x="69634" y="217932"/>
                  <a:pt x="118872" y="217932"/>
                </a:cubicBezTo>
                <a:cubicBezTo>
                  <a:pt x="168110" y="217932"/>
                  <a:pt x="208026" y="204627"/>
                  <a:pt x="208026" y="188214"/>
                </a:cubicBezTo>
                <a:lnTo>
                  <a:pt x="208026" y="49530"/>
                </a:lnTo>
                <a:moveTo>
                  <a:pt x="29718" y="118872"/>
                </a:moveTo>
                <a:cubicBezTo>
                  <a:pt x="29718" y="135285"/>
                  <a:pt x="69634" y="148590"/>
                  <a:pt x="118872" y="148590"/>
                </a:cubicBezTo>
                <a:cubicBezTo>
                  <a:pt x="168110" y="148590"/>
                  <a:pt x="208026" y="135285"/>
                  <a:pt x="208026" y="118872"/>
                </a:cubicBezTo>
              </a:path>
            </a:pathLst>
          </a:custGeom>
          <a:noFill/>
          <a:ln w="19812" cap="rnd">
            <a:solidFill>
              <a:srgbClr val="8A4B06"/>
            </a:solidFill>
            <a:prstDash val="solid"/>
            <a:round/>
          </a:ln>
        </p:spPr>
      </p:sp>
      <p:sp>
        <p:nvSpPr>
          <p:cNvPr id="34" name="Text 32"/>
          <p:cNvSpPr/>
          <p:nvPr/>
        </p:nvSpPr>
        <p:spPr>
          <a:xfrm>
            <a:off x="9383573"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8A4B06"/>
                </a:solidFill>
                <a:latin typeface="Segoe UI Semibold" pitchFamily="34" charset="0"/>
                <a:ea typeface="Segoe UI Semibold" pitchFamily="34" charset="-122"/>
                <a:cs typeface="Segoe UI Semibold" pitchFamily="34" charset="-120"/>
              </a:rPr>
              <a:t>Base de datos</a:t>
            </a:r>
            <a:endParaRPr lang="en-US" sz="1400" dirty="0"/>
          </a:p>
        </p:txBody>
      </p:sp>
      <p:sp>
        <p:nvSpPr>
          <p:cNvPr id="35" name="Text 33"/>
          <p:cNvSpPr/>
          <p:nvPr/>
        </p:nvSpPr>
        <p:spPr>
          <a:xfrm>
            <a:off x="9401861" y="3049524"/>
            <a:ext cx="1902866"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El procedimiento decide y guarda.</a:t>
            </a:r>
            <a:endParaRPr lang="en-US" sz="1100" dirty="0"/>
          </a:p>
        </p:txBody>
      </p:sp>
      <p:sp>
        <p:nvSpPr>
          <p:cNvPr id="36" name="[p1] Forma"/>
          <p:cNvSpPr/>
          <p:nvPr/>
        </p:nvSpPr>
        <p:spPr>
          <a:xfrm>
            <a:off x="612648" y="3936492"/>
            <a:ext cx="10966399" cy="1897380"/>
          </a:xfrm>
          <a:prstGeom prst="roundRect">
            <a:avLst>
              <a:gd name="adj" fmla="val 6747"/>
            </a:avLst>
          </a:prstGeom>
          <a:solidFill>
            <a:srgbClr val="EDF8FC"/>
          </a:solidFill>
          <a:ln w="12700">
            <a:solidFill>
              <a:srgbClr val="AACCD6"/>
            </a:solidFill>
            <a:prstDash val="solid"/>
          </a:ln>
        </p:spPr>
      </p:sp>
      <p:sp>
        <p:nvSpPr>
          <p:cNvPr id="37" name="[p1] Forma"/>
          <p:cNvSpPr/>
          <p:nvPr/>
        </p:nvSpPr>
        <p:spPr>
          <a:xfrm>
            <a:off x="612648" y="3936492"/>
            <a:ext cx="1874520" cy="1897380"/>
          </a:xfrm>
          <a:prstGeom prst="roundRect">
            <a:avLst>
              <a:gd name="adj" fmla="val 6829"/>
            </a:avLst>
          </a:prstGeom>
          <a:solidFill>
            <a:srgbClr val="0B6E8A"/>
          </a:solidFill>
          <a:ln>
            <a:solidFill>
              <a:srgbClr val="0B6E8A"/>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ARKA-Lite: un ORM</a:t>
            </a:r>
            <a:endParaRPr lang="en-US" sz="1600" dirty="0"/>
          </a:p>
        </p:txBody>
      </p:sp>
      <p:sp>
        <p:nvSpPr>
          <p:cNvPr id="38" name="[p1] Forma"/>
          <p:cNvSpPr/>
          <p:nvPr/>
        </p:nvSpPr>
        <p:spPr>
          <a:xfrm>
            <a:off x="2761488"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39" name="[p1] Forma"/>
          <p:cNvSpPr/>
          <p:nvPr/>
        </p:nvSpPr>
        <p:spPr>
          <a:xfrm>
            <a:off x="3166453" y="4480560"/>
            <a:ext cx="457200" cy="457200"/>
          </a:xfrm>
          <a:prstGeom prst="ellipse">
            <a:avLst/>
          </a:prstGeom>
          <a:solidFill>
            <a:srgbClr val="E3F4FA"/>
          </a:solidFill>
          <a:ln w="12700">
            <a:solidFill>
              <a:srgbClr val="E3F4FA"/>
            </a:solidFill>
            <a:prstDash val="solid"/>
          </a:ln>
        </p:spPr>
      </p:sp>
      <p:sp>
        <p:nvSpPr>
          <p:cNvPr id="40" name="[p1] Icono monitor"/>
          <p:cNvSpPr/>
          <p:nvPr/>
        </p:nvSpPr>
        <p:spPr>
          <a:xfrm>
            <a:off x="3276181" y="4590288"/>
            <a:ext cx="237744" cy="237744"/>
          </a:xfrm>
          <a:custGeom>
            <a:avLst/>
            <a:gdLst/>
            <a:ahLst/>
            <a:cxnLst/>
            <a:rect l="l" t="t" r="r" b="b"/>
            <a:pathLst>
              <a:path w="237744" h="237744">
                <a:moveTo>
                  <a:pt x="39624" y="29718"/>
                </a:moveTo>
                <a:lnTo>
                  <a:pt x="198120" y="29718"/>
                </a:lnTo>
                <a:cubicBezTo>
                  <a:pt x="209062" y="29718"/>
                  <a:pt x="217932" y="38588"/>
                  <a:pt x="217932" y="49530"/>
                </a:cubicBezTo>
                <a:lnTo>
                  <a:pt x="217932" y="148590"/>
                </a:lnTo>
                <a:cubicBezTo>
                  <a:pt x="217932" y="159532"/>
                  <a:pt x="209062" y="168402"/>
                  <a:pt x="198120" y="168402"/>
                </a:cubicBezTo>
                <a:lnTo>
                  <a:pt x="39624" y="168402"/>
                </a:lnTo>
                <a:cubicBezTo>
                  <a:pt x="28682" y="168402"/>
                  <a:pt x="19812" y="159532"/>
                  <a:pt x="19812" y="148590"/>
                </a:cubicBezTo>
                <a:lnTo>
                  <a:pt x="19812" y="49530"/>
                </a:lnTo>
                <a:cubicBezTo>
                  <a:pt x="19812" y="38588"/>
                  <a:pt x="28682" y="29718"/>
                  <a:pt x="39624" y="29718"/>
                </a:cubicBezTo>
                <a:close/>
                <a:moveTo>
                  <a:pt x="79248" y="208026"/>
                </a:moveTo>
                <a:lnTo>
                  <a:pt x="158496" y="208026"/>
                </a:lnTo>
                <a:moveTo>
                  <a:pt x="118872" y="168402"/>
                </a:moveTo>
                <a:lnTo>
                  <a:pt x="118872" y="208026"/>
                </a:lnTo>
              </a:path>
            </a:pathLst>
          </a:custGeom>
          <a:noFill/>
          <a:ln w="19812" cap="rnd">
            <a:solidFill>
              <a:srgbClr val="0B6E8A"/>
            </a:solidFill>
            <a:prstDash val="solid"/>
            <a:round/>
          </a:ln>
        </p:spPr>
      </p:sp>
      <p:sp>
        <p:nvSpPr>
          <p:cNvPr id="41" name="[p1] Forma"/>
          <p:cNvSpPr/>
          <p:nvPr/>
        </p:nvSpPr>
        <p:spPr>
          <a:xfrm>
            <a:off x="2834640"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Pantalla</a:t>
            </a:r>
            <a:endParaRPr lang="en-US" sz="1400" dirty="0"/>
          </a:p>
        </p:txBody>
      </p:sp>
      <p:sp>
        <p:nvSpPr>
          <p:cNvPr id="42" name="[p1] Forma"/>
          <p:cNvSpPr/>
          <p:nvPr/>
        </p:nvSpPr>
        <p:spPr>
          <a:xfrm>
            <a:off x="285292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La persona pulsa Enviar.</a:t>
            </a:r>
            <a:endParaRPr lang="en-US" sz="1100" dirty="0"/>
          </a:p>
        </p:txBody>
      </p:sp>
      <p:sp>
        <p:nvSpPr>
          <p:cNvPr id="43" name="[p1] Forma"/>
          <p:cNvSpPr/>
          <p:nvPr/>
        </p:nvSpPr>
        <p:spPr>
          <a:xfrm>
            <a:off x="4101770" y="5029200"/>
            <a:ext cx="1042416" cy="0"/>
          </a:xfrm>
          <a:prstGeom prst="line">
            <a:avLst/>
          </a:prstGeom>
          <a:noFill/>
          <a:ln w="31750">
            <a:solidFill>
              <a:srgbClr val="0B6E8A"/>
            </a:solidFill>
            <a:prstDash val="solid"/>
            <a:tailEnd type="triangle"/>
          </a:ln>
        </p:spPr>
      </p:sp>
      <p:sp>
        <p:nvSpPr>
          <p:cNvPr id="44" name="[p1] Forma"/>
          <p:cNvSpPr/>
          <p:nvPr/>
        </p:nvSpPr>
        <p:spPr>
          <a:xfrm>
            <a:off x="4065194"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POST /enviar</a:t>
            </a:r>
            <a:endParaRPr lang="en-US" sz="1150" dirty="0"/>
          </a:p>
        </p:txBody>
      </p:sp>
      <p:sp>
        <p:nvSpPr>
          <p:cNvPr id="45" name="[p1] Forma"/>
          <p:cNvSpPr/>
          <p:nvPr/>
        </p:nvSpPr>
        <p:spPr>
          <a:xfrm>
            <a:off x="5217338" y="4389120"/>
            <a:ext cx="1267130" cy="1280160"/>
          </a:xfrm>
          <a:prstGeom prst="roundRect">
            <a:avLst>
              <a:gd name="adj" fmla="val 10103"/>
            </a:avLst>
          </a:prstGeom>
          <a:solidFill>
            <a:srgbClr val="FCEFD6"/>
          </a:solidFill>
          <a:ln w="12700">
            <a:solidFill>
              <a:srgbClr val="8A4B06"/>
            </a:solidFill>
            <a:prstDash val="solid"/>
          </a:ln>
          <a:effectLst>
            <a:outerShdw sx="100000" sy="100000" kx="0" ky="0" algn="bl" rotWithShape="0" blurRad="76200" dist="19050" dir="5400000">
              <a:srgbClr val="0B1F3A">
                <a:alpha val="14000"/>
              </a:srgbClr>
            </a:outerShdw>
          </a:effectLst>
        </p:spPr>
      </p:sp>
      <p:sp>
        <p:nvSpPr>
          <p:cNvPr id="46" name="[p1] Forma"/>
          <p:cNvSpPr/>
          <p:nvPr/>
        </p:nvSpPr>
        <p:spPr>
          <a:xfrm>
            <a:off x="5217338" y="4389120"/>
            <a:ext cx="1267130" cy="1280160"/>
          </a:xfrm>
          <a:prstGeom prst="roundRect">
            <a:avLst>
              <a:gd name="adj" fmla="val 10103"/>
            </a:avLst>
          </a:prstGeom>
          <a:solidFill>
            <a:srgbClr val="FCEFD6">
              <a:alpha val="0"/>
            </a:srgbClr>
          </a:solidFill>
          <a:ln w="31750">
            <a:solidFill>
              <a:srgbClr val="8A4B06"/>
            </a:solidFill>
            <a:prstDash val="solid"/>
          </a:ln>
        </p:spPr>
      </p:sp>
      <p:sp>
        <p:nvSpPr>
          <p:cNvPr id="47" name="[p1] Forma"/>
          <p:cNvSpPr/>
          <p:nvPr/>
        </p:nvSpPr>
        <p:spPr>
          <a:xfrm>
            <a:off x="4890783" y="4059936"/>
            <a:ext cx="1920240"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AQUÍ VIVE LA REGLA</a:t>
            </a:r>
            <a:endParaRPr lang="en-US" sz="950" dirty="0"/>
          </a:p>
        </p:txBody>
      </p:sp>
      <p:sp>
        <p:nvSpPr>
          <p:cNvPr id="48" name="[p1] Forma"/>
          <p:cNvSpPr/>
          <p:nvPr/>
        </p:nvSpPr>
        <p:spPr>
          <a:xfrm>
            <a:off x="5622303" y="4480560"/>
            <a:ext cx="457200" cy="457200"/>
          </a:xfrm>
          <a:prstGeom prst="ellipse">
            <a:avLst/>
          </a:prstGeom>
          <a:solidFill>
            <a:srgbClr val="FFFFFF"/>
          </a:solidFill>
          <a:ln w="12700">
            <a:solidFill>
              <a:srgbClr val="FFFFFF"/>
            </a:solidFill>
            <a:prstDash val="solid"/>
          </a:ln>
        </p:spPr>
      </p:sp>
      <p:sp>
        <p:nvSpPr>
          <p:cNvPr id="49" name="[p1] Icono code"/>
          <p:cNvSpPr/>
          <p:nvPr/>
        </p:nvSpPr>
        <p:spPr>
          <a:xfrm>
            <a:off x="5732031" y="4590288"/>
            <a:ext cx="237744" cy="237744"/>
          </a:xfrm>
          <a:custGeom>
            <a:avLst/>
            <a:gdLst/>
            <a:ahLst/>
            <a:cxnLst/>
            <a:rect l="l" t="t" r="r" b="b"/>
            <a:pathLst>
              <a:path w="237744" h="237744">
                <a:moveTo>
                  <a:pt x="158496" y="178308"/>
                </a:moveTo>
                <a:lnTo>
                  <a:pt x="217932" y="118872"/>
                </a:lnTo>
                <a:lnTo>
                  <a:pt x="158496" y="59436"/>
                </a:lnTo>
                <a:moveTo>
                  <a:pt x="79248" y="59436"/>
                </a:moveTo>
                <a:lnTo>
                  <a:pt x="19812" y="118872"/>
                </a:lnTo>
                <a:lnTo>
                  <a:pt x="79248" y="178308"/>
                </a:lnTo>
              </a:path>
            </a:pathLst>
          </a:custGeom>
          <a:noFill/>
          <a:ln w="19812" cap="rnd">
            <a:solidFill>
              <a:srgbClr val="8A4B06"/>
            </a:solidFill>
            <a:prstDash val="solid"/>
            <a:round/>
          </a:ln>
        </p:spPr>
      </p:sp>
      <p:sp>
        <p:nvSpPr>
          <p:cNvPr id="50" name="[p1] Forma"/>
          <p:cNvSpPr/>
          <p:nvPr/>
        </p:nvSpPr>
        <p:spPr>
          <a:xfrm>
            <a:off x="5290490" y="4974336"/>
            <a:ext cx="1120826" cy="292608"/>
          </a:xfrm>
          <a:prstGeom prst="rect">
            <a:avLst/>
          </a:prstGeom>
          <a:noFill/>
          <a:ln/>
        </p:spPr>
        <p:txBody>
          <a:bodyPr wrap="square" lIns="0" tIns="0" rIns="0" bIns="0" rtlCol="0" anchor="ctr">
            <a:normAutofit/>
          </a:bodyPr>
          <a:lstStyle/>
          <a:p>
            <a:pPr algn="ctr" indent="0" marL="0">
              <a:buNone/>
            </a:pPr>
            <a:r>
              <a:rPr lang="en-US" sz="1150" b="1" dirty="0">
                <a:solidFill>
                  <a:srgbClr val="8A4B06"/>
                </a:solidFill>
                <a:latin typeface="Segoe UI Semibold" pitchFamily="34" charset="0"/>
                <a:ea typeface="Segoe UI Semibold" pitchFamily="34" charset="-122"/>
                <a:cs typeface="Segoe UI Semibold" pitchFamily="34" charset="-120"/>
              </a:rPr>
              <a:t>Servicio Java</a:t>
            </a:r>
            <a:endParaRPr lang="en-US" sz="1150" dirty="0"/>
          </a:p>
        </p:txBody>
      </p:sp>
      <p:sp>
        <p:nvSpPr>
          <p:cNvPr id="51" name="[p1] Forma"/>
          <p:cNvSpPr/>
          <p:nvPr/>
        </p:nvSpPr>
        <p:spPr>
          <a:xfrm>
            <a:off x="530877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Decide, con su prueba.</a:t>
            </a:r>
            <a:endParaRPr lang="en-US" sz="1100" dirty="0"/>
          </a:p>
        </p:txBody>
      </p:sp>
      <p:sp>
        <p:nvSpPr>
          <p:cNvPr id="52" name="[p1] Forma"/>
          <p:cNvSpPr/>
          <p:nvPr/>
        </p:nvSpPr>
        <p:spPr>
          <a:xfrm>
            <a:off x="6557620" y="5029200"/>
            <a:ext cx="1042416" cy="0"/>
          </a:xfrm>
          <a:prstGeom prst="line">
            <a:avLst/>
          </a:prstGeom>
          <a:noFill/>
          <a:ln w="31750">
            <a:solidFill>
              <a:srgbClr val="0B6E8A"/>
            </a:solidFill>
            <a:prstDash val="solid"/>
            <a:tailEnd type="triangle"/>
          </a:ln>
        </p:spPr>
      </p:sp>
      <p:sp>
        <p:nvSpPr>
          <p:cNvPr id="53" name="[p1] Forma"/>
          <p:cNvSpPr/>
          <p:nvPr/>
        </p:nvSpPr>
        <p:spPr>
          <a:xfrm>
            <a:off x="6521044"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save(…)</a:t>
            </a:r>
            <a:endParaRPr lang="en-US" sz="1150" dirty="0"/>
          </a:p>
        </p:txBody>
      </p:sp>
      <p:sp>
        <p:nvSpPr>
          <p:cNvPr id="54" name="[p1] Forma"/>
          <p:cNvSpPr/>
          <p:nvPr/>
        </p:nvSpPr>
        <p:spPr>
          <a:xfrm>
            <a:off x="7673188"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5" name="[p1] Forma"/>
          <p:cNvSpPr/>
          <p:nvPr/>
        </p:nvSpPr>
        <p:spPr>
          <a:xfrm>
            <a:off x="8078153" y="4480560"/>
            <a:ext cx="457200" cy="457200"/>
          </a:xfrm>
          <a:prstGeom prst="ellipse">
            <a:avLst/>
          </a:prstGeom>
          <a:solidFill>
            <a:srgbClr val="E3F4FA"/>
          </a:solidFill>
          <a:ln w="12700">
            <a:solidFill>
              <a:srgbClr val="E3F4FA"/>
            </a:solidFill>
            <a:prstDash val="solid"/>
          </a:ln>
        </p:spPr>
      </p:sp>
      <p:sp>
        <p:nvSpPr>
          <p:cNvPr id="56" name="[p1] Icono table"/>
          <p:cNvSpPr/>
          <p:nvPr/>
        </p:nvSpPr>
        <p:spPr>
          <a:xfrm>
            <a:off x="8187881" y="4590288"/>
            <a:ext cx="237744" cy="237744"/>
          </a:xfrm>
          <a:custGeom>
            <a:avLst/>
            <a:gdLst/>
            <a:ahLst/>
            <a:cxnLst/>
            <a:rect l="l" t="t" r="r" b="b"/>
            <a:pathLst>
              <a:path w="237744" h="237744">
                <a:moveTo>
                  <a:pt x="118872" y="29718"/>
                </a:moveTo>
                <a:lnTo>
                  <a:pt x="118872" y="208026"/>
                </a:lnTo>
                <a:moveTo>
                  <a:pt x="49530" y="29718"/>
                </a:moveTo>
                <a:lnTo>
                  <a:pt x="188214" y="29718"/>
                </a:lnTo>
                <a:cubicBezTo>
                  <a:pt x="199156" y="29718"/>
                  <a:pt x="208026" y="38588"/>
                  <a:pt x="208026" y="49530"/>
                </a:cubicBezTo>
                <a:lnTo>
                  <a:pt x="208026" y="188214"/>
                </a:lnTo>
                <a:cubicBezTo>
                  <a:pt x="208026" y="199156"/>
                  <a:pt x="199156" y="208026"/>
                  <a:pt x="188214" y="208026"/>
                </a:cubicBezTo>
                <a:lnTo>
                  <a:pt x="49530" y="208026"/>
                </a:lnTo>
                <a:cubicBezTo>
                  <a:pt x="38588" y="208026"/>
                  <a:pt x="29718" y="199156"/>
                  <a:pt x="29718" y="188214"/>
                </a:cubicBezTo>
                <a:lnTo>
                  <a:pt x="29718" y="49530"/>
                </a:lnTo>
                <a:cubicBezTo>
                  <a:pt x="29718" y="38588"/>
                  <a:pt x="38588" y="29718"/>
                  <a:pt x="49530" y="29718"/>
                </a:cubicBezTo>
                <a:close/>
                <a:moveTo>
                  <a:pt x="29718" y="89154"/>
                </a:moveTo>
                <a:lnTo>
                  <a:pt x="208026" y="89154"/>
                </a:lnTo>
                <a:moveTo>
                  <a:pt x="29718" y="148590"/>
                </a:moveTo>
                <a:lnTo>
                  <a:pt x="208026" y="148590"/>
                </a:lnTo>
              </a:path>
            </a:pathLst>
          </a:custGeom>
          <a:noFill/>
          <a:ln w="19812" cap="rnd">
            <a:solidFill>
              <a:srgbClr val="0B6E8A"/>
            </a:solidFill>
            <a:prstDash val="solid"/>
            <a:round/>
          </a:ln>
        </p:spPr>
      </p:sp>
      <p:sp>
        <p:nvSpPr>
          <p:cNvPr id="57" name="[p1] Forma"/>
          <p:cNvSpPr/>
          <p:nvPr/>
        </p:nvSpPr>
        <p:spPr>
          <a:xfrm>
            <a:off x="7746340"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Hibernate</a:t>
            </a:r>
            <a:endParaRPr lang="en-US" sz="1400" dirty="0"/>
          </a:p>
        </p:txBody>
      </p:sp>
      <p:sp>
        <p:nvSpPr>
          <p:cNvPr id="58" name="[p1] Forma"/>
          <p:cNvSpPr/>
          <p:nvPr/>
        </p:nvSpPr>
        <p:spPr>
          <a:xfrm>
            <a:off x="776462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Escribe el SQL.</a:t>
            </a:r>
            <a:endParaRPr lang="en-US" sz="1100" dirty="0"/>
          </a:p>
        </p:txBody>
      </p:sp>
      <p:sp>
        <p:nvSpPr>
          <p:cNvPr id="59" name="[p1] Forma"/>
          <p:cNvSpPr/>
          <p:nvPr/>
        </p:nvSpPr>
        <p:spPr>
          <a:xfrm>
            <a:off x="9013469" y="5029200"/>
            <a:ext cx="1042416" cy="0"/>
          </a:xfrm>
          <a:prstGeom prst="line">
            <a:avLst/>
          </a:prstGeom>
          <a:noFill/>
          <a:ln w="31750">
            <a:solidFill>
              <a:srgbClr val="0B6E8A"/>
            </a:solidFill>
            <a:prstDash val="solid"/>
            <a:tailEnd type="triangle"/>
          </a:ln>
        </p:spPr>
      </p:sp>
      <p:sp>
        <p:nvSpPr>
          <p:cNvPr id="60" name="[p1] Forma"/>
          <p:cNvSpPr/>
          <p:nvPr/>
        </p:nvSpPr>
        <p:spPr>
          <a:xfrm>
            <a:off x="8976893"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UPDATE + INSERT</a:t>
            </a:r>
            <a:endParaRPr lang="en-US" sz="1150" dirty="0"/>
          </a:p>
        </p:txBody>
      </p:sp>
      <p:sp>
        <p:nvSpPr>
          <p:cNvPr id="61" name="[p1] Forma"/>
          <p:cNvSpPr/>
          <p:nvPr/>
        </p:nvSpPr>
        <p:spPr>
          <a:xfrm>
            <a:off x="10129037"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2" name="[p1] Forma"/>
          <p:cNvSpPr/>
          <p:nvPr/>
        </p:nvSpPr>
        <p:spPr>
          <a:xfrm>
            <a:off x="10534002" y="4480560"/>
            <a:ext cx="457200" cy="457200"/>
          </a:xfrm>
          <a:prstGeom prst="ellipse">
            <a:avLst/>
          </a:prstGeom>
          <a:solidFill>
            <a:srgbClr val="E3F4FA"/>
          </a:solidFill>
          <a:ln w="12700">
            <a:solidFill>
              <a:srgbClr val="E3F4FA"/>
            </a:solidFill>
            <a:prstDash val="solid"/>
          </a:ln>
        </p:spPr>
      </p:sp>
      <p:sp>
        <p:nvSpPr>
          <p:cNvPr id="63" name="[p1] Icono database"/>
          <p:cNvSpPr/>
          <p:nvPr/>
        </p:nvSpPr>
        <p:spPr>
          <a:xfrm>
            <a:off x="10643730" y="4590288"/>
            <a:ext cx="237744" cy="237744"/>
          </a:xfrm>
          <a:custGeom>
            <a:avLst/>
            <a:gdLst/>
            <a:ahLst/>
            <a:cxnLst/>
            <a:rect l="l" t="t" r="r" b="b"/>
            <a:pathLst>
              <a:path w="237744" h="237744">
                <a:moveTo>
                  <a:pt x="208026" y="49530"/>
                </a:moveTo>
                <a:cubicBezTo>
                  <a:pt x="208026" y="65943"/>
                  <a:pt x="168110" y="79248"/>
                  <a:pt x="118872" y="79248"/>
                </a:cubicBezTo>
                <a:cubicBezTo>
                  <a:pt x="69634" y="79248"/>
                  <a:pt x="29718" y="65943"/>
                  <a:pt x="29718" y="49530"/>
                </a:cubicBezTo>
                <a:cubicBezTo>
                  <a:pt x="29718" y="33117"/>
                  <a:pt x="69634" y="19812"/>
                  <a:pt x="118872" y="19812"/>
                </a:cubicBezTo>
                <a:cubicBezTo>
                  <a:pt x="168110" y="19812"/>
                  <a:pt x="208026" y="33117"/>
                  <a:pt x="208026" y="49530"/>
                </a:cubicBezTo>
                <a:close/>
                <a:moveTo>
                  <a:pt x="29718" y="49530"/>
                </a:moveTo>
                <a:lnTo>
                  <a:pt x="29718" y="188214"/>
                </a:lnTo>
                <a:cubicBezTo>
                  <a:pt x="29718" y="204627"/>
                  <a:pt x="69634" y="217932"/>
                  <a:pt x="118872" y="217932"/>
                </a:cubicBezTo>
                <a:cubicBezTo>
                  <a:pt x="168110" y="217932"/>
                  <a:pt x="208026" y="204627"/>
                  <a:pt x="208026" y="188214"/>
                </a:cubicBezTo>
                <a:lnTo>
                  <a:pt x="208026" y="49530"/>
                </a:lnTo>
                <a:moveTo>
                  <a:pt x="29718" y="118872"/>
                </a:moveTo>
                <a:cubicBezTo>
                  <a:pt x="29718" y="135285"/>
                  <a:pt x="69634" y="148590"/>
                  <a:pt x="118872" y="148590"/>
                </a:cubicBezTo>
                <a:cubicBezTo>
                  <a:pt x="168110" y="148590"/>
                  <a:pt x="208026" y="135285"/>
                  <a:pt x="208026" y="118872"/>
                </a:cubicBezTo>
              </a:path>
            </a:pathLst>
          </a:custGeom>
          <a:noFill/>
          <a:ln w="19812" cap="rnd">
            <a:solidFill>
              <a:srgbClr val="0B6E8A"/>
            </a:solidFill>
            <a:prstDash val="solid"/>
            <a:round/>
          </a:ln>
        </p:spPr>
      </p:sp>
      <p:sp>
        <p:nvSpPr>
          <p:cNvPr id="64" name="[p1] Forma"/>
          <p:cNvSpPr/>
          <p:nvPr/>
        </p:nvSpPr>
        <p:spPr>
          <a:xfrm>
            <a:off x="10202189"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PostgreSQL</a:t>
            </a:r>
            <a:endParaRPr lang="en-US" sz="1400" dirty="0"/>
          </a:p>
        </p:txBody>
      </p:sp>
      <p:sp>
        <p:nvSpPr>
          <p:cNvPr id="65" name="[p1] Forma"/>
          <p:cNvSpPr/>
          <p:nvPr/>
        </p:nvSpPr>
        <p:spPr>
          <a:xfrm>
            <a:off x="10220477" y="5266944"/>
            <a:ext cx="1084250" cy="347472"/>
          </a:xfrm>
          <a:prstGeom prst="rect">
            <a:avLst/>
          </a:prstGeom>
          <a:noFill/>
          <a:ln/>
        </p:spPr>
        <p:txBody>
          <a:bodyPr wrap="square" lIns="0" tIns="0" rIns="0" bIns="0" rtlCol="0" anchor="t">
            <a:normAutofit/>
          </a:bodyPr>
          <a:lstStyle/>
          <a:p>
            <a:pPr algn="ctr" indent="0" marL="0">
              <a:buNone/>
            </a:pPr>
            <a:r>
              <a:rPr lang="en-US" sz="900" dirty="0">
                <a:solidFill>
                  <a:srgbClr val="0B1A3C"/>
                </a:solidFill>
                <a:latin typeface="Segoe UI" pitchFamily="34" charset="0"/>
                <a:ea typeface="Segoe UI" pitchFamily="34" charset="-122"/>
                <a:cs typeface="Segoe UI" pitchFamily="34" charset="-120"/>
              </a:rPr>
              <a:t>Guarda y cuida llaves e índices.</a:t>
            </a:r>
            <a:endParaRPr lang="en-US" sz="900" dirty="0"/>
          </a:p>
        </p:txBody>
      </p:sp>
      <p:sp>
        <p:nvSpPr>
          <p:cNvPr id="66" name="Shape 64"/>
          <p:cNvSpPr/>
          <p:nvPr/>
        </p:nvSpPr>
        <p:spPr>
          <a:xfrm>
            <a:off x="0" y="5961888"/>
            <a:ext cx="12191695" cy="475488"/>
          </a:xfrm>
          <a:prstGeom prst="rect">
            <a:avLst/>
          </a:prstGeom>
          <a:solidFill>
            <a:srgbClr val="0B2350"/>
          </a:solidFill>
          <a:ln w="12700">
            <a:solidFill>
              <a:srgbClr val="0B2350"/>
            </a:solidFill>
            <a:prstDash val="solid"/>
          </a:ln>
        </p:spPr>
      </p:sp>
      <p:sp>
        <p:nvSpPr>
          <p:cNvPr id="67"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68" name="Text 6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69" name="Text 6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3" fill="hold">
                      <p:stCondLst>
                        <p:cond delay="indefinite"/>
                      </p:stCondLst>
                      <p:childTnLst>
                        <p:par>
                          <p:cTn id="9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400"/>
                                        <p:tgtEl>
                                          <p:spTgt spid="3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400"/>
                                        <p:tgtEl>
                                          <p:spTgt spid="3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400"/>
                                        <p:tgtEl>
                                          <p:spTgt spid="3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400"/>
                                        <p:tgtEl>
                                          <p:spTgt spid="3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400"/>
                                        <p:tgtEl>
                                          <p:spTgt spid="4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400"/>
                                        <p:tgtEl>
                                          <p:spTgt spid="4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400"/>
                                        <p:tgtEl>
                                          <p:spTgt spid="4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400"/>
                                        <p:tgtEl>
                                          <p:spTgt spid="4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400"/>
                                        <p:tgtEl>
                                          <p:spTgt spid="4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400"/>
                                        <p:tgtEl>
                                          <p:spTgt spid="4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400"/>
                                        <p:tgtEl>
                                          <p:spTgt spid="4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400"/>
                                        <p:tgtEl>
                                          <p:spTgt spid="4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400"/>
                                        <p:tgtEl>
                                          <p:spTgt spid="4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400"/>
                                        <p:tgtEl>
                                          <p:spTgt spid="4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400"/>
                                        <p:tgtEl>
                                          <p:spTgt spid="5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400"/>
                                        <p:tgtEl>
                                          <p:spTgt spid="5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400"/>
                                        <p:tgtEl>
                                          <p:spTgt spid="5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fade">
                                      <p:cBhvr>
                                        <p:cTn id="56" dur="400"/>
                                        <p:tgtEl>
                                          <p:spTgt spid="5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animEffect transition="in" filter="fade">
                                      <p:cBhvr>
                                        <p:cTn id="59" dur="400"/>
                                        <p:tgtEl>
                                          <p:spTgt spid="5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5"/>
                                        </p:tgtEl>
                                        <p:attrNameLst>
                                          <p:attrName>style.visibility</p:attrName>
                                        </p:attrNameLst>
                                      </p:cBhvr>
                                      <p:to>
                                        <p:strVal val="visible"/>
                                      </p:to>
                                    </p:set>
                                    <p:animEffect transition="in" filter="fade">
                                      <p:cBhvr>
                                        <p:cTn id="62" dur="400"/>
                                        <p:tgtEl>
                                          <p:spTgt spid="5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fade">
                                      <p:cBhvr>
                                        <p:cTn id="65" dur="400"/>
                                        <p:tgtEl>
                                          <p:spTgt spid="5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fade">
                                      <p:cBhvr>
                                        <p:cTn id="68" dur="400"/>
                                        <p:tgtEl>
                                          <p:spTgt spid="5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400"/>
                                        <p:tgtEl>
                                          <p:spTgt spid="5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9"/>
                                        </p:tgtEl>
                                        <p:attrNameLst>
                                          <p:attrName>style.visibility</p:attrName>
                                        </p:attrNameLst>
                                      </p:cBhvr>
                                      <p:to>
                                        <p:strVal val="visible"/>
                                      </p:to>
                                    </p:set>
                                    <p:animEffect transition="in" filter="fade">
                                      <p:cBhvr>
                                        <p:cTn id="74" dur="400"/>
                                        <p:tgtEl>
                                          <p:spTgt spid="5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0"/>
                                        </p:tgtEl>
                                        <p:attrNameLst>
                                          <p:attrName>style.visibility</p:attrName>
                                        </p:attrNameLst>
                                      </p:cBhvr>
                                      <p:to>
                                        <p:strVal val="visible"/>
                                      </p:to>
                                    </p:set>
                                    <p:animEffect transition="in" filter="fade">
                                      <p:cBhvr>
                                        <p:cTn id="77" dur="400"/>
                                        <p:tgtEl>
                                          <p:spTgt spid="6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1"/>
                                        </p:tgtEl>
                                        <p:attrNameLst>
                                          <p:attrName>style.visibility</p:attrName>
                                        </p:attrNameLst>
                                      </p:cBhvr>
                                      <p:to>
                                        <p:strVal val="visible"/>
                                      </p:to>
                                    </p:set>
                                    <p:animEffect transition="in" filter="fade">
                                      <p:cBhvr>
                                        <p:cTn id="80" dur="400"/>
                                        <p:tgtEl>
                                          <p:spTgt spid="6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2"/>
                                        </p:tgtEl>
                                        <p:attrNameLst>
                                          <p:attrName>style.visibility</p:attrName>
                                        </p:attrNameLst>
                                      </p:cBhvr>
                                      <p:to>
                                        <p:strVal val="visible"/>
                                      </p:to>
                                    </p:set>
                                    <p:animEffect transition="in" filter="fade">
                                      <p:cBhvr>
                                        <p:cTn id="83" dur="400"/>
                                        <p:tgtEl>
                                          <p:spTgt spid="6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3"/>
                                        </p:tgtEl>
                                        <p:attrNameLst>
                                          <p:attrName>style.visibility</p:attrName>
                                        </p:attrNameLst>
                                      </p:cBhvr>
                                      <p:to>
                                        <p:strVal val="visible"/>
                                      </p:to>
                                    </p:set>
                                    <p:animEffect transition="in" filter="fade">
                                      <p:cBhvr>
                                        <p:cTn id="86" dur="400"/>
                                        <p:tgtEl>
                                          <p:spTgt spid="6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4"/>
                                        </p:tgtEl>
                                        <p:attrNameLst>
                                          <p:attrName>style.visibility</p:attrName>
                                        </p:attrNameLst>
                                      </p:cBhvr>
                                      <p:to>
                                        <p:strVal val="visible"/>
                                      </p:to>
                                    </p:set>
                                    <p:animEffect transition="in" filter="fade">
                                      <p:cBhvr>
                                        <p:cTn id="89" dur="400"/>
                                        <p:tgtEl>
                                          <p:spTgt spid="6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5"/>
                                        </p:tgtEl>
                                        <p:attrNameLst>
                                          <p:attrName>style.visibility</p:attrName>
                                        </p:attrNameLst>
                                      </p:cBhvr>
                                      <p:to>
                                        <p:strVal val="visible"/>
                                      </p:to>
                                    </p:set>
                                    <p:animEffect transition="in" filter="fade">
                                      <p:cBhvr>
                                        <p:cTn id="92"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misma regla, escrita de las dos formas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Regla del negocio: solo se puede enviar una solicitud que está en borrador.</a:t>
            </a:r>
            <a:endParaRPr lang="en-US" sz="1700" dirty="0"/>
          </a:p>
        </p:txBody>
      </p:sp>
      <p:sp>
        <p:nvSpPr>
          <p:cNvPr id="13" name="Shape 11"/>
          <p:cNvSpPr/>
          <p:nvPr/>
        </p:nvSpPr>
        <p:spPr>
          <a:xfrm>
            <a:off x="612648" y="1719072"/>
            <a:ext cx="525460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719072"/>
            <a:ext cx="5254600" cy="566928"/>
          </a:xfrm>
          <a:prstGeom prst="roundRect">
            <a:avLst>
              <a:gd name="adj" fmla="val 22581"/>
            </a:avLst>
          </a:prstGeom>
          <a:solidFill>
            <a:srgbClr val="55627E"/>
          </a:solidFill>
          <a:ln w="12700">
            <a:solidFill>
              <a:srgbClr val="55627E"/>
            </a:solidFill>
            <a:prstDash val="solid"/>
          </a:ln>
        </p:spPr>
      </p:sp>
      <p:sp>
        <p:nvSpPr>
          <p:cNvPr id="15" name="Shape 13"/>
          <p:cNvSpPr/>
          <p:nvPr/>
        </p:nvSpPr>
        <p:spPr>
          <a:xfrm>
            <a:off x="612648" y="2103120"/>
            <a:ext cx="5254600" cy="182880"/>
          </a:xfrm>
          <a:prstGeom prst="rect">
            <a:avLst/>
          </a:prstGeom>
          <a:solidFill>
            <a:srgbClr val="55627E"/>
          </a:solidFill>
          <a:ln w="12700">
            <a:solidFill>
              <a:srgbClr val="55627E"/>
            </a:solidFill>
            <a:prstDash val="solid"/>
          </a:ln>
        </p:spPr>
      </p:sp>
      <p:sp>
        <p:nvSpPr>
          <p:cNvPr id="16" name="Shape 14"/>
          <p:cNvSpPr/>
          <p:nvPr/>
        </p:nvSpPr>
        <p:spPr>
          <a:xfrm>
            <a:off x="758952" y="1792224"/>
            <a:ext cx="420624" cy="420624"/>
          </a:xfrm>
          <a:prstGeom prst="ellipse">
            <a:avLst/>
          </a:prstGeom>
          <a:solidFill>
            <a:srgbClr val="FFFFFF"/>
          </a:solidFill>
          <a:ln w="12700">
            <a:solidFill>
              <a:srgbClr val="FFFFFF"/>
            </a:solidFill>
            <a:prstDash val="solid"/>
          </a:ln>
        </p:spPr>
      </p:sp>
      <p:sp>
        <p:nvSpPr>
          <p:cNvPr id="17" name="Icono database"/>
          <p:cNvSpPr/>
          <p:nvPr/>
        </p:nvSpPr>
        <p:spPr>
          <a:xfrm>
            <a:off x="859902" y="1893174"/>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55627E"/>
            </a:solidFill>
            <a:prstDash val="solid"/>
            <a:round/>
          </a:ln>
        </p:spPr>
      </p:sp>
      <p:sp>
        <p:nvSpPr>
          <p:cNvPr id="18" name="Text 16"/>
          <p:cNvSpPr/>
          <p:nvPr/>
        </p:nvSpPr>
        <p:spPr>
          <a:xfrm>
            <a:off x="1289304" y="1719072"/>
            <a:ext cx="4431640" cy="56692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Segoe UI Semibold" pitchFamily="34" charset="0"/>
                <a:ea typeface="Segoe UI Semibold" pitchFamily="34" charset="-122"/>
                <a:cs typeface="Segoe UI Semibold" pitchFamily="34" charset="-120"/>
              </a:rPr>
              <a:t>Hoy: en un procedimiento</a:t>
            </a:r>
            <a:endParaRPr lang="en-US" sz="1600" dirty="0"/>
          </a:p>
        </p:txBody>
      </p:sp>
      <p:sp>
        <p:nvSpPr>
          <p:cNvPr id="19" name="Text 17"/>
          <p:cNvSpPr/>
          <p:nvPr/>
        </p:nvSpPr>
        <p:spPr>
          <a:xfrm>
            <a:off x="777240" y="2423160"/>
            <a:ext cx="4925416" cy="2697480"/>
          </a:xfrm>
          <a:prstGeom prst="roundRect">
            <a:avLst>
              <a:gd name="adj" fmla="val 2712"/>
            </a:avLst>
          </a:prstGeom>
          <a:solidFill>
            <a:srgbClr val="0B1F3A"/>
          </a:solidFill>
          <a:ln>
            <a:solidFill>
              <a:srgbClr val="0B1F3A"/>
            </a:solidFill>
          </a:ln>
        </p:spPr>
        <p:txBody>
          <a:bodyPr wrap="square" lIns="127000" tIns="127000" rIns="127000" bIns="127000" rtlCol="0" anchor="ctr"/>
          <a:lstStyle/>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CREATE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PROCEDURE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sp_enviar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VARCHAR</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20</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AS</a:t>
            </a:r>
            <a:endParaRPr lang="en-US" sz="1250" dirty="0"/>
          </a:p>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BEGIN</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SELECT</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estado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FROM</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solicitud</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WHERE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id =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&lt;&gt;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'BORRADOR'</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50001</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'Solo se envía en BORRADOR'</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1</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UPDATE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solicitud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SET</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'ENVIADA'</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WHERE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id =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endParaRPr lang="en-US" sz="1250" dirty="0"/>
          </a:p>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END</a:t>
            </a:r>
            <a:endParaRPr lang="en-US" sz="1250" dirty="0"/>
          </a:p>
        </p:txBody>
      </p:sp>
      <p:sp>
        <p:nvSpPr>
          <p:cNvPr id="20" name="Icono arrow-right"/>
          <p:cNvSpPr/>
          <p:nvPr/>
        </p:nvSpPr>
        <p:spPr>
          <a:xfrm>
            <a:off x="832104" y="528523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1" name="Text 19"/>
          <p:cNvSpPr/>
          <p:nvPr/>
        </p:nvSpPr>
        <p:spPr>
          <a:xfrm>
            <a:off x="1216152" y="523036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regla y el dato viven juntos en la base</a:t>
            </a:r>
            <a:endParaRPr lang="en-US" sz="1400" dirty="0"/>
          </a:p>
        </p:txBody>
      </p:sp>
      <p:sp>
        <p:nvSpPr>
          <p:cNvPr id="22" name="Icono arrow-right"/>
          <p:cNvSpPr/>
          <p:nvPr/>
        </p:nvSpPr>
        <p:spPr>
          <a:xfrm>
            <a:off x="832104" y="565099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3" name="Text 21"/>
          <p:cNvSpPr/>
          <p:nvPr/>
        </p:nvSpPr>
        <p:spPr>
          <a:xfrm>
            <a:off x="1216152" y="559612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Probarla exige una base con datos</a:t>
            </a:r>
            <a:endParaRPr lang="en-US" sz="1400" dirty="0"/>
          </a:p>
        </p:txBody>
      </p:sp>
      <p:sp>
        <p:nvSpPr>
          <p:cNvPr id="24" name="Icono arrow-right"/>
          <p:cNvSpPr/>
          <p:nvPr/>
        </p:nvSpPr>
        <p:spPr>
          <a:xfrm>
            <a:off x="832104" y="601675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5" name="Text 23"/>
          <p:cNvSpPr/>
          <p:nvPr/>
        </p:nvSpPr>
        <p:spPr>
          <a:xfrm>
            <a:off x="1216152" y="596188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Cambiarla es desplegar en la base</a:t>
            </a:r>
            <a:endParaRPr lang="en-US" sz="1400" dirty="0"/>
          </a:p>
        </p:txBody>
      </p:sp>
      <p:sp>
        <p:nvSpPr>
          <p:cNvPr id="26" name="[p1] Forma"/>
          <p:cNvSpPr/>
          <p:nvPr/>
        </p:nvSpPr>
        <p:spPr>
          <a:xfrm>
            <a:off x="6324448" y="1719072"/>
            <a:ext cx="525460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p1] Forma"/>
          <p:cNvSpPr/>
          <p:nvPr/>
        </p:nvSpPr>
        <p:spPr>
          <a:xfrm>
            <a:off x="6324448" y="1719072"/>
            <a:ext cx="5254600" cy="566928"/>
          </a:xfrm>
          <a:prstGeom prst="roundRect">
            <a:avLst>
              <a:gd name="adj" fmla="val 22581"/>
            </a:avLst>
          </a:prstGeom>
          <a:solidFill>
            <a:srgbClr val="0B6E8A"/>
          </a:solidFill>
          <a:ln w="12700">
            <a:solidFill>
              <a:srgbClr val="0B6E8A"/>
            </a:solidFill>
            <a:prstDash val="solid"/>
          </a:ln>
        </p:spPr>
      </p:sp>
      <p:sp>
        <p:nvSpPr>
          <p:cNvPr id="28" name="[p1] Forma"/>
          <p:cNvSpPr/>
          <p:nvPr/>
        </p:nvSpPr>
        <p:spPr>
          <a:xfrm>
            <a:off x="6324448" y="2103120"/>
            <a:ext cx="5254600" cy="182880"/>
          </a:xfrm>
          <a:prstGeom prst="rect">
            <a:avLst/>
          </a:prstGeom>
          <a:solidFill>
            <a:srgbClr val="0B6E8A"/>
          </a:solidFill>
          <a:ln w="12700">
            <a:solidFill>
              <a:srgbClr val="0B6E8A"/>
            </a:solidFill>
            <a:prstDash val="solid"/>
          </a:ln>
        </p:spPr>
      </p:sp>
      <p:sp>
        <p:nvSpPr>
          <p:cNvPr id="29" name="[p1] Forma"/>
          <p:cNvSpPr/>
          <p:nvPr/>
        </p:nvSpPr>
        <p:spPr>
          <a:xfrm>
            <a:off x="6470752" y="1792224"/>
            <a:ext cx="420624" cy="420624"/>
          </a:xfrm>
          <a:prstGeom prst="ellipse">
            <a:avLst/>
          </a:prstGeom>
          <a:solidFill>
            <a:srgbClr val="FFFFFF"/>
          </a:solidFill>
          <a:ln w="12700">
            <a:solidFill>
              <a:srgbClr val="FFFFFF"/>
            </a:solidFill>
            <a:prstDash val="solid"/>
          </a:ln>
        </p:spPr>
      </p:sp>
      <p:sp>
        <p:nvSpPr>
          <p:cNvPr id="30" name="[p1] Icono code"/>
          <p:cNvSpPr/>
          <p:nvPr/>
        </p:nvSpPr>
        <p:spPr>
          <a:xfrm>
            <a:off x="6571701" y="1893174"/>
            <a:ext cx="218724" cy="218724"/>
          </a:xfrm>
          <a:custGeom>
            <a:avLst/>
            <a:gdLst/>
            <a:ahLst/>
            <a:cxnLst/>
            <a:rect l="l" t="t" r="r" b="b"/>
            <a:pathLst>
              <a:path w="218724" h="218724">
                <a:moveTo>
                  <a:pt x="145816" y="164043"/>
                </a:moveTo>
                <a:lnTo>
                  <a:pt x="200497" y="109362"/>
                </a:lnTo>
                <a:lnTo>
                  <a:pt x="145816" y="54681"/>
                </a:lnTo>
                <a:moveTo>
                  <a:pt x="72908" y="54681"/>
                </a:moveTo>
                <a:lnTo>
                  <a:pt x="18227" y="109362"/>
                </a:lnTo>
                <a:lnTo>
                  <a:pt x="72908" y="164043"/>
                </a:lnTo>
              </a:path>
            </a:pathLst>
          </a:custGeom>
          <a:noFill/>
          <a:ln w="18227" cap="rnd">
            <a:solidFill>
              <a:srgbClr val="0B6E8A"/>
            </a:solidFill>
            <a:prstDash val="solid"/>
            <a:round/>
          </a:ln>
        </p:spPr>
      </p:sp>
      <p:sp>
        <p:nvSpPr>
          <p:cNvPr id="31" name="[p1] Forma"/>
          <p:cNvSpPr/>
          <p:nvPr/>
        </p:nvSpPr>
        <p:spPr>
          <a:xfrm>
            <a:off x="7001104" y="1719072"/>
            <a:ext cx="4431640" cy="56692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Segoe UI Semibold" pitchFamily="34" charset="0"/>
                <a:ea typeface="Segoe UI Semibold" pitchFamily="34" charset="-122"/>
                <a:cs typeface="Segoe UI Semibold" pitchFamily="34" charset="-120"/>
              </a:rPr>
              <a:t>ARKA-Lite: en el código</a:t>
            </a:r>
            <a:endParaRPr lang="en-US" sz="1600" dirty="0"/>
          </a:p>
        </p:txBody>
      </p:sp>
      <p:sp>
        <p:nvSpPr>
          <p:cNvPr id="32" name="[p1] Forma"/>
          <p:cNvSpPr/>
          <p:nvPr/>
        </p:nvSpPr>
        <p:spPr>
          <a:xfrm>
            <a:off x="6489040" y="2423160"/>
            <a:ext cx="4925416" cy="2697480"/>
          </a:xfrm>
          <a:prstGeom prst="roundRect">
            <a:avLst>
              <a:gd name="adj" fmla="val 2712"/>
            </a:avLst>
          </a:prstGeom>
          <a:solidFill>
            <a:srgbClr val="0B1F3A"/>
          </a:solidFill>
          <a:ln>
            <a:solidFill>
              <a:srgbClr val="0B1F3A"/>
            </a:solidFill>
          </a:ln>
        </p:spPr>
        <p:txBody>
          <a:bodyPr wrap="square" lIns="127000" tIns="127000" rIns="127000" bIns="127000" rtlCol="0" anchor="ctr"/>
          <a:lstStyle/>
          <a:p>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enviar() {</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BORRADOR</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F2C66D"/>
                </a:solidFill>
                <a:latin typeface="Consolas" pitchFamily="34" charset="0"/>
                <a:ea typeface="Consolas" pitchFamily="34" charset="-122"/>
                <a:cs typeface="Consolas" pitchFamily="34" charset="-120"/>
              </a:rPr>
              <a:t>"solo se puede enviar en BORRADOR"</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(id, tipo,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ENVIADA</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i="1" dirty="0">
                <a:solidFill>
                  <a:srgbClr val="8FA2BF"/>
                </a:solidFill>
                <a:latin typeface="Consolas" pitchFamily="34" charset="0"/>
                <a:ea typeface="Consolas" pitchFamily="34" charset="-122"/>
                <a:cs typeface="Consolas" pitchFamily="34" charset="-120"/>
              </a:rPr>
              <a:t>// Hibernate escribe el SQL:</a:t>
            </a:r>
            <a:endParaRPr lang="en-US" sz="1200" dirty="0"/>
          </a:p>
          <a:p>
            <a:pPr indent="0" marL="0">
              <a:lnSpc>
                <a:spcPct val="110000"/>
              </a:lnSpc>
              <a:buNone/>
            </a:pPr>
            <a:r>
              <a:rPr lang="en-US" sz="1200" i="1" dirty="0">
                <a:solidFill>
                  <a:srgbClr val="8FA2BF"/>
                </a:solidFill>
                <a:latin typeface="Consolas" pitchFamily="34" charset="0"/>
                <a:ea typeface="Consolas" pitchFamily="34" charset="-122"/>
                <a:cs typeface="Consolas" pitchFamily="34" charset="-120"/>
              </a:rPr>
              <a:t>// UPDATE solicitud SET estado = ? WHERE id = ?</a:t>
            </a:r>
            <a:endParaRPr lang="en-US" sz="1200" dirty="0"/>
          </a:p>
        </p:txBody>
      </p:sp>
      <p:sp>
        <p:nvSpPr>
          <p:cNvPr id="33" name="[p1] Icono circle-check"/>
          <p:cNvSpPr/>
          <p:nvPr/>
        </p:nvSpPr>
        <p:spPr>
          <a:xfrm>
            <a:off x="6543904" y="528523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4" name="[p1] Forma"/>
          <p:cNvSpPr/>
          <p:nvPr/>
        </p:nvSpPr>
        <p:spPr>
          <a:xfrm>
            <a:off x="6927952" y="523036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regla vive en el código, con su prueba</a:t>
            </a:r>
            <a:endParaRPr lang="en-US" sz="1400" dirty="0"/>
          </a:p>
        </p:txBody>
      </p:sp>
      <p:sp>
        <p:nvSpPr>
          <p:cNvPr id="35" name="[p1] Icono circle-check"/>
          <p:cNvSpPr/>
          <p:nvPr/>
        </p:nvSpPr>
        <p:spPr>
          <a:xfrm>
            <a:off x="6543904" y="565099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6" name="[p1] Forma"/>
          <p:cNvSpPr/>
          <p:nvPr/>
        </p:nvSpPr>
        <p:spPr>
          <a:xfrm>
            <a:off x="6927952" y="559612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 prueba en milisegundos, sin base</a:t>
            </a:r>
            <a:endParaRPr lang="en-US" sz="1400" dirty="0"/>
          </a:p>
        </p:txBody>
      </p:sp>
      <p:sp>
        <p:nvSpPr>
          <p:cNvPr id="37" name="[p1] Icono circle-check"/>
          <p:cNvSpPr/>
          <p:nvPr/>
        </p:nvSpPr>
        <p:spPr>
          <a:xfrm>
            <a:off x="6543904" y="601675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8" name="[p1] Forma"/>
          <p:cNvSpPr/>
          <p:nvPr/>
        </p:nvSpPr>
        <p:spPr>
          <a:xfrm>
            <a:off x="6927952" y="596188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base sigue cuidando llaves, CHECK e índices</a:t>
            </a:r>
            <a:endParaRPr lang="en-US" sz="14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00"/>
                                        <p:tgtEl>
                                          <p:spTgt spid="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400"/>
                                        <p:tgtEl>
                                          <p:spTgt spid="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400"/>
                                        <p:tgtEl>
                                          <p:spTgt spid="3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ORM por dentro: una clase es una tabla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Hibernate lee la clase, sabe a qué columna va cada campo y escribe el SQL.</a:t>
            </a:r>
            <a:endParaRPr lang="en-US" sz="1700" dirty="0"/>
          </a:p>
        </p:txBody>
      </p:sp>
      <p:sp>
        <p:nvSpPr>
          <p:cNvPr id="13" name="Shape 11"/>
          <p:cNvSpPr/>
          <p:nvPr/>
        </p:nvSpPr>
        <p:spPr>
          <a:xfrm>
            <a:off x="612648" y="1719072"/>
            <a:ext cx="4160520" cy="2231136"/>
          </a:xfrm>
          <a:prstGeom prst="roundRect">
            <a:avLst>
              <a:gd name="adj" fmla="val 573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719072"/>
            <a:ext cx="4160520" cy="731520"/>
          </a:xfrm>
          <a:prstGeom prst="roundRect">
            <a:avLst>
              <a:gd name="adj" fmla="val 17500"/>
            </a:avLst>
          </a:prstGeom>
          <a:solidFill>
            <a:srgbClr val="0B2350"/>
          </a:solidFill>
          <a:ln w="12700">
            <a:solidFill>
              <a:srgbClr val="0B2350"/>
            </a:solidFill>
            <a:prstDash val="solid"/>
          </a:ln>
        </p:spPr>
      </p:sp>
      <p:sp>
        <p:nvSpPr>
          <p:cNvPr id="15" name="Shape 13"/>
          <p:cNvSpPr/>
          <p:nvPr/>
        </p:nvSpPr>
        <p:spPr>
          <a:xfrm>
            <a:off x="612648" y="2267712"/>
            <a:ext cx="4160520" cy="182880"/>
          </a:xfrm>
          <a:prstGeom prst="rect">
            <a:avLst/>
          </a:prstGeom>
          <a:solidFill>
            <a:srgbClr val="0B2350"/>
          </a:solidFill>
          <a:ln w="12700">
            <a:solidFill>
              <a:srgbClr val="0B2350"/>
            </a:solidFill>
            <a:prstDash val="solid"/>
          </a:ln>
        </p:spPr>
      </p:sp>
      <p:sp>
        <p:nvSpPr>
          <p:cNvPr id="16" name="Icono code"/>
          <p:cNvSpPr/>
          <p:nvPr/>
        </p:nvSpPr>
        <p:spPr>
          <a:xfrm>
            <a:off x="813816" y="1901952"/>
            <a:ext cx="365760" cy="365760"/>
          </a:xfrm>
          <a:custGeom>
            <a:avLst/>
            <a:gdLst/>
            <a:ahLst/>
            <a:cxnLst/>
            <a:rect l="l" t="t" r="r" b="b"/>
            <a:pathLst>
              <a:path w="365760" h="365760">
                <a:moveTo>
                  <a:pt x="243840" y="274320"/>
                </a:moveTo>
                <a:lnTo>
                  <a:pt x="335280" y="182880"/>
                </a:lnTo>
                <a:lnTo>
                  <a:pt x="243840" y="91440"/>
                </a:lnTo>
                <a:moveTo>
                  <a:pt x="121920" y="91440"/>
                </a:moveTo>
                <a:lnTo>
                  <a:pt x="30480" y="182880"/>
                </a:lnTo>
                <a:lnTo>
                  <a:pt x="121920" y="274320"/>
                </a:lnTo>
              </a:path>
            </a:pathLst>
          </a:custGeom>
          <a:noFill/>
          <a:ln w="30480" cap="rnd">
            <a:solidFill>
              <a:srgbClr val="FFFFFF"/>
            </a:solidFill>
            <a:prstDash val="solid"/>
            <a:round/>
          </a:ln>
        </p:spPr>
      </p:sp>
      <p:sp>
        <p:nvSpPr>
          <p:cNvPr id="17" name="Text 15"/>
          <p:cNvSpPr/>
          <p:nvPr/>
        </p:nvSpPr>
        <p:spPr>
          <a:xfrm>
            <a:off x="1325880" y="1773936"/>
            <a:ext cx="3291840"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Consolas" pitchFamily="34" charset="0"/>
                <a:ea typeface="Consolas" pitchFamily="34" charset="-122"/>
                <a:cs typeface="Consolas" pitchFamily="34" charset="-120"/>
              </a:rPr>
              <a:t>SolicitudEntity</a:t>
            </a:r>
            <a:endParaRPr lang="en-US" sz="1800" dirty="0"/>
          </a:p>
        </p:txBody>
      </p:sp>
      <p:sp>
        <p:nvSpPr>
          <p:cNvPr id="18" name="Text 16"/>
          <p:cNvSpPr/>
          <p:nvPr/>
        </p:nvSpPr>
        <p:spPr>
          <a:xfrm>
            <a:off x="1325880" y="2121408"/>
            <a:ext cx="3291840" cy="274320"/>
          </a:xfrm>
          <a:prstGeom prst="rect">
            <a:avLst/>
          </a:prstGeom>
          <a:noFill/>
          <a:ln/>
        </p:spPr>
        <p:txBody>
          <a:bodyPr wrap="square" lIns="0" tIns="0" rIns="0" bIns="0" rtlCol="0" anchor="t">
            <a:normAutofit/>
          </a:bodyPr>
          <a:lstStyle/>
          <a:p>
            <a:pPr algn="l" indent="0" marL="0">
              <a:buNone/>
            </a:pPr>
            <a:r>
              <a:rPr lang="en-US" sz="1100" dirty="0">
                <a:solidFill>
                  <a:srgbClr val="9FBEE0"/>
                </a:solidFill>
                <a:latin typeface="Segoe UI" pitchFamily="34" charset="0"/>
                <a:ea typeface="Segoe UI" pitchFamily="34" charset="-122"/>
                <a:cs typeface="Segoe UI" pitchFamily="34" charset="-120"/>
              </a:rPr>
              <a:t>Clase Java · @Entity · @Table("solicitud")</a:t>
            </a:r>
            <a:endParaRPr lang="en-US" sz="1100" dirty="0"/>
          </a:p>
        </p:txBody>
      </p:sp>
      <p:sp>
        <p:nvSpPr>
          <p:cNvPr id="19" name="Shape 17"/>
          <p:cNvSpPr/>
          <p:nvPr/>
        </p:nvSpPr>
        <p:spPr>
          <a:xfrm>
            <a:off x="7418527" y="1719072"/>
            <a:ext cx="4160520" cy="2231136"/>
          </a:xfrm>
          <a:prstGeom prst="roundRect">
            <a:avLst>
              <a:gd name="adj" fmla="val 573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7418527" y="1719072"/>
            <a:ext cx="4160520" cy="731520"/>
          </a:xfrm>
          <a:prstGeom prst="roundRect">
            <a:avLst>
              <a:gd name="adj" fmla="val 17500"/>
            </a:avLst>
          </a:prstGeom>
          <a:solidFill>
            <a:srgbClr val="0B6E8A"/>
          </a:solidFill>
          <a:ln w="12700">
            <a:solidFill>
              <a:srgbClr val="0B6E8A"/>
            </a:solidFill>
            <a:prstDash val="solid"/>
          </a:ln>
        </p:spPr>
      </p:sp>
      <p:sp>
        <p:nvSpPr>
          <p:cNvPr id="21" name="Shape 19"/>
          <p:cNvSpPr/>
          <p:nvPr/>
        </p:nvSpPr>
        <p:spPr>
          <a:xfrm>
            <a:off x="7418527" y="2267712"/>
            <a:ext cx="4160520" cy="182880"/>
          </a:xfrm>
          <a:prstGeom prst="rect">
            <a:avLst/>
          </a:prstGeom>
          <a:solidFill>
            <a:srgbClr val="0B6E8A"/>
          </a:solidFill>
          <a:ln w="12700">
            <a:solidFill>
              <a:srgbClr val="0B6E8A"/>
            </a:solidFill>
            <a:prstDash val="solid"/>
          </a:ln>
        </p:spPr>
      </p:sp>
      <p:sp>
        <p:nvSpPr>
          <p:cNvPr id="22" name="Icono table"/>
          <p:cNvSpPr/>
          <p:nvPr/>
        </p:nvSpPr>
        <p:spPr>
          <a:xfrm>
            <a:off x="7619695" y="1901952"/>
            <a:ext cx="365760" cy="365760"/>
          </a:xfrm>
          <a:custGeom>
            <a:avLst/>
            <a:gdLst/>
            <a:ahLst/>
            <a:cxnLst/>
            <a:rect l="l" t="t" r="r" b="b"/>
            <a:pathLst>
              <a:path w="365760" h="365760">
                <a:moveTo>
                  <a:pt x="182880" y="45720"/>
                </a:moveTo>
                <a:lnTo>
                  <a:pt x="182880" y="320040"/>
                </a:lnTo>
                <a:moveTo>
                  <a:pt x="76200" y="45720"/>
                </a:moveTo>
                <a:lnTo>
                  <a:pt x="289560" y="45720"/>
                </a:lnTo>
                <a:cubicBezTo>
                  <a:pt x="306394" y="45720"/>
                  <a:pt x="320040" y="59366"/>
                  <a:pt x="320040" y="76200"/>
                </a:cubicBezTo>
                <a:lnTo>
                  <a:pt x="320040" y="289560"/>
                </a:lnTo>
                <a:cubicBezTo>
                  <a:pt x="320040" y="306394"/>
                  <a:pt x="306394" y="320040"/>
                  <a:pt x="289560" y="320040"/>
                </a:cubicBezTo>
                <a:lnTo>
                  <a:pt x="76200" y="320040"/>
                </a:lnTo>
                <a:cubicBezTo>
                  <a:pt x="59366" y="320040"/>
                  <a:pt x="45720" y="306394"/>
                  <a:pt x="45720" y="289560"/>
                </a:cubicBezTo>
                <a:lnTo>
                  <a:pt x="45720" y="76200"/>
                </a:lnTo>
                <a:cubicBezTo>
                  <a:pt x="45720" y="59366"/>
                  <a:pt x="59366" y="45720"/>
                  <a:pt x="76200" y="45720"/>
                </a:cubicBezTo>
                <a:close/>
                <a:moveTo>
                  <a:pt x="45720" y="137160"/>
                </a:moveTo>
                <a:lnTo>
                  <a:pt x="320040" y="137160"/>
                </a:lnTo>
                <a:moveTo>
                  <a:pt x="45720" y="228600"/>
                </a:moveTo>
                <a:lnTo>
                  <a:pt x="320040" y="228600"/>
                </a:lnTo>
              </a:path>
            </a:pathLst>
          </a:custGeom>
          <a:noFill/>
          <a:ln w="30480" cap="rnd">
            <a:solidFill>
              <a:srgbClr val="FFFFFF"/>
            </a:solidFill>
            <a:prstDash val="solid"/>
            <a:round/>
          </a:ln>
        </p:spPr>
      </p:sp>
      <p:sp>
        <p:nvSpPr>
          <p:cNvPr id="23" name="Text 21"/>
          <p:cNvSpPr/>
          <p:nvPr/>
        </p:nvSpPr>
        <p:spPr>
          <a:xfrm>
            <a:off x="8131759" y="1773936"/>
            <a:ext cx="3291840"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Consolas" pitchFamily="34" charset="0"/>
                <a:ea typeface="Consolas" pitchFamily="34" charset="-122"/>
                <a:cs typeface="Consolas" pitchFamily="34" charset="-120"/>
              </a:rPr>
              <a:t>solicitud</a:t>
            </a:r>
            <a:endParaRPr lang="en-US" sz="1800" dirty="0"/>
          </a:p>
        </p:txBody>
      </p:sp>
      <p:sp>
        <p:nvSpPr>
          <p:cNvPr id="24" name="Text 22"/>
          <p:cNvSpPr/>
          <p:nvPr/>
        </p:nvSpPr>
        <p:spPr>
          <a:xfrm>
            <a:off x="8131759" y="2121408"/>
            <a:ext cx="3291840" cy="274320"/>
          </a:xfrm>
          <a:prstGeom prst="rect">
            <a:avLst/>
          </a:prstGeom>
          <a:noFill/>
          <a:ln/>
        </p:spPr>
        <p:txBody>
          <a:bodyPr wrap="square" lIns="0" tIns="0" rIns="0" bIns="0" rtlCol="0" anchor="t">
            <a:normAutofit/>
          </a:bodyPr>
          <a:lstStyle/>
          <a:p>
            <a:pPr algn="l" indent="0" marL="0">
              <a:buNone/>
            </a:pPr>
            <a:r>
              <a:rPr lang="en-US" sz="1100" dirty="0">
                <a:solidFill>
                  <a:srgbClr val="9FBEE0"/>
                </a:solidFill>
                <a:latin typeface="Segoe UI" pitchFamily="34" charset="0"/>
                <a:ea typeface="Segoe UI" pitchFamily="34" charset="-122"/>
                <a:cs typeface="Segoe UI" pitchFamily="34" charset="-120"/>
              </a:rPr>
              <a:t>Tabla en PostgreSQL</a:t>
            </a:r>
            <a:endParaRPr lang="en-US" sz="1100" dirty="0"/>
          </a:p>
        </p:txBody>
      </p:sp>
      <p:sp>
        <p:nvSpPr>
          <p:cNvPr id="25" name="[p1] Forma"/>
          <p:cNvSpPr/>
          <p:nvPr/>
        </p:nvSpPr>
        <p:spPr>
          <a:xfrm>
            <a:off x="886968" y="25146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@Id String id</a:t>
            </a:r>
            <a:endParaRPr lang="en-US" sz="1500" dirty="0"/>
          </a:p>
        </p:txBody>
      </p:sp>
      <p:sp>
        <p:nvSpPr>
          <p:cNvPr id="26" name="[p1] Icono key-round"/>
          <p:cNvSpPr/>
          <p:nvPr/>
        </p:nvSpPr>
        <p:spPr>
          <a:xfrm>
            <a:off x="7637983" y="2633472"/>
            <a:ext cx="219456" cy="219456"/>
          </a:xfrm>
          <a:custGeom>
            <a:avLst/>
            <a:gdLst/>
            <a:ahLst/>
            <a:cxnLst/>
            <a:rect l="l" t="t" r="r" b="b"/>
            <a:pathLst>
              <a:path w="219456" h="219456">
                <a:moveTo>
                  <a:pt x="23646" y="159234"/>
                </a:moveTo>
                <a:cubicBezTo>
                  <a:pt x="20216" y="162662"/>
                  <a:pt x="18289" y="167313"/>
                  <a:pt x="18288" y="172163"/>
                </a:cubicBezTo>
                <a:lnTo>
                  <a:pt x="18288" y="192024"/>
                </a:lnTo>
                <a:cubicBezTo>
                  <a:pt x="18288" y="197074"/>
                  <a:pt x="22382" y="201168"/>
                  <a:pt x="27432" y="201168"/>
                </a:cubicBezTo>
                <a:lnTo>
                  <a:pt x="54864" y="201168"/>
                </a:lnTo>
                <a:cubicBezTo>
                  <a:pt x="59914" y="201168"/>
                  <a:pt x="64008" y="197074"/>
                  <a:pt x="64008" y="192024"/>
                </a:cubicBezTo>
                <a:lnTo>
                  <a:pt x="64008" y="182880"/>
                </a:lnTo>
                <a:cubicBezTo>
                  <a:pt x="64008" y="177830"/>
                  <a:pt x="68102" y="173736"/>
                  <a:pt x="73152" y="173736"/>
                </a:cubicBezTo>
                <a:lnTo>
                  <a:pt x="82296" y="173736"/>
                </a:lnTo>
                <a:cubicBezTo>
                  <a:pt x="87346" y="173736"/>
                  <a:pt x="91440" y="169642"/>
                  <a:pt x="91440" y="164592"/>
                </a:cubicBezTo>
                <a:lnTo>
                  <a:pt x="91440" y="155448"/>
                </a:lnTo>
                <a:cubicBezTo>
                  <a:pt x="91440" y="150398"/>
                  <a:pt x="95534" y="146304"/>
                  <a:pt x="100584" y="146304"/>
                </a:cubicBezTo>
                <a:lnTo>
                  <a:pt x="102157" y="146304"/>
                </a:lnTo>
                <a:cubicBezTo>
                  <a:pt x="107007" y="146303"/>
                  <a:pt x="111658" y="144376"/>
                  <a:pt x="115086" y="140946"/>
                </a:cubicBezTo>
                <a:lnTo>
                  <a:pt x="122530" y="133502"/>
                </a:lnTo>
                <a:cubicBezTo>
                  <a:pt x="148702" y="142619"/>
                  <a:pt x="177701" y="132438"/>
                  <a:pt x="192430" y="108961"/>
                </a:cubicBezTo>
                <a:cubicBezTo>
                  <a:pt x="207158" y="85484"/>
                  <a:pt x="203706" y="54944"/>
                  <a:pt x="184109" y="35347"/>
                </a:cubicBezTo>
                <a:cubicBezTo>
                  <a:pt x="164512" y="15750"/>
                  <a:pt x="133972" y="12298"/>
                  <a:pt x="110495" y="27026"/>
                </a:cubicBezTo>
                <a:cubicBezTo>
                  <a:pt x="87018" y="41755"/>
                  <a:pt x="76837" y="70754"/>
                  <a:pt x="85954" y="96926"/>
                </a:cubicBezTo>
                <a:close/>
                <a:moveTo>
                  <a:pt x="155448" y="68580"/>
                </a:moveTo>
                <a:cubicBezTo>
                  <a:pt x="155448" y="71105"/>
                  <a:pt x="153401" y="73152"/>
                  <a:pt x="150876" y="73152"/>
                </a:cubicBezTo>
                <a:cubicBezTo>
                  <a:pt x="148351" y="73152"/>
                  <a:pt x="146304" y="71105"/>
                  <a:pt x="146304" y="68580"/>
                </a:cubicBezTo>
                <a:cubicBezTo>
                  <a:pt x="146304" y="66055"/>
                  <a:pt x="148351" y="64008"/>
                  <a:pt x="150876" y="64008"/>
                </a:cubicBezTo>
                <a:cubicBezTo>
                  <a:pt x="153401" y="64008"/>
                  <a:pt x="155448" y="66055"/>
                  <a:pt x="155448" y="68580"/>
                </a:cubicBezTo>
                <a:close/>
              </a:path>
            </a:pathLst>
          </a:custGeom>
          <a:noFill/>
          <a:ln w="18288" cap="rnd">
            <a:solidFill>
              <a:srgbClr val="A85D08"/>
            </a:solidFill>
            <a:prstDash val="solid"/>
            <a:round/>
          </a:ln>
        </p:spPr>
      </p:sp>
      <p:sp>
        <p:nvSpPr>
          <p:cNvPr id="27" name="[p1] Forma"/>
          <p:cNvSpPr/>
          <p:nvPr/>
        </p:nvSpPr>
        <p:spPr>
          <a:xfrm>
            <a:off x="7967167" y="25146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id</a:t>
            </a:r>
            <a:pPr indent="0" marL="0">
              <a:buNone/>
            </a:pPr>
            <a:r>
              <a:rPr lang="en-US" sz="1500" dirty="0">
                <a:solidFill>
                  <a:srgbClr val="55627E"/>
                </a:solidFill>
                <a:latin typeface="Segoe UI" pitchFamily="34" charset="0"/>
                <a:ea typeface="Segoe UI" pitchFamily="34" charset="-122"/>
                <a:cs typeface="Segoe UI" pitchFamily="34" charset="-120"/>
              </a:rPr>
              <a:t>   VARCHAR(20) · PK</a:t>
            </a:r>
            <a:endParaRPr lang="en-US" sz="1500" dirty="0"/>
          </a:p>
        </p:txBody>
      </p:sp>
      <p:sp>
        <p:nvSpPr>
          <p:cNvPr id="28" name="[p1] Forma"/>
          <p:cNvSpPr/>
          <p:nvPr/>
        </p:nvSpPr>
        <p:spPr>
          <a:xfrm>
            <a:off x="4864608" y="2743200"/>
            <a:ext cx="2462479" cy="0"/>
          </a:xfrm>
          <a:prstGeom prst="line">
            <a:avLst/>
          </a:prstGeom>
          <a:noFill/>
          <a:ln w="28575">
            <a:solidFill>
              <a:srgbClr val="2BA6CB"/>
            </a:solidFill>
            <a:prstDash val="solid"/>
            <a:headEnd type="triangle"/>
            <a:tailEnd type="triangle"/>
          </a:ln>
        </p:spPr>
      </p:sp>
      <p:sp>
        <p:nvSpPr>
          <p:cNvPr id="29" name="[p1] Forma"/>
          <p:cNvSpPr/>
          <p:nvPr/>
        </p:nvSpPr>
        <p:spPr>
          <a:xfrm>
            <a:off x="795528" y="2971800"/>
            <a:ext cx="3794760" cy="0"/>
          </a:xfrm>
          <a:prstGeom prst="line">
            <a:avLst/>
          </a:prstGeom>
          <a:noFill/>
          <a:ln w="9525">
            <a:solidFill>
              <a:srgbClr val="DFE6F0"/>
            </a:solidFill>
            <a:prstDash val="solid"/>
          </a:ln>
        </p:spPr>
      </p:sp>
      <p:sp>
        <p:nvSpPr>
          <p:cNvPr id="30" name="[p1] Forma"/>
          <p:cNvSpPr/>
          <p:nvPr/>
        </p:nvSpPr>
        <p:spPr>
          <a:xfrm>
            <a:off x="7601407" y="2971800"/>
            <a:ext cx="3794760" cy="0"/>
          </a:xfrm>
          <a:prstGeom prst="line">
            <a:avLst/>
          </a:prstGeom>
          <a:noFill/>
          <a:ln w="9525">
            <a:solidFill>
              <a:srgbClr val="DFE6F0"/>
            </a:solidFill>
            <a:prstDash val="solid"/>
          </a:ln>
        </p:spPr>
      </p:sp>
      <p:sp>
        <p:nvSpPr>
          <p:cNvPr id="31" name="[p1] Forma"/>
          <p:cNvSpPr/>
          <p:nvPr/>
        </p:nvSpPr>
        <p:spPr>
          <a:xfrm>
            <a:off x="886968" y="29718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String tipo</a:t>
            </a:r>
            <a:endParaRPr lang="en-US" sz="1500" dirty="0"/>
          </a:p>
        </p:txBody>
      </p:sp>
      <p:sp>
        <p:nvSpPr>
          <p:cNvPr id="32" name="[p1] Icono hash"/>
          <p:cNvSpPr/>
          <p:nvPr/>
        </p:nvSpPr>
        <p:spPr>
          <a:xfrm>
            <a:off x="7637983" y="3090672"/>
            <a:ext cx="219456" cy="219456"/>
          </a:xfrm>
          <a:custGeom>
            <a:avLst/>
            <a:gdLst/>
            <a:ahLst/>
            <a:cxnLst/>
            <a:rect l="l" t="t" r="r" b="b"/>
            <a:pathLst>
              <a:path w="219456" h="219456">
                <a:moveTo>
                  <a:pt x="36576" y="82296"/>
                </a:moveTo>
                <a:lnTo>
                  <a:pt x="182880" y="82296"/>
                </a:lnTo>
                <a:moveTo>
                  <a:pt x="36576" y="137160"/>
                </a:moveTo>
                <a:lnTo>
                  <a:pt x="182880" y="137160"/>
                </a:lnTo>
                <a:moveTo>
                  <a:pt x="91440" y="27432"/>
                </a:moveTo>
                <a:lnTo>
                  <a:pt x="73152" y="192024"/>
                </a:lnTo>
                <a:moveTo>
                  <a:pt x="146304" y="27432"/>
                </a:moveTo>
                <a:lnTo>
                  <a:pt x="128016" y="192024"/>
                </a:lnTo>
              </a:path>
            </a:pathLst>
          </a:custGeom>
          <a:noFill/>
          <a:ln w="18288" cap="rnd">
            <a:solidFill>
              <a:srgbClr val="55627E"/>
            </a:solidFill>
            <a:prstDash val="solid"/>
            <a:round/>
          </a:ln>
        </p:spPr>
      </p:sp>
      <p:sp>
        <p:nvSpPr>
          <p:cNvPr id="33" name="[p1] Forma"/>
          <p:cNvSpPr/>
          <p:nvPr/>
        </p:nvSpPr>
        <p:spPr>
          <a:xfrm>
            <a:off x="7967167" y="29718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tipo</a:t>
            </a:r>
            <a:pPr indent="0" marL="0">
              <a:buNone/>
            </a:pPr>
            <a:r>
              <a:rPr lang="en-US" sz="1500" dirty="0">
                <a:solidFill>
                  <a:srgbClr val="55627E"/>
                </a:solidFill>
                <a:latin typeface="Segoe UI" pitchFamily="34" charset="0"/>
                <a:ea typeface="Segoe UI" pitchFamily="34" charset="-122"/>
                <a:cs typeface="Segoe UI" pitchFamily="34" charset="-120"/>
              </a:rPr>
              <a:t>   VARCHAR(20)</a:t>
            </a:r>
            <a:endParaRPr lang="en-US" sz="1500" dirty="0"/>
          </a:p>
        </p:txBody>
      </p:sp>
      <p:sp>
        <p:nvSpPr>
          <p:cNvPr id="34" name="[p1] Forma"/>
          <p:cNvSpPr/>
          <p:nvPr/>
        </p:nvSpPr>
        <p:spPr>
          <a:xfrm>
            <a:off x="4864608" y="3200400"/>
            <a:ext cx="2462479" cy="0"/>
          </a:xfrm>
          <a:prstGeom prst="line">
            <a:avLst/>
          </a:prstGeom>
          <a:noFill/>
          <a:ln w="28575">
            <a:solidFill>
              <a:srgbClr val="2BA6CB"/>
            </a:solidFill>
            <a:prstDash val="solid"/>
            <a:headEnd type="triangle"/>
            <a:tailEnd type="triangle"/>
          </a:ln>
        </p:spPr>
      </p:sp>
      <p:sp>
        <p:nvSpPr>
          <p:cNvPr id="35" name="[p1] Forma"/>
          <p:cNvSpPr/>
          <p:nvPr/>
        </p:nvSpPr>
        <p:spPr>
          <a:xfrm>
            <a:off x="795528" y="3429000"/>
            <a:ext cx="3794760" cy="0"/>
          </a:xfrm>
          <a:prstGeom prst="line">
            <a:avLst/>
          </a:prstGeom>
          <a:noFill/>
          <a:ln w="9525">
            <a:solidFill>
              <a:srgbClr val="DFE6F0"/>
            </a:solidFill>
            <a:prstDash val="solid"/>
          </a:ln>
        </p:spPr>
      </p:sp>
      <p:sp>
        <p:nvSpPr>
          <p:cNvPr id="36" name="[p1] Forma"/>
          <p:cNvSpPr/>
          <p:nvPr/>
        </p:nvSpPr>
        <p:spPr>
          <a:xfrm>
            <a:off x="7601407" y="3429000"/>
            <a:ext cx="3794760" cy="0"/>
          </a:xfrm>
          <a:prstGeom prst="line">
            <a:avLst/>
          </a:prstGeom>
          <a:noFill/>
          <a:ln w="9525">
            <a:solidFill>
              <a:srgbClr val="DFE6F0"/>
            </a:solidFill>
            <a:prstDash val="solid"/>
          </a:ln>
        </p:spPr>
      </p:sp>
      <p:sp>
        <p:nvSpPr>
          <p:cNvPr id="37" name="[p1] Forma"/>
          <p:cNvSpPr/>
          <p:nvPr/>
        </p:nvSpPr>
        <p:spPr>
          <a:xfrm>
            <a:off x="886968" y="34290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String estado</a:t>
            </a:r>
            <a:endParaRPr lang="en-US" sz="1500" dirty="0"/>
          </a:p>
        </p:txBody>
      </p:sp>
      <p:sp>
        <p:nvSpPr>
          <p:cNvPr id="38" name="[p1] Icono hash"/>
          <p:cNvSpPr/>
          <p:nvPr/>
        </p:nvSpPr>
        <p:spPr>
          <a:xfrm>
            <a:off x="7637983" y="3547872"/>
            <a:ext cx="219456" cy="219456"/>
          </a:xfrm>
          <a:custGeom>
            <a:avLst/>
            <a:gdLst/>
            <a:ahLst/>
            <a:cxnLst/>
            <a:rect l="l" t="t" r="r" b="b"/>
            <a:pathLst>
              <a:path w="219456" h="219456">
                <a:moveTo>
                  <a:pt x="36576" y="82296"/>
                </a:moveTo>
                <a:lnTo>
                  <a:pt x="182880" y="82296"/>
                </a:lnTo>
                <a:moveTo>
                  <a:pt x="36576" y="137160"/>
                </a:moveTo>
                <a:lnTo>
                  <a:pt x="182880" y="137160"/>
                </a:lnTo>
                <a:moveTo>
                  <a:pt x="91440" y="27432"/>
                </a:moveTo>
                <a:lnTo>
                  <a:pt x="73152" y="192024"/>
                </a:lnTo>
                <a:moveTo>
                  <a:pt x="146304" y="27432"/>
                </a:moveTo>
                <a:lnTo>
                  <a:pt x="128016" y="192024"/>
                </a:lnTo>
              </a:path>
            </a:pathLst>
          </a:custGeom>
          <a:noFill/>
          <a:ln w="18288" cap="rnd">
            <a:solidFill>
              <a:srgbClr val="55627E"/>
            </a:solidFill>
            <a:prstDash val="solid"/>
            <a:round/>
          </a:ln>
        </p:spPr>
      </p:sp>
      <p:sp>
        <p:nvSpPr>
          <p:cNvPr id="39" name="[p1] Forma"/>
          <p:cNvSpPr/>
          <p:nvPr/>
        </p:nvSpPr>
        <p:spPr>
          <a:xfrm>
            <a:off x="7967167" y="34290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estado</a:t>
            </a:r>
            <a:pPr indent="0" marL="0">
              <a:buNone/>
            </a:pPr>
            <a:r>
              <a:rPr lang="en-US" sz="1500" dirty="0">
                <a:solidFill>
                  <a:srgbClr val="55627E"/>
                </a:solidFill>
                <a:latin typeface="Segoe UI" pitchFamily="34" charset="0"/>
                <a:ea typeface="Segoe UI" pitchFamily="34" charset="-122"/>
                <a:cs typeface="Segoe UI" pitchFamily="34" charset="-120"/>
              </a:rPr>
              <a:t>   VARCHAR(20) · CHECK</a:t>
            </a:r>
            <a:endParaRPr lang="en-US" sz="1500" dirty="0"/>
          </a:p>
        </p:txBody>
      </p:sp>
      <p:sp>
        <p:nvSpPr>
          <p:cNvPr id="40" name="[p1] Forma"/>
          <p:cNvSpPr/>
          <p:nvPr/>
        </p:nvSpPr>
        <p:spPr>
          <a:xfrm>
            <a:off x="4864608" y="3657600"/>
            <a:ext cx="2462479" cy="0"/>
          </a:xfrm>
          <a:prstGeom prst="line">
            <a:avLst/>
          </a:prstGeom>
          <a:noFill/>
          <a:ln w="28575">
            <a:solidFill>
              <a:srgbClr val="2BA6CB"/>
            </a:solidFill>
            <a:prstDash val="solid"/>
            <a:headEnd type="triangle"/>
            <a:tailEnd type="triangle"/>
          </a:ln>
        </p:spPr>
      </p:sp>
      <p:sp>
        <p:nvSpPr>
          <p:cNvPr id="41" name="[p1] Forma"/>
          <p:cNvSpPr/>
          <p:nvPr/>
        </p:nvSpPr>
        <p:spPr>
          <a:xfrm>
            <a:off x="5044288" y="1737360"/>
            <a:ext cx="2103120" cy="676656"/>
          </a:xfrm>
          <a:prstGeom prst="roundRect">
            <a:avLst>
              <a:gd name="adj" fmla="val 16216"/>
            </a:avLst>
          </a:prstGeom>
          <a:solidFill>
            <a:srgbClr val="E3F4FA"/>
          </a:solidFill>
          <a:ln w="12700">
            <a:solidFill>
              <a:srgbClr val="2BA6CB"/>
            </a:solidFill>
          </a:ln>
        </p:spPr>
        <p:txBody>
          <a:bodyPr wrap="square" lIns="0" tIns="0" rIns="0" bIns="0" rtlCol="0" anchor="ctr"/>
          <a:lstStyle/>
          <a:p>
            <a:pPr algn="ctr" indent="0" marL="0">
              <a:buNone/>
            </a:pPr>
            <a:r>
              <a:rPr lang="en-US" sz="1600" b="1" dirty="0">
                <a:solidFill>
                  <a:srgbClr val="0B6E8A"/>
                </a:solidFill>
                <a:latin typeface="Segoe UI Semibold" pitchFamily="34" charset="0"/>
                <a:ea typeface="Segoe UI Semibold" pitchFamily="34" charset="-122"/>
                <a:cs typeface="Segoe UI Semibold" pitchFamily="34" charset="-120"/>
              </a:rPr>
              <a:t>Hibernate</a:t>
            </a:r>
            <a:endParaRPr lang="en-US" sz="1600" dirty="0"/>
          </a:p>
          <a:p>
            <a:pPr algn="ctr" indent="0" marL="0">
              <a:buNone/>
            </a:pPr>
            <a:r>
              <a:rPr lang="en-US" sz="1100" dirty="0">
                <a:solidFill>
                  <a:srgbClr val="55627E"/>
                </a:solidFill>
                <a:latin typeface="Segoe UI" pitchFamily="34" charset="0"/>
                <a:ea typeface="Segoe UI" pitchFamily="34" charset="-122"/>
                <a:cs typeface="Segoe UI" pitchFamily="34" charset="-120"/>
              </a:rPr>
              <a:t>traduce en los dos sentidos</a:t>
            </a:r>
            <a:endParaRPr lang="en-US" sz="1600" dirty="0"/>
          </a:p>
        </p:txBody>
      </p:sp>
      <p:sp>
        <p:nvSpPr>
          <p:cNvPr id="42" name="[p2] Forma"/>
          <p:cNvSpPr/>
          <p:nvPr/>
        </p:nvSpPr>
        <p:spPr>
          <a:xfrm>
            <a:off x="612648" y="4224528"/>
            <a:ext cx="10966399" cy="274320"/>
          </a:xfrm>
          <a:prstGeom prst="rect">
            <a:avLst/>
          </a:prstGeom>
          <a:noFill/>
          <a:ln/>
        </p:spPr>
        <p:txBody>
          <a:bodyPr wrap="square" lIns="0" tIns="0" rIns="0" bIns="0" rtlCol="0" anchor="t">
            <a:normAutofit/>
          </a:bodyPr>
          <a:lstStyle/>
          <a:p>
            <a:pPr algn="l" indent="0" marL="0">
              <a:buNone/>
            </a:pPr>
            <a:r>
              <a:rPr lang="en-US" sz="1100" b="1" dirty="0">
                <a:solidFill>
                  <a:srgbClr val="0B6E8A"/>
                </a:solidFill>
                <a:latin typeface="Segoe UI" pitchFamily="34" charset="0"/>
                <a:ea typeface="Segoe UI" pitchFamily="34" charset="-122"/>
                <a:cs typeface="Segoe UI" pitchFamily="34" charset="-120"/>
              </a:rPr>
              <a:t>LO QUE ESCRIBE EL CÓDIGO  →  EL SQL QUE HIBERNATE ENVÍA A POSTGRESQL</a:t>
            </a:r>
            <a:endParaRPr lang="en-US" sz="1100" dirty="0"/>
          </a:p>
        </p:txBody>
      </p:sp>
      <p:sp>
        <p:nvSpPr>
          <p:cNvPr id="43" name="[p2] Forma"/>
          <p:cNvSpPr/>
          <p:nvPr/>
        </p:nvSpPr>
        <p:spPr>
          <a:xfrm>
            <a:off x="612648" y="4590288"/>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jpa.save(nueva)</a:t>
            </a:r>
            <a:endParaRPr lang="en-US" sz="1400" dirty="0"/>
          </a:p>
        </p:txBody>
      </p:sp>
      <p:sp>
        <p:nvSpPr>
          <p:cNvPr id="44" name="[p2] Forma"/>
          <p:cNvSpPr/>
          <p:nvPr/>
        </p:nvSpPr>
        <p:spPr>
          <a:xfrm>
            <a:off x="3950208" y="4846320"/>
            <a:ext cx="457200" cy="0"/>
          </a:xfrm>
          <a:prstGeom prst="line">
            <a:avLst/>
          </a:prstGeom>
          <a:noFill/>
          <a:ln w="31750">
            <a:solidFill>
              <a:srgbClr val="0B6E8A"/>
            </a:solidFill>
            <a:prstDash val="solid"/>
            <a:tailEnd type="triangle"/>
          </a:ln>
        </p:spPr>
      </p:sp>
      <p:sp>
        <p:nvSpPr>
          <p:cNvPr id="45" name="[p2] Forma"/>
          <p:cNvSpPr/>
          <p:nvPr/>
        </p:nvSpPr>
        <p:spPr>
          <a:xfrm>
            <a:off x="4498848" y="4590288"/>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INSERT INTO solicitud (id, tipo, estado) VALUES (?, ?, ?)</a:t>
            </a:r>
            <a:endParaRPr lang="en-US" sz="1400" dirty="0"/>
          </a:p>
        </p:txBody>
      </p:sp>
      <p:sp>
        <p:nvSpPr>
          <p:cNvPr id="46" name="[p3] Forma"/>
          <p:cNvSpPr/>
          <p:nvPr/>
        </p:nvSpPr>
        <p:spPr>
          <a:xfrm>
            <a:off x="612648" y="5212080"/>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jpa.findById("CAM-002")</a:t>
            </a:r>
            <a:endParaRPr lang="en-US" sz="1400" dirty="0"/>
          </a:p>
        </p:txBody>
      </p:sp>
      <p:sp>
        <p:nvSpPr>
          <p:cNvPr id="47" name="[p3] Forma"/>
          <p:cNvSpPr/>
          <p:nvPr/>
        </p:nvSpPr>
        <p:spPr>
          <a:xfrm>
            <a:off x="3950208" y="5468112"/>
            <a:ext cx="457200" cy="0"/>
          </a:xfrm>
          <a:prstGeom prst="line">
            <a:avLst/>
          </a:prstGeom>
          <a:noFill/>
          <a:ln w="31750">
            <a:solidFill>
              <a:srgbClr val="0B6E8A"/>
            </a:solidFill>
            <a:prstDash val="solid"/>
            <a:tailEnd type="triangle"/>
          </a:ln>
        </p:spPr>
      </p:sp>
      <p:sp>
        <p:nvSpPr>
          <p:cNvPr id="48" name="[p3] Forma"/>
          <p:cNvSpPr/>
          <p:nvPr/>
        </p:nvSpPr>
        <p:spPr>
          <a:xfrm>
            <a:off x="4498848" y="5212080"/>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SELECT id, tipo, estado FROM solicitud WHERE id = ?</a:t>
            </a:r>
            <a:endParaRPr lang="en-US" sz="1400" dirty="0"/>
          </a:p>
        </p:txBody>
      </p:sp>
      <p:sp>
        <p:nvSpPr>
          <p:cNvPr id="49" name="[p4] Forma"/>
          <p:cNvSpPr/>
          <p:nvPr/>
        </p:nvSpPr>
        <p:spPr>
          <a:xfrm>
            <a:off x="612648" y="5833872"/>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jpa.save(enviada)</a:t>
            </a:r>
            <a:endParaRPr lang="en-US" sz="1400" dirty="0"/>
          </a:p>
        </p:txBody>
      </p:sp>
      <p:sp>
        <p:nvSpPr>
          <p:cNvPr id="50" name="[p4] Forma"/>
          <p:cNvSpPr/>
          <p:nvPr/>
        </p:nvSpPr>
        <p:spPr>
          <a:xfrm>
            <a:off x="3950208" y="6089904"/>
            <a:ext cx="457200" cy="0"/>
          </a:xfrm>
          <a:prstGeom prst="line">
            <a:avLst/>
          </a:prstGeom>
          <a:noFill/>
          <a:ln w="31750">
            <a:solidFill>
              <a:srgbClr val="0B6E8A"/>
            </a:solidFill>
            <a:prstDash val="solid"/>
            <a:tailEnd type="triangle"/>
          </a:ln>
        </p:spPr>
      </p:sp>
      <p:sp>
        <p:nvSpPr>
          <p:cNvPr id="51" name="[p4] Forma"/>
          <p:cNvSpPr/>
          <p:nvPr/>
        </p:nvSpPr>
        <p:spPr>
          <a:xfrm>
            <a:off x="4498848" y="5833872"/>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UPDATE solicitud SET tipo = ?, estado = ? WHERE id = ?</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0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400"/>
                                        <p:tgtEl>
                                          <p:spTgt spid="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4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4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400"/>
                                        <p:tgtEl>
                                          <p:spTgt spid="41"/>
                                        </p:tgtEl>
                                      </p:cBhvr>
                                    </p:animEffect>
                                  </p:childTnLst>
                                </p:cTn>
                              </p:par>
                            </p:childTnLst>
                          </p:cTn>
                        </p:par>
                      </p:childTnLst>
                    </p:cTn>
                  </p:par>
                  <p:par>
                    <p:cTn id="68" fill="hold">
                      <p:stCondLst>
                        <p:cond delay="indefinite"/>
                      </p:stCondLst>
                      <p:childTnLst>
                        <p:par>
                          <p:cTn id="69"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400"/>
                                        <p:tgtEl>
                                          <p:spTgt spid="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400"/>
                                        <p:tgtEl>
                                          <p:spTgt spid="45"/>
                                        </p:tgtEl>
                                      </p:cBhvr>
                                    </p:animEffect>
                                  </p:childTnLst>
                                </p:cTn>
                              </p:par>
                            </p:childTnLst>
                          </p:cTn>
                        </p:par>
                      </p:childTnLst>
                    </p:cTn>
                  </p:par>
                  <p:par>
                    <p:cTn id="79" fill="hold">
                      <p:stCondLst>
                        <p:cond delay="indefinite"/>
                      </p:stCondLst>
                      <p:childTnLst>
                        <p:par>
                          <p:cTn id="80"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400"/>
                                        <p:tgtEl>
                                          <p:spTgt spid="4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fade">
                                      <p:cBhvr>
                                        <p:cTn id="75" dur="400"/>
                                        <p:tgtEl>
                                          <p:spTgt spid="4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8"/>
                                        </p:tgtEl>
                                        <p:attrNameLst>
                                          <p:attrName>style.visibility</p:attrName>
                                        </p:attrNameLst>
                                      </p:cBhvr>
                                      <p:to>
                                        <p:strVal val="visible"/>
                                      </p:to>
                                    </p:set>
                                    <p:animEffect transition="in" filter="fade">
                                      <p:cBhvr>
                                        <p:cTn id="78" dur="400"/>
                                        <p:tgtEl>
                                          <p:spTgt spid="48"/>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fade">
                                      <p:cBhvr>
                                        <p:cTn id="83" dur="400"/>
                                        <p:tgtEl>
                                          <p:spTgt spid="4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Effect transition="in" filter="fade">
                                      <p:cBhvr>
                                        <p:cTn id="86" dur="400"/>
                                        <p:tgtEl>
                                          <p:spTgt spid="5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1"/>
                                        </p:tgtEl>
                                        <p:attrNameLst>
                                          <p:attrName>style.visibility</p:attrName>
                                        </p:attrNameLst>
                                      </p:cBhvr>
                                      <p:to>
                                        <p:strVal val="visible"/>
                                      </p:to>
                                    </p:set>
                                    <p:animEffect transition="in" filter="fade">
                                      <p:cBhvr>
                                        <p:cTn id="89"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viaje de un dato: de la pantalla a la fila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mismo dato cambia de forma en el camino: JSON, objeto, SQL y fila.</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traductor: el código habla Java, la base habla SQL, y el ORM traduce en los dos sentidos.</a:t>
            </a:r>
            <a:endParaRPr lang="en-US" sz="1450" dirty="0"/>
          </a:p>
        </p:txBody>
      </p:sp>
      <p:sp>
        <p:nvSpPr>
          <p:cNvPr id="17" name="Shape 15"/>
          <p:cNvSpPr/>
          <p:nvPr/>
        </p:nvSpPr>
        <p:spPr>
          <a:xfrm>
            <a:off x="1024128" y="2190628"/>
            <a:ext cx="1370320" cy="137032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18" name="Icono monitor"/>
          <p:cNvSpPr/>
          <p:nvPr/>
        </p:nvSpPr>
        <p:spPr>
          <a:xfrm>
            <a:off x="1339302" y="2505802"/>
            <a:ext cx="739973" cy="739973"/>
          </a:xfrm>
          <a:custGeom>
            <a:avLst/>
            <a:gdLst/>
            <a:ahLst/>
            <a:cxnLst/>
            <a:rect l="l" t="t" r="r" b="b"/>
            <a:pathLst>
              <a:path w="739973" h="739973">
                <a:moveTo>
                  <a:pt x="123329" y="92497"/>
                </a:moveTo>
                <a:lnTo>
                  <a:pt x="616644" y="92497"/>
                </a:lnTo>
                <a:cubicBezTo>
                  <a:pt x="650700" y="92497"/>
                  <a:pt x="678308" y="120105"/>
                  <a:pt x="678308" y="154161"/>
                </a:cubicBezTo>
                <a:lnTo>
                  <a:pt x="678308" y="462483"/>
                </a:lnTo>
                <a:cubicBezTo>
                  <a:pt x="678308" y="496539"/>
                  <a:pt x="650700" y="524147"/>
                  <a:pt x="616644" y="524147"/>
                </a:cubicBezTo>
                <a:lnTo>
                  <a:pt x="123329" y="524147"/>
                </a:lnTo>
                <a:cubicBezTo>
                  <a:pt x="89272" y="524147"/>
                  <a:pt x="61664" y="496539"/>
                  <a:pt x="61664" y="462483"/>
                </a:cubicBezTo>
                <a:lnTo>
                  <a:pt x="61664" y="154161"/>
                </a:lnTo>
                <a:cubicBezTo>
                  <a:pt x="61664" y="120105"/>
                  <a:pt x="89272" y="92497"/>
                  <a:pt x="123329" y="92497"/>
                </a:cubicBezTo>
                <a:close/>
                <a:moveTo>
                  <a:pt x="246658" y="647476"/>
                </a:moveTo>
                <a:lnTo>
                  <a:pt x="493315" y="647476"/>
                </a:lnTo>
                <a:moveTo>
                  <a:pt x="369986" y="524147"/>
                </a:moveTo>
                <a:lnTo>
                  <a:pt x="369986" y="647476"/>
                </a:lnTo>
              </a:path>
            </a:pathLst>
          </a:custGeom>
          <a:noFill/>
          <a:ln w="53956" cap="rnd">
            <a:solidFill>
              <a:srgbClr val="5B3FC4"/>
            </a:solidFill>
            <a:prstDash val="solid"/>
            <a:round/>
          </a:ln>
        </p:spPr>
      </p:sp>
      <p:sp>
        <p:nvSpPr>
          <p:cNvPr id="19" name="Text 17"/>
          <p:cNvSpPr/>
          <p:nvPr/>
        </p:nvSpPr>
        <p:spPr>
          <a:xfrm>
            <a:off x="987552" y="2154052"/>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Pantalla</a:t>
            </a:r>
            <a:endParaRPr lang="en-US" sz="1800" dirty="0"/>
          </a:p>
        </p:txBody>
      </p:sp>
      <p:sp>
        <p:nvSpPr>
          <p:cNvPr id="21" name="Text 19"/>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Manda JSON: SOL-100, tipo Consulta.</a:t>
            </a:r>
            <a:endParaRPr lang="en-US" sz="1400" dirty="0"/>
          </a:p>
        </p:txBody>
      </p:sp>
      <p:sp>
        <p:nvSpPr>
          <p:cNvPr id="22" name="[p1] Forma"/>
          <p:cNvSpPr/>
          <p:nvPr/>
        </p:nvSpPr>
        <p:spPr>
          <a:xfrm>
            <a:off x="2485888" y="2875788"/>
            <a:ext cx="640080" cy="0"/>
          </a:xfrm>
          <a:prstGeom prst="line">
            <a:avLst/>
          </a:prstGeom>
          <a:noFill/>
          <a:ln w="38100">
            <a:solidFill>
              <a:srgbClr val="2BA6CB"/>
            </a:solidFill>
            <a:prstDash val="solid"/>
            <a:tailEnd type="triangle"/>
          </a:ln>
        </p:spPr>
      </p:sp>
      <p:sp>
        <p:nvSpPr>
          <p:cNvPr id="23" name="[p1] Forma"/>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4" name="[p1] Icono code"/>
          <p:cNvSpPr/>
          <p:nvPr/>
        </p:nvSpPr>
        <p:spPr>
          <a:xfrm>
            <a:off x="3532581" y="2505802"/>
            <a:ext cx="739973" cy="739973"/>
          </a:xfrm>
          <a:custGeom>
            <a:avLst/>
            <a:gdLst/>
            <a:ahLst/>
            <a:cxnLst/>
            <a:rect l="l" t="t" r="r" b="b"/>
            <a:pathLst>
              <a:path w="739973" h="739973">
                <a:moveTo>
                  <a:pt x="493315" y="554980"/>
                </a:moveTo>
                <a:lnTo>
                  <a:pt x="678308" y="369986"/>
                </a:lnTo>
                <a:lnTo>
                  <a:pt x="493315" y="184993"/>
                </a:lnTo>
                <a:moveTo>
                  <a:pt x="246658" y="184993"/>
                </a:moveTo>
                <a:lnTo>
                  <a:pt x="61664" y="369986"/>
                </a:lnTo>
                <a:lnTo>
                  <a:pt x="246658" y="554980"/>
                </a:lnTo>
              </a:path>
            </a:pathLst>
          </a:custGeom>
          <a:noFill/>
          <a:ln w="53956" cap="rnd">
            <a:solidFill>
              <a:srgbClr val="0B2350"/>
            </a:solidFill>
            <a:prstDash val="solid"/>
            <a:round/>
          </a:ln>
        </p:spPr>
      </p:sp>
      <p:sp>
        <p:nvSpPr>
          <p:cNvPr id="25" name="[p1] Forma"/>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Controlador</a:t>
            </a:r>
            <a:endParaRPr lang="en-US" sz="1800" dirty="0"/>
          </a:p>
        </p:txBody>
      </p:sp>
      <p:sp>
        <p:nvSpPr>
          <p:cNvPr id="27" name="[p1] Forma"/>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Convierte el JSON en un objeto.</a:t>
            </a:r>
            <a:endParaRPr lang="en-US" sz="1400" dirty="0"/>
          </a:p>
        </p:txBody>
      </p:sp>
      <p:sp>
        <p:nvSpPr>
          <p:cNvPr id="28" name="[p2] Forma"/>
          <p:cNvSpPr/>
          <p:nvPr/>
        </p:nvSpPr>
        <p:spPr>
          <a:xfrm>
            <a:off x="4679168" y="2875788"/>
            <a:ext cx="640080" cy="0"/>
          </a:xfrm>
          <a:prstGeom prst="line">
            <a:avLst/>
          </a:prstGeom>
          <a:noFill/>
          <a:ln w="38100">
            <a:solidFill>
              <a:srgbClr val="2BA6CB"/>
            </a:solidFill>
            <a:prstDash val="solid"/>
            <a:tailEnd type="triangle"/>
          </a:ln>
        </p:spPr>
      </p:sp>
      <p:sp>
        <p:nvSpPr>
          <p:cNvPr id="29" name="[p2] Forma"/>
          <p:cNvSpPr/>
          <p:nvPr/>
        </p:nvSpPr>
        <p:spPr>
          <a:xfrm>
            <a:off x="541068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0" name="[p2] Icono puzzle"/>
          <p:cNvSpPr/>
          <p:nvPr/>
        </p:nvSpPr>
        <p:spPr>
          <a:xfrm>
            <a:off x="5725861" y="2505802"/>
            <a:ext cx="739973" cy="739973"/>
          </a:xfrm>
          <a:custGeom>
            <a:avLst/>
            <a:gdLst/>
            <a:ahLst/>
            <a:cxnLst/>
            <a:rect l="l" t="t" r="r" b="b"/>
            <a:pathLst>
              <a:path w="739973" h="739973">
                <a:moveTo>
                  <a:pt x="474508" y="135353"/>
                </a:moveTo>
                <a:cubicBezTo>
                  <a:pt x="482399" y="143253"/>
                  <a:pt x="493946" y="146269"/>
                  <a:pt x="504692" y="143236"/>
                </a:cubicBezTo>
                <a:cubicBezTo>
                  <a:pt x="515439" y="140204"/>
                  <a:pt x="523707" y="131599"/>
                  <a:pt x="526306" y="120739"/>
                </a:cubicBezTo>
                <a:cubicBezTo>
                  <a:pt x="535162" y="83872"/>
                  <a:pt x="569515" y="58921"/>
                  <a:pt x="607314" y="61902"/>
                </a:cubicBezTo>
                <a:cubicBezTo>
                  <a:pt x="645112" y="64883"/>
                  <a:pt x="675129" y="94910"/>
                  <a:pt x="678098" y="132709"/>
                </a:cubicBezTo>
                <a:cubicBezTo>
                  <a:pt x="681066" y="170509"/>
                  <a:pt x="656104" y="204854"/>
                  <a:pt x="619234" y="213698"/>
                </a:cubicBezTo>
                <a:cubicBezTo>
                  <a:pt x="608374" y="216297"/>
                  <a:pt x="599768" y="224564"/>
                  <a:pt x="596736" y="235311"/>
                </a:cubicBezTo>
                <a:cubicBezTo>
                  <a:pt x="593704" y="246058"/>
                  <a:pt x="596720" y="257604"/>
                  <a:pt x="604619" y="265496"/>
                </a:cubicBezTo>
                <a:lnTo>
                  <a:pt x="656510" y="317356"/>
                </a:lnTo>
                <a:cubicBezTo>
                  <a:pt x="670469" y="331314"/>
                  <a:pt x="678311" y="350246"/>
                  <a:pt x="678311" y="369986"/>
                </a:cubicBezTo>
                <a:cubicBezTo>
                  <a:pt x="678311" y="389727"/>
                  <a:pt x="670469" y="408659"/>
                  <a:pt x="656510" y="422617"/>
                </a:cubicBezTo>
                <a:lnTo>
                  <a:pt x="604619" y="474508"/>
                </a:lnTo>
                <a:cubicBezTo>
                  <a:pt x="596728" y="482407"/>
                  <a:pt x="585181" y="485423"/>
                  <a:pt x="574434" y="482391"/>
                </a:cubicBezTo>
                <a:cubicBezTo>
                  <a:pt x="563688" y="479358"/>
                  <a:pt x="555420" y="470753"/>
                  <a:pt x="552821" y="459893"/>
                </a:cubicBezTo>
                <a:cubicBezTo>
                  <a:pt x="543965" y="423026"/>
                  <a:pt x="509612" y="398075"/>
                  <a:pt x="471813" y="401056"/>
                </a:cubicBezTo>
                <a:cubicBezTo>
                  <a:pt x="434015" y="404037"/>
                  <a:pt x="403998" y="434064"/>
                  <a:pt x="401029" y="471864"/>
                </a:cubicBezTo>
                <a:cubicBezTo>
                  <a:pt x="398061" y="509663"/>
                  <a:pt x="423023" y="544008"/>
                  <a:pt x="459893" y="552852"/>
                </a:cubicBezTo>
                <a:cubicBezTo>
                  <a:pt x="470753" y="555451"/>
                  <a:pt x="479358" y="563719"/>
                  <a:pt x="482391" y="574465"/>
                </a:cubicBezTo>
                <a:cubicBezTo>
                  <a:pt x="485423" y="585212"/>
                  <a:pt x="482407" y="596758"/>
                  <a:pt x="474508" y="604650"/>
                </a:cubicBezTo>
                <a:lnTo>
                  <a:pt x="422617" y="656510"/>
                </a:lnTo>
                <a:cubicBezTo>
                  <a:pt x="408659" y="670469"/>
                  <a:pt x="389727" y="678311"/>
                  <a:pt x="369986" y="678311"/>
                </a:cubicBezTo>
                <a:cubicBezTo>
                  <a:pt x="350246" y="678311"/>
                  <a:pt x="331314" y="670469"/>
                  <a:pt x="317356" y="656510"/>
                </a:cubicBezTo>
                <a:lnTo>
                  <a:pt x="265465" y="604619"/>
                </a:lnTo>
                <a:cubicBezTo>
                  <a:pt x="257573" y="596720"/>
                  <a:pt x="246027" y="593704"/>
                  <a:pt x="235280" y="596736"/>
                </a:cubicBezTo>
                <a:cubicBezTo>
                  <a:pt x="224534" y="599768"/>
                  <a:pt x="216266" y="608374"/>
                  <a:pt x="213667" y="619234"/>
                </a:cubicBezTo>
                <a:cubicBezTo>
                  <a:pt x="204811" y="656101"/>
                  <a:pt x="170457" y="681052"/>
                  <a:pt x="132659" y="678071"/>
                </a:cubicBezTo>
                <a:cubicBezTo>
                  <a:pt x="94861" y="675090"/>
                  <a:pt x="64843" y="645063"/>
                  <a:pt x="61875" y="607263"/>
                </a:cubicBezTo>
                <a:cubicBezTo>
                  <a:pt x="58907" y="569464"/>
                  <a:pt x="83869" y="535119"/>
                  <a:pt x="120739" y="526275"/>
                </a:cubicBezTo>
                <a:cubicBezTo>
                  <a:pt x="131599" y="523676"/>
                  <a:pt x="140204" y="515408"/>
                  <a:pt x="143236" y="504662"/>
                </a:cubicBezTo>
                <a:cubicBezTo>
                  <a:pt x="146269" y="493915"/>
                  <a:pt x="143253" y="482368"/>
                  <a:pt x="135353" y="474477"/>
                </a:cubicBezTo>
                <a:lnTo>
                  <a:pt x="83463" y="422617"/>
                </a:lnTo>
                <a:cubicBezTo>
                  <a:pt x="69504" y="408659"/>
                  <a:pt x="61662" y="389727"/>
                  <a:pt x="61662" y="369986"/>
                </a:cubicBezTo>
                <a:cubicBezTo>
                  <a:pt x="61662" y="350246"/>
                  <a:pt x="69504" y="331314"/>
                  <a:pt x="83463" y="317356"/>
                </a:cubicBezTo>
                <a:lnTo>
                  <a:pt x="135353" y="265465"/>
                </a:lnTo>
                <a:cubicBezTo>
                  <a:pt x="143245" y="257565"/>
                  <a:pt x="154791" y="254550"/>
                  <a:pt x="165538" y="257582"/>
                </a:cubicBezTo>
                <a:cubicBezTo>
                  <a:pt x="176285" y="260614"/>
                  <a:pt x="184552" y="269220"/>
                  <a:pt x="187151" y="280080"/>
                </a:cubicBezTo>
                <a:cubicBezTo>
                  <a:pt x="196008" y="316946"/>
                  <a:pt x="230361" y="341897"/>
                  <a:pt x="268159" y="338917"/>
                </a:cubicBezTo>
                <a:cubicBezTo>
                  <a:pt x="305958" y="335936"/>
                  <a:pt x="335975" y="305908"/>
                  <a:pt x="338943" y="268109"/>
                </a:cubicBezTo>
                <a:cubicBezTo>
                  <a:pt x="341912" y="230310"/>
                  <a:pt x="316949" y="195965"/>
                  <a:pt x="280080" y="187121"/>
                </a:cubicBezTo>
                <a:cubicBezTo>
                  <a:pt x="269220" y="184522"/>
                  <a:pt x="260614" y="176254"/>
                  <a:pt x="257582" y="165507"/>
                </a:cubicBezTo>
                <a:cubicBezTo>
                  <a:pt x="254550" y="154761"/>
                  <a:pt x="257565" y="143214"/>
                  <a:pt x="265465" y="135323"/>
                </a:cubicBezTo>
                <a:lnTo>
                  <a:pt x="317356" y="83463"/>
                </a:lnTo>
                <a:cubicBezTo>
                  <a:pt x="331314" y="69504"/>
                  <a:pt x="350246" y="61662"/>
                  <a:pt x="369986" y="61662"/>
                </a:cubicBezTo>
                <a:cubicBezTo>
                  <a:pt x="389727" y="61662"/>
                  <a:pt x="408659" y="69504"/>
                  <a:pt x="422617" y="83463"/>
                </a:cubicBezTo>
                <a:close/>
              </a:path>
            </a:pathLst>
          </a:custGeom>
          <a:noFill/>
          <a:ln w="53956" cap="rnd">
            <a:solidFill>
              <a:srgbClr val="0B2350"/>
            </a:solidFill>
            <a:prstDash val="solid"/>
            <a:round/>
          </a:ln>
        </p:spPr>
      </p:sp>
      <p:sp>
        <p:nvSpPr>
          <p:cNvPr id="31" name="[p2] Forma"/>
          <p:cNvSpPr/>
          <p:nvPr/>
        </p:nvSpPr>
        <p:spPr>
          <a:xfrm>
            <a:off x="537411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Reglas</a:t>
            </a:r>
            <a:endParaRPr lang="en-US" sz="1800" dirty="0"/>
          </a:p>
        </p:txBody>
      </p:sp>
      <p:sp>
        <p:nvSpPr>
          <p:cNvPr id="33" name="[p2] Forma"/>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Revisa que el id no exista. Sin SQL.</a:t>
            </a:r>
            <a:endParaRPr lang="en-US" sz="1400" dirty="0"/>
          </a:p>
        </p:txBody>
      </p:sp>
      <p:sp>
        <p:nvSpPr>
          <p:cNvPr id="34" name="[p3] Forma"/>
          <p:cNvSpPr/>
          <p:nvPr/>
        </p:nvSpPr>
        <p:spPr>
          <a:xfrm>
            <a:off x="6872448" y="2875788"/>
            <a:ext cx="640080" cy="0"/>
          </a:xfrm>
          <a:prstGeom prst="line">
            <a:avLst/>
          </a:prstGeom>
          <a:noFill/>
          <a:ln w="38100">
            <a:solidFill>
              <a:srgbClr val="2BA6CB"/>
            </a:solidFill>
            <a:prstDash val="solid"/>
            <a:tailEnd type="triangle"/>
          </a:ln>
        </p:spPr>
      </p:sp>
      <p:sp>
        <p:nvSpPr>
          <p:cNvPr id="35" name="[p3] Forma"/>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6" name="[p3] Icono table"/>
          <p:cNvSpPr/>
          <p:nvPr/>
        </p:nvSpPr>
        <p:spPr>
          <a:xfrm>
            <a:off x="7919141" y="2505802"/>
            <a:ext cx="739973" cy="739973"/>
          </a:xfrm>
          <a:custGeom>
            <a:avLst/>
            <a:gdLst/>
            <a:ahLst/>
            <a:cxnLst/>
            <a:rect l="l" t="t" r="r" b="b"/>
            <a:pathLst>
              <a:path w="739973" h="739973">
                <a:moveTo>
                  <a:pt x="369986" y="92497"/>
                </a:moveTo>
                <a:lnTo>
                  <a:pt x="369986" y="647476"/>
                </a:lnTo>
                <a:moveTo>
                  <a:pt x="154161" y="92497"/>
                </a:moveTo>
                <a:lnTo>
                  <a:pt x="585812" y="92497"/>
                </a:lnTo>
                <a:cubicBezTo>
                  <a:pt x="619868" y="92497"/>
                  <a:pt x="647476" y="120105"/>
                  <a:pt x="647476" y="154161"/>
                </a:cubicBezTo>
                <a:lnTo>
                  <a:pt x="647476" y="585812"/>
                </a:lnTo>
                <a:cubicBezTo>
                  <a:pt x="647476" y="619868"/>
                  <a:pt x="619868" y="647476"/>
                  <a:pt x="585812" y="647476"/>
                </a:cubicBezTo>
                <a:lnTo>
                  <a:pt x="154161" y="647476"/>
                </a:lnTo>
                <a:cubicBezTo>
                  <a:pt x="120105" y="647476"/>
                  <a:pt x="92497" y="619868"/>
                  <a:pt x="92497" y="585812"/>
                </a:cubicBezTo>
                <a:lnTo>
                  <a:pt x="92497" y="154161"/>
                </a:lnTo>
                <a:cubicBezTo>
                  <a:pt x="92497" y="120105"/>
                  <a:pt x="120105" y="92497"/>
                  <a:pt x="154161" y="92497"/>
                </a:cubicBezTo>
                <a:close/>
                <a:moveTo>
                  <a:pt x="92497" y="277490"/>
                </a:moveTo>
                <a:lnTo>
                  <a:pt x="647476" y="277490"/>
                </a:lnTo>
                <a:moveTo>
                  <a:pt x="92497" y="462483"/>
                </a:moveTo>
                <a:lnTo>
                  <a:pt x="647476" y="462483"/>
                </a:lnTo>
              </a:path>
            </a:pathLst>
          </a:custGeom>
          <a:noFill/>
          <a:ln w="53956" cap="rnd">
            <a:solidFill>
              <a:srgbClr val="0B6E8A"/>
            </a:solidFill>
            <a:prstDash val="solid"/>
            <a:round/>
          </a:ln>
        </p:spPr>
      </p:sp>
      <p:sp>
        <p:nvSpPr>
          <p:cNvPr id="37" name="[p3] Forma"/>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Hibernate</a:t>
            </a:r>
            <a:endParaRPr lang="en-US" sz="1800" dirty="0"/>
          </a:p>
        </p:txBody>
      </p:sp>
      <p:sp>
        <p:nvSpPr>
          <p:cNvPr id="39" name="[p3] Forma"/>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Objeto → INSERT con parámetros.</a:t>
            </a:r>
            <a:endParaRPr lang="en-US" sz="1400" dirty="0"/>
          </a:p>
        </p:txBody>
      </p:sp>
      <p:sp>
        <p:nvSpPr>
          <p:cNvPr id="40" name="[p4] Forma"/>
          <p:cNvSpPr/>
          <p:nvPr/>
        </p:nvSpPr>
        <p:spPr>
          <a:xfrm>
            <a:off x="9065727" y="2875788"/>
            <a:ext cx="640080" cy="0"/>
          </a:xfrm>
          <a:prstGeom prst="line">
            <a:avLst/>
          </a:prstGeom>
          <a:noFill/>
          <a:ln w="38100">
            <a:solidFill>
              <a:srgbClr val="2BA6CB"/>
            </a:solidFill>
            <a:prstDash val="solid"/>
            <a:tailEnd type="triangle"/>
          </a:ln>
        </p:spPr>
      </p:sp>
      <p:sp>
        <p:nvSpPr>
          <p:cNvPr id="41" name="[p4] Forma"/>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2" name="[p4] Icono database"/>
          <p:cNvSpPr/>
          <p:nvPr/>
        </p:nvSpPr>
        <p:spPr>
          <a:xfrm>
            <a:off x="10112421" y="2505802"/>
            <a:ext cx="739973" cy="739973"/>
          </a:xfrm>
          <a:custGeom>
            <a:avLst/>
            <a:gdLst/>
            <a:ahLst/>
            <a:cxnLst/>
            <a:rect l="l" t="t" r="r" b="b"/>
            <a:pathLst>
              <a:path w="739973" h="739973">
                <a:moveTo>
                  <a:pt x="647476" y="154161"/>
                </a:moveTo>
                <a:cubicBezTo>
                  <a:pt x="647476" y="205245"/>
                  <a:pt x="523240" y="246658"/>
                  <a:pt x="369986" y="246658"/>
                </a:cubicBezTo>
                <a:cubicBezTo>
                  <a:pt x="216733" y="246658"/>
                  <a:pt x="92497" y="205245"/>
                  <a:pt x="92497" y="154161"/>
                </a:cubicBezTo>
                <a:cubicBezTo>
                  <a:pt x="92497" y="103077"/>
                  <a:pt x="216733" y="61664"/>
                  <a:pt x="369986" y="61664"/>
                </a:cubicBezTo>
                <a:cubicBezTo>
                  <a:pt x="523240" y="61664"/>
                  <a:pt x="647476" y="103077"/>
                  <a:pt x="647476" y="154161"/>
                </a:cubicBezTo>
                <a:close/>
                <a:moveTo>
                  <a:pt x="92497" y="154161"/>
                </a:moveTo>
                <a:lnTo>
                  <a:pt x="92497" y="585812"/>
                </a:lnTo>
                <a:cubicBezTo>
                  <a:pt x="92497" y="636896"/>
                  <a:pt x="216733" y="678308"/>
                  <a:pt x="369986" y="678308"/>
                </a:cubicBezTo>
                <a:cubicBezTo>
                  <a:pt x="523240" y="678308"/>
                  <a:pt x="647476" y="636896"/>
                  <a:pt x="647476" y="585812"/>
                </a:cubicBezTo>
                <a:lnTo>
                  <a:pt x="647476" y="154161"/>
                </a:lnTo>
                <a:moveTo>
                  <a:pt x="92497" y="369986"/>
                </a:moveTo>
                <a:cubicBezTo>
                  <a:pt x="92497" y="421071"/>
                  <a:pt x="216733" y="462483"/>
                  <a:pt x="369986" y="462483"/>
                </a:cubicBezTo>
                <a:cubicBezTo>
                  <a:pt x="523240" y="462483"/>
                  <a:pt x="647476" y="421071"/>
                  <a:pt x="647476" y="369986"/>
                </a:cubicBezTo>
              </a:path>
            </a:pathLst>
          </a:custGeom>
          <a:noFill/>
          <a:ln w="53956" cap="rnd">
            <a:solidFill>
              <a:srgbClr val="0A6648"/>
            </a:solidFill>
            <a:prstDash val="solid"/>
            <a:round/>
          </a:ln>
        </p:spPr>
      </p:sp>
      <p:sp>
        <p:nvSpPr>
          <p:cNvPr id="43" name="[p4] Forma"/>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4" name="[p4] Forma"/>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45" name="[p4] Forma"/>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Guarda la fila y hace COMMIT.</a:t>
            </a:r>
            <a:endParaRPr lang="en-US" sz="14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está la cadena de conexión?</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Ni en el código ni en la imagen: la pone el ambiente donde corre la aplicación.</a:t>
            </a:r>
            <a:endParaRPr lang="en-US" sz="1700" dirty="0"/>
          </a:p>
        </p:txBody>
      </p:sp>
      <p:sp>
        <p:nvSpPr>
          <p:cNvPr id="13" name="Shape 11"/>
          <p:cNvSpPr/>
          <p:nvPr/>
        </p:nvSpPr>
        <p:spPr>
          <a:xfrm>
            <a:off x="4818888" y="2253996"/>
            <a:ext cx="3246120" cy="2240280"/>
          </a:xfrm>
          <a:prstGeom prst="roundRect">
            <a:avLst>
              <a:gd name="adj" fmla="val 571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818888" y="2253996"/>
            <a:ext cx="3246120" cy="566928"/>
          </a:xfrm>
          <a:prstGeom prst="roundRect">
            <a:avLst>
              <a:gd name="adj" fmla="val 22581"/>
            </a:avLst>
          </a:prstGeom>
          <a:solidFill>
            <a:srgbClr val="0B2350"/>
          </a:solidFill>
          <a:ln w="12700">
            <a:solidFill>
              <a:srgbClr val="0B2350"/>
            </a:solidFill>
            <a:prstDash val="solid"/>
          </a:ln>
        </p:spPr>
      </p:sp>
      <p:sp>
        <p:nvSpPr>
          <p:cNvPr id="15" name="Shape 13"/>
          <p:cNvSpPr/>
          <p:nvPr/>
        </p:nvSpPr>
        <p:spPr>
          <a:xfrm>
            <a:off x="4818888" y="2638044"/>
            <a:ext cx="3246120" cy="182880"/>
          </a:xfrm>
          <a:prstGeom prst="rect">
            <a:avLst/>
          </a:prstGeom>
          <a:solidFill>
            <a:srgbClr val="0B2350"/>
          </a:solidFill>
          <a:ln w="12700">
            <a:solidFill>
              <a:srgbClr val="0B2350"/>
            </a:solidFill>
            <a:prstDash val="solid"/>
          </a:ln>
        </p:spPr>
      </p:sp>
      <p:sp>
        <p:nvSpPr>
          <p:cNvPr id="16" name="Icono file-code"/>
          <p:cNvSpPr/>
          <p:nvPr/>
        </p:nvSpPr>
        <p:spPr>
          <a:xfrm>
            <a:off x="4983480" y="2372868"/>
            <a:ext cx="329184" cy="329184"/>
          </a:xfrm>
          <a:custGeom>
            <a:avLst/>
            <a:gdLst/>
            <a:ahLst/>
            <a:cxnLst/>
            <a:rect l="l" t="t" r="r" b="b"/>
            <a:pathLst>
              <a:path w="329184" h="329184">
                <a:moveTo>
                  <a:pt x="137160" y="171450"/>
                </a:moveTo>
                <a:lnTo>
                  <a:pt x="109728" y="205740"/>
                </a:lnTo>
                <a:lnTo>
                  <a:pt x="137160" y="240030"/>
                </a:lnTo>
                <a:moveTo>
                  <a:pt x="192024" y="171450"/>
                </a:moveTo>
                <a:lnTo>
                  <a:pt x="219456" y="205740"/>
                </a:lnTo>
                <a:lnTo>
                  <a:pt x="192024" y="240030"/>
                </a:lnTo>
                <a:moveTo>
                  <a:pt x="192024" y="27432"/>
                </a:moveTo>
                <a:lnTo>
                  <a:pt x="192024" y="82296"/>
                </a:lnTo>
                <a:cubicBezTo>
                  <a:pt x="192024" y="97446"/>
                  <a:pt x="204306" y="109728"/>
                  <a:pt x="219456" y="109728"/>
                </a:cubicBezTo>
                <a:lnTo>
                  <a:pt x="274320" y="109728"/>
                </a:lnTo>
                <a:moveTo>
                  <a:pt x="205740" y="27432"/>
                </a:moveTo>
                <a:lnTo>
                  <a:pt x="82296" y="27432"/>
                </a:lnTo>
                <a:cubicBezTo>
                  <a:pt x="67146" y="27432"/>
                  <a:pt x="54864" y="39714"/>
                  <a:pt x="54864" y="54864"/>
                </a:cubicBezTo>
                <a:lnTo>
                  <a:pt x="54864" y="274320"/>
                </a:lnTo>
                <a:cubicBezTo>
                  <a:pt x="54864" y="289470"/>
                  <a:pt x="67146" y="301752"/>
                  <a:pt x="82296" y="301752"/>
                </a:cubicBezTo>
                <a:lnTo>
                  <a:pt x="246888" y="301752"/>
                </a:lnTo>
                <a:cubicBezTo>
                  <a:pt x="262038" y="301752"/>
                  <a:pt x="274320" y="289470"/>
                  <a:pt x="274320" y="274320"/>
                </a:cubicBezTo>
                <a:lnTo>
                  <a:pt x="274320" y="96012"/>
                </a:lnTo>
                <a:close/>
              </a:path>
            </a:pathLst>
          </a:custGeom>
          <a:noFill/>
          <a:ln w="27432" cap="rnd">
            <a:solidFill>
              <a:srgbClr val="FFFFFF"/>
            </a:solidFill>
            <a:prstDash val="solid"/>
            <a:round/>
          </a:ln>
        </p:spPr>
      </p:sp>
      <p:sp>
        <p:nvSpPr>
          <p:cNvPr id="17" name="Text 15"/>
          <p:cNvSpPr/>
          <p:nvPr/>
        </p:nvSpPr>
        <p:spPr>
          <a:xfrm>
            <a:off x="5422392" y="2299716"/>
            <a:ext cx="2514600" cy="475488"/>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Segoe UI Semibold" pitchFamily="34" charset="0"/>
                <a:ea typeface="Segoe UI Semibold" pitchFamily="34" charset="-122"/>
                <a:cs typeface="Segoe UI Semibold" pitchFamily="34" charset="-120"/>
              </a:rPr>
              <a:t>El servicio al arrancar</a:t>
            </a:r>
            <a:endParaRPr lang="en-US" sz="1500" dirty="0"/>
          </a:p>
        </p:txBody>
      </p:sp>
      <p:sp>
        <p:nvSpPr>
          <p:cNvPr id="18" name="Text 16"/>
          <p:cNvSpPr/>
          <p:nvPr/>
        </p:nvSpPr>
        <p:spPr>
          <a:xfrm>
            <a:off x="5001768" y="2912364"/>
            <a:ext cx="2880360" cy="45720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application.properties solo tiene marcadores.</a:t>
            </a:r>
            <a:endParaRPr lang="en-US" sz="1200" dirty="0"/>
          </a:p>
        </p:txBody>
      </p:sp>
      <p:sp>
        <p:nvSpPr>
          <p:cNvPr id="19" name="Text 17"/>
          <p:cNvSpPr/>
          <p:nvPr/>
        </p:nvSpPr>
        <p:spPr>
          <a:xfrm>
            <a:off x="4983480" y="3406140"/>
            <a:ext cx="2916936" cy="941832"/>
          </a:xfrm>
          <a:prstGeom prst="roundRect">
            <a:avLst>
              <a:gd name="adj" fmla="val 7767"/>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150" dirty="0">
                <a:solidFill>
                  <a:srgbClr val="2BA6CB"/>
                </a:solidFill>
                <a:latin typeface="Consolas" pitchFamily="34" charset="0"/>
                <a:ea typeface="Consolas" pitchFamily="34" charset="-122"/>
                <a:cs typeface="Consolas" pitchFamily="34" charset="-120"/>
              </a:rPr>
              <a:t>url=${DB_URL}</a:t>
            </a:r>
            <a:endParaRPr lang="en-US" sz="1150" dirty="0"/>
          </a:p>
          <a:p>
            <a:pPr indent="0" marL="0">
              <a:buNone/>
            </a:pPr>
            <a:r>
              <a:rPr lang="en-US" sz="1150" dirty="0">
                <a:solidFill>
                  <a:srgbClr val="2BA6CB"/>
                </a:solidFill>
                <a:latin typeface="Consolas" pitchFamily="34" charset="0"/>
                <a:ea typeface="Consolas" pitchFamily="34" charset="-122"/>
                <a:cs typeface="Consolas" pitchFamily="34" charset="-120"/>
              </a:rPr>
              <a:t>username=${DB_USER}</a:t>
            </a:r>
            <a:endParaRPr lang="en-US" sz="1150" dirty="0"/>
          </a:p>
          <a:p>
            <a:pPr indent="0" marL="0">
              <a:buNone/>
            </a:pPr>
            <a:r>
              <a:rPr lang="en-US" sz="1150" dirty="0">
                <a:solidFill>
                  <a:srgbClr val="2BA6CB"/>
                </a:solidFill>
                <a:latin typeface="Consolas" pitchFamily="34" charset="0"/>
                <a:ea typeface="Consolas" pitchFamily="34" charset="-122"/>
                <a:cs typeface="Consolas" pitchFamily="34" charset="-120"/>
              </a:rPr>
              <a:t>password=${DB_PASSWORD}</a:t>
            </a:r>
            <a:endParaRPr lang="en-US" sz="1150" dirty="0"/>
          </a:p>
        </p:txBody>
      </p:sp>
      <p:sp>
        <p:nvSpPr>
          <p:cNvPr id="20" name="[p1] Forma"/>
          <p:cNvSpPr/>
          <p:nvPr/>
        </p:nvSpPr>
        <p:spPr>
          <a:xfrm>
            <a:off x="612648" y="171907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612648" y="1810512"/>
            <a:ext cx="64008" cy="810768"/>
          </a:xfrm>
          <a:prstGeom prst="rect">
            <a:avLst/>
          </a:prstGeom>
          <a:solidFill>
            <a:srgbClr val="0B6E8A"/>
          </a:solidFill>
          <a:ln w="12700">
            <a:solidFill>
              <a:srgbClr val="0B6E8A"/>
            </a:solidFill>
            <a:prstDash val="solid"/>
          </a:ln>
        </p:spPr>
      </p:sp>
      <p:sp>
        <p:nvSpPr>
          <p:cNvPr id="22" name="[p1] Forma"/>
          <p:cNvSpPr/>
          <p:nvPr/>
        </p:nvSpPr>
        <p:spPr>
          <a:xfrm>
            <a:off x="777240" y="1810512"/>
            <a:ext cx="457200" cy="457200"/>
          </a:xfrm>
          <a:prstGeom prst="ellipse">
            <a:avLst/>
          </a:prstGeom>
          <a:solidFill>
            <a:srgbClr val="E3F4FA"/>
          </a:solidFill>
          <a:ln w="12700">
            <a:solidFill>
              <a:srgbClr val="E3F4FA"/>
            </a:solidFill>
            <a:prstDash val="solid"/>
          </a:ln>
        </p:spPr>
      </p:sp>
      <p:sp>
        <p:nvSpPr>
          <p:cNvPr id="23" name="[p1] Icono container"/>
          <p:cNvSpPr/>
          <p:nvPr/>
        </p:nvSpPr>
        <p:spPr>
          <a:xfrm>
            <a:off x="886968" y="1920240"/>
            <a:ext cx="237744" cy="237744"/>
          </a:xfrm>
          <a:custGeom>
            <a:avLst/>
            <a:gdLst/>
            <a:ahLst/>
            <a:cxnLst/>
            <a:rect l="l" t="t" r="r" b="b"/>
            <a:pathLst>
              <a:path w="237744" h="237744">
                <a:moveTo>
                  <a:pt x="217932" y="76276"/>
                </a:moveTo>
                <a:cubicBezTo>
                  <a:pt x="217932" y="70333"/>
                  <a:pt x="213970" y="64389"/>
                  <a:pt x="210007" y="61417"/>
                </a:cubicBezTo>
                <a:lnTo>
                  <a:pt x="147599" y="22784"/>
                </a:lnTo>
                <a:cubicBezTo>
                  <a:pt x="142378" y="19816"/>
                  <a:pt x="135980" y="19816"/>
                  <a:pt x="130759" y="22784"/>
                </a:cubicBezTo>
                <a:lnTo>
                  <a:pt x="28727" y="82220"/>
                </a:lnTo>
                <a:cubicBezTo>
                  <a:pt x="23774" y="84201"/>
                  <a:pt x="19812" y="90145"/>
                  <a:pt x="19812" y="96088"/>
                </a:cubicBezTo>
                <a:lnTo>
                  <a:pt x="19812" y="161468"/>
                </a:lnTo>
                <a:cubicBezTo>
                  <a:pt x="19812" y="166421"/>
                  <a:pt x="23774" y="173355"/>
                  <a:pt x="27737" y="176327"/>
                </a:cubicBezTo>
                <a:lnTo>
                  <a:pt x="90145" y="214960"/>
                </a:lnTo>
                <a:cubicBezTo>
                  <a:pt x="95366" y="217928"/>
                  <a:pt x="101764" y="217928"/>
                  <a:pt x="106985" y="214960"/>
                </a:cubicBezTo>
                <a:lnTo>
                  <a:pt x="209017" y="155524"/>
                </a:lnTo>
                <a:cubicBezTo>
                  <a:pt x="213970" y="152552"/>
                  <a:pt x="217932" y="145618"/>
                  <a:pt x="217932" y="140665"/>
                </a:cubicBezTo>
                <a:close/>
                <a:moveTo>
                  <a:pt x="99060" y="216941"/>
                </a:moveTo>
                <a:lnTo>
                  <a:pt x="99060" y="138684"/>
                </a:lnTo>
                <a:lnTo>
                  <a:pt x="20803" y="90145"/>
                </a:lnTo>
                <a:moveTo>
                  <a:pt x="99060" y="138684"/>
                </a:moveTo>
                <a:lnTo>
                  <a:pt x="216941" y="70333"/>
                </a:lnTo>
                <a:moveTo>
                  <a:pt x="138684" y="196139"/>
                </a:moveTo>
                <a:lnTo>
                  <a:pt x="138684" y="115900"/>
                </a:lnTo>
                <a:moveTo>
                  <a:pt x="178308" y="173355"/>
                </a:moveTo>
                <a:lnTo>
                  <a:pt x="178308" y="93116"/>
                </a:lnTo>
              </a:path>
            </a:pathLst>
          </a:custGeom>
          <a:noFill/>
          <a:ln w="19812" cap="rnd">
            <a:solidFill>
              <a:srgbClr val="0B6E8A"/>
            </a:solidFill>
            <a:prstDash val="solid"/>
            <a:round/>
          </a:ln>
        </p:spPr>
      </p:sp>
      <p:sp>
        <p:nvSpPr>
          <p:cNvPr id="24" name="[p1] Forma"/>
          <p:cNvSpPr/>
          <p:nvPr/>
        </p:nvSpPr>
        <p:spPr>
          <a:xfrm>
            <a:off x="1344168" y="177393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0B6E8A"/>
                </a:solidFill>
                <a:latin typeface="Segoe UI Semibold" pitchFamily="34" charset="0"/>
                <a:ea typeface="Segoe UI Semibold" pitchFamily="34" charset="-122"/>
                <a:cs typeface="Segoe UI Semibold" pitchFamily="34" charset="-120"/>
              </a:rPr>
              <a:t>Docker Compose</a:t>
            </a:r>
            <a:endParaRPr lang="en-US" sz="1350" dirty="0"/>
          </a:p>
        </p:txBody>
      </p:sp>
      <p:sp>
        <p:nvSpPr>
          <p:cNvPr id="25" name="[p1] Forma"/>
          <p:cNvSpPr/>
          <p:nvPr/>
        </p:nvSpPr>
        <p:spPr>
          <a:xfrm>
            <a:off x="1344168" y="204825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compose.yaml, en cada servicio</a:t>
            </a:r>
            <a:endParaRPr lang="en-US" sz="1100" dirty="0"/>
          </a:p>
        </p:txBody>
      </p:sp>
      <p:sp>
        <p:nvSpPr>
          <p:cNvPr id="26" name="[p1] Forma"/>
          <p:cNvSpPr/>
          <p:nvPr/>
        </p:nvSpPr>
        <p:spPr>
          <a:xfrm>
            <a:off x="777240" y="232867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DB_URL → db-solicitudes:5432</a:t>
            </a:r>
            <a:endParaRPr lang="en-US" sz="1100" dirty="0"/>
          </a:p>
        </p:txBody>
      </p:sp>
      <p:sp>
        <p:nvSpPr>
          <p:cNvPr id="27" name="[p1] Forma"/>
          <p:cNvSpPr/>
          <p:nvPr/>
        </p:nvSpPr>
        <p:spPr>
          <a:xfrm>
            <a:off x="4096512" y="2215896"/>
            <a:ext cx="649224" cy="598170"/>
          </a:xfrm>
          <a:prstGeom prst="line">
            <a:avLst/>
          </a:prstGeom>
          <a:noFill/>
          <a:ln w="28575">
            <a:solidFill>
              <a:srgbClr val="0B6E8A"/>
            </a:solidFill>
            <a:prstDash val="solid"/>
            <a:tailEnd type="triangle"/>
          </a:ln>
        </p:spPr>
      </p:sp>
      <p:sp>
        <p:nvSpPr>
          <p:cNvPr id="28" name="[p2] Forma"/>
          <p:cNvSpPr/>
          <p:nvPr/>
        </p:nvSpPr>
        <p:spPr>
          <a:xfrm>
            <a:off x="612648" y="287731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2968752"/>
            <a:ext cx="64008" cy="810768"/>
          </a:xfrm>
          <a:prstGeom prst="rect">
            <a:avLst/>
          </a:prstGeom>
          <a:solidFill>
            <a:srgbClr val="0A6648"/>
          </a:solidFill>
          <a:ln w="12700">
            <a:solidFill>
              <a:srgbClr val="0A6648"/>
            </a:solidFill>
            <a:prstDash val="solid"/>
          </a:ln>
        </p:spPr>
      </p:sp>
      <p:sp>
        <p:nvSpPr>
          <p:cNvPr id="30" name="[p2] Forma"/>
          <p:cNvSpPr/>
          <p:nvPr/>
        </p:nvSpPr>
        <p:spPr>
          <a:xfrm>
            <a:off x="777240" y="2968752"/>
            <a:ext cx="457200" cy="457200"/>
          </a:xfrm>
          <a:prstGeom prst="ellipse">
            <a:avLst/>
          </a:prstGeom>
          <a:solidFill>
            <a:srgbClr val="E1F1EA"/>
          </a:solidFill>
          <a:ln w="12700">
            <a:solidFill>
              <a:srgbClr val="E1F1EA"/>
            </a:solidFill>
            <a:prstDash val="solid"/>
          </a:ln>
        </p:spPr>
      </p:sp>
      <p:sp>
        <p:nvSpPr>
          <p:cNvPr id="31" name="[p2] Icono ship-wheel"/>
          <p:cNvSpPr/>
          <p:nvPr/>
        </p:nvSpPr>
        <p:spPr>
          <a:xfrm>
            <a:off x="886968" y="3078480"/>
            <a:ext cx="237744" cy="237744"/>
          </a:xfrm>
          <a:custGeom>
            <a:avLst/>
            <a:gdLst/>
            <a:ahLst/>
            <a:cxnLst/>
            <a:rect l="l" t="t" r="r" b="b"/>
            <a:pathLst>
              <a:path w="237744" h="237744">
                <a:moveTo>
                  <a:pt x="198120" y="118872"/>
                </a:moveTo>
                <a:cubicBezTo>
                  <a:pt x="198120" y="162639"/>
                  <a:pt x="162639" y="198120"/>
                  <a:pt x="118872" y="198120"/>
                </a:cubicBezTo>
                <a:cubicBezTo>
                  <a:pt x="75105" y="198120"/>
                  <a:pt x="39624" y="162639"/>
                  <a:pt x="39624" y="118872"/>
                </a:cubicBezTo>
                <a:cubicBezTo>
                  <a:pt x="39624" y="75105"/>
                  <a:pt x="75105" y="39624"/>
                  <a:pt x="118872" y="39624"/>
                </a:cubicBezTo>
                <a:cubicBezTo>
                  <a:pt x="162639" y="39624"/>
                  <a:pt x="198120" y="75105"/>
                  <a:pt x="198120" y="118872"/>
                </a:cubicBezTo>
                <a:close/>
                <a:moveTo>
                  <a:pt x="118872" y="19812"/>
                </a:moveTo>
                <a:lnTo>
                  <a:pt x="118872" y="94107"/>
                </a:lnTo>
                <a:moveTo>
                  <a:pt x="188214" y="49530"/>
                </a:moveTo>
                <a:lnTo>
                  <a:pt x="136406" y="101338"/>
                </a:lnTo>
                <a:moveTo>
                  <a:pt x="217932" y="118872"/>
                </a:moveTo>
                <a:lnTo>
                  <a:pt x="143637" y="118872"/>
                </a:lnTo>
                <a:moveTo>
                  <a:pt x="188214" y="188214"/>
                </a:moveTo>
                <a:lnTo>
                  <a:pt x="136406" y="136406"/>
                </a:lnTo>
                <a:moveTo>
                  <a:pt x="118872" y="143637"/>
                </a:moveTo>
                <a:lnTo>
                  <a:pt x="118872" y="217932"/>
                </a:lnTo>
                <a:moveTo>
                  <a:pt x="101338" y="136406"/>
                </a:moveTo>
                <a:lnTo>
                  <a:pt x="49530" y="188214"/>
                </a:lnTo>
                <a:moveTo>
                  <a:pt x="94107" y="118872"/>
                </a:moveTo>
                <a:lnTo>
                  <a:pt x="19812" y="118872"/>
                </a:lnTo>
                <a:moveTo>
                  <a:pt x="101338" y="101338"/>
                </a:moveTo>
                <a:lnTo>
                  <a:pt x="49530" y="49530"/>
                </a:lnTo>
                <a:moveTo>
                  <a:pt x="143637" y="118872"/>
                </a:moveTo>
                <a:cubicBezTo>
                  <a:pt x="143637" y="132549"/>
                  <a:pt x="132549" y="143637"/>
                  <a:pt x="118872" y="143637"/>
                </a:cubicBezTo>
                <a:cubicBezTo>
                  <a:pt x="105195" y="143637"/>
                  <a:pt x="94107" y="132549"/>
                  <a:pt x="94107" y="118872"/>
                </a:cubicBezTo>
                <a:cubicBezTo>
                  <a:pt x="94107" y="105195"/>
                  <a:pt x="105195" y="94107"/>
                  <a:pt x="118872" y="94107"/>
                </a:cubicBezTo>
                <a:cubicBezTo>
                  <a:pt x="132549" y="94107"/>
                  <a:pt x="143637" y="105195"/>
                  <a:pt x="143637" y="118872"/>
                </a:cubicBezTo>
                <a:close/>
              </a:path>
            </a:pathLst>
          </a:custGeom>
          <a:noFill/>
          <a:ln w="19812" cap="rnd">
            <a:solidFill>
              <a:srgbClr val="0A6648"/>
            </a:solidFill>
            <a:prstDash val="solid"/>
            <a:round/>
          </a:ln>
        </p:spPr>
      </p:sp>
      <p:sp>
        <p:nvSpPr>
          <p:cNvPr id="32" name="[p2] Forma"/>
          <p:cNvSpPr/>
          <p:nvPr/>
        </p:nvSpPr>
        <p:spPr>
          <a:xfrm>
            <a:off x="1344168" y="293217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0A6648"/>
                </a:solidFill>
                <a:latin typeface="Segoe UI Semibold" pitchFamily="34" charset="0"/>
                <a:ea typeface="Segoe UI Semibold" pitchFamily="34" charset="-122"/>
                <a:cs typeface="Segoe UI Semibold" pitchFamily="34" charset="-120"/>
              </a:rPr>
              <a:t>Kubernetes · Deployment</a:t>
            </a:r>
            <a:endParaRPr lang="en-US" sz="1350" dirty="0"/>
          </a:p>
        </p:txBody>
      </p:sp>
      <p:sp>
        <p:nvSpPr>
          <p:cNvPr id="33" name="[p2] Forma"/>
          <p:cNvSpPr/>
          <p:nvPr/>
        </p:nvSpPr>
        <p:spPr>
          <a:xfrm>
            <a:off x="1344168" y="320649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dirección y el usuario</a:t>
            </a:r>
            <a:endParaRPr lang="en-US" sz="1100" dirty="0"/>
          </a:p>
        </p:txBody>
      </p:sp>
      <p:sp>
        <p:nvSpPr>
          <p:cNvPr id="34" name="[p2] Forma"/>
          <p:cNvSpPr/>
          <p:nvPr/>
        </p:nvSpPr>
        <p:spPr>
          <a:xfrm>
            <a:off x="777240" y="348691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DB_URL · DB_USER</a:t>
            </a:r>
            <a:endParaRPr lang="en-US" sz="1100" dirty="0"/>
          </a:p>
        </p:txBody>
      </p:sp>
      <p:sp>
        <p:nvSpPr>
          <p:cNvPr id="35" name="[p2] Forma"/>
          <p:cNvSpPr/>
          <p:nvPr/>
        </p:nvSpPr>
        <p:spPr>
          <a:xfrm>
            <a:off x="4096512" y="3374136"/>
            <a:ext cx="649224" cy="0"/>
          </a:xfrm>
          <a:prstGeom prst="line">
            <a:avLst/>
          </a:prstGeom>
          <a:noFill/>
          <a:ln w="28575">
            <a:solidFill>
              <a:srgbClr val="0A6648"/>
            </a:solidFill>
            <a:prstDash val="solid"/>
            <a:tailEnd type="triangle"/>
          </a:ln>
        </p:spPr>
      </p:sp>
      <p:sp>
        <p:nvSpPr>
          <p:cNvPr id="36" name="[p3] Forma"/>
          <p:cNvSpPr/>
          <p:nvPr/>
        </p:nvSpPr>
        <p:spPr>
          <a:xfrm>
            <a:off x="612648" y="403555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p3] Forma"/>
          <p:cNvSpPr/>
          <p:nvPr/>
        </p:nvSpPr>
        <p:spPr>
          <a:xfrm>
            <a:off x="612648" y="4126992"/>
            <a:ext cx="64008" cy="810768"/>
          </a:xfrm>
          <a:prstGeom prst="rect">
            <a:avLst/>
          </a:prstGeom>
          <a:solidFill>
            <a:srgbClr val="8A4B06"/>
          </a:solidFill>
          <a:ln w="12700">
            <a:solidFill>
              <a:srgbClr val="8A4B06"/>
            </a:solidFill>
            <a:prstDash val="solid"/>
          </a:ln>
        </p:spPr>
      </p:sp>
      <p:sp>
        <p:nvSpPr>
          <p:cNvPr id="38" name="[p3] Forma"/>
          <p:cNvSpPr/>
          <p:nvPr/>
        </p:nvSpPr>
        <p:spPr>
          <a:xfrm>
            <a:off x="777240" y="4126992"/>
            <a:ext cx="457200" cy="457200"/>
          </a:xfrm>
          <a:prstGeom prst="ellipse">
            <a:avLst/>
          </a:prstGeom>
          <a:solidFill>
            <a:srgbClr val="FCEFD6"/>
          </a:solidFill>
          <a:ln w="12700">
            <a:solidFill>
              <a:srgbClr val="FCEFD6"/>
            </a:solidFill>
            <a:prstDash val="solid"/>
          </a:ln>
        </p:spPr>
      </p:sp>
      <p:sp>
        <p:nvSpPr>
          <p:cNvPr id="39" name="[p3] Icono key-round"/>
          <p:cNvSpPr/>
          <p:nvPr/>
        </p:nvSpPr>
        <p:spPr>
          <a:xfrm>
            <a:off x="886968" y="4236720"/>
            <a:ext cx="237744" cy="237744"/>
          </a:xfrm>
          <a:custGeom>
            <a:avLst/>
            <a:gdLst/>
            <a:ahLst/>
            <a:cxnLst/>
            <a:rect l="l" t="t" r="r" b="b"/>
            <a:pathLst>
              <a:path w="237744" h="237744">
                <a:moveTo>
                  <a:pt x="25617" y="172503"/>
                </a:moveTo>
                <a:cubicBezTo>
                  <a:pt x="21901" y="176218"/>
                  <a:pt x="19813" y="181256"/>
                  <a:pt x="19812" y="186510"/>
                </a:cubicBezTo>
                <a:lnTo>
                  <a:pt x="19812" y="208026"/>
                </a:lnTo>
                <a:cubicBezTo>
                  <a:pt x="19812" y="213497"/>
                  <a:pt x="24247" y="217932"/>
                  <a:pt x="29718" y="217932"/>
                </a:cubicBezTo>
                <a:lnTo>
                  <a:pt x="59436" y="217932"/>
                </a:lnTo>
                <a:cubicBezTo>
                  <a:pt x="64907" y="217932"/>
                  <a:pt x="69342" y="213497"/>
                  <a:pt x="69342" y="208026"/>
                </a:cubicBezTo>
                <a:lnTo>
                  <a:pt x="69342" y="198120"/>
                </a:lnTo>
                <a:cubicBezTo>
                  <a:pt x="69342" y="192649"/>
                  <a:pt x="73777" y="188214"/>
                  <a:pt x="79248" y="188214"/>
                </a:cubicBezTo>
                <a:lnTo>
                  <a:pt x="89154" y="188214"/>
                </a:lnTo>
                <a:cubicBezTo>
                  <a:pt x="94625" y="188214"/>
                  <a:pt x="99060" y="183779"/>
                  <a:pt x="99060" y="178308"/>
                </a:cubicBezTo>
                <a:lnTo>
                  <a:pt x="99060" y="168402"/>
                </a:lnTo>
                <a:cubicBezTo>
                  <a:pt x="99060" y="162931"/>
                  <a:pt x="103495" y="158496"/>
                  <a:pt x="108966" y="158496"/>
                </a:cubicBezTo>
                <a:lnTo>
                  <a:pt x="110670" y="158496"/>
                </a:lnTo>
                <a:cubicBezTo>
                  <a:pt x="115924" y="158495"/>
                  <a:pt x="120962" y="156407"/>
                  <a:pt x="124677" y="152691"/>
                </a:cubicBezTo>
                <a:lnTo>
                  <a:pt x="132740" y="144628"/>
                </a:lnTo>
                <a:cubicBezTo>
                  <a:pt x="161093" y="154504"/>
                  <a:pt x="192509" y="143474"/>
                  <a:pt x="208465" y="118041"/>
                </a:cubicBezTo>
                <a:cubicBezTo>
                  <a:pt x="224421" y="92608"/>
                  <a:pt x="220682" y="59523"/>
                  <a:pt x="199452" y="38292"/>
                </a:cubicBezTo>
                <a:cubicBezTo>
                  <a:pt x="178221" y="17062"/>
                  <a:pt x="145136" y="13323"/>
                  <a:pt x="119703" y="29279"/>
                </a:cubicBezTo>
                <a:cubicBezTo>
                  <a:pt x="94270" y="45235"/>
                  <a:pt x="83240" y="76651"/>
                  <a:pt x="93116" y="105004"/>
                </a:cubicBezTo>
                <a:close/>
                <a:moveTo>
                  <a:pt x="168402" y="74295"/>
                </a:moveTo>
                <a:cubicBezTo>
                  <a:pt x="168402" y="77030"/>
                  <a:pt x="166184" y="79248"/>
                  <a:pt x="163449" y="79248"/>
                </a:cubicBezTo>
                <a:cubicBezTo>
                  <a:pt x="160714" y="79248"/>
                  <a:pt x="158496" y="77030"/>
                  <a:pt x="158496" y="74295"/>
                </a:cubicBezTo>
                <a:cubicBezTo>
                  <a:pt x="158496" y="71560"/>
                  <a:pt x="160714" y="69342"/>
                  <a:pt x="163449" y="69342"/>
                </a:cubicBezTo>
                <a:cubicBezTo>
                  <a:pt x="166184" y="69342"/>
                  <a:pt x="168402" y="71560"/>
                  <a:pt x="168402" y="74295"/>
                </a:cubicBezTo>
                <a:close/>
              </a:path>
            </a:pathLst>
          </a:custGeom>
          <a:noFill/>
          <a:ln w="19812" cap="rnd">
            <a:solidFill>
              <a:srgbClr val="8A4B06"/>
            </a:solidFill>
            <a:prstDash val="solid"/>
            <a:round/>
          </a:ln>
        </p:spPr>
      </p:sp>
      <p:sp>
        <p:nvSpPr>
          <p:cNvPr id="40" name="[p3] Forma"/>
          <p:cNvSpPr/>
          <p:nvPr/>
        </p:nvSpPr>
        <p:spPr>
          <a:xfrm>
            <a:off x="1344168" y="409041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8A4B06"/>
                </a:solidFill>
                <a:latin typeface="Segoe UI Semibold" pitchFamily="34" charset="0"/>
                <a:ea typeface="Segoe UI Semibold" pitchFamily="34" charset="-122"/>
                <a:cs typeface="Segoe UI Semibold" pitchFamily="34" charset="-120"/>
              </a:rPr>
              <a:t>Kubernetes · Secret</a:t>
            </a:r>
            <a:endParaRPr lang="en-US" sz="1350" dirty="0"/>
          </a:p>
        </p:txBody>
      </p:sp>
      <p:sp>
        <p:nvSpPr>
          <p:cNvPr id="41" name="[p3] Forma"/>
          <p:cNvSpPr/>
          <p:nvPr/>
        </p:nvSpPr>
        <p:spPr>
          <a:xfrm>
            <a:off x="1344168" y="436473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clave, guardada aparte</a:t>
            </a:r>
            <a:endParaRPr lang="en-US" sz="1100" dirty="0"/>
          </a:p>
        </p:txBody>
      </p:sp>
      <p:sp>
        <p:nvSpPr>
          <p:cNvPr id="42" name="[p3] Forma"/>
          <p:cNvSpPr/>
          <p:nvPr/>
        </p:nvSpPr>
        <p:spPr>
          <a:xfrm>
            <a:off x="777240" y="464515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DB_PASSWORD ← Secret arka-postgres</a:t>
            </a:r>
            <a:endParaRPr lang="en-US" sz="1100" dirty="0"/>
          </a:p>
        </p:txBody>
      </p:sp>
      <p:sp>
        <p:nvSpPr>
          <p:cNvPr id="43" name="[p3] Forma"/>
          <p:cNvSpPr/>
          <p:nvPr/>
        </p:nvSpPr>
        <p:spPr>
          <a:xfrm flipV="1">
            <a:off x="4096512" y="3934206"/>
            <a:ext cx="649224" cy="598170"/>
          </a:xfrm>
          <a:prstGeom prst="line">
            <a:avLst/>
          </a:prstGeom>
          <a:noFill/>
          <a:ln w="28575">
            <a:solidFill>
              <a:srgbClr val="8A4B06"/>
            </a:solidFill>
            <a:prstDash val="solid"/>
            <a:tailEnd type="triangle"/>
          </a:ln>
        </p:spPr>
      </p:sp>
      <p:sp>
        <p:nvSpPr>
          <p:cNvPr id="44" name="[p4] Forma"/>
          <p:cNvSpPr/>
          <p:nvPr/>
        </p:nvSpPr>
        <p:spPr>
          <a:xfrm>
            <a:off x="9208008" y="2688336"/>
            <a:ext cx="2371039" cy="1371600"/>
          </a:xfrm>
          <a:prstGeom prst="can">
            <a:avLst/>
          </a:prstGeom>
          <a:solidFill>
            <a:srgbClr val="E8EEF8"/>
          </a:solidFill>
          <a:ln w="25400">
            <a:solidFill>
              <a:srgbClr val="0B2350"/>
            </a:solidFill>
            <a:prstDash val="solid"/>
          </a:ln>
          <a:effectLst>
            <a:outerShdw sx="100000" sy="100000" kx="0" ky="0" algn="bl" rotWithShape="0" blurRad="76200" dist="19050" dir="5400000">
              <a:srgbClr val="0B1F3A">
                <a:alpha val="14000"/>
              </a:srgbClr>
            </a:outerShdw>
          </a:effectLst>
        </p:spPr>
      </p:sp>
      <p:sp>
        <p:nvSpPr>
          <p:cNvPr id="45" name="[p4] Forma"/>
          <p:cNvSpPr/>
          <p:nvPr/>
        </p:nvSpPr>
        <p:spPr>
          <a:xfrm>
            <a:off x="9299448" y="3127248"/>
            <a:ext cx="2188159" cy="365760"/>
          </a:xfrm>
          <a:prstGeom prst="rect">
            <a:avLst/>
          </a:prstGeom>
          <a:noFill/>
          <a:ln/>
        </p:spPr>
        <p:txBody>
          <a:bodyPr wrap="square" lIns="0" tIns="0" rIns="0" bIns="0" rtlCol="0" anchor="ctr">
            <a:normAutofit/>
          </a:bodyPr>
          <a:lstStyle/>
          <a:p>
            <a:pPr algn="ctr" indent="0" marL="0">
              <a:buNone/>
            </a:pPr>
            <a:r>
              <a:rPr lang="en-US" sz="1500" b="1" dirty="0">
                <a:solidFill>
                  <a:srgbClr val="0B2350"/>
                </a:solidFill>
                <a:latin typeface="Consolas" pitchFamily="34" charset="0"/>
                <a:ea typeface="Consolas" pitchFamily="34" charset="-122"/>
                <a:cs typeface="Consolas" pitchFamily="34" charset="-120"/>
              </a:rPr>
              <a:t>db-solicitudes</a:t>
            </a:r>
            <a:endParaRPr lang="en-US" sz="1500" dirty="0"/>
          </a:p>
        </p:txBody>
      </p:sp>
      <p:sp>
        <p:nvSpPr>
          <p:cNvPr id="46" name="[p4] Forma"/>
          <p:cNvSpPr/>
          <p:nvPr/>
        </p:nvSpPr>
        <p:spPr>
          <a:xfrm>
            <a:off x="9299448" y="3493008"/>
            <a:ext cx="218815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47" name="[p4] Forma"/>
          <p:cNvSpPr/>
          <p:nvPr/>
        </p:nvSpPr>
        <p:spPr>
          <a:xfrm>
            <a:off x="8138160" y="3374136"/>
            <a:ext cx="996696" cy="0"/>
          </a:xfrm>
          <a:prstGeom prst="line">
            <a:avLst/>
          </a:prstGeom>
          <a:noFill/>
          <a:ln w="31750">
            <a:solidFill>
              <a:srgbClr val="0B2350"/>
            </a:solidFill>
            <a:prstDash val="solid"/>
            <a:tailEnd type="triangle"/>
          </a:ln>
        </p:spPr>
      </p:sp>
      <p:sp>
        <p:nvSpPr>
          <p:cNvPr id="48" name="[p4] Forma"/>
          <p:cNvSpPr/>
          <p:nvPr/>
        </p:nvSpPr>
        <p:spPr>
          <a:xfrm>
            <a:off x="8110728" y="2825496"/>
            <a:ext cx="1051560" cy="475488"/>
          </a:xfrm>
          <a:prstGeom prst="rect">
            <a:avLst/>
          </a:prstGeom>
          <a:noFill/>
          <a:ln/>
        </p:spPr>
        <p:txBody>
          <a:bodyPr wrap="square" lIns="0" tIns="0" rIns="0" bIns="0" rtlCol="0" anchor="b">
            <a:normAutofit/>
          </a:bodyPr>
          <a:lstStyle/>
          <a:p>
            <a:pPr algn="ctr" indent="0" marL="0">
              <a:buNone/>
            </a:pPr>
            <a:r>
              <a:rPr lang="en-US" sz="1150" b="1" dirty="0">
                <a:solidFill>
                  <a:srgbClr val="0B2350"/>
                </a:solidFill>
                <a:latin typeface="Segoe UI" pitchFamily="34" charset="0"/>
                <a:ea typeface="Segoe UI" pitchFamily="34" charset="-122"/>
                <a:cs typeface="Segoe UI" pitchFamily="34" charset="-120"/>
              </a:rPr>
              <a:t>pool de conexiones</a:t>
            </a:r>
            <a:endParaRPr lang="en-US" sz="1150" dirty="0"/>
          </a:p>
        </p:txBody>
      </p:sp>
      <p:sp>
        <p:nvSpPr>
          <p:cNvPr id="49" name="[p5] Forma"/>
          <p:cNvSpPr/>
          <p:nvPr/>
        </p:nvSpPr>
        <p:spPr>
          <a:xfrm>
            <a:off x="4818888" y="5230368"/>
            <a:ext cx="6760159" cy="603504"/>
          </a:xfrm>
          <a:prstGeom prst="roundRect">
            <a:avLst>
              <a:gd name="adj" fmla="val 21212"/>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50" name="[p5] Forma"/>
          <p:cNvSpPr/>
          <p:nvPr/>
        </p:nvSpPr>
        <p:spPr>
          <a:xfrm>
            <a:off x="4965192" y="5321808"/>
            <a:ext cx="420624" cy="420624"/>
          </a:xfrm>
          <a:prstGeom prst="ellipse">
            <a:avLst/>
          </a:prstGeom>
          <a:solidFill>
            <a:srgbClr val="FFFFFF"/>
          </a:solidFill>
          <a:ln w="12700">
            <a:solidFill>
              <a:srgbClr val="FFFFFF"/>
            </a:solidFill>
            <a:prstDash val="solid"/>
          </a:ln>
        </p:spPr>
      </p:sp>
      <p:sp>
        <p:nvSpPr>
          <p:cNvPr id="51" name="[p5] Icono ban"/>
          <p:cNvSpPr/>
          <p:nvPr/>
        </p:nvSpPr>
        <p:spPr>
          <a:xfrm>
            <a:off x="5066142" y="5422758"/>
            <a:ext cx="218724" cy="218724"/>
          </a:xfrm>
          <a:custGeom>
            <a:avLst/>
            <a:gdLst/>
            <a:ahLst/>
            <a:cxnLst/>
            <a:rect l="l" t="t" r="r" b="b"/>
            <a:pathLst>
              <a:path w="218724" h="218724">
                <a:moveTo>
                  <a:pt x="200497" y="109362"/>
                </a:moveTo>
                <a:cubicBezTo>
                  <a:pt x="200497" y="159695"/>
                  <a:pt x="159695" y="200497"/>
                  <a:pt x="109362" y="200497"/>
                </a:cubicBezTo>
                <a:cubicBezTo>
                  <a:pt x="59030" y="200497"/>
                  <a:pt x="18227" y="159695"/>
                  <a:pt x="18227" y="109362"/>
                </a:cubicBezTo>
                <a:cubicBezTo>
                  <a:pt x="18227" y="59030"/>
                  <a:pt x="59030" y="18227"/>
                  <a:pt x="109362" y="18227"/>
                </a:cubicBezTo>
                <a:cubicBezTo>
                  <a:pt x="159695" y="18227"/>
                  <a:pt x="200497" y="59030"/>
                  <a:pt x="200497" y="109362"/>
                </a:cubicBezTo>
                <a:close/>
                <a:moveTo>
                  <a:pt x="44656" y="44656"/>
                </a:moveTo>
                <a:lnTo>
                  <a:pt x="174068" y="174068"/>
                </a:lnTo>
              </a:path>
            </a:pathLst>
          </a:custGeom>
          <a:noFill/>
          <a:ln w="18227" cap="rnd">
            <a:solidFill>
              <a:srgbClr val="AB243E"/>
            </a:solidFill>
            <a:prstDash val="solid"/>
            <a:round/>
          </a:ln>
        </p:spPr>
      </p:sp>
      <p:sp>
        <p:nvSpPr>
          <p:cNvPr id="52" name="[p5] Forma"/>
          <p:cNvSpPr/>
          <p:nvPr/>
        </p:nvSpPr>
        <p:spPr>
          <a:xfrm>
            <a:off x="5504688" y="5230368"/>
            <a:ext cx="5937199" cy="603504"/>
          </a:xfrm>
          <a:prstGeom prst="rect">
            <a:avLst/>
          </a:prstGeom>
          <a:noFill/>
          <a:ln/>
        </p:spPr>
        <p:txBody>
          <a:bodyPr wrap="square" lIns="0" tIns="0" rIns="0" bIns="0" rtlCol="0" anchor="ctr">
            <a:normAutofit/>
          </a:bodyPr>
          <a:lstStyle/>
          <a:p>
            <a:pPr indent="0" marL="0">
              <a:buNone/>
            </a:pPr>
            <a:r>
              <a:rPr lang="en-US" sz="1300" b="1" dirty="0">
                <a:solidFill>
                  <a:srgbClr val="AB243E"/>
                </a:solidFill>
                <a:latin typeface="Segoe UI" pitchFamily="34" charset="0"/>
                <a:ea typeface="Segoe UI" pitchFamily="34" charset="-122"/>
                <a:cs typeface="Segoe UI" pitchFamily="34" charset="-120"/>
              </a:rPr>
              <a:t>La imagen Docker:  </a:t>
            </a:r>
            <a:pPr indent="0" marL="0">
              <a:buNone/>
            </a:pPr>
            <a:r>
              <a:rPr lang="en-US" sz="1300" dirty="0">
                <a:solidFill>
                  <a:srgbClr val="0B1A3C"/>
                </a:solidFill>
                <a:latin typeface="Segoe UI" pitchFamily="34" charset="0"/>
                <a:ea typeface="Segoe UI" pitchFamily="34" charset="-122"/>
                <a:cs typeface="Segoe UI" pitchFamily="34" charset="-120"/>
              </a:rPr>
              <a:t>no lleva ni dirección ni clave. La misma imagen sirve en cualquier ambiente.</a:t>
            </a:r>
            <a:endParaRPr lang="en-US" sz="1300" dirty="0"/>
          </a:p>
        </p:txBody>
      </p:sp>
      <p:sp>
        <p:nvSpPr>
          <p:cNvPr id="53" name="Shape 51"/>
          <p:cNvSpPr/>
          <p:nvPr/>
        </p:nvSpPr>
        <p:spPr>
          <a:xfrm>
            <a:off x="0" y="5961888"/>
            <a:ext cx="12191695" cy="475488"/>
          </a:xfrm>
          <a:prstGeom prst="rect">
            <a:avLst/>
          </a:prstGeom>
          <a:solidFill>
            <a:srgbClr val="0B2350"/>
          </a:solidFill>
          <a:ln w="12700">
            <a:solidFill>
              <a:srgbClr val="0B2350"/>
            </a:solidFill>
            <a:prstDash val="solid"/>
          </a:ln>
        </p:spPr>
      </p:sp>
      <p:sp>
        <p:nvSpPr>
          <p:cNvPr id="54"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5" name="Text 53"/>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Cambiar de servidor o rotar una clave no obliga a recompilar ni a tocar el código.</a:t>
            </a:r>
            <a:endParaRPr lang="en-US" sz="140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4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400"/>
                                        <p:tgtEl>
                                          <p:spTgt spid="3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400"/>
                                        <p:tgtEl>
                                          <p:spTgt spid="3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childTnLst>
                          </p:cTn>
                        </p:par>
                      </p:childTnLst>
                    </p:cTn>
                  </p:par>
                  <p:par>
                    <p:cTn id="96" fill="hold">
                      <p:stCondLst>
                        <p:cond delay="indefinite"/>
                      </p:stCondLst>
                      <p:childTnLst>
                        <p:par>
                          <p:cTn id="97"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400"/>
                                        <p:tgtEl>
                                          <p:spTgt spid="4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fade">
                                      <p:cBhvr>
                                        <p:cTn id="86" dur="400"/>
                                        <p:tgtEl>
                                          <p:spTgt spid="4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animEffect transition="in" filter="fade">
                                      <p:cBhvr>
                                        <p:cTn id="89" dur="400"/>
                                        <p:tgtEl>
                                          <p:spTgt spid="4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00"/>
                                        <p:tgtEl>
                                          <p:spTgt spid="48"/>
                                        </p:tgtEl>
                                      </p:cBhvr>
                                    </p:animEffect>
                                  </p:childTnLst>
                                </p:cTn>
                              </p:par>
                            </p:childTnLst>
                          </p:cTn>
                        </p:par>
                      </p:childTnLst>
                    </p:cTn>
                  </p:par>
                  <p:par>
                    <p:cTn id="110" fill="hold">
                      <p:stCondLst>
                        <p:cond delay="indefinite"/>
                      </p:stCondLst>
                      <p:childTnLst>
                        <p:par>
                          <p:cTn id="111"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animEffect transition="in" filter="fade">
                                      <p:cBhvr>
                                        <p:cTn id="100" dur="400"/>
                                        <p:tgtEl>
                                          <p:spTgt spid="4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fade">
                                      <p:cBhvr>
                                        <p:cTn id="103" dur="400"/>
                                        <p:tgtEl>
                                          <p:spTgt spid="5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fade">
                                      <p:cBhvr>
                                        <p:cTn id="106" dur="400"/>
                                        <p:tgtEl>
                                          <p:spTgt spid="5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transacción: todo o nada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500" dirty="0">
                <a:solidFill>
                  <a:srgbClr val="55627E"/>
                </a:solidFill>
                <a:latin typeface="Segoe UI" pitchFamily="34" charset="0"/>
                <a:ea typeface="Segoe UI" pitchFamily="34" charset="-122"/>
                <a:cs typeface="Segoe UI" pitchFamily="34" charset="-120"/>
              </a:rPr>
              <a:t>@Transactional es el BEGIN … COMMIT de siempre: la solicitud y su aviso se guardan juntos o no se guarda nada.</a:t>
            </a:r>
            <a:endParaRPr lang="en-US" sz="1500" dirty="0"/>
          </a:p>
        </p:txBody>
      </p:sp>
      <p:sp>
        <p:nvSpPr>
          <p:cNvPr id="13" name="Shape 11"/>
          <p:cNvSpPr/>
          <p:nvPr/>
        </p:nvSpPr>
        <p:spPr>
          <a:xfrm>
            <a:off x="1024128" y="1828800"/>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14" name="Icono cable"/>
          <p:cNvSpPr/>
          <p:nvPr/>
        </p:nvSpPr>
        <p:spPr>
          <a:xfrm>
            <a:off x="1339302" y="2143974"/>
            <a:ext cx="739973" cy="739973"/>
          </a:xfrm>
          <a:custGeom>
            <a:avLst/>
            <a:gdLst/>
            <a:ahLst/>
            <a:cxnLst/>
            <a:rect l="l" t="t" r="r" b="b"/>
            <a:pathLst>
              <a:path w="739973" h="739973">
                <a:moveTo>
                  <a:pt x="524147" y="647476"/>
                </a:moveTo>
                <a:lnTo>
                  <a:pt x="524147" y="585812"/>
                </a:lnTo>
                <a:cubicBezTo>
                  <a:pt x="507119" y="585812"/>
                  <a:pt x="493315" y="572008"/>
                  <a:pt x="493315" y="554980"/>
                </a:cubicBezTo>
                <a:lnTo>
                  <a:pt x="493315" y="524147"/>
                </a:lnTo>
                <a:cubicBezTo>
                  <a:pt x="493315" y="490091"/>
                  <a:pt x="520923" y="462483"/>
                  <a:pt x="554980" y="462483"/>
                </a:cubicBezTo>
                <a:lnTo>
                  <a:pt x="616644" y="462483"/>
                </a:lnTo>
                <a:cubicBezTo>
                  <a:pt x="650700" y="462483"/>
                  <a:pt x="678308" y="490091"/>
                  <a:pt x="678308" y="524147"/>
                </a:cubicBezTo>
                <a:lnTo>
                  <a:pt x="678308" y="554980"/>
                </a:lnTo>
                <a:cubicBezTo>
                  <a:pt x="678308" y="572008"/>
                  <a:pt x="664504" y="585812"/>
                  <a:pt x="647476" y="585812"/>
                </a:cubicBezTo>
                <a:moveTo>
                  <a:pt x="585812" y="462483"/>
                </a:moveTo>
                <a:lnTo>
                  <a:pt x="585812" y="200409"/>
                </a:lnTo>
                <a:cubicBezTo>
                  <a:pt x="585812" y="140811"/>
                  <a:pt x="537498" y="92497"/>
                  <a:pt x="477899" y="92497"/>
                </a:cubicBezTo>
                <a:cubicBezTo>
                  <a:pt x="418301" y="92497"/>
                  <a:pt x="369986" y="140811"/>
                  <a:pt x="369986" y="200409"/>
                </a:cubicBezTo>
                <a:lnTo>
                  <a:pt x="369986" y="539563"/>
                </a:lnTo>
                <a:cubicBezTo>
                  <a:pt x="369986" y="599162"/>
                  <a:pt x="321672" y="647476"/>
                  <a:pt x="262074" y="647476"/>
                </a:cubicBezTo>
                <a:cubicBezTo>
                  <a:pt x="202475" y="647476"/>
                  <a:pt x="154161" y="599162"/>
                  <a:pt x="154161" y="539563"/>
                </a:cubicBezTo>
                <a:lnTo>
                  <a:pt x="154161" y="277490"/>
                </a:lnTo>
                <a:moveTo>
                  <a:pt x="647476" y="647476"/>
                </a:moveTo>
                <a:lnTo>
                  <a:pt x="647476" y="585812"/>
                </a:lnTo>
                <a:lnTo>
                  <a:pt x="524147" y="585812"/>
                </a:lnTo>
                <a:moveTo>
                  <a:pt x="92497" y="154161"/>
                </a:moveTo>
                <a:lnTo>
                  <a:pt x="215825" y="154161"/>
                </a:lnTo>
                <a:lnTo>
                  <a:pt x="215825" y="92497"/>
                </a:lnTo>
                <a:moveTo>
                  <a:pt x="215825" y="154161"/>
                </a:moveTo>
                <a:cubicBezTo>
                  <a:pt x="232854" y="154161"/>
                  <a:pt x="246658" y="167965"/>
                  <a:pt x="246658" y="184993"/>
                </a:cubicBezTo>
                <a:lnTo>
                  <a:pt x="246658" y="215825"/>
                </a:lnTo>
                <a:cubicBezTo>
                  <a:pt x="246658" y="249882"/>
                  <a:pt x="219049" y="277490"/>
                  <a:pt x="184993" y="277490"/>
                </a:cubicBezTo>
                <a:lnTo>
                  <a:pt x="123329" y="277490"/>
                </a:lnTo>
                <a:cubicBezTo>
                  <a:pt x="89272" y="277490"/>
                  <a:pt x="61664" y="249882"/>
                  <a:pt x="61664" y="215825"/>
                </a:cubicBezTo>
                <a:lnTo>
                  <a:pt x="61664" y="184993"/>
                </a:lnTo>
                <a:cubicBezTo>
                  <a:pt x="61664" y="167965"/>
                  <a:pt x="75468" y="154161"/>
                  <a:pt x="92497" y="154161"/>
                </a:cubicBezTo>
                <a:lnTo>
                  <a:pt x="92497" y="92497"/>
                </a:lnTo>
              </a:path>
            </a:pathLst>
          </a:custGeom>
          <a:noFill/>
          <a:ln w="53956" cap="rnd">
            <a:solidFill>
              <a:srgbClr val="0B6E8A"/>
            </a:solidFill>
            <a:prstDash val="solid"/>
            <a:round/>
          </a:ln>
        </p:spPr>
      </p:sp>
      <p:sp>
        <p:nvSpPr>
          <p:cNvPr id="15" name="Text 13"/>
          <p:cNvSpPr/>
          <p:nvPr/>
        </p:nvSpPr>
        <p:spPr>
          <a:xfrm>
            <a:off x="9875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Pool</a:t>
            </a:r>
            <a:endParaRPr lang="en-US" sz="1800" dirty="0"/>
          </a:p>
        </p:txBody>
      </p:sp>
      <p:sp>
        <p:nvSpPr>
          <p:cNvPr id="17" name="Text 15"/>
          <p:cNvSpPr/>
          <p:nvPr/>
        </p:nvSpPr>
        <p:spPr>
          <a:xfrm>
            <a:off x="72237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HikariCP presta una de sus conexiones.</a:t>
            </a:r>
            <a:endParaRPr lang="en-US" sz="1400" dirty="0"/>
          </a:p>
        </p:txBody>
      </p:sp>
      <p:sp>
        <p:nvSpPr>
          <p:cNvPr id="18" name="[p1] Forma"/>
          <p:cNvSpPr/>
          <p:nvPr/>
        </p:nvSpPr>
        <p:spPr>
          <a:xfrm>
            <a:off x="2485888" y="2513960"/>
            <a:ext cx="640080" cy="0"/>
          </a:xfrm>
          <a:prstGeom prst="line">
            <a:avLst/>
          </a:prstGeom>
          <a:noFill/>
          <a:ln w="38100">
            <a:solidFill>
              <a:srgbClr val="2BA6CB"/>
            </a:solidFill>
            <a:prstDash val="solid"/>
            <a:tailEnd type="triangle"/>
          </a:ln>
        </p:spPr>
      </p:sp>
      <p:sp>
        <p:nvSpPr>
          <p:cNvPr id="19" name="[p1] Forma"/>
          <p:cNvSpPr/>
          <p:nvPr/>
        </p:nvSpPr>
        <p:spPr>
          <a:xfrm>
            <a:off x="321740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play"/>
          <p:cNvSpPr/>
          <p:nvPr/>
        </p:nvSpPr>
        <p:spPr>
          <a:xfrm>
            <a:off x="3532581" y="2143974"/>
            <a:ext cx="739973" cy="739973"/>
          </a:xfrm>
          <a:custGeom>
            <a:avLst/>
            <a:gdLst/>
            <a:ahLst/>
            <a:cxnLst/>
            <a:rect l="l" t="t" r="r" b="b"/>
            <a:pathLst>
              <a:path w="739973" h="739973">
                <a:moveTo>
                  <a:pt x="184993" y="92497"/>
                </a:moveTo>
                <a:lnTo>
                  <a:pt x="616644" y="369986"/>
                </a:lnTo>
                <a:lnTo>
                  <a:pt x="184993" y="647476"/>
                </a:lnTo>
                <a:lnTo>
                  <a:pt x="184993" y="92497"/>
                </a:lnTo>
                <a:close/>
              </a:path>
            </a:pathLst>
          </a:custGeom>
          <a:noFill/>
          <a:ln w="53956" cap="rnd">
            <a:solidFill>
              <a:srgbClr val="0B2350"/>
            </a:solidFill>
            <a:prstDash val="solid"/>
            <a:round/>
          </a:ln>
        </p:spPr>
      </p:sp>
      <p:sp>
        <p:nvSpPr>
          <p:cNvPr id="21" name="[p1] Forma"/>
          <p:cNvSpPr/>
          <p:nvPr/>
        </p:nvSpPr>
        <p:spPr>
          <a:xfrm>
            <a:off x="318083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285164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BEGIN</a:t>
            </a:r>
            <a:endParaRPr lang="en-US" sz="1800" dirty="0"/>
          </a:p>
        </p:txBody>
      </p:sp>
      <p:sp>
        <p:nvSpPr>
          <p:cNvPr id="23" name="[p1] Forma"/>
          <p:cNvSpPr/>
          <p:nvPr/>
        </p:nvSpPr>
        <p:spPr>
          <a:xfrm>
            <a:off x="291565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Empieza la transacción.</a:t>
            </a:r>
            <a:endParaRPr lang="en-US" sz="1400" dirty="0"/>
          </a:p>
        </p:txBody>
      </p:sp>
      <p:sp>
        <p:nvSpPr>
          <p:cNvPr id="24" name="[p2] Forma"/>
          <p:cNvSpPr/>
          <p:nvPr/>
        </p:nvSpPr>
        <p:spPr>
          <a:xfrm>
            <a:off x="4679168" y="2513960"/>
            <a:ext cx="640080" cy="0"/>
          </a:xfrm>
          <a:prstGeom prst="line">
            <a:avLst/>
          </a:prstGeom>
          <a:noFill/>
          <a:ln w="38100">
            <a:solidFill>
              <a:srgbClr val="2BA6CB"/>
            </a:solidFill>
            <a:prstDash val="solid"/>
            <a:tailEnd type="triangle"/>
          </a:ln>
        </p:spPr>
      </p:sp>
      <p:sp>
        <p:nvSpPr>
          <p:cNvPr id="25" name="[p2] Forma"/>
          <p:cNvSpPr/>
          <p:nvPr/>
        </p:nvSpPr>
        <p:spPr>
          <a:xfrm>
            <a:off x="541068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6" name="[p2] Icono clipboard-list"/>
          <p:cNvSpPr/>
          <p:nvPr/>
        </p:nvSpPr>
        <p:spPr>
          <a:xfrm>
            <a:off x="5725861" y="2143974"/>
            <a:ext cx="739973" cy="739973"/>
          </a:xfrm>
          <a:custGeom>
            <a:avLst/>
            <a:gdLst/>
            <a:ahLst/>
            <a:cxnLst/>
            <a:rect l="l" t="t" r="r" b="b"/>
            <a:pathLst>
              <a:path w="739973" h="739973">
                <a:moveTo>
                  <a:pt x="277490" y="61664"/>
                </a:moveTo>
                <a:lnTo>
                  <a:pt x="462483" y="61664"/>
                </a:lnTo>
                <a:cubicBezTo>
                  <a:pt x="479511" y="61664"/>
                  <a:pt x="493315" y="75468"/>
                  <a:pt x="493315" y="92497"/>
                </a:cubicBezTo>
                <a:lnTo>
                  <a:pt x="493315" y="154161"/>
                </a:lnTo>
                <a:cubicBezTo>
                  <a:pt x="493315" y="171189"/>
                  <a:pt x="479511" y="184993"/>
                  <a:pt x="462483" y="184993"/>
                </a:cubicBezTo>
                <a:lnTo>
                  <a:pt x="277490" y="184993"/>
                </a:lnTo>
                <a:cubicBezTo>
                  <a:pt x="260462" y="184993"/>
                  <a:pt x="246658" y="171189"/>
                  <a:pt x="246658" y="154161"/>
                </a:cubicBezTo>
                <a:lnTo>
                  <a:pt x="246658" y="92497"/>
                </a:lnTo>
                <a:cubicBezTo>
                  <a:pt x="246658" y="75468"/>
                  <a:pt x="260462" y="61664"/>
                  <a:pt x="277490" y="61664"/>
                </a:cubicBezTo>
                <a:close/>
                <a:moveTo>
                  <a:pt x="493315" y="123329"/>
                </a:moveTo>
                <a:lnTo>
                  <a:pt x="554980" y="123329"/>
                </a:lnTo>
                <a:cubicBezTo>
                  <a:pt x="589036" y="123329"/>
                  <a:pt x="616644" y="150937"/>
                  <a:pt x="616644" y="184993"/>
                </a:cubicBezTo>
                <a:lnTo>
                  <a:pt x="616644" y="616644"/>
                </a:lnTo>
                <a:cubicBezTo>
                  <a:pt x="616644" y="650700"/>
                  <a:pt x="589036" y="678308"/>
                  <a:pt x="554980" y="678308"/>
                </a:cubicBezTo>
                <a:lnTo>
                  <a:pt x="184993" y="678308"/>
                </a:lnTo>
                <a:cubicBezTo>
                  <a:pt x="150937" y="678308"/>
                  <a:pt x="123329" y="650700"/>
                  <a:pt x="123329" y="616644"/>
                </a:cubicBezTo>
                <a:lnTo>
                  <a:pt x="123329" y="184993"/>
                </a:lnTo>
                <a:cubicBezTo>
                  <a:pt x="123329" y="150937"/>
                  <a:pt x="150937" y="123329"/>
                  <a:pt x="184993" y="123329"/>
                </a:cubicBezTo>
                <a:lnTo>
                  <a:pt x="246658" y="123329"/>
                </a:lnTo>
                <a:moveTo>
                  <a:pt x="369986" y="339154"/>
                </a:moveTo>
                <a:lnTo>
                  <a:pt x="493315" y="339154"/>
                </a:lnTo>
                <a:moveTo>
                  <a:pt x="369986" y="493315"/>
                </a:moveTo>
                <a:lnTo>
                  <a:pt x="493315" y="493315"/>
                </a:lnTo>
                <a:moveTo>
                  <a:pt x="246658" y="339154"/>
                </a:moveTo>
                <a:lnTo>
                  <a:pt x="246966" y="339154"/>
                </a:lnTo>
                <a:moveTo>
                  <a:pt x="246658" y="493315"/>
                </a:moveTo>
                <a:lnTo>
                  <a:pt x="246966" y="493315"/>
                </a:lnTo>
              </a:path>
            </a:pathLst>
          </a:custGeom>
          <a:noFill/>
          <a:ln w="53956" cap="rnd">
            <a:solidFill>
              <a:srgbClr val="0B2350"/>
            </a:solidFill>
            <a:prstDash val="solid"/>
            <a:round/>
          </a:ln>
        </p:spPr>
      </p:sp>
      <p:sp>
        <p:nvSpPr>
          <p:cNvPr id="27" name="[p2] Forma"/>
          <p:cNvSpPr/>
          <p:nvPr/>
        </p:nvSpPr>
        <p:spPr>
          <a:xfrm>
            <a:off x="537411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504492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UPDATE</a:t>
            </a:r>
            <a:endParaRPr lang="en-US" sz="1800" dirty="0"/>
          </a:p>
        </p:txBody>
      </p:sp>
      <p:sp>
        <p:nvSpPr>
          <p:cNvPr id="29" name="[p2] Forma"/>
          <p:cNvSpPr/>
          <p:nvPr/>
        </p:nvSpPr>
        <p:spPr>
          <a:xfrm>
            <a:off x="510893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solicitud pasa a ENVIADA.</a:t>
            </a:r>
            <a:endParaRPr lang="en-US" sz="1400" dirty="0"/>
          </a:p>
        </p:txBody>
      </p:sp>
      <p:sp>
        <p:nvSpPr>
          <p:cNvPr id="30" name="[p3] Forma"/>
          <p:cNvSpPr/>
          <p:nvPr/>
        </p:nvSpPr>
        <p:spPr>
          <a:xfrm>
            <a:off x="6872448" y="2513960"/>
            <a:ext cx="640080" cy="0"/>
          </a:xfrm>
          <a:prstGeom prst="line">
            <a:avLst/>
          </a:prstGeom>
          <a:noFill/>
          <a:ln w="38100">
            <a:solidFill>
              <a:srgbClr val="2BA6CB"/>
            </a:solidFill>
            <a:prstDash val="solid"/>
            <a:tailEnd type="triangle"/>
          </a:ln>
        </p:spPr>
      </p:sp>
      <p:sp>
        <p:nvSpPr>
          <p:cNvPr id="31" name="[p3] Forma"/>
          <p:cNvSpPr/>
          <p:nvPr/>
        </p:nvSpPr>
        <p:spPr>
          <a:xfrm>
            <a:off x="760396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2" name="[p3] Icono inbox"/>
          <p:cNvSpPr/>
          <p:nvPr/>
        </p:nvSpPr>
        <p:spPr>
          <a:xfrm>
            <a:off x="7919141" y="2143974"/>
            <a:ext cx="739973" cy="739973"/>
          </a:xfrm>
          <a:custGeom>
            <a:avLst/>
            <a:gdLst/>
            <a:ahLst/>
            <a:cxnLst/>
            <a:rect l="l" t="t" r="r" b="b"/>
            <a:pathLst>
              <a:path w="739973" h="739973">
                <a:moveTo>
                  <a:pt x="678308" y="369986"/>
                </a:moveTo>
                <a:lnTo>
                  <a:pt x="493315" y="369986"/>
                </a:lnTo>
                <a:lnTo>
                  <a:pt x="431651" y="462483"/>
                </a:lnTo>
                <a:lnTo>
                  <a:pt x="308322" y="462483"/>
                </a:lnTo>
                <a:lnTo>
                  <a:pt x="246658" y="369986"/>
                </a:lnTo>
                <a:lnTo>
                  <a:pt x="61664" y="369986"/>
                </a:lnTo>
                <a:moveTo>
                  <a:pt x="168035" y="157553"/>
                </a:moveTo>
                <a:lnTo>
                  <a:pt x="61664" y="369986"/>
                </a:lnTo>
                <a:lnTo>
                  <a:pt x="61664" y="554980"/>
                </a:lnTo>
                <a:cubicBezTo>
                  <a:pt x="61664" y="589036"/>
                  <a:pt x="89272" y="616644"/>
                  <a:pt x="123329" y="616644"/>
                </a:cubicBezTo>
                <a:lnTo>
                  <a:pt x="616644" y="616644"/>
                </a:lnTo>
                <a:cubicBezTo>
                  <a:pt x="650700" y="616644"/>
                  <a:pt x="678308" y="589036"/>
                  <a:pt x="678308" y="554980"/>
                </a:cubicBezTo>
                <a:lnTo>
                  <a:pt x="678308" y="369986"/>
                </a:lnTo>
                <a:lnTo>
                  <a:pt x="571937" y="157553"/>
                </a:lnTo>
                <a:cubicBezTo>
                  <a:pt x="561524" y="136597"/>
                  <a:pt x="540148" y="123341"/>
                  <a:pt x="516748" y="123329"/>
                </a:cubicBezTo>
                <a:lnTo>
                  <a:pt x="223225" y="123329"/>
                </a:lnTo>
                <a:cubicBezTo>
                  <a:pt x="199825" y="123341"/>
                  <a:pt x="178448" y="136597"/>
                  <a:pt x="168035" y="157553"/>
                </a:cubicBezTo>
                <a:close/>
              </a:path>
            </a:pathLst>
          </a:custGeom>
          <a:noFill/>
          <a:ln w="53956" cap="rnd">
            <a:solidFill>
              <a:srgbClr val="0B2350"/>
            </a:solidFill>
            <a:prstDash val="solid"/>
            <a:round/>
          </a:ln>
        </p:spPr>
      </p:sp>
      <p:sp>
        <p:nvSpPr>
          <p:cNvPr id="33" name="[p3] Forma"/>
          <p:cNvSpPr/>
          <p:nvPr/>
        </p:nvSpPr>
        <p:spPr>
          <a:xfrm>
            <a:off x="756739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723820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INSERT</a:t>
            </a:r>
            <a:endParaRPr lang="en-US" sz="1800" dirty="0"/>
          </a:p>
        </p:txBody>
      </p:sp>
      <p:sp>
        <p:nvSpPr>
          <p:cNvPr id="35" name="[p3] Forma"/>
          <p:cNvSpPr/>
          <p:nvPr/>
        </p:nvSpPr>
        <p:spPr>
          <a:xfrm>
            <a:off x="730221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aviso queda pendiente en evento.</a:t>
            </a:r>
            <a:endParaRPr lang="en-US" sz="1400" dirty="0"/>
          </a:p>
        </p:txBody>
      </p:sp>
      <p:sp>
        <p:nvSpPr>
          <p:cNvPr id="36" name="[p4] Forma"/>
          <p:cNvSpPr/>
          <p:nvPr/>
        </p:nvSpPr>
        <p:spPr>
          <a:xfrm>
            <a:off x="9065727" y="2513960"/>
            <a:ext cx="640080" cy="0"/>
          </a:xfrm>
          <a:prstGeom prst="line">
            <a:avLst/>
          </a:prstGeom>
          <a:noFill/>
          <a:ln w="38100">
            <a:solidFill>
              <a:srgbClr val="2BA6CB"/>
            </a:solidFill>
            <a:prstDash val="solid"/>
            <a:tailEnd type="triangle"/>
          </a:ln>
        </p:spPr>
      </p:sp>
      <p:sp>
        <p:nvSpPr>
          <p:cNvPr id="37" name="[p4] Forma"/>
          <p:cNvSpPr/>
          <p:nvPr/>
        </p:nvSpPr>
        <p:spPr>
          <a:xfrm>
            <a:off x="9797247" y="1828800"/>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8" name="[p4] Icono circle-check"/>
          <p:cNvSpPr/>
          <p:nvPr/>
        </p:nvSpPr>
        <p:spPr>
          <a:xfrm>
            <a:off x="10112421" y="2143974"/>
            <a:ext cx="739973" cy="739973"/>
          </a:xfrm>
          <a:custGeom>
            <a:avLst/>
            <a:gdLst/>
            <a:ahLst/>
            <a:cxnLst/>
            <a:rect l="l" t="t" r="r" b="b"/>
            <a:pathLst>
              <a:path w="739973" h="739973">
                <a:moveTo>
                  <a:pt x="678308" y="369986"/>
                </a:moveTo>
                <a:cubicBezTo>
                  <a:pt x="678308" y="540268"/>
                  <a:pt x="540268" y="678308"/>
                  <a:pt x="369986" y="678308"/>
                </a:cubicBezTo>
                <a:cubicBezTo>
                  <a:pt x="199705" y="678308"/>
                  <a:pt x="61664" y="540268"/>
                  <a:pt x="61664" y="369986"/>
                </a:cubicBezTo>
                <a:cubicBezTo>
                  <a:pt x="61664" y="199705"/>
                  <a:pt x="199705" y="61664"/>
                  <a:pt x="369986" y="61664"/>
                </a:cubicBezTo>
                <a:cubicBezTo>
                  <a:pt x="540268" y="61664"/>
                  <a:pt x="678308" y="199705"/>
                  <a:pt x="678308" y="369986"/>
                </a:cubicBezTo>
                <a:close/>
                <a:moveTo>
                  <a:pt x="277490" y="369986"/>
                </a:moveTo>
                <a:lnTo>
                  <a:pt x="339154" y="431651"/>
                </a:lnTo>
                <a:lnTo>
                  <a:pt x="462483" y="308322"/>
                </a:lnTo>
              </a:path>
            </a:pathLst>
          </a:custGeom>
          <a:noFill/>
          <a:ln w="53956" cap="rnd">
            <a:solidFill>
              <a:srgbClr val="0A6648"/>
            </a:solidFill>
            <a:prstDash val="solid"/>
            <a:round/>
          </a:ln>
        </p:spPr>
      </p:sp>
      <p:sp>
        <p:nvSpPr>
          <p:cNvPr id="39" name="[p4] Forma"/>
          <p:cNvSpPr/>
          <p:nvPr/>
        </p:nvSpPr>
        <p:spPr>
          <a:xfrm>
            <a:off x="976067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0" name="[p4] Forma"/>
          <p:cNvSpPr/>
          <p:nvPr/>
        </p:nvSpPr>
        <p:spPr>
          <a:xfrm>
            <a:off x="9431487"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COMMIT</a:t>
            </a:r>
            <a:endParaRPr lang="en-US" sz="1800" dirty="0"/>
          </a:p>
        </p:txBody>
      </p:sp>
      <p:sp>
        <p:nvSpPr>
          <p:cNvPr id="41" name="[p4] Forma"/>
          <p:cNvSpPr/>
          <p:nvPr/>
        </p:nvSpPr>
        <p:spPr>
          <a:xfrm>
            <a:off x="9495495"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Las dos cosas quedan guardadas.</a:t>
            </a:r>
            <a:endParaRPr lang="en-US" sz="1400" dirty="0"/>
          </a:p>
        </p:txBody>
      </p:sp>
      <p:sp>
        <p:nvSpPr>
          <p:cNvPr id="42" name="[p5] Forma"/>
          <p:cNvSpPr/>
          <p:nvPr/>
        </p:nvSpPr>
        <p:spPr>
          <a:xfrm>
            <a:off x="8289127" y="4259824"/>
            <a:ext cx="0" cy="1660916"/>
          </a:xfrm>
          <a:prstGeom prst="line">
            <a:avLst/>
          </a:prstGeom>
          <a:noFill/>
          <a:ln w="25400">
            <a:solidFill>
              <a:srgbClr val="AB243E"/>
            </a:solidFill>
            <a:prstDash val="dash"/>
          </a:ln>
        </p:spPr>
      </p:sp>
      <p:sp>
        <p:nvSpPr>
          <p:cNvPr id="43" name="[p5] Forma"/>
          <p:cNvSpPr/>
          <p:nvPr/>
        </p:nvSpPr>
        <p:spPr>
          <a:xfrm flipH="1">
            <a:off x="7372807" y="5920740"/>
            <a:ext cx="916320" cy="0"/>
          </a:xfrm>
          <a:prstGeom prst="line">
            <a:avLst/>
          </a:prstGeom>
          <a:noFill/>
          <a:ln w="25400">
            <a:solidFill>
              <a:srgbClr val="AB243E"/>
            </a:solidFill>
            <a:prstDash val="dash"/>
            <a:tailEnd type="triangle"/>
          </a:ln>
        </p:spPr>
      </p:sp>
      <p:sp>
        <p:nvSpPr>
          <p:cNvPr id="44" name="[p5] Forma"/>
          <p:cNvSpPr/>
          <p:nvPr/>
        </p:nvSpPr>
        <p:spPr>
          <a:xfrm>
            <a:off x="6826087" y="5591556"/>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AB243E"/>
                </a:solidFill>
                <a:latin typeface="Segoe UI" pitchFamily="34" charset="0"/>
                <a:ea typeface="Segoe UI" pitchFamily="34" charset="-122"/>
                <a:cs typeface="Segoe UI" pitchFamily="34" charset="-120"/>
              </a:rPr>
              <a:t>si algo falla</a:t>
            </a:r>
            <a:endParaRPr lang="en-US" sz="1100" dirty="0"/>
          </a:p>
        </p:txBody>
      </p:sp>
      <p:sp>
        <p:nvSpPr>
          <p:cNvPr id="45" name="[p5] Forma"/>
          <p:cNvSpPr/>
          <p:nvPr/>
        </p:nvSpPr>
        <p:spPr>
          <a:xfrm>
            <a:off x="7372807" y="5486400"/>
            <a:ext cx="4206240" cy="868680"/>
          </a:xfrm>
          <a:prstGeom prst="roundRect">
            <a:avLst>
              <a:gd name="adj" fmla="val 14737"/>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46" name="[p5] Forma"/>
          <p:cNvSpPr/>
          <p:nvPr/>
        </p:nvSpPr>
        <p:spPr>
          <a:xfrm>
            <a:off x="7537399" y="5641848"/>
            <a:ext cx="548640" cy="548640"/>
          </a:xfrm>
          <a:prstGeom prst="ellipse">
            <a:avLst/>
          </a:prstGeom>
          <a:solidFill>
            <a:srgbClr val="FFFFFF"/>
          </a:solidFill>
          <a:ln w="12700">
            <a:solidFill>
              <a:srgbClr val="FFFFFF"/>
            </a:solidFill>
            <a:prstDash val="solid"/>
          </a:ln>
        </p:spPr>
      </p:sp>
      <p:sp>
        <p:nvSpPr>
          <p:cNvPr id="47" name="[p5] Icono rotate-ccw"/>
          <p:cNvSpPr/>
          <p:nvPr/>
        </p:nvSpPr>
        <p:spPr>
          <a:xfrm>
            <a:off x="7669073" y="5773522"/>
            <a:ext cx="285293" cy="285293"/>
          </a:xfrm>
          <a:custGeom>
            <a:avLst/>
            <a:gdLst/>
            <a:ahLst/>
            <a:cxnLst/>
            <a:rect l="l" t="t" r="r" b="b"/>
            <a:pathLst>
              <a:path w="285293" h="285293">
                <a:moveTo>
                  <a:pt x="35662" y="142646"/>
                </a:moveTo>
                <a:cubicBezTo>
                  <a:pt x="35662" y="201732"/>
                  <a:pt x="83560" y="249631"/>
                  <a:pt x="142646" y="249631"/>
                </a:cubicBezTo>
                <a:cubicBezTo>
                  <a:pt x="201732" y="249631"/>
                  <a:pt x="249631" y="201732"/>
                  <a:pt x="249631" y="142646"/>
                </a:cubicBezTo>
                <a:cubicBezTo>
                  <a:pt x="249631" y="83560"/>
                  <a:pt x="201732" y="35662"/>
                  <a:pt x="142646" y="35662"/>
                </a:cubicBezTo>
                <a:cubicBezTo>
                  <a:pt x="112738" y="35774"/>
                  <a:pt x="84030" y="47444"/>
                  <a:pt x="62527" y="68233"/>
                </a:cubicBezTo>
                <a:lnTo>
                  <a:pt x="35662" y="95098"/>
                </a:lnTo>
                <a:moveTo>
                  <a:pt x="35662" y="35662"/>
                </a:moveTo>
                <a:lnTo>
                  <a:pt x="35662" y="95098"/>
                </a:lnTo>
                <a:lnTo>
                  <a:pt x="95098" y="95098"/>
                </a:lnTo>
              </a:path>
            </a:pathLst>
          </a:custGeom>
          <a:noFill/>
          <a:ln w="23774" cap="rnd">
            <a:solidFill>
              <a:srgbClr val="AB243E"/>
            </a:solidFill>
            <a:prstDash val="solid"/>
            <a:round/>
          </a:ln>
        </p:spPr>
      </p:sp>
      <p:sp>
        <p:nvSpPr>
          <p:cNvPr id="48" name="[p5] Forma"/>
          <p:cNvSpPr/>
          <p:nvPr/>
        </p:nvSpPr>
        <p:spPr>
          <a:xfrm>
            <a:off x="8214055" y="5596128"/>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AB243E"/>
                </a:solidFill>
                <a:latin typeface="Segoe UI Semibold" pitchFamily="34" charset="0"/>
                <a:ea typeface="Segoe UI Semibold" pitchFamily="34" charset="-122"/>
                <a:cs typeface="Segoe UI Semibold" pitchFamily="34" charset="-120"/>
              </a:rPr>
              <a:t>ROLLBACK</a:t>
            </a:r>
            <a:endParaRPr lang="en-US" sz="1450" dirty="0"/>
          </a:p>
        </p:txBody>
      </p:sp>
      <p:sp>
        <p:nvSpPr>
          <p:cNvPr id="49" name="[p5] Forma"/>
          <p:cNvSpPr/>
          <p:nvPr/>
        </p:nvSpPr>
        <p:spPr>
          <a:xfrm>
            <a:off x="8214055" y="5925312"/>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queda nada a medias: ni la solicitud ni el aviso.</a:t>
            </a:r>
            <a:endParaRPr lang="en-US" sz="115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par>
                    <p:cTn id="107" fill="hold">
                      <p:stCondLst>
                        <p:cond delay="indefinite"/>
                      </p:stCondLst>
                      <p:childTnLst>
                        <p:par>
                          <p:cTn id="108"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400"/>
                                        <p:tgtEl>
                                          <p:spTgt spid="4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400"/>
                                        <p:tgtEl>
                                          <p:spTgt spid="4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400"/>
                                        <p:tgtEl>
                                          <p:spTgt spid="4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400"/>
                                        <p:tgtEl>
                                          <p:spTgt spid="4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fade">
                                      <p:cBhvr>
                                        <p:cTn id="97" dur="400"/>
                                        <p:tgtEl>
                                          <p:spTgt spid="4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400"/>
                                        <p:tgtEl>
                                          <p:spTgt spid="4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fade">
                                      <p:cBhvr>
                                        <p:cTn id="103" dur="400"/>
                                        <p:tgtEl>
                                          <p:spTgt spid="4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fade">
                                      <p:cBhvr>
                                        <p:cTn id="106"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Base de datos: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database"/>
          <p:cNvSpPr/>
          <p:nvPr/>
        </p:nvSpPr>
        <p:spPr>
          <a:xfrm>
            <a:off x="1058144" y="1817096"/>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3</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tablas en dos bases</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consultas que crucen de una base a otra</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table"/>
          <p:cNvSpPr/>
          <p:nvPr/>
        </p:nvSpPr>
        <p:spPr>
          <a:xfrm>
            <a:off x="4258544" y="1740515"/>
            <a:ext cx="370881" cy="370881"/>
          </a:xfrm>
          <a:custGeom>
            <a:avLst/>
            <a:gdLst/>
            <a:ahLst/>
            <a:cxnLst/>
            <a:rect l="l" t="t" r="r" b="b"/>
            <a:pathLst>
              <a:path w="370881" h="370881">
                <a:moveTo>
                  <a:pt x="185440" y="46360"/>
                </a:moveTo>
                <a:lnTo>
                  <a:pt x="185440" y="324521"/>
                </a:lnTo>
                <a:moveTo>
                  <a:pt x="77267" y="46360"/>
                </a:moveTo>
                <a:lnTo>
                  <a:pt x="293614" y="46360"/>
                </a:lnTo>
                <a:cubicBezTo>
                  <a:pt x="310683" y="46360"/>
                  <a:pt x="324521" y="60197"/>
                  <a:pt x="324521" y="77267"/>
                </a:cubicBezTo>
                <a:lnTo>
                  <a:pt x="324521" y="293614"/>
                </a:lnTo>
                <a:cubicBezTo>
                  <a:pt x="324521" y="310683"/>
                  <a:pt x="310683" y="324521"/>
                  <a:pt x="293614" y="324521"/>
                </a:cubicBezTo>
                <a:lnTo>
                  <a:pt x="77267" y="324521"/>
                </a:lnTo>
                <a:cubicBezTo>
                  <a:pt x="60197" y="324521"/>
                  <a:pt x="46360" y="310683"/>
                  <a:pt x="46360" y="293614"/>
                </a:cubicBezTo>
                <a:lnTo>
                  <a:pt x="46360" y="77267"/>
                </a:lnTo>
                <a:cubicBezTo>
                  <a:pt x="46360" y="60197"/>
                  <a:pt x="60197" y="46360"/>
                  <a:pt x="77267" y="46360"/>
                </a:cubicBezTo>
                <a:close/>
                <a:moveTo>
                  <a:pt x="46360" y="139080"/>
                </a:moveTo>
                <a:lnTo>
                  <a:pt x="324521" y="139080"/>
                </a:lnTo>
                <a:moveTo>
                  <a:pt x="46360" y="231800"/>
                </a:moveTo>
                <a:lnTo>
                  <a:pt x="324521" y="231800"/>
                </a:lnTo>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ORM no elimina el trabajo de base de datos</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Escribe el SQL rutinario; índices, CHECK y transacciones siguen siendo diseño.</a:t>
            </a:r>
            <a:endParaRPr lang="en-US" sz="115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Reglas probadas en código y una base que se cuida sola.</a:t>
            </a:r>
            <a:endParaRPr lang="en-US" sz="135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key-round"/>
          <p:cNvSpPr/>
          <p:nvPr/>
        </p:nvSpPr>
        <p:spPr>
          <a:xfrm>
            <a:off x="4258544" y="3032105"/>
            <a:ext cx="370881" cy="370881"/>
          </a:xfrm>
          <a:custGeom>
            <a:avLst/>
            <a:gdLst/>
            <a:ahLst/>
            <a:cxnLst/>
            <a:rect l="l" t="t" r="r" b="b"/>
            <a:pathLst>
              <a:path w="370881" h="370881">
                <a:moveTo>
                  <a:pt x="39962" y="269105"/>
                </a:moveTo>
                <a:cubicBezTo>
                  <a:pt x="34166" y="274900"/>
                  <a:pt x="30908" y="282760"/>
                  <a:pt x="30907" y="290956"/>
                </a:cubicBezTo>
                <a:lnTo>
                  <a:pt x="30907" y="324521"/>
                </a:lnTo>
                <a:cubicBezTo>
                  <a:pt x="30907" y="333055"/>
                  <a:pt x="37825" y="339974"/>
                  <a:pt x="46360" y="339974"/>
                </a:cubicBezTo>
                <a:lnTo>
                  <a:pt x="92720" y="339974"/>
                </a:lnTo>
                <a:cubicBezTo>
                  <a:pt x="101255" y="339974"/>
                  <a:pt x="108174" y="333055"/>
                  <a:pt x="108174" y="324521"/>
                </a:cubicBezTo>
                <a:lnTo>
                  <a:pt x="108174" y="309067"/>
                </a:lnTo>
                <a:cubicBezTo>
                  <a:pt x="108174" y="300533"/>
                  <a:pt x="115092" y="293614"/>
                  <a:pt x="123627" y="293614"/>
                </a:cubicBezTo>
                <a:lnTo>
                  <a:pt x="139080" y="293614"/>
                </a:lnTo>
                <a:cubicBezTo>
                  <a:pt x="147615" y="293614"/>
                  <a:pt x="154534" y="286695"/>
                  <a:pt x="154534" y="278160"/>
                </a:cubicBezTo>
                <a:lnTo>
                  <a:pt x="154534" y="262707"/>
                </a:lnTo>
                <a:cubicBezTo>
                  <a:pt x="154534" y="254172"/>
                  <a:pt x="161452" y="247254"/>
                  <a:pt x="169987" y="247254"/>
                </a:cubicBezTo>
                <a:lnTo>
                  <a:pt x="172645" y="247254"/>
                </a:lnTo>
                <a:cubicBezTo>
                  <a:pt x="180841" y="247252"/>
                  <a:pt x="188701" y="243995"/>
                  <a:pt x="194496" y="238198"/>
                </a:cubicBezTo>
                <a:lnTo>
                  <a:pt x="207075" y="225619"/>
                </a:lnTo>
                <a:cubicBezTo>
                  <a:pt x="251306" y="241027"/>
                  <a:pt x="300315" y="223820"/>
                  <a:pt x="325206" y="184144"/>
                </a:cubicBezTo>
                <a:cubicBezTo>
                  <a:pt x="350097" y="144468"/>
                  <a:pt x="344264" y="92855"/>
                  <a:pt x="311145" y="59736"/>
                </a:cubicBezTo>
                <a:cubicBezTo>
                  <a:pt x="278025" y="26617"/>
                  <a:pt x="226412" y="20783"/>
                  <a:pt x="186736" y="45675"/>
                </a:cubicBezTo>
                <a:cubicBezTo>
                  <a:pt x="147061" y="70566"/>
                  <a:pt x="129854" y="119575"/>
                  <a:pt x="145262" y="163806"/>
                </a:cubicBezTo>
                <a:close/>
                <a:moveTo>
                  <a:pt x="262707" y="115900"/>
                </a:moveTo>
                <a:cubicBezTo>
                  <a:pt x="262707" y="120168"/>
                  <a:pt x="259248" y="123627"/>
                  <a:pt x="254980" y="123627"/>
                </a:cubicBezTo>
                <a:cubicBezTo>
                  <a:pt x="250713" y="123627"/>
                  <a:pt x="247254" y="120168"/>
                  <a:pt x="247254" y="115900"/>
                </a:cubicBezTo>
                <a:cubicBezTo>
                  <a:pt x="247254" y="111633"/>
                  <a:pt x="250713" y="108174"/>
                  <a:pt x="254980" y="108174"/>
                </a:cubicBezTo>
                <a:cubicBezTo>
                  <a:pt x="259248" y="108174"/>
                  <a:pt x="262707" y="111633"/>
                  <a:pt x="262707" y="115900"/>
                </a:cubicBezTo>
                <a:close/>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 cadena de conexión no vive en el código</a:t>
            </a:r>
            <a:endParaRPr lang="en-US" sz="150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Variables en Compose y un Secret en Kubernetes.</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de servidor o de clave sin recompilar.</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repeat"/>
          <p:cNvSpPr/>
          <p:nvPr/>
        </p:nvSpPr>
        <p:spPr>
          <a:xfrm>
            <a:off x="4258544" y="4323695"/>
            <a:ext cx="370881" cy="370881"/>
          </a:xfrm>
          <a:custGeom>
            <a:avLst/>
            <a:gdLst/>
            <a:ahLst/>
            <a:cxnLst/>
            <a:rect l="l" t="t" r="r" b="b"/>
            <a:pathLst>
              <a:path w="370881" h="370881">
                <a:moveTo>
                  <a:pt x="262707" y="30907"/>
                </a:moveTo>
                <a:lnTo>
                  <a:pt x="324521" y="92720"/>
                </a:lnTo>
                <a:lnTo>
                  <a:pt x="262707" y="154534"/>
                </a:lnTo>
                <a:moveTo>
                  <a:pt x="46360" y="169987"/>
                </a:moveTo>
                <a:lnTo>
                  <a:pt x="46360" y="154534"/>
                </a:lnTo>
                <a:cubicBezTo>
                  <a:pt x="46360" y="120395"/>
                  <a:pt x="74035" y="92720"/>
                  <a:pt x="108174" y="92720"/>
                </a:cubicBezTo>
                <a:lnTo>
                  <a:pt x="324521" y="92720"/>
                </a:lnTo>
                <a:moveTo>
                  <a:pt x="108174" y="339974"/>
                </a:moveTo>
                <a:lnTo>
                  <a:pt x="46360" y="278160"/>
                </a:lnTo>
                <a:lnTo>
                  <a:pt x="108174" y="216347"/>
                </a:lnTo>
                <a:moveTo>
                  <a:pt x="324521" y="200894"/>
                </a:moveTo>
                <a:lnTo>
                  <a:pt x="324521" y="216347"/>
                </a:lnTo>
                <a:cubicBezTo>
                  <a:pt x="324521" y="250486"/>
                  <a:pt x="296846" y="278160"/>
                  <a:pt x="262707" y="278160"/>
                </a:cubicBezTo>
                <a:lnTo>
                  <a:pt x="46360" y="278160"/>
                </a:lnTo>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 transacción local es la más confiable</a:t>
            </a:r>
            <a:endParaRPr lang="en-US" sz="15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Lo que cambia junto se guarda en el mismo COMMIT.</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Nunca quedan datos a medias.</a:t>
            </a:r>
            <a:endParaRPr lang="en-US" sz="135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file-code"/>
          <p:cNvSpPr/>
          <p:nvPr/>
        </p:nvSpPr>
        <p:spPr>
          <a:xfrm>
            <a:off x="4258544" y="5615285"/>
            <a:ext cx="370881" cy="370881"/>
          </a:xfrm>
          <a:custGeom>
            <a:avLst/>
            <a:gdLst/>
            <a:ahLst/>
            <a:cxnLst/>
            <a:rect l="l" t="t" r="r" b="b"/>
            <a:pathLst>
              <a:path w="370881" h="370881">
                <a:moveTo>
                  <a:pt x="154534" y="193167"/>
                </a:moveTo>
                <a:lnTo>
                  <a:pt x="123627" y="231800"/>
                </a:lnTo>
                <a:lnTo>
                  <a:pt x="154534" y="270434"/>
                </a:lnTo>
                <a:moveTo>
                  <a:pt x="216347" y="193167"/>
                </a:moveTo>
                <a:lnTo>
                  <a:pt x="247254" y="231800"/>
                </a:lnTo>
                <a:lnTo>
                  <a:pt x="216347" y="270434"/>
                </a:lnTo>
                <a:moveTo>
                  <a:pt x="216347" y="30907"/>
                </a:moveTo>
                <a:lnTo>
                  <a:pt x="216347" y="92720"/>
                </a:lnTo>
                <a:cubicBezTo>
                  <a:pt x="216347" y="109789"/>
                  <a:pt x="230184" y="123627"/>
                  <a:pt x="247254" y="123627"/>
                </a:cubicBezTo>
                <a:lnTo>
                  <a:pt x="309067" y="123627"/>
                </a:lnTo>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El esquema también es código</a:t>
            </a:r>
            <a:endParaRPr lang="en-US" sz="155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schema.sql versionado, idempotente y validado al arrancar.</a:t>
            </a:r>
            <a:endParaRPr lang="en-US" sz="11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Despliegues repetibles y errores visibles al inicio.</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Quién habla con quién, y cómo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viaja por HTTP con JSON, y cada pieza encuentra a la otra por su nombre.</a:t>
            </a:r>
            <a:endParaRPr lang="en-US" sz="1700" dirty="0"/>
          </a:p>
        </p:txBody>
      </p:sp>
      <p:sp>
        <p:nvSpPr>
          <p:cNvPr id="13" name="Shape 11"/>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4" name="Text 12"/>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CONEXIÓN</a:t>
            </a:r>
            <a:endParaRPr lang="en-US" sz="1150" dirty="0"/>
          </a:p>
        </p:txBody>
      </p:sp>
      <p:sp>
        <p:nvSpPr>
          <p:cNvPr id="15" name="Text 13"/>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HABLA</a:t>
            </a:r>
            <a:endParaRPr lang="en-US" sz="1150" dirty="0"/>
          </a:p>
        </p:txBody>
      </p:sp>
      <p:sp>
        <p:nvSpPr>
          <p:cNvPr id="16" name="Text 14"/>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ASÍ</a:t>
            </a:r>
            <a:endParaRPr lang="en-US" sz="1150" dirty="0"/>
          </a:p>
        </p:txBody>
      </p:sp>
      <p:sp>
        <p:nvSpPr>
          <p:cNvPr id="17" name="Shape 15"/>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2359152"/>
            <a:ext cx="64008" cy="546811"/>
          </a:xfrm>
          <a:prstGeom prst="rect">
            <a:avLst/>
          </a:prstGeom>
          <a:solidFill>
            <a:srgbClr val="5B3FC4"/>
          </a:solidFill>
          <a:ln w="12700">
            <a:solidFill>
              <a:srgbClr val="5B3FC4"/>
            </a:solidFill>
            <a:prstDash val="solid"/>
          </a:ln>
        </p:spPr>
      </p:sp>
      <p:sp>
        <p:nvSpPr>
          <p:cNvPr id="19" name="Shape 17"/>
          <p:cNvSpPr/>
          <p:nvPr/>
        </p:nvSpPr>
        <p:spPr>
          <a:xfrm>
            <a:off x="772668" y="2376526"/>
            <a:ext cx="512064" cy="512064"/>
          </a:xfrm>
          <a:prstGeom prst="ellipse">
            <a:avLst/>
          </a:prstGeom>
          <a:solidFill>
            <a:srgbClr val="F1EEFD"/>
          </a:solidFill>
          <a:ln w="12700">
            <a:solidFill>
              <a:srgbClr val="F1EEFD"/>
            </a:solidFill>
            <a:prstDash val="solid"/>
          </a:ln>
        </p:spPr>
      </p:sp>
      <p:sp>
        <p:nvSpPr>
          <p:cNvPr id="20" name="Icono monitor"/>
          <p:cNvSpPr/>
          <p:nvPr/>
        </p:nvSpPr>
        <p:spPr>
          <a:xfrm>
            <a:off x="895563" y="2499421"/>
            <a:ext cx="266273" cy="266273"/>
          </a:xfrm>
          <a:custGeom>
            <a:avLst/>
            <a:gdLst/>
            <a:ahLst/>
            <a:cxnLst/>
            <a:rect l="l" t="t" r="r" b="b"/>
            <a:pathLst>
              <a:path w="266273" h="266273">
                <a:moveTo>
                  <a:pt x="44379" y="33284"/>
                </a:moveTo>
                <a:lnTo>
                  <a:pt x="221894" y="33284"/>
                </a:lnTo>
                <a:cubicBezTo>
                  <a:pt x="234149" y="33284"/>
                  <a:pt x="244084" y="43219"/>
                  <a:pt x="244084" y="55474"/>
                </a:cubicBezTo>
                <a:lnTo>
                  <a:pt x="244084" y="166421"/>
                </a:lnTo>
                <a:cubicBezTo>
                  <a:pt x="244084" y="178676"/>
                  <a:pt x="234149" y="188610"/>
                  <a:pt x="221894" y="188610"/>
                </a:cubicBezTo>
                <a:lnTo>
                  <a:pt x="44379" y="188610"/>
                </a:lnTo>
                <a:cubicBezTo>
                  <a:pt x="32124" y="188610"/>
                  <a:pt x="22189" y="178676"/>
                  <a:pt x="22189" y="166421"/>
                </a:cubicBezTo>
                <a:lnTo>
                  <a:pt x="22189" y="55474"/>
                </a:lnTo>
                <a:cubicBezTo>
                  <a:pt x="22189" y="43219"/>
                  <a:pt x="32124" y="33284"/>
                  <a:pt x="44379" y="33284"/>
                </a:cubicBezTo>
                <a:close/>
                <a:moveTo>
                  <a:pt x="88758" y="232989"/>
                </a:moveTo>
                <a:lnTo>
                  <a:pt x="177516" y="232989"/>
                </a:lnTo>
                <a:moveTo>
                  <a:pt x="133137" y="188610"/>
                </a:moveTo>
                <a:lnTo>
                  <a:pt x="133137" y="232989"/>
                </a:lnTo>
              </a:path>
            </a:pathLst>
          </a:custGeom>
          <a:noFill/>
          <a:ln w="22189" cap="rnd">
            <a:solidFill>
              <a:srgbClr val="5B3FC4"/>
            </a:solidFill>
            <a:prstDash val="solid"/>
            <a:round/>
          </a:ln>
        </p:spPr>
      </p:sp>
      <p:sp>
        <p:nvSpPr>
          <p:cNvPr id="21" name="Text 19"/>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Navegador → UI</a:t>
            </a:r>
            <a:endParaRPr lang="en-US" sz="1500" dirty="0"/>
          </a:p>
        </p:txBody>
      </p:sp>
      <p:sp>
        <p:nvSpPr>
          <p:cNvPr id="22" name="Shape 20"/>
          <p:cNvSpPr/>
          <p:nvPr/>
        </p:nvSpPr>
        <p:spPr>
          <a:xfrm>
            <a:off x="4140961" y="2395728"/>
            <a:ext cx="0" cy="473659"/>
          </a:xfrm>
          <a:prstGeom prst="line">
            <a:avLst/>
          </a:prstGeom>
          <a:noFill/>
          <a:ln w="9525">
            <a:solidFill>
              <a:srgbClr val="DFE6F0"/>
            </a:solidFill>
            <a:prstDash val="solid"/>
          </a:ln>
        </p:spPr>
      </p:sp>
      <p:sp>
        <p:nvSpPr>
          <p:cNvPr id="23" name="Text 21"/>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HTTP a localhost:8088; nginx sirve la página</a:t>
            </a:r>
            <a:endParaRPr lang="en-US" sz="1400" dirty="0"/>
          </a:p>
        </p:txBody>
      </p:sp>
      <p:sp>
        <p:nvSpPr>
          <p:cNvPr id="24" name="Shape 22"/>
          <p:cNvSpPr/>
          <p:nvPr/>
        </p:nvSpPr>
        <p:spPr>
          <a:xfrm>
            <a:off x="8114733" y="2395728"/>
            <a:ext cx="0" cy="473659"/>
          </a:xfrm>
          <a:prstGeom prst="line">
            <a:avLst/>
          </a:prstGeom>
          <a:noFill/>
          <a:ln w="9525">
            <a:solidFill>
              <a:srgbClr val="DFE6F0"/>
            </a:solidFill>
            <a:prstDash val="solid"/>
          </a:ln>
        </p:spPr>
      </p:sp>
      <p:sp>
        <p:nvSpPr>
          <p:cNvPr id="25" name="Text 23"/>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navegador nunca conoce las direcciones internas</a:t>
            </a:r>
            <a:endParaRPr lang="en-US" sz="1400" dirty="0"/>
          </a:p>
        </p:txBody>
      </p:sp>
      <p:sp>
        <p:nvSpPr>
          <p:cNvPr id="26"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p1] Forma"/>
          <p:cNvSpPr/>
          <p:nvPr/>
        </p:nvSpPr>
        <p:spPr>
          <a:xfrm>
            <a:off x="612648" y="3198571"/>
            <a:ext cx="64008" cy="546811"/>
          </a:xfrm>
          <a:prstGeom prst="rect">
            <a:avLst/>
          </a:prstGeom>
          <a:solidFill>
            <a:srgbClr val="5B3FC4"/>
          </a:solidFill>
          <a:ln w="12700">
            <a:solidFill>
              <a:srgbClr val="5B3FC4"/>
            </a:solidFill>
            <a:prstDash val="solid"/>
          </a:ln>
        </p:spPr>
      </p:sp>
      <p:sp>
        <p:nvSpPr>
          <p:cNvPr id="28" name="[p1] Forma"/>
          <p:cNvSpPr/>
          <p:nvPr/>
        </p:nvSpPr>
        <p:spPr>
          <a:xfrm>
            <a:off x="772668" y="3215945"/>
            <a:ext cx="512064" cy="512064"/>
          </a:xfrm>
          <a:prstGeom prst="ellipse">
            <a:avLst/>
          </a:prstGeom>
          <a:solidFill>
            <a:srgbClr val="F1EEFD"/>
          </a:solidFill>
          <a:ln w="12700">
            <a:solidFill>
              <a:srgbClr val="F1EEFD"/>
            </a:solidFill>
            <a:prstDash val="solid"/>
          </a:ln>
        </p:spPr>
      </p:sp>
      <p:sp>
        <p:nvSpPr>
          <p:cNvPr id="29" name="[p1] Icono route"/>
          <p:cNvSpPr/>
          <p:nvPr/>
        </p:nvSpPr>
        <p:spPr>
          <a:xfrm>
            <a:off x="895563" y="3338840"/>
            <a:ext cx="266273" cy="266273"/>
          </a:xfrm>
          <a:custGeom>
            <a:avLst/>
            <a:gdLst/>
            <a:ahLst/>
            <a:cxnLst/>
            <a:rect l="l" t="t" r="r" b="b"/>
            <a:pathLst>
              <a:path w="266273" h="266273">
                <a:moveTo>
                  <a:pt x="99852" y="210800"/>
                </a:moveTo>
                <a:cubicBezTo>
                  <a:pt x="99852" y="229182"/>
                  <a:pt x="84951" y="244084"/>
                  <a:pt x="66568" y="244084"/>
                </a:cubicBezTo>
                <a:cubicBezTo>
                  <a:pt x="48186" y="244084"/>
                  <a:pt x="33284" y="229182"/>
                  <a:pt x="33284" y="210800"/>
                </a:cubicBezTo>
                <a:cubicBezTo>
                  <a:pt x="33284" y="192417"/>
                  <a:pt x="48186" y="177516"/>
                  <a:pt x="66568" y="177516"/>
                </a:cubicBezTo>
                <a:cubicBezTo>
                  <a:pt x="84951" y="177516"/>
                  <a:pt x="99852" y="192417"/>
                  <a:pt x="99852" y="210800"/>
                </a:cubicBezTo>
                <a:close/>
                <a:moveTo>
                  <a:pt x="99852" y="210800"/>
                </a:moveTo>
                <a:lnTo>
                  <a:pt x="194158" y="210800"/>
                </a:lnTo>
                <a:cubicBezTo>
                  <a:pt x="215604" y="210800"/>
                  <a:pt x="232989" y="193414"/>
                  <a:pt x="232989" y="171968"/>
                </a:cubicBezTo>
                <a:cubicBezTo>
                  <a:pt x="232989" y="150522"/>
                  <a:pt x="215604" y="133137"/>
                  <a:pt x="194158" y="133137"/>
                </a:cubicBezTo>
                <a:lnTo>
                  <a:pt x="72116" y="133137"/>
                </a:lnTo>
                <a:cubicBezTo>
                  <a:pt x="50670" y="133137"/>
                  <a:pt x="33284" y="115751"/>
                  <a:pt x="33284" y="94305"/>
                </a:cubicBezTo>
                <a:cubicBezTo>
                  <a:pt x="33284" y="72859"/>
                  <a:pt x="50670" y="55474"/>
                  <a:pt x="72116" y="55474"/>
                </a:cubicBezTo>
                <a:lnTo>
                  <a:pt x="166421" y="55474"/>
                </a:lnTo>
                <a:moveTo>
                  <a:pt x="232989" y="55474"/>
                </a:moveTo>
                <a:cubicBezTo>
                  <a:pt x="232989" y="73856"/>
                  <a:pt x="218087" y="88758"/>
                  <a:pt x="199705" y="88758"/>
                </a:cubicBezTo>
                <a:cubicBezTo>
                  <a:pt x="181323" y="88758"/>
                  <a:pt x="166421" y="73856"/>
                  <a:pt x="166421" y="55474"/>
                </a:cubicBezTo>
                <a:cubicBezTo>
                  <a:pt x="166421" y="37091"/>
                  <a:pt x="181323" y="22189"/>
                  <a:pt x="199705" y="22189"/>
                </a:cubicBezTo>
                <a:cubicBezTo>
                  <a:pt x="218087" y="22189"/>
                  <a:pt x="232989" y="37091"/>
                  <a:pt x="232989" y="55474"/>
                </a:cubicBezTo>
                <a:close/>
              </a:path>
            </a:pathLst>
          </a:custGeom>
          <a:noFill/>
          <a:ln w="22189" cap="rnd">
            <a:solidFill>
              <a:srgbClr val="5B3FC4"/>
            </a:solidFill>
            <a:prstDash val="solid"/>
            <a:round/>
          </a:ln>
        </p:spPr>
      </p:sp>
      <p:sp>
        <p:nvSpPr>
          <p:cNvPr id="30"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UI → servicios</a:t>
            </a:r>
            <a:endParaRPr lang="en-US" sz="1500" dirty="0"/>
          </a:p>
        </p:txBody>
      </p:sp>
      <p:sp>
        <p:nvSpPr>
          <p:cNvPr id="31" name="[p1] Forma"/>
          <p:cNvSpPr/>
          <p:nvPr/>
        </p:nvSpPr>
        <p:spPr>
          <a:xfrm>
            <a:off x="4140961" y="3235147"/>
            <a:ext cx="0" cy="473659"/>
          </a:xfrm>
          <a:prstGeom prst="line">
            <a:avLst/>
          </a:prstGeom>
          <a:noFill/>
          <a:ln w="9525">
            <a:solidFill>
              <a:srgbClr val="DFE6F0"/>
            </a:solidFill>
            <a:prstDash val="solid"/>
          </a:ln>
        </p:spPr>
      </p:sp>
      <p:sp>
        <p:nvSpPr>
          <p:cNvPr id="32"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nginx reenvía /api/solicitudes y /api/notificaciones</a:t>
            </a:r>
            <a:endParaRPr lang="en-US" sz="1400" dirty="0"/>
          </a:p>
        </p:txBody>
      </p:sp>
      <p:sp>
        <p:nvSpPr>
          <p:cNvPr id="33" name="[p1] Forma"/>
          <p:cNvSpPr/>
          <p:nvPr/>
        </p:nvSpPr>
        <p:spPr>
          <a:xfrm>
            <a:off x="8114733" y="3235147"/>
            <a:ext cx="0" cy="473659"/>
          </a:xfrm>
          <a:prstGeom prst="line">
            <a:avLst/>
          </a:prstGeom>
          <a:noFill/>
          <a:ln w="9525">
            <a:solidFill>
              <a:srgbClr val="DFE6F0"/>
            </a:solidFill>
            <a:prstDash val="solid"/>
          </a:ln>
        </p:spPr>
      </p:sp>
      <p:sp>
        <p:nvSpPr>
          <p:cNvPr id="34"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una dirección no obliga a tocar la UI</a:t>
            </a:r>
            <a:endParaRPr lang="en-US" sz="1400" dirty="0"/>
          </a:p>
        </p:txBody>
      </p:sp>
      <p:sp>
        <p:nvSpPr>
          <p:cNvPr id="35"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7"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8" name="[p2] Icono send"/>
          <p:cNvSpPr/>
          <p:nvPr/>
        </p:nvSpPr>
        <p:spPr>
          <a:xfrm>
            <a:off x="895563" y="4178259"/>
            <a:ext cx="266273" cy="266273"/>
          </a:xfrm>
          <a:custGeom>
            <a:avLst/>
            <a:gdLst/>
            <a:ahLst/>
            <a:cxnLst/>
            <a:rect l="l" t="t" r="r" b="b"/>
            <a:pathLst>
              <a:path w="266273" h="266273">
                <a:moveTo>
                  <a:pt x="161273" y="240600"/>
                </a:moveTo>
                <a:cubicBezTo>
                  <a:pt x="162136" y="242751"/>
                  <a:pt x="164246" y="244139"/>
                  <a:pt x="166563" y="244080"/>
                </a:cubicBezTo>
                <a:cubicBezTo>
                  <a:pt x="168881" y="244021"/>
                  <a:pt x="170917" y="242527"/>
                  <a:pt x="171669" y="240334"/>
                </a:cubicBezTo>
                <a:lnTo>
                  <a:pt x="243784" y="29534"/>
                </a:lnTo>
                <a:cubicBezTo>
                  <a:pt x="244509" y="27527"/>
                  <a:pt x="244009" y="25282"/>
                  <a:pt x="242500" y="23774"/>
                </a:cubicBezTo>
                <a:cubicBezTo>
                  <a:pt x="240991" y="22265"/>
                  <a:pt x="238746" y="21764"/>
                  <a:pt x="236739" y="22489"/>
                </a:cubicBezTo>
                <a:lnTo>
                  <a:pt x="25939" y="94605"/>
                </a:lnTo>
                <a:cubicBezTo>
                  <a:pt x="23747" y="95357"/>
                  <a:pt x="22253" y="97393"/>
                  <a:pt x="22193" y="99710"/>
                </a:cubicBezTo>
                <a:cubicBezTo>
                  <a:pt x="22134" y="102027"/>
                  <a:pt x="23522" y="104137"/>
                  <a:pt x="25673" y="105000"/>
                </a:cubicBezTo>
                <a:lnTo>
                  <a:pt x="113654" y="140282"/>
                </a:lnTo>
                <a:cubicBezTo>
                  <a:pt x="119275" y="142532"/>
                  <a:pt x="123731" y="146981"/>
                  <a:pt x="125992" y="152597"/>
                </a:cubicBezTo>
                <a:close/>
                <a:moveTo>
                  <a:pt x="242464" y="23820"/>
                </a:moveTo>
                <a:lnTo>
                  <a:pt x="121088" y="145186"/>
                </a:lnTo>
              </a:path>
            </a:pathLst>
          </a:custGeom>
          <a:noFill/>
          <a:ln w="22189" cap="rnd">
            <a:solidFill>
              <a:srgbClr val="0B6E8A"/>
            </a:solidFill>
            <a:prstDash val="solid"/>
            <a:round/>
          </a:ln>
        </p:spPr>
      </p:sp>
      <p:sp>
        <p:nvSpPr>
          <p:cNvPr id="39"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solicitudes → notificaciones</a:t>
            </a:r>
            <a:endParaRPr lang="en-US" sz="1500" dirty="0"/>
          </a:p>
        </p:txBody>
      </p:sp>
      <p:sp>
        <p:nvSpPr>
          <p:cNvPr id="40" name="[p2] Forma"/>
          <p:cNvSpPr/>
          <p:nvPr/>
        </p:nvSpPr>
        <p:spPr>
          <a:xfrm>
            <a:off x="4140961" y="4074566"/>
            <a:ext cx="0" cy="473659"/>
          </a:xfrm>
          <a:prstGeom prst="line">
            <a:avLst/>
          </a:prstGeom>
          <a:noFill/>
          <a:ln w="9525">
            <a:solidFill>
              <a:srgbClr val="DFE6F0"/>
            </a:solidFill>
            <a:prstDash val="solid"/>
          </a:ln>
        </p:spPr>
      </p:sp>
      <p:sp>
        <p:nvSpPr>
          <p:cNvPr id="41"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POST del evento SolicitudEnviada en JSON, desde el relevador</a:t>
            </a:r>
            <a:endParaRPr lang="en-US" sz="1400" dirty="0"/>
          </a:p>
        </p:txBody>
      </p:sp>
      <p:sp>
        <p:nvSpPr>
          <p:cNvPr id="42" name="[p2] Forma"/>
          <p:cNvSpPr/>
          <p:nvPr/>
        </p:nvSpPr>
        <p:spPr>
          <a:xfrm>
            <a:off x="8114733" y="4074566"/>
            <a:ext cx="0" cy="473659"/>
          </a:xfrm>
          <a:prstGeom prst="line">
            <a:avLst/>
          </a:prstGeom>
          <a:noFill/>
          <a:ln w="9525">
            <a:solidFill>
              <a:srgbClr val="DFE6F0"/>
            </a:solidFill>
            <a:prstDash val="solid"/>
          </a:ln>
        </p:spPr>
      </p:sp>
      <p:sp>
        <p:nvSpPr>
          <p:cNvPr id="43"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 notificaciones cae, solicitudes sigue funcionando</a:t>
            </a:r>
            <a:endParaRPr lang="en-US" sz="1400" dirty="0"/>
          </a:p>
        </p:txBody>
      </p:sp>
      <p:sp>
        <p:nvSpPr>
          <p:cNvPr id="44"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5" name="[p3] Forma"/>
          <p:cNvSpPr/>
          <p:nvPr/>
        </p:nvSpPr>
        <p:spPr>
          <a:xfrm>
            <a:off x="612648" y="4877410"/>
            <a:ext cx="64008" cy="546811"/>
          </a:xfrm>
          <a:prstGeom prst="rect">
            <a:avLst/>
          </a:prstGeom>
          <a:solidFill>
            <a:srgbClr val="0A6648"/>
          </a:solidFill>
          <a:ln w="12700">
            <a:solidFill>
              <a:srgbClr val="0A6648"/>
            </a:solidFill>
            <a:prstDash val="solid"/>
          </a:ln>
        </p:spPr>
      </p:sp>
      <p:sp>
        <p:nvSpPr>
          <p:cNvPr id="46" name="[p3] Forma"/>
          <p:cNvSpPr/>
          <p:nvPr/>
        </p:nvSpPr>
        <p:spPr>
          <a:xfrm>
            <a:off x="772668" y="4894783"/>
            <a:ext cx="512064" cy="512064"/>
          </a:xfrm>
          <a:prstGeom prst="ellipse">
            <a:avLst/>
          </a:prstGeom>
          <a:solidFill>
            <a:srgbClr val="E1F1EA"/>
          </a:solidFill>
          <a:ln w="12700">
            <a:solidFill>
              <a:srgbClr val="E1F1EA"/>
            </a:solidFill>
            <a:prstDash val="solid"/>
          </a:ln>
        </p:spPr>
      </p:sp>
      <p:sp>
        <p:nvSpPr>
          <p:cNvPr id="47" name="[p3] Icono network"/>
          <p:cNvSpPr/>
          <p:nvPr/>
        </p:nvSpPr>
        <p:spPr>
          <a:xfrm>
            <a:off x="895563" y="5017679"/>
            <a:ext cx="266273" cy="266273"/>
          </a:xfrm>
          <a:custGeom>
            <a:avLst/>
            <a:gdLst/>
            <a:ahLst/>
            <a:cxnLst/>
            <a:rect l="l" t="t" r="r" b="b"/>
            <a:pathLst>
              <a:path w="266273" h="266273">
                <a:moveTo>
                  <a:pt x="188610" y="177516"/>
                </a:moveTo>
                <a:lnTo>
                  <a:pt x="232989" y="177516"/>
                </a:lnTo>
                <a:cubicBezTo>
                  <a:pt x="239117" y="177516"/>
                  <a:pt x="244084" y="182483"/>
                  <a:pt x="244084" y="188610"/>
                </a:cubicBezTo>
                <a:lnTo>
                  <a:pt x="244084" y="232989"/>
                </a:lnTo>
                <a:cubicBezTo>
                  <a:pt x="244084" y="239117"/>
                  <a:pt x="239117" y="244084"/>
                  <a:pt x="232989" y="244084"/>
                </a:cubicBezTo>
                <a:lnTo>
                  <a:pt x="188610" y="244084"/>
                </a:lnTo>
                <a:cubicBezTo>
                  <a:pt x="182483" y="244084"/>
                  <a:pt x="177516" y="239117"/>
                  <a:pt x="177516" y="232989"/>
                </a:cubicBezTo>
                <a:lnTo>
                  <a:pt x="177516" y="188610"/>
                </a:lnTo>
                <a:cubicBezTo>
                  <a:pt x="177516" y="182483"/>
                  <a:pt x="182483" y="177516"/>
                  <a:pt x="188610" y="177516"/>
                </a:cubicBezTo>
                <a:close/>
                <a:moveTo>
                  <a:pt x="33284" y="177516"/>
                </a:moveTo>
                <a:lnTo>
                  <a:pt x="77663" y="177516"/>
                </a:lnTo>
                <a:cubicBezTo>
                  <a:pt x="83790" y="177516"/>
                  <a:pt x="88758" y="182483"/>
                  <a:pt x="88758" y="188610"/>
                </a:cubicBezTo>
                <a:lnTo>
                  <a:pt x="88758" y="232989"/>
                </a:lnTo>
                <a:cubicBezTo>
                  <a:pt x="88758" y="239117"/>
                  <a:pt x="83790" y="244084"/>
                  <a:pt x="77663" y="244084"/>
                </a:cubicBezTo>
                <a:lnTo>
                  <a:pt x="33284" y="244084"/>
                </a:lnTo>
                <a:cubicBezTo>
                  <a:pt x="27157" y="244084"/>
                  <a:pt x="22189" y="239117"/>
                  <a:pt x="22189" y="232989"/>
                </a:cubicBezTo>
                <a:lnTo>
                  <a:pt x="22189" y="188610"/>
                </a:lnTo>
                <a:cubicBezTo>
                  <a:pt x="22189" y="182483"/>
                  <a:pt x="27157" y="177516"/>
                  <a:pt x="33284" y="177516"/>
                </a:cubicBezTo>
                <a:close/>
                <a:moveTo>
                  <a:pt x="110947" y="22189"/>
                </a:moveTo>
                <a:lnTo>
                  <a:pt x="155326" y="22189"/>
                </a:lnTo>
                <a:cubicBezTo>
                  <a:pt x="161454" y="22189"/>
                  <a:pt x="166421" y="27157"/>
                  <a:pt x="166421" y="33284"/>
                </a:cubicBezTo>
                <a:lnTo>
                  <a:pt x="166421" y="77663"/>
                </a:lnTo>
                <a:cubicBezTo>
                  <a:pt x="166421" y="83790"/>
                  <a:pt x="161454" y="88758"/>
                  <a:pt x="155326" y="88758"/>
                </a:cubicBezTo>
                <a:lnTo>
                  <a:pt x="110947" y="88758"/>
                </a:lnTo>
                <a:cubicBezTo>
                  <a:pt x="104820" y="88758"/>
                  <a:pt x="99852" y="83790"/>
                  <a:pt x="99852" y="77663"/>
                </a:cubicBezTo>
                <a:lnTo>
                  <a:pt x="99852" y="33284"/>
                </a:lnTo>
                <a:cubicBezTo>
                  <a:pt x="99852" y="27157"/>
                  <a:pt x="104820" y="22189"/>
                  <a:pt x="110947" y="22189"/>
                </a:cubicBezTo>
                <a:close/>
                <a:moveTo>
                  <a:pt x="55474" y="177516"/>
                </a:moveTo>
                <a:lnTo>
                  <a:pt x="55474" y="144231"/>
                </a:lnTo>
                <a:cubicBezTo>
                  <a:pt x="55474" y="138104"/>
                  <a:pt x="60441" y="133137"/>
                  <a:pt x="66568" y="133137"/>
                </a:cubicBezTo>
                <a:lnTo>
                  <a:pt x="199705" y="133137"/>
                </a:lnTo>
                <a:cubicBezTo>
                  <a:pt x="205832" y="133137"/>
                  <a:pt x="210800" y="138104"/>
                  <a:pt x="210800" y="144231"/>
                </a:cubicBezTo>
                <a:lnTo>
                  <a:pt x="210800" y="177516"/>
                </a:lnTo>
                <a:moveTo>
                  <a:pt x="133137" y="133137"/>
                </a:moveTo>
                <a:lnTo>
                  <a:pt x="133137" y="88758"/>
                </a:lnTo>
              </a:path>
            </a:pathLst>
          </a:custGeom>
          <a:noFill/>
          <a:ln w="22189" cap="rnd">
            <a:solidFill>
              <a:srgbClr val="0A6648"/>
            </a:solidFill>
            <a:prstDash val="solid"/>
            <a:round/>
          </a:ln>
        </p:spPr>
      </p:sp>
      <p:sp>
        <p:nvSpPr>
          <p:cNvPr id="48"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Cómo se encuentran</a:t>
            </a:r>
            <a:endParaRPr lang="en-US" sz="1500" dirty="0"/>
          </a:p>
        </p:txBody>
      </p:sp>
      <p:sp>
        <p:nvSpPr>
          <p:cNvPr id="49" name="[p3] Forma"/>
          <p:cNvSpPr/>
          <p:nvPr/>
        </p:nvSpPr>
        <p:spPr>
          <a:xfrm>
            <a:off x="4140961" y="4913986"/>
            <a:ext cx="0" cy="473659"/>
          </a:xfrm>
          <a:prstGeom prst="line">
            <a:avLst/>
          </a:prstGeom>
          <a:noFill/>
          <a:ln w="9525">
            <a:solidFill>
              <a:srgbClr val="DFE6F0"/>
            </a:solidFill>
            <a:prstDash val="solid"/>
          </a:ln>
        </p:spPr>
      </p:sp>
      <p:sp>
        <p:nvSpPr>
          <p:cNvPr id="50"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Por nombre: la red de Compose o un Service de Kubernetes</a:t>
            </a:r>
            <a:endParaRPr lang="en-US" sz="1400" dirty="0"/>
          </a:p>
        </p:txBody>
      </p:sp>
      <p:sp>
        <p:nvSpPr>
          <p:cNvPr id="51" name="[p3] Forma"/>
          <p:cNvSpPr/>
          <p:nvPr/>
        </p:nvSpPr>
        <p:spPr>
          <a:xfrm>
            <a:off x="8114733" y="4913986"/>
            <a:ext cx="0" cy="473659"/>
          </a:xfrm>
          <a:prstGeom prst="line">
            <a:avLst/>
          </a:prstGeom>
          <a:noFill/>
          <a:ln w="9525">
            <a:solidFill>
              <a:srgbClr val="DFE6F0"/>
            </a:solidFill>
            <a:prstDash val="solid"/>
          </a:ln>
        </p:spPr>
      </p:sp>
      <p:sp>
        <p:nvSpPr>
          <p:cNvPr id="52"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IPs fijas: funciona igual en cualquier ambiente</a:t>
            </a:r>
            <a:endParaRPr lang="en-US" sz="1400" dirty="0"/>
          </a:p>
        </p:txBody>
      </p:sp>
      <p:sp>
        <p:nvSpPr>
          <p:cNvPr id="53"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p4] Forma"/>
          <p:cNvSpPr/>
          <p:nvPr/>
        </p:nvSpPr>
        <p:spPr>
          <a:xfrm>
            <a:off x="612648" y="5716829"/>
            <a:ext cx="64008" cy="546811"/>
          </a:xfrm>
          <a:prstGeom prst="rect">
            <a:avLst/>
          </a:prstGeom>
          <a:solidFill>
            <a:srgbClr val="8A4B06"/>
          </a:solidFill>
          <a:ln w="12700">
            <a:solidFill>
              <a:srgbClr val="8A4B06"/>
            </a:solidFill>
            <a:prstDash val="solid"/>
          </a:ln>
        </p:spPr>
      </p:sp>
      <p:sp>
        <p:nvSpPr>
          <p:cNvPr id="55" name="[p4] Forma"/>
          <p:cNvSpPr/>
          <p:nvPr/>
        </p:nvSpPr>
        <p:spPr>
          <a:xfrm>
            <a:off x="772668" y="5734202"/>
            <a:ext cx="512064" cy="512064"/>
          </a:xfrm>
          <a:prstGeom prst="ellipse">
            <a:avLst/>
          </a:prstGeom>
          <a:solidFill>
            <a:srgbClr val="FCEFD6"/>
          </a:solidFill>
          <a:ln w="12700">
            <a:solidFill>
              <a:srgbClr val="FCEFD6"/>
            </a:solidFill>
            <a:prstDash val="solid"/>
          </a:ln>
        </p:spPr>
      </p:sp>
      <p:sp>
        <p:nvSpPr>
          <p:cNvPr id="56" name="[p4] Icono waypoints"/>
          <p:cNvSpPr/>
          <p:nvPr/>
        </p:nvSpPr>
        <p:spPr>
          <a:xfrm>
            <a:off x="895563" y="5857098"/>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57"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Seguimiento</a:t>
            </a:r>
            <a:endParaRPr lang="en-US" sz="1500" dirty="0"/>
          </a:p>
        </p:txBody>
      </p:sp>
      <p:sp>
        <p:nvSpPr>
          <p:cNvPr id="58" name="[p4] Forma"/>
          <p:cNvSpPr/>
          <p:nvPr/>
        </p:nvSpPr>
        <p:spPr>
          <a:xfrm>
            <a:off x="4140961" y="5753405"/>
            <a:ext cx="0" cy="473659"/>
          </a:xfrm>
          <a:prstGeom prst="line">
            <a:avLst/>
          </a:prstGeom>
          <a:noFill/>
          <a:ln w="9525">
            <a:solidFill>
              <a:srgbClr val="DFE6F0"/>
            </a:solidFill>
            <a:prstDash val="solid"/>
          </a:ln>
        </p:spPr>
      </p:sp>
      <p:sp>
        <p:nvSpPr>
          <p:cNvPr id="59"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traceId viaja en la cabecera de cada llamada HTTP</a:t>
            </a:r>
            <a:endParaRPr lang="en-US" sz="1400" dirty="0"/>
          </a:p>
        </p:txBody>
      </p:sp>
      <p:sp>
        <p:nvSpPr>
          <p:cNvPr id="60" name="[p4] Forma"/>
          <p:cNvSpPr/>
          <p:nvPr/>
        </p:nvSpPr>
        <p:spPr>
          <a:xfrm>
            <a:off x="8114733" y="5753405"/>
            <a:ext cx="0" cy="473659"/>
          </a:xfrm>
          <a:prstGeom prst="line">
            <a:avLst/>
          </a:prstGeom>
          <a:noFill/>
          <a:ln w="9525">
            <a:solidFill>
              <a:srgbClr val="DFE6F0"/>
            </a:solidFill>
            <a:prstDash val="solid"/>
          </a:ln>
        </p:spPr>
      </p:sp>
      <p:sp>
        <p:nvSpPr>
          <p:cNvPr id="61"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sola búsqueda en Grafana sigue todo el recorrido</a:t>
            </a:r>
            <a:endParaRPr lang="en-US" sz="1400" dirty="0"/>
          </a:p>
        </p:txBody>
      </p:sp>
      <p:sp>
        <p:nvSpPr>
          <p:cNvPr id="62" name="Text 6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00"/>
                                        <p:tgtEl>
                                          <p:spTgt spid="34"/>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400"/>
                                        <p:tgtEl>
                                          <p:spTgt spid="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400"/>
                                        <p:tgtEl>
                                          <p:spTgt spid="3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400"/>
                                        <p:tgtEl>
                                          <p:spTgt spid="3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40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40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400"/>
                                        <p:tgtEl>
                                          <p:spTgt spid="4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400"/>
                                        <p:tgtEl>
                                          <p:spTgt spid="43"/>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400"/>
                                        <p:tgtEl>
                                          <p:spTgt spid="4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400"/>
                                        <p:tgtEl>
                                          <p:spTgt spid="4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400"/>
                                        <p:tgtEl>
                                          <p:spTgt spid="4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400"/>
                                        <p:tgtEl>
                                          <p:spTgt spid="4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4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400"/>
                                        <p:tgtEl>
                                          <p:spTgt spid="4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400"/>
                                        <p:tgtEl>
                                          <p:spTgt spid="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400"/>
                                        <p:tgtEl>
                                          <p:spTgt spid="5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400"/>
                                        <p:tgtEl>
                                          <p:spTgt spid="52"/>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400"/>
                                        <p:tgtEl>
                                          <p:spTgt spid="5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fade">
                                      <p:cBhvr>
                                        <p:cTn id="95" dur="400"/>
                                        <p:tgtEl>
                                          <p:spTgt spid="5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5"/>
                                        </p:tgtEl>
                                        <p:attrNameLst>
                                          <p:attrName>style.visibility</p:attrName>
                                        </p:attrNameLst>
                                      </p:cBhvr>
                                      <p:to>
                                        <p:strVal val="visible"/>
                                      </p:to>
                                    </p:set>
                                    <p:animEffect transition="in" filter="fade">
                                      <p:cBhvr>
                                        <p:cTn id="98" dur="400"/>
                                        <p:tgtEl>
                                          <p:spTgt spid="5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6"/>
                                        </p:tgtEl>
                                        <p:attrNameLst>
                                          <p:attrName>style.visibility</p:attrName>
                                        </p:attrNameLst>
                                      </p:cBhvr>
                                      <p:to>
                                        <p:strVal val="visible"/>
                                      </p:to>
                                    </p:set>
                                    <p:animEffect transition="in" filter="fade">
                                      <p:cBhvr>
                                        <p:cTn id="101" dur="400"/>
                                        <p:tgtEl>
                                          <p:spTgt spid="5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7"/>
                                        </p:tgtEl>
                                        <p:attrNameLst>
                                          <p:attrName>style.visibility</p:attrName>
                                        </p:attrNameLst>
                                      </p:cBhvr>
                                      <p:to>
                                        <p:strVal val="visible"/>
                                      </p:to>
                                    </p:set>
                                    <p:animEffect transition="in" filter="fade">
                                      <p:cBhvr>
                                        <p:cTn id="104" dur="400"/>
                                        <p:tgtEl>
                                          <p:spTgt spid="5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8"/>
                                        </p:tgtEl>
                                        <p:attrNameLst>
                                          <p:attrName>style.visibility</p:attrName>
                                        </p:attrNameLst>
                                      </p:cBhvr>
                                      <p:to>
                                        <p:strVal val="visible"/>
                                      </p:to>
                                    </p:set>
                                    <p:animEffect transition="in" filter="fade">
                                      <p:cBhvr>
                                        <p:cTn id="107" dur="400"/>
                                        <p:tgtEl>
                                          <p:spTgt spid="5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9"/>
                                        </p:tgtEl>
                                        <p:attrNameLst>
                                          <p:attrName>style.visibility</p:attrName>
                                        </p:attrNameLst>
                                      </p:cBhvr>
                                      <p:to>
                                        <p:strVal val="visible"/>
                                      </p:to>
                                    </p:set>
                                    <p:animEffect transition="in" filter="fade">
                                      <p:cBhvr>
                                        <p:cTn id="110" dur="400"/>
                                        <p:tgtEl>
                                          <p:spTgt spid="59"/>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0"/>
                                        </p:tgtEl>
                                        <p:attrNameLst>
                                          <p:attrName>style.visibility</p:attrName>
                                        </p:attrNameLst>
                                      </p:cBhvr>
                                      <p:to>
                                        <p:strVal val="visible"/>
                                      </p:to>
                                    </p:set>
                                    <p:animEffect transition="in" filter="fade">
                                      <p:cBhvr>
                                        <p:cTn id="113" dur="400"/>
                                        <p:tgtEl>
                                          <p:spTgt spid="6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1"/>
                                        </p:tgtEl>
                                        <p:attrNameLst>
                                          <p:attrName>style.visibility</p:attrName>
                                        </p:attrNameLst>
                                      </p:cBhvr>
                                      <p:to>
                                        <p:strVal val="visible"/>
                                      </p:to>
                                    </p:set>
                                    <p:animEffect transition="in" filter="fade">
                                      <p:cBhvr>
                                        <p:cTn id="116"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Síncrono o asíncrono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que la persona necesita ver se responde ya; lo que puede esperar se avisa después.</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Síncrono es una llamada: me quedo en la línea hasta que me responden. Asíncrono es un correo: lo envío y sigo con lo mío.</a:t>
            </a:r>
            <a:endParaRPr lang="en-US" sz="1450" dirty="0"/>
          </a:p>
        </p:txBody>
      </p:sp>
      <p:sp>
        <p:nvSpPr>
          <p:cNvPr id="17" name="Shape 15"/>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1719072"/>
            <a:ext cx="5163160" cy="914400"/>
          </a:xfrm>
          <a:prstGeom prst="roundRect">
            <a:avLst>
              <a:gd name="adj" fmla="val 14000"/>
            </a:avLst>
          </a:prstGeom>
          <a:solidFill>
            <a:srgbClr val="0B2350"/>
          </a:solidFill>
          <a:ln w="12700">
            <a:solidFill>
              <a:srgbClr val="0B2350"/>
            </a:solidFill>
            <a:prstDash val="solid"/>
          </a:ln>
        </p:spPr>
      </p:sp>
      <p:sp>
        <p:nvSpPr>
          <p:cNvPr id="19" name="Shape 17"/>
          <p:cNvSpPr/>
          <p:nvPr/>
        </p:nvSpPr>
        <p:spPr>
          <a:xfrm>
            <a:off x="612648" y="2267712"/>
            <a:ext cx="5163160" cy="365760"/>
          </a:xfrm>
          <a:prstGeom prst="rect">
            <a:avLst/>
          </a:prstGeom>
          <a:solidFill>
            <a:srgbClr val="0B2350"/>
          </a:solidFill>
          <a:ln w="12700">
            <a:solidFill>
              <a:srgbClr val="0B2350"/>
            </a:solidFill>
            <a:prstDash val="solid"/>
          </a:ln>
        </p:spPr>
      </p:sp>
      <p:sp>
        <p:nvSpPr>
          <p:cNvPr id="20" name="Shape 18"/>
          <p:cNvSpPr/>
          <p:nvPr/>
        </p:nvSpPr>
        <p:spPr>
          <a:xfrm>
            <a:off x="841248" y="1874520"/>
            <a:ext cx="603504" cy="603504"/>
          </a:xfrm>
          <a:prstGeom prst="ellipse">
            <a:avLst/>
          </a:prstGeom>
          <a:solidFill>
            <a:srgbClr val="FFFFFF"/>
          </a:solidFill>
          <a:ln w="12700">
            <a:solidFill>
              <a:srgbClr val="FFFFFF"/>
            </a:solidFill>
            <a:prstDash val="solid"/>
          </a:ln>
        </p:spPr>
      </p:sp>
      <p:sp>
        <p:nvSpPr>
          <p:cNvPr id="21" name="Icono arrow-right"/>
          <p:cNvSpPr/>
          <p:nvPr/>
        </p:nvSpPr>
        <p:spPr>
          <a:xfrm>
            <a:off x="986089" y="2019361"/>
            <a:ext cx="313822" cy="313822"/>
          </a:xfrm>
          <a:custGeom>
            <a:avLst/>
            <a:gdLst/>
            <a:ahLst/>
            <a:cxnLst/>
            <a:rect l="l" t="t" r="r" b="b"/>
            <a:pathLst>
              <a:path w="313822" h="313822">
                <a:moveTo>
                  <a:pt x="65380" y="156911"/>
                </a:moveTo>
                <a:lnTo>
                  <a:pt x="248442" y="156911"/>
                </a:lnTo>
                <a:moveTo>
                  <a:pt x="156911" y="65380"/>
                </a:moveTo>
                <a:lnTo>
                  <a:pt x="248442" y="156911"/>
                </a:lnTo>
                <a:lnTo>
                  <a:pt x="156911" y="248442"/>
                </a:lnTo>
              </a:path>
            </a:pathLst>
          </a:custGeom>
          <a:noFill/>
          <a:ln w="26152" cap="rnd">
            <a:solidFill>
              <a:srgbClr val="0B2350"/>
            </a:solidFill>
            <a:prstDash val="solid"/>
            <a:round/>
          </a:ln>
        </p:spPr>
      </p:sp>
      <p:sp>
        <p:nvSpPr>
          <p:cNvPr id="22" name="Text 20"/>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Síncrono</a:t>
            </a:r>
            <a:endParaRPr lang="en-US" sz="1900" dirty="0"/>
          </a:p>
        </p:txBody>
      </p:sp>
      <p:sp>
        <p:nvSpPr>
          <p:cNvPr id="23"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4" name="Text 22"/>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UI llama y espera que se complete el proceso.</a:t>
            </a:r>
            <a:endParaRPr lang="en-US" sz="1500" dirty="0"/>
          </a:p>
        </p:txBody>
      </p:sp>
      <p:sp>
        <p:nvSpPr>
          <p:cNvPr id="25" name="Shape 23"/>
          <p:cNvSpPr/>
          <p:nvPr/>
        </p:nvSpPr>
        <p:spPr>
          <a:xfrm>
            <a:off x="886968" y="3593592"/>
            <a:ext cx="4614520" cy="0"/>
          </a:xfrm>
          <a:prstGeom prst="line">
            <a:avLst/>
          </a:prstGeom>
          <a:noFill/>
          <a:ln w="9525">
            <a:solidFill>
              <a:srgbClr val="DFE6F0"/>
            </a:solidFill>
            <a:prstDash val="solid"/>
          </a:ln>
        </p:spPr>
      </p:sp>
      <p:sp>
        <p:nvSpPr>
          <p:cNvPr id="26"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7" name="Text 25"/>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inmediata</a:t>
            </a:r>
            <a:endParaRPr lang="en-US" sz="1500" dirty="0"/>
          </a:p>
        </p:txBody>
      </p:sp>
      <p:sp>
        <p:nvSpPr>
          <p:cNvPr id="28" name="Shape 26"/>
          <p:cNvSpPr/>
          <p:nvPr/>
        </p:nvSpPr>
        <p:spPr>
          <a:xfrm>
            <a:off x="886968" y="4370832"/>
            <a:ext cx="4614520" cy="0"/>
          </a:xfrm>
          <a:prstGeom prst="line">
            <a:avLst/>
          </a:prstGeom>
          <a:noFill/>
          <a:ln w="9525">
            <a:solidFill>
              <a:srgbClr val="DFE6F0"/>
            </a:solidFill>
            <a:prstDash val="solid"/>
          </a:ln>
        </p:spPr>
      </p:sp>
      <p:sp>
        <p:nvSpPr>
          <p:cNvPr id="29"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30" name="Text 28"/>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el servicio se cae, la persona ve error</a:t>
            </a:r>
            <a:endParaRPr lang="en-US" sz="1500" dirty="0"/>
          </a:p>
        </p:txBody>
      </p:sp>
      <p:sp>
        <p:nvSpPr>
          <p:cNvPr id="31" name="[p1] Forma"/>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p1] Forma"/>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p1] Forma"/>
          <p:cNvSpPr/>
          <p:nvPr/>
        </p:nvSpPr>
        <p:spPr>
          <a:xfrm>
            <a:off x="6415888" y="2267712"/>
            <a:ext cx="5163160" cy="365760"/>
          </a:xfrm>
          <a:prstGeom prst="rect">
            <a:avLst/>
          </a:prstGeom>
          <a:solidFill>
            <a:srgbClr val="0B6E8A"/>
          </a:solidFill>
          <a:ln w="12700">
            <a:solidFill>
              <a:srgbClr val="0B6E8A"/>
            </a:solidFill>
            <a:prstDash val="solid"/>
          </a:ln>
        </p:spPr>
      </p:sp>
      <p:sp>
        <p:nvSpPr>
          <p:cNvPr id="34" name="[p1] Forma"/>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p1] Icono mail"/>
          <p:cNvSpPr/>
          <p:nvPr/>
        </p:nvSpPr>
        <p:spPr>
          <a:xfrm>
            <a:off x="6789329" y="2019361"/>
            <a:ext cx="313822" cy="313822"/>
          </a:xfrm>
          <a:custGeom>
            <a:avLst/>
            <a:gdLst/>
            <a:ahLst/>
            <a:cxnLst/>
            <a:rect l="l" t="t" r="r" b="b"/>
            <a:pathLst>
              <a:path w="313822" h="313822">
                <a:moveTo>
                  <a:pt x="52304" y="52304"/>
                </a:moveTo>
                <a:lnTo>
                  <a:pt x="261518" y="52304"/>
                </a:lnTo>
                <a:cubicBezTo>
                  <a:pt x="275962" y="52304"/>
                  <a:pt x="287670" y="64012"/>
                  <a:pt x="287670" y="78456"/>
                </a:cubicBezTo>
                <a:lnTo>
                  <a:pt x="287670" y="235367"/>
                </a:lnTo>
                <a:cubicBezTo>
                  <a:pt x="287670" y="249810"/>
                  <a:pt x="275962" y="261518"/>
                  <a:pt x="261518" y="261518"/>
                </a:cubicBezTo>
                <a:lnTo>
                  <a:pt x="52304" y="261518"/>
                </a:lnTo>
                <a:cubicBezTo>
                  <a:pt x="37860" y="261518"/>
                  <a:pt x="26152" y="249810"/>
                  <a:pt x="26152" y="235367"/>
                </a:cubicBezTo>
                <a:lnTo>
                  <a:pt x="26152" y="78456"/>
                </a:lnTo>
                <a:cubicBezTo>
                  <a:pt x="26152" y="64012"/>
                  <a:pt x="37860" y="52304"/>
                  <a:pt x="52304" y="52304"/>
                </a:cubicBezTo>
                <a:close/>
                <a:moveTo>
                  <a:pt x="287670" y="91531"/>
                </a:moveTo>
                <a:lnTo>
                  <a:pt x="170379" y="166064"/>
                </a:lnTo>
                <a:cubicBezTo>
                  <a:pt x="162142" y="171225"/>
                  <a:pt x="151680" y="171225"/>
                  <a:pt x="143443" y="166064"/>
                </a:cubicBezTo>
                <a:lnTo>
                  <a:pt x="26152" y="91531"/>
                </a:lnTo>
              </a:path>
            </a:pathLst>
          </a:custGeom>
          <a:noFill/>
          <a:ln w="26152" cap="rnd">
            <a:solidFill>
              <a:srgbClr val="0B6E8A"/>
            </a:solidFill>
            <a:prstDash val="solid"/>
            <a:round/>
          </a:ln>
        </p:spPr>
      </p:sp>
      <p:sp>
        <p:nvSpPr>
          <p:cNvPr id="36" name="[p1] Forma"/>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Asíncrono</a:t>
            </a:r>
            <a:endParaRPr lang="en-US" sz="1900" dirty="0"/>
          </a:p>
        </p:txBody>
      </p:sp>
      <p:sp>
        <p:nvSpPr>
          <p:cNvPr id="37" name="[p1] 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p1] Forma"/>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Servicio solicitudes envía evento a servicio notificaciones y continúa con su proceso</a:t>
            </a:r>
            <a:endParaRPr lang="en-US" sz="1500" dirty="0"/>
          </a:p>
        </p:txBody>
      </p:sp>
      <p:sp>
        <p:nvSpPr>
          <p:cNvPr id="39" name="[p1] Forma"/>
          <p:cNvSpPr/>
          <p:nvPr/>
        </p:nvSpPr>
        <p:spPr>
          <a:xfrm>
            <a:off x="6690208" y="3593592"/>
            <a:ext cx="4614520" cy="0"/>
          </a:xfrm>
          <a:prstGeom prst="line">
            <a:avLst/>
          </a:prstGeom>
          <a:noFill/>
          <a:ln w="9525">
            <a:solidFill>
              <a:srgbClr val="DFE6F0"/>
            </a:solidFill>
            <a:prstDash val="solid"/>
          </a:ln>
        </p:spPr>
      </p:sp>
      <p:sp>
        <p:nvSpPr>
          <p:cNvPr id="40" name="[p1] 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p1] Forma"/>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puede demorar</a:t>
            </a:r>
            <a:endParaRPr lang="en-US" sz="1500" dirty="0"/>
          </a:p>
        </p:txBody>
      </p:sp>
      <p:sp>
        <p:nvSpPr>
          <p:cNvPr id="42" name="[p1] Forma"/>
          <p:cNvSpPr/>
          <p:nvPr/>
        </p:nvSpPr>
        <p:spPr>
          <a:xfrm>
            <a:off x="6690208" y="4370832"/>
            <a:ext cx="4614520" cy="0"/>
          </a:xfrm>
          <a:prstGeom prst="line">
            <a:avLst/>
          </a:prstGeom>
          <a:noFill/>
          <a:ln w="9525">
            <a:solidFill>
              <a:srgbClr val="DFE6F0"/>
            </a:solidFill>
            <a:prstDash val="solid"/>
          </a:ln>
        </p:spPr>
      </p:sp>
      <p:sp>
        <p:nvSpPr>
          <p:cNvPr id="43" name="[p1] 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p1] Forma"/>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notificaciones se cae, el evento espera</a:t>
            </a:r>
            <a:endParaRPr lang="en-US" sz="1500" dirty="0"/>
          </a:p>
        </p:txBody>
      </p:sp>
      <p:sp>
        <p:nvSpPr>
          <p:cNvPr id="45" name="[p1] Forma"/>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1"/>
                                        </p:tgtEl>
                                        <p:attrNameLst>
                                          <p:attrName>style.visibility</p:attrName>
                                        </p:attrNameLst>
                                      </p:cBhvr>
                                      <p:to>
                                        <p:strVal val="visible"/>
                                      </p:to>
                                    </p:set>
                                    <p:animEffect transition="in" filter="fade">
                                      <p:cBhvr>
                                        <p:cTn id="5" dur="400"/>
                                        <p:tgtEl>
                                          <p:spTgt spid="3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2"/>
                                        </p:tgtEl>
                                        <p:attrNameLst>
                                          <p:attrName>style.visibility</p:attrName>
                                        </p:attrNameLst>
                                      </p:cBhvr>
                                      <p:to>
                                        <p:strVal val="visible"/>
                                      </p:to>
                                    </p:set>
                                    <p:animEffect transition="in" filter="fade">
                                      <p:cBhvr>
                                        <p:cTn id="8" dur="400"/>
                                        <p:tgtEl>
                                          <p:spTgt spid="3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40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400"/>
                                        <p:tgtEl>
                                          <p:spTgt spid="3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400"/>
                                        <p:tgtEl>
                                          <p:spTgt spid="3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400"/>
                                        <p:tgtEl>
                                          <p:spTgt spid="3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400"/>
                                        <p:tgtEl>
                                          <p:spTgt spid="3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400"/>
                                        <p:tgtEl>
                                          <p:spTgt spid="4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400"/>
                                        <p:tgtEl>
                                          <p:spTgt spid="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400"/>
                                        <p:tgtEl>
                                          <p:spTgt spid="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400"/>
                                        <p:tgtEl>
                                          <p:spTgt spid="4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Patrón Outbox: guardar primero, avisar después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 el relevador avisa después.</a:t>
            </a:r>
            <a:endParaRPr lang="en-US" sz="1700" dirty="0"/>
          </a:p>
        </p:txBody>
      </p:sp>
      <p:sp>
        <p:nvSpPr>
          <p:cNvPr id="13" name="Shape 11"/>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285232"/>
            <a:ext cx="438912" cy="438912"/>
          </a:xfrm>
          <a:prstGeom prst="ellipse">
            <a:avLst/>
          </a:prstGeom>
          <a:solidFill>
            <a:srgbClr val="FFFFFF"/>
          </a:solidFill>
          <a:ln w="12700">
            <a:solidFill>
              <a:srgbClr val="FFFFFF"/>
            </a:solidFill>
            <a:prstDash val="solid"/>
          </a:ln>
        </p:spPr>
      </p:sp>
      <p:sp>
        <p:nvSpPr>
          <p:cNvPr id="15"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6" name="Text 14"/>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7" name="Shape 15"/>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19" name="Text 17"/>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1" name="Text 19"/>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2" name="[p1] Forma"/>
          <p:cNvSpPr/>
          <p:nvPr/>
        </p:nvSpPr>
        <p:spPr>
          <a:xfrm>
            <a:off x="2431504" y="2185416"/>
            <a:ext cx="1845488" cy="0"/>
          </a:xfrm>
          <a:prstGeom prst="line">
            <a:avLst/>
          </a:prstGeom>
          <a:noFill/>
          <a:ln w="38100">
            <a:solidFill>
              <a:srgbClr val="2BA6CB"/>
            </a:solidFill>
            <a:prstDash val="solid"/>
            <a:tailEnd type="triangle"/>
          </a:ln>
        </p:spPr>
      </p:sp>
      <p:sp>
        <p:nvSpPr>
          <p:cNvPr id="23" name="[p1] Forma"/>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4" name="[p1] 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5" name="[p1] Forma"/>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7" name="[p1] Forma"/>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8" name="[p2] Forma"/>
          <p:cNvSpPr/>
          <p:nvPr/>
        </p:nvSpPr>
        <p:spPr>
          <a:xfrm>
            <a:off x="5173104" y="2185416"/>
            <a:ext cx="1845488" cy="0"/>
          </a:xfrm>
          <a:prstGeom prst="line">
            <a:avLst/>
          </a:prstGeom>
          <a:noFill/>
          <a:ln w="38100">
            <a:solidFill>
              <a:srgbClr val="2BA6CB"/>
            </a:solidFill>
            <a:prstDash val="solid"/>
            <a:tailEnd type="triangle"/>
          </a:ln>
        </p:spPr>
      </p:sp>
      <p:sp>
        <p:nvSpPr>
          <p:cNvPr id="29" name="[p2] Forma"/>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0" name="[p2] 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1" name="[p2] Forma"/>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3" name="[p2] Forma"/>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4" name="[p3] Forma"/>
          <p:cNvSpPr/>
          <p:nvPr/>
        </p:nvSpPr>
        <p:spPr>
          <a:xfrm>
            <a:off x="7914704" y="2185416"/>
            <a:ext cx="1845488" cy="0"/>
          </a:xfrm>
          <a:prstGeom prst="line">
            <a:avLst/>
          </a:prstGeom>
          <a:noFill/>
          <a:ln w="38100">
            <a:solidFill>
              <a:srgbClr val="2BA6CB"/>
            </a:solidFill>
            <a:prstDash val="solid"/>
            <a:tailEnd type="triangle"/>
          </a:ln>
        </p:spPr>
      </p:sp>
      <p:sp>
        <p:nvSpPr>
          <p:cNvPr id="35" name="[p3] Forma"/>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6" name="[p3] 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7" name="[p3] Forma"/>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39" name="[p3] Forma"/>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0" name="[p4] Forma"/>
          <p:cNvSpPr/>
          <p:nvPr/>
        </p:nvSpPr>
        <p:spPr>
          <a:xfrm>
            <a:off x="7466648" y="3602736"/>
            <a:ext cx="0" cy="955548"/>
          </a:xfrm>
          <a:prstGeom prst="line">
            <a:avLst/>
          </a:prstGeom>
          <a:noFill/>
          <a:ln w="25400">
            <a:solidFill>
              <a:srgbClr val="8A4B06"/>
            </a:solidFill>
            <a:prstDash val="dash"/>
          </a:ln>
        </p:spPr>
      </p:sp>
      <p:sp>
        <p:nvSpPr>
          <p:cNvPr id="41" name="[p4] Forma"/>
          <p:cNvSpPr/>
          <p:nvPr/>
        </p:nvSpPr>
        <p:spPr>
          <a:xfrm flipH="1">
            <a:off x="7372807" y="4558284"/>
            <a:ext cx="93840" cy="0"/>
          </a:xfrm>
          <a:prstGeom prst="line">
            <a:avLst/>
          </a:prstGeom>
          <a:noFill/>
          <a:ln w="25400">
            <a:solidFill>
              <a:srgbClr val="8A4B06"/>
            </a:solidFill>
            <a:prstDash val="dash"/>
            <a:tailEnd type="triangle"/>
          </a:ln>
        </p:spPr>
      </p:sp>
      <p:sp>
        <p:nvSpPr>
          <p:cNvPr id="42" name="[p4] Forma"/>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3" name="[p4] Forma"/>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4" name="[p4] Forma"/>
          <p:cNvSpPr/>
          <p:nvPr/>
        </p:nvSpPr>
        <p:spPr>
          <a:xfrm>
            <a:off x="7537399" y="4279392"/>
            <a:ext cx="548640" cy="548640"/>
          </a:xfrm>
          <a:prstGeom prst="ellipse">
            <a:avLst/>
          </a:prstGeom>
          <a:solidFill>
            <a:srgbClr val="FFFFFF"/>
          </a:solidFill>
          <a:ln w="12700">
            <a:solidFill>
              <a:srgbClr val="FFFFFF"/>
            </a:solidFill>
            <a:prstDash val="solid"/>
          </a:ln>
        </p:spPr>
      </p:sp>
      <p:sp>
        <p:nvSpPr>
          <p:cNvPr id="45" name="[p4] 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6" name="[p4] Forma"/>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7" name="[p4] Forma"/>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8" name="Shape 46"/>
          <p:cNvSpPr/>
          <p:nvPr/>
        </p:nvSpPr>
        <p:spPr>
          <a:xfrm>
            <a:off x="0" y="5961888"/>
            <a:ext cx="12191695" cy="475488"/>
          </a:xfrm>
          <a:prstGeom prst="rect">
            <a:avLst/>
          </a:prstGeom>
          <a:solidFill>
            <a:srgbClr val="0B2350"/>
          </a:solidFill>
          <a:ln w="12700">
            <a:solidFill>
              <a:srgbClr val="0B2350"/>
            </a:solidFill>
            <a:prstDash val="solid"/>
          </a:ln>
        </p:spPr>
      </p:sp>
      <p:sp>
        <p:nvSpPr>
          <p:cNvPr id="49"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0" name="Text 48"/>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4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Idempotencia: el mismo evento, un solo aviso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la entrega no multiplica el efecto.</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user-check"/>
          <p:cNvSpPr/>
          <p:nvPr/>
        </p:nvSpPr>
        <p:spPr>
          <a:xfrm>
            <a:off x="900867" y="5911779"/>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7" name="Shape 15"/>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mail"/>
          <p:cNvSpPr/>
          <p:nvPr/>
        </p:nvSpPr>
        <p:spPr>
          <a:xfrm>
            <a:off x="1650149" y="2112721"/>
            <a:ext cx="666598" cy="666598"/>
          </a:xfrm>
          <a:custGeom>
            <a:avLst/>
            <a:gdLst/>
            <a:ahLst/>
            <a:cxnLst/>
            <a:rect l="l" t="t" r="r" b="b"/>
            <a:pathLst>
              <a:path w="666598" h="666598">
                <a:moveTo>
                  <a:pt x="111100" y="111100"/>
                </a:moveTo>
                <a:lnTo>
                  <a:pt x="555498" y="111100"/>
                </a:lnTo>
                <a:cubicBezTo>
                  <a:pt x="586177" y="111100"/>
                  <a:pt x="611048" y="135970"/>
                  <a:pt x="611048" y="166649"/>
                </a:cubicBezTo>
                <a:lnTo>
                  <a:pt x="611048" y="499948"/>
                </a:lnTo>
                <a:cubicBezTo>
                  <a:pt x="611048" y="530628"/>
                  <a:pt x="586177" y="555498"/>
                  <a:pt x="555498" y="555498"/>
                </a:cubicBezTo>
                <a:lnTo>
                  <a:pt x="111100" y="555498"/>
                </a:lnTo>
                <a:cubicBezTo>
                  <a:pt x="80420" y="555498"/>
                  <a:pt x="55550" y="530628"/>
                  <a:pt x="55550" y="499948"/>
                </a:cubicBezTo>
                <a:lnTo>
                  <a:pt x="55550" y="166649"/>
                </a:lnTo>
                <a:cubicBezTo>
                  <a:pt x="55550" y="135970"/>
                  <a:pt x="80420" y="111100"/>
                  <a:pt x="111100" y="111100"/>
                </a:cubicBezTo>
                <a:close/>
                <a:moveTo>
                  <a:pt x="611048" y="194424"/>
                </a:moveTo>
                <a:lnTo>
                  <a:pt x="361907" y="352741"/>
                </a:lnTo>
                <a:cubicBezTo>
                  <a:pt x="344410" y="363703"/>
                  <a:pt x="322188" y="363703"/>
                  <a:pt x="304691" y="352741"/>
                </a:cubicBezTo>
                <a:lnTo>
                  <a:pt x="55550" y="194424"/>
                </a:lnTo>
              </a:path>
            </a:pathLst>
          </a:custGeom>
          <a:noFill/>
          <a:ln w="48606" cap="rnd">
            <a:solidFill>
              <a:srgbClr val="0B2350"/>
            </a:solidFill>
            <a:prstDash val="solid"/>
            <a:round/>
          </a:ln>
        </p:spPr>
      </p:sp>
      <p:sp>
        <p:nvSpPr>
          <p:cNvPr id="19" name="Text 17"/>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21" name="Text 19"/>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eventoId.</a:t>
            </a:r>
            <a:endParaRPr lang="en-US" sz="1400" dirty="0"/>
          </a:p>
        </p:txBody>
      </p:sp>
      <p:sp>
        <p:nvSpPr>
          <p:cNvPr id="22" name="[p1] Forma"/>
          <p:cNvSpPr/>
          <p:nvPr/>
        </p:nvSpPr>
        <p:spPr>
          <a:xfrm>
            <a:off x="2692108" y="2446020"/>
            <a:ext cx="1324280" cy="0"/>
          </a:xfrm>
          <a:prstGeom prst="line">
            <a:avLst/>
          </a:prstGeom>
          <a:noFill/>
          <a:ln w="38100">
            <a:solidFill>
              <a:srgbClr val="2BA6CB"/>
            </a:solidFill>
            <a:prstDash val="solid"/>
            <a:tailEnd type="triangle"/>
          </a:ln>
        </p:spPr>
      </p:sp>
      <p:sp>
        <p:nvSpPr>
          <p:cNvPr id="23" name="[p1] Forma"/>
          <p:cNvSpPr/>
          <p:nvPr/>
        </p:nvSpPr>
        <p:spPr>
          <a:xfrm>
            <a:off x="41078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4" name="[p1] Icono fingerprint"/>
          <p:cNvSpPr/>
          <p:nvPr/>
        </p:nvSpPr>
        <p:spPr>
          <a:xfrm>
            <a:off x="4391749" y="2112721"/>
            <a:ext cx="666598" cy="666598"/>
          </a:xfrm>
          <a:custGeom>
            <a:avLst/>
            <a:gdLst/>
            <a:ahLst/>
            <a:cxnLst/>
            <a:rect l="l" t="t" r="r" b="b"/>
            <a:pathLst>
              <a:path w="666598" h="666598">
                <a:moveTo>
                  <a:pt x="333299" y="277749"/>
                </a:moveTo>
                <a:cubicBezTo>
                  <a:pt x="302619" y="277749"/>
                  <a:pt x="277749" y="302619"/>
                  <a:pt x="277749" y="333299"/>
                </a:cubicBezTo>
                <a:cubicBezTo>
                  <a:pt x="277749" y="361629"/>
                  <a:pt x="274972" y="403014"/>
                  <a:pt x="270528" y="444398"/>
                </a:cubicBezTo>
                <a:moveTo>
                  <a:pt x="388849" y="364407"/>
                </a:moveTo>
                <a:cubicBezTo>
                  <a:pt x="388849" y="430511"/>
                  <a:pt x="388849" y="541611"/>
                  <a:pt x="361074" y="611048"/>
                </a:cubicBezTo>
                <a:moveTo>
                  <a:pt x="480228" y="583828"/>
                </a:moveTo>
                <a:cubicBezTo>
                  <a:pt x="483561" y="567163"/>
                  <a:pt x="492171" y="519946"/>
                  <a:pt x="494115" y="499948"/>
                </a:cubicBezTo>
                <a:moveTo>
                  <a:pt x="55550" y="333299"/>
                </a:moveTo>
                <a:cubicBezTo>
                  <a:pt x="55550" y="213747"/>
                  <a:pt x="132050" y="107609"/>
                  <a:pt x="245467" y="69803"/>
                </a:cubicBezTo>
                <a:cubicBezTo>
                  <a:pt x="358883" y="31997"/>
                  <a:pt x="483767" y="71008"/>
                  <a:pt x="555498" y="166649"/>
                </a:cubicBezTo>
                <a:moveTo>
                  <a:pt x="55550" y="444398"/>
                </a:moveTo>
                <a:lnTo>
                  <a:pt x="55828" y="444398"/>
                </a:lnTo>
                <a:moveTo>
                  <a:pt x="605493" y="444398"/>
                </a:moveTo>
                <a:cubicBezTo>
                  <a:pt x="611048" y="388849"/>
                  <a:pt x="609131" y="295692"/>
                  <a:pt x="605493" y="277749"/>
                </a:cubicBezTo>
                <a:moveTo>
                  <a:pt x="138875" y="541611"/>
                </a:moveTo>
                <a:cubicBezTo>
                  <a:pt x="152762" y="499948"/>
                  <a:pt x="166649" y="416624"/>
                  <a:pt x="166649" y="333299"/>
                </a:cubicBezTo>
                <a:cubicBezTo>
                  <a:pt x="166621" y="314380"/>
                  <a:pt x="169815" y="295595"/>
                  <a:pt x="176093" y="277749"/>
                </a:cubicBezTo>
                <a:moveTo>
                  <a:pt x="240253" y="611048"/>
                </a:moveTo>
                <a:cubicBezTo>
                  <a:pt x="246086" y="592716"/>
                  <a:pt x="252752" y="574385"/>
                  <a:pt x="256085" y="555498"/>
                </a:cubicBezTo>
                <a:moveTo>
                  <a:pt x="249974" y="188869"/>
                </a:moveTo>
                <a:cubicBezTo>
                  <a:pt x="301552" y="159091"/>
                  <a:pt x="365101" y="159101"/>
                  <a:pt x="416670" y="188896"/>
                </a:cubicBezTo>
                <a:cubicBezTo>
                  <a:pt x="468238" y="218691"/>
                  <a:pt x="499986" y="273742"/>
                  <a:pt x="499948" y="333299"/>
                </a:cubicBezTo>
                <a:lnTo>
                  <a:pt x="499948" y="388849"/>
                </a:lnTo>
              </a:path>
            </a:pathLst>
          </a:custGeom>
          <a:noFill/>
          <a:ln w="48606" cap="rnd">
            <a:solidFill>
              <a:srgbClr val="0B6E8A"/>
            </a:solidFill>
            <a:prstDash val="solid"/>
            <a:round/>
          </a:ln>
        </p:spPr>
      </p:sp>
      <p:sp>
        <p:nvSpPr>
          <p:cNvPr id="25" name="[p1] Forma"/>
          <p:cNvSpPr/>
          <p:nvPr/>
        </p:nvSpPr>
        <p:spPr>
          <a:xfrm>
            <a:off x="40712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7" name="[p1] Forma"/>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en evento_procesado.</a:t>
            </a:r>
            <a:endParaRPr lang="en-US" sz="1400" dirty="0"/>
          </a:p>
        </p:txBody>
      </p:sp>
      <p:sp>
        <p:nvSpPr>
          <p:cNvPr id="28" name="[p2] Forma"/>
          <p:cNvSpPr/>
          <p:nvPr/>
        </p:nvSpPr>
        <p:spPr>
          <a:xfrm>
            <a:off x="5433708" y="2446020"/>
            <a:ext cx="1324280" cy="0"/>
          </a:xfrm>
          <a:prstGeom prst="line">
            <a:avLst/>
          </a:prstGeom>
          <a:noFill/>
          <a:ln w="38100">
            <a:solidFill>
              <a:srgbClr val="2BA6CB"/>
            </a:solidFill>
            <a:prstDash val="solid"/>
            <a:tailEnd type="triangle"/>
          </a:ln>
        </p:spPr>
      </p:sp>
      <p:sp>
        <p:nvSpPr>
          <p:cNvPr id="29" name="[p2] Forma"/>
          <p:cNvSpPr/>
          <p:nvPr/>
        </p:nvSpPr>
        <p:spPr>
          <a:xfrm>
            <a:off x="6849428"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0" name="[p2] Icono bell"/>
          <p:cNvSpPr/>
          <p:nvPr/>
        </p:nvSpPr>
        <p:spPr>
          <a:xfrm>
            <a:off x="71333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1" name="[p2] Forma"/>
          <p:cNvSpPr/>
          <p:nvPr/>
        </p:nvSpPr>
        <p:spPr>
          <a:xfrm>
            <a:off x="6812852"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33" name="[p2] Forma"/>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34" name="[p3] Forma"/>
          <p:cNvSpPr/>
          <p:nvPr/>
        </p:nvSpPr>
        <p:spPr>
          <a:xfrm>
            <a:off x="8175308" y="2446020"/>
            <a:ext cx="1324280" cy="0"/>
          </a:xfrm>
          <a:prstGeom prst="line">
            <a:avLst/>
          </a:prstGeom>
          <a:noFill/>
          <a:ln w="38100">
            <a:solidFill>
              <a:srgbClr val="2BA6CB"/>
            </a:solidFill>
            <a:prstDash val="solid"/>
            <a:tailEnd type="triangle"/>
          </a:ln>
        </p:spPr>
      </p:sp>
      <p:sp>
        <p:nvSpPr>
          <p:cNvPr id="35" name="[p3] Forma"/>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6" name="[p3] Icono clipboard-check"/>
          <p:cNvSpPr/>
          <p:nvPr/>
        </p:nvSpPr>
        <p:spPr>
          <a:xfrm>
            <a:off x="9874949" y="2112721"/>
            <a:ext cx="666598" cy="666598"/>
          </a:xfrm>
          <a:custGeom>
            <a:avLst/>
            <a:gdLst/>
            <a:ahLst/>
            <a:cxnLst/>
            <a:rect l="l" t="t" r="r" b="b"/>
            <a:pathLst>
              <a:path w="666598" h="666598">
                <a:moveTo>
                  <a:pt x="249974" y="55550"/>
                </a:moveTo>
                <a:lnTo>
                  <a:pt x="416624" y="55550"/>
                </a:lnTo>
                <a:cubicBezTo>
                  <a:pt x="431963" y="55550"/>
                  <a:pt x="444398" y="67985"/>
                  <a:pt x="444398" y="83325"/>
                </a:cubicBezTo>
                <a:lnTo>
                  <a:pt x="444398" y="138875"/>
                </a:lnTo>
                <a:cubicBezTo>
                  <a:pt x="444398" y="154214"/>
                  <a:pt x="431963" y="166649"/>
                  <a:pt x="416624" y="166649"/>
                </a:cubicBezTo>
                <a:lnTo>
                  <a:pt x="249974" y="166649"/>
                </a:lnTo>
                <a:cubicBezTo>
                  <a:pt x="234634" y="166649"/>
                  <a:pt x="222199" y="154214"/>
                  <a:pt x="222199" y="138875"/>
                </a:cubicBezTo>
                <a:lnTo>
                  <a:pt x="222199" y="83325"/>
                </a:lnTo>
                <a:cubicBezTo>
                  <a:pt x="222199" y="67985"/>
                  <a:pt x="234634" y="55550"/>
                  <a:pt x="249974" y="55550"/>
                </a:cubicBezTo>
                <a:close/>
                <a:moveTo>
                  <a:pt x="444398" y="111100"/>
                </a:moveTo>
                <a:lnTo>
                  <a:pt x="499948" y="111100"/>
                </a:lnTo>
                <a:cubicBezTo>
                  <a:pt x="530628" y="111100"/>
                  <a:pt x="555498" y="135970"/>
                  <a:pt x="555498" y="166649"/>
                </a:cubicBezTo>
                <a:lnTo>
                  <a:pt x="555498" y="555498"/>
                </a:lnTo>
                <a:cubicBezTo>
                  <a:pt x="555498" y="586177"/>
                  <a:pt x="530628" y="611048"/>
                  <a:pt x="499948" y="611048"/>
                </a:cubicBezTo>
                <a:lnTo>
                  <a:pt x="166649" y="611048"/>
                </a:lnTo>
                <a:cubicBezTo>
                  <a:pt x="135970" y="611048"/>
                  <a:pt x="111100" y="586177"/>
                  <a:pt x="111100" y="555498"/>
                </a:cubicBezTo>
                <a:lnTo>
                  <a:pt x="111100" y="166649"/>
                </a:lnTo>
                <a:cubicBezTo>
                  <a:pt x="111100" y="135970"/>
                  <a:pt x="135970" y="111100"/>
                  <a:pt x="166649" y="111100"/>
                </a:cubicBezTo>
                <a:lnTo>
                  <a:pt x="222199" y="111100"/>
                </a:lnTo>
                <a:moveTo>
                  <a:pt x="249974" y="388849"/>
                </a:moveTo>
                <a:lnTo>
                  <a:pt x="305524" y="444398"/>
                </a:lnTo>
                <a:lnTo>
                  <a:pt x="416624" y="333299"/>
                </a:lnTo>
              </a:path>
            </a:pathLst>
          </a:custGeom>
          <a:noFill/>
          <a:ln w="48606" cap="rnd">
            <a:solidFill>
              <a:srgbClr val="0A6648"/>
            </a:solidFill>
            <a:prstDash val="solid"/>
            <a:round/>
          </a:ln>
        </p:spPr>
      </p:sp>
      <p:sp>
        <p:nvSpPr>
          <p:cNvPr id="37" name="[p3] Forma"/>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39" name="[p3] Forma"/>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la misma transacción.</a:t>
            </a:r>
            <a:endParaRPr lang="en-US" sz="1400" dirty="0"/>
          </a:p>
        </p:txBody>
      </p:sp>
      <p:sp>
        <p:nvSpPr>
          <p:cNvPr id="40" name="[p4] Forma"/>
          <p:cNvSpPr/>
          <p:nvPr/>
        </p:nvSpPr>
        <p:spPr>
          <a:xfrm>
            <a:off x="4725048" y="4123944"/>
            <a:ext cx="0" cy="955548"/>
          </a:xfrm>
          <a:prstGeom prst="line">
            <a:avLst/>
          </a:prstGeom>
          <a:noFill/>
          <a:ln w="25400">
            <a:solidFill>
              <a:srgbClr val="55627E"/>
            </a:solidFill>
            <a:prstDash val="dash"/>
          </a:ln>
        </p:spPr>
      </p:sp>
      <p:sp>
        <p:nvSpPr>
          <p:cNvPr id="41" name="[p4] Forma"/>
          <p:cNvSpPr/>
          <p:nvPr/>
        </p:nvSpPr>
        <p:spPr>
          <a:xfrm>
            <a:off x="4725048" y="5079492"/>
            <a:ext cx="457200" cy="0"/>
          </a:xfrm>
          <a:prstGeom prst="line">
            <a:avLst/>
          </a:prstGeom>
          <a:noFill/>
          <a:ln w="25400">
            <a:solidFill>
              <a:srgbClr val="55627E"/>
            </a:solidFill>
            <a:prstDash val="dash"/>
            <a:tailEnd type="triangle"/>
          </a:ln>
        </p:spPr>
      </p:sp>
      <p:sp>
        <p:nvSpPr>
          <p:cNvPr id="42" name="[p4] Forma"/>
          <p:cNvSpPr/>
          <p:nvPr/>
        </p:nvSpPr>
        <p:spPr>
          <a:xfrm>
            <a:off x="32620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43" name="[p4] Forma"/>
          <p:cNvSpPr/>
          <p:nvPr/>
        </p:nvSpPr>
        <p:spPr>
          <a:xfrm>
            <a:off x="5182248" y="4645152"/>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44" name="[p4] Forma"/>
          <p:cNvSpPr/>
          <p:nvPr/>
        </p:nvSpPr>
        <p:spPr>
          <a:xfrm>
            <a:off x="5346840" y="4800600"/>
            <a:ext cx="548640" cy="548640"/>
          </a:xfrm>
          <a:prstGeom prst="ellipse">
            <a:avLst/>
          </a:prstGeom>
          <a:solidFill>
            <a:srgbClr val="FFFFFF"/>
          </a:solidFill>
          <a:ln w="12700">
            <a:solidFill>
              <a:srgbClr val="FFFFFF"/>
            </a:solidFill>
            <a:prstDash val="solid"/>
          </a:ln>
        </p:spPr>
      </p:sp>
      <p:sp>
        <p:nvSpPr>
          <p:cNvPr id="45" name="[p4] Icono ban"/>
          <p:cNvSpPr/>
          <p:nvPr/>
        </p:nvSpPr>
        <p:spPr>
          <a:xfrm>
            <a:off x="5478513" y="4932274"/>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46" name="[p4] Forma"/>
          <p:cNvSpPr/>
          <p:nvPr/>
        </p:nvSpPr>
        <p:spPr>
          <a:xfrm>
            <a:off x="6023496"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7" name="[p4] Forma"/>
          <p:cNvSpPr/>
          <p:nvPr/>
        </p:nvSpPr>
        <p:spPr>
          <a:xfrm>
            <a:off x="6023496"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Duplicados: cero.</a:t>
            </a:r>
            <a:endParaRPr lang="en-US" sz="115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4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Interconexión: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waypoints"/>
          <p:cNvSpPr/>
          <p:nvPr/>
        </p:nvSpPr>
        <p:spPr>
          <a:xfrm>
            <a:off x="1058144" y="1817096"/>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duplicados</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send"/>
          <p:cNvSpPr/>
          <p:nvPr/>
        </p:nvSpPr>
        <p:spPr>
          <a:xfrm>
            <a:off x="4258544" y="1740515"/>
            <a:ext cx="370881" cy="370881"/>
          </a:xfrm>
          <a:custGeom>
            <a:avLst/>
            <a:gdLst/>
            <a:ahLst/>
            <a:cxnLst/>
            <a:rect l="l" t="t" r="r" b="b"/>
            <a:pathLst>
              <a:path w="370881" h="370881">
                <a:moveTo>
                  <a:pt x="224630" y="335122"/>
                </a:moveTo>
                <a:cubicBezTo>
                  <a:pt x="225832" y="338118"/>
                  <a:pt x="228771" y="340051"/>
                  <a:pt x="231999" y="339968"/>
                </a:cubicBezTo>
                <a:cubicBezTo>
                  <a:pt x="235227" y="339886"/>
                  <a:pt x="238062" y="337805"/>
                  <a:pt x="239110" y="334751"/>
                </a:cubicBezTo>
                <a:lnTo>
                  <a:pt x="339557" y="41137"/>
                </a:lnTo>
                <a:cubicBezTo>
                  <a:pt x="340566" y="38342"/>
                  <a:pt x="339869" y="35215"/>
                  <a:pt x="337768" y="33113"/>
                </a:cubicBezTo>
                <a:cubicBezTo>
                  <a:pt x="335666" y="31012"/>
                  <a:pt x="332539" y="30314"/>
                  <a:pt x="329744" y="31324"/>
                </a:cubicBezTo>
                <a:lnTo>
                  <a:pt x="36130" y="131771"/>
                </a:lnTo>
                <a:cubicBezTo>
                  <a:pt x="33076" y="132818"/>
                  <a:pt x="30995" y="135654"/>
                  <a:pt x="30912" y="138882"/>
                </a:cubicBezTo>
                <a:cubicBezTo>
                  <a:pt x="30830" y="142109"/>
                  <a:pt x="32763" y="145048"/>
                  <a:pt x="35759" y="146251"/>
                </a:cubicBezTo>
                <a:lnTo>
                  <a:pt x="158304" y="195392"/>
                </a:lnTo>
                <a:cubicBezTo>
                  <a:pt x="166132" y="198526"/>
                  <a:pt x="172340" y="204723"/>
                  <a:pt x="175488" y="212546"/>
                </a:cubicBezTo>
                <a:close/>
                <a:moveTo>
                  <a:pt x="337718" y="33178"/>
                </a:moveTo>
                <a:lnTo>
                  <a:pt x="168658" y="202223"/>
                </a:lnTo>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Síncrono para ver, asíncrono para avisar</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 UI espera la respuesta; el evento se entrega después.</a:t>
            </a:r>
            <a:endParaRPr lang="en-US" sz="115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Una caída parcial no detiene a quien usa el sistema.</a:t>
            </a:r>
            <a:endParaRPr lang="en-US" sz="130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inbox"/>
          <p:cNvSpPr/>
          <p:nvPr/>
        </p:nvSpPr>
        <p:spPr>
          <a:xfrm>
            <a:off x="4258544" y="3032105"/>
            <a:ext cx="370881" cy="370881"/>
          </a:xfrm>
          <a:custGeom>
            <a:avLst/>
            <a:gdLst/>
            <a:ahLst/>
            <a:cxnLst/>
            <a:rect l="l" t="t" r="r" b="b"/>
            <a:pathLst>
              <a:path w="370881" h="370881">
                <a:moveTo>
                  <a:pt x="339974" y="185440"/>
                </a:moveTo>
                <a:lnTo>
                  <a:pt x="247254" y="185440"/>
                </a:lnTo>
                <a:lnTo>
                  <a:pt x="216347" y="231800"/>
                </a:lnTo>
                <a:lnTo>
                  <a:pt x="154534" y="231800"/>
                </a:lnTo>
                <a:lnTo>
                  <a:pt x="123627" y="185440"/>
                </a:lnTo>
                <a:lnTo>
                  <a:pt x="30907" y="185440"/>
                </a:lnTo>
                <a:moveTo>
                  <a:pt x="84221" y="78967"/>
                </a:moveTo>
                <a:lnTo>
                  <a:pt x="30907" y="185440"/>
                </a:lnTo>
                <a:lnTo>
                  <a:pt x="30907" y="278160"/>
                </a:lnTo>
                <a:cubicBezTo>
                  <a:pt x="30907" y="295230"/>
                  <a:pt x="44744" y="309067"/>
                  <a:pt x="61813" y="309067"/>
                </a:cubicBezTo>
                <a:lnTo>
                  <a:pt x="309067" y="309067"/>
                </a:lnTo>
                <a:cubicBezTo>
                  <a:pt x="326137" y="309067"/>
                  <a:pt x="339974" y="295230"/>
                  <a:pt x="339974" y="278160"/>
                </a:cubicBezTo>
                <a:lnTo>
                  <a:pt x="339974" y="185440"/>
                </a:lnTo>
                <a:lnTo>
                  <a:pt x="286660" y="78967"/>
                </a:lnTo>
                <a:cubicBezTo>
                  <a:pt x="281441" y="68464"/>
                  <a:pt x="270727" y="61820"/>
                  <a:pt x="258998" y="61813"/>
                </a:cubicBezTo>
                <a:lnTo>
                  <a:pt x="111882" y="61813"/>
                </a:lnTo>
                <a:cubicBezTo>
                  <a:pt x="100154" y="61820"/>
                  <a:pt x="89440" y="68464"/>
                  <a:pt x="84221" y="78967"/>
                </a:cubicBezTo>
                <a:close/>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primero, avisar después</a:t>
            </a:r>
            <a:endParaRPr lang="en-US" sz="150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 y evento en la misma transacción; el relevador entrega.</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servicio caído no hace perder información.</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fingerprint"/>
          <p:cNvSpPr/>
          <p:nvPr/>
        </p:nvSpPr>
        <p:spPr>
          <a:xfrm>
            <a:off x="4258544" y="4323695"/>
            <a:ext cx="370881" cy="370881"/>
          </a:xfrm>
          <a:custGeom>
            <a:avLst/>
            <a:gdLst/>
            <a:ahLst/>
            <a:cxnLst/>
            <a:rect l="l" t="t" r="r" b="b"/>
            <a:pathLst>
              <a:path w="370881" h="370881">
                <a:moveTo>
                  <a:pt x="185440" y="154534"/>
                </a:moveTo>
                <a:cubicBezTo>
                  <a:pt x="168371" y="154534"/>
                  <a:pt x="154534" y="168371"/>
                  <a:pt x="154534" y="185440"/>
                </a:cubicBezTo>
                <a:cubicBezTo>
                  <a:pt x="154534" y="201203"/>
                  <a:pt x="152988" y="224228"/>
                  <a:pt x="150516" y="247254"/>
                </a:cubicBezTo>
                <a:moveTo>
                  <a:pt x="216347" y="202748"/>
                </a:moveTo>
                <a:cubicBezTo>
                  <a:pt x="216347" y="239527"/>
                  <a:pt x="216347" y="301341"/>
                  <a:pt x="200894" y="339974"/>
                </a:cubicBezTo>
                <a:moveTo>
                  <a:pt x="267189" y="324830"/>
                </a:moveTo>
                <a:cubicBezTo>
                  <a:pt x="269043" y="315558"/>
                  <a:pt x="273834" y="289287"/>
                  <a:pt x="274915" y="278160"/>
                </a:cubicBezTo>
                <a:moveTo>
                  <a:pt x="30907" y="185440"/>
                </a:moveTo>
                <a:cubicBezTo>
                  <a:pt x="30907" y="118924"/>
                  <a:pt x="73470" y="59871"/>
                  <a:pt x="136573" y="38837"/>
                </a:cubicBezTo>
                <a:cubicBezTo>
                  <a:pt x="199675" y="17803"/>
                  <a:pt x="269158" y="39507"/>
                  <a:pt x="309067" y="92720"/>
                </a:cubicBezTo>
                <a:moveTo>
                  <a:pt x="30907" y="247254"/>
                </a:moveTo>
                <a:lnTo>
                  <a:pt x="31061" y="247254"/>
                </a:lnTo>
                <a:moveTo>
                  <a:pt x="336883" y="247254"/>
                </a:moveTo>
                <a:cubicBezTo>
                  <a:pt x="339974" y="216347"/>
                  <a:pt x="338908" y="164516"/>
                  <a:pt x="336883" y="154534"/>
                </a:cubicBezTo>
                <a:moveTo>
                  <a:pt x="77267" y="301341"/>
                </a:moveTo>
                <a:cubicBezTo>
                  <a:pt x="84993" y="278160"/>
                  <a:pt x="92720" y="231800"/>
                  <a:pt x="92720" y="185440"/>
                </a:cubicBezTo>
                <a:cubicBezTo>
                  <a:pt x="92705" y="174915"/>
                  <a:pt x="94481" y="164463"/>
                  <a:pt x="97974" y="154534"/>
                </a:cubicBezTo>
                <a:moveTo>
                  <a:pt x="133672" y="339974"/>
                </a:moveTo>
                <a:cubicBezTo>
                  <a:pt x="136917" y="329775"/>
                  <a:pt x="140626" y="319575"/>
                  <a:pt x="142480" y="309067"/>
                </a:cubicBezTo>
                <a:moveTo>
                  <a:pt x="139080" y="105083"/>
                </a:moveTo>
                <a:cubicBezTo>
                  <a:pt x="167777" y="88515"/>
                  <a:pt x="203135" y="88520"/>
                  <a:pt x="231826" y="105098"/>
                </a:cubicBezTo>
                <a:cubicBezTo>
                  <a:pt x="260518" y="121675"/>
                  <a:pt x="278182" y="152304"/>
                  <a:pt x="278160" y="185440"/>
                </a:cubicBezTo>
                <a:lnTo>
                  <a:pt x="278160" y="216347"/>
                </a:lnTo>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Todo reintento necesita idempotencia</a:t>
            </a:r>
            <a:endParaRPr lang="en-US" sz="15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número de evento fijo y la lista de los ya recibidos.</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Reintentar sin miedo a duplicar.</a:t>
            </a:r>
            <a:endParaRPr lang="en-US" sz="135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file-json"/>
          <p:cNvSpPr/>
          <p:nvPr/>
        </p:nvSpPr>
        <p:spPr>
          <a:xfrm>
            <a:off x="4258544" y="5615285"/>
            <a:ext cx="370881" cy="370881"/>
          </a:xfrm>
          <a:custGeom>
            <a:avLst/>
            <a:gdLst/>
            <a:ahLst/>
            <a:cxnLst/>
            <a:rect l="l" t="t" r="r" b="b"/>
            <a:pathLst>
              <a:path w="370881" h="370881">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moveTo>
                  <a:pt x="216347" y="30907"/>
                </a:moveTo>
                <a:lnTo>
                  <a:pt x="216347" y="92720"/>
                </a:lnTo>
                <a:cubicBezTo>
                  <a:pt x="216347" y="109789"/>
                  <a:pt x="230184" y="123627"/>
                  <a:pt x="247254" y="123627"/>
                </a:cubicBezTo>
                <a:lnTo>
                  <a:pt x="309067" y="123627"/>
                </a:lnTo>
                <a:moveTo>
                  <a:pt x="154534" y="185440"/>
                </a:moveTo>
                <a:cubicBezTo>
                  <a:pt x="145999" y="185440"/>
                  <a:pt x="139080" y="192359"/>
                  <a:pt x="139080" y="200894"/>
                </a:cubicBezTo>
                <a:lnTo>
                  <a:pt x="139080" y="216347"/>
                </a:lnTo>
                <a:cubicBezTo>
                  <a:pt x="139080" y="224882"/>
                  <a:pt x="132162" y="231800"/>
                  <a:pt x="123627" y="231800"/>
                </a:cubicBezTo>
                <a:cubicBezTo>
                  <a:pt x="132162" y="231800"/>
                  <a:pt x="139080" y="238719"/>
                  <a:pt x="139080" y="247254"/>
                </a:cubicBezTo>
                <a:lnTo>
                  <a:pt x="139080" y="262707"/>
                </a:lnTo>
                <a:cubicBezTo>
                  <a:pt x="139080" y="271242"/>
                  <a:pt x="145999" y="278160"/>
                  <a:pt x="154534" y="278160"/>
                </a:cubicBezTo>
                <a:moveTo>
                  <a:pt x="216347" y="278160"/>
                </a:moveTo>
                <a:cubicBezTo>
                  <a:pt x="224882" y="278160"/>
                  <a:pt x="231800" y="271242"/>
                  <a:pt x="231800" y="262707"/>
                </a:cubicBezTo>
                <a:lnTo>
                  <a:pt x="231800" y="247254"/>
                </a:lnTo>
                <a:cubicBezTo>
                  <a:pt x="231800" y="238719"/>
                  <a:pt x="238719" y="231800"/>
                  <a:pt x="247254" y="231800"/>
                </a:cubicBezTo>
                <a:cubicBezTo>
                  <a:pt x="238719" y="231800"/>
                  <a:pt x="231800" y="224882"/>
                  <a:pt x="231800" y="216347"/>
                </a:cubicBezTo>
                <a:lnTo>
                  <a:pt x="231800" y="200894"/>
                </a:lnTo>
                <a:cubicBezTo>
                  <a:pt x="231800" y="192359"/>
                  <a:pt x="224882" y="185440"/>
                  <a:pt x="216347" y="185440"/>
                </a:cubicBezTo>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contrato es lo único compartido</a:t>
            </a:r>
            <a:endParaRPr lang="en-US" sz="150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SolicitudEnviada: eventoId, id y tipo, igual en los dos lados.</a:t>
            </a:r>
            <a:endParaRPr lang="en-US" sz="11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Equipos independientes con un acuerdo claro.</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DevOps? Del código a la operación</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00" dirty="0">
                <a:solidFill>
                  <a:srgbClr val="55627E"/>
                </a:solidFill>
                <a:latin typeface="Segoe UI" pitchFamily="34" charset="0"/>
                <a:ea typeface="Segoe UI" pitchFamily="34" charset="-122"/>
                <a:cs typeface="Segoe UI" pitchFamily="34" charset="-120"/>
              </a:rPr>
              <a:t>No es una herramienta: es un solo camino, automático y repetible, del código a producción y de vuelta.</a:t>
            </a:r>
            <a:endParaRPr lang="en-US" sz="1600" dirty="0"/>
          </a:p>
        </p:txBody>
      </p:sp>
      <p:sp>
        <p:nvSpPr>
          <p:cNvPr id="13" name="Shape 11"/>
          <p:cNvSpPr/>
          <p:nvPr/>
        </p:nvSpPr>
        <p:spPr>
          <a:xfrm>
            <a:off x="612648" y="2805353"/>
            <a:ext cx="1707707" cy="1366166"/>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4" name="Icono git-branch"/>
          <p:cNvSpPr/>
          <p:nvPr/>
        </p:nvSpPr>
        <p:spPr>
          <a:xfrm>
            <a:off x="1169578" y="3051263"/>
            <a:ext cx="464496" cy="464496"/>
          </a:xfrm>
          <a:custGeom>
            <a:avLst/>
            <a:gdLst/>
            <a:ahLst/>
            <a:cxnLst/>
            <a:rect l="l" t="t" r="r" b="b"/>
            <a:pathLst>
              <a:path w="464496" h="464496">
                <a:moveTo>
                  <a:pt x="116124" y="58062"/>
                </a:moveTo>
                <a:lnTo>
                  <a:pt x="116124" y="290310"/>
                </a:lnTo>
                <a:moveTo>
                  <a:pt x="406434" y="116124"/>
                </a:moveTo>
                <a:cubicBezTo>
                  <a:pt x="406434" y="148191"/>
                  <a:pt x="380439" y="174186"/>
                  <a:pt x="348372" y="174186"/>
                </a:cubicBezTo>
                <a:cubicBezTo>
                  <a:pt x="316306" y="174186"/>
                  <a:pt x="290310" y="148191"/>
                  <a:pt x="290310" y="116124"/>
                </a:cubicBezTo>
                <a:cubicBezTo>
                  <a:pt x="290310" y="84057"/>
                  <a:pt x="316306" y="58062"/>
                  <a:pt x="348372" y="58062"/>
                </a:cubicBezTo>
                <a:cubicBezTo>
                  <a:pt x="380439" y="58062"/>
                  <a:pt x="406434" y="84057"/>
                  <a:pt x="406434" y="116124"/>
                </a:cubicBezTo>
                <a:close/>
                <a:moveTo>
                  <a:pt x="174186" y="348372"/>
                </a:moveTo>
                <a:cubicBezTo>
                  <a:pt x="174186" y="380439"/>
                  <a:pt x="148191" y="406434"/>
                  <a:pt x="116124" y="406434"/>
                </a:cubicBezTo>
                <a:cubicBezTo>
                  <a:pt x="84057" y="406434"/>
                  <a:pt x="58062" y="380439"/>
                  <a:pt x="58062" y="348372"/>
                </a:cubicBezTo>
                <a:cubicBezTo>
                  <a:pt x="58062" y="316306"/>
                  <a:pt x="84057" y="290310"/>
                  <a:pt x="116124" y="290310"/>
                </a:cubicBezTo>
                <a:cubicBezTo>
                  <a:pt x="148191" y="290310"/>
                  <a:pt x="174186" y="316306"/>
                  <a:pt x="174186" y="348372"/>
                </a:cubicBezTo>
                <a:close/>
                <a:moveTo>
                  <a:pt x="348372" y="174186"/>
                </a:moveTo>
                <a:cubicBezTo>
                  <a:pt x="348372" y="270386"/>
                  <a:pt x="270386" y="348372"/>
                  <a:pt x="174186" y="348372"/>
                </a:cubicBezTo>
              </a:path>
            </a:pathLst>
          </a:custGeom>
          <a:noFill/>
          <a:ln w="38708" cap="rnd">
            <a:solidFill>
              <a:srgbClr val="FFFFFF"/>
            </a:solidFill>
            <a:prstDash val="solid"/>
            <a:round/>
          </a:ln>
        </p:spPr>
      </p:sp>
      <p:sp>
        <p:nvSpPr>
          <p:cNvPr id="15" name="Text 13"/>
          <p:cNvSpPr/>
          <p:nvPr/>
        </p:nvSpPr>
        <p:spPr>
          <a:xfrm>
            <a:off x="722376" y="3607199"/>
            <a:ext cx="1358900"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Código</a:t>
            </a:r>
            <a:endParaRPr lang="en-US" sz="1400" dirty="0"/>
          </a:p>
        </p:txBody>
      </p:sp>
      <p:sp>
        <p:nvSpPr>
          <p:cNvPr id="16" name="Text 14"/>
          <p:cNvSpPr/>
          <p:nvPr/>
        </p:nvSpPr>
        <p:spPr>
          <a:xfrm>
            <a:off x="722376"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Ramas y Pull Request.</a:t>
            </a:r>
            <a:endParaRPr lang="en-US" sz="1400" dirty="0"/>
          </a:p>
        </p:txBody>
      </p:sp>
      <p:sp>
        <p:nvSpPr>
          <p:cNvPr id="17" name="Shape 15"/>
          <p:cNvSpPr/>
          <p:nvPr/>
        </p:nvSpPr>
        <p:spPr>
          <a:xfrm>
            <a:off x="1420782" y="4226383"/>
            <a:ext cx="0" cy="109728"/>
          </a:xfrm>
          <a:prstGeom prst="line">
            <a:avLst/>
          </a:prstGeom>
          <a:noFill/>
          <a:ln w="25400">
            <a:solidFill>
              <a:srgbClr val="0B2350"/>
            </a:solidFill>
            <a:prstDash val="solid"/>
          </a:ln>
        </p:spPr>
      </p:sp>
      <p:sp>
        <p:nvSpPr>
          <p:cNvPr id="18" name="[p1] Forma"/>
          <p:cNvSpPr/>
          <p:nvPr/>
        </p:nvSpPr>
        <p:spPr>
          <a:xfrm>
            <a:off x="2155763" y="2805353"/>
            <a:ext cx="1707707" cy="1366166"/>
          </a:xfrm>
          <a:prstGeom prst="chevron">
            <a:avLst/>
          </a:prstGeom>
          <a:solidFill>
            <a:srgbClr val="0B305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9" name="[p1] Icono settings"/>
          <p:cNvSpPr/>
          <p:nvPr/>
        </p:nvSpPr>
        <p:spPr>
          <a:xfrm>
            <a:off x="2931062" y="3051263"/>
            <a:ext cx="464496" cy="464496"/>
          </a:xfrm>
          <a:custGeom>
            <a:avLst/>
            <a:gdLst/>
            <a:ahLst/>
            <a:cxnLst/>
            <a:rect l="l" t="t" r="r" b="b"/>
            <a:pathLst>
              <a:path w="464496" h="464496">
                <a:moveTo>
                  <a:pt x="236506" y="38708"/>
                </a:moveTo>
                <a:lnTo>
                  <a:pt x="227990" y="38708"/>
                </a:lnTo>
                <a:cubicBezTo>
                  <a:pt x="206612" y="38708"/>
                  <a:pt x="189282" y="56038"/>
                  <a:pt x="189282" y="77416"/>
                </a:cubicBezTo>
                <a:lnTo>
                  <a:pt x="189282" y="80900"/>
                </a:lnTo>
                <a:cubicBezTo>
                  <a:pt x="189268" y="94715"/>
                  <a:pt x="181892" y="107475"/>
                  <a:pt x="169928" y="114382"/>
                </a:cubicBezTo>
                <a:lnTo>
                  <a:pt x="161606" y="119221"/>
                </a:lnTo>
                <a:cubicBezTo>
                  <a:pt x="149630" y="126135"/>
                  <a:pt x="134874" y="126135"/>
                  <a:pt x="122898" y="119221"/>
                </a:cubicBezTo>
                <a:lnTo>
                  <a:pt x="119995" y="117672"/>
                </a:lnTo>
                <a:cubicBezTo>
                  <a:pt x="101500" y="107004"/>
                  <a:pt x="77860" y="113325"/>
                  <a:pt x="67158" y="131801"/>
                </a:cubicBezTo>
                <a:lnTo>
                  <a:pt x="62901" y="139155"/>
                </a:lnTo>
                <a:cubicBezTo>
                  <a:pt x="52232" y="157650"/>
                  <a:pt x="58553" y="181290"/>
                  <a:pt x="77029" y="191992"/>
                </a:cubicBezTo>
                <a:lnTo>
                  <a:pt x="79932" y="193927"/>
                </a:lnTo>
                <a:cubicBezTo>
                  <a:pt x="91837" y="200800"/>
                  <a:pt x="99203" y="213471"/>
                  <a:pt x="99286" y="227216"/>
                </a:cubicBezTo>
                <a:lnTo>
                  <a:pt x="99286" y="237087"/>
                </a:lnTo>
                <a:cubicBezTo>
                  <a:pt x="99341" y="250971"/>
                  <a:pt x="91956" y="263821"/>
                  <a:pt x="79932" y="270763"/>
                </a:cubicBezTo>
                <a:lnTo>
                  <a:pt x="77029" y="272505"/>
                </a:lnTo>
                <a:cubicBezTo>
                  <a:pt x="58553" y="283206"/>
                  <a:pt x="52232" y="306846"/>
                  <a:pt x="62901" y="325341"/>
                </a:cubicBezTo>
                <a:lnTo>
                  <a:pt x="67158" y="332696"/>
                </a:lnTo>
                <a:cubicBezTo>
                  <a:pt x="77860" y="351171"/>
                  <a:pt x="101500" y="357493"/>
                  <a:pt x="119995" y="346824"/>
                </a:cubicBezTo>
                <a:lnTo>
                  <a:pt x="122898" y="345276"/>
                </a:lnTo>
                <a:cubicBezTo>
                  <a:pt x="134874" y="338361"/>
                  <a:pt x="149630" y="338361"/>
                  <a:pt x="161606" y="345276"/>
                </a:cubicBezTo>
                <a:lnTo>
                  <a:pt x="169928" y="350114"/>
                </a:lnTo>
                <a:cubicBezTo>
                  <a:pt x="181892" y="357022"/>
                  <a:pt x="189268" y="369782"/>
                  <a:pt x="189282" y="383597"/>
                </a:cubicBezTo>
                <a:lnTo>
                  <a:pt x="189282" y="387080"/>
                </a:lnTo>
                <a:cubicBezTo>
                  <a:pt x="189282" y="408458"/>
                  <a:pt x="206612" y="425788"/>
                  <a:pt x="227990" y="425788"/>
                </a:cubicBezTo>
                <a:lnTo>
                  <a:pt x="236506" y="425788"/>
                </a:lnTo>
                <a:cubicBezTo>
                  <a:pt x="257884" y="425788"/>
                  <a:pt x="275214" y="408458"/>
                  <a:pt x="275214" y="387080"/>
                </a:cubicBezTo>
                <a:lnTo>
                  <a:pt x="275214" y="383597"/>
                </a:lnTo>
                <a:cubicBezTo>
                  <a:pt x="275228" y="369782"/>
                  <a:pt x="282604" y="357022"/>
                  <a:pt x="294568" y="350114"/>
                </a:cubicBezTo>
                <a:lnTo>
                  <a:pt x="302890" y="345276"/>
                </a:lnTo>
                <a:cubicBezTo>
                  <a:pt x="314867" y="338361"/>
                  <a:pt x="329622" y="338361"/>
                  <a:pt x="341598" y="345276"/>
                </a:cubicBezTo>
                <a:lnTo>
                  <a:pt x="344501" y="346824"/>
                </a:lnTo>
                <a:cubicBezTo>
                  <a:pt x="362996" y="357493"/>
                  <a:pt x="386637" y="351171"/>
                  <a:pt x="397338" y="332696"/>
                </a:cubicBezTo>
                <a:lnTo>
                  <a:pt x="401596" y="325147"/>
                </a:lnTo>
                <a:cubicBezTo>
                  <a:pt x="412264" y="306653"/>
                  <a:pt x="405943" y="283012"/>
                  <a:pt x="387467" y="272311"/>
                </a:cubicBezTo>
                <a:lnTo>
                  <a:pt x="384564" y="270763"/>
                </a:lnTo>
                <a:cubicBezTo>
                  <a:pt x="372540" y="263821"/>
                  <a:pt x="365155" y="250971"/>
                  <a:pt x="365210" y="237087"/>
                </a:cubicBezTo>
                <a:lnTo>
                  <a:pt x="365210" y="227410"/>
                </a:lnTo>
                <a:cubicBezTo>
                  <a:pt x="365155" y="213526"/>
                  <a:pt x="372540" y="200676"/>
                  <a:pt x="384564" y="193734"/>
                </a:cubicBezTo>
                <a:lnTo>
                  <a:pt x="387467" y="191992"/>
                </a:lnTo>
                <a:cubicBezTo>
                  <a:pt x="405943" y="181290"/>
                  <a:pt x="412264" y="157650"/>
                  <a:pt x="401596" y="139155"/>
                </a:cubicBezTo>
                <a:lnTo>
                  <a:pt x="397338" y="131801"/>
                </a:lnTo>
                <a:cubicBezTo>
                  <a:pt x="386637" y="113325"/>
                  <a:pt x="362996" y="107004"/>
                  <a:pt x="344501" y="117672"/>
                </a:cubicBezTo>
                <a:lnTo>
                  <a:pt x="341598" y="119221"/>
                </a:lnTo>
                <a:cubicBezTo>
                  <a:pt x="329622" y="126135"/>
                  <a:pt x="314867" y="126135"/>
                  <a:pt x="302890" y="119221"/>
                </a:cubicBezTo>
                <a:lnTo>
                  <a:pt x="294568" y="114382"/>
                </a:lnTo>
                <a:cubicBezTo>
                  <a:pt x="282604" y="107475"/>
                  <a:pt x="275228" y="94715"/>
                  <a:pt x="275214" y="80900"/>
                </a:cubicBezTo>
                <a:lnTo>
                  <a:pt x="275214" y="77416"/>
                </a:lnTo>
                <a:cubicBezTo>
                  <a:pt x="275214" y="56038"/>
                  <a:pt x="257884" y="38708"/>
                  <a:pt x="236506" y="38708"/>
                </a:cubicBezTo>
                <a:close/>
                <a:moveTo>
                  <a:pt x="290310" y="232248"/>
                </a:moveTo>
                <a:cubicBezTo>
                  <a:pt x="290310" y="264315"/>
                  <a:pt x="264315" y="290310"/>
                  <a:pt x="232248" y="290310"/>
                </a:cubicBezTo>
                <a:cubicBezTo>
                  <a:pt x="200181" y="290310"/>
                  <a:pt x="174186" y="264315"/>
                  <a:pt x="174186" y="232248"/>
                </a:cubicBezTo>
                <a:cubicBezTo>
                  <a:pt x="174186" y="200181"/>
                  <a:pt x="200181" y="174186"/>
                  <a:pt x="232248" y="174186"/>
                </a:cubicBezTo>
                <a:cubicBezTo>
                  <a:pt x="264315" y="174186"/>
                  <a:pt x="290310" y="200181"/>
                  <a:pt x="290310" y="232248"/>
                </a:cubicBezTo>
                <a:close/>
              </a:path>
            </a:pathLst>
          </a:custGeom>
          <a:noFill/>
          <a:ln w="38708" cap="rnd">
            <a:solidFill>
              <a:srgbClr val="FFFFFF"/>
            </a:solidFill>
            <a:prstDash val="solid"/>
            <a:round/>
          </a:ln>
        </p:spPr>
      </p:sp>
      <p:sp>
        <p:nvSpPr>
          <p:cNvPr id="20" name="[p1] Forma"/>
          <p:cNvSpPr/>
          <p:nvPr/>
        </p:nvSpPr>
        <p:spPr>
          <a:xfrm>
            <a:off x="2702230" y="3607199"/>
            <a:ext cx="922162" cy="384048"/>
          </a:xfrm>
          <a:prstGeom prst="rect">
            <a:avLst/>
          </a:prstGeom>
          <a:noFill/>
          <a:ln/>
        </p:spPr>
        <p:txBody>
          <a:bodyPr wrap="square" lIns="0" tIns="0" rIns="0" bIns="0" rtlCol="0" anchor="t">
            <a:normAutofit/>
          </a:bodyPr>
          <a:lstStyle/>
          <a:p>
            <a:pPr algn="ctr" indent="0" marL="0">
              <a:buNone/>
            </a:pPr>
            <a:r>
              <a:rPr lang="en-US" sz="1350" b="1" dirty="0">
                <a:solidFill>
                  <a:srgbClr val="FFFFFF"/>
                </a:solidFill>
                <a:latin typeface="Segoe UI Semibold" pitchFamily="34" charset="0"/>
                <a:ea typeface="Segoe UI Semibold" pitchFamily="34" charset="-122"/>
                <a:cs typeface="Segoe UI Semibold" pitchFamily="34" charset="-120"/>
              </a:rPr>
              <a:t>Construir</a:t>
            </a:r>
            <a:endParaRPr lang="en-US" sz="1350" dirty="0"/>
          </a:p>
        </p:txBody>
      </p:sp>
      <p:sp>
        <p:nvSpPr>
          <p:cNvPr id="21" name="[p1] Forma"/>
          <p:cNvSpPr/>
          <p:nvPr/>
        </p:nvSpPr>
        <p:spPr>
          <a:xfrm>
            <a:off x="2265491"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Maven compila.</a:t>
            </a:r>
            <a:endParaRPr lang="en-US" sz="1400" dirty="0"/>
          </a:p>
        </p:txBody>
      </p:sp>
      <p:sp>
        <p:nvSpPr>
          <p:cNvPr id="22" name="[p1] Forma"/>
          <p:cNvSpPr/>
          <p:nvPr/>
        </p:nvSpPr>
        <p:spPr>
          <a:xfrm>
            <a:off x="2963897" y="4226383"/>
            <a:ext cx="0" cy="109728"/>
          </a:xfrm>
          <a:prstGeom prst="line">
            <a:avLst/>
          </a:prstGeom>
          <a:noFill/>
          <a:ln w="25400">
            <a:solidFill>
              <a:srgbClr val="0B305A"/>
            </a:solidFill>
            <a:prstDash val="solid"/>
          </a:ln>
        </p:spPr>
      </p:sp>
      <p:sp>
        <p:nvSpPr>
          <p:cNvPr id="23" name="[p2] Forma"/>
          <p:cNvSpPr/>
          <p:nvPr/>
        </p:nvSpPr>
        <p:spPr>
          <a:xfrm>
            <a:off x="3698879" y="2805353"/>
            <a:ext cx="1707707" cy="1366166"/>
          </a:xfrm>
          <a:prstGeom prst="chevron">
            <a:avLst/>
          </a:prstGeom>
          <a:solidFill>
            <a:srgbClr val="0B3C6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4" name="[p2] Icono flask-conical"/>
          <p:cNvSpPr/>
          <p:nvPr/>
        </p:nvSpPr>
        <p:spPr>
          <a:xfrm>
            <a:off x="4474178" y="3051263"/>
            <a:ext cx="464496" cy="464496"/>
          </a:xfrm>
          <a:custGeom>
            <a:avLst/>
            <a:gdLst/>
            <a:ahLst/>
            <a:cxnLst/>
            <a:rect l="l" t="t" r="r" b="b"/>
            <a:pathLst>
              <a:path w="464496" h="464496">
                <a:moveTo>
                  <a:pt x="270956" y="38708"/>
                </a:moveTo>
                <a:lnTo>
                  <a:pt x="270956" y="154832"/>
                </a:lnTo>
                <a:cubicBezTo>
                  <a:pt x="270953" y="161325"/>
                  <a:pt x="272584" y="167714"/>
                  <a:pt x="275698" y="173412"/>
                </a:cubicBezTo>
                <a:lnTo>
                  <a:pt x="382339" y="368500"/>
                </a:lnTo>
                <a:cubicBezTo>
                  <a:pt x="388901" y="380495"/>
                  <a:pt x="388650" y="395061"/>
                  <a:pt x="381677" y="406821"/>
                </a:cubicBezTo>
                <a:cubicBezTo>
                  <a:pt x="374704" y="418582"/>
                  <a:pt x="362044" y="425792"/>
                  <a:pt x="348372" y="425788"/>
                </a:cubicBezTo>
                <a:lnTo>
                  <a:pt x="116124" y="425788"/>
                </a:lnTo>
                <a:cubicBezTo>
                  <a:pt x="102452" y="425792"/>
                  <a:pt x="89792" y="418582"/>
                  <a:pt x="82820" y="406821"/>
                </a:cubicBezTo>
                <a:cubicBezTo>
                  <a:pt x="75847" y="395061"/>
                  <a:pt x="75595" y="380495"/>
                  <a:pt x="82158" y="368500"/>
                </a:cubicBezTo>
                <a:lnTo>
                  <a:pt x="188798" y="173412"/>
                </a:lnTo>
                <a:cubicBezTo>
                  <a:pt x="191912" y="167714"/>
                  <a:pt x="193543" y="161325"/>
                  <a:pt x="193540" y="154832"/>
                </a:cubicBezTo>
                <a:lnTo>
                  <a:pt x="193540" y="38708"/>
                </a:lnTo>
                <a:moveTo>
                  <a:pt x="124891" y="290310"/>
                </a:moveTo>
                <a:lnTo>
                  <a:pt x="339605" y="290310"/>
                </a:lnTo>
                <a:moveTo>
                  <a:pt x="164509" y="38708"/>
                </a:moveTo>
                <a:lnTo>
                  <a:pt x="299987" y="38708"/>
                </a:lnTo>
              </a:path>
            </a:pathLst>
          </a:custGeom>
          <a:noFill/>
          <a:ln w="38708" cap="rnd">
            <a:solidFill>
              <a:srgbClr val="FFFFFF"/>
            </a:solidFill>
            <a:prstDash val="solid"/>
            <a:round/>
          </a:ln>
        </p:spPr>
      </p:sp>
      <p:sp>
        <p:nvSpPr>
          <p:cNvPr id="25" name="[p2] Forma"/>
          <p:cNvSpPr/>
          <p:nvPr/>
        </p:nvSpPr>
        <p:spPr>
          <a:xfrm>
            <a:off x="4245345"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Probar</a:t>
            </a:r>
            <a:endParaRPr lang="en-US" sz="1400" dirty="0"/>
          </a:p>
        </p:txBody>
      </p:sp>
      <p:sp>
        <p:nvSpPr>
          <p:cNvPr id="26" name="[p2] Forma"/>
          <p:cNvSpPr/>
          <p:nvPr/>
        </p:nvSpPr>
        <p:spPr>
          <a:xfrm>
            <a:off x="3808607"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cada cambio.</a:t>
            </a:r>
            <a:endParaRPr lang="en-US" sz="1400" dirty="0"/>
          </a:p>
        </p:txBody>
      </p:sp>
      <p:sp>
        <p:nvSpPr>
          <p:cNvPr id="27" name="[p2] Forma"/>
          <p:cNvSpPr/>
          <p:nvPr/>
        </p:nvSpPr>
        <p:spPr>
          <a:xfrm>
            <a:off x="4507012" y="4226383"/>
            <a:ext cx="0" cy="109728"/>
          </a:xfrm>
          <a:prstGeom prst="line">
            <a:avLst/>
          </a:prstGeom>
          <a:noFill/>
          <a:ln w="25400">
            <a:solidFill>
              <a:srgbClr val="0B3C63"/>
            </a:solidFill>
            <a:prstDash val="solid"/>
          </a:ln>
        </p:spPr>
      </p:sp>
      <p:sp>
        <p:nvSpPr>
          <p:cNvPr id="28" name="[p3] Forma"/>
          <p:cNvSpPr/>
          <p:nvPr/>
        </p:nvSpPr>
        <p:spPr>
          <a:xfrm>
            <a:off x="5241994" y="2805353"/>
            <a:ext cx="1707707" cy="1366166"/>
          </a:xfrm>
          <a:prstGeom prst="chevron">
            <a:avLst/>
          </a:prstGeom>
          <a:solidFill>
            <a:srgbClr val="0B496D"/>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9" name="[p3] Icono package"/>
          <p:cNvSpPr/>
          <p:nvPr/>
        </p:nvSpPr>
        <p:spPr>
          <a:xfrm>
            <a:off x="6017293" y="3051263"/>
            <a:ext cx="464496" cy="464496"/>
          </a:xfrm>
          <a:custGeom>
            <a:avLst/>
            <a:gdLst/>
            <a:ahLst/>
            <a:cxnLst/>
            <a:rect l="l" t="t" r="r" b="b"/>
            <a:pathLst>
              <a:path w="464496" h="464496">
                <a:moveTo>
                  <a:pt x="212894" y="420563"/>
                </a:moveTo>
                <a:cubicBezTo>
                  <a:pt x="224870" y="427477"/>
                  <a:pt x="239626" y="427477"/>
                  <a:pt x="251602" y="420563"/>
                </a:cubicBezTo>
                <a:lnTo>
                  <a:pt x="387080" y="343147"/>
                </a:lnTo>
                <a:cubicBezTo>
                  <a:pt x="399044" y="336239"/>
                  <a:pt x="406420" y="323479"/>
                  <a:pt x="406434" y="309664"/>
                </a:cubicBezTo>
                <a:lnTo>
                  <a:pt x="406434" y="154832"/>
                </a:lnTo>
                <a:cubicBezTo>
                  <a:pt x="406420" y="141017"/>
                  <a:pt x="399044" y="128257"/>
                  <a:pt x="387080" y="121350"/>
                </a:cubicBezTo>
                <a:lnTo>
                  <a:pt x="251602" y="43934"/>
                </a:lnTo>
                <a:cubicBezTo>
                  <a:pt x="239626" y="37019"/>
                  <a:pt x="224870" y="37019"/>
                  <a:pt x="212894" y="43934"/>
                </a:cubicBezTo>
                <a:lnTo>
                  <a:pt x="77416" y="121350"/>
                </a:lnTo>
                <a:cubicBezTo>
                  <a:pt x="65452" y="128257"/>
                  <a:pt x="58076" y="141017"/>
                  <a:pt x="58062" y="154832"/>
                </a:cubicBezTo>
                <a:lnTo>
                  <a:pt x="58062" y="309664"/>
                </a:lnTo>
                <a:cubicBezTo>
                  <a:pt x="58076" y="323479"/>
                  <a:pt x="65452" y="336239"/>
                  <a:pt x="77416" y="343147"/>
                </a:cubicBezTo>
                <a:close/>
                <a:moveTo>
                  <a:pt x="232248" y="425788"/>
                </a:moveTo>
                <a:lnTo>
                  <a:pt x="232248" y="232248"/>
                </a:lnTo>
                <a:moveTo>
                  <a:pt x="63868" y="135478"/>
                </a:moveTo>
                <a:lnTo>
                  <a:pt x="212952" y="227100"/>
                </a:lnTo>
                <a:cubicBezTo>
                  <a:pt x="224899" y="233970"/>
                  <a:pt x="239597" y="233970"/>
                  <a:pt x="251544" y="227100"/>
                </a:cubicBezTo>
                <a:lnTo>
                  <a:pt x="400628" y="135478"/>
                </a:lnTo>
                <a:moveTo>
                  <a:pt x="145155" y="82642"/>
                </a:moveTo>
                <a:lnTo>
                  <a:pt x="319341" y="182315"/>
                </a:lnTo>
              </a:path>
            </a:pathLst>
          </a:custGeom>
          <a:noFill/>
          <a:ln w="38708" cap="rnd">
            <a:solidFill>
              <a:srgbClr val="FFFFFF"/>
            </a:solidFill>
            <a:prstDash val="solid"/>
            <a:round/>
          </a:ln>
        </p:spPr>
      </p:sp>
      <p:sp>
        <p:nvSpPr>
          <p:cNvPr id="30" name="[p3] Forma"/>
          <p:cNvSpPr/>
          <p:nvPr/>
        </p:nvSpPr>
        <p:spPr>
          <a:xfrm>
            <a:off x="5788460"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Imagen</a:t>
            </a:r>
            <a:endParaRPr lang="en-US" sz="1400" dirty="0"/>
          </a:p>
        </p:txBody>
      </p:sp>
      <p:sp>
        <p:nvSpPr>
          <p:cNvPr id="31" name="[p3] Forma"/>
          <p:cNvSpPr/>
          <p:nvPr/>
        </p:nvSpPr>
        <p:spPr>
          <a:xfrm>
            <a:off x="5351722"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Docker la empaqueta.</a:t>
            </a:r>
            <a:endParaRPr lang="en-US" sz="1400" dirty="0"/>
          </a:p>
        </p:txBody>
      </p:sp>
      <p:sp>
        <p:nvSpPr>
          <p:cNvPr id="32" name="[p3] Forma"/>
          <p:cNvSpPr/>
          <p:nvPr/>
        </p:nvSpPr>
        <p:spPr>
          <a:xfrm>
            <a:off x="6050128" y="4226383"/>
            <a:ext cx="0" cy="109728"/>
          </a:xfrm>
          <a:prstGeom prst="line">
            <a:avLst/>
          </a:prstGeom>
          <a:noFill/>
          <a:ln w="25400">
            <a:solidFill>
              <a:srgbClr val="0B496D"/>
            </a:solidFill>
            <a:prstDash val="solid"/>
          </a:ln>
        </p:spPr>
      </p:sp>
      <p:sp>
        <p:nvSpPr>
          <p:cNvPr id="33" name="[p4] Forma"/>
          <p:cNvSpPr/>
          <p:nvPr/>
        </p:nvSpPr>
        <p:spPr>
          <a:xfrm>
            <a:off x="6785109" y="2805353"/>
            <a:ext cx="1707707" cy="1366166"/>
          </a:xfrm>
          <a:prstGeom prst="chevron">
            <a:avLst/>
          </a:prstGeom>
          <a:solidFill>
            <a:srgbClr val="0B557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4" name="[p4] Icono cloud-upload"/>
          <p:cNvSpPr/>
          <p:nvPr/>
        </p:nvSpPr>
        <p:spPr>
          <a:xfrm>
            <a:off x="7560408" y="3051263"/>
            <a:ext cx="464496" cy="464496"/>
          </a:xfrm>
          <a:custGeom>
            <a:avLst/>
            <a:gdLst/>
            <a:ahLst/>
            <a:cxnLst/>
            <a:rect l="l" t="t" r="r" b="b"/>
            <a:pathLst>
              <a:path w="464496" h="464496">
                <a:moveTo>
                  <a:pt x="232248" y="251602"/>
                </a:moveTo>
                <a:lnTo>
                  <a:pt x="232248" y="406434"/>
                </a:lnTo>
                <a:moveTo>
                  <a:pt x="77416" y="288355"/>
                </a:moveTo>
                <a:cubicBezTo>
                  <a:pt x="38030" y="248114"/>
                  <a:pt x="27641" y="187705"/>
                  <a:pt x="51320" y="136618"/>
                </a:cubicBezTo>
                <a:cubicBezTo>
                  <a:pt x="75000" y="85531"/>
                  <a:pt x="127812" y="54417"/>
                  <a:pt x="183975" y="58464"/>
                </a:cubicBezTo>
                <a:cubicBezTo>
                  <a:pt x="240138" y="62512"/>
                  <a:pt x="287942" y="100877"/>
                  <a:pt x="304052" y="154832"/>
                </a:cubicBezTo>
                <a:lnTo>
                  <a:pt x="338695" y="154832"/>
                </a:lnTo>
                <a:cubicBezTo>
                  <a:pt x="377062" y="154828"/>
                  <a:pt x="410912" y="179930"/>
                  <a:pt x="422049" y="216645"/>
                </a:cubicBezTo>
                <a:cubicBezTo>
                  <a:pt x="433185" y="253360"/>
                  <a:pt x="418984" y="293038"/>
                  <a:pt x="387080" y="314348"/>
                </a:cubicBezTo>
                <a:moveTo>
                  <a:pt x="154832" y="329018"/>
                </a:moveTo>
                <a:lnTo>
                  <a:pt x="232248" y="251602"/>
                </a:lnTo>
                <a:lnTo>
                  <a:pt x="309664" y="329018"/>
                </a:lnTo>
              </a:path>
            </a:pathLst>
          </a:custGeom>
          <a:noFill/>
          <a:ln w="38708" cap="rnd">
            <a:solidFill>
              <a:srgbClr val="FFFFFF"/>
            </a:solidFill>
            <a:prstDash val="solid"/>
            <a:round/>
          </a:ln>
        </p:spPr>
      </p:sp>
      <p:sp>
        <p:nvSpPr>
          <p:cNvPr id="35" name="[p4] Forma"/>
          <p:cNvSpPr/>
          <p:nvPr/>
        </p:nvSpPr>
        <p:spPr>
          <a:xfrm>
            <a:off x="7331576"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Publicar</a:t>
            </a:r>
            <a:endParaRPr lang="en-US" sz="1400" dirty="0"/>
          </a:p>
        </p:txBody>
      </p:sp>
      <p:sp>
        <p:nvSpPr>
          <p:cNvPr id="36" name="[p4] Forma"/>
          <p:cNvSpPr/>
          <p:nvPr/>
        </p:nvSpPr>
        <p:spPr>
          <a:xfrm>
            <a:off x="6894837"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a:t>
            </a:r>
            <a:endParaRPr lang="en-US" sz="1400" dirty="0"/>
          </a:p>
        </p:txBody>
      </p:sp>
      <p:sp>
        <p:nvSpPr>
          <p:cNvPr id="37" name="[p4] Forma"/>
          <p:cNvSpPr/>
          <p:nvPr/>
        </p:nvSpPr>
        <p:spPr>
          <a:xfrm>
            <a:off x="7593243" y="4226383"/>
            <a:ext cx="0" cy="109728"/>
          </a:xfrm>
          <a:prstGeom prst="line">
            <a:avLst/>
          </a:prstGeom>
          <a:noFill/>
          <a:ln w="25400">
            <a:solidFill>
              <a:srgbClr val="0B5577"/>
            </a:solidFill>
            <a:prstDash val="solid"/>
          </a:ln>
        </p:spPr>
      </p:sp>
      <p:sp>
        <p:nvSpPr>
          <p:cNvPr id="38" name="[p5] Forma"/>
          <p:cNvSpPr/>
          <p:nvPr/>
        </p:nvSpPr>
        <p:spPr>
          <a:xfrm>
            <a:off x="8328225" y="2805353"/>
            <a:ext cx="1707707" cy="1366166"/>
          </a:xfrm>
          <a:prstGeom prst="chevron">
            <a:avLst/>
          </a:prstGeom>
          <a:solidFill>
            <a:srgbClr val="0B628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9" name="[p5] Icono ship-wheel"/>
          <p:cNvSpPr/>
          <p:nvPr/>
        </p:nvSpPr>
        <p:spPr>
          <a:xfrm>
            <a:off x="9103524" y="3051263"/>
            <a:ext cx="464496" cy="464496"/>
          </a:xfrm>
          <a:custGeom>
            <a:avLst/>
            <a:gdLst/>
            <a:ahLst/>
            <a:cxnLst/>
            <a:rect l="l" t="t" r="r" b="b"/>
            <a:pathLst>
              <a:path w="464496" h="464496">
                <a:moveTo>
                  <a:pt x="387080" y="232248"/>
                </a:moveTo>
                <a:cubicBezTo>
                  <a:pt x="387080" y="317760"/>
                  <a:pt x="317760" y="387080"/>
                  <a:pt x="232248" y="387080"/>
                </a:cubicBezTo>
                <a:cubicBezTo>
                  <a:pt x="146737" y="387080"/>
                  <a:pt x="77416" y="317760"/>
                  <a:pt x="77416" y="232248"/>
                </a:cubicBezTo>
                <a:cubicBezTo>
                  <a:pt x="77416" y="146737"/>
                  <a:pt x="146737" y="77416"/>
                  <a:pt x="232248" y="77416"/>
                </a:cubicBezTo>
                <a:cubicBezTo>
                  <a:pt x="317760" y="77416"/>
                  <a:pt x="387080" y="146737"/>
                  <a:pt x="387080" y="232248"/>
                </a:cubicBezTo>
                <a:close/>
                <a:moveTo>
                  <a:pt x="232248" y="38708"/>
                </a:moveTo>
                <a:lnTo>
                  <a:pt x="232248" y="183863"/>
                </a:lnTo>
                <a:moveTo>
                  <a:pt x="367726" y="96770"/>
                </a:moveTo>
                <a:lnTo>
                  <a:pt x="266505" y="197992"/>
                </a:lnTo>
                <a:moveTo>
                  <a:pt x="425788" y="232248"/>
                </a:moveTo>
                <a:lnTo>
                  <a:pt x="280633" y="232248"/>
                </a:lnTo>
                <a:moveTo>
                  <a:pt x="367726" y="367726"/>
                </a:moveTo>
                <a:lnTo>
                  <a:pt x="266505" y="266505"/>
                </a:lnTo>
                <a:moveTo>
                  <a:pt x="232248" y="280633"/>
                </a:moveTo>
                <a:lnTo>
                  <a:pt x="232248" y="425788"/>
                </a:lnTo>
                <a:moveTo>
                  <a:pt x="197992" y="266505"/>
                </a:moveTo>
                <a:lnTo>
                  <a:pt x="96770" y="367726"/>
                </a:lnTo>
                <a:moveTo>
                  <a:pt x="183863" y="232248"/>
                </a:moveTo>
                <a:lnTo>
                  <a:pt x="38708" y="232248"/>
                </a:lnTo>
                <a:moveTo>
                  <a:pt x="197992" y="197992"/>
                </a:moveTo>
                <a:lnTo>
                  <a:pt x="96770" y="96770"/>
                </a:lnTo>
                <a:moveTo>
                  <a:pt x="280633" y="232248"/>
                </a:moveTo>
                <a:cubicBezTo>
                  <a:pt x="280633" y="258971"/>
                  <a:pt x="258971" y="280633"/>
                  <a:pt x="232248" y="280633"/>
                </a:cubicBezTo>
                <a:cubicBezTo>
                  <a:pt x="205526" y="280633"/>
                  <a:pt x="183863" y="258971"/>
                  <a:pt x="183863" y="232248"/>
                </a:cubicBezTo>
                <a:cubicBezTo>
                  <a:pt x="183863" y="205526"/>
                  <a:pt x="205526" y="183863"/>
                  <a:pt x="232248" y="183863"/>
                </a:cubicBezTo>
                <a:cubicBezTo>
                  <a:pt x="258971" y="183863"/>
                  <a:pt x="280633" y="205526"/>
                  <a:pt x="280633" y="232248"/>
                </a:cubicBezTo>
                <a:close/>
              </a:path>
            </a:pathLst>
          </a:custGeom>
          <a:noFill/>
          <a:ln w="38708" cap="rnd">
            <a:solidFill>
              <a:srgbClr val="FFFFFF"/>
            </a:solidFill>
            <a:prstDash val="solid"/>
            <a:round/>
          </a:ln>
        </p:spPr>
      </p:sp>
      <p:sp>
        <p:nvSpPr>
          <p:cNvPr id="40" name="[p5] Forma"/>
          <p:cNvSpPr/>
          <p:nvPr/>
        </p:nvSpPr>
        <p:spPr>
          <a:xfrm>
            <a:off x="8874691"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Operar</a:t>
            </a:r>
            <a:endParaRPr lang="en-US" sz="1400" dirty="0"/>
          </a:p>
        </p:txBody>
      </p:sp>
      <p:sp>
        <p:nvSpPr>
          <p:cNvPr id="41" name="[p5] Forma"/>
          <p:cNvSpPr/>
          <p:nvPr/>
        </p:nvSpPr>
        <p:spPr>
          <a:xfrm>
            <a:off x="8437953"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Kubernetes la despliega.</a:t>
            </a:r>
            <a:endParaRPr lang="en-US" sz="1400" dirty="0"/>
          </a:p>
        </p:txBody>
      </p:sp>
      <p:sp>
        <p:nvSpPr>
          <p:cNvPr id="42" name="[p5] Forma"/>
          <p:cNvSpPr/>
          <p:nvPr/>
        </p:nvSpPr>
        <p:spPr>
          <a:xfrm>
            <a:off x="9136358" y="4226383"/>
            <a:ext cx="0" cy="109728"/>
          </a:xfrm>
          <a:prstGeom prst="line">
            <a:avLst/>
          </a:prstGeom>
          <a:noFill/>
          <a:ln w="25400">
            <a:solidFill>
              <a:srgbClr val="0B6280"/>
            </a:solidFill>
            <a:prstDash val="solid"/>
          </a:ln>
        </p:spPr>
      </p:sp>
      <p:sp>
        <p:nvSpPr>
          <p:cNvPr id="43" name="[p6] Forma"/>
          <p:cNvSpPr/>
          <p:nvPr/>
        </p:nvSpPr>
        <p:spPr>
          <a:xfrm>
            <a:off x="9871340" y="2805353"/>
            <a:ext cx="1707707" cy="1366166"/>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4" name="[p6] Icono chart-line"/>
          <p:cNvSpPr/>
          <p:nvPr/>
        </p:nvSpPr>
        <p:spPr>
          <a:xfrm>
            <a:off x="10646639" y="3051263"/>
            <a:ext cx="464496" cy="464496"/>
          </a:xfrm>
          <a:custGeom>
            <a:avLst/>
            <a:gdLst/>
            <a:ahLst/>
            <a:cxnLst/>
            <a:rect l="l" t="t" r="r" b="b"/>
            <a:pathLst>
              <a:path w="464496" h="464496">
                <a:moveTo>
                  <a:pt x="58062" y="58062"/>
                </a:moveTo>
                <a:lnTo>
                  <a:pt x="58062" y="367726"/>
                </a:lnTo>
                <a:cubicBezTo>
                  <a:pt x="58062" y="389104"/>
                  <a:pt x="75392" y="406434"/>
                  <a:pt x="96770" y="406434"/>
                </a:cubicBezTo>
                <a:lnTo>
                  <a:pt x="406434" y="406434"/>
                </a:lnTo>
                <a:moveTo>
                  <a:pt x="367726" y="174186"/>
                </a:moveTo>
                <a:lnTo>
                  <a:pt x="270956" y="270956"/>
                </a:lnTo>
                <a:lnTo>
                  <a:pt x="193540" y="193540"/>
                </a:lnTo>
                <a:lnTo>
                  <a:pt x="135478" y="251602"/>
                </a:lnTo>
              </a:path>
            </a:pathLst>
          </a:custGeom>
          <a:noFill/>
          <a:ln w="38708" cap="rnd">
            <a:solidFill>
              <a:srgbClr val="FFFFFF"/>
            </a:solidFill>
            <a:prstDash val="solid"/>
            <a:round/>
          </a:ln>
        </p:spPr>
      </p:sp>
      <p:sp>
        <p:nvSpPr>
          <p:cNvPr id="45" name="[p6] Forma"/>
          <p:cNvSpPr/>
          <p:nvPr/>
        </p:nvSpPr>
        <p:spPr>
          <a:xfrm>
            <a:off x="10417806"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Observar</a:t>
            </a:r>
            <a:endParaRPr lang="en-US" sz="1400" dirty="0"/>
          </a:p>
        </p:txBody>
      </p:sp>
      <p:sp>
        <p:nvSpPr>
          <p:cNvPr id="46" name="[p6] Forma"/>
          <p:cNvSpPr/>
          <p:nvPr/>
        </p:nvSpPr>
        <p:spPr>
          <a:xfrm>
            <a:off x="9981068"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Loki y Grafana.</a:t>
            </a:r>
            <a:endParaRPr lang="en-US" sz="1400" dirty="0"/>
          </a:p>
        </p:txBody>
      </p:sp>
      <p:sp>
        <p:nvSpPr>
          <p:cNvPr id="47" name="[p6] Forma"/>
          <p:cNvSpPr/>
          <p:nvPr/>
        </p:nvSpPr>
        <p:spPr>
          <a:xfrm>
            <a:off x="10679474" y="4226383"/>
            <a:ext cx="0" cy="109728"/>
          </a:xfrm>
          <a:prstGeom prst="line">
            <a:avLst/>
          </a:prstGeom>
          <a:noFill/>
          <a:ln w="25400">
            <a:solidFill>
              <a:srgbClr val="0B6E8A"/>
            </a:solidFill>
            <a:prstDash val="solid"/>
          </a:ln>
        </p:spPr>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00"/>
                                        <p:tgtEl>
                                          <p:spTgt spid="3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400"/>
                                        <p:tgtEl>
                                          <p:spTgt spid="3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400"/>
                                        <p:tgtEl>
                                          <p:spTgt spid="3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400"/>
                                        <p:tgtEl>
                                          <p:spTgt spid="3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fade">
                                      <p:cBhvr>
                                        <p:cTn id="76" dur="400"/>
                                        <p:tgtEl>
                                          <p:spTgt spid="3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9" dur="400"/>
                                        <p:tgtEl>
                                          <p:spTgt spid="4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400"/>
                                        <p:tgtEl>
                                          <p:spTgt spid="4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400"/>
                                        <p:tgtEl>
                                          <p:spTgt spid="42"/>
                                        </p:tgtEl>
                                      </p:cBhvr>
                                    </p:animEffect>
                                  </p:childTnLst>
                                </p:cTn>
                              </p:par>
                            </p:childTnLst>
                          </p:cTn>
                        </p:par>
                      </p:childTnLst>
                    </p:cTn>
                  </p:par>
                  <p:par>
                    <p:cTn id="103" fill="hold">
                      <p:stCondLst>
                        <p:cond delay="indefinite"/>
                      </p:stCondLst>
                      <p:childTnLst>
                        <p:par>
                          <p:cTn id="10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fade">
                                      <p:cBhvr>
                                        <p:cTn id="99" dur="400"/>
                                        <p:tgtEl>
                                          <p:spTgt spid="4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fade">
                                      <p:cBhvr>
                                        <p:cTn id="102"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Kubernetes: no compiten, se complementan</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construye la caja; Kubernetes la pone a correr y la cuida.</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7" name="Shape 15"/>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19" name="Shape 17"/>
          <p:cNvSpPr/>
          <p:nvPr/>
        </p:nvSpPr>
        <p:spPr>
          <a:xfrm>
            <a:off x="612648" y="2267712"/>
            <a:ext cx="5163160" cy="365760"/>
          </a:xfrm>
          <a:prstGeom prst="rect">
            <a:avLst/>
          </a:prstGeom>
          <a:solidFill>
            <a:srgbClr val="0B6E8A"/>
          </a:solidFill>
          <a:ln w="12700">
            <a:solidFill>
              <a:srgbClr val="0B6E8A"/>
            </a:solidFill>
            <a:prstDash val="solid"/>
          </a:ln>
        </p:spPr>
      </p:sp>
      <p:sp>
        <p:nvSpPr>
          <p:cNvPr id="20" name="Shape 18"/>
          <p:cNvSpPr/>
          <p:nvPr/>
        </p:nvSpPr>
        <p:spPr>
          <a:xfrm>
            <a:off x="841248" y="1874520"/>
            <a:ext cx="603504" cy="603504"/>
          </a:xfrm>
          <a:prstGeom prst="ellipse">
            <a:avLst/>
          </a:prstGeom>
          <a:solidFill>
            <a:srgbClr val="FFFFFF"/>
          </a:solidFill>
          <a:ln w="12700">
            <a:solidFill>
              <a:srgbClr val="FFFFFF"/>
            </a:solidFill>
            <a:prstDash val="solid"/>
          </a:ln>
        </p:spPr>
      </p:sp>
      <p:sp>
        <p:nvSpPr>
          <p:cNvPr id="21"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2" name="Text 20"/>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empaqueta</a:t>
            </a:r>
            <a:endParaRPr lang="en-US" sz="1900" dirty="0"/>
          </a:p>
        </p:txBody>
      </p:sp>
      <p:sp>
        <p:nvSpPr>
          <p:cNvPr id="23"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4" name="Text 22"/>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Mete la app con Java y todo lo que usa</a:t>
            </a:r>
            <a:endParaRPr lang="en-US" sz="1500" dirty="0"/>
          </a:p>
        </p:txBody>
      </p:sp>
      <p:sp>
        <p:nvSpPr>
          <p:cNvPr id="25" name="Shape 23"/>
          <p:cNvSpPr/>
          <p:nvPr/>
        </p:nvSpPr>
        <p:spPr>
          <a:xfrm>
            <a:off x="886968" y="3479292"/>
            <a:ext cx="4614520" cy="0"/>
          </a:xfrm>
          <a:prstGeom prst="line">
            <a:avLst/>
          </a:prstGeom>
          <a:noFill/>
          <a:ln w="9525">
            <a:solidFill>
              <a:srgbClr val="DFE6F0"/>
            </a:solidFill>
            <a:prstDash val="solid"/>
          </a:ln>
        </p:spPr>
      </p:sp>
      <p:sp>
        <p:nvSpPr>
          <p:cNvPr id="26"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7" name="Text 25"/>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Crea una imagen que no cambia</a:t>
            </a:r>
            <a:endParaRPr lang="en-US" sz="1500" dirty="0"/>
          </a:p>
        </p:txBody>
      </p:sp>
      <p:sp>
        <p:nvSpPr>
          <p:cNvPr id="28" name="Shape 26"/>
          <p:cNvSpPr/>
          <p:nvPr/>
        </p:nvSpPr>
        <p:spPr>
          <a:xfrm>
            <a:off x="886968" y="4142232"/>
            <a:ext cx="4614520" cy="0"/>
          </a:xfrm>
          <a:prstGeom prst="line">
            <a:avLst/>
          </a:prstGeom>
          <a:noFill/>
          <a:ln w="9525">
            <a:solidFill>
              <a:srgbClr val="DFE6F0"/>
            </a:solidFill>
            <a:prstDash val="solid"/>
          </a:ln>
        </p:spPr>
      </p:sp>
      <p:sp>
        <p:nvSpPr>
          <p:cNvPr id="29"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0" name="Text 28"/>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o en un servidor</a:t>
            </a:r>
            <a:endParaRPr lang="en-US" sz="1500" dirty="0"/>
          </a:p>
        </p:txBody>
      </p:sp>
      <p:sp>
        <p:nvSpPr>
          <p:cNvPr id="31" name="Shape 29"/>
          <p:cNvSpPr/>
          <p:nvPr/>
        </p:nvSpPr>
        <p:spPr>
          <a:xfrm>
            <a:off x="886968" y="4805172"/>
            <a:ext cx="4614520" cy="0"/>
          </a:xfrm>
          <a:prstGeom prst="line">
            <a:avLst/>
          </a:prstGeom>
          <a:noFill/>
          <a:ln w="9525">
            <a:solidFill>
              <a:srgbClr val="DFE6F0"/>
            </a:solidFill>
            <a:prstDash val="solid"/>
          </a:ln>
        </p:spPr>
      </p:sp>
      <p:sp>
        <p:nvSpPr>
          <p:cNvPr id="32"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3" name="Text 31"/>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4" name="[p1] Forma"/>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p1] Forma"/>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6" name="[p1] Forma"/>
          <p:cNvSpPr/>
          <p:nvPr/>
        </p:nvSpPr>
        <p:spPr>
          <a:xfrm>
            <a:off x="6415888" y="2267712"/>
            <a:ext cx="5163160" cy="365760"/>
          </a:xfrm>
          <a:prstGeom prst="rect">
            <a:avLst/>
          </a:prstGeom>
          <a:solidFill>
            <a:srgbClr val="0A6648"/>
          </a:solidFill>
          <a:ln w="12700">
            <a:solidFill>
              <a:srgbClr val="0A6648"/>
            </a:solidFill>
            <a:prstDash val="solid"/>
          </a:ln>
        </p:spPr>
      </p:sp>
      <p:sp>
        <p:nvSpPr>
          <p:cNvPr id="37" name="[p1] Forma"/>
          <p:cNvSpPr/>
          <p:nvPr/>
        </p:nvSpPr>
        <p:spPr>
          <a:xfrm>
            <a:off x="6644488" y="1874520"/>
            <a:ext cx="603504" cy="603504"/>
          </a:xfrm>
          <a:prstGeom prst="ellipse">
            <a:avLst/>
          </a:prstGeom>
          <a:solidFill>
            <a:srgbClr val="FFFFFF"/>
          </a:solidFill>
          <a:ln w="12700">
            <a:solidFill>
              <a:srgbClr val="FFFFFF"/>
            </a:solidFill>
            <a:prstDash val="solid"/>
          </a:ln>
        </p:spPr>
      </p:sp>
      <p:sp>
        <p:nvSpPr>
          <p:cNvPr id="38" name="[p1] 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39" name="[p1] Forma"/>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administra</a:t>
            </a:r>
            <a:endParaRPr lang="en-US" sz="1900" dirty="0"/>
          </a:p>
        </p:txBody>
      </p:sp>
      <p:sp>
        <p:nvSpPr>
          <p:cNvPr id="40" name="[p1] 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1" name="[p1] Forma"/>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2" name="[p1] Forma"/>
          <p:cNvSpPr/>
          <p:nvPr/>
        </p:nvSpPr>
        <p:spPr>
          <a:xfrm>
            <a:off x="6690208" y="3479292"/>
            <a:ext cx="4614520" cy="0"/>
          </a:xfrm>
          <a:prstGeom prst="line">
            <a:avLst/>
          </a:prstGeom>
          <a:noFill/>
          <a:ln w="9525">
            <a:solidFill>
              <a:srgbClr val="DFE6F0"/>
            </a:solidFill>
            <a:prstDash val="solid"/>
          </a:ln>
        </p:spPr>
      </p:sp>
      <p:sp>
        <p:nvSpPr>
          <p:cNvPr id="43" name="[p1] 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4" name="[p1] Forma"/>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5" name="[p1] Forma"/>
          <p:cNvSpPr/>
          <p:nvPr/>
        </p:nvSpPr>
        <p:spPr>
          <a:xfrm>
            <a:off x="6690208" y="4142232"/>
            <a:ext cx="4614520" cy="0"/>
          </a:xfrm>
          <a:prstGeom prst="line">
            <a:avLst/>
          </a:prstGeom>
          <a:noFill/>
          <a:ln w="9525">
            <a:solidFill>
              <a:srgbClr val="DFE6F0"/>
            </a:solidFill>
            <a:prstDash val="solid"/>
          </a:ln>
        </p:spPr>
      </p:sp>
      <p:sp>
        <p:nvSpPr>
          <p:cNvPr id="46" name="[p1] 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7" name="[p1] Forma"/>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8" name="[p1] Forma"/>
          <p:cNvSpPr/>
          <p:nvPr/>
        </p:nvSpPr>
        <p:spPr>
          <a:xfrm>
            <a:off x="6690208" y="4805172"/>
            <a:ext cx="4614520" cy="0"/>
          </a:xfrm>
          <a:prstGeom prst="line">
            <a:avLst/>
          </a:prstGeom>
          <a:noFill/>
          <a:ln w="9525">
            <a:solidFill>
              <a:srgbClr val="DFE6F0"/>
            </a:solidFill>
            <a:prstDash val="solid"/>
          </a:ln>
        </p:spPr>
      </p:sp>
      <p:sp>
        <p:nvSpPr>
          <p:cNvPr id="49" name="[p1] 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0" name="[p1] Forma"/>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1" name="[p1] Forma"/>
          <p:cNvSpPr/>
          <p:nvPr/>
        </p:nvSpPr>
        <p:spPr>
          <a:xfrm>
            <a:off x="5766664" y="3287268"/>
            <a:ext cx="658368" cy="658368"/>
          </a:xfrm>
          <a:prstGeom prst="ellipse">
            <a:avLst/>
          </a:prstGeom>
          <a:solidFill>
            <a:srgbClr val="2BA6CB"/>
          </a:solidFill>
          <a:ln w="38100">
            <a:solidFill>
              <a:srgbClr val="FFFFFF"/>
            </a:solidFill>
          </a:ln>
          <a:effectLst>
            <a:outerShdw sx="100000" sy="100000" kx="0" ky="0" algn="bl" rotWithShape="0" blurRad="114300" dist="50800" dir="16200000">
              <a:srgbClr val="2BA6CB">
                <a:alpha val="60000"/>
              </a:srgbClr>
            </a:outerShdw>
          </a:effectLst>
        </p:spPr>
        <p:txBody>
          <a:bodyPr wrap="square" lIns="0" tIns="0" rIns="0" bIns="0" rtlCol="0" anchor="ctr"/>
          <a:lstStyle/>
          <a:p>
            <a:pPr algn="ctr" indent="0" marL="0">
              <a:buNone/>
            </a:pPr>
            <a:r>
              <a:rPr lang="en-US" sz="2800" b="1" dirty="0">
                <a:solidFill>
                  <a:srgbClr val="0B1F3A"/>
                </a:solidFill>
                <a:latin typeface="Segoe UI Semibold" pitchFamily="34" charset="0"/>
                <a:ea typeface="Segoe UI Semibold" pitchFamily="34" charset="-122"/>
                <a:cs typeface="Segoe UI Semibold" pitchFamily="34" charset="-120"/>
              </a:rPr>
              <a:t>+</a:t>
            </a:r>
            <a:endParaRPr lang="en-US" sz="28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4"/>
                                        </p:tgtEl>
                                        <p:attrNameLst>
                                          <p:attrName>style.visibility</p:attrName>
                                        </p:attrNameLst>
                                      </p:cBhvr>
                                      <p:to>
                                        <p:strVal val="visible"/>
                                      </p:to>
                                    </p:set>
                                    <p:animEffect transition="in" filter="fade">
                                      <p:cBhvr>
                                        <p:cTn id="5" dur="400"/>
                                        <p:tgtEl>
                                          <p:spTgt spid="3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400"/>
                                        <p:tgtEl>
                                          <p:spTgt spid="3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4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400"/>
                                        <p:tgtEl>
                                          <p:spTgt spid="3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400"/>
                                        <p:tgtEl>
                                          <p:spTgt spid="3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400"/>
                                        <p:tgtEl>
                                          <p:spTgt spid="3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fade">
                                      <p:cBhvr>
                                        <p:cTn id="26" dur="400"/>
                                        <p:tgtEl>
                                          <p:spTgt spid="4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400"/>
                                        <p:tgtEl>
                                          <p:spTgt spid="4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400"/>
                                        <p:tgtEl>
                                          <p:spTgt spid="4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400"/>
                                        <p:tgtEl>
                                          <p:spTgt spid="4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4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400"/>
                                        <p:tgtEl>
                                          <p:spTgt spid="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400"/>
                                        <p:tgtEl>
                                          <p:spTgt spid="4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400"/>
                                        <p:tgtEl>
                                          <p:spTgt spid="4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400"/>
                                        <p:tgtEl>
                                          <p:spTgt spid="4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fade">
                                      <p:cBhvr>
                                        <p:cTn id="53" dur="400"/>
                                        <p:tgtEl>
                                          <p:spTgt spid="5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código a contenedor</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receta que da el mismo resultado en cualquier computadora.</a:t>
            </a:r>
            <a:endParaRPr lang="en-US" sz="1700" dirty="0"/>
          </a:p>
        </p:txBody>
      </p:sp>
      <p:sp>
        <p:nvSpPr>
          <p:cNvPr id="13" name="Shape 11"/>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4" name="Icono file-code"/>
          <p:cNvSpPr/>
          <p:nvPr/>
        </p:nvSpPr>
        <p:spPr>
          <a:xfrm>
            <a:off x="1588427" y="2901391"/>
            <a:ext cx="790042" cy="790042"/>
          </a:xfrm>
          <a:custGeom>
            <a:avLst/>
            <a:gdLst/>
            <a:ahLst/>
            <a:cxnLst/>
            <a:rect l="l" t="t" r="r" b="b"/>
            <a:pathLst>
              <a:path w="790042" h="790042">
                <a:moveTo>
                  <a:pt x="329184" y="411480"/>
                </a:moveTo>
                <a:lnTo>
                  <a:pt x="263347" y="493776"/>
                </a:lnTo>
                <a:lnTo>
                  <a:pt x="329184" y="576072"/>
                </a:lnTo>
                <a:moveTo>
                  <a:pt x="460858" y="411480"/>
                </a:moveTo>
                <a:lnTo>
                  <a:pt x="526694" y="493776"/>
                </a:lnTo>
                <a:lnTo>
                  <a:pt x="460858" y="576072"/>
                </a:lnTo>
                <a:moveTo>
                  <a:pt x="460858" y="65837"/>
                </a:moveTo>
                <a:lnTo>
                  <a:pt x="460858" y="197510"/>
                </a:lnTo>
                <a:cubicBezTo>
                  <a:pt x="460858" y="233871"/>
                  <a:pt x="490334" y="263347"/>
                  <a:pt x="526694" y="263347"/>
                </a:cubicBezTo>
                <a:lnTo>
                  <a:pt x="658368" y="263347"/>
                </a:lnTo>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path>
            </a:pathLst>
          </a:custGeom>
          <a:noFill/>
          <a:ln w="57607" cap="rnd">
            <a:solidFill>
              <a:srgbClr val="0B2350"/>
            </a:solidFill>
            <a:prstDash val="solid"/>
            <a:round/>
          </a:ln>
        </p:spPr>
      </p:sp>
      <p:sp>
        <p:nvSpPr>
          <p:cNvPr id="15" name="Text 13"/>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Dockerfile</a:t>
            </a:r>
            <a:endParaRPr lang="en-US" sz="1800" dirty="0"/>
          </a:p>
        </p:txBody>
      </p:sp>
      <p:sp>
        <p:nvSpPr>
          <p:cNvPr id="17" name="Text 15"/>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receta: qué instalar y qué copiar.</a:t>
            </a:r>
            <a:endParaRPr lang="en-US" sz="1400" dirty="0"/>
          </a:p>
        </p:txBody>
      </p:sp>
      <p:sp>
        <p:nvSpPr>
          <p:cNvPr id="18" name="[p1] Forma"/>
          <p:cNvSpPr/>
          <p:nvPr/>
        </p:nvSpPr>
        <p:spPr>
          <a:xfrm>
            <a:off x="2806408" y="3296412"/>
            <a:ext cx="1095680" cy="0"/>
          </a:xfrm>
          <a:prstGeom prst="line">
            <a:avLst/>
          </a:prstGeom>
          <a:noFill/>
          <a:ln w="38100">
            <a:solidFill>
              <a:srgbClr val="2BA6CB"/>
            </a:solidFill>
            <a:prstDash val="solid"/>
            <a:tailEnd type="triangle"/>
          </a:ln>
        </p:spPr>
      </p:sp>
      <p:sp>
        <p:nvSpPr>
          <p:cNvPr id="19" name="[p1] Forma"/>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settings"/>
          <p:cNvSpPr/>
          <p:nvPr/>
        </p:nvSpPr>
        <p:spPr>
          <a:xfrm>
            <a:off x="4330027" y="2901391"/>
            <a:ext cx="790042" cy="790042"/>
          </a:xfrm>
          <a:custGeom>
            <a:avLst/>
            <a:gdLst/>
            <a:ahLst/>
            <a:cxnLst/>
            <a:rect l="l" t="t" r="r" b="b"/>
            <a:pathLst>
              <a:path w="790042" h="790042">
                <a:moveTo>
                  <a:pt x="402263" y="65837"/>
                </a:moveTo>
                <a:lnTo>
                  <a:pt x="387779" y="65837"/>
                </a:lnTo>
                <a:cubicBezTo>
                  <a:pt x="351418" y="65837"/>
                  <a:pt x="321942" y="95313"/>
                  <a:pt x="321942" y="131674"/>
                </a:cubicBezTo>
                <a:lnTo>
                  <a:pt x="321942" y="137599"/>
                </a:lnTo>
                <a:cubicBezTo>
                  <a:pt x="321918" y="161096"/>
                  <a:pt x="309373" y="182799"/>
                  <a:pt x="289024" y="194548"/>
                </a:cubicBezTo>
                <a:lnTo>
                  <a:pt x="274869" y="202777"/>
                </a:lnTo>
                <a:cubicBezTo>
                  <a:pt x="254499" y="214538"/>
                  <a:pt x="229402" y="214538"/>
                  <a:pt x="209032" y="202777"/>
                </a:cubicBezTo>
                <a:lnTo>
                  <a:pt x="204094" y="200144"/>
                </a:lnTo>
                <a:cubicBezTo>
                  <a:pt x="172638" y="181998"/>
                  <a:pt x="132428" y="192750"/>
                  <a:pt x="114227" y="224174"/>
                </a:cubicBezTo>
                <a:lnTo>
                  <a:pt x="106985" y="236683"/>
                </a:lnTo>
                <a:cubicBezTo>
                  <a:pt x="88839" y="268140"/>
                  <a:pt x="99591" y="308349"/>
                  <a:pt x="131015" y="326551"/>
                </a:cubicBezTo>
                <a:lnTo>
                  <a:pt x="135953" y="329842"/>
                </a:lnTo>
                <a:cubicBezTo>
                  <a:pt x="156201" y="341532"/>
                  <a:pt x="168730" y="363083"/>
                  <a:pt x="168871" y="386462"/>
                </a:cubicBezTo>
                <a:lnTo>
                  <a:pt x="168871" y="403250"/>
                </a:lnTo>
                <a:cubicBezTo>
                  <a:pt x="168965" y="426865"/>
                  <a:pt x="156404" y="448721"/>
                  <a:pt x="135953" y="460528"/>
                </a:cubicBezTo>
                <a:lnTo>
                  <a:pt x="131015" y="463491"/>
                </a:lnTo>
                <a:cubicBezTo>
                  <a:pt x="99591" y="481693"/>
                  <a:pt x="88839" y="521902"/>
                  <a:pt x="106985" y="553358"/>
                </a:cubicBezTo>
                <a:lnTo>
                  <a:pt x="114227" y="565867"/>
                </a:lnTo>
                <a:cubicBezTo>
                  <a:pt x="132428" y="597292"/>
                  <a:pt x="172638" y="608043"/>
                  <a:pt x="204094" y="589898"/>
                </a:cubicBezTo>
                <a:lnTo>
                  <a:pt x="209032" y="587264"/>
                </a:lnTo>
                <a:cubicBezTo>
                  <a:pt x="229402" y="575504"/>
                  <a:pt x="254499" y="575504"/>
                  <a:pt x="274869" y="587264"/>
                </a:cubicBezTo>
                <a:lnTo>
                  <a:pt x="289024" y="595494"/>
                </a:lnTo>
                <a:cubicBezTo>
                  <a:pt x="309373" y="607242"/>
                  <a:pt x="321918" y="628946"/>
                  <a:pt x="321942" y="652443"/>
                </a:cubicBezTo>
                <a:lnTo>
                  <a:pt x="321942" y="658368"/>
                </a:lnTo>
                <a:cubicBezTo>
                  <a:pt x="321942" y="694729"/>
                  <a:pt x="351418" y="724205"/>
                  <a:pt x="387779" y="724205"/>
                </a:cubicBezTo>
                <a:lnTo>
                  <a:pt x="402263" y="724205"/>
                </a:lnTo>
                <a:cubicBezTo>
                  <a:pt x="438624" y="724205"/>
                  <a:pt x="468100" y="694729"/>
                  <a:pt x="468100" y="658368"/>
                </a:cubicBezTo>
                <a:lnTo>
                  <a:pt x="468100" y="652443"/>
                </a:lnTo>
                <a:cubicBezTo>
                  <a:pt x="468124" y="628946"/>
                  <a:pt x="480669" y="607242"/>
                  <a:pt x="501018" y="595494"/>
                </a:cubicBezTo>
                <a:lnTo>
                  <a:pt x="515173" y="587264"/>
                </a:lnTo>
                <a:cubicBezTo>
                  <a:pt x="535543" y="575504"/>
                  <a:pt x="560640" y="575504"/>
                  <a:pt x="581010" y="587264"/>
                </a:cubicBezTo>
                <a:lnTo>
                  <a:pt x="585948" y="589898"/>
                </a:lnTo>
                <a:cubicBezTo>
                  <a:pt x="617404" y="608043"/>
                  <a:pt x="657613" y="597292"/>
                  <a:pt x="675815" y="565867"/>
                </a:cubicBezTo>
                <a:lnTo>
                  <a:pt x="683057" y="553029"/>
                </a:lnTo>
                <a:cubicBezTo>
                  <a:pt x="701203" y="521573"/>
                  <a:pt x="690451" y="481363"/>
                  <a:pt x="659026" y="463162"/>
                </a:cubicBezTo>
                <a:lnTo>
                  <a:pt x="654089" y="460528"/>
                </a:lnTo>
                <a:cubicBezTo>
                  <a:pt x="633637" y="448721"/>
                  <a:pt x="621076" y="426865"/>
                  <a:pt x="621170" y="403250"/>
                </a:cubicBezTo>
                <a:lnTo>
                  <a:pt x="621170" y="386791"/>
                </a:lnTo>
                <a:cubicBezTo>
                  <a:pt x="621076" y="363177"/>
                  <a:pt x="633637" y="341320"/>
                  <a:pt x="654089" y="329513"/>
                </a:cubicBezTo>
                <a:lnTo>
                  <a:pt x="659026" y="326551"/>
                </a:lnTo>
                <a:cubicBezTo>
                  <a:pt x="690451" y="308349"/>
                  <a:pt x="701203" y="268140"/>
                  <a:pt x="683057" y="236683"/>
                </a:cubicBezTo>
                <a:lnTo>
                  <a:pt x="675815" y="224174"/>
                </a:lnTo>
                <a:cubicBezTo>
                  <a:pt x="657613" y="192750"/>
                  <a:pt x="617404" y="181998"/>
                  <a:pt x="585948" y="200144"/>
                </a:cubicBezTo>
                <a:lnTo>
                  <a:pt x="581010" y="202777"/>
                </a:lnTo>
                <a:cubicBezTo>
                  <a:pt x="560640" y="214538"/>
                  <a:pt x="535543" y="214538"/>
                  <a:pt x="515173" y="202777"/>
                </a:cubicBezTo>
                <a:lnTo>
                  <a:pt x="501018" y="194548"/>
                </a:lnTo>
                <a:cubicBezTo>
                  <a:pt x="480669" y="182799"/>
                  <a:pt x="468124" y="161096"/>
                  <a:pt x="468100" y="137599"/>
                </a:cubicBezTo>
                <a:lnTo>
                  <a:pt x="468100" y="131674"/>
                </a:lnTo>
                <a:cubicBezTo>
                  <a:pt x="468100" y="95313"/>
                  <a:pt x="438624" y="65837"/>
                  <a:pt x="402263" y="65837"/>
                </a:cubicBezTo>
                <a:close/>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path>
            </a:pathLst>
          </a:custGeom>
          <a:noFill/>
          <a:ln w="57607" cap="rnd">
            <a:solidFill>
              <a:srgbClr val="0B2350"/>
            </a:solidFill>
            <a:prstDash val="solid"/>
            <a:round/>
          </a:ln>
        </p:spPr>
      </p:sp>
      <p:sp>
        <p:nvSpPr>
          <p:cNvPr id="21" name="[p1] Forma"/>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Etapa build</a:t>
            </a:r>
            <a:endParaRPr lang="en-US" sz="1800" dirty="0"/>
          </a:p>
        </p:txBody>
      </p:sp>
      <p:sp>
        <p:nvSpPr>
          <p:cNvPr id="23" name="[p1] Forma"/>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Compila el JAR con Maven.</a:t>
            </a:r>
            <a:endParaRPr lang="en-US" sz="1400" dirty="0"/>
          </a:p>
        </p:txBody>
      </p:sp>
      <p:sp>
        <p:nvSpPr>
          <p:cNvPr id="24" name="[p2] Forma"/>
          <p:cNvSpPr/>
          <p:nvPr/>
        </p:nvSpPr>
        <p:spPr>
          <a:xfrm>
            <a:off x="5548008" y="3296412"/>
            <a:ext cx="1095680" cy="0"/>
          </a:xfrm>
          <a:prstGeom prst="line">
            <a:avLst/>
          </a:prstGeom>
          <a:noFill/>
          <a:ln w="38100">
            <a:solidFill>
              <a:srgbClr val="2BA6CB"/>
            </a:solidFill>
            <a:prstDash val="solid"/>
            <a:tailEnd type="triangle"/>
          </a:ln>
        </p:spPr>
      </p:sp>
      <p:sp>
        <p:nvSpPr>
          <p:cNvPr id="25" name="[p2] Forma"/>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6" name="[p2] Icono package"/>
          <p:cNvSpPr/>
          <p:nvPr/>
        </p:nvSpPr>
        <p:spPr>
          <a:xfrm>
            <a:off x="7071627" y="2901391"/>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6E8A"/>
            </a:solidFill>
            <a:prstDash val="solid"/>
            <a:round/>
          </a:ln>
        </p:spPr>
      </p:sp>
      <p:sp>
        <p:nvSpPr>
          <p:cNvPr id="27" name="[p2] Forma"/>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Imagen</a:t>
            </a:r>
            <a:endParaRPr lang="en-US" sz="1800" dirty="0"/>
          </a:p>
        </p:txBody>
      </p:sp>
      <p:sp>
        <p:nvSpPr>
          <p:cNvPr id="29" name="[p2] Forma"/>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Java y el JAR: más liviana.</a:t>
            </a:r>
            <a:endParaRPr lang="en-US" sz="1400" dirty="0"/>
          </a:p>
        </p:txBody>
      </p:sp>
      <p:sp>
        <p:nvSpPr>
          <p:cNvPr id="30" name="[p3] Forma"/>
          <p:cNvSpPr/>
          <p:nvPr/>
        </p:nvSpPr>
        <p:spPr>
          <a:xfrm>
            <a:off x="8289608" y="3296412"/>
            <a:ext cx="1095680" cy="0"/>
          </a:xfrm>
          <a:prstGeom prst="line">
            <a:avLst/>
          </a:prstGeom>
          <a:noFill/>
          <a:ln w="38100">
            <a:solidFill>
              <a:srgbClr val="2BA6CB"/>
            </a:solidFill>
            <a:prstDash val="solid"/>
            <a:tailEnd type="triangle"/>
          </a:ln>
        </p:spPr>
      </p:sp>
      <p:sp>
        <p:nvSpPr>
          <p:cNvPr id="31" name="[p3] Forma"/>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2" name="[p3] Icono container"/>
          <p:cNvSpPr/>
          <p:nvPr/>
        </p:nvSpPr>
        <p:spPr>
          <a:xfrm>
            <a:off x="9813226" y="2901391"/>
            <a:ext cx="790042" cy="790042"/>
          </a:xfrm>
          <a:custGeom>
            <a:avLst/>
            <a:gdLst/>
            <a:ahLst/>
            <a:cxnLst/>
            <a:rect l="l" t="t" r="r" b="b"/>
            <a:pathLst>
              <a:path w="790042" h="790042">
                <a:moveTo>
                  <a:pt x="724205" y="253472"/>
                </a:moveTo>
                <a:cubicBezTo>
                  <a:pt x="724205" y="233721"/>
                  <a:pt x="711037" y="213970"/>
                  <a:pt x="697870" y="204094"/>
                </a:cubicBezTo>
                <a:lnTo>
                  <a:pt x="490484" y="75712"/>
                </a:lnTo>
                <a:cubicBezTo>
                  <a:pt x="473134" y="65850"/>
                  <a:pt x="451873" y="65850"/>
                  <a:pt x="434523" y="75712"/>
                </a:cubicBezTo>
                <a:lnTo>
                  <a:pt x="95463" y="273223"/>
                </a:lnTo>
                <a:cubicBezTo>
                  <a:pt x="79004" y="279806"/>
                  <a:pt x="65837" y="299557"/>
                  <a:pt x="65837" y="319308"/>
                </a:cubicBezTo>
                <a:lnTo>
                  <a:pt x="65837" y="536570"/>
                </a:lnTo>
                <a:cubicBezTo>
                  <a:pt x="65837" y="553029"/>
                  <a:pt x="79004" y="576072"/>
                  <a:pt x="92172" y="585948"/>
                </a:cubicBezTo>
                <a:lnTo>
                  <a:pt x="299557" y="714329"/>
                </a:lnTo>
                <a:cubicBezTo>
                  <a:pt x="316908" y="724192"/>
                  <a:pt x="338169" y="724192"/>
                  <a:pt x="355519" y="714329"/>
                </a:cubicBezTo>
                <a:lnTo>
                  <a:pt x="694578" y="516819"/>
                </a:lnTo>
                <a:cubicBezTo>
                  <a:pt x="711037" y="506943"/>
                  <a:pt x="724205" y="483900"/>
                  <a:pt x="724205" y="467441"/>
                </a:cubicBezTo>
                <a:close/>
                <a:moveTo>
                  <a:pt x="329184" y="720913"/>
                </a:moveTo>
                <a:lnTo>
                  <a:pt x="329184" y="460858"/>
                </a:lnTo>
                <a:lnTo>
                  <a:pt x="69129" y="299557"/>
                </a:lnTo>
                <a:moveTo>
                  <a:pt x="329184" y="460858"/>
                </a:moveTo>
                <a:lnTo>
                  <a:pt x="720913" y="233721"/>
                </a:lnTo>
                <a:moveTo>
                  <a:pt x="460858" y="651784"/>
                </a:moveTo>
                <a:lnTo>
                  <a:pt x="460858" y="385145"/>
                </a:lnTo>
                <a:moveTo>
                  <a:pt x="592531" y="576072"/>
                </a:moveTo>
                <a:lnTo>
                  <a:pt x="592531" y="309433"/>
                </a:lnTo>
              </a:path>
            </a:pathLst>
          </a:custGeom>
          <a:noFill/>
          <a:ln w="57607" cap="rnd">
            <a:solidFill>
              <a:srgbClr val="0A6648"/>
            </a:solidFill>
            <a:prstDash val="solid"/>
            <a:round/>
          </a:ln>
        </p:spPr>
      </p:sp>
      <p:sp>
        <p:nvSpPr>
          <p:cNvPr id="33" name="[p3] Forma"/>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Contenedor</a:t>
            </a:r>
            <a:endParaRPr lang="en-US" sz="1800" dirty="0"/>
          </a:p>
        </p:txBody>
      </p:sp>
      <p:sp>
        <p:nvSpPr>
          <p:cNvPr id="35" name="[p3] Forma"/>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Corre con un usuario sin privilegios.</a:t>
            </a:r>
            <a:endParaRPr lang="en-US" sz="14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el sistema con un comando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contenedores, una red y la configuración por variables de entorno.</a:t>
            </a:r>
            <a:endParaRPr lang="en-US" sz="1700" dirty="0"/>
          </a:p>
        </p:txBody>
      </p:sp>
      <p:sp>
        <p:nvSpPr>
          <p:cNvPr id="13" name="Shape 11"/>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15" name="Text 13"/>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16" name="Shape 14"/>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612648" y="2624328"/>
            <a:ext cx="64008" cy="1581912"/>
          </a:xfrm>
          <a:prstGeom prst="rect">
            <a:avLst/>
          </a:prstGeom>
          <a:solidFill>
            <a:srgbClr val="5B3FC4"/>
          </a:solidFill>
          <a:ln w="12700">
            <a:solidFill>
              <a:srgbClr val="5B3FC4"/>
            </a:solidFill>
            <a:prstDash val="solid"/>
          </a:ln>
        </p:spPr>
      </p:sp>
      <p:sp>
        <p:nvSpPr>
          <p:cNvPr id="18" name="Shape 16"/>
          <p:cNvSpPr/>
          <p:nvPr/>
        </p:nvSpPr>
        <p:spPr>
          <a:xfrm>
            <a:off x="813816" y="2679192"/>
            <a:ext cx="676656" cy="676656"/>
          </a:xfrm>
          <a:prstGeom prst="ellipse">
            <a:avLst/>
          </a:prstGeom>
          <a:solidFill>
            <a:srgbClr val="F1EEFD"/>
          </a:solidFill>
          <a:ln w="12700">
            <a:solidFill>
              <a:srgbClr val="F1EEFD"/>
            </a:solidFill>
            <a:prstDash val="solid"/>
          </a:ln>
        </p:spPr>
      </p:sp>
      <p:sp>
        <p:nvSpPr>
          <p:cNvPr id="19" name="Icono monitor"/>
          <p:cNvSpPr/>
          <p:nvPr/>
        </p:nvSpPr>
        <p:spPr>
          <a:xfrm>
            <a:off x="976213" y="2841589"/>
            <a:ext cx="351861" cy="351861"/>
          </a:xfrm>
          <a:custGeom>
            <a:avLst/>
            <a:gdLst/>
            <a:ahLst/>
            <a:cxnLst/>
            <a:rect l="l" t="t" r="r" b="b"/>
            <a:pathLst>
              <a:path w="351861" h="351861">
                <a:moveTo>
                  <a:pt x="58644" y="43983"/>
                </a:moveTo>
                <a:lnTo>
                  <a:pt x="293218" y="43983"/>
                </a:lnTo>
                <a:cubicBezTo>
                  <a:pt x="309412" y="43983"/>
                  <a:pt x="322539" y="57110"/>
                  <a:pt x="322539" y="73304"/>
                </a:cubicBezTo>
                <a:lnTo>
                  <a:pt x="322539" y="219913"/>
                </a:lnTo>
                <a:cubicBezTo>
                  <a:pt x="322539" y="236107"/>
                  <a:pt x="309412" y="249235"/>
                  <a:pt x="293218" y="249235"/>
                </a:cubicBezTo>
                <a:lnTo>
                  <a:pt x="58644" y="249235"/>
                </a:lnTo>
                <a:cubicBezTo>
                  <a:pt x="42450" y="249235"/>
                  <a:pt x="29322" y="236107"/>
                  <a:pt x="29322" y="219913"/>
                </a:cubicBezTo>
                <a:lnTo>
                  <a:pt x="29322" y="73304"/>
                </a:lnTo>
                <a:cubicBezTo>
                  <a:pt x="29322" y="57110"/>
                  <a:pt x="42450" y="43983"/>
                  <a:pt x="58644" y="43983"/>
                </a:cubicBezTo>
                <a:close/>
                <a:moveTo>
                  <a:pt x="117287" y="307878"/>
                </a:moveTo>
                <a:lnTo>
                  <a:pt x="234574" y="307878"/>
                </a:lnTo>
                <a:moveTo>
                  <a:pt x="175931" y="249235"/>
                </a:moveTo>
                <a:lnTo>
                  <a:pt x="175931" y="307878"/>
                </a:lnTo>
              </a:path>
            </a:pathLst>
          </a:custGeom>
          <a:noFill/>
          <a:ln w="29322" cap="rnd">
            <a:solidFill>
              <a:srgbClr val="5B3FC4"/>
            </a:solidFill>
            <a:prstDash val="solid"/>
            <a:round/>
          </a:ln>
        </p:spPr>
      </p:sp>
      <p:sp>
        <p:nvSpPr>
          <p:cNvPr id="20" name="Text 18"/>
          <p:cNvSpPr/>
          <p:nvPr/>
        </p:nvSpPr>
        <p:spPr>
          <a:xfrm>
            <a:off x="1636776" y="2679192"/>
            <a:ext cx="1443152" cy="676656"/>
          </a:xfrm>
          <a:prstGeom prst="rect">
            <a:avLst/>
          </a:prstGeom>
          <a:noFill/>
          <a:ln/>
        </p:spPr>
        <p:txBody>
          <a:bodyPr wrap="square" lIns="0" tIns="0" rIns="0" bIns="0" rtlCol="0" anchor="ctr">
            <a:normAutofit/>
          </a:bodyPr>
          <a:lstStyle/>
          <a:p>
            <a:pPr algn="l" indent="0" marL="0">
              <a:buNone/>
            </a:pPr>
            <a:r>
              <a:rPr lang="en-US" sz="1600" b="1" dirty="0">
                <a:solidFill>
                  <a:srgbClr val="5B3FC4"/>
                </a:solidFill>
                <a:latin typeface="Segoe UI Semibold" pitchFamily="34" charset="0"/>
                <a:ea typeface="Segoe UI Semibold" pitchFamily="34" charset="-122"/>
                <a:cs typeface="Segoe UI Semibold" pitchFamily="34" charset="-120"/>
              </a:rPr>
              <a:t>arka-lite-ui</a:t>
            </a:r>
            <a:endParaRPr lang="en-US" sz="1600" dirty="0"/>
          </a:p>
        </p:txBody>
      </p:sp>
      <p:sp>
        <p:nvSpPr>
          <p:cNvPr id="21" name="Text 19"/>
          <p:cNvSpPr/>
          <p:nvPr/>
        </p:nvSpPr>
        <p:spPr>
          <a:xfrm>
            <a:off x="86868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:8088 · la interfaz y su proxy</a:t>
            </a:r>
            <a:endParaRPr lang="en-US" sz="1600" dirty="0"/>
          </a:p>
        </p:txBody>
      </p:sp>
      <p:sp>
        <p:nvSpPr>
          <p:cNvPr id="22" name="Shape 20"/>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3399968" y="2624328"/>
            <a:ext cx="64008" cy="1581912"/>
          </a:xfrm>
          <a:prstGeom prst="rect">
            <a:avLst/>
          </a:prstGeom>
          <a:solidFill>
            <a:srgbClr val="0B2350"/>
          </a:solidFill>
          <a:ln w="12700">
            <a:solidFill>
              <a:srgbClr val="0B2350"/>
            </a:solidFill>
            <a:prstDash val="solid"/>
          </a:ln>
        </p:spPr>
      </p:sp>
      <p:sp>
        <p:nvSpPr>
          <p:cNvPr id="24" name="Shape 22"/>
          <p:cNvSpPr/>
          <p:nvPr/>
        </p:nvSpPr>
        <p:spPr>
          <a:xfrm>
            <a:off x="3601136" y="2679192"/>
            <a:ext cx="676656" cy="676656"/>
          </a:xfrm>
          <a:prstGeom prst="ellipse">
            <a:avLst/>
          </a:prstGeom>
          <a:solidFill>
            <a:srgbClr val="E8EEF8"/>
          </a:solidFill>
          <a:ln w="12700">
            <a:solidFill>
              <a:srgbClr val="E8EEF8"/>
            </a:solidFill>
            <a:prstDash val="solid"/>
          </a:ln>
        </p:spPr>
      </p:sp>
      <p:sp>
        <p:nvSpPr>
          <p:cNvPr id="25" name="Icono clipboard-list"/>
          <p:cNvSpPr/>
          <p:nvPr/>
        </p:nvSpPr>
        <p:spPr>
          <a:xfrm>
            <a:off x="3763533" y="2841589"/>
            <a:ext cx="351861" cy="351861"/>
          </a:xfrm>
          <a:custGeom>
            <a:avLst/>
            <a:gdLst/>
            <a:ahLst/>
            <a:cxnLst/>
            <a:rect l="l" t="t" r="r" b="b"/>
            <a:pathLst>
              <a:path w="351861" h="351861">
                <a:moveTo>
                  <a:pt x="131948" y="29322"/>
                </a:moveTo>
                <a:lnTo>
                  <a:pt x="219913" y="29322"/>
                </a:lnTo>
                <a:cubicBezTo>
                  <a:pt x="228010" y="29322"/>
                  <a:pt x="234574" y="35886"/>
                  <a:pt x="234574" y="43983"/>
                </a:cubicBezTo>
                <a:lnTo>
                  <a:pt x="234574" y="73304"/>
                </a:lnTo>
                <a:cubicBezTo>
                  <a:pt x="234574" y="81401"/>
                  <a:pt x="228010" y="87965"/>
                  <a:pt x="219913" y="87965"/>
                </a:cubicBezTo>
                <a:lnTo>
                  <a:pt x="131948" y="87965"/>
                </a:lnTo>
                <a:cubicBezTo>
                  <a:pt x="123851" y="87965"/>
                  <a:pt x="117287" y="81401"/>
                  <a:pt x="117287" y="73304"/>
                </a:cubicBezTo>
                <a:lnTo>
                  <a:pt x="117287" y="43983"/>
                </a:lnTo>
                <a:cubicBezTo>
                  <a:pt x="117287" y="35886"/>
                  <a:pt x="123851" y="29322"/>
                  <a:pt x="131948" y="29322"/>
                </a:cubicBezTo>
                <a:close/>
                <a:moveTo>
                  <a:pt x="234574" y="58644"/>
                </a:moveTo>
                <a:lnTo>
                  <a:pt x="263896" y="58644"/>
                </a:lnTo>
                <a:cubicBezTo>
                  <a:pt x="280090" y="58644"/>
                  <a:pt x="293218" y="71771"/>
                  <a:pt x="293218" y="87965"/>
                </a:cubicBezTo>
                <a:lnTo>
                  <a:pt x="293218" y="293218"/>
                </a:lnTo>
                <a:cubicBezTo>
                  <a:pt x="293218" y="309412"/>
                  <a:pt x="280090" y="322539"/>
                  <a:pt x="263896" y="322539"/>
                </a:cubicBezTo>
                <a:lnTo>
                  <a:pt x="87965" y="322539"/>
                </a:lnTo>
                <a:cubicBezTo>
                  <a:pt x="71771" y="322539"/>
                  <a:pt x="58644" y="309412"/>
                  <a:pt x="58644" y="293218"/>
                </a:cubicBezTo>
                <a:lnTo>
                  <a:pt x="58644" y="87965"/>
                </a:lnTo>
                <a:cubicBezTo>
                  <a:pt x="58644" y="71771"/>
                  <a:pt x="71771" y="58644"/>
                  <a:pt x="87965" y="58644"/>
                </a:cubicBezTo>
                <a:lnTo>
                  <a:pt x="117287" y="58644"/>
                </a:lnTo>
                <a:moveTo>
                  <a:pt x="175931" y="161270"/>
                </a:moveTo>
                <a:lnTo>
                  <a:pt x="234574" y="161270"/>
                </a:lnTo>
                <a:moveTo>
                  <a:pt x="175931" y="234574"/>
                </a:moveTo>
                <a:lnTo>
                  <a:pt x="234574" y="234574"/>
                </a:lnTo>
                <a:moveTo>
                  <a:pt x="117287" y="161270"/>
                </a:moveTo>
                <a:lnTo>
                  <a:pt x="117434" y="161270"/>
                </a:lnTo>
                <a:moveTo>
                  <a:pt x="117287" y="234574"/>
                </a:moveTo>
                <a:lnTo>
                  <a:pt x="117434" y="234574"/>
                </a:lnTo>
              </a:path>
            </a:pathLst>
          </a:custGeom>
          <a:noFill/>
          <a:ln w="29322" cap="rnd">
            <a:solidFill>
              <a:srgbClr val="0B2350"/>
            </a:solidFill>
            <a:prstDash val="solid"/>
            <a:round/>
          </a:ln>
        </p:spPr>
      </p:sp>
      <p:sp>
        <p:nvSpPr>
          <p:cNvPr id="26" name="Text 24"/>
          <p:cNvSpPr/>
          <p:nvPr/>
        </p:nvSpPr>
        <p:spPr>
          <a:xfrm>
            <a:off x="4424096" y="2679192"/>
            <a:ext cx="1443152" cy="676656"/>
          </a:xfrm>
          <a:prstGeom prst="rect">
            <a:avLst/>
          </a:prstGeom>
          <a:noFill/>
          <a:ln/>
        </p:spPr>
        <p:txBody>
          <a:bodyPr wrap="square" lIns="0" tIns="0" rIns="0" bIns="0" rtlCol="0" anchor="ctr">
            <a:normAutofit/>
          </a:bodyPr>
          <a:lstStyle/>
          <a:p>
            <a:pPr algn="l" indent="0" marL="0">
              <a:buNone/>
            </a:pPr>
            <a:r>
              <a:rPr lang="en-US" sz="950" b="1" dirty="0">
                <a:solidFill>
                  <a:srgbClr val="0B2350"/>
                </a:solidFill>
                <a:latin typeface="Segoe UI Semibold" pitchFamily="34" charset="0"/>
                <a:ea typeface="Segoe UI Semibold" pitchFamily="34" charset="-122"/>
                <a:cs typeface="Segoe UI Semibold" pitchFamily="34" charset="-120"/>
              </a:rPr>
              <a:t>servicio-solicitudes</a:t>
            </a:r>
            <a:endParaRPr lang="en-US" sz="950" dirty="0"/>
          </a:p>
        </p:txBody>
      </p:sp>
      <p:sp>
        <p:nvSpPr>
          <p:cNvPr id="27" name="Text 25"/>
          <p:cNvSpPr/>
          <p:nvPr/>
        </p:nvSpPr>
        <p:spPr>
          <a:xfrm>
            <a:off x="365600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:8080 · el trámite</a:t>
            </a:r>
            <a:endParaRPr lang="en-US" sz="1600" dirty="0"/>
          </a:p>
        </p:txBody>
      </p:sp>
      <p:sp>
        <p:nvSpPr>
          <p:cNvPr id="28" name="Shape 26"/>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187288" y="2624328"/>
            <a:ext cx="64008" cy="1581912"/>
          </a:xfrm>
          <a:prstGeom prst="rect">
            <a:avLst/>
          </a:prstGeom>
          <a:solidFill>
            <a:srgbClr val="0B6E8A"/>
          </a:solidFill>
          <a:ln w="12700">
            <a:solidFill>
              <a:srgbClr val="0B6E8A"/>
            </a:solidFill>
            <a:prstDash val="solid"/>
          </a:ln>
        </p:spPr>
      </p:sp>
      <p:sp>
        <p:nvSpPr>
          <p:cNvPr id="30" name="Shape 28"/>
          <p:cNvSpPr/>
          <p:nvPr/>
        </p:nvSpPr>
        <p:spPr>
          <a:xfrm>
            <a:off x="6388456" y="2679192"/>
            <a:ext cx="676656" cy="676656"/>
          </a:xfrm>
          <a:prstGeom prst="ellipse">
            <a:avLst/>
          </a:prstGeom>
          <a:solidFill>
            <a:srgbClr val="E3F4FA"/>
          </a:solidFill>
          <a:ln w="12700">
            <a:solidFill>
              <a:srgbClr val="E3F4FA"/>
            </a:solidFill>
            <a:prstDash val="solid"/>
          </a:ln>
        </p:spPr>
      </p:sp>
      <p:sp>
        <p:nvSpPr>
          <p:cNvPr id="31" name="Icono bell"/>
          <p:cNvSpPr/>
          <p:nvPr/>
        </p:nvSpPr>
        <p:spPr>
          <a:xfrm>
            <a:off x="6550853" y="2841589"/>
            <a:ext cx="351861" cy="351861"/>
          </a:xfrm>
          <a:custGeom>
            <a:avLst/>
            <a:gdLst/>
            <a:ahLst/>
            <a:cxnLst/>
            <a:rect l="l" t="t" r="r" b="b"/>
            <a:pathLst>
              <a:path w="351861" h="351861">
                <a:moveTo>
                  <a:pt x="150538" y="307878"/>
                </a:moveTo>
                <a:cubicBezTo>
                  <a:pt x="155776" y="316950"/>
                  <a:pt x="165455" y="322538"/>
                  <a:pt x="175931" y="322538"/>
                </a:cubicBezTo>
                <a:cubicBezTo>
                  <a:pt x="186406" y="322538"/>
                  <a:pt x="196085" y="316950"/>
                  <a:pt x="201323" y="307878"/>
                </a:cubicBezTo>
                <a:moveTo>
                  <a:pt x="47824" y="224693"/>
                </a:moveTo>
                <a:cubicBezTo>
                  <a:pt x="43911" y="228982"/>
                  <a:pt x="42897" y="235176"/>
                  <a:pt x="45239" y="240488"/>
                </a:cubicBezTo>
                <a:cubicBezTo>
                  <a:pt x="47581" y="245801"/>
                  <a:pt x="52838" y="249231"/>
                  <a:pt x="58644" y="249235"/>
                </a:cubicBezTo>
                <a:lnTo>
                  <a:pt x="293218" y="249235"/>
                </a:lnTo>
                <a:cubicBezTo>
                  <a:pt x="299023" y="249237"/>
                  <a:pt x="304282" y="245814"/>
                  <a:pt x="306631" y="240505"/>
                </a:cubicBezTo>
                <a:cubicBezTo>
                  <a:pt x="308979" y="235196"/>
                  <a:pt x="307974" y="229001"/>
                  <a:pt x="304067" y="224707"/>
                </a:cubicBezTo>
                <a:cubicBezTo>
                  <a:pt x="284568" y="204607"/>
                  <a:pt x="263896" y="183246"/>
                  <a:pt x="263896" y="117287"/>
                </a:cubicBezTo>
                <a:cubicBezTo>
                  <a:pt x="263896" y="68705"/>
                  <a:pt x="224512" y="29322"/>
                  <a:pt x="175931" y="29322"/>
                </a:cubicBezTo>
                <a:cubicBezTo>
                  <a:pt x="127349" y="29322"/>
                  <a:pt x="87965" y="68705"/>
                  <a:pt x="87965" y="117287"/>
                </a:cubicBezTo>
                <a:cubicBezTo>
                  <a:pt x="87965" y="183246"/>
                  <a:pt x="67279" y="204607"/>
                  <a:pt x="47824" y="224693"/>
                </a:cubicBezTo>
              </a:path>
            </a:pathLst>
          </a:custGeom>
          <a:noFill/>
          <a:ln w="29322" cap="rnd">
            <a:solidFill>
              <a:srgbClr val="0B6E8A"/>
            </a:solidFill>
            <a:prstDash val="solid"/>
            <a:round/>
          </a:ln>
        </p:spPr>
      </p:sp>
      <p:sp>
        <p:nvSpPr>
          <p:cNvPr id="32" name="Text 30"/>
          <p:cNvSpPr/>
          <p:nvPr/>
        </p:nvSpPr>
        <p:spPr>
          <a:xfrm>
            <a:off x="7211416" y="2679192"/>
            <a:ext cx="1443152" cy="676656"/>
          </a:xfrm>
          <a:prstGeom prst="rect">
            <a:avLst/>
          </a:prstGeom>
          <a:noFill/>
          <a:ln/>
        </p:spPr>
        <p:txBody>
          <a:bodyPr wrap="square" lIns="0" tIns="0" rIns="0" bIns="0" rtlCol="0" anchor="ctr">
            <a:normAutofit/>
          </a:bodyPr>
          <a:lstStyle/>
          <a:p>
            <a:pPr algn="l" indent="0" marL="0">
              <a:buNone/>
            </a:pPr>
            <a:r>
              <a:rPr lang="en-US" sz="850" b="1" dirty="0">
                <a:solidFill>
                  <a:srgbClr val="0B6E8A"/>
                </a:solidFill>
                <a:latin typeface="Segoe UI Semibold" pitchFamily="34" charset="0"/>
                <a:ea typeface="Segoe UI Semibold" pitchFamily="34" charset="-122"/>
                <a:cs typeface="Segoe UI Semibold" pitchFamily="34" charset="-120"/>
              </a:rPr>
              <a:t>servicio-notificaciones</a:t>
            </a:r>
            <a:endParaRPr lang="en-US" sz="850" dirty="0"/>
          </a:p>
        </p:txBody>
      </p:sp>
      <p:sp>
        <p:nvSpPr>
          <p:cNvPr id="33" name="Text 31"/>
          <p:cNvSpPr/>
          <p:nvPr/>
        </p:nvSpPr>
        <p:spPr>
          <a:xfrm>
            <a:off x="644332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:8081 · los avisos</a:t>
            </a:r>
            <a:endParaRPr lang="en-US" sz="1600" dirty="0"/>
          </a:p>
        </p:txBody>
      </p:sp>
      <p:sp>
        <p:nvSpPr>
          <p:cNvPr id="34" name="Shape 32"/>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8974607" y="2624328"/>
            <a:ext cx="64008" cy="1581912"/>
          </a:xfrm>
          <a:prstGeom prst="rect">
            <a:avLst/>
          </a:prstGeom>
          <a:solidFill>
            <a:srgbClr val="55627E"/>
          </a:solidFill>
          <a:ln w="12700">
            <a:solidFill>
              <a:srgbClr val="55627E"/>
            </a:solidFill>
            <a:prstDash val="solid"/>
          </a:ln>
        </p:spPr>
      </p:sp>
      <p:sp>
        <p:nvSpPr>
          <p:cNvPr id="36" name="Shape 34"/>
          <p:cNvSpPr/>
          <p:nvPr/>
        </p:nvSpPr>
        <p:spPr>
          <a:xfrm>
            <a:off x="9175775" y="2679192"/>
            <a:ext cx="676656" cy="676656"/>
          </a:xfrm>
          <a:prstGeom prst="ellipse">
            <a:avLst/>
          </a:prstGeom>
          <a:solidFill>
            <a:srgbClr val="F4F7FB"/>
          </a:solidFill>
          <a:ln w="12700">
            <a:solidFill>
              <a:srgbClr val="F4F7FB"/>
            </a:solidFill>
            <a:prstDash val="solid"/>
          </a:ln>
        </p:spPr>
      </p:sp>
      <p:sp>
        <p:nvSpPr>
          <p:cNvPr id="37" name="Icono database"/>
          <p:cNvSpPr/>
          <p:nvPr/>
        </p:nvSpPr>
        <p:spPr>
          <a:xfrm>
            <a:off x="9338173" y="2841589"/>
            <a:ext cx="351861" cy="351861"/>
          </a:xfrm>
          <a:custGeom>
            <a:avLst/>
            <a:gdLst/>
            <a:ahLst/>
            <a:cxnLst/>
            <a:rect l="l" t="t" r="r" b="b"/>
            <a:pathLst>
              <a:path w="351861" h="351861">
                <a:moveTo>
                  <a:pt x="307878" y="73304"/>
                </a:moveTo>
                <a:cubicBezTo>
                  <a:pt x="307878" y="97595"/>
                  <a:pt x="248803" y="117287"/>
                  <a:pt x="175931" y="117287"/>
                </a:cubicBezTo>
                <a:cubicBezTo>
                  <a:pt x="103058" y="117287"/>
                  <a:pt x="43983" y="97595"/>
                  <a:pt x="43983" y="73304"/>
                </a:cubicBezTo>
                <a:cubicBezTo>
                  <a:pt x="43983" y="49013"/>
                  <a:pt x="103058" y="29322"/>
                  <a:pt x="175931" y="29322"/>
                </a:cubicBezTo>
                <a:cubicBezTo>
                  <a:pt x="248803" y="29322"/>
                  <a:pt x="307878" y="49013"/>
                  <a:pt x="307878" y="73304"/>
                </a:cubicBezTo>
                <a:close/>
                <a:moveTo>
                  <a:pt x="43983" y="73304"/>
                </a:moveTo>
                <a:lnTo>
                  <a:pt x="43983" y="278557"/>
                </a:lnTo>
                <a:cubicBezTo>
                  <a:pt x="43983" y="302848"/>
                  <a:pt x="103058" y="322539"/>
                  <a:pt x="175931" y="322539"/>
                </a:cubicBezTo>
                <a:cubicBezTo>
                  <a:pt x="248803" y="322539"/>
                  <a:pt x="307878" y="302848"/>
                  <a:pt x="307878" y="278557"/>
                </a:cubicBezTo>
                <a:lnTo>
                  <a:pt x="307878" y="73304"/>
                </a:lnTo>
                <a:moveTo>
                  <a:pt x="43983" y="175931"/>
                </a:moveTo>
                <a:cubicBezTo>
                  <a:pt x="43983" y="200222"/>
                  <a:pt x="103058" y="219913"/>
                  <a:pt x="175931" y="219913"/>
                </a:cubicBezTo>
                <a:cubicBezTo>
                  <a:pt x="248803" y="219913"/>
                  <a:pt x="307878" y="200222"/>
                  <a:pt x="307878" y="175931"/>
                </a:cubicBezTo>
              </a:path>
            </a:pathLst>
          </a:custGeom>
          <a:noFill/>
          <a:ln w="29322" cap="rnd">
            <a:solidFill>
              <a:srgbClr val="55627E"/>
            </a:solidFill>
            <a:prstDash val="solid"/>
            <a:round/>
          </a:ln>
        </p:spPr>
      </p:sp>
      <p:sp>
        <p:nvSpPr>
          <p:cNvPr id="38" name="Text 36"/>
          <p:cNvSpPr/>
          <p:nvPr/>
        </p:nvSpPr>
        <p:spPr>
          <a:xfrm>
            <a:off x="9998735" y="2679192"/>
            <a:ext cx="1443152" cy="676656"/>
          </a:xfrm>
          <a:prstGeom prst="rect">
            <a:avLst/>
          </a:prstGeom>
          <a:noFill/>
          <a:ln/>
        </p:spPr>
        <p:txBody>
          <a:bodyPr wrap="square" lIns="0" tIns="0" rIns="0" bIns="0" rtlCol="0" anchor="ctr">
            <a:normAutofit/>
          </a:bodyPr>
          <a:lstStyle/>
          <a:p>
            <a:pPr algn="l" indent="0" marL="0">
              <a:buNone/>
            </a:pPr>
            <a:r>
              <a:rPr lang="en-US" sz="1350" b="1" dirty="0">
                <a:solidFill>
                  <a:srgbClr val="55627E"/>
                </a:solidFill>
                <a:latin typeface="Segoe UI Semibold" pitchFamily="34" charset="0"/>
                <a:ea typeface="Segoe UI Semibold" pitchFamily="34" charset="-122"/>
                <a:cs typeface="Segoe UI Semibold" pitchFamily="34" charset="-120"/>
              </a:rPr>
              <a:t>db-solicitudes</a:t>
            </a:r>
            <a:endParaRPr lang="en-US" sz="1350" dirty="0"/>
          </a:p>
        </p:txBody>
      </p:sp>
      <p:sp>
        <p:nvSpPr>
          <p:cNvPr id="39" name="Text 37"/>
          <p:cNvSpPr/>
          <p:nvPr/>
        </p:nvSpPr>
        <p:spPr>
          <a:xfrm>
            <a:off x="9230639"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PostgreSQL 17 · solo red interna</a:t>
            </a:r>
            <a:endParaRPr lang="en-US" sz="1600" dirty="0"/>
          </a:p>
        </p:txBody>
      </p:sp>
      <p:sp>
        <p:nvSpPr>
          <p:cNvPr id="40" name="Shape 38"/>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612648" y="4645152"/>
            <a:ext cx="64008" cy="1581912"/>
          </a:xfrm>
          <a:prstGeom prst="rect">
            <a:avLst/>
          </a:prstGeom>
          <a:solidFill>
            <a:srgbClr val="55627E"/>
          </a:solidFill>
          <a:ln w="12700">
            <a:solidFill>
              <a:srgbClr val="55627E"/>
            </a:solidFill>
            <a:prstDash val="solid"/>
          </a:ln>
        </p:spPr>
      </p:sp>
      <p:sp>
        <p:nvSpPr>
          <p:cNvPr id="42" name="Shape 40"/>
          <p:cNvSpPr/>
          <p:nvPr/>
        </p:nvSpPr>
        <p:spPr>
          <a:xfrm>
            <a:off x="813816" y="4700016"/>
            <a:ext cx="676656" cy="676656"/>
          </a:xfrm>
          <a:prstGeom prst="ellipse">
            <a:avLst/>
          </a:prstGeom>
          <a:solidFill>
            <a:srgbClr val="F4F7FB"/>
          </a:solidFill>
          <a:ln w="12700">
            <a:solidFill>
              <a:srgbClr val="F4F7FB"/>
            </a:solidFill>
            <a:prstDash val="solid"/>
          </a:ln>
        </p:spPr>
      </p:sp>
      <p:sp>
        <p:nvSpPr>
          <p:cNvPr id="43" name="Icono database"/>
          <p:cNvSpPr/>
          <p:nvPr/>
        </p:nvSpPr>
        <p:spPr>
          <a:xfrm>
            <a:off x="976213" y="4862413"/>
            <a:ext cx="351861" cy="351861"/>
          </a:xfrm>
          <a:custGeom>
            <a:avLst/>
            <a:gdLst/>
            <a:ahLst/>
            <a:cxnLst/>
            <a:rect l="l" t="t" r="r" b="b"/>
            <a:pathLst>
              <a:path w="351861" h="351861">
                <a:moveTo>
                  <a:pt x="307878" y="73304"/>
                </a:moveTo>
                <a:cubicBezTo>
                  <a:pt x="307878" y="97595"/>
                  <a:pt x="248803" y="117287"/>
                  <a:pt x="175931" y="117287"/>
                </a:cubicBezTo>
                <a:cubicBezTo>
                  <a:pt x="103058" y="117287"/>
                  <a:pt x="43983" y="97595"/>
                  <a:pt x="43983" y="73304"/>
                </a:cubicBezTo>
                <a:cubicBezTo>
                  <a:pt x="43983" y="49013"/>
                  <a:pt x="103058" y="29322"/>
                  <a:pt x="175931" y="29322"/>
                </a:cubicBezTo>
                <a:cubicBezTo>
                  <a:pt x="248803" y="29322"/>
                  <a:pt x="307878" y="49013"/>
                  <a:pt x="307878" y="73304"/>
                </a:cubicBezTo>
                <a:close/>
                <a:moveTo>
                  <a:pt x="43983" y="73304"/>
                </a:moveTo>
                <a:lnTo>
                  <a:pt x="43983" y="278557"/>
                </a:lnTo>
                <a:cubicBezTo>
                  <a:pt x="43983" y="302848"/>
                  <a:pt x="103058" y="322539"/>
                  <a:pt x="175931" y="322539"/>
                </a:cubicBezTo>
                <a:cubicBezTo>
                  <a:pt x="248803" y="322539"/>
                  <a:pt x="307878" y="302848"/>
                  <a:pt x="307878" y="278557"/>
                </a:cubicBezTo>
                <a:lnTo>
                  <a:pt x="307878" y="73304"/>
                </a:lnTo>
                <a:moveTo>
                  <a:pt x="43983" y="175931"/>
                </a:moveTo>
                <a:cubicBezTo>
                  <a:pt x="43983" y="200222"/>
                  <a:pt x="103058" y="219913"/>
                  <a:pt x="175931" y="219913"/>
                </a:cubicBezTo>
                <a:cubicBezTo>
                  <a:pt x="248803" y="219913"/>
                  <a:pt x="307878" y="200222"/>
                  <a:pt x="307878" y="175931"/>
                </a:cubicBezTo>
              </a:path>
            </a:pathLst>
          </a:custGeom>
          <a:noFill/>
          <a:ln w="29322" cap="rnd">
            <a:solidFill>
              <a:srgbClr val="55627E"/>
            </a:solidFill>
            <a:prstDash val="solid"/>
            <a:round/>
          </a:ln>
        </p:spPr>
      </p:sp>
      <p:sp>
        <p:nvSpPr>
          <p:cNvPr id="44" name="Text 42"/>
          <p:cNvSpPr/>
          <p:nvPr/>
        </p:nvSpPr>
        <p:spPr>
          <a:xfrm>
            <a:off x="1636776" y="4700016"/>
            <a:ext cx="1443152" cy="676656"/>
          </a:xfrm>
          <a:prstGeom prst="rect">
            <a:avLst/>
          </a:prstGeom>
          <a:noFill/>
          <a:ln/>
        </p:spPr>
        <p:txBody>
          <a:bodyPr wrap="square" lIns="0" tIns="0" rIns="0" bIns="0" rtlCol="0" anchor="ctr">
            <a:normAutofit/>
          </a:bodyPr>
          <a:lstStyle/>
          <a:p>
            <a:pPr algn="l" indent="0" marL="0">
              <a:buNone/>
            </a:pPr>
            <a:r>
              <a:rPr lang="en-US" sz="1150" b="1" dirty="0">
                <a:solidFill>
                  <a:srgbClr val="55627E"/>
                </a:solidFill>
                <a:latin typeface="Segoe UI Semibold" pitchFamily="34" charset="0"/>
                <a:ea typeface="Segoe UI Semibold" pitchFamily="34" charset="-122"/>
                <a:cs typeface="Segoe UI Semibold" pitchFamily="34" charset="-120"/>
              </a:rPr>
              <a:t>db-notificaciones</a:t>
            </a:r>
            <a:endParaRPr lang="en-US" sz="1150" dirty="0"/>
          </a:p>
        </p:txBody>
      </p:sp>
      <p:sp>
        <p:nvSpPr>
          <p:cNvPr id="45" name="Text 43"/>
          <p:cNvSpPr/>
          <p:nvPr/>
        </p:nvSpPr>
        <p:spPr>
          <a:xfrm>
            <a:off x="86868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PostgreSQL 17 · :5433</a:t>
            </a:r>
            <a:endParaRPr lang="en-US" sz="1600" dirty="0"/>
          </a:p>
        </p:txBody>
      </p:sp>
      <p:sp>
        <p:nvSpPr>
          <p:cNvPr id="46" name="Shape 44"/>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3399968" y="4645152"/>
            <a:ext cx="64008" cy="1581912"/>
          </a:xfrm>
          <a:prstGeom prst="rect">
            <a:avLst/>
          </a:prstGeom>
          <a:solidFill>
            <a:srgbClr val="8A4B06"/>
          </a:solidFill>
          <a:ln w="12700">
            <a:solidFill>
              <a:srgbClr val="8A4B06"/>
            </a:solidFill>
            <a:prstDash val="solid"/>
          </a:ln>
        </p:spPr>
      </p:sp>
      <p:sp>
        <p:nvSpPr>
          <p:cNvPr id="48" name="Shape 46"/>
          <p:cNvSpPr/>
          <p:nvPr/>
        </p:nvSpPr>
        <p:spPr>
          <a:xfrm>
            <a:off x="3601136" y="4700016"/>
            <a:ext cx="676656" cy="676656"/>
          </a:xfrm>
          <a:prstGeom prst="ellipse">
            <a:avLst/>
          </a:prstGeom>
          <a:solidFill>
            <a:srgbClr val="FCEFD6"/>
          </a:solidFill>
          <a:ln w="12700">
            <a:solidFill>
              <a:srgbClr val="FCEFD6"/>
            </a:solidFill>
            <a:prstDash val="solid"/>
          </a:ln>
        </p:spPr>
      </p:sp>
      <p:sp>
        <p:nvSpPr>
          <p:cNvPr id="49" name="Icono scan-eye"/>
          <p:cNvSpPr/>
          <p:nvPr/>
        </p:nvSpPr>
        <p:spPr>
          <a:xfrm>
            <a:off x="3763533" y="4862413"/>
            <a:ext cx="351861" cy="351861"/>
          </a:xfrm>
          <a:custGeom>
            <a:avLst/>
            <a:gdLst/>
            <a:ahLst/>
            <a:cxnLst/>
            <a:rect l="l" t="t" r="r" b="b"/>
            <a:pathLst>
              <a:path w="351861" h="351861">
                <a:moveTo>
                  <a:pt x="43983" y="102626"/>
                </a:moveTo>
                <a:lnTo>
                  <a:pt x="43983" y="73304"/>
                </a:lnTo>
                <a:cubicBezTo>
                  <a:pt x="43983" y="57110"/>
                  <a:pt x="57110" y="43983"/>
                  <a:pt x="73304" y="43983"/>
                </a:cubicBezTo>
                <a:lnTo>
                  <a:pt x="102626" y="43983"/>
                </a:lnTo>
                <a:moveTo>
                  <a:pt x="249235" y="43983"/>
                </a:moveTo>
                <a:lnTo>
                  <a:pt x="278557" y="43983"/>
                </a:lnTo>
                <a:cubicBezTo>
                  <a:pt x="294751" y="43983"/>
                  <a:pt x="307878" y="57110"/>
                  <a:pt x="307878" y="73304"/>
                </a:cubicBezTo>
                <a:lnTo>
                  <a:pt x="307878" y="102626"/>
                </a:lnTo>
                <a:moveTo>
                  <a:pt x="307878" y="249235"/>
                </a:moveTo>
                <a:lnTo>
                  <a:pt x="307878" y="278557"/>
                </a:lnTo>
                <a:cubicBezTo>
                  <a:pt x="307878" y="294751"/>
                  <a:pt x="294751" y="307878"/>
                  <a:pt x="278557" y="307878"/>
                </a:cubicBezTo>
                <a:lnTo>
                  <a:pt x="249235" y="307878"/>
                </a:lnTo>
                <a:moveTo>
                  <a:pt x="102626" y="307878"/>
                </a:moveTo>
                <a:lnTo>
                  <a:pt x="73304" y="307878"/>
                </a:lnTo>
                <a:cubicBezTo>
                  <a:pt x="57110" y="307878"/>
                  <a:pt x="43983" y="294751"/>
                  <a:pt x="43983" y="278557"/>
                </a:cubicBezTo>
                <a:lnTo>
                  <a:pt x="43983" y="249235"/>
                </a:lnTo>
                <a:moveTo>
                  <a:pt x="190591" y="175931"/>
                </a:moveTo>
                <a:cubicBezTo>
                  <a:pt x="190591" y="184028"/>
                  <a:pt x="184028" y="190591"/>
                  <a:pt x="175931" y="190591"/>
                </a:cubicBezTo>
                <a:cubicBezTo>
                  <a:pt x="167834" y="190591"/>
                  <a:pt x="161270" y="184028"/>
                  <a:pt x="161270" y="175931"/>
                </a:cubicBezTo>
                <a:cubicBezTo>
                  <a:pt x="161270" y="167834"/>
                  <a:pt x="167834" y="161270"/>
                  <a:pt x="175931" y="161270"/>
                </a:cubicBezTo>
                <a:cubicBezTo>
                  <a:pt x="184028" y="161270"/>
                  <a:pt x="190591" y="167834"/>
                  <a:pt x="190591" y="175931"/>
                </a:cubicBezTo>
                <a:close/>
                <a:moveTo>
                  <a:pt x="277736" y="180769"/>
                </a:moveTo>
                <a:cubicBezTo>
                  <a:pt x="278831" y="177636"/>
                  <a:pt x="278831" y="174225"/>
                  <a:pt x="277736" y="171092"/>
                </a:cubicBezTo>
                <a:cubicBezTo>
                  <a:pt x="260852" y="129722"/>
                  <a:pt x="220613" y="102683"/>
                  <a:pt x="175931" y="102683"/>
                </a:cubicBezTo>
                <a:cubicBezTo>
                  <a:pt x="131248" y="102683"/>
                  <a:pt x="91009" y="129722"/>
                  <a:pt x="74125" y="171092"/>
                </a:cubicBezTo>
                <a:cubicBezTo>
                  <a:pt x="73030" y="174225"/>
                  <a:pt x="73030" y="177636"/>
                  <a:pt x="74125" y="180769"/>
                </a:cubicBezTo>
                <a:cubicBezTo>
                  <a:pt x="91009" y="222139"/>
                  <a:pt x="131248" y="249178"/>
                  <a:pt x="175931" y="249178"/>
                </a:cubicBezTo>
                <a:cubicBezTo>
                  <a:pt x="220613" y="249178"/>
                  <a:pt x="260852" y="222139"/>
                  <a:pt x="277736" y="180769"/>
                </a:cubicBezTo>
              </a:path>
            </a:pathLst>
          </a:custGeom>
          <a:noFill/>
          <a:ln w="29322" cap="rnd">
            <a:solidFill>
              <a:srgbClr val="8A4B06"/>
            </a:solidFill>
            <a:prstDash val="solid"/>
            <a:round/>
          </a:ln>
        </p:spPr>
      </p:sp>
      <p:sp>
        <p:nvSpPr>
          <p:cNvPr id="50" name="Text 48"/>
          <p:cNvSpPr/>
          <p:nvPr/>
        </p:nvSpPr>
        <p:spPr>
          <a:xfrm>
            <a:off x="4424096"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promtail</a:t>
            </a:r>
            <a:endParaRPr lang="en-US" sz="1800" dirty="0"/>
          </a:p>
        </p:txBody>
      </p:sp>
      <p:sp>
        <p:nvSpPr>
          <p:cNvPr id="51" name="Text 49"/>
          <p:cNvSpPr/>
          <p:nvPr/>
        </p:nvSpPr>
        <p:spPr>
          <a:xfrm>
            <a:off x="365600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recoge los logs</a:t>
            </a:r>
            <a:endParaRPr lang="en-US" sz="1600" dirty="0"/>
          </a:p>
        </p:txBody>
      </p:sp>
      <p:sp>
        <p:nvSpPr>
          <p:cNvPr id="52" name="Shape 50"/>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6187288" y="4645152"/>
            <a:ext cx="64008" cy="1581912"/>
          </a:xfrm>
          <a:prstGeom prst="rect">
            <a:avLst/>
          </a:prstGeom>
          <a:solidFill>
            <a:srgbClr val="8A4B06"/>
          </a:solidFill>
          <a:ln w="12700">
            <a:solidFill>
              <a:srgbClr val="8A4B06"/>
            </a:solidFill>
            <a:prstDash val="solid"/>
          </a:ln>
        </p:spPr>
      </p:sp>
      <p:sp>
        <p:nvSpPr>
          <p:cNvPr id="54" name="Shape 52"/>
          <p:cNvSpPr/>
          <p:nvPr/>
        </p:nvSpPr>
        <p:spPr>
          <a:xfrm>
            <a:off x="6388456" y="4700016"/>
            <a:ext cx="676656" cy="676656"/>
          </a:xfrm>
          <a:prstGeom prst="ellipse">
            <a:avLst/>
          </a:prstGeom>
          <a:solidFill>
            <a:srgbClr val="FCEFD6"/>
          </a:solidFill>
          <a:ln w="12700">
            <a:solidFill>
              <a:srgbClr val="FCEFD6"/>
            </a:solidFill>
            <a:prstDash val="solid"/>
          </a:ln>
        </p:spPr>
      </p:sp>
      <p:sp>
        <p:nvSpPr>
          <p:cNvPr id="55" name="Icono archive"/>
          <p:cNvSpPr/>
          <p:nvPr/>
        </p:nvSpPr>
        <p:spPr>
          <a:xfrm>
            <a:off x="6550853" y="4862413"/>
            <a:ext cx="351861" cy="351861"/>
          </a:xfrm>
          <a:custGeom>
            <a:avLst/>
            <a:gdLst/>
            <a:ahLst/>
            <a:cxnLst/>
            <a:rect l="l" t="t" r="r" b="b"/>
            <a:pathLst>
              <a:path w="351861" h="351861">
                <a:moveTo>
                  <a:pt x="43983" y="43983"/>
                </a:moveTo>
                <a:lnTo>
                  <a:pt x="307878" y="43983"/>
                </a:lnTo>
                <a:cubicBezTo>
                  <a:pt x="315975" y="43983"/>
                  <a:pt x="322539" y="50547"/>
                  <a:pt x="322539" y="58644"/>
                </a:cubicBezTo>
                <a:lnTo>
                  <a:pt x="322539" y="102626"/>
                </a:lnTo>
                <a:cubicBezTo>
                  <a:pt x="322539" y="110723"/>
                  <a:pt x="315975" y="117287"/>
                  <a:pt x="307878" y="117287"/>
                </a:cubicBezTo>
                <a:lnTo>
                  <a:pt x="43983" y="117287"/>
                </a:lnTo>
                <a:cubicBezTo>
                  <a:pt x="35886" y="117287"/>
                  <a:pt x="29322" y="110723"/>
                  <a:pt x="29322" y="102626"/>
                </a:cubicBezTo>
                <a:lnTo>
                  <a:pt x="29322" y="58644"/>
                </a:lnTo>
                <a:cubicBezTo>
                  <a:pt x="29322" y="50547"/>
                  <a:pt x="35886" y="43983"/>
                  <a:pt x="43983" y="43983"/>
                </a:cubicBezTo>
                <a:close/>
                <a:moveTo>
                  <a:pt x="58644" y="117287"/>
                </a:moveTo>
                <a:lnTo>
                  <a:pt x="58644" y="278557"/>
                </a:lnTo>
                <a:cubicBezTo>
                  <a:pt x="58644" y="294751"/>
                  <a:pt x="71771" y="307878"/>
                  <a:pt x="87965" y="307878"/>
                </a:cubicBezTo>
                <a:lnTo>
                  <a:pt x="263896" y="307878"/>
                </a:lnTo>
                <a:cubicBezTo>
                  <a:pt x="280090" y="307878"/>
                  <a:pt x="293218" y="294751"/>
                  <a:pt x="293218" y="278557"/>
                </a:cubicBezTo>
                <a:lnTo>
                  <a:pt x="293218" y="117287"/>
                </a:lnTo>
                <a:moveTo>
                  <a:pt x="146609" y="175931"/>
                </a:moveTo>
                <a:lnTo>
                  <a:pt x="205252" y="175931"/>
                </a:lnTo>
              </a:path>
            </a:pathLst>
          </a:custGeom>
          <a:noFill/>
          <a:ln w="29322" cap="rnd">
            <a:solidFill>
              <a:srgbClr val="8A4B06"/>
            </a:solidFill>
            <a:prstDash val="solid"/>
            <a:round/>
          </a:ln>
        </p:spPr>
      </p:sp>
      <p:sp>
        <p:nvSpPr>
          <p:cNvPr id="56" name="Text 54"/>
          <p:cNvSpPr/>
          <p:nvPr/>
        </p:nvSpPr>
        <p:spPr>
          <a:xfrm>
            <a:off x="7211416"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loki</a:t>
            </a:r>
            <a:endParaRPr lang="en-US" sz="1800" dirty="0"/>
          </a:p>
        </p:txBody>
      </p:sp>
      <p:sp>
        <p:nvSpPr>
          <p:cNvPr id="57" name="Text 55"/>
          <p:cNvSpPr/>
          <p:nvPr/>
        </p:nvSpPr>
        <p:spPr>
          <a:xfrm>
            <a:off x="644332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:3100 · guarda los logs</a:t>
            </a:r>
            <a:endParaRPr lang="en-US" sz="1600" dirty="0"/>
          </a:p>
        </p:txBody>
      </p:sp>
      <p:sp>
        <p:nvSpPr>
          <p:cNvPr id="58" name="Shape 56"/>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9" name="Shape 57"/>
          <p:cNvSpPr/>
          <p:nvPr/>
        </p:nvSpPr>
        <p:spPr>
          <a:xfrm>
            <a:off x="8974607" y="4645152"/>
            <a:ext cx="64008" cy="1581912"/>
          </a:xfrm>
          <a:prstGeom prst="rect">
            <a:avLst/>
          </a:prstGeom>
          <a:solidFill>
            <a:srgbClr val="8A4B06"/>
          </a:solidFill>
          <a:ln w="12700">
            <a:solidFill>
              <a:srgbClr val="8A4B06"/>
            </a:solidFill>
            <a:prstDash val="solid"/>
          </a:ln>
        </p:spPr>
      </p:sp>
      <p:sp>
        <p:nvSpPr>
          <p:cNvPr id="60" name="Shape 58"/>
          <p:cNvSpPr/>
          <p:nvPr/>
        </p:nvSpPr>
        <p:spPr>
          <a:xfrm>
            <a:off x="9175775" y="4700016"/>
            <a:ext cx="676656" cy="676656"/>
          </a:xfrm>
          <a:prstGeom prst="ellipse">
            <a:avLst/>
          </a:prstGeom>
          <a:solidFill>
            <a:srgbClr val="FCEFD6"/>
          </a:solidFill>
          <a:ln w="12700">
            <a:solidFill>
              <a:srgbClr val="FCEFD6"/>
            </a:solidFill>
            <a:prstDash val="solid"/>
          </a:ln>
        </p:spPr>
      </p:sp>
      <p:sp>
        <p:nvSpPr>
          <p:cNvPr id="61" name="Icono chart-line"/>
          <p:cNvSpPr/>
          <p:nvPr/>
        </p:nvSpPr>
        <p:spPr>
          <a:xfrm>
            <a:off x="9338173" y="4862413"/>
            <a:ext cx="351861" cy="351861"/>
          </a:xfrm>
          <a:custGeom>
            <a:avLst/>
            <a:gdLst/>
            <a:ahLst/>
            <a:cxnLst/>
            <a:rect l="l" t="t" r="r" b="b"/>
            <a:pathLst>
              <a:path w="351861" h="351861">
                <a:moveTo>
                  <a:pt x="43983" y="43983"/>
                </a:moveTo>
                <a:lnTo>
                  <a:pt x="43983" y="278557"/>
                </a:lnTo>
                <a:cubicBezTo>
                  <a:pt x="43983" y="294751"/>
                  <a:pt x="57110" y="307878"/>
                  <a:pt x="73304" y="307878"/>
                </a:cubicBezTo>
                <a:lnTo>
                  <a:pt x="307878" y="307878"/>
                </a:lnTo>
                <a:moveTo>
                  <a:pt x="278557" y="131948"/>
                </a:moveTo>
                <a:lnTo>
                  <a:pt x="205252" y="205252"/>
                </a:lnTo>
                <a:lnTo>
                  <a:pt x="146609" y="146609"/>
                </a:lnTo>
                <a:lnTo>
                  <a:pt x="102626" y="190591"/>
                </a:lnTo>
              </a:path>
            </a:pathLst>
          </a:custGeom>
          <a:noFill/>
          <a:ln w="29322" cap="rnd">
            <a:solidFill>
              <a:srgbClr val="8A4B06"/>
            </a:solidFill>
            <a:prstDash val="solid"/>
            <a:round/>
          </a:ln>
        </p:spPr>
      </p:sp>
      <p:sp>
        <p:nvSpPr>
          <p:cNvPr id="62" name="Text 60"/>
          <p:cNvSpPr/>
          <p:nvPr/>
        </p:nvSpPr>
        <p:spPr>
          <a:xfrm>
            <a:off x="9998735"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grafana</a:t>
            </a:r>
            <a:endParaRPr lang="en-US" sz="1800" dirty="0"/>
          </a:p>
        </p:txBody>
      </p:sp>
      <p:sp>
        <p:nvSpPr>
          <p:cNvPr id="63" name="Text 61"/>
          <p:cNvSpPr/>
          <p:nvPr/>
        </p:nvSpPr>
        <p:spPr>
          <a:xfrm>
            <a:off x="9230639"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:3000 · busca en los logs</a:t>
            </a:r>
            <a:endParaRPr lang="en-US" sz="1600" dirty="0"/>
          </a:p>
        </p:txBody>
      </p:sp>
      <p:sp>
        <p:nvSpPr>
          <p:cNvPr id="64" name="Text 6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Sin instalar nada: GitHub Codespaces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sistema completo, levantado en la nube desde una rama: así hacemos la demostración.</a:t>
            </a:r>
            <a:endParaRPr lang="en-US" sz="1700" dirty="0"/>
          </a:p>
        </p:txBody>
      </p:sp>
      <p:sp>
        <p:nvSpPr>
          <p:cNvPr id="13" name="Shape 11"/>
          <p:cNvSpPr/>
          <p:nvPr/>
        </p:nvSpPr>
        <p:spPr>
          <a:xfrm>
            <a:off x="1024128" y="235064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4" name="Icono git-branch"/>
          <p:cNvSpPr/>
          <p:nvPr/>
        </p:nvSpPr>
        <p:spPr>
          <a:xfrm>
            <a:off x="1339302" y="2665822"/>
            <a:ext cx="739973" cy="739973"/>
          </a:xfrm>
          <a:custGeom>
            <a:avLst/>
            <a:gdLst/>
            <a:ahLst/>
            <a:cxnLst/>
            <a:rect l="l" t="t" r="r" b="b"/>
            <a:pathLst>
              <a:path w="739973" h="739973">
                <a:moveTo>
                  <a:pt x="184993" y="92497"/>
                </a:moveTo>
                <a:lnTo>
                  <a:pt x="184993" y="462483"/>
                </a:lnTo>
                <a:moveTo>
                  <a:pt x="647476" y="184993"/>
                </a:moveTo>
                <a:cubicBezTo>
                  <a:pt x="647476" y="236078"/>
                  <a:pt x="606064" y="277490"/>
                  <a:pt x="554980" y="277490"/>
                </a:cubicBezTo>
                <a:cubicBezTo>
                  <a:pt x="503895" y="277490"/>
                  <a:pt x="462483" y="236078"/>
                  <a:pt x="462483" y="184993"/>
                </a:cubicBezTo>
                <a:cubicBezTo>
                  <a:pt x="462483" y="133909"/>
                  <a:pt x="503895" y="92497"/>
                  <a:pt x="554980" y="92497"/>
                </a:cubicBezTo>
                <a:cubicBezTo>
                  <a:pt x="606064" y="92497"/>
                  <a:pt x="647476" y="133909"/>
                  <a:pt x="647476" y="184993"/>
                </a:cubicBezTo>
                <a:close/>
                <a:moveTo>
                  <a:pt x="277490" y="554980"/>
                </a:moveTo>
                <a:cubicBezTo>
                  <a:pt x="277490" y="606064"/>
                  <a:pt x="236078" y="647476"/>
                  <a:pt x="184993" y="647476"/>
                </a:cubicBezTo>
                <a:cubicBezTo>
                  <a:pt x="133909" y="647476"/>
                  <a:pt x="92497" y="606064"/>
                  <a:pt x="92497" y="554980"/>
                </a:cubicBezTo>
                <a:cubicBezTo>
                  <a:pt x="92497" y="503895"/>
                  <a:pt x="133909" y="462483"/>
                  <a:pt x="184993" y="462483"/>
                </a:cubicBezTo>
                <a:cubicBezTo>
                  <a:pt x="236078" y="462483"/>
                  <a:pt x="277490" y="503895"/>
                  <a:pt x="277490" y="554980"/>
                </a:cubicBezTo>
                <a:close/>
                <a:moveTo>
                  <a:pt x="554980" y="277490"/>
                </a:moveTo>
                <a:cubicBezTo>
                  <a:pt x="554980" y="430743"/>
                  <a:pt x="430743" y="554980"/>
                  <a:pt x="277490" y="554980"/>
                </a:cubicBezTo>
              </a:path>
            </a:pathLst>
          </a:custGeom>
          <a:noFill/>
          <a:ln w="53956" cap="rnd">
            <a:solidFill>
              <a:srgbClr val="0B2350"/>
            </a:solidFill>
            <a:prstDash val="solid"/>
            <a:round/>
          </a:ln>
        </p:spPr>
      </p:sp>
      <p:sp>
        <p:nvSpPr>
          <p:cNvPr id="15" name="Text 13"/>
          <p:cNvSpPr/>
          <p:nvPr/>
        </p:nvSpPr>
        <p:spPr>
          <a:xfrm>
            <a:off x="987552" y="231407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Una rama</a:t>
            </a:r>
            <a:endParaRPr lang="en-US" sz="1800" dirty="0"/>
          </a:p>
        </p:txBody>
      </p:sp>
      <p:sp>
        <p:nvSpPr>
          <p:cNvPr id="17" name="Text 15"/>
          <p:cNvSpPr/>
          <p:nvPr/>
        </p:nvSpPr>
        <p:spPr>
          <a:xfrm>
            <a:off x="72237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Code › Codespaces › Crear.</a:t>
            </a:r>
            <a:endParaRPr lang="en-US" sz="1400" dirty="0"/>
          </a:p>
        </p:txBody>
      </p:sp>
      <p:sp>
        <p:nvSpPr>
          <p:cNvPr id="18" name="[p1] Forma"/>
          <p:cNvSpPr/>
          <p:nvPr/>
        </p:nvSpPr>
        <p:spPr>
          <a:xfrm>
            <a:off x="2485888" y="3035808"/>
            <a:ext cx="640080" cy="0"/>
          </a:xfrm>
          <a:prstGeom prst="line">
            <a:avLst/>
          </a:prstGeom>
          <a:noFill/>
          <a:ln w="38100">
            <a:solidFill>
              <a:srgbClr val="2BA6CB"/>
            </a:solidFill>
            <a:prstDash val="solid"/>
            <a:tailEnd type="triangle"/>
          </a:ln>
        </p:spPr>
      </p:sp>
      <p:sp>
        <p:nvSpPr>
          <p:cNvPr id="19" name="[p1] Forma"/>
          <p:cNvSpPr/>
          <p:nvPr/>
        </p:nvSpPr>
        <p:spPr>
          <a:xfrm>
            <a:off x="3217408" y="235064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cloud"/>
          <p:cNvSpPr/>
          <p:nvPr/>
        </p:nvSpPr>
        <p:spPr>
          <a:xfrm>
            <a:off x="3532581" y="2665822"/>
            <a:ext cx="739973" cy="739973"/>
          </a:xfrm>
          <a:custGeom>
            <a:avLst/>
            <a:gdLst/>
            <a:ahLst/>
            <a:cxnLst/>
            <a:rect l="l" t="t" r="r" b="b"/>
            <a:pathLst>
              <a:path w="739973" h="739973">
                <a:moveTo>
                  <a:pt x="539563" y="585812"/>
                </a:moveTo>
                <a:lnTo>
                  <a:pt x="277490" y="585812"/>
                </a:lnTo>
                <a:cubicBezTo>
                  <a:pt x="166361" y="585783"/>
                  <a:pt x="73420" y="501375"/>
                  <a:pt x="62722" y="390762"/>
                </a:cubicBezTo>
                <a:cubicBezTo>
                  <a:pt x="52024" y="280150"/>
                  <a:pt x="127068" y="179495"/>
                  <a:pt x="236132" y="158172"/>
                </a:cubicBezTo>
                <a:cubicBezTo>
                  <a:pt x="345195" y="136848"/>
                  <a:pt x="452623" y="201826"/>
                  <a:pt x="484374" y="308322"/>
                </a:cubicBezTo>
                <a:lnTo>
                  <a:pt x="539563" y="308322"/>
                </a:lnTo>
                <a:cubicBezTo>
                  <a:pt x="616190" y="308322"/>
                  <a:pt x="678308" y="370440"/>
                  <a:pt x="678308" y="447067"/>
                </a:cubicBezTo>
                <a:cubicBezTo>
                  <a:pt x="678308" y="523694"/>
                  <a:pt x="616190" y="585812"/>
                  <a:pt x="539563" y="585812"/>
                </a:cubicBezTo>
                <a:close/>
              </a:path>
            </a:pathLst>
          </a:custGeom>
          <a:noFill/>
          <a:ln w="53956" cap="rnd">
            <a:solidFill>
              <a:srgbClr val="0B2350"/>
            </a:solidFill>
            <a:prstDash val="solid"/>
            <a:round/>
          </a:ln>
        </p:spPr>
      </p:sp>
      <p:sp>
        <p:nvSpPr>
          <p:cNvPr id="21" name="[p1] Forma"/>
          <p:cNvSpPr/>
          <p:nvPr/>
        </p:nvSpPr>
        <p:spPr>
          <a:xfrm>
            <a:off x="3180832" y="231407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2851648" y="3848984"/>
            <a:ext cx="2101840" cy="420624"/>
          </a:xfrm>
          <a:prstGeom prst="rect">
            <a:avLst/>
          </a:prstGeom>
          <a:noFill/>
          <a:ln/>
        </p:spPr>
        <p:txBody>
          <a:bodyPr wrap="square" lIns="0" tIns="0" rIns="0" bIns="0" rtlCol="0" anchor="t">
            <a:normAutofit/>
          </a:bodyPr>
          <a:lstStyle/>
          <a:p>
            <a:pPr algn="ctr" indent="0" marL="0">
              <a:buNone/>
            </a:pPr>
            <a:r>
              <a:rPr lang="en-US" sz="1550" b="1" dirty="0">
                <a:solidFill>
                  <a:srgbClr val="0B1A3C"/>
                </a:solidFill>
                <a:latin typeface="Segoe UI Semibold" pitchFamily="34" charset="0"/>
                <a:ea typeface="Segoe UI Semibold" pitchFamily="34" charset="-122"/>
                <a:cs typeface="Segoe UI Semibold" pitchFamily="34" charset="-120"/>
              </a:rPr>
              <a:t>Máquina en la nube</a:t>
            </a:r>
            <a:endParaRPr lang="en-US" sz="1550" dirty="0"/>
          </a:p>
        </p:txBody>
      </p:sp>
      <p:sp>
        <p:nvSpPr>
          <p:cNvPr id="23" name="[p1] Forma"/>
          <p:cNvSpPr/>
          <p:nvPr/>
        </p:nvSpPr>
        <p:spPr>
          <a:xfrm>
            <a:off x="291565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4 núcleos y Docker adentro.</a:t>
            </a:r>
            <a:endParaRPr lang="en-US" sz="1400" dirty="0"/>
          </a:p>
        </p:txBody>
      </p:sp>
      <p:sp>
        <p:nvSpPr>
          <p:cNvPr id="24" name="[p2] Forma"/>
          <p:cNvSpPr/>
          <p:nvPr/>
        </p:nvSpPr>
        <p:spPr>
          <a:xfrm>
            <a:off x="4679168" y="3035808"/>
            <a:ext cx="640080" cy="0"/>
          </a:xfrm>
          <a:prstGeom prst="line">
            <a:avLst/>
          </a:prstGeom>
          <a:noFill/>
          <a:ln w="38100">
            <a:solidFill>
              <a:srgbClr val="2BA6CB"/>
            </a:solidFill>
            <a:prstDash val="solid"/>
            <a:tailEnd type="triangle"/>
          </a:ln>
        </p:spPr>
      </p:sp>
      <p:sp>
        <p:nvSpPr>
          <p:cNvPr id="25" name="[p2] Forma"/>
          <p:cNvSpPr/>
          <p:nvPr/>
        </p:nvSpPr>
        <p:spPr>
          <a:xfrm>
            <a:off x="5410688" y="235064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6" name="[p2] Icono container"/>
          <p:cNvSpPr/>
          <p:nvPr/>
        </p:nvSpPr>
        <p:spPr>
          <a:xfrm>
            <a:off x="5725861" y="2665822"/>
            <a:ext cx="739973" cy="739973"/>
          </a:xfrm>
          <a:custGeom>
            <a:avLst/>
            <a:gdLst/>
            <a:ahLst/>
            <a:cxnLst/>
            <a:rect l="l" t="t" r="r" b="b"/>
            <a:pathLst>
              <a:path w="739973" h="739973">
                <a:moveTo>
                  <a:pt x="678308" y="237408"/>
                </a:moveTo>
                <a:cubicBezTo>
                  <a:pt x="678308" y="218909"/>
                  <a:pt x="665975" y="200409"/>
                  <a:pt x="653643" y="191160"/>
                </a:cubicBezTo>
                <a:lnTo>
                  <a:pt x="459400" y="70914"/>
                </a:lnTo>
                <a:cubicBezTo>
                  <a:pt x="443149" y="61676"/>
                  <a:pt x="423236" y="61676"/>
                  <a:pt x="406985" y="70914"/>
                </a:cubicBezTo>
                <a:lnTo>
                  <a:pt x="89413" y="255907"/>
                </a:lnTo>
                <a:cubicBezTo>
                  <a:pt x="73997" y="262074"/>
                  <a:pt x="61664" y="280573"/>
                  <a:pt x="61664" y="299072"/>
                </a:cubicBezTo>
                <a:lnTo>
                  <a:pt x="61664" y="502565"/>
                </a:lnTo>
                <a:cubicBezTo>
                  <a:pt x="61664" y="517981"/>
                  <a:pt x="73997" y="539563"/>
                  <a:pt x="86330" y="548813"/>
                </a:cubicBezTo>
                <a:lnTo>
                  <a:pt x="280573" y="669059"/>
                </a:lnTo>
                <a:cubicBezTo>
                  <a:pt x="296824" y="678296"/>
                  <a:pt x="316737" y="678296"/>
                  <a:pt x="332988" y="669059"/>
                </a:cubicBezTo>
                <a:lnTo>
                  <a:pt x="650559" y="484065"/>
                </a:lnTo>
                <a:cubicBezTo>
                  <a:pt x="665975" y="474816"/>
                  <a:pt x="678308" y="453233"/>
                  <a:pt x="678308" y="437817"/>
                </a:cubicBezTo>
                <a:close/>
                <a:moveTo>
                  <a:pt x="308322" y="675225"/>
                </a:moveTo>
                <a:lnTo>
                  <a:pt x="308322" y="431651"/>
                </a:lnTo>
                <a:lnTo>
                  <a:pt x="64748" y="280573"/>
                </a:lnTo>
                <a:moveTo>
                  <a:pt x="308322" y="431651"/>
                </a:moveTo>
                <a:lnTo>
                  <a:pt x="675225" y="218909"/>
                </a:lnTo>
                <a:moveTo>
                  <a:pt x="431651" y="610477"/>
                </a:moveTo>
                <a:lnTo>
                  <a:pt x="431651" y="360737"/>
                </a:lnTo>
                <a:moveTo>
                  <a:pt x="554980" y="539563"/>
                </a:moveTo>
                <a:lnTo>
                  <a:pt x="554980" y="289823"/>
                </a:lnTo>
              </a:path>
            </a:pathLst>
          </a:custGeom>
          <a:noFill/>
          <a:ln w="53956" cap="rnd">
            <a:solidFill>
              <a:srgbClr val="0B6E8A"/>
            </a:solidFill>
            <a:prstDash val="solid"/>
            <a:round/>
          </a:ln>
        </p:spPr>
      </p:sp>
      <p:sp>
        <p:nvSpPr>
          <p:cNvPr id="27" name="[p2] Forma"/>
          <p:cNvSpPr/>
          <p:nvPr/>
        </p:nvSpPr>
        <p:spPr>
          <a:xfrm>
            <a:off x="5374112" y="231407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504492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levantar.sh</a:t>
            </a:r>
            <a:endParaRPr lang="en-US" sz="1800" dirty="0"/>
          </a:p>
        </p:txBody>
      </p:sp>
      <p:sp>
        <p:nvSpPr>
          <p:cNvPr id="29" name="[p2] Forma"/>
          <p:cNvSpPr/>
          <p:nvPr/>
        </p:nvSpPr>
        <p:spPr>
          <a:xfrm>
            <a:off x="510893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Construye y levanta los 8 contenedores.</a:t>
            </a:r>
            <a:endParaRPr lang="en-US" sz="1400" dirty="0"/>
          </a:p>
        </p:txBody>
      </p:sp>
      <p:sp>
        <p:nvSpPr>
          <p:cNvPr id="30" name="[p3] Forma"/>
          <p:cNvSpPr/>
          <p:nvPr/>
        </p:nvSpPr>
        <p:spPr>
          <a:xfrm>
            <a:off x="6872448" y="3035808"/>
            <a:ext cx="640080" cy="0"/>
          </a:xfrm>
          <a:prstGeom prst="line">
            <a:avLst/>
          </a:prstGeom>
          <a:noFill/>
          <a:ln w="38100">
            <a:solidFill>
              <a:srgbClr val="2BA6CB"/>
            </a:solidFill>
            <a:prstDash val="solid"/>
            <a:tailEnd type="triangle"/>
          </a:ln>
        </p:spPr>
      </p:sp>
      <p:sp>
        <p:nvSpPr>
          <p:cNvPr id="31" name="[p3] Forma"/>
          <p:cNvSpPr/>
          <p:nvPr/>
        </p:nvSpPr>
        <p:spPr>
          <a:xfrm>
            <a:off x="7603968" y="235064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2" name="[p3] Icono globe"/>
          <p:cNvSpPr/>
          <p:nvPr/>
        </p:nvSpPr>
        <p:spPr>
          <a:xfrm>
            <a:off x="7919141" y="2665822"/>
            <a:ext cx="739973" cy="739973"/>
          </a:xfrm>
          <a:custGeom>
            <a:avLst/>
            <a:gdLst/>
            <a:ahLst/>
            <a:cxnLst/>
            <a:rect l="l" t="t" r="r" b="b"/>
            <a:pathLst>
              <a:path w="739973" h="739973">
                <a:moveTo>
                  <a:pt x="678308" y="369986"/>
                </a:moveTo>
                <a:cubicBezTo>
                  <a:pt x="678308" y="540268"/>
                  <a:pt x="540268" y="678308"/>
                  <a:pt x="369986" y="678308"/>
                </a:cubicBezTo>
                <a:cubicBezTo>
                  <a:pt x="199705" y="678308"/>
                  <a:pt x="61664" y="540268"/>
                  <a:pt x="61664" y="369986"/>
                </a:cubicBezTo>
                <a:cubicBezTo>
                  <a:pt x="61664" y="199705"/>
                  <a:pt x="199705" y="61664"/>
                  <a:pt x="369986" y="61664"/>
                </a:cubicBezTo>
                <a:cubicBezTo>
                  <a:pt x="540268" y="61664"/>
                  <a:pt x="678308" y="199705"/>
                  <a:pt x="678308" y="369986"/>
                </a:cubicBezTo>
                <a:close/>
                <a:moveTo>
                  <a:pt x="369986" y="61664"/>
                </a:moveTo>
                <a:cubicBezTo>
                  <a:pt x="205548" y="234325"/>
                  <a:pt x="205548" y="505648"/>
                  <a:pt x="369986" y="678308"/>
                </a:cubicBezTo>
                <a:cubicBezTo>
                  <a:pt x="534425" y="505648"/>
                  <a:pt x="534425" y="234325"/>
                  <a:pt x="369986" y="61664"/>
                </a:cubicBezTo>
                <a:moveTo>
                  <a:pt x="61664" y="369986"/>
                </a:moveTo>
                <a:lnTo>
                  <a:pt x="678308" y="369986"/>
                </a:lnTo>
              </a:path>
            </a:pathLst>
          </a:custGeom>
          <a:noFill/>
          <a:ln w="53956" cap="rnd">
            <a:solidFill>
              <a:srgbClr val="0B6E8A"/>
            </a:solidFill>
            <a:prstDash val="solid"/>
            <a:round/>
          </a:ln>
        </p:spPr>
      </p:sp>
      <p:sp>
        <p:nvSpPr>
          <p:cNvPr id="33" name="[p3] Forma"/>
          <p:cNvSpPr/>
          <p:nvPr/>
        </p:nvSpPr>
        <p:spPr>
          <a:xfrm>
            <a:off x="7567392" y="231407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723820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Puertos https</a:t>
            </a:r>
            <a:endParaRPr lang="en-US" sz="1800" dirty="0"/>
          </a:p>
        </p:txBody>
      </p:sp>
      <p:sp>
        <p:nvSpPr>
          <p:cNvPr id="35" name="[p3] Forma"/>
          <p:cNvSpPr/>
          <p:nvPr/>
        </p:nvSpPr>
        <p:spPr>
          <a:xfrm>
            <a:off x="730221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UI, Grafana y Swagger, privados.</a:t>
            </a:r>
            <a:endParaRPr lang="en-US" sz="1400" dirty="0"/>
          </a:p>
        </p:txBody>
      </p:sp>
      <p:sp>
        <p:nvSpPr>
          <p:cNvPr id="36" name="[p4] Forma"/>
          <p:cNvSpPr/>
          <p:nvPr/>
        </p:nvSpPr>
        <p:spPr>
          <a:xfrm>
            <a:off x="9065727" y="3035808"/>
            <a:ext cx="640080" cy="0"/>
          </a:xfrm>
          <a:prstGeom prst="line">
            <a:avLst/>
          </a:prstGeom>
          <a:noFill/>
          <a:ln w="38100">
            <a:solidFill>
              <a:srgbClr val="2BA6CB"/>
            </a:solidFill>
            <a:prstDash val="solid"/>
            <a:tailEnd type="triangle"/>
          </a:ln>
        </p:spPr>
      </p:sp>
      <p:sp>
        <p:nvSpPr>
          <p:cNvPr id="37" name="[p4] Forma"/>
          <p:cNvSpPr/>
          <p:nvPr/>
        </p:nvSpPr>
        <p:spPr>
          <a:xfrm>
            <a:off x="9797247" y="235064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8" name="[p4] Icono monitor"/>
          <p:cNvSpPr/>
          <p:nvPr/>
        </p:nvSpPr>
        <p:spPr>
          <a:xfrm>
            <a:off x="10112421" y="2665822"/>
            <a:ext cx="739973" cy="739973"/>
          </a:xfrm>
          <a:custGeom>
            <a:avLst/>
            <a:gdLst/>
            <a:ahLst/>
            <a:cxnLst/>
            <a:rect l="l" t="t" r="r" b="b"/>
            <a:pathLst>
              <a:path w="739973" h="739973">
                <a:moveTo>
                  <a:pt x="123329" y="92497"/>
                </a:moveTo>
                <a:lnTo>
                  <a:pt x="616644" y="92497"/>
                </a:lnTo>
                <a:cubicBezTo>
                  <a:pt x="650700" y="92497"/>
                  <a:pt x="678308" y="120105"/>
                  <a:pt x="678308" y="154161"/>
                </a:cubicBezTo>
                <a:lnTo>
                  <a:pt x="678308" y="462483"/>
                </a:lnTo>
                <a:cubicBezTo>
                  <a:pt x="678308" y="496539"/>
                  <a:pt x="650700" y="524147"/>
                  <a:pt x="616644" y="524147"/>
                </a:cubicBezTo>
                <a:lnTo>
                  <a:pt x="123329" y="524147"/>
                </a:lnTo>
                <a:cubicBezTo>
                  <a:pt x="89272" y="524147"/>
                  <a:pt x="61664" y="496539"/>
                  <a:pt x="61664" y="462483"/>
                </a:cubicBezTo>
                <a:lnTo>
                  <a:pt x="61664" y="154161"/>
                </a:lnTo>
                <a:cubicBezTo>
                  <a:pt x="61664" y="120105"/>
                  <a:pt x="89272" y="92497"/>
                  <a:pt x="123329" y="92497"/>
                </a:cubicBezTo>
                <a:close/>
                <a:moveTo>
                  <a:pt x="246658" y="647476"/>
                </a:moveTo>
                <a:lnTo>
                  <a:pt x="493315" y="647476"/>
                </a:lnTo>
                <a:moveTo>
                  <a:pt x="369986" y="524147"/>
                </a:moveTo>
                <a:lnTo>
                  <a:pt x="369986" y="647476"/>
                </a:lnTo>
              </a:path>
            </a:pathLst>
          </a:custGeom>
          <a:noFill/>
          <a:ln w="53956" cap="rnd">
            <a:solidFill>
              <a:srgbClr val="0A6648"/>
            </a:solidFill>
            <a:prstDash val="solid"/>
            <a:round/>
          </a:ln>
        </p:spPr>
      </p:sp>
      <p:sp>
        <p:nvSpPr>
          <p:cNvPr id="39" name="[p4] Forma"/>
          <p:cNvSpPr/>
          <p:nvPr/>
        </p:nvSpPr>
        <p:spPr>
          <a:xfrm>
            <a:off x="9760671" y="231407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0" name="[p4] Forma"/>
          <p:cNvSpPr/>
          <p:nvPr/>
        </p:nvSpPr>
        <p:spPr>
          <a:xfrm>
            <a:off x="9431487"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Demo</a:t>
            </a:r>
            <a:endParaRPr lang="en-US" sz="1800" dirty="0"/>
          </a:p>
        </p:txBody>
      </p:sp>
      <p:sp>
        <p:nvSpPr>
          <p:cNvPr id="41" name="[p4] Forma"/>
          <p:cNvSpPr/>
          <p:nvPr/>
        </p:nvSpPr>
        <p:spPr>
          <a:xfrm>
            <a:off x="9495495"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Desde el navegador.</a:t>
            </a:r>
            <a:endParaRPr lang="en-US" sz="1400" dirty="0"/>
          </a:p>
        </p:txBody>
      </p:sp>
      <p:sp>
        <p:nvSpPr>
          <p:cNvPr id="42" name="Shape 40"/>
          <p:cNvSpPr/>
          <p:nvPr/>
        </p:nvSpPr>
        <p:spPr>
          <a:xfrm>
            <a:off x="0" y="5961888"/>
            <a:ext cx="12191695" cy="475488"/>
          </a:xfrm>
          <a:prstGeom prst="rect">
            <a:avLst/>
          </a:prstGeom>
          <a:solidFill>
            <a:srgbClr val="0B2350"/>
          </a:solidFill>
          <a:ln w="12700">
            <a:solidFill>
              <a:srgbClr val="0B2350"/>
            </a:solidFill>
            <a:prstDash val="solid"/>
          </a:ln>
        </p:spPr>
      </p:sp>
      <p:sp>
        <p:nvSpPr>
          <p:cNvPr id="4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4" name="Text 42"/>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Probar o mostrar el sistema no depende de la computadora de nadie ni de la red de la oficina.</a:t>
            </a:r>
            <a:endParaRPr lang="en-US" sz="14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del push a la imagen publicada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CI comprueba cada cambio; CD deja la imagen lista para desplegar.</a:t>
            </a:r>
            <a:endParaRPr lang="en-US" sz="1700" dirty="0"/>
          </a:p>
        </p:txBody>
      </p:sp>
      <p:sp>
        <p:nvSpPr>
          <p:cNvPr id="13" name="Shape 11"/>
          <p:cNvSpPr/>
          <p:nvPr/>
        </p:nvSpPr>
        <p:spPr>
          <a:xfrm>
            <a:off x="612648" y="1719072"/>
            <a:ext cx="10966399" cy="1897380"/>
          </a:xfrm>
          <a:prstGeom prst="roundRect">
            <a:avLst>
              <a:gd name="adj" fmla="val 6747"/>
            </a:avLst>
          </a:prstGeom>
          <a:solidFill>
            <a:srgbClr val="F0F4FA"/>
          </a:solidFill>
          <a:ln w="12700">
            <a:solidFill>
              <a:srgbClr val="AAB2C2"/>
            </a:solidFill>
            <a:prstDash val="solid"/>
          </a:ln>
        </p:spPr>
      </p:sp>
      <p:sp>
        <p:nvSpPr>
          <p:cNvPr id="14" name="Text 12"/>
          <p:cNvSpPr/>
          <p:nvPr/>
        </p:nvSpPr>
        <p:spPr>
          <a:xfrm>
            <a:off x="612648" y="1719072"/>
            <a:ext cx="1874520" cy="1897380"/>
          </a:xfrm>
          <a:prstGeom prst="roundRect">
            <a:avLst>
              <a:gd name="adj" fmla="val 6829"/>
            </a:avLst>
          </a:prstGeom>
          <a:solidFill>
            <a:srgbClr val="0B2350"/>
          </a:solidFill>
          <a:ln>
            <a:solidFill>
              <a:srgbClr val="0B2350"/>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Pull Request hacia main</a:t>
            </a:r>
            <a:endParaRPr lang="en-US" sz="1600" dirty="0"/>
          </a:p>
        </p:txBody>
      </p:sp>
      <p:sp>
        <p:nvSpPr>
          <p:cNvPr id="15" name="Shape 13"/>
          <p:cNvSpPr/>
          <p:nvPr/>
        </p:nvSpPr>
        <p:spPr>
          <a:xfrm>
            <a:off x="4634728" y="2080260"/>
            <a:ext cx="4888200" cy="0"/>
          </a:xfrm>
          <a:prstGeom prst="line">
            <a:avLst/>
          </a:prstGeom>
          <a:noFill/>
          <a:ln w="25400">
            <a:solidFill>
              <a:srgbClr val="0B6E8A"/>
            </a:solidFill>
            <a:prstDash val="solid"/>
          </a:ln>
        </p:spPr>
      </p:sp>
      <p:sp>
        <p:nvSpPr>
          <p:cNvPr id="16" name="Shape 14"/>
          <p:cNvSpPr/>
          <p:nvPr/>
        </p:nvSpPr>
        <p:spPr>
          <a:xfrm>
            <a:off x="4634728" y="2080260"/>
            <a:ext cx="0" cy="73152"/>
          </a:xfrm>
          <a:prstGeom prst="line">
            <a:avLst/>
          </a:prstGeom>
          <a:noFill/>
          <a:ln w="25400">
            <a:solidFill>
              <a:srgbClr val="0B6E8A"/>
            </a:solidFill>
            <a:prstDash val="solid"/>
          </a:ln>
        </p:spPr>
      </p:sp>
      <p:sp>
        <p:nvSpPr>
          <p:cNvPr id="17" name="Shape 15"/>
          <p:cNvSpPr/>
          <p:nvPr/>
        </p:nvSpPr>
        <p:spPr>
          <a:xfrm>
            <a:off x="9522927" y="2080260"/>
            <a:ext cx="0" cy="73152"/>
          </a:xfrm>
          <a:prstGeom prst="line">
            <a:avLst/>
          </a:prstGeom>
          <a:noFill/>
          <a:ln w="25400">
            <a:solidFill>
              <a:srgbClr val="0B6E8A"/>
            </a:solidFill>
            <a:prstDash val="solid"/>
          </a:ln>
        </p:spPr>
      </p:sp>
      <p:sp>
        <p:nvSpPr>
          <p:cNvPr id="18" name="Text 16"/>
          <p:cNvSpPr/>
          <p:nvPr/>
        </p:nvSpPr>
        <p:spPr>
          <a:xfrm>
            <a:off x="5924398" y="1751076"/>
            <a:ext cx="2308860" cy="274320"/>
          </a:xfrm>
          <a:prstGeom prst="roundRect">
            <a:avLst>
              <a:gd name="adj" fmla="val 50000"/>
            </a:avLst>
          </a:prstGeom>
          <a:solidFill>
            <a:srgbClr val="0B6E8A"/>
          </a:solidFill>
          <a:ln>
            <a:solidFill>
              <a:srgbClr val="0B6E8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CI · integración continua</a:t>
            </a:r>
            <a:endParaRPr lang="en-US" sz="1000" dirty="0"/>
          </a:p>
        </p:txBody>
      </p:sp>
      <p:sp>
        <p:nvSpPr>
          <p:cNvPr id="19" name="Shape 17"/>
          <p:cNvSpPr/>
          <p:nvPr/>
        </p:nvSpPr>
        <p:spPr>
          <a:xfrm>
            <a:off x="2761488"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3176900" y="2263140"/>
            <a:ext cx="457200" cy="457200"/>
          </a:xfrm>
          <a:prstGeom prst="ellipse">
            <a:avLst/>
          </a:prstGeom>
          <a:solidFill>
            <a:srgbClr val="E8EEF8"/>
          </a:solidFill>
          <a:ln w="12700">
            <a:solidFill>
              <a:srgbClr val="E8EEF8"/>
            </a:solidFill>
            <a:prstDash val="solid"/>
          </a:ln>
        </p:spPr>
      </p:sp>
      <p:sp>
        <p:nvSpPr>
          <p:cNvPr id="21" name="Icono git-pull-request"/>
          <p:cNvSpPr/>
          <p:nvPr/>
        </p:nvSpPr>
        <p:spPr>
          <a:xfrm>
            <a:off x="3286628" y="2372868"/>
            <a:ext cx="237744" cy="237744"/>
          </a:xfrm>
          <a:custGeom>
            <a:avLst/>
            <a:gdLst/>
            <a:ahLst/>
            <a:cxnLst/>
            <a:rect l="l" t="t" r="r" b="b"/>
            <a:pathLst>
              <a:path w="237744" h="237744">
                <a:moveTo>
                  <a:pt x="208026" y="178308"/>
                </a:moveTo>
                <a:cubicBezTo>
                  <a:pt x="208026" y="194721"/>
                  <a:pt x="194721" y="208026"/>
                  <a:pt x="178308" y="208026"/>
                </a:cubicBezTo>
                <a:cubicBezTo>
                  <a:pt x="161895" y="208026"/>
                  <a:pt x="148590" y="194721"/>
                  <a:pt x="148590" y="178308"/>
                </a:cubicBezTo>
                <a:cubicBezTo>
                  <a:pt x="148590" y="161895"/>
                  <a:pt x="161895" y="148590"/>
                  <a:pt x="178308" y="148590"/>
                </a:cubicBezTo>
                <a:cubicBezTo>
                  <a:pt x="194721" y="148590"/>
                  <a:pt x="208026" y="161895"/>
                  <a:pt x="208026" y="178308"/>
                </a:cubicBezTo>
                <a:close/>
                <a:moveTo>
                  <a:pt x="89154" y="59436"/>
                </a:moveTo>
                <a:cubicBezTo>
                  <a:pt x="89154" y="75849"/>
                  <a:pt x="75849" y="89154"/>
                  <a:pt x="59436" y="89154"/>
                </a:cubicBezTo>
                <a:cubicBezTo>
                  <a:pt x="43023" y="89154"/>
                  <a:pt x="29718" y="75849"/>
                  <a:pt x="29718" y="59436"/>
                </a:cubicBezTo>
                <a:cubicBezTo>
                  <a:pt x="29718" y="43023"/>
                  <a:pt x="43023" y="29718"/>
                  <a:pt x="59436" y="29718"/>
                </a:cubicBezTo>
                <a:cubicBezTo>
                  <a:pt x="75849" y="29718"/>
                  <a:pt x="89154" y="43023"/>
                  <a:pt x="89154" y="59436"/>
                </a:cubicBezTo>
                <a:close/>
                <a:moveTo>
                  <a:pt x="128778" y="59436"/>
                </a:moveTo>
                <a:lnTo>
                  <a:pt x="158496" y="59436"/>
                </a:lnTo>
                <a:cubicBezTo>
                  <a:pt x="169438" y="59436"/>
                  <a:pt x="178308" y="68306"/>
                  <a:pt x="178308" y="79248"/>
                </a:cubicBezTo>
                <a:lnTo>
                  <a:pt x="178308" y="148590"/>
                </a:lnTo>
                <a:moveTo>
                  <a:pt x="59436" y="89154"/>
                </a:moveTo>
                <a:lnTo>
                  <a:pt x="59436" y="208026"/>
                </a:lnTo>
              </a:path>
            </a:pathLst>
          </a:custGeom>
          <a:noFill/>
          <a:ln w="19812" cap="rnd">
            <a:solidFill>
              <a:srgbClr val="0B2350"/>
            </a:solidFill>
            <a:prstDash val="solid"/>
            <a:round/>
          </a:ln>
        </p:spPr>
      </p:sp>
      <p:sp>
        <p:nvSpPr>
          <p:cNvPr id="22" name="Text 20"/>
          <p:cNvSpPr/>
          <p:nvPr/>
        </p:nvSpPr>
        <p:spPr>
          <a:xfrm>
            <a:off x="2834640" y="2756916"/>
            <a:ext cx="1141720" cy="292608"/>
          </a:xfrm>
          <a:prstGeom prst="rect">
            <a:avLst/>
          </a:prstGeom>
          <a:noFill/>
          <a:ln/>
        </p:spPr>
        <p:txBody>
          <a:bodyPr wrap="square" lIns="0" tIns="0" rIns="0" bIns="0" rtlCol="0" anchor="ctr">
            <a:normAutofit/>
          </a:bodyPr>
          <a:lstStyle/>
          <a:p>
            <a:pPr algn="ctr" indent="0" marL="0">
              <a:buNone/>
            </a:pPr>
            <a:r>
              <a:rPr lang="en-US" sz="1350" b="1" dirty="0">
                <a:solidFill>
                  <a:srgbClr val="0B2350"/>
                </a:solidFill>
                <a:latin typeface="Segoe UI Semibold" pitchFamily="34" charset="0"/>
                <a:ea typeface="Segoe UI Semibold" pitchFamily="34" charset="-122"/>
                <a:cs typeface="Segoe UI Semibold" pitchFamily="34" charset="-120"/>
              </a:rPr>
              <a:t>Abres el PR</a:t>
            </a:r>
            <a:endParaRPr lang="en-US" sz="1350" dirty="0"/>
          </a:p>
        </p:txBody>
      </p:sp>
      <p:sp>
        <p:nvSpPr>
          <p:cNvPr id="23" name="Text 21"/>
          <p:cNvSpPr/>
          <p:nvPr/>
        </p:nvSpPr>
        <p:spPr>
          <a:xfrm>
            <a:off x="2852928" y="3049524"/>
            <a:ext cx="1105144"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Desde tu rama feat/…</a:t>
            </a:r>
            <a:endParaRPr lang="en-US" sz="1100" dirty="0"/>
          </a:p>
        </p:txBody>
      </p:sp>
      <p:sp>
        <p:nvSpPr>
          <p:cNvPr id="24" name="Shape 22"/>
          <p:cNvSpPr/>
          <p:nvPr/>
        </p:nvSpPr>
        <p:spPr>
          <a:xfrm>
            <a:off x="4122664" y="2811780"/>
            <a:ext cx="402336" cy="0"/>
          </a:xfrm>
          <a:prstGeom prst="line">
            <a:avLst/>
          </a:prstGeom>
          <a:noFill/>
          <a:ln w="31750">
            <a:solidFill>
              <a:srgbClr val="0B2350"/>
            </a:solidFill>
            <a:prstDash val="solid"/>
            <a:tailEnd type="triangle"/>
          </a:ln>
        </p:spPr>
      </p:sp>
      <p:sp>
        <p:nvSpPr>
          <p:cNvPr id="25" name="Shape 23"/>
          <p:cNvSpPr/>
          <p:nvPr/>
        </p:nvSpPr>
        <p:spPr>
          <a:xfrm>
            <a:off x="4598152"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5013564" y="2263140"/>
            <a:ext cx="457200" cy="457200"/>
          </a:xfrm>
          <a:prstGeom prst="ellipse">
            <a:avLst/>
          </a:prstGeom>
          <a:solidFill>
            <a:srgbClr val="E8EEF8"/>
          </a:solidFill>
          <a:ln w="12700">
            <a:solidFill>
              <a:srgbClr val="E8EEF8"/>
            </a:solidFill>
            <a:prstDash val="solid"/>
          </a:ln>
        </p:spPr>
      </p:sp>
      <p:sp>
        <p:nvSpPr>
          <p:cNvPr id="27" name="Icono flask-conical"/>
          <p:cNvSpPr/>
          <p:nvPr/>
        </p:nvSpPr>
        <p:spPr>
          <a:xfrm>
            <a:off x="5123292" y="2372868"/>
            <a:ext cx="237744" cy="237744"/>
          </a:xfrm>
          <a:custGeom>
            <a:avLst/>
            <a:gdLst/>
            <a:ahLst/>
            <a:cxnLst/>
            <a:rect l="l" t="t" r="r" b="b"/>
            <a:pathLst>
              <a:path w="237744" h="237744">
                <a:moveTo>
                  <a:pt x="138684" y="19812"/>
                </a:moveTo>
                <a:lnTo>
                  <a:pt x="138684" y="79248"/>
                </a:lnTo>
                <a:cubicBezTo>
                  <a:pt x="138683" y="82571"/>
                  <a:pt x="139517" y="85842"/>
                  <a:pt x="141111" y="88758"/>
                </a:cubicBezTo>
                <a:lnTo>
                  <a:pt x="195693" y="188610"/>
                </a:lnTo>
                <a:cubicBezTo>
                  <a:pt x="199052" y="194749"/>
                  <a:pt x="198923" y="202205"/>
                  <a:pt x="195354" y="208224"/>
                </a:cubicBezTo>
                <a:cubicBezTo>
                  <a:pt x="191785" y="214243"/>
                  <a:pt x="185306" y="217934"/>
                  <a:pt x="178308" y="217932"/>
                </a:cubicBezTo>
                <a:lnTo>
                  <a:pt x="59436" y="217932"/>
                </a:lnTo>
                <a:cubicBezTo>
                  <a:pt x="52438" y="217934"/>
                  <a:pt x="45959" y="214243"/>
                  <a:pt x="42390" y="208224"/>
                </a:cubicBezTo>
                <a:cubicBezTo>
                  <a:pt x="38821" y="202205"/>
                  <a:pt x="38692" y="194749"/>
                  <a:pt x="42051" y="188610"/>
                </a:cubicBezTo>
                <a:lnTo>
                  <a:pt x="96633" y="88758"/>
                </a:lnTo>
                <a:cubicBezTo>
                  <a:pt x="98227" y="85842"/>
                  <a:pt x="99061" y="82571"/>
                  <a:pt x="99060" y="79248"/>
                </a:cubicBezTo>
                <a:lnTo>
                  <a:pt x="99060" y="19812"/>
                </a:lnTo>
                <a:moveTo>
                  <a:pt x="63923" y="148590"/>
                </a:moveTo>
                <a:lnTo>
                  <a:pt x="173821" y="148590"/>
                </a:lnTo>
                <a:moveTo>
                  <a:pt x="84201" y="19812"/>
                </a:moveTo>
                <a:lnTo>
                  <a:pt x="153543" y="19812"/>
                </a:lnTo>
              </a:path>
            </a:pathLst>
          </a:custGeom>
          <a:noFill/>
          <a:ln w="19812" cap="rnd">
            <a:solidFill>
              <a:srgbClr val="0B2350"/>
            </a:solidFill>
            <a:prstDash val="solid"/>
            <a:round/>
          </a:ln>
        </p:spPr>
      </p:sp>
      <p:sp>
        <p:nvSpPr>
          <p:cNvPr id="28" name="Text 26"/>
          <p:cNvSpPr/>
          <p:nvPr/>
        </p:nvSpPr>
        <p:spPr>
          <a:xfrm>
            <a:off x="4671304" y="2756916"/>
            <a:ext cx="1141720" cy="292608"/>
          </a:xfrm>
          <a:prstGeom prst="rect">
            <a:avLst/>
          </a:prstGeom>
          <a:noFill/>
          <a:ln/>
        </p:spPr>
        <p:txBody>
          <a:bodyPr wrap="square" lIns="0" tIns="0" rIns="0" bIns="0" rtlCol="0" anchor="ctr">
            <a:normAutofit/>
          </a:bodyPr>
          <a:lstStyle/>
          <a:p>
            <a:pPr algn="ctr" indent="0" marL="0">
              <a:buNone/>
            </a:pPr>
            <a:r>
              <a:rPr lang="en-US" sz="950" b="1" dirty="0">
                <a:solidFill>
                  <a:srgbClr val="0B2350"/>
                </a:solidFill>
                <a:latin typeface="Segoe UI Semibold" pitchFamily="34" charset="0"/>
                <a:ea typeface="Segoe UI Semibold" pitchFamily="34" charset="-122"/>
                <a:cs typeface="Segoe UI Semibold" pitchFamily="34" charset="-120"/>
              </a:rPr>
              <a:t>Compila y prueba</a:t>
            </a:r>
            <a:endParaRPr lang="en-US" sz="950" dirty="0"/>
          </a:p>
        </p:txBody>
      </p:sp>
      <p:sp>
        <p:nvSpPr>
          <p:cNvPr id="29" name="Text 27"/>
          <p:cNvSpPr/>
          <p:nvPr/>
        </p:nvSpPr>
        <p:spPr>
          <a:xfrm>
            <a:off x="4689592" y="3049524"/>
            <a:ext cx="1105144" cy="347472"/>
          </a:xfrm>
          <a:prstGeom prst="rect">
            <a:avLst/>
          </a:prstGeom>
          <a:noFill/>
          <a:ln/>
        </p:spPr>
        <p:txBody>
          <a:bodyPr wrap="square" lIns="0" tIns="0" rIns="0" bIns="0" rtlCol="0" anchor="t">
            <a:normAutofit/>
          </a:bodyPr>
          <a:lstStyle/>
          <a:p>
            <a:pPr algn="ctr" indent="0" marL="0">
              <a:buNone/>
            </a:pPr>
            <a:r>
              <a:rPr lang="en-US" sz="850" dirty="0">
                <a:solidFill>
                  <a:srgbClr val="0B1A3C"/>
                </a:solidFill>
                <a:latin typeface="Segoe UI" pitchFamily="34" charset="0"/>
                <a:ea typeface="Segoe UI" pitchFamily="34" charset="-122"/>
                <a:cs typeface="Segoe UI" pitchFamily="34" charset="-120"/>
              </a:rPr>
              <a:t>mvn verify con PostgreSQL temporal</a:t>
            </a:r>
            <a:endParaRPr lang="en-US" sz="850" dirty="0"/>
          </a:p>
        </p:txBody>
      </p:sp>
      <p:sp>
        <p:nvSpPr>
          <p:cNvPr id="30" name="Shape 28"/>
          <p:cNvSpPr/>
          <p:nvPr/>
        </p:nvSpPr>
        <p:spPr>
          <a:xfrm>
            <a:off x="5959328" y="2811780"/>
            <a:ext cx="402336" cy="0"/>
          </a:xfrm>
          <a:prstGeom prst="line">
            <a:avLst/>
          </a:prstGeom>
          <a:noFill/>
          <a:ln w="31750">
            <a:solidFill>
              <a:srgbClr val="0B2350"/>
            </a:solidFill>
            <a:prstDash val="solid"/>
            <a:tailEnd type="triangle"/>
          </a:ln>
        </p:spPr>
      </p:sp>
      <p:sp>
        <p:nvSpPr>
          <p:cNvPr id="31" name="Shape 29"/>
          <p:cNvSpPr/>
          <p:nvPr/>
        </p:nvSpPr>
        <p:spPr>
          <a:xfrm>
            <a:off x="6434816"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850228" y="2263140"/>
            <a:ext cx="457200" cy="457200"/>
          </a:xfrm>
          <a:prstGeom prst="ellipse">
            <a:avLst/>
          </a:prstGeom>
          <a:solidFill>
            <a:srgbClr val="E8EEF8"/>
          </a:solidFill>
          <a:ln w="12700">
            <a:solidFill>
              <a:srgbClr val="E8EEF8"/>
            </a:solidFill>
            <a:prstDash val="solid"/>
          </a:ln>
        </p:spPr>
      </p:sp>
      <p:sp>
        <p:nvSpPr>
          <p:cNvPr id="33" name="Icono power"/>
          <p:cNvSpPr/>
          <p:nvPr/>
        </p:nvSpPr>
        <p:spPr>
          <a:xfrm>
            <a:off x="6959956" y="2372868"/>
            <a:ext cx="237744" cy="237744"/>
          </a:xfrm>
          <a:custGeom>
            <a:avLst/>
            <a:gdLst/>
            <a:ahLst/>
            <a:cxnLst/>
            <a:rect l="l" t="t" r="r" b="b"/>
            <a:pathLst>
              <a:path w="237744" h="237744">
                <a:moveTo>
                  <a:pt x="118872" y="19812"/>
                </a:moveTo>
                <a:lnTo>
                  <a:pt x="118872" y="118872"/>
                </a:lnTo>
                <a:moveTo>
                  <a:pt x="182270" y="65380"/>
                </a:moveTo>
                <a:cubicBezTo>
                  <a:pt x="217026" y="100148"/>
                  <a:pt x="217078" y="156490"/>
                  <a:pt x="182386" y="191323"/>
                </a:cubicBezTo>
                <a:cubicBezTo>
                  <a:pt x="147695" y="226156"/>
                  <a:pt x="91353" y="226332"/>
                  <a:pt x="56444" y="191717"/>
                </a:cubicBezTo>
                <a:cubicBezTo>
                  <a:pt x="21534" y="157103"/>
                  <a:pt x="21233" y="100762"/>
                  <a:pt x="55771" y="65776"/>
                </a:cubicBezTo>
              </a:path>
            </a:pathLst>
          </a:custGeom>
          <a:noFill/>
          <a:ln w="19812" cap="rnd">
            <a:solidFill>
              <a:srgbClr val="0B2350"/>
            </a:solidFill>
            <a:prstDash val="solid"/>
            <a:round/>
          </a:ln>
        </p:spPr>
      </p:sp>
      <p:sp>
        <p:nvSpPr>
          <p:cNvPr id="34" name="Text 32"/>
          <p:cNvSpPr/>
          <p:nvPr/>
        </p:nvSpPr>
        <p:spPr>
          <a:xfrm>
            <a:off x="6507968" y="2756916"/>
            <a:ext cx="1141720" cy="292608"/>
          </a:xfrm>
          <a:prstGeom prst="rect">
            <a:avLst/>
          </a:prstGeom>
          <a:noFill/>
          <a:ln/>
        </p:spPr>
        <p:txBody>
          <a:bodyPr wrap="square" lIns="0" tIns="0" rIns="0" bIns="0" rtlCol="0" anchor="ctr">
            <a:normAutofit/>
          </a:bodyPr>
          <a:lstStyle/>
          <a:p>
            <a:pPr algn="ctr" indent="0" marL="0">
              <a:buNone/>
            </a:pPr>
            <a:r>
              <a:rPr lang="en-US" sz="1400" b="1" dirty="0">
                <a:solidFill>
                  <a:srgbClr val="0B2350"/>
                </a:solidFill>
                <a:latin typeface="Segoe UI Semibold" pitchFamily="34" charset="0"/>
                <a:ea typeface="Segoe UI Semibold" pitchFamily="34" charset="-122"/>
                <a:cs typeface="Segoe UI Semibold" pitchFamily="34" charset="-120"/>
              </a:rPr>
              <a:t>Arranca</a:t>
            </a:r>
            <a:endParaRPr lang="en-US" sz="1400" dirty="0"/>
          </a:p>
        </p:txBody>
      </p:sp>
      <p:sp>
        <p:nvSpPr>
          <p:cNvPr id="35" name="Text 33"/>
          <p:cNvSpPr/>
          <p:nvPr/>
        </p:nvSpPr>
        <p:spPr>
          <a:xfrm>
            <a:off x="6526256" y="3049524"/>
            <a:ext cx="1105144" cy="347472"/>
          </a:xfrm>
          <a:prstGeom prst="rect">
            <a:avLst/>
          </a:prstGeom>
          <a:noFill/>
          <a:ln/>
        </p:spPr>
        <p:txBody>
          <a:bodyPr wrap="square" lIns="0" tIns="0" rIns="0" bIns="0" rtlCol="0" anchor="t">
            <a:normAutofit/>
          </a:bodyPr>
          <a:lstStyle/>
          <a:p>
            <a:pPr algn="ctr" indent="0" marL="0">
              <a:buNone/>
            </a:pPr>
            <a:r>
              <a:rPr lang="en-US" sz="900" dirty="0">
                <a:solidFill>
                  <a:srgbClr val="0B1A3C"/>
                </a:solidFill>
                <a:latin typeface="Segoe UI" pitchFamily="34" charset="0"/>
                <a:ea typeface="Segoe UI" pitchFamily="34" charset="-122"/>
                <a:cs typeface="Segoe UI" pitchFamily="34" charset="-120"/>
              </a:rPr>
              <a:t>El servicio responde de verdad</a:t>
            </a:r>
            <a:endParaRPr lang="en-US" sz="900" dirty="0"/>
          </a:p>
        </p:txBody>
      </p:sp>
      <p:sp>
        <p:nvSpPr>
          <p:cNvPr id="36" name="Shape 34"/>
          <p:cNvSpPr/>
          <p:nvPr/>
        </p:nvSpPr>
        <p:spPr>
          <a:xfrm>
            <a:off x="7795992" y="2811780"/>
            <a:ext cx="402336" cy="0"/>
          </a:xfrm>
          <a:prstGeom prst="line">
            <a:avLst/>
          </a:prstGeom>
          <a:noFill/>
          <a:ln w="31750">
            <a:solidFill>
              <a:srgbClr val="0B2350"/>
            </a:solidFill>
            <a:prstDash val="solid"/>
            <a:tailEnd type="triangle"/>
          </a:ln>
        </p:spPr>
      </p:sp>
      <p:sp>
        <p:nvSpPr>
          <p:cNvPr id="37" name="Shape 35"/>
          <p:cNvSpPr/>
          <p:nvPr/>
        </p:nvSpPr>
        <p:spPr>
          <a:xfrm>
            <a:off x="8271480"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8686891" y="2263140"/>
            <a:ext cx="457200" cy="457200"/>
          </a:xfrm>
          <a:prstGeom prst="ellipse">
            <a:avLst/>
          </a:prstGeom>
          <a:solidFill>
            <a:srgbClr val="E8EEF8"/>
          </a:solidFill>
          <a:ln w="12700">
            <a:solidFill>
              <a:srgbClr val="E8EEF8"/>
            </a:solidFill>
            <a:prstDash val="solid"/>
          </a:ln>
        </p:spPr>
      </p:sp>
      <p:sp>
        <p:nvSpPr>
          <p:cNvPr id="39" name="Icono package"/>
          <p:cNvSpPr/>
          <p:nvPr/>
        </p:nvSpPr>
        <p:spPr>
          <a:xfrm>
            <a:off x="8796619" y="2372868"/>
            <a:ext cx="237744" cy="237744"/>
          </a:xfrm>
          <a:custGeom>
            <a:avLst/>
            <a:gdLst/>
            <a:ahLst/>
            <a:cxnLst/>
            <a:rect l="l" t="t" r="r" b="b"/>
            <a:pathLst>
              <a:path w="237744" h="237744">
                <a:moveTo>
                  <a:pt x="108966" y="215257"/>
                </a:moveTo>
                <a:cubicBezTo>
                  <a:pt x="115096" y="218796"/>
                  <a:pt x="122648" y="218796"/>
                  <a:pt x="128778" y="215257"/>
                </a:cubicBezTo>
                <a:lnTo>
                  <a:pt x="198120" y="175633"/>
                </a:lnTo>
                <a:cubicBezTo>
                  <a:pt x="204244" y="172098"/>
                  <a:pt x="208019" y="165567"/>
                  <a:pt x="208026" y="158496"/>
                </a:cubicBezTo>
                <a:lnTo>
                  <a:pt x="208026" y="79248"/>
                </a:lnTo>
                <a:cubicBezTo>
                  <a:pt x="208019" y="72177"/>
                  <a:pt x="204244" y="65646"/>
                  <a:pt x="198120" y="62111"/>
                </a:cubicBezTo>
                <a:lnTo>
                  <a:pt x="128778" y="22487"/>
                </a:lnTo>
                <a:cubicBezTo>
                  <a:pt x="122648" y="18948"/>
                  <a:pt x="115096" y="18948"/>
                  <a:pt x="108966" y="22487"/>
                </a:cubicBezTo>
                <a:lnTo>
                  <a:pt x="39624" y="62111"/>
                </a:lnTo>
                <a:cubicBezTo>
                  <a:pt x="33500" y="65646"/>
                  <a:pt x="29725" y="72177"/>
                  <a:pt x="29718" y="79248"/>
                </a:cubicBezTo>
                <a:lnTo>
                  <a:pt x="29718" y="158496"/>
                </a:lnTo>
                <a:cubicBezTo>
                  <a:pt x="29725" y="165567"/>
                  <a:pt x="33500" y="172098"/>
                  <a:pt x="39624" y="175633"/>
                </a:cubicBezTo>
                <a:close/>
                <a:moveTo>
                  <a:pt x="118872" y="217932"/>
                </a:moveTo>
                <a:lnTo>
                  <a:pt x="118872" y="118872"/>
                </a:lnTo>
                <a:moveTo>
                  <a:pt x="32690" y="69342"/>
                </a:moveTo>
                <a:lnTo>
                  <a:pt x="108996" y="116237"/>
                </a:lnTo>
                <a:cubicBezTo>
                  <a:pt x="115110" y="119753"/>
                  <a:pt x="122634" y="119753"/>
                  <a:pt x="128748" y="116237"/>
                </a:cubicBezTo>
                <a:lnTo>
                  <a:pt x="205054" y="69342"/>
                </a:lnTo>
                <a:moveTo>
                  <a:pt x="74295" y="42299"/>
                </a:moveTo>
                <a:lnTo>
                  <a:pt x="163449" y="93315"/>
                </a:lnTo>
              </a:path>
            </a:pathLst>
          </a:custGeom>
          <a:noFill/>
          <a:ln w="19812" cap="rnd">
            <a:solidFill>
              <a:srgbClr val="0B2350"/>
            </a:solidFill>
            <a:prstDash val="solid"/>
            <a:round/>
          </a:ln>
        </p:spPr>
      </p:sp>
      <p:sp>
        <p:nvSpPr>
          <p:cNvPr id="40" name="Text 38"/>
          <p:cNvSpPr/>
          <p:nvPr/>
        </p:nvSpPr>
        <p:spPr>
          <a:xfrm>
            <a:off x="8344632" y="2756916"/>
            <a:ext cx="1141720" cy="292608"/>
          </a:xfrm>
          <a:prstGeom prst="rect">
            <a:avLst/>
          </a:prstGeom>
          <a:noFill/>
          <a:ln/>
        </p:spPr>
        <p:txBody>
          <a:bodyPr wrap="square" lIns="0" tIns="0" rIns="0" bIns="0" rtlCol="0" anchor="ctr">
            <a:normAutofit/>
          </a:bodyPr>
          <a:lstStyle/>
          <a:p>
            <a:pPr algn="ctr" indent="0" marL="0">
              <a:buNone/>
            </a:pPr>
            <a:r>
              <a:rPr lang="en-US" sz="900" b="1" dirty="0">
                <a:solidFill>
                  <a:srgbClr val="0B2350"/>
                </a:solidFill>
                <a:latin typeface="Segoe UI Semibold" pitchFamily="34" charset="0"/>
                <a:ea typeface="Segoe UI Semibold" pitchFamily="34" charset="-122"/>
                <a:cs typeface="Segoe UI Semibold" pitchFamily="34" charset="-120"/>
              </a:rPr>
              <a:t>Construye la imagen</a:t>
            </a:r>
            <a:endParaRPr lang="en-US" sz="900" dirty="0"/>
          </a:p>
        </p:txBody>
      </p:sp>
      <p:sp>
        <p:nvSpPr>
          <p:cNvPr id="41" name="Text 39"/>
          <p:cNvSpPr/>
          <p:nvPr/>
        </p:nvSpPr>
        <p:spPr>
          <a:xfrm>
            <a:off x="8362920" y="3049524"/>
            <a:ext cx="1105144" cy="347472"/>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Segoe UI" pitchFamily="34" charset="0"/>
                <a:ea typeface="Segoe UI" pitchFamily="34" charset="-122"/>
                <a:cs typeface="Segoe UI" pitchFamily="34" charset="-120"/>
              </a:rPr>
              <a:t>docker build</a:t>
            </a:r>
            <a:endParaRPr lang="en-US" sz="1150" dirty="0"/>
          </a:p>
        </p:txBody>
      </p:sp>
      <p:sp>
        <p:nvSpPr>
          <p:cNvPr id="42" name="Shape 40"/>
          <p:cNvSpPr/>
          <p:nvPr/>
        </p:nvSpPr>
        <p:spPr>
          <a:xfrm>
            <a:off x="9632655" y="2811780"/>
            <a:ext cx="402336" cy="0"/>
          </a:xfrm>
          <a:prstGeom prst="line">
            <a:avLst/>
          </a:prstGeom>
          <a:noFill/>
          <a:ln w="31750">
            <a:solidFill>
              <a:srgbClr val="0B2350"/>
            </a:solidFill>
            <a:prstDash val="solid"/>
            <a:tailEnd type="triangle"/>
          </a:ln>
        </p:spPr>
      </p:sp>
      <p:sp>
        <p:nvSpPr>
          <p:cNvPr id="43" name="Shape 41"/>
          <p:cNvSpPr/>
          <p:nvPr/>
        </p:nvSpPr>
        <p:spPr>
          <a:xfrm>
            <a:off x="10108143"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10523555" y="2263140"/>
            <a:ext cx="457200" cy="457200"/>
          </a:xfrm>
          <a:prstGeom prst="ellipse">
            <a:avLst/>
          </a:prstGeom>
          <a:solidFill>
            <a:srgbClr val="E8EEF8"/>
          </a:solidFill>
          <a:ln w="12700">
            <a:solidFill>
              <a:srgbClr val="E8EEF8"/>
            </a:solidFill>
            <a:prstDash val="solid"/>
          </a:ln>
        </p:spPr>
      </p:sp>
      <p:sp>
        <p:nvSpPr>
          <p:cNvPr id="45" name="Icono circle-check"/>
          <p:cNvSpPr/>
          <p:nvPr/>
        </p:nvSpPr>
        <p:spPr>
          <a:xfrm>
            <a:off x="10633283" y="2372868"/>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89154" y="118872"/>
                </a:moveTo>
                <a:lnTo>
                  <a:pt x="108966" y="138684"/>
                </a:lnTo>
                <a:lnTo>
                  <a:pt x="148590" y="99060"/>
                </a:lnTo>
              </a:path>
            </a:pathLst>
          </a:custGeom>
          <a:noFill/>
          <a:ln w="19812" cap="rnd">
            <a:solidFill>
              <a:srgbClr val="0B2350"/>
            </a:solidFill>
            <a:prstDash val="solid"/>
            <a:round/>
          </a:ln>
        </p:spPr>
      </p:sp>
      <p:sp>
        <p:nvSpPr>
          <p:cNvPr id="46" name="Text 44"/>
          <p:cNvSpPr/>
          <p:nvPr/>
        </p:nvSpPr>
        <p:spPr>
          <a:xfrm>
            <a:off x="10181295" y="2756916"/>
            <a:ext cx="1141720" cy="292608"/>
          </a:xfrm>
          <a:prstGeom prst="rect">
            <a:avLst/>
          </a:prstGeom>
          <a:noFill/>
          <a:ln/>
        </p:spPr>
        <p:txBody>
          <a:bodyPr wrap="square" lIns="0" tIns="0" rIns="0" bIns="0" rtlCol="0" anchor="ctr">
            <a:normAutofit/>
          </a:bodyPr>
          <a:lstStyle/>
          <a:p>
            <a:pPr algn="ctr" indent="0" marL="0">
              <a:buNone/>
            </a:pPr>
            <a:r>
              <a:rPr lang="en-US" sz="1250" b="1" dirty="0">
                <a:solidFill>
                  <a:srgbClr val="0B2350"/>
                </a:solidFill>
                <a:latin typeface="Segoe UI Semibold" pitchFamily="34" charset="0"/>
                <a:ea typeface="Segoe UI Semibold" pitchFamily="34" charset="-122"/>
                <a:cs typeface="Segoe UI Semibold" pitchFamily="34" charset="-120"/>
              </a:rPr>
              <a:t>Verde o rojo</a:t>
            </a:r>
            <a:endParaRPr lang="en-US" sz="1250" dirty="0"/>
          </a:p>
        </p:txBody>
      </p:sp>
      <p:sp>
        <p:nvSpPr>
          <p:cNvPr id="47" name="Text 45"/>
          <p:cNvSpPr/>
          <p:nvPr/>
        </p:nvSpPr>
        <p:spPr>
          <a:xfrm>
            <a:off x="10199583" y="3049524"/>
            <a:ext cx="1105144"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El resultado queda en el PR</a:t>
            </a:r>
            <a:endParaRPr lang="en-US" sz="1100" dirty="0"/>
          </a:p>
        </p:txBody>
      </p:sp>
      <p:sp>
        <p:nvSpPr>
          <p:cNvPr id="48" name="[p1] Forma"/>
          <p:cNvSpPr/>
          <p:nvPr/>
        </p:nvSpPr>
        <p:spPr>
          <a:xfrm>
            <a:off x="612648" y="3936492"/>
            <a:ext cx="10966399" cy="1897380"/>
          </a:xfrm>
          <a:prstGeom prst="roundRect">
            <a:avLst>
              <a:gd name="adj" fmla="val 6747"/>
            </a:avLst>
          </a:prstGeom>
          <a:solidFill>
            <a:srgbClr val="ECF6F1"/>
          </a:solidFill>
          <a:ln w="12700">
            <a:solidFill>
              <a:srgbClr val="A9C9BF"/>
            </a:solidFill>
            <a:prstDash val="solid"/>
          </a:ln>
        </p:spPr>
      </p:sp>
      <p:sp>
        <p:nvSpPr>
          <p:cNvPr id="49" name="[p1] Forma"/>
          <p:cNvSpPr/>
          <p:nvPr/>
        </p:nvSpPr>
        <p:spPr>
          <a:xfrm>
            <a:off x="612648" y="3936492"/>
            <a:ext cx="1874520" cy="1897380"/>
          </a:xfrm>
          <a:prstGeom prst="roundRect">
            <a:avLst>
              <a:gd name="adj" fmla="val 6829"/>
            </a:avLst>
          </a:prstGeom>
          <a:solidFill>
            <a:srgbClr val="0A6648"/>
          </a:solidFill>
          <a:ln>
            <a:solidFill>
              <a:srgbClr val="0A6648"/>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Fusión a main</a:t>
            </a:r>
            <a:endParaRPr lang="en-US" sz="1600" dirty="0"/>
          </a:p>
        </p:txBody>
      </p:sp>
      <p:sp>
        <p:nvSpPr>
          <p:cNvPr id="50" name="[p1] Forma"/>
          <p:cNvSpPr/>
          <p:nvPr/>
        </p:nvSpPr>
        <p:spPr>
          <a:xfrm>
            <a:off x="5093894" y="4297680"/>
            <a:ext cx="1674038" cy="0"/>
          </a:xfrm>
          <a:prstGeom prst="line">
            <a:avLst/>
          </a:prstGeom>
          <a:noFill/>
          <a:ln w="25400">
            <a:solidFill>
              <a:srgbClr val="0B6E8A"/>
            </a:solidFill>
            <a:prstDash val="solid"/>
          </a:ln>
        </p:spPr>
      </p:sp>
      <p:sp>
        <p:nvSpPr>
          <p:cNvPr id="51" name="[p1] Forma"/>
          <p:cNvSpPr/>
          <p:nvPr/>
        </p:nvSpPr>
        <p:spPr>
          <a:xfrm>
            <a:off x="5093894" y="4297680"/>
            <a:ext cx="0" cy="73152"/>
          </a:xfrm>
          <a:prstGeom prst="line">
            <a:avLst/>
          </a:prstGeom>
          <a:noFill/>
          <a:ln w="25400">
            <a:solidFill>
              <a:srgbClr val="0B6E8A"/>
            </a:solidFill>
            <a:prstDash val="solid"/>
          </a:ln>
        </p:spPr>
      </p:sp>
      <p:sp>
        <p:nvSpPr>
          <p:cNvPr id="52" name="[p1] Forma"/>
          <p:cNvSpPr/>
          <p:nvPr/>
        </p:nvSpPr>
        <p:spPr>
          <a:xfrm>
            <a:off x="6767932" y="4297680"/>
            <a:ext cx="0" cy="73152"/>
          </a:xfrm>
          <a:prstGeom prst="line">
            <a:avLst/>
          </a:prstGeom>
          <a:noFill/>
          <a:ln w="25400">
            <a:solidFill>
              <a:srgbClr val="0B6E8A"/>
            </a:solidFill>
            <a:prstDash val="solid"/>
          </a:ln>
        </p:spPr>
      </p:sp>
      <p:sp>
        <p:nvSpPr>
          <p:cNvPr id="53" name="[p1] Forma"/>
          <p:cNvSpPr/>
          <p:nvPr/>
        </p:nvSpPr>
        <p:spPr>
          <a:xfrm>
            <a:off x="5670309" y="3968496"/>
            <a:ext cx="521208" cy="274320"/>
          </a:xfrm>
          <a:prstGeom prst="roundRect">
            <a:avLst>
              <a:gd name="adj" fmla="val 50000"/>
            </a:avLst>
          </a:prstGeom>
          <a:solidFill>
            <a:srgbClr val="0B6E8A"/>
          </a:solidFill>
          <a:ln>
            <a:solidFill>
              <a:srgbClr val="0B6E8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CI</a:t>
            </a:r>
            <a:endParaRPr lang="en-US" sz="1000" dirty="0"/>
          </a:p>
        </p:txBody>
      </p:sp>
      <p:sp>
        <p:nvSpPr>
          <p:cNvPr id="54" name="[p1] Forma"/>
          <p:cNvSpPr/>
          <p:nvPr/>
        </p:nvSpPr>
        <p:spPr>
          <a:xfrm>
            <a:off x="7389724" y="4297680"/>
            <a:ext cx="1674038" cy="0"/>
          </a:xfrm>
          <a:prstGeom prst="line">
            <a:avLst/>
          </a:prstGeom>
          <a:noFill/>
          <a:ln w="25400">
            <a:solidFill>
              <a:srgbClr val="0A6648"/>
            </a:solidFill>
            <a:prstDash val="solid"/>
          </a:ln>
        </p:spPr>
      </p:sp>
      <p:sp>
        <p:nvSpPr>
          <p:cNvPr id="55" name="[p1] Forma"/>
          <p:cNvSpPr/>
          <p:nvPr/>
        </p:nvSpPr>
        <p:spPr>
          <a:xfrm>
            <a:off x="7389724" y="4297680"/>
            <a:ext cx="0" cy="73152"/>
          </a:xfrm>
          <a:prstGeom prst="line">
            <a:avLst/>
          </a:prstGeom>
          <a:noFill/>
          <a:ln w="25400">
            <a:solidFill>
              <a:srgbClr val="0A6648"/>
            </a:solidFill>
            <a:prstDash val="solid"/>
          </a:ln>
        </p:spPr>
      </p:sp>
      <p:sp>
        <p:nvSpPr>
          <p:cNvPr id="56" name="[p1] Forma"/>
          <p:cNvSpPr/>
          <p:nvPr/>
        </p:nvSpPr>
        <p:spPr>
          <a:xfrm>
            <a:off x="9063761" y="4297680"/>
            <a:ext cx="0" cy="73152"/>
          </a:xfrm>
          <a:prstGeom prst="line">
            <a:avLst/>
          </a:prstGeom>
          <a:noFill/>
          <a:ln w="25400">
            <a:solidFill>
              <a:srgbClr val="0A6648"/>
            </a:solidFill>
            <a:prstDash val="solid"/>
          </a:ln>
        </p:spPr>
      </p:sp>
      <p:sp>
        <p:nvSpPr>
          <p:cNvPr id="57" name="[p1] Forma"/>
          <p:cNvSpPr/>
          <p:nvPr/>
        </p:nvSpPr>
        <p:spPr>
          <a:xfrm>
            <a:off x="7227760" y="3968496"/>
            <a:ext cx="1997964" cy="274320"/>
          </a:xfrm>
          <a:prstGeom prst="roundRect">
            <a:avLst>
              <a:gd name="adj" fmla="val 50000"/>
            </a:avLst>
          </a:prstGeom>
          <a:solidFill>
            <a:srgbClr val="0A6648"/>
          </a:solidFill>
          <a:ln>
            <a:solidFill>
              <a:srgbClr val="0A6648"/>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CD · entrega continua</a:t>
            </a:r>
            <a:endParaRPr lang="en-US" sz="1000" dirty="0"/>
          </a:p>
        </p:txBody>
      </p:sp>
      <p:sp>
        <p:nvSpPr>
          <p:cNvPr id="58" name="[p1] Forma"/>
          <p:cNvSpPr/>
          <p:nvPr/>
        </p:nvSpPr>
        <p:spPr>
          <a:xfrm>
            <a:off x="9685553" y="4297680"/>
            <a:ext cx="1674038" cy="0"/>
          </a:xfrm>
          <a:prstGeom prst="line">
            <a:avLst/>
          </a:prstGeom>
          <a:noFill/>
          <a:ln w="25400">
            <a:solidFill>
              <a:srgbClr val="8A4B06"/>
            </a:solidFill>
            <a:prstDash val="solid"/>
          </a:ln>
        </p:spPr>
      </p:sp>
      <p:sp>
        <p:nvSpPr>
          <p:cNvPr id="59" name="[p1] Forma"/>
          <p:cNvSpPr/>
          <p:nvPr/>
        </p:nvSpPr>
        <p:spPr>
          <a:xfrm>
            <a:off x="9685553" y="4297680"/>
            <a:ext cx="0" cy="73152"/>
          </a:xfrm>
          <a:prstGeom prst="line">
            <a:avLst/>
          </a:prstGeom>
          <a:noFill/>
          <a:ln w="25400">
            <a:solidFill>
              <a:srgbClr val="8A4B06"/>
            </a:solidFill>
            <a:prstDash val="solid"/>
          </a:ln>
        </p:spPr>
      </p:sp>
      <p:sp>
        <p:nvSpPr>
          <p:cNvPr id="60" name="[p1] Forma"/>
          <p:cNvSpPr/>
          <p:nvPr/>
        </p:nvSpPr>
        <p:spPr>
          <a:xfrm>
            <a:off x="11359591" y="4297680"/>
            <a:ext cx="0" cy="73152"/>
          </a:xfrm>
          <a:prstGeom prst="line">
            <a:avLst/>
          </a:prstGeom>
          <a:noFill/>
          <a:ln w="25400">
            <a:solidFill>
              <a:srgbClr val="8A4B06"/>
            </a:solidFill>
            <a:prstDash val="solid"/>
          </a:ln>
        </p:spPr>
      </p:sp>
      <p:sp>
        <p:nvSpPr>
          <p:cNvPr id="61" name="[p1] Forma"/>
          <p:cNvSpPr/>
          <p:nvPr/>
        </p:nvSpPr>
        <p:spPr>
          <a:xfrm>
            <a:off x="9912210" y="3968496"/>
            <a:ext cx="1220724"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Hoy, a mano</a:t>
            </a:r>
            <a:endParaRPr lang="en-US" sz="1000" dirty="0"/>
          </a:p>
        </p:txBody>
      </p:sp>
      <p:sp>
        <p:nvSpPr>
          <p:cNvPr id="62" name="[p1] Forma"/>
          <p:cNvSpPr/>
          <p:nvPr/>
        </p:nvSpPr>
        <p:spPr>
          <a:xfrm>
            <a:off x="276148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63" name="[p1] Forma"/>
          <p:cNvSpPr/>
          <p:nvPr/>
        </p:nvSpPr>
        <p:spPr>
          <a:xfrm>
            <a:off x="3406483" y="4480560"/>
            <a:ext cx="457200" cy="457200"/>
          </a:xfrm>
          <a:prstGeom prst="ellipse">
            <a:avLst/>
          </a:prstGeom>
          <a:solidFill>
            <a:srgbClr val="E1F1EA"/>
          </a:solidFill>
          <a:ln w="12700">
            <a:solidFill>
              <a:srgbClr val="E1F1EA"/>
            </a:solidFill>
            <a:prstDash val="solid"/>
          </a:ln>
        </p:spPr>
      </p:sp>
      <p:sp>
        <p:nvSpPr>
          <p:cNvPr id="64" name="[p1] Icono git-merge"/>
          <p:cNvSpPr/>
          <p:nvPr/>
        </p:nvSpPr>
        <p:spPr>
          <a:xfrm>
            <a:off x="3516211" y="4590288"/>
            <a:ext cx="237744" cy="237744"/>
          </a:xfrm>
          <a:custGeom>
            <a:avLst/>
            <a:gdLst/>
            <a:ahLst/>
            <a:cxnLst/>
            <a:rect l="l" t="t" r="r" b="b"/>
            <a:pathLst>
              <a:path w="237744" h="237744">
                <a:moveTo>
                  <a:pt x="208026" y="178308"/>
                </a:moveTo>
                <a:cubicBezTo>
                  <a:pt x="208026" y="194721"/>
                  <a:pt x="194721" y="208026"/>
                  <a:pt x="178308" y="208026"/>
                </a:cubicBezTo>
                <a:cubicBezTo>
                  <a:pt x="161895" y="208026"/>
                  <a:pt x="148590" y="194721"/>
                  <a:pt x="148590" y="178308"/>
                </a:cubicBezTo>
                <a:cubicBezTo>
                  <a:pt x="148590" y="161895"/>
                  <a:pt x="161895" y="148590"/>
                  <a:pt x="178308" y="148590"/>
                </a:cubicBezTo>
                <a:cubicBezTo>
                  <a:pt x="194721" y="148590"/>
                  <a:pt x="208026" y="161895"/>
                  <a:pt x="208026" y="178308"/>
                </a:cubicBezTo>
                <a:close/>
                <a:moveTo>
                  <a:pt x="89154" y="59436"/>
                </a:moveTo>
                <a:cubicBezTo>
                  <a:pt x="89154" y="75849"/>
                  <a:pt x="75849" y="89154"/>
                  <a:pt x="59436" y="89154"/>
                </a:cubicBezTo>
                <a:cubicBezTo>
                  <a:pt x="43023" y="89154"/>
                  <a:pt x="29718" y="75849"/>
                  <a:pt x="29718" y="59436"/>
                </a:cubicBezTo>
                <a:cubicBezTo>
                  <a:pt x="29718" y="43023"/>
                  <a:pt x="43023" y="29718"/>
                  <a:pt x="59436" y="29718"/>
                </a:cubicBezTo>
                <a:cubicBezTo>
                  <a:pt x="75849" y="29718"/>
                  <a:pt x="89154" y="43023"/>
                  <a:pt x="89154" y="59436"/>
                </a:cubicBezTo>
                <a:close/>
                <a:moveTo>
                  <a:pt x="59436" y="208026"/>
                </a:moveTo>
                <a:lnTo>
                  <a:pt x="59436" y="89154"/>
                </a:lnTo>
                <a:cubicBezTo>
                  <a:pt x="59436" y="138392"/>
                  <a:pt x="99352" y="178308"/>
                  <a:pt x="148590" y="178308"/>
                </a:cubicBezTo>
              </a:path>
            </a:pathLst>
          </a:custGeom>
          <a:noFill/>
          <a:ln w="19812" cap="rnd">
            <a:solidFill>
              <a:srgbClr val="0A6648"/>
            </a:solidFill>
            <a:prstDash val="solid"/>
            <a:round/>
          </a:ln>
        </p:spPr>
      </p:sp>
      <p:sp>
        <p:nvSpPr>
          <p:cNvPr id="65" name="[p1] Forma"/>
          <p:cNvSpPr/>
          <p:nvPr/>
        </p:nvSpPr>
        <p:spPr>
          <a:xfrm>
            <a:off x="283464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Fusionas a main</a:t>
            </a:r>
            <a:endParaRPr lang="en-US" sz="1400" dirty="0"/>
          </a:p>
        </p:txBody>
      </p:sp>
      <p:sp>
        <p:nvSpPr>
          <p:cNvPr id="66" name="[p1] Forma"/>
          <p:cNvSpPr/>
          <p:nvPr/>
        </p:nvSpPr>
        <p:spPr>
          <a:xfrm>
            <a:off x="285292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Después de la revisión</a:t>
            </a:r>
            <a:endParaRPr lang="en-US" sz="1100" dirty="0"/>
          </a:p>
        </p:txBody>
      </p:sp>
      <p:sp>
        <p:nvSpPr>
          <p:cNvPr id="67" name="[p1] Forma"/>
          <p:cNvSpPr/>
          <p:nvPr/>
        </p:nvSpPr>
        <p:spPr>
          <a:xfrm>
            <a:off x="4581830" y="5029200"/>
            <a:ext cx="402336" cy="0"/>
          </a:xfrm>
          <a:prstGeom prst="line">
            <a:avLst/>
          </a:prstGeom>
          <a:noFill/>
          <a:ln w="31750">
            <a:solidFill>
              <a:srgbClr val="0A6648"/>
            </a:solidFill>
            <a:prstDash val="solid"/>
            <a:tailEnd type="triangle"/>
          </a:ln>
        </p:spPr>
      </p:sp>
      <p:sp>
        <p:nvSpPr>
          <p:cNvPr id="68" name="[p1] Forma"/>
          <p:cNvSpPr/>
          <p:nvPr/>
        </p:nvSpPr>
        <p:spPr>
          <a:xfrm>
            <a:off x="505731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69" name="[p1] Forma"/>
          <p:cNvSpPr/>
          <p:nvPr/>
        </p:nvSpPr>
        <p:spPr>
          <a:xfrm>
            <a:off x="5702313" y="4480560"/>
            <a:ext cx="457200" cy="457200"/>
          </a:xfrm>
          <a:prstGeom prst="ellipse">
            <a:avLst/>
          </a:prstGeom>
          <a:solidFill>
            <a:srgbClr val="E1F1EA"/>
          </a:solidFill>
          <a:ln w="12700">
            <a:solidFill>
              <a:srgbClr val="E1F1EA"/>
            </a:solidFill>
            <a:prstDash val="solid"/>
          </a:ln>
        </p:spPr>
      </p:sp>
      <p:sp>
        <p:nvSpPr>
          <p:cNvPr id="70" name="[p1] Icono flask-conical"/>
          <p:cNvSpPr/>
          <p:nvPr/>
        </p:nvSpPr>
        <p:spPr>
          <a:xfrm>
            <a:off x="5812041" y="4590288"/>
            <a:ext cx="237744" cy="237744"/>
          </a:xfrm>
          <a:custGeom>
            <a:avLst/>
            <a:gdLst/>
            <a:ahLst/>
            <a:cxnLst/>
            <a:rect l="l" t="t" r="r" b="b"/>
            <a:pathLst>
              <a:path w="237744" h="237744">
                <a:moveTo>
                  <a:pt x="138684" y="19812"/>
                </a:moveTo>
                <a:lnTo>
                  <a:pt x="138684" y="79248"/>
                </a:lnTo>
                <a:cubicBezTo>
                  <a:pt x="138683" y="82571"/>
                  <a:pt x="139517" y="85842"/>
                  <a:pt x="141111" y="88758"/>
                </a:cubicBezTo>
                <a:lnTo>
                  <a:pt x="195693" y="188610"/>
                </a:lnTo>
                <a:cubicBezTo>
                  <a:pt x="199052" y="194749"/>
                  <a:pt x="198923" y="202205"/>
                  <a:pt x="195354" y="208224"/>
                </a:cubicBezTo>
                <a:cubicBezTo>
                  <a:pt x="191785" y="214243"/>
                  <a:pt x="185306" y="217934"/>
                  <a:pt x="178308" y="217932"/>
                </a:cubicBezTo>
                <a:lnTo>
                  <a:pt x="59436" y="217932"/>
                </a:lnTo>
                <a:cubicBezTo>
                  <a:pt x="52438" y="217934"/>
                  <a:pt x="45959" y="214243"/>
                  <a:pt x="42390" y="208224"/>
                </a:cubicBezTo>
                <a:cubicBezTo>
                  <a:pt x="38821" y="202205"/>
                  <a:pt x="38692" y="194749"/>
                  <a:pt x="42051" y="188610"/>
                </a:cubicBezTo>
                <a:lnTo>
                  <a:pt x="96633" y="88758"/>
                </a:lnTo>
                <a:cubicBezTo>
                  <a:pt x="98227" y="85842"/>
                  <a:pt x="99061" y="82571"/>
                  <a:pt x="99060" y="79248"/>
                </a:cubicBezTo>
                <a:lnTo>
                  <a:pt x="99060" y="19812"/>
                </a:lnTo>
                <a:moveTo>
                  <a:pt x="63923" y="148590"/>
                </a:moveTo>
                <a:lnTo>
                  <a:pt x="173821" y="148590"/>
                </a:lnTo>
                <a:moveTo>
                  <a:pt x="84201" y="19812"/>
                </a:moveTo>
                <a:lnTo>
                  <a:pt x="153543" y="19812"/>
                </a:lnTo>
              </a:path>
            </a:pathLst>
          </a:custGeom>
          <a:noFill/>
          <a:ln w="19812" cap="rnd">
            <a:solidFill>
              <a:srgbClr val="0A6648"/>
            </a:solidFill>
            <a:prstDash val="solid"/>
            <a:round/>
          </a:ln>
        </p:spPr>
      </p:sp>
      <p:sp>
        <p:nvSpPr>
          <p:cNvPr id="71" name="[p1] Forma"/>
          <p:cNvSpPr/>
          <p:nvPr/>
        </p:nvSpPr>
        <p:spPr>
          <a:xfrm>
            <a:off x="513047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El mismo CI</a:t>
            </a:r>
            <a:endParaRPr lang="en-US" sz="1400" dirty="0"/>
          </a:p>
        </p:txBody>
      </p:sp>
      <p:sp>
        <p:nvSpPr>
          <p:cNvPr id="72" name="[p1] Forma"/>
          <p:cNvSpPr/>
          <p:nvPr/>
        </p:nvSpPr>
        <p:spPr>
          <a:xfrm>
            <a:off x="514875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Compila, prueba y arranca</a:t>
            </a:r>
            <a:endParaRPr lang="en-US" sz="1100" dirty="0"/>
          </a:p>
        </p:txBody>
      </p:sp>
      <p:sp>
        <p:nvSpPr>
          <p:cNvPr id="73" name="[p1] Forma"/>
          <p:cNvSpPr/>
          <p:nvPr/>
        </p:nvSpPr>
        <p:spPr>
          <a:xfrm>
            <a:off x="6877660" y="5029200"/>
            <a:ext cx="402336" cy="0"/>
          </a:xfrm>
          <a:prstGeom prst="line">
            <a:avLst/>
          </a:prstGeom>
          <a:noFill/>
          <a:ln w="31750">
            <a:solidFill>
              <a:srgbClr val="0A6648"/>
            </a:solidFill>
            <a:prstDash val="solid"/>
            <a:tailEnd type="triangle"/>
          </a:ln>
        </p:spPr>
      </p:sp>
      <p:sp>
        <p:nvSpPr>
          <p:cNvPr id="74" name="[p1] Forma"/>
          <p:cNvSpPr/>
          <p:nvPr/>
        </p:nvSpPr>
        <p:spPr>
          <a:xfrm>
            <a:off x="735314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75" name="[p1] Forma"/>
          <p:cNvSpPr/>
          <p:nvPr/>
        </p:nvSpPr>
        <p:spPr>
          <a:xfrm>
            <a:off x="7998142" y="4480560"/>
            <a:ext cx="457200" cy="457200"/>
          </a:xfrm>
          <a:prstGeom prst="ellipse">
            <a:avLst/>
          </a:prstGeom>
          <a:solidFill>
            <a:srgbClr val="E1F1EA"/>
          </a:solidFill>
          <a:ln w="12700">
            <a:solidFill>
              <a:srgbClr val="E1F1EA"/>
            </a:solidFill>
            <a:prstDash val="solid"/>
          </a:ln>
        </p:spPr>
      </p:sp>
      <p:sp>
        <p:nvSpPr>
          <p:cNvPr id="76" name="[p1] Icono cloud-upload"/>
          <p:cNvSpPr/>
          <p:nvPr/>
        </p:nvSpPr>
        <p:spPr>
          <a:xfrm>
            <a:off x="8107870" y="4590288"/>
            <a:ext cx="237744" cy="237744"/>
          </a:xfrm>
          <a:custGeom>
            <a:avLst/>
            <a:gdLst/>
            <a:ahLst/>
            <a:cxnLst/>
            <a:rect l="l" t="t" r="r" b="b"/>
            <a:pathLst>
              <a:path w="237744" h="237744">
                <a:moveTo>
                  <a:pt x="118872" y="128778"/>
                </a:moveTo>
                <a:lnTo>
                  <a:pt x="118872" y="208026"/>
                </a:lnTo>
                <a:moveTo>
                  <a:pt x="39624" y="147589"/>
                </a:moveTo>
                <a:cubicBezTo>
                  <a:pt x="19465" y="126993"/>
                  <a:pt x="14147" y="96074"/>
                  <a:pt x="26267" y="69925"/>
                </a:cubicBezTo>
                <a:cubicBezTo>
                  <a:pt x="38388" y="43777"/>
                  <a:pt x="65418" y="27852"/>
                  <a:pt x="94164" y="29924"/>
                </a:cubicBezTo>
                <a:cubicBezTo>
                  <a:pt x="122910" y="31995"/>
                  <a:pt x="147378" y="51632"/>
                  <a:pt x="155623" y="79248"/>
                </a:cubicBezTo>
                <a:lnTo>
                  <a:pt x="173355" y="79248"/>
                </a:lnTo>
                <a:cubicBezTo>
                  <a:pt x="192992" y="79246"/>
                  <a:pt x="210318" y="92094"/>
                  <a:pt x="216018" y="110886"/>
                </a:cubicBezTo>
                <a:cubicBezTo>
                  <a:pt x="221718" y="129678"/>
                  <a:pt x="214449" y="149986"/>
                  <a:pt x="198120" y="160893"/>
                </a:cubicBezTo>
                <a:moveTo>
                  <a:pt x="79248" y="168402"/>
                </a:moveTo>
                <a:lnTo>
                  <a:pt x="118872" y="128778"/>
                </a:lnTo>
                <a:lnTo>
                  <a:pt x="158496" y="168402"/>
                </a:lnTo>
              </a:path>
            </a:pathLst>
          </a:custGeom>
          <a:noFill/>
          <a:ln w="19812" cap="rnd">
            <a:solidFill>
              <a:srgbClr val="0A6648"/>
            </a:solidFill>
            <a:prstDash val="solid"/>
            <a:round/>
          </a:ln>
        </p:spPr>
      </p:sp>
      <p:sp>
        <p:nvSpPr>
          <p:cNvPr id="77" name="[p1] Forma"/>
          <p:cNvSpPr/>
          <p:nvPr/>
        </p:nvSpPr>
        <p:spPr>
          <a:xfrm>
            <a:off x="742630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Publica en GHCR</a:t>
            </a:r>
            <a:endParaRPr lang="en-US" sz="1400" dirty="0"/>
          </a:p>
        </p:txBody>
      </p:sp>
      <p:sp>
        <p:nvSpPr>
          <p:cNvPr id="78" name="[p1] Forma"/>
          <p:cNvSpPr/>
          <p:nvPr/>
        </p:nvSpPr>
        <p:spPr>
          <a:xfrm>
            <a:off x="744458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La imagen, con el SHA del commit</a:t>
            </a:r>
            <a:endParaRPr lang="en-US" sz="1100" dirty="0"/>
          </a:p>
        </p:txBody>
      </p:sp>
      <p:sp>
        <p:nvSpPr>
          <p:cNvPr id="79" name="[p1] Forma"/>
          <p:cNvSpPr/>
          <p:nvPr/>
        </p:nvSpPr>
        <p:spPr>
          <a:xfrm>
            <a:off x="9173489" y="5029200"/>
            <a:ext cx="402336" cy="0"/>
          </a:xfrm>
          <a:prstGeom prst="line">
            <a:avLst/>
          </a:prstGeom>
          <a:noFill/>
          <a:ln w="31750">
            <a:solidFill>
              <a:srgbClr val="0A6648"/>
            </a:solidFill>
            <a:prstDash val="solid"/>
            <a:tailEnd type="triangle"/>
          </a:ln>
        </p:spPr>
      </p:sp>
      <p:sp>
        <p:nvSpPr>
          <p:cNvPr id="80" name="[p1] Forma"/>
          <p:cNvSpPr/>
          <p:nvPr/>
        </p:nvSpPr>
        <p:spPr>
          <a:xfrm>
            <a:off x="9648977"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81" name="[p1] Forma"/>
          <p:cNvSpPr/>
          <p:nvPr/>
        </p:nvSpPr>
        <p:spPr>
          <a:xfrm>
            <a:off x="10293972" y="4480560"/>
            <a:ext cx="457200" cy="457200"/>
          </a:xfrm>
          <a:prstGeom prst="ellipse">
            <a:avLst/>
          </a:prstGeom>
          <a:solidFill>
            <a:srgbClr val="E1F1EA"/>
          </a:solidFill>
          <a:ln w="12700">
            <a:solidFill>
              <a:srgbClr val="E1F1EA"/>
            </a:solidFill>
            <a:prstDash val="solid"/>
          </a:ln>
        </p:spPr>
      </p:sp>
      <p:sp>
        <p:nvSpPr>
          <p:cNvPr id="82" name="[p1] Icono ship-wheel"/>
          <p:cNvSpPr/>
          <p:nvPr/>
        </p:nvSpPr>
        <p:spPr>
          <a:xfrm>
            <a:off x="10403700" y="4590288"/>
            <a:ext cx="237744" cy="237744"/>
          </a:xfrm>
          <a:custGeom>
            <a:avLst/>
            <a:gdLst/>
            <a:ahLst/>
            <a:cxnLst/>
            <a:rect l="l" t="t" r="r" b="b"/>
            <a:pathLst>
              <a:path w="237744" h="237744">
                <a:moveTo>
                  <a:pt x="198120" y="118872"/>
                </a:moveTo>
                <a:cubicBezTo>
                  <a:pt x="198120" y="162639"/>
                  <a:pt x="162639" y="198120"/>
                  <a:pt x="118872" y="198120"/>
                </a:cubicBezTo>
                <a:cubicBezTo>
                  <a:pt x="75105" y="198120"/>
                  <a:pt x="39624" y="162639"/>
                  <a:pt x="39624" y="118872"/>
                </a:cubicBezTo>
                <a:cubicBezTo>
                  <a:pt x="39624" y="75105"/>
                  <a:pt x="75105" y="39624"/>
                  <a:pt x="118872" y="39624"/>
                </a:cubicBezTo>
                <a:cubicBezTo>
                  <a:pt x="162639" y="39624"/>
                  <a:pt x="198120" y="75105"/>
                  <a:pt x="198120" y="118872"/>
                </a:cubicBezTo>
                <a:close/>
                <a:moveTo>
                  <a:pt x="118872" y="19812"/>
                </a:moveTo>
                <a:lnTo>
                  <a:pt x="118872" y="94107"/>
                </a:lnTo>
                <a:moveTo>
                  <a:pt x="188214" y="49530"/>
                </a:moveTo>
                <a:lnTo>
                  <a:pt x="136406" y="101338"/>
                </a:lnTo>
                <a:moveTo>
                  <a:pt x="217932" y="118872"/>
                </a:moveTo>
                <a:lnTo>
                  <a:pt x="143637" y="118872"/>
                </a:lnTo>
                <a:moveTo>
                  <a:pt x="188214" y="188214"/>
                </a:moveTo>
                <a:lnTo>
                  <a:pt x="136406" y="136406"/>
                </a:lnTo>
                <a:moveTo>
                  <a:pt x="118872" y="143637"/>
                </a:moveTo>
                <a:lnTo>
                  <a:pt x="118872" y="217932"/>
                </a:lnTo>
                <a:moveTo>
                  <a:pt x="101338" y="136406"/>
                </a:moveTo>
                <a:lnTo>
                  <a:pt x="49530" y="188214"/>
                </a:lnTo>
                <a:moveTo>
                  <a:pt x="94107" y="118872"/>
                </a:moveTo>
                <a:lnTo>
                  <a:pt x="19812" y="118872"/>
                </a:lnTo>
                <a:moveTo>
                  <a:pt x="101338" y="101338"/>
                </a:moveTo>
                <a:lnTo>
                  <a:pt x="49530" y="49530"/>
                </a:lnTo>
                <a:moveTo>
                  <a:pt x="143637" y="118872"/>
                </a:moveTo>
                <a:cubicBezTo>
                  <a:pt x="143637" y="132549"/>
                  <a:pt x="132549" y="143637"/>
                  <a:pt x="118872" y="143637"/>
                </a:cubicBezTo>
                <a:cubicBezTo>
                  <a:pt x="105195" y="143637"/>
                  <a:pt x="94107" y="132549"/>
                  <a:pt x="94107" y="118872"/>
                </a:cubicBezTo>
                <a:cubicBezTo>
                  <a:pt x="94107" y="105195"/>
                  <a:pt x="105195" y="94107"/>
                  <a:pt x="118872" y="94107"/>
                </a:cubicBezTo>
                <a:cubicBezTo>
                  <a:pt x="132549" y="94107"/>
                  <a:pt x="143637" y="105195"/>
                  <a:pt x="143637" y="118872"/>
                </a:cubicBezTo>
                <a:close/>
              </a:path>
            </a:pathLst>
          </a:custGeom>
          <a:noFill/>
          <a:ln w="19812" cap="rnd">
            <a:solidFill>
              <a:srgbClr val="0A6648"/>
            </a:solidFill>
            <a:prstDash val="solid"/>
            <a:round/>
          </a:ln>
        </p:spPr>
      </p:sp>
      <p:sp>
        <p:nvSpPr>
          <p:cNvPr id="83" name="[p1] Forma"/>
          <p:cNvSpPr/>
          <p:nvPr/>
        </p:nvSpPr>
        <p:spPr>
          <a:xfrm>
            <a:off x="9722129"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Despliegue</a:t>
            </a:r>
            <a:endParaRPr lang="en-US" sz="1400" dirty="0"/>
          </a:p>
        </p:txBody>
      </p:sp>
      <p:sp>
        <p:nvSpPr>
          <p:cNvPr id="84" name="[p1] Forma"/>
          <p:cNvSpPr/>
          <p:nvPr/>
        </p:nvSpPr>
        <p:spPr>
          <a:xfrm>
            <a:off x="9740417"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kubectl apply -f k8s/ · manual</a:t>
            </a:r>
            <a:endParaRPr lang="en-US" sz="1100" dirty="0"/>
          </a:p>
        </p:txBody>
      </p:sp>
      <p:sp>
        <p:nvSpPr>
          <p:cNvPr id="85" name="Shape 83"/>
          <p:cNvSpPr/>
          <p:nvPr/>
        </p:nvSpPr>
        <p:spPr>
          <a:xfrm>
            <a:off x="0" y="5961888"/>
            <a:ext cx="12191695" cy="475488"/>
          </a:xfrm>
          <a:prstGeom prst="rect">
            <a:avLst/>
          </a:prstGeom>
          <a:solidFill>
            <a:srgbClr val="0B2350"/>
          </a:solidFill>
          <a:ln w="12700">
            <a:solidFill>
              <a:srgbClr val="0B2350"/>
            </a:solidFill>
            <a:prstDash val="solid"/>
          </a:ln>
        </p:spPr>
      </p:sp>
      <p:sp>
        <p:nvSpPr>
          <p:cNvPr id="8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87" name="Text 8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el Pull Request, en minutos, antes de llegar a main.</a:t>
            </a:r>
            <a:endParaRPr lang="en-US" sz="1400" dirty="0"/>
          </a:p>
        </p:txBody>
      </p:sp>
      <p:sp>
        <p:nvSpPr>
          <p:cNvPr id="88" name="Text 8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4" fill="hold">
                      <p:stCondLst>
                        <p:cond delay="indefinite"/>
                      </p:stCondLst>
                      <p:childTnLst>
                        <p:par>
                          <p:cTn id="11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8"/>
                                        </p:tgtEl>
                                        <p:attrNameLst>
                                          <p:attrName>style.visibility</p:attrName>
                                        </p:attrNameLst>
                                      </p:cBhvr>
                                      <p:to>
                                        <p:strVal val="visible"/>
                                      </p:to>
                                    </p:set>
                                    <p:animEffect transition="in" filter="fade">
                                      <p:cBhvr>
                                        <p:cTn id="5" dur="400"/>
                                        <p:tgtEl>
                                          <p:spTgt spid="4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9"/>
                                        </p:tgtEl>
                                        <p:attrNameLst>
                                          <p:attrName>style.visibility</p:attrName>
                                        </p:attrNameLst>
                                      </p:cBhvr>
                                      <p:to>
                                        <p:strVal val="visible"/>
                                      </p:to>
                                    </p:set>
                                    <p:animEffect transition="in" filter="fade">
                                      <p:cBhvr>
                                        <p:cTn id="8" dur="400"/>
                                        <p:tgtEl>
                                          <p:spTgt spid="4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400"/>
                                        <p:tgtEl>
                                          <p:spTgt spid="5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400"/>
                                        <p:tgtEl>
                                          <p:spTgt spid="5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400"/>
                                        <p:tgtEl>
                                          <p:spTgt spid="5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400"/>
                                        <p:tgtEl>
                                          <p:spTgt spid="5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fade">
                                      <p:cBhvr>
                                        <p:cTn id="23" dur="400"/>
                                        <p:tgtEl>
                                          <p:spTgt spid="5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400"/>
                                        <p:tgtEl>
                                          <p:spTgt spid="5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fade">
                                      <p:cBhvr>
                                        <p:cTn id="29" dur="400"/>
                                        <p:tgtEl>
                                          <p:spTgt spid="5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400"/>
                                        <p:tgtEl>
                                          <p:spTgt spid="5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400"/>
                                        <p:tgtEl>
                                          <p:spTgt spid="5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fade">
                                      <p:cBhvr>
                                        <p:cTn id="38" dur="400"/>
                                        <p:tgtEl>
                                          <p:spTgt spid="5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400"/>
                                        <p:tgtEl>
                                          <p:spTgt spid="6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fade">
                                      <p:cBhvr>
                                        <p:cTn id="44" dur="400"/>
                                        <p:tgtEl>
                                          <p:spTgt spid="6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fade">
                                      <p:cBhvr>
                                        <p:cTn id="47" dur="400"/>
                                        <p:tgtEl>
                                          <p:spTgt spid="6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400"/>
                                        <p:tgtEl>
                                          <p:spTgt spid="6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fade">
                                      <p:cBhvr>
                                        <p:cTn id="53" dur="400"/>
                                        <p:tgtEl>
                                          <p:spTgt spid="6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5"/>
                                        </p:tgtEl>
                                        <p:attrNameLst>
                                          <p:attrName>style.visibility</p:attrName>
                                        </p:attrNameLst>
                                      </p:cBhvr>
                                      <p:to>
                                        <p:strVal val="visible"/>
                                      </p:to>
                                    </p:set>
                                    <p:animEffect transition="in" filter="fade">
                                      <p:cBhvr>
                                        <p:cTn id="56" dur="400"/>
                                        <p:tgtEl>
                                          <p:spTgt spid="6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6"/>
                                        </p:tgtEl>
                                        <p:attrNameLst>
                                          <p:attrName>style.visibility</p:attrName>
                                        </p:attrNameLst>
                                      </p:cBhvr>
                                      <p:to>
                                        <p:strVal val="visible"/>
                                      </p:to>
                                    </p:set>
                                    <p:animEffect transition="in" filter="fade">
                                      <p:cBhvr>
                                        <p:cTn id="59" dur="400"/>
                                        <p:tgtEl>
                                          <p:spTgt spid="6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fade">
                                      <p:cBhvr>
                                        <p:cTn id="62" dur="400"/>
                                        <p:tgtEl>
                                          <p:spTgt spid="6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fade">
                                      <p:cBhvr>
                                        <p:cTn id="65" dur="400"/>
                                        <p:tgtEl>
                                          <p:spTgt spid="6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9"/>
                                        </p:tgtEl>
                                        <p:attrNameLst>
                                          <p:attrName>style.visibility</p:attrName>
                                        </p:attrNameLst>
                                      </p:cBhvr>
                                      <p:to>
                                        <p:strVal val="visible"/>
                                      </p:to>
                                    </p:set>
                                    <p:animEffect transition="in" filter="fade">
                                      <p:cBhvr>
                                        <p:cTn id="68" dur="400"/>
                                        <p:tgtEl>
                                          <p:spTgt spid="6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0"/>
                                        </p:tgtEl>
                                        <p:attrNameLst>
                                          <p:attrName>style.visibility</p:attrName>
                                        </p:attrNameLst>
                                      </p:cBhvr>
                                      <p:to>
                                        <p:strVal val="visible"/>
                                      </p:to>
                                    </p:set>
                                    <p:animEffect transition="in" filter="fade">
                                      <p:cBhvr>
                                        <p:cTn id="71" dur="400"/>
                                        <p:tgtEl>
                                          <p:spTgt spid="7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1"/>
                                        </p:tgtEl>
                                        <p:attrNameLst>
                                          <p:attrName>style.visibility</p:attrName>
                                        </p:attrNameLst>
                                      </p:cBhvr>
                                      <p:to>
                                        <p:strVal val="visible"/>
                                      </p:to>
                                    </p:set>
                                    <p:animEffect transition="in" filter="fade">
                                      <p:cBhvr>
                                        <p:cTn id="74" dur="400"/>
                                        <p:tgtEl>
                                          <p:spTgt spid="7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2"/>
                                        </p:tgtEl>
                                        <p:attrNameLst>
                                          <p:attrName>style.visibility</p:attrName>
                                        </p:attrNameLst>
                                      </p:cBhvr>
                                      <p:to>
                                        <p:strVal val="visible"/>
                                      </p:to>
                                    </p:set>
                                    <p:animEffect transition="in" filter="fade">
                                      <p:cBhvr>
                                        <p:cTn id="77" dur="400"/>
                                        <p:tgtEl>
                                          <p:spTgt spid="7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73"/>
                                        </p:tgtEl>
                                        <p:attrNameLst>
                                          <p:attrName>style.visibility</p:attrName>
                                        </p:attrNameLst>
                                      </p:cBhvr>
                                      <p:to>
                                        <p:strVal val="visible"/>
                                      </p:to>
                                    </p:set>
                                    <p:animEffect transition="in" filter="fade">
                                      <p:cBhvr>
                                        <p:cTn id="80" dur="400"/>
                                        <p:tgtEl>
                                          <p:spTgt spid="7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fade">
                                      <p:cBhvr>
                                        <p:cTn id="83" dur="400"/>
                                        <p:tgtEl>
                                          <p:spTgt spid="7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75"/>
                                        </p:tgtEl>
                                        <p:attrNameLst>
                                          <p:attrName>style.visibility</p:attrName>
                                        </p:attrNameLst>
                                      </p:cBhvr>
                                      <p:to>
                                        <p:strVal val="visible"/>
                                      </p:to>
                                    </p:set>
                                    <p:animEffect transition="in" filter="fade">
                                      <p:cBhvr>
                                        <p:cTn id="86" dur="400"/>
                                        <p:tgtEl>
                                          <p:spTgt spid="7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6"/>
                                        </p:tgtEl>
                                        <p:attrNameLst>
                                          <p:attrName>style.visibility</p:attrName>
                                        </p:attrNameLst>
                                      </p:cBhvr>
                                      <p:to>
                                        <p:strVal val="visible"/>
                                      </p:to>
                                    </p:set>
                                    <p:animEffect transition="in" filter="fade">
                                      <p:cBhvr>
                                        <p:cTn id="89" dur="400"/>
                                        <p:tgtEl>
                                          <p:spTgt spid="7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7"/>
                                        </p:tgtEl>
                                        <p:attrNameLst>
                                          <p:attrName>style.visibility</p:attrName>
                                        </p:attrNameLst>
                                      </p:cBhvr>
                                      <p:to>
                                        <p:strVal val="visible"/>
                                      </p:to>
                                    </p:set>
                                    <p:animEffect transition="in" filter="fade">
                                      <p:cBhvr>
                                        <p:cTn id="92" dur="400"/>
                                        <p:tgtEl>
                                          <p:spTgt spid="7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78"/>
                                        </p:tgtEl>
                                        <p:attrNameLst>
                                          <p:attrName>style.visibility</p:attrName>
                                        </p:attrNameLst>
                                      </p:cBhvr>
                                      <p:to>
                                        <p:strVal val="visible"/>
                                      </p:to>
                                    </p:set>
                                    <p:animEffect transition="in" filter="fade">
                                      <p:cBhvr>
                                        <p:cTn id="95" dur="400"/>
                                        <p:tgtEl>
                                          <p:spTgt spid="7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9"/>
                                        </p:tgtEl>
                                        <p:attrNameLst>
                                          <p:attrName>style.visibility</p:attrName>
                                        </p:attrNameLst>
                                      </p:cBhvr>
                                      <p:to>
                                        <p:strVal val="visible"/>
                                      </p:to>
                                    </p:set>
                                    <p:animEffect transition="in" filter="fade">
                                      <p:cBhvr>
                                        <p:cTn id="98" dur="400"/>
                                        <p:tgtEl>
                                          <p:spTgt spid="7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80"/>
                                        </p:tgtEl>
                                        <p:attrNameLst>
                                          <p:attrName>style.visibility</p:attrName>
                                        </p:attrNameLst>
                                      </p:cBhvr>
                                      <p:to>
                                        <p:strVal val="visible"/>
                                      </p:to>
                                    </p:set>
                                    <p:animEffect transition="in" filter="fade">
                                      <p:cBhvr>
                                        <p:cTn id="101" dur="400"/>
                                        <p:tgtEl>
                                          <p:spTgt spid="8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81"/>
                                        </p:tgtEl>
                                        <p:attrNameLst>
                                          <p:attrName>style.visibility</p:attrName>
                                        </p:attrNameLst>
                                      </p:cBhvr>
                                      <p:to>
                                        <p:strVal val="visible"/>
                                      </p:to>
                                    </p:set>
                                    <p:animEffect transition="in" filter="fade">
                                      <p:cBhvr>
                                        <p:cTn id="104" dur="400"/>
                                        <p:tgtEl>
                                          <p:spTgt spid="8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82"/>
                                        </p:tgtEl>
                                        <p:attrNameLst>
                                          <p:attrName>style.visibility</p:attrName>
                                        </p:attrNameLst>
                                      </p:cBhvr>
                                      <p:to>
                                        <p:strVal val="visible"/>
                                      </p:to>
                                    </p:set>
                                    <p:animEffect transition="in" filter="fade">
                                      <p:cBhvr>
                                        <p:cTn id="107" dur="400"/>
                                        <p:tgtEl>
                                          <p:spTgt spid="8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83"/>
                                        </p:tgtEl>
                                        <p:attrNameLst>
                                          <p:attrName>style.visibility</p:attrName>
                                        </p:attrNameLst>
                                      </p:cBhvr>
                                      <p:to>
                                        <p:strVal val="visible"/>
                                      </p:to>
                                    </p:set>
                                    <p:animEffect transition="in" filter="fade">
                                      <p:cBhvr>
                                        <p:cTn id="110" dur="400"/>
                                        <p:tgtEl>
                                          <p:spTgt spid="8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84"/>
                                        </p:tgtEl>
                                        <p:attrNameLst>
                                          <p:attrName>style.visibility</p:attrName>
                                        </p:attrNameLst>
                                      </p:cBhvr>
                                      <p:to>
                                        <p:strVal val="visible"/>
                                      </p:to>
                                    </p:set>
                                    <p:animEffect transition="in" filter="fade">
                                      <p:cBhvr>
                                        <p:cTn id="11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trabaja Kubernetes: del archivo al Pod</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450" dirty="0">
                <a:solidFill>
                  <a:srgbClr val="55627E"/>
                </a:solidFill>
                <a:latin typeface="Segoe UI" pitchFamily="34" charset="0"/>
                <a:ea typeface="Segoe UI" pitchFamily="34" charset="-122"/>
                <a:cs typeface="Segoe UI" pitchFamily="34" charset="-120"/>
              </a:rPr>
              <a:t>Describimos en un archivo cómo queremos el sistema; Kubernetes hace lo necesario para que así sea, todo el tiempo.</a:t>
            </a:r>
            <a:endParaRPr lang="en-US" sz="145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thermometer"/>
          <p:cNvSpPr/>
          <p:nvPr/>
        </p:nvSpPr>
        <p:spPr>
          <a:xfrm>
            <a:off x="900867" y="5911779"/>
            <a:ext cx="228234" cy="228234"/>
          </a:xfrm>
          <a:custGeom>
            <a:avLst/>
            <a:gdLst/>
            <a:ahLst/>
            <a:cxnLst/>
            <a:rect l="l" t="t" r="r" b="b"/>
            <a:pathLst>
              <a:path w="228234" h="228234">
                <a:moveTo>
                  <a:pt x="133137" y="38039"/>
                </a:moveTo>
                <a:lnTo>
                  <a:pt x="133137" y="138272"/>
                </a:lnTo>
                <a:cubicBezTo>
                  <a:pt x="148047" y="146880"/>
                  <a:pt x="155316" y="164430"/>
                  <a:pt x="150860" y="181060"/>
                </a:cubicBezTo>
                <a:cubicBezTo>
                  <a:pt x="146404" y="197690"/>
                  <a:pt x="131334" y="209254"/>
                  <a:pt x="114117" y="209254"/>
                </a:cubicBezTo>
                <a:cubicBezTo>
                  <a:pt x="96900" y="209254"/>
                  <a:pt x="81830" y="197690"/>
                  <a:pt x="77374" y="181060"/>
                </a:cubicBezTo>
                <a:cubicBezTo>
                  <a:pt x="72918" y="164430"/>
                  <a:pt x="80188" y="146880"/>
                  <a:pt x="95098" y="138272"/>
                </a:cubicBezTo>
                <a:lnTo>
                  <a:pt x="95098" y="38039"/>
                </a:lnTo>
                <a:cubicBezTo>
                  <a:pt x="95098" y="27535"/>
                  <a:pt x="103613" y="19020"/>
                  <a:pt x="114117" y="19020"/>
                </a:cubicBezTo>
                <a:cubicBezTo>
                  <a:pt x="124621" y="19020"/>
                  <a:pt x="133137" y="27535"/>
                  <a:pt x="133137" y="38039"/>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termostato: no le decimos cuándo prender el aire, le decimos la temperatura que queremos y él se encarga.</a:t>
            </a:r>
            <a:endParaRPr lang="en-US" sz="1450" dirty="0"/>
          </a:p>
        </p:txBody>
      </p:sp>
      <p:sp>
        <p:nvSpPr>
          <p:cNvPr id="17" name="Shape 15"/>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file-code"/>
          <p:cNvSpPr/>
          <p:nvPr/>
        </p:nvSpPr>
        <p:spPr>
          <a:xfrm>
            <a:off x="1339302" y="2505802"/>
            <a:ext cx="739973" cy="739973"/>
          </a:xfrm>
          <a:custGeom>
            <a:avLst/>
            <a:gdLst/>
            <a:ahLst/>
            <a:cxnLst/>
            <a:rect l="l" t="t" r="r" b="b"/>
            <a:pathLst>
              <a:path w="739973" h="739973">
                <a:moveTo>
                  <a:pt x="308322" y="385402"/>
                </a:moveTo>
                <a:lnTo>
                  <a:pt x="246658" y="462483"/>
                </a:lnTo>
                <a:lnTo>
                  <a:pt x="308322" y="539563"/>
                </a:lnTo>
                <a:moveTo>
                  <a:pt x="431651" y="385402"/>
                </a:moveTo>
                <a:lnTo>
                  <a:pt x="493315" y="462483"/>
                </a:lnTo>
                <a:lnTo>
                  <a:pt x="431651" y="539563"/>
                </a:lnTo>
                <a:moveTo>
                  <a:pt x="431651" y="61664"/>
                </a:moveTo>
                <a:lnTo>
                  <a:pt x="431651" y="184993"/>
                </a:lnTo>
                <a:cubicBezTo>
                  <a:pt x="431651" y="219049"/>
                  <a:pt x="459259" y="246658"/>
                  <a:pt x="493315" y="246658"/>
                </a:cubicBezTo>
                <a:lnTo>
                  <a:pt x="616644" y="246658"/>
                </a:lnTo>
                <a:moveTo>
                  <a:pt x="462483" y="61664"/>
                </a:moveTo>
                <a:lnTo>
                  <a:pt x="184993" y="61664"/>
                </a:lnTo>
                <a:cubicBezTo>
                  <a:pt x="150937" y="61664"/>
                  <a:pt x="123329" y="89272"/>
                  <a:pt x="123329" y="123329"/>
                </a:cubicBezTo>
                <a:lnTo>
                  <a:pt x="123329" y="616644"/>
                </a:lnTo>
                <a:cubicBezTo>
                  <a:pt x="123329" y="650700"/>
                  <a:pt x="150937" y="678308"/>
                  <a:pt x="184993" y="678308"/>
                </a:cubicBezTo>
                <a:lnTo>
                  <a:pt x="554980" y="678308"/>
                </a:lnTo>
                <a:cubicBezTo>
                  <a:pt x="589036" y="678308"/>
                  <a:pt x="616644" y="650700"/>
                  <a:pt x="616644" y="616644"/>
                </a:cubicBezTo>
                <a:lnTo>
                  <a:pt x="616644" y="215825"/>
                </a:lnTo>
                <a:close/>
              </a:path>
            </a:pathLst>
          </a:custGeom>
          <a:noFill/>
          <a:ln w="53956" cap="rnd">
            <a:solidFill>
              <a:srgbClr val="0B2350"/>
            </a:solidFill>
            <a:prstDash val="solid"/>
            <a:round/>
          </a:ln>
        </p:spPr>
      </p:sp>
      <p:sp>
        <p:nvSpPr>
          <p:cNvPr id="19" name="Text 17"/>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Manifiesto YAML</a:t>
            </a:r>
            <a:endParaRPr lang="en-US" sz="1800" dirty="0"/>
          </a:p>
        </p:txBody>
      </p:sp>
      <p:sp>
        <p:nvSpPr>
          <p:cNvPr id="21" name="Text 19"/>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Qué imagen, cuántas copias y qué variables.</a:t>
            </a:r>
            <a:endParaRPr lang="en-US" sz="1400" dirty="0"/>
          </a:p>
        </p:txBody>
      </p:sp>
      <p:sp>
        <p:nvSpPr>
          <p:cNvPr id="22" name="[p1] Forma"/>
          <p:cNvSpPr/>
          <p:nvPr/>
        </p:nvSpPr>
        <p:spPr>
          <a:xfrm>
            <a:off x="2485888" y="2875788"/>
            <a:ext cx="640080" cy="0"/>
          </a:xfrm>
          <a:prstGeom prst="line">
            <a:avLst/>
          </a:prstGeom>
          <a:noFill/>
          <a:ln w="38100">
            <a:solidFill>
              <a:srgbClr val="2BA6CB"/>
            </a:solidFill>
            <a:prstDash val="solid"/>
            <a:tailEnd type="triangle"/>
          </a:ln>
        </p:spPr>
      </p:sp>
      <p:sp>
        <p:nvSpPr>
          <p:cNvPr id="23" name="[p1] Forma"/>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4" name="[p1] Icono terminal"/>
          <p:cNvSpPr/>
          <p:nvPr/>
        </p:nvSpPr>
        <p:spPr>
          <a:xfrm>
            <a:off x="3532581" y="2505802"/>
            <a:ext cx="739973" cy="739973"/>
          </a:xfrm>
          <a:custGeom>
            <a:avLst/>
            <a:gdLst/>
            <a:ahLst/>
            <a:cxnLst/>
            <a:rect l="l" t="t" r="r" b="b"/>
            <a:pathLst>
              <a:path w="739973" h="739973">
                <a:moveTo>
                  <a:pt x="123329" y="524147"/>
                </a:moveTo>
                <a:lnTo>
                  <a:pt x="308322" y="339154"/>
                </a:lnTo>
                <a:lnTo>
                  <a:pt x="123329" y="154161"/>
                </a:lnTo>
                <a:moveTo>
                  <a:pt x="369986" y="585812"/>
                </a:moveTo>
                <a:lnTo>
                  <a:pt x="616644" y="585812"/>
                </a:lnTo>
              </a:path>
            </a:pathLst>
          </a:custGeom>
          <a:noFill/>
          <a:ln w="53956" cap="rnd">
            <a:solidFill>
              <a:srgbClr val="0B2350"/>
            </a:solidFill>
            <a:prstDash val="solid"/>
            <a:round/>
          </a:ln>
        </p:spPr>
      </p:sp>
      <p:sp>
        <p:nvSpPr>
          <p:cNvPr id="25" name="[p1] Forma"/>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kubectl apply</a:t>
            </a:r>
            <a:endParaRPr lang="en-US" sz="1800" dirty="0"/>
          </a:p>
        </p:txBody>
      </p:sp>
      <p:sp>
        <p:nvSpPr>
          <p:cNvPr id="27" name="[p1] Forma"/>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lo entrega al clúster.</a:t>
            </a:r>
            <a:endParaRPr lang="en-US" sz="1400" dirty="0"/>
          </a:p>
        </p:txBody>
      </p:sp>
      <p:sp>
        <p:nvSpPr>
          <p:cNvPr id="28" name="[p2] Forma"/>
          <p:cNvSpPr/>
          <p:nvPr/>
        </p:nvSpPr>
        <p:spPr>
          <a:xfrm>
            <a:off x="4679168" y="2875788"/>
            <a:ext cx="640080" cy="0"/>
          </a:xfrm>
          <a:prstGeom prst="line">
            <a:avLst/>
          </a:prstGeom>
          <a:noFill/>
          <a:ln w="38100">
            <a:solidFill>
              <a:srgbClr val="2BA6CB"/>
            </a:solidFill>
            <a:prstDash val="solid"/>
            <a:tailEnd type="triangle"/>
          </a:ln>
        </p:spPr>
      </p:sp>
      <p:sp>
        <p:nvSpPr>
          <p:cNvPr id="29" name="[p2] Forma"/>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0" name="[p2] Icono layers"/>
          <p:cNvSpPr/>
          <p:nvPr/>
        </p:nvSpPr>
        <p:spPr>
          <a:xfrm>
            <a:off x="5725861" y="2505802"/>
            <a:ext cx="739973" cy="739973"/>
          </a:xfrm>
          <a:custGeom>
            <a:avLst/>
            <a:gdLst/>
            <a:ahLst/>
            <a:cxnLst/>
            <a:rect l="l" t="t" r="r" b="b"/>
            <a:pathLst>
              <a:path w="739973" h="739973">
                <a:moveTo>
                  <a:pt x="395577" y="67214"/>
                </a:moveTo>
                <a:cubicBezTo>
                  <a:pt x="379322" y="59800"/>
                  <a:pt x="360651" y="59800"/>
                  <a:pt x="344396" y="67214"/>
                </a:cubicBezTo>
                <a:lnTo>
                  <a:pt x="80164" y="187460"/>
                </a:lnTo>
                <a:cubicBezTo>
                  <a:pt x="68985" y="192389"/>
                  <a:pt x="61771" y="203454"/>
                  <a:pt x="61771" y="215671"/>
                </a:cubicBezTo>
                <a:cubicBezTo>
                  <a:pt x="61771" y="227889"/>
                  <a:pt x="68985" y="238954"/>
                  <a:pt x="80164" y="243883"/>
                </a:cubicBezTo>
                <a:lnTo>
                  <a:pt x="344704" y="364437"/>
                </a:lnTo>
                <a:cubicBezTo>
                  <a:pt x="360959" y="371851"/>
                  <a:pt x="379630" y="371851"/>
                  <a:pt x="395885" y="364437"/>
                </a:cubicBezTo>
                <a:lnTo>
                  <a:pt x="660426" y="244191"/>
                </a:lnTo>
                <a:cubicBezTo>
                  <a:pt x="671605" y="239262"/>
                  <a:pt x="678818" y="228197"/>
                  <a:pt x="678818" y="215980"/>
                </a:cubicBezTo>
                <a:cubicBezTo>
                  <a:pt x="678818" y="203762"/>
                  <a:pt x="671605" y="192697"/>
                  <a:pt x="660426" y="187768"/>
                </a:cubicBezTo>
                <a:close/>
                <a:moveTo>
                  <a:pt x="61664" y="369986"/>
                </a:moveTo>
                <a:cubicBezTo>
                  <a:pt x="61635" y="382029"/>
                  <a:pt x="68618" y="392986"/>
                  <a:pt x="79547" y="398044"/>
                </a:cubicBezTo>
                <a:lnTo>
                  <a:pt x="344704" y="518598"/>
                </a:lnTo>
                <a:cubicBezTo>
                  <a:pt x="360872" y="525919"/>
                  <a:pt x="379410" y="525919"/>
                  <a:pt x="395577" y="518598"/>
                </a:cubicBezTo>
                <a:lnTo>
                  <a:pt x="660117" y="398352"/>
                </a:lnTo>
                <a:cubicBezTo>
                  <a:pt x="671269" y="393340"/>
                  <a:pt x="678405" y="382212"/>
                  <a:pt x="678308" y="369986"/>
                </a:cubicBezTo>
                <a:moveTo>
                  <a:pt x="61664" y="524147"/>
                </a:moveTo>
                <a:cubicBezTo>
                  <a:pt x="61635" y="536190"/>
                  <a:pt x="68618" y="547147"/>
                  <a:pt x="79547" y="552205"/>
                </a:cubicBezTo>
                <a:lnTo>
                  <a:pt x="344704" y="672759"/>
                </a:lnTo>
                <a:cubicBezTo>
                  <a:pt x="360872" y="680080"/>
                  <a:pt x="379410" y="680080"/>
                  <a:pt x="395577" y="672759"/>
                </a:cubicBezTo>
                <a:lnTo>
                  <a:pt x="660117" y="552513"/>
                </a:lnTo>
                <a:cubicBezTo>
                  <a:pt x="671269" y="547501"/>
                  <a:pt x="678405" y="536373"/>
                  <a:pt x="678308" y="524147"/>
                </a:cubicBezTo>
              </a:path>
            </a:pathLst>
          </a:custGeom>
          <a:noFill/>
          <a:ln w="53956" cap="rnd">
            <a:solidFill>
              <a:srgbClr val="0B6E8A"/>
            </a:solidFill>
            <a:prstDash val="solid"/>
            <a:round/>
          </a:ln>
        </p:spPr>
      </p:sp>
      <p:sp>
        <p:nvSpPr>
          <p:cNvPr id="31" name="[p2] Forma"/>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Deployment</a:t>
            </a:r>
            <a:endParaRPr lang="en-US" sz="1800" dirty="0"/>
          </a:p>
        </p:txBody>
      </p:sp>
      <p:sp>
        <p:nvSpPr>
          <p:cNvPr id="33" name="[p2] Forma"/>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Crea los Pods con la imagen.</a:t>
            </a:r>
            <a:endParaRPr lang="en-US" sz="1400" dirty="0"/>
          </a:p>
        </p:txBody>
      </p:sp>
      <p:sp>
        <p:nvSpPr>
          <p:cNvPr id="34" name="[p3] Forma"/>
          <p:cNvSpPr/>
          <p:nvPr/>
        </p:nvSpPr>
        <p:spPr>
          <a:xfrm>
            <a:off x="6872448" y="2875788"/>
            <a:ext cx="640080" cy="0"/>
          </a:xfrm>
          <a:prstGeom prst="line">
            <a:avLst/>
          </a:prstGeom>
          <a:noFill/>
          <a:ln w="38100">
            <a:solidFill>
              <a:srgbClr val="2BA6CB"/>
            </a:solidFill>
            <a:prstDash val="solid"/>
            <a:tailEnd type="triangle"/>
          </a:ln>
        </p:spPr>
      </p:sp>
      <p:sp>
        <p:nvSpPr>
          <p:cNvPr id="35" name="[p3] Forma"/>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6" name="[p3] Icono network"/>
          <p:cNvSpPr/>
          <p:nvPr/>
        </p:nvSpPr>
        <p:spPr>
          <a:xfrm>
            <a:off x="7919141" y="2505802"/>
            <a:ext cx="739973" cy="739973"/>
          </a:xfrm>
          <a:custGeom>
            <a:avLst/>
            <a:gdLst/>
            <a:ahLst/>
            <a:cxnLst/>
            <a:rect l="l" t="t" r="r" b="b"/>
            <a:pathLst>
              <a:path w="739973" h="739973">
                <a:moveTo>
                  <a:pt x="524147" y="493315"/>
                </a:moveTo>
                <a:lnTo>
                  <a:pt x="647476" y="493315"/>
                </a:lnTo>
                <a:cubicBezTo>
                  <a:pt x="664504" y="493315"/>
                  <a:pt x="678308" y="507119"/>
                  <a:pt x="678308" y="524147"/>
                </a:cubicBezTo>
                <a:lnTo>
                  <a:pt x="678308" y="647476"/>
                </a:lnTo>
                <a:cubicBezTo>
                  <a:pt x="678308" y="664504"/>
                  <a:pt x="664504" y="678308"/>
                  <a:pt x="647476" y="678308"/>
                </a:cubicBezTo>
                <a:lnTo>
                  <a:pt x="524147" y="678308"/>
                </a:lnTo>
                <a:cubicBezTo>
                  <a:pt x="507119" y="678308"/>
                  <a:pt x="493315" y="664504"/>
                  <a:pt x="493315" y="647476"/>
                </a:cubicBezTo>
                <a:lnTo>
                  <a:pt x="493315" y="524147"/>
                </a:lnTo>
                <a:cubicBezTo>
                  <a:pt x="493315" y="507119"/>
                  <a:pt x="507119" y="493315"/>
                  <a:pt x="524147" y="493315"/>
                </a:cubicBezTo>
                <a:close/>
                <a:moveTo>
                  <a:pt x="92497" y="493315"/>
                </a:moveTo>
                <a:lnTo>
                  <a:pt x="215825" y="493315"/>
                </a:lnTo>
                <a:cubicBezTo>
                  <a:pt x="232854" y="493315"/>
                  <a:pt x="246658" y="507119"/>
                  <a:pt x="246658" y="524147"/>
                </a:cubicBezTo>
                <a:lnTo>
                  <a:pt x="246658" y="647476"/>
                </a:lnTo>
                <a:cubicBezTo>
                  <a:pt x="246658" y="664504"/>
                  <a:pt x="232854" y="678308"/>
                  <a:pt x="215825" y="678308"/>
                </a:cubicBezTo>
                <a:lnTo>
                  <a:pt x="92497" y="678308"/>
                </a:lnTo>
                <a:cubicBezTo>
                  <a:pt x="75468" y="678308"/>
                  <a:pt x="61664" y="664504"/>
                  <a:pt x="61664" y="647476"/>
                </a:cubicBezTo>
                <a:lnTo>
                  <a:pt x="61664" y="524147"/>
                </a:lnTo>
                <a:cubicBezTo>
                  <a:pt x="61664" y="507119"/>
                  <a:pt x="75468" y="493315"/>
                  <a:pt x="92497" y="493315"/>
                </a:cubicBezTo>
                <a:close/>
                <a:moveTo>
                  <a:pt x="308322" y="61664"/>
                </a:moveTo>
                <a:lnTo>
                  <a:pt x="431651" y="61664"/>
                </a:lnTo>
                <a:cubicBezTo>
                  <a:pt x="448679" y="61664"/>
                  <a:pt x="462483" y="75468"/>
                  <a:pt x="462483" y="92497"/>
                </a:cubicBezTo>
                <a:lnTo>
                  <a:pt x="462483" y="215825"/>
                </a:lnTo>
                <a:cubicBezTo>
                  <a:pt x="462483" y="232854"/>
                  <a:pt x="448679" y="246658"/>
                  <a:pt x="431651" y="246658"/>
                </a:cubicBezTo>
                <a:lnTo>
                  <a:pt x="308322" y="246658"/>
                </a:lnTo>
                <a:cubicBezTo>
                  <a:pt x="291294" y="246658"/>
                  <a:pt x="277490" y="232854"/>
                  <a:pt x="277490" y="215825"/>
                </a:cubicBezTo>
                <a:lnTo>
                  <a:pt x="277490" y="92497"/>
                </a:lnTo>
                <a:cubicBezTo>
                  <a:pt x="277490" y="75468"/>
                  <a:pt x="291294" y="61664"/>
                  <a:pt x="308322" y="61664"/>
                </a:cubicBezTo>
                <a:close/>
                <a:moveTo>
                  <a:pt x="154161" y="493315"/>
                </a:moveTo>
                <a:lnTo>
                  <a:pt x="154161" y="400819"/>
                </a:lnTo>
                <a:cubicBezTo>
                  <a:pt x="154161" y="383790"/>
                  <a:pt x="167965" y="369986"/>
                  <a:pt x="184993" y="369986"/>
                </a:cubicBezTo>
                <a:lnTo>
                  <a:pt x="554980" y="369986"/>
                </a:lnTo>
                <a:cubicBezTo>
                  <a:pt x="572008" y="369986"/>
                  <a:pt x="585812" y="383790"/>
                  <a:pt x="585812" y="400819"/>
                </a:cubicBezTo>
                <a:lnTo>
                  <a:pt x="585812" y="493315"/>
                </a:lnTo>
                <a:moveTo>
                  <a:pt x="369986" y="369986"/>
                </a:moveTo>
                <a:lnTo>
                  <a:pt x="369986" y="246658"/>
                </a:lnTo>
              </a:path>
            </a:pathLst>
          </a:custGeom>
          <a:noFill/>
          <a:ln w="53956" cap="rnd">
            <a:solidFill>
              <a:srgbClr val="0B6E8A"/>
            </a:solidFill>
            <a:prstDash val="solid"/>
            <a:round/>
          </a:ln>
        </p:spPr>
      </p:sp>
      <p:sp>
        <p:nvSpPr>
          <p:cNvPr id="37" name="[p3] Forma"/>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Service</a:t>
            </a:r>
            <a:endParaRPr lang="en-US" sz="1800" dirty="0"/>
          </a:p>
        </p:txBody>
      </p:sp>
      <p:sp>
        <p:nvSpPr>
          <p:cNvPr id="39" name="[p3] Forma"/>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 nombre fijo para encontrarlos.</a:t>
            </a:r>
            <a:endParaRPr lang="en-US" sz="1400" dirty="0"/>
          </a:p>
        </p:txBody>
      </p:sp>
      <p:sp>
        <p:nvSpPr>
          <p:cNvPr id="40" name="[p4] Forma"/>
          <p:cNvSpPr/>
          <p:nvPr/>
        </p:nvSpPr>
        <p:spPr>
          <a:xfrm>
            <a:off x="9065727" y="2875788"/>
            <a:ext cx="640080" cy="0"/>
          </a:xfrm>
          <a:prstGeom prst="line">
            <a:avLst/>
          </a:prstGeom>
          <a:noFill/>
          <a:ln w="38100">
            <a:solidFill>
              <a:srgbClr val="2BA6CB"/>
            </a:solidFill>
            <a:prstDash val="solid"/>
            <a:tailEnd type="triangle"/>
          </a:ln>
        </p:spPr>
      </p:sp>
      <p:sp>
        <p:nvSpPr>
          <p:cNvPr id="41" name="[p4] Forma"/>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2" name="[p4] Icono refresh-cw"/>
          <p:cNvSpPr/>
          <p:nvPr/>
        </p:nvSpPr>
        <p:spPr>
          <a:xfrm>
            <a:off x="10112421" y="2505802"/>
            <a:ext cx="739973" cy="739973"/>
          </a:xfrm>
          <a:custGeom>
            <a:avLst/>
            <a:gdLst/>
            <a:ahLst/>
            <a:cxnLst/>
            <a:rect l="l" t="t" r="r" b="b"/>
            <a:pathLst>
              <a:path w="739973" h="739973">
                <a:moveTo>
                  <a:pt x="92497" y="369986"/>
                </a:moveTo>
                <a:cubicBezTo>
                  <a:pt x="92497" y="216733"/>
                  <a:pt x="216733" y="92497"/>
                  <a:pt x="369986" y="92497"/>
                </a:cubicBezTo>
                <a:cubicBezTo>
                  <a:pt x="447562" y="92788"/>
                  <a:pt x="522021" y="123058"/>
                  <a:pt x="577795" y="176977"/>
                </a:cubicBezTo>
                <a:lnTo>
                  <a:pt x="647476" y="246658"/>
                </a:lnTo>
                <a:moveTo>
                  <a:pt x="647476" y="92497"/>
                </a:moveTo>
                <a:lnTo>
                  <a:pt x="647476" y="246658"/>
                </a:lnTo>
                <a:lnTo>
                  <a:pt x="493315" y="246658"/>
                </a:lnTo>
                <a:moveTo>
                  <a:pt x="647476" y="369986"/>
                </a:moveTo>
                <a:cubicBezTo>
                  <a:pt x="647476" y="523240"/>
                  <a:pt x="523240" y="647476"/>
                  <a:pt x="369986" y="647476"/>
                </a:cubicBezTo>
                <a:cubicBezTo>
                  <a:pt x="292411" y="647184"/>
                  <a:pt x="217952" y="616915"/>
                  <a:pt x="162177" y="562996"/>
                </a:cubicBezTo>
                <a:lnTo>
                  <a:pt x="92497" y="493315"/>
                </a:lnTo>
                <a:moveTo>
                  <a:pt x="246658" y="493315"/>
                </a:moveTo>
                <a:lnTo>
                  <a:pt x="92497" y="493315"/>
                </a:lnTo>
                <a:lnTo>
                  <a:pt x="92497" y="647476"/>
                </a:lnTo>
              </a:path>
            </a:pathLst>
          </a:custGeom>
          <a:noFill/>
          <a:ln w="53956" cap="rnd">
            <a:solidFill>
              <a:srgbClr val="0A6648"/>
            </a:solidFill>
            <a:prstDash val="solid"/>
            <a:round/>
          </a:ln>
        </p:spPr>
      </p:sp>
      <p:sp>
        <p:nvSpPr>
          <p:cNvPr id="43" name="[p4] Forma"/>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4" name="[p4] Forma"/>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750" b="1" dirty="0">
                <a:solidFill>
                  <a:srgbClr val="0B1A3C"/>
                </a:solidFill>
                <a:latin typeface="Segoe UI Semibold" pitchFamily="34" charset="0"/>
                <a:ea typeface="Segoe UI Semibold" pitchFamily="34" charset="-122"/>
                <a:cs typeface="Segoe UI Semibold" pitchFamily="34" charset="-120"/>
              </a:rPr>
              <a:t>Ciclo de control</a:t>
            </a:r>
            <a:endParaRPr lang="en-US" sz="1750" dirty="0"/>
          </a:p>
        </p:txBody>
      </p:sp>
      <p:sp>
        <p:nvSpPr>
          <p:cNvPr id="45" name="[p4] Forma"/>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Compara lo que hay con lo pedido y corrige.</a:t>
            </a:r>
            <a:endParaRPr lang="en-US" sz="14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Los recursos de Kubernetes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Describimos el estado que queremos; Kubernetes lo mantiene.</a:t>
            </a:r>
            <a:endParaRPr lang="en-US" sz="1700" dirty="0"/>
          </a:p>
        </p:txBody>
      </p:sp>
      <p:sp>
        <p:nvSpPr>
          <p:cNvPr id="13" name="Shape 11"/>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4" name="Text 12"/>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ACCESO</a:t>
            </a:r>
            <a:endParaRPr lang="en-US" sz="1300" dirty="0"/>
          </a:p>
        </p:txBody>
      </p:sp>
      <p:sp>
        <p:nvSpPr>
          <p:cNvPr id="15" name="Shape 13"/>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2542032" y="1939671"/>
            <a:ext cx="566928" cy="566928"/>
          </a:xfrm>
          <a:prstGeom prst="ellipse">
            <a:avLst/>
          </a:prstGeom>
          <a:solidFill>
            <a:srgbClr val="F1EEFD"/>
          </a:solidFill>
          <a:ln w="12700">
            <a:solidFill>
              <a:srgbClr val="F1EEFD"/>
            </a:solidFill>
            <a:prstDash val="solid"/>
          </a:ln>
        </p:spPr>
      </p:sp>
      <p:sp>
        <p:nvSpPr>
          <p:cNvPr id="17" name="Icono network"/>
          <p:cNvSpPr/>
          <p:nvPr/>
        </p:nvSpPr>
        <p:spPr>
          <a:xfrm>
            <a:off x="2678095" y="2075734"/>
            <a:ext cx="294803" cy="294803"/>
          </a:xfrm>
          <a:custGeom>
            <a:avLst/>
            <a:gdLst/>
            <a:ahLst/>
            <a:cxnLst/>
            <a:rect l="l" t="t" r="r" b="b"/>
            <a:pathLst>
              <a:path w="294803" h="294803">
                <a:moveTo>
                  <a:pt x="208818" y="196535"/>
                </a:moveTo>
                <a:lnTo>
                  <a:pt x="257952" y="196535"/>
                </a:lnTo>
                <a:cubicBezTo>
                  <a:pt x="264736" y="196535"/>
                  <a:pt x="270236" y="202035"/>
                  <a:pt x="270236" y="208818"/>
                </a:cubicBezTo>
                <a:lnTo>
                  <a:pt x="270236" y="257952"/>
                </a:lnTo>
                <a:cubicBezTo>
                  <a:pt x="270236" y="264736"/>
                  <a:pt x="264736" y="270236"/>
                  <a:pt x="257952" y="270236"/>
                </a:cubicBezTo>
                <a:lnTo>
                  <a:pt x="208818" y="270236"/>
                </a:lnTo>
                <a:cubicBezTo>
                  <a:pt x="202035" y="270236"/>
                  <a:pt x="196535" y="264736"/>
                  <a:pt x="196535" y="257952"/>
                </a:cubicBezTo>
                <a:lnTo>
                  <a:pt x="196535" y="208818"/>
                </a:lnTo>
                <a:cubicBezTo>
                  <a:pt x="196535" y="202035"/>
                  <a:pt x="202035" y="196535"/>
                  <a:pt x="208818" y="196535"/>
                </a:cubicBezTo>
                <a:close/>
                <a:moveTo>
                  <a:pt x="36850" y="196535"/>
                </a:moveTo>
                <a:lnTo>
                  <a:pt x="85984" y="196535"/>
                </a:lnTo>
                <a:cubicBezTo>
                  <a:pt x="92768" y="196535"/>
                  <a:pt x="98268" y="202035"/>
                  <a:pt x="98268" y="208818"/>
                </a:cubicBezTo>
                <a:lnTo>
                  <a:pt x="98268" y="257952"/>
                </a:lnTo>
                <a:cubicBezTo>
                  <a:pt x="98268" y="264736"/>
                  <a:pt x="92768" y="270236"/>
                  <a:pt x="85984" y="270236"/>
                </a:cubicBezTo>
                <a:lnTo>
                  <a:pt x="36850" y="270236"/>
                </a:lnTo>
                <a:cubicBezTo>
                  <a:pt x="30066" y="270236"/>
                  <a:pt x="24567" y="264736"/>
                  <a:pt x="24567" y="257952"/>
                </a:cubicBezTo>
                <a:lnTo>
                  <a:pt x="24567" y="208818"/>
                </a:lnTo>
                <a:cubicBezTo>
                  <a:pt x="24567" y="202035"/>
                  <a:pt x="30066" y="196535"/>
                  <a:pt x="36850" y="196535"/>
                </a:cubicBezTo>
                <a:close/>
                <a:moveTo>
                  <a:pt x="122834" y="24567"/>
                </a:moveTo>
                <a:lnTo>
                  <a:pt x="171968" y="24567"/>
                </a:lnTo>
                <a:cubicBezTo>
                  <a:pt x="178752" y="24567"/>
                  <a:pt x="184252" y="30066"/>
                  <a:pt x="184252" y="36850"/>
                </a:cubicBezTo>
                <a:lnTo>
                  <a:pt x="184252" y="85984"/>
                </a:lnTo>
                <a:cubicBezTo>
                  <a:pt x="184252" y="92768"/>
                  <a:pt x="178752" y="98268"/>
                  <a:pt x="171968" y="98268"/>
                </a:cubicBezTo>
                <a:lnTo>
                  <a:pt x="122834" y="98268"/>
                </a:lnTo>
                <a:cubicBezTo>
                  <a:pt x="116050" y="98268"/>
                  <a:pt x="110551" y="92768"/>
                  <a:pt x="110551" y="85984"/>
                </a:cubicBezTo>
                <a:lnTo>
                  <a:pt x="110551" y="36850"/>
                </a:lnTo>
                <a:cubicBezTo>
                  <a:pt x="110551" y="30066"/>
                  <a:pt x="116050" y="24567"/>
                  <a:pt x="122834" y="24567"/>
                </a:cubicBezTo>
                <a:close/>
                <a:moveTo>
                  <a:pt x="61417" y="196535"/>
                </a:moveTo>
                <a:lnTo>
                  <a:pt x="61417" y="159685"/>
                </a:lnTo>
                <a:cubicBezTo>
                  <a:pt x="61417" y="152901"/>
                  <a:pt x="66917" y="147401"/>
                  <a:pt x="73701" y="147401"/>
                </a:cubicBezTo>
                <a:lnTo>
                  <a:pt x="221102" y="147401"/>
                </a:lnTo>
                <a:cubicBezTo>
                  <a:pt x="227886" y="147401"/>
                  <a:pt x="233385" y="152901"/>
                  <a:pt x="233385" y="159685"/>
                </a:cubicBezTo>
                <a:lnTo>
                  <a:pt x="233385" y="196535"/>
                </a:lnTo>
                <a:moveTo>
                  <a:pt x="147401" y="147401"/>
                </a:moveTo>
                <a:lnTo>
                  <a:pt x="147401" y="98268"/>
                </a:lnTo>
              </a:path>
            </a:pathLst>
          </a:custGeom>
          <a:noFill/>
          <a:ln w="24567" cap="rnd">
            <a:solidFill>
              <a:srgbClr val="5B3FC4"/>
            </a:solidFill>
            <a:prstDash val="solid"/>
            <a:round/>
          </a:ln>
        </p:spPr>
      </p:sp>
      <p:sp>
        <p:nvSpPr>
          <p:cNvPr id="18" name="Text 16"/>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Service</a:t>
            </a:r>
            <a:endParaRPr lang="en-US" sz="1500" dirty="0"/>
          </a:p>
        </p:txBody>
      </p:sp>
      <p:sp>
        <p:nvSpPr>
          <p:cNvPr id="19" name="Text 17"/>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nombre fijo por componente</a:t>
            </a:r>
            <a:endParaRPr lang="en-US" sz="1200" dirty="0"/>
          </a:p>
        </p:txBody>
      </p:sp>
      <p:sp>
        <p:nvSpPr>
          <p:cNvPr id="20" name="Shape 18"/>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7147408" y="1939671"/>
            <a:ext cx="566928" cy="566928"/>
          </a:xfrm>
          <a:prstGeom prst="ellipse">
            <a:avLst/>
          </a:prstGeom>
          <a:solidFill>
            <a:srgbClr val="F1EEFD"/>
          </a:solidFill>
          <a:ln w="12700">
            <a:solidFill>
              <a:srgbClr val="F1EEFD"/>
            </a:solidFill>
            <a:prstDash val="solid"/>
          </a:ln>
        </p:spPr>
      </p:sp>
      <p:sp>
        <p:nvSpPr>
          <p:cNvPr id="22" name="Icono route"/>
          <p:cNvSpPr/>
          <p:nvPr/>
        </p:nvSpPr>
        <p:spPr>
          <a:xfrm>
            <a:off x="7283470" y="2075734"/>
            <a:ext cx="294803" cy="294803"/>
          </a:xfrm>
          <a:custGeom>
            <a:avLst/>
            <a:gdLst/>
            <a:ahLst/>
            <a:cxnLst/>
            <a:rect l="l" t="t" r="r" b="b"/>
            <a:pathLst>
              <a:path w="294803" h="294803">
                <a:moveTo>
                  <a:pt x="110551" y="233385"/>
                </a:moveTo>
                <a:cubicBezTo>
                  <a:pt x="110551" y="253737"/>
                  <a:pt x="94053" y="270236"/>
                  <a:pt x="73701" y="270236"/>
                </a:cubicBezTo>
                <a:cubicBezTo>
                  <a:pt x="53349" y="270236"/>
                  <a:pt x="36850" y="253737"/>
                  <a:pt x="36850" y="233385"/>
                </a:cubicBezTo>
                <a:cubicBezTo>
                  <a:pt x="36850" y="213033"/>
                  <a:pt x="53349" y="196535"/>
                  <a:pt x="73701" y="196535"/>
                </a:cubicBezTo>
                <a:cubicBezTo>
                  <a:pt x="94053" y="196535"/>
                  <a:pt x="110551" y="213033"/>
                  <a:pt x="110551" y="233385"/>
                </a:cubicBezTo>
                <a:close/>
                <a:moveTo>
                  <a:pt x="110551" y="233385"/>
                </a:moveTo>
                <a:lnTo>
                  <a:pt x="214960" y="233385"/>
                </a:lnTo>
                <a:cubicBezTo>
                  <a:pt x="238704" y="233385"/>
                  <a:pt x="257952" y="214137"/>
                  <a:pt x="257952" y="190393"/>
                </a:cubicBezTo>
                <a:cubicBezTo>
                  <a:pt x="257952" y="166649"/>
                  <a:pt x="238704" y="147401"/>
                  <a:pt x="214960" y="147401"/>
                </a:cubicBezTo>
                <a:lnTo>
                  <a:pt x="79842" y="147401"/>
                </a:lnTo>
                <a:cubicBezTo>
                  <a:pt x="56099" y="147401"/>
                  <a:pt x="36850" y="128153"/>
                  <a:pt x="36850" y="104409"/>
                </a:cubicBezTo>
                <a:cubicBezTo>
                  <a:pt x="36850" y="80665"/>
                  <a:pt x="56099" y="61417"/>
                  <a:pt x="79842" y="61417"/>
                </a:cubicBezTo>
                <a:lnTo>
                  <a:pt x="184252" y="61417"/>
                </a:lnTo>
                <a:moveTo>
                  <a:pt x="257952" y="61417"/>
                </a:moveTo>
                <a:cubicBezTo>
                  <a:pt x="257952" y="81769"/>
                  <a:pt x="241454" y="98268"/>
                  <a:pt x="221102" y="98268"/>
                </a:cubicBezTo>
                <a:cubicBezTo>
                  <a:pt x="200750" y="98268"/>
                  <a:pt x="184252" y="81769"/>
                  <a:pt x="184252" y="61417"/>
                </a:cubicBezTo>
                <a:cubicBezTo>
                  <a:pt x="184252" y="41065"/>
                  <a:pt x="200750" y="24567"/>
                  <a:pt x="221102" y="24567"/>
                </a:cubicBezTo>
                <a:cubicBezTo>
                  <a:pt x="241454" y="24567"/>
                  <a:pt x="257952" y="41065"/>
                  <a:pt x="257952" y="61417"/>
                </a:cubicBezTo>
                <a:close/>
              </a:path>
            </a:pathLst>
          </a:custGeom>
          <a:noFill/>
          <a:ln w="24567" cap="rnd">
            <a:solidFill>
              <a:srgbClr val="5B3FC4"/>
            </a:solidFill>
            <a:prstDash val="solid"/>
            <a:round/>
          </a:ln>
        </p:spPr>
      </p:sp>
      <p:sp>
        <p:nvSpPr>
          <p:cNvPr id="23" name="Text 21"/>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port-forward</a:t>
            </a:r>
            <a:endParaRPr lang="en-US" sz="1500" dirty="0"/>
          </a:p>
        </p:txBody>
      </p:sp>
      <p:sp>
        <p:nvSpPr>
          <p:cNvPr id="24" name="Text 22"/>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UI en localhost:8088</a:t>
            </a:r>
            <a:endParaRPr lang="en-US" sz="1200" dirty="0"/>
          </a:p>
        </p:txBody>
      </p:sp>
      <p:sp>
        <p:nvSpPr>
          <p:cNvPr id="25" name="[p1] Forma"/>
          <p:cNvSpPr/>
          <p:nvPr/>
        </p:nvSpPr>
        <p:spPr>
          <a:xfrm>
            <a:off x="1412748" y="2708910"/>
            <a:ext cx="0" cy="237744"/>
          </a:xfrm>
          <a:prstGeom prst="line">
            <a:avLst/>
          </a:prstGeom>
          <a:noFill/>
          <a:ln w="31750">
            <a:solidFill>
              <a:srgbClr val="0B2350"/>
            </a:solidFill>
            <a:prstDash val="solid"/>
            <a:tailEnd type="triangle"/>
          </a:ln>
        </p:spPr>
      </p:sp>
      <p:sp>
        <p:nvSpPr>
          <p:cNvPr id="26" name="[p1] Forma"/>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7" name="[p1] Forma"/>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CÓMPUTO</a:t>
            </a:r>
            <a:endParaRPr lang="en-US" sz="1300" dirty="0"/>
          </a:p>
        </p:txBody>
      </p:sp>
      <p:sp>
        <p:nvSpPr>
          <p:cNvPr id="28" name="[p1] Forma"/>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9" name="[p1] Forma"/>
          <p:cNvSpPr/>
          <p:nvPr/>
        </p:nvSpPr>
        <p:spPr>
          <a:xfrm>
            <a:off x="2542032" y="3148965"/>
            <a:ext cx="566928" cy="566928"/>
          </a:xfrm>
          <a:prstGeom prst="ellipse">
            <a:avLst/>
          </a:prstGeom>
          <a:solidFill>
            <a:srgbClr val="E8EEF8"/>
          </a:solidFill>
          <a:ln w="12700">
            <a:solidFill>
              <a:srgbClr val="E8EEF8"/>
            </a:solidFill>
            <a:prstDash val="solid"/>
          </a:ln>
        </p:spPr>
      </p:sp>
      <p:sp>
        <p:nvSpPr>
          <p:cNvPr id="30" name="[p1] Icono layers"/>
          <p:cNvSpPr/>
          <p:nvPr/>
        </p:nvSpPr>
        <p:spPr>
          <a:xfrm>
            <a:off x="2678095" y="3285028"/>
            <a:ext cx="294803" cy="294803"/>
          </a:xfrm>
          <a:custGeom>
            <a:avLst/>
            <a:gdLst/>
            <a:ahLst/>
            <a:cxnLst/>
            <a:rect l="l" t="t" r="r" b="b"/>
            <a:pathLst>
              <a:path w="294803" h="294803">
                <a:moveTo>
                  <a:pt x="157597" y="26778"/>
                </a:moveTo>
                <a:cubicBezTo>
                  <a:pt x="151121" y="23824"/>
                  <a:pt x="143682" y="23824"/>
                  <a:pt x="137206" y="26778"/>
                </a:cubicBezTo>
                <a:lnTo>
                  <a:pt x="31937" y="74683"/>
                </a:lnTo>
                <a:cubicBezTo>
                  <a:pt x="27483" y="76647"/>
                  <a:pt x="24609" y="81055"/>
                  <a:pt x="24609" y="85923"/>
                </a:cubicBezTo>
                <a:cubicBezTo>
                  <a:pt x="24609" y="90790"/>
                  <a:pt x="27483" y="95198"/>
                  <a:pt x="31937" y="97162"/>
                </a:cubicBezTo>
                <a:lnTo>
                  <a:pt x="137329" y="145190"/>
                </a:lnTo>
                <a:cubicBezTo>
                  <a:pt x="143805" y="148144"/>
                  <a:pt x="151243" y="148144"/>
                  <a:pt x="157719" y="145190"/>
                </a:cubicBezTo>
                <a:lnTo>
                  <a:pt x="263111" y="97285"/>
                </a:lnTo>
                <a:cubicBezTo>
                  <a:pt x="267565" y="95321"/>
                  <a:pt x="270439" y="90913"/>
                  <a:pt x="270439" y="86045"/>
                </a:cubicBezTo>
                <a:cubicBezTo>
                  <a:pt x="270439" y="81178"/>
                  <a:pt x="267565" y="76770"/>
                  <a:pt x="263111" y="74806"/>
                </a:cubicBezTo>
                <a:close/>
                <a:moveTo>
                  <a:pt x="24567" y="147401"/>
                </a:moveTo>
                <a:cubicBezTo>
                  <a:pt x="24555" y="152199"/>
                  <a:pt x="27337" y="156564"/>
                  <a:pt x="31691" y="158579"/>
                </a:cubicBezTo>
                <a:lnTo>
                  <a:pt x="137329" y="206607"/>
                </a:lnTo>
                <a:cubicBezTo>
                  <a:pt x="143770" y="209524"/>
                  <a:pt x="151155" y="209524"/>
                  <a:pt x="157597" y="206607"/>
                </a:cubicBezTo>
                <a:lnTo>
                  <a:pt x="262988" y="158702"/>
                </a:lnTo>
                <a:cubicBezTo>
                  <a:pt x="267431" y="156705"/>
                  <a:pt x="270274" y="152272"/>
                  <a:pt x="270236" y="147401"/>
                </a:cubicBezTo>
                <a:moveTo>
                  <a:pt x="24567" y="208818"/>
                </a:moveTo>
                <a:cubicBezTo>
                  <a:pt x="24555" y="213616"/>
                  <a:pt x="27337" y="217981"/>
                  <a:pt x="31691" y="219996"/>
                </a:cubicBezTo>
                <a:lnTo>
                  <a:pt x="137329" y="268025"/>
                </a:lnTo>
                <a:cubicBezTo>
                  <a:pt x="143770" y="270941"/>
                  <a:pt x="151155" y="270941"/>
                  <a:pt x="157597" y="268025"/>
                </a:cubicBezTo>
                <a:lnTo>
                  <a:pt x="262988" y="220119"/>
                </a:lnTo>
                <a:cubicBezTo>
                  <a:pt x="267431" y="218122"/>
                  <a:pt x="270274" y="213689"/>
                  <a:pt x="270236" y="208818"/>
                </a:cubicBezTo>
              </a:path>
            </a:pathLst>
          </a:custGeom>
          <a:noFill/>
          <a:ln w="24567" cap="rnd">
            <a:solidFill>
              <a:srgbClr val="0B2350"/>
            </a:solidFill>
            <a:prstDash val="solid"/>
            <a:round/>
          </a:ln>
        </p:spPr>
      </p:sp>
      <p:sp>
        <p:nvSpPr>
          <p:cNvPr id="31" name="[p1] Forma"/>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5 Deployments</a:t>
            </a:r>
            <a:endParaRPr lang="en-US" sz="1500" dirty="0"/>
          </a:p>
        </p:txBody>
      </p:sp>
      <p:sp>
        <p:nvSpPr>
          <p:cNvPr id="32" name="[p1] Forma"/>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UI, 2 servicios y 2 bases</a:t>
            </a:r>
            <a:endParaRPr lang="en-US" sz="1150" dirty="0"/>
          </a:p>
        </p:txBody>
      </p:sp>
      <p:sp>
        <p:nvSpPr>
          <p:cNvPr id="33" name="[p1] Forma"/>
          <p:cNvSpPr/>
          <p:nvPr/>
        </p:nvSpPr>
        <p:spPr>
          <a:xfrm>
            <a:off x="546597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4" name="[p1] Forma"/>
          <p:cNvSpPr/>
          <p:nvPr/>
        </p:nvSpPr>
        <p:spPr>
          <a:xfrm>
            <a:off x="5612282" y="3148965"/>
            <a:ext cx="566928" cy="566928"/>
          </a:xfrm>
          <a:prstGeom prst="ellipse">
            <a:avLst/>
          </a:prstGeom>
          <a:solidFill>
            <a:srgbClr val="E8EEF8"/>
          </a:solidFill>
          <a:ln w="12700">
            <a:solidFill>
              <a:srgbClr val="E8EEF8"/>
            </a:solidFill>
            <a:prstDash val="solid"/>
          </a:ln>
        </p:spPr>
      </p:sp>
      <p:sp>
        <p:nvSpPr>
          <p:cNvPr id="35" name="[p1] Icono hourglass"/>
          <p:cNvSpPr/>
          <p:nvPr/>
        </p:nvSpPr>
        <p:spPr>
          <a:xfrm>
            <a:off x="5748345" y="3285028"/>
            <a:ext cx="294803" cy="294803"/>
          </a:xfrm>
          <a:custGeom>
            <a:avLst/>
            <a:gdLst/>
            <a:ahLst/>
            <a:cxnLst/>
            <a:rect l="l" t="t" r="r" b="b"/>
            <a:pathLst>
              <a:path w="294803" h="294803">
                <a:moveTo>
                  <a:pt x="61417" y="270236"/>
                </a:moveTo>
                <a:lnTo>
                  <a:pt x="233385" y="270236"/>
                </a:lnTo>
                <a:moveTo>
                  <a:pt x="61417" y="24567"/>
                </a:moveTo>
                <a:lnTo>
                  <a:pt x="233385" y="24567"/>
                </a:lnTo>
                <a:moveTo>
                  <a:pt x="208818" y="270236"/>
                </a:moveTo>
                <a:lnTo>
                  <a:pt x="208818" y="218989"/>
                </a:lnTo>
                <a:cubicBezTo>
                  <a:pt x="208817" y="212474"/>
                  <a:pt x="206228" y="206226"/>
                  <a:pt x="201620" y="201620"/>
                </a:cubicBezTo>
                <a:lnTo>
                  <a:pt x="147401" y="147401"/>
                </a:lnTo>
                <a:lnTo>
                  <a:pt x="93182" y="201620"/>
                </a:lnTo>
                <a:cubicBezTo>
                  <a:pt x="88575" y="206226"/>
                  <a:pt x="85985" y="212474"/>
                  <a:pt x="85984" y="218989"/>
                </a:cubicBezTo>
                <a:lnTo>
                  <a:pt x="85984" y="270236"/>
                </a:lnTo>
                <a:moveTo>
                  <a:pt x="85984" y="24567"/>
                </a:moveTo>
                <a:lnTo>
                  <a:pt x="85984" y="75813"/>
                </a:lnTo>
                <a:cubicBezTo>
                  <a:pt x="85985" y="82328"/>
                  <a:pt x="88575" y="88576"/>
                  <a:pt x="93182" y="93182"/>
                </a:cubicBezTo>
                <a:lnTo>
                  <a:pt x="147401" y="147401"/>
                </a:lnTo>
                <a:lnTo>
                  <a:pt x="201620" y="93182"/>
                </a:lnTo>
                <a:cubicBezTo>
                  <a:pt x="206228" y="88576"/>
                  <a:pt x="208817" y="82328"/>
                  <a:pt x="208818" y="75813"/>
                </a:cubicBezTo>
                <a:lnTo>
                  <a:pt x="208818" y="24567"/>
                </a:lnTo>
              </a:path>
            </a:pathLst>
          </a:custGeom>
          <a:noFill/>
          <a:ln w="24567" cap="rnd">
            <a:solidFill>
              <a:srgbClr val="0B2350"/>
            </a:solidFill>
            <a:prstDash val="solid"/>
            <a:round/>
          </a:ln>
        </p:spPr>
      </p:sp>
      <p:sp>
        <p:nvSpPr>
          <p:cNvPr id="36" name="[p1] Forma"/>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initContainers</a:t>
            </a:r>
            <a:endParaRPr lang="en-US" sz="1500" dirty="0"/>
          </a:p>
        </p:txBody>
      </p:sp>
      <p:sp>
        <p:nvSpPr>
          <p:cNvPr id="37" name="[p1] Forma"/>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Esperan a la base y al otro servicio</a:t>
            </a:r>
            <a:endParaRPr lang="en-US" sz="1000" dirty="0"/>
          </a:p>
        </p:txBody>
      </p:sp>
      <p:sp>
        <p:nvSpPr>
          <p:cNvPr id="38" name="[p1] Forma"/>
          <p:cNvSpPr/>
          <p:nvPr/>
        </p:nvSpPr>
        <p:spPr>
          <a:xfrm>
            <a:off x="8536229" y="3019806"/>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39" name="[p1] Forma"/>
          <p:cNvSpPr/>
          <p:nvPr/>
        </p:nvSpPr>
        <p:spPr>
          <a:xfrm>
            <a:off x="8682533" y="3148965"/>
            <a:ext cx="566928" cy="566928"/>
          </a:xfrm>
          <a:prstGeom prst="ellipse">
            <a:avLst/>
          </a:prstGeom>
          <a:solidFill>
            <a:srgbClr val="E1F1EA"/>
          </a:solidFill>
          <a:ln w="12700">
            <a:solidFill>
              <a:srgbClr val="E1F1EA"/>
            </a:solidFill>
            <a:prstDash val="solid"/>
          </a:ln>
        </p:spPr>
      </p:sp>
      <p:sp>
        <p:nvSpPr>
          <p:cNvPr id="40" name="[p1] Icono heart-pulse"/>
          <p:cNvSpPr/>
          <p:nvPr/>
        </p:nvSpPr>
        <p:spPr>
          <a:xfrm>
            <a:off x="8818596" y="3285028"/>
            <a:ext cx="294803" cy="294803"/>
          </a:xfrm>
          <a:custGeom>
            <a:avLst/>
            <a:gdLst/>
            <a:ahLst/>
            <a:cxnLst/>
            <a:rect l="l" t="t" r="r" b="b"/>
            <a:pathLst>
              <a:path w="294803" h="294803">
                <a:moveTo>
                  <a:pt x="233385" y="171968"/>
                </a:moveTo>
                <a:cubicBezTo>
                  <a:pt x="251688" y="154034"/>
                  <a:pt x="270236" y="132538"/>
                  <a:pt x="270236" y="104409"/>
                </a:cubicBezTo>
                <a:cubicBezTo>
                  <a:pt x="270236" y="67097"/>
                  <a:pt x="239989" y="36850"/>
                  <a:pt x="202677" y="36850"/>
                </a:cubicBezTo>
                <a:cubicBezTo>
                  <a:pt x="181058" y="36850"/>
                  <a:pt x="165826" y="42992"/>
                  <a:pt x="147401" y="61417"/>
                </a:cubicBezTo>
                <a:cubicBezTo>
                  <a:pt x="128976" y="42992"/>
                  <a:pt x="113745" y="36850"/>
                  <a:pt x="92126" y="36850"/>
                </a:cubicBezTo>
                <a:cubicBezTo>
                  <a:pt x="54814" y="36850"/>
                  <a:pt x="24567" y="67097"/>
                  <a:pt x="24567" y="104409"/>
                </a:cubicBezTo>
                <a:cubicBezTo>
                  <a:pt x="24567" y="132661"/>
                  <a:pt x="42992" y="154157"/>
                  <a:pt x="61417" y="171968"/>
                </a:cubicBezTo>
                <a:lnTo>
                  <a:pt x="147401" y="257952"/>
                </a:lnTo>
                <a:close/>
                <a:moveTo>
                  <a:pt x="39553" y="147401"/>
                </a:moveTo>
                <a:lnTo>
                  <a:pt x="116693" y="147401"/>
                </a:lnTo>
                <a:lnTo>
                  <a:pt x="122834" y="135118"/>
                </a:lnTo>
                <a:lnTo>
                  <a:pt x="147401" y="190393"/>
                </a:lnTo>
                <a:lnTo>
                  <a:pt x="171968" y="104409"/>
                </a:lnTo>
                <a:lnTo>
                  <a:pt x="190393" y="147401"/>
                </a:lnTo>
                <a:lnTo>
                  <a:pt x="255127" y="147401"/>
                </a:lnTo>
              </a:path>
            </a:pathLst>
          </a:custGeom>
          <a:noFill/>
          <a:ln w="24567" cap="rnd">
            <a:solidFill>
              <a:srgbClr val="0A6648"/>
            </a:solidFill>
            <a:prstDash val="solid"/>
            <a:round/>
          </a:ln>
        </p:spPr>
      </p:sp>
      <p:sp>
        <p:nvSpPr>
          <p:cNvPr id="41" name="[p1] Forma"/>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readinessProbe</a:t>
            </a:r>
            <a:endParaRPr lang="en-US" sz="1500" dirty="0"/>
          </a:p>
        </p:txBody>
      </p:sp>
      <p:sp>
        <p:nvSpPr>
          <p:cNvPr id="42" name="[p1] Forma"/>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Sin tráfico hasta estar listo</a:t>
            </a:r>
            <a:endParaRPr lang="en-US" sz="1000" dirty="0"/>
          </a:p>
        </p:txBody>
      </p:sp>
      <p:sp>
        <p:nvSpPr>
          <p:cNvPr id="43" name="[p2] Forma"/>
          <p:cNvSpPr/>
          <p:nvPr/>
        </p:nvSpPr>
        <p:spPr>
          <a:xfrm>
            <a:off x="1412748" y="3918204"/>
            <a:ext cx="0" cy="237744"/>
          </a:xfrm>
          <a:prstGeom prst="line">
            <a:avLst/>
          </a:prstGeom>
          <a:noFill/>
          <a:ln w="31750">
            <a:solidFill>
              <a:srgbClr val="0B2350"/>
            </a:solidFill>
            <a:prstDash val="solid"/>
            <a:tailEnd type="triangle"/>
          </a:ln>
        </p:spPr>
      </p:sp>
      <p:sp>
        <p:nvSpPr>
          <p:cNvPr id="44" name="[p2] Forma"/>
          <p:cNvSpPr/>
          <p:nvPr/>
        </p:nvSpPr>
        <p:spPr>
          <a:xfrm>
            <a:off x="612648" y="4137660"/>
            <a:ext cx="10966399" cy="1008126"/>
          </a:xfrm>
          <a:prstGeom prst="roundRect">
            <a:avLst>
              <a:gd name="adj" fmla="val 10884"/>
            </a:avLst>
          </a:prstGeom>
          <a:solidFill>
            <a:srgbClr val="FDF3E0"/>
          </a:solidFill>
          <a:ln w="12700">
            <a:solidFill>
              <a:srgbClr val="DCC9B4"/>
            </a:solidFill>
            <a:prstDash val="solid"/>
          </a:ln>
        </p:spPr>
      </p:sp>
      <p:sp>
        <p:nvSpPr>
          <p:cNvPr id="45" name="[p2] Forma"/>
          <p:cNvSpPr/>
          <p:nvPr/>
        </p:nvSpPr>
        <p:spPr>
          <a:xfrm>
            <a:off x="612648" y="4137660"/>
            <a:ext cx="1600200" cy="1008126"/>
          </a:xfrm>
          <a:prstGeom prst="roundRect">
            <a:avLst>
              <a:gd name="adj" fmla="val 10884"/>
            </a:avLst>
          </a:prstGeom>
          <a:solidFill>
            <a:srgbClr val="8A4B06"/>
          </a:solidFill>
          <a:ln>
            <a:solidFill>
              <a:srgbClr val="8A4B06"/>
            </a:solidFill>
          </a:ln>
        </p:spPr>
        <p:txBody>
          <a:bodyPr wrap="square" lIns="0" tIns="76200" rIns="76200" bIns="0" rtlCol="0" anchor="ctr"/>
          <a:lstStyle/>
          <a:p>
            <a:pPr algn="ctr" indent="0" marL="0">
              <a:buNone/>
            </a:pPr>
            <a:r>
              <a:rPr lang="en-US" sz="1004" b="1" spc="100" kern="0" dirty="0">
                <a:solidFill>
                  <a:srgbClr val="FFFFFF"/>
                </a:solidFill>
                <a:latin typeface="Segoe UI" pitchFamily="34" charset="0"/>
                <a:ea typeface="Segoe UI" pitchFamily="34" charset="-122"/>
                <a:cs typeface="Segoe UI" pitchFamily="34" charset="-120"/>
              </a:rPr>
              <a:t>CONFIGURACIÓN</a:t>
            </a:r>
            <a:endParaRPr lang="en-US" sz="1004" dirty="0"/>
          </a:p>
        </p:txBody>
      </p:sp>
      <p:sp>
        <p:nvSpPr>
          <p:cNvPr id="46" name="[p2] Forma"/>
          <p:cNvSpPr/>
          <p:nvPr/>
        </p:nvSpPr>
        <p:spPr>
          <a:xfrm>
            <a:off x="2395728"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47" name="[p2] Forma"/>
          <p:cNvSpPr/>
          <p:nvPr/>
        </p:nvSpPr>
        <p:spPr>
          <a:xfrm>
            <a:off x="2542032" y="4358259"/>
            <a:ext cx="566928" cy="566928"/>
          </a:xfrm>
          <a:prstGeom prst="ellipse">
            <a:avLst/>
          </a:prstGeom>
          <a:solidFill>
            <a:srgbClr val="FCEFD6"/>
          </a:solidFill>
          <a:ln w="12700">
            <a:solidFill>
              <a:srgbClr val="FCEFD6"/>
            </a:solidFill>
            <a:prstDash val="solid"/>
          </a:ln>
        </p:spPr>
      </p:sp>
      <p:sp>
        <p:nvSpPr>
          <p:cNvPr id="48" name="[p2] Icono key-round"/>
          <p:cNvSpPr/>
          <p:nvPr/>
        </p:nvSpPr>
        <p:spPr>
          <a:xfrm>
            <a:off x="2678095" y="4494322"/>
            <a:ext cx="294803" cy="294803"/>
          </a:xfrm>
          <a:custGeom>
            <a:avLst/>
            <a:gdLst/>
            <a:ahLst/>
            <a:cxnLst/>
            <a:rect l="l" t="t" r="r" b="b"/>
            <a:pathLst>
              <a:path w="294803" h="294803">
                <a:moveTo>
                  <a:pt x="31765" y="213904"/>
                </a:moveTo>
                <a:cubicBezTo>
                  <a:pt x="27157" y="218510"/>
                  <a:pt x="24568" y="224758"/>
                  <a:pt x="24567" y="231273"/>
                </a:cubicBezTo>
                <a:lnTo>
                  <a:pt x="24567" y="257952"/>
                </a:lnTo>
                <a:cubicBezTo>
                  <a:pt x="24567" y="264736"/>
                  <a:pt x="30066" y="270236"/>
                  <a:pt x="36850" y="270236"/>
                </a:cubicBezTo>
                <a:lnTo>
                  <a:pt x="73701" y="270236"/>
                </a:lnTo>
                <a:cubicBezTo>
                  <a:pt x="80485" y="270236"/>
                  <a:pt x="85984" y="264736"/>
                  <a:pt x="85984" y="257952"/>
                </a:cubicBezTo>
                <a:lnTo>
                  <a:pt x="85984" y="245669"/>
                </a:lnTo>
                <a:cubicBezTo>
                  <a:pt x="85984" y="238885"/>
                  <a:pt x="91484" y="233385"/>
                  <a:pt x="98268" y="233385"/>
                </a:cubicBezTo>
                <a:lnTo>
                  <a:pt x="110551" y="233385"/>
                </a:lnTo>
                <a:cubicBezTo>
                  <a:pt x="117335" y="233385"/>
                  <a:pt x="122834" y="227886"/>
                  <a:pt x="122834" y="221102"/>
                </a:cubicBezTo>
                <a:lnTo>
                  <a:pt x="122834" y="208818"/>
                </a:lnTo>
                <a:cubicBezTo>
                  <a:pt x="122834" y="202035"/>
                  <a:pt x="128334" y="196535"/>
                  <a:pt x="135118" y="196535"/>
                </a:cubicBezTo>
                <a:lnTo>
                  <a:pt x="137231" y="196535"/>
                </a:lnTo>
                <a:cubicBezTo>
                  <a:pt x="143746" y="196534"/>
                  <a:pt x="149993" y="193944"/>
                  <a:pt x="154599" y="189337"/>
                </a:cubicBezTo>
                <a:lnTo>
                  <a:pt x="164598" y="179338"/>
                </a:lnTo>
                <a:cubicBezTo>
                  <a:pt x="199756" y="191585"/>
                  <a:pt x="238712" y="177908"/>
                  <a:pt x="258497" y="146371"/>
                </a:cubicBezTo>
                <a:cubicBezTo>
                  <a:pt x="278283" y="114834"/>
                  <a:pt x="273646" y="73808"/>
                  <a:pt x="247320" y="47482"/>
                </a:cubicBezTo>
                <a:cubicBezTo>
                  <a:pt x="220995" y="21157"/>
                  <a:pt x="179969" y="16520"/>
                  <a:pt x="148432" y="36305"/>
                </a:cubicBezTo>
                <a:cubicBezTo>
                  <a:pt x="116894" y="56091"/>
                  <a:pt x="103217" y="95047"/>
                  <a:pt x="115464" y="130204"/>
                </a:cubicBezTo>
                <a:close/>
                <a:moveTo>
                  <a:pt x="208818" y="92126"/>
                </a:moveTo>
                <a:cubicBezTo>
                  <a:pt x="208818" y="95518"/>
                  <a:pt x="206069" y="98268"/>
                  <a:pt x="202677" y="98268"/>
                </a:cubicBezTo>
                <a:cubicBezTo>
                  <a:pt x="199285" y="98268"/>
                  <a:pt x="196535" y="95518"/>
                  <a:pt x="196535" y="92126"/>
                </a:cubicBezTo>
                <a:cubicBezTo>
                  <a:pt x="196535" y="88734"/>
                  <a:pt x="199285" y="85984"/>
                  <a:pt x="202677" y="85984"/>
                </a:cubicBezTo>
                <a:cubicBezTo>
                  <a:pt x="206069" y="85984"/>
                  <a:pt x="208818" y="88734"/>
                  <a:pt x="208818" y="92126"/>
                </a:cubicBezTo>
                <a:close/>
              </a:path>
            </a:pathLst>
          </a:custGeom>
          <a:noFill/>
          <a:ln w="24567" cap="rnd">
            <a:solidFill>
              <a:srgbClr val="8A4B06"/>
            </a:solidFill>
            <a:prstDash val="solid"/>
            <a:round/>
          </a:ln>
        </p:spPr>
      </p:sp>
      <p:sp>
        <p:nvSpPr>
          <p:cNvPr id="49" name="[p2] Forma"/>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Secret arka-postgres</a:t>
            </a:r>
            <a:endParaRPr lang="en-US" sz="1500" dirty="0"/>
          </a:p>
        </p:txBody>
      </p:sp>
      <p:sp>
        <p:nvSpPr>
          <p:cNvPr id="50" name="[p2] Forma"/>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clave de las bases</a:t>
            </a:r>
            <a:endParaRPr lang="en-US" sz="1200" dirty="0"/>
          </a:p>
        </p:txBody>
      </p:sp>
      <p:sp>
        <p:nvSpPr>
          <p:cNvPr id="51" name="[p2] Forma"/>
          <p:cNvSpPr/>
          <p:nvPr/>
        </p:nvSpPr>
        <p:spPr>
          <a:xfrm>
            <a:off x="7001104"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52" name="[p2] Forma"/>
          <p:cNvSpPr/>
          <p:nvPr/>
        </p:nvSpPr>
        <p:spPr>
          <a:xfrm>
            <a:off x="7147408" y="4358259"/>
            <a:ext cx="566928" cy="566928"/>
          </a:xfrm>
          <a:prstGeom prst="ellipse">
            <a:avLst/>
          </a:prstGeom>
          <a:solidFill>
            <a:srgbClr val="FCEFD6"/>
          </a:solidFill>
          <a:ln w="12700">
            <a:solidFill>
              <a:srgbClr val="FCEFD6"/>
            </a:solidFill>
            <a:prstDash val="solid"/>
          </a:ln>
        </p:spPr>
      </p:sp>
      <p:sp>
        <p:nvSpPr>
          <p:cNvPr id="53" name="[p2] Icono settings"/>
          <p:cNvSpPr/>
          <p:nvPr/>
        </p:nvSpPr>
        <p:spPr>
          <a:xfrm>
            <a:off x="7283470" y="4494322"/>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8A4B06"/>
            </a:solidFill>
            <a:prstDash val="solid"/>
            <a:round/>
          </a:ln>
        </p:spPr>
      </p:sp>
      <p:sp>
        <p:nvSpPr>
          <p:cNvPr id="54" name="[p2] Forma"/>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Variables de entorno</a:t>
            </a:r>
            <a:endParaRPr lang="en-US" sz="1500" dirty="0"/>
          </a:p>
        </p:txBody>
      </p:sp>
      <p:sp>
        <p:nvSpPr>
          <p:cNvPr id="55" name="[p2] Forma"/>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DB_URL, NOTIFICACIONES_URL</a:t>
            </a:r>
            <a:endParaRPr lang="en-US" sz="1200" dirty="0"/>
          </a:p>
        </p:txBody>
      </p:sp>
      <p:sp>
        <p:nvSpPr>
          <p:cNvPr id="56" name="[p3] Forma"/>
          <p:cNvSpPr/>
          <p:nvPr/>
        </p:nvSpPr>
        <p:spPr>
          <a:xfrm>
            <a:off x="1412748" y="5127498"/>
            <a:ext cx="0" cy="237744"/>
          </a:xfrm>
          <a:prstGeom prst="line">
            <a:avLst/>
          </a:prstGeom>
          <a:noFill/>
          <a:ln w="31750">
            <a:solidFill>
              <a:srgbClr val="0B2350"/>
            </a:solidFill>
            <a:prstDash val="solid"/>
            <a:tailEnd type="triangle"/>
          </a:ln>
        </p:spPr>
      </p:sp>
      <p:sp>
        <p:nvSpPr>
          <p:cNvPr id="57" name="[p3] Forma"/>
          <p:cNvSpPr/>
          <p:nvPr/>
        </p:nvSpPr>
        <p:spPr>
          <a:xfrm>
            <a:off x="612648" y="5346954"/>
            <a:ext cx="10966399" cy="1008126"/>
          </a:xfrm>
          <a:prstGeom prst="roundRect">
            <a:avLst>
              <a:gd name="adj" fmla="val 10884"/>
            </a:avLst>
          </a:prstGeom>
          <a:solidFill>
            <a:srgbClr val="F7F9FC"/>
          </a:solidFill>
          <a:ln w="12700">
            <a:solidFill>
              <a:srgbClr val="CCD0D8"/>
            </a:solidFill>
            <a:prstDash val="solid"/>
          </a:ln>
        </p:spPr>
      </p:sp>
      <p:sp>
        <p:nvSpPr>
          <p:cNvPr id="58" name="[p3] Forma"/>
          <p:cNvSpPr/>
          <p:nvPr/>
        </p:nvSpPr>
        <p:spPr>
          <a:xfrm>
            <a:off x="612648" y="5346954"/>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59" name="[p3] Forma"/>
          <p:cNvSpPr/>
          <p:nvPr/>
        </p:nvSpPr>
        <p:spPr>
          <a:xfrm>
            <a:off x="2395728" y="5438394"/>
            <a:ext cx="9046159"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60" name="[p3] Forma"/>
          <p:cNvSpPr/>
          <p:nvPr/>
        </p:nvSpPr>
        <p:spPr>
          <a:xfrm>
            <a:off x="2542032" y="5567553"/>
            <a:ext cx="566928" cy="566928"/>
          </a:xfrm>
          <a:prstGeom prst="ellipse">
            <a:avLst/>
          </a:prstGeom>
          <a:solidFill>
            <a:srgbClr val="F4F7FB"/>
          </a:solidFill>
          <a:ln w="12700">
            <a:solidFill>
              <a:srgbClr val="F4F7FB"/>
            </a:solidFill>
            <a:prstDash val="solid"/>
          </a:ln>
        </p:spPr>
      </p:sp>
      <p:sp>
        <p:nvSpPr>
          <p:cNvPr id="61" name="[p3] Icono hard-drive"/>
          <p:cNvSpPr/>
          <p:nvPr/>
        </p:nvSpPr>
        <p:spPr>
          <a:xfrm>
            <a:off x="2678095" y="5703616"/>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55627E"/>
            </a:solidFill>
            <a:prstDash val="solid"/>
            <a:round/>
          </a:ln>
        </p:spPr>
      </p:sp>
      <p:sp>
        <p:nvSpPr>
          <p:cNvPr id="62" name="[p3] Forma"/>
          <p:cNvSpPr/>
          <p:nvPr/>
        </p:nvSpPr>
        <p:spPr>
          <a:xfrm>
            <a:off x="3255264" y="5474970"/>
            <a:ext cx="8095183"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PersistentVolumeClaim</a:t>
            </a:r>
            <a:endParaRPr lang="en-US" sz="1500" dirty="0"/>
          </a:p>
        </p:txBody>
      </p:sp>
      <p:sp>
        <p:nvSpPr>
          <p:cNvPr id="63" name="[p3] Forma"/>
          <p:cNvSpPr/>
          <p:nvPr/>
        </p:nvSpPr>
        <p:spPr>
          <a:xfrm>
            <a:off x="3255264" y="5887593"/>
            <a:ext cx="8095183"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disco por base: sobrevive al Pod</a:t>
            </a:r>
            <a:endParaRPr lang="en-US" sz="1200" dirty="0"/>
          </a:p>
        </p:txBody>
      </p:sp>
      <p:sp>
        <p:nvSpPr>
          <p:cNvPr id="64" name="Text 6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0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400"/>
                                        <p:tgtEl>
                                          <p:spTgt spid="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4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4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4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400"/>
                                        <p:tgtEl>
                                          <p:spTgt spid="42"/>
                                        </p:tgtEl>
                                      </p:cBhvr>
                                    </p:animEffect>
                                  </p:childTnLst>
                                </p:cTn>
                              </p:par>
                            </p:childTnLst>
                          </p:cTn>
                        </p:par>
                      </p:childTnLst>
                    </p:cTn>
                  </p:par>
                  <p:par>
                    <p:cTn id="98" fill="hold">
                      <p:stCondLst>
                        <p:cond delay="indefinite"/>
                      </p:stCondLst>
                      <p:childTnLst>
                        <p:par>
                          <p:cTn id="99"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400"/>
                                        <p:tgtEl>
                                          <p:spTgt spid="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4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4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4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4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4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4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400"/>
                                        <p:tgtEl>
                                          <p:spTgt spid="5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fade">
                                      <p:cBhvr>
                                        <p:cTn id="88" dur="400"/>
                                        <p:tgtEl>
                                          <p:spTgt spid="5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fade">
                                      <p:cBhvr>
                                        <p:cTn id="91" dur="400"/>
                                        <p:tgtEl>
                                          <p:spTgt spid="5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4"/>
                                        </p:tgtEl>
                                        <p:attrNameLst>
                                          <p:attrName>style.visibility</p:attrName>
                                        </p:attrNameLst>
                                      </p:cBhvr>
                                      <p:to>
                                        <p:strVal val="visible"/>
                                      </p:to>
                                    </p:set>
                                    <p:animEffect transition="in" filter="fade">
                                      <p:cBhvr>
                                        <p:cTn id="94" dur="400"/>
                                        <p:tgtEl>
                                          <p:spTgt spid="5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5"/>
                                        </p:tgtEl>
                                        <p:attrNameLst>
                                          <p:attrName>style.visibility</p:attrName>
                                        </p:attrNameLst>
                                      </p:cBhvr>
                                      <p:to>
                                        <p:strVal val="visible"/>
                                      </p:to>
                                    </p:set>
                                    <p:animEffect transition="in" filter="fade">
                                      <p:cBhvr>
                                        <p:cTn id="97" dur="400"/>
                                        <p:tgtEl>
                                          <p:spTgt spid="55"/>
                                        </p:tgtEl>
                                      </p:cBhvr>
                                    </p:animEffect>
                                  </p:childTnLst>
                                </p:cTn>
                              </p:par>
                            </p:childTnLst>
                          </p:cTn>
                        </p:par>
                      </p:childTnLst>
                    </p:cTn>
                  </p:par>
                  <p:par>
                    <p:cTn id="124" fill="hold">
                      <p:stCondLst>
                        <p:cond delay="indefinite"/>
                      </p:stCondLst>
                      <p:childTnLst>
                        <p:par>
                          <p:cTn id="125"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4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4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400"/>
                                        <p:tgtEl>
                                          <p:spTgt spid="5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9"/>
                                        </p:tgtEl>
                                        <p:attrNameLst>
                                          <p:attrName>style.visibility</p:attrName>
                                        </p:attrNameLst>
                                      </p:cBhvr>
                                      <p:to>
                                        <p:strVal val="visible"/>
                                      </p:to>
                                    </p:set>
                                    <p:animEffect transition="in" filter="fade">
                                      <p:cBhvr>
                                        <p:cTn id="111" dur="400"/>
                                        <p:tgtEl>
                                          <p:spTgt spid="5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0"/>
                                        </p:tgtEl>
                                        <p:attrNameLst>
                                          <p:attrName>style.visibility</p:attrName>
                                        </p:attrNameLst>
                                      </p:cBhvr>
                                      <p:to>
                                        <p:strVal val="visible"/>
                                      </p:to>
                                    </p:set>
                                    <p:animEffect transition="in" filter="fade">
                                      <p:cBhvr>
                                        <p:cTn id="114" dur="400"/>
                                        <p:tgtEl>
                                          <p:spTgt spid="6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1"/>
                                        </p:tgtEl>
                                        <p:attrNameLst>
                                          <p:attrName>style.visibility</p:attrName>
                                        </p:attrNameLst>
                                      </p:cBhvr>
                                      <p:to>
                                        <p:strVal val="visible"/>
                                      </p:to>
                                    </p:set>
                                    <p:animEffect transition="in" filter="fade">
                                      <p:cBhvr>
                                        <p:cTn id="117" dur="400"/>
                                        <p:tgtEl>
                                          <p:spTgt spid="6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2"/>
                                        </p:tgtEl>
                                        <p:attrNameLst>
                                          <p:attrName>style.visibility</p:attrName>
                                        </p:attrNameLst>
                                      </p:cBhvr>
                                      <p:to>
                                        <p:strVal val="visible"/>
                                      </p:to>
                                    </p:set>
                                    <p:animEffect transition="in" filter="fade">
                                      <p:cBhvr>
                                        <p:cTn id="120" dur="400"/>
                                        <p:tgtEl>
                                          <p:spTgt spid="6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fade">
                                      <p:cBhvr>
                                        <p:cTn id="123"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3" name="Shape 11"/>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28800"/>
            <a:ext cx="82296" cy="530352"/>
          </a:xfrm>
          <a:prstGeom prst="rect">
            <a:avLst/>
          </a:prstGeom>
          <a:solidFill>
            <a:srgbClr val="AB243E"/>
          </a:solidFill>
          <a:ln w="12700">
            <a:solidFill>
              <a:srgbClr val="AB243E"/>
            </a:solidFill>
            <a:prstDash val="solid"/>
          </a:ln>
        </p:spPr>
      </p:sp>
      <p:sp>
        <p:nvSpPr>
          <p:cNvPr id="15" name="Shape 13"/>
          <p:cNvSpPr/>
          <p:nvPr/>
        </p:nvSpPr>
        <p:spPr>
          <a:xfrm>
            <a:off x="886968" y="1819656"/>
            <a:ext cx="548640" cy="548640"/>
          </a:xfrm>
          <a:prstGeom prst="ellipse">
            <a:avLst/>
          </a:prstGeom>
          <a:solidFill>
            <a:srgbClr val="AB243E"/>
          </a:solidFill>
          <a:ln w="12700">
            <a:solidFill>
              <a:srgbClr val="AB243E"/>
            </a:solidFill>
            <a:prstDash val="solid"/>
          </a:ln>
        </p:spPr>
      </p:sp>
      <p:sp>
        <p:nvSpPr>
          <p:cNvPr id="16"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7" name="Text 15"/>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8" name="Text 16"/>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19" name="[p5] Forma"/>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0" name="[p5] Forma"/>
          <p:cNvSpPr/>
          <p:nvPr/>
        </p:nvSpPr>
        <p:spPr>
          <a:xfrm>
            <a:off x="612648" y="5715000"/>
            <a:ext cx="82296" cy="530352"/>
          </a:xfrm>
          <a:prstGeom prst="rect">
            <a:avLst/>
          </a:prstGeom>
          <a:solidFill>
            <a:srgbClr val="0A6648"/>
          </a:solidFill>
          <a:ln w="12700">
            <a:solidFill>
              <a:srgbClr val="0A6648"/>
            </a:solidFill>
            <a:prstDash val="solid"/>
          </a:ln>
        </p:spPr>
      </p:sp>
      <p:sp>
        <p:nvSpPr>
          <p:cNvPr id="21" name="[p5] Forma"/>
          <p:cNvSpPr/>
          <p:nvPr/>
        </p:nvSpPr>
        <p:spPr>
          <a:xfrm>
            <a:off x="886968" y="5705856"/>
            <a:ext cx="548640" cy="548640"/>
          </a:xfrm>
          <a:prstGeom prst="ellipse">
            <a:avLst/>
          </a:prstGeom>
          <a:solidFill>
            <a:srgbClr val="0A6648"/>
          </a:solidFill>
          <a:ln w="12700">
            <a:solidFill>
              <a:srgbClr val="0A6648"/>
            </a:solidFill>
            <a:prstDash val="solid"/>
          </a:ln>
        </p:spPr>
      </p:sp>
      <p:sp>
        <p:nvSpPr>
          <p:cNvPr id="22" name="[p5] 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3" name="[p5] Forma"/>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4" name="[p5] Forma"/>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5" name="[p5] Forma"/>
          <p:cNvSpPr/>
          <p:nvPr/>
        </p:nvSpPr>
        <p:spPr>
          <a:xfrm>
            <a:off x="10208247" y="5367528"/>
            <a:ext cx="0" cy="219456"/>
          </a:xfrm>
          <a:prstGeom prst="line">
            <a:avLst/>
          </a:prstGeom>
          <a:noFill/>
          <a:ln w="25400">
            <a:solidFill>
              <a:srgbClr val="0A6648"/>
            </a:solidFill>
            <a:prstDash val="dash"/>
            <a:tailEnd type="triangle"/>
          </a:ln>
        </p:spPr>
      </p:sp>
      <p:sp>
        <p:nvSpPr>
          <p:cNvPr id="26" name="[p1] Forma"/>
          <p:cNvSpPr/>
          <p:nvPr/>
        </p:nvSpPr>
        <p:spPr>
          <a:xfrm>
            <a:off x="2631940" y="2487168"/>
            <a:ext cx="0" cy="1005108"/>
          </a:xfrm>
          <a:prstGeom prst="line">
            <a:avLst/>
          </a:prstGeom>
          <a:noFill/>
          <a:ln w="25400">
            <a:solidFill>
              <a:srgbClr val="AB243E"/>
            </a:solidFill>
            <a:prstDash val="dash"/>
            <a:tailEnd type="triangle"/>
          </a:ln>
        </p:spPr>
      </p:sp>
      <p:sp>
        <p:nvSpPr>
          <p:cNvPr id="27" name="[p1] Forma"/>
          <p:cNvSpPr/>
          <p:nvPr/>
        </p:nvSpPr>
        <p:spPr>
          <a:xfrm>
            <a:off x="1983448" y="3602004"/>
            <a:ext cx="8224799" cy="0"/>
          </a:xfrm>
          <a:prstGeom prst="line">
            <a:avLst/>
          </a:prstGeom>
          <a:noFill/>
          <a:ln w="50800">
            <a:solidFill>
              <a:srgbClr val="6BC1DB"/>
            </a:solidFill>
            <a:prstDash val="solid"/>
          </a:ln>
        </p:spPr>
      </p:sp>
      <p:sp>
        <p:nvSpPr>
          <p:cNvPr id="28" name="[p1] Forma"/>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29" name="[p1] Forma"/>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0" name="[p1] 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1" name="[p2] Forma"/>
          <p:cNvSpPr/>
          <p:nvPr/>
        </p:nvSpPr>
        <p:spPr>
          <a:xfrm>
            <a:off x="2476492" y="3602004"/>
            <a:ext cx="1755511" cy="0"/>
          </a:xfrm>
          <a:prstGeom prst="line">
            <a:avLst/>
          </a:prstGeom>
          <a:noFill/>
          <a:ln w="38100">
            <a:solidFill>
              <a:srgbClr val="2BA6CB"/>
            </a:solidFill>
            <a:prstDash val="solid"/>
            <a:tailEnd type="triangle"/>
          </a:ln>
        </p:spPr>
      </p:sp>
      <p:sp>
        <p:nvSpPr>
          <p:cNvPr id="32" name="[p1] Forma"/>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3" name="[p1] Forma"/>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4" name="[p2] Forma"/>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5" name="[p2] Forma"/>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6" name="[p2] 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7" name="[p3] Forma"/>
          <p:cNvSpPr/>
          <p:nvPr/>
        </p:nvSpPr>
        <p:spPr>
          <a:xfrm>
            <a:off x="5218092" y="3602004"/>
            <a:ext cx="1755511" cy="0"/>
          </a:xfrm>
          <a:prstGeom prst="line">
            <a:avLst/>
          </a:prstGeom>
          <a:noFill/>
          <a:ln w="38100">
            <a:solidFill>
              <a:srgbClr val="2BA6CB"/>
            </a:solidFill>
            <a:prstDash val="solid"/>
            <a:tailEnd type="triangle"/>
          </a:ln>
        </p:spPr>
      </p:sp>
      <p:sp>
        <p:nvSpPr>
          <p:cNvPr id="38" name="[p2] Forma"/>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39" name="[p2] Forma"/>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40" name="[p3] Forma"/>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1" name="[p3] Forma"/>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2" name="[p3] 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3" name="[p4] Forma"/>
          <p:cNvSpPr/>
          <p:nvPr/>
        </p:nvSpPr>
        <p:spPr>
          <a:xfrm>
            <a:off x="7959692" y="3602004"/>
            <a:ext cx="1755511" cy="0"/>
          </a:xfrm>
          <a:prstGeom prst="line">
            <a:avLst/>
          </a:prstGeom>
          <a:noFill/>
          <a:ln w="38100">
            <a:solidFill>
              <a:srgbClr val="2BA6CB"/>
            </a:solidFill>
            <a:prstDash val="solid"/>
            <a:tailEnd type="triangle"/>
          </a:ln>
        </p:spPr>
      </p:sp>
      <p:sp>
        <p:nvSpPr>
          <p:cNvPr id="44" name="[p3] Forma"/>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5" name="[p3] Forma"/>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6" name="[p4] Forma"/>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7" name="[p4] Forma"/>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8" name="[p4] 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49" name="[p4] Forma"/>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50" name="[p4] Forma"/>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400"/>
                                        <p:tgtEl>
                                          <p:spTgt spid="3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4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4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00"/>
                                        <p:tgtEl>
                                          <p:spTgt spid="39"/>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4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4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4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400"/>
                                        <p:tgtEl>
                                          <p:spTgt spid="4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400"/>
                                        <p:tgtEl>
                                          <p:spTgt spid="45"/>
                                        </p:tgtEl>
                                      </p:cBhvr>
                                    </p:animEffect>
                                  </p:childTnLst>
                                </p:cTn>
                              </p:par>
                            </p:childTnLst>
                          </p:cTn>
                        </p:par>
                      </p:childTnLst>
                    </p:cTn>
                  </p:par>
                  <p:par>
                    <p:cTn id="84" fill="hold">
                      <p:stCondLst>
                        <p:cond delay="indefinite"/>
                      </p:stCondLst>
                      <p:childTnLst>
                        <p:par>
                          <p:cTn id="8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400"/>
                                        <p:tgtEl>
                                          <p:spTgt spid="4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400"/>
                                        <p:tgtEl>
                                          <p:spTgt spid="4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400"/>
                                        <p:tgtEl>
                                          <p:spTgt spid="4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fade">
                                      <p:cBhvr>
                                        <p:cTn id="77" dur="400"/>
                                        <p:tgtEl>
                                          <p:spTgt spid="4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400"/>
                                        <p:tgtEl>
                                          <p:spTgt spid="4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fade">
                                      <p:cBhvr>
                                        <p:cTn id="83" dur="400"/>
                                        <p:tgtEl>
                                          <p:spTgt spid="50"/>
                                        </p:tgtEl>
                                      </p:cBhvr>
                                    </p:animEffect>
                                  </p:childTnLst>
                                </p:cTn>
                              </p:par>
                            </p:childTnLst>
                          </p:cTn>
                        </p:par>
                      </p:childTnLst>
                    </p:cTn>
                  </p:par>
                  <p:par>
                    <p:cTn id="107" fill="hold">
                      <p:stCondLst>
                        <p:cond delay="indefinite"/>
                      </p:stCondLst>
                      <p:childTnLst>
                        <p:par>
                          <p:cTn id="108"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400"/>
                                        <p:tgtEl>
                                          <p:spTgt spid="1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00"/>
                                        <p:tgtEl>
                                          <p:spTgt spid="2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00"/>
                                        <p:tgtEl>
                                          <p:spTgt spid="2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00"/>
                                        <p:tgtEl>
                                          <p:spTgt spid="2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400"/>
                                        <p:tgtEl>
                                          <p:spTgt spid="2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1" grpId="0" animBg="1"/>
      <p:bldP spid="34" grpId="0" animBg="1"/>
      <p:bldP spid="35" grpId="0" animBg="1"/>
      <p:bldP spid="36" grpId="0" animBg="1"/>
      <p:bldP spid="38" grpId="0" animBg="1"/>
      <p:bldP spid="39" grpId="0" animBg="1"/>
      <p:bldP spid="37" grpId="0" animBg="1"/>
      <p:bldP spid="40" grpId="0" animBg="1"/>
      <p:bldP spid="41" grpId="0" animBg="1"/>
      <p:bldP spid="42" grpId="0" animBg="1"/>
      <p:bldP spid="44" grpId="0" animBg="1"/>
      <p:bldP spid="45" grpId="0" animBg="1"/>
      <p:bldP spid="43" grpId="0" animBg="1"/>
      <p:bldP spid="46" grpId="0" animBg="1"/>
      <p:bldP spid="47" grpId="0" animBg="1"/>
      <p:bldP spid="48" grpId="0" animBg="1"/>
      <p:bldP spid="49" grpId="0" animBg="1"/>
      <p:bldP spid="5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DevOps: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container"/>
          <p:cNvSpPr/>
          <p:nvPr/>
        </p:nvSpPr>
        <p:spPr>
          <a:xfrm>
            <a:off x="1058144" y="1817096"/>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imagen por commit, rastreable</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container"/>
          <p:cNvSpPr/>
          <p:nvPr/>
        </p:nvSpPr>
        <p:spPr>
          <a:xfrm>
            <a:off x="4258544" y="1740515"/>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Docker y Kubernetes se complementan</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Uno empaqueta; el otro ejecuta y cuida.</a:t>
            </a:r>
            <a:endParaRPr lang="en-US" sz="120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mismo paquete, de la laptop al clúster.</a:t>
            </a:r>
            <a:endParaRPr lang="en-US" sz="135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package"/>
          <p:cNvSpPr/>
          <p:nvPr/>
        </p:nvSpPr>
        <p:spPr>
          <a:xfrm>
            <a:off x="4258544" y="3032105"/>
            <a:ext cx="370881" cy="370881"/>
          </a:xfrm>
          <a:custGeom>
            <a:avLst/>
            <a:gdLst/>
            <a:ahLst/>
            <a:cxnLst/>
            <a:rect l="l" t="t" r="r" b="b"/>
            <a:pathLst>
              <a:path w="370881" h="370881">
                <a:moveTo>
                  <a:pt x="169987" y="335802"/>
                </a:moveTo>
                <a:cubicBezTo>
                  <a:pt x="179550" y="341322"/>
                  <a:pt x="191331" y="341322"/>
                  <a:pt x="200894" y="335802"/>
                </a:cubicBezTo>
                <a:lnTo>
                  <a:pt x="309067" y="273988"/>
                </a:lnTo>
                <a:cubicBezTo>
                  <a:pt x="318620" y="268473"/>
                  <a:pt x="324509" y="258284"/>
                  <a:pt x="324521" y="247254"/>
                </a:cubicBez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close/>
                <a:moveTo>
                  <a:pt x="185440" y="339974"/>
                </a:moveTo>
                <a:lnTo>
                  <a:pt x="185440" y="185440"/>
                </a:lnTo>
                <a:moveTo>
                  <a:pt x="50996" y="108174"/>
                </a:moveTo>
                <a:lnTo>
                  <a:pt x="170033" y="181330"/>
                </a:lnTo>
                <a:cubicBezTo>
                  <a:pt x="179572" y="186815"/>
                  <a:pt x="191308" y="186815"/>
                  <a:pt x="200847" y="181330"/>
                </a:cubicBezTo>
                <a:lnTo>
                  <a:pt x="319885" y="108174"/>
                </a:lnTo>
                <a:moveTo>
                  <a:pt x="115900" y="65986"/>
                </a:moveTo>
                <a:lnTo>
                  <a:pt x="254980" y="145571"/>
                </a:lnTo>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imagen es el entregable</a:t>
            </a:r>
            <a:endParaRPr lang="en-US" sz="170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Lo que prueba el pipeline es lo que se despliega.</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Sin sorpresas entre ambientes.</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settings"/>
          <p:cNvSpPr/>
          <p:nvPr/>
        </p:nvSpPr>
        <p:spPr>
          <a:xfrm>
            <a:off x="4258544" y="4323695"/>
            <a:ext cx="370881" cy="370881"/>
          </a:xfrm>
          <a:custGeom>
            <a:avLst/>
            <a:gdLst/>
            <a:ahLst/>
            <a:cxnLst/>
            <a:rect l="l" t="t" r="r" b="b"/>
            <a:pathLst>
              <a:path w="370881" h="370881">
                <a:moveTo>
                  <a:pt x="188840" y="30907"/>
                </a:moveTo>
                <a:lnTo>
                  <a:pt x="182041" y="30907"/>
                </a:lnTo>
                <a:cubicBezTo>
                  <a:pt x="164971" y="30907"/>
                  <a:pt x="151134" y="44744"/>
                  <a:pt x="151134" y="61813"/>
                </a:cubicBezTo>
                <a:lnTo>
                  <a:pt x="151134" y="64595"/>
                </a:lnTo>
                <a:cubicBezTo>
                  <a:pt x="151123" y="75626"/>
                  <a:pt x="145233" y="85814"/>
                  <a:pt x="135681" y="91329"/>
                </a:cubicBezTo>
                <a:lnTo>
                  <a:pt x="129036" y="95193"/>
                </a:lnTo>
                <a:cubicBezTo>
                  <a:pt x="119473" y="100714"/>
                  <a:pt x="107691" y="100714"/>
                  <a:pt x="98129" y="95193"/>
                </a:cubicBezTo>
                <a:lnTo>
                  <a:pt x="95811" y="93956"/>
                </a:lnTo>
                <a:cubicBezTo>
                  <a:pt x="81044" y="85438"/>
                  <a:pt x="62168" y="90485"/>
                  <a:pt x="53623" y="105237"/>
                </a:cubicBezTo>
                <a:lnTo>
                  <a:pt x="50223" y="111110"/>
                </a:lnTo>
                <a:cubicBezTo>
                  <a:pt x="41705" y="125877"/>
                  <a:pt x="46752" y="144753"/>
                  <a:pt x="61504" y="153297"/>
                </a:cubicBezTo>
                <a:lnTo>
                  <a:pt x="63822" y="154843"/>
                </a:lnTo>
                <a:cubicBezTo>
                  <a:pt x="73328" y="160330"/>
                  <a:pt x="79209" y="170447"/>
                  <a:pt x="79276" y="181422"/>
                </a:cubicBezTo>
                <a:lnTo>
                  <a:pt x="79276" y="189304"/>
                </a:lnTo>
                <a:cubicBezTo>
                  <a:pt x="79320" y="200389"/>
                  <a:pt x="73423" y="210650"/>
                  <a:pt x="63822" y="216193"/>
                </a:cubicBezTo>
                <a:lnTo>
                  <a:pt x="61504" y="217583"/>
                </a:lnTo>
                <a:cubicBezTo>
                  <a:pt x="46752" y="226128"/>
                  <a:pt x="41705" y="245004"/>
                  <a:pt x="50223" y="259771"/>
                </a:cubicBezTo>
                <a:lnTo>
                  <a:pt x="53623" y="265643"/>
                </a:lnTo>
                <a:cubicBezTo>
                  <a:pt x="62168" y="280395"/>
                  <a:pt x="81044" y="285443"/>
                  <a:pt x="95811" y="276924"/>
                </a:cubicBezTo>
                <a:lnTo>
                  <a:pt x="98129" y="275688"/>
                </a:lnTo>
                <a:cubicBezTo>
                  <a:pt x="107691" y="270167"/>
                  <a:pt x="119473" y="270167"/>
                  <a:pt x="129036" y="275688"/>
                </a:cubicBezTo>
                <a:lnTo>
                  <a:pt x="135681" y="279551"/>
                </a:lnTo>
                <a:cubicBezTo>
                  <a:pt x="145233" y="285067"/>
                  <a:pt x="151123" y="295255"/>
                  <a:pt x="151134" y="306286"/>
                </a:cubicBezTo>
                <a:lnTo>
                  <a:pt x="151134" y="309067"/>
                </a:lnTo>
                <a:cubicBezTo>
                  <a:pt x="151134" y="326137"/>
                  <a:pt x="164971" y="339974"/>
                  <a:pt x="182041" y="339974"/>
                </a:cubicBezTo>
                <a:lnTo>
                  <a:pt x="188840" y="339974"/>
                </a:lnTo>
                <a:cubicBezTo>
                  <a:pt x="205909" y="339974"/>
                  <a:pt x="219747" y="326137"/>
                  <a:pt x="219747" y="309067"/>
                </a:cubicBezTo>
                <a:lnTo>
                  <a:pt x="219747" y="306286"/>
                </a:lnTo>
                <a:cubicBezTo>
                  <a:pt x="219758" y="295255"/>
                  <a:pt x="225647" y="285067"/>
                  <a:pt x="235200" y="279551"/>
                </a:cubicBezTo>
                <a:lnTo>
                  <a:pt x="241845" y="275688"/>
                </a:lnTo>
                <a:cubicBezTo>
                  <a:pt x="251408" y="270167"/>
                  <a:pt x="263189" y="270167"/>
                  <a:pt x="272752" y="275688"/>
                </a:cubicBezTo>
                <a:lnTo>
                  <a:pt x="275070" y="276924"/>
                </a:lnTo>
                <a:cubicBezTo>
                  <a:pt x="289837" y="285443"/>
                  <a:pt x="308713" y="280395"/>
                  <a:pt x="317257" y="265643"/>
                </a:cubicBezTo>
                <a:lnTo>
                  <a:pt x="320657" y="259616"/>
                </a:lnTo>
                <a:cubicBezTo>
                  <a:pt x="329176" y="244849"/>
                  <a:pt x="324128" y="225973"/>
                  <a:pt x="309376" y="217429"/>
                </a:cubicBezTo>
                <a:lnTo>
                  <a:pt x="307058" y="216193"/>
                </a:lnTo>
                <a:cubicBezTo>
                  <a:pt x="297458" y="210650"/>
                  <a:pt x="291561" y="200389"/>
                  <a:pt x="291605" y="189304"/>
                </a:cubicBezTo>
                <a:lnTo>
                  <a:pt x="291605" y="181577"/>
                </a:lnTo>
                <a:cubicBezTo>
                  <a:pt x="291561" y="170491"/>
                  <a:pt x="297458" y="160231"/>
                  <a:pt x="307058" y="154688"/>
                </a:cubicBezTo>
                <a:lnTo>
                  <a:pt x="309376" y="153297"/>
                </a:lnTo>
                <a:cubicBezTo>
                  <a:pt x="324128" y="144753"/>
                  <a:pt x="329176" y="125877"/>
                  <a:pt x="320657" y="111110"/>
                </a:cubicBezTo>
                <a:lnTo>
                  <a:pt x="317257" y="105237"/>
                </a:lnTo>
                <a:cubicBezTo>
                  <a:pt x="308713" y="90485"/>
                  <a:pt x="289837" y="85438"/>
                  <a:pt x="275070" y="93956"/>
                </a:cubicBezTo>
                <a:lnTo>
                  <a:pt x="272752" y="95193"/>
                </a:lnTo>
                <a:cubicBezTo>
                  <a:pt x="263189" y="100714"/>
                  <a:pt x="251408" y="100714"/>
                  <a:pt x="241845" y="95193"/>
                </a:cubicBezTo>
                <a:lnTo>
                  <a:pt x="235200" y="91329"/>
                </a:lnTo>
                <a:cubicBezTo>
                  <a:pt x="225647" y="85814"/>
                  <a:pt x="219758" y="75626"/>
                  <a:pt x="219747" y="64595"/>
                </a:cubicBezTo>
                <a:lnTo>
                  <a:pt x="219747" y="61813"/>
                </a:lnTo>
                <a:cubicBezTo>
                  <a:pt x="219747" y="44744"/>
                  <a:pt x="205909" y="30907"/>
                  <a:pt x="188840" y="30907"/>
                </a:cubicBezTo>
                <a:close/>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Configurar por variables</a:t>
            </a:r>
            <a:endParaRPr lang="en-US" sz="17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 cadena de conexión y las direcciones vienen del ambiente.</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solo artefacto para todos los ambientes.</a:t>
            </a:r>
            <a:endParaRPr lang="en-US" sz="135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ship-wheel"/>
          <p:cNvSpPr/>
          <p:nvPr/>
        </p:nvSpPr>
        <p:spPr>
          <a:xfrm>
            <a:off x="4258544" y="5615285"/>
            <a:ext cx="370881" cy="370881"/>
          </a:xfrm>
          <a:custGeom>
            <a:avLst/>
            <a:gdLst/>
            <a:ahLst/>
            <a:cxnLst/>
            <a:rect l="l" t="t" r="r" b="b"/>
            <a:pathLst>
              <a:path w="370881" h="370881">
                <a:moveTo>
                  <a:pt x="309067" y="185440"/>
                </a:moveTo>
                <a:cubicBezTo>
                  <a:pt x="309067" y="253718"/>
                  <a:pt x="253718" y="309067"/>
                  <a:pt x="185440" y="309067"/>
                </a:cubicBezTo>
                <a:cubicBezTo>
                  <a:pt x="117163" y="309067"/>
                  <a:pt x="61813" y="253718"/>
                  <a:pt x="61813" y="185440"/>
                </a:cubicBezTo>
                <a:cubicBezTo>
                  <a:pt x="61813" y="117163"/>
                  <a:pt x="117163" y="61813"/>
                  <a:pt x="185440" y="61813"/>
                </a:cubicBezTo>
                <a:cubicBezTo>
                  <a:pt x="253718" y="61813"/>
                  <a:pt x="309067" y="117163"/>
                  <a:pt x="309067" y="185440"/>
                </a:cubicBezTo>
                <a:close/>
                <a:moveTo>
                  <a:pt x="185440" y="30907"/>
                </a:moveTo>
                <a:lnTo>
                  <a:pt x="185440" y="146807"/>
                </a:lnTo>
                <a:moveTo>
                  <a:pt x="293614" y="77267"/>
                </a:moveTo>
                <a:lnTo>
                  <a:pt x="212793" y="158088"/>
                </a:lnTo>
                <a:moveTo>
                  <a:pt x="339974" y="185440"/>
                </a:moveTo>
                <a:lnTo>
                  <a:pt x="224074" y="185440"/>
                </a:lnTo>
                <a:moveTo>
                  <a:pt x="293614" y="293614"/>
                </a:moveTo>
                <a:lnTo>
                  <a:pt x="212793" y="212793"/>
                </a:lnTo>
                <a:moveTo>
                  <a:pt x="185440" y="224074"/>
                </a:moveTo>
                <a:lnTo>
                  <a:pt x="185440" y="339974"/>
                </a:lnTo>
                <a:moveTo>
                  <a:pt x="158088" y="212793"/>
                </a:moveTo>
                <a:lnTo>
                  <a:pt x="77267" y="293614"/>
                </a:lnTo>
                <a:moveTo>
                  <a:pt x="146807" y="185440"/>
                </a:moveTo>
                <a:lnTo>
                  <a:pt x="30907" y="185440"/>
                </a:lnTo>
                <a:moveTo>
                  <a:pt x="158088" y="158088"/>
                </a:moveTo>
                <a:lnTo>
                  <a:pt x="77267" y="77267"/>
                </a:lnTo>
                <a:moveTo>
                  <a:pt x="224074" y="185440"/>
                </a:moveTo>
                <a:cubicBezTo>
                  <a:pt x="224074" y="206777"/>
                  <a:pt x="206777" y="224074"/>
                  <a:pt x="185440" y="224074"/>
                </a:cubicBezTo>
                <a:cubicBezTo>
                  <a:pt x="164104" y="224074"/>
                  <a:pt x="146807" y="206777"/>
                  <a:pt x="146807" y="185440"/>
                </a:cubicBezTo>
                <a:cubicBezTo>
                  <a:pt x="146807" y="164104"/>
                  <a:pt x="164104" y="146807"/>
                  <a:pt x="185440" y="146807"/>
                </a:cubicBezTo>
                <a:cubicBezTo>
                  <a:pt x="206777" y="146807"/>
                  <a:pt x="224074" y="164104"/>
                  <a:pt x="224074" y="185440"/>
                </a:cubicBezTo>
                <a:close/>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Declarar el estado deseado</a:t>
            </a:r>
            <a:endParaRPr lang="en-US" sz="170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Deployments, pruebas de salud y un pipeline que arranca el servicio.</a:t>
            </a:r>
            <a:endParaRPr lang="en-US" sz="11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El clúster se repara solo y los errores aparecen antes.</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7" name="Shape 15"/>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19" name="Text 17"/>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1" name="Text 19"/>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2" name="[p1] Forma"/>
          <p:cNvSpPr/>
          <p:nvPr/>
        </p:nvSpPr>
        <p:spPr>
          <a:xfrm>
            <a:off x="2806408" y="2875788"/>
            <a:ext cx="1095680" cy="0"/>
          </a:xfrm>
          <a:prstGeom prst="line">
            <a:avLst/>
          </a:prstGeom>
          <a:noFill/>
          <a:ln w="38100">
            <a:solidFill>
              <a:srgbClr val="2BA6CB"/>
            </a:solidFill>
            <a:prstDash val="solid"/>
            <a:tailEnd type="triangle"/>
          </a:ln>
        </p:spPr>
      </p:sp>
      <p:sp>
        <p:nvSpPr>
          <p:cNvPr id="23" name="[p1] Forma"/>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4" name="[p1] 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5" name="[p1] Forma"/>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7" name="[p1] Forma"/>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8" name="[p2] Forma"/>
          <p:cNvSpPr/>
          <p:nvPr/>
        </p:nvSpPr>
        <p:spPr>
          <a:xfrm>
            <a:off x="5548008" y="2875788"/>
            <a:ext cx="1095680" cy="0"/>
          </a:xfrm>
          <a:prstGeom prst="line">
            <a:avLst/>
          </a:prstGeom>
          <a:noFill/>
          <a:ln w="38100">
            <a:solidFill>
              <a:srgbClr val="2BA6CB"/>
            </a:solidFill>
            <a:prstDash val="solid"/>
            <a:tailEnd type="triangle"/>
          </a:ln>
        </p:spPr>
      </p:sp>
      <p:sp>
        <p:nvSpPr>
          <p:cNvPr id="29" name="[p2] Forma"/>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0" name="[p2] 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1" name="[p2] Forma"/>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3" name="[p2] Forma"/>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4" name="[p3] Forma"/>
          <p:cNvSpPr/>
          <p:nvPr/>
        </p:nvSpPr>
        <p:spPr>
          <a:xfrm>
            <a:off x="8289608" y="2875788"/>
            <a:ext cx="1095680" cy="0"/>
          </a:xfrm>
          <a:prstGeom prst="line">
            <a:avLst/>
          </a:prstGeom>
          <a:noFill/>
          <a:ln w="38100">
            <a:solidFill>
              <a:srgbClr val="2BA6CB"/>
            </a:solidFill>
            <a:prstDash val="solid"/>
            <a:tailEnd type="triangle"/>
          </a:ln>
        </p:spPr>
      </p:sp>
      <p:sp>
        <p:nvSpPr>
          <p:cNvPr id="35" name="[p3] Forma"/>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6" name="[p3] 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7" name="[p3] Forma"/>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39" name="[p3] Forma"/>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Observabilidad: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chart-line"/>
          <p:cNvSpPr/>
          <p:nvPr/>
        </p:nvSpPr>
        <p:spPr>
          <a:xfrm>
            <a:off x="1058144" y="1817096"/>
            <a:ext cx="370881" cy="370881"/>
          </a:xfrm>
          <a:custGeom>
            <a:avLst/>
            <a:gdLst/>
            <a:ahLst/>
            <a:cxnLst/>
            <a:rect l="l" t="t" r="r" b="b"/>
            <a:pathLst>
              <a:path w="370881" h="370881">
                <a:moveTo>
                  <a:pt x="46360" y="46360"/>
                </a:moveTo>
                <a:lnTo>
                  <a:pt x="46360" y="293614"/>
                </a:lnTo>
                <a:cubicBezTo>
                  <a:pt x="46360" y="310683"/>
                  <a:pt x="60197" y="324521"/>
                  <a:pt x="77267" y="324521"/>
                </a:cubicBezTo>
                <a:lnTo>
                  <a:pt x="324521" y="324521"/>
                </a:lnTo>
                <a:moveTo>
                  <a:pt x="293614" y="139080"/>
                </a:moveTo>
                <a:lnTo>
                  <a:pt x="216347" y="216347"/>
                </a:lnTo>
                <a:lnTo>
                  <a:pt x="154534" y="154534"/>
                </a:lnTo>
                <a:lnTo>
                  <a:pt x="108174" y="200894"/>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lugar para buscar todos los logs</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8</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contenedores observados</a:t>
            </a:r>
            <a:endParaRPr lang="en-US" sz="1300" dirty="0"/>
          </a:p>
        </p:txBody>
      </p:sp>
      <p:sp>
        <p:nvSpPr>
          <p:cNvPr id="21"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23" name="[p1] Icono braces"/>
          <p:cNvSpPr/>
          <p:nvPr/>
        </p:nvSpPr>
        <p:spPr>
          <a:xfrm>
            <a:off x="4258544" y="1955780"/>
            <a:ext cx="370881" cy="370881"/>
          </a:xfrm>
          <a:custGeom>
            <a:avLst/>
            <a:gdLst/>
            <a:ahLst/>
            <a:cxnLst/>
            <a:rect l="l" t="t" r="r" b="b"/>
            <a:pathLst>
              <a:path w="370881" h="370881">
                <a:moveTo>
                  <a:pt x="123627" y="46360"/>
                </a:moveTo>
                <a:lnTo>
                  <a:pt x="108174" y="46360"/>
                </a:lnTo>
                <a:cubicBezTo>
                  <a:pt x="91104" y="46360"/>
                  <a:pt x="77267" y="60197"/>
                  <a:pt x="77267" y="77267"/>
                </a:cubicBezTo>
                <a:lnTo>
                  <a:pt x="77267" y="154534"/>
                </a:lnTo>
                <a:cubicBezTo>
                  <a:pt x="77267" y="171603"/>
                  <a:pt x="63429" y="185440"/>
                  <a:pt x="46360" y="185440"/>
                </a:cubicBezTo>
                <a:cubicBezTo>
                  <a:pt x="63429" y="185440"/>
                  <a:pt x="77267" y="199278"/>
                  <a:pt x="77267" y="216347"/>
                </a:cubicBezTo>
                <a:lnTo>
                  <a:pt x="77267" y="293614"/>
                </a:lnTo>
                <a:cubicBezTo>
                  <a:pt x="77267" y="310613"/>
                  <a:pt x="91175" y="324521"/>
                  <a:pt x="108174" y="324521"/>
                </a:cubicBezTo>
                <a:lnTo>
                  <a:pt x="123627" y="324521"/>
                </a:lnTo>
                <a:moveTo>
                  <a:pt x="247254" y="324521"/>
                </a:moveTo>
                <a:lnTo>
                  <a:pt x="262707" y="324521"/>
                </a:lnTo>
                <a:cubicBezTo>
                  <a:pt x="279776" y="324521"/>
                  <a:pt x="293614" y="310683"/>
                  <a:pt x="293614" y="293614"/>
                </a:cubicBezTo>
                <a:lnTo>
                  <a:pt x="293614" y="216347"/>
                </a:lnTo>
                <a:cubicBezTo>
                  <a:pt x="293614" y="199348"/>
                  <a:pt x="307522" y="185440"/>
                  <a:pt x="324521" y="185440"/>
                </a:cubicBezTo>
                <a:cubicBezTo>
                  <a:pt x="307451" y="185440"/>
                  <a:pt x="293614" y="171603"/>
                  <a:pt x="293614" y="154534"/>
                </a:cubicBezTo>
                <a:lnTo>
                  <a:pt x="293614" y="77267"/>
                </a:lnTo>
                <a:cubicBezTo>
                  <a:pt x="293614" y="60197"/>
                  <a:pt x="279776" y="46360"/>
                  <a:pt x="262707" y="46360"/>
                </a:cubicBezTo>
                <a:lnTo>
                  <a:pt x="247254" y="46360"/>
                </a:lnTo>
              </a:path>
            </a:pathLst>
          </a:custGeom>
          <a:noFill/>
          <a:ln w="30907" cap="rnd">
            <a:solidFill>
              <a:srgbClr val="0B2350"/>
            </a:solidFill>
            <a:prstDash val="solid"/>
            <a:round/>
          </a:ln>
        </p:spPr>
      </p:sp>
      <p:sp>
        <p:nvSpPr>
          <p:cNvPr id="24"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Logs estructurados desde el día uno</a:t>
            </a:r>
            <a:endParaRPr lang="en-US" sz="1700" dirty="0"/>
          </a:p>
        </p:txBody>
      </p:sp>
      <p:sp>
        <p:nvSpPr>
          <p:cNvPr id="25"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JSON con formato estándar, sin cambiar el código de negocio.</a:t>
            </a:r>
            <a:endParaRPr lang="en-US" sz="1300" dirty="0"/>
          </a:p>
        </p:txBody>
      </p:sp>
      <p:sp>
        <p:nvSpPr>
          <p:cNvPr id="26"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Buscar por campo en lugar de leer texto.</a:t>
            </a:r>
            <a:endParaRPr lang="en-US" sz="1350" dirty="0"/>
          </a:p>
        </p:txBody>
      </p:sp>
      <p:sp>
        <p:nvSpPr>
          <p:cNvPr id="30"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32" name="[p2] Icono waypoints"/>
          <p:cNvSpPr/>
          <p:nvPr/>
        </p:nvSpPr>
        <p:spPr>
          <a:xfrm>
            <a:off x="4258544" y="3677900"/>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2350"/>
            </a:solidFill>
            <a:prstDash val="solid"/>
            <a:round/>
          </a:ln>
        </p:spPr>
      </p:sp>
      <p:sp>
        <p:nvSpPr>
          <p:cNvPr id="33"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Un identificador que cruce servicios</a:t>
            </a:r>
            <a:endParaRPr lang="en-US" sz="1700" dirty="0"/>
          </a:p>
        </p:txBody>
      </p:sp>
      <p:sp>
        <p:nvSpPr>
          <p:cNvPr id="34"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traceId viaja en cada llamada y el eventoId en cada log.</a:t>
            </a:r>
            <a:endParaRPr lang="en-US" sz="1300" dirty="0"/>
          </a:p>
        </p:txBody>
      </p:sp>
      <p:sp>
        <p:nvSpPr>
          <p:cNvPr id="35"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6"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un fallo entre servicios en minutos.</a:t>
            </a:r>
            <a:endParaRPr lang="en-US" sz="1350" dirty="0"/>
          </a:p>
        </p:txBody>
      </p:sp>
      <p:sp>
        <p:nvSpPr>
          <p:cNvPr id="39"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41" name="[p3] Icono activity"/>
          <p:cNvSpPr/>
          <p:nvPr/>
        </p:nvSpPr>
        <p:spPr>
          <a:xfrm>
            <a:off x="4258544" y="5400020"/>
            <a:ext cx="370881" cy="370881"/>
          </a:xfrm>
          <a:custGeom>
            <a:avLst/>
            <a:gdLst/>
            <a:ahLst/>
            <a:cxnLst/>
            <a:rect l="l" t="t" r="r" b="b"/>
            <a:pathLst>
              <a:path w="370881" h="370881">
                <a:moveTo>
                  <a:pt x="339974" y="185440"/>
                </a:moveTo>
                <a:lnTo>
                  <a:pt x="301650" y="185440"/>
                </a:lnTo>
                <a:cubicBezTo>
                  <a:pt x="287770" y="185411"/>
                  <a:pt x="275572" y="194638"/>
                  <a:pt x="271825" y="208002"/>
                </a:cubicBezTo>
                <a:lnTo>
                  <a:pt x="235509" y="337192"/>
                </a:lnTo>
                <a:cubicBezTo>
                  <a:pt x="235028" y="338841"/>
                  <a:pt x="233517" y="339974"/>
                  <a:pt x="231800" y="339974"/>
                </a:cubicBezTo>
                <a:cubicBezTo>
                  <a:pt x="230083" y="339974"/>
                  <a:pt x="228572" y="338841"/>
                  <a:pt x="228092" y="337192"/>
                </a:cubicBezTo>
                <a:lnTo>
                  <a:pt x="142789" y="33688"/>
                </a:lnTo>
                <a:cubicBezTo>
                  <a:pt x="142308" y="32040"/>
                  <a:pt x="140797" y="30907"/>
                  <a:pt x="139080" y="30907"/>
                </a:cubicBezTo>
                <a:cubicBezTo>
                  <a:pt x="137363" y="30907"/>
                  <a:pt x="135852" y="32040"/>
                  <a:pt x="135371" y="33688"/>
                </a:cubicBezTo>
                <a:lnTo>
                  <a:pt x="99056" y="162878"/>
                </a:lnTo>
                <a:cubicBezTo>
                  <a:pt x="95324" y="176188"/>
                  <a:pt x="83208" y="185401"/>
                  <a:pt x="69386" y="185440"/>
                </a:cubicBezTo>
                <a:lnTo>
                  <a:pt x="30907" y="185440"/>
                </a:lnTo>
              </a:path>
            </a:pathLst>
          </a:custGeom>
          <a:noFill/>
          <a:ln w="30907" cap="rnd">
            <a:solidFill>
              <a:srgbClr val="0B2350"/>
            </a:solidFill>
            <a:prstDash val="solid"/>
            <a:round/>
          </a:ln>
        </p:spPr>
      </p:sp>
      <p:sp>
        <p:nvSpPr>
          <p:cNvPr id="42"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Salud no es lo mismo que correcto</a:t>
            </a:r>
            <a:endParaRPr lang="en-US" sz="1700" dirty="0"/>
          </a:p>
        </p:txBody>
      </p:sp>
      <p:sp>
        <p:nvSpPr>
          <p:cNvPr id="43"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UP dice que responde; los pendientes dicen si entrega.</a:t>
            </a:r>
            <a:endParaRPr lang="en-US" sz="1300" dirty="0"/>
          </a:p>
        </p:txBody>
      </p:sp>
      <p:sp>
        <p:nvSpPr>
          <p:cNvPr id="44"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5"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Medir el resultado del negocio, no solo el proceso.</a:t>
            </a:r>
            <a:endParaRPr lang="en-US" sz="135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DEMOSTRACIÓN CON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UI: lo que contamos, en vivo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forma de ver funcionando cada parte de la presentación.</a:t>
            </a:r>
            <a:endParaRPr lang="en-US" sz="1700" dirty="0"/>
          </a:p>
        </p:txBody>
      </p:sp>
      <p:sp>
        <p:nvSpPr>
          <p:cNvPr id="13" name="Shape 11"/>
          <p:cNvSpPr/>
          <p:nvPr/>
        </p:nvSpPr>
        <p:spPr>
          <a:xfrm>
            <a:off x="61264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722376" y="1816730"/>
            <a:ext cx="74615" cy="74615"/>
          </a:xfrm>
          <a:prstGeom prst="ellipse">
            <a:avLst/>
          </a:prstGeom>
          <a:solidFill>
            <a:srgbClr val="E5484D"/>
          </a:solidFill>
          <a:ln w="12700">
            <a:solidFill>
              <a:srgbClr val="E5484D"/>
            </a:solidFill>
            <a:prstDash val="solid"/>
          </a:ln>
        </p:spPr>
      </p:sp>
      <p:sp>
        <p:nvSpPr>
          <p:cNvPr id="15" name="Shape 13"/>
          <p:cNvSpPr/>
          <p:nvPr/>
        </p:nvSpPr>
        <p:spPr>
          <a:xfrm>
            <a:off x="821131" y="1816730"/>
            <a:ext cx="74615" cy="74615"/>
          </a:xfrm>
          <a:prstGeom prst="ellipse">
            <a:avLst/>
          </a:prstGeom>
          <a:solidFill>
            <a:srgbClr val="F5A524"/>
          </a:solidFill>
          <a:ln w="12700">
            <a:solidFill>
              <a:srgbClr val="F5A524"/>
            </a:solidFill>
            <a:prstDash val="solid"/>
          </a:ln>
        </p:spPr>
      </p:sp>
      <p:sp>
        <p:nvSpPr>
          <p:cNvPr id="16" name="Shape 14"/>
          <p:cNvSpPr/>
          <p:nvPr/>
        </p:nvSpPr>
        <p:spPr>
          <a:xfrm>
            <a:off x="919886" y="1816730"/>
            <a:ext cx="74615" cy="74615"/>
          </a:xfrm>
          <a:prstGeom prst="ellipse">
            <a:avLst/>
          </a:prstGeom>
          <a:solidFill>
            <a:srgbClr val="30A46C"/>
          </a:solidFill>
          <a:ln w="12700">
            <a:solidFill>
              <a:srgbClr val="30A46C"/>
            </a:solidFill>
            <a:prstDash val="solid"/>
          </a:ln>
        </p:spPr>
      </p:sp>
      <p:sp>
        <p:nvSpPr>
          <p:cNvPr id="17" name="Text 15"/>
          <p:cNvSpPr/>
          <p:nvPr/>
        </p:nvSpPr>
        <p:spPr>
          <a:xfrm>
            <a:off x="112471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localhost:8088/#/solicitudes</a:t>
            </a:r>
            <a:endParaRPr lang="en-US" sz="700" dirty="0"/>
          </a:p>
        </p:txBody>
      </p:sp>
      <p:pic>
        <p:nvPicPr>
          <p:cNvPr id="18" name="Image 0" descr="Solicitudes">    </p:cNvPr>
          <p:cNvPicPr>
            <a:picLocks noChangeAspect="1"/>
          </p:cNvPicPr>
          <p:nvPr/>
        </p:nvPicPr>
        <p:blipFill>
          <a:blip r:embed="rId1"/>
          <a:stretch>
            <a:fillRect/>
          </a:stretch>
        </p:blipFill>
        <p:spPr>
          <a:xfrm>
            <a:off x="612648" y="1965960"/>
            <a:ext cx="2877386" cy="1798366"/>
          </a:xfrm>
          <a:prstGeom prst="rect">
            <a:avLst/>
          </a:prstGeom>
        </p:spPr>
      </p:pic>
      <p:sp>
        <p:nvSpPr>
          <p:cNvPr id="19" name="Text 16"/>
          <p:cNvSpPr/>
          <p:nvPr/>
        </p:nvSpPr>
        <p:spPr>
          <a:xfrm>
            <a:off x="3727778"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20" name="Text 17"/>
          <p:cNvSpPr/>
          <p:nvPr/>
        </p:nvSpPr>
        <p:spPr>
          <a:xfrm>
            <a:off x="4184978"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Solicitudes</a:t>
            </a:r>
            <a:endParaRPr lang="en-US" sz="2000" dirty="0"/>
          </a:p>
        </p:txBody>
      </p:sp>
      <p:sp>
        <p:nvSpPr>
          <p:cNvPr id="21" name="Text 18"/>
          <p:cNvSpPr/>
          <p:nvPr/>
        </p:nvSpPr>
        <p:spPr>
          <a:xfrm>
            <a:off x="3727778"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El negocio: estados y errores 400, 404 y 409.</a:t>
            </a:r>
            <a:endParaRPr lang="en-US" sz="1400" dirty="0"/>
          </a:p>
        </p:txBody>
      </p:sp>
      <p:sp>
        <p:nvSpPr>
          <p:cNvPr id="22" name="[p1] Forma"/>
          <p:cNvSpPr/>
          <p:nvPr/>
        </p:nvSpPr>
        <p:spPr>
          <a:xfrm>
            <a:off x="627872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23" name="[p1] Forma"/>
          <p:cNvSpPr/>
          <p:nvPr/>
        </p:nvSpPr>
        <p:spPr>
          <a:xfrm>
            <a:off x="6388456" y="1816730"/>
            <a:ext cx="74615" cy="74615"/>
          </a:xfrm>
          <a:prstGeom prst="ellipse">
            <a:avLst/>
          </a:prstGeom>
          <a:solidFill>
            <a:srgbClr val="E5484D"/>
          </a:solidFill>
          <a:ln w="12700">
            <a:solidFill>
              <a:srgbClr val="E5484D"/>
            </a:solidFill>
            <a:prstDash val="solid"/>
          </a:ln>
        </p:spPr>
      </p:sp>
      <p:sp>
        <p:nvSpPr>
          <p:cNvPr id="24" name="[p1] Forma"/>
          <p:cNvSpPr/>
          <p:nvPr/>
        </p:nvSpPr>
        <p:spPr>
          <a:xfrm>
            <a:off x="6487211" y="1816730"/>
            <a:ext cx="74615" cy="74615"/>
          </a:xfrm>
          <a:prstGeom prst="ellipse">
            <a:avLst/>
          </a:prstGeom>
          <a:solidFill>
            <a:srgbClr val="F5A524"/>
          </a:solidFill>
          <a:ln w="12700">
            <a:solidFill>
              <a:srgbClr val="F5A524"/>
            </a:solidFill>
            <a:prstDash val="solid"/>
          </a:ln>
        </p:spPr>
      </p:sp>
      <p:sp>
        <p:nvSpPr>
          <p:cNvPr id="25" name="[p1] Forma"/>
          <p:cNvSpPr/>
          <p:nvPr/>
        </p:nvSpPr>
        <p:spPr>
          <a:xfrm>
            <a:off x="6585966" y="1816730"/>
            <a:ext cx="74615" cy="74615"/>
          </a:xfrm>
          <a:prstGeom prst="ellipse">
            <a:avLst/>
          </a:prstGeom>
          <a:solidFill>
            <a:srgbClr val="30A46C"/>
          </a:solidFill>
          <a:ln w="12700">
            <a:solidFill>
              <a:srgbClr val="30A46C"/>
            </a:solidFill>
            <a:prstDash val="solid"/>
          </a:ln>
        </p:spPr>
      </p:sp>
      <p:sp>
        <p:nvSpPr>
          <p:cNvPr id="26" name="[p1] Forma"/>
          <p:cNvSpPr/>
          <p:nvPr/>
        </p:nvSpPr>
        <p:spPr>
          <a:xfrm>
            <a:off x="679079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localhost:8088/#/enviadas</a:t>
            </a:r>
            <a:endParaRPr lang="en-US" sz="700" dirty="0"/>
          </a:p>
        </p:txBody>
      </p:sp>
      <p:pic>
        <p:nvPicPr>
          <p:cNvPr id="27" name="[p1] Forma" descr="Enviadas">    </p:cNvPr>
          <p:cNvPicPr>
            <a:picLocks noChangeAspect="1"/>
          </p:cNvPicPr>
          <p:nvPr/>
        </p:nvPicPr>
        <p:blipFill>
          <a:blip r:embed="rId2"/>
          <a:stretch>
            <a:fillRect/>
          </a:stretch>
        </p:blipFill>
        <p:spPr>
          <a:xfrm>
            <a:off x="6278728" y="1965960"/>
            <a:ext cx="2877386" cy="1798366"/>
          </a:xfrm>
          <a:prstGeom prst="rect">
            <a:avLst/>
          </a:prstGeom>
        </p:spPr>
      </p:pic>
      <p:sp>
        <p:nvSpPr>
          <p:cNvPr id="28" name="[p1] Forma"/>
          <p:cNvSpPr/>
          <p:nvPr/>
        </p:nvSpPr>
        <p:spPr>
          <a:xfrm>
            <a:off x="9393857"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29" name="[p1] Forma"/>
          <p:cNvSpPr/>
          <p:nvPr/>
        </p:nvSpPr>
        <p:spPr>
          <a:xfrm>
            <a:off x="9851057"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Enviadas</a:t>
            </a:r>
            <a:endParaRPr lang="en-US" sz="2000" dirty="0"/>
          </a:p>
        </p:txBody>
      </p:sp>
      <p:sp>
        <p:nvSpPr>
          <p:cNvPr id="30" name="[p1] Forma"/>
          <p:cNvSpPr/>
          <p:nvPr/>
        </p:nvSpPr>
        <p:spPr>
          <a:xfrm>
            <a:off x="9393857"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La interconexión: pendientes, entregados y Reentregar.</a:t>
            </a:r>
            <a:endParaRPr lang="en-US" sz="1400" dirty="0"/>
          </a:p>
        </p:txBody>
      </p:sp>
      <p:sp>
        <p:nvSpPr>
          <p:cNvPr id="31" name="[p2] Forma"/>
          <p:cNvSpPr/>
          <p:nvPr/>
        </p:nvSpPr>
        <p:spPr>
          <a:xfrm>
            <a:off x="61264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32" name="[p2] Forma"/>
          <p:cNvSpPr/>
          <p:nvPr/>
        </p:nvSpPr>
        <p:spPr>
          <a:xfrm>
            <a:off x="722376" y="3974714"/>
            <a:ext cx="74615" cy="74615"/>
          </a:xfrm>
          <a:prstGeom prst="ellipse">
            <a:avLst/>
          </a:prstGeom>
          <a:solidFill>
            <a:srgbClr val="E5484D"/>
          </a:solidFill>
          <a:ln w="12700">
            <a:solidFill>
              <a:srgbClr val="E5484D"/>
            </a:solidFill>
            <a:prstDash val="solid"/>
          </a:ln>
        </p:spPr>
      </p:sp>
      <p:sp>
        <p:nvSpPr>
          <p:cNvPr id="33" name="[p2] Forma"/>
          <p:cNvSpPr/>
          <p:nvPr/>
        </p:nvSpPr>
        <p:spPr>
          <a:xfrm>
            <a:off x="821131" y="3974714"/>
            <a:ext cx="74615" cy="74615"/>
          </a:xfrm>
          <a:prstGeom prst="ellipse">
            <a:avLst/>
          </a:prstGeom>
          <a:solidFill>
            <a:srgbClr val="F5A524"/>
          </a:solidFill>
          <a:ln w="12700">
            <a:solidFill>
              <a:srgbClr val="F5A524"/>
            </a:solidFill>
            <a:prstDash val="solid"/>
          </a:ln>
        </p:spPr>
      </p:sp>
      <p:sp>
        <p:nvSpPr>
          <p:cNvPr id="34" name="[p2] Forma"/>
          <p:cNvSpPr/>
          <p:nvPr/>
        </p:nvSpPr>
        <p:spPr>
          <a:xfrm>
            <a:off x="919886" y="3974714"/>
            <a:ext cx="74615" cy="74615"/>
          </a:xfrm>
          <a:prstGeom prst="ellipse">
            <a:avLst/>
          </a:prstGeom>
          <a:solidFill>
            <a:srgbClr val="30A46C"/>
          </a:solidFill>
          <a:ln w="12700">
            <a:solidFill>
              <a:srgbClr val="30A46C"/>
            </a:solidFill>
            <a:prstDash val="solid"/>
          </a:ln>
        </p:spPr>
      </p:sp>
      <p:sp>
        <p:nvSpPr>
          <p:cNvPr id="35" name="[p2] Forma"/>
          <p:cNvSpPr/>
          <p:nvPr/>
        </p:nvSpPr>
        <p:spPr>
          <a:xfrm>
            <a:off x="112471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36" name="[p2] Forma" descr="Salud">    </p:cNvPr>
          <p:cNvPicPr>
            <a:picLocks noChangeAspect="1"/>
          </p:cNvPicPr>
          <p:nvPr/>
        </p:nvPicPr>
        <p:blipFill>
          <a:blip r:embed="rId3"/>
          <a:stretch>
            <a:fillRect/>
          </a:stretch>
        </p:blipFill>
        <p:spPr>
          <a:xfrm>
            <a:off x="612648" y="4123944"/>
            <a:ext cx="2877386" cy="1798366"/>
          </a:xfrm>
          <a:prstGeom prst="rect">
            <a:avLst/>
          </a:prstGeom>
        </p:spPr>
      </p:pic>
      <p:sp>
        <p:nvSpPr>
          <p:cNvPr id="37" name="[p2] Forma"/>
          <p:cNvSpPr/>
          <p:nvPr/>
        </p:nvSpPr>
        <p:spPr>
          <a:xfrm>
            <a:off x="3727778"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38" name="[p2] Forma"/>
          <p:cNvSpPr/>
          <p:nvPr/>
        </p:nvSpPr>
        <p:spPr>
          <a:xfrm>
            <a:off x="4184978"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Salud</a:t>
            </a:r>
            <a:endParaRPr lang="en-US" sz="2000" dirty="0"/>
          </a:p>
        </p:txBody>
      </p:sp>
      <p:sp>
        <p:nvSpPr>
          <p:cNvPr id="39" name="[p2] Forma"/>
          <p:cNvSpPr/>
          <p:nvPr/>
        </p:nvSpPr>
        <p:spPr>
          <a:xfrm>
            <a:off x="3727778"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La observabilidad: UP o DOWN, Swagger y Grafana.</a:t>
            </a:r>
            <a:endParaRPr lang="en-US" sz="1400" dirty="0"/>
          </a:p>
        </p:txBody>
      </p:sp>
      <p:sp>
        <p:nvSpPr>
          <p:cNvPr id="40" name="[p3] Forma"/>
          <p:cNvSpPr/>
          <p:nvPr/>
        </p:nvSpPr>
        <p:spPr>
          <a:xfrm>
            <a:off x="627872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41" name="[p3] Forma"/>
          <p:cNvSpPr/>
          <p:nvPr/>
        </p:nvSpPr>
        <p:spPr>
          <a:xfrm>
            <a:off x="6388456" y="3974714"/>
            <a:ext cx="74615" cy="74615"/>
          </a:xfrm>
          <a:prstGeom prst="ellipse">
            <a:avLst/>
          </a:prstGeom>
          <a:solidFill>
            <a:srgbClr val="E5484D"/>
          </a:solidFill>
          <a:ln w="12700">
            <a:solidFill>
              <a:srgbClr val="E5484D"/>
            </a:solidFill>
            <a:prstDash val="solid"/>
          </a:ln>
        </p:spPr>
      </p:sp>
      <p:sp>
        <p:nvSpPr>
          <p:cNvPr id="42" name="[p3] Forma"/>
          <p:cNvSpPr/>
          <p:nvPr/>
        </p:nvSpPr>
        <p:spPr>
          <a:xfrm>
            <a:off x="6487211" y="3974714"/>
            <a:ext cx="74615" cy="74615"/>
          </a:xfrm>
          <a:prstGeom prst="ellipse">
            <a:avLst/>
          </a:prstGeom>
          <a:solidFill>
            <a:srgbClr val="F5A524"/>
          </a:solidFill>
          <a:ln w="12700">
            <a:solidFill>
              <a:srgbClr val="F5A524"/>
            </a:solidFill>
            <a:prstDash val="solid"/>
          </a:ln>
        </p:spPr>
      </p:sp>
      <p:sp>
        <p:nvSpPr>
          <p:cNvPr id="43" name="[p3] Forma"/>
          <p:cNvSpPr/>
          <p:nvPr/>
        </p:nvSpPr>
        <p:spPr>
          <a:xfrm>
            <a:off x="6585966" y="3974714"/>
            <a:ext cx="74615" cy="74615"/>
          </a:xfrm>
          <a:prstGeom prst="ellipse">
            <a:avLst/>
          </a:prstGeom>
          <a:solidFill>
            <a:srgbClr val="30A46C"/>
          </a:solidFill>
          <a:ln w="12700">
            <a:solidFill>
              <a:srgbClr val="30A46C"/>
            </a:solidFill>
            <a:prstDash val="solid"/>
          </a:ln>
        </p:spPr>
      </p:sp>
      <p:sp>
        <p:nvSpPr>
          <p:cNvPr id="44" name="[p3] Forma"/>
          <p:cNvSpPr/>
          <p:nvPr/>
        </p:nvSpPr>
        <p:spPr>
          <a:xfrm>
            <a:off x="679079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localhost:8088/#/ayuda</a:t>
            </a:r>
            <a:endParaRPr lang="en-US" sz="700" dirty="0"/>
          </a:p>
        </p:txBody>
      </p:sp>
      <p:pic>
        <p:nvPicPr>
          <p:cNvPr id="45" name="[p3] Forma" descr="Ayuda">    </p:cNvPr>
          <p:cNvPicPr>
            <a:picLocks noChangeAspect="1"/>
          </p:cNvPicPr>
          <p:nvPr/>
        </p:nvPicPr>
        <p:blipFill>
          <a:blip r:embed="rId4"/>
          <a:stretch>
            <a:fillRect/>
          </a:stretch>
        </p:blipFill>
        <p:spPr>
          <a:xfrm>
            <a:off x="6278728" y="4123944"/>
            <a:ext cx="2877386" cy="1798366"/>
          </a:xfrm>
          <a:prstGeom prst="rect">
            <a:avLst/>
          </a:prstGeom>
        </p:spPr>
      </p:pic>
      <p:sp>
        <p:nvSpPr>
          <p:cNvPr id="46" name="[p3] Forma"/>
          <p:cNvSpPr/>
          <p:nvPr/>
        </p:nvSpPr>
        <p:spPr>
          <a:xfrm>
            <a:off x="9393857"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47" name="[p3] Forma"/>
          <p:cNvSpPr/>
          <p:nvPr/>
        </p:nvSpPr>
        <p:spPr>
          <a:xfrm>
            <a:off x="9851057"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Ayuda</a:t>
            </a:r>
            <a:endParaRPr lang="en-US" sz="2000" dirty="0"/>
          </a:p>
        </p:txBody>
      </p:sp>
      <p:sp>
        <p:nvSpPr>
          <p:cNvPr id="48" name="[p3] Forma"/>
          <p:cNvSpPr/>
          <p:nvPr/>
        </p:nvSpPr>
        <p:spPr>
          <a:xfrm>
            <a:off x="9393857"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Diagramas paso a paso.</a:t>
            </a:r>
            <a:endParaRPr lang="en-US" sz="1400" dirty="0"/>
          </a:p>
        </p:txBody>
      </p:sp>
      <p:sp>
        <p:nvSpPr>
          <p:cNvPr id="49" name="Shape 43"/>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Hace visible lo que normalmente no se ve: la bandeja de salida, los reintentos y la idempotencia.</a:t>
            </a:r>
            <a:endParaRPr lang="en-US" sz="1400" dirty="0"/>
          </a:p>
        </p:txBody>
      </p:sp>
      <p:sp>
        <p:nvSpPr>
          <p:cNvPr id="52"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DEMOSTRACIÓN CON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4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4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400"/>
                                        <p:tgtEl>
                                          <p:spTgt spid="30"/>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40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40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40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40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0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400"/>
                                        <p:tgtEl>
                                          <p:spTgt spid="39"/>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40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40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40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400"/>
                                        <p:tgtEl>
                                          <p:spTgt spid="4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400"/>
                                        <p:tgtEl>
                                          <p:spTgt spid="4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400"/>
                                        <p:tgtEl>
                                          <p:spTgt spid="4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fade">
                                      <p:cBhvr>
                                        <p:cTn id="81" dur="400"/>
                                        <p:tgtEl>
                                          <p:spTgt spid="4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fade">
                                      <p:cBhvr>
                                        <p:cTn id="84" dur="400"/>
                                        <p:tgtEl>
                                          <p:spTgt spid="4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animEffect transition="in" filter="fade">
                                      <p:cBhvr>
                                        <p:cTn id="87"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DEMOSTRACIÓN CON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 vivo: si notificaciones se cae</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persona no se entera; el aviso llega cuando el servicio vuelve, una sola vez.</a:t>
            </a:r>
            <a:endParaRPr lang="en-US" sz="1700" dirty="0"/>
          </a:p>
        </p:txBody>
      </p:sp>
      <p:sp>
        <p:nvSpPr>
          <p:cNvPr id="13" name="Shape 11"/>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28800"/>
            <a:ext cx="82296" cy="530352"/>
          </a:xfrm>
          <a:prstGeom prst="rect">
            <a:avLst/>
          </a:prstGeom>
          <a:solidFill>
            <a:srgbClr val="AB243E"/>
          </a:solidFill>
          <a:ln w="12700">
            <a:solidFill>
              <a:srgbClr val="AB243E"/>
            </a:solidFill>
            <a:prstDash val="solid"/>
          </a:ln>
        </p:spPr>
      </p:sp>
      <p:sp>
        <p:nvSpPr>
          <p:cNvPr id="15" name="Shape 13"/>
          <p:cNvSpPr/>
          <p:nvPr/>
        </p:nvSpPr>
        <p:spPr>
          <a:xfrm>
            <a:off x="886968" y="1819656"/>
            <a:ext cx="548640" cy="548640"/>
          </a:xfrm>
          <a:prstGeom prst="ellipse">
            <a:avLst/>
          </a:prstGeom>
          <a:solidFill>
            <a:srgbClr val="AB243E"/>
          </a:solidFill>
          <a:ln w="12700">
            <a:solidFill>
              <a:srgbClr val="AB243E"/>
            </a:solidFill>
            <a:prstDash val="solid"/>
          </a:ln>
        </p:spPr>
      </p:sp>
      <p:sp>
        <p:nvSpPr>
          <p:cNvPr id="16"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7" name="Text 15"/>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8" name="Text 16"/>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700" b="1" dirty="0">
                <a:solidFill>
                  <a:srgbClr val="AB243E"/>
                </a:solidFill>
                <a:latin typeface="Segoe UI" pitchFamily="34" charset="0"/>
                <a:ea typeface="Segoe UI" pitchFamily="34" charset="-122"/>
                <a:cs typeface="Segoe UI" pitchFamily="34" charset="-120"/>
              </a:rPr>
              <a:t>notificaciones está caído</a:t>
            </a:r>
            <a:pPr indent="0" marL="0">
              <a:buNone/>
            </a:pPr>
            <a:r>
              <a:rPr lang="en-US" sz="1700" dirty="0">
                <a:solidFill>
                  <a:srgbClr val="0B1A3C"/>
                </a:solidFill>
                <a:latin typeface="Segoe UI" pitchFamily="34" charset="0"/>
                <a:ea typeface="Segoe UI" pitchFamily="34" charset="-122"/>
                <a:cs typeface="Segoe UI" pitchFamily="34" charset="-120"/>
              </a:rPr>
              <a:t>   docker compose stop servicio-notificaciones</a:t>
            </a:r>
            <a:endParaRPr lang="en-US" sz="1700" dirty="0"/>
          </a:p>
        </p:txBody>
      </p:sp>
      <p:sp>
        <p:nvSpPr>
          <p:cNvPr id="19" name="[p5] Forma"/>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0" name="[p5] Forma"/>
          <p:cNvSpPr/>
          <p:nvPr/>
        </p:nvSpPr>
        <p:spPr>
          <a:xfrm>
            <a:off x="612648" y="5715000"/>
            <a:ext cx="82296" cy="530352"/>
          </a:xfrm>
          <a:prstGeom prst="rect">
            <a:avLst/>
          </a:prstGeom>
          <a:solidFill>
            <a:srgbClr val="0A6648"/>
          </a:solidFill>
          <a:ln w="12700">
            <a:solidFill>
              <a:srgbClr val="0A6648"/>
            </a:solidFill>
            <a:prstDash val="solid"/>
          </a:ln>
        </p:spPr>
      </p:sp>
      <p:sp>
        <p:nvSpPr>
          <p:cNvPr id="21" name="[p5] Forma"/>
          <p:cNvSpPr/>
          <p:nvPr/>
        </p:nvSpPr>
        <p:spPr>
          <a:xfrm>
            <a:off x="886968" y="5705856"/>
            <a:ext cx="548640" cy="548640"/>
          </a:xfrm>
          <a:prstGeom prst="ellipse">
            <a:avLst/>
          </a:prstGeom>
          <a:solidFill>
            <a:srgbClr val="0A6648"/>
          </a:solidFill>
          <a:ln w="12700">
            <a:solidFill>
              <a:srgbClr val="0A6648"/>
            </a:solidFill>
            <a:prstDash val="solid"/>
          </a:ln>
        </p:spPr>
      </p:sp>
      <p:sp>
        <p:nvSpPr>
          <p:cNvPr id="22" name="[p5] 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3" name="[p5] Forma"/>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4" name="[p5] Forma"/>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700" b="1" dirty="0">
                <a:solidFill>
                  <a:srgbClr val="0A6648"/>
                </a:solidFill>
                <a:latin typeface="Segoe UI" pitchFamily="34" charset="0"/>
                <a:ea typeface="Segoe UI" pitchFamily="34" charset="-122"/>
                <a:cs typeface="Segoe UI" pitchFamily="34" charset="-120"/>
              </a:rPr>
              <a:t>1 aviso, 0 perdidos</a:t>
            </a:r>
            <a:pPr indent="0" marL="0">
              <a:buNone/>
            </a:pPr>
            <a:r>
              <a:rPr lang="en-US" sz="1700" dirty="0">
                <a:solidFill>
                  <a:srgbClr val="0B1A3C"/>
                </a:solidFill>
                <a:latin typeface="Segoe UI" pitchFamily="34" charset="0"/>
                <a:ea typeface="Segoe UI" pitchFamily="34" charset="-122"/>
                <a:cs typeface="Segoe UI" pitchFamily="34" charset="-120"/>
              </a:rPr>
              <a:t>   Sin intervención y, al reentregar, sin duplicados.</a:t>
            </a:r>
            <a:endParaRPr lang="en-US" sz="1700" dirty="0"/>
          </a:p>
        </p:txBody>
      </p:sp>
      <p:sp>
        <p:nvSpPr>
          <p:cNvPr id="25" name="[p5] Forma"/>
          <p:cNvSpPr/>
          <p:nvPr/>
        </p:nvSpPr>
        <p:spPr>
          <a:xfrm>
            <a:off x="10208247" y="5367528"/>
            <a:ext cx="0" cy="219456"/>
          </a:xfrm>
          <a:prstGeom prst="line">
            <a:avLst/>
          </a:prstGeom>
          <a:noFill/>
          <a:ln w="25400">
            <a:solidFill>
              <a:srgbClr val="0A6648"/>
            </a:solidFill>
            <a:prstDash val="dash"/>
            <a:tailEnd type="triangle"/>
          </a:ln>
        </p:spPr>
      </p:sp>
      <p:sp>
        <p:nvSpPr>
          <p:cNvPr id="26" name="[p1] Forma"/>
          <p:cNvSpPr/>
          <p:nvPr/>
        </p:nvSpPr>
        <p:spPr>
          <a:xfrm>
            <a:off x="2631940" y="2487168"/>
            <a:ext cx="0" cy="1005108"/>
          </a:xfrm>
          <a:prstGeom prst="line">
            <a:avLst/>
          </a:prstGeom>
          <a:noFill/>
          <a:ln w="25400">
            <a:solidFill>
              <a:srgbClr val="AB243E"/>
            </a:solidFill>
            <a:prstDash val="dash"/>
            <a:tailEnd type="triangle"/>
          </a:ln>
        </p:spPr>
      </p:sp>
      <p:sp>
        <p:nvSpPr>
          <p:cNvPr id="27" name="[p1] Forma"/>
          <p:cNvSpPr/>
          <p:nvPr/>
        </p:nvSpPr>
        <p:spPr>
          <a:xfrm>
            <a:off x="1983448" y="3602004"/>
            <a:ext cx="8224799" cy="0"/>
          </a:xfrm>
          <a:prstGeom prst="line">
            <a:avLst/>
          </a:prstGeom>
          <a:noFill/>
          <a:ln w="50800">
            <a:solidFill>
              <a:srgbClr val="6BC1DB"/>
            </a:solidFill>
            <a:prstDash val="solid"/>
          </a:ln>
        </p:spPr>
      </p:sp>
      <p:sp>
        <p:nvSpPr>
          <p:cNvPr id="28" name="[p1] Forma"/>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29" name="[p1] Forma"/>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0" name="[p1] Icono send"/>
          <p:cNvSpPr/>
          <p:nvPr/>
        </p:nvSpPr>
        <p:spPr>
          <a:xfrm>
            <a:off x="1756706" y="3375263"/>
            <a:ext cx="453484" cy="453484"/>
          </a:xfrm>
          <a:custGeom>
            <a:avLst/>
            <a:gdLst/>
            <a:ahLst/>
            <a:cxnLst/>
            <a:rect l="l" t="t" r="r" b="b"/>
            <a:pathLst>
              <a:path w="453484" h="453484">
                <a:moveTo>
                  <a:pt x="274660" y="409760"/>
                </a:moveTo>
                <a:cubicBezTo>
                  <a:pt x="276130" y="413424"/>
                  <a:pt x="279724" y="415788"/>
                  <a:pt x="283670" y="415687"/>
                </a:cubicBezTo>
                <a:cubicBezTo>
                  <a:pt x="287617" y="415586"/>
                  <a:pt x="291084" y="413041"/>
                  <a:pt x="292365" y="409307"/>
                </a:cubicBezTo>
                <a:lnTo>
                  <a:pt x="415183" y="50299"/>
                </a:lnTo>
                <a:cubicBezTo>
                  <a:pt x="416418" y="46881"/>
                  <a:pt x="415565" y="43058"/>
                  <a:pt x="412996" y="40488"/>
                </a:cubicBezTo>
                <a:cubicBezTo>
                  <a:pt x="410426" y="37919"/>
                  <a:pt x="406603" y="37066"/>
                  <a:pt x="403185" y="38300"/>
                </a:cubicBezTo>
                <a:lnTo>
                  <a:pt x="44177" y="161119"/>
                </a:lnTo>
                <a:cubicBezTo>
                  <a:pt x="40443" y="162400"/>
                  <a:pt x="37898" y="165867"/>
                  <a:pt x="37797" y="169814"/>
                </a:cubicBezTo>
                <a:cubicBezTo>
                  <a:pt x="37696" y="173760"/>
                  <a:pt x="40060" y="177354"/>
                  <a:pt x="43723" y="178824"/>
                </a:cubicBezTo>
                <a:lnTo>
                  <a:pt x="193562" y="238910"/>
                </a:lnTo>
                <a:cubicBezTo>
                  <a:pt x="203134" y="242743"/>
                  <a:pt x="210724" y="250319"/>
                  <a:pt x="214573" y="259884"/>
                </a:cubicBezTo>
                <a:close/>
                <a:moveTo>
                  <a:pt x="412935" y="40568"/>
                </a:moveTo>
                <a:lnTo>
                  <a:pt x="206222" y="247262"/>
                </a:lnTo>
              </a:path>
            </a:pathLst>
          </a:custGeom>
          <a:noFill/>
          <a:ln w="33067" cap="rnd">
            <a:solidFill>
              <a:srgbClr val="0B2350"/>
            </a:solidFill>
            <a:prstDash val="solid"/>
            <a:round/>
          </a:ln>
        </p:spPr>
      </p:sp>
      <p:sp>
        <p:nvSpPr>
          <p:cNvPr id="31" name="[p2] Forma"/>
          <p:cNvSpPr/>
          <p:nvPr/>
        </p:nvSpPr>
        <p:spPr>
          <a:xfrm>
            <a:off x="2476492" y="3602004"/>
            <a:ext cx="1755511" cy="0"/>
          </a:xfrm>
          <a:prstGeom prst="line">
            <a:avLst/>
          </a:prstGeom>
          <a:noFill/>
          <a:ln w="38100">
            <a:solidFill>
              <a:srgbClr val="2BA6CB"/>
            </a:solidFill>
            <a:prstDash val="solid"/>
            <a:tailEnd type="triangle"/>
          </a:ln>
        </p:spPr>
      </p:sp>
      <p:sp>
        <p:nvSpPr>
          <p:cNvPr id="32" name="[p1] Forma"/>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Enviar</a:t>
            </a:r>
            <a:endParaRPr lang="en-US" sz="1700" dirty="0"/>
          </a:p>
        </p:txBody>
      </p:sp>
      <p:sp>
        <p:nvSpPr>
          <p:cNvPr id="33" name="[p1] Forma"/>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Responde bien: solicitud ENVIADA y evento guardado.</a:t>
            </a:r>
            <a:endParaRPr lang="en-US" sz="1300" dirty="0"/>
          </a:p>
        </p:txBody>
      </p:sp>
      <p:sp>
        <p:nvSpPr>
          <p:cNvPr id="34" name="[p2] Forma"/>
          <p:cNvSpPr/>
          <p:nvPr/>
        </p:nvSpPr>
        <p:spPr>
          <a:xfrm>
            <a:off x="41306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cada 5 s</a:t>
            </a:r>
            <a:endParaRPr lang="en-US" sz="1100" dirty="0"/>
          </a:p>
        </p:txBody>
      </p:sp>
      <p:sp>
        <p:nvSpPr>
          <p:cNvPr id="35" name="[p2] Forma"/>
          <p:cNvSpPr/>
          <p:nvPr/>
        </p:nvSpPr>
        <p:spPr>
          <a:xfrm>
            <a:off x="43051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6" name="[p2] Icono refresh-cw"/>
          <p:cNvSpPr/>
          <p:nvPr/>
        </p:nvSpPr>
        <p:spPr>
          <a:xfrm>
            <a:off x="4498306"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8A4B06"/>
            </a:solidFill>
            <a:prstDash val="solid"/>
            <a:round/>
          </a:ln>
        </p:spPr>
      </p:sp>
      <p:sp>
        <p:nvSpPr>
          <p:cNvPr id="37" name="[p3] Forma"/>
          <p:cNvSpPr/>
          <p:nvPr/>
        </p:nvSpPr>
        <p:spPr>
          <a:xfrm>
            <a:off x="5218092" y="3602004"/>
            <a:ext cx="1755511" cy="0"/>
          </a:xfrm>
          <a:prstGeom prst="line">
            <a:avLst/>
          </a:prstGeom>
          <a:noFill/>
          <a:ln w="38100">
            <a:solidFill>
              <a:srgbClr val="2BA6CB"/>
            </a:solidFill>
            <a:prstDash val="solid"/>
            <a:tailEnd type="triangle"/>
          </a:ln>
        </p:spPr>
      </p:sp>
      <p:sp>
        <p:nvSpPr>
          <p:cNvPr id="38" name="[p2] Forma"/>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Reintenta</a:t>
            </a:r>
            <a:endParaRPr lang="en-US" sz="1700" dirty="0"/>
          </a:p>
        </p:txBody>
      </p:sp>
      <p:sp>
        <p:nvSpPr>
          <p:cNvPr id="39" name="[p2] Forma"/>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3 intentos por ciclo; el evento sigue pendiente.</a:t>
            </a:r>
            <a:endParaRPr lang="en-US" sz="1300" dirty="0"/>
          </a:p>
        </p:txBody>
      </p:sp>
      <p:sp>
        <p:nvSpPr>
          <p:cNvPr id="40" name="[p3] Forma"/>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la UI</a:t>
            </a:r>
            <a:endParaRPr lang="en-US" sz="1100" dirty="0"/>
          </a:p>
        </p:txBody>
      </p:sp>
      <p:sp>
        <p:nvSpPr>
          <p:cNvPr id="41" name="[p3] Forma"/>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2" name="[p3] 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3" name="[p4] Forma"/>
          <p:cNvSpPr/>
          <p:nvPr/>
        </p:nvSpPr>
        <p:spPr>
          <a:xfrm>
            <a:off x="7959692" y="3602004"/>
            <a:ext cx="1755511" cy="0"/>
          </a:xfrm>
          <a:prstGeom prst="line">
            <a:avLst/>
          </a:prstGeom>
          <a:noFill/>
          <a:ln w="38100">
            <a:solidFill>
              <a:srgbClr val="2BA6CB"/>
            </a:solidFill>
            <a:prstDash val="solid"/>
            <a:tailEnd type="triangle"/>
          </a:ln>
        </p:spPr>
      </p:sp>
      <p:sp>
        <p:nvSpPr>
          <p:cNvPr id="44" name="[p3] Forma"/>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5" name="[p3] Forma"/>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“Notificaciones no responde” y 1 en camino.</a:t>
            </a:r>
            <a:endParaRPr lang="en-US" sz="1300" dirty="0"/>
          </a:p>
        </p:txBody>
      </p:sp>
      <p:sp>
        <p:nvSpPr>
          <p:cNvPr id="46" name="[p4] Forma"/>
          <p:cNvSpPr/>
          <p:nvPr/>
        </p:nvSpPr>
        <p:spPr>
          <a:xfrm>
            <a:off x="9568167"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al volver</a:t>
            </a:r>
            <a:endParaRPr lang="en-US" sz="1100" dirty="0"/>
          </a:p>
        </p:txBody>
      </p:sp>
      <p:sp>
        <p:nvSpPr>
          <p:cNvPr id="47" name="[p4] Forma"/>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8" name="[p4] Icono bell"/>
          <p:cNvSpPr/>
          <p:nvPr/>
        </p:nvSpPr>
        <p:spPr>
          <a:xfrm>
            <a:off x="9981505" y="3375263"/>
            <a:ext cx="453484" cy="453484"/>
          </a:xfrm>
          <a:custGeom>
            <a:avLst/>
            <a:gdLst/>
            <a:ahLst/>
            <a:cxnLst/>
            <a:rect l="l" t="t" r="r" b="b"/>
            <a:pathLst>
              <a:path w="453484" h="453484">
                <a:moveTo>
                  <a:pt x="194016" y="396798"/>
                </a:moveTo>
                <a:cubicBezTo>
                  <a:pt x="200766" y="408490"/>
                  <a:pt x="213241" y="415692"/>
                  <a:pt x="226742" y="415692"/>
                </a:cubicBezTo>
                <a:cubicBezTo>
                  <a:pt x="240242" y="415692"/>
                  <a:pt x="252718" y="408490"/>
                  <a:pt x="259468" y="396798"/>
                </a:cubicBezTo>
                <a:moveTo>
                  <a:pt x="61636" y="289587"/>
                </a:moveTo>
                <a:cubicBezTo>
                  <a:pt x="56593" y="295115"/>
                  <a:pt x="55286" y="303098"/>
                  <a:pt x="58305" y="309945"/>
                </a:cubicBezTo>
                <a:cubicBezTo>
                  <a:pt x="61323" y="316792"/>
                  <a:pt x="68098" y="321212"/>
                  <a:pt x="75581" y="321218"/>
                </a:cubicBezTo>
                <a:lnTo>
                  <a:pt x="377903" y="321218"/>
                </a:lnTo>
                <a:cubicBezTo>
                  <a:pt x="385385" y="321220"/>
                  <a:pt x="392164" y="316808"/>
                  <a:pt x="395190" y="309966"/>
                </a:cubicBezTo>
                <a:cubicBezTo>
                  <a:pt x="398217" y="303124"/>
                  <a:pt x="396921" y="295140"/>
                  <a:pt x="391886" y="289606"/>
                </a:cubicBezTo>
                <a:cubicBezTo>
                  <a:pt x="366755" y="263701"/>
                  <a:pt x="340113" y="236171"/>
                  <a:pt x="340113" y="151161"/>
                </a:cubicBezTo>
                <a:cubicBezTo>
                  <a:pt x="340113" y="88548"/>
                  <a:pt x="289355" y="37790"/>
                  <a:pt x="226742" y="37790"/>
                </a:cubicBezTo>
                <a:cubicBezTo>
                  <a:pt x="164129" y="37790"/>
                  <a:pt x="113371" y="88548"/>
                  <a:pt x="113371" y="151161"/>
                </a:cubicBezTo>
                <a:cubicBezTo>
                  <a:pt x="113371" y="236171"/>
                  <a:pt x="86710" y="263701"/>
                  <a:pt x="61636" y="289587"/>
                </a:cubicBezTo>
              </a:path>
            </a:pathLst>
          </a:custGeom>
          <a:noFill/>
          <a:ln w="33067" cap="rnd">
            <a:solidFill>
              <a:srgbClr val="0A6648"/>
            </a:solidFill>
            <a:prstDash val="solid"/>
            <a:round/>
          </a:ln>
        </p:spPr>
      </p:sp>
      <p:sp>
        <p:nvSpPr>
          <p:cNvPr id="49" name="[p4] Forma"/>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Entrega</a:t>
            </a:r>
            <a:endParaRPr lang="en-US" sz="1700" dirty="0"/>
          </a:p>
        </p:txBody>
      </p:sp>
      <p:sp>
        <p:nvSpPr>
          <p:cNvPr id="50" name="[p4] Forma"/>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Mismo eventoId: se crea el aviso.</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DEMOSTRACIÓN CON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400"/>
                                        <p:tgtEl>
                                          <p:spTgt spid="3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4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4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00"/>
                                        <p:tgtEl>
                                          <p:spTgt spid="39"/>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4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4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4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400"/>
                                        <p:tgtEl>
                                          <p:spTgt spid="4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400"/>
                                        <p:tgtEl>
                                          <p:spTgt spid="45"/>
                                        </p:tgtEl>
                                      </p:cBhvr>
                                    </p:animEffect>
                                  </p:childTnLst>
                                </p:cTn>
                              </p:par>
                            </p:childTnLst>
                          </p:cTn>
                        </p:par>
                      </p:childTnLst>
                    </p:cTn>
                  </p:par>
                  <p:par>
                    <p:cTn id="84" fill="hold">
                      <p:stCondLst>
                        <p:cond delay="indefinite"/>
                      </p:stCondLst>
                      <p:childTnLst>
                        <p:par>
                          <p:cTn id="8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400"/>
                                        <p:tgtEl>
                                          <p:spTgt spid="4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400"/>
                                        <p:tgtEl>
                                          <p:spTgt spid="4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400"/>
                                        <p:tgtEl>
                                          <p:spTgt spid="4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fade">
                                      <p:cBhvr>
                                        <p:cTn id="77" dur="400"/>
                                        <p:tgtEl>
                                          <p:spTgt spid="4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400"/>
                                        <p:tgtEl>
                                          <p:spTgt spid="4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fade">
                                      <p:cBhvr>
                                        <p:cTn id="83" dur="400"/>
                                        <p:tgtEl>
                                          <p:spTgt spid="50"/>
                                        </p:tgtEl>
                                      </p:cBhvr>
                                    </p:animEffect>
                                  </p:childTnLst>
                                </p:cTn>
                              </p:par>
                            </p:childTnLst>
                          </p:cTn>
                        </p:par>
                      </p:childTnLst>
                    </p:cTn>
                  </p:par>
                  <p:par>
                    <p:cTn id="107" fill="hold">
                      <p:stCondLst>
                        <p:cond delay="indefinite"/>
                      </p:stCondLst>
                      <p:childTnLst>
                        <p:par>
                          <p:cTn id="108"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400"/>
                                        <p:tgtEl>
                                          <p:spTgt spid="1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00"/>
                                        <p:tgtEl>
                                          <p:spTgt spid="2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00"/>
                                        <p:tgtEl>
                                          <p:spTgt spid="2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00"/>
                                        <p:tgtEl>
                                          <p:spTgt spid="2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400"/>
                                        <p:tgtEl>
                                          <p:spTgt spid="2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1" grpId="0" animBg="1"/>
      <p:bldP spid="34" grpId="0" animBg="1"/>
      <p:bldP spid="35" grpId="0" animBg="1"/>
      <p:bldP spid="36" grpId="0" animBg="1"/>
      <p:bldP spid="38" grpId="0" animBg="1"/>
      <p:bldP spid="39" grpId="0" animBg="1"/>
      <p:bldP spid="37" grpId="0" animBg="1"/>
      <p:bldP spid="40" grpId="0" animBg="1"/>
      <p:bldP spid="41" grpId="0" animBg="1"/>
      <p:bldP spid="42" grpId="0" animBg="1"/>
      <p:bldP spid="44" grpId="0" animBg="1"/>
      <p:bldP spid="45" grpId="0" animBg="1"/>
      <p:bldP spid="43" grpId="0" animBg="1"/>
      <p:bldP spid="46" grpId="0" animBg="1"/>
      <p:bldP spid="47" grpId="0" animBg="1"/>
      <p:bldP spid="48" grpId="0" animBg="1"/>
      <p:bldP spid="49" grpId="0" animBg="1"/>
      <p:bldP spid="5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DEMOSTRACIÓN CON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Demostración: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monitor"/>
          <p:cNvSpPr/>
          <p:nvPr/>
        </p:nvSpPr>
        <p:spPr>
          <a:xfrm>
            <a:off x="1058144" y="1817096"/>
            <a:ext cx="370881" cy="370881"/>
          </a:xfrm>
          <a:custGeom>
            <a:avLst/>
            <a:gdLst/>
            <a:ahLst/>
            <a:cxnLst/>
            <a:rect l="l" t="t" r="r" b="b"/>
            <a:pathLst>
              <a:path w="370881" h="370881">
                <a:moveTo>
                  <a:pt x="61813" y="46360"/>
                </a:moveTo>
                <a:lnTo>
                  <a:pt x="309067" y="46360"/>
                </a:lnTo>
                <a:cubicBezTo>
                  <a:pt x="326137" y="46360"/>
                  <a:pt x="339974" y="60197"/>
                  <a:pt x="339974" y="77267"/>
                </a:cubicBezTo>
                <a:lnTo>
                  <a:pt x="339974" y="231800"/>
                </a:lnTo>
                <a:cubicBezTo>
                  <a:pt x="339974" y="248870"/>
                  <a:pt x="326137" y="262707"/>
                  <a:pt x="309067" y="262707"/>
                </a:cubicBezTo>
                <a:lnTo>
                  <a:pt x="61813" y="262707"/>
                </a:lnTo>
                <a:cubicBezTo>
                  <a:pt x="44744" y="262707"/>
                  <a:pt x="30907" y="248870"/>
                  <a:pt x="30907" y="231800"/>
                </a:cubicBezTo>
                <a:lnTo>
                  <a:pt x="30907" y="77267"/>
                </a:lnTo>
                <a:cubicBezTo>
                  <a:pt x="30907" y="60197"/>
                  <a:pt x="44744" y="46360"/>
                  <a:pt x="61813" y="46360"/>
                </a:cubicBezTo>
                <a:close/>
                <a:moveTo>
                  <a:pt x="123627" y="324521"/>
                </a:moveTo>
                <a:lnTo>
                  <a:pt x="247254" y="324521"/>
                </a:lnTo>
                <a:moveTo>
                  <a:pt x="185440" y="262707"/>
                </a:moveTo>
                <a:lnTo>
                  <a:pt x="185440" y="324521"/>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fallas con reacción prevista</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4</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pantallas para ver el sistema por dentro</a:t>
            </a:r>
            <a:endParaRPr lang="en-US" sz="1300" dirty="0"/>
          </a:p>
        </p:txBody>
      </p:sp>
      <p:sp>
        <p:nvSpPr>
          <p:cNvPr id="21"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23" name="[p1] 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24"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25"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Cada falla probada tiene una reacción y un mensaje.</a:t>
            </a:r>
            <a:endParaRPr lang="en-US" sz="1300" dirty="0"/>
          </a:p>
        </p:txBody>
      </p:sp>
      <p:sp>
        <p:nvSpPr>
          <p:cNvPr id="26"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incidentes y menos llamadas a soporte.</a:t>
            </a:r>
            <a:endParaRPr lang="en-US" sz="1350" dirty="0"/>
          </a:p>
        </p:txBody>
      </p:sp>
      <p:sp>
        <p:nvSpPr>
          <p:cNvPr id="30"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32" name="[p2] Icono eye"/>
          <p:cNvSpPr/>
          <p:nvPr/>
        </p:nvSpPr>
        <p:spPr>
          <a:xfrm>
            <a:off x="4258544" y="367790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3"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lo asíncrono</a:t>
            </a:r>
            <a:endParaRPr lang="en-US" sz="1700" dirty="0"/>
          </a:p>
        </p:txBody>
      </p:sp>
      <p:sp>
        <p:nvSpPr>
          <p:cNvPr id="34"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Pendientes, entregados y consumidos en una pantalla.</a:t>
            </a:r>
            <a:endParaRPr lang="en-US" sz="1300" dirty="0"/>
          </a:p>
        </p:txBody>
      </p:sp>
      <p:sp>
        <p:nvSpPr>
          <p:cNvPr id="35"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6"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Explicar el sistema sin abrir el código.</a:t>
            </a:r>
            <a:endParaRPr lang="en-US" sz="1350" dirty="0"/>
          </a:p>
        </p:txBody>
      </p:sp>
      <p:sp>
        <p:nvSpPr>
          <p:cNvPr id="39"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41" name="[p3] Icono lightbulb"/>
          <p:cNvSpPr/>
          <p:nvPr/>
        </p:nvSpPr>
        <p:spPr>
          <a:xfrm>
            <a:off x="4258544" y="5400020"/>
            <a:ext cx="370881" cy="370881"/>
          </a:xfrm>
          <a:custGeom>
            <a:avLst/>
            <a:gdLst/>
            <a:ahLst/>
            <a:cxnLst/>
            <a:rect l="l" t="t" r="r" b="b"/>
            <a:pathLst>
              <a:path w="370881" h="370881">
                <a:moveTo>
                  <a:pt x="231800" y="216347"/>
                </a:moveTo>
                <a:cubicBezTo>
                  <a:pt x="234891" y="200894"/>
                  <a:pt x="242618" y="190076"/>
                  <a:pt x="254980" y="177714"/>
                </a:cubicBezTo>
                <a:cubicBezTo>
                  <a:pt x="270434" y="163806"/>
                  <a:pt x="278160" y="143716"/>
                  <a:pt x="278160" y="123627"/>
                </a:cubicBezTo>
                <a:cubicBezTo>
                  <a:pt x="278160" y="72419"/>
                  <a:pt x="236648" y="30907"/>
                  <a:pt x="185440" y="30907"/>
                </a:cubicBezTo>
                <a:cubicBezTo>
                  <a:pt x="134232" y="30907"/>
                  <a:pt x="92720" y="72419"/>
                  <a:pt x="92720" y="123627"/>
                </a:cubicBezTo>
                <a:cubicBezTo>
                  <a:pt x="92720" y="139080"/>
                  <a:pt x="95811" y="157624"/>
                  <a:pt x="115900" y="177714"/>
                </a:cubicBezTo>
                <a:cubicBezTo>
                  <a:pt x="126718" y="188531"/>
                  <a:pt x="135990" y="200894"/>
                  <a:pt x="139080" y="216347"/>
                </a:cubicBezTo>
                <a:moveTo>
                  <a:pt x="139080" y="278160"/>
                </a:moveTo>
                <a:lnTo>
                  <a:pt x="231800" y="278160"/>
                </a:lnTo>
                <a:moveTo>
                  <a:pt x="154534" y="339974"/>
                </a:moveTo>
                <a:lnTo>
                  <a:pt x="216347" y="339974"/>
                </a:lnTo>
              </a:path>
            </a:pathLst>
          </a:custGeom>
          <a:noFill/>
          <a:ln w="30907" cap="rnd">
            <a:solidFill>
              <a:srgbClr val="0B2350"/>
            </a:solidFill>
            <a:prstDash val="solid"/>
            <a:round/>
          </a:ln>
        </p:spPr>
      </p:sp>
      <p:sp>
        <p:nvSpPr>
          <p:cNvPr id="42"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Mostrar en vivo explica más</a:t>
            </a:r>
            <a:endParaRPr lang="en-US" sz="1700" dirty="0"/>
          </a:p>
        </p:txBody>
      </p:sp>
      <p:sp>
        <p:nvSpPr>
          <p:cNvPr id="43"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Botones para provocar fallas y ver la reacción.</a:t>
            </a:r>
            <a:endParaRPr lang="en-US" sz="1300" dirty="0"/>
          </a:p>
        </p:txBody>
      </p:sp>
      <p:sp>
        <p:nvSpPr>
          <p:cNvPr id="44"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5"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Material de capacitación para quien llegue al equipo.</a:t>
            </a:r>
            <a:endParaRPr lang="en-US" sz="135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DEMOSTRACIÓN CON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en cualquier lenguaje.</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Datos consistentes</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Transacción local, Outbox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3198571"/>
            <a:ext cx="64008" cy="546811"/>
          </a:xfrm>
          <a:prstGeom prst="rect">
            <a:avLst/>
          </a:prstGeom>
          <a:solidFill>
            <a:srgbClr val="8A4B06"/>
          </a:solidFill>
          <a:ln w="12700">
            <a:solidFill>
              <a:srgbClr val="8A4B06"/>
            </a:solidFill>
            <a:prstDash val="solid"/>
          </a:ln>
        </p:spPr>
      </p:sp>
      <p:sp>
        <p:nvSpPr>
          <p:cNvPr id="21" name="[p1] Forma"/>
          <p:cNvSpPr/>
          <p:nvPr/>
        </p:nvSpPr>
        <p:spPr>
          <a:xfrm>
            <a:off x="772668" y="3215945"/>
            <a:ext cx="512064" cy="512064"/>
          </a:xfrm>
          <a:prstGeom prst="ellipse">
            <a:avLst/>
          </a:prstGeom>
          <a:solidFill>
            <a:srgbClr val="FCEFD6"/>
          </a:solidFill>
          <a:ln w="12700">
            <a:solidFill>
              <a:srgbClr val="FCEFD6"/>
            </a:solidFill>
            <a:prstDash val="solid"/>
          </a:ln>
        </p:spPr>
      </p:sp>
      <p:sp>
        <p:nvSpPr>
          <p:cNvPr id="22" name="[p1] Icono key-round"/>
          <p:cNvSpPr/>
          <p:nvPr/>
        </p:nvSpPr>
        <p:spPr>
          <a:xfrm>
            <a:off x="895563" y="3338840"/>
            <a:ext cx="266273" cy="266273"/>
          </a:xfrm>
          <a:custGeom>
            <a:avLst/>
            <a:gdLst/>
            <a:ahLst/>
            <a:cxnLst/>
            <a:rect l="l" t="t" r="r" b="b"/>
            <a:pathLst>
              <a:path w="266273" h="266273">
                <a:moveTo>
                  <a:pt x="28691" y="193203"/>
                </a:moveTo>
                <a:cubicBezTo>
                  <a:pt x="24529" y="197364"/>
                  <a:pt x="22191" y="203007"/>
                  <a:pt x="22189" y="208891"/>
                </a:cubicBezTo>
                <a:lnTo>
                  <a:pt x="22189" y="232989"/>
                </a:lnTo>
                <a:cubicBezTo>
                  <a:pt x="22189" y="239117"/>
                  <a:pt x="27157" y="244084"/>
                  <a:pt x="33284" y="244084"/>
                </a:cubicBezTo>
                <a:lnTo>
                  <a:pt x="66568" y="244084"/>
                </a:lnTo>
                <a:cubicBezTo>
                  <a:pt x="72696" y="244084"/>
                  <a:pt x="77663" y="239117"/>
                  <a:pt x="77663" y="232989"/>
                </a:cubicBezTo>
                <a:lnTo>
                  <a:pt x="77663" y="221894"/>
                </a:lnTo>
                <a:cubicBezTo>
                  <a:pt x="77663" y="215767"/>
                  <a:pt x="82630" y="210800"/>
                  <a:pt x="88758" y="210800"/>
                </a:cubicBezTo>
                <a:lnTo>
                  <a:pt x="99852" y="210800"/>
                </a:lnTo>
                <a:cubicBezTo>
                  <a:pt x="105980" y="210800"/>
                  <a:pt x="110947" y="205832"/>
                  <a:pt x="110947" y="199705"/>
                </a:cubicBezTo>
                <a:lnTo>
                  <a:pt x="110947" y="188610"/>
                </a:lnTo>
                <a:cubicBezTo>
                  <a:pt x="110947" y="182483"/>
                  <a:pt x="115914" y="177516"/>
                  <a:pt x="122042" y="177516"/>
                </a:cubicBezTo>
                <a:lnTo>
                  <a:pt x="123950" y="177516"/>
                </a:lnTo>
                <a:cubicBezTo>
                  <a:pt x="129835" y="177514"/>
                  <a:pt x="135478" y="175176"/>
                  <a:pt x="139638" y="171014"/>
                </a:cubicBezTo>
                <a:lnTo>
                  <a:pt x="148669" y="161983"/>
                </a:lnTo>
                <a:cubicBezTo>
                  <a:pt x="180425" y="173045"/>
                  <a:pt x="215611" y="160691"/>
                  <a:pt x="233481" y="132206"/>
                </a:cubicBezTo>
                <a:cubicBezTo>
                  <a:pt x="251352" y="103721"/>
                  <a:pt x="247164" y="66665"/>
                  <a:pt x="223386" y="42887"/>
                </a:cubicBezTo>
                <a:cubicBezTo>
                  <a:pt x="199608" y="19110"/>
                  <a:pt x="162552" y="14921"/>
                  <a:pt x="134067" y="32792"/>
                </a:cubicBezTo>
                <a:cubicBezTo>
                  <a:pt x="105582" y="50663"/>
                  <a:pt x="93228" y="85849"/>
                  <a:pt x="104290" y="117604"/>
                </a:cubicBezTo>
                <a:close/>
                <a:moveTo>
                  <a:pt x="188610" y="83210"/>
                </a:moveTo>
                <a:cubicBezTo>
                  <a:pt x="188610" y="86274"/>
                  <a:pt x="186127" y="88758"/>
                  <a:pt x="183063" y="88758"/>
                </a:cubicBezTo>
                <a:cubicBezTo>
                  <a:pt x="179999" y="88758"/>
                  <a:pt x="177516" y="86274"/>
                  <a:pt x="177516" y="83210"/>
                </a:cubicBezTo>
                <a:cubicBezTo>
                  <a:pt x="177516" y="80147"/>
                  <a:pt x="179999" y="77663"/>
                  <a:pt x="183063" y="77663"/>
                </a:cubicBezTo>
                <a:cubicBezTo>
                  <a:pt x="186127" y="77663"/>
                  <a:pt x="188610" y="80147"/>
                  <a:pt x="188610" y="83210"/>
                </a:cubicBezTo>
                <a:close/>
              </a:path>
            </a:pathLst>
          </a:custGeom>
          <a:noFill/>
          <a:ln w="22189" cap="rnd">
            <a:solidFill>
              <a:srgbClr val="8A4B06"/>
            </a:solidFill>
            <a:prstDash val="solid"/>
            <a:round/>
          </a:ln>
        </p:spPr>
      </p:sp>
      <p:sp>
        <p:nvSpPr>
          <p:cNvPr id="23"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Conexión segura</a:t>
            </a:r>
            <a:endParaRPr lang="en-US" sz="1500" dirty="0"/>
          </a:p>
        </p:txBody>
      </p:sp>
      <p:sp>
        <p:nvSpPr>
          <p:cNvPr id="24" name="[p1] Forma"/>
          <p:cNvSpPr/>
          <p:nvPr/>
        </p:nvSpPr>
        <p:spPr>
          <a:xfrm>
            <a:off x="4140961" y="3235147"/>
            <a:ext cx="0" cy="473659"/>
          </a:xfrm>
          <a:prstGeom prst="line">
            <a:avLst/>
          </a:prstGeom>
          <a:noFill/>
          <a:ln w="9525">
            <a:solidFill>
              <a:srgbClr val="DFE6F0"/>
            </a:solidFill>
            <a:prstDash val="solid"/>
          </a:ln>
        </p:spPr>
      </p:sp>
      <p:sp>
        <p:nvSpPr>
          <p:cNvPr id="25"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Cadena de conexión y claves fuera del código</a:t>
            </a:r>
            <a:endParaRPr lang="en-US" sz="1400" dirty="0"/>
          </a:p>
        </p:txBody>
      </p:sp>
      <p:sp>
        <p:nvSpPr>
          <p:cNvPr id="26" name="[p1] Forma"/>
          <p:cNvSpPr/>
          <p:nvPr/>
        </p:nvSpPr>
        <p:spPr>
          <a:xfrm>
            <a:off x="8114733" y="3235147"/>
            <a:ext cx="0" cy="473659"/>
          </a:xfrm>
          <a:prstGeom prst="line">
            <a:avLst/>
          </a:prstGeom>
          <a:noFill/>
          <a:ln w="9525">
            <a:solidFill>
              <a:srgbClr val="DFE6F0"/>
            </a:solidFill>
            <a:prstDash val="solid"/>
          </a:ln>
        </p:spPr>
      </p:sp>
      <p:sp>
        <p:nvSpPr>
          <p:cNvPr id="27"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de servidor o de clave sin recompilar</a:t>
            </a:r>
            <a:endParaRPr lang="en-US" sz="1400" dirty="0"/>
          </a:p>
        </p:txBody>
      </p:sp>
      <p:sp>
        <p:nvSpPr>
          <p:cNvPr id="28"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0"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1" name="[p2] Icono container"/>
          <p:cNvSpPr/>
          <p:nvPr/>
        </p:nvSpPr>
        <p:spPr>
          <a:xfrm>
            <a:off x="895563" y="4178259"/>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32"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33" name="[p2] Forma"/>
          <p:cNvSpPr/>
          <p:nvPr/>
        </p:nvSpPr>
        <p:spPr>
          <a:xfrm>
            <a:off x="4140961" y="4074566"/>
            <a:ext cx="0" cy="473659"/>
          </a:xfrm>
          <a:prstGeom prst="line">
            <a:avLst/>
          </a:prstGeom>
          <a:noFill/>
          <a:ln w="9525">
            <a:solidFill>
              <a:srgbClr val="DFE6F0"/>
            </a:solidFill>
            <a:prstDash val="solid"/>
          </a:ln>
        </p:spPr>
      </p:sp>
      <p:sp>
        <p:nvSpPr>
          <p:cNvPr id="34"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35" name="[p2] Forma"/>
          <p:cNvSpPr/>
          <p:nvPr/>
        </p:nvSpPr>
        <p:spPr>
          <a:xfrm>
            <a:off x="8114733" y="4074566"/>
            <a:ext cx="0" cy="473659"/>
          </a:xfrm>
          <a:prstGeom prst="line">
            <a:avLst/>
          </a:prstGeom>
          <a:noFill/>
          <a:ln w="9525">
            <a:solidFill>
              <a:srgbClr val="DFE6F0"/>
            </a:solidFill>
            <a:prstDash val="solid"/>
          </a:ln>
        </p:spPr>
      </p:sp>
      <p:sp>
        <p:nvSpPr>
          <p:cNvPr id="36"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37"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3] Forma"/>
          <p:cNvSpPr/>
          <p:nvPr/>
        </p:nvSpPr>
        <p:spPr>
          <a:xfrm>
            <a:off x="612648" y="4877410"/>
            <a:ext cx="64008" cy="546811"/>
          </a:xfrm>
          <a:prstGeom prst="rect">
            <a:avLst/>
          </a:prstGeom>
          <a:solidFill>
            <a:srgbClr val="0B2350"/>
          </a:solidFill>
          <a:ln w="12700">
            <a:solidFill>
              <a:srgbClr val="0B2350"/>
            </a:solidFill>
            <a:prstDash val="solid"/>
          </a:ln>
        </p:spPr>
      </p:sp>
      <p:sp>
        <p:nvSpPr>
          <p:cNvPr id="39" name="[p3] Forma"/>
          <p:cNvSpPr/>
          <p:nvPr/>
        </p:nvSpPr>
        <p:spPr>
          <a:xfrm>
            <a:off x="772668" y="4894783"/>
            <a:ext cx="512064" cy="512064"/>
          </a:xfrm>
          <a:prstGeom prst="ellipse">
            <a:avLst/>
          </a:prstGeom>
          <a:solidFill>
            <a:srgbClr val="E8EEF8"/>
          </a:solidFill>
          <a:ln w="12700">
            <a:solidFill>
              <a:srgbClr val="E8EEF8"/>
            </a:solidFill>
            <a:prstDash val="solid"/>
          </a:ln>
        </p:spPr>
      </p:sp>
      <p:sp>
        <p:nvSpPr>
          <p:cNvPr id="40" name="[p3] Icono flask-conical"/>
          <p:cNvSpPr/>
          <p:nvPr/>
        </p:nvSpPr>
        <p:spPr>
          <a:xfrm>
            <a:off x="895563" y="501767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41"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42" name="[p3] Forma"/>
          <p:cNvSpPr/>
          <p:nvPr/>
        </p:nvSpPr>
        <p:spPr>
          <a:xfrm>
            <a:off x="4140961" y="4913986"/>
            <a:ext cx="0" cy="473659"/>
          </a:xfrm>
          <a:prstGeom prst="line">
            <a:avLst/>
          </a:prstGeom>
          <a:noFill/>
          <a:ln w="9525">
            <a:solidFill>
              <a:srgbClr val="DFE6F0"/>
            </a:solidFill>
            <a:prstDash val="solid"/>
          </a:ln>
        </p:spPr>
      </p:sp>
      <p:sp>
        <p:nvSpPr>
          <p:cNvPr id="43"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Pruebas automáticas y pipeline en cada cambio</a:t>
            </a:r>
            <a:endParaRPr lang="en-US" sz="1400" dirty="0"/>
          </a:p>
        </p:txBody>
      </p:sp>
      <p:sp>
        <p:nvSpPr>
          <p:cNvPr id="44" name="[p3] Forma"/>
          <p:cNvSpPr/>
          <p:nvPr/>
        </p:nvSpPr>
        <p:spPr>
          <a:xfrm>
            <a:off x="8114733" y="4913986"/>
            <a:ext cx="0" cy="473659"/>
          </a:xfrm>
          <a:prstGeom prst="line">
            <a:avLst/>
          </a:prstGeom>
          <a:noFill/>
          <a:ln w="9525">
            <a:solidFill>
              <a:srgbClr val="DFE6F0"/>
            </a:solidFill>
            <a:prstDash val="solid"/>
          </a:ln>
        </p:spPr>
      </p:sp>
      <p:sp>
        <p:nvSpPr>
          <p:cNvPr id="45"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antes de integrar</a:t>
            </a:r>
            <a:endParaRPr lang="en-US" sz="1400" dirty="0"/>
          </a:p>
        </p:txBody>
      </p:sp>
      <p:sp>
        <p:nvSpPr>
          <p:cNvPr id="46"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p4] Forma"/>
          <p:cNvSpPr/>
          <p:nvPr/>
        </p:nvSpPr>
        <p:spPr>
          <a:xfrm>
            <a:off x="612648" y="5716829"/>
            <a:ext cx="64008" cy="546811"/>
          </a:xfrm>
          <a:prstGeom prst="rect">
            <a:avLst/>
          </a:prstGeom>
          <a:solidFill>
            <a:srgbClr val="5B3FC4"/>
          </a:solidFill>
          <a:ln w="12700">
            <a:solidFill>
              <a:srgbClr val="5B3FC4"/>
            </a:solidFill>
            <a:prstDash val="solid"/>
          </a:ln>
        </p:spPr>
      </p:sp>
      <p:sp>
        <p:nvSpPr>
          <p:cNvPr id="48" name="[p4] Forma"/>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p4] Icono waypoints"/>
          <p:cNvSpPr/>
          <p:nvPr/>
        </p:nvSpPr>
        <p:spPr>
          <a:xfrm>
            <a:off x="895563" y="5857098"/>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5B3FC4"/>
            </a:solidFill>
            <a:prstDash val="solid"/>
            <a:round/>
          </a:ln>
        </p:spPr>
      </p:sp>
      <p:sp>
        <p:nvSpPr>
          <p:cNvPr id="50"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Trazabilidad</a:t>
            </a:r>
            <a:endParaRPr lang="en-US" sz="1500" dirty="0"/>
          </a:p>
        </p:txBody>
      </p:sp>
      <p:sp>
        <p:nvSpPr>
          <p:cNvPr id="51" name="[p4] Forma"/>
          <p:cNvSpPr/>
          <p:nvPr/>
        </p:nvSpPr>
        <p:spPr>
          <a:xfrm>
            <a:off x="4140961" y="5753405"/>
            <a:ext cx="0" cy="473659"/>
          </a:xfrm>
          <a:prstGeom prst="line">
            <a:avLst/>
          </a:prstGeom>
          <a:noFill/>
          <a:ln w="9525">
            <a:solidFill>
              <a:srgbClr val="DFE6F0"/>
            </a:solidFill>
            <a:prstDash val="solid"/>
          </a:ln>
        </p:spPr>
      </p:sp>
      <p:sp>
        <p:nvSpPr>
          <p:cNvPr id="52"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commit</a:t>
            </a:r>
            <a:endParaRPr lang="en-US" sz="1400" dirty="0"/>
          </a:p>
        </p:txBody>
      </p:sp>
      <p:sp>
        <p:nvSpPr>
          <p:cNvPr id="53" name="[p4] Forma"/>
          <p:cNvSpPr/>
          <p:nvPr/>
        </p:nvSpPr>
        <p:spPr>
          <a:xfrm>
            <a:off x="8114733" y="5753405"/>
            <a:ext cx="0" cy="473659"/>
          </a:xfrm>
          <a:prstGeom prst="line">
            <a:avLst/>
          </a:prstGeom>
          <a:noFill/>
          <a:ln w="9525">
            <a:solidFill>
              <a:srgbClr val="DFE6F0"/>
            </a:solidFill>
            <a:prstDash val="solid"/>
          </a:ln>
        </p:spPr>
      </p:sp>
      <p:sp>
        <p:nvSpPr>
          <p:cNvPr id="54"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pueden aplicar desde mañana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No hace falta reescribir nada: estas prácticas funcionan también con procedimientos almacenados.</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PRÁCTICA</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VE EN SUS SISTEMAS DE HOY</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EVITA</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8A4B06"/>
          </a:solidFill>
          <a:ln w="12700">
            <a:solidFill>
              <a:srgbClr val="8A4B06"/>
            </a:solidFill>
            <a:prstDash val="solid"/>
          </a:ln>
        </p:spPr>
      </p:sp>
      <p:sp>
        <p:nvSpPr>
          <p:cNvPr id="12" name="Shape 10"/>
          <p:cNvSpPr/>
          <p:nvPr/>
        </p:nvSpPr>
        <p:spPr>
          <a:xfrm>
            <a:off x="772668" y="2376526"/>
            <a:ext cx="512064" cy="512064"/>
          </a:xfrm>
          <a:prstGeom prst="ellipse">
            <a:avLst/>
          </a:prstGeom>
          <a:solidFill>
            <a:srgbClr val="FCEFD6"/>
          </a:solidFill>
          <a:ln w="12700">
            <a:solidFill>
              <a:srgbClr val="FCEFD6"/>
            </a:solidFill>
            <a:prstDash val="solid"/>
          </a:ln>
        </p:spPr>
      </p:sp>
      <p:sp>
        <p:nvSpPr>
          <p:cNvPr id="13" name="Icono key-round"/>
          <p:cNvSpPr/>
          <p:nvPr/>
        </p:nvSpPr>
        <p:spPr>
          <a:xfrm>
            <a:off x="895563" y="2499421"/>
            <a:ext cx="266273" cy="266273"/>
          </a:xfrm>
          <a:custGeom>
            <a:avLst/>
            <a:gdLst/>
            <a:ahLst/>
            <a:cxnLst/>
            <a:rect l="l" t="t" r="r" b="b"/>
            <a:pathLst>
              <a:path w="266273" h="266273">
                <a:moveTo>
                  <a:pt x="28691" y="193203"/>
                </a:moveTo>
                <a:cubicBezTo>
                  <a:pt x="24529" y="197364"/>
                  <a:pt x="22191" y="203007"/>
                  <a:pt x="22189" y="208891"/>
                </a:cubicBezTo>
                <a:lnTo>
                  <a:pt x="22189" y="232989"/>
                </a:lnTo>
                <a:cubicBezTo>
                  <a:pt x="22189" y="239117"/>
                  <a:pt x="27157" y="244084"/>
                  <a:pt x="33284" y="244084"/>
                </a:cubicBezTo>
                <a:lnTo>
                  <a:pt x="66568" y="244084"/>
                </a:lnTo>
                <a:cubicBezTo>
                  <a:pt x="72696" y="244084"/>
                  <a:pt x="77663" y="239117"/>
                  <a:pt x="77663" y="232989"/>
                </a:cubicBezTo>
                <a:lnTo>
                  <a:pt x="77663" y="221894"/>
                </a:lnTo>
                <a:cubicBezTo>
                  <a:pt x="77663" y="215767"/>
                  <a:pt x="82630" y="210800"/>
                  <a:pt x="88758" y="210800"/>
                </a:cubicBezTo>
                <a:lnTo>
                  <a:pt x="99852" y="210800"/>
                </a:lnTo>
                <a:cubicBezTo>
                  <a:pt x="105980" y="210800"/>
                  <a:pt x="110947" y="205832"/>
                  <a:pt x="110947" y="199705"/>
                </a:cubicBezTo>
                <a:lnTo>
                  <a:pt x="110947" y="188610"/>
                </a:lnTo>
                <a:cubicBezTo>
                  <a:pt x="110947" y="182483"/>
                  <a:pt x="115914" y="177516"/>
                  <a:pt x="122042" y="177516"/>
                </a:cubicBezTo>
                <a:lnTo>
                  <a:pt x="123950" y="177516"/>
                </a:lnTo>
                <a:cubicBezTo>
                  <a:pt x="129835" y="177514"/>
                  <a:pt x="135478" y="175176"/>
                  <a:pt x="139638" y="171014"/>
                </a:cubicBezTo>
                <a:lnTo>
                  <a:pt x="148669" y="161983"/>
                </a:lnTo>
                <a:cubicBezTo>
                  <a:pt x="180425" y="173045"/>
                  <a:pt x="215611" y="160691"/>
                  <a:pt x="233481" y="132206"/>
                </a:cubicBezTo>
                <a:cubicBezTo>
                  <a:pt x="251352" y="103721"/>
                  <a:pt x="247164" y="66665"/>
                  <a:pt x="223386" y="42887"/>
                </a:cubicBezTo>
                <a:cubicBezTo>
                  <a:pt x="199608" y="19110"/>
                  <a:pt x="162552" y="14921"/>
                  <a:pt x="134067" y="32792"/>
                </a:cubicBezTo>
                <a:cubicBezTo>
                  <a:pt x="105582" y="50663"/>
                  <a:pt x="93228" y="85849"/>
                  <a:pt x="104290" y="117604"/>
                </a:cubicBezTo>
                <a:close/>
                <a:moveTo>
                  <a:pt x="188610" y="83210"/>
                </a:moveTo>
                <a:cubicBezTo>
                  <a:pt x="188610" y="86274"/>
                  <a:pt x="186127" y="88758"/>
                  <a:pt x="183063" y="88758"/>
                </a:cubicBezTo>
                <a:cubicBezTo>
                  <a:pt x="179999" y="88758"/>
                  <a:pt x="177516" y="86274"/>
                  <a:pt x="177516" y="83210"/>
                </a:cubicBezTo>
                <a:cubicBezTo>
                  <a:pt x="177516" y="80147"/>
                  <a:pt x="179999" y="77663"/>
                  <a:pt x="183063" y="77663"/>
                </a:cubicBezTo>
                <a:cubicBezTo>
                  <a:pt x="186127" y="77663"/>
                  <a:pt x="188610" y="80147"/>
                  <a:pt x="188610" y="83210"/>
                </a:cubicBezTo>
                <a:close/>
              </a:path>
            </a:pathLst>
          </a:custGeom>
          <a:noFill/>
          <a:ln w="22189" cap="rnd">
            <a:solidFill>
              <a:srgbClr val="8A4B06"/>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Cadena de conexión fuera del código</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Variables de entorno o un gestor de secretos en el servidor</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Claves en el repositorio y recompilar por cambiar de servidor</a:t>
            </a:r>
            <a:endParaRPr lang="en-US" sz="1400" dirty="0"/>
          </a:p>
        </p:txBody>
      </p:sp>
      <p:sp>
        <p:nvSpPr>
          <p:cNvPr id="19"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3198571"/>
            <a:ext cx="64008" cy="546811"/>
          </a:xfrm>
          <a:prstGeom prst="rect">
            <a:avLst/>
          </a:prstGeom>
          <a:solidFill>
            <a:srgbClr val="0B2350"/>
          </a:solidFill>
          <a:ln w="12700">
            <a:solidFill>
              <a:srgbClr val="0B2350"/>
            </a:solidFill>
            <a:prstDash val="solid"/>
          </a:ln>
        </p:spPr>
      </p:sp>
      <p:sp>
        <p:nvSpPr>
          <p:cNvPr id="21" name="[p1] Forma"/>
          <p:cNvSpPr/>
          <p:nvPr/>
        </p:nvSpPr>
        <p:spPr>
          <a:xfrm>
            <a:off x="772668" y="3215945"/>
            <a:ext cx="512064" cy="512064"/>
          </a:xfrm>
          <a:prstGeom prst="ellipse">
            <a:avLst/>
          </a:prstGeom>
          <a:solidFill>
            <a:srgbClr val="E8EEF8"/>
          </a:solidFill>
          <a:ln w="12700">
            <a:solidFill>
              <a:srgbClr val="E8EEF8"/>
            </a:solidFill>
            <a:prstDash val="solid"/>
          </a:ln>
        </p:spPr>
      </p:sp>
      <p:sp>
        <p:nvSpPr>
          <p:cNvPr id="22" name="[p1] Icono inbox"/>
          <p:cNvSpPr/>
          <p:nvPr/>
        </p:nvSpPr>
        <p:spPr>
          <a:xfrm>
            <a:off x="895563" y="3338840"/>
            <a:ext cx="266273" cy="266273"/>
          </a:xfrm>
          <a:custGeom>
            <a:avLst/>
            <a:gdLst/>
            <a:ahLst/>
            <a:cxnLst/>
            <a:rect l="l" t="t" r="r" b="b"/>
            <a:pathLst>
              <a:path w="266273" h="266273">
                <a:moveTo>
                  <a:pt x="244084" y="133137"/>
                </a:moveTo>
                <a:lnTo>
                  <a:pt x="177516" y="133137"/>
                </a:lnTo>
                <a:lnTo>
                  <a:pt x="155326" y="166421"/>
                </a:lnTo>
                <a:lnTo>
                  <a:pt x="110947" y="166421"/>
                </a:lnTo>
                <a:lnTo>
                  <a:pt x="88758" y="133137"/>
                </a:lnTo>
                <a:lnTo>
                  <a:pt x="22189" y="133137"/>
                </a:lnTo>
                <a:moveTo>
                  <a:pt x="60466" y="56694"/>
                </a:moveTo>
                <a:lnTo>
                  <a:pt x="22189" y="133137"/>
                </a:lnTo>
                <a:lnTo>
                  <a:pt x="22189" y="199705"/>
                </a:lnTo>
                <a:cubicBezTo>
                  <a:pt x="22189" y="211960"/>
                  <a:pt x="32124" y="221894"/>
                  <a:pt x="44379" y="221894"/>
                </a:cubicBezTo>
                <a:lnTo>
                  <a:pt x="221894" y="221894"/>
                </a:lnTo>
                <a:cubicBezTo>
                  <a:pt x="234149" y="221894"/>
                  <a:pt x="244084" y="211960"/>
                  <a:pt x="244084" y="199705"/>
                </a:cubicBezTo>
                <a:lnTo>
                  <a:pt x="244084" y="133137"/>
                </a:lnTo>
                <a:lnTo>
                  <a:pt x="205807" y="56694"/>
                </a:lnTo>
                <a:cubicBezTo>
                  <a:pt x="202060" y="49153"/>
                  <a:pt x="194368" y="44383"/>
                  <a:pt x="185948" y="44379"/>
                </a:cubicBezTo>
                <a:lnTo>
                  <a:pt x="80326" y="44379"/>
                </a:lnTo>
                <a:cubicBezTo>
                  <a:pt x="71906" y="44383"/>
                  <a:pt x="64213" y="49153"/>
                  <a:pt x="60466" y="56694"/>
                </a:cubicBezTo>
                <a:close/>
              </a:path>
            </a:pathLst>
          </a:custGeom>
          <a:noFill/>
          <a:ln w="22189" cap="rnd">
            <a:solidFill>
              <a:srgbClr val="0B2350"/>
            </a:solidFill>
            <a:prstDash val="solid"/>
            <a:round/>
          </a:ln>
        </p:spPr>
      </p:sp>
      <p:sp>
        <p:nvSpPr>
          <p:cNvPr id="23"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y avisar en la misma transacción</a:t>
            </a:r>
            <a:endParaRPr lang="en-US" sz="1500" dirty="0"/>
          </a:p>
        </p:txBody>
      </p:sp>
      <p:sp>
        <p:nvSpPr>
          <p:cNvPr id="24" name="[p1] Forma"/>
          <p:cNvSpPr/>
          <p:nvPr/>
        </p:nvSpPr>
        <p:spPr>
          <a:xfrm>
            <a:off x="4140961" y="3235147"/>
            <a:ext cx="0" cy="473659"/>
          </a:xfrm>
          <a:prstGeom prst="line">
            <a:avLst/>
          </a:prstGeom>
          <a:noFill/>
          <a:ln w="9525">
            <a:solidFill>
              <a:srgbClr val="DFE6F0"/>
            </a:solidFill>
            <a:prstDash val="solid"/>
          </a:ln>
        </p:spPr>
      </p:sp>
      <p:sp>
        <p:nvSpPr>
          <p:cNvPr id="25"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tabla de pendientes que llena el procedimiento y un job que la entrega</a:t>
            </a:r>
            <a:endParaRPr lang="en-US" sz="1400" dirty="0"/>
          </a:p>
        </p:txBody>
      </p:sp>
      <p:sp>
        <p:nvSpPr>
          <p:cNvPr id="26" name="[p1] Forma"/>
          <p:cNvSpPr/>
          <p:nvPr/>
        </p:nvSpPr>
        <p:spPr>
          <a:xfrm>
            <a:off x="8114733" y="3235147"/>
            <a:ext cx="0" cy="473659"/>
          </a:xfrm>
          <a:prstGeom prst="line">
            <a:avLst/>
          </a:prstGeom>
          <a:noFill/>
          <a:ln w="9525">
            <a:solidFill>
              <a:srgbClr val="DFE6F0"/>
            </a:solidFill>
            <a:prstDash val="solid"/>
          </a:ln>
        </p:spPr>
      </p:sp>
      <p:sp>
        <p:nvSpPr>
          <p:cNvPr id="27"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Avisos perdidos cuando el otro sistema está caído</a:t>
            </a:r>
            <a:endParaRPr lang="en-US" sz="1400" dirty="0"/>
          </a:p>
        </p:txBody>
      </p:sp>
      <p:sp>
        <p:nvSpPr>
          <p:cNvPr id="28"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0"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1" name="[p2] Icono fingerprint"/>
          <p:cNvSpPr/>
          <p:nvPr/>
        </p:nvSpPr>
        <p:spPr>
          <a:xfrm>
            <a:off x="895563" y="4178259"/>
            <a:ext cx="266273" cy="266273"/>
          </a:xfrm>
          <a:custGeom>
            <a:avLst/>
            <a:gdLst/>
            <a:ahLst/>
            <a:cxnLst/>
            <a:rect l="l" t="t" r="r" b="b"/>
            <a:pathLst>
              <a:path w="266273" h="266273">
                <a:moveTo>
                  <a:pt x="133137" y="110947"/>
                </a:moveTo>
                <a:cubicBezTo>
                  <a:pt x="120882" y="110947"/>
                  <a:pt x="110947" y="120882"/>
                  <a:pt x="110947" y="133137"/>
                </a:cubicBezTo>
                <a:cubicBezTo>
                  <a:pt x="110947" y="144453"/>
                  <a:pt x="109838" y="160984"/>
                  <a:pt x="108063" y="177516"/>
                </a:cubicBezTo>
                <a:moveTo>
                  <a:pt x="155326" y="145563"/>
                </a:moveTo>
                <a:cubicBezTo>
                  <a:pt x="155326" y="171968"/>
                  <a:pt x="155326" y="216347"/>
                  <a:pt x="144231" y="244084"/>
                </a:cubicBezTo>
                <a:moveTo>
                  <a:pt x="191828" y="233211"/>
                </a:moveTo>
                <a:cubicBezTo>
                  <a:pt x="193159" y="226554"/>
                  <a:pt x="196598" y="207693"/>
                  <a:pt x="197375" y="199705"/>
                </a:cubicBezTo>
                <a:moveTo>
                  <a:pt x="22189" y="133137"/>
                </a:moveTo>
                <a:cubicBezTo>
                  <a:pt x="22189" y="85382"/>
                  <a:pt x="52748" y="42984"/>
                  <a:pt x="98052" y="27883"/>
                </a:cubicBezTo>
                <a:cubicBezTo>
                  <a:pt x="143356" y="12781"/>
                  <a:pt x="193241" y="28364"/>
                  <a:pt x="221894" y="66568"/>
                </a:cubicBezTo>
                <a:moveTo>
                  <a:pt x="22189" y="177516"/>
                </a:moveTo>
                <a:lnTo>
                  <a:pt x="22300" y="177516"/>
                </a:lnTo>
                <a:moveTo>
                  <a:pt x="241865" y="177516"/>
                </a:moveTo>
                <a:cubicBezTo>
                  <a:pt x="244084" y="155326"/>
                  <a:pt x="243318" y="118114"/>
                  <a:pt x="241865" y="110947"/>
                </a:cubicBezTo>
                <a:moveTo>
                  <a:pt x="55474" y="216347"/>
                </a:moveTo>
                <a:cubicBezTo>
                  <a:pt x="61021" y="199705"/>
                  <a:pt x="66568" y="166421"/>
                  <a:pt x="66568" y="133137"/>
                </a:cubicBezTo>
                <a:cubicBezTo>
                  <a:pt x="66557" y="125580"/>
                  <a:pt x="67833" y="118076"/>
                  <a:pt x="70341" y="110947"/>
                </a:cubicBezTo>
                <a:moveTo>
                  <a:pt x="95969" y="244084"/>
                </a:moveTo>
                <a:cubicBezTo>
                  <a:pt x="98299" y="236761"/>
                  <a:pt x="100962" y="229439"/>
                  <a:pt x="102293" y="221894"/>
                </a:cubicBezTo>
                <a:moveTo>
                  <a:pt x="99852" y="75444"/>
                </a:moveTo>
                <a:cubicBezTo>
                  <a:pt x="120455" y="63549"/>
                  <a:pt x="145840" y="63553"/>
                  <a:pt x="166439" y="75455"/>
                </a:cubicBezTo>
                <a:cubicBezTo>
                  <a:pt x="187038" y="87356"/>
                  <a:pt x="199720" y="109346"/>
                  <a:pt x="199705" y="133137"/>
                </a:cubicBezTo>
                <a:lnTo>
                  <a:pt x="199705" y="155326"/>
                </a:lnTo>
              </a:path>
            </a:pathLst>
          </a:custGeom>
          <a:noFill/>
          <a:ln w="22189" cap="rnd">
            <a:solidFill>
              <a:srgbClr val="0B6E8A"/>
            </a:solidFill>
            <a:prstDash val="solid"/>
            <a:round/>
          </a:ln>
        </p:spPr>
      </p:sp>
      <p:sp>
        <p:nvSpPr>
          <p:cNvPr id="32"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Idempotencia en lo que se reintenta</a:t>
            </a:r>
            <a:endParaRPr lang="en-US" sz="1500" dirty="0"/>
          </a:p>
        </p:txBody>
      </p:sp>
      <p:sp>
        <p:nvSpPr>
          <p:cNvPr id="33" name="[p2] Forma"/>
          <p:cNvSpPr/>
          <p:nvPr/>
        </p:nvSpPr>
        <p:spPr>
          <a:xfrm>
            <a:off x="4140961" y="4074566"/>
            <a:ext cx="0" cy="473659"/>
          </a:xfrm>
          <a:prstGeom prst="line">
            <a:avLst/>
          </a:prstGeom>
          <a:noFill/>
          <a:ln w="9525">
            <a:solidFill>
              <a:srgbClr val="DFE6F0"/>
            </a:solidFill>
            <a:prstDash val="solid"/>
          </a:ln>
        </p:spPr>
      </p:sp>
      <p:sp>
        <p:nvSpPr>
          <p:cNvPr id="34"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tabla de procesados con llave única por número de operación</a:t>
            </a:r>
            <a:endParaRPr lang="en-US" sz="1400" dirty="0"/>
          </a:p>
        </p:txBody>
      </p:sp>
      <p:sp>
        <p:nvSpPr>
          <p:cNvPr id="35" name="[p2] Forma"/>
          <p:cNvSpPr/>
          <p:nvPr/>
        </p:nvSpPr>
        <p:spPr>
          <a:xfrm>
            <a:off x="8114733" y="4074566"/>
            <a:ext cx="0" cy="473659"/>
          </a:xfrm>
          <a:prstGeom prst="line">
            <a:avLst/>
          </a:prstGeom>
          <a:noFill/>
          <a:ln w="9525">
            <a:solidFill>
              <a:srgbClr val="DFE6F0"/>
            </a:solidFill>
            <a:prstDash val="solid"/>
          </a:ln>
        </p:spPr>
      </p:sp>
      <p:sp>
        <p:nvSpPr>
          <p:cNvPr id="36"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Pagos, correos o registros duplicados</a:t>
            </a:r>
            <a:endParaRPr lang="en-US" sz="1400" dirty="0"/>
          </a:p>
        </p:txBody>
      </p:sp>
      <p:sp>
        <p:nvSpPr>
          <p:cNvPr id="37"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3] Forma"/>
          <p:cNvSpPr/>
          <p:nvPr/>
        </p:nvSpPr>
        <p:spPr>
          <a:xfrm>
            <a:off x="612648" y="4877410"/>
            <a:ext cx="64008" cy="546811"/>
          </a:xfrm>
          <a:prstGeom prst="rect">
            <a:avLst/>
          </a:prstGeom>
          <a:solidFill>
            <a:srgbClr val="5B3FC4"/>
          </a:solidFill>
          <a:ln w="12700">
            <a:solidFill>
              <a:srgbClr val="5B3FC4"/>
            </a:solidFill>
            <a:prstDash val="solid"/>
          </a:ln>
        </p:spPr>
      </p:sp>
      <p:sp>
        <p:nvSpPr>
          <p:cNvPr id="39" name="[p3] Forma"/>
          <p:cNvSpPr/>
          <p:nvPr/>
        </p:nvSpPr>
        <p:spPr>
          <a:xfrm>
            <a:off x="772668" y="4894783"/>
            <a:ext cx="512064" cy="512064"/>
          </a:xfrm>
          <a:prstGeom prst="ellipse">
            <a:avLst/>
          </a:prstGeom>
          <a:solidFill>
            <a:srgbClr val="F1EEFD"/>
          </a:solidFill>
          <a:ln w="12700">
            <a:solidFill>
              <a:srgbClr val="F1EEFD"/>
            </a:solidFill>
            <a:prstDash val="solid"/>
          </a:ln>
        </p:spPr>
      </p:sp>
      <p:sp>
        <p:nvSpPr>
          <p:cNvPr id="40" name="[p3] 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5B3FC4"/>
            </a:solidFill>
            <a:prstDash val="solid"/>
            <a:round/>
          </a:ln>
        </p:spPr>
      </p:sp>
      <p:sp>
        <p:nvSpPr>
          <p:cNvPr id="41"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Un identificador que cruce sistemas</a:t>
            </a:r>
            <a:endParaRPr lang="en-US" sz="1500" dirty="0"/>
          </a:p>
        </p:txBody>
      </p:sp>
      <p:sp>
        <p:nvSpPr>
          <p:cNvPr id="42" name="[p3] Forma"/>
          <p:cNvSpPr/>
          <p:nvPr/>
        </p:nvSpPr>
        <p:spPr>
          <a:xfrm>
            <a:off x="4140961" y="4913986"/>
            <a:ext cx="0" cy="473659"/>
          </a:xfrm>
          <a:prstGeom prst="line">
            <a:avLst/>
          </a:prstGeom>
          <a:noFill/>
          <a:ln w="9525">
            <a:solidFill>
              <a:srgbClr val="DFE6F0"/>
            </a:solidFill>
            <a:prstDash val="solid"/>
          </a:ln>
        </p:spPr>
      </p:sp>
      <p:sp>
        <p:nvSpPr>
          <p:cNvPr id="43"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300" dirty="0">
                <a:solidFill>
                  <a:srgbClr val="0B1A3C"/>
                </a:solidFill>
                <a:latin typeface="Segoe UI" pitchFamily="34" charset="0"/>
                <a:ea typeface="Segoe UI" pitchFamily="34" charset="-122"/>
                <a:cs typeface="Segoe UI" pitchFamily="34" charset="-120"/>
              </a:rPr>
              <a:t>El mismo número en el log de la aplicación, del procedimiento y del otro sistema</a:t>
            </a:r>
            <a:endParaRPr lang="en-US" sz="1300" dirty="0"/>
          </a:p>
        </p:txBody>
      </p:sp>
      <p:sp>
        <p:nvSpPr>
          <p:cNvPr id="44" name="[p3] Forma"/>
          <p:cNvSpPr/>
          <p:nvPr/>
        </p:nvSpPr>
        <p:spPr>
          <a:xfrm>
            <a:off x="8114733" y="4913986"/>
            <a:ext cx="0" cy="473659"/>
          </a:xfrm>
          <a:prstGeom prst="line">
            <a:avLst/>
          </a:prstGeom>
          <a:noFill/>
          <a:ln w="9525">
            <a:solidFill>
              <a:srgbClr val="DFE6F0"/>
            </a:solidFill>
            <a:prstDash val="solid"/>
          </a:ln>
        </p:spPr>
      </p:sp>
      <p:sp>
        <p:nvSpPr>
          <p:cNvPr id="45"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Horas buscando un error entre sistemas</a:t>
            </a:r>
            <a:endParaRPr lang="en-US" sz="1400" dirty="0"/>
          </a:p>
        </p:txBody>
      </p:sp>
      <p:sp>
        <p:nvSpPr>
          <p:cNvPr id="46"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p4] Forma"/>
          <p:cNvSpPr/>
          <p:nvPr/>
        </p:nvSpPr>
        <p:spPr>
          <a:xfrm>
            <a:off x="612648" y="5716829"/>
            <a:ext cx="64008" cy="546811"/>
          </a:xfrm>
          <a:prstGeom prst="rect">
            <a:avLst/>
          </a:prstGeom>
          <a:solidFill>
            <a:srgbClr val="0A6648"/>
          </a:solidFill>
          <a:ln w="12700">
            <a:solidFill>
              <a:srgbClr val="0A6648"/>
            </a:solidFill>
            <a:prstDash val="solid"/>
          </a:ln>
        </p:spPr>
      </p:sp>
      <p:sp>
        <p:nvSpPr>
          <p:cNvPr id="48" name="[p4] Forma"/>
          <p:cNvSpPr/>
          <p:nvPr/>
        </p:nvSpPr>
        <p:spPr>
          <a:xfrm>
            <a:off x="772668" y="5734202"/>
            <a:ext cx="512064" cy="512064"/>
          </a:xfrm>
          <a:prstGeom prst="ellipse">
            <a:avLst/>
          </a:prstGeom>
          <a:solidFill>
            <a:srgbClr val="E1F1EA"/>
          </a:solidFill>
          <a:ln w="12700">
            <a:solidFill>
              <a:srgbClr val="E1F1EA"/>
            </a:solidFill>
            <a:prstDash val="solid"/>
          </a:ln>
        </p:spPr>
      </p:sp>
      <p:sp>
        <p:nvSpPr>
          <p:cNvPr id="49" name="[p4] Icono container"/>
          <p:cNvSpPr/>
          <p:nvPr/>
        </p:nvSpPr>
        <p:spPr>
          <a:xfrm>
            <a:off x="895563" y="5857098"/>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A6648"/>
            </a:solidFill>
            <a:prstDash val="solid"/>
            <a:round/>
          </a:ln>
        </p:spPr>
      </p:sp>
      <p:sp>
        <p:nvSpPr>
          <p:cNvPr id="50"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El mismo paquete en todos los ambientes</a:t>
            </a:r>
            <a:endParaRPr lang="en-US" sz="1500" dirty="0"/>
          </a:p>
        </p:txBody>
      </p:sp>
      <p:sp>
        <p:nvSpPr>
          <p:cNvPr id="51" name="[p4] Forma"/>
          <p:cNvSpPr/>
          <p:nvPr/>
        </p:nvSpPr>
        <p:spPr>
          <a:xfrm>
            <a:off x="4140961" y="5753405"/>
            <a:ext cx="0" cy="473659"/>
          </a:xfrm>
          <a:prstGeom prst="line">
            <a:avLst/>
          </a:prstGeom>
          <a:noFill/>
          <a:ln w="9525">
            <a:solidFill>
              <a:srgbClr val="DFE6F0"/>
            </a:solidFill>
            <a:prstDash val="solid"/>
          </a:ln>
        </p:spPr>
      </p:sp>
      <p:sp>
        <p:nvSpPr>
          <p:cNvPr id="52"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Contenedores para aplicaciones y bases de prueba</a:t>
            </a:r>
            <a:endParaRPr lang="en-US" sz="1400" dirty="0"/>
          </a:p>
        </p:txBody>
      </p:sp>
      <p:sp>
        <p:nvSpPr>
          <p:cNvPr id="53" name="[p4] Forma"/>
          <p:cNvSpPr/>
          <p:nvPr/>
        </p:nvSpPr>
        <p:spPr>
          <a:xfrm>
            <a:off x="8114733" y="5753405"/>
            <a:ext cx="0" cy="473659"/>
          </a:xfrm>
          <a:prstGeom prst="line">
            <a:avLst/>
          </a:prstGeom>
          <a:noFill/>
          <a:ln w="9525">
            <a:solidFill>
              <a:srgbClr val="DFE6F0"/>
            </a:solidFill>
            <a:prstDash val="solid"/>
          </a:ln>
        </p:spPr>
      </p:sp>
      <p:sp>
        <p:nvSpPr>
          <p:cNvPr id="54"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clásico “en mi máquina funciona”</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4"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p1] 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p2] 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p3] 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a:t>
            </a:r>
            <a:endParaRPr lang="en-US" sz="1300" dirty="0"/>
          </a:p>
        </p:txBody>
      </p:sp>
      <p:sp>
        <p:nvSpPr>
          <p:cNvPr id="37"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400"/>
                                        <p:tgtEl>
                                          <p:spTgt spid="22"/>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400"/>
                                        <p:tgtEl>
                                          <p:spTgt spid="3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400"/>
                                        <p:tgtEl>
                                          <p:spTgt spid="3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121328" y="1926884"/>
            <a:ext cx="321362" cy="667315"/>
          </a:xfrm>
          <a:prstGeom prst="line">
            <a:avLst/>
          </a:prstGeom>
          <a:noFill/>
          <a:ln w="12700">
            <a:solidFill>
              <a:srgbClr val="2BA6CB">
                <a:alpha val="40000"/>
              </a:srgbClr>
            </a:solidFill>
            <a:prstDash val="solid"/>
          </a:ln>
        </p:spPr>
      </p:sp>
      <p:sp>
        <p:nvSpPr>
          <p:cNvPr id="7" name="Shape 5"/>
          <p:cNvSpPr/>
          <p:nvPr/>
        </p:nvSpPr>
        <p:spPr>
          <a:xfrm flipV="1">
            <a:off x="9606165" y="3037351"/>
            <a:ext cx="722094" cy="164813"/>
          </a:xfrm>
          <a:prstGeom prst="line">
            <a:avLst/>
          </a:prstGeom>
          <a:noFill/>
          <a:ln w="12700">
            <a:solidFill>
              <a:srgbClr val="2BA6CB">
                <a:alpha val="40000"/>
              </a:srgbClr>
            </a:solidFill>
            <a:prstDash val="solid"/>
          </a:ln>
        </p:spPr>
      </p:sp>
      <p:sp>
        <p:nvSpPr>
          <p:cNvPr id="8" name="Shape 6"/>
          <p:cNvSpPr/>
          <p:nvPr/>
        </p:nvSpPr>
        <p:spPr>
          <a:xfrm>
            <a:off x="9433129" y="3960285"/>
            <a:ext cx="579074" cy="461796"/>
          </a:xfrm>
          <a:prstGeom prst="line">
            <a:avLst/>
          </a:prstGeom>
          <a:noFill/>
          <a:ln w="12700">
            <a:solidFill>
              <a:srgbClr val="2BA6CB">
                <a:alpha val="40000"/>
              </a:srgbClr>
            </a:solidFill>
            <a:prstDash val="solid"/>
          </a:ln>
        </p:spPr>
      </p:sp>
      <p:sp>
        <p:nvSpPr>
          <p:cNvPr id="9" name="Shape 7"/>
          <p:cNvSpPr/>
          <p:nvPr/>
        </p:nvSpPr>
        <p:spPr>
          <a:xfrm>
            <a:off x="8732520" y="4297680"/>
            <a:ext cx="0" cy="740664"/>
          </a:xfrm>
          <a:prstGeom prst="line">
            <a:avLst/>
          </a:prstGeom>
          <a:noFill/>
          <a:ln w="12700">
            <a:solidFill>
              <a:srgbClr val="2BA6CB">
                <a:alpha val="40000"/>
              </a:srgbClr>
            </a:solidFill>
            <a:prstDash val="solid"/>
          </a:ln>
        </p:spPr>
      </p:sp>
      <p:sp>
        <p:nvSpPr>
          <p:cNvPr id="10" name="Shape 8"/>
          <p:cNvSpPr/>
          <p:nvPr/>
        </p:nvSpPr>
        <p:spPr>
          <a:xfrm flipH="1">
            <a:off x="7452837" y="3960285"/>
            <a:ext cx="579074" cy="461796"/>
          </a:xfrm>
          <a:prstGeom prst="line">
            <a:avLst/>
          </a:prstGeom>
          <a:noFill/>
          <a:ln w="12700">
            <a:solidFill>
              <a:srgbClr val="2BA6CB">
                <a:alpha val="40000"/>
              </a:srgbClr>
            </a:solidFill>
            <a:prstDash val="solid"/>
          </a:ln>
        </p:spPr>
      </p:sp>
      <p:sp>
        <p:nvSpPr>
          <p:cNvPr id="11" name="Shape 9"/>
          <p:cNvSpPr/>
          <p:nvPr/>
        </p:nvSpPr>
        <p:spPr>
          <a:xfrm flipH="1" flipV="1">
            <a:off x="7136781" y="3037351"/>
            <a:ext cx="722094" cy="164813"/>
          </a:xfrm>
          <a:prstGeom prst="line">
            <a:avLst/>
          </a:prstGeom>
          <a:noFill/>
          <a:ln w="12700">
            <a:solidFill>
              <a:srgbClr val="2BA6CB">
                <a:alpha val="40000"/>
              </a:srgbClr>
            </a:solidFill>
            <a:prstDash val="solid"/>
          </a:ln>
        </p:spPr>
      </p:sp>
      <p:sp>
        <p:nvSpPr>
          <p:cNvPr id="12" name="Shape 10"/>
          <p:cNvSpPr/>
          <p:nvPr/>
        </p:nvSpPr>
        <p:spPr>
          <a:xfrm flipH="1" flipV="1">
            <a:off x="8022350" y="1926884"/>
            <a:ext cx="321362" cy="667315"/>
          </a:xfrm>
          <a:prstGeom prst="line">
            <a:avLst/>
          </a:prstGeom>
          <a:noFill/>
          <a:ln w="12700">
            <a:solidFill>
              <a:srgbClr val="2BA6CB">
                <a:alpha val="40000"/>
              </a:srgbClr>
            </a:solidFill>
            <a:prstDash val="solid"/>
          </a:ln>
        </p:spPr>
      </p:sp>
      <p:sp>
        <p:nvSpPr>
          <p:cNvPr id="13" name="Shape 11"/>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4" name="Shape 12"/>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5" name="Icono sparkles"/>
          <p:cNvSpPr/>
          <p:nvPr/>
        </p:nvSpPr>
        <p:spPr>
          <a:xfrm>
            <a:off x="8430768" y="2871216"/>
            <a:ext cx="603504" cy="603504"/>
          </a:xfrm>
          <a:custGeom>
            <a:avLst/>
            <a:gdLst/>
            <a:ahLst/>
            <a:cxnLst/>
            <a:rect l="l" t="t" r="r" b="b"/>
            <a:pathLst>
              <a:path w="603504" h="603504">
                <a:moveTo>
                  <a:pt x="249876" y="389763"/>
                </a:moveTo>
                <a:cubicBezTo>
                  <a:pt x="245304" y="372040"/>
                  <a:pt x="231464" y="358200"/>
                  <a:pt x="213741" y="353628"/>
                </a:cubicBezTo>
                <a:lnTo>
                  <a:pt x="59470" y="313847"/>
                </a:lnTo>
                <a:cubicBezTo>
                  <a:pt x="54062" y="312312"/>
                  <a:pt x="50330" y="307374"/>
                  <a:pt x="50330" y="301752"/>
                </a:cubicBezTo>
                <a:cubicBezTo>
                  <a:pt x="50330" y="296130"/>
                  <a:pt x="54062" y="291192"/>
                  <a:pt x="59470" y="289657"/>
                </a:cubicBezTo>
                <a:lnTo>
                  <a:pt x="213741" y="249851"/>
                </a:lnTo>
                <a:cubicBezTo>
                  <a:pt x="231457" y="245283"/>
                  <a:pt x="245296" y="231454"/>
                  <a:pt x="249876" y="213741"/>
                </a:cubicBezTo>
                <a:lnTo>
                  <a:pt x="289657" y="59470"/>
                </a:lnTo>
                <a:cubicBezTo>
                  <a:pt x="291176" y="54040"/>
                  <a:pt x="296126" y="50286"/>
                  <a:pt x="301765" y="50286"/>
                </a:cubicBezTo>
                <a:cubicBezTo>
                  <a:pt x="307403" y="50286"/>
                  <a:pt x="312353" y="54040"/>
                  <a:pt x="313872" y="59470"/>
                </a:cubicBezTo>
                <a:lnTo>
                  <a:pt x="353628" y="213741"/>
                </a:lnTo>
                <a:cubicBezTo>
                  <a:pt x="358200" y="231464"/>
                  <a:pt x="372040" y="245304"/>
                  <a:pt x="389763" y="249876"/>
                </a:cubicBezTo>
                <a:lnTo>
                  <a:pt x="544034" y="289632"/>
                </a:lnTo>
                <a:cubicBezTo>
                  <a:pt x="549486" y="291136"/>
                  <a:pt x="553264" y="296096"/>
                  <a:pt x="553264" y="301752"/>
                </a:cubicBezTo>
                <a:cubicBezTo>
                  <a:pt x="553264" y="307408"/>
                  <a:pt x="549486" y="312368"/>
                  <a:pt x="544034" y="313872"/>
                </a:cubicBezTo>
                <a:lnTo>
                  <a:pt x="389763" y="353628"/>
                </a:lnTo>
                <a:cubicBezTo>
                  <a:pt x="372040" y="358200"/>
                  <a:pt x="358200" y="372040"/>
                  <a:pt x="353628" y="389763"/>
                </a:cubicBezTo>
                <a:lnTo>
                  <a:pt x="313847" y="544034"/>
                </a:lnTo>
                <a:cubicBezTo>
                  <a:pt x="312328" y="549464"/>
                  <a:pt x="307378" y="553218"/>
                  <a:pt x="301739" y="553218"/>
                </a:cubicBezTo>
                <a:cubicBezTo>
                  <a:pt x="296101" y="553218"/>
                  <a:pt x="291151" y="549464"/>
                  <a:pt x="289632" y="544034"/>
                </a:cubicBezTo>
                <a:close/>
                <a:moveTo>
                  <a:pt x="502920" y="75438"/>
                </a:moveTo>
                <a:lnTo>
                  <a:pt x="502920" y="176022"/>
                </a:lnTo>
                <a:moveTo>
                  <a:pt x="553212" y="125730"/>
                </a:moveTo>
                <a:lnTo>
                  <a:pt x="452628" y="125730"/>
                </a:lnTo>
                <a:moveTo>
                  <a:pt x="100584" y="427482"/>
                </a:moveTo>
                <a:lnTo>
                  <a:pt x="100584" y="477774"/>
                </a:lnTo>
                <a:moveTo>
                  <a:pt x="125730" y="452628"/>
                </a:moveTo>
                <a:lnTo>
                  <a:pt x="75438" y="452628"/>
                </a:lnTo>
              </a:path>
            </a:pathLst>
          </a:custGeom>
          <a:noFill/>
          <a:ln w="37719" cap="rnd">
            <a:solidFill>
              <a:srgbClr val="2BA6CB"/>
            </a:solidFill>
            <a:prstDash val="solid"/>
            <a:round/>
          </a:ln>
        </p:spPr>
      </p:sp>
      <p:sp>
        <p:nvSpPr>
          <p:cNvPr id="16" name="Text 14"/>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¿Preguntas?</a:t>
            </a:r>
            <a:endParaRPr lang="en-US" sz="1500" dirty="0"/>
          </a:p>
        </p:txBody>
      </p:sp>
      <p:sp>
        <p:nvSpPr>
          <p:cNvPr id="17" name="Shape 15"/>
          <p:cNvSpPr/>
          <p:nvPr/>
        </p:nvSpPr>
        <p:spPr>
          <a:xfrm>
            <a:off x="9283766"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8" name="Icono code"/>
          <p:cNvSpPr/>
          <p:nvPr/>
        </p:nvSpPr>
        <p:spPr>
          <a:xfrm>
            <a:off x="9430070" y="1474851"/>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19" name="Text 17"/>
          <p:cNvSpPr/>
          <p:nvPr/>
        </p:nvSpPr>
        <p:spPr>
          <a:xfrm>
            <a:off x="9704390"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0" name="Text 18"/>
          <p:cNvSpPr/>
          <p:nvPr/>
        </p:nvSpPr>
        <p:spPr>
          <a:xfrm>
            <a:off x="9978710" y="1483995"/>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1" name="Shape 19"/>
          <p:cNvSpPr/>
          <p:nvPr/>
        </p:nvSpPr>
        <p:spPr>
          <a:xfrm>
            <a:off x="10347437"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2" name="Icono network"/>
          <p:cNvSpPr/>
          <p:nvPr/>
        </p:nvSpPr>
        <p:spPr>
          <a:xfrm>
            <a:off x="10493741" y="2808653"/>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3" name="Text 21"/>
          <p:cNvSpPr/>
          <p:nvPr/>
        </p:nvSpPr>
        <p:spPr>
          <a:xfrm>
            <a:off x="10768061"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4" name="Text 22"/>
          <p:cNvSpPr/>
          <p:nvPr/>
        </p:nvSpPr>
        <p:spPr>
          <a:xfrm>
            <a:off x="11042381" y="2817797"/>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5" name="Shape 23"/>
          <p:cNvSpPr/>
          <p:nvPr/>
        </p:nvSpPr>
        <p:spPr>
          <a:xfrm>
            <a:off x="9967817"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6" name="Icono database"/>
          <p:cNvSpPr/>
          <p:nvPr/>
        </p:nvSpPr>
        <p:spPr>
          <a:xfrm>
            <a:off x="10114121" y="4471876"/>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7" name="Text 25"/>
          <p:cNvSpPr/>
          <p:nvPr/>
        </p:nvSpPr>
        <p:spPr>
          <a:xfrm>
            <a:off x="10388441"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8" name="Text 26"/>
          <p:cNvSpPr/>
          <p:nvPr/>
        </p:nvSpPr>
        <p:spPr>
          <a:xfrm>
            <a:off x="10662761" y="4481020"/>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29" name="Shape 27"/>
          <p:cNvSpPr/>
          <p:nvPr/>
        </p:nvSpPr>
        <p:spPr>
          <a:xfrm>
            <a:off x="8430768" y="50657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0" name="Icono waypoints"/>
          <p:cNvSpPr/>
          <p:nvPr/>
        </p:nvSpPr>
        <p:spPr>
          <a:xfrm>
            <a:off x="8577072" y="5212080"/>
            <a:ext cx="310896" cy="310896"/>
          </a:xfrm>
          <a:custGeom>
            <a:avLst/>
            <a:gdLst/>
            <a:ahLst/>
            <a:cxnLst/>
            <a:rect l="l" t="t" r="r" b="b"/>
            <a:pathLst>
              <a:path w="310896" h="310896">
                <a:moveTo>
                  <a:pt x="187833" y="58293"/>
                </a:moveTo>
                <a:cubicBezTo>
                  <a:pt x="187833" y="76179"/>
                  <a:pt x="173334" y="90678"/>
                  <a:pt x="155448" y="90678"/>
                </a:cubicBezTo>
                <a:cubicBezTo>
                  <a:pt x="137562" y="90678"/>
                  <a:pt x="123063" y="76179"/>
                  <a:pt x="123063" y="58293"/>
                </a:cubicBezTo>
                <a:cubicBezTo>
                  <a:pt x="123063" y="40407"/>
                  <a:pt x="137562" y="25908"/>
                  <a:pt x="155448" y="25908"/>
                </a:cubicBezTo>
                <a:cubicBezTo>
                  <a:pt x="173334" y="25908"/>
                  <a:pt x="187833" y="40407"/>
                  <a:pt x="187833" y="58293"/>
                </a:cubicBezTo>
                <a:close/>
                <a:moveTo>
                  <a:pt x="132131" y="81610"/>
                </a:moveTo>
                <a:lnTo>
                  <a:pt x="81610" y="132131"/>
                </a:lnTo>
                <a:moveTo>
                  <a:pt x="90678" y="155448"/>
                </a:moveTo>
                <a:cubicBezTo>
                  <a:pt x="90678" y="173334"/>
                  <a:pt x="76179" y="187833"/>
                  <a:pt x="58293" y="187833"/>
                </a:cubicBezTo>
                <a:cubicBezTo>
                  <a:pt x="40407" y="187833"/>
                  <a:pt x="25908" y="173334"/>
                  <a:pt x="25908" y="155448"/>
                </a:cubicBezTo>
                <a:cubicBezTo>
                  <a:pt x="25908" y="137562"/>
                  <a:pt x="40407" y="123063"/>
                  <a:pt x="58293" y="123063"/>
                </a:cubicBezTo>
                <a:cubicBezTo>
                  <a:pt x="76179" y="123063"/>
                  <a:pt x="90678" y="137562"/>
                  <a:pt x="90678" y="155448"/>
                </a:cubicBezTo>
                <a:close/>
                <a:moveTo>
                  <a:pt x="90678" y="155448"/>
                </a:moveTo>
                <a:lnTo>
                  <a:pt x="220218" y="155448"/>
                </a:lnTo>
                <a:moveTo>
                  <a:pt x="284988" y="155448"/>
                </a:moveTo>
                <a:cubicBezTo>
                  <a:pt x="284988" y="173334"/>
                  <a:pt x="270489" y="187833"/>
                  <a:pt x="252603" y="187833"/>
                </a:cubicBezTo>
                <a:cubicBezTo>
                  <a:pt x="234717" y="187833"/>
                  <a:pt x="220218" y="173334"/>
                  <a:pt x="220218" y="155448"/>
                </a:cubicBezTo>
                <a:cubicBezTo>
                  <a:pt x="220218" y="137562"/>
                  <a:pt x="234717" y="123063"/>
                  <a:pt x="252603" y="123063"/>
                </a:cubicBezTo>
                <a:cubicBezTo>
                  <a:pt x="270489" y="123063"/>
                  <a:pt x="284988" y="137562"/>
                  <a:pt x="284988" y="155448"/>
                </a:cubicBezTo>
                <a:close/>
                <a:moveTo>
                  <a:pt x="178765" y="229286"/>
                </a:moveTo>
                <a:lnTo>
                  <a:pt x="229286" y="178765"/>
                </a:lnTo>
                <a:moveTo>
                  <a:pt x="187833" y="252603"/>
                </a:moveTo>
                <a:cubicBezTo>
                  <a:pt x="187833" y="270489"/>
                  <a:pt x="173334" y="284988"/>
                  <a:pt x="155448" y="284988"/>
                </a:cubicBezTo>
                <a:cubicBezTo>
                  <a:pt x="137562" y="284988"/>
                  <a:pt x="123063" y="270489"/>
                  <a:pt x="123063" y="252603"/>
                </a:cubicBezTo>
                <a:cubicBezTo>
                  <a:pt x="123063" y="234717"/>
                  <a:pt x="137562" y="220218"/>
                  <a:pt x="155448" y="220218"/>
                </a:cubicBezTo>
                <a:cubicBezTo>
                  <a:pt x="173334" y="220218"/>
                  <a:pt x="187833" y="234717"/>
                  <a:pt x="187833" y="252603"/>
                </a:cubicBezTo>
                <a:close/>
              </a:path>
            </a:pathLst>
          </a:custGeom>
          <a:noFill/>
          <a:ln w="25908" cap="rnd">
            <a:solidFill>
              <a:srgbClr val="2BA6CB"/>
            </a:solidFill>
            <a:prstDash val="solid"/>
            <a:round/>
          </a:ln>
        </p:spPr>
      </p:sp>
      <p:sp>
        <p:nvSpPr>
          <p:cNvPr id="31" name="Text 29"/>
          <p:cNvSpPr/>
          <p:nvPr/>
        </p:nvSpPr>
        <p:spPr>
          <a:xfrm>
            <a:off x="8851392" y="49926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2" name="Text 30"/>
          <p:cNvSpPr/>
          <p:nvPr/>
        </p:nvSpPr>
        <p:spPr>
          <a:xfrm>
            <a:off x="9125712" y="52212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Interconexión</a:t>
            </a:r>
            <a:endParaRPr lang="en-US" sz="1050" dirty="0"/>
          </a:p>
        </p:txBody>
      </p:sp>
      <p:sp>
        <p:nvSpPr>
          <p:cNvPr id="33" name="Shape 31"/>
          <p:cNvSpPr/>
          <p:nvPr/>
        </p:nvSpPr>
        <p:spPr>
          <a:xfrm>
            <a:off x="6893719"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4" name="Icono container"/>
          <p:cNvSpPr/>
          <p:nvPr/>
        </p:nvSpPr>
        <p:spPr>
          <a:xfrm>
            <a:off x="7040023" y="4471876"/>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5" name="Text 33"/>
          <p:cNvSpPr/>
          <p:nvPr/>
        </p:nvSpPr>
        <p:spPr>
          <a:xfrm>
            <a:off x="7314343"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6" name="Text 34"/>
          <p:cNvSpPr/>
          <p:nvPr/>
        </p:nvSpPr>
        <p:spPr>
          <a:xfrm>
            <a:off x="5659279" y="4481020"/>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DevOps</a:t>
            </a:r>
            <a:endParaRPr lang="en-US" sz="1050" dirty="0"/>
          </a:p>
        </p:txBody>
      </p:sp>
      <p:sp>
        <p:nvSpPr>
          <p:cNvPr id="37" name="Shape 35"/>
          <p:cNvSpPr/>
          <p:nvPr/>
        </p:nvSpPr>
        <p:spPr>
          <a:xfrm>
            <a:off x="6514099"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8" name="Icono chart-line"/>
          <p:cNvSpPr/>
          <p:nvPr/>
        </p:nvSpPr>
        <p:spPr>
          <a:xfrm>
            <a:off x="6660403" y="2808653"/>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39" name="Text 37"/>
          <p:cNvSpPr/>
          <p:nvPr/>
        </p:nvSpPr>
        <p:spPr>
          <a:xfrm>
            <a:off x="6934723"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0" name="Text 38"/>
          <p:cNvSpPr/>
          <p:nvPr/>
        </p:nvSpPr>
        <p:spPr>
          <a:xfrm>
            <a:off x="5279659" y="2817797"/>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1" name="Shape 39"/>
          <p:cNvSpPr/>
          <p:nvPr/>
        </p:nvSpPr>
        <p:spPr>
          <a:xfrm>
            <a:off x="7577770"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2" name="Icono monitor"/>
          <p:cNvSpPr/>
          <p:nvPr/>
        </p:nvSpPr>
        <p:spPr>
          <a:xfrm>
            <a:off x="7724074" y="1474851"/>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2BA6CB"/>
            </a:solidFill>
            <a:prstDash val="solid"/>
            <a:round/>
          </a:ln>
        </p:spPr>
      </p:sp>
      <p:sp>
        <p:nvSpPr>
          <p:cNvPr id="43" name="Text 41"/>
          <p:cNvSpPr/>
          <p:nvPr/>
        </p:nvSpPr>
        <p:spPr>
          <a:xfrm>
            <a:off x="7998394"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4" name="Text 42"/>
          <p:cNvSpPr/>
          <p:nvPr/>
        </p:nvSpPr>
        <p:spPr>
          <a:xfrm>
            <a:off x="6343330" y="1483995"/>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Demostración</a:t>
            </a:r>
            <a:endParaRPr lang="en-US" sz="1050" dirty="0"/>
          </a:p>
        </p:txBody>
      </p:sp>
      <p:sp>
        <p:nvSpPr>
          <p:cNvPr id="45" name="Shape 43"/>
          <p:cNvSpPr/>
          <p:nvPr/>
        </p:nvSpPr>
        <p:spPr>
          <a:xfrm>
            <a:off x="758952" y="530352"/>
            <a:ext cx="329184" cy="329184"/>
          </a:xfrm>
          <a:prstGeom prst="ellipse">
            <a:avLst/>
          </a:prstGeom>
          <a:solidFill>
            <a:srgbClr val="2BA6CB"/>
          </a:solidFill>
          <a:ln w="12700">
            <a:solidFill>
              <a:srgbClr val="2BA6CB"/>
            </a:solidFill>
            <a:prstDash val="solid"/>
          </a:ln>
        </p:spPr>
      </p:sp>
      <p:sp>
        <p:nvSpPr>
          <p:cNvPr id="46" name="Text 4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47" name="Text 4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48" name="Text 46"/>
          <p:cNvSpPr/>
          <p:nvPr/>
        </p:nvSpPr>
        <p:spPr>
          <a:xfrm>
            <a:off x="758952" y="2011680"/>
            <a:ext cx="5486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49" name="Shape 47"/>
          <p:cNvSpPr/>
          <p:nvPr/>
        </p:nvSpPr>
        <p:spPr>
          <a:xfrm>
            <a:off x="758952" y="3429000"/>
            <a:ext cx="822960" cy="54864"/>
          </a:xfrm>
          <a:prstGeom prst="rect">
            <a:avLst/>
          </a:prstGeom>
          <a:solidFill>
            <a:srgbClr val="2BA6CB"/>
          </a:solidFill>
          <a:ln w="12700">
            <a:solidFill>
              <a:srgbClr val="2BA6CB"/>
            </a:solidFill>
            <a:prstDash val="solid"/>
          </a:ln>
        </p:spPr>
      </p:sp>
      <p:sp>
        <p:nvSpPr>
          <p:cNvPr id="50" name="Text 48"/>
          <p:cNvSpPr/>
          <p:nvPr/>
        </p:nvSpPr>
        <p:spPr>
          <a:xfrm>
            <a:off x="758952" y="3657600"/>
            <a:ext cx="5120640" cy="1280160"/>
          </a:xfrm>
          <a:prstGeom prst="rect">
            <a:avLst/>
          </a:prstGeom>
          <a:noFill/>
          <a:ln/>
        </p:spPr>
        <p:txBody>
          <a:bodyPr wrap="square" lIns="0" tIns="0" rIns="0" bIns="0" rtlCol="0" anchor="t"/>
          <a:lstStyle/>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Equipo arka-litos</a:t>
            </a:r>
            <a:endParaRPr lang="en-US" sz="2000" dirty="0"/>
          </a:p>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Proyecto final · Upskilling Backend Java</a:t>
            </a:r>
            <a:endParaRPr lang="en-US" sz="2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ejecutivo</dc:title>
  <dc:subject>Proyecto final de Upskilling Backend Java</dc:subject>
  <dc:creator>Upskilling Backend Java</dc:creator>
  <cp:lastModifiedBy>Upskilling Backend Java</cp:lastModifiedBy>
  <cp:revision>1</cp:revision>
  <dcterms:created xsi:type="dcterms:W3CDTF">2026-10-29T10:16:02Z</dcterms:created>
  <dcterms:modified xsi:type="dcterms:W3CDTF">2026-10-29T10:16:02Z</dcterms:modified>
</cp:coreProperties>
</file>