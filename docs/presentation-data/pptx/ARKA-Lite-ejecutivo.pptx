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En 40 minutos, prácticas que pueden aplicar en sus propios sistemas, no solo teoría.
QUÉ DECIR (▶ CLIC = hacer clic)
“Buenos días a todos. Somos el equipo arka-litos, del curso Upskilling Backend Java, y hoy les presentamos ARKA-Lite, nuestro proyecto final.”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PARA PASAR
“Primero, quiénes somos.”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Un mismo proyecto visto desde las tres áreas que ustedes también tienen.
QUÉ DECIR (▶ CLIC = hacer clic)
“Somos un equipo de tres áreas, las mismas que tienen ustedes: desarrollo, base de datos e infraestructura. Cada parte la presenta quien la construyó.”
“Desarrollo escribió los servicios, la interfaz y las pruebas, y va a contar los fundamentos, la arquitectura, el ORM, la comunicación entre servicios y la demostración. Base de datos cuenta cómo se guardan y se cuidan los datos. Infraestructura, cómo se empaqueta, se despliega y se vigila. Y yo, que vengo de desarrollo y conozco el negocio de punta a punta, voy a abrir, conectar las partes y cerrar.”
SI HAY TIEMPO, SE PUEDE AGREGAR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Orquestador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Le paso la palabra a mi compañero.”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Cuando cambia una regla, se toca un solo lugar y una prueba confirma que nada se rompió.
QUÉ DECIR (▶ CLIC = hacer clic)
“Gracias.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“Veámoslo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 misma regla, más fácil de probar y de cambiar, sin que la base pierda su papel.
QUÉ DECIR (▶ CLIC = hacer clic)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“Mi compañero de desarrollo les va a mostrar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El SQL de todos los días sale solo y siempre con parámetros: menos código y menos riesgo de inyección.
QUÉ DECIR (▶ CLIC = hacer clic)
“Gracias.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Le devuelvo la palabra a mi compañero de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Las claves fuera del código: rotarlas o cambiar de servidor no requiere recompilar.
QUÉ DECIR (▶ CLIC = hacer clic)
“Gracias.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veamos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“Gracias.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“Primero, cómo cada cambio se convierte en una imagen: el pipeline.”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error se detecta antes de llegar a main, y cada imagen se rastrea hasta su commit.
QUÉ DECIR (▶ CLIC = hacer clic)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“Y para probar o mostrar todo esto sin instalar nada, usamos Codespaces.”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“Ahora, el clúster: qué piezas de Kubernetes usamos.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“Gracias. En Kubernetes no damos órdenes paso a paso: describimos en archivos YAML cómo queremos que esté el sistema, y Kubernetes lo mantiene así.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“Kubernetes funciona como un termostato: no le decimos qué hacer paso a paso, le decimos el estado que queremos, por ejemplo una copia de cada servicio, y él lo mantiene. Veamos qué pasa si se cae el Pod de solicitudes.”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4864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PROYECTO FINAL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402336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EJECUTIVO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Equipo arka-litos</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áreas, las mismas que las suyas, y cada parte la presenta quien la construyó.</a:t>
            </a:r>
            <a:endParaRPr lang="en-US" sz="1700" dirty="0"/>
          </a:p>
        </p:txBody>
      </p:sp>
      <p:sp>
        <p:nvSpPr>
          <p:cNvPr id="6" name="Shape 4"/>
          <p:cNvSpPr/>
          <p:nvPr/>
        </p:nvSpPr>
        <p:spPr>
          <a:xfrm>
            <a:off x="61264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7" name="Shape 5"/>
          <p:cNvSpPr/>
          <p:nvPr/>
        </p:nvSpPr>
        <p:spPr>
          <a:xfrm>
            <a:off x="612648" y="1719072"/>
            <a:ext cx="2570150" cy="1005840"/>
          </a:xfrm>
          <a:prstGeom prst="roundRect">
            <a:avLst>
              <a:gd name="adj" fmla="val 12727"/>
            </a:avLst>
          </a:prstGeom>
          <a:solidFill>
            <a:srgbClr val="5B3FC4"/>
          </a:solidFill>
          <a:ln w="12700">
            <a:solidFill>
              <a:srgbClr val="5B3FC4"/>
            </a:solidFill>
            <a:prstDash val="solid"/>
          </a:ln>
        </p:spPr>
      </p:sp>
      <p:sp>
        <p:nvSpPr>
          <p:cNvPr id="8" name="Shape 6"/>
          <p:cNvSpPr/>
          <p:nvPr/>
        </p:nvSpPr>
        <p:spPr>
          <a:xfrm>
            <a:off x="612648" y="2542032"/>
            <a:ext cx="2570150" cy="182880"/>
          </a:xfrm>
          <a:prstGeom prst="rect">
            <a:avLst/>
          </a:prstGeom>
          <a:solidFill>
            <a:srgbClr val="5B3FC4"/>
          </a:solidFill>
          <a:ln w="12700">
            <a:solidFill>
              <a:srgbClr val="5B3FC4"/>
            </a:solidFill>
            <a:prstDash val="solid"/>
          </a:ln>
        </p:spPr>
      </p:sp>
      <p:sp>
        <p:nvSpPr>
          <p:cNvPr id="9" name="Shape 7"/>
          <p:cNvSpPr/>
          <p:nvPr/>
        </p:nvSpPr>
        <p:spPr>
          <a:xfrm>
            <a:off x="150453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10" name="Icono map"/>
          <p:cNvSpPr/>
          <p:nvPr/>
        </p:nvSpPr>
        <p:spPr>
          <a:xfrm>
            <a:off x="1693263" y="2017532"/>
            <a:ext cx="408920" cy="408920"/>
          </a:xfrm>
          <a:custGeom>
            <a:avLst/>
            <a:gdLst/>
            <a:ahLst/>
            <a:cxnLst/>
            <a:rect l="l" t="t" r="r" b="b"/>
            <a:pathLst>
              <a:path w="408920" h="408920">
                <a:moveTo>
                  <a:pt x="240343" y="94614"/>
                </a:moveTo>
                <a:cubicBezTo>
                  <a:pt x="249932" y="99406"/>
                  <a:pt x="261218" y="99406"/>
                  <a:pt x="270807" y="94614"/>
                </a:cubicBezTo>
                <a:lnTo>
                  <a:pt x="333150" y="63434"/>
                </a:lnTo>
                <a:cubicBezTo>
                  <a:pt x="338436" y="60792"/>
                  <a:pt x="344713" y="61078"/>
                  <a:pt x="349736" y="64189"/>
                </a:cubicBezTo>
                <a:cubicBezTo>
                  <a:pt x="354760" y="67300"/>
                  <a:pt x="357813" y="72791"/>
                  <a:pt x="357805" y="78700"/>
                </a:cubicBezTo>
                <a:lnTo>
                  <a:pt x="357805" y="296177"/>
                </a:lnTo>
                <a:cubicBezTo>
                  <a:pt x="357801" y="302629"/>
                  <a:pt x="354154" y="308525"/>
                  <a:pt x="348383" y="311409"/>
                </a:cubicBezTo>
                <a:lnTo>
                  <a:pt x="270807" y="350206"/>
                </a:lnTo>
                <a:cubicBezTo>
                  <a:pt x="261218" y="354998"/>
                  <a:pt x="249932" y="354998"/>
                  <a:pt x="240343" y="350206"/>
                </a:cubicBezTo>
                <a:lnTo>
                  <a:pt x="168577" y="314323"/>
                </a:lnTo>
                <a:cubicBezTo>
                  <a:pt x="158988" y="309531"/>
                  <a:pt x="147702" y="309531"/>
                  <a:pt x="138113" y="314323"/>
                </a:cubicBezTo>
                <a:lnTo>
                  <a:pt x="75769" y="345503"/>
                </a:lnTo>
                <a:cubicBezTo>
                  <a:pt x="70481" y="348146"/>
                  <a:pt x="64201" y="347858"/>
                  <a:pt x="59176" y="344743"/>
                </a:cubicBezTo>
                <a:cubicBezTo>
                  <a:pt x="54151" y="341628"/>
                  <a:pt x="51100" y="336132"/>
                  <a:pt x="51115" y="330220"/>
                </a:cubicBezTo>
                <a:lnTo>
                  <a:pt x="51115" y="112760"/>
                </a:lnTo>
                <a:cubicBezTo>
                  <a:pt x="51118" y="106308"/>
                  <a:pt x="54766" y="100411"/>
                  <a:pt x="60537" y="97527"/>
                </a:cubicBezTo>
                <a:lnTo>
                  <a:pt x="138113" y="58731"/>
                </a:lnTo>
                <a:cubicBezTo>
                  <a:pt x="147702" y="53939"/>
                  <a:pt x="158988" y="53939"/>
                  <a:pt x="168577" y="58731"/>
                </a:cubicBezTo>
                <a:close/>
                <a:moveTo>
                  <a:pt x="255575" y="98209"/>
                </a:moveTo>
                <a:lnTo>
                  <a:pt x="255575" y="353784"/>
                </a:lnTo>
                <a:moveTo>
                  <a:pt x="153345" y="55136"/>
                </a:moveTo>
                <a:lnTo>
                  <a:pt x="153345" y="310711"/>
                </a:lnTo>
              </a:path>
            </a:pathLst>
          </a:custGeom>
          <a:noFill/>
          <a:ln w="34077" cap="rnd">
            <a:solidFill>
              <a:srgbClr val="5B3FC4"/>
            </a:solidFill>
            <a:prstDash val="solid"/>
            <a:round/>
          </a:ln>
        </p:spPr>
      </p:sp>
      <p:sp>
        <p:nvSpPr>
          <p:cNvPr id="11" name="Text 9"/>
          <p:cNvSpPr/>
          <p:nvPr/>
        </p:nvSpPr>
        <p:spPr>
          <a:xfrm>
            <a:off x="74980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5B3FC4"/>
                </a:solidFill>
                <a:latin typeface="Segoe UI Semibold" pitchFamily="34" charset="0"/>
                <a:ea typeface="Segoe UI Semibold" pitchFamily="34" charset="-122"/>
                <a:cs typeface="Segoe UI Semibold" pitchFamily="34" charset="-120"/>
              </a:rPr>
              <a:t>Orquestación</a:t>
            </a:r>
            <a:endParaRPr lang="en-US" sz="1900" dirty="0"/>
          </a:p>
        </p:txBody>
      </p:sp>
      <p:sp>
        <p:nvSpPr>
          <p:cNvPr id="12" name="Shape 10"/>
          <p:cNvSpPr/>
          <p:nvPr/>
        </p:nvSpPr>
        <p:spPr>
          <a:xfrm>
            <a:off x="933031" y="3236976"/>
            <a:ext cx="1929384" cy="292608"/>
          </a:xfrm>
          <a:prstGeom prst="roundRect">
            <a:avLst>
              <a:gd name="adj" fmla="val 50000"/>
            </a:avLst>
          </a:prstGeom>
          <a:solidFill>
            <a:srgbClr val="F1EEFD"/>
          </a:solidFill>
          <a:ln w="12700">
            <a:solidFill>
              <a:srgbClr val="F1EEFD"/>
            </a:solidFill>
            <a:prstDash val="solid"/>
          </a:ln>
        </p:spPr>
      </p:sp>
      <p:sp>
        <p:nvSpPr>
          <p:cNvPr id="13" name="Icono users"/>
          <p:cNvSpPr/>
          <p:nvPr/>
        </p:nvSpPr>
        <p:spPr>
          <a:xfrm>
            <a:off x="1042759"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5B3FC4"/>
            </a:solidFill>
            <a:prstDash val="solid"/>
            <a:round/>
          </a:ln>
        </p:spPr>
      </p:sp>
      <p:sp>
        <p:nvSpPr>
          <p:cNvPr id="14" name="Text 12"/>
          <p:cNvSpPr/>
          <p:nvPr/>
        </p:nvSpPr>
        <p:spPr>
          <a:xfrm>
            <a:off x="1317079" y="3236976"/>
            <a:ext cx="1472184" cy="292608"/>
          </a:xfrm>
          <a:prstGeom prst="rect">
            <a:avLst/>
          </a:prstGeom>
          <a:noFill/>
          <a:ln/>
        </p:spPr>
        <p:txBody>
          <a:bodyPr wrap="square" lIns="0" tIns="0" rIns="0" bIns="0" rtlCol="0" anchor="ctr">
            <a:normAutofit/>
          </a:bodyPr>
          <a:lstStyle/>
          <a:p>
            <a:pPr algn="l" indent="0" marL="0">
              <a:buNone/>
            </a:pPr>
            <a:r>
              <a:rPr lang="en-US" sz="1150" b="1" dirty="0">
                <a:solidFill>
                  <a:srgbClr val="5B3FC4"/>
                </a:solidFill>
                <a:latin typeface="Segoe UI" pitchFamily="34" charset="0"/>
                <a:ea typeface="Segoe UI" pitchFamily="34" charset="-122"/>
                <a:cs typeface="Segoe UI" pitchFamily="34" charset="-120"/>
              </a:rPr>
              <a:t>1, de desarrollo</a:t>
            </a:r>
            <a:endParaRPr lang="en-US" sz="1150" dirty="0"/>
          </a:p>
        </p:txBody>
      </p:sp>
      <p:sp>
        <p:nvSpPr>
          <p:cNvPr id="15" name="Text 13"/>
          <p:cNvSpPr/>
          <p:nvPr/>
        </p:nvSpPr>
        <p:spPr>
          <a:xfrm>
            <a:off x="795528" y="3621024"/>
            <a:ext cx="2204390" cy="566928"/>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Conoce el negocio completo: abre, conecta las partes y cierra.</a:t>
            </a:r>
            <a:endParaRPr lang="en-US" sz="1200" dirty="0"/>
          </a:p>
        </p:txBody>
      </p:sp>
      <p:sp>
        <p:nvSpPr>
          <p:cNvPr id="16" name="Shape 14"/>
          <p:cNvSpPr/>
          <p:nvPr/>
        </p:nvSpPr>
        <p:spPr>
          <a:xfrm>
            <a:off x="886968" y="4242816"/>
            <a:ext cx="2021510" cy="0"/>
          </a:xfrm>
          <a:prstGeom prst="line">
            <a:avLst/>
          </a:prstGeom>
          <a:noFill/>
          <a:ln w="9525">
            <a:solidFill>
              <a:srgbClr val="DFE6F0"/>
            </a:solidFill>
            <a:prstDash val="solid"/>
          </a:ln>
        </p:spPr>
      </p:sp>
      <p:sp>
        <p:nvSpPr>
          <p:cNvPr id="17" name="Text 15"/>
          <p:cNvSpPr/>
          <p:nvPr/>
        </p:nvSpPr>
        <p:spPr>
          <a:xfrm>
            <a:off x="79552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5B3FC4"/>
                </a:solidFill>
                <a:latin typeface="Segoe UI" pitchFamily="34" charset="0"/>
                <a:ea typeface="Segoe UI" pitchFamily="34" charset="-122"/>
                <a:cs typeface="Segoe UI" pitchFamily="34" charset="-120"/>
              </a:rPr>
              <a:t>PRESENTA</a:t>
            </a:r>
            <a:endParaRPr lang="en-US" sz="950" dirty="0"/>
          </a:p>
        </p:txBody>
      </p:sp>
      <p:sp>
        <p:nvSpPr>
          <p:cNvPr id="18" name="Text 16"/>
          <p:cNvSpPr/>
          <p:nvPr/>
        </p:nvSpPr>
        <p:spPr>
          <a:xfrm>
            <a:off x="841248" y="4645152"/>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Apertura</a:t>
            </a:r>
            <a:endParaRPr lang="en-US" sz="1250" dirty="0"/>
          </a:p>
        </p:txBody>
      </p:sp>
      <p:sp>
        <p:nvSpPr>
          <p:cNvPr id="19" name="Text 17"/>
          <p:cNvSpPr/>
          <p:nvPr/>
        </p:nvSpPr>
        <p:spPr>
          <a:xfrm>
            <a:off x="841248" y="4992624"/>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El negocio</a:t>
            </a:r>
            <a:endParaRPr lang="en-US" sz="1250" dirty="0"/>
          </a:p>
        </p:txBody>
      </p:sp>
      <p:sp>
        <p:nvSpPr>
          <p:cNvPr id="20" name="Text 18"/>
          <p:cNvSpPr/>
          <p:nvPr/>
        </p:nvSpPr>
        <p:spPr>
          <a:xfrm>
            <a:off x="841248" y="5340096"/>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Cierre</a:t>
            </a:r>
            <a:endParaRPr lang="en-US" sz="1250" dirty="0"/>
          </a:p>
        </p:txBody>
      </p:sp>
      <p:sp>
        <p:nvSpPr>
          <p:cNvPr id="21" name="Shape 19"/>
          <p:cNvSpPr/>
          <p:nvPr/>
        </p:nvSpPr>
        <p:spPr>
          <a:xfrm>
            <a:off x="341139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Shape 20"/>
          <p:cNvSpPr/>
          <p:nvPr/>
        </p:nvSpPr>
        <p:spPr>
          <a:xfrm>
            <a:off x="3411398" y="1719072"/>
            <a:ext cx="2570150" cy="1005840"/>
          </a:xfrm>
          <a:prstGeom prst="roundRect">
            <a:avLst>
              <a:gd name="adj" fmla="val 12727"/>
            </a:avLst>
          </a:prstGeom>
          <a:solidFill>
            <a:srgbClr val="0B2350"/>
          </a:solidFill>
          <a:ln w="12700">
            <a:solidFill>
              <a:srgbClr val="0B2350"/>
            </a:solidFill>
            <a:prstDash val="solid"/>
          </a:ln>
        </p:spPr>
      </p:sp>
      <p:sp>
        <p:nvSpPr>
          <p:cNvPr id="23" name="Shape 21"/>
          <p:cNvSpPr/>
          <p:nvPr/>
        </p:nvSpPr>
        <p:spPr>
          <a:xfrm>
            <a:off x="3411398" y="2542032"/>
            <a:ext cx="2570150" cy="182880"/>
          </a:xfrm>
          <a:prstGeom prst="rect">
            <a:avLst/>
          </a:prstGeom>
          <a:solidFill>
            <a:srgbClr val="0B2350"/>
          </a:solidFill>
          <a:ln w="12700">
            <a:solidFill>
              <a:srgbClr val="0B2350"/>
            </a:solidFill>
            <a:prstDash val="solid"/>
          </a:ln>
        </p:spPr>
      </p:sp>
      <p:sp>
        <p:nvSpPr>
          <p:cNvPr id="24" name="Shape 22"/>
          <p:cNvSpPr/>
          <p:nvPr/>
        </p:nvSpPr>
        <p:spPr>
          <a:xfrm>
            <a:off x="430328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25" name="Icono code"/>
          <p:cNvSpPr/>
          <p:nvPr/>
        </p:nvSpPr>
        <p:spPr>
          <a:xfrm>
            <a:off x="4492013" y="2017532"/>
            <a:ext cx="408920" cy="408920"/>
          </a:xfrm>
          <a:custGeom>
            <a:avLst/>
            <a:gdLst/>
            <a:ahLst/>
            <a:cxnLst/>
            <a:rect l="l" t="t" r="r" b="b"/>
            <a:pathLst>
              <a:path w="408920" h="408920">
                <a:moveTo>
                  <a:pt x="272613" y="306690"/>
                </a:moveTo>
                <a:lnTo>
                  <a:pt x="374843" y="204460"/>
                </a:lnTo>
                <a:lnTo>
                  <a:pt x="272613" y="102230"/>
                </a:lnTo>
                <a:moveTo>
                  <a:pt x="136307" y="102230"/>
                </a:moveTo>
                <a:lnTo>
                  <a:pt x="34077" y="204460"/>
                </a:lnTo>
                <a:lnTo>
                  <a:pt x="136307" y="306690"/>
                </a:lnTo>
              </a:path>
            </a:pathLst>
          </a:custGeom>
          <a:noFill/>
          <a:ln w="34077" cap="rnd">
            <a:solidFill>
              <a:srgbClr val="0B2350"/>
            </a:solidFill>
            <a:prstDash val="solid"/>
            <a:round/>
          </a:ln>
        </p:spPr>
      </p:sp>
      <p:sp>
        <p:nvSpPr>
          <p:cNvPr id="26" name="Text 24"/>
          <p:cNvSpPr/>
          <p:nvPr/>
        </p:nvSpPr>
        <p:spPr>
          <a:xfrm>
            <a:off x="354855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B2350"/>
                </a:solidFill>
                <a:latin typeface="Segoe UI Semibold" pitchFamily="34" charset="0"/>
                <a:ea typeface="Segoe UI Semibold" pitchFamily="34" charset="-122"/>
                <a:cs typeface="Segoe UI Semibold" pitchFamily="34" charset="-120"/>
              </a:rPr>
              <a:t>Desarrollo</a:t>
            </a:r>
            <a:endParaRPr lang="en-US" sz="1900" dirty="0"/>
          </a:p>
        </p:txBody>
      </p:sp>
      <p:sp>
        <p:nvSpPr>
          <p:cNvPr id="27" name="Shape 25"/>
          <p:cNvSpPr/>
          <p:nvPr/>
        </p:nvSpPr>
        <p:spPr>
          <a:xfrm>
            <a:off x="3809505" y="3236976"/>
            <a:ext cx="1773936" cy="292608"/>
          </a:xfrm>
          <a:prstGeom prst="roundRect">
            <a:avLst>
              <a:gd name="adj" fmla="val 50000"/>
            </a:avLst>
          </a:prstGeom>
          <a:solidFill>
            <a:srgbClr val="E8EEF8"/>
          </a:solidFill>
          <a:ln w="12700">
            <a:solidFill>
              <a:srgbClr val="E8EEF8"/>
            </a:solidFill>
            <a:prstDash val="solid"/>
          </a:ln>
        </p:spPr>
      </p:sp>
      <p:sp>
        <p:nvSpPr>
          <p:cNvPr id="28" name="Icono users"/>
          <p:cNvSpPr/>
          <p:nvPr/>
        </p:nvSpPr>
        <p:spPr>
          <a:xfrm>
            <a:off x="3919233"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B2350"/>
            </a:solidFill>
            <a:prstDash val="solid"/>
            <a:round/>
          </a:ln>
        </p:spPr>
      </p:sp>
      <p:sp>
        <p:nvSpPr>
          <p:cNvPr id="29" name="Text 27"/>
          <p:cNvSpPr/>
          <p:nvPr/>
        </p:nvSpPr>
        <p:spPr>
          <a:xfrm>
            <a:off x="4193553" y="3236976"/>
            <a:ext cx="1316736" cy="292608"/>
          </a:xfrm>
          <a:prstGeom prst="rect">
            <a:avLst/>
          </a:prstGeom>
          <a:noFill/>
          <a:ln/>
        </p:spPr>
        <p:txBody>
          <a:bodyPr wrap="square" lIns="0" tIns="0" rIns="0" bIns="0" rtlCol="0" anchor="ctr">
            <a:normAutofit/>
          </a:bodyPr>
          <a:lstStyle/>
          <a:p>
            <a:pPr algn="l" indent="0" marL="0">
              <a:buNone/>
            </a:pPr>
            <a:r>
              <a:rPr lang="en-US" sz="1150" b="1" dirty="0">
                <a:solidFill>
                  <a:srgbClr val="0B2350"/>
                </a:solidFill>
                <a:latin typeface="Segoe UI" pitchFamily="34" charset="0"/>
                <a:ea typeface="Segoe UI" pitchFamily="34" charset="-122"/>
                <a:cs typeface="Segoe UI" pitchFamily="34" charset="-120"/>
              </a:rPr>
              <a:t>4 o 5 personas</a:t>
            </a:r>
            <a:endParaRPr lang="en-US" sz="1150" dirty="0"/>
          </a:p>
        </p:txBody>
      </p:sp>
      <p:sp>
        <p:nvSpPr>
          <p:cNvPr id="30" name="Text 28"/>
          <p:cNvSpPr/>
          <p:nvPr/>
        </p:nvSpPr>
        <p:spPr>
          <a:xfrm>
            <a:off x="3594278"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Escribieron los servicios, la UI y las pruebas.</a:t>
            </a:r>
            <a:endParaRPr lang="en-US" sz="1250" dirty="0"/>
          </a:p>
        </p:txBody>
      </p:sp>
      <p:sp>
        <p:nvSpPr>
          <p:cNvPr id="31" name="Shape 29"/>
          <p:cNvSpPr/>
          <p:nvPr/>
        </p:nvSpPr>
        <p:spPr>
          <a:xfrm>
            <a:off x="3685718" y="4242816"/>
            <a:ext cx="2021510" cy="0"/>
          </a:xfrm>
          <a:prstGeom prst="line">
            <a:avLst/>
          </a:prstGeom>
          <a:noFill/>
          <a:ln w="9525">
            <a:solidFill>
              <a:srgbClr val="DFE6F0"/>
            </a:solidFill>
            <a:prstDash val="solid"/>
          </a:ln>
        </p:spPr>
      </p:sp>
      <p:sp>
        <p:nvSpPr>
          <p:cNvPr id="32" name="Text 30"/>
          <p:cNvSpPr/>
          <p:nvPr/>
        </p:nvSpPr>
        <p:spPr>
          <a:xfrm>
            <a:off x="359427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B2350"/>
                </a:solidFill>
                <a:latin typeface="Segoe UI" pitchFamily="34" charset="0"/>
                <a:ea typeface="Segoe UI" pitchFamily="34" charset="-122"/>
                <a:cs typeface="Segoe UI" pitchFamily="34" charset="-120"/>
              </a:rPr>
              <a:t>PRESENTA</a:t>
            </a:r>
            <a:endParaRPr lang="en-US" sz="950" dirty="0"/>
          </a:p>
        </p:txBody>
      </p:sp>
      <p:sp>
        <p:nvSpPr>
          <p:cNvPr id="33" name="Text 31"/>
          <p:cNvSpPr/>
          <p:nvPr/>
        </p:nvSpPr>
        <p:spPr>
          <a:xfrm>
            <a:off x="3639998" y="4645152"/>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Fundamentos</a:t>
            </a:r>
            <a:endParaRPr lang="en-US" sz="1250" dirty="0"/>
          </a:p>
        </p:txBody>
      </p:sp>
      <p:sp>
        <p:nvSpPr>
          <p:cNvPr id="34" name="Text 32"/>
          <p:cNvSpPr/>
          <p:nvPr/>
        </p:nvSpPr>
        <p:spPr>
          <a:xfrm>
            <a:off x="3639998" y="4992624"/>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Arquitectura</a:t>
            </a:r>
            <a:endParaRPr lang="en-US" sz="1250" dirty="0"/>
          </a:p>
        </p:txBody>
      </p:sp>
      <p:sp>
        <p:nvSpPr>
          <p:cNvPr id="35" name="Text 33"/>
          <p:cNvSpPr/>
          <p:nvPr/>
        </p:nvSpPr>
        <p:spPr>
          <a:xfrm>
            <a:off x="3639998" y="5340096"/>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El ORM</a:t>
            </a:r>
            <a:endParaRPr lang="en-US" sz="1250" dirty="0"/>
          </a:p>
        </p:txBody>
      </p:sp>
      <p:sp>
        <p:nvSpPr>
          <p:cNvPr id="36" name="Text 34"/>
          <p:cNvSpPr/>
          <p:nvPr/>
        </p:nvSpPr>
        <p:spPr>
          <a:xfrm>
            <a:off x="3639998" y="5687568"/>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Interconexión</a:t>
            </a:r>
            <a:endParaRPr lang="en-US" sz="1250" dirty="0"/>
          </a:p>
        </p:txBody>
      </p:sp>
      <p:sp>
        <p:nvSpPr>
          <p:cNvPr id="37" name="Text 35"/>
          <p:cNvSpPr/>
          <p:nvPr/>
        </p:nvSpPr>
        <p:spPr>
          <a:xfrm>
            <a:off x="3639998" y="6035040"/>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Demostración</a:t>
            </a:r>
            <a:endParaRPr lang="en-US" sz="1250" dirty="0"/>
          </a:p>
        </p:txBody>
      </p:sp>
      <p:sp>
        <p:nvSpPr>
          <p:cNvPr id="38" name="Shape 36"/>
          <p:cNvSpPr/>
          <p:nvPr/>
        </p:nvSpPr>
        <p:spPr>
          <a:xfrm>
            <a:off x="621014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9" name="Shape 37"/>
          <p:cNvSpPr/>
          <p:nvPr/>
        </p:nvSpPr>
        <p:spPr>
          <a:xfrm>
            <a:off x="6210148" y="1719072"/>
            <a:ext cx="2570150" cy="1005840"/>
          </a:xfrm>
          <a:prstGeom prst="roundRect">
            <a:avLst>
              <a:gd name="adj" fmla="val 12727"/>
            </a:avLst>
          </a:prstGeom>
          <a:solidFill>
            <a:srgbClr val="0B6E8A"/>
          </a:solidFill>
          <a:ln w="12700">
            <a:solidFill>
              <a:srgbClr val="0B6E8A"/>
            </a:solidFill>
            <a:prstDash val="solid"/>
          </a:ln>
        </p:spPr>
      </p:sp>
      <p:sp>
        <p:nvSpPr>
          <p:cNvPr id="40" name="Shape 38"/>
          <p:cNvSpPr/>
          <p:nvPr/>
        </p:nvSpPr>
        <p:spPr>
          <a:xfrm>
            <a:off x="6210148" y="2542032"/>
            <a:ext cx="2570150" cy="182880"/>
          </a:xfrm>
          <a:prstGeom prst="rect">
            <a:avLst/>
          </a:prstGeom>
          <a:solidFill>
            <a:srgbClr val="0B6E8A"/>
          </a:solidFill>
          <a:ln w="12700">
            <a:solidFill>
              <a:srgbClr val="0B6E8A"/>
            </a:solidFill>
            <a:prstDash val="solid"/>
          </a:ln>
        </p:spPr>
      </p:sp>
      <p:sp>
        <p:nvSpPr>
          <p:cNvPr id="41" name="Shape 39"/>
          <p:cNvSpPr/>
          <p:nvPr/>
        </p:nvSpPr>
        <p:spPr>
          <a:xfrm>
            <a:off x="710203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42" name="Icono database"/>
          <p:cNvSpPr/>
          <p:nvPr/>
        </p:nvSpPr>
        <p:spPr>
          <a:xfrm>
            <a:off x="7290763" y="2017532"/>
            <a:ext cx="408920" cy="408920"/>
          </a:xfrm>
          <a:custGeom>
            <a:avLst/>
            <a:gdLst/>
            <a:ahLst/>
            <a:cxnLst/>
            <a:rect l="l" t="t" r="r" b="b"/>
            <a:pathLst>
              <a:path w="408920" h="408920">
                <a:moveTo>
                  <a:pt x="357805" y="85192"/>
                </a:moveTo>
                <a:cubicBezTo>
                  <a:pt x="357805" y="113422"/>
                  <a:pt x="289150" y="136307"/>
                  <a:pt x="204460" y="136307"/>
                </a:cubicBezTo>
                <a:cubicBezTo>
                  <a:pt x="119770" y="136307"/>
                  <a:pt x="51115" y="113422"/>
                  <a:pt x="51115" y="85192"/>
                </a:cubicBezTo>
                <a:cubicBezTo>
                  <a:pt x="51115" y="56962"/>
                  <a:pt x="119770" y="34077"/>
                  <a:pt x="204460" y="34077"/>
                </a:cubicBezTo>
                <a:cubicBezTo>
                  <a:pt x="289150" y="34077"/>
                  <a:pt x="357805" y="56962"/>
                  <a:pt x="357805" y="85192"/>
                </a:cubicBezTo>
                <a:close/>
                <a:moveTo>
                  <a:pt x="51115" y="85192"/>
                </a:moveTo>
                <a:lnTo>
                  <a:pt x="51115" y="323728"/>
                </a:lnTo>
                <a:cubicBezTo>
                  <a:pt x="51115" y="351958"/>
                  <a:pt x="119770" y="374843"/>
                  <a:pt x="204460" y="374843"/>
                </a:cubicBezTo>
                <a:cubicBezTo>
                  <a:pt x="289150" y="374843"/>
                  <a:pt x="357805" y="351958"/>
                  <a:pt x="357805" y="323728"/>
                </a:cubicBezTo>
                <a:lnTo>
                  <a:pt x="357805" y="85192"/>
                </a:lnTo>
                <a:moveTo>
                  <a:pt x="51115" y="204460"/>
                </a:moveTo>
                <a:cubicBezTo>
                  <a:pt x="51115" y="232690"/>
                  <a:pt x="119770" y="255575"/>
                  <a:pt x="204460" y="255575"/>
                </a:cubicBezTo>
                <a:cubicBezTo>
                  <a:pt x="289150" y="255575"/>
                  <a:pt x="357805" y="232690"/>
                  <a:pt x="357805" y="204460"/>
                </a:cubicBezTo>
              </a:path>
            </a:pathLst>
          </a:custGeom>
          <a:noFill/>
          <a:ln w="34077" cap="rnd">
            <a:solidFill>
              <a:srgbClr val="0B6E8A"/>
            </a:solidFill>
            <a:prstDash val="solid"/>
            <a:round/>
          </a:ln>
        </p:spPr>
      </p:sp>
      <p:sp>
        <p:nvSpPr>
          <p:cNvPr id="43" name="Text 41"/>
          <p:cNvSpPr/>
          <p:nvPr/>
        </p:nvSpPr>
        <p:spPr>
          <a:xfrm>
            <a:off x="634730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B6E8A"/>
                </a:solidFill>
                <a:latin typeface="Segoe UI Semibold" pitchFamily="34" charset="0"/>
                <a:ea typeface="Segoe UI Semibold" pitchFamily="34" charset="-122"/>
                <a:cs typeface="Segoe UI Semibold" pitchFamily="34" charset="-120"/>
              </a:rPr>
              <a:t>Base de datos</a:t>
            </a:r>
            <a:endParaRPr lang="en-US" sz="1900" dirty="0"/>
          </a:p>
        </p:txBody>
      </p:sp>
      <p:sp>
        <p:nvSpPr>
          <p:cNvPr id="44" name="Shape 42"/>
          <p:cNvSpPr/>
          <p:nvPr/>
        </p:nvSpPr>
        <p:spPr>
          <a:xfrm>
            <a:off x="6802565" y="3236976"/>
            <a:ext cx="1385316" cy="292608"/>
          </a:xfrm>
          <a:prstGeom prst="roundRect">
            <a:avLst>
              <a:gd name="adj" fmla="val 50000"/>
            </a:avLst>
          </a:prstGeom>
          <a:solidFill>
            <a:srgbClr val="E3F4FA"/>
          </a:solidFill>
          <a:ln w="12700">
            <a:solidFill>
              <a:srgbClr val="E3F4FA"/>
            </a:solidFill>
            <a:prstDash val="solid"/>
          </a:ln>
        </p:spPr>
      </p:sp>
      <p:sp>
        <p:nvSpPr>
          <p:cNvPr id="45" name="Icono users"/>
          <p:cNvSpPr/>
          <p:nvPr/>
        </p:nvSpPr>
        <p:spPr>
          <a:xfrm>
            <a:off x="6912293"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B6E8A"/>
            </a:solidFill>
            <a:prstDash val="solid"/>
            <a:round/>
          </a:ln>
        </p:spPr>
      </p:sp>
      <p:sp>
        <p:nvSpPr>
          <p:cNvPr id="46" name="Text 44"/>
          <p:cNvSpPr/>
          <p:nvPr/>
        </p:nvSpPr>
        <p:spPr>
          <a:xfrm>
            <a:off x="7186613" y="3236976"/>
            <a:ext cx="928116" cy="292608"/>
          </a:xfrm>
          <a:prstGeom prst="rect">
            <a:avLst/>
          </a:prstGeom>
          <a:noFill/>
          <a:ln/>
        </p:spPr>
        <p:txBody>
          <a:bodyPr wrap="square" lIns="0" tIns="0" rIns="0" bIns="0" rtlCol="0" anchor="ctr">
            <a:normAutofit/>
          </a:bodyPr>
          <a:lstStyle/>
          <a:p>
            <a:pPr algn="l" indent="0" marL="0">
              <a:buNone/>
            </a:pPr>
            <a:r>
              <a:rPr lang="en-US" sz="1150" b="1" dirty="0">
                <a:solidFill>
                  <a:srgbClr val="0B6E8A"/>
                </a:solidFill>
                <a:latin typeface="Segoe UI" pitchFamily="34" charset="0"/>
                <a:ea typeface="Segoe UI" pitchFamily="34" charset="-122"/>
                <a:cs typeface="Segoe UI" pitchFamily="34" charset="-120"/>
              </a:rPr>
              <a:t>1 persona</a:t>
            </a:r>
            <a:endParaRPr lang="en-US" sz="1150" dirty="0"/>
          </a:p>
        </p:txBody>
      </p:sp>
      <p:sp>
        <p:nvSpPr>
          <p:cNvPr id="47" name="Text 45"/>
          <p:cNvSpPr/>
          <p:nvPr/>
        </p:nvSpPr>
        <p:spPr>
          <a:xfrm>
            <a:off x="6393028"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Diseñó las tablas y cómo se conecta el código.</a:t>
            </a:r>
            <a:endParaRPr lang="en-US" sz="1250" dirty="0"/>
          </a:p>
        </p:txBody>
      </p:sp>
      <p:sp>
        <p:nvSpPr>
          <p:cNvPr id="48" name="Shape 46"/>
          <p:cNvSpPr/>
          <p:nvPr/>
        </p:nvSpPr>
        <p:spPr>
          <a:xfrm>
            <a:off x="6484468" y="4242816"/>
            <a:ext cx="2021510" cy="0"/>
          </a:xfrm>
          <a:prstGeom prst="line">
            <a:avLst/>
          </a:prstGeom>
          <a:noFill/>
          <a:ln w="9525">
            <a:solidFill>
              <a:srgbClr val="DFE6F0"/>
            </a:solidFill>
            <a:prstDash val="solid"/>
          </a:ln>
        </p:spPr>
      </p:sp>
      <p:sp>
        <p:nvSpPr>
          <p:cNvPr id="49" name="Text 47"/>
          <p:cNvSpPr/>
          <p:nvPr/>
        </p:nvSpPr>
        <p:spPr>
          <a:xfrm>
            <a:off x="639302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B6E8A"/>
                </a:solidFill>
                <a:latin typeface="Segoe UI" pitchFamily="34" charset="0"/>
                <a:ea typeface="Segoe UI" pitchFamily="34" charset="-122"/>
                <a:cs typeface="Segoe UI" pitchFamily="34" charset="-120"/>
              </a:rPr>
              <a:t>PRESENTA</a:t>
            </a:r>
            <a:endParaRPr lang="en-US" sz="950" dirty="0"/>
          </a:p>
        </p:txBody>
      </p:sp>
      <p:sp>
        <p:nvSpPr>
          <p:cNvPr id="50" name="Text 48"/>
          <p:cNvSpPr/>
          <p:nvPr/>
        </p:nvSpPr>
        <p:spPr>
          <a:xfrm>
            <a:off x="6438748" y="4645152"/>
            <a:ext cx="2112950" cy="292608"/>
          </a:xfrm>
          <a:prstGeom prst="roundRect">
            <a:avLst>
              <a:gd name="adj" fmla="val 50000"/>
            </a:avLst>
          </a:prstGeom>
          <a:solidFill>
            <a:srgbClr val="E3F4FA"/>
          </a:solidFill>
          <a:ln w="9525">
            <a:solidFill>
              <a:srgbClr val="9DC5D0"/>
            </a:solidFill>
          </a:ln>
        </p:spPr>
        <p:txBody>
          <a:bodyPr wrap="square" lIns="0" tIns="0" rIns="0" bIns="0" rtlCol="0" anchor="ctr"/>
          <a:lstStyle/>
          <a:p>
            <a:pPr algn="ctr" indent="0" marL="0">
              <a:buNone/>
            </a:pPr>
            <a:r>
              <a:rPr lang="en-US" sz="1250" b="1" dirty="0">
                <a:solidFill>
                  <a:srgbClr val="0B6E8A"/>
                </a:solidFill>
                <a:latin typeface="Segoe UI" pitchFamily="34" charset="0"/>
                <a:ea typeface="Segoe UI" pitchFamily="34" charset="-122"/>
                <a:cs typeface="Segoe UI" pitchFamily="34" charset="-120"/>
              </a:rPr>
              <a:t>Base de datos</a:t>
            </a:r>
            <a:endParaRPr lang="en-US" sz="1250" dirty="0"/>
          </a:p>
        </p:txBody>
      </p:sp>
      <p:sp>
        <p:nvSpPr>
          <p:cNvPr id="51" name="Shape 49"/>
          <p:cNvSpPr/>
          <p:nvPr/>
        </p:nvSpPr>
        <p:spPr>
          <a:xfrm>
            <a:off x="9008897"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2" name="Shape 50"/>
          <p:cNvSpPr/>
          <p:nvPr/>
        </p:nvSpPr>
        <p:spPr>
          <a:xfrm>
            <a:off x="9008897" y="1719072"/>
            <a:ext cx="2570150" cy="1005840"/>
          </a:xfrm>
          <a:prstGeom prst="roundRect">
            <a:avLst>
              <a:gd name="adj" fmla="val 12727"/>
            </a:avLst>
          </a:prstGeom>
          <a:solidFill>
            <a:srgbClr val="0A6648"/>
          </a:solidFill>
          <a:ln w="12700">
            <a:solidFill>
              <a:srgbClr val="0A6648"/>
            </a:solidFill>
            <a:prstDash val="solid"/>
          </a:ln>
        </p:spPr>
      </p:sp>
      <p:sp>
        <p:nvSpPr>
          <p:cNvPr id="53" name="Shape 51"/>
          <p:cNvSpPr/>
          <p:nvPr/>
        </p:nvSpPr>
        <p:spPr>
          <a:xfrm>
            <a:off x="9008897" y="2542032"/>
            <a:ext cx="2570150" cy="182880"/>
          </a:xfrm>
          <a:prstGeom prst="rect">
            <a:avLst/>
          </a:prstGeom>
          <a:solidFill>
            <a:srgbClr val="0A6648"/>
          </a:solidFill>
          <a:ln w="12700">
            <a:solidFill>
              <a:srgbClr val="0A6648"/>
            </a:solidFill>
            <a:prstDash val="solid"/>
          </a:ln>
        </p:spPr>
      </p:sp>
      <p:sp>
        <p:nvSpPr>
          <p:cNvPr id="54" name="Shape 52"/>
          <p:cNvSpPr/>
          <p:nvPr/>
        </p:nvSpPr>
        <p:spPr>
          <a:xfrm>
            <a:off x="9900780"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55" name="Icono ship-wheel"/>
          <p:cNvSpPr/>
          <p:nvPr/>
        </p:nvSpPr>
        <p:spPr>
          <a:xfrm>
            <a:off x="10089512" y="2017532"/>
            <a:ext cx="408920" cy="408920"/>
          </a:xfrm>
          <a:custGeom>
            <a:avLst/>
            <a:gdLst/>
            <a:ahLst/>
            <a:cxnLst/>
            <a:rect l="l" t="t" r="r" b="b"/>
            <a:pathLst>
              <a:path w="408920" h="408920">
                <a:moveTo>
                  <a:pt x="340766" y="204460"/>
                </a:moveTo>
                <a:cubicBezTo>
                  <a:pt x="340766" y="279740"/>
                  <a:pt x="279740" y="340766"/>
                  <a:pt x="204460" y="340766"/>
                </a:cubicBezTo>
                <a:cubicBezTo>
                  <a:pt x="129180" y="340766"/>
                  <a:pt x="68153" y="279740"/>
                  <a:pt x="68153" y="204460"/>
                </a:cubicBezTo>
                <a:cubicBezTo>
                  <a:pt x="68153" y="129180"/>
                  <a:pt x="129180" y="68153"/>
                  <a:pt x="204460" y="68153"/>
                </a:cubicBezTo>
                <a:cubicBezTo>
                  <a:pt x="279740" y="68153"/>
                  <a:pt x="340766" y="129180"/>
                  <a:pt x="340766" y="204460"/>
                </a:cubicBezTo>
                <a:close/>
                <a:moveTo>
                  <a:pt x="204460" y="34077"/>
                </a:moveTo>
                <a:lnTo>
                  <a:pt x="204460" y="161864"/>
                </a:lnTo>
                <a:moveTo>
                  <a:pt x="323728" y="85192"/>
                </a:moveTo>
                <a:lnTo>
                  <a:pt x="234618" y="174302"/>
                </a:lnTo>
                <a:moveTo>
                  <a:pt x="374843" y="204460"/>
                </a:moveTo>
                <a:lnTo>
                  <a:pt x="247056" y="204460"/>
                </a:lnTo>
                <a:moveTo>
                  <a:pt x="323728" y="323728"/>
                </a:moveTo>
                <a:lnTo>
                  <a:pt x="234618" y="234618"/>
                </a:lnTo>
                <a:moveTo>
                  <a:pt x="204460" y="247056"/>
                </a:moveTo>
                <a:lnTo>
                  <a:pt x="204460" y="374843"/>
                </a:lnTo>
                <a:moveTo>
                  <a:pt x="174302" y="234618"/>
                </a:moveTo>
                <a:lnTo>
                  <a:pt x="85192" y="323728"/>
                </a:lnTo>
                <a:moveTo>
                  <a:pt x="161864" y="204460"/>
                </a:moveTo>
                <a:lnTo>
                  <a:pt x="34077" y="204460"/>
                </a:lnTo>
                <a:moveTo>
                  <a:pt x="174302" y="174302"/>
                </a:moveTo>
                <a:lnTo>
                  <a:pt x="85192" y="85192"/>
                </a:lnTo>
                <a:moveTo>
                  <a:pt x="247056" y="204460"/>
                </a:moveTo>
                <a:cubicBezTo>
                  <a:pt x="247056" y="227985"/>
                  <a:pt x="227985" y="247056"/>
                  <a:pt x="204460" y="247056"/>
                </a:cubicBezTo>
                <a:cubicBezTo>
                  <a:pt x="180935" y="247056"/>
                  <a:pt x="161864" y="227985"/>
                  <a:pt x="161864" y="204460"/>
                </a:cubicBezTo>
                <a:cubicBezTo>
                  <a:pt x="161864" y="180935"/>
                  <a:pt x="180935" y="161864"/>
                  <a:pt x="204460" y="161864"/>
                </a:cubicBezTo>
                <a:cubicBezTo>
                  <a:pt x="227985" y="161864"/>
                  <a:pt x="247056" y="180935"/>
                  <a:pt x="247056" y="204460"/>
                </a:cubicBezTo>
                <a:close/>
              </a:path>
            </a:pathLst>
          </a:custGeom>
          <a:noFill/>
          <a:ln w="34077" cap="rnd">
            <a:solidFill>
              <a:srgbClr val="0A6648"/>
            </a:solidFill>
            <a:prstDash val="solid"/>
            <a:round/>
          </a:ln>
        </p:spPr>
      </p:sp>
      <p:sp>
        <p:nvSpPr>
          <p:cNvPr id="56" name="Text 54"/>
          <p:cNvSpPr/>
          <p:nvPr/>
        </p:nvSpPr>
        <p:spPr>
          <a:xfrm>
            <a:off x="9146057"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A6648"/>
                </a:solidFill>
                <a:latin typeface="Segoe UI Semibold" pitchFamily="34" charset="0"/>
                <a:ea typeface="Segoe UI Semibold" pitchFamily="34" charset="-122"/>
                <a:cs typeface="Segoe UI Semibold" pitchFamily="34" charset="-120"/>
              </a:rPr>
              <a:t>Infraestructura</a:t>
            </a:r>
            <a:endParaRPr lang="en-US" sz="1900" dirty="0"/>
          </a:p>
        </p:txBody>
      </p:sp>
      <p:sp>
        <p:nvSpPr>
          <p:cNvPr id="57" name="Shape 55"/>
          <p:cNvSpPr/>
          <p:nvPr/>
        </p:nvSpPr>
        <p:spPr>
          <a:xfrm>
            <a:off x="9562452" y="3236976"/>
            <a:ext cx="1463040" cy="292608"/>
          </a:xfrm>
          <a:prstGeom prst="roundRect">
            <a:avLst>
              <a:gd name="adj" fmla="val 50000"/>
            </a:avLst>
          </a:prstGeom>
          <a:solidFill>
            <a:srgbClr val="E1F1EA"/>
          </a:solidFill>
          <a:ln w="12700">
            <a:solidFill>
              <a:srgbClr val="E1F1EA"/>
            </a:solidFill>
            <a:prstDash val="solid"/>
          </a:ln>
        </p:spPr>
      </p:sp>
      <p:sp>
        <p:nvSpPr>
          <p:cNvPr id="58" name="Icono users"/>
          <p:cNvSpPr/>
          <p:nvPr/>
        </p:nvSpPr>
        <p:spPr>
          <a:xfrm>
            <a:off x="9672180"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A6648"/>
            </a:solidFill>
            <a:prstDash val="solid"/>
            <a:round/>
          </a:ln>
        </p:spPr>
      </p:sp>
      <p:sp>
        <p:nvSpPr>
          <p:cNvPr id="59" name="Text 57"/>
          <p:cNvSpPr/>
          <p:nvPr/>
        </p:nvSpPr>
        <p:spPr>
          <a:xfrm>
            <a:off x="9946500" y="3236976"/>
            <a:ext cx="1005840" cy="292608"/>
          </a:xfrm>
          <a:prstGeom prst="rect">
            <a:avLst/>
          </a:prstGeom>
          <a:noFill/>
          <a:ln/>
        </p:spPr>
        <p:txBody>
          <a:bodyPr wrap="square" lIns="0" tIns="0" rIns="0" bIns="0" rtlCol="0" anchor="ctr">
            <a:normAutofit/>
          </a:bodyPr>
          <a:lstStyle/>
          <a:p>
            <a:pPr algn="l" indent="0" marL="0">
              <a:buNone/>
            </a:pPr>
            <a:r>
              <a:rPr lang="en-US" sz="1150" b="1" dirty="0">
                <a:solidFill>
                  <a:srgbClr val="0A6648"/>
                </a:solidFill>
                <a:latin typeface="Segoe UI" pitchFamily="34" charset="0"/>
                <a:ea typeface="Segoe UI" pitchFamily="34" charset="-122"/>
                <a:cs typeface="Segoe UI" pitchFamily="34" charset="-120"/>
              </a:rPr>
              <a:t>2 personas</a:t>
            </a:r>
            <a:endParaRPr lang="en-US" sz="1150" dirty="0"/>
          </a:p>
        </p:txBody>
      </p:sp>
      <p:sp>
        <p:nvSpPr>
          <p:cNvPr id="60" name="Text 58"/>
          <p:cNvSpPr/>
          <p:nvPr/>
        </p:nvSpPr>
        <p:spPr>
          <a:xfrm>
            <a:off x="9191777"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Empaquetan, despliegan y vigilan el sistema.</a:t>
            </a:r>
            <a:endParaRPr lang="en-US" sz="1250" dirty="0"/>
          </a:p>
        </p:txBody>
      </p:sp>
      <p:sp>
        <p:nvSpPr>
          <p:cNvPr id="61" name="Shape 59"/>
          <p:cNvSpPr/>
          <p:nvPr/>
        </p:nvSpPr>
        <p:spPr>
          <a:xfrm>
            <a:off x="9283217" y="4242816"/>
            <a:ext cx="2021510" cy="0"/>
          </a:xfrm>
          <a:prstGeom prst="line">
            <a:avLst/>
          </a:prstGeom>
          <a:noFill/>
          <a:ln w="9525">
            <a:solidFill>
              <a:srgbClr val="DFE6F0"/>
            </a:solidFill>
            <a:prstDash val="solid"/>
          </a:ln>
        </p:spPr>
      </p:sp>
      <p:sp>
        <p:nvSpPr>
          <p:cNvPr id="62" name="Text 60"/>
          <p:cNvSpPr/>
          <p:nvPr/>
        </p:nvSpPr>
        <p:spPr>
          <a:xfrm>
            <a:off x="9191777"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A6648"/>
                </a:solidFill>
                <a:latin typeface="Segoe UI" pitchFamily="34" charset="0"/>
                <a:ea typeface="Segoe UI" pitchFamily="34" charset="-122"/>
                <a:cs typeface="Segoe UI" pitchFamily="34" charset="-120"/>
              </a:rPr>
              <a:t>PRESENTA</a:t>
            </a:r>
            <a:endParaRPr lang="en-US" sz="950" dirty="0"/>
          </a:p>
        </p:txBody>
      </p:sp>
      <p:sp>
        <p:nvSpPr>
          <p:cNvPr id="63" name="Text 61"/>
          <p:cNvSpPr/>
          <p:nvPr/>
        </p:nvSpPr>
        <p:spPr>
          <a:xfrm>
            <a:off x="9237497" y="4645152"/>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Docker y Kubernetes</a:t>
            </a:r>
            <a:endParaRPr lang="en-US" sz="1250" dirty="0"/>
          </a:p>
        </p:txBody>
      </p:sp>
      <p:sp>
        <p:nvSpPr>
          <p:cNvPr id="64" name="Text 62"/>
          <p:cNvSpPr/>
          <p:nvPr/>
        </p:nvSpPr>
        <p:spPr>
          <a:xfrm>
            <a:off x="9237497" y="4992624"/>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CI/CD</a:t>
            </a:r>
            <a:endParaRPr lang="en-US" sz="1250" dirty="0"/>
          </a:p>
        </p:txBody>
      </p:sp>
      <p:sp>
        <p:nvSpPr>
          <p:cNvPr id="65" name="Text 63"/>
          <p:cNvSpPr/>
          <p:nvPr/>
        </p:nvSpPr>
        <p:spPr>
          <a:xfrm>
            <a:off x="9237497" y="5340096"/>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Observabilidad</a:t>
            </a:r>
            <a:endParaRPr lang="en-US" sz="1250" dirty="0"/>
          </a:p>
        </p:txBody>
      </p:sp>
      <p:sp>
        <p:nvSpPr>
          <p:cNvPr id="66" name="Text 6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ejecutivo</dc:title>
  <dc:subject>Proyecto final de Upskilling Backend Java</dc:subject>
  <dc:creator>Upskilling Backend Java</dc:creator>
  <cp:lastModifiedBy>Upskilling Backend Java</cp:lastModifiedBy>
  <cp:revision>1</cp:revision>
  <dcterms:created xsi:type="dcterms:W3CDTF">2026-10-29T03:53:00Z</dcterms:created>
  <dcterms:modified xsi:type="dcterms:W3CDTF">2026-10-29T03:53:00Z</dcterms:modified>
</cp:coreProperties>
</file>