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Cuando cambia una regla, se toca un solo lugar y una prueba confirma que nada se rompió.
QUÉ DECIR (▶ CLIC = hacer clic)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“Mi compañero de desarrollo se los muestra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 misma regla, más fácil de probar y de cambiar, sin que la base pierda su papel.
QUÉ DECIR (▶ CLIC = hacer clic)
“Gracias.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“Ahora veamos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El SQL de todos los días sale solo y siempre con parámetros: menos código y menos riesgo de inyección.
QUÉ DECIR (▶ CLIC = hacer clic)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¿Dónde están?”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Las claves fuera del código: rotarlas o cambiar de servidor no requiere recompilar.
QUÉ DECIR (▶ CLIC = hacer clic)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mi compañero de base de datos les cuenta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“Gracias.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camino único y automático del código a producción: menos pasos manuales y menos errores.
QUÉ DECIR (▶ CLIC = hacer clic)
“Gracias. DevOps no es una herramienta ni un puesto: es una forma de trabajar en la que desarrollo y operación dejan de ser dos mundos separados. Todo cambio recorre el mismo camino, de forma automática y repetible. Empieza en el código, en una rama con su Pull Request.”
“▶ CLIC Se construye, ▶ CLIC y se prueba solo, en cada cambio. ▶ CLIC Se empaqueta en una imagen Docker ▶ CLIC que se publica en un registro. ▶ CLIC Esa imagen se despliega y se opera en Kubernetes, ▶ CLIC y lo que pasa adentro se observa con los logs en un solo lugar. Lo que aprendemos al observar vuelve al código, y el ciclo empieza otra vez.”
“En las próximas láminas recorremos ese camino con ARKA-Lite, pieza por pieza: primero Docker, después el pipeline y al final Kubernetes.”
SI HAY TIEMPO, SE PUEDE AGREGAR
“En ARKA-Lite, cada paso del camino tiene su herramienta: Git y GitHub para el código, Maven para construir, las pruebas automáticas, Docker para empaquetar, GHCR para publicar, Kubernetes para operar y Loki con Grafana para observar.”
“Lo que más se nota en el día a día es que nadie hace pasos a mano: no se copian archivos a un servidor ni se corren pruebas de memoria. Si un paso falla, el camino se detiene y se sabe dónde.”
SI PREGUNTAN
¿DevOps es un equipo aparte?
RESPUESTA CORTA
Es una práctica. Puede haber personas que la impulsen, pero funciona cuando desarrollo e infraestructura comparten el mismo camino y las mismas herramientas.
PARA PASAR
“Empecemos por las dos herramientas que más se nombran: Docker y Kubernetes.”
PARA LEER MÁS
docs/operaciones/infraestructura-y-entrega.md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“Veamos cómo nace un contenedor.”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La receta queda escrita: cualquiera construye la misma imagen, en cualquier computadora.
QUÉ DECIR (▶ CLIC = hacer clic)
“Así nace un contenedor. Todo empieza en el Dockerfile, que es la receta: qué se instala y qué se copia. ▶ CLIC En una primera etapa, Maven compila el código y produce el archivo JAR, que es la aplicación lista para correr.”
“▶ CLIC En la segunda etapa se arma la imagen final, solo con Java y ese JAR: más liviana y sin herramientas de compilación. Una imagen es un paquete que no cambia: la misma que probamos es la que se despliega.”
“▶ CLIC Cuando la imagen corre, se llama contenedor. El nuestro corre con un usuario sin privilegios: si alguien comprometiera la aplicación, no sería administrador del contenedor.”
SI HAY TIEMPO, SE PUEDE AGREGAR
“La primera etapa descarga las dependencias de Maven en una capa aparte. Mientras el pom.xml no cambie, esa capa se reutiliza y las siguientes construcciones tardan mucho menos.”
“Separar la compilación de la imagen final también es seguridad: la imagen que corre no lleva Maven ni el código fuente, solo lo necesario para ejecutar.”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Una persona nueva levanta el sistema completo en minutos, no en un día.
QUÉ DECIR (▶ CLIC = hacer clic)
“Con Docker, cada servicio viaja con su receta, y con Docker Compose levantamos el sistema completo con un solo comando: los dos servicios, sus dos bases, la interfaz y las herramientas de logs. Ocho contenedores en total.”
“La configuración, como la cadena de conexión que vimos en la parte de datos, entra por variables de entorno. Así la misma imagen sirve en nuestra computadora y en el clúster, sin recompilar.”
“Para alguien que llega nuevo al equipo, esto es la diferencia entre un día configurando su máquina y cinco minutos.”
QUÉ HACER (no se dice)
• Mostrar: docker compose ps Debe verse: La UI, los servicios y las bases arriba y sanos.
SI HAY TIEMPO, SE PUEDE AGREGAR
“Compose arranca las piezas en orden: primero las bases, y cada servicio espera a que su base esté sana antes de arrancar.”
“La base de solicitudes no se publica hacia afuera; solo la ven los contenedores de la misma red. La de notificaciones sí, en el puerto 5433, para poder consultarla con cualquier herramienta.”
SI PREGUNTAN
Dentro de un contenedor, ¿a dónde lleva localhost?
RESPUESTA CORTA
Al mismo contenedor, no a otro servicio. Por eso usamos el nombre del servicio.
PARA PASAR
“¿Y cómo se encuentran entre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Saber qué se expone y qué no: menos superficie de ataque y menos confusiones al configurar.
QUÉ DECIR (▶ CLIC = hacer clic)
“Una duda muy común: si todo está en contenedores, ¿cómo se encuentran? Docker Compose crea una red privada y, adentro, cada contenedor se llama por su nombre. La interfaz, por ejemplo, es arka-lite-ui y escucha en el 8080; desde nuestra computadora la abrimos en el 8088.”
“▶ CLIC Solicitudes, adentro, es servicio-solicitudes en el 8080; afuera la vemos en el 18080. ▶ CLIC Notificaciones, lo mismo, en el 18081. Fíjense que adentro los dos usan el 8080 y no chocan: cada contenedor tiene su propia dirección.”
“▶ CLIC La base de solicitudes no se publica: solo la alcanzan los contenedores de la red. ▶ CLIC La de notificaciones sí, en el 5433, para consultarla con cualquier herramienta. Y una trampa clásica: dentro de un contenedor, localhost es el mismo contenedor; por eso los servicios se buscan por nombre.”
SI HAY TIEMPO, SE PUEDE AGREGAR
“Los puertos de afuera se pueden cambiar con variables, SOLICITUDES_PORT y NOTIFICACIONES_PORT, sin tocar el archivo de Compose.”
“En Kubernetes pasa algo parecido: cada componente tiene un Service con un nombre fijo, y desde afuera solo se abre la interfaz.”
SI PREGUNTAN
¿Por qué 18080 y no 8080 afuera?
RESPUESTA CORTA
Para no chocar con otros programas que ya usan el 8080 en la computadora. Se puede cambiar con una variable, sin tocar el archivo.
PARA PASAR
“¿Y en qué orden arrancan?”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Arranques sin errores ni pasos manuales: el orden queda escrito en el archivo.
QUÉ DECIR (▶ CLIC = hacer clic)
“Levantar ocho contenedores juntos tiene un riesgo: que un servicio arranque antes que su base y falle. Compose lo resuelve con pruebas de salud y dependencias. Primero arrancan las bases, y cada una avisa cuando ya acepta conexiones.”
“▶ CLIC Notificaciones arranca solo cuando su base está sana. ▶ CLIC Solicitudes espera a su base y también a notificaciones, porque le va a mandar eventos. ▶ CLIC Y la interfaz arranca al final, con su propia prueba de salud.”
“Es la misma idea que vamos a ver en Kubernetes con otro nombre: nadie recibe trabajo antes de estar listo.”
SI HAY TIEMPO, SE PUEDE AGREGAR
“La prueba de salud de las bases usa pg_isready, la misma herramienta de PostgreSQL que usaría un DBA para saber si la base responde.”
“Sin estas dependencias, el primer arranque fallaría a menudo y habría que levantar los servicios a mano, en orden.”
SI PREGUNTAN
¿Qué pasa si una base no arranca?
RESPUESTA CORTA
Su servicio no arranca tampoco, y docker compose ps muestra cuál quedó esperando. El error aparece en el lugar correcto, no como una falla rara más adelante.
PARA PASAR
“Y ese mismo comando también corre en la nube: Codespaces.”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“¿Y quién construye y publica las imágenes en cada cambio? El pipeline.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error se detecta antes de llegar a main, y cada imagen se rastrea hasta su commit.
QUÉ DECIR (▶ CLIC = hacer clic)
“Gracias.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“Veamos qué hace el pipeline por dentro.”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Diagnóstico inmediato: el pipeline dice qué pieza falló y en qué paso.
QUÉ DECIR (▶ CLIC = hacer clic)
“Veamos qué hace el pipeline por dentro. Son tres trabajos que corren al mismo tiempo, cada uno en su propia máquina de GitHub. El de solicitudes levanta su propio PostgreSQL, compila y corre todas las pruebas, arranca el servicio de verdad y espera ver la solicitud de ejemplo CAM-002. Si todo pasa, construye la imagen y la publica.”
“▶ CLIC El de notificaciones hace lo mismo con su propia base: compila, prueba, construye y publica. ▶ CLIC Y el de la interfaz valida su contenido, corre sus pruebas, construye la aplicación y su imagen, y además comprueba que el archivo de Compose sea válido. Su imagen solo se publica cuando el cambio llega a main.”
“Que corran en paralelo tiene dos ventajas: el resultado llega antes, y si algo falla, el pipeline dice exactamente en cuál de las tres piezas y en qué paso.”
SI HAY TIEMPO, SE PUEDE AGREGAR
“La clave de cada base de pruebas se arma con el número de la ejecución: nunca hay una clave fija en el pipeline.”
“Para publicar en el registro de GitHub no se guarda ninguna contraseña: el pipeline usa un token temporal que GitHub le entrega a cada ejecución.”
SI PREGUNTAN
¿Dónde se ven los resultados?
RESPUESTA CORTA
En la pestaña Actions de GitHub y en el mismo Pull Request: cada trabajo con sus pasos y su registro.
PARA PASAR
“¿Y qué pasa cuando un cambio rompe algo?”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Los errores se detienen en el Pull Request, antes de llegar a main o a una imagen.
QUÉ DECIR (▶ CLIC = hacer clic)
“Veamos el caso que más valor tiene: un cambio que rompe algo. Imaginen que alguien, sin querer, cambia la regla y ahora se puede enviar dos veces la misma solicitud.”
“▶ CLIC Al actualizar el Pull Request, el pipeline arranca solo. ▶ CLIC En pocos minutos, la prueba de esa regla falla y el Pull Request queda en rojo. ▶ CLIC GitHub muestra qué trabajo falló, en qué paso y el mensaje de la prueba. ▶ CLIC La persona corrige, sube el cambio y el pipeline vuelve a correr.”
“▶ CLIC El resultado: el error nunca llegó a main, y no se publicó ninguna imagen con él, porque el paso de publicar va después de las pruebas. Esa es la red de seguridad de la integración continua.”
SI HAY TIEMPO, SE PUEDE AGREGAR
“Por eso cada regla del negocio tiene su prueba: la prueba es la que hace sonar la alarma.”
“Se puede ir más lejos con una regla del repositorio que impida fusionar un Pull Request mientras el pipeline esté en rojo. Es configuración de GitHub, sin tocar el código.”
SI PREGUNTAN
¿Y si alguien se salta el pipeline?
RESPUESTA CORTA
Nadie sube directo a main: todo entra por Pull Request. Además, GitHub permite exigir que el pipeline esté en verde antes de fusionar.
PARA PASAR
“Y cuando todo pasa, cada imagen queda marcada con su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Saber siempre qué código está corriendo y poder volver atrás con certeza.
QUÉ DECIR (▶ CLIC = hacer clic)
“Cuando todo pasa, queda algo muy valioso: trazabilidad. Cada imagen publicada lleva como etiqueta el SHA del commit, ese código largo que identifica un cambio en Git. ▶ CLIC Con ese código llegamos al cambio exacto: qué líneas cambiaron.”
“▶ CLIC Del commit llegamos al Pull Request: quién lo pidió, quién lo revisó y qué pruebas pasó. ▶ CLIC Y si una versión da problemas, volver atrás es desplegar la imagen del commit anterior, que sigue publicada en el registro.”
“Para operación, esto cambia la conversación: ya no es “¿qué versión tenemos?”, sino “esta imagen es este commit, revisado por estas personas”.”
SI HAY TIEMPO, SE PUEDE AGREGAR
“Etiquetar con el SHA, y no con latest, evita la duda clásica de si la imagen que corre es la nueva o la vieja.”
“En Kubernetes, el manifiesto dice qué imagen usar; cambiar de versión es cambiar esa línea y volver a aplicar.”
SI PREGUNTAN
¿Por qué no usar la etiqueta latest?
RESPUESTA CORTA
Porque latest cambia con cada publicación y no dice qué código es. Con el SHA, la etiqueta nunca miente.
PARA PASAR
“La imagen ya está publicada y rastreada. Ahora, dónde corre: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clúster se mantiene solo como lo describimos, sin intervención manual.
QUÉ DECIR (▶ CLIC = hacer clic)
“Para entender Kubernetes hay que cambiar el chip: no le damos órdenes paso a paso, le decimos cómo queremos que esté el sistema. Eso se escribe en un archivo YAML, un manifiesto: qué imagen usar, cuántas copias de cada servicio y qué variables recibe.”
“▶ CLIC Con kubectl apply, ese archivo se le entrega al clúster. ▶ CLIC El Deployment lee el manifiesto y crea los Pods, que son donde corren los contenedores. ▶ CLIC El Service les da un nombre fijo, para que los demás los encuentren aunque un Pod se reemplace.”
“▶ CLIC Y lo más importante: Kubernetes compara todo el tiempo lo que hay con lo que pedimos. Si falta algo, lo crea; si sobra, lo quita. A eso se le llama ciclo de control, y es lo que hace que el sistema se repare solo.”
SI HAY TIEMPO, SE PUEDE AGREGAR
“Todos los manifiestos de ARKA-Lite están en la carpeta k8s del repositorio: cinco archivos, uno por componente, con su Deployment, su Service y, en las bases, su disco persistente.”
“Como el estado deseado está en archivos versionados, reconstruir el sistema completo en otro clúster es volver a aplicar esos archivos.”
SI PREGUNTAN
¿Qué pasa si alguien cambia algo a mano en el clúster?
RESPUESTA CORTA
El ciclo de control lo devuelve a lo que dice el manifiesto. Por eso los cambios se hacen en el archivo, versionado en el repositorio, y no a mano.
PARA PASAR
“Veamos las piezas que usamos en ARKA-Lite.”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“Estas son las piezas que usamos en ARKA-Lite.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“Ya vimos que Kubernetes compara todo el tiempo lo que hay con lo que pedimos. Veamos qué pasa cuando se cae el Pod de solicitudes, por un error, porque se reinició el servidor o porque alguien lo borró.”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 Le devuelvo la palabra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Diagnosticar un error entre sistemas en minutos, con una sola búsqueda.
QUÉ DECIR (▶ CLIC = hacer clic)
“Gracias.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mostrarlo en vivo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402336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EJECUTIVO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CI/CD con GitHub Actions · Kubernetes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es DevOps? Del código a la operación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00" dirty="0">
                <a:solidFill>
                  <a:srgbClr val="55627E"/>
                </a:solidFill>
                <a:latin typeface="Segoe UI" pitchFamily="34" charset="0"/>
                <a:ea typeface="Segoe UI" pitchFamily="34" charset="-122"/>
                <a:cs typeface="Segoe UI" pitchFamily="34" charset="-120"/>
              </a:rPr>
              <a:t>No es una herramienta: es un solo camino, automático y repetible, del código a producción y de vuelta.</a:t>
            </a:r>
            <a:endParaRPr lang="en-US" sz="1600" dirty="0"/>
          </a:p>
        </p:txBody>
      </p:sp>
      <p:sp>
        <p:nvSpPr>
          <p:cNvPr id="13" name="Shape 11"/>
          <p:cNvSpPr/>
          <p:nvPr/>
        </p:nvSpPr>
        <p:spPr>
          <a:xfrm>
            <a:off x="612648" y="2805353"/>
            <a:ext cx="1707707" cy="1366166"/>
          </a:xfrm>
          <a:prstGeom prst="homePlate">
            <a:avLst/>
          </a:prstGeom>
          <a:solidFill>
            <a:srgbClr val="0B235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169578" y="3051263"/>
            <a:ext cx="464496" cy="464496"/>
          </a:xfrm>
          <a:custGeom>
            <a:avLst/>
            <a:gdLst/>
            <a:ahLst/>
            <a:cxnLst/>
            <a:rect l="l" t="t" r="r" b="b"/>
            <a:pathLst>
              <a:path w="464496" h="464496">
                <a:moveTo>
                  <a:pt x="116124" y="58062"/>
                </a:moveTo>
                <a:lnTo>
                  <a:pt x="116124" y="290310"/>
                </a:lnTo>
                <a:moveTo>
                  <a:pt x="406434" y="116124"/>
                </a:moveTo>
                <a:cubicBezTo>
                  <a:pt x="406434" y="148191"/>
                  <a:pt x="380439" y="174186"/>
                  <a:pt x="348372" y="174186"/>
                </a:cubicBezTo>
                <a:cubicBezTo>
                  <a:pt x="316306" y="174186"/>
                  <a:pt x="290310" y="148191"/>
                  <a:pt x="290310" y="116124"/>
                </a:cubicBezTo>
                <a:cubicBezTo>
                  <a:pt x="290310" y="84057"/>
                  <a:pt x="316306" y="58062"/>
                  <a:pt x="348372" y="58062"/>
                </a:cubicBezTo>
                <a:cubicBezTo>
                  <a:pt x="380439" y="58062"/>
                  <a:pt x="406434" y="84057"/>
                  <a:pt x="406434" y="116124"/>
                </a:cubicBezTo>
                <a:close/>
                <a:moveTo>
                  <a:pt x="174186" y="348372"/>
                </a:moveTo>
                <a:cubicBezTo>
                  <a:pt x="174186" y="380439"/>
                  <a:pt x="148191" y="406434"/>
                  <a:pt x="116124" y="406434"/>
                </a:cubicBezTo>
                <a:cubicBezTo>
                  <a:pt x="84057" y="406434"/>
                  <a:pt x="58062" y="380439"/>
                  <a:pt x="58062" y="348372"/>
                </a:cubicBezTo>
                <a:cubicBezTo>
                  <a:pt x="58062" y="316306"/>
                  <a:pt x="84057" y="290310"/>
                  <a:pt x="116124" y="290310"/>
                </a:cubicBezTo>
                <a:cubicBezTo>
                  <a:pt x="148191" y="290310"/>
                  <a:pt x="174186" y="316306"/>
                  <a:pt x="174186" y="348372"/>
                </a:cubicBezTo>
                <a:close/>
                <a:moveTo>
                  <a:pt x="348372" y="174186"/>
                </a:moveTo>
                <a:cubicBezTo>
                  <a:pt x="348372" y="270386"/>
                  <a:pt x="270386" y="348372"/>
                  <a:pt x="174186" y="348372"/>
                </a:cubicBezTo>
              </a:path>
            </a:pathLst>
          </a:custGeom>
          <a:noFill/>
          <a:ln w="38708" cap="rnd">
            <a:solidFill>
              <a:srgbClr val="FFFFFF"/>
            </a:solidFill>
            <a:prstDash val="solid"/>
            <a:round/>
          </a:ln>
        </p:spPr>
      </p:sp>
      <p:sp>
        <p:nvSpPr>
          <p:cNvPr id="15" name="Text 13"/>
          <p:cNvSpPr/>
          <p:nvPr/>
        </p:nvSpPr>
        <p:spPr>
          <a:xfrm>
            <a:off x="722376" y="3607199"/>
            <a:ext cx="1358900"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Código</a:t>
            </a:r>
            <a:endParaRPr lang="en-US" sz="1400" dirty="0"/>
          </a:p>
        </p:txBody>
      </p:sp>
      <p:sp>
        <p:nvSpPr>
          <p:cNvPr id="16" name="Text 14"/>
          <p:cNvSpPr/>
          <p:nvPr/>
        </p:nvSpPr>
        <p:spPr>
          <a:xfrm>
            <a:off x="722376"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Ramas y Pull Request.</a:t>
            </a:r>
            <a:endParaRPr lang="en-US" sz="1400" dirty="0"/>
          </a:p>
        </p:txBody>
      </p:sp>
      <p:sp>
        <p:nvSpPr>
          <p:cNvPr id="17" name="Shape 15"/>
          <p:cNvSpPr/>
          <p:nvPr/>
        </p:nvSpPr>
        <p:spPr>
          <a:xfrm>
            <a:off x="1420782" y="4226383"/>
            <a:ext cx="0" cy="109728"/>
          </a:xfrm>
          <a:prstGeom prst="line">
            <a:avLst/>
          </a:prstGeom>
          <a:noFill/>
          <a:ln w="25400">
            <a:solidFill>
              <a:srgbClr val="0B2350"/>
            </a:solidFill>
            <a:prstDash val="solid"/>
          </a:ln>
        </p:spPr>
      </p:sp>
      <p:sp>
        <p:nvSpPr>
          <p:cNvPr id="18" name="[p1] Forma"/>
          <p:cNvSpPr/>
          <p:nvPr/>
        </p:nvSpPr>
        <p:spPr>
          <a:xfrm>
            <a:off x="2155763" y="2805353"/>
            <a:ext cx="1707707" cy="1366166"/>
          </a:xfrm>
          <a:prstGeom prst="chevron">
            <a:avLst/>
          </a:prstGeom>
          <a:solidFill>
            <a:srgbClr val="0B305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9" name="[p1] Icono settings"/>
          <p:cNvSpPr/>
          <p:nvPr/>
        </p:nvSpPr>
        <p:spPr>
          <a:xfrm>
            <a:off x="2931062" y="3051263"/>
            <a:ext cx="464496" cy="464496"/>
          </a:xfrm>
          <a:custGeom>
            <a:avLst/>
            <a:gdLst/>
            <a:ahLst/>
            <a:cxnLst/>
            <a:rect l="l" t="t" r="r" b="b"/>
            <a:pathLst>
              <a:path w="464496" h="464496">
                <a:moveTo>
                  <a:pt x="236506" y="38708"/>
                </a:moveTo>
                <a:lnTo>
                  <a:pt x="227990" y="38708"/>
                </a:lnTo>
                <a:cubicBezTo>
                  <a:pt x="206612" y="38708"/>
                  <a:pt x="189282" y="56038"/>
                  <a:pt x="189282" y="77416"/>
                </a:cubicBezTo>
                <a:lnTo>
                  <a:pt x="189282" y="80900"/>
                </a:lnTo>
                <a:cubicBezTo>
                  <a:pt x="189268" y="94715"/>
                  <a:pt x="181892" y="107475"/>
                  <a:pt x="169928" y="114382"/>
                </a:cubicBezTo>
                <a:lnTo>
                  <a:pt x="161606" y="119221"/>
                </a:lnTo>
                <a:cubicBezTo>
                  <a:pt x="149630" y="126135"/>
                  <a:pt x="134874" y="126135"/>
                  <a:pt x="122898" y="119221"/>
                </a:cubicBezTo>
                <a:lnTo>
                  <a:pt x="119995" y="117672"/>
                </a:lnTo>
                <a:cubicBezTo>
                  <a:pt x="101500" y="107004"/>
                  <a:pt x="77860" y="113325"/>
                  <a:pt x="67158" y="131801"/>
                </a:cubicBezTo>
                <a:lnTo>
                  <a:pt x="62901" y="139155"/>
                </a:lnTo>
                <a:cubicBezTo>
                  <a:pt x="52232" y="157650"/>
                  <a:pt x="58553" y="181290"/>
                  <a:pt x="77029" y="191992"/>
                </a:cubicBezTo>
                <a:lnTo>
                  <a:pt x="79932" y="193927"/>
                </a:lnTo>
                <a:cubicBezTo>
                  <a:pt x="91837" y="200800"/>
                  <a:pt x="99203" y="213471"/>
                  <a:pt x="99286" y="227216"/>
                </a:cubicBezTo>
                <a:lnTo>
                  <a:pt x="99286" y="237087"/>
                </a:lnTo>
                <a:cubicBezTo>
                  <a:pt x="99341" y="250971"/>
                  <a:pt x="91956" y="263821"/>
                  <a:pt x="79932" y="270763"/>
                </a:cubicBezTo>
                <a:lnTo>
                  <a:pt x="77029" y="272505"/>
                </a:lnTo>
                <a:cubicBezTo>
                  <a:pt x="58553" y="283206"/>
                  <a:pt x="52232" y="306846"/>
                  <a:pt x="62901" y="325341"/>
                </a:cubicBezTo>
                <a:lnTo>
                  <a:pt x="67158" y="332696"/>
                </a:lnTo>
                <a:cubicBezTo>
                  <a:pt x="77860" y="351171"/>
                  <a:pt x="101500" y="357493"/>
                  <a:pt x="119995" y="346824"/>
                </a:cubicBezTo>
                <a:lnTo>
                  <a:pt x="122898" y="345276"/>
                </a:lnTo>
                <a:cubicBezTo>
                  <a:pt x="134874" y="338361"/>
                  <a:pt x="149630" y="338361"/>
                  <a:pt x="161606" y="345276"/>
                </a:cubicBezTo>
                <a:lnTo>
                  <a:pt x="169928" y="350114"/>
                </a:lnTo>
                <a:cubicBezTo>
                  <a:pt x="181892" y="357022"/>
                  <a:pt x="189268" y="369782"/>
                  <a:pt x="189282" y="383597"/>
                </a:cubicBezTo>
                <a:lnTo>
                  <a:pt x="189282" y="387080"/>
                </a:lnTo>
                <a:cubicBezTo>
                  <a:pt x="189282" y="408458"/>
                  <a:pt x="206612" y="425788"/>
                  <a:pt x="227990" y="425788"/>
                </a:cubicBezTo>
                <a:lnTo>
                  <a:pt x="236506" y="425788"/>
                </a:lnTo>
                <a:cubicBezTo>
                  <a:pt x="257884" y="425788"/>
                  <a:pt x="275214" y="408458"/>
                  <a:pt x="275214" y="387080"/>
                </a:cubicBezTo>
                <a:lnTo>
                  <a:pt x="275214" y="383597"/>
                </a:lnTo>
                <a:cubicBezTo>
                  <a:pt x="275228" y="369782"/>
                  <a:pt x="282604" y="357022"/>
                  <a:pt x="294568" y="350114"/>
                </a:cubicBezTo>
                <a:lnTo>
                  <a:pt x="302890" y="345276"/>
                </a:lnTo>
                <a:cubicBezTo>
                  <a:pt x="314867" y="338361"/>
                  <a:pt x="329622" y="338361"/>
                  <a:pt x="341598" y="345276"/>
                </a:cubicBezTo>
                <a:lnTo>
                  <a:pt x="344501" y="346824"/>
                </a:lnTo>
                <a:cubicBezTo>
                  <a:pt x="362996" y="357493"/>
                  <a:pt x="386637" y="351171"/>
                  <a:pt x="397338" y="332696"/>
                </a:cubicBezTo>
                <a:lnTo>
                  <a:pt x="401596" y="325147"/>
                </a:lnTo>
                <a:cubicBezTo>
                  <a:pt x="412264" y="306653"/>
                  <a:pt x="405943" y="283012"/>
                  <a:pt x="387467" y="272311"/>
                </a:cubicBezTo>
                <a:lnTo>
                  <a:pt x="384564" y="270763"/>
                </a:lnTo>
                <a:cubicBezTo>
                  <a:pt x="372540" y="263821"/>
                  <a:pt x="365155" y="250971"/>
                  <a:pt x="365210" y="237087"/>
                </a:cubicBezTo>
                <a:lnTo>
                  <a:pt x="365210" y="227410"/>
                </a:lnTo>
                <a:cubicBezTo>
                  <a:pt x="365155" y="213526"/>
                  <a:pt x="372540" y="200676"/>
                  <a:pt x="384564" y="193734"/>
                </a:cubicBezTo>
                <a:lnTo>
                  <a:pt x="387467" y="191992"/>
                </a:lnTo>
                <a:cubicBezTo>
                  <a:pt x="405943" y="181290"/>
                  <a:pt x="412264" y="157650"/>
                  <a:pt x="401596" y="139155"/>
                </a:cubicBezTo>
                <a:lnTo>
                  <a:pt x="397338" y="131801"/>
                </a:lnTo>
                <a:cubicBezTo>
                  <a:pt x="386637" y="113325"/>
                  <a:pt x="362996" y="107004"/>
                  <a:pt x="344501" y="117672"/>
                </a:cubicBezTo>
                <a:lnTo>
                  <a:pt x="341598" y="119221"/>
                </a:lnTo>
                <a:cubicBezTo>
                  <a:pt x="329622" y="126135"/>
                  <a:pt x="314867" y="126135"/>
                  <a:pt x="302890" y="119221"/>
                </a:cubicBezTo>
                <a:lnTo>
                  <a:pt x="294568" y="114382"/>
                </a:lnTo>
                <a:cubicBezTo>
                  <a:pt x="282604" y="107475"/>
                  <a:pt x="275228" y="94715"/>
                  <a:pt x="275214" y="80900"/>
                </a:cubicBezTo>
                <a:lnTo>
                  <a:pt x="275214" y="77416"/>
                </a:lnTo>
                <a:cubicBezTo>
                  <a:pt x="275214" y="56038"/>
                  <a:pt x="257884" y="38708"/>
                  <a:pt x="236506" y="38708"/>
                </a:cubicBezTo>
                <a:close/>
                <a:moveTo>
                  <a:pt x="290310" y="232248"/>
                </a:moveTo>
                <a:cubicBezTo>
                  <a:pt x="290310" y="264315"/>
                  <a:pt x="264315" y="290310"/>
                  <a:pt x="232248" y="290310"/>
                </a:cubicBezTo>
                <a:cubicBezTo>
                  <a:pt x="200181" y="290310"/>
                  <a:pt x="174186" y="264315"/>
                  <a:pt x="174186" y="232248"/>
                </a:cubicBezTo>
                <a:cubicBezTo>
                  <a:pt x="174186" y="200181"/>
                  <a:pt x="200181" y="174186"/>
                  <a:pt x="232248" y="174186"/>
                </a:cubicBezTo>
                <a:cubicBezTo>
                  <a:pt x="264315" y="174186"/>
                  <a:pt x="290310" y="200181"/>
                  <a:pt x="290310" y="232248"/>
                </a:cubicBezTo>
                <a:close/>
              </a:path>
            </a:pathLst>
          </a:custGeom>
          <a:noFill/>
          <a:ln w="38708" cap="rnd">
            <a:solidFill>
              <a:srgbClr val="FFFFFF"/>
            </a:solidFill>
            <a:prstDash val="solid"/>
            <a:round/>
          </a:ln>
        </p:spPr>
      </p:sp>
      <p:sp>
        <p:nvSpPr>
          <p:cNvPr id="20" name="[p1] Forma"/>
          <p:cNvSpPr/>
          <p:nvPr/>
        </p:nvSpPr>
        <p:spPr>
          <a:xfrm>
            <a:off x="2702230" y="3607199"/>
            <a:ext cx="922162" cy="384048"/>
          </a:xfrm>
          <a:prstGeom prst="rect">
            <a:avLst/>
          </a:prstGeom>
          <a:noFill/>
          <a:ln/>
        </p:spPr>
        <p:txBody>
          <a:bodyPr wrap="square" lIns="0" tIns="0" rIns="0" bIns="0" rtlCol="0" anchor="t">
            <a:normAutofit/>
          </a:bodyPr>
          <a:lstStyle/>
          <a:p>
            <a:pPr algn="ctr" indent="0" marL="0">
              <a:buNone/>
            </a:pPr>
            <a:r>
              <a:rPr lang="en-US" sz="1350" b="1" dirty="0">
                <a:solidFill>
                  <a:srgbClr val="FFFFFF"/>
                </a:solidFill>
                <a:latin typeface="Segoe UI Semibold" pitchFamily="34" charset="0"/>
                <a:ea typeface="Segoe UI Semibold" pitchFamily="34" charset="-122"/>
                <a:cs typeface="Segoe UI Semibold" pitchFamily="34" charset="-120"/>
              </a:rPr>
              <a:t>Construir</a:t>
            </a:r>
            <a:endParaRPr lang="en-US" sz="1350" dirty="0"/>
          </a:p>
        </p:txBody>
      </p:sp>
      <p:sp>
        <p:nvSpPr>
          <p:cNvPr id="21" name="[p1] Forma"/>
          <p:cNvSpPr/>
          <p:nvPr/>
        </p:nvSpPr>
        <p:spPr>
          <a:xfrm>
            <a:off x="2265491"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Maven compila.</a:t>
            </a:r>
            <a:endParaRPr lang="en-US" sz="1400" dirty="0"/>
          </a:p>
        </p:txBody>
      </p:sp>
      <p:sp>
        <p:nvSpPr>
          <p:cNvPr id="22" name="[p1] Forma"/>
          <p:cNvSpPr/>
          <p:nvPr/>
        </p:nvSpPr>
        <p:spPr>
          <a:xfrm>
            <a:off x="2963897" y="4226383"/>
            <a:ext cx="0" cy="109728"/>
          </a:xfrm>
          <a:prstGeom prst="line">
            <a:avLst/>
          </a:prstGeom>
          <a:noFill/>
          <a:ln w="25400">
            <a:solidFill>
              <a:srgbClr val="0B305A"/>
            </a:solidFill>
            <a:prstDash val="solid"/>
          </a:ln>
        </p:spPr>
      </p:sp>
      <p:sp>
        <p:nvSpPr>
          <p:cNvPr id="23" name="[p2] Forma"/>
          <p:cNvSpPr/>
          <p:nvPr/>
        </p:nvSpPr>
        <p:spPr>
          <a:xfrm>
            <a:off x="3698879" y="2805353"/>
            <a:ext cx="1707707" cy="1366166"/>
          </a:xfrm>
          <a:prstGeom prst="chevron">
            <a:avLst/>
          </a:prstGeom>
          <a:solidFill>
            <a:srgbClr val="0B3C63"/>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4" name="[p2] Icono flask-conical"/>
          <p:cNvSpPr/>
          <p:nvPr/>
        </p:nvSpPr>
        <p:spPr>
          <a:xfrm>
            <a:off x="4474178" y="3051263"/>
            <a:ext cx="464496" cy="464496"/>
          </a:xfrm>
          <a:custGeom>
            <a:avLst/>
            <a:gdLst/>
            <a:ahLst/>
            <a:cxnLst/>
            <a:rect l="l" t="t" r="r" b="b"/>
            <a:pathLst>
              <a:path w="464496" h="464496">
                <a:moveTo>
                  <a:pt x="270956" y="38708"/>
                </a:moveTo>
                <a:lnTo>
                  <a:pt x="270956" y="154832"/>
                </a:lnTo>
                <a:cubicBezTo>
                  <a:pt x="270953" y="161325"/>
                  <a:pt x="272584" y="167714"/>
                  <a:pt x="275698" y="173412"/>
                </a:cubicBezTo>
                <a:lnTo>
                  <a:pt x="382339" y="368500"/>
                </a:lnTo>
                <a:cubicBezTo>
                  <a:pt x="388901" y="380495"/>
                  <a:pt x="388650" y="395061"/>
                  <a:pt x="381677" y="406821"/>
                </a:cubicBezTo>
                <a:cubicBezTo>
                  <a:pt x="374704" y="418582"/>
                  <a:pt x="362044" y="425792"/>
                  <a:pt x="348372" y="425788"/>
                </a:cubicBezTo>
                <a:lnTo>
                  <a:pt x="116124" y="425788"/>
                </a:lnTo>
                <a:cubicBezTo>
                  <a:pt x="102452" y="425792"/>
                  <a:pt x="89792" y="418582"/>
                  <a:pt x="82820" y="406821"/>
                </a:cubicBezTo>
                <a:cubicBezTo>
                  <a:pt x="75847" y="395061"/>
                  <a:pt x="75595" y="380495"/>
                  <a:pt x="82158" y="368500"/>
                </a:cubicBezTo>
                <a:lnTo>
                  <a:pt x="188798" y="173412"/>
                </a:lnTo>
                <a:cubicBezTo>
                  <a:pt x="191912" y="167714"/>
                  <a:pt x="193543" y="161325"/>
                  <a:pt x="193540" y="154832"/>
                </a:cubicBezTo>
                <a:lnTo>
                  <a:pt x="193540" y="38708"/>
                </a:lnTo>
                <a:moveTo>
                  <a:pt x="124891" y="290310"/>
                </a:moveTo>
                <a:lnTo>
                  <a:pt x="339605" y="290310"/>
                </a:lnTo>
                <a:moveTo>
                  <a:pt x="164509" y="38708"/>
                </a:moveTo>
                <a:lnTo>
                  <a:pt x="299987" y="38708"/>
                </a:lnTo>
              </a:path>
            </a:pathLst>
          </a:custGeom>
          <a:noFill/>
          <a:ln w="38708" cap="rnd">
            <a:solidFill>
              <a:srgbClr val="FFFFFF"/>
            </a:solidFill>
            <a:prstDash val="solid"/>
            <a:round/>
          </a:ln>
        </p:spPr>
      </p:sp>
      <p:sp>
        <p:nvSpPr>
          <p:cNvPr id="25" name="[p2] Forma"/>
          <p:cNvSpPr/>
          <p:nvPr/>
        </p:nvSpPr>
        <p:spPr>
          <a:xfrm>
            <a:off x="4245345"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Probar</a:t>
            </a:r>
            <a:endParaRPr lang="en-US" sz="1400" dirty="0"/>
          </a:p>
        </p:txBody>
      </p:sp>
      <p:sp>
        <p:nvSpPr>
          <p:cNvPr id="26" name="[p2] Forma"/>
          <p:cNvSpPr/>
          <p:nvPr/>
        </p:nvSpPr>
        <p:spPr>
          <a:xfrm>
            <a:off x="380860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cada cambio.</a:t>
            </a:r>
            <a:endParaRPr lang="en-US" sz="1400" dirty="0"/>
          </a:p>
        </p:txBody>
      </p:sp>
      <p:sp>
        <p:nvSpPr>
          <p:cNvPr id="27" name="[p2] Forma"/>
          <p:cNvSpPr/>
          <p:nvPr/>
        </p:nvSpPr>
        <p:spPr>
          <a:xfrm>
            <a:off x="4507012" y="4226383"/>
            <a:ext cx="0" cy="109728"/>
          </a:xfrm>
          <a:prstGeom prst="line">
            <a:avLst/>
          </a:prstGeom>
          <a:noFill/>
          <a:ln w="25400">
            <a:solidFill>
              <a:srgbClr val="0B3C63"/>
            </a:solidFill>
            <a:prstDash val="solid"/>
          </a:ln>
        </p:spPr>
      </p:sp>
      <p:sp>
        <p:nvSpPr>
          <p:cNvPr id="28" name="[p3] Forma"/>
          <p:cNvSpPr/>
          <p:nvPr/>
        </p:nvSpPr>
        <p:spPr>
          <a:xfrm>
            <a:off x="5241994" y="2805353"/>
            <a:ext cx="1707707" cy="1366166"/>
          </a:xfrm>
          <a:prstGeom prst="chevron">
            <a:avLst/>
          </a:prstGeom>
          <a:solidFill>
            <a:srgbClr val="0B496D"/>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9" name="[p3] Icono package"/>
          <p:cNvSpPr/>
          <p:nvPr/>
        </p:nvSpPr>
        <p:spPr>
          <a:xfrm>
            <a:off x="6017293" y="3051263"/>
            <a:ext cx="464496" cy="464496"/>
          </a:xfrm>
          <a:custGeom>
            <a:avLst/>
            <a:gdLst/>
            <a:ahLst/>
            <a:cxnLst/>
            <a:rect l="l" t="t" r="r" b="b"/>
            <a:pathLst>
              <a:path w="464496" h="464496">
                <a:moveTo>
                  <a:pt x="212894" y="420563"/>
                </a:moveTo>
                <a:cubicBezTo>
                  <a:pt x="224870" y="427477"/>
                  <a:pt x="239626" y="427477"/>
                  <a:pt x="251602" y="420563"/>
                </a:cubicBezTo>
                <a:lnTo>
                  <a:pt x="387080" y="343147"/>
                </a:lnTo>
                <a:cubicBezTo>
                  <a:pt x="399044" y="336239"/>
                  <a:pt x="406420" y="323479"/>
                  <a:pt x="406434" y="309664"/>
                </a:cubicBezTo>
                <a:lnTo>
                  <a:pt x="406434" y="154832"/>
                </a:lnTo>
                <a:cubicBezTo>
                  <a:pt x="406420" y="141017"/>
                  <a:pt x="399044" y="128257"/>
                  <a:pt x="387080" y="121350"/>
                </a:cubicBezTo>
                <a:lnTo>
                  <a:pt x="251602" y="43934"/>
                </a:lnTo>
                <a:cubicBezTo>
                  <a:pt x="239626" y="37019"/>
                  <a:pt x="224870" y="37019"/>
                  <a:pt x="212894" y="43934"/>
                </a:cubicBezTo>
                <a:lnTo>
                  <a:pt x="77416" y="121350"/>
                </a:lnTo>
                <a:cubicBezTo>
                  <a:pt x="65452" y="128257"/>
                  <a:pt x="58076" y="141017"/>
                  <a:pt x="58062" y="154832"/>
                </a:cubicBezTo>
                <a:lnTo>
                  <a:pt x="58062" y="309664"/>
                </a:lnTo>
                <a:cubicBezTo>
                  <a:pt x="58076" y="323479"/>
                  <a:pt x="65452" y="336239"/>
                  <a:pt x="77416" y="343147"/>
                </a:cubicBezTo>
                <a:close/>
                <a:moveTo>
                  <a:pt x="232248" y="425788"/>
                </a:moveTo>
                <a:lnTo>
                  <a:pt x="232248" y="232248"/>
                </a:lnTo>
                <a:moveTo>
                  <a:pt x="63868" y="135478"/>
                </a:moveTo>
                <a:lnTo>
                  <a:pt x="212952" y="227100"/>
                </a:lnTo>
                <a:cubicBezTo>
                  <a:pt x="224899" y="233970"/>
                  <a:pt x="239597" y="233970"/>
                  <a:pt x="251544" y="227100"/>
                </a:cubicBezTo>
                <a:lnTo>
                  <a:pt x="400628" y="135478"/>
                </a:lnTo>
                <a:moveTo>
                  <a:pt x="145155" y="82642"/>
                </a:moveTo>
                <a:lnTo>
                  <a:pt x="319341" y="182315"/>
                </a:lnTo>
              </a:path>
            </a:pathLst>
          </a:custGeom>
          <a:noFill/>
          <a:ln w="38708" cap="rnd">
            <a:solidFill>
              <a:srgbClr val="FFFFFF"/>
            </a:solidFill>
            <a:prstDash val="solid"/>
            <a:round/>
          </a:ln>
        </p:spPr>
      </p:sp>
      <p:sp>
        <p:nvSpPr>
          <p:cNvPr id="30" name="[p3] Forma"/>
          <p:cNvSpPr/>
          <p:nvPr/>
        </p:nvSpPr>
        <p:spPr>
          <a:xfrm>
            <a:off x="5788460"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Imagen</a:t>
            </a:r>
            <a:endParaRPr lang="en-US" sz="1400" dirty="0"/>
          </a:p>
        </p:txBody>
      </p:sp>
      <p:sp>
        <p:nvSpPr>
          <p:cNvPr id="31" name="[p3] Forma"/>
          <p:cNvSpPr/>
          <p:nvPr/>
        </p:nvSpPr>
        <p:spPr>
          <a:xfrm>
            <a:off x="5351722"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Docker la empaqueta.</a:t>
            </a:r>
            <a:endParaRPr lang="en-US" sz="1400" dirty="0"/>
          </a:p>
        </p:txBody>
      </p:sp>
      <p:sp>
        <p:nvSpPr>
          <p:cNvPr id="32" name="[p3] Forma"/>
          <p:cNvSpPr/>
          <p:nvPr/>
        </p:nvSpPr>
        <p:spPr>
          <a:xfrm>
            <a:off x="6050128" y="4226383"/>
            <a:ext cx="0" cy="109728"/>
          </a:xfrm>
          <a:prstGeom prst="line">
            <a:avLst/>
          </a:prstGeom>
          <a:noFill/>
          <a:ln w="25400">
            <a:solidFill>
              <a:srgbClr val="0B496D"/>
            </a:solidFill>
            <a:prstDash val="solid"/>
          </a:ln>
        </p:spPr>
      </p:sp>
      <p:sp>
        <p:nvSpPr>
          <p:cNvPr id="33" name="[p4] Forma"/>
          <p:cNvSpPr/>
          <p:nvPr/>
        </p:nvSpPr>
        <p:spPr>
          <a:xfrm>
            <a:off x="6785109" y="2805353"/>
            <a:ext cx="1707707" cy="1366166"/>
          </a:xfrm>
          <a:prstGeom prst="chevron">
            <a:avLst/>
          </a:prstGeom>
          <a:solidFill>
            <a:srgbClr val="0B5577"/>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4" name="[p4] Icono cloud-upload"/>
          <p:cNvSpPr/>
          <p:nvPr/>
        </p:nvSpPr>
        <p:spPr>
          <a:xfrm>
            <a:off x="7560408" y="3051263"/>
            <a:ext cx="464496" cy="464496"/>
          </a:xfrm>
          <a:custGeom>
            <a:avLst/>
            <a:gdLst/>
            <a:ahLst/>
            <a:cxnLst/>
            <a:rect l="l" t="t" r="r" b="b"/>
            <a:pathLst>
              <a:path w="464496" h="464496">
                <a:moveTo>
                  <a:pt x="232248" y="251602"/>
                </a:moveTo>
                <a:lnTo>
                  <a:pt x="232248" y="406434"/>
                </a:lnTo>
                <a:moveTo>
                  <a:pt x="77416" y="288355"/>
                </a:moveTo>
                <a:cubicBezTo>
                  <a:pt x="38030" y="248114"/>
                  <a:pt x="27641" y="187705"/>
                  <a:pt x="51320" y="136618"/>
                </a:cubicBezTo>
                <a:cubicBezTo>
                  <a:pt x="75000" y="85531"/>
                  <a:pt x="127812" y="54417"/>
                  <a:pt x="183975" y="58464"/>
                </a:cubicBezTo>
                <a:cubicBezTo>
                  <a:pt x="240138" y="62512"/>
                  <a:pt x="287942" y="100877"/>
                  <a:pt x="304052" y="154832"/>
                </a:cubicBezTo>
                <a:lnTo>
                  <a:pt x="338695" y="154832"/>
                </a:lnTo>
                <a:cubicBezTo>
                  <a:pt x="377062" y="154828"/>
                  <a:pt x="410912" y="179930"/>
                  <a:pt x="422049" y="216645"/>
                </a:cubicBezTo>
                <a:cubicBezTo>
                  <a:pt x="433185" y="253360"/>
                  <a:pt x="418984" y="293038"/>
                  <a:pt x="387080" y="314348"/>
                </a:cubicBezTo>
                <a:moveTo>
                  <a:pt x="154832" y="329018"/>
                </a:moveTo>
                <a:lnTo>
                  <a:pt x="232248" y="251602"/>
                </a:lnTo>
                <a:lnTo>
                  <a:pt x="309664" y="329018"/>
                </a:lnTo>
              </a:path>
            </a:pathLst>
          </a:custGeom>
          <a:noFill/>
          <a:ln w="38708" cap="rnd">
            <a:solidFill>
              <a:srgbClr val="FFFFFF"/>
            </a:solidFill>
            <a:prstDash val="solid"/>
            <a:round/>
          </a:ln>
        </p:spPr>
      </p:sp>
      <p:sp>
        <p:nvSpPr>
          <p:cNvPr id="35" name="[p4] Forma"/>
          <p:cNvSpPr/>
          <p:nvPr/>
        </p:nvSpPr>
        <p:spPr>
          <a:xfrm>
            <a:off x="733157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Publicar</a:t>
            </a:r>
            <a:endParaRPr lang="en-US" sz="1400" dirty="0"/>
          </a:p>
        </p:txBody>
      </p:sp>
      <p:sp>
        <p:nvSpPr>
          <p:cNvPr id="36" name="[p4] Forma"/>
          <p:cNvSpPr/>
          <p:nvPr/>
        </p:nvSpPr>
        <p:spPr>
          <a:xfrm>
            <a:off x="689483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GHCR.</a:t>
            </a:r>
            <a:endParaRPr lang="en-US" sz="1400" dirty="0"/>
          </a:p>
        </p:txBody>
      </p:sp>
      <p:sp>
        <p:nvSpPr>
          <p:cNvPr id="37" name="[p4] Forma"/>
          <p:cNvSpPr/>
          <p:nvPr/>
        </p:nvSpPr>
        <p:spPr>
          <a:xfrm>
            <a:off x="7593243" y="4226383"/>
            <a:ext cx="0" cy="109728"/>
          </a:xfrm>
          <a:prstGeom prst="line">
            <a:avLst/>
          </a:prstGeom>
          <a:noFill/>
          <a:ln w="25400">
            <a:solidFill>
              <a:srgbClr val="0B5577"/>
            </a:solidFill>
            <a:prstDash val="solid"/>
          </a:ln>
        </p:spPr>
      </p:sp>
      <p:sp>
        <p:nvSpPr>
          <p:cNvPr id="38" name="[p5] Forma"/>
          <p:cNvSpPr/>
          <p:nvPr/>
        </p:nvSpPr>
        <p:spPr>
          <a:xfrm>
            <a:off x="8328225" y="2805353"/>
            <a:ext cx="1707707" cy="1366166"/>
          </a:xfrm>
          <a:prstGeom prst="chevron">
            <a:avLst/>
          </a:prstGeom>
          <a:solidFill>
            <a:srgbClr val="0B628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9" name="[p5] Icono ship-wheel"/>
          <p:cNvSpPr/>
          <p:nvPr/>
        </p:nvSpPr>
        <p:spPr>
          <a:xfrm>
            <a:off x="9103524" y="3051263"/>
            <a:ext cx="464496" cy="464496"/>
          </a:xfrm>
          <a:custGeom>
            <a:avLst/>
            <a:gdLst/>
            <a:ahLst/>
            <a:cxnLst/>
            <a:rect l="l" t="t" r="r" b="b"/>
            <a:pathLst>
              <a:path w="464496" h="464496">
                <a:moveTo>
                  <a:pt x="387080" y="232248"/>
                </a:moveTo>
                <a:cubicBezTo>
                  <a:pt x="387080" y="317760"/>
                  <a:pt x="317760" y="387080"/>
                  <a:pt x="232248" y="387080"/>
                </a:cubicBezTo>
                <a:cubicBezTo>
                  <a:pt x="146737" y="387080"/>
                  <a:pt x="77416" y="317760"/>
                  <a:pt x="77416" y="232248"/>
                </a:cubicBezTo>
                <a:cubicBezTo>
                  <a:pt x="77416" y="146737"/>
                  <a:pt x="146737" y="77416"/>
                  <a:pt x="232248" y="77416"/>
                </a:cubicBezTo>
                <a:cubicBezTo>
                  <a:pt x="317760" y="77416"/>
                  <a:pt x="387080" y="146737"/>
                  <a:pt x="387080" y="232248"/>
                </a:cubicBezTo>
                <a:close/>
                <a:moveTo>
                  <a:pt x="232248" y="38708"/>
                </a:moveTo>
                <a:lnTo>
                  <a:pt x="232248" y="183863"/>
                </a:lnTo>
                <a:moveTo>
                  <a:pt x="367726" y="96770"/>
                </a:moveTo>
                <a:lnTo>
                  <a:pt x="266505" y="197992"/>
                </a:lnTo>
                <a:moveTo>
                  <a:pt x="425788" y="232248"/>
                </a:moveTo>
                <a:lnTo>
                  <a:pt x="280633" y="232248"/>
                </a:lnTo>
                <a:moveTo>
                  <a:pt x="367726" y="367726"/>
                </a:moveTo>
                <a:lnTo>
                  <a:pt x="266505" y="266505"/>
                </a:lnTo>
                <a:moveTo>
                  <a:pt x="232248" y="280633"/>
                </a:moveTo>
                <a:lnTo>
                  <a:pt x="232248" y="425788"/>
                </a:lnTo>
                <a:moveTo>
                  <a:pt x="197992" y="266505"/>
                </a:moveTo>
                <a:lnTo>
                  <a:pt x="96770" y="367726"/>
                </a:lnTo>
                <a:moveTo>
                  <a:pt x="183863" y="232248"/>
                </a:moveTo>
                <a:lnTo>
                  <a:pt x="38708" y="232248"/>
                </a:lnTo>
                <a:moveTo>
                  <a:pt x="197992" y="197992"/>
                </a:moveTo>
                <a:lnTo>
                  <a:pt x="96770" y="96770"/>
                </a:lnTo>
                <a:moveTo>
                  <a:pt x="280633" y="232248"/>
                </a:moveTo>
                <a:cubicBezTo>
                  <a:pt x="280633" y="258971"/>
                  <a:pt x="258971" y="280633"/>
                  <a:pt x="232248" y="280633"/>
                </a:cubicBezTo>
                <a:cubicBezTo>
                  <a:pt x="205526" y="280633"/>
                  <a:pt x="183863" y="258971"/>
                  <a:pt x="183863" y="232248"/>
                </a:cubicBezTo>
                <a:cubicBezTo>
                  <a:pt x="183863" y="205526"/>
                  <a:pt x="205526" y="183863"/>
                  <a:pt x="232248" y="183863"/>
                </a:cubicBezTo>
                <a:cubicBezTo>
                  <a:pt x="258971" y="183863"/>
                  <a:pt x="280633" y="205526"/>
                  <a:pt x="280633" y="232248"/>
                </a:cubicBezTo>
                <a:close/>
              </a:path>
            </a:pathLst>
          </a:custGeom>
          <a:noFill/>
          <a:ln w="38708" cap="rnd">
            <a:solidFill>
              <a:srgbClr val="FFFFFF"/>
            </a:solidFill>
            <a:prstDash val="solid"/>
            <a:round/>
          </a:ln>
        </p:spPr>
      </p:sp>
      <p:sp>
        <p:nvSpPr>
          <p:cNvPr id="40" name="[p5] Forma"/>
          <p:cNvSpPr/>
          <p:nvPr/>
        </p:nvSpPr>
        <p:spPr>
          <a:xfrm>
            <a:off x="8874691"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Operar</a:t>
            </a:r>
            <a:endParaRPr lang="en-US" sz="1400" dirty="0"/>
          </a:p>
        </p:txBody>
      </p:sp>
      <p:sp>
        <p:nvSpPr>
          <p:cNvPr id="41" name="[p5] Forma"/>
          <p:cNvSpPr/>
          <p:nvPr/>
        </p:nvSpPr>
        <p:spPr>
          <a:xfrm>
            <a:off x="8437953"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Kubernetes la despliega.</a:t>
            </a:r>
            <a:endParaRPr lang="en-US" sz="1400" dirty="0"/>
          </a:p>
        </p:txBody>
      </p:sp>
      <p:sp>
        <p:nvSpPr>
          <p:cNvPr id="42" name="[p5] Forma"/>
          <p:cNvSpPr/>
          <p:nvPr/>
        </p:nvSpPr>
        <p:spPr>
          <a:xfrm>
            <a:off x="9136358" y="4226383"/>
            <a:ext cx="0" cy="109728"/>
          </a:xfrm>
          <a:prstGeom prst="line">
            <a:avLst/>
          </a:prstGeom>
          <a:noFill/>
          <a:ln w="25400">
            <a:solidFill>
              <a:srgbClr val="0B6280"/>
            </a:solidFill>
            <a:prstDash val="solid"/>
          </a:ln>
        </p:spPr>
      </p:sp>
      <p:sp>
        <p:nvSpPr>
          <p:cNvPr id="43" name="[p6] Forma"/>
          <p:cNvSpPr/>
          <p:nvPr/>
        </p:nvSpPr>
        <p:spPr>
          <a:xfrm>
            <a:off x="9871340" y="2805353"/>
            <a:ext cx="1707707" cy="1366166"/>
          </a:xfrm>
          <a:prstGeom prst="chevron">
            <a:avLst/>
          </a:prstGeom>
          <a:solidFill>
            <a:srgbClr val="0B6E8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44" name="[p6] Icono chart-line"/>
          <p:cNvSpPr/>
          <p:nvPr/>
        </p:nvSpPr>
        <p:spPr>
          <a:xfrm>
            <a:off x="10646639" y="3051263"/>
            <a:ext cx="464496" cy="464496"/>
          </a:xfrm>
          <a:custGeom>
            <a:avLst/>
            <a:gdLst/>
            <a:ahLst/>
            <a:cxnLst/>
            <a:rect l="l" t="t" r="r" b="b"/>
            <a:pathLst>
              <a:path w="464496" h="464496">
                <a:moveTo>
                  <a:pt x="58062" y="58062"/>
                </a:moveTo>
                <a:lnTo>
                  <a:pt x="58062" y="367726"/>
                </a:lnTo>
                <a:cubicBezTo>
                  <a:pt x="58062" y="389104"/>
                  <a:pt x="75392" y="406434"/>
                  <a:pt x="96770" y="406434"/>
                </a:cubicBezTo>
                <a:lnTo>
                  <a:pt x="406434" y="406434"/>
                </a:lnTo>
                <a:moveTo>
                  <a:pt x="367726" y="174186"/>
                </a:moveTo>
                <a:lnTo>
                  <a:pt x="270956" y="270956"/>
                </a:lnTo>
                <a:lnTo>
                  <a:pt x="193540" y="193540"/>
                </a:lnTo>
                <a:lnTo>
                  <a:pt x="135478" y="251602"/>
                </a:lnTo>
              </a:path>
            </a:pathLst>
          </a:custGeom>
          <a:noFill/>
          <a:ln w="38708" cap="rnd">
            <a:solidFill>
              <a:srgbClr val="FFFFFF"/>
            </a:solidFill>
            <a:prstDash val="solid"/>
            <a:round/>
          </a:ln>
        </p:spPr>
      </p:sp>
      <p:sp>
        <p:nvSpPr>
          <p:cNvPr id="45" name="[p6] Forma"/>
          <p:cNvSpPr/>
          <p:nvPr/>
        </p:nvSpPr>
        <p:spPr>
          <a:xfrm>
            <a:off x="1041780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Observar</a:t>
            </a:r>
            <a:endParaRPr lang="en-US" sz="1400" dirty="0"/>
          </a:p>
        </p:txBody>
      </p:sp>
      <p:sp>
        <p:nvSpPr>
          <p:cNvPr id="46" name="[p6] Forma"/>
          <p:cNvSpPr/>
          <p:nvPr/>
        </p:nvSpPr>
        <p:spPr>
          <a:xfrm>
            <a:off x="9981068"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Loki y Grafana.</a:t>
            </a:r>
            <a:endParaRPr lang="en-US" sz="1400" dirty="0"/>
          </a:p>
        </p:txBody>
      </p:sp>
      <p:sp>
        <p:nvSpPr>
          <p:cNvPr id="47" name="[p6] Forma"/>
          <p:cNvSpPr/>
          <p:nvPr/>
        </p:nvSpPr>
        <p:spPr>
          <a:xfrm>
            <a:off x="10679474" y="4226383"/>
            <a:ext cx="0" cy="109728"/>
          </a:xfrm>
          <a:prstGeom prst="line">
            <a:avLst/>
          </a:prstGeom>
          <a:noFill/>
          <a:ln w="25400">
            <a:solidFill>
              <a:srgbClr val="0B6E8A"/>
            </a:solidFill>
            <a:prstDash val="solid"/>
          </a:ln>
        </p:spPr>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fade">
                                      <p:cBhvr>
                                        <p:cTn id="62" dur="400"/>
                                        <p:tgtEl>
                                          <p:spTgt spid="3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childTnLst>
                          </p:cTn>
                        </p:par>
                      </p:childTnLst>
                    </p:cTn>
                  </p:par>
                  <p:par>
                    <p:cTn id="86" fill="hold">
                      <p:stCondLst>
                        <p:cond delay="indefinite"/>
                      </p:stCondLst>
                      <p:childTnLst>
                        <p:par>
                          <p:cTn id="87"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4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103" fill="hold">
                      <p:stCondLst>
                        <p:cond delay="indefinite"/>
                      </p:stCondLst>
                      <p:childTnLst>
                        <p:par>
                          <p:cTn id="104"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400"/>
                                        <p:tgtEl>
                                          <p:spTgt spid="4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fade">
                                      <p:cBhvr>
                                        <p:cTn id="93" dur="400"/>
                                        <p:tgtEl>
                                          <p:spTgt spid="44"/>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5"/>
                                        </p:tgtEl>
                                        <p:attrNameLst>
                                          <p:attrName>style.visibility</p:attrName>
                                        </p:attrNameLst>
                                      </p:cBhvr>
                                      <p:to>
                                        <p:strVal val="visible"/>
                                      </p:to>
                                    </p:set>
                                    <p:animEffect transition="in" filter="fade">
                                      <p:cBhvr>
                                        <p:cTn id="96" dur="400"/>
                                        <p:tgtEl>
                                          <p:spTgt spid="4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6"/>
                                        </p:tgtEl>
                                        <p:attrNameLst>
                                          <p:attrName>style.visibility</p:attrName>
                                        </p:attrNameLst>
                                      </p:cBhvr>
                                      <p:to>
                                        <p:strVal val="visible"/>
                                      </p:to>
                                    </p:set>
                                    <p:animEffect transition="in" filter="fade">
                                      <p:cBhvr>
                                        <p:cTn id="99" dur="400"/>
                                        <p:tgtEl>
                                          <p:spTgt spid="46"/>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7"/>
                                        </p:tgtEl>
                                        <p:attrNameLst>
                                          <p:attrName>style.visibility</p:attrName>
                                        </p:attrNameLst>
                                      </p:cBhvr>
                                      <p:to>
                                        <p:strVal val="visible"/>
                                      </p:to>
                                    </p:set>
                                    <p:animEffect transition="in" filter="fade">
                                      <p:cBhvr>
                                        <p:cTn id="10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receta que da el mismo resultado en cualquier computadora.</a:t>
            </a:r>
            <a:endParaRPr lang="en-US" sz="170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file-code"/>
          <p:cNvSpPr/>
          <p:nvPr/>
        </p:nvSpPr>
        <p:spPr>
          <a:xfrm>
            <a:off x="1588427" y="2901391"/>
            <a:ext cx="790042" cy="790042"/>
          </a:xfrm>
          <a:custGeom>
            <a:avLst/>
            <a:gdLst/>
            <a:ahLst/>
            <a:cxnLst/>
            <a:rect l="l" t="t" r="r" b="b"/>
            <a:pathLst>
              <a:path w="790042" h="790042">
                <a:moveTo>
                  <a:pt x="329184" y="411480"/>
                </a:moveTo>
                <a:lnTo>
                  <a:pt x="263347" y="493776"/>
                </a:lnTo>
                <a:lnTo>
                  <a:pt x="329184" y="576072"/>
                </a:lnTo>
                <a:moveTo>
                  <a:pt x="460858" y="411480"/>
                </a:moveTo>
                <a:lnTo>
                  <a:pt x="526694" y="493776"/>
                </a:lnTo>
                <a:lnTo>
                  <a:pt x="460858" y="576072"/>
                </a:lnTo>
                <a:moveTo>
                  <a:pt x="460858" y="65837"/>
                </a:moveTo>
                <a:lnTo>
                  <a:pt x="460858" y="197510"/>
                </a:lnTo>
                <a:cubicBezTo>
                  <a:pt x="460858" y="233871"/>
                  <a:pt x="490334" y="263347"/>
                  <a:pt x="526694" y="263347"/>
                </a:cubicBezTo>
                <a:lnTo>
                  <a:pt x="658368" y="263347"/>
                </a:lnTo>
                <a:moveTo>
                  <a:pt x="493776" y="65837"/>
                </a:moveTo>
                <a:lnTo>
                  <a:pt x="197510" y="65837"/>
                </a:lnTo>
                <a:cubicBezTo>
                  <a:pt x="161150" y="65837"/>
                  <a:pt x="131674" y="95313"/>
                  <a:pt x="131674" y="131674"/>
                </a:cubicBezTo>
                <a:lnTo>
                  <a:pt x="131674" y="658368"/>
                </a:lnTo>
                <a:cubicBezTo>
                  <a:pt x="131674" y="694729"/>
                  <a:pt x="161150" y="724205"/>
                  <a:pt x="197510" y="724205"/>
                </a:cubicBezTo>
                <a:lnTo>
                  <a:pt x="592531" y="724205"/>
                </a:lnTo>
                <a:cubicBezTo>
                  <a:pt x="628892" y="724205"/>
                  <a:pt x="658368" y="694729"/>
                  <a:pt x="658368" y="658368"/>
                </a:cubicBezTo>
                <a:lnTo>
                  <a:pt x="658368" y="230429"/>
                </a:lnTo>
                <a:close/>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Dockerfile</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receta: qué instalar y qué copiar.</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ttings"/>
          <p:cNvSpPr/>
          <p:nvPr/>
        </p:nvSpPr>
        <p:spPr>
          <a:xfrm>
            <a:off x="4330027" y="2901391"/>
            <a:ext cx="790042" cy="790042"/>
          </a:xfrm>
          <a:custGeom>
            <a:avLst/>
            <a:gdLst/>
            <a:ahLst/>
            <a:cxnLst/>
            <a:rect l="l" t="t" r="r" b="b"/>
            <a:pathLst>
              <a:path w="790042" h="790042">
                <a:moveTo>
                  <a:pt x="402263" y="65837"/>
                </a:moveTo>
                <a:lnTo>
                  <a:pt x="387779" y="65837"/>
                </a:lnTo>
                <a:cubicBezTo>
                  <a:pt x="351418" y="65837"/>
                  <a:pt x="321942" y="95313"/>
                  <a:pt x="321942" y="131674"/>
                </a:cubicBezTo>
                <a:lnTo>
                  <a:pt x="321942" y="137599"/>
                </a:lnTo>
                <a:cubicBezTo>
                  <a:pt x="321918" y="161096"/>
                  <a:pt x="309373" y="182799"/>
                  <a:pt x="289024" y="194548"/>
                </a:cubicBezTo>
                <a:lnTo>
                  <a:pt x="274869" y="202777"/>
                </a:lnTo>
                <a:cubicBezTo>
                  <a:pt x="254499" y="214538"/>
                  <a:pt x="229402" y="214538"/>
                  <a:pt x="209032" y="202777"/>
                </a:cubicBezTo>
                <a:lnTo>
                  <a:pt x="204094" y="200144"/>
                </a:lnTo>
                <a:cubicBezTo>
                  <a:pt x="172638" y="181998"/>
                  <a:pt x="132428" y="192750"/>
                  <a:pt x="114227" y="224174"/>
                </a:cubicBezTo>
                <a:lnTo>
                  <a:pt x="106985" y="236683"/>
                </a:lnTo>
                <a:cubicBezTo>
                  <a:pt x="88839" y="268140"/>
                  <a:pt x="99591" y="308349"/>
                  <a:pt x="131015" y="326551"/>
                </a:cubicBezTo>
                <a:lnTo>
                  <a:pt x="135953" y="329842"/>
                </a:lnTo>
                <a:cubicBezTo>
                  <a:pt x="156201" y="341532"/>
                  <a:pt x="168730" y="363083"/>
                  <a:pt x="168871" y="386462"/>
                </a:cubicBezTo>
                <a:lnTo>
                  <a:pt x="168871" y="403250"/>
                </a:lnTo>
                <a:cubicBezTo>
                  <a:pt x="168965" y="426865"/>
                  <a:pt x="156404" y="448721"/>
                  <a:pt x="135953" y="460528"/>
                </a:cubicBezTo>
                <a:lnTo>
                  <a:pt x="131015" y="463491"/>
                </a:lnTo>
                <a:cubicBezTo>
                  <a:pt x="99591" y="481693"/>
                  <a:pt x="88839" y="521902"/>
                  <a:pt x="106985" y="553358"/>
                </a:cubicBezTo>
                <a:lnTo>
                  <a:pt x="114227" y="565867"/>
                </a:lnTo>
                <a:cubicBezTo>
                  <a:pt x="132428" y="597292"/>
                  <a:pt x="172638" y="608043"/>
                  <a:pt x="204094" y="589898"/>
                </a:cubicBezTo>
                <a:lnTo>
                  <a:pt x="209032" y="587264"/>
                </a:lnTo>
                <a:cubicBezTo>
                  <a:pt x="229402" y="575504"/>
                  <a:pt x="254499" y="575504"/>
                  <a:pt x="274869" y="587264"/>
                </a:cubicBezTo>
                <a:lnTo>
                  <a:pt x="289024" y="595494"/>
                </a:lnTo>
                <a:cubicBezTo>
                  <a:pt x="309373" y="607242"/>
                  <a:pt x="321918" y="628946"/>
                  <a:pt x="321942" y="652443"/>
                </a:cubicBezTo>
                <a:lnTo>
                  <a:pt x="321942" y="658368"/>
                </a:lnTo>
                <a:cubicBezTo>
                  <a:pt x="321942" y="694729"/>
                  <a:pt x="351418" y="724205"/>
                  <a:pt x="387779" y="724205"/>
                </a:cubicBezTo>
                <a:lnTo>
                  <a:pt x="402263" y="724205"/>
                </a:lnTo>
                <a:cubicBezTo>
                  <a:pt x="438624" y="724205"/>
                  <a:pt x="468100" y="694729"/>
                  <a:pt x="468100" y="658368"/>
                </a:cubicBezTo>
                <a:lnTo>
                  <a:pt x="468100" y="652443"/>
                </a:lnTo>
                <a:cubicBezTo>
                  <a:pt x="468124" y="628946"/>
                  <a:pt x="480669" y="607242"/>
                  <a:pt x="501018" y="595494"/>
                </a:cubicBezTo>
                <a:lnTo>
                  <a:pt x="515173" y="587264"/>
                </a:lnTo>
                <a:cubicBezTo>
                  <a:pt x="535543" y="575504"/>
                  <a:pt x="560640" y="575504"/>
                  <a:pt x="581010" y="587264"/>
                </a:cubicBezTo>
                <a:lnTo>
                  <a:pt x="585948" y="589898"/>
                </a:lnTo>
                <a:cubicBezTo>
                  <a:pt x="617404" y="608043"/>
                  <a:pt x="657613" y="597292"/>
                  <a:pt x="675815" y="565867"/>
                </a:cubicBezTo>
                <a:lnTo>
                  <a:pt x="683057" y="553029"/>
                </a:lnTo>
                <a:cubicBezTo>
                  <a:pt x="701203" y="521573"/>
                  <a:pt x="690451" y="481363"/>
                  <a:pt x="659026" y="463162"/>
                </a:cubicBezTo>
                <a:lnTo>
                  <a:pt x="654089" y="460528"/>
                </a:lnTo>
                <a:cubicBezTo>
                  <a:pt x="633637" y="448721"/>
                  <a:pt x="621076" y="426865"/>
                  <a:pt x="621170" y="403250"/>
                </a:cubicBezTo>
                <a:lnTo>
                  <a:pt x="621170" y="386791"/>
                </a:lnTo>
                <a:cubicBezTo>
                  <a:pt x="621076" y="363177"/>
                  <a:pt x="633637" y="341320"/>
                  <a:pt x="654089" y="329513"/>
                </a:cubicBezTo>
                <a:lnTo>
                  <a:pt x="659026" y="326551"/>
                </a:lnTo>
                <a:cubicBezTo>
                  <a:pt x="690451" y="308349"/>
                  <a:pt x="701203" y="268140"/>
                  <a:pt x="683057" y="236683"/>
                </a:cubicBezTo>
                <a:lnTo>
                  <a:pt x="675815" y="224174"/>
                </a:lnTo>
                <a:cubicBezTo>
                  <a:pt x="657613" y="192750"/>
                  <a:pt x="617404" y="181998"/>
                  <a:pt x="585948" y="200144"/>
                </a:cubicBezTo>
                <a:lnTo>
                  <a:pt x="581010" y="202777"/>
                </a:lnTo>
                <a:cubicBezTo>
                  <a:pt x="560640" y="214538"/>
                  <a:pt x="535543" y="214538"/>
                  <a:pt x="515173" y="202777"/>
                </a:cubicBezTo>
                <a:lnTo>
                  <a:pt x="501018" y="194548"/>
                </a:lnTo>
                <a:cubicBezTo>
                  <a:pt x="480669" y="182799"/>
                  <a:pt x="468124" y="161096"/>
                  <a:pt x="468100" y="137599"/>
                </a:cubicBezTo>
                <a:lnTo>
                  <a:pt x="468100" y="131674"/>
                </a:lnTo>
                <a:cubicBezTo>
                  <a:pt x="468100" y="95313"/>
                  <a:pt x="438624" y="65837"/>
                  <a:pt x="402263" y="65837"/>
                </a:cubicBezTo>
                <a:close/>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Etapa build</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Compila el JAR con Maven.</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package"/>
          <p:cNvSpPr/>
          <p:nvPr/>
        </p:nvSpPr>
        <p:spPr>
          <a:xfrm>
            <a:off x="70716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Imagen</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Java y el JAR: más liviana.</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ontainer"/>
          <p:cNvSpPr/>
          <p:nvPr/>
        </p:nvSpPr>
        <p:spPr>
          <a:xfrm>
            <a:off x="9813226" y="2901391"/>
            <a:ext cx="790042" cy="790042"/>
          </a:xfrm>
          <a:custGeom>
            <a:avLst/>
            <a:gdLst/>
            <a:ahLst/>
            <a:cxnLst/>
            <a:rect l="l" t="t" r="r" b="b"/>
            <a:pathLst>
              <a:path w="790042" h="790042">
                <a:moveTo>
                  <a:pt x="724205" y="253472"/>
                </a:moveTo>
                <a:cubicBezTo>
                  <a:pt x="724205" y="233721"/>
                  <a:pt x="711037" y="213970"/>
                  <a:pt x="697870" y="204094"/>
                </a:cubicBezTo>
                <a:lnTo>
                  <a:pt x="490484" y="75712"/>
                </a:lnTo>
                <a:cubicBezTo>
                  <a:pt x="473134" y="65850"/>
                  <a:pt x="451873" y="65850"/>
                  <a:pt x="434523" y="75712"/>
                </a:cubicBezTo>
                <a:lnTo>
                  <a:pt x="95463" y="273223"/>
                </a:lnTo>
                <a:cubicBezTo>
                  <a:pt x="79004" y="279806"/>
                  <a:pt x="65837" y="299557"/>
                  <a:pt x="65837" y="319308"/>
                </a:cubicBezTo>
                <a:lnTo>
                  <a:pt x="65837" y="536570"/>
                </a:lnTo>
                <a:cubicBezTo>
                  <a:pt x="65837" y="553029"/>
                  <a:pt x="79004" y="576072"/>
                  <a:pt x="92172" y="585948"/>
                </a:cubicBezTo>
                <a:lnTo>
                  <a:pt x="299557" y="714329"/>
                </a:lnTo>
                <a:cubicBezTo>
                  <a:pt x="316908" y="724192"/>
                  <a:pt x="338169" y="724192"/>
                  <a:pt x="355519" y="714329"/>
                </a:cubicBezTo>
                <a:lnTo>
                  <a:pt x="694578" y="516819"/>
                </a:lnTo>
                <a:cubicBezTo>
                  <a:pt x="711037" y="506943"/>
                  <a:pt x="724205" y="483900"/>
                  <a:pt x="724205" y="467441"/>
                </a:cubicBezTo>
                <a:close/>
                <a:moveTo>
                  <a:pt x="329184" y="720913"/>
                </a:moveTo>
                <a:lnTo>
                  <a:pt x="329184" y="460858"/>
                </a:lnTo>
                <a:lnTo>
                  <a:pt x="69129" y="299557"/>
                </a:lnTo>
                <a:moveTo>
                  <a:pt x="329184" y="460858"/>
                </a:moveTo>
                <a:lnTo>
                  <a:pt x="720913" y="233721"/>
                </a:lnTo>
                <a:moveTo>
                  <a:pt x="460858" y="651784"/>
                </a:moveTo>
                <a:lnTo>
                  <a:pt x="460858" y="385145"/>
                </a:lnTo>
                <a:moveTo>
                  <a:pt x="592531" y="576072"/>
                </a:moveTo>
                <a:lnTo>
                  <a:pt x="592531" y="309433"/>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Contenedor</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Corre con un usuario sin privilegios.</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 el sistema con un comando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Ocho contenedores, una red y la configuración por variables de entorno.</a:t>
            </a:r>
            <a:endParaRPr lang="en-US" sz="1700" dirty="0"/>
          </a:p>
        </p:txBody>
      </p:sp>
      <p:sp>
        <p:nvSpPr>
          <p:cNvPr id="13" name="Shape 11"/>
          <p:cNvSpPr/>
          <p:nvPr/>
        </p:nvSpPr>
        <p:spPr>
          <a:xfrm>
            <a:off x="612648" y="1719072"/>
            <a:ext cx="10966399" cy="566928"/>
          </a:xfrm>
          <a:prstGeom prst="roundRect">
            <a:avLst>
              <a:gd name="adj" fmla="val 16129"/>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4" name="Icono terminal"/>
          <p:cNvSpPr/>
          <p:nvPr/>
        </p:nvSpPr>
        <p:spPr>
          <a:xfrm>
            <a:off x="813816" y="1856232"/>
            <a:ext cx="292608" cy="292608"/>
          </a:xfrm>
          <a:custGeom>
            <a:avLst/>
            <a:gdLst/>
            <a:ahLst/>
            <a:cxnLst/>
            <a:rect l="l" t="t" r="r" b="b"/>
            <a:pathLst>
              <a:path w="292608" h="292608">
                <a:moveTo>
                  <a:pt x="48768" y="207264"/>
                </a:moveTo>
                <a:lnTo>
                  <a:pt x="121920" y="134112"/>
                </a:lnTo>
                <a:lnTo>
                  <a:pt x="48768" y="60960"/>
                </a:lnTo>
                <a:moveTo>
                  <a:pt x="146304" y="231648"/>
                </a:moveTo>
                <a:lnTo>
                  <a:pt x="243840" y="231648"/>
                </a:lnTo>
              </a:path>
            </a:pathLst>
          </a:custGeom>
          <a:noFill/>
          <a:ln w="24384" cap="rnd">
            <a:solidFill>
              <a:srgbClr val="2BA6CB"/>
            </a:solidFill>
            <a:prstDash val="solid"/>
            <a:round/>
          </a:ln>
        </p:spPr>
      </p:sp>
      <p:sp>
        <p:nvSpPr>
          <p:cNvPr id="15" name="Text 13"/>
          <p:cNvSpPr/>
          <p:nvPr/>
        </p:nvSpPr>
        <p:spPr>
          <a:xfrm>
            <a:off x="1252728" y="1719072"/>
            <a:ext cx="10143439" cy="566928"/>
          </a:xfrm>
          <a:prstGeom prst="rect">
            <a:avLst/>
          </a:prstGeom>
          <a:noFill/>
          <a:ln/>
        </p:spPr>
        <p:txBody>
          <a:bodyPr wrap="square" lIns="0" tIns="0" rIns="0" bIns="0" rtlCol="0" anchor="ctr"/>
          <a:lstStyle/>
          <a:p>
            <a:pPr indent="0" marL="0">
              <a:buNone/>
            </a:pPr>
            <a:r>
              <a:rPr lang="en-US" sz="1800" b="1" dirty="0">
                <a:solidFill>
                  <a:srgbClr val="2BA6CB"/>
                </a:solidFill>
                <a:latin typeface="Consolas" pitchFamily="34" charset="0"/>
                <a:ea typeface="Consolas" pitchFamily="34" charset="-122"/>
                <a:cs typeface="Consolas" pitchFamily="34" charset="-120"/>
              </a:rPr>
              <a:t>$ </a:t>
            </a:r>
            <a:pPr indent="0" marL="0">
              <a:buNone/>
            </a:pPr>
            <a:r>
              <a:rPr lang="en-US" sz="1800" b="1" dirty="0">
                <a:solidFill>
                  <a:srgbClr val="FFFFFF"/>
                </a:solidFill>
                <a:latin typeface="Consolas" pitchFamily="34" charset="0"/>
                <a:ea typeface="Consolas" pitchFamily="34" charset="-122"/>
                <a:cs typeface="Consolas" pitchFamily="34" charset="-120"/>
              </a:rPr>
              <a:t>docker compose up --build -d</a:t>
            </a:r>
            <a:endParaRPr lang="en-US" sz="1800" dirty="0"/>
          </a:p>
        </p:txBody>
      </p:sp>
      <p:sp>
        <p:nvSpPr>
          <p:cNvPr id="16" name="Shape 14"/>
          <p:cNvSpPr/>
          <p:nvPr/>
        </p:nvSpPr>
        <p:spPr>
          <a:xfrm>
            <a:off x="61264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7" name="Shape 15"/>
          <p:cNvSpPr/>
          <p:nvPr/>
        </p:nvSpPr>
        <p:spPr>
          <a:xfrm>
            <a:off x="612648" y="2624328"/>
            <a:ext cx="64008" cy="1581912"/>
          </a:xfrm>
          <a:prstGeom prst="rect">
            <a:avLst/>
          </a:prstGeom>
          <a:solidFill>
            <a:srgbClr val="5B3FC4"/>
          </a:solidFill>
          <a:ln w="12700">
            <a:solidFill>
              <a:srgbClr val="5B3FC4"/>
            </a:solidFill>
            <a:prstDash val="solid"/>
          </a:ln>
        </p:spPr>
      </p:sp>
      <p:sp>
        <p:nvSpPr>
          <p:cNvPr id="18" name="Shape 16"/>
          <p:cNvSpPr/>
          <p:nvPr/>
        </p:nvSpPr>
        <p:spPr>
          <a:xfrm>
            <a:off x="813816" y="2679192"/>
            <a:ext cx="676656" cy="676656"/>
          </a:xfrm>
          <a:prstGeom prst="ellipse">
            <a:avLst/>
          </a:prstGeom>
          <a:solidFill>
            <a:srgbClr val="F1EEFD"/>
          </a:solidFill>
          <a:ln w="12700">
            <a:solidFill>
              <a:srgbClr val="F1EEFD"/>
            </a:solidFill>
            <a:prstDash val="solid"/>
          </a:ln>
        </p:spPr>
      </p:sp>
      <p:sp>
        <p:nvSpPr>
          <p:cNvPr id="19" name="Icono monitor"/>
          <p:cNvSpPr/>
          <p:nvPr/>
        </p:nvSpPr>
        <p:spPr>
          <a:xfrm>
            <a:off x="976213" y="2841589"/>
            <a:ext cx="351861" cy="351861"/>
          </a:xfrm>
          <a:custGeom>
            <a:avLst/>
            <a:gdLst/>
            <a:ahLst/>
            <a:cxnLst/>
            <a:rect l="l" t="t" r="r" b="b"/>
            <a:pathLst>
              <a:path w="351861" h="351861">
                <a:moveTo>
                  <a:pt x="58644" y="43983"/>
                </a:moveTo>
                <a:lnTo>
                  <a:pt x="293218" y="43983"/>
                </a:lnTo>
                <a:cubicBezTo>
                  <a:pt x="309412" y="43983"/>
                  <a:pt x="322539" y="57110"/>
                  <a:pt x="322539" y="73304"/>
                </a:cubicBezTo>
                <a:lnTo>
                  <a:pt x="322539" y="219913"/>
                </a:lnTo>
                <a:cubicBezTo>
                  <a:pt x="322539" y="236107"/>
                  <a:pt x="309412" y="249235"/>
                  <a:pt x="293218" y="249235"/>
                </a:cubicBezTo>
                <a:lnTo>
                  <a:pt x="58644" y="249235"/>
                </a:lnTo>
                <a:cubicBezTo>
                  <a:pt x="42450" y="249235"/>
                  <a:pt x="29322" y="236107"/>
                  <a:pt x="29322" y="219913"/>
                </a:cubicBezTo>
                <a:lnTo>
                  <a:pt x="29322" y="73304"/>
                </a:lnTo>
                <a:cubicBezTo>
                  <a:pt x="29322" y="57110"/>
                  <a:pt x="42450" y="43983"/>
                  <a:pt x="58644" y="43983"/>
                </a:cubicBezTo>
                <a:close/>
                <a:moveTo>
                  <a:pt x="117287" y="307878"/>
                </a:moveTo>
                <a:lnTo>
                  <a:pt x="234574" y="307878"/>
                </a:lnTo>
                <a:moveTo>
                  <a:pt x="175931" y="249235"/>
                </a:moveTo>
                <a:lnTo>
                  <a:pt x="175931" y="307878"/>
                </a:lnTo>
              </a:path>
            </a:pathLst>
          </a:custGeom>
          <a:noFill/>
          <a:ln w="29322" cap="rnd">
            <a:solidFill>
              <a:srgbClr val="5B3FC4"/>
            </a:solidFill>
            <a:prstDash val="solid"/>
            <a:round/>
          </a:ln>
        </p:spPr>
      </p:sp>
      <p:sp>
        <p:nvSpPr>
          <p:cNvPr id="20" name="Text 18"/>
          <p:cNvSpPr/>
          <p:nvPr/>
        </p:nvSpPr>
        <p:spPr>
          <a:xfrm>
            <a:off x="1636776" y="2679192"/>
            <a:ext cx="1443152" cy="676656"/>
          </a:xfrm>
          <a:prstGeom prst="rect">
            <a:avLst/>
          </a:prstGeom>
          <a:noFill/>
          <a:ln/>
        </p:spPr>
        <p:txBody>
          <a:bodyPr wrap="square" lIns="0" tIns="0" rIns="0" bIns="0" rtlCol="0" anchor="ctr">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arka-lite-ui</a:t>
            </a:r>
            <a:endParaRPr lang="en-US" sz="1600" dirty="0"/>
          </a:p>
        </p:txBody>
      </p:sp>
      <p:sp>
        <p:nvSpPr>
          <p:cNvPr id="21" name="Text 19"/>
          <p:cNvSpPr/>
          <p:nvPr/>
        </p:nvSpPr>
        <p:spPr>
          <a:xfrm>
            <a:off x="86868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:8088 · la interfaz y su proxy</a:t>
            </a:r>
            <a:endParaRPr lang="en-US" sz="1600" dirty="0"/>
          </a:p>
        </p:txBody>
      </p:sp>
      <p:sp>
        <p:nvSpPr>
          <p:cNvPr id="22" name="Shape 20"/>
          <p:cNvSpPr/>
          <p:nvPr/>
        </p:nvSpPr>
        <p:spPr>
          <a:xfrm>
            <a:off x="339996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3399968" y="2624328"/>
            <a:ext cx="64008" cy="1581912"/>
          </a:xfrm>
          <a:prstGeom prst="rect">
            <a:avLst/>
          </a:prstGeom>
          <a:solidFill>
            <a:srgbClr val="0B2350"/>
          </a:solidFill>
          <a:ln w="12700">
            <a:solidFill>
              <a:srgbClr val="0B2350"/>
            </a:solidFill>
            <a:prstDash val="solid"/>
          </a:ln>
        </p:spPr>
      </p:sp>
      <p:sp>
        <p:nvSpPr>
          <p:cNvPr id="24" name="Shape 22"/>
          <p:cNvSpPr/>
          <p:nvPr/>
        </p:nvSpPr>
        <p:spPr>
          <a:xfrm>
            <a:off x="3601136" y="2679192"/>
            <a:ext cx="676656" cy="676656"/>
          </a:xfrm>
          <a:prstGeom prst="ellipse">
            <a:avLst/>
          </a:prstGeom>
          <a:solidFill>
            <a:srgbClr val="E8EEF8"/>
          </a:solidFill>
          <a:ln w="12700">
            <a:solidFill>
              <a:srgbClr val="E8EEF8"/>
            </a:solidFill>
            <a:prstDash val="solid"/>
          </a:ln>
        </p:spPr>
      </p:sp>
      <p:sp>
        <p:nvSpPr>
          <p:cNvPr id="25" name="Icono clipboard-list"/>
          <p:cNvSpPr/>
          <p:nvPr/>
        </p:nvSpPr>
        <p:spPr>
          <a:xfrm>
            <a:off x="3763533" y="2841589"/>
            <a:ext cx="351861" cy="351861"/>
          </a:xfrm>
          <a:custGeom>
            <a:avLst/>
            <a:gdLst/>
            <a:ahLst/>
            <a:cxnLst/>
            <a:rect l="l" t="t" r="r" b="b"/>
            <a:pathLst>
              <a:path w="351861" h="351861">
                <a:moveTo>
                  <a:pt x="131948" y="29322"/>
                </a:moveTo>
                <a:lnTo>
                  <a:pt x="219913" y="29322"/>
                </a:lnTo>
                <a:cubicBezTo>
                  <a:pt x="228010" y="29322"/>
                  <a:pt x="234574" y="35886"/>
                  <a:pt x="234574" y="43983"/>
                </a:cubicBezTo>
                <a:lnTo>
                  <a:pt x="234574" y="73304"/>
                </a:lnTo>
                <a:cubicBezTo>
                  <a:pt x="234574" y="81401"/>
                  <a:pt x="228010" y="87965"/>
                  <a:pt x="219913" y="87965"/>
                </a:cubicBezTo>
                <a:lnTo>
                  <a:pt x="131948" y="87965"/>
                </a:lnTo>
                <a:cubicBezTo>
                  <a:pt x="123851" y="87965"/>
                  <a:pt x="117287" y="81401"/>
                  <a:pt x="117287" y="73304"/>
                </a:cubicBezTo>
                <a:lnTo>
                  <a:pt x="117287" y="43983"/>
                </a:lnTo>
                <a:cubicBezTo>
                  <a:pt x="117287" y="35886"/>
                  <a:pt x="123851" y="29322"/>
                  <a:pt x="131948" y="29322"/>
                </a:cubicBezTo>
                <a:close/>
                <a:moveTo>
                  <a:pt x="234574" y="58644"/>
                </a:moveTo>
                <a:lnTo>
                  <a:pt x="263896" y="58644"/>
                </a:lnTo>
                <a:cubicBezTo>
                  <a:pt x="280090" y="58644"/>
                  <a:pt x="293218" y="71771"/>
                  <a:pt x="293218" y="87965"/>
                </a:cubicBezTo>
                <a:lnTo>
                  <a:pt x="293218" y="293218"/>
                </a:lnTo>
                <a:cubicBezTo>
                  <a:pt x="293218" y="309412"/>
                  <a:pt x="280090" y="322539"/>
                  <a:pt x="263896" y="322539"/>
                </a:cubicBezTo>
                <a:lnTo>
                  <a:pt x="87965" y="322539"/>
                </a:lnTo>
                <a:cubicBezTo>
                  <a:pt x="71771" y="322539"/>
                  <a:pt x="58644" y="309412"/>
                  <a:pt x="58644" y="293218"/>
                </a:cubicBezTo>
                <a:lnTo>
                  <a:pt x="58644" y="87965"/>
                </a:lnTo>
                <a:cubicBezTo>
                  <a:pt x="58644" y="71771"/>
                  <a:pt x="71771" y="58644"/>
                  <a:pt x="87965" y="58644"/>
                </a:cubicBezTo>
                <a:lnTo>
                  <a:pt x="117287" y="58644"/>
                </a:lnTo>
                <a:moveTo>
                  <a:pt x="175931" y="161270"/>
                </a:moveTo>
                <a:lnTo>
                  <a:pt x="234574" y="161270"/>
                </a:lnTo>
                <a:moveTo>
                  <a:pt x="175931" y="234574"/>
                </a:moveTo>
                <a:lnTo>
                  <a:pt x="234574" y="234574"/>
                </a:lnTo>
                <a:moveTo>
                  <a:pt x="117287" y="161270"/>
                </a:moveTo>
                <a:lnTo>
                  <a:pt x="117434" y="161270"/>
                </a:lnTo>
                <a:moveTo>
                  <a:pt x="117287" y="234574"/>
                </a:moveTo>
                <a:lnTo>
                  <a:pt x="117434" y="234574"/>
                </a:lnTo>
              </a:path>
            </a:pathLst>
          </a:custGeom>
          <a:noFill/>
          <a:ln w="29322" cap="rnd">
            <a:solidFill>
              <a:srgbClr val="0B2350"/>
            </a:solidFill>
            <a:prstDash val="solid"/>
            <a:round/>
          </a:ln>
        </p:spPr>
      </p:sp>
      <p:sp>
        <p:nvSpPr>
          <p:cNvPr id="26" name="Text 24"/>
          <p:cNvSpPr/>
          <p:nvPr/>
        </p:nvSpPr>
        <p:spPr>
          <a:xfrm>
            <a:off x="4424096" y="2679192"/>
            <a:ext cx="1443152" cy="676656"/>
          </a:xfrm>
          <a:prstGeom prst="rect">
            <a:avLst/>
          </a:prstGeom>
          <a:noFill/>
          <a:ln/>
        </p:spPr>
        <p:txBody>
          <a:bodyPr wrap="square" lIns="0" tIns="0" rIns="0" bIns="0" rtlCol="0" anchor="ctr">
            <a:normAutofit/>
          </a:bodyPr>
          <a:lstStyle/>
          <a:p>
            <a:pPr algn="l" indent="0" marL="0">
              <a:buNone/>
            </a:pPr>
            <a:r>
              <a:rPr lang="en-US" sz="950" b="1" dirty="0">
                <a:solidFill>
                  <a:srgbClr val="0B2350"/>
                </a:solidFill>
                <a:latin typeface="Segoe UI Semibold" pitchFamily="34" charset="0"/>
                <a:ea typeface="Segoe UI Semibold" pitchFamily="34" charset="-122"/>
                <a:cs typeface="Segoe UI Semibold" pitchFamily="34" charset="-120"/>
              </a:rPr>
              <a:t>servicio-solicitudes</a:t>
            </a:r>
            <a:endParaRPr lang="en-US" sz="950" dirty="0"/>
          </a:p>
        </p:txBody>
      </p:sp>
      <p:sp>
        <p:nvSpPr>
          <p:cNvPr id="27" name="Text 25"/>
          <p:cNvSpPr/>
          <p:nvPr/>
        </p:nvSpPr>
        <p:spPr>
          <a:xfrm>
            <a:off x="365600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:8080 · el trámite</a:t>
            </a:r>
            <a:endParaRPr lang="en-US" sz="1600" dirty="0"/>
          </a:p>
        </p:txBody>
      </p:sp>
      <p:sp>
        <p:nvSpPr>
          <p:cNvPr id="28" name="Shape 26"/>
          <p:cNvSpPr/>
          <p:nvPr/>
        </p:nvSpPr>
        <p:spPr>
          <a:xfrm>
            <a:off x="618728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Shape 27"/>
          <p:cNvSpPr/>
          <p:nvPr/>
        </p:nvSpPr>
        <p:spPr>
          <a:xfrm>
            <a:off x="6187288" y="2624328"/>
            <a:ext cx="64008" cy="1581912"/>
          </a:xfrm>
          <a:prstGeom prst="rect">
            <a:avLst/>
          </a:prstGeom>
          <a:solidFill>
            <a:srgbClr val="0B6E8A"/>
          </a:solidFill>
          <a:ln w="12700">
            <a:solidFill>
              <a:srgbClr val="0B6E8A"/>
            </a:solidFill>
            <a:prstDash val="solid"/>
          </a:ln>
        </p:spPr>
      </p:sp>
      <p:sp>
        <p:nvSpPr>
          <p:cNvPr id="30" name="Shape 28"/>
          <p:cNvSpPr/>
          <p:nvPr/>
        </p:nvSpPr>
        <p:spPr>
          <a:xfrm>
            <a:off x="6388456" y="2679192"/>
            <a:ext cx="676656" cy="676656"/>
          </a:xfrm>
          <a:prstGeom prst="ellipse">
            <a:avLst/>
          </a:prstGeom>
          <a:solidFill>
            <a:srgbClr val="E3F4FA"/>
          </a:solidFill>
          <a:ln w="12700">
            <a:solidFill>
              <a:srgbClr val="E3F4FA"/>
            </a:solidFill>
            <a:prstDash val="solid"/>
          </a:ln>
        </p:spPr>
      </p:sp>
      <p:sp>
        <p:nvSpPr>
          <p:cNvPr id="31" name="Icono bell"/>
          <p:cNvSpPr/>
          <p:nvPr/>
        </p:nvSpPr>
        <p:spPr>
          <a:xfrm>
            <a:off x="6550853" y="2841589"/>
            <a:ext cx="351861" cy="351861"/>
          </a:xfrm>
          <a:custGeom>
            <a:avLst/>
            <a:gdLst/>
            <a:ahLst/>
            <a:cxnLst/>
            <a:rect l="l" t="t" r="r" b="b"/>
            <a:pathLst>
              <a:path w="351861" h="351861">
                <a:moveTo>
                  <a:pt x="150538" y="307878"/>
                </a:moveTo>
                <a:cubicBezTo>
                  <a:pt x="155776" y="316950"/>
                  <a:pt x="165455" y="322538"/>
                  <a:pt x="175931" y="322538"/>
                </a:cubicBezTo>
                <a:cubicBezTo>
                  <a:pt x="186406" y="322538"/>
                  <a:pt x="196085" y="316950"/>
                  <a:pt x="201323" y="307878"/>
                </a:cubicBezTo>
                <a:moveTo>
                  <a:pt x="47824" y="224693"/>
                </a:moveTo>
                <a:cubicBezTo>
                  <a:pt x="43911" y="228982"/>
                  <a:pt x="42897" y="235176"/>
                  <a:pt x="45239" y="240488"/>
                </a:cubicBezTo>
                <a:cubicBezTo>
                  <a:pt x="47581" y="245801"/>
                  <a:pt x="52838" y="249231"/>
                  <a:pt x="58644" y="249235"/>
                </a:cubicBezTo>
                <a:lnTo>
                  <a:pt x="293218" y="249235"/>
                </a:lnTo>
                <a:cubicBezTo>
                  <a:pt x="299023" y="249237"/>
                  <a:pt x="304282" y="245814"/>
                  <a:pt x="306631" y="240505"/>
                </a:cubicBezTo>
                <a:cubicBezTo>
                  <a:pt x="308979" y="235196"/>
                  <a:pt x="307974" y="229001"/>
                  <a:pt x="304067" y="224707"/>
                </a:cubicBezTo>
                <a:cubicBezTo>
                  <a:pt x="284568" y="204607"/>
                  <a:pt x="263896" y="183246"/>
                  <a:pt x="263896" y="117287"/>
                </a:cubicBezTo>
                <a:cubicBezTo>
                  <a:pt x="263896" y="68705"/>
                  <a:pt x="224512" y="29322"/>
                  <a:pt x="175931" y="29322"/>
                </a:cubicBezTo>
                <a:cubicBezTo>
                  <a:pt x="127349" y="29322"/>
                  <a:pt x="87965" y="68705"/>
                  <a:pt x="87965" y="117287"/>
                </a:cubicBezTo>
                <a:cubicBezTo>
                  <a:pt x="87965" y="183246"/>
                  <a:pt x="67279" y="204607"/>
                  <a:pt x="47824" y="224693"/>
                </a:cubicBezTo>
              </a:path>
            </a:pathLst>
          </a:custGeom>
          <a:noFill/>
          <a:ln w="29322" cap="rnd">
            <a:solidFill>
              <a:srgbClr val="0B6E8A"/>
            </a:solidFill>
            <a:prstDash val="solid"/>
            <a:round/>
          </a:ln>
        </p:spPr>
      </p:sp>
      <p:sp>
        <p:nvSpPr>
          <p:cNvPr id="32" name="Text 30"/>
          <p:cNvSpPr/>
          <p:nvPr/>
        </p:nvSpPr>
        <p:spPr>
          <a:xfrm>
            <a:off x="7211416" y="2679192"/>
            <a:ext cx="1443152" cy="676656"/>
          </a:xfrm>
          <a:prstGeom prst="rect">
            <a:avLst/>
          </a:prstGeom>
          <a:noFill/>
          <a:ln/>
        </p:spPr>
        <p:txBody>
          <a:bodyPr wrap="square" lIns="0" tIns="0" rIns="0" bIns="0" rtlCol="0" anchor="ctr">
            <a:normAutofit/>
          </a:bodyPr>
          <a:lstStyle/>
          <a:p>
            <a:pPr algn="l" indent="0" marL="0">
              <a:buNone/>
            </a:pPr>
            <a:r>
              <a:rPr lang="en-US" sz="850" b="1" dirty="0">
                <a:solidFill>
                  <a:srgbClr val="0B6E8A"/>
                </a:solidFill>
                <a:latin typeface="Segoe UI Semibold" pitchFamily="34" charset="0"/>
                <a:ea typeface="Segoe UI Semibold" pitchFamily="34" charset="-122"/>
                <a:cs typeface="Segoe UI Semibold" pitchFamily="34" charset="-120"/>
              </a:rPr>
              <a:t>servicio-notificaciones</a:t>
            </a:r>
            <a:endParaRPr lang="en-US" sz="850" dirty="0"/>
          </a:p>
        </p:txBody>
      </p:sp>
      <p:sp>
        <p:nvSpPr>
          <p:cNvPr id="33" name="Text 31"/>
          <p:cNvSpPr/>
          <p:nvPr/>
        </p:nvSpPr>
        <p:spPr>
          <a:xfrm>
            <a:off x="644332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:8081 · los avisos</a:t>
            </a:r>
            <a:endParaRPr lang="en-US" sz="1600" dirty="0"/>
          </a:p>
        </p:txBody>
      </p:sp>
      <p:sp>
        <p:nvSpPr>
          <p:cNvPr id="34" name="Shape 32"/>
          <p:cNvSpPr/>
          <p:nvPr/>
        </p:nvSpPr>
        <p:spPr>
          <a:xfrm>
            <a:off x="8974607"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Shape 33"/>
          <p:cNvSpPr/>
          <p:nvPr/>
        </p:nvSpPr>
        <p:spPr>
          <a:xfrm>
            <a:off x="8974607" y="2624328"/>
            <a:ext cx="64008" cy="1581912"/>
          </a:xfrm>
          <a:prstGeom prst="rect">
            <a:avLst/>
          </a:prstGeom>
          <a:solidFill>
            <a:srgbClr val="55627E"/>
          </a:solidFill>
          <a:ln w="12700">
            <a:solidFill>
              <a:srgbClr val="55627E"/>
            </a:solidFill>
            <a:prstDash val="solid"/>
          </a:ln>
        </p:spPr>
      </p:sp>
      <p:sp>
        <p:nvSpPr>
          <p:cNvPr id="36" name="Shape 34"/>
          <p:cNvSpPr/>
          <p:nvPr/>
        </p:nvSpPr>
        <p:spPr>
          <a:xfrm>
            <a:off x="9175775" y="2679192"/>
            <a:ext cx="676656" cy="676656"/>
          </a:xfrm>
          <a:prstGeom prst="ellipse">
            <a:avLst/>
          </a:prstGeom>
          <a:solidFill>
            <a:srgbClr val="F4F7FB"/>
          </a:solidFill>
          <a:ln w="12700">
            <a:solidFill>
              <a:srgbClr val="F4F7FB"/>
            </a:solidFill>
            <a:prstDash val="solid"/>
          </a:ln>
        </p:spPr>
      </p:sp>
      <p:sp>
        <p:nvSpPr>
          <p:cNvPr id="37" name="Icono database"/>
          <p:cNvSpPr/>
          <p:nvPr/>
        </p:nvSpPr>
        <p:spPr>
          <a:xfrm>
            <a:off x="9338173" y="2841589"/>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38" name="Text 36"/>
          <p:cNvSpPr/>
          <p:nvPr/>
        </p:nvSpPr>
        <p:spPr>
          <a:xfrm>
            <a:off x="9998735" y="2679192"/>
            <a:ext cx="1443152" cy="676656"/>
          </a:xfrm>
          <a:prstGeom prst="rect">
            <a:avLst/>
          </a:prstGeom>
          <a:noFill/>
          <a:ln/>
        </p:spPr>
        <p:txBody>
          <a:bodyPr wrap="square" lIns="0" tIns="0" rIns="0" bIns="0" rtlCol="0" anchor="ctr">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db-solicitudes</a:t>
            </a:r>
            <a:endParaRPr lang="en-US" sz="1350" dirty="0"/>
          </a:p>
        </p:txBody>
      </p:sp>
      <p:sp>
        <p:nvSpPr>
          <p:cNvPr id="39" name="Text 37"/>
          <p:cNvSpPr/>
          <p:nvPr/>
        </p:nvSpPr>
        <p:spPr>
          <a:xfrm>
            <a:off x="9230639"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solo red interna</a:t>
            </a:r>
            <a:endParaRPr lang="en-US" sz="1600" dirty="0"/>
          </a:p>
        </p:txBody>
      </p:sp>
      <p:sp>
        <p:nvSpPr>
          <p:cNvPr id="40" name="Shape 38"/>
          <p:cNvSpPr/>
          <p:nvPr/>
        </p:nvSpPr>
        <p:spPr>
          <a:xfrm>
            <a:off x="61264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1" name="Shape 39"/>
          <p:cNvSpPr/>
          <p:nvPr/>
        </p:nvSpPr>
        <p:spPr>
          <a:xfrm>
            <a:off x="612648" y="4645152"/>
            <a:ext cx="64008" cy="1581912"/>
          </a:xfrm>
          <a:prstGeom prst="rect">
            <a:avLst/>
          </a:prstGeom>
          <a:solidFill>
            <a:srgbClr val="55627E"/>
          </a:solidFill>
          <a:ln w="12700">
            <a:solidFill>
              <a:srgbClr val="55627E"/>
            </a:solidFill>
            <a:prstDash val="solid"/>
          </a:ln>
        </p:spPr>
      </p:sp>
      <p:sp>
        <p:nvSpPr>
          <p:cNvPr id="42" name="Shape 40"/>
          <p:cNvSpPr/>
          <p:nvPr/>
        </p:nvSpPr>
        <p:spPr>
          <a:xfrm>
            <a:off x="813816" y="4700016"/>
            <a:ext cx="676656" cy="676656"/>
          </a:xfrm>
          <a:prstGeom prst="ellipse">
            <a:avLst/>
          </a:prstGeom>
          <a:solidFill>
            <a:srgbClr val="F4F7FB"/>
          </a:solidFill>
          <a:ln w="12700">
            <a:solidFill>
              <a:srgbClr val="F4F7FB"/>
            </a:solidFill>
            <a:prstDash val="solid"/>
          </a:ln>
        </p:spPr>
      </p:sp>
      <p:sp>
        <p:nvSpPr>
          <p:cNvPr id="43" name="Icono database"/>
          <p:cNvSpPr/>
          <p:nvPr/>
        </p:nvSpPr>
        <p:spPr>
          <a:xfrm>
            <a:off x="976213" y="4862413"/>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44" name="Text 42"/>
          <p:cNvSpPr/>
          <p:nvPr/>
        </p:nvSpPr>
        <p:spPr>
          <a:xfrm>
            <a:off x="1636776" y="4700016"/>
            <a:ext cx="1443152" cy="676656"/>
          </a:xfrm>
          <a:prstGeom prst="rect">
            <a:avLst/>
          </a:prstGeom>
          <a:noFill/>
          <a:ln/>
        </p:spPr>
        <p:txBody>
          <a:bodyPr wrap="square" lIns="0" tIns="0" rIns="0" bIns="0" rtlCol="0" anchor="ctr">
            <a:normAutofit/>
          </a:bodyPr>
          <a:lstStyle/>
          <a:p>
            <a:pPr algn="l" indent="0" marL="0">
              <a:buNone/>
            </a:pPr>
            <a:r>
              <a:rPr lang="en-US" sz="1150" b="1" dirty="0">
                <a:solidFill>
                  <a:srgbClr val="55627E"/>
                </a:solidFill>
                <a:latin typeface="Segoe UI Semibold" pitchFamily="34" charset="0"/>
                <a:ea typeface="Segoe UI Semibold" pitchFamily="34" charset="-122"/>
                <a:cs typeface="Segoe UI Semibold" pitchFamily="34" charset="-120"/>
              </a:rPr>
              <a:t>db-notificaciones</a:t>
            </a:r>
            <a:endParaRPr lang="en-US" sz="1150" dirty="0"/>
          </a:p>
        </p:txBody>
      </p:sp>
      <p:sp>
        <p:nvSpPr>
          <p:cNvPr id="45" name="Text 43"/>
          <p:cNvSpPr/>
          <p:nvPr/>
        </p:nvSpPr>
        <p:spPr>
          <a:xfrm>
            <a:off x="86868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:5433</a:t>
            </a:r>
            <a:endParaRPr lang="en-US" sz="1600" dirty="0"/>
          </a:p>
        </p:txBody>
      </p:sp>
      <p:sp>
        <p:nvSpPr>
          <p:cNvPr id="46" name="Shape 44"/>
          <p:cNvSpPr/>
          <p:nvPr/>
        </p:nvSpPr>
        <p:spPr>
          <a:xfrm>
            <a:off x="339996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Shape 45"/>
          <p:cNvSpPr/>
          <p:nvPr/>
        </p:nvSpPr>
        <p:spPr>
          <a:xfrm>
            <a:off x="3399968" y="4645152"/>
            <a:ext cx="64008" cy="1581912"/>
          </a:xfrm>
          <a:prstGeom prst="rect">
            <a:avLst/>
          </a:prstGeom>
          <a:solidFill>
            <a:srgbClr val="8A4B06"/>
          </a:solidFill>
          <a:ln w="12700">
            <a:solidFill>
              <a:srgbClr val="8A4B06"/>
            </a:solidFill>
            <a:prstDash val="solid"/>
          </a:ln>
        </p:spPr>
      </p:sp>
      <p:sp>
        <p:nvSpPr>
          <p:cNvPr id="48" name="Shape 46"/>
          <p:cNvSpPr/>
          <p:nvPr/>
        </p:nvSpPr>
        <p:spPr>
          <a:xfrm>
            <a:off x="3601136" y="4700016"/>
            <a:ext cx="676656" cy="676656"/>
          </a:xfrm>
          <a:prstGeom prst="ellipse">
            <a:avLst/>
          </a:prstGeom>
          <a:solidFill>
            <a:srgbClr val="FCEFD6"/>
          </a:solidFill>
          <a:ln w="12700">
            <a:solidFill>
              <a:srgbClr val="FCEFD6"/>
            </a:solidFill>
            <a:prstDash val="solid"/>
          </a:ln>
        </p:spPr>
      </p:sp>
      <p:sp>
        <p:nvSpPr>
          <p:cNvPr id="49" name="Icono scan-eye"/>
          <p:cNvSpPr/>
          <p:nvPr/>
        </p:nvSpPr>
        <p:spPr>
          <a:xfrm>
            <a:off x="3763533" y="4862413"/>
            <a:ext cx="351861" cy="351861"/>
          </a:xfrm>
          <a:custGeom>
            <a:avLst/>
            <a:gdLst/>
            <a:ahLst/>
            <a:cxnLst/>
            <a:rect l="l" t="t" r="r" b="b"/>
            <a:pathLst>
              <a:path w="351861" h="351861">
                <a:moveTo>
                  <a:pt x="43983" y="102626"/>
                </a:moveTo>
                <a:lnTo>
                  <a:pt x="43983" y="73304"/>
                </a:lnTo>
                <a:cubicBezTo>
                  <a:pt x="43983" y="57110"/>
                  <a:pt x="57110" y="43983"/>
                  <a:pt x="73304" y="43983"/>
                </a:cubicBezTo>
                <a:lnTo>
                  <a:pt x="102626" y="43983"/>
                </a:lnTo>
                <a:moveTo>
                  <a:pt x="249235" y="43983"/>
                </a:moveTo>
                <a:lnTo>
                  <a:pt x="278557" y="43983"/>
                </a:lnTo>
                <a:cubicBezTo>
                  <a:pt x="294751" y="43983"/>
                  <a:pt x="307878" y="57110"/>
                  <a:pt x="307878" y="73304"/>
                </a:cubicBezTo>
                <a:lnTo>
                  <a:pt x="307878" y="102626"/>
                </a:lnTo>
                <a:moveTo>
                  <a:pt x="307878" y="249235"/>
                </a:moveTo>
                <a:lnTo>
                  <a:pt x="307878" y="278557"/>
                </a:lnTo>
                <a:cubicBezTo>
                  <a:pt x="307878" y="294751"/>
                  <a:pt x="294751" y="307878"/>
                  <a:pt x="278557" y="307878"/>
                </a:cubicBezTo>
                <a:lnTo>
                  <a:pt x="249235" y="307878"/>
                </a:lnTo>
                <a:moveTo>
                  <a:pt x="102626" y="307878"/>
                </a:moveTo>
                <a:lnTo>
                  <a:pt x="73304" y="307878"/>
                </a:lnTo>
                <a:cubicBezTo>
                  <a:pt x="57110" y="307878"/>
                  <a:pt x="43983" y="294751"/>
                  <a:pt x="43983" y="278557"/>
                </a:cubicBezTo>
                <a:lnTo>
                  <a:pt x="43983" y="249235"/>
                </a:lnTo>
                <a:moveTo>
                  <a:pt x="190591" y="175931"/>
                </a:moveTo>
                <a:cubicBezTo>
                  <a:pt x="190591" y="184028"/>
                  <a:pt x="184028" y="190591"/>
                  <a:pt x="175931" y="190591"/>
                </a:cubicBezTo>
                <a:cubicBezTo>
                  <a:pt x="167834" y="190591"/>
                  <a:pt x="161270" y="184028"/>
                  <a:pt x="161270" y="175931"/>
                </a:cubicBezTo>
                <a:cubicBezTo>
                  <a:pt x="161270" y="167834"/>
                  <a:pt x="167834" y="161270"/>
                  <a:pt x="175931" y="161270"/>
                </a:cubicBezTo>
                <a:cubicBezTo>
                  <a:pt x="184028" y="161270"/>
                  <a:pt x="190591" y="167834"/>
                  <a:pt x="190591" y="175931"/>
                </a:cubicBezTo>
                <a:close/>
                <a:moveTo>
                  <a:pt x="277736" y="180769"/>
                </a:moveTo>
                <a:cubicBezTo>
                  <a:pt x="278831" y="177636"/>
                  <a:pt x="278831" y="174225"/>
                  <a:pt x="277736" y="171092"/>
                </a:cubicBezTo>
                <a:cubicBezTo>
                  <a:pt x="260852" y="129722"/>
                  <a:pt x="220613" y="102683"/>
                  <a:pt x="175931" y="102683"/>
                </a:cubicBezTo>
                <a:cubicBezTo>
                  <a:pt x="131248" y="102683"/>
                  <a:pt x="91009" y="129722"/>
                  <a:pt x="74125" y="171092"/>
                </a:cubicBezTo>
                <a:cubicBezTo>
                  <a:pt x="73030" y="174225"/>
                  <a:pt x="73030" y="177636"/>
                  <a:pt x="74125" y="180769"/>
                </a:cubicBezTo>
                <a:cubicBezTo>
                  <a:pt x="91009" y="222139"/>
                  <a:pt x="131248" y="249178"/>
                  <a:pt x="175931" y="249178"/>
                </a:cubicBezTo>
                <a:cubicBezTo>
                  <a:pt x="220613" y="249178"/>
                  <a:pt x="260852" y="222139"/>
                  <a:pt x="277736" y="180769"/>
                </a:cubicBezTo>
              </a:path>
            </a:pathLst>
          </a:custGeom>
          <a:noFill/>
          <a:ln w="29322" cap="rnd">
            <a:solidFill>
              <a:srgbClr val="8A4B06"/>
            </a:solidFill>
            <a:prstDash val="solid"/>
            <a:round/>
          </a:ln>
        </p:spPr>
      </p:sp>
      <p:sp>
        <p:nvSpPr>
          <p:cNvPr id="50" name="Text 48"/>
          <p:cNvSpPr/>
          <p:nvPr/>
        </p:nvSpPr>
        <p:spPr>
          <a:xfrm>
            <a:off x="442409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promtail</a:t>
            </a:r>
            <a:endParaRPr lang="en-US" sz="1800" dirty="0"/>
          </a:p>
        </p:txBody>
      </p:sp>
      <p:sp>
        <p:nvSpPr>
          <p:cNvPr id="51" name="Text 49"/>
          <p:cNvSpPr/>
          <p:nvPr/>
        </p:nvSpPr>
        <p:spPr>
          <a:xfrm>
            <a:off x="365600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recoge los logs</a:t>
            </a:r>
            <a:endParaRPr lang="en-US" sz="1600" dirty="0"/>
          </a:p>
        </p:txBody>
      </p:sp>
      <p:sp>
        <p:nvSpPr>
          <p:cNvPr id="52" name="Shape 50"/>
          <p:cNvSpPr/>
          <p:nvPr/>
        </p:nvSpPr>
        <p:spPr>
          <a:xfrm>
            <a:off x="618728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3" name="Shape 51"/>
          <p:cNvSpPr/>
          <p:nvPr/>
        </p:nvSpPr>
        <p:spPr>
          <a:xfrm>
            <a:off x="6187288" y="4645152"/>
            <a:ext cx="64008" cy="1581912"/>
          </a:xfrm>
          <a:prstGeom prst="rect">
            <a:avLst/>
          </a:prstGeom>
          <a:solidFill>
            <a:srgbClr val="8A4B06"/>
          </a:solidFill>
          <a:ln w="12700">
            <a:solidFill>
              <a:srgbClr val="8A4B06"/>
            </a:solidFill>
            <a:prstDash val="solid"/>
          </a:ln>
        </p:spPr>
      </p:sp>
      <p:sp>
        <p:nvSpPr>
          <p:cNvPr id="54" name="Shape 52"/>
          <p:cNvSpPr/>
          <p:nvPr/>
        </p:nvSpPr>
        <p:spPr>
          <a:xfrm>
            <a:off x="6388456" y="4700016"/>
            <a:ext cx="676656" cy="676656"/>
          </a:xfrm>
          <a:prstGeom prst="ellipse">
            <a:avLst/>
          </a:prstGeom>
          <a:solidFill>
            <a:srgbClr val="FCEFD6"/>
          </a:solidFill>
          <a:ln w="12700">
            <a:solidFill>
              <a:srgbClr val="FCEFD6"/>
            </a:solidFill>
            <a:prstDash val="solid"/>
          </a:ln>
        </p:spPr>
      </p:sp>
      <p:sp>
        <p:nvSpPr>
          <p:cNvPr id="55" name="Icono archive"/>
          <p:cNvSpPr/>
          <p:nvPr/>
        </p:nvSpPr>
        <p:spPr>
          <a:xfrm>
            <a:off x="6550853" y="4862413"/>
            <a:ext cx="351861" cy="351861"/>
          </a:xfrm>
          <a:custGeom>
            <a:avLst/>
            <a:gdLst/>
            <a:ahLst/>
            <a:cxnLst/>
            <a:rect l="l" t="t" r="r" b="b"/>
            <a:pathLst>
              <a:path w="351861" h="351861">
                <a:moveTo>
                  <a:pt x="43983" y="43983"/>
                </a:moveTo>
                <a:lnTo>
                  <a:pt x="307878" y="43983"/>
                </a:lnTo>
                <a:cubicBezTo>
                  <a:pt x="315975" y="43983"/>
                  <a:pt x="322539" y="50547"/>
                  <a:pt x="322539" y="58644"/>
                </a:cubicBezTo>
                <a:lnTo>
                  <a:pt x="322539" y="102626"/>
                </a:lnTo>
                <a:cubicBezTo>
                  <a:pt x="322539" y="110723"/>
                  <a:pt x="315975" y="117287"/>
                  <a:pt x="307878" y="117287"/>
                </a:cubicBezTo>
                <a:lnTo>
                  <a:pt x="43983" y="117287"/>
                </a:lnTo>
                <a:cubicBezTo>
                  <a:pt x="35886" y="117287"/>
                  <a:pt x="29322" y="110723"/>
                  <a:pt x="29322" y="102626"/>
                </a:cubicBezTo>
                <a:lnTo>
                  <a:pt x="29322" y="58644"/>
                </a:lnTo>
                <a:cubicBezTo>
                  <a:pt x="29322" y="50547"/>
                  <a:pt x="35886" y="43983"/>
                  <a:pt x="43983" y="43983"/>
                </a:cubicBezTo>
                <a:close/>
                <a:moveTo>
                  <a:pt x="58644" y="117287"/>
                </a:moveTo>
                <a:lnTo>
                  <a:pt x="58644" y="278557"/>
                </a:lnTo>
                <a:cubicBezTo>
                  <a:pt x="58644" y="294751"/>
                  <a:pt x="71771" y="307878"/>
                  <a:pt x="87965" y="307878"/>
                </a:cubicBezTo>
                <a:lnTo>
                  <a:pt x="263896" y="307878"/>
                </a:lnTo>
                <a:cubicBezTo>
                  <a:pt x="280090" y="307878"/>
                  <a:pt x="293218" y="294751"/>
                  <a:pt x="293218" y="278557"/>
                </a:cubicBezTo>
                <a:lnTo>
                  <a:pt x="293218" y="117287"/>
                </a:lnTo>
                <a:moveTo>
                  <a:pt x="146609" y="175931"/>
                </a:moveTo>
                <a:lnTo>
                  <a:pt x="205252" y="175931"/>
                </a:lnTo>
              </a:path>
            </a:pathLst>
          </a:custGeom>
          <a:noFill/>
          <a:ln w="29322" cap="rnd">
            <a:solidFill>
              <a:srgbClr val="8A4B06"/>
            </a:solidFill>
            <a:prstDash val="solid"/>
            <a:round/>
          </a:ln>
        </p:spPr>
      </p:sp>
      <p:sp>
        <p:nvSpPr>
          <p:cNvPr id="56" name="Text 54"/>
          <p:cNvSpPr/>
          <p:nvPr/>
        </p:nvSpPr>
        <p:spPr>
          <a:xfrm>
            <a:off x="721141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loki</a:t>
            </a:r>
            <a:endParaRPr lang="en-US" sz="1800" dirty="0"/>
          </a:p>
        </p:txBody>
      </p:sp>
      <p:sp>
        <p:nvSpPr>
          <p:cNvPr id="57" name="Text 55"/>
          <p:cNvSpPr/>
          <p:nvPr/>
        </p:nvSpPr>
        <p:spPr>
          <a:xfrm>
            <a:off x="644332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:3100 · guarda los logs</a:t>
            </a:r>
            <a:endParaRPr lang="en-US" sz="1600" dirty="0"/>
          </a:p>
        </p:txBody>
      </p:sp>
      <p:sp>
        <p:nvSpPr>
          <p:cNvPr id="58" name="Shape 56"/>
          <p:cNvSpPr/>
          <p:nvPr/>
        </p:nvSpPr>
        <p:spPr>
          <a:xfrm>
            <a:off x="8974607"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9" name="Shape 57"/>
          <p:cNvSpPr/>
          <p:nvPr/>
        </p:nvSpPr>
        <p:spPr>
          <a:xfrm>
            <a:off x="8974607" y="4645152"/>
            <a:ext cx="64008" cy="1581912"/>
          </a:xfrm>
          <a:prstGeom prst="rect">
            <a:avLst/>
          </a:prstGeom>
          <a:solidFill>
            <a:srgbClr val="8A4B06"/>
          </a:solidFill>
          <a:ln w="12700">
            <a:solidFill>
              <a:srgbClr val="8A4B06"/>
            </a:solidFill>
            <a:prstDash val="solid"/>
          </a:ln>
        </p:spPr>
      </p:sp>
      <p:sp>
        <p:nvSpPr>
          <p:cNvPr id="60" name="Shape 58"/>
          <p:cNvSpPr/>
          <p:nvPr/>
        </p:nvSpPr>
        <p:spPr>
          <a:xfrm>
            <a:off x="9175775" y="4700016"/>
            <a:ext cx="676656" cy="676656"/>
          </a:xfrm>
          <a:prstGeom prst="ellipse">
            <a:avLst/>
          </a:prstGeom>
          <a:solidFill>
            <a:srgbClr val="FCEFD6"/>
          </a:solidFill>
          <a:ln w="12700">
            <a:solidFill>
              <a:srgbClr val="FCEFD6"/>
            </a:solidFill>
            <a:prstDash val="solid"/>
          </a:ln>
        </p:spPr>
      </p:sp>
      <p:sp>
        <p:nvSpPr>
          <p:cNvPr id="61" name="Icono chart-line"/>
          <p:cNvSpPr/>
          <p:nvPr/>
        </p:nvSpPr>
        <p:spPr>
          <a:xfrm>
            <a:off x="9338173" y="4862413"/>
            <a:ext cx="351861" cy="351861"/>
          </a:xfrm>
          <a:custGeom>
            <a:avLst/>
            <a:gdLst/>
            <a:ahLst/>
            <a:cxnLst/>
            <a:rect l="l" t="t" r="r" b="b"/>
            <a:pathLst>
              <a:path w="351861" h="351861">
                <a:moveTo>
                  <a:pt x="43983" y="43983"/>
                </a:moveTo>
                <a:lnTo>
                  <a:pt x="43983" y="278557"/>
                </a:lnTo>
                <a:cubicBezTo>
                  <a:pt x="43983" y="294751"/>
                  <a:pt x="57110" y="307878"/>
                  <a:pt x="73304" y="307878"/>
                </a:cubicBezTo>
                <a:lnTo>
                  <a:pt x="307878" y="307878"/>
                </a:lnTo>
                <a:moveTo>
                  <a:pt x="278557" y="131948"/>
                </a:moveTo>
                <a:lnTo>
                  <a:pt x="205252" y="205252"/>
                </a:lnTo>
                <a:lnTo>
                  <a:pt x="146609" y="146609"/>
                </a:lnTo>
                <a:lnTo>
                  <a:pt x="102626" y="190591"/>
                </a:lnTo>
              </a:path>
            </a:pathLst>
          </a:custGeom>
          <a:noFill/>
          <a:ln w="29322" cap="rnd">
            <a:solidFill>
              <a:srgbClr val="8A4B06"/>
            </a:solidFill>
            <a:prstDash val="solid"/>
            <a:round/>
          </a:ln>
        </p:spPr>
      </p:sp>
      <p:sp>
        <p:nvSpPr>
          <p:cNvPr id="62" name="Text 60"/>
          <p:cNvSpPr/>
          <p:nvPr/>
        </p:nvSpPr>
        <p:spPr>
          <a:xfrm>
            <a:off x="9998735"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grafana</a:t>
            </a:r>
            <a:endParaRPr lang="en-US" sz="1800" dirty="0"/>
          </a:p>
        </p:txBody>
      </p:sp>
      <p:sp>
        <p:nvSpPr>
          <p:cNvPr id="63" name="Text 61"/>
          <p:cNvSpPr/>
          <p:nvPr/>
        </p:nvSpPr>
        <p:spPr>
          <a:xfrm>
            <a:off x="9230639"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:3000 · busca en los logs</a:t>
            </a:r>
            <a:endParaRPr lang="en-US" sz="16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red de Compose: nombres adentro, puertos afuera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Adentro, cada contenedor se llama por su nombre; afuera, solo se publica lo que hace falta.</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CONTENEDOR</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SU NOMBRE DENTRO DE LA RED</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DESDE NUESTRA COMPUTADORA</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La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arka-lite-ui:8080</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localhost:8088</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8"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9" name="[p1] Icono clipboard-list"/>
          <p:cNvSpPr/>
          <p:nvPr/>
        </p:nvSpPr>
        <p:spPr>
          <a:xfrm>
            <a:off x="895563" y="3338840"/>
            <a:ext cx="266273" cy="266273"/>
          </a:xfrm>
          <a:custGeom>
            <a:avLst/>
            <a:gdLst/>
            <a:ahLst/>
            <a:cxnLst/>
            <a:rect l="l" t="t" r="r" b="b"/>
            <a:pathLst>
              <a:path w="266273" h="266273">
                <a:moveTo>
                  <a:pt x="99852" y="22189"/>
                </a:moveTo>
                <a:lnTo>
                  <a:pt x="166421" y="22189"/>
                </a:lnTo>
                <a:cubicBezTo>
                  <a:pt x="172548" y="22189"/>
                  <a:pt x="177516" y="27157"/>
                  <a:pt x="177516" y="33284"/>
                </a:cubicBezTo>
                <a:lnTo>
                  <a:pt x="177516" y="55474"/>
                </a:lnTo>
                <a:cubicBezTo>
                  <a:pt x="177516" y="61601"/>
                  <a:pt x="172548" y="66568"/>
                  <a:pt x="166421" y="66568"/>
                </a:cubicBezTo>
                <a:lnTo>
                  <a:pt x="99852" y="66568"/>
                </a:lnTo>
                <a:cubicBezTo>
                  <a:pt x="93725" y="66568"/>
                  <a:pt x="88758" y="61601"/>
                  <a:pt x="88758" y="55474"/>
                </a:cubicBezTo>
                <a:lnTo>
                  <a:pt x="88758" y="33284"/>
                </a:lnTo>
                <a:cubicBezTo>
                  <a:pt x="88758" y="27157"/>
                  <a:pt x="93725" y="22189"/>
                  <a:pt x="99852" y="22189"/>
                </a:cubicBezTo>
                <a:close/>
                <a:moveTo>
                  <a:pt x="177516" y="44379"/>
                </a:moveTo>
                <a:lnTo>
                  <a:pt x="199705" y="44379"/>
                </a:lnTo>
                <a:cubicBezTo>
                  <a:pt x="211960" y="44379"/>
                  <a:pt x="221894" y="54313"/>
                  <a:pt x="221894" y="66568"/>
                </a:cubicBezTo>
                <a:lnTo>
                  <a:pt x="221894" y="221894"/>
                </a:lnTo>
                <a:cubicBezTo>
                  <a:pt x="221894" y="234149"/>
                  <a:pt x="211960" y="244084"/>
                  <a:pt x="199705" y="244084"/>
                </a:cubicBezTo>
                <a:lnTo>
                  <a:pt x="66568" y="244084"/>
                </a:lnTo>
                <a:cubicBezTo>
                  <a:pt x="54313" y="244084"/>
                  <a:pt x="44379" y="234149"/>
                  <a:pt x="44379" y="221894"/>
                </a:cubicBezTo>
                <a:lnTo>
                  <a:pt x="44379" y="66568"/>
                </a:lnTo>
                <a:cubicBezTo>
                  <a:pt x="44379" y="54313"/>
                  <a:pt x="54313" y="44379"/>
                  <a:pt x="66568" y="44379"/>
                </a:cubicBezTo>
                <a:lnTo>
                  <a:pt x="88758" y="44379"/>
                </a:lnTo>
                <a:moveTo>
                  <a:pt x="133137" y="122042"/>
                </a:moveTo>
                <a:lnTo>
                  <a:pt x="177516" y="122042"/>
                </a:lnTo>
                <a:moveTo>
                  <a:pt x="133137" y="177516"/>
                </a:moveTo>
                <a:lnTo>
                  <a:pt x="177516" y="177516"/>
                </a:lnTo>
                <a:moveTo>
                  <a:pt x="88758" y="122042"/>
                </a:moveTo>
                <a:lnTo>
                  <a:pt x="88869" y="122042"/>
                </a:lnTo>
                <a:moveTo>
                  <a:pt x="88758" y="177516"/>
                </a:moveTo>
                <a:lnTo>
                  <a:pt x="88869" y="177516"/>
                </a:lnTo>
              </a:path>
            </a:pathLst>
          </a:custGeom>
          <a:noFill/>
          <a:ln w="22189" cap="rnd">
            <a:solidFill>
              <a:srgbClr val="0B2350"/>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Solicitudes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servicio-solicitudes:8080</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localhost:18080</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bell"/>
          <p:cNvSpPr/>
          <p:nvPr/>
        </p:nvSpPr>
        <p:spPr>
          <a:xfrm>
            <a:off x="895563" y="4178259"/>
            <a:ext cx="266273" cy="266273"/>
          </a:xfrm>
          <a:custGeom>
            <a:avLst/>
            <a:gdLst/>
            <a:ahLst/>
            <a:cxnLst/>
            <a:rect l="l" t="t" r="r" b="b"/>
            <a:pathLst>
              <a:path w="266273" h="266273">
                <a:moveTo>
                  <a:pt x="113921" y="232989"/>
                </a:moveTo>
                <a:cubicBezTo>
                  <a:pt x="117884" y="239854"/>
                  <a:pt x="125210" y="244083"/>
                  <a:pt x="133137" y="244083"/>
                </a:cubicBezTo>
                <a:cubicBezTo>
                  <a:pt x="141064" y="244083"/>
                  <a:pt x="148389" y="239854"/>
                  <a:pt x="152353" y="232989"/>
                </a:cubicBezTo>
                <a:moveTo>
                  <a:pt x="36191" y="170038"/>
                </a:moveTo>
                <a:cubicBezTo>
                  <a:pt x="33230" y="173283"/>
                  <a:pt x="32463" y="177971"/>
                  <a:pt x="34235" y="181991"/>
                </a:cubicBezTo>
                <a:cubicBezTo>
                  <a:pt x="36007" y="186011"/>
                  <a:pt x="39985" y="188607"/>
                  <a:pt x="44379" y="188610"/>
                </a:cubicBezTo>
                <a:lnTo>
                  <a:pt x="221894" y="188610"/>
                </a:lnTo>
                <a:cubicBezTo>
                  <a:pt x="226287" y="188612"/>
                  <a:pt x="230268" y="186021"/>
                  <a:pt x="232045" y="182003"/>
                </a:cubicBezTo>
                <a:cubicBezTo>
                  <a:pt x="233822" y="177986"/>
                  <a:pt x="233061" y="173298"/>
                  <a:pt x="230104" y="170049"/>
                </a:cubicBezTo>
                <a:cubicBezTo>
                  <a:pt x="215349" y="154838"/>
                  <a:pt x="199705" y="138673"/>
                  <a:pt x="199705" y="88758"/>
                </a:cubicBezTo>
                <a:cubicBezTo>
                  <a:pt x="199705" y="51993"/>
                  <a:pt x="169901" y="22189"/>
                  <a:pt x="133137" y="22189"/>
                </a:cubicBezTo>
                <a:cubicBezTo>
                  <a:pt x="96372" y="22189"/>
                  <a:pt x="66568" y="51993"/>
                  <a:pt x="66568" y="88758"/>
                </a:cubicBezTo>
                <a:cubicBezTo>
                  <a:pt x="66568" y="138673"/>
                  <a:pt x="50914" y="154838"/>
                  <a:pt x="36191" y="170038"/>
                </a:cubicBez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servicio-notificaciones:8080</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localhost:18081</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55627E"/>
          </a:solidFill>
          <a:ln w="12700">
            <a:solidFill>
              <a:srgbClr val="55627E"/>
            </a:solidFill>
            <a:prstDash val="solid"/>
          </a:ln>
        </p:spPr>
      </p:sp>
      <p:sp>
        <p:nvSpPr>
          <p:cNvPr id="46" name="[p3] Forma"/>
          <p:cNvSpPr/>
          <p:nvPr/>
        </p:nvSpPr>
        <p:spPr>
          <a:xfrm>
            <a:off x="772668" y="4894783"/>
            <a:ext cx="512064" cy="512064"/>
          </a:xfrm>
          <a:prstGeom prst="ellipse">
            <a:avLst/>
          </a:prstGeom>
          <a:solidFill>
            <a:srgbClr val="F4F7FB"/>
          </a:solidFill>
          <a:ln w="12700">
            <a:solidFill>
              <a:srgbClr val="F4F7FB"/>
            </a:solidFill>
            <a:prstDash val="solid"/>
          </a:ln>
        </p:spPr>
      </p:sp>
      <p:sp>
        <p:nvSpPr>
          <p:cNvPr id="47" name="[p3] Icono database"/>
          <p:cNvSpPr/>
          <p:nvPr/>
        </p:nvSpPr>
        <p:spPr>
          <a:xfrm>
            <a:off x="895563" y="5017679"/>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solicitudes</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db-solicitudes:5432</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No se publica</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database"/>
          <p:cNvSpPr/>
          <p:nvPr/>
        </p:nvSpPr>
        <p:spPr>
          <a:xfrm>
            <a:off x="895563" y="5857098"/>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notificaciones</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db-notificaciones:5432</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localhost:5433</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orden de arranque: nadie empieza antes de tiempo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contenedor espera a que lo que necesita esté sano: así no hay errores al arrancar.</a:t>
            </a:r>
            <a:endParaRPr lang="en-US" sz="1700" dirty="0"/>
          </a:p>
        </p:txBody>
      </p:sp>
      <p:sp>
        <p:nvSpPr>
          <p:cNvPr id="13" name="Shape 11"/>
          <p:cNvSpPr/>
          <p:nvPr/>
        </p:nvSpPr>
        <p:spPr>
          <a:xfrm>
            <a:off x="1251928" y="2564892"/>
            <a:ext cx="1463040" cy="1463040"/>
          </a:xfrm>
          <a:prstGeom prst="ellipse">
            <a:avLst/>
          </a:prstGeom>
          <a:solidFill>
            <a:srgbClr val="F4F7FB"/>
          </a:solidFill>
          <a:ln w="31750">
            <a:solidFill>
              <a:srgbClr val="55627E"/>
            </a:solidFill>
            <a:prstDash val="solid"/>
          </a:ln>
          <a:effectLst>
            <a:outerShdw sx="100000" sy="100000" kx="0" ky="0" algn="bl" rotWithShape="0" blurRad="76200" dist="19050" dir="5400000">
              <a:srgbClr val="0B1F3A">
                <a:alpha val="14000"/>
              </a:srgbClr>
            </a:outerShdw>
          </a:effectLst>
        </p:spPr>
      </p:sp>
      <p:sp>
        <p:nvSpPr>
          <p:cNvPr id="14" name="Icono database"/>
          <p:cNvSpPr/>
          <p:nvPr/>
        </p:nvSpPr>
        <p:spPr>
          <a:xfrm>
            <a:off x="1588427" y="2901391"/>
            <a:ext cx="790042" cy="790042"/>
          </a:xfrm>
          <a:custGeom>
            <a:avLst/>
            <a:gdLst/>
            <a:ahLst/>
            <a:cxnLst/>
            <a:rect l="l" t="t" r="r" b="b"/>
            <a:pathLst>
              <a:path w="790042" h="790042">
                <a:moveTo>
                  <a:pt x="691286" y="164592"/>
                </a:moveTo>
                <a:cubicBezTo>
                  <a:pt x="691286" y="219133"/>
                  <a:pt x="558644" y="263347"/>
                  <a:pt x="395021" y="263347"/>
                </a:cubicBezTo>
                <a:cubicBezTo>
                  <a:pt x="231398" y="263347"/>
                  <a:pt x="98755" y="219133"/>
                  <a:pt x="98755" y="164592"/>
                </a:cubicBezTo>
                <a:cubicBezTo>
                  <a:pt x="98755" y="110051"/>
                  <a:pt x="231398" y="65837"/>
                  <a:pt x="395021" y="65837"/>
                </a:cubicBezTo>
                <a:cubicBezTo>
                  <a:pt x="558644" y="65837"/>
                  <a:pt x="691286" y="110051"/>
                  <a:pt x="691286" y="164592"/>
                </a:cubicBezTo>
                <a:close/>
                <a:moveTo>
                  <a:pt x="98755" y="164592"/>
                </a:moveTo>
                <a:lnTo>
                  <a:pt x="98755" y="625450"/>
                </a:lnTo>
                <a:cubicBezTo>
                  <a:pt x="98755" y="679991"/>
                  <a:pt x="231398" y="724205"/>
                  <a:pt x="395021" y="724205"/>
                </a:cubicBezTo>
                <a:cubicBezTo>
                  <a:pt x="558644" y="724205"/>
                  <a:pt x="691286" y="679991"/>
                  <a:pt x="691286" y="625450"/>
                </a:cubicBezTo>
                <a:lnTo>
                  <a:pt x="691286" y="164592"/>
                </a:lnTo>
                <a:moveTo>
                  <a:pt x="98755" y="395021"/>
                </a:moveTo>
                <a:cubicBezTo>
                  <a:pt x="98755" y="449562"/>
                  <a:pt x="231398" y="493776"/>
                  <a:pt x="395021" y="493776"/>
                </a:cubicBezTo>
                <a:cubicBezTo>
                  <a:pt x="558644" y="493776"/>
                  <a:pt x="691286" y="449562"/>
                  <a:pt x="691286" y="395021"/>
                </a:cubicBezTo>
              </a:path>
            </a:pathLst>
          </a:custGeom>
          <a:noFill/>
          <a:ln w="57607" cap="rnd">
            <a:solidFill>
              <a:srgbClr val="55627E"/>
            </a:solidFill>
            <a:prstDash val="solid"/>
            <a:round/>
          </a:ln>
        </p:spPr>
      </p:sp>
      <p:sp>
        <p:nvSpPr>
          <p:cNvPr id="15" name="Text 13"/>
          <p:cNvSpPr/>
          <p:nvPr/>
        </p:nvSpPr>
        <p:spPr>
          <a:xfrm>
            <a:off x="1215352" y="2528316"/>
            <a:ext cx="347472" cy="347472"/>
          </a:xfrm>
          <a:prstGeom prst="ellipse">
            <a:avLst/>
          </a:prstGeom>
          <a:solidFill>
            <a:srgbClr val="55627E"/>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Las bases</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pg_isready: ya aceptan conexiones.</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0" name="[p1] Icono bell"/>
          <p:cNvSpPr/>
          <p:nvPr/>
        </p:nvSpPr>
        <p:spPr>
          <a:xfrm>
            <a:off x="4330027" y="2901391"/>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1" name="[p1] Forma"/>
          <p:cNvSpPr/>
          <p:nvPr/>
        </p:nvSpPr>
        <p:spPr>
          <a:xfrm>
            <a:off x="39569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cuando su base está sana.</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7071627" y="2901391"/>
            <a:ext cx="790042" cy="790042"/>
          </a:xfrm>
          <a:custGeom>
            <a:avLst/>
            <a:gdLst/>
            <a:ahLst/>
            <a:cxnLst/>
            <a:rect l="l" t="t" r="r" b="b"/>
            <a:pathLst>
              <a:path w="790042" h="790042">
                <a:moveTo>
                  <a:pt x="296266" y="65837"/>
                </a:moveTo>
                <a:lnTo>
                  <a:pt x="493776" y="65837"/>
                </a:lnTo>
                <a:cubicBezTo>
                  <a:pt x="511956" y="65837"/>
                  <a:pt x="526694" y="80575"/>
                  <a:pt x="526694" y="98755"/>
                </a:cubicBezTo>
                <a:lnTo>
                  <a:pt x="526694" y="164592"/>
                </a:lnTo>
                <a:cubicBezTo>
                  <a:pt x="526694" y="182772"/>
                  <a:pt x="511956" y="197510"/>
                  <a:pt x="493776" y="197510"/>
                </a:cubicBezTo>
                <a:lnTo>
                  <a:pt x="296266" y="197510"/>
                </a:lnTo>
                <a:cubicBezTo>
                  <a:pt x="278085" y="197510"/>
                  <a:pt x="263347" y="182772"/>
                  <a:pt x="263347" y="164592"/>
                </a:cubicBezTo>
                <a:lnTo>
                  <a:pt x="263347" y="98755"/>
                </a:lnTo>
                <a:cubicBezTo>
                  <a:pt x="263347" y="80575"/>
                  <a:pt x="278085" y="65837"/>
                  <a:pt x="296266" y="65837"/>
                </a:cubicBezTo>
                <a:close/>
                <a:moveTo>
                  <a:pt x="526694" y="131674"/>
                </a:moveTo>
                <a:lnTo>
                  <a:pt x="592531" y="131674"/>
                </a:lnTo>
                <a:cubicBezTo>
                  <a:pt x="628892" y="131674"/>
                  <a:pt x="658368" y="161150"/>
                  <a:pt x="658368" y="197510"/>
                </a:cubicBezTo>
                <a:lnTo>
                  <a:pt x="658368" y="658368"/>
                </a:lnTo>
                <a:cubicBezTo>
                  <a:pt x="658368" y="694729"/>
                  <a:pt x="628892" y="724205"/>
                  <a:pt x="592531" y="724205"/>
                </a:cubicBezTo>
                <a:lnTo>
                  <a:pt x="197510" y="724205"/>
                </a:lnTo>
                <a:cubicBezTo>
                  <a:pt x="161150" y="724205"/>
                  <a:pt x="131674" y="694729"/>
                  <a:pt x="131674" y="658368"/>
                </a:cubicBezTo>
                <a:lnTo>
                  <a:pt x="131674" y="197510"/>
                </a:lnTo>
                <a:cubicBezTo>
                  <a:pt x="131674" y="161150"/>
                  <a:pt x="161150" y="131674"/>
                  <a:pt x="197510" y="131674"/>
                </a:cubicBezTo>
                <a:lnTo>
                  <a:pt x="263347" y="131674"/>
                </a:lnTo>
                <a:moveTo>
                  <a:pt x="395021" y="362102"/>
                </a:moveTo>
                <a:lnTo>
                  <a:pt x="526694" y="362102"/>
                </a:lnTo>
                <a:moveTo>
                  <a:pt x="395021" y="526694"/>
                </a:moveTo>
                <a:lnTo>
                  <a:pt x="526694" y="526694"/>
                </a:lnTo>
                <a:moveTo>
                  <a:pt x="263347" y="362102"/>
                </a:moveTo>
                <a:lnTo>
                  <a:pt x="263676" y="362102"/>
                </a:lnTo>
                <a:moveTo>
                  <a:pt x="263347" y="526694"/>
                </a:moveTo>
                <a:lnTo>
                  <a:pt x="263676" y="526694"/>
                </a:lnTo>
              </a:path>
            </a:pathLst>
          </a:custGeom>
          <a:noFill/>
          <a:ln w="57607" cap="rnd">
            <a:solidFill>
              <a:srgbClr val="0B2350"/>
            </a:solidFill>
            <a:prstDash val="solid"/>
            <a:round/>
          </a:ln>
        </p:spPr>
      </p:sp>
      <p:sp>
        <p:nvSpPr>
          <p:cNvPr id="27" name="[p2] Forma"/>
          <p:cNvSpPr/>
          <p:nvPr/>
        </p:nvSpPr>
        <p:spPr>
          <a:xfrm>
            <a:off x="66985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Solicitudes</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Espera a su base y a notificaciones.</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32" name="[p3] Icono monitor"/>
          <p:cNvSpPr/>
          <p:nvPr/>
        </p:nvSpPr>
        <p:spPr>
          <a:xfrm>
            <a:off x="9813226" y="2901391"/>
            <a:ext cx="790042" cy="790042"/>
          </a:xfrm>
          <a:custGeom>
            <a:avLst/>
            <a:gdLst/>
            <a:ahLst/>
            <a:cxnLst/>
            <a:rect l="l" t="t" r="r" b="b"/>
            <a:pathLst>
              <a:path w="790042" h="790042">
                <a:moveTo>
                  <a:pt x="131674" y="98755"/>
                </a:moveTo>
                <a:lnTo>
                  <a:pt x="658368" y="98755"/>
                </a:lnTo>
                <a:cubicBezTo>
                  <a:pt x="694729" y="98755"/>
                  <a:pt x="724205" y="128231"/>
                  <a:pt x="724205" y="164592"/>
                </a:cubicBezTo>
                <a:lnTo>
                  <a:pt x="724205" y="493776"/>
                </a:lnTo>
                <a:cubicBezTo>
                  <a:pt x="724205" y="530137"/>
                  <a:pt x="694729" y="559613"/>
                  <a:pt x="658368" y="559613"/>
                </a:cubicBezTo>
                <a:lnTo>
                  <a:pt x="131674" y="559613"/>
                </a:lnTo>
                <a:cubicBezTo>
                  <a:pt x="95313" y="559613"/>
                  <a:pt x="65837" y="530137"/>
                  <a:pt x="65837" y="493776"/>
                </a:cubicBezTo>
                <a:lnTo>
                  <a:pt x="65837" y="164592"/>
                </a:lnTo>
                <a:cubicBezTo>
                  <a:pt x="65837" y="128231"/>
                  <a:pt x="95313" y="98755"/>
                  <a:pt x="131674" y="98755"/>
                </a:cubicBezTo>
                <a:close/>
                <a:moveTo>
                  <a:pt x="263347" y="691286"/>
                </a:moveTo>
                <a:lnTo>
                  <a:pt x="526694" y="691286"/>
                </a:lnTo>
                <a:moveTo>
                  <a:pt x="395021" y="559613"/>
                </a:moveTo>
                <a:lnTo>
                  <a:pt x="395021" y="691286"/>
                </a:lnTo>
              </a:path>
            </a:pathLst>
          </a:custGeom>
          <a:noFill/>
          <a:ln w="57607" cap="rnd">
            <a:solidFill>
              <a:srgbClr val="5B3FC4"/>
            </a:solidFill>
            <a:prstDash val="solid"/>
            <a:round/>
          </a:ln>
        </p:spPr>
      </p:sp>
      <p:sp>
        <p:nvSpPr>
          <p:cNvPr id="33" name="[p3] Forma"/>
          <p:cNvSpPr/>
          <p:nvPr/>
        </p:nvSpPr>
        <p:spPr>
          <a:xfrm>
            <a:off x="9440151" y="2528316"/>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UI</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al final y vigila su salud.</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Demo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del pipeline: tres trabajos en paralelo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servicio y la UI se prueban por separado y al mismo tiempo: si algo falla, se sabe dónde.</a:t>
            </a:r>
            <a:endParaRPr lang="en-US" sz="1700" dirty="0"/>
          </a:p>
        </p:txBody>
      </p:sp>
      <p:sp>
        <p:nvSpPr>
          <p:cNvPr id="13" name="Shape 11"/>
          <p:cNvSpPr/>
          <p:nvPr/>
        </p:nvSpPr>
        <p:spPr>
          <a:xfrm>
            <a:off x="612648" y="1719072"/>
            <a:ext cx="10966399" cy="1411224"/>
          </a:xfrm>
          <a:prstGeom prst="roundRect">
            <a:avLst>
              <a:gd name="adj" fmla="val 7775"/>
            </a:avLst>
          </a:prstGeom>
          <a:solidFill>
            <a:srgbClr val="EEF2FA"/>
          </a:solidFill>
          <a:ln w="12700">
            <a:solidFill>
              <a:srgbClr val="B6BDCB"/>
            </a:solidFill>
            <a:prstDash val="solid"/>
          </a:ln>
        </p:spPr>
      </p:sp>
      <p:sp>
        <p:nvSpPr>
          <p:cNvPr id="14" name="Text 12"/>
          <p:cNvSpPr/>
          <p:nvPr/>
        </p:nvSpPr>
        <p:spPr>
          <a:xfrm>
            <a:off x="612648" y="1719072"/>
            <a:ext cx="1600200" cy="1411224"/>
          </a:xfrm>
          <a:prstGeom prst="roundRect">
            <a:avLst>
              <a:gd name="adj" fmla="val 7775"/>
            </a:avLst>
          </a:prstGeom>
          <a:solidFill>
            <a:srgbClr val="0B2350"/>
          </a:solidFill>
          <a:ln>
            <a:solidFill>
              <a:srgbClr val="0B2350"/>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SOLICITUDES</a:t>
            </a:r>
            <a:endParaRPr lang="en-US" sz="1186" dirty="0"/>
          </a:p>
        </p:txBody>
      </p:sp>
      <p:sp>
        <p:nvSpPr>
          <p:cNvPr id="15" name="Shape 13"/>
          <p:cNvSpPr/>
          <p:nvPr/>
        </p:nvSpPr>
        <p:spPr>
          <a:xfrm>
            <a:off x="2395728"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2141220"/>
            <a:ext cx="566928" cy="566928"/>
          </a:xfrm>
          <a:prstGeom prst="ellipse">
            <a:avLst/>
          </a:prstGeom>
          <a:solidFill>
            <a:srgbClr val="E8EEF8"/>
          </a:solidFill>
          <a:ln w="12700">
            <a:solidFill>
              <a:srgbClr val="E8EEF8"/>
            </a:solidFill>
            <a:prstDash val="solid"/>
          </a:ln>
        </p:spPr>
      </p:sp>
      <p:sp>
        <p:nvSpPr>
          <p:cNvPr id="17" name="Icono flask-conical"/>
          <p:cNvSpPr/>
          <p:nvPr/>
        </p:nvSpPr>
        <p:spPr>
          <a:xfrm>
            <a:off x="2678095" y="2277283"/>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2350"/>
            </a:solidFill>
            <a:prstDash val="solid"/>
            <a:round/>
          </a:ln>
        </p:spPr>
      </p:sp>
      <p:sp>
        <p:nvSpPr>
          <p:cNvPr id="18" name="Text 16"/>
          <p:cNvSpPr/>
          <p:nvPr/>
        </p:nvSpPr>
        <p:spPr>
          <a:xfrm>
            <a:off x="3255264"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Compila y prueba</a:t>
            </a:r>
            <a:endParaRPr lang="en-US" sz="1500" dirty="0"/>
          </a:p>
        </p:txBody>
      </p:sp>
      <p:sp>
        <p:nvSpPr>
          <p:cNvPr id="19" name="Text 17"/>
          <p:cNvSpPr/>
          <p:nvPr/>
        </p:nvSpPr>
        <p:spPr>
          <a:xfrm>
            <a:off x="3255264"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20" name="Shape 18"/>
          <p:cNvSpPr/>
          <p:nvPr/>
        </p:nvSpPr>
        <p:spPr>
          <a:xfrm>
            <a:off x="4698416"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4844720" y="2141220"/>
            <a:ext cx="566928" cy="566928"/>
          </a:xfrm>
          <a:prstGeom prst="ellipse">
            <a:avLst/>
          </a:prstGeom>
          <a:solidFill>
            <a:srgbClr val="E8EEF8"/>
          </a:solidFill>
          <a:ln w="12700">
            <a:solidFill>
              <a:srgbClr val="E8EEF8"/>
            </a:solidFill>
            <a:prstDash val="solid"/>
          </a:ln>
        </p:spPr>
      </p:sp>
      <p:sp>
        <p:nvSpPr>
          <p:cNvPr id="22" name="Icono power"/>
          <p:cNvSpPr/>
          <p:nvPr/>
        </p:nvSpPr>
        <p:spPr>
          <a:xfrm>
            <a:off x="4980783" y="2277283"/>
            <a:ext cx="294803" cy="294803"/>
          </a:xfrm>
          <a:custGeom>
            <a:avLst/>
            <a:gdLst/>
            <a:ahLst/>
            <a:cxnLst/>
            <a:rect l="l" t="t" r="r" b="b"/>
            <a:pathLst>
              <a:path w="294803" h="294803">
                <a:moveTo>
                  <a:pt x="147401" y="24567"/>
                </a:moveTo>
                <a:lnTo>
                  <a:pt x="147401" y="147401"/>
                </a:lnTo>
                <a:moveTo>
                  <a:pt x="226015" y="81071"/>
                </a:moveTo>
                <a:cubicBezTo>
                  <a:pt x="269113" y="124184"/>
                  <a:pt x="269177" y="194048"/>
                  <a:pt x="226159" y="237240"/>
                </a:cubicBezTo>
                <a:cubicBezTo>
                  <a:pt x="183141" y="280433"/>
                  <a:pt x="113278" y="280652"/>
                  <a:pt x="69990" y="237730"/>
                </a:cubicBezTo>
                <a:cubicBezTo>
                  <a:pt x="26703" y="194807"/>
                  <a:pt x="26329" y="124944"/>
                  <a:pt x="69156" y="81562"/>
                </a:cubicBezTo>
              </a:path>
            </a:pathLst>
          </a:custGeom>
          <a:noFill/>
          <a:ln w="24567" cap="rnd">
            <a:solidFill>
              <a:srgbClr val="0B2350"/>
            </a:solidFill>
            <a:prstDash val="solid"/>
            <a:round/>
          </a:ln>
        </p:spPr>
      </p:sp>
      <p:sp>
        <p:nvSpPr>
          <p:cNvPr id="23" name="Text 21"/>
          <p:cNvSpPr/>
          <p:nvPr/>
        </p:nvSpPr>
        <p:spPr>
          <a:xfrm>
            <a:off x="5557952"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Arranca</a:t>
            </a:r>
            <a:endParaRPr lang="en-US" sz="1500" dirty="0"/>
          </a:p>
        </p:txBody>
      </p:sp>
      <p:sp>
        <p:nvSpPr>
          <p:cNvPr id="24" name="Text 22"/>
          <p:cNvSpPr/>
          <p:nvPr/>
        </p:nvSpPr>
        <p:spPr>
          <a:xfrm>
            <a:off x="5557952"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Espera ver CAM-002</a:t>
            </a:r>
            <a:endParaRPr lang="en-US" sz="1200" dirty="0"/>
          </a:p>
        </p:txBody>
      </p:sp>
      <p:sp>
        <p:nvSpPr>
          <p:cNvPr id="25" name="Shape 23"/>
          <p:cNvSpPr/>
          <p:nvPr/>
        </p:nvSpPr>
        <p:spPr>
          <a:xfrm>
            <a:off x="7001104"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7147408" y="2141220"/>
            <a:ext cx="566928" cy="566928"/>
          </a:xfrm>
          <a:prstGeom prst="ellipse">
            <a:avLst/>
          </a:prstGeom>
          <a:solidFill>
            <a:srgbClr val="E8EEF8"/>
          </a:solidFill>
          <a:ln w="12700">
            <a:solidFill>
              <a:srgbClr val="E8EEF8"/>
            </a:solidFill>
            <a:prstDash val="solid"/>
          </a:ln>
        </p:spPr>
      </p:sp>
      <p:sp>
        <p:nvSpPr>
          <p:cNvPr id="27" name="Icono package"/>
          <p:cNvSpPr/>
          <p:nvPr/>
        </p:nvSpPr>
        <p:spPr>
          <a:xfrm>
            <a:off x="7283470" y="2277283"/>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2350"/>
            </a:solidFill>
            <a:prstDash val="solid"/>
            <a:round/>
          </a:ln>
        </p:spPr>
      </p:sp>
      <p:sp>
        <p:nvSpPr>
          <p:cNvPr id="28" name="Text 26"/>
          <p:cNvSpPr/>
          <p:nvPr/>
        </p:nvSpPr>
        <p:spPr>
          <a:xfrm>
            <a:off x="7860640"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Imagen</a:t>
            </a:r>
            <a:endParaRPr lang="en-US" sz="1500" dirty="0"/>
          </a:p>
        </p:txBody>
      </p:sp>
      <p:sp>
        <p:nvSpPr>
          <p:cNvPr id="29" name="Text 27"/>
          <p:cNvSpPr/>
          <p:nvPr/>
        </p:nvSpPr>
        <p:spPr>
          <a:xfrm>
            <a:off x="7860640"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30" name="Shape 28"/>
          <p:cNvSpPr/>
          <p:nvPr/>
        </p:nvSpPr>
        <p:spPr>
          <a:xfrm>
            <a:off x="9303791"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1" name="Shape 29"/>
          <p:cNvSpPr/>
          <p:nvPr/>
        </p:nvSpPr>
        <p:spPr>
          <a:xfrm>
            <a:off x="9450095" y="2141220"/>
            <a:ext cx="566928" cy="566928"/>
          </a:xfrm>
          <a:prstGeom prst="ellipse">
            <a:avLst/>
          </a:prstGeom>
          <a:solidFill>
            <a:srgbClr val="E8EEF8"/>
          </a:solidFill>
          <a:ln w="12700">
            <a:solidFill>
              <a:srgbClr val="E8EEF8"/>
            </a:solidFill>
            <a:prstDash val="solid"/>
          </a:ln>
        </p:spPr>
      </p:sp>
      <p:sp>
        <p:nvSpPr>
          <p:cNvPr id="32" name="Icono cloud-upload"/>
          <p:cNvSpPr/>
          <p:nvPr/>
        </p:nvSpPr>
        <p:spPr>
          <a:xfrm>
            <a:off x="9586158" y="2277283"/>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2350"/>
            </a:solidFill>
            <a:prstDash val="solid"/>
            <a:round/>
          </a:ln>
        </p:spPr>
      </p:sp>
      <p:sp>
        <p:nvSpPr>
          <p:cNvPr id="33" name="Text 31"/>
          <p:cNvSpPr/>
          <p:nvPr/>
        </p:nvSpPr>
        <p:spPr>
          <a:xfrm>
            <a:off x="10163327"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Publica</a:t>
            </a:r>
            <a:endParaRPr lang="en-US" sz="1500" dirty="0"/>
          </a:p>
        </p:txBody>
      </p:sp>
      <p:sp>
        <p:nvSpPr>
          <p:cNvPr id="34" name="Text 32"/>
          <p:cNvSpPr/>
          <p:nvPr/>
        </p:nvSpPr>
        <p:spPr>
          <a:xfrm>
            <a:off x="10163327"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35" name="[p1] Forma"/>
          <p:cNvSpPr/>
          <p:nvPr/>
        </p:nvSpPr>
        <p:spPr>
          <a:xfrm>
            <a:off x="612648" y="3331464"/>
            <a:ext cx="10966399" cy="1411224"/>
          </a:xfrm>
          <a:prstGeom prst="roundRect">
            <a:avLst>
              <a:gd name="adj" fmla="val 7775"/>
            </a:avLst>
          </a:prstGeom>
          <a:solidFill>
            <a:srgbClr val="EAF7FB"/>
          </a:solidFill>
          <a:ln w="12700">
            <a:solidFill>
              <a:srgbClr val="B6D4DC"/>
            </a:solidFill>
            <a:prstDash val="solid"/>
          </a:ln>
        </p:spPr>
      </p:sp>
      <p:sp>
        <p:nvSpPr>
          <p:cNvPr id="36" name="[p1] Forma"/>
          <p:cNvSpPr/>
          <p:nvPr/>
        </p:nvSpPr>
        <p:spPr>
          <a:xfrm>
            <a:off x="612648" y="3331464"/>
            <a:ext cx="1600200" cy="1411224"/>
          </a:xfrm>
          <a:prstGeom prst="roundRect">
            <a:avLst>
              <a:gd name="adj" fmla="val 7775"/>
            </a:avLst>
          </a:prstGeom>
          <a:solidFill>
            <a:srgbClr val="0B6E8A"/>
          </a:solidFill>
          <a:ln>
            <a:solidFill>
              <a:srgbClr val="0B6E8A"/>
            </a:solidFill>
          </a:ln>
        </p:spPr>
        <p:txBody>
          <a:bodyPr wrap="square" lIns="0" tIns="76200" rIns="76200" bIns="0" rtlCol="0" anchor="ctr"/>
          <a:lstStyle/>
          <a:p>
            <a:pPr algn="ctr" indent="0" marL="0">
              <a:buNone/>
            </a:pPr>
            <a:r>
              <a:rPr lang="en-US" sz="932" b="1" spc="100" kern="0" dirty="0">
                <a:solidFill>
                  <a:srgbClr val="FFFFFF"/>
                </a:solidFill>
                <a:latin typeface="Segoe UI" pitchFamily="34" charset="0"/>
                <a:ea typeface="Segoe UI" pitchFamily="34" charset="-122"/>
                <a:cs typeface="Segoe UI" pitchFamily="34" charset="-120"/>
              </a:rPr>
              <a:t>NOTIFICACIONES</a:t>
            </a:r>
            <a:endParaRPr lang="en-US" sz="932" dirty="0"/>
          </a:p>
        </p:txBody>
      </p:sp>
      <p:sp>
        <p:nvSpPr>
          <p:cNvPr id="37" name="[p1] Forma"/>
          <p:cNvSpPr/>
          <p:nvPr/>
        </p:nvSpPr>
        <p:spPr>
          <a:xfrm>
            <a:off x="239572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8" name="[p1] Forma"/>
          <p:cNvSpPr/>
          <p:nvPr/>
        </p:nvSpPr>
        <p:spPr>
          <a:xfrm>
            <a:off x="2542032" y="3753612"/>
            <a:ext cx="566928" cy="566928"/>
          </a:xfrm>
          <a:prstGeom prst="ellipse">
            <a:avLst/>
          </a:prstGeom>
          <a:solidFill>
            <a:srgbClr val="E3F4FA"/>
          </a:solidFill>
          <a:ln w="12700">
            <a:solidFill>
              <a:srgbClr val="E3F4FA"/>
            </a:solidFill>
            <a:prstDash val="solid"/>
          </a:ln>
        </p:spPr>
      </p:sp>
      <p:sp>
        <p:nvSpPr>
          <p:cNvPr id="39" name="[p1] Icono flask-conical"/>
          <p:cNvSpPr/>
          <p:nvPr/>
        </p:nvSpPr>
        <p:spPr>
          <a:xfrm>
            <a:off x="2678095" y="3889675"/>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6E8A"/>
            </a:solidFill>
            <a:prstDash val="solid"/>
            <a:round/>
          </a:ln>
        </p:spPr>
      </p:sp>
      <p:sp>
        <p:nvSpPr>
          <p:cNvPr id="40" name="[p1] Forma"/>
          <p:cNvSpPr/>
          <p:nvPr/>
        </p:nvSpPr>
        <p:spPr>
          <a:xfrm>
            <a:off x="325526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Compila y prueba</a:t>
            </a:r>
            <a:endParaRPr lang="en-US" sz="1500" dirty="0"/>
          </a:p>
        </p:txBody>
      </p:sp>
      <p:sp>
        <p:nvSpPr>
          <p:cNvPr id="41" name="[p1] Forma"/>
          <p:cNvSpPr/>
          <p:nvPr/>
        </p:nvSpPr>
        <p:spPr>
          <a:xfrm>
            <a:off x="325526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42" name="[p1] Forma"/>
          <p:cNvSpPr/>
          <p:nvPr/>
        </p:nvSpPr>
        <p:spPr>
          <a:xfrm>
            <a:off x="546597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3" name="[p1] Forma"/>
          <p:cNvSpPr/>
          <p:nvPr/>
        </p:nvSpPr>
        <p:spPr>
          <a:xfrm>
            <a:off x="5612282" y="3753612"/>
            <a:ext cx="566928" cy="566928"/>
          </a:xfrm>
          <a:prstGeom prst="ellipse">
            <a:avLst/>
          </a:prstGeom>
          <a:solidFill>
            <a:srgbClr val="E3F4FA"/>
          </a:solidFill>
          <a:ln w="12700">
            <a:solidFill>
              <a:srgbClr val="E3F4FA"/>
            </a:solidFill>
            <a:prstDash val="solid"/>
          </a:ln>
        </p:spPr>
      </p:sp>
      <p:sp>
        <p:nvSpPr>
          <p:cNvPr id="44" name="[p1] Icono package"/>
          <p:cNvSpPr/>
          <p:nvPr/>
        </p:nvSpPr>
        <p:spPr>
          <a:xfrm>
            <a:off x="5748345" y="3889675"/>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6E8A"/>
            </a:solidFill>
            <a:prstDash val="solid"/>
            <a:round/>
          </a:ln>
        </p:spPr>
      </p:sp>
      <p:sp>
        <p:nvSpPr>
          <p:cNvPr id="45" name="[p1] Forma"/>
          <p:cNvSpPr/>
          <p:nvPr/>
        </p:nvSpPr>
        <p:spPr>
          <a:xfrm>
            <a:off x="632551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Imagen</a:t>
            </a:r>
            <a:endParaRPr lang="en-US" sz="1500" dirty="0"/>
          </a:p>
        </p:txBody>
      </p:sp>
      <p:sp>
        <p:nvSpPr>
          <p:cNvPr id="46" name="[p1] Forma"/>
          <p:cNvSpPr/>
          <p:nvPr/>
        </p:nvSpPr>
        <p:spPr>
          <a:xfrm>
            <a:off x="632551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47" name="[p1] Forma"/>
          <p:cNvSpPr/>
          <p:nvPr/>
        </p:nvSpPr>
        <p:spPr>
          <a:xfrm>
            <a:off x="8536229"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8" name="[p1] Forma"/>
          <p:cNvSpPr/>
          <p:nvPr/>
        </p:nvSpPr>
        <p:spPr>
          <a:xfrm>
            <a:off x="8682533" y="3753612"/>
            <a:ext cx="566928" cy="566928"/>
          </a:xfrm>
          <a:prstGeom prst="ellipse">
            <a:avLst/>
          </a:prstGeom>
          <a:solidFill>
            <a:srgbClr val="E3F4FA"/>
          </a:solidFill>
          <a:ln w="12700">
            <a:solidFill>
              <a:srgbClr val="E3F4FA"/>
            </a:solidFill>
            <a:prstDash val="solid"/>
          </a:ln>
        </p:spPr>
      </p:sp>
      <p:sp>
        <p:nvSpPr>
          <p:cNvPr id="49" name="[p1] Icono cloud-upload"/>
          <p:cNvSpPr/>
          <p:nvPr/>
        </p:nvSpPr>
        <p:spPr>
          <a:xfrm>
            <a:off x="8818596" y="3889675"/>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6E8A"/>
            </a:solidFill>
            <a:prstDash val="solid"/>
            <a:round/>
          </a:ln>
        </p:spPr>
      </p:sp>
      <p:sp>
        <p:nvSpPr>
          <p:cNvPr id="50" name="[p1] Forma"/>
          <p:cNvSpPr/>
          <p:nvPr/>
        </p:nvSpPr>
        <p:spPr>
          <a:xfrm>
            <a:off x="9395765"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Publica</a:t>
            </a:r>
            <a:endParaRPr lang="en-US" sz="1500" dirty="0"/>
          </a:p>
        </p:txBody>
      </p:sp>
      <p:sp>
        <p:nvSpPr>
          <p:cNvPr id="51" name="[p1] Forma"/>
          <p:cNvSpPr/>
          <p:nvPr/>
        </p:nvSpPr>
        <p:spPr>
          <a:xfrm>
            <a:off x="9395765"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52" name="[p2] Forma"/>
          <p:cNvSpPr/>
          <p:nvPr/>
        </p:nvSpPr>
        <p:spPr>
          <a:xfrm>
            <a:off x="612648" y="4943856"/>
            <a:ext cx="10966399" cy="1411224"/>
          </a:xfrm>
          <a:prstGeom prst="roundRect">
            <a:avLst>
              <a:gd name="adj" fmla="val 7775"/>
            </a:avLst>
          </a:prstGeom>
          <a:solidFill>
            <a:srgbClr val="F5F2FE"/>
          </a:solidFill>
          <a:ln w="12700">
            <a:solidFill>
              <a:srgbClr val="CEC5ED"/>
            </a:solidFill>
            <a:prstDash val="solid"/>
          </a:ln>
        </p:spPr>
      </p:sp>
      <p:sp>
        <p:nvSpPr>
          <p:cNvPr id="53" name="[p2] Forma"/>
          <p:cNvSpPr/>
          <p:nvPr/>
        </p:nvSpPr>
        <p:spPr>
          <a:xfrm>
            <a:off x="612648" y="4943856"/>
            <a:ext cx="1600200" cy="1411224"/>
          </a:xfrm>
          <a:prstGeom prst="roundRect">
            <a:avLst>
              <a:gd name="adj" fmla="val 7775"/>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LA UI</a:t>
            </a:r>
            <a:endParaRPr lang="en-US" sz="1300" dirty="0"/>
          </a:p>
        </p:txBody>
      </p:sp>
      <p:sp>
        <p:nvSpPr>
          <p:cNvPr id="54" name="[p2] Forma"/>
          <p:cNvSpPr/>
          <p:nvPr/>
        </p:nvSpPr>
        <p:spPr>
          <a:xfrm>
            <a:off x="2395728"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55" name="[p2] Forma"/>
          <p:cNvSpPr/>
          <p:nvPr/>
        </p:nvSpPr>
        <p:spPr>
          <a:xfrm>
            <a:off x="2542032" y="5366004"/>
            <a:ext cx="566928" cy="566928"/>
          </a:xfrm>
          <a:prstGeom prst="ellipse">
            <a:avLst/>
          </a:prstGeom>
          <a:solidFill>
            <a:srgbClr val="F1EEFD"/>
          </a:solidFill>
          <a:ln w="12700">
            <a:solidFill>
              <a:srgbClr val="F1EEFD"/>
            </a:solidFill>
            <a:prstDash val="solid"/>
          </a:ln>
        </p:spPr>
      </p:sp>
      <p:sp>
        <p:nvSpPr>
          <p:cNvPr id="56" name="[p2] Icono list-checks"/>
          <p:cNvSpPr/>
          <p:nvPr/>
        </p:nvSpPr>
        <p:spPr>
          <a:xfrm>
            <a:off x="2678095" y="5502067"/>
            <a:ext cx="294803" cy="294803"/>
          </a:xfrm>
          <a:custGeom>
            <a:avLst/>
            <a:gdLst/>
            <a:ahLst/>
            <a:cxnLst/>
            <a:rect l="l" t="t" r="r" b="b"/>
            <a:pathLst>
              <a:path w="294803" h="294803">
                <a:moveTo>
                  <a:pt x="36850" y="208818"/>
                </a:moveTo>
                <a:lnTo>
                  <a:pt x="61417" y="233385"/>
                </a:lnTo>
                <a:lnTo>
                  <a:pt x="110551" y="184252"/>
                </a:lnTo>
                <a:moveTo>
                  <a:pt x="36850" y="85984"/>
                </a:moveTo>
                <a:lnTo>
                  <a:pt x="61417" y="110551"/>
                </a:lnTo>
                <a:lnTo>
                  <a:pt x="110551" y="61417"/>
                </a:lnTo>
                <a:moveTo>
                  <a:pt x="159685" y="73701"/>
                </a:moveTo>
                <a:lnTo>
                  <a:pt x="257952" y="73701"/>
                </a:lnTo>
                <a:moveTo>
                  <a:pt x="159685" y="147401"/>
                </a:moveTo>
                <a:lnTo>
                  <a:pt x="257952" y="147401"/>
                </a:lnTo>
                <a:moveTo>
                  <a:pt x="159685" y="221102"/>
                </a:moveTo>
                <a:lnTo>
                  <a:pt x="257952" y="221102"/>
                </a:lnTo>
              </a:path>
            </a:pathLst>
          </a:custGeom>
          <a:noFill/>
          <a:ln w="24567" cap="rnd">
            <a:solidFill>
              <a:srgbClr val="5B3FC4"/>
            </a:solidFill>
            <a:prstDash val="solid"/>
            <a:round/>
          </a:ln>
        </p:spPr>
      </p:sp>
      <p:sp>
        <p:nvSpPr>
          <p:cNvPr id="57" name="[p2] Forma"/>
          <p:cNvSpPr/>
          <p:nvPr/>
        </p:nvSpPr>
        <p:spPr>
          <a:xfrm>
            <a:off x="3255264"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y prueba</a:t>
            </a:r>
            <a:endParaRPr lang="en-US" sz="1500" dirty="0"/>
          </a:p>
        </p:txBody>
      </p:sp>
      <p:sp>
        <p:nvSpPr>
          <p:cNvPr id="58" name="[p2] Forma"/>
          <p:cNvSpPr/>
          <p:nvPr/>
        </p:nvSpPr>
        <p:spPr>
          <a:xfrm>
            <a:off x="3255264" y="5686044"/>
            <a:ext cx="1187120" cy="522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Contenido, tipos y pruebas</a:t>
            </a:r>
            <a:endParaRPr lang="en-US" sz="1150" dirty="0"/>
          </a:p>
        </p:txBody>
      </p:sp>
      <p:sp>
        <p:nvSpPr>
          <p:cNvPr id="59" name="[p2] Forma"/>
          <p:cNvSpPr/>
          <p:nvPr/>
        </p:nvSpPr>
        <p:spPr>
          <a:xfrm>
            <a:off x="4698416"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0" name="[p2] Forma"/>
          <p:cNvSpPr/>
          <p:nvPr/>
        </p:nvSpPr>
        <p:spPr>
          <a:xfrm>
            <a:off x="4844720" y="5366004"/>
            <a:ext cx="566928" cy="566928"/>
          </a:xfrm>
          <a:prstGeom prst="ellipse">
            <a:avLst/>
          </a:prstGeom>
          <a:solidFill>
            <a:srgbClr val="F1EEFD"/>
          </a:solidFill>
          <a:ln w="12700">
            <a:solidFill>
              <a:srgbClr val="F1EEFD"/>
            </a:solidFill>
            <a:prstDash val="solid"/>
          </a:ln>
        </p:spPr>
      </p:sp>
      <p:sp>
        <p:nvSpPr>
          <p:cNvPr id="61" name="[p2] Icono settings"/>
          <p:cNvSpPr/>
          <p:nvPr/>
        </p:nvSpPr>
        <p:spPr>
          <a:xfrm>
            <a:off x="4980783" y="5502067"/>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5B3FC4"/>
            </a:solidFill>
            <a:prstDash val="solid"/>
            <a:round/>
          </a:ln>
        </p:spPr>
      </p:sp>
      <p:sp>
        <p:nvSpPr>
          <p:cNvPr id="62" name="[p2] Forma"/>
          <p:cNvSpPr/>
          <p:nvPr/>
        </p:nvSpPr>
        <p:spPr>
          <a:xfrm>
            <a:off x="5557952"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Construye</a:t>
            </a:r>
            <a:endParaRPr lang="en-US" sz="1500" dirty="0"/>
          </a:p>
        </p:txBody>
      </p:sp>
      <p:sp>
        <p:nvSpPr>
          <p:cNvPr id="63" name="[p2] Forma"/>
          <p:cNvSpPr/>
          <p:nvPr/>
        </p:nvSpPr>
        <p:spPr>
          <a:xfrm>
            <a:off x="5557952"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aplicación y su imagen</a:t>
            </a:r>
            <a:endParaRPr lang="en-US" sz="1200" dirty="0"/>
          </a:p>
        </p:txBody>
      </p:sp>
      <p:sp>
        <p:nvSpPr>
          <p:cNvPr id="64" name="[p2] Forma"/>
          <p:cNvSpPr/>
          <p:nvPr/>
        </p:nvSpPr>
        <p:spPr>
          <a:xfrm>
            <a:off x="7001104"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5" name="[p2] Forma"/>
          <p:cNvSpPr/>
          <p:nvPr/>
        </p:nvSpPr>
        <p:spPr>
          <a:xfrm>
            <a:off x="7147408" y="5366004"/>
            <a:ext cx="566928" cy="566928"/>
          </a:xfrm>
          <a:prstGeom prst="ellipse">
            <a:avLst/>
          </a:prstGeom>
          <a:solidFill>
            <a:srgbClr val="F1EEFD"/>
          </a:solidFill>
          <a:ln w="12700">
            <a:solidFill>
              <a:srgbClr val="F1EEFD"/>
            </a:solidFill>
            <a:prstDash val="solid"/>
          </a:ln>
        </p:spPr>
      </p:sp>
      <p:sp>
        <p:nvSpPr>
          <p:cNvPr id="66" name="[p2] Icono file-check"/>
          <p:cNvSpPr/>
          <p:nvPr/>
        </p:nvSpPr>
        <p:spPr>
          <a:xfrm>
            <a:off x="7283470" y="5502067"/>
            <a:ext cx="294803" cy="294803"/>
          </a:xfrm>
          <a:custGeom>
            <a:avLst/>
            <a:gdLst/>
            <a:ahLst/>
            <a:cxnLst/>
            <a:rect l="l" t="t" r="r" b="b"/>
            <a:pathLst>
              <a:path w="294803" h="294803">
                <a:moveTo>
                  <a:pt x="184252" y="24567"/>
                </a:moveTo>
                <a:lnTo>
                  <a:pt x="73701" y="24567"/>
                </a:lnTo>
                <a:cubicBezTo>
                  <a:pt x="60133" y="24567"/>
                  <a:pt x="49134" y="35566"/>
                  <a:pt x="49134" y="49134"/>
                </a:cubicBezTo>
                <a:lnTo>
                  <a:pt x="49134" y="245669"/>
                </a:lnTo>
                <a:cubicBezTo>
                  <a:pt x="49134" y="259237"/>
                  <a:pt x="60133" y="270236"/>
                  <a:pt x="73701" y="270236"/>
                </a:cubicBezTo>
                <a:lnTo>
                  <a:pt x="221102" y="270236"/>
                </a:lnTo>
                <a:cubicBezTo>
                  <a:pt x="234670" y="270236"/>
                  <a:pt x="245669" y="259237"/>
                  <a:pt x="245669" y="245669"/>
                </a:cubicBezTo>
                <a:lnTo>
                  <a:pt x="245669" y="85984"/>
                </a:lnTo>
                <a:close/>
                <a:moveTo>
                  <a:pt x="171968" y="24567"/>
                </a:moveTo>
                <a:lnTo>
                  <a:pt x="171968" y="73701"/>
                </a:lnTo>
                <a:cubicBezTo>
                  <a:pt x="171968" y="87269"/>
                  <a:pt x="182967" y="98268"/>
                  <a:pt x="196535" y="98268"/>
                </a:cubicBezTo>
                <a:lnTo>
                  <a:pt x="245669" y="98268"/>
                </a:lnTo>
                <a:moveTo>
                  <a:pt x="110551" y="184252"/>
                </a:moveTo>
                <a:lnTo>
                  <a:pt x="135118" y="208818"/>
                </a:lnTo>
                <a:lnTo>
                  <a:pt x="184252" y="159685"/>
                </a:lnTo>
              </a:path>
            </a:pathLst>
          </a:custGeom>
          <a:noFill/>
          <a:ln w="24567" cap="rnd">
            <a:solidFill>
              <a:srgbClr val="5B3FC4"/>
            </a:solidFill>
            <a:prstDash val="solid"/>
            <a:round/>
          </a:ln>
        </p:spPr>
      </p:sp>
      <p:sp>
        <p:nvSpPr>
          <p:cNvPr id="67" name="[p2] Forma"/>
          <p:cNvSpPr/>
          <p:nvPr/>
        </p:nvSpPr>
        <p:spPr>
          <a:xfrm>
            <a:off x="7860640"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Compose</a:t>
            </a:r>
            <a:endParaRPr lang="en-US" sz="1500" dirty="0"/>
          </a:p>
        </p:txBody>
      </p:sp>
      <p:sp>
        <p:nvSpPr>
          <p:cNvPr id="68" name="[p2] Forma"/>
          <p:cNvSpPr/>
          <p:nvPr/>
        </p:nvSpPr>
        <p:spPr>
          <a:xfrm>
            <a:off x="7860640"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compose config</a:t>
            </a:r>
            <a:endParaRPr lang="en-US" sz="1200" dirty="0"/>
          </a:p>
        </p:txBody>
      </p:sp>
      <p:sp>
        <p:nvSpPr>
          <p:cNvPr id="69" name="[p2] Forma"/>
          <p:cNvSpPr/>
          <p:nvPr/>
        </p:nvSpPr>
        <p:spPr>
          <a:xfrm>
            <a:off x="9303791"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70" name="[p2] Forma"/>
          <p:cNvSpPr/>
          <p:nvPr/>
        </p:nvSpPr>
        <p:spPr>
          <a:xfrm>
            <a:off x="9450095" y="5366004"/>
            <a:ext cx="566928" cy="566928"/>
          </a:xfrm>
          <a:prstGeom prst="ellipse">
            <a:avLst/>
          </a:prstGeom>
          <a:solidFill>
            <a:srgbClr val="F1EEFD"/>
          </a:solidFill>
          <a:ln w="12700">
            <a:solidFill>
              <a:srgbClr val="F1EEFD"/>
            </a:solidFill>
            <a:prstDash val="solid"/>
          </a:ln>
        </p:spPr>
      </p:sp>
      <p:sp>
        <p:nvSpPr>
          <p:cNvPr id="71" name="[p2] Icono cloud-upload"/>
          <p:cNvSpPr/>
          <p:nvPr/>
        </p:nvSpPr>
        <p:spPr>
          <a:xfrm>
            <a:off x="9586158" y="5502067"/>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5B3FC4"/>
            </a:solidFill>
            <a:prstDash val="solid"/>
            <a:round/>
          </a:ln>
        </p:spPr>
      </p:sp>
      <p:sp>
        <p:nvSpPr>
          <p:cNvPr id="72" name="[p2] Forma"/>
          <p:cNvSpPr/>
          <p:nvPr/>
        </p:nvSpPr>
        <p:spPr>
          <a:xfrm>
            <a:off x="10163327"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Publica</a:t>
            </a:r>
            <a:endParaRPr lang="en-US" sz="1500" dirty="0"/>
          </a:p>
        </p:txBody>
      </p:sp>
      <p:sp>
        <p:nvSpPr>
          <p:cNvPr id="73" name="[p2] Forma"/>
          <p:cNvSpPr/>
          <p:nvPr/>
        </p:nvSpPr>
        <p:spPr>
          <a:xfrm>
            <a:off x="10163327"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Solo al llegar a main</a:t>
            </a:r>
            <a:endParaRPr lang="en-US" sz="1200" dirty="0"/>
          </a:p>
        </p:txBody>
      </p:sp>
      <p:sp>
        <p:nvSpPr>
          <p:cNvPr id="74" name="Text 7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5"/>
                                        </p:tgtEl>
                                        <p:attrNameLst>
                                          <p:attrName>style.visibility</p:attrName>
                                        </p:attrNameLst>
                                      </p:cBhvr>
                                      <p:to>
                                        <p:strVal val="visible"/>
                                      </p:to>
                                    </p:set>
                                    <p:animEffect transition="in" filter="fade">
                                      <p:cBhvr>
                                        <p:cTn id="5" dur="400"/>
                                        <p:tgtEl>
                                          <p:spTgt spid="3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6"/>
                                        </p:tgtEl>
                                        <p:attrNameLst>
                                          <p:attrName>style.visibility</p:attrName>
                                        </p:attrNameLst>
                                      </p:cBhvr>
                                      <p:to>
                                        <p:strVal val="visible"/>
                                      </p:to>
                                    </p:set>
                                    <p:animEffect transition="in" filter="fade">
                                      <p:cBhvr>
                                        <p:cTn id="8" dur="400"/>
                                        <p:tgtEl>
                                          <p:spTgt spid="3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00"/>
                                        <p:tgtEl>
                                          <p:spTgt spid="3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400"/>
                                        <p:tgtEl>
                                          <p:spTgt spid="3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0"/>
                                        </p:tgtEl>
                                        <p:attrNameLst>
                                          <p:attrName>style.visibility</p:attrName>
                                        </p:attrNameLst>
                                      </p:cBhvr>
                                      <p:to>
                                        <p:strVal val="visible"/>
                                      </p:to>
                                    </p:set>
                                    <p:animEffect transition="in" filter="fade">
                                      <p:cBhvr>
                                        <p:cTn id="20" dur="400"/>
                                        <p:tgtEl>
                                          <p:spTgt spid="4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Effect transition="in" filter="fade">
                                      <p:cBhvr>
                                        <p:cTn id="23" dur="400"/>
                                        <p:tgtEl>
                                          <p:spTgt spid="4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2"/>
                                        </p:tgtEl>
                                        <p:attrNameLst>
                                          <p:attrName>style.visibility</p:attrName>
                                        </p:attrNameLst>
                                      </p:cBhvr>
                                      <p:to>
                                        <p:strVal val="visible"/>
                                      </p:to>
                                    </p:set>
                                    <p:animEffect transition="in" filter="fade">
                                      <p:cBhvr>
                                        <p:cTn id="26" dur="400"/>
                                        <p:tgtEl>
                                          <p:spTgt spid="4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6"/>
                                        </p:tgtEl>
                                        <p:attrNameLst>
                                          <p:attrName>style.visibility</p:attrName>
                                        </p:attrNameLst>
                                      </p:cBhvr>
                                      <p:to>
                                        <p:strVal val="visible"/>
                                      </p:to>
                                    </p:set>
                                    <p:animEffect transition="in" filter="fade">
                                      <p:cBhvr>
                                        <p:cTn id="38" dur="400"/>
                                        <p:tgtEl>
                                          <p:spTgt spid="4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animEffect transition="in" filter="fade">
                                      <p:cBhvr>
                                        <p:cTn id="41" dur="400"/>
                                        <p:tgtEl>
                                          <p:spTgt spid="4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8"/>
                                        </p:tgtEl>
                                        <p:attrNameLst>
                                          <p:attrName>style.visibility</p:attrName>
                                        </p:attrNameLst>
                                      </p:cBhvr>
                                      <p:to>
                                        <p:strVal val="visible"/>
                                      </p:to>
                                    </p:set>
                                    <p:animEffect transition="in" filter="fade">
                                      <p:cBhvr>
                                        <p:cTn id="44" dur="400"/>
                                        <p:tgtEl>
                                          <p:spTgt spid="4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0"/>
                                        </p:tgtEl>
                                        <p:attrNameLst>
                                          <p:attrName>style.visibility</p:attrName>
                                        </p:attrNameLst>
                                      </p:cBhvr>
                                      <p:to>
                                        <p:strVal val="visible"/>
                                      </p:to>
                                    </p:set>
                                    <p:animEffect transition="in" filter="fade">
                                      <p:cBhvr>
                                        <p:cTn id="50" dur="400"/>
                                        <p:tgtEl>
                                          <p:spTgt spid="5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animEffect transition="in" filter="fade">
                                      <p:cBhvr>
                                        <p:cTn id="53" dur="400"/>
                                        <p:tgtEl>
                                          <p:spTgt spid="51"/>
                                        </p:tgtEl>
                                      </p:cBhvr>
                                    </p:animEffect>
                                  </p:childTnLst>
                                </p:cTn>
                              </p:par>
                            </p:childTnLst>
                          </p:cTn>
                        </p:par>
                      </p:childTnLst>
                    </p:cTn>
                  </p:par>
                  <p:par>
                    <p:cTn id="122" fill="hold">
                      <p:stCondLst>
                        <p:cond delay="indefinite"/>
                      </p:stCondLst>
                      <p:childTnLst>
                        <p:par>
                          <p:cTn id="123"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71"/>
                                        </p:tgtEl>
                                        <p:attrNameLst>
                                          <p:attrName>style.visibility</p:attrName>
                                        </p:attrNameLst>
                                      </p:cBhvr>
                                      <p:to>
                                        <p:strVal val="visible"/>
                                      </p:to>
                                    </p:set>
                                    <p:animEffect transition="in" filter="fade">
                                      <p:cBhvr>
                                        <p:cTn id="115" dur="400"/>
                                        <p:tgtEl>
                                          <p:spTgt spid="71"/>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72"/>
                                        </p:tgtEl>
                                        <p:attrNameLst>
                                          <p:attrName>style.visibility</p:attrName>
                                        </p:attrNameLst>
                                      </p:cBhvr>
                                      <p:to>
                                        <p:strVal val="visible"/>
                                      </p:to>
                                    </p:set>
                                    <p:animEffect transition="in" filter="fade">
                                      <p:cBhvr>
                                        <p:cTn id="118" dur="400"/>
                                        <p:tgtEl>
                                          <p:spTgt spid="72"/>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73"/>
                                        </p:tgtEl>
                                        <p:attrNameLst>
                                          <p:attrName>style.visibility</p:attrName>
                                        </p:attrNameLst>
                                      </p:cBhvr>
                                      <p:to>
                                        <p:strVal val="visible"/>
                                      </p:to>
                                    </p:set>
                                    <p:animEffect transition="in" filter="fade">
                                      <p:cBhvr>
                                        <p:cTn id="121" dur="4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cambio rompe algo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pipeline es la red de seguridad: un error se detiene en el Pull Request, no en producción.</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bug"/>
          <p:cNvSpPr/>
          <p:nvPr/>
        </p:nvSpPr>
        <p:spPr>
          <a:xfrm>
            <a:off x="1018642" y="1951330"/>
            <a:ext cx="285293" cy="285293"/>
          </a:xfrm>
          <a:custGeom>
            <a:avLst/>
            <a:gdLst/>
            <a:ahLst/>
            <a:cxnLst/>
            <a:rect l="l" t="t" r="r" b="b"/>
            <a:pathLst>
              <a:path w="285293" h="285293">
                <a:moveTo>
                  <a:pt x="95098" y="23774"/>
                </a:moveTo>
                <a:lnTo>
                  <a:pt x="117446" y="46122"/>
                </a:lnTo>
                <a:moveTo>
                  <a:pt x="167847" y="46122"/>
                </a:moveTo>
                <a:lnTo>
                  <a:pt x="190195" y="23774"/>
                </a:lnTo>
                <a:moveTo>
                  <a:pt x="106985" y="84756"/>
                </a:moveTo>
                <a:lnTo>
                  <a:pt x="106985" y="72869"/>
                </a:lnTo>
                <a:cubicBezTo>
                  <a:pt x="106398" y="59747"/>
                  <a:pt x="113064" y="47364"/>
                  <a:pt x="124339" y="40628"/>
                </a:cubicBezTo>
                <a:cubicBezTo>
                  <a:pt x="135615" y="33892"/>
                  <a:pt x="149678" y="33892"/>
                  <a:pt x="160954" y="40628"/>
                </a:cubicBezTo>
                <a:cubicBezTo>
                  <a:pt x="172229" y="47364"/>
                  <a:pt x="178895" y="59747"/>
                  <a:pt x="178308" y="72869"/>
                </a:cubicBezTo>
                <a:lnTo>
                  <a:pt x="178308" y="84756"/>
                </a:lnTo>
                <a:moveTo>
                  <a:pt x="142646" y="237744"/>
                </a:moveTo>
                <a:cubicBezTo>
                  <a:pt x="103419" y="237744"/>
                  <a:pt x="71323" y="205649"/>
                  <a:pt x="71323" y="166421"/>
                </a:cubicBezTo>
                <a:lnTo>
                  <a:pt x="71323" y="130759"/>
                </a:lnTo>
                <a:cubicBezTo>
                  <a:pt x="71323" y="104499"/>
                  <a:pt x="92612" y="83210"/>
                  <a:pt x="118872" y="83210"/>
                </a:cubicBezTo>
                <a:lnTo>
                  <a:pt x="166421" y="83210"/>
                </a:lnTo>
                <a:cubicBezTo>
                  <a:pt x="192681" y="83210"/>
                  <a:pt x="213970" y="104499"/>
                  <a:pt x="213970" y="130759"/>
                </a:cubicBezTo>
                <a:lnTo>
                  <a:pt x="213970" y="166421"/>
                </a:lnTo>
                <a:cubicBezTo>
                  <a:pt x="213970" y="205649"/>
                  <a:pt x="181874" y="237744"/>
                  <a:pt x="142646" y="237744"/>
                </a:cubicBezTo>
                <a:moveTo>
                  <a:pt x="142646" y="237744"/>
                </a:moveTo>
                <a:lnTo>
                  <a:pt x="142646" y="130759"/>
                </a:lnTo>
                <a:moveTo>
                  <a:pt x="77623" y="106985"/>
                </a:moveTo>
                <a:cubicBezTo>
                  <a:pt x="54681" y="104607"/>
                  <a:pt x="35662" y="84399"/>
                  <a:pt x="35662" y="59436"/>
                </a:cubicBezTo>
                <a:moveTo>
                  <a:pt x="71323" y="154534"/>
                </a:moveTo>
                <a:lnTo>
                  <a:pt x="23774" y="154534"/>
                </a:lnTo>
                <a:moveTo>
                  <a:pt x="35662" y="249631"/>
                </a:moveTo>
                <a:cubicBezTo>
                  <a:pt x="35662" y="224668"/>
                  <a:pt x="55870" y="203271"/>
                  <a:pt x="80833" y="202082"/>
                </a:cubicBezTo>
                <a:moveTo>
                  <a:pt x="249275" y="59436"/>
                </a:moveTo>
                <a:cubicBezTo>
                  <a:pt x="249275" y="84399"/>
                  <a:pt x="230255" y="104607"/>
                  <a:pt x="207669" y="106985"/>
                </a:cubicBezTo>
                <a:moveTo>
                  <a:pt x="261518" y="154534"/>
                </a:moveTo>
                <a:lnTo>
                  <a:pt x="213970" y="154534"/>
                </a:lnTo>
                <a:moveTo>
                  <a:pt x="204460" y="202082"/>
                </a:moveTo>
                <a:cubicBezTo>
                  <a:pt x="229423" y="203271"/>
                  <a:pt x="249631" y="224668"/>
                  <a:pt x="249631" y="249631"/>
                </a:cubicBez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500" b="1" dirty="0">
                <a:solidFill>
                  <a:srgbClr val="AB243E"/>
                </a:solidFill>
                <a:latin typeface="Segoe UI" pitchFamily="34" charset="0"/>
                <a:ea typeface="Segoe UI" pitchFamily="34" charset="-122"/>
                <a:cs typeface="Segoe UI" pitchFamily="34" charset="-120"/>
              </a:rPr>
              <a:t>Un cambio rompe una regla</a:t>
            </a:r>
            <a:pPr indent="0" marL="0">
              <a:buNone/>
            </a:pPr>
            <a:r>
              <a:rPr lang="en-US" sz="1500" dirty="0">
                <a:solidFill>
                  <a:srgbClr val="0B1A3C"/>
                </a:solidFill>
                <a:latin typeface="Segoe UI" pitchFamily="34" charset="0"/>
                <a:ea typeface="Segoe UI" pitchFamily="34" charset="-122"/>
                <a:cs typeface="Segoe UI" pitchFamily="34" charset="-120"/>
              </a:rPr>
              <a:t>   Por ejemplo, ahora deja enviar dos veces la misma solicitud.</a:t>
            </a:r>
            <a:endParaRPr lang="en-US" sz="15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shield-check"/>
          <p:cNvSpPr/>
          <p:nvPr/>
        </p:nvSpPr>
        <p:spPr>
          <a:xfrm>
            <a:off x="1018642" y="5837530"/>
            <a:ext cx="285293" cy="285293"/>
          </a:xfrm>
          <a:custGeom>
            <a:avLst/>
            <a:gdLst/>
            <a:ahLst/>
            <a:cxnLst/>
            <a:rect l="l" t="t" r="r" b="b"/>
            <a:pathLst>
              <a:path w="285293" h="285293">
                <a:moveTo>
                  <a:pt x="237744" y="154534"/>
                </a:moveTo>
                <a:cubicBezTo>
                  <a:pt x="237744" y="213970"/>
                  <a:pt x="196139" y="243688"/>
                  <a:pt x="146688" y="260924"/>
                </a:cubicBezTo>
                <a:cubicBezTo>
                  <a:pt x="144099" y="261802"/>
                  <a:pt x="141286" y="261760"/>
                  <a:pt x="138724" y="260805"/>
                </a:cubicBezTo>
                <a:cubicBezTo>
                  <a:pt x="89154" y="243688"/>
                  <a:pt x="47549" y="213970"/>
                  <a:pt x="47549" y="154534"/>
                </a:cubicBezTo>
                <a:lnTo>
                  <a:pt x="47549" y="71323"/>
                </a:lnTo>
                <a:cubicBezTo>
                  <a:pt x="47549" y="64758"/>
                  <a:pt x="52871" y="59436"/>
                  <a:pt x="59436" y="59436"/>
                </a:cubicBezTo>
                <a:cubicBezTo>
                  <a:pt x="83210" y="59436"/>
                  <a:pt x="112928" y="45171"/>
                  <a:pt x="133612" y="27103"/>
                </a:cubicBezTo>
                <a:cubicBezTo>
                  <a:pt x="138815" y="22658"/>
                  <a:pt x="146478" y="22658"/>
                  <a:pt x="151681" y="27103"/>
                </a:cubicBezTo>
                <a:cubicBezTo>
                  <a:pt x="172483" y="45290"/>
                  <a:pt x="202082" y="59436"/>
                  <a:pt x="225857" y="59436"/>
                </a:cubicBezTo>
                <a:cubicBezTo>
                  <a:pt x="232422" y="59436"/>
                  <a:pt x="237744" y="64758"/>
                  <a:pt x="237744" y="71323"/>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350" b="1" dirty="0">
                <a:solidFill>
                  <a:srgbClr val="0A6648"/>
                </a:solidFill>
                <a:latin typeface="Segoe UI" pitchFamily="34" charset="0"/>
                <a:ea typeface="Segoe UI" pitchFamily="34" charset="-122"/>
                <a:cs typeface="Segoe UI" pitchFamily="34" charset="-120"/>
              </a:rPr>
              <a:t>El error nunca llegó a main</a:t>
            </a:r>
            <a:pPr indent="0" marL="0">
              <a:buNone/>
            </a:pPr>
            <a:r>
              <a:rPr lang="en-US" sz="1350" dirty="0">
                <a:solidFill>
                  <a:srgbClr val="0B1A3C"/>
                </a:solidFill>
                <a:latin typeface="Segoe UI" pitchFamily="34" charset="0"/>
                <a:ea typeface="Segoe UI" pitchFamily="34" charset="-122"/>
                <a:cs typeface="Segoe UI" pitchFamily="34" charset="-120"/>
              </a:rPr>
              <a:t>   Y no se publicó ninguna imagen: publicar va después de las pruebas.</a:t>
            </a:r>
            <a:endParaRPr lang="en-US" sz="13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5719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push</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git-pull-request"/>
          <p:cNvSpPr/>
          <p:nvPr/>
        </p:nvSpPr>
        <p:spPr>
          <a:xfrm>
            <a:off x="1756706" y="3375263"/>
            <a:ext cx="453484" cy="453484"/>
          </a:xfrm>
          <a:custGeom>
            <a:avLst/>
            <a:gdLst/>
            <a:ahLst/>
            <a:cxnLst/>
            <a:rect l="l" t="t" r="r" b="b"/>
            <a:pathLst>
              <a:path w="453484" h="453484">
                <a:moveTo>
                  <a:pt x="396798" y="340113"/>
                </a:moveTo>
                <a:cubicBezTo>
                  <a:pt x="396798" y="371419"/>
                  <a:pt x="371419" y="396798"/>
                  <a:pt x="340113" y="396798"/>
                </a:cubicBezTo>
                <a:cubicBezTo>
                  <a:pt x="308806" y="396798"/>
                  <a:pt x="283427" y="371419"/>
                  <a:pt x="283427" y="340113"/>
                </a:cubicBezTo>
                <a:cubicBezTo>
                  <a:pt x="283427" y="308806"/>
                  <a:pt x="308806" y="283427"/>
                  <a:pt x="340113" y="283427"/>
                </a:cubicBezTo>
                <a:cubicBezTo>
                  <a:pt x="371419" y="283427"/>
                  <a:pt x="396798" y="308806"/>
                  <a:pt x="396798" y="340113"/>
                </a:cubicBezTo>
                <a:close/>
                <a:moveTo>
                  <a:pt x="170056" y="113371"/>
                </a:moveTo>
                <a:cubicBezTo>
                  <a:pt x="170056" y="144677"/>
                  <a:pt x="144677" y="170056"/>
                  <a:pt x="113371" y="170056"/>
                </a:cubicBezTo>
                <a:cubicBezTo>
                  <a:pt x="82064" y="170056"/>
                  <a:pt x="56685" y="144677"/>
                  <a:pt x="56685" y="113371"/>
                </a:cubicBezTo>
                <a:cubicBezTo>
                  <a:pt x="56685" y="82064"/>
                  <a:pt x="82064" y="56685"/>
                  <a:pt x="113371" y="56685"/>
                </a:cubicBezTo>
                <a:cubicBezTo>
                  <a:pt x="144677" y="56685"/>
                  <a:pt x="170056" y="82064"/>
                  <a:pt x="170056" y="113371"/>
                </a:cubicBezTo>
                <a:close/>
                <a:moveTo>
                  <a:pt x="245637" y="113371"/>
                </a:moveTo>
                <a:lnTo>
                  <a:pt x="302323" y="113371"/>
                </a:lnTo>
                <a:cubicBezTo>
                  <a:pt x="323194" y="113371"/>
                  <a:pt x="340113" y="130290"/>
                  <a:pt x="340113" y="151161"/>
                </a:cubicBezTo>
                <a:lnTo>
                  <a:pt x="340113" y="283427"/>
                </a:lnTo>
                <a:moveTo>
                  <a:pt x="113371" y="170056"/>
                </a:moveTo>
                <a:lnTo>
                  <a:pt x="113371" y="396798"/>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Se actualiza el PR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El pipeline arranca solo.</a:t>
            </a:r>
            <a:endParaRPr lang="en-US" sz="1300" dirty="0"/>
          </a:p>
        </p:txBody>
      </p:sp>
      <p:sp>
        <p:nvSpPr>
          <p:cNvPr id="34" name="[p2] Forma"/>
          <p:cNvSpPr/>
          <p:nvPr/>
        </p:nvSpPr>
        <p:spPr>
          <a:xfrm>
            <a:off x="4176408" y="2724912"/>
            <a:ext cx="109728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minutos</a:t>
            </a:r>
            <a:endParaRPr lang="en-US" sz="1100" dirty="0"/>
          </a:p>
        </p:txBody>
      </p:sp>
      <p:sp>
        <p:nvSpPr>
          <p:cNvPr id="35" name="[p2] Forma"/>
          <p:cNvSpPr/>
          <p:nvPr/>
        </p:nvSpPr>
        <p:spPr>
          <a:xfrm>
            <a:off x="4305155" y="3182112"/>
            <a:ext cx="839785" cy="839785"/>
          </a:xfrm>
          <a:prstGeom prst="ellipse">
            <a:avLst/>
          </a:prstGeom>
          <a:solidFill>
            <a:srgbClr val="F7E3E7"/>
          </a:solidFill>
          <a:ln w="31750">
            <a:solidFill>
              <a:srgbClr val="AB243E"/>
            </a:solidFill>
            <a:prstDash val="solid"/>
          </a:ln>
          <a:effectLst>
            <a:outerShdw sx="100000" sy="100000" kx="0" ky="0" algn="bl" rotWithShape="0" blurRad="76200" dist="19050" dir="5400000">
              <a:srgbClr val="0B1F3A">
                <a:alpha val="14000"/>
              </a:srgbClr>
            </a:outerShdw>
          </a:effectLst>
        </p:spPr>
      </p:sp>
      <p:sp>
        <p:nvSpPr>
          <p:cNvPr id="36" name="[p2] Icono flask-conical"/>
          <p:cNvSpPr/>
          <p:nvPr/>
        </p:nvSpPr>
        <p:spPr>
          <a:xfrm>
            <a:off x="4498306" y="3375263"/>
            <a:ext cx="453484" cy="453484"/>
          </a:xfrm>
          <a:custGeom>
            <a:avLst/>
            <a:gdLst/>
            <a:ahLst/>
            <a:cxnLst/>
            <a:rect l="l" t="t" r="r" b="b"/>
            <a:pathLst>
              <a:path w="453484" h="453484">
                <a:moveTo>
                  <a:pt x="264532" y="37790"/>
                </a:moveTo>
                <a:lnTo>
                  <a:pt x="264532" y="151161"/>
                </a:lnTo>
                <a:cubicBezTo>
                  <a:pt x="264530" y="157500"/>
                  <a:pt x="266122" y="163738"/>
                  <a:pt x="269162" y="169301"/>
                </a:cubicBezTo>
                <a:lnTo>
                  <a:pt x="373274" y="359764"/>
                </a:lnTo>
                <a:cubicBezTo>
                  <a:pt x="379681" y="371474"/>
                  <a:pt x="379435" y="385695"/>
                  <a:pt x="372628" y="397176"/>
                </a:cubicBezTo>
                <a:cubicBezTo>
                  <a:pt x="365820" y="408658"/>
                  <a:pt x="353461" y="415697"/>
                  <a:pt x="340113" y="415694"/>
                </a:cubicBezTo>
                <a:lnTo>
                  <a:pt x="113371" y="415694"/>
                </a:lnTo>
                <a:cubicBezTo>
                  <a:pt x="100023" y="415697"/>
                  <a:pt x="87663" y="408658"/>
                  <a:pt x="80856" y="397176"/>
                </a:cubicBezTo>
                <a:cubicBezTo>
                  <a:pt x="74048" y="385695"/>
                  <a:pt x="73803" y="371474"/>
                  <a:pt x="80210" y="359764"/>
                </a:cubicBezTo>
                <a:lnTo>
                  <a:pt x="184322" y="169301"/>
                </a:lnTo>
                <a:cubicBezTo>
                  <a:pt x="187362" y="163738"/>
                  <a:pt x="188954" y="157500"/>
                  <a:pt x="188952" y="151161"/>
                </a:cubicBezTo>
                <a:lnTo>
                  <a:pt x="188952" y="37790"/>
                </a:lnTo>
                <a:moveTo>
                  <a:pt x="121930" y="283427"/>
                </a:moveTo>
                <a:lnTo>
                  <a:pt x="331553" y="283427"/>
                </a:lnTo>
                <a:moveTo>
                  <a:pt x="160609" y="37790"/>
                </a:moveTo>
                <a:lnTo>
                  <a:pt x="292875" y="37790"/>
                </a:lnTo>
              </a:path>
            </a:pathLst>
          </a:custGeom>
          <a:noFill/>
          <a:ln w="33067" cap="rnd">
            <a:solidFill>
              <a:srgbClr val="AB243E"/>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AB243E"/>
                </a:solidFill>
                <a:latin typeface="Segoe UI Semibold" pitchFamily="34" charset="0"/>
                <a:ea typeface="Segoe UI Semibold" pitchFamily="34" charset="-122"/>
                <a:cs typeface="Segoe UI Semibold" pitchFamily="34" charset="-120"/>
              </a:rPr>
              <a:t>Falla una prueba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de esa regla: queda en rojo.</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el PR</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Qué trabajo, qué paso y por qué.</a:t>
            </a:r>
            <a:endParaRPr lang="en-US" sz="1300" dirty="0"/>
          </a:p>
        </p:txBody>
      </p:sp>
      <p:sp>
        <p:nvSpPr>
          <p:cNvPr id="46" name="[p4] Forma"/>
          <p:cNvSpPr/>
          <p:nvPr/>
        </p:nvSpPr>
        <p:spPr>
          <a:xfrm>
            <a:off x="9522447" y="2724912"/>
            <a:ext cx="13716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corrección</a:t>
            </a:r>
            <a:endParaRPr lang="en-US" sz="1100" dirty="0"/>
          </a:p>
        </p:txBody>
      </p:sp>
      <p:sp>
        <p:nvSpPr>
          <p:cNvPr id="47" name="[p4] Forma"/>
          <p:cNvSpPr/>
          <p:nvPr/>
        </p:nvSpPr>
        <p:spPr>
          <a:xfrm>
            <a:off x="97883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8" name="[p4] Icono refresh-cw"/>
          <p:cNvSpPr/>
          <p:nvPr/>
        </p:nvSpPr>
        <p:spPr>
          <a:xfrm>
            <a:off x="9981505"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0B6E8A"/>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Se corrige</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Nuevo push: vuelve a correr.</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la imagen al commit: qué código está corriendo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Cada imagen lleva el código de su commit: siempre se sabe qué versión corre y se puede volver atrás.</a:t>
            </a:r>
            <a:endParaRPr lang="en-US" sz="165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package"/>
          <p:cNvSpPr/>
          <p:nvPr/>
        </p:nvSpPr>
        <p:spPr>
          <a:xfrm>
            <a:off x="15884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imagen</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servicio-solicitudes:&lt;SHA&gt;</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git-commit-horizontal"/>
          <p:cNvSpPr/>
          <p:nvPr/>
        </p:nvSpPr>
        <p:spPr>
          <a:xfrm>
            <a:off x="4330027" y="2901391"/>
            <a:ext cx="790042" cy="790042"/>
          </a:xfrm>
          <a:custGeom>
            <a:avLst/>
            <a:gdLst/>
            <a:ahLst/>
            <a:cxnLst/>
            <a:rect l="l" t="t" r="r" b="b"/>
            <a:pathLst>
              <a:path w="790042" h="790042">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moveTo>
                  <a:pt x="98755" y="395021"/>
                </a:moveTo>
                <a:lnTo>
                  <a:pt x="296266" y="395021"/>
                </a:lnTo>
                <a:moveTo>
                  <a:pt x="493776" y="395021"/>
                </a:moveTo>
                <a:lnTo>
                  <a:pt x="691286" y="395021"/>
                </a:lnTo>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commit</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SHA es el código exacto.</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git-pull-request"/>
          <p:cNvSpPr/>
          <p:nvPr/>
        </p:nvSpPr>
        <p:spPr>
          <a:xfrm>
            <a:off x="7071627" y="2901391"/>
            <a:ext cx="790042" cy="790042"/>
          </a:xfrm>
          <a:custGeom>
            <a:avLst/>
            <a:gdLst/>
            <a:ahLst/>
            <a:cxnLst/>
            <a:rect l="l" t="t" r="r" b="b"/>
            <a:pathLst>
              <a:path w="790042" h="790042">
                <a:moveTo>
                  <a:pt x="691286" y="592531"/>
                </a:moveTo>
                <a:cubicBezTo>
                  <a:pt x="691286" y="647072"/>
                  <a:pt x="647072" y="691286"/>
                  <a:pt x="592531" y="691286"/>
                </a:cubicBezTo>
                <a:cubicBezTo>
                  <a:pt x="537990" y="691286"/>
                  <a:pt x="493776" y="647072"/>
                  <a:pt x="493776" y="592531"/>
                </a:cubicBezTo>
                <a:cubicBezTo>
                  <a:pt x="493776" y="537990"/>
                  <a:pt x="537990" y="493776"/>
                  <a:pt x="592531" y="493776"/>
                </a:cubicBezTo>
                <a:cubicBezTo>
                  <a:pt x="647072" y="493776"/>
                  <a:pt x="691286" y="537990"/>
                  <a:pt x="691286" y="592531"/>
                </a:cubicBezTo>
                <a:close/>
                <a:moveTo>
                  <a:pt x="296266" y="197510"/>
                </a:moveTo>
                <a:cubicBezTo>
                  <a:pt x="296266" y="252051"/>
                  <a:pt x="252051" y="296266"/>
                  <a:pt x="197510" y="296266"/>
                </a:cubicBezTo>
                <a:cubicBezTo>
                  <a:pt x="142969" y="296266"/>
                  <a:pt x="98755" y="252051"/>
                  <a:pt x="98755" y="197510"/>
                </a:cubicBezTo>
                <a:cubicBezTo>
                  <a:pt x="98755" y="142969"/>
                  <a:pt x="142969" y="98755"/>
                  <a:pt x="197510" y="98755"/>
                </a:cubicBezTo>
                <a:cubicBezTo>
                  <a:pt x="252051" y="98755"/>
                  <a:pt x="296266" y="142969"/>
                  <a:pt x="296266" y="197510"/>
                </a:cubicBezTo>
                <a:close/>
                <a:moveTo>
                  <a:pt x="427939" y="197510"/>
                </a:moveTo>
                <a:lnTo>
                  <a:pt x="526694" y="197510"/>
                </a:lnTo>
                <a:cubicBezTo>
                  <a:pt x="563055" y="197510"/>
                  <a:pt x="592531" y="226987"/>
                  <a:pt x="592531" y="263347"/>
                </a:cubicBezTo>
                <a:lnTo>
                  <a:pt x="592531" y="493776"/>
                </a:lnTo>
                <a:moveTo>
                  <a:pt x="197510" y="296266"/>
                </a:moveTo>
                <a:lnTo>
                  <a:pt x="197510" y="691286"/>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Pull Request</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Quién lo pidió y quién lo revisó.</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rotate-ccw"/>
          <p:cNvSpPr/>
          <p:nvPr/>
        </p:nvSpPr>
        <p:spPr>
          <a:xfrm>
            <a:off x="9813226" y="2901391"/>
            <a:ext cx="790042" cy="790042"/>
          </a:xfrm>
          <a:custGeom>
            <a:avLst/>
            <a:gdLst/>
            <a:ahLst/>
            <a:cxnLst/>
            <a:rect l="l" t="t" r="r" b="b"/>
            <a:pathLst>
              <a:path w="790042" h="790042">
                <a:moveTo>
                  <a:pt x="98755" y="395021"/>
                </a:moveTo>
                <a:cubicBezTo>
                  <a:pt x="98755" y="558644"/>
                  <a:pt x="231398" y="691286"/>
                  <a:pt x="395021" y="691286"/>
                </a:cubicBezTo>
                <a:cubicBezTo>
                  <a:pt x="558644" y="691286"/>
                  <a:pt x="691286" y="558644"/>
                  <a:pt x="691286" y="395021"/>
                </a:cubicBezTo>
                <a:cubicBezTo>
                  <a:pt x="691286" y="231398"/>
                  <a:pt x="558644" y="98755"/>
                  <a:pt x="395021" y="98755"/>
                </a:cubicBezTo>
                <a:cubicBezTo>
                  <a:pt x="312197" y="99067"/>
                  <a:pt x="232699" y="131385"/>
                  <a:pt x="173151" y="188952"/>
                </a:cubicBezTo>
                <a:lnTo>
                  <a:pt x="98755" y="263347"/>
                </a:lnTo>
                <a:moveTo>
                  <a:pt x="98755" y="98755"/>
                </a:moveTo>
                <a:lnTo>
                  <a:pt x="98755" y="263347"/>
                </a:lnTo>
                <a:lnTo>
                  <a:pt x="263347" y="263347"/>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Volver atrás</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Desplegar la imagen anterior.</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trabaja Kubernetes: del archivo al Pod</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450" dirty="0">
                <a:solidFill>
                  <a:srgbClr val="55627E"/>
                </a:solidFill>
                <a:latin typeface="Segoe UI" pitchFamily="34" charset="0"/>
                <a:ea typeface="Segoe UI" pitchFamily="34" charset="-122"/>
                <a:cs typeface="Segoe UI" pitchFamily="34" charset="-120"/>
              </a:rPr>
              <a:t>Describimos en un archivo cómo queremos el sistema; Kubernetes hace lo necesario para que así sea, todo el tiempo.</a:t>
            </a:r>
            <a:endParaRPr lang="en-US" sz="145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thermometer"/>
          <p:cNvSpPr/>
          <p:nvPr/>
        </p:nvSpPr>
        <p:spPr>
          <a:xfrm>
            <a:off x="900867" y="5911779"/>
            <a:ext cx="228234" cy="228234"/>
          </a:xfrm>
          <a:custGeom>
            <a:avLst/>
            <a:gdLst/>
            <a:ahLst/>
            <a:cxnLst/>
            <a:rect l="l" t="t" r="r" b="b"/>
            <a:pathLst>
              <a:path w="228234" h="228234">
                <a:moveTo>
                  <a:pt x="133137" y="38039"/>
                </a:moveTo>
                <a:lnTo>
                  <a:pt x="133137" y="138272"/>
                </a:lnTo>
                <a:cubicBezTo>
                  <a:pt x="148047" y="146880"/>
                  <a:pt x="155316" y="164430"/>
                  <a:pt x="150860" y="181060"/>
                </a:cubicBezTo>
                <a:cubicBezTo>
                  <a:pt x="146404" y="197690"/>
                  <a:pt x="131334" y="209254"/>
                  <a:pt x="114117" y="209254"/>
                </a:cubicBezTo>
                <a:cubicBezTo>
                  <a:pt x="96900" y="209254"/>
                  <a:pt x="81830" y="197690"/>
                  <a:pt x="77374" y="181060"/>
                </a:cubicBezTo>
                <a:cubicBezTo>
                  <a:pt x="72918" y="164430"/>
                  <a:pt x="80188" y="146880"/>
                  <a:pt x="95098" y="138272"/>
                </a:cubicBezTo>
                <a:lnTo>
                  <a:pt x="95098" y="38039"/>
                </a:lnTo>
                <a:cubicBezTo>
                  <a:pt x="95098" y="27535"/>
                  <a:pt x="103613" y="19020"/>
                  <a:pt x="114117" y="19020"/>
                </a:cubicBezTo>
                <a:cubicBezTo>
                  <a:pt x="124621" y="19020"/>
                  <a:pt x="133137" y="27535"/>
                  <a:pt x="133137" y="3803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termostato: no le decimos cuándo prender el aire, le decimos la temperatura que queremos y él se encarga.</a:t>
            </a:r>
            <a:endParaRPr lang="en-US" sz="1450" dirty="0"/>
          </a:p>
        </p:txBody>
      </p:sp>
      <p:sp>
        <p:nvSpPr>
          <p:cNvPr id="17" name="Shape 15"/>
          <p:cNvSpPr/>
          <p:nvPr/>
        </p:nvSpPr>
        <p:spPr>
          <a:xfrm>
            <a:off x="102412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file-code"/>
          <p:cNvSpPr/>
          <p:nvPr/>
        </p:nvSpPr>
        <p:spPr>
          <a:xfrm>
            <a:off x="1339302" y="2505802"/>
            <a:ext cx="739973" cy="739973"/>
          </a:xfrm>
          <a:custGeom>
            <a:avLst/>
            <a:gdLst/>
            <a:ahLst/>
            <a:cxnLst/>
            <a:rect l="l" t="t" r="r" b="b"/>
            <a:pathLst>
              <a:path w="739973" h="739973">
                <a:moveTo>
                  <a:pt x="308322" y="385402"/>
                </a:moveTo>
                <a:lnTo>
                  <a:pt x="246658" y="462483"/>
                </a:lnTo>
                <a:lnTo>
                  <a:pt x="308322" y="539563"/>
                </a:lnTo>
                <a:moveTo>
                  <a:pt x="431651" y="385402"/>
                </a:moveTo>
                <a:lnTo>
                  <a:pt x="493315" y="462483"/>
                </a:lnTo>
                <a:lnTo>
                  <a:pt x="431651" y="539563"/>
                </a:lnTo>
                <a:moveTo>
                  <a:pt x="431651" y="61664"/>
                </a:moveTo>
                <a:lnTo>
                  <a:pt x="431651" y="184993"/>
                </a:lnTo>
                <a:cubicBezTo>
                  <a:pt x="431651" y="219049"/>
                  <a:pt x="459259" y="246658"/>
                  <a:pt x="493315" y="246658"/>
                </a:cubicBezTo>
                <a:lnTo>
                  <a:pt x="616644" y="246658"/>
                </a:lnTo>
                <a:moveTo>
                  <a:pt x="462483" y="61664"/>
                </a:moveTo>
                <a:lnTo>
                  <a:pt x="184993" y="61664"/>
                </a:lnTo>
                <a:cubicBezTo>
                  <a:pt x="150937" y="61664"/>
                  <a:pt x="123329" y="89272"/>
                  <a:pt x="123329" y="123329"/>
                </a:cubicBezTo>
                <a:lnTo>
                  <a:pt x="123329" y="616644"/>
                </a:lnTo>
                <a:cubicBezTo>
                  <a:pt x="123329" y="650700"/>
                  <a:pt x="150937" y="678308"/>
                  <a:pt x="184993" y="678308"/>
                </a:cubicBezTo>
                <a:lnTo>
                  <a:pt x="554980" y="678308"/>
                </a:lnTo>
                <a:cubicBezTo>
                  <a:pt x="589036" y="678308"/>
                  <a:pt x="616644" y="650700"/>
                  <a:pt x="616644" y="616644"/>
                </a:cubicBezTo>
                <a:lnTo>
                  <a:pt x="616644" y="215825"/>
                </a:lnTo>
                <a:close/>
              </a:path>
            </a:pathLst>
          </a:custGeom>
          <a:noFill/>
          <a:ln w="53956" cap="rnd">
            <a:solidFill>
              <a:srgbClr val="0B2350"/>
            </a:solidFill>
            <a:prstDash val="solid"/>
            <a:round/>
          </a:ln>
        </p:spPr>
      </p:sp>
      <p:sp>
        <p:nvSpPr>
          <p:cNvPr id="19" name="Text 17"/>
          <p:cNvSpPr/>
          <p:nvPr/>
        </p:nvSpPr>
        <p:spPr>
          <a:xfrm>
            <a:off x="98755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Manifiesto YAML</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Qué imagen, cuántas copias y qué variables.</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terminal"/>
          <p:cNvSpPr/>
          <p:nvPr/>
        </p:nvSpPr>
        <p:spPr>
          <a:xfrm>
            <a:off x="3532581" y="2505802"/>
            <a:ext cx="739973" cy="739973"/>
          </a:xfrm>
          <a:custGeom>
            <a:avLst/>
            <a:gdLst/>
            <a:ahLst/>
            <a:cxnLst/>
            <a:rect l="l" t="t" r="r" b="b"/>
            <a:pathLst>
              <a:path w="739973" h="739973">
                <a:moveTo>
                  <a:pt x="123329" y="524147"/>
                </a:moveTo>
                <a:lnTo>
                  <a:pt x="308322" y="339154"/>
                </a:lnTo>
                <a:lnTo>
                  <a:pt x="123329" y="154161"/>
                </a:lnTo>
                <a:moveTo>
                  <a:pt x="369986" y="585812"/>
                </a:moveTo>
                <a:lnTo>
                  <a:pt x="616644" y="585812"/>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kubectl apply</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lo entrega al clúster.</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layers"/>
          <p:cNvSpPr/>
          <p:nvPr/>
        </p:nvSpPr>
        <p:spPr>
          <a:xfrm>
            <a:off x="5725861" y="2505802"/>
            <a:ext cx="739973" cy="739973"/>
          </a:xfrm>
          <a:custGeom>
            <a:avLst/>
            <a:gdLst/>
            <a:ahLst/>
            <a:cxnLst/>
            <a:rect l="l" t="t" r="r" b="b"/>
            <a:pathLst>
              <a:path w="739973" h="739973">
                <a:moveTo>
                  <a:pt x="395577" y="67214"/>
                </a:moveTo>
                <a:cubicBezTo>
                  <a:pt x="379322" y="59800"/>
                  <a:pt x="360651" y="59800"/>
                  <a:pt x="344396" y="67214"/>
                </a:cubicBezTo>
                <a:lnTo>
                  <a:pt x="80164" y="187460"/>
                </a:lnTo>
                <a:cubicBezTo>
                  <a:pt x="68985" y="192389"/>
                  <a:pt x="61771" y="203454"/>
                  <a:pt x="61771" y="215671"/>
                </a:cubicBezTo>
                <a:cubicBezTo>
                  <a:pt x="61771" y="227889"/>
                  <a:pt x="68985" y="238954"/>
                  <a:pt x="80164" y="243883"/>
                </a:cubicBezTo>
                <a:lnTo>
                  <a:pt x="344704" y="364437"/>
                </a:lnTo>
                <a:cubicBezTo>
                  <a:pt x="360959" y="371851"/>
                  <a:pt x="379630" y="371851"/>
                  <a:pt x="395885" y="364437"/>
                </a:cubicBezTo>
                <a:lnTo>
                  <a:pt x="660426" y="244191"/>
                </a:lnTo>
                <a:cubicBezTo>
                  <a:pt x="671605" y="239262"/>
                  <a:pt x="678818" y="228197"/>
                  <a:pt x="678818" y="215980"/>
                </a:cubicBezTo>
                <a:cubicBezTo>
                  <a:pt x="678818" y="203762"/>
                  <a:pt x="671605" y="192697"/>
                  <a:pt x="660426" y="187768"/>
                </a:cubicBezTo>
                <a:close/>
                <a:moveTo>
                  <a:pt x="61664" y="369986"/>
                </a:moveTo>
                <a:cubicBezTo>
                  <a:pt x="61635" y="382029"/>
                  <a:pt x="68618" y="392986"/>
                  <a:pt x="79547" y="398044"/>
                </a:cubicBezTo>
                <a:lnTo>
                  <a:pt x="344704" y="518598"/>
                </a:lnTo>
                <a:cubicBezTo>
                  <a:pt x="360872" y="525919"/>
                  <a:pt x="379410" y="525919"/>
                  <a:pt x="395577" y="518598"/>
                </a:cubicBezTo>
                <a:lnTo>
                  <a:pt x="660117" y="398352"/>
                </a:lnTo>
                <a:cubicBezTo>
                  <a:pt x="671269" y="393340"/>
                  <a:pt x="678405" y="382212"/>
                  <a:pt x="678308" y="369986"/>
                </a:cubicBezTo>
                <a:moveTo>
                  <a:pt x="61664" y="524147"/>
                </a:moveTo>
                <a:cubicBezTo>
                  <a:pt x="61635" y="536190"/>
                  <a:pt x="68618" y="547147"/>
                  <a:pt x="79547" y="552205"/>
                </a:cubicBezTo>
                <a:lnTo>
                  <a:pt x="344704" y="672759"/>
                </a:lnTo>
                <a:cubicBezTo>
                  <a:pt x="360872" y="680080"/>
                  <a:pt x="379410" y="680080"/>
                  <a:pt x="395577" y="672759"/>
                </a:cubicBezTo>
                <a:lnTo>
                  <a:pt x="660117" y="552513"/>
                </a:lnTo>
                <a:cubicBezTo>
                  <a:pt x="671269" y="547501"/>
                  <a:pt x="678405" y="536373"/>
                  <a:pt x="678308" y="524147"/>
                </a:cubicBezTo>
              </a:path>
            </a:pathLst>
          </a:custGeom>
          <a:noFill/>
          <a:ln w="53956" cap="rnd">
            <a:solidFill>
              <a:srgbClr val="0B6E8A"/>
            </a:solidFill>
            <a:prstDash val="solid"/>
            <a:round/>
          </a:ln>
        </p:spPr>
      </p:sp>
      <p:sp>
        <p:nvSpPr>
          <p:cNvPr id="31" name="[p2] Forma"/>
          <p:cNvSpPr/>
          <p:nvPr/>
        </p:nvSpPr>
        <p:spPr>
          <a:xfrm>
            <a:off x="537411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Deployment</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Crea los Pods con la imagen.</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network"/>
          <p:cNvSpPr/>
          <p:nvPr/>
        </p:nvSpPr>
        <p:spPr>
          <a:xfrm>
            <a:off x="7919141" y="2505802"/>
            <a:ext cx="739973" cy="739973"/>
          </a:xfrm>
          <a:custGeom>
            <a:avLst/>
            <a:gdLst/>
            <a:ahLst/>
            <a:cxnLst/>
            <a:rect l="l" t="t" r="r" b="b"/>
            <a:pathLst>
              <a:path w="739973" h="739973">
                <a:moveTo>
                  <a:pt x="524147" y="493315"/>
                </a:moveTo>
                <a:lnTo>
                  <a:pt x="647476" y="493315"/>
                </a:lnTo>
                <a:cubicBezTo>
                  <a:pt x="664504" y="493315"/>
                  <a:pt x="678308" y="507119"/>
                  <a:pt x="678308" y="524147"/>
                </a:cubicBezTo>
                <a:lnTo>
                  <a:pt x="678308" y="647476"/>
                </a:lnTo>
                <a:cubicBezTo>
                  <a:pt x="678308" y="664504"/>
                  <a:pt x="664504" y="678308"/>
                  <a:pt x="647476" y="678308"/>
                </a:cubicBezTo>
                <a:lnTo>
                  <a:pt x="524147" y="678308"/>
                </a:lnTo>
                <a:cubicBezTo>
                  <a:pt x="507119" y="678308"/>
                  <a:pt x="493315" y="664504"/>
                  <a:pt x="493315" y="647476"/>
                </a:cubicBezTo>
                <a:lnTo>
                  <a:pt x="493315" y="524147"/>
                </a:lnTo>
                <a:cubicBezTo>
                  <a:pt x="493315" y="507119"/>
                  <a:pt x="507119" y="493315"/>
                  <a:pt x="524147" y="493315"/>
                </a:cubicBezTo>
                <a:close/>
                <a:moveTo>
                  <a:pt x="92497" y="493315"/>
                </a:moveTo>
                <a:lnTo>
                  <a:pt x="215825" y="493315"/>
                </a:lnTo>
                <a:cubicBezTo>
                  <a:pt x="232854" y="493315"/>
                  <a:pt x="246658" y="507119"/>
                  <a:pt x="246658" y="524147"/>
                </a:cubicBezTo>
                <a:lnTo>
                  <a:pt x="246658" y="647476"/>
                </a:lnTo>
                <a:cubicBezTo>
                  <a:pt x="246658" y="664504"/>
                  <a:pt x="232854" y="678308"/>
                  <a:pt x="215825" y="678308"/>
                </a:cubicBezTo>
                <a:lnTo>
                  <a:pt x="92497" y="678308"/>
                </a:lnTo>
                <a:cubicBezTo>
                  <a:pt x="75468" y="678308"/>
                  <a:pt x="61664" y="664504"/>
                  <a:pt x="61664" y="647476"/>
                </a:cubicBezTo>
                <a:lnTo>
                  <a:pt x="61664" y="524147"/>
                </a:lnTo>
                <a:cubicBezTo>
                  <a:pt x="61664" y="507119"/>
                  <a:pt x="75468" y="493315"/>
                  <a:pt x="92497" y="493315"/>
                </a:cubicBezTo>
                <a:close/>
                <a:moveTo>
                  <a:pt x="308322" y="61664"/>
                </a:moveTo>
                <a:lnTo>
                  <a:pt x="431651" y="61664"/>
                </a:lnTo>
                <a:cubicBezTo>
                  <a:pt x="448679" y="61664"/>
                  <a:pt x="462483" y="75468"/>
                  <a:pt x="462483" y="92497"/>
                </a:cubicBezTo>
                <a:lnTo>
                  <a:pt x="462483" y="215825"/>
                </a:lnTo>
                <a:cubicBezTo>
                  <a:pt x="462483" y="232854"/>
                  <a:pt x="448679" y="246658"/>
                  <a:pt x="431651" y="246658"/>
                </a:cubicBezTo>
                <a:lnTo>
                  <a:pt x="308322" y="246658"/>
                </a:lnTo>
                <a:cubicBezTo>
                  <a:pt x="291294" y="246658"/>
                  <a:pt x="277490" y="232854"/>
                  <a:pt x="277490" y="215825"/>
                </a:cubicBezTo>
                <a:lnTo>
                  <a:pt x="277490" y="92497"/>
                </a:lnTo>
                <a:cubicBezTo>
                  <a:pt x="277490" y="75468"/>
                  <a:pt x="291294" y="61664"/>
                  <a:pt x="308322" y="61664"/>
                </a:cubicBezTo>
                <a:close/>
                <a:moveTo>
                  <a:pt x="154161" y="493315"/>
                </a:moveTo>
                <a:lnTo>
                  <a:pt x="154161" y="400819"/>
                </a:lnTo>
                <a:cubicBezTo>
                  <a:pt x="154161" y="383790"/>
                  <a:pt x="167965" y="369986"/>
                  <a:pt x="184993" y="369986"/>
                </a:cubicBezTo>
                <a:lnTo>
                  <a:pt x="554980" y="369986"/>
                </a:lnTo>
                <a:cubicBezTo>
                  <a:pt x="572008" y="369986"/>
                  <a:pt x="585812" y="383790"/>
                  <a:pt x="585812" y="400819"/>
                </a:cubicBezTo>
                <a:lnTo>
                  <a:pt x="585812" y="493315"/>
                </a:lnTo>
                <a:moveTo>
                  <a:pt x="369986" y="369986"/>
                </a:moveTo>
                <a:lnTo>
                  <a:pt x="369986" y="246658"/>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 nombre fijo para encontrarlos.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refresh-cw"/>
          <p:cNvSpPr/>
          <p:nvPr/>
        </p:nvSpPr>
        <p:spPr>
          <a:xfrm>
            <a:off x="10112421" y="2505802"/>
            <a:ext cx="739973" cy="739973"/>
          </a:xfrm>
          <a:custGeom>
            <a:avLst/>
            <a:gdLst/>
            <a:ahLst/>
            <a:cxnLst/>
            <a:rect l="l" t="t" r="r" b="b"/>
            <a:pathLst>
              <a:path w="739973" h="739973">
                <a:moveTo>
                  <a:pt x="92497" y="369986"/>
                </a:moveTo>
                <a:cubicBezTo>
                  <a:pt x="92497" y="216733"/>
                  <a:pt x="216733" y="92497"/>
                  <a:pt x="369986" y="92497"/>
                </a:cubicBezTo>
                <a:cubicBezTo>
                  <a:pt x="447562" y="92788"/>
                  <a:pt x="522021" y="123058"/>
                  <a:pt x="577795" y="176977"/>
                </a:cubicBezTo>
                <a:lnTo>
                  <a:pt x="647476" y="246658"/>
                </a:lnTo>
                <a:moveTo>
                  <a:pt x="647476" y="92497"/>
                </a:moveTo>
                <a:lnTo>
                  <a:pt x="647476" y="246658"/>
                </a:lnTo>
                <a:lnTo>
                  <a:pt x="493315" y="246658"/>
                </a:lnTo>
                <a:moveTo>
                  <a:pt x="647476" y="369986"/>
                </a:moveTo>
                <a:cubicBezTo>
                  <a:pt x="647476" y="523240"/>
                  <a:pt x="523240" y="647476"/>
                  <a:pt x="369986" y="647476"/>
                </a:cubicBezTo>
                <a:cubicBezTo>
                  <a:pt x="292411" y="647184"/>
                  <a:pt x="217952" y="616915"/>
                  <a:pt x="162177" y="562996"/>
                </a:cubicBezTo>
                <a:lnTo>
                  <a:pt x="92497" y="493315"/>
                </a:lnTo>
                <a:moveTo>
                  <a:pt x="246658" y="493315"/>
                </a:moveTo>
                <a:lnTo>
                  <a:pt x="92497" y="493315"/>
                </a:lnTo>
                <a:lnTo>
                  <a:pt x="92497" y="647476"/>
                </a:ln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750" b="1" dirty="0">
                <a:solidFill>
                  <a:srgbClr val="0B1A3C"/>
                </a:solidFill>
                <a:latin typeface="Segoe UI Semibold" pitchFamily="34" charset="0"/>
                <a:ea typeface="Segoe UI Semibold" pitchFamily="34" charset="-122"/>
                <a:cs typeface="Segoe UI Semibold" pitchFamily="34" charset="-120"/>
              </a:rPr>
              <a:t>Ciclo de control</a:t>
            </a:r>
            <a:endParaRPr lang="en-US" sz="175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Compara lo que hay con lo pedido y corrige.</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Mostrar en vivo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ejecutivo</dc:title>
  <dc:subject>Proyecto final de Upskilling Backend Java</dc:subject>
  <dc:creator>Upskilling Backend Java</dc:creator>
  <cp:lastModifiedBy>Upskilling Backend Java</cp:lastModifiedBy>
  <cp:revision>1</cp:revision>
  <dcterms:created xsi:type="dcterms:W3CDTF">2026-10-29T10:33:20Z</dcterms:created>
  <dcterms:modified xsi:type="dcterms:W3CDTF">2026-10-29T10:33:20Z</dcterms:modified>
</cp:coreProperties>
</file>